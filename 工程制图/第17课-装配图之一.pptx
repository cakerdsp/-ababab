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3"/>
    <p:sldId id="403" r:id="rId4"/>
    <p:sldId id="404" r:id="rId5"/>
    <p:sldId id="405" r:id="rId6"/>
    <p:sldId id="397" r:id="rId7"/>
    <p:sldId id="398" r:id="rId8"/>
    <p:sldId id="344" r:id="rId9"/>
    <p:sldId id="370" r:id="rId10"/>
    <p:sldId id="261" r:id="rId11"/>
    <p:sldId id="298" r:id="rId12"/>
    <p:sldId id="360" r:id="rId13"/>
    <p:sldId id="263" r:id="rId14"/>
    <p:sldId id="264" r:id="rId15"/>
    <p:sldId id="371" r:id="rId16"/>
    <p:sldId id="297" r:id="rId17"/>
    <p:sldId id="292" r:id="rId18"/>
    <p:sldId id="285" r:id="rId19"/>
    <p:sldId id="361" r:id="rId20"/>
    <p:sldId id="362" r:id="rId21"/>
    <p:sldId id="372" r:id="rId22"/>
    <p:sldId id="373" r:id="rId23"/>
    <p:sldId id="272" r:id="rId24"/>
    <p:sldId id="273" r:id="rId25"/>
    <p:sldId id="374" r:id="rId26"/>
    <p:sldId id="303" r:id="rId27"/>
    <p:sldId id="363" r:id="rId28"/>
    <p:sldId id="364" r:id="rId29"/>
    <p:sldId id="365" r:id="rId30"/>
    <p:sldId id="366" r:id="rId31"/>
    <p:sldId id="380" r:id="rId32"/>
    <p:sldId id="381" r:id="rId33"/>
    <p:sldId id="375" r:id="rId34"/>
    <p:sldId id="291" r:id="rId35"/>
  </p:sldIdLst>
  <p:sldSz cx="9144000" cy="6858000" type="screen4x3"/>
  <p:notesSz cx="6858000" cy="9144000"/>
  <p:custDataLst>
    <p:tags r:id="rId4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8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18" autoAdjust="0"/>
    <p:restoredTop sz="94660"/>
  </p:normalViewPr>
  <p:slideViewPr>
    <p:cSldViewPr>
      <p:cViewPr varScale="1">
        <p:scale>
          <a:sx n="81" d="100"/>
          <a:sy n="81" d="100"/>
        </p:scale>
        <p:origin x="60" y="120"/>
      </p:cViewPr>
      <p:guideLst>
        <p:guide orient="horz" pos="2300"/>
        <p:guide pos="28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2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BA8DA0B-9F4D-4D21-829A-36072320F3DC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310CC7B-182D-48C7-91A7-35B72A3E310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A59C5-3DD6-4B0C-88A3-7002AAE79E97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95239FA-F55C-42BF-BAAC-5A8A89E341A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B5064-2499-41C5-8417-694A3236569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B2104BD-6E4C-4555-A2C2-7A37F46DC3E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0B3E7-703D-4702-B1CF-303DA92065A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ED81E7-6265-49E7-BA9D-66566CB2A75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1092E-8FBD-4FD5-B0F3-1AF84317F27A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CBCE8C-7466-464F-BD3E-4E7890ECAC4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2641E-B573-476F-AD44-970D48E2863B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77C17DE-B993-463A-8CCD-9DA2C0AC2A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A5629-BC52-4F93-8FEF-1D43BA12233B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3F7FF02-A7A7-44BC-9FDC-899F2932E0C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848038-F6C5-4C2C-BD6C-FC90DC8C8F14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0982818-6E97-4954-A003-E552AFC73B6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EAD0C-7624-4DC6-96F5-A065E11EC555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C5A0B48-2FE5-4BAB-8757-61771984244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7B65D2-EE4B-427F-9421-D330C4666D80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D7136A1-64BA-4556-9B7B-1A481963A62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C2C8E-310E-4183-9BC9-BF326CB820D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17A518-6522-4459-BEB3-96CF5B18EDD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7A3BC8-5138-4039-B2B6-946A6F4EC60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1F9BAAD-8141-4467-8217-7373CD3FC3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4"/>
          <p:cNvSpPr/>
          <p:nvPr userDrawn="1"/>
        </p:nvSpPr>
        <p:spPr>
          <a:xfrm>
            <a:off x="0" y="333375"/>
            <a:ext cx="9144000" cy="7191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auto">
          <a:xfrm flipV="1">
            <a:off x="395288" y="6332538"/>
            <a:ext cx="8748712" cy="49212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 eaLnBrk="1" hangingPunct="1">
              <a:defRPr/>
            </a:pPr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95288" y="6434138"/>
            <a:ext cx="1262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>
                <a:solidFill>
                  <a:srgbClr val="595959"/>
                </a:solidFill>
                <a:latin typeface="宋体" panose="02010600030101010101" pitchFamily="2" charset="-122"/>
              </a:rPr>
              <a:t>《</a:t>
            </a:r>
            <a:r>
              <a:rPr lang="zh-CN" altLang="en-US" sz="1400" b="1">
                <a:solidFill>
                  <a:srgbClr val="595959"/>
                </a:solidFill>
                <a:latin typeface="宋体" panose="02010600030101010101" pitchFamily="2" charset="-122"/>
              </a:rPr>
              <a:t>机械制图</a:t>
            </a:r>
            <a:r>
              <a:rPr lang="en-US" altLang="zh-CN" sz="1400" b="1">
                <a:solidFill>
                  <a:srgbClr val="595959"/>
                </a:solidFill>
                <a:latin typeface="宋体" panose="02010600030101010101" pitchFamily="2" charset="-122"/>
              </a:rPr>
              <a:t>》</a:t>
            </a:r>
            <a:endParaRPr lang="zh-CN" altLang="en-US" sz="1400" b="1">
              <a:solidFill>
                <a:srgbClr val="595959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Rectangle 7"/>
          <p:cNvSpPr>
            <a:spLocks noChangeArrowheads="1"/>
          </p:cNvSpPr>
          <p:nvPr userDrawn="1"/>
        </p:nvSpPr>
        <p:spPr bwMode="auto">
          <a:xfrm>
            <a:off x="3357563" y="6429375"/>
            <a:ext cx="1101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595959"/>
                </a:solidFill>
              </a:rPr>
              <a:t>第</a:t>
            </a:r>
            <a:r>
              <a:rPr lang="en-US" altLang="zh-CN" sz="1400" b="1">
                <a:solidFill>
                  <a:srgbClr val="595959"/>
                </a:solidFill>
              </a:rPr>
              <a:t>1</a:t>
            </a:r>
            <a:r>
              <a:rPr lang="zh-CN" altLang="en-US" sz="1400" b="1">
                <a:solidFill>
                  <a:srgbClr val="595959"/>
                </a:solidFill>
              </a:rPr>
              <a:t>章  绪论</a:t>
            </a:r>
            <a:endParaRPr lang="zh-CN" altLang="en-US" sz="1400" b="1">
              <a:solidFill>
                <a:srgbClr val="595959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351309"/>
            <a:ext cx="8229600" cy="4525963"/>
          </a:xfrm>
        </p:spPr>
        <p:txBody>
          <a:bodyPr/>
          <a:lstStyle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buNone/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6875463" y="6381750"/>
            <a:ext cx="2133600" cy="365125"/>
          </a:xfrm>
        </p:spPr>
        <p:txBody>
          <a:bodyPr/>
          <a:lstStyle>
            <a:lvl1pPr>
              <a:defRPr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10398A4C-4BAF-456D-906D-678BC69D4A60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 flipV="1">
            <a:off x="395288" y="6332538"/>
            <a:ext cx="8748712" cy="49212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 eaLnBrk="1" hangingPunct="1">
              <a:defRPr/>
            </a:pPr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3" name="Rectangle 7"/>
          <p:cNvSpPr>
            <a:spLocks noChangeArrowheads="1"/>
          </p:cNvSpPr>
          <p:nvPr userDrawn="1"/>
        </p:nvSpPr>
        <p:spPr bwMode="auto">
          <a:xfrm>
            <a:off x="395288" y="6434138"/>
            <a:ext cx="1262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>
                <a:solidFill>
                  <a:srgbClr val="595959"/>
                </a:solidFill>
                <a:latin typeface="宋体" panose="02010600030101010101" pitchFamily="2" charset="-122"/>
              </a:rPr>
              <a:t>《</a:t>
            </a:r>
            <a:r>
              <a:rPr lang="zh-CN" altLang="en-US" sz="1400" b="1">
                <a:solidFill>
                  <a:srgbClr val="595959"/>
                </a:solidFill>
                <a:latin typeface="宋体" panose="02010600030101010101" pitchFamily="2" charset="-122"/>
              </a:rPr>
              <a:t>机械制图</a:t>
            </a:r>
            <a:r>
              <a:rPr lang="en-US" altLang="zh-CN" sz="1400" b="1">
                <a:solidFill>
                  <a:srgbClr val="595959"/>
                </a:solidFill>
                <a:latin typeface="宋体" panose="02010600030101010101" pitchFamily="2" charset="-122"/>
              </a:rPr>
              <a:t>》</a:t>
            </a:r>
            <a:endParaRPr lang="zh-CN" altLang="en-US" sz="1400" b="1">
              <a:solidFill>
                <a:srgbClr val="595959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3357563" y="6429375"/>
            <a:ext cx="1101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595959"/>
                </a:solidFill>
              </a:rPr>
              <a:t>第</a:t>
            </a:r>
            <a:r>
              <a:rPr lang="en-US" altLang="zh-CN" sz="1400" b="1">
                <a:solidFill>
                  <a:srgbClr val="595959"/>
                </a:solidFill>
              </a:rPr>
              <a:t>1</a:t>
            </a:r>
            <a:r>
              <a:rPr lang="zh-CN" altLang="en-US" sz="1400" b="1">
                <a:solidFill>
                  <a:srgbClr val="595959"/>
                </a:solidFill>
              </a:rPr>
              <a:t>章  绪论</a:t>
            </a:r>
            <a:endParaRPr lang="zh-CN" altLang="en-US" sz="1400" b="1">
              <a:solidFill>
                <a:srgbClr val="595959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6875463" y="6381750"/>
            <a:ext cx="2133600" cy="365125"/>
          </a:xfrm>
        </p:spPr>
        <p:txBody>
          <a:bodyPr/>
          <a:lstStyle>
            <a:lvl1pPr>
              <a:defRPr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A308BBA3-C608-4444-B6E5-E867D87E901A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01625" y="228600"/>
            <a:ext cx="85407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01625" y="1600200"/>
            <a:ext cx="4194175" cy="2173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194175" cy="2173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01625" y="3925888"/>
            <a:ext cx="4194175" cy="2173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25888"/>
            <a:ext cx="4194175" cy="2173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01625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433C10A3-1A0B-441C-913A-B0761FCF9A6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194175" cy="2173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25888"/>
            <a:ext cx="4194175" cy="2173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301625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A1AB1B9B-FC64-40CF-B573-E1D1D1A9DC0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5" name="Object 9"/>
          <p:cNvGraphicFramePr>
            <a:graphicFrameLocks noChangeAspect="1"/>
          </p:cNvGraphicFramePr>
          <p:nvPr userDrawn="1"/>
        </p:nvGraphicFramePr>
        <p:xfrm>
          <a:off x="8458200" y="142875"/>
          <a:ext cx="6858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2" imgW="2428875" imgH="2171700" progId="StaticDib">
                  <p:embed/>
                </p:oleObj>
              </mc:Choice>
              <mc:Fallback>
                <p:oleObj name="" r:id="rId2" imgW="2428875" imgH="2171700" progId="StaticDib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458200" y="142875"/>
                        <a:ext cx="685800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0" y="762000"/>
            <a:ext cx="9144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6488113"/>
            <a:ext cx="2492375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工程制图基础教学软件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84525" y="64008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第一章   制图基本知识和技能 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15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2.jpe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6BA3471-8F77-4988-93EC-C76938312EAD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4C67417-CE36-47FB-9AB7-1A10D914B3C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microsoft.com/office/2007/relationships/media" Target="file:///F:\&#24037;&#31243;&#21046;&#22270;\&#35013;&#37197;&#22270;&#29699;&#38400;&#21407;&#29702;&#65288;&#26029;&#24320;&#65289;.avi" TargetMode="External"/><Relationship Id="rId1" Type="http://schemas.openxmlformats.org/officeDocument/2006/relationships/video" Target="file:///F:\&#24037;&#31243;&#21046;&#22270;\&#35013;&#37197;&#22270;&#29699;&#38400;&#21407;&#29702;&#65288;&#26029;&#24320;&#65289;.avi" TargetMode="Externa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microsoft.com/office/2007/relationships/media" Target="file:///F:\&#24037;&#31243;&#21046;&#22270;\&#35013;&#37197;&#22270;&#28369;&#21160;&#36724;&#25215;&#25286;&#21368;.avi" TargetMode="External"/><Relationship Id="rId1" Type="http://schemas.openxmlformats.org/officeDocument/2006/relationships/video" Target="file:///F:\&#24037;&#31243;&#21046;&#22270;\&#35013;&#37197;&#22270;&#28369;&#21160;&#36724;&#25215;&#25286;&#21368;.avi" TargetMode="Externa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jpe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jpeg"/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1.emf"/><Relationship Id="rId1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5.png"/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8.png"/><Relationship Id="rId3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1.png"/><Relationship Id="rId3" Type="http://schemas.openxmlformats.org/officeDocument/2006/relationships/image" Target="../media/image38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png"/><Relationship Id="rId3" Type="http://schemas.openxmlformats.org/officeDocument/2006/relationships/image" Target="../media/image41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/>
              <a:t>15</a:t>
            </a:r>
            <a:r>
              <a:rPr lang="zh-CN" altLang="en-US"/>
              <a:t>讲 </a:t>
            </a:r>
            <a:r>
              <a:rPr lang="zh-CN" altLang="en-US" dirty="0"/>
              <a:t>装配图之一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第六单元   机械图介绍</a:t>
            </a:r>
            <a:endParaRPr lang="zh-CN" altLang="en-US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3197225" y="493713"/>
            <a:ext cx="2749550" cy="708025"/>
          </a:xfrm>
          <a:prstGeom prst="rect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重点和难点</a:t>
            </a:r>
            <a:endParaRPr lang="zh-CN" altLang="en-US" sz="400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147" name="矩形 2"/>
          <p:cNvSpPr>
            <a:spLocks noChangeArrowheads="1"/>
          </p:cNvSpPr>
          <p:nvPr/>
        </p:nvSpPr>
        <p:spPr bwMode="auto">
          <a:xfrm>
            <a:off x="404813" y="1716088"/>
            <a:ext cx="8507412" cy="282575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</a:rPr>
              <a:t>1</a:t>
            </a:r>
            <a:r>
              <a:rPr lang="zh-CN" altLang="en-US">
                <a:solidFill>
                  <a:srgbClr val="FF3300"/>
                </a:solidFill>
              </a:rPr>
              <a:t>、什么是装备图？</a:t>
            </a:r>
            <a:endParaRPr lang="en-US" altLang="zh-CN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3300"/>
                </a:solidFill>
              </a:rPr>
              <a:t>      作用、和零件图的关系</a:t>
            </a:r>
            <a:endParaRPr lang="en-US" altLang="zh-CN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</a:rPr>
              <a:t>2</a:t>
            </a:r>
            <a:r>
              <a:rPr lang="zh-CN" altLang="en-US">
                <a:solidFill>
                  <a:srgbClr val="FF3300"/>
                </a:solidFill>
              </a:rPr>
              <a:t>、读装备图的关键点？</a:t>
            </a:r>
            <a:endParaRPr lang="en-US" altLang="zh-CN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</a:rPr>
              <a:t>      </a:t>
            </a:r>
            <a:r>
              <a:rPr lang="zh-CN" altLang="en-US">
                <a:solidFill>
                  <a:srgbClr val="FF3300"/>
                </a:solidFill>
              </a:rPr>
              <a:t>看什么、怎么看</a:t>
            </a:r>
            <a:endParaRPr lang="zh-CN" altLang="en-US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装配图球阀原理（断开）.avi">
            <a:hlinkClick r:id="" action="ppaction://media"/>
          </p:cNvPr>
          <p:cNvPicPr>
            <a:picLocks noRot="1" noChangeAspect="1" noChangeArrowheads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673100"/>
            <a:ext cx="8208963" cy="615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3967163" y="0"/>
            <a:ext cx="1209675" cy="708025"/>
          </a:xfrm>
          <a:prstGeom prst="rect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球阀</a:t>
            </a:r>
            <a:endParaRPr lang="zh-CN" altLang="en-US" sz="400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装配图滑动轴承拆卸.avi">
            <a:hlinkClick r:id="" action="ppaction://media"/>
          </p:cNvPr>
          <p:cNvPicPr>
            <a:picLocks noRot="1" noChangeAspect="1" noChangeArrowheads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671513"/>
            <a:ext cx="8248650" cy="618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3454400" y="0"/>
            <a:ext cx="2235200" cy="708025"/>
          </a:xfrm>
          <a:prstGeom prst="rect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滑动轴承</a:t>
            </a:r>
            <a:endParaRPr lang="zh-CN" altLang="en-US" sz="400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2613025" y="201613"/>
            <a:ext cx="3387725" cy="579437"/>
          </a:xfrm>
          <a:prstGeom prst="rect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FF00"/>
                </a:solidFill>
              </a:rPr>
              <a:t>球阀装配体分解图</a:t>
            </a:r>
            <a:endParaRPr lang="zh-CN" altLang="en-US"/>
          </a:p>
        </p:txBody>
      </p:sp>
      <p:grpSp>
        <p:nvGrpSpPr>
          <p:cNvPr id="9219" name="Group 3"/>
          <p:cNvGrpSpPr/>
          <p:nvPr/>
        </p:nvGrpSpPr>
        <p:grpSpPr bwMode="auto">
          <a:xfrm>
            <a:off x="2308225" y="5391150"/>
            <a:ext cx="1260475" cy="803275"/>
            <a:chOff x="1454" y="3396"/>
            <a:chExt cx="794" cy="506"/>
          </a:xfrm>
        </p:grpSpPr>
        <p:sp>
          <p:nvSpPr>
            <p:cNvPr id="9263" name="Text Box 4"/>
            <p:cNvSpPr txBox="1">
              <a:spLocks noChangeArrowheads="1"/>
            </p:cNvSpPr>
            <p:nvPr/>
          </p:nvSpPr>
          <p:spPr bwMode="auto">
            <a:xfrm>
              <a:off x="1454" y="3614"/>
              <a:ext cx="7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密封圈</a:t>
              </a:r>
              <a:r>
                <a:rPr lang="en-US" altLang="zh-CN" sz="2400">
                  <a:solidFill>
                    <a:srgbClr val="FF3300"/>
                  </a:solidFill>
                </a:rPr>
                <a:t>3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9264" name="Line 5"/>
            <p:cNvSpPr>
              <a:spLocks noChangeShapeType="1"/>
            </p:cNvSpPr>
            <p:nvPr/>
          </p:nvSpPr>
          <p:spPr bwMode="auto">
            <a:xfrm>
              <a:off x="1704" y="3396"/>
              <a:ext cx="180" cy="24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20" name="Group 6"/>
          <p:cNvGrpSpPr/>
          <p:nvPr/>
        </p:nvGrpSpPr>
        <p:grpSpPr bwMode="auto">
          <a:xfrm>
            <a:off x="3813175" y="5334000"/>
            <a:ext cx="952500" cy="860425"/>
            <a:chOff x="2402" y="3360"/>
            <a:chExt cx="600" cy="542"/>
          </a:xfrm>
        </p:grpSpPr>
        <p:sp>
          <p:nvSpPr>
            <p:cNvPr id="9261" name="Text Box 7"/>
            <p:cNvSpPr txBox="1">
              <a:spLocks noChangeArrowheads="1"/>
            </p:cNvSpPr>
            <p:nvPr/>
          </p:nvSpPr>
          <p:spPr bwMode="auto">
            <a:xfrm>
              <a:off x="2402" y="3614"/>
              <a:ext cx="6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阀芯</a:t>
              </a:r>
              <a:r>
                <a:rPr lang="en-US" altLang="zh-CN" sz="2400">
                  <a:solidFill>
                    <a:srgbClr val="FF3300"/>
                  </a:solidFill>
                </a:rPr>
                <a:t>4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9262" name="Line 8"/>
            <p:cNvSpPr>
              <a:spLocks noChangeShapeType="1"/>
            </p:cNvSpPr>
            <p:nvPr/>
          </p:nvSpPr>
          <p:spPr bwMode="auto">
            <a:xfrm>
              <a:off x="2544" y="3360"/>
              <a:ext cx="180" cy="27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21" name="Group 9"/>
          <p:cNvGrpSpPr/>
          <p:nvPr/>
        </p:nvGrpSpPr>
        <p:grpSpPr bwMode="auto">
          <a:xfrm>
            <a:off x="5051425" y="5334000"/>
            <a:ext cx="1260475" cy="860425"/>
            <a:chOff x="3182" y="3360"/>
            <a:chExt cx="794" cy="542"/>
          </a:xfrm>
        </p:grpSpPr>
        <p:sp>
          <p:nvSpPr>
            <p:cNvPr id="9259" name="Text Box 10"/>
            <p:cNvSpPr txBox="1">
              <a:spLocks noChangeArrowheads="1"/>
            </p:cNvSpPr>
            <p:nvPr/>
          </p:nvSpPr>
          <p:spPr bwMode="auto">
            <a:xfrm>
              <a:off x="3182" y="3614"/>
              <a:ext cx="7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调整垫</a:t>
              </a:r>
              <a:r>
                <a:rPr lang="en-US" altLang="zh-CN" sz="2400">
                  <a:solidFill>
                    <a:srgbClr val="FF3300"/>
                  </a:solidFill>
                </a:rPr>
                <a:t>5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9260" name="Line 11"/>
            <p:cNvSpPr>
              <a:spLocks noChangeShapeType="1"/>
            </p:cNvSpPr>
            <p:nvPr/>
          </p:nvSpPr>
          <p:spPr bwMode="auto">
            <a:xfrm flipH="1">
              <a:off x="3360" y="3360"/>
              <a:ext cx="132" cy="26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22" name="Group 12"/>
          <p:cNvGrpSpPr/>
          <p:nvPr/>
        </p:nvGrpSpPr>
        <p:grpSpPr bwMode="auto">
          <a:xfrm>
            <a:off x="2212975" y="1714500"/>
            <a:ext cx="952500" cy="758825"/>
            <a:chOff x="1394" y="1080"/>
            <a:chExt cx="600" cy="478"/>
          </a:xfrm>
        </p:grpSpPr>
        <p:sp>
          <p:nvSpPr>
            <p:cNvPr id="9257" name="Text Box 13"/>
            <p:cNvSpPr txBox="1">
              <a:spLocks noChangeArrowheads="1"/>
            </p:cNvSpPr>
            <p:nvPr/>
          </p:nvSpPr>
          <p:spPr bwMode="auto">
            <a:xfrm>
              <a:off x="1394" y="1080"/>
              <a:ext cx="6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螺母</a:t>
              </a:r>
              <a:r>
                <a:rPr lang="en-US" altLang="zh-CN" sz="2400">
                  <a:solidFill>
                    <a:srgbClr val="FF3300"/>
                  </a:solidFill>
                </a:rPr>
                <a:t>7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9258" name="Line 14"/>
            <p:cNvSpPr>
              <a:spLocks noChangeShapeType="1"/>
            </p:cNvSpPr>
            <p:nvPr/>
          </p:nvSpPr>
          <p:spPr bwMode="auto">
            <a:xfrm>
              <a:off x="1584" y="1330"/>
              <a:ext cx="108" cy="22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23" name="Group 15"/>
          <p:cNvGrpSpPr/>
          <p:nvPr/>
        </p:nvGrpSpPr>
        <p:grpSpPr bwMode="auto">
          <a:xfrm>
            <a:off x="1127125" y="1698625"/>
            <a:ext cx="952500" cy="777875"/>
            <a:chOff x="710" y="1070"/>
            <a:chExt cx="600" cy="490"/>
          </a:xfrm>
        </p:grpSpPr>
        <p:sp>
          <p:nvSpPr>
            <p:cNvPr id="9255" name="Text Box 16"/>
            <p:cNvSpPr txBox="1">
              <a:spLocks noChangeArrowheads="1"/>
            </p:cNvSpPr>
            <p:nvPr/>
          </p:nvSpPr>
          <p:spPr bwMode="auto">
            <a:xfrm>
              <a:off x="710" y="1070"/>
              <a:ext cx="6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螺柱</a:t>
              </a:r>
              <a:r>
                <a:rPr lang="en-US" altLang="zh-CN" sz="2400">
                  <a:solidFill>
                    <a:srgbClr val="FF3300"/>
                  </a:solidFill>
                </a:rPr>
                <a:t>6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9256" name="Line 17"/>
            <p:cNvSpPr>
              <a:spLocks noChangeShapeType="1"/>
            </p:cNvSpPr>
            <p:nvPr/>
          </p:nvSpPr>
          <p:spPr bwMode="auto">
            <a:xfrm>
              <a:off x="852" y="1320"/>
              <a:ext cx="84" cy="24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24" name="Group 18"/>
          <p:cNvGrpSpPr/>
          <p:nvPr/>
        </p:nvGrpSpPr>
        <p:grpSpPr bwMode="auto">
          <a:xfrm>
            <a:off x="3508375" y="1714500"/>
            <a:ext cx="1098550" cy="1063625"/>
            <a:chOff x="2210" y="1034"/>
            <a:chExt cx="692" cy="670"/>
          </a:xfrm>
        </p:grpSpPr>
        <p:sp>
          <p:nvSpPr>
            <p:cNvPr id="9253" name="Text Box 19"/>
            <p:cNvSpPr txBox="1">
              <a:spLocks noChangeArrowheads="1"/>
            </p:cNvSpPr>
            <p:nvPr/>
          </p:nvSpPr>
          <p:spPr bwMode="auto">
            <a:xfrm>
              <a:off x="2210" y="1034"/>
              <a:ext cx="6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阀杆</a:t>
              </a:r>
              <a:r>
                <a:rPr lang="en-US" altLang="zh-CN" sz="2400">
                  <a:solidFill>
                    <a:srgbClr val="FF3300"/>
                  </a:solidFill>
                </a:rPr>
                <a:t>12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9254" name="Line 20"/>
            <p:cNvSpPr>
              <a:spLocks noChangeShapeType="1"/>
            </p:cNvSpPr>
            <p:nvPr/>
          </p:nvSpPr>
          <p:spPr bwMode="auto">
            <a:xfrm>
              <a:off x="2304" y="1296"/>
              <a:ext cx="84" cy="40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25" name="Group 21"/>
          <p:cNvGrpSpPr/>
          <p:nvPr/>
        </p:nvGrpSpPr>
        <p:grpSpPr bwMode="auto">
          <a:xfrm>
            <a:off x="7400925" y="1295400"/>
            <a:ext cx="1368425" cy="498475"/>
            <a:chOff x="4668" y="744"/>
            <a:chExt cx="862" cy="314"/>
          </a:xfrm>
        </p:grpSpPr>
        <p:sp>
          <p:nvSpPr>
            <p:cNvPr id="9251" name="Text Box 22"/>
            <p:cNvSpPr txBox="1">
              <a:spLocks noChangeArrowheads="1"/>
            </p:cNvSpPr>
            <p:nvPr/>
          </p:nvSpPr>
          <p:spPr bwMode="auto">
            <a:xfrm>
              <a:off x="4838" y="770"/>
              <a:ext cx="6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扳手</a:t>
              </a:r>
              <a:r>
                <a:rPr lang="en-US" altLang="zh-CN" sz="2400">
                  <a:solidFill>
                    <a:srgbClr val="FF3300"/>
                  </a:solidFill>
                </a:rPr>
                <a:t>13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9252" name="Line 23"/>
            <p:cNvSpPr>
              <a:spLocks noChangeShapeType="1"/>
            </p:cNvSpPr>
            <p:nvPr/>
          </p:nvSpPr>
          <p:spPr bwMode="auto">
            <a:xfrm flipH="1" flipV="1">
              <a:off x="4668" y="744"/>
              <a:ext cx="216" cy="21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26" name="Group 24"/>
          <p:cNvGrpSpPr/>
          <p:nvPr/>
        </p:nvGrpSpPr>
        <p:grpSpPr bwMode="auto">
          <a:xfrm>
            <a:off x="7200900" y="2201863"/>
            <a:ext cx="1768475" cy="457200"/>
            <a:chOff x="4536" y="1387"/>
            <a:chExt cx="1114" cy="288"/>
          </a:xfrm>
        </p:grpSpPr>
        <p:sp>
          <p:nvSpPr>
            <p:cNvPr id="9249" name="Text Box 25"/>
            <p:cNvSpPr txBox="1">
              <a:spLocks noChangeArrowheads="1"/>
            </p:cNvSpPr>
            <p:nvPr/>
          </p:nvSpPr>
          <p:spPr bwMode="auto">
            <a:xfrm>
              <a:off x="4742" y="1387"/>
              <a:ext cx="9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压紧套</a:t>
              </a:r>
              <a:r>
                <a:rPr lang="en-US" altLang="zh-CN" sz="2400">
                  <a:solidFill>
                    <a:srgbClr val="FF3300"/>
                  </a:solidFill>
                </a:rPr>
                <a:t>11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9250" name="Line 26"/>
            <p:cNvSpPr>
              <a:spLocks noChangeShapeType="1"/>
            </p:cNvSpPr>
            <p:nvPr/>
          </p:nvSpPr>
          <p:spPr bwMode="auto">
            <a:xfrm>
              <a:off x="4536" y="1494"/>
              <a:ext cx="299" cy="12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27" name="Group 27"/>
          <p:cNvGrpSpPr/>
          <p:nvPr/>
        </p:nvGrpSpPr>
        <p:grpSpPr bwMode="auto">
          <a:xfrm>
            <a:off x="7743825" y="3232150"/>
            <a:ext cx="1025525" cy="1006475"/>
            <a:chOff x="4944" y="1778"/>
            <a:chExt cx="646" cy="634"/>
          </a:xfrm>
        </p:grpSpPr>
        <p:sp>
          <p:nvSpPr>
            <p:cNvPr id="9247" name="Text Box 28"/>
            <p:cNvSpPr txBox="1">
              <a:spLocks noChangeArrowheads="1"/>
            </p:cNvSpPr>
            <p:nvPr/>
          </p:nvSpPr>
          <p:spPr bwMode="auto">
            <a:xfrm>
              <a:off x="4994" y="1778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阀体</a:t>
              </a:r>
              <a:r>
                <a:rPr lang="en-US" altLang="zh-CN" sz="2400">
                  <a:solidFill>
                    <a:srgbClr val="FF3300"/>
                  </a:solidFill>
                </a:rPr>
                <a:t>1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9248" name="Line 29"/>
            <p:cNvSpPr>
              <a:spLocks noChangeShapeType="1"/>
            </p:cNvSpPr>
            <p:nvPr/>
          </p:nvSpPr>
          <p:spPr bwMode="auto">
            <a:xfrm flipH="1">
              <a:off x="4944" y="2040"/>
              <a:ext cx="192" cy="37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28" name="Group 30"/>
          <p:cNvGrpSpPr/>
          <p:nvPr/>
        </p:nvGrpSpPr>
        <p:grpSpPr bwMode="auto">
          <a:xfrm>
            <a:off x="1298575" y="3013075"/>
            <a:ext cx="952500" cy="854075"/>
            <a:chOff x="818" y="1898"/>
            <a:chExt cx="600" cy="538"/>
          </a:xfrm>
        </p:grpSpPr>
        <p:sp>
          <p:nvSpPr>
            <p:cNvPr id="9245" name="Text Box 31"/>
            <p:cNvSpPr txBox="1">
              <a:spLocks noChangeArrowheads="1"/>
            </p:cNvSpPr>
            <p:nvPr/>
          </p:nvSpPr>
          <p:spPr bwMode="auto">
            <a:xfrm>
              <a:off x="818" y="1898"/>
              <a:ext cx="6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阀盖</a:t>
              </a:r>
              <a:r>
                <a:rPr lang="en-US" altLang="zh-CN" sz="2400">
                  <a:solidFill>
                    <a:srgbClr val="FF3300"/>
                  </a:solidFill>
                </a:rPr>
                <a:t>2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9246" name="Line 32"/>
            <p:cNvSpPr>
              <a:spLocks noChangeShapeType="1"/>
            </p:cNvSpPr>
            <p:nvPr/>
          </p:nvSpPr>
          <p:spPr bwMode="auto">
            <a:xfrm flipH="1">
              <a:off x="1080" y="2148"/>
              <a:ext cx="84" cy="28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29" name="Group 33"/>
          <p:cNvGrpSpPr/>
          <p:nvPr/>
        </p:nvGrpSpPr>
        <p:grpSpPr bwMode="auto">
          <a:xfrm>
            <a:off x="2308225" y="3051175"/>
            <a:ext cx="1260475" cy="644525"/>
            <a:chOff x="1454" y="1922"/>
            <a:chExt cx="794" cy="406"/>
          </a:xfrm>
        </p:grpSpPr>
        <p:sp>
          <p:nvSpPr>
            <p:cNvPr id="9243" name="Text Box 34"/>
            <p:cNvSpPr txBox="1">
              <a:spLocks noChangeArrowheads="1"/>
            </p:cNvSpPr>
            <p:nvPr/>
          </p:nvSpPr>
          <p:spPr bwMode="auto">
            <a:xfrm>
              <a:off x="1454" y="1922"/>
              <a:ext cx="7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填料垫</a:t>
              </a:r>
              <a:r>
                <a:rPr lang="en-US" altLang="zh-CN" sz="2400">
                  <a:solidFill>
                    <a:srgbClr val="FF3300"/>
                  </a:solidFill>
                </a:rPr>
                <a:t>8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9244" name="Line 35"/>
            <p:cNvSpPr>
              <a:spLocks noChangeShapeType="1"/>
            </p:cNvSpPr>
            <p:nvPr/>
          </p:nvSpPr>
          <p:spPr bwMode="auto">
            <a:xfrm>
              <a:off x="1584" y="2148"/>
              <a:ext cx="132" cy="18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230" name="Text Box 36"/>
          <p:cNvSpPr txBox="1">
            <a:spLocks noChangeArrowheads="1"/>
          </p:cNvSpPr>
          <p:nvPr/>
        </p:nvSpPr>
        <p:spPr bwMode="auto">
          <a:xfrm>
            <a:off x="250825" y="841375"/>
            <a:ext cx="59721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转动扳手</a:t>
            </a:r>
            <a:r>
              <a:rPr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13</a:t>
            </a:r>
            <a:r>
              <a:rPr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，阀杆</a:t>
            </a:r>
            <a:r>
              <a:rPr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12</a:t>
            </a:r>
            <a:r>
              <a:rPr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通过嵌入阀芯槽内的扁榫转动阀芯</a:t>
            </a:r>
            <a:r>
              <a:rPr lang="en-US" altLang="zh-CN" sz="2400">
                <a:solidFill>
                  <a:schemeClr val="accent2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，使流体通过或截断。</a:t>
            </a:r>
            <a:endParaRPr lang="zh-CN" altLang="en-US" sz="24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pic>
        <p:nvPicPr>
          <p:cNvPr id="9231" name="Picture 37" descr="球阀零件(新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088" y="4191000"/>
            <a:ext cx="1397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2" name="Picture 38" descr="球阀零件(新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463" y="2170113"/>
            <a:ext cx="11938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3" name="Picture 39" descr="球阀零件(新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325" y="2266950"/>
            <a:ext cx="9017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4" name="Picture 40" descr="球阀零件(新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463" y="3948113"/>
            <a:ext cx="123190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5" name="Picture 41" descr="球阀零件(新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75" y="4292600"/>
            <a:ext cx="1066800" cy="120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6" name="Picture 42" descr="球阀零件(新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788" y="4054475"/>
            <a:ext cx="1028700" cy="119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7" name="Picture 43" descr="球阀零件(新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8" y="2451100"/>
            <a:ext cx="6985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8" name="Picture 44" descr="填料垫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288" y="3659188"/>
            <a:ext cx="655637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9" name="Picture 45" descr="10-1扳手(新整）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225" y="363538"/>
            <a:ext cx="4127500" cy="305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40" name="Picture 46" descr="2阀盖（新)-1b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8" y="3419475"/>
            <a:ext cx="2051050" cy="306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41" name="Picture 47" descr="2阀体（新)a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588" y="3130550"/>
            <a:ext cx="2894012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42" name="Picture 48" descr="压盖套（新）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073275"/>
            <a:ext cx="817563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5213" y="123825"/>
            <a:ext cx="6637337" cy="700088"/>
          </a:xfrm>
          <a:gradFill rotWithShape="0">
            <a:gsLst>
              <a:gs pos="0">
                <a:srgbClr val="33CCCC"/>
              </a:gs>
              <a:gs pos="50000">
                <a:srgbClr val="FFFFFF"/>
              </a:gs>
              <a:gs pos="100000">
                <a:srgbClr val="33CCCC"/>
              </a:gs>
            </a:gsLst>
            <a:lin ang="5400000" scaled="1"/>
          </a:gradFill>
          <a:ln w="12700">
            <a:solidFill>
              <a:schemeClr val="accent2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eaLnBrk="1" hangingPunct="1"/>
            <a:r>
              <a:rPr lang="en-US" altLang="zh-CN" sz="4000" b="1">
                <a:latin typeface="黑体" panose="02010609060101010101" pitchFamily="49" charset="-122"/>
                <a:ea typeface="黑体" panose="02010609060101010101" pitchFamily="49" charset="-122"/>
              </a:rPr>
              <a:t>12.1 </a:t>
            </a:r>
            <a:r>
              <a:rPr lang="zh-CN" altLang="en-US" sz="4000" b="1">
                <a:latin typeface="黑体" panose="02010609060101010101" pitchFamily="49" charset="-122"/>
                <a:ea typeface="黑体" panose="02010609060101010101" pitchFamily="49" charset="-122"/>
              </a:rPr>
              <a:t>装配图的</a:t>
            </a:r>
            <a:r>
              <a:rPr lang="zh-CN" altLang="en-US" sz="4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</a:t>
            </a:r>
            <a:r>
              <a:rPr lang="zh-CN" altLang="en-US" sz="4000" b="1">
                <a:latin typeface="黑体" panose="02010609060101010101" pitchFamily="49" charset="-122"/>
                <a:ea typeface="黑体" panose="02010609060101010101" pitchFamily="49" charset="-122"/>
              </a:rPr>
              <a:t>用和内容</a:t>
            </a:r>
            <a:endParaRPr lang="zh-CN" altLang="en-US" sz="4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6915" name="Text Box 3"/>
          <p:cNvSpPr txBox="1">
            <a:spLocks noChangeArrowheads="1"/>
          </p:cNvSpPr>
          <p:nvPr/>
        </p:nvSpPr>
        <p:spPr bwMode="auto">
          <a:xfrm>
            <a:off x="268288" y="2087563"/>
            <a:ext cx="3378200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球阀是控制液体流量的一种开关装置。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166916" name="Text Box 4"/>
          <p:cNvSpPr txBox="1">
            <a:spLocks noChangeArrowheads="1"/>
          </p:cNvSpPr>
          <p:nvPr/>
        </p:nvSpPr>
        <p:spPr bwMode="auto">
          <a:xfrm>
            <a:off x="339725" y="954088"/>
            <a:ext cx="4760913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装配图</a:t>
            </a:r>
            <a:r>
              <a:rPr lang="zh-CN" altLang="en-US">
                <a:latin typeface="宋体" panose="02010600030101010101" pitchFamily="2" charset="-122"/>
              </a:rPr>
              <a:t>是用来表达机器或部件的图样。</a:t>
            </a:r>
            <a:endParaRPr lang="zh-CN" altLang="en-US" sz="24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5472113" y="1014413"/>
            <a:ext cx="1422400" cy="579437"/>
          </a:xfrm>
          <a:prstGeom prst="rect">
            <a:avLst/>
          </a:prstGeom>
          <a:gradFill rotWithShape="0">
            <a:gsLst>
              <a:gs pos="0">
                <a:srgbClr val="669900"/>
              </a:gs>
              <a:gs pos="50000">
                <a:srgbClr val="FFFFFF"/>
              </a:gs>
              <a:gs pos="100000">
                <a:srgbClr val="6699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球 阀</a:t>
            </a:r>
            <a:endParaRPr lang="zh-CN" altLang="en-US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66918" name="Group 6"/>
          <p:cNvGrpSpPr/>
          <p:nvPr/>
        </p:nvGrpSpPr>
        <p:grpSpPr bwMode="auto">
          <a:xfrm>
            <a:off x="371475" y="4154488"/>
            <a:ext cx="3073400" cy="1893887"/>
            <a:chOff x="234" y="2371"/>
            <a:chExt cx="1936" cy="1193"/>
          </a:xfrm>
        </p:grpSpPr>
        <p:sp>
          <p:nvSpPr>
            <p:cNvPr id="10274" name="Text Box 7"/>
            <p:cNvSpPr txBox="1">
              <a:spLocks noChangeArrowheads="1"/>
            </p:cNvSpPr>
            <p:nvPr/>
          </p:nvSpPr>
          <p:spPr bwMode="auto">
            <a:xfrm>
              <a:off x="1790" y="2412"/>
              <a:ext cx="346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拆画</a:t>
              </a:r>
              <a:endParaRPr lang="zh-CN" altLang="en-US" sz="2400">
                <a:solidFill>
                  <a:schemeClr val="accent2"/>
                </a:solidFill>
              </a:endParaRPr>
            </a:p>
          </p:txBody>
        </p:sp>
        <p:sp>
          <p:nvSpPr>
            <p:cNvPr id="10275" name="Text Box 8"/>
            <p:cNvSpPr txBox="1">
              <a:spLocks noChangeArrowheads="1"/>
            </p:cNvSpPr>
            <p:nvPr/>
          </p:nvSpPr>
          <p:spPr bwMode="auto">
            <a:xfrm>
              <a:off x="288" y="2383"/>
              <a:ext cx="34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装配</a:t>
              </a:r>
              <a:endParaRPr lang="zh-CN" altLang="en-US" sz="2400">
                <a:solidFill>
                  <a:schemeClr val="accent2"/>
                </a:solidFill>
              </a:endParaRPr>
            </a:p>
          </p:txBody>
        </p:sp>
        <p:grpSp>
          <p:nvGrpSpPr>
            <p:cNvPr id="10276" name="Group 9"/>
            <p:cNvGrpSpPr/>
            <p:nvPr/>
          </p:nvGrpSpPr>
          <p:grpSpPr bwMode="auto">
            <a:xfrm>
              <a:off x="1382" y="2809"/>
              <a:ext cx="788" cy="327"/>
              <a:chOff x="554" y="3196"/>
              <a:chExt cx="788" cy="327"/>
            </a:xfrm>
          </p:grpSpPr>
          <p:sp>
            <p:nvSpPr>
              <p:cNvPr id="10297" name="Text Box 10"/>
              <p:cNvSpPr txBox="1">
                <a:spLocks noChangeArrowheads="1"/>
              </p:cNvSpPr>
              <p:nvPr/>
            </p:nvSpPr>
            <p:spPr bwMode="auto">
              <a:xfrm>
                <a:off x="554" y="3196"/>
                <a:ext cx="7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>
                    <a:solidFill>
                      <a:srgbClr val="FF3300"/>
                    </a:solidFill>
                  </a:rPr>
                  <a:t>零件图</a:t>
                </a:r>
                <a:endParaRPr lang="zh-CN" altLang="en-US" sz="2800">
                  <a:solidFill>
                    <a:srgbClr val="FF3300"/>
                  </a:solidFill>
                </a:endParaRPr>
              </a:p>
            </p:txBody>
          </p:sp>
          <p:sp>
            <p:nvSpPr>
              <p:cNvPr id="10298" name="AutoShape 11"/>
              <p:cNvSpPr>
                <a:spLocks noChangeArrowheads="1"/>
              </p:cNvSpPr>
              <p:nvPr/>
            </p:nvSpPr>
            <p:spPr bwMode="auto">
              <a:xfrm>
                <a:off x="591" y="3228"/>
                <a:ext cx="729" cy="276"/>
              </a:xfrm>
              <a:prstGeom prst="flowChartProcess">
                <a:avLst/>
              </a:prstGeom>
              <a:noFill/>
              <a:ln w="9525">
                <a:solidFill>
                  <a:srgbClr val="3333CC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</p:grpSp>
        <p:grpSp>
          <p:nvGrpSpPr>
            <p:cNvPr id="10277" name="Group 12"/>
            <p:cNvGrpSpPr/>
            <p:nvPr/>
          </p:nvGrpSpPr>
          <p:grpSpPr bwMode="auto">
            <a:xfrm>
              <a:off x="797" y="2371"/>
              <a:ext cx="920" cy="327"/>
              <a:chOff x="563" y="2596"/>
              <a:chExt cx="920" cy="327"/>
            </a:xfrm>
          </p:grpSpPr>
          <p:sp>
            <p:nvSpPr>
              <p:cNvPr id="10295" name="Text Box 13"/>
              <p:cNvSpPr txBox="1">
                <a:spLocks noChangeArrowheads="1"/>
              </p:cNvSpPr>
              <p:nvPr/>
            </p:nvSpPr>
            <p:spPr bwMode="auto">
              <a:xfrm>
                <a:off x="563" y="2596"/>
                <a:ext cx="92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装配图</a:t>
                </a:r>
                <a:endParaRPr lang="zh-CN" altLang="en-US" sz="2800">
                  <a:solidFill>
                    <a:srgbClr val="FF33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0296" name="AutoShape 14"/>
              <p:cNvSpPr>
                <a:spLocks noChangeArrowheads="1"/>
              </p:cNvSpPr>
              <p:nvPr/>
            </p:nvSpPr>
            <p:spPr bwMode="auto">
              <a:xfrm>
                <a:off x="597" y="2640"/>
                <a:ext cx="729" cy="276"/>
              </a:xfrm>
              <a:prstGeom prst="flowChartProcess">
                <a:avLst/>
              </a:prstGeom>
              <a:noFill/>
              <a:ln w="9525">
                <a:solidFill>
                  <a:srgbClr val="3333CC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</p:grpSp>
        <p:grpSp>
          <p:nvGrpSpPr>
            <p:cNvPr id="10278" name="Group 15"/>
            <p:cNvGrpSpPr/>
            <p:nvPr/>
          </p:nvGrpSpPr>
          <p:grpSpPr bwMode="auto">
            <a:xfrm>
              <a:off x="234" y="2805"/>
              <a:ext cx="788" cy="327"/>
              <a:chOff x="608" y="2283"/>
              <a:chExt cx="788" cy="327"/>
            </a:xfrm>
          </p:grpSpPr>
          <p:sp>
            <p:nvSpPr>
              <p:cNvPr id="10293" name="Text Box 16"/>
              <p:cNvSpPr txBox="1">
                <a:spLocks noChangeArrowheads="1"/>
              </p:cNvSpPr>
              <p:nvPr/>
            </p:nvSpPr>
            <p:spPr bwMode="auto">
              <a:xfrm>
                <a:off x="608" y="2283"/>
                <a:ext cx="7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>
                    <a:solidFill>
                      <a:srgbClr val="FF3300"/>
                    </a:solidFill>
                  </a:rPr>
                  <a:t>成    品</a:t>
                </a:r>
                <a:endParaRPr lang="zh-CN" altLang="en-US" sz="2800">
                  <a:solidFill>
                    <a:srgbClr val="FF3300"/>
                  </a:solidFill>
                </a:endParaRPr>
              </a:p>
            </p:txBody>
          </p:sp>
          <p:sp>
            <p:nvSpPr>
              <p:cNvPr id="10294" name="AutoShape 17"/>
              <p:cNvSpPr>
                <a:spLocks noChangeArrowheads="1"/>
              </p:cNvSpPr>
              <p:nvPr/>
            </p:nvSpPr>
            <p:spPr bwMode="auto">
              <a:xfrm>
                <a:off x="642" y="2316"/>
                <a:ext cx="729" cy="276"/>
              </a:xfrm>
              <a:prstGeom prst="flowChartProcess">
                <a:avLst/>
              </a:prstGeom>
              <a:noFill/>
              <a:ln w="9525">
                <a:solidFill>
                  <a:srgbClr val="3333CC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</p:grpSp>
        <p:grpSp>
          <p:nvGrpSpPr>
            <p:cNvPr id="10279" name="Group 18"/>
            <p:cNvGrpSpPr/>
            <p:nvPr/>
          </p:nvGrpSpPr>
          <p:grpSpPr bwMode="auto">
            <a:xfrm>
              <a:off x="779" y="3237"/>
              <a:ext cx="788" cy="327"/>
              <a:chOff x="572" y="3615"/>
              <a:chExt cx="788" cy="327"/>
            </a:xfrm>
          </p:grpSpPr>
          <p:sp>
            <p:nvSpPr>
              <p:cNvPr id="10291" name="Text Box 19"/>
              <p:cNvSpPr txBox="1">
                <a:spLocks noChangeArrowheads="1"/>
              </p:cNvSpPr>
              <p:nvPr/>
            </p:nvSpPr>
            <p:spPr bwMode="auto">
              <a:xfrm>
                <a:off x="572" y="3615"/>
                <a:ext cx="7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>
                    <a:solidFill>
                      <a:srgbClr val="FF3300"/>
                    </a:solidFill>
                  </a:rPr>
                  <a:t>零    件</a:t>
                </a:r>
                <a:endParaRPr lang="zh-CN" altLang="en-US" sz="2800">
                  <a:solidFill>
                    <a:srgbClr val="FF3300"/>
                  </a:solidFill>
                </a:endParaRPr>
              </a:p>
            </p:txBody>
          </p:sp>
          <p:sp>
            <p:nvSpPr>
              <p:cNvPr id="10292" name="AutoShape 20"/>
              <p:cNvSpPr>
                <a:spLocks noChangeArrowheads="1"/>
              </p:cNvSpPr>
              <p:nvPr/>
            </p:nvSpPr>
            <p:spPr bwMode="auto">
              <a:xfrm>
                <a:off x="612" y="3636"/>
                <a:ext cx="729" cy="276"/>
              </a:xfrm>
              <a:prstGeom prst="flowChartProcess">
                <a:avLst/>
              </a:prstGeom>
              <a:noFill/>
              <a:ln w="9525">
                <a:solidFill>
                  <a:srgbClr val="3333CC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</p:grpSp>
        <p:grpSp>
          <p:nvGrpSpPr>
            <p:cNvPr id="10280" name="Group 21"/>
            <p:cNvGrpSpPr/>
            <p:nvPr/>
          </p:nvGrpSpPr>
          <p:grpSpPr bwMode="auto">
            <a:xfrm>
              <a:off x="1562" y="2547"/>
              <a:ext cx="243" cy="297"/>
              <a:chOff x="1377" y="2889"/>
              <a:chExt cx="243" cy="297"/>
            </a:xfrm>
          </p:grpSpPr>
          <p:sp>
            <p:nvSpPr>
              <p:cNvPr id="10289" name="Line 22"/>
              <p:cNvSpPr>
                <a:spLocks noChangeShapeType="1"/>
              </p:cNvSpPr>
              <p:nvPr/>
            </p:nvSpPr>
            <p:spPr bwMode="auto">
              <a:xfrm>
                <a:off x="1377" y="2889"/>
                <a:ext cx="243" cy="0"/>
              </a:xfrm>
              <a:prstGeom prst="line">
                <a:avLst/>
              </a:prstGeom>
              <a:noFill/>
              <a:ln w="19050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290" name="Line 23"/>
              <p:cNvSpPr>
                <a:spLocks noChangeShapeType="1"/>
              </p:cNvSpPr>
              <p:nvPr/>
            </p:nvSpPr>
            <p:spPr bwMode="auto">
              <a:xfrm>
                <a:off x="1620" y="2889"/>
                <a:ext cx="0" cy="297"/>
              </a:xfrm>
              <a:prstGeom prst="line">
                <a:avLst/>
              </a:prstGeom>
              <a:noFill/>
              <a:ln w="19050">
                <a:solidFill>
                  <a:srgbClr val="3333CC"/>
                </a:solidFill>
                <a:rou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0281" name="Group 24"/>
            <p:cNvGrpSpPr/>
            <p:nvPr/>
          </p:nvGrpSpPr>
          <p:grpSpPr bwMode="auto">
            <a:xfrm>
              <a:off x="1557" y="3121"/>
              <a:ext cx="261" cy="279"/>
              <a:chOff x="1386" y="3456"/>
              <a:chExt cx="261" cy="279"/>
            </a:xfrm>
          </p:grpSpPr>
          <p:sp>
            <p:nvSpPr>
              <p:cNvPr id="10287" name="Line 25"/>
              <p:cNvSpPr>
                <a:spLocks noChangeShapeType="1"/>
              </p:cNvSpPr>
              <p:nvPr/>
            </p:nvSpPr>
            <p:spPr bwMode="auto">
              <a:xfrm>
                <a:off x="1638" y="3456"/>
                <a:ext cx="0" cy="279"/>
              </a:xfrm>
              <a:prstGeom prst="line">
                <a:avLst/>
              </a:prstGeom>
              <a:noFill/>
              <a:ln w="19050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288" name="Line 26"/>
              <p:cNvSpPr>
                <a:spLocks noChangeShapeType="1"/>
              </p:cNvSpPr>
              <p:nvPr/>
            </p:nvSpPr>
            <p:spPr bwMode="auto">
              <a:xfrm flipH="1">
                <a:off x="1386" y="3735"/>
                <a:ext cx="261" cy="0"/>
              </a:xfrm>
              <a:prstGeom prst="line">
                <a:avLst/>
              </a:prstGeom>
              <a:noFill/>
              <a:ln w="19050">
                <a:solidFill>
                  <a:srgbClr val="3333CC"/>
                </a:solidFill>
                <a:rou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0282" name="Line 27"/>
            <p:cNvSpPr>
              <a:spLocks noChangeShapeType="1"/>
            </p:cNvSpPr>
            <p:nvPr/>
          </p:nvSpPr>
          <p:spPr bwMode="auto">
            <a:xfrm flipV="1">
              <a:off x="1188" y="2691"/>
              <a:ext cx="0" cy="567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83" name="Text Box 28"/>
            <p:cNvSpPr txBox="1">
              <a:spLocks noChangeArrowheads="1"/>
            </p:cNvSpPr>
            <p:nvPr/>
          </p:nvSpPr>
          <p:spPr bwMode="auto">
            <a:xfrm>
              <a:off x="1773" y="3103"/>
              <a:ext cx="34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加工</a:t>
              </a:r>
              <a:endParaRPr lang="zh-CN" altLang="en-US" sz="2400">
                <a:solidFill>
                  <a:schemeClr val="accent2"/>
                </a:solidFill>
              </a:endParaRPr>
            </a:p>
          </p:txBody>
        </p:sp>
        <p:grpSp>
          <p:nvGrpSpPr>
            <p:cNvPr id="10284" name="Group 29"/>
            <p:cNvGrpSpPr/>
            <p:nvPr/>
          </p:nvGrpSpPr>
          <p:grpSpPr bwMode="auto">
            <a:xfrm flipH="1">
              <a:off x="591" y="2544"/>
              <a:ext cx="243" cy="297"/>
              <a:chOff x="1377" y="2889"/>
              <a:chExt cx="243" cy="297"/>
            </a:xfrm>
          </p:grpSpPr>
          <p:sp>
            <p:nvSpPr>
              <p:cNvPr id="10285" name="Line 30"/>
              <p:cNvSpPr>
                <a:spLocks noChangeShapeType="1"/>
              </p:cNvSpPr>
              <p:nvPr/>
            </p:nvSpPr>
            <p:spPr bwMode="auto">
              <a:xfrm>
                <a:off x="1377" y="2889"/>
                <a:ext cx="243" cy="0"/>
              </a:xfrm>
              <a:prstGeom prst="line">
                <a:avLst/>
              </a:prstGeom>
              <a:noFill/>
              <a:ln w="19050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286" name="Line 31"/>
              <p:cNvSpPr>
                <a:spLocks noChangeShapeType="1"/>
              </p:cNvSpPr>
              <p:nvPr/>
            </p:nvSpPr>
            <p:spPr bwMode="auto">
              <a:xfrm>
                <a:off x="1620" y="2889"/>
                <a:ext cx="0" cy="297"/>
              </a:xfrm>
              <a:prstGeom prst="line">
                <a:avLst/>
              </a:prstGeom>
              <a:noFill/>
              <a:ln w="19050">
                <a:solidFill>
                  <a:srgbClr val="3333CC"/>
                </a:solidFill>
                <a:rou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10247" name="Group 59"/>
          <p:cNvGrpSpPr/>
          <p:nvPr/>
        </p:nvGrpSpPr>
        <p:grpSpPr bwMode="auto">
          <a:xfrm>
            <a:off x="3543300" y="1073150"/>
            <a:ext cx="5345113" cy="5376863"/>
            <a:chOff x="2232" y="676"/>
            <a:chExt cx="3367" cy="3387"/>
          </a:xfrm>
        </p:grpSpPr>
        <p:pic>
          <p:nvPicPr>
            <p:cNvPr id="10249" name="Picture 33" descr="10-1(新)球阀a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4" y="676"/>
              <a:ext cx="2795" cy="3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0" name="Text Box 34"/>
            <p:cNvSpPr txBox="1">
              <a:spLocks noChangeArrowheads="1"/>
            </p:cNvSpPr>
            <p:nvPr/>
          </p:nvSpPr>
          <p:spPr bwMode="auto">
            <a:xfrm>
              <a:off x="4097" y="3775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密封圈</a:t>
              </a:r>
              <a:r>
                <a:rPr lang="en-US" altLang="zh-CN" sz="2400">
                  <a:solidFill>
                    <a:srgbClr val="FF3300"/>
                  </a:solidFill>
                </a:rPr>
                <a:t>3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0251" name="Line 35"/>
            <p:cNvSpPr>
              <a:spLocks noChangeShapeType="1"/>
            </p:cNvSpPr>
            <p:nvPr/>
          </p:nvSpPr>
          <p:spPr bwMode="auto">
            <a:xfrm>
              <a:off x="3762" y="3270"/>
              <a:ext cx="613" cy="51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2" name="Text Box 36"/>
            <p:cNvSpPr txBox="1">
              <a:spLocks noChangeArrowheads="1"/>
            </p:cNvSpPr>
            <p:nvPr/>
          </p:nvSpPr>
          <p:spPr bwMode="auto">
            <a:xfrm>
              <a:off x="4795" y="3330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阀芯</a:t>
              </a:r>
              <a:r>
                <a:rPr lang="en-US" altLang="zh-CN" sz="2400">
                  <a:solidFill>
                    <a:srgbClr val="FF3300"/>
                  </a:solidFill>
                </a:rPr>
                <a:t>4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0253" name="Line 37"/>
            <p:cNvSpPr>
              <a:spLocks noChangeShapeType="1"/>
            </p:cNvSpPr>
            <p:nvPr/>
          </p:nvSpPr>
          <p:spPr bwMode="auto">
            <a:xfrm>
              <a:off x="4200" y="3114"/>
              <a:ext cx="578" cy="33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4" name="Text Box 38"/>
            <p:cNvSpPr txBox="1">
              <a:spLocks noChangeArrowheads="1"/>
            </p:cNvSpPr>
            <p:nvPr/>
          </p:nvSpPr>
          <p:spPr bwMode="auto">
            <a:xfrm>
              <a:off x="3201" y="3775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调整垫</a:t>
              </a:r>
              <a:r>
                <a:rPr lang="en-US" altLang="zh-CN" sz="2400">
                  <a:solidFill>
                    <a:srgbClr val="FF3300"/>
                  </a:solidFill>
                </a:rPr>
                <a:t>5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0255" name="Line 39"/>
            <p:cNvSpPr>
              <a:spLocks noChangeShapeType="1"/>
            </p:cNvSpPr>
            <p:nvPr/>
          </p:nvSpPr>
          <p:spPr bwMode="auto">
            <a:xfrm>
              <a:off x="3768" y="3436"/>
              <a:ext cx="32" cy="391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6" name="Text Box 40"/>
            <p:cNvSpPr txBox="1">
              <a:spLocks noChangeArrowheads="1"/>
            </p:cNvSpPr>
            <p:nvPr/>
          </p:nvSpPr>
          <p:spPr bwMode="auto">
            <a:xfrm>
              <a:off x="2232" y="2484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螺母</a:t>
              </a:r>
              <a:r>
                <a:rPr lang="en-US" altLang="zh-CN" sz="2400">
                  <a:solidFill>
                    <a:srgbClr val="FF3300"/>
                  </a:solidFill>
                </a:rPr>
                <a:t>7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0257" name="Line 41"/>
            <p:cNvSpPr>
              <a:spLocks noChangeShapeType="1"/>
            </p:cNvSpPr>
            <p:nvPr/>
          </p:nvSpPr>
          <p:spPr bwMode="auto">
            <a:xfrm flipV="1">
              <a:off x="2749" y="2456"/>
              <a:ext cx="142" cy="16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8" name="Text Box 42"/>
            <p:cNvSpPr txBox="1">
              <a:spLocks noChangeArrowheads="1"/>
            </p:cNvSpPr>
            <p:nvPr/>
          </p:nvSpPr>
          <p:spPr bwMode="auto">
            <a:xfrm>
              <a:off x="2232" y="2870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螺柱</a:t>
              </a:r>
              <a:r>
                <a:rPr lang="en-US" altLang="zh-CN" sz="2400">
                  <a:solidFill>
                    <a:srgbClr val="FF3300"/>
                  </a:solidFill>
                </a:rPr>
                <a:t>6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0259" name="Line 43"/>
            <p:cNvSpPr>
              <a:spLocks noChangeShapeType="1"/>
            </p:cNvSpPr>
            <p:nvPr/>
          </p:nvSpPr>
          <p:spPr bwMode="auto">
            <a:xfrm flipH="1">
              <a:off x="2773" y="2660"/>
              <a:ext cx="191" cy="301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0" name="Text Box 44"/>
            <p:cNvSpPr txBox="1">
              <a:spLocks noChangeArrowheads="1"/>
            </p:cNvSpPr>
            <p:nvPr/>
          </p:nvSpPr>
          <p:spPr bwMode="auto">
            <a:xfrm>
              <a:off x="2366" y="1159"/>
              <a:ext cx="6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阀杆</a:t>
              </a:r>
              <a:r>
                <a:rPr lang="en-US" altLang="zh-CN" sz="2400">
                  <a:solidFill>
                    <a:srgbClr val="FF3300"/>
                  </a:solidFill>
                </a:rPr>
                <a:t>12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0261" name="Line 45"/>
            <p:cNvSpPr>
              <a:spLocks noChangeShapeType="1"/>
            </p:cNvSpPr>
            <p:nvPr/>
          </p:nvSpPr>
          <p:spPr bwMode="auto">
            <a:xfrm>
              <a:off x="3134" y="1358"/>
              <a:ext cx="859" cy="5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2" name="Text Box 46"/>
            <p:cNvSpPr txBox="1">
              <a:spLocks noChangeArrowheads="1"/>
            </p:cNvSpPr>
            <p:nvPr/>
          </p:nvSpPr>
          <p:spPr bwMode="auto">
            <a:xfrm>
              <a:off x="4795" y="1532"/>
              <a:ext cx="6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扳手</a:t>
              </a:r>
              <a:r>
                <a:rPr lang="en-US" altLang="zh-CN" sz="2400">
                  <a:solidFill>
                    <a:srgbClr val="FF3300"/>
                  </a:solidFill>
                </a:rPr>
                <a:t>13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0263" name="Line 47"/>
            <p:cNvSpPr>
              <a:spLocks noChangeShapeType="1"/>
            </p:cNvSpPr>
            <p:nvPr/>
          </p:nvSpPr>
          <p:spPr bwMode="auto">
            <a:xfrm flipH="1" flipV="1">
              <a:off x="4776" y="1260"/>
              <a:ext cx="216" cy="31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4" name="Text Box 48"/>
            <p:cNvSpPr txBox="1">
              <a:spLocks noChangeArrowheads="1"/>
            </p:cNvSpPr>
            <p:nvPr/>
          </p:nvSpPr>
          <p:spPr bwMode="auto">
            <a:xfrm>
              <a:off x="2232" y="1477"/>
              <a:ext cx="9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压紧盖</a:t>
              </a:r>
              <a:r>
                <a:rPr lang="en-US" altLang="zh-CN" sz="2400">
                  <a:solidFill>
                    <a:srgbClr val="FF3300"/>
                  </a:solidFill>
                </a:rPr>
                <a:t>11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0265" name="Line 49"/>
            <p:cNvSpPr>
              <a:spLocks noChangeShapeType="1"/>
            </p:cNvSpPr>
            <p:nvPr/>
          </p:nvSpPr>
          <p:spPr bwMode="auto">
            <a:xfrm>
              <a:off x="3118" y="1633"/>
              <a:ext cx="757" cy="54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6" name="Text Box 50"/>
            <p:cNvSpPr txBox="1">
              <a:spLocks noChangeArrowheads="1"/>
            </p:cNvSpPr>
            <p:nvPr/>
          </p:nvSpPr>
          <p:spPr bwMode="auto">
            <a:xfrm>
              <a:off x="4795" y="2948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阀体</a:t>
              </a:r>
              <a:r>
                <a:rPr lang="en-US" altLang="zh-CN" sz="2400">
                  <a:solidFill>
                    <a:srgbClr val="FF3300"/>
                  </a:solidFill>
                </a:rPr>
                <a:t>1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0267" name="Line 51"/>
            <p:cNvSpPr>
              <a:spLocks noChangeShapeType="1"/>
            </p:cNvSpPr>
            <p:nvPr/>
          </p:nvSpPr>
          <p:spPr bwMode="auto">
            <a:xfrm flipH="1" flipV="1">
              <a:off x="4470" y="2850"/>
              <a:ext cx="391" cy="22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8" name="Text Box 52"/>
            <p:cNvSpPr txBox="1">
              <a:spLocks noChangeArrowheads="1"/>
            </p:cNvSpPr>
            <p:nvPr/>
          </p:nvSpPr>
          <p:spPr bwMode="auto">
            <a:xfrm>
              <a:off x="2462" y="3775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阀盖</a:t>
              </a:r>
              <a:r>
                <a:rPr lang="en-US" altLang="zh-CN" sz="2400">
                  <a:solidFill>
                    <a:srgbClr val="FF3300"/>
                  </a:solidFill>
                </a:rPr>
                <a:t>2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0269" name="Line 53"/>
            <p:cNvSpPr>
              <a:spLocks noChangeShapeType="1"/>
            </p:cNvSpPr>
            <p:nvPr/>
          </p:nvSpPr>
          <p:spPr bwMode="auto">
            <a:xfrm flipH="1">
              <a:off x="3000" y="3564"/>
              <a:ext cx="408" cy="31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0" name="Text Box 54"/>
            <p:cNvSpPr txBox="1">
              <a:spLocks noChangeArrowheads="1"/>
            </p:cNvSpPr>
            <p:nvPr/>
          </p:nvSpPr>
          <p:spPr bwMode="auto">
            <a:xfrm>
              <a:off x="2232" y="2108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填料垫</a:t>
              </a:r>
              <a:r>
                <a:rPr lang="en-US" altLang="zh-CN" sz="2400">
                  <a:solidFill>
                    <a:srgbClr val="FF3300"/>
                  </a:solidFill>
                </a:rPr>
                <a:t>8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0271" name="Line 55"/>
            <p:cNvSpPr>
              <a:spLocks noChangeShapeType="1"/>
            </p:cNvSpPr>
            <p:nvPr/>
          </p:nvSpPr>
          <p:spPr bwMode="auto">
            <a:xfrm>
              <a:off x="3024" y="2244"/>
              <a:ext cx="840" cy="22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2" name="Text Box 56"/>
            <p:cNvSpPr txBox="1">
              <a:spLocks noChangeArrowheads="1"/>
            </p:cNvSpPr>
            <p:nvPr/>
          </p:nvSpPr>
          <p:spPr bwMode="auto">
            <a:xfrm>
              <a:off x="2232" y="1752"/>
              <a:ext cx="8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填料</a:t>
              </a:r>
              <a:r>
                <a:rPr lang="en-US" altLang="zh-CN" sz="2800">
                  <a:solidFill>
                    <a:srgbClr val="FF3300"/>
                  </a:solidFill>
                </a:rPr>
                <a:t>9,10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0273" name="Line 57"/>
            <p:cNvSpPr>
              <a:spLocks noChangeShapeType="1"/>
            </p:cNvSpPr>
            <p:nvPr/>
          </p:nvSpPr>
          <p:spPr bwMode="auto">
            <a:xfrm flipH="1" flipV="1">
              <a:off x="3088" y="1997"/>
              <a:ext cx="782" cy="34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10248" name="Picture 58" descr="10-1(新)球阀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013" y="515938"/>
            <a:ext cx="1230312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 autoUpdateAnimBg="0"/>
      <p:bldP spid="16691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 descr="点式菱形"/>
          <p:cNvSpPr txBox="1">
            <a:spLocks noChangeArrowheads="1"/>
          </p:cNvSpPr>
          <p:nvPr/>
        </p:nvSpPr>
        <p:spPr bwMode="auto">
          <a:xfrm>
            <a:off x="190500" y="219075"/>
            <a:ext cx="2413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3300"/>
                </a:solidFill>
                <a:latin typeface="宋体" panose="02010600030101010101" pitchFamily="2" charset="-122"/>
              </a:rPr>
              <a:t>●</a:t>
            </a:r>
            <a:r>
              <a:rPr lang="en-US" altLang="zh-CN" sz="3600">
                <a:solidFill>
                  <a:srgbClr val="FF33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3600">
                <a:solidFill>
                  <a:srgbClr val="FF3300"/>
                </a:solidFill>
                <a:latin typeface="宋体" panose="02010600030101010101" pitchFamily="2" charset="-122"/>
              </a:rPr>
              <a:t>功用：</a:t>
            </a:r>
            <a:endParaRPr lang="zh-CN" altLang="en-US" b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99331" name="Text Box 3" descr="点式菱形"/>
          <p:cNvSpPr txBox="1">
            <a:spLocks noChangeArrowheads="1"/>
          </p:cNvSpPr>
          <p:nvPr/>
        </p:nvSpPr>
        <p:spPr bwMode="auto">
          <a:xfrm>
            <a:off x="190500" y="2978150"/>
            <a:ext cx="26384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3300"/>
                </a:solidFill>
                <a:latin typeface="宋体" panose="02010600030101010101" pitchFamily="2" charset="-122"/>
              </a:rPr>
              <a:t>●</a:t>
            </a:r>
            <a:r>
              <a:rPr lang="en-US" altLang="zh-CN" sz="3600">
                <a:solidFill>
                  <a:srgbClr val="FF33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3600">
                <a:solidFill>
                  <a:srgbClr val="FF3300"/>
                </a:solidFill>
                <a:latin typeface="宋体" panose="02010600030101010101" pitchFamily="2" charset="-122"/>
              </a:rPr>
              <a:t>内容</a:t>
            </a:r>
            <a:r>
              <a:rPr lang="en-US" altLang="zh-CN" sz="360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endParaRPr lang="en-US" altLang="zh-CN" sz="3600" b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609600" y="3546475"/>
            <a:ext cx="3987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(1) </a:t>
            </a:r>
            <a:r>
              <a:rPr lang="zh-CN" altLang="en-US">
                <a:latin typeface="宋体" panose="02010600030101010101" pitchFamily="2" charset="-122"/>
              </a:rPr>
              <a:t>一组视图。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609600" y="4041775"/>
            <a:ext cx="39163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(2) </a:t>
            </a:r>
            <a:r>
              <a:rPr lang="zh-CN" altLang="en-US">
                <a:latin typeface="宋体" panose="02010600030101010101" pitchFamily="2" charset="-122"/>
              </a:rPr>
              <a:t>必要的尺寸。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99334" name="Text Box 6"/>
          <p:cNvSpPr txBox="1">
            <a:spLocks noChangeArrowheads="1"/>
          </p:cNvSpPr>
          <p:nvPr/>
        </p:nvSpPr>
        <p:spPr bwMode="auto">
          <a:xfrm>
            <a:off x="609600" y="4537075"/>
            <a:ext cx="39862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(3) </a:t>
            </a:r>
            <a:r>
              <a:rPr lang="zh-CN" altLang="en-US">
                <a:latin typeface="宋体" panose="02010600030101010101" pitchFamily="2" charset="-122"/>
              </a:rPr>
              <a:t>技术要求。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99335" name="Text Box 7"/>
          <p:cNvSpPr txBox="1">
            <a:spLocks noChangeArrowheads="1"/>
          </p:cNvSpPr>
          <p:nvPr/>
        </p:nvSpPr>
        <p:spPr bwMode="auto">
          <a:xfrm>
            <a:off x="609600" y="5049838"/>
            <a:ext cx="66833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(4) </a:t>
            </a:r>
            <a:r>
              <a:rPr lang="zh-CN" altLang="en-US">
                <a:latin typeface="宋体" panose="02010600030101010101" pitchFamily="2" charset="-122"/>
              </a:rPr>
              <a:t>标题栏、   零件序号及明细栏。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1272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192963" y="6015038"/>
            <a:ext cx="1727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u="sng">
                <a:solidFill>
                  <a:schemeClr val="bg2"/>
                </a:solidFill>
              </a:rPr>
              <a:t>装配图</a:t>
            </a:r>
            <a:endParaRPr lang="zh-CN" altLang="en-US" u="sng">
              <a:solidFill>
                <a:schemeClr val="bg2"/>
              </a:solidFill>
            </a:endParaRPr>
          </a:p>
        </p:txBody>
      </p:sp>
      <p:sp>
        <p:nvSpPr>
          <p:cNvPr id="99337" name="Text Box 9"/>
          <p:cNvSpPr txBox="1">
            <a:spLocks noChangeArrowheads="1"/>
          </p:cNvSpPr>
          <p:nvPr/>
        </p:nvSpPr>
        <p:spPr bwMode="auto">
          <a:xfrm>
            <a:off x="623888" y="1943100"/>
            <a:ext cx="81946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是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制定装配工艺规程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，进行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装配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、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检验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、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安装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及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维修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的技术文件。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99366" name="Text Box 38"/>
          <p:cNvSpPr txBox="1">
            <a:spLocks noChangeArrowheads="1"/>
          </p:cNvSpPr>
          <p:nvPr/>
        </p:nvSpPr>
        <p:spPr bwMode="auto">
          <a:xfrm>
            <a:off x="623888" y="879475"/>
            <a:ext cx="84931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装配图用来表达机器或部件的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工作原理、各组成部分的相对位置及装配关系。</a:t>
            </a:r>
            <a:endParaRPr lang="zh-CN" altLang="en-US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49300" y="3584575"/>
            <a:ext cx="2922588" cy="2082800"/>
          </a:xfrm>
          <a:prstGeom prst="rect">
            <a:avLst/>
          </a:prstGeom>
          <a:noFill/>
          <a:ln w="28575" algn="ctr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1376363" y="5629275"/>
            <a:ext cx="1574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rgbClr val="FF3300"/>
                </a:solidFill>
              </a:rPr>
              <a:t>零件图</a:t>
            </a:r>
            <a:endParaRPr lang="zh-CN" altLang="en-US" sz="360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9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autoUpdateAnimBg="0"/>
      <p:bldP spid="99332" grpId="0" autoUpdateAnimBg="0"/>
      <p:bldP spid="99333" grpId="0" autoUpdateAnimBg="0"/>
      <p:bldP spid="99334" grpId="0" autoUpdateAnimBg="0"/>
      <p:bldP spid="99335" grpId="0" autoUpdateAnimBg="0"/>
      <p:bldP spid="99337" grpId="0" autoUpdateAnimBg="0"/>
      <p:bldP spid="99366" grpId="0" autoUpdateAnimBg="0"/>
      <p:bldP spid="2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87325" y="115888"/>
            <a:ext cx="8612188" cy="644525"/>
          </a:xfrm>
          <a:gradFill rotWithShape="0">
            <a:gsLst>
              <a:gs pos="0">
                <a:srgbClr val="FF9900"/>
              </a:gs>
              <a:gs pos="50000">
                <a:srgbClr val="FFEDD2"/>
              </a:gs>
              <a:gs pos="100000">
                <a:srgbClr val="FF9900"/>
              </a:gs>
            </a:gsLst>
            <a:lin ang="5400000" scaled="1"/>
          </a:gradFill>
          <a:extLst>
            <a:ext uri="{91240B29-F687-4F45-9708-019B960494DF}">
              <a14:hiddenLine xmlns:a14="http://schemas.microsoft.com/office/drawing/2010/main" w="76200">
                <a:pattFill prst="smCheck">
                  <a:fgClr>
                    <a:schemeClr val="bg1"/>
                  </a:fgClr>
                  <a:bgClr>
                    <a:srgbClr val="CC00FF"/>
                  </a:bgClr>
                </a:patt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altLang="zh-CN" sz="4000" b="1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12.2 </a:t>
            </a:r>
            <a:r>
              <a:rPr lang="zh-CN" altLang="en-US" sz="4000" b="1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装配图的规定画法和特殊画法</a:t>
            </a:r>
            <a:endParaRPr lang="zh-CN" altLang="en-US" sz="4000" b="1">
              <a:solidFill>
                <a:srgbClr val="33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1077" name="Text Box 5"/>
          <p:cNvSpPr txBox="1">
            <a:spLocks noChangeArrowheads="1"/>
          </p:cNvSpPr>
          <p:nvPr/>
        </p:nvSpPr>
        <p:spPr bwMode="auto">
          <a:xfrm>
            <a:off x="268288" y="912813"/>
            <a:ext cx="38877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>
                <a:solidFill>
                  <a:schemeClr val="accent2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3600">
                <a:solidFill>
                  <a:schemeClr val="accent2"/>
                </a:solidFill>
                <a:latin typeface="宋体" panose="02010600030101010101" pitchFamily="2" charset="-122"/>
              </a:rPr>
              <a:t>规定画法</a:t>
            </a:r>
            <a:endParaRPr lang="zh-CN" altLang="en-US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31078" name="Text Box 6"/>
          <p:cNvSpPr txBox="1">
            <a:spLocks noChangeArrowheads="1"/>
          </p:cNvSpPr>
          <p:nvPr/>
        </p:nvSpPr>
        <p:spPr bwMode="auto">
          <a:xfrm>
            <a:off x="442913" y="1582738"/>
            <a:ext cx="83121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</a:rPr>
              <a:t> 1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）相邻零件的接触表面和配合表面只画一条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    线；不接触表面和非配合表面画两条线。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pSp>
        <p:nvGrpSpPr>
          <p:cNvPr id="131166" name="Group 94"/>
          <p:cNvGrpSpPr/>
          <p:nvPr/>
        </p:nvGrpSpPr>
        <p:grpSpPr bwMode="auto">
          <a:xfrm>
            <a:off x="5430838" y="2816225"/>
            <a:ext cx="2667000" cy="3189288"/>
            <a:chOff x="3421" y="1774"/>
            <a:chExt cx="1680" cy="2009"/>
          </a:xfrm>
        </p:grpSpPr>
        <p:sp>
          <p:nvSpPr>
            <p:cNvPr id="13357" name="Line 8"/>
            <p:cNvSpPr>
              <a:spLocks noChangeShapeType="1"/>
            </p:cNvSpPr>
            <p:nvPr/>
          </p:nvSpPr>
          <p:spPr bwMode="auto">
            <a:xfrm>
              <a:off x="3458" y="2520"/>
              <a:ext cx="16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8" name="Line 9"/>
            <p:cNvSpPr>
              <a:spLocks noChangeShapeType="1"/>
            </p:cNvSpPr>
            <p:nvPr/>
          </p:nvSpPr>
          <p:spPr bwMode="auto">
            <a:xfrm>
              <a:off x="3421" y="2922"/>
              <a:ext cx="165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9" name="Rectangle 10"/>
            <p:cNvSpPr>
              <a:spLocks noChangeArrowheads="1"/>
            </p:cNvSpPr>
            <p:nvPr/>
          </p:nvSpPr>
          <p:spPr bwMode="auto">
            <a:xfrm>
              <a:off x="4012" y="1948"/>
              <a:ext cx="481" cy="1358"/>
            </a:xfrm>
            <a:prstGeom prst="rect">
              <a:avLst/>
            </a:prstGeom>
            <a:gradFill rotWithShape="0">
              <a:gsLst>
                <a:gs pos="0">
                  <a:srgbClr val="008000"/>
                </a:gs>
                <a:gs pos="50000">
                  <a:srgbClr val="B8DCB8"/>
                </a:gs>
                <a:gs pos="100000">
                  <a:srgbClr val="008000"/>
                </a:gs>
              </a:gsLst>
              <a:lin ang="0" scaled="1"/>
            </a:gradFill>
            <a:ln w="3810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13360" name="Line 11"/>
            <p:cNvSpPr>
              <a:spLocks noChangeShapeType="1"/>
            </p:cNvSpPr>
            <p:nvPr/>
          </p:nvSpPr>
          <p:spPr bwMode="auto">
            <a:xfrm>
              <a:off x="3448" y="3303"/>
              <a:ext cx="164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1" name="Line 12"/>
            <p:cNvSpPr>
              <a:spLocks noChangeShapeType="1"/>
            </p:cNvSpPr>
            <p:nvPr/>
          </p:nvSpPr>
          <p:spPr bwMode="auto">
            <a:xfrm>
              <a:off x="3965" y="2530"/>
              <a:ext cx="0" cy="7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2" name="Line 13"/>
            <p:cNvSpPr>
              <a:spLocks noChangeShapeType="1"/>
            </p:cNvSpPr>
            <p:nvPr/>
          </p:nvSpPr>
          <p:spPr bwMode="auto">
            <a:xfrm>
              <a:off x="4541" y="2530"/>
              <a:ext cx="0" cy="7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3" name="Line 14"/>
            <p:cNvSpPr>
              <a:spLocks noChangeShapeType="1"/>
            </p:cNvSpPr>
            <p:nvPr/>
          </p:nvSpPr>
          <p:spPr bwMode="auto">
            <a:xfrm>
              <a:off x="4010" y="2794"/>
              <a:ext cx="49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4" name="Line 15"/>
            <p:cNvSpPr>
              <a:spLocks noChangeShapeType="1"/>
            </p:cNvSpPr>
            <p:nvPr/>
          </p:nvSpPr>
          <p:spPr bwMode="auto">
            <a:xfrm>
              <a:off x="4450" y="1912"/>
              <a:ext cx="0" cy="89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5" name="Line 16"/>
            <p:cNvSpPr>
              <a:spLocks noChangeShapeType="1"/>
            </p:cNvSpPr>
            <p:nvPr/>
          </p:nvSpPr>
          <p:spPr bwMode="auto">
            <a:xfrm>
              <a:off x="4053" y="1912"/>
              <a:ext cx="0" cy="8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66" name="Group 17"/>
            <p:cNvGrpSpPr/>
            <p:nvPr/>
          </p:nvGrpSpPr>
          <p:grpSpPr bwMode="auto">
            <a:xfrm>
              <a:off x="4538" y="2518"/>
              <a:ext cx="563" cy="403"/>
              <a:chOff x="4538" y="2518"/>
              <a:chExt cx="563" cy="403"/>
            </a:xfrm>
          </p:grpSpPr>
          <p:sp>
            <p:nvSpPr>
              <p:cNvPr id="13397" name="Line 18"/>
              <p:cNvSpPr>
                <a:spLocks noChangeShapeType="1"/>
              </p:cNvSpPr>
              <p:nvPr/>
            </p:nvSpPr>
            <p:spPr bwMode="auto">
              <a:xfrm flipV="1">
                <a:off x="4538" y="2531"/>
                <a:ext cx="118" cy="1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98" name="Line 19"/>
              <p:cNvSpPr>
                <a:spLocks noChangeShapeType="1"/>
              </p:cNvSpPr>
              <p:nvPr/>
            </p:nvSpPr>
            <p:spPr bwMode="auto">
              <a:xfrm flipV="1">
                <a:off x="4547" y="2527"/>
                <a:ext cx="382" cy="39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99" name="Line 20"/>
              <p:cNvSpPr>
                <a:spLocks noChangeShapeType="1"/>
              </p:cNvSpPr>
              <p:nvPr/>
            </p:nvSpPr>
            <p:spPr bwMode="auto">
              <a:xfrm flipV="1">
                <a:off x="4547" y="2531"/>
                <a:ext cx="254" cy="25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00" name="Line 21"/>
              <p:cNvSpPr>
                <a:spLocks noChangeShapeType="1"/>
              </p:cNvSpPr>
              <p:nvPr/>
            </p:nvSpPr>
            <p:spPr bwMode="auto">
              <a:xfrm flipV="1">
                <a:off x="4683" y="2518"/>
                <a:ext cx="391" cy="40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01" name="Line 22"/>
              <p:cNvSpPr>
                <a:spLocks noChangeShapeType="1"/>
              </p:cNvSpPr>
              <p:nvPr/>
            </p:nvSpPr>
            <p:spPr bwMode="auto">
              <a:xfrm flipV="1">
                <a:off x="4820" y="2640"/>
                <a:ext cx="281" cy="28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02" name="Line 23"/>
              <p:cNvSpPr>
                <a:spLocks noChangeShapeType="1"/>
              </p:cNvSpPr>
              <p:nvPr/>
            </p:nvSpPr>
            <p:spPr bwMode="auto">
              <a:xfrm flipV="1">
                <a:off x="4956" y="2782"/>
                <a:ext cx="127" cy="13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367" name="Group 24"/>
            <p:cNvGrpSpPr/>
            <p:nvPr/>
          </p:nvGrpSpPr>
          <p:grpSpPr bwMode="auto">
            <a:xfrm>
              <a:off x="3438" y="2502"/>
              <a:ext cx="527" cy="419"/>
              <a:chOff x="3438" y="2502"/>
              <a:chExt cx="527" cy="419"/>
            </a:xfrm>
          </p:grpSpPr>
          <p:sp>
            <p:nvSpPr>
              <p:cNvPr id="13391" name="Line 25"/>
              <p:cNvSpPr>
                <a:spLocks noChangeShapeType="1"/>
              </p:cNvSpPr>
              <p:nvPr/>
            </p:nvSpPr>
            <p:spPr bwMode="auto">
              <a:xfrm flipV="1">
                <a:off x="3883" y="2840"/>
                <a:ext cx="72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92" name="Line 26"/>
              <p:cNvSpPr>
                <a:spLocks noChangeShapeType="1"/>
              </p:cNvSpPr>
              <p:nvPr/>
            </p:nvSpPr>
            <p:spPr bwMode="auto">
              <a:xfrm flipV="1">
                <a:off x="3610" y="2564"/>
                <a:ext cx="345" cy="35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93" name="Line 27"/>
              <p:cNvSpPr>
                <a:spLocks noChangeShapeType="1"/>
              </p:cNvSpPr>
              <p:nvPr/>
            </p:nvSpPr>
            <p:spPr bwMode="auto">
              <a:xfrm flipV="1">
                <a:off x="3756" y="2712"/>
                <a:ext cx="209" cy="20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94" name="Line 28"/>
              <p:cNvSpPr>
                <a:spLocks noChangeShapeType="1"/>
              </p:cNvSpPr>
              <p:nvPr/>
            </p:nvSpPr>
            <p:spPr bwMode="auto">
              <a:xfrm flipV="1">
                <a:off x="3465" y="2520"/>
                <a:ext cx="401" cy="40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95" name="Line 29"/>
              <p:cNvSpPr>
                <a:spLocks noChangeShapeType="1"/>
              </p:cNvSpPr>
              <p:nvPr/>
            </p:nvSpPr>
            <p:spPr bwMode="auto">
              <a:xfrm flipV="1">
                <a:off x="3438" y="2502"/>
                <a:ext cx="297" cy="30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96" name="Line 30"/>
              <p:cNvSpPr>
                <a:spLocks noChangeShapeType="1"/>
              </p:cNvSpPr>
              <p:nvPr/>
            </p:nvSpPr>
            <p:spPr bwMode="auto">
              <a:xfrm flipV="1">
                <a:off x="3447" y="2530"/>
                <a:ext cx="128" cy="1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368" name="Group 31"/>
            <p:cNvGrpSpPr/>
            <p:nvPr/>
          </p:nvGrpSpPr>
          <p:grpSpPr bwMode="auto">
            <a:xfrm>
              <a:off x="3428" y="2921"/>
              <a:ext cx="546" cy="382"/>
              <a:chOff x="3428" y="2921"/>
              <a:chExt cx="546" cy="382"/>
            </a:xfrm>
          </p:grpSpPr>
          <p:sp>
            <p:nvSpPr>
              <p:cNvPr id="13385" name="Line 32"/>
              <p:cNvSpPr>
                <a:spLocks noChangeShapeType="1"/>
              </p:cNvSpPr>
              <p:nvPr/>
            </p:nvSpPr>
            <p:spPr bwMode="auto">
              <a:xfrm>
                <a:off x="3883" y="2930"/>
                <a:ext cx="91" cy="9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86" name="Line 33"/>
              <p:cNvSpPr>
                <a:spLocks noChangeShapeType="1"/>
              </p:cNvSpPr>
              <p:nvPr/>
            </p:nvSpPr>
            <p:spPr bwMode="auto">
              <a:xfrm>
                <a:off x="3738" y="2921"/>
                <a:ext cx="218" cy="2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87" name="Line 34"/>
              <p:cNvSpPr>
                <a:spLocks noChangeShapeType="1"/>
              </p:cNvSpPr>
              <p:nvPr/>
            </p:nvSpPr>
            <p:spPr bwMode="auto">
              <a:xfrm>
                <a:off x="3601" y="2930"/>
                <a:ext cx="364" cy="3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88" name="Line 35"/>
              <p:cNvSpPr>
                <a:spLocks noChangeShapeType="1"/>
              </p:cNvSpPr>
              <p:nvPr/>
            </p:nvSpPr>
            <p:spPr bwMode="auto">
              <a:xfrm>
                <a:off x="3456" y="2930"/>
                <a:ext cx="373" cy="3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89" name="Line 36"/>
              <p:cNvSpPr>
                <a:spLocks noChangeShapeType="1"/>
              </p:cNvSpPr>
              <p:nvPr/>
            </p:nvSpPr>
            <p:spPr bwMode="auto">
              <a:xfrm>
                <a:off x="3429" y="3068"/>
                <a:ext cx="235" cy="23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90" name="Line 37"/>
              <p:cNvSpPr>
                <a:spLocks noChangeShapeType="1"/>
              </p:cNvSpPr>
              <p:nvPr/>
            </p:nvSpPr>
            <p:spPr bwMode="auto">
              <a:xfrm>
                <a:off x="3428" y="3230"/>
                <a:ext cx="73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369" name="Group 38"/>
            <p:cNvGrpSpPr/>
            <p:nvPr/>
          </p:nvGrpSpPr>
          <p:grpSpPr bwMode="auto">
            <a:xfrm>
              <a:off x="4535" y="2921"/>
              <a:ext cx="566" cy="382"/>
              <a:chOff x="4535" y="2921"/>
              <a:chExt cx="566" cy="382"/>
            </a:xfrm>
          </p:grpSpPr>
          <p:sp>
            <p:nvSpPr>
              <p:cNvPr id="13379" name="Line 39"/>
              <p:cNvSpPr>
                <a:spLocks noChangeShapeType="1"/>
              </p:cNvSpPr>
              <p:nvPr/>
            </p:nvSpPr>
            <p:spPr bwMode="auto">
              <a:xfrm>
                <a:off x="4547" y="3194"/>
                <a:ext cx="109" cy="10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80" name="Line 40"/>
              <p:cNvSpPr>
                <a:spLocks noChangeShapeType="1"/>
              </p:cNvSpPr>
              <p:nvPr/>
            </p:nvSpPr>
            <p:spPr bwMode="auto">
              <a:xfrm>
                <a:off x="4535" y="3043"/>
                <a:ext cx="248" cy="2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81" name="Line 41"/>
              <p:cNvSpPr>
                <a:spLocks noChangeShapeType="1"/>
              </p:cNvSpPr>
              <p:nvPr/>
            </p:nvSpPr>
            <p:spPr bwMode="auto">
              <a:xfrm>
                <a:off x="4547" y="2921"/>
                <a:ext cx="382" cy="38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82" name="Line 42"/>
              <p:cNvSpPr>
                <a:spLocks noChangeShapeType="1"/>
              </p:cNvSpPr>
              <p:nvPr/>
            </p:nvSpPr>
            <p:spPr bwMode="auto">
              <a:xfrm>
                <a:off x="4692" y="2921"/>
                <a:ext cx="385" cy="3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83" name="Line 43"/>
              <p:cNvSpPr>
                <a:spLocks noChangeShapeType="1"/>
              </p:cNvSpPr>
              <p:nvPr/>
            </p:nvSpPr>
            <p:spPr bwMode="auto">
              <a:xfrm>
                <a:off x="4829" y="2921"/>
                <a:ext cx="272" cy="2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84" name="Freeform 44"/>
              <p:cNvSpPr/>
              <p:nvPr/>
            </p:nvSpPr>
            <p:spPr bwMode="auto">
              <a:xfrm>
                <a:off x="4956" y="2927"/>
                <a:ext cx="108" cy="108"/>
              </a:xfrm>
              <a:custGeom>
                <a:avLst/>
                <a:gdLst>
                  <a:gd name="T0" fmla="*/ 0 w 96"/>
                  <a:gd name="T1" fmla="*/ 0 h 120"/>
                  <a:gd name="T2" fmla="*/ 122 w 96"/>
                  <a:gd name="T3" fmla="*/ 97 h 1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6" h="120">
                    <a:moveTo>
                      <a:pt x="0" y="0"/>
                    </a:moveTo>
                    <a:lnTo>
                      <a:pt x="96" y="12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370" name="Rectangle 45"/>
            <p:cNvSpPr>
              <a:spLocks noChangeArrowheads="1"/>
            </p:cNvSpPr>
            <p:nvPr/>
          </p:nvSpPr>
          <p:spPr bwMode="auto">
            <a:xfrm>
              <a:off x="3768" y="2066"/>
              <a:ext cx="965" cy="373"/>
            </a:xfrm>
            <a:prstGeom prst="rect">
              <a:avLst/>
            </a:prstGeom>
            <a:gradFill rotWithShape="0">
              <a:gsLst>
                <a:gs pos="0">
                  <a:srgbClr val="CC99FF"/>
                </a:gs>
                <a:gs pos="50000">
                  <a:srgbClr val="E1C3FF"/>
                </a:gs>
                <a:gs pos="100000">
                  <a:srgbClr val="CC99FF"/>
                </a:gs>
              </a:gsLst>
              <a:lin ang="0" scaled="1"/>
            </a:gradFill>
            <a:ln w="3810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13371" name="Rectangle 46"/>
            <p:cNvSpPr>
              <a:spLocks noChangeArrowheads="1"/>
            </p:cNvSpPr>
            <p:nvPr/>
          </p:nvSpPr>
          <p:spPr bwMode="auto">
            <a:xfrm>
              <a:off x="3711" y="2440"/>
              <a:ext cx="1090" cy="73"/>
            </a:xfrm>
            <a:prstGeom prst="rect">
              <a:avLst/>
            </a:prstGeom>
            <a:gradFill rotWithShape="0">
              <a:gsLst>
                <a:gs pos="0">
                  <a:srgbClr val="CC9900"/>
                </a:gs>
                <a:gs pos="50000">
                  <a:srgbClr val="E9D391"/>
                </a:gs>
                <a:gs pos="100000">
                  <a:srgbClr val="CC9900"/>
                </a:gs>
              </a:gsLst>
              <a:lin ang="5400000" scaled="1"/>
            </a:gradFill>
            <a:ln w="3810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13372" name="Line 47"/>
            <p:cNvSpPr>
              <a:spLocks noChangeShapeType="1"/>
            </p:cNvSpPr>
            <p:nvPr/>
          </p:nvSpPr>
          <p:spPr bwMode="auto">
            <a:xfrm>
              <a:off x="4010" y="2047"/>
              <a:ext cx="0" cy="4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3" name="Line 48"/>
            <p:cNvSpPr>
              <a:spLocks noChangeShapeType="1"/>
            </p:cNvSpPr>
            <p:nvPr/>
          </p:nvSpPr>
          <p:spPr bwMode="auto">
            <a:xfrm>
              <a:off x="4492" y="2067"/>
              <a:ext cx="0" cy="3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4" name="Rectangle 49"/>
            <p:cNvSpPr>
              <a:spLocks noChangeArrowheads="1"/>
            </p:cNvSpPr>
            <p:nvPr/>
          </p:nvSpPr>
          <p:spPr bwMode="auto">
            <a:xfrm>
              <a:off x="3765" y="3303"/>
              <a:ext cx="955" cy="336"/>
            </a:xfrm>
            <a:prstGeom prst="rect">
              <a:avLst/>
            </a:prstGeom>
            <a:gradFill rotWithShape="0">
              <a:gsLst>
                <a:gs pos="0">
                  <a:srgbClr val="008000"/>
                </a:gs>
                <a:gs pos="50000">
                  <a:srgbClr val="C5E2C5"/>
                </a:gs>
                <a:gs pos="100000">
                  <a:srgbClr val="008000"/>
                </a:gs>
              </a:gsLst>
              <a:lin ang="0" scaled="1"/>
            </a:gradFill>
            <a:ln w="3810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13375" name="Line 50"/>
            <p:cNvSpPr>
              <a:spLocks noChangeShapeType="1"/>
            </p:cNvSpPr>
            <p:nvPr/>
          </p:nvSpPr>
          <p:spPr bwMode="auto">
            <a:xfrm>
              <a:off x="4011" y="3303"/>
              <a:ext cx="0" cy="34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6" name="Line 51"/>
            <p:cNvSpPr>
              <a:spLocks noChangeShapeType="1"/>
            </p:cNvSpPr>
            <p:nvPr/>
          </p:nvSpPr>
          <p:spPr bwMode="auto">
            <a:xfrm>
              <a:off x="4493" y="3303"/>
              <a:ext cx="0" cy="32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7" name="Freeform 52"/>
            <p:cNvSpPr/>
            <p:nvPr/>
          </p:nvSpPr>
          <p:spPr bwMode="auto">
            <a:xfrm>
              <a:off x="4020" y="1890"/>
              <a:ext cx="468" cy="59"/>
            </a:xfrm>
            <a:custGeom>
              <a:avLst/>
              <a:gdLst>
                <a:gd name="T0" fmla="*/ 0 w 468"/>
                <a:gd name="T1" fmla="*/ 53 h 59"/>
                <a:gd name="T2" fmla="*/ 468 w 468"/>
                <a:gd name="T3" fmla="*/ 59 h 59"/>
                <a:gd name="T4" fmla="*/ 397 w 468"/>
                <a:gd name="T5" fmla="*/ 0 h 59"/>
                <a:gd name="T6" fmla="*/ 64 w 468"/>
                <a:gd name="T7" fmla="*/ 4 h 59"/>
                <a:gd name="T8" fmla="*/ 0 w 468"/>
                <a:gd name="T9" fmla="*/ 5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8" h="59">
                  <a:moveTo>
                    <a:pt x="0" y="53"/>
                  </a:moveTo>
                  <a:lnTo>
                    <a:pt x="468" y="59"/>
                  </a:lnTo>
                  <a:lnTo>
                    <a:pt x="397" y="0"/>
                  </a:lnTo>
                  <a:lnTo>
                    <a:pt x="64" y="4"/>
                  </a:lnTo>
                  <a:lnTo>
                    <a:pt x="0" y="53"/>
                  </a:lnTo>
                  <a:close/>
                </a:path>
              </a:pathLst>
            </a:custGeom>
            <a:gradFill rotWithShape="0">
              <a:gsLst>
                <a:gs pos="0">
                  <a:srgbClr val="008000"/>
                </a:gs>
                <a:gs pos="50000">
                  <a:srgbClr val="B8DCB8"/>
                </a:gs>
                <a:gs pos="100000">
                  <a:srgbClr val="008000"/>
                </a:gs>
              </a:gsLst>
              <a:lin ang="0" scaled="1"/>
            </a:gradFill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8" name="Line 53"/>
            <p:cNvSpPr>
              <a:spLocks noChangeShapeType="1"/>
            </p:cNvSpPr>
            <p:nvPr/>
          </p:nvSpPr>
          <p:spPr bwMode="auto">
            <a:xfrm>
              <a:off x="4239" y="1774"/>
              <a:ext cx="0" cy="20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1126" name="Group 54"/>
          <p:cNvGrpSpPr/>
          <p:nvPr/>
        </p:nvGrpSpPr>
        <p:grpSpPr bwMode="auto">
          <a:xfrm>
            <a:off x="3484563" y="4689475"/>
            <a:ext cx="2911475" cy="1023938"/>
            <a:chOff x="2195" y="3123"/>
            <a:chExt cx="1834" cy="645"/>
          </a:xfrm>
        </p:grpSpPr>
        <p:sp>
          <p:nvSpPr>
            <p:cNvPr id="13353" name="Text Box 55"/>
            <p:cNvSpPr txBox="1">
              <a:spLocks noChangeArrowheads="1"/>
            </p:cNvSpPr>
            <p:nvPr/>
          </p:nvSpPr>
          <p:spPr bwMode="auto">
            <a:xfrm>
              <a:off x="2195" y="3441"/>
              <a:ext cx="12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rgbClr val="333399"/>
                  </a:solidFill>
                </a:rPr>
                <a:t>两面不配合</a:t>
              </a:r>
              <a:endParaRPr lang="zh-CN" altLang="en-US" sz="2800" b="0">
                <a:solidFill>
                  <a:srgbClr val="333399"/>
                </a:solidFill>
              </a:endParaRPr>
            </a:p>
          </p:txBody>
        </p:sp>
        <p:sp>
          <p:nvSpPr>
            <p:cNvPr id="13354" name="Freeform 56"/>
            <p:cNvSpPr/>
            <p:nvPr/>
          </p:nvSpPr>
          <p:spPr bwMode="auto">
            <a:xfrm>
              <a:off x="3411" y="3123"/>
              <a:ext cx="547" cy="630"/>
            </a:xfrm>
            <a:custGeom>
              <a:avLst/>
              <a:gdLst>
                <a:gd name="T0" fmla="*/ 547 w 547"/>
                <a:gd name="T1" fmla="*/ 0 h 630"/>
                <a:gd name="T2" fmla="*/ 0 w 547"/>
                <a:gd name="T3" fmla="*/ 630 h 6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7" h="630">
                  <a:moveTo>
                    <a:pt x="547" y="0"/>
                  </a:moveTo>
                  <a:lnTo>
                    <a:pt x="0" y="630"/>
                  </a:lnTo>
                </a:path>
              </a:pathLst>
            </a:custGeom>
            <a:noFill/>
            <a:ln w="19050" cmpd="sng">
              <a:solidFill>
                <a:srgbClr val="333399"/>
              </a:solidFill>
              <a:round/>
              <a:head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5" name="Line 57"/>
            <p:cNvSpPr>
              <a:spLocks noChangeShapeType="1"/>
            </p:cNvSpPr>
            <p:nvPr/>
          </p:nvSpPr>
          <p:spPr bwMode="auto">
            <a:xfrm>
              <a:off x="2247" y="3755"/>
              <a:ext cx="1174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6" name="Freeform 58"/>
            <p:cNvSpPr/>
            <p:nvPr/>
          </p:nvSpPr>
          <p:spPr bwMode="auto">
            <a:xfrm>
              <a:off x="3607" y="3295"/>
              <a:ext cx="422" cy="233"/>
            </a:xfrm>
            <a:custGeom>
              <a:avLst/>
              <a:gdLst>
                <a:gd name="T0" fmla="*/ 422 w 422"/>
                <a:gd name="T1" fmla="*/ 0 h 233"/>
                <a:gd name="T2" fmla="*/ 0 w 422"/>
                <a:gd name="T3" fmla="*/ 233 h 2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2" h="233">
                  <a:moveTo>
                    <a:pt x="422" y="0"/>
                  </a:moveTo>
                  <a:lnTo>
                    <a:pt x="0" y="233"/>
                  </a:lnTo>
                </a:path>
              </a:pathLst>
            </a:custGeom>
            <a:noFill/>
            <a:ln w="19050" cmpd="sng">
              <a:solidFill>
                <a:srgbClr val="333399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1131" name="Group 59"/>
          <p:cNvGrpSpPr/>
          <p:nvPr/>
        </p:nvGrpSpPr>
        <p:grpSpPr bwMode="auto">
          <a:xfrm>
            <a:off x="803275" y="2868613"/>
            <a:ext cx="2620963" cy="2568575"/>
            <a:chOff x="506" y="1807"/>
            <a:chExt cx="1651" cy="1618"/>
          </a:xfrm>
        </p:grpSpPr>
        <p:sp>
          <p:nvSpPr>
            <p:cNvPr id="13328" name="Line 60"/>
            <p:cNvSpPr>
              <a:spLocks noChangeShapeType="1"/>
            </p:cNvSpPr>
            <p:nvPr/>
          </p:nvSpPr>
          <p:spPr bwMode="auto">
            <a:xfrm>
              <a:off x="1660" y="1971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9" name="Freeform 61"/>
            <p:cNvSpPr/>
            <p:nvPr/>
          </p:nvSpPr>
          <p:spPr bwMode="auto">
            <a:xfrm>
              <a:off x="645" y="2162"/>
              <a:ext cx="93" cy="960"/>
            </a:xfrm>
            <a:custGeom>
              <a:avLst/>
              <a:gdLst>
                <a:gd name="T0" fmla="*/ 93 w 93"/>
                <a:gd name="T1" fmla="*/ 960 h 960"/>
                <a:gd name="T2" fmla="*/ 0 w 93"/>
                <a:gd name="T3" fmla="*/ 872 h 960"/>
                <a:gd name="T4" fmla="*/ 0 w 93"/>
                <a:gd name="T5" fmla="*/ 92 h 960"/>
                <a:gd name="T6" fmla="*/ 93 w 93"/>
                <a:gd name="T7" fmla="*/ 0 h 960"/>
                <a:gd name="T8" fmla="*/ 93 w 93"/>
                <a:gd name="T9" fmla="*/ 960 h 9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960">
                  <a:moveTo>
                    <a:pt x="93" y="960"/>
                  </a:moveTo>
                  <a:lnTo>
                    <a:pt x="0" y="872"/>
                  </a:lnTo>
                  <a:lnTo>
                    <a:pt x="0" y="92"/>
                  </a:lnTo>
                  <a:lnTo>
                    <a:pt x="93" y="0"/>
                  </a:lnTo>
                  <a:lnTo>
                    <a:pt x="93" y="960"/>
                  </a:lnTo>
                  <a:close/>
                </a:path>
              </a:pathLst>
            </a:custGeom>
            <a:gradFill rotWithShape="0">
              <a:gsLst>
                <a:gs pos="0">
                  <a:srgbClr val="CC9900"/>
                </a:gs>
                <a:gs pos="50000">
                  <a:srgbClr val="E9D391"/>
                </a:gs>
                <a:gs pos="100000">
                  <a:srgbClr val="CC9900"/>
                </a:gs>
              </a:gsLst>
              <a:lin ang="5400000" scaled="1"/>
            </a:gradFill>
            <a:ln w="38100" cmpd="sng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0" name="Freeform 62"/>
            <p:cNvSpPr/>
            <p:nvPr/>
          </p:nvSpPr>
          <p:spPr bwMode="auto">
            <a:xfrm>
              <a:off x="746" y="1980"/>
              <a:ext cx="1306" cy="1324"/>
            </a:xfrm>
            <a:custGeom>
              <a:avLst/>
              <a:gdLst>
                <a:gd name="T0" fmla="*/ 1248 w 1306"/>
                <a:gd name="T1" fmla="*/ 0 h 1324"/>
                <a:gd name="T2" fmla="*/ 1270 w 1306"/>
                <a:gd name="T3" fmla="*/ 72 h 1324"/>
                <a:gd name="T4" fmla="*/ 1258 w 1306"/>
                <a:gd name="T5" fmla="*/ 144 h 1324"/>
                <a:gd name="T6" fmla="*/ 1282 w 1306"/>
                <a:gd name="T7" fmla="*/ 228 h 1324"/>
                <a:gd name="T8" fmla="*/ 1306 w 1306"/>
                <a:gd name="T9" fmla="*/ 312 h 1324"/>
                <a:gd name="T10" fmla="*/ 1306 w 1306"/>
                <a:gd name="T11" fmla="*/ 372 h 1324"/>
                <a:gd name="T12" fmla="*/ 1282 w 1306"/>
                <a:gd name="T13" fmla="*/ 504 h 1324"/>
                <a:gd name="T14" fmla="*/ 1282 w 1306"/>
                <a:gd name="T15" fmla="*/ 516 h 1324"/>
                <a:gd name="T16" fmla="*/ 1267 w 1306"/>
                <a:gd name="T17" fmla="*/ 604 h 1324"/>
                <a:gd name="T18" fmla="*/ 1258 w 1306"/>
                <a:gd name="T19" fmla="*/ 692 h 1324"/>
                <a:gd name="T20" fmla="*/ 1278 w 1306"/>
                <a:gd name="T21" fmla="*/ 756 h 1324"/>
                <a:gd name="T22" fmla="*/ 1290 w 1306"/>
                <a:gd name="T23" fmla="*/ 828 h 1324"/>
                <a:gd name="T24" fmla="*/ 1274 w 1306"/>
                <a:gd name="T25" fmla="*/ 864 h 1324"/>
                <a:gd name="T26" fmla="*/ 1258 w 1306"/>
                <a:gd name="T27" fmla="*/ 960 h 1324"/>
                <a:gd name="T28" fmla="*/ 1250 w 1306"/>
                <a:gd name="T29" fmla="*/ 1028 h 1324"/>
                <a:gd name="T30" fmla="*/ 1286 w 1306"/>
                <a:gd name="T31" fmla="*/ 1136 h 1324"/>
                <a:gd name="T32" fmla="*/ 1306 w 1306"/>
                <a:gd name="T33" fmla="*/ 1224 h 1324"/>
                <a:gd name="T34" fmla="*/ 1290 w 1306"/>
                <a:gd name="T35" fmla="*/ 1324 h 1324"/>
                <a:gd name="T36" fmla="*/ 912 w 1306"/>
                <a:gd name="T37" fmla="*/ 1324 h 1324"/>
                <a:gd name="T38" fmla="*/ 912 w 1306"/>
                <a:gd name="T39" fmla="*/ 1142 h 1324"/>
                <a:gd name="T40" fmla="*/ 0 w 1306"/>
                <a:gd name="T41" fmla="*/ 1137 h 1324"/>
                <a:gd name="T42" fmla="*/ 0 w 1306"/>
                <a:gd name="T43" fmla="*/ 177 h 1324"/>
                <a:gd name="T44" fmla="*/ 912 w 1306"/>
                <a:gd name="T45" fmla="*/ 182 h 1324"/>
                <a:gd name="T46" fmla="*/ 912 w 1306"/>
                <a:gd name="T47" fmla="*/ 0 h 1324"/>
                <a:gd name="T48" fmla="*/ 1248 w 1306"/>
                <a:gd name="T49" fmla="*/ 0 h 132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06" h="1324">
                  <a:moveTo>
                    <a:pt x="1248" y="0"/>
                  </a:moveTo>
                  <a:lnTo>
                    <a:pt x="1270" y="72"/>
                  </a:lnTo>
                  <a:lnTo>
                    <a:pt x="1258" y="144"/>
                  </a:lnTo>
                  <a:lnTo>
                    <a:pt x="1282" y="228"/>
                  </a:lnTo>
                  <a:lnTo>
                    <a:pt x="1306" y="312"/>
                  </a:lnTo>
                  <a:lnTo>
                    <a:pt x="1306" y="372"/>
                  </a:lnTo>
                  <a:lnTo>
                    <a:pt x="1282" y="504"/>
                  </a:lnTo>
                  <a:lnTo>
                    <a:pt x="1282" y="516"/>
                  </a:lnTo>
                  <a:cubicBezTo>
                    <a:pt x="1249" y="570"/>
                    <a:pt x="1284" y="568"/>
                    <a:pt x="1267" y="604"/>
                  </a:cubicBezTo>
                  <a:lnTo>
                    <a:pt x="1258" y="692"/>
                  </a:lnTo>
                  <a:lnTo>
                    <a:pt x="1278" y="756"/>
                  </a:lnTo>
                  <a:lnTo>
                    <a:pt x="1290" y="828"/>
                  </a:lnTo>
                  <a:lnTo>
                    <a:pt x="1274" y="864"/>
                  </a:lnTo>
                  <a:lnTo>
                    <a:pt x="1258" y="960"/>
                  </a:lnTo>
                  <a:lnTo>
                    <a:pt x="1250" y="1028"/>
                  </a:lnTo>
                  <a:lnTo>
                    <a:pt x="1286" y="1136"/>
                  </a:lnTo>
                  <a:lnTo>
                    <a:pt x="1306" y="1224"/>
                  </a:lnTo>
                  <a:lnTo>
                    <a:pt x="1290" y="1324"/>
                  </a:lnTo>
                  <a:lnTo>
                    <a:pt x="912" y="1324"/>
                  </a:lnTo>
                  <a:lnTo>
                    <a:pt x="912" y="1142"/>
                  </a:lnTo>
                  <a:lnTo>
                    <a:pt x="0" y="1137"/>
                  </a:lnTo>
                  <a:lnTo>
                    <a:pt x="0" y="177"/>
                  </a:lnTo>
                  <a:lnTo>
                    <a:pt x="912" y="182"/>
                  </a:lnTo>
                  <a:lnTo>
                    <a:pt x="912" y="0"/>
                  </a:lnTo>
                  <a:lnTo>
                    <a:pt x="1248" y="0"/>
                  </a:lnTo>
                  <a:close/>
                </a:path>
              </a:pathLst>
            </a:custGeom>
            <a:gradFill rotWithShape="0">
              <a:gsLst>
                <a:gs pos="0">
                  <a:srgbClr val="CC9900"/>
                </a:gs>
                <a:gs pos="50000">
                  <a:srgbClr val="EDDBA5"/>
                </a:gs>
                <a:gs pos="100000">
                  <a:srgbClr val="CC9900"/>
                </a:gs>
              </a:gsLst>
              <a:lin ang="5400000" scaled="1"/>
            </a:gradFill>
            <a:ln w="12700" cmpd="sng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1" name="Line 63"/>
            <p:cNvSpPr>
              <a:spLocks noChangeShapeType="1"/>
            </p:cNvSpPr>
            <p:nvPr/>
          </p:nvSpPr>
          <p:spPr bwMode="auto">
            <a:xfrm>
              <a:off x="1658" y="1975"/>
              <a:ext cx="0" cy="13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2" name="Line 64"/>
            <p:cNvSpPr>
              <a:spLocks noChangeShapeType="1"/>
            </p:cNvSpPr>
            <p:nvPr/>
          </p:nvSpPr>
          <p:spPr bwMode="auto">
            <a:xfrm>
              <a:off x="726" y="3122"/>
              <a:ext cx="9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3" name="Line 65"/>
            <p:cNvSpPr>
              <a:spLocks noChangeShapeType="1"/>
            </p:cNvSpPr>
            <p:nvPr/>
          </p:nvSpPr>
          <p:spPr bwMode="auto">
            <a:xfrm>
              <a:off x="726" y="2162"/>
              <a:ext cx="9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138" name="Freeform 66"/>
            <p:cNvSpPr/>
            <p:nvPr/>
          </p:nvSpPr>
          <p:spPr bwMode="auto">
            <a:xfrm>
              <a:off x="736" y="3122"/>
              <a:ext cx="922" cy="298"/>
            </a:xfrm>
            <a:custGeom>
              <a:avLst/>
              <a:gdLst>
                <a:gd name="T0" fmla="*/ 0 w 922"/>
                <a:gd name="T1" fmla="*/ 298 h 298"/>
                <a:gd name="T2" fmla="*/ 0 w 922"/>
                <a:gd name="T3" fmla="*/ 221 h 298"/>
                <a:gd name="T4" fmla="*/ 0 w 922"/>
                <a:gd name="T5" fmla="*/ 0 h 298"/>
                <a:gd name="T6" fmla="*/ 922 w 922"/>
                <a:gd name="T7" fmla="*/ 0 h 298"/>
                <a:gd name="T8" fmla="*/ 922 w 922"/>
                <a:gd name="T9" fmla="*/ 28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2" h="298">
                  <a:moveTo>
                    <a:pt x="0" y="298"/>
                  </a:moveTo>
                  <a:cubicBezTo>
                    <a:pt x="0" y="272"/>
                    <a:pt x="0" y="247"/>
                    <a:pt x="0" y="221"/>
                  </a:cubicBezTo>
                  <a:lnTo>
                    <a:pt x="0" y="0"/>
                  </a:lnTo>
                  <a:lnTo>
                    <a:pt x="922" y="0"/>
                  </a:lnTo>
                  <a:lnTo>
                    <a:pt x="922" y="288"/>
                  </a:lnTo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tint val="63137"/>
                    <a:invGamma/>
                  </a:schemeClr>
                </a:gs>
              </a:gsLst>
              <a:lin ang="5400000" scaled="1"/>
            </a:gradFill>
            <a:ln w="38100" cmpd="sng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1139" name="Freeform 67"/>
            <p:cNvSpPr/>
            <p:nvPr/>
          </p:nvSpPr>
          <p:spPr bwMode="auto">
            <a:xfrm>
              <a:off x="736" y="1807"/>
              <a:ext cx="922" cy="355"/>
            </a:xfrm>
            <a:custGeom>
              <a:avLst/>
              <a:gdLst>
                <a:gd name="T0" fmla="*/ 0 w 922"/>
                <a:gd name="T1" fmla="*/ 9 h 355"/>
                <a:gd name="T2" fmla="*/ 0 w 922"/>
                <a:gd name="T3" fmla="*/ 355 h 355"/>
                <a:gd name="T4" fmla="*/ 922 w 922"/>
                <a:gd name="T5" fmla="*/ 355 h 355"/>
                <a:gd name="T6" fmla="*/ 922 w 922"/>
                <a:gd name="T7" fmla="*/ 0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2" h="355">
                  <a:moveTo>
                    <a:pt x="0" y="9"/>
                  </a:moveTo>
                  <a:lnTo>
                    <a:pt x="0" y="355"/>
                  </a:lnTo>
                  <a:lnTo>
                    <a:pt x="922" y="355"/>
                  </a:lnTo>
                  <a:lnTo>
                    <a:pt x="922" y="0"/>
                  </a:lnTo>
                </a:path>
              </a:pathLst>
            </a:custGeom>
            <a:gradFill rotWithShape="0">
              <a:gsLst>
                <a:gs pos="0">
                  <a:schemeClr val="accent1">
                    <a:gamma/>
                    <a:tint val="50588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38100" cmpd="sng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336" name="Line 68"/>
            <p:cNvSpPr>
              <a:spLocks noChangeShapeType="1"/>
            </p:cNvSpPr>
            <p:nvPr/>
          </p:nvSpPr>
          <p:spPr bwMode="auto">
            <a:xfrm>
              <a:off x="736" y="1826"/>
              <a:ext cx="0" cy="15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7" name="Line 69"/>
            <p:cNvSpPr>
              <a:spLocks noChangeShapeType="1"/>
            </p:cNvSpPr>
            <p:nvPr/>
          </p:nvSpPr>
          <p:spPr bwMode="auto">
            <a:xfrm>
              <a:off x="1660" y="1838"/>
              <a:ext cx="0" cy="15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8" name="Line 70"/>
            <p:cNvSpPr>
              <a:spLocks noChangeShapeType="1"/>
            </p:cNvSpPr>
            <p:nvPr/>
          </p:nvSpPr>
          <p:spPr bwMode="auto">
            <a:xfrm>
              <a:off x="748" y="2162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9" name="Line 71"/>
            <p:cNvSpPr>
              <a:spLocks noChangeShapeType="1"/>
            </p:cNvSpPr>
            <p:nvPr/>
          </p:nvSpPr>
          <p:spPr bwMode="auto">
            <a:xfrm>
              <a:off x="736" y="3122"/>
              <a:ext cx="9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40" name="Group 72"/>
            <p:cNvGrpSpPr/>
            <p:nvPr/>
          </p:nvGrpSpPr>
          <p:grpSpPr bwMode="auto">
            <a:xfrm>
              <a:off x="736" y="1826"/>
              <a:ext cx="924" cy="1599"/>
              <a:chOff x="736" y="1826"/>
              <a:chExt cx="924" cy="1599"/>
            </a:xfrm>
          </p:grpSpPr>
          <p:sp>
            <p:nvSpPr>
              <p:cNvPr id="13343" name="Line 73"/>
              <p:cNvSpPr>
                <a:spLocks noChangeShapeType="1"/>
              </p:cNvSpPr>
              <p:nvPr/>
            </p:nvSpPr>
            <p:spPr bwMode="auto">
              <a:xfrm>
                <a:off x="736" y="2006"/>
                <a:ext cx="156" cy="1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4" name="Line 74"/>
              <p:cNvSpPr>
                <a:spLocks noChangeShapeType="1"/>
              </p:cNvSpPr>
              <p:nvPr/>
            </p:nvSpPr>
            <p:spPr bwMode="auto">
              <a:xfrm>
                <a:off x="796" y="1838"/>
                <a:ext cx="324" cy="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5" name="Freeform 75"/>
              <p:cNvSpPr/>
              <p:nvPr/>
            </p:nvSpPr>
            <p:spPr bwMode="auto">
              <a:xfrm>
                <a:off x="1024" y="1826"/>
                <a:ext cx="347" cy="342"/>
              </a:xfrm>
              <a:custGeom>
                <a:avLst/>
                <a:gdLst>
                  <a:gd name="T0" fmla="*/ 0 w 347"/>
                  <a:gd name="T1" fmla="*/ 0 h 333"/>
                  <a:gd name="T2" fmla="*/ 347 w 347"/>
                  <a:gd name="T3" fmla="*/ 351 h 33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47" h="333">
                    <a:moveTo>
                      <a:pt x="0" y="0"/>
                    </a:moveTo>
                    <a:lnTo>
                      <a:pt x="347" y="33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6" name="Line 76"/>
              <p:cNvSpPr>
                <a:spLocks noChangeShapeType="1"/>
              </p:cNvSpPr>
              <p:nvPr/>
            </p:nvSpPr>
            <p:spPr bwMode="auto">
              <a:xfrm>
                <a:off x="1276" y="1838"/>
                <a:ext cx="324" cy="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7" name="Line 77"/>
              <p:cNvSpPr>
                <a:spLocks noChangeShapeType="1"/>
              </p:cNvSpPr>
              <p:nvPr/>
            </p:nvSpPr>
            <p:spPr bwMode="auto">
              <a:xfrm>
                <a:off x="1504" y="1826"/>
                <a:ext cx="156" cy="1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8" name="Line 78"/>
              <p:cNvSpPr>
                <a:spLocks noChangeShapeType="1"/>
              </p:cNvSpPr>
              <p:nvPr/>
            </p:nvSpPr>
            <p:spPr bwMode="auto">
              <a:xfrm>
                <a:off x="1537" y="3122"/>
                <a:ext cx="123" cy="1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9" name="Line 79"/>
              <p:cNvSpPr>
                <a:spLocks noChangeShapeType="1"/>
              </p:cNvSpPr>
              <p:nvPr/>
            </p:nvSpPr>
            <p:spPr bwMode="auto">
              <a:xfrm>
                <a:off x="1312" y="3134"/>
                <a:ext cx="283" cy="2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50" name="Line 80"/>
              <p:cNvSpPr>
                <a:spLocks noChangeShapeType="1"/>
              </p:cNvSpPr>
              <p:nvPr/>
            </p:nvSpPr>
            <p:spPr bwMode="auto">
              <a:xfrm>
                <a:off x="1084" y="3134"/>
                <a:ext cx="276" cy="2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51" name="Line 81"/>
              <p:cNvSpPr>
                <a:spLocks noChangeShapeType="1"/>
              </p:cNvSpPr>
              <p:nvPr/>
            </p:nvSpPr>
            <p:spPr bwMode="auto">
              <a:xfrm>
                <a:off x="844" y="3134"/>
                <a:ext cx="288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52" name="Line 82"/>
              <p:cNvSpPr>
                <a:spLocks noChangeShapeType="1"/>
              </p:cNvSpPr>
              <p:nvPr/>
            </p:nvSpPr>
            <p:spPr bwMode="auto">
              <a:xfrm>
                <a:off x="736" y="3266"/>
                <a:ext cx="144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341" name="Line 83"/>
            <p:cNvSpPr>
              <a:spLocks noChangeShapeType="1"/>
            </p:cNvSpPr>
            <p:nvPr/>
          </p:nvSpPr>
          <p:spPr bwMode="auto">
            <a:xfrm>
              <a:off x="506" y="2642"/>
              <a:ext cx="16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2" name="Line 84"/>
            <p:cNvSpPr>
              <a:spLocks noChangeShapeType="1"/>
            </p:cNvSpPr>
            <p:nvPr/>
          </p:nvSpPr>
          <p:spPr bwMode="auto">
            <a:xfrm>
              <a:off x="1660" y="3308"/>
              <a:ext cx="3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1157" name="Group 85"/>
          <p:cNvGrpSpPr/>
          <p:nvPr/>
        </p:nvGrpSpPr>
        <p:grpSpPr bwMode="auto">
          <a:xfrm>
            <a:off x="1695450" y="4962525"/>
            <a:ext cx="1738313" cy="1111250"/>
            <a:chOff x="1068" y="3126"/>
            <a:chExt cx="1095" cy="700"/>
          </a:xfrm>
        </p:grpSpPr>
        <p:sp>
          <p:nvSpPr>
            <p:cNvPr id="13325" name="Text Box 86"/>
            <p:cNvSpPr txBox="1">
              <a:spLocks noChangeArrowheads="1"/>
            </p:cNvSpPr>
            <p:nvPr/>
          </p:nvSpPr>
          <p:spPr bwMode="auto">
            <a:xfrm>
              <a:off x="1155" y="3499"/>
              <a:ext cx="10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rgbClr val="333399"/>
                  </a:solidFill>
                </a:rPr>
                <a:t>两面配合</a:t>
              </a:r>
              <a:endParaRPr lang="zh-CN" altLang="en-US" sz="2800" b="0"/>
            </a:p>
          </p:txBody>
        </p:sp>
        <p:sp>
          <p:nvSpPr>
            <p:cNvPr id="13326" name="Line 87"/>
            <p:cNvSpPr>
              <a:spLocks noChangeShapeType="1"/>
            </p:cNvSpPr>
            <p:nvPr/>
          </p:nvSpPr>
          <p:spPr bwMode="auto">
            <a:xfrm flipV="1">
              <a:off x="1077" y="3808"/>
              <a:ext cx="1015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7" name="Line 88"/>
            <p:cNvSpPr>
              <a:spLocks noChangeShapeType="1"/>
            </p:cNvSpPr>
            <p:nvPr/>
          </p:nvSpPr>
          <p:spPr bwMode="auto">
            <a:xfrm flipH="1">
              <a:off x="1068" y="3126"/>
              <a:ext cx="394" cy="682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1161" name="Group 89"/>
          <p:cNvGrpSpPr/>
          <p:nvPr/>
        </p:nvGrpSpPr>
        <p:grpSpPr bwMode="auto">
          <a:xfrm>
            <a:off x="2601913" y="3297238"/>
            <a:ext cx="2581275" cy="627062"/>
            <a:chOff x="1663" y="2258"/>
            <a:chExt cx="1626" cy="395"/>
          </a:xfrm>
        </p:grpSpPr>
        <p:sp>
          <p:nvSpPr>
            <p:cNvPr id="13322" name="Text Box 90"/>
            <p:cNvSpPr txBox="1">
              <a:spLocks noChangeArrowheads="1"/>
            </p:cNvSpPr>
            <p:nvPr/>
          </p:nvSpPr>
          <p:spPr bwMode="auto">
            <a:xfrm>
              <a:off x="2277" y="2326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rgbClr val="333399"/>
                  </a:solidFill>
                </a:rPr>
                <a:t>两面接触</a:t>
              </a:r>
              <a:endParaRPr lang="zh-CN" altLang="en-US" sz="2800" b="0">
                <a:solidFill>
                  <a:srgbClr val="333399"/>
                </a:solidFill>
              </a:endParaRPr>
            </a:p>
          </p:txBody>
        </p:sp>
        <p:sp>
          <p:nvSpPr>
            <p:cNvPr id="13323" name="Line 91"/>
            <p:cNvSpPr>
              <a:spLocks noChangeShapeType="1"/>
            </p:cNvSpPr>
            <p:nvPr/>
          </p:nvSpPr>
          <p:spPr bwMode="auto">
            <a:xfrm>
              <a:off x="2307" y="2631"/>
              <a:ext cx="955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4" name="Line 92"/>
            <p:cNvSpPr>
              <a:spLocks noChangeShapeType="1"/>
            </p:cNvSpPr>
            <p:nvPr/>
          </p:nvSpPr>
          <p:spPr bwMode="auto">
            <a:xfrm>
              <a:off x="1663" y="2258"/>
              <a:ext cx="650" cy="37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3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1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1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3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7" grpId="0" autoUpdateAnimBg="0"/>
      <p:bldP spid="13107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09538" y="407988"/>
            <a:ext cx="9136062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</a:rPr>
              <a:t>）两个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zh-CN" altLang="en-US">
                <a:latin typeface="宋体" panose="02010600030101010101" pitchFamily="2" charset="-122"/>
              </a:rPr>
              <a:t>或两个以上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r>
              <a:rPr lang="zh-CN" altLang="en-US">
                <a:latin typeface="宋体" panose="02010600030101010101" pitchFamily="2" charset="-122"/>
              </a:rPr>
              <a:t>零件邻接时，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剖面线的倾 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   斜方向应相反或间隔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不同</a:t>
            </a:r>
            <a:r>
              <a:rPr lang="zh-CN" altLang="en-US">
                <a:latin typeface="宋体" panose="02010600030101010101" pitchFamily="2" charset="-122"/>
              </a:rPr>
              <a:t>。但同一零件在各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视图上的剖面线方向和间隔必须一致。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109538" y="1965325"/>
            <a:ext cx="8718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</a:rPr>
              <a:t>）标准件和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实心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件</a:t>
            </a:r>
            <a:r>
              <a:rPr lang="zh-CN" altLang="en-US">
                <a:latin typeface="宋体" panose="02010600030101010101" pitchFamily="2" charset="-122"/>
              </a:rPr>
              <a:t>按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不剖</a:t>
            </a:r>
            <a:r>
              <a:rPr lang="zh-CN" altLang="en-US">
                <a:latin typeface="宋体" panose="02010600030101010101" pitchFamily="2" charset="-122"/>
              </a:rPr>
              <a:t>画（沿轴线剖切）。</a:t>
            </a:r>
            <a:endParaRPr lang="zh-CN" altLang="en-US">
              <a:latin typeface="宋体" panose="02010600030101010101" pitchFamily="2" charset="-122"/>
            </a:endParaRPr>
          </a:p>
        </p:txBody>
      </p:sp>
      <p:grpSp>
        <p:nvGrpSpPr>
          <p:cNvPr id="14340" name="Group 191"/>
          <p:cNvGrpSpPr/>
          <p:nvPr/>
        </p:nvGrpSpPr>
        <p:grpSpPr bwMode="auto">
          <a:xfrm>
            <a:off x="5659438" y="3044825"/>
            <a:ext cx="2667000" cy="3189288"/>
            <a:chOff x="3565" y="1918"/>
            <a:chExt cx="1680" cy="2009"/>
          </a:xfrm>
        </p:grpSpPr>
        <p:sp>
          <p:nvSpPr>
            <p:cNvPr id="14383" name="Freeform 134"/>
            <p:cNvSpPr/>
            <p:nvPr/>
          </p:nvSpPr>
          <p:spPr bwMode="auto">
            <a:xfrm>
              <a:off x="4164" y="2034"/>
              <a:ext cx="468" cy="59"/>
            </a:xfrm>
            <a:custGeom>
              <a:avLst/>
              <a:gdLst>
                <a:gd name="T0" fmla="*/ 0 w 468"/>
                <a:gd name="T1" fmla="*/ 53 h 59"/>
                <a:gd name="T2" fmla="*/ 468 w 468"/>
                <a:gd name="T3" fmla="*/ 59 h 59"/>
                <a:gd name="T4" fmla="*/ 397 w 468"/>
                <a:gd name="T5" fmla="*/ 0 h 59"/>
                <a:gd name="T6" fmla="*/ 64 w 468"/>
                <a:gd name="T7" fmla="*/ 4 h 59"/>
                <a:gd name="T8" fmla="*/ 0 w 468"/>
                <a:gd name="T9" fmla="*/ 5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8" h="59">
                  <a:moveTo>
                    <a:pt x="0" y="53"/>
                  </a:moveTo>
                  <a:lnTo>
                    <a:pt x="468" y="59"/>
                  </a:lnTo>
                  <a:lnTo>
                    <a:pt x="397" y="0"/>
                  </a:lnTo>
                  <a:lnTo>
                    <a:pt x="64" y="4"/>
                  </a:lnTo>
                  <a:lnTo>
                    <a:pt x="0" y="53"/>
                  </a:lnTo>
                  <a:close/>
                </a:path>
              </a:pathLst>
            </a:custGeom>
            <a:gradFill rotWithShape="0">
              <a:gsLst>
                <a:gs pos="0">
                  <a:srgbClr val="008000"/>
                </a:gs>
                <a:gs pos="50000">
                  <a:srgbClr val="B8DCB8"/>
                </a:gs>
                <a:gs pos="100000">
                  <a:srgbClr val="008000"/>
                </a:gs>
              </a:gsLst>
              <a:lin ang="0" scaled="1"/>
            </a:gradFill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4" name="Line 90"/>
            <p:cNvSpPr>
              <a:spLocks noChangeShapeType="1"/>
            </p:cNvSpPr>
            <p:nvPr/>
          </p:nvSpPr>
          <p:spPr bwMode="auto">
            <a:xfrm>
              <a:off x="3602" y="2664"/>
              <a:ext cx="16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5" name="Line 91"/>
            <p:cNvSpPr>
              <a:spLocks noChangeShapeType="1"/>
            </p:cNvSpPr>
            <p:nvPr/>
          </p:nvSpPr>
          <p:spPr bwMode="auto">
            <a:xfrm>
              <a:off x="3565" y="3066"/>
              <a:ext cx="165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6" name="Rectangle 92"/>
            <p:cNvSpPr>
              <a:spLocks noChangeArrowheads="1"/>
            </p:cNvSpPr>
            <p:nvPr/>
          </p:nvSpPr>
          <p:spPr bwMode="auto">
            <a:xfrm>
              <a:off x="4156" y="2092"/>
              <a:ext cx="481" cy="1358"/>
            </a:xfrm>
            <a:prstGeom prst="rect">
              <a:avLst/>
            </a:prstGeom>
            <a:gradFill rotWithShape="0">
              <a:gsLst>
                <a:gs pos="0">
                  <a:srgbClr val="008000"/>
                </a:gs>
                <a:gs pos="50000">
                  <a:srgbClr val="B8DCB8"/>
                </a:gs>
                <a:gs pos="100000">
                  <a:srgbClr val="008000"/>
                </a:gs>
              </a:gsLst>
              <a:lin ang="0" scaled="1"/>
            </a:gradFill>
            <a:ln w="3810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14387" name="Line 93"/>
            <p:cNvSpPr>
              <a:spLocks noChangeShapeType="1"/>
            </p:cNvSpPr>
            <p:nvPr/>
          </p:nvSpPr>
          <p:spPr bwMode="auto">
            <a:xfrm>
              <a:off x="3592" y="3447"/>
              <a:ext cx="164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8" name="Line 94"/>
            <p:cNvSpPr>
              <a:spLocks noChangeShapeType="1"/>
            </p:cNvSpPr>
            <p:nvPr/>
          </p:nvSpPr>
          <p:spPr bwMode="auto">
            <a:xfrm>
              <a:off x="4109" y="2674"/>
              <a:ext cx="0" cy="7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9" name="Line 95"/>
            <p:cNvSpPr>
              <a:spLocks noChangeShapeType="1"/>
            </p:cNvSpPr>
            <p:nvPr/>
          </p:nvSpPr>
          <p:spPr bwMode="auto">
            <a:xfrm>
              <a:off x="4685" y="2674"/>
              <a:ext cx="0" cy="77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0" name="Line 96"/>
            <p:cNvSpPr>
              <a:spLocks noChangeShapeType="1"/>
            </p:cNvSpPr>
            <p:nvPr/>
          </p:nvSpPr>
          <p:spPr bwMode="auto">
            <a:xfrm>
              <a:off x="4154" y="2938"/>
              <a:ext cx="49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1" name="Line 97"/>
            <p:cNvSpPr>
              <a:spLocks noChangeShapeType="1"/>
            </p:cNvSpPr>
            <p:nvPr/>
          </p:nvSpPr>
          <p:spPr bwMode="auto">
            <a:xfrm>
              <a:off x="4594" y="2056"/>
              <a:ext cx="0" cy="89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2" name="Line 98"/>
            <p:cNvSpPr>
              <a:spLocks noChangeShapeType="1"/>
            </p:cNvSpPr>
            <p:nvPr/>
          </p:nvSpPr>
          <p:spPr bwMode="auto">
            <a:xfrm>
              <a:off x="4197" y="2056"/>
              <a:ext cx="0" cy="8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393" name="Group 99"/>
            <p:cNvGrpSpPr/>
            <p:nvPr/>
          </p:nvGrpSpPr>
          <p:grpSpPr bwMode="auto">
            <a:xfrm>
              <a:off x="4682" y="2662"/>
              <a:ext cx="563" cy="403"/>
              <a:chOff x="4538" y="2518"/>
              <a:chExt cx="563" cy="403"/>
            </a:xfrm>
          </p:grpSpPr>
          <p:sp>
            <p:nvSpPr>
              <p:cNvPr id="14423" name="Line 100"/>
              <p:cNvSpPr>
                <a:spLocks noChangeShapeType="1"/>
              </p:cNvSpPr>
              <p:nvPr/>
            </p:nvSpPr>
            <p:spPr bwMode="auto">
              <a:xfrm flipV="1">
                <a:off x="4538" y="2531"/>
                <a:ext cx="118" cy="1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24" name="Line 101"/>
              <p:cNvSpPr>
                <a:spLocks noChangeShapeType="1"/>
              </p:cNvSpPr>
              <p:nvPr/>
            </p:nvSpPr>
            <p:spPr bwMode="auto">
              <a:xfrm flipV="1">
                <a:off x="4547" y="2527"/>
                <a:ext cx="382" cy="39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25" name="Line 102"/>
              <p:cNvSpPr>
                <a:spLocks noChangeShapeType="1"/>
              </p:cNvSpPr>
              <p:nvPr/>
            </p:nvSpPr>
            <p:spPr bwMode="auto">
              <a:xfrm flipV="1">
                <a:off x="4547" y="2531"/>
                <a:ext cx="254" cy="25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26" name="Line 103"/>
              <p:cNvSpPr>
                <a:spLocks noChangeShapeType="1"/>
              </p:cNvSpPr>
              <p:nvPr/>
            </p:nvSpPr>
            <p:spPr bwMode="auto">
              <a:xfrm flipV="1">
                <a:off x="4683" y="2518"/>
                <a:ext cx="391" cy="40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27" name="Line 104"/>
              <p:cNvSpPr>
                <a:spLocks noChangeShapeType="1"/>
              </p:cNvSpPr>
              <p:nvPr/>
            </p:nvSpPr>
            <p:spPr bwMode="auto">
              <a:xfrm flipV="1">
                <a:off x="4820" y="2640"/>
                <a:ext cx="281" cy="28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28" name="Line 105"/>
              <p:cNvSpPr>
                <a:spLocks noChangeShapeType="1"/>
              </p:cNvSpPr>
              <p:nvPr/>
            </p:nvSpPr>
            <p:spPr bwMode="auto">
              <a:xfrm flipV="1">
                <a:off x="4956" y="2782"/>
                <a:ext cx="127" cy="13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394" name="Group 106"/>
            <p:cNvGrpSpPr/>
            <p:nvPr/>
          </p:nvGrpSpPr>
          <p:grpSpPr bwMode="auto">
            <a:xfrm>
              <a:off x="3582" y="2646"/>
              <a:ext cx="527" cy="419"/>
              <a:chOff x="3438" y="2502"/>
              <a:chExt cx="527" cy="419"/>
            </a:xfrm>
          </p:grpSpPr>
          <p:sp>
            <p:nvSpPr>
              <p:cNvPr id="14417" name="Line 107"/>
              <p:cNvSpPr>
                <a:spLocks noChangeShapeType="1"/>
              </p:cNvSpPr>
              <p:nvPr/>
            </p:nvSpPr>
            <p:spPr bwMode="auto">
              <a:xfrm flipV="1">
                <a:off x="3883" y="2840"/>
                <a:ext cx="72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18" name="Line 108"/>
              <p:cNvSpPr>
                <a:spLocks noChangeShapeType="1"/>
              </p:cNvSpPr>
              <p:nvPr/>
            </p:nvSpPr>
            <p:spPr bwMode="auto">
              <a:xfrm flipV="1">
                <a:off x="3610" y="2564"/>
                <a:ext cx="345" cy="35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19" name="Line 109"/>
              <p:cNvSpPr>
                <a:spLocks noChangeShapeType="1"/>
              </p:cNvSpPr>
              <p:nvPr/>
            </p:nvSpPr>
            <p:spPr bwMode="auto">
              <a:xfrm flipV="1">
                <a:off x="3756" y="2712"/>
                <a:ext cx="209" cy="20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20" name="Line 110"/>
              <p:cNvSpPr>
                <a:spLocks noChangeShapeType="1"/>
              </p:cNvSpPr>
              <p:nvPr/>
            </p:nvSpPr>
            <p:spPr bwMode="auto">
              <a:xfrm flipV="1">
                <a:off x="3465" y="2520"/>
                <a:ext cx="401" cy="40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21" name="Line 111"/>
              <p:cNvSpPr>
                <a:spLocks noChangeShapeType="1"/>
              </p:cNvSpPr>
              <p:nvPr/>
            </p:nvSpPr>
            <p:spPr bwMode="auto">
              <a:xfrm flipV="1">
                <a:off x="3438" y="2502"/>
                <a:ext cx="297" cy="30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22" name="Line 112"/>
              <p:cNvSpPr>
                <a:spLocks noChangeShapeType="1"/>
              </p:cNvSpPr>
              <p:nvPr/>
            </p:nvSpPr>
            <p:spPr bwMode="auto">
              <a:xfrm flipV="1">
                <a:off x="3447" y="2530"/>
                <a:ext cx="128" cy="1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395" name="Group 113"/>
            <p:cNvGrpSpPr/>
            <p:nvPr/>
          </p:nvGrpSpPr>
          <p:grpSpPr bwMode="auto">
            <a:xfrm>
              <a:off x="3572" y="3065"/>
              <a:ext cx="546" cy="382"/>
              <a:chOff x="3428" y="2921"/>
              <a:chExt cx="546" cy="382"/>
            </a:xfrm>
          </p:grpSpPr>
          <p:sp>
            <p:nvSpPr>
              <p:cNvPr id="14411" name="Line 114"/>
              <p:cNvSpPr>
                <a:spLocks noChangeShapeType="1"/>
              </p:cNvSpPr>
              <p:nvPr/>
            </p:nvSpPr>
            <p:spPr bwMode="auto">
              <a:xfrm>
                <a:off x="3883" y="2930"/>
                <a:ext cx="91" cy="9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12" name="Line 115"/>
              <p:cNvSpPr>
                <a:spLocks noChangeShapeType="1"/>
              </p:cNvSpPr>
              <p:nvPr/>
            </p:nvSpPr>
            <p:spPr bwMode="auto">
              <a:xfrm>
                <a:off x="3738" y="2921"/>
                <a:ext cx="218" cy="2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13" name="Line 116"/>
              <p:cNvSpPr>
                <a:spLocks noChangeShapeType="1"/>
              </p:cNvSpPr>
              <p:nvPr/>
            </p:nvSpPr>
            <p:spPr bwMode="auto">
              <a:xfrm>
                <a:off x="3601" y="2930"/>
                <a:ext cx="364" cy="3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14" name="Line 117"/>
              <p:cNvSpPr>
                <a:spLocks noChangeShapeType="1"/>
              </p:cNvSpPr>
              <p:nvPr/>
            </p:nvSpPr>
            <p:spPr bwMode="auto">
              <a:xfrm>
                <a:off x="3456" y="2930"/>
                <a:ext cx="373" cy="3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15" name="Line 118"/>
              <p:cNvSpPr>
                <a:spLocks noChangeShapeType="1"/>
              </p:cNvSpPr>
              <p:nvPr/>
            </p:nvSpPr>
            <p:spPr bwMode="auto">
              <a:xfrm>
                <a:off x="3429" y="3068"/>
                <a:ext cx="235" cy="23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16" name="Line 119"/>
              <p:cNvSpPr>
                <a:spLocks noChangeShapeType="1"/>
              </p:cNvSpPr>
              <p:nvPr/>
            </p:nvSpPr>
            <p:spPr bwMode="auto">
              <a:xfrm>
                <a:off x="3428" y="3230"/>
                <a:ext cx="73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396" name="Group 120"/>
            <p:cNvGrpSpPr/>
            <p:nvPr/>
          </p:nvGrpSpPr>
          <p:grpSpPr bwMode="auto">
            <a:xfrm>
              <a:off x="4679" y="3065"/>
              <a:ext cx="566" cy="382"/>
              <a:chOff x="4535" y="2921"/>
              <a:chExt cx="566" cy="382"/>
            </a:xfrm>
          </p:grpSpPr>
          <p:sp>
            <p:nvSpPr>
              <p:cNvPr id="14405" name="Line 121"/>
              <p:cNvSpPr>
                <a:spLocks noChangeShapeType="1"/>
              </p:cNvSpPr>
              <p:nvPr/>
            </p:nvSpPr>
            <p:spPr bwMode="auto">
              <a:xfrm>
                <a:off x="4547" y="3194"/>
                <a:ext cx="109" cy="10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06" name="Line 122"/>
              <p:cNvSpPr>
                <a:spLocks noChangeShapeType="1"/>
              </p:cNvSpPr>
              <p:nvPr/>
            </p:nvSpPr>
            <p:spPr bwMode="auto">
              <a:xfrm>
                <a:off x="4535" y="3043"/>
                <a:ext cx="248" cy="2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07" name="Line 123"/>
              <p:cNvSpPr>
                <a:spLocks noChangeShapeType="1"/>
              </p:cNvSpPr>
              <p:nvPr/>
            </p:nvSpPr>
            <p:spPr bwMode="auto">
              <a:xfrm>
                <a:off x="4547" y="2921"/>
                <a:ext cx="382" cy="38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08" name="Line 124"/>
              <p:cNvSpPr>
                <a:spLocks noChangeShapeType="1"/>
              </p:cNvSpPr>
              <p:nvPr/>
            </p:nvSpPr>
            <p:spPr bwMode="auto">
              <a:xfrm>
                <a:off x="4692" y="2921"/>
                <a:ext cx="385" cy="3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09" name="Line 125"/>
              <p:cNvSpPr>
                <a:spLocks noChangeShapeType="1"/>
              </p:cNvSpPr>
              <p:nvPr/>
            </p:nvSpPr>
            <p:spPr bwMode="auto">
              <a:xfrm>
                <a:off x="4829" y="2921"/>
                <a:ext cx="272" cy="2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10" name="Freeform 126"/>
              <p:cNvSpPr/>
              <p:nvPr/>
            </p:nvSpPr>
            <p:spPr bwMode="auto">
              <a:xfrm>
                <a:off x="4956" y="2927"/>
                <a:ext cx="108" cy="108"/>
              </a:xfrm>
              <a:custGeom>
                <a:avLst/>
                <a:gdLst>
                  <a:gd name="T0" fmla="*/ 0 w 96"/>
                  <a:gd name="T1" fmla="*/ 0 h 120"/>
                  <a:gd name="T2" fmla="*/ 122 w 96"/>
                  <a:gd name="T3" fmla="*/ 97 h 1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6" h="120">
                    <a:moveTo>
                      <a:pt x="0" y="0"/>
                    </a:moveTo>
                    <a:lnTo>
                      <a:pt x="96" y="12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97" name="Rectangle 127"/>
            <p:cNvSpPr>
              <a:spLocks noChangeArrowheads="1"/>
            </p:cNvSpPr>
            <p:nvPr/>
          </p:nvSpPr>
          <p:spPr bwMode="auto">
            <a:xfrm>
              <a:off x="3912" y="2210"/>
              <a:ext cx="965" cy="373"/>
            </a:xfrm>
            <a:prstGeom prst="rect">
              <a:avLst/>
            </a:prstGeom>
            <a:gradFill rotWithShape="0">
              <a:gsLst>
                <a:gs pos="0">
                  <a:srgbClr val="CC99FF"/>
                </a:gs>
                <a:gs pos="50000">
                  <a:srgbClr val="E1C3FF"/>
                </a:gs>
                <a:gs pos="100000">
                  <a:srgbClr val="CC99FF"/>
                </a:gs>
              </a:gsLst>
              <a:lin ang="0" scaled="1"/>
            </a:gradFill>
            <a:ln w="3810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14398" name="Rectangle 128"/>
            <p:cNvSpPr>
              <a:spLocks noChangeArrowheads="1"/>
            </p:cNvSpPr>
            <p:nvPr/>
          </p:nvSpPr>
          <p:spPr bwMode="auto">
            <a:xfrm>
              <a:off x="3855" y="2584"/>
              <a:ext cx="1090" cy="73"/>
            </a:xfrm>
            <a:prstGeom prst="rect">
              <a:avLst/>
            </a:prstGeom>
            <a:gradFill rotWithShape="0">
              <a:gsLst>
                <a:gs pos="0">
                  <a:srgbClr val="CC9900"/>
                </a:gs>
                <a:gs pos="50000">
                  <a:srgbClr val="E9D391"/>
                </a:gs>
                <a:gs pos="100000">
                  <a:srgbClr val="CC9900"/>
                </a:gs>
              </a:gsLst>
              <a:lin ang="5400000" scaled="1"/>
            </a:gradFill>
            <a:ln w="3810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14399" name="Line 129"/>
            <p:cNvSpPr>
              <a:spLocks noChangeShapeType="1"/>
            </p:cNvSpPr>
            <p:nvPr/>
          </p:nvSpPr>
          <p:spPr bwMode="auto">
            <a:xfrm>
              <a:off x="4154" y="2191"/>
              <a:ext cx="0" cy="4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0" name="Line 130"/>
            <p:cNvSpPr>
              <a:spLocks noChangeShapeType="1"/>
            </p:cNvSpPr>
            <p:nvPr/>
          </p:nvSpPr>
          <p:spPr bwMode="auto">
            <a:xfrm>
              <a:off x="4636" y="2211"/>
              <a:ext cx="0" cy="3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1" name="Rectangle 131"/>
            <p:cNvSpPr>
              <a:spLocks noChangeArrowheads="1"/>
            </p:cNvSpPr>
            <p:nvPr/>
          </p:nvSpPr>
          <p:spPr bwMode="auto">
            <a:xfrm>
              <a:off x="3909" y="3447"/>
              <a:ext cx="955" cy="336"/>
            </a:xfrm>
            <a:prstGeom prst="rect">
              <a:avLst/>
            </a:prstGeom>
            <a:gradFill rotWithShape="0">
              <a:gsLst>
                <a:gs pos="0">
                  <a:srgbClr val="008000"/>
                </a:gs>
                <a:gs pos="50000">
                  <a:srgbClr val="C5E2C5"/>
                </a:gs>
                <a:gs pos="100000">
                  <a:srgbClr val="008000"/>
                </a:gs>
              </a:gsLst>
              <a:lin ang="0" scaled="1"/>
            </a:gradFill>
            <a:ln w="3810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14402" name="Line 132"/>
            <p:cNvSpPr>
              <a:spLocks noChangeShapeType="1"/>
            </p:cNvSpPr>
            <p:nvPr/>
          </p:nvSpPr>
          <p:spPr bwMode="auto">
            <a:xfrm>
              <a:off x="4155" y="3447"/>
              <a:ext cx="0" cy="34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3" name="Line 133"/>
            <p:cNvSpPr>
              <a:spLocks noChangeShapeType="1"/>
            </p:cNvSpPr>
            <p:nvPr/>
          </p:nvSpPr>
          <p:spPr bwMode="auto">
            <a:xfrm>
              <a:off x="4637" y="3447"/>
              <a:ext cx="0" cy="32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4" name="Line 135"/>
            <p:cNvSpPr>
              <a:spLocks noChangeShapeType="1"/>
            </p:cNvSpPr>
            <p:nvPr/>
          </p:nvSpPr>
          <p:spPr bwMode="auto">
            <a:xfrm>
              <a:off x="4383" y="1918"/>
              <a:ext cx="0" cy="20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356" name="Group 188"/>
          <p:cNvGrpSpPr/>
          <p:nvPr/>
        </p:nvGrpSpPr>
        <p:grpSpPr bwMode="auto">
          <a:xfrm>
            <a:off x="3427413" y="4575175"/>
            <a:ext cx="2495550" cy="1050925"/>
            <a:chOff x="2159" y="2882"/>
            <a:chExt cx="1572" cy="662"/>
          </a:xfrm>
        </p:grpSpPr>
        <p:sp>
          <p:nvSpPr>
            <p:cNvPr id="14378" name="Text Box 137"/>
            <p:cNvSpPr txBox="1">
              <a:spLocks noChangeArrowheads="1"/>
            </p:cNvSpPr>
            <p:nvPr/>
          </p:nvSpPr>
          <p:spPr bwMode="auto">
            <a:xfrm>
              <a:off x="2159" y="2948"/>
              <a:ext cx="1262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rgbClr val="3333CC"/>
                  </a:solidFill>
                </a:rPr>
                <a:t>两零件剖面线方向相反</a:t>
              </a:r>
              <a:endParaRPr lang="zh-CN" altLang="en-US" sz="2800" b="0">
                <a:solidFill>
                  <a:srgbClr val="3333CC"/>
                </a:solidFill>
              </a:endParaRPr>
            </a:p>
          </p:txBody>
        </p:sp>
        <p:grpSp>
          <p:nvGrpSpPr>
            <p:cNvPr id="14379" name="Group 187"/>
            <p:cNvGrpSpPr/>
            <p:nvPr/>
          </p:nvGrpSpPr>
          <p:grpSpPr bwMode="auto">
            <a:xfrm>
              <a:off x="2247" y="2882"/>
              <a:ext cx="1484" cy="656"/>
              <a:chOff x="2247" y="2882"/>
              <a:chExt cx="1484" cy="656"/>
            </a:xfrm>
          </p:grpSpPr>
          <p:sp>
            <p:nvSpPr>
              <p:cNvPr id="14380" name="Freeform 138"/>
              <p:cNvSpPr/>
              <p:nvPr/>
            </p:nvSpPr>
            <p:spPr bwMode="auto">
              <a:xfrm>
                <a:off x="3423" y="2882"/>
                <a:ext cx="235" cy="654"/>
              </a:xfrm>
              <a:custGeom>
                <a:avLst/>
                <a:gdLst>
                  <a:gd name="T0" fmla="*/ 101 w 547"/>
                  <a:gd name="T1" fmla="*/ 0 h 630"/>
                  <a:gd name="T2" fmla="*/ 0 w 547"/>
                  <a:gd name="T3" fmla="*/ 679 h 63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47" h="630">
                    <a:moveTo>
                      <a:pt x="547" y="0"/>
                    </a:moveTo>
                    <a:lnTo>
                      <a:pt x="0" y="630"/>
                    </a:lnTo>
                  </a:path>
                </a:pathLst>
              </a:custGeom>
              <a:noFill/>
              <a:ln w="19050" cmpd="sng">
                <a:solidFill>
                  <a:srgbClr val="0033CC"/>
                </a:solidFill>
                <a:round/>
                <a:head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1" name="Line 139"/>
              <p:cNvSpPr>
                <a:spLocks noChangeShapeType="1"/>
              </p:cNvSpPr>
              <p:nvPr/>
            </p:nvSpPr>
            <p:spPr bwMode="auto">
              <a:xfrm>
                <a:off x="2247" y="3538"/>
                <a:ext cx="1174" cy="0"/>
              </a:xfrm>
              <a:prstGeom prst="line">
                <a:avLst/>
              </a:prstGeom>
              <a:noFill/>
              <a:ln w="19050">
                <a:solidFill>
                  <a:srgbClr val="00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2" name="Freeform 140"/>
              <p:cNvSpPr/>
              <p:nvPr/>
            </p:nvSpPr>
            <p:spPr bwMode="auto">
              <a:xfrm>
                <a:off x="3453" y="3198"/>
                <a:ext cx="278" cy="251"/>
              </a:xfrm>
              <a:custGeom>
                <a:avLst/>
                <a:gdLst>
                  <a:gd name="T0" fmla="*/ 183 w 422"/>
                  <a:gd name="T1" fmla="*/ 0 h 233"/>
                  <a:gd name="T2" fmla="*/ 0 w 422"/>
                  <a:gd name="T3" fmla="*/ 270 h 23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22" h="233">
                    <a:moveTo>
                      <a:pt x="422" y="0"/>
                    </a:moveTo>
                    <a:lnTo>
                      <a:pt x="0" y="233"/>
                    </a:lnTo>
                  </a:path>
                </a:pathLst>
              </a:custGeom>
              <a:noFill/>
              <a:ln w="19050" cmpd="sng">
                <a:solidFill>
                  <a:srgbClr val="0033CC"/>
                </a:solidFill>
                <a:round/>
                <a:headEnd type="triangl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4342" name="Group 141"/>
          <p:cNvGrpSpPr/>
          <p:nvPr/>
        </p:nvGrpSpPr>
        <p:grpSpPr bwMode="auto">
          <a:xfrm>
            <a:off x="803275" y="3097213"/>
            <a:ext cx="2620963" cy="2568575"/>
            <a:chOff x="506" y="1807"/>
            <a:chExt cx="1651" cy="1618"/>
          </a:xfrm>
        </p:grpSpPr>
        <p:sp>
          <p:nvSpPr>
            <p:cNvPr id="14353" name="Line 142"/>
            <p:cNvSpPr>
              <a:spLocks noChangeShapeType="1"/>
            </p:cNvSpPr>
            <p:nvPr/>
          </p:nvSpPr>
          <p:spPr bwMode="auto">
            <a:xfrm>
              <a:off x="1660" y="1971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4" name="Freeform 143"/>
            <p:cNvSpPr/>
            <p:nvPr/>
          </p:nvSpPr>
          <p:spPr bwMode="auto">
            <a:xfrm>
              <a:off x="645" y="2162"/>
              <a:ext cx="93" cy="960"/>
            </a:xfrm>
            <a:custGeom>
              <a:avLst/>
              <a:gdLst>
                <a:gd name="T0" fmla="*/ 93 w 93"/>
                <a:gd name="T1" fmla="*/ 960 h 960"/>
                <a:gd name="T2" fmla="*/ 0 w 93"/>
                <a:gd name="T3" fmla="*/ 872 h 960"/>
                <a:gd name="T4" fmla="*/ 0 w 93"/>
                <a:gd name="T5" fmla="*/ 92 h 960"/>
                <a:gd name="T6" fmla="*/ 93 w 93"/>
                <a:gd name="T7" fmla="*/ 0 h 960"/>
                <a:gd name="T8" fmla="*/ 93 w 93"/>
                <a:gd name="T9" fmla="*/ 960 h 9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960">
                  <a:moveTo>
                    <a:pt x="93" y="960"/>
                  </a:moveTo>
                  <a:lnTo>
                    <a:pt x="0" y="872"/>
                  </a:lnTo>
                  <a:lnTo>
                    <a:pt x="0" y="92"/>
                  </a:lnTo>
                  <a:lnTo>
                    <a:pt x="93" y="0"/>
                  </a:lnTo>
                  <a:lnTo>
                    <a:pt x="93" y="960"/>
                  </a:lnTo>
                  <a:close/>
                </a:path>
              </a:pathLst>
            </a:custGeom>
            <a:gradFill rotWithShape="0">
              <a:gsLst>
                <a:gs pos="0">
                  <a:srgbClr val="CC9900"/>
                </a:gs>
                <a:gs pos="50000">
                  <a:srgbClr val="E9D391"/>
                </a:gs>
                <a:gs pos="100000">
                  <a:srgbClr val="CC9900"/>
                </a:gs>
              </a:gsLst>
              <a:lin ang="5400000" scaled="1"/>
            </a:gradFill>
            <a:ln w="38100" cmpd="sng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5" name="Freeform 144"/>
            <p:cNvSpPr/>
            <p:nvPr/>
          </p:nvSpPr>
          <p:spPr bwMode="auto">
            <a:xfrm>
              <a:off x="746" y="1980"/>
              <a:ext cx="1306" cy="1324"/>
            </a:xfrm>
            <a:custGeom>
              <a:avLst/>
              <a:gdLst>
                <a:gd name="T0" fmla="*/ 1248 w 1306"/>
                <a:gd name="T1" fmla="*/ 0 h 1324"/>
                <a:gd name="T2" fmla="*/ 1270 w 1306"/>
                <a:gd name="T3" fmla="*/ 72 h 1324"/>
                <a:gd name="T4" fmla="*/ 1258 w 1306"/>
                <a:gd name="T5" fmla="*/ 144 h 1324"/>
                <a:gd name="T6" fmla="*/ 1282 w 1306"/>
                <a:gd name="T7" fmla="*/ 228 h 1324"/>
                <a:gd name="T8" fmla="*/ 1306 w 1306"/>
                <a:gd name="T9" fmla="*/ 312 h 1324"/>
                <a:gd name="T10" fmla="*/ 1306 w 1306"/>
                <a:gd name="T11" fmla="*/ 372 h 1324"/>
                <a:gd name="T12" fmla="*/ 1282 w 1306"/>
                <a:gd name="T13" fmla="*/ 504 h 1324"/>
                <a:gd name="T14" fmla="*/ 1282 w 1306"/>
                <a:gd name="T15" fmla="*/ 516 h 1324"/>
                <a:gd name="T16" fmla="*/ 1267 w 1306"/>
                <a:gd name="T17" fmla="*/ 604 h 1324"/>
                <a:gd name="T18" fmla="*/ 1258 w 1306"/>
                <a:gd name="T19" fmla="*/ 692 h 1324"/>
                <a:gd name="T20" fmla="*/ 1278 w 1306"/>
                <a:gd name="T21" fmla="*/ 756 h 1324"/>
                <a:gd name="T22" fmla="*/ 1290 w 1306"/>
                <a:gd name="T23" fmla="*/ 828 h 1324"/>
                <a:gd name="T24" fmla="*/ 1274 w 1306"/>
                <a:gd name="T25" fmla="*/ 864 h 1324"/>
                <a:gd name="T26" fmla="*/ 1258 w 1306"/>
                <a:gd name="T27" fmla="*/ 960 h 1324"/>
                <a:gd name="T28" fmla="*/ 1250 w 1306"/>
                <a:gd name="T29" fmla="*/ 1028 h 1324"/>
                <a:gd name="T30" fmla="*/ 1286 w 1306"/>
                <a:gd name="T31" fmla="*/ 1136 h 1324"/>
                <a:gd name="T32" fmla="*/ 1306 w 1306"/>
                <a:gd name="T33" fmla="*/ 1224 h 1324"/>
                <a:gd name="T34" fmla="*/ 1290 w 1306"/>
                <a:gd name="T35" fmla="*/ 1324 h 1324"/>
                <a:gd name="T36" fmla="*/ 912 w 1306"/>
                <a:gd name="T37" fmla="*/ 1324 h 1324"/>
                <a:gd name="T38" fmla="*/ 912 w 1306"/>
                <a:gd name="T39" fmla="*/ 1142 h 1324"/>
                <a:gd name="T40" fmla="*/ 0 w 1306"/>
                <a:gd name="T41" fmla="*/ 1137 h 1324"/>
                <a:gd name="T42" fmla="*/ 0 w 1306"/>
                <a:gd name="T43" fmla="*/ 177 h 1324"/>
                <a:gd name="T44" fmla="*/ 912 w 1306"/>
                <a:gd name="T45" fmla="*/ 182 h 1324"/>
                <a:gd name="T46" fmla="*/ 912 w 1306"/>
                <a:gd name="T47" fmla="*/ 0 h 1324"/>
                <a:gd name="T48" fmla="*/ 1248 w 1306"/>
                <a:gd name="T49" fmla="*/ 0 h 132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06" h="1324">
                  <a:moveTo>
                    <a:pt x="1248" y="0"/>
                  </a:moveTo>
                  <a:lnTo>
                    <a:pt x="1270" y="72"/>
                  </a:lnTo>
                  <a:lnTo>
                    <a:pt x="1258" y="144"/>
                  </a:lnTo>
                  <a:lnTo>
                    <a:pt x="1282" y="228"/>
                  </a:lnTo>
                  <a:lnTo>
                    <a:pt x="1306" y="312"/>
                  </a:lnTo>
                  <a:lnTo>
                    <a:pt x="1306" y="372"/>
                  </a:lnTo>
                  <a:lnTo>
                    <a:pt x="1282" y="504"/>
                  </a:lnTo>
                  <a:lnTo>
                    <a:pt x="1282" y="516"/>
                  </a:lnTo>
                  <a:cubicBezTo>
                    <a:pt x="1249" y="570"/>
                    <a:pt x="1284" y="568"/>
                    <a:pt x="1267" y="604"/>
                  </a:cubicBezTo>
                  <a:lnTo>
                    <a:pt x="1258" y="692"/>
                  </a:lnTo>
                  <a:lnTo>
                    <a:pt x="1278" y="756"/>
                  </a:lnTo>
                  <a:lnTo>
                    <a:pt x="1290" y="828"/>
                  </a:lnTo>
                  <a:lnTo>
                    <a:pt x="1274" y="864"/>
                  </a:lnTo>
                  <a:lnTo>
                    <a:pt x="1258" y="960"/>
                  </a:lnTo>
                  <a:lnTo>
                    <a:pt x="1250" y="1028"/>
                  </a:lnTo>
                  <a:lnTo>
                    <a:pt x="1286" y="1136"/>
                  </a:lnTo>
                  <a:lnTo>
                    <a:pt x="1306" y="1224"/>
                  </a:lnTo>
                  <a:lnTo>
                    <a:pt x="1290" y="1324"/>
                  </a:lnTo>
                  <a:lnTo>
                    <a:pt x="912" y="1324"/>
                  </a:lnTo>
                  <a:lnTo>
                    <a:pt x="912" y="1142"/>
                  </a:lnTo>
                  <a:lnTo>
                    <a:pt x="0" y="1137"/>
                  </a:lnTo>
                  <a:lnTo>
                    <a:pt x="0" y="177"/>
                  </a:lnTo>
                  <a:lnTo>
                    <a:pt x="912" y="182"/>
                  </a:lnTo>
                  <a:lnTo>
                    <a:pt x="912" y="0"/>
                  </a:lnTo>
                  <a:lnTo>
                    <a:pt x="1248" y="0"/>
                  </a:lnTo>
                  <a:close/>
                </a:path>
              </a:pathLst>
            </a:custGeom>
            <a:gradFill rotWithShape="0">
              <a:gsLst>
                <a:gs pos="0">
                  <a:srgbClr val="CC9900"/>
                </a:gs>
                <a:gs pos="50000">
                  <a:srgbClr val="EDDBA5"/>
                </a:gs>
                <a:gs pos="100000">
                  <a:srgbClr val="CC9900"/>
                </a:gs>
              </a:gsLst>
              <a:lin ang="5400000" scaled="1"/>
            </a:gradFill>
            <a:ln w="12700" cmpd="sng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6" name="Line 145"/>
            <p:cNvSpPr>
              <a:spLocks noChangeShapeType="1"/>
            </p:cNvSpPr>
            <p:nvPr/>
          </p:nvSpPr>
          <p:spPr bwMode="auto">
            <a:xfrm>
              <a:off x="1658" y="1975"/>
              <a:ext cx="0" cy="13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7" name="Line 146"/>
            <p:cNvSpPr>
              <a:spLocks noChangeShapeType="1"/>
            </p:cNvSpPr>
            <p:nvPr/>
          </p:nvSpPr>
          <p:spPr bwMode="auto">
            <a:xfrm>
              <a:off x="726" y="3122"/>
              <a:ext cx="9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8" name="Line 147"/>
            <p:cNvSpPr>
              <a:spLocks noChangeShapeType="1"/>
            </p:cNvSpPr>
            <p:nvPr/>
          </p:nvSpPr>
          <p:spPr bwMode="auto">
            <a:xfrm>
              <a:off x="726" y="2162"/>
              <a:ext cx="9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16" name="Freeform 148"/>
            <p:cNvSpPr/>
            <p:nvPr/>
          </p:nvSpPr>
          <p:spPr bwMode="auto">
            <a:xfrm>
              <a:off x="736" y="3122"/>
              <a:ext cx="922" cy="298"/>
            </a:xfrm>
            <a:custGeom>
              <a:avLst/>
              <a:gdLst>
                <a:gd name="T0" fmla="*/ 0 w 922"/>
                <a:gd name="T1" fmla="*/ 298 h 298"/>
                <a:gd name="T2" fmla="*/ 0 w 922"/>
                <a:gd name="T3" fmla="*/ 221 h 298"/>
                <a:gd name="T4" fmla="*/ 0 w 922"/>
                <a:gd name="T5" fmla="*/ 0 h 298"/>
                <a:gd name="T6" fmla="*/ 922 w 922"/>
                <a:gd name="T7" fmla="*/ 0 h 298"/>
                <a:gd name="T8" fmla="*/ 922 w 922"/>
                <a:gd name="T9" fmla="*/ 28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2" h="298">
                  <a:moveTo>
                    <a:pt x="0" y="298"/>
                  </a:moveTo>
                  <a:cubicBezTo>
                    <a:pt x="0" y="272"/>
                    <a:pt x="0" y="247"/>
                    <a:pt x="0" y="221"/>
                  </a:cubicBezTo>
                  <a:lnTo>
                    <a:pt x="0" y="0"/>
                  </a:lnTo>
                  <a:lnTo>
                    <a:pt x="922" y="0"/>
                  </a:lnTo>
                  <a:lnTo>
                    <a:pt x="922" y="288"/>
                  </a:lnTo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tint val="63137"/>
                    <a:invGamma/>
                  </a:schemeClr>
                </a:gs>
              </a:gsLst>
              <a:lin ang="5400000" scaled="1"/>
            </a:gradFill>
            <a:ln w="38100" cmpd="sng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317" name="Freeform 149"/>
            <p:cNvSpPr/>
            <p:nvPr/>
          </p:nvSpPr>
          <p:spPr bwMode="auto">
            <a:xfrm>
              <a:off x="736" y="1807"/>
              <a:ext cx="922" cy="355"/>
            </a:xfrm>
            <a:custGeom>
              <a:avLst/>
              <a:gdLst>
                <a:gd name="T0" fmla="*/ 0 w 922"/>
                <a:gd name="T1" fmla="*/ 9 h 355"/>
                <a:gd name="T2" fmla="*/ 0 w 922"/>
                <a:gd name="T3" fmla="*/ 355 h 355"/>
                <a:gd name="T4" fmla="*/ 922 w 922"/>
                <a:gd name="T5" fmla="*/ 355 h 355"/>
                <a:gd name="T6" fmla="*/ 922 w 922"/>
                <a:gd name="T7" fmla="*/ 0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2" h="355">
                  <a:moveTo>
                    <a:pt x="0" y="9"/>
                  </a:moveTo>
                  <a:lnTo>
                    <a:pt x="0" y="355"/>
                  </a:lnTo>
                  <a:lnTo>
                    <a:pt x="922" y="355"/>
                  </a:lnTo>
                  <a:lnTo>
                    <a:pt x="922" y="0"/>
                  </a:lnTo>
                </a:path>
              </a:pathLst>
            </a:custGeom>
            <a:gradFill rotWithShape="0">
              <a:gsLst>
                <a:gs pos="0">
                  <a:schemeClr val="accent1">
                    <a:gamma/>
                    <a:tint val="50588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38100" cmpd="sng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4361" name="Line 150"/>
            <p:cNvSpPr>
              <a:spLocks noChangeShapeType="1"/>
            </p:cNvSpPr>
            <p:nvPr/>
          </p:nvSpPr>
          <p:spPr bwMode="auto">
            <a:xfrm>
              <a:off x="736" y="1826"/>
              <a:ext cx="0" cy="15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2" name="Line 151"/>
            <p:cNvSpPr>
              <a:spLocks noChangeShapeType="1"/>
            </p:cNvSpPr>
            <p:nvPr/>
          </p:nvSpPr>
          <p:spPr bwMode="auto">
            <a:xfrm>
              <a:off x="1660" y="1838"/>
              <a:ext cx="0" cy="15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3" name="Line 152"/>
            <p:cNvSpPr>
              <a:spLocks noChangeShapeType="1"/>
            </p:cNvSpPr>
            <p:nvPr/>
          </p:nvSpPr>
          <p:spPr bwMode="auto">
            <a:xfrm>
              <a:off x="748" y="2162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4" name="Line 153"/>
            <p:cNvSpPr>
              <a:spLocks noChangeShapeType="1"/>
            </p:cNvSpPr>
            <p:nvPr/>
          </p:nvSpPr>
          <p:spPr bwMode="auto">
            <a:xfrm>
              <a:off x="736" y="3122"/>
              <a:ext cx="9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365" name="Group 154"/>
            <p:cNvGrpSpPr/>
            <p:nvPr/>
          </p:nvGrpSpPr>
          <p:grpSpPr bwMode="auto">
            <a:xfrm>
              <a:off x="736" y="1826"/>
              <a:ext cx="924" cy="1599"/>
              <a:chOff x="736" y="1826"/>
              <a:chExt cx="924" cy="1599"/>
            </a:xfrm>
          </p:grpSpPr>
          <p:sp>
            <p:nvSpPr>
              <p:cNvPr id="14368" name="Line 155"/>
              <p:cNvSpPr>
                <a:spLocks noChangeShapeType="1"/>
              </p:cNvSpPr>
              <p:nvPr/>
            </p:nvSpPr>
            <p:spPr bwMode="auto">
              <a:xfrm>
                <a:off x="736" y="2006"/>
                <a:ext cx="156" cy="1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69" name="Line 156"/>
              <p:cNvSpPr>
                <a:spLocks noChangeShapeType="1"/>
              </p:cNvSpPr>
              <p:nvPr/>
            </p:nvSpPr>
            <p:spPr bwMode="auto">
              <a:xfrm>
                <a:off x="796" y="1838"/>
                <a:ext cx="324" cy="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0" name="Freeform 157"/>
              <p:cNvSpPr/>
              <p:nvPr/>
            </p:nvSpPr>
            <p:spPr bwMode="auto">
              <a:xfrm>
                <a:off x="1024" y="1826"/>
                <a:ext cx="347" cy="342"/>
              </a:xfrm>
              <a:custGeom>
                <a:avLst/>
                <a:gdLst>
                  <a:gd name="T0" fmla="*/ 0 w 347"/>
                  <a:gd name="T1" fmla="*/ 0 h 333"/>
                  <a:gd name="T2" fmla="*/ 347 w 347"/>
                  <a:gd name="T3" fmla="*/ 351 h 33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47" h="333">
                    <a:moveTo>
                      <a:pt x="0" y="0"/>
                    </a:moveTo>
                    <a:lnTo>
                      <a:pt x="347" y="33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1" name="Line 158"/>
              <p:cNvSpPr>
                <a:spLocks noChangeShapeType="1"/>
              </p:cNvSpPr>
              <p:nvPr/>
            </p:nvSpPr>
            <p:spPr bwMode="auto">
              <a:xfrm>
                <a:off x="1276" y="1838"/>
                <a:ext cx="324" cy="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2" name="Line 159"/>
              <p:cNvSpPr>
                <a:spLocks noChangeShapeType="1"/>
              </p:cNvSpPr>
              <p:nvPr/>
            </p:nvSpPr>
            <p:spPr bwMode="auto">
              <a:xfrm>
                <a:off x="1504" y="1826"/>
                <a:ext cx="156" cy="1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3" name="Line 160"/>
              <p:cNvSpPr>
                <a:spLocks noChangeShapeType="1"/>
              </p:cNvSpPr>
              <p:nvPr/>
            </p:nvSpPr>
            <p:spPr bwMode="auto">
              <a:xfrm>
                <a:off x="1537" y="3122"/>
                <a:ext cx="123" cy="1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4" name="Line 161"/>
              <p:cNvSpPr>
                <a:spLocks noChangeShapeType="1"/>
              </p:cNvSpPr>
              <p:nvPr/>
            </p:nvSpPr>
            <p:spPr bwMode="auto">
              <a:xfrm>
                <a:off x="1312" y="3134"/>
                <a:ext cx="283" cy="2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5" name="Line 162"/>
              <p:cNvSpPr>
                <a:spLocks noChangeShapeType="1"/>
              </p:cNvSpPr>
              <p:nvPr/>
            </p:nvSpPr>
            <p:spPr bwMode="auto">
              <a:xfrm>
                <a:off x="1084" y="3134"/>
                <a:ext cx="276" cy="2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6" name="Line 163"/>
              <p:cNvSpPr>
                <a:spLocks noChangeShapeType="1"/>
              </p:cNvSpPr>
              <p:nvPr/>
            </p:nvSpPr>
            <p:spPr bwMode="auto">
              <a:xfrm>
                <a:off x="844" y="3134"/>
                <a:ext cx="288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7" name="Line 164"/>
              <p:cNvSpPr>
                <a:spLocks noChangeShapeType="1"/>
              </p:cNvSpPr>
              <p:nvPr/>
            </p:nvSpPr>
            <p:spPr bwMode="auto">
              <a:xfrm>
                <a:off x="736" y="3266"/>
                <a:ext cx="144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66" name="Line 165"/>
            <p:cNvSpPr>
              <a:spLocks noChangeShapeType="1"/>
            </p:cNvSpPr>
            <p:nvPr/>
          </p:nvSpPr>
          <p:spPr bwMode="auto">
            <a:xfrm>
              <a:off x="506" y="2642"/>
              <a:ext cx="16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7" name="Line 166"/>
            <p:cNvSpPr>
              <a:spLocks noChangeShapeType="1"/>
            </p:cNvSpPr>
            <p:nvPr/>
          </p:nvSpPr>
          <p:spPr bwMode="auto">
            <a:xfrm>
              <a:off x="1660" y="3308"/>
              <a:ext cx="3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352" name="Group 184"/>
          <p:cNvGrpSpPr/>
          <p:nvPr/>
        </p:nvGrpSpPr>
        <p:grpSpPr bwMode="auto">
          <a:xfrm>
            <a:off x="3938588" y="2586038"/>
            <a:ext cx="3763962" cy="1281112"/>
            <a:chOff x="2481" y="1629"/>
            <a:chExt cx="2371" cy="807"/>
          </a:xfrm>
        </p:grpSpPr>
        <p:sp>
          <p:nvSpPr>
            <p:cNvPr id="14349" name="Text Box 172"/>
            <p:cNvSpPr txBox="1">
              <a:spLocks noChangeArrowheads="1"/>
            </p:cNvSpPr>
            <p:nvPr/>
          </p:nvSpPr>
          <p:spPr bwMode="auto">
            <a:xfrm>
              <a:off x="2481" y="1629"/>
              <a:ext cx="237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rgbClr val="3333CC"/>
                  </a:solidFill>
                </a:rPr>
                <a:t>螺栓、螺母和垫圈不剖</a:t>
              </a:r>
              <a:endParaRPr lang="zh-CN" altLang="en-US" sz="2800" b="0">
                <a:solidFill>
                  <a:srgbClr val="333399"/>
                </a:solidFill>
              </a:endParaRPr>
            </a:p>
          </p:txBody>
        </p:sp>
        <p:grpSp>
          <p:nvGrpSpPr>
            <p:cNvPr id="14350" name="Group 183"/>
            <p:cNvGrpSpPr/>
            <p:nvPr/>
          </p:nvGrpSpPr>
          <p:grpSpPr bwMode="auto">
            <a:xfrm>
              <a:off x="2544" y="1932"/>
              <a:ext cx="2220" cy="504"/>
              <a:chOff x="2544" y="1932"/>
              <a:chExt cx="2220" cy="504"/>
            </a:xfrm>
          </p:grpSpPr>
          <p:sp>
            <p:nvSpPr>
              <p:cNvPr id="14351" name="Freeform 175"/>
              <p:cNvSpPr/>
              <p:nvPr/>
            </p:nvSpPr>
            <p:spPr bwMode="auto">
              <a:xfrm>
                <a:off x="4416" y="1932"/>
                <a:ext cx="336" cy="504"/>
              </a:xfrm>
              <a:custGeom>
                <a:avLst/>
                <a:gdLst>
                  <a:gd name="T0" fmla="*/ 285 w 396"/>
                  <a:gd name="T1" fmla="*/ 0 h 492"/>
                  <a:gd name="T2" fmla="*/ 0 w 396"/>
                  <a:gd name="T3" fmla="*/ 516 h 49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6" h="492">
                    <a:moveTo>
                      <a:pt x="396" y="0"/>
                    </a:moveTo>
                    <a:lnTo>
                      <a:pt x="0" y="492"/>
                    </a:lnTo>
                  </a:path>
                </a:pathLst>
              </a:cu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2" name="Line 177"/>
              <p:cNvSpPr>
                <a:spLocks noChangeShapeType="1"/>
              </p:cNvSpPr>
              <p:nvPr/>
            </p:nvSpPr>
            <p:spPr bwMode="auto">
              <a:xfrm>
                <a:off x="2544" y="1932"/>
                <a:ext cx="2220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7361" name="Group 193"/>
          <p:cNvGrpSpPr/>
          <p:nvPr/>
        </p:nvGrpSpPr>
        <p:grpSpPr bwMode="auto">
          <a:xfrm>
            <a:off x="2830513" y="3435350"/>
            <a:ext cx="1971675" cy="928688"/>
            <a:chOff x="1783" y="2164"/>
            <a:chExt cx="1242" cy="585"/>
          </a:xfrm>
        </p:grpSpPr>
        <p:grpSp>
          <p:nvGrpSpPr>
            <p:cNvPr id="14345" name="Group 192"/>
            <p:cNvGrpSpPr/>
            <p:nvPr/>
          </p:nvGrpSpPr>
          <p:grpSpPr bwMode="auto">
            <a:xfrm>
              <a:off x="1783" y="2488"/>
              <a:ext cx="1083" cy="261"/>
              <a:chOff x="1783" y="2488"/>
              <a:chExt cx="1083" cy="261"/>
            </a:xfrm>
          </p:grpSpPr>
          <p:sp>
            <p:nvSpPr>
              <p:cNvPr id="14347" name="Line 173"/>
              <p:cNvSpPr>
                <a:spLocks noChangeShapeType="1"/>
              </p:cNvSpPr>
              <p:nvPr/>
            </p:nvSpPr>
            <p:spPr bwMode="auto">
              <a:xfrm>
                <a:off x="2295" y="2492"/>
                <a:ext cx="571" cy="0"/>
              </a:xfrm>
              <a:prstGeom prst="line">
                <a:avLst/>
              </a:prstGeom>
              <a:noFill/>
              <a:ln w="19050">
                <a:solidFill>
                  <a:srgbClr val="00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8" name="Line 174"/>
              <p:cNvSpPr>
                <a:spLocks noChangeShapeType="1"/>
              </p:cNvSpPr>
              <p:nvPr/>
            </p:nvSpPr>
            <p:spPr bwMode="auto">
              <a:xfrm flipV="1">
                <a:off x="1783" y="2488"/>
                <a:ext cx="518" cy="261"/>
              </a:xfrm>
              <a:prstGeom prst="line">
                <a:avLst/>
              </a:prstGeom>
              <a:noFill/>
              <a:ln w="19050">
                <a:solidFill>
                  <a:srgbClr val="0033CC"/>
                </a:solidFill>
                <a:round/>
                <a:head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46" name="Text Box 178"/>
            <p:cNvSpPr txBox="1">
              <a:spLocks noChangeArrowheads="1"/>
            </p:cNvSpPr>
            <p:nvPr/>
          </p:nvSpPr>
          <p:spPr bwMode="auto">
            <a:xfrm>
              <a:off x="2234" y="2164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rgbClr val="3333CC"/>
                  </a:solidFill>
                </a:rPr>
                <a:t>轴不剖</a:t>
              </a:r>
              <a:endParaRPr lang="zh-CN" altLang="en-US" sz="2800">
                <a:solidFill>
                  <a:srgbClr val="3333CC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762000" y="2540000"/>
            <a:ext cx="3262313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3333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>
                <a:solidFill>
                  <a:srgbClr val="333399"/>
                </a:solidFill>
                <a:latin typeface="宋体" panose="02010600030101010101" pitchFamily="2" charset="-122"/>
              </a:rPr>
              <a:t>沿轴承盖与轴承座的结合面剖切，拆去上面部分，以表达轴衬与轴承座孔的装配情况。</a:t>
            </a:r>
            <a:endParaRPr lang="zh-CN" altLang="en-US">
              <a:solidFill>
                <a:srgbClr val="333399"/>
              </a:solidFill>
              <a:latin typeface="宋体" panose="02010600030101010101" pitchFamily="2" charset="-122"/>
            </a:endParaRP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244475" y="87313"/>
            <a:ext cx="40052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>
                <a:solidFill>
                  <a:schemeClr val="accent2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3600">
                <a:solidFill>
                  <a:schemeClr val="accent2"/>
                </a:solidFill>
                <a:latin typeface="宋体" panose="02010600030101010101" pitchFamily="2" charset="-122"/>
              </a:rPr>
              <a:t>特殊画法</a:t>
            </a:r>
            <a:endParaRPr lang="zh-CN" altLang="en-US" sz="360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769938" y="1395413"/>
            <a:ext cx="837406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假想沿某些零件的结合面剖切，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绘出其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图形，以表达装配体内部零件间的装配情况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557213" y="746125"/>
            <a:ext cx="62817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）沿零件结合面剖切的画法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5366" name="Text Box 10"/>
          <p:cNvSpPr txBox="1">
            <a:spLocks noChangeArrowheads="1"/>
          </p:cNvSpPr>
          <p:nvPr/>
        </p:nvSpPr>
        <p:spPr bwMode="auto">
          <a:xfrm>
            <a:off x="5813425" y="5364163"/>
            <a:ext cx="2330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3300"/>
                </a:solidFill>
              </a:rPr>
              <a:t>滑动轴承</a:t>
            </a:r>
            <a:endParaRPr lang="zh-CN" altLang="en-US" sz="2400">
              <a:solidFill>
                <a:srgbClr val="FF3300"/>
              </a:solidFill>
            </a:endParaRPr>
          </a:p>
        </p:txBody>
      </p:sp>
      <p:pic>
        <p:nvPicPr>
          <p:cNvPr id="15367" name="Picture 11" descr="10-13cc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7" t="2409" r="22989" b="4218"/>
          <a:stretch>
            <a:fillRect/>
          </a:stretch>
        </p:blipFill>
        <p:spPr bwMode="auto">
          <a:xfrm>
            <a:off x="4267200" y="2609850"/>
            <a:ext cx="40767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autoUpdateAnimBg="0"/>
      <p:bldP spid="50180" grpId="0" autoUpdateAnimBg="0"/>
      <p:bldP spid="5018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026"/>
          <p:cNvSpPr txBox="1">
            <a:spLocks noChangeArrowheads="1"/>
          </p:cNvSpPr>
          <p:nvPr/>
        </p:nvSpPr>
        <p:spPr bwMode="auto">
          <a:xfrm>
            <a:off x="368300" y="444500"/>
            <a:ext cx="4157663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333399"/>
                </a:solidFill>
              </a:rPr>
              <a:t>        </a:t>
            </a:r>
            <a:r>
              <a:rPr lang="zh-CN" altLang="en-US">
                <a:solidFill>
                  <a:srgbClr val="333399"/>
                </a:solidFill>
              </a:rPr>
              <a:t>采用沿轴承盖与轴承座的结合面剖切的画法，俯视图表达了轴衬与轴承座孔的装配情况。</a:t>
            </a:r>
            <a:endParaRPr lang="zh-CN" altLang="en-US">
              <a:solidFill>
                <a:srgbClr val="333399"/>
              </a:solidFill>
            </a:endParaRPr>
          </a:p>
        </p:txBody>
      </p:sp>
      <p:pic>
        <p:nvPicPr>
          <p:cNvPr id="16387" name="Picture 1027" descr="10-13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01" t="4216" r="25862" b="3615"/>
          <a:stretch>
            <a:fillRect/>
          </a:stretch>
        </p:blipFill>
        <p:spPr bwMode="auto">
          <a:xfrm>
            <a:off x="533400" y="3111500"/>
            <a:ext cx="3752850" cy="320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8" name="Text Box 1028"/>
          <p:cNvSpPr txBox="1">
            <a:spLocks noChangeArrowheads="1"/>
          </p:cNvSpPr>
          <p:nvPr/>
        </p:nvSpPr>
        <p:spPr bwMode="auto">
          <a:xfrm>
            <a:off x="4822825" y="4773613"/>
            <a:ext cx="41306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3300"/>
                </a:solidFill>
              </a:rPr>
              <a:t>沿结合面剖切的画法</a:t>
            </a:r>
            <a:endParaRPr lang="zh-CN" altLang="en-US">
              <a:solidFill>
                <a:srgbClr val="FF3300"/>
              </a:solidFill>
            </a:endParaRPr>
          </a:p>
        </p:txBody>
      </p:sp>
      <p:pic>
        <p:nvPicPr>
          <p:cNvPr id="118796" name="Picture 1036" descr="15-10（4）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FFF"/>
              </a:clrFrom>
              <a:clrTo>
                <a:srgbClr val="FB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813" y="622300"/>
            <a:ext cx="3735387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49250" y="273050"/>
            <a:ext cx="34702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</a:rPr>
              <a:t>）假想画法</a:t>
            </a:r>
            <a:endParaRPr lang="zh-CN" altLang="en-US">
              <a:latin typeface="宋体" panose="02010600030101010101" pitchFamily="2" charset="-122"/>
            </a:endParaRPr>
          </a:p>
        </p:txBody>
      </p:sp>
      <p:grpSp>
        <p:nvGrpSpPr>
          <p:cNvPr id="9254" name="Group 38"/>
          <p:cNvGrpSpPr/>
          <p:nvPr/>
        </p:nvGrpSpPr>
        <p:grpSpPr bwMode="auto">
          <a:xfrm>
            <a:off x="5370513" y="2655888"/>
            <a:ext cx="2259012" cy="2865437"/>
            <a:chOff x="3383" y="1673"/>
            <a:chExt cx="1423" cy="1805"/>
          </a:xfrm>
        </p:grpSpPr>
        <p:sp>
          <p:nvSpPr>
            <p:cNvPr id="17423" name="Line 4"/>
            <p:cNvSpPr>
              <a:spLocks noChangeShapeType="1"/>
            </p:cNvSpPr>
            <p:nvPr/>
          </p:nvSpPr>
          <p:spPr bwMode="auto">
            <a:xfrm>
              <a:off x="3383" y="3120"/>
              <a:ext cx="9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4" name="Oval 5"/>
            <p:cNvSpPr>
              <a:spLocks noChangeArrowheads="1"/>
            </p:cNvSpPr>
            <p:nvPr/>
          </p:nvSpPr>
          <p:spPr bwMode="auto">
            <a:xfrm>
              <a:off x="3722" y="2978"/>
              <a:ext cx="282" cy="28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17425" name="Oval 6"/>
            <p:cNvSpPr>
              <a:spLocks noChangeArrowheads="1"/>
            </p:cNvSpPr>
            <p:nvPr/>
          </p:nvSpPr>
          <p:spPr bwMode="auto">
            <a:xfrm>
              <a:off x="3572" y="2833"/>
              <a:ext cx="579" cy="58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17426" name="Line 7"/>
            <p:cNvSpPr>
              <a:spLocks noChangeShapeType="1"/>
            </p:cNvSpPr>
            <p:nvPr/>
          </p:nvSpPr>
          <p:spPr bwMode="auto">
            <a:xfrm flipV="1">
              <a:off x="3636" y="1673"/>
              <a:ext cx="1144" cy="18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7" name="Oval 8"/>
            <p:cNvSpPr>
              <a:spLocks noChangeArrowheads="1"/>
            </p:cNvSpPr>
            <p:nvPr/>
          </p:nvSpPr>
          <p:spPr bwMode="auto">
            <a:xfrm>
              <a:off x="4489" y="1837"/>
              <a:ext cx="228" cy="2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17428" name="Oval 9"/>
            <p:cNvSpPr>
              <a:spLocks noChangeArrowheads="1"/>
            </p:cNvSpPr>
            <p:nvPr/>
          </p:nvSpPr>
          <p:spPr bwMode="auto">
            <a:xfrm>
              <a:off x="4401" y="1757"/>
              <a:ext cx="404" cy="38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17429" name="Line 10"/>
            <p:cNvSpPr>
              <a:spLocks noChangeShapeType="1"/>
            </p:cNvSpPr>
            <p:nvPr/>
          </p:nvSpPr>
          <p:spPr bwMode="auto">
            <a:xfrm flipV="1">
              <a:off x="3597" y="1824"/>
              <a:ext cx="851" cy="1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0" name="Line 11"/>
            <p:cNvSpPr>
              <a:spLocks noChangeShapeType="1"/>
            </p:cNvSpPr>
            <p:nvPr/>
          </p:nvSpPr>
          <p:spPr bwMode="auto">
            <a:xfrm flipV="1">
              <a:off x="4126" y="1994"/>
              <a:ext cx="680" cy="12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1" name="Line 12"/>
            <p:cNvSpPr>
              <a:spLocks noChangeShapeType="1"/>
            </p:cNvSpPr>
            <p:nvPr/>
          </p:nvSpPr>
          <p:spPr bwMode="auto">
            <a:xfrm flipV="1">
              <a:off x="3924" y="2040"/>
              <a:ext cx="516" cy="8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2" name="Line 13"/>
            <p:cNvSpPr>
              <a:spLocks noChangeShapeType="1"/>
            </p:cNvSpPr>
            <p:nvPr/>
          </p:nvSpPr>
          <p:spPr bwMode="auto">
            <a:xfrm flipV="1">
              <a:off x="4074" y="2133"/>
              <a:ext cx="516" cy="8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55" name="Group 39"/>
          <p:cNvGrpSpPr/>
          <p:nvPr/>
        </p:nvGrpSpPr>
        <p:grpSpPr bwMode="auto">
          <a:xfrm>
            <a:off x="4468813" y="2755900"/>
            <a:ext cx="1971675" cy="2454275"/>
            <a:chOff x="2815" y="1736"/>
            <a:chExt cx="1242" cy="1546"/>
          </a:xfrm>
        </p:grpSpPr>
        <p:sp>
          <p:nvSpPr>
            <p:cNvPr id="17416" name="Oval 15"/>
            <p:cNvSpPr>
              <a:spLocks noChangeArrowheads="1"/>
            </p:cNvSpPr>
            <p:nvPr/>
          </p:nvSpPr>
          <p:spPr bwMode="auto">
            <a:xfrm flipH="1">
              <a:off x="2903" y="1846"/>
              <a:ext cx="228" cy="209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prstDash val="lgDashDot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17417" name="Oval 16"/>
            <p:cNvSpPr>
              <a:spLocks noChangeArrowheads="1"/>
            </p:cNvSpPr>
            <p:nvPr/>
          </p:nvSpPr>
          <p:spPr bwMode="auto">
            <a:xfrm flipH="1">
              <a:off x="2815" y="1766"/>
              <a:ext cx="404" cy="369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prstDash val="lgDashDot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17418" name="Line 17"/>
            <p:cNvSpPr>
              <a:spLocks noChangeShapeType="1"/>
            </p:cNvSpPr>
            <p:nvPr/>
          </p:nvSpPr>
          <p:spPr bwMode="auto">
            <a:xfrm flipH="1" flipV="1">
              <a:off x="2843" y="1736"/>
              <a:ext cx="1031" cy="139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9" name="Line 18"/>
            <p:cNvSpPr>
              <a:spLocks noChangeShapeType="1"/>
            </p:cNvSpPr>
            <p:nvPr/>
          </p:nvSpPr>
          <p:spPr bwMode="auto">
            <a:xfrm flipH="1" flipV="1">
              <a:off x="3169" y="1810"/>
              <a:ext cx="888" cy="10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lgDashDot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0" name="Line 19"/>
            <p:cNvSpPr>
              <a:spLocks noChangeShapeType="1"/>
            </p:cNvSpPr>
            <p:nvPr/>
          </p:nvSpPr>
          <p:spPr bwMode="auto">
            <a:xfrm flipH="1" flipV="1">
              <a:off x="2843" y="2040"/>
              <a:ext cx="771" cy="124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lgDashDot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1" name="Line 20"/>
            <p:cNvSpPr>
              <a:spLocks noChangeShapeType="1"/>
            </p:cNvSpPr>
            <p:nvPr/>
          </p:nvSpPr>
          <p:spPr bwMode="auto">
            <a:xfrm flipH="1" flipV="1">
              <a:off x="3043" y="2144"/>
              <a:ext cx="692" cy="931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lgDashDot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2" name="Line 21"/>
            <p:cNvSpPr>
              <a:spLocks noChangeShapeType="1"/>
            </p:cNvSpPr>
            <p:nvPr/>
          </p:nvSpPr>
          <p:spPr bwMode="auto">
            <a:xfrm flipH="1" flipV="1">
              <a:off x="3182" y="2052"/>
              <a:ext cx="692" cy="93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lgDashDot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238" name="Arc 22"/>
          <p:cNvSpPr/>
          <p:nvPr/>
        </p:nvSpPr>
        <p:spPr bwMode="auto">
          <a:xfrm rot="16200000" flipV="1">
            <a:off x="5597525" y="1614488"/>
            <a:ext cx="987425" cy="3302000"/>
          </a:xfrm>
          <a:custGeom>
            <a:avLst/>
            <a:gdLst>
              <a:gd name="T0" fmla="*/ 7533641 w 21600"/>
              <a:gd name="T1" fmla="*/ 0 h 41825"/>
              <a:gd name="T2" fmla="*/ 14041229 w 21600"/>
              <a:gd name="T3" fmla="*/ 260686288 h 41825"/>
              <a:gd name="T4" fmla="*/ 0 w 21600"/>
              <a:gd name="T5" fmla="*/ 132739689 h 4182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41825" fill="none" extrusionOk="0">
                <a:moveTo>
                  <a:pt x="3605" y="-1"/>
                </a:moveTo>
                <a:cubicBezTo>
                  <a:pt x="13995" y="1758"/>
                  <a:pt x="21600" y="10758"/>
                  <a:pt x="21600" y="21297"/>
                </a:cubicBezTo>
                <a:cubicBezTo>
                  <a:pt x="21600" y="30637"/>
                  <a:pt x="15596" y="38919"/>
                  <a:pt x="6719" y="41825"/>
                </a:cubicBezTo>
              </a:path>
              <a:path w="21600" h="41825" stroke="0" extrusionOk="0">
                <a:moveTo>
                  <a:pt x="3605" y="-1"/>
                </a:moveTo>
                <a:cubicBezTo>
                  <a:pt x="13995" y="1758"/>
                  <a:pt x="21600" y="10758"/>
                  <a:pt x="21600" y="21297"/>
                </a:cubicBezTo>
                <a:cubicBezTo>
                  <a:pt x="21600" y="30637"/>
                  <a:pt x="15596" y="38919"/>
                  <a:pt x="6719" y="41825"/>
                </a:cubicBezTo>
                <a:lnTo>
                  <a:pt x="0" y="21297"/>
                </a:lnTo>
                <a:lnTo>
                  <a:pt x="3605" y="-1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  <a:prstDash val="lgDash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935038" y="863600"/>
            <a:ext cx="75311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与本装配体有关但不属于本装配体的相邻零部件，以及运动机件的极限位置，可用双点画线表示。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9240" name="AutoShape 24"/>
          <p:cNvSpPr>
            <a:spLocks noChangeArrowheads="1"/>
          </p:cNvSpPr>
          <p:nvPr/>
        </p:nvSpPr>
        <p:spPr bwMode="auto">
          <a:xfrm>
            <a:off x="1131888" y="3295650"/>
            <a:ext cx="2987675" cy="1855788"/>
          </a:xfrm>
          <a:prstGeom prst="wedgeRoundRectCallout">
            <a:avLst>
              <a:gd name="adj1" fmla="val 81722"/>
              <a:gd name="adj2" fmla="val 6458"/>
              <a:gd name="adj3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00FF00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9900CC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/>
              <a:t>运动机件的极</a:t>
            </a:r>
            <a:endParaRPr lang="zh-CN" altLang="en-US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/>
              <a:t>限位置轮廓线</a:t>
            </a:r>
            <a:endParaRPr lang="zh-CN" altLang="en-US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/>
              <a:t>画双点画线。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9" grpId="0" autoUpdateAnimBg="0"/>
      <p:bldP spid="9240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9" name="Group 99"/>
          <p:cNvGrpSpPr/>
          <p:nvPr/>
        </p:nvGrpSpPr>
        <p:grpSpPr bwMode="auto">
          <a:xfrm>
            <a:off x="4437063" y="3978275"/>
            <a:ext cx="2428875" cy="838200"/>
            <a:chOff x="2795" y="2506"/>
            <a:chExt cx="1530" cy="528"/>
          </a:xfrm>
        </p:grpSpPr>
        <p:sp>
          <p:nvSpPr>
            <p:cNvPr id="18523" name="Line 3"/>
            <p:cNvSpPr>
              <a:spLocks noChangeShapeType="1"/>
            </p:cNvSpPr>
            <p:nvPr/>
          </p:nvSpPr>
          <p:spPr bwMode="auto">
            <a:xfrm flipH="1">
              <a:off x="3628" y="2630"/>
              <a:ext cx="697" cy="40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4" name="Line 4"/>
            <p:cNvSpPr>
              <a:spLocks noChangeShapeType="1"/>
            </p:cNvSpPr>
            <p:nvPr/>
          </p:nvSpPr>
          <p:spPr bwMode="auto">
            <a:xfrm flipH="1">
              <a:off x="2868" y="3034"/>
              <a:ext cx="76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5" name="Text Box 5"/>
            <p:cNvSpPr txBox="1">
              <a:spLocks noChangeArrowheads="1"/>
            </p:cNvSpPr>
            <p:nvPr/>
          </p:nvSpPr>
          <p:spPr bwMode="auto">
            <a:xfrm>
              <a:off x="2795" y="2506"/>
              <a:ext cx="95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滚动轴承</a:t>
              </a:r>
              <a:endParaRPr lang="zh-CN" altLang="en-US" sz="2400">
                <a:solidFill>
                  <a:srgbClr val="FF3300"/>
                </a:solidFill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简化画法</a:t>
              </a:r>
              <a:endParaRPr lang="zh-CN" altLang="en-US" sz="2400"/>
            </a:p>
          </p:txBody>
        </p:sp>
      </p:grpSp>
      <p:grpSp>
        <p:nvGrpSpPr>
          <p:cNvPr id="10341" name="Group 101"/>
          <p:cNvGrpSpPr/>
          <p:nvPr/>
        </p:nvGrpSpPr>
        <p:grpSpPr bwMode="auto">
          <a:xfrm>
            <a:off x="6223000" y="669925"/>
            <a:ext cx="2635250" cy="1128713"/>
            <a:chOff x="3920" y="422"/>
            <a:chExt cx="1654" cy="711"/>
          </a:xfrm>
        </p:grpSpPr>
        <p:sp>
          <p:nvSpPr>
            <p:cNvPr id="18520" name="Line 7"/>
            <p:cNvSpPr>
              <a:spLocks noChangeShapeType="1"/>
            </p:cNvSpPr>
            <p:nvPr/>
          </p:nvSpPr>
          <p:spPr bwMode="auto">
            <a:xfrm flipH="1">
              <a:off x="5055" y="711"/>
              <a:ext cx="422" cy="42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1" name="Line 8"/>
            <p:cNvSpPr>
              <a:spLocks noChangeShapeType="1"/>
            </p:cNvSpPr>
            <p:nvPr/>
          </p:nvSpPr>
          <p:spPr bwMode="auto">
            <a:xfrm flipH="1">
              <a:off x="3950" y="710"/>
              <a:ext cx="152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2" name="Text Box 9"/>
            <p:cNvSpPr txBox="1">
              <a:spLocks noChangeArrowheads="1"/>
            </p:cNvSpPr>
            <p:nvPr/>
          </p:nvSpPr>
          <p:spPr bwMode="auto">
            <a:xfrm>
              <a:off x="3920" y="422"/>
              <a:ext cx="16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垫圈厚度夸大画出</a:t>
              </a:r>
              <a:endParaRPr lang="zh-CN" altLang="en-US" sz="2400"/>
            </a:p>
          </p:txBody>
        </p:sp>
      </p:grpSp>
      <p:sp>
        <p:nvSpPr>
          <p:cNvPr id="18436" name="Rectangle 10"/>
          <p:cNvSpPr>
            <a:spLocks noChangeArrowheads="1"/>
          </p:cNvSpPr>
          <p:nvPr/>
        </p:nvSpPr>
        <p:spPr bwMode="auto">
          <a:xfrm>
            <a:off x="112713" y="346075"/>
            <a:ext cx="30908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</a:rPr>
              <a:t>）简化画法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112713" y="3841750"/>
            <a:ext cx="32210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4</a:t>
            </a:r>
            <a:r>
              <a:rPr lang="zh-CN" altLang="en-US">
                <a:latin typeface="宋体" panose="02010600030101010101" pitchFamily="2" charset="-122"/>
              </a:rPr>
              <a:t>）夸大画法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585788" y="996950"/>
            <a:ext cx="4405312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零件的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工艺结构</a:t>
            </a:r>
            <a:r>
              <a:rPr lang="zh-CN" altLang="en-US">
                <a:latin typeface="宋体" panose="02010600030101010101" pitchFamily="2" charset="-122"/>
              </a:rPr>
              <a:t>，如倒角、圆角、退刀槽等可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不画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533400" y="4516438"/>
            <a:ext cx="4122738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薄垫片</a:t>
            </a:r>
            <a:r>
              <a:rPr lang="zh-CN" altLang="en-US">
                <a:latin typeface="宋体" panose="02010600030101010101" pitchFamily="2" charset="-122"/>
              </a:rPr>
              <a:t>的厚度、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小间隙等</a:t>
            </a:r>
            <a:r>
              <a:rPr lang="zh-CN" altLang="en-US">
                <a:latin typeface="宋体" panose="02010600030101010101" pitchFamily="2" charset="-122"/>
              </a:rPr>
              <a:t>可适当夸大画出。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0258" name="Text Box 18"/>
          <p:cNvSpPr txBox="1">
            <a:spLocks noChangeArrowheads="1"/>
          </p:cNvSpPr>
          <p:nvPr/>
        </p:nvSpPr>
        <p:spPr bwMode="auto">
          <a:xfrm>
            <a:off x="579438" y="2613025"/>
            <a:ext cx="4522787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滚动轴承、螺栓连接等可采用简化画法。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8441" name="Line 70"/>
          <p:cNvSpPr>
            <a:spLocks noChangeShapeType="1"/>
          </p:cNvSpPr>
          <p:nvPr/>
        </p:nvSpPr>
        <p:spPr bwMode="auto">
          <a:xfrm>
            <a:off x="6105525" y="3994150"/>
            <a:ext cx="768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2" name="Line 71"/>
          <p:cNvSpPr>
            <a:spLocks noChangeShapeType="1"/>
          </p:cNvSpPr>
          <p:nvPr/>
        </p:nvSpPr>
        <p:spPr bwMode="auto">
          <a:xfrm>
            <a:off x="6069013" y="2895600"/>
            <a:ext cx="7969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443" name="Group 113"/>
          <p:cNvGrpSpPr/>
          <p:nvPr/>
        </p:nvGrpSpPr>
        <p:grpSpPr bwMode="auto">
          <a:xfrm>
            <a:off x="5921375" y="1473200"/>
            <a:ext cx="2633663" cy="3906838"/>
            <a:chOff x="3730" y="928"/>
            <a:chExt cx="1659" cy="2461"/>
          </a:xfrm>
        </p:grpSpPr>
        <p:grpSp>
          <p:nvGrpSpPr>
            <p:cNvPr id="18453" name="Group 112"/>
            <p:cNvGrpSpPr/>
            <p:nvPr/>
          </p:nvGrpSpPr>
          <p:grpSpPr bwMode="auto">
            <a:xfrm>
              <a:off x="3784" y="928"/>
              <a:ext cx="1605" cy="2461"/>
              <a:chOff x="3784" y="928"/>
              <a:chExt cx="1605" cy="2461"/>
            </a:xfrm>
          </p:grpSpPr>
          <p:sp>
            <p:nvSpPr>
              <p:cNvPr id="18455" name="Freeform 20"/>
              <p:cNvSpPr/>
              <p:nvPr/>
            </p:nvSpPr>
            <p:spPr bwMode="auto">
              <a:xfrm>
                <a:off x="4783" y="1139"/>
                <a:ext cx="529" cy="2067"/>
              </a:xfrm>
              <a:custGeom>
                <a:avLst/>
                <a:gdLst>
                  <a:gd name="T0" fmla="*/ 294 w 529"/>
                  <a:gd name="T1" fmla="*/ 0 h 2067"/>
                  <a:gd name="T2" fmla="*/ 523 w 529"/>
                  <a:gd name="T3" fmla="*/ 3 h 2067"/>
                  <a:gd name="T4" fmla="*/ 529 w 529"/>
                  <a:gd name="T5" fmla="*/ 2067 h 2067"/>
                  <a:gd name="T6" fmla="*/ 294 w 529"/>
                  <a:gd name="T7" fmla="*/ 2067 h 2067"/>
                  <a:gd name="T8" fmla="*/ 295 w 529"/>
                  <a:gd name="T9" fmla="*/ 1690 h 2067"/>
                  <a:gd name="T10" fmla="*/ 0 w 529"/>
                  <a:gd name="T11" fmla="*/ 1683 h 2067"/>
                  <a:gd name="T12" fmla="*/ 6 w 529"/>
                  <a:gd name="T13" fmla="*/ 1626 h 2067"/>
                  <a:gd name="T14" fmla="*/ 313 w 529"/>
                  <a:gd name="T15" fmla="*/ 1555 h 2067"/>
                  <a:gd name="T16" fmla="*/ 310 w 529"/>
                  <a:gd name="T17" fmla="*/ 493 h 2067"/>
                  <a:gd name="T18" fmla="*/ 3 w 529"/>
                  <a:gd name="T19" fmla="*/ 426 h 2067"/>
                  <a:gd name="T20" fmla="*/ 6 w 529"/>
                  <a:gd name="T21" fmla="*/ 359 h 2067"/>
                  <a:gd name="T22" fmla="*/ 295 w 529"/>
                  <a:gd name="T23" fmla="*/ 352 h 2067"/>
                  <a:gd name="T24" fmla="*/ 294 w 529"/>
                  <a:gd name="T25" fmla="*/ 0 h 206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29" h="2067">
                    <a:moveTo>
                      <a:pt x="294" y="0"/>
                    </a:moveTo>
                    <a:lnTo>
                      <a:pt x="523" y="3"/>
                    </a:lnTo>
                    <a:lnTo>
                      <a:pt x="529" y="2067"/>
                    </a:lnTo>
                    <a:lnTo>
                      <a:pt x="294" y="2067"/>
                    </a:lnTo>
                    <a:lnTo>
                      <a:pt x="295" y="1690"/>
                    </a:lnTo>
                    <a:lnTo>
                      <a:pt x="0" y="1683"/>
                    </a:lnTo>
                    <a:lnTo>
                      <a:pt x="6" y="1626"/>
                    </a:lnTo>
                    <a:lnTo>
                      <a:pt x="313" y="1555"/>
                    </a:lnTo>
                    <a:lnTo>
                      <a:pt x="310" y="493"/>
                    </a:lnTo>
                    <a:lnTo>
                      <a:pt x="3" y="426"/>
                    </a:lnTo>
                    <a:lnTo>
                      <a:pt x="6" y="359"/>
                    </a:lnTo>
                    <a:lnTo>
                      <a:pt x="295" y="352"/>
                    </a:lnTo>
                    <a:lnTo>
                      <a:pt x="2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99FF"/>
                  </a:gs>
                  <a:gs pos="50000">
                    <a:srgbClr val="87CFFF"/>
                  </a:gs>
                  <a:gs pos="100000">
                    <a:srgbClr val="0099FF"/>
                  </a:gs>
                </a:gsLst>
                <a:lin ang="5400000" scaled="1"/>
              </a:gradFill>
              <a:ln w="38100" cmpd="sng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6" name="Rectangle 21"/>
              <p:cNvSpPr>
                <a:spLocks noChangeArrowheads="1"/>
              </p:cNvSpPr>
              <p:nvPr/>
            </p:nvSpPr>
            <p:spPr bwMode="auto">
              <a:xfrm>
                <a:off x="4334" y="1938"/>
                <a:ext cx="561" cy="451"/>
              </a:xfrm>
              <a:prstGeom prst="rect">
                <a:avLst/>
              </a:prstGeom>
              <a:gradFill rotWithShape="0">
                <a:gsLst>
                  <a:gs pos="0">
                    <a:srgbClr val="33CCCC"/>
                  </a:gs>
                  <a:gs pos="50000">
                    <a:srgbClr val="7FDFDF"/>
                  </a:gs>
                  <a:gs pos="100000">
                    <a:srgbClr val="33CCCC"/>
                  </a:gs>
                </a:gsLst>
                <a:lin ang="5400000" scaled="1"/>
              </a:gradFill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18457" name="Freeform 22"/>
              <p:cNvSpPr/>
              <p:nvPr/>
            </p:nvSpPr>
            <p:spPr bwMode="auto">
              <a:xfrm>
                <a:off x="3784" y="1824"/>
                <a:ext cx="551" cy="688"/>
              </a:xfrm>
              <a:custGeom>
                <a:avLst/>
                <a:gdLst>
                  <a:gd name="T0" fmla="*/ 32 w 551"/>
                  <a:gd name="T1" fmla="*/ 0 h 688"/>
                  <a:gd name="T2" fmla="*/ 551 w 551"/>
                  <a:gd name="T3" fmla="*/ 0 h 688"/>
                  <a:gd name="T4" fmla="*/ 551 w 551"/>
                  <a:gd name="T5" fmla="*/ 685 h 688"/>
                  <a:gd name="T6" fmla="*/ 60 w 551"/>
                  <a:gd name="T7" fmla="*/ 688 h 688"/>
                  <a:gd name="T8" fmla="*/ 60 w 551"/>
                  <a:gd name="T9" fmla="*/ 584 h 688"/>
                  <a:gd name="T10" fmla="*/ 40 w 551"/>
                  <a:gd name="T11" fmla="*/ 516 h 688"/>
                  <a:gd name="T12" fmla="*/ 32 w 551"/>
                  <a:gd name="T13" fmla="*/ 472 h 688"/>
                  <a:gd name="T14" fmla="*/ 44 w 551"/>
                  <a:gd name="T15" fmla="*/ 376 h 688"/>
                  <a:gd name="T16" fmla="*/ 20 w 551"/>
                  <a:gd name="T17" fmla="*/ 296 h 688"/>
                  <a:gd name="T18" fmla="*/ 0 w 551"/>
                  <a:gd name="T19" fmla="*/ 208 h 688"/>
                  <a:gd name="T20" fmla="*/ 8 w 551"/>
                  <a:gd name="T21" fmla="*/ 120 h 688"/>
                  <a:gd name="T22" fmla="*/ 4 w 551"/>
                  <a:gd name="T23" fmla="*/ 44 h 688"/>
                  <a:gd name="T24" fmla="*/ 32 w 551"/>
                  <a:gd name="T25" fmla="*/ 0 h 68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51" h="688">
                    <a:moveTo>
                      <a:pt x="32" y="0"/>
                    </a:moveTo>
                    <a:lnTo>
                      <a:pt x="551" y="0"/>
                    </a:lnTo>
                    <a:lnTo>
                      <a:pt x="551" y="685"/>
                    </a:lnTo>
                    <a:lnTo>
                      <a:pt x="60" y="688"/>
                    </a:lnTo>
                    <a:lnTo>
                      <a:pt x="60" y="584"/>
                    </a:lnTo>
                    <a:lnTo>
                      <a:pt x="40" y="516"/>
                    </a:lnTo>
                    <a:lnTo>
                      <a:pt x="32" y="472"/>
                    </a:lnTo>
                    <a:lnTo>
                      <a:pt x="44" y="376"/>
                    </a:lnTo>
                    <a:cubicBezTo>
                      <a:pt x="11" y="343"/>
                      <a:pt x="30" y="322"/>
                      <a:pt x="20" y="296"/>
                    </a:cubicBezTo>
                    <a:lnTo>
                      <a:pt x="0" y="208"/>
                    </a:lnTo>
                    <a:lnTo>
                      <a:pt x="8" y="120"/>
                    </a:lnTo>
                    <a:lnTo>
                      <a:pt x="4" y="44"/>
                    </a:lnTo>
                    <a:lnTo>
                      <a:pt x="3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CCCC"/>
                  </a:gs>
                  <a:gs pos="50000">
                    <a:srgbClr val="67D9D9"/>
                  </a:gs>
                  <a:gs pos="100000">
                    <a:srgbClr val="33CCCC"/>
                  </a:gs>
                </a:gsLst>
                <a:lin ang="5400000" scaled="1"/>
              </a:gradFill>
              <a:ln w="19050" cmpd="sng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8" name="Rectangle 23"/>
              <p:cNvSpPr>
                <a:spLocks noChangeArrowheads="1"/>
              </p:cNvSpPr>
              <p:nvPr/>
            </p:nvSpPr>
            <p:spPr bwMode="auto">
              <a:xfrm>
                <a:off x="4333" y="1494"/>
                <a:ext cx="451" cy="442"/>
              </a:xfrm>
              <a:prstGeom prst="rect">
                <a:avLst/>
              </a:prstGeom>
              <a:gradFill rotWithShape="0">
                <a:gsLst>
                  <a:gs pos="0">
                    <a:srgbClr val="F1E3B9"/>
                  </a:gs>
                  <a:gs pos="100000">
                    <a:srgbClr val="CC9900"/>
                  </a:gs>
                </a:gsLst>
                <a:lin ang="5400000" scaled="1"/>
              </a:gradFill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18459" name="Rectangle 24"/>
              <p:cNvSpPr>
                <a:spLocks noChangeArrowheads="1"/>
              </p:cNvSpPr>
              <p:nvPr/>
            </p:nvSpPr>
            <p:spPr bwMode="auto">
              <a:xfrm>
                <a:off x="4334" y="2387"/>
                <a:ext cx="451" cy="44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CC9900"/>
                        </a:gs>
                        <a:gs pos="100000">
                          <a:srgbClr val="E6CD82"/>
                        </a:gs>
                      </a:gsLst>
                      <a:lin ang="54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18460" name="Freeform 28"/>
              <p:cNvSpPr/>
              <p:nvPr/>
            </p:nvSpPr>
            <p:spPr bwMode="auto">
              <a:xfrm>
                <a:off x="4094" y="2832"/>
                <a:ext cx="940" cy="557"/>
              </a:xfrm>
              <a:custGeom>
                <a:avLst/>
                <a:gdLst>
                  <a:gd name="T0" fmla="*/ 0 w 940"/>
                  <a:gd name="T1" fmla="*/ 547 h 557"/>
                  <a:gd name="T2" fmla="*/ 0 w 940"/>
                  <a:gd name="T3" fmla="*/ 0 h 557"/>
                  <a:gd name="T4" fmla="*/ 940 w 940"/>
                  <a:gd name="T5" fmla="*/ 0 h 557"/>
                  <a:gd name="T6" fmla="*/ 940 w 940"/>
                  <a:gd name="T7" fmla="*/ 557 h 55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40" h="557">
                    <a:moveTo>
                      <a:pt x="0" y="547"/>
                    </a:moveTo>
                    <a:lnTo>
                      <a:pt x="0" y="0"/>
                    </a:lnTo>
                    <a:lnTo>
                      <a:pt x="940" y="0"/>
                    </a:lnTo>
                    <a:lnTo>
                      <a:pt x="940" y="557"/>
                    </a:lnTo>
                  </a:path>
                </a:pathLst>
              </a:custGeom>
              <a:gradFill rotWithShape="0">
                <a:gsLst>
                  <a:gs pos="0">
                    <a:srgbClr val="CC66FF"/>
                  </a:gs>
                  <a:gs pos="100000">
                    <a:srgbClr val="E8BAFF"/>
                  </a:gs>
                </a:gsLst>
                <a:lin ang="5400000" scaled="1"/>
              </a:gradFill>
              <a:ln w="38100" cmpd="sng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1" name="Freeform 29"/>
              <p:cNvSpPr/>
              <p:nvPr/>
            </p:nvSpPr>
            <p:spPr bwMode="auto">
              <a:xfrm flipV="1">
                <a:off x="4089" y="938"/>
                <a:ext cx="940" cy="557"/>
              </a:xfrm>
              <a:custGeom>
                <a:avLst/>
                <a:gdLst>
                  <a:gd name="T0" fmla="*/ 0 w 940"/>
                  <a:gd name="T1" fmla="*/ 547 h 557"/>
                  <a:gd name="T2" fmla="*/ 0 w 940"/>
                  <a:gd name="T3" fmla="*/ 0 h 557"/>
                  <a:gd name="T4" fmla="*/ 940 w 940"/>
                  <a:gd name="T5" fmla="*/ 0 h 557"/>
                  <a:gd name="T6" fmla="*/ 940 w 940"/>
                  <a:gd name="T7" fmla="*/ 557 h 55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40" h="557">
                    <a:moveTo>
                      <a:pt x="0" y="547"/>
                    </a:moveTo>
                    <a:lnTo>
                      <a:pt x="0" y="0"/>
                    </a:lnTo>
                    <a:lnTo>
                      <a:pt x="940" y="0"/>
                    </a:lnTo>
                    <a:lnTo>
                      <a:pt x="940" y="557"/>
                    </a:lnTo>
                  </a:path>
                </a:pathLst>
              </a:custGeom>
              <a:gradFill rotWithShape="0">
                <a:gsLst>
                  <a:gs pos="0">
                    <a:srgbClr val="ECC6FF"/>
                  </a:gs>
                  <a:gs pos="100000">
                    <a:srgbClr val="CC66FF"/>
                  </a:gs>
                </a:gsLst>
                <a:lin ang="5400000" scaled="1"/>
              </a:gradFill>
              <a:ln w="38100" cmpd="sng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2" name="Rectangle 30"/>
              <p:cNvSpPr>
                <a:spLocks noChangeArrowheads="1"/>
              </p:cNvSpPr>
              <p:nvPr/>
            </p:nvSpPr>
            <p:spPr bwMode="auto">
              <a:xfrm>
                <a:off x="5260" y="1626"/>
                <a:ext cx="47" cy="1075"/>
              </a:xfrm>
              <a:prstGeom prst="rect">
                <a:avLst/>
              </a:prstGeom>
              <a:gradFill rotWithShape="0">
                <a:gsLst>
                  <a:gs pos="0">
                    <a:srgbClr val="0099FF"/>
                  </a:gs>
                  <a:gs pos="50000">
                    <a:srgbClr val="A5DBFF"/>
                  </a:gs>
                  <a:gs pos="100000">
                    <a:srgbClr val="0099FF"/>
                  </a:gs>
                </a:gsLst>
                <a:lin ang="5400000" scaled="1"/>
              </a:gradFill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18463" name="Line 31"/>
              <p:cNvSpPr>
                <a:spLocks noChangeShapeType="1"/>
              </p:cNvSpPr>
              <p:nvPr/>
            </p:nvSpPr>
            <p:spPr bwMode="auto">
              <a:xfrm>
                <a:off x="4344" y="1642"/>
                <a:ext cx="10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4" name="Line 32"/>
              <p:cNvSpPr>
                <a:spLocks noChangeShapeType="1"/>
              </p:cNvSpPr>
              <p:nvPr/>
            </p:nvSpPr>
            <p:spPr bwMode="auto">
              <a:xfrm>
                <a:off x="4670" y="1637"/>
                <a:ext cx="1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5" name="Line 34"/>
              <p:cNvSpPr>
                <a:spLocks noChangeShapeType="1"/>
              </p:cNvSpPr>
              <p:nvPr/>
            </p:nvSpPr>
            <p:spPr bwMode="auto">
              <a:xfrm>
                <a:off x="4088" y="1488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6" name="Line 35"/>
              <p:cNvSpPr>
                <a:spLocks noChangeShapeType="1"/>
              </p:cNvSpPr>
              <p:nvPr/>
            </p:nvSpPr>
            <p:spPr bwMode="auto">
              <a:xfrm flipV="1">
                <a:off x="4093" y="2509"/>
                <a:ext cx="0" cy="3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7" name="Line 36"/>
              <p:cNvSpPr>
                <a:spLocks noChangeShapeType="1"/>
              </p:cNvSpPr>
              <p:nvPr/>
            </p:nvSpPr>
            <p:spPr bwMode="auto">
              <a:xfrm flipV="1">
                <a:off x="4091" y="941"/>
                <a:ext cx="544" cy="5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8" name="Line 37"/>
              <p:cNvSpPr>
                <a:spLocks noChangeShapeType="1"/>
              </p:cNvSpPr>
              <p:nvPr/>
            </p:nvSpPr>
            <p:spPr bwMode="auto">
              <a:xfrm flipV="1">
                <a:off x="4091" y="934"/>
                <a:ext cx="346" cy="3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9" name="Line 38"/>
              <p:cNvSpPr>
                <a:spLocks noChangeShapeType="1"/>
              </p:cNvSpPr>
              <p:nvPr/>
            </p:nvSpPr>
            <p:spPr bwMode="auto">
              <a:xfrm flipV="1">
                <a:off x="4091" y="928"/>
                <a:ext cx="160" cy="1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0" name="Line 39"/>
              <p:cNvSpPr>
                <a:spLocks noChangeShapeType="1"/>
              </p:cNvSpPr>
              <p:nvPr/>
            </p:nvSpPr>
            <p:spPr bwMode="auto">
              <a:xfrm flipV="1">
                <a:off x="4290" y="947"/>
                <a:ext cx="544" cy="5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1" name="Line 40"/>
              <p:cNvSpPr>
                <a:spLocks noChangeShapeType="1"/>
              </p:cNvSpPr>
              <p:nvPr/>
            </p:nvSpPr>
            <p:spPr bwMode="auto">
              <a:xfrm flipV="1">
                <a:off x="4494" y="966"/>
                <a:ext cx="525" cy="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2" name="Line 41"/>
              <p:cNvSpPr>
                <a:spLocks noChangeShapeType="1"/>
              </p:cNvSpPr>
              <p:nvPr/>
            </p:nvSpPr>
            <p:spPr bwMode="auto">
              <a:xfrm flipV="1">
                <a:off x="4686" y="1146"/>
                <a:ext cx="345" cy="3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3" name="Line 42"/>
              <p:cNvSpPr>
                <a:spLocks noChangeShapeType="1"/>
              </p:cNvSpPr>
              <p:nvPr/>
            </p:nvSpPr>
            <p:spPr bwMode="auto">
              <a:xfrm flipV="1">
                <a:off x="4872" y="1332"/>
                <a:ext cx="159" cy="15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4" name="Line 43"/>
              <p:cNvSpPr>
                <a:spLocks noChangeShapeType="1"/>
              </p:cNvSpPr>
              <p:nvPr/>
            </p:nvSpPr>
            <p:spPr bwMode="auto">
              <a:xfrm flipV="1">
                <a:off x="4104" y="2828"/>
                <a:ext cx="167" cy="1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5" name="Line 44"/>
              <p:cNvSpPr>
                <a:spLocks noChangeShapeType="1"/>
              </p:cNvSpPr>
              <p:nvPr/>
            </p:nvSpPr>
            <p:spPr bwMode="auto">
              <a:xfrm flipV="1">
                <a:off x="4098" y="2816"/>
                <a:ext cx="385" cy="3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6" name="Line 45"/>
              <p:cNvSpPr>
                <a:spLocks noChangeShapeType="1"/>
              </p:cNvSpPr>
              <p:nvPr/>
            </p:nvSpPr>
            <p:spPr bwMode="auto">
              <a:xfrm flipV="1">
                <a:off x="4130" y="2834"/>
                <a:ext cx="538" cy="5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7" name="Line 46"/>
              <p:cNvSpPr>
                <a:spLocks noChangeShapeType="1"/>
              </p:cNvSpPr>
              <p:nvPr/>
            </p:nvSpPr>
            <p:spPr bwMode="auto">
              <a:xfrm flipV="1">
                <a:off x="4328" y="2830"/>
                <a:ext cx="537" cy="53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8" name="Line 47"/>
              <p:cNvSpPr>
                <a:spLocks noChangeShapeType="1"/>
              </p:cNvSpPr>
              <p:nvPr/>
            </p:nvSpPr>
            <p:spPr bwMode="auto">
              <a:xfrm flipV="1">
                <a:off x="4546" y="2861"/>
                <a:ext cx="487" cy="4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9" name="Line 48"/>
              <p:cNvSpPr>
                <a:spLocks noChangeShapeType="1"/>
              </p:cNvSpPr>
              <p:nvPr/>
            </p:nvSpPr>
            <p:spPr bwMode="auto">
              <a:xfrm flipV="1">
                <a:off x="4725" y="3059"/>
                <a:ext cx="301" cy="30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0" name="Line 49"/>
              <p:cNvSpPr>
                <a:spLocks noChangeShapeType="1"/>
              </p:cNvSpPr>
              <p:nvPr/>
            </p:nvSpPr>
            <p:spPr bwMode="auto">
              <a:xfrm flipV="1">
                <a:off x="4885" y="3245"/>
                <a:ext cx="140" cy="1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1" name="Line 50"/>
              <p:cNvSpPr>
                <a:spLocks noChangeShapeType="1"/>
              </p:cNvSpPr>
              <p:nvPr/>
            </p:nvSpPr>
            <p:spPr bwMode="auto">
              <a:xfrm>
                <a:off x="5057" y="1159"/>
                <a:ext cx="237" cy="23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2" name="Line 51"/>
              <p:cNvSpPr>
                <a:spLocks noChangeShapeType="1"/>
              </p:cNvSpPr>
              <p:nvPr/>
            </p:nvSpPr>
            <p:spPr bwMode="auto">
              <a:xfrm>
                <a:off x="5083" y="1369"/>
                <a:ext cx="230" cy="2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3" name="Line 52"/>
              <p:cNvSpPr>
                <a:spLocks noChangeShapeType="1"/>
              </p:cNvSpPr>
              <p:nvPr/>
            </p:nvSpPr>
            <p:spPr bwMode="auto">
              <a:xfrm>
                <a:off x="5033" y="1509"/>
                <a:ext cx="224" cy="2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4" name="Line 53"/>
              <p:cNvSpPr>
                <a:spLocks noChangeShapeType="1"/>
              </p:cNvSpPr>
              <p:nvPr/>
            </p:nvSpPr>
            <p:spPr bwMode="auto">
              <a:xfrm>
                <a:off x="4828" y="1485"/>
                <a:ext cx="115" cy="1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5" name="Line 54"/>
              <p:cNvSpPr>
                <a:spLocks noChangeShapeType="1"/>
              </p:cNvSpPr>
              <p:nvPr/>
            </p:nvSpPr>
            <p:spPr bwMode="auto">
              <a:xfrm>
                <a:off x="5090" y="1753"/>
                <a:ext cx="174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6" name="Line 55"/>
              <p:cNvSpPr>
                <a:spLocks noChangeShapeType="1"/>
              </p:cNvSpPr>
              <p:nvPr/>
            </p:nvSpPr>
            <p:spPr bwMode="auto">
              <a:xfrm>
                <a:off x="5102" y="1939"/>
                <a:ext cx="164" cy="1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7" name="Line 56"/>
              <p:cNvSpPr>
                <a:spLocks noChangeShapeType="1"/>
              </p:cNvSpPr>
              <p:nvPr/>
            </p:nvSpPr>
            <p:spPr bwMode="auto">
              <a:xfrm>
                <a:off x="5097" y="2119"/>
                <a:ext cx="167" cy="1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8" name="Line 57"/>
              <p:cNvSpPr>
                <a:spLocks noChangeShapeType="1"/>
              </p:cNvSpPr>
              <p:nvPr/>
            </p:nvSpPr>
            <p:spPr bwMode="auto">
              <a:xfrm>
                <a:off x="5083" y="2279"/>
                <a:ext cx="173" cy="1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9" name="Line 58"/>
              <p:cNvSpPr>
                <a:spLocks noChangeShapeType="1"/>
              </p:cNvSpPr>
              <p:nvPr/>
            </p:nvSpPr>
            <p:spPr bwMode="auto">
              <a:xfrm>
                <a:off x="5097" y="2465"/>
                <a:ext cx="167" cy="1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0" name="Line 59"/>
              <p:cNvSpPr>
                <a:spLocks noChangeShapeType="1"/>
              </p:cNvSpPr>
              <p:nvPr/>
            </p:nvSpPr>
            <p:spPr bwMode="auto">
              <a:xfrm>
                <a:off x="5090" y="2637"/>
                <a:ext cx="217" cy="2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1" name="Line 60"/>
              <p:cNvSpPr>
                <a:spLocks noChangeShapeType="1"/>
              </p:cNvSpPr>
              <p:nvPr/>
            </p:nvSpPr>
            <p:spPr bwMode="auto">
              <a:xfrm>
                <a:off x="4993" y="2726"/>
                <a:ext cx="320" cy="3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2" name="Line 61"/>
              <p:cNvSpPr>
                <a:spLocks noChangeShapeType="1"/>
              </p:cNvSpPr>
              <p:nvPr/>
            </p:nvSpPr>
            <p:spPr bwMode="auto">
              <a:xfrm>
                <a:off x="4833" y="2758"/>
                <a:ext cx="71" cy="7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3" name="Line 62"/>
              <p:cNvSpPr>
                <a:spLocks noChangeShapeType="1"/>
              </p:cNvSpPr>
              <p:nvPr/>
            </p:nvSpPr>
            <p:spPr bwMode="auto">
              <a:xfrm>
                <a:off x="5064" y="2982"/>
                <a:ext cx="217" cy="2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4" name="Line 63"/>
              <p:cNvSpPr>
                <a:spLocks noChangeShapeType="1"/>
              </p:cNvSpPr>
              <p:nvPr/>
            </p:nvSpPr>
            <p:spPr bwMode="auto">
              <a:xfrm>
                <a:off x="5038" y="3129"/>
                <a:ext cx="90" cy="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5" name="Line 64"/>
              <p:cNvSpPr>
                <a:spLocks noChangeShapeType="1"/>
              </p:cNvSpPr>
              <p:nvPr/>
            </p:nvSpPr>
            <p:spPr bwMode="auto">
              <a:xfrm>
                <a:off x="5192" y="1133"/>
                <a:ext cx="121" cy="1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6" name="Line 65"/>
              <p:cNvSpPr>
                <a:spLocks noChangeShapeType="1"/>
              </p:cNvSpPr>
              <p:nvPr/>
            </p:nvSpPr>
            <p:spPr bwMode="auto">
              <a:xfrm>
                <a:off x="4335" y="1786"/>
                <a:ext cx="11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7" name="Line 67"/>
              <p:cNvSpPr>
                <a:spLocks noChangeShapeType="1"/>
              </p:cNvSpPr>
              <p:nvPr/>
            </p:nvSpPr>
            <p:spPr bwMode="auto">
              <a:xfrm>
                <a:off x="4786" y="2386"/>
                <a:ext cx="5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8" name="Line 68"/>
              <p:cNvSpPr>
                <a:spLocks noChangeShapeType="1"/>
              </p:cNvSpPr>
              <p:nvPr/>
            </p:nvSpPr>
            <p:spPr bwMode="auto">
              <a:xfrm>
                <a:off x="4781" y="1933"/>
                <a:ext cx="5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9" name="Line 69"/>
              <p:cNvSpPr>
                <a:spLocks noChangeShapeType="1"/>
              </p:cNvSpPr>
              <p:nvPr/>
            </p:nvSpPr>
            <p:spPr bwMode="auto">
              <a:xfrm>
                <a:off x="4334" y="1915"/>
                <a:ext cx="0" cy="5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0" name="Line 72"/>
              <p:cNvSpPr>
                <a:spLocks noChangeShapeType="1"/>
              </p:cNvSpPr>
              <p:nvPr/>
            </p:nvSpPr>
            <p:spPr bwMode="auto">
              <a:xfrm>
                <a:off x="4665" y="1498"/>
                <a:ext cx="118" cy="11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1" name="Line 73"/>
              <p:cNvSpPr>
                <a:spLocks noChangeShapeType="1"/>
              </p:cNvSpPr>
              <p:nvPr/>
            </p:nvSpPr>
            <p:spPr bwMode="auto">
              <a:xfrm>
                <a:off x="4538" y="1501"/>
                <a:ext cx="128" cy="1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2" name="Line 74"/>
              <p:cNvSpPr>
                <a:spLocks noChangeShapeType="1"/>
              </p:cNvSpPr>
              <p:nvPr/>
            </p:nvSpPr>
            <p:spPr bwMode="auto">
              <a:xfrm>
                <a:off x="4405" y="1498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3" name="Line 75"/>
              <p:cNvSpPr>
                <a:spLocks noChangeShapeType="1"/>
              </p:cNvSpPr>
              <p:nvPr/>
            </p:nvSpPr>
            <p:spPr bwMode="auto">
              <a:xfrm>
                <a:off x="4325" y="1549"/>
                <a:ext cx="86" cy="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4" name="Line 82"/>
              <p:cNvSpPr>
                <a:spLocks noChangeShapeType="1"/>
              </p:cNvSpPr>
              <p:nvPr/>
            </p:nvSpPr>
            <p:spPr bwMode="auto">
              <a:xfrm>
                <a:off x="5054" y="2841"/>
                <a:ext cx="0" cy="371"/>
              </a:xfrm>
              <a:prstGeom prst="line">
                <a:avLst/>
              </a:prstGeom>
              <a:noFill/>
              <a:ln w="28575">
                <a:solidFill>
                  <a:srgbClr val="FFFF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5" name="Line 83"/>
              <p:cNvSpPr>
                <a:spLocks noChangeShapeType="1"/>
              </p:cNvSpPr>
              <p:nvPr/>
            </p:nvSpPr>
            <p:spPr bwMode="auto">
              <a:xfrm>
                <a:off x="5055" y="1134"/>
                <a:ext cx="0" cy="351"/>
              </a:xfrm>
              <a:prstGeom prst="line">
                <a:avLst/>
              </a:prstGeom>
              <a:noFill/>
              <a:ln w="28575">
                <a:solidFill>
                  <a:srgbClr val="FFFF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6" name="Line 84"/>
              <p:cNvSpPr>
                <a:spLocks noChangeShapeType="1"/>
              </p:cNvSpPr>
              <p:nvPr/>
            </p:nvSpPr>
            <p:spPr bwMode="auto">
              <a:xfrm flipH="1">
                <a:off x="4718" y="1315"/>
                <a:ext cx="67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7" name="Line 85"/>
              <p:cNvSpPr>
                <a:spLocks noChangeShapeType="1"/>
              </p:cNvSpPr>
              <p:nvPr/>
            </p:nvSpPr>
            <p:spPr bwMode="auto">
              <a:xfrm flipH="1">
                <a:off x="4671" y="3034"/>
                <a:ext cx="68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8" name="Line 87"/>
              <p:cNvSpPr>
                <a:spLocks noChangeShapeType="1"/>
              </p:cNvSpPr>
              <p:nvPr/>
            </p:nvSpPr>
            <p:spPr bwMode="auto">
              <a:xfrm flipH="1">
                <a:off x="5039" y="3201"/>
                <a:ext cx="39" cy="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9" name="Line 88"/>
              <p:cNvSpPr>
                <a:spLocks noChangeShapeType="1"/>
              </p:cNvSpPr>
              <p:nvPr/>
            </p:nvSpPr>
            <p:spPr bwMode="auto">
              <a:xfrm flipH="1">
                <a:off x="5031" y="1138"/>
                <a:ext cx="5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10" name="Line 89"/>
              <p:cNvSpPr>
                <a:spLocks noChangeShapeType="1"/>
              </p:cNvSpPr>
              <p:nvPr/>
            </p:nvSpPr>
            <p:spPr bwMode="auto">
              <a:xfrm>
                <a:off x="4437" y="2608"/>
                <a:ext cx="23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11" name="Line 90"/>
              <p:cNvSpPr>
                <a:spLocks noChangeShapeType="1"/>
              </p:cNvSpPr>
              <p:nvPr/>
            </p:nvSpPr>
            <p:spPr bwMode="auto">
              <a:xfrm>
                <a:off x="4554" y="2504"/>
                <a:ext cx="0" cy="24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12" name="Line 103"/>
              <p:cNvSpPr>
                <a:spLocks noChangeShapeType="1"/>
              </p:cNvSpPr>
              <p:nvPr/>
            </p:nvSpPr>
            <p:spPr bwMode="auto">
              <a:xfrm>
                <a:off x="4686" y="1783"/>
                <a:ext cx="97" cy="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13" name="Line 104"/>
              <p:cNvSpPr>
                <a:spLocks noChangeShapeType="1"/>
              </p:cNvSpPr>
              <p:nvPr/>
            </p:nvSpPr>
            <p:spPr bwMode="auto">
              <a:xfrm>
                <a:off x="4607" y="1834"/>
                <a:ext cx="104" cy="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14" name="Line 105"/>
              <p:cNvSpPr>
                <a:spLocks noChangeShapeType="1"/>
              </p:cNvSpPr>
              <p:nvPr/>
            </p:nvSpPr>
            <p:spPr bwMode="auto">
              <a:xfrm>
                <a:off x="4435" y="1786"/>
                <a:ext cx="153" cy="1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15" name="Line 106"/>
              <p:cNvSpPr>
                <a:spLocks noChangeShapeType="1"/>
              </p:cNvSpPr>
              <p:nvPr/>
            </p:nvSpPr>
            <p:spPr bwMode="auto">
              <a:xfrm>
                <a:off x="4337" y="1807"/>
                <a:ext cx="122" cy="1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16" name="Freeform 109"/>
              <p:cNvSpPr/>
              <p:nvPr/>
            </p:nvSpPr>
            <p:spPr bwMode="auto">
              <a:xfrm>
                <a:off x="4332" y="1644"/>
                <a:ext cx="450" cy="144"/>
              </a:xfrm>
              <a:custGeom>
                <a:avLst/>
                <a:gdLst>
                  <a:gd name="T0" fmla="*/ 0 w 441"/>
                  <a:gd name="T1" fmla="*/ 2 h 144"/>
                  <a:gd name="T2" fmla="*/ 456 w 441"/>
                  <a:gd name="T3" fmla="*/ 0 h 144"/>
                  <a:gd name="T4" fmla="*/ 459 w 441"/>
                  <a:gd name="T5" fmla="*/ 141 h 144"/>
                  <a:gd name="T6" fmla="*/ 0 w 441"/>
                  <a:gd name="T7" fmla="*/ 144 h 144"/>
                  <a:gd name="T8" fmla="*/ 0 w 441"/>
                  <a:gd name="T9" fmla="*/ 2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1" h="144">
                    <a:moveTo>
                      <a:pt x="0" y="2"/>
                    </a:moveTo>
                    <a:lnTo>
                      <a:pt x="438" y="0"/>
                    </a:lnTo>
                    <a:lnTo>
                      <a:pt x="441" y="141"/>
                    </a:lnTo>
                    <a:lnTo>
                      <a:pt x="0" y="144"/>
                    </a:lnTo>
                    <a:lnTo>
                      <a:pt x="0" y="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7E3FF"/>
                  </a:gs>
                  <a:gs pos="100000">
                    <a:srgbClr val="99CCFF"/>
                  </a:gs>
                </a:gsLst>
                <a:lin ang="5400000" scaled="1"/>
              </a:gradFill>
              <a:ln w="38100" cmpd="sng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17" name="Oval 79"/>
              <p:cNvSpPr>
                <a:spLocks noChangeArrowheads="1"/>
              </p:cNvSpPr>
              <p:nvPr/>
            </p:nvSpPr>
            <p:spPr bwMode="auto">
              <a:xfrm>
                <a:off x="4423" y="1583"/>
                <a:ext cx="270" cy="270"/>
              </a:xfrm>
              <a:prstGeom prst="ellipse">
                <a:avLst/>
              </a:prstGeom>
              <a:solidFill>
                <a:srgbClr val="0099FF"/>
              </a:solidFill>
              <a:ln w="381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18518" name="Line 81"/>
              <p:cNvSpPr>
                <a:spLocks noChangeShapeType="1"/>
              </p:cNvSpPr>
              <p:nvPr/>
            </p:nvSpPr>
            <p:spPr bwMode="auto">
              <a:xfrm>
                <a:off x="4559" y="1420"/>
                <a:ext cx="0" cy="6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19" name="Line 80"/>
              <p:cNvSpPr>
                <a:spLocks noChangeShapeType="1"/>
              </p:cNvSpPr>
              <p:nvPr/>
            </p:nvSpPr>
            <p:spPr bwMode="auto">
              <a:xfrm>
                <a:off x="4258" y="1720"/>
                <a:ext cx="6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454" name="Line 86"/>
            <p:cNvSpPr>
              <a:spLocks noChangeShapeType="1"/>
            </p:cNvSpPr>
            <p:nvPr/>
          </p:nvSpPr>
          <p:spPr bwMode="auto">
            <a:xfrm flipV="1">
              <a:off x="3730" y="2166"/>
              <a:ext cx="16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354" name="Group 114"/>
          <p:cNvGrpSpPr/>
          <p:nvPr/>
        </p:nvGrpSpPr>
        <p:grpSpPr bwMode="auto">
          <a:xfrm>
            <a:off x="4794250" y="1752600"/>
            <a:ext cx="2949575" cy="1728788"/>
            <a:chOff x="3020" y="1104"/>
            <a:chExt cx="1858" cy="1089"/>
          </a:xfrm>
        </p:grpSpPr>
        <p:sp>
          <p:nvSpPr>
            <p:cNvPr id="18449" name="Line 93"/>
            <p:cNvSpPr>
              <a:spLocks noChangeShapeType="1"/>
            </p:cNvSpPr>
            <p:nvPr/>
          </p:nvSpPr>
          <p:spPr bwMode="auto">
            <a:xfrm flipH="1" flipV="1">
              <a:off x="3876" y="1618"/>
              <a:ext cx="1002" cy="575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0" name="Line 94"/>
            <p:cNvSpPr>
              <a:spLocks noChangeShapeType="1"/>
            </p:cNvSpPr>
            <p:nvPr/>
          </p:nvSpPr>
          <p:spPr bwMode="auto">
            <a:xfrm flipH="1" flipV="1">
              <a:off x="3875" y="1621"/>
              <a:ext cx="484" cy="44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1" name="Line 95"/>
            <p:cNvSpPr>
              <a:spLocks noChangeShapeType="1"/>
            </p:cNvSpPr>
            <p:nvPr/>
          </p:nvSpPr>
          <p:spPr bwMode="auto">
            <a:xfrm flipH="1">
              <a:off x="3114" y="1622"/>
              <a:ext cx="77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2" name="Text Box 96"/>
            <p:cNvSpPr txBox="1">
              <a:spLocks noChangeArrowheads="1"/>
            </p:cNvSpPr>
            <p:nvPr/>
          </p:nvSpPr>
          <p:spPr bwMode="auto">
            <a:xfrm>
              <a:off x="3020" y="1104"/>
              <a:ext cx="981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倒角、退刀槽不画</a:t>
              </a:r>
              <a:endParaRPr lang="zh-CN" altLang="en-US" sz="2400">
                <a:solidFill>
                  <a:srgbClr val="FF3300"/>
                </a:solidFill>
              </a:endParaRPr>
            </a:p>
          </p:txBody>
        </p:sp>
      </p:grpSp>
      <p:grpSp>
        <p:nvGrpSpPr>
          <p:cNvPr id="10355" name="Group 115"/>
          <p:cNvGrpSpPr/>
          <p:nvPr/>
        </p:nvGrpSpPr>
        <p:grpSpPr bwMode="auto">
          <a:xfrm>
            <a:off x="7313613" y="4275138"/>
            <a:ext cx="1433512" cy="1560512"/>
            <a:chOff x="4607" y="2693"/>
            <a:chExt cx="898" cy="983"/>
          </a:xfrm>
        </p:grpSpPr>
        <p:sp>
          <p:nvSpPr>
            <p:cNvPr id="18446" name="Line 16"/>
            <p:cNvSpPr>
              <a:spLocks noChangeShapeType="1"/>
            </p:cNvSpPr>
            <p:nvPr/>
          </p:nvSpPr>
          <p:spPr bwMode="auto">
            <a:xfrm flipH="1">
              <a:off x="4632" y="3664"/>
              <a:ext cx="86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7" name="Text Box 17"/>
            <p:cNvSpPr txBox="1">
              <a:spLocks noChangeArrowheads="1"/>
            </p:cNvSpPr>
            <p:nvPr/>
          </p:nvSpPr>
          <p:spPr bwMode="auto">
            <a:xfrm>
              <a:off x="4607" y="3388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圆角不画</a:t>
              </a:r>
              <a:endParaRPr lang="zh-CN" altLang="en-US" sz="2400" b="0"/>
            </a:p>
          </p:txBody>
        </p:sp>
        <p:sp>
          <p:nvSpPr>
            <p:cNvPr id="18448" name="Line 15"/>
            <p:cNvSpPr>
              <a:spLocks noChangeShapeType="1"/>
            </p:cNvSpPr>
            <p:nvPr/>
          </p:nvSpPr>
          <p:spPr bwMode="auto">
            <a:xfrm>
              <a:off x="5260" y="2693"/>
              <a:ext cx="245" cy="97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1" grpId="0" autoUpdateAnimBg="0"/>
      <p:bldP spid="10252" grpId="0" autoUpdateAnimBg="0"/>
      <p:bldP spid="10253" grpId="0" autoUpdateAnimBg="0"/>
      <p:bldP spid="1025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228725" y="134938"/>
            <a:ext cx="6507163" cy="644525"/>
          </a:xfrm>
          <a:gradFill rotWithShape="0">
            <a:gsLst>
              <a:gs pos="0">
                <a:srgbClr val="33CCFF"/>
              </a:gs>
              <a:gs pos="50000">
                <a:schemeClr val="bg1"/>
              </a:gs>
              <a:gs pos="100000">
                <a:srgbClr val="33CCFF"/>
              </a:gs>
            </a:gsLst>
            <a:lin ang="5400000" scaled="1"/>
          </a:gradFill>
          <a:extLst>
            <a:ext uri="{91240B29-F687-4F45-9708-019B960494DF}">
              <a14:hiddenLine xmlns:a14="http://schemas.microsoft.com/office/drawing/2010/main" w="76200">
                <a:pattFill prst="smCheck">
                  <a:fgClr>
                    <a:srgbClr val="FFFF00"/>
                  </a:fgClr>
                  <a:bgClr>
                    <a:srgbClr val="FF3300"/>
                  </a:bgClr>
                </a:patt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12.3 </a:t>
            </a:r>
            <a:r>
              <a:rPr lang="zh-CN" altLang="en-US" sz="4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装配图的视图选择</a:t>
            </a:r>
            <a:endParaRPr lang="zh-CN" altLang="en-US" sz="40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2101" name="Text Box 5"/>
          <p:cNvSpPr txBox="1">
            <a:spLocks noChangeArrowheads="1"/>
          </p:cNvSpPr>
          <p:nvPr/>
        </p:nvSpPr>
        <p:spPr bwMode="auto">
          <a:xfrm>
            <a:off x="357188" y="947738"/>
            <a:ext cx="45164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1.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视图选择的要求 </a:t>
            </a:r>
            <a:endParaRPr lang="zh-CN" altLang="en-US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32102" name="Text Box 6"/>
          <p:cNvSpPr txBox="1">
            <a:spLocks noChangeArrowheads="1"/>
          </p:cNvSpPr>
          <p:nvPr/>
        </p:nvSpPr>
        <p:spPr bwMode="auto">
          <a:xfrm>
            <a:off x="592138" y="2492375"/>
            <a:ext cx="810895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</a:rPr>
              <a:t>）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完全</a:t>
            </a:r>
            <a:r>
              <a:rPr lang="zh-CN" altLang="en-US">
                <a:latin typeface="宋体" panose="02010600030101010101" pitchFamily="2" charset="-122"/>
              </a:rPr>
              <a:t> 部件的功用、工作原理、装配关系及安装关系等内容表达要完全。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2103" name="Text Box 7"/>
          <p:cNvSpPr txBox="1">
            <a:spLocks noChangeArrowheads="1"/>
          </p:cNvSpPr>
          <p:nvPr/>
        </p:nvSpPr>
        <p:spPr bwMode="auto">
          <a:xfrm>
            <a:off x="592138" y="3473450"/>
            <a:ext cx="5848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</a:rPr>
              <a:t>）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清楚 </a:t>
            </a:r>
            <a:r>
              <a:rPr lang="zh-CN" altLang="en-US">
                <a:latin typeface="宋体" panose="02010600030101010101" pitchFamily="2" charset="-122"/>
              </a:rPr>
              <a:t>读图时清楚易懂。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2104" name="Text Box 8"/>
          <p:cNvSpPr txBox="1">
            <a:spLocks noChangeArrowheads="1"/>
          </p:cNvSpPr>
          <p:nvPr/>
        </p:nvSpPr>
        <p:spPr bwMode="auto">
          <a:xfrm>
            <a:off x="449263" y="4032250"/>
            <a:ext cx="5810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2.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视图选择的步骤与方法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132105" name="Text Box 9"/>
          <p:cNvSpPr txBox="1">
            <a:spLocks noChangeArrowheads="1"/>
          </p:cNvSpPr>
          <p:nvPr/>
        </p:nvSpPr>
        <p:spPr bwMode="auto">
          <a:xfrm>
            <a:off x="0" y="4984750"/>
            <a:ext cx="3048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1</a:t>
            </a:r>
            <a:r>
              <a:rPr lang="zh-CN" altLang="en-US">
                <a:latin typeface="宋体" panose="02010600030101010101" pitchFamily="2" charset="-122"/>
              </a:rPr>
              <a:t>）部件分析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2106" name="Text Box 10"/>
          <p:cNvSpPr txBox="1">
            <a:spLocks noChangeArrowheads="1"/>
          </p:cNvSpPr>
          <p:nvPr/>
        </p:nvSpPr>
        <p:spPr bwMode="auto">
          <a:xfrm>
            <a:off x="3101975" y="4610100"/>
            <a:ext cx="2120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工作原理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2107" name="Text Box 11"/>
          <p:cNvSpPr txBox="1">
            <a:spLocks noChangeArrowheads="1"/>
          </p:cNvSpPr>
          <p:nvPr/>
        </p:nvSpPr>
        <p:spPr bwMode="auto">
          <a:xfrm>
            <a:off x="3116263" y="5324475"/>
            <a:ext cx="16970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结  构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2108" name="Text Box 12"/>
          <p:cNvSpPr txBox="1">
            <a:spLocks noChangeArrowheads="1"/>
          </p:cNvSpPr>
          <p:nvPr/>
        </p:nvSpPr>
        <p:spPr bwMode="auto">
          <a:xfrm>
            <a:off x="5010150" y="4781550"/>
            <a:ext cx="24526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配合关系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2109" name="Text Box 13"/>
          <p:cNvSpPr txBox="1">
            <a:spLocks noChangeArrowheads="1"/>
          </p:cNvSpPr>
          <p:nvPr/>
        </p:nvSpPr>
        <p:spPr bwMode="auto">
          <a:xfrm>
            <a:off x="5010150" y="5265738"/>
            <a:ext cx="30099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连接固定关系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2110" name="Text Box 14"/>
          <p:cNvSpPr txBox="1">
            <a:spLocks noChangeArrowheads="1"/>
          </p:cNvSpPr>
          <p:nvPr/>
        </p:nvSpPr>
        <p:spPr bwMode="auto">
          <a:xfrm>
            <a:off x="5010150" y="5751513"/>
            <a:ext cx="32416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相对位置关系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2111" name="Text Box 15"/>
          <p:cNvSpPr txBox="1">
            <a:spLocks noChangeArrowheads="1"/>
          </p:cNvSpPr>
          <p:nvPr/>
        </p:nvSpPr>
        <p:spPr bwMode="auto">
          <a:xfrm>
            <a:off x="592138" y="1511300"/>
            <a:ext cx="8551862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</a:rPr>
              <a:t>）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正确</a:t>
            </a:r>
            <a:r>
              <a:rPr lang="zh-CN" altLang="en-US">
                <a:latin typeface="宋体" panose="02010600030101010101" pitchFamily="2" charset="-122"/>
              </a:rPr>
              <a:t> 视图、剖视、规定画法及装配关系等的表示方法正确，符合国家标准的规定。 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2112" name="AutoShape 16"/>
          <p:cNvSpPr/>
          <p:nvPr/>
        </p:nvSpPr>
        <p:spPr bwMode="auto">
          <a:xfrm>
            <a:off x="2979738" y="4876800"/>
            <a:ext cx="198437" cy="762000"/>
          </a:xfrm>
          <a:prstGeom prst="leftBrace">
            <a:avLst>
              <a:gd name="adj1" fmla="val 32000"/>
              <a:gd name="adj2" fmla="val 52708"/>
            </a:avLst>
          </a:prstGeom>
          <a:noFill/>
          <a:ln w="28575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  <p:sp>
        <p:nvSpPr>
          <p:cNvPr id="132113" name="AutoShape 17"/>
          <p:cNvSpPr/>
          <p:nvPr/>
        </p:nvSpPr>
        <p:spPr bwMode="auto">
          <a:xfrm>
            <a:off x="4868863" y="5067300"/>
            <a:ext cx="198437" cy="1050925"/>
          </a:xfrm>
          <a:prstGeom prst="leftBrace">
            <a:avLst>
              <a:gd name="adj1" fmla="val 44133"/>
              <a:gd name="adj2" fmla="val 50000"/>
            </a:avLst>
          </a:prstGeom>
          <a:noFill/>
          <a:ln w="28575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3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3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3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3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13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13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13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1" grpId="0" autoUpdateAnimBg="0"/>
      <p:bldP spid="132102" grpId="0" autoUpdateAnimBg="0"/>
      <p:bldP spid="132103" grpId="0" autoUpdateAnimBg="0"/>
      <p:bldP spid="132104" grpId="0" autoUpdateAnimBg="0"/>
      <p:bldP spid="132105" grpId="0" autoUpdateAnimBg="0"/>
      <p:bldP spid="132106" grpId="0" autoUpdateAnimBg="0"/>
      <p:bldP spid="132107" grpId="0" autoUpdateAnimBg="0"/>
      <p:bldP spid="132108" grpId="0" autoUpdateAnimBg="0"/>
      <p:bldP spid="132109" grpId="0" autoUpdateAnimBg="0"/>
      <p:bldP spid="132110" grpId="0" autoUpdateAnimBg="0"/>
      <p:bldP spid="13211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Text Box 7171"/>
          <p:cNvSpPr txBox="1">
            <a:spLocks noChangeArrowheads="1"/>
          </p:cNvSpPr>
          <p:nvPr/>
        </p:nvSpPr>
        <p:spPr bwMode="auto">
          <a:xfrm>
            <a:off x="517525" y="1397000"/>
            <a:ext cx="8101013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    </a:t>
            </a:r>
            <a:r>
              <a:rPr lang="zh-CN" altLang="en-US" sz="2800">
                <a:latin typeface="宋体" panose="02010600030101010101" pitchFamily="2" charset="-122"/>
              </a:rPr>
              <a:t>滑动轴承是用来支撑轴及轴上零件的一种装置。轴的两端分别装入滑动轴承的轴孔中转动，以传递扭矩。</a:t>
            </a:r>
            <a:endParaRPr lang="zh-CN" altLang="en-US" sz="2800" b="0">
              <a:latin typeface="宋体" panose="02010600030101010101" pitchFamily="2" charset="-122"/>
            </a:endParaRPr>
          </a:p>
        </p:txBody>
      </p:sp>
      <p:sp>
        <p:nvSpPr>
          <p:cNvPr id="49156" name="Text Box 7172"/>
          <p:cNvSpPr txBox="1">
            <a:spLocks noChangeArrowheads="1"/>
          </p:cNvSpPr>
          <p:nvPr/>
        </p:nvSpPr>
        <p:spPr bwMode="auto">
          <a:xfrm>
            <a:off x="498475" y="830263"/>
            <a:ext cx="2844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⑴ 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工作原理：</a:t>
            </a:r>
            <a:endParaRPr lang="zh-CN" altLang="en-US" b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1508" name="Text Box 7174"/>
          <p:cNvSpPr txBox="1">
            <a:spLocks noChangeArrowheads="1"/>
          </p:cNvSpPr>
          <p:nvPr/>
        </p:nvSpPr>
        <p:spPr bwMode="auto">
          <a:xfrm>
            <a:off x="517525" y="271463"/>
            <a:ext cx="50244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例：如图所示的滑动轴承</a:t>
            </a:r>
            <a:endParaRPr lang="zh-CN" altLang="en-US">
              <a:latin typeface="宋体" panose="02010600030101010101" pitchFamily="2" charset="-122"/>
            </a:endParaRPr>
          </a:p>
        </p:txBody>
      </p:sp>
      <p:pic>
        <p:nvPicPr>
          <p:cNvPr id="21509" name="Picture 7176" descr="10-13cc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7" t="2409" r="22989" b="4218"/>
          <a:stretch>
            <a:fillRect/>
          </a:stretch>
        </p:blipFill>
        <p:spPr bwMode="auto">
          <a:xfrm>
            <a:off x="2571750" y="2895600"/>
            <a:ext cx="40767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Text Box 7177"/>
          <p:cNvSpPr txBox="1">
            <a:spLocks noChangeArrowheads="1"/>
          </p:cNvSpPr>
          <p:nvPr/>
        </p:nvSpPr>
        <p:spPr bwMode="auto">
          <a:xfrm>
            <a:off x="4224338" y="5511800"/>
            <a:ext cx="1809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滑动轴承</a:t>
            </a:r>
            <a:endParaRPr lang="zh-CN" altLang="en-US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utoUpdateAnimBg="0"/>
      <p:bldP spid="4915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65" descr="10-13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3" t="5421" r="26437" b="6024"/>
          <a:stretch>
            <a:fillRect/>
          </a:stretch>
        </p:blipFill>
        <p:spPr bwMode="auto">
          <a:xfrm>
            <a:off x="1504950" y="1577975"/>
            <a:ext cx="5486400" cy="417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3061" name="Group 53"/>
          <p:cNvGrpSpPr/>
          <p:nvPr/>
        </p:nvGrpSpPr>
        <p:grpSpPr bwMode="auto">
          <a:xfrm>
            <a:off x="4705350" y="3505200"/>
            <a:ext cx="1544638" cy="1108075"/>
            <a:chOff x="3708" y="1848"/>
            <a:chExt cx="973" cy="698"/>
          </a:xfrm>
        </p:grpSpPr>
        <p:sp>
          <p:nvSpPr>
            <p:cNvPr id="22554" name="Text Box 14"/>
            <p:cNvSpPr txBox="1">
              <a:spLocks noChangeArrowheads="1"/>
            </p:cNvSpPr>
            <p:nvPr/>
          </p:nvSpPr>
          <p:spPr bwMode="auto">
            <a:xfrm>
              <a:off x="3890" y="2258"/>
              <a:ext cx="7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上轴衬</a:t>
              </a:r>
              <a:r>
                <a:rPr lang="en-US" altLang="zh-CN" sz="2400">
                  <a:solidFill>
                    <a:schemeClr val="accent2"/>
                  </a:solidFill>
                </a:rPr>
                <a:t>3</a:t>
              </a:r>
              <a:endParaRPr lang="en-US" altLang="zh-CN" sz="2400">
                <a:solidFill>
                  <a:schemeClr val="accent2"/>
                </a:solidFill>
              </a:endParaRPr>
            </a:p>
          </p:txBody>
        </p:sp>
        <p:sp>
          <p:nvSpPr>
            <p:cNvPr id="22555" name="Line 15"/>
            <p:cNvSpPr>
              <a:spLocks noChangeShapeType="1"/>
            </p:cNvSpPr>
            <p:nvPr/>
          </p:nvSpPr>
          <p:spPr bwMode="auto">
            <a:xfrm>
              <a:off x="3708" y="1848"/>
              <a:ext cx="264" cy="52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74" name="Group 66"/>
          <p:cNvGrpSpPr/>
          <p:nvPr/>
        </p:nvGrpSpPr>
        <p:grpSpPr bwMode="auto">
          <a:xfrm>
            <a:off x="6724650" y="3013075"/>
            <a:ext cx="1181100" cy="815975"/>
            <a:chOff x="4236" y="2186"/>
            <a:chExt cx="744" cy="514"/>
          </a:xfrm>
        </p:grpSpPr>
        <p:sp>
          <p:nvSpPr>
            <p:cNvPr id="22552" name="Line 21"/>
            <p:cNvSpPr>
              <a:spLocks noChangeShapeType="1"/>
            </p:cNvSpPr>
            <p:nvPr/>
          </p:nvSpPr>
          <p:spPr bwMode="auto">
            <a:xfrm flipH="1">
              <a:off x="4236" y="2424"/>
              <a:ext cx="276" cy="27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3" name="Text Box 23"/>
            <p:cNvSpPr txBox="1">
              <a:spLocks noChangeArrowheads="1"/>
            </p:cNvSpPr>
            <p:nvPr/>
          </p:nvSpPr>
          <p:spPr bwMode="auto">
            <a:xfrm>
              <a:off x="4382" y="2186"/>
              <a:ext cx="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螺柱</a:t>
              </a:r>
              <a:r>
                <a:rPr lang="en-US" altLang="zh-CN" sz="2400">
                  <a:solidFill>
                    <a:schemeClr val="accent2"/>
                  </a:solidFill>
                </a:rPr>
                <a:t>7</a:t>
              </a:r>
              <a:endParaRPr lang="en-US" altLang="zh-CN" sz="2400">
                <a:solidFill>
                  <a:schemeClr val="accent2"/>
                </a:solidFill>
              </a:endParaRPr>
            </a:p>
          </p:txBody>
        </p:sp>
      </p:grpSp>
      <p:grpSp>
        <p:nvGrpSpPr>
          <p:cNvPr id="43058" name="Group 50"/>
          <p:cNvGrpSpPr/>
          <p:nvPr/>
        </p:nvGrpSpPr>
        <p:grpSpPr bwMode="auto">
          <a:xfrm>
            <a:off x="1050925" y="4000500"/>
            <a:ext cx="1255713" cy="860425"/>
            <a:chOff x="1910" y="2112"/>
            <a:chExt cx="791" cy="542"/>
          </a:xfrm>
        </p:grpSpPr>
        <p:sp>
          <p:nvSpPr>
            <p:cNvPr id="22550" name="Text Box 8"/>
            <p:cNvSpPr txBox="1">
              <a:spLocks noChangeArrowheads="1"/>
            </p:cNvSpPr>
            <p:nvPr/>
          </p:nvSpPr>
          <p:spPr bwMode="auto">
            <a:xfrm>
              <a:off x="1910" y="2366"/>
              <a:ext cx="7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轴承座</a:t>
              </a:r>
              <a:r>
                <a:rPr lang="en-US" altLang="zh-CN" sz="2400">
                  <a:solidFill>
                    <a:schemeClr val="accent2"/>
                  </a:solidFill>
                </a:rPr>
                <a:t>1</a:t>
              </a:r>
              <a:endParaRPr lang="en-US" altLang="zh-CN" sz="2400">
                <a:solidFill>
                  <a:schemeClr val="accent2"/>
                </a:solidFill>
              </a:endParaRPr>
            </a:p>
          </p:txBody>
        </p:sp>
        <p:sp>
          <p:nvSpPr>
            <p:cNvPr id="22551" name="Line 9"/>
            <p:cNvSpPr>
              <a:spLocks noChangeShapeType="1"/>
            </p:cNvSpPr>
            <p:nvPr/>
          </p:nvSpPr>
          <p:spPr bwMode="auto">
            <a:xfrm flipH="1">
              <a:off x="2328" y="2112"/>
              <a:ext cx="180" cy="28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60" name="Group 52"/>
          <p:cNvGrpSpPr/>
          <p:nvPr/>
        </p:nvGrpSpPr>
        <p:grpSpPr bwMode="auto">
          <a:xfrm>
            <a:off x="5092700" y="3181350"/>
            <a:ext cx="1255713" cy="993775"/>
            <a:chOff x="3940" y="1644"/>
            <a:chExt cx="791" cy="626"/>
          </a:xfrm>
        </p:grpSpPr>
        <p:sp>
          <p:nvSpPr>
            <p:cNvPr id="22548" name="Text Box 17"/>
            <p:cNvSpPr txBox="1">
              <a:spLocks noChangeArrowheads="1"/>
            </p:cNvSpPr>
            <p:nvPr/>
          </p:nvSpPr>
          <p:spPr bwMode="auto">
            <a:xfrm>
              <a:off x="3940" y="1982"/>
              <a:ext cx="7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轴承盖</a:t>
              </a:r>
              <a:r>
                <a:rPr lang="en-US" altLang="zh-CN" sz="2400">
                  <a:solidFill>
                    <a:schemeClr val="accent2"/>
                  </a:solidFill>
                </a:rPr>
                <a:t>4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22549" name="Line 18"/>
            <p:cNvSpPr>
              <a:spLocks noChangeShapeType="1"/>
            </p:cNvSpPr>
            <p:nvPr/>
          </p:nvSpPr>
          <p:spPr bwMode="auto">
            <a:xfrm>
              <a:off x="4038" y="1644"/>
              <a:ext cx="204" cy="42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65" name="Group 57"/>
          <p:cNvGrpSpPr/>
          <p:nvPr/>
        </p:nvGrpSpPr>
        <p:grpSpPr bwMode="auto">
          <a:xfrm>
            <a:off x="3413125" y="1641475"/>
            <a:ext cx="949325" cy="1235075"/>
            <a:chOff x="3074" y="830"/>
            <a:chExt cx="598" cy="778"/>
          </a:xfrm>
        </p:grpSpPr>
        <p:sp>
          <p:nvSpPr>
            <p:cNvPr id="22546" name="Text Box 29"/>
            <p:cNvSpPr txBox="1">
              <a:spLocks noChangeArrowheads="1"/>
            </p:cNvSpPr>
            <p:nvPr/>
          </p:nvSpPr>
          <p:spPr bwMode="auto">
            <a:xfrm>
              <a:off x="3074" y="830"/>
              <a:ext cx="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销套</a:t>
              </a:r>
              <a:r>
                <a:rPr lang="en-US" altLang="zh-CN" sz="2400">
                  <a:solidFill>
                    <a:schemeClr val="accent2"/>
                  </a:solidFill>
                </a:rPr>
                <a:t>5</a:t>
              </a:r>
              <a:endParaRPr lang="en-US" altLang="zh-CN" sz="2400">
                <a:solidFill>
                  <a:schemeClr val="accent2"/>
                </a:solidFill>
              </a:endParaRPr>
            </a:p>
          </p:txBody>
        </p:sp>
        <p:sp>
          <p:nvSpPr>
            <p:cNvPr id="22547" name="Line 30"/>
            <p:cNvSpPr>
              <a:spLocks noChangeShapeType="1"/>
            </p:cNvSpPr>
            <p:nvPr/>
          </p:nvSpPr>
          <p:spPr bwMode="auto">
            <a:xfrm flipV="1">
              <a:off x="3144" y="1068"/>
              <a:ext cx="288" cy="54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76" name="Group 68"/>
          <p:cNvGrpSpPr/>
          <p:nvPr/>
        </p:nvGrpSpPr>
        <p:grpSpPr bwMode="auto">
          <a:xfrm>
            <a:off x="6800850" y="2403475"/>
            <a:ext cx="1123950" cy="530225"/>
            <a:chOff x="4284" y="1802"/>
            <a:chExt cx="708" cy="334"/>
          </a:xfrm>
        </p:grpSpPr>
        <p:sp>
          <p:nvSpPr>
            <p:cNvPr id="22544" name="Text Box 20"/>
            <p:cNvSpPr txBox="1">
              <a:spLocks noChangeArrowheads="1"/>
            </p:cNvSpPr>
            <p:nvPr/>
          </p:nvSpPr>
          <p:spPr bwMode="auto">
            <a:xfrm>
              <a:off x="4394" y="1802"/>
              <a:ext cx="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垫圈</a:t>
              </a:r>
              <a:r>
                <a:rPr lang="en-US" altLang="zh-CN" sz="2400">
                  <a:solidFill>
                    <a:schemeClr val="accent2"/>
                  </a:solidFill>
                </a:rPr>
                <a:t>6</a:t>
              </a:r>
              <a:endParaRPr lang="en-US" altLang="zh-CN" sz="2400">
                <a:solidFill>
                  <a:schemeClr val="accent2"/>
                </a:solidFill>
              </a:endParaRPr>
            </a:p>
          </p:txBody>
        </p:sp>
        <p:sp>
          <p:nvSpPr>
            <p:cNvPr id="22545" name="Line 24"/>
            <p:cNvSpPr>
              <a:spLocks noChangeShapeType="1"/>
            </p:cNvSpPr>
            <p:nvPr/>
          </p:nvSpPr>
          <p:spPr bwMode="auto">
            <a:xfrm flipH="1">
              <a:off x="4284" y="1944"/>
              <a:ext cx="192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75" name="Group 67"/>
          <p:cNvGrpSpPr/>
          <p:nvPr/>
        </p:nvGrpSpPr>
        <p:grpSpPr bwMode="auto">
          <a:xfrm>
            <a:off x="6781800" y="1774825"/>
            <a:ext cx="1143000" cy="606425"/>
            <a:chOff x="4272" y="1406"/>
            <a:chExt cx="720" cy="382"/>
          </a:xfrm>
        </p:grpSpPr>
        <p:sp>
          <p:nvSpPr>
            <p:cNvPr id="22542" name="Text Box 26"/>
            <p:cNvSpPr txBox="1">
              <a:spLocks noChangeArrowheads="1"/>
            </p:cNvSpPr>
            <p:nvPr/>
          </p:nvSpPr>
          <p:spPr bwMode="auto">
            <a:xfrm>
              <a:off x="4394" y="1406"/>
              <a:ext cx="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螺母</a:t>
              </a:r>
              <a:r>
                <a:rPr lang="en-US" altLang="zh-CN" sz="2400">
                  <a:solidFill>
                    <a:schemeClr val="accent2"/>
                  </a:solidFill>
                </a:rPr>
                <a:t>8</a:t>
              </a:r>
              <a:endParaRPr lang="en-US" altLang="zh-CN" sz="2400">
                <a:solidFill>
                  <a:schemeClr val="accent2"/>
                </a:solidFill>
              </a:endParaRPr>
            </a:p>
          </p:txBody>
        </p:sp>
        <p:sp>
          <p:nvSpPr>
            <p:cNvPr id="22543" name="Line 27"/>
            <p:cNvSpPr>
              <a:spLocks noChangeShapeType="1"/>
            </p:cNvSpPr>
            <p:nvPr/>
          </p:nvSpPr>
          <p:spPr bwMode="auto">
            <a:xfrm flipH="1">
              <a:off x="4272" y="1548"/>
              <a:ext cx="240" cy="24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38" name="Text Box 59"/>
          <p:cNvSpPr txBox="1">
            <a:spLocks noChangeArrowheads="1"/>
          </p:cNvSpPr>
          <p:nvPr/>
        </p:nvSpPr>
        <p:spPr bwMode="auto">
          <a:xfrm>
            <a:off x="288925" y="411163"/>
            <a:ext cx="2428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⑵ 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结构分析</a:t>
            </a:r>
            <a:endParaRPr lang="zh-CN" altLang="en-US" sz="24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grpSp>
        <p:nvGrpSpPr>
          <p:cNvPr id="43059" name="Group 51"/>
          <p:cNvGrpSpPr/>
          <p:nvPr/>
        </p:nvGrpSpPr>
        <p:grpSpPr bwMode="auto">
          <a:xfrm>
            <a:off x="2460625" y="4324350"/>
            <a:ext cx="1255713" cy="1089025"/>
            <a:chOff x="2690" y="2376"/>
            <a:chExt cx="791" cy="686"/>
          </a:xfrm>
        </p:grpSpPr>
        <p:sp>
          <p:nvSpPr>
            <p:cNvPr id="22540" name="Text Box 11"/>
            <p:cNvSpPr txBox="1">
              <a:spLocks noChangeArrowheads="1"/>
            </p:cNvSpPr>
            <p:nvPr/>
          </p:nvSpPr>
          <p:spPr bwMode="auto">
            <a:xfrm>
              <a:off x="2690" y="2774"/>
              <a:ext cx="7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下轴衬</a:t>
              </a:r>
              <a:r>
                <a:rPr lang="en-US" altLang="zh-CN" sz="2400">
                  <a:solidFill>
                    <a:schemeClr val="accent2"/>
                  </a:solidFill>
                </a:rPr>
                <a:t>2</a:t>
              </a:r>
              <a:endParaRPr lang="en-US" altLang="zh-CN" sz="2400" b="0"/>
            </a:p>
          </p:txBody>
        </p:sp>
        <p:sp>
          <p:nvSpPr>
            <p:cNvPr id="22541" name="Line 12"/>
            <p:cNvSpPr>
              <a:spLocks noChangeShapeType="1"/>
            </p:cNvSpPr>
            <p:nvPr/>
          </p:nvSpPr>
          <p:spPr bwMode="auto">
            <a:xfrm>
              <a:off x="2952" y="2376"/>
              <a:ext cx="156" cy="40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4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131" descr="10-14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62" t="4819" r="29884" b="603"/>
          <a:stretch>
            <a:fillRect/>
          </a:stretch>
        </p:blipFill>
        <p:spPr bwMode="auto">
          <a:xfrm>
            <a:off x="3771900" y="498475"/>
            <a:ext cx="4229100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Text Box 6"/>
          <p:cNvSpPr txBox="1">
            <a:spLocks noChangeArrowheads="1"/>
          </p:cNvSpPr>
          <p:nvPr/>
        </p:nvSpPr>
        <p:spPr bwMode="auto">
          <a:xfrm>
            <a:off x="288925" y="215900"/>
            <a:ext cx="26320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① 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装配关系</a:t>
            </a:r>
            <a:endParaRPr lang="zh-CN" altLang="en-US" sz="2400" b="0">
              <a:latin typeface="宋体" panose="02010600030101010101" pitchFamily="2" charset="-122"/>
            </a:endParaRPr>
          </a:p>
        </p:txBody>
      </p:sp>
      <p:sp>
        <p:nvSpPr>
          <p:cNvPr id="33831" name="Text Box 39"/>
          <p:cNvSpPr txBox="1">
            <a:spLocks noChangeArrowheads="1"/>
          </p:cNvSpPr>
          <p:nvPr/>
        </p:nvSpPr>
        <p:spPr bwMode="auto">
          <a:xfrm>
            <a:off x="606425" y="1258888"/>
            <a:ext cx="309245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    </a:t>
            </a:r>
            <a:r>
              <a:rPr lang="zh-CN" altLang="en-US" sz="2800">
                <a:latin typeface="宋体" panose="02010600030101010101" pitchFamily="2" charset="-122"/>
              </a:rPr>
              <a:t>轴承座上的凹槽与轴承盖下的凸起配合定位。</a:t>
            </a: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33832" name="Text Box 40"/>
          <p:cNvSpPr txBox="1">
            <a:spLocks noChangeArrowheads="1"/>
          </p:cNvSpPr>
          <p:nvPr/>
        </p:nvSpPr>
        <p:spPr bwMode="auto">
          <a:xfrm>
            <a:off x="517525" y="749300"/>
            <a:ext cx="3221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☆ 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轴承座与轴承盖</a:t>
            </a: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33833" name="Text Box 41"/>
          <p:cNvSpPr txBox="1">
            <a:spLocks noChangeArrowheads="1"/>
          </p:cNvSpPr>
          <p:nvPr/>
        </p:nvSpPr>
        <p:spPr bwMode="auto">
          <a:xfrm>
            <a:off x="517525" y="2611438"/>
            <a:ext cx="3638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☆ 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轴衬与轴承座孔</a:t>
            </a:r>
            <a:endParaRPr lang="zh-CN" altLang="en-US" sz="28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33834" name="Text Box 42"/>
          <p:cNvSpPr txBox="1">
            <a:spLocks noChangeArrowheads="1"/>
          </p:cNvSpPr>
          <p:nvPr/>
        </p:nvSpPr>
        <p:spPr bwMode="auto">
          <a:xfrm>
            <a:off x="1470025" y="3125788"/>
            <a:ext cx="23463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轴衬两端凸缘定位。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3835" name="Text Box 43"/>
          <p:cNvSpPr txBox="1">
            <a:spLocks noChangeArrowheads="1"/>
          </p:cNvSpPr>
          <p:nvPr/>
        </p:nvSpPr>
        <p:spPr bwMode="auto">
          <a:xfrm>
            <a:off x="1450975" y="3944938"/>
            <a:ext cx="27336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轴衬外表面配合及销套定位。 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grpSp>
        <p:nvGrpSpPr>
          <p:cNvPr id="23561" name="Group 130"/>
          <p:cNvGrpSpPr/>
          <p:nvPr/>
        </p:nvGrpSpPr>
        <p:grpSpPr bwMode="auto">
          <a:xfrm>
            <a:off x="5314950" y="4343400"/>
            <a:ext cx="1563688" cy="631825"/>
            <a:chOff x="3348" y="2736"/>
            <a:chExt cx="985" cy="398"/>
          </a:xfrm>
        </p:grpSpPr>
        <p:sp>
          <p:nvSpPr>
            <p:cNvPr id="23589" name="Text Box 79"/>
            <p:cNvSpPr txBox="1">
              <a:spLocks noChangeArrowheads="1"/>
            </p:cNvSpPr>
            <p:nvPr/>
          </p:nvSpPr>
          <p:spPr bwMode="auto">
            <a:xfrm>
              <a:off x="3542" y="2846"/>
              <a:ext cx="7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轴承座</a:t>
              </a:r>
              <a:r>
                <a:rPr lang="en-US" altLang="zh-CN" sz="2400">
                  <a:solidFill>
                    <a:schemeClr val="accent2"/>
                  </a:solidFill>
                </a:rPr>
                <a:t>1</a:t>
              </a:r>
              <a:endParaRPr lang="en-US" altLang="zh-CN" sz="2400">
                <a:solidFill>
                  <a:schemeClr val="accent2"/>
                </a:solidFill>
              </a:endParaRPr>
            </a:p>
          </p:txBody>
        </p:sp>
        <p:sp>
          <p:nvSpPr>
            <p:cNvPr id="23590" name="Line 80"/>
            <p:cNvSpPr>
              <a:spLocks noChangeShapeType="1"/>
            </p:cNvSpPr>
            <p:nvPr/>
          </p:nvSpPr>
          <p:spPr bwMode="auto">
            <a:xfrm>
              <a:off x="3348" y="2736"/>
              <a:ext cx="264" cy="26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562" name="Group 129"/>
          <p:cNvGrpSpPr/>
          <p:nvPr/>
        </p:nvGrpSpPr>
        <p:grpSpPr bwMode="auto">
          <a:xfrm>
            <a:off x="6457950" y="4000500"/>
            <a:ext cx="1677988" cy="898525"/>
            <a:chOff x="4068" y="2520"/>
            <a:chExt cx="1057" cy="566"/>
          </a:xfrm>
        </p:grpSpPr>
        <p:sp>
          <p:nvSpPr>
            <p:cNvPr id="23587" name="Text Box 82"/>
            <p:cNvSpPr txBox="1">
              <a:spLocks noChangeArrowheads="1"/>
            </p:cNvSpPr>
            <p:nvPr/>
          </p:nvSpPr>
          <p:spPr bwMode="auto">
            <a:xfrm>
              <a:off x="4334" y="2798"/>
              <a:ext cx="7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下轴衬</a:t>
              </a:r>
              <a:r>
                <a:rPr lang="en-US" altLang="zh-CN" sz="2400">
                  <a:solidFill>
                    <a:schemeClr val="accent2"/>
                  </a:solidFill>
                </a:rPr>
                <a:t>2</a:t>
              </a:r>
              <a:endParaRPr lang="en-US" altLang="zh-CN" sz="2400" b="0"/>
            </a:p>
          </p:txBody>
        </p:sp>
        <p:sp>
          <p:nvSpPr>
            <p:cNvPr id="23588" name="Line 83"/>
            <p:cNvSpPr>
              <a:spLocks noChangeShapeType="1"/>
            </p:cNvSpPr>
            <p:nvPr/>
          </p:nvSpPr>
          <p:spPr bwMode="auto">
            <a:xfrm>
              <a:off x="4068" y="2520"/>
              <a:ext cx="348" cy="34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563" name="Group 123"/>
          <p:cNvGrpSpPr/>
          <p:nvPr/>
        </p:nvGrpSpPr>
        <p:grpSpPr bwMode="auto">
          <a:xfrm>
            <a:off x="5695950" y="479425"/>
            <a:ext cx="1104900" cy="587375"/>
            <a:chOff x="3696" y="266"/>
            <a:chExt cx="696" cy="370"/>
          </a:xfrm>
        </p:grpSpPr>
        <p:sp>
          <p:nvSpPr>
            <p:cNvPr id="23585" name="Text Box 88"/>
            <p:cNvSpPr txBox="1">
              <a:spLocks noChangeArrowheads="1"/>
            </p:cNvSpPr>
            <p:nvPr/>
          </p:nvSpPr>
          <p:spPr bwMode="auto">
            <a:xfrm>
              <a:off x="3794" y="266"/>
              <a:ext cx="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销套</a:t>
              </a:r>
              <a:r>
                <a:rPr lang="en-US" altLang="zh-CN" sz="2400">
                  <a:solidFill>
                    <a:schemeClr val="accent2"/>
                  </a:solidFill>
                </a:rPr>
                <a:t>5</a:t>
              </a:r>
              <a:endParaRPr lang="en-US" altLang="zh-CN" sz="2400">
                <a:solidFill>
                  <a:schemeClr val="accent2"/>
                </a:solidFill>
              </a:endParaRPr>
            </a:p>
          </p:txBody>
        </p:sp>
        <p:sp>
          <p:nvSpPr>
            <p:cNvPr id="23586" name="Line 89"/>
            <p:cNvSpPr>
              <a:spLocks noChangeShapeType="1"/>
            </p:cNvSpPr>
            <p:nvPr/>
          </p:nvSpPr>
          <p:spPr bwMode="auto">
            <a:xfrm flipV="1">
              <a:off x="3696" y="444"/>
              <a:ext cx="180" cy="19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564" name="Group 125"/>
          <p:cNvGrpSpPr/>
          <p:nvPr/>
        </p:nvGrpSpPr>
        <p:grpSpPr bwMode="auto">
          <a:xfrm>
            <a:off x="7505700" y="1050925"/>
            <a:ext cx="1123950" cy="492125"/>
            <a:chOff x="4728" y="662"/>
            <a:chExt cx="708" cy="310"/>
          </a:xfrm>
        </p:grpSpPr>
        <p:sp>
          <p:nvSpPr>
            <p:cNvPr id="23583" name="Text Box 91"/>
            <p:cNvSpPr txBox="1">
              <a:spLocks noChangeArrowheads="1"/>
            </p:cNvSpPr>
            <p:nvPr/>
          </p:nvSpPr>
          <p:spPr bwMode="auto">
            <a:xfrm>
              <a:off x="4838" y="662"/>
              <a:ext cx="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垫圈</a:t>
              </a:r>
              <a:r>
                <a:rPr lang="en-US" altLang="zh-CN" sz="2400">
                  <a:solidFill>
                    <a:schemeClr val="accent2"/>
                  </a:solidFill>
                </a:rPr>
                <a:t>6</a:t>
              </a:r>
              <a:endParaRPr lang="en-US" altLang="zh-CN" sz="2400">
                <a:solidFill>
                  <a:schemeClr val="accent2"/>
                </a:solidFill>
              </a:endParaRPr>
            </a:p>
          </p:txBody>
        </p:sp>
        <p:sp>
          <p:nvSpPr>
            <p:cNvPr id="23584" name="Line 92"/>
            <p:cNvSpPr>
              <a:spLocks noChangeShapeType="1"/>
            </p:cNvSpPr>
            <p:nvPr/>
          </p:nvSpPr>
          <p:spPr bwMode="auto">
            <a:xfrm flipH="1">
              <a:off x="4728" y="804"/>
              <a:ext cx="192" cy="16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565" name="Group 124"/>
          <p:cNvGrpSpPr/>
          <p:nvPr/>
        </p:nvGrpSpPr>
        <p:grpSpPr bwMode="auto">
          <a:xfrm>
            <a:off x="7524750" y="441325"/>
            <a:ext cx="1085850" cy="530225"/>
            <a:chOff x="4740" y="278"/>
            <a:chExt cx="684" cy="334"/>
          </a:xfrm>
        </p:grpSpPr>
        <p:sp>
          <p:nvSpPr>
            <p:cNvPr id="23581" name="Text Box 94"/>
            <p:cNvSpPr txBox="1">
              <a:spLocks noChangeArrowheads="1"/>
            </p:cNvSpPr>
            <p:nvPr/>
          </p:nvSpPr>
          <p:spPr bwMode="auto">
            <a:xfrm>
              <a:off x="4826" y="278"/>
              <a:ext cx="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螺母</a:t>
              </a:r>
              <a:r>
                <a:rPr lang="en-US" altLang="zh-CN" sz="2400">
                  <a:solidFill>
                    <a:schemeClr val="accent2"/>
                  </a:solidFill>
                </a:rPr>
                <a:t>8</a:t>
              </a:r>
              <a:endParaRPr lang="en-US" altLang="zh-CN" sz="2400">
                <a:solidFill>
                  <a:schemeClr val="accent2"/>
                </a:solidFill>
              </a:endParaRPr>
            </a:p>
          </p:txBody>
        </p:sp>
        <p:sp>
          <p:nvSpPr>
            <p:cNvPr id="23582" name="Line 95"/>
            <p:cNvSpPr>
              <a:spLocks noChangeShapeType="1"/>
            </p:cNvSpPr>
            <p:nvPr/>
          </p:nvSpPr>
          <p:spPr bwMode="auto">
            <a:xfrm flipH="1">
              <a:off x="4740" y="420"/>
              <a:ext cx="204" cy="19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566" name="Group 127"/>
          <p:cNvGrpSpPr/>
          <p:nvPr/>
        </p:nvGrpSpPr>
        <p:grpSpPr bwMode="auto">
          <a:xfrm>
            <a:off x="6638925" y="2343150"/>
            <a:ext cx="2243138" cy="498475"/>
            <a:chOff x="4182" y="1476"/>
            <a:chExt cx="1413" cy="314"/>
          </a:xfrm>
        </p:grpSpPr>
        <p:sp>
          <p:nvSpPr>
            <p:cNvPr id="23579" name="Text Box 85"/>
            <p:cNvSpPr txBox="1">
              <a:spLocks noChangeArrowheads="1"/>
            </p:cNvSpPr>
            <p:nvPr/>
          </p:nvSpPr>
          <p:spPr bwMode="auto">
            <a:xfrm>
              <a:off x="4804" y="1502"/>
              <a:ext cx="7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轴承盖</a:t>
              </a:r>
              <a:r>
                <a:rPr lang="en-US" altLang="zh-CN" sz="2400">
                  <a:solidFill>
                    <a:schemeClr val="accent2"/>
                  </a:solidFill>
                </a:rPr>
                <a:t>4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23580" name="Line 86"/>
            <p:cNvSpPr>
              <a:spLocks noChangeShapeType="1"/>
            </p:cNvSpPr>
            <p:nvPr/>
          </p:nvSpPr>
          <p:spPr bwMode="auto">
            <a:xfrm>
              <a:off x="4182" y="1476"/>
              <a:ext cx="648" cy="19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567" name="Group 128"/>
          <p:cNvGrpSpPr/>
          <p:nvPr/>
        </p:nvGrpSpPr>
        <p:grpSpPr bwMode="auto">
          <a:xfrm>
            <a:off x="6394450" y="2705100"/>
            <a:ext cx="2478088" cy="708025"/>
            <a:chOff x="4028" y="1704"/>
            <a:chExt cx="1561" cy="446"/>
          </a:xfrm>
        </p:grpSpPr>
        <p:sp>
          <p:nvSpPr>
            <p:cNvPr id="23577" name="Text Box 72"/>
            <p:cNvSpPr txBox="1">
              <a:spLocks noChangeArrowheads="1"/>
            </p:cNvSpPr>
            <p:nvPr/>
          </p:nvSpPr>
          <p:spPr bwMode="auto">
            <a:xfrm>
              <a:off x="4798" y="1862"/>
              <a:ext cx="7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上轴衬</a:t>
              </a:r>
              <a:r>
                <a:rPr lang="en-US" altLang="zh-CN" sz="2400">
                  <a:solidFill>
                    <a:schemeClr val="accent2"/>
                  </a:solidFill>
                </a:rPr>
                <a:t>3</a:t>
              </a:r>
              <a:endParaRPr lang="en-US" altLang="zh-CN" sz="2400">
                <a:solidFill>
                  <a:schemeClr val="accent2"/>
                </a:solidFill>
              </a:endParaRPr>
            </a:p>
          </p:txBody>
        </p:sp>
        <p:sp>
          <p:nvSpPr>
            <p:cNvPr id="23578" name="Line 73"/>
            <p:cNvSpPr>
              <a:spLocks noChangeShapeType="1"/>
            </p:cNvSpPr>
            <p:nvPr/>
          </p:nvSpPr>
          <p:spPr bwMode="auto">
            <a:xfrm>
              <a:off x="4028" y="1704"/>
              <a:ext cx="852" cy="31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568" name="Group 126"/>
          <p:cNvGrpSpPr/>
          <p:nvPr/>
        </p:nvGrpSpPr>
        <p:grpSpPr bwMode="auto">
          <a:xfrm>
            <a:off x="7391400" y="1679575"/>
            <a:ext cx="1238250" cy="457200"/>
            <a:chOff x="4656" y="1058"/>
            <a:chExt cx="780" cy="288"/>
          </a:xfrm>
        </p:grpSpPr>
        <p:sp>
          <p:nvSpPr>
            <p:cNvPr id="23575" name="Text Box 76"/>
            <p:cNvSpPr txBox="1">
              <a:spLocks noChangeArrowheads="1"/>
            </p:cNvSpPr>
            <p:nvPr/>
          </p:nvSpPr>
          <p:spPr bwMode="auto">
            <a:xfrm>
              <a:off x="4838" y="1058"/>
              <a:ext cx="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螺柱</a:t>
              </a:r>
              <a:r>
                <a:rPr lang="en-US" altLang="zh-CN" sz="2400">
                  <a:solidFill>
                    <a:schemeClr val="accent2"/>
                  </a:solidFill>
                </a:rPr>
                <a:t>7</a:t>
              </a:r>
              <a:endParaRPr lang="en-US" altLang="zh-CN" sz="2400">
                <a:solidFill>
                  <a:schemeClr val="accent2"/>
                </a:solidFill>
              </a:endParaRPr>
            </a:p>
          </p:txBody>
        </p:sp>
        <p:sp>
          <p:nvSpPr>
            <p:cNvPr id="23576" name="Line 75"/>
            <p:cNvSpPr>
              <a:spLocks noChangeShapeType="1"/>
            </p:cNvSpPr>
            <p:nvPr/>
          </p:nvSpPr>
          <p:spPr bwMode="auto">
            <a:xfrm flipH="1">
              <a:off x="4656" y="1212"/>
              <a:ext cx="228" cy="12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910" name="Text Box 118"/>
          <p:cNvSpPr txBox="1">
            <a:spLocks noChangeArrowheads="1"/>
          </p:cNvSpPr>
          <p:nvPr/>
        </p:nvSpPr>
        <p:spPr bwMode="auto">
          <a:xfrm>
            <a:off x="288925" y="4813300"/>
            <a:ext cx="32670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② 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连接固定关系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33911" name="Text Box 119"/>
          <p:cNvSpPr txBox="1">
            <a:spLocks noChangeArrowheads="1"/>
          </p:cNvSpPr>
          <p:nvPr/>
        </p:nvSpPr>
        <p:spPr bwMode="auto">
          <a:xfrm>
            <a:off x="955675" y="5767388"/>
            <a:ext cx="55419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各零件的相对位置关系如图所示。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33912" name="Text Box 120"/>
          <p:cNvSpPr txBox="1">
            <a:spLocks noChangeArrowheads="1"/>
          </p:cNvSpPr>
          <p:nvPr/>
        </p:nvSpPr>
        <p:spPr bwMode="auto">
          <a:xfrm>
            <a:off x="955675" y="5302250"/>
            <a:ext cx="7813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轴承座与轴承盖用螺柱、螺母、垫圈连接固定。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3913" name="Text Box 121"/>
          <p:cNvSpPr txBox="1">
            <a:spLocks noChangeArrowheads="1"/>
          </p:cNvSpPr>
          <p:nvPr/>
        </p:nvSpPr>
        <p:spPr bwMode="auto">
          <a:xfrm>
            <a:off x="536575" y="3092450"/>
            <a:ext cx="1255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轴向：</a:t>
            </a:r>
            <a:endParaRPr lang="zh-CN" altLang="en-US" sz="28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33914" name="Text Box 122"/>
          <p:cNvSpPr txBox="1">
            <a:spLocks noChangeArrowheads="1"/>
          </p:cNvSpPr>
          <p:nvPr/>
        </p:nvSpPr>
        <p:spPr bwMode="auto">
          <a:xfrm>
            <a:off x="555625" y="3949700"/>
            <a:ext cx="1255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径向：</a:t>
            </a:r>
            <a:endParaRPr lang="zh-CN" altLang="en-US" sz="28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23574" name="Text Box 133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724775" y="6165850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u="sng">
                <a:solidFill>
                  <a:schemeClr val="bg2"/>
                </a:solidFill>
              </a:rPr>
              <a:t>销套定位</a:t>
            </a:r>
            <a:endParaRPr lang="zh-CN" altLang="en-US" sz="2400" u="sng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3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3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3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3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31" grpId="0" autoUpdateAnimBg="0"/>
      <p:bldP spid="33832" grpId="0" autoUpdateAnimBg="0"/>
      <p:bldP spid="33833" grpId="0" autoUpdateAnimBg="0"/>
      <p:bldP spid="33834" grpId="0" autoUpdateAnimBg="0"/>
      <p:bldP spid="33835" grpId="0" autoUpdateAnimBg="0"/>
      <p:bldP spid="33910" grpId="0" autoUpdateAnimBg="0"/>
      <p:bldP spid="33911" grpId="0" autoUpdateAnimBg="0"/>
      <p:bldP spid="33912" grpId="0" autoUpdateAnimBg="0"/>
      <p:bldP spid="33913" grpId="0" autoUpdateAnimBg="0"/>
      <p:bldP spid="3391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050"/>
          <p:cNvSpPr txBox="1">
            <a:spLocks noChangeArrowheads="1"/>
          </p:cNvSpPr>
          <p:nvPr/>
        </p:nvSpPr>
        <p:spPr bwMode="auto">
          <a:xfrm>
            <a:off x="220663" y="217488"/>
            <a:ext cx="45497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/>
              <a:t>2</a:t>
            </a:r>
            <a:r>
              <a:rPr lang="zh-CN" altLang="en-US" sz="3600"/>
              <a:t>） 选择主视图</a:t>
            </a:r>
            <a:endParaRPr lang="zh-CN" altLang="en-US" sz="3600"/>
          </a:p>
        </p:txBody>
      </p:sp>
      <p:sp>
        <p:nvSpPr>
          <p:cNvPr id="119811" name="Text Box 2051"/>
          <p:cNvSpPr txBox="1">
            <a:spLocks noChangeArrowheads="1"/>
          </p:cNvSpPr>
          <p:nvPr/>
        </p:nvSpPr>
        <p:spPr bwMode="auto">
          <a:xfrm>
            <a:off x="876300" y="830263"/>
            <a:ext cx="23463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/>
              <a:t>选择原则：</a:t>
            </a:r>
            <a:endParaRPr lang="zh-CN" altLang="en-US"/>
          </a:p>
        </p:txBody>
      </p:sp>
      <p:sp>
        <p:nvSpPr>
          <p:cNvPr id="119812" name="Text Box 2052"/>
          <p:cNvSpPr txBox="1">
            <a:spLocks noChangeArrowheads="1"/>
          </p:cNvSpPr>
          <p:nvPr/>
        </p:nvSpPr>
        <p:spPr bwMode="auto">
          <a:xfrm>
            <a:off x="192088" y="3970338"/>
            <a:ext cx="43735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/>
              <a:t>3</a:t>
            </a:r>
            <a:r>
              <a:rPr lang="zh-CN" altLang="en-US" sz="3600"/>
              <a:t>）选择其他视图</a:t>
            </a:r>
            <a:endParaRPr lang="zh-CN" altLang="en-US" sz="3600"/>
          </a:p>
        </p:txBody>
      </p:sp>
      <p:sp>
        <p:nvSpPr>
          <p:cNvPr id="119813" name="Text Box 2053"/>
          <p:cNvSpPr txBox="1">
            <a:spLocks noChangeArrowheads="1"/>
          </p:cNvSpPr>
          <p:nvPr/>
        </p:nvSpPr>
        <p:spPr bwMode="auto">
          <a:xfrm>
            <a:off x="747713" y="4660900"/>
            <a:ext cx="5661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</a:rPr>
              <a:t>表达主视图没能表达的内容。</a:t>
            </a:r>
            <a:endParaRPr lang="zh-CN" altLang="en-US">
              <a:solidFill>
                <a:schemeClr val="accent2"/>
              </a:solidFill>
            </a:endParaRPr>
          </a:p>
        </p:txBody>
      </p:sp>
      <p:grpSp>
        <p:nvGrpSpPr>
          <p:cNvPr id="119814" name="Group 2054"/>
          <p:cNvGrpSpPr/>
          <p:nvPr/>
        </p:nvGrpSpPr>
        <p:grpSpPr bwMode="auto">
          <a:xfrm>
            <a:off x="5457825" y="1011238"/>
            <a:ext cx="3017838" cy="2282825"/>
            <a:chOff x="1985" y="2882"/>
            <a:chExt cx="1901" cy="1438"/>
          </a:xfrm>
        </p:grpSpPr>
        <p:grpSp>
          <p:nvGrpSpPr>
            <p:cNvPr id="24595" name="Group 2055"/>
            <p:cNvGrpSpPr/>
            <p:nvPr/>
          </p:nvGrpSpPr>
          <p:grpSpPr bwMode="auto">
            <a:xfrm>
              <a:off x="3012" y="2919"/>
              <a:ext cx="874" cy="1401"/>
              <a:chOff x="3012" y="2919"/>
              <a:chExt cx="874" cy="1401"/>
            </a:xfrm>
          </p:grpSpPr>
          <p:sp>
            <p:nvSpPr>
              <p:cNvPr id="24597" name="Freeform 2056"/>
              <p:cNvSpPr/>
              <p:nvPr/>
            </p:nvSpPr>
            <p:spPr bwMode="auto">
              <a:xfrm>
                <a:off x="3012" y="3348"/>
                <a:ext cx="342" cy="477"/>
              </a:xfrm>
              <a:custGeom>
                <a:avLst/>
                <a:gdLst>
                  <a:gd name="T0" fmla="*/ 123 w 505"/>
                  <a:gd name="T1" fmla="*/ 41 h 835"/>
                  <a:gd name="T2" fmla="*/ 146 w 505"/>
                  <a:gd name="T3" fmla="*/ 23 h 835"/>
                  <a:gd name="T4" fmla="*/ 179 w 505"/>
                  <a:gd name="T5" fmla="*/ 7 h 835"/>
                  <a:gd name="T6" fmla="*/ 203 w 505"/>
                  <a:gd name="T7" fmla="*/ 0 h 835"/>
                  <a:gd name="T8" fmla="*/ 232 w 505"/>
                  <a:gd name="T9" fmla="*/ 1 h 835"/>
                  <a:gd name="T10" fmla="*/ 232 w 505"/>
                  <a:gd name="T11" fmla="*/ 17 h 835"/>
                  <a:gd name="T12" fmla="*/ 217 w 505"/>
                  <a:gd name="T13" fmla="*/ 30 h 835"/>
                  <a:gd name="T14" fmla="*/ 191 w 505"/>
                  <a:gd name="T15" fmla="*/ 41 h 835"/>
                  <a:gd name="T16" fmla="*/ 125 w 505"/>
                  <a:gd name="T17" fmla="*/ 62 h 835"/>
                  <a:gd name="T18" fmla="*/ 61 w 505"/>
                  <a:gd name="T19" fmla="*/ 88 h 835"/>
                  <a:gd name="T20" fmla="*/ 35 w 505"/>
                  <a:gd name="T21" fmla="*/ 94 h 835"/>
                  <a:gd name="T22" fmla="*/ 25 w 505"/>
                  <a:gd name="T23" fmla="*/ 105 h 835"/>
                  <a:gd name="T24" fmla="*/ 35 w 505"/>
                  <a:gd name="T25" fmla="*/ 115 h 835"/>
                  <a:gd name="T26" fmla="*/ 89 w 505"/>
                  <a:gd name="T27" fmla="*/ 153 h 835"/>
                  <a:gd name="T28" fmla="*/ 114 w 505"/>
                  <a:gd name="T29" fmla="*/ 165 h 835"/>
                  <a:gd name="T30" fmla="*/ 152 w 505"/>
                  <a:gd name="T31" fmla="*/ 186 h 835"/>
                  <a:gd name="T32" fmla="*/ 191 w 505"/>
                  <a:gd name="T33" fmla="*/ 206 h 835"/>
                  <a:gd name="T34" fmla="*/ 189 w 505"/>
                  <a:gd name="T35" fmla="*/ 217 h 835"/>
                  <a:gd name="T36" fmla="*/ 161 w 505"/>
                  <a:gd name="T37" fmla="*/ 219 h 835"/>
                  <a:gd name="T38" fmla="*/ 118 w 505"/>
                  <a:gd name="T39" fmla="*/ 219 h 835"/>
                  <a:gd name="T40" fmla="*/ 91 w 505"/>
                  <a:gd name="T41" fmla="*/ 230 h 835"/>
                  <a:gd name="T42" fmla="*/ 82 w 505"/>
                  <a:gd name="T43" fmla="*/ 255 h 835"/>
                  <a:gd name="T44" fmla="*/ 82 w 505"/>
                  <a:gd name="T45" fmla="*/ 269 h 835"/>
                  <a:gd name="T46" fmla="*/ 70 w 505"/>
                  <a:gd name="T47" fmla="*/ 272 h 835"/>
                  <a:gd name="T48" fmla="*/ 54 w 505"/>
                  <a:gd name="T49" fmla="*/ 260 h 835"/>
                  <a:gd name="T50" fmla="*/ 56 w 505"/>
                  <a:gd name="T51" fmla="*/ 239 h 835"/>
                  <a:gd name="T52" fmla="*/ 72 w 505"/>
                  <a:gd name="T53" fmla="*/ 223 h 835"/>
                  <a:gd name="T54" fmla="*/ 104 w 505"/>
                  <a:gd name="T55" fmla="*/ 210 h 835"/>
                  <a:gd name="T56" fmla="*/ 138 w 505"/>
                  <a:gd name="T57" fmla="*/ 203 h 835"/>
                  <a:gd name="T58" fmla="*/ 142 w 505"/>
                  <a:gd name="T59" fmla="*/ 196 h 835"/>
                  <a:gd name="T60" fmla="*/ 125 w 505"/>
                  <a:gd name="T61" fmla="*/ 183 h 835"/>
                  <a:gd name="T62" fmla="*/ 52 w 505"/>
                  <a:gd name="T63" fmla="*/ 149 h 835"/>
                  <a:gd name="T64" fmla="*/ 30 w 505"/>
                  <a:gd name="T65" fmla="*/ 136 h 835"/>
                  <a:gd name="T66" fmla="*/ 9 w 505"/>
                  <a:gd name="T67" fmla="*/ 118 h 835"/>
                  <a:gd name="T68" fmla="*/ 0 w 505"/>
                  <a:gd name="T69" fmla="*/ 98 h 835"/>
                  <a:gd name="T70" fmla="*/ 6 w 505"/>
                  <a:gd name="T71" fmla="*/ 86 h 835"/>
                  <a:gd name="T72" fmla="*/ 42 w 505"/>
                  <a:gd name="T73" fmla="*/ 78 h 835"/>
                  <a:gd name="T74" fmla="*/ 86 w 505"/>
                  <a:gd name="T75" fmla="*/ 65 h 835"/>
                  <a:gd name="T76" fmla="*/ 114 w 505"/>
                  <a:gd name="T77" fmla="*/ 50 h 835"/>
                  <a:gd name="T78" fmla="*/ 123 w 505"/>
                  <a:gd name="T79" fmla="*/ 41 h 83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505" h="835">
                    <a:moveTo>
                      <a:pt x="267" y="124"/>
                    </a:moveTo>
                    <a:lnTo>
                      <a:pt x="319" y="72"/>
                    </a:lnTo>
                    <a:lnTo>
                      <a:pt x="392" y="21"/>
                    </a:lnTo>
                    <a:lnTo>
                      <a:pt x="443" y="0"/>
                    </a:lnTo>
                    <a:lnTo>
                      <a:pt x="505" y="4"/>
                    </a:lnTo>
                    <a:lnTo>
                      <a:pt x="505" y="52"/>
                    </a:lnTo>
                    <a:lnTo>
                      <a:pt x="474" y="93"/>
                    </a:lnTo>
                    <a:lnTo>
                      <a:pt x="416" y="124"/>
                    </a:lnTo>
                    <a:lnTo>
                      <a:pt x="271" y="190"/>
                    </a:lnTo>
                    <a:lnTo>
                      <a:pt x="133" y="269"/>
                    </a:lnTo>
                    <a:lnTo>
                      <a:pt x="75" y="289"/>
                    </a:lnTo>
                    <a:lnTo>
                      <a:pt x="55" y="320"/>
                    </a:lnTo>
                    <a:lnTo>
                      <a:pt x="75" y="351"/>
                    </a:lnTo>
                    <a:lnTo>
                      <a:pt x="195" y="467"/>
                    </a:lnTo>
                    <a:lnTo>
                      <a:pt x="250" y="505"/>
                    </a:lnTo>
                    <a:lnTo>
                      <a:pt x="332" y="570"/>
                    </a:lnTo>
                    <a:lnTo>
                      <a:pt x="416" y="632"/>
                    </a:lnTo>
                    <a:lnTo>
                      <a:pt x="412" y="663"/>
                    </a:lnTo>
                    <a:lnTo>
                      <a:pt x="350" y="673"/>
                    </a:lnTo>
                    <a:lnTo>
                      <a:pt x="257" y="673"/>
                    </a:lnTo>
                    <a:lnTo>
                      <a:pt x="199" y="704"/>
                    </a:lnTo>
                    <a:lnTo>
                      <a:pt x="178" y="783"/>
                    </a:lnTo>
                    <a:lnTo>
                      <a:pt x="178" y="825"/>
                    </a:lnTo>
                    <a:lnTo>
                      <a:pt x="154" y="835"/>
                    </a:lnTo>
                    <a:lnTo>
                      <a:pt x="116" y="797"/>
                    </a:lnTo>
                    <a:lnTo>
                      <a:pt x="123" y="731"/>
                    </a:lnTo>
                    <a:lnTo>
                      <a:pt x="157" y="683"/>
                    </a:lnTo>
                    <a:lnTo>
                      <a:pt x="226" y="642"/>
                    </a:lnTo>
                    <a:lnTo>
                      <a:pt x="301" y="622"/>
                    </a:lnTo>
                    <a:lnTo>
                      <a:pt x="308" y="601"/>
                    </a:lnTo>
                    <a:lnTo>
                      <a:pt x="271" y="560"/>
                    </a:lnTo>
                    <a:lnTo>
                      <a:pt x="113" y="457"/>
                    </a:lnTo>
                    <a:lnTo>
                      <a:pt x="65" y="416"/>
                    </a:lnTo>
                    <a:lnTo>
                      <a:pt x="20" y="361"/>
                    </a:lnTo>
                    <a:lnTo>
                      <a:pt x="0" y="299"/>
                    </a:lnTo>
                    <a:lnTo>
                      <a:pt x="13" y="262"/>
                    </a:lnTo>
                    <a:lnTo>
                      <a:pt x="92" y="238"/>
                    </a:lnTo>
                    <a:lnTo>
                      <a:pt x="188" y="197"/>
                    </a:lnTo>
                    <a:lnTo>
                      <a:pt x="250" y="154"/>
                    </a:lnTo>
                    <a:lnTo>
                      <a:pt x="267" y="124"/>
                    </a:lnTo>
                    <a:close/>
                  </a:path>
                </a:pathLst>
              </a:cu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8" name="Freeform 2057"/>
              <p:cNvSpPr/>
              <p:nvPr/>
            </p:nvSpPr>
            <p:spPr bwMode="auto">
              <a:xfrm>
                <a:off x="3317" y="3327"/>
                <a:ext cx="238" cy="456"/>
              </a:xfrm>
              <a:custGeom>
                <a:avLst/>
                <a:gdLst>
                  <a:gd name="T0" fmla="*/ 35 w 351"/>
                  <a:gd name="T1" fmla="*/ 20 h 799"/>
                  <a:gd name="T2" fmla="*/ 49 w 351"/>
                  <a:gd name="T3" fmla="*/ 3 h 799"/>
                  <a:gd name="T4" fmla="*/ 66 w 351"/>
                  <a:gd name="T5" fmla="*/ 0 h 799"/>
                  <a:gd name="T6" fmla="*/ 90 w 351"/>
                  <a:gd name="T7" fmla="*/ 0 h 799"/>
                  <a:gd name="T8" fmla="*/ 120 w 351"/>
                  <a:gd name="T9" fmla="*/ 12 h 799"/>
                  <a:gd name="T10" fmla="*/ 139 w 351"/>
                  <a:gd name="T11" fmla="*/ 39 h 799"/>
                  <a:gd name="T12" fmla="*/ 153 w 351"/>
                  <a:gd name="T13" fmla="*/ 74 h 799"/>
                  <a:gd name="T14" fmla="*/ 161 w 351"/>
                  <a:gd name="T15" fmla="*/ 110 h 799"/>
                  <a:gd name="T16" fmla="*/ 161 w 351"/>
                  <a:gd name="T17" fmla="*/ 158 h 799"/>
                  <a:gd name="T18" fmla="*/ 144 w 351"/>
                  <a:gd name="T19" fmla="*/ 210 h 799"/>
                  <a:gd name="T20" fmla="*/ 119 w 351"/>
                  <a:gd name="T21" fmla="*/ 241 h 799"/>
                  <a:gd name="T22" fmla="*/ 85 w 351"/>
                  <a:gd name="T23" fmla="*/ 257 h 799"/>
                  <a:gd name="T24" fmla="*/ 54 w 351"/>
                  <a:gd name="T25" fmla="*/ 260 h 799"/>
                  <a:gd name="T26" fmla="*/ 30 w 351"/>
                  <a:gd name="T27" fmla="*/ 250 h 799"/>
                  <a:gd name="T28" fmla="*/ 11 w 351"/>
                  <a:gd name="T29" fmla="*/ 238 h 799"/>
                  <a:gd name="T30" fmla="*/ 6 w 351"/>
                  <a:gd name="T31" fmla="*/ 218 h 799"/>
                  <a:gd name="T32" fmla="*/ 0 w 351"/>
                  <a:gd name="T33" fmla="*/ 180 h 799"/>
                  <a:gd name="T34" fmla="*/ 5 w 351"/>
                  <a:gd name="T35" fmla="*/ 133 h 799"/>
                  <a:gd name="T36" fmla="*/ 19 w 351"/>
                  <a:gd name="T37" fmla="*/ 84 h 799"/>
                  <a:gd name="T38" fmla="*/ 28 w 351"/>
                  <a:gd name="T39" fmla="*/ 49 h 799"/>
                  <a:gd name="T40" fmla="*/ 35 w 351"/>
                  <a:gd name="T41" fmla="*/ 20 h 7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51" h="799">
                    <a:moveTo>
                      <a:pt x="75" y="61"/>
                    </a:moveTo>
                    <a:lnTo>
                      <a:pt x="106" y="10"/>
                    </a:lnTo>
                    <a:lnTo>
                      <a:pt x="144" y="0"/>
                    </a:lnTo>
                    <a:lnTo>
                      <a:pt x="196" y="0"/>
                    </a:lnTo>
                    <a:lnTo>
                      <a:pt x="261" y="37"/>
                    </a:lnTo>
                    <a:lnTo>
                      <a:pt x="302" y="120"/>
                    </a:lnTo>
                    <a:lnTo>
                      <a:pt x="333" y="227"/>
                    </a:lnTo>
                    <a:lnTo>
                      <a:pt x="351" y="336"/>
                    </a:lnTo>
                    <a:lnTo>
                      <a:pt x="351" y="484"/>
                    </a:lnTo>
                    <a:lnTo>
                      <a:pt x="313" y="645"/>
                    </a:lnTo>
                    <a:lnTo>
                      <a:pt x="258" y="740"/>
                    </a:lnTo>
                    <a:lnTo>
                      <a:pt x="185" y="788"/>
                    </a:lnTo>
                    <a:lnTo>
                      <a:pt x="117" y="799"/>
                    </a:lnTo>
                    <a:lnTo>
                      <a:pt x="65" y="768"/>
                    </a:lnTo>
                    <a:lnTo>
                      <a:pt x="24" y="730"/>
                    </a:lnTo>
                    <a:lnTo>
                      <a:pt x="13" y="669"/>
                    </a:lnTo>
                    <a:lnTo>
                      <a:pt x="0" y="552"/>
                    </a:lnTo>
                    <a:lnTo>
                      <a:pt x="10" y="408"/>
                    </a:lnTo>
                    <a:lnTo>
                      <a:pt x="41" y="258"/>
                    </a:lnTo>
                    <a:lnTo>
                      <a:pt x="61" y="150"/>
                    </a:lnTo>
                    <a:lnTo>
                      <a:pt x="75" y="61"/>
                    </a:lnTo>
                    <a:close/>
                  </a:path>
                </a:pathLst>
              </a:cu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9" name="Freeform 2058"/>
              <p:cNvSpPr/>
              <p:nvPr/>
            </p:nvSpPr>
            <p:spPr bwMode="auto">
              <a:xfrm>
                <a:off x="3383" y="3724"/>
                <a:ext cx="138" cy="596"/>
              </a:xfrm>
              <a:custGeom>
                <a:avLst/>
                <a:gdLst>
                  <a:gd name="T0" fmla="*/ 45 w 205"/>
                  <a:gd name="T1" fmla="*/ 61 h 1043"/>
                  <a:gd name="T2" fmla="*/ 32 w 205"/>
                  <a:gd name="T3" fmla="*/ 38 h 1043"/>
                  <a:gd name="T4" fmla="*/ 32 w 205"/>
                  <a:gd name="T5" fmla="*/ 13 h 1043"/>
                  <a:gd name="T6" fmla="*/ 49 w 205"/>
                  <a:gd name="T7" fmla="*/ 0 h 1043"/>
                  <a:gd name="T8" fmla="*/ 69 w 205"/>
                  <a:gd name="T9" fmla="*/ 6 h 1043"/>
                  <a:gd name="T10" fmla="*/ 83 w 205"/>
                  <a:gd name="T11" fmla="*/ 30 h 1043"/>
                  <a:gd name="T12" fmla="*/ 91 w 205"/>
                  <a:gd name="T13" fmla="*/ 70 h 1043"/>
                  <a:gd name="T14" fmla="*/ 93 w 205"/>
                  <a:gd name="T15" fmla="*/ 121 h 1043"/>
                  <a:gd name="T16" fmla="*/ 88 w 205"/>
                  <a:gd name="T17" fmla="*/ 165 h 1043"/>
                  <a:gd name="T18" fmla="*/ 79 w 205"/>
                  <a:gd name="T19" fmla="*/ 211 h 1043"/>
                  <a:gd name="T20" fmla="*/ 79 w 205"/>
                  <a:gd name="T21" fmla="*/ 269 h 1043"/>
                  <a:gd name="T22" fmla="*/ 91 w 205"/>
                  <a:gd name="T23" fmla="*/ 292 h 1043"/>
                  <a:gd name="T24" fmla="*/ 87 w 205"/>
                  <a:gd name="T25" fmla="*/ 303 h 1043"/>
                  <a:gd name="T26" fmla="*/ 65 w 205"/>
                  <a:gd name="T27" fmla="*/ 307 h 1043"/>
                  <a:gd name="T28" fmla="*/ 42 w 205"/>
                  <a:gd name="T29" fmla="*/ 323 h 1043"/>
                  <a:gd name="T30" fmla="*/ 31 w 205"/>
                  <a:gd name="T31" fmla="*/ 336 h 1043"/>
                  <a:gd name="T32" fmla="*/ 5 w 205"/>
                  <a:gd name="T33" fmla="*/ 341 h 1043"/>
                  <a:gd name="T34" fmla="*/ 0 w 205"/>
                  <a:gd name="T35" fmla="*/ 326 h 1043"/>
                  <a:gd name="T36" fmla="*/ 9 w 205"/>
                  <a:gd name="T37" fmla="*/ 314 h 1043"/>
                  <a:gd name="T38" fmla="*/ 42 w 205"/>
                  <a:gd name="T39" fmla="*/ 303 h 1043"/>
                  <a:gd name="T40" fmla="*/ 65 w 205"/>
                  <a:gd name="T41" fmla="*/ 296 h 1043"/>
                  <a:gd name="T42" fmla="*/ 73 w 205"/>
                  <a:gd name="T43" fmla="*/ 289 h 1043"/>
                  <a:gd name="T44" fmla="*/ 63 w 205"/>
                  <a:gd name="T45" fmla="*/ 270 h 1043"/>
                  <a:gd name="T46" fmla="*/ 56 w 205"/>
                  <a:gd name="T47" fmla="*/ 231 h 1043"/>
                  <a:gd name="T48" fmla="*/ 54 w 205"/>
                  <a:gd name="T49" fmla="*/ 186 h 1043"/>
                  <a:gd name="T50" fmla="*/ 56 w 205"/>
                  <a:gd name="T51" fmla="*/ 155 h 1043"/>
                  <a:gd name="T52" fmla="*/ 59 w 205"/>
                  <a:gd name="T53" fmla="*/ 114 h 1043"/>
                  <a:gd name="T54" fmla="*/ 54 w 205"/>
                  <a:gd name="T55" fmla="*/ 77 h 1043"/>
                  <a:gd name="T56" fmla="*/ 45 w 205"/>
                  <a:gd name="T57" fmla="*/ 61 h 1043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205" h="1043">
                    <a:moveTo>
                      <a:pt x="99" y="185"/>
                    </a:moveTo>
                    <a:lnTo>
                      <a:pt x="71" y="116"/>
                    </a:lnTo>
                    <a:lnTo>
                      <a:pt x="71" y="41"/>
                    </a:lnTo>
                    <a:lnTo>
                      <a:pt x="109" y="0"/>
                    </a:lnTo>
                    <a:lnTo>
                      <a:pt x="153" y="20"/>
                    </a:lnTo>
                    <a:lnTo>
                      <a:pt x="184" y="92"/>
                    </a:lnTo>
                    <a:lnTo>
                      <a:pt x="201" y="216"/>
                    </a:lnTo>
                    <a:lnTo>
                      <a:pt x="205" y="370"/>
                    </a:lnTo>
                    <a:lnTo>
                      <a:pt x="194" y="504"/>
                    </a:lnTo>
                    <a:lnTo>
                      <a:pt x="174" y="648"/>
                    </a:lnTo>
                    <a:lnTo>
                      <a:pt x="174" y="823"/>
                    </a:lnTo>
                    <a:lnTo>
                      <a:pt x="201" y="895"/>
                    </a:lnTo>
                    <a:lnTo>
                      <a:pt x="191" y="929"/>
                    </a:lnTo>
                    <a:lnTo>
                      <a:pt x="143" y="940"/>
                    </a:lnTo>
                    <a:lnTo>
                      <a:pt x="92" y="988"/>
                    </a:lnTo>
                    <a:lnTo>
                      <a:pt x="68" y="1029"/>
                    </a:lnTo>
                    <a:lnTo>
                      <a:pt x="10" y="1043"/>
                    </a:lnTo>
                    <a:lnTo>
                      <a:pt x="0" y="998"/>
                    </a:lnTo>
                    <a:lnTo>
                      <a:pt x="20" y="960"/>
                    </a:lnTo>
                    <a:lnTo>
                      <a:pt x="92" y="929"/>
                    </a:lnTo>
                    <a:lnTo>
                      <a:pt x="143" y="906"/>
                    </a:lnTo>
                    <a:lnTo>
                      <a:pt x="160" y="885"/>
                    </a:lnTo>
                    <a:lnTo>
                      <a:pt x="140" y="827"/>
                    </a:lnTo>
                    <a:lnTo>
                      <a:pt x="123" y="709"/>
                    </a:lnTo>
                    <a:lnTo>
                      <a:pt x="119" y="569"/>
                    </a:lnTo>
                    <a:lnTo>
                      <a:pt x="123" y="476"/>
                    </a:lnTo>
                    <a:lnTo>
                      <a:pt x="129" y="350"/>
                    </a:lnTo>
                    <a:lnTo>
                      <a:pt x="119" y="237"/>
                    </a:lnTo>
                    <a:lnTo>
                      <a:pt x="99" y="185"/>
                    </a:lnTo>
                    <a:close/>
                  </a:path>
                </a:pathLst>
              </a:cu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0" name="Freeform 2059"/>
              <p:cNvSpPr/>
              <p:nvPr/>
            </p:nvSpPr>
            <p:spPr bwMode="auto">
              <a:xfrm>
                <a:off x="3187" y="3725"/>
                <a:ext cx="217" cy="594"/>
              </a:xfrm>
              <a:custGeom>
                <a:avLst/>
                <a:gdLst>
                  <a:gd name="T0" fmla="*/ 91 w 320"/>
                  <a:gd name="T1" fmla="*/ 31 h 1040"/>
                  <a:gd name="T2" fmla="*/ 106 w 320"/>
                  <a:gd name="T3" fmla="*/ 10 h 1040"/>
                  <a:gd name="T4" fmla="*/ 125 w 320"/>
                  <a:gd name="T5" fmla="*/ 0 h 1040"/>
                  <a:gd name="T6" fmla="*/ 147 w 320"/>
                  <a:gd name="T7" fmla="*/ 6 h 1040"/>
                  <a:gd name="T8" fmla="*/ 144 w 320"/>
                  <a:gd name="T9" fmla="*/ 27 h 1040"/>
                  <a:gd name="T10" fmla="*/ 130 w 320"/>
                  <a:gd name="T11" fmla="*/ 41 h 1040"/>
                  <a:gd name="T12" fmla="*/ 102 w 320"/>
                  <a:gd name="T13" fmla="*/ 77 h 1040"/>
                  <a:gd name="T14" fmla="*/ 83 w 320"/>
                  <a:gd name="T15" fmla="*/ 112 h 1040"/>
                  <a:gd name="T16" fmla="*/ 72 w 320"/>
                  <a:gd name="T17" fmla="*/ 149 h 1040"/>
                  <a:gd name="T18" fmla="*/ 73 w 320"/>
                  <a:gd name="T19" fmla="*/ 184 h 1040"/>
                  <a:gd name="T20" fmla="*/ 91 w 320"/>
                  <a:gd name="T21" fmla="*/ 232 h 1040"/>
                  <a:gd name="T22" fmla="*/ 105 w 320"/>
                  <a:gd name="T23" fmla="*/ 279 h 1040"/>
                  <a:gd name="T24" fmla="*/ 125 w 320"/>
                  <a:gd name="T25" fmla="*/ 299 h 1040"/>
                  <a:gd name="T26" fmla="*/ 123 w 320"/>
                  <a:gd name="T27" fmla="*/ 310 h 1040"/>
                  <a:gd name="T28" fmla="*/ 106 w 320"/>
                  <a:gd name="T29" fmla="*/ 316 h 1040"/>
                  <a:gd name="T30" fmla="*/ 66 w 320"/>
                  <a:gd name="T31" fmla="*/ 320 h 1040"/>
                  <a:gd name="T32" fmla="*/ 39 w 320"/>
                  <a:gd name="T33" fmla="*/ 332 h 1040"/>
                  <a:gd name="T34" fmla="*/ 24 w 320"/>
                  <a:gd name="T35" fmla="*/ 339 h 1040"/>
                  <a:gd name="T36" fmla="*/ 0 w 320"/>
                  <a:gd name="T37" fmla="*/ 324 h 1040"/>
                  <a:gd name="T38" fmla="*/ 5 w 320"/>
                  <a:gd name="T39" fmla="*/ 314 h 1040"/>
                  <a:gd name="T40" fmla="*/ 28 w 320"/>
                  <a:gd name="T41" fmla="*/ 307 h 1040"/>
                  <a:gd name="T42" fmla="*/ 59 w 320"/>
                  <a:gd name="T43" fmla="*/ 303 h 1040"/>
                  <a:gd name="T44" fmla="*/ 87 w 320"/>
                  <a:gd name="T45" fmla="*/ 303 h 1040"/>
                  <a:gd name="T46" fmla="*/ 92 w 320"/>
                  <a:gd name="T47" fmla="*/ 297 h 1040"/>
                  <a:gd name="T48" fmla="*/ 87 w 320"/>
                  <a:gd name="T49" fmla="*/ 286 h 1040"/>
                  <a:gd name="T50" fmla="*/ 64 w 320"/>
                  <a:gd name="T51" fmla="*/ 242 h 1040"/>
                  <a:gd name="T52" fmla="*/ 48 w 320"/>
                  <a:gd name="T53" fmla="*/ 199 h 1040"/>
                  <a:gd name="T54" fmla="*/ 40 w 320"/>
                  <a:gd name="T55" fmla="*/ 168 h 1040"/>
                  <a:gd name="T56" fmla="*/ 39 w 320"/>
                  <a:gd name="T57" fmla="*/ 139 h 1040"/>
                  <a:gd name="T58" fmla="*/ 45 w 320"/>
                  <a:gd name="T59" fmla="*/ 111 h 1040"/>
                  <a:gd name="T60" fmla="*/ 59 w 320"/>
                  <a:gd name="T61" fmla="*/ 82 h 1040"/>
                  <a:gd name="T62" fmla="*/ 81 w 320"/>
                  <a:gd name="T63" fmla="*/ 43 h 1040"/>
                  <a:gd name="T64" fmla="*/ 91 w 320"/>
                  <a:gd name="T65" fmla="*/ 31 h 104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20" h="1040">
                    <a:moveTo>
                      <a:pt x="197" y="96"/>
                    </a:moveTo>
                    <a:lnTo>
                      <a:pt x="231" y="31"/>
                    </a:lnTo>
                    <a:lnTo>
                      <a:pt x="272" y="0"/>
                    </a:lnTo>
                    <a:lnTo>
                      <a:pt x="320" y="20"/>
                    </a:lnTo>
                    <a:lnTo>
                      <a:pt x="313" y="82"/>
                    </a:lnTo>
                    <a:lnTo>
                      <a:pt x="282" y="126"/>
                    </a:lnTo>
                    <a:lnTo>
                      <a:pt x="221" y="237"/>
                    </a:lnTo>
                    <a:lnTo>
                      <a:pt x="180" y="343"/>
                    </a:lnTo>
                    <a:lnTo>
                      <a:pt x="156" y="456"/>
                    </a:lnTo>
                    <a:lnTo>
                      <a:pt x="159" y="566"/>
                    </a:lnTo>
                    <a:lnTo>
                      <a:pt x="197" y="713"/>
                    </a:lnTo>
                    <a:lnTo>
                      <a:pt x="228" y="855"/>
                    </a:lnTo>
                    <a:lnTo>
                      <a:pt x="272" y="916"/>
                    </a:lnTo>
                    <a:lnTo>
                      <a:pt x="269" y="951"/>
                    </a:lnTo>
                    <a:lnTo>
                      <a:pt x="231" y="968"/>
                    </a:lnTo>
                    <a:lnTo>
                      <a:pt x="145" y="981"/>
                    </a:lnTo>
                    <a:lnTo>
                      <a:pt x="84" y="1019"/>
                    </a:lnTo>
                    <a:lnTo>
                      <a:pt x="52" y="1040"/>
                    </a:lnTo>
                    <a:lnTo>
                      <a:pt x="0" y="992"/>
                    </a:lnTo>
                    <a:lnTo>
                      <a:pt x="11" y="961"/>
                    </a:lnTo>
                    <a:lnTo>
                      <a:pt x="62" y="940"/>
                    </a:lnTo>
                    <a:lnTo>
                      <a:pt x="128" y="930"/>
                    </a:lnTo>
                    <a:lnTo>
                      <a:pt x="190" y="930"/>
                    </a:lnTo>
                    <a:lnTo>
                      <a:pt x="200" y="910"/>
                    </a:lnTo>
                    <a:lnTo>
                      <a:pt x="190" y="875"/>
                    </a:lnTo>
                    <a:lnTo>
                      <a:pt x="138" y="741"/>
                    </a:lnTo>
                    <a:lnTo>
                      <a:pt x="104" y="610"/>
                    </a:lnTo>
                    <a:lnTo>
                      <a:pt x="87" y="515"/>
                    </a:lnTo>
                    <a:lnTo>
                      <a:pt x="84" y="426"/>
                    </a:lnTo>
                    <a:lnTo>
                      <a:pt x="97" y="340"/>
                    </a:lnTo>
                    <a:lnTo>
                      <a:pt x="128" y="251"/>
                    </a:lnTo>
                    <a:lnTo>
                      <a:pt x="176" y="133"/>
                    </a:lnTo>
                    <a:lnTo>
                      <a:pt x="197" y="96"/>
                    </a:lnTo>
                    <a:close/>
                  </a:path>
                </a:pathLst>
              </a:cu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1" name="Freeform 2060"/>
              <p:cNvSpPr/>
              <p:nvPr/>
            </p:nvSpPr>
            <p:spPr bwMode="auto">
              <a:xfrm>
                <a:off x="3229" y="2985"/>
                <a:ext cx="279" cy="310"/>
              </a:xfrm>
              <a:custGeom>
                <a:avLst/>
                <a:gdLst>
                  <a:gd name="T0" fmla="*/ 69 w 412"/>
                  <a:gd name="T1" fmla="*/ 148 h 543"/>
                  <a:gd name="T2" fmla="*/ 83 w 412"/>
                  <a:gd name="T3" fmla="*/ 170 h 543"/>
                  <a:gd name="T4" fmla="*/ 116 w 412"/>
                  <a:gd name="T5" fmla="*/ 177 h 543"/>
                  <a:gd name="T6" fmla="*/ 145 w 412"/>
                  <a:gd name="T7" fmla="*/ 175 h 543"/>
                  <a:gd name="T8" fmla="*/ 169 w 412"/>
                  <a:gd name="T9" fmla="*/ 160 h 543"/>
                  <a:gd name="T10" fmla="*/ 187 w 412"/>
                  <a:gd name="T11" fmla="*/ 131 h 543"/>
                  <a:gd name="T12" fmla="*/ 189 w 412"/>
                  <a:gd name="T13" fmla="*/ 96 h 543"/>
                  <a:gd name="T14" fmla="*/ 183 w 412"/>
                  <a:gd name="T15" fmla="*/ 66 h 543"/>
                  <a:gd name="T16" fmla="*/ 156 w 412"/>
                  <a:gd name="T17" fmla="*/ 33 h 543"/>
                  <a:gd name="T18" fmla="*/ 137 w 412"/>
                  <a:gd name="T19" fmla="*/ 17 h 543"/>
                  <a:gd name="T20" fmla="*/ 116 w 412"/>
                  <a:gd name="T21" fmla="*/ 7 h 543"/>
                  <a:gd name="T22" fmla="*/ 98 w 412"/>
                  <a:gd name="T23" fmla="*/ 0 h 543"/>
                  <a:gd name="T24" fmla="*/ 64 w 412"/>
                  <a:gd name="T25" fmla="*/ 2 h 543"/>
                  <a:gd name="T26" fmla="*/ 47 w 412"/>
                  <a:gd name="T27" fmla="*/ 22 h 543"/>
                  <a:gd name="T28" fmla="*/ 38 w 412"/>
                  <a:gd name="T29" fmla="*/ 44 h 543"/>
                  <a:gd name="T30" fmla="*/ 38 w 412"/>
                  <a:gd name="T31" fmla="*/ 78 h 543"/>
                  <a:gd name="T32" fmla="*/ 46 w 412"/>
                  <a:gd name="T33" fmla="*/ 110 h 543"/>
                  <a:gd name="T34" fmla="*/ 55 w 412"/>
                  <a:gd name="T35" fmla="*/ 128 h 543"/>
                  <a:gd name="T36" fmla="*/ 3 w 412"/>
                  <a:gd name="T37" fmla="*/ 155 h 543"/>
                  <a:gd name="T38" fmla="*/ 0 w 412"/>
                  <a:gd name="T39" fmla="*/ 164 h 543"/>
                  <a:gd name="T40" fmla="*/ 8 w 412"/>
                  <a:gd name="T41" fmla="*/ 170 h 543"/>
                  <a:gd name="T42" fmla="*/ 64 w 412"/>
                  <a:gd name="T43" fmla="*/ 140 h 543"/>
                  <a:gd name="T44" fmla="*/ 69 w 412"/>
                  <a:gd name="T45" fmla="*/ 148 h 54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412" h="543">
                    <a:moveTo>
                      <a:pt x="151" y="454"/>
                    </a:moveTo>
                    <a:lnTo>
                      <a:pt x="182" y="522"/>
                    </a:lnTo>
                    <a:lnTo>
                      <a:pt x="254" y="543"/>
                    </a:lnTo>
                    <a:lnTo>
                      <a:pt x="316" y="536"/>
                    </a:lnTo>
                    <a:lnTo>
                      <a:pt x="367" y="492"/>
                    </a:lnTo>
                    <a:lnTo>
                      <a:pt x="408" y="402"/>
                    </a:lnTo>
                    <a:lnTo>
                      <a:pt x="412" y="296"/>
                    </a:lnTo>
                    <a:lnTo>
                      <a:pt x="398" y="203"/>
                    </a:lnTo>
                    <a:lnTo>
                      <a:pt x="340" y="99"/>
                    </a:lnTo>
                    <a:lnTo>
                      <a:pt x="298" y="51"/>
                    </a:lnTo>
                    <a:lnTo>
                      <a:pt x="254" y="21"/>
                    </a:lnTo>
                    <a:lnTo>
                      <a:pt x="213" y="0"/>
                    </a:lnTo>
                    <a:lnTo>
                      <a:pt x="141" y="7"/>
                    </a:lnTo>
                    <a:lnTo>
                      <a:pt x="103" y="69"/>
                    </a:lnTo>
                    <a:lnTo>
                      <a:pt x="83" y="134"/>
                    </a:lnTo>
                    <a:lnTo>
                      <a:pt x="83" y="238"/>
                    </a:lnTo>
                    <a:lnTo>
                      <a:pt x="100" y="337"/>
                    </a:lnTo>
                    <a:lnTo>
                      <a:pt x="120" y="392"/>
                    </a:lnTo>
                    <a:lnTo>
                      <a:pt x="6" y="474"/>
                    </a:lnTo>
                    <a:lnTo>
                      <a:pt x="0" y="505"/>
                    </a:lnTo>
                    <a:lnTo>
                      <a:pt x="17" y="522"/>
                    </a:lnTo>
                    <a:lnTo>
                      <a:pt x="141" y="430"/>
                    </a:lnTo>
                    <a:lnTo>
                      <a:pt x="151" y="454"/>
                    </a:lnTo>
                    <a:close/>
                  </a:path>
                </a:pathLst>
              </a:cu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2" name="Freeform 2061"/>
              <p:cNvSpPr/>
              <p:nvPr/>
            </p:nvSpPr>
            <p:spPr bwMode="auto">
              <a:xfrm>
                <a:off x="3331" y="2919"/>
                <a:ext cx="555" cy="519"/>
              </a:xfrm>
              <a:custGeom>
                <a:avLst/>
                <a:gdLst>
                  <a:gd name="T0" fmla="*/ 250 w 819"/>
                  <a:gd name="T1" fmla="*/ 205 h 908"/>
                  <a:gd name="T2" fmla="*/ 232 w 819"/>
                  <a:gd name="T3" fmla="*/ 218 h 908"/>
                  <a:gd name="T4" fmla="*/ 192 w 819"/>
                  <a:gd name="T5" fmla="*/ 235 h 908"/>
                  <a:gd name="T6" fmla="*/ 156 w 819"/>
                  <a:gd name="T7" fmla="*/ 245 h 908"/>
                  <a:gd name="T8" fmla="*/ 130 w 819"/>
                  <a:gd name="T9" fmla="*/ 255 h 908"/>
                  <a:gd name="T10" fmla="*/ 106 w 819"/>
                  <a:gd name="T11" fmla="*/ 269 h 908"/>
                  <a:gd name="T12" fmla="*/ 104 w 819"/>
                  <a:gd name="T13" fmla="*/ 293 h 908"/>
                  <a:gd name="T14" fmla="*/ 127 w 819"/>
                  <a:gd name="T15" fmla="*/ 297 h 908"/>
                  <a:gd name="T16" fmla="*/ 187 w 819"/>
                  <a:gd name="T17" fmla="*/ 272 h 908"/>
                  <a:gd name="T18" fmla="*/ 232 w 819"/>
                  <a:gd name="T19" fmla="*/ 243 h 908"/>
                  <a:gd name="T20" fmla="*/ 283 w 819"/>
                  <a:gd name="T21" fmla="*/ 206 h 908"/>
                  <a:gd name="T22" fmla="*/ 325 w 819"/>
                  <a:gd name="T23" fmla="*/ 183 h 908"/>
                  <a:gd name="T24" fmla="*/ 362 w 819"/>
                  <a:gd name="T25" fmla="*/ 165 h 908"/>
                  <a:gd name="T26" fmla="*/ 376 w 819"/>
                  <a:gd name="T27" fmla="*/ 156 h 908"/>
                  <a:gd name="T28" fmla="*/ 371 w 819"/>
                  <a:gd name="T29" fmla="*/ 145 h 908"/>
                  <a:gd name="T30" fmla="*/ 354 w 819"/>
                  <a:gd name="T31" fmla="*/ 129 h 908"/>
                  <a:gd name="T32" fmla="*/ 291 w 819"/>
                  <a:gd name="T33" fmla="*/ 105 h 908"/>
                  <a:gd name="T34" fmla="*/ 232 w 819"/>
                  <a:gd name="T35" fmla="*/ 82 h 908"/>
                  <a:gd name="T36" fmla="*/ 159 w 819"/>
                  <a:gd name="T37" fmla="*/ 58 h 908"/>
                  <a:gd name="T38" fmla="*/ 131 w 819"/>
                  <a:gd name="T39" fmla="*/ 45 h 908"/>
                  <a:gd name="T40" fmla="*/ 104 w 819"/>
                  <a:gd name="T41" fmla="*/ 27 h 908"/>
                  <a:gd name="T42" fmla="*/ 75 w 819"/>
                  <a:gd name="T43" fmla="*/ 7 h 908"/>
                  <a:gd name="T44" fmla="*/ 50 w 819"/>
                  <a:gd name="T45" fmla="*/ 0 h 908"/>
                  <a:gd name="T46" fmla="*/ 0 w 819"/>
                  <a:gd name="T47" fmla="*/ 25 h 908"/>
                  <a:gd name="T48" fmla="*/ 3 w 819"/>
                  <a:gd name="T49" fmla="*/ 48 h 908"/>
                  <a:gd name="T50" fmla="*/ 12 w 819"/>
                  <a:gd name="T51" fmla="*/ 57 h 908"/>
                  <a:gd name="T52" fmla="*/ 38 w 819"/>
                  <a:gd name="T53" fmla="*/ 54 h 908"/>
                  <a:gd name="T54" fmla="*/ 33 w 819"/>
                  <a:gd name="T55" fmla="*/ 44 h 908"/>
                  <a:gd name="T56" fmla="*/ 24 w 819"/>
                  <a:gd name="T57" fmla="*/ 40 h 908"/>
                  <a:gd name="T58" fmla="*/ 19 w 819"/>
                  <a:gd name="T59" fmla="*/ 28 h 908"/>
                  <a:gd name="T60" fmla="*/ 47 w 819"/>
                  <a:gd name="T61" fmla="*/ 15 h 908"/>
                  <a:gd name="T62" fmla="*/ 70 w 819"/>
                  <a:gd name="T63" fmla="*/ 28 h 908"/>
                  <a:gd name="T64" fmla="*/ 70 w 819"/>
                  <a:gd name="T65" fmla="*/ 40 h 908"/>
                  <a:gd name="T66" fmla="*/ 61 w 819"/>
                  <a:gd name="T67" fmla="*/ 55 h 908"/>
                  <a:gd name="T68" fmla="*/ 69 w 819"/>
                  <a:gd name="T69" fmla="*/ 65 h 908"/>
                  <a:gd name="T70" fmla="*/ 116 w 819"/>
                  <a:gd name="T71" fmla="*/ 74 h 908"/>
                  <a:gd name="T72" fmla="*/ 135 w 819"/>
                  <a:gd name="T73" fmla="*/ 61 h 908"/>
                  <a:gd name="T74" fmla="*/ 198 w 819"/>
                  <a:gd name="T75" fmla="*/ 89 h 908"/>
                  <a:gd name="T76" fmla="*/ 250 w 819"/>
                  <a:gd name="T77" fmla="*/ 106 h 908"/>
                  <a:gd name="T78" fmla="*/ 279 w 819"/>
                  <a:gd name="T79" fmla="*/ 115 h 908"/>
                  <a:gd name="T80" fmla="*/ 307 w 819"/>
                  <a:gd name="T81" fmla="*/ 126 h 908"/>
                  <a:gd name="T82" fmla="*/ 329 w 819"/>
                  <a:gd name="T83" fmla="*/ 139 h 908"/>
                  <a:gd name="T84" fmla="*/ 343 w 819"/>
                  <a:gd name="T85" fmla="*/ 153 h 908"/>
                  <a:gd name="T86" fmla="*/ 330 w 819"/>
                  <a:gd name="T87" fmla="*/ 162 h 908"/>
                  <a:gd name="T88" fmla="*/ 300 w 819"/>
                  <a:gd name="T89" fmla="*/ 176 h 908"/>
                  <a:gd name="T90" fmla="*/ 269 w 819"/>
                  <a:gd name="T91" fmla="*/ 191 h 908"/>
                  <a:gd name="T92" fmla="*/ 250 w 819"/>
                  <a:gd name="T93" fmla="*/ 205 h 908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19" h="908">
                    <a:moveTo>
                      <a:pt x="545" y="628"/>
                    </a:moveTo>
                    <a:lnTo>
                      <a:pt x="504" y="669"/>
                    </a:lnTo>
                    <a:lnTo>
                      <a:pt x="417" y="720"/>
                    </a:lnTo>
                    <a:lnTo>
                      <a:pt x="339" y="751"/>
                    </a:lnTo>
                    <a:lnTo>
                      <a:pt x="284" y="782"/>
                    </a:lnTo>
                    <a:lnTo>
                      <a:pt x="232" y="823"/>
                    </a:lnTo>
                    <a:lnTo>
                      <a:pt x="226" y="895"/>
                    </a:lnTo>
                    <a:lnTo>
                      <a:pt x="277" y="908"/>
                    </a:lnTo>
                    <a:lnTo>
                      <a:pt x="407" y="833"/>
                    </a:lnTo>
                    <a:lnTo>
                      <a:pt x="504" y="744"/>
                    </a:lnTo>
                    <a:lnTo>
                      <a:pt x="617" y="631"/>
                    </a:lnTo>
                    <a:lnTo>
                      <a:pt x="709" y="559"/>
                    </a:lnTo>
                    <a:lnTo>
                      <a:pt x="788" y="504"/>
                    </a:lnTo>
                    <a:lnTo>
                      <a:pt x="819" y="477"/>
                    </a:lnTo>
                    <a:lnTo>
                      <a:pt x="808" y="443"/>
                    </a:lnTo>
                    <a:lnTo>
                      <a:pt x="771" y="395"/>
                    </a:lnTo>
                    <a:lnTo>
                      <a:pt x="634" y="320"/>
                    </a:lnTo>
                    <a:lnTo>
                      <a:pt x="504" y="250"/>
                    </a:lnTo>
                    <a:lnTo>
                      <a:pt x="345" y="178"/>
                    </a:lnTo>
                    <a:lnTo>
                      <a:pt x="287" y="137"/>
                    </a:lnTo>
                    <a:lnTo>
                      <a:pt x="226" y="82"/>
                    </a:lnTo>
                    <a:lnTo>
                      <a:pt x="164" y="21"/>
                    </a:lnTo>
                    <a:lnTo>
                      <a:pt x="109" y="0"/>
                    </a:lnTo>
                    <a:lnTo>
                      <a:pt x="0" y="76"/>
                    </a:lnTo>
                    <a:lnTo>
                      <a:pt x="7" y="147"/>
                    </a:lnTo>
                    <a:lnTo>
                      <a:pt x="27" y="175"/>
                    </a:lnTo>
                    <a:lnTo>
                      <a:pt x="82" y="164"/>
                    </a:lnTo>
                    <a:lnTo>
                      <a:pt x="72" y="134"/>
                    </a:lnTo>
                    <a:lnTo>
                      <a:pt x="51" y="123"/>
                    </a:lnTo>
                    <a:lnTo>
                      <a:pt x="41" y="86"/>
                    </a:lnTo>
                    <a:lnTo>
                      <a:pt x="102" y="45"/>
                    </a:lnTo>
                    <a:lnTo>
                      <a:pt x="154" y="86"/>
                    </a:lnTo>
                    <a:lnTo>
                      <a:pt x="154" y="123"/>
                    </a:lnTo>
                    <a:lnTo>
                      <a:pt x="133" y="168"/>
                    </a:lnTo>
                    <a:lnTo>
                      <a:pt x="150" y="199"/>
                    </a:lnTo>
                    <a:lnTo>
                      <a:pt x="253" y="226"/>
                    </a:lnTo>
                    <a:lnTo>
                      <a:pt x="294" y="188"/>
                    </a:lnTo>
                    <a:lnTo>
                      <a:pt x="431" y="271"/>
                    </a:lnTo>
                    <a:lnTo>
                      <a:pt x="545" y="323"/>
                    </a:lnTo>
                    <a:lnTo>
                      <a:pt x="607" y="354"/>
                    </a:lnTo>
                    <a:lnTo>
                      <a:pt x="668" y="385"/>
                    </a:lnTo>
                    <a:lnTo>
                      <a:pt x="716" y="426"/>
                    </a:lnTo>
                    <a:lnTo>
                      <a:pt x="747" y="467"/>
                    </a:lnTo>
                    <a:lnTo>
                      <a:pt x="719" y="497"/>
                    </a:lnTo>
                    <a:lnTo>
                      <a:pt x="654" y="539"/>
                    </a:lnTo>
                    <a:lnTo>
                      <a:pt x="586" y="586"/>
                    </a:lnTo>
                    <a:lnTo>
                      <a:pt x="545" y="628"/>
                    </a:lnTo>
                    <a:close/>
                  </a:path>
                </a:pathLst>
              </a:cu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596" name="Text Box 2062"/>
            <p:cNvSpPr txBox="1">
              <a:spLocks noChangeArrowheads="1"/>
            </p:cNvSpPr>
            <p:nvPr/>
          </p:nvSpPr>
          <p:spPr bwMode="auto">
            <a:xfrm>
              <a:off x="1985" y="2882"/>
              <a:ext cx="1400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9900CC"/>
                  </a:solidFill>
                </a:rPr>
                <a:t>滑动轴承的主视图如何选呢？</a:t>
              </a:r>
              <a:endParaRPr lang="zh-CN" altLang="en-US" sz="2400">
                <a:solidFill>
                  <a:srgbClr val="9900CC"/>
                </a:solidFill>
              </a:endParaRPr>
            </a:p>
          </p:txBody>
        </p:sp>
      </p:grpSp>
      <p:sp>
        <p:nvSpPr>
          <p:cNvPr id="24583" name="Text Box 2063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443788" y="6022975"/>
            <a:ext cx="1535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u="sng">
                <a:solidFill>
                  <a:schemeClr val="bg2"/>
                </a:solidFill>
              </a:rPr>
              <a:t>滑动轴承</a:t>
            </a:r>
            <a:endParaRPr lang="zh-CN" altLang="en-US" sz="2400" u="sng">
              <a:solidFill>
                <a:schemeClr val="bg2"/>
              </a:solidFill>
              <a:hlinkClick r:id="" action="ppaction://noaction"/>
            </a:endParaRPr>
          </a:p>
        </p:txBody>
      </p:sp>
      <p:sp>
        <p:nvSpPr>
          <p:cNvPr id="119825" name="Text Box 2065"/>
          <p:cNvSpPr txBox="1">
            <a:spLocks noChangeArrowheads="1"/>
          </p:cNvSpPr>
          <p:nvPr/>
        </p:nvSpPr>
        <p:spPr bwMode="auto">
          <a:xfrm>
            <a:off x="211138" y="2012950"/>
            <a:ext cx="5251450" cy="174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</a:rPr>
              <a:t> </a:t>
            </a:r>
            <a:r>
              <a:rPr lang="en-US" altLang="zh-CN">
                <a:solidFill>
                  <a:schemeClr val="accent2"/>
                </a:solidFill>
                <a:sym typeface="Monotype Sorts" panose="05000000000000000000" pitchFamily="2" charset="2"/>
              </a:rPr>
              <a:t>★</a:t>
            </a:r>
            <a:r>
              <a:rPr lang="en-US" altLang="zh-CN">
                <a:solidFill>
                  <a:schemeClr val="accent2"/>
                </a:solidFill>
              </a:rPr>
              <a:t> </a:t>
            </a:r>
            <a:r>
              <a:rPr lang="zh-CN" altLang="en-US">
                <a:solidFill>
                  <a:schemeClr val="accent2"/>
                </a:solidFill>
              </a:rPr>
              <a:t>能清楚表达部件的工</a:t>
            </a:r>
            <a:endParaRPr lang="zh-CN" altLang="en-US">
              <a:solidFill>
                <a:schemeClr val="accent2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</a:rPr>
              <a:t>     作原理、主要的装配</a:t>
            </a:r>
            <a:endParaRPr lang="zh-CN" altLang="en-US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</a:rPr>
              <a:t>     关系或其结构特征。</a:t>
            </a:r>
            <a:endParaRPr lang="zh-CN" altLang="en-US">
              <a:solidFill>
                <a:schemeClr val="accent2"/>
              </a:solidFill>
            </a:endParaRPr>
          </a:p>
        </p:txBody>
      </p:sp>
      <p:grpSp>
        <p:nvGrpSpPr>
          <p:cNvPr id="119836" name="Group 2076"/>
          <p:cNvGrpSpPr/>
          <p:nvPr/>
        </p:nvGrpSpPr>
        <p:grpSpPr bwMode="auto">
          <a:xfrm>
            <a:off x="4675188" y="1003300"/>
            <a:ext cx="4289425" cy="3236913"/>
            <a:chOff x="2945" y="632"/>
            <a:chExt cx="2702" cy="2039"/>
          </a:xfrm>
        </p:grpSpPr>
        <p:grpSp>
          <p:nvGrpSpPr>
            <p:cNvPr id="24587" name="Group 2075"/>
            <p:cNvGrpSpPr/>
            <p:nvPr/>
          </p:nvGrpSpPr>
          <p:grpSpPr bwMode="auto">
            <a:xfrm>
              <a:off x="2945" y="632"/>
              <a:ext cx="2702" cy="2039"/>
              <a:chOff x="2945" y="632"/>
              <a:chExt cx="2702" cy="2039"/>
            </a:xfrm>
          </p:grpSpPr>
          <p:sp>
            <p:nvSpPr>
              <p:cNvPr id="24593" name="Text Box 2068"/>
              <p:cNvSpPr txBox="1">
                <a:spLocks noChangeArrowheads="1"/>
              </p:cNvSpPr>
              <p:nvPr/>
            </p:nvSpPr>
            <p:spPr bwMode="auto">
              <a:xfrm>
                <a:off x="4022" y="2344"/>
                <a:ext cx="94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>
                    <a:solidFill>
                      <a:srgbClr val="FF3300"/>
                    </a:solidFill>
                  </a:rPr>
                  <a:t>主视图</a:t>
                </a:r>
                <a:endParaRPr lang="zh-CN" altLang="en-US" sz="2800">
                  <a:solidFill>
                    <a:srgbClr val="FF3300"/>
                  </a:solidFill>
                </a:endParaRPr>
              </a:p>
            </p:txBody>
          </p:sp>
          <p:pic>
            <p:nvPicPr>
              <p:cNvPr id="24594" name="Picture 2069" descr="10-10"/>
              <p:cNvPicPr>
                <a:picLocks noChangeAspect="1" noChangeArrowheads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45" y="632"/>
                <a:ext cx="2702" cy="1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4588" name="Line 2070"/>
            <p:cNvSpPr>
              <a:spLocks noChangeShapeType="1"/>
            </p:cNvSpPr>
            <p:nvPr/>
          </p:nvSpPr>
          <p:spPr bwMode="auto">
            <a:xfrm>
              <a:off x="4368" y="1212"/>
              <a:ext cx="246" cy="2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9" name="Line 2071"/>
            <p:cNvSpPr>
              <a:spLocks noChangeShapeType="1"/>
            </p:cNvSpPr>
            <p:nvPr/>
          </p:nvSpPr>
          <p:spPr bwMode="auto">
            <a:xfrm>
              <a:off x="4410" y="1206"/>
              <a:ext cx="186" cy="1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0" name="Line 2072"/>
            <p:cNvSpPr>
              <a:spLocks noChangeShapeType="1"/>
            </p:cNvSpPr>
            <p:nvPr/>
          </p:nvSpPr>
          <p:spPr bwMode="auto">
            <a:xfrm flipV="1">
              <a:off x="4362" y="1536"/>
              <a:ext cx="252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1" name="Line 2073"/>
            <p:cNvSpPr>
              <a:spLocks noChangeShapeType="1"/>
            </p:cNvSpPr>
            <p:nvPr/>
          </p:nvSpPr>
          <p:spPr bwMode="auto">
            <a:xfrm flipV="1">
              <a:off x="4422" y="1620"/>
              <a:ext cx="156" cy="1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2" name="Line 2074"/>
            <p:cNvSpPr>
              <a:spLocks noChangeShapeType="1"/>
            </p:cNvSpPr>
            <p:nvPr/>
          </p:nvSpPr>
          <p:spPr bwMode="auto">
            <a:xfrm flipV="1">
              <a:off x="4296" y="1746"/>
              <a:ext cx="60" cy="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9824" name="Text Box 2064"/>
          <p:cNvSpPr txBox="1">
            <a:spLocks noChangeArrowheads="1"/>
          </p:cNvSpPr>
          <p:nvPr/>
        </p:nvSpPr>
        <p:spPr bwMode="auto">
          <a:xfrm>
            <a:off x="282575" y="1477963"/>
            <a:ext cx="4851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sym typeface="Monotype Sorts" panose="05000000000000000000" pitchFamily="2" charset="2"/>
              </a:rPr>
              <a:t>★</a:t>
            </a:r>
            <a:r>
              <a:rPr lang="en-US" altLang="zh-CN"/>
              <a:t> </a:t>
            </a:r>
            <a:r>
              <a:rPr lang="zh-CN" altLang="en-US">
                <a:solidFill>
                  <a:schemeClr val="accent2"/>
                </a:solidFill>
              </a:rPr>
              <a:t>符合部件的</a:t>
            </a:r>
            <a:r>
              <a:rPr lang="zh-CN" altLang="en-US">
                <a:solidFill>
                  <a:srgbClr val="FF3300"/>
                </a:solidFill>
              </a:rPr>
              <a:t>工作状态</a:t>
            </a:r>
            <a:r>
              <a:rPr lang="zh-CN" altLang="en-US">
                <a:solidFill>
                  <a:schemeClr val="accent2"/>
                </a:solidFill>
              </a:rPr>
              <a:t>。</a:t>
            </a:r>
            <a:endParaRPr lang="zh-CN" alt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9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9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119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0" fill="hold"/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0" fill="hold"/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9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9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autoUpdateAnimBg="0"/>
      <p:bldP spid="119812" grpId="0" autoUpdateAnimBg="0"/>
      <p:bldP spid="119813" grpId="0" autoUpdateAnimBg="0"/>
      <p:bldP spid="119825" grpId="0" autoUpdateAnimBg="0"/>
      <p:bldP spid="11982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834" name="Group 7170"/>
          <p:cNvGrpSpPr/>
          <p:nvPr/>
        </p:nvGrpSpPr>
        <p:grpSpPr bwMode="auto">
          <a:xfrm>
            <a:off x="484188" y="1027113"/>
            <a:ext cx="3187700" cy="2224087"/>
            <a:chOff x="5079" y="1841"/>
            <a:chExt cx="2008" cy="1401"/>
          </a:xfrm>
        </p:grpSpPr>
        <p:grpSp>
          <p:nvGrpSpPr>
            <p:cNvPr id="25614" name="Group 7171"/>
            <p:cNvGrpSpPr/>
            <p:nvPr/>
          </p:nvGrpSpPr>
          <p:grpSpPr bwMode="auto">
            <a:xfrm>
              <a:off x="5079" y="1841"/>
              <a:ext cx="874" cy="1401"/>
              <a:chOff x="5079" y="1841"/>
              <a:chExt cx="874" cy="1401"/>
            </a:xfrm>
          </p:grpSpPr>
          <p:sp>
            <p:nvSpPr>
              <p:cNvPr id="25616" name="Freeform 7172"/>
              <p:cNvSpPr/>
              <p:nvPr/>
            </p:nvSpPr>
            <p:spPr bwMode="auto">
              <a:xfrm flipH="1">
                <a:off x="5611" y="2270"/>
                <a:ext cx="342" cy="477"/>
              </a:xfrm>
              <a:custGeom>
                <a:avLst/>
                <a:gdLst>
                  <a:gd name="T0" fmla="*/ 123 w 505"/>
                  <a:gd name="T1" fmla="*/ 41 h 835"/>
                  <a:gd name="T2" fmla="*/ 146 w 505"/>
                  <a:gd name="T3" fmla="*/ 23 h 835"/>
                  <a:gd name="T4" fmla="*/ 179 w 505"/>
                  <a:gd name="T5" fmla="*/ 7 h 835"/>
                  <a:gd name="T6" fmla="*/ 203 w 505"/>
                  <a:gd name="T7" fmla="*/ 0 h 835"/>
                  <a:gd name="T8" fmla="*/ 232 w 505"/>
                  <a:gd name="T9" fmla="*/ 1 h 835"/>
                  <a:gd name="T10" fmla="*/ 232 w 505"/>
                  <a:gd name="T11" fmla="*/ 17 h 835"/>
                  <a:gd name="T12" fmla="*/ 217 w 505"/>
                  <a:gd name="T13" fmla="*/ 30 h 835"/>
                  <a:gd name="T14" fmla="*/ 191 w 505"/>
                  <a:gd name="T15" fmla="*/ 41 h 835"/>
                  <a:gd name="T16" fmla="*/ 125 w 505"/>
                  <a:gd name="T17" fmla="*/ 62 h 835"/>
                  <a:gd name="T18" fmla="*/ 61 w 505"/>
                  <a:gd name="T19" fmla="*/ 88 h 835"/>
                  <a:gd name="T20" fmla="*/ 35 w 505"/>
                  <a:gd name="T21" fmla="*/ 94 h 835"/>
                  <a:gd name="T22" fmla="*/ 25 w 505"/>
                  <a:gd name="T23" fmla="*/ 105 h 835"/>
                  <a:gd name="T24" fmla="*/ 35 w 505"/>
                  <a:gd name="T25" fmla="*/ 115 h 835"/>
                  <a:gd name="T26" fmla="*/ 89 w 505"/>
                  <a:gd name="T27" fmla="*/ 153 h 835"/>
                  <a:gd name="T28" fmla="*/ 114 w 505"/>
                  <a:gd name="T29" fmla="*/ 165 h 835"/>
                  <a:gd name="T30" fmla="*/ 152 w 505"/>
                  <a:gd name="T31" fmla="*/ 186 h 835"/>
                  <a:gd name="T32" fmla="*/ 191 w 505"/>
                  <a:gd name="T33" fmla="*/ 206 h 835"/>
                  <a:gd name="T34" fmla="*/ 189 w 505"/>
                  <a:gd name="T35" fmla="*/ 217 h 835"/>
                  <a:gd name="T36" fmla="*/ 161 w 505"/>
                  <a:gd name="T37" fmla="*/ 219 h 835"/>
                  <a:gd name="T38" fmla="*/ 118 w 505"/>
                  <a:gd name="T39" fmla="*/ 219 h 835"/>
                  <a:gd name="T40" fmla="*/ 91 w 505"/>
                  <a:gd name="T41" fmla="*/ 230 h 835"/>
                  <a:gd name="T42" fmla="*/ 82 w 505"/>
                  <a:gd name="T43" fmla="*/ 255 h 835"/>
                  <a:gd name="T44" fmla="*/ 82 w 505"/>
                  <a:gd name="T45" fmla="*/ 269 h 835"/>
                  <a:gd name="T46" fmla="*/ 70 w 505"/>
                  <a:gd name="T47" fmla="*/ 272 h 835"/>
                  <a:gd name="T48" fmla="*/ 54 w 505"/>
                  <a:gd name="T49" fmla="*/ 260 h 835"/>
                  <a:gd name="T50" fmla="*/ 56 w 505"/>
                  <a:gd name="T51" fmla="*/ 239 h 835"/>
                  <a:gd name="T52" fmla="*/ 72 w 505"/>
                  <a:gd name="T53" fmla="*/ 223 h 835"/>
                  <a:gd name="T54" fmla="*/ 104 w 505"/>
                  <a:gd name="T55" fmla="*/ 210 h 835"/>
                  <a:gd name="T56" fmla="*/ 138 w 505"/>
                  <a:gd name="T57" fmla="*/ 203 h 835"/>
                  <a:gd name="T58" fmla="*/ 142 w 505"/>
                  <a:gd name="T59" fmla="*/ 196 h 835"/>
                  <a:gd name="T60" fmla="*/ 125 w 505"/>
                  <a:gd name="T61" fmla="*/ 183 h 835"/>
                  <a:gd name="T62" fmla="*/ 52 w 505"/>
                  <a:gd name="T63" fmla="*/ 149 h 835"/>
                  <a:gd name="T64" fmla="*/ 30 w 505"/>
                  <a:gd name="T65" fmla="*/ 136 h 835"/>
                  <a:gd name="T66" fmla="*/ 9 w 505"/>
                  <a:gd name="T67" fmla="*/ 118 h 835"/>
                  <a:gd name="T68" fmla="*/ 0 w 505"/>
                  <a:gd name="T69" fmla="*/ 98 h 835"/>
                  <a:gd name="T70" fmla="*/ 6 w 505"/>
                  <a:gd name="T71" fmla="*/ 86 h 835"/>
                  <a:gd name="T72" fmla="*/ 42 w 505"/>
                  <a:gd name="T73" fmla="*/ 78 h 835"/>
                  <a:gd name="T74" fmla="*/ 86 w 505"/>
                  <a:gd name="T75" fmla="*/ 65 h 835"/>
                  <a:gd name="T76" fmla="*/ 114 w 505"/>
                  <a:gd name="T77" fmla="*/ 50 h 835"/>
                  <a:gd name="T78" fmla="*/ 123 w 505"/>
                  <a:gd name="T79" fmla="*/ 41 h 83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505" h="835">
                    <a:moveTo>
                      <a:pt x="267" y="124"/>
                    </a:moveTo>
                    <a:lnTo>
                      <a:pt x="319" y="72"/>
                    </a:lnTo>
                    <a:lnTo>
                      <a:pt x="392" y="21"/>
                    </a:lnTo>
                    <a:lnTo>
                      <a:pt x="443" y="0"/>
                    </a:lnTo>
                    <a:lnTo>
                      <a:pt x="505" y="4"/>
                    </a:lnTo>
                    <a:lnTo>
                      <a:pt x="505" y="52"/>
                    </a:lnTo>
                    <a:lnTo>
                      <a:pt x="474" y="93"/>
                    </a:lnTo>
                    <a:lnTo>
                      <a:pt x="416" y="124"/>
                    </a:lnTo>
                    <a:lnTo>
                      <a:pt x="271" y="190"/>
                    </a:lnTo>
                    <a:lnTo>
                      <a:pt x="133" y="269"/>
                    </a:lnTo>
                    <a:lnTo>
                      <a:pt x="75" y="289"/>
                    </a:lnTo>
                    <a:lnTo>
                      <a:pt x="55" y="320"/>
                    </a:lnTo>
                    <a:lnTo>
                      <a:pt x="75" y="351"/>
                    </a:lnTo>
                    <a:lnTo>
                      <a:pt x="195" y="467"/>
                    </a:lnTo>
                    <a:lnTo>
                      <a:pt x="250" y="505"/>
                    </a:lnTo>
                    <a:lnTo>
                      <a:pt x="332" y="570"/>
                    </a:lnTo>
                    <a:lnTo>
                      <a:pt x="416" y="632"/>
                    </a:lnTo>
                    <a:lnTo>
                      <a:pt x="412" y="663"/>
                    </a:lnTo>
                    <a:lnTo>
                      <a:pt x="350" y="673"/>
                    </a:lnTo>
                    <a:lnTo>
                      <a:pt x="257" y="673"/>
                    </a:lnTo>
                    <a:lnTo>
                      <a:pt x="199" y="704"/>
                    </a:lnTo>
                    <a:lnTo>
                      <a:pt x="178" y="783"/>
                    </a:lnTo>
                    <a:lnTo>
                      <a:pt x="178" y="825"/>
                    </a:lnTo>
                    <a:lnTo>
                      <a:pt x="154" y="835"/>
                    </a:lnTo>
                    <a:lnTo>
                      <a:pt x="116" y="797"/>
                    </a:lnTo>
                    <a:lnTo>
                      <a:pt x="123" y="731"/>
                    </a:lnTo>
                    <a:lnTo>
                      <a:pt x="157" y="683"/>
                    </a:lnTo>
                    <a:lnTo>
                      <a:pt x="226" y="642"/>
                    </a:lnTo>
                    <a:lnTo>
                      <a:pt x="301" y="622"/>
                    </a:lnTo>
                    <a:lnTo>
                      <a:pt x="308" y="601"/>
                    </a:lnTo>
                    <a:lnTo>
                      <a:pt x="271" y="560"/>
                    </a:lnTo>
                    <a:lnTo>
                      <a:pt x="113" y="457"/>
                    </a:lnTo>
                    <a:lnTo>
                      <a:pt x="65" y="416"/>
                    </a:lnTo>
                    <a:lnTo>
                      <a:pt x="20" y="361"/>
                    </a:lnTo>
                    <a:lnTo>
                      <a:pt x="0" y="299"/>
                    </a:lnTo>
                    <a:lnTo>
                      <a:pt x="13" y="262"/>
                    </a:lnTo>
                    <a:lnTo>
                      <a:pt x="92" y="238"/>
                    </a:lnTo>
                    <a:lnTo>
                      <a:pt x="188" y="197"/>
                    </a:lnTo>
                    <a:lnTo>
                      <a:pt x="250" y="154"/>
                    </a:lnTo>
                    <a:lnTo>
                      <a:pt x="267" y="1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17" name="Freeform 7173" descr="大纸屑"/>
              <p:cNvSpPr/>
              <p:nvPr/>
            </p:nvSpPr>
            <p:spPr bwMode="auto">
              <a:xfrm flipH="1">
                <a:off x="5410" y="2249"/>
                <a:ext cx="238" cy="456"/>
              </a:xfrm>
              <a:custGeom>
                <a:avLst/>
                <a:gdLst>
                  <a:gd name="T0" fmla="*/ 35 w 351"/>
                  <a:gd name="T1" fmla="*/ 20 h 799"/>
                  <a:gd name="T2" fmla="*/ 49 w 351"/>
                  <a:gd name="T3" fmla="*/ 3 h 799"/>
                  <a:gd name="T4" fmla="*/ 66 w 351"/>
                  <a:gd name="T5" fmla="*/ 0 h 799"/>
                  <a:gd name="T6" fmla="*/ 90 w 351"/>
                  <a:gd name="T7" fmla="*/ 0 h 799"/>
                  <a:gd name="T8" fmla="*/ 120 w 351"/>
                  <a:gd name="T9" fmla="*/ 12 h 799"/>
                  <a:gd name="T10" fmla="*/ 139 w 351"/>
                  <a:gd name="T11" fmla="*/ 39 h 799"/>
                  <a:gd name="T12" fmla="*/ 153 w 351"/>
                  <a:gd name="T13" fmla="*/ 74 h 799"/>
                  <a:gd name="T14" fmla="*/ 161 w 351"/>
                  <a:gd name="T15" fmla="*/ 110 h 799"/>
                  <a:gd name="T16" fmla="*/ 161 w 351"/>
                  <a:gd name="T17" fmla="*/ 158 h 799"/>
                  <a:gd name="T18" fmla="*/ 144 w 351"/>
                  <a:gd name="T19" fmla="*/ 210 h 799"/>
                  <a:gd name="T20" fmla="*/ 119 w 351"/>
                  <a:gd name="T21" fmla="*/ 241 h 799"/>
                  <a:gd name="T22" fmla="*/ 85 w 351"/>
                  <a:gd name="T23" fmla="*/ 257 h 799"/>
                  <a:gd name="T24" fmla="*/ 54 w 351"/>
                  <a:gd name="T25" fmla="*/ 260 h 799"/>
                  <a:gd name="T26" fmla="*/ 30 w 351"/>
                  <a:gd name="T27" fmla="*/ 250 h 799"/>
                  <a:gd name="T28" fmla="*/ 11 w 351"/>
                  <a:gd name="T29" fmla="*/ 238 h 799"/>
                  <a:gd name="T30" fmla="*/ 6 w 351"/>
                  <a:gd name="T31" fmla="*/ 218 h 799"/>
                  <a:gd name="T32" fmla="*/ 0 w 351"/>
                  <a:gd name="T33" fmla="*/ 180 h 799"/>
                  <a:gd name="T34" fmla="*/ 5 w 351"/>
                  <a:gd name="T35" fmla="*/ 133 h 799"/>
                  <a:gd name="T36" fmla="*/ 19 w 351"/>
                  <a:gd name="T37" fmla="*/ 84 h 799"/>
                  <a:gd name="T38" fmla="*/ 28 w 351"/>
                  <a:gd name="T39" fmla="*/ 49 h 799"/>
                  <a:gd name="T40" fmla="*/ 35 w 351"/>
                  <a:gd name="T41" fmla="*/ 20 h 79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51" h="799">
                    <a:moveTo>
                      <a:pt x="75" y="61"/>
                    </a:moveTo>
                    <a:lnTo>
                      <a:pt x="106" y="10"/>
                    </a:lnTo>
                    <a:lnTo>
                      <a:pt x="144" y="0"/>
                    </a:lnTo>
                    <a:lnTo>
                      <a:pt x="196" y="0"/>
                    </a:lnTo>
                    <a:lnTo>
                      <a:pt x="261" y="37"/>
                    </a:lnTo>
                    <a:lnTo>
                      <a:pt x="302" y="120"/>
                    </a:lnTo>
                    <a:lnTo>
                      <a:pt x="333" y="227"/>
                    </a:lnTo>
                    <a:lnTo>
                      <a:pt x="351" y="336"/>
                    </a:lnTo>
                    <a:lnTo>
                      <a:pt x="351" y="484"/>
                    </a:lnTo>
                    <a:lnTo>
                      <a:pt x="313" y="645"/>
                    </a:lnTo>
                    <a:lnTo>
                      <a:pt x="258" y="740"/>
                    </a:lnTo>
                    <a:lnTo>
                      <a:pt x="185" y="788"/>
                    </a:lnTo>
                    <a:lnTo>
                      <a:pt x="117" y="799"/>
                    </a:lnTo>
                    <a:lnTo>
                      <a:pt x="65" y="768"/>
                    </a:lnTo>
                    <a:lnTo>
                      <a:pt x="24" y="730"/>
                    </a:lnTo>
                    <a:lnTo>
                      <a:pt x="13" y="669"/>
                    </a:lnTo>
                    <a:lnTo>
                      <a:pt x="0" y="552"/>
                    </a:lnTo>
                    <a:lnTo>
                      <a:pt x="10" y="408"/>
                    </a:lnTo>
                    <a:lnTo>
                      <a:pt x="41" y="258"/>
                    </a:lnTo>
                    <a:lnTo>
                      <a:pt x="61" y="150"/>
                    </a:lnTo>
                    <a:lnTo>
                      <a:pt x="75" y="61"/>
                    </a:lnTo>
                    <a:close/>
                  </a:path>
                </a:pathLst>
              </a:custGeom>
              <a:blipFill dpi="0" rotWithShape="0">
                <a:blip r:embed="rId1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18" name="Freeform 7174"/>
              <p:cNvSpPr/>
              <p:nvPr/>
            </p:nvSpPr>
            <p:spPr bwMode="auto">
              <a:xfrm flipH="1">
                <a:off x="5444" y="2646"/>
                <a:ext cx="138" cy="596"/>
              </a:xfrm>
              <a:custGeom>
                <a:avLst/>
                <a:gdLst>
                  <a:gd name="T0" fmla="*/ 45 w 205"/>
                  <a:gd name="T1" fmla="*/ 61 h 1043"/>
                  <a:gd name="T2" fmla="*/ 32 w 205"/>
                  <a:gd name="T3" fmla="*/ 38 h 1043"/>
                  <a:gd name="T4" fmla="*/ 32 w 205"/>
                  <a:gd name="T5" fmla="*/ 13 h 1043"/>
                  <a:gd name="T6" fmla="*/ 49 w 205"/>
                  <a:gd name="T7" fmla="*/ 0 h 1043"/>
                  <a:gd name="T8" fmla="*/ 69 w 205"/>
                  <a:gd name="T9" fmla="*/ 6 h 1043"/>
                  <a:gd name="T10" fmla="*/ 83 w 205"/>
                  <a:gd name="T11" fmla="*/ 30 h 1043"/>
                  <a:gd name="T12" fmla="*/ 91 w 205"/>
                  <a:gd name="T13" fmla="*/ 70 h 1043"/>
                  <a:gd name="T14" fmla="*/ 93 w 205"/>
                  <a:gd name="T15" fmla="*/ 121 h 1043"/>
                  <a:gd name="T16" fmla="*/ 88 w 205"/>
                  <a:gd name="T17" fmla="*/ 165 h 1043"/>
                  <a:gd name="T18" fmla="*/ 79 w 205"/>
                  <a:gd name="T19" fmla="*/ 211 h 1043"/>
                  <a:gd name="T20" fmla="*/ 79 w 205"/>
                  <a:gd name="T21" fmla="*/ 269 h 1043"/>
                  <a:gd name="T22" fmla="*/ 91 w 205"/>
                  <a:gd name="T23" fmla="*/ 292 h 1043"/>
                  <a:gd name="T24" fmla="*/ 87 w 205"/>
                  <a:gd name="T25" fmla="*/ 303 h 1043"/>
                  <a:gd name="T26" fmla="*/ 65 w 205"/>
                  <a:gd name="T27" fmla="*/ 307 h 1043"/>
                  <a:gd name="T28" fmla="*/ 42 w 205"/>
                  <a:gd name="T29" fmla="*/ 323 h 1043"/>
                  <a:gd name="T30" fmla="*/ 31 w 205"/>
                  <a:gd name="T31" fmla="*/ 336 h 1043"/>
                  <a:gd name="T32" fmla="*/ 5 w 205"/>
                  <a:gd name="T33" fmla="*/ 341 h 1043"/>
                  <a:gd name="T34" fmla="*/ 0 w 205"/>
                  <a:gd name="T35" fmla="*/ 326 h 1043"/>
                  <a:gd name="T36" fmla="*/ 9 w 205"/>
                  <a:gd name="T37" fmla="*/ 314 h 1043"/>
                  <a:gd name="T38" fmla="*/ 42 w 205"/>
                  <a:gd name="T39" fmla="*/ 303 h 1043"/>
                  <a:gd name="T40" fmla="*/ 65 w 205"/>
                  <a:gd name="T41" fmla="*/ 296 h 1043"/>
                  <a:gd name="T42" fmla="*/ 73 w 205"/>
                  <a:gd name="T43" fmla="*/ 289 h 1043"/>
                  <a:gd name="T44" fmla="*/ 63 w 205"/>
                  <a:gd name="T45" fmla="*/ 270 h 1043"/>
                  <a:gd name="T46" fmla="*/ 56 w 205"/>
                  <a:gd name="T47" fmla="*/ 231 h 1043"/>
                  <a:gd name="T48" fmla="*/ 54 w 205"/>
                  <a:gd name="T49" fmla="*/ 186 h 1043"/>
                  <a:gd name="T50" fmla="*/ 56 w 205"/>
                  <a:gd name="T51" fmla="*/ 155 h 1043"/>
                  <a:gd name="T52" fmla="*/ 59 w 205"/>
                  <a:gd name="T53" fmla="*/ 114 h 1043"/>
                  <a:gd name="T54" fmla="*/ 54 w 205"/>
                  <a:gd name="T55" fmla="*/ 77 h 1043"/>
                  <a:gd name="T56" fmla="*/ 45 w 205"/>
                  <a:gd name="T57" fmla="*/ 61 h 1043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205" h="1043">
                    <a:moveTo>
                      <a:pt x="99" y="185"/>
                    </a:moveTo>
                    <a:lnTo>
                      <a:pt x="71" y="116"/>
                    </a:lnTo>
                    <a:lnTo>
                      <a:pt x="71" y="41"/>
                    </a:lnTo>
                    <a:lnTo>
                      <a:pt x="109" y="0"/>
                    </a:lnTo>
                    <a:lnTo>
                      <a:pt x="153" y="20"/>
                    </a:lnTo>
                    <a:lnTo>
                      <a:pt x="184" y="92"/>
                    </a:lnTo>
                    <a:lnTo>
                      <a:pt x="201" y="216"/>
                    </a:lnTo>
                    <a:lnTo>
                      <a:pt x="205" y="370"/>
                    </a:lnTo>
                    <a:lnTo>
                      <a:pt x="194" y="504"/>
                    </a:lnTo>
                    <a:lnTo>
                      <a:pt x="174" y="648"/>
                    </a:lnTo>
                    <a:lnTo>
                      <a:pt x="174" y="823"/>
                    </a:lnTo>
                    <a:lnTo>
                      <a:pt x="201" y="895"/>
                    </a:lnTo>
                    <a:lnTo>
                      <a:pt x="191" y="929"/>
                    </a:lnTo>
                    <a:lnTo>
                      <a:pt x="143" y="940"/>
                    </a:lnTo>
                    <a:lnTo>
                      <a:pt x="92" y="988"/>
                    </a:lnTo>
                    <a:lnTo>
                      <a:pt x="68" y="1029"/>
                    </a:lnTo>
                    <a:lnTo>
                      <a:pt x="10" y="1043"/>
                    </a:lnTo>
                    <a:lnTo>
                      <a:pt x="0" y="998"/>
                    </a:lnTo>
                    <a:lnTo>
                      <a:pt x="20" y="960"/>
                    </a:lnTo>
                    <a:lnTo>
                      <a:pt x="92" y="929"/>
                    </a:lnTo>
                    <a:lnTo>
                      <a:pt x="143" y="906"/>
                    </a:lnTo>
                    <a:lnTo>
                      <a:pt x="160" y="885"/>
                    </a:lnTo>
                    <a:lnTo>
                      <a:pt x="140" y="827"/>
                    </a:lnTo>
                    <a:lnTo>
                      <a:pt x="123" y="709"/>
                    </a:lnTo>
                    <a:lnTo>
                      <a:pt x="119" y="569"/>
                    </a:lnTo>
                    <a:lnTo>
                      <a:pt x="123" y="476"/>
                    </a:lnTo>
                    <a:lnTo>
                      <a:pt x="129" y="350"/>
                    </a:lnTo>
                    <a:lnTo>
                      <a:pt x="119" y="237"/>
                    </a:lnTo>
                    <a:lnTo>
                      <a:pt x="99" y="185"/>
                    </a:lnTo>
                    <a:close/>
                  </a:path>
                </a:pathLst>
              </a:cu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19" name="Freeform 7175"/>
              <p:cNvSpPr/>
              <p:nvPr/>
            </p:nvSpPr>
            <p:spPr bwMode="auto">
              <a:xfrm flipH="1">
                <a:off x="5561" y="2647"/>
                <a:ext cx="217" cy="594"/>
              </a:xfrm>
              <a:custGeom>
                <a:avLst/>
                <a:gdLst>
                  <a:gd name="T0" fmla="*/ 91 w 320"/>
                  <a:gd name="T1" fmla="*/ 31 h 1040"/>
                  <a:gd name="T2" fmla="*/ 106 w 320"/>
                  <a:gd name="T3" fmla="*/ 10 h 1040"/>
                  <a:gd name="T4" fmla="*/ 125 w 320"/>
                  <a:gd name="T5" fmla="*/ 0 h 1040"/>
                  <a:gd name="T6" fmla="*/ 147 w 320"/>
                  <a:gd name="T7" fmla="*/ 6 h 1040"/>
                  <a:gd name="T8" fmla="*/ 144 w 320"/>
                  <a:gd name="T9" fmla="*/ 27 h 1040"/>
                  <a:gd name="T10" fmla="*/ 130 w 320"/>
                  <a:gd name="T11" fmla="*/ 41 h 1040"/>
                  <a:gd name="T12" fmla="*/ 102 w 320"/>
                  <a:gd name="T13" fmla="*/ 77 h 1040"/>
                  <a:gd name="T14" fmla="*/ 83 w 320"/>
                  <a:gd name="T15" fmla="*/ 112 h 1040"/>
                  <a:gd name="T16" fmla="*/ 72 w 320"/>
                  <a:gd name="T17" fmla="*/ 149 h 1040"/>
                  <a:gd name="T18" fmla="*/ 73 w 320"/>
                  <a:gd name="T19" fmla="*/ 184 h 1040"/>
                  <a:gd name="T20" fmla="*/ 91 w 320"/>
                  <a:gd name="T21" fmla="*/ 232 h 1040"/>
                  <a:gd name="T22" fmla="*/ 105 w 320"/>
                  <a:gd name="T23" fmla="*/ 279 h 1040"/>
                  <a:gd name="T24" fmla="*/ 125 w 320"/>
                  <a:gd name="T25" fmla="*/ 299 h 1040"/>
                  <a:gd name="T26" fmla="*/ 123 w 320"/>
                  <a:gd name="T27" fmla="*/ 310 h 1040"/>
                  <a:gd name="T28" fmla="*/ 106 w 320"/>
                  <a:gd name="T29" fmla="*/ 316 h 1040"/>
                  <a:gd name="T30" fmla="*/ 66 w 320"/>
                  <a:gd name="T31" fmla="*/ 320 h 1040"/>
                  <a:gd name="T32" fmla="*/ 39 w 320"/>
                  <a:gd name="T33" fmla="*/ 332 h 1040"/>
                  <a:gd name="T34" fmla="*/ 24 w 320"/>
                  <a:gd name="T35" fmla="*/ 339 h 1040"/>
                  <a:gd name="T36" fmla="*/ 0 w 320"/>
                  <a:gd name="T37" fmla="*/ 324 h 1040"/>
                  <a:gd name="T38" fmla="*/ 5 w 320"/>
                  <a:gd name="T39" fmla="*/ 314 h 1040"/>
                  <a:gd name="T40" fmla="*/ 28 w 320"/>
                  <a:gd name="T41" fmla="*/ 307 h 1040"/>
                  <a:gd name="T42" fmla="*/ 59 w 320"/>
                  <a:gd name="T43" fmla="*/ 303 h 1040"/>
                  <a:gd name="T44" fmla="*/ 87 w 320"/>
                  <a:gd name="T45" fmla="*/ 303 h 1040"/>
                  <a:gd name="T46" fmla="*/ 92 w 320"/>
                  <a:gd name="T47" fmla="*/ 297 h 1040"/>
                  <a:gd name="T48" fmla="*/ 87 w 320"/>
                  <a:gd name="T49" fmla="*/ 286 h 1040"/>
                  <a:gd name="T50" fmla="*/ 64 w 320"/>
                  <a:gd name="T51" fmla="*/ 242 h 1040"/>
                  <a:gd name="T52" fmla="*/ 48 w 320"/>
                  <a:gd name="T53" fmla="*/ 199 h 1040"/>
                  <a:gd name="T54" fmla="*/ 40 w 320"/>
                  <a:gd name="T55" fmla="*/ 168 h 1040"/>
                  <a:gd name="T56" fmla="*/ 39 w 320"/>
                  <a:gd name="T57" fmla="*/ 139 h 1040"/>
                  <a:gd name="T58" fmla="*/ 45 w 320"/>
                  <a:gd name="T59" fmla="*/ 111 h 1040"/>
                  <a:gd name="T60" fmla="*/ 59 w 320"/>
                  <a:gd name="T61" fmla="*/ 82 h 1040"/>
                  <a:gd name="T62" fmla="*/ 81 w 320"/>
                  <a:gd name="T63" fmla="*/ 43 h 1040"/>
                  <a:gd name="T64" fmla="*/ 91 w 320"/>
                  <a:gd name="T65" fmla="*/ 31 h 104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20" h="1040">
                    <a:moveTo>
                      <a:pt x="197" y="96"/>
                    </a:moveTo>
                    <a:lnTo>
                      <a:pt x="231" y="31"/>
                    </a:lnTo>
                    <a:lnTo>
                      <a:pt x="272" y="0"/>
                    </a:lnTo>
                    <a:lnTo>
                      <a:pt x="320" y="20"/>
                    </a:lnTo>
                    <a:lnTo>
                      <a:pt x="313" y="82"/>
                    </a:lnTo>
                    <a:lnTo>
                      <a:pt x="282" y="126"/>
                    </a:lnTo>
                    <a:lnTo>
                      <a:pt x="221" y="237"/>
                    </a:lnTo>
                    <a:lnTo>
                      <a:pt x="180" y="343"/>
                    </a:lnTo>
                    <a:lnTo>
                      <a:pt x="156" y="456"/>
                    </a:lnTo>
                    <a:lnTo>
                      <a:pt x="159" y="566"/>
                    </a:lnTo>
                    <a:lnTo>
                      <a:pt x="197" y="713"/>
                    </a:lnTo>
                    <a:lnTo>
                      <a:pt x="228" y="855"/>
                    </a:lnTo>
                    <a:lnTo>
                      <a:pt x="272" y="916"/>
                    </a:lnTo>
                    <a:lnTo>
                      <a:pt x="269" y="951"/>
                    </a:lnTo>
                    <a:lnTo>
                      <a:pt x="231" y="968"/>
                    </a:lnTo>
                    <a:lnTo>
                      <a:pt x="145" y="981"/>
                    </a:lnTo>
                    <a:lnTo>
                      <a:pt x="84" y="1019"/>
                    </a:lnTo>
                    <a:lnTo>
                      <a:pt x="52" y="1040"/>
                    </a:lnTo>
                    <a:lnTo>
                      <a:pt x="0" y="992"/>
                    </a:lnTo>
                    <a:lnTo>
                      <a:pt x="11" y="961"/>
                    </a:lnTo>
                    <a:lnTo>
                      <a:pt x="62" y="940"/>
                    </a:lnTo>
                    <a:lnTo>
                      <a:pt x="128" y="930"/>
                    </a:lnTo>
                    <a:lnTo>
                      <a:pt x="190" y="930"/>
                    </a:lnTo>
                    <a:lnTo>
                      <a:pt x="200" y="910"/>
                    </a:lnTo>
                    <a:lnTo>
                      <a:pt x="190" y="875"/>
                    </a:lnTo>
                    <a:lnTo>
                      <a:pt x="138" y="741"/>
                    </a:lnTo>
                    <a:lnTo>
                      <a:pt x="104" y="610"/>
                    </a:lnTo>
                    <a:lnTo>
                      <a:pt x="87" y="515"/>
                    </a:lnTo>
                    <a:lnTo>
                      <a:pt x="84" y="426"/>
                    </a:lnTo>
                    <a:lnTo>
                      <a:pt x="97" y="340"/>
                    </a:lnTo>
                    <a:lnTo>
                      <a:pt x="128" y="251"/>
                    </a:lnTo>
                    <a:lnTo>
                      <a:pt x="176" y="133"/>
                    </a:lnTo>
                    <a:lnTo>
                      <a:pt x="197" y="96"/>
                    </a:lnTo>
                    <a:close/>
                  </a:path>
                </a:pathLst>
              </a:cu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0" name="Freeform 7176"/>
              <p:cNvSpPr/>
              <p:nvPr/>
            </p:nvSpPr>
            <p:spPr bwMode="auto">
              <a:xfrm flipH="1">
                <a:off x="5457" y="1907"/>
                <a:ext cx="279" cy="310"/>
              </a:xfrm>
              <a:custGeom>
                <a:avLst/>
                <a:gdLst>
                  <a:gd name="T0" fmla="*/ 69 w 412"/>
                  <a:gd name="T1" fmla="*/ 148 h 543"/>
                  <a:gd name="T2" fmla="*/ 83 w 412"/>
                  <a:gd name="T3" fmla="*/ 170 h 543"/>
                  <a:gd name="T4" fmla="*/ 116 w 412"/>
                  <a:gd name="T5" fmla="*/ 177 h 543"/>
                  <a:gd name="T6" fmla="*/ 145 w 412"/>
                  <a:gd name="T7" fmla="*/ 175 h 543"/>
                  <a:gd name="T8" fmla="*/ 169 w 412"/>
                  <a:gd name="T9" fmla="*/ 160 h 543"/>
                  <a:gd name="T10" fmla="*/ 187 w 412"/>
                  <a:gd name="T11" fmla="*/ 131 h 543"/>
                  <a:gd name="T12" fmla="*/ 189 w 412"/>
                  <a:gd name="T13" fmla="*/ 96 h 543"/>
                  <a:gd name="T14" fmla="*/ 183 w 412"/>
                  <a:gd name="T15" fmla="*/ 66 h 543"/>
                  <a:gd name="T16" fmla="*/ 156 w 412"/>
                  <a:gd name="T17" fmla="*/ 33 h 543"/>
                  <a:gd name="T18" fmla="*/ 137 w 412"/>
                  <a:gd name="T19" fmla="*/ 17 h 543"/>
                  <a:gd name="T20" fmla="*/ 116 w 412"/>
                  <a:gd name="T21" fmla="*/ 7 h 543"/>
                  <a:gd name="T22" fmla="*/ 98 w 412"/>
                  <a:gd name="T23" fmla="*/ 0 h 543"/>
                  <a:gd name="T24" fmla="*/ 64 w 412"/>
                  <a:gd name="T25" fmla="*/ 2 h 543"/>
                  <a:gd name="T26" fmla="*/ 47 w 412"/>
                  <a:gd name="T27" fmla="*/ 22 h 543"/>
                  <a:gd name="T28" fmla="*/ 38 w 412"/>
                  <a:gd name="T29" fmla="*/ 44 h 543"/>
                  <a:gd name="T30" fmla="*/ 38 w 412"/>
                  <a:gd name="T31" fmla="*/ 78 h 543"/>
                  <a:gd name="T32" fmla="*/ 46 w 412"/>
                  <a:gd name="T33" fmla="*/ 110 h 543"/>
                  <a:gd name="T34" fmla="*/ 55 w 412"/>
                  <a:gd name="T35" fmla="*/ 128 h 543"/>
                  <a:gd name="T36" fmla="*/ 3 w 412"/>
                  <a:gd name="T37" fmla="*/ 155 h 543"/>
                  <a:gd name="T38" fmla="*/ 0 w 412"/>
                  <a:gd name="T39" fmla="*/ 164 h 543"/>
                  <a:gd name="T40" fmla="*/ 8 w 412"/>
                  <a:gd name="T41" fmla="*/ 170 h 543"/>
                  <a:gd name="T42" fmla="*/ 64 w 412"/>
                  <a:gd name="T43" fmla="*/ 140 h 543"/>
                  <a:gd name="T44" fmla="*/ 69 w 412"/>
                  <a:gd name="T45" fmla="*/ 148 h 54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412" h="543">
                    <a:moveTo>
                      <a:pt x="151" y="454"/>
                    </a:moveTo>
                    <a:lnTo>
                      <a:pt x="182" y="522"/>
                    </a:lnTo>
                    <a:lnTo>
                      <a:pt x="254" y="543"/>
                    </a:lnTo>
                    <a:lnTo>
                      <a:pt x="316" y="536"/>
                    </a:lnTo>
                    <a:lnTo>
                      <a:pt x="367" y="492"/>
                    </a:lnTo>
                    <a:lnTo>
                      <a:pt x="408" y="402"/>
                    </a:lnTo>
                    <a:lnTo>
                      <a:pt x="412" y="296"/>
                    </a:lnTo>
                    <a:lnTo>
                      <a:pt x="398" y="203"/>
                    </a:lnTo>
                    <a:lnTo>
                      <a:pt x="340" y="99"/>
                    </a:lnTo>
                    <a:lnTo>
                      <a:pt x="298" y="51"/>
                    </a:lnTo>
                    <a:lnTo>
                      <a:pt x="254" y="21"/>
                    </a:lnTo>
                    <a:lnTo>
                      <a:pt x="213" y="0"/>
                    </a:lnTo>
                    <a:lnTo>
                      <a:pt x="141" y="7"/>
                    </a:lnTo>
                    <a:lnTo>
                      <a:pt x="103" y="69"/>
                    </a:lnTo>
                    <a:lnTo>
                      <a:pt x="83" y="134"/>
                    </a:lnTo>
                    <a:lnTo>
                      <a:pt x="83" y="238"/>
                    </a:lnTo>
                    <a:lnTo>
                      <a:pt x="100" y="337"/>
                    </a:lnTo>
                    <a:lnTo>
                      <a:pt x="120" y="392"/>
                    </a:lnTo>
                    <a:lnTo>
                      <a:pt x="6" y="474"/>
                    </a:lnTo>
                    <a:lnTo>
                      <a:pt x="0" y="505"/>
                    </a:lnTo>
                    <a:lnTo>
                      <a:pt x="17" y="522"/>
                    </a:lnTo>
                    <a:lnTo>
                      <a:pt x="141" y="430"/>
                    </a:lnTo>
                    <a:lnTo>
                      <a:pt x="151" y="4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1" name="Freeform 7177"/>
              <p:cNvSpPr/>
              <p:nvPr/>
            </p:nvSpPr>
            <p:spPr bwMode="auto">
              <a:xfrm flipH="1">
                <a:off x="5079" y="1841"/>
                <a:ext cx="555" cy="519"/>
              </a:xfrm>
              <a:custGeom>
                <a:avLst/>
                <a:gdLst>
                  <a:gd name="T0" fmla="*/ 250 w 819"/>
                  <a:gd name="T1" fmla="*/ 205 h 908"/>
                  <a:gd name="T2" fmla="*/ 232 w 819"/>
                  <a:gd name="T3" fmla="*/ 218 h 908"/>
                  <a:gd name="T4" fmla="*/ 192 w 819"/>
                  <a:gd name="T5" fmla="*/ 235 h 908"/>
                  <a:gd name="T6" fmla="*/ 156 w 819"/>
                  <a:gd name="T7" fmla="*/ 245 h 908"/>
                  <a:gd name="T8" fmla="*/ 130 w 819"/>
                  <a:gd name="T9" fmla="*/ 255 h 908"/>
                  <a:gd name="T10" fmla="*/ 106 w 819"/>
                  <a:gd name="T11" fmla="*/ 269 h 908"/>
                  <a:gd name="T12" fmla="*/ 104 w 819"/>
                  <a:gd name="T13" fmla="*/ 293 h 908"/>
                  <a:gd name="T14" fmla="*/ 127 w 819"/>
                  <a:gd name="T15" fmla="*/ 297 h 908"/>
                  <a:gd name="T16" fmla="*/ 187 w 819"/>
                  <a:gd name="T17" fmla="*/ 272 h 908"/>
                  <a:gd name="T18" fmla="*/ 232 w 819"/>
                  <a:gd name="T19" fmla="*/ 243 h 908"/>
                  <a:gd name="T20" fmla="*/ 283 w 819"/>
                  <a:gd name="T21" fmla="*/ 206 h 908"/>
                  <a:gd name="T22" fmla="*/ 325 w 819"/>
                  <a:gd name="T23" fmla="*/ 183 h 908"/>
                  <a:gd name="T24" fmla="*/ 362 w 819"/>
                  <a:gd name="T25" fmla="*/ 165 h 908"/>
                  <a:gd name="T26" fmla="*/ 376 w 819"/>
                  <a:gd name="T27" fmla="*/ 156 h 908"/>
                  <a:gd name="T28" fmla="*/ 371 w 819"/>
                  <a:gd name="T29" fmla="*/ 145 h 908"/>
                  <a:gd name="T30" fmla="*/ 354 w 819"/>
                  <a:gd name="T31" fmla="*/ 129 h 908"/>
                  <a:gd name="T32" fmla="*/ 291 w 819"/>
                  <a:gd name="T33" fmla="*/ 105 h 908"/>
                  <a:gd name="T34" fmla="*/ 232 w 819"/>
                  <a:gd name="T35" fmla="*/ 82 h 908"/>
                  <a:gd name="T36" fmla="*/ 159 w 819"/>
                  <a:gd name="T37" fmla="*/ 58 h 908"/>
                  <a:gd name="T38" fmla="*/ 131 w 819"/>
                  <a:gd name="T39" fmla="*/ 45 h 908"/>
                  <a:gd name="T40" fmla="*/ 104 w 819"/>
                  <a:gd name="T41" fmla="*/ 27 h 908"/>
                  <a:gd name="T42" fmla="*/ 75 w 819"/>
                  <a:gd name="T43" fmla="*/ 7 h 908"/>
                  <a:gd name="T44" fmla="*/ 50 w 819"/>
                  <a:gd name="T45" fmla="*/ 0 h 908"/>
                  <a:gd name="T46" fmla="*/ 0 w 819"/>
                  <a:gd name="T47" fmla="*/ 25 h 908"/>
                  <a:gd name="T48" fmla="*/ 3 w 819"/>
                  <a:gd name="T49" fmla="*/ 48 h 908"/>
                  <a:gd name="T50" fmla="*/ 12 w 819"/>
                  <a:gd name="T51" fmla="*/ 57 h 908"/>
                  <a:gd name="T52" fmla="*/ 38 w 819"/>
                  <a:gd name="T53" fmla="*/ 54 h 908"/>
                  <a:gd name="T54" fmla="*/ 33 w 819"/>
                  <a:gd name="T55" fmla="*/ 44 h 908"/>
                  <a:gd name="T56" fmla="*/ 24 w 819"/>
                  <a:gd name="T57" fmla="*/ 40 h 908"/>
                  <a:gd name="T58" fmla="*/ 19 w 819"/>
                  <a:gd name="T59" fmla="*/ 28 h 908"/>
                  <a:gd name="T60" fmla="*/ 47 w 819"/>
                  <a:gd name="T61" fmla="*/ 15 h 908"/>
                  <a:gd name="T62" fmla="*/ 70 w 819"/>
                  <a:gd name="T63" fmla="*/ 28 h 908"/>
                  <a:gd name="T64" fmla="*/ 70 w 819"/>
                  <a:gd name="T65" fmla="*/ 40 h 908"/>
                  <a:gd name="T66" fmla="*/ 61 w 819"/>
                  <a:gd name="T67" fmla="*/ 55 h 908"/>
                  <a:gd name="T68" fmla="*/ 69 w 819"/>
                  <a:gd name="T69" fmla="*/ 65 h 908"/>
                  <a:gd name="T70" fmla="*/ 116 w 819"/>
                  <a:gd name="T71" fmla="*/ 74 h 908"/>
                  <a:gd name="T72" fmla="*/ 135 w 819"/>
                  <a:gd name="T73" fmla="*/ 61 h 908"/>
                  <a:gd name="T74" fmla="*/ 198 w 819"/>
                  <a:gd name="T75" fmla="*/ 89 h 908"/>
                  <a:gd name="T76" fmla="*/ 250 w 819"/>
                  <a:gd name="T77" fmla="*/ 106 h 908"/>
                  <a:gd name="T78" fmla="*/ 279 w 819"/>
                  <a:gd name="T79" fmla="*/ 115 h 908"/>
                  <a:gd name="T80" fmla="*/ 307 w 819"/>
                  <a:gd name="T81" fmla="*/ 126 h 908"/>
                  <a:gd name="T82" fmla="*/ 329 w 819"/>
                  <a:gd name="T83" fmla="*/ 139 h 908"/>
                  <a:gd name="T84" fmla="*/ 343 w 819"/>
                  <a:gd name="T85" fmla="*/ 153 h 908"/>
                  <a:gd name="T86" fmla="*/ 330 w 819"/>
                  <a:gd name="T87" fmla="*/ 162 h 908"/>
                  <a:gd name="T88" fmla="*/ 300 w 819"/>
                  <a:gd name="T89" fmla="*/ 176 h 908"/>
                  <a:gd name="T90" fmla="*/ 269 w 819"/>
                  <a:gd name="T91" fmla="*/ 191 h 908"/>
                  <a:gd name="T92" fmla="*/ 250 w 819"/>
                  <a:gd name="T93" fmla="*/ 205 h 908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19" h="908">
                    <a:moveTo>
                      <a:pt x="545" y="628"/>
                    </a:moveTo>
                    <a:lnTo>
                      <a:pt x="504" y="669"/>
                    </a:lnTo>
                    <a:lnTo>
                      <a:pt x="417" y="720"/>
                    </a:lnTo>
                    <a:lnTo>
                      <a:pt x="339" y="751"/>
                    </a:lnTo>
                    <a:lnTo>
                      <a:pt x="284" y="782"/>
                    </a:lnTo>
                    <a:lnTo>
                      <a:pt x="232" y="823"/>
                    </a:lnTo>
                    <a:lnTo>
                      <a:pt x="226" y="895"/>
                    </a:lnTo>
                    <a:lnTo>
                      <a:pt x="277" y="908"/>
                    </a:lnTo>
                    <a:lnTo>
                      <a:pt x="407" y="833"/>
                    </a:lnTo>
                    <a:lnTo>
                      <a:pt x="504" y="744"/>
                    </a:lnTo>
                    <a:lnTo>
                      <a:pt x="617" y="631"/>
                    </a:lnTo>
                    <a:lnTo>
                      <a:pt x="709" y="559"/>
                    </a:lnTo>
                    <a:lnTo>
                      <a:pt x="788" y="504"/>
                    </a:lnTo>
                    <a:lnTo>
                      <a:pt x="819" y="477"/>
                    </a:lnTo>
                    <a:lnTo>
                      <a:pt x="808" y="443"/>
                    </a:lnTo>
                    <a:lnTo>
                      <a:pt x="771" y="395"/>
                    </a:lnTo>
                    <a:lnTo>
                      <a:pt x="634" y="320"/>
                    </a:lnTo>
                    <a:lnTo>
                      <a:pt x="504" y="250"/>
                    </a:lnTo>
                    <a:lnTo>
                      <a:pt x="345" y="178"/>
                    </a:lnTo>
                    <a:lnTo>
                      <a:pt x="287" y="137"/>
                    </a:lnTo>
                    <a:lnTo>
                      <a:pt x="226" y="82"/>
                    </a:lnTo>
                    <a:lnTo>
                      <a:pt x="164" y="21"/>
                    </a:lnTo>
                    <a:lnTo>
                      <a:pt x="109" y="0"/>
                    </a:lnTo>
                    <a:lnTo>
                      <a:pt x="0" y="76"/>
                    </a:lnTo>
                    <a:lnTo>
                      <a:pt x="7" y="147"/>
                    </a:lnTo>
                    <a:lnTo>
                      <a:pt x="27" y="175"/>
                    </a:lnTo>
                    <a:lnTo>
                      <a:pt x="82" y="164"/>
                    </a:lnTo>
                    <a:lnTo>
                      <a:pt x="72" y="134"/>
                    </a:lnTo>
                    <a:lnTo>
                      <a:pt x="51" y="123"/>
                    </a:lnTo>
                    <a:lnTo>
                      <a:pt x="41" y="86"/>
                    </a:lnTo>
                    <a:lnTo>
                      <a:pt x="102" y="45"/>
                    </a:lnTo>
                    <a:lnTo>
                      <a:pt x="154" y="86"/>
                    </a:lnTo>
                    <a:lnTo>
                      <a:pt x="154" y="123"/>
                    </a:lnTo>
                    <a:lnTo>
                      <a:pt x="133" y="168"/>
                    </a:lnTo>
                    <a:lnTo>
                      <a:pt x="150" y="199"/>
                    </a:lnTo>
                    <a:lnTo>
                      <a:pt x="253" y="226"/>
                    </a:lnTo>
                    <a:lnTo>
                      <a:pt x="294" y="188"/>
                    </a:lnTo>
                    <a:lnTo>
                      <a:pt x="431" y="271"/>
                    </a:lnTo>
                    <a:lnTo>
                      <a:pt x="545" y="323"/>
                    </a:lnTo>
                    <a:lnTo>
                      <a:pt x="607" y="354"/>
                    </a:lnTo>
                    <a:lnTo>
                      <a:pt x="668" y="385"/>
                    </a:lnTo>
                    <a:lnTo>
                      <a:pt x="716" y="426"/>
                    </a:lnTo>
                    <a:lnTo>
                      <a:pt x="747" y="467"/>
                    </a:lnTo>
                    <a:lnTo>
                      <a:pt x="719" y="497"/>
                    </a:lnTo>
                    <a:lnTo>
                      <a:pt x="654" y="539"/>
                    </a:lnTo>
                    <a:lnTo>
                      <a:pt x="586" y="586"/>
                    </a:lnTo>
                    <a:lnTo>
                      <a:pt x="545" y="6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15" name="Text Box 7178"/>
            <p:cNvSpPr txBox="1">
              <a:spLocks noChangeArrowheads="1"/>
            </p:cNvSpPr>
            <p:nvPr/>
          </p:nvSpPr>
          <p:spPr bwMode="auto">
            <a:xfrm>
              <a:off x="5687" y="1841"/>
              <a:ext cx="1400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9900CC"/>
                  </a:solidFill>
                </a:rPr>
                <a:t>还需选择什么视图呢？</a:t>
              </a:r>
              <a:endParaRPr lang="zh-CN" altLang="en-US" sz="2400">
                <a:solidFill>
                  <a:srgbClr val="9900CC"/>
                </a:solidFill>
              </a:endParaRPr>
            </a:p>
          </p:txBody>
        </p:sp>
      </p:grpSp>
      <p:sp>
        <p:nvSpPr>
          <p:cNvPr id="120843" name="Text Box 7179"/>
          <p:cNvSpPr txBox="1">
            <a:spLocks noChangeArrowheads="1"/>
          </p:cNvSpPr>
          <p:nvPr/>
        </p:nvSpPr>
        <p:spPr bwMode="auto">
          <a:xfrm>
            <a:off x="33338" y="4478338"/>
            <a:ext cx="248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4</a:t>
            </a:r>
            <a:r>
              <a:rPr lang="zh-CN" altLang="en-US" sz="2800"/>
              <a:t>）方案比较</a:t>
            </a:r>
            <a:endParaRPr lang="zh-CN" altLang="en-US" sz="2800"/>
          </a:p>
        </p:txBody>
      </p:sp>
      <p:sp>
        <p:nvSpPr>
          <p:cNvPr id="120844" name="Text Box 7180"/>
          <p:cNvSpPr txBox="1">
            <a:spLocks noChangeArrowheads="1"/>
          </p:cNvSpPr>
          <p:nvPr/>
        </p:nvSpPr>
        <p:spPr bwMode="auto">
          <a:xfrm>
            <a:off x="379413" y="4878388"/>
            <a:ext cx="33147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</a:rPr>
              <a:t>        </a:t>
            </a:r>
            <a:r>
              <a:rPr lang="zh-CN" altLang="en-US" sz="2800">
                <a:solidFill>
                  <a:schemeClr val="accent2"/>
                </a:solidFill>
              </a:rPr>
              <a:t>可多考虑几种表达方案，比较后确定最佳方案。</a:t>
            </a:r>
            <a:endParaRPr lang="zh-CN" altLang="en-US" sz="2800">
              <a:solidFill>
                <a:schemeClr val="accent2"/>
              </a:solidFill>
            </a:endParaRPr>
          </a:p>
        </p:txBody>
      </p:sp>
      <p:sp>
        <p:nvSpPr>
          <p:cNvPr id="120845" name="Rectangle 7181"/>
          <p:cNvSpPr>
            <a:spLocks noChangeArrowheads="1"/>
          </p:cNvSpPr>
          <p:nvPr/>
        </p:nvSpPr>
        <p:spPr bwMode="auto">
          <a:xfrm>
            <a:off x="412750" y="762000"/>
            <a:ext cx="3151188" cy="2781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  <p:sp>
        <p:nvSpPr>
          <p:cNvPr id="120846" name="Text Box 7182"/>
          <p:cNvSpPr txBox="1">
            <a:spLocks noChangeArrowheads="1"/>
          </p:cNvSpPr>
          <p:nvPr/>
        </p:nvSpPr>
        <p:spPr bwMode="auto">
          <a:xfrm>
            <a:off x="296863" y="1801813"/>
            <a:ext cx="3155950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</a:rPr>
              <a:t>        </a:t>
            </a:r>
            <a:r>
              <a:rPr lang="zh-CN" altLang="en-US" sz="2800">
                <a:solidFill>
                  <a:schemeClr val="accent2"/>
                </a:solidFill>
              </a:rPr>
              <a:t>为了清楚表达</a:t>
            </a:r>
            <a:endParaRPr lang="zh-CN" altLang="en-US" sz="2800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</a:rPr>
              <a:t>滑动轴承的整体外形特征及轴衬与其座孔的装配情况，选择沿轴承盖与轴承座结合面半剖的</a:t>
            </a:r>
            <a:r>
              <a:rPr lang="zh-CN" altLang="en-US" sz="2800">
                <a:solidFill>
                  <a:srgbClr val="FF3300"/>
                </a:solidFill>
              </a:rPr>
              <a:t>俯视图</a:t>
            </a:r>
            <a:r>
              <a:rPr lang="zh-CN" altLang="en-US" sz="2800">
                <a:solidFill>
                  <a:schemeClr val="accent2"/>
                </a:solidFill>
              </a:rPr>
              <a:t>表达。</a:t>
            </a:r>
            <a:endParaRPr lang="zh-CN" altLang="en-US" sz="2800">
              <a:solidFill>
                <a:schemeClr val="accent2"/>
              </a:solidFill>
            </a:endParaRPr>
          </a:p>
        </p:txBody>
      </p:sp>
      <p:sp>
        <p:nvSpPr>
          <p:cNvPr id="120847" name="Rectangle 7183"/>
          <p:cNvSpPr>
            <a:spLocks noChangeArrowheads="1"/>
          </p:cNvSpPr>
          <p:nvPr/>
        </p:nvSpPr>
        <p:spPr bwMode="auto">
          <a:xfrm>
            <a:off x="309563" y="171450"/>
            <a:ext cx="3081337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</a:rPr>
              <a:t>      </a:t>
            </a:r>
            <a:r>
              <a:rPr lang="en-US" altLang="zh-CN" sz="2800">
                <a:solidFill>
                  <a:schemeClr val="accent2"/>
                </a:solidFill>
              </a:rPr>
              <a:t> </a:t>
            </a:r>
            <a:r>
              <a:rPr lang="zh-CN" altLang="en-US" sz="2800">
                <a:solidFill>
                  <a:schemeClr val="accent2"/>
                </a:solidFill>
              </a:rPr>
              <a:t>轴衬与轴承孔的装配关系及工作原理</a:t>
            </a:r>
            <a:r>
              <a:rPr lang="zh-CN" altLang="en-US" sz="2400">
                <a:solidFill>
                  <a:schemeClr val="accent2"/>
                </a:solidFill>
              </a:rPr>
              <a:t>，</a:t>
            </a:r>
            <a:r>
              <a:rPr lang="zh-CN" altLang="en-US" sz="2800">
                <a:solidFill>
                  <a:schemeClr val="accent2"/>
                </a:solidFill>
              </a:rPr>
              <a:t>需选择</a:t>
            </a:r>
            <a:r>
              <a:rPr lang="zh-CN" altLang="en-US" sz="2800">
                <a:solidFill>
                  <a:srgbClr val="FF3300"/>
                </a:solidFill>
              </a:rPr>
              <a:t>全剖的左视图</a:t>
            </a:r>
            <a:r>
              <a:rPr lang="zh-CN" altLang="en-US" sz="2800">
                <a:solidFill>
                  <a:schemeClr val="accent2"/>
                </a:solidFill>
              </a:rPr>
              <a:t>表达</a:t>
            </a:r>
            <a:r>
              <a:rPr lang="zh-CN" altLang="en-US" sz="2400">
                <a:solidFill>
                  <a:schemeClr val="accent2"/>
                </a:solidFill>
              </a:rPr>
              <a:t>。</a:t>
            </a:r>
            <a:endParaRPr lang="zh-CN" altLang="en-US" sz="2400">
              <a:solidFill>
                <a:schemeClr val="accent2"/>
              </a:solidFill>
            </a:endParaRPr>
          </a:p>
        </p:txBody>
      </p:sp>
      <p:sp>
        <p:nvSpPr>
          <p:cNvPr id="25608" name="Text Box 718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189788" y="6018213"/>
            <a:ext cx="17256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u="sng">
                <a:solidFill>
                  <a:schemeClr val="bg2"/>
                </a:solidFill>
              </a:rPr>
              <a:t>滑动轴承</a:t>
            </a:r>
            <a:endParaRPr lang="zh-CN" altLang="en-US" sz="2800" u="sng">
              <a:solidFill>
                <a:schemeClr val="bg2"/>
              </a:solidFill>
            </a:endParaRPr>
          </a:p>
        </p:txBody>
      </p:sp>
      <p:pic>
        <p:nvPicPr>
          <p:cNvPr id="25609" name="Picture 7219" descr="15-10(1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773113"/>
            <a:ext cx="3927475" cy="226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0889" name="Group 7225"/>
          <p:cNvGrpSpPr/>
          <p:nvPr/>
        </p:nvGrpSpPr>
        <p:grpSpPr bwMode="auto">
          <a:xfrm>
            <a:off x="7402513" y="788988"/>
            <a:ext cx="1565275" cy="2722562"/>
            <a:chOff x="4663" y="497"/>
            <a:chExt cx="986" cy="1715"/>
          </a:xfrm>
        </p:grpSpPr>
        <p:sp>
          <p:nvSpPr>
            <p:cNvPr id="25612" name="Text Box 7190"/>
            <p:cNvSpPr txBox="1">
              <a:spLocks noChangeArrowheads="1"/>
            </p:cNvSpPr>
            <p:nvPr/>
          </p:nvSpPr>
          <p:spPr bwMode="auto">
            <a:xfrm>
              <a:off x="4832" y="1924"/>
              <a:ext cx="8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左视图</a:t>
              </a:r>
              <a:endParaRPr lang="zh-CN" altLang="en-US" sz="2400">
                <a:solidFill>
                  <a:srgbClr val="FF3300"/>
                </a:solidFill>
              </a:endParaRPr>
            </a:p>
          </p:txBody>
        </p:sp>
        <p:pic>
          <p:nvPicPr>
            <p:cNvPr id="25613" name="Picture 7220" descr="15-10(2)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" y="497"/>
              <a:ext cx="938" cy="1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20885" name="Picture 7221" descr="15-10(3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3416300"/>
            <a:ext cx="393382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2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2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0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0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120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0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12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12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43" grpId="0" autoUpdateAnimBg="0"/>
      <p:bldP spid="120844" grpId="0" autoUpdateAnimBg="0"/>
      <p:bldP spid="120846" grpId="0" autoUpdateAnimBg="0"/>
      <p:bldP spid="12084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450975" y="133350"/>
            <a:ext cx="6369050" cy="671513"/>
          </a:xfrm>
          <a:gradFill rotWithShape="0">
            <a:gsLst>
              <a:gs pos="0">
                <a:srgbClr val="FF99FF"/>
              </a:gs>
              <a:gs pos="50000">
                <a:srgbClr val="CC0000"/>
              </a:gs>
              <a:gs pos="100000">
                <a:srgbClr val="FF99FF"/>
              </a:gs>
            </a:gsLst>
            <a:lin ang="5400000" scaled="1"/>
          </a:gradFill>
          <a:ln w="38100">
            <a:solidFill>
              <a:srgbClr val="FF99FF"/>
            </a:solidFill>
            <a:miter lim="800000"/>
          </a:ln>
        </p:spPr>
        <p:txBody>
          <a:bodyPr anchor="ctr"/>
          <a:lstStyle/>
          <a:p>
            <a:pPr eaLnBrk="1" hangingPunct="1">
              <a:lnSpc>
                <a:spcPct val="80000"/>
              </a:lnSpc>
            </a:pPr>
            <a:r>
              <a:rPr lang="en-US" altLang="zh-CN" sz="40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12.4 </a:t>
            </a:r>
            <a:r>
              <a:rPr lang="zh-CN" altLang="en-US" sz="40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装配图的尺寸标注</a:t>
            </a:r>
            <a:endParaRPr lang="zh-CN" altLang="en-US" sz="4000" b="1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26" name="Text Box 6"/>
          <p:cNvSpPr txBox="1">
            <a:spLocks noChangeArrowheads="1"/>
          </p:cNvSpPr>
          <p:nvPr/>
        </p:nvSpPr>
        <p:spPr bwMode="auto">
          <a:xfrm>
            <a:off x="401638" y="1125538"/>
            <a:ext cx="43481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性能（规格）尺寸</a:t>
            </a:r>
            <a:endParaRPr lang="zh-CN" altLang="en-US" sz="28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133127" name="Text Box 7"/>
          <p:cNvSpPr txBox="1">
            <a:spLocks noChangeArrowheads="1"/>
          </p:cNvSpPr>
          <p:nvPr/>
        </p:nvSpPr>
        <p:spPr bwMode="auto">
          <a:xfrm>
            <a:off x="400050" y="2525713"/>
            <a:ext cx="23336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装配尺寸</a:t>
            </a:r>
            <a:endParaRPr lang="zh-CN" altLang="en-US" sz="28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133128" name="Text Box 8"/>
          <p:cNvSpPr txBox="1">
            <a:spLocks noChangeArrowheads="1"/>
          </p:cNvSpPr>
          <p:nvPr/>
        </p:nvSpPr>
        <p:spPr bwMode="auto">
          <a:xfrm>
            <a:off x="779463" y="1584325"/>
            <a:ext cx="51847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表示部件的性能和规格的尺寸。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133129" name="Text Box 9"/>
          <p:cNvSpPr txBox="1">
            <a:spLocks noChangeArrowheads="1"/>
          </p:cNvSpPr>
          <p:nvPr/>
        </p:nvSpPr>
        <p:spPr bwMode="auto">
          <a:xfrm>
            <a:off x="774700" y="2968625"/>
            <a:ext cx="7737475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    </a:t>
            </a:r>
            <a:r>
              <a:rPr lang="zh-CN" altLang="en-US" sz="2800">
                <a:latin typeface="宋体" panose="02010600030101010101" pitchFamily="2" charset="-122"/>
              </a:rPr>
              <a:t>零件之间的配合尺寸及影响其性能的重要相对位置尺寸。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27655" name="Text Box 10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800975" y="6107113"/>
            <a:ext cx="1185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u="sng">
                <a:solidFill>
                  <a:schemeClr val="bg2"/>
                </a:solidFill>
              </a:rPr>
              <a:t>装配图</a:t>
            </a:r>
            <a:endParaRPr lang="zh-CN" altLang="en-US" sz="2400" u="sng">
              <a:solidFill>
                <a:schemeClr val="bg2"/>
              </a:solidFill>
              <a:hlinkClick r:id="" action="ppaction://noaction"/>
            </a:endParaRPr>
          </a:p>
        </p:txBody>
      </p:sp>
      <p:sp>
        <p:nvSpPr>
          <p:cNvPr id="133131" name="Text Box 11"/>
          <p:cNvSpPr txBox="1">
            <a:spLocks noChangeArrowheads="1"/>
          </p:cNvSpPr>
          <p:nvPr/>
        </p:nvSpPr>
        <p:spPr bwMode="auto">
          <a:xfrm>
            <a:off x="784225" y="2025650"/>
            <a:ext cx="7515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例如：</a:t>
            </a: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</a:rPr>
              <a:t>球阀通孔的直径</a:t>
            </a:r>
            <a:r>
              <a:rPr lang="zh-CN" altLang="en-US" sz="2800" i="1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en-US" altLang="zh-CN" sz="2800" i="1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20</a:t>
            </a:r>
            <a:r>
              <a:rPr lang="zh-CN" altLang="en-US" sz="2800" i="1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与液体流量有关。</a:t>
            </a:r>
            <a:endParaRPr lang="zh-CN" altLang="en-US" sz="280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33132" name="Text Box 12"/>
          <p:cNvSpPr txBox="1">
            <a:spLocks noChangeArrowheads="1"/>
          </p:cNvSpPr>
          <p:nvPr/>
        </p:nvSpPr>
        <p:spPr bwMode="auto">
          <a:xfrm>
            <a:off x="401638" y="4252913"/>
            <a:ext cx="26511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3.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安装尺寸</a:t>
            </a:r>
            <a:endParaRPr lang="zh-CN" altLang="en-US" sz="28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133133" name="Text Box 13"/>
          <p:cNvSpPr txBox="1">
            <a:spLocks noChangeArrowheads="1"/>
          </p:cNvSpPr>
          <p:nvPr/>
        </p:nvSpPr>
        <p:spPr bwMode="auto">
          <a:xfrm>
            <a:off x="407988" y="5487988"/>
            <a:ext cx="231616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4.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外形尺寸</a:t>
            </a:r>
            <a:endParaRPr lang="zh-CN" altLang="en-US" sz="28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133134" name="Text Box 14"/>
          <p:cNvSpPr txBox="1">
            <a:spLocks noChangeArrowheads="1"/>
          </p:cNvSpPr>
          <p:nvPr/>
        </p:nvSpPr>
        <p:spPr bwMode="auto">
          <a:xfrm>
            <a:off x="788988" y="4651375"/>
            <a:ext cx="5900737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将部件安装到机座上所需要的尺寸。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133135" name="Text Box 15"/>
          <p:cNvSpPr txBox="1">
            <a:spLocks noChangeArrowheads="1"/>
          </p:cNvSpPr>
          <p:nvPr/>
        </p:nvSpPr>
        <p:spPr bwMode="auto">
          <a:xfrm>
            <a:off x="782638" y="5899150"/>
            <a:ext cx="69707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部件在长、宽、高三个方向上的最大尺寸。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133136" name="Text Box 16"/>
          <p:cNvSpPr txBox="1">
            <a:spLocks noChangeArrowheads="1"/>
          </p:cNvSpPr>
          <p:nvPr/>
        </p:nvSpPr>
        <p:spPr bwMode="auto">
          <a:xfrm>
            <a:off x="788988" y="5089525"/>
            <a:ext cx="5902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例如：</a:t>
            </a: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</a:rPr>
              <a:t>球阀两侧管接头尺寸</a:t>
            </a:r>
            <a:r>
              <a:rPr lang="en-US" altLang="zh-CN" sz="2800" i="1">
                <a:solidFill>
                  <a:srgbClr val="FF3300"/>
                </a:solidFill>
                <a:latin typeface="宋体" panose="02010600030101010101" pitchFamily="2" charset="-122"/>
              </a:rPr>
              <a:t>M36×2</a:t>
            </a: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sz="2800">
              <a:solidFill>
                <a:schemeClr val="accent2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133137" name="Group 17"/>
          <p:cNvGrpSpPr/>
          <p:nvPr/>
        </p:nvGrpSpPr>
        <p:grpSpPr bwMode="auto">
          <a:xfrm>
            <a:off x="784225" y="3635375"/>
            <a:ext cx="8116888" cy="884238"/>
            <a:chOff x="494" y="2290"/>
            <a:chExt cx="5113" cy="557"/>
          </a:xfrm>
        </p:grpSpPr>
        <p:sp>
          <p:nvSpPr>
            <p:cNvPr id="27663" name="Text Box 18"/>
            <p:cNvSpPr txBox="1">
              <a:spLocks noChangeArrowheads="1"/>
            </p:cNvSpPr>
            <p:nvPr/>
          </p:nvSpPr>
          <p:spPr bwMode="auto">
            <a:xfrm>
              <a:off x="494" y="2389"/>
              <a:ext cx="51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宋体" panose="02010600030101010101" pitchFamily="2" charset="-122"/>
                </a:rPr>
                <a:t>例如：</a:t>
              </a:r>
              <a:r>
                <a:rPr lang="zh-CN" altLang="en-US" sz="2800">
                  <a:solidFill>
                    <a:schemeClr val="accent2"/>
                  </a:solidFill>
                  <a:latin typeface="宋体" panose="02010600030101010101" pitchFamily="2" charset="-122"/>
                </a:rPr>
                <a:t>球阀的阀体与阀盖的配合尺寸</a:t>
              </a:r>
              <a:r>
                <a:rPr lang="zh-CN" altLang="en-US" sz="2800" i="1">
                  <a:solidFill>
                    <a:srgbClr val="FF33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en-US" altLang="zh-CN" sz="2800" i="1">
                  <a:solidFill>
                    <a:srgbClr val="FF33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50     </a:t>
              </a:r>
              <a:r>
                <a:rPr lang="zh-CN" altLang="en-US" sz="2800" i="1">
                  <a:solidFill>
                    <a:schemeClr val="accent2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。</a:t>
              </a:r>
              <a:endParaRPr lang="zh-CN" altLang="en-US" sz="180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7664" name="Text Box 19"/>
            <p:cNvSpPr txBox="1">
              <a:spLocks noChangeArrowheads="1"/>
            </p:cNvSpPr>
            <p:nvPr/>
          </p:nvSpPr>
          <p:spPr bwMode="auto">
            <a:xfrm>
              <a:off x="4511" y="2290"/>
              <a:ext cx="5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rgbClr val="FF3300"/>
                  </a:solidFill>
                </a:rPr>
                <a:t>H11</a:t>
              </a:r>
              <a:endParaRPr lang="en-US" altLang="zh-CN" sz="2800">
                <a:solidFill>
                  <a:srgbClr val="FF3300"/>
                </a:solidFill>
              </a:endParaRPr>
            </a:p>
          </p:txBody>
        </p:sp>
        <p:sp>
          <p:nvSpPr>
            <p:cNvPr id="27665" name="Text Box 20"/>
            <p:cNvSpPr txBox="1">
              <a:spLocks noChangeArrowheads="1"/>
            </p:cNvSpPr>
            <p:nvPr/>
          </p:nvSpPr>
          <p:spPr bwMode="auto">
            <a:xfrm>
              <a:off x="4519" y="2520"/>
              <a:ext cx="4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rgbClr val="FF3300"/>
                  </a:solidFill>
                </a:rPr>
                <a:t>h11</a:t>
              </a:r>
              <a:endParaRPr lang="en-US" altLang="zh-CN" sz="2800">
                <a:solidFill>
                  <a:srgbClr val="FF3300"/>
                </a:solidFill>
              </a:endParaRPr>
            </a:p>
          </p:txBody>
        </p:sp>
        <p:sp>
          <p:nvSpPr>
            <p:cNvPr id="27666" name="Line 21"/>
            <p:cNvSpPr>
              <a:spLocks noChangeShapeType="1"/>
            </p:cNvSpPr>
            <p:nvPr/>
          </p:nvSpPr>
          <p:spPr bwMode="auto">
            <a:xfrm>
              <a:off x="4552" y="2580"/>
              <a:ext cx="40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" dur="500"/>
                                        <p:tgtEl>
                                          <p:spTgt spid="13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33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3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7" dur="500"/>
                                        <p:tgtEl>
                                          <p:spTgt spid="13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3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6" grpId="0" autoUpdateAnimBg="0"/>
      <p:bldP spid="133127" grpId="0" autoUpdateAnimBg="0"/>
      <p:bldP spid="133128" grpId="0" autoUpdateAnimBg="0"/>
      <p:bldP spid="133129" grpId="0" autoUpdateAnimBg="0"/>
      <p:bldP spid="133131" grpId="0" autoUpdateAnimBg="0"/>
      <p:bldP spid="133132" grpId="0" autoUpdateAnimBg="0"/>
      <p:bldP spid="133133" grpId="0" autoUpdateAnimBg="0"/>
      <p:bldP spid="133134" grpId="0" autoUpdateAnimBg="0"/>
      <p:bldP spid="133135" grpId="0" autoUpdateAnimBg="0"/>
      <p:bldP spid="13313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31838" y="115888"/>
            <a:ext cx="7772400" cy="579437"/>
          </a:xfrm>
          <a:gradFill rotWithShape="0">
            <a:gsLst>
              <a:gs pos="0">
                <a:srgbClr val="FF66FF"/>
              </a:gs>
              <a:gs pos="50000">
                <a:schemeClr val="bg1"/>
              </a:gs>
              <a:gs pos="100000">
                <a:srgbClr val="FF66FF"/>
              </a:gs>
            </a:gsLst>
            <a:lin ang="5400000" scaled="1"/>
          </a:gradFill>
          <a:extLst>
            <a:ext uri="{91240B29-F687-4F45-9708-019B960494DF}">
              <a14:hiddenLine xmlns:a14="http://schemas.microsoft.com/office/drawing/2010/main" w="57150">
                <a:pattFill prst="pct25">
                  <a:fgClr>
                    <a:srgbClr val="FFFF00"/>
                  </a:fgClr>
                  <a:bgClr>
                    <a:srgbClr val="FF3300"/>
                  </a:bgClr>
                </a:patt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12.5 </a:t>
            </a:r>
            <a:r>
              <a:rPr lang="zh-CN" altLang="en-US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装配图的零件序号和明细栏</a:t>
            </a:r>
            <a:endParaRPr lang="zh-CN" altLang="en-US" sz="4000" b="1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4150" name="Text Box 6"/>
          <p:cNvSpPr txBox="1">
            <a:spLocks noChangeArrowheads="1"/>
          </p:cNvSpPr>
          <p:nvPr/>
        </p:nvSpPr>
        <p:spPr bwMode="auto">
          <a:xfrm>
            <a:off x="500063" y="846138"/>
            <a:ext cx="2151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1. </a:t>
            </a:r>
            <a:r>
              <a:rPr lang="zh-CN" altLang="en-US" sz="2800">
                <a:latin typeface="宋体" panose="02010600030101010101" pitchFamily="2" charset="-122"/>
              </a:rPr>
              <a:t>零件编号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134151" name="Text Box 7"/>
          <p:cNvSpPr txBox="1">
            <a:spLocks noChangeArrowheads="1"/>
          </p:cNvSpPr>
          <p:nvPr/>
        </p:nvSpPr>
        <p:spPr bwMode="auto">
          <a:xfrm>
            <a:off x="792163" y="1325563"/>
            <a:ext cx="2149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⑴ </a:t>
            </a:r>
            <a:r>
              <a:rPr lang="zh-CN" altLang="en-US" sz="2800">
                <a:latin typeface="宋体" panose="02010600030101010101" pitchFamily="2" charset="-122"/>
              </a:rPr>
              <a:t>编号方法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4152" name="Freeform 8"/>
          <p:cNvSpPr/>
          <p:nvPr/>
        </p:nvSpPr>
        <p:spPr bwMode="auto">
          <a:xfrm>
            <a:off x="3509963" y="1346200"/>
            <a:ext cx="1131887" cy="762000"/>
          </a:xfrm>
          <a:custGeom>
            <a:avLst/>
            <a:gdLst>
              <a:gd name="T0" fmla="*/ 0 w 893"/>
              <a:gd name="T1" fmla="*/ 0 h 480"/>
              <a:gd name="T2" fmla="*/ 1434678814 w 893"/>
              <a:gd name="T3" fmla="*/ 0 h 480"/>
              <a:gd name="T4" fmla="*/ 1434678814 w 893"/>
              <a:gd name="T5" fmla="*/ 1209675000 h 480"/>
              <a:gd name="T6" fmla="*/ 30525459 w 893"/>
              <a:gd name="T7" fmla="*/ 1209675000 h 4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93" h="480">
                <a:moveTo>
                  <a:pt x="0" y="0"/>
                </a:moveTo>
                <a:lnTo>
                  <a:pt x="893" y="0"/>
                </a:lnTo>
                <a:lnTo>
                  <a:pt x="893" y="480"/>
                </a:lnTo>
                <a:lnTo>
                  <a:pt x="19" y="480"/>
                </a:lnTo>
              </a:path>
            </a:pathLst>
          </a:custGeom>
          <a:gradFill rotWithShape="0">
            <a:gsLst>
              <a:gs pos="0">
                <a:srgbClr val="CC9900"/>
              </a:gs>
              <a:gs pos="50000">
                <a:srgbClr val="F0E1B4"/>
              </a:gs>
              <a:gs pos="100000">
                <a:srgbClr val="CC9900"/>
              </a:gs>
            </a:gsLst>
            <a:lin ang="5400000" scaled="1"/>
          </a:gradFill>
          <a:ln w="38100" cap="flat" cmpd="sng">
            <a:solidFill>
              <a:schemeClr val="tx1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3" name="Text Box 9"/>
          <p:cNvSpPr txBox="1">
            <a:spLocks noChangeArrowheads="1"/>
          </p:cNvSpPr>
          <p:nvPr/>
        </p:nvSpPr>
        <p:spPr bwMode="auto">
          <a:xfrm>
            <a:off x="4054475" y="1495425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•</a:t>
            </a:r>
            <a:endParaRPr lang="en-US" altLang="zh-CN" sz="2400"/>
          </a:p>
        </p:txBody>
      </p:sp>
      <p:sp>
        <p:nvSpPr>
          <p:cNvPr id="134154" name="Line 10"/>
          <p:cNvSpPr>
            <a:spLocks noChangeShapeType="1"/>
          </p:cNvSpPr>
          <p:nvPr/>
        </p:nvSpPr>
        <p:spPr bwMode="auto">
          <a:xfrm>
            <a:off x="4203700" y="1736725"/>
            <a:ext cx="396875" cy="1289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5" name="Line 11"/>
          <p:cNvSpPr>
            <a:spLocks noChangeShapeType="1"/>
          </p:cNvSpPr>
          <p:nvPr/>
        </p:nvSpPr>
        <p:spPr bwMode="auto">
          <a:xfrm>
            <a:off x="4589463" y="3017838"/>
            <a:ext cx="525462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6" name="Freeform 12"/>
          <p:cNvSpPr/>
          <p:nvPr/>
        </p:nvSpPr>
        <p:spPr bwMode="auto">
          <a:xfrm>
            <a:off x="4894263" y="1346200"/>
            <a:ext cx="1087437" cy="762000"/>
          </a:xfrm>
          <a:custGeom>
            <a:avLst/>
            <a:gdLst>
              <a:gd name="T0" fmla="*/ 0 w 893"/>
              <a:gd name="T1" fmla="*/ 0 h 480"/>
              <a:gd name="T2" fmla="*/ 1324209663 w 893"/>
              <a:gd name="T3" fmla="*/ 0 h 480"/>
              <a:gd name="T4" fmla="*/ 1324209663 w 893"/>
              <a:gd name="T5" fmla="*/ 1209675000 h 480"/>
              <a:gd name="T6" fmla="*/ 28174725 w 893"/>
              <a:gd name="T7" fmla="*/ 1209675000 h 4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93" h="480">
                <a:moveTo>
                  <a:pt x="0" y="0"/>
                </a:moveTo>
                <a:lnTo>
                  <a:pt x="893" y="0"/>
                </a:lnTo>
                <a:lnTo>
                  <a:pt x="893" y="480"/>
                </a:lnTo>
                <a:lnTo>
                  <a:pt x="19" y="480"/>
                </a:lnTo>
              </a:path>
            </a:pathLst>
          </a:custGeom>
          <a:gradFill rotWithShape="0">
            <a:gsLst>
              <a:gs pos="0">
                <a:srgbClr val="9900CC"/>
              </a:gs>
              <a:gs pos="50000">
                <a:srgbClr val="EDD2F6"/>
              </a:gs>
              <a:gs pos="100000">
                <a:srgbClr val="9900CC"/>
              </a:gs>
            </a:gsLst>
            <a:lin ang="5400000" scaled="1"/>
          </a:gradFill>
          <a:ln w="38100" cap="flat" cmpd="sng">
            <a:solidFill>
              <a:schemeClr val="tx1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7" name="Text Box 13"/>
          <p:cNvSpPr txBox="1">
            <a:spLocks noChangeArrowheads="1"/>
          </p:cNvSpPr>
          <p:nvPr/>
        </p:nvSpPr>
        <p:spPr bwMode="auto">
          <a:xfrm>
            <a:off x="5332413" y="1495425"/>
            <a:ext cx="290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•</a:t>
            </a:r>
            <a:endParaRPr lang="en-US" altLang="zh-CN" sz="2400"/>
          </a:p>
        </p:txBody>
      </p:sp>
      <p:sp>
        <p:nvSpPr>
          <p:cNvPr id="134158" name="Line 14"/>
          <p:cNvSpPr>
            <a:spLocks noChangeShapeType="1"/>
          </p:cNvSpPr>
          <p:nvPr/>
        </p:nvSpPr>
        <p:spPr bwMode="auto">
          <a:xfrm>
            <a:off x="5483225" y="1746250"/>
            <a:ext cx="239713" cy="8143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9" name="Oval 15"/>
          <p:cNvSpPr>
            <a:spLocks noChangeArrowheads="1"/>
          </p:cNvSpPr>
          <p:nvPr/>
        </p:nvSpPr>
        <p:spPr bwMode="auto">
          <a:xfrm>
            <a:off x="5559425" y="2543175"/>
            <a:ext cx="520700" cy="5207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  <p:sp>
        <p:nvSpPr>
          <p:cNvPr id="134160" name="Text Box 16"/>
          <p:cNvSpPr txBox="1">
            <a:spLocks noChangeArrowheads="1"/>
          </p:cNvSpPr>
          <p:nvPr/>
        </p:nvSpPr>
        <p:spPr bwMode="auto">
          <a:xfrm>
            <a:off x="5624513" y="2517775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</a:rPr>
              <a:t>7</a:t>
            </a:r>
            <a:endParaRPr lang="en-US" altLang="zh-CN" sz="2400"/>
          </a:p>
        </p:txBody>
      </p:sp>
      <p:sp>
        <p:nvSpPr>
          <p:cNvPr id="134161" name="Text Box 17"/>
          <p:cNvSpPr txBox="1">
            <a:spLocks noChangeArrowheads="1"/>
          </p:cNvSpPr>
          <p:nvPr/>
        </p:nvSpPr>
        <p:spPr bwMode="auto">
          <a:xfrm>
            <a:off x="4656138" y="25273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</a:rPr>
              <a:t>7</a:t>
            </a:r>
            <a:endParaRPr lang="en-US" altLang="zh-CN" sz="2400"/>
          </a:p>
        </p:txBody>
      </p:sp>
      <p:grpSp>
        <p:nvGrpSpPr>
          <p:cNvPr id="134162" name="Group 18"/>
          <p:cNvGrpSpPr/>
          <p:nvPr/>
        </p:nvGrpSpPr>
        <p:grpSpPr bwMode="auto">
          <a:xfrm>
            <a:off x="5364163" y="4505325"/>
            <a:ext cx="1584325" cy="1477963"/>
            <a:chOff x="4200" y="2964"/>
            <a:chExt cx="998" cy="931"/>
          </a:xfrm>
        </p:grpSpPr>
        <p:sp>
          <p:nvSpPr>
            <p:cNvPr id="29790" name="Oval 19"/>
            <p:cNvSpPr>
              <a:spLocks noChangeArrowheads="1"/>
            </p:cNvSpPr>
            <p:nvPr/>
          </p:nvSpPr>
          <p:spPr bwMode="auto">
            <a:xfrm>
              <a:off x="4219" y="2992"/>
              <a:ext cx="326" cy="32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29791" name="Oval 20"/>
            <p:cNvSpPr>
              <a:spLocks noChangeArrowheads="1"/>
            </p:cNvSpPr>
            <p:nvPr/>
          </p:nvSpPr>
          <p:spPr bwMode="auto">
            <a:xfrm>
              <a:off x="4547" y="3001"/>
              <a:ext cx="326" cy="32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29792" name="Oval 21"/>
            <p:cNvSpPr>
              <a:spLocks noChangeArrowheads="1"/>
            </p:cNvSpPr>
            <p:nvPr/>
          </p:nvSpPr>
          <p:spPr bwMode="auto">
            <a:xfrm>
              <a:off x="4872" y="3006"/>
              <a:ext cx="326" cy="32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29793" name="Line 22"/>
            <p:cNvSpPr>
              <a:spLocks noChangeShapeType="1"/>
            </p:cNvSpPr>
            <p:nvPr/>
          </p:nvSpPr>
          <p:spPr bwMode="auto">
            <a:xfrm flipH="1">
              <a:off x="4200" y="3319"/>
              <a:ext cx="153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94" name="Text Box 23"/>
            <p:cNvSpPr txBox="1">
              <a:spLocks noChangeArrowheads="1"/>
            </p:cNvSpPr>
            <p:nvPr/>
          </p:nvSpPr>
          <p:spPr bwMode="auto">
            <a:xfrm>
              <a:off x="4260" y="296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</a:rPr>
                <a:t>5</a:t>
              </a:r>
              <a:endParaRPr lang="en-US" altLang="zh-CN" sz="2400"/>
            </a:p>
          </p:txBody>
        </p:sp>
        <p:sp>
          <p:nvSpPr>
            <p:cNvPr id="29795" name="Text Box 24"/>
            <p:cNvSpPr txBox="1">
              <a:spLocks noChangeArrowheads="1"/>
            </p:cNvSpPr>
            <p:nvPr/>
          </p:nvSpPr>
          <p:spPr bwMode="auto">
            <a:xfrm>
              <a:off x="4596" y="297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</a:rPr>
                <a:t>6</a:t>
              </a:r>
              <a:endParaRPr lang="en-US" altLang="zh-CN" sz="2400"/>
            </a:p>
          </p:txBody>
        </p:sp>
        <p:sp>
          <p:nvSpPr>
            <p:cNvPr id="29796" name="Text Box 25"/>
            <p:cNvSpPr txBox="1">
              <a:spLocks noChangeArrowheads="1"/>
            </p:cNvSpPr>
            <p:nvPr/>
          </p:nvSpPr>
          <p:spPr bwMode="auto">
            <a:xfrm>
              <a:off x="4923" y="298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</a:rPr>
                <a:t>7</a:t>
              </a:r>
              <a:endParaRPr lang="en-US" altLang="zh-CN" sz="2400"/>
            </a:p>
          </p:txBody>
        </p:sp>
      </p:grpSp>
      <p:grpSp>
        <p:nvGrpSpPr>
          <p:cNvPr id="134170" name="Group 26"/>
          <p:cNvGrpSpPr/>
          <p:nvPr/>
        </p:nvGrpSpPr>
        <p:grpSpPr bwMode="auto">
          <a:xfrm>
            <a:off x="4449763" y="4360863"/>
            <a:ext cx="523875" cy="2063750"/>
            <a:chOff x="1718" y="2860"/>
            <a:chExt cx="330" cy="1300"/>
          </a:xfrm>
        </p:grpSpPr>
        <p:sp>
          <p:nvSpPr>
            <p:cNvPr id="29783" name="Oval 27"/>
            <p:cNvSpPr>
              <a:spLocks noChangeArrowheads="1"/>
            </p:cNvSpPr>
            <p:nvPr/>
          </p:nvSpPr>
          <p:spPr bwMode="auto">
            <a:xfrm>
              <a:off x="1718" y="3530"/>
              <a:ext cx="326" cy="32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29784" name="Oval 28"/>
            <p:cNvSpPr>
              <a:spLocks noChangeArrowheads="1"/>
            </p:cNvSpPr>
            <p:nvPr/>
          </p:nvSpPr>
          <p:spPr bwMode="auto">
            <a:xfrm>
              <a:off x="1718" y="3203"/>
              <a:ext cx="326" cy="32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29785" name="Oval 29"/>
            <p:cNvSpPr>
              <a:spLocks noChangeArrowheads="1"/>
            </p:cNvSpPr>
            <p:nvPr/>
          </p:nvSpPr>
          <p:spPr bwMode="auto">
            <a:xfrm>
              <a:off x="1722" y="2882"/>
              <a:ext cx="326" cy="32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29786" name="Line 30"/>
            <p:cNvSpPr>
              <a:spLocks noChangeShapeType="1"/>
            </p:cNvSpPr>
            <p:nvPr/>
          </p:nvSpPr>
          <p:spPr bwMode="auto">
            <a:xfrm flipH="1">
              <a:off x="1777" y="3857"/>
              <a:ext cx="75" cy="3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7" name="Text Box 31"/>
            <p:cNvSpPr txBox="1">
              <a:spLocks noChangeArrowheads="1"/>
            </p:cNvSpPr>
            <p:nvPr/>
          </p:nvSpPr>
          <p:spPr bwMode="auto">
            <a:xfrm>
              <a:off x="1759" y="350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</a:rPr>
                <a:t>5</a:t>
              </a:r>
              <a:endParaRPr lang="en-US" altLang="zh-CN" sz="2400"/>
            </a:p>
          </p:txBody>
        </p:sp>
        <p:sp>
          <p:nvSpPr>
            <p:cNvPr id="29788" name="Text Box 32"/>
            <p:cNvSpPr txBox="1">
              <a:spLocks noChangeArrowheads="1"/>
            </p:cNvSpPr>
            <p:nvPr/>
          </p:nvSpPr>
          <p:spPr bwMode="auto">
            <a:xfrm>
              <a:off x="1759" y="317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</a:rPr>
                <a:t>6</a:t>
              </a:r>
              <a:endParaRPr lang="en-US" altLang="zh-CN" sz="2400">
                <a:solidFill>
                  <a:schemeClr val="accent2"/>
                </a:solidFill>
              </a:endParaRPr>
            </a:p>
          </p:txBody>
        </p:sp>
        <p:sp>
          <p:nvSpPr>
            <p:cNvPr id="29789" name="Text Box 33"/>
            <p:cNvSpPr txBox="1">
              <a:spLocks noChangeArrowheads="1"/>
            </p:cNvSpPr>
            <p:nvPr/>
          </p:nvSpPr>
          <p:spPr bwMode="auto">
            <a:xfrm>
              <a:off x="1759" y="286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</a:rPr>
                <a:t>7</a:t>
              </a:r>
              <a:endParaRPr lang="en-US" altLang="zh-CN" sz="2400"/>
            </a:p>
          </p:txBody>
        </p:sp>
      </p:grpSp>
      <p:grpSp>
        <p:nvGrpSpPr>
          <p:cNvPr id="134178" name="Group 34"/>
          <p:cNvGrpSpPr/>
          <p:nvPr/>
        </p:nvGrpSpPr>
        <p:grpSpPr bwMode="auto">
          <a:xfrm>
            <a:off x="871538" y="4267200"/>
            <a:ext cx="676275" cy="2081213"/>
            <a:chOff x="741" y="2688"/>
            <a:chExt cx="426" cy="1311"/>
          </a:xfrm>
        </p:grpSpPr>
        <p:sp>
          <p:nvSpPr>
            <p:cNvPr id="29774" name="Text Box 35"/>
            <p:cNvSpPr txBox="1">
              <a:spLocks noChangeArrowheads="1"/>
            </p:cNvSpPr>
            <p:nvPr/>
          </p:nvSpPr>
          <p:spPr bwMode="auto">
            <a:xfrm>
              <a:off x="872" y="268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3300"/>
                  </a:solidFill>
                </a:rPr>
                <a:t>5</a:t>
              </a:r>
              <a:endParaRPr lang="en-US" altLang="zh-CN" sz="2400"/>
            </a:p>
          </p:txBody>
        </p:sp>
        <p:sp>
          <p:nvSpPr>
            <p:cNvPr id="29775" name="Text Box 36"/>
            <p:cNvSpPr txBox="1">
              <a:spLocks noChangeArrowheads="1"/>
            </p:cNvSpPr>
            <p:nvPr/>
          </p:nvSpPr>
          <p:spPr bwMode="auto">
            <a:xfrm>
              <a:off x="862" y="3015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3300"/>
                  </a:solidFill>
                </a:rPr>
                <a:t>6</a:t>
              </a:r>
              <a:endParaRPr lang="en-US" altLang="zh-CN" sz="2400"/>
            </a:p>
          </p:txBody>
        </p:sp>
        <p:sp>
          <p:nvSpPr>
            <p:cNvPr id="29776" name="Text Box 37"/>
            <p:cNvSpPr txBox="1">
              <a:spLocks noChangeArrowheads="1"/>
            </p:cNvSpPr>
            <p:nvPr/>
          </p:nvSpPr>
          <p:spPr bwMode="auto">
            <a:xfrm>
              <a:off x="862" y="333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3300"/>
                  </a:solidFill>
                </a:rPr>
                <a:t>7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grpSp>
          <p:nvGrpSpPr>
            <p:cNvPr id="29777" name="Group 38"/>
            <p:cNvGrpSpPr/>
            <p:nvPr/>
          </p:nvGrpSpPr>
          <p:grpSpPr bwMode="auto">
            <a:xfrm>
              <a:off x="741" y="3004"/>
              <a:ext cx="426" cy="995"/>
              <a:chOff x="741" y="3004"/>
              <a:chExt cx="426" cy="995"/>
            </a:xfrm>
          </p:grpSpPr>
          <p:sp>
            <p:nvSpPr>
              <p:cNvPr id="29778" name="Line 39"/>
              <p:cNvSpPr>
                <a:spLocks noChangeShapeType="1"/>
              </p:cNvSpPr>
              <p:nvPr/>
            </p:nvSpPr>
            <p:spPr bwMode="auto">
              <a:xfrm>
                <a:off x="831" y="3005"/>
                <a:ext cx="3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79" name="Line 40"/>
              <p:cNvSpPr>
                <a:spLocks noChangeShapeType="1"/>
              </p:cNvSpPr>
              <p:nvPr/>
            </p:nvSpPr>
            <p:spPr bwMode="auto">
              <a:xfrm>
                <a:off x="827" y="3004"/>
                <a:ext cx="0" cy="6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80" name="Line 41"/>
              <p:cNvSpPr>
                <a:spLocks noChangeShapeType="1"/>
              </p:cNvSpPr>
              <p:nvPr/>
            </p:nvSpPr>
            <p:spPr bwMode="auto">
              <a:xfrm>
                <a:off x="831" y="3321"/>
                <a:ext cx="32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81" name="Line 42"/>
              <p:cNvSpPr>
                <a:spLocks noChangeShapeType="1"/>
              </p:cNvSpPr>
              <p:nvPr/>
            </p:nvSpPr>
            <p:spPr bwMode="auto">
              <a:xfrm>
                <a:off x="828" y="3657"/>
                <a:ext cx="33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82" name="Line 43"/>
              <p:cNvSpPr>
                <a:spLocks noChangeShapeType="1"/>
              </p:cNvSpPr>
              <p:nvPr/>
            </p:nvSpPr>
            <p:spPr bwMode="auto">
              <a:xfrm flipH="1">
                <a:off x="741" y="3657"/>
                <a:ext cx="86" cy="34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34188" name="Group 44"/>
          <p:cNvGrpSpPr/>
          <p:nvPr/>
        </p:nvGrpSpPr>
        <p:grpSpPr bwMode="auto">
          <a:xfrm>
            <a:off x="1719263" y="4459288"/>
            <a:ext cx="2360612" cy="1589087"/>
            <a:chOff x="2338" y="2911"/>
            <a:chExt cx="1487" cy="1001"/>
          </a:xfrm>
        </p:grpSpPr>
        <p:sp>
          <p:nvSpPr>
            <p:cNvPr id="29763" name="Line 45"/>
            <p:cNvSpPr>
              <a:spLocks noChangeShapeType="1"/>
            </p:cNvSpPr>
            <p:nvPr/>
          </p:nvSpPr>
          <p:spPr bwMode="auto">
            <a:xfrm>
              <a:off x="2513" y="3237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4" name="Line 46"/>
            <p:cNvSpPr>
              <a:spLocks noChangeShapeType="1"/>
            </p:cNvSpPr>
            <p:nvPr/>
          </p:nvSpPr>
          <p:spPr bwMode="auto">
            <a:xfrm>
              <a:off x="3009" y="3237"/>
              <a:ext cx="3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5" name="Line 47"/>
            <p:cNvSpPr>
              <a:spLocks noChangeShapeType="1"/>
            </p:cNvSpPr>
            <p:nvPr/>
          </p:nvSpPr>
          <p:spPr bwMode="auto">
            <a:xfrm>
              <a:off x="3498" y="3237"/>
              <a:ext cx="3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6" name="Line 48"/>
            <p:cNvSpPr>
              <a:spLocks noChangeShapeType="1"/>
            </p:cNvSpPr>
            <p:nvPr/>
          </p:nvSpPr>
          <p:spPr bwMode="auto">
            <a:xfrm>
              <a:off x="2855" y="3237"/>
              <a:ext cx="77" cy="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7" name="Line 49"/>
            <p:cNvSpPr>
              <a:spLocks noChangeShapeType="1"/>
            </p:cNvSpPr>
            <p:nvPr/>
          </p:nvSpPr>
          <p:spPr bwMode="auto">
            <a:xfrm flipH="1">
              <a:off x="2931" y="3237"/>
              <a:ext cx="77" cy="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8" name="Line 50"/>
            <p:cNvSpPr>
              <a:spLocks noChangeShapeType="1"/>
            </p:cNvSpPr>
            <p:nvPr/>
          </p:nvSpPr>
          <p:spPr bwMode="auto">
            <a:xfrm>
              <a:off x="3335" y="3237"/>
              <a:ext cx="82" cy="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9" name="Line 51"/>
            <p:cNvSpPr>
              <a:spLocks noChangeShapeType="1"/>
            </p:cNvSpPr>
            <p:nvPr/>
          </p:nvSpPr>
          <p:spPr bwMode="auto">
            <a:xfrm flipH="1">
              <a:off x="3411" y="3237"/>
              <a:ext cx="87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0" name="Text Box 52"/>
            <p:cNvSpPr txBox="1">
              <a:spLocks noChangeArrowheads="1"/>
            </p:cNvSpPr>
            <p:nvPr/>
          </p:nvSpPr>
          <p:spPr bwMode="auto">
            <a:xfrm>
              <a:off x="2579" y="292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3300"/>
                  </a:solidFill>
                </a:rPr>
                <a:t>5</a:t>
              </a:r>
              <a:endParaRPr lang="en-US" altLang="zh-CN" sz="2400"/>
            </a:p>
          </p:txBody>
        </p:sp>
        <p:sp>
          <p:nvSpPr>
            <p:cNvPr id="29771" name="Text Box 53"/>
            <p:cNvSpPr txBox="1">
              <a:spLocks noChangeArrowheads="1"/>
            </p:cNvSpPr>
            <p:nvPr/>
          </p:nvSpPr>
          <p:spPr bwMode="auto">
            <a:xfrm>
              <a:off x="3049" y="291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3300"/>
                  </a:solidFill>
                </a:rPr>
                <a:t>6</a:t>
              </a:r>
              <a:endParaRPr lang="en-US" altLang="zh-CN" sz="2400"/>
            </a:p>
          </p:txBody>
        </p:sp>
        <p:sp>
          <p:nvSpPr>
            <p:cNvPr id="29772" name="Text Box 54"/>
            <p:cNvSpPr txBox="1">
              <a:spLocks noChangeArrowheads="1"/>
            </p:cNvSpPr>
            <p:nvPr/>
          </p:nvSpPr>
          <p:spPr bwMode="auto">
            <a:xfrm>
              <a:off x="3520" y="291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3300"/>
                  </a:solidFill>
                </a:rPr>
                <a:t>7</a:t>
              </a:r>
              <a:endParaRPr lang="en-US" altLang="zh-CN" sz="2400"/>
            </a:p>
          </p:txBody>
        </p:sp>
        <p:sp>
          <p:nvSpPr>
            <p:cNvPr id="29773" name="Line 55"/>
            <p:cNvSpPr>
              <a:spLocks noChangeShapeType="1"/>
            </p:cNvSpPr>
            <p:nvPr/>
          </p:nvSpPr>
          <p:spPr bwMode="auto">
            <a:xfrm flipH="1">
              <a:off x="2338" y="3237"/>
              <a:ext cx="181" cy="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4200" name="Text Box 56"/>
          <p:cNvSpPr txBox="1">
            <a:spLocks noChangeArrowheads="1"/>
          </p:cNvSpPr>
          <p:nvPr/>
        </p:nvSpPr>
        <p:spPr bwMode="auto">
          <a:xfrm>
            <a:off x="709613" y="1798638"/>
            <a:ext cx="17922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sz="2800">
                <a:latin typeface="宋体" panose="02010600030101010101" pitchFamily="2" charset="-122"/>
              </a:rPr>
              <a:t>画黑点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4201" name="Text Box 57"/>
          <p:cNvSpPr txBox="1">
            <a:spLocks noChangeArrowheads="1"/>
          </p:cNvSpPr>
          <p:nvPr/>
        </p:nvSpPr>
        <p:spPr bwMode="auto">
          <a:xfrm>
            <a:off x="706438" y="2270125"/>
            <a:ext cx="2149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sz="2800">
                <a:latin typeface="宋体" panose="02010600030101010101" pitchFamily="2" charset="-122"/>
              </a:rPr>
              <a:t>画指引线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4202" name="Text Box 58"/>
          <p:cNvSpPr txBox="1">
            <a:spLocks noChangeArrowheads="1"/>
          </p:cNvSpPr>
          <p:nvPr/>
        </p:nvSpPr>
        <p:spPr bwMode="auto">
          <a:xfrm>
            <a:off x="706438" y="2743200"/>
            <a:ext cx="25923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sz="2800">
                <a:latin typeface="宋体" panose="02010600030101010101" pitchFamily="2" charset="-122"/>
              </a:rPr>
              <a:t>横线或圆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4203" name="Text Box 59"/>
          <p:cNvSpPr txBox="1">
            <a:spLocks noChangeArrowheads="1"/>
          </p:cNvSpPr>
          <p:nvPr/>
        </p:nvSpPr>
        <p:spPr bwMode="auto">
          <a:xfrm>
            <a:off x="2928938" y="2474913"/>
            <a:ext cx="1255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细实线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4204" name="Text Box 60"/>
          <p:cNvSpPr txBox="1">
            <a:spLocks noChangeArrowheads="1"/>
          </p:cNvSpPr>
          <p:nvPr/>
        </p:nvSpPr>
        <p:spPr bwMode="auto">
          <a:xfrm>
            <a:off x="706438" y="3214688"/>
            <a:ext cx="347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※ </a:t>
            </a:r>
            <a:r>
              <a:rPr lang="zh-CN" altLang="en-US" sz="2800">
                <a:latin typeface="宋体" panose="02010600030101010101" pitchFamily="2" charset="-122"/>
              </a:rPr>
              <a:t>数字</a:t>
            </a:r>
            <a:r>
              <a:rPr lang="en-US" altLang="zh-CN" sz="2800">
                <a:latin typeface="宋体" panose="02010600030101010101" pitchFamily="2" charset="-122"/>
              </a:rPr>
              <a:t>(5</a:t>
            </a:r>
            <a:r>
              <a:rPr lang="zh-CN" altLang="en-US" sz="2800">
                <a:latin typeface="宋体" panose="02010600030101010101" pitchFamily="2" charset="-122"/>
              </a:rPr>
              <a:t>或</a:t>
            </a:r>
            <a:r>
              <a:rPr lang="en-US" altLang="zh-CN" sz="2800">
                <a:latin typeface="宋体" panose="02010600030101010101" pitchFamily="2" charset="-122"/>
              </a:rPr>
              <a:t>7</a:t>
            </a:r>
            <a:r>
              <a:rPr lang="zh-CN" altLang="en-US" sz="2800">
                <a:latin typeface="宋体" panose="02010600030101010101" pitchFamily="2" charset="-122"/>
              </a:rPr>
              <a:t>号字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  <a:endParaRPr lang="en-US" altLang="zh-CN">
              <a:latin typeface="宋体" panose="02010600030101010101" pitchFamily="2" charset="-122"/>
            </a:endParaRPr>
          </a:p>
        </p:txBody>
      </p:sp>
      <p:sp>
        <p:nvSpPr>
          <p:cNvPr id="134205" name="Text Box 61"/>
          <p:cNvSpPr txBox="1">
            <a:spLocks noChangeArrowheads="1"/>
          </p:cNvSpPr>
          <p:nvPr/>
        </p:nvSpPr>
        <p:spPr bwMode="auto">
          <a:xfrm>
            <a:off x="1703388" y="3741738"/>
            <a:ext cx="48148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3300"/>
                </a:solidFill>
              </a:rPr>
              <a:t>螺纹紧固件的编号形式</a:t>
            </a:r>
            <a:endParaRPr lang="zh-CN" altLang="en-US" sz="2800" b="0"/>
          </a:p>
        </p:txBody>
      </p:sp>
      <p:sp>
        <p:nvSpPr>
          <p:cNvPr id="134206" name="AutoShape 62"/>
          <p:cNvSpPr/>
          <p:nvPr/>
        </p:nvSpPr>
        <p:spPr bwMode="auto">
          <a:xfrm>
            <a:off x="2806700" y="2409825"/>
            <a:ext cx="144463" cy="658813"/>
          </a:xfrm>
          <a:prstGeom prst="rightBrace">
            <a:avLst>
              <a:gd name="adj1" fmla="val 38004"/>
              <a:gd name="adj2" fmla="val 50000"/>
            </a:avLst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  <p:sp>
        <p:nvSpPr>
          <p:cNvPr id="134207" name="Freeform 63"/>
          <p:cNvSpPr/>
          <p:nvPr/>
        </p:nvSpPr>
        <p:spPr bwMode="auto">
          <a:xfrm>
            <a:off x="6234113" y="1346200"/>
            <a:ext cx="1095375" cy="762000"/>
          </a:xfrm>
          <a:custGeom>
            <a:avLst/>
            <a:gdLst>
              <a:gd name="T0" fmla="*/ 0 w 893"/>
              <a:gd name="T1" fmla="*/ 0 h 480"/>
              <a:gd name="T2" fmla="*/ 1343612979 w 893"/>
              <a:gd name="T3" fmla="*/ 0 h 480"/>
              <a:gd name="T4" fmla="*/ 1343612979 w 893"/>
              <a:gd name="T5" fmla="*/ 1209675000 h 480"/>
              <a:gd name="T6" fmla="*/ 28587693 w 893"/>
              <a:gd name="T7" fmla="*/ 1209675000 h 4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93" h="480">
                <a:moveTo>
                  <a:pt x="0" y="0"/>
                </a:moveTo>
                <a:lnTo>
                  <a:pt x="893" y="0"/>
                </a:lnTo>
                <a:lnTo>
                  <a:pt x="893" y="480"/>
                </a:lnTo>
                <a:lnTo>
                  <a:pt x="19" y="480"/>
                </a:lnTo>
              </a:path>
            </a:pathLst>
          </a:custGeom>
          <a:gradFill rotWithShape="0">
            <a:gsLst>
              <a:gs pos="0">
                <a:srgbClr val="9900CC"/>
              </a:gs>
              <a:gs pos="50000">
                <a:srgbClr val="EDD2F6"/>
              </a:gs>
              <a:gs pos="100000">
                <a:srgbClr val="9900CC"/>
              </a:gs>
            </a:gsLst>
            <a:lin ang="5400000" scaled="1"/>
          </a:gradFill>
          <a:ln w="38100" cap="flat" cmpd="sng">
            <a:solidFill>
              <a:schemeClr val="tx1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4208" name="Group 64"/>
          <p:cNvGrpSpPr/>
          <p:nvPr/>
        </p:nvGrpSpPr>
        <p:grpSpPr bwMode="auto">
          <a:xfrm>
            <a:off x="7570788" y="1341438"/>
            <a:ext cx="1073150" cy="765175"/>
            <a:chOff x="4769" y="815"/>
            <a:chExt cx="676" cy="482"/>
          </a:xfrm>
        </p:grpSpPr>
        <p:sp>
          <p:nvSpPr>
            <p:cNvPr id="29746" name="Line 65"/>
            <p:cNvSpPr>
              <a:spLocks noChangeShapeType="1"/>
            </p:cNvSpPr>
            <p:nvPr/>
          </p:nvSpPr>
          <p:spPr bwMode="auto">
            <a:xfrm flipV="1">
              <a:off x="4769" y="1053"/>
              <a:ext cx="675" cy="0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7" name="Line 66"/>
            <p:cNvSpPr>
              <a:spLocks noChangeShapeType="1"/>
            </p:cNvSpPr>
            <p:nvPr/>
          </p:nvSpPr>
          <p:spPr bwMode="auto">
            <a:xfrm flipV="1">
              <a:off x="4769" y="1292"/>
              <a:ext cx="65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8" name="Line 67"/>
            <p:cNvSpPr>
              <a:spLocks noChangeShapeType="1"/>
            </p:cNvSpPr>
            <p:nvPr/>
          </p:nvSpPr>
          <p:spPr bwMode="auto">
            <a:xfrm flipV="1">
              <a:off x="4775" y="815"/>
              <a:ext cx="65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9" name="Freeform 68"/>
            <p:cNvSpPr/>
            <p:nvPr/>
          </p:nvSpPr>
          <p:spPr bwMode="auto">
            <a:xfrm flipV="1">
              <a:off x="4774" y="815"/>
              <a:ext cx="31" cy="482"/>
            </a:xfrm>
            <a:custGeom>
              <a:avLst/>
              <a:gdLst>
                <a:gd name="T0" fmla="*/ 1 w 31"/>
                <a:gd name="T1" fmla="*/ 0 h 482"/>
                <a:gd name="T2" fmla="*/ 30 w 31"/>
                <a:gd name="T3" fmla="*/ 110 h 482"/>
                <a:gd name="T4" fmla="*/ 7 w 31"/>
                <a:gd name="T5" fmla="*/ 209 h 482"/>
                <a:gd name="T6" fmla="*/ 1 w 31"/>
                <a:gd name="T7" fmla="*/ 279 h 482"/>
                <a:gd name="T8" fmla="*/ 13 w 31"/>
                <a:gd name="T9" fmla="*/ 378 h 482"/>
                <a:gd name="T10" fmla="*/ 7 w 31"/>
                <a:gd name="T11" fmla="*/ 482 h 4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482">
                  <a:moveTo>
                    <a:pt x="1" y="0"/>
                  </a:moveTo>
                  <a:cubicBezTo>
                    <a:pt x="15" y="37"/>
                    <a:pt x="29" y="75"/>
                    <a:pt x="30" y="110"/>
                  </a:cubicBezTo>
                  <a:cubicBezTo>
                    <a:pt x="31" y="145"/>
                    <a:pt x="12" y="181"/>
                    <a:pt x="7" y="209"/>
                  </a:cubicBezTo>
                  <a:cubicBezTo>
                    <a:pt x="2" y="237"/>
                    <a:pt x="0" y="251"/>
                    <a:pt x="1" y="279"/>
                  </a:cubicBezTo>
                  <a:cubicBezTo>
                    <a:pt x="2" y="307"/>
                    <a:pt x="12" y="344"/>
                    <a:pt x="13" y="378"/>
                  </a:cubicBezTo>
                  <a:cubicBezTo>
                    <a:pt x="14" y="412"/>
                    <a:pt x="8" y="465"/>
                    <a:pt x="7" y="482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50" name="Freeform 69"/>
            <p:cNvSpPr/>
            <p:nvPr/>
          </p:nvSpPr>
          <p:spPr bwMode="auto">
            <a:xfrm flipV="1">
              <a:off x="5419" y="820"/>
              <a:ext cx="26" cy="472"/>
            </a:xfrm>
            <a:custGeom>
              <a:avLst/>
              <a:gdLst>
                <a:gd name="T0" fmla="*/ 8 w 26"/>
                <a:gd name="T1" fmla="*/ 0 h 472"/>
                <a:gd name="T2" fmla="*/ 25 w 26"/>
                <a:gd name="T3" fmla="*/ 70 h 472"/>
                <a:gd name="T4" fmla="*/ 8 w 26"/>
                <a:gd name="T5" fmla="*/ 140 h 472"/>
                <a:gd name="T6" fmla="*/ 25 w 26"/>
                <a:gd name="T7" fmla="*/ 280 h 472"/>
                <a:gd name="T8" fmla="*/ 2 w 26"/>
                <a:gd name="T9" fmla="*/ 367 h 472"/>
                <a:gd name="T10" fmla="*/ 14 w 26"/>
                <a:gd name="T11" fmla="*/ 472 h 4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472">
                  <a:moveTo>
                    <a:pt x="8" y="0"/>
                  </a:moveTo>
                  <a:cubicBezTo>
                    <a:pt x="16" y="23"/>
                    <a:pt x="25" y="47"/>
                    <a:pt x="25" y="70"/>
                  </a:cubicBezTo>
                  <a:cubicBezTo>
                    <a:pt x="25" y="93"/>
                    <a:pt x="8" y="105"/>
                    <a:pt x="8" y="140"/>
                  </a:cubicBezTo>
                  <a:cubicBezTo>
                    <a:pt x="8" y="175"/>
                    <a:pt x="26" y="242"/>
                    <a:pt x="25" y="280"/>
                  </a:cubicBezTo>
                  <a:cubicBezTo>
                    <a:pt x="24" y="318"/>
                    <a:pt x="4" y="335"/>
                    <a:pt x="2" y="367"/>
                  </a:cubicBezTo>
                  <a:cubicBezTo>
                    <a:pt x="0" y="399"/>
                    <a:pt x="12" y="455"/>
                    <a:pt x="14" y="472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29751" name="Group 70"/>
            <p:cNvGrpSpPr/>
            <p:nvPr/>
          </p:nvGrpSpPr>
          <p:grpSpPr bwMode="auto">
            <a:xfrm flipV="1">
              <a:off x="4788" y="815"/>
              <a:ext cx="637" cy="244"/>
              <a:chOff x="4842" y="1053"/>
              <a:chExt cx="637" cy="244"/>
            </a:xfrm>
          </p:grpSpPr>
          <p:sp>
            <p:nvSpPr>
              <p:cNvPr id="29758" name="Line 71"/>
              <p:cNvSpPr>
                <a:spLocks noChangeShapeType="1"/>
              </p:cNvSpPr>
              <p:nvPr/>
            </p:nvSpPr>
            <p:spPr bwMode="auto">
              <a:xfrm flipV="1">
                <a:off x="4842" y="1059"/>
                <a:ext cx="98" cy="9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59" name="Line 72"/>
              <p:cNvSpPr>
                <a:spLocks noChangeShapeType="1"/>
              </p:cNvSpPr>
              <p:nvPr/>
            </p:nvSpPr>
            <p:spPr bwMode="auto">
              <a:xfrm flipV="1">
                <a:off x="4853" y="1053"/>
                <a:ext cx="244" cy="24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60" name="Line 73"/>
              <p:cNvSpPr>
                <a:spLocks noChangeShapeType="1"/>
              </p:cNvSpPr>
              <p:nvPr/>
            </p:nvSpPr>
            <p:spPr bwMode="auto">
              <a:xfrm flipV="1">
                <a:off x="5020" y="1059"/>
                <a:ext cx="233" cy="23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61" name="Line 74"/>
              <p:cNvSpPr>
                <a:spLocks noChangeShapeType="1"/>
              </p:cNvSpPr>
              <p:nvPr/>
            </p:nvSpPr>
            <p:spPr bwMode="auto">
              <a:xfrm flipV="1">
                <a:off x="5175" y="1063"/>
                <a:ext cx="233" cy="23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62" name="Line 75"/>
              <p:cNvSpPr>
                <a:spLocks noChangeShapeType="1"/>
              </p:cNvSpPr>
              <p:nvPr/>
            </p:nvSpPr>
            <p:spPr bwMode="auto">
              <a:xfrm flipV="1">
                <a:off x="5333" y="1147"/>
                <a:ext cx="146" cy="14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29752" name="Group 76"/>
            <p:cNvGrpSpPr/>
            <p:nvPr/>
          </p:nvGrpSpPr>
          <p:grpSpPr bwMode="auto">
            <a:xfrm>
              <a:off x="4809" y="1045"/>
              <a:ext cx="626" cy="244"/>
              <a:chOff x="4809" y="1045"/>
              <a:chExt cx="626" cy="244"/>
            </a:xfrm>
          </p:grpSpPr>
          <p:sp>
            <p:nvSpPr>
              <p:cNvPr id="29753" name="Line 77"/>
              <p:cNvSpPr>
                <a:spLocks noChangeShapeType="1"/>
              </p:cNvSpPr>
              <p:nvPr/>
            </p:nvSpPr>
            <p:spPr bwMode="auto">
              <a:xfrm flipV="1">
                <a:off x="4809" y="1051"/>
                <a:ext cx="115" cy="11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54" name="Line 78"/>
              <p:cNvSpPr>
                <a:spLocks noChangeShapeType="1"/>
              </p:cNvSpPr>
              <p:nvPr/>
            </p:nvSpPr>
            <p:spPr bwMode="auto">
              <a:xfrm flipV="1">
                <a:off x="4837" y="1045"/>
                <a:ext cx="244" cy="24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55" name="Line 79"/>
              <p:cNvSpPr>
                <a:spLocks noChangeShapeType="1"/>
              </p:cNvSpPr>
              <p:nvPr/>
            </p:nvSpPr>
            <p:spPr bwMode="auto">
              <a:xfrm flipV="1">
                <a:off x="5004" y="1051"/>
                <a:ext cx="233" cy="23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56" name="Line 80"/>
              <p:cNvSpPr>
                <a:spLocks noChangeShapeType="1"/>
              </p:cNvSpPr>
              <p:nvPr/>
            </p:nvSpPr>
            <p:spPr bwMode="auto">
              <a:xfrm flipV="1">
                <a:off x="5159" y="1055"/>
                <a:ext cx="233" cy="23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57" name="Line 81"/>
              <p:cNvSpPr>
                <a:spLocks noChangeShapeType="1"/>
              </p:cNvSpPr>
              <p:nvPr/>
            </p:nvSpPr>
            <p:spPr bwMode="auto">
              <a:xfrm flipV="1">
                <a:off x="5317" y="1167"/>
                <a:ext cx="118" cy="11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134226" name="Text Box 82"/>
          <p:cNvSpPr txBox="1">
            <a:spLocks noChangeArrowheads="1"/>
          </p:cNvSpPr>
          <p:nvPr/>
        </p:nvSpPr>
        <p:spPr bwMode="auto">
          <a:xfrm>
            <a:off x="6562725" y="1495425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•</a:t>
            </a:r>
            <a:endParaRPr lang="en-US" altLang="zh-CN" sz="2400"/>
          </a:p>
        </p:txBody>
      </p:sp>
      <p:sp>
        <p:nvSpPr>
          <p:cNvPr id="134227" name="Line 83"/>
          <p:cNvSpPr>
            <a:spLocks noChangeShapeType="1"/>
          </p:cNvSpPr>
          <p:nvPr/>
        </p:nvSpPr>
        <p:spPr bwMode="auto">
          <a:xfrm>
            <a:off x="6716713" y="1751013"/>
            <a:ext cx="269875" cy="8747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28" name="Text Box 84"/>
          <p:cNvSpPr txBox="1">
            <a:spLocks noChangeArrowheads="1"/>
          </p:cNvSpPr>
          <p:nvPr/>
        </p:nvSpPr>
        <p:spPr bwMode="auto">
          <a:xfrm>
            <a:off x="6856413" y="25320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</a:rPr>
              <a:t>7</a:t>
            </a:r>
            <a:endParaRPr lang="en-US" altLang="zh-CN" sz="2400"/>
          </a:p>
        </p:txBody>
      </p:sp>
      <p:grpSp>
        <p:nvGrpSpPr>
          <p:cNvPr id="134229" name="Group 85"/>
          <p:cNvGrpSpPr/>
          <p:nvPr/>
        </p:nvGrpSpPr>
        <p:grpSpPr bwMode="auto">
          <a:xfrm>
            <a:off x="7820025" y="1712913"/>
            <a:ext cx="827088" cy="1379537"/>
            <a:chOff x="4926" y="1079"/>
            <a:chExt cx="521" cy="869"/>
          </a:xfrm>
        </p:grpSpPr>
        <p:sp>
          <p:nvSpPr>
            <p:cNvPr id="29743" name="Line 86"/>
            <p:cNvSpPr>
              <a:spLocks noChangeShapeType="1"/>
            </p:cNvSpPr>
            <p:nvPr/>
          </p:nvSpPr>
          <p:spPr bwMode="auto">
            <a:xfrm>
              <a:off x="4926" y="1079"/>
              <a:ext cx="192" cy="8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4" name="Line 87"/>
            <p:cNvSpPr>
              <a:spLocks noChangeShapeType="1"/>
            </p:cNvSpPr>
            <p:nvPr/>
          </p:nvSpPr>
          <p:spPr bwMode="auto">
            <a:xfrm>
              <a:off x="5116" y="1892"/>
              <a:ext cx="331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5" name="Text Box 88"/>
            <p:cNvSpPr txBox="1">
              <a:spLocks noChangeArrowheads="1"/>
            </p:cNvSpPr>
            <p:nvPr/>
          </p:nvSpPr>
          <p:spPr bwMode="auto">
            <a:xfrm>
              <a:off x="5158" y="158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3300"/>
                  </a:solidFill>
                </a:rPr>
                <a:t>7</a:t>
              </a:r>
              <a:endParaRPr lang="en-US" altLang="zh-CN" sz="2400"/>
            </a:p>
          </p:txBody>
        </p:sp>
      </p:grpSp>
      <p:sp>
        <p:nvSpPr>
          <p:cNvPr id="134233" name="Text Box 89"/>
          <p:cNvSpPr txBox="1">
            <a:spLocks noChangeArrowheads="1"/>
          </p:cNvSpPr>
          <p:nvPr/>
        </p:nvSpPr>
        <p:spPr bwMode="auto">
          <a:xfrm>
            <a:off x="4500563" y="3030538"/>
            <a:ext cx="541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⑴</a:t>
            </a:r>
            <a:endParaRPr lang="en-US" altLang="zh-CN" sz="2800"/>
          </a:p>
        </p:txBody>
      </p:sp>
      <p:sp>
        <p:nvSpPr>
          <p:cNvPr id="134234" name="Text Box 90"/>
          <p:cNvSpPr txBox="1">
            <a:spLocks noChangeArrowheads="1"/>
          </p:cNvSpPr>
          <p:nvPr/>
        </p:nvSpPr>
        <p:spPr bwMode="auto">
          <a:xfrm>
            <a:off x="5570538" y="3030538"/>
            <a:ext cx="541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⑵</a:t>
            </a:r>
            <a:endParaRPr lang="en-US" altLang="zh-CN" sz="2800"/>
          </a:p>
        </p:txBody>
      </p:sp>
      <p:sp>
        <p:nvSpPr>
          <p:cNvPr id="134235" name="Text Box 91"/>
          <p:cNvSpPr txBox="1">
            <a:spLocks noChangeArrowheads="1"/>
          </p:cNvSpPr>
          <p:nvPr/>
        </p:nvSpPr>
        <p:spPr bwMode="auto">
          <a:xfrm>
            <a:off x="6792913" y="3030538"/>
            <a:ext cx="541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⑶</a:t>
            </a:r>
            <a:endParaRPr lang="en-US" altLang="zh-CN" sz="2800"/>
          </a:p>
        </p:txBody>
      </p:sp>
      <p:sp>
        <p:nvSpPr>
          <p:cNvPr id="134236" name="Text Box 92"/>
          <p:cNvSpPr txBox="1">
            <a:spLocks noChangeArrowheads="1"/>
          </p:cNvSpPr>
          <p:nvPr/>
        </p:nvSpPr>
        <p:spPr bwMode="auto">
          <a:xfrm>
            <a:off x="4178300" y="771525"/>
            <a:ext cx="268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3300"/>
                </a:solidFill>
              </a:rPr>
              <a:t>指引线末端形式</a:t>
            </a:r>
            <a:endParaRPr lang="zh-CN" altLang="en-US" sz="2800">
              <a:solidFill>
                <a:srgbClr val="FF3300"/>
              </a:solidFill>
            </a:endParaRPr>
          </a:p>
        </p:txBody>
      </p:sp>
      <p:grpSp>
        <p:nvGrpSpPr>
          <p:cNvPr id="134248" name="Group 104"/>
          <p:cNvGrpSpPr/>
          <p:nvPr/>
        </p:nvGrpSpPr>
        <p:grpSpPr bwMode="auto">
          <a:xfrm>
            <a:off x="7265988" y="3373438"/>
            <a:ext cx="1725612" cy="931862"/>
            <a:chOff x="4577" y="2125"/>
            <a:chExt cx="1087" cy="587"/>
          </a:xfrm>
        </p:grpSpPr>
        <p:sp>
          <p:nvSpPr>
            <p:cNvPr id="29741" name="AutoShape 94"/>
            <p:cNvSpPr>
              <a:spLocks noChangeArrowheads="1"/>
            </p:cNvSpPr>
            <p:nvPr/>
          </p:nvSpPr>
          <p:spPr bwMode="auto">
            <a:xfrm>
              <a:off x="4585" y="2125"/>
              <a:ext cx="1053" cy="587"/>
            </a:xfrm>
            <a:prstGeom prst="wedgeRoundRectCallout">
              <a:avLst>
                <a:gd name="adj1" fmla="val 11727"/>
                <a:gd name="adj2" fmla="val -84755"/>
                <a:gd name="adj3" fmla="val 16667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CC99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accent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29742" name="Text Box 95"/>
            <p:cNvSpPr txBox="1">
              <a:spLocks noChangeArrowheads="1"/>
            </p:cNvSpPr>
            <p:nvPr/>
          </p:nvSpPr>
          <p:spPr bwMode="auto">
            <a:xfrm>
              <a:off x="4577" y="2169"/>
              <a:ext cx="1087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FFFF"/>
                      </a:gs>
                      <a:gs pos="100000">
                        <a:srgbClr val="CC9900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</a:rPr>
                <a:t>薄件及涂黑剖面的编号</a:t>
              </a:r>
              <a:endParaRPr lang="zh-CN" altLang="en-US" sz="2400">
                <a:solidFill>
                  <a:schemeClr val="accent2"/>
                </a:solidFill>
              </a:endParaRPr>
            </a:p>
          </p:txBody>
        </p:sp>
      </p:grpSp>
      <p:grpSp>
        <p:nvGrpSpPr>
          <p:cNvPr id="134240" name="Group 96"/>
          <p:cNvGrpSpPr/>
          <p:nvPr/>
        </p:nvGrpSpPr>
        <p:grpSpPr bwMode="auto">
          <a:xfrm>
            <a:off x="7204075" y="4506913"/>
            <a:ext cx="1550988" cy="1554162"/>
            <a:chOff x="4591" y="2804"/>
            <a:chExt cx="977" cy="979"/>
          </a:xfrm>
        </p:grpSpPr>
        <p:sp>
          <p:nvSpPr>
            <p:cNvPr id="29734" name="Text Box 97"/>
            <p:cNvSpPr txBox="1">
              <a:spLocks noChangeArrowheads="1"/>
            </p:cNvSpPr>
            <p:nvPr/>
          </p:nvSpPr>
          <p:spPr bwMode="auto">
            <a:xfrm>
              <a:off x="4591" y="280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3300"/>
                  </a:solidFill>
                </a:rPr>
                <a:t>1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29735" name="Text Box 98"/>
            <p:cNvSpPr txBox="1">
              <a:spLocks noChangeArrowheads="1"/>
            </p:cNvSpPr>
            <p:nvPr/>
          </p:nvSpPr>
          <p:spPr bwMode="auto">
            <a:xfrm>
              <a:off x="4958" y="280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3300"/>
                  </a:solidFill>
                </a:rPr>
                <a:t>2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29736" name="Text Box 99"/>
            <p:cNvSpPr txBox="1">
              <a:spLocks noChangeArrowheads="1"/>
            </p:cNvSpPr>
            <p:nvPr/>
          </p:nvSpPr>
          <p:spPr bwMode="auto">
            <a:xfrm>
              <a:off x="5324" y="2804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rgbClr val="FF3300"/>
                  </a:solidFill>
                </a:rPr>
                <a:t>3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29737" name="Text Box 100"/>
            <p:cNvSpPr txBox="1">
              <a:spLocks noChangeArrowheads="1"/>
            </p:cNvSpPr>
            <p:nvPr/>
          </p:nvSpPr>
          <p:spPr bwMode="auto">
            <a:xfrm>
              <a:off x="4743" y="283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—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29738" name="Text Box 101"/>
            <p:cNvSpPr txBox="1">
              <a:spLocks noChangeArrowheads="1"/>
            </p:cNvSpPr>
            <p:nvPr/>
          </p:nvSpPr>
          <p:spPr bwMode="auto">
            <a:xfrm>
              <a:off x="5109" y="283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</a:rPr>
                <a:t>—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29739" name="Line 102"/>
            <p:cNvSpPr>
              <a:spLocks noChangeShapeType="1"/>
            </p:cNvSpPr>
            <p:nvPr/>
          </p:nvSpPr>
          <p:spPr bwMode="auto">
            <a:xfrm flipH="1">
              <a:off x="4951" y="3114"/>
              <a:ext cx="134" cy="63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40" name="Text Box 103"/>
            <p:cNvSpPr txBox="1">
              <a:spLocks noChangeArrowheads="1"/>
            </p:cNvSpPr>
            <p:nvPr/>
          </p:nvSpPr>
          <p:spPr bwMode="auto">
            <a:xfrm>
              <a:off x="4875" y="3677"/>
              <a:ext cx="156" cy="1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500">
                  <a:solidFill>
                    <a:srgbClr val="FF3300"/>
                  </a:solidFill>
                </a:rPr>
                <a:t>●</a:t>
              </a:r>
              <a:endParaRPr lang="en-US" altLang="zh-CN" sz="500">
                <a:solidFill>
                  <a:srgbClr val="FF33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134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13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4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4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13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3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34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134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13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6" dur="5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34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34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34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3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4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5" dur="500"/>
                                        <p:tgtEl>
                                          <p:spTgt spid="13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34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34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34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34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5" dur="500"/>
                                        <p:tgtEl>
                                          <p:spTgt spid="134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3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134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9" dur="500"/>
                                        <p:tgtEl>
                                          <p:spTgt spid="134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3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3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13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3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34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0" grpId="0" autoUpdateAnimBg="0"/>
      <p:bldP spid="134151" grpId="0" autoUpdateAnimBg="0"/>
      <p:bldP spid="134153" grpId="0" autoUpdateAnimBg="0"/>
      <p:bldP spid="134157" grpId="0" autoUpdateAnimBg="0"/>
      <p:bldP spid="134160" grpId="0" autoUpdateAnimBg="0"/>
      <p:bldP spid="134161" grpId="0" autoUpdateAnimBg="0"/>
      <p:bldP spid="134200" grpId="0" autoUpdateAnimBg="0"/>
      <p:bldP spid="134201" grpId="0" autoUpdateAnimBg="0"/>
      <p:bldP spid="134202" grpId="0" autoUpdateAnimBg="0"/>
      <p:bldP spid="134203" grpId="0" autoUpdateAnimBg="0"/>
      <p:bldP spid="134204" grpId="0" autoUpdateAnimBg="0"/>
      <p:bldP spid="134205" grpId="0" autoUpdateAnimBg="0"/>
      <p:bldP spid="134226" grpId="0" autoUpdateAnimBg="0"/>
      <p:bldP spid="134228" grpId="0" autoUpdateAnimBg="0"/>
      <p:bldP spid="134233" grpId="0" autoUpdateAnimBg="0"/>
      <p:bldP spid="134234" grpId="0" autoUpdateAnimBg="0"/>
      <p:bldP spid="134235" grpId="0" autoUpdateAnimBg="0"/>
      <p:bldP spid="13423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604838" y="385763"/>
            <a:ext cx="853916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⑵ </a:t>
            </a:r>
            <a:r>
              <a:rPr lang="zh-CN" altLang="en-US">
                <a:latin typeface="宋体" panose="02010600030101010101" pitchFamily="2" charset="-122"/>
              </a:rPr>
              <a:t>相同零件只对其中一个编号</a:t>
            </a:r>
            <a:r>
              <a:rPr lang="en-US" altLang="zh-CN">
                <a:latin typeface="宋体" panose="02010600030101010101" pitchFamily="2" charset="-122"/>
              </a:rPr>
              <a:t>, </a:t>
            </a:r>
            <a:r>
              <a:rPr lang="zh-CN" altLang="en-US">
                <a:latin typeface="宋体" panose="02010600030101010101" pitchFamily="2" charset="-122"/>
              </a:rPr>
              <a:t>其数量填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在明细栏内。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623888" y="1431925"/>
            <a:ext cx="86741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⑶ </a:t>
            </a:r>
            <a:r>
              <a:rPr lang="zh-CN" altLang="en-US">
                <a:latin typeface="宋体" panose="02010600030101010101" pitchFamily="2" charset="-122"/>
              </a:rPr>
              <a:t>指引线不能相交</a:t>
            </a:r>
            <a:r>
              <a:rPr lang="en-US" altLang="zh-CN">
                <a:latin typeface="宋体" panose="02010600030101010101" pitchFamily="2" charset="-122"/>
              </a:rPr>
              <a:t>, </a:t>
            </a:r>
            <a:r>
              <a:rPr lang="zh-CN" altLang="en-US">
                <a:latin typeface="宋体" panose="02010600030101010101" pitchFamily="2" charset="-122"/>
              </a:rPr>
              <a:t>在通过剖面线的区域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时不能与剖面线平行。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17538" y="2235200"/>
            <a:ext cx="8120062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⑷ </a:t>
            </a:r>
            <a:r>
              <a:rPr lang="zh-CN" altLang="en-US">
                <a:latin typeface="宋体" panose="02010600030101010101" pitchFamily="2" charset="-122"/>
              </a:rPr>
              <a:t>零件编号应按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顺时针或逆时针</a:t>
            </a:r>
            <a:r>
              <a:rPr lang="zh-CN" altLang="en-US">
                <a:latin typeface="宋体" panose="02010600030101010101" pitchFamily="2" charset="-122"/>
              </a:rPr>
              <a:t>方向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顺序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编号，按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水平</a:t>
            </a:r>
            <a:r>
              <a:rPr lang="zh-CN" altLang="en-US">
                <a:latin typeface="宋体" panose="02010600030101010101" pitchFamily="2" charset="-122"/>
              </a:rPr>
              <a:t>方向或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垂直方向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整齐</a:t>
            </a:r>
            <a:r>
              <a:rPr lang="zh-CN" altLang="en-US">
                <a:latin typeface="宋体" panose="02010600030101010101" pitchFamily="2" charset="-122"/>
              </a:rPr>
              <a:t>排列。   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8437" name="WordArt 5"/>
          <p:cNvSpPr>
            <a:spLocks noChangeArrowheads="1" noChangeShapeType="1" noTextEdit="1"/>
          </p:cNvSpPr>
          <p:nvPr/>
        </p:nvSpPr>
        <p:spPr bwMode="auto">
          <a:xfrm>
            <a:off x="673100" y="3725863"/>
            <a:ext cx="3657600" cy="866775"/>
          </a:xfrm>
          <a:prstGeom prst="rect">
            <a:avLst/>
          </a:prstGeom>
        </p:spPr>
        <p:txBody>
          <a:bodyPr wrap="none" fromWordArt="1">
            <a:prstTxWarp prst="textCanUp">
              <a:avLst>
                <a:gd name="adj" fmla="val 66667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rgbClr val="FF3300"/>
                  </a:solidFill>
                  <a:round/>
                </a:ln>
                <a:latin typeface="宋体" panose="02010600030101010101" pitchFamily="2" charset="-122"/>
              </a:rPr>
              <a:t>怎样编号不易出错？</a:t>
            </a:r>
            <a:endParaRPr lang="zh-CN" altLang="en-US" sz="3600" kern="10">
              <a:ln w="9525">
                <a:solidFill>
                  <a:srgbClr val="FF3300"/>
                </a:solidFill>
                <a:round/>
              </a:ln>
              <a:latin typeface="宋体" panose="02010600030101010101" pitchFamily="2" charset="-122"/>
            </a:endParaRP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4646613" y="3911600"/>
            <a:ext cx="3835400" cy="1876425"/>
          </a:xfrm>
          <a:prstGeom prst="rect">
            <a:avLst/>
          </a:prstGeom>
          <a:gradFill rotWithShape="0">
            <a:gsLst>
              <a:gs pos="0">
                <a:srgbClr val="FFFFC1"/>
              </a:gs>
              <a:gs pos="50000">
                <a:srgbClr val="FFFF66"/>
              </a:gs>
              <a:gs pos="100000">
                <a:srgbClr val="FFFFC1"/>
              </a:gs>
            </a:gsLst>
            <a:lin ang="2700000" scaled="1"/>
          </a:gradFill>
          <a:ln w="76200">
            <a:pattFill prst="sphere">
              <a:fgClr>
                <a:srgbClr val="0000CC"/>
              </a:fgClr>
              <a:bgClr>
                <a:srgbClr val="FFFFFF"/>
              </a:bgClr>
            </a:patt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    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先画出需要编号零</a:t>
            </a:r>
            <a:endParaRPr lang="zh-CN" altLang="en-US" sz="2800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件的指引线和横线，检</a:t>
            </a:r>
            <a:endParaRPr lang="zh-CN" altLang="en-US" sz="2800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查无重复、无遗漏时，</a:t>
            </a:r>
            <a:endParaRPr lang="zh-CN" altLang="en-US" sz="2800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再统一填写序号。</a:t>
            </a:r>
            <a:endParaRPr lang="zh-CN" altLang="en-US" sz="28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1320800" y="4340225"/>
          <a:ext cx="1990725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Clip" r:id="rId1" imgW="4364355" imgH="2451735" progId="MS_ClipArt_Gallery.5">
                  <p:embed/>
                </p:oleObj>
              </mc:Choice>
              <mc:Fallback>
                <p:oleObj name="Clip" r:id="rId1" imgW="4364355" imgH="2451735" progId="MS_ClipArt_Gallery.5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0249" r="49512"/>
                      <a:stretch>
                        <a:fillRect/>
                      </a:stretch>
                    </p:blipFill>
                    <p:spPr bwMode="auto">
                      <a:xfrm>
                        <a:off x="1320800" y="4340225"/>
                        <a:ext cx="1990725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78" name="Group 46"/>
          <p:cNvGrpSpPr/>
          <p:nvPr/>
        </p:nvGrpSpPr>
        <p:grpSpPr bwMode="auto">
          <a:xfrm>
            <a:off x="517525" y="5334000"/>
            <a:ext cx="2549525" cy="1474788"/>
            <a:chOff x="326" y="3438"/>
            <a:chExt cx="1606" cy="929"/>
          </a:xfrm>
        </p:grpSpPr>
        <p:sp>
          <p:nvSpPr>
            <p:cNvPr id="30740" name="Text Box 20"/>
            <p:cNvSpPr txBox="1">
              <a:spLocks noChangeArrowheads="1"/>
            </p:cNvSpPr>
            <p:nvPr/>
          </p:nvSpPr>
          <p:spPr bwMode="auto">
            <a:xfrm>
              <a:off x="326" y="3848"/>
              <a:ext cx="212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4800" b="0">
                  <a:solidFill>
                    <a:srgbClr val="FF3300"/>
                  </a:solidFill>
                </a:rPr>
                <a:t>·</a:t>
              </a:r>
              <a:endParaRPr lang="en-US" altLang="zh-CN" sz="2400" b="0"/>
            </a:p>
          </p:txBody>
        </p:sp>
        <p:sp>
          <p:nvSpPr>
            <p:cNvPr id="30741" name="Text Box 22"/>
            <p:cNvSpPr txBox="1">
              <a:spLocks noChangeArrowheads="1"/>
            </p:cNvSpPr>
            <p:nvPr/>
          </p:nvSpPr>
          <p:spPr bwMode="auto">
            <a:xfrm>
              <a:off x="806" y="3848"/>
              <a:ext cx="212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4800" b="0">
                  <a:solidFill>
                    <a:srgbClr val="FF3300"/>
                  </a:solidFill>
                </a:rPr>
                <a:t>·</a:t>
              </a:r>
              <a:endParaRPr lang="en-US" altLang="zh-CN" sz="4800" b="0">
                <a:solidFill>
                  <a:srgbClr val="FF3300"/>
                </a:solidFill>
              </a:endParaRPr>
            </a:p>
          </p:txBody>
        </p:sp>
        <p:sp>
          <p:nvSpPr>
            <p:cNvPr id="30742" name="Text Box 24"/>
            <p:cNvSpPr txBox="1">
              <a:spLocks noChangeArrowheads="1"/>
            </p:cNvSpPr>
            <p:nvPr/>
          </p:nvSpPr>
          <p:spPr bwMode="auto">
            <a:xfrm>
              <a:off x="1394" y="3836"/>
              <a:ext cx="212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4800" b="0">
                  <a:solidFill>
                    <a:srgbClr val="FF3300"/>
                  </a:solidFill>
                </a:rPr>
                <a:t>·</a:t>
              </a:r>
              <a:endParaRPr lang="en-US" altLang="zh-CN" sz="4800" b="0">
                <a:solidFill>
                  <a:srgbClr val="FF3300"/>
                </a:solidFill>
              </a:endParaRPr>
            </a:p>
          </p:txBody>
        </p:sp>
        <p:grpSp>
          <p:nvGrpSpPr>
            <p:cNvPr id="30743" name="Group 37"/>
            <p:cNvGrpSpPr/>
            <p:nvPr/>
          </p:nvGrpSpPr>
          <p:grpSpPr bwMode="auto">
            <a:xfrm>
              <a:off x="420" y="3732"/>
              <a:ext cx="444" cy="384"/>
              <a:chOff x="420" y="3732"/>
              <a:chExt cx="444" cy="384"/>
            </a:xfrm>
          </p:grpSpPr>
          <p:sp>
            <p:nvSpPr>
              <p:cNvPr id="30753" name="Line 8"/>
              <p:cNvSpPr>
                <a:spLocks noChangeShapeType="1"/>
              </p:cNvSpPr>
              <p:nvPr/>
            </p:nvSpPr>
            <p:spPr bwMode="auto">
              <a:xfrm>
                <a:off x="564" y="373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54" name="Line 14"/>
              <p:cNvSpPr>
                <a:spLocks noChangeShapeType="1"/>
              </p:cNvSpPr>
              <p:nvPr/>
            </p:nvSpPr>
            <p:spPr bwMode="auto">
              <a:xfrm flipH="1">
                <a:off x="420" y="3732"/>
                <a:ext cx="14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0744" name="Group 38"/>
            <p:cNvGrpSpPr/>
            <p:nvPr/>
          </p:nvGrpSpPr>
          <p:grpSpPr bwMode="auto">
            <a:xfrm>
              <a:off x="900" y="3732"/>
              <a:ext cx="468" cy="408"/>
              <a:chOff x="900" y="3732"/>
              <a:chExt cx="468" cy="408"/>
            </a:xfrm>
          </p:grpSpPr>
          <p:sp>
            <p:nvSpPr>
              <p:cNvPr id="30751" name="Line 10"/>
              <p:cNvSpPr>
                <a:spLocks noChangeShapeType="1"/>
              </p:cNvSpPr>
              <p:nvPr/>
            </p:nvSpPr>
            <p:spPr bwMode="auto">
              <a:xfrm>
                <a:off x="1068" y="3732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52" name="Line 15"/>
              <p:cNvSpPr>
                <a:spLocks noChangeShapeType="1"/>
              </p:cNvSpPr>
              <p:nvPr/>
            </p:nvSpPr>
            <p:spPr bwMode="auto">
              <a:xfrm flipH="1">
                <a:off x="900" y="3732"/>
                <a:ext cx="168" cy="40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0745" name="Group 39"/>
            <p:cNvGrpSpPr/>
            <p:nvPr/>
          </p:nvGrpSpPr>
          <p:grpSpPr bwMode="auto">
            <a:xfrm>
              <a:off x="1488" y="3720"/>
              <a:ext cx="444" cy="396"/>
              <a:chOff x="1488" y="3720"/>
              <a:chExt cx="444" cy="396"/>
            </a:xfrm>
          </p:grpSpPr>
          <p:sp>
            <p:nvSpPr>
              <p:cNvPr id="30749" name="Line 11"/>
              <p:cNvSpPr>
                <a:spLocks noChangeShapeType="1"/>
              </p:cNvSpPr>
              <p:nvPr/>
            </p:nvSpPr>
            <p:spPr bwMode="auto">
              <a:xfrm>
                <a:off x="1632" y="372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50" name="Line 16"/>
              <p:cNvSpPr>
                <a:spLocks noChangeShapeType="1"/>
              </p:cNvSpPr>
              <p:nvPr/>
            </p:nvSpPr>
            <p:spPr bwMode="auto">
              <a:xfrm flipH="1">
                <a:off x="1488" y="3720"/>
                <a:ext cx="144" cy="3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0746" name="Text Box 29"/>
            <p:cNvSpPr txBox="1">
              <a:spLocks noChangeArrowheads="1"/>
            </p:cNvSpPr>
            <p:nvPr/>
          </p:nvSpPr>
          <p:spPr bwMode="auto">
            <a:xfrm>
              <a:off x="602" y="343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1</a:t>
              </a:r>
              <a:endParaRPr lang="en-US" altLang="zh-CN" sz="2800"/>
            </a:p>
          </p:txBody>
        </p:sp>
        <p:sp>
          <p:nvSpPr>
            <p:cNvPr id="30747" name="Text Box 30"/>
            <p:cNvSpPr txBox="1">
              <a:spLocks noChangeArrowheads="1"/>
            </p:cNvSpPr>
            <p:nvPr/>
          </p:nvSpPr>
          <p:spPr bwMode="auto">
            <a:xfrm>
              <a:off x="1142" y="345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2</a:t>
              </a:r>
              <a:endParaRPr lang="en-US" altLang="zh-CN" sz="2800"/>
            </a:p>
          </p:txBody>
        </p:sp>
        <p:sp>
          <p:nvSpPr>
            <p:cNvPr id="30748" name="Text Box 31"/>
            <p:cNvSpPr txBox="1">
              <a:spLocks noChangeArrowheads="1"/>
            </p:cNvSpPr>
            <p:nvPr/>
          </p:nvSpPr>
          <p:spPr bwMode="auto">
            <a:xfrm>
              <a:off x="1694" y="343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3</a:t>
              </a:r>
              <a:endParaRPr lang="en-US" altLang="zh-CN" sz="2800"/>
            </a:p>
          </p:txBody>
        </p:sp>
      </p:grpSp>
      <p:grpSp>
        <p:nvGrpSpPr>
          <p:cNvPr id="18479" name="Group 47"/>
          <p:cNvGrpSpPr/>
          <p:nvPr/>
        </p:nvGrpSpPr>
        <p:grpSpPr bwMode="auto">
          <a:xfrm>
            <a:off x="3127375" y="4419600"/>
            <a:ext cx="911225" cy="2389188"/>
            <a:chOff x="1970" y="2862"/>
            <a:chExt cx="574" cy="1505"/>
          </a:xfrm>
        </p:grpSpPr>
        <p:sp>
          <p:nvSpPr>
            <p:cNvPr id="30730" name="Text Box 26"/>
            <p:cNvSpPr txBox="1">
              <a:spLocks noChangeArrowheads="1"/>
            </p:cNvSpPr>
            <p:nvPr/>
          </p:nvSpPr>
          <p:spPr bwMode="auto">
            <a:xfrm>
              <a:off x="1970" y="3848"/>
              <a:ext cx="212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4800" b="0">
                  <a:solidFill>
                    <a:srgbClr val="FF3300"/>
                  </a:solidFill>
                </a:rPr>
                <a:t>·</a:t>
              </a:r>
              <a:endParaRPr lang="en-US" altLang="zh-CN" sz="4800" b="0">
                <a:solidFill>
                  <a:srgbClr val="FF3300"/>
                </a:solidFill>
              </a:endParaRPr>
            </a:p>
          </p:txBody>
        </p:sp>
        <p:grpSp>
          <p:nvGrpSpPr>
            <p:cNvPr id="30731" name="Group 40"/>
            <p:cNvGrpSpPr/>
            <p:nvPr/>
          </p:nvGrpSpPr>
          <p:grpSpPr bwMode="auto">
            <a:xfrm>
              <a:off x="2064" y="3708"/>
              <a:ext cx="480" cy="432"/>
              <a:chOff x="2064" y="3708"/>
              <a:chExt cx="480" cy="432"/>
            </a:xfrm>
          </p:grpSpPr>
          <p:sp>
            <p:nvSpPr>
              <p:cNvPr id="30738" name="Line 12"/>
              <p:cNvSpPr>
                <a:spLocks noChangeShapeType="1"/>
              </p:cNvSpPr>
              <p:nvPr/>
            </p:nvSpPr>
            <p:spPr bwMode="auto">
              <a:xfrm>
                <a:off x="2244" y="3708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39" name="Line 17"/>
              <p:cNvSpPr>
                <a:spLocks noChangeShapeType="1"/>
              </p:cNvSpPr>
              <p:nvPr/>
            </p:nvSpPr>
            <p:spPr bwMode="auto">
              <a:xfrm flipH="1">
                <a:off x="2064" y="3708"/>
                <a:ext cx="18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0732" name="Text Box 32"/>
            <p:cNvSpPr txBox="1">
              <a:spLocks noChangeArrowheads="1"/>
            </p:cNvSpPr>
            <p:nvPr/>
          </p:nvSpPr>
          <p:spPr bwMode="auto">
            <a:xfrm>
              <a:off x="2294" y="342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4</a:t>
              </a:r>
              <a:endParaRPr lang="en-US" altLang="zh-CN" sz="2800"/>
            </a:p>
          </p:txBody>
        </p:sp>
        <p:sp>
          <p:nvSpPr>
            <p:cNvPr id="30733" name="Line 9"/>
            <p:cNvSpPr>
              <a:spLocks noChangeShapeType="1"/>
            </p:cNvSpPr>
            <p:nvPr/>
          </p:nvSpPr>
          <p:spPr bwMode="auto">
            <a:xfrm>
              <a:off x="2240" y="343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4" name="Line 13"/>
            <p:cNvSpPr>
              <a:spLocks noChangeShapeType="1"/>
            </p:cNvSpPr>
            <p:nvPr/>
          </p:nvSpPr>
          <p:spPr bwMode="auto">
            <a:xfrm>
              <a:off x="2240" y="3132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5" name="Text Box 33"/>
            <p:cNvSpPr txBox="1">
              <a:spLocks noChangeArrowheads="1"/>
            </p:cNvSpPr>
            <p:nvPr/>
          </p:nvSpPr>
          <p:spPr bwMode="auto">
            <a:xfrm>
              <a:off x="2294" y="315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5</a:t>
              </a:r>
              <a:endParaRPr lang="en-US" altLang="zh-CN" sz="2400" b="0"/>
            </a:p>
          </p:txBody>
        </p:sp>
        <p:sp>
          <p:nvSpPr>
            <p:cNvPr id="30736" name="Text Box 34"/>
            <p:cNvSpPr txBox="1">
              <a:spLocks noChangeArrowheads="1"/>
            </p:cNvSpPr>
            <p:nvPr/>
          </p:nvSpPr>
          <p:spPr bwMode="auto">
            <a:xfrm>
              <a:off x="2294" y="286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6</a:t>
              </a:r>
              <a:endParaRPr lang="en-US" altLang="zh-CN" sz="2400" b="0"/>
            </a:p>
          </p:txBody>
        </p:sp>
        <p:sp>
          <p:nvSpPr>
            <p:cNvPr id="30737" name="Line 44"/>
            <p:cNvSpPr>
              <a:spLocks noChangeShapeType="1"/>
            </p:cNvSpPr>
            <p:nvPr/>
          </p:nvSpPr>
          <p:spPr bwMode="auto">
            <a:xfrm flipV="1">
              <a:off x="2244" y="3128"/>
              <a:ext cx="0" cy="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utoUpdateAnimBg="0"/>
      <p:bldP spid="18436" grpId="0" autoUpdateAnimBg="0"/>
      <p:bldP spid="18438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650875" y="200025"/>
            <a:ext cx="2768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2.</a:t>
            </a:r>
            <a:r>
              <a:rPr lang="zh-CN" altLang="en-US">
                <a:latin typeface="宋体" panose="02010600030101010101" pitchFamily="2" charset="-122"/>
              </a:rPr>
              <a:t>明细栏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723900" y="758825"/>
            <a:ext cx="7961313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    </a:t>
            </a:r>
            <a:r>
              <a:rPr lang="zh-CN" altLang="en-US" sz="2800">
                <a:latin typeface="宋体" panose="02010600030101010101" pitchFamily="2" charset="-122"/>
              </a:rPr>
              <a:t>明细栏是部件全部零件的详细目录</a:t>
            </a:r>
            <a:r>
              <a:rPr lang="en-US" altLang="zh-CN" sz="2800">
                <a:latin typeface="宋体" panose="02010600030101010101" pitchFamily="2" charset="-122"/>
              </a:rPr>
              <a:t>,</a:t>
            </a:r>
            <a:r>
              <a:rPr lang="zh-CN" altLang="en-US" sz="2800">
                <a:latin typeface="宋体" panose="02010600030101010101" pitchFamily="2" charset="-122"/>
              </a:rPr>
              <a:t>表中填有</a:t>
            </a:r>
            <a:endParaRPr lang="zh-CN" altLang="en-US" sz="280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</a:rPr>
              <a:t>零件的序号、名称、数量、材料、附注及标准。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720725" y="1660525"/>
            <a:ext cx="7802563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    </a:t>
            </a:r>
            <a:r>
              <a:rPr lang="zh-CN" altLang="en-US" sz="2800">
                <a:latin typeface="宋体" panose="02010600030101010101" pitchFamily="2" charset="-122"/>
              </a:rPr>
              <a:t>明细栏在标题栏的上方，当位置不够时可移一部分紧接标题栏左边继续填写 。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19461" name="AutoShape 5"/>
          <p:cNvSpPr>
            <a:spLocks noChangeArrowheads="1"/>
          </p:cNvSpPr>
          <p:nvPr/>
        </p:nvSpPr>
        <p:spPr bwMode="auto">
          <a:xfrm>
            <a:off x="360363" y="4094163"/>
            <a:ext cx="1617662" cy="850900"/>
          </a:xfrm>
          <a:prstGeom prst="wedgeEllipseCallout">
            <a:avLst>
              <a:gd name="adj1" fmla="val 65407"/>
              <a:gd name="adj2" fmla="val -68843"/>
            </a:avLst>
          </a:prstGeom>
          <a:gradFill rotWithShape="0">
            <a:gsLst>
              <a:gs pos="0">
                <a:srgbClr val="FFFFFF"/>
              </a:gs>
              <a:gs pos="100000">
                <a:srgbClr val="CC00FF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CC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/>
              <a:t>注 意</a:t>
            </a:r>
            <a:endParaRPr lang="zh-CN" altLang="en-US"/>
          </a:p>
        </p:txBody>
      </p:sp>
      <p:grpSp>
        <p:nvGrpSpPr>
          <p:cNvPr id="19508" name="Group 52"/>
          <p:cNvGrpSpPr/>
          <p:nvPr/>
        </p:nvGrpSpPr>
        <p:grpSpPr bwMode="auto">
          <a:xfrm>
            <a:off x="5045075" y="4362450"/>
            <a:ext cx="3697288" cy="2025650"/>
            <a:chOff x="3178" y="2748"/>
            <a:chExt cx="2329" cy="1276"/>
          </a:xfrm>
        </p:grpSpPr>
        <p:sp>
          <p:nvSpPr>
            <p:cNvPr id="31780" name="Line 10"/>
            <p:cNvSpPr>
              <a:spLocks noChangeShapeType="1"/>
            </p:cNvSpPr>
            <p:nvPr/>
          </p:nvSpPr>
          <p:spPr bwMode="auto">
            <a:xfrm>
              <a:off x="3188" y="3533"/>
              <a:ext cx="2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1781" name="Group 51"/>
            <p:cNvGrpSpPr/>
            <p:nvPr/>
          </p:nvGrpSpPr>
          <p:grpSpPr bwMode="auto">
            <a:xfrm>
              <a:off x="3178" y="2748"/>
              <a:ext cx="2329" cy="1276"/>
              <a:chOff x="3178" y="2748"/>
              <a:chExt cx="2329" cy="1276"/>
            </a:xfrm>
          </p:grpSpPr>
          <p:sp>
            <p:nvSpPr>
              <p:cNvPr id="31782" name="Line 7"/>
              <p:cNvSpPr>
                <a:spLocks noChangeShapeType="1"/>
              </p:cNvSpPr>
              <p:nvPr/>
            </p:nvSpPr>
            <p:spPr bwMode="auto">
              <a:xfrm>
                <a:off x="3188" y="2757"/>
                <a:ext cx="0" cy="126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83" name="Line 8"/>
              <p:cNvSpPr>
                <a:spLocks noChangeShapeType="1"/>
              </p:cNvSpPr>
              <p:nvPr/>
            </p:nvSpPr>
            <p:spPr bwMode="auto">
              <a:xfrm>
                <a:off x="3178" y="4013"/>
                <a:ext cx="232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84" name="Line 9"/>
              <p:cNvSpPr>
                <a:spLocks noChangeShapeType="1"/>
              </p:cNvSpPr>
              <p:nvPr/>
            </p:nvSpPr>
            <p:spPr bwMode="auto">
              <a:xfrm flipH="1" flipV="1">
                <a:off x="5506" y="2766"/>
                <a:ext cx="1" cy="125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1785" name="Group 50"/>
              <p:cNvGrpSpPr/>
              <p:nvPr/>
            </p:nvGrpSpPr>
            <p:grpSpPr bwMode="auto">
              <a:xfrm>
                <a:off x="3178" y="2748"/>
                <a:ext cx="2328" cy="787"/>
                <a:chOff x="3178" y="2748"/>
                <a:chExt cx="2328" cy="787"/>
              </a:xfrm>
            </p:grpSpPr>
            <p:sp>
              <p:nvSpPr>
                <p:cNvPr id="31786" name="Line 11"/>
                <p:cNvSpPr>
                  <a:spLocks noChangeShapeType="1"/>
                </p:cNvSpPr>
                <p:nvPr/>
              </p:nvSpPr>
              <p:spPr bwMode="auto">
                <a:xfrm>
                  <a:off x="3189" y="3303"/>
                  <a:ext cx="231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87" name="Line 12"/>
                <p:cNvSpPr>
                  <a:spLocks noChangeShapeType="1"/>
                </p:cNvSpPr>
                <p:nvPr/>
              </p:nvSpPr>
              <p:spPr bwMode="auto">
                <a:xfrm>
                  <a:off x="3178" y="3074"/>
                  <a:ext cx="232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88" name="Line 13"/>
                <p:cNvSpPr>
                  <a:spLocks noChangeShapeType="1"/>
                </p:cNvSpPr>
                <p:nvPr/>
              </p:nvSpPr>
              <p:spPr bwMode="auto">
                <a:xfrm>
                  <a:off x="3178" y="2841"/>
                  <a:ext cx="232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89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3476" y="2764"/>
                  <a:ext cx="0" cy="76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90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4148" y="2774"/>
                  <a:ext cx="0" cy="75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91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4493" y="2777"/>
                  <a:ext cx="0" cy="75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92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4838" y="2748"/>
                  <a:ext cx="0" cy="78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9474" name="Group 18"/>
          <p:cNvGrpSpPr/>
          <p:nvPr/>
        </p:nvGrpSpPr>
        <p:grpSpPr bwMode="auto">
          <a:xfrm>
            <a:off x="5006975" y="5237163"/>
            <a:ext cx="3810000" cy="342900"/>
            <a:chOff x="3154" y="3299"/>
            <a:chExt cx="2400" cy="216"/>
          </a:xfrm>
        </p:grpSpPr>
        <p:sp>
          <p:nvSpPr>
            <p:cNvPr id="31775" name="Rectangle 19"/>
            <p:cNvSpPr>
              <a:spLocks noChangeArrowheads="1"/>
            </p:cNvSpPr>
            <p:nvPr/>
          </p:nvSpPr>
          <p:spPr bwMode="auto">
            <a:xfrm>
              <a:off x="4795" y="3299"/>
              <a:ext cx="75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附注及标准</a:t>
              </a:r>
              <a:endParaRPr lang="zh-CN" altLang="en-US" sz="1800"/>
            </a:p>
          </p:txBody>
        </p:sp>
        <p:sp>
          <p:nvSpPr>
            <p:cNvPr id="31776" name="Rectangle 20"/>
            <p:cNvSpPr>
              <a:spLocks noChangeArrowheads="1"/>
            </p:cNvSpPr>
            <p:nvPr/>
          </p:nvSpPr>
          <p:spPr bwMode="auto">
            <a:xfrm>
              <a:off x="3154" y="3303"/>
              <a:ext cx="37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序号</a:t>
              </a:r>
              <a:endParaRPr lang="zh-CN" altLang="en-US" sz="1600"/>
            </a:p>
          </p:txBody>
        </p:sp>
        <p:sp>
          <p:nvSpPr>
            <p:cNvPr id="31777" name="Rectangle 21"/>
            <p:cNvSpPr>
              <a:spLocks noChangeArrowheads="1"/>
            </p:cNvSpPr>
            <p:nvPr/>
          </p:nvSpPr>
          <p:spPr bwMode="auto">
            <a:xfrm>
              <a:off x="3494" y="3302"/>
              <a:ext cx="6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零件名称</a:t>
              </a:r>
              <a:endParaRPr lang="zh-CN" altLang="en-US" sz="1600"/>
            </a:p>
          </p:txBody>
        </p:sp>
        <p:sp>
          <p:nvSpPr>
            <p:cNvPr id="31778" name="Rectangle 22"/>
            <p:cNvSpPr>
              <a:spLocks noChangeArrowheads="1"/>
            </p:cNvSpPr>
            <p:nvPr/>
          </p:nvSpPr>
          <p:spPr bwMode="auto">
            <a:xfrm>
              <a:off x="4124" y="3302"/>
              <a:ext cx="37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数量</a:t>
              </a:r>
              <a:endParaRPr lang="zh-CN" altLang="en-US" sz="1600"/>
            </a:p>
          </p:txBody>
        </p:sp>
        <p:sp>
          <p:nvSpPr>
            <p:cNvPr id="31779" name="Rectangle 23"/>
            <p:cNvSpPr>
              <a:spLocks noChangeArrowheads="1"/>
            </p:cNvSpPr>
            <p:nvPr/>
          </p:nvSpPr>
          <p:spPr bwMode="auto">
            <a:xfrm>
              <a:off x="4469" y="3302"/>
              <a:ext cx="37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材料</a:t>
              </a:r>
              <a:endParaRPr lang="zh-CN" altLang="en-US" sz="1600"/>
            </a:p>
          </p:txBody>
        </p:sp>
      </p:grpSp>
      <p:grpSp>
        <p:nvGrpSpPr>
          <p:cNvPr id="19480" name="Group 24"/>
          <p:cNvGrpSpPr/>
          <p:nvPr/>
        </p:nvGrpSpPr>
        <p:grpSpPr bwMode="auto">
          <a:xfrm>
            <a:off x="5119688" y="4465638"/>
            <a:ext cx="336550" cy="806450"/>
            <a:chOff x="3225" y="2813"/>
            <a:chExt cx="212" cy="508"/>
          </a:xfrm>
        </p:grpSpPr>
        <p:sp>
          <p:nvSpPr>
            <p:cNvPr id="31773" name="Text Box 25"/>
            <p:cNvSpPr txBox="1">
              <a:spLocks noChangeArrowheads="1"/>
            </p:cNvSpPr>
            <p:nvPr/>
          </p:nvSpPr>
          <p:spPr bwMode="auto">
            <a:xfrm>
              <a:off x="3225" y="30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1</a:t>
              </a:r>
              <a:endParaRPr lang="en-US" altLang="zh-CN" sz="2400"/>
            </a:p>
          </p:txBody>
        </p:sp>
        <p:sp>
          <p:nvSpPr>
            <p:cNvPr id="31774" name="Text Box 26"/>
            <p:cNvSpPr txBox="1">
              <a:spLocks noChangeArrowheads="1"/>
            </p:cNvSpPr>
            <p:nvPr/>
          </p:nvSpPr>
          <p:spPr bwMode="auto">
            <a:xfrm>
              <a:off x="3225" y="281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2</a:t>
              </a:r>
              <a:endParaRPr lang="en-US" altLang="zh-CN" sz="2400"/>
            </a:p>
          </p:txBody>
        </p:sp>
      </p:grpSp>
      <p:sp>
        <p:nvSpPr>
          <p:cNvPr id="19483" name="Text Box 27"/>
          <p:cNvSpPr txBox="1">
            <a:spLocks noChangeArrowheads="1"/>
          </p:cNvSpPr>
          <p:nvPr/>
        </p:nvSpPr>
        <p:spPr bwMode="auto">
          <a:xfrm>
            <a:off x="6229350" y="5745163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标题栏</a:t>
            </a:r>
            <a:endParaRPr lang="zh-CN" altLang="en-US" sz="2400" b="0"/>
          </a:p>
        </p:txBody>
      </p:sp>
      <p:sp>
        <p:nvSpPr>
          <p:cNvPr id="19484" name="Text Box 28"/>
          <p:cNvSpPr txBox="1">
            <a:spLocks noChangeArrowheads="1"/>
          </p:cNvSpPr>
          <p:nvPr/>
        </p:nvSpPr>
        <p:spPr bwMode="auto">
          <a:xfrm>
            <a:off x="2279650" y="2771775"/>
            <a:ext cx="5956300" cy="1301750"/>
          </a:xfrm>
          <a:prstGeom prst="rect">
            <a:avLst/>
          </a:prstGeom>
          <a:solidFill>
            <a:srgbClr val="FFFFCC"/>
          </a:solidFill>
          <a:ln w="57150">
            <a:pattFill prst="smCheck">
              <a:fgClr>
                <a:srgbClr val="FFFF00"/>
              </a:fgClr>
              <a:bgClr>
                <a:srgbClr val="FF3300"/>
              </a:bgClr>
            </a:patt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明细栏中的零件序号应与装配图中的</a:t>
            </a:r>
            <a:endParaRPr lang="zh-CN" altLang="en-US" sz="2800">
              <a:latin typeface="宋体" panose="02010600030101010101" pitchFamily="2" charset="-122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零件编号一致，并且由下往上填写，</a:t>
            </a:r>
            <a:endParaRPr lang="zh-CN" altLang="en-US" sz="2800">
              <a:latin typeface="宋体" panose="02010600030101010101" pitchFamily="2" charset="-122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因此，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应先编零件序号再填明细栏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  <a:endParaRPr lang="zh-CN" altLang="en-US" sz="2400">
              <a:latin typeface="宋体" panose="02010600030101010101" pitchFamily="2" charset="-122"/>
            </a:endParaRPr>
          </a:p>
        </p:txBody>
      </p:sp>
      <p:grpSp>
        <p:nvGrpSpPr>
          <p:cNvPr id="19512" name="Group 56"/>
          <p:cNvGrpSpPr/>
          <p:nvPr/>
        </p:nvGrpSpPr>
        <p:grpSpPr bwMode="auto">
          <a:xfrm>
            <a:off x="1252538" y="5202238"/>
            <a:ext cx="3887787" cy="1182687"/>
            <a:chOff x="789" y="3284"/>
            <a:chExt cx="2449" cy="745"/>
          </a:xfrm>
        </p:grpSpPr>
        <p:sp>
          <p:nvSpPr>
            <p:cNvPr id="31756" name="Text Box 31"/>
            <p:cNvSpPr txBox="1">
              <a:spLocks noChangeArrowheads="1"/>
            </p:cNvSpPr>
            <p:nvPr/>
          </p:nvSpPr>
          <p:spPr bwMode="auto">
            <a:xfrm>
              <a:off x="834" y="351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19</a:t>
              </a:r>
              <a:endParaRPr lang="en-US" altLang="zh-CN" sz="2400"/>
            </a:p>
          </p:txBody>
        </p:sp>
        <p:sp>
          <p:nvSpPr>
            <p:cNvPr id="31757" name="Text Box 32"/>
            <p:cNvSpPr txBox="1">
              <a:spLocks noChangeArrowheads="1"/>
            </p:cNvSpPr>
            <p:nvPr/>
          </p:nvSpPr>
          <p:spPr bwMode="auto">
            <a:xfrm>
              <a:off x="789" y="3284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 20</a:t>
              </a:r>
              <a:endParaRPr lang="en-US" altLang="zh-CN" sz="2400"/>
            </a:p>
          </p:txBody>
        </p:sp>
        <p:sp>
          <p:nvSpPr>
            <p:cNvPr id="31758" name="Line 33"/>
            <p:cNvSpPr>
              <a:spLocks noChangeShapeType="1"/>
            </p:cNvSpPr>
            <p:nvPr/>
          </p:nvSpPr>
          <p:spPr bwMode="auto">
            <a:xfrm>
              <a:off x="835" y="4016"/>
              <a:ext cx="236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9" name="Line 40"/>
            <p:cNvSpPr>
              <a:spLocks noChangeShapeType="1"/>
            </p:cNvSpPr>
            <p:nvPr/>
          </p:nvSpPr>
          <p:spPr bwMode="auto">
            <a:xfrm flipV="1">
              <a:off x="838" y="3302"/>
              <a:ext cx="0" cy="7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0" name="Line 34"/>
            <p:cNvSpPr>
              <a:spLocks noChangeShapeType="1"/>
            </p:cNvSpPr>
            <p:nvPr/>
          </p:nvSpPr>
          <p:spPr bwMode="auto">
            <a:xfrm>
              <a:off x="847" y="3774"/>
              <a:ext cx="234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1" name="Line 35"/>
            <p:cNvSpPr>
              <a:spLocks noChangeShapeType="1"/>
            </p:cNvSpPr>
            <p:nvPr/>
          </p:nvSpPr>
          <p:spPr bwMode="auto">
            <a:xfrm>
              <a:off x="848" y="3545"/>
              <a:ext cx="23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2" name="Line 36"/>
            <p:cNvSpPr>
              <a:spLocks noChangeShapeType="1"/>
            </p:cNvSpPr>
            <p:nvPr/>
          </p:nvSpPr>
          <p:spPr bwMode="auto">
            <a:xfrm>
              <a:off x="848" y="3312"/>
              <a:ext cx="23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3" name="Line 37"/>
            <p:cNvSpPr>
              <a:spLocks noChangeShapeType="1"/>
            </p:cNvSpPr>
            <p:nvPr/>
          </p:nvSpPr>
          <p:spPr bwMode="auto">
            <a:xfrm flipV="1">
              <a:off x="1158" y="3308"/>
              <a:ext cx="0" cy="7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" name="Line 38"/>
            <p:cNvSpPr>
              <a:spLocks noChangeShapeType="1"/>
            </p:cNvSpPr>
            <p:nvPr/>
          </p:nvSpPr>
          <p:spPr bwMode="auto">
            <a:xfrm flipV="1">
              <a:off x="1817" y="3318"/>
              <a:ext cx="0" cy="6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" name="Line 39"/>
            <p:cNvSpPr>
              <a:spLocks noChangeShapeType="1"/>
            </p:cNvSpPr>
            <p:nvPr/>
          </p:nvSpPr>
          <p:spPr bwMode="auto">
            <a:xfrm flipV="1">
              <a:off x="2509" y="3310"/>
              <a:ext cx="0" cy="6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6" name="Line 41"/>
            <p:cNvSpPr>
              <a:spLocks noChangeShapeType="1"/>
            </p:cNvSpPr>
            <p:nvPr/>
          </p:nvSpPr>
          <p:spPr bwMode="auto">
            <a:xfrm>
              <a:off x="2176" y="3310"/>
              <a:ext cx="0" cy="7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1767" name="Group 42"/>
            <p:cNvGrpSpPr/>
            <p:nvPr/>
          </p:nvGrpSpPr>
          <p:grpSpPr bwMode="auto">
            <a:xfrm>
              <a:off x="837" y="3780"/>
              <a:ext cx="2401" cy="216"/>
              <a:chOff x="3154" y="3299"/>
              <a:chExt cx="2401" cy="216"/>
            </a:xfrm>
          </p:grpSpPr>
          <p:sp>
            <p:nvSpPr>
              <p:cNvPr id="31768" name="Rectangle 43"/>
              <p:cNvSpPr>
                <a:spLocks noChangeArrowheads="1"/>
              </p:cNvSpPr>
              <p:nvPr/>
            </p:nvSpPr>
            <p:spPr bwMode="auto">
              <a:xfrm>
                <a:off x="4794" y="3299"/>
                <a:ext cx="76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99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1600"/>
                  <a:t>附注及标准</a:t>
                </a:r>
                <a:endParaRPr lang="zh-CN" altLang="en-US" sz="1800"/>
              </a:p>
            </p:txBody>
          </p:sp>
          <p:sp>
            <p:nvSpPr>
              <p:cNvPr id="31769" name="Rectangle 44"/>
              <p:cNvSpPr>
                <a:spLocks noChangeArrowheads="1"/>
              </p:cNvSpPr>
              <p:nvPr/>
            </p:nvSpPr>
            <p:spPr bwMode="auto">
              <a:xfrm>
                <a:off x="3154" y="3303"/>
                <a:ext cx="37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99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1600"/>
                  <a:t>序号</a:t>
                </a:r>
                <a:endParaRPr lang="zh-CN" altLang="en-US" sz="1600"/>
              </a:p>
            </p:txBody>
          </p:sp>
          <p:sp>
            <p:nvSpPr>
              <p:cNvPr id="31770" name="Rectangle 45"/>
              <p:cNvSpPr>
                <a:spLocks noChangeArrowheads="1"/>
              </p:cNvSpPr>
              <p:nvPr/>
            </p:nvSpPr>
            <p:spPr bwMode="auto">
              <a:xfrm>
                <a:off x="3494" y="3302"/>
                <a:ext cx="6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99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1600"/>
                  <a:t>零件名称</a:t>
                </a:r>
                <a:endParaRPr lang="zh-CN" altLang="en-US" sz="1600"/>
              </a:p>
            </p:txBody>
          </p:sp>
          <p:sp>
            <p:nvSpPr>
              <p:cNvPr id="31771" name="Rectangle 46"/>
              <p:cNvSpPr>
                <a:spLocks noChangeArrowheads="1"/>
              </p:cNvSpPr>
              <p:nvPr/>
            </p:nvSpPr>
            <p:spPr bwMode="auto">
              <a:xfrm>
                <a:off x="4124" y="3302"/>
                <a:ext cx="37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99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1600"/>
                  <a:t>数量</a:t>
                </a:r>
                <a:endParaRPr lang="zh-CN" altLang="en-US" sz="1600"/>
              </a:p>
            </p:txBody>
          </p:sp>
          <p:sp>
            <p:nvSpPr>
              <p:cNvPr id="31772" name="Rectangle 47"/>
              <p:cNvSpPr>
                <a:spLocks noChangeArrowheads="1"/>
              </p:cNvSpPr>
              <p:nvPr/>
            </p:nvSpPr>
            <p:spPr bwMode="auto">
              <a:xfrm>
                <a:off x="4469" y="3302"/>
                <a:ext cx="37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99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99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1600"/>
                  <a:t>材料</a:t>
                </a:r>
                <a:endParaRPr lang="zh-CN" altLang="en-US" sz="16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1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4" dur="500"/>
                                        <p:tgtEl>
                                          <p:spTgt spid="1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utoUpdateAnimBg="0"/>
      <p:bldP spid="19460" grpId="0" autoUpdateAnimBg="0"/>
      <p:bldP spid="19461" grpId="0" animBg="1" autoUpdateAnimBg="0"/>
      <p:bldP spid="19483" grpId="0" autoUpdateAnimBg="0"/>
      <p:bldP spid="19484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03263" y="142875"/>
            <a:ext cx="7772400" cy="746125"/>
          </a:xfrm>
          <a:gradFill rotWithShape="0">
            <a:gsLst>
              <a:gs pos="0">
                <a:srgbClr val="FF3300"/>
              </a:gs>
              <a:gs pos="50000">
                <a:srgbClr val="FFFFFF"/>
              </a:gs>
              <a:gs pos="100000">
                <a:srgbClr val="FF3300"/>
              </a:gs>
            </a:gsLst>
            <a:lin ang="5400000" scaled="1"/>
          </a:gradFill>
          <a:ln w="38100">
            <a:pattFill prst="pct30">
              <a:fgClr>
                <a:srgbClr val="FFFF00"/>
              </a:fgClr>
              <a:bgClr>
                <a:srgbClr val="FF3300"/>
              </a:bgClr>
            </a:patt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eaLnBrk="1" hangingPunct="1"/>
            <a:r>
              <a:rPr lang="en-US" altLang="zh-CN" sz="4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12.6 </a:t>
            </a:r>
            <a:r>
              <a:rPr lang="zh-CN" altLang="en-US" sz="4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画装配图的方法与步骤</a:t>
            </a:r>
            <a:endParaRPr lang="zh-CN" altLang="en-US" sz="4400" b="1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5174" name="Text Box 6"/>
          <p:cNvSpPr txBox="1">
            <a:spLocks noChangeArrowheads="1"/>
          </p:cNvSpPr>
          <p:nvPr/>
        </p:nvSpPr>
        <p:spPr bwMode="auto">
          <a:xfrm>
            <a:off x="590550" y="1222375"/>
            <a:ext cx="82296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>
                <a:latin typeface="宋体" panose="02010600030101010101" pitchFamily="2" charset="-122"/>
              </a:rPr>
              <a:t>    </a:t>
            </a:r>
            <a:r>
              <a:rPr lang="zh-CN" altLang="en-US" sz="3600">
                <a:latin typeface="宋体" panose="02010600030101010101" pitchFamily="2" charset="-122"/>
              </a:rPr>
              <a:t>在分析部件，确定视图表达方案的基础上，按下列步骤画图。</a:t>
            </a:r>
            <a:endParaRPr lang="zh-CN" altLang="en-US" sz="3600">
              <a:latin typeface="宋体" panose="02010600030101010101" pitchFamily="2" charset="-122"/>
            </a:endParaRPr>
          </a:p>
        </p:txBody>
      </p:sp>
      <p:sp>
        <p:nvSpPr>
          <p:cNvPr id="135175" name="Text Box 7"/>
          <p:cNvSpPr txBox="1">
            <a:spLocks noChangeArrowheads="1"/>
          </p:cNvSpPr>
          <p:nvPr/>
        </p:nvSpPr>
        <p:spPr bwMode="auto">
          <a:xfrm>
            <a:off x="590550" y="2508250"/>
            <a:ext cx="47736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>
                <a:latin typeface="宋体" panose="02010600030101010101" pitchFamily="2" charset="-122"/>
              </a:rPr>
              <a:t>    </a:t>
            </a:r>
            <a:r>
              <a:rPr lang="zh-CN" altLang="en-US" sz="3600">
                <a:latin typeface="宋体" panose="02010600030101010101" pitchFamily="2" charset="-122"/>
              </a:rPr>
              <a:t>以滑动轴承为例。</a:t>
            </a:r>
            <a:endParaRPr lang="zh-CN" altLang="en-US" sz="3600">
              <a:latin typeface="宋体" panose="02010600030101010101" pitchFamily="2" charset="-122"/>
            </a:endParaRPr>
          </a:p>
        </p:txBody>
      </p:sp>
      <p:sp>
        <p:nvSpPr>
          <p:cNvPr id="135176" name="Text Box 8"/>
          <p:cNvSpPr txBox="1">
            <a:spLocks noChangeArrowheads="1"/>
          </p:cNvSpPr>
          <p:nvPr/>
        </p:nvSpPr>
        <p:spPr bwMode="auto">
          <a:xfrm>
            <a:off x="560388" y="3924300"/>
            <a:ext cx="8088312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根据部件的大小，视图数量</a:t>
            </a: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, 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确定画图的比例、图幅大小，画出图框，留出标题栏和明细栏的位置。 </a:t>
            </a:r>
            <a:endParaRPr lang="zh-CN" altLang="en-US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35177" name="Text Box 9"/>
          <p:cNvSpPr txBox="1">
            <a:spLocks noChangeArrowheads="1"/>
          </p:cNvSpPr>
          <p:nvPr/>
        </p:nvSpPr>
        <p:spPr bwMode="auto">
          <a:xfrm>
            <a:off x="504825" y="3276600"/>
            <a:ext cx="29765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⒈ 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确定图幅</a:t>
            </a:r>
            <a:endParaRPr lang="zh-CN" altLang="en-US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4" grpId="0" autoUpdateAnimBg="0"/>
      <p:bldP spid="135175" grpId="0" autoUpdateAnimBg="0"/>
      <p:bldP spid="135176" grpId="0" autoUpdateAnimBg="0"/>
      <p:bldP spid="13517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Line 2"/>
          <p:cNvSpPr>
            <a:spLocks noChangeShapeType="1"/>
          </p:cNvSpPr>
          <p:nvPr/>
        </p:nvSpPr>
        <p:spPr bwMode="auto">
          <a:xfrm>
            <a:off x="3308350" y="1793875"/>
            <a:ext cx="889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47" name="Line 3"/>
          <p:cNvSpPr>
            <a:spLocks noChangeShapeType="1"/>
          </p:cNvSpPr>
          <p:nvPr/>
        </p:nvSpPr>
        <p:spPr bwMode="auto">
          <a:xfrm>
            <a:off x="2065338" y="3813175"/>
            <a:ext cx="342423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48" name="Line 4"/>
          <p:cNvSpPr>
            <a:spLocks noChangeShapeType="1"/>
          </p:cNvSpPr>
          <p:nvPr/>
        </p:nvSpPr>
        <p:spPr bwMode="auto">
          <a:xfrm>
            <a:off x="6096000" y="1793875"/>
            <a:ext cx="129222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49" name="Line 5"/>
          <p:cNvSpPr>
            <a:spLocks noChangeShapeType="1"/>
          </p:cNvSpPr>
          <p:nvPr/>
        </p:nvSpPr>
        <p:spPr bwMode="auto">
          <a:xfrm flipV="1">
            <a:off x="3781425" y="1082675"/>
            <a:ext cx="0" cy="1646238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0" name="Line 6"/>
          <p:cNvSpPr>
            <a:spLocks noChangeShapeType="1"/>
          </p:cNvSpPr>
          <p:nvPr/>
        </p:nvSpPr>
        <p:spPr bwMode="auto">
          <a:xfrm flipV="1">
            <a:off x="6775450" y="1184275"/>
            <a:ext cx="0" cy="16256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1" name="Line 7"/>
          <p:cNvSpPr>
            <a:spLocks noChangeShapeType="1"/>
          </p:cNvSpPr>
          <p:nvPr/>
        </p:nvSpPr>
        <p:spPr bwMode="auto">
          <a:xfrm>
            <a:off x="3781425" y="3200400"/>
            <a:ext cx="0" cy="1243013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2" name="Text Box 8"/>
          <p:cNvSpPr txBox="1">
            <a:spLocks noChangeArrowheads="1"/>
          </p:cNvSpPr>
          <p:nvPr/>
        </p:nvSpPr>
        <p:spPr bwMode="auto">
          <a:xfrm>
            <a:off x="285750" y="5216525"/>
            <a:ext cx="85725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画各视图的主要基线。并在各视图之间留有适当间隔，以便标注尺寸和进行零件编号。</a:t>
            </a:r>
            <a:endParaRPr lang="zh-CN" altLang="en-US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460375" y="541338"/>
            <a:ext cx="695325" cy="252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2. 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布置视图</a:t>
            </a:r>
            <a:endParaRPr lang="zh-CN" altLang="en-US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1504950" y="360363"/>
            <a:ext cx="7019925" cy="48196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3300"/>
              </a:solidFill>
            </a:endParaRPr>
          </a:p>
        </p:txBody>
      </p:sp>
      <p:grpSp>
        <p:nvGrpSpPr>
          <p:cNvPr id="57355" name="Group 11"/>
          <p:cNvGrpSpPr/>
          <p:nvPr/>
        </p:nvGrpSpPr>
        <p:grpSpPr bwMode="auto">
          <a:xfrm>
            <a:off x="1601788" y="457200"/>
            <a:ext cx="6826250" cy="4625975"/>
            <a:chOff x="360" y="372"/>
            <a:chExt cx="5064" cy="3432"/>
          </a:xfrm>
        </p:grpSpPr>
        <p:sp>
          <p:nvSpPr>
            <p:cNvPr id="34830" name="Rectangle 12"/>
            <p:cNvSpPr>
              <a:spLocks noChangeArrowheads="1"/>
            </p:cNvSpPr>
            <p:nvPr/>
          </p:nvSpPr>
          <p:spPr bwMode="auto">
            <a:xfrm>
              <a:off x="360" y="372"/>
              <a:ext cx="5064" cy="343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34831" name="Rectangle 13"/>
            <p:cNvSpPr>
              <a:spLocks noChangeArrowheads="1"/>
            </p:cNvSpPr>
            <p:nvPr/>
          </p:nvSpPr>
          <p:spPr bwMode="auto">
            <a:xfrm>
              <a:off x="3624" y="2604"/>
              <a:ext cx="1800" cy="12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34832" name="Line 14"/>
            <p:cNvSpPr>
              <a:spLocks noChangeShapeType="1"/>
            </p:cNvSpPr>
            <p:nvPr/>
          </p:nvSpPr>
          <p:spPr bwMode="auto">
            <a:xfrm>
              <a:off x="3624" y="3348"/>
              <a:ext cx="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7359" name="Line 15"/>
          <p:cNvSpPr>
            <a:spLocks noChangeShapeType="1"/>
          </p:cNvSpPr>
          <p:nvPr/>
        </p:nvSpPr>
        <p:spPr bwMode="auto">
          <a:xfrm>
            <a:off x="6400800" y="2571750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0" name="Line 16"/>
          <p:cNvSpPr>
            <a:spLocks noChangeShapeType="1"/>
          </p:cNvSpPr>
          <p:nvPr/>
        </p:nvSpPr>
        <p:spPr bwMode="auto">
          <a:xfrm>
            <a:off x="2114550" y="2571750"/>
            <a:ext cx="3429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2" grpId="0" autoUpdateAnimBg="0"/>
      <p:bldP spid="5735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2"/>
          <p:cNvGrpSpPr/>
          <p:nvPr/>
        </p:nvGrpSpPr>
        <p:grpSpPr bwMode="auto">
          <a:xfrm>
            <a:off x="2114550" y="2457450"/>
            <a:ext cx="5124450" cy="0"/>
            <a:chOff x="1332" y="1548"/>
            <a:chExt cx="3228" cy="0"/>
          </a:xfrm>
        </p:grpSpPr>
        <p:sp>
          <p:nvSpPr>
            <p:cNvPr id="35867" name="Line 3"/>
            <p:cNvSpPr>
              <a:spLocks noChangeShapeType="1"/>
            </p:cNvSpPr>
            <p:nvPr/>
          </p:nvSpPr>
          <p:spPr bwMode="auto">
            <a:xfrm>
              <a:off x="4068" y="1548"/>
              <a:ext cx="4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8" name="Line 4"/>
            <p:cNvSpPr>
              <a:spLocks noChangeShapeType="1"/>
            </p:cNvSpPr>
            <p:nvPr/>
          </p:nvSpPr>
          <p:spPr bwMode="auto">
            <a:xfrm>
              <a:off x="1332" y="1548"/>
              <a:ext cx="21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1861" name="Text Box 5"/>
          <p:cNvSpPr txBox="1">
            <a:spLocks noChangeArrowheads="1"/>
          </p:cNvSpPr>
          <p:nvPr/>
        </p:nvSpPr>
        <p:spPr bwMode="auto">
          <a:xfrm>
            <a:off x="476250" y="5230813"/>
            <a:ext cx="8412163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①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轴承座</a:t>
            </a:r>
            <a:endParaRPr lang="zh-CN" altLang="en-US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（画主要轮廓，被其他零件挡住的线可不画）</a:t>
            </a:r>
            <a:endParaRPr lang="zh-CN" altLang="en-US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21862" name="Text Box 6"/>
          <p:cNvSpPr txBox="1">
            <a:spLocks noChangeArrowheads="1"/>
          </p:cNvSpPr>
          <p:nvPr/>
        </p:nvSpPr>
        <p:spPr bwMode="auto">
          <a:xfrm>
            <a:off x="455613" y="307975"/>
            <a:ext cx="703262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3. 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画主要装配线</a:t>
            </a:r>
            <a:endParaRPr lang="zh-CN" altLang="en-US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grpSp>
        <p:nvGrpSpPr>
          <p:cNvPr id="35845" name="Group 7"/>
          <p:cNvGrpSpPr/>
          <p:nvPr/>
        </p:nvGrpSpPr>
        <p:grpSpPr bwMode="auto">
          <a:xfrm>
            <a:off x="1576388" y="219075"/>
            <a:ext cx="7019925" cy="4819650"/>
            <a:chOff x="993" y="138"/>
            <a:chExt cx="4422" cy="3036"/>
          </a:xfrm>
        </p:grpSpPr>
        <p:sp>
          <p:nvSpPr>
            <p:cNvPr id="35854" name="Rectangle 8"/>
            <p:cNvSpPr>
              <a:spLocks noChangeArrowheads="1"/>
            </p:cNvSpPr>
            <p:nvPr/>
          </p:nvSpPr>
          <p:spPr bwMode="auto">
            <a:xfrm>
              <a:off x="993" y="138"/>
              <a:ext cx="4422" cy="30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grpSp>
          <p:nvGrpSpPr>
            <p:cNvPr id="35855" name="Group 9"/>
            <p:cNvGrpSpPr/>
            <p:nvPr/>
          </p:nvGrpSpPr>
          <p:grpSpPr bwMode="auto">
            <a:xfrm>
              <a:off x="1054" y="199"/>
              <a:ext cx="4300" cy="2914"/>
              <a:chOff x="1054" y="199"/>
              <a:chExt cx="4300" cy="2914"/>
            </a:xfrm>
          </p:grpSpPr>
          <p:grpSp>
            <p:nvGrpSpPr>
              <p:cNvPr id="35856" name="Group 10"/>
              <p:cNvGrpSpPr/>
              <p:nvPr/>
            </p:nvGrpSpPr>
            <p:grpSpPr bwMode="auto">
              <a:xfrm>
                <a:off x="1054" y="199"/>
                <a:ext cx="4300" cy="2914"/>
                <a:chOff x="1054" y="199"/>
                <a:chExt cx="4300" cy="2914"/>
              </a:xfrm>
            </p:grpSpPr>
            <p:sp>
              <p:nvSpPr>
                <p:cNvPr id="35864" name="Rectangle 11"/>
                <p:cNvSpPr>
                  <a:spLocks noChangeArrowheads="1"/>
                </p:cNvSpPr>
                <p:nvPr/>
              </p:nvSpPr>
              <p:spPr bwMode="auto">
                <a:xfrm>
                  <a:off x="1054" y="199"/>
                  <a:ext cx="4300" cy="291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solidFill>
                      <a:srgbClr val="FF3300"/>
                    </a:solidFill>
                  </a:endParaRPr>
                </a:p>
              </p:txBody>
            </p:sp>
            <p:sp>
              <p:nvSpPr>
                <p:cNvPr id="35865" name="Rectangle 12"/>
                <p:cNvSpPr>
                  <a:spLocks noChangeArrowheads="1"/>
                </p:cNvSpPr>
                <p:nvPr/>
              </p:nvSpPr>
              <p:spPr bwMode="auto">
                <a:xfrm>
                  <a:off x="3826" y="2094"/>
                  <a:ext cx="1528" cy="1019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solidFill>
                      <a:srgbClr val="FF3300"/>
                    </a:solidFill>
                  </a:endParaRPr>
                </a:p>
              </p:txBody>
            </p:sp>
            <p:sp>
              <p:nvSpPr>
                <p:cNvPr id="35866" name="Line 13"/>
                <p:cNvSpPr>
                  <a:spLocks noChangeShapeType="1"/>
                </p:cNvSpPr>
                <p:nvPr/>
              </p:nvSpPr>
              <p:spPr bwMode="auto">
                <a:xfrm>
                  <a:off x="3826" y="2726"/>
                  <a:ext cx="152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857" name="Group 14"/>
              <p:cNvGrpSpPr/>
              <p:nvPr/>
            </p:nvGrpSpPr>
            <p:grpSpPr bwMode="auto">
              <a:xfrm>
                <a:off x="1331" y="536"/>
                <a:ext cx="3378" cy="2112"/>
                <a:chOff x="1331" y="536"/>
                <a:chExt cx="3378" cy="2112"/>
              </a:xfrm>
            </p:grpSpPr>
            <p:sp>
              <p:nvSpPr>
                <p:cNvPr id="35858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419" y="552"/>
                  <a:ext cx="0" cy="105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Dot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859" name="Line 16"/>
                <p:cNvSpPr>
                  <a:spLocks noChangeShapeType="1"/>
                </p:cNvSpPr>
                <p:nvPr/>
              </p:nvSpPr>
              <p:spPr bwMode="auto">
                <a:xfrm>
                  <a:off x="2274" y="1045"/>
                  <a:ext cx="30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Dot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860" name="Line 17"/>
                <p:cNvSpPr>
                  <a:spLocks noChangeShapeType="1"/>
                </p:cNvSpPr>
                <p:nvPr/>
              </p:nvSpPr>
              <p:spPr bwMode="auto">
                <a:xfrm>
                  <a:off x="3862" y="1047"/>
                  <a:ext cx="84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Dot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861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4324" y="536"/>
                  <a:ext cx="0" cy="109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Dot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862" name="Line 19"/>
                <p:cNvSpPr>
                  <a:spLocks noChangeShapeType="1"/>
                </p:cNvSpPr>
                <p:nvPr/>
              </p:nvSpPr>
              <p:spPr bwMode="auto">
                <a:xfrm>
                  <a:off x="1331" y="2314"/>
                  <a:ext cx="220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Dot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863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2419" y="1965"/>
                  <a:ext cx="0" cy="68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Dot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121877" name="Picture 21" descr="10-14(1)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74" t="26506" r="34483" b="28915"/>
          <a:stretch>
            <a:fillRect/>
          </a:stretch>
        </p:blipFill>
        <p:spPr bwMode="auto">
          <a:xfrm>
            <a:off x="5540375" y="4175125"/>
            <a:ext cx="322580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1878" name="Group 22"/>
          <p:cNvGrpSpPr/>
          <p:nvPr/>
        </p:nvGrpSpPr>
        <p:grpSpPr bwMode="auto">
          <a:xfrm>
            <a:off x="2054225" y="552450"/>
            <a:ext cx="5368925" cy="3711575"/>
            <a:chOff x="1294" y="348"/>
            <a:chExt cx="3382" cy="2338"/>
          </a:xfrm>
        </p:grpSpPr>
        <p:sp>
          <p:nvSpPr>
            <p:cNvPr id="35848" name="Rectangle 23"/>
            <p:cNvSpPr>
              <a:spLocks noChangeArrowheads="1"/>
            </p:cNvSpPr>
            <p:nvPr/>
          </p:nvSpPr>
          <p:spPr bwMode="auto">
            <a:xfrm>
              <a:off x="2376" y="492"/>
              <a:ext cx="96" cy="4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grpSp>
          <p:nvGrpSpPr>
            <p:cNvPr id="35849" name="Group 24"/>
            <p:cNvGrpSpPr/>
            <p:nvPr/>
          </p:nvGrpSpPr>
          <p:grpSpPr bwMode="auto">
            <a:xfrm>
              <a:off x="1294" y="348"/>
              <a:ext cx="3382" cy="2338"/>
              <a:chOff x="1294" y="348"/>
              <a:chExt cx="3382" cy="2338"/>
            </a:xfrm>
          </p:grpSpPr>
          <p:sp>
            <p:nvSpPr>
              <p:cNvPr id="35850" name="Rectangle 25"/>
              <p:cNvSpPr>
                <a:spLocks noChangeArrowheads="1"/>
              </p:cNvSpPr>
              <p:nvPr/>
            </p:nvSpPr>
            <p:spPr bwMode="auto">
              <a:xfrm>
                <a:off x="4224" y="348"/>
                <a:ext cx="156" cy="1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grpSp>
            <p:nvGrpSpPr>
              <p:cNvPr id="35851" name="Group 26"/>
              <p:cNvGrpSpPr/>
              <p:nvPr/>
            </p:nvGrpSpPr>
            <p:grpSpPr bwMode="auto">
              <a:xfrm>
                <a:off x="1294" y="922"/>
                <a:ext cx="3382" cy="1764"/>
                <a:chOff x="1294" y="922"/>
                <a:chExt cx="3382" cy="1764"/>
              </a:xfrm>
            </p:grpSpPr>
            <p:pic>
              <p:nvPicPr>
                <p:cNvPr id="35852" name="Picture 27" descr="10-13a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94" y="922"/>
                  <a:ext cx="3382" cy="6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5853" name="Picture 28" descr="10-13aa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99" y="1965"/>
                  <a:ext cx="2254" cy="7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1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1" grpId="0" autoUpdateAnimBg="0"/>
      <p:bldP spid="12186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026"/>
          <p:cNvSpPr txBox="1">
            <a:spLocks noChangeArrowheads="1"/>
          </p:cNvSpPr>
          <p:nvPr/>
        </p:nvSpPr>
        <p:spPr bwMode="auto">
          <a:xfrm>
            <a:off x="552450" y="5383213"/>
            <a:ext cx="22336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①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轴承座</a:t>
            </a:r>
            <a:endParaRPr lang="zh-CN" altLang="en-US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36867" name="Text Box 1027"/>
          <p:cNvSpPr txBox="1">
            <a:spLocks noChangeArrowheads="1"/>
          </p:cNvSpPr>
          <p:nvPr/>
        </p:nvSpPr>
        <p:spPr bwMode="auto">
          <a:xfrm>
            <a:off x="455613" y="307975"/>
            <a:ext cx="703262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3. 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画主要装配线</a:t>
            </a:r>
            <a:endParaRPr lang="zh-CN" altLang="en-US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122884" name="Text Box 1028"/>
          <p:cNvSpPr txBox="1">
            <a:spLocks noChangeArrowheads="1"/>
          </p:cNvSpPr>
          <p:nvPr/>
        </p:nvSpPr>
        <p:spPr bwMode="auto">
          <a:xfrm>
            <a:off x="2663825" y="5383213"/>
            <a:ext cx="19970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②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下轴衬</a:t>
            </a:r>
            <a:endParaRPr lang="zh-CN" altLang="en-US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36869" name="Group 1029"/>
          <p:cNvGrpSpPr/>
          <p:nvPr/>
        </p:nvGrpSpPr>
        <p:grpSpPr bwMode="auto">
          <a:xfrm>
            <a:off x="2114550" y="2457450"/>
            <a:ext cx="5124450" cy="0"/>
            <a:chOff x="1332" y="1548"/>
            <a:chExt cx="3228" cy="0"/>
          </a:xfrm>
        </p:grpSpPr>
        <p:sp>
          <p:nvSpPr>
            <p:cNvPr id="36923" name="Line 1030"/>
            <p:cNvSpPr>
              <a:spLocks noChangeShapeType="1"/>
            </p:cNvSpPr>
            <p:nvPr/>
          </p:nvSpPr>
          <p:spPr bwMode="auto">
            <a:xfrm>
              <a:off x="4068" y="1548"/>
              <a:ext cx="4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24" name="Line 1031"/>
            <p:cNvSpPr>
              <a:spLocks noChangeShapeType="1"/>
            </p:cNvSpPr>
            <p:nvPr/>
          </p:nvSpPr>
          <p:spPr bwMode="auto">
            <a:xfrm>
              <a:off x="1332" y="1548"/>
              <a:ext cx="21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70" name="Group 1032"/>
          <p:cNvGrpSpPr/>
          <p:nvPr/>
        </p:nvGrpSpPr>
        <p:grpSpPr bwMode="auto">
          <a:xfrm>
            <a:off x="1576388" y="219075"/>
            <a:ext cx="7019925" cy="4819650"/>
            <a:chOff x="993" y="138"/>
            <a:chExt cx="4422" cy="3036"/>
          </a:xfrm>
        </p:grpSpPr>
        <p:grpSp>
          <p:nvGrpSpPr>
            <p:cNvPr id="36904" name="Group 1033"/>
            <p:cNvGrpSpPr/>
            <p:nvPr/>
          </p:nvGrpSpPr>
          <p:grpSpPr bwMode="auto">
            <a:xfrm>
              <a:off x="993" y="138"/>
              <a:ext cx="4422" cy="3036"/>
              <a:chOff x="993" y="138"/>
              <a:chExt cx="4422" cy="3036"/>
            </a:xfrm>
          </p:grpSpPr>
          <p:sp>
            <p:nvSpPr>
              <p:cNvPr id="36910" name="Rectangle 1034"/>
              <p:cNvSpPr>
                <a:spLocks noChangeArrowheads="1"/>
              </p:cNvSpPr>
              <p:nvPr/>
            </p:nvSpPr>
            <p:spPr bwMode="auto">
              <a:xfrm>
                <a:off x="993" y="138"/>
                <a:ext cx="4422" cy="303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grpSp>
            <p:nvGrpSpPr>
              <p:cNvPr id="36911" name="Group 1035"/>
              <p:cNvGrpSpPr/>
              <p:nvPr/>
            </p:nvGrpSpPr>
            <p:grpSpPr bwMode="auto">
              <a:xfrm>
                <a:off x="1054" y="199"/>
                <a:ext cx="4300" cy="2914"/>
                <a:chOff x="1054" y="199"/>
                <a:chExt cx="4300" cy="2914"/>
              </a:xfrm>
            </p:grpSpPr>
            <p:grpSp>
              <p:nvGrpSpPr>
                <p:cNvPr id="36912" name="Group 1036"/>
                <p:cNvGrpSpPr/>
                <p:nvPr/>
              </p:nvGrpSpPr>
              <p:grpSpPr bwMode="auto">
                <a:xfrm>
                  <a:off x="1054" y="199"/>
                  <a:ext cx="4300" cy="2914"/>
                  <a:chOff x="1054" y="199"/>
                  <a:chExt cx="4300" cy="2914"/>
                </a:xfrm>
              </p:grpSpPr>
              <p:sp>
                <p:nvSpPr>
                  <p:cNvPr id="36920" name="Rectangle 1037"/>
                  <p:cNvSpPr>
                    <a:spLocks noChangeArrowheads="1"/>
                  </p:cNvSpPr>
                  <p:nvPr/>
                </p:nvSpPr>
                <p:spPr bwMode="auto">
                  <a:xfrm>
                    <a:off x="1054" y="199"/>
                    <a:ext cx="4300" cy="291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400">
                      <a:solidFill>
                        <a:srgbClr val="FF3300"/>
                      </a:solidFill>
                    </a:endParaRPr>
                  </a:p>
                </p:txBody>
              </p:sp>
              <p:sp>
                <p:nvSpPr>
                  <p:cNvPr id="36921" name="Rectangle 1038"/>
                  <p:cNvSpPr>
                    <a:spLocks noChangeArrowheads="1"/>
                  </p:cNvSpPr>
                  <p:nvPr/>
                </p:nvSpPr>
                <p:spPr bwMode="auto">
                  <a:xfrm>
                    <a:off x="3826" y="2094"/>
                    <a:ext cx="1528" cy="1019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400">
                      <a:solidFill>
                        <a:srgbClr val="FF3300"/>
                      </a:solidFill>
                    </a:endParaRPr>
                  </a:p>
                </p:txBody>
              </p:sp>
              <p:sp>
                <p:nvSpPr>
                  <p:cNvPr id="36922" name="Line 1039"/>
                  <p:cNvSpPr>
                    <a:spLocks noChangeShapeType="1"/>
                  </p:cNvSpPr>
                  <p:nvPr/>
                </p:nvSpPr>
                <p:spPr bwMode="auto">
                  <a:xfrm>
                    <a:off x="3826" y="2726"/>
                    <a:ext cx="1528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6913" name="Group 1040"/>
                <p:cNvGrpSpPr/>
                <p:nvPr/>
              </p:nvGrpSpPr>
              <p:grpSpPr bwMode="auto">
                <a:xfrm>
                  <a:off x="1331" y="536"/>
                  <a:ext cx="3378" cy="2112"/>
                  <a:chOff x="1331" y="536"/>
                  <a:chExt cx="3378" cy="2112"/>
                </a:xfrm>
              </p:grpSpPr>
              <p:sp>
                <p:nvSpPr>
                  <p:cNvPr id="36914" name="Line 104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19" y="924"/>
                    <a:ext cx="0" cy="68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lgDashDot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15" name="Line 1042"/>
                  <p:cNvSpPr>
                    <a:spLocks noChangeShapeType="1"/>
                  </p:cNvSpPr>
                  <p:nvPr/>
                </p:nvSpPr>
                <p:spPr bwMode="auto">
                  <a:xfrm>
                    <a:off x="2274" y="1045"/>
                    <a:ext cx="304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lgDashDot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16" name="Line 1043"/>
                  <p:cNvSpPr>
                    <a:spLocks noChangeShapeType="1"/>
                  </p:cNvSpPr>
                  <p:nvPr/>
                </p:nvSpPr>
                <p:spPr bwMode="auto">
                  <a:xfrm>
                    <a:off x="3862" y="1047"/>
                    <a:ext cx="847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lgDashDot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17" name="Line 104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24" y="536"/>
                    <a:ext cx="0" cy="109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lgDashDot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18" name="Line 1045"/>
                  <p:cNvSpPr>
                    <a:spLocks noChangeShapeType="1"/>
                  </p:cNvSpPr>
                  <p:nvPr/>
                </p:nvSpPr>
                <p:spPr bwMode="auto">
                  <a:xfrm>
                    <a:off x="1331" y="2314"/>
                    <a:ext cx="2207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lgDashDot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19" name="Line 104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19" y="1965"/>
                    <a:ext cx="0" cy="68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lgDashDot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36905" name="Group 1047"/>
            <p:cNvGrpSpPr/>
            <p:nvPr/>
          </p:nvGrpSpPr>
          <p:grpSpPr bwMode="auto">
            <a:xfrm>
              <a:off x="1294" y="348"/>
              <a:ext cx="3382" cy="2338"/>
              <a:chOff x="1294" y="348"/>
              <a:chExt cx="3382" cy="2338"/>
            </a:xfrm>
          </p:grpSpPr>
          <p:sp>
            <p:nvSpPr>
              <p:cNvPr id="36906" name="Rectangle 1048"/>
              <p:cNvSpPr>
                <a:spLocks noChangeArrowheads="1"/>
              </p:cNvSpPr>
              <p:nvPr/>
            </p:nvSpPr>
            <p:spPr bwMode="auto">
              <a:xfrm>
                <a:off x="4224" y="348"/>
                <a:ext cx="156" cy="1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grpSp>
            <p:nvGrpSpPr>
              <p:cNvPr id="36907" name="Group 1049"/>
              <p:cNvGrpSpPr/>
              <p:nvPr/>
            </p:nvGrpSpPr>
            <p:grpSpPr bwMode="auto">
              <a:xfrm>
                <a:off x="1294" y="922"/>
                <a:ext cx="3382" cy="1764"/>
                <a:chOff x="1294" y="922"/>
                <a:chExt cx="3382" cy="1764"/>
              </a:xfrm>
            </p:grpSpPr>
            <p:pic>
              <p:nvPicPr>
                <p:cNvPr id="36908" name="Picture 1050" descr="10-13a"/>
                <p:cNvPicPr>
                  <a:picLocks noChangeAspect="1" noChangeArrowheads="1"/>
                </p:cNvPicPr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94" y="922"/>
                  <a:ext cx="3382" cy="6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6909" name="Picture 1051" descr="10-13aa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99" y="1965"/>
                  <a:ext cx="2254" cy="7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grpSp>
        <p:nvGrpSpPr>
          <p:cNvPr id="122908" name="Group 1052"/>
          <p:cNvGrpSpPr/>
          <p:nvPr/>
        </p:nvGrpSpPr>
        <p:grpSpPr bwMode="auto">
          <a:xfrm>
            <a:off x="6267450" y="1671638"/>
            <a:ext cx="1190625" cy="482600"/>
            <a:chOff x="3948" y="1053"/>
            <a:chExt cx="750" cy="304"/>
          </a:xfrm>
        </p:grpSpPr>
        <p:grpSp>
          <p:nvGrpSpPr>
            <p:cNvPr id="36896" name="Group 1053"/>
            <p:cNvGrpSpPr/>
            <p:nvPr/>
          </p:nvGrpSpPr>
          <p:grpSpPr bwMode="auto">
            <a:xfrm>
              <a:off x="3948" y="1053"/>
              <a:ext cx="750" cy="304"/>
              <a:chOff x="3948" y="1053"/>
              <a:chExt cx="750" cy="304"/>
            </a:xfrm>
          </p:grpSpPr>
          <p:sp>
            <p:nvSpPr>
              <p:cNvPr id="36898" name="Line 1054"/>
              <p:cNvSpPr>
                <a:spLocks noChangeShapeType="1"/>
              </p:cNvSpPr>
              <p:nvPr/>
            </p:nvSpPr>
            <p:spPr bwMode="auto">
              <a:xfrm>
                <a:off x="3954" y="1053"/>
                <a:ext cx="0" cy="304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99" name="Line 1055"/>
              <p:cNvSpPr>
                <a:spLocks noChangeShapeType="1"/>
              </p:cNvSpPr>
              <p:nvPr/>
            </p:nvSpPr>
            <p:spPr bwMode="auto">
              <a:xfrm>
                <a:off x="3948" y="1297"/>
                <a:ext cx="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900" name="Line 1056"/>
              <p:cNvSpPr>
                <a:spLocks noChangeShapeType="1"/>
              </p:cNvSpPr>
              <p:nvPr/>
            </p:nvSpPr>
            <p:spPr bwMode="auto">
              <a:xfrm>
                <a:off x="3948" y="1267"/>
                <a:ext cx="749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901" name="Line 1057"/>
              <p:cNvSpPr>
                <a:spLocks noChangeShapeType="1"/>
              </p:cNvSpPr>
              <p:nvPr/>
            </p:nvSpPr>
            <p:spPr bwMode="auto">
              <a:xfrm>
                <a:off x="4690" y="1059"/>
                <a:ext cx="0" cy="298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902" name="Line 1058"/>
              <p:cNvSpPr>
                <a:spLocks noChangeShapeType="1"/>
              </p:cNvSpPr>
              <p:nvPr/>
            </p:nvSpPr>
            <p:spPr bwMode="auto">
              <a:xfrm>
                <a:off x="4638" y="1356"/>
                <a:ext cx="60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903" name="Line 1059"/>
              <p:cNvSpPr>
                <a:spLocks noChangeShapeType="1"/>
              </p:cNvSpPr>
              <p:nvPr/>
            </p:nvSpPr>
            <p:spPr bwMode="auto">
              <a:xfrm>
                <a:off x="3948" y="1350"/>
                <a:ext cx="60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897" name="Line 1060"/>
            <p:cNvSpPr>
              <a:spLocks noChangeShapeType="1"/>
            </p:cNvSpPr>
            <p:nvPr/>
          </p:nvSpPr>
          <p:spPr bwMode="auto">
            <a:xfrm>
              <a:off x="3954" y="1059"/>
              <a:ext cx="73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2917" name="Group 1061"/>
          <p:cNvGrpSpPr/>
          <p:nvPr/>
        </p:nvGrpSpPr>
        <p:grpSpPr bwMode="auto">
          <a:xfrm>
            <a:off x="3362325" y="1612900"/>
            <a:ext cx="923925" cy="520700"/>
            <a:chOff x="2118" y="1016"/>
            <a:chExt cx="582" cy="328"/>
          </a:xfrm>
        </p:grpSpPr>
        <p:sp>
          <p:nvSpPr>
            <p:cNvPr id="36890" name="Arc 1062"/>
            <p:cNvSpPr/>
            <p:nvPr/>
          </p:nvSpPr>
          <p:spPr bwMode="auto">
            <a:xfrm rot="10262489">
              <a:off x="2215" y="1016"/>
              <a:ext cx="433" cy="241"/>
            </a:xfrm>
            <a:custGeom>
              <a:avLst/>
              <a:gdLst>
                <a:gd name="T0" fmla="*/ 0 w 42670"/>
                <a:gd name="T1" fmla="*/ 2 h 23423"/>
                <a:gd name="T2" fmla="*/ 4 w 42670"/>
                <a:gd name="T3" fmla="*/ 2 h 23423"/>
                <a:gd name="T4" fmla="*/ 2 w 42670"/>
                <a:gd name="T5" fmla="*/ 2 h 234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670" h="23423" fill="none" extrusionOk="0">
                  <a:moveTo>
                    <a:pt x="0" y="16842"/>
                  </a:moveTo>
                  <a:cubicBezTo>
                    <a:pt x="2224" y="6993"/>
                    <a:pt x="10973" y="0"/>
                    <a:pt x="21070" y="0"/>
                  </a:cubicBezTo>
                  <a:cubicBezTo>
                    <a:pt x="32999" y="0"/>
                    <a:pt x="42670" y="9670"/>
                    <a:pt x="42670" y="21600"/>
                  </a:cubicBezTo>
                  <a:cubicBezTo>
                    <a:pt x="42670" y="22208"/>
                    <a:pt x="42644" y="22816"/>
                    <a:pt x="42592" y="23422"/>
                  </a:cubicBezTo>
                </a:path>
                <a:path w="42670" h="23423" stroke="0" extrusionOk="0">
                  <a:moveTo>
                    <a:pt x="0" y="16842"/>
                  </a:moveTo>
                  <a:cubicBezTo>
                    <a:pt x="2224" y="6993"/>
                    <a:pt x="10973" y="0"/>
                    <a:pt x="21070" y="0"/>
                  </a:cubicBezTo>
                  <a:cubicBezTo>
                    <a:pt x="32999" y="0"/>
                    <a:pt x="42670" y="9670"/>
                    <a:pt x="42670" y="21600"/>
                  </a:cubicBezTo>
                  <a:cubicBezTo>
                    <a:pt x="42670" y="22208"/>
                    <a:pt x="42644" y="22816"/>
                    <a:pt x="42592" y="23422"/>
                  </a:cubicBezTo>
                  <a:lnTo>
                    <a:pt x="21070" y="21600"/>
                  </a:lnTo>
                  <a:lnTo>
                    <a:pt x="0" y="16842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1" name="Arc 1063"/>
            <p:cNvSpPr/>
            <p:nvPr/>
          </p:nvSpPr>
          <p:spPr bwMode="auto">
            <a:xfrm rot="-10788878">
              <a:off x="2124" y="1053"/>
              <a:ext cx="295" cy="291"/>
            </a:xfrm>
            <a:custGeom>
              <a:avLst/>
              <a:gdLst>
                <a:gd name="T0" fmla="*/ 0 w 21600"/>
                <a:gd name="T1" fmla="*/ 0 h 21600"/>
                <a:gd name="T2" fmla="*/ 4 w 21600"/>
                <a:gd name="T3" fmla="*/ 4 h 21600"/>
                <a:gd name="T4" fmla="*/ 0 w 21600"/>
                <a:gd name="T5" fmla="*/ 4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2" name="Arc 1064"/>
            <p:cNvSpPr/>
            <p:nvPr/>
          </p:nvSpPr>
          <p:spPr bwMode="auto">
            <a:xfrm rot="10399195" flipH="1">
              <a:off x="2398" y="1059"/>
              <a:ext cx="302" cy="244"/>
            </a:xfrm>
            <a:custGeom>
              <a:avLst/>
              <a:gdLst>
                <a:gd name="T0" fmla="*/ 0 w 21813"/>
                <a:gd name="T1" fmla="*/ 0 h 21600"/>
                <a:gd name="T2" fmla="*/ 4 w 21813"/>
                <a:gd name="T3" fmla="*/ 3 h 21600"/>
                <a:gd name="T4" fmla="*/ 0 w 21813"/>
                <a:gd name="T5" fmla="*/ 3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13" h="21600" fill="none" extrusionOk="0">
                  <a:moveTo>
                    <a:pt x="0" y="1"/>
                  </a:moveTo>
                  <a:cubicBezTo>
                    <a:pt x="70" y="0"/>
                    <a:pt x="141" y="0"/>
                    <a:pt x="213" y="0"/>
                  </a:cubicBezTo>
                  <a:cubicBezTo>
                    <a:pt x="12142" y="0"/>
                    <a:pt x="21813" y="9670"/>
                    <a:pt x="21813" y="21600"/>
                  </a:cubicBezTo>
                </a:path>
                <a:path w="21813" h="21600" stroke="0" extrusionOk="0">
                  <a:moveTo>
                    <a:pt x="0" y="1"/>
                  </a:moveTo>
                  <a:cubicBezTo>
                    <a:pt x="70" y="0"/>
                    <a:pt x="141" y="0"/>
                    <a:pt x="213" y="0"/>
                  </a:cubicBezTo>
                  <a:cubicBezTo>
                    <a:pt x="12142" y="0"/>
                    <a:pt x="21813" y="9670"/>
                    <a:pt x="21813" y="21600"/>
                  </a:cubicBezTo>
                  <a:lnTo>
                    <a:pt x="213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3" name="Line 1065"/>
            <p:cNvSpPr>
              <a:spLocks noChangeShapeType="1"/>
            </p:cNvSpPr>
            <p:nvPr/>
          </p:nvSpPr>
          <p:spPr bwMode="auto">
            <a:xfrm>
              <a:off x="2640" y="1047"/>
              <a:ext cx="4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4" name="Arc 1066"/>
            <p:cNvSpPr/>
            <p:nvPr/>
          </p:nvSpPr>
          <p:spPr bwMode="auto">
            <a:xfrm rot="-10338222">
              <a:off x="2141" y="1049"/>
              <a:ext cx="309" cy="244"/>
            </a:xfrm>
            <a:custGeom>
              <a:avLst/>
              <a:gdLst>
                <a:gd name="T0" fmla="*/ 0 w 25305"/>
                <a:gd name="T1" fmla="*/ 0 h 21600"/>
                <a:gd name="T2" fmla="*/ 4 w 25305"/>
                <a:gd name="T3" fmla="*/ 3 h 21600"/>
                <a:gd name="T4" fmla="*/ 1 w 25305"/>
                <a:gd name="T5" fmla="*/ 3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305" h="21600" fill="none" extrusionOk="0">
                  <a:moveTo>
                    <a:pt x="0" y="320"/>
                  </a:moveTo>
                  <a:cubicBezTo>
                    <a:pt x="1223" y="107"/>
                    <a:pt x="2463" y="0"/>
                    <a:pt x="3705" y="0"/>
                  </a:cubicBezTo>
                  <a:cubicBezTo>
                    <a:pt x="15634" y="0"/>
                    <a:pt x="25305" y="9670"/>
                    <a:pt x="25305" y="21600"/>
                  </a:cubicBezTo>
                </a:path>
                <a:path w="25305" h="21600" stroke="0" extrusionOk="0">
                  <a:moveTo>
                    <a:pt x="0" y="320"/>
                  </a:moveTo>
                  <a:cubicBezTo>
                    <a:pt x="1223" y="107"/>
                    <a:pt x="2463" y="0"/>
                    <a:pt x="3705" y="0"/>
                  </a:cubicBezTo>
                  <a:cubicBezTo>
                    <a:pt x="15634" y="0"/>
                    <a:pt x="25305" y="9670"/>
                    <a:pt x="25305" y="21600"/>
                  </a:cubicBezTo>
                  <a:lnTo>
                    <a:pt x="3705" y="21600"/>
                  </a:lnTo>
                  <a:lnTo>
                    <a:pt x="0" y="320"/>
                  </a:lnTo>
                  <a:close/>
                </a:path>
              </a:pathLst>
            </a:cu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5" name="Line 1067"/>
            <p:cNvSpPr>
              <a:spLocks noChangeShapeType="1"/>
            </p:cNvSpPr>
            <p:nvPr/>
          </p:nvSpPr>
          <p:spPr bwMode="auto">
            <a:xfrm>
              <a:off x="2118" y="1051"/>
              <a:ext cx="9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2924" name="Group 1068"/>
          <p:cNvGrpSpPr/>
          <p:nvPr/>
        </p:nvGrpSpPr>
        <p:grpSpPr bwMode="auto">
          <a:xfrm>
            <a:off x="3371850" y="3057525"/>
            <a:ext cx="952500" cy="1266825"/>
            <a:chOff x="2124" y="1926"/>
            <a:chExt cx="600" cy="798"/>
          </a:xfrm>
        </p:grpSpPr>
        <p:sp>
          <p:nvSpPr>
            <p:cNvPr id="36876" name="Line 1069"/>
            <p:cNvSpPr>
              <a:spLocks noChangeShapeType="1"/>
            </p:cNvSpPr>
            <p:nvPr/>
          </p:nvSpPr>
          <p:spPr bwMode="auto">
            <a:xfrm>
              <a:off x="2130" y="1956"/>
              <a:ext cx="59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77" name="Line 1070"/>
            <p:cNvSpPr>
              <a:spLocks noChangeShapeType="1"/>
            </p:cNvSpPr>
            <p:nvPr/>
          </p:nvSpPr>
          <p:spPr bwMode="auto">
            <a:xfrm>
              <a:off x="2724" y="1956"/>
              <a:ext cx="0" cy="5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78" name="Line 1071"/>
            <p:cNvSpPr>
              <a:spLocks noChangeShapeType="1"/>
            </p:cNvSpPr>
            <p:nvPr/>
          </p:nvSpPr>
          <p:spPr bwMode="auto">
            <a:xfrm>
              <a:off x="2130" y="2640"/>
              <a:ext cx="0" cy="5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79" name="Line 1072"/>
            <p:cNvSpPr>
              <a:spLocks noChangeShapeType="1"/>
            </p:cNvSpPr>
            <p:nvPr/>
          </p:nvSpPr>
          <p:spPr bwMode="auto">
            <a:xfrm>
              <a:off x="2124" y="2694"/>
              <a:ext cx="59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0" name="Line 1073"/>
            <p:cNvSpPr>
              <a:spLocks noChangeShapeType="1"/>
            </p:cNvSpPr>
            <p:nvPr/>
          </p:nvSpPr>
          <p:spPr bwMode="auto">
            <a:xfrm>
              <a:off x="2724" y="2640"/>
              <a:ext cx="0" cy="5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1" name="Line 1074"/>
            <p:cNvSpPr>
              <a:spLocks noChangeShapeType="1"/>
            </p:cNvSpPr>
            <p:nvPr/>
          </p:nvSpPr>
          <p:spPr bwMode="auto">
            <a:xfrm>
              <a:off x="2131" y="2010"/>
              <a:ext cx="569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2" name="Line 1075"/>
            <p:cNvSpPr>
              <a:spLocks noChangeShapeType="1"/>
            </p:cNvSpPr>
            <p:nvPr/>
          </p:nvSpPr>
          <p:spPr bwMode="auto">
            <a:xfrm>
              <a:off x="2137" y="2640"/>
              <a:ext cx="563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3" name="Line 1076"/>
            <p:cNvSpPr>
              <a:spLocks noChangeShapeType="1"/>
            </p:cNvSpPr>
            <p:nvPr/>
          </p:nvSpPr>
          <p:spPr bwMode="auto">
            <a:xfrm flipV="1">
              <a:off x="2425" y="1926"/>
              <a:ext cx="0" cy="16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4" name="Line 1077"/>
            <p:cNvSpPr>
              <a:spLocks noChangeShapeType="1"/>
            </p:cNvSpPr>
            <p:nvPr/>
          </p:nvSpPr>
          <p:spPr bwMode="auto">
            <a:xfrm>
              <a:off x="2424" y="2616"/>
              <a:ext cx="0" cy="1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5" name="Line 1078"/>
            <p:cNvSpPr>
              <a:spLocks noChangeShapeType="1"/>
            </p:cNvSpPr>
            <p:nvPr/>
          </p:nvSpPr>
          <p:spPr bwMode="auto">
            <a:xfrm flipH="1">
              <a:off x="2701" y="2010"/>
              <a:ext cx="23" cy="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6" name="Line 1079"/>
            <p:cNvSpPr>
              <a:spLocks noChangeShapeType="1"/>
            </p:cNvSpPr>
            <p:nvPr/>
          </p:nvSpPr>
          <p:spPr bwMode="auto">
            <a:xfrm flipH="1" flipV="1">
              <a:off x="2701" y="2640"/>
              <a:ext cx="23" cy="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7" name="Line 1080"/>
            <p:cNvSpPr>
              <a:spLocks noChangeShapeType="1"/>
            </p:cNvSpPr>
            <p:nvPr/>
          </p:nvSpPr>
          <p:spPr bwMode="auto">
            <a:xfrm>
              <a:off x="2700" y="2010"/>
              <a:ext cx="0" cy="6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8" name="Line 1081"/>
            <p:cNvSpPr>
              <a:spLocks noChangeShapeType="1"/>
            </p:cNvSpPr>
            <p:nvPr/>
          </p:nvSpPr>
          <p:spPr bwMode="auto">
            <a:xfrm>
              <a:off x="2640" y="1956"/>
              <a:ext cx="0" cy="73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9" name="Line 1082"/>
            <p:cNvSpPr>
              <a:spLocks noChangeShapeType="1"/>
            </p:cNvSpPr>
            <p:nvPr/>
          </p:nvSpPr>
          <p:spPr bwMode="auto">
            <a:xfrm flipV="1">
              <a:off x="2130" y="1956"/>
              <a:ext cx="0" cy="6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36874" name="Picture 1083" descr="10-14(1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74" t="26506" r="34483" b="28915"/>
          <a:stretch>
            <a:fillRect/>
          </a:stretch>
        </p:blipFill>
        <p:spPr bwMode="auto">
          <a:xfrm>
            <a:off x="5413375" y="4529138"/>
            <a:ext cx="322580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0" name="Picture 1084" descr="10-14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57" t="57831" r="29884" b="5421"/>
          <a:stretch>
            <a:fillRect/>
          </a:stretch>
        </p:blipFill>
        <p:spPr bwMode="auto">
          <a:xfrm>
            <a:off x="5387975" y="4524375"/>
            <a:ext cx="3276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2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2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/>
          <p:nvPr/>
        </p:nvGrpSpPr>
        <p:grpSpPr bwMode="auto">
          <a:xfrm>
            <a:off x="2065338" y="1733550"/>
            <a:ext cx="5438775" cy="2863850"/>
            <a:chOff x="1301" y="918"/>
            <a:chExt cx="3426" cy="1804"/>
          </a:xfrm>
        </p:grpSpPr>
        <p:pic>
          <p:nvPicPr>
            <p:cNvPr id="37925" name="Picture 3" descr="10-13b-1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1" y="918"/>
              <a:ext cx="3426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26" name="Picture 4" descr="10-13b-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5" y="1896"/>
              <a:ext cx="2236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891" name="Group 5"/>
          <p:cNvGrpSpPr/>
          <p:nvPr/>
        </p:nvGrpSpPr>
        <p:grpSpPr bwMode="auto">
          <a:xfrm>
            <a:off x="1443038" y="495300"/>
            <a:ext cx="7019925" cy="4819650"/>
            <a:chOff x="993" y="138"/>
            <a:chExt cx="4422" cy="3036"/>
          </a:xfrm>
        </p:grpSpPr>
        <p:sp>
          <p:nvSpPr>
            <p:cNvPr id="37920" name="Rectangle 6"/>
            <p:cNvSpPr>
              <a:spLocks noChangeArrowheads="1"/>
            </p:cNvSpPr>
            <p:nvPr/>
          </p:nvSpPr>
          <p:spPr bwMode="auto">
            <a:xfrm>
              <a:off x="993" y="138"/>
              <a:ext cx="4422" cy="30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grpSp>
          <p:nvGrpSpPr>
            <p:cNvPr id="37921" name="Group 7"/>
            <p:cNvGrpSpPr/>
            <p:nvPr/>
          </p:nvGrpSpPr>
          <p:grpSpPr bwMode="auto">
            <a:xfrm>
              <a:off x="1054" y="199"/>
              <a:ext cx="4300" cy="2914"/>
              <a:chOff x="360" y="372"/>
              <a:chExt cx="5064" cy="3432"/>
            </a:xfrm>
          </p:grpSpPr>
          <p:sp>
            <p:nvSpPr>
              <p:cNvPr id="37922" name="Rectangle 8"/>
              <p:cNvSpPr>
                <a:spLocks noChangeArrowheads="1"/>
              </p:cNvSpPr>
              <p:nvPr/>
            </p:nvSpPr>
            <p:spPr bwMode="auto">
              <a:xfrm>
                <a:off x="360" y="372"/>
                <a:ext cx="5064" cy="34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37923" name="Rectangle 9"/>
              <p:cNvSpPr>
                <a:spLocks noChangeArrowheads="1"/>
              </p:cNvSpPr>
              <p:nvPr/>
            </p:nvSpPr>
            <p:spPr bwMode="auto">
              <a:xfrm>
                <a:off x="3624" y="2604"/>
                <a:ext cx="1800" cy="12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37924" name="Line 10"/>
              <p:cNvSpPr>
                <a:spLocks noChangeShapeType="1"/>
              </p:cNvSpPr>
              <p:nvPr/>
            </p:nvSpPr>
            <p:spPr bwMode="auto">
              <a:xfrm>
                <a:off x="3624" y="3348"/>
                <a:ext cx="18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7892" name="Text Box 11"/>
          <p:cNvSpPr txBox="1">
            <a:spLocks noChangeArrowheads="1"/>
          </p:cNvSpPr>
          <p:nvPr/>
        </p:nvSpPr>
        <p:spPr bwMode="auto">
          <a:xfrm>
            <a:off x="781050" y="5427663"/>
            <a:ext cx="20240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</a:rPr>
              <a:t>①</a:t>
            </a:r>
            <a:r>
              <a:rPr lang="zh-CN" altLang="en-US">
                <a:solidFill>
                  <a:schemeClr val="accent2"/>
                </a:solidFill>
              </a:rPr>
              <a:t>轴承座</a:t>
            </a: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37893" name="Text Box 12"/>
          <p:cNvSpPr txBox="1">
            <a:spLocks noChangeArrowheads="1"/>
          </p:cNvSpPr>
          <p:nvPr/>
        </p:nvSpPr>
        <p:spPr bwMode="auto">
          <a:xfrm>
            <a:off x="455613" y="307975"/>
            <a:ext cx="703262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3. 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画主要装配线</a:t>
            </a:r>
            <a:endParaRPr lang="zh-CN" altLang="en-US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37894" name="Text Box 13"/>
          <p:cNvSpPr txBox="1">
            <a:spLocks noChangeArrowheads="1"/>
          </p:cNvSpPr>
          <p:nvPr/>
        </p:nvSpPr>
        <p:spPr bwMode="auto">
          <a:xfrm>
            <a:off x="2822575" y="5427663"/>
            <a:ext cx="18161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</a:rPr>
              <a:t>②</a:t>
            </a:r>
            <a:r>
              <a:rPr lang="zh-CN" altLang="en-US">
                <a:solidFill>
                  <a:schemeClr val="accent2"/>
                </a:solidFill>
              </a:rPr>
              <a:t>下轴衬</a:t>
            </a: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123918" name="Text Box 14"/>
          <p:cNvSpPr txBox="1">
            <a:spLocks noChangeArrowheads="1"/>
          </p:cNvSpPr>
          <p:nvPr/>
        </p:nvSpPr>
        <p:spPr bwMode="auto">
          <a:xfrm>
            <a:off x="4689475" y="5427663"/>
            <a:ext cx="20431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</a:rPr>
              <a:t>③</a:t>
            </a:r>
            <a:r>
              <a:rPr lang="zh-CN" altLang="en-US">
                <a:solidFill>
                  <a:srgbClr val="FF3300"/>
                </a:solidFill>
              </a:rPr>
              <a:t>上轴衬</a:t>
            </a:r>
            <a:endParaRPr lang="zh-CN" altLang="en-US">
              <a:solidFill>
                <a:schemeClr val="accent2"/>
              </a:solidFill>
            </a:endParaRPr>
          </a:p>
        </p:txBody>
      </p:sp>
      <p:grpSp>
        <p:nvGrpSpPr>
          <p:cNvPr id="123919" name="Group 15"/>
          <p:cNvGrpSpPr/>
          <p:nvPr/>
        </p:nvGrpSpPr>
        <p:grpSpPr bwMode="auto">
          <a:xfrm>
            <a:off x="3365500" y="1257300"/>
            <a:ext cx="908050" cy="695325"/>
            <a:chOff x="2120" y="792"/>
            <a:chExt cx="572" cy="438"/>
          </a:xfrm>
        </p:grpSpPr>
        <p:sp>
          <p:nvSpPr>
            <p:cNvPr id="37913" name="Arc 16"/>
            <p:cNvSpPr/>
            <p:nvPr/>
          </p:nvSpPr>
          <p:spPr bwMode="auto">
            <a:xfrm flipH="1">
              <a:off x="2120" y="918"/>
              <a:ext cx="294" cy="300"/>
            </a:xfrm>
            <a:custGeom>
              <a:avLst/>
              <a:gdLst>
                <a:gd name="T0" fmla="*/ 0 w 21600"/>
                <a:gd name="T1" fmla="*/ 0 h 21600"/>
                <a:gd name="T2" fmla="*/ 4 w 21600"/>
                <a:gd name="T3" fmla="*/ 4 h 21600"/>
                <a:gd name="T4" fmla="*/ 0 w 21600"/>
                <a:gd name="T5" fmla="*/ 4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4" name="Arc 17"/>
            <p:cNvSpPr/>
            <p:nvPr/>
          </p:nvSpPr>
          <p:spPr bwMode="auto">
            <a:xfrm>
              <a:off x="2418" y="960"/>
              <a:ext cx="266" cy="262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5" name="Line 18"/>
            <p:cNvSpPr>
              <a:spLocks noChangeShapeType="1"/>
            </p:cNvSpPr>
            <p:nvPr/>
          </p:nvSpPr>
          <p:spPr bwMode="auto">
            <a:xfrm>
              <a:off x="2120" y="1222"/>
              <a:ext cx="9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6" name="Line 19"/>
            <p:cNvSpPr>
              <a:spLocks noChangeShapeType="1"/>
            </p:cNvSpPr>
            <p:nvPr/>
          </p:nvSpPr>
          <p:spPr bwMode="auto">
            <a:xfrm>
              <a:off x="2626" y="1218"/>
              <a:ext cx="6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7" name="Line 20"/>
            <p:cNvSpPr>
              <a:spLocks noChangeShapeType="1"/>
            </p:cNvSpPr>
            <p:nvPr/>
          </p:nvSpPr>
          <p:spPr bwMode="auto">
            <a:xfrm flipV="1">
              <a:off x="2412" y="792"/>
              <a:ext cx="0" cy="2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8" name="Line 21"/>
            <p:cNvSpPr>
              <a:spLocks noChangeShapeType="1"/>
            </p:cNvSpPr>
            <p:nvPr/>
          </p:nvSpPr>
          <p:spPr bwMode="auto">
            <a:xfrm flipV="1">
              <a:off x="2412" y="1044"/>
              <a:ext cx="0" cy="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9" name="Arc 22"/>
            <p:cNvSpPr/>
            <p:nvPr/>
          </p:nvSpPr>
          <p:spPr bwMode="auto">
            <a:xfrm rot="-10716381" flipH="1" flipV="1">
              <a:off x="2215" y="1006"/>
              <a:ext cx="419" cy="224"/>
            </a:xfrm>
            <a:custGeom>
              <a:avLst/>
              <a:gdLst>
                <a:gd name="T0" fmla="*/ 0 w 43198"/>
                <a:gd name="T1" fmla="*/ 2 h 22443"/>
                <a:gd name="T2" fmla="*/ 4 w 43198"/>
                <a:gd name="T3" fmla="*/ 2 h 22443"/>
                <a:gd name="T4" fmla="*/ 2 w 43198"/>
                <a:gd name="T5" fmla="*/ 2 h 224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98" h="22443" fill="none" extrusionOk="0">
                  <a:moveTo>
                    <a:pt x="16" y="22442"/>
                  </a:moveTo>
                  <a:cubicBezTo>
                    <a:pt x="5" y="22162"/>
                    <a:pt x="0" y="2188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419" y="0"/>
                    <a:pt x="43044" y="9500"/>
                    <a:pt x="43198" y="21318"/>
                  </a:cubicBezTo>
                </a:path>
                <a:path w="43198" h="22443" stroke="0" extrusionOk="0">
                  <a:moveTo>
                    <a:pt x="16" y="22442"/>
                  </a:moveTo>
                  <a:cubicBezTo>
                    <a:pt x="5" y="22162"/>
                    <a:pt x="0" y="2188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419" y="0"/>
                    <a:pt x="43044" y="9500"/>
                    <a:pt x="43198" y="21318"/>
                  </a:cubicBezTo>
                  <a:lnTo>
                    <a:pt x="21600" y="21600"/>
                  </a:lnTo>
                  <a:lnTo>
                    <a:pt x="16" y="22442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3927" name="Group 23"/>
          <p:cNvGrpSpPr/>
          <p:nvPr/>
        </p:nvGrpSpPr>
        <p:grpSpPr bwMode="auto">
          <a:xfrm>
            <a:off x="3371850" y="3448050"/>
            <a:ext cx="476250" cy="990600"/>
            <a:chOff x="2124" y="2172"/>
            <a:chExt cx="300" cy="624"/>
          </a:xfrm>
        </p:grpSpPr>
        <p:sp>
          <p:nvSpPr>
            <p:cNvPr id="37911" name="Line 24"/>
            <p:cNvSpPr>
              <a:spLocks noChangeShapeType="1"/>
            </p:cNvSpPr>
            <p:nvPr/>
          </p:nvSpPr>
          <p:spPr bwMode="auto">
            <a:xfrm>
              <a:off x="2130" y="2172"/>
              <a:ext cx="29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2" name="Line 25"/>
            <p:cNvSpPr>
              <a:spLocks noChangeShapeType="1"/>
            </p:cNvSpPr>
            <p:nvPr/>
          </p:nvSpPr>
          <p:spPr bwMode="auto">
            <a:xfrm>
              <a:off x="2124" y="2796"/>
              <a:ext cx="30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3930" name="Group 26"/>
          <p:cNvGrpSpPr/>
          <p:nvPr/>
        </p:nvGrpSpPr>
        <p:grpSpPr bwMode="auto">
          <a:xfrm>
            <a:off x="6267450" y="1428750"/>
            <a:ext cx="1181100" cy="514350"/>
            <a:chOff x="3948" y="900"/>
            <a:chExt cx="744" cy="324"/>
          </a:xfrm>
        </p:grpSpPr>
        <p:sp>
          <p:nvSpPr>
            <p:cNvPr id="37901" name="Line 27"/>
            <p:cNvSpPr>
              <a:spLocks noChangeShapeType="1"/>
            </p:cNvSpPr>
            <p:nvPr/>
          </p:nvSpPr>
          <p:spPr bwMode="auto">
            <a:xfrm>
              <a:off x="3948" y="930"/>
              <a:ext cx="0" cy="27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2" name="Line 28"/>
            <p:cNvSpPr>
              <a:spLocks noChangeShapeType="1"/>
            </p:cNvSpPr>
            <p:nvPr/>
          </p:nvSpPr>
          <p:spPr bwMode="auto">
            <a:xfrm>
              <a:off x="3948" y="906"/>
              <a:ext cx="0" cy="31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3" name="Line 29"/>
            <p:cNvSpPr>
              <a:spLocks noChangeShapeType="1"/>
            </p:cNvSpPr>
            <p:nvPr/>
          </p:nvSpPr>
          <p:spPr bwMode="auto">
            <a:xfrm>
              <a:off x="3996" y="960"/>
              <a:ext cx="63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4" name="Line 30"/>
            <p:cNvSpPr>
              <a:spLocks noChangeShapeType="1"/>
            </p:cNvSpPr>
            <p:nvPr/>
          </p:nvSpPr>
          <p:spPr bwMode="auto">
            <a:xfrm flipV="1">
              <a:off x="4632" y="918"/>
              <a:ext cx="0" cy="4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5" name="Line 31"/>
            <p:cNvSpPr>
              <a:spLocks noChangeShapeType="1"/>
            </p:cNvSpPr>
            <p:nvPr/>
          </p:nvSpPr>
          <p:spPr bwMode="auto">
            <a:xfrm>
              <a:off x="3948" y="1224"/>
              <a:ext cx="74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6" name="Line 32"/>
            <p:cNvSpPr>
              <a:spLocks noChangeShapeType="1"/>
            </p:cNvSpPr>
            <p:nvPr/>
          </p:nvSpPr>
          <p:spPr bwMode="auto">
            <a:xfrm>
              <a:off x="3948" y="1008"/>
              <a:ext cx="73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7" name="Line 33"/>
            <p:cNvSpPr>
              <a:spLocks noChangeShapeType="1"/>
            </p:cNvSpPr>
            <p:nvPr/>
          </p:nvSpPr>
          <p:spPr bwMode="auto">
            <a:xfrm flipV="1">
              <a:off x="4680" y="912"/>
              <a:ext cx="0" cy="31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8" name="Line 34"/>
            <p:cNvSpPr>
              <a:spLocks noChangeShapeType="1"/>
            </p:cNvSpPr>
            <p:nvPr/>
          </p:nvSpPr>
          <p:spPr bwMode="auto">
            <a:xfrm>
              <a:off x="3948" y="912"/>
              <a:ext cx="4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9" name="Line 35"/>
            <p:cNvSpPr>
              <a:spLocks noChangeShapeType="1"/>
            </p:cNvSpPr>
            <p:nvPr/>
          </p:nvSpPr>
          <p:spPr bwMode="auto">
            <a:xfrm flipV="1">
              <a:off x="4000" y="900"/>
              <a:ext cx="0" cy="6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0" name="Line 36"/>
            <p:cNvSpPr>
              <a:spLocks noChangeShapeType="1"/>
            </p:cNvSpPr>
            <p:nvPr/>
          </p:nvSpPr>
          <p:spPr bwMode="auto">
            <a:xfrm>
              <a:off x="4620" y="912"/>
              <a:ext cx="6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37899" name="Picture 37" descr="10-14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57" t="57831" r="29884" b="5421"/>
          <a:stretch>
            <a:fillRect/>
          </a:stretch>
        </p:blipFill>
        <p:spPr bwMode="auto">
          <a:xfrm>
            <a:off x="5614988" y="3883025"/>
            <a:ext cx="3276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942" name="Picture 38" descr="10-14b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09" t="29518" r="26724" b="14458"/>
          <a:stretch>
            <a:fillRect/>
          </a:stretch>
        </p:blipFill>
        <p:spPr bwMode="auto">
          <a:xfrm>
            <a:off x="5648325" y="3656013"/>
            <a:ext cx="3238500" cy="196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23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23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3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2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8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050"/>
          <p:cNvGrpSpPr/>
          <p:nvPr/>
        </p:nvGrpSpPr>
        <p:grpSpPr bwMode="auto">
          <a:xfrm>
            <a:off x="1443038" y="495300"/>
            <a:ext cx="7019925" cy="4819650"/>
            <a:chOff x="993" y="138"/>
            <a:chExt cx="4422" cy="3036"/>
          </a:xfrm>
        </p:grpSpPr>
        <p:sp>
          <p:nvSpPr>
            <p:cNvPr id="38977" name="Rectangle 2051"/>
            <p:cNvSpPr>
              <a:spLocks noChangeArrowheads="1"/>
            </p:cNvSpPr>
            <p:nvPr/>
          </p:nvSpPr>
          <p:spPr bwMode="auto">
            <a:xfrm>
              <a:off x="993" y="138"/>
              <a:ext cx="4422" cy="30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grpSp>
          <p:nvGrpSpPr>
            <p:cNvPr id="38978" name="Group 2052"/>
            <p:cNvGrpSpPr/>
            <p:nvPr/>
          </p:nvGrpSpPr>
          <p:grpSpPr bwMode="auto">
            <a:xfrm>
              <a:off x="1054" y="199"/>
              <a:ext cx="4300" cy="2914"/>
              <a:chOff x="360" y="372"/>
              <a:chExt cx="5064" cy="3432"/>
            </a:xfrm>
          </p:grpSpPr>
          <p:sp>
            <p:nvSpPr>
              <p:cNvPr id="38979" name="Rectangle 2053"/>
              <p:cNvSpPr>
                <a:spLocks noChangeArrowheads="1"/>
              </p:cNvSpPr>
              <p:nvPr/>
            </p:nvSpPr>
            <p:spPr bwMode="auto">
              <a:xfrm>
                <a:off x="360" y="372"/>
                <a:ext cx="5064" cy="34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38980" name="Rectangle 2054"/>
              <p:cNvSpPr>
                <a:spLocks noChangeArrowheads="1"/>
              </p:cNvSpPr>
              <p:nvPr/>
            </p:nvSpPr>
            <p:spPr bwMode="auto">
              <a:xfrm>
                <a:off x="3624" y="2604"/>
                <a:ext cx="1800" cy="12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38981" name="Line 2055"/>
              <p:cNvSpPr>
                <a:spLocks noChangeShapeType="1"/>
              </p:cNvSpPr>
              <p:nvPr/>
            </p:nvSpPr>
            <p:spPr bwMode="auto">
              <a:xfrm>
                <a:off x="3624" y="3348"/>
                <a:ext cx="18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24936" name="Text Box 2056"/>
          <p:cNvSpPr txBox="1">
            <a:spLocks noChangeArrowheads="1"/>
          </p:cNvSpPr>
          <p:nvPr/>
        </p:nvSpPr>
        <p:spPr bwMode="auto">
          <a:xfrm>
            <a:off x="6575425" y="5427663"/>
            <a:ext cx="21240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④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轴承盖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38916" name="Text Box 2057"/>
          <p:cNvSpPr txBox="1">
            <a:spLocks noChangeArrowheads="1"/>
          </p:cNvSpPr>
          <p:nvPr/>
        </p:nvSpPr>
        <p:spPr bwMode="auto">
          <a:xfrm>
            <a:off x="781050" y="5427663"/>
            <a:ext cx="28352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①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轴承座</a:t>
            </a:r>
            <a:endParaRPr lang="zh-CN" altLang="en-US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38917" name="Text Box 2058"/>
          <p:cNvSpPr txBox="1">
            <a:spLocks noChangeArrowheads="1"/>
          </p:cNvSpPr>
          <p:nvPr/>
        </p:nvSpPr>
        <p:spPr bwMode="auto">
          <a:xfrm>
            <a:off x="455613" y="307975"/>
            <a:ext cx="703262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3. 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画主要装配线</a:t>
            </a:r>
            <a:endParaRPr lang="zh-CN" altLang="en-US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38918" name="Text Box 2059"/>
          <p:cNvSpPr txBox="1">
            <a:spLocks noChangeArrowheads="1"/>
          </p:cNvSpPr>
          <p:nvPr/>
        </p:nvSpPr>
        <p:spPr bwMode="auto">
          <a:xfrm>
            <a:off x="2822575" y="5427663"/>
            <a:ext cx="18161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②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下轴衬</a:t>
            </a:r>
            <a:endParaRPr lang="zh-CN" altLang="en-US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38919" name="Text Box 2060"/>
          <p:cNvSpPr txBox="1">
            <a:spLocks noChangeArrowheads="1"/>
          </p:cNvSpPr>
          <p:nvPr/>
        </p:nvSpPr>
        <p:spPr bwMode="auto">
          <a:xfrm>
            <a:off x="4689475" y="5427663"/>
            <a:ext cx="21701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宋体" panose="02010600030101010101" pitchFamily="2" charset="-122"/>
              </a:rPr>
              <a:t>③</a:t>
            </a: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上轴衬</a:t>
            </a:r>
            <a:endParaRPr lang="zh-CN" altLang="en-US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38920" name="Group 2061"/>
          <p:cNvGrpSpPr/>
          <p:nvPr/>
        </p:nvGrpSpPr>
        <p:grpSpPr bwMode="auto">
          <a:xfrm>
            <a:off x="2035175" y="1412875"/>
            <a:ext cx="5492750" cy="3179763"/>
            <a:chOff x="1282" y="890"/>
            <a:chExt cx="3460" cy="2003"/>
          </a:xfrm>
        </p:grpSpPr>
        <p:pic>
          <p:nvPicPr>
            <p:cNvPr id="38975" name="Picture 2062" descr="10-13bc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2" y="890"/>
              <a:ext cx="3460" cy="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76" name="Picture 2063" descr="10-13bcb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9" y="2075"/>
              <a:ext cx="2250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4944" name="Group 2064"/>
          <p:cNvGrpSpPr/>
          <p:nvPr/>
        </p:nvGrpSpPr>
        <p:grpSpPr bwMode="auto">
          <a:xfrm>
            <a:off x="2759075" y="3448050"/>
            <a:ext cx="1079500" cy="996950"/>
            <a:chOff x="1738" y="2172"/>
            <a:chExt cx="680" cy="628"/>
          </a:xfrm>
        </p:grpSpPr>
        <p:sp>
          <p:nvSpPr>
            <p:cNvPr id="38963" name="Line 2065"/>
            <p:cNvSpPr>
              <a:spLocks noChangeShapeType="1"/>
            </p:cNvSpPr>
            <p:nvPr/>
          </p:nvSpPr>
          <p:spPr bwMode="auto">
            <a:xfrm flipH="1">
              <a:off x="1960" y="2248"/>
              <a:ext cx="45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4" name="Line 2066"/>
            <p:cNvSpPr>
              <a:spLocks noChangeShapeType="1"/>
            </p:cNvSpPr>
            <p:nvPr/>
          </p:nvSpPr>
          <p:spPr bwMode="auto">
            <a:xfrm flipH="1">
              <a:off x="2096" y="2176"/>
              <a:ext cx="32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5" name="Line 2067"/>
            <p:cNvSpPr>
              <a:spLocks noChangeShapeType="1"/>
            </p:cNvSpPr>
            <p:nvPr/>
          </p:nvSpPr>
          <p:spPr bwMode="auto">
            <a:xfrm flipH="1">
              <a:off x="1968" y="2736"/>
              <a:ext cx="44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6" name="Line 2068"/>
            <p:cNvSpPr>
              <a:spLocks noChangeShapeType="1"/>
            </p:cNvSpPr>
            <p:nvPr/>
          </p:nvSpPr>
          <p:spPr bwMode="auto">
            <a:xfrm flipH="1">
              <a:off x="2088" y="2800"/>
              <a:ext cx="32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7" name="Line 2069"/>
            <p:cNvSpPr>
              <a:spLocks noChangeShapeType="1"/>
            </p:cNvSpPr>
            <p:nvPr/>
          </p:nvSpPr>
          <p:spPr bwMode="auto">
            <a:xfrm>
              <a:off x="2088" y="2172"/>
              <a:ext cx="0" cy="7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8" name="Line 2070"/>
            <p:cNvSpPr>
              <a:spLocks noChangeShapeType="1"/>
            </p:cNvSpPr>
            <p:nvPr/>
          </p:nvSpPr>
          <p:spPr bwMode="auto">
            <a:xfrm>
              <a:off x="2088" y="2736"/>
              <a:ext cx="0" cy="6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9" name="Line 2071"/>
            <p:cNvSpPr>
              <a:spLocks noChangeShapeType="1"/>
            </p:cNvSpPr>
            <p:nvPr/>
          </p:nvSpPr>
          <p:spPr bwMode="auto">
            <a:xfrm flipV="1">
              <a:off x="1968" y="2684"/>
              <a:ext cx="0" cy="5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70" name="Line 2072"/>
            <p:cNvSpPr>
              <a:spLocks noChangeShapeType="1"/>
            </p:cNvSpPr>
            <p:nvPr/>
          </p:nvSpPr>
          <p:spPr bwMode="auto">
            <a:xfrm>
              <a:off x="1928" y="2680"/>
              <a:ext cx="4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71" name="Line 2073"/>
            <p:cNvSpPr>
              <a:spLocks noChangeShapeType="1"/>
            </p:cNvSpPr>
            <p:nvPr/>
          </p:nvSpPr>
          <p:spPr bwMode="auto">
            <a:xfrm>
              <a:off x="1928" y="2296"/>
              <a:ext cx="4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72" name="Line 2074"/>
            <p:cNvSpPr>
              <a:spLocks noChangeShapeType="1"/>
            </p:cNvSpPr>
            <p:nvPr/>
          </p:nvSpPr>
          <p:spPr bwMode="auto">
            <a:xfrm flipV="1">
              <a:off x="1968" y="2244"/>
              <a:ext cx="0" cy="5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73" name="Arc 2075"/>
            <p:cNvSpPr/>
            <p:nvPr/>
          </p:nvSpPr>
          <p:spPr bwMode="auto">
            <a:xfrm flipH="1">
              <a:off x="1738" y="2304"/>
              <a:ext cx="193" cy="380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3 h 43200"/>
                <a:gd name="T4" fmla="*/ 0 w 21600"/>
                <a:gd name="T5" fmla="*/ 2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06"/>
                    <a:pt x="11964" y="43167"/>
                    <a:pt x="57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06"/>
                    <a:pt x="11964" y="43167"/>
                    <a:pt x="57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74" name="Arc 2076"/>
            <p:cNvSpPr/>
            <p:nvPr/>
          </p:nvSpPr>
          <p:spPr bwMode="auto">
            <a:xfrm flipH="1" flipV="1">
              <a:off x="2270" y="2340"/>
              <a:ext cx="148" cy="300"/>
            </a:xfrm>
            <a:custGeom>
              <a:avLst/>
              <a:gdLst>
                <a:gd name="T0" fmla="*/ 0 w 24133"/>
                <a:gd name="T1" fmla="*/ 0 h 43200"/>
                <a:gd name="T2" fmla="*/ 0 w 24133"/>
                <a:gd name="T3" fmla="*/ 2 h 43200"/>
                <a:gd name="T4" fmla="*/ 0 w 24133"/>
                <a:gd name="T5" fmla="*/ 1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133" h="43200" fill="none" extrusionOk="0">
                  <a:moveTo>
                    <a:pt x="633" y="83"/>
                  </a:moveTo>
                  <a:cubicBezTo>
                    <a:pt x="1265" y="27"/>
                    <a:pt x="1899" y="0"/>
                    <a:pt x="2533" y="0"/>
                  </a:cubicBezTo>
                  <a:cubicBezTo>
                    <a:pt x="14462" y="0"/>
                    <a:pt x="24133" y="9670"/>
                    <a:pt x="24133" y="21600"/>
                  </a:cubicBezTo>
                  <a:cubicBezTo>
                    <a:pt x="24133" y="33529"/>
                    <a:pt x="14462" y="43200"/>
                    <a:pt x="2533" y="43200"/>
                  </a:cubicBezTo>
                  <a:cubicBezTo>
                    <a:pt x="1686" y="43200"/>
                    <a:pt x="840" y="43150"/>
                    <a:pt x="0" y="43050"/>
                  </a:cubicBezTo>
                </a:path>
                <a:path w="24133" h="43200" stroke="0" extrusionOk="0">
                  <a:moveTo>
                    <a:pt x="633" y="83"/>
                  </a:moveTo>
                  <a:cubicBezTo>
                    <a:pt x="1265" y="27"/>
                    <a:pt x="1899" y="0"/>
                    <a:pt x="2533" y="0"/>
                  </a:cubicBezTo>
                  <a:cubicBezTo>
                    <a:pt x="14462" y="0"/>
                    <a:pt x="24133" y="9670"/>
                    <a:pt x="24133" y="21600"/>
                  </a:cubicBezTo>
                  <a:cubicBezTo>
                    <a:pt x="24133" y="33529"/>
                    <a:pt x="14462" y="43200"/>
                    <a:pt x="2533" y="43200"/>
                  </a:cubicBezTo>
                  <a:cubicBezTo>
                    <a:pt x="1686" y="43200"/>
                    <a:pt x="840" y="43150"/>
                    <a:pt x="0" y="43050"/>
                  </a:cubicBezTo>
                  <a:lnTo>
                    <a:pt x="2533" y="21600"/>
                  </a:lnTo>
                  <a:lnTo>
                    <a:pt x="633" y="83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4957" name="Group 2077"/>
          <p:cNvGrpSpPr/>
          <p:nvPr/>
        </p:nvGrpSpPr>
        <p:grpSpPr bwMode="auto">
          <a:xfrm>
            <a:off x="6350000" y="914400"/>
            <a:ext cx="1016000" cy="609600"/>
            <a:chOff x="4000" y="576"/>
            <a:chExt cx="640" cy="384"/>
          </a:xfrm>
        </p:grpSpPr>
        <p:grpSp>
          <p:nvGrpSpPr>
            <p:cNvPr id="38949" name="Group 2078"/>
            <p:cNvGrpSpPr/>
            <p:nvPr/>
          </p:nvGrpSpPr>
          <p:grpSpPr bwMode="auto">
            <a:xfrm>
              <a:off x="4000" y="640"/>
              <a:ext cx="640" cy="320"/>
              <a:chOff x="4000" y="640"/>
              <a:chExt cx="640" cy="320"/>
            </a:xfrm>
          </p:grpSpPr>
          <p:sp>
            <p:nvSpPr>
              <p:cNvPr id="38951" name="Line 2079"/>
              <p:cNvSpPr>
                <a:spLocks noChangeShapeType="1"/>
              </p:cNvSpPr>
              <p:nvPr/>
            </p:nvSpPr>
            <p:spPr bwMode="auto">
              <a:xfrm>
                <a:off x="4152" y="640"/>
                <a:ext cx="320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2" name="Line 2080"/>
              <p:cNvSpPr>
                <a:spLocks noChangeShapeType="1"/>
              </p:cNvSpPr>
              <p:nvPr/>
            </p:nvSpPr>
            <p:spPr bwMode="auto">
              <a:xfrm>
                <a:off x="4008" y="952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3" name="Line 2081"/>
              <p:cNvSpPr>
                <a:spLocks noChangeShapeType="1"/>
              </p:cNvSpPr>
              <p:nvPr/>
            </p:nvSpPr>
            <p:spPr bwMode="auto">
              <a:xfrm>
                <a:off x="4000" y="896"/>
                <a:ext cx="64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4" name="Line 2082"/>
              <p:cNvSpPr>
                <a:spLocks noChangeShapeType="1"/>
              </p:cNvSpPr>
              <p:nvPr/>
            </p:nvSpPr>
            <p:spPr bwMode="auto">
              <a:xfrm>
                <a:off x="4568" y="888"/>
                <a:ext cx="72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5" name="Line 2083"/>
              <p:cNvSpPr>
                <a:spLocks noChangeShapeType="1"/>
              </p:cNvSpPr>
              <p:nvPr/>
            </p:nvSpPr>
            <p:spPr bwMode="auto">
              <a:xfrm>
                <a:off x="4056" y="696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6" name="Line 2084"/>
              <p:cNvSpPr>
                <a:spLocks noChangeShapeType="1"/>
              </p:cNvSpPr>
              <p:nvPr/>
            </p:nvSpPr>
            <p:spPr bwMode="auto">
              <a:xfrm>
                <a:off x="4472" y="704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7" name="Line 2085"/>
              <p:cNvSpPr>
                <a:spLocks noChangeShapeType="1"/>
              </p:cNvSpPr>
              <p:nvPr/>
            </p:nvSpPr>
            <p:spPr bwMode="auto">
              <a:xfrm>
                <a:off x="4000" y="896"/>
                <a:ext cx="0" cy="64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8" name="Line 2086"/>
              <p:cNvSpPr>
                <a:spLocks noChangeShapeType="1"/>
              </p:cNvSpPr>
              <p:nvPr/>
            </p:nvSpPr>
            <p:spPr bwMode="auto">
              <a:xfrm>
                <a:off x="4632" y="888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9" name="Line 2087"/>
              <p:cNvSpPr>
                <a:spLocks noChangeShapeType="1"/>
              </p:cNvSpPr>
              <p:nvPr/>
            </p:nvSpPr>
            <p:spPr bwMode="auto">
              <a:xfrm>
                <a:off x="4064" y="696"/>
                <a:ext cx="0" cy="20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60" name="Line 2088"/>
              <p:cNvSpPr>
                <a:spLocks noChangeShapeType="1"/>
              </p:cNvSpPr>
              <p:nvPr/>
            </p:nvSpPr>
            <p:spPr bwMode="auto">
              <a:xfrm>
                <a:off x="4568" y="696"/>
                <a:ext cx="0" cy="20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61" name="Line 2089"/>
              <p:cNvSpPr>
                <a:spLocks noChangeShapeType="1"/>
              </p:cNvSpPr>
              <p:nvPr/>
            </p:nvSpPr>
            <p:spPr bwMode="auto">
              <a:xfrm>
                <a:off x="4160" y="640"/>
                <a:ext cx="0" cy="5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62" name="Line 2090"/>
              <p:cNvSpPr>
                <a:spLocks noChangeShapeType="1"/>
              </p:cNvSpPr>
              <p:nvPr/>
            </p:nvSpPr>
            <p:spPr bwMode="auto">
              <a:xfrm>
                <a:off x="4472" y="640"/>
                <a:ext cx="0" cy="64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8950" name="Line 2091"/>
            <p:cNvSpPr>
              <a:spLocks noChangeShapeType="1"/>
            </p:cNvSpPr>
            <p:nvPr/>
          </p:nvSpPr>
          <p:spPr bwMode="auto">
            <a:xfrm flipV="1">
              <a:off x="4320" y="576"/>
              <a:ext cx="0" cy="3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4972" name="Group 2092"/>
          <p:cNvGrpSpPr/>
          <p:nvPr/>
        </p:nvGrpSpPr>
        <p:grpSpPr bwMode="auto">
          <a:xfrm>
            <a:off x="2743200" y="933450"/>
            <a:ext cx="2190750" cy="946150"/>
            <a:chOff x="1728" y="588"/>
            <a:chExt cx="1380" cy="596"/>
          </a:xfrm>
        </p:grpSpPr>
        <p:sp>
          <p:nvSpPr>
            <p:cNvPr id="38926" name="Line 2093"/>
            <p:cNvSpPr>
              <a:spLocks noChangeShapeType="1"/>
            </p:cNvSpPr>
            <p:nvPr/>
          </p:nvSpPr>
          <p:spPr bwMode="auto">
            <a:xfrm flipV="1">
              <a:off x="1728" y="776"/>
              <a:ext cx="0" cy="3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7" name="Line 2094"/>
            <p:cNvSpPr>
              <a:spLocks noChangeShapeType="1"/>
            </p:cNvSpPr>
            <p:nvPr/>
          </p:nvSpPr>
          <p:spPr bwMode="auto">
            <a:xfrm>
              <a:off x="1728" y="780"/>
              <a:ext cx="38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8" name="Line 2095"/>
            <p:cNvSpPr>
              <a:spLocks noChangeShapeType="1"/>
            </p:cNvSpPr>
            <p:nvPr/>
          </p:nvSpPr>
          <p:spPr bwMode="auto">
            <a:xfrm>
              <a:off x="2728" y="780"/>
              <a:ext cx="37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9" name="Line 2096"/>
            <p:cNvSpPr>
              <a:spLocks noChangeShapeType="1"/>
            </p:cNvSpPr>
            <p:nvPr/>
          </p:nvSpPr>
          <p:spPr bwMode="auto">
            <a:xfrm flipV="1">
              <a:off x="3104" y="776"/>
              <a:ext cx="0" cy="3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0" name="Line 2097"/>
            <p:cNvSpPr>
              <a:spLocks noChangeShapeType="1"/>
            </p:cNvSpPr>
            <p:nvPr/>
          </p:nvSpPr>
          <p:spPr bwMode="auto">
            <a:xfrm>
              <a:off x="1728" y="1112"/>
              <a:ext cx="30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1" name="Line 2098"/>
            <p:cNvSpPr>
              <a:spLocks noChangeShapeType="1"/>
            </p:cNvSpPr>
            <p:nvPr/>
          </p:nvSpPr>
          <p:spPr bwMode="auto">
            <a:xfrm>
              <a:off x="2796" y="1112"/>
              <a:ext cx="31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2" name="Line 2099"/>
            <p:cNvSpPr>
              <a:spLocks noChangeShapeType="1"/>
            </p:cNvSpPr>
            <p:nvPr/>
          </p:nvSpPr>
          <p:spPr bwMode="auto">
            <a:xfrm>
              <a:off x="2032" y="1112"/>
              <a:ext cx="0" cy="6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3" name="Line 2100"/>
            <p:cNvSpPr>
              <a:spLocks noChangeShapeType="1"/>
            </p:cNvSpPr>
            <p:nvPr/>
          </p:nvSpPr>
          <p:spPr bwMode="auto">
            <a:xfrm>
              <a:off x="2800" y="1120"/>
              <a:ext cx="0" cy="6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4" name="Line 2101"/>
            <p:cNvSpPr>
              <a:spLocks noChangeShapeType="1"/>
            </p:cNvSpPr>
            <p:nvPr/>
          </p:nvSpPr>
          <p:spPr bwMode="auto">
            <a:xfrm>
              <a:off x="2032" y="1176"/>
              <a:ext cx="8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5" name="Line 2102"/>
            <p:cNvSpPr>
              <a:spLocks noChangeShapeType="1"/>
            </p:cNvSpPr>
            <p:nvPr/>
          </p:nvSpPr>
          <p:spPr bwMode="auto">
            <a:xfrm>
              <a:off x="2680" y="1184"/>
              <a:ext cx="12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6" name="Line 2103"/>
            <p:cNvSpPr>
              <a:spLocks noChangeShapeType="1"/>
            </p:cNvSpPr>
            <p:nvPr/>
          </p:nvSpPr>
          <p:spPr bwMode="auto">
            <a:xfrm>
              <a:off x="2256" y="640"/>
              <a:ext cx="32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7" name="Line 2104"/>
            <p:cNvSpPr>
              <a:spLocks noChangeShapeType="1"/>
            </p:cNvSpPr>
            <p:nvPr/>
          </p:nvSpPr>
          <p:spPr bwMode="auto">
            <a:xfrm flipV="1">
              <a:off x="2256" y="636"/>
              <a:ext cx="0" cy="6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8" name="Line 2105"/>
            <p:cNvSpPr>
              <a:spLocks noChangeShapeType="1"/>
            </p:cNvSpPr>
            <p:nvPr/>
          </p:nvSpPr>
          <p:spPr bwMode="auto">
            <a:xfrm flipV="1">
              <a:off x="2576" y="640"/>
              <a:ext cx="0" cy="6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9" name="Line 2106"/>
            <p:cNvSpPr>
              <a:spLocks noChangeShapeType="1"/>
            </p:cNvSpPr>
            <p:nvPr/>
          </p:nvSpPr>
          <p:spPr bwMode="auto">
            <a:xfrm flipV="1">
              <a:off x="1960" y="776"/>
              <a:ext cx="0" cy="3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0" name="Arc 2107"/>
            <p:cNvSpPr/>
            <p:nvPr/>
          </p:nvSpPr>
          <p:spPr bwMode="auto">
            <a:xfrm rot="10800000" flipH="1" flipV="1">
              <a:off x="2409" y="960"/>
              <a:ext cx="271" cy="216"/>
            </a:xfrm>
            <a:custGeom>
              <a:avLst/>
              <a:gdLst>
                <a:gd name="T0" fmla="*/ 0 w 22211"/>
                <a:gd name="T1" fmla="*/ 0 h 21600"/>
                <a:gd name="T2" fmla="*/ 3 w 22211"/>
                <a:gd name="T3" fmla="*/ 2 h 21600"/>
                <a:gd name="T4" fmla="*/ 0 w 22211"/>
                <a:gd name="T5" fmla="*/ 2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211" h="21600" fill="none" extrusionOk="0">
                  <a:moveTo>
                    <a:pt x="-1" y="8"/>
                  </a:moveTo>
                  <a:cubicBezTo>
                    <a:pt x="203" y="2"/>
                    <a:pt x="407" y="0"/>
                    <a:pt x="611" y="0"/>
                  </a:cubicBezTo>
                  <a:cubicBezTo>
                    <a:pt x="12540" y="0"/>
                    <a:pt x="22211" y="9670"/>
                    <a:pt x="22211" y="21600"/>
                  </a:cubicBezTo>
                </a:path>
                <a:path w="22211" h="21600" stroke="0" extrusionOk="0">
                  <a:moveTo>
                    <a:pt x="-1" y="8"/>
                  </a:moveTo>
                  <a:cubicBezTo>
                    <a:pt x="203" y="2"/>
                    <a:pt x="407" y="0"/>
                    <a:pt x="611" y="0"/>
                  </a:cubicBezTo>
                  <a:cubicBezTo>
                    <a:pt x="12540" y="0"/>
                    <a:pt x="22211" y="9670"/>
                    <a:pt x="22211" y="21600"/>
                  </a:cubicBezTo>
                  <a:lnTo>
                    <a:pt x="611" y="21600"/>
                  </a:lnTo>
                  <a:lnTo>
                    <a:pt x="-1" y="8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1" name="Arc 2108"/>
            <p:cNvSpPr/>
            <p:nvPr/>
          </p:nvSpPr>
          <p:spPr bwMode="auto">
            <a:xfrm flipH="1">
              <a:off x="2088" y="888"/>
              <a:ext cx="321" cy="296"/>
            </a:xfrm>
            <a:custGeom>
              <a:avLst/>
              <a:gdLst>
                <a:gd name="T0" fmla="*/ 0 w 21600"/>
                <a:gd name="T1" fmla="*/ 0 h 21600"/>
                <a:gd name="T2" fmla="*/ 5 w 21600"/>
                <a:gd name="T3" fmla="*/ 4 h 21600"/>
                <a:gd name="T4" fmla="*/ 0 w 21600"/>
                <a:gd name="T5" fmla="*/ 4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2" name="Arc 2109"/>
            <p:cNvSpPr/>
            <p:nvPr/>
          </p:nvSpPr>
          <p:spPr bwMode="auto">
            <a:xfrm flipH="1">
              <a:off x="2106" y="678"/>
              <a:ext cx="343" cy="187"/>
            </a:xfrm>
            <a:custGeom>
              <a:avLst/>
              <a:gdLst>
                <a:gd name="T0" fmla="*/ 1 w 19209"/>
                <a:gd name="T1" fmla="*/ 0 h 21485"/>
                <a:gd name="T2" fmla="*/ 6 w 19209"/>
                <a:gd name="T3" fmla="*/ 1 h 21485"/>
                <a:gd name="T4" fmla="*/ 0 w 19209"/>
                <a:gd name="T5" fmla="*/ 2 h 214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09" h="21485" fill="none" extrusionOk="0">
                  <a:moveTo>
                    <a:pt x="2227" y="0"/>
                  </a:moveTo>
                  <a:cubicBezTo>
                    <a:pt x="9485" y="752"/>
                    <a:pt x="15872" y="5118"/>
                    <a:pt x="19208" y="11607"/>
                  </a:cubicBezTo>
                </a:path>
                <a:path w="19209" h="21485" stroke="0" extrusionOk="0">
                  <a:moveTo>
                    <a:pt x="2227" y="0"/>
                  </a:moveTo>
                  <a:cubicBezTo>
                    <a:pt x="9485" y="752"/>
                    <a:pt x="15872" y="5118"/>
                    <a:pt x="19208" y="11607"/>
                  </a:cubicBezTo>
                  <a:lnTo>
                    <a:pt x="0" y="21485"/>
                  </a:lnTo>
                  <a:lnTo>
                    <a:pt x="2227" y="0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3" name="Arc 2110"/>
            <p:cNvSpPr/>
            <p:nvPr/>
          </p:nvSpPr>
          <p:spPr bwMode="auto">
            <a:xfrm rot="56056">
              <a:off x="2460" y="700"/>
              <a:ext cx="270" cy="231"/>
            </a:xfrm>
            <a:custGeom>
              <a:avLst/>
              <a:gdLst>
                <a:gd name="T0" fmla="*/ 2 w 16747"/>
                <a:gd name="T1" fmla="*/ 0 h 20476"/>
                <a:gd name="T2" fmla="*/ 4 w 16747"/>
                <a:gd name="T3" fmla="*/ 1 h 20476"/>
                <a:gd name="T4" fmla="*/ 0 w 16747"/>
                <a:gd name="T5" fmla="*/ 3 h 204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747" h="20476" fill="none" extrusionOk="0">
                  <a:moveTo>
                    <a:pt x="6877" y="-1"/>
                  </a:moveTo>
                  <a:cubicBezTo>
                    <a:pt x="10746" y="1299"/>
                    <a:pt x="14168" y="3669"/>
                    <a:pt x="16746" y="6834"/>
                  </a:cubicBezTo>
                </a:path>
                <a:path w="16747" h="20476" stroke="0" extrusionOk="0">
                  <a:moveTo>
                    <a:pt x="6877" y="-1"/>
                  </a:moveTo>
                  <a:cubicBezTo>
                    <a:pt x="10746" y="1299"/>
                    <a:pt x="14168" y="3669"/>
                    <a:pt x="16746" y="6834"/>
                  </a:cubicBezTo>
                  <a:lnTo>
                    <a:pt x="0" y="20476"/>
                  </a:lnTo>
                  <a:lnTo>
                    <a:pt x="6877" y="-1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4" name="Arc 2111"/>
            <p:cNvSpPr/>
            <p:nvPr/>
          </p:nvSpPr>
          <p:spPr bwMode="auto">
            <a:xfrm rot="21330733" flipH="1">
              <a:off x="2114" y="930"/>
              <a:ext cx="332" cy="254"/>
            </a:xfrm>
            <a:custGeom>
              <a:avLst/>
              <a:gdLst>
                <a:gd name="T0" fmla="*/ 0 w 21564"/>
                <a:gd name="T1" fmla="*/ 0 h 21580"/>
                <a:gd name="T2" fmla="*/ 5 w 21564"/>
                <a:gd name="T3" fmla="*/ 3 h 21580"/>
                <a:gd name="T4" fmla="*/ 0 w 21564"/>
                <a:gd name="T5" fmla="*/ 3 h 215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64" h="21580" fill="none" extrusionOk="0">
                  <a:moveTo>
                    <a:pt x="938" y="0"/>
                  </a:moveTo>
                  <a:cubicBezTo>
                    <a:pt x="12012" y="482"/>
                    <a:pt x="20924" y="9268"/>
                    <a:pt x="21564" y="20333"/>
                  </a:cubicBezTo>
                </a:path>
                <a:path w="21564" h="21580" stroke="0" extrusionOk="0">
                  <a:moveTo>
                    <a:pt x="938" y="0"/>
                  </a:moveTo>
                  <a:cubicBezTo>
                    <a:pt x="12012" y="482"/>
                    <a:pt x="20924" y="9268"/>
                    <a:pt x="21564" y="20333"/>
                  </a:cubicBezTo>
                  <a:lnTo>
                    <a:pt x="0" y="21580"/>
                  </a:lnTo>
                  <a:lnTo>
                    <a:pt x="938" y="0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5" name="Line 2112"/>
            <p:cNvSpPr>
              <a:spLocks noChangeShapeType="1"/>
            </p:cNvSpPr>
            <p:nvPr/>
          </p:nvSpPr>
          <p:spPr bwMode="auto">
            <a:xfrm flipV="1">
              <a:off x="2412" y="588"/>
              <a:ext cx="0" cy="2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6" name="Line 2113"/>
            <p:cNvSpPr>
              <a:spLocks noChangeShapeType="1"/>
            </p:cNvSpPr>
            <p:nvPr/>
          </p:nvSpPr>
          <p:spPr bwMode="auto">
            <a:xfrm flipV="1">
              <a:off x="2904" y="696"/>
              <a:ext cx="0" cy="34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7" name="Line 2114"/>
            <p:cNvSpPr>
              <a:spLocks noChangeShapeType="1"/>
            </p:cNvSpPr>
            <p:nvPr/>
          </p:nvSpPr>
          <p:spPr bwMode="auto">
            <a:xfrm flipV="1">
              <a:off x="1920" y="684"/>
              <a:ext cx="0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8" name="Line 2115"/>
            <p:cNvSpPr>
              <a:spLocks noChangeShapeType="1"/>
            </p:cNvSpPr>
            <p:nvPr/>
          </p:nvSpPr>
          <p:spPr bwMode="auto">
            <a:xfrm flipV="1">
              <a:off x="1920" y="936"/>
              <a:ext cx="0" cy="4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38924" name="Picture 2116" descr="10-14b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09" t="29518" r="26724" b="14458"/>
          <a:stretch>
            <a:fillRect/>
          </a:stretch>
        </p:blipFill>
        <p:spPr bwMode="auto">
          <a:xfrm>
            <a:off x="5661025" y="3671888"/>
            <a:ext cx="3187700" cy="193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4997" name="Picture 2117" descr="10-13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62" t="21085" r="24138" b="12048"/>
          <a:stretch>
            <a:fillRect/>
          </a:stretch>
        </p:blipFill>
        <p:spPr bwMode="auto">
          <a:xfrm>
            <a:off x="5608638" y="3441700"/>
            <a:ext cx="323532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12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124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24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6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2"/>
          <p:cNvGrpSpPr/>
          <p:nvPr/>
        </p:nvGrpSpPr>
        <p:grpSpPr bwMode="auto">
          <a:xfrm>
            <a:off x="1443038" y="495300"/>
            <a:ext cx="7019925" cy="4819650"/>
            <a:chOff x="993" y="138"/>
            <a:chExt cx="4422" cy="3036"/>
          </a:xfrm>
        </p:grpSpPr>
        <p:sp>
          <p:nvSpPr>
            <p:cNvPr id="40055" name="Rectangle 3"/>
            <p:cNvSpPr>
              <a:spLocks noChangeArrowheads="1"/>
            </p:cNvSpPr>
            <p:nvPr/>
          </p:nvSpPr>
          <p:spPr bwMode="auto">
            <a:xfrm>
              <a:off x="993" y="138"/>
              <a:ext cx="4422" cy="30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grpSp>
          <p:nvGrpSpPr>
            <p:cNvPr id="40056" name="Group 4"/>
            <p:cNvGrpSpPr/>
            <p:nvPr/>
          </p:nvGrpSpPr>
          <p:grpSpPr bwMode="auto">
            <a:xfrm>
              <a:off x="1054" y="199"/>
              <a:ext cx="4300" cy="2914"/>
              <a:chOff x="360" y="372"/>
              <a:chExt cx="5064" cy="3432"/>
            </a:xfrm>
          </p:grpSpPr>
          <p:sp>
            <p:nvSpPr>
              <p:cNvPr id="40057" name="Rectangle 5"/>
              <p:cNvSpPr>
                <a:spLocks noChangeArrowheads="1"/>
              </p:cNvSpPr>
              <p:nvPr/>
            </p:nvSpPr>
            <p:spPr bwMode="auto">
              <a:xfrm>
                <a:off x="360" y="372"/>
                <a:ext cx="5064" cy="34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40058" name="Rectangle 6"/>
              <p:cNvSpPr>
                <a:spLocks noChangeArrowheads="1"/>
              </p:cNvSpPr>
              <p:nvPr/>
            </p:nvSpPr>
            <p:spPr bwMode="auto">
              <a:xfrm>
                <a:off x="3624" y="2604"/>
                <a:ext cx="1800" cy="12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40059" name="Line 7"/>
              <p:cNvSpPr>
                <a:spLocks noChangeShapeType="1"/>
              </p:cNvSpPr>
              <p:nvPr/>
            </p:nvSpPr>
            <p:spPr bwMode="auto">
              <a:xfrm>
                <a:off x="3624" y="3348"/>
                <a:ext cx="18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39939" name="Picture 8" descr="10-13c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963613"/>
            <a:ext cx="5457825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93" name="Text Box 9"/>
          <p:cNvSpPr txBox="1">
            <a:spLocks noChangeArrowheads="1"/>
          </p:cNvSpPr>
          <p:nvPr/>
        </p:nvSpPr>
        <p:spPr bwMode="auto">
          <a:xfrm>
            <a:off x="1273175" y="5638800"/>
            <a:ext cx="4264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latin typeface="宋体" panose="02010600030101010101" pitchFamily="2" charset="-122"/>
              </a:rPr>
              <a:t>画销套、螺柱连接等。</a:t>
            </a:r>
            <a:endParaRPr lang="zh-CN" altLang="en-US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39941" name="Text Box 10"/>
          <p:cNvSpPr txBox="1">
            <a:spLocks noChangeArrowheads="1"/>
          </p:cNvSpPr>
          <p:nvPr/>
        </p:nvSpPr>
        <p:spPr bwMode="auto">
          <a:xfrm>
            <a:off x="465138" y="346075"/>
            <a:ext cx="703262" cy="534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⒋ 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画其它装配线及细部结构</a:t>
            </a:r>
            <a:endParaRPr lang="zh-CN" altLang="en-US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44395" name="Group 11"/>
          <p:cNvGrpSpPr/>
          <p:nvPr/>
        </p:nvGrpSpPr>
        <p:grpSpPr bwMode="auto">
          <a:xfrm>
            <a:off x="2803525" y="742950"/>
            <a:ext cx="2479675" cy="1974850"/>
            <a:chOff x="1766" y="468"/>
            <a:chExt cx="1562" cy="1244"/>
          </a:xfrm>
        </p:grpSpPr>
        <p:sp>
          <p:nvSpPr>
            <p:cNvPr id="40010" name="Line 12"/>
            <p:cNvSpPr>
              <a:spLocks noChangeShapeType="1"/>
            </p:cNvSpPr>
            <p:nvPr/>
          </p:nvSpPr>
          <p:spPr bwMode="auto">
            <a:xfrm>
              <a:off x="1784" y="655"/>
              <a:ext cx="28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11" name="Rectangle 13"/>
            <p:cNvSpPr>
              <a:spLocks noChangeArrowheads="1"/>
            </p:cNvSpPr>
            <p:nvPr/>
          </p:nvSpPr>
          <p:spPr bwMode="auto">
            <a:xfrm>
              <a:off x="1784" y="561"/>
              <a:ext cx="282" cy="187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40012" name="Rectangle 14"/>
            <p:cNvSpPr>
              <a:spLocks noChangeArrowheads="1"/>
            </p:cNvSpPr>
            <p:nvPr/>
          </p:nvSpPr>
          <p:spPr bwMode="auto">
            <a:xfrm>
              <a:off x="1766" y="747"/>
              <a:ext cx="318" cy="33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40013" name="Rectangle 15"/>
            <p:cNvSpPr>
              <a:spLocks noChangeArrowheads="1"/>
            </p:cNvSpPr>
            <p:nvPr/>
          </p:nvSpPr>
          <p:spPr bwMode="auto">
            <a:xfrm>
              <a:off x="1856" y="532"/>
              <a:ext cx="138" cy="215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40014" name="Line 16"/>
            <p:cNvSpPr>
              <a:spLocks noChangeShapeType="1"/>
            </p:cNvSpPr>
            <p:nvPr/>
          </p:nvSpPr>
          <p:spPr bwMode="auto">
            <a:xfrm flipV="1">
              <a:off x="1880" y="532"/>
              <a:ext cx="0" cy="3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15" name="Line 17"/>
            <p:cNvSpPr>
              <a:spLocks noChangeShapeType="1"/>
            </p:cNvSpPr>
            <p:nvPr/>
          </p:nvSpPr>
          <p:spPr bwMode="auto">
            <a:xfrm>
              <a:off x="2860" y="534"/>
              <a:ext cx="0" cy="3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16" name="Rectangle 18"/>
            <p:cNvSpPr>
              <a:spLocks noChangeArrowheads="1"/>
            </p:cNvSpPr>
            <p:nvPr/>
          </p:nvSpPr>
          <p:spPr bwMode="auto">
            <a:xfrm>
              <a:off x="2838" y="782"/>
              <a:ext cx="138" cy="574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40017" name="Line 19"/>
            <p:cNvSpPr>
              <a:spLocks noChangeShapeType="1"/>
            </p:cNvSpPr>
            <p:nvPr/>
          </p:nvSpPr>
          <p:spPr bwMode="auto">
            <a:xfrm>
              <a:off x="2838" y="870"/>
              <a:ext cx="14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18" name="Line 20"/>
            <p:cNvSpPr>
              <a:spLocks noChangeShapeType="1"/>
            </p:cNvSpPr>
            <p:nvPr/>
          </p:nvSpPr>
          <p:spPr bwMode="auto">
            <a:xfrm>
              <a:off x="2838" y="1152"/>
              <a:ext cx="13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19" name="Line 21"/>
            <p:cNvSpPr>
              <a:spLocks noChangeShapeType="1"/>
            </p:cNvSpPr>
            <p:nvPr/>
          </p:nvSpPr>
          <p:spPr bwMode="auto">
            <a:xfrm>
              <a:off x="2856" y="1356"/>
              <a:ext cx="0" cy="8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20" name="Line 22"/>
            <p:cNvSpPr>
              <a:spLocks noChangeShapeType="1"/>
            </p:cNvSpPr>
            <p:nvPr/>
          </p:nvSpPr>
          <p:spPr bwMode="auto">
            <a:xfrm>
              <a:off x="2952" y="1362"/>
              <a:ext cx="0" cy="7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21" name="Line 23"/>
            <p:cNvSpPr>
              <a:spLocks noChangeShapeType="1"/>
            </p:cNvSpPr>
            <p:nvPr/>
          </p:nvSpPr>
          <p:spPr bwMode="auto">
            <a:xfrm>
              <a:off x="2834" y="1440"/>
              <a:ext cx="14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22" name="Line 24"/>
            <p:cNvSpPr>
              <a:spLocks noChangeShapeType="1"/>
            </p:cNvSpPr>
            <p:nvPr/>
          </p:nvSpPr>
          <p:spPr bwMode="auto">
            <a:xfrm flipV="1">
              <a:off x="2910" y="1440"/>
              <a:ext cx="42" cy="3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23" name="Line 25"/>
            <p:cNvSpPr>
              <a:spLocks noChangeShapeType="1"/>
            </p:cNvSpPr>
            <p:nvPr/>
          </p:nvSpPr>
          <p:spPr bwMode="auto">
            <a:xfrm flipH="1" flipV="1">
              <a:off x="2860" y="1446"/>
              <a:ext cx="54" cy="3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24" name="Line 26"/>
            <p:cNvSpPr>
              <a:spLocks noChangeShapeType="1"/>
            </p:cNvSpPr>
            <p:nvPr/>
          </p:nvSpPr>
          <p:spPr bwMode="auto">
            <a:xfrm>
              <a:off x="1856" y="1116"/>
              <a:ext cx="0" cy="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25" name="Line 27"/>
            <p:cNvSpPr>
              <a:spLocks noChangeShapeType="1"/>
            </p:cNvSpPr>
            <p:nvPr/>
          </p:nvSpPr>
          <p:spPr bwMode="auto">
            <a:xfrm>
              <a:off x="2496" y="642"/>
              <a:ext cx="0" cy="16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26" name="Line 28"/>
            <p:cNvSpPr>
              <a:spLocks noChangeShapeType="1"/>
            </p:cNvSpPr>
            <p:nvPr/>
          </p:nvSpPr>
          <p:spPr bwMode="auto">
            <a:xfrm>
              <a:off x="2456" y="816"/>
              <a:ext cx="0" cy="16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27" name="Line 29"/>
            <p:cNvSpPr>
              <a:spLocks noChangeShapeType="1"/>
            </p:cNvSpPr>
            <p:nvPr/>
          </p:nvSpPr>
          <p:spPr bwMode="auto">
            <a:xfrm>
              <a:off x="2424" y="812"/>
              <a:ext cx="9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28" name="Arc 30"/>
            <p:cNvSpPr/>
            <p:nvPr/>
          </p:nvSpPr>
          <p:spPr bwMode="auto">
            <a:xfrm rot="10304540" flipH="1" flipV="1">
              <a:off x="2424" y="974"/>
              <a:ext cx="54" cy="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29" name="Line 31"/>
            <p:cNvSpPr>
              <a:spLocks noChangeShapeType="1"/>
            </p:cNvSpPr>
            <p:nvPr/>
          </p:nvSpPr>
          <p:spPr bwMode="auto">
            <a:xfrm flipH="1">
              <a:off x="2424" y="974"/>
              <a:ext cx="5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30" name="Freeform 32"/>
            <p:cNvSpPr/>
            <p:nvPr/>
          </p:nvSpPr>
          <p:spPr bwMode="auto">
            <a:xfrm>
              <a:off x="2620" y="1188"/>
              <a:ext cx="35" cy="69"/>
            </a:xfrm>
            <a:custGeom>
              <a:avLst/>
              <a:gdLst>
                <a:gd name="T0" fmla="*/ 2 w 35"/>
                <a:gd name="T1" fmla="*/ 69 h 69"/>
                <a:gd name="T2" fmla="*/ 26 w 35"/>
                <a:gd name="T3" fmla="*/ 57 h 69"/>
                <a:gd name="T4" fmla="*/ 35 w 35"/>
                <a:gd name="T5" fmla="*/ 36 h 69"/>
                <a:gd name="T6" fmla="*/ 28 w 35"/>
                <a:gd name="T7" fmla="*/ 12 h 69"/>
                <a:gd name="T8" fmla="*/ 0 w 35"/>
                <a:gd name="T9" fmla="*/ 0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69">
                  <a:moveTo>
                    <a:pt x="2" y="69"/>
                  </a:moveTo>
                  <a:cubicBezTo>
                    <a:pt x="23" y="57"/>
                    <a:pt x="23" y="67"/>
                    <a:pt x="26" y="57"/>
                  </a:cubicBezTo>
                  <a:lnTo>
                    <a:pt x="35" y="36"/>
                  </a:lnTo>
                  <a:lnTo>
                    <a:pt x="28" y="12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31" name="Rectangle 33"/>
            <p:cNvSpPr>
              <a:spLocks noChangeArrowheads="1"/>
            </p:cNvSpPr>
            <p:nvPr/>
          </p:nvSpPr>
          <p:spPr bwMode="auto">
            <a:xfrm>
              <a:off x="2752" y="748"/>
              <a:ext cx="312" cy="33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40032" name="Rectangle 34"/>
            <p:cNvSpPr>
              <a:spLocks noChangeArrowheads="1"/>
            </p:cNvSpPr>
            <p:nvPr/>
          </p:nvSpPr>
          <p:spPr bwMode="auto">
            <a:xfrm>
              <a:off x="2768" y="562"/>
              <a:ext cx="280" cy="186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40033" name="Rectangle 35"/>
            <p:cNvSpPr>
              <a:spLocks noChangeArrowheads="1"/>
            </p:cNvSpPr>
            <p:nvPr/>
          </p:nvSpPr>
          <p:spPr bwMode="auto">
            <a:xfrm>
              <a:off x="2838" y="532"/>
              <a:ext cx="140" cy="215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40034" name="Line 36"/>
            <p:cNvSpPr>
              <a:spLocks noChangeShapeType="1"/>
            </p:cNvSpPr>
            <p:nvPr/>
          </p:nvSpPr>
          <p:spPr bwMode="auto">
            <a:xfrm>
              <a:off x="2776" y="655"/>
              <a:ext cx="27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35" name="Line 37"/>
            <p:cNvSpPr>
              <a:spLocks noChangeShapeType="1"/>
            </p:cNvSpPr>
            <p:nvPr/>
          </p:nvSpPr>
          <p:spPr bwMode="auto">
            <a:xfrm>
              <a:off x="2820" y="784"/>
              <a:ext cx="0" cy="33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36" name="Line 38"/>
            <p:cNvSpPr>
              <a:spLocks noChangeShapeType="1"/>
            </p:cNvSpPr>
            <p:nvPr/>
          </p:nvSpPr>
          <p:spPr bwMode="auto">
            <a:xfrm>
              <a:off x="2996" y="780"/>
              <a:ext cx="0" cy="33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37" name="Line 39"/>
            <p:cNvSpPr>
              <a:spLocks noChangeShapeType="1"/>
            </p:cNvSpPr>
            <p:nvPr/>
          </p:nvSpPr>
          <p:spPr bwMode="auto">
            <a:xfrm>
              <a:off x="2516" y="642"/>
              <a:ext cx="0" cy="17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38" name="Line 40"/>
            <p:cNvSpPr>
              <a:spLocks noChangeShapeType="1"/>
            </p:cNvSpPr>
            <p:nvPr/>
          </p:nvSpPr>
          <p:spPr bwMode="auto">
            <a:xfrm>
              <a:off x="2480" y="816"/>
              <a:ext cx="0" cy="1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39" name="Line 41"/>
            <p:cNvSpPr>
              <a:spLocks noChangeShapeType="1"/>
            </p:cNvSpPr>
            <p:nvPr/>
          </p:nvSpPr>
          <p:spPr bwMode="auto">
            <a:xfrm flipV="1">
              <a:off x="1972" y="532"/>
              <a:ext cx="0" cy="3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0" name="Line 42"/>
            <p:cNvSpPr>
              <a:spLocks noChangeShapeType="1"/>
            </p:cNvSpPr>
            <p:nvPr/>
          </p:nvSpPr>
          <p:spPr bwMode="auto">
            <a:xfrm>
              <a:off x="1992" y="1112"/>
              <a:ext cx="0" cy="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1" name="Line 43"/>
            <p:cNvSpPr>
              <a:spLocks noChangeShapeType="1"/>
            </p:cNvSpPr>
            <p:nvPr/>
          </p:nvSpPr>
          <p:spPr bwMode="auto">
            <a:xfrm>
              <a:off x="2712" y="1184"/>
              <a:ext cx="0" cy="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2" name="Line 44"/>
            <p:cNvSpPr>
              <a:spLocks noChangeShapeType="1"/>
            </p:cNvSpPr>
            <p:nvPr/>
          </p:nvSpPr>
          <p:spPr bwMode="auto">
            <a:xfrm>
              <a:off x="2958" y="526"/>
              <a:ext cx="0" cy="4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3" name="Line 45"/>
            <p:cNvSpPr>
              <a:spLocks noChangeShapeType="1"/>
            </p:cNvSpPr>
            <p:nvPr/>
          </p:nvSpPr>
          <p:spPr bwMode="auto">
            <a:xfrm>
              <a:off x="2864" y="784"/>
              <a:ext cx="0" cy="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4" name="Line 46"/>
            <p:cNvSpPr>
              <a:spLocks noChangeShapeType="1"/>
            </p:cNvSpPr>
            <p:nvPr/>
          </p:nvSpPr>
          <p:spPr bwMode="auto">
            <a:xfrm>
              <a:off x="2952" y="785"/>
              <a:ext cx="0" cy="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5" name="Line 47"/>
            <p:cNvSpPr>
              <a:spLocks noChangeShapeType="1"/>
            </p:cNvSpPr>
            <p:nvPr/>
          </p:nvSpPr>
          <p:spPr bwMode="auto">
            <a:xfrm>
              <a:off x="2860" y="1152"/>
              <a:ext cx="0" cy="20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6" name="Line 48"/>
            <p:cNvSpPr>
              <a:spLocks noChangeShapeType="1"/>
            </p:cNvSpPr>
            <p:nvPr/>
          </p:nvSpPr>
          <p:spPr bwMode="auto">
            <a:xfrm flipV="1">
              <a:off x="2952" y="1152"/>
              <a:ext cx="0" cy="20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7" name="Line 49"/>
            <p:cNvSpPr>
              <a:spLocks noChangeShapeType="1"/>
            </p:cNvSpPr>
            <p:nvPr/>
          </p:nvSpPr>
          <p:spPr bwMode="auto">
            <a:xfrm flipV="1">
              <a:off x="2840" y="1356"/>
              <a:ext cx="0" cy="8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8" name="Line 50"/>
            <p:cNvSpPr>
              <a:spLocks noChangeShapeType="1"/>
            </p:cNvSpPr>
            <p:nvPr/>
          </p:nvSpPr>
          <p:spPr bwMode="auto">
            <a:xfrm flipV="1">
              <a:off x="2976" y="1352"/>
              <a:ext cx="0" cy="8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9" name="Line 51"/>
            <p:cNvSpPr>
              <a:spLocks noChangeShapeType="1"/>
            </p:cNvSpPr>
            <p:nvPr/>
          </p:nvSpPr>
          <p:spPr bwMode="auto">
            <a:xfrm flipV="1">
              <a:off x="3168" y="1500"/>
              <a:ext cx="0" cy="20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0" name="Line 52"/>
            <p:cNvSpPr>
              <a:spLocks noChangeShapeType="1"/>
            </p:cNvSpPr>
            <p:nvPr/>
          </p:nvSpPr>
          <p:spPr bwMode="auto">
            <a:xfrm flipV="1">
              <a:off x="3328" y="1500"/>
              <a:ext cx="0" cy="21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1" name="Line 53"/>
            <p:cNvSpPr>
              <a:spLocks noChangeShapeType="1"/>
            </p:cNvSpPr>
            <p:nvPr/>
          </p:nvSpPr>
          <p:spPr bwMode="auto">
            <a:xfrm flipV="1">
              <a:off x="1924" y="492"/>
              <a:ext cx="0" cy="16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2" name="Line 54"/>
            <p:cNvSpPr>
              <a:spLocks noChangeShapeType="1"/>
            </p:cNvSpPr>
            <p:nvPr/>
          </p:nvSpPr>
          <p:spPr bwMode="auto">
            <a:xfrm flipV="1">
              <a:off x="1924" y="684"/>
              <a:ext cx="0" cy="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3" name="Line 55"/>
            <p:cNvSpPr>
              <a:spLocks noChangeShapeType="1"/>
            </p:cNvSpPr>
            <p:nvPr/>
          </p:nvSpPr>
          <p:spPr bwMode="auto">
            <a:xfrm flipV="1">
              <a:off x="2910" y="672"/>
              <a:ext cx="0" cy="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54" name="Line 56"/>
            <p:cNvSpPr>
              <a:spLocks noChangeShapeType="1"/>
            </p:cNvSpPr>
            <p:nvPr/>
          </p:nvSpPr>
          <p:spPr bwMode="auto">
            <a:xfrm flipV="1">
              <a:off x="2910" y="468"/>
              <a:ext cx="0" cy="16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39943" name="Picture 57" descr="10-13c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3317875"/>
            <a:ext cx="3533775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4" name="Picture 58" descr="10-13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62" t="21085" r="24138" b="12048"/>
          <a:stretch>
            <a:fillRect/>
          </a:stretch>
        </p:blipFill>
        <p:spPr bwMode="auto">
          <a:xfrm>
            <a:off x="5032375" y="3559175"/>
            <a:ext cx="3660775" cy="244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443" name="Picture 59" descr="10-13c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7" t="2409" r="22989" b="4218"/>
          <a:stretch>
            <a:fillRect/>
          </a:stretch>
        </p:blipFill>
        <p:spPr bwMode="auto">
          <a:xfrm>
            <a:off x="5056188" y="3365500"/>
            <a:ext cx="3625850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4444" name="Group 60"/>
          <p:cNvGrpSpPr/>
          <p:nvPr/>
        </p:nvGrpSpPr>
        <p:grpSpPr bwMode="auto">
          <a:xfrm>
            <a:off x="2397125" y="3375025"/>
            <a:ext cx="2882900" cy="1158875"/>
            <a:chOff x="1510" y="2126"/>
            <a:chExt cx="1816" cy="730"/>
          </a:xfrm>
        </p:grpSpPr>
        <p:grpSp>
          <p:nvGrpSpPr>
            <p:cNvPr id="39982" name="Group 61"/>
            <p:cNvGrpSpPr/>
            <p:nvPr/>
          </p:nvGrpSpPr>
          <p:grpSpPr bwMode="auto">
            <a:xfrm>
              <a:off x="1510" y="2126"/>
              <a:ext cx="1816" cy="730"/>
              <a:chOff x="1510" y="2126"/>
              <a:chExt cx="1816" cy="730"/>
            </a:xfrm>
          </p:grpSpPr>
          <p:grpSp>
            <p:nvGrpSpPr>
              <p:cNvPr id="39984" name="Group 62"/>
              <p:cNvGrpSpPr/>
              <p:nvPr/>
            </p:nvGrpSpPr>
            <p:grpSpPr bwMode="auto">
              <a:xfrm>
                <a:off x="1510" y="2126"/>
                <a:ext cx="1816" cy="730"/>
                <a:chOff x="1510" y="2126"/>
                <a:chExt cx="1816" cy="730"/>
              </a:xfrm>
            </p:grpSpPr>
            <p:sp>
              <p:nvSpPr>
                <p:cNvPr id="39986" name="AutoShape 63"/>
                <p:cNvSpPr>
                  <a:spLocks noChangeArrowheads="1"/>
                </p:cNvSpPr>
                <p:nvPr/>
              </p:nvSpPr>
              <p:spPr bwMode="auto">
                <a:xfrm>
                  <a:off x="1792" y="2370"/>
                  <a:ext cx="278" cy="240"/>
                </a:xfrm>
                <a:prstGeom prst="hexagon">
                  <a:avLst>
                    <a:gd name="adj" fmla="val 28958"/>
                    <a:gd name="vf" fmla="val 115470"/>
                  </a:avLst>
                </a:prstGeom>
                <a:noFill/>
                <a:ln w="19050">
                  <a:solidFill>
                    <a:srgbClr val="FF33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solidFill>
                      <a:srgbClr val="FF3300"/>
                    </a:solidFill>
                  </a:endParaRPr>
                </a:p>
              </p:txBody>
            </p:sp>
            <p:sp>
              <p:nvSpPr>
                <p:cNvPr id="39987" name="Oval 64"/>
                <p:cNvSpPr>
                  <a:spLocks noChangeArrowheads="1"/>
                </p:cNvSpPr>
                <p:nvPr/>
              </p:nvSpPr>
              <p:spPr bwMode="auto">
                <a:xfrm>
                  <a:off x="1774" y="2334"/>
                  <a:ext cx="312" cy="312"/>
                </a:xfrm>
                <a:prstGeom prst="ellips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solidFill>
                      <a:srgbClr val="FF3300"/>
                    </a:solidFill>
                  </a:endParaRPr>
                </a:p>
              </p:txBody>
            </p:sp>
            <p:sp>
              <p:nvSpPr>
                <p:cNvPr id="39988" name="Oval 65"/>
                <p:cNvSpPr>
                  <a:spLocks noChangeArrowheads="1"/>
                </p:cNvSpPr>
                <p:nvPr/>
              </p:nvSpPr>
              <p:spPr bwMode="auto">
                <a:xfrm>
                  <a:off x="1858" y="2418"/>
                  <a:ext cx="144" cy="144"/>
                </a:xfrm>
                <a:prstGeom prst="ellips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solidFill>
                      <a:srgbClr val="FF3300"/>
                    </a:solidFill>
                  </a:endParaRPr>
                </a:p>
              </p:txBody>
            </p:sp>
            <p:sp>
              <p:nvSpPr>
                <p:cNvPr id="39989" name="Oval 66"/>
                <p:cNvSpPr>
                  <a:spLocks noChangeArrowheads="1"/>
                </p:cNvSpPr>
                <p:nvPr/>
              </p:nvSpPr>
              <p:spPr bwMode="auto">
                <a:xfrm>
                  <a:off x="2840" y="2422"/>
                  <a:ext cx="144" cy="144"/>
                </a:xfrm>
                <a:prstGeom prst="ellips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solidFill>
                      <a:srgbClr val="FF3300"/>
                    </a:solidFill>
                  </a:endParaRPr>
                </a:p>
              </p:txBody>
            </p:sp>
            <p:sp>
              <p:nvSpPr>
                <p:cNvPr id="39990" name="Oval 67"/>
                <p:cNvSpPr>
                  <a:spLocks noChangeArrowheads="1"/>
                </p:cNvSpPr>
                <p:nvPr/>
              </p:nvSpPr>
              <p:spPr bwMode="auto">
                <a:xfrm>
                  <a:off x="1510" y="2406"/>
                  <a:ext cx="168" cy="168"/>
                </a:xfrm>
                <a:prstGeom prst="ellips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solidFill>
                      <a:srgbClr val="FF3300"/>
                    </a:solidFill>
                  </a:endParaRPr>
                </a:p>
              </p:txBody>
            </p:sp>
            <p:sp>
              <p:nvSpPr>
                <p:cNvPr id="39991" name="Oval 68"/>
                <p:cNvSpPr>
                  <a:spLocks noChangeArrowheads="1"/>
                </p:cNvSpPr>
                <p:nvPr/>
              </p:nvSpPr>
              <p:spPr bwMode="auto">
                <a:xfrm>
                  <a:off x="3158" y="2414"/>
                  <a:ext cx="168" cy="168"/>
                </a:xfrm>
                <a:prstGeom prst="ellips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solidFill>
                      <a:srgbClr val="FF3300"/>
                    </a:solidFill>
                  </a:endParaRPr>
                </a:p>
              </p:txBody>
            </p:sp>
            <p:sp>
              <p:nvSpPr>
                <p:cNvPr id="39992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2630" y="2154"/>
                  <a:ext cx="0" cy="114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93" name="Line 70"/>
                <p:cNvSpPr>
                  <a:spLocks noChangeShapeType="1"/>
                </p:cNvSpPr>
                <p:nvPr/>
              </p:nvSpPr>
              <p:spPr bwMode="auto">
                <a:xfrm>
                  <a:off x="2630" y="2730"/>
                  <a:ext cx="0" cy="96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94" name="Freeform 71"/>
                <p:cNvSpPr/>
                <p:nvPr/>
              </p:nvSpPr>
              <p:spPr bwMode="auto">
                <a:xfrm>
                  <a:off x="2598" y="2310"/>
                  <a:ext cx="1" cy="388"/>
                </a:xfrm>
                <a:custGeom>
                  <a:avLst/>
                  <a:gdLst>
                    <a:gd name="T0" fmla="*/ 0 w 1"/>
                    <a:gd name="T1" fmla="*/ 0 h 388"/>
                    <a:gd name="T2" fmla="*/ 0 w 1"/>
                    <a:gd name="T3" fmla="*/ 388 h 388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388">
                      <a:moveTo>
                        <a:pt x="0" y="0"/>
                      </a:moveTo>
                      <a:lnTo>
                        <a:pt x="0" y="388"/>
                      </a:lnTo>
                    </a:path>
                  </a:pathLst>
                </a:custGeom>
                <a:noFill/>
                <a:ln w="19050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95" name="Freeform 72"/>
                <p:cNvSpPr/>
                <p:nvPr/>
              </p:nvSpPr>
              <p:spPr bwMode="auto">
                <a:xfrm>
                  <a:off x="2664" y="2294"/>
                  <a:ext cx="1" cy="402"/>
                </a:xfrm>
                <a:custGeom>
                  <a:avLst/>
                  <a:gdLst>
                    <a:gd name="T0" fmla="*/ 0 w 1"/>
                    <a:gd name="T1" fmla="*/ 0 h 402"/>
                    <a:gd name="T2" fmla="*/ 0 w 1"/>
                    <a:gd name="T3" fmla="*/ 402 h 40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402">
                      <a:moveTo>
                        <a:pt x="0" y="0"/>
                      </a:moveTo>
                      <a:lnTo>
                        <a:pt x="0" y="402"/>
                      </a:lnTo>
                    </a:path>
                  </a:pathLst>
                </a:custGeom>
                <a:noFill/>
                <a:ln w="19050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96" name="Freeform 73"/>
                <p:cNvSpPr/>
                <p:nvPr/>
              </p:nvSpPr>
              <p:spPr bwMode="auto">
                <a:xfrm>
                  <a:off x="2594" y="2262"/>
                  <a:ext cx="71" cy="52"/>
                </a:xfrm>
                <a:custGeom>
                  <a:avLst/>
                  <a:gdLst>
                    <a:gd name="T0" fmla="*/ 70 w 71"/>
                    <a:gd name="T1" fmla="*/ 48 h 52"/>
                    <a:gd name="T2" fmla="*/ 70 w 71"/>
                    <a:gd name="T3" fmla="*/ 26 h 52"/>
                    <a:gd name="T4" fmla="*/ 62 w 71"/>
                    <a:gd name="T5" fmla="*/ 6 h 52"/>
                    <a:gd name="T6" fmla="*/ 40 w 71"/>
                    <a:gd name="T7" fmla="*/ 0 h 52"/>
                    <a:gd name="T8" fmla="*/ 12 w 71"/>
                    <a:gd name="T9" fmla="*/ 8 h 52"/>
                    <a:gd name="T10" fmla="*/ 2 w 71"/>
                    <a:gd name="T11" fmla="*/ 26 h 52"/>
                    <a:gd name="T12" fmla="*/ 2 w 71"/>
                    <a:gd name="T13" fmla="*/ 52 h 5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71" h="52">
                      <a:moveTo>
                        <a:pt x="70" y="48"/>
                      </a:moveTo>
                      <a:cubicBezTo>
                        <a:pt x="70" y="44"/>
                        <a:pt x="71" y="33"/>
                        <a:pt x="70" y="26"/>
                      </a:cubicBezTo>
                      <a:cubicBezTo>
                        <a:pt x="69" y="19"/>
                        <a:pt x="67" y="10"/>
                        <a:pt x="62" y="6"/>
                      </a:cubicBezTo>
                      <a:cubicBezTo>
                        <a:pt x="57" y="2"/>
                        <a:pt x="48" y="0"/>
                        <a:pt x="40" y="0"/>
                      </a:cubicBezTo>
                      <a:cubicBezTo>
                        <a:pt x="32" y="0"/>
                        <a:pt x="18" y="4"/>
                        <a:pt x="12" y="8"/>
                      </a:cubicBezTo>
                      <a:cubicBezTo>
                        <a:pt x="6" y="12"/>
                        <a:pt x="4" y="19"/>
                        <a:pt x="2" y="26"/>
                      </a:cubicBezTo>
                      <a:cubicBezTo>
                        <a:pt x="0" y="33"/>
                        <a:pt x="2" y="47"/>
                        <a:pt x="2" y="52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3300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97" name="Freeform 74"/>
                <p:cNvSpPr/>
                <p:nvPr/>
              </p:nvSpPr>
              <p:spPr bwMode="auto">
                <a:xfrm>
                  <a:off x="2596" y="2692"/>
                  <a:ext cx="68" cy="43"/>
                </a:xfrm>
                <a:custGeom>
                  <a:avLst/>
                  <a:gdLst>
                    <a:gd name="T0" fmla="*/ 0 w 68"/>
                    <a:gd name="T1" fmla="*/ 2 h 43"/>
                    <a:gd name="T2" fmla="*/ 10 w 68"/>
                    <a:gd name="T3" fmla="*/ 26 h 43"/>
                    <a:gd name="T4" fmla="*/ 31 w 68"/>
                    <a:gd name="T5" fmla="*/ 41 h 43"/>
                    <a:gd name="T6" fmla="*/ 54 w 68"/>
                    <a:gd name="T7" fmla="*/ 36 h 43"/>
                    <a:gd name="T8" fmla="*/ 62 w 68"/>
                    <a:gd name="T9" fmla="*/ 24 h 43"/>
                    <a:gd name="T10" fmla="*/ 68 w 68"/>
                    <a:gd name="T11" fmla="*/ 0 h 4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8" h="43">
                      <a:moveTo>
                        <a:pt x="0" y="2"/>
                      </a:moveTo>
                      <a:cubicBezTo>
                        <a:pt x="2" y="6"/>
                        <a:pt x="5" y="20"/>
                        <a:pt x="10" y="26"/>
                      </a:cubicBezTo>
                      <a:cubicBezTo>
                        <a:pt x="15" y="32"/>
                        <a:pt x="24" y="39"/>
                        <a:pt x="31" y="41"/>
                      </a:cubicBezTo>
                      <a:cubicBezTo>
                        <a:pt x="38" y="43"/>
                        <a:pt x="49" y="39"/>
                        <a:pt x="54" y="36"/>
                      </a:cubicBezTo>
                      <a:cubicBezTo>
                        <a:pt x="59" y="33"/>
                        <a:pt x="60" y="30"/>
                        <a:pt x="62" y="24"/>
                      </a:cubicBezTo>
                      <a:cubicBezTo>
                        <a:pt x="64" y="18"/>
                        <a:pt x="67" y="5"/>
                        <a:pt x="68" y="0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3300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98" name="Freeform 75"/>
                <p:cNvSpPr/>
                <p:nvPr/>
              </p:nvSpPr>
              <p:spPr bwMode="auto">
                <a:xfrm>
                  <a:off x="2317" y="2390"/>
                  <a:ext cx="99" cy="126"/>
                </a:xfrm>
                <a:custGeom>
                  <a:avLst/>
                  <a:gdLst>
                    <a:gd name="T0" fmla="*/ 99 w 99"/>
                    <a:gd name="T1" fmla="*/ 0 h 122"/>
                    <a:gd name="T2" fmla="*/ 71 w 99"/>
                    <a:gd name="T3" fmla="*/ 4 h 122"/>
                    <a:gd name="T4" fmla="*/ 39 w 99"/>
                    <a:gd name="T5" fmla="*/ 26 h 122"/>
                    <a:gd name="T6" fmla="*/ 15 w 99"/>
                    <a:gd name="T7" fmla="*/ 50 h 122"/>
                    <a:gd name="T8" fmla="*/ 5 w 99"/>
                    <a:gd name="T9" fmla="*/ 78 h 122"/>
                    <a:gd name="T10" fmla="*/ 1 w 99"/>
                    <a:gd name="T11" fmla="*/ 111 h 122"/>
                    <a:gd name="T12" fmla="*/ 1 w 99"/>
                    <a:gd name="T13" fmla="*/ 13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9" h="122">
                      <a:moveTo>
                        <a:pt x="99" y="0"/>
                      </a:moveTo>
                      <a:cubicBezTo>
                        <a:pt x="90" y="0"/>
                        <a:pt x="81" y="0"/>
                        <a:pt x="71" y="4"/>
                      </a:cubicBezTo>
                      <a:cubicBezTo>
                        <a:pt x="61" y="8"/>
                        <a:pt x="48" y="17"/>
                        <a:pt x="39" y="24"/>
                      </a:cubicBezTo>
                      <a:cubicBezTo>
                        <a:pt x="30" y="31"/>
                        <a:pt x="21" y="38"/>
                        <a:pt x="15" y="46"/>
                      </a:cubicBezTo>
                      <a:cubicBezTo>
                        <a:pt x="9" y="54"/>
                        <a:pt x="7" y="64"/>
                        <a:pt x="5" y="74"/>
                      </a:cubicBezTo>
                      <a:cubicBezTo>
                        <a:pt x="3" y="84"/>
                        <a:pt x="2" y="96"/>
                        <a:pt x="1" y="104"/>
                      </a:cubicBezTo>
                      <a:cubicBezTo>
                        <a:pt x="0" y="112"/>
                        <a:pt x="1" y="118"/>
                        <a:pt x="1" y="122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3300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99" name="Arc 76"/>
                <p:cNvSpPr/>
                <p:nvPr/>
              </p:nvSpPr>
              <p:spPr bwMode="auto">
                <a:xfrm flipH="1">
                  <a:off x="2340" y="2412"/>
                  <a:ext cx="78" cy="164"/>
                </a:xfrm>
                <a:custGeom>
                  <a:avLst/>
                  <a:gdLst>
                    <a:gd name="T0" fmla="*/ 0 w 21600"/>
                    <a:gd name="T1" fmla="*/ 0 h 43168"/>
                    <a:gd name="T2" fmla="*/ 0 w 21600"/>
                    <a:gd name="T3" fmla="*/ 1 h 43168"/>
                    <a:gd name="T4" fmla="*/ 0 w 21600"/>
                    <a:gd name="T5" fmla="*/ 0 h 4316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43168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070"/>
                        <a:pt x="12634" y="42540"/>
                        <a:pt x="1180" y="43167"/>
                      </a:cubicBezTo>
                    </a:path>
                    <a:path w="21600" h="43168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070"/>
                        <a:pt x="12634" y="42540"/>
                        <a:pt x="1180" y="43167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000" name="Arc 77"/>
                <p:cNvSpPr/>
                <p:nvPr/>
              </p:nvSpPr>
              <p:spPr bwMode="auto">
                <a:xfrm flipH="1">
                  <a:off x="2357" y="2432"/>
                  <a:ext cx="61" cy="124"/>
                </a:xfrm>
                <a:custGeom>
                  <a:avLst/>
                  <a:gdLst>
                    <a:gd name="T0" fmla="*/ 0 w 21600"/>
                    <a:gd name="T1" fmla="*/ 0 h 43200"/>
                    <a:gd name="T2" fmla="*/ 0 w 21600"/>
                    <a:gd name="T3" fmla="*/ 0 h 43200"/>
                    <a:gd name="T4" fmla="*/ 0 w 21600"/>
                    <a:gd name="T5" fmla="*/ 0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432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200"/>
                        <a:pt x="0" y="43200"/>
                      </a:cubicBezTo>
                    </a:path>
                    <a:path w="21600" h="432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200"/>
                        <a:pt x="0" y="432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001" name="Arc 78"/>
                <p:cNvSpPr/>
                <p:nvPr/>
              </p:nvSpPr>
              <p:spPr bwMode="auto">
                <a:xfrm flipH="1">
                  <a:off x="2382" y="2454"/>
                  <a:ext cx="47" cy="80"/>
                </a:xfrm>
                <a:custGeom>
                  <a:avLst/>
                  <a:gdLst>
                    <a:gd name="T0" fmla="*/ 0 w 21600"/>
                    <a:gd name="T1" fmla="*/ 0 h 42295"/>
                    <a:gd name="T2" fmla="*/ 0 w 21600"/>
                    <a:gd name="T3" fmla="*/ 0 h 42295"/>
                    <a:gd name="T4" fmla="*/ 0 w 21600"/>
                    <a:gd name="T5" fmla="*/ 0 h 4229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42295" fill="none" extrusionOk="0">
                      <a:moveTo>
                        <a:pt x="4107" y="0"/>
                      </a:moveTo>
                      <a:cubicBezTo>
                        <a:pt x="14264" y="1967"/>
                        <a:pt x="21600" y="10860"/>
                        <a:pt x="21600" y="21206"/>
                      </a:cubicBezTo>
                      <a:cubicBezTo>
                        <a:pt x="21600" y="31335"/>
                        <a:pt x="14561" y="40103"/>
                        <a:pt x="4671" y="42294"/>
                      </a:cubicBezTo>
                    </a:path>
                    <a:path w="21600" h="42295" stroke="0" extrusionOk="0">
                      <a:moveTo>
                        <a:pt x="4107" y="0"/>
                      </a:moveTo>
                      <a:cubicBezTo>
                        <a:pt x="14264" y="1967"/>
                        <a:pt x="21600" y="10860"/>
                        <a:pt x="21600" y="21206"/>
                      </a:cubicBezTo>
                      <a:cubicBezTo>
                        <a:pt x="21600" y="31335"/>
                        <a:pt x="14561" y="40103"/>
                        <a:pt x="4671" y="42294"/>
                      </a:cubicBezTo>
                      <a:lnTo>
                        <a:pt x="0" y="21206"/>
                      </a:lnTo>
                      <a:lnTo>
                        <a:pt x="4107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002" name="Oval 79"/>
                <p:cNvSpPr>
                  <a:spLocks noChangeArrowheads="1"/>
                </p:cNvSpPr>
                <p:nvPr/>
              </p:nvSpPr>
              <p:spPr bwMode="auto">
                <a:xfrm>
                  <a:off x="1880" y="2440"/>
                  <a:ext cx="104" cy="104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solidFill>
                      <a:srgbClr val="FF3300"/>
                    </a:solidFill>
                  </a:endParaRPr>
                </a:p>
              </p:txBody>
            </p:sp>
            <p:sp>
              <p:nvSpPr>
                <p:cNvPr id="40003" name="Freeform 80"/>
                <p:cNvSpPr/>
                <p:nvPr/>
              </p:nvSpPr>
              <p:spPr bwMode="auto">
                <a:xfrm>
                  <a:off x="1880" y="2508"/>
                  <a:ext cx="60" cy="36"/>
                </a:xfrm>
                <a:custGeom>
                  <a:avLst/>
                  <a:gdLst>
                    <a:gd name="T0" fmla="*/ 0 w 60"/>
                    <a:gd name="T1" fmla="*/ 0 h 36"/>
                    <a:gd name="T2" fmla="*/ 16 w 60"/>
                    <a:gd name="T3" fmla="*/ 24 h 36"/>
                    <a:gd name="T4" fmla="*/ 60 w 60"/>
                    <a:gd name="T5" fmla="*/ 36 h 3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0" h="36">
                      <a:moveTo>
                        <a:pt x="0" y="0"/>
                      </a:moveTo>
                      <a:cubicBezTo>
                        <a:pt x="4" y="9"/>
                        <a:pt x="6" y="18"/>
                        <a:pt x="16" y="24"/>
                      </a:cubicBezTo>
                      <a:cubicBezTo>
                        <a:pt x="26" y="30"/>
                        <a:pt x="51" y="34"/>
                        <a:pt x="60" y="36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bg1"/>
                  </a:solidFill>
                  <a:prstDash val="solid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004" name="Line 81"/>
                <p:cNvSpPr>
                  <a:spLocks noChangeShapeType="1"/>
                </p:cNvSpPr>
                <p:nvPr/>
              </p:nvSpPr>
              <p:spPr bwMode="auto">
                <a:xfrm flipV="1">
                  <a:off x="2630" y="2824"/>
                  <a:ext cx="0" cy="24"/>
                </a:xfrm>
                <a:prstGeom prst="line">
                  <a:avLst/>
                </a:prstGeom>
                <a:noFill/>
                <a:ln w="5715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005" name="Line 82"/>
                <p:cNvSpPr>
                  <a:spLocks noChangeShapeType="1"/>
                </p:cNvSpPr>
                <p:nvPr/>
              </p:nvSpPr>
              <p:spPr bwMode="auto">
                <a:xfrm>
                  <a:off x="2632" y="2136"/>
                  <a:ext cx="0" cy="18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006" name="Line 83"/>
                <p:cNvSpPr>
                  <a:spLocks noChangeShapeType="1"/>
                </p:cNvSpPr>
                <p:nvPr/>
              </p:nvSpPr>
              <p:spPr bwMode="auto">
                <a:xfrm>
                  <a:off x="2424" y="2160"/>
                  <a:ext cx="208" cy="0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007" name="Line 84"/>
                <p:cNvSpPr>
                  <a:spLocks noChangeShapeType="1"/>
                </p:cNvSpPr>
                <p:nvPr/>
              </p:nvSpPr>
              <p:spPr bwMode="auto">
                <a:xfrm flipV="1">
                  <a:off x="2628" y="2126"/>
                  <a:ext cx="34" cy="34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008" name="Line 85"/>
                <p:cNvSpPr>
                  <a:spLocks noChangeShapeType="1"/>
                </p:cNvSpPr>
                <p:nvPr/>
              </p:nvSpPr>
              <p:spPr bwMode="auto">
                <a:xfrm>
                  <a:off x="2628" y="2822"/>
                  <a:ext cx="34" cy="34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009" name="Line 86"/>
                <p:cNvSpPr>
                  <a:spLocks noChangeShapeType="1"/>
                </p:cNvSpPr>
                <p:nvPr/>
              </p:nvSpPr>
              <p:spPr bwMode="auto">
                <a:xfrm flipH="1">
                  <a:off x="2416" y="2824"/>
                  <a:ext cx="216" cy="0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9985" name="Line 87"/>
              <p:cNvSpPr>
                <a:spLocks noChangeShapeType="1"/>
              </p:cNvSpPr>
              <p:nvPr/>
            </p:nvSpPr>
            <p:spPr bwMode="auto">
              <a:xfrm>
                <a:off x="2627" y="2270"/>
                <a:ext cx="0" cy="454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983" name="Line 88"/>
            <p:cNvSpPr>
              <a:spLocks noChangeShapeType="1"/>
            </p:cNvSpPr>
            <p:nvPr/>
          </p:nvSpPr>
          <p:spPr bwMode="auto">
            <a:xfrm>
              <a:off x="2101" y="2298"/>
              <a:ext cx="0" cy="3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44473" name="Group 89"/>
          <p:cNvGrpSpPr/>
          <p:nvPr/>
        </p:nvGrpSpPr>
        <p:grpSpPr bwMode="auto">
          <a:xfrm>
            <a:off x="6273800" y="781050"/>
            <a:ext cx="1171575" cy="1552575"/>
            <a:chOff x="3952" y="492"/>
            <a:chExt cx="738" cy="978"/>
          </a:xfrm>
        </p:grpSpPr>
        <p:grpSp>
          <p:nvGrpSpPr>
            <p:cNvPr id="39948" name="Group 90"/>
            <p:cNvGrpSpPr/>
            <p:nvPr/>
          </p:nvGrpSpPr>
          <p:grpSpPr bwMode="auto">
            <a:xfrm>
              <a:off x="3952" y="492"/>
              <a:ext cx="738" cy="978"/>
              <a:chOff x="3952" y="492"/>
              <a:chExt cx="738" cy="978"/>
            </a:xfrm>
          </p:grpSpPr>
          <p:sp>
            <p:nvSpPr>
              <p:cNvPr id="39950" name="Line 91"/>
              <p:cNvSpPr>
                <a:spLocks noChangeShapeType="1"/>
              </p:cNvSpPr>
              <p:nvPr/>
            </p:nvSpPr>
            <p:spPr bwMode="auto">
              <a:xfrm>
                <a:off x="4394" y="648"/>
                <a:ext cx="0" cy="168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51" name="Rectangle 92"/>
              <p:cNvSpPr>
                <a:spLocks noChangeArrowheads="1"/>
              </p:cNvSpPr>
              <p:nvPr/>
            </p:nvSpPr>
            <p:spPr bwMode="auto">
              <a:xfrm>
                <a:off x="4244" y="530"/>
                <a:ext cx="150" cy="31"/>
              </a:xfrm>
              <a:prstGeom prst="rect">
                <a:avLst/>
              </a:prstGeom>
              <a:noFill/>
              <a:ln w="19050">
                <a:solidFill>
                  <a:srgbClr val="FF33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39952" name="Line 93"/>
              <p:cNvSpPr>
                <a:spLocks noChangeShapeType="1"/>
              </p:cNvSpPr>
              <p:nvPr/>
            </p:nvSpPr>
            <p:spPr bwMode="auto">
              <a:xfrm flipV="1">
                <a:off x="4266" y="528"/>
                <a:ext cx="0" cy="2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53" name="Rectangle 94"/>
              <p:cNvSpPr>
                <a:spLocks noChangeArrowheads="1"/>
              </p:cNvSpPr>
              <p:nvPr/>
            </p:nvSpPr>
            <p:spPr bwMode="auto">
              <a:xfrm>
                <a:off x="4196" y="562"/>
                <a:ext cx="248" cy="84"/>
              </a:xfrm>
              <a:prstGeom prst="rect">
                <a:avLst/>
              </a:prstGeom>
              <a:noFill/>
              <a:ln w="19050">
                <a:solidFill>
                  <a:srgbClr val="FF33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39954" name="Line 95"/>
              <p:cNvSpPr>
                <a:spLocks noChangeShapeType="1"/>
              </p:cNvSpPr>
              <p:nvPr/>
            </p:nvSpPr>
            <p:spPr bwMode="auto">
              <a:xfrm>
                <a:off x="4260" y="818"/>
                <a:ext cx="0" cy="16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55" name="Line 96"/>
              <p:cNvSpPr>
                <a:spLocks noChangeShapeType="1"/>
              </p:cNvSpPr>
              <p:nvPr/>
            </p:nvSpPr>
            <p:spPr bwMode="auto">
              <a:xfrm>
                <a:off x="4380" y="812"/>
                <a:ext cx="0" cy="168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56" name="Line 97"/>
              <p:cNvSpPr>
                <a:spLocks noChangeShapeType="1"/>
              </p:cNvSpPr>
              <p:nvPr/>
            </p:nvSpPr>
            <p:spPr bwMode="auto">
              <a:xfrm flipV="1">
                <a:off x="4292" y="818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57" name="Line 98"/>
              <p:cNvSpPr>
                <a:spLocks noChangeShapeType="1"/>
              </p:cNvSpPr>
              <p:nvPr/>
            </p:nvSpPr>
            <p:spPr bwMode="auto">
              <a:xfrm flipV="1">
                <a:off x="4356" y="818"/>
                <a:ext cx="0" cy="168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58" name="Line 99"/>
              <p:cNvSpPr>
                <a:spLocks noChangeShapeType="1"/>
              </p:cNvSpPr>
              <p:nvPr/>
            </p:nvSpPr>
            <p:spPr bwMode="auto">
              <a:xfrm flipV="1">
                <a:off x="4372" y="528"/>
                <a:ext cx="0" cy="28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59" name="Rectangle 100"/>
              <p:cNvSpPr>
                <a:spLocks noChangeArrowheads="1"/>
              </p:cNvSpPr>
              <p:nvPr/>
            </p:nvSpPr>
            <p:spPr bwMode="auto">
              <a:xfrm>
                <a:off x="4224" y="646"/>
                <a:ext cx="192" cy="172"/>
              </a:xfrm>
              <a:prstGeom prst="rect">
                <a:avLst/>
              </a:prstGeom>
              <a:noFill/>
              <a:ln w="19050">
                <a:solidFill>
                  <a:srgbClr val="FF33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39960" name="Line 101"/>
              <p:cNvSpPr>
                <a:spLocks noChangeShapeType="1"/>
              </p:cNvSpPr>
              <p:nvPr/>
            </p:nvSpPr>
            <p:spPr bwMode="auto">
              <a:xfrm flipV="1">
                <a:off x="4244" y="642"/>
                <a:ext cx="0" cy="172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1" name="Line 102"/>
              <p:cNvSpPr>
                <a:spLocks noChangeShapeType="1"/>
              </p:cNvSpPr>
              <p:nvPr/>
            </p:nvSpPr>
            <p:spPr bwMode="auto">
              <a:xfrm flipV="1">
                <a:off x="4318" y="492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9962" name="Group 103"/>
              <p:cNvGrpSpPr/>
              <p:nvPr/>
            </p:nvGrpSpPr>
            <p:grpSpPr bwMode="auto">
              <a:xfrm>
                <a:off x="3952" y="980"/>
                <a:ext cx="738" cy="490"/>
                <a:chOff x="3952" y="980"/>
                <a:chExt cx="738" cy="490"/>
              </a:xfrm>
            </p:grpSpPr>
            <p:grpSp>
              <p:nvGrpSpPr>
                <p:cNvPr id="39963" name="Group 104"/>
                <p:cNvGrpSpPr/>
                <p:nvPr/>
              </p:nvGrpSpPr>
              <p:grpSpPr bwMode="auto">
                <a:xfrm>
                  <a:off x="4137" y="981"/>
                  <a:ext cx="372" cy="33"/>
                  <a:chOff x="4125" y="987"/>
                  <a:chExt cx="372" cy="33"/>
                </a:xfrm>
              </p:grpSpPr>
              <p:sp>
                <p:nvSpPr>
                  <p:cNvPr id="39979" name="Line 105"/>
                  <p:cNvSpPr>
                    <a:spLocks noChangeShapeType="1"/>
                  </p:cNvSpPr>
                  <p:nvPr/>
                </p:nvSpPr>
                <p:spPr bwMode="auto">
                  <a:xfrm>
                    <a:off x="4161" y="987"/>
                    <a:ext cx="297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33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80" name="Freeform 106"/>
                  <p:cNvSpPr/>
                  <p:nvPr/>
                </p:nvSpPr>
                <p:spPr bwMode="auto">
                  <a:xfrm>
                    <a:off x="4125" y="987"/>
                    <a:ext cx="39" cy="33"/>
                  </a:xfrm>
                  <a:custGeom>
                    <a:avLst/>
                    <a:gdLst>
                      <a:gd name="T0" fmla="*/ 39 w 39"/>
                      <a:gd name="T1" fmla="*/ 0 h 33"/>
                      <a:gd name="T2" fmla="*/ 12 w 39"/>
                      <a:gd name="T3" fmla="*/ 9 h 33"/>
                      <a:gd name="T4" fmla="*/ 0 w 39"/>
                      <a:gd name="T5" fmla="*/ 33 h 3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33">
                        <a:moveTo>
                          <a:pt x="39" y="0"/>
                        </a:moveTo>
                        <a:cubicBezTo>
                          <a:pt x="28" y="2"/>
                          <a:pt x="18" y="4"/>
                          <a:pt x="12" y="9"/>
                        </a:cubicBezTo>
                        <a:cubicBezTo>
                          <a:pt x="6" y="14"/>
                          <a:pt x="3" y="29"/>
                          <a:pt x="0" y="33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81" name="Freeform 107"/>
                  <p:cNvSpPr/>
                  <p:nvPr/>
                </p:nvSpPr>
                <p:spPr bwMode="auto">
                  <a:xfrm>
                    <a:off x="4458" y="988"/>
                    <a:ext cx="39" cy="32"/>
                  </a:xfrm>
                  <a:custGeom>
                    <a:avLst/>
                    <a:gdLst>
                      <a:gd name="T0" fmla="*/ 0 w 39"/>
                      <a:gd name="T1" fmla="*/ 0 h 32"/>
                      <a:gd name="T2" fmla="*/ 27 w 39"/>
                      <a:gd name="T3" fmla="*/ 8 h 32"/>
                      <a:gd name="T4" fmla="*/ 39 w 39"/>
                      <a:gd name="T5" fmla="*/ 32 h 3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32">
                        <a:moveTo>
                          <a:pt x="0" y="0"/>
                        </a:moveTo>
                        <a:cubicBezTo>
                          <a:pt x="4" y="1"/>
                          <a:pt x="20" y="3"/>
                          <a:pt x="27" y="8"/>
                        </a:cubicBezTo>
                        <a:cubicBezTo>
                          <a:pt x="34" y="13"/>
                          <a:pt x="37" y="28"/>
                          <a:pt x="39" y="32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964" name="Group 108"/>
                <p:cNvGrpSpPr/>
                <p:nvPr/>
              </p:nvGrpSpPr>
              <p:grpSpPr bwMode="auto">
                <a:xfrm>
                  <a:off x="4091" y="1190"/>
                  <a:ext cx="459" cy="63"/>
                  <a:chOff x="4079" y="1196"/>
                  <a:chExt cx="459" cy="63"/>
                </a:xfrm>
              </p:grpSpPr>
              <p:sp>
                <p:nvSpPr>
                  <p:cNvPr id="39975" name="Line 10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16" y="1197"/>
                    <a:ext cx="394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33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76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4108" y="1257"/>
                    <a:ext cx="403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33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77" name="Freeform 111"/>
                  <p:cNvSpPr/>
                  <p:nvPr/>
                </p:nvSpPr>
                <p:spPr bwMode="auto">
                  <a:xfrm>
                    <a:off x="4079" y="1197"/>
                    <a:ext cx="40" cy="60"/>
                  </a:xfrm>
                  <a:custGeom>
                    <a:avLst/>
                    <a:gdLst>
                      <a:gd name="T0" fmla="*/ 40 w 40"/>
                      <a:gd name="T1" fmla="*/ 0 h 60"/>
                      <a:gd name="T2" fmla="*/ 16 w 40"/>
                      <a:gd name="T3" fmla="*/ 6 h 60"/>
                      <a:gd name="T4" fmla="*/ 1 w 40"/>
                      <a:gd name="T5" fmla="*/ 30 h 60"/>
                      <a:gd name="T6" fmla="*/ 10 w 40"/>
                      <a:gd name="T7" fmla="*/ 51 h 60"/>
                      <a:gd name="T8" fmla="*/ 21 w 40"/>
                      <a:gd name="T9" fmla="*/ 57 h 60"/>
                      <a:gd name="T10" fmla="*/ 34 w 40"/>
                      <a:gd name="T11" fmla="*/ 60 h 6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0" h="60">
                        <a:moveTo>
                          <a:pt x="40" y="0"/>
                        </a:moveTo>
                        <a:cubicBezTo>
                          <a:pt x="36" y="1"/>
                          <a:pt x="22" y="1"/>
                          <a:pt x="16" y="6"/>
                        </a:cubicBezTo>
                        <a:cubicBezTo>
                          <a:pt x="10" y="11"/>
                          <a:pt x="2" y="23"/>
                          <a:pt x="1" y="30"/>
                        </a:cubicBezTo>
                        <a:cubicBezTo>
                          <a:pt x="0" y="37"/>
                          <a:pt x="7" y="47"/>
                          <a:pt x="10" y="51"/>
                        </a:cubicBezTo>
                        <a:cubicBezTo>
                          <a:pt x="13" y="55"/>
                          <a:pt x="17" y="56"/>
                          <a:pt x="21" y="57"/>
                        </a:cubicBezTo>
                        <a:cubicBezTo>
                          <a:pt x="25" y="58"/>
                          <a:pt x="31" y="59"/>
                          <a:pt x="34" y="60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78" name="Freeform 112"/>
                  <p:cNvSpPr/>
                  <p:nvPr/>
                </p:nvSpPr>
                <p:spPr bwMode="auto">
                  <a:xfrm>
                    <a:off x="4508" y="1196"/>
                    <a:ext cx="30" cy="63"/>
                  </a:xfrm>
                  <a:custGeom>
                    <a:avLst/>
                    <a:gdLst>
                      <a:gd name="T0" fmla="*/ 0 w 30"/>
                      <a:gd name="T1" fmla="*/ 63 h 63"/>
                      <a:gd name="T2" fmla="*/ 16 w 30"/>
                      <a:gd name="T3" fmla="*/ 57 h 63"/>
                      <a:gd name="T4" fmla="*/ 24 w 30"/>
                      <a:gd name="T5" fmla="*/ 49 h 63"/>
                      <a:gd name="T6" fmla="*/ 30 w 30"/>
                      <a:gd name="T7" fmla="*/ 33 h 63"/>
                      <a:gd name="T8" fmla="*/ 25 w 30"/>
                      <a:gd name="T9" fmla="*/ 15 h 63"/>
                      <a:gd name="T10" fmla="*/ 15 w 30"/>
                      <a:gd name="T11" fmla="*/ 7 h 63"/>
                      <a:gd name="T12" fmla="*/ 0 w 30"/>
                      <a:gd name="T13" fmla="*/ 0 h 63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63">
                        <a:moveTo>
                          <a:pt x="0" y="63"/>
                        </a:moveTo>
                        <a:cubicBezTo>
                          <a:pt x="6" y="61"/>
                          <a:pt x="12" y="59"/>
                          <a:pt x="16" y="57"/>
                        </a:cubicBezTo>
                        <a:cubicBezTo>
                          <a:pt x="20" y="55"/>
                          <a:pt x="22" y="53"/>
                          <a:pt x="24" y="49"/>
                        </a:cubicBezTo>
                        <a:cubicBezTo>
                          <a:pt x="26" y="45"/>
                          <a:pt x="30" y="39"/>
                          <a:pt x="30" y="33"/>
                        </a:cubicBezTo>
                        <a:cubicBezTo>
                          <a:pt x="30" y="27"/>
                          <a:pt x="28" y="19"/>
                          <a:pt x="25" y="15"/>
                        </a:cubicBezTo>
                        <a:cubicBezTo>
                          <a:pt x="22" y="11"/>
                          <a:pt x="19" y="10"/>
                          <a:pt x="15" y="7"/>
                        </a:cubicBezTo>
                        <a:cubicBezTo>
                          <a:pt x="11" y="4"/>
                          <a:pt x="3" y="1"/>
                          <a:pt x="0" y="0"/>
                        </a:cubicBezTo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9965" name="Line 113"/>
                <p:cNvSpPr>
                  <a:spLocks noChangeShapeType="1"/>
                </p:cNvSpPr>
                <p:nvPr/>
              </p:nvSpPr>
              <p:spPr bwMode="auto">
                <a:xfrm>
                  <a:off x="3956" y="1012"/>
                  <a:ext cx="36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66" name="Line 114"/>
                <p:cNvSpPr>
                  <a:spLocks noChangeShapeType="1"/>
                </p:cNvSpPr>
                <p:nvPr/>
              </p:nvSpPr>
              <p:spPr bwMode="auto">
                <a:xfrm>
                  <a:off x="3956" y="1428"/>
                  <a:ext cx="32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67" name="Line 115"/>
                <p:cNvSpPr>
                  <a:spLocks noChangeShapeType="1"/>
                </p:cNvSpPr>
                <p:nvPr/>
              </p:nvSpPr>
              <p:spPr bwMode="auto">
                <a:xfrm>
                  <a:off x="4660" y="1432"/>
                  <a:ext cx="24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68" name="Line 116"/>
                <p:cNvSpPr>
                  <a:spLocks noChangeShapeType="1"/>
                </p:cNvSpPr>
                <p:nvPr/>
              </p:nvSpPr>
              <p:spPr bwMode="auto">
                <a:xfrm>
                  <a:off x="4664" y="1012"/>
                  <a:ext cx="20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69" name="Line 117"/>
                <p:cNvSpPr>
                  <a:spLocks noChangeShapeType="1"/>
                </p:cNvSpPr>
                <p:nvPr/>
              </p:nvSpPr>
              <p:spPr bwMode="auto">
                <a:xfrm>
                  <a:off x="3990" y="1013"/>
                  <a:ext cx="0" cy="421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70" name="Line 118"/>
                <p:cNvSpPr>
                  <a:spLocks noChangeShapeType="1"/>
                </p:cNvSpPr>
                <p:nvPr/>
              </p:nvSpPr>
              <p:spPr bwMode="auto">
                <a:xfrm>
                  <a:off x="4656" y="1014"/>
                  <a:ext cx="0" cy="420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71" name="Line 119"/>
                <p:cNvSpPr>
                  <a:spLocks noChangeShapeType="1"/>
                </p:cNvSpPr>
                <p:nvPr/>
              </p:nvSpPr>
              <p:spPr bwMode="auto">
                <a:xfrm flipV="1">
                  <a:off x="3952" y="1430"/>
                  <a:ext cx="40" cy="40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72" name="Line 120"/>
                <p:cNvSpPr>
                  <a:spLocks noChangeShapeType="1"/>
                </p:cNvSpPr>
                <p:nvPr/>
              </p:nvSpPr>
              <p:spPr bwMode="auto">
                <a:xfrm flipH="1" flipV="1">
                  <a:off x="3952" y="980"/>
                  <a:ext cx="36" cy="35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73" name="Line 121"/>
                <p:cNvSpPr>
                  <a:spLocks noChangeShapeType="1"/>
                </p:cNvSpPr>
                <p:nvPr/>
              </p:nvSpPr>
              <p:spPr bwMode="auto">
                <a:xfrm>
                  <a:off x="4654" y="1430"/>
                  <a:ext cx="36" cy="36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74" name="Line 122"/>
                <p:cNvSpPr>
                  <a:spLocks noChangeShapeType="1"/>
                </p:cNvSpPr>
                <p:nvPr/>
              </p:nvSpPr>
              <p:spPr bwMode="auto">
                <a:xfrm flipV="1">
                  <a:off x="4652" y="985"/>
                  <a:ext cx="36" cy="35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9949" name="Line 123"/>
            <p:cNvSpPr>
              <a:spLocks noChangeShapeType="1"/>
            </p:cNvSpPr>
            <p:nvPr/>
          </p:nvSpPr>
          <p:spPr bwMode="auto">
            <a:xfrm flipV="1">
              <a:off x="4320" y="561"/>
              <a:ext cx="0" cy="81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4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4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44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144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9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ext Box 2"/>
          <p:cNvSpPr txBox="1">
            <a:spLocks noChangeArrowheads="1"/>
          </p:cNvSpPr>
          <p:nvPr/>
        </p:nvSpPr>
        <p:spPr bwMode="auto">
          <a:xfrm>
            <a:off x="188913" y="5467350"/>
            <a:ext cx="918051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</a:rPr>
              <a:t>检查无误后加深图线，画剖面线，标尺寸，对零件进行</a:t>
            </a:r>
            <a:endParaRPr lang="zh-CN" altLang="en-US" sz="280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</a:rPr>
              <a:t>编号，填写明细栏、标题栏、技术要求等，完成装配图。</a:t>
            </a:r>
            <a:endParaRPr lang="zh-CN" altLang="en-US" sz="280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285750" y="841375"/>
            <a:ext cx="681038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⒌  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完成装配图</a:t>
            </a:r>
            <a:endParaRPr lang="zh-CN" altLang="en-US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pic>
        <p:nvPicPr>
          <p:cNvPr id="145412" name="Picture 4" descr="15-1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1"/>
          <a:stretch>
            <a:fillRect/>
          </a:stretch>
        </p:blipFill>
        <p:spPr bwMode="auto">
          <a:xfrm>
            <a:off x="1206500" y="442913"/>
            <a:ext cx="7180263" cy="503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0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831975" y="179388"/>
            <a:ext cx="5711825" cy="819150"/>
          </a:xfrm>
          <a:gradFill rotWithShape="0">
            <a:gsLst>
              <a:gs pos="0">
                <a:srgbClr val="00CCFF"/>
              </a:gs>
              <a:gs pos="50000">
                <a:srgbClr val="FFFFFF"/>
              </a:gs>
              <a:gs pos="100000">
                <a:srgbClr val="00CCFF"/>
              </a:gs>
            </a:gsLst>
            <a:lin ang="5400000" scaled="1"/>
          </a:gradFill>
          <a:extLst>
            <a:ext uri="{91240B29-F687-4F45-9708-019B960494DF}">
              <a14:hiddenLine xmlns:a14="http://schemas.microsoft.com/office/drawing/2010/main" w="38100">
                <a:pattFill prst="pct25">
                  <a:fgClr>
                    <a:schemeClr val="bg1"/>
                  </a:fgClr>
                  <a:bgClr>
                    <a:srgbClr val="0066FF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eaLnBrk="1" hangingPunct="1"/>
            <a:r>
              <a:rPr lang="en-US" altLang="zh-CN" sz="4000" b="1">
                <a:latin typeface="黑体" panose="02010609060101010101" pitchFamily="49" charset="-122"/>
                <a:ea typeface="黑体" panose="02010609060101010101" pitchFamily="49" charset="-122"/>
              </a:rPr>
              <a:t>12.7 </a:t>
            </a:r>
            <a:r>
              <a:rPr lang="zh-CN" altLang="en-US" sz="4000" b="1">
                <a:latin typeface="黑体" panose="02010609060101010101" pitchFamily="49" charset="-122"/>
                <a:ea typeface="黑体" panose="02010609060101010101" pitchFamily="49" charset="-122"/>
              </a:rPr>
              <a:t>常见装配结构</a:t>
            </a:r>
            <a:endParaRPr lang="zh-CN" altLang="en-US" sz="4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6197" name="Text Box 5"/>
          <p:cNvSpPr txBox="1">
            <a:spLocks noChangeArrowheads="1"/>
          </p:cNvSpPr>
          <p:nvPr/>
        </p:nvSpPr>
        <p:spPr bwMode="auto">
          <a:xfrm>
            <a:off x="273050" y="1057275"/>
            <a:ext cx="87471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1. </a:t>
            </a:r>
            <a:r>
              <a:rPr lang="zh-CN" altLang="en-US">
                <a:latin typeface="宋体" panose="02010600030101010101" pitchFamily="2" charset="-122"/>
              </a:rPr>
              <a:t>两个零件在同一个方向上，只能有一个接触 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 面或配合面。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6198" name="Text Box 6"/>
          <p:cNvSpPr txBox="1">
            <a:spLocks noChangeArrowheads="1"/>
          </p:cNvSpPr>
          <p:nvPr/>
        </p:nvSpPr>
        <p:spPr bwMode="auto">
          <a:xfrm>
            <a:off x="1501775" y="3978275"/>
            <a:ext cx="80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9900CC"/>
                </a:solidFill>
              </a:rPr>
              <a:t>正确</a:t>
            </a:r>
            <a:endParaRPr lang="zh-CN" altLang="en-US" sz="2400">
              <a:solidFill>
                <a:srgbClr val="9900CC"/>
              </a:solidFill>
            </a:endParaRPr>
          </a:p>
        </p:txBody>
      </p:sp>
      <p:sp>
        <p:nvSpPr>
          <p:cNvPr id="136199" name="Text Box 7"/>
          <p:cNvSpPr txBox="1">
            <a:spLocks noChangeArrowheads="1"/>
          </p:cNvSpPr>
          <p:nvPr/>
        </p:nvSpPr>
        <p:spPr bwMode="auto">
          <a:xfrm>
            <a:off x="3619500" y="3940175"/>
            <a:ext cx="80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333399"/>
                </a:solidFill>
              </a:rPr>
              <a:t>错误</a:t>
            </a:r>
            <a:endParaRPr lang="zh-CN" altLang="en-US" sz="2400">
              <a:solidFill>
                <a:srgbClr val="333399"/>
              </a:solidFill>
            </a:endParaRPr>
          </a:p>
        </p:txBody>
      </p:sp>
      <p:sp>
        <p:nvSpPr>
          <p:cNvPr id="136200" name="Text Box 8"/>
          <p:cNvSpPr txBox="1">
            <a:spLocks noChangeArrowheads="1"/>
          </p:cNvSpPr>
          <p:nvPr/>
        </p:nvSpPr>
        <p:spPr bwMode="auto">
          <a:xfrm>
            <a:off x="7359650" y="3937000"/>
            <a:ext cx="80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333399"/>
                </a:solidFill>
              </a:rPr>
              <a:t>错误</a:t>
            </a:r>
            <a:endParaRPr lang="zh-CN" altLang="en-US" sz="2400">
              <a:solidFill>
                <a:srgbClr val="333399"/>
              </a:solidFill>
            </a:endParaRPr>
          </a:p>
        </p:txBody>
      </p:sp>
      <p:sp>
        <p:nvSpPr>
          <p:cNvPr id="136201" name="Text Box 9"/>
          <p:cNvSpPr txBox="1">
            <a:spLocks noChangeArrowheads="1"/>
          </p:cNvSpPr>
          <p:nvPr/>
        </p:nvSpPr>
        <p:spPr bwMode="auto">
          <a:xfrm>
            <a:off x="5622925" y="3957638"/>
            <a:ext cx="80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9900CC"/>
                </a:solidFill>
              </a:rPr>
              <a:t>正确</a:t>
            </a:r>
            <a:endParaRPr lang="zh-CN" altLang="en-US" sz="2400">
              <a:solidFill>
                <a:srgbClr val="9900CC"/>
              </a:solidFill>
            </a:endParaRPr>
          </a:p>
        </p:txBody>
      </p:sp>
      <p:grpSp>
        <p:nvGrpSpPr>
          <p:cNvPr id="136202" name="Group 10"/>
          <p:cNvGrpSpPr/>
          <p:nvPr/>
        </p:nvGrpSpPr>
        <p:grpSpPr bwMode="auto">
          <a:xfrm>
            <a:off x="1022350" y="2562225"/>
            <a:ext cx="7367588" cy="1449388"/>
            <a:chOff x="722" y="1182"/>
            <a:chExt cx="4641" cy="913"/>
          </a:xfrm>
        </p:grpSpPr>
        <p:grpSp>
          <p:nvGrpSpPr>
            <p:cNvPr id="43073" name="Group 11"/>
            <p:cNvGrpSpPr/>
            <p:nvPr/>
          </p:nvGrpSpPr>
          <p:grpSpPr bwMode="auto">
            <a:xfrm>
              <a:off x="722" y="1187"/>
              <a:ext cx="1162" cy="904"/>
              <a:chOff x="722" y="1187"/>
              <a:chExt cx="1162" cy="904"/>
            </a:xfrm>
          </p:grpSpPr>
          <p:sp>
            <p:nvSpPr>
              <p:cNvPr id="43163" name="Freeform 12"/>
              <p:cNvSpPr/>
              <p:nvPr/>
            </p:nvSpPr>
            <p:spPr bwMode="auto">
              <a:xfrm>
                <a:off x="923" y="1233"/>
                <a:ext cx="720" cy="518"/>
              </a:xfrm>
              <a:custGeom>
                <a:avLst/>
                <a:gdLst>
                  <a:gd name="T0" fmla="*/ 96 w 720"/>
                  <a:gd name="T1" fmla="*/ 518 h 518"/>
                  <a:gd name="T2" fmla="*/ 96 w 720"/>
                  <a:gd name="T3" fmla="*/ 172 h 518"/>
                  <a:gd name="T4" fmla="*/ 0 w 720"/>
                  <a:gd name="T5" fmla="*/ 172 h 518"/>
                  <a:gd name="T6" fmla="*/ 0 w 720"/>
                  <a:gd name="T7" fmla="*/ 0 h 518"/>
                  <a:gd name="T8" fmla="*/ 720 w 720"/>
                  <a:gd name="T9" fmla="*/ 0 h 518"/>
                  <a:gd name="T10" fmla="*/ 720 w 720"/>
                  <a:gd name="T11" fmla="*/ 172 h 518"/>
                  <a:gd name="T12" fmla="*/ 624 w 720"/>
                  <a:gd name="T13" fmla="*/ 172 h 518"/>
                  <a:gd name="T14" fmla="*/ 624 w 720"/>
                  <a:gd name="T15" fmla="*/ 518 h 518"/>
                  <a:gd name="T16" fmla="*/ 96 w 720"/>
                  <a:gd name="T17" fmla="*/ 518 h 51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20" h="518">
                    <a:moveTo>
                      <a:pt x="96" y="518"/>
                    </a:moveTo>
                    <a:lnTo>
                      <a:pt x="96" y="172"/>
                    </a:lnTo>
                    <a:lnTo>
                      <a:pt x="0" y="172"/>
                    </a:lnTo>
                    <a:lnTo>
                      <a:pt x="0" y="0"/>
                    </a:lnTo>
                    <a:lnTo>
                      <a:pt x="720" y="0"/>
                    </a:lnTo>
                    <a:lnTo>
                      <a:pt x="720" y="172"/>
                    </a:lnTo>
                    <a:lnTo>
                      <a:pt x="624" y="172"/>
                    </a:lnTo>
                    <a:lnTo>
                      <a:pt x="624" y="518"/>
                    </a:lnTo>
                    <a:lnTo>
                      <a:pt x="96" y="5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CCFF"/>
                  </a:gs>
                  <a:gs pos="50000">
                    <a:srgbClr val="9BEBFF"/>
                  </a:gs>
                  <a:gs pos="100000">
                    <a:srgbClr val="00CCFF"/>
                  </a:gs>
                </a:gsLst>
                <a:lin ang="0" scaled="1"/>
              </a:gra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64" name="Line 13"/>
              <p:cNvSpPr>
                <a:spLocks noChangeShapeType="1"/>
              </p:cNvSpPr>
              <p:nvPr/>
            </p:nvSpPr>
            <p:spPr bwMode="auto">
              <a:xfrm>
                <a:off x="732" y="1405"/>
                <a:ext cx="28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65" name="Line 14"/>
              <p:cNvSpPr>
                <a:spLocks noChangeShapeType="1"/>
              </p:cNvSpPr>
              <p:nvPr/>
            </p:nvSpPr>
            <p:spPr bwMode="auto">
              <a:xfrm>
                <a:off x="1019" y="1750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66" name="Line 15"/>
              <p:cNvSpPr>
                <a:spLocks noChangeShapeType="1"/>
              </p:cNvSpPr>
              <p:nvPr/>
            </p:nvSpPr>
            <p:spPr bwMode="auto">
              <a:xfrm>
                <a:off x="760" y="2039"/>
                <a:ext cx="112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67" name="Line 16"/>
              <p:cNvSpPr>
                <a:spLocks noChangeShapeType="1"/>
              </p:cNvSpPr>
              <p:nvPr/>
            </p:nvSpPr>
            <p:spPr bwMode="auto">
              <a:xfrm>
                <a:off x="1547" y="1405"/>
                <a:ext cx="31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68" name="Line 17"/>
              <p:cNvSpPr>
                <a:spLocks noChangeShapeType="1"/>
              </p:cNvSpPr>
              <p:nvPr/>
            </p:nvSpPr>
            <p:spPr bwMode="auto">
              <a:xfrm>
                <a:off x="1519" y="1233"/>
                <a:ext cx="115" cy="1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69" name="Line 18"/>
              <p:cNvSpPr>
                <a:spLocks noChangeShapeType="1"/>
              </p:cNvSpPr>
              <p:nvPr/>
            </p:nvSpPr>
            <p:spPr bwMode="auto">
              <a:xfrm>
                <a:off x="1413" y="1290"/>
                <a:ext cx="122" cy="12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70" name="Line 19"/>
              <p:cNvSpPr>
                <a:spLocks noChangeShapeType="1"/>
              </p:cNvSpPr>
              <p:nvPr/>
            </p:nvSpPr>
            <p:spPr bwMode="auto">
              <a:xfrm>
                <a:off x="1413" y="1434"/>
                <a:ext cx="134" cy="13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71" name="Line 20"/>
              <p:cNvSpPr>
                <a:spLocks noChangeShapeType="1"/>
              </p:cNvSpPr>
              <p:nvPr/>
            </p:nvSpPr>
            <p:spPr bwMode="auto">
              <a:xfrm>
                <a:off x="1413" y="1589"/>
                <a:ext cx="134" cy="1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72" name="Line 21"/>
              <p:cNvSpPr>
                <a:spLocks noChangeShapeType="1"/>
              </p:cNvSpPr>
              <p:nvPr/>
            </p:nvSpPr>
            <p:spPr bwMode="auto">
              <a:xfrm>
                <a:off x="1030" y="1242"/>
                <a:ext cx="109" cy="1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73" name="Line 22"/>
              <p:cNvSpPr>
                <a:spLocks noChangeShapeType="1"/>
              </p:cNvSpPr>
              <p:nvPr/>
            </p:nvSpPr>
            <p:spPr bwMode="auto">
              <a:xfrm>
                <a:off x="933" y="1291"/>
                <a:ext cx="218" cy="2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74" name="Line 23"/>
              <p:cNvSpPr>
                <a:spLocks noChangeShapeType="1"/>
              </p:cNvSpPr>
              <p:nvPr/>
            </p:nvSpPr>
            <p:spPr bwMode="auto">
              <a:xfrm>
                <a:off x="1019" y="1520"/>
                <a:ext cx="135" cy="13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75" name="Line 24"/>
              <p:cNvSpPr>
                <a:spLocks noChangeShapeType="1"/>
              </p:cNvSpPr>
              <p:nvPr/>
            </p:nvSpPr>
            <p:spPr bwMode="auto">
              <a:xfrm>
                <a:off x="1019" y="1665"/>
                <a:ext cx="87" cy="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76" name="Line 25"/>
              <p:cNvSpPr>
                <a:spLocks noChangeShapeType="1"/>
              </p:cNvSpPr>
              <p:nvPr/>
            </p:nvSpPr>
            <p:spPr bwMode="auto">
              <a:xfrm flipH="1">
                <a:off x="741" y="1415"/>
                <a:ext cx="134" cy="13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77" name="Line 26"/>
              <p:cNvSpPr>
                <a:spLocks noChangeShapeType="1"/>
              </p:cNvSpPr>
              <p:nvPr/>
            </p:nvSpPr>
            <p:spPr bwMode="auto">
              <a:xfrm flipH="1">
                <a:off x="722" y="1463"/>
                <a:ext cx="297" cy="2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78" name="Line 27"/>
              <p:cNvSpPr>
                <a:spLocks noChangeShapeType="1"/>
              </p:cNvSpPr>
              <p:nvPr/>
            </p:nvSpPr>
            <p:spPr bwMode="auto">
              <a:xfrm flipH="1">
                <a:off x="750" y="1664"/>
                <a:ext cx="269" cy="2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79" name="Line 28"/>
              <p:cNvSpPr>
                <a:spLocks noChangeShapeType="1"/>
              </p:cNvSpPr>
              <p:nvPr/>
            </p:nvSpPr>
            <p:spPr bwMode="auto">
              <a:xfrm flipH="1">
                <a:off x="837" y="1828"/>
                <a:ext cx="211" cy="21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80" name="Line 29"/>
              <p:cNvSpPr>
                <a:spLocks noChangeShapeType="1"/>
              </p:cNvSpPr>
              <p:nvPr/>
            </p:nvSpPr>
            <p:spPr bwMode="auto">
              <a:xfrm flipV="1">
                <a:off x="1024" y="1902"/>
                <a:ext cx="127" cy="13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81" name="Line 30"/>
              <p:cNvSpPr>
                <a:spLocks noChangeShapeType="1"/>
              </p:cNvSpPr>
              <p:nvPr/>
            </p:nvSpPr>
            <p:spPr bwMode="auto">
              <a:xfrm flipV="1">
                <a:off x="1537" y="1405"/>
                <a:ext cx="285" cy="27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82" name="Line 31"/>
              <p:cNvSpPr>
                <a:spLocks noChangeShapeType="1"/>
              </p:cNvSpPr>
              <p:nvPr/>
            </p:nvSpPr>
            <p:spPr bwMode="auto">
              <a:xfrm flipV="1">
                <a:off x="1413" y="1548"/>
                <a:ext cx="442" cy="44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83" name="Line 32"/>
              <p:cNvSpPr>
                <a:spLocks noChangeShapeType="1"/>
              </p:cNvSpPr>
              <p:nvPr/>
            </p:nvSpPr>
            <p:spPr bwMode="auto">
              <a:xfrm flipV="1">
                <a:off x="1567" y="1722"/>
                <a:ext cx="308" cy="30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84" name="Line 33"/>
              <p:cNvSpPr>
                <a:spLocks noChangeShapeType="1"/>
              </p:cNvSpPr>
              <p:nvPr/>
            </p:nvSpPr>
            <p:spPr bwMode="auto">
              <a:xfrm flipV="1">
                <a:off x="1740" y="1896"/>
                <a:ext cx="134" cy="13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85" name="Line 34"/>
              <p:cNvSpPr>
                <a:spLocks noChangeShapeType="1"/>
              </p:cNvSpPr>
              <p:nvPr/>
            </p:nvSpPr>
            <p:spPr bwMode="auto">
              <a:xfrm flipV="1">
                <a:off x="1547" y="1415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86" name="Line 35"/>
              <p:cNvSpPr>
                <a:spLocks noChangeShapeType="1"/>
              </p:cNvSpPr>
              <p:nvPr/>
            </p:nvSpPr>
            <p:spPr bwMode="auto">
              <a:xfrm>
                <a:off x="1019" y="1751"/>
                <a:ext cx="0" cy="8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87" name="Line 36"/>
              <p:cNvSpPr>
                <a:spLocks noChangeShapeType="1"/>
              </p:cNvSpPr>
              <p:nvPr/>
            </p:nvSpPr>
            <p:spPr bwMode="auto">
              <a:xfrm flipV="1">
                <a:off x="1012" y="1824"/>
                <a:ext cx="545" cy="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88" name="Line 37"/>
              <p:cNvSpPr>
                <a:spLocks noChangeShapeType="1"/>
              </p:cNvSpPr>
              <p:nvPr/>
            </p:nvSpPr>
            <p:spPr bwMode="auto">
              <a:xfrm>
                <a:off x="1547" y="1751"/>
                <a:ext cx="0" cy="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89" name="Freeform 38"/>
              <p:cNvSpPr/>
              <p:nvPr/>
            </p:nvSpPr>
            <p:spPr bwMode="auto">
              <a:xfrm>
                <a:off x="1154" y="1830"/>
                <a:ext cx="259" cy="209"/>
              </a:xfrm>
              <a:custGeom>
                <a:avLst/>
                <a:gdLst>
                  <a:gd name="T0" fmla="*/ 0 w 259"/>
                  <a:gd name="T1" fmla="*/ 84 h 518"/>
                  <a:gd name="T2" fmla="*/ 0 w 259"/>
                  <a:gd name="T3" fmla="*/ 0 h 518"/>
                  <a:gd name="T4" fmla="*/ 259 w 259"/>
                  <a:gd name="T5" fmla="*/ 0 h 518"/>
                  <a:gd name="T6" fmla="*/ 259 w 259"/>
                  <a:gd name="T7" fmla="*/ 84 h 518"/>
                  <a:gd name="T8" fmla="*/ 0 w 259"/>
                  <a:gd name="T9" fmla="*/ 84 h 5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9" h="518">
                    <a:moveTo>
                      <a:pt x="0" y="518"/>
                    </a:moveTo>
                    <a:lnTo>
                      <a:pt x="0" y="0"/>
                    </a:lnTo>
                    <a:lnTo>
                      <a:pt x="259" y="0"/>
                    </a:lnTo>
                    <a:lnTo>
                      <a:pt x="259" y="518"/>
                    </a:lnTo>
                    <a:lnTo>
                      <a:pt x="0" y="518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FFFFCC"/>
                        </a:gs>
                        <a:gs pos="50000">
                          <a:srgbClr val="FFFFED"/>
                        </a:gs>
                        <a:gs pos="100000">
                          <a:srgbClr val="FFFFCC"/>
                        </a:gs>
                      </a:gsLst>
                      <a:lin ang="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90" name="Freeform 39"/>
              <p:cNvSpPr/>
              <p:nvPr/>
            </p:nvSpPr>
            <p:spPr bwMode="auto">
              <a:xfrm>
                <a:off x="1159" y="1233"/>
                <a:ext cx="259" cy="515"/>
              </a:xfrm>
              <a:custGeom>
                <a:avLst/>
                <a:gdLst>
                  <a:gd name="T0" fmla="*/ 0 w 259"/>
                  <a:gd name="T1" fmla="*/ 512 h 518"/>
                  <a:gd name="T2" fmla="*/ 0 w 259"/>
                  <a:gd name="T3" fmla="*/ 0 h 518"/>
                  <a:gd name="T4" fmla="*/ 259 w 259"/>
                  <a:gd name="T5" fmla="*/ 0 h 518"/>
                  <a:gd name="T6" fmla="*/ 259 w 259"/>
                  <a:gd name="T7" fmla="*/ 512 h 518"/>
                  <a:gd name="T8" fmla="*/ 0 w 259"/>
                  <a:gd name="T9" fmla="*/ 512 h 5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9" h="518">
                    <a:moveTo>
                      <a:pt x="0" y="518"/>
                    </a:moveTo>
                    <a:lnTo>
                      <a:pt x="0" y="0"/>
                    </a:lnTo>
                    <a:lnTo>
                      <a:pt x="259" y="0"/>
                    </a:lnTo>
                    <a:lnTo>
                      <a:pt x="259" y="518"/>
                    </a:lnTo>
                    <a:lnTo>
                      <a:pt x="0" y="5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/>
                  </a:gs>
                  <a:gs pos="50000">
                    <a:srgbClr val="FFFFF0"/>
                  </a:gs>
                  <a:gs pos="100000">
                    <a:srgbClr val="FFFFCC"/>
                  </a:gs>
                </a:gsLst>
                <a:lin ang="0" scaled="1"/>
              </a:gra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91" name="Line 40"/>
              <p:cNvSpPr>
                <a:spLocks noChangeShapeType="1"/>
              </p:cNvSpPr>
              <p:nvPr/>
            </p:nvSpPr>
            <p:spPr bwMode="auto">
              <a:xfrm>
                <a:off x="1288" y="1187"/>
                <a:ext cx="0" cy="9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74" name="Group 41"/>
            <p:cNvGrpSpPr/>
            <p:nvPr/>
          </p:nvGrpSpPr>
          <p:grpSpPr bwMode="auto">
            <a:xfrm>
              <a:off x="2052" y="1182"/>
              <a:ext cx="1162" cy="897"/>
              <a:chOff x="2052" y="1182"/>
              <a:chExt cx="1162" cy="897"/>
            </a:xfrm>
          </p:grpSpPr>
          <p:sp>
            <p:nvSpPr>
              <p:cNvPr id="43136" name="Line 42"/>
              <p:cNvSpPr>
                <a:spLocks noChangeShapeType="1"/>
              </p:cNvSpPr>
              <p:nvPr/>
            </p:nvSpPr>
            <p:spPr bwMode="auto">
              <a:xfrm>
                <a:off x="2062" y="1401"/>
                <a:ext cx="28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37" name="Freeform 43"/>
              <p:cNvSpPr/>
              <p:nvPr/>
            </p:nvSpPr>
            <p:spPr bwMode="auto">
              <a:xfrm>
                <a:off x="2253" y="1229"/>
                <a:ext cx="720" cy="518"/>
              </a:xfrm>
              <a:custGeom>
                <a:avLst/>
                <a:gdLst>
                  <a:gd name="T0" fmla="*/ 96 w 720"/>
                  <a:gd name="T1" fmla="*/ 518 h 518"/>
                  <a:gd name="T2" fmla="*/ 96 w 720"/>
                  <a:gd name="T3" fmla="*/ 172 h 518"/>
                  <a:gd name="T4" fmla="*/ 0 w 720"/>
                  <a:gd name="T5" fmla="*/ 172 h 518"/>
                  <a:gd name="T6" fmla="*/ 0 w 720"/>
                  <a:gd name="T7" fmla="*/ 0 h 518"/>
                  <a:gd name="T8" fmla="*/ 720 w 720"/>
                  <a:gd name="T9" fmla="*/ 0 h 518"/>
                  <a:gd name="T10" fmla="*/ 720 w 720"/>
                  <a:gd name="T11" fmla="*/ 172 h 518"/>
                  <a:gd name="T12" fmla="*/ 624 w 720"/>
                  <a:gd name="T13" fmla="*/ 172 h 518"/>
                  <a:gd name="T14" fmla="*/ 624 w 720"/>
                  <a:gd name="T15" fmla="*/ 518 h 518"/>
                  <a:gd name="T16" fmla="*/ 96 w 720"/>
                  <a:gd name="T17" fmla="*/ 518 h 51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20" h="518">
                    <a:moveTo>
                      <a:pt x="96" y="518"/>
                    </a:moveTo>
                    <a:lnTo>
                      <a:pt x="96" y="172"/>
                    </a:lnTo>
                    <a:lnTo>
                      <a:pt x="0" y="172"/>
                    </a:lnTo>
                    <a:lnTo>
                      <a:pt x="0" y="0"/>
                    </a:lnTo>
                    <a:lnTo>
                      <a:pt x="720" y="0"/>
                    </a:lnTo>
                    <a:lnTo>
                      <a:pt x="720" y="172"/>
                    </a:lnTo>
                    <a:lnTo>
                      <a:pt x="624" y="172"/>
                    </a:lnTo>
                    <a:lnTo>
                      <a:pt x="624" y="518"/>
                    </a:lnTo>
                    <a:lnTo>
                      <a:pt x="96" y="5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CCFF"/>
                  </a:gs>
                  <a:gs pos="50000">
                    <a:srgbClr val="AFEFFF"/>
                  </a:gs>
                  <a:gs pos="100000">
                    <a:srgbClr val="00CCFF"/>
                  </a:gs>
                </a:gsLst>
                <a:lin ang="0" scaled="1"/>
              </a:gra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38" name="Freeform 44"/>
              <p:cNvSpPr/>
              <p:nvPr/>
            </p:nvSpPr>
            <p:spPr bwMode="auto">
              <a:xfrm>
                <a:off x="2484" y="1229"/>
                <a:ext cx="259" cy="519"/>
              </a:xfrm>
              <a:custGeom>
                <a:avLst/>
                <a:gdLst>
                  <a:gd name="T0" fmla="*/ 0 w 259"/>
                  <a:gd name="T1" fmla="*/ 520 h 518"/>
                  <a:gd name="T2" fmla="*/ 0 w 259"/>
                  <a:gd name="T3" fmla="*/ 0 h 518"/>
                  <a:gd name="T4" fmla="*/ 259 w 259"/>
                  <a:gd name="T5" fmla="*/ 0 h 518"/>
                  <a:gd name="T6" fmla="*/ 259 w 259"/>
                  <a:gd name="T7" fmla="*/ 520 h 518"/>
                  <a:gd name="T8" fmla="*/ 0 w 259"/>
                  <a:gd name="T9" fmla="*/ 520 h 5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9" h="518">
                    <a:moveTo>
                      <a:pt x="0" y="518"/>
                    </a:moveTo>
                    <a:lnTo>
                      <a:pt x="0" y="0"/>
                    </a:lnTo>
                    <a:lnTo>
                      <a:pt x="259" y="0"/>
                    </a:lnTo>
                    <a:lnTo>
                      <a:pt x="259" y="518"/>
                    </a:lnTo>
                    <a:lnTo>
                      <a:pt x="0" y="51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/>
                  </a:gs>
                  <a:gs pos="50000">
                    <a:srgbClr val="FFFFF0"/>
                  </a:gs>
                  <a:gs pos="100000">
                    <a:srgbClr val="FFFFCC"/>
                  </a:gs>
                </a:gsLst>
                <a:lin ang="0" scaled="1"/>
              </a:gra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39" name="Line 45"/>
              <p:cNvSpPr>
                <a:spLocks noChangeShapeType="1"/>
              </p:cNvSpPr>
              <p:nvPr/>
            </p:nvSpPr>
            <p:spPr bwMode="auto">
              <a:xfrm>
                <a:off x="2090" y="2035"/>
                <a:ext cx="112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40" name="Line 46"/>
              <p:cNvSpPr>
                <a:spLocks noChangeShapeType="1"/>
              </p:cNvSpPr>
              <p:nvPr/>
            </p:nvSpPr>
            <p:spPr bwMode="auto">
              <a:xfrm>
                <a:off x="2877" y="1401"/>
                <a:ext cx="31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41" name="Line 47"/>
              <p:cNvSpPr>
                <a:spLocks noChangeShapeType="1"/>
              </p:cNvSpPr>
              <p:nvPr/>
            </p:nvSpPr>
            <p:spPr bwMode="auto">
              <a:xfrm>
                <a:off x="2849" y="1229"/>
                <a:ext cx="115" cy="1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42" name="Line 48"/>
              <p:cNvSpPr>
                <a:spLocks noChangeShapeType="1"/>
              </p:cNvSpPr>
              <p:nvPr/>
            </p:nvSpPr>
            <p:spPr bwMode="auto">
              <a:xfrm>
                <a:off x="2743" y="1286"/>
                <a:ext cx="115" cy="1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43" name="Line 49"/>
              <p:cNvSpPr>
                <a:spLocks noChangeShapeType="1"/>
              </p:cNvSpPr>
              <p:nvPr/>
            </p:nvSpPr>
            <p:spPr bwMode="auto">
              <a:xfrm>
                <a:off x="2743" y="1430"/>
                <a:ext cx="134" cy="13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44" name="Line 50"/>
              <p:cNvSpPr>
                <a:spLocks noChangeShapeType="1"/>
              </p:cNvSpPr>
              <p:nvPr/>
            </p:nvSpPr>
            <p:spPr bwMode="auto">
              <a:xfrm>
                <a:off x="2743" y="1585"/>
                <a:ext cx="134" cy="13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45" name="Line 51"/>
              <p:cNvSpPr>
                <a:spLocks noChangeShapeType="1"/>
              </p:cNvSpPr>
              <p:nvPr/>
            </p:nvSpPr>
            <p:spPr bwMode="auto">
              <a:xfrm>
                <a:off x="2360" y="1238"/>
                <a:ext cx="122" cy="12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46" name="Line 52"/>
              <p:cNvSpPr>
                <a:spLocks noChangeShapeType="1"/>
              </p:cNvSpPr>
              <p:nvPr/>
            </p:nvSpPr>
            <p:spPr bwMode="auto">
              <a:xfrm>
                <a:off x="2263" y="1287"/>
                <a:ext cx="211" cy="21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47" name="Line 53"/>
              <p:cNvSpPr>
                <a:spLocks noChangeShapeType="1"/>
              </p:cNvSpPr>
              <p:nvPr/>
            </p:nvSpPr>
            <p:spPr bwMode="auto">
              <a:xfrm>
                <a:off x="2349" y="1516"/>
                <a:ext cx="135" cy="13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48" name="Line 54"/>
              <p:cNvSpPr>
                <a:spLocks noChangeShapeType="1"/>
              </p:cNvSpPr>
              <p:nvPr/>
            </p:nvSpPr>
            <p:spPr bwMode="auto">
              <a:xfrm>
                <a:off x="2349" y="1655"/>
                <a:ext cx="87" cy="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49" name="Line 55"/>
              <p:cNvSpPr>
                <a:spLocks noChangeShapeType="1"/>
              </p:cNvSpPr>
              <p:nvPr/>
            </p:nvSpPr>
            <p:spPr bwMode="auto">
              <a:xfrm flipH="1">
                <a:off x="2071" y="1397"/>
                <a:ext cx="148" cy="1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50" name="Line 56"/>
              <p:cNvSpPr>
                <a:spLocks noChangeShapeType="1"/>
              </p:cNvSpPr>
              <p:nvPr/>
            </p:nvSpPr>
            <p:spPr bwMode="auto">
              <a:xfrm flipH="1">
                <a:off x="2052" y="1466"/>
                <a:ext cx="297" cy="2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51" name="Line 57"/>
              <p:cNvSpPr>
                <a:spLocks noChangeShapeType="1"/>
              </p:cNvSpPr>
              <p:nvPr/>
            </p:nvSpPr>
            <p:spPr bwMode="auto">
              <a:xfrm flipH="1">
                <a:off x="2080" y="1660"/>
                <a:ext cx="269" cy="2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52" name="Line 58"/>
              <p:cNvSpPr>
                <a:spLocks noChangeShapeType="1"/>
              </p:cNvSpPr>
              <p:nvPr/>
            </p:nvSpPr>
            <p:spPr bwMode="auto">
              <a:xfrm flipH="1">
                <a:off x="2167" y="1743"/>
                <a:ext cx="292" cy="2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53" name="Line 59"/>
              <p:cNvSpPr>
                <a:spLocks noChangeShapeType="1"/>
              </p:cNvSpPr>
              <p:nvPr/>
            </p:nvSpPr>
            <p:spPr bwMode="auto">
              <a:xfrm flipV="1">
                <a:off x="2353" y="1911"/>
                <a:ext cx="121" cy="1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54" name="Line 60"/>
              <p:cNvSpPr>
                <a:spLocks noChangeShapeType="1"/>
              </p:cNvSpPr>
              <p:nvPr/>
            </p:nvSpPr>
            <p:spPr bwMode="auto">
              <a:xfrm flipV="1">
                <a:off x="2873" y="1401"/>
                <a:ext cx="273" cy="2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55" name="Line 61"/>
              <p:cNvSpPr>
                <a:spLocks noChangeShapeType="1"/>
              </p:cNvSpPr>
              <p:nvPr/>
            </p:nvSpPr>
            <p:spPr bwMode="auto">
              <a:xfrm flipV="1">
                <a:off x="2743" y="1544"/>
                <a:ext cx="442" cy="4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56" name="Line 62"/>
              <p:cNvSpPr>
                <a:spLocks noChangeShapeType="1"/>
              </p:cNvSpPr>
              <p:nvPr/>
            </p:nvSpPr>
            <p:spPr bwMode="auto">
              <a:xfrm flipV="1">
                <a:off x="2897" y="1718"/>
                <a:ext cx="308" cy="30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57" name="Line 63"/>
              <p:cNvSpPr>
                <a:spLocks noChangeShapeType="1"/>
              </p:cNvSpPr>
              <p:nvPr/>
            </p:nvSpPr>
            <p:spPr bwMode="auto">
              <a:xfrm flipV="1">
                <a:off x="3070" y="1892"/>
                <a:ext cx="134" cy="13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58" name="Line 64"/>
              <p:cNvSpPr>
                <a:spLocks noChangeShapeType="1"/>
              </p:cNvSpPr>
              <p:nvPr/>
            </p:nvSpPr>
            <p:spPr bwMode="auto">
              <a:xfrm flipV="1">
                <a:off x="2877" y="1406"/>
                <a:ext cx="101" cy="10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59" name="Line 65"/>
              <p:cNvSpPr>
                <a:spLocks noChangeShapeType="1"/>
              </p:cNvSpPr>
              <p:nvPr/>
            </p:nvSpPr>
            <p:spPr bwMode="auto">
              <a:xfrm flipH="1">
                <a:off x="2744" y="1759"/>
                <a:ext cx="38" cy="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60" name="Line 66"/>
              <p:cNvSpPr>
                <a:spLocks noChangeShapeType="1"/>
              </p:cNvSpPr>
              <p:nvPr/>
            </p:nvSpPr>
            <p:spPr bwMode="auto">
              <a:xfrm>
                <a:off x="2609" y="1182"/>
                <a:ext cx="0" cy="89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61" name="Line 67"/>
              <p:cNvSpPr>
                <a:spLocks noChangeShapeType="1"/>
              </p:cNvSpPr>
              <p:nvPr/>
            </p:nvSpPr>
            <p:spPr bwMode="auto">
              <a:xfrm>
                <a:off x="2482" y="174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62" name="Line 68"/>
              <p:cNvSpPr>
                <a:spLocks noChangeShapeType="1"/>
              </p:cNvSpPr>
              <p:nvPr/>
            </p:nvSpPr>
            <p:spPr bwMode="auto">
              <a:xfrm>
                <a:off x="2744" y="174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75" name="Group 69"/>
            <p:cNvGrpSpPr/>
            <p:nvPr/>
          </p:nvGrpSpPr>
          <p:grpSpPr bwMode="auto">
            <a:xfrm>
              <a:off x="4519" y="1261"/>
              <a:ext cx="844" cy="828"/>
              <a:chOff x="4519" y="1261"/>
              <a:chExt cx="844" cy="828"/>
            </a:xfrm>
          </p:grpSpPr>
          <p:sp>
            <p:nvSpPr>
              <p:cNvPr id="43108" name="Rectangle 70"/>
              <p:cNvSpPr>
                <a:spLocks noChangeArrowheads="1"/>
              </p:cNvSpPr>
              <p:nvPr/>
            </p:nvSpPr>
            <p:spPr bwMode="auto">
              <a:xfrm>
                <a:off x="4710" y="1318"/>
                <a:ext cx="461" cy="250"/>
              </a:xfrm>
              <a:prstGeom prst="rect">
                <a:avLst/>
              </a:prstGeom>
              <a:gradFill rotWithShape="0">
                <a:gsLst>
                  <a:gs pos="0">
                    <a:srgbClr val="9BCDB4"/>
                  </a:gs>
                  <a:gs pos="50000">
                    <a:srgbClr val="C8E4D6"/>
                  </a:gs>
                  <a:gs pos="100000">
                    <a:srgbClr val="9BCDB4"/>
                  </a:gs>
                </a:gsLst>
                <a:lin ang="0" scaled="1"/>
              </a:gradFill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43109" name="Rectangle 71"/>
              <p:cNvSpPr>
                <a:spLocks noChangeArrowheads="1"/>
              </p:cNvSpPr>
              <p:nvPr/>
            </p:nvSpPr>
            <p:spPr bwMode="auto">
              <a:xfrm>
                <a:off x="4825" y="1568"/>
                <a:ext cx="231" cy="201"/>
              </a:xfrm>
              <a:prstGeom prst="rect">
                <a:avLst/>
              </a:prstGeom>
              <a:gradFill rotWithShape="0">
                <a:gsLst>
                  <a:gs pos="0">
                    <a:srgbClr val="9BCDB4"/>
                  </a:gs>
                  <a:gs pos="50000">
                    <a:srgbClr val="CAE5D7"/>
                  </a:gs>
                  <a:gs pos="100000">
                    <a:srgbClr val="9BCDB4"/>
                  </a:gs>
                </a:gsLst>
                <a:lin ang="0" scaled="1"/>
              </a:gradFill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43110" name="Freeform 72"/>
              <p:cNvSpPr/>
              <p:nvPr/>
            </p:nvSpPr>
            <p:spPr bwMode="auto">
              <a:xfrm>
                <a:off x="4825" y="1769"/>
                <a:ext cx="231" cy="39"/>
              </a:xfrm>
              <a:custGeom>
                <a:avLst/>
                <a:gdLst>
                  <a:gd name="T0" fmla="*/ 0 w 231"/>
                  <a:gd name="T1" fmla="*/ 0 h 39"/>
                  <a:gd name="T2" fmla="*/ 39 w 231"/>
                  <a:gd name="T3" fmla="*/ 39 h 39"/>
                  <a:gd name="T4" fmla="*/ 196 w 231"/>
                  <a:gd name="T5" fmla="*/ 39 h 39"/>
                  <a:gd name="T6" fmla="*/ 231 w 231"/>
                  <a:gd name="T7" fmla="*/ 0 h 39"/>
                  <a:gd name="T8" fmla="*/ 0 w 231"/>
                  <a:gd name="T9" fmla="*/ 0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1" h="39">
                    <a:moveTo>
                      <a:pt x="0" y="0"/>
                    </a:moveTo>
                    <a:lnTo>
                      <a:pt x="39" y="39"/>
                    </a:lnTo>
                    <a:lnTo>
                      <a:pt x="196" y="39"/>
                    </a:lnTo>
                    <a:lnTo>
                      <a:pt x="23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BCDB4"/>
                  </a:gs>
                  <a:gs pos="50000">
                    <a:srgbClr val="D0E7DC"/>
                  </a:gs>
                  <a:gs pos="100000">
                    <a:srgbClr val="9BCDB4"/>
                  </a:gs>
                </a:gsLst>
                <a:lin ang="0" scaled="1"/>
              </a:gra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11" name="Line 73"/>
              <p:cNvSpPr>
                <a:spLocks noChangeShapeType="1"/>
              </p:cNvSpPr>
              <p:nvPr/>
            </p:nvSpPr>
            <p:spPr bwMode="auto">
              <a:xfrm>
                <a:off x="4565" y="2006"/>
                <a:ext cx="73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12" name="Line 74"/>
              <p:cNvSpPr>
                <a:spLocks noChangeShapeType="1"/>
              </p:cNvSpPr>
              <p:nvPr/>
            </p:nvSpPr>
            <p:spPr bwMode="auto">
              <a:xfrm flipH="1">
                <a:off x="4824" y="1775"/>
                <a:ext cx="1" cy="22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13" name="Line 75"/>
              <p:cNvSpPr>
                <a:spLocks noChangeShapeType="1"/>
              </p:cNvSpPr>
              <p:nvPr/>
            </p:nvSpPr>
            <p:spPr bwMode="auto">
              <a:xfrm>
                <a:off x="5056" y="1765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14" name="Line 76"/>
              <p:cNvSpPr>
                <a:spLocks noChangeShapeType="1"/>
              </p:cNvSpPr>
              <p:nvPr/>
            </p:nvSpPr>
            <p:spPr bwMode="auto">
              <a:xfrm>
                <a:off x="4527" y="1380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15" name="Line 77"/>
              <p:cNvSpPr>
                <a:spLocks noChangeShapeType="1"/>
              </p:cNvSpPr>
              <p:nvPr/>
            </p:nvSpPr>
            <p:spPr bwMode="auto">
              <a:xfrm>
                <a:off x="5172" y="1376"/>
                <a:ext cx="19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3116" name="Group 78"/>
              <p:cNvGrpSpPr/>
              <p:nvPr/>
            </p:nvGrpSpPr>
            <p:grpSpPr bwMode="auto">
              <a:xfrm>
                <a:off x="4519" y="1371"/>
                <a:ext cx="839" cy="639"/>
                <a:chOff x="4519" y="1371"/>
                <a:chExt cx="839" cy="639"/>
              </a:xfrm>
            </p:grpSpPr>
            <p:sp>
              <p:nvSpPr>
                <p:cNvPr id="43119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4519" y="1389"/>
                  <a:ext cx="76" cy="7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20" name="Line 80"/>
                <p:cNvSpPr>
                  <a:spLocks noChangeShapeType="1"/>
                </p:cNvSpPr>
                <p:nvPr/>
              </p:nvSpPr>
              <p:spPr bwMode="auto">
                <a:xfrm flipH="1">
                  <a:off x="4537" y="1381"/>
                  <a:ext cx="168" cy="16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21" name="Line 81"/>
                <p:cNvSpPr>
                  <a:spLocks noChangeShapeType="1"/>
                </p:cNvSpPr>
                <p:nvPr/>
              </p:nvSpPr>
              <p:spPr bwMode="auto">
                <a:xfrm flipH="1">
                  <a:off x="4533" y="1486"/>
                  <a:ext cx="178" cy="1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22" name="Line 82"/>
                <p:cNvSpPr>
                  <a:spLocks noChangeShapeType="1"/>
                </p:cNvSpPr>
                <p:nvPr/>
              </p:nvSpPr>
              <p:spPr bwMode="auto">
                <a:xfrm flipH="1">
                  <a:off x="4544" y="1568"/>
                  <a:ext cx="180" cy="1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23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4544" y="1568"/>
                  <a:ext cx="277" cy="27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24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4559" y="1669"/>
                  <a:ext cx="262" cy="26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25" name="Line 85"/>
                <p:cNvSpPr>
                  <a:spLocks noChangeShapeType="1"/>
                </p:cNvSpPr>
                <p:nvPr/>
              </p:nvSpPr>
              <p:spPr bwMode="auto">
                <a:xfrm flipH="1">
                  <a:off x="4585" y="1774"/>
                  <a:ext cx="231" cy="23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26" name="Line 86"/>
                <p:cNvSpPr>
                  <a:spLocks noChangeShapeType="1"/>
                </p:cNvSpPr>
                <p:nvPr/>
              </p:nvSpPr>
              <p:spPr bwMode="auto">
                <a:xfrm flipH="1">
                  <a:off x="4691" y="1870"/>
                  <a:ext cx="130" cy="13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27" name="Line 87"/>
                <p:cNvSpPr>
                  <a:spLocks noChangeShapeType="1"/>
                </p:cNvSpPr>
                <p:nvPr/>
              </p:nvSpPr>
              <p:spPr bwMode="auto">
                <a:xfrm flipV="1">
                  <a:off x="5056" y="1434"/>
                  <a:ext cx="302" cy="29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28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5055" y="1569"/>
                  <a:ext cx="62" cy="6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29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5171" y="1371"/>
                  <a:ext cx="149" cy="14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30" name="Line 90"/>
                <p:cNvSpPr>
                  <a:spLocks noChangeShapeType="1"/>
                </p:cNvSpPr>
                <p:nvPr/>
              </p:nvSpPr>
              <p:spPr bwMode="auto">
                <a:xfrm flipV="1">
                  <a:off x="5057" y="1549"/>
                  <a:ext cx="278" cy="27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31" name="Line 91"/>
                <p:cNvSpPr>
                  <a:spLocks noChangeShapeType="1"/>
                </p:cNvSpPr>
                <p:nvPr/>
              </p:nvSpPr>
              <p:spPr bwMode="auto">
                <a:xfrm flipV="1">
                  <a:off x="5060" y="1658"/>
                  <a:ext cx="264" cy="26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32" name="Line 92"/>
                <p:cNvSpPr>
                  <a:spLocks noChangeShapeType="1"/>
                </p:cNvSpPr>
                <p:nvPr/>
              </p:nvSpPr>
              <p:spPr bwMode="auto">
                <a:xfrm flipV="1">
                  <a:off x="5076" y="1760"/>
                  <a:ext cx="244" cy="25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33" name="Line 93"/>
                <p:cNvSpPr>
                  <a:spLocks noChangeShapeType="1"/>
                </p:cNvSpPr>
                <p:nvPr/>
              </p:nvSpPr>
              <p:spPr bwMode="auto">
                <a:xfrm flipV="1">
                  <a:off x="5176" y="1875"/>
                  <a:ext cx="130" cy="13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34" name="Line 94"/>
                <p:cNvSpPr>
                  <a:spLocks noChangeShapeType="1"/>
                </p:cNvSpPr>
                <p:nvPr/>
              </p:nvSpPr>
              <p:spPr bwMode="auto">
                <a:xfrm flipV="1">
                  <a:off x="5171" y="1376"/>
                  <a:ext cx="48" cy="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35" name="Line 95"/>
                <p:cNvSpPr>
                  <a:spLocks noChangeShapeType="1"/>
                </p:cNvSpPr>
                <p:nvPr/>
              </p:nvSpPr>
              <p:spPr bwMode="auto">
                <a:xfrm flipV="1">
                  <a:off x="5270" y="1955"/>
                  <a:ext cx="51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3117" name="Line 96"/>
              <p:cNvSpPr>
                <a:spLocks noChangeShapeType="1"/>
              </p:cNvSpPr>
              <p:nvPr/>
            </p:nvSpPr>
            <p:spPr bwMode="auto">
              <a:xfrm flipH="1">
                <a:off x="4764" y="1956"/>
                <a:ext cx="58" cy="5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18" name="Line 97"/>
              <p:cNvSpPr>
                <a:spLocks noChangeShapeType="1"/>
              </p:cNvSpPr>
              <p:nvPr/>
            </p:nvSpPr>
            <p:spPr bwMode="auto">
              <a:xfrm>
                <a:off x="4941" y="1261"/>
                <a:ext cx="0" cy="8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76" name="Group 98"/>
            <p:cNvGrpSpPr/>
            <p:nvPr/>
          </p:nvGrpSpPr>
          <p:grpSpPr bwMode="auto">
            <a:xfrm>
              <a:off x="3445" y="1273"/>
              <a:ext cx="836" cy="822"/>
              <a:chOff x="3445" y="1273"/>
              <a:chExt cx="836" cy="822"/>
            </a:xfrm>
          </p:grpSpPr>
          <p:sp>
            <p:nvSpPr>
              <p:cNvPr id="43077" name="Rectangle 99"/>
              <p:cNvSpPr>
                <a:spLocks noChangeArrowheads="1"/>
              </p:cNvSpPr>
              <p:nvPr/>
            </p:nvSpPr>
            <p:spPr bwMode="auto">
              <a:xfrm>
                <a:off x="3628" y="1330"/>
                <a:ext cx="461" cy="250"/>
              </a:xfrm>
              <a:prstGeom prst="rect">
                <a:avLst/>
              </a:prstGeom>
              <a:gradFill rotWithShape="0">
                <a:gsLst>
                  <a:gs pos="0">
                    <a:srgbClr val="9BCDB4"/>
                  </a:gs>
                  <a:gs pos="50000">
                    <a:srgbClr val="D0E7DC"/>
                  </a:gs>
                  <a:gs pos="100000">
                    <a:srgbClr val="9BCDB4"/>
                  </a:gs>
                </a:gsLst>
                <a:lin ang="0" scaled="1"/>
              </a:gradFill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43078" name="Rectangle 100"/>
              <p:cNvSpPr>
                <a:spLocks noChangeArrowheads="1"/>
              </p:cNvSpPr>
              <p:nvPr/>
            </p:nvSpPr>
            <p:spPr bwMode="auto">
              <a:xfrm>
                <a:off x="3743" y="1580"/>
                <a:ext cx="231" cy="201"/>
              </a:xfrm>
              <a:prstGeom prst="rect">
                <a:avLst/>
              </a:prstGeom>
              <a:gradFill rotWithShape="0">
                <a:gsLst>
                  <a:gs pos="0">
                    <a:srgbClr val="9BCDB4"/>
                  </a:gs>
                  <a:gs pos="50000">
                    <a:srgbClr val="D6EAE0"/>
                  </a:gs>
                  <a:gs pos="100000">
                    <a:srgbClr val="9BCDB4"/>
                  </a:gs>
                </a:gsLst>
                <a:lin ang="0" scaled="1"/>
              </a:gradFill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43079" name="Freeform 101"/>
              <p:cNvSpPr/>
              <p:nvPr/>
            </p:nvSpPr>
            <p:spPr bwMode="auto">
              <a:xfrm>
                <a:off x="3743" y="1781"/>
                <a:ext cx="231" cy="39"/>
              </a:xfrm>
              <a:custGeom>
                <a:avLst/>
                <a:gdLst>
                  <a:gd name="T0" fmla="*/ 0 w 231"/>
                  <a:gd name="T1" fmla="*/ 0 h 39"/>
                  <a:gd name="T2" fmla="*/ 39 w 231"/>
                  <a:gd name="T3" fmla="*/ 39 h 39"/>
                  <a:gd name="T4" fmla="*/ 202 w 231"/>
                  <a:gd name="T5" fmla="*/ 39 h 39"/>
                  <a:gd name="T6" fmla="*/ 231 w 231"/>
                  <a:gd name="T7" fmla="*/ 0 h 39"/>
                  <a:gd name="T8" fmla="*/ 0 w 231"/>
                  <a:gd name="T9" fmla="*/ 0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1" h="39">
                    <a:moveTo>
                      <a:pt x="0" y="0"/>
                    </a:moveTo>
                    <a:lnTo>
                      <a:pt x="39" y="39"/>
                    </a:lnTo>
                    <a:lnTo>
                      <a:pt x="202" y="39"/>
                    </a:lnTo>
                    <a:lnTo>
                      <a:pt x="23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BCDB4"/>
                  </a:gs>
                  <a:gs pos="50000">
                    <a:srgbClr val="D2E8DD"/>
                  </a:gs>
                  <a:gs pos="100000">
                    <a:srgbClr val="9BCDB4"/>
                  </a:gs>
                </a:gsLst>
                <a:lin ang="0" scaled="1"/>
              </a:gra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80" name="Line 102"/>
              <p:cNvSpPr>
                <a:spLocks noChangeShapeType="1"/>
              </p:cNvSpPr>
              <p:nvPr/>
            </p:nvSpPr>
            <p:spPr bwMode="auto">
              <a:xfrm>
                <a:off x="3483" y="2018"/>
                <a:ext cx="73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81" name="Line 103"/>
              <p:cNvSpPr>
                <a:spLocks noChangeShapeType="1"/>
              </p:cNvSpPr>
              <p:nvPr/>
            </p:nvSpPr>
            <p:spPr bwMode="auto">
              <a:xfrm>
                <a:off x="3743" y="1781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82" name="Line 104"/>
              <p:cNvSpPr>
                <a:spLocks noChangeShapeType="1"/>
              </p:cNvSpPr>
              <p:nvPr/>
            </p:nvSpPr>
            <p:spPr bwMode="auto">
              <a:xfrm>
                <a:off x="3974" y="1777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83" name="Line 105"/>
              <p:cNvSpPr>
                <a:spLocks noChangeShapeType="1"/>
              </p:cNvSpPr>
              <p:nvPr/>
            </p:nvSpPr>
            <p:spPr bwMode="auto">
              <a:xfrm>
                <a:off x="3445" y="1392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84" name="Line 106"/>
              <p:cNvSpPr>
                <a:spLocks noChangeShapeType="1"/>
              </p:cNvSpPr>
              <p:nvPr/>
            </p:nvSpPr>
            <p:spPr bwMode="auto">
              <a:xfrm>
                <a:off x="4090" y="1388"/>
                <a:ext cx="19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85" name="Line 107"/>
              <p:cNvSpPr>
                <a:spLocks noChangeShapeType="1"/>
              </p:cNvSpPr>
              <p:nvPr/>
            </p:nvSpPr>
            <p:spPr bwMode="auto">
              <a:xfrm flipH="1">
                <a:off x="3700" y="1969"/>
                <a:ext cx="43" cy="4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3086" name="Group 108"/>
              <p:cNvGrpSpPr/>
              <p:nvPr/>
            </p:nvGrpSpPr>
            <p:grpSpPr bwMode="auto">
              <a:xfrm>
                <a:off x="3450" y="1389"/>
                <a:ext cx="826" cy="633"/>
                <a:chOff x="3450" y="1389"/>
                <a:chExt cx="826" cy="633"/>
              </a:xfrm>
            </p:grpSpPr>
            <p:sp>
              <p:nvSpPr>
                <p:cNvPr id="43093" name="Line 109"/>
                <p:cNvSpPr>
                  <a:spLocks noChangeShapeType="1"/>
                </p:cNvSpPr>
                <p:nvPr/>
              </p:nvSpPr>
              <p:spPr bwMode="auto">
                <a:xfrm flipH="1">
                  <a:off x="3450" y="1399"/>
                  <a:ext cx="69" cy="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94" name="Line 110"/>
                <p:cNvSpPr>
                  <a:spLocks noChangeShapeType="1"/>
                </p:cNvSpPr>
                <p:nvPr/>
              </p:nvSpPr>
              <p:spPr bwMode="auto">
                <a:xfrm flipH="1">
                  <a:off x="3455" y="1432"/>
                  <a:ext cx="129" cy="12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95" name="Line 111"/>
                <p:cNvSpPr>
                  <a:spLocks noChangeShapeType="1"/>
                </p:cNvSpPr>
                <p:nvPr/>
              </p:nvSpPr>
              <p:spPr bwMode="auto">
                <a:xfrm flipH="1">
                  <a:off x="3451" y="1522"/>
                  <a:ext cx="148" cy="1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96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3455" y="1580"/>
                  <a:ext cx="181" cy="18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97" name="Line 113"/>
                <p:cNvSpPr>
                  <a:spLocks noChangeShapeType="1"/>
                </p:cNvSpPr>
                <p:nvPr/>
              </p:nvSpPr>
              <p:spPr bwMode="auto">
                <a:xfrm flipH="1">
                  <a:off x="3461" y="1580"/>
                  <a:ext cx="278" cy="27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98" name="Line 114"/>
                <p:cNvSpPr>
                  <a:spLocks noChangeShapeType="1"/>
                </p:cNvSpPr>
                <p:nvPr/>
              </p:nvSpPr>
              <p:spPr bwMode="auto">
                <a:xfrm flipH="1">
                  <a:off x="3471" y="1681"/>
                  <a:ext cx="268" cy="26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99" name="Line 115"/>
                <p:cNvSpPr>
                  <a:spLocks noChangeShapeType="1"/>
                </p:cNvSpPr>
                <p:nvPr/>
              </p:nvSpPr>
              <p:spPr bwMode="auto">
                <a:xfrm flipH="1">
                  <a:off x="3503" y="1786"/>
                  <a:ext cx="231" cy="23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0" name="Line 116"/>
                <p:cNvSpPr>
                  <a:spLocks noChangeShapeType="1"/>
                </p:cNvSpPr>
                <p:nvPr/>
              </p:nvSpPr>
              <p:spPr bwMode="auto">
                <a:xfrm flipH="1">
                  <a:off x="3609" y="1882"/>
                  <a:ext cx="130" cy="13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1" name="Line 117"/>
                <p:cNvSpPr>
                  <a:spLocks noChangeShapeType="1"/>
                </p:cNvSpPr>
                <p:nvPr/>
              </p:nvSpPr>
              <p:spPr bwMode="auto">
                <a:xfrm flipV="1">
                  <a:off x="3974" y="1440"/>
                  <a:ext cx="302" cy="30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2" name="Line 118"/>
                <p:cNvSpPr>
                  <a:spLocks noChangeShapeType="1"/>
                </p:cNvSpPr>
                <p:nvPr/>
              </p:nvSpPr>
              <p:spPr bwMode="auto">
                <a:xfrm flipV="1">
                  <a:off x="3973" y="1581"/>
                  <a:ext cx="62" cy="6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3" name="Line 119"/>
                <p:cNvSpPr>
                  <a:spLocks noChangeShapeType="1"/>
                </p:cNvSpPr>
                <p:nvPr/>
              </p:nvSpPr>
              <p:spPr bwMode="auto">
                <a:xfrm flipV="1">
                  <a:off x="4123" y="1389"/>
                  <a:ext cx="108" cy="10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4" name="Line 120"/>
                <p:cNvSpPr>
                  <a:spLocks noChangeShapeType="1"/>
                </p:cNvSpPr>
                <p:nvPr/>
              </p:nvSpPr>
              <p:spPr bwMode="auto">
                <a:xfrm flipV="1">
                  <a:off x="3975" y="1567"/>
                  <a:ext cx="278" cy="27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5" name="Line 121"/>
                <p:cNvSpPr>
                  <a:spLocks noChangeShapeType="1"/>
                </p:cNvSpPr>
                <p:nvPr/>
              </p:nvSpPr>
              <p:spPr bwMode="auto">
                <a:xfrm flipV="1">
                  <a:off x="3978" y="1677"/>
                  <a:ext cx="264" cy="2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6" name="Line 122"/>
                <p:cNvSpPr>
                  <a:spLocks noChangeShapeType="1"/>
                </p:cNvSpPr>
                <p:nvPr/>
              </p:nvSpPr>
              <p:spPr bwMode="auto">
                <a:xfrm flipV="1">
                  <a:off x="3988" y="1772"/>
                  <a:ext cx="250" cy="25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7" name="Line 123"/>
                <p:cNvSpPr>
                  <a:spLocks noChangeShapeType="1"/>
                </p:cNvSpPr>
                <p:nvPr/>
              </p:nvSpPr>
              <p:spPr bwMode="auto">
                <a:xfrm flipV="1">
                  <a:off x="4099" y="1882"/>
                  <a:ext cx="125" cy="1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3087" name="Line 124"/>
              <p:cNvSpPr>
                <a:spLocks noChangeShapeType="1"/>
              </p:cNvSpPr>
              <p:nvPr/>
            </p:nvSpPr>
            <p:spPr bwMode="auto">
              <a:xfrm>
                <a:off x="3596" y="1392"/>
                <a:ext cx="0" cy="1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88" name="Line 125"/>
              <p:cNvSpPr>
                <a:spLocks noChangeShapeType="1"/>
              </p:cNvSpPr>
              <p:nvPr/>
            </p:nvSpPr>
            <p:spPr bwMode="auto">
              <a:xfrm>
                <a:off x="4123" y="1383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89" name="Line 126"/>
              <p:cNvSpPr>
                <a:spLocks noChangeShapeType="1"/>
              </p:cNvSpPr>
              <p:nvPr/>
            </p:nvSpPr>
            <p:spPr bwMode="auto">
              <a:xfrm flipH="1">
                <a:off x="3600" y="1581"/>
                <a:ext cx="2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90" name="Line 127"/>
              <p:cNvSpPr>
                <a:spLocks noChangeShapeType="1"/>
              </p:cNvSpPr>
              <p:nvPr/>
            </p:nvSpPr>
            <p:spPr bwMode="auto">
              <a:xfrm>
                <a:off x="4089" y="1580"/>
                <a:ext cx="3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91" name="Line 128"/>
              <p:cNvSpPr>
                <a:spLocks noChangeShapeType="1"/>
              </p:cNvSpPr>
              <p:nvPr/>
            </p:nvSpPr>
            <p:spPr bwMode="auto">
              <a:xfrm flipV="1">
                <a:off x="4174" y="1969"/>
                <a:ext cx="51" cy="5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92" name="Line 129"/>
              <p:cNvSpPr>
                <a:spLocks noChangeShapeType="1"/>
              </p:cNvSpPr>
              <p:nvPr/>
            </p:nvSpPr>
            <p:spPr bwMode="auto">
              <a:xfrm>
                <a:off x="3859" y="1273"/>
                <a:ext cx="0" cy="82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36379" name="Group 187"/>
          <p:cNvGrpSpPr/>
          <p:nvPr/>
        </p:nvGrpSpPr>
        <p:grpSpPr bwMode="auto">
          <a:xfrm>
            <a:off x="2039938" y="3492500"/>
            <a:ext cx="1423987" cy="895350"/>
            <a:chOff x="1285" y="2200"/>
            <a:chExt cx="897" cy="564"/>
          </a:xfrm>
        </p:grpSpPr>
        <p:sp>
          <p:nvSpPr>
            <p:cNvPr id="43070" name="Text Box 131"/>
            <p:cNvSpPr txBox="1">
              <a:spLocks noChangeArrowheads="1"/>
            </p:cNvSpPr>
            <p:nvPr/>
          </p:nvSpPr>
          <p:spPr bwMode="auto">
            <a:xfrm>
              <a:off x="1487" y="2476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不接触</a:t>
              </a: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43071" name="Line 132"/>
            <p:cNvSpPr>
              <a:spLocks noChangeShapeType="1"/>
            </p:cNvSpPr>
            <p:nvPr/>
          </p:nvSpPr>
          <p:spPr bwMode="auto">
            <a:xfrm>
              <a:off x="1285" y="2200"/>
              <a:ext cx="272" cy="55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72" name="Line 133"/>
            <p:cNvSpPr>
              <a:spLocks noChangeShapeType="1"/>
            </p:cNvSpPr>
            <p:nvPr/>
          </p:nvSpPr>
          <p:spPr bwMode="auto">
            <a:xfrm flipH="1">
              <a:off x="1551" y="2756"/>
              <a:ext cx="583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6326" name="Group 134"/>
          <p:cNvGrpSpPr/>
          <p:nvPr/>
        </p:nvGrpSpPr>
        <p:grpSpPr bwMode="auto">
          <a:xfrm>
            <a:off x="284163" y="2249488"/>
            <a:ext cx="1119187" cy="676275"/>
            <a:chOff x="353" y="973"/>
            <a:chExt cx="705" cy="426"/>
          </a:xfrm>
        </p:grpSpPr>
        <p:sp>
          <p:nvSpPr>
            <p:cNvPr id="43067" name="Line 135"/>
            <p:cNvSpPr>
              <a:spLocks noChangeShapeType="1"/>
            </p:cNvSpPr>
            <p:nvPr/>
          </p:nvSpPr>
          <p:spPr bwMode="auto">
            <a:xfrm flipH="1" flipV="1">
              <a:off x="801" y="1239"/>
              <a:ext cx="257" cy="16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68" name="Line 136"/>
            <p:cNvSpPr>
              <a:spLocks noChangeShapeType="1"/>
            </p:cNvSpPr>
            <p:nvPr/>
          </p:nvSpPr>
          <p:spPr bwMode="auto">
            <a:xfrm flipH="1">
              <a:off x="432" y="1245"/>
              <a:ext cx="383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69" name="Text Box 137"/>
            <p:cNvSpPr txBox="1">
              <a:spLocks noChangeArrowheads="1"/>
            </p:cNvSpPr>
            <p:nvPr/>
          </p:nvSpPr>
          <p:spPr bwMode="auto">
            <a:xfrm>
              <a:off x="353" y="973"/>
              <a:ext cx="5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接触</a:t>
              </a:r>
              <a:endParaRPr lang="zh-CN" altLang="en-US" sz="2400">
                <a:solidFill>
                  <a:srgbClr val="FF3300"/>
                </a:solidFill>
              </a:endParaRPr>
            </a:p>
          </p:txBody>
        </p:sp>
      </p:grpSp>
      <p:grpSp>
        <p:nvGrpSpPr>
          <p:cNvPr id="136380" name="Group 188"/>
          <p:cNvGrpSpPr/>
          <p:nvPr/>
        </p:nvGrpSpPr>
        <p:grpSpPr bwMode="auto">
          <a:xfrm>
            <a:off x="6178550" y="3325813"/>
            <a:ext cx="1209675" cy="1009650"/>
            <a:chOff x="3892" y="2095"/>
            <a:chExt cx="762" cy="636"/>
          </a:xfrm>
        </p:grpSpPr>
        <p:sp>
          <p:nvSpPr>
            <p:cNvPr id="43064" name="Text Box 139"/>
            <p:cNvSpPr txBox="1">
              <a:spLocks noChangeArrowheads="1"/>
            </p:cNvSpPr>
            <p:nvPr/>
          </p:nvSpPr>
          <p:spPr bwMode="auto">
            <a:xfrm>
              <a:off x="4154" y="2443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配合</a:t>
              </a: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43065" name="Line 140"/>
            <p:cNvSpPr>
              <a:spLocks noChangeShapeType="1"/>
            </p:cNvSpPr>
            <p:nvPr/>
          </p:nvSpPr>
          <p:spPr bwMode="auto">
            <a:xfrm>
              <a:off x="3892" y="2095"/>
              <a:ext cx="292" cy="62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66" name="Line 141"/>
            <p:cNvSpPr>
              <a:spLocks noChangeShapeType="1"/>
            </p:cNvSpPr>
            <p:nvPr/>
          </p:nvSpPr>
          <p:spPr bwMode="auto">
            <a:xfrm flipH="1">
              <a:off x="4178" y="2720"/>
              <a:ext cx="42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6378" name="Group 186"/>
          <p:cNvGrpSpPr/>
          <p:nvPr/>
        </p:nvGrpSpPr>
        <p:grpSpPr bwMode="auto">
          <a:xfrm>
            <a:off x="5675313" y="2193925"/>
            <a:ext cx="1103312" cy="812800"/>
            <a:chOff x="3575" y="1382"/>
            <a:chExt cx="695" cy="512"/>
          </a:xfrm>
        </p:grpSpPr>
        <p:sp>
          <p:nvSpPr>
            <p:cNvPr id="43061" name="Text Box 143"/>
            <p:cNvSpPr txBox="1">
              <a:spLocks noChangeArrowheads="1"/>
            </p:cNvSpPr>
            <p:nvPr/>
          </p:nvSpPr>
          <p:spPr bwMode="auto">
            <a:xfrm>
              <a:off x="3575" y="1382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FF3300"/>
                  </a:solidFill>
                </a:rPr>
                <a:t>不配合</a:t>
              </a: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43062" name="Line 144"/>
            <p:cNvSpPr>
              <a:spLocks noChangeShapeType="1"/>
            </p:cNvSpPr>
            <p:nvPr/>
          </p:nvSpPr>
          <p:spPr bwMode="auto">
            <a:xfrm flipH="1">
              <a:off x="3652" y="1667"/>
              <a:ext cx="539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63" name="Line 145"/>
            <p:cNvSpPr>
              <a:spLocks noChangeShapeType="1"/>
            </p:cNvSpPr>
            <p:nvPr/>
          </p:nvSpPr>
          <p:spPr bwMode="auto">
            <a:xfrm rot="21155172" flipV="1">
              <a:off x="4020" y="1672"/>
              <a:ext cx="177" cy="22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6338" name="Group 146"/>
          <p:cNvGrpSpPr/>
          <p:nvPr/>
        </p:nvGrpSpPr>
        <p:grpSpPr bwMode="auto">
          <a:xfrm>
            <a:off x="771525" y="5038725"/>
            <a:ext cx="1952625" cy="981075"/>
            <a:chOff x="564" y="2910"/>
            <a:chExt cx="1230" cy="618"/>
          </a:xfrm>
        </p:grpSpPr>
        <p:grpSp>
          <p:nvGrpSpPr>
            <p:cNvPr id="43057" name="Group 147"/>
            <p:cNvGrpSpPr/>
            <p:nvPr/>
          </p:nvGrpSpPr>
          <p:grpSpPr bwMode="auto">
            <a:xfrm>
              <a:off x="564" y="2910"/>
              <a:ext cx="1230" cy="618"/>
              <a:chOff x="564" y="2910"/>
              <a:chExt cx="1230" cy="618"/>
            </a:xfrm>
          </p:grpSpPr>
          <p:sp>
            <p:nvSpPr>
              <p:cNvPr id="43059" name="Freeform 148"/>
              <p:cNvSpPr/>
              <p:nvPr/>
            </p:nvSpPr>
            <p:spPr bwMode="auto">
              <a:xfrm>
                <a:off x="690" y="2910"/>
                <a:ext cx="1104" cy="618"/>
              </a:xfrm>
              <a:custGeom>
                <a:avLst/>
                <a:gdLst>
                  <a:gd name="T0" fmla="*/ 0 w 1104"/>
                  <a:gd name="T1" fmla="*/ 618 h 618"/>
                  <a:gd name="T2" fmla="*/ 1104 w 1104"/>
                  <a:gd name="T3" fmla="*/ 618 h 618"/>
                  <a:gd name="T4" fmla="*/ 1104 w 1104"/>
                  <a:gd name="T5" fmla="*/ 0 h 618"/>
                  <a:gd name="T6" fmla="*/ 852 w 1104"/>
                  <a:gd name="T7" fmla="*/ 0 h 618"/>
                  <a:gd name="T8" fmla="*/ 852 w 1104"/>
                  <a:gd name="T9" fmla="*/ 468 h 618"/>
                  <a:gd name="T10" fmla="*/ 246 w 1104"/>
                  <a:gd name="T11" fmla="*/ 468 h 618"/>
                  <a:gd name="T12" fmla="*/ 246 w 1104"/>
                  <a:gd name="T13" fmla="*/ 0 h 618"/>
                  <a:gd name="T14" fmla="*/ 0 w 1104"/>
                  <a:gd name="T15" fmla="*/ 0 h 618"/>
                  <a:gd name="T16" fmla="*/ 0 w 1104"/>
                  <a:gd name="T17" fmla="*/ 618 h 61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04" h="618">
                    <a:moveTo>
                      <a:pt x="0" y="618"/>
                    </a:moveTo>
                    <a:lnTo>
                      <a:pt x="1104" y="618"/>
                    </a:lnTo>
                    <a:lnTo>
                      <a:pt x="1104" y="0"/>
                    </a:lnTo>
                    <a:lnTo>
                      <a:pt x="852" y="0"/>
                    </a:lnTo>
                    <a:lnTo>
                      <a:pt x="852" y="468"/>
                    </a:lnTo>
                    <a:lnTo>
                      <a:pt x="246" y="468"/>
                    </a:lnTo>
                    <a:lnTo>
                      <a:pt x="246" y="0"/>
                    </a:lnTo>
                    <a:lnTo>
                      <a:pt x="0" y="0"/>
                    </a:lnTo>
                    <a:lnTo>
                      <a:pt x="0" y="618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60" name="Freeform 149"/>
              <p:cNvSpPr/>
              <p:nvPr/>
            </p:nvSpPr>
            <p:spPr bwMode="auto">
              <a:xfrm>
                <a:off x="564" y="2910"/>
                <a:ext cx="126" cy="618"/>
              </a:xfrm>
              <a:custGeom>
                <a:avLst/>
                <a:gdLst>
                  <a:gd name="T0" fmla="*/ 0 w 126"/>
                  <a:gd name="T1" fmla="*/ 0 h 618"/>
                  <a:gd name="T2" fmla="*/ 0 w 126"/>
                  <a:gd name="T3" fmla="*/ 618 h 618"/>
                  <a:gd name="T4" fmla="*/ 126 w 126"/>
                  <a:gd name="T5" fmla="*/ 618 h 618"/>
                  <a:gd name="T6" fmla="*/ 126 w 126"/>
                  <a:gd name="T7" fmla="*/ 0 h 618"/>
                  <a:gd name="T8" fmla="*/ 0 w 126"/>
                  <a:gd name="T9" fmla="*/ 0 h 6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6" h="618">
                    <a:moveTo>
                      <a:pt x="0" y="0"/>
                    </a:moveTo>
                    <a:lnTo>
                      <a:pt x="0" y="618"/>
                    </a:lnTo>
                    <a:lnTo>
                      <a:pt x="126" y="618"/>
                    </a:lnTo>
                    <a:lnTo>
                      <a:pt x="12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058" name="Freeform 150"/>
            <p:cNvSpPr/>
            <p:nvPr/>
          </p:nvSpPr>
          <p:spPr bwMode="auto">
            <a:xfrm>
              <a:off x="936" y="2910"/>
              <a:ext cx="612" cy="474"/>
            </a:xfrm>
            <a:custGeom>
              <a:avLst/>
              <a:gdLst>
                <a:gd name="T0" fmla="*/ 0 w 612"/>
                <a:gd name="T1" fmla="*/ 0 h 468"/>
                <a:gd name="T2" fmla="*/ 612 w 612"/>
                <a:gd name="T3" fmla="*/ 0 h 468"/>
                <a:gd name="T4" fmla="*/ 612 w 612"/>
                <a:gd name="T5" fmla="*/ 480 h 468"/>
                <a:gd name="T6" fmla="*/ 0 w 612"/>
                <a:gd name="T7" fmla="*/ 480 h 468"/>
                <a:gd name="T8" fmla="*/ 0 w 612"/>
                <a:gd name="T9" fmla="*/ 0 h 4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2" h="468">
                  <a:moveTo>
                    <a:pt x="0" y="0"/>
                  </a:moveTo>
                  <a:lnTo>
                    <a:pt x="612" y="0"/>
                  </a:lnTo>
                  <a:lnTo>
                    <a:pt x="612" y="468"/>
                  </a:lnTo>
                  <a:lnTo>
                    <a:pt x="0" y="4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24848"/>
                </a:gs>
                <a:gs pos="100000">
                  <a:srgbClr val="33CCCC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6343" name="Group 151"/>
          <p:cNvGrpSpPr/>
          <p:nvPr/>
        </p:nvGrpSpPr>
        <p:grpSpPr bwMode="auto">
          <a:xfrm>
            <a:off x="1095375" y="4791075"/>
            <a:ext cx="1485900" cy="876300"/>
            <a:chOff x="768" y="2754"/>
            <a:chExt cx="936" cy="552"/>
          </a:xfrm>
        </p:grpSpPr>
        <p:sp>
          <p:nvSpPr>
            <p:cNvPr id="43055" name="Freeform 152"/>
            <p:cNvSpPr/>
            <p:nvPr/>
          </p:nvSpPr>
          <p:spPr bwMode="auto">
            <a:xfrm>
              <a:off x="768" y="2754"/>
              <a:ext cx="936" cy="156"/>
            </a:xfrm>
            <a:custGeom>
              <a:avLst/>
              <a:gdLst>
                <a:gd name="T0" fmla="*/ 0 w 936"/>
                <a:gd name="T1" fmla="*/ 0 h 156"/>
                <a:gd name="T2" fmla="*/ 936 w 936"/>
                <a:gd name="T3" fmla="*/ 0 h 156"/>
                <a:gd name="T4" fmla="*/ 936 w 936"/>
                <a:gd name="T5" fmla="*/ 156 h 156"/>
                <a:gd name="T6" fmla="*/ 0 w 936"/>
                <a:gd name="T7" fmla="*/ 156 h 156"/>
                <a:gd name="T8" fmla="*/ 0 w 936"/>
                <a:gd name="T9" fmla="*/ 0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6" h="156">
                  <a:moveTo>
                    <a:pt x="0" y="0"/>
                  </a:moveTo>
                  <a:lnTo>
                    <a:pt x="936" y="0"/>
                  </a:lnTo>
                  <a:lnTo>
                    <a:pt x="936" y="156"/>
                  </a:lnTo>
                  <a:lnTo>
                    <a:pt x="0" y="15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1274E"/>
                </a:gs>
                <a:gs pos="50000">
                  <a:srgbClr val="FF66CC"/>
                </a:gs>
                <a:gs pos="100000">
                  <a:srgbClr val="61274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56" name="Freeform 153"/>
            <p:cNvSpPr/>
            <p:nvPr/>
          </p:nvSpPr>
          <p:spPr bwMode="auto">
            <a:xfrm>
              <a:off x="936" y="2910"/>
              <a:ext cx="612" cy="396"/>
            </a:xfrm>
            <a:custGeom>
              <a:avLst/>
              <a:gdLst>
                <a:gd name="T0" fmla="*/ 0 w 612"/>
                <a:gd name="T1" fmla="*/ 0 h 396"/>
                <a:gd name="T2" fmla="*/ 0 w 612"/>
                <a:gd name="T3" fmla="*/ 396 h 396"/>
                <a:gd name="T4" fmla="*/ 612 w 612"/>
                <a:gd name="T5" fmla="*/ 396 h 396"/>
                <a:gd name="T6" fmla="*/ 612 w 612"/>
                <a:gd name="T7" fmla="*/ 0 h 396"/>
                <a:gd name="T8" fmla="*/ 0 w 612"/>
                <a:gd name="T9" fmla="*/ 0 h 3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2" h="396">
                  <a:moveTo>
                    <a:pt x="0" y="0"/>
                  </a:moveTo>
                  <a:lnTo>
                    <a:pt x="0" y="396"/>
                  </a:lnTo>
                  <a:lnTo>
                    <a:pt x="612" y="396"/>
                  </a:lnTo>
                  <a:lnTo>
                    <a:pt x="61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185E"/>
                </a:gs>
                <a:gs pos="50000">
                  <a:srgbClr val="FF33CC"/>
                </a:gs>
                <a:gs pos="100000">
                  <a:srgbClr val="76185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6346" name="Group 154"/>
          <p:cNvGrpSpPr/>
          <p:nvPr/>
        </p:nvGrpSpPr>
        <p:grpSpPr bwMode="auto">
          <a:xfrm>
            <a:off x="2924175" y="5048250"/>
            <a:ext cx="1952625" cy="981075"/>
            <a:chOff x="564" y="2910"/>
            <a:chExt cx="1230" cy="618"/>
          </a:xfrm>
        </p:grpSpPr>
        <p:grpSp>
          <p:nvGrpSpPr>
            <p:cNvPr id="43051" name="Group 155"/>
            <p:cNvGrpSpPr/>
            <p:nvPr/>
          </p:nvGrpSpPr>
          <p:grpSpPr bwMode="auto">
            <a:xfrm>
              <a:off x="564" y="2910"/>
              <a:ext cx="1230" cy="618"/>
              <a:chOff x="564" y="2910"/>
              <a:chExt cx="1230" cy="618"/>
            </a:xfrm>
          </p:grpSpPr>
          <p:sp>
            <p:nvSpPr>
              <p:cNvPr id="43053" name="Freeform 156"/>
              <p:cNvSpPr/>
              <p:nvPr/>
            </p:nvSpPr>
            <p:spPr bwMode="auto">
              <a:xfrm>
                <a:off x="690" y="2910"/>
                <a:ext cx="1104" cy="618"/>
              </a:xfrm>
              <a:custGeom>
                <a:avLst/>
                <a:gdLst>
                  <a:gd name="T0" fmla="*/ 0 w 1104"/>
                  <a:gd name="T1" fmla="*/ 618 h 618"/>
                  <a:gd name="T2" fmla="*/ 1104 w 1104"/>
                  <a:gd name="T3" fmla="*/ 618 h 618"/>
                  <a:gd name="T4" fmla="*/ 1104 w 1104"/>
                  <a:gd name="T5" fmla="*/ 0 h 618"/>
                  <a:gd name="T6" fmla="*/ 852 w 1104"/>
                  <a:gd name="T7" fmla="*/ 0 h 618"/>
                  <a:gd name="T8" fmla="*/ 852 w 1104"/>
                  <a:gd name="T9" fmla="*/ 468 h 618"/>
                  <a:gd name="T10" fmla="*/ 246 w 1104"/>
                  <a:gd name="T11" fmla="*/ 468 h 618"/>
                  <a:gd name="T12" fmla="*/ 246 w 1104"/>
                  <a:gd name="T13" fmla="*/ 0 h 618"/>
                  <a:gd name="T14" fmla="*/ 0 w 1104"/>
                  <a:gd name="T15" fmla="*/ 0 h 618"/>
                  <a:gd name="T16" fmla="*/ 0 w 1104"/>
                  <a:gd name="T17" fmla="*/ 618 h 61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04" h="618">
                    <a:moveTo>
                      <a:pt x="0" y="618"/>
                    </a:moveTo>
                    <a:lnTo>
                      <a:pt x="1104" y="618"/>
                    </a:lnTo>
                    <a:lnTo>
                      <a:pt x="1104" y="0"/>
                    </a:lnTo>
                    <a:lnTo>
                      <a:pt x="852" y="0"/>
                    </a:lnTo>
                    <a:lnTo>
                      <a:pt x="852" y="468"/>
                    </a:lnTo>
                    <a:lnTo>
                      <a:pt x="246" y="468"/>
                    </a:lnTo>
                    <a:lnTo>
                      <a:pt x="246" y="0"/>
                    </a:lnTo>
                    <a:lnTo>
                      <a:pt x="0" y="0"/>
                    </a:lnTo>
                    <a:lnTo>
                      <a:pt x="0" y="618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54" name="Freeform 157"/>
              <p:cNvSpPr/>
              <p:nvPr/>
            </p:nvSpPr>
            <p:spPr bwMode="auto">
              <a:xfrm>
                <a:off x="564" y="2910"/>
                <a:ext cx="126" cy="618"/>
              </a:xfrm>
              <a:custGeom>
                <a:avLst/>
                <a:gdLst>
                  <a:gd name="T0" fmla="*/ 0 w 126"/>
                  <a:gd name="T1" fmla="*/ 0 h 618"/>
                  <a:gd name="T2" fmla="*/ 0 w 126"/>
                  <a:gd name="T3" fmla="*/ 618 h 618"/>
                  <a:gd name="T4" fmla="*/ 126 w 126"/>
                  <a:gd name="T5" fmla="*/ 618 h 618"/>
                  <a:gd name="T6" fmla="*/ 126 w 126"/>
                  <a:gd name="T7" fmla="*/ 0 h 618"/>
                  <a:gd name="T8" fmla="*/ 0 w 126"/>
                  <a:gd name="T9" fmla="*/ 0 h 6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6" h="618">
                    <a:moveTo>
                      <a:pt x="0" y="0"/>
                    </a:moveTo>
                    <a:lnTo>
                      <a:pt x="0" y="618"/>
                    </a:lnTo>
                    <a:lnTo>
                      <a:pt x="126" y="618"/>
                    </a:lnTo>
                    <a:lnTo>
                      <a:pt x="12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052" name="Freeform 158"/>
            <p:cNvSpPr/>
            <p:nvPr/>
          </p:nvSpPr>
          <p:spPr bwMode="auto">
            <a:xfrm>
              <a:off x="936" y="2910"/>
              <a:ext cx="612" cy="474"/>
            </a:xfrm>
            <a:custGeom>
              <a:avLst/>
              <a:gdLst>
                <a:gd name="T0" fmla="*/ 0 w 612"/>
                <a:gd name="T1" fmla="*/ 0 h 468"/>
                <a:gd name="T2" fmla="*/ 612 w 612"/>
                <a:gd name="T3" fmla="*/ 0 h 468"/>
                <a:gd name="T4" fmla="*/ 612 w 612"/>
                <a:gd name="T5" fmla="*/ 480 h 468"/>
                <a:gd name="T6" fmla="*/ 0 w 612"/>
                <a:gd name="T7" fmla="*/ 480 h 468"/>
                <a:gd name="T8" fmla="*/ 0 w 612"/>
                <a:gd name="T9" fmla="*/ 0 h 4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2" h="468">
                  <a:moveTo>
                    <a:pt x="0" y="0"/>
                  </a:moveTo>
                  <a:lnTo>
                    <a:pt x="612" y="0"/>
                  </a:lnTo>
                  <a:lnTo>
                    <a:pt x="612" y="468"/>
                  </a:lnTo>
                  <a:lnTo>
                    <a:pt x="0" y="4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24848"/>
                </a:gs>
                <a:gs pos="100000">
                  <a:srgbClr val="33CCCC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6351" name="Group 159"/>
          <p:cNvGrpSpPr/>
          <p:nvPr/>
        </p:nvGrpSpPr>
        <p:grpSpPr bwMode="auto">
          <a:xfrm>
            <a:off x="5038725" y="5219700"/>
            <a:ext cx="1638300" cy="809625"/>
            <a:chOff x="3252" y="3024"/>
            <a:chExt cx="1032" cy="510"/>
          </a:xfrm>
        </p:grpSpPr>
        <p:sp>
          <p:nvSpPr>
            <p:cNvPr id="43046" name="Freeform 160"/>
            <p:cNvSpPr/>
            <p:nvPr/>
          </p:nvSpPr>
          <p:spPr bwMode="auto">
            <a:xfrm>
              <a:off x="3252" y="3024"/>
              <a:ext cx="114" cy="510"/>
            </a:xfrm>
            <a:custGeom>
              <a:avLst/>
              <a:gdLst>
                <a:gd name="T0" fmla="*/ 0 w 114"/>
                <a:gd name="T1" fmla="*/ 0 h 510"/>
                <a:gd name="T2" fmla="*/ 114 w 114"/>
                <a:gd name="T3" fmla="*/ 0 h 510"/>
                <a:gd name="T4" fmla="*/ 114 w 114"/>
                <a:gd name="T5" fmla="*/ 510 h 510"/>
                <a:gd name="T6" fmla="*/ 0 w 114"/>
                <a:gd name="T7" fmla="*/ 510 h 510"/>
                <a:gd name="T8" fmla="*/ 0 w 114"/>
                <a:gd name="T9" fmla="*/ 0 h 5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4" h="510">
                  <a:moveTo>
                    <a:pt x="0" y="0"/>
                  </a:moveTo>
                  <a:lnTo>
                    <a:pt x="114" y="0"/>
                  </a:lnTo>
                  <a:lnTo>
                    <a:pt x="114" y="510"/>
                  </a:lnTo>
                  <a:lnTo>
                    <a:pt x="0" y="5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7" name="Freeform 161"/>
            <p:cNvSpPr/>
            <p:nvPr/>
          </p:nvSpPr>
          <p:spPr bwMode="auto">
            <a:xfrm>
              <a:off x="3366" y="3024"/>
              <a:ext cx="918" cy="510"/>
            </a:xfrm>
            <a:custGeom>
              <a:avLst/>
              <a:gdLst>
                <a:gd name="T0" fmla="*/ 0 w 918"/>
                <a:gd name="T1" fmla="*/ 0 h 510"/>
                <a:gd name="T2" fmla="*/ 0 w 918"/>
                <a:gd name="T3" fmla="*/ 510 h 510"/>
                <a:gd name="T4" fmla="*/ 918 w 918"/>
                <a:gd name="T5" fmla="*/ 510 h 510"/>
                <a:gd name="T6" fmla="*/ 918 w 918"/>
                <a:gd name="T7" fmla="*/ 0 h 510"/>
                <a:gd name="T8" fmla="*/ 0 w 918"/>
                <a:gd name="T9" fmla="*/ 0 h 5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8" h="510">
                  <a:moveTo>
                    <a:pt x="0" y="0"/>
                  </a:moveTo>
                  <a:lnTo>
                    <a:pt x="0" y="510"/>
                  </a:lnTo>
                  <a:lnTo>
                    <a:pt x="918" y="510"/>
                  </a:lnTo>
                  <a:lnTo>
                    <a:pt x="9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3048" name="Group 162"/>
            <p:cNvGrpSpPr/>
            <p:nvPr/>
          </p:nvGrpSpPr>
          <p:grpSpPr bwMode="auto">
            <a:xfrm>
              <a:off x="3516" y="3024"/>
              <a:ext cx="612" cy="510"/>
              <a:chOff x="3516" y="3024"/>
              <a:chExt cx="612" cy="510"/>
            </a:xfrm>
          </p:grpSpPr>
          <p:sp>
            <p:nvSpPr>
              <p:cNvPr id="43049" name="Freeform 163"/>
              <p:cNvSpPr/>
              <p:nvPr/>
            </p:nvSpPr>
            <p:spPr bwMode="auto">
              <a:xfrm>
                <a:off x="3516" y="3024"/>
                <a:ext cx="612" cy="126"/>
              </a:xfrm>
              <a:custGeom>
                <a:avLst/>
                <a:gdLst>
                  <a:gd name="T0" fmla="*/ 0 w 612"/>
                  <a:gd name="T1" fmla="*/ 0 h 126"/>
                  <a:gd name="T2" fmla="*/ 0 w 612"/>
                  <a:gd name="T3" fmla="*/ 126 h 126"/>
                  <a:gd name="T4" fmla="*/ 612 w 612"/>
                  <a:gd name="T5" fmla="*/ 126 h 126"/>
                  <a:gd name="T6" fmla="*/ 612 w 612"/>
                  <a:gd name="T7" fmla="*/ 0 h 126"/>
                  <a:gd name="T8" fmla="*/ 0 w 612"/>
                  <a:gd name="T9" fmla="*/ 0 h 1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12" h="126">
                    <a:moveTo>
                      <a:pt x="0" y="0"/>
                    </a:moveTo>
                    <a:lnTo>
                      <a:pt x="0" y="126"/>
                    </a:lnTo>
                    <a:lnTo>
                      <a:pt x="612" y="126"/>
                    </a:lnTo>
                    <a:lnTo>
                      <a:pt x="612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BAE"/>
                  </a:gs>
                  <a:gs pos="100000">
                    <a:srgbClr val="00CC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50" name="Freeform 164"/>
              <p:cNvSpPr/>
              <p:nvPr/>
            </p:nvSpPr>
            <p:spPr bwMode="auto">
              <a:xfrm>
                <a:off x="3696" y="3150"/>
                <a:ext cx="252" cy="384"/>
              </a:xfrm>
              <a:custGeom>
                <a:avLst/>
                <a:gdLst>
                  <a:gd name="T0" fmla="*/ 0 w 252"/>
                  <a:gd name="T1" fmla="*/ 0 h 384"/>
                  <a:gd name="T2" fmla="*/ 0 w 252"/>
                  <a:gd name="T3" fmla="*/ 384 h 384"/>
                  <a:gd name="T4" fmla="*/ 252 w 252"/>
                  <a:gd name="T5" fmla="*/ 384 h 384"/>
                  <a:gd name="T6" fmla="*/ 252 w 252"/>
                  <a:gd name="T7" fmla="*/ 0 h 384"/>
                  <a:gd name="T8" fmla="*/ 0 w 252"/>
                  <a:gd name="T9" fmla="*/ 0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2" h="384">
                    <a:moveTo>
                      <a:pt x="0" y="0"/>
                    </a:moveTo>
                    <a:lnTo>
                      <a:pt x="0" y="384"/>
                    </a:lnTo>
                    <a:lnTo>
                      <a:pt x="252" y="384"/>
                    </a:lnTo>
                    <a:lnTo>
                      <a:pt x="252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6A8"/>
                  </a:gs>
                  <a:gs pos="100000">
                    <a:srgbClr val="00CC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36357" name="Group 165"/>
          <p:cNvGrpSpPr/>
          <p:nvPr/>
        </p:nvGrpSpPr>
        <p:grpSpPr bwMode="auto">
          <a:xfrm>
            <a:off x="5534025" y="4762500"/>
            <a:ext cx="809625" cy="1057275"/>
            <a:chOff x="3564" y="2742"/>
            <a:chExt cx="510" cy="666"/>
          </a:xfrm>
        </p:grpSpPr>
        <p:sp>
          <p:nvSpPr>
            <p:cNvPr id="43041" name="Freeform 166"/>
            <p:cNvSpPr/>
            <p:nvPr/>
          </p:nvSpPr>
          <p:spPr bwMode="auto">
            <a:xfrm>
              <a:off x="3630" y="2742"/>
              <a:ext cx="384" cy="156"/>
            </a:xfrm>
            <a:custGeom>
              <a:avLst/>
              <a:gdLst>
                <a:gd name="T0" fmla="*/ 0 w 384"/>
                <a:gd name="T1" fmla="*/ 0 h 156"/>
                <a:gd name="T2" fmla="*/ 384 w 384"/>
                <a:gd name="T3" fmla="*/ 0 h 156"/>
                <a:gd name="T4" fmla="*/ 384 w 384"/>
                <a:gd name="T5" fmla="*/ 156 h 156"/>
                <a:gd name="T6" fmla="*/ 0 w 384"/>
                <a:gd name="T7" fmla="*/ 156 h 156"/>
                <a:gd name="T8" fmla="*/ 0 w 384"/>
                <a:gd name="T9" fmla="*/ 0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4" h="156">
                  <a:moveTo>
                    <a:pt x="0" y="0"/>
                  </a:moveTo>
                  <a:lnTo>
                    <a:pt x="384" y="0"/>
                  </a:lnTo>
                  <a:lnTo>
                    <a:pt x="384" y="156"/>
                  </a:lnTo>
                  <a:lnTo>
                    <a:pt x="0" y="15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20062"/>
                </a:gs>
                <a:gs pos="50000">
                  <a:srgbClr val="CC00CC"/>
                </a:gs>
                <a:gs pos="100000">
                  <a:srgbClr val="62006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2" name="Freeform 167"/>
            <p:cNvSpPr/>
            <p:nvPr/>
          </p:nvSpPr>
          <p:spPr bwMode="auto">
            <a:xfrm>
              <a:off x="3564" y="2898"/>
              <a:ext cx="510" cy="258"/>
            </a:xfrm>
            <a:custGeom>
              <a:avLst/>
              <a:gdLst>
                <a:gd name="T0" fmla="*/ 0 w 510"/>
                <a:gd name="T1" fmla="*/ 0 h 252"/>
                <a:gd name="T2" fmla="*/ 510 w 510"/>
                <a:gd name="T3" fmla="*/ 0 h 252"/>
                <a:gd name="T4" fmla="*/ 510 w 510"/>
                <a:gd name="T5" fmla="*/ 264 h 252"/>
                <a:gd name="T6" fmla="*/ 0 w 510"/>
                <a:gd name="T7" fmla="*/ 264 h 252"/>
                <a:gd name="T8" fmla="*/ 0 w 510"/>
                <a:gd name="T9" fmla="*/ 0 h 2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0" h="252">
                  <a:moveTo>
                    <a:pt x="0" y="0"/>
                  </a:moveTo>
                  <a:lnTo>
                    <a:pt x="510" y="0"/>
                  </a:lnTo>
                  <a:lnTo>
                    <a:pt x="510" y="252"/>
                  </a:lnTo>
                  <a:lnTo>
                    <a:pt x="0" y="25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005E"/>
                </a:gs>
                <a:gs pos="50000">
                  <a:srgbClr val="CC00CC"/>
                </a:gs>
                <a:gs pos="100000">
                  <a:srgbClr val="5E005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" name="Freeform 168"/>
            <p:cNvSpPr/>
            <p:nvPr/>
          </p:nvSpPr>
          <p:spPr bwMode="auto">
            <a:xfrm>
              <a:off x="3696" y="3150"/>
              <a:ext cx="252" cy="216"/>
            </a:xfrm>
            <a:custGeom>
              <a:avLst/>
              <a:gdLst>
                <a:gd name="T0" fmla="*/ 0 w 252"/>
                <a:gd name="T1" fmla="*/ 0 h 216"/>
                <a:gd name="T2" fmla="*/ 252 w 252"/>
                <a:gd name="T3" fmla="*/ 0 h 216"/>
                <a:gd name="T4" fmla="*/ 252 w 252"/>
                <a:gd name="T5" fmla="*/ 216 h 216"/>
                <a:gd name="T6" fmla="*/ 0 w 252"/>
                <a:gd name="T7" fmla="*/ 216 h 216"/>
                <a:gd name="T8" fmla="*/ 0 w 252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" h="216">
                  <a:moveTo>
                    <a:pt x="0" y="0"/>
                  </a:moveTo>
                  <a:lnTo>
                    <a:pt x="252" y="0"/>
                  </a:lnTo>
                  <a:lnTo>
                    <a:pt x="252" y="216"/>
                  </a:lnTo>
                  <a:lnTo>
                    <a:pt x="0" y="21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005E"/>
                </a:gs>
                <a:gs pos="50000">
                  <a:srgbClr val="CC00CC"/>
                </a:gs>
                <a:gs pos="100000">
                  <a:srgbClr val="5E005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4" name="Freeform 169"/>
            <p:cNvSpPr/>
            <p:nvPr/>
          </p:nvSpPr>
          <p:spPr bwMode="auto">
            <a:xfrm>
              <a:off x="3696" y="3366"/>
              <a:ext cx="252" cy="42"/>
            </a:xfrm>
            <a:custGeom>
              <a:avLst/>
              <a:gdLst>
                <a:gd name="T0" fmla="*/ 0 w 252"/>
                <a:gd name="T1" fmla="*/ 0 h 42"/>
                <a:gd name="T2" fmla="*/ 252 w 252"/>
                <a:gd name="T3" fmla="*/ 0 h 42"/>
                <a:gd name="T4" fmla="*/ 216 w 252"/>
                <a:gd name="T5" fmla="*/ 42 h 42"/>
                <a:gd name="T6" fmla="*/ 30 w 252"/>
                <a:gd name="T7" fmla="*/ 42 h 42"/>
                <a:gd name="T8" fmla="*/ 0 w 252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" h="42">
                  <a:moveTo>
                    <a:pt x="0" y="0"/>
                  </a:moveTo>
                  <a:lnTo>
                    <a:pt x="252" y="0"/>
                  </a:lnTo>
                  <a:lnTo>
                    <a:pt x="216" y="42"/>
                  </a:lnTo>
                  <a:lnTo>
                    <a:pt x="30" y="42"/>
                  </a:lnTo>
                  <a:cubicBezTo>
                    <a:pt x="20" y="28"/>
                    <a:pt x="0" y="0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5E005E"/>
                </a:gs>
                <a:gs pos="50000">
                  <a:srgbClr val="CC00CC"/>
                </a:gs>
                <a:gs pos="100000">
                  <a:srgbClr val="5E005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5" name="Line 170"/>
            <p:cNvSpPr>
              <a:spLocks noChangeShapeType="1"/>
            </p:cNvSpPr>
            <p:nvPr/>
          </p:nvSpPr>
          <p:spPr bwMode="auto">
            <a:xfrm>
              <a:off x="3696" y="3372"/>
              <a:ext cx="252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6363" name="Group 171"/>
          <p:cNvGrpSpPr/>
          <p:nvPr/>
        </p:nvGrpSpPr>
        <p:grpSpPr bwMode="auto">
          <a:xfrm>
            <a:off x="6867525" y="5207000"/>
            <a:ext cx="1638300" cy="812800"/>
            <a:chOff x="4344" y="3016"/>
            <a:chExt cx="1032" cy="512"/>
          </a:xfrm>
        </p:grpSpPr>
        <p:sp>
          <p:nvSpPr>
            <p:cNvPr id="43037" name="Freeform 172"/>
            <p:cNvSpPr/>
            <p:nvPr/>
          </p:nvSpPr>
          <p:spPr bwMode="auto">
            <a:xfrm>
              <a:off x="4344" y="3018"/>
              <a:ext cx="114" cy="510"/>
            </a:xfrm>
            <a:custGeom>
              <a:avLst/>
              <a:gdLst>
                <a:gd name="T0" fmla="*/ 0 w 114"/>
                <a:gd name="T1" fmla="*/ 0 h 510"/>
                <a:gd name="T2" fmla="*/ 114 w 114"/>
                <a:gd name="T3" fmla="*/ 0 h 510"/>
                <a:gd name="T4" fmla="*/ 114 w 114"/>
                <a:gd name="T5" fmla="*/ 510 h 510"/>
                <a:gd name="T6" fmla="*/ 0 w 114"/>
                <a:gd name="T7" fmla="*/ 510 h 510"/>
                <a:gd name="T8" fmla="*/ 0 w 114"/>
                <a:gd name="T9" fmla="*/ 0 h 5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4" h="510">
                  <a:moveTo>
                    <a:pt x="0" y="0"/>
                  </a:moveTo>
                  <a:lnTo>
                    <a:pt x="114" y="0"/>
                  </a:lnTo>
                  <a:lnTo>
                    <a:pt x="114" y="510"/>
                  </a:lnTo>
                  <a:lnTo>
                    <a:pt x="0" y="5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8" name="Freeform 173"/>
            <p:cNvSpPr/>
            <p:nvPr/>
          </p:nvSpPr>
          <p:spPr bwMode="auto">
            <a:xfrm>
              <a:off x="4458" y="3018"/>
              <a:ext cx="918" cy="510"/>
            </a:xfrm>
            <a:custGeom>
              <a:avLst/>
              <a:gdLst>
                <a:gd name="T0" fmla="*/ 0 w 918"/>
                <a:gd name="T1" fmla="*/ 0 h 510"/>
                <a:gd name="T2" fmla="*/ 0 w 918"/>
                <a:gd name="T3" fmla="*/ 510 h 510"/>
                <a:gd name="T4" fmla="*/ 918 w 918"/>
                <a:gd name="T5" fmla="*/ 510 h 510"/>
                <a:gd name="T6" fmla="*/ 918 w 918"/>
                <a:gd name="T7" fmla="*/ 0 h 510"/>
                <a:gd name="T8" fmla="*/ 0 w 918"/>
                <a:gd name="T9" fmla="*/ 0 h 5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8" h="510">
                  <a:moveTo>
                    <a:pt x="0" y="0"/>
                  </a:moveTo>
                  <a:lnTo>
                    <a:pt x="0" y="510"/>
                  </a:lnTo>
                  <a:lnTo>
                    <a:pt x="918" y="510"/>
                  </a:lnTo>
                  <a:lnTo>
                    <a:pt x="9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9" name="Freeform 174"/>
            <p:cNvSpPr/>
            <p:nvPr/>
          </p:nvSpPr>
          <p:spPr bwMode="auto">
            <a:xfrm>
              <a:off x="4656" y="3016"/>
              <a:ext cx="510" cy="140"/>
            </a:xfrm>
            <a:custGeom>
              <a:avLst/>
              <a:gdLst>
                <a:gd name="T0" fmla="*/ 0 w 510"/>
                <a:gd name="T1" fmla="*/ 2 h 128"/>
                <a:gd name="T2" fmla="*/ 0 w 510"/>
                <a:gd name="T3" fmla="*/ 153 h 128"/>
                <a:gd name="T4" fmla="*/ 510 w 510"/>
                <a:gd name="T5" fmla="*/ 139 h 128"/>
                <a:gd name="T6" fmla="*/ 508 w 510"/>
                <a:gd name="T7" fmla="*/ 0 h 128"/>
                <a:gd name="T8" fmla="*/ 0 w 510"/>
                <a:gd name="T9" fmla="*/ 2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0" h="128">
                  <a:moveTo>
                    <a:pt x="0" y="2"/>
                  </a:moveTo>
                  <a:lnTo>
                    <a:pt x="0" y="128"/>
                  </a:lnTo>
                  <a:lnTo>
                    <a:pt x="510" y="116"/>
                  </a:lnTo>
                  <a:lnTo>
                    <a:pt x="508" y="0"/>
                  </a:lnTo>
                  <a:lnTo>
                    <a:pt x="0" y="2"/>
                  </a:lnTo>
                  <a:close/>
                </a:path>
              </a:pathLst>
            </a:custGeom>
            <a:gradFill rotWithShape="0">
              <a:gsLst>
                <a:gs pos="0">
                  <a:srgbClr val="008BAE"/>
                </a:gs>
                <a:gs pos="100000">
                  <a:srgbClr val="00CC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0" name="Freeform 175"/>
            <p:cNvSpPr/>
            <p:nvPr/>
          </p:nvSpPr>
          <p:spPr bwMode="auto">
            <a:xfrm>
              <a:off x="4788" y="3144"/>
              <a:ext cx="252" cy="384"/>
            </a:xfrm>
            <a:custGeom>
              <a:avLst/>
              <a:gdLst>
                <a:gd name="T0" fmla="*/ 0 w 252"/>
                <a:gd name="T1" fmla="*/ 0 h 384"/>
                <a:gd name="T2" fmla="*/ 0 w 252"/>
                <a:gd name="T3" fmla="*/ 384 h 384"/>
                <a:gd name="T4" fmla="*/ 252 w 252"/>
                <a:gd name="T5" fmla="*/ 384 h 384"/>
                <a:gd name="T6" fmla="*/ 252 w 252"/>
                <a:gd name="T7" fmla="*/ 0 h 384"/>
                <a:gd name="T8" fmla="*/ 0 w 252"/>
                <a:gd name="T9" fmla="*/ 0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" h="384">
                  <a:moveTo>
                    <a:pt x="0" y="0"/>
                  </a:moveTo>
                  <a:lnTo>
                    <a:pt x="0" y="384"/>
                  </a:lnTo>
                  <a:lnTo>
                    <a:pt x="252" y="384"/>
                  </a:lnTo>
                  <a:lnTo>
                    <a:pt x="25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86A8"/>
                </a:gs>
                <a:gs pos="100000">
                  <a:srgbClr val="00CC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6368" name="Group 176"/>
          <p:cNvGrpSpPr/>
          <p:nvPr/>
        </p:nvGrpSpPr>
        <p:grpSpPr bwMode="auto">
          <a:xfrm>
            <a:off x="7362825" y="4562475"/>
            <a:ext cx="809625" cy="1044575"/>
            <a:chOff x="4656" y="2734"/>
            <a:chExt cx="510" cy="658"/>
          </a:xfrm>
        </p:grpSpPr>
        <p:sp>
          <p:nvSpPr>
            <p:cNvPr id="43032" name="Freeform 177"/>
            <p:cNvSpPr/>
            <p:nvPr/>
          </p:nvSpPr>
          <p:spPr bwMode="auto">
            <a:xfrm>
              <a:off x="4722" y="2734"/>
              <a:ext cx="384" cy="156"/>
            </a:xfrm>
            <a:custGeom>
              <a:avLst/>
              <a:gdLst>
                <a:gd name="T0" fmla="*/ 0 w 384"/>
                <a:gd name="T1" fmla="*/ 0 h 156"/>
                <a:gd name="T2" fmla="*/ 384 w 384"/>
                <a:gd name="T3" fmla="*/ 0 h 156"/>
                <a:gd name="T4" fmla="*/ 384 w 384"/>
                <a:gd name="T5" fmla="*/ 156 h 156"/>
                <a:gd name="T6" fmla="*/ 0 w 384"/>
                <a:gd name="T7" fmla="*/ 156 h 156"/>
                <a:gd name="T8" fmla="*/ 0 w 384"/>
                <a:gd name="T9" fmla="*/ 0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4" h="156">
                  <a:moveTo>
                    <a:pt x="0" y="0"/>
                  </a:moveTo>
                  <a:lnTo>
                    <a:pt x="384" y="0"/>
                  </a:lnTo>
                  <a:lnTo>
                    <a:pt x="384" y="156"/>
                  </a:lnTo>
                  <a:lnTo>
                    <a:pt x="0" y="15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20062"/>
                </a:gs>
                <a:gs pos="50000">
                  <a:srgbClr val="CC00CC"/>
                </a:gs>
                <a:gs pos="100000">
                  <a:srgbClr val="62006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3" name="Freeform 178"/>
            <p:cNvSpPr/>
            <p:nvPr/>
          </p:nvSpPr>
          <p:spPr bwMode="auto">
            <a:xfrm>
              <a:off x="4656" y="2886"/>
              <a:ext cx="510" cy="258"/>
            </a:xfrm>
            <a:custGeom>
              <a:avLst/>
              <a:gdLst>
                <a:gd name="T0" fmla="*/ 0 w 510"/>
                <a:gd name="T1" fmla="*/ 0 h 252"/>
                <a:gd name="T2" fmla="*/ 510 w 510"/>
                <a:gd name="T3" fmla="*/ 0 h 252"/>
                <a:gd name="T4" fmla="*/ 510 w 510"/>
                <a:gd name="T5" fmla="*/ 264 h 252"/>
                <a:gd name="T6" fmla="*/ 0 w 510"/>
                <a:gd name="T7" fmla="*/ 264 h 252"/>
                <a:gd name="T8" fmla="*/ 0 w 510"/>
                <a:gd name="T9" fmla="*/ 0 h 2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0" h="252">
                  <a:moveTo>
                    <a:pt x="0" y="0"/>
                  </a:moveTo>
                  <a:lnTo>
                    <a:pt x="510" y="0"/>
                  </a:lnTo>
                  <a:lnTo>
                    <a:pt x="510" y="252"/>
                  </a:lnTo>
                  <a:lnTo>
                    <a:pt x="0" y="25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005E"/>
                </a:gs>
                <a:gs pos="50000">
                  <a:srgbClr val="CC00CC"/>
                </a:gs>
                <a:gs pos="100000">
                  <a:srgbClr val="5E005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4" name="Freeform 179"/>
            <p:cNvSpPr/>
            <p:nvPr/>
          </p:nvSpPr>
          <p:spPr bwMode="auto">
            <a:xfrm>
              <a:off x="4788" y="3138"/>
              <a:ext cx="252" cy="216"/>
            </a:xfrm>
            <a:custGeom>
              <a:avLst/>
              <a:gdLst>
                <a:gd name="T0" fmla="*/ 0 w 252"/>
                <a:gd name="T1" fmla="*/ 0 h 216"/>
                <a:gd name="T2" fmla="*/ 252 w 252"/>
                <a:gd name="T3" fmla="*/ 0 h 216"/>
                <a:gd name="T4" fmla="*/ 252 w 252"/>
                <a:gd name="T5" fmla="*/ 216 h 216"/>
                <a:gd name="T6" fmla="*/ 0 w 252"/>
                <a:gd name="T7" fmla="*/ 216 h 216"/>
                <a:gd name="T8" fmla="*/ 0 w 252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" h="216">
                  <a:moveTo>
                    <a:pt x="0" y="0"/>
                  </a:moveTo>
                  <a:lnTo>
                    <a:pt x="252" y="0"/>
                  </a:lnTo>
                  <a:lnTo>
                    <a:pt x="252" y="216"/>
                  </a:lnTo>
                  <a:lnTo>
                    <a:pt x="0" y="21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005E"/>
                </a:gs>
                <a:gs pos="50000">
                  <a:srgbClr val="CC00CC"/>
                </a:gs>
                <a:gs pos="100000">
                  <a:srgbClr val="5E005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5" name="Freeform 180"/>
            <p:cNvSpPr/>
            <p:nvPr/>
          </p:nvSpPr>
          <p:spPr bwMode="auto">
            <a:xfrm>
              <a:off x="4788" y="3350"/>
              <a:ext cx="252" cy="42"/>
            </a:xfrm>
            <a:custGeom>
              <a:avLst/>
              <a:gdLst>
                <a:gd name="T0" fmla="*/ 0 w 252"/>
                <a:gd name="T1" fmla="*/ 0 h 42"/>
                <a:gd name="T2" fmla="*/ 252 w 252"/>
                <a:gd name="T3" fmla="*/ 0 h 42"/>
                <a:gd name="T4" fmla="*/ 216 w 252"/>
                <a:gd name="T5" fmla="*/ 42 h 42"/>
                <a:gd name="T6" fmla="*/ 30 w 252"/>
                <a:gd name="T7" fmla="*/ 42 h 42"/>
                <a:gd name="T8" fmla="*/ 0 w 252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" h="42">
                  <a:moveTo>
                    <a:pt x="0" y="0"/>
                  </a:moveTo>
                  <a:lnTo>
                    <a:pt x="252" y="0"/>
                  </a:lnTo>
                  <a:lnTo>
                    <a:pt x="216" y="42"/>
                  </a:lnTo>
                  <a:lnTo>
                    <a:pt x="30" y="42"/>
                  </a:lnTo>
                  <a:cubicBezTo>
                    <a:pt x="20" y="28"/>
                    <a:pt x="0" y="0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5E005E"/>
                </a:gs>
                <a:gs pos="50000">
                  <a:srgbClr val="CC00CC"/>
                </a:gs>
                <a:gs pos="100000">
                  <a:srgbClr val="5E005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6" name="Line 181"/>
            <p:cNvSpPr>
              <a:spLocks noChangeShapeType="1"/>
            </p:cNvSpPr>
            <p:nvPr/>
          </p:nvSpPr>
          <p:spPr bwMode="auto">
            <a:xfrm>
              <a:off x="4788" y="3356"/>
              <a:ext cx="252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6374" name="Group 182"/>
          <p:cNvGrpSpPr/>
          <p:nvPr/>
        </p:nvGrpSpPr>
        <p:grpSpPr bwMode="auto">
          <a:xfrm>
            <a:off x="3248025" y="4733925"/>
            <a:ext cx="1485900" cy="1066800"/>
            <a:chOff x="2124" y="2814"/>
            <a:chExt cx="936" cy="672"/>
          </a:xfrm>
        </p:grpSpPr>
        <p:sp>
          <p:nvSpPr>
            <p:cNvPr id="43030" name="Freeform 183"/>
            <p:cNvSpPr/>
            <p:nvPr/>
          </p:nvSpPr>
          <p:spPr bwMode="auto">
            <a:xfrm>
              <a:off x="2292" y="2964"/>
              <a:ext cx="612" cy="522"/>
            </a:xfrm>
            <a:custGeom>
              <a:avLst/>
              <a:gdLst>
                <a:gd name="T0" fmla="*/ 0 w 612"/>
                <a:gd name="T1" fmla="*/ 0 h 396"/>
                <a:gd name="T2" fmla="*/ 0 w 612"/>
                <a:gd name="T3" fmla="*/ 688 h 396"/>
                <a:gd name="T4" fmla="*/ 612 w 612"/>
                <a:gd name="T5" fmla="*/ 688 h 396"/>
                <a:gd name="T6" fmla="*/ 612 w 612"/>
                <a:gd name="T7" fmla="*/ 0 h 396"/>
                <a:gd name="T8" fmla="*/ 0 w 612"/>
                <a:gd name="T9" fmla="*/ 0 h 3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2" h="396">
                  <a:moveTo>
                    <a:pt x="0" y="0"/>
                  </a:moveTo>
                  <a:lnTo>
                    <a:pt x="0" y="396"/>
                  </a:lnTo>
                  <a:lnTo>
                    <a:pt x="612" y="396"/>
                  </a:lnTo>
                  <a:lnTo>
                    <a:pt x="61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185E"/>
                </a:gs>
                <a:gs pos="50000">
                  <a:srgbClr val="FF33CC"/>
                </a:gs>
                <a:gs pos="100000">
                  <a:srgbClr val="76185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1" name="Freeform 184"/>
            <p:cNvSpPr/>
            <p:nvPr/>
          </p:nvSpPr>
          <p:spPr bwMode="auto">
            <a:xfrm>
              <a:off x="2124" y="2814"/>
              <a:ext cx="936" cy="156"/>
            </a:xfrm>
            <a:custGeom>
              <a:avLst/>
              <a:gdLst>
                <a:gd name="T0" fmla="*/ 0 w 936"/>
                <a:gd name="T1" fmla="*/ 0 h 156"/>
                <a:gd name="T2" fmla="*/ 936 w 936"/>
                <a:gd name="T3" fmla="*/ 0 h 156"/>
                <a:gd name="T4" fmla="*/ 936 w 936"/>
                <a:gd name="T5" fmla="*/ 156 h 156"/>
                <a:gd name="T6" fmla="*/ 0 w 936"/>
                <a:gd name="T7" fmla="*/ 156 h 156"/>
                <a:gd name="T8" fmla="*/ 0 w 936"/>
                <a:gd name="T9" fmla="*/ 0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6" h="156">
                  <a:moveTo>
                    <a:pt x="0" y="0"/>
                  </a:moveTo>
                  <a:lnTo>
                    <a:pt x="936" y="0"/>
                  </a:lnTo>
                  <a:lnTo>
                    <a:pt x="936" y="156"/>
                  </a:lnTo>
                  <a:lnTo>
                    <a:pt x="0" y="15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1274E"/>
                </a:gs>
                <a:gs pos="50000">
                  <a:srgbClr val="FF66CC"/>
                </a:gs>
                <a:gs pos="100000">
                  <a:srgbClr val="61274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6377" name="AutoShape 185"/>
          <p:cNvSpPr/>
          <p:nvPr/>
        </p:nvSpPr>
        <p:spPr bwMode="auto">
          <a:xfrm rot="5400000">
            <a:off x="2421731" y="3818732"/>
            <a:ext cx="150813" cy="1676400"/>
          </a:xfrm>
          <a:prstGeom prst="leftBrace">
            <a:avLst>
              <a:gd name="adj1" fmla="val 92631"/>
              <a:gd name="adj2" fmla="val 50000"/>
            </a:avLst>
          </a:prstGeom>
          <a:noFill/>
          <a:ln w="2857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6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3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13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13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13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13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13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3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36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36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3" dur="500"/>
                                        <p:tgtEl>
                                          <p:spTgt spid="136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8" dur="500"/>
                                        <p:tgtEl>
                                          <p:spTgt spid="13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3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7" dur="500"/>
                                        <p:tgtEl>
                                          <p:spTgt spid="136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2" dur="500"/>
                                        <p:tgtEl>
                                          <p:spTgt spid="13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7" grpId="0" autoUpdateAnimBg="0"/>
      <p:bldP spid="136198" grpId="0" autoUpdateAnimBg="0"/>
      <p:bldP spid="136199" grpId="0" autoUpdateAnimBg="0"/>
      <p:bldP spid="136200" grpId="0" autoUpdateAnimBg="0"/>
      <p:bldP spid="136201" grpId="0" autoUpdateAnimBg="0"/>
      <p:bldP spid="136377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4"/>
          <p:cNvSpPr txBox="1">
            <a:spLocks noChangeArrowheads="1"/>
          </p:cNvSpPr>
          <p:nvPr/>
        </p:nvSpPr>
        <p:spPr bwMode="auto">
          <a:xfrm>
            <a:off x="84138" y="269875"/>
            <a:ext cx="9159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2.</a:t>
            </a:r>
            <a:r>
              <a:rPr lang="zh-CN" altLang="en-US">
                <a:latin typeface="宋体" panose="02010600030101010101" pitchFamily="2" charset="-122"/>
              </a:rPr>
              <a:t>轴肩处加工出退刀槽，或在孔端面加工出倒角。</a:t>
            </a:r>
            <a:endParaRPr lang="zh-CN" altLang="en-US">
              <a:latin typeface="宋体" panose="02010600030101010101" pitchFamily="2" charset="-122"/>
            </a:endParaRPr>
          </a:p>
        </p:txBody>
      </p:sp>
      <p:grpSp>
        <p:nvGrpSpPr>
          <p:cNvPr id="41288" name="Group 328"/>
          <p:cNvGrpSpPr/>
          <p:nvPr/>
        </p:nvGrpSpPr>
        <p:grpSpPr bwMode="auto">
          <a:xfrm>
            <a:off x="5867400" y="1690688"/>
            <a:ext cx="1849438" cy="1543050"/>
            <a:chOff x="3696" y="1065"/>
            <a:chExt cx="1165" cy="972"/>
          </a:xfrm>
        </p:grpSpPr>
        <p:sp>
          <p:nvSpPr>
            <p:cNvPr id="44120" name="Freeform 128"/>
            <p:cNvSpPr/>
            <p:nvPr/>
          </p:nvSpPr>
          <p:spPr bwMode="auto">
            <a:xfrm>
              <a:off x="3915" y="1120"/>
              <a:ext cx="711" cy="319"/>
            </a:xfrm>
            <a:custGeom>
              <a:avLst/>
              <a:gdLst>
                <a:gd name="T0" fmla="*/ 0 w 711"/>
                <a:gd name="T1" fmla="*/ 31 h 319"/>
                <a:gd name="T2" fmla="*/ 0 w 711"/>
                <a:gd name="T3" fmla="*/ 319 h 319"/>
                <a:gd name="T4" fmla="*/ 711 w 711"/>
                <a:gd name="T5" fmla="*/ 319 h 319"/>
                <a:gd name="T6" fmla="*/ 711 w 711"/>
                <a:gd name="T7" fmla="*/ 31 h 319"/>
                <a:gd name="T8" fmla="*/ 630 w 711"/>
                <a:gd name="T9" fmla="*/ 47 h 319"/>
                <a:gd name="T10" fmla="*/ 549 w 711"/>
                <a:gd name="T11" fmla="*/ 23 h 319"/>
                <a:gd name="T12" fmla="*/ 495 w 711"/>
                <a:gd name="T13" fmla="*/ 47 h 319"/>
                <a:gd name="T14" fmla="*/ 450 w 711"/>
                <a:gd name="T15" fmla="*/ 44 h 319"/>
                <a:gd name="T16" fmla="*/ 372 w 711"/>
                <a:gd name="T17" fmla="*/ 17 h 319"/>
                <a:gd name="T18" fmla="*/ 333 w 711"/>
                <a:gd name="T19" fmla="*/ 14 h 319"/>
                <a:gd name="T20" fmla="*/ 270 w 711"/>
                <a:gd name="T21" fmla="*/ 32 h 319"/>
                <a:gd name="T22" fmla="*/ 219 w 711"/>
                <a:gd name="T23" fmla="*/ 32 h 319"/>
                <a:gd name="T24" fmla="*/ 159 w 711"/>
                <a:gd name="T25" fmla="*/ 11 h 319"/>
                <a:gd name="T26" fmla="*/ 101 w 711"/>
                <a:gd name="T27" fmla="*/ 0 h 319"/>
                <a:gd name="T28" fmla="*/ 49 w 711"/>
                <a:gd name="T29" fmla="*/ 8 h 319"/>
                <a:gd name="T30" fmla="*/ 0 w 711"/>
                <a:gd name="T31" fmla="*/ 31 h 3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11" h="319">
                  <a:moveTo>
                    <a:pt x="0" y="31"/>
                  </a:moveTo>
                  <a:lnTo>
                    <a:pt x="0" y="319"/>
                  </a:lnTo>
                  <a:lnTo>
                    <a:pt x="711" y="319"/>
                  </a:lnTo>
                  <a:lnTo>
                    <a:pt x="711" y="31"/>
                  </a:lnTo>
                  <a:lnTo>
                    <a:pt x="630" y="47"/>
                  </a:lnTo>
                  <a:lnTo>
                    <a:pt x="549" y="23"/>
                  </a:lnTo>
                  <a:lnTo>
                    <a:pt x="495" y="47"/>
                  </a:lnTo>
                  <a:lnTo>
                    <a:pt x="450" y="44"/>
                  </a:lnTo>
                  <a:lnTo>
                    <a:pt x="372" y="17"/>
                  </a:lnTo>
                  <a:lnTo>
                    <a:pt x="333" y="14"/>
                  </a:lnTo>
                  <a:lnTo>
                    <a:pt x="270" y="32"/>
                  </a:lnTo>
                  <a:lnTo>
                    <a:pt x="219" y="32"/>
                  </a:lnTo>
                  <a:lnTo>
                    <a:pt x="159" y="11"/>
                  </a:lnTo>
                  <a:lnTo>
                    <a:pt x="101" y="0"/>
                  </a:lnTo>
                  <a:lnTo>
                    <a:pt x="49" y="8"/>
                  </a:lnTo>
                  <a:lnTo>
                    <a:pt x="0" y="31"/>
                  </a:lnTo>
                  <a:close/>
                </a:path>
              </a:pathLst>
            </a:custGeom>
            <a:gradFill rotWithShape="0">
              <a:gsLst>
                <a:gs pos="0">
                  <a:srgbClr val="CC9900"/>
                </a:gs>
                <a:gs pos="50000">
                  <a:srgbClr val="EEDDAA"/>
                </a:gs>
                <a:gs pos="100000">
                  <a:srgbClr val="CC9900"/>
                </a:gs>
              </a:gsLst>
              <a:lin ang="0" scaled="1"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21" name="Freeform 130"/>
            <p:cNvSpPr/>
            <p:nvPr/>
          </p:nvSpPr>
          <p:spPr bwMode="auto">
            <a:xfrm>
              <a:off x="4032" y="1814"/>
              <a:ext cx="480" cy="51"/>
            </a:xfrm>
            <a:custGeom>
              <a:avLst/>
              <a:gdLst>
                <a:gd name="T0" fmla="*/ 0 w 480"/>
                <a:gd name="T1" fmla="*/ 1 h 51"/>
                <a:gd name="T2" fmla="*/ 48 w 480"/>
                <a:gd name="T3" fmla="*/ 51 h 51"/>
                <a:gd name="T4" fmla="*/ 432 w 480"/>
                <a:gd name="T5" fmla="*/ 51 h 51"/>
                <a:gd name="T6" fmla="*/ 480 w 480"/>
                <a:gd name="T7" fmla="*/ 0 h 51"/>
                <a:gd name="T8" fmla="*/ 0 w 480"/>
                <a:gd name="T9" fmla="*/ 1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0" h="51">
                  <a:moveTo>
                    <a:pt x="0" y="1"/>
                  </a:moveTo>
                  <a:lnTo>
                    <a:pt x="48" y="51"/>
                  </a:lnTo>
                  <a:lnTo>
                    <a:pt x="432" y="51"/>
                  </a:lnTo>
                  <a:lnTo>
                    <a:pt x="480" y="0"/>
                  </a:lnTo>
                  <a:lnTo>
                    <a:pt x="0" y="1"/>
                  </a:lnTo>
                  <a:close/>
                </a:path>
              </a:pathLst>
            </a:custGeom>
            <a:gradFill rotWithShape="0">
              <a:gsLst>
                <a:gs pos="0">
                  <a:srgbClr val="CC9900"/>
                </a:gs>
                <a:gs pos="50000">
                  <a:srgbClr val="F3E7C3"/>
                </a:gs>
                <a:gs pos="100000">
                  <a:srgbClr val="CC9900"/>
                </a:gs>
              </a:gsLst>
              <a:lin ang="0" scaled="1"/>
            </a:gra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22" name="Freeform 133"/>
            <p:cNvSpPr/>
            <p:nvPr/>
          </p:nvSpPr>
          <p:spPr bwMode="auto">
            <a:xfrm>
              <a:off x="3977" y="1436"/>
              <a:ext cx="589" cy="371"/>
            </a:xfrm>
            <a:custGeom>
              <a:avLst/>
              <a:gdLst>
                <a:gd name="T0" fmla="*/ 52 w 589"/>
                <a:gd name="T1" fmla="*/ 77 h 371"/>
                <a:gd name="T2" fmla="*/ 52 w 589"/>
                <a:gd name="T3" fmla="*/ 371 h 371"/>
                <a:gd name="T4" fmla="*/ 532 w 589"/>
                <a:gd name="T5" fmla="*/ 371 h 371"/>
                <a:gd name="T6" fmla="*/ 532 w 589"/>
                <a:gd name="T7" fmla="*/ 83 h 371"/>
                <a:gd name="T8" fmla="*/ 544 w 589"/>
                <a:gd name="T9" fmla="*/ 32 h 371"/>
                <a:gd name="T10" fmla="*/ 589 w 589"/>
                <a:gd name="T11" fmla="*/ 0 h 371"/>
                <a:gd name="T12" fmla="*/ 0 w 589"/>
                <a:gd name="T13" fmla="*/ 0 h 371"/>
                <a:gd name="T14" fmla="*/ 39 w 589"/>
                <a:gd name="T15" fmla="*/ 32 h 371"/>
                <a:gd name="T16" fmla="*/ 52 w 589"/>
                <a:gd name="T17" fmla="*/ 77 h 3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9" h="371">
                  <a:moveTo>
                    <a:pt x="52" y="77"/>
                  </a:moveTo>
                  <a:lnTo>
                    <a:pt x="52" y="371"/>
                  </a:lnTo>
                  <a:lnTo>
                    <a:pt x="532" y="371"/>
                  </a:lnTo>
                  <a:lnTo>
                    <a:pt x="532" y="83"/>
                  </a:lnTo>
                  <a:lnTo>
                    <a:pt x="544" y="32"/>
                  </a:lnTo>
                  <a:lnTo>
                    <a:pt x="589" y="0"/>
                  </a:lnTo>
                  <a:lnTo>
                    <a:pt x="0" y="0"/>
                  </a:lnTo>
                  <a:lnTo>
                    <a:pt x="39" y="32"/>
                  </a:lnTo>
                  <a:lnTo>
                    <a:pt x="52" y="77"/>
                  </a:lnTo>
                  <a:close/>
                </a:path>
              </a:pathLst>
            </a:custGeom>
            <a:gradFill rotWithShape="0">
              <a:gsLst>
                <a:gs pos="0">
                  <a:srgbClr val="CC9900"/>
                </a:gs>
                <a:gs pos="50000">
                  <a:srgbClr val="EBD79B"/>
                </a:gs>
                <a:gs pos="100000">
                  <a:srgbClr val="CC9900"/>
                </a:gs>
              </a:gsLst>
              <a:lin ang="0" scaled="1"/>
            </a:gra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23" name="Line 134"/>
            <p:cNvSpPr>
              <a:spLocks noChangeShapeType="1"/>
            </p:cNvSpPr>
            <p:nvPr/>
          </p:nvSpPr>
          <p:spPr bwMode="auto">
            <a:xfrm flipH="1">
              <a:off x="3696" y="1437"/>
              <a:ext cx="2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24" name="Line 135"/>
            <p:cNvSpPr>
              <a:spLocks noChangeShapeType="1"/>
            </p:cNvSpPr>
            <p:nvPr/>
          </p:nvSpPr>
          <p:spPr bwMode="auto">
            <a:xfrm>
              <a:off x="4624" y="1437"/>
              <a:ext cx="2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25" name="Line 136"/>
            <p:cNvSpPr>
              <a:spLocks noChangeShapeType="1"/>
            </p:cNvSpPr>
            <p:nvPr/>
          </p:nvSpPr>
          <p:spPr bwMode="auto">
            <a:xfrm>
              <a:off x="3709" y="1961"/>
              <a:ext cx="1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26" name="Line 137"/>
            <p:cNvSpPr>
              <a:spLocks noChangeShapeType="1"/>
            </p:cNvSpPr>
            <p:nvPr/>
          </p:nvSpPr>
          <p:spPr bwMode="auto">
            <a:xfrm>
              <a:off x="4029" y="1801"/>
              <a:ext cx="0" cy="1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27" name="Line 138"/>
            <p:cNvSpPr>
              <a:spLocks noChangeShapeType="1"/>
            </p:cNvSpPr>
            <p:nvPr/>
          </p:nvSpPr>
          <p:spPr bwMode="auto">
            <a:xfrm>
              <a:off x="4509" y="1808"/>
              <a:ext cx="0" cy="1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28" name="Line 139"/>
            <p:cNvSpPr>
              <a:spLocks noChangeShapeType="1"/>
            </p:cNvSpPr>
            <p:nvPr/>
          </p:nvSpPr>
          <p:spPr bwMode="auto">
            <a:xfrm>
              <a:off x="3843" y="1437"/>
              <a:ext cx="186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29" name="Line 140"/>
            <p:cNvSpPr>
              <a:spLocks noChangeShapeType="1"/>
            </p:cNvSpPr>
            <p:nvPr/>
          </p:nvSpPr>
          <p:spPr bwMode="auto">
            <a:xfrm>
              <a:off x="3734" y="1489"/>
              <a:ext cx="300" cy="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0" name="Line 141"/>
            <p:cNvSpPr>
              <a:spLocks noChangeShapeType="1"/>
            </p:cNvSpPr>
            <p:nvPr/>
          </p:nvSpPr>
          <p:spPr bwMode="auto">
            <a:xfrm>
              <a:off x="3709" y="1622"/>
              <a:ext cx="314" cy="3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1" name="Line 142"/>
            <p:cNvSpPr>
              <a:spLocks noChangeShapeType="1"/>
            </p:cNvSpPr>
            <p:nvPr/>
          </p:nvSpPr>
          <p:spPr bwMode="auto">
            <a:xfrm>
              <a:off x="3715" y="1795"/>
              <a:ext cx="166" cy="1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2" name="Line 143"/>
            <p:cNvSpPr>
              <a:spLocks noChangeShapeType="1"/>
            </p:cNvSpPr>
            <p:nvPr/>
          </p:nvSpPr>
          <p:spPr bwMode="auto">
            <a:xfrm>
              <a:off x="4502" y="1808"/>
              <a:ext cx="153" cy="1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3" name="Line 144"/>
            <p:cNvSpPr>
              <a:spLocks noChangeShapeType="1"/>
            </p:cNvSpPr>
            <p:nvPr/>
          </p:nvSpPr>
          <p:spPr bwMode="auto">
            <a:xfrm>
              <a:off x="4509" y="1648"/>
              <a:ext cx="313" cy="3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4" name="Line 145"/>
            <p:cNvSpPr>
              <a:spLocks noChangeShapeType="1"/>
            </p:cNvSpPr>
            <p:nvPr/>
          </p:nvSpPr>
          <p:spPr bwMode="auto">
            <a:xfrm>
              <a:off x="4515" y="1494"/>
              <a:ext cx="326" cy="3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5" name="Line 146"/>
            <p:cNvSpPr>
              <a:spLocks noChangeShapeType="1"/>
            </p:cNvSpPr>
            <p:nvPr/>
          </p:nvSpPr>
          <p:spPr bwMode="auto">
            <a:xfrm>
              <a:off x="4624" y="1437"/>
              <a:ext cx="198" cy="1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6" name="Line 147"/>
            <p:cNvSpPr>
              <a:spLocks noChangeShapeType="1"/>
            </p:cNvSpPr>
            <p:nvPr/>
          </p:nvSpPr>
          <p:spPr bwMode="auto">
            <a:xfrm>
              <a:off x="4777" y="1437"/>
              <a:ext cx="64" cy="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7" name="Line 148"/>
            <p:cNvSpPr>
              <a:spLocks noChangeShapeType="1"/>
            </p:cNvSpPr>
            <p:nvPr/>
          </p:nvSpPr>
          <p:spPr bwMode="auto">
            <a:xfrm>
              <a:off x="4271" y="1065"/>
              <a:ext cx="0" cy="9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8" name="Freeform 149"/>
            <p:cNvSpPr/>
            <p:nvPr/>
          </p:nvSpPr>
          <p:spPr bwMode="auto">
            <a:xfrm>
              <a:off x="3920" y="1432"/>
              <a:ext cx="115" cy="115"/>
            </a:xfrm>
            <a:custGeom>
              <a:avLst/>
              <a:gdLst>
                <a:gd name="T0" fmla="*/ 0 w 115"/>
                <a:gd name="T1" fmla="*/ 0 h 115"/>
                <a:gd name="T2" fmla="*/ 115 w 115"/>
                <a:gd name="T3" fmla="*/ 115 h 1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5" h="115">
                  <a:moveTo>
                    <a:pt x="0" y="0"/>
                  </a:moveTo>
                  <a:lnTo>
                    <a:pt x="115" y="11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39" name="Line 150"/>
            <p:cNvSpPr>
              <a:spLocks noChangeShapeType="1"/>
            </p:cNvSpPr>
            <p:nvPr/>
          </p:nvSpPr>
          <p:spPr bwMode="auto">
            <a:xfrm flipV="1">
              <a:off x="4510" y="1438"/>
              <a:ext cx="107" cy="1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40" name="Line 151"/>
            <p:cNvSpPr>
              <a:spLocks noChangeShapeType="1"/>
            </p:cNvSpPr>
            <p:nvPr/>
          </p:nvSpPr>
          <p:spPr bwMode="auto">
            <a:xfrm>
              <a:off x="3913" y="1437"/>
              <a:ext cx="7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41" name="Line 152"/>
            <p:cNvSpPr>
              <a:spLocks noChangeShapeType="1"/>
            </p:cNvSpPr>
            <p:nvPr/>
          </p:nvSpPr>
          <p:spPr bwMode="auto">
            <a:xfrm flipV="1">
              <a:off x="3913" y="1149"/>
              <a:ext cx="0" cy="2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42" name="Line 153"/>
            <p:cNvSpPr>
              <a:spLocks noChangeShapeType="1"/>
            </p:cNvSpPr>
            <p:nvPr/>
          </p:nvSpPr>
          <p:spPr bwMode="auto">
            <a:xfrm flipV="1">
              <a:off x="4630" y="1142"/>
              <a:ext cx="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287" name="Group 327"/>
          <p:cNvGrpSpPr/>
          <p:nvPr/>
        </p:nvGrpSpPr>
        <p:grpSpPr bwMode="auto">
          <a:xfrm>
            <a:off x="3359150" y="1625600"/>
            <a:ext cx="1749425" cy="1582738"/>
            <a:chOff x="2116" y="1024"/>
            <a:chExt cx="1102" cy="997"/>
          </a:xfrm>
        </p:grpSpPr>
        <p:sp>
          <p:nvSpPr>
            <p:cNvPr id="44097" name="Rectangle 155"/>
            <p:cNvSpPr>
              <a:spLocks noChangeArrowheads="1"/>
            </p:cNvSpPr>
            <p:nvPr/>
          </p:nvSpPr>
          <p:spPr bwMode="auto">
            <a:xfrm>
              <a:off x="2429" y="1470"/>
              <a:ext cx="480" cy="298"/>
            </a:xfrm>
            <a:prstGeom prst="rect">
              <a:avLst/>
            </a:prstGeom>
            <a:gradFill rotWithShape="0">
              <a:gsLst>
                <a:gs pos="0">
                  <a:srgbClr val="CC9900"/>
                </a:gs>
                <a:gs pos="50000">
                  <a:srgbClr val="E8D18C"/>
                </a:gs>
                <a:gs pos="100000">
                  <a:srgbClr val="CC9900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44098" name="Freeform 156"/>
            <p:cNvSpPr/>
            <p:nvPr/>
          </p:nvSpPr>
          <p:spPr bwMode="auto">
            <a:xfrm>
              <a:off x="2318" y="1080"/>
              <a:ext cx="711" cy="324"/>
            </a:xfrm>
            <a:custGeom>
              <a:avLst/>
              <a:gdLst>
                <a:gd name="T0" fmla="*/ 0 w 711"/>
                <a:gd name="T1" fmla="*/ 36 h 324"/>
                <a:gd name="T2" fmla="*/ 0 w 711"/>
                <a:gd name="T3" fmla="*/ 324 h 324"/>
                <a:gd name="T4" fmla="*/ 711 w 711"/>
                <a:gd name="T5" fmla="*/ 324 h 324"/>
                <a:gd name="T6" fmla="*/ 710 w 711"/>
                <a:gd name="T7" fmla="*/ 24 h 324"/>
                <a:gd name="T8" fmla="*/ 654 w 711"/>
                <a:gd name="T9" fmla="*/ 48 h 324"/>
                <a:gd name="T10" fmla="*/ 602 w 711"/>
                <a:gd name="T11" fmla="*/ 52 h 324"/>
                <a:gd name="T12" fmla="*/ 554 w 711"/>
                <a:gd name="T13" fmla="*/ 28 h 324"/>
                <a:gd name="T14" fmla="*/ 475 w 711"/>
                <a:gd name="T15" fmla="*/ 48 h 324"/>
                <a:gd name="T16" fmla="*/ 436 w 711"/>
                <a:gd name="T17" fmla="*/ 42 h 324"/>
                <a:gd name="T18" fmla="*/ 382 w 711"/>
                <a:gd name="T19" fmla="*/ 15 h 324"/>
                <a:gd name="T20" fmla="*/ 317 w 711"/>
                <a:gd name="T21" fmla="*/ 7 h 324"/>
                <a:gd name="T22" fmla="*/ 262 w 711"/>
                <a:gd name="T23" fmla="*/ 20 h 324"/>
                <a:gd name="T24" fmla="*/ 198 w 711"/>
                <a:gd name="T25" fmla="*/ 28 h 324"/>
                <a:gd name="T26" fmla="*/ 126 w 711"/>
                <a:gd name="T27" fmla="*/ 4 h 324"/>
                <a:gd name="T28" fmla="*/ 54 w 711"/>
                <a:gd name="T29" fmla="*/ 0 h 324"/>
                <a:gd name="T30" fmla="*/ 0 w 711"/>
                <a:gd name="T31" fmla="*/ 36 h 32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11" h="324">
                  <a:moveTo>
                    <a:pt x="0" y="36"/>
                  </a:moveTo>
                  <a:lnTo>
                    <a:pt x="0" y="324"/>
                  </a:lnTo>
                  <a:lnTo>
                    <a:pt x="711" y="324"/>
                  </a:lnTo>
                  <a:lnTo>
                    <a:pt x="710" y="24"/>
                  </a:lnTo>
                  <a:lnTo>
                    <a:pt x="654" y="48"/>
                  </a:lnTo>
                  <a:lnTo>
                    <a:pt x="602" y="52"/>
                  </a:lnTo>
                  <a:lnTo>
                    <a:pt x="554" y="28"/>
                  </a:lnTo>
                  <a:lnTo>
                    <a:pt x="475" y="48"/>
                  </a:lnTo>
                  <a:lnTo>
                    <a:pt x="436" y="42"/>
                  </a:lnTo>
                  <a:lnTo>
                    <a:pt x="382" y="15"/>
                  </a:lnTo>
                  <a:lnTo>
                    <a:pt x="317" y="7"/>
                  </a:lnTo>
                  <a:lnTo>
                    <a:pt x="262" y="20"/>
                  </a:lnTo>
                  <a:lnTo>
                    <a:pt x="198" y="28"/>
                  </a:lnTo>
                  <a:lnTo>
                    <a:pt x="126" y="4"/>
                  </a:lnTo>
                  <a:lnTo>
                    <a:pt x="54" y="0"/>
                  </a:lnTo>
                  <a:lnTo>
                    <a:pt x="0" y="36"/>
                  </a:lnTo>
                  <a:close/>
                </a:path>
              </a:pathLst>
            </a:custGeom>
            <a:gradFill rotWithShape="0">
              <a:gsLst>
                <a:gs pos="0">
                  <a:srgbClr val="CC9900"/>
                </a:gs>
                <a:gs pos="50000">
                  <a:srgbClr val="EBD79B"/>
                </a:gs>
                <a:gs pos="100000">
                  <a:srgbClr val="CC9900"/>
                </a:gs>
              </a:gsLst>
              <a:lin ang="0" scaled="1"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99" name="Rectangle 158"/>
            <p:cNvSpPr>
              <a:spLocks noChangeArrowheads="1"/>
            </p:cNvSpPr>
            <p:nvPr/>
          </p:nvSpPr>
          <p:spPr bwMode="auto">
            <a:xfrm>
              <a:off x="2486" y="1403"/>
              <a:ext cx="355" cy="67"/>
            </a:xfrm>
            <a:prstGeom prst="rect">
              <a:avLst/>
            </a:prstGeom>
            <a:gradFill rotWithShape="0">
              <a:gsLst>
                <a:gs pos="0">
                  <a:srgbClr val="CC9900"/>
                </a:gs>
                <a:gs pos="50000">
                  <a:srgbClr val="E8D18C"/>
                </a:gs>
                <a:gs pos="100000">
                  <a:srgbClr val="CC9900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FF3300"/>
                </a:solidFill>
              </a:endParaRPr>
            </a:p>
          </p:txBody>
        </p:sp>
        <p:sp>
          <p:nvSpPr>
            <p:cNvPr id="44100" name="Freeform 159"/>
            <p:cNvSpPr/>
            <p:nvPr/>
          </p:nvSpPr>
          <p:spPr bwMode="auto">
            <a:xfrm>
              <a:off x="2429" y="1767"/>
              <a:ext cx="480" cy="53"/>
            </a:xfrm>
            <a:custGeom>
              <a:avLst/>
              <a:gdLst>
                <a:gd name="T0" fmla="*/ 0 w 480"/>
                <a:gd name="T1" fmla="*/ 1 h 53"/>
                <a:gd name="T2" fmla="*/ 60 w 480"/>
                <a:gd name="T3" fmla="*/ 53 h 53"/>
                <a:gd name="T4" fmla="*/ 431 w 480"/>
                <a:gd name="T5" fmla="*/ 53 h 53"/>
                <a:gd name="T6" fmla="*/ 480 w 480"/>
                <a:gd name="T7" fmla="*/ 0 h 53"/>
                <a:gd name="T8" fmla="*/ 0 w 480"/>
                <a:gd name="T9" fmla="*/ 1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0" h="53">
                  <a:moveTo>
                    <a:pt x="0" y="1"/>
                  </a:moveTo>
                  <a:lnTo>
                    <a:pt x="60" y="53"/>
                  </a:lnTo>
                  <a:lnTo>
                    <a:pt x="431" y="53"/>
                  </a:lnTo>
                  <a:lnTo>
                    <a:pt x="480" y="0"/>
                  </a:lnTo>
                  <a:lnTo>
                    <a:pt x="0" y="1"/>
                  </a:lnTo>
                  <a:close/>
                </a:path>
              </a:pathLst>
            </a:custGeom>
            <a:gradFill rotWithShape="0">
              <a:gsLst>
                <a:gs pos="0">
                  <a:srgbClr val="CC9900"/>
                </a:gs>
                <a:gs pos="50000">
                  <a:srgbClr val="E9D391"/>
                </a:gs>
                <a:gs pos="100000">
                  <a:srgbClr val="CC9900"/>
                </a:gs>
              </a:gsLst>
              <a:lin ang="0" scaled="1"/>
            </a:gra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1" name="Line 162"/>
            <p:cNvSpPr>
              <a:spLocks noChangeShapeType="1"/>
            </p:cNvSpPr>
            <p:nvPr/>
          </p:nvSpPr>
          <p:spPr bwMode="auto">
            <a:xfrm flipH="1">
              <a:off x="2116" y="1393"/>
              <a:ext cx="2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2" name="Line 163"/>
            <p:cNvSpPr>
              <a:spLocks noChangeShapeType="1"/>
            </p:cNvSpPr>
            <p:nvPr/>
          </p:nvSpPr>
          <p:spPr bwMode="auto">
            <a:xfrm>
              <a:off x="3020" y="1393"/>
              <a:ext cx="1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3" name="Line 164"/>
            <p:cNvSpPr>
              <a:spLocks noChangeShapeType="1"/>
            </p:cNvSpPr>
            <p:nvPr/>
          </p:nvSpPr>
          <p:spPr bwMode="auto">
            <a:xfrm>
              <a:off x="2143" y="1955"/>
              <a:ext cx="10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4" name="Line 165"/>
            <p:cNvSpPr>
              <a:spLocks noChangeShapeType="1"/>
            </p:cNvSpPr>
            <p:nvPr/>
          </p:nvSpPr>
          <p:spPr bwMode="auto">
            <a:xfrm>
              <a:off x="2431" y="1391"/>
              <a:ext cx="0" cy="5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5" name="Line 166"/>
            <p:cNvSpPr>
              <a:spLocks noChangeShapeType="1"/>
            </p:cNvSpPr>
            <p:nvPr/>
          </p:nvSpPr>
          <p:spPr bwMode="auto">
            <a:xfrm>
              <a:off x="2911" y="1397"/>
              <a:ext cx="0" cy="5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6" name="Line 167"/>
            <p:cNvSpPr>
              <a:spLocks noChangeShapeType="1"/>
            </p:cNvSpPr>
            <p:nvPr/>
          </p:nvSpPr>
          <p:spPr bwMode="auto">
            <a:xfrm>
              <a:off x="2265" y="1404"/>
              <a:ext cx="166" cy="1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7" name="Line 168"/>
            <p:cNvSpPr>
              <a:spLocks noChangeShapeType="1"/>
            </p:cNvSpPr>
            <p:nvPr/>
          </p:nvSpPr>
          <p:spPr bwMode="auto">
            <a:xfrm>
              <a:off x="2136" y="1423"/>
              <a:ext cx="301" cy="3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8" name="Line 169"/>
            <p:cNvSpPr>
              <a:spLocks noChangeShapeType="1"/>
            </p:cNvSpPr>
            <p:nvPr/>
          </p:nvSpPr>
          <p:spPr bwMode="auto">
            <a:xfrm>
              <a:off x="2143" y="1583"/>
              <a:ext cx="294" cy="2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9" name="Line 170"/>
            <p:cNvSpPr>
              <a:spLocks noChangeShapeType="1"/>
            </p:cNvSpPr>
            <p:nvPr/>
          </p:nvSpPr>
          <p:spPr bwMode="auto">
            <a:xfrm>
              <a:off x="2175" y="1764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10" name="Line 171"/>
            <p:cNvSpPr>
              <a:spLocks noChangeShapeType="1"/>
            </p:cNvSpPr>
            <p:nvPr/>
          </p:nvSpPr>
          <p:spPr bwMode="auto">
            <a:xfrm>
              <a:off x="2911" y="1833"/>
              <a:ext cx="122" cy="1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11" name="Line 172"/>
            <p:cNvSpPr>
              <a:spLocks noChangeShapeType="1"/>
            </p:cNvSpPr>
            <p:nvPr/>
          </p:nvSpPr>
          <p:spPr bwMode="auto">
            <a:xfrm>
              <a:off x="2911" y="1692"/>
              <a:ext cx="250" cy="2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12" name="Line 173"/>
            <p:cNvSpPr>
              <a:spLocks noChangeShapeType="1"/>
            </p:cNvSpPr>
            <p:nvPr/>
          </p:nvSpPr>
          <p:spPr bwMode="auto">
            <a:xfrm>
              <a:off x="2917" y="1545"/>
              <a:ext cx="269" cy="2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13" name="Line 174"/>
            <p:cNvSpPr>
              <a:spLocks noChangeShapeType="1"/>
            </p:cNvSpPr>
            <p:nvPr/>
          </p:nvSpPr>
          <p:spPr bwMode="auto">
            <a:xfrm>
              <a:off x="2924" y="1398"/>
              <a:ext cx="276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14" name="Line 175"/>
            <p:cNvSpPr>
              <a:spLocks noChangeShapeType="1"/>
            </p:cNvSpPr>
            <p:nvPr/>
          </p:nvSpPr>
          <p:spPr bwMode="auto">
            <a:xfrm>
              <a:off x="3084" y="1411"/>
              <a:ext cx="128" cy="1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15" name="Line 176"/>
            <p:cNvSpPr>
              <a:spLocks noChangeShapeType="1"/>
            </p:cNvSpPr>
            <p:nvPr/>
          </p:nvSpPr>
          <p:spPr bwMode="auto">
            <a:xfrm>
              <a:off x="2156" y="1878"/>
              <a:ext cx="89" cy="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16" name="Line 177"/>
            <p:cNvSpPr>
              <a:spLocks noChangeShapeType="1"/>
            </p:cNvSpPr>
            <p:nvPr/>
          </p:nvSpPr>
          <p:spPr bwMode="auto">
            <a:xfrm>
              <a:off x="2674" y="1024"/>
              <a:ext cx="0" cy="9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17" name="Line 178"/>
            <p:cNvSpPr>
              <a:spLocks noChangeShapeType="1"/>
            </p:cNvSpPr>
            <p:nvPr/>
          </p:nvSpPr>
          <p:spPr bwMode="auto">
            <a:xfrm flipV="1">
              <a:off x="2316" y="1116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18" name="Line 179"/>
            <p:cNvSpPr>
              <a:spLocks noChangeShapeType="1"/>
            </p:cNvSpPr>
            <p:nvPr/>
          </p:nvSpPr>
          <p:spPr bwMode="auto">
            <a:xfrm flipV="1">
              <a:off x="3026" y="1094"/>
              <a:ext cx="0" cy="3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19" name="Line 180"/>
            <p:cNvSpPr>
              <a:spLocks noChangeShapeType="1"/>
            </p:cNvSpPr>
            <p:nvPr/>
          </p:nvSpPr>
          <p:spPr bwMode="auto">
            <a:xfrm>
              <a:off x="2316" y="1398"/>
              <a:ext cx="7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165" name="Group 205"/>
          <p:cNvGrpSpPr/>
          <p:nvPr/>
        </p:nvGrpSpPr>
        <p:grpSpPr bwMode="auto">
          <a:xfrm>
            <a:off x="4540250" y="1227138"/>
            <a:ext cx="1306513" cy="1571625"/>
            <a:chOff x="4570" y="2759"/>
            <a:chExt cx="823" cy="990"/>
          </a:xfrm>
        </p:grpSpPr>
        <p:sp>
          <p:nvSpPr>
            <p:cNvPr id="44095" name="Text Box 206"/>
            <p:cNvSpPr txBox="1">
              <a:spLocks noChangeArrowheads="1"/>
            </p:cNvSpPr>
            <p:nvPr/>
          </p:nvSpPr>
          <p:spPr bwMode="auto">
            <a:xfrm>
              <a:off x="5071" y="2759"/>
              <a:ext cx="322" cy="990"/>
            </a:xfrm>
            <a:prstGeom prst="rect">
              <a:avLst/>
            </a:prstGeom>
            <a:noFill/>
            <a:ln w="19050">
              <a:solidFill>
                <a:srgbClr val="CC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轴</a:t>
              </a:r>
              <a:endParaRPr lang="zh-CN" altLang="en-US" sz="240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上</a:t>
              </a:r>
              <a:endParaRPr lang="zh-CN" altLang="en-US" sz="240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切</a:t>
              </a:r>
              <a:endParaRPr lang="zh-CN" altLang="en-US" sz="240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槽</a:t>
              </a:r>
              <a:endParaRPr lang="zh-CN" altLang="en-US" sz="2400"/>
            </a:p>
          </p:txBody>
        </p:sp>
        <p:sp>
          <p:nvSpPr>
            <p:cNvPr id="44096" name="Line 207"/>
            <p:cNvSpPr>
              <a:spLocks noChangeShapeType="1"/>
            </p:cNvSpPr>
            <p:nvPr/>
          </p:nvSpPr>
          <p:spPr bwMode="auto">
            <a:xfrm flipV="1">
              <a:off x="4570" y="2936"/>
              <a:ext cx="512" cy="50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168" name="Group 208"/>
          <p:cNvGrpSpPr/>
          <p:nvPr/>
        </p:nvGrpSpPr>
        <p:grpSpPr bwMode="auto">
          <a:xfrm>
            <a:off x="7316788" y="1265238"/>
            <a:ext cx="989012" cy="1571625"/>
            <a:chOff x="3166" y="2796"/>
            <a:chExt cx="623" cy="990"/>
          </a:xfrm>
        </p:grpSpPr>
        <p:sp>
          <p:nvSpPr>
            <p:cNvPr id="44093" name="Text Box 209"/>
            <p:cNvSpPr txBox="1">
              <a:spLocks noChangeArrowheads="1"/>
            </p:cNvSpPr>
            <p:nvPr/>
          </p:nvSpPr>
          <p:spPr bwMode="auto">
            <a:xfrm>
              <a:off x="3467" y="2796"/>
              <a:ext cx="322" cy="990"/>
            </a:xfrm>
            <a:prstGeom prst="rect">
              <a:avLst/>
            </a:prstGeom>
            <a:noFill/>
            <a:ln w="19050">
              <a:solidFill>
                <a:srgbClr val="CC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孔</a:t>
              </a:r>
              <a:endParaRPr lang="zh-CN" altLang="en-US" sz="240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边</a:t>
              </a:r>
              <a:endParaRPr lang="zh-CN" altLang="en-US" sz="240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倒</a:t>
              </a:r>
              <a:endParaRPr lang="zh-CN" altLang="en-US" sz="240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角</a:t>
              </a:r>
              <a:endParaRPr lang="zh-CN" altLang="en-US" sz="2400"/>
            </a:p>
          </p:txBody>
        </p:sp>
        <p:sp>
          <p:nvSpPr>
            <p:cNvPr id="44094" name="Freeform 210"/>
            <p:cNvSpPr/>
            <p:nvPr/>
          </p:nvSpPr>
          <p:spPr bwMode="auto">
            <a:xfrm>
              <a:off x="3166" y="3322"/>
              <a:ext cx="298" cy="182"/>
            </a:xfrm>
            <a:custGeom>
              <a:avLst/>
              <a:gdLst>
                <a:gd name="T0" fmla="*/ 0 w 298"/>
                <a:gd name="T1" fmla="*/ 182 h 182"/>
                <a:gd name="T2" fmla="*/ 298 w 298"/>
                <a:gd name="T3" fmla="*/ 0 h 1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8" h="182">
                  <a:moveTo>
                    <a:pt x="0" y="182"/>
                  </a:moveTo>
                  <a:lnTo>
                    <a:pt x="298" y="0"/>
                  </a:lnTo>
                </a:path>
              </a:pathLst>
            </a:custGeom>
            <a:noFill/>
            <a:ln w="19050" cmpd="sng">
              <a:solidFill>
                <a:srgbClr val="FF3300"/>
              </a:solidFill>
              <a:round/>
              <a:head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171" name="Group 211"/>
          <p:cNvGrpSpPr/>
          <p:nvPr/>
        </p:nvGrpSpPr>
        <p:grpSpPr bwMode="auto">
          <a:xfrm>
            <a:off x="2116138" y="1339850"/>
            <a:ext cx="1158875" cy="1936750"/>
            <a:chOff x="1518" y="2778"/>
            <a:chExt cx="730" cy="1220"/>
          </a:xfrm>
        </p:grpSpPr>
        <p:sp>
          <p:nvSpPr>
            <p:cNvPr id="44091" name="Text Box 212"/>
            <p:cNvSpPr txBox="1">
              <a:spLocks noChangeArrowheads="1"/>
            </p:cNvSpPr>
            <p:nvPr/>
          </p:nvSpPr>
          <p:spPr bwMode="auto">
            <a:xfrm>
              <a:off x="1732" y="2778"/>
              <a:ext cx="516" cy="1220"/>
            </a:xfrm>
            <a:prstGeom prst="rect">
              <a:avLst/>
            </a:prstGeom>
            <a:noFill/>
            <a:ln w="19050">
              <a:solidFill>
                <a:srgbClr val="CC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零件</a:t>
              </a:r>
              <a:endParaRPr lang="zh-CN" altLang="en-US" sz="240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无</a:t>
              </a:r>
              <a:endParaRPr lang="zh-CN" altLang="en-US" sz="240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法</a:t>
              </a:r>
              <a:endParaRPr lang="zh-CN" altLang="en-US" sz="240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定</a:t>
              </a:r>
              <a:endParaRPr lang="zh-CN" altLang="en-US" sz="240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位</a:t>
              </a:r>
              <a:endParaRPr lang="zh-CN" altLang="en-US" sz="2400"/>
            </a:p>
          </p:txBody>
        </p:sp>
        <p:sp>
          <p:nvSpPr>
            <p:cNvPr id="44092" name="Freeform 213"/>
            <p:cNvSpPr/>
            <p:nvPr/>
          </p:nvSpPr>
          <p:spPr bwMode="auto">
            <a:xfrm>
              <a:off x="1518" y="3081"/>
              <a:ext cx="235" cy="371"/>
            </a:xfrm>
            <a:custGeom>
              <a:avLst/>
              <a:gdLst>
                <a:gd name="T0" fmla="*/ 0 w 235"/>
                <a:gd name="T1" fmla="*/ 371 h 371"/>
                <a:gd name="T2" fmla="*/ 235 w 235"/>
                <a:gd name="T3" fmla="*/ 0 h 37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5" h="371">
                  <a:moveTo>
                    <a:pt x="0" y="371"/>
                  </a:moveTo>
                  <a:lnTo>
                    <a:pt x="235" y="0"/>
                  </a:lnTo>
                </a:path>
              </a:pathLst>
            </a:custGeom>
            <a:noFill/>
            <a:ln w="19050" cmpd="sng">
              <a:solidFill>
                <a:srgbClr val="FF3300"/>
              </a:solidFill>
              <a:round/>
              <a:head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276" name="Group 316"/>
          <p:cNvGrpSpPr/>
          <p:nvPr/>
        </p:nvGrpSpPr>
        <p:grpSpPr bwMode="auto">
          <a:xfrm>
            <a:off x="339725" y="4400550"/>
            <a:ext cx="2346325" cy="1266825"/>
            <a:chOff x="214" y="2772"/>
            <a:chExt cx="1478" cy="798"/>
          </a:xfrm>
        </p:grpSpPr>
        <p:sp>
          <p:nvSpPr>
            <p:cNvPr id="44088" name="Freeform 248"/>
            <p:cNvSpPr/>
            <p:nvPr/>
          </p:nvSpPr>
          <p:spPr bwMode="auto">
            <a:xfrm>
              <a:off x="390" y="2772"/>
              <a:ext cx="1302" cy="798"/>
            </a:xfrm>
            <a:custGeom>
              <a:avLst/>
              <a:gdLst>
                <a:gd name="T0" fmla="*/ 0 w 1302"/>
                <a:gd name="T1" fmla="*/ 0 h 798"/>
                <a:gd name="T2" fmla="*/ 1302 w 1302"/>
                <a:gd name="T3" fmla="*/ 0 h 798"/>
                <a:gd name="T4" fmla="*/ 1302 w 1302"/>
                <a:gd name="T5" fmla="*/ 798 h 798"/>
                <a:gd name="T6" fmla="*/ 0 w 1302"/>
                <a:gd name="T7" fmla="*/ 798 h 798"/>
                <a:gd name="T8" fmla="*/ 0 w 1302"/>
                <a:gd name="T9" fmla="*/ 0 h 7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02" h="798">
                  <a:moveTo>
                    <a:pt x="0" y="0"/>
                  </a:moveTo>
                  <a:lnTo>
                    <a:pt x="1302" y="0"/>
                  </a:lnTo>
                  <a:lnTo>
                    <a:pt x="1302" y="798"/>
                  </a:lnTo>
                  <a:lnTo>
                    <a:pt x="0" y="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9" name="Freeform 247"/>
            <p:cNvSpPr/>
            <p:nvPr/>
          </p:nvSpPr>
          <p:spPr bwMode="auto">
            <a:xfrm>
              <a:off x="214" y="2772"/>
              <a:ext cx="180" cy="798"/>
            </a:xfrm>
            <a:custGeom>
              <a:avLst/>
              <a:gdLst>
                <a:gd name="T0" fmla="*/ 0 w 180"/>
                <a:gd name="T1" fmla="*/ 0 h 798"/>
                <a:gd name="T2" fmla="*/ 180 w 180"/>
                <a:gd name="T3" fmla="*/ 0 h 798"/>
                <a:gd name="T4" fmla="*/ 180 w 180"/>
                <a:gd name="T5" fmla="*/ 798 h 798"/>
                <a:gd name="T6" fmla="*/ 0 w 180"/>
                <a:gd name="T7" fmla="*/ 798 h 798"/>
                <a:gd name="T8" fmla="*/ 0 w 180"/>
                <a:gd name="T9" fmla="*/ 0 h 7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0" h="798">
                  <a:moveTo>
                    <a:pt x="0" y="0"/>
                  </a:moveTo>
                  <a:lnTo>
                    <a:pt x="180" y="0"/>
                  </a:lnTo>
                  <a:lnTo>
                    <a:pt x="180" y="798"/>
                  </a:lnTo>
                  <a:lnTo>
                    <a:pt x="0" y="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90" name="Freeform 249"/>
            <p:cNvSpPr/>
            <p:nvPr/>
          </p:nvSpPr>
          <p:spPr bwMode="auto">
            <a:xfrm>
              <a:off x="780" y="2778"/>
              <a:ext cx="516" cy="792"/>
            </a:xfrm>
            <a:custGeom>
              <a:avLst/>
              <a:gdLst>
                <a:gd name="T0" fmla="*/ 0 w 516"/>
                <a:gd name="T1" fmla="*/ 0 h 792"/>
                <a:gd name="T2" fmla="*/ 0 w 516"/>
                <a:gd name="T3" fmla="*/ 792 h 792"/>
                <a:gd name="T4" fmla="*/ 516 w 516"/>
                <a:gd name="T5" fmla="*/ 792 h 792"/>
                <a:gd name="T6" fmla="*/ 516 w 516"/>
                <a:gd name="T7" fmla="*/ 0 h 792"/>
                <a:gd name="T8" fmla="*/ 0 w 516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6" h="792">
                  <a:moveTo>
                    <a:pt x="0" y="0"/>
                  </a:moveTo>
                  <a:lnTo>
                    <a:pt x="0" y="792"/>
                  </a:lnTo>
                  <a:lnTo>
                    <a:pt x="516" y="792"/>
                  </a:lnTo>
                  <a:lnTo>
                    <a:pt x="51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8080"/>
                </a:gs>
                <a:gs pos="100000">
                  <a:srgbClr val="91C8C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282" name="Group 322"/>
          <p:cNvGrpSpPr/>
          <p:nvPr/>
        </p:nvGrpSpPr>
        <p:grpSpPr bwMode="auto">
          <a:xfrm>
            <a:off x="1000125" y="3622675"/>
            <a:ext cx="1295400" cy="1501775"/>
            <a:chOff x="630" y="2282"/>
            <a:chExt cx="816" cy="946"/>
          </a:xfrm>
        </p:grpSpPr>
        <p:sp>
          <p:nvSpPr>
            <p:cNvPr id="44085" name="Freeform 251"/>
            <p:cNvSpPr/>
            <p:nvPr/>
          </p:nvSpPr>
          <p:spPr bwMode="auto">
            <a:xfrm>
              <a:off x="630" y="2282"/>
              <a:ext cx="816" cy="402"/>
            </a:xfrm>
            <a:custGeom>
              <a:avLst/>
              <a:gdLst>
                <a:gd name="T0" fmla="*/ 0 w 768"/>
                <a:gd name="T1" fmla="*/ 0 h 402"/>
                <a:gd name="T2" fmla="*/ 867 w 768"/>
                <a:gd name="T3" fmla="*/ 0 h 402"/>
                <a:gd name="T4" fmla="*/ 867 w 768"/>
                <a:gd name="T5" fmla="*/ 402 h 402"/>
                <a:gd name="T6" fmla="*/ 0 w 768"/>
                <a:gd name="T7" fmla="*/ 402 h 402"/>
                <a:gd name="T8" fmla="*/ 0 w 768"/>
                <a:gd name="T9" fmla="*/ 0 h 4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8" h="402">
                  <a:moveTo>
                    <a:pt x="0" y="0"/>
                  </a:moveTo>
                  <a:lnTo>
                    <a:pt x="768" y="0"/>
                  </a:lnTo>
                  <a:lnTo>
                    <a:pt x="768" y="402"/>
                  </a:lnTo>
                  <a:lnTo>
                    <a:pt x="0" y="40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13A13"/>
                </a:gs>
                <a:gs pos="50000">
                  <a:srgbClr val="FF9933"/>
                </a:gs>
                <a:gs pos="100000">
                  <a:srgbClr val="613A13"/>
                </a:gs>
              </a:gsLst>
              <a:lin ang="0" scaled="1"/>
            </a:gradFill>
            <a:ln w="9525" cap="flat" cmpd="sng">
              <a:solidFill>
                <a:srgbClr val="CC990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6" name="Freeform 252"/>
            <p:cNvSpPr/>
            <p:nvPr/>
          </p:nvSpPr>
          <p:spPr bwMode="auto">
            <a:xfrm>
              <a:off x="720" y="2682"/>
              <a:ext cx="612" cy="486"/>
            </a:xfrm>
            <a:custGeom>
              <a:avLst/>
              <a:gdLst>
                <a:gd name="T0" fmla="*/ 612 w 612"/>
                <a:gd name="T1" fmla="*/ 0 h 486"/>
                <a:gd name="T2" fmla="*/ 588 w 612"/>
                <a:gd name="T3" fmla="*/ 36 h 486"/>
                <a:gd name="T4" fmla="*/ 576 w 612"/>
                <a:gd name="T5" fmla="*/ 96 h 486"/>
                <a:gd name="T6" fmla="*/ 576 w 612"/>
                <a:gd name="T7" fmla="*/ 486 h 486"/>
                <a:gd name="T8" fmla="*/ 60 w 612"/>
                <a:gd name="T9" fmla="*/ 486 h 486"/>
                <a:gd name="T10" fmla="*/ 60 w 612"/>
                <a:gd name="T11" fmla="*/ 102 h 486"/>
                <a:gd name="T12" fmla="*/ 48 w 612"/>
                <a:gd name="T13" fmla="*/ 48 h 486"/>
                <a:gd name="T14" fmla="*/ 0 w 612"/>
                <a:gd name="T15" fmla="*/ 0 h 486"/>
                <a:gd name="T16" fmla="*/ 612 w 612"/>
                <a:gd name="T17" fmla="*/ 0 h 4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2" h="486">
                  <a:moveTo>
                    <a:pt x="612" y="0"/>
                  </a:moveTo>
                  <a:lnTo>
                    <a:pt x="588" y="36"/>
                  </a:lnTo>
                  <a:lnTo>
                    <a:pt x="576" y="96"/>
                  </a:lnTo>
                  <a:lnTo>
                    <a:pt x="576" y="486"/>
                  </a:lnTo>
                  <a:lnTo>
                    <a:pt x="60" y="486"/>
                  </a:lnTo>
                  <a:lnTo>
                    <a:pt x="60" y="102"/>
                  </a:lnTo>
                  <a:lnTo>
                    <a:pt x="48" y="48"/>
                  </a:lnTo>
                  <a:lnTo>
                    <a:pt x="0" y="0"/>
                  </a:lnTo>
                  <a:lnTo>
                    <a:pt x="612" y="0"/>
                  </a:lnTo>
                  <a:close/>
                </a:path>
              </a:pathLst>
            </a:custGeom>
            <a:gradFill rotWithShape="0">
              <a:gsLst>
                <a:gs pos="0">
                  <a:srgbClr val="613A13"/>
                </a:gs>
                <a:gs pos="50000">
                  <a:srgbClr val="FF9933"/>
                </a:gs>
                <a:gs pos="100000">
                  <a:srgbClr val="613A1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CC99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7" name="Freeform 253"/>
            <p:cNvSpPr/>
            <p:nvPr/>
          </p:nvSpPr>
          <p:spPr bwMode="auto">
            <a:xfrm>
              <a:off x="780" y="3168"/>
              <a:ext cx="516" cy="60"/>
            </a:xfrm>
            <a:custGeom>
              <a:avLst/>
              <a:gdLst>
                <a:gd name="T0" fmla="*/ 0 w 516"/>
                <a:gd name="T1" fmla="*/ 0 h 60"/>
                <a:gd name="T2" fmla="*/ 516 w 516"/>
                <a:gd name="T3" fmla="*/ 0 h 60"/>
                <a:gd name="T4" fmla="*/ 456 w 516"/>
                <a:gd name="T5" fmla="*/ 60 h 60"/>
                <a:gd name="T6" fmla="*/ 60 w 516"/>
                <a:gd name="T7" fmla="*/ 60 h 60"/>
                <a:gd name="T8" fmla="*/ 0 w 516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6" h="60">
                  <a:moveTo>
                    <a:pt x="0" y="0"/>
                  </a:moveTo>
                  <a:lnTo>
                    <a:pt x="516" y="0"/>
                  </a:lnTo>
                  <a:lnTo>
                    <a:pt x="456" y="60"/>
                  </a:lnTo>
                  <a:lnTo>
                    <a:pt x="60" y="6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13A13"/>
                </a:gs>
                <a:gs pos="50000">
                  <a:srgbClr val="FF9933"/>
                </a:gs>
                <a:gs pos="100000">
                  <a:srgbClr val="613A13"/>
                </a:gs>
              </a:gsLst>
              <a:lin ang="0" scaled="1"/>
            </a:gradFill>
            <a:ln w="9525" cap="flat" cmpd="sng">
              <a:solidFill>
                <a:srgbClr val="CC990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275" name="Group 315"/>
          <p:cNvGrpSpPr/>
          <p:nvPr/>
        </p:nvGrpSpPr>
        <p:grpSpPr bwMode="auto">
          <a:xfrm>
            <a:off x="2924175" y="4351338"/>
            <a:ext cx="2428875" cy="1308100"/>
            <a:chOff x="1842" y="2741"/>
            <a:chExt cx="1530" cy="824"/>
          </a:xfrm>
        </p:grpSpPr>
        <p:sp>
          <p:nvSpPr>
            <p:cNvPr id="44082" name="Freeform 264"/>
            <p:cNvSpPr/>
            <p:nvPr/>
          </p:nvSpPr>
          <p:spPr bwMode="auto">
            <a:xfrm>
              <a:off x="2028" y="2741"/>
              <a:ext cx="1344" cy="824"/>
            </a:xfrm>
            <a:custGeom>
              <a:avLst/>
              <a:gdLst>
                <a:gd name="T0" fmla="*/ 0 w 1302"/>
                <a:gd name="T1" fmla="*/ 0 h 798"/>
                <a:gd name="T2" fmla="*/ 1387 w 1302"/>
                <a:gd name="T3" fmla="*/ 0 h 798"/>
                <a:gd name="T4" fmla="*/ 1387 w 1302"/>
                <a:gd name="T5" fmla="*/ 851 h 798"/>
                <a:gd name="T6" fmla="*/ 0 w 1302"/>
                <a:gd name="T7" fmla="*/ 851 h 798"/>
                <a:gd name="T8" fmla="*/ 0 w 1302"/>
                <a:gd name="T9" fmla="*/ 0 h 7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02" h="798">
                  <a:moveTo>
                    <a:pt x="0" y="0"/>
                  </a:moveTo>
                  <a:lnTo>
                    <a:pt x="1302" y="0"/>
                  </a:lnTo>
                  <a:lnTo>
                    <a:pt x="1302" y="798"/>
                  </a:lnTo>
                  <a:lnTo>
                    <a:pt x="0" y="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99"/>
            </a:solidFill>
            <a:ln w="9525" cap="flat" cmpd="sng">
              <a:solidFill>
                <a:srgbClr val="00808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3" name="Freeform 265"/>
            <p:cNvSpPr/>
            <p:nvPr/>
          </p:nvSpPr>
          <p:spPr bwMode="auto">
            <a:xfrm>
              <a:off x="1842" y="2741"/>
              <a:ext cx="186" cy="824"/>
            </a:xfrm>
            <a:custGeom>
              <a:avLst/>
              <a:gdLst>
                <a:gd name="T0" fmla="*/ 0 w 180"/>
                <a:gd name="T1" fmla="*/ 0 h 798"/>
                <a:gd name="T2" fmla="*/ 192 w 180"/>
                <a:gd name="T3" fmla="*/ 0 h 798"/>
                <a:gd name="T4" fmla="*/ 192 w 180"/>
                <a:gd name="T5" fmla="*/ 851 h 798"/>
                <a:gd name="T6" fmla="*/ 0 w 180"/>
                <a:gd name="T7" fmla="*/ 851 h 798"/>
                <a:gd name="T8" fmla="*/ 0 w 180"/>
                <a:gd name="T9" fmla="*/ 0 h 7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0" h="798">
                  <a:moveTo>
                    <a:pt x="0" y="0"/>
                  </a:moveTo>
                  <a:lnTo>
                    <a:pt x="180" y="0"/>
                  </a:lnTo>
                  <a:lnTo>
                    <a:pt x="180" y="798"/>
                  </a:lnTo>
                  <a:lnTo>
                    <a:pt x="0" y="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80"/>
            </a:solidFill>
            <a:ln w="9525" cap="flat" cmpd="sng">
              <a:solidFill>
                <a:srgbClr val="00808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4" name="Freeform 266"/>
            <p:cNvSpPr/>
            <p:nvPr/>
          </p:nvSpPr>
          <p:spPr bwMode="auto">
            <a:xfrm>
              <a:off x="2430" y="2741"/>
              <a:ext cx="533" cy="824"/>
            </a:xfrm>
            <a:custGeom>
              <a:avLst/>
              <a:gdLst>
                <a:gd name="T0" fmla="*/ 0 w 516"/>
                <a:gd name="T1" fmla="*/ 0 h 792"/>
                <a:gd name="T2" fmla="*/ 0 w 516"/>
                <a:gd name="T3" fmla="*/ 857 h 792"/>
                <a:gd name="T4" fmla="*/ 551 w 516"/>
                <a:gd name="T5" fmla="*/ 857 h 792"/>
                <a:gd name="T6" fmla="*/ 551 w 516"/>
                <a:gd name="T7" fmla="*/ 0 h 792"/>
                <a:gd name="T8" fmla="*/ 0 w 516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6" h="792">
                  <a:moveTo>
                    <a:pt x="0" y="0"/>
                  </a:moveTo>
                  <a:lnTo>
                    <a:pt x="0" y="792"/>
                  </a:lnTo>
                  <a:lnTo>
                    <a:pt x="516" y="792"/>
                  </a:lnTo>
                  <a:lnTo>
                    <a:pt x="51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8080"/>
                </a:gs>
                <a:gs pos="100000">
                  <a:srgbClr val="91C8C8"/>
                </a:gs>
              </a:gsLst>
              <a:lin ang="0" scaled="1"/>
            </a:gradFill>
            <a:ln w="9525" cap="flat" cmpd="sng">
              <a:solidFill>
                <a:srgbClr val="00808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234" name="Group 274"/>
          <p:cNvGrpSpPr/>
          <p:nvPr/>
        </p:nvGrpSpPr>
        <p:grpSpPr bwMode="auto">
          <a:xfrm>
            <a:off x="3648075" y="3698875"/>
            <a:ext cx="1285875" cy="1511300"/>
            <a:chOff x="2298" y="2538"/>
            <a:chExt cx="810" cy="952"/>
          </a:xfrm>
        </p:grpSpPr>
        <p:sp>
          <p:nvSpPr>
            <p:cNvPr id="44078" name="Freeform 260"/>
            <p:cNvSpPr/>
            <p:nvPr/>
          </p:nvSpPr>
          <p:spPr bwMode="auto">
            <a:xfrm>
              <a:off x="2478" y="2952"/>
              <a:ext cx="444" cy="66"/>
            </a:xfrm>
            <a:custGeom>
              <a:avLst/>
              <a:gdLst>
                <a:gd name="T0" fmla="*/ 0 w 444"/>
                <a:gd name="T1" fmla="*/ 0 h 60"/>
                <a:gd name="T2" fmla="*/ 0 w 444"/>
                <a:gd name="T3" fmla="*/ 73 h 60"/>
                <a:gd name="T4" fmla="*/ 444 w 444"/>
                <a:gd name="T5" fmla="*/ 73 h 60"/>
                <a:gd name="T6" fmla="*/ 444 w 444"/>
                <a:gd name="T7" fmla="*/ 0 h 60"/>
                <a:gd name="T8" fmla="*/ 0 w 444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4" h="60">
                  <a:moveTo>
                    <a:pt x="0" y="0"/>
                  </a:moveTo>
                  <a:lnTo>
                    <a:pt x="0" y="60"/>
                  </a:lnTo>
                  <a:lnTo>
                    <a:pt x="444" y="60"/>
                  </a:lnTo>
                  <a:lnTo>
                    <a:pt x="444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9" name="Freeform 261"/>
            <p:cNvSpPr/>
            <p:nvPr/>
          </p:nvSpPr>
          <p:spPr bwMode="auto">
            <a:xfrm>
              <a:off x="2436" y="3014"/>
              <a:ext cx="534" cy="420"/>
            </a:xfrm>
            <a:custGeom>
              <a:avLst/>
              <a:gdLst>
                <a:gd name="T0" fmla="*/ 0 w 534"/>
                <a:gd name="T1" fmla="*/ 0 h 420"/>
                <a:gd name="T2" fmla="*/ 534 w 534"/>
                <a:gd name="T3" fmla="*/ 0 h 420"/>
                <a:gd name="T4" fmla="*/ 534 w 534"/>
                <a:gd name="T5" fmla="*/ 420 h 420"/>
                <a:gd name="T6" fmla="*/ 0 w 534"/>
                <a:gd name="T7" fmla="*/ 420 h 420"/>
                <a:gd name="T8" fmla="*/ 0 w 534"/>
                <a:gd name="T9" fmla="*/ 0 h 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4" h="420">
                  <a:moveTo>
                    <a:pt x="0" y="0"/>
                  </a:moveTo>
                  <a:lnTo>
                    <a:pt x="534" y="0"/>
                  </a:lnTo>
                  <a:lnTo>
                    <a:pt x="534" y="420"/>
                  </a:lnTo>
                  <a:lnTo>
                    <a:pt x="0" y="42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0" name="Freeform 262"/>
            <p:cNvSpPr/>
            <p:nvPr/>
          </p:nvSpPr>
          <p:spPr bwMode="auto">
            <a:xfrm>
              <a:off x="2436" y="3430"/>
              <a:ext cx="534" cy="60"/>
            </a:xfrm>
            <a:custGeom>
              <a:avLst/>
              <a:gdLst>
                <a:gd name="T0" fmla="*/ 0 w 534"/>
                <a:gd name="T1" fmla="*/ 0 h 60"/>
                <a:gd name="T2" fmla="*/ 534 w 534"/>
                <a:gd name="T3" fmla="*/ 0 h 60"/>
                <a:gd name="T4" fmla="*/ 474 w 534"/>
                <a:gd name="T5" fmla="*/ 60 h 60"/>
                <a:gd name="T6" fmla="*/ 72 w 534"/>
                <a:gd name="T7" fmla="*/ 60 h 60"/>
                <a:gd name="T8" fmla="*/ 0 w 534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4" h="60">
                  <a:moveTo>
                    <a:pt x="0" y="0"/>
                  </a:moveTo>
                  <a:lnTo>
                    <a:pt x="534" y="0"/>
                  </a:lnTo>
                  <a:lnTo>
                    <a:pt x="474" y="60"/>
                  </a:lnTo>
                  <a:lnTo>
                    <a:pt x="72" y="6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945900"/>
                </a:gs>
                <a:gs pos="50000">
                  <a:srgbClr val="FF9900"/>
                </a:gs>
                <a:gs pos="100000">
                  <a:srgbClr val="945900"/>
                </a:gs>
              </a:gsLst>
              <a:lin ang="0" scaled="1"/>
            </a:gradFill>
            <a:ln w="9525" cap="flat" cmpd="sng">
              <a:solidFill>
                <a:srgbClr val="CC990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1" name="Freeform 259"/>
            <p:cNvSpPr/>
            <p:nvPr/>
          </p:nvSpPr>
          <p:spPr bwMode="auto">
            <a:xfrm>
              <a:off x="2298" y="2538"/>
              <a:ext cx="810" cy="414"/>
            </a:xfrm>
            <a:custGeom>
              <a:avLst/>
              <a:gdLst>
                <a:gd name="T0" fmla="*/ 0 w 810"/>
                <a:gd name="T1" fmla="*/ 0 h 414"/>
                <a:gd name="T2" fmla="*/ 810 w 810"/>
                <a:gd name="T3" fmla="*/ 0 h 414"/>
                <a:gd name="T4" fmla="*/ 810 w 810"/>
                <a:gd name="T5" fmla="*/ 414 h 414"/>
                <a:gd name="T6" fmla="*/ 0 w 810"/>
                <a:gd name="T7" fmla="*/ 414 h 414"/>
                <a:gd name="T8" fmla="*/ 0 w 810"/>
                <a:gd name="T9" fmla="*/ 0 h 4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0" h="414">
                  <a:moveTo>
                    <a:pt x="0" y="0"/>
                  </a:moveTo>
                  <a:lnTo>
                    <a:pt x="810" y="0"/>
                  </a:lnTo>
                  <a:lnTo>
                    <a:pt x="810" y="414"/>
                  </a:lnTo>
                  <a:lnTo>
                    <a:pt x="0" y="41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281" name="Group 321"/>
          <p:cNvGrpSpPr/>
          <p:nvPr/>
        </p:nvGrpSpPr>
        <p:grpSpPr bwMode="auto">
          <a:xfrm>
            <a:off x="5629275" y="4351338"/>
            <a:ext cx="2428875" cy="1308100"/>
            <a:chOff x="3546" y="2741"/>
            <a:chExt cx="1530" cy="824"/>
          </a:xfrm>
        </p:grpSpPr>
        <p:sp>
          <p:nvSpPr>
            <p:cNvPr id="44074" name="Freeform 284"/>
            <p:cNvSpPr/>
            <p:nvPr/>
          </p:nvSpPr>
          <p:spPr bwMode="auto">
            <a:xfrm>
              <a:off x="3732" y="2741"/>
              <a:ext cx="1344" cy="824"/>
            </a:xfrm>
            <a:custGeom>
              <a:avLst/>
              <a:gdLst>
                <a:gd name="T0" fmla="*/ 0 w 1302"/>
                <a:gd name="T1" fmla="*/ 0 h 798"/>
                <a:gd name="T2" fmla="*/ 1387 w 1302"/>
                <a:gd name="T3" fmla="*/ 0 h 798"/>
                <a:gd name="T4" fmla="*/ 1387 w 1302"/>
                <a:gd name="T5" fmla="*/ 851 h 798"/>
                <a:gd name="T6" fmla="*/ 0 w 1302"/>
                <a:gd name="T7" fmla="*/ 851 h 798"/>
                <a:gd name="T8" fmla="*/ 0 w 1302"/>
                <a:gd name="T9" fmla="*/ 0 h 7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02" h="798">
                  <a:moveTo>
                    <a:pt x="0" y="0"/>
                  </a:moveTo>
                  <a:lnTo>
                    <a:pt x="1302" y="0"/>
                  </a:lnTo>
                  <a:lnTo>
                    <a:pt x="1302" y="798"/>
                  </a:lnTo>
                  <a:lnTo>
                    <a:pt x="0" y="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99"/>
            </a:solidFill>
            <a:ln w="9525" cap="flat" cmpd="sng">
              <a:solidFill>
                <a:srgbClr val="00808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5" name="Freeform 285"/>
            <p:cNvSpPr/>
            <p:nvPr/>
          </p:nvSpPr>
          <p:spPr bwMode="auto">
            <a:xfrm>
              <a:off x="3546" y="2741"/>
              <a:ext cx="186" cy="824"/>
            </a:xfrm>
            <a:custGeom>
              <a:avLst/>
              <a:gdLst>
                <a:gd name="T0" fmla="*/ 0 w 180"/>
                <a:gd name="T1" fmla="*/ 0 h 798"/>
                <a:gd name="T2" fmla="*/ 192 w 180"/>
                <a:gd name="T3" fmla="*/ 0 h 798"/>
                <a:gd name="T4" fmla="*/ 192 w 180"/>
                <a:gd name="T5" fmla="*/ 851 h 798"/>
                <a:gd name="T6" fmla="*/ 0 w 180"/>
                <a:gd name="T7" fmla="*/ 851 h 798"/>
                <a:gd name="T8" fmla="*/ 0 w 180"/>
                <a:gd name="T9" fmla="*/ 0 h 7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0" h="798">
                  <a:moveTo>
                    <a:pt x="0" y="0"/>
                  </a:moveTo>
                  <a:lnTo>
                    <a:pt x="180" y="0"/>
                  </a:lnTo>
                  <a:lnTo>
                    <a:pt x="180" y="798"/>
                  </a:lnTo>
                  <a:lnTo>
                    <a:pt x="0" y="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80"/>
            </a:solidFill>
            <a:ln w="9525" cap="flat" cmpd="sng">
              <a:solidFill>
                <a:srgbClr val="00808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6" name="Freeform 286"/>
            <p:cNvSpPr/>
            <p:nvPr/>
          </p:nvSpPr>
          <p:spPr bwMode="auto">
            <a:xfrm>
              <a:off x="4028" y="2744"/>
              <a:ext cx="756" cy="821"/>
            </a:xfrm>
            <a:custGeom>
              <a:avLst/>
              <a:gdLst>
                <a:gd name="T0" fmla="*/ 0 w 756"/>
                <a:gd name="T1" fmla="*/ 0 h 821"/>
                <a:gd name="T2" fmla="*/ 112 w 756"/>
                <a:gd name="T3" fmla="*/ 114 h 821"/>
                <a:gd name="T4" fmla="*/ 112 w 756"/>
                <a:gd name="T5" fmla="*/ 820 h 821"/>
                <a:gd name="T6" fmla="*/ 639 w 756"/>
                <a:gd name="T7" fmla="*/ 821 h 821"/>
                <a:gd name="T8" fmla="*/ 640 w 756"/>
                <a:gd name="T9" fmla="*/ 118 h 821"/>
                <a:gd name="T10" fmla="*/ 756 w 756"/>
                <a:gd name="T11" fmla="*/ 0 h 821"/>
                <a:gd name="T12" fmla="*/ 0 w 756"/>
                <a:gd name="T13" fmla="*/ 0 h 8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56" h="821">
                  <a:moveTo>
                    <a:pt x="0" y="0"/>
                  </a:moveTo>
                  <a:lnTo>
                    <a:pt x="112" y="114"/>
                  </a:lnTo>
                  <a:lnTo>
                    <a:pt x="112" y="820"/>
                  </a:lnTo>
                  <a:lnTo>
                    <a:pt x="639" y="821"/>
                  </a:lnTo>
                  <a:lnTo>
                    <a:pt x="640" y="118"/>
                  </a:lnTo>
                  <a:lnTo>
                    <a:pt x="7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8080"/>
                </a:gs>
                <a:gs pos="100000">
                  <a:srgbClr val="A5D2D2"/>
                </a:gs>
              </a:gsLst>
              <a:lin ang="0" scaled="1"/>
            </a:gradFill>
            <a:ln w="9525" cap="flat" cmpd="sng">
              <a:solidFill>
                <a:srgbClr val="00808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7" name="Line 320"/>
            <p:cNvSpPr>
              <a:spLocks noChangeShapeType="1"/>
            </p:cNvSpPr>
            <p:nvPr/>
          </p:nvSpPr>
          <p:spPr bwMode="auto">
            <a:xfrm flipH="1">
              <a:off x="4136" y="2860"/>
              <a:ext cx="528" cy="0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284" name="Group 324"/>
          <p:cNvGrpSpPr/>
          <p:nvPr/>
        </p:nvGrpSpPr>
        <p:grpSpPr bwMode="auto">
          <a:xfrm>
            <a:off x="6327775" y="3698875"/>
            <a:ext cx="1336675" cy="1516063"/>
            <a:chOff x="3986" y="2330"/>
            <a:chExt cx="842" cy="955"/>
          </a:xfrm>
        </p:grpSpPr>
        <p:sp>
          <p:nvSpPr>
            <p:cNvPr id="44069" name="Line 304"/>
            <p:cNvSpPr>
              <a:spLocks noChangeShapeType="1"/>
            </p:cNvSpPr>
            <p:nvPr/>
          </p:nvSpPr>
          <p:spPr bwMode="auto">
            <a:xfrm>
              <a:off x="4140" y="2862"/>
              <a:ext cx="528" cy="0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0" name="Freeform 291"/>
            <p:cNvSpPr/>
            <p:nvPr/>
          </p:nvSpPr>
          <p:spPr bwMode="auto">
            <a:xfrm>
              <a:off x="3986" y="2330"/>
              <a:ext cx="842" cy="414"/>
            </a:xfrm>
            <a:custGeom>
              <a:avLst/>
              <a:gdLst>
                <a:gd name="T0" fmla="*/ 0 w 810"/>
                <a:gd name="T1" fmla="*/ 0 h 414"/>
                <a:gd name="T2" fmla="*/ 875 w 810"/>
                <a:gd name="T3" fmla="*/ 0 h 414"/>
                <a:gd name="T4" fmla="*/ 875 w 810"/>
                <a:gd name="T5" fmla="*/ 414 h 414"/>
                <a:gd name="T6" fmla="*/ 0 w 810"/>
                <a:gd name="T7" fmla="*/ 414 h 414"/>
                <a:gd name="T8" fmla="*/ 0 w 810"/>
                <a:gd name="T9" fmla="*/ 0 h 4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0" h="414">
                  <a:moveTo>
                    <a:pt x="0" y="0"/>
                  </a:moveTo>
                  <a:lnTo>
                    <a:pt x="810" y="0"/>
                  </a:lnTo>
                  <a:lnTo>
                    <a:pt x="810" y="414"/>
                  </a:lnTo>
                  <a:lnTo>
                    <a:pt x="0" y="41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1" name="Freeform 307"/>
            <p:cNvSpPr/>
            <p:nvPr/>
          </p:nvSpPr>
          <p:spPr bwMode="auto">
            <a:xfrm>
              <a:off x="4068" y="2740"/>
              <a:ext cx="672" cy="74"/>
            </a:xfrm>
            <a:custGeom>
              <a:avLst/>
              <a:gdLst>
                <a:gd name="T0" fmla="*/ 0 w 672"/>
                <a:gd name="T1" fmla="*/ 0 h 74"/>
                <a:gd name="T2" fmla="*/ 72 w 672"/>
                <a:gd name="T3" fmla="*/ 71 h 74"/>
                <a:gd name="T4" fmla="*/ 600 w 672"/>
                <a:gd name="T5" fmla="*/ 74 h 74"/>
                <a:gd name="T6" fmla="*/ 672 w 672"/>
                <a:gd name="T7" fmla="*/ 0 h 74"/>
                <a:gd name="T8" fmla="*/ 0 w 672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2" h="74">
                  <a:moveTo>
                    <a:pt x="0" y="0"/>
                  </a:moveTo>
                  <a:lnTo>
                    <a:pt x="72" y="71"/>
                  </a:lnTo>
                  <a:lnTo>
                    <a:pt x="600" y="74"/>
                  </a:lnTo>
                  <a:lnTo>
                    <a:pt x="67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13A00"/>
                </a:gs>
                <a:gs pos="50000">
                  <a:srgbClr val="FF9900"/>
                </a:gs>
                <a:gs pos="100000">
                  <a:srgbClr val="613A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2" name="Freeform 289"/>
            <p:cNvSpPr/>
            <p:nvPr/>
          </p:nvSpPr>
          <p:spPr bwMode="auto">
            <a:xfrm>
              <a:off x="4140" y="2809"/>
              <a:ext cx="534" cy="420"/>
            </a:xfrm>
            <a:custGeom>
              <a:avLst/>
              <a:gdLst>
                <a:gd name="T0" fmla="*/ 0 w 534"/>
                <a:gd name="T1" fmla="*/ 0 h 420"/>
                <a:gd name="T2" fmla="*/ 534 w 534"/>
                <a:gd name="T3" fmla="*/ 0 h 420"/>
                <a:gd name="T4" fmla="*/ 534 w 534"/>
                <a:gd name="T5" fmla="*/ 420 h 420"/>
                <a:gd name="T6" fmla="*/ 0 w 534"/>
                <a:gd name="T7" fmla="*/ 420 h 420"/>
                <a:gd name="T8" fmla="*/ 0 w 534"/>
                <a:gd name="T9" fmla="*/ 0 h 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4" h="420">
                  <a:moveTo>
                    <a:pt x="0" y="0"/>
                  </a:moveTo>
                  <a:lnTo>
                    <a:pt x="534" y="0"/>
                  </a:lnTo>
                  <a:lnTo>
                    <a:pt x="534" y="420"/>
                  </a:lnTo>
                  <a:lnTo>
                    <a:pt x="0" y="42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3" name="Freeform 290"/>
            <p:cNvSpPr/>
            <p:nvPr/>
          </p:nvSpPr>
          <p:spPr bwMode="auto">
            <a:xfrm>
              <a:off x="4140" y="3225"/>
              <a:ext cx="534" cy="60"/>
            </a:xfrm>
            <a:custGeom>
              <a:avLst/>
              <a:gdLst>
                <a:gd name="T0" fmla="*/ 0 w 534"/>
                <a:gd name="T1" fmla="*/ 0 h 60"/>
                <a:gd name="T2" fmla="*/ 534 w 534"/>
                <a:gd name="T3" fmla="*/ 0 h 60"/>
                <a:gd name="T4" fmla="*/ 474 w 534"/>
                <a:gd name="T5" fmla="*/ 60 h 60"/>
                <a:gd name="T6" fmla="*/ 72 w 534"/>
                <a:gd name="T7" fmla="*/ 60 h 60"/>
                <a:gd name="T8" fmla="*/ 0 w 534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4" h="60">
                  <a:moveTo>
                    <a:pt x="0" y="0"/>
                  </a:moveTo>
                  <a:lnTo>
                    <a:pt x="534" y="0"/>
                  </a:lnTo>
                  <a:lnTo>
                    <a:pt x="474" y="60"/>
                  </a:lnTo>
                  <a:lnTo>
                    <a:pt x="72" y="6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73E00"/>
                </a:gs>
                <a:gs pos="50000">
                  <a:srgbClr val="FF9900"/>
                </a:gs>
                <a:gs pos="100000">
                  <a:srgbClr val="673E00"/>
                </a:gs>
              </a:gsLst>
              <a:lin ang="0" scaled="1"/>
            </a:gradFill>
            <a:ln w="9525" cap="flat" cmpd="sng">
              <a:solidFill>
                <a:srgbClr val="CC990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291" name="Group 331"/>
          <p:cNvGrpSpPr/>
          <p:nvPr/>
        </p:nvGrpSpPr>
        <p:grpSpPr bwMode="auto">
          <a:xfrm>
            <a:off x="676275" y="1706563"/>
            <a:ext cx="1738313" cy="1490662"/>
            <a:chOff x="426" y="1075"/>
            <a:chExt cx="1095" cy="939"/>
          </a:xfrm>
        </p:grpSpPr>
        <p:sp>
          <p:nvSpPr>
            <p:cNvPr id="44047" name="Freeform 325"/>
            <p:cNvSpPr/>
            <p:nvPr/>
          </p:nvSpPr>
          <p:spPr bwMode="auto">
            <a:xfrm>
              <a:off x="607" y="1134"/>
              <a:ext cx="711" cy="315"/>
            </a:xfrm>
            <a:custGeom>
              <a:avLst/>
              <a:gdLst>
                <a:gd name="T0" fmla="*/ 0 w 711"/>
                <a:gd name="T1" fmla="*/ 27 h 315"/>
                <a:gd name="T2" fmla="*/ 0 w 711"/>
                <a:gd name="T3" fmla="*/ 315 h 315"/>
                <a:gd name="T4" fmla="*/ 711 w 711"/>
                <a:gd name="T5" fmla="*/ 315 h 315"/>
                <a:gd name="T6" fmla="*/ 711 w 711"/>
                <a:gd name="T7" fmla="*/ 6 h 315"/>
                <a:gd name="T8" fmla="*/ 645 w 711"/>
                <a:gd name="T9" fmla="*/ 38 h 315"/>
                <a:gd name="T10" fmla="*/ 595 w 711"/>
                <a:gd name="T11" fmla="*/ 40 h 315"/>
                <a:gd name="T12" fmla="*/ 537 w 711"/>
                <a:gd name="T13" fmla="*/ 20 h 315"/>
                <a:gd name="T14" fmla="*/ 489 w 711"/>
                <a:gd name="T15" fmla="*/ 30 h 315"/>
                <a:gd name="T16" fmla="*/ 449 w 711"/>
                <a:gd name="T17" fmla="*/ 40 h 315"/>
                <a:gd name="T18" fmla="*/ 417 w 711"/>
                <a:gd name="T19" fmla="*/ 44 h 315"/>
                <a:gd name="T20" fmla="*/ 373 w 711"/>
                <a:gd name="T21" fmla="*/ 20 h 315"/>
                <a:gd name="T22" fmla="*/ 317 w 711"/>
                <a:gd name="T23" fmla="*/ 6 h 315"/>
                <a:gd name="T24" fmla="*/ 263 w 711"/>
                <a:gd name="T25" fmla="*/ 22 h 315"/>
                <a:gd name="T26" fmla="*/ 195 w 711"/>
                <a:gd name="T27" fmla="*/ 20 h 315"/>
                <a:gd name="T28" fmla="*/ 107 w 711"/>
                <a:gd name="T29" fmla="*/ 2 h 315"/>
                <a:gd name="T30" fmla="*/ 45 w 711"/>
                <a:gd name="T31" fmla="*/ 0 h 315"/>
                <a:gd name="T32" fmla="*/ 0 w 711"/>
                <a:gd name="T33" fmla="*/ 27 h 31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11" h="315">
                  <a:moveTo>
                    <a:pt x="0" y="27"/>
                  </a:moveTo>
                  <a:lnTo>
                    <a:pt x="0" y="315"/>
                  </a:lnTo>
                  <a:lnTo>
                    <a:pt x="711" y="315"/>
                  </a:lnTo>
                  <a:lnTo>
                    <a:pt x="711" y="6"/>
                  </a:lnTo>
                  <a:lnTo>
                    <a:pt x="645" y="38"/>
                  </a:lnTo>
                  <a:lnTo>
                    <a:pt x="595" y="40"/>
                  </a:lnTo>
                  <a:lnTo>
                    <a:pt x="537" y="20"/>
                  </a:lnTo>
                  <a:lnTo>
                    <a:pt x="489" y="30"/>
                  </a:lnTo>
                  <a:lnTo>
                    <a:pt x="449" y="40"/>
                  </a:lnTo>
                  <a:lnTo>
                    <a:pt x="417" y="44"/>
                  </a:lnTo>
                  <a:lnTo>
                    <a:pt x="373" y="20"/>
                  </a:lnTo>
                  <a:lnTo>
                    <a:pt x="317" y="6"/>
                  </a:lnTo>
                  <a:lnTo>
                    <a:pt x="263" y="22"/>
                  </a:lnTo>
                  <a:lnTo>
                    <a:pt x="195" y="20"/>
                  </a:lnTo>
                  <a:lnTo>
                    <a:pt x="107" y="2"/>
                  </a:lnTo>
                  <a:lnTo>
                    <a:pt x="45" y="0"/>
                  </a:lnTo>
                  <a:lnTo>
                    <a:pt x="0" y="27"/>
                  </a:lnTo>
                  <a:close/>
                </a:path>
              </a:pathLst>
            </a:custGeom>
            <a:gradFill rotWithShape="0">
              <a:gsLst>
                <a:gs pos="0">
                  <a:srgbClr val="CC9900"/>
                </a:gs>
                <a:gs pos="50000">
                  <a:srgbClr val="EAD596"/>
                </a:gs>
                <a:gs pos="100000">
                  <a:srgbClr val="CC9900"/>
                </a:gs>
              </a:gsLst>
              <a:lin ang="0" scaled="1"/>
            </a:gra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4048" name="Group 330"/>
            <p:cNvGrpSpPr/>
            <p:nvPr/>
          </p:nvGrpSpPr>
          <p:grpSpPr bwMode="auto">
            <a:xfrm>
              <a:off x="426" y="1075"/>
              <a:ext cx="1095" cy="939"/>
              <a:chOff x="426" y="1075"/>
              <a:chExt cx="1095" cy="939"/>
            </a:xfrm>
          </p:grpSpPr>
          <p:sp>
            <p:nvSpPr>
              <p:cNvPr id="44049" name="Freeform 184"/>
              <p:cNvSpPr/>
              <p:nvPr/>
            </p:nvSpPr>
            <p:spPr bwMode="auto">
              <a:xfrm>
                <a:off x="718" y="1818"/>
                <a:ext cx="480" cy="51"/>
              </a:xfrm>
              <a:custGeom>
                <a:avLst/>
                <a:gdLst>
                  <a:gd name="T0" fmla="*/ 0 w 480"/>
                  <a:gd name="T1" fmla="*/ 1 h 51"/>
                  <a:gd name="T2" fmla="*/ 48 w 480"/>
                  <a:gd name="T3" fmla="*/ 51 h 51"/>
                  <a:gd name="T4" fmla="*/ 432 w 480"/>
                  <a:gd name="T5" fmla="*/ 51 h 51"/>
                  <a:gd name="T6" fmla="*/ 480 w 480"/>
                  <a:gd name="T7" fmla="*/ 0 h 51"/>
                  <a:gd name="T8" fmla="*/ 0 w 480"/>
                  <a:gd name="T9" fmla="*/ 1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0" h="51">
                    <a:moveTo>
                      <a:pt x="0" y="1"/>
                    </a:moveTo>
                    <a:lnTo>
                      <a:pt x="48" y="51"/>
                    </a:lnTo>
                    <a:lnTo>
                      <a:pt x="432" y="51"/>
                    </a:lnTo>
                    <a:lnTo>
                      <a:pt x="480" y="0"/>
                    </a:lnTo>
                    <a:lnTo>
                      <a:pt x="0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9900"/>
                  </a:gs>
                  <a:gs pos="50000">
                    <a:srgbClr val="F3E7C3"/>
                  </a:gs>
                  <a:gs pos="100000">
                    <a:srgbClr val="CC9900"/>
                  </a:gs>
                </a:gsLst>
                <a:lin ang="0" scaled="1"/>
              </a:gra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0" name="Freeform 187"/>
              <p:cNvSpPr/>
              <p:nvPr/>
            </p:nvSpPr>
            <p:spPr bwMode="auto">
              <a:xfrm>
                <a:off x="669" y="1446"/>
                <a:ext cx="589" cy="371"/>
              </a:xfrm>
              <a:custGeom>
                <a:avLst/>
                <a:gdLst>
                  <a:gd name="T0" fmla="*/ 52 w 589"/>
                  <a:gd name="T1" fmla="*/ 77 h 371"/>
                  <a:gd name="T2" fmla="*/ 52 w 589"/>
                  <a:gd name="T3" fmla="*/ 371 h 371"/>
                  <a:gd name="T4" fmla="*/ 532 w 589"/>
                  <a:gd name="T5" fmla="*/ 371 h 371"/>
                  <a:gd name="T6" fmla="*/ 532 w 589"/>
                  <a:gd name="T7" fmla="*/ 83 h 371"/>
                  <a:gd name="T8" fmla="*/ 544 w 589"/>
                  <a:gd name="T9" fmla="*/ 32 h 371"/>
                  <a:gd name="T10" fmla="*/ 589 w 589"/>
                  <a:gd name="T11" fmla="*/ 0 h 371"/>
                  <a:gd name="T12" fmla="*/ 0 w 589"/>
                  <a:gd name="T13" fmla="*/ 0 h 371"/>
                  <a:gd name="T14" fmla="*/ 39 w 589"/>
                  <a:gd name="T15" fmla="*/ 32 h 371"/>
                  <a:gd name="T16" fmla="*/ 52 w 589"/>
                  <a:gd name="T17" fmla="*/ 77 h 37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89" h="371">
                    <a:moveTo>
                      <a:pt x="52" y="77"/>
                    </a:moveTo>
                    <a:lnTo>
                      <a:pt x="52" y="371"/>
                    </a:lnTo>
                    <a:lnTo>
                      <a:pt x="532" y="371"/>
                    </a:lnTo>
                    <a:lnTo>
                      <a:pt x="532" y="83"/>
                    </a:lnTo>
                    <a:lnTo>
                      <a:pt x="544" y="32"/>
                    </a:lnTo>
                    <a:lnTo>
                      <a:pt x="589" y="0"/>
                    </a:lnTo>
                    <a:lnTo>
                      <a:pt x="0" y="0"/>
                    </a:lnTo>
                    <a:lnTo>
                      <a:pt x="39" y="32"/>
                    </a:lnTo>
                    <a:lnTo>
                      <a:pt x="52" y="7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9900"/>
                  </a:gs>
                  <a:gs pos="50000">
                    <a:srgbClr val="E9D391"/>
                  </a:gs>
                  <a:gs pos="100000">
                    <a:srgbClr val="CC9900"/>
                  </a:gs>
                </a:gsLst>
                <a:lin ang="0" scaled="1"/>
              </a:gra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1" name="Line 188"/>
              <p:cNvSpPr>
                <a:spLocks noChangeShapeType="1"/>
              </p:cNvSpPr>
              <p:nvPr/>
            </p:nvSpPr>
            <p:spPr bwMode="auto">
              <a:xfrm flipH="1">
                <a:off x="445" y="1510"/>
                <a:ext cx="2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2" name="Line 189"/>
              <p:cNvSpPr>
                <a:spLocks noChangeShapeType="1"/>
              </p:cNvSpPr>
              <p:nvPr/>
            </p:nvSpPr>
            <p:spPr bwMode="auto">
              <a:xfrm>
                <a:off x="1207" y="1510"/>
                <a:ext cx="31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3" name="Line 190"/>
              <p:cNvSpPr>
                <a:spLocks noChangeShapeType="1"/>
              </p:cNvSpPr>
              <p:nvPr/>
            </p:nvSpPr>
            <p:spPr bwMode="auto">
              <a:xfrm>
                <a:off x="433" y="1933"/>
                <a:ext cx="107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4" name="Line 191"/>
              <p:cNvSpPr>
                <a:spLocks noChangeShapeType="1"/>
              </p:cNvSpPr>
              <p:nvPr/>
            </p:nvSpPr>
            <p:spPr bwMode="auto">
              <a:xfrm>
                <a:off x="721" y="1811"/>
                <a:ext cx="0" cy="12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5" name="Line 192"/>
              <p:cNvSpPr>
                <a:spLocks noChangeShapeType="1"/>
              </p:cNvSpPr>
              <p:nvPr/>
            </p:nvSpPr>
            <p:spPr bwMode="auto">
              <a:xfrm>
                <a:off x="1201" y="1811"/>
                <a:ext cx="0" cy="12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4056" name="Group 240"/>
              <p:cNvGrpSpPr/>
              <p:nvPr/>
            </p:nvGrpSpPr>
            <p:grpSpPr bwMode="auto">
              <a:xfrm>
                <a:off x="426" y="1510"/>
                <a:ext cx="1095" cy="423"/>
                <a:chOff x="426" y="1310"/>
                <a:chExt cx="1095" cy="423"/>
              </a:xfrm>
            </p:grpSpPr>
            <p:sp>
              <p:nvSpPr>
                <p:cNvPr id="44061" name="Line 193"/>
                <p:cNvSpPr>
                  <a:spLocks noChangeShapeType="1"/>
                </p:cNvSpPr>
                <p:nvPr/>
              </p:nvSpPr>
              <p:spPr bwMode="auto">
                <a:xfrm>
                  <a:off x="605" y="1310"/>
                  <a:ext cx="116" cy="11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062" name="Line 194"/>
                <p:cNvSpPr>
                  <a:spLocks noChangeShapeType="1"/>
                </p:cNvSpPr>
                <p:nvPr/>
              </p:nvSpPr>
              <p:spPr bwMode="auto">
                <a:xfrm>
                  <a:off x="452" y="1310"/>
                  <a:ext cx="263" cy="26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063" name="Line 195"/>
                <p:cNvSpPr>
                  <a:spLocks noChangeShapeType="1"/>
                </p:cNvSpPr>
                <p:nvPr/>
              </p:nvSpPr>
              <p:spPr bwMode="auto">
                <a:xfrm>
                  <a:off x="445" y="1457"/>
                  <a:ext cx="275" cy="2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064" name="Line 196"/>
                <p:cNvSpPr>
                  <a:spLocks noChangeShapeType="1"/>
                </p:cNvSpPr>
                <p:nvPr/>
              </p:nvSpPr>
              <p:spPr bwMode="auto">
                <a:xfrm>
                  <a:off x="426" y="1592"/>
                  <a:ext cx="141" cy="14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065" name="Line 197"/>
                <p:cNvSpPr>
                  <a:spLocks noChangeShapeType="1"/>
                </p:cNvSpPr>
                <p:nvPr/>
              </p:nvSpPr>
              <p:spPr bwMode="auto">
                <a:xfrm>
                  <a:off x="1201" y="1611"/>
                  <a:ext cx="122" cy="12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066" name="Line 198"/>
                <p:cNvSpPr>
                  <a:spLocks noChangeShapeType="1"/>
                </p:cNvSpPr>
                <p:nvPr/>
              </p:nvSpPr>
              <p:spPr bwMode="auto">
                <a:xfrm>
                  <a:off x="1207" y="1464"/>
                  <a:ext cx="256" cy="25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067" name="Line 199"/>
                <p:cNvSpPr>
                  <a:spLocks noChangeShapeType="1"/>
                </p:cNvSpPr>
                <p:nvPr/>
              </p:nvSpPr>
              <p:spPr bwMode="auto">
                <a:xfrm>
                  <a:off x="1213" y="1316"/>
                  <a:ext cx="308" cy="30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068" name="Line 200"/>
                <p:cNvSpPr>
                  <a:spLocks noChangeShapeType="1"/>
                </p:cNvSpPr>
                <p:nvPr/>
              </p:nvSpPr>
              <p:spPr bwMode="auto">
                <a:xfrm>
                  <a:off x="1348" y="1310"/>
                  <a:ext cx="167" cy="16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4057" name="Line 202"/>
              <p:cNvSpPr>
                <a:spLocks noChangeShapeType="1"/>
              </p:cNvSpPr>
              <p:nvPr/>
            </p:nvSpPr>
            <p:spPr bwMode="auto">
              <a:xfrm flipV="1">
                <a:off x="605" y="1152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8" name="Line 203"/>
              <p:cNvSpPr>
                <a:spLocks noChangeShapeType="1"/>
              </p:cNvSpPr>
              <p:nvPr/>
            </p:nvSpPr>
            <p:spPr bwMode="auto">
              <a:xfrm flipV="1">
                <a:off x="1316" y="1133"/>
                <a:ext cx="0" cy="3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9" name="Line 204"/>
              <p:cNvSpPr>
                <a:spLocks noChangeShapeType="1"/>
              </p:cNvSpPr>
              <p:nvPr/>
            </p:nvSpPr>
            <p:spPr bwMode="auto">
              <a:xfrm>
                <a:off x="599" y="1440"/>
                <a:ext cx="71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60" name="Line 201"/>
              <p:cNvSpPr>
                <a:spLocks noChangeShapeType="1"/>
              </p:cNvSpPr>
              <p:nvPr/>
            </p:nvSpPr>
            <p:spPr bwMode="auto">
              <a:xfrm>
                <a:off x="963" y="1075"/>
                <a:ext cx="0" cy="93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4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4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4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9" dur="500"/>
                                        <p:tgtEl>
                                          <p:spTgt spid="4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ags/tag2.xml><?xml version="1.0" encoding="utf-8"?>
<p:tagLst xmlns:p="http://schemas.openxmlformats.org/presentationml/2006/main">
  <p:tag name="KSO_WPP_MARK_KEY" val="6229068c-5973-4316-956d-d0c08d546665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2730</Words>
  <Application>WPS 演示</Application>
  <PresentationFormat>全屏显示(4:3)</PresentationFormat>
  <Paragraphs>579</Paragraphs>
  <Slides>33</Slides>
  <Notes>0</Notes>
  <HiddenSlides>0</HiddenSlides>
  <MMClips>2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9" baseType="lpstr">
      <vt:lpstr>Arial</vt:lpstr>
      <vt:lpstr>宋体</vt:lpstr>
      <vt:lpstr>Wingdings</vt:lpstr>
      <vt:lpstr>Calibri</vt:lpstr>
      <vt:lpstr>黑体</vt:lpstr>
      <vt:lpstr>Times New Roman</vt:lpstr>
      <vt:lpstr>Arial Black</vt:lpstr>
      <vt:lpstr>华文楷体</vt:lpstr>
      <vt:lpstr>微软雅黑</vt:lpstr>
      <vt:lpstr>Arial Unicode MS</vt:lpstr>
      <vt:lpstr>Monotype Sorts</vt:lpstr>
      <vt:lpstr>Wingdings</vt:lpstr>
      <vt:lpstr>Symbol</vt:lpstr>
      <vt:lpstr>Office 主题</vt:lpstr>
      <vt:lpstr>StaticDib</vt:lpstr>
      <vt:lpstr>MS_ClipArt_Gallery.5</vt:lpstr>
      <vt:lpstr>第15讲 装配图之一</vt:lpstr>
      <vt:lpstr>PowerPoint 演示文稿</vt:lpstr>
      <vt:lpstr>PowerPoint 演示文稿</vt:lpstr>
      <vt:lpstr>PowerPoint 演示文稿</vt:lpstr>
      <vt:lpstr>PowerPoint 演示文稿</vt:lpstr>
      <vt:lpstr>12.1 装配图的作用和内容</vt:lpstr>
      <vt:lpstr>PowerPoint 演示文稿</vt:lpstr>
      <vt:lpstr>12.2 装配图的规定画法和特殊画法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12.3 装配图的视图选择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12.4 装配图的尺寸标注</vt:lpstr>
      <vt:lpstr>12.5 装配图的零件序号和明细栏</vt:lpstr>
      <vt:lpstr>PowerPoint 演示文稿</vt:lpstr>
      <vt:lpstr>PowerPoint 演示文稿</vt:lpstr>
      <vt:lpstr>12.6 画装配图的方法与步骤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12.7 常见装配结构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第2单元     正投影法基础</dc:title>
  <dc:creator>Administrator</dc:creator>
  <cp:lastModifiedBy>Chen Yu</cp:lastModifiedBy>
  <cp:revision>69</cp:revision>
  <dcterms:created xsi:type="dcterms:W3CDTF">2019-03-05T10:30:00Z</dcterms:created>
  <dcterms:modified xsi:type="dcterms:W3CDTF">2022-11-30T03:47:51Z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0A6853DB7D724BBC89E7A4F9C98B772F</vt:lpwstr>
  </property>
</Properties>
</file>