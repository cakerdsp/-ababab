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31"/>
  </p:notesMasterIdLst>
  <p:sldIdLst>
    <p:sldId id="519" r:id="rId2"/>
    <p:sldId id="256" r:id="rId3"/>
    <p:sldId id="257" r:id="rId4"/>
    <p:sldId id="292" r:id="rId5"/>
    <p:sldId id="258" r:id="rId6"/>
    <p:sldId id="293" r:id="rId7"/>
    <p:sldId id="294" r:id="rId8"/>
    <p:sldId id="261" r:id="rId9"/>
    <p:sldId id="262" r:id="rId10"/>
    <p:sldId id="297" r:id="rId11"/>
    <p:sldId id="298" r:id="rId12"/>
    <p:sldId id="295" r:id="rId13"/>
    <p:sldId id="296" r:id="rId14"/>
    <p:sldId id="305" r:id="rId15"/>
    <p:sldId id="306" r:id="rId16"/>
    <p:sldId id="307" r:id="rId17"/>
    <p:sldId id="308" r:id="rId18"/>
    <p:sldId id="272" r:id="rId19"/>
    <p:sldId id="273" r:id="rId20"/>
    <p:sldId id="274" r:id="rId21"/>
    <p:sldId id="275" r:id="rId22"/>
    <p:sldId id="276" r:id="rId23"/>
    <p:sldId id="283" r:id="rId24"/>
    <p:sldId id="284" r:id="rId25"/>
    <p:sldId id="312" r:id="rId26"/>
    <p:sldId id="314" r:id="rId27"/>
    <p:sldId id="315" r:id="rId28"/>
    <p:sldId id="316" r:id="rId29"/>
    <p:sldId id="317" r:id="rId30"/>
  </p:sldIdLst>
  <p:sldSz cx="9144000" cy="6858000" type="screen4x3"/>
  <p:notesSz cx="6858000" cy="9144000"/>
  <p:defaultTextStyle>
    <a:defPPr>
      <a:defRPr lang="zh-CN"/>
    </a:defPPr>
    <a:lvl1pPr algn="l" rtl="0" eaLnBrk="0" fontAlgn="base" hangingPunct="0">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EEDF"/>
    <a:srgbClr val="C7FFF0"/>
    <a:srgbClr val="006600"/>
    <a:srgbClr val="FF3300"/>
    <a:srgbClr val="996633"/>
    <a:srgbClr val="0000CC"/>
    <a:srgbClr val="660066"/>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78" autoAdjust="0"/>
    <p:restoredTop sz="90929" autoAdjust="0"/>
  </p:normalViewPr>
  <p:slideViewPr>
    <p:cSldViewPr>
      <p:cViewPr varScale="1">
        <p:scale>
          <a:sx n="104" d="100"/>
          <a:sy n="104" d="100"/>
        </p:scale>
        <p:origin x="1698"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image" Target="../media/image14.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6.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1.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2.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3.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4.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6.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7.png"/></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image" Target="../media/image28.png"/></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 Id="rId4" Type="http://schemas.openxmlformats.org/officeDocument/2006/relationships/image" Target="../media/image34.png"/></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6.png"/></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image" Target="../media/image37.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6B87A80A-1142-4534-ABCD-08BED4808A4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a:extLst>
              <a:ext uri="{FF2B5EF4-FFF2-40B4-BE49-F238E27FC236}">
                <a16:creationId xmlns:a16="http://schemas.microsoft.com/office/drawing/2014/main" id="{FE704D11-648C-42E5-820B-00EFB1E76CF1}"/>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09649596-3726-4FD2-9481-1422EB872FEE}" type="datetimeFigureOut">
              <a:rPr lang="zh-CN" altLang="en-US"/>
              <a:pPr>
                <a:defRPr/>
              </a:pPr>
              <a:t>2022/12/07</a:t>
            </a:fld>
            <a:endParaRPr lang="zh-CN" altLang="en-US"/>
          </a:p>
        </p:txBody>
      </p:sp>
      <p:sp>
        <p:nvSpPr>
          <p:cNvPr id="4" name="幻灯片图像占位符 3">
            <a:extLst>
              <a:ext uri="{FF2B5EF4-FFF2-40B4-BE49-F238E27FC236}">
                <a16:creationId xmlns:a16="http://schemas.microsoft.com/office/drawing/2014/main" id="{5D8D14D5-ED0A-411B-A97A-4D63D38582DE}"/>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0A9B3F6C-F8AC-4409-98C2-A116BE23636B}"/>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二级</a:t>
            </a:r>
          </a:p>
          <a:p>
            <a:pPr lvl="2"/>
            <a:r>
              <a:rPr lang="zh-CN" altLang="en-US" noProof="0"/>
              <a:t>三级</a:t>
            </a:r>
          </a:p>
          <a:p>
            <a:pPr lvl="3"/>
            <a:r>
              <a:rPr lang="zh-CN" altLang="en-US" noProof="0"/>
              <a:t>四级</a:t>
            </a:r>
          </a:p>
          <a:p>
            <a:pPr lvl="4"/>
            <a:r>
              <a:rPr lang="zh-CN" altLang="en-US" noProof="0"/>
              <a:t>五级</a:t>
            </a:r>
          </a:p>
        </p:txBody>
      </p:sp>
      <p:sp>
        <p:nvSpPr>
          <p:cNvPr id="6" name="页脚占位符 5">
            <a:extLst>
              <a:ext uri="{FF2B5EF4-FFF2-40B4-BE49-F238E27FC236}">
                <a16:creationId xmlns:a16="http://schemas.microsoft.com/office/drawing/2014/main" id="{D23FD3B3-42F7-43C7-B1B5-F35158B12F06}"/>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a:extLst>
              <a:ext uri="{FF2B5EF4-FFF2-40B4-BE49-F238E27FC236}">
                <a16:creationId xmlns:a16="http://schemas.microsoft.com/office/drawing/2014/main" id="{36F870EB-DE12-44E0-AB2E-5BC2C623C246}"/>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DA437BDA-18B6-4800-9AD2-B1F8A8F6F356}" type="slidenum">
              <a:rPr lang="zh-CN" altLang="en-US"/>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a:extLst>
              <a:ext uri="{FF2B5EF4-FFF2-40B4-BE49-F238E27FC236}">
                <a16:creationId xmlns:a16="http://schemas.microsoft.com/office/drawing/2014/main" id="{2DF9FDF7-626E-4B0C-871C-F024CA9D67D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a:extLst>
              <a:ext uri="{FF2B5EF4-FFF2-40B4-BE49-F238E27FC236}">
                <a16:creationId xmlns:a16="http://schemas.microsoft.com/office/drawing/2014/main" id="{7CEE5C3E-D476-41E8-9B9B-CE18BA7123E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latin typeface="Times New Roman" panose="02020603050405020304" pitchFamily="18" charset="0"/>
            </a:endParaRPr>
          </a:p>
        </p:txBody>
      </p:sp>
      <p:sp>
        <p:nvSpPr>
          <p:cNvPr id="6148" name="灯片编号占位符 3">
            <a:extLst>
              <a:ext uri="{FF2B5EF4-FFF2-40B4-BE49-F238E27FC236}">
                <a16:creationId xmlns:a16="http://schemas.microsoft.com/office/drawing/2014/main" id="{EC965860-1D98-45A6-A2F9-52CB5542865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fld id="{1B371BD7-5CCE-4FC5-82FD-30ED6D402CA5}" type="slidenum">
              <a:rPr lang="zh-CN" altLang="en-US" sz="1200">
                <a:latin typeface="Times New Roman" panose="02020603050405020304" pitchFamily="18" charset="0"/>
              </a:rPr>
              <a:pPr/>
              <a:t>1</a:t>
            </a:fld>
            <a:endParaRPr lang="en-US" altLang="zh-CN" sz="120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EF030324-529C-4692-B8A9-9B620E503F33}"/>
              </a:ext>
            </a:extLst>
          </p:cNvPr>
          <p:cNvGrpSpPr>
            <a:grpSpLocks/>
          </p:cNvGrpSpPr>
          <p:nvPr/>
        </p:nvGrpSpPr>
        <p:grpSpPr bwMode="auto">
          <a:xfrm>
            <a:off x="0" y="2438400"/>
            <a:ext cx="9009063" cy="1052513"/>
            <a:chOff x="0" y="1536"/>
            <a:chExt cx="5675" cy="663"/>
          </a:xfrm>
        </p:grpSpPr>
        <p:grpSp>
          <p:nvGrpSpPr>
            <p:cNvPr id="5" name="Group 3">
              <a:extLst>
                <a:ext uri="{FF2B5EF4-FFF2-40B4-BE49-F238E27FC236}">
                  <a16:creationId xmlns:a16="http://schemas.microsoft.com/office/drawing/2014/main" id="{181C8755-E1F6-4134-B9D4-64B812AD594A}"/>
                </a:ext>
              </a:extLst>
            </p:cNvPr>
            <p:cNvGrpSpPr>
              <a:grpSpLocks/>
            </p:cNvGrpSpPr>
            <p:nvPr/>
          </p:nvGrpSpPr>
          <p:grpSpPr bwMode="auto">
            <a:xfrm>
              <a:off x="185" y="1604"/>
              <a:ext cx="449" cy="299"/>
              <a:chOff x="720" y="336"/>
              <a:chExt cx="624" cy="432"/>
            </a:xfrm>
          </p:grpSpPr>
          <p:sp>
            <p:nvSpPr>
              <p:cNvPr id="12" name="Rectangle 4">
                <a:extLst>
                  <a:ext uri="{FF2B5EF4-FFF2-40B4-BE49-F238E27FC236}">
                    <a16:creationId xmlns:a16="http://schemas.microsoft.com/office/drawing/2014/main" id="{BF8F322B-8C70-45EB-BBE2-877040AED1AE}"/>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buFontTx/>
                  <a:buNone/>
                  <a:defRPr/>
                </a:pPr>
                <a:endParaRPr kumimoji="1" lang="zh-CN" altLang="en-US"/>
              </a:p>
            </p:txBody>
          </p:sp>
          <p:sp>
            <p:nvSpPr>
              <p:cNvPr id="13" name="Rectangle 5">
                <a:extLst>
                  <a:ext uri="{FF2B5EF4-FFF2-40B4-BE49-F238E27FC236}">
                    <a16:creationId xmlns:a16="http://schemas.microsoft.com/office/drawing/2014/main" id="{2006A2A6-AAA2-4334-A5FF-9B19C9EF9147}"/>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buFontTx/>
                  <a:buNone/>
                  <a:defRPr/>
                </a:pPr>
                <a:endParaRPr kumimoji="1" lang="zh-CN" altLang="en-US"/>
              </a:p>
            </p:txBody>
          </p:sp>
        </p:grpSp>
        <p:grpSp>
          <p:nvGrpSpPr>
            <p:cNvPr id="6" name="Group 6">
              <a:extLst>
                <a:ext uri="{FF2B5EF4-FFF2-40B4-BE49-F238E27FC236}">
                  <a16:creationId xmlns:a16="http://schemas.microsoft.com/office/drawing/2014/main" id="{EE7489AA-6E1B-4BDA-88AE-7EA45E29AF2B}"/>
                </a:ext>
              </a:extLst>
            </p:cNvPr>
            <p:cNvGrpSpPr>
              <a:grpSpLocks/>
            </p:cNvGrpSpPr>
            <p:nvPr/>
          </p:nvGrpSpPr>
          <p:grpSpPr bwMode="auto">
            <a:xfrm>
              <a:off x="263" y="1870"/>
              <a:ext cx="466" cy="299"/>
              <a:chOff x="912" y="2640"/>
              <a:chExt cx="672" cy="432"/>
            </a:xfrm>
          </p:grpSpPr>
          <p:sp>
            <p:nvSpPr>
              <p:cNvPr id="10" name="Rectangle 7">
                <a:extLst>
                  <a:ext uri="{FF2B5EF4-FFF2-40B4-BE49-F238E27FC236}">
                    <a16:creationId xmlns:a16="http://schemas.microsoft.com/office/drawing/2014/main" id="{F071985C-D914-4B17-8783-1E1DFB45C6E2}"/>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buFontTx/>
                  <a:buNone/>
                  <a:defRPr/>
                </a:pPr>
                <a:endParaRPr kumimoji="1" lang="zh-CN" altLang="en-US"/>
              </a:p>
            </p:txBody>
          </p:sp>
          <p:sp>
            <p:nvSpPr>
              <p:cNvPr id="11" name="Rectangle 8">
                <a:extLst>
                  <a:ext uri="{FF2B5EF4-FFF2-40B4-BE49-F238E27FC236}">
                    <a16:creationId xmlns:a16="http://schemas.microsoft.com/office/drawing/2014/main" id="{8D526C8C-4886-43F4-A892-771F56621069}"/>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buFontTx/>
                  <a:buNone/>
                  <a:defRPr/>
                </a:pPr>
                <a:endParaRPr kumimoji="1" lang="zh-CN" altLang="en-US"/>
              </a:p>
            </p:txBody>
          </p:sp>
        </p:grpSp>
        <p:sp>
          <p:nvSpPr>
            <p:cNvPr id="7" name="Rectangle 9">
              <a:extLst>
                <a:ext uri="{FF2B5EF4-FFF2-40B4-BE49-F238E27FC236}">
                  <a16:creationId xmlns:a16="http://schemas.microsoft.com/office/drawing/2014/main" id="{32462754-C2C6-473D-8D2C-D4CB88696F2A}"/>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buFontTx/>
                <a:buNone/>
                <a:defRPr/>
              </a:pPr>
              <a:endParaRPr kumimoji="1" lang="zh-CN" altLang="en-US"/>
            </a:p>
          </p:txBody>
        </p:sp>
        <p:sp>
          <p:nvSpPr>
            <p:cNvPr id="8" name="Rectangle 10">
              <a:extLst>
                <a:ext uri="{FF2B5EF4-FFF2-40B4-BE49-F238E27FC236}">
                  <a16:creationId xmlns:a16="http://schemas.microsoft.com/office/drawing/2014/main" id="{70C7E888-7F2D-47D2-B356-2F35B6C5C804}"/>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buFontTx/>
                <a:buNone/>
                <a:defRPr/>
              </a:pPr>
              <a:endParaRPr kumimoji="1" lang="zh-CN" altLang="en-US"/>
            </a:p>
          </p:txBody>
        </p:sp>
        <p:sp>
          <p:nvSpPr>
            <p:cNvPr id="9" name="Rectangle 11">
              <a:extLst>
                <a:ext uri="{FF2B5EF4-FFF2-40B4-BE49-F238E27FC236}">
                  <a16:creationId xmlns:a16="http://schemas.microsoft.com/office/drawing/2014/main" id="{418CCF11-EFE2-4FAD-92A8-50B63373DA4E}"/>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buFontTx/>
                <a:buNone/>
                <a:defRPr/>
              </a:pPr>
              <a:endParaRPr kumimoji="1" lang="zh-CN" altLang="en-US"/>
            </a:p>
          </p:txBody>
        </p:sp>
      </p:grpSp>
      <p:sp>
        <p:nvSpPr>
          <p:cNvPr id="28684" name="Rectangle 12"/>
          <p:cNvSpPr>
            <a:spLocks noGrp="1" noChangeArrowheads="1"/>
          </p:cNvSpPr>
          <p:nvPr>
            <p:ph type="ctrTitle"/>
          </p:nvPr>
        </p:nvSpPr>
        <p:spPr>
          <a:xfrm>
            <a:off x="990600" y="1828800"/>
            <a:ext cx="7772400" cy="1143000"/>
          </a:xfrm>
        </p:spPr>
        <p:txBody>
          <a:bodyPr anchor="b"/>
          <a:lstStyle>
            <a:lvl1pPr>
              <a:defRPr/>
            </a:lvl1pPr>
          </a:lstStyle>
          <a:p>
            <a:r>
              <a:rPr lang="zh-CN" altLang="en-US" noProof="1"/>
              <a:t>单击此处编辑母版标题样式</a:t>
            </a:r>
          </a:p>
        </p:txBody>
      </p:sp>
      <p:sp>
        <p:nvSpPr>
          <p:cNvPr id="28685"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p>
        </p:txBody>
      </p:sp>
      <p:sp>
        <p:nvSpPr>
          <p:cNvPr id="14" name="Rectangle 16">
            <a:extLst>
              <a:ext uri="{FF2B5EF4-FFF2-40B4-BE49-F238E27FC236}">
                <a16:creationId xmlns:a16="http://schemas.microsoft.com/office/drawing/2014/main" id="{3353A84A-169A-4AFE-975B-98E695C86563}"/>
              </a:ext>
            </a:extLst>
          </p:cNvPr>
          <p:cNvSpPr>
            <a:spLocks noGrp="1" noChangeArrowheads="1"/>
          </p:cNvSpPr>
          <p:nvPr>
            <p:ph type="sldNum" sz="quarter" idx="10"/>
          </p:nvPr>
        </p:nvSpPr>
        <p:spPr>
          <a:xfrm>
            <a:off x="6858000" y="6248400"/>
            <a:ext cx="1905000" cy="457200"/>
          </a:xfrm>
        </p:spPr>
        <p:txBody>
          <a:bodyPr anchor="b"/>
          <a:lstStyle>
            <a:lvl1pPr>
              <a:defRPr>
                <a:solidFill>
                  <a:schemeClr val="bg2"/>
                </a:solidFill>
              </a:defRPr>
            </a:lvl1pPr>
          </a:lstStyle>
          <a:p>
            <a:fld id="{316926D8-0944-483C-8B82-E3B7978A7401}" type="slidenum">
              <a:rPr lang="en-US" altLang="zh-CN"/>
              <a:pPr/>
              <a:t>‹#›</a:t>
            </a:fld>
            <a:endParaRPr lang="en-US" altLang="zh-CN"/>
          </a:p>
        </p:txBody>
      </p:sp>
    </p:spTree>
    <p:extLst>
      <p:ext uri="{BB962C8B-B14F-4D97-AF65-F5344CB8AC3E}">
        <p14:creationId xmlns:p14="http://schemas.microsoft.com/office/powerpoint/2010/main" val="2678364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22">
            <a:extLst>
              <a:ext uri="{FF2B5EF4-FFF2-40B4-BE49-F238E27FC236}">
                <a16:creationId xmlns:a16="http://schemas.microsoft.com/office/drawing/2014/main" id="{B4360D5B-849C-408A-82E4-229B2B593F27}"/>
              </a:ext>
            </a:extLst>
          </p:cNvPr>
          <p:cNvSpPr>
            <a:spLocks noGrp="1" noChangeArrowheads="1"/>
          </p:cNvSpPr>
          <p:nvPr>
            <p:ph type="sldNum" sz="quarter" idx="10"/>
          </p:nvPr>
        </p:nvSpPr>
        <p:spPr>
          <a:ln/>
        </p:spPr>
        <p:txBody>
          <a:bodyPr/>
          <a:lstStyle>
            <a:lvl1pPr>
              <a:defRPr/>
            </a:lvl1pPr>
          </a:lstStyle>
          <a:p>
            <a:fld id="{01F94EDF-8DED-4345-B662-22013E651B76}" type="slidenum">
              <a:rPr lang="en-US" altLang="zh-CN"/>
              <a:pPr/>
              <a:t>‹#›</a:t>
            </a:fld>
            <a:endParaRPr lang="en-US" altLang="zh-CN"/>
          </a:p>
        </p:txBody>
      </p:sp>
    </p:spTree>
    <p:extLst>
      <p:ext uri="{BB962C8B-B14F-4D97-AF65-F5344CB8AC3E}">
        <p14:creationId xmlns:p14="http://schemas.microsoft.com/office/powerpoint/2010/main" val="2032082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22">
            <a:extLst>
              <a:ext uri="{FF2B5EF4-FFF2-40B4-BE49-F238E27FC236}">
                <a16:creationId xmlns:a16="http://schemas.microsoft.com/office/drawing/2014/main" id="{EA756876-4109-4082-8680-62F51C22A92E}"/>
              </a:ext>
            </a:extLst>
          </p:cNvPr>
          <p:cNvSpPr>
            <a:spLocks noGrp="1" noChangeArrowheads="1"/>
          </p:cNvSpPr>
          <p:nvPr>
            <p:ph type="sldNum" sz="quarter" idx="10"/>
          </p:nvPr>
        </p:nvSpPr>
        <p:spPr>
          <a:ln/>
        </p:spPr>
        <p:txBody>
          <a:bodyPr/>
          <a:lstStyle>
            <a:lvl1pPr>
              <a:defRPr/>
            </a:lvl1pPr>
          </a:lstStyle>
          <a:p>
            <a:fld id="{82231FA2-BADA-44EA-BFCA-40A50926D3DA}" type="slidenum">
              <a:rPr lang="en-US" altLang="zh-CN"/>
              <a:pPr/>
              <a:t>‹#›</a:t>
            </a:fld>
            <a:endParaRPr lang="en-US" altLang="zh-CN"/>
          </a:p>
        </p:txBody>
      </p:sp>
    </p:spTree>
    <p:extLst>
      <p:ext uri="{BB962C8B-B14F-4D97-AF65-F5344CB8AC3E}">
        <p14:creationId xmlns:p14="http://schemas.microsoft.com/office/powerpoint/2010/main" val="2359116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22">
            <a:extLst>
              <a:ext uri="{FF2B5EF4-FFF2-40B4-BE49-F238E27FC236}">
                <a16:creationId xmlns:a16="http://schemas.microsoft.com/office/drawing/2014/main" id="{63E5ECFD-CAC0-4410-B3A4-F0144DF1E2CE}"/>
              </a:ext>
            </a:extLst>
          </p:cNvPr>
          <p:cNvSpPr>
            <a:spLocks noGrp="1" noChangeArrowheads="1"/>
          </p:cNvSpPr>
          <p:nvPr>
            <p:ph type="sldNum" sz="quarter" idx="10"/>
          </p:nvPr>
        </p:nvSpPr>
        <p:spPr>
          <a:ln/>
        </p:spPr>
        <p:txBody>
          <a:bodyPr/>
          <a:lstStyle>
            <a:lvl1pPr>
              <a:defRPr/>
            </a:lvl1pPr>
          </a:lstStyle>
          <a:p>
            <a:fld id="{E64AB2F0-443E-4693-89DA-BF6FFD317A2D}" type="slidenum">
              <a:rPr lang="en-US" altLang="zh-CN"/>
              <a:pPr/>
              <a:t>‹#›</a:t>
            </a:fld>
            <a:endParaRPr lang="en-US" altLang="zh-CN"/>
          </a:p>
        </p:txBody>
      </p:sp>
    </p:spTree>
    <p:extLst>
      <p:ext uri="{BB962C8B-B14F-4D97-AF65-F5344CB8AC3E}">
        <p14:creationId xmlns:p14="http://schemas.microsoft.com/office/powerpoint/2010/main" val="3556748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22">
            <a:extLst>
              <a:ext uri="{FF2B5EF4-FFF2-40B4-BE49-F238E27FC236}">
                <a16:creationId xmlns:a16="http://schemas.microsoft.com/office/drawing/2014/main" id="{5389B850-D5C7-4ADD-8DBB-E632A9CEE853}"/>
              </a:ext>
            </a:extLst>
          </p:cNvPr>
          <p:cNvSpPr>
            <a:spLocks noGrp="1" noChangeArrowheads="1"/>
          </p:cNvSpPr>
          <p:nvPr>
            <p:ph type="sldNum" sz="quarter" idx="10"/>
          </p:nvPr>
        </p:nvSpPr>
        <p:spPr>
          <a:ln/>
        </p:spPr>
        <p:txBody>
          <a:bodyPr/>
          <a:lstStyle>
            <a:lvl1pPr>
              <a:defRPr/>
            </a:lvl1pPr>
          </a:lstStyle>
          <a:p>
            <a:fld id="{18011F1F-6D85-433C-9D83-DD4E733FE574}" type="slidenum">
              <a:rPr lang="en-US" altLang="zh-CN"/>
              <a:pPr/>
              <a:t>‹#›</a:t>
            </a:fld>
            <a:endParaRPr lang="en-US" altLang="zh-CN"/>
          </a:p>
        </p:txBody>
      </p:sp>
    </p:spTree>
    <p:extLst>
      <p:ext uri="{BB962C8B-B14F-4D97-AF65-F5344CB8AC3E}">
        <p14:creationId xmlns:p14="http://schemas.microsoft.com/office/powerpoint/2010/main" val="564491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22">
            <a:extLst>
              <a:ext uri="{FF2B5EF4-FFF2-40B4-BE49-F238E27FC236}">
                <a16:creationId xmlns:a16="http://schemas.microsoft.com/office/drawing/2014/main" id="{9C749026-51DC-4E6F-9B85-98DC21BC6378}"/>
              </a:ext>
            </a:extLst>
          </p:cNvPr>
          <p:cNvSpPr>
            <a:spLocks noGrp="1" noChangeArrowheads="1"/>
          </p:cNvSpPr>
          <p:nvPr>
            <p:ph type="sldNum" sz="quarter" idx="10"/>
          </p:nvPr>
        </p:nvSpPr>
        <p:spPr>
          <a:ln/>
        </p:spPr>
        <p:txBody>
          <a:bodyPr/>
          <a:lstStyle>
            <a:lvl1pPr>
              <a:defRPr/>
            </a:lvl1pPr>
          </a:lstStyle>
          <a:p>
            <a:fld id="{BF94235E-2EE6-4CA8-8B2B-2DEC468B34E3}" type="slidenum">
              <a:rPr lang="en-US" altLang="zh-CN"/>
              <a:pPr/>
              <a:t>‹#›</a:t>
            </a:fld>
            <a:endParaRPr lang="en-US" altLang="zh-CN"/>
          </a:p>
        </p:txBody>
      </p:sp>
    </p:spTree>
    <p:extLst>
      <p:ext uri="{BB962C8B-B14F-4D97-AF65-F5344CB8AC3E}">
        <p14:creationId xmlns:p14="http://schemas.microsoft.com/office/powerpoint/2010/main" val="2177686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2">
            <a:extLst>
              <a:ext uri="{FF2B5EF4-FFF2-40B4-BE49-F238E27FC236}">
                <a16:creationId xmlns:a16="http://schemas.microsoft.com/office/drawing/2014/main" id="{4E393AFD-9A99-4E3D-8E85-31EF13E39F34}"/>
              </a:ext>
            </a:extLst>
          </p:cNvPr>
          <p:cNvSpPr>
            <a:spLocks noGrp="1" noChangeArrowheads="1"/>
          </p:cNvSpPr>
          <p:nvPr>
            <p:ph type="sldNum" sz="quarter" idx="10"/>
          </p:nvPr>
        </p:nvSpPr>
        <p:spPr>
          <a:ln/>
        </p:spPr>
        <p:txBody>
          <a:bodyPr/>
          <a:lstStyle>
            <a:lvl1pPr>
              <a:defRPr/>
            </a:lvl1pPr>
          </a:lstStyle>
          <a:p>
            <a:fld id="{AADF0F48-16A0-4253-8D0A-58B802DDE7C4}" type="slidenum">
              <a:rPr lang="en-US" altLang="zh-CN"/>
              <a:pPr/>
              <a:t>‹#›</a:t>
            </a:fld>
            <a:endParaRPr lang="en-US" altLang="zh-CN"/>
          </a:p>
        </p:txBody>
      </p:sp>
    </p:spTree>
    <p:extLst>
      <p:ext uri="{BB962C8B-B14F-4D97-AF65-F5344CB8AC3E}">
        <p14:creationId xmlns:p14="http://schemas.microsoft.com/office/powerpoint/2010/main" val="3561968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22">
            <a:extLst>
              <a:ext uri="{FF2B5EF4-FFF2-40B4-BE49-F238E27FC236}">
                <a16:creationId xmlns:a16="http://schemas.microsoft.com/office/drawing/2014/main" id="{E10D6BA0-A712-4D56-915C-ADD0A07628F7}"/>
              </a:ext>
            </a:extLst>
          </p:cNvPr>
          <p:cNvSpPr>
            <a:spLocks noGrp="1" noChangeArrowheads="1"/>
          </p:cNvSpPr>
          <p:nvPr>
            <p:ph type="sldNum" sz="quarter" idx="10"/>
          </p:nvPr>
        </p:nvSpPr>
        <p:spPr>
          <a:ln/>
        </p:spPr>
        <p:txBody>
          <a:bodyPr/>
          <a:lstStyle>
            <a:lvl1pPr>
              <a:defRPr/>
            </a:lvl1pPr>
          </a:lstStyle>
          <a:p>
            <a:fld id="{97D8BBB4-77A1-42E4-ACFF-6C56CA156C4D}" type="slidenum">
              <a:rPr lang="en-US" altLang="zh-CN"/>
              <a:pPr/>
              <a:t>‹#›</a:t>
            </a:fld>
            <a:endParaRPr lang="en-US" altLang="zh-CN"/>
          </a:p>
        </p:txBody>
      </p:sp>
    </p:spTree>
    <p:extLst>
      <p:ext uri="{BB962C8B-B14F-4D97-AF65-F5344CB8AC3E}">
        <p14:creationId xmlns:p14="http://schemas.microsoft.com/office/powerpoint/2010/main" val="1448108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22">
            <a:extLst>
              <a:ext uri="{FF2B5EF4-FFF2-40B4-BE49-F238E27FC236}">
                <a16:creationId xmlns:a16="http://schemas.microsoft.com/office/drawing/2014/main" id="{B301943C-CD15-44A0-BC41-3B66D2EB79DC}"/>
              </a:ext>
            </a:extLst>
          </p:cNvPr>
          <p:cNvSpPr>
            <a:spLocks noGrp="1" noChangeArrowheads="1"/>
          </p:cNvSpPr>
          <p:nvPr>
            <p:ph type="sldNum" sz="quarter" idx="10"/>
          </p:nvPr>
        </p:nvSpPr>
        <p:spPr>
          <a:ln/>
        </p:spPr>
        <p:txBody>
          <a:bodyPr/>
          <a:lstStyle>
            <a:lvl1pPr>
              <a:defRPr/>
            </a:lvl1pPr>
          </a:lstStyle>
          <a:p>
            <a:fld id="{3CB77EA2-7F69-4F40-B1F8-45F6EB9043AE}" type="slidenum">
              <a:rPr lang="en-US" altLang="zh-CN"/>
              <a:pPr/>
              <a:t>‹#›</a:t>
            </a:fld>
            <a:endParaRPr lang="en-US" altLang="zh-CN"/>
          </a:p>
        </p:txBody>
      </p:sp>
    </p:spTree>
    <p:extLst>
      <p:ext uri="{BB962C8B-B14F-4D97-AF65-F5344CB8AC3E}">
        <p14:creationId xmlns:p14="http://schemas.microsoft.com/office/powerpoint/2010/main" val="41108927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22">
            <a:extLst>
              <a:ext uri="{FF2B5EF4-FFF2-40B4-BE49-F238E27FC236}">
                <a16:creationId xmlns:a16="http://schemas.microsoft.com/office/drawing/2014/main" id="{5C66B911-E070-4746-BD91-82DEE9E7581A}"/>
              </a:ext>
            </a:extLst>
          </p:cNvPr>
          <p:cNvSpPr>
            <a:spLocks noGrp="1" noChangeArrowheads="1"/>
          </p:cNvSpPr>
          <p:nvPr>
            <p:ph type="sldNum" sz="quarter" idx="10"/>
          </p:nvPr>
        </p:nvSpPr>
        <p:spPr>
          <a:ln/>
        </p:spPr>
        <p:txBody>
          <a:bodyPr/>
          <a:lstStyle>
            <a:lvl1pPr>
              <a:defRPr/>
            </a:lvl1pPr>
          </a:lstStyle>
          <a:p>
            <a:fld id="{2D124CAB-2FE9-4776-A7C7-C1A5645DB448}" type="slidenum">
              <a:rPr lang="en-US" altLang="zh-CN"/>
              <a:pPr/>
              <a:t>‹#›</a:t>
            </a:fld>
            <a:endParaRPr lang="en-US" altLang="zh-CN"/>
          </a:p>
        </p:txBody>
      </p:sp>
    </p:spTree>
    <p:extLst>
      <p:ext uri="{BB962C8B-B14F-4D97-AF65-F5344CB8AC3E}">
        <p14:creationId xmlns:p14="http://schemas.microsoft.com/office/powerpoint/2010/main" val="405136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22">
            <a:extLst>
              <a:ext uri="{FF2B5EF4-FFF2-40B4-BE49-F238E27FC236}">
                <a16:creationId xmlns:a16="http://schemas.microsoft.com/office/drawing/2014/main" id="{7AB3FAFD-74DE-4132-BD72-3E0712BC68E6}"/>
              </a:ext>
            </a:extLst>
          </p:cNvPr>
          <p:cNvSpPr>
            <a:spLocks noGrp="1" noChangeArrowheads="1"/>
          </p:cNvSpPr>
          <p:nvPr>
            <p:ph type="sldNum" sz="quarter" idx="10"/>
          </p:nvPr>
        </p:nvSpPr>
        <p:spPr>
          <a:ln/>
        </p:spPr>
        <p:txBody>
          <a:bodyPr/>
          <a:lstStyle>
            <a:lvl1pPr>
              <a:defRPr/>
            </a:lvl1pPr>
          </a:lstStyle>
          <a:p>
            <a:fld id="{F39B35E2-5991-4272-95A5-4570C433D70A}" type="slidenum">
              <a:rPr lang="en-US" altLang="zh-CN"/>
              <a:pPr/>
              <a:t>‹#›</a:t>
            </a:fld>
            <a:endParaRPr lang="en-US" altLang="zh-CN"/>
          </a:p>
        </p:txBody>
      </p:sp>
    </p:spTree>
    <p:extLst>
      <p:ext uri="{BB962C8B-B14F-4D97-AF65-F5344CB8AC3E}">
        <p14:creationId xmlns:p14="http://schemas.microsoft.com/office/powerpoint/2010/main" val="40413244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首页">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9F0ABDD3-0C36-459F-B792-350FD4B2112A}"/>
              </a:ext>
            </a:extLst>
          </p:cNvPr>
          <p:cNvSpPr txBox="1"/>
          <p:nvPr userDrawn="1"/>
        </p:nvSpPr>
        <p:spPr>
          <a:xfrm>
            <a:off x="0" y="-1588"/>
            <a:ext cx="9144000" cy="585788"/>
          </a:xfrm>
          <a:prstGeom prst="rect">
            <a:avLst/>
          </a:prstGeom>
          <a:gradFill>
            <a:gsLst>
              <a:gs pos="43000">
                <a:srgbClr val="003300"/>
              </a:gs>
              <a:gs pos="90000">
                <a:srgbClr val="3F7C49"/>
              </a:gs>
              <a:gs pos="100000">
                <a:schemeClr val="accent5">
                  <a:lumMod val="20000"/>
                  <a:lumOff val="80000"/>
                </a:schemeClr>
              </a:gs>
            </a:gsLst>
            <a:lin ang="0" scaled="1"/>
          </a:gradFill>
        </p:spPr>
        <p:txBody>
          <a:bodyPr>
            <a:spAutoFit/>
          </a:bodyPr>
          <a:lstStyle>
            <a:lvl1pPr marL="365125" indent="-365125">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1800"/>
              </a:spcAft>
              <a:buClr>
                <a:schemeClr val="accent1"/>
              </a:buClr>
              <a:buFont typeface="Wingdings" panose="05000000000000000000" pitchFamily="2" charset="2"/>
              <a:buChar char="q"/>
              <a:defRPr/>
            </a:pPr>
            <a:endParaRPr lang="zh-CN" altLang="en-US" sz="3200" b="1">
              <a:solidFill>
                <a:srgbClr val="006600"/>
              </a:solidFill>
              <a:latin typeface="Verdana" panose="020B0604030504040204" pitchFamily="34" charset="0"/>
            </a:endParaRPr>
          </a:p>
        </p:txBody>
      </p:sp>
      <p:sp>
        <p:nvSpPr>
          <p:cNvPr id="7" name="文本框 13">
            <a:extLst>
              <a:ext uri="{FF2B5EF4-FFF2-40B4-BE49-F238E27FC236}">
                <a16:creationId xmlns:a16="http://schemas.microsoft.com/office/drawing/2014/main" id="{6718B0CF-6FE7-46E8-B58C-17CF971CC4B2}"/>
              </a:ext>
            </a:extLst>
          </p:cNvPr>
          <p:cNvSpPr txBox="1">
            <a:spLocks noChangeArrowheads="1"/>
          </p:cNvSpPr>
          <p:nvPr userDrawn="1"/>
        </p:nvSpPr>
        <p:spPr bwMode="auto">
          <a:xfrm>
            <a:off x="-3175" y="6303963"/>
            <a:ext cx="9144000" cy="585787"/>
          </a:xfrm>
          <a:prstGeom prst="rect">
            <a:avLst/>
          </a:prstGeom>
          <a:gradFill rotWithShape="0">
            <a:gsLst>
              <a:gs pos="0">
                <a:srgbClr val="003300"/>
              </a:gs>
              <a:gs pos="100000">
                <a:srgbClr val="003300"/>
              </a:gs>
            </a:gsLst>
            <a:lin ang="0" scaled="1"/>
          </a:gradFill>
          <a:ln>
            <a:noFill/>
          </a:ln>
        </p:spPr>
        <p:txBody>
          <a:bodyPr>
            <a:spAutoFit/>
          </a:bodyPr>
          <a:lstStyle>
            <a:lvl1pPr>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Font typeface="Arial" panose="020B0604020202020204" pitchFamily="34" charset="0"/>
              <a:defRPr sz="3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1800"/>
              </a:spcAft>
              <a:buClr>
                <a:schemeClr val="accent1"/>
              </a:buClr>
              <a:buFont typeface="Wingdings" panose="05000000000000000000" pitchFamily="2" charset="2"/>
              <a:buNone/>
              <a:defRPr/>
            </a:pPr>
            <a:endParaRPr lang="zh-CN" altLang="en-US" sz="3200" b="1">
              <a:solidFill>
                <a:srgbClr val="006600"/>
              </a:solidFill>
              <a:latin typeface="Verdana" panose="020B0604030504040204" pitchFamily="34" charset="0"/>
            </a:endParaRPr>
          </a:p>
        </p:txBody>
      </p:sp>
      <p:pic>
        <p:nvPicPr>
          <p:cNvPr id="8" name="图片 14">
            <a:extLst>
              <a:ext uri="{FF2B5EF4-FFF2-40B4-BE49-F238E27FC236}">
                <a16:creationId xmlns:a16="http://schemas.microsoft.com/office/drawing/2014/main" id="{6E50EC39-7D63-4CE9-9B76-871B4F1D3CF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2" r="45248" b="-2402"/>
          <a:stretch>
            <a:fillRect/>
          </a:stretch>
        </p:blipFill>
        <p:spPr bwMode="auto">
          <a:xfrm>
            <a:off x="79375" y="87313"/>
            <a:ext cx="15684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p:cNvSpPr>
            <a:spLocks noGrp="1"/>
          </p:cNvSpPr>
          <p:nvPr>
            <p:ph type="title"/>
          </p:nvPr>
        </p:nvSpPr>
        <p:spPr>
          <a:xfrm>
            <a:off x="1317795" y="2839830"/>
            <a:ext cx="6477000" cy="1362075"/>
          </a:xfrm>
          <a:prstGeom prst="rect">
            <a:avLst/>
          </a:prstGeom>
          <a:noFill/>
        </p:spPr>
        <p:txBody>
          <a:bodyPr anchor="t"/>
          <a:lstStyle>
            <a:lvl1pPr algn="ctr">
              <a:defRPr sz="3200" b="0" cap="none">
                <a:solidFill>
                  <a:srgbClr val="006600"/>
                </a:solidFill>
                <a:latin typeface="华文楷体" panose="02010600040101010101" pitchFamily="2" charset="-122"/>
                <a:ea typeface="华文楷体" panose="02010600040101010101" pitchFamily="2" charset="-122"/>
                <a:cs typeface="Times New Roman" pitchFamily="18" charset="0"/>
              </a:defRPr>
            </a:lvl1pPr>
          </a:lstStyle>
          <a:p>
            <a:endParaRPr lang="en-US" dirty="0"/>
          </a:p>
        </p:txBody>
      </p:sp>
      <p:sp>
        <p:nvSpPr>
          <p:cNvPr id="5" name="Text Placeholder 2"/>
          <p:cNvSpPr>
            <a:spLocks noGrp="1"/>
          </p:cNvSpPr>
          <p:nvPr>
            <p:ph type="body" idx="1"/>
          </p:nvPr>
        </p:nvSpPr>
        <p:spPr>
          <a:xfrm>
            <a:off x="1330858" y="1333223"/>
            <a:ext cx="6477000" cy="1500187"/>
          </a:xfrm>
          <a:prstGeom prst="rect">
            <a:avLst/>
          </a:prstGeom>
        </p:spPr>
        <p:txBody>
          <a:bodyPr anchor="b">
            <a:normAutofit/>
          </a:bodyPr>
          <a:lstStyle>
            <a:lvl1pPr marL="0" indent="0" algn="ctr">
              <a:buNone/>
              <a:defRPr lang="en-US" sz="2400" b="0" cap="none" dirty="0" smtClean="0">
                <a:solidFill>
                  <a:srgbClr val="006600"/>
                </a:solidFill>
                <a:latin typeface="华文楷体" panose="02010600040101010101" pitchFamily="2" charset="-122"/>
                <a:ea typeface="华文楷体" panose="02010600040101010101" pitchFamily="2" charset="-122"/>
                <a:cs typeface="Times New Roman" pitchFamily="18"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endParaRPr lang="en-US" dirty="0"/>
          </a:p>
        </p:txBody>
      </p:sp>
    </p:spTree>
    <p:extLst>
      <p:ext uri="{BB962C8B-B14F-4D97-AF65-F5344CB8AC3E}">
        <p14:creationId xmlns:p14="http://schemas.microsoft.com/office/powerpoint/2010/main" val="1920300749"/>
      </p:ext>
    </p:extLst>
  </p:cSld>
  <p:clrMapOvr>
    <a:masterClrMapping/>
  </p:clrMapOvr>
  <p:transition spd="med">
    <p:pull/>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1C70B0-016F-4B9E-9F9F-0B697780E0CA}"/>
              </a:ext>
            </a:extLst>
          </p:cNvPr>
          <p:cNvSpPr>
            <a:spLocks noGrp="1"/>
          </p:cNvSpPr>
          <p:nvPr>
            <p:ph type="title"/>
          </p:nvPr>
        </p:nvSpPr>
        <p:spPr>
          <a:xfrm>
            <a:off x="301625" y="609600"/>
            <a:ext cx="8540750" cy="1143000"/>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21B65B1-F6B8-4C76-AA41-63D7D2AE0325}"/>
              </a:ext>
            </a:extLst>
          </p:cNvPr>
          <p:cNvSpPr>
            <a:spLocks noGrp="1"/>
          </p:cNvSpPr>
          <p:nvPr>
            <p:ph type="body" sz="half" idx="1"/>
          </p:nvPr>
        </p:nvSpPr>
        <p:spPr>
          <a:xfrm>
            <a:off x="301625" y="1905000"/>
            <a:ext cx="4194175" cy="41941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1C51EFAC-959F-460D-9875-A54A4D719313}"/>
              </a:ext>
            </a:extLst>
          </p:cNvPr>
          <p:cNvSpPr>
            <a:spLocks noGrp="1"/>
          </p:cNvSpPr>
          <p:nvPr>
            <p:ph sz="half" idx="2"/>
          </p:nvPr>
        </p:nvSpPr>
        <p:spPr>
          <a:xfrm>
            <a:off x="4648200" y="1905000"/>
            <a:ext cx="4194175" cy="41941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2CF80DCC-8259-4ECE-91CD-EC2B31492E6A}"/>
              </a:ext>
            </a:extLst>
          </p:cNvPr>
          <p:cNvSpPr>
            <a:spLocks noGrp="1"/>
          </p:cNvSpPr>
          <p:nvPr>
            <p:ph type="dt" sz="half" idx="10"/>
          </p:nvPr>
        </p:nvSpPr>
        <p:spPr>
          <a:xfrm>
            <a:off x="301625" y="6245225"/>
            <a:ext cx="2289175" cy="476250"/>
          </a:xfrm>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DD0F6DD4-AB80-4521-A626-C7CE5C02475A}"/>
              </a:ext>
            </a:extLst>
          </p:cNvPr>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99DDC220-62AC-4889-BCB4-34382B980A52}"/>
              </a:ext>
            </a:extLst>
          </p:cNvPr>
          <p:cNvSpPr>
            <a:spLocks noGrp="1"/>
          </p:cNvSpPr>
          <p:nvPr>
            <p:ph type="sldNum" sz="quarter" idx="12"/>
          </p:nvPr>
        </p:nvSpPr>
        <p:spPr>
          <a:xfrm>
            <a:off x="6553200" y="6245225"/>
            <a:ext cx="2289175" cy="476250"/>
          </a:xfrm>
        </p:spPr>
        <p:txBody>
          <a:bodyPr/>
          <a:lstStyle>
            <a:lvl1pPr>
              <a:defRPr/>
            </a:lvl1pPr>
          </a:lstStyle>
          <a:p>
            <a:fld id="{CFAFE56B-27F4-47E3-8839-47E01207DB68}" type="slidenum">
              <a:rPr lang="en-US" altLang="zh-CN"/>
              <a:pPr/>
              <a:t>‹#›</a:t>
            </a:fld>
            <a:endParaRPr lang="en-US" altLang="zh-CN"/>
          </a:p>
        </p:txBody>
      </p:sp>
    </p:spTree>
    <p:extLst>
      <p:ext uri="{BB962C8B-B14F-4D97-AF65-F5344CB8AC3E}">
        <p14:creationId xmlns:p14="http://schemas.microsoft.com/office/powerpoint/2010/main" val="2958253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1026" name="Rectangle 19">
            <a:extLst>
              <a:ext uri="{FF2B5EF4-FFF2-40B4-BE49-F238E27FC236}">
                <a16:creationId xmlns:a16="http://schemas.microsoft.com/office/drawing/2014/main" id="{58ABBD37-A11C-4617-81CB-61F925191B02}"/>
              </a:ext>
            </a:extLst>
          </p:cNvPr>
          <p:cNvSpPr>
            <a:spLocks noChangeArrowheads="1"/>
          </p:cNvSpPr>
          <p:nvPr/>
        </p:nvSpPr>
        <p:spPr bwMode="auto">
          <a:xfrm>
            <a:off x="0" y="0"/>
            <a:ext cx="9144000" cy="6858000"/>
          </a:xfrm>
          <a:prstGeom prst="rect">
            <a:avLst/>
          </a:prstGeom>
          <a:noFill/>
          <a:ln w="9525">
            <a:solidFill>
              <a:schemeClr val="tx1"/>
            </a:solidFill>
            <a:miter lim="800000"/>
            <a:headEnd/>
            <a:tailEnd/>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buFontTx/>
              <a:buNone/>
              <a:defRPr/>
            </a:pPr>
            <a:endParaRPr kumimoji="1" lang="zh-CN" altLang="en-US"/>
          </a:p>
        </p:txBody>
      </p:sp>
      <p:sp>
        <p:nvSpPr>
          <p:cNvPr id="27670" name="Rectangle 22">
            <a:extLst>
              <a:ext uri="{FF2B5EF4-FFF2-40B4-BE49-F238E27FC236}">
                <a16:creationId xmlns:a16="http://schemas.microsoft.com/office/drawing/2014/main" id="{FB5E710B-68F7-44CC-897B-C3A0B63E0349}"/>
              </a:ext>
            </a:extLst>
          </p:cNvPr>
          <p:cNvSpPr>
            <a:spLocks noGrp="1" noChangeArrowheads="1"/>
          </p:cNvSpPr>
          <p:nvPr>
            <p:ph type="sldNum" sz="quarter" idx="4"/>
          </p:nvPr>
        </p:nvSpPr>
        <p:spPr bwMode="auto">
          <a:xfrm>
            <a:off x="6553200" y="6400800"/>
            <a:ext cx="1905000" cy="457200"/>
          </a:xfrm>
          <a:prstGeom prst="rect">
            <a:avLst/>
          </a:prstGeom>
          <a:noFill/>
          <a:ln w="9525">
            <a:noFill/>
            <a:miter lim="800000"/>
          </a:ln>
          <a:effectLst/>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400">
                <a:latin typeface="Times New Roman" panose="02020603050405020304" pitchFamily="18" charset="0"/>
              </a:defRPr>
            </a:lvl1pPr>
          </a:lstStyle>
          <a:p>
            <a:fld id="{CFA0C3B6-206E-4BAD-A757-CE26AEF9AD2A}" type="slidenum">
              <a:rPr lang="en-US" altLang="zh-CN"/>
              <a:pPr/>
              <a:t>‹#›</a:t>
            </a:fld>
            <a:endParaRPr lang="en-US" altLang="zh-CN"/>
          </a:p>
        </p:txBody>
      </p:sp>
      <p:sp>
        <p:nvSpPr>
          <p:cNvPr id="1028" name="Rectangle 25">
            <a:extLst>
              <a:ext uri="{FF2B5EF4-FFF2-40B4-BE49-F238E27FC236}">
                <a16:creationId xmlns:a16="http://schemas.microsoft.com/office/drawing/2014/main" id="{6914ADBD-4EA6-4BEB-863A-9E84EB1E94B8}"/>
              </a:ext>
            </a:extLst>
          </p:cNvPr>
          <p:cNvSpPr>
            <a:spLocks noGrp="1" noChangeArrowheads="1"/>
          </p:cNvSpPr>
          <p:nvPr>
            <p:ph type="title" idx="4294967295"/>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9" name="Rectangle 26">
            <a:extLst>
              <a:ext uri="{FF2B5EF4-FFF2-40B4-BE49-F238E27FC236}">
                <a16:creationId xmlns:a16="http://schemas.microsoft.com/office/drawing/2014/main" id="{62C193E3-4A94-4C58-A456-2513F5EE23EE}"/>
              </a:ext>
            </a:extLst>
          </p:cNvPr>
          <p:cNvSpPr>
            <a:spLocks noGrp="1" noChangeArrowheads="1"/>
          </p:cNvSpPr>
          <p:nvPr>
            <p:ph type="body" idx="4294967295"/>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文本框 14">
            <a:extLst>
              <a:ext uri="{FF2B5EF4-FFF2-40B4-BE49-F238E27FC236}">
                <a16:creationId xmlns:a16="http://schemas.microsoft.com/office/drawing/2014/main" id="{93888918-8A9F-441D-9071-2B049F58C4E7}"/>
              </a:ext>
            </a:extLst>
          </p:cNvPr>
          <p:cNvSpPr txBox="1"/>
          <p:nvPr userDrawn="1"/>
        </p:nvSpPr>
        <p:spPr>
          <a:xfrm>
            <a:off x="1588" y="-15875"/>
            <a:ext cx="9144000" cy="585788"/>
          </a:xfrm>
          <a:prstGeom prst="rect">
            <a:avLst/>
          </a:prstGeom>
          <a:gradFill>
            <a:gsLst>
              <a:gs pos="43000">
                <a:srgbClr val="003300"/>
              </a:gs>
              <a:gs pos="90000">
                <a:srgbClr val="3F7C49"/>
              </a:gs>
              <a:gs pos="100000">
                <a:schemeClr val="accent5">
                  <a:lumMod val="20000"/>
                  <a:lumOff val="80000"/>
                </a:schemeClr>
              </a:gs>
            </a:gsLst>
            <a:lin ang="0" scaled="1"/>
          </a:gradFill>
        </p:spPr>
        <p:txBody>
          <a:bodyPr>
            <a:spAutoFit/>
          </a:bodyPr>
          <a:lstStyle>
            <a:lvl1pPr marL="365125" indent="-365125">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lnSpc>
                <a:spcPct val="90000"/>
              </a:lnSpc>
              <a:spcAft>
                <a:spcPts val="1800"/>
              </a:spcAft>
              <a:buClr>
                <a:schemeClr val="accent1"/>
              </a:buClr>
              <a:buFont typeface="Wingdings" panose="05000000000000000000" pitchFamily="2" charset="2"/>
              <a:buChar char="q"/>
              <a:defRPr/>
            </a:pPr>
            <a:endParaRPr lang="zh-CN" altLang="en-US" sz="3200" b="1">
              <a:solidFill>
                <a:srgbClr val="006600"/>
              </a:solidFill>
              <a:latin typeface="Verdana" panose="020B0604030504040204" pitchFamily="34" charset="0"/>
            </a:endParaRPr>
          </a:p>
        </p:txBody>
      </p:sp>
      <p:pic>
        <p:nvPicPr>
          <p:cNvPr id="1031" name="图片 10">
            <a:extLst>
              <a:ext uri="{FF2B5EF4-FFF2-40B4-BE49-F238E27FC236}">
                <a16:creationId xmlns:a16="http://schemas.microsoft.com/office/drawing/2014/main" id="{2241019E-310D-4F09-BECB-35CA57B60DEA}"/>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t="2" r="45248" b="-2402"/>
          <a:stretch>
            <a:fillRect/>
          </a:stretch>
        </p:blipFill>
        <p:spPr bwMode="auto">
          <a:xfrm>
            <a:off x="80963" y="73025"/>
            <a:ext cx="15684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17"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8" r:id="rId12"/>
    <p:sldLayoutId id="2147483719" r:id="rId13"/>
  </p:sldLayoutIdLst>
  <p:txStyles>
    <p:titleStyle>
      <a:lvl1pPr algn="l" rtl="0" eaLnBrk="0" fontAlgn="base" hangingPunct="0">
        <a:spcBef>
          <a:spcPct val="0"/>
        </a:spcBef>
        <a:spcAft>
          <a:spcPct val="0"/>
        </a:spcAft>
        <a:defRPr sz="3200" b="1">
          <a:solidFill>
            <a:schemeClr val="tx1"/>
          </a:solidFill>
          <a:latin typeface="+mj-lt"/>
          <a:ea typeface="+mj-ea"/>
          <a:cs typeface="+mj-cs"/>
        </a:defRPr>
      </a:lvl1pPr>
      <a:lvl2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3200" b="1">
          <a:solidFill>
            <a:schemeClr val="tx1"/>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3200" b="1">
          <a:solidFill>
            <a:srgbClr val="FF3300"/>
          </a:solidFill>
          <a:latin typeface="Tahoma" panose="020B0604030504040204" pitchFamily="34" charset="0"/>
          <a:ea typeface="宋体" panose="02010600030101010101" pitchFamily="2" charset="-122"/>
        </a:defRPr>
      </a:lvl9pPr>
    </p:titleStyle>
    <p:bodyStyle>
      <a:lvl1pPr marL="342900" indent="-342900" algn="l" rtl="0" eaLnBrk="0" fontAlgn="base" hangingPunct="0">
        <a:lnSpc>
          <a:spcPct val="120000"/>
        </a:lnSpc>
        <a:spcBef>
          <a:spcPct val="20000"/>
        </a:spcBef>
        <a:spcAft>
          <a:spcPct val="0"/>
        </a:spcAft>
        <a:buClr>
          <a:schemeClr val="folHlink"/>
        </a:buClr>
        <a:buSzPct val="60000"/>
        <a:buFont typeface="Wingdings" panose="05000000000000000000" pitchFamily="2" charset="2"/>
        <a:buBlip>
          <a:blip r:embed="rId16"/>
        </a:buBlip>
        <a:defRPr sz="2800" b="1">
          <a:solidFill>
            <a:srgbClr val="008000"/>
          </a:solidFill>
          <a:latin typeface="+mn-lt"/>
          <a:ea typeface="+mn-ea"/>
          <a:cs typeface="+mn-cs"/>
        </a:defRPr>
      </a:lvl1pPr>
      <a:lvl2pPr marL="742950" indent="-285750" algn="l" rtl="0" eaLnBrk="0" fontAlgn="base" hangingPunct="0">
        <a:lnSpc>
          <a:spcPct val="120000"/>
        </a:lnSpc>
        <a:spcBef>
          <a:spcPct val="20000"/>
        </a:spcBef>
        <a:spcAft>
          <a:spcPct val="0"/>
        </a:spcAft>
        <a:buClr>
          <a:schemeClr val="hlink"/>
        </a:buClr>
        <a:buSzPct val="55000"/>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lnSpc>
          <a:spcPct val="120000"/>
        </a:lnSpc>
        <a:spcBef>
          <a:spcPct val="20000"/>
        </a:spcBef>
        <a:spcAft>
          <a:spcPct val="0"/>
        </a:spcAft>
        <a:buClr>
          <a:schemeClr val="folHlink"/>
        </a:buClr>
        <a:buSzPct val="50000"/>
        <a:buFont typeface="Wingdings" panose="05000000000000000000" pitchFamily="2" charset="2"/>
        <a:buChar char="n"/>
        <a:defRPr sz="2800" b="1">
          <a:solidFill>
            <a:schemeClr val="tx1"/>
          </a:solidFill>
          <a:latin typeface="+mn-lt"/>
          <a:ea typeface="+mn-ea"/>
        </a:defRPr>
      </a:lvl3pPr>
      <a:lvl4pPr marL="1600200" indent="-228600" algn="l" rtl="0" eaLnBrk="0" fontAlgn="base" hangingPunct="0">
        <a:lnSpc>
          <a:spcPct val="120000"/>
        </a:lnSpc>
        <a:spcBef>
          <a:spcPct val="20000"/>
        </a:spcBef>
        <a:spcAft>
          <a:spcPct val="0"/>
        </a:spcAft>
        <a:buClr>
          <a:schemeClr val="accent2"/>
        </a:buClr>
        <a:buSzPct val="55000"/>
        <a:buFont typeface="Wingdings" panose="05000000000000000000" pitchFamily="2" charset="2"/>
        <a:buChar char="n"/>
        <a:defRPr sz="2800" b="1">
          <a:solidFill>
            <a:schemeClr val="tx1"/>
          </a:solidFill>
          <a:latin typeface="+mn-lt"/>
          <a:ea typeface="+mn-ea"/>
        </a:defRPr>
      </a:lvl4pPr>
      <a:lvl5pPr marL="2057400" indent="-228600" algn="l" rtl="0" eaLnBrk="0" fontAlgn="base" hangingPunct="0">
        <a:lnSpc>
          <a:spcPct val="120000"/>
        </a:lnSpc>
        <a:spcBef>
          <a:spcPct val="20000"/>
        </a:spcBef>
        <a:spcAft>
          <a:spcPct val="0"/>
        </a:spcAft>
        <a:buClr>
          <a:schemeClr val="accent1"/>
        </a:buClr>
        <a:buSzPct val="50000"/>
        <a:buFont typeface="Wingdings" panose="05000000000000000000" pitchFamily="2" charset="2"/>
        <a:buChar char="n"/>
        <a:defRPr sz="2800" b="1">
          <a:solidFill>
            <a:schemeClr val="tx1"/>
          </a:solidFill>
          <a:latin typeface="+mn-lt"/>
          <a:ea typeface="+mn-ea"/>
        </a:defRPr>
      </a:lvl5pPr>
      <a:lvl6pPr marL="25146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6pPr>
      <a:lvl7pPr marL="29718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7pPr>
      <a:lvl8pPr marL="34290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8pPr>
      <a:lvl9pPr marL="38862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kumimoji="1" sz="28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 Target="slide9.xml"/><Relationship Id="rId1" Type="http://schemas.openxmlformats.org/officeDocument/2006/relationships/slideLayout" Target="../slideLayouts/slideLayout6.xml"/><Relationship Id="rId5" Type="http://schemas.openxmlformats.org/officeDocument/2006/relationships/hyperlink" Target="&#32490;&#35770;.ppt#-1,2,&#24187;&#28783;&#29255; 2" TargetMode="External"/><Relationship Id="rId4" Type="http://schemas.openxmlformats.org/officeDocument/2006/relationships/slide" Target="slide23.xml"/></Relationships>
</file>

<file path=ppt/slides/_rels/slide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3.xml"/><Relationship Id="rId1" Type="http://schemas.openxmlformats.org/officeDocument/2006/relationships/vmlDrawing" Target="../drawings/vmlDrawing1.vml"/><Relationship Id="rId5" Type="http://schemas.openxmlformats.org/officeDocument/2006/relationships/slide" Target="slide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2.png"/><Relationship Id="rId5" Type="http://schemas.openxmlformats.org/officeDocument/2006/relationships/oleObject" Target="../embeddings/oleObject6.bin"/><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5.png"/><Relationship Id="rId5" Type="http://schemas.openxmlformats.org/officeDocument/2006/relationships/oleObject" Target="../embeddings/oleObject9.bin"/><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oleObject" Target="../embeddings/oleObject10.bin"/><Relationship Id="rId7" Type="http://schemas.openxmlformats.org/officeDocument/2006/relationships/image" Target="../media/image19.png"/><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8.vml"/><Relationship Id="rId5" Type="http://schemas.openxmlformats.org/officeDocument/2006/relationships/slide" Target="slide9.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9.vml"/><Relationship Id="rId5" Type="http://schemas.openxmlformats.org/officeDocument/2006/relationships/slide" Target="slide9.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10.vml"/><Relationship Id="rId5" Type="http://schemas.openxmlformats.org/officeDocument/2006/relationships/slide" Target="slide9.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11.vml"/><Relationship Id="rId5" Type="http://schemas.openxmlformats.org/officeDocument/2006/relationships/slide" Target="slide9.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12.vml"/><Relationship Id="rId5" Type="http://schemas.openxmlformats.org/officeDocument/2006/relationships/slide" Target="slide9.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slide" Target="slide2.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14.vml"/><Relationship Id="rId5" Type="http://schemas.openxmlformats.org/officeDocument/2006/relationships/slide" Target="slide23.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8.bin"/><Relationship Id="rId7" Type="http://schemas.openxmlformats.org/officeDocument/2006/relationships/image" Target="../media/image29.png"/><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oleObject" Target="../embeddings/oleObject19.bin"/><Relationship Id="rId5" Type="http://schemas.openxmlformats.org/officeDocument/2006/relationships/image" Target="../media/image30.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32.png"/><Relationship Id="rId5" Type="http://schemas.openxmlformats.org/officeDocument/2006/relationships/oleObject" Target="../embeddings/oleObject21.bin"/><Relationship Id="rId10" Type="http://schemas.openxmlformats.org/officeDocument/2006/relationships/image" Target="../media/image34.png"/><Relationship Id="rId4" Type="http://schemas.openxmlformats.org/officeDocument/2006/relationships/image" Target="../media/image31.png"/><Relationship Id="rId9" Type="http://schemas.openxmlformats.org/officeDocument/2006/relationships/oleObject" Target="../embeddings/oleObject23.bin"/></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7.xml"/><Relationship Id="rId1" Type="http://schemas.openxmlformats.org/officeDocument/2006/relationships/vmlDrawing" Target="../drawings/vmlDrawing17.vml"/><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38.png"/><Relationship Id="rId5" Type="http://schemas.openxmlformats.org/officeDocument/2006/relationships/oleObject" Target="../embeddings/oleObject26.bin"/><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2">
            <a:extLst>
              <a:ext uri="{FF2B5EF4-FFF2-40B4-BE49-F238E27FC236}">
                <a16:creationId xmlns:a16="http://schemas.microsoft.com/office/drawing/2014/main" id="{A6F48A94-0FAF-47C5-8E0C-228DC11AA383}"/>
              </a:ext>
            </a:extLst>
          </p:cNvPr>
          <p:cNvSpPr>
            <a:spLocks noGrp="1" noChangeArrowheads="1"/>
          </p:cNvSpPr>
          <p:nvPr>
            <p:ph type="title"/>
          </p:nvPr>
        </p:nvSpPr>
        <p:spPr>
          <a:xfrm>
            <a:off x="1187624" y="2312876"/>
            <a:ext cx="6477000" cy="1507157"/>
          </a:xfrm>
        </p:spPr>
        <p:txBody>
          <a:bodyPr/>
          <a:lstStyle/>
          <a:p>
            <a:pPr eaLnBrk="1" hangingPunct="1"/>
            <a:r>
              <a:rPr lang="zh-CN" altLang="en-US" sz="4000" dirty="0">
                <a:latin typeface="黑体" panose="02010609060101010101" pitchFamily="49" charset="-122"/>
                <a:ea typeface="黑体" panose="02010609060101010101" pitchFamily="49" charset="-122"/>
              </a:rPr>
              <a:t>轴测投影</a:t>
            </a:r>
            <a:br>
              <a:rPr lang="en-US" altLang="zh-CN" dirty="0">
                <a:latin typeface="华文隶书" panose="02010800040101010101" pitchFamily="2" charset="-122"/>
                <a:ea typeface="华文隶书" panose="02010800040101010101" pitchFamily="2" charset="-122"/>
              </a:rPr>
            </a:br>
            <a:endParaRPr lang="zh-CN" altLang="en-US" dirty="0"/>
          </a:p>
        </p:txBody>
      </p:sp>
      <p:sp>
        <p:nvSpPr>
          <p:cNvPr id="5123" name="文本占位符 3">
            <a:extLst>
              <a:ext uri="{FF2B5EF4-FFF2-40B4-BE49-F238E27FC236}">
                <a16:creationId xmlns:a16="http://schemas.microsoft.com/office/drawing/2014/main" id="{F2EA9F1A-260B-49C7-8726-F0423E9B1EF0}"/>
              </a:ext>
            </a:extLst>
          </p:cNvPr>
          <p:cNvSpPr>
            <a:spLocks noGrp="1" noChangeArrowheads="1"/>
          </p:cNvSpPr>
          <p:nvPr>
            <p:ph type="body" idx="1"/>
          </p:nvPr>
        </p:nvSpPr>
        <p:spPr>
          <a:xfrm>
            <a:off x="1277938" y="687388"/>
            <a:ext cx="6477000" cy="1190625"/>
          </a:xfrm>
        </p:spPr>
        <p:txBody>
          <a:bodyPr/>
          <a:lstStyle/>
          <a:p>
            <a:pPr eaLnBrk="1" hangingPunct="1"/>
            <a:r>
              <a:rPr lang="zh-CN" altLang="en-US" sz="3600" dirty="0"/>
              <a:t>工程制图</a:t>
            </a:r>
            <a:r>
              <a:rPr altLang="zh-CN" sz="3600" dirty="0"/>
              <a:t>CAD</a:t>
            </a:r>
            <a:endParaRPr lang="zh-CN" altLang="en-US" sz="3600" dirty="0"/>
          </a:p>
        </p:txBody>
      </p:sp>
    </p:spTree>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F2B6B9AD-AB00-4A65-A664-66818649D8EA}"/>
              </a:ext>
            </a:extLst>
          </p:cNvPr>
          <p:cNvSpPr>
            <a:spLocks noGrp="1" noRot="1" noChangeArrowheads="1"/>
          </p:cNvSpPr>
          <p:nvPr>
            <p:ph type="title"/>
          </p:nvPr>
        </p:nvSpPr>
        <p:spPr>
          <a:xfrm>
            <a:off x="323850" y="620713"/>
            <a:ext cx="8229600" cy="1143000"/>
          </a:xfrm>
        </p:spPr>
        <p:txBody>
          <a:bodyPr/>
          <a:lstStyle/>
          <a:p>
            <a:pPr algn="ctr"/>
            <a:r>
              <a:rPr lang="zh-CN" altLang="en-US" sz="4000" b="1" dirty="0">
                <a:solidFill>
                  <a:srgbClr val="000000"/>
                </a:solidFill>
                <a:latin typeface="宋体" panose="02010600030101010101" pitchFamily="2" charset="-122"/>
              </a:rPr>
              <a:t> 轴 测 </a:t>
            </a:r>
            <a:r>
              <a:rPr lang="zh-CN" altLang="en-US" sz="4000" dirty="0">
                <a:solidFill>
                  <a:srgbClr val="000000"/>
                </a:solidFill>
                <a:latin typeface="宋体" panose="02010600030101010101" pitchFamily="2" charset="-122"/>
              </a:rPr>
              <a:t>投 影</a:t>
            </a:r>
            <a:endParaRPr lang="zh-CN" altLang="en-US" sz="4000" b="1" dirty="0">
              <a:solidFill>
                <a:srgbClr val="000000"/>
              </a:solidFill>
              <a:latin typeface="宋体" panose="02010600030101010101" pitchFamily="2" charset="-122"/>
            </a:endParaRPr>
          </a:p>
        </p:txBody>
      </p:sp>
      <p:sp>
        <p:nvSpPr>
          <p:cNvPr id="2054" name="Rectangle 6">
            <a:extLst>
              <a:ext uri="{FF2B5EF4-FFF2-40B4-BE49-F238E27FC236}">
                <a16:creationId xmlns:a16="http://schemas.microsoft.com/office/drawing/2014/main" id="{53260102-DD05-4E79-BE66-C10D646C5888}"/>
              </a:ext>
            </a:extLst>
          </p:cNvPr>
          <p:cNvSpPr>
            <a:spLocks noChangeArrowheads="1"/>
          </p:cNvSpPr>
          <p:nvPr/>
        </p:nvSpPr>
        <p:spPr bwMode="auto">
          <a:xfrm>
            <a:off x="1331913" y="2060575"/>
            <a:ext cx="70564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kumimoji="1" lang="zh-CN" altLang="zh-CN" sz="2800" b="1"/>
          </a:p>
        </p:txBody>
      </p:sp>
      <p:sp>
        <p:nvSpPr>
          <p:cNvPr id="2055" name="AutoShape 7">
            <a:hlinkClick r:id="" action="ppaction://noaction" highlightClick="1"/>
            <a:extLst>
              <a:ext uri="{FF2B5EF4-FFF2-40B4-BE49-F238E27FC236}">
                <a16:creationId xmlns:a16="http://schemas.microsoft.com/office/drawing/2014/main" id="{502B3658-DE3C-4491-B3D9-7950196D3CE1}"/>
              </a:ext>
            </a:extLst>
          </p:cNvPr>
          <p:cNvSpPr>
            <a:spLocks noChangeArrowheads="1"/>
          </p:cNvSpPr>
          <p:nvPr/>
        </p:nvSpPr>
        <p:spPr bwMode="auto">
          <a:xfrm>
            <a:off x="1331913" y="3284538"/>
            <a:ext cx="7123112" cy="711200"/>
          </a:xfrm>
          <a:prstGeom prst="actionButtonBlank">
            <a:avLst/>
          </a:prstGeom>
          <a:gradFill rotWithShape="0">
            <a:gsLst>
              <a:gs pos="0">
                <a:srgbClr val="DDDDDD"/>
              </a:gs>
              <a:gs pos="50000">
                <a:srgbClr val="FFFFFF"/>
              </a:gs>
              <a:gs pos="100000">
                <a:srgbClr val="DDDDDD"/>
              </a:gs>
            </a:gsLst>
            <a:lin ang="5400000" scaled="1"/>
          </a:gradFill>
          <a:ln w="0">
            <a:solidFill>
              <a:schemeClr val="folHlink"/>
            </a:solidFill>
            <a:miter lim="800000"/>
            <a:headEnd/>
            <a:tailEnd/>
          </a:ln>
          <a:effectLst>
            <a:outerShdw dist="74053" dir="19742175" algn="ctr" rotWithShape="0">
              <a:schemeClr val="folHlink"/>
            </a:outerShdw>
          </a:effectLst>
        </p:spPr>
        <p:txBody>
          <a:bodyPr wrap="none" anchor="ctr"/>
          <a:lstStyle/>
          <a:p>
            <a:r>
              <a:rPr kumimoji="1" lang="en-US" altLang="zh-CN" sz="2800" b="1" dirty="0">
                <a:solidFill>
                  <a:srgbClr val="000000"/>
                </a:solidFill>
                <a:latin typeface="宋体" panose="02010600030101010101" pitchFamily="2" charset="-122"/>
                <a:hlinkClick r:id="rId2" action="ppaction://hlinksldjump"/>
              </a:rPr>
              <a:t>2  </a:t>
            </a:r>
            <a:r>
              <a:rPr kumimoji="1" lang="zh-CN" altLang="en-US" sz="2800" b="1" dirty="0">
                <a:solidFill>
                  <a:srgbClr val="000000"/>
                </a:solidFill>
                <a:latin typeface="宋体" panose="02010600030101010101" pitchFamily="2" charset="-122"/>
                <a:hlinkClick r:id="rId2" action="ppaction://hlinksldjump"/>
              </a:rPr>
              <a:t>正等轴测图的画法</a:t>
            </a:r>
            <a:r>
              <a:rPr kumimoji="1" lang="zh-CN" altLang="en-US" sz="2800" b="1" dirty="0">
                <a:latin typeface="宋体" panose="02010600030101010101" pitchFamily="2" charset="-122"/>
                <a:hlinkClick r:id="rId2" action="ppaction://hlinksldjump"/>
              </a:rPr>
              <a:t> </a:t>
            </a:r>
            <a:endParaRPr kumimoji="1" lang="zh-CN" altLang="en-US" sz="2800" b="1" dirty="0">
              <a:latin typeface="宋体" panose="02010600030101010101" pitchFamily="2" charset="-122"/>
            </a:endParaRPr>
          </a:p>
        </p:txBody>
      </p:sp>
      <p:sp>
        <p:nvSpPr>
          <p:cNvPr id="2056" name="AutoShape 8">
            <a:hlinkClick r:id="" action="ppaction://noaction" highlightClick="1"/>
            <a:extLst>
              <a:ext uri="{FF2B5EF4-FFF2-40B4-BE49-F238E27FC236}">
                <a16:creationId xmlns:a16="http://schemas.microsoft.com/office/drawing/2014/main" id="{8BD3F2EA-30F4-4B29-B3BF-34D97B8179DC}"/>
              </a:ext>
            </a:extLst>
          </p:cNvPr>
          <p:cNvSpPr>
            <a:spLocks noChangeArrowheads="1"/>
          </p:cNvSpPr>
          <p:nvPr/>
        </p:nvSpPr>
        <p:spPr bwMode="auto">
          <a:xfrm>
            <a:off x="1331913" y="2133600"/>
            <a:ext cx="7123112" cy="711200"/>
          </a:xfrm>
          <a:prstGeom prst="actionButtonBlank">
            <a:avLst/>
          </a:prstGeom>
          <a:gradFill rotWithShape="0">
            <a:gsLst>
              <a:gs pos="0">
                <a:srgbClr val="DDDDDD"/>
              </a:gs>
              <a:gs pos="50000">
                <a:srgbClr val="FFFFFF"/>
              </a:gs>
              <a:gs pos="100000">
                <a:srgbClr val="DDDDDD"/>
              </a:gs>
            </a:gsLst>
            <a:lin ang="5400000" scaled="1"/>
          </a:gradFill>
          <a:ln w="0">
            <a:solidFill>
              <a:schemeClr val="folHlink"/>
            </a:solidFill>
            <a:miter lim="800000"/>
            <a:headEnd/>
            <a:tailEnd/>
          </a:ln>
          <a:effectLst>
            <a:outerShdw dist="74053" dir="19742175" algn="ctr" rotWithShape="0">
              <a:schemeClr val="folHlink"/>
            </a:outerShdw>
          </a:effectLst>
        </p:spPr>
        <p:txBody>
          <a:bodyPr wrap="none" anchor="ctr"/>
          <a:lstStyle/>
          <a:p>
            <a:r>
              <a:rPr kumimoji="1" lang="en-US" altLang="zh-CN" sz="2800" b="1" dirty="0">
                <a:solidFill>
                  <a:srgbClr val="000000"/>
                </a:solidFill>
                <a:latin typeface="宋体" panose="02010600030101010101" pitchFamily="2" charset="-122"/>
                <a:ea typeface=""/>
                <a:hlinkClick r:id="rId3" action="ppaction://hlinksldjump"/>
              </a:rPr>
              <a:t>1  </a:t>
            </a:r>
            <a:r>
              <a:rPr kumimoji="1" lang="zh-CN" altLang="en-US" sz="2800" b="1" dirty="0">
                <a:solidFill>
                  <a:srgbClr val="000000"/>
                </a:solidFill>
                <a:latin typeface="宋体" panose="02010600030101010101" pitchFamily="2" charset="-122"/>
                <a:ea typeface=""/>
                <a:hlinkClick r:id="rId3" action="ppaction://hlinksldjump"/>
              </a:rPr>
              <a:t>轴测投影的基本知识</a:t>
            </a:r>
            <a:r>
              <a:rPr kumimoji="1" lang="zh-CN" altLang="en-US" sz="3200" b="1" dirty="0">
                <a:solidFill>
                  <a:srgbClr val="FF0000"/>
                </a:solidFill>
                <a:latin typeface="宋体" panose="02010600030101010101" pitchFamily="2" charset="-122"/>
                <a:ea typeface=""/>
                <a:hlinkClick r:id="rId3" action="ppaction://hlinksldjump"/>
              </a:rPr>
              <a:t> </a:t>
            </a:r>
            <a:endParaRPr kumimoji="1" lang="zh-CN" altLang="en-US" sz="2800" b="1" dirty="0">
              <a:solidFill>
                <a:srgbClr val="FF0000"/>
              </a:solidFill>
              <a:latin typeface="宋体" panose="02010600030101010101" pitchFamily="2" charset="-122"/>
              <a:ea typeface=""/>
            </a:endParaRPr>
          </a:p>
        </p:txBody>
      </p:sp>
      <p:sp>
        <p:nvSpPr>
          <p:cNvPr id="2057" name="AutoShape 9">
            <a:hlinkClick r:id="" action="ppaction://noaction" highlightClick="1"/>
            <a:extLst>
              <a:ext uri="{FF2B5EF4-FFF2-40B4-BE49-F238E27FC236}">
                <a16:creationId xmlns:a16="http://schemas.microsoft.com/office/drawing/2014/main" id="{1181186C-3562-4729-9EE1-5CDAF2A39562}"/>
              </a:ext>
            </a:extLst>
          </p:cNvPr>
          <p:cNvSpPr>
            <a:spLocks noChangeArrowheads="1"/>
          </p:cNvSpPr>
          <p:nvPr/>
        </p:nvSpPr>
        <p:spPr bwMode="auto">
          <a:xfrm>
            <a:off x="1331913" y="4292600"/>
            <a:ext cx="7123112" cy="711200"/>
          </a:xfrm>
          <a:prstGeom prst="actionButtonBlank">
            <a:avLst/>
          </a:prstGeom>
          <a:gradFill rotWithShape="0">
            <a:gsLst>
              <a:gs pos="0">
                <a:srgbClr val="DDDDDD"/>
              </a:gs>
              <a:gs pos="50000">
                <a:srgbClr val="FFFFFF"/>
              </a:gs>
              <a:gs pos="100000">
                <a:srgbClr val="DDDDDD"/>
              </a:gs>
            </a:gsLst>
            <a:lin ang="5400000" scaled="1"/>
          </a:gradFill>
          <a:ln w="0">
            <a:solidFill>
              <a:schemeClr val="folHlink"/>
            </a:solidFill>
            <a:miter lim="800000"/>
            <a:headEnd/>
            <a:tailEnd/>
          </a:ln>
          <a:effectLst>
            <a:outerShdw dist="74053" dir="19742175" algn="ctr" rotWithShape="0">
              <a:schemeClr val="folHlink"/>
            </a:outerShdw>
          </a:effectLst>
        </p:spPr>
        <p:txBody>
          <a:bodyPr wrap="none" anchor="ctr"/>
          <a:lstStyle/>
          <a:p>
            <a:r>
              <a:rPr kumimoji="1" lang="en-US" altLang="zh-CN" sz="2800" b="1" dirty="0">
                <a:solidFill>
                  <a:srgbClr val="000000"/>
                </a:solidFill>
                <a:latin typeface="宋体" panose="02010600030101010101" pitchFamily="2" charset="-122"/>
                <a:hlinkClick r:id="rId4" action="ppaction://hlinksldjump"/>
              </a:rPr>
              <a:t>3  </a:t>
            </a:r>
            <a:r>
              <a:rPr kumimoji="1" lang="zh-CN" altLang="en-US" sz="2800" b="1" dirty="0">
                <a:solidFill>
                  <a:srgbClr val="000000"/>
                </a:solidFill>
                <a:latin typeface="宋体" panose="02010600030101010101" pitchFamily="2" charset="-122"/>
                <a:hlinkClick r:id="rId4" action="ppaction://hlinksldjump"/>
              </a:rPr>
              <a:t>斜二等轴测图的画法</a:t>
            </a:r>
            <a:r>
              <a:rPr kumimoji="1" lang="zh-CN" altLang="en-US" sz="2800" b="1" dirty="0">
                <a:latin typeface="宋体" panose="02010600030101010101" pitchFamily="2" charset="-122"/>
                <a:hlinkClick r:id="rId4" action="ppaction://hlinksldjump"/>
              </a:rPr>
              <a:t> </a:t>
            </a:r>
            <a:endParaRPr kumimoji="1" lang="zh-CN" altLang="en-US" sz="2800" b="1" dirty="0">
              <a:latin typeface="宋体" panose="02010600030101010101" pitchFamily="2" charset="-122"/>
            </a:endParaRPr>
          </a:p>
        </p:txBody>
      </p:sp>
      <p:sp>
        <p:nvSpPr>
          <p:cNvPr id="2062" name="AutoShape 14">
            <a:hlinkClick r:id="rId5" action="ppaction://hlinkpres?slideindex=2&amp;slidetitle=幻灯片 2" highlightClick="1"/>
            <a:extLst>
              <a:ext uri="{FF2B5EF4-FFF2-40B4-BE49-F238E27FC236}">
                <a16:creationId xmlns:a16="http://schemas.microsoft.com/office/drawing/2014/main" id="{BFFD4A13-68C0-455B-A7FA-0497ACF81D51}"/>
              </a:ext>
            </a:extLst>
          </p:cNvPr>
          <p:cNvSpPr>
            <a:spLocks noChangeArrowheads="1"/>
          </p:cNvSpPr>
          <p:nvPr/>
        </p:nvSpPr>
        <p:spPr bwMode="auto">
          <a:xfrm>
            <a:off x="8172450" y="6381750"/>
            <a:ext cx="971550" cy="476250"/>
          </a:xfrm>
          <a:prstGeom prst="actionButtonReturn">
            <a:avLst/>
          </a:prstGeom>
          <a:solidFill>
            <a:schemeClr val="accent1"/>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63" name="AutoShape 15">
            <a:hlinkClick r:id="" action="ppaction://noaction" highlightClick="1"/>
            <a:extLst>
              <a:ext uri="{FF2B5EF4-FFF2-40B4-BE49-F238E27FC236}">
                <a16:creationId xmlns:a16="http://schemas.microsoft.com/office/drawing/2014/main" id="{CA07A6C6-E30D-4BAD-84AD-99801BC0738E}"/>
              </a:ext>
            </a:extLst>
          </p:cNvPr>
          <p:cNvSpPr>
            <a:spLocks noChangeArrowheads="1"/>
          </p:cNvSpPr>
          <p:nvPr/>
        </p:nvSpPr>
        <p:spPr bwMode="auto">
          <a:xfrm>
            <a:off x="1336675" y="5238750"/>
            <a:ext cx="7123113" cy="711200"/>
          </a:xfrm>
          <a:prstGeom prst="actionButtonBlank">
            <a:avLst/>
          </a:prstGeom>
          <a:gradFill rotWithShape="0">
            <a:gsLst>
              <a:gs pos="0">
                <a:srgbClr val="DDDDDD"/>
              </a:gs>
              <a:gs pos="50000">
                <a:srgbClr val="FFFFFF"/>
              </a:gs>
              <a:gs pos="100000">
                <a:srgbClr val="DDDDDD"/>
              </a:gs>
            </a:gsLst>
            <a:lin ang="5400000" scaled="1"/>
          </a:gradFill>
          <a:ln w="0">
            <a:solidFill>
              <a:schemeClr val="folHlink"/>
            </a:solidFill>
            <a:miter lim="800000"/>
            <a:headEnd/>
            <a:tailEnd/>
          </a:ln>
          <a:effectLst>
            <a:outerShdw dist="74053" dir="19742175" algn="ctr" rotWithShape="0">
              <a:schemeClr val="folHlink"/>
            </a:outerShdw>
          </a:effectLst>
        </p:spPr>
        <p:txBody>
          <a:bodyPr wrap="none" anchor="ctr"/>
          <a:lstStyle/>
          <a:p>
            <a:r>
              <a:rPr kumimoji="1" lang="en-US" altLang="zh-CN" sz="2800" b="1" dirty="0">
                <a:solidFill>
                  <a:srgbClr val="000000"/>
                </a:solidFill>
                <a:latin typeface="宋体" panose="02010600030101010101" pitchFamily="2" charset="-122"/>
                <a:hlinkClick r:id="rId4" action="ppaction://hlinksldjump"/>
              </a:rPr>
              <a:t>4  </a:t>
            </a:r>
            <a:r>
              <a:rPr kumimoji="1" lang="zh-CN" altLang="en-US" sz="2800" b="1" dirty="0">
                <a:solidFill>
                  <a:srgbClr val="000000"/>
                </a:solidFill>
                <a:latin typeface="宋体" panose="02010600030101010101" pitchFamily="2" charset="-122"/>
                <a:hlinkClick r:id="rId4" action="ppaction://hlinksldjump"/>
              </a:rPr>
              <a:t>轴测图的尺寸标注法</a:t>
            </a:r>
            <a:r>
              <a:rPr kumimoji="1" lang="zh-CN" altLang="en-US" sz="2800" b="1" dirty="0">
                <a:latin typeface="宋体" panose="02010600030101010101" pitchFamily="2" charset="-122"/>
                <a:hlinkClick r:id="rId4" action="ppaction://hlinksldjump"/>
              </a:rPr>
              <a:t> </a:t>
            </a:r>
            <a:endParaRPr kumimoji="1" lang="zh-CN" altLang="en-US" sz="2800" b="1" dirty="0">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p:cTn id="7" dur="500" fill="hold"/>
                                        <p:tgtEl>
                                          <p:spTgt spid="2050"/>
                                        </p:tgtEl>
                                        <p:attrNameLst>
                                          <p:attrName>ppt_w</p:attrName>
                                        </p:attrNameLst>
                                      </p:cBhvr>
                                      <p:tavLst>
                                        <p:tav tm="0">
                                          <p:val>
                                            <p:fltVal val="0"/>
                                          </p:val>
                                        </p:tav>
                                        <p:tav tm="100000">
                                          <p:val>
                                            <p:strVal val="#ppt_w"/>
                                          </p:val>
                                        </p:tav>
                                      </p:tavLst>
                                    </p:anim>
                                    <p:anim calcmode="lin" valueType="num">
                                      <p:cBhvr>
                                        <p:cTn id="8" dur="500" fill="hold"/>
                                        <p:tgtEl>
                                          <p:spTgt spid="2050"/>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ntr" presetSubtype="10" fill="hold" grpId="0" nodeType="clickEffect" nodePh="1">
                                  <p:stCondLst>
                                    <p:cond delay="0"/>
                                  </p:stCondLst>
                                  <p:endCondLst>
                                    <p:cond evt="begin" delay="0">
                                      <p:tn val="11"/>
                                    </p:cond>
                                  </p:endCondLst>
                                  <p:childTnLst>
                                    <p:set>
                                      <p:cBhvr>
                                        <p:cTn id="12" dur="1" fill="hold">
                                          <p:stCondLst>
                                            <p:cond delay="0"/>
                                          </p:stCondLst>
                                        </p:cTn>
                                        <p:tgtEl>
                                          <p:spTgt spid="2054"/>
                                        </p:tgtEl>
                                        <p:attrNameLst>
                                          <p:attrName>style.visibility</p:attrName>
                                        </p:attrNameLst>
                                      </p:cBhvr>
                                      <p:to>
                                        <p:strVal val="visible"/>
                                      </p:to>
                                    </p:set>
                                    <p:animEffect transition="in" filter="checkerboard(across)">
                                      <p:cBhvr>
                                        <p:cTn id="13" dur="500"/>
                                        <p:tgtEl>
                                          <p:spTgt spid="2054"/>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2055"/>
                                        </p:tgtEl>
                                        <p:attrNameLst>
                                          <p:attrName>style.visibility</p:attrName>
                                        </p:attrNameLst>
                                      </p:cBhvr>
                                      <p:to>
                                        <p:strVal val="visible"/>
                                      </p:to>
                                    </p:set>
                                    <p:animEffect transition="in" filter="checkerboard(across)">
                                      <p:cBhvr>
                                        <p:cTn id="16" dur="500"/>
                                        <p:tgtEl>
                                          <p:spTgt spid="2055"/>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2056"/>
                                        </p:tgtEl>
                                        <p:attrNameLst>
                                          <p:attrName>style.visibility</p:attrName>
                                        </p:attrNameLst>
                                      </p:cBhvr>
                                      <p:to>
                                        <p:strVal val="visible"/>
                                      </p:to>
                                    </p:set>
                                    <p:animEffect transition="in" filter="checkerboard(across)">
                                      <p:cBhvr>
                                        <p:cTn id="19" dur="500"/>
                                        <p:tgtEl>
                                          <p:spTgt spid="2056"/>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2057"/>
                                        </p:tgtEl>
                                        <p:attrNameLst>
                                          <p:attrName>style.visibility</p:attrName>
                                        </p:attrNameLst>
                                      </p:cBhvr>
                                      <p:to>
                                        <p:strVal val="visible"/>
                                      </p:to>
                                    </p:set>
                                    <p:animEffect transition="in" filter="checkerboard(across)">
                                      <p:cBhvr>
                                        <p:cTn id="22" dur="500"/>
                                        <p:tgtEl>
                                          <p:spTgt spid="2057"/>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2063"/>
                                        </p:tgtEl>
                                        <p:attrNameLst>
                                          <p:attrName>style.visibility</p:attrName>
                                        </p:attrNameLst>
                                      </p:cBhvr>
                                      <p:to>
                                        <p:strVal val="visible"/>
                                      </p:to>
                                    </p:set>
                                    <p:animEffect transition="in" filter="checkerboard(across)">
                                      <p:cBhvr>
                                        <p:cTn id="25" dur="500"/>
                                        <p:tgtEl>
                                          <p:spTgt spid="20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p:bldP spid="2054" grpId="0"/>
      <p:bldP spid="2055" grpId="0" animBg="1"/>
      <p:bldP spid="2056" grpId="0" animBg="1"/>
      <p:bldP spid="2057" grpId="0" animBg="1"/>
      <p:bldP spid="206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7899671C-EA09-4413-B095-91A72E1C6A45}"/>
              </a:ext>
            </a:extLst>
          </p:cNvPr>
          <p:cNvSpPr>
            <a:spLocks noGrp="1" noRot="1" noChangeArrowheads="1"/>
          </p:cNvSpPr>
          <p:nvPr>
            <p:ph type="title"/>
          </p:nvPr>
        </p:nvSpPr>
        <p:spPr>
          <a:xfrm>
            <a:off x="107950" y="260350"/>
            <a:ext cx="8540750" cy="1143000"/>
          </a:xfrm>
        </p:spPr>
        <p:txBody>
          <a:bodyPr/>
          <a:lstStyle/>
          <a:p>
            <a:r>
              <a:rPr kumimoji="1" lang="en-US" altLang="zh-CN" sz="4000" b="1" dirty="0">
                <a:solidFill>
                  <a:srgbClr val="000000"/>
                </a:solidFill>
              </a:rPr>
              <a:t>1  </a:t>
            </a:r>
            <a:r>
              <a:rPr kumimoji="1" lang="zh-CN" altLang="en-US" sz="4000" b="1" dirty="0">
                <a:solidFill>
                  <a:srgbClr val="000000"/>
                </a:solidFill>
              </a:rPr>
              <a:t>轴测投影的基本知识</a:t>
            </a:r>
          </a:p>
        </p:txBody>
      </p:sp>
      <p:sp>
        <p:nvSpPr>
          <p:cNvPr id="4099" name="Rectangle 3">
            <a:extLst>
              <a:ext uri="{FF2B5EF4-FFF2-40B4-BE49-F238E27FC236}">
                <a16:creationId xmlns:a16="http://schemas.microsoft.com/office/drawing/2014/main" id="{E83289BD-86E7-451A-98B9-7B2D701387C2}"/>
              </a:ext>
            </a:extLst>
          </p:cNvPr>
          <p:cNvSpPr>
            <a:spLocks noGrp="1" noRot="1" noChangeArrowheads="1"/>
          </p:cNvSpPr>
          <p:nvPr>
            <p:ph type="body" idx="1"/>
          </p:nvPr>
        </p:nvSpPr>
        <p:spPr>
          <a:xfrm>
            <a:off x="250825" y="1088740"/>
            <a:ext cx="8893175" cy="4595812"/>
          </a:xfrm>
        </p:spPr>
        <p:txBody>
          <a:bodyPr/>
          <a:lstStyle/>
          <a:p>
            <a:pPr>
              <a:buFont typeface="Wingdings" panose="05000000000000000000" pitchFamily="2" charset="2"/>
              <a:buNone/>
            </a:pPr>
            <a:r>
              <a:rPr lang="zh-CN" altLang="en-US" sz="3600" b="1" dirty="0">
                <a:solidFill>
                  <a:srgbClr val="000000"/>
                </a:solidFill>
              </a:rPr>
              <a:t>一、轴测图的形成和投影特性</a:t>
            </a:r>
          </a:p>
          <a:p>
            <a:pPr>
              <a:buFont typeface="Wingdings" panose="05000000000000000000" pitchFamily="2" charset="2"/>
              <a:buNone/>
            </a:pPr>
            <a:r>
              <a:rPr lang="zh-CN" altLang="en-US" dirty="0">
                <a:solidFill>
                  <a:srgbClr val="FF0000"/>
                </a:solidFill>
              </a:rPr>
              <a:t>   </a:t>
            </a:r>
            <a:r>
              <a:rPr lang="zh-CN" altLang="en-US" b="1" dirty="0">
                <a:solidFill>
                  <a:schemeClr val="accent2"/>
                </a:solidFill>
                <a:latin typeface="楷体_GB2312" pitchFamily="49" charset="-122"/>
                <a:ea typeface="楷体_GB2312" pitchFamily="49" charset="-122"/>
              </a:rPr>
              <a:t>轴测图</a:t>
            </a:r>
            <a:r>
              <a:rPr lang="zh-CN" altLang="en-US" dirty="0">
                <a:solidFill>
                  <a:schemeClr val="accent2"/>
                </a:solidFill>
                <a:latin typeface="楷体_GB2312" pitchFamily="49" charset="-122"/>
                <a:ea typeface="楷体_GB2312" pitchFamily="49" charset="-122"/>
              </a:rPr>
              <a:t>：</a:t>
            </a:r>
            <a:r>
              <a:rPr lang="zh-CN" altLang="en-US" sz="2800" b="1" dirty="0">
                <a:solidFill>
                  <a:srgbClr val="000000"/>
                </a:solidFill>
                <a:latin typeface="楷体_GB2312" pitchFamily="49" charset="-122"/>
                <a:ea typeface="楷体_GB2312" pitchFamily="49" charset="-122"/>
              </a:rPr>
              <a:t>将物体连同其参考直角坐标系，沿不平行于任一坐标面的方向，用平行投影法将其投射在单一投影面上，所得到的具有立体感的图形。</a:t>
            </a:r>
          </a:p>
          <a:p>
            <a:pPr>
              <a:buFont typeface="Wingdings" panose="05000000000000000000" pitchFamily="2" charset="2"/>
              <a:buNone/>
            </a:pPr>
            <a:r>
              <a:rPr lang="zh-CN" altLang="en-US" sz="2800" dirty="0">
                <a:solidFill>
                  <a:srgbClr val="000000"/>
                </a:solidFill>
                <a:latin typeface="楷体_GB2312" pitchFamily="49" charset="-122"/>
                <a:ea typeface="楷体_GB2312" pitchFamily="49" charset="-122"/>
              </a:rPr>
              <a:t>  </a:t>
            </a:r>
            <a:r>
              <a:rPr lang="zh-CN" altLang="en-US" b="1" dirty="0">
                <a:solidFill>
                  <a:schemeClr val="accent2"/>
                </a:solidFill>
                <a:latin typeface="楷体_GB2312" pitchFamily="49" charset="-122"/>
                <a:ea typeface="楷体_GB2312" pitchFamily="49" charset="-122"/>
              </a:rPr>
              <a:t>特性</a:t>
            </a:r>
            <a:r>
              <a:rPr lang="zh-CN" altLang="en-US" dirty="0">
                <a:solidFill>
                  <a:schemeClr val="accent2"/>
                </a:solidFill>
                <a:latin typeface="楷体_GB2312" pitchFamily="49" charset="-122"/>
                <a:ea typeface="楷体_GB2312" pitchFamily="49" charset="-122"/>
              </a:rPr>
              <a:t>：</a:t>
            </a:r>
            <a:r>
              <a:rPr lang="en-US" altLang="zh-CN" sz="2800" b="1" dirty="0">
                <a:solidFill>
                  <a:srgbClr val="000000"/>
                </a:solidFill>
                <a:latin typeface="楷体_GB2312" pitchFamily="49" charset="-122"/>
                <a:ea typeface="楷体_GB2312" pitchFamily="49" charset="-122"/>
              </a:rPr>
              <a:t>1.</a:t>
            </a:r>
            <a:r>
              <a:rPr lang="zh-CN" altLang="en-US" sz="2800" b="1" dirty="0">
                <a:solidFill>
                  <a:srgbClr val="000000"/>
                </a:solidFill>
                <a:latin typeface="楷体_GB2312" pitchFamily="49" charset="-122"/>
                <a:ea typeface="楷体_GB2312" pitchFamily="49" charset="-122"/>
              </a:rPr>
              <a:t>立体上互相平行的线段，在轴测图上仍互       相平行；</a:t>
            </a:r>
          </a:p>
          <a:p>
            <a:pPr>
              <a:buFont typeface="Wingdings" panose="05000000000000000000" pitchFamily="2" charset="2"/>
              <a:buNone/>
            </a:pPr>
            <a:r>
              <a:rPr lang="zh-CN" altLang="en-US" sz="2800" b="1" dirty="0">
                <a:solidFill>
                  <a:srgbClr val="000000"/>
                </a:solidFill>
                <a:latin typeface="楷体_GB2312" pitchFamily="49" charset="-122"/>
                <a:ea typeface="楷体_GB2312" pitchFamily="49" charset="-122"/>
              </a:rPr>
              <a:t>         </a:t>
            </a:r>
            <a:r>
              <a:rPr lang="en-US" altLang="zh-CN" sz="2800" b="1" dirty="0">
                <a:solidFill>
                  <a:srgbClr val="000000"/>
                </a:solidFill>
                <a:latin typeface="楷体_GB2312" pitchFamily="49" charset="-122"/>
                <a:ea typeface="楷体_GB2312" pitchFamily="49" charset="-122"/>
              </a:rPr>
              <a:t>2.</a:t>
            </a:r>
            <a:r>
              <a:rPr lang="zh-CN" altLang="en-US" sz="2800" b="1" dirty="0">
                <a:solidFill>
                  <a:srgbClr val="000000"/>
                </a:solidFill>
                <a:latin typeface="楷体_GB2312" pitchFamily="49" charset="-122"/>
                <a:ea typeface="楷体_GB2312" pitchFamily="49" charset="-122"/>
              </a:rPr>
              <a:t>立体上两平行线段或同一直线上的两线段   长度之比值，在轴测图上保持不变；</a:t>
            </a:r>
          </a:p>
          <a:p>
            <a:pPr>
              <a:buFont typeface="Wingdings" panose="05000000000000000000" pitchFamily="2" charset="2"/>
              <a:buNone/>
            </a:pPr>
            <a:r>
              <a:rPr lang="zh-CN" altLang="en-US" sz="2800" b="1" dirty="0">
                <a:solidFill>
                  <a:srgbClr val="000000"/>
                </a:solidFill>
                <a:latin typeface="楷体_GB2312" pitchFamily="49" charset="-122"/>
                <a:ea typeface="楷体_GB2312" pitchFamily="49" charset="-122"/>
              </a:rPr>
              <a:t>         </a:t>
            </a:r>
            <a:r>
              <a:rPr lang="en-US" altLang="zh-CN" sz="2800" b="1" dirty="0">
                <a:solidFill>
                  <a:srgbClr val="000000"/>
                </a:solidFill>
                <a:latin typeface="楷体_GB2312" pitchFamily="49" charset="-122"/>
                <a:ea typeface="楷体_GB2312" pitchFamily="49" charset="-122"/>
              </a:rPr>
              <a:t>3.</a:t>
            </a:r>
            <a:r>
              <a:rPr lang="zh-CN" altLang="en-US" sz="2800" b="1" dirty="0">
                <a:solidFill>
                  <a:srgbClr val="000000"/>
                </a:solidFill>
                <a:latin typeface="楷体_GB2312" pitchFamily="49" charset="-122"/>
                <a:ea typeface="楷体_GB2312" pitchFamily="49" charset="-122"/>
              </a:rPr>
              <a:t>立体上平行于轴测投影面的直线和平面，在轴测图上反映实长和实形。</a:t>
            </a:r>
          </a:p>
        </p:txBody>
      </p:sp>
      <p:sp>
        <p:nvSpPr>
          <p:cNvPr id="4103" name="AutoShape 7">
            <a:hlinkClick r:id="rId2" action="ppaction://hlinksldjump" highlightClick="1"/>
            <a:extLst>
              <a:ext uri="{FF2B5EF4-FFF2-40B4-BE49-F238E27FC236}">
                <a16:creationId xmlns:a16="http://schemas.microsoft.com/office/drawing/2014/main" id="{177A2DFD-60C0-46E1-A9C4-3FBCE784845F}"/>
              </a:ext>
            </a:extLst>
          </p:cNvPr>
          <p:cNvSpPr>
            <a:spLocks noChangeArrowheads="1"/>
          </p:cNvSpPr>
          <p:nvPr/>
        </p:nvSpPr>
        <p:spPr bwMode="auto">
          <a:xfrm>
            <a:off x="8243888" y="6381750"/>
            <a:ext cx="900112" cy="47625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098"/>
                                        </p:tgtEl>
                                        <p:attrNameLst>
                                          <p:attrName>style.visibility</p:attrName>
                                        </p:attrNameLst>
                                      </p:cBhvr>
                                      <p:to>
                                        <p:strVal val="visible"/>
                                      </p:to>
                                    </p:set>
                                    <p:anim calcmode="lin" valueType="num">
                                      <p:cBhvr>
                                        <p:cTn id="7" dur="500" fill="hold"/>
                                        <p:tgtEl>
                                          <p:spTgt spid="4098"/>
                                        </p:tgtEl>
                                        <p:attrNameLst>
                                          <p:attrName>ppt_w</p:attrName>
                                        </p:attrNameLst>
                                      </p:cBhvr>
                                      <p:tavLst>
                                        <p:tav tm="0">
                                          <p:val>
                                            <p:fltVal val="0"/>
                                          </p:val>
                                        </p:tav>
                                        <p:tav tm="100000">
                                          <p:val>
                                            <p:strVal val="#ppt_w"/>
                                          </p:val>
                                        </p:tav>
                                      </p:tavLst>
                                    </p:anim>
                                    <p:anim calcmode="lin" valueType="num">
                                      <p:cBhvr>
                                        <p:cTn id="8" dur="500" fill="hold"/>
                                        <p:tgtEl>
                                          <p:spTgt spid="4098"/>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099">
                                            <p:txEl>
                                              <p:pRg st="0" end="0"/>
                                            </p:txEl>
                                          </p:spTgt>
                                        </p:tgtEl>
                                        <p:attrNameLst>
                                          <p:attrName>style.visibility</p:attrName>
                                        </p:attrNameLst>
                                      </p:cBhvr>
                                      <p:to>
                                        <p:strVal val="visible"/>
                                      </p:to>
                                    </p:set>
                                    <p:anim calcmode="lin" valueType="num">
                                      <p:cBhvr additive="base">
                                        <p:cTn id="13" dur="500" fill="hold"/>
                                        <p:tgtEl>
                                          <p:spTgt spid="4099">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0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5" presetClass="entr" presetSubtype="10" fill="hold" nodeType="clickEffect">
                                  <p:stCondLst>
                                    <p:cond delay="0"/>
                                  </p:stCondLst>
                                  <p:childTnLst>
                                    <p:set>
                                      <p:cBhvr>
                                        <p:cTn id="18" dur="1" fill="hold">
                                          <p:stCondLst>
                                            <p:cond delay="0"/>
                                          </p:stCondLst>
                                        </p:cTn>
                                        <p:tgtEl>
                                          <p:spTgt spid="4099">
                                            <p:txEl>
                                              <p:pRg st="1" end="1"/>
                                            </p:txEl>
                                          </p:spTgt>
                                        </p:tgtEl>
                                        <p:attrNameLst>
                                          <p:attrName>style.visibility</p:attrName>
                                        </p:attrNameLst>
                                      </p:cBhvr>
                                      <p:to>
                                        <p:strVal val="visible"/>
                                      </p:to>
                                    </p:set>
                                    <p:animEffect transition="in" filter="checkerboard(across)">
                                      <p:cBhvr>
                                        <p:cTn id="19" dur="500"/>
                                        <p:tgtEl>
                                          <p:spTgt spid="4099">
                                            <p:txEl>
                                              <p:pRg st="1" end="1"/>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 presetClass="entr" presetSubtype="10" fill="hold" nodeType="clickEffect">
                                  <p:stCondLst>
                                    <p:cond delay="0"/>
                                  </p:stCondLst>
                                  <p:childTnLst>
                                    <p:set>
                                      <p:cBhvr>
                                        <p:cTn id="23" dur="1" fill="hold">
                                          <p:stCondLst>
                                            <p:cond delay="0"/>
                                          </p:stCondLst>
                                        </p:cTn>
                                        <p:tgtEl>
                                          <p:spTgt spid="4099">
                                            <p:txEl>
                                              <p:pRg st="2" end="2"/>
                                            </p:txEl>
                                          </p:spTgt>
                                        </p:tgtEl>
                                        <p:attrNameLst>
                                          <p:attrName>style.visibility</p:attrName>
                                        </p:attrNameLst>
                                      </p:cBhvr>
                                      <p:to>
                                        <p:strVal val="visible"/>
                                      </p:to>
                                    </p:set>
                                    <p:animEffect transition="in" filter="checkerboard(across)">
                                      <p:cBhvr>
                                        <p:cTn id="24" dur="500"/>
                                        <p:tgtEl>
                                          <p:spTgt spid="4099">
                                            <p:txEl>
                                              <p:pRg st="2" end="2"/>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 presetClass="entr" presetSubtype="10" fill="hold" nodeType="clickEffect">
                                  <p:stCondLst>
                                    <p:cond delay="0"/>
                                  </p:stCondLst>
                                  <p:childTnLst>
                                    <p:set>
                                      <p:cBhvr>
                                        <p:cTn id="28" dur="1" fill="hold">
                                          <p:stCondLst>
                                            <p:cond delay="0"/>
                                          </p:stCondLst>
                                        </p:cTn>
                                        <p:tgtEl>
                                          <p:spTgt spid="4099">
                                            <p:txEl>
                                              <p:pRg st="3" end="3"/>
                                            </p:txEl>
                                          </p:spTgt>
                                        </p:tgtEl>
                                        <p:attrNameLst>
                                          <p:attrName>style.visibility</p:attrName>
                                        </p:attrNameLst>
                                      </p:cBhvr>
                                      <p:to>
                                        <p:strVal val="visible"/>
                                      </p:to>
                                    </p:set>
                                    <p:animEffect transition="in" filter="checkerboard(across)">
                                      <p:cBhvr>
                                        <p:cTn id="29" dur="500"/>
                                        <p:tgtEl>
                                          <p:spTgt spid="4099">
                                            <p:txEl>
                                              <p:pRg st="3" end="3"/>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 presetClass="entr" presetSubtype="10" fill="hold" nodeType="clickEffect">
                                  <p:stCondLst>
                                    <p:cond delay="0"/>
                                  </p:stCondLst>
                                  <p:childTnLst>
                                    <p:set>
                                      <p:cBhvr>
                                        <p:cTn id="33" dur="1" fill="hold">
                                          <p:stCondLst>
                                            <p:cond delay="0"/>
                                          </p:stCondLst>
                                        </p:cTn>
                                        <p:tgtEl>
                                          <p:spTgt spid="4099">
                                            <p:txEl>
                                              <p:pRg st="4" end="4"/>
                                            </p:txEl>
                                          </p:spTgt>
                                        </p:tgtEl>
                                        <p:attrNameLst>
                                          <p:attrName>style.visibility</p:attrName>
                                        </p:attrNameLst>
                                      </p:cBhvr>
                                      <p:to>
                                        <p:strVal val="visible"/>
                                      </p:to>
                                    </p:set>
                                    <p:animEffect transition="in" filter="checkerboard(across)">
                                      <p:cBhvr>
                                        <p:cTn id="34" dur="500"/>
                                        <p:tgtEl>
                                          <p:spTgt spid="40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a:extLst>
              <a:ext uri="{FF2B5EF4-FFF2-40B4-BE49-F238E27FC236}">
                <a16:creationId xmlns:a16="http://schemas.microsoft.com/office/drawing/2014/main" id="{B30B1506-B4BA-4FFF-879D-5099EA36D26F}"/>
              </a:ext>
            </a:extLst>
          </p:cNvPr>
          <p:cNvSpPr txBox="1">
            <a:spLocks noChangeArrowheads="1"/>
          </p:cNvSpPr>
          <p:nvPr/>
        </p:nvSpPr>
        <p:spPr bwMode="auto">
          <a:xfrm>
            <a:off x="323528" y="546511"/>
            <a:ext cx="27606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dirty="0">
                <a:solidFill>
                  <a:srgbClr val="CC00CC"/>
                </a:solidFill>
                <a:latin typeface="Times New Roman" panose="02020603050405020304" pitchFamily="18" charset="0"/>
              </a:rPr>
              <a:t>轴测投影的形成</a:t>
            </a:r>
            <a:r>
              <a:rPr kumimoji="1" lang="zh-CN" altLang="en-US" sz="2400" dirty="0">
                <a:latin typeface="Times New Roman" panose="02020603050405020304" pitchFamily="18" charset="0"/>
              </a:rPr>
              <a:t> </a:t>
            </a:r>
          </a:p>
        </p:txBody>
      </p:sp>
      <p:pic>
        <p:nvPicPr>
          <p:cNvPr id="56323" name="Picture 3">
            <a:extLst>
              <a:ext uri="{FF2B5EF4-FFF2-40B4-BE49-F238E27FC236}">
                <a16:creationId xmlns:a16="http://schemas.microsoft.com/office/drawing/2014/main" id="{EDA5A20C-518B-4049-B71D-BFE0D46207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0" y="2971800"/>
            <a:ext cx="4560888" cy="3544888"/>
          </a:xfrm>
          <a:prstGeom prst="rect">
            <a:avLst/>
          </a:prstGeom>
          <a:noFill/>
          <a:extLst>
            <a:ext uri="{909E8E84-426E-40DD-AFC4-6F175D3DCCD1}">
              <a14:hiddenFill xmlns:a14="http://schemas.microsoft.com/office/drawing/2010/main">
                <a:solidFill>
                  <a:srgbClr val="FFFFFF"/>
                </a:solidFill>
              </a14:hiddenFill>
            </a:ext>
          </a:extLst>
        </p:spPr>
      </p:pic>
      <p:sp>
        <p:nvSpPr>
          <p:cNvPr id="56324" name="Text Box 4">
            <a:extLst>
              <a:ext uri="{FF2B5EF4-FFF2-40B4-BE49-F238E27FC236}">
                <a16:creationId xmlns:a16="http://schemas.microsoft.com/office/drawing/2014/main" id="{361E71B8-E48D-490F-B36C-F20FEED7FE35}"/>
              </a:ext>
            </a:extLst>
          </p:cNvPr>
          <p:cNvSpPr txBox="1">
            <a:spLocks noChangeArrowheads="1"/>
          </p:cNvSpPr>
          <p:nvPr/>
        </p:nvSpPr>
        <p:spPr bwMode="auto">
          <a:xfrm>
            <a:off x="990600" y="1066800"/>
            <a:ext cx="6797675"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a:solidFill>
                  <a:schemeClr val="accent2"/>
                </a:solidFill>
                <a:latin typeface="宋体" panose="02010600030101010101" pitchFamily="2" charset="-122"/>
              </a:rPr>
              <a:t>    </a:t>
            </a:r>
            <a:r>
              <a:rPr kumimoji="1" lang="zh-CN" altLang="en-US" sz="2400" b="1">
                <a:solidFill>
                  <a:schemeClr val="accent2"/>
                </a:solidFill>
                <a:latin typeface="宋体" panose="02010600030101010101" pitchFamily="2" charset="-122"/>
              </a:rPr>
              <a:t>用平行投影法将物体连同确定该物体的直角坐标系一起</a:t>
            </a:r>
            <a:r>
              <a:rPr kumimoji="1" lang="zh-CN" altLang="en-US" sz="2400" b="1">
                <a:solidFill>
                  <a:srgbClr val="FF0000"/>
                </a:solidFill>
                <a:latin typeface="宋体" panose="02010600030101010101" pitchFamily="2" charset="-122"/>
              </a:rPr>
              <a:t>沿不平行于任一坐标平面的方向投射到一个投影面上</a:t>
            </a:r>
            <a:r>
              <a:rPr kumimoji="1" lang="zh-CN" altLang="en-US" sz="2400" b="1">
                <a:solidFill>
                  <a:schemeClr val="accent2"/>
                </a:solidFill>
                <a:latin typeface="宋体" panose="02010600030101010101" pitchFamily="2" charset="-122"/>
              </a:rPr>
              <a:t>，所得到的图形，叫作</a:t>
            </a:r>
            <a:r>
              <a:rPr kumimoji="1" lang="zh-CN" altLang="en-US" sz="2400" b="1">
                <a:solidFill>
                  <a:srgbClr val="FF0000"/>
                </a:solidFill>
                <a:latin typeface="宋体" panose="02010600030101010101" pitchFamily="2" charset="-122"/>
              </a:rPr>
              <a:t>轴测投影</a:t>
            </a:r>
            <a:r>
              <a:rPr kumimoji="1" lang="zh-CN" altLang="en-US" sz="2400" b="1">
                <a:solidFill>
                  <a:schemeClr val="accent2"/>
                </a:solidFill>
                <a:latin typeface="宋体" panose="02010600030101010101" pitchFamily="2" charset="-122"/>
              </a:rPr>
              <a:t>，简称</a:t>
            </a:r>
            <a:r>
              <a:rPr kumimoji="1" lang="zh-CN" altLang="en-US" sz="2400" b="1">
                <a:solidFill>
                  <a:srgbClr val="FF0000"/>
                </a:solidFill>
                <a:latin typeface="宋体" panose="02010600030101010101" pitchFamily="2" charset="-122"/>
              </a:rPr>
              <a:t>轴测图</a:t>
            </a:r>
            <a:r>
              <a:rPr kumimoji="1" lang="zh-CN" altLang="en-US" sz="2400" b="1">
                <a:solidFill>
                  <a:schemeClr val="accent2"/>
                </a:solidFill>
                <a:latin typeface="Times New Roman" panose="02020603050405020304" pitchFamily="18" charset="0"/>
              </a:rPr>
              <a:t> 。</a:t>
            </a:r>
          </a:p>
        </p:txBody>
      </p:sp>
      <p:sp>
        <p:nvSpPr>
          <p:cNvPr id="56325" name="Text Box 5">
            <a:extLst>
              <a:ext uri="{FF2B5EF4-FFF2-40B4-BE49-F238E27FC236}">
                <a16:creationId xmlns:a16="http://schemas.microsoft.com/office/drawing/2014/main" id="{0AEAD1C3-4914-459C-A1AF-D784CC0D027F}"/>
              </a:ext>
            </a:extLst>
          </p:cNvPr>
          <p:cNvSpPr txBox="1">
            <a:spLocks noChangeArrowheads="1"/>
          </p:cNvSpPr>
          <p:nvPr/>
        </p:nvSpPr>
        <p:spPr bwMode="auto">
          <a:xfrm>
            <a:off x="381000" y="4572000"/>
            <a:ext cx="38481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chemeClr val="accent2"/>
                </a:solidFill>
                <a:latin typeface="宋体" panose="02010600030101010101" pitchFamily="2" charset="-122"/>
              </a:rPr>
              <a:t>空间坐标轴</a:t>
            </a:r>
            <a:r>
              <a:rPr kumimoji="1" lang="en-US" altLang="zh-CN" sz="2400" b="1">
                <a:solidFill>
                  <a:srgbClr val="FF0000"/>
                </a:solidFill>
                <a:latin typeface="Times New Roman" panose="02020603050405020304" pitchFamily="18" charset="0"/>
              </a:rPr>
              <a:t>OX</a:t>
            </a:r>
            <a:r>
              <a:rPr kumimoji="1" lang="zh-CN" altLang="en-US" sz="2400" b="1">
                <a:solidFill>
                  <a:schemeClr val="accent2"/>
                </a:solidFill>
                <a:latin typeface="宋体" panose="02010600030101010101" pitchFamily="2" charset="-122"/>
              </a:rPr>
              <a:t>、</a:t>
            </a:r>
            <a:r>
              <a:rPr kumimoji="1" lang="en-US" altLang="zh-CN" sz="2400" b="1">
                <a:solidFill>
                  <a:srgbClr val="FF0000"/>
                </a:solidFill>
                <a:latin typeface="Times New Roman" panose="02020603050405020304" pitchFamily="18" charset="0"/>
              </a:rPr>
              <a:t>OY</a:t>
            </a:r>
            <a:r>
              <a:rPr kumimoji="1" lang="zh-CN" altLang="en-US" sz="2400" b="1">
                <a:solidFill>
                  <a:schemeClr val="accent2"/>
                </a:solidFill>
                <a:latin typeface="宋体" panose="02010600030101010101" pitchFamily="2" charset="-122"/>
              </a:rPr>
              <a:t>、</a:t>
            </a:r>
            <a:r>
              <a:rPr kumimoji="1" lang="en-US" altLang="zh-CN" sz="2400" b="1">
                <a:solidFill>
                  <a:srgbClr val="FF0000"/>
                </a:solidFill>
                <a:latin typeface="Times New Roman" panose="02020603050405020304" pitchFamily="18" charset="0"/>
              </a:rPr>
              <a:t>OZ</a:t>
            </a:r>
            <a:r>
              <a:rPr kumimoji="1" lang="zh-CN" altLang="en-US" sz="2400" b="1">
                <a:solidFill>
                  <a:schemeClr val="accent2"/>
                </a:solidFill>
                <a:latin typeface="宋体" panose="02010600030101010101" pitchFamily="2" charset="-122"/>
              </a:rPr>
              <a:t>在轴测投影面上的投影</a:t>
            </a:r>
            <a:r>
              <a:rPr kumimoji="1" lang="en-US" altLang="zh-CN" sz="2400" b="1">
                <a:solidFill>
                  <a:srgbClr val="FF0000"/>
                </a:solidFill>
                <a:latin typeface="Times New Roman" panose="02020603050405020304" pitchFamily="18" charset="0"/>
              </a:rPr>
              <a:t>O</a:t>
            </a:r>
            <a:r>
              <a:rPr kumimoji="1" lang="en-US" altLang="zh-CN" sz="2400" b="1" baseline="-30000">
                <a:solidFill>
                  <a:srgbClr val="FF0000"/>
                </a:solidFill>
                <a:latin typeface="Times New Roman" panose="02020603050405020304" pitchFamily="18" charset="0"/>
              </a:rPr>
              <a:t>1</a:t>
            </a:r>
            <a:r>
              <a:rPr kumimoji="1" lang="en-US" altLang="zh-CN" sz="2400" b="1">
                <a:solidFill>
                  <a:srgbClr val="FF0000"/>
                </a:solidFill>
                <a:latin typeface="Times New Roman" panose="02020603050405020304" pitchFamily="18" charset="0"/>
              </a:rPr>
              <a:t>X</a:t>
            </a:r>
            <a:r>
              <a:rPr kumimoji="1" lang="en-US" altLang="zh-CN" sz="2400" b="1" baseline="-30000">
                <a:solidFill>
                  <a:srgbClr val="FF0000"/>
                </a:solidFill>
                <a:latin typeface="Times New Roman" panose="02020603050405020304" pitchFamily="18" charset="0"/>
              </a:rPr>
              <a:t>1</a:t>
            </a:r>
            <a:r>
              <a:rPr kumimoji="1" lang="zh-CN" altLang="en-US" sz="2400" b="1">
                <a:solidFill>
                  <a:schemeClr val="accent2"/>
                </a:solidFill>
                <a:latin typeface="宋体" panose="02010600030101010101" pitchFamily="2" charset="-122"/>
              </a:rPr>
              <a:t>、</a:t>
            </a:r>
            <a:r>
              <a:rPr kumimoji="1" lang="en-US" altLang="zh-CN" sz="2400" b="1">
                <a:solidFill>
                  <a:srgbClr val="FF0000"/>
                </a:solidFill>
                <a:latin typeface="Times New Roman" panose="02020603050405020304" pitchFamily="18" charset="0"/>
              </a:rPr>
              <a:t>O</a:t>
            </a:r>
            <a:r>
              <a:rPr kumimoji="1" lang="en-US" altLang="zh-CN" sz="2400" b="1" baseline="-30000">
                <a:solidFill>
                  <a:srgbClr val="FF0000"/>
                </a:solidFill>
                <a:latin typeface="Times New Roman" panose="02020603050405020304" pitchFamily="18" charset="0"/>
              </a:rPr>
              <a:t>1</a:t>
            </a:r>
            <a:r>
              <a:rPr kumimoji="1" lang="en-US" altLang="zh-CN" sz="2400" b="1">
                <a:solidFill>
                  <a:srgbClr val="FF0000"/>
                </a:solidFill>
                <a:latin typeface="Times New Roman" panose="02020603050405020304" pitchFamily="18" charset="0"/>
              </a:rPr>
              <a:t>Y</a:t>
            </a:r>
            <a:r>
              <a:rPr kumimoji="1" lang="en-US" altLang="zh-CN" sz="2400" b="1" baseline="-30000">
                <a:solidFill>
                  <a:srgbClr val="FF0000"/>
                </a:solidFill>
                <a:latin typeface="Times New Roman" panose="02020603050405020304" pitchFamily="18" charset="0"/>
              </a:rPr>
              <a:t>1</a:t>
            </a:r>
            <a:r>
              <a:rPr kumimoji="1" lang="zh-CN" altLang="en-US" sz="2400" b="1">
                <a:solidFill>
                  <a:schemeClr val="accent2"/>
                </a:solidFill>
                <a:latin typeface="宋体" panose="02010600030101010101" pitchFamily="2" charset="-122"/>
              </a:rPr>
              <a:t>、</a:t>
            </a:r>
            <a:r>
              <a:rPr kumimoji="1" lang="en-US" altLang="zh-CN" sz="2400" b="1">
                <a:solidFill>
                  <a:srgbClr val="FF0000"/>
                </a:solidFill>
                <a:latin typeface="Times New Roman" panose="02020603050405020304" pitchFamily="18" charset="0"/>
              </a:rPr>
              <a:t>O</a:t>
            </a:r>
            <a:r>
              <a:rPr kumimoji="1" lang="en-US" altLang="zh-CN" sz="2400" b="1" baseline="-30000">
                <a:solidFill>
                  <a:srgbClr val="FF0000"/>
                </a:solidFill>
                <a:latin typeface="Times New Roman" panose="02020603050405020304" pitchFamily="18" charset="0"/>
              </a:rPr>
              <a:t>1</a:t>
            </a:r>
            <a:r>
              <a:rPr kumimoji="1" lang="en-US" altLang="zh-CN" sz="2400" b="1">
                <a:solidFill>
                  <a:srgbClr val="FF0000"/>
                </a:solidFill>
                <a:latin typeface="Times New Roman" panose="02020603050405020304" pitchFamily="18" charset="0"/>
              </a:rPr>
              <a:t>Z</a:t>
            </a:r>
            <a:r>
              <a:rPr kumimoji="1" lang="en-US" altLang="zh-CN" sz="2400" b="1" baseline="-30000">
                <a:solidFill>
                  <a:srgbClr val="FF0000"/>
                </a:solidFill>
                <a:latin typeface="Times New Roman" panose="02020603050405020304" pitchFamily="18" charset="0"/>
              </a:rPr>
              <a:t>1</a:t>
            </a:r>
            <a:r>
              <a:rPr kumimoji="1" lang="zh-CN" altLang="en-US" sz="2400" b="1">
                <a:solidFill>
                  <a:schemeClr val="accent2"/>
                </a:solidFill>
                <a:latin typeface="宋体" panose="02010600030101010101" pitchFamily="2" charset="-122"/>
              </a:rPr>
              <a:t>称为</a:t>
            </a:r>
            <a:r>
              <a:rPr kumimoji="1" lang="zh-CN" altLang="en-US" sz="2400" b="1">
                <a:solidFill>
                  <a:srgbClr val="FF0000"/>
                </a:solidFill>
                <a:latin typeface="宋体" panose="02010600030101010101" pitchFamily="2" charset="-122"/>
              </a:rPr>
              <a:t>轴测投影轴</a:t>
            </a:r>
            <a:r>
              <a:rPr kumimoji="1" lang="zh-CN" altLang="en-US" sz="2400" b="1">
                <a:solidFill>
                  <a:schemeClr val="accent2"/>
                </a:solidFill>
                <a:latin typeface="宋体" panose="02010600030101010101" pitchFamily="2" charset="-122"/>
              </a:rPr>
              <a:t>，简称</a:t>
            </a:r>
            <a:r>
              <a:rPr kumimoji="1" lang="zh-CN" altLang="en-US" sz="2400" b="1">
                <a:solidFill>
                  <a:srgbClr val="FF0000"/>
                </a:solidFill>
                <a:latin typeface="宋体" panose="02010600030101010101" pitchFamily="2" charset="-122"/>
              </a:rPr>
              <a:t>轴测轴</a:t>
            </a:r>
            <a:endParaRPr kumimoji="1" lang="zh-CN" altLang="en-US" sz="2400" b="1">
              <a:solidFill>
                <a:srgbClr val="FF0000"/>
              </a:solidFill>
              <a:latin typeface="Times New Roman" panose="02020603050405020304" pitchFamily="18" charset="0"/>
            </a:endParaRPr>
          </a:p>
        </p:txBody>
      </p:sp>
      <p:sp>
        <p:nvSpPr>
          <p:cNvPr id="56326" name="Text Box 6">
            <a:extLst>
              <a:ext uri="{FF2B5EF4-FFF2-40B4-BE49-F238E27FC236}">
                <a16:creationId xmlns:a16="http://schemas.microsoft.com/office/drawing/2014/main" id="{85E0A1DD-770E-4D35-943C-6A64A40E7077}"/>
              </a:ext>
            </a:extLst>
          </p:cNvPr>
          <p:cNvSpPr txBox="1">
            <a:spLocks noChangeArrowheads="1"/>
          </p:cNvSpPr>
          <p:nvPr/>
        </p:nvSpPr>
        <p:spPr bwMode="auto">
          <a:xfrm>
            <a:off x="381000" y="3429000"/>
            <a:ext cx="3433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chemeClr val="accent2"/>
                </a:solidFill>
                <a:latin typeface="宋体" panose="02010600030101010101" pitchFamily="2" charset="-122"/>
              </a:rPr>
              <a:t>投影面</a:t>
            </a:r>
            <a:r>
              <a:rPr kumimoji="1" lang="en-US" altLang="zh-CN" sz="2400" b="1">
                <a:solidFill>
                  <a:srgbClr val="FF0000"/>
                </a:solidFill>
                <a:latin typeface="Times New Roman" panose="02020603050405020304" pitchFamily="18" charset="0"/>
              </a:rPr>
              <a:t>P</a:t>
            </a:r>
            <a:r>
              <a:rPr kumimoji="1" lang="zh-CN" altLang="en-US" sz="2400" b="1">
                <a:solidFill>
                  <a:schemeClr val="accent2"/>
                </a:solidFill>
                <a:latin typeface="宋体" panose="02010600030101010101" pitchFamily="2" charset="-122"/>
              </a:rPr>
              <a:t>称为</a:t>
            </a:r>
            <a:r>
              <a:rPr kumimoji="1" lang="zh-CN" altLang="en-US" sz="2400" b="1">
                <a:solidFill>
                  <a:srgbClr val="FF0000"/>
                </a:solidFill>
                <a:latin typeface="宋体" panose="02010600030101010101" pitchFamily="2" charset="-122"/>
              </a:rPr>
              <a:t>轴测投影面</a:t>
            </a:r>
          </a:p>
        </p:txBody>
      </p:sp>
      <p:sp>
        <p:nvSpPr>
          <p:cNvPr id="56327" name="Text Box 7">
            <a:extLst>
              <a:ext uri="{FF2B5EF4-FFF2-40B4-BE49-F238E27FC236}">
                <a16:creationId xmlns:a16="http://schemas.microsoft.com/office/drawing/2014/main" id="{B529A521-7414-449D-8E94-6E804612985F}"/>
              </a:ext>
            </a:extLst>
          </p:cNvPr>
          <p:cNvSpPr txBox="1">
            <a:spLocks noChangeArrowheads="1"/>
          </p:cNvSpPr>
          <p:nvPr/>
        </p:nvSpPr>
        <p:spPr bwMode="auto">
          <a:xfrm>
            <a:off x="381000" y="4038600"/>
            <a:ext cx="40306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chemeClr val="accent2"/>
                </a:solidFill>
                <a:latin typeface="宋体" panose="02010600030101010101" pitchFamily="2" charset="-122"/>
              </a:rPr>
              <a:t>投射线</a:t>
            </a:r>
            <a:r>
              <a:rPr kumimoji="1" lang="en-US" altLang="zh-CN" sz="2400" b="1">
                <a:solidFill>
                  <a:srgbClr val="FF0000"/>
                </a:solidFill>
                <a:latin typeface="Times New Roman" panose="02020603050405020304" pitchFamily="18" charset="0"/>
              </a:rPr>
              <a:t>S</a:t>
            </a:r>
            <a:r>
              <a:rPr kumimoji="1" lang="zh-CN" altLang="en-US" sz="2400" b="1">
                <a:solidFill>
                  <a:schemeClr val="accent2"/>
                </a:solidFill>
                <a:latin typeface="宋体" panose="02010600030101010101" pitchFamily="2" charset="-122"/>
              </a:rPr>
              <a:t>的方向称为</a:t>
            </a:r>
            <a:r>
              <a:rPr kumimoji="1" lang="zh-CN" altLang="en-US" sz="2400" b="1">
                <a:solidFill>
                  <a:srgbClr val="FF0000"/>
                </a:solidFill>
                <a:latin typeface="宋体" panose="02010600030101010101" pitchFamily="2" charset="-122"/>
              </a:rPr>
              <a:t>投射方向</a:t>
            </a:r>
            <a:endParaRPr kumimoji="1" lang="zh-CN" altLang="en-US" sz="2400">
              <a:solidFill>
                <a:srgbClr val="FF0000"/>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iterate type="wd">
                                    <p:tmAbs val="300"/>
                                  </p:iterate>
                                  <p:childTnLst>
                                    <p:set>
                                      <p:cBhvr>
                                        <p:cTn id="6" dur="1" fill="hold">
                                          <p:stCondLst>
                                            <p:cond delay="299"/>
                                          </p:stCondLst>
                                        </p:cTn>
                                        <p:tgtEl>
                                          <p:spTgt spid="5632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9" presetClass="entr" presetSubtype="0" fill="hold" nodeType="clickEffect">
                                  <p:stCondLst>
                                    <p:cond delay="0"/>
                                  </p:stCondLst>
                                  <p:childTnLst>
                                    <p:set>
                                      <p:cBhvr>
                                        <p:cTn id="10" dur="1" fill="hold">
                                          <p:stCondLst>
                                            <p:cond delay="0"/>
                                          </p:stCondLst>
                                        </p:cTn>
                                        <p:tgtEl>
                                          <p:spTgt spid="56323"/>
                                        </p:tgtEl>
                                        <p:attrNameLst>
                                          <p:attrName>style.visibility</p:attrName>
                                        </p:attrNameLst>
                                      </p:cBhvr>
                                      <p:to>
                                        <p:strVal val="visible"/>
                                      </p:to>
                                    </p:set>
                                    <p:animEffect transition="in" filter="dissolve">
                                      <p:cBhvr>
                                        <p:cTn id="11" dur="500"/>
                                        <p:tgtEl>
                                          <p:spTgt spid="5632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56326"/>
                                        </p:tgtEl>
                                        <p:attrNameLst>
                                          <p:attrName>style.visibility</p:attrName>
                                        </p:attrNameLst>
                                      </p:cBhvr>
                                      <p:to>
                                        <p:strVal val="visible"/>
                                      </p:to>
                                    </p:set>
                                    <p:anim calcmode="lin" valueType="num">
                                      <p:cBhvr additive="base">
                                        <p:cTn id="16" dur="500" fill="hold"/>
                                        <p:tgtEl>
                                          <p:spTgt spid="56326"/>
                                        </p:tgtEl>
                                        <p:attrNameLst>
                                          <p:attrName>ppt_x</p:attrName>
                                        </p:attrNameLst>
                                      </p:cBhvr>
                                      <p:tavLst>
                                        <p:tav tm="0">
                                          <p:val>
                                            <p:strVal val="0-#ppt_w/2"/>
                                          </p:val>
                                        </p:tav>
                                        <p:tav tm="100000">
                                          <p:val>
                                            <p:strVal val="#ppt_x"/>
                                          </p:val>
                                        </p:tav>
                                      </p:tavLst>
                                    </p:anim>
                                    <p:anim calcmode="lin" valueType="num">
                                      <p:cBhvr additive="base">
                                        <p:cTn id="17" dur="500" fill="hold"/>
                                        <p:tgtEl>
                                          <p:spTgt spid="56326"/>
                                        </p:tgtEl>
                                        <p:attrNameLst>
                                          <p:attrName>ppt_y</p:attrName>
                                        </p:attrNameLst>
                                      </p:cBhvr>
                                      <p:tavLst>
                                        <p:tav tm="0">
                                          <p:val>
                                            <p:strVal val="#ppt_y"/>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56327"/>
                                        </p:tgtEl>
                                        <p:attrNameLst>
                                          <p:attrName>style.visibility</p:attrName>
                                        </p:attrNameLst>
                                      </p:cBhvr>
                                      <p:to>
                                        <p:strVal val="visible"/>
                                      </p:to>
                                    </p:set>
                                    <p:anim calcmode="lin" valueType="num">
                                      <p:cBhvr additive="base">
                                        <p:cTn id="22" dur="500" fill="hold"/>
                                        <p:tgtEl>
                                          <p:spTgt spid="56327"/>
                                        </p:tgtEl>
                                        <p:attrNameLst>
                                          <p:attrName>ppt_x</p:attrName>
                                        </p:attrNameLst>
                                      </p:cBhvr>
                                      <p:tavLst>
                                        <p:tav tm="0">
                                          <p:val>
                                            <p:strVal val="0-#ppt_w/2"/>
                                          </p:val>
                                        </p:tav>
                                        <p:tav tm="100000">
                                          <p:val>
                                            <p:strVal val="#ppt_x"/>
                                          </p:val>
                                        </p:tav>
                                      </p:tavLst>
                                    </p:anim>
                                    <p:anim calcmode="lin" valueType="num">
                                      <p:cBhvr additive="base">
                                        <p:cTn id="23" dur="500" fill="hold"/>
                                        <p:tgtEl>
                                          <p:spTgt spid="56327"/>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56325"/>
                                        </p:tgtEl>
                                        <p:attrNameLst>
                                          <p:attrName>style.visibility</p:attrName>
                                        </p:attrNameLst>
                                      </p:cBhvr>
                                      <p:to>
                                        <p:strVal val="visible"/>
                                      </p:to>
                                    </p:set>
                                    <p:anim calcmode="lin" valueType="num">
                                      <p:cBhvr additive="base">
                                        <p:cTn id="28" dur="500" fill="hold"/>
                                        <p:tgtEl>
                                          <p:spTgt spid="56325"/>
                                        </p:tgtEl>
                                        <p:attrNameLst>
                                          <p:attrName>ppt_x</p:attrName>
                                        </p:attrNameLst>
                                      </p:cBhvr>
                                      <p:tavLst>
                                        <p:tav tm="0">
                                          <p:val>
                                            <p:strVal val="0-#ppt_w/2"/>
                                          </p:val>
                                        </p:tav>
                                        <p:tav tm="100000">
                                          <p:val>
                                            <p:strVal val="#ppt_x"/>
                                          </p:val>
                                        </p:tav>
                                      </p:tavLst>
                                    </p:anim>
                                    <p:anim calcmode="lin" valueType="num">
                                      <p:cBhvr additive="base">
                                        <p:cTn id="29" dur="500" fill="hold"/>
                                        <p:tgtEl>
                                          <p:spTgt spid="563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4" grpId="0" autoUpdateAnimBg="0"/>
      <p:bldP spid="56325" grpId="0" autoUpdateAnimBg="0"/>
      <p:bldP spid="56326" grpId="0" autoUpdateAnimBg="0"/>
      <p:bldP spid="56327"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2D92EE56-3D73-46CB-AE3B-3A7E4F67D965}"/>
              </a:ext>
            </a:extLst>
          </p:cNvPr>
          <p:cNvSpPr>
            <a:spLocks noGrp="1" noRot="1" noChangeArrowheads="1"/>
          </p:cNvSpPr>
          <p:nvPr>
            <p:ph type="title"/>
          </p:nvPr>
        </p:nvSpPr>
        <p:spPr>
          <a:xfrm>
            <a:off x="-72516" y="330200"/>
            <a:ext cx="8540751" cy="1143000"/>
          </a:xfrm>
        </p:spPr>
        <p:txBody>
          <a:bodyPr/>
          <a:lstStyle/>
          <a:p>
            <a:r>
              <a:rPr lang="zh-CN" altLang="en-US" sz="3600" b="1" dirty="0">
                <a:solidFill>
                  <a:srgbClr val="000000"/>
                </a:solidFill>
              </a:rPr>
              <a:t>二、轴测投影的轴间角和轴向伸缩系数</a:t>
            </a:r>
          </a:p>
        </p:txBody>
      </p:sp>
      <p:sp>
        <p:nvSpPr>
          <p:cNvPr id="5124" name="Text Box 4">
            <a:extLst>
              <a:ext uri="{FF2B5EF4-FFF2-40B4-BE49-F238E27FC236}">
                <a16:creationId xmlns:a16="http://schemas.microsoft.com/office/drawing/2014/main" id="{1FA26D19-8888-4CAD-9B4D-490A09CC2A72}"/>
              </a:ext>
            </a:extLst>
          </p:cNvPr>
          <p:cNvSpPr txBox="1">
            <a:spLocks noGrp="1" noChangeArrowheads="1"/>
          </p:cNvSpPr>
          <p:nvPr>
            <p:ph type="body" idx="1"/>
          </p:nvPr>
        </p:nvSpPr>
        <p:spPr>
          <a:xfrm>
            <a:off x="301625" y="1473200"/>
            <a:ext cx="8540750" cy="1524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nSpc>
                <a:spcPct val="90000"/>
              </a:lnSpc>
              <a:buFont typeface="Wingdings" panose="05000000000000000000" pitchFamily="2" charset="2"/>
              <a:buNone/>
            </a:pPr>
            <a:r>
              <a:rPr kumimoji="1" lang="en-US" altLang="zh-CN" dirty="0"/>
              <a:t>          </a:t>
            </a:r>
            <a:r>
              <a:rPr kumimoji="1" lang="zh-CN" altLang="en-US" b="1" dirty="0">
                <a:solidFill>
                  <a:srgbClr val="000000"/>
                </a:solidFill>
                <a:latin typeface="楷体_GB2312" pitchFamily="49" charset="-122"/>
                <a:ea typeface="楷体_GB2312" pitchFamily="49" charset="-122"/>
              </a:rPr>
              <a:t>建立在物体上的坐标轴在投影面上的投影叫做</a:t>
            </a:r>
            <a:r>
              <a:rPr kumimoji="1" lang="zh-CN" altLang="en-US" b="1" dirty="0">
                <a:solidFill>
                  <a:srgbClr val="3333FF"/>
                </a:solidFill>
                <a:latin typeface="楷体_GB2312" pitchFamily="49" charset="-122"/>
                <a:ea typeface="楷体_GB2312" pitchFamily="49" charset="-122"/>
              </a:rPr>
              <a:t>轴测轴。</a:t>
            </a:r>
          </a:p>
          <a:p>
            <a:pPr>
              <a:lnSpc>
                <a:spcPct val="90000"/>
              </a:lnSpc>
              <a:buFont typeface="Wingdings" panose="05000000000000000000" pitchFamily="2" charset="2"/>
              <a:buNone/>
            </a:pPr>
            <a:r>
              <a:rPr kumimoji="1" lang="zh-CN" altLang="en-US" b="1" dirty="0">
                <a:solidFill>
                  <a:srgbClr val="3333FF"/>
                </a:solidFill>
                <a:latin typeface="楷体_GB2312" pitchFamily="49" charset="-122"/>
                <a:ea typeface="楷体_GB2312" pitchFamily="49" charset="-122"/>
              </a:rPr>
              <a:t>     </a:t>
            </a:r>
            <a:r>
              <a:rPr kumimoji="1" lang="zh-CN" altLang="en-US" b="1" dirty="0">
                <a:solidFill>
                  <a:srgbClr val="000000"/>
                </a:solidFill>
                <a:latin typeface="楷体_GB2312" pitchFamily="49" charset="-122"/>
                <a:ea typeface="楷体_GB2312" pitchFamily="49" charset="-122"/>
              </a:rPr>
              <a:t>轴测轴间的夹角叫做</a:t>
            </a:r>
            <a:r>
              <a:rPr kumimoji="1" lang="zh-CN" altLang="en-US" b="1" dirty="0">
                <a:solidFill>
                  <a:srgbClr val="3333FF"/>
                </a:solidFill>
                <a:latin typeface="楷体_GB2312" pitchFamily="49" charset="-122"/>
                <a:ea typeface="楷体_GB2312" pitchFamily="49" charset="-122"/>
              </a:rPr>
              <a:t>轴间角。</a:t>
            </a:r>
          </a:p>
          <a:p>
            <a:pPr>
              <a:lnSpc>
                <a:spcPct val="90000"/>
              </a:lnSpc>
              <a:buFont typeface="Wingdings" panose="05000000000000000000" pitchFamily="2" charset="2"/>
              <a:buNone/>
            </a:pPr>
            <a:endParaRPr kumimoji="1" lang="en-US" altLang="zh-CN" b="1" dirty="0">
              <a:solidFill>
                <a:srgbClr val="3333FF"/>
              </a:solidFill>
              <a:latin typeface="楷体_GB2312" pitchFamily="49" charset="-122"/>
              <a:ea typeface="楷体_GB2312" pitchFamily="49" charset="-122"/>
            </a:endParaRPr>
          </a:p>
        </p:txBody>
      </p:sp>
      <p:sp>
        <p:nvSpPr>
          <p:cNvPr id="5125" name="Text Box 5">
            <a:extLst>
              <a:ext uri="{FF2B5EF4-FFF2-40B4-BE49-F238E27FC236}">
                <a16:creationId xmlns:a16="http://schemas.microsoft.com/office/drawing/2014/main" id="{780CF463-674D-4746-88BC-BBE363E4C1BC}"/>
              </a:ext>
            </a:extLst>
          </p:cNvPr>
          <p:cNvSpPr txBox="1">
            <a:spLocks noChangeArrowheads="1"/>
          </p:cNvSpPr>
          <p:nvPr/>
        </p:nvSpPr>
        <p:spPr bwMode="auto">
          <a:xfrm>
            <a:off x="755650" y="3736975"/>
            <a:ext cx="7129463" cy="1554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kumimoji="1" lang="en-US" altLang="zh-CN" sz="3200" b="1">
                <a:latin typeface="楷体_GB2312" pitchFamily="49" charset="-122"/>
                <a:ea typeface="楷体_GB2312" pitchFamily="49" charset="-122"/>
              </a:rPr>
              <a:t>    </a:t>
            </a:r>
            <a:r>
              <a:rPr kumimoji="1" lang="zh-CN" altLang="en-US" sz="3200" b="1">
                <a:solidFill>
                  <a:srgbClr val="000000"/>
                </a:solidFill>
                <a:latin typeface="楷体_GB2312" pitchFamily="49" charset="-122"/>
                <a:ea typeface="楷体_GB2312" pitchFamily="49" charset="-122"/>
              </a:rPr>
              <a:t>各轴测轴的度量单位与相应空间坐标轴的度量单位之比称为叫做</a:t>
            </a:r>
            <a:r>
              <a:rPr kumimoji="1" lang="zh-CN" altLang="en-US" sz="3200" b="1">
                <a:solidFill>
                  <a:srgbClr val="3333FF"/>
                </a:solidFill>
                <a:latin typeface="楷体_GB2312" pitchFamily="49" charset="-122"/>
                <a:ea typeface="楷体_GB2312" pitchFamily="49" charset="-122"/>
              </a:rPr>
              <a:t>轴向伸缩系数。</a:t>
            </a:r>
          </a:p>
        </p:txBody>
      </p:sp>
      <p:sp>
        <p:nvSpPr>
          <p:cNvPr id="5129" name="AutoShape 9">
            <a:hlinkClick r:id="rId2" action="ppaction://hlinksldjump" highlightClick="1"/>
            <a:extLst>
              <a:ext uri="{FF2B5EF4-FFF2-40B4-BE49-F238E27FC236}">
                <a16:creationId xmlns:a16="http://schemas.microsoft.com/office/drawing/2014/main" id="{BCB0EEFD-EE34-4047-9DB9-045728AF2BB3}"/>
              </a:ext>
            </a:extLst>
          </p:cNvPr>
          <p:cNvSpPr>
            <a:spLocks noChangeArrowheads="1"/>
          </p:cNvSpPr>
          <p:nvPr/>
        </p:nvSpPr>
        <p:spPr bwMode="auto">
          <a:xfrm>
            <a:off x="8316913" y="6381750"/>
            <a:ext cx="827087" cy="47625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anim calcmode="lin" valueType="num">
                                      <p:cBhvr additive="base">
                                        <p:cTn id="7" dur="500" fill="hold"/>
                                        <p:tgtEl>
                                          <p:spTgt spid="5122"/>
                                        </p:tgtEl>
                                        <p:attrNameLst>
                                          <p:attrName>ppt_x</p:attrName>
                                        </p:attrNameLst>
                                      </p:cBhvr>
                                      <p:tavLst>
                                        <p:tav tm="0">
                                          <p:val>
                                            <p:strVal val="0-#ppt_w/2"/>
                                          </p:val>
                                        </p:tav>
                                        <p:tav tm="100000">
                                          <p:val>
                                            <p:strVal val="#ppt_x"/>
                                          </p:val>
                                        </p:tav>
                                      </p:tavLst>
                                    </p:anim>
                                    <p:anim calcmode="lin" valueType="num">
                                      <p:cBhvr additive="base">
                                        <p:cTn id="8" dur="500" fill="hold"/>
                                        <p:tgtEl>
                                          <p:spTgt spid="512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iterate type="lt">
                                    <p:tmPct val="100000"/>
                                  </p:iterate>
                                  <p:childTnLst>
                                    <p:set>
                                      <p:cBhvr>
                                        <p:cTn id="12" dur="1" fill="hold">
                                          <p:stCondLst>
                                            <p:cond delay="0"/>
                                          </p:stCondLst>
                                        </p:cTn>
                                        <p:tgtEl>
                                          <p:spTgt spid="5124">
                                            <p:txEl>
                                              <p:pRg st="0" end="0"/>
                                            </p:txEl>
                                          </p:spTgt>
                                        </p:tgtEl>
                                        <p:attrNameLst>
                                          <p:attrName>style.visibility</p:attrName>
                                        </p:attrNameLst>
                                      </p:cBhvr>
                                      <p:to>
                                        <p:strVal val="visible"/>
                                      </p:to>
                                    </p:set>
                                    <p:animEffect transition="in" filter="wipe(up)">
                                      <p:cBhvr>
                                        <p:cTn id="13" dur="75"/>
                                        <p:tgtEl>
                                          <p:spTgt spid="5124">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iterate type="lt">
                                    <p:tmPct val="100000"/>
                                  </p:iterate>
                                  <p:childTnLst>
                                    <p:set>
                                      <p:cBhvr>
                                        <p:cTn id="17" dur="1" fill="hold">
                                          <p:stCondLst>
                                            <p:cond delay="0"/>
                                          </p:stCondLst>
                                        </p:cTn>
                                        <p:tgtEl>
                                          <p:spTgt spid="5124">
                                            <p:txEl>
                                              <p:pRg st="1" end="1"/>
                                            </p:txEl>
                                          </p:spTgt>
                                        </p:tgtEl>
                                        <p:attrNameLst>
                                          <p:attrName>style.visibility</p:attrName>
                                        </p:attrNameLst>
                                      </p:cBhvr>
                                      <p:to>
                                        <p:strVal val="visible"/>
                                      </p:to>
                                    </p:set>
                                    <p:animEffect transition="in" filter="wipe(up)">
                                      <p:cBhvr>
                                        <p:cTn id="18" dur="75"/>
                                        <p:tgtEl>
                                          <p:spTgt spid="5124">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5125">
                                            <p:txEl>
                                              <p:pRg st="0" end="0"/>
                                            </p:txEl>
                                          </p:spTgt>
                                        </p:tgtEl>
                                        <p:attrNameLst>
                                          <p:attrName>style.visibility</p:attrName>
                                        </p:attrNameLst>
                                      </p:cBhvr>
                                      <p:to>
                                        <p:strVal val="visible"/>
                                      </p:to>
                                    </p:set>
                                    <p:animEffect transition="in" filter="wipe(left)">
                                      <p:cBhvr>
                                        <p:cTn id="23" dur="500"/>
                                        <p:tgtEl>
                                          <p:spTgt spid="51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P spid="5124" grpId="0" build="p" autoUpdateAnimBg="0"/>
      <p:bldP spid="5125"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a:extLst>
              <a:ext uri="{FF2B5EF4-FFF2-40B4-BE49-F238E27FC236}">
                <a16:creationId xmlns:a16="http://schemas.microsoft.com/office/drawing/2014/main" id="{50FD62B3-2919-4713-89FF-98CB9952C177}"/>
              </a:ext>
            </a:extLst>
          </p:cNvPr>
          <p:cNvSpPr txBox="1">
            <a:spLocks noChangeArrowheads="1"/>
          </p:cNvSpPr>
          <p:nvPr/>
        </p:nvSpPr>
        <p:spPr bwMode="auto">
          <a:xfrm>
            <a:off x="259409" y="629050"/>
            <a:ext cx="40100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dirty="0">
                <a:solidFill>
                  <a:srgbClr val="CC00CC"/>
                </a:solidFill>
                <a:latin typeface="Times New Roman" panose="02020603050405020304" pitchFamily="18" charset="0"/>
              </a:rPr>
              <a:t>  </a:t>
            </a:r>
            <a:r>
              <a:rPr kumimoji="1" lang="zh-CN" altLang="en-US" sz="2800" b="1" dirty="0">
                <a:solidFill>
                  <a:srgbClr val="CC00CC"/>
                </a:solidFill>
                <a:latin typeface="宋体" panose="02010600030101010101" pitchFamily="2" charset="-122"/>
              </a:rPr>
              <a:t>轴间角与轴向伸缩系数</a:t>
            </a:r>
            <a:r>
              <a:rPr kumimoji="1" lang="zh-CN" altLang="en-US" sz="2400" dirty="0">
                <a:latin typeface="Times New Roman" panose="02020603050405020304" pitchFamily="18" charset="0"/>
              </a:rPr>
              <a:t> </a:t>
            </a:r>
          </a:p>
        </p:txBody>
      </p:sp>
      <p:sp>
        <p:nvSpPr>
          <p:cNvPr id="57347" name="Text Box 3">
            <a:extLst>
              <a:ext uri="{FF2B5EF4-FFF2-40B4-BE49-F238E27FC236}">
                <a16:creationId xmlns:a16="http://schemas.microsoft.com/office/drawing/2014/main" id="{8C56C72C-9303-495C-BC61-D68D9A4C2062}"/>
              </a:ext>
            </a:extLst>
          </p:cNvPr>
          <p:cNvSpPr txBox="1">
            <a:spLocks noChangeArrowheads="1"/>
          </p:cNvSpPr>
          <p:nvPr/>
        </p:nvSpPr>
        <p:spPr bwMode="auto">
          <a:xfrm>
            <a:off x="533400" y="1600200"/>
            <a:ext cx="42433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chemeClr val="accent2"/>
                </a:solidFill>
                <a:latin typeface="宋体" panose="02010600030101010101" pitchFamily="2" charset="-122"/>
              </a:rPr>
              <a:t>轴测轴之间的夹角称作</a:t>
            </a:r>
            <a:r>
              <a:rPr kumimoji="1" lang="zh-CN" altLang="en-US" sz="2400" b="1" dirty="0">
                <a:solidFill>
                  <a:srgbClr val="FF0000"/>
                </a:solidFill>
                <a:latin typeface="宋体" panose="02010600030101010101" pitchFamily="2" charset="-122"/>
              </a:rPr>
              <a:t>轴间角</a:t>
            </a:r>
            <a:r>
              <a:rPr kumimoji="1" lang="zh-CN" altLang="en-US" sz="2400" dirty="0">
                <a:latin typeface="Times New Roman" panose="02020603050405020304" pitchFamily="18" charset="0"/>
              </a:rPr>
              <a:t> </a:t>
            </a:r>
          </a:p>
        </p:txBody>
      </p:sp>
      <p:sp>
        <p:nvSpPr>
          <p:cNvPr id="57348" name="Text Box 4">
            <a:extLst>
              <a:ext uri="{FF2B5EF4-FFF2-40B4-BE49-F238E27FC236}">
                <a16:creationId xmlns:a16="http://schemas.microsoft.com/office/drawing/2014/main" id="{17F0F99E-CC96-43A6-BF60-AD125968AC59}"/>
              </a:ext>
            </a:extLst>
          </p:cNvPr>
          <p:cNvSpPr txBox="1">
            <a:spLocks noChangeArrowheads="1"/>
          </p:cNvSpPr>
          <p:nvPr/>
        </p:nvSpPr>
        <p:spPr bwMode="auto">
          <a:xfrm>
            <a:off x="458788" y="2209800"/>
            <a:ext cx="8226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chemeClr val="accent2"/>
                </a:solidFill>
                <a:latin typeface="宋体" panose="02010600030101010101" pitchFamily="2" charset="-122"/>
              </a:rPr>
              <a:t>轴测单位长度与空间坐标单位长度之比，称为</a:t>
            </a:r>
            <a:r>
              <a:rPr kumimoji="1" lang="zh-CN" altLang="en-US" sz="2400" b="1" dirty="0">
                <a:solidFill>
                  <a:srgbClr val="FF0000"/>
                </a:solidFill>
                <a:latin typeface="宋体" panose="02010600030101010101" pitchFamily="2" charset="-122"/>
              </a:rPr>
              <a:t>轴向伸缩系数</a:t>
            </a:r>
            <a:r>
              <a:rPr kumimoji="1" lang="zh-CN" altLang="en-US" sz="2400" dirty="0">
                <a:latin typeface="Times New Roman" panose="02020603050405020304" pitchFamily="18" charset="0"/>
              </a:rPr>
              <a:t> </a:t>
            </a:r>
          </a:p>
        </p:txBody>
      </p:sp>
      <p:sp>
        <p:nvSpPr>
          <p:cNvPr id="57349" name="Text Box 5">
            <a:extLst>
              <a:ext uri="{FF2B5EF4-FFF2-40B4-BE49-F238E27FC236}">
                <a16:creationId xmlns:a16="http://schemas.microsoft.com/office/drawing/2014/main" id="{009D08E1-8BBA-42F7-9A40-D29B4E9A4C12}"/>
              </a:ext>
            </a:extLst>
          </p:cNvPr>
          <p:cNvSpPr txBox="1">
            <a:spLocks noChangeArrowheads="1"/>
          </p:cNvSpPr>
          <p:nvPr/>
        </p:nvSpPr>
        <p:spPr bwMode="auto">
          <a:xfrm>
            <a:off x="457200" y="3276600"/>
            <a:ext cx="36734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chemeClr val="accent2"/>
                </a:solidFill>
                <a:latin typeface="宋体" panose="02010600030101010101" pitchFamily="2" charset="-122"/>
              </a:rPr>
              <a:t>沿</a:t>
            </a:r>
            <a:r>
              <a:rPr kumimoji="1" lang="en-US" altLang="zh-CN" sz="2400" b="1">
                <a:solidFill>
                  <a:schemeClr val="accent2"/>
                </a:solidFill>
                <a:latin typeface="Times New Roman" panose="02020603050405020304" pitchFamily="18" charset="0"/>
              </a:rPr>
              <a:t>O</a:t>
            </a:r>
            <a:r>
              <a:rPr kumimoji="1" lang="en-US" altLang="zh-CN" sz="2400" b="1" baseline="-30000">
                <a:solidFill>
                  <a:schemeClr val="accent2"/>
                </a:solidFill>
                <a:latin typeface="Times New Roman" panose="02020603050405020304" pitchFamily="18" charset="0"/>
              </a:rPr>
              <a:t>1</a:t>
            </a:r>
            <a:r>
              <a:rPr kumimoji="1" lang="en-US" altLang="zh-CN" sz="2400" b="1">
                <a:solidFill>
                  <a:schemeClr val="accent2"/>
                </a:solidFill>
                <a:latin typeface="Times New Roman" panose="02020603050405020304" pitchFamily="18" charset="0"/>
              </a:rPr>
              <a:t>X</a:t>
            </a:r>
            <a:r>
              <a:rPr kumimoji="1" lang="en-US" altLang="zh-CN" sz="2400" b="1" baseline="-30000">
                <a:solidFill>
                  <a:schemeClr val="accent2"/>
                </a:solidFill>
                <a:latin typeface="Times New Roman" panose="02020603050405020304" pitchFamily="18" charset="0"/>
              </a:rPr>
              <a:t>1</a:t>
            </a:r>
            <a:r>
              <a:rPr kumimoji="1" lang="zh-CN" altLang="en-US" sz="2400" b="1">
                <a:solidFill>
                  <a:schemeClr val="accent2"/>
                </a:solidFill>
                <a:latin typeface="宋体" panose="02010600030101010101" pitchFamily="2" charset="-122"/>
              </a:rPr>
              <a:t>轴的轴向伸缩系数</a:t>
            </a:r>
          </a:p>
          <a:p>
            <a:r>
              <a:rPr kumimoji="1" lang="en-US" altLang="zh-CN" sz="2400" b="1">
                <a:solidFill>
                  <a:srgbClr val="FF0000"/>
                </a:solidFill>
                <a:latin typeface="Times New Roman" panose="02020603050405020304" pitchFamily="18" charset="0"/>
              </a:rPr>
              <a:t>O</a:t>
            </a:r>
            <a:r>
              <a:rPr kumimoji="1" lang="en-US" altLang="zh-CN" sz="2400" b="1" baseline="-30000">
                <a:solidFill>
                  <a:srgbClr val="FF0000"/>
                </a:solidFill>
                <a:latin typeface="Times New Roman" panose="02020603050405020304" pitchFamily="18" charset="0"/>
              </a:rPr>
              <a:t>1</a:t>
            </a:r>
            <a:r>
              <a:rPr kumimoji="1" lang="en-US" altLang="zh-CN" sz="2400" b="1">
                <a:solidFill>
                  <a:srgbClr val="FF0000"/>
                </a:solidFill>
                <a:latin typeface="Times New Roman" panose="02020603050405020304" pitchFamily="18" charset="0"/>
              </a:rPr>
              <a:t>A</a:t>
            </a:r>
            <a:r>
              <a:rPr kumimoji="1" lang="en-US" altLang="zh-CN" sz="2400" b="1" baseline="-30000">
                <a:solidFill>
                  <a:srgbClr val="FF0000"/>
                </a:solidFill>
                <a:latin typeface="Times New Roman" panose="02020603050405020304" pitchFamily="18" charset="0"/>
              </a:rPr>
              <a:t>1</a:t>
            </a:r>
            <a:r>
              <a:rPr kumimoji="1" lang="en-US" altLang="zh-CN" sz="2400" b="1">
                <a:solidFill>
                  <a:srgbClr val="FF0000"/>
                </a:solidFill>
                <a:latin typeface="Times New Roman" panose="02020603050405020304" pitchFamily="18" charset="0"/>
              </a:rPr>
              <a:t> /OA</a:t>
            </a:r>
            <a:r>
              <a:rPr kumimoji="1" lang="zh-CN" altLang="en-US" sz="2400" b="1">
                <a:solidFill>
                  <a:srgbClr val="FF0000"/>
                </a:solidFill>
                <a:latin typeface="宋体" panose="02010600030101010101" pitchFamily="2" charset="-122"/>
              </a:rPr>
              <a:t>＝ｐ</a:t>
            </a:r>
          </a:p>
        </p:txBody>
      </p:sp>
      <p:sp>
        <p:nvSpPr>
          <p:cNvPr id="57350" name="Text Box 6">
            <a:extLst>
              <a:ext uri="{FF2B5EF4-FFF2-40B4-BE49-F238E27FC236}">
                <a16:creationId xmlns:a16="http://schemas.microsoft.com/office/drawing/2014/main" id="{51E2FAED-371E-4DCB-8EEA-D0412B405827}"/>
              </a:ext>
            </a:extLst>
          </p:cNvPr>
          <p:cNvSpPr txBox="1">
            <a:spLocks noChangeArrowheads="1"/>
          </p:cNvSpPr>
          <p:nvPr/>
        </p:nvSpPr>
        <p:spPr bwMode="auto">
          <a:xfrm>
            <a:off x="457200" y="4343400"/>
            <a:ext cx="3657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chemeClr val="accent2"/>
                </a:solidFill>
                <a:latin typeface="宋体" panose="02010600030101010101" pitchFamily="2" charset="-122"/>
              </a:rPr>
              <a:t>沿</a:t>
            </a:r>
            <a:r>
              <a:rPr kumimoji="1" lang="en-US" altLang="zh-CN" sz="2400" b="1">
                <a:solidFill>
                  <a:schemeClr val="accent2"/>
                </a:solidFill>
                <a:latin typeface="Times New Roman" panose="02020603050405020304" pitchFamily="18" charset="0"/>
              </a:rPr>
              <a:t>O</a:t>
            </a:r>
            <a:r>
              <a:rPr kumimoji="1" lang="en-US" altLang="zh-CN" sz="2400" b="1" baseline="-30000">
                <a:solidFill>
                  <a:schemeClr val="accent2"/>
                </a:solidFill>
                <a:latin typeface="Times New Roman" panose="02020603050405020304" pitchFamily="18" charset="0"/>
              </a:rPr>
              <a:t>1</a:t>
            </a:r>
            <a:r>
              <a:rPr kumimoji="1" lang="en-US" altLang="zh-CN" sz="2400" b="1">
                <a:solidFill>
                  <a:schemeClr val="accent2"/>
                </a:solidFill>
                <a:latin typeface="Times New Roman" panose="02020603050405020304" pitchFamily="18" charset="0"/>
              </a:rPr>
              <a:t>Y</a:t>
            </a:r>
            <a:r>
              <a:rPr kumimoji="1" lang="en-US" altLang="zh-CN" sz="2400" b="1" baseline="-30000">
                <a:solidFill>
                  <a:schemeClr val="accent2"/>
                </a:solidFill>
                <a:latin typeface="Times New Roman" panose="02020603050405020304" pitchFamily="18" charset="0"/>
              </a:rPr>
              <a:t>1</a:t>
            </a:r>
            <a:r>
              <a:rPr kumimoji="1" lang="zh-CN" altLang="en-US" sz="2400" b="1">
                <a:solidFill>
                  <a:schemeClr val="accent2"/>
                </a:solidFill>
                <a:latin typeface="宋体" panose="02010600030101010101" pitchFamily="2" charset="-122"/>
              </a:rPr>
              <a:t>轴的轴向伸缩系数</a:t>
            </a:r>
          </a:p>
          <a:p>
            <a:r>
              <a:rPr kumimoji="1" lang="en-US" altLang="zh-CN" sz="2400" b="1">
                <a:solidFill>
                  <a:srgbClr val="FF0000"/>
                </a:solidFill>
                <a:latin typeface="Times New Roman" panose="02020603050405020304" pitchFamily="18" charset="0"/>
              </a:rPr>
              <a:t>O</a:t>
            </a:r>
            <a:r>
              <a:rPr kumimoji="1" lang="en-US" altLang="zh-CN" sz="2400" b="1" baseline="-30000">
                <a:solidFill>
                  <a:srgbClr val="FF0000"/>
                </a:solidFill>
                <a:latin typeface="Times New Roman" panose="02020603050405020304" pitchFamily="18" charset="0"/>
              </a:rPr>
              <a:t>1</a:t>
            </a:r>
            <a:r>
              <a:rPr kumimoji="1" lang="en-US" altLang="zh-CN" sz="2400" b="1">
                <a:solidFill>
                  <a:srgbClr val="FF0000"/>
                </a:solidFill>
                <a:latin typeface="Times New Roman" panose="02020603050405020304" pitchFamily="18" charset="0"/>
              </a:rPr>
              <a:t>B</a:t>
            </a:r>
            <a:r>
              <a:rPr kumimoji="1" lang="en-US" altLang="zh-CN" sz="2400" b="1" baseline="-30000">
                <a:solidFill>
                  <a:srgbClr val="FF0000"/>
                </a:solidFill>
                <a:latin typeface="Times New Roman" panose="02020603050405020304" pitchFamily="18" charset="0"/>
              </a:rPr>
              <a:t>1</a:t>
            </a:r>
            <a:r>
              <a:rPr kumimoji="1" lang="en-US" altLang="zh-CN" sz="2400" b="1">
                <a:solidFill>
                  <a:srgbClr val="FF0000"/>
                </a:solidFill>
                <a:latin typeface="Times New Roman" panose="02020603050405020304" pitchFamily="18" charset="0"/>
              </a:rPr>
              <a:t>/OB</a:t>
            </a:r>
            <a:r>
              <a:rPr kumimoji="1" lang="zh-CN" altLang="en-US" sz="2400" b="1">
                <a:solidFill>
                  <a:srgbClr val="FF0000"/>
                </a:solidFill>
                <a:latin typeface="宋体" panose="02010600030101010101" pitchFamily="2" charset="-122"/>
              </a:rPr>
              <a:t>＝ｑ</a:t>
            </a:r>
          </a:p>
        </p:txBody>
      </p:sp>
      <p:sp>
        <p:nvSpPr>
          <p:cNvPr id="57351" name="Text Box 7">
            <a:extLst>
              <a:ext uri="{FF2B5EF4-FFF2-40B4-BE49-F238E27FC236}">
                <a16:creationId xmlns:a16="http://schemas.microsoft.com/office/drawing/2014/main" id="{910CF7DA-0306-4416-A49D-42C81D52C565}"/>
              </a:ext>
            </a:extLst>
          </p:cNvPr>
          <p:cNvSpPr txBox="1">
            <a:spLocks noChangeArrowheads="1"/>
          </p:cNvSpPr>
          <p:nvPr/>
        </p:nvSpPr>
        <p:spPr bwMode="auto">
          <a:xfrm>
            <a:off x="457200" y="5334000"/>
            <a:ext cx="3810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chemeClr val="accent2"/>
                </a:solidFill>
                <a:latin typeface="宋体" panose="02010600030101010101" pitchFamily="2" charset="-122"/>
              </a:rPr>
              <a:t>沿</a:t>
            </a:r>
            <a:r>
              <a:rPr kumimoji="1" lang="en-US" altLang="zh-CN" sz="2400" b="1">
                <a:solidFill>
                  <a:schemeClr val="accent2"/>
                </a:solidFill>
                <a:latin typeface="Times New Roman" panose="02020603050405020304" pitchFamily="18" charset="0"/>
              </a:rPr>
              <a:t>O</a:t>
            </a:r>
            <a:r>
              <a:rPr kumimoji="1" lang="en-US" altLang="zh-CN" sz="2400" b="1" baseline="-30000">
                <a:solidFill>
                  <a:schemeClr val="accent2"/>
                </a:solidFill>
                <a:latin typeface="Times New Roman" panose="02020603050405020304" pitchFamily="18" charset="0"/>
              </a:rPr>
              <a:t>1</a:t>
            </a:r>
            <a:r>
              <a:rPr kumimoji="1" lang="en-US" altLang="zh-CN" sz="2400" b="1">
                <a:solidFill>
                  <a:schemeClr val="accent2"/>
                </a:solidFill>
                <a:latin typeface="Times New Roman" panose="02020603050405020304" pitchFamily="18" charset="0"/>
              </a:rPr>
              <a:t>Z</a:t>
            </a:r>
            <a:r>
              <a:rPr kumimoji="1" lang="en-US" altLang="zh-CN" sz="2400" b="1" baseline="-30000">
                <a:solidFill>
                  <a:schemeClr val="accent2"/>
                </a:solidFill>
                <a:latin typeface="Times New Roman" panose="02020603050405020304" pitchFamily="18" charset="0"/>
              </a:rPr>
              <a:t>1</a:t>
            </a:r>
            <a:r>
              <a:rPr kumimoji="1" lang="zh-CN" altLang="en-US" sz="2400" b="1">
                <a:solidFill>
                  <a:schemeClr val="accent2"/>
                </a:solidFill>
                <a:latin typeface="宋体" panose="02010600030101010101" pitchFamily="2" charset="-122"/>
              </a:rPr>
              <a:t>轴的轴向伸缩系数</a:t>
            </a:r>
          </a:p>
          <a:p>
            <a:r>
              <a:rPr kumimoji="1" lang="en-US" altLang="zh-CN" sz="2400" b="1">
                <a:solidFill>
                  <a:srgbClr val="FF0000"/>
                </a:solidFill>
                <a:latin typeface="Times New Roman" panose="02020603050405020304" pitchFamily="18" charset="0"/>
              </a:rPr>
              <a:t>O</a:t>
            </a:r>
            <a:r>
              <a:rPr kumimoji="1" lang="en-US" altLang="zh-CN" sz="2400" b="1" baseline="-30000">
                <a:solidFill>
                  <a:srgbClr val="FF0000"/>
                </a:solidFill>
                <a:latin typeface="Times New Roman" panose="02020603050405020304" pitchFamily="18" charset="0"/>
              </a:rPr>
              <a:t>1</a:t>
            </a:r>
            <a:r>
              <a:rPr kumimoji="1" lang="en-US" altLang="zh-CN" sz="2400" b="1">
                <a:solidFill>
                  <a:srgbClr val="FF0000"/>
                </a:solidFill>
                <a:latin typeface="Times New Roman" panose="02020603050405020304" pitchFamily="18" charset="0"/>
              </a:rPr>
              <a:t>C</a:t>
            </a:r>
            <a:r>
              <a:rPr kumimoji="1" lang="en-US" altLang="zh-CN" sz="2400" b="1" baseline="-30000">
                <a:solidFill>
                  <a:srgbClr val="FF0000"/>
                </a:solidFill>
                <a:latin typeface="Times New Roman" panose="02020603050405020304" pitchFamily="18" charset="0"/>
              </a:rPr>
              <a:t>1</a:t>
            </a:r>
            <a:r>
              <a:rPr kumimoji="1" lang="en-US" altLang="zh-CN" sz="2400" b="1">
                <a:solidFill>
                  <a:srgbClr val="FF0000"/>
                </a:solidFill>
                <a:latin typeface="Times New Roman" panose="02020603050405020304" pitchFamily="18" charset="0"/>
              </a:rPr>
              <a:t>/OC</a:t>
            </a:r>
            <a:r>
              <a:rPr kumimoji="1" lang="zh-CN" altLang="en-US" sz="2400" b="1">
                <a:solidFill>
                  <a:srgbClr val="FF0000"/>
                </a:solidFill>
                <a:latin typeface="宋体" panose="02010600030101010101" pitchFamily="2" charset="-122"/>
              </a:rPr>
              <a:t>＝ｒ</a:t>
            </a:r>
          </a:p>
        </p:txBody>
      </p:sp>
      <p:pic>
        <p:nvPicPr>
          <p:cNvPr id="57352" name="Picture 8">
            <a:extLst>
              <a:ext uri="{FF2B5EF4-FFF2-40B4-BE49-F238E27FC236}">
                <a16:creationId xmlns:a16="http://schemas.microsoft.com/office/drawing/2014/main" id="{F6A9F116-A3B2-4E11-B549-535AEFB22A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0" y="2971800"/>
            <a:ext cx="4560888" cy="35448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7352"/>
                                        </p:tgtEl>
                                        <p:attrNameLst>
                                          <p:attrName>style.visibility</p:attrName>
                                        </p:attrNameLst>
                                      </p:cBhvr>
                                      <p:to>
                                        <p:strVal val="visible"/>
                                      </p:to>
                                    </p:set>
                                    <p:animEffect transition="in" filter="dissolve">
                                      <p:cBhvr>
                                        <p:cTn id="7" dur="500"/>
                                        <p:tgtEl>
                                          <p:spTgt spid="573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57347"/>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57348"/>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57349"/>
                                        </p:tgtEl>
                                        <p:attrNameLst>
                                          <p:attrName>style.visibility</p:attrName>
                                        </p:attrNameLst>
                                      </p:cBhvr>
                                      <p:to>
                                        <p:strVal val="visible"/>
                                      </p:to>
                                    </p:set>
                                    <p:anim calcmode="lin" valueType="num">
                                      <p:cBhvr additive="base">
                                        <p:cTn id="20" dur="500" fill="hold"/>
                                        <p:tgtEl>
                                          <p:spTgt spid="57349"/>
                                        </p:tgtEl>
                                        <p:attrNameLst>
                                          <p:attrName>ppt_x</p:attrName>
                                        </p:attrNameLst>
                                      </p:cBhvr>
                                      <p:tavLst>
                                        <p:tav tm="0">
                                          <p:val>
                                            <p:strVal val="0-#ppt_w/2"/>
                                          </p:val>
                                        </p:tav>
                                        <p:tav tm="100000">
                                          <p:val>
                                            <p:strVal val="#ppt_x"/>
                                          </p:val>
                                        </p:tav>
                                      </p:tavLst>
                                    </p:anim>
                                    <p:anim calcmode="lin" valueType="num">
                                      <p:cBhvr additive="base">
                                        <p:cTn id="21" dur="500" fill="hold"/>
                                        <p:tgtEl>
                                          <p:spTgt spid="57349"/>
                                        </p:tgtEl>
                                        <p:attrNameLst>
                                          <p:attrName>ppt_y</p:attrName>
                                        </p:attrNameLst>
                                      </p:cBhvr>
                                      <p:tavLst>
                                        <p:tav tm="0">
                                          <p:val>
                                            <p:strVal val="#ppt_y"/>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8" fill="hold" grpId="0" nodeType="clickEffect">
                                  <p:stCondLst>
                                    <p:cond delay="0"/>
                                  </p:stCondLst>
                                  <p:childTnLst>
                                    <p:set>
                                      <p:cBhvr>
                                        <p:cTn id="25" dur="1" fill="hold">
                                          <p:stCondLst>
                                            <p:cond delay="0"/>
                                          </p:stCondLst>
                                        </p:cTn>
                                        <p:tgtEl>
                                          <p:spTgt spid="57350"/>
                                        </p:tgtEl>
                                        <p:attrNameLst>
                                          <p:attrName>style.visibility</p:attrName>
                                        </p:attrNameLst>
                                      </p:cBhvr>
                                      <p:to>
                                        <p:strVal val="visible"/>
                                      </p:to>
                                    </p:set>
                                    <p:anim calcmode="lin" valueType="num">
                                      <p:cBhvr additive="base">
                                        <p:cTn id="26" dur="500" fill="hold"/>
                                        <p:tgtEl>
                                          <p:spTgt spid="57350"/>
                                        </p:tgtEl>
                                        <p:attrNameLst>
                                          <p:attrName>ppt_x</p:attrName>
                                        </p:attrNameLst>
                                      </p:cBhvr>
                                      <p:tavLst>
                                        <p:tav tm="0">
                                          <p:val>
                                            <p:strVal val="0-#ppt_w/2"/>
                                          </p:val>
                                        </p:tav>
                                        <p:tav tm="100000">
                                          <p:val>
                                            <p:strVal val="#ppt_x"/>
                                          </p:val>
                                        </p:tav>
                                      </p:tavLst>
                                    </p:anim>
                                    <p:anim calcmode="lin" valueType="num">
                                      <p:cBhvr additive="base">
                                        <p:cTn id="27" dur="500" fill="hold"/>
                                        <p:tgtEl>
                                          <p:spTgt spid="57350"/>
                                        </p:tgtEl>
                                        <p:attrNameLst>
                                          <p:attrName>ppt_y</p:attrName>
                                        </p:attrNameLst>
                                      </p:cBhvr>
                                      <p:tavLst>
                                        <p:tav tm="0">
                                          <p:val>
                                            <p:strVal val="#ppt_y"/>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57351"/>
                                        </p:tgtEl>
                                        <p:attrNameLst>
                                          <p:attrName>style.visibility</p:attrName>
                                        </p:attrNameLst>
                                      </p:cBhvr>
                                      <p:to>
                                        <p:strVal val="visible"/>
                                      </p:to>
                                    </p:set>
                                    <p:anim calcmode="lin" valueType="num">
                                      <p:cBhvr additive="base">
                                        <p:cTn id="32" dur="500" fill="hold"/>
                                        <p:tgtEl>
                                          <p:spTgt spid="57351"/>
                                        </p:tgtEl>
                                        <p:attrNameLst>
                                          <p:attrName>ppt_x</p:attrName>
                                        </p:attrNameLst>
                                      </p:cBhvr>
                                      <p:tavLst>
                                        <p:tav tm="0">
                                          <p:val>
                                            <p:strVal val="0-#ppt_w/2"/>
                                          </p:val>
                                        </p:tav>
                                        <p:tav tm="100000">
                                          <p:val>
                                            <p:strVal val="#ppt_x"/>
                                          </p:val>
                                        </p:tav>
                                      </p:tavLst>
                                    </p:anim>
                                    <p:anim calcmode="lin" valueType="num">
                                      <p:cBhvr additive="base">
                                        <p:cTn id="33" dur="500" fill="hold"/>
                                        <p:tgtEl>
                                          <p:spTgt spid="573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autoUpdateAnimBg="0"/>
      <p:bldP spid="57348" grpId="0" autoUpdateAnimBg="0"/>
      <p:bldP spid="57349" grpId="0" autoUpdateAnimBg="0"/>
      <p:bldP spid="57350" grpId="0" autoUpdateAnimBg="0"/>
      <p:bldP spid="57351"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3" name="Text Box 5">
            <a:extLst>
              <a:ext uri="{FF2B5EF4-FFF2-40B4-BE49-F238E27FC236}">
                <a16:creationId xmlns:a16="http://schemas.microsoft.com/office/drawing/2014/main" id="{7E0C3D41-4523-43D6-AD88-DB8DEB3C09E2}"/>
              </a:ext>
            </a:extLst>
          </p:cNvPr>
          <p:cNvSpPr txBox="1">
            <a:spLocks noChangeArrowheads="1"/>
          </p:cNvSpPr>
          <p:nvPr/>
        </p:nvSpPr>
        <p:spPr bwMode="auto">
          <a:xfrm>
            <a:off x="323850" y="1030288"/>
            <a:ext cx="26844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a:solidFill>
                  <a:srgbClr val="CC00CC"/>
                </a:solidFill>
                <a:latin typeface="宋体" panose="02010600030101010101" pitchFamily="2" charset="-122"/>
              </a:rPr>
              <a:t>轴测投影的种类</a:t>
            </a:r>
            <a:endParaRPr kumimoji="1" lang="zh-CN" altLang="en-US" sz="2400">
              <a:latin typeface="Times New Roman" panose="02020603050405020304" pitchFamily="18" charset="0"/>
            </a:endParaRPr>
          </a:p>
        </p:txBody>
      </p:sp>
      <p:sp>
        <p:nvSpPr>
          <p:cNvPr id="58374" name="Text Box 6">
            <a:extLst>
              <a:ext uri="{FF2B5EF4-FFF2-40B4-BE49-F238E27FC236}">
                <a16:creationId xmlns:a16="http://schemas.microsoft.com/office/drawing/2014/main" id="{8458C2BF-D0FF-410F-AD72-7F7C0B2C0558}"/>
              </a:ext>
            </a:extLst>
          </p:cNvPr>
          <p:cNvSpPr txBox="1">
            <a:spLocks noChangeArrowheads="1"/>
          </p:cNvSpPr>
          <p:nvPr/>
        </p:nvSpPr>
        <p:spPr bwMode="auto">
          <a:xfrm>
            <a:off x="704850" y="2043113"/>
            <a:ext cx="5775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FF0000"/>
                </a:solidFill>
                <a:latin typeface="宋体" panose="02010600030101010101" pitchFamily="2" charset="-122"/>
              </a:rPr>
              <a:t>正轴测投影</a:t>
            </a:r>
            <a:r>
              <a:rPr kumimoji="1" lang="zh-CN" altLang="en-US" sz="2400" b="1" dirty="0">
                <a:solidFill>
                  <a:schemeClr val="accent2"/>
                </a:solidFill>
                <a:latin typeface="宋体" panose="02010600030101010101" pitchFamily="2" charset="-122"/>
              </a:rPr>
              <a:t>：投射方向垂直于轴测投影面</a:t>
            </a:r>
            <a:r>
              <a:rPr kumimoji="1" lang="zh-CN" altLang="en-US" sz="2400" b="1" dirty="0">
                <a:solidFill>
                  <a:schemeClr val="accent2"/>
                </a:solidFill>
                <a:latin typeface="Times New Roman" panose="02020603050405020304" pitchFamily="18" charset="0"/>
              </a:rPr>
              <a:t> </a:t>
            </a:r>
          </a:p>
        </p:txBody>
      </p:sp>
      <p:sp>
        <p:nvSpPr>
          <p:cNvPr id="58375" name="Text Box 7">
            <a:extLst>
              <a:ext uri="{FF2B5EF4-FFF2-40B4-BE49-F238E27FC236}">
                <a16:creationId xmlns:a16="http://schemas.microsoft.com/office/drawing/2014/main" id="{526C14E5-6A68-4D38-A3C6-8FDA479CD3F8}"/>
              </a:ext>
            </a:extLst>
          </p:cNvPr>
          <p:cNvSpPr txBox="1">
            <a:spLocks noChangeArrowheads="1"/>
          </p:cNvSpPr>
          <p:nvPr/>
        </p:nvSpPr>
        <p:spPr bwMode="auto">
          <a:xfrm>
            <a:off x="704850" y="2805113"/>
            <a:ext cx="5775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FF0000"/>
                </a:solidFill>
                <a:latin typeface="宋体" panose="02010600030101010101" pitchFamily="2" charset="-122"/>
              </a:rPr>
              <a:t>斜轴测投影</a:t>
            </a:r>
            <a:r>
              <a:rPr kumimoji="1" lang="zh-CN" altLang="en-US" sz="2400" b="1" dirty="0">
                <a:solidFill>
                  <a:schemeClr val="accent2"/>
                </a:solidFill>
                <a:latin typeface="宋体" panose="02010600030101010101" pitchFamily="2" charset="-122"/>
              </a:rPr>
              <a:t>：投射方向倾斜于轴测投影面</a:t>
            </a:r>
            <a:r>
              <a:rPr kumimoji="1" lang="zh-CN" altLang="en-US" sz="2400" dirty="0">
                <a:latin typeface="Times New Roman" panose="02020603050405020304" pitchFamily="18" charset="0"/>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a:extLst>
              <a:ext uri="{FF2B5EF4-FFF2-40B4-BE49-F238E27FC236}">
                <a16:creationId xmlns:a16="http://schemas.microsoft.com/office/drawing/2014/main" id="{1B5CEC7C-2445-4F18-AA5B-D845B5909438}"/>
              </a:ext>
            </a:extLst>
          </p:cNvPr>
          <p:cNvSpPr txBox="1">
            <a:spLocks noChangeArrowheads="1"/>
          </p:cNvSpPr>
          <p:nvPr/>
        </p:nvSpPr>
        <p:spPr bwMode="auto">
          <a:xfrm>
            <a:off x="-180528" y="546607"/>
            <a:ext cx="4059238"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en-US" altLang="zh-CN" sz="3600" b="1" dirty="0">
                <a:solidFill>
                  <a:srgbClr val="000000"/>
                </a:solidFill>
                <a:latin typeface="楷体_GB2312" pitchFamily="49" charset="-122"/>
                <a:ea typeface="楷体_GB2312" pitchFamily="49" charset="-122"/>
              </a:rPr>
              <a:t>  </a:t>
            </a:r>
            <a:r>
              <a:rPr kumimoji="1" lang="zh-CN" altLang="en-US" sz="3600" b="1" dirty="0">
                <a:solidFill>
                  <a:srgbClr val="000000"/>
                </a:solidFill>
                <a:latin typeface="楷体_GB2312" pitchFamily="49" charset="-122"/>
                <a:ea typeface="楷体_GB2312" pitchFamily="49" charset="-122"/>
              </a:rPr>
              <a:t>轴测投影的种类</a:t>
            </a:r>
          </a:p>
        </p:txBody>
      </p:sp>
      <p:sp>
        <p:nvSpPr>
          <p:cNvPr id="10243" name="Text Box 3">
            <a:extLst>
              <a:ext uri="{FF2B5EF4-FFF2-40B4-BE49-F238E27FC236}">
                <a16:creationId xmlns:a16="http://schemas.microsoft.com/office/drawing/2014/main" id="{1599EE63-98A8-4DD6-B87A-93CE65B18605}"/>
              </a:ext>
            </a:extLst>
          </p:cNvPr>
          <p:cNvSpPr txBox="1">
            <a:spLocks noChangeArrowheads="1"/>
          </p:cNvSpPr>
          <p:nvPr/>
        </p:nvSpPr>
        <p:spPr bwMode="auto">
          <a:xfrm>
            <a:off x="0" y="2225675"/>
            <a:ext cx="2195513" cy="579438"/>
          </a:xfrm>
          <a:prstGeom prst="rect">
            <a:avLst/>
          </a:prstGeom>
          <a:gradFill rotWithShape="0">
            <a:gsLst>
              <a:gs pos="0">
                <a:srgbClr val="CCECFF"/>
              </a:gs>
              <a:gs pos="50000">
                <a:srgbClr val="FFFFFF"/>
              </a:gs>
              <a:gs pos="100000">
                <a:srgbClr val="CCECFF"/>
              </a:gs>
            </a:gsLst>
            <a:lin ang="540000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zh-CN" altLang="en-US" sz="3200" b="1">
                <a:solidFill>
                  <a:srgbClr val="000000"/>
                </a:solidFill>
                <a:latin typeface="Times New Roman" panose="02020603050405020304" pitchFamily="18" charset="0"/>
                <a:ea typeface="楷体_GB2312" pitchFamily="49" charset="-122"/>
              </a:rPr>
              <a:t>轴测投影</a:t>
            </a:r>
          </a:p>
        </p:txBody>
      </p:sp>
      <p:sp>
        <p:nvSpPr>
          <p:cNvPr id="10244" name="AutoShape 4">
            <a:extLst>
              <a:ext uri="{FF2B5EF4-FFF2-40B4-BE49-F238E27FC236}">
                <a16:creationId xmlns:a16="http://schemas.microsoft.com/office/drawing/2014/main" id="{5E608C68-E7E7-4B40-AC55-3BAC2969F874}"/>
              </a:ext>
            </a:extLst>
          </p:cNvPr>
          <p:cNvSpPr>
            <a:spLocks/>
          </p:cNvSpPr>
          <p:nvPr/>
        </p:nvSpPr>
        <p:spPr bwMode="auto">
          <a:xfrm>
            <a:off x="1925638" y="1544638"/>
            <a:ext cx="533400" cy="1905000"/>
          </a:xfrm>
          <a:prstGeom prst="leftBrace">
            <a:avLst>
              <a:gd name="adj1" fmla="val 29762"/>
              <a:gd name="adj2" fmla="val 50000"/>
            </a:avLst>
          </a:prstGeom>
          <a:noFill/>
          <a:ln w="28575">
            <a:solidFill>
              <a:schemeClr val="tx2"/>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pPr algn="ctr"/>
            <a:endParaRPr kumimoji="1" lang="zh-CN" altLang="zh-CN" sz="2400" b="1">
              <a:solidFill>
                <a:schemeClr val="tx2"/>
              </a:solidFill>
              <a:latin typeface="Times New Roman" panose="02020603050405020304" pitchFamily="18" charset="0"/>
            </a:endParaRPr>
          </a:p>
        </p:txBody>
      </p:sp>
      <p:sp>
        <p:nvSpPr>
          <p:cNvPr id="10245" name="AutoShape 5">
            <a:extLst>
              <a:ext uri="{FF2B5EF4-FFF2-40B4-BE49-F238E27FC236}">
                <a16:creationId xmlns:a16="http://schemas.microsoft.com/office/drawing/2014/main" id="{0E44CCB4-5A9F-45D7-8D5B-6E6EFBBADD1E}"/>
              </a:ext>
            </a:extLst>
          </p:cNvPr>
          <p:cNvSpPr>
            <a:spLocks noChangeArrowheads="1"/>
          </p:cNvSpPr>
          <p:nvPr/>
        </p:nvSpPr>
        <p:spPr bwMode="auto">
          <a:xfrm>
            <a:off x="2555875" y="1066800"/>
            <a:ext cx="2098675" cy="914400"/>
          </a:xfrm>
          <a:prstGeom prst="rightArrow">
            <a:avLst>
              <a:gd name="adj1" fmla="val 50000"/>
              <a:gd name="adj2" fmla="val 57378"/>
            </a:avLst>
          </a:prstGeom>
          <a:gradFill rotWithShape="0">
            <a:gsLst>
              <a:gs pos="0">
                <a:srgbClr val="CCFFFF"/>
              </a:gs>
              <a:gs pos="50000">
                <a:srgbClr val="FFFFFF"/>
              </a:gs>
              <a:gs pos="100000">
                <a:srgbClr val="CCFFFF"/>
              </a:gs>
            </a:gsLst>
            <a:lin ang="5400000" scaled="1"/>
          </a:gradFill>
          <a:ln w="9525">
            <a:solidFill>
              <a:schemeClr val="tx1"/>
            </a:solidFill>
            <a:miter lim="800000"/>
            <a:headEnd/>
            <a:tailEnd/>
          </a:ln>
        </p:spPr>
        <p:txBody>
          <a:bodyPr wrap="none" anchor="ctr"/>
          <a:lstStyle/>
          <a:p>
            <a:pPr algn="ctr"/>
            <a:r>
              <a:rPr kumimoji="1" lang="zh-CN" altLang="en-US" sz="2800" b="1">
                <a:solidFill>
                  <a:srgbClr val="000000"/>
                </a:solidFill>
                <a:latin typeface="Times New Roman" panose="02020603050405020304" pitchFamily="18" charset="0"/>
                <a:ea typeface="楷体_GB2312" pitchFamily="49" charset="-122"/>
              </a:rPr>
              <a:t>正轴测投影</a:t>
            </a:r>
          </a:p>
        </p:txBody>
      </p:sp>
      <p:sp>
        <p:nvSpPr>
          <p:cNvPr id="10246" name="Rectangle 6">
            <a:extLst>
              <a:ext uri="{FF2B5EF4-FFF2-40B4-BE49-F238E27FC236}">
                <a16:creationId xmlns:a16="http://schemas.microsoft.com/office/drawing/2014/main" id="{2E937B05-1FBA-4F97-9157-EB5462394F00}"/>
              </a:ext>
            </a:extLst>
          </p:cNvPr>
          <p:cNvSpPr>
            <a:spLocks noChangeArrowheads="1"/>
          </p:cNvSpPr>
          <p:nvPr/>
        </p:nvSpPr>
        <p:spPr bwMode="auto">
          <a:xfrm>
            <a:off x="4721225" y="762000"/>
            <a:ext cx="3730625" cy="1524000"/>
          </a:xfrm>
          <a:prstGeom prst="rect">
            <a:avLst/>
          </a:prstGeom>
          <a:gradFill rotWithShape="0">
            <a:gsLst>
              <a:gs pos="0">
                <a:srgbClr val="FFFFFF"/>
              </a:gs>
              <a:gs pos="100000">
                <a:srgbClr val="CCFFFF"/>
              </a:gs>
            </a:gsLst>
            <a:lin ang="540000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r>
              <a:rPr kumimoji="1" lang="zh-CN" altLang="en-US" sz="2800" b="1">
                <a:solidFill>
                  <a:srgbClr val="000000"/>
                </a:solidFill>
                <a:latin typeface="Times New Roman" panose="02020603050405020304" pitchFamily="18" charset="0"/>
                <a:ea typeface="楷体_GB2312" pitchFamily="49" charset="-122"/>
              </a:rPr>
              <a:t>正等轴测图</a:t>
            </a:r>
            <a:r>
              <a:rPr kumimoji="1" lang="zh-CN" altLang="en-US" sz="2800" b="1">
                <a:solidFill>
                  <a:srgbClr val="000000"/>
                </a:solidFill>
                <a:latin typeface="Times New Roman" panose="02020603050405020304" pitchFamily="18" charset="0"/>
              </a:rPr>
              <a:t>    </a:t>
            </a:r>
            <a:r>
              <a:rPr kumimoji="1" lang="en-US" altLang="zh-CN" sz="2800" b="1">
                <a:solidFill>
                  <a:srgbClr val="000000"/>
                </a:solidFill>
                <a:latin typeface="Times New Roman" panose="02020603050405020304" pitchFamily="18" charset="0"/>
              </a:rPr>
              <a:t>p = q = r</a:t>
            </a:r>
          </a:p>
          <a:p>
            <a:r>
              <a:rPr kumimoji="1" lang="zh-CN" altLang="en-US" sz="2800" b="1">
                <a:solidFill>
                  <a:srgbClr val="000000"/>
                </a:solidFill>
                <a:latin typeface="Times New Roman" panose="02020603050405020304" pitchFamily="18" charset="0"/>
                <a:ea typeface="楷体_GB2312" pitchFamily="49" charset="-122"/>
              </a:rPr>
              <a:t>正二轴测图</a:t>
            </a:r>
            <a:r>
              <a:rPr kumimoji="1" lang="zh-CN" altLang="en-US" sz="2800" b="1">
                <a:solidFill>
                  <a:srgbClr val="000000"/>
                </a:solidFill>
                <a:latin typeface="Times New Roman" panose="02020603050405020304" pitchFamily="18" charset="0"/>
              </a:rPr>
              <a:t>    </a:t>
            </a:r>
            <a:r>
              <a:rPr kumimoji="1" lang="en-US" altLang="zh-CN" sz="2800" b="1">
                <a:solidFill>
                  <a:srgbClr val="000000"/>
                </a:solidFill>
                <a:latin typeface="Times New Roman" panose="02020603050405020304" pitchFamily="18" charset="0"/>
              </a:rPr>
              <a:t>p = r </a:t>
            </a:r>
            <a:r>
              <a:rPr kumimoji="1" lang="en-US" altLang="zh-CN" sz="2800" b="1">
                <a:solidFill>
                  <a:srgbClr val="000000"/>
                </a:solidFill>
                <a:latin typeface="Times New Roman" panose="02020603050405020304" pitchFamily="18" charset="0"/>
                <a:sym typeface="Symbol" panose="05050102010706020507" pitchFamily="18" charset="2"/>
              </a:rPr>
              <a:t> q</a:t>
            </a:r>
          </a:p>
          <a:p>
            <a:r>
              <a:rPr kumimoji="1" lang="zh-CN" altLang="en-US" sz="2800" b="1">
                <a:solidFill>
                  <a:srgbClr val="000000"/>
                </a:solidFill>
                <a:latin typeface="Times New Roman" panose="02020603050405020304" pitchFamily="18" charset="0"/>
                <a:ea typeface="楷体_GB2312" pitchFamily="49" charset="-122"/>
                <a:sym typeface="Symbol" panose="05050102010706020507" pitchFamily="18" charset="2"/>
              </a:rPr>
              <a:t>正三轴测图</a:t>
            </a:r>
            <a:r>
              <a:rPr kumimoji="1" lang="zh-CN" altLang="en-US" sz="2800" b="1">
                <a:solidFill>
                  <a:srgbClr val="000000"/>
                </a:solidFill>
                <a:latin typeface="Times New Roman" panose="02020603050405020304" pitchFamily="18" charset="0"/>
                <a:sym typeface="Symbol" panose="05050102010706020507" pitchFamily="18" charset="2"/>
              </a:rPr>
              <a:t>    </a:t>
            </a:r>
            <a:r>
              <a:rPr kumimoji="1" lang="en-US" altLang="zh-CN" sz="2800" b="1">
                <a:solidFill>
                  <a:srgbClr val="000000"/>
                </a:solidFill>
                <a:latin typeface="Times New Roman" panose="02020603050405020304" pitchFamily="18" charset="0"/>
                <a:sym typeface="Symbol" panose="05050102010706020507" pitchFamily="18" charset="2"/>
              </a:rPr>
              <a:t>p  q  r</a:t>
            </a:r>
          </a:p>
        </p:txBody>
      </p:sp>
      <p:sp>
        <p:nvSpPr>
          <p:cNvPr id="10247" name="AutoShape 7">
            <a:extLst>
              <a:ext uri="{FF2B5EF4-FFF2-40B4-BE49-F238E27FC236}">
                <a16:creationId xmlns:a16="http://schemas.microsoft.com/office/drawing/2014/main" id="{664B977A-08DE-4111-BAFB-6142E7A43266}"/>
              </a:ext>
            </a:extLst>
          </p:cNvPr>
          <p:cNvSpPr>
            <a:spLocks noChangeArrowheads="1"/>
          </p:cNvSpPr>
          <p:nvPr/>
        </p:nvSpPr>
        <p:spPr bwMode="auto">
          <a:xfrm>
            <a:off x="2484438" y="2895600"/>
            <a:ext cx="2159000" cy="990600"/>
          </a:xfrm>
          <a:prstGeom prst="rightArrow">
            <a:avLst>
              <a:gd name="adj1" fmla="val 50000"/>
              <a:gd name="adj2" fmla="val 54487"/>
            </a:avLst>
          </a:prstGeom>
          <a:gradFill rotWithShape="0">
            <a:gsLst>
              <a:gs pos="0">
                <a:srgbClr val="CCFFCC"/>
              </a:gs>
              <a:gs pos="50000">
                <a:srgbClr val="FFFFFF"/>
              </a:gs>
              <a:gs pos="100000">
                <a:srgbClr val="CCFFCC"/>
              </a:gs>
            </a:gsLst>
            <a:lin ang="5400000" scaled="1"/>
          </a:gradFill>
          <a:ln w="9525">
            <a:solidFill>
              <a:schemeClr val="tx1"/>
            </a:solidFill>
            <a:miter lim="800000"/>
            <a:headEnd/>
            <a:tailEnd/>
          </a:ln>
        </p:spPr>
        <p:txBody>
          <a:bodyPr wrap="none" anchor="ctr"/>
          <a:lstStyle/>
          <a:p>
            <a:pPr algn="ctr"/>
            <a:r>
              <a:rPr kumimoji="1" lang="zh-CN" altLang="en-US" sz="2800" b="1">
                <a:solidFill>
                  <a:srgbClr val="000000"/>
                </a:solidFill>
                <a:latin typeface="Times New Roman" panose="02020603050405020304" pitchFamily="18" charset="0"/>
                <a:ea typeface="楷体_GB2312" pitchFamily="49" charset="-122"/>
              </a:rPr>
              <a:t>斜轴测投影</a:t>
            </a:r>
          </a:p>
        </p:txBody>
      </p:sp>
      <p:sp>
        <p:nvSpPr>
          <p:cNvPr id="10248" name="Rectangle 8">
            <a:extLst>
              <a:ext uri="{FF2B5EF4-FFF2-40B4-BE49-F238E27FC236}">
                <a16:creationId xmlns:a16="http://schemas.microsoft.com/office/drawing/2014/main" id="{AC3F61E9-B80D-46F4-AAB2-59C623D179AC}"/>
              </a:ext>
            </a:extLst>
          </p:cNvPr>
          <p:cNvSpPr>
            <a:spLocks noChangeArrowheads="1"/>
          </p:cNvSpPr>
          <p:nvPr/>
        </p:nvSpPr>
        <p:spPr bwMode="auto">
          <a:xfrm>
            <a:off x="4787900" y="2636838"/>
            <a:ext cx="3730625" cy="1447800"/>
          </a:xfrm>
          <a:prstGeom prst="rect">
            <a:avLst/>
          </a:prstGeom>
          <a:gradFill rotWithShape="0">
            <a:gsLst>
              <a:gs pos="0">
                <a:srgbClr val="CCFFCC"/>
              </a:gs>
              <a:gs pos="50000">
                <a:srgbClr val="FFFFFF"/>
              </a:gs>
              <a:gs pos="100000">
                <a:srgbClr val="CCFFCC"/>
              </a:gs>
            </a:gsLst>
            <a:lin ang="540000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a:r>
              <a:rPr kumimoji="1" lang="zh-CN" altLang="en-US" sz="2800" b="1">
                <a:solidFill>
                  <a:srgbClr val="000000"/>
                </a:solidFill>
                <a:latin typeface="Times New Roman" panose="02020603050405020304" pitchFamily="18" charset="0"/>
                <a:ea typeface="楷体_GB2312" pitchFamily="49" charset="-122"/>
              </a:rPr>
              <a:t>斜等轴测图</a:t>
            </a:r>
            <a:r>
              <a:rPr kumimoji="1" lang="zh-CN" altLang="en-US" sz="2800" b="1">
                <a:solidFill>
                  <a:srgbClr val="000000"/>
                </a:solidFill>
                <a:latin typeface="Times New Roman" panose="02020603050405020304" pitchFamily="18" charset="0"/>
              </a:rPr>
              <a:t>    </a:t>
            </a:r>
            <a:r>
              <a:rPr kumimoji="1" lang="en-US" altLang="zh-CN" sz="2800" b="1">
                <a:solidFill>
                  <a:srgbClr val="000000"/>
                </a:solidFill>
                <a:latin typeface="Times New Roman" panose="02020603050405020304" pitchFamily="18" charset="0"/>
              </a:rPr>
              <a:t>p = q = r</a:t>
            </a:r>
          </a:p>
          <a:p>
            <a:pPr algn="ctr"/>
            <a:r>
              <a:rPr kumimoji="1" lang="zh-CN" altLang="en-US" sz="2800" b="1">
                <a:solidFill>
                  <a:srgbClr val="000000"/>
                </a:solidFill>
                <a:latin typeface="Times New Roman" panose="02020603050405020304" pitchFamily="18" charset="0"/>
                <a:ea typeface="楷体_GB2312" pitchFamily="49" charset="-122"/>
              </a:rPr>
              <a:t>斜二轴测图</a:t>
            </a:r>
            <a:r>
              <a:rPr kumimoji="1" lang="zh-CN" altLang="en-US" sz="2800" b="1">
                <a:solidFill>
                  <a:srgbClr val="000000"/>
                </a:solidFill>
                <a:latin typeface="Times New Roman" panose="02020603050405020304" pitchFamily="18" charset="0"/>
              </a:rPr>
              <a:t>    </a:t>
            </a:r>
            <a:r>
              <a:rPr kumimoji="1" lang="en-US" altLang="zh-CN" sz="2800" b="1">
                <a:solidFill>
                  <a:srgbClr val="000000"/>
                </a:solidFill>
                <a:latin typeface="Times New Roman" panose="02020603050405020304" pitchFamily="18" charset="0"/>
              </a:rPr>
              <a:t>p = r </a:t>
            </a:r>
            <a:r>
              <a:rPr kumimoji="1" lang="en-US" altLang="zh-CN" sz="2800" b="1">
                <a:solidFill>
                  <a:srgbClr val="000000"/>
                </a:solidFill>
                <a:latin typeface="Times New Roman" panose="02020603050405020304" pitchFamily="18" charset="0"/>
                <a:sym typeface="Symbol" panose="05050102010706020507" pitchFamily="18" charset="2"/>
              </a:rPr>
              <a:t> q</a:t>
            </a:r>
          </a:p>
          <a:p>
            <a:pPr algn="ctr"/>
            <a:r>
              <a:rPr kumimoji="1" lang="zh-CN" altLang="en-US" sz="2800" b="1">
                <a:solidFill>
                  <a:srgbClr val="000000"/>
                </a:solidFill>
                <a:latin typeface="Times New Roman" panose="02020603050405020304" pitchFamily="18" charset="0"/>
                <a:ea typeface="楷体_GB2312" pitchFamily="49" charset="-122"/>
                <a:sym typeface="Symbol" panose="05050102010706020507" pitchFamily="18" charset="2"/>
              </a:rPr>
              <a:t>斜三轴测图</a:t>
            </a:r>
            <a:r>
              <a:rPr kumimoji="1" lang="zh-CN" altLang="en-US" sz="2800" b="1">
                <a:solidFill>
                  <a:srgbClr val="000000"/>
                </a:solidFill>
                <a:latin typeface="Times New Roman" panose="02020603050405020304" pitchFamily="18" charset="0"/>
                <a:sym typeface="Symbol" panose="05050102010706020507" pitchFamily="18" charset="2"/>
              </a:rPr>
              <a:t>    </a:t>
            </a:r>
            <a:r>
              <a:rPr kumimoji="1" lang="en-US" altLang="zh-CN" sz="2800" b="1">
                <a:solidFill>
                  <a:srgbClr val="000000"/>
                </a:solidFill>
                <a:latin typeface="Times New Roman" panose="02020603050405020304" pitchFamily="18" charset="0"/>
                <a:sym typeface="Symbol" panose="05050102010706020507" pitchFamily="18" charset="2"/>
              </a:rPr>
              <a:t>p  q  r</a:t>
            </a:r>
            <a:endParaRPr kumimoji="1" lang="en-US" altLang="zh-CN" sz="2800" b="1">
              <a:solidFill>
                <a:srgbClr val="000000"/>
              </a:solidFill>
              <a:latin typeface="Times New Roman" panose="02020603050405020304" pitchFamily="18" charset="0"/>
            </a:endParaRPr>
          </a:p>
        </p:txBody>
      </p:sp>
      <p:grpSp>
        <p:nvGrpSpPr>
          <p:cNvPr id="10249" name="Group 9">
            <a:extLst>
              <a:ext uri="{FF2B5EF4-FFF2-40B4-BE49-F238E27FC236}">
                <a16:creationId xmlns:a16="http://schemas.microsoft.com/office/drawing/2014/main" id="{B7E9E623-D4E3-4AF1-8CE4-633F3E8E8953}"/>
              </a:ext>
            </a:extLst>
          </p:cNvPr>
          <p:cNvGrpSpPr>
            <a:grpSpLocks/>
          </p:cNvGrpSpPr>
          <p:nvPr/>
        </p:nvGrpSpPr>
        <p:grpSpPr bwMode="auto">
          <a:xfrm>
            <a:off x="1655763" y="4127500"/>
            <a:ext cx="1752600" cy="2627313"/>
            <a:chOff x="1056" y="2640"/>
            <a:chExt cx="1104" cy="1891"/>
          </a:xfrm>
        </p:grpSpPr>
        <p:grpSp>
          <p:nvGrpSpPr>
            <p:cNvPr id="10250" name="Group 10">
              <a:extLst>
                <a:ext uri="{FF2B5EF4-FFF2-40B4-BE49-F238E27FC236}">
                  <a16:creationId xmlns:a16="http://schemas.microsoft.com/office/drawing/2014/main" id="{1C164ECB-8EC8-4F80-9580-49FA483C804F}"/>
                </a:ext>
              </a:extLst>
            </p:cNvPr>
            <p:cNvGrpSpPr>
              <a:grpSpLocks/>
            </p:cNvGrpSpPr>
            <p:nvPr/>
          </p:nvGrpSpPr>
          <p:grpSpPr bwMode="auto">
            <a:xfrm>
              <a:off x="1152" y="2640"/>
              <a:ext cx="1008" cy="1200"/>
              <a:chOff x="912" y="2683"/>
              <a:chExt cx="1248" cy="1445"/>
            </a:xfrm>
          </p:grpSpPr>
          <p:sp>
            <p:nvSpPr>
              <p:cNvPr id="10251" name="Line 11">
                <a:extLst>
                  <a:ext uri="{FF2B5EF4-FFF2-40B4-BE49-F238E27FC236}">
                    <a16:creationId xmlns:a16="http://schemas.microsoft.com/office/drawing/2014/main" id="{81EB2064-65C4-4E58-B1BE-BE7FA08A95A6}"/>
                  </a:ext>
                </a:extLst>
              </p:cNvPr>
              <p:cNvSpPr>
                <a:spLocks noChangeShapeType="1"/>
              </p:cNvSpPr>
              <p:nvPr/>
            </p:nvSpPr>
            <p:spPr bwMode="auto">
              <a:xfrm flipH="1">
                <a:off x="912" y="2686"/>
                <a:ext cx="576" cy="33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52" name="Line 12">
                <a:extLst>
                  <a:ext uri="{FF2B5EF4-FFF2-40B4-BE49-F238E27FC236}">
                    <a16:creationId xmlns:a16="http://schemas.microsoft.com/office/drawing/2014/main" id="{9241C895-E279-46DA-A204-280790EDE96A}"/>
                  </a:ext>
                </a:extLst>
              </p:cNvPr>
              <p:cNvSpPr>
                <a:spLocks noChangeShapeType="1"/>
              </p:cNvSpPr>
              <p:nvPr/>
            </p:nvSpPr>
            <p:spPr bwMode="auto">
              <a:xfrm>
                <a:off x="912" y="3019"/>
                <a:ext cx="19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53" name="Line 13">
                <a:extLst>
                  <a:ext uri="{FF2B5EF4-FFF2-40B4-BE49-F238E27FC236}">
                    <a16:creationId xmlns:a16="http://schemas.microsoft.com/office/drawing/2014/main" id="{B75F581D-8FF4-4890-AD49-A181776F1930}"/>
                  </a:ext>
                </a:extLst>
              </p:cNvPr>
              <p:cNvSpPr>
                <a:spLocks noChangeShapeType="1"/>
              </p:cNvSpPr>
              <p:nvPr/>
            </p:nvSpPr>
            <p:spPr bwMode="auto">
              <a:xfrm>
                <a:off x="1488" y="2683"/>
                <a:ext cx="19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54" name="Line 14">
                <a:extLst>
                  <a:ext uri="{FF2B5EF4-FFF2-40B4-BE49-F238E27FC236}">
                    <a16:creationId xmlns:a16="http://schemas.microsoft.com/office/drawing/2014/main" id="{C23EED44-263C-4652-9972-9D14DF8054D5}"/>
                  </a:ext>
                </a:extLst>
              </p:cNvPr>
              <p:cNvSpPr>
                <a:spLocks noChangeShapeType="1"/>
              </p:cNvSpPr>
              <p:nvPr/>
            </p:nvSpPr>
            <p:spPr bwMode="auto">
              <a:xfrm flipV="1">
                <a:off x="1104" y="2783"/>
                <a:ext cx="576" cy="3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55" name="Line 15">
                <a:extLst>
                  <a:ext uri="{FF2B5EF4-FFF2-40B4-BE49-F238E27FC236}">
                    <a16:creationId xmlns:a16="http://schemas.microsoft.com/office/drawing/2014/main" id="{8E08CA7A-5FEA-44A4-80BB-B6CB9FACF0B4}"/>
                  </a:ext>
                </a:extLst>
              </p:cNvPr>
              <p:cNvSpPr>
                <a:spLocks noChangeShapeType="1"/>
              </p:cNvSpPr>
              <p:nvPr/>
            </p:nvSpPr>
            <p:spPr bwMode="auto">
              <a:xfrm>
                <a:off x="912" y="3019"/>
                <a:ext cx="0" cy="72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56" name="Line 16">
                <a:extLst>
                  <a:ext uri="{FF2B5EF4-FFF2-40B4-BE49-F238E27FC236}">
                    <a16:creationId xmlns:a16="http://schemas.microsoft.com/office/drawing/2014/main" id="{5EE590EC-2E4C-4DB9-BE2B-8CA0DEC5959F}"/>
                  </a:ext>
                </a:extLst>
              </p:cNvPr>
              <p:cNvSpPr>
                <a:spLocks noChangeShapeType="1"/>
              </p:cNvSpPr>
              <p:nvPr/>
            </p:nvSpPr>
            <p:spPr bwMode="auto">
              <a:xfrm>
                <a:off x="1104" y="3115"/>
                <a:ext cx="0" cy="52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57" name="Line 17">
                <a:extLst>
                  <a:ext uri="{FF2B5EF4-FFF2-40B4-BE49-F238E27FC236}">
                    <a16:creationId xmlns:a16="http://schemas.microsoft.com/office/drawing/2014/main" id="{CC468C42-1501-4EB5-8A4F-F83C5E720A3C}"/>
                  </a:ext>
                </a:extLst>
              </p:cNvPr>
              <p:cNvSpPr>
                <a:spLocks noChangeShapeType="1"/>
              </p:cNvSpPr>
              <p:nvPr/>
            </p:nvSpPr>
            <p:spPr bwMode="auto">
              <a:xfrm>
                <a:off x="912" y="3739"/>
                <a:ext cx="672" cy="38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58" name="Line 18">
                <a:extLst>
                  <a:ext uri="{FF2B5EF4-FFF2-40B4-BE49-F238E27FC236}">
                    <a16:creationId xmlns:a16="http://schemas.microsoft.com/office/drawing/2014/main" id="{4FBC8AF1-8E2F-476D-9359-BA818DEFBFB6}"/>
                  </a:ext>
                </a:extLst>
              </p:cNvPr>
              <p:cNvSpPr>
                <a:spLocks noChangeShapeType="1"/>
              </p:cNvSpPr>
              <p:nvPr/>
            </p:nvSpPr>
            <p:spPr bwMode="auto">
              <a:xfrm>
                <a:off x="1104" y="3643"/>
                <a:ext cx="480"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59" name="Line 19">
                <a:extLst>
                  <a:ext uri="{FF2B5EF4-FFF2-40B4-BE49-F238E27FC236}">
                    <a16:creationId xmlns:a16="http://schemas.microsoft.com/office/drawing/2014/main" id="{06BD290C-68C3-49B2-B5C1-8D58DA713059}"/>
                  </a:ext>
                </a:extLst>
              </p:cNvPr>
              <p:cNvSpPr>
                <a:spLocks noChangeShapeType="1"/>
              </p:cNvSpPr>
              <p:nvPr/>
            </p:nvSpPr>
            <p:spPr bwMode="auto">
              <a:xfrm>
                <a:off x="1584" y="3931"/>
                <a:ext cx="0"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60" name="Line 20">
                <a:extLst>
                  <a:ext uri="{FF2B5EF4-FFF2-40B4-BE49-F238E27FC236}">
                    <a16:creationId xmlns:a16="http://schemas.microsoft.com/office/drawing/2014/main" id="{6684F799-425F-4C88-A4A9-B11405B79970}"/>
                  </a:ext>
                </a:extLst>
              </p:cNvPr>
              <p:cNvSpPr>
                <a:spLocks noChangeShapeType="1"/>
              </p:cNvSpPr>
              <p:nvPr/>
            </p:nvSpPr>
            <p:spPr bwMode="auto">
              <a:xfrm flipV="1">
                <a:off x="1584" y="3595"/>
                <a:ext cx="576" cy="33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61" name="Line 21">
                <a:extLst>
                  <a:ext uri="{FF2B5EF4-FFF2-40B4-BE49-F238E27FC236}">
                    <a16:creationId xmlns:a16="http://schemas.microsoft.com/office/drawing/2014/main" id="{0E85932E-5A5C-492C-BBD7-0EE788073C2B}"/>
                  </a:ext>
                </a:extLst>
              </p:cNvPr>
              <p:cNvSpPr>
                <a:spLocks noChangeShapeType="1"/>
              </p:cNvSpPr>
              <p:nvPr/>
            </p:nvSpPr>
            <p:spPr bwMode="auto">
              <a:xfrm flipV="1">
                <a:off x="1584" y="3787"/>
                <a:ext cx="576" cy="33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62" name="Line 22">
                <a:extLst>
                  <a:ext uri="{FF2B5EF4-FFF2-40B4-BE49-F238E27FC236}">
                    <a16:creationId xmlns:a16="http://schemas.microsoft.com/office/drawing/2014/main" id="{45FF24FE-AD28-4A13-8A7B-B1F85B150E86}"/>
                  </a:ext>
                </a:extLst>
              </p:cNvPr>
              <p:cNvSpPr>
                <a:spLocks noChangeShapeType="1"/>
              </p:cNvSpPr>
              <p:nvPr/>
            </p:nvSpPr>
            <p:spPr bwMode="auto">
              <a:xfrm flipV="1">
                <a:off x="2160" y="3595"/>
                <a:ext cx="0"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63" name="Line 23">
                <a:extLst>
                  <a:ext uri="{FF2B5EF4-FFF2-40B4-BE49-F238E27FC236}">
                    <a16:creationId xmlns:a16="http://schemas.microsoft.com/office/drawing/2014/main" id="{F37954DB-FEAE-4C72-8068-95CAF90CEB90}"/>
                  </a:ext>
                </a:extLst>
              </p:cNvPr>
              <p:cNvSpPr>
                <a:spLocks noChangeShapeType="1"/>
              </p:cNvSpPr>
              <p:nvPr/>
            </p:nvSpPr>
            <p:spPr bwMode="auto">
              <a:xfrm flipH="1" flipV="1">
                <a:off x="1680" y="3307"/>
                <a:ext cx="480"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64" name="Line 24">
                <a:extLst>
                  <a:ext uri="{FF2B5EF4-FFF2-40B4-BE49-F238E27FC236}">
                    <a16:creationId xmlns:a16="http://schemas.microsoft.com/office/drawing/2014/main" id="{63CE111D-24AB-4FBF-B027-D4159C9D5F95}"/>
                  </a:ext>
                </a:extLst>
              </p:cNvPr>
              <p:cNvSpPr>
                <a:spLocks noChangeShapeType="1"/>
              </p:cNvSpPr>
              <p:nvPr/>
            </p:nvSpPr>
            <p:spPr bwMode="auto">
              <a:xfrm>
                <a:off x="1680" y="2779"/>
                <a:ext cx="0" cy="52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65" name="Line 25">
                <a:extLst>
                  <a:ext uri="{FF2B5EF4-FFF2-40B4-BE49-F238E27FC236}">
                    <a16:creationId xmlns:a16="http://schemas.microsoft.com/office/drawing/2014/main" id="{04E771D9-A0C1-4319-9204-63029B5DEDC6}"/>
                  </a:ext>
                </a:extLst>
              </p:cNvPr>
              <p:cNvSpPr>
                <a:spLocks noChangeShapeType="1"/>
              </p:cNvSpPr>
              <p:nvPr/>
            </p:nvSpPr>
            <p:spPr bwMode="auto">
              <a:xfrm flipV="1">
                <a:off x="1104" y="3307"/>
                <a:ext cx="576" cy="33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266" name="Text Box 26">
              <a:extLst>
                <a:ext uri="{FF2B5EF4-FFF2-40B4-BE49-F238E27FC236}">
                  <a16:creationId xmlns:a16="http://schemas.microsoft.com/office/drawing/2014/main" id="{63308239-1CA2-44A2-8D39-060316C1FF51}"/>
                </a:ext>
              </a:extLst>
            </p:cNvPr>
            <p:cNvSpPr txBox="1">
              <a:spLocks noChangeArrowheads="1"/>
            </p:cNvSpPr>
            <p:nvPr/>
          </p:nvSpPr>
          <p:spPr bwMode="auto">
            <a:xfrm>
              <a:off x="1056" y="3850"/>
              <a:ext cx="1016" cy="6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en-US" sz="2800" b="1">
                  <a:solidFill>
                    <a:srgbClr val="3333FF"/>
                  </a:solidFill>
                  <a:latin typeface="Times New Roman" panose="02020603050405020304" pitchFamily="18" charset="0"/>
                  <a:ea typeface="楷体_GB2312" pitchFamily="49" charset="-122"/>
                </a:rPr>
                <a:t>正等轴测</a:t>
              </a:r>
            </a:p>
            <a:p>
              <a:endParaRPr kumimoji="1" lang="en-US" altLang="zh-CN" sz="2800" b="1">
                <a:solidFill>
                  <a:srgbClr val="3333FF"/>
                </a:solidFill>
                <a:latin typeface="Times New Roman" panose="02020603050405020304" pitchFamily="18" charset="0"/>
                <a:ea typeface="楷体_GB2312" pitchFamily="49" charset="-122"/>
              </a:endParaRPr>
            </a:p>
          </p:txBody>
        </p:sp>
      </p:grpSp>
      <p:grpSp>
        <p:nvGrpSpPr>
          <p:cNvPr id="10267" name="Group 27">
            <a:extLst>
              <a:ext uri="{FF2B5EF4-FFF2-40B4-BE49-F238E27FC236}">
                <a16:creationId xmlns:a16="http://schemas.microsoft.com/office/drawing/2014/main" id="{77B83AA0-D24F-4968-88BA-CA76D667A513}"/>
              </a:ext>
            </a:extLst>
          </p:cNvPr>
          <p:cNvGrpSpPr>
            <a:grpSpLocks/>
          </p:cNvGrpSpPr>
          <p:nvPr/>
        </p:nvGrpSpPr>
        <p:grpSpPr bwMode="auto">
          <a:xfrm>
            <a:off x="6037263" y="4344988"/>
            <a:ext cx="1970087" cy="1982787"/>
            <a:chOff x="3408" y="2832"/>
            <a:chExt cx="1241" cy="1398"/>
          </a:xfrm>
        </p:grpSpPr>
        <p:grpSp>
          <p:nvGrpSpPr>
            <p:cNvPr id="10268" name="Group 28">
              <a:extLst>
                <a:ext uri="{FF2B5EF4-FFF2-40B4-BE49-F238E27FC236}">
                  <a16:creationId xmlns:a16="http://schemas.microsoft.com/office/drawing/2014/main" id="{7A87D595-B97A-4F5C-BEDE-18E25D1150A4}"/>
                </a:ext>
              </a:extLst>
            </p:cNvPr>
            <p:cNvGrpSpPr>
              <a:grpSpLocks/>
            </p:cNvGrpSpPr>
            <p:nvPr/>
          </p:nvGrpSpPr>
          <p:grpSpPr bwMode="auto">
            <a:xfrm>
              <a:off x="3456" y="2832"/>
              <a:ext cx="960" cy="816"/>
              <a:chOff x="3456" y="2976"/>
              <a:chExt cx="1056" cy="1056"/>
            </a:xfrm>
          </p:grpSpPr>
          <p:sp>
            <p:nvSpPr>
              <p:cNvPr id="10269" name="Line 29">
                <a:extLst>
                  <a:ext uri="{FF2B5EF4-FFF2-40B4-BE49-F238E27FC236}">
                    <a16:creationId xmlns:a16="http://schemas.microsoft.com/office/drawing/2014/main" id="{943C08C4-85ED-454F-88DA-8E213C3F8326}"/>
                  </a:ext>
                </a:extLst>
              </p:cNvPr>
              <p:cNvSpPr>
                <a:spLocks noChangeShapeType="1"/>
              </p:cNvSpPr>
              <p:nvPr/>
            </p:nvSpPr>
            <p:spPr bwMode="auto">
              <a:xfrm>
                <a:off x="3456" y="2976"/>
                <a:ext cx="0" cy="7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0" name="Line 30">
                <a:extLst>
                  <a:ext uri="{FF2B5EF4-FFF2-40B4-BE49-F238E27FC236}">
                    <a16:creationId xmlns:a16="http://schemas.microsoft.com/office/drawing/2014/main" id="{E5A1DE3B-AFCE-40DD-94E7-93568C89AA2B}"/>
                  </a:ext>
                </a:extLst>
              </p:cNvPr>
              <p:cNvSpPr>
                <a:spLocks noChangeShapeType="1"/>
              </p:cNvSpPr>
              <p:nvPr/>
            </p:nvSpPr>
            <p:spPr bwMode="auto">
              <a:xfrm>
                <a:off x="3456" y="3744"/>
                <a:ext cx="288"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1" name="Line 31">
                <a:extLst>
                  <a:ext uri="{FF2B5EF4-FFF2-40B4-BE49-F238E27FC236}">
                    <a16:creationId xmlns:a16="http://schemas.microsoft.com/office/drawing/2014/main" id="{34FAA985-7E61-408E-9D90-CD2096A3D8FF}"/>
                  </a:ext>
                </a:extLst>
              </p:cNvPr>
              <p:cNvSpPr>
                <a:spLocks noChangeShapeType="1"/>
              </p:cNvSpPr>
              <p:nvPr/>
            </p:nvSpPr>
            <p:spPr bwMode="auto">
              <a:xfrm>
                <a:off x="3456" y="2976"/>
                <a:ext cx="7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2" name="Line 32">
                <a:extLst>
                  <a:ext uri="{FF2B5EF4-FFF2-40B4-BE49-F238E27FC236}">
                    <a16:creationId xmlns:a16="http://schemas.microsoft.com/office/drawing/2014/main" id="{39040C97-305D-46D5-98B9-A728C21DC3CE}"/>
                  </a:ext>
                </a:extLst>
              </p:cNvPr>
              <p:cNvSpPr>
                <a:spLocks noChangeShapeType="1"/>
              </p:cNvSpPr>
              <p:nvPr/>
            </p:nvSpPr>
            <p:spPr bwMode="auto">
              <a:xfrm>
                <a:off x="3456" y="2976"/>
                <a:ext cx="96"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3" name="Line 33">
                <a:extLst>
                  <a:ext uri="{FF2B5EF4-FFF2-40B4-BE49-F238E27FC236}">
                    <a16:creationId xmlns:a16="http://schemas.microsoft.com/office/drawing/2014/main" id="{25655490-F557-44F0-B44E-B9A0F9790A0F}"/>
                  </a:ext>
                </a:extLst>
              </p:cNvPr>
              <p:cNvSpPr>
                <a:spLocks noChangeShapeType="1"/>
              </p:cNvSpPr>
              <p:nvPr/>
            </p:nvSpPr>
            <p:spPr bwMode="auto">
              <a:xfrm>
                <a:off x="3552" y="3072"/>
                <a:ext cx="0" cy="57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4" name="Line 34">
                <a:extLst>
                  <a:ext uri="{FF2B5EF4-FFF2-40B4-BE49-F238E27FC236}">
                    <a16:creationId xmlns:a16="http://schemas.microsoft.com/office/drawing/2014/main" id="{37A10BDB-BD95-414E-B546-8029A2EC956F}"/>
                  </a:ext>
                </a:extLst>
              </p:cNvPr>
              <p:cNvSpPr>
                <a:spLocks noChangeShapeType="1"/>
              </p:cNvSpPr>
              <p:nvPr/>
            </p:nvSpPr>
            <p:spPr bwMode="auto">
              <a:xfrm>
                <a:off x="3552" y="3072"/>
                <a:ext cx="7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5" name="Line 35">
                <a:extLst>
                  <a:ext uri="{FF2B5EF4-FFF2-40B4-BE49-F238E27FC236}">
                    <a16:creationId xmlns:a16="http://schemas.microsoft.com/office/drawing/2014/main" id="{4FA17583-5067-4505-9C15-2FC256A7F25C}"/>
                  </a:ext>
                </a:extLst>
              </p:cNvPr>
              <p:cNvSpPr>
                <a:spLocks noChangeShapeType="1"/>
              </p:cNvSpPr>
              <p:nvPr/>
            </p:nvSpPr>
            <p:spPr bwMode="auto">
              <a:xfrm>
                <a:off x="4224" y="2976"/>
                <a:ext cx="96"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6" name="Line 36">
                <a:extLst>
                  <a:ext uri="{FF2B5EF4-FFF2-40B4-BE49-F238E27FC236}">
                    <a16:creationId xmlns:a16="http://schemas.microsoft.com/office/drawing/2014/main" id="{215126B7-06E9-4065-BCC9-3ECF65CD4941}"/>
                  </a:ext>
                </a:extLst>
              </p:cNvPr>
              <p:cNvSpPr>
                <a:spLocks noChangeShapeType="1"/>
              </p:cNvSpPr>
              <p:nvPr/>
            </p:nvSpPr>
            <p:spPr bwMode="auto">
              <a:xfrm>
                <a:off x="4320" y="3072"/>
                <a:ext cx="0" cy="57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7" name="Line 37">
                <a:extLst>
                  <a:ext uri="{FF2B5EF4-FFF2-40B4-BE49-F238E27FC236}">
                    <a16:creationId xmlns:a16="http://schemas.microsoft.com/office/drawing/2014/main" id="{51EE4B08-10E1-4546-9EAD-47DBEA8BCFDE}"/>
                  </a:ext>
                </a:extLst>
              </p:cNvPr>
              <p:cNvSpPr>
                <a:spLocks noChangeShapeType="1"/>
              </p:cNvSpPr>
              <p:nvPr/>
            </p:nvSpPr>
            <p:spPr bwMode="auto">
              <a:xfrm>
                <a:off x="3744" y="4032"/>
                <a:ext cx="7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8" name="Line 38">
                <a:extLst>
                  <a:ext uri="{FF2B5EF4-FFF2-40B4-BE49-F238E27FC236}">
                    <a16:creationId xmlns:a16="http://schemas.microsoft.com/office/drawing/2014/main" id="{92F785F6-A33E-44CA-92AB-BAE82CB0499D}"/>
                  </a:ext>
                </a:extLst>
              </p:cNvPr>
              <p:cNvSpPr>
                <a:spLocks noChangeShapeType="1"/>
              </p:cNvSpPr>
              <p:nvPr/>
            </p:nvSpPr>
            <p:spPr bwMode="auto">
              <a:xfrm flipV="1">
                <a:off x="3744" y="3840"/>
                <a:ext cx="0"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9" name="Line 39">
                <a:extLst>
                  <a:ext uri="{FF2B5EF4-FFF2-40B4-BE49-F238E27FC236}">
                    <a16:creationId xmlns:a16="http://schemas.microsoft.com/office/drawing/2014/main" id="{2A55A6F9-B934-4DE8-8DA4-49F0D461BE15}"/>
                  </a:ext>
                </a:extLst>
              </p:cNvPr>
              <p:cNvSpPr>
                <a:spLocks noChangeShapeType="1"/>
              </p:cNvSpPr>
              <p:nvPr/>
            </p:nvSpPr>
            <p:spPr bwMode="auto">
              <a:xfrm>
                <a:off x="3744" y="3840"/>
                <a:ext cx="7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80" name="Line 40">
                <a:extLst>
                  <a:ext uri="{FF2B5EF4-FFF2-40B4-BE49-F238E27FC236}">
                    <a16:creationId xmlns:a16="http://schemas.microsoft.com/office/drawing/2014/main" id="{82CFF380-DA45-4295-B7D1-04B2148CB207}"/>
                  </a:ext>
                </a:extLst>
              </p:cNvPr>
              <p:cNvSpPr>
                <a:spLocks noChangeShapeType="1"/>
              </p:cNvSpPr>
              <p:nvPr/>
            </p:nvSpPr>
            <p:spPr bwMode="auto">
              <a:xfrm flipH="1" flipV="1">
                <a:off x="3552" y="3648"/>
                <a:ext cx="192"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81" name="Line 41">
                <a:extLst>
                  <a:ext uri="{FF2B5EF4-FFF2-40B4-BE49-F238E27FC236}">
                    <a16:creationId xmlns:a16="http://schemas.microsoft.com/office/drawing/2014/main" id="{9BB1C22E-22F5-43B3-82E3-F4E9B37394F1}"/>
                  </a:ext>
                </a:extLst>
              </p:cNvPr>
              <p:cNvSpPr>
                <a:spLocks noChangeShapeType="1"/>
              </p:cNvSpPr>
              <p:nvPr/>
            </p:nvSpPr>
            <p:spPr bwMode="auto">
              <a:xfrm>
                <a:off x="3552" y="3648"/>
                <a:ext cx="7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82" name="Line 42">
                <a:extLst>
                  <a:ext uri="{FF2B5EF4-FFF2-40B4-BE49-F238E27FC236}">
                    <a16:creationId xmlns:a16="http://schemas.microsoft.com/office/drawing/2014/main" id="{DC8BD536-208C-4F08-8670-8B6A0BF40275}"/>
                  </a:ext>
                </a:extLst>
              </p:cNvPr>
              <p:cNvSpPr>
                <a:spLocks noChangeShapeType="1"/>
              </p:cNvSpPr>
              <p:nvPr/>
            </p:nvSpPr>
            <p:spPr bwMode="auto">
              <a:xfrm>
                <a:off x="4320" y="3648"/>
                <a:ext cx="192"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83" name="Line 43">
                <a:extLst>
                  <a:ext uri="{FF2B5EF4-FFF2-40B4-BE49-F238E27FC236}">
                    <a16:creationId xmlns:a16="http://schemas.microsoft.com/office/drawing/2014/main" id="{4C57822C-D4DD-41E8-8DB4-014F765B9378}"/>
                  </a:ext>
                </a:extLst>
              </p:cNvPr>
              <p:cNvSpPr>
                <a:spLocks noChangeShapeType="1"/>
              </p:cNvSpPr>
              <p:nvPr/>
            </p:nvSpPr>
            <p:spPr bwMode="auto">
              <a:xfrm>
                <a:off x="4512" y="3840"/>
                <a:ext cx="0"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284" name="Text Box 44">
              <a:extLst>
                <a:ext uri="{FF2B5EF4-FFF2-40B4-BE49-F238E27FC236}">
                  <a16:creationId xmlns:a16="http://schemas.microsoft.com/office/drawing/2014/main" id="{335DCE32-487B-4BBB-8D41-87DDEE8932AA}"/>
                </a:ext>
              </a:extLst>
            </p:cNvPr>
            <p:cNvSpPr txBox="1">
              <a:spLocks noChangeArrowheads="1"/>
            </p:cNvSpPr>
            <p:nvPr/>
          </p:nvSpPr>
          <p:spPr bwMode="auto">
            <a:xfrm>
              <a:off x="3408" y="3864"/>
              <a:ext cx="1241" cy="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en-US" sz="2800" b="1">
                  <a:solidFill>
                    <a:srgbClr val="3333FF"/>
                  </a:solidFill>
                  <a:latin typeface="Times New Roman" panose="02020603050405020304" pitchFamily="18" charset="0"/>
                  <a:ea typeface="楷体_GB2312" pitchFamily="49" charset="-122"/>
                </a:rPr>
                <a:t>斜二轴测图</a:t>
              </a:r>
            </a:p>
          </p:txBody>
        </p:sp>
      </p:grpSp>
      <p:sp>
        <p:nvSpPr>
          <p:cNvPr id="10288" name="AutoShape 48">
            <a:hlinkClick r:id="rId3" action="ppaction://hlinksldjump" highlightClick="1"/>
            <a:extLst>
              <a:ext uri="{FF2B5EF4-FFF2-40B4-BE49-F238E27FC236}">
                <a16:creationId xmlns:a16="http://schemas.microsoft.com/office/drawing/2014/main" id="{B77E5FC1-C51C-4B73-9469-DD15A608AC4F}"/>
              </a:ext>
            </a:extLst>
          </p:cNvPr>
          <p:cNvSpPr>
            <a:spLocks noChangeArrowheads="1"/>
          </p:cNvSpPr>
          <p:nvPr/>
        </p:nvSpPr>
        <p:spPr bwMode="auto">
          <a:xfrm>
            <a:off x="8316913" y="6381750"/>
            <a:ext cx="827087" cy="47625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checkerboard(across)">
                                      <p:cBhvr>
                                        <p:cTn id="7" dur="500"/>
                                        <p:tgtEl>
                                          <p:spTgt spid="102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10243"/>
                                        </p:tgtEl>
                                        <p:attrNameLst>
                                          <p:attrName>style.visibility</p:attrName>
                                        </p:attrNameLst>
                                      </p:cBhvr>
                                      <p:to>
                                        <p:strVal val="visible"/>
                                      </p:to>
                                    </p:set>
                                    <p:animEffect transition="in" filter="slide(fromLeft)">
                                      <p:cBhvr>
                                        <p:cTn id="12" dur="500"/>
                                        <p:tgtEl>
                                          <p:spTgt spid="102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0244"/>
                                        </p:tgtEl>
                                        <p:attrNameLst>
                                          <p:attrName>style.visibility</p:attrName>
                                        </p:attrNameLst>
                                      </p:cBhvr>
                                      <p:to>
                                        <p:strVal val="visible"/>
                                      </p:to>
                                    </p:set>
                                    <p:animEffect transition="in" filter="box(out)">
                                      <p:cBhvr>
                                        <p:cTn id="17" dur="500"/>
                                        <p:tgtEl>
                                          <p:spTgt spid="10244"/>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245"/>
                                        </p:tgtEl>
                                        <p:attrNameLst>
                                          <p:attrName>style.visibility</p:attrName>
                                        </p:attrNameLst>
                                      </p:cBhvr>
                                      <p:to>
                                        <p:strVal val="visible"/>
                                      </p:to>
                                    </p:set>
                                    <p:animEffect transition="in" filter="wipe(left)">
                                      <p:cBhvr>
                                        <p:cTn id="22" dur="500"/>
                                        <p:tgtEl>
                                          <p:spTgt spid="1024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246"/>
                                        </p:tgtEl>
                                        <p:attrNameLst>
                                          <p:attrName>style.visibility</p:attrName>
                                        </p:attrNameLst>
                                      </p:cBhvr>
                                      <p:to>
                                        <p:strVal val="visible"/>
                                      </p:to>
                                    </p:set>
                                    <p:animEffect transition="in" filter="wipe(left)">
                                      <p:cBhvr>
                                        <p:cTn id="27" dur="500"/>
                                        <p:tgtEl>
                                          <p:spTgt spid="1024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0249"/>
                                        </p:tgtEl>
                                        <p:attrNameLst>
                                          <p:attrName>style.visibility</p:attrName>
                                        </p:attrNameLst>
                                      </p:cBhvr>
                                      <p:to>
                                        <p:strVal val="visible"/>
                                      </p:to>
                                    </p:set>
                                    <p:animEffect transition="in" filter="wipe(left)">
                                      <p:cBhvr>
                                        <p:cTn id="32" dur="500"/>
                                        <p:tgtEl>
                                          <p:spTgt spid="1024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247"/>
                                        </p:tgtEl>
                                        <p:attrNameLst>
                                          <p:attrName>style.visibility</p:attrName>
                                        </p:attrNameLst>
                                      </p:cBhvr>
                                      <p:to>
                                        <p:strVal val="visible"/>
                                      </p:to>
                                    </p:set>
                                    <p:animEffect transition="in" filter="wipe(left)">
                                      <p:cBhvr>
                                        <p:cTn id="37" dur="500"/>
                                        <p:tgtEl>
                                          <p:spTgt spid="1024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248"/>
                                        </p:tgtEl>
                                        <p:attrNameLst>
                                          <p:attrName>style.visibility</p:attrName>
                                        </p:attrNameLst>
                                      </p:cBhvr>
                                      <p:to>
                                        <p:strVal val="visible"/>
                                      </p:to>
                                    </p:set>
                                    <p:animEffect transition="in" filter="wipe(left)">
                                      <p:cBhvr>
                                        <p:cTn id="42" dur="500"/>
                                        <p:tgtEl>
                                          <p:spTgt spid="1024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0267"/>
                                        </p:tgtEl>
                                        <p:attrNameLst>
                                          <p:attrName>style.visibility</p:attrName>
                                        </p:attrNameLst>
                                      </p:cBhvr>
                                      <p:to>
                                        <p:strVal val="visible"/>
                                      </p:to>
                                    </p:set>
                                    <p:animEffect transition="in" filter="wipe(left)">
                                      <p:cBhvr>
                                        <p:cTn id="47" dur="500"/>
                                        <p:tgtEl>
                                          <p:spTgt spid="10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p:bldP spid="10243" grpId="0" animBg="1" autoUpdateAnimBg="0"/>
      <p:bldP spid="10244" grpId="0" animBg="1" autoUpdateAnimBg="0"/>
      <p:bldP spid="10245" grpId="0" animBg="1" autoUpdateAnimBg="0"/>
      <p:bldP spid="10246" grpId="0" animBg="1" autoUpdateAnimBg="0"/>
      <p:bldP spid="10247" grpId="0" animBg="1" autoUpdateAnimBg="0"/>
      <p:bldP spid="10248"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122A399E-76B4-4CD5-98D7-CFBABC8B68D2}"/>
              </a:ext>
            </a:extLst>
          </p:cNvPr>
          <p:cNvSpPr>
            <a:spLocks noGrp="1" noRot="1" noChangeArrowheads="1"/>
          </p:cNvSpPr>
          <p:nvPr>
            <p:ph type="title"/>
          </p:nvPr>
        </p:nvSpPr>
        <p:spPr>
          <a:xfrm>
            <a:off x="250825" y="333375"/>
            <a:ext cx="8540750" cy="1143000"/>
          </a:xfrm>
        </p:spPr>
        <p:txBody>
          <a:bodyPr/>
          <a:lstStyle/>
          <a:p>
            <a:r>
              <a:rPr lang="en-US" altLang="zh-CN" sz="4000" b="1" dirty="0">
                <a:solidFill>
                  <a:srgbClr val="000000"/>
                </a:solidFill>
              </a:rPr>
              <a:t>2   </a:t>
            </a:r>
            <a:r>
              <a:rPr lang="zh-CN" altLang="en-US" sz="4000" b="1" dirty="0">
                <a:solidFill>
                  <a:srgbClr val="000000"/>
                </a:solidFill>
              </a:rPr>
              <a:t>正等轴测图的画法</a:t>
            </a:r>
          </a:p>
        </p:txBody>
      </p:sp>
      <p:sp>
        <p:nvSpPr>
          <p:cNvPr id="11268" name="Text Box 4">
            <a:extLst>
              <a:ext uri="{FF2B5EF4-FFF2-40B4-BE49-F238E27FC236}">
                <a16:creationId xmlns:a16="http://schemas.microsoft.com/office/drawing/2014/main" id="{321D5D23-7C77-474A-ADC6-143E1DFB2DD9}"/>
              </a:ext>
            </a:extLst>
          </p:cNvPr>
          <p:cNvSpPr txBox="1">
            <a:spLocks noGrp="1" noChangeArrowheads="1"/>
          </p:cNvSpPr>
          <p:nvPr>
            <p:ph type="body" sz="half" idx="1"/>
          </p:nvPr>
        </p:nvSpPr>
        <p:spPr>
          <a:xfrm>
            <a:off x="34925" y="1322388"/>
            <a:ext cx="5257800" cy="1385887"/>
          </a:xfrm>
          <a:noFill/>
          <a:ln/>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0"/>
              </a:spcBef>
              <a:buClr>
                <a:schemeClr val="bg1"/>
              </a:buClr>
              <a:buFontTx/>
              <a:buNone/>
            </a:pPr>
            <a:r>
              <a:rPr kumimoji="1" lang="zh-CN" altLang="en-US" sz="3600" b="1">
                <a:solidFill>
                  <a:srgbClr val="000000"/>
                </a:solidFill>
              </a:rPr>
              <a:t>一、正等轴测图的形成、轴间角和伸缩系数</a:t>
            </a:r>
          </a:p>
          <a:p>
            <a:pPr>
              <a:spcBef>
                <a:spcPct val="0"/>
              </a:spcBef>
              <a:buClr>
                <a:schemeClr val="bg1"/>
              </a:buClr>
              <a:buFontTx/>
              <a:buNone/>
            </a:pPr>
            <a:endParaRPr kumimoji="1" lang="en-US" altLang="zh-CN" sz="3600" b="1">
              <a:solidFill>
                <a:srgbClr val="000000"/>
              </a:solidFill>
            </a:endParaRPr>
          </a:p>
        </p:txBody>
      </p:sp>
      <p:sp>
        <p:nvSpPr>
          <p:cNvPr id="11269" name="Text Box 5">
            <a:extLst>
              <a:ext uri="{FF2B5EF4-FFF2-40B4-BE49-F238E27FC236}">
                <a16:creationId xmlns:a16="http://schemas.microsoft.com/office/drawing/2014/main" id="{928F4BB7-5246-4536-A9D8-85769AD4422D}"/>
              </a:ext>
            </a:extLst>
          </p:cNvPr>
          <p:cNvSpPr txBox="1">
            <a:spLocks noChangeArrowheads="1"/>
          </p:cNvSpPr>
          <p:nvPr/>
        </p:nvSpPr>
        <p:spPr bwMode="auto">
          <a:xfrm>
            <a:off x="539750" y="2636838"/>
            <a:ext cx="3665538"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en-US" sz="3200" b="1">
                <a:solidFill>
                  <a:srgbClr val="000000"/>
                </a:solidFill>
                <a:latin typeface="楷体_GB2312" pitchFamily="49" charset="-122"/>
                <a:ea typeface="楷体_GB2312" pitchFamily="49" charset="-122"/>
              </a:rPr>
              <a:t>轴向</a:t>
            </a:r>
            <a:r>
              <a:rPr kumimoji="1" lang="zh-CN" altLang="zh-CN" sz="3200" b="1">
                <a:solidFill>
                  <a:srgbClr val="000000"/>
                </a:solidFill>
                <a:latin typeface="楷体_GB2312" pitchFamily="49" charset="-122"/>
                <a:ea typeface="楷体_GB2312" pitchFamily="49" charset="-122"/>
              </a:rPr>
              <a:t>伸缩</a:t>
            </a:r>
            <a:r>
              <a:rPr kumimoji="1" lang="zh-CN" altLang="en-US" sz="3200" b="1">
                <a:solidFill>
                  <a:srgbClr val="000000"/>
                </a:solidFill>
                <a:latin typeface="楷体_GB2312" pitchFamily="49" charset="-122"/>
                <a:ea typeface="楷体_GB2312" pitchFamily="49" charset="-122"/>
              </a:rPr>
              <a:t>系数：</a:t>
            </a:r>
          </a:p>
          <a:p>
            <a:r>
              <a:rPr kumimoji="1" lang="en-US" altLang="zh-CN" sz="3200" b="1">
                <a:solidFill>
                  <a:srgbClr val="3333FF"/>
                </a:solidFill>
                <a:latin typeface="楷体_GB2312" pitchFamily="49" charset="-122"/>
                <a:ea typeface="楷体_GB2312" pitchFamily="49" charset="-122"/>
              </a:rPr>
              <a:t>p = q = r = 0.82 </a:t>
            </a:r>
            <a:endParaRPr kumimoji="1" lang="en-US" altLang="zh-CN" sz="3200" b="1">
              <a:solidFill>
                <a:srgbClr val="3333FF"/>
              </a:solidFill>
              <a:latin typeface="楷体_GB2312" pitchFamily="49" charset="-122"/>
              <a:ea typeface="楷体_GB2312" pitchFamily="49" charset="-122"/>
              <a:sym typeface="Symbol" panose="05050102010706020507" pitchFamily="18" charset="2"/>
            </a:endParaRPr>
          </a:p>
        </p:txBody>
      </p:sp>
      <p:sp>
        <p:nvSpPr>
          <p:cNvPr id="11270" name="Text Box 6">
            <a:extLst>
              <a:ext uri="{FF2B5EF4-FFF2-40B4-BE49-F238E27FC236}">
                <a16:creationId xmlns:a16="http://schemas.microsoft.com/office/drawing/2014/main" id="{6C8D4D0D-10F6-4E7E-91A7-E80CD08CE758}"/>
              </a:ext>
            </a:extLst>
          </p:cNvPr>
          <p:cNvSpPr txBox="1">
            <a:spLocks noChangeArrowheads="1"/>
          </p:cNvSpPr>
          <p:nvPr/>
        </p:nvSpPr>
        <p:spPr bwMode="auto">
          <a:xfrm>
            <a:off x="468313" y="3730625"/>
            <a:ext cx="3856037"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en-US" sz="3200" b="1">
                <a:solidFill>
                  <a:srgbClr val="000000"/>
                </a:solidFill>
                <a:latin typeface="楷体_GB2312" pitchFamily="49" charset="-122"/>
                <a:ea typeface="楷体_GB2312" pitchFamily="49" charset="-122"/>
              </a:rPr>
              <a:t>简化轴向</a:t>
            </a:r>
            <a:r>
              <a:rPr kumimoji="1" lang="zh-CN" altLang="zh-CN" sz="3200" b="1">
                <a:solidFill>
                  <a:srgbClr val="000000"/>
                </a:solidFill>
                <a:latin typeface="楷体_GB2312" pitchFamily="49" charset="-122"/>
                <a:ea typeface="楷体_GB2312" pitchFamily="49" charset="-122"/>
              </a:rPr>
              <a:t>伸缩</a:t>
            </a:r>
            <a:r>
              <a:rPr kumimoji="1" lang="zh-CN" altLang="en-US" sz="3200" b="1">
                <a:solidFill>
                  <a:srgbClr val="000000"/>
                </a:solidFill>
                <a:latin typeface="楷体_GB2312" pitchFamily="49" charset="-122"/>
                <a:ea typeface="楷体_GB2312" pitchFamily="49" charset="-122"/>
              </a:rPr>
              <a:t>系数：</a:t>
            </a:r>
          </a:p>
          <a:p>
            <a:r>
              <a:rPr kumimoji="1" lang="en-US" altLang="zh-CN" sz="3200" b="1">
                <a:solidFill>
                  <a:srgbClr val="3333FF"/>
                </a:solidFill>
                <a:latin typeface="楷体_GB2312" pitchFamily="49" charset="-122"/>
                <a:ea typeface="楷体_GB2312" pitchFamily="49" charset="-122"/>
              </a:rPr>
              <a:t>p = q = r = 1</a:t>
            </a:r>
            <a:endParaRPr kumimoji="1" lang="en-US" altLang="zh-CN" sz="3200" b="1">
              <a:solidFill>
                <a:srgbClr val="3333FF"/>
              </a:solidFill>
              <a:latin typeface="楷体_GB2312" pitchFamily="49" charset="-122"/>
              <a:ea typeface="楷体_GB2312" pitchFamily="49" charset="-122"/>
              <a:sym typeface="Symbol" panose="05050102010706020507" pitchFamily="18" charset="2"/>
            </a:endParaRPr>
          </a:p>
        </p:txBody>
      </p:sp>
      <p:graphicFrame>
        <p:nvGraphicFramePr>
          <p:cNvPr id="11271" name="Object 7">
            <a:extLst>
              <a:ext uri="{FF2B5EF4-FFF2-40B4-BE49-F238E27FC236}">
                <a16:creationId xmlns:a16="http://schemas.microsoft.com/office/drawing/2014/main" id="{5B558DB1-DF4A-49CE-851F-A9EE5EEF3E7D}"/>
              </a:ext>
            </a:extLst>
          </p:cNvPr>
          <p:cNvGraphicFramePr>
            <a:graphicFrameLocks noGrp="1" noChangeAspect="1"/>
          </p:cNvGraphicFramePr>
          <p:nvPr>
            <p:ph sz="half" idx="2"/>
          </p:nvPr>
        </p:nvGraphicFramePr>
        <p:xfrm>
          <a:off x="4854575" y="1484313"/>
          <a:ext cx="4038600" cy="3457575"/>
        </p:xfrm>
        <a:graphic>
          <a:graphicData uri="http://schemas.openxmlformats.org/presentationml/2006/ole">
            <mc:AlternateContent xmlns:mc="http://schemas.openxmlformats.org/markup-compatibility/2006">
              <mc:Choice xmlns:v="urn:schemas-microsoft-com:vml" Requires="v">
                <p:oleObj spid="_x0000_s3094" name="Image" r:id="rId3" imgW="5476880" imgH="4689022" progId="Photoshop.Image.4">
                  <p:embed/>
                </p:oleObj>
              </mc:Choice>
              <mc:Fallback>
                <p:oleObj name="Image" r:id="rId3" imgW="5476880" imgH="4689022" progId="Photoshop.Image.4">
                  <p:embed/>
                  <p:pic>
                    <p:nvPicPr>
                      <p:cNvPr id="11271" name="Object 7">
                        <a:extLst>
                          <a:ext uri="{FF2B5EF4-FFF2-40B4-BE49-F238E27FC236}">
                            <a16:creationId xmlns:a16="http://schemas.microsoft.com/office/drawing/2014/main" id="{5B558DB1-DF4A-49CE-851F-A9EE5EEF3E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4575" y="1484313"/>
                        <a:ext cx="4038600" cy="345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73" name="Text Box 9">
            <a:extLst>
              <a:ext uri="{FF2B5EF4-FFF2-40B4-BE49-F238E27FC236}">
                <a16:creationId xmlns:a16="http://schemas.microsoft.com/office/drawing/2014/main" id="{7772DD55-96E7-4A3D-9241-14BC2738012E}"/>
              </a:ext>
            </a:extLst>
          </p:cNvPr>
          <p:cNvSpPr txBox="1">
            <a:spLocks noChangeArrowheads="1"/>
          </p:cNvSpPr>
          <p:nvPr/>
        </p:nvSpPr>
        <p:spPr bwMode="auto">
          <a:xfrm>
            <a:off x="395288" y="4954588"/>
            <a:ext cx="6630987"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3200" b="1">
                <a:latin typeface="楷体_GB2312" pitchFamily="49" charset="-122"/>
                <a:ea typeface="楷体_GB2312" pitchFamily="49" charset="-122"/>
              </a:rPr>
              <a:t>  </a:t>
            </a:r>
            <a:r>
              <a:rPr kumimoji="1" lang="zh-CN" altLang="en-US" sz="3200" b="1">
                <a:solidFill>
                  <a:srgbClr val="000000"/>
                </a:solidFill>
                <a:latin typeface="楷体_GB2312" pitchFamily="49" charset="-122"/>
                <a:ea typeface="楷体_GB2312" pitchFamily="49" charset="-122"/>
              </a:rPr>
              <a:t>轴间角：</a:t>
            </a:r>
          </a:p>
          <a:p>
            <a:r>
              <a:rPr kumimoji="1" lang="zh-CN" altLang="en-US" sz="3200" b="1">
                <a:solidFill>
                  <a:srgbClr val="3333FF"/>
                </a:solidFill>
                <a:latin typeface="楷体_GB2312" pitchFamily="49" charset="-122"/>
                <a:ea typeface="楷体_GB2312" pitchFamily="49" charset="-122"/>
                <a:sym typeface="Symbol" panose="05050102010706020507" pitchFamily="18" charset="2"/>
              </a:rPr>
              <a:t></a:t>
            </a:r>
            <a:r>
              <a:rPr kumimoji="1" lang="en-US" altLang="zh-CN" sz="3200" b="1">
                <a:solidFill>
                  <a:srgbClr val="3333FF"/>
                </a:solidFill>
                <a:latin typeface="楷体_GB2312" pitchFamily="49" charset="-122"/>
                <a:ea typeface="楷体_GB2312" pitchFamily="49" charset="-122"/>
                <a:sym typeface="Symbol" panose="05050102010706020507" pitchFamily="18" charset="2"/>
              </a:rPr>
              <a:t>X</a:t>
            </a:r>
            <a:r>
              <a:rPr kumimoji="1" lang="en-US" altLang="zh-CN" sz="3200" b="1" baseline="-20000">
                <a:solidFill>
                  <a:srgbClr val="3333FF"/>
                </a:solidFill>
                <a:latin typeface="楷体_GB2312" pitchFamily="49" charset="-122"/>
                <a:ea typeface="楷体_GB2312" pitchFamily="49" charset="-122"/>
                <a:sym typeface="Wingdings" panose="05000000000000000000" pitchFamily="2" charset="2"/>
              </a:rPr>
              <a:t>1</a:t>
            </a:r>
            <a:r>
              <a:rPr kumimoji="1" lang="en-US" altLang="zh-CN" sz="3200" b="1">
                <a:solidFill>
                  <a:srgbClr val="3333FF"/>
                </a:solidFill>
                <a:latin typeface="楷体_GB2312" pitchFamily="49" charset="-122"/>
                <a:ea typeface="楷体_GB2312" pitchFamily="49" charset="-122"/>
                <a:sym typeface="Symbol" panose="05050102010706020507" pitchFamily="18" charset="2"/>
              </a:rPr>
              <a:t>O</a:t>
            </a:r>
            <a:r>
              <a:rPr kumimoji="1" lang="en-US" altLang="zh-CN" sz="3200" b="1" baseline="-20000">
                <a:solidFill>
                  <a:srgbClr val="3333FF"/>
                </a:solidFill>
                <a:latin typeface="楷体_GB2312" pitchFamily="49" charset="-122"/>
                <a:ea typeface="楷体_GB2312" pitchFamily="49" charset="-122"/>
                <a:sym typeface="Wingdings" panose="05000000000000000000" pitchFamily="2" charset="2"/>
              </a:rPr>
              <a:t>1</a:t>
            </a:r>
            <a:r>
              <a:rPr kumimoji="1" lang="en-US" altLang="zh-CN" sz="3200" b="1">
                <a:solidFill>
                  <a:srgbClr val="3333FF"/>
                </a:solidFill>
                <a:latin typeface="楷体_GB2312" pitchFamily="49" charset="-122"/>
                <a:ea typeface="楷体_GB2312" pitchFamily="49" charset="-122"/>
                <a:sym typeface="Symbol" panose="05050102010706020507" pitchFamily="18" charset="2"/>
              </a:rPr>
              <a:t>Y</a:t>
            </a:r>
            <a:r>
              <a:rPr kumimoji="1" lang="en-US" altLang="zh-CN" sz="3200" b="1" baseline="-20000">
                <a:solidFill>
                  <a:srgbClr val="3333FF"/>
                </a:solidFill>
                <a:latin typeface="楷体_GB2312" pitchFamily="49" charset="-122"/>
                <a:ea typeface="楷体_GB2312" pitchFamily="49" charset="-122"/>
                <a:sym typeface="Wingdings" panose="05000000000000000000" pitchFamily="2" charset="2"/>
              </a:rPr>
              <a:t>1 </a:t>
            </a:r>
            <a:r>
              <a:rPr kumimoji="1" lang="en-US" altLang="zh-CN" sz="3200" b="1">
                <a:solidFill>
                  <a:srgbClr val="3333FF"/>
                </a:solidFill>
                <a:latin typeface="楷体_GB2312" pitchFamily="49" charset="-122"/>
                <a:ea typeface="楷体_GB2312" pitchFamily="49" charset="-122"/>
                <a:sym typeface="Symbol" panose="05050102010706020507" pitchFamily="18" charset="2"/>
              </a:rPr>
              <a:t>= X</a:t>
            </a:r>
            <a:r>
              <a:rPr kumimoji="1" lang="en-US" altLang="zh-CN" sz="3200" b="1" baseline="-20000">
                <a:solidFill>
                  <a:srgbClr val="3333FF"/>
                </a:solidFill>
                <a:latin typeface="楷体_GB2312" pitchFamily="49" charset="-122"/>
                <a:ea typeface="楷体_GB2312" pitchFamily="49" charset="-122"/>
                <a:sym typeface="Wingdings" panose="05000000000000000000" pitchFamily="2" charset="2"/>
              </a:rPr>
              <a:t>1</a:t>
            </a:r>
            <a:r>
              <a:rPr kumimoji="1" lang="en-US" altLang="zh-CN" sz="3200" b="1">
                <a:solidFill>
                  <a:srgbClr val="3333FF"/>
                </a:solidFill>
                <a:latin typeface="楷体_GB2312" pitchFamily="49" charset="-122"/>
                <a:ea typeface="楷体_GB2312" pitchFamily="49" charset="-122"/>
                <a:sym typeface="Symbol" panose="05050102010706020507" pitchFamily="18" charset="2"/>
              </a:rPr>
              <a:t>O</a:t>
            </a:r>
            <a:r>
              <a:rPr kumimoji="1" lang="en-US" altLang="zh-CN" sz="3200" b="1" baseline="-20000">
                <a:solidFill>
                  <a:srgbClr val="3333FF"/>
                </a:solidFill>
                <a:latin typeface="楷体_GB2312" pitchFamily="49" charset="-122"/>
                <a:ea typeface="楷体_GB2312" pitchFamily="49" charset="-122"/>
                <a:sym typeface="Wingdings" panose="05000000000000000000" pitchFamily="2" charset="2"/>
              </a:rPr>
              <a:t>1</a:t>
            </a:r>
            <a:r>
              <a:rPr kumimoji="1" lang="en-US" altLang="zh-CN" sz="3200" b="1">
                <a:solidFill>
                  <a:srgbClr val="3333FF"/>
                </a:solidFill>
                <a:latin typeface="楷体_GB2312" pitchFamily="49" charset="-122"/>
                <a:ea typeface="楷体_GB2312" pitchFamily="49" charset="-122"/>
                <a:sym typeface="Symbol" panose="05050102010706020507" pitchFamily="18" charset="2"/>
              </a:rPr>
              <a:t>Z</a:t>
            </a:r>
            <a:r>
              <a:rPr kumimoji="1" lang="en-US" altLang="zh-CN" sz="3200" b="1" baseline="-20000">
                <a:solidFill>
                  <a:srgbClr val="3333FF"/>
                </a:solidFill>
                <a:latin typeface="楷体_GB2312" pitchFamily="49" charset="-122"/>
                <a:ea typeface="楷体_GB2312" pitchFamily="49" charset="-122"/>
                <a:sym typeface="Wingdings" panose="05000000000000000000" pitchFamily="2" charset="2"/>
              </a:rPr>
              <a:t>1 </a:t>
            </a:r>
            <a:r>
              <a:rPr kumimoji="1" lang="en-US" altLang="zh-CN" sz="3200" b="1">
                <a:solidFill>
                  <a:srgbClr val="3333FF"/>
                </a:solidFill>
                <a:latin typeface="楷体_GB2312" pitchFamily="49" charset="-122"/>
                <a:ea typeface="楷体_GB2312" pitchFamily="49" charset="-122"/>
                <a:sym typeface="Wingdings" panose="05000000000000000000" pitchFamily="2" charset="2"/>
              </a:rPr>
              <a:t>= </a:t>
            </a:r>
            <a:r>
              <a:rPr kumimoji="1" lang="en-US" altLang="zh-CN" sz="3200" b="1">
                <a:solidFill>
                  <a:srgbClr val="3333FF"/>
                </a:solidFill>
                <a:latin typeface="楷体_GB2312" pitchFamily="49" charset="-122"/>
                <a:ea typeface="楷体_GB2312" pitchFamily="49" charset="-122"/>
                <a:sym typeface="Symbol" panose="05050102010706020507" pitchFamily="18" charset="2"/>
              </a:rPr>
              <a:t></a:t>
            </a:r>
            <a:r>
              <a:rPr kumimoji="1" lang="en-US" altLang="zh-CN" sz="3200" b="1">
                <a:solidFill>
                  <a:srgbClr val="3333FF"/>
                </a:solidFill>
                <a:latin typeface="楷体_GB2312" pitchFamily="49" charset="-122"/>
                <a:ea typeface="楷体_GB2312" pitchFamily="49" charset="-122"/>
                <a:sym typeface="Wingdings" panose="05000000000000000000" pitchFamily="2" charset="2"/>
              </a:rPr>
              <a:t>Y</a:t>
            </a:r>
            <a:r>
              <a:rPr kumimoji="1" lang="en-US" altLang="zh-CN" sz="3200" b="1" baseline="-20000">
                <a:solidFill>
                  <a:srgbClr val="3333FF"/>
                </a:solidFill>
                <a:latin typeface="楷体_GB2312" pitchFamily="49" charset="-122"/>
                <a:ea typeface="楷体_GB2312" pitchFamily="49" charset="-122"/>
                <a:sym typeface="Wingdings" panose="05000000000000000000" pitchFamily="2" charset="2"/>
              </a:rPr>
              <a:t>1</a:t>
            </a:r>
            <a:r>
              <a:rPr kumimoji="1" lang="en-US" altLang="zh-CN" sz="3200" b="1">
                <a:solidFill>
                  <a:srgbClr val="3333FF"/>
                </a:solidFill>
                <a:latin typeface="楷体_GB2312" pitchFamily="49" charset="-122"/>
                <a:ea typeface="楷体_GB2312" pitchFamily="49" charset="-122"/>
                <a:sym typeface="Wingdings" panose="05000000000000000000" pitchFamily="2" charset="2"/>
              </a:rPr>
              <a:t>O</a:t>
            </a:r>
            <a:r>
              <a:rPr kumimoji="1" lang="en-US" altLang="zh-CN" sz="3200" b="1" baseline="-20000">
                <a:solidFill>
                  <a:srgbClr val="3333FF"/>
                </a:solidFill>
                <a:latin typeface="楷体_GB2312" pitchFamily="49" charset="-122"/>
                <a:ea typeface="楷体_GB2312" pitchFamily="49" charset="-122"/>
                <a:sym typeface="Wingdings" panose="05000000000000000000" pitchFamily="2" charset="2"/>
              </a:rPr>
              <a:t>1</a:t>
            </a:r>
            <a:r>
              <a:rPr kumimoji="1" lang="en-US" altLang="zh-CN" sz="3200" b="1">
                <a:solidFill>
                  <a:srgbClr val="3333FF"/>
                </a:solidFill>
                <a:latin typeface="楷体_GB2312" pitchFamily="49" charset="-122"/>
                <a:ea typeface="楷体_GB2312" pitchFamily="49" charset="-122"/>
                <a:sym typeface="Wingdings" panose="05000000000000000000" pitchFamily="2" charset="2"/>
              </a:rPr>
              <a:t>Z</a:t>
            </a:r>
            <a:r>
              <a:rPr kumimoji="1" lang="en-US" altLang="zh-CN" sz="3200" b="1" baseline="-20000">
                <a:solidFill>
                  <a:srgbClr val="3333FF"/>
                </a:solidFill>
                <a:latin typeface="楷体_GB2312" pitchFamily="49" charset="-122"/>
                <a:ea typeface="楷体_GB2312" pitchFamily="49" charset="-122"/>
                <a:sym typeface="Wingdings" panose="05000000000000000000" pitchFamily="2" charset="2"/>
              </a:rPr>
              <a:t>1 </a:t>
            </a:r>
            <a:r>
              <a:rPr kumimoji="1" lang="en-US" altLang="zh-CN" sz="3200" b="1">
                <a:solidFill>
                  <a:srgbClr val="3333FF"/>
                </a:solidFill>
                <a:latin typeface="楷体_GB2312" pitchFamily="49" charset="-122"/>
                <a:ea typeface="楷体_GB2312" pitchFamily="49" charset="-122"/>
                <a:sym typeface="Wingdings" panose="05000000000000000000" pitchFamily="2" charset="2"/>
              </a:rPr>
              <a:t>=120°</a:t>
            </a:r>
          </a:p>
        </p:txBody>
      </p:sp>
      <p:sp>
        <p:nvSpPr>
          <p:cNvPr id="11277" name="AutoShape 13">
            <a:hlinkClick r:id="rId5" action="ppaction://hlinksldjump" highlightClick="1"/>
            <a:extLst>
              <a:ext uri="{FF2B5EF4-FFF2-40B4-BE49-F238E27FC236}">
                <a16:creationId xmlns:a16="http://schemas.microsoft.com/office/drawing/2014/main" id="{DAF015D5-2DA0-47E5-A28A-FE680E520AB9}"/>
              </a:ext>
            </a:extLst>
          </p:cNvPr>
          <p:cNvSpPr>
            <a:spLocks noChangeArrowheads="1"/>
          </p:cNvSpPr>
          <p:nvPr/>
        </p:nvSpPr>
        <p:spPr bwMode="auto">
          <a:xfrm>
            <a:off x="8243888" y="6381750"/>
            <a:ext cx="900112" cy="47625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1266"/>
                                        </p:tgtEl>
                                        <p:attrNameLst>
                                          <p:attrName>style.visibility</p:attrName>
                                        </p:attrNameLst>
                                      </p:cBhvr>
                                      <p:to>
                                        <p:strVal val="visible"/>
                                      </p:to>
                                    </p:set>
                                    <p:anim calcmode="lin" valueType="num">
                                      <p:cBhvr>
                                        <p:cTn id="7" dur="500" fill="hold"/>
                                        <p:tgtEl>
                                          <p:spTgt spid="11266"/>
                                        </p:tgtEl>
                                        <p:attrNameLst>
                                          <p:attrName>ppt_w</p:attrName>
                                        </p:attrNameLst>
                                      </p:cBhvr>
                                      <p:tavLst>
                                        <p:tav tm="0">
                                          <p:val>
                                            <p:fltVal val="0"/>
                                          </p:val>
                                        </p:tav>
                                        <p:tav tm="100000">
                                          <p:val>
                                            <p:strVal val="#ppt_w"/>
                                          </p:val>
                                        </p:tav>
                                      </p:tavLst>
                                    </p:anim>
                                    <p:anim calcmode="lin" valueType="num">
                                      <p:cBhvr>
                                        <p:cTn id="8" dur="500" fill="hold"/>
                                        <p:tgtEl>
                                          <p:spTgt spid="11266"/>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268">
                                            <p:txEl>
                                              <p:pRg st="0" end="0"/>
                                            </p:txEl>
                                          </p:spTgt>
                                        </p:tgtEl>
                                        <p:attrNameLst>
                                          <p:attrName>style.visibility</p:attrName>
                                        </p:attrNameLst>
                                      </p:cBhvr>
                                      <p:to>
                                        <p:strVal val="visible"/>
                                      </p:to>
                                    </p:set>
                                    <p:anim calcmode="lin" valueType="num">
                                      <p:cBhvr additive="base">
                                        <p:cTn id="13" dur="500" fill="hold"/>
                                        <p:tgtEl>
                                          <p:spTgt spid="11268">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26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nodeType="clickEffect">
                                  <p:stCondLst>
                                    <p:cond delay="0"/>
                                  </p:stCondLst>
                                  <p:childTnLst>
                                    <p:set>
                                      <p:cBhvr>
                                        <p:cTn id="18" dur="1" fill="hold">
                                          <p:stCondLst>
                                            <p:cond delay="0"/>
                                          </p:stCondLst>
                                        </p:cTn>
                                        <p:tgtEl>
                                          <p:spTgt spid="11271"/>
                                        </p:tgtEl>
                                        <p:attrNameLst>
                                          <p:attrName>style.visibility</p:attrName>
                                        </p:attrNameLst>
                                      </p:cBhvr>
                                      <p:to>
                                        <p:strVal val="visible"/>
                                      </p:to>
                                    </p:set>
                                    <p:anim calcmode="lin" valueType="num">
                                      <p:cBhvr>
                                        <p:cTn id="19" dur="500" fill="hold"/>
                                        <p:tgtEl>
                                          <p:spTgt spid="11271"/>
                                        </p:tgtEl>
                                        <p:attrNameLst>
                                          <p:attrName>ppt_w</p:attrName>
                                        </p:attrNameLst>
                                      </p:cBhvr>
                                      <p:tavLst>
                                        <p:tav tm="0">
                                          <p:val>
                                            <p:fltVal val="0"/>
                                          </p:val>
                                        </p:tav>
                                        <p:tav tm="100000">
                                          <p:val>
                                            <p:strVal val="#ppt_w"/>
                                          </p:val>
                                        </p:tav>
                                      </p:tavLst>
                                    </p:anim>
                                    <p:anim calcmode="lin" valueType="num">
                                      <p:cBhvr>
                                        <p:cTn id="20" dur="500" fill="hold"/>
                                        <p:tgtEl>
                                          <p:spTgt spid="11271"/>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1269">
                                            <p:txEl>
                                              <p:pRg st="0" end="0"/>
                                            </p:txEl>
                                          </p:spTgt>
                                        </p:tgtEl>
                                        <p:attrNameLst>
                                          <p:attrName>style.visibility</p:attrName>
                                        </p:attrNameLst>
                                      </p:cBhvr>
                                      <p:to>
                                        <p:strVal val="visible"/>
                                      </p:to>
                                    </p:set>
                                    <p:animEffect transition="in" filter="wipe(left)">
                                      <p:cBhvr>
                                        <p:cTn id="25" dur="500"/>
                                        <p:tgtEl>
                                          <p:spTgt spid="11269">
                                            <p:txEl>
                                              <p:pRg st="0" end="0"/>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1269">
                                            <p:txEl>
                                              <p:pRg st="1" end="1"/>
                                            </p:txEl>
                                          </p:spTgt>
                                        </p:tgtEl>
                                        <p:attrNameLst>
                                          <p:attrName>style.visibility</p:attrName>
                                        </p:attrNameLst>
                                      </p:cBhvr>
                                      <p:to>
                                        <p:strVal val="visible"/>
                                      </p:to>
                                    </p:set>
                                    <p:animEffect transition="in" filter="wipe(left)">
                                      <p:cBhvr>
                                        <p:cTn id="30" dur="500"/>
                                        <p:tgtEl>
                                          <p:spTgt spid="11269">
                                            <p:txEl>
                                              <p:pRg st="1" end="1"/>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1270">
                                            <p:txEl>
                                              <p:pRg st="0" end="0"/>
                                            </p:txEl>
                                          </p:spTgt>
                                        </p:tgtEl>
                                        <p:attrNameLst>
                                          <p:attrName>style.visibility</p:attrName>
                                        </p:attrNameLst>
                                      </p:cBhvr>
                                      <p:to>
                                        <p:strVal val="visible"/>
                                      </p:to>
                                    </p:set>
                                    <p:animEffect transition="in" filter="wipe(left)">
                                      <p:cBhvr>
                                        <p:cTn id="35" dur="500"/>
                                        <p:tgtEl>
                                          <p:spTgt spid="11270">
                                            <p:txEl>
                                              <p:pRg st="0" end="0"/>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1270">
                                            <p:txEl>
                                              <p:pRg st="1" end="1"/>
                                            </p:txEl>
                                          </p:spTgt>
                                        </p:tgtEl>
                                        <p:attrNameLst>
                                          <p:attrName>style.visibility</p:attrName>
                                        </p:attrNameLst>
                                      </p:cBhvr>
                                      <p:to>
                                        <p:strVal val="visible"/>
                                      </p:to>
                                    </p:set>
                                    <p:animEffect transition="in" filter="wipe(left)">
                                      <p:cBhvr>
                                        <p:cTn id="40" dur="500"/>
                                        <p:tgtEl>
                                          <p:spTgt spid="11270">
                                            <p:txEl>
                                              <p:pRg st="1" end="1"/>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1273">
                                            <p:txEl>
                                              <p:pRg st="0" end="0"/>
                                            </p:txEl>
                                          </p:spTgt>
                                        </p:tgtEl>
                                        <p:attrNameLst>
                                          <p:attrName>style.visibility</p:attrName>
                                        </p:attrNameLst>
                                      </p:cBhvr>
                                      <p:to>
                                        <p:strVal val="visible"/>
                                      </p:to>
                                    </p:set>
                                    <p:animEffect transition="in" filter="wipe(left)">
                                      <p:cBhvr>
                                        <p:cTn id="45" dur="500"/>
                                        <p:tgtEl>
                                          <p:spTgt spid="11273">
                                            <p:txEl>
                                              <p:pRg st="0" end="0"/>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1273">
                                            <p:txEl>
                                              <p:pRg st="1" end="1"/>
                                            </p:txEl>
                                          </p:spTgt>
                                        </p:tgtEl>
                                        <p:attrNameLst>
                                          <p:attrName>style.visibility</p:attrName>
                                        </p:attrNameLst>
                                      </p:cBhvr>
                                      <p:to>
                                        <p:strVal val="visible"/>
                                      </p:to>
                                    </p:set>
                                    <p:animEffect transition="in" filter="wipe(left)">
                                      <p:cBhvr>
                                        <p:cTn id="50" dur="500"/>
                                        <p:tgtEl>
                                          <p:spTgt spid="1127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p:bldP spid="11268" grpId="0" build="p" autoUpdateAnimBg="0"/>
      <p:bldP spid="11269" grpId="0" build="p" autoUpdateAnimBg="0"/>
      <p:bldP spid="11270" grpId="0" build="p" autoUpdateAnimBg="0"/>
      <p:bldP spid="11273"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2">
            <a:extLst>
              <a:ext uri="{FF2B5EF4-FFF2-40B4-BE49-F238E27FC236}">
                <a16:creationId xmlns:a16="http://schemas.microsoft.com/office/drawing/2014/main" id="{1BF36DD6-0564-4C94-A35E-5A47426625E5}"/>
              </a:ext>
            </a:extLst>
          </p:cNvPr>
          <p:cNvSpPr txBox="1">
            <a:spLocks noChangeArrowheads="1"/>
          </p:cNvSpPr>
          <p:nvPr/>
        </p:nvSpPr>
        <p:spPr bwMode="auto">
          <a:xfrm>
            <a:off x="152400" y="609600"/>
            <a:ext cx="56181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a:solidFill>
                  <a:schemeClr val="accent2"/>
                </a:solidFill>
                <a:latin typeface="宋体" panose="02010600030101010101" pitchFamily="2" charset="-122"/>
              </a:rPr>
              <a:t>实际作图常采用</a:t>
            </a:r>
            <a:r>
              <a:rPr kumimoji="1" lang="zh-CN" altLang="en-US" sz="2800" b="1">
                <a:solidFill>
                  <a:srgbClr val="FF0000"/>
                </a:solidFill>
                <a:latin typeface="宋体" panose="02010600030101010101" pitchFamily="2" charset="-122"/>
              </a:rPr>
              <a:t>简化轴向伸缩系数</a:t>
            </a:r>
            <a:r>
              <a:rPr kumimoji="1" lang="zh-CN" altLang="en-US" sz="2400">
                <a:latin typeface="Times New Roman" panose="02020603050405020304" pitchFamily="18" charset="0"/>
              </a:rPr>
              <a:t> </a:t>
            </a:r>
          </a:p>
        </p:txBody>
      </p:sp>
      <p:sp>
        <p:nvSpPr>
          <p:cNvPr id="62467" name="Text Box 3">
            <a:extLst>
              <a:ext uri="{FF2B5EF4-FFF2-40B4-BE49-F238E27FC236}">
                <a16:creationId xmlns:a16="http://schemas.microsoft.com/office/drawing/2014/main" id="{CBF42194-14AF-42A5-BD7D-E7BB1570159C}"/>
              </a:ext>
            </a:extLst>
          </p:cNvPr>
          <p:cNvSpPr txBox="1">
            <a:spLocks noChangeArrowheads="1"/>
          </p:cNvSpPr>
          <p:nvPr/>
        </p:nvSpPr>
        <p:spPr bwMode="auto">
          <a:xfrm>
            <a:off x="609600" y="1350963"/>
            <a:ext cx="3554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chemeClr val="accent2"/>
                </a:solidFill>
                <a:latin typeface="宋体" panose="02010600030101010101" pitchFamily="2" charset="-122"/>
              </a:rPr>
              <a:t>简化系数</a:t>
            </a:r>
            <a:r>
              <a:rPr kumimoji="1" lang="zh-CN" altLang="en-US" sz="2400" b="1">
                <a:solidFill>
                  <a:srgbClr val="FF0000"/>
                </a:solidFill>
                <a:latin typeface="宋体" panose="02010600030101010101" pitchFamily="2" charset="-122"/>
              </a:rPr>
              <a:t>ｐ＝ｑ＝ｒ＝１</a:t>
            </a:r>
            <a:endParaRPr kumimoji="1" lang="zh-CN" altLang="en-US" sz="2400">
              <a:latin typeface="Times New Roman" panose="02020603050405020304" pitchFamily="18" charset="0"/>
            </a:endParaRPr>
          </a:p>
        </p:txBody>
      </p:sp>
      <p:sp>
        <p:nvSpPr>
          <p:cNvPr id="62468" name="Text Box 4">
            <a:extLst>
              <a:ext uri="{FF2B5EF4-FFF2-40B4-BE49-F238E27FC236}">
                <a16:creationId xmlns:a16="http://schemas.microsoft.com/office/drawing/2014/main" id="{D9279335-AC83-406D-BCB5-37AB43008611}"/>
              </a:ext>
            </a:extLst>
          </p:cNvPr>
          <p:cNvSpPr txBox="1">
            <a:spLocks noChangeArrowheads="1"/>
          </p:cNvSpPr>
          <p:nvPr/>
        </p:nvSpPr>
        <p:spPr bwMode="auto">
          <a:xfrm>
            <a:off x="533400" y="2057400"/>
            <a:ext cx="7607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chemeClr val="accent2"/>
                </a:solidFill>
                <a:latin typeface="宋体" panose="02010600030101010101" pitchFamily="2" charset="-122"/>
              </a:rPr>
              <a:t>用简化系数画出的正等轴测图约</a:t>
            </a:r>
            <a:r>
              <a:rPr kumimoji="1" lang="zh-CN" altLang="en-US" sz="2400" b="1">
                <a:solidFill>
                  <a:srgbClr val="FF0000"/>
                </a:solidFill>
                <a:latin typeface="宋体" panose="02010600030101010101" pitchFamily="2" charset="-122"/>
              </a:rPr>
              <a:t>放大</a:t>
            </a:r>
            <a:r>
              <a:rPr kumimoji="1" lang="zh-CN" altLang="en-US" sz="2400" b="1">
                <a:solidFill>
                  <a:schemeClr val="accent2"/>
                </a:solidFill>
                <a:latin typeface="宋体" panose="02010600030101010101" pitchFamily="2" charset="-122"/>
              </a:rPr>
              <a:t>了</a:t>
            </a:r>
            <a:r>
              <a:rPr kumimoji="1" lang="en-US" altLang="zh-CN" sz="2400" b="1">
                <a:solidFill>
                  <a:schemeClr val="accent2"/>
                </a:solidFill>
                <a:latin typeface="Times New Roman" panose="02020603050405020304" pitchFamily="18" charset="0"/>
              </a:rPr>
              <a:t>1</a:t>
            </a:r>
            <a:r>
              <a:rPr kumimoji="1" lang="zh-CN" altLang="en-US" sz="2400" b="1">
                <a:solidFill>
                  <a:schemeClr val="accent2"/>
                </a:solidFill>
                <a:latin typeface="宋体" panose="02010600030101010101" pitchFamily="2" charset="-122"/>
              </a:rPr>
              <a:t>／</a:t>
            </a:r>
            <a:r>
              <a:rPr kumimoji="1" lang="en-US" altLang="zh-CN" sz="2400" b="1">
                <a:solidFill>
                  <a:schemeClr val="accent2"/>
                </a:solidFill>
                <a:latin typeface="Times New Roman" panose="02020603050405020304" pitchFamily="18" charset="0"/>
              </a:rPr>
              <a:t>0.82</a:t>
            </a:r>
            <a:r>
              <a:rPr kumimoji="1" lang="en-US" altLang="zh-CN" sz="2400" b="1">
                <a:solidFill>
                  <a:schemeClr val="accent2"/>
                </a:solidFill>
                <a:latin typeface="宋体" panose="02010600030101010101" pitchFamily="2" charset="-122"/>
              </a:rPr>
              <a:t>≈</a:t>
            </a:r>
            <a:r>
              <a:rPr kumimoji="1" lang="en-US" altLang="zh-CN" sz="2400" b="1">
                <a:solidFill>
                  <a:srgbClr val="FF0000"/>
                </a:solidFill>
                <a:latin typeface="Times New Roman" panose="02020603050405020304" pitchFamily="18" charset="0"/>
              </a:rPr>
              <a:t>1.22</a:t>
            </a:r>
            <a:r>
              <a:rPr kumimoji="1" lang="zh-CN" altLang="en-US" sz="2400" b="1">
                <a:solidFill>
                  <a:srgbClr val="FF0000"/>
                </a:solidFill>
                <a:latin typeface="宋体" panose="02010600030101010101" pitchFamily="2" charset="-122"/>
              </a:rPr>
              <a:t>倍</a:t>
            </a:r>
            <a:r>
              <a:rPr kumimoji="1" lang="zh-CN" altLang="en-US" sz="2400">
                <a:latin typeface="Times New Roman" panose="02020603050405020304" pitchFamily="18" charset="0"/>
              </a:rPr>
              <a:t> </a:t>
            </a:r>
          </a:p>
        </p:txBody>
      </p:sp>
      <p:graphicFrame>
        <p:nvGraphicFramePr>
          <p:cNvPr id="62469" name="Object 5">
            <a:extLst>
              <a:ext uri="{FF2B5EF4-FFF2-40B4-BE49-F238E27FC236}">
                <a16:creationId xmlns:a16="http://schemas.microsoft.com/office/drawing/2014/main" id="{500233F7-093F-495F-B424-CD1C527532A8}"/>
              </a:ext>
            </a:extLst>
          </p:cNvPr>
          <p:cNvGraphicFramePr>
            <a:graphicFrameLocks noChangeAspect="1"/>
          </p:cNvGraphicFramePr>
          <p:nvPr/>
        </p:nvGraphicFramePr>
        <p:xfrm>
          <a:off x="2133600" y="2590800"/>
          <a:ext cx="4362450" cy="2743200"/>
        </p:xfrm>
        <a:graphic>
          <a:graphicData uri="http://schemas.openxmlformats.org/presentationml/2006/ole">
            <mc:AlternateContent xmlns:mc="http://schemas.openxmlformats.org/markup-compatibility/2006">
              <mc:Choice xmlns:v="urn:schemas-microsoft-com:vml" Requires="v">
                <p:oleObj spid="_x0000_s4118" name="位图图像" r:id="rId3" imgW="4361905" imgH="2742857" progId="Paint.Picture">
                  <p:embed/>
                </p:oleObj>
              </mc:Choice>
              <mc:Fallback>
                <p:oleObj name="位图图像" r:id="rId3" imgW="4361905" imgH="2742857" progId="Paint.Picture">
                  <p:embed/>
                  <p:pic>
                    <p:nvPicPr>
                      <p:cNvPr id="62469" name="Object 5">
                        <a:extLst>
                          <a:ext uri="{FF2B5EF4-FFF2-40B4-BE49-F238E27FC236}">
                            <a16:creationId xmlns:a16="http://schemas.microsoft.com/office/drawing/2014/main" id="{500233F7-093F-495F-B424-CD1C527532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2590800"/>
                        <a:ext cx="436245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2470" name="Text Box 6">
            <a:extLst>
              <a:ext uri="{FF2B5EF4-FFF2-40B4-BE49-F238E27FC236}">
                <a16:creationId xmlns:a16="http://schemas.microsoft.com/office/drawing/2014/main" id="{E4B75873-F68D-45E9-84FE-EADE3BBC9347}"/>
              </a:ext>
            </a:extLst>
          </p:cNvPr>
          <p:cNvSpPr txBox="1">
            <a:spLocks noChangeArrowheads="1"/>
          </p:cNvSpPr>
          <p:nvPr/>
        </p:nvSpPr>
        <p:spPr bwMode="auto">
          <a:xfrm>
            <a:off x="1676400" y="5486400"/>
            <a:ext cx="2560638" cy="4572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CC00CC"/>
                </a:solidFill>
                <a:latin typeface="宋体" panose="02010600030101010101" pitchFamily="2" charset="-122"/>
              </a:rPr>
              <a:t>用轴向伸缩系数作图</a:t>
            </a:r>
            <a:r>
              <a:rPr kumimoji="1" lang="zh-CN" altLang="en-US" sz="2400">
                <a:latin typeface="Times New Roman" panose="02020603050405020304" pitchFamily="18" charset="0"/>
              </a:rPr>
              <a:t> </a:t>
            </a:r>
          </a:p>
        </p:txBody>
      </p:sp>
      <p:sp>
        <p:nvSpPr>
          <p:cNvPr id="62471" name="Text Box 7">
            <a:extLst>
              <a:ext uri="{FF2B5EF4-FFF2-40B4-BE49-F238E27FC236}">
                <a16:creationId xmlns:a16="http://schemas.microsoft.com/office/drawing/2014/main" id="{708D71AD-E124-4164-BB6A-F6EA83E5BAF6}"/>
              </a:ext>
            </a:extLst>
          </p:cNvPr>
          <p:cNvSpPr txBox="1">
            <a:spLocks noChangeArrowheads="1"/>
          </p:cNvSpPr>
          <p:nvPr/>
        </p:nvSpPr>
        <p:spPr bwMode="auto">
          <a:xfrm>
            <a:off x="4572000" y="5486400"/>
            <a:ext cx="2560638" cy="457200"/>
          </a:xfrm>
          <a:prstGeom prst="rect">
            <a:avLst/>
          </a:prstGeom>
          <a:solidFill>
            <a:srgbClr val="FFFF00"/>
          </a:solidFill>
          <a:ln>
            <a:noFill/>
          </a:ln>
          <a:effectLst/>
          <a:extLs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CC00CC"/>
                </a:solidFill>
                <a:latin typeface="宋体" panose="02010600030101010101" pitchFamily="2" charset="-122"/>
              </a:rPr>
              <a:t>用简化伸缩系数作图</a:t>
            </a:r>
            <a:r>
              <a:rPr kumimoji="1" lang="zh-CN" altLang="en-US" sz="2400">
                <a:latin typeface="Times New Roman" panose="02020603050405020304" pitchFamily="18" charset="0"/>
              </a:rPr>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a:extLst>
              <a:ext uri="{FF2B5EF4-FFF2-40B4-BE49-F238E27FC236}">
                <a16:creationId xmlns:a16="http://schemas.microsoft.com/office/drawing/2014/main" id="{5384165A-CB23-4A67-8619-3D350AD94E57}"/>
              </a:ext>
            </a:extLst>
          </p:cNvPr>
          <p:cNvSpPr txBox="1">
            <a:spLocks noChangeArrowheads="1"/>
          </p:cNvSpPr>
          <p:nvPr/>
        </p:nvSpPr>
        <p:spPr bwMode="auto">
          <a:xfrm>
            <a:off x="467544" y="694344"/>
            <a:ext cx="1687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dirty="0">
                <a:solidFill>
                  <a:srgbClr val="FF0000"/>
                </a:solidFill>
                <a:latin typeface="Times New Roman" panose="02020603050405020304" pitchFamily="18" charset="0"/>
              </a:rPr>
              <a:t>    </a:t>
            </a:r>
            <a:r>
              <a:rPr kumimoji="1" lang="zh-CN" altLang="en-US" sz="2800" b="1" dirty="0">
                <a:solidFill>
                  <a:srgbClr val="FF0000"/>
                </a:solidFill>
                <a:latin typeface="宋体" panose="02010600030101010101" pitchFamily="2" charset="-122"/>
              </a:rPr>
              <a:t>轴间角</a:t>
            </a:r>
            <a:r>
              <a:rPr kumimoji="1" lang="zh-CN" altLang="en-US" sz="2400" dirty="0">
                <a:latin typeface="Times New Roman" panose="02020603050405020304" pitchFamily="18" charset="0"/>
              </a:rPr>
              <a:t> </a:t>
            </a:r>
          </a:p>
        </p:txBody>
      </p:sp>
      <p:sp>
        <p:nvSpPr>
          <p:cNvPr id="63491" name="Text Box 3">
            <a:extLst>
              <a:ext uri="{FF2B5EF4-FFF2-40B4-BE49-F238E27FC236}">
                <a16:creationId xmlns:a16="http://schemas.microsoft.com/office/drawing/2014/main" id="{6B8DC2D5-4588-468A-893B-A13CDA16EE4D}"/>
              </a:ext>
            </a:extLst>
          </p:cNvPr>
          <p:cNvSpPr txBox="1">
            <a:spLocks noChangeArrowheads="1"/>
          </p:cNvSpPr>
          <p:nvPr/>
        </p:nvSpPr>
        <p:spPr bwMode="auto">
          <a:xfrm>
            <a:off x="1219200" y="1600200"/>
            <a:ext cx="5441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chemeClr val="accent2"/>
                </a:solidFill>
                <a:latin typeface="宋体" panose="02010600030101010101" pitchFamily="2" charset="-122"/>
              </a:rPr>
              <a:t>正等测轴测投影的轴间角均为１２０</a:t>
            </a:r>
            <a:r>
              <a:rPr kumimoji="1" lang="en-US" altLang="zh-CN" sz="2400" b="1">
                <a:solidFill>
                  <a:schemeClr val="accent2"/>
                </a:solidFill>
                <a:latin typeface="宋体" panose="02010600030101010101" pitchFamily="2" charset="-122"/>
              </a:rPr>
              <a:t>°</a:t>
            </a:r>
            <a:r>
              <a:rPr kumimoji="1" lang="en-US" altLang="zh-CN" sz="2400">
                <a:latin typeface="Times New Roman" panose="02020603050405020304" pitchFamily="18" charset="0"/>
              </a:rPr>
              <a:t> </a:t>
            </a:r>
          </a:p>
        </p:txBody>
      </p:sp>
      <p:graphicFrame>
        <p:nvGraphicFramePr>
          <p:cNvPr id="63492" name="Object 4">
            <a:extLst>
              <a:ext uri="{FF2B5EF4-FFF2-40B4-BE49-F238E27FC236}">
                <a16:creationId xmlns:a16="http://schemas.microsoft.com/office/drawing/2014/main" id="{C1E0FF22-D848-41BD-BBF7-A72B57A5B4CA}"/>
              </a:ext>
            </a:extLst>
          </p:cNvPr>
          <p:cNvGraphicFramePr>
            <a:graphicFrameLocks noChangeAspect="1"/>
          </p:cNvGraphicFramePr>
          <p:nvPr/>
        </p:nvGraphicFramePr>
        <p:xfrm>
          <a:off x="2438400" y="2438400"/>
          <a:ext cx="3524250" cy="2952750"/>
        </p:xfrm>
        <a:graphic>
          <a:graphicData uri="http://schemas.openxmlformats.org/presentationml/2006/ole">
            <mc:AlternateContent xmlns:mc="http://schemas.openxmlformats.org/markup-compatibility/2006">
              <mc:Choice xmlns:v="urn:schemas-microsoft-com:vml" Requires="v">
                <p:oleObj spid="_x0000_s5142" name="位图图像" r:id="rId3" imgW="3524742" imgH="2952381" progId="Paint.Picture">
                  <p:embed/>
                </p:oleObj>
              </mc:Choice>
              <mc:Fallback>
                <p:oleObj name="位图图像" r:id="rId3" imgW="3524742" imgH="2952381" progId="Paint.Picture">
                  <p:embed/>
                  <p:pic>
                    <p:nvPicPr>
                      <p:cNvPr id="63492" name="Object 4">
                        <a:extLst>
                          <a:ext uri="{FF2B5EF4-FFF2-40B4-BE49-F238E27FC236}">
                            <a16:creationId xmlns:a16="http://schemas.microsoft.com/office/drawing/2014/main" id="{C1E0FF22-D848-41BD-BBF7-A72B57A5B4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2438400"/>
                        <a:ext cx="3524250" cy="295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a:extLst>
              <a:ext uri="{FF2B5EF4-FFF2-40B4-BE49-F238E27FC236}">
                <a16:creationId xmlns:a16="http://schemas.microsoft.com/office/drawing/2014/main" id="{C372087E-2BD5-4E44-9B0E-EDA38F517AFC}"/>
              </a:ext>
            </a:extLst>
          </p:cNvPr>
          <p:cNvSpPr txBox="1">
            <a:spLocks noChangeArrowheads="1"/>
          </p:cNvSpPr>
          <p:nvPr/>
        </p:nvSpPr>
        <p:spPr bwMode="auto">
          <a:xfrm>
            <a:off x="107950" y="476250"/>
            <a:ext cx="24034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a:solidFill>
                  <a:srgbClr val="CC00CC"/>
                </a:solidFill>
                <a:latin typeface="宋体" panose="02010600030101010101" pitchFamily="2" charset="-122"/>
              </a:rPr>
              <a:t>基本作图方法</a:t>
            </a:r>
            <a:r>
              <a:rPr kumimoji="1" lang="zh-CN" altLang="en-US" sz="2400">
                <a:latin typeface="Times New Roman" panose="02020603050405020304" pitchFamily="18" charset="0"/>
              </a:rPr>
              <a:t> </a:t>
            </a:r>
          </a:p>
        </p:txBody>
      </p:sp>
      <p:sp>
        <p:nvSpPr>
          <p:cNvPr id="59395" name="Text Box 3">
            <a:extLst>
              <a:ext uri="{FF2B5EF4-FFF2-40B4-BE49-F238E27FC236}">
                <a16:creationId xmlns:a16="http://schemas.microsoft.com/office/drawing/2014/main" id="{B8C6BE82-5719-436B-9EFC-5970C3726D4F}"/>
              </a:ext>
            </a:extLst>
          </p:cNvPr>
          <p:cNvSpPr txBox="1">
            <a:spLocks noChangeArrowheads="1"/>
          </p:cNvSpPr>
          <p:nvPr/>
        </p:nvSpPr>
        <p:spPr bwMode="auto">
          <a:xfrm>
            <a:off x="304800" y="1143000"/>
            <a:ext cx="80930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a:solidFill>
                  <a:schemeClr val="tx2"/>
                </a:solidFill>
                <a:latin typeface="宋体" panose="02010600030101010101" pitchFamily="2" charset="-122"/>
              </a:rPr>
              <a:t>    </a:t>
            </a:r>
            <a:r>
              <a:rPr kumimoji="1" lang="zh-CN" altLang="en-US" sz="2400" b="1">
                <a:solidFill>
                  <a:schemeClr val="tx2"/>
                </a:solidFill>
                <a:latin typeface="宋体" panose="02010600030101010101" pitchFamily="2" charset="-122"/>
              </a:rPr>
              <a:t>已知轴测轴</a:t>
            </a:r>
            <a:r>
              <a:rPr kumimoji="1" lang="en-US" altLang="zh-CN" sz="2400" b="1">
                <a:solidFill>
                  <a:schemeClr val="tx2"/>
                </a:solidFill>
                <a:latin typeface="Times New Roman" panose="02020603050405020304" pitchFamily="18" charset="0"/>
              </a:rPr>
              <a:t>OX</a:t>
            </a:r>
            <a:r>
              <a:rPr kumimoji="1" lang="zh-CN" altLang="en-US" sz="2400" b="1">
                <a:solidFill>
                  <a:schemeClr val="tx2"/>
                </a:solidFill>
                <a:latin typeface="宋体" panose="02010600030101010101" pitchFamily="2" charset="-122"/>
              </a:rPr>
              <a:t>、</a:t>
            </a:r>
            <a:r>
              <a:rPr kumimoji="1" lang="en-US" altLang="zh-CN" sz="2400" b="1">
                <a:solidFill>
                  <a:schemeClr val="tx2"/>
                </a:solidFill>
                <a:latin typeface="Times New Roman" panose="02020603050405020304" pitchFamily="18" charset="0"/>
              </a:rPr>
              <a:t>OY</a:t>
            </a:r>
            <a:r>
              <a:rPr kumimoji="1" lang="zh-CN" altLang="en-US" sz="2400" b="1">
                <a:solidFill>
                  <a:schemeClr val="tx2"/>
                </a:solidFill>
                <a:latin typeface="宋体" panose="02010600030101010101" pitchFamily="2" charset="-122"/>
              </a:rPr>
              <a:t>、</a:t>
            </a:r>
            <a:r>
              <a:rPr kumimoji="1" lang="en-US" altLang="zh-CN" sz="2400" b="1">
                <a:solidFill>
                  <a:schemeClr val="tx2"/>
                </a:solidFill>
                <a:latin typeface="Times New Roman" panose="02020603050405020304" pitchFamily="18" charset="0"/>
              </a:rPr>
              <a:t>OZ</a:t>
            </a:r>
            <a:r>
              <a:rPr kumimoji="1" lang="zh-CN" altLang="en-US" sz="2400" b="1">
                <a:solidFill>
                  <a:schemeClr val="tx2"/>
                </a:solidFill>
                <a:latin typeface="宋体" panose="02010600030101010101" pitchFamily="2" charset="-122"/>
              </a:rPr>
              <a:t>及相应的轴向伸缩系数ｐ、ｑ、ｒ，求作点</a:t>
            </a:r>
            <a:r>
              <a:rPr kumimoji="1" lang="en-US" altLang="zh-CN" sz="2400" b="1">
                <a:solidFill>
                  <a:schemeClr val="tx2"/>
                </a:solidFill>
                <a:latin typeface="Times New Roman" panose="02020603050405020304" pitchFamily="18" charset="0"/>
              </a:rPr>
              <a:t>A</a:t>
            </a:r>
            <a:r>
              <a:rPr kumimoji="1" lang="zh-CN" altLang="en-US" sz="2400" b="1">
                <a:solidFill>
                  <a:schemeClr val="tx2"/>
                </a:solidFill>
                <a:latin typeface="宋体" panose="02010600030101010101" pitchFamily="2" charset="-122"/>
              </a:rPr>
              <a:t>（</a:t>
            </a:r>
            <a:r>
              <a:rPr kumimoji="1" lang="en-US" altLang="zh-CN" sz="2400" b="1">
                <a:solidFill>
                  <a:schemeClr val="tx2"/>
                </a:solidFill>
                <a:latin typeface="Times New Roman" panose="02020603050405020304" pitchFamily="18" charset="0"/>
              </a:rPr>
              <a:t>5</a:t>
            </a:r>
            <a:r>
              <a:rPr kumimoji="1" lang="zh-CN" altLang="en-US" sz="2400" b="1">
                <a:solidFill>
                  <a:schemeClr val="tx2"/>
                </a:solidFill>
                <a:latin typeface="宋体" panose="02010600030101010101" pitchFamily="2" charset="-122"/>
              </a:rPr>
              <a:t>，</a:t>
            </a:r>
            <a:r>
              <a:rPr kumimoji="1" lang="en-US" altLang="zh-CN" sz="2400" b="1">
                <a:solidFill>
                  <a:schemeClr val="tx2"/>
                </a:solidFill>
                <a:latin typeface="Times New Roman" panose="02020603050405020304" pitchFamily="18" charset="0"/>
              </a:rPr>
              <a:t>7</a:t>
            </a:r>
            <a:r>
              <a:rPr kumimoji="1" lang="zh-CN" altLang="en-US" sz="2400" b="1">
                <a:solidFill>
                  <a:schemeClr val="tx2"/>
                </a:solidFill>
                <a:latin typeface="宋体" panose="02010600030101010101" pitchFamily="2" charset="-122"/>
              </a:rPr>
              <a:t>，</a:t>
            </a:r>
            <a:r>
              <a:rPr kumimoji="1" lang="en-US" altLang="zh-CN" sz="2400" b="1">
                <a:solidFill>
                  <a:schemeClr val="tx2"/>
                </a:solidFill>
                <a:latin typeface="Times New Roman" panose="02020603050405020304" pitchFamily="18" charset="0"/>
              </a:rPr>
              <a:t>9</a:t>
            </a:r>
            <a:r>
              <a:rPr kumimoji="1" lang="zh-CN" altLang="en-US" sz="2400" b="1">
                <a:solidFill>
                  <a:schemeClr val="tx2"/>
                </a:solidFill>
                <a:latin typeface="宋体" panose="02010600030101010101" pitchFamily="2" charset="-122"/>
              </a:rPr>
              <a:t>）的轴测投影。</a:t>
            </a:r>
            <a:r>
              <a:rPr kumimoji="1" lang="zh-CN" altLang="en-US" sz="2400">
                <a:latin typeface="Times New Roman" panose="02020603050405020304" pitchFamily="18" charset="0"/>
              </a:rPr>
              <a:t> </a:t>
            </a:r>
          </a:p>
        </p:txBody>
      </p:sp>
      <p:sp>
        <p:nvSpPr>
          <p:cNvPr id="59396" name="Text Box 4">
            <a:extLst>
              <a:ext uri="{FF2B5EF4-FFF2-40B4-BE49-F238E27FC236}">
                <a16:creationId xmlns:a16="http://schemas.microsoft.com/office/drawing/2014/main" id="{E4C16455-1584-4AAE-9DEA-B86DB346738A}"/>
              </a:ext>
            </a:extLst>
          </p:cNvPr>
          <p:cNvSpPr txBox="1">
            <a:spLocks noChangeArrowheads="1"/>
          </p:cNvSpPr>
          <p:nvPr/>
        </p:nvSpPr>
        <p:spPr bwMode="auto">
          <a:xfrm>
            <a:off x="152400" y="1981200"/>
            <a:ext cx="5705475"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a:solidFill>
                  <a:schemeClr val="accent2"/>
                </a:solidFill>
                <a:latin typeface="宋体" panose="02010600030101010101" pitchFamily="2" charset="-122"/>
              </a:rPr>
              <a:t>1</a:t>
            </a:r>
            <a:r>
              <a:rPr kumimoji="1" lang="zh-CN" altLang="en-US" sz="2400" b="1">
                <a:solidFill>
                  <a:schemeClr val="accent2"/>
                </a:solidFill>
                <a:latin typeface="宋体" panose="02010600030101010101" pitchFamily="2" charset="-122"/>
              </a:rPr>
              <a:t>）沿</a:t>
            </a:r>
            <a:r>
              <a:rPr kumimoji="1" lang="en-US" altLang="zh-CN" sz="2400" b="1">
                <a:solidFill>
                  <a:schemeClr val="accent2"/>
                </a:solidFill>
                <a:latin typeface="宋体" panose="02010600030101010101" pitchFamily="2" charset="-122"/>
              </a:rPr>
              <a:t>OX</a:t>
            </a:r>
            <a:r>
              <a:rPr kumimoji="1" lang="zh-CN" altLang="en-US" sz="2400" b="1">
                <a:solidFill>
                  <a:schemeClr val="accent2"/>
                </a:solidFill>
                <a:latin typeface="宋体" panose="02010600030101010101" pitchFamily="2" charset="-122"/>
              </a:rPr>
              <a:t>截取</a:t>
            </a:r>
            <a:r>
              <a:rPr kumimoji="1" lang="en-US" altLang="zh-CN" sz="2400" b="1">
                <a:solidFill>
                  <a:schemeClr val="accent2"/>
                </a:solidFill>
                <a:latin typeface="Times New Roman" panose="02020603050405020304" pitchFamily="18" charset="0"/>
              </a:rPr>
              <a:t>Oa</a:t>
            </a:r>
            <a:r>
              <a:rPr kumimoji="1" lang="en-US" altLang="zh-CN" sz="2400" b="1" baseline="-30000">
                <a:solidFill>
                  <a:schemeClr val="accent2"/>
                </a:solidFill>
                <a:latin typeface="Times New Roman" panose="02020603050405020304" pitchFamily="18" charset="0"/>
                <a:cs typeface="Times New Roman" panose="02020603050405020304" pitchFamily="18" charset="0"/>
              </a:rPr>
              <a:t>ξ</a:t>
            </a:r>
            <a:r>
              <a:rPr kumimoji="1" lang="zh-CN" altLang="en-US" sz="2400" b="1">
                <a:solidFill>
                  <a:schemeClr val="accent2"/>
                </a:solidFill>
                <a:latin typeface="宋体" panose="02010600030101010101" pitchFamily="2" charset="-122"/>
              </a:rPr>
              <a:t>＝</a:t>
            </a:r>
            <a:r>
              <a:rPr kumimoji="1" lang="en-US" altLang="zh-CN" sz="2400" b="1">
                <a:solidFill>
                  <a:schemeClr val="accent2"/>
                </a:solidFill>
                <a:latin typeface="Times New Roman" panose="02020603050405020304" pitchFamily="18" charset="0"/>
              </a:rPr>
              <a:t>5</a:t>
            </a:r>
            <a:r>
              <a:rPr kumimoji="1" lang="zh-CN" altLang="en-US" sz="2400" b="1">
                <a:solidFill>
                  <a:schemeClr val="accent2"/>
                </a:solidFill>
                <a:latin typeface="Times New Roman" panose="02020603050405020304" pitchFamily="18" charset="0"/>
              </a:rPr>
              <a:t>ｐ</a:t>
            </a:r>
            <a:r>
              <a:rPr kumimoji="1" lang="zh-CN" altLang="en-US" sz="2400" b="1">
                <a:solidFill>
                  <a:schemeClr val="accent2"/>
                </a:solidFill>
                <a:latin typeface="宋体" panose="02010600030101010101" pitchFamily="2" charset="-122"/>
              </a:rPr>
              <a:t>；</a:t>
            </a:r>
          </a:p>
          <a:p>
            <a:endParaRPr kumimoji="1" lang="zh-CN" altLang="en-US" sz="2400" b="1">
              <a:solidFill>
                <a:schemeClr val="accent2"/>
              </a:solidFill>
              <a:latin typeface="宋体" panose="02010600030101010101" pitchFamily="2" charset="-122"/>
            </a:endParaRPr>
          </a:p>
          <a:p>
            <a:r>
              <a:rPr kumimoji="1" lang="en-US" altLang="zh-CN" sz="2400" b="1">
                <a:solidFill>
                  <a:schemeClr val="accent2"/>
                </a:solidFill>
                <a:latin typeface="宋体" panose="02010600030101010101" pitchFamily="2" charset="-122"/>
              </a:rPr>
              <a:t>2</a:t>
            </a:r>
            <a:r>
              <a:rPr kumimoji="1" lang="zh-CN" altLang="en-US" sz="2400" b="1">
                <a:solidFill>
                  <a:schemeClr val="accent2"/>
                </a:solidFill>
                <a:latin typeface="宋体" panose="02010600030101010101" pitchFamily="2" charset="-122"/>
              </a:rPr>
              <a:t>）过</a:t>
            </a:r>
            <a:r>
              <a:rPr kumimoji="1" lang="en-US" altLang="zh-CN" sz="2400" b="1">
                <a:solidFill>
                  <a:schemeClr val="accent2"/>
                </a:solidFill>
                <a:latin typeface="宋体" panose="02010600030101010101" pitchFamily="2" charset="-122"/>
              </a:rPr>
              <a:t>a</a:t>
            </a:r>
            <a:r>
              <a:rPr kumimoji="1" lang="en-US" altLang="zh-CN" sz="2400" b="1" baseline="-30000">
                <a:solidFill>
                  <a:schemeClr val="accent2"/>
                </a:solidFill>
                <a:latin typeface="Times New Roman" panose="02020603050405020304" pitchFamily="18" charset="0"/>
                <a:cs typeface="Times New Roman" panose="02020603050405020304" pitchFamily="18" charset="0"/>
              </a:rPr>
              <a:t>ξ</a:t>
            </a:r>
            <a:r>
              <a:rPr kumimoji="1" lang="zh-CN" altLang="en-US" sz="2400" b="1">
                <a:solidFill>
                  <a:schemeClr val="accent2"/>
                </a:solidFill>
                <a:latin typeface="宋体" panose="02010600030101010101" pitchFamily="2" charset="-122"/>
              </a:rPr>
              <a:t>作</a:t>
            </a:r>
            <a:r>
              <a:rPr kumimoji="1" lang="en-US" altLang="zh-CN" sz="2400" b="1">
                <a:solidFill>
                  <a:schemeClr val="accent2"/>
                </a:solidFill>
                <a:latin typeface="宋体" panose="02010600030101010101" pitchFamily="2" charset="-122"/>
              </a:rPr>
              <a:t>aa</a:t>
            </a:r>
            <a:r>
              <a:rPr kumimoji="1" lang="en-US" altLang="zh-CN" sz="2400" b="1" baseline="-30000">
                <a:solidFill>
                  <a:schemeClr val="accent2"/>
                </a:solidFill>
                <a:latin typeface="Times New Roman" panose="02020603050405020304" pitchFamily="18" charset="0"/>
                <a:cs typeface="Times New Roman" panose="02020603050405020304" pitchFamily="18" charset="0"/>
              </a:rPr>
              <a:t>ξ</a:t>
            </a:r>
            <a:r>
              <a:rPr kumimoji="1" lang="en-US" altLang="zh-CN" sz="2400" b="1">
                <a:solidFill>
                  <a:schemeClr val="accent2"/>
                </a:solidFill>
                <a:latin typeface="宋体" panose="02010600030101010101" pitchFamily="2" charset="-122"/>
              </a:rPr>
              <a:t>∥OY</a:t>
            </a:r>
            <a:r>
              <a:rPr kumimoji="1" lang="zh-CN" altLang="en-US" sz="2400" b="1">
                <a:solidFill>
                  <a:schemeClr val="accent2"/>
                </a:solidFill>
                <a:latin typeface="宋体" panose="02010600030101010101" pitchFamily="2" charset="-122"/>
              </a:rPr>
              <a:t>，截取</a:t>
            </a:r>
            <a:r>
              <a:rPr kumimoji="1" lang="en-US" altLang="zh-CN" sz="2400" b="1">
                <a:solidFill>
                  <a:schemeClr val="accent2"/>
                </a:solidFill>
                <a:latin typeface="宋体" panose="02010600030101010101" pitchFamily="2" charset="-122"/>
              </a:rPr>
              <a:t>aa</a:t>
            </a:r>
            <a:r>
              <a:rPr kumimoji="1" lang="en-US" altLang="zh-CN" sz="2400" b="1" baseline="-30000">
                <a:solidFill>
                  <a:schemeClr val="accent2"/>
                </a:solidFill>
                <a:latin typeface="Times New Roman" panose="02020603050405020304" pitchFamily="18" charset="0"/>
                <a:cs typeface="Times New Roman" panose="02020603050405020304" pitchFamily="18" charset="0"/>
              </a:rPr>
              <a:t>ξ</a:t>
            </a:r>
            <a:r>
              <a:rPr kumimoji="1" lang="en-US" altLang="zh-CN" sz="2400" b="1">
                <a:solidFill>
                  <a:schemeClr val="accent2"/>
                </a:solidFill>
                <a:latin typeface="宋体" panose="02010600030101010101" pitchFamily="2" charset="-122"/>
              </a:rPr>
              <a:t> </a:t>
            </a:r>
            <a:r>
              <a:rPr kumimoji="1" lang="zh-CN" altLang="en-US" sz="2400" b="1">
                <a:solidFill>
                  <a:schemeClr val="accent2"/>
                </a:solidFill>
                <a:latin typeface="宋体" panose="02010600030101010101" pitchFamily="2" charset="-122"/>
              </a:rPr>
              <a:t>＝</a:t>
            </a:r>
            <a:r>
              <a:rPr kumimoji="1" lang="en-US" altLang="zh-CN" sz="2400" b="1">
                <a:solidFill>
                  <a:schemeClr val="accent2"/>
                </a:solidFill>
                <a:latin typeface="宋体" panose="02010600030101010101" pitchFamily="2" charset="-122"/>
              </a:rPr>
              <a:t>7</a:t>
            </a:r>
            <a:r>
              <a:rPr kumimoji="1" lang="zh-CN" altLang="en-US" sz="2400" b="1">
                <a:solidFill>
                  <a:schemeClr val="accent2"/>
                </a:solidFill>
                <a:latin typeface="宋体" panose="02010600030101010101" pitchFamily="2" charset="-122"/>
              </a:rPr>
              <a:t>ｑ；</a:t>
            </a:r>
          </a:p>
          <a:p>
            <a:endParaRPr kumimoji="1" lang="zh-CN" altLang="en-US" sz="2400" b="1">
              <a:solidFill>
                <a:schemeClr val="accent2"/>
              </a:solidFill>
              <a:latin typeface="宋体" panose="02010600030101010101" pitchFamily="2" charset="-122"/>
            </a:endParaRPr>
          </a:p>
          <a:p>
            <a:r>
              <a:rPr kumimoji="1" lang="en-US" altLang="zh-CN" sz="2400" b="1">
                <a:solidFill>
                  <a:schemeClr val="accent2"/>
                </a:solidFill>
                <a:latin typeface="宋体" panose="02010600030101010101" pitchFamily="2" charset="-122"/>
              </a:rPr>
              <a:t>3</a:t>
            </a:r>
            <a:r>
              <a:rPr kumimoji="1" lang="zh-CN" altLang="en-US" sz="2400" b="1">
                <a:solidFill>
                  <a:schemeClr val="accent2"/>
                </a:solidFill>
                <a:latin typeface="宋体" panose="02010600030101010101" pitchFamily="2" charset="-122"/>
              </a:rPr>
              <a:t>）过</a:t>
            </a:r>
            <a:r>
              <a:rPr kumimoji="1" lang="en-US" altLang="zh-CN" sz="2400" b="1">
                <a:solidFill>
                  <a:schemeClr val="accent2"/>
                </a:solidFill>
                <a:latin typeface="宋体" panose="02010600030101010101" pitchFamily="2" charset="-122"/>
              </a:rPr>
              <a:t>a</a:t>
            </a:r>
            <a:r>
              <a:rPr kumimoji="1" lang="zh-CN" altLang="en-US" sz="2400" b="1">
                <a:solidFill>
                  <a:schemeClr val="accent2"/>
                </a:solidFill>
                <a:latin typeface="宋体" panose="02010600030101010101" pitchFamily="2" charset="-122"/>
              </a:rPr>
              <a:t>作</a:t>
            </a:r>
            <a:r>
              <a:rPr kumimoji="1" lang="en-US" altLang="zh-CN" sz="2400" b="1">
                <a:solidFill>
                  <a:schemeClr val="accent2"/>
                </a:solidFill>
                <a:latin typeface="宋体" panose="02010600030101010101" pitchFamily="2" charset="-122"/>
              </a:rPr>
              <a:t>aA∥OZ</a:t>
            </a:r>
            <a:r>
              <a:rPr kumimoji="1" lang="zh-CN" altLang="en-US" sz="2400" b="1">
                <a:solidFill>
                  <a:schemeClr val="accent2"/>
                </a:solidFill>
                <a:latin typeface="宋体" panose="02010600030101010101" pitchFamily="2" charset="-122"/>
              </a:rPr>
              <a:t>，截取</a:t>
            </a:r>
            <a:r>
              <a:rPr kumimoji="1" lang="en-US" altLang="zh-CN" sz="2400" b="1">
                <a:solidFill>
                  <a:schemeClr val="accent2"/>
                </a:solidFill>
                <a:latin typeface="宋体" panose="02010600030101010101" pitchFamily="2" charset="-122"/>
              </a:rPr>
              <a:t>aA</a:t>
            </a:r>
            <a:r>
              <a:rPr kumimoji="1" lang="zh-CN" altLang="en-US" sz="2400" b="1">
                <a:solidFill>
                  <a:schemeClr val="accent2"/>
                </a:solidFill>
                <a:latin typeface="宋体" panose="02010600030101010101" pitchFamily="2" charset="-122"/>
              </a:rPr>
              <a:t>＝</a:t>
            </a:r>
            <a:r>
              <a:rPr kumimoji="1" lang="en-US" altLang="zh-CN" sz="2400" b="1">
                <a:solidFill>
                  <a:schemeClr val="accent2"/>
                </a:solidFill>
                <a:latin typeface="宋体" panose="02010600030101010101" pitchFamily="2" charset="-122"/>
              </a:rPr>
              <a:t>9</a:t>
            </a:r>
            <a:r>
              <a:rPr kumimoji="1" lang="zh-CN" altLang="en-US" sz="2400" b="1">
                <a:solidFill>
                  <a:schemeClr val="accent2"/>
                </a:solidFill>
                <a:latin typeface="宋体" panose="02010600030101010101" pitchFamily="2" charset="-122"/>
              </a:rPr>
              <a:t>ｒ。</a:t>
            </a:r>
          </a:p>
          <a:p>
            <a:r>
              <a:rPr kumimoji="1" lang="zh-CN" altLang="en-US" sz="2400" b="1">
                <a:solidFill>
                  <a:schemeClr val="accent2"/>
                </a:solidFill>
                <a:latin typeface="宋体" panose="02010600030101010101" pitchFamily="2" charset="-122"/>
              </a:rPr>
              <a:t></a:t>
            </a:r>
          </a:p>
          <a:p>
            <a:r>
              <a:rPr kumimoji="1" lang="en-US" altLang="zh-CN" sz="2400" b="1">
                <a:solidFill>
                  <a:srgbClr val="FF0000"/>
                </a:solidFill>
                <a:latin typeface="Times New Roman" panose="02020603050405020304" pitchFamily="18" charset="0"/>
              </a:rPr>
              <a:t>A</a:t>
            </a:r>
            <a:r>
              <a:rPr kumimoji="1" lang="zh-CN" altLang="en-US" sz="2400" b="1">
                <a:solidFill>
                  <a:srgbClr val="FF0000"/>
                </a:solidFill>
                <a:latin typeface="宋体" panose="02010600030101010101" pitchFamily="2" charset="-122"/>
              </a:rPr>
              <a:t>点即为所求轴测投影</a:t>
            </a:r>
            <a:endParaRPr kumimoji="1" lang="zh-CN" altLang="en-US" sz="2400">
              <a:latin typeface="Times New Roman" panose="02020603050405020304" pitchFamily="18" charset="0"/>
            </a:endParaRPr>
          </a:p>
        </p:txBody>
      </p:sp>
      <p:pic>
        <p:nvPicPr>
          <p:cNvPr id="59397" name="Picture 5">
            <a:extLst>
              <a:ext uri="{FF2B5EF4-FFF2-40B4-BE49-F238E27FC236}">
                <a16:creationId xmlns:a16="http://schemas.microsoft.com/office/drawing/2014/main" id="{31C15760-8576-43AA-977E-8EAF2CA8D5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3429000"/>
            <a:ext cx="4038600" cy="32400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2">
            <a:extLst>
              <a:ext uri="{FF2B5EF4-FFF2-40B4-BE49-F238E27FC236}">
                <a16:creationId xmlns:a16="http://schemas.microsoft.com/office/drawing/2014/main" id="{80C88B64-EBE3-406A-B5C6-1DAB28A527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714500"/>
            <a:ext cx="2787650" cy="3429000"/>
          </a:xfrm>
          <a:prstGeom prst="rect">
            <a:avLst/>
          </a:prstGeom>
          <a:noFill/>
          <a:extLst>
            <a:ext uri="{909E8E84-426E-40DD-AFC4-6F175D3DCCD1}">
              <a14:hiddenFill xmlns:a14="http://schemas.microsoft.com/office/drawing/2010/main">
                <a:solidFill>
                  <a:srgbClr val="FFFFFF"/>
                </a:solidFill>
              </a14:hiddenFill>
            </a:ext>
          </a:extLst>
        </p:spPr>
      </p:pic>
      <p:pic>
        <p:nvPicPr>
          <p:cNvPr id="60419" name="Picture 3">
            <a:extLst>
              <a:ext uri="{FF2B5EF4-FFF2-40B4-BE49-F238E27FC236}">
                <a16:creationId xmlns:a16="http://schemas.microsoft.com/office/drawing/2014/main" id="{C4B944A3-F42C-4F96-A5BF-A156389EB4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804988"/>
            <a:ext cx="3962400" cy="3246437"/>
          </a:xfrm>
          <a:prstGeom prst="rect">
            <a:avLst/>
          </a:prstGeom>
          <a:noFill/>
          <a:extLst>
            <a:ext uri="{909E8E84-426E-40DD-AFC4-6F175D3DCCD1}">
              <a14:hiddenFill xmlns:a14="http://schemas.microsoft.com/office/drawing/2010/main">
                <a:solidFill>
                  <a:srgbClr val="FFFFFF"/>
                </a:solidFill>
              </a14:hiddenFill>
            </a:ext>
          </a:extLst>
        </p:spPr>
      </p:pic>
      <p:sp>
        <p:nvSpPr>
          <p:cNvPr id="60420" name="Text Box 4">
            <a:extLst>
              <a:ext uri="{FF2B5EF4-FFF2-40B4-BE49-F238E27FC236}">
                <a16:creationId xmlns:a16="http://schemas.microsoft.com/office/drawing/2014/main" id="{8D9A0FD1-8045-49D9-9797-770A188D8C54}"/>
              </a:ext>
            </a:extLst>
          </p:cNvPr>
          <p:cNvSpPr txBox="1">
            <a:spLocks noChangeArrowheads="1"/>
          </p:cNvSpPr>
          <p:nvPr/>
        </p:nvSpPr>
        <p:spPr bwMode="auto">
          <a:xfrm>
            <a:off x="457200" y="838200"/>
            <a:ext cx="2711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chemeClr val="accent2"/>
                </a:solidFill>
                <a:latin typeface="宋体" panose="02010600030101010101" pitchFamily="2" charset="-122"/>
              </a:rPr>
              <a:t>三棱锥的正投影图</a:t>
            </a:r>
            <a:r>
              <a:rPr kumimoji="1" lang="zh-CN" altLang="en-US" sz="2400" dirty="0">
                <a:latin typeface="Times New Roman" panose="02020603050405020304" pitchFamily="18" charset="0"/>
              </a:rPr>
              <a:t> </a:t>
            </a:r>
          </a:p>
        </p:txBody>
      </p:sp>
      <p:sp>
        <p:nvSpPr>
          <p:cNvPr id="60421" name="Text Box 5">
            <a:extLst>
              <a:ext uri="{FF2B5EF4-FFF2-40B4-BE49-F238E27FC236}">
                <a16:creationId xmlns:a16="http://schemas.microsoft.com/office/drawing/2014/main" id="{FC81477C-56E0-4F82-BCB0-04A82F25FB44}"/>
              </a:ext>
            </a:extLst>
          </p:cNvPr>
          <p:cNvSpPr txBox="1">
            <a:spLocks noChangeArrowheads="1"/>
          </p:cNvSpPr>
          <p:nvPr/>
        </p:nvSpPr>
        <p:spPr bwMode="auto">
          <a:xfrm>
            <a:off x="5013325" y="727075"/>
            <a:ext cx="304602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chemeClr val="accent2"/>
                </a:solidFill>
                <a:latin typeface="宋体" panose="02010600030101010101" pitchFamily="2" charset="-122"/>
              </a:rPr>
              <a:t>三棱锥的轴测投影图</a:t>
            </a:r>
            <a:r>
              <a:rPr kumimoji="1" lang="zh-CN" altLang="en-US" sz="2400" dirty="0">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0421"/>
                                        </p:tgtEl>
                                        <p:attrNameLst>
                                          <p:attrName>style.visibility</p:attrName>
                                        </p:attrNameLst>
                                      </p:cBhvr>
                                      <p:to>
                                        <p:strVal val="visible"/>
                                      </p:to>
                                    </p:set>
                                    <p:animEffect transition="in" filter="dissolve">
                                      <p:cBhvr>
                                        <p:cTn id="7" dur="500"/>
                                        <p:tgtEl>
                                          <p:spTgt spid="604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0419"/>
                                        </p:tgtEl>
                                        <p:attrNameLst>
                                          <p:attrName>style.visibility</p:attrName>
                                        </p:attrNameLst>
                                      </p:cBhvr>
                                      <p:to>
                                        <p:strVal val="visible"/>
                                      </p:to>
                                    </p:set>
                                    <p:animEffect transition="in" filter="dissolve">
                                      <p:cBhvr>
                                        <p:cTn id="12" dur="500"/>
                                        <p:tgtEl>
                                          <p:spTgt spid="60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1"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E102200B-3545-45E9-A766-8C73CDFA566F}"/>
              </a:ext>
            </a:extLst>
          </p:cNvPr>
          <p:cNvSpPr>
            <a:spLocks noGrp="1" noRot="1" noChangeArrowheads="1"/>
          </p:cNvSpPr>
          <p:nvPr>
            <p:ph type="title" idx="4294967295"/>
          </p:nvPr>
        </p:nvSpPr>
        <p:spPr>
          <a:xfrm>
            <a:off x="250825" y="620713"/>
            <a:ext cx="5686425" cy="533400"/>
          </a:xfrm>
        </p:spPr>
        <p:txBody>
          <a:bodyPr/>
          <a:lstStyle/>
          <a:p>
            <a:r>
              <a:rPr lang="zh-CN" altLang="en-US" sz="3600" b="1">
                <a:solidFill>
                  <a:srgbClr val="FF0000"/>
                </a:solidFill>
                <a:latin typeface="宋体" panose="02010600030101010101" pitchFamily="2" charset="-122"/>
              </a:rPr>
              <a:t>正等轴测图的画法</a:t>
            </a:r>
            <a:r>
              <a:rPr lang="zh-CN" altLang="en-US"/>
              <a:t> </a:t>
            </a:r>
          </a:p>
        </p:txBody>
      </p:sp>
      <p:graphicFrame>
        <p:nvGraphicFramePr>
          <p:cNvPr id="71684" name="Object 4">
            <a:extLst>
              <a:ext uri="{FF2B5EF4-FFF2-40B4-BE49-F238E27FC236}">
                <a16:creationId xmlns:a16="http://schemas.microsoft.com/office/drawing/2014/main" id="{7D5DE972-3AB6-45F8-B5E1-DC793D5ABCC2}"/>
              </a:ext>
            </a:extLst>
          </p:cNvPr>
          <p:cNvGraphicFramePr>
            <a:graphicFrameLocks noChangeAspect="1"/>
          </p:cNvGraphicFramePr>
          <p:nvPr/>
        </p:nvGraphicFramePr>
        <p:xfrm>
          <a:off x="1676400" y="2590800"/>
          <a:ext cx="4791075" cy="3914775"/>
        </p:xfrm>
        <a:graphic>
          <a:graphicData uri="http://schemas.openxmlformats.org/presentationml/2006/ole">
            <mc:AlternateContent xmlns:mc="http://schemas.openxmlformats.org/markup-compatibility/2006">
              <mc:Choice xmlns:v="urn:schemas-microsoft-com:vml" Requires="v">
                <p:oleObj spid="_x0000_s7190" name="位图图像" r:id="rId3" imgW="4791744" imgH="3914286" progId="Paint.Picture">
                  <p:embed/>
                </p:oleObj>
              </mc:Choice>
              <mc:Fallback>
                <p:oleObj name="位图图像" r:id="rId3" imgW="4791744" imgH="3914286" progId="Paint.Picture">
                  <p:embed/>
                  <p:pic>
                    <p:nvPicPr>
                      <p:cNvPr id="71684" name="Object 4">
                        <a:extLst>
                          <a:ext uri="{FF2B5EF4-FFF2-40B4-BE49-F238E27FC236}">
                            <a16:creationId xmlns:a16="http://schemas.microsoft.com/office/drawing/2014/main" id="{7D5DE972-3AB6-45F8-B5E1-DC793D5ABC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2590800"/>
                        <a:ext cx="4791075" cy="391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685" name="Text Box 5">
            <a:extLst>
              <a:ext uri="{FF2B5EF4-FFF2-40B4-BE49-F238E27FC236}">
                <a16:creationId xmlns:a16="http://schemas.microsoft.com/office/drawing/2014/main" id="{E7DB86BF-A944-4486-B62A-AA0B3880AA9C}"/>
              </a:ext>
            </a:extLst>
          </p:cNvPr>
          <p:cNvSpPr txBox="1">
            <a:spLocks noChangeArrowheads="1"/>
          </p:cNvSpPr>
          <p:nvPr/>
        </p:nvSpPr>
        <p:spPr bwMode="auto">
          <a:xfrm>
            <a:off x="212725" y="1641475"/>
            <a:ext cx="59293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latin typeface="宋体" panose="02010600030101010101" pitchFamily="2" charset="-122"/>
              </a:rPr>
              <a:t>［例］ 画出如图所示六棱柱的正等轴测图</a:t>
            </a:r>
            <a:r>
              <a:rPr kumimoji="1" lang="zh-CN" altLang="en-US" sz="2400">
                <a:latin typeface="Times New Roman" panose="02020603050405020304" pitchFamily="18" charset="0"/>
              </a:rPr>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2706" name="Object 2">
            <a:extLst>
              <a:ext uri="{FF2B5EF4-FFF2-40B4-BE49-F238E27FC236}">
                <a16:creationId xmlns:a16="http://schemas.microsoft.com/office/drawing/2014/main" id="{9FCA0208-F60A-4E46-BC62-6A6B7782DBF0}"/>
              </a:ext>
            </a:extLst>
          </p:cNvPr>
          <p:cNvGraphicFramePr>
            <a:graphicFrameLocks noChangeAspect="1"/>
          </p:cNvGraphicFramePr>
          <p:nvPr/>
        </p:nvGraphicFramePr>
        <p:xfrm>
          <a:off x="533400" y="914400"/>
          <a:ext cx="2495550" cy="2914650"/>
        </p:xfrm>
        <a:graphic>
          <a:graphicData uri="http://schemas.openxmlformats.org/presentationml/2006/ole">
            <mc:AlternateContent xmlns:mc="http://schemas.openxmlformats.org/markup-compatibility/2006">
              <mc:Choice xmlns:v="urn:schemas-microsoft-com:vml" Requires="v">
                <p:oleObj spid="_x0000_s8254" name="位图图像" r:id="rId3" imgW="2495238" imgH="2914286" progId="Paint.Picture">
                  <p:embed/>
                </p:oleObj>
              </mc:Choice>
              <mc:Fallback>
                <p:oleObj name="位图图像" r:id="rId3" imgW="2495238" imgH="2914286" progId="Paint.Picture">
                  <p:embed/>
                  <p:pic>
                    <p:nvPicPr>
                      <p:cNvPr id="72706" name="Object 2">
                        <a:extLst>
                          <a:ext uri="{FF2B5EF4-FFF2-40B4-BE49-F238E27FC236}">
                            <a16:creationId xmlns:a16="http://schemas.microsoft.com/office/drawing/2014/main" id="{9FCA0208-F60A-4E46-BC62-6A6B7782DB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914400"/>
                        <a:ext cx="2495550" cy="291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2707" name="Object 3">
            <a:extLst>
              <a:ext uri="{FF2B5EF4-FFF2-40B4-BE49-F238E27FC236}">
                <a16:creationId xmlns:a16="http://schemas.microsoft.com/office/drawing/2014/main" id="{18146D9B-4D88-4BD3-AA5A-92276CA16A96}"/>
              </a:ext>
            </a:extLst>
          </p:cNvPr>
          <p:cNvGraphicFramePr>
            <a:graphicFrameLocks noChangeAspect="1"/>
          </p:cNvGraphicFramePr>
          <p:nvPr/>
        </p:nvGraphicFramePr>
        <p:xfrm>
          <a:off x="3200400" y="914400"/>
          <a:ext cx="2390775" cy="2857500"/>
        </p:xfrm>
        <a:graphic>
          <a:graphicData uri="http://schemas.openxmlformats.org/presentationml/2006/ole">
            <mc:AlternateContent xmlns:mc="http://schemas.openxmlformats.org/markup-compatibility/2006">
              <mc:Choice xmlns:v="urn:schemas-microsoft-com:vml" Requires="v">
                <p:oleObj spid="_x0000_s8255" name="位图图像" r:id="rId5" imgW="2390476" imgH="2857899" progId="Paint.Picture">
                  <p:embed/>
                </p:oleObj>
              </mc:Choice>
              <mc:Fallback>
                <p:oleObj name="位图图像" r:id="rId5" imgW="2390476" imgH="2857899" progId="Paint.Picture">
                  <p:embed/>
                  <p:pic>
                    <p:nvPicPr>
                      <p:cNvPr id="72707" name="Object 3">
                        <a:extLst>
                          <a:ext uri="{FF2B5EF4-FFF2-40B4-BE49-F238E27FC236}">
                            <a16:creationId xmlns:a16="http://schemas.microsoft.com/office/drawing/2014/main" id="{18146D9B-4D88-4BD3-AA5A-92276CA16A9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0400" y="914400"/>
                        <a:ext cx="2390775" cy="285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2708" name="Object 4">
            <a:extLst>
              <a:ext uri="{FF2B5EF4-FFF2-40B4-BE49-F238E27FC236}">
                <a16:creationId xmlns:a16="http://schemas.microsoft.com/office/drawing/2014/main" id="{9BFA7B90-8A8A-4A90-BECF-37485F4F0DFA}"/>
              </a:ext>
            </a:extLst>
          </p:cNvPr>
          <p:cNvGraphicFramePr>
            <a:graphicFrameLocks noChangeAspect="1"/>
          </p:cNvGraphicFramePr>
          <p:nvPr/>
        </p:nvGraphicFramePr>
        <p:xfrm>
          <a:off x="6248400" y="762000"/>
          <a:ext cx="2390775" cy="3143250"/>
        </p:xfrm>
        <a:graphic>
          <a:graphicData uri="http://schemas.openxmlformats.org/presentationml/2006/ole">
            <mc:AlternateContent xmlns:mc="http://schemas.openxmlformats.org/markup-compatibility/2006">
              <mc:Choice xmlns:v="urn:schemas-microsoft-com:vml" Requires="v">
                <p:oleObj spid="_x0000_s8256" name="位图图像" r:id="rId7" imgW="2390476" imgH="3142857" progId="Paint.Picture">
                  <p:embed/>
                </p:oleObj>
              </mc:Choice>
              <mc:Fallback>
                <p:oleObj name="位图图像" r:id="rId7" imgW="2390476" imgH="3142857" progId="Paint.Picture">
                  <p:embed/>
                  <p:pic>
                    <p:nvPicPr>
                      <p:cNvPr id="72708" name="Object 4">
                        <a:extLst>
                          <a:ext uri="{FF2B5EF4-FFF2-40B4-BE49-F238E27FC236}">
                            <a16:creationId xmlns:a16="http://schemas.microsoft.com/office/drawing/2014/main" id="{9BFA7B90-8A8A-4A90-BECF-37485F4F0DF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48400" y="762000"/>
                        <a:ext cx="2390775" cy="314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709" name="Text Box 5">
            <a:extLst>
              <a:ext uri="{FF2B5EF4-FFF2-40B4-BE49-F238E27FC236}">
                <a16:creationId xmlns:a16="http://schemas.microsoft.com/office/drawing/2014/main" id="{B2DD6037-D1B5-42DE-B435-97FC321F503C}"/>
              </a:ext>
            </a:extLst>
          </p:cNvPr>
          <p:cNvSpPr txBox="1">
            <a:spLocks noChangeArrowheads="1"/>
          </p:cNvSpPr>
          <p:nvPr/>
        </p:nvSpPr>
        <p:spPr bwMode="auto">
          <a:xfrm>
            <a:off x="228600" y="4038600"/>
            <a:ext cx="29718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a:solidFill>
                  <a:schemeClr val="accent2"/>
                </a:solidFill>
                <a:latin typeface="Times New Roman" panose="02020603050405020304" pitchFamily="18" charset="0"/>
              </a:rPr>
              <a:t>1</a:t>
            </a:r>
            <a:r>
              <a:rPr kumimoji="1" lang="zh-CN" altLang="en-US" sz="2400" b="1">
                <a:solidFill>
                  <a:schemeClr val="accent2"/>
                </a:solidFill>
                <a:latin typeface="宋体" panose="02010600030101010101" pitchFamily="2" charset="-122"/>
              </a:rPr>
              <a:t>）画轴测轴，在</a:t>
            </a:r>
            <a:r>
              <a:rPr kumimoji="1" lang="en-US" altLang="zh-CN" sz="2400" b="1">
                <a:solidFill>
                  <a:schemeClr val="accent2"/>
                </a:solidFill>
                <a:latin typeface="Times New Roman" panose="02020603050405020304" pitchFamily="18" charset="0"/>
              </a:rPr>
              <a:t>Z</a:t>
            </a:r>
            <a:r>
              <a:rPr kumimoji="1" lang="zh-CN" altLang="en-US" sz="2400" b="1">
                <a:solidFill>
                  <a:schemeClr val="accent2"/>
                </a:solidFill>
                <a:latin typeface="宋体" panose="02010600030101010101" pitchFamily="2" charset="-122"/>
              </a:rPr>
              <a:t>轴上取六棱柱高度，得顶面中心</a:t>
            </a:r>
            <a:r>
              <a:rPr kumimoji="1" lang="en-US" altLang="zh-CN" sz="2400" b="1">
                <a:solidFill>
                  <a:schemeClr val="accent2"/>
                </a:solidFill>
                <a:latin typeface="Times New Roman" panose="02020603050405020304" pitchFamily="18" charset="0"/>
              </a:rPr>
              <a:t>O</a:t>
            </a:r>
            <a:r>
              <a:rPr kumimoji="1" lang="en-US" altLang="zh-CN" sz="2400" b="1" baseline="-30000">
                <a:solidFill>
                  <a:schemeClr val="accent2"/>
                </a:solidFill>
                <a:latin typeface="Times New Roman" panose="02020603050405020304" pitchFamily="18" charset="0"/>
              </a:rPr>
              <a:t>1</a:t>
            </a:r>
            <a:r>
              <a:rPr kumimoji="1" lang="zh-CN" altLang="en-US" sz="2400" b="1">
                <a:solidFill>
                  <a:schemeClr val="accent2"/>
                </a:solidFill>
                <a:latin typeface="宋体" panose="02010600030101010101" pitchFamily="2" charset="-122"/>
              </a:rPr>
              <a:t>，并画顶面中心线</a:t>
            </a:r>
            <a:r>
              <a:rPr kumimoji="1" lang="en-US" altLang="zh-CN" sz="2400" b="1">
                <a:solidFill>
                  <a:schemeClr val="accent2"/>
                </a:solidFill>
                <a:latin typeface="Times New Roman" panose="02020603050405020304" pitchFamily="18" charset="0"/>
              </a:rPr>
              <a:t>O</a:t>
            </a:r>
            <a:r>
              <a:rPr kumimoji="1" lang="en-US" altLang="zh-CN" sz="2400" b="1" baseline="-30000">
                <a:solidFill>
                  <a:schemeClr val="accent2"/>
                </a:solidFill>
                <a:latin typeface="Times New Roman" panose="02020603050405020304" pitchFamily="18" charset="0"/>
              </a:rPr>
              <a:t>1</a:t>
            </a:r>
            <a:r>
              <a:rPr kumimoji="1" lang="en-US" altLang="zh-CN" sz="2400" b="1">
                <a:solidFill>
                  <a:schemeClr val="accent2"/>
                </a:solidFill>
                <a:latin typeface="Times New Roman" panose="02020603050405020304" pitchFamily="18" charset="0"/>
              </a:rPr>
              <a:t>X</a:t>
            </a:r>
            <a:r>
              <a:rPr kumimoji="1" lang="en-US" altLang="zh-CN" sz="2400" b="1" baseline="-30000">
                <a:solidFill>
                  <a:schemeClr val="accent2"/>
                </a:solidFill>
                <a:latin typeface="Times New Roman" panose="02020603050405020304" pitchFamily="18" charset="0"/>
              </a:rPr>
              <a:t>1</a:t>
            </a:r>
            <a:r>
              <a:rPr kumimoji="1" lang="zh-CN" altLang="en-US" sz="2400" b="1">
                <a:solidFill>
                  <a:schemeClr val="accent2"/>
                </a:solidFill>
                <a:latin typeface="宋体" panose="02010600030101010101" pitchFamily="2" charset="-122"/>
              </a:rPr>
              <a:t>及</a:t>
            </a:r>
            <a:r>
              <a:rPr kumimoji="1" lang="en-US" altLang="zh-CN" sz="2400" b="1">
                <a:solidFill>
                  <a:schemeClr val="accent2"/>
                </a:solidFill>
                <a:latin typeface="Times New Roman" panose="02020603050405020304" pitchFamily="18" charset="0"/>
              </a:rPr>
              <a:t>O</a:t>
            </a:r>
            <a:r>
              <a:rPr kumimoji="1" lang="en-US" altLang="zh-CN" sz="2400" b="1" baseline="-30000">
                <a:solidFill>
                  <a:schemeClr val="accent2"/>
                </a:solidFill>
                <a:latin typeface="Times New Roman" panose="02020603050405020304" pitchFamily="18" charset="0"/>
              </a:rPr>
              <a:t>1</a:t>
            </a:r>
            <a:r>
              <a:rPr kumimoji="1" lang="en-US" altLang="zh-CN" sz="2400" b="1">
                <a:solidFill>
                  <a:schemeClr val="accent2"/>
                </a:solidFill>
                <a:latin typeface="Times New Roman" panose="02020603050405020304" pitchFamily="18" charset="0"/>
              </a:rPr>
              <a:t>Y</a:t>
            </a:r>
            <a:r>
              <a:rPr kumimoji="1" lang="en-US" altLang="zh-CN" sz="2400" b="1" baseline="-30000">
                <a:solidFill>
                  <a:schemeClr val="accent2"/>
                </a:solidFill>
                <a:latin typeface="Times New Roman" panose="02020603050405020304" pitchFamily="18" charset="0"/>
              </a:rPr>
              <a:t>1</a:t>
            </a:r>
            <a:r>
              <a:rPr kumimoji="1" lang="en-US" altLang="zh-CN" sz="2400">
                <a:latin typeface="Times New Roman" panose="02020603050405020304" pitchFamily="18" charset="0"/>
              </a:rPr>
              <a:t> </a:t>
            </a:r>
          </a:p>
        </p:txBody>
      </p:sp>
      <p:sp>
        <p:nvSpPr>
          <p:cNvPr id="72710" name="Text Box 6">
            <a:extLst>
              <a:ext uri="{FF2B5EF4-FFF2-40B4-BE49-F238E27FC236}">
                <a16:creationId xmlns:a16="http://schemas.microsoft.com/office/drawing/2014/main" id="{CC9AE0FF-9392-459C-BB62-D24DC799A955}"/>
              </a:ext>
            </a:extLst>
          </p:cNvPr>
          <p:cNvSpPr txBox="1">
            <a:spLocks noChangeArrowheads="1"/>
          </p:cNvSpPr>
          <p:nvPr/>
        </p:nvSpPr>
        <p:spPr bwMode="auto">
          <a:xfrm>
            <a:off x="3184525" y="4079875"/>
            <a:ext cx="2530475"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a:solidFill>
                  <a:schemeClr val="accent2"/>
                </a:solidFill>
                <a:latin typeface="Times New Roman" panose="02020603050405020304" pitchFamily="18" charset="0"/>
              </a:rPr>
              <a:t>2</a:t>
            </a:r>
            <a:r>
              <a:rPr kumimoji="1" lang="zh-CN" altLang="en-US" sz="2400" b="1">
                <a:solidFill>
                  <a:schemeClr val="accent2"/>
                </a:solidFill>
                <a:latin typeface="宋体" panose="02010600030101010101" pitchFamily="2" charset="-122"/>
              </a:rPr>
              <a:t>）在</a:t>
            </a:r>
            <a:r>
              <a:rPr kumimoji="1" lang="en-US" altLang="zh-CN" sz="2400" b="1">
                <a:solidFill>
                  <a:schemeClr val="accent2"/>
                </a:solidFill>
                <a:latin typeface="Times New Roman" panose="02020603050405020304" pitchFamily="18" charset="0"/>
              </a:rPr>
              <a:t>O</a:t>
            </a:r>
            <a:r>
              <a:rPr kumimoji="1" lang="en-US" altLang="zh-CN" sz="2400" b="1" baseline="-30000">
                <a:solidFill>
                  <a:schemeClr val="accent2"/>
                </a:solidFill>
                <a:latin typeface="Times New Roman" panose="02020603050405020304" pitchFamily="18" charset="0"/>
              </a:rPr>
              <a:t>1</a:t>
            </a:r>
            <a:r>
              <a:rPr kumimoji="1" lang="en-US" altLang="zh-CN" sz="2400" b="1">
                <a:solidFill>
                  <a:schemeClr val="accent2"/>
                </a:solidFill>
                <a:latin typeface="Times New Roman" panose="02020603050405020304" pitchFamily="18" charset="0"/>
              </a:rPr>
              <a:t>X</a:t>
            </a:r>
            <a:r>
              <a:rPr kumimoji="1" lang="en-US" altLang="zh-CN" sz="2400" b="1" baseline="-30000">
                <a:solidFill>
                  <a:schemeClr val="accent2"/>
                </a:solidFill>
                <a:latin typeface="Times New Roman" panose="02020603050405020304" pitchFamily="18" charset="0"/>
              </a:rPr>
              <a:t>1</a:t>
            </a:r>
            <a:r>
              <a:rPr kumimoji="1" lang="zh-CN" altLang="en-US" sz="2400" b="1">
                <a:solidFill>
                  <a:schemeClr val="accent2"/>
                </a:solidFill>
                <a:latin typeface="宋体" panose="02010600030101010101" pitchFamily="2" charset="-122"/>
              </a:rPr>
              <a:t>上截取六边形对角长度得</a:t>
            </a:r>
            <a:r>
              <a:rPr kumimoji="1" lang="en-US" altLang="zh-CN" sz="2400" b="1">
                <a:solidFill>
                  <a:schemeClr val="accent2"/>
                </a:solidFill>
                <a:latin typeface="Times New Roman" panose="02020603050405020304" pitchFamily="18" charset="0"/>
              </a:rPr>
              <a:t>A</a:t>
            </a:r>
            <a:r>
              <a:rPr kumimoji="1" lang="zh-CN" altLang="en-US" sz="2400" b="1">
                <a:solidFill>
                  <a:schemeClr val="accent2"/>
                </a:solidFill>
                <a:latin typeface="宋体" panose="02010600030101010101" pitchFamily="2" charset="-122"/>
              </a:rPr>
              <a:t>、</a:t>
            </a:r>
            <a:r>
              <a:rPr kumimoji="1" lang="en-US" altLang="zh-CN" sz="2400" b="1">
                <a:solidFill>
                  <a:schemeClr val="accent2"/>
                </a:solidFill>
                <a:latin typeface="Times New Roman" panose="02020603050405020304" pitchFamily="18" charset="0"/>
              </a:rPr>
              <a:t>D</a:t>
            </a:r>
            <a:r>
              <a:rPr kumimoji="1" lang="zh-CN" altLang="en-US" sz="2400" b="1">
                <a:solidFill>
                  <a:schemeClr val="accent2"/>
                </a:solidFill>
                <a:latin typeface="宋体" panose="02010600030101010101" pitchFamily="2" charset="-122"/>
              </a:rPr>
              <a:t>两点，在</a:t>
            </a:r>
            <a:r>
              <a:rPr kumimoji="1" lang="en-US" altLang="zh-CN" sz="2400" b="1">
                <a:solidFill>
                  <a:schemeClr val="accent2"/>
                </a:solidFill>
                <a:latin typeface="Times New Roman" panose="02020603050405020304" pitchFamily="18" charset="0"/>
              </a:rPr>
              <a:t>O</a:t>
            </a:r>
            <a:r>
              <a:rPr kumimoji="1" lang="en-US" altLang="zh-CN" sz="2400" b="1" baseline="-30000">
                <a:solidFill>
                  <a:schemeClr val="accent2"/>
                </a:solidFill>
                <a:latin typeface="Times New Roman" panose="02020603050405020304" pitchFamily="18" charset="0"/>
              </a:rPr>
              <a:t>1</a:t>
            </a:r>
            <a:r>
              <a:rPr kumimoji="1" lang="en-US" altLang="zh-CN" sz="2400" b="1">
                <a:solidFill>
                  <a:schemeClr val="accent2"/>
                </a:solidFill>
                <a:latin typeface="Times New Roman" panose="02020603050405020304" pitchFamily="18" charset="0"/>
              </a:rPr>
              <a:t>Y</a:t>
            </a:r>
            <a:r>
              <a:rPr kumimoji="1" lang="en-US" altLang="zh-CN" sz="2400" b="1" baseline="-30000">
                <a:solidFill>
                  <a:schemeClr val="accent2"/>
                </a:solidFill>
                <a:latin typeface="Times New Roman" panose="02020603050405020304" pitchFamily="18" charset="0"/>
              </a:rPr>
              <a:t>1</a:t>
            </a:r>
            <a:r>
              <a:rPr kumimoji="1" lang="zh-CN" altLang="en-US" sz="2400" b="1">
                <a:solidFill>
                  <a:schemeClr val="accent2"/>
                </a:solidFill>
                <a:latin typeface="宋体" panose="02010600030101010101" pitchFamily="2" charset="-122"/>
              </a:rPr>
              <a:t>上截取对边宽度，得</a:t>
            </a:r>
            <a:r>
              <a:rPr kumimoji="1" lang="en-US" altLang="zh-CN" sz="2400" b="1">
                <a:solidFill>
                  <a:schemeClr val="accent2"/>
                </a:solidFill>
                <a:latin typeface="Times New Roman" panose="02020603050405020304" pitchFamily="18" charset="0"/>
              </a:rPr>
              <a:t>1</a:t>
            </a:r>
            <a:r>
              <a:rPr kumimoji="1" lang="zh-CN" altLang="en-US" sz="2400" b="1">
                <a:solidFill>
                  <a:schemeClr val="accent2"/>
                </a:solidFill>
                <a:latin typeface="宋体" panose="02010600030101010101" pitchFamily="2" charset="-122"/>
              </a:rPr>
              <a:t>、</a:t>
            </a:r>
            <a:r>
              <a:rPr kumimoji="1" lang="en-US" altLang="zh-CN" sz="2400" b="1">
                <a:solidFill>
                  <a:schemeClr val="accent2"/>
                </a:solidFill>
                <a:latin typeface="Times New Roman" panose="02020603050405020304" pitchFamily="18" charset="0"/>
              </a:rPr>
              <a:t>2</a:t>
            </a:r>
            <a:r>
              <a:rPr kumimoji="1" lang="zh-CN" altLang="en-US" sz="2400" b="1">
                <a:solidFill>
                  <a:schemeClr val="accent2"/>
                </a:solidFill>
                <a:latin typeface="宋体" panose="02010600030101010101" pitchFamily="2" charset="-122"/>
              </a:rPr>
              <a:t>两点</a:t>
            </a:r>
            <a:r>
              <a:rPr kumimoji="1" lang="zh-CN" altLang="en-US" sz="2400" b="1">
                <a:solidFill>
                  <a:schemeClr val="accent2"/>
                </a:solidFill>
                <a:latin typeface="Times New Roman" panose="02020603050405020304" pitchFamily="18" charset="0"/>
              </a:rPr>
              <a:t> </a:t>
            </a:r>
          </a:p>
        </p:txBody>
      </p:sp>
      <p:sp>
        <p:nvSpPr>
          <p:cNvPr id="72711" name="Text Box 7">
            <a:extLst>
              <a:ext uri="{FF2B5EF4-FFF2-40B4-BE49-F238E27FC236}">
                <a16:creationId xmlns:a16="http://schemas.microsoft.com/office/drawing/2014/main" id="{EC00618C-A198-4411-8B44-57366D528762}"/>
              </a:ext>
            </a:extLst>
          </p:cNvPr>
          <p:cNvSpPr txBox="1">
            <a:spLocks noChangeArrowheads="1"/>
          </p:cNvSpPr>
          <p:nvPr/>
        </p:nvSpPr>
        <p:spPr bwMode="auto">
          <a:xfrm>
            <a:off x="6019800" y="3962400"/>
            <a:ext cx="2911475"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a:solidFill>
                  <a:schemeClr val="accent2"/>
                </a:solidFill>
                <a:latin typeface="Times New Roman" panose="02020603050405020304" pitchFamily="18" charset="0"/>
              </a:rPr>
              <a:t>3</a:t>
            </a:r>
            <a:r>
              <a:rPr kumimoji="1" lang="zh-CN" altLang="en-US" sz="2400" b="1">
                <a:solidFill>
                  <a:schemeClr val="accent2"/>
                </a:solidFill>
                <a:latin typeface="宋体" panose="02010600030101010101" pitchFamily="2" charset="-122"/>
              </a:rPr>
              <a:t>）分别过</a:t>
            </a:r>
            <a:r>
              <a:rPr kumimoji="1" lang="en-US" altLang="zh-CN" sz="2400" b="1">
                <a:solidFill>
                  <a:schemeClr val="accent2"/>
                </a:solidFill>
                <a:latin typeface="Times New Roman" panose="02020603050405020304" pitchFamily="18" charset="0"/>
              </a:rPr>
              <a:t>1</a:t>
            </a:r>
            <a:r>
              <a:rPr kumimoji="1" lang="zh-CN" altLang="en-US" sz="2400" b="1">
                <a:solidFill>
                  <a:schemeClr val="accent2"/>
                </a:solidFill>
                <a:latin typeface="宋体" panose="02010600030101010101" pitchFamily="2" charset="-122"/>
              </a:rPr>
              <a:t>、</a:t>
            </a:r>
            <a:r>
              <a:rPr kumimoji="1" lang="en-US" altLang="zh-CN" sz="2400" b="1">
                <a:solidFill>
                  <a:schemeClr val="accent2"/>
                </a:solidFill>
                <a:latin typeface="Times New Roman" panose="02020603050405020304" pitchFamily="18" charset="0"/>
              </a:rPr>
              <a:t>2</a:t>
            </a:r>
            <a:r>
              <a:rPr kumimoji="1" lang="zh-CN" altLang="en-US" sz="2400" b="1">
                <a:solidFill>
                  <a:schemeClr val="accent2"/>
                </a:solidFill>
                <a:latin typeface="宋体" panose="02010600030101010101" pitchFamily="2" charset="-122"/>
              </a:rPr>
              <a:t>两点作</a:t>
            </a:r>
            <a:r>
              <a:rPr kumimoji="1" lang="en-US" altLang="zh-CN" sz="2400" b="1">
                <a:solidFill>
                  <a:schemeClr val="accent2"/>
                </a:solidFill>
                <a:latin typeface="Times New Roman" panose="02020603050405020304" pitchFamily="18" charset="0"/>
              </a:rPr>
              <a:t>BC</a:t>
            </a:r>
            <a:r>
              <a:rPr kumimoji="1" lang="en-US" altLang="zh-CN" sz="2400" b="1">
                <a:solidFill>
                  <a:schemeClr val="accent2"/>
                </a:solidFill>
                <a:latin typeface="宋体" panose="02010600030101010101" pitchFamily="2" charset="-122"/>
              </a:rPr>
              <a:t>∥</a:t>
            </a:r>
            <a:r>
              <a:rPr kumimoji="1" lang="en-US" altLang="zh-CN" sz="2400" b="1">
                <a:solidFill>
                  <a:schemeClr val="accent2"/>
                </a:solidFill>
                <a:latin typeface="Times New Roman" panose="02020603050405020304" pitchFamily="18" charset="0"/>
              </a:rPr>
              <a:t>EF</a:t>
            </a:r>
            <a:r>
              <a:rPr kumimoji="1" lang="en-US" altLang="zh-CN" sz="2400" b="1">
                <a:solidFill>
                  <a:schemeClr val="accent2"/>
                </a:solidFill>
                <a:latin typeface="宋体" panose="02010600030101010101" pitchFamily="2" charset="-122"/>
              </a:rPr>
              <a:t>∥</a:t>
            </a:r>
            <a:r>
              <a:rPr kumimoji="1" lang="en-US" altLang="zh-CN" sz="2400" b="1">
                <a:solidFill>
                  <a:schemeClr val="accent2"/>
                </a:solidFill>
                <a:latin typeface="Times New Roman" panose="02020603050405020304" pitchFamily="18" charset="0"/>
              </a:rPr>
              <a:t>O</a:t>
            </a:r>
            <a:r>
              <a:rPr kumimoji="1" lang="en-US" altLang="zh-CN" sz="2400" b="1" baseline="-30000">
                <a:solidFill>
                  <a:schemeClr val="accent2"/>
                </a:solidFill>
                <a:latin typeface="Times New Roman" panose="02020603050405020304" pitchFamily="18" charset="0"/>
              </a:rPr>
              <a:t>1</a:t>
            </a:r>
            <a:r>
              <a:rPr kumimoji="1" lang="en-US" altLang="zh-CN" sz="2400" b="1">
                <a:solidFill>
                  <a:schemeClr val="accent2"/>
                </a:solidFill>
                <a:latin typeface="Times New Roman" panose="02020603050405020304" pitchFamily="18" charset="0"/>
              </a:rPr>
              <a:t>X</a:t>
            </a:r>
            <a:r>
              <a:rPr kumimoji="1" lang="en-US" altLang="zh-CN" sz="2400" b="1" baseline="-30000">
                <a:solidFill>
                  <a:schemeClr val="accent2"/>
                </a:solidFill>
                <a:latin typeface="Times New Roman" panose="02020603050405020304" pitchFamily="18" charset="0"/>
              </a:rPr>
              <a:t>1</a:t>
            </a:r>
            <a:r>
              <a:rPr kumimoji="1" lang="zh-CN" altLang="en-US" sz="2400" b="1">
                <a:solidFill>
                  <a:schemeClr val="accent2"/>
                </a:solidFill>
                <a:latin typeface="宋体" panose="02010600030101010101" pitchFamily="2" charset="-122"/>
              </a:rPr>
              <a:t>并使</a:t>
            </a:r>
            <a:r>
              <a:rPr kumimoji="1" lang="en-US" altLang="zh-CN" sz="2400" b="1">
                <a:solidFill>
                  <a:schemeClr val="accent2"/>
                </a:solidFill>
                <a:latin typeface="Times New Roman" panose="02020603050405020304" pitchFamily="18" charset="0"/>
              </a:rPr>
              <a:t>BC</a:t>
            </a:r>
            <a:r>
              <a:rPr kumimoji="1" lang="zh-CN" altLang="en-US" sz="2400" b="1">
                <a:solidFill>
                  <a:schemeClr val="accent2"/>
                </a:solidFill>
                <a:latin typeface="宋体" panose="02010600030101010101" pitchFamily="2" charset="-122"/>
              </a:rPr>
              <a:t>＝</a:t>
            </a:r>
            <a:r>
              <a:rPr kumimoji="1" lang="en-US" altLang="zh-CN" sz="2400" b="1">
                <a:solidFill>
                  <a:schemeClr val="accent2"/>
                </a:solidFill>
                <a:latin typeface="Times New Roman" panose="02020603050405020304" pitchFamily="18" charset="0"/>
              </a:rPr>
              <a:t>EF</a:t>
            </a:r>
            <a:r>
              <a:rPr kumimoji="1" lang="zh-CN" altLang="en-US" sz="2400" b="1">
                <a:solidFill>
                  <a:schemeClr val="accent2"/>
                </a:solidFill>
                <a:latin typeface="宋体" panose="02010600030101010101" pitchFamily="2" charset="-122"/>
              </a:rPr>
              <a:t>等于六边形的边长</a:t>
            </a:r>
            <a:r>
              <a:rPr kumimoji="1" lang="zh-CN" altLang="en-US" sz="2400">
                <a:latin typeface="Times New Roman" panose="02020603050405020304" pitchFamily="18" charset="0"/>
              </a:rPr>
              <a:t> </a:t>
            </a:r>
          </a:p>
          <a:p>
            <a:r>
              <a:rPr kumimoji="1" lang="en-US" altLang="zh-CN" sz="2400" b="1">
                <a:solidFill>
                  <a:schemeClr val="accent2"/>
                </a:solidFill>
                <a:latin typeface="Times New Roman" panose="02020603050405020304" pitchFamily="18" charset="0"/>
              </a:rPr>
              <a:t>4</a:t>
            </a:r>
            <a:r>
              <a:rPr kumimoji="1" lang="zh-CN" altLang="en-US" sz="2400" b="1">
                <a:solidFill>
                  <a:schemeClr val="accent2"/>
                </a:solidFill>
                <a:latin typeface="宋体" panose="02010600030101010101" pitchFamily="2" charset="-122"/>
              </a:rPr>
              <a:t>）连接</a:t>
            </a:r>
            <a:r>
              <a:rPr kumimoji="1" lang="en-US" altLang="zh-CN" sz="2400" b="1">
                <a:solidFill>
                  <a:schemeClr val="accent2"/>
                </a:solidFill>
                <a:latin typeface="Times New Roman" panose="02020603050405020304" pitchFamily="18" charset="0"/>
              </a:rPr>
              <a:t>ABCDEF</a:t>
            </a:r>
            <a:r>
              <a:rPr kumimoji="1" lang="zh-CN" altLang="en-US" sz="2400" b="1">
                <a:solidFill>
                  <a:schemeClr val="accent2"/>
                </a:solidFill>
                <a:latin typeface="宋体" panose="02010600030101010101" pitchFamily="2" charset="-122"/>
              </a:rPr>
              <a:t>各点，得六棱柱的顶面</a:t>
            </a:r>
            <a:r>
              <a:rPr kumimoji="1" lang="zh-CN" altLang="en-US" sz="2400">
                <a:latin typeface="Times New Roman" panose="02020603050405020304" pitchFamily="18" charset="0"/>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3730" name="Object 2">
            <a:extLst>
              <a:ext uri="{FF2B5EF4-FFF2-40B4-BE49-F238E27FC236}">
                <a16:creationId xmlns:a16="http://schemas.microsoft.com/office/drawing/2014/main" id="{7A3C0C42-B641-436B-8855-3B3C5DAAF473}"/>
              </a:ext>
            </a:extLst>
          </p:cNvPr>
          <p:cNvGraphicFramePr>
            <a:graphicFrameLocks noChangeAspect="1"/>
          </p:cNvGraphicFramePr>
          <p:nvPr/>
        </p:nvGraphicFramePr>
        <p:xfrm>
          <a:off x="1295400" y="457200"/>
          <a:ext cx="2343150" cy="3048000"/>
        </p:xfrm>
        <a:graphic>
          <a:graphicData uri="http://schemas.openxmlformats.org/presentationml/2006/ole">
            <mc:AlternateContent xmlns:mc="http://schemas.openxmlformats.org/markup-compatibility/2006">
              <mc:Choice xmlns:v="urn:schemas-microsoft-com:vml" Requires="v">
                <p:oleObj spid="_x0000_s9258" name="位图图像" r:id="rId3" imgW="2343477" imgH="3048426" progId="Paint.Picture">
                  <p:embed/>
                </p:oleObj>
              </mc:Choice>
              <mc:Fallback>
                <p:oleObj name="位图图像" r:id="rId3" imgW="2343477" imgH="3048426" progId="Paint.Picture">
                  <p:embed/>
                  <p:pic>
                    <p:nvPicPr>
                      <p:cNvPr id="73730" name="Object 2">
                        <a:extLst>
                          <a:ext uri="{FF2B5EF4-FFF2-40B4-BE49-F238E27FC236}">
                            <a16:creationId xmlns:a16="http://schemas.microsoft.com/office/drawing/2014/main" id="{7A3C0C42-B641-436B-8855-3B3C5DAAF4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457200"/>
                        <a:ext cx="2343150"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731" name="Object 3">
            <a:extLst>
              <a:ext uri="{FF2B5EF4-FFF2-40B4-BE49-F238E27FC236}">
                <a16:creationId xmlns:a16="http://schemas.microsoft.com/office/drawing/2014/main" id="{56907120-BD52-468F-A91D-0075B1392D16}"/>
              </a:ext>
            </a:extLst>
          </p:cNvPr>
          <p:cNvGraphicFramePr>
            <a:graphicFrameLocks noChangeAspect="1"/>
          </p:cNvGraphicFramePr>
          <p:nvPr/>
        </p:nvGraphicFramePr>
        <p:xfrm>
          <a:off x="4724400" y="533400"/>
          <a:ext cx="2333625" cy="2933700"/>
        </p:xfrm>
        <a:graphic>
          <a:graphicData uri="http://schemas.openxmlformats.org/presentationml/2006/ole">
            <mc:AlternateContent xmlns:mc="http://schemas.openxmlformats.org/markup-compatibility/2006">
              <mc:Choice xmlns:v="urn:schemas-microsoft-com:vml" Requires="v">
                <p:oleObj spid="_x0000_s9259" name="位图图像" r:id="rId5" imgW="2333333" imgH="2933333" progId="Paint.Picture">
                  <p:embed/>
                </p:oleObj>
              </mc:Choice>
              <mc:Fallback>
                <p:oleObj name="位图图像" r:id="rId5" imgW="2333333" imgH="2933333" progId="Paint.Picture">
                  <p:embed/>
                  <p:pic>
                    <p:nvPicPr>
                      <p:cNvPr id="73731" name="Object 3">
                        <a:extLst>
                          <a:ext uri="{FF2B5EF4-FFF2-40B4-BE49-F238E27FC236}">
                            <a16:creationId xmlns:a16="http://schemas.microsoft.com/office/drawing/2014/main" id="{56907120-BD52-468F-A91D-0075B1392D1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4400" y="533400"/>
                        <a:ext cx="2333625" cy="293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3732" name="Text Box 4">
            <a:extLst>
              <a:ext uri="{FF2B5EF4-FFF2-40B4-BE49-F238E27FC236}">
                <a16:creationId xmlns:a16="http://schemas.microsoft.com/office/drawing/2014/main" id="{4DDBF934-98E2-4FA7-9285-E341B7CA6D8D}"/>
              </a:ext>
            </a:extLst>
          </p:cNvPr>
          <p:cNvSpPr txBox="1">
            <a:spLocks noChangeArrowheads="1"/>
          </p:cNvSpPr>
          <p:nvPr/>
        </p:nvSpPr>
        <p:spPr bwMode="auto">
          <a:xfrm>
            <a:off x="898525" y="3698875"/>
            <a:ext cx="3140075"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a:solidFill>
                  <a:schemeClr val="accent2"/>
                </a:solidFill>
                <a:latin typeface="Times New Roman" panose="02020603050405020304" pitchFamily="18" charset="0"/>
              </a:rPr>
              <a:t>5</a:t>
            </a:r>
            <a:r>
              <a:rPr kumimoji="1" lang="zh-CN" altLang="en-US" sz="2400" b="1">
                <a:solidFill>
                  <a:schemeClr val="accent2"/>
                </a:solidFill>
                <a:latin typeface="宋体" panose="02010600030101010101" pitchFamily="2" charset="-122"/>
              </a:rPr>
              <a:t>）过顶面各顶点向下画平行于</a:t>
            </a:r>
            <a:r>
              <a:rPr kumimoji="1" lang="en-US" altLang="zh-CN" sz="2400" b="1">
                <a:solidFill>
                  <a:schemeClr val="accent2"/>
                </a:solidFill>
                <a:latin typeface="Times New Roman" panose="02020603050405020304" pitchFamily="18" charset="0"/>
              </a:rPr>
              <a:t>OZ</a:t>
            </a:r>
            <a:r>
              <a:rPr kumimoji="1" lang="zh-CN" altLang="en-US" sz="2400" b="1">
                <a:solidFill>
                  <a:schemeClr val="accent2"/>
                </a:solidFill>
                <a:latin typeface="宋体" panose="02010600030101010101" pitchFamily="2" charset="-122"/>
              </a:rPr>
              <a:t>的各条棱线，使其长度等于六棱柱的高</a:t>
            </a:r>
            <a:r>
              <a:rPr kumimoji="1" lang="zh-CN" altLang="en-US" sz="2400">
                <a:latin typeface="Times New Roman" panose="02020603050405020304" pitchFamily="18" charset="0"/>
              </a:rPr>
              <a:t> </a:t>
            </a:r>
          </a:p>
        </p:txBody>
      </p:sp>
      <p:sp>
        <p:nvSpPr>
          <p:cNvPr id="73733" name="Text Box 5">
            <a:extLst>
              <a:ext uri="{FF2B5EF4-FFF2-40B4-BE49-F238E27FC236}">
                <a16:creationId xmlns:a16="http://schemas.microsoft.com/office/drawing/2014/main" id="{3C7060A6-1182-4581-B84D-DC6260197662}"/>
              </a:ext>
            </a:extLst>
          </p:cNvPr>
          <p:cNvSpPr txBox="1">
            <a:spLocks noChangeArrowheads="1"/>
          </p:cNvSpPr>
          <p:nvPr/>
        </p:nvSpPr>
        <p:spPr bwMode="auto">
          <a:xfrm>
            <a:off x="4953000" y="3733800"/>
            <a:ext cx="2835275"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a:solidFill>
                  <a:schemeClr val="accent2"/>
                </a:solidFill>
                <a:latin typeface="Times New Roman" panose="02020603050405020304" pitchFamily="18" charset="0"/>
              </a:rPr>
              <a:t>6</a:t>
            </a:r>
            <a:r>
              <a:rPr kumimoji="1" lang="zh-CN" altLang="en-US" sz="2400" b="1">
                <a:solidFill>
                  <a:schemeClr val="accent2"/>
                </a:solidFill>
                <a:latin typeface="宋体" panose="02010600030101010101" pitchFamily="2" charset="-122"/>
              </a:rPr>
              <a:t>）画出底面，去掉多余线，加深后得到六棱柱的正等轴测图</a:t>
            </a:r>
            <a:r>
              <a:rPr kumimoji="1" lang="zh-CN" altLang="en-US" sz="2400">
                <a:latin typeface="Times New Roman" panose="02020603050405020304" pitchFamily="18" charset="0"/>
              </a:rPr>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2">
            <a:extLst>
              <a:ext uri="{FF2B5EF4-FFF2-40B4-BE49-F238E27FC236}">
                <a16:creationId xmlns:a16="http://schemas.microsoft.com/office/drawing/2014/main" id="{124CEBD9-D5A7-43EF-9F17-EF6A4237BF1A}"/>
              </a:ext>
            </a:extLst>
          </p:cNvPr>
          <p:cNvSpPr txBox="1">
            <a:spLocks noChangeArrowheads="1"/>
          </p:cNvSpPr>
          <p:nvPr/>
        </p:nvSpPr>
        <p:spPr bwMode="auto">
          <a:xfrm>
            <a:off x="575556" y="1628800"/>
            <a:ext cx="3860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latin typeface="宋体" panose="02010600030101010101" pitchFamily="2" charset="-122"/>
              </a:rPr>
              <a:t>［例］画出如图所示物体的</a:t>
            </a:r>
          </a:p>
          <a:p>
            <a:r>
              <a:rPr kumimoji="1" lang="zh-CN" altLang="en-US" sz="2400" b="1" dirty="0">
                <a:latin typeface="宋体" panose="02010600030101010101" pitchFamily="2" charset="-122"/>
              </a:rPr>
              <a:t>       正等轴测图</a:t>
            </a:r>
            <a:r>
              <a:rPr kumimoji="1" lang="zh-CN" altLang="en-US" sz="2400" dirty="0">
                <a:latin typeface="Times New Roman" panose="02020603050405020304" pitchFamily="18" charset="0"/>
              </a:rPr>
              <a:t> </a:t>
            </a:r>
          </a:p>
        </p:txBody>
      </p:sp>
      <p:graphicFrame>
        <p:nvGraphicFramePr>
          <p:cNvPr id="75779" name="Object 3">
            <a:extLst>
              <a:ext uri="{FF2B5EF4-FFF2-40B4-BE49-F238E27FC236}">
                <a16:creationId xmlns:a16="http://schemas.microsoft.com/office/drawing/2014/main" id="{87A25662-A493-4CE6-B4FA-ADA071E4A7B6}"/>
              </a:ext>
            </a:extLst>
          </p:cNvPr>
          <p:cNvGraphicFramePr>
            <a:graphicFrameLocks noChangeAspect="1"/>
          </p:cNvGraphicFramePr>
          <p:nvPr/>
        </p:nvGraphicFramePr>
        <p:xfrm>
          <a:off x="5410200" y="115888"/>
          <a:ext cx="3733800" cy="2428875"/>
        </p:xfrm>
        <a:graphic>
          <a:graphicData uri="http://schemas.openxmlformats.org/presentationml/2006/ole">
            <mc:AlternateContent xmlns:mc="http://schemas.openxmlformats.org/markup-compatibility/2006">
              <mc:Choice xmlns:v="urn:schemas-microsoft-com:vml" Requires="v">
                <p:oleObj spid="_x0000_s46096" name="位图图像" r:id="rId3" imgW="3734321" imgH="2429214" progId="Paint.Picture">
                  <p:embed/>
                </p:oleObj>
              </mc:Choice>
              <mc:Fallback>
                <p:oleObj name="位图图像" r:id="rId3" imgW="3734321" imgH="2429214" progId="Paint.Picture">
                  <p:embed/>
                  <p:pic>
                    <p:nvPicPr>
                      <p:cNvPr id="75779" name="Object 3">
                        <a:extLst>
                          <a:ext uri="{FF2B5EF4-FFF2-40B4-BE49-F238E27FC236}">
                            <a16:creationId xmlns:a16="http://schemas.microsoft.com/office/drawing/2014/main" id="{87A25662-A493-4CE6-B4FA-ADA071E4A7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200" y="115888"/>
                        <a:ext cx="3733800"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75780" name="Picture 4">
            <a:extLst>
              <a:ext uri="{FF2B5EF4-FFF2-40B4-BE49-F238E27FC236}">
                <a16:creationId xmlns:a16="http://schemas.microsoft.com/office/drawing/2014/main" id="{4F8C0465-B98B-4C71-963A-7857EE303D0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2362200"/>
            <a:ext cx="2819400" cy="2160588"/>
          </a:xfrm>
          <a:prstGeom prst="rect">
            <a:avLst/>
          </a:prstGeom>
          <a:noFill/>
          <a:extLst>
            <a:ext uri="{909E8E84-426E-40DD-AFC4-6F175D3DCCD1}">
              <a14:hiddenFill xmlns:a14="http://schemas.microsoft.com/office/drawing/2010/main">
                <a:solidFill>
                  <a:srgbClr val="FFFFFF"/>
                </a:solidFill>
              </a14:hiddenFill>
            </a:ext>
          </a:extLst>
        </p:spPr>
      </p:pic>
      <p:pic>
        <p:nvPicPr>
          <p:cNvPr id="75781" name="Picture 5">
            <a:extLst>
              <a:ext uri="{FF2B5EF4-FFF2-40B4-BE49-F238E27FC236}">
                <a16:creationId xmlns:a16="http://schemas.microsoft.com/office/drawing/2014/main" id="{A9E4A0C3-6322-4A72-BCC2-F55D605B8FE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6800" y="2514600"/>
            <a:ext cx="2730500" cy="2132013"/>
          </a:xfrm>
          <a:prstGeom prst="rect">
            <a:avLst/>
          </a:prstGeom>
          <a:noFill/>
          <a:extLst>
            <a:ext uri="{909E8E84-426E-40DD-AFC4-6F175D3DCCD1}">
              <a14:hiddenFill xmlns:a14="http://schemas.microsoft.com/office/drawing/2010/main">
                <a:solidFill>
                  <a:srgbClr val="FFFFFF"/>
                </a:solidFill>
              </a14:hiddenFill>
            </a:ext>
          </a:extLst>
        </p:spPr>
      </p:pic>
      <p:pic>
        <p:nvPicPr>
          <p:cNvPr id="75782" name="Picture 6">
            <a:extLst>
              <a:ext uri="{FF2B5EF4-FFF2-40B4-BE49-F238E27FC236}">
                <a16:creationId xmlns:a16="http://schemas.microsoft.com/office/drawing/2014/main" id="{D6432E36-A2A1-4220-90EE-847B8D10D49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3000" y="4495800"/>
            <a:ext cx="2914650" cy="2135188"/>
          </a:xfrm>
          <a:prstGeom prst="rect">
            <a:avLst/>
          </a:prstGeom>
          <a:noFill/>
          <a:extLst>
            <a:ext uri="{909E8E84-426E-40DD-AFC4-6F175D3DCCD1}">
              <a14:hiddenFill xmlns:a14="http://schemas.microsoft.com/office/drawing/2010/main">
                <a:solidFill>
                  <a:srgbClr val="FFFFFF"/>
                </a:solidFill>
              </a14:hiddenFill>
            </a:ext>
          </a:extLst>
        </p:spPr>
      </p:pic>
      <p:pic>
        <p:nvPicPr>
          <p:cNvPr id="75783" name="Picture 7">
            <a:extLst>
              <a:ext uri="{FF2B5EF4-FFF2-40B4-BE49-F238E27FC236}">
                <a16:creationId xmlns:a16="http://schemas.microsoft.com/office/drawing/2014/main" id="{815EE2A6-4E6C-4357-9948-CA500E7E78E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53000" y="4640263"/>
            <a:ext cx="2743200" cy="2217737"/>
          </a:xfrm>
          <a:prstGeom prst="rect">
            <a:avLst/>
          </a:prstGeom>
          <a:noFill/>
          <a:extLst>
            <a:ext uri="{909E8E84-426E-40DD-AFC4-6F175D3DCCD1}">
              <a14:hiddenFill xmlns:a14="http://schemas.microsoft.com/office/drawing/2010/main">
                <a:solidFill>
                  <a:srgbClr val="FFFFFF"/>
                </a:solidFill>
              </a14:hiddenFill>
            </a:ext>
          </a:extLst>
        </p:spPr>
      </p:pic>
      <p:sp>
        <p:nvSpPr>
          <p:cNvPr id="75784" name="Rectangle 8">
            <a:extLst>
              <a:ext uri="{FF2B5EF4-FFF2-40B4-BE49-F238E27FC236}">
                <a16:creationId xmlns:a16="http://schemas.microsoft.com/office/drawing/2014/main" id="{82508592-821D-4D32-8846-77DFA57115BF}"/>
              </a:ext>
            </a:extLst>
          </p:cNvPr>
          <p:cNvSpPr>
            <a:spLocks noChangeArrowheads="1"/>
          </p:cNvSpPr>
          <p:nvPr/>
        </p:nvSpPr>
        <p:spPr bwMode="auto">
          <a:xfrm>
            <a:off x="129588" y="615769"/>
            <a:ext cx="5280612" cy="6463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0" hangingPunct="0"/>
            <a:r>
              <a:rPr kumimoji="1" lang="zh-CN" altLang="en-US" sz="3600" b="1" dirty="0">
                <a:solidFill>
                  <a:srgbClr val="000000"/>
                </a:solidFill>
                <a:latin typeface="宋体" panose="02010600030101010101" pitchFamily="2" charset="-122"/>
              </a:rPr>
              <a:t>组合体正等轴测图的画法</a:t>
            </a:r>
            <a:endParaRPr kumimoji="1" lang="zh-CN" altLang="en-US" sz="3600" b="1" dirty="0">
              <a:latin typeface="宋体" panose="02010600030101010101" pitchFamily="2" charset="-122"/>
            </a:endParaRPr>
          </a:p>
        </p:txBody>
      </p:sp>
    </p:spTree>
    <p:extLst>
      <p:ext uri="{BB962C8B-B14F-4D97-AF65-F5344CB8AC3E}">
        <p14:creationId xmlns:p14="http://schemas.microsoft.com/office/powerpoint/2010/main" val="34533962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5784"/>
                                        </p:tgtEl>
                                        <p:attrNameLst>
                                          <p:attrName>style.visibility</p:attrName>
                                        </p:attrNameLst>
                                      </p:cBhvr>
                                      <p:to>
                                        <p:strVal val="visible"/>
                                      </p:to>
                                    </p:set>
                                    <p:anim calcmode="lin" valueType="num">
                                      <p:cBhvr additive="base">
                                        <p:cTn id="7" dur="500" fill="hold"/>
                                        <p:tgtEl>
                                          <p:spTgt spid="75784"/>
                                        </p:tgtEl>
                                        <p:attrNameLst>
                                          <p:attrName>ppt_x</p:attrName>
                                        </p:attrNameLst>
                                      </p:cBhvr>
                                      <p:tavLst>
                                        <p:tav tm="0">
                                          <p:val>
                                            <p:strVal val="0-#ppt_w/2"/>
                                          </p:val>
                                        </p:tav>
                                        <p:tav tm="100000">
                                          <p:val>
                                            <p:strVal val="#ppt_x"/>
                                          </p:val>
                                        </p:tav>
                                      </p:tavLst>
                                    </p:anim>
                                    <p:anim calcmode="lin" valueType="num">
                                      <p:cBhvr additive="base">
                                        <p:cTn id="8" dur="500" fill="hold"/>
                                        <p:tgtEl>
                                          <p:spTgt spid="757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A4573004-A004-45C9-ABE9-1FB1C4D9C99A}"/>
              </a:ext>
            </a:extLst>
          </p:cNvPr>
          <p:cNvSpPr>
            <a:spLocks noChangeArrowheads="1"/>
          </p:cNvSpPr>
          <p:nvPr/>
        </p:nvSpPr>
        <p:spPr bwMode="auto">
          <a:xfrm>
            <a:off x="179512" y="728700"/>
            <a:ext cx="6280150" cy="579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0" hangingPunct="0"/>
            <a:r>
              <a:rPr kumimoji="1" lang="zh-CN" altLang="en-US" sz="3200" b="1" dirty="0">
                <a:solidFill>
                  <a:srgbClr val="000000"/>
                </a:solidFill>
                <a:latin typeface="楷体_GB2312" pitchFamily="49" charset="-122"/>
                <a:ea typeface="楷体_GB2312" pitchFamily="49" charset="-122"/>
              </a:rPr>
              <a:t>例：试画出图所示的正等轴测图。</a:t>
            </a:r>
          </a:p>
        </p:txBody>
      </p:sp>
      <p:graphicFrame>
        <p:nvGraphicFramePr>
          <p:cNvPr id="24579" name="Object 3">
            <a:extLst>
              <a:ext uri="{FF2B5EF4-FFF2-40B4-BE49-F238E27FC236}">
                <a16:creationId xmlns:a16="http://schemas.microsoft.com/office/drawing/2014/main" id="{6E3E5AE2-3936-4017-9E05-43E89A7EDD2B}"/>
              </a:ext>
            </a:extLst>
          </p:cNvPr>
          <p:cNvGraphicFramePr>
            <a:graphicFrameLocks noChangeAspect="1"/>
          </p:cNvGraphicFramePr>
          <p:nvPr/>
        </p:nvGraphicFramePr>
        <p:xfrm>
          <a:off x="1403350" y="1376363"/>
          <a:ext cx="6699250" cy="4392612"/>
        </p:xfrm>
        <a:graphic>
          <a:graphicData uri="http://schemas.openxmlformats.org/presentationml/2006/ole">
            <mc:AlternateContent xmlns:mc="http://schemas.openxmlformats.org/markup-compatibility/2006">
              <mc:Choice xmlns:v="urn:schemas-microsoft-com:vml" Requires="v">
                <p:oleObj spid="_x0000_s10262" name="Image" r:id="rId3" imgW="8812698" imgH="5777778" progId="Photoshop.Image.7">
                  <p:embed/>
                </p:oleObj>
              </mc:Choice>
              <mc:Fallback>
                <p:oleObj name="Image" r:id="rId3" imgW="8812698" imgH="5777778" progId="Photoshop.Image.7">
                  <p:embed/>
                  <p:pic>
                    <p:nvPicPr>
                      <p:cNvPr id="24579" name="Object 3">
                        <a:extLst>
                          <a:ext uri="{FF2B5EF4-FFF2-40B4-BE49-F238E27FC236}">
                            <a16:creationId xmlns:a16="http://schemas.microsoft.com/office/drawing/2014/main" id="{6E3E5AE2-3936-4017-9E05-43E89A7EDD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1376363"/>
                        <a:ext cx="6699250" cy="4392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80" name="Text Box 4">
            <a:extLst>
              <a:ext uri="{FF2B5EF4-FFF2-40B4-BE49-F238E27FC236}">
                <a16:creationId xmlns:a16="http://schemas.microsoft.com/office/drawing/2014/main" id="{1FCBE91E-EC6A-4148-B50D-39E34ADD78FC}"/>
              </a:ext>
            </a:extLst>
          </p:cNvPr>
          <p:cNvSpPr txBox="1">
            <a:spLocks noChangeArrowheads="1"/>
          </p:cNvSpPr>
          <p:nvPr/>
        </p:nvSpPr>
        <p:spPr bwMode="auto">
          <a:xfrm>
            <a:off x="6183313" y="4313238"/>
            <a:ext cx="12604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kumimoji="1" lang="zh-CN" altLang="en-US" sz="2800" b="1">
                <a:solidFill>
                  <a:srgbClr val="FF0000"/>
                </a:solidFill>
                <a:latin typeface="Times New Roman" panose="02020603050405020304" pitchFamily="18" charset="0"/>
                <a:ea typeface="楷体_GB2312" pitchFamily="49" charset="-122"/>
              </a:rPr>
              <a:t>切割法</a:t>
            </a:r>
          </a:p>
        </p:txBody>
      </p:sp>
      <p:sp>
        <p:nvSpPr>
          <p:cNvPr id="24584" name="AutoShape 8">
            <a:hlinkClick r:id="rId5" action="ppaction://hlinksldjump" highlightClick="1"/>
            <a:extLst>
              <a:ext uri="{FF2B5EF4-FFF2-40B4-BE49-F238E27FC236}">
                <a16:creationId xmlns:a16="http://schemas.microsoft.com/office/drawing/2014/main" id="{5B516880-738C-411F-B3A5-74FBA69A01A7}"/>
              </a:ext>
            </a:extLst>
          </p:cNvPr>
          <p:cNvSpPr>
            <a:spLocks noChangeArrowheads="1"/>
          </p:cNvSpPr>
          <p:nvPr/>
        </p:nvSpPr>
        <p:spPr bwMode="auto">
          <a:xfrm>
            <a:off x="8316913" y="6381750"/>
            <a:ext cx="827087" cy="47625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4578"/>
                                        </p:tgtEl>
                                        <p:attrNameLst>
                                          <p:attrName>style.visibility</p:attrName>
                                        </p:attrNameLst>
                                      </p:cBhvr>
                                      <p:to>
                                        <p:strVal val="visible"/>
                                      </p:to>
                                    </p:set>
                                    <p:animEffect transition="in" filter="checkerboard(across)">
                                      <p:cBhvr>
                                        <p:cTn id="7" dur="500"/>
                                        <p:tgtEl>
                                          <p:spTgt spid="245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4" presetClass="entr" presetSubtype="0" fill="hold" nodeType="clickEffect">
                                  <p:stCondLst>
                                    <p:cond delay="0"/>
                                  </p:stCondLst>
                                  <p:childTnLst>
                                    <p:set>
                                      <p:cBhvr>
                                        <p:cTn id="11" dur="1" fill="hold">
                                          <p:stCondLst>
                                            <p:cond delay="499"/>
                                          </p:stCondLst>
                                        </p:cTn>
                                        <p:tgtEl>
                                          <p:spTgt spid="24579"/>
                                        </p:tgtEl>
                                        <p:attrNameLst>
                                          <p:attrName>style.visibility</p:attrName>
                                        </p:attrNameLst>
                                      </p:cBhvr>
                                      <p:to>
                                        <p:strVal val="visible"/>
                                      </p:to>
                                    </p:set>
                                    <p:anim to="" calcmode="lin" valueType="num">
                                      <p:cBhvr>
                                        <p:cTn id="12" dur="1" fill="hold"/>
                                        <p:tgtEl>
                                          <p:spTgt spid="24579"/>
                                        </p:tgtEl>
                                        <p:attrNameLst>
                                          <p:attrName/>
                                        </p:attrNameLst>
                                      </p:cBhvr>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24580"/>
                                        </p:tgtEl>
                                        <p:attrNameLst>
                                          <p:attrName>style.visibility</p:attrName>
                                        </p:attrNameLst>
                                      </p:cBhvr>
                                      <p:to>
                                        <p:strVal val="visible"/>
                                      </p:to>
                                    </p:set>
                                    <p:anim calcmode="lin" valueType="num">
                                      <p:cBhvr>
                                        <p:cTn id="17" dur="500" fill="hold"/>
                                        <p:tgtEl>
                                          <p:spTgt spid="24580"/>
                                        </p:tgtEl>
                                        <p:attrNameLst>
                                          <p:attrName>ppt_w</p:attrName>
                                        </p:attrNameLst>
                                      </p:cBhvr>
                                      <p:tavLst>
                                        <p:tav tm="0">
                                          <p:val>
                                            <p:fltVal val="0"/>
                                          </p:val>
                                        </p:tav>
                                        <p:tav tm="100000">
                                          <p:val>
                                            <p:strVal val="#ppt_w"/>
                                          </p:val>
                                        </p:tav>
                                      </p:tavLst>
                                    </p:anim>
                                    <p:anim calcmode="lin" valueType="num">
                                      <p:cBhvr>
                                        <p:cTn id="18" dur="500" fill="hold"/>
                                        <p:tgtEl>
                                          <p:spTgt spid="2458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p:bldP spid="24580"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a:extLst>
              <a:ext uri="{FF2B5EF4-FFF2-40B4-BE49-F238E27FC236}">
                <a16:creationId xmlns:a16="http://schemas.microsoft.com/office/drawing/2014/main" id="{544AFB03-DD59-421E-A3FD-39FC7AACABAC}"/>
              </a:ext>
            </a:extLst>
          </p:cNvPr>
          <p:cNvSpPr txBox="1">
            <a:spLocks noChangeArrowheads="1"/>
          </p:cNvSpPr>
          <p:nvPr/>
        </p:nvSpPr>
        <p:spPr bwMode="auto">
          <a:xfrm>
            <a:off x="179512" y="623093"/>
            <a:ext cx="18161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kumimoji="1" lang="zh-CN" altLang="en-US" sz="3200" b="1" dirty="0">
                <a:solidFill>
                  <a:srgbClr val="000000"/>
                </a:solidFill>
                <a:latin typeface="Times New Roman" panose="02020603050405020304" pitchFamily="18" charset="0"/>
                <a:ea typeface="楷体_GB2312" pitchFamily="49" charset="-122"/>
              </a:rPr>
              <a:t>步骤一：</a:t>
            </a:r>
          </a:p>
        </p:txBody>
      </p:sp>
      <p:graphicFrame>
        <p:nvGraphicFramePr>
          <p:cNvPr id="25603" name="Object 3">
            <a:extLst>
              <a:ext uri="{FF2B5EF4-FFF2-40B4-BE49-F238E27FC236}">
                <a16:creationId xmlns:a16="http://schemas.microsoft.com/office/drawing/2014/main" id="{0E2EB7F0-A282-48F3-B9D4-3BC4511AD9C1}"/>
              </a:ext>
            </a:extLst>
          </p:cNvPr>
          <p:cNvGraphicFramePr>
            <a:graphicFrameLocks noChangeAspect="1"/>
          </p:cNvGraphicFramePr>
          <p:nvPr/>
        </p:nvGraphicFramePr>
        <p:xfrm>
          <a:off x="1484313" y="1131888"/>
          <a:ext cx="6080125" cy="4813300"/>
        </p:xfrm>
        <a:graphic>
          <a:graphicData uri="http://schemas.openxmlformats.org/presentationml/2006/ole">
            <mc:AlternateContent xmlns:mc="http://schemas.openxmlformats.org/markup-compatibility/2006">
              <mc:Choice xmlns:v="urn:schemas-microsoft-com:vml" Requires="v">
                <p:oleObj spid="_x0000_s11286" name="Image" r:id="rId3" imgW="6213908" imgH="4917755" progId="Photoshop.Image.4">
                  <p:embed/>
                </p:oleObj>
              </mc:Choice>
              <mc:Fallback>
                <p:oleObj name="Image" r:id="rId3" imgW="6213908" imgH="4917755" progId="Photoshop.Image.4">
                  <p:embed/>
                  <p:pic>
                    <p:nvPicPr>
                      <p:cNvPr id="25603" name="Object 3">
                        <a:extLst>
                          <a:ext uri="{FF2B5EF4-FFF2-40B4-BE49-F238E27FC236}">
                            <a16:creationId xmlns:a16="http://schemas.microsoft.com/office/drawing/2014/main" id="{0E2EB7F0-A282-48F3-B9D4-3BC4511AD9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4313" y="1131888"/>
                        <a:ext cx="6080125" cy="481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7" name="AutoShape 7">
            <a:hlinkClick r:id="rId5" action="ppaction://hlinksldjump" highlightClick="1"/>
            <a:extLst>
              <a:ext uri="{FF2B5EF4-FFF2-40B4-BE49-F238E27FC236}">
                <a16:creationId xmlns:a16="http://schemas.microsoft.com/office/drawing/2014/main" id="{1B46D58D-FF8A-4409-A79D-8405C77A02A5}"/>
              </a:ext>
            </a:extLst>
          </p:cNvPr>
          <p:cNvSpPr>
            <a:spLocks noChangeArrowheads="1"/>
          </p:cNvSpPr>
          <p:nvPr/>
        </p:nvSpPr>
        <p:spPr bwMode="auto">
          <a:xfrm>
            <a:off x="8316913" y="6381750"/>
            <a:ext cx="827087" cy="47625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5602"/>
                                        </p:tgtEl>
                                        <p:attrNameLst>
                                          <p:attrName>style.visibility</p:attrName>
                                        </p:attrNameLst>
                                      </p:cBhvr>
                                      <p:to>
                                        <p:strVal val="visible"/>
                                      </p:to>
                                    </p:set>
                                    <p:animEffect transition="in" filter="checkerboard(across)">
                                      <p:cBhvr>
                                        <p:cTn id="7" dur="500"/>
                                        <p:tgtEl>
                                          <p:spTgt spid="256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5603"/>
                                        </p:tgtEl>
                                        <p:attrNameLst>
                                          <p:attrName>style.visibility</p:attrName>
                                        </p:attrNameLst>
                                      </p:cBhvr>
                                      <p:to>
                                        <p:strVal val="visible"/>
                                      </p:to>
                                    </p:set>
                                    <p:animEffect transition="in" filter="dissolve">
                                      <p:cBhvr>
                                        <p:cTn id="12" dur="500"/>
                                        <p:tgtEl>
                                          <p:spTgt spid="256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a:extLst>
              <a:ext uri="{FF2B5EF4-FFF2-40B4-BE49-F238E27FC236}">
                <a16:creationId xmlns:a16="http://schemas.microsoft.com/office/drawing/2014/main" id="{7C592BD1-6487-413E-B83E-685CB9418AB9}"/>
              </a:ext>
            </a:extLst>
          </p:cNvPr>
          <p:cNvSpPr txBox="1">
            <a:spLocks noChangeArrowheads="1"/>
          </p:cNvSpPr>
          <p:nvPr/>
        </p:nvSpPr>
        <p:spPr bwMode="auto">
          <a:xfrm>
            <a:off x="467544" y="584684"/>
            <a:ext cx="18161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kumimoji="1" lang="zh-CN" altLang="en-US" sz="3200" b="1" dirty="0">
                <a:solidFill>
                  <a:srgbClr val="000000"/>
                </a:solidFill>
                <a:latin typeface="Times New Roman" panose="02020603050405020304" pitchFamily="18" charset="0"/>
                <a:ea typeface="楷体_GB2312" pitchFamily="49" charset="-122"/>
              </a:rPr>
              <a:t>步骤二：</a:t>
            </a:r>
          </a:p>
        </p:txBody>
      </p:sp>
      <p:graphicFrame>
        <p:nvGraphicFramePr>
          <p:cNvPr id="26627" name="Object 3">
            <a:extLst>
              <a:ext uri="{FF2B5EF4-FFF2-40B4-BE49-F238E27FC236}">
                <a16:creationId xmlns:a16="http://schemas.microsoft.com/office/drawing/2014/main" id="{5F29DA05-62B9-48D4-8D52-FF0B512F31ED}"/>
              </a:ext>
            </a:extLst>
          </p:cNvPr>
          <p:cNvGraphicFramePr>
            <a:graphicFrameLocks noChangeAspect="1"/>
          </p:cNvGraphicFramePr>
          <p:nvPr/>
        </p:nvGraphicFramePr>
        <p:xfrm>
          <a:off x="1198563" y="1031875"/>
          <a:ext cx="6327775" cy="5310188"/>
        </p:xfrm>
        <a:graphic>
          <a:graphicData uri="http://schemas.openxmlformats.org/presentationml/2006/ole">
            <mc:AlternateContent xmlns:mc="http://schemas.openxmlformats.org/markup-compatibility/2006">
              <mc:Choice xmlns:v="urn:schemas-microsoft-com:vml" Requires="v">
                <p:oleObj spid="_x0000_s12310" name="Image" r:id="rId3" imgW="6480762" imgH="5438758" progId="Photoshop.Image.4">
                  <p:embed/>
                </p:oleObj>
              </mc:Choice>
              <mc:Fallback>
                <p:oleObj name="Image" r:id="rId3" imgW="6480762" imgH="5438758" progId="Photoshop.Image.4">
                  <p:embed/>
                  <p:pic>
                    <p:nvPicPr>
                      <p:cNvPr id="26627" name="Object 3">
                        <a:extLst>
                          <a:ext uri="{FF2B5EF4-FFF2-40B4-BE49-F238E27FC236}">
                            <a16:creationId xmlns:a16="http://schemas.microsoft.com/office/drawing/2014/main" id="{5F29DA05-62B9-48D4-8D52-FF0B512F31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8563" y="1031875"/>
                        <a:ext cx="6327775" cy="531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34" name="AutoShape 10">
            <a:hlinkClick r:id="rId5" action="ppaction://hlinksldjump" highlightClick="1"/>
            <a:extLst>
              <a:ext uri="{FF2B5EF4-FFF2-40B4-BE49-F238E27FC236}">
                <a16:creationId xmlns:a16="http://schemas.microsoft.com/office/drawing/2014/main" id="{34DCE7AF-FEDE-40F9-AC7B-B61BF097DFE5}"/>
              </a:ext>
            </a:extLst>
          </p:cNvPr>
          <p:cNvSpPr>
            <a:spLocks noChangeArrowheads="1"/>
          </p:cNvSpPr>
          <p:nvPr/>
        </p:nvSpPr>
        <p:spPr bwMode="auto">
          <a:xfrm>
            <a:off x="8316913" y="6381750"/>
            <a:ext cx="827087" cy="47625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checkerboard(across)">
                                      <p:cBhvr>
                                        <p:cTn id="7" dur="500"/>
                                        <p:tgtEl>
                                          <p:spTgt spid="266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6627"/>
                                        </p:tgtEl>
                                        <p:attrNameLst>
                                          <p:attrName>style.visibility</p:attrName>
                                        </p:attrNameLst>
                                      </p:cBhvr>
                                      <p:to>
                                        <p:strVal val="visible"/>
                                      </p:to>
                                    </p:set>
                                    <p:animEffect transition="in" filter="dissolve">
                                      <p:cBhvr>
                                        <p:cTn id="12" dur="500"/>
                                        <p:tgtEl>
                                          <p:spTgt spid="26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651" name="Object 3">
            <a:extLst>
              <a:ext uri="{FF2B5EF4-FFF2-40B4-BE49-F238E27FC236}">
                <a16:creationId xmlns:a16="http://schemas.microsoft.com/office/drawing/2014/main" id="{435283EE-5510-4901-BF60-C4B3ED22033C}"/>
              </a:ext>
            </a:extLst>
          </p:cNvPr>
          <p:cNvGraphicFramePr>
            <a:graphicFrameLocks noChangeAspect="1"/>
          </p:cNvGraphicFramePr>
          <p:nvPr/>
        </p:nvGraphicFramePr>
        <p:xfrm>
          <a:off x="1255713" y="1062038"/>
          <a:ext cx="6111875" cy="5251450"/>
        </p:xfrm>
        <a:graphic>
          <a:graphicData uri="http://schemas.openxmlformats.org/presentationml/2006/ole">
            <mc:AlternateContent xmlns:mc="http://schemas.openxmlformats.org/markup-compatibility/2006">
              <mc:Choice xmlns:v="urn:schemas-microsoft-com:vml" Requires="v">
                <p:oleObj spid="_x0000_s13334" name="Image" r:id="rId3" imgW="6404518" imgH="5502294" progId="Photoshop.Image.4">
                  <p:embed/>
                </p:oleObj>
              </mc:Choice>
              <mc:Fallback>
                <p:oleObj name="Image" r:id="rId3" imgW="6404518" imgH="5502294" progId="Photoshop.Image.4">
                  <p:embed/>
                  <p:pic>
                    <p:nvPicPr>
                      <p:cNvPr id="27651" name="Object 3">
                        <a:extLst>
                          <a:ext uri="{FF2B5EF4-FFF2-40B4-BE49-F238E27FC236}">
                            <a16:creationId xmlns:a16="http://schemas.microsoft.com/office/drawing/2014/main" id="{435283EE-5510-4901-BF60-C4B3ED2203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5713" y="1062038"/>
                        <a:ext cx="6111875" cy="525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55" name="AutoShape 7">
            <a:hlinkClick r:id="rId5" action="ppaction://hlinksldjump" highlightClick="1"/>
            <a:extLst>
              <a:ext uri="{FF2B5EF4-FFF2-40B4-BE49-F238E27FC236}">
                <a16:creationId xmlns:a16="http://schemas.microsoft.com/office/drawing/2014/main" id="{F2F2A3E9-B5B2-487D-84E7-483C11900FB6}"/>
              </a:ext>
            </a:extLst>
          </p:cNvPr>
          <p:cNvSpPr>
            <a:spLocks noChangeArrowheads="1"/>
          </p:cNvSpPr>
          <p:nvPr/>
        </p:nvSpPr>
        <p:spPr bwMode="auto">
          <a:xfrm>
            <a:off x="8316913" y="6381750"/>
            <a:ext cx="827087" cy="47625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50" name="Text Box 2">
            <a:extLst>
              <a:ext uri="{FF2B5EF4-FFF2-40B4-BE49-F238E27FC236}">
                <a16:creationId xmlns:a16="http://schemas.microsoft.com/office/drawing/2014/main" id="{A3A3B7FC-2207-482A-A520-8B1EE07D6B56}"/>
              </a:ext>
            </a:extLst>
          </p:cNvPr>
          <p:cNvSpPr txBox="1">
            <a:spLocks noChangeArrowheads="1"/>
          </p:cNvSpPr>
          <p:nvPr/>
        </p:nvSpPr>
        <p:spPr bwMode="auto">
          <a:xfrm>
            <a:off x="503548" y="656692"/>
            <a:ext cx="18161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kumimoji="1" lang="zh-CN" altLang="en-US" sz="3200" b="1" dirty="0">
                <a:solidFill>
                  <a:srgbClr val="000000"/>
                </a:solidFill>
                <a:latin typeface="Times New Roman" panose="02020603050405020304" pitchFamily="18" charset="0"/>
                <a:ea typeface="楷体_GB2312" pitchFamily="49" charset="-122"/>
              </a:rPr>
              <a:t>步骤三：</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7650"/>
                                        </p:tgtEl>
                                        <p:attrNameLst>
                                          <p:attrName>style.visibility</p:attrName>
                                        </p:attrNameLst>
                                      </p:cBhvr>
                                      <p:to>
                                        <p:strVal val="visible"/>
                                      </p:to>
                                    </p:set>
                                    <p:animEffect transition="in" filter="checkerboard(across)">
                                      <p:cBhvr>
                                        <p:cTn id="7" dur="500"/>
                                        <p:tgtEl>
                                          <p:spTgt spid="276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7651"/>
                                        </p:tgtEl>
                                        <p:attrNameLst>
                                          <p:attrName>style.visibility</p:attrName>
                                        </p:attrNameLst>
                                      </p:cBhvr>
                                      <p:to>
                                        <p:strVal val="visible"/>
                                      </p:to>
                                    </p:set>
                                    <p:animEffect transition="in" filter="dissolve">
                                      <p:cBhvr>
                                        <p:cTn id="12" dur="500"/>
                                        <p:tgtEl>
                                          <p:spTgt spid="276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a:extLst>
              <a:ext uri="{FF2B5EF4-FFF2-40B4-BE49-F238E27FC236}">
                <a16:creationId xmlns:a16="http://schemas.microsoft.com/office/drawing/2014/main" id="{B7DA7B17-B52E-45D4-A013-D416FBA5CE4B}"/>
              </a:ext>
            </a:extLst>
          </p:cNvPr>
          <p:cNvSpPr txBox="1">
            <a:spLocks noChangeArrowheads="1"/>
          </p:cNvSpPr>
          <p:nvPr/>
        </p:nvSpPr>
        <p:spPr bwMode="auto">
          <a:xfrm>
            <a:off x="611560" y="548680"/>
            <a:ext cx="15954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kumimoji="1" lang="zh-CN" altLang="en-US" sz="3200" b="1" dirty="0">
                <a:solidFill>
                  <a:srgbClr val="000000"/>
                </a:solidFill>
                <a:latin typeface="Times New Roman" panose="02020603050405020304" pitchFamily="18" charset="0"/>
                <a:ea typeface="楷体_GB2312" pitchFamily="49" charset="-122"/>
              </a:rPr>
              <a:t>完成</a:t>
            </a:r>
          </a:p>
        </p:txBody>
      </p:sp>
      <p:graphicFrame>
        <p:nvGraphicFramePr>
          <p:cNvPr id="28675" name="Object 3">
            <a:extLst>
              <a:ext uri="{FF2B5EF4-FFF2-40B4-BE49-F238E27FC236}">
                <a16:creationId xmlns:a16="http://schemas.microsoft.com/office/drawing/2014/main" id="{8E32ADA0-A20D-424C-93D4-E3F8B7A6ACA2}"/>
              </a:ext>
            </a:extLst>
          </p:cNvPr>
          <p:cNvGraphicFramePr>
            <a:graphicFrameLocks noChangeAspect="1"/>
          </p:cNvGraphicFramePr>
          <p:nvPr/>
        </p:nvGraphicFramePr>
        <p:xfrm>
          <a:off x="1363663" y="1106488"/>
          <a:ext cx="6169025" cy="5041900"/>
        </p:xfrm>
        <a:graphic>
          <a:graphicData uri="http://schemas.openxmlformats.org/presentationml/2006/ole">
            <mc:AlternateContent xmlns:mc="http://schemas.openxmlformats.org/markup-compatibility/2006">
              <mc:Choice xmlns:v="urn:schemas-microsoft-com:vml" Requires="v">
                <p:oleObj spid="_x0000_s14358" name="Image" r:id="rId3" imgW="6607836" imgH="5400635" progId="Photoshop.Image.4">
                  <p:embed/>
                </p:oleObj>
              </mc:Choice>
              <mc:Fallback>
                <p:oleObj name="Image" r:id="rId3" imgW="6607836" imgH="5400635" progId="Photoshop.Image.4">
                  <p:embed/>
                  <p:pic>
                    <p:nvPicPr>
                      <p:cNvPr id="28675" name="Object 3">
                        <a:extLst>
                          <a:ext uri="{FF2B5EF4-FFF2-40B4-BE49-F238E27FC236}">
                            <a16:creationId xmlns:a16="http://schemas.microsoft.com/office/drawing/2014/main" id="{8E32ADA0-A20D-424C-93D4-E3F8B7A6AC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3663" y="1106488"/>
                        <a:ext cx="6169025" cy="504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79" name="AutoShape 7">
            <a:hlinkClick r:id="rId5" action="ppaction://hlinksldjump" highlightClick="1"/>
            <a:extLst>
              <a:ext uri="{FF2B5EF4-FFF2-40B4-BE49-F238E27FC236}">
                <a16:creationId xmlns:a16="http://schemas.microsoft.com/office/drawing/2014/main" id="{5B8574DF-4ABE-4E75-B5E3-DCD2B6D7D63F}"/>
              </a:ext>
            </a:extLst>
          </p:cNvPr>
          <p:cNvSpPr>
            <a:spLocks noChangeArrowheads="1"/>
          </p:cNvSpPr>
          <p:nvPr/>
        </p:nvSpPr>
        <p:spPr bwMode="auto">
          <a:xfrm>
            <a:off x="8316913" y="6381750"/>
            <a:ext cx="827087" cy="47625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8674"/>
                                        </p:tgtEl>
                                        <p:attrNameLst>
                                          <p:attrName>style.visibility</p:attrName>
                                        </p:attrNameLst>
                                      </p:cBhvr>
                                      <p:to>
                                        <p:strVal val="visible"/>
                                      </p:to>
                                    </p:set>
                                    <p:animEffect transition="in" filter="checkerboard(across)">
                                      <p:cBhvr>
                                        <p:cTn id="7" dur="500"/>
                                        <p:tgtEl>
                                          <p:spTgt spid="286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nodeType="clickEffect">
                                  <p:stCondLst>
                                    <p:cond delay="0"/>
                                  </p:stCondLst>
                                  <p:childTnLst>
                                    <p:set>
                                      <p:cBhvr>
                                        <p:cTn id="11" dur="1" fill="hold">
                                          <p:stCondLst>
                                            <p:cond delay="0"/>
                                          </p:stCondLst>
                                        </p:cTn>
                                        <p:tgtEl>
                                          <p:spTgt spid="28675"/>
                                        </p:tgtEl>
                                        <p:attrNameLst>
                                          <p:attrName>style.visibility</p:attrName>
                                        </p:attrNameLst>
                                      </p:cBhvr>
                                      <p:to>
                                        <p:strVal val="visible"/>
                                      </p:to>
                                    </p:set>
                                    <p:anim calcmode="lin" valueType="num">
                                      <p:cBhvr>
                                        <p:cTn id="12" dur="500" fill="hold"/>
                                        <p:tgtEl>
                                          <p:spTgt spid="28675"/>
                                        </p:tgtEl>
                                        <p:attrNameLst>
                                          <p:attrName>ppt_w</p:attrName>
                                        </p:attrNameLst>
                                      </p:cBhvr>
                                      <p:tavLst>
                                        <p:tav tm="0">
                                          <p:val>
                                            <p:fltVal val="0"/>
                                          </p:val>
                                        </p:tav>
                                        <p:tav tm="100000">
                                          <p:val>
                                            <p:strVal val="#ppt_w"/>
                                          </p:val>
                                        </p:tav>
                                      </p:tavLst>
                                    </p:anim>
                                    <p:anim calcmode="lin" valueType="num">
                                      <p:cBhvr>
                                        <p:cTn id="13" dur="500" fill="hold"/>
                                        <p:tgtEl>
                                          <p:spTgt spid="2867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4">
            <a:extLst>
              <a:ext uri="{FF2B5EF4-FFF2-40B4-BE49-F238E27FC236}">
                <a16:creationId xmlns:a16="http://schemas.microsoft.com/office/drawing/2014/main" id="{B3DEF969-6D30-4ED4-8977-9AA1FBCE01A2}"/>
              </a:ext>
            </a:extLst>
          </p:cNvPr>
          <p:cNvSpPr>
            <a:spLocks noGrp="1" noChangeArrowheads="1"/>
          </p:cNvSpPr>
          <p:nvPr>
            <p:ph type="title"/>
          </p:nvPr>
        </p:nvSpPr>
        <p:spPr>
          <a:xfrm>
            <a:off x="301625" y="333375"/>
            <a:ext cx="8540750" cy="1143000"/>
          </a:xfrm>
          <a:noFill/>
          <a:ln/>
        </p:spPr>
        <p:txBody>
          <a:bodyPr/>
          <a:lstStyle/>
          <a:p>
            <a:r>
              <a:rPr lang="en-US" altLang="zh-CN" sz="4000" b="1" dirty="0">
                <a:solidFill>
                  <a:srgbClr val="000000"/>
                </a:solidFill>
              </a:rPr>
              <a:t>3   </a:t>
            </a:r>
            <a:r>
              <a:rPr lang="zh-CN" altLang="en-US" sz="4000" b="1" dirty="0">
                <a:solidFill>
                  <a:srgbClr val="000000"/>
                </a:solidFill>
              </a:rPr>
              <a:t>斜二等轴测图的画法</a:t>
            </a:r>
          </a:p>
        </p:txBody>
      </p:sp>
      <p:graphicFrame>
        <p:nvGraphicFramePr>
          <p:cNvPr id="35845" name="Object 5">
            <a:extLst>
              <a:ext uri="{FF2B5EF4-FFF2-40B4-BE49-F238E27FC236}">
                <a16:creationId xmlns:a16="http://schemas.microsoft.com/office/drawing/2014/main" id="{B78DBB4F-EC12-412A-8AC6-1C1C4C88594F}"/>
              </a:ext>
            </a:extLst>
          </p:cNvPr>
          <p:cNvGraphicFramePr>
            <a:graphicFrameLocks noGrp="1" noChangeAspect="1"/>
          </p:cNvGraphicFramePr>
          <p:nvPr>
            <p:ph idx="1"/>
            <p:extLst>
              <p:ext uri="{D42A27DB-BD31-4B8C-83A1-F6EECF244321}">
                <p14:modId xmlns:p14="http://schemas.microsoft.com/office/powerpoint/2010/main" val="610130976"/>
              </p:ext>
            </p:extLst>
          </p:nvPr>
        </p:nvGraphicFramePr>
        <p:xfrm>
          <a:off x="3932447" y="2085635"/>
          <a:ext cx="5205412" cy="3927475"/>
        </p:xfrm>
        <a:graphic>
          <a:graphicData uri="http://schemas.openxmlformats.org/presentationml/2006/ole">
            <mc:AlternateContent xmlns:mc="http://schemas.openxmlformats.org/markup-compatibility/2006">
              <mc:Choice xmlns:v="urn:schemas-microsoft-com:vml" Requires="v">
                <p:oleObj spid="_x0000_s36886" name="Image" r:id="rId3" imgW="6836569" imgH="5159195" progId="Photoshop.Image.7">
                  <p:embed/>
                </p:oleObj>
              </mc:Choice>
              <mc:Fallback>
                <p:oleObj name="Image" r:id="rId3" imgW="6836569" imgH="5159195" progId="Photoshop.Image.7">
                  <p:embed/>
                  <p:pic>
                    <p:nvPicPr>
                      <p:cNvPr id="35845" name="Object 5">
                        <a:extLst>
                          <a:ext uri="{FF2B5EF4-FFF2-40B4-BE49-F238E27FC236}">
                            <a16:creationId xmlns:a16="http://schemas.microsoft.com/office/drawing/2014/main" id="{B78DBB4F-EC12-412A-8AC6-1C1C4C8859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2447" y="2085635"/>
                        <a:ext cx="5205412" cy="392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47" name="Text Box 7">
            <a:extLst>
              <a:ext uri="{FF2B5EF4-FFF2-40B4-BE49-F238E27FC236}">
                <a16:creationId xmlns:a16="http://schemas.microsoft.com/office/drawing/2014/main" id="{784E0656-9E76-4D8D-B0ED-E49C8476571D}"/>
              </a:ext>
            </a:extLst>
          </p:cNvPr>
          <p:cNvSpPr txBox="1">
            <a:spLocks noChangeArrowheads="1"/>
          </p:cNvSpPr>
          <p:nvPr/>
        </p:nvSpPr>
        <p:spPr bwMode="auto">
          <a:xfrm>
            <a:off x="684213" y="1484313"/>
            <a:ext cx="6551612" cy="57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en-US" altLang="zh-CN" sz="3200" b="1">
                <a:latin typeface="Times New Roman" panose="02020603050405020304" pitchFamily="18" charset="0"/>
              </a:rPr>
              <a:t> </a:t>
            </a:r>
            <a:r>
              <a:rPr kumimoji="1" lang="zh-CN" altLang="en-US" sz="3200" b="1">
                <a:solidFill>
                  <a:srgbClr val="000000"/>
                </a:solidFill>
                <a:latin typeface="Times New Roman" panose="02020603050405020304" pitchFamily="18" charset="0"/>
                <a:ea typeface="楷体_GB2312" pitchFamily="49" charset="-122"/>
              </a:rPr>
              <a:t>轴向伸缩系数：</a:t>
            </a:r>
            <a:r>
              <a:rPr kumimoji="1" lang="en-US" altLang="zh-CN" sz="3200" b="1" i="1">
                <a:solidFill>
                  <a:srgbClr val="000000"/>
                </a:solidFill>
                <a:latin typeface="Times New Roman" panose="02020603050405020304" pitchFamily="18" charset="0"/>
              </a:rPr>
              <a:t>p = r = 1  </a:t>
            </a:r>
            <a:r>
              <a:rPr kumimoji="1" lang="zh-CN" altLang="en-US" sz="3200" b="1" i="1">
                <a:solidFill>
                  <a:srgbClr val="000000"/>
                </a:solidFill>
                <a:latin typeface="Times New Roman" panose="02020603050405020304" pitchFamily="18" charset="0"/>
              </a:rPr>
              <a:t>，</a:t>
            </a:r>
            <a:r>
              <a:rPr kumimoji="1" lang="en-US" altLang="zh-CN" sz="3200" b="1" i="1">
                <a:solidFill>
                  <a:srgbClr val="000000"/>
                </a:solidFill>
                <a:latin typeface="Times New Roman" panose="02020603050405020304" pitchFamily="18" charset="0"/>
              </a:rPr>
              <a:t>q = 0.5</a:t>
            </a:r>
          </a:p>
        </p:txBody>
      </p:sp>
      <p:sp>
        <p:nvSpPr>
          <p:cNvPr id="35848" name="Text Box 8">
            <a:extLst>
              <a:ext uri="{FF2B5EF4-FFF2-40B4-BE49-F238E27FC236}">
                <a16:creationId xmlns:a16="http://schemas.microsoft.com/office/drawing/2014/main" id="{BA755A33-7A98-4F25-A668-C4FAF890D60E}"/>
              </a:ext>
            </a:extLst>
          </p:cNvPr>
          <p:cNvSpPr txBox="1">
            <a:spLocks noChangeArrowheads="1"/>
          </p:cNvSpPr>
          <p:nvPr/>
        </p:nvSpPr>
        <p:spPr bwMode="auto">
          <a:xfrm>
            <a:off x="172012" y="4575037"/>
            <a:ext cx="5473128" cy="17543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kumimoji="1" lang="zh-CN" altLang="en-US" sz="3200" b="1" dirty="0">
                <a:solidFill>
                  <a:srgbClr val="3333FF"/>
                </a:solidFill>
                <a:latin typeface="Times New Roman" panose="02020603050405020304" pitchFamily="18" charset="0"/>
                <a:ea typeface="楷体_GB2312" pitchFamily="49" charset="-122"/>
              </a:rPr>
              <a:t>轴间角：</a:t>
            </a:r>
            <a:r>
              <a:rPr kumimoji="1" lang="zh-CN" altLang="en-US" sz="3200" b="1" dirty="0">
                <a:solidFill>
                  <a:srgbClr val="3333FF"/>
                </a:solidFill>
                <a:latin typeface="Times New Roman" panose="02020603050405020304" pitchFamily="18" charset="0"/>
              </a:rPr>
              <a:t> </a:t>
            </a:r>
            <a:r>
              <a:rPr kumimoji="1" lang="zh-CN" altLang="en-US" sz="3600" b="1" i="1" dirty="0">
                <a:solidFill>
                  <a:srgbClr val="3333FF"/>
                </a:solidFill>
                <a:latin typeface="楷体_GB2312" pitchFamily="49" charset="-122"/>
                <a:ea typeface="楷体_GB2312" pitchFamily="49" charset="-122"/>
                <a:sym typeface="Symbol" panose="05050102010706020507" pitchFamily="18" charset="2"/>
              </a:rPr>
              <a:t> </a:t>
            </a:r>
            <a:r>
              <a:rPr kumimoji="1" lang="en-US" altLang="zh-CN" sz="3600" b="1" i="1" dirty="0">
                <a:solidFill>
                  <a:srgbClr val="3333FF"/>
                </a:solidFill>
                <a:latin typeface="楷体_GB2312" pitchFamily="49" charset="-122"/>
                <a:ea typeface="楷体_GB2312" pitchFamily="49" charset="-122"/>
                <a:sym typeface="Symbol" panose="05050102010706020507" pitchFamily="18" charset="2"/>
              </a:rPr>
              <a:t>X</a:t>
            </a:r>
            <a:r>
              <a:rPr kumimoji="1" lang="en-US" altLang="zh-CN" sz="3600" b="1" i="1" baseline="-20000" dirty="0">
                <a:solidFill>
                  <a:srgbClr val="3333FF"/>
                </a:solidFill>
                <a:latin typeface="楷体_GB2312" pitchFamily="49" charset="-122"/>
                <a:ea typeface="楷体_GB2312" pitchFamily="49" charset="-122"/>
                <a:sym typeface="Wingdings" panose="05000000000000000000" pitchFamily="2" charset="2"/>
              </a:rPr>
              <a:t>1</a:t>
            </a:r>
            <a:r>
              <a:rPr kumimoji="1" lang="en-US" altLang="zh-CN" sz="3600" b="1" i="1" dirty="0">
                <a:solidFill>
                  <a:srgbClr val="3333FF"/>
                </a:solidFill>
                <a:latin typeface="楷体_GB2312" pitchFamily="49" charset="-122"/>
                <a:ea typeface="楷体_GB2312" pitchFamily="49" charset="-122"/>
                <a:sym typeface="Symbol" panose="05050102010706020507" pitchFamily="18" charset="2"/>
              </a:rPr>
              <a:t>O</a:t>
            </a:r>
            <a:r>
              <a:rPr kumimoji="1" lang="en-US" altLang="zh-CN" sz="3600" b="1" i="1" baseline="-20000" dirty="0">
                <a:solidFill>
                  <a:srgbClr val="3333FF"/>
                </a:solidFill>
                <a:latin typeface="楷体_GB2312" pitchFamily="49" charset="-122"/>
                <a:ea typeface="楷体_GB2312" pitchFamily="49" charset="-122"/>
                <a:sym typeface="Wingdings" panose="05000000000000000000" pitchFamily="2" charset="2"/>
              </a:rPr>
              <a:t>1</a:t>
            </a:r>
            <a:r>
              <a:rPr kumimoji="1" lang="en-US" altLang="zh-CN" sz="3600" b="1" i="1" dirty="0">
                <a:solidFill>
                  <a:srgbClr val="3333FF"/>
                </a:solidFill>
                <a:latin typeface="楷体_GB2312" pitchFamily="49" charset="-122"/>
                <a:ea typeface="楷体_GB2312" pitchFamily="49" charset="-122"/>
                <a:sym typeface="Symbol" panose="05050102010706020507" pitchFamily="18" charset="2"/>
              </a:rPr>
              <a:t>Z</a:t>
            </a:r>
            <a:r>
              <a:rPr kumimoji="1" lang="en-US" altLang="zh-CN" sz="3600" b="1" i="1" baseline="-20000" dirty="0">
                <a:solidFill>
                  <a:srgbClr val="3333FF"/>
                </a:solidFill>
                <a:latin typeface="楷体_GB2312" pitchFamily="49" charset="-122"/>
                <a:ea typeface="楷体_GB2312" pitchFamily="49" charset="-122"/>
                <a:sym typeface="Wingdings" panose="05000000000000000000" pitchFamily="2" charset="2"/>
              </a:rPr>
              <a:t>1 </a:t>
            </a:r>
            <a:r>
              <a:rPr kumimoji="1" lang="en-US" altLang="zh-CN" sz="3600" b="1" i="1" dirty="0">
                <a:solidFill>
                  <a:srgbClr val="3333FF"/>
                </a:solidFill>
                <a:latin typeface="楷体_GB2312" pitchFamily="49" charset="-122"/>
                <a:ea typeface="楷体_GB2312" pitchFamily="49" charset="-122"/>
                <a:sym typeface="Wingdings" panose="05000000000000000000" pitchFamily="2" charset="2"/>
              </a:rPr>
              <a:t>= </a:t>
            </a:r>
            <a:r>
              <a:rPr kumimoji="1" lang="en-US" altLang="zh-CN" sz="3200" b="1" i="1" dirty="0">
                <a:solidFill>
                  <a:srgbClr val="3333FF"/>
                </a:solidFill>
                <a:latin typeface="楷体_GB2312" pitchFamily="49" charset="-122"/>
                <a:ea typeface="楷体_GB2312" pitchFamily="49" charset="-122"/>
                <a:sym typeface="Wingdings" panose="05000000000000000000" pitchFamily="2" charset="2"/>
              </a:rPr>
              <a:t>90°</a:t>
            </a:r>
            <a:endParaRPr kumimoji="1" lang="en-US" altLang="zh-CN" sz="3200" b="1" dirty="0">
              <a:solidFill>
                <a:srgbClr val="3333FF"/>
              </a:solidFill>
              <a:latin typeface="楷体_GB2312" pitchFamily="49" charset="-122"/>
              <a:ea typeface="楷体_GB2312" pitchFamily="49" charset="-122"/>
              <a:sym typeface="Wingdings" panose="05000000000000000000" pitchFamily="2" charset="2"/>
            </a:endParaRPr>
          </a:p>
          <a:p>
            <a:r>
              <a:rPr kumimoji="1" lang="en-US" altLang="zh-CN" sz="3200" b="1" dirty="0">
                <a:solidFill>
                  <a:srgbClr val="3333FF"/>
                </a:solidFill>
                <a:latin typeface="Times New Roman" panose="02020603050405020304" pitchFamily="18" charset="0"/>
                <a:sym typeface="Wingdings" panose="05000000000000000000" pitchFamily="2" charset="2"/>
              </a:rPr>
              <a:t>                 </a:t>
            </a:r>
            <a:r>
              <a:rPr kumimoji="1" lang="en-US" altLang="zh-CN" sz="3600" b="1" i="1" dirty="0">
                <a:solidFill>
                  <a:srgbClr val="3333FF"/>
                </a:solidFill>
                <a:latin typeface="楷体_GB2312" pitchFamily="49" charset="-122"/>
                <a:ea typeface="楷体_GB2312" pitchFamily="49" charset="-122"/>
                <a:sym typeface="Symbol" panose="05050102010706020507" pitchFamily="18" charset="2"/>
              </a:rPr>
              <a:t>X</a:t>
            </a:r>
            <a:r>
              <a:rPr kumimoji="1" lang="en-US" altLang="zh-CN" sz="3600" b="1" i="1" baseline="-20000" dirty="0">
                <a:solidFill>
                  <a:srgbClr val="3333FF"/>
                </a:solidFill>
                <a:latin typeface="楷体_GB2312" pitchFamily="49" charset="-122"/>
                <a:ea typeface="楷体_GB2312" pitchFamily="49" charset="-122"/>
                <a:sym typeface="Wingdings" panose="05000000000000000000" pitchFamily="2" charset="2"/>
              </a:rPr>
              <a:t>1</a:t>
            </a:r>
            <a:r>
              <a:rPr kumimoji="1" lang="en-US" altLang="zh-CN" sz="3600" b="1" i="1" dirty="0">
                <a:solidFill>
                  <a:srgbClr val="3333FF"/>
                </a:solidFill>
                <a:latin typeface="楷体_GB2312" pitchFamily="49" charset="-122"/>
                <a:ea typeface="楷体_GB2312" pitchFamily="49" charset="-122"/>
                <a:sym typeface="Symbol" panose="05050102010706020507" pitchFamily="18" charset="2"/>
              </a:rPr>
              <a:t>O</a:t>
            </a:r>
            <a:r>
              <a:rPr kumimoji="1" lang="en-US" altLang="zh-CN" sz="3600" b="1" i="1" baseline="-20000" dirty="0">
                <a:solidFill>
                  <a:srgbClr val="3333FF"/>
                </a:solidFill>
                <a:latin typeface="楷体_GB2312" pitchFamily="49" charset="-122"/>
                <a:ea typeface="楷体_GB2312" pitchFamily="49" charset="-122"/>
                <a:sym typeface="Wingdings" panose="05000000000000000000" pitchFamily="2" charset="2"/>
              </a:rPr>
              <a:t>1</a:t>
            </a:r>
            <a:r>
              <a:rPr kumimoji="1" lang="en-US" altLang="zh-CN" sz="3600" b="1" i="1" dirty="0">
                <a:solidFill>
                  <a:srgbClr val="3333FF"/>
                </a:solidFill>
                <a:latin typeface="楷体_GB2312" pitchFamily="49" charset="-122"/>
                <a:ea typeface="楷体_GB2312" pitchFamily="49" charset="-122"/>
                <a:sym typeface="Symbol" panose="05050102010706020507" pitchFamily="18" charset="2"/>
              </a:rPr>
              <a:t>Y</a:t>
            </a:r>
            <a:r>
              <a:rPr kumimoji="1" lang="en-US" altLang="zh-CN" sz="3600" b="1" i="1" baseline="-20000" dirty="0">
                <a:solidFill>
                  <a:srgbClr val="3333FF"/>
                </a:solidFill>
                <a:latin typeface="楷体_GB2312" pitchFamily="49" charset="-122"/>
                <a:ea typeface="楷体_GB2312" pitchFamily="49" charset="-122"/>
                <a:sym typeface="Wingdings" panose="05000000000000000000" pitchFamily="2" charset="2"/>
              </a:rPr>
              <a:t>1 </a:t>
            </a:r>
            <a:r>
              <a:rPr kumimoji="1" lang="en-US" altLang="zh-CN" sz="3600" b="1" i="1" dirty="0">
                <a:solidFill>
                  <a:srgbClr val="3333FF"/>
                </a:solidFill>
                <a:latin typeface="楷体_GB2312" pitchFamily="49" charset="-122"/>
                <a:ea typeface="楷体_GB2312" pitchFamily="49" charset="-122"/>
                <a:sym typeface="Symbol" panose="05050102010706020507" pitchFamily="18" charset="2"/>
              </a:rPr>
              <a:t>= </a:t>
            </a:r>
            <a:r>
              <a:rPr kumimoji="1" lang="en-US" altLang="zh-CN" sz="3200" b="1" i="1" dirty="0">
                <a:solidFill>
                  <a:srgbClr val="3333FF"/>
                </a:solidFill>
                <a:latin typeface="楷体_GB2312" pitchFamily="49" charset="-122"/>
                <a:ea typeface="楷体_GB2312" pitchFamily="49" charset="-122"/>
                <a:sym typeface="Wingdings" panose="05000000000000000000" pitchFamily="2" charset="2"/>
              </a:rPr>
              <a:t>135</a:t>
            </a:r>
            <a:r>
              <a:rPr kumimoji="1" lang="en-US" altLang="zh-CN" sz="3600" b="1" i="1" dirty="0">
                <a:solidFill>
                  <a:srgbClr val="3333FF"/>
                </a:solidFill>
                <a:latin typeface="楷体_GB2312" pitchFamily="49" charset="-122"/>
                <a:ea typeface="楷体_GB2312" pitchFamily="49" charset="-122"/>
                <a:sym typeface="Wingdings" panose="05000000000000000000" pitchFamily="2" charset="2"/>
              </a:rPr>
              <a:t>°</a:t>
            </a:r>
            <a:endParaRPr kumimoji="1" lang="en-US" altLang="zh-CN" sz="3600" b="1" i="1" dirty="0">
              <a:solidFill>
                <a:srgbClr val="3333FF"/>
              </a:solidFill>
              <a:latin typeface="楷体_GB2312" pitchFamily="49" charset="-122"/>
              <a:ea typeface="楷体_GB2312" pitchFamily="49" charset="-122"/>
              <a:sym typeface="Symbol" panose="05050102010706020507" pitchFamily="18" charset="2"/>
            </a:endParaRPr>
          </a:p>
          <a:p>
            <a:r>
              <a:rPr kumimoji="1" lang="en-US" altLang="zh-CN" sz="3600" b="1" i="1" dirty="0">
                <a:solidFill>
                  <a:srgbClr val="3333FF"/>
                </a:solidFill>
                <a:latin typeface="楷体_GB2312" pitchFamily="49" charset="-122"/>
                <a:ea typeface="楷体_GB2312" pitchFamily="49" charset="-122"/>
                <a:sym typeface="Symbol" panose="05050102010706020507" pitchFamily="18" charset="2"/>
              </a:rPr>
              <a:t>           </a:t>
            </a:r>
            <a:r>
              <a:rPr kumimoji="1" lang="en-US" altLang="zh-CN" sz="3600" b="1" i="1" dirty="0">
                <a:solidFill>
                  <a:srgbClr val="3333FF"/>
                </a:solidFill>
                <a:latin typeface="楷体_GB2312" pitchFamily="49" charset="-122"/>
                <a:ea typeface="楷体_GB2312" pitchFamily="49" charset="-122"/>
                <a:sym typeface="Wingdings" panose="05000000000000000000" pitchFamily="2" charset="2"/>
              </a:rPr>
              <a:t> Y</a:t>
            </a:r>
            <a:r>
              <a:rPr kumimoji="1" lang="en-US" altLang="zh-CN" sz="3600" b="1" i="1" baseline="-20000" dirty="0">
                <a:solidFill>
                  <a:srgbClr val="3333FF"/>
                </a:solidFill>
                <a:latin typeface="楷体_GB2312" pitchFamily="49" charset="-122"/>
                <a:ea typeface="楷体_GB2312" pitchFamily="49" charset="-122"/>
                <a:sym typeface="Wingdings" panose="05000000000000000000" pitchFamily="2" charset="2"/>
              </a:rPr>
              <a:t>1</a:t>
            </a:r>
            <a:r>
              <a:rPr kumimoji="1" lang="en-US" altLang="zh-CN" sz="3600" b="1" i="1" dirty="0">
                <a:solidFill>
                  <a:srgbClr val="3333FF"/>
                </a:solidFill>
                <a:latin typeface="楷体_GB2312" pitchFamily="49" charset="-122"/>
                <a:ea typeface="楷体_GB2312" pitchFamily="49" charset="-122"/>
                <a:sym typeface="Wingdings" panose="05000000000000000000" pitchFamily="2" charset="2"/>
              </a:rPr>
              <a:t>O</a:t>
            </a:r>
            <a:r>
              <a:rPr kumimoji="1" lang="en-US" altLang="zh-CN" sz="3600" b="1" i="1" baseline="-20000" dirty="0">
                <a:solidFill>
                  <a:srgbClr val="3333FF"/>
                </a:solidFill>
                <a:latin typeface="楷体_GB2312" pitchFamily="49" charset="-122"/>
                <a:ea typeface="楷体_GB2312" pitchFamily="49" charset="-122"/>
                <a:sym typeface="Wingdings" panose="05000000000000000000" pitchFamily="2" charset="2"/>
              </a:rPr>
              <a:t>1</a:t>
            </a:r>
            <a:r>
              <a:rPr kumimoji="1" lang="en-US" altLang="zh-CN" sz="3600" b="1" i="1" dirty="0">
                <a:solidFill>
                  <a:srgbClr val="3333FF"/>
                </a:solidFill>
                <a:latin typeface="楷体_GB2312" pitchFamily="49" charset="-122"/>
                <a:ea typeface="楷体_GB2312" pitchFamily="49" charset="-122"/>
                <a:sym typeface="Wingdings" panose="05000000000000000000" pitchFamily="2" charset="2"/>
              </a:rPr>
              <a:t>Z</a:t>
            </a:r>
            <a:r>
              <a:rPr kumimoji="1" lang="en-US" altLang="zh-CN" sz="3600" b="1" i="1" baseline="-20000" dirty="0">
                <a:solidFill>
                  <a:srgbClr val="3333FF"/>
                </a:solidFill>
                <a:latin typeface="楷体_GB2312" pitchFamily="49" charset="-122"/>
                <a:ea typeface="楷体_GB2312" pitchFamily="49" charset="-122"/>
                <a:sym typeface="Wingdings" panose="05000000000000000000" pitchFamily="2" charset="2"/>
              </a:rPr>
              <a:t>1 </a:t>
            </a:r>
            <a:r>
              <a:rPr kumimoji="1" lang="en-US" altLang="zh-CN" sz="3600" b="1" i="1" dirty="0">
                <a:solidFill>
                  <a:srgbClr val="3333FF"/>
                </a:solidFill>
                <a:latin typeface="楷体_GB2312" pitchFamily="49" charset="-122"/>
                <a:ea typeface="楷体_GB2312" pitchFamily="49" charset="-122"/>
                <a:sym typeface="Wingdings" panose="05000000000000000000" pitchFamily="2" charset="2"/>
              </a:rPr>
              <a:t>= </a:t>
            </a:r>
            <a:r>
              <a:rPr kumimoji="1" lang="en-US" altLang="zh-CN" sz="3200" b="1" i="1" dirty="0">
                <a:solidFill>
                  <a:srgbClr val="3333FF"/>
                </a:solidFill>
                <a:latin typeface="楷体_GB2312" pitchFamily="49" charset="-122"/>
                <a:ea typeface="楷体_GB2312" pitchFamily="49" charset="-122"/>
                <a:sym typeface="Wingdings" panose="05000000000000000000" pitchFamily="2" charset="2"/>
              </a:rPr>
              <a:t>135°</a:t>
            </a:r>
            <a:endParaRPr kumimoji="1" lang="en-US" altLang="zh-CN" sz="3200" b="1" dirty="0">
              <a:solidFill>
                <a:srgbClr val="3333FF"/>
              </a:solidFill>
              <a:latin typeface="楷体_GB2312" pitchFamily="49" charset="-122"/>
              <a:ea typeface="楷体_GB2312" pitchFamily="49" charset="-122"/>
              <a:sym typeface="Wingdings" panose="05000000000000000000" pitchFamily="2" charset="2"/>
            </a:endParaRPr>
          </a:p>
        </p:txBody>
      </p:sp>
      <p:sp>
        <p:nvSpPr>
          <p:cNvPr id="35852" name="AutoShape 12">
            <a:hlinkClick r:id="rId5" action="ppaction://hlinksldjump" highlightClick="1"/>
            <a:extLst>
              <a:ext uri="{FF2B5EF4-FFF2-40B4-BE49-F238E27FC236}">
                <a16:creationId xmlns:a16="http://schemas.microsoft.com/office/drawing/2014/main" id="{F839E900-63A9-471F-BEA4-BD47FCF92638}"/>
              </a:ext>
            </a:extLst>
          </p:cNvPr>
          <p:cNvSpPr>
            <a:spLocks noChangeArrowheads="1"/>
          </p:cNvSpPr>
          <p:nvPr/>
        </p:nvSpPr>
        <p:spPr bwMode="auto">
          <a:xfrm>
            <a:off x="8243888" y="6381750"/>
            <a:ext cx="900112" cy="47625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5844"/>
                                        </p:tgtEl>
                                        <p:attrNameLst>
                                          <p:attrName>style.visibility</p:attrName>
                                        </p:attrNameLst>
                                      </p:cBhvr>
                                      <p:to>
                                        <p:strVal val="visible"/>
                                      </p:to>
                                    </p:set>
                                    <p:anim calcmode="lin" valueType="num">
                                      <p:cBhvr>
                                        <p:cTn id="7" dur="500" fill="hold"/>
                                        <p:tgtEl>
                                          <p:spTgt spid="35844"/>
                                        </p:tgtEl>
                                        <p:attrNameLst>
                                          <p:attrName>ppt_w</p:attrName>
                                        </p:attrNameLst>
                                      </p:cBhvr>
                                      <p:tavLst>
                                        <p:tav tm="0">
                                          <p:val>
                                            <p:fltVal val="0"/>
                                          </p:val>
                                        </p:tav>
                                        <p:tav tm="100000">
                                          <p:val>
                                            <p:strVal val="#ppt_w"/>
                                          </p:val>
                                        </p:tav>
                                      </p:tavLst>
                                    </p:anim>
                                    <p:anim calcmode="lin" valueType="num">
                                      <p:cBhvr>
                                        <p:cTn id="8" dur="500" fill="hold"/>
                                        <p:tgtEl>
                                          <p:spTgt spid="35844"/>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nodeType="clickEffect">
                                  <p:stCondLst>
                                    <p:cond delay="0"/>
                                  </p:stCondLst>
                                  <p:childTnLst>
                                    <p:set>
                                      <p:cBhvr>
                                        <p:cTn id="12" dur="1" fill="hold">
                                          <p:stCondLst>
                                            <p:cond delay="0"/>
                                          </p:stCondLst>
                                        </p:cTn>
                                        <p:tgtEl>
                                          <p:spTgt spid="35845"/>
                                        </p:tgtEl>
                                        <p:attrNameLst>
                                          <p:attrName>style.visibility</p:attrName>
                                        </p:attrNameLst>
                                      </p:cBhvr>
                                      <p:to>
                                        <p:strVal val="visible"/>
                                      </p:to>
                                    </p:set>
                                    <p:anim calcmode="lin" valueType="num">
                                      <p:cBhvr>
                                        <p:cTn id="13" dur="500" fill="hold"/>
                                        <p:tgtEl>
                                          <p:spTgt spid="35845"/>
                                        </p:tgtEl>
                                        <p:attrNameLst>
                                          <p:attrName>ppt_w</p:attrName>
                                        </p:attrNameLst>
                                      </p:cBhvr>
                                      <p:tavLst>
                                        <p:tav tm="0">
                                          <p:val>
                                            <p:fltVal val="0"/>
                                          </p:val>
                                        </p:tav>
                                        <p:tav tm="100000">
                                          <p:val>
                                            <p:strVal val="#ppt_w"/>
                                          </p:val>
                                        </p:tav>
                                      </p:tavLst>
                                    </p:anim>
                                    <p:anim calcmode="lin" valueType="num">
                                      <p:cBhvr>
                                        <p:cTn id="14" dur="500" fill="hold"/>
                                        <p:tgtEl>
                                          <p:spTgt spid="35845"/>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35847"/>
                                        </p:tgtEl>
                                        <p:attrNameLst>
                                          <p:attrName>style.visibility</p:attrName>
                                        </p:attrNameLst>
                                      </p:cBhvr>
                                      <p:to>
                                        <p:strVal val="visible"/>
                                      </p:to>
                                    </p:set>
                                    <p:animEffect transition="in" filter="wipe(left)">
                                      <p:cBhvr>
                                        <p:cTn id="19" dur="500"/>
                                        <p:tgtEl>
                                          <p:spTgt spid="3584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5848"/>
                                        </p:tgtEl>
                                        <p:attrNameLst>
                                          <p:attrName>style.visibility</p:attrName>
                                        </p:attrNameLst>
                                      </p:cBhvr>
                                      <p:to>
                                        <p:strVal val="visible"/>
                                      </p:to>
                                    </p:set>
                                    <p:animEffect transition="in" filter="wipe(left)">
                                      <p:cBhvr>
                                        <p:cTn id="24" dur="500"/>
                                        <p:tgtEl>
                                          <p:spTgt spid="358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p:bldP spid="35847" grpId="0"/>
      <p:bldP spid="3584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890" name="Object 2">
            <a:extLst>
              <a:ext uri="{FF2B5EF4-FFF2-40B4-BE49-F238E27FC236}">
                <a16:creationId xmlns:a16="http://schemas.microsoft.com/office/drawing/2014/main" id="{0D0BD321-CE96-4C5A-AD52-B7A226132E19}"/>
              </a:ext>
            </a:extLst>
          </p:cNvPr>
          <p:cNvGraphicFramePr>
            <a:graphicFrameLocks noChangeAspect="1"/>
          </p:cNvGraphicFramePr>
          <p:nvPr/>
        </p:nvGraphicFramePr>
        <p:xfrm>
          <a:off x="250825" y="1196975"/>
          <a:ext cx="3816350" cy="3565525"/>
        </p:xfrm>
        <a:graphic>
          <a:graphicData uri="http://schemas.openxmlformats.org/presentationml/2006/ole">
            <mc:AlternateContent xmlns:mc="http://schemas.openxmlformats.org/markup-compatibility/2006">
              <mc:Choice xmlns:v="urn:schemas-microsoft-com:vml" Requires="v">
                <p:oleObj spid="_x0000_s37910" name="Image" r:id="rId3" imgW="4295094" imgH="4015531" progId="Photoshop.Image.4">
                  <p:embed/>
                </p:oleObj>
              </mc:Choice>
              <mc:Fallback>
                <p:oleObj name="Image" r:id="rId3" imgW="4295094" imgH="4015531" progId="Photoshop.Image.4">
                  <p:embed/>
                  <p:pic>
                    <p:nvPicPr>
                      <p:cNvPr id="37890" name="Object 2">
                        <a:extLst>
                          <a:ext uri="{FF2B5EF4-FFF2-40B4-BE49-F238E27FC236}">
                            <a16:creationId xmlns:a16="http://schemas.microsoft.com/office/drawing/2014/main" id="{0D0BD321-CE96-4C5A-AD52-B7A226132E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1196975"/>
                        <a:ext cx="3816350" cy="356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891" name="Text Box 3">
            <a:extLst>
              <a:ext uri="{FF2B5EF4-FFF2-40B4-BE49-F238E27FC236}">
                <a16:creationId xmlns:a16="http://schemas.microsoft.com/office/drawing/2014/main" id="{31F38AB7-DE00-4491-94DD-D3587F6466B3}"/>
              </a:ext>
            </a:extLst>
          </p:cNvPr>
          <p:cNvSpPr txBox="1">
            <a:spLocks noChangeArrowheads="1"/>
          </p:cNvSpPr>
          <p:nvPr/>
        </p:nvSpPr>
        <p:spPr bwMode="auto">
          <a:xfrm>
            <a:off x="-36513" y="496888"/>
            <a:ext cx="9145588"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kumimoji="1" lang="en-US" altLang="zh-CN" sz="3200" b="1">
                <a:solidFill>
                  <a:srgbClr val="3333FF"/>
                </a:solidFill>
                <a:latin typeface="楷体_GB2312" pitchFamily="49" charset="-122"/>
                <a:ea typeface="楷体_GB2312" pitchFamily="49" charset="-122"/>
              </a:rPr>
              <a:t> </a:t>
            </a:r>
            <a:r>
              <a:rPr kumimoji="1" lang="zh-CN" altLang="en-US" sz="3200" b="1">
                <a:solidFill>
                  <a:srgbClr val="000000"/>
                </a:solidFill>
                <a:latin typeface="楷体_GB2312" pitchFamily="49" charset="-122"/>
                <a:ea typeface="楷体_GB2312" pitchFamily="49" charset="-122"/>
              </a:rPr>
              <a:t>斜二等轴测图中平行于各坐标面的圆的轴测投影</a:t>
            </a:r>
          </a:p>
        </p:txBody>
      </p:sp>
      <p:sp>
        <p:nvSpPr>
          <p:cNvPr id="37892" name="Text Box 4">
            <a:extLst>
              <a:ext uri="{FF2B5EF4-FFF2-40B4-BE49-F238E27FC236}">
                <a16:creationId xmlns:a16="http://schemas.microsoft.com/office/drawing/2014/main" id="{6F2AE1A7-2D5C-40A1-9BE7-AE0F5B878015}"/>
              </a:ext>
            </a:extLst>
          </p:cNvPr>
          <p:cNvSpPr txBox="1">
            <a:spLocks noChangeArrowheads="1"/>
          </p:cNvSpPr>
          <p:nvPr/>
        </p:nvSpPr>
        <p:spPr bwMode="auto">
          <a:xfrm>
            <a:off x="4140200" y="1557338"/>
            <a:ext cx="4686300"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kumimoji="1" lang="en-US" altLang="zh-CN" sz="2800" b="1">
                <a:solidFill>
                  <a:srgbClr val="3333FF"/>
                </a:solidFill>
                <a:latin typeface="楷体_GB2312" pitchFamily="49" charset="-122"/>
                <a:ea typeface="楷体_GB2312" pitchFamily="49" charset="-122"/>
              </a:rPr>
              <a:t>1)</a:t>
            </a:r>
            <a:r>
              <a:rPr kumimoji="1" lang="zh-CN" altLang="en-US" sz="2800" b="1">
                <a:solidFill>
                  <a:srgbClr val="3333FF"/>
                </a:solidFill>
                <a:latin typeface="楷体_GB2312" pitchFamily="49" charset="-122"/>
                <a:ea typeface="楷体_GB2312" pitchFamily="49" charset="-122"/>
              </a:rPr>
              <a:t>平行于</a:t>
            </a:r>
            <a:r>
              <a:rPr kumimoji="1" lang="en-US" altLang="zh-CN" sz="2800" b="1" i="1">
                <a:solidFill>
                  <a:srgbClr val="3333FF"/>
                </a:solidFill>
                <a:latin typeface="楷体_GB2312" pitchFamily="49" charset="-122"/>
                <a:ea typeface="楷体_GB2312" pitchFamily="49" charset="-122"/>
              </a:rPr>
              <a:t>V</a:t>
            </a:r>
            <a:r>
              <a:rPr kumimoji="1" lang="zh-CN" altLang="en-US" sz="2800" b="1">
                <a:solidFill>
                  <a:srgbClr val="3333FF"/>
                </a:solidFill>
                <a:latin typeface="楷体_GB2312" pitchFamily="49" charset="-122"/>
                <a:ea typeface="楷体_GB2312" pitchFamily="49" charset="-122"/>
              </a:rPr>
              <a:t>面的圆仍为圆，</a:t>
            </a:r>
          </a:p>
          <a:p>
            <a:r>
              <a:rPr kumimoji="1" lang="zh-CN" altLang="en-US" sz="2800" b="1">
                <a:solidFill>
                  <a:srgbClr val="3333FF"/>
                </a:solidFill>
                <a:latin typeface="楷体_GB2312" pitchFamily="49" charset="-122"/>
                <a:ea typeface="楷体_GB2312" pitchFamily="49" charset="-122"/>
              </a:rPr>
              <a:t>  反映实形。</a:t>
            </a:r>
          </a:p>
        </p:txBody>
      </p:sp>
      <p:sp>
        <p:nvSpPr>
          <p:cNvPr id="37893" name="Text Box 5">
            <a:extLst>
              <a:ext uri="{FF2B5EF4-FFF2-40B4-BE49-F238E27FC236}">
                <a16:creationId xmlns:a16="http://schemas.microsoft.com/office/drawing/2014/main" id="{7543DF43-775D-4AA5-BDA8-B43AD3B13231}"/>
              </a:ext>
            </a:extLst>
          </p:cNvPr>
          <p:cNvSpPr txBox="1">
            <a:spLocks noChangeArrowheads="1"/>
          </p:cNvSpPr>
          <p:nvPr/>
        </p:nvSpPr>
        <p:spPr bwMode="auto">
          <a:xfrm>
            <a:off x="4140200" y="2781300"/>
            <a:ext cx="4611688" cy="1373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kumimoji="1" lang="en-US" altLang="zh-CN" sz="2800" b="1" dirty="0">
                <a:solidFill>
                  <a:srgbClr val="3333FF"/>
                </a:solidFill>
                <a:latin typeface="楷体_GB2312" pitchFamily="49" charset="-122"/>
                <a:ea typeface="楷体_GB2312" pitchFamily="49" charset="-122"/>
              </a:rPr>
              <a:t>2)</a:t>
            </a:r>
            <a:r>
              <a:rPr kumimoji="1" lang="zh-CN" altLang="en-US" sz="2800" b="1" dirty="0">
                <a:solidFill>
                  <a:srgbClr val="3333FF"/>
                </a:solidFill>
                <a:latin typeface="楷体_GB2312" pitchFamily="49" charset="-122"/>
                <a:ea typeface="楷体_GB2312" pitchFamily="49" charset="-122"/>
              </a:rPr>
              <a:t>平行于</a:t>
            </a:r>
            <a:r>
              <a:rPr kumimoji="1" lang="en-US" altLang="zh-CN" sz="2800" b="1" dirty="0">
                <a:solidFill>
                  <a:srgbClr val="3333FF"/>
                </a:solidFill>
                <a:latin typeface="楷体_GB2312" pitchFamily="49" charset="-122"/>
                <a:ea typeface="楷体_GB2312" pitchFamily="49" charset="-122"/>
              </a:rPr>
              <a:t>W</a:t>
            </a:r>
            <a:r>
              <a:rPr kumimoji="1" lang="zh-CN" altLang="en-US" sz="2800" b="1" dirty="0">
                <a:solidFill>
                  <a:srgbClr val="3333FF"/>
                </a:solidFill>
                <a:latin typeface="楷体_GB2312" pitchFamily="49" charset="-122"/>
                <a:ea typeface="楷体_GB2312" pitchFamily="49" charset="-122"/>
              </a:rPr>
              <a:t>面的圆与平行于</a:t>
            </a:r>
            <a:r>
              <a:rPr kumimoji="1" lang="en-US" altLang="zh-CN" sz="2800" b="1" dirty="0">
                <a:solidFill>
                  <a:srgbClr val="3333FF"/>
                </a:solidFill>
                <a:latin typeface="楷体_GB2312" pitchFamily="49" charset="-122"/>
                <a:ea typeface="楷体_GB2312" pitchFamily="49" charset="-122"/>
              </a:rPr>
              <a:t>H</a:t>
            </a:r>
            <a:r>
              <a:rPr kumimoji="1" lang="zh-CN" altLang="en-US" sz="2800" b="1" dirty="0">
                <a:solidFill>
                  <a:srgbClr val="3333FF"/>
                </a:solidFill>
                <a:latin typeface="楷体_GB2312" pitchFamily="49" charset="-122"/>
                <a:ea typeface="楷体_GB2312" pitchFamily="49" charset="-122"/>
              </a:rPr>
              <a:t>面的圆为椭圆，形状相同</a:t>
            </a:r>
          </a:p>
          <a:p>
            <a:r>
              <a:rPr kumimoji="1" lang="zh-CN" altLang="en-US" sz="2800" b="1" dirty="0">
                <a:solidFill>
                  <a:srgbClr val="3333FF"/>
                </a:solidFill>
                <a:latin typeface="楷体_GB2312" pitchFamily="49" charset="-122"/>
                <a:ea typeface="楷体_GB2312" pitchFamily="49" charset="-122"/>
              </a:rPr>
              <a:t>   </a:t>
            </a:r>
          </a:p>
        </p:txBody>
      </p:sp>
      <p:sp>
        <p:nvSpPr>
          <p:cNvPr id="37895" name="Text Box 7">
            <a:extLst>
              <a:ext uri="{FF2B5EF4-FFF2-40B4-BE49-F238E27FC236}">
                <a16:creationId xmlns:a16="http://schemas.microsoft.com/office/drawing/2014/main" id="{7F7CDDE8-A962-431B-AB27-94CB86D0D5EE}"/>
              </a:ext>
            </a:extLst>
          </p:cNvPr>
          <p:cNvSpPr txBox="1">
            <a:spLocks noChangeArrowheads="1"/>
          </p:cNvSpPr>
          <p:nvPr/>
        </p:nvSpPr>
        <p:spPr bwMode="auto">
          <a:xfrm>
            <a:off x="971550" y="5084763"/>
            <a:ext cx="7213600"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kumimoji="1" lang="zh-CN" altLang="en-US" sz="2800" b="1">
                <a:solidFill>
                  <a:srgbClr val="3333FF"/>
                </a:solidFill>
                <a:latin typeface="楷体_GB2312" pitchFamily="49" charset="-122"/>
                <a:ea typeface="楷体_GB2312" pitchFamily="49" charset="-122"/>
              </a:rPr>
              <a:t>斜二轴测图的优点：</a:t>
            </a:r>
          </a:p>
          <a:p>
            <a:r>
              <a:rPr kumimoji="1" lang="zh-CN" altLang="en-US" sz="2800" b="1">
                <a:solidFill>
                  <a:srgbClr val="3333FF"/>
                </a:solidFill>
                <a:latin typeface="楷体_GB2312" pitchFamily="49" charset="-122"/>
                <a:ea typeface="楷体_GB2312" pitchFamily="49" charset="-122"/>
              </a:rPr>
              <a:t>    </a:t>
            </a:r>
            <a:r>
              <a:rPr kumimoji="1" lang="zh-CN" altLang="en-US" sz="2800" b="1">
                <a:solidFill>
                  <a:srgbClr val="000000"/>
                </a:solidFill>
                <a:latin typeface="楷体_GB2312" pitchFamily="49" charset="-122"/>
                <a:ea typeface="楷体_GB2312" pitchFamily="49" charset="-122"/>
              </a:rPr>
              <a:t>物体上凡平行于</a:t>
            </a:r>
            <a:r>
              <a:rPr kumimoji="1" lang="en-US" altLang="zh-CN" sz="2800" b="1" i="1">
                <a:solidFill>
                  <a:srgbClr val="000000"/>
                </a:solidFill>
                <a:latin typeface="楷体_GB2312" pitchFamily="49" charset="-122"/>
                <a:ea typeface="楷体_GB2312" pitchFamily="49" charset="-122"/>
              </a:rPr>
              <a:t>V</a:t>
            </a:r>
            <a:r>
              <a:rPr kumimoji="1" lang="zh-CN" altLang="en-US" sz="2800" b="1">
                <a:solidFill>
                  <a:srgbClr val="000000"/>
                </a:solidFill>
                <a:latin typeface="楷体_GB2312" pitchFamily="49" charset="-122"/>
                <a:ea typeface="楷体_GB2312" pitchFamily="49" charset="-122"/>
              </a:rPr>
              <a:t>面的平面都反映实形。</a:t>
            </a:r>
          </a:p>
        </p:txBody>
      </p:sp>
      <p:sp>
        <p:nvSpPr>
          <p:cNvPr id="37899" name="AutoShape 11">
            <a:hlinkClick r:id="rId5" action="ppaction://hlinksldjump" highlightClick="1"/>
            <a:extLst>
              <a:ext uri="{FF2B5EF4-FFF2-40B4-BE49-F238E27FC236}">
                <a16:creationId xmlns:a16="http://schemas.microsoft.com/office/drawing/2014/main" id="{4F05E4BB-8E2E-45A1-BC6B-E4928C5C3FF8}"/>
              </a:ext>
            </a:extLst>
          </p:cNvPr>
          <p:cNvSpPr>
            <a:spLocks noChangeArrowheads="1"/>
          </p:cNvSpPr>
          <p:nvPr/>
        </p:nvSpPr>
        <p:spPr bwMode="auto">
          <a:xfrm>
            <a:off x="8316913" y="6381750"/>
            <a:ext cx="827087" cy="476250"/>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891"/>
                                        </p:tgtEl>
                                        <p:attrNameLst>
                                          <p:attrName>style.visibility</p:attrName>
                                        </p:attrNameLst>
                                      </p:cBhvr>
                                      <p:to>
                                        <p:strVal val="visible"/>
                                      </p:to>
                                    </p:set>
                                    <p:animEffect transition="in" filter="wipe(left)">
                                      <p:cBhvr>
                                        <p:cTn id="7" dur="500"/>
                                        <p:tgtEl>
                                          <p:spTgt spid="378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nodeType="clickEffect">
                                  <p:stCondLst>
                                    <p:cond delay="0"/>
                                  </p:stCondLst>
                                  <p:childTnLst>
                                    <p:set>
                                      <p:cBhvr>
                                        <p:cTn id="11" dur="1" fill="hold">
                                          <p:stCondLst>
                                            <p:cond delay="0"/>
                                          </p:stCondLst>
                                        </p:cTn>
                                        <p:tgtEl>
                                          <p:spTgt spid="37890"/>
                                        </p:tgtEl>
                                        <p:attrNameLst>
                                          <p:attrName>style.visibility</p:attrName>
                                        </p:attrNameLst>
                                      </p:cBhvr>
                                      <p:to>
                                        <p:strVal val="visible"/>
                                      </p:to>
                                    </p:set>
                                    <p:anim calcmode="lin" valueType="num">
                                      <p:cBhvr>
                                        <p:cTn id="12" dur="500" fill="hold"/>
                                        <p:tgtEl>
                                          <p:spTgt spid="37890"/>
                                        </p:tgtEl>
                                        <p:attrNameLst>
                                          <p:attrName>ppt_w</p:attrName>
                                        </p:attrNameLst>
                                      </p:cBhvr>
                                      <p:tavLst>
                                        <p:tav tm="0">
                                          <p:val>
                                            <p:fltVal val="0"/>
                                          </p:val>
                                        </p:tav>
                                        <p:tav tm="100000">
                                          <p:val>
                                            <p:strVal val="#ppt_w"/>
                                          </p:val>
                                        </p:tav>
                                      </p:tavLst>
                                    </p:anim>
                                    <p:anim calcmode="lin" valueType="num">
                                      <p:cBhvr>
                                        <p:cTn id="13" dur="500" fill="hold"/>
                                        <p:tgtEl>
                                          <p:spTgt spid="37890"/>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7892">
                                            <p:txEl>
                                              <p:pRg st="0" end="0"/>
                                            </p:txEl>
                                          </p:spTgt>
                                        </p:tgtEl>
                                        <p:attrNameLst>
                                          <p:attrName>style.visibility</p:attrName>
                                        </p:attrNameLst>
                                      </p:cBhvr>
                                      <p:to>
                                        <p:strVal val="visible"/>
                                      </p:to>
                                    </p:set>
                                    <p:animEffect transition="in" filter="wipe(left)">
                                      <p:cBhvr>
                                        <p:cTn id="18" dur="500"/>
                                        <p:tgtEl>
                                          <p:spTgt spid="37892">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7892">
                                            <p:txEl>
                                              <p:pRg st="1" end="1"/>
                                            </p:txEl>
                                          </p:spTgt>
                                        </p:tgtEl>
                                        <p:attrNameLst>
                                          <p:attrName>style.visibility</p:attrName>
                                        </p:attrNameLst>
                                      </p:cBhvr>
                                      <p:to>
                                        <p:strVal val="visible"/>
                                      </p:to>
                                    </p:set>
                                    <p:animEffect transition="in" filter="wipe(left)">
                                      <p:cBhvr>
                                        <p:cTn id="23" dur="500"/>
                                        <p:tgtEl>
                                          <p:spTgt spid="37892">
                                            <p:txEl>
                                              <p:pRg st="1" end="1"/>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7893">
                                            <p:txEl>
                                              <p:pRg st="0" end="0"/>
                                            </p:txEl>
                                          </p:spTgt>
                                        </p:tgtEl>
                                        <p:attrNameLst>
                                          <p:attrName>style.visibility</p:attrName>
                                        </p:attrNameLst>
                                      </p:cBhvr>
                                      <p:to>
                                        <p:strVal val="visible"/>
                                      </p:to>
                                    </p:set>
                                    <p:animEffect transition="in" filter="wipe(left)">
                                      <p:cBhvr>
                                        <p:cTn id="28" dur="500"/>
                                        <p:tgtEl>
                                          <p:spTgt spid="37893">
                                            <p:txEl>
                                              <p:pRg st="0" end="0"/>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7893">
                                            <p:txEl>
                                              <p:pRg st="1" end="1"/>
                                            </p:txEl>
                                          </p:spTgt>
                                        </p:tgtEl>
                                        <p:attrNameLst>
                                          <p:attrName>style.visibility</p:attrName>
                                        </p:attrNameLst>
                                      </p:cBhvr>
                                      <p:to>
                                        <p:strVal val="visible"/>
                                      </p:to>
                                    </p:set>
                                    <p:animEffect transition="in" filter="wipe(left)">
                                      <p:cBhvr>
                                        <p:cTn id="33" dur="500"/>
                                        <p:tgtEl>
                                          <p:spTgt spid="37893">
                                            <p:txEl>
                                              <p:pRg st="1" end="1"/>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37895">
                                            <p:txEl>
                                              <p:pRg st="0" end="0"/>
                                            </p:txEl>
                                          </p:spTgt>
                                        </p:tgtEl>
                                        <p:attrNameLst>
                                          <p:attrName>style.visibility</p:attrName>
                                        </p:attrNameLst>
                                      </p:cBhvr>
                                      <p:to>
                                        <p:strVal val="visible"/>
                                      </p:to>
                                    </p:set>
                                    <p:animEffect transition="in" filter="checkerboard(across)">
                                      <p:cBhvr>
                                        <p:cTn id="38" dur="500"/>
                                        <p:tgtEl>
                                          <p:spTgt spid="37895">
                                            <p:txEl>
                                              <p:pRg st="0" end="0"/>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 presetClass="entr" presetSubtype="10" fill="hold" grpId="0" nodeType="clickEffect">
                                  <p:stCondLst>
                                    <p:cond delay="0"/>
                                  </p:stCondLst>
                                  <p:childTnLst>
                                    <p:set>
                                      <p:cBhvr>
                                        <p:cTn id="42" dur="1" fill="hold">
                                          <p:stCondLst>
                                            <p:cond delay="0"/>
                                          </p:stCondLst>
                                        </p:cTn>
                                        <p:tgtEl>
                                          <p:spTgt spid="37895">
                                            <p:txEl>
                                              <p:pRg st="1" end="1"/>
                                            </p:txEl>
                                          </p:spTgt>
                                        </p:tgtEl>
                                        <p:attrNameLst>
                                          <p:attrName>style.visibility</p:attrName>
                                        </p:attrNameLst>
                                      </p:cBhvr>
                                      <p:to>
                                        <p:strVal val="visible"/>
                                      </p:to>
                                    </p:set>
                                    <p:animEffect transition="in" filter="checkerboard(across)">
                                      <p:cBhvr>
                                        <p:cTn id="43" dur="500"/>
                                        <p:tgtEl>
                                          <p:spTgt spid="3789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p:bldP spid="37892" grpId="0" build="p" autoUpdateAnimBg="0"/>
      <p:bldP spid="37893" grpId="0" build="p" autoUpdateAnimBg="0"/>
      <p:bldP spid="37895"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Text Box 3">
            <a:extLst>
              <a:ext uri="{FF2B5EF4-FFF2-40B4-BE49-F238E27FC236}">
                <a16:creationId xmlns:a16="http://schemas.microsoft.com/office/drawing/2014/main" id="{AAA4C283-191D-4786-88B7-33D9F73C4948}"/>
              </a:ext>
            </a:extLst>
          </p:cNvPr>
          <p:cNvSpPr txBox="1">
            <a:spLocks noChangeArrowheads="1"/>
          </p:cNvSpPr>
          <p:nvPr/>
        </p:nvSpPr>
        <p:spPr bwMode="auto">
          <a:xfrm>
            <a:off x="0" y="533400"/>
            <a:ext cx="60817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latin typeface="宋体" panose="02010600030101010101" pitchFamily="2" charset="-122"/>
              </a:rPr>
              <a:t>［例１］画出如图所示物体的斜二轴测图。</a:t>
            </a:r>
            <a:r>
              <a:rPr kumimoji="1" lang="zh-CN" altLang="en-US" sz="2400">
                <a:latin typeface="Times New Roman" panose="02020603050405020304" pitchFamily="18" charset="0"/>
              </a:rPr>
              <a:t> </a:t>
            </a:r>
          </a:p>
        </p:txBody>
      </p:sp>
      <p:graphicFrame>
        <p:nvGraphicFramePr>
          <p:cNvPr id="79876" name="Object 4">
            <a:extLst>
              <a:ext uri="{FF2B5EF4-FFF2-40B4-BE49-F238E27FC236}">
                <a16:creationId xmlns:a16="http://schemas.microsoft.com/office/drawing/2014/main" id="{8C26319D-6141-4C82-B9F4-183296FF53B1}"/>
              </a:ext>
            </a:extLst>
          </p:cNvPr>
          <p:cNvGraphicFramePr>
            <a:graphicFrameLocks noChangeAspect="1"/>
          </p:cNvGraphicFramePr>
          <p:nvPr>
            <p:extLst>
              <p:ext uri="{D42A27DB-BD31-4B8C-83A1-F6EECF244321}">
                <p14:modId xmlns:p14="http://schemas.microsoft.com/office/powerpoint/2010/main" val="2734577801"/>
              </p:ext>
            </p:extLst>
          </p:nvPr>
        </p:nvGraphicFramePr>
        <p:xfrm>
          <a:off x="6095109" y="605631"/>
          <a:ext cx="2971800" cy="2865438"/>
        </p:xfrm>
        <a:graphic>
          <a:graphicData uri="http://schemas.openxmlformats.org/presentationml/2006/ole">
            <mc:AlternateContent xmlns:mc="http://schemas.openxmlformats.org/markup-compatibility/2006">
              <mc:Choice xmlns:v="urn:schemas-microsoft-com:vml" Requires="v">
                <p:oleObj spid="_x0000_s38954" name="位图图像" r:id="rId3" imgW="4229690" imgH="4076190" progId="Paint.Picture">
                  <p:embed/>
                </p:oleObj>
              </mc:Choice>
              <mc:Fallback>
                <p:oleObj name="位图图像" r:id="rId3" imgW="4229690" imgH="4076190" progId="Paint.Picture">
                  <p:embed/>
                  <p:pic>
                    <p:nvPicPr>
                      <p:cNvPr id="79876" name="Object 4">
                        <a:extLst>
                          <a:ext uri="{FF2B5EF4-FFF2-40B4-BE49-F238E27FC236}">
                            <a16:creationId xmlns:a16="http://schemas.microsoft.com/office/drawing/2014/main" id="{8C26319D-6141-4C82-B9F4-183296FF53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5109" y="605631"/>
                        <a:ext cx="2971800" cy="2865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79877" name="Picture 5">
            <a:extLst>
              <a:ext uri="{FF2B5EF4-FFF2-40B4-BE49-F238E27FC236}">
                <a16:creationId xmlns:a16="http://schemas.microsoft.com/office/drawing/2014/main" id="{FC9448A4-EC16-448C-A4AB-59D97397B8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 y="1143000"/>
            <a:ext cx="1733550" cy="179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79878" name="Object 6">
            <a:extLst>
              <a:ext uri="{FF2B5EF4-FFF2-40B4-BE49-F238E27FC236}">
                <a16:creationId xmlns:a16="http://schemas.microsoft.com/office/drawing/2014/main" id="{D43D9871-6606-45BB-BAC5-33C6AFC57C72}"/>
              </a:ext>
            </a:extLst>
          </p:cNvPr>
          <p:cNvGraphicFramePr>
            <a:graphicFrameLocks noChangeAspect="1"/>
          </p:cNvGraphicFramePr>
          <p:nvPr/>
        </p:nvGraphicFramePr>
        <p:xfrm>
          <a:off x="3352800" y="990600"/>
          <a:ext cx="2438400" cy="2179638"/>
        </p:xfrm>
        <a:graphic>
          <a:graphicData uri="http://schemas.openxmlformats.org/presentationml/2006/ole">
            <mc:AlternateContent xmlns:mc="http://schemas.openxmlformats.org/markup-compatibility/2006">
              <mc:Choice xmlns:v="urn:schemas-microsoft-com:vml" Requires="v">
                <p:oleObj spid="_x0000_s38955" name="位图图像" r:id="rId6" imgW="3057143" imgH="2734057" progId="Paint.Picture">
                  <p:embed/>
                </p:oleObj>
              </mc:Choice>
              <mc:Fallback>
                <p:oleObj name="位图图像" r:id="rId6" imgW="3057143" imgH="2734057" progId="Paint.Picture">
                  <p:embed/>
                  <p:pic>
                    <p:nvPicPr>
                      <p:cNvPr id="79878" name="Object 6">
                        <a:extLst>
                          <a:ext uri="{FF2B5EF4-FFF2-40B4-BE49-F238E27FC236}">
                            <a16:creationId xmlns:a16="http://schemas.microsoft.com/office/drawing/2014/main" id="{D43D9871-6606-45BB-BAC5-33C6AFC57C7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52800" y="990600"/>
                        <a:ext cx="2438400" cy="2179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9879" name="Text Box 7">
            <a:extLst>
              <a:ext uri="{FF2B5EF4-FFF2-40B4-BE49-F238E27FC236}">
                <a16:creationId xmlns:a16="http://schemas.microsoft.com/office/drawing/2014/main" id="{780F2C57-CEE6-43CF-A712-906CD27DB0F6}"/>
              </a:ext>
            </a:extLst>
          </p:cNvPr>
          <p:cNvSpPr txBox="1">
            <a:spLocks noChangeArrowheads="1"/>
          </p:cNvSpPr>
          <p:nvPr/>
        </p:nvSpPr>
        <p:spPr bwMode="auto">
          <a:xfrm>
            <a:off x="304800" y="3276600"/>
            <a:ext cx="81692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dirty="0">
                <a:solidFill>
                  <a:schemeClr val="accent2"/>
                </a:solidFill>
                <a:latin typeface="Times New Roman" panose="02020603050405020304" pitchFamily="18" charset="0"/>
              </a:rPr>
              <a:t>1</a:t>
            </a:r>
            <a:r>
              <a:rPr kumimoji="1" lang="zh-CN" altLang="en-US" sz="2400" b="1" dirty="0">
                <a:solidFill>
                  <a:schemeClr val="accent2"/>
                </a:solidFill>
                <a:latin typeface="宋体" panose="02010600030101010101" pitchFamily="2" charset="-122"/>
              </a:rPr>
              <a:t>）根据形体的特征在正投影图上选定坐标轴。将具有圆柱体部分的端面选作正面，即使其平行于</a:t>
            </a:r>
            <a:r>
              <a:rPr kumimoji="1" lang="en-US" altLang="zh-CN" sz="2400" b="1" dirty="0">
                <a:solidFill>
                  <a:schemeClr val="accent2"/>
                </a:solidFill>
                <a:latin typeface="Times New Roman" panose="02020603050405020304" pitchFamily="18" charset="0"/>
              </a:rPr>
              <a:t>OXZ</a:t>
            </a:r>
            <a:r>
              <a:rPr kumimoji="1" lang="zh-CN" altLang="en-US" sz="2400" b="1" dirty="0">
                <a:solidFill>
                  <a:schemeClr val="accent2"/>
                </a:solidFill>
                <a:latin typeface="宋体" panose="02010600030101010101" pitchFamily="2" charset="-122"/>
              </a:rPr>
              <a:t>坐标面；</a:t>
            </a:r>
            <a:r>
              <a:rPr kumimoji="1" lang="zh-CN" altLang="en-US" sz="2400" dirty="0">
                <a:latin typeface="Times New Roman" panose="02020603050405020304" pitchFamily="18" charset="0"/>
              </a:rPr>
              <a:t> </a:t>
            </a:r>
          </a:p>
        </p:txBody>
      </p:sp>
      <p:sp>
        <p:nvSpPr>
          <p:cNvPr id="79880" name="Text Box 8">
            <a:extLst>
              <a:ext uri="{FF2B5EF4-FFF2-40B4-BE49-F238E27FC236}">
                <a16:creationId xmlns:a16="http://schemas.microsoft.com/office/drawing/2014/main" id="{8AD2E446-0A63-497B-A88E-3FE7EA38B1B7}"/>
              </a:ext>
            </a:extLst>
          </p:cNvPr>
          <p:cNvSpPr txBox="1">
            <a:spLocks noChangeArrowheads="1"/>
          </p:cNvSpPr>
          <p:nvPr/>
        </p:nvSpPr>
        <p:spPr bwMode="auto">
          <a:xfrm>
            <a:off x="304800" y="4038600"/>
            <a:ext cx="78644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a:solidFill>
                  <a:schemeClr val="accent2"/>
                </a:solidFill>
                <a:latin typeface="Times New Roman" panose="02020603050405020304" pitchFamily="18" charset="0"/>
              </a:rPr>
              <a:t>2</a:t>
            </a:r>
            <a:r>
              <a:rPr kumimoji="1" lang="zh-CN" altLang="en-US" sz="2400" b="1">
                <a:solidFill>
                  <a:schemeClr val="accent2"/>
                </a:solidFill>
                <a:latin typeface="宋体" panose="02010600030101010101" pitchFamily="2" charset="-122"/>
              </a:rPr>
              <a:t>）首先按斜二轴测图的轴间角画出轴测轴的位置，根据坐标关系定出圆孔的圆心Ｏ１，并画出前表面；</a:t>
            </a:r>
            <a:r>
              <a:rPr kumimoji="1" lang="zh-CN" altLang="en-US" sz="2400">
                <a:latin typeface="Times New Roman" panose="02020603050405020304" pitchFamily="18" charset="0"/>
              </a:rPr>
              <a:t> </a:t>
            </a:r>
          </a:p>
        </p:txBody>
      </p:sp>
      <p:sp>
        <p:nvSpPr>
          <p:cNvPr id="79881" name="Text Box 9">
            <a:extLst>
              <a:ext uri="{FF2B5EF4-FFF2-40B4-BE49-F238E27FC236}">
                <a16:creationId xmlns:a16="http://schemas.microsoft.com/office/drawing/2014/main" id="{5DE61E85-C7C4-4E49-966C-7CADDD0395EC}"/>
              </a:ext>
            </a:extLst>
          </p:cNvPr>
          <p:cNvSpPr txBox="1">
            <a:spLocks noChangeArrowheads="1"/>
          </p:cNvSpPr>
          <p:nvPr/>
        </p:nvSpPr>
        <p:spPr bwMode="auto">
          <a:xfrm>
            <a:off x="304800" y="4800600"/>
            <a:ext cx="7926388"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a:solidFill>
                  <a:schemeClr val="accent2"/>
                </a:solidFill>
                <a:latin typeface="Times New Roman" panose="02020603050405020304" pitchFamily="18" charset="0"/>
              </a:rPr>
              <a:t>3</a:t>
            </a:r>
            <a:r>
              <a:rPr kumimoji="1" lang="zh-CN" altLang="en-US" sz="2400" b="1">
                <a:solidFill>
                  <a:schemeClr val="accent2"/>
                </a:solidFill>
                <a:latin typeface="宋体" panose="02010600030101010101" pitchFamily="2" charset="-122"/>
              </a:rPr>
              <a:t>）由</a:t>
            </a:r>
            <a:r>
              <a:rPr kumimoji="1" lang="en-US" altLang="zh-CN" sz="2400" b="1">
                <a:solidFill>
                  <a:schemeClr val="accent2"/>
                </a:solidFill>
                <a:latin typeface="Times New Roman" panose="02020603050405020304" pitchFamily="18" charset="0"/>
              </a:rPr>
              <a:t>O</a:t>
            </a:r>
            <a:r>
              <a:rPr kumimoji="1" lang="en-US" altLang="zh-CN" sz="2400" b="1" baseline="-30000">
                <a:solidFill>
                  <a:schemeClr val="accent2"/>
                </a:solidFill>
                <a:latin typeface="Times New Roman" panose="02020603050405020304" pitchFamily="18" charset="0"/>
              </a:rPr>
              <a:t>1</a:t>
            </a:r>
            <a:r>
              <a:rPr kumimoji="1" lang="zh-CN" altLang="en-US" sz="2400" b="1">
                <a:solidFill>
                  <a:schemeClr val="accent2"/>
                </a:solidFill>
                <a:latin typeface="宋体" panose="02010600030101010101" pitchFamily="2" charset="-122"/>
              </a:rPr>
              <a:t>沿</a:t>
            </a:r>
            <a:r>
              <a:rPr kumimoji="1" lang="en-US" altLang="zh-CN" sz="2400" b="1">
                <a:solidFill>
                  <a:schemeClr val="accent2"/>
                </a:solidFill>
                <a:latin typeface="Times New Roman" panose="02020603050405020304" pitchFamily="18" charset="0"/>
              </a:rPr>
              <a:t>Y</a:t>
            </a:r>
            <a:r>
              <a:rPr kumimoji="1" lang="zh-CN" altLang="en-US" sz="2400" b="1">
                <a:solidFill>
                  <a:schemeClr val="accent2"/>
                </a:solidFill>
                <a:latin typeface="宋体" panose="02010600030101010101" pitchFamily="2" charset="-122"/>
              </a:rPr>
              <a:t>轴向后量取</a:t>
            </a:r>
            <a:r>
              <a:rPr kumimoji="1" lang="en-US" altLang="zh-CN" sz="2400" b="1">
                <a:solidFill>
                  <a:schemeClr val="accent2"/>
                </a:solidFill>
                <a:latin typeface="Times New Roman" panose="02020603050405020304" pitchFamily="18" charset="0"/>
              </a:rPr>
              <a:t>O</a:t>
            </a:r>
            <a:r>
              <a:rPr kumimoji="1" lang="en-US" altLang="zh-CN" sz="2400" b="1" baseline="-30000">
                <a:solidFill>
                  <a:schemeClr val="accent2"/>
                </a:solidFill>
                <a:latin typeface="Times New Roman" panose="02020603050405020304" pitchFamily="18" charset="0"/>
              </a:rPr>
              <a:t>1</a:t>
            </a:r>
            <a:r>
              <a:rPr kumimoji="1" lang="en-US" altLang="zh-CN" sz="2400" b="1">
                <a:solidFill>
                  <a:schemeClr val="accent2"/>
                </a:solidFill>
                <a:latin typeface="Times New Roman" panose="02020603050405020304" pitchFamily="18" charset="0"/>
              </a:rPr>
              <a:t>O</a:t>
            </a:r>
            <a:r>
              <a:rPr kumimoji="1" lang="en-US" altLang="zh-CN" sz="2400" b="1" baseline="-30000">
                <a:solidFill>
                  <a:schemeClr val="accent2"/>
                </a:solidFill>
                <a:latin typeface="Times New Roman" panose="02020603050405020304" pitchFamily="18" charset="0"/>
              </a:rPr>
              <a:t>2</a:t>
            </a:r>
            <a:r>
              <a:rPr kumimoji="1" lang="zh-CN" altLang="en-US" sz="2400" b="1">
                <a:solidFill>
                  <a:schemeClr val="accent2"/>
                </a:solidFill>
                <a:latin typeface="宋体" panose="02010600030101010101" pitchFamily="2" charset="-122"/>
              </a:rPr>
              <a:t>＝</a:t>
            </a:r>
            <a:r>
              <a:rPr kumimoji="1" lang="en-US" altLang="zh-CN" sz="2400" b="1">
                <a:solidFill>
                  <a:schemeClr val="accent2"/>
                </a:solidFill>
                <a:latin typeface="Times New Roman" panose="02020603050405020304" pitchFamily="18" charset="0"/>
              </a:rPr>
              <a:t>1</a:t>
            </a:r>
            <a:r>
              <a:rPr kumimoji="1" lang="zh-CN" altLang="en-US" sz="2400" b="1">
                <a:solidFill>
                  <a:schemeClr val="accent2"/>
                </a:solidFill>
                <a:latin typeface="宋体" panose="02010600030101010101" pitchFamily="2" charset="-122"/>
              </a:rPr>
              <a:t>／</a:t>
            </a:r>
            <a:r>
              <a:rPr kumimoji="1" lang="en-US" altLang="zh-CN" sz="2400" b="1">
                <a:solidFill>
                  <a:schemeClr val="accent2"/>
                </a:solidFill>
                <a:latin typeface="Times New Roman" panose="02020603050405020304" pitchFamily="18" charset="0"/>
              </a:rPr>
              <a:t>2</a:t>
            </a:r>
            <a:r>
              <a:rPr kumimoji="1" lang="zh-CN" altLang="en-US" sz="2400" b="1">
                <a:solidFill>
                  <a:schemeClr val="accent2"/>
                </a:solidFill>
                <a:latin typeface="宋体" panose="02010600030101010101" pitchFamily="2" charset="-122"/>
              </a:rPr>
              <a:t>板厚，得到圆心</a:t>
            </a:r>
            <a:r>
              <a:rPr kumimoji="1" lang="en-US" altLang="zh-CN" sz="2400" b="1">
                <a:solidFill>
                  <a:schemeClr val="accent2"/>
                </a:solidFill>
                <a:latin typeface="Times New Roman" panose="02020603050405020304" pitchFamily="18" charset="0"/>
              </a:rPr>
              <a:t>O</a:t>
            </a:r>
            <a:r>
              <a:rPr kumimoji="1" lang="en-US" altLang="zh-CN" sz="2400" b="1" baseline="-30000">
                <a:solidFill>
                  <a:schemeClr val="accent2"/>
                </a:solidFill>
                <a:latin typeface="Times New Roman" panose="02020603050405020304" pitchFamily="18" charset="0"/>
              </a:rPr>
              <a:t>2</a:t>
            </a:r>
            <a:r>
              <a:rPr kumimoji="1" lang="zh-CN" altLang="en-US" sz="2400" b="1">
                <a:solidFill>
                  <a:schemeClr val="accent2"/>
                </a:solidFill>
                <a:latin typeface="宋体" panose="02010600030101010101" pitchFamily="2" charset="-122"/>
              </a:rPr>
              <a:t>，画出与前表面相同的后表面，被遮挡的部分可不画出。画半圆柱的轮廓线时应作前后两个半圆的公切线</a:t>
            </a:r>
            <a:r>
              <a:rPr kumimoji="1" lang="zh-CN" altLang="en-US" sz="2400" b="1">
                <a:solidFill>
                  <a:schemeClr val="accent2"/>
                </a:solidFill>
                <a:latin typeface="Times New Roman" panose="02020603050405020304" pitchFamily="18" charset="0"/>
              </a:rPr>
              <a:t> </a:t>
            </a:r>
          </a:p>
        </p:txBody>
      </p:sp>
      <p:sp>
        <p:nvSpPr>
          <p:cNvPr id="79882" name="Text Box 10">
            <a:extLst>
              <a:ext uri="{FF2B5EF4-FFF2-40B4-BE49-F238E27FC236}">
                <a16:creationId xmlns:a16="http://schemas.microsoft.com/office/drawing/2014/main" id="{EAD00C66-E808-41C3-B673-8195E3B8A1E2}"/>
              </a:ext>
            </a:extLst>
          </p:cNvPr>
          <p:cNvSpPr txBox="1">
            <a:spLocks noChangeArrowheads="1"/>
          </p:cNvSpPr>
          <p:nvPr/>
        </p:nvSpPr>
        <p:spPr bwMode="auto">
          <a:xfrm>
            <a:off x="304800" y="6035675"/>
            <a:ext cx="8534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a:solidFill>
                  <a:schemeClr val="accent2"/>
                </a:solidFill>
                <a:latin typeface="Times New Roman" panose="02020603050405020304" pitchFamily="18" charset="0"/>
              </a:rPr>
              <a:t>4</a:t>
            </a:r>
            <a:r>
              <a:rPr kumimoji="1" lang="zh-CN" altLang="en-US" sz="2400" b="1">
                <a:solidFill>
                  <a:schemeClr val="accent2"/>
                </a:solidFill>
                <a:latin typeface="宋体" panose="02010600030101010101" pitchFamily="2" charset="-122"/>
              </a:rPr>
              <a:t>）画物体的下半部分，擦去多余线</a:t>
            </a:r>
            <a:r>
              <a:rPr kumimoji="1" lang="zh-CN" altLang="en-US" sz="2400" b="1">
                <a:solidFill>
                  <a:schemeClr val="accent2"/>
                </a:solidFill>
                <a:latin typeface="Times New Roman" panose="02020603050405020304" pitchFamily="18" charset="0"/>
              </a:rPr>
              <a:t>，</a:t>
            </a:r>
            <a:r>
              <a:rPr kumimoji="1" lang="zh-CN" altLang="en-US" sz="2400" b="1">
                <a:solidFill>
                  <a:schemeClr val="accent2"/>
                </a:solidFill>
                <a:latin typeface="宋体" panose="02010600030101010101" pitchFamily="2" charset="-122"/>
              </a:rPr>
              <a:t>加深后即为所求斜二轴测图。</a:t>
            </a:r>
            <a:r>
              <a:rPr kumimoji="1" lang="zh-CN" altLang="en-US" sz="2400">
                <a:latin typeface="Times New Roman" panose="02020603050405020304" pitchFamily="18" charset="0"/>
              </a:rPr>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a:extLst>
              <a:ext uri="{FF2B5EF4-FFF2-40B4-BE49-F238E27FC236}">
                <a16:creationId xmlns:a16="http://schemas.microsoft.com/office/drawing/2014/main" id="{54303A50-C11F-4725-A242-1F7C7C3B0043}"/>
              </a:ext>
            </a:extLst>
          </p:cNvPr>
          <p:cNvSpPr txBox="1">
            <a:spLocks noChangeArrowheads="1"/>
          </p:cNvSpPr>
          <p:nvPr/>
        </p:nvSpPr>
        <p:spPr bwMode="auto">
          <a:xfrm>
            <a:off x="-16350" y="750888"/>
            <a:ext cx="60817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latin typeface="宋体" panose="02010600030101010101" pitchFamily="2" charset="-122"/>
              </a:rPr>
              <a:t>［例２］画出如图所示物体的斜二轴测图。</a:t>
            </a:r>
            <a:r>
              <a:rPr kumimoji="1" lang="zh-CN" altLang="en-US" sz="2400" dirty="0">
                <a:latin typeface="Times New Roman" panose="02020603050405020304" pitchFamily="18" charset="0"/>
              </a:rPr>
              <a:t> </a:t>
            </a:r>
          </a:p>
        </p:txBody>
      </p:sp>
      <p:graphicFrame>
        <p:nvGraphicFramePr>
          <p:cNvPr id="81923" name="Object 3">
            <a:extLst>
              <a:ext uri="{FF2B5EF4-FFF2-40B4-BE49-F238E27FC236}">
                <a16:creationId xmlns:a16="http://schemas.microsoft.com/office/drawing/2014/main" id="{0263944F-2084-4EA5-84C8-43D3306DE03B}"/>
              </a:ext>
            </a:extLst>
          </p:cNvPr>
          <p:cNvGraphicFramePr>
            <a:graphicFrameLocks noChangeAspect="1"/>
          </p:cNvGraphicFramePr>
          <p:nvPr/>
        </p:nvGraphicFramePr>
        <p:xfrm>
          <a:off x="0" y="1905000"/>
          <a:ext cx="2009775" cy="3048000"/>
        </p:xfrm>
        <a:graphic>
          <a:graphicData uri="http://schemas.openxmlformats.org/presentationml/2006/ole">
            <mc:AlternateContent xmlns:mc="http://schemas.openxmlformats.org/markup-compatibility/2006">
              <mc:Choice xmlns:v="urn:schemas-microsoft-com:vml" Requires="v">
                <p:oleObj spid="_x0000_s40018" name="位图图像" r:id="rId3" imgW="2523810" imgH="3828571" progId="Paint.Picture">
                  <p:embed/>
                </p:oleObj>
              </mc:Choice>
              <mc:Fallback>
                <p:oleObj name="位图图像" r:id="rId3" imgW="2523810" imgH="3828571" progId="Paint.Picture">
                  <p:embed/>
                  <p:pic>
                    <p:nvPicPr>
                      <p:cNvPr id="81923" name="Object 3">
                        <a:extLst>
                          <a:ext uri="{FF2B5EF4-FFF2-40B4-BE49-F238E27FC236}">
                            <a16:creationId xmlns:a16="http://schemas.microsoft.com/office/drawing/2014/main" id="{0263944F-2084-4EA5-84C8-43D3306DE0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905000"/>
                        <a:ext cx="2009775"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24" name="Object 4">
            <a:extLst>
              <a:ext uri="{FF2B5EF4-FFF2-40B4-BE49-F238E27FC236}">
                <a16:creationId xmlns:a16="http://schemas.microsoft.com/office/drawing/2014/main" id="{FBF74BE3-369C-4B34-830B-6E1E90AA9D40}"/>
              </a:ext>
            </a:extLst>
          </p:cNvPr>
          <p:cNvGraphicFramePr>
            <a:graphicFrameLocks noChangeAspect="1"/>
          </p:cNvGraphicFramePr>
          <p:nvPr/>
        </p:nvGraphicFramePr>
        <p:xfrm>
          <a:off x="6781800" y="381000"/>
          <a:ext cx="2257425" cy="1905000"/>
        </p:xfrm>
        <a:graphic>
          <a:graphicData uri="http://schemas.openxmlformats.org/presentationml/2006/ole">
            <mc:AlternateContent xmlns:mc="http://schemas.openxmlformats.org/markup-compatibility/2006">
              <mc:Choice xmlns:v="urn:schemas-microsoft-com:vml" Requires="v">
                <p:oleObj spid="_x0000_s40019" name="位图图像" r:id="rId5" imgW="2257740" imgH="1905266" progId="Paint.Picture">
                  <p:embed/>
                </p:oleObj>
              </mc:Choice>
              <mc:Fallback>
                <p:oleObj name="位图图像" r:id="rId5" imgW="2257740" imgH="1905266" progId="Paint.Picture">
                  <p:embed/>
                  <p:pic>
                    <p:nvPicPr>
                      <p:cNvPr id="81924" name="Object 4">
                        <a:extLst>
                          <a:ext uri="{FF2B5EF4-FFF2-40B4-BE49-F238E27FC236}">
                            <a16:creationId xmlns:a16="http://schemas.microsoft.com/office/drawing/2014/main" id="{FBF74BE3-369C-4B34-830B-6E1E90AA9D4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81800" y="381000"/>
                        <a:ext cx="2257425"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25" name="Object 5">
            <a:extLst>
              <a:ext uri="{FF2B5EF4-FFF2-40B4-BE49-F238E27FC236}">
                <a16:creationId xmlns:a16="http://schemas.microsoft.com/office/drawing/2014/main" id="{E7FF3FAE-DA1E-47C7-8A1C-344BD796389C}"/>
              </a:ext>
            </a:extLst>
          </p:cNvPr>
          <p:cNvGraphicFramePr>
            <a:graphicFrameLocks noChangeAspect="1"/>
          </p:cNvGraphicFramePr>
          <p:nvPr/>
        </p:nvGraphicFramePr>
        <p:xfrm>
          <a:off x="7038975" y="2357438"/>
          <a:ext cx="2105025" cy="2143125"/>
        </p:xfrm>
        <a:graphic>
          <a:graphicData uri="http://schemas.openxmlformats.org/presentationml/2006/ole">
            <mc:AlternateContent xmlns:mc="http://schemas.openxmlformats.org/markup-compatibility/2006">
              <mc:Choice xmlns:v="urn:schemas-microsoft-com:vml" Requires="v">
                <p:oleObj spid="_x0000_s40020" name="位图图像" r:id="rId7" imgW="2104762" imgH="2142857" progId="Paint.Picture">
                  <p:embed/>
                </p:oleObj>
              </mc:Choice>
              <mc:Fallback>
                <p:oleObj name="位图图像" r:id="rId7" imgW="2104762" imgH="2142857" progId="Paint.Picture">
                  <p:embed/>
                  <p:pic>
                    <p:nvPicPr>
                      <p:cNvPr id="81925" name="Object 5">
                        <a:extLst>
                          <a:ext uri="{FF2B5EF4-FFF2-40B4-BE49-F238E27FC236}">
                            <a16:creationId xmlns:a16="http://schemas.microsoft.com/office/drawing/2014/main" id="{E7FF3FAE-DA1E-47C7-8A1C-344BD796389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38975" y="2357438"/>
                        <a:ext cx="2105025"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26" name="Object 6">
            <a:extLst>
              <a:ext uri="{FF2B5EF4-FFF2-40B4-BE49-F238E27FC236}">
                <a16:creationId xmlns:a16="http://schemas.microsoft.com/office/drawing/2014/main" id="{4E74CFB0-36BE-49BD-9A3C-A3E951799F3B}"/>
              </a:ext>
            </a:extLst>
          </p:cNvPr>
          <p:cNvGraphicFramePr>
            <a:graphicFrameLocks noChangeAspect="1"/>
          </p:cNvGraphicFramePr>
          <p:nvPr/>
        </p:nvGraphicFramePr>
        <p:xfrm>
          <a:off x="6972300" y="4495800"/>
          <a:ext cx="2171700" cy="2152650"/>
        </p:xfrm>
        <a:graphic>
          <a:graphicData uri="http://schemas.openxmlformats.org/presentationml/2006/ole">
            <mc:AlternateContent xmlns:mc="http://schemas.openxmlformats.org/markup-compatibility/2006">
              <mc:Choice xmlns:v="urn:schemas-microsoft-com:vml" Requires="v">
                <p:oleObj spid="_x0000_s40021" name="位图图像" r:id="rId9" imgW="2172003" imgH="2152951" progId="Paint.Picture">
                  <p:embed/>
                </p:oleObj>
              </mc:Choice>
              <mc:Fallback>
                <p:oleObj name="位图图像" r:id="rId9" imgW="2172003" imgH="2152951" progId="Paint.Picture">
                  <p:embed/>
                  <p:pic>
                    <p:nvPicPr>
                      <p:cNvPr id="81926" name="Object 6">
                        <a:extLst>
                          <a:ext uri="{FF2B5EF4-FFF2-40B4-BE49-F238E27FC236}">
                            <a16:creationId xmlns:a16="http://schemas.microsoft.com/office/drawing/2014/main" id="{4E74CFB0-36BE-49BD-9A3C-A3E951799F3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72300" y="4495800"/>
                        <a:ext cx="2171700" cy="215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7" name="Text Box 7">
            <a:extLst>
              <a:ext uri="{FF2B5EF4-FFF2-40B4-BE49-F238E27FC236}">
                <a16:creationId xmlns:a16="http://schemas.microsoft.com/office/drawing/2014/main" id="{A1131DB1-F874-4DC9-8DD5-9B9D9F3F88BA}"/>
              </a:ext>
            </a:extLst>
          </p:cNvPr>
          <p:cNvSpPr txBox="1">
            <a:spLocks noChangeArrowheads="1"/>
          </p:cNvSpPr>
          <p:nvPr/>
        </p:nvSpPr>
        <p:spPr bwMode="auto">
          <a:xfrm>
            <a:off x="2133600" y="1371600"/>
            <a:ext cx="45720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a:solidFill>
                  <a:schemeClr val="accent2"/>
                </a:solidFill>
                <a:latin typeface="Times New Roman" panose="02020603050405020304" pitchFamily="18" charset="0"/>
              </a:rPr>
              <a:t>1</a:t>
            </a:r>
            <a:r>
              <a:rPr kumimoji="1" lang="zh-CN" altLang="en-US" sz="2400" b="1">
                <a:solidFill>
                  <a:schemeClr val="accent2"/>
                </a:solidFill>
                <a:latin typeface="宋体" panose="02010600030101010101" pitchFamily="2" charset="-122"/>
              </a:rPr>
              <a:t>）在正投影图上选定坐标轴，将具有大小不等圆的端面选为正面，即使其平行于</a:t>
            </a:r>
            <a:r>
              <a:rPr kumimoji="1" lang="en-US" altLang="zh-CN" sz="2400" b="1">
                <a:solidFill>
                  <a:schemeClr val="accent2"/>
                </a:solidFill>
                <a:latin typeface="Times New Roman" panose="02020603050405020304" pitchFamily="18" charset="0"/>
              </a:rPr>
              <a:t>XOZ</a:t>
            </a:r>
            <a:r>
              <a:rPr kumimoji="1" lang="zh-CN" altLang="en-US" sz="2400" b="1">
                <a:solidFill>
                  <a:schemeClr val="accent2"/>
                </a:solidFill>
                <a:latin typeface="宋体" panose="02010600030101010101" pitchFamily="2" charset="-122"/>
              </a:rPr>
              <a:t>坐标面；</a:t>
            </a:r>
            <a:r>
              <a:rPr kumimoji="1" lang="zh-CN" altLang="en-US" sz="2400">
                <a:latin typeface="Times New Roman" panose="02020603050405020304" pitchFamily="18" charset="0"/>
              </a:rPr>
              <a:t> </a:t>
            </a:r>
          </a:p>
        </p:txBody>
      </p:sp>
      <p:sp>
        <p:nvSpPr>
          <p:cNvPr id="81928" name="Text Box 8">
            <a:extLst>
              <a:ext uri="{FF2B5EF4-FFF2-40B4-BE49-F238E27FC236}">
                <a16:creationId xmlns:a16="http://schemas.microsoft.com/office/drawing/2014/main" id="{E6521254-D4A3-4158-8A7D-6545DA110535}"/>
              </a:ext>
            </a:extLst>
          </p:cNvPr>
          <p:cNvSpPr txBox="1">
            <a:spLocks noChangeArrowheads="1"/>
          </p:cNvSpPr>
          <p:nvPr/>
        </p:nvSpPr>
        <p:spPr bwMode="auto">
          <a:xfrm>
            <a:off x="2193925" y="2840038"/>
            <a:ext cx="443547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a:solidFill>
                  <a:schemeClr val="accent2"/>
                </a:solidFill>
                <a:latin typeface="Times New Roman" panose="02020603050405020304" pitchFamily="18" charset="0"/>
              </a:rPr>
              <a:t>2</a:t>
            </a:r>
            <a:r>
              <a:rPr kumimoji="1" lang="zh-CN" altLang="en-US" sz="2400" b="1">
                <a:solidFill>
                  <a:schemeClr val="accent2"/>
                </a:solidFill>
                <a:latin typeface="宋体" panose="02010600030101010101" pitchFamily="2" charset="-122"/>
              </a:rPr>
              <a:t>）画斜二轴测图的轴测轴，根据坐标分别定出每个端面的圆心位置，如</a:t>
            </a:r>
            <a:r>
              <a:rPr kumimoji="1" lang="en-US" altLang="zh-CN" sz="2400" b="1">
                <a:solidFill>
                  <a:schemeClr val="accent2"/>
                </a:solidFill>
                <a:latin typeface="Times New Roman" panose="02020603050405020304" pitchFamily="18" charset="0"/>
              </a:rPr>
              <a:t>O</a:t>
            </a:r>
            <a:r>
              <a:rPr kumimoji="1" lang="zh-CN" altLang="en-US" sz="2400" b="1">
                <a:solidFill>
                  <a:schemeClr val="accent2"/>
                </a:solidFill>
                <a:latin typeface="宋体" panose="02010600030101010101" pitchFamily="2" charset="-122"/>
              </a:rPr>
              <a:t>、</a:t>
            </a:r>
            <a:r>
              <a:rPr kumimoji="1" lang="en-US" altLang="zh-CN" sz="2400" b="1">
                <a:solidFill>
                  <a:schemeClr val="accent2"/>
                </a:solidFill>
                <a:latin typeface="Times New Roman" panose="02020603050405020304" pitchFamily="18" charset="0"/>
              </a:rPr>
              <a:t>O</a:t>
            </a:r>
            <a:r>
              <a:rPr kumimoji="1" lang="en-US" altLang="zh-CN" sz="2400" b="1" baseline="-30000">
                <a:solidFill>
                  <a:schemeClr val="accent2"/>
                </a:solidFill>
                <a:latin typeface="Times New Roman" panose="02020603050405020304" pitchFamily="18" charset="0"/>
              </a:rPr>
              <a:t>1</a:t>
            </a:r>
            <a:r>
              <a:rPr kumimoji="1" lang="zh-CN" altLang="en-US" sz="2400" b="1">
                <a:solidFill>
                  <a:schemeClr val="accent2"/>
                </a:solidFill>
                <a:latin typeface="宋体" panose="02010600030101010101" pitchFamily="2" charset="-122"/>
              </a:rPr>
              <a:t>、</a:t>
            </a:r>
            <a:r>
              <a:rPr kumimoji="1" lang="en-US" altLang="zh-CN" sz="2400" b="1">
                <a:solidFill>
                  <a:schemeClr val="accent2"/>
                </a:solidFill>
                <a:latin typeface="Times New Roman" panose="02020603050405020304" pitchFamily="18" charset="0"/>
              </a:rPr>
              <a:t>O</a:t>
            </a:r>
            <a:r>
              <a:rPr kumimoji="1" lang="en-US" altLang="zh-CN" sz="2400" b="1" baseline="-30000">
                <a:solidFill>
                  <a:schemeClr val="accent2"/>
                </a:solidFill>
                <a:latin typeface="Times New Roman" panose="02020603050405020304" pitchFamily="18" charset="0"/>
              </a:rPr>
              <a:t>2</a:t>
            </a:r>
            <a:r>
              <a:rPr kumimoji="1" lang="zh-CN" altLang="en-US" sz="2400" b="1">
                <a:solidFill>
                  <a:schemeClr val="accent2"/>
                </a:solidFill>
                <a:latin typeface="宋体" panose="02010600030101010101" pitchFamily="2" charset="-122"/>
              </a:rPr>
              <a:t>等</a:t>
            </a:r>
            <a:r>
              <a:rPr kumimoji="1" lang="zh-CN" altLang="en-US" sz="2400">
                <a:latin typeface="Times New Roman" panose="02020603050405020304" pitchFamily="18" charset="0"/>
              </a:rPr>
              <a:t> </a:t>
            </a:r>
          </a:p>
        </p:txBody>
      </p:sp>
      <p:sp>
        <p:nvSpPr>
          <p:cNvPr id="81929" name="Text Box 9">
            <a:extLst>
              <a:ext uri="{FF2B5EF4-FFF2-40B4-BE49-F238E27FC236}">
                <a16:creationId xmlns:a16="http://schemas.microsoft.com/office/drawing/2014/main" id="{009836FA-D017-4657-BDA2-42435419D1DD}"/>
              </a:ext>
            </a:extLst>
          </p:cNvPr>
          <p:cNvSpPr txBox="1">
            <a:spLocks noChangeArrowheads="1"/>
          </p:cNvSpPr>
          <p:nvPr/>
        </p:nvSpPr>
        <p:spPr bwMode="auto">
          <a:xfrm>
            <a:off x="2209800" y="4191000"/>
            <a:ext cx="4267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a:solidFill>
                  <a:schemeClr val="accent2"/>
                </a:solidFill>
                <a:latin typeface="Times New Roman" panose="02020603050405020304" pitchFamily="18" charset="0"/>
              </a:rPr>
              <a:t>3</a:t>
            </a:r>
            <a:r>
              <a:rPr kumimoji="1" lang="zh-CN" altLang="en-US" sz="2400" b="1">
                <a:solidFill>
                  <a:schemeClr val="accent2"/>
                </a:solidFill>
                <a:latin typeface="宋体" panose="02010600030101010101" pitchFamily="2" charset="-122"/>
              </a:rPr>
              <a:t>）按圆心位置，依次画出圆柱、圆锥及各圆孔</a:t>
            </a:r>
            <a:r>
              <a:rPr kumimoji="1" lang="zh-CN" altLang="en-US" sz="2400">
                <a:latin typeface="Times New Roman" panose="02020603050405020304" pitchFamily="18" charset="0"/>
              </a:rPr>
              <a:t> </a:t>
            </a:r>
          </a:p>
        </p:txBody>
      </p:sp>
      <p:sp>
        <p:nvSpPr>
          <p:cNvPr id="81930" name="Text Box 10">
            <a:extLst>
              <a:ext uri="{FF2B5EF4-FFF2-40B4-BE49-F238E27FC236}">
                <a16:creationId xmlns:a16="http://schemas.microsoft.com/office/drawing/2014/main" id="{EC30400B-5FF6-438F-9810-FFBA69C16D6D}"/>
              </a:ext>
            </a:extLst>
          </p:cNvPr>
          <p:cNvSpPr txBox="1">
            <a:spLocks noChangeArrowheads="1"/>
          </p:cNvSpPr>
          <p:nvPr/>
        </p:nvSpPr>
        <p:spPr bwMode="auto">
          <a:xfrm>
            <a:off x="2270125" y="5126038"/>
            <a:ext cx="40544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a:solidFill>
                  <a:schemeClr val="accent2"/>
                </a:solidFill>
                <a:latin typeface="Times New Roman" panose="02020603050405020304" pitchFamily="18" charset="0"/>
              </a:rPr>
              <a:t>4</a:t>
            </a:r>
            <a:r>
              <a:rPr kumimoji="1" lang="zh-CN" altLang="en-US" sz="2400" b="1">
                <a:solidFill>
                  <a:schemeClr val="accent2"/>
                </a:solidFill>
                <a:latin typeface="宋体" panose="02010600030101010101" pitchFamily="2" charset="-122"/>
              </a:rPr>
              <a:t>）擦去多余线，加深后完成全图</a:t>
            </a:r>
            <a:r>
              <a:rPr kumimoji="1" lang="zh-CN" altLang="en-US" sz="2400">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1927"/>
                                        </p:tgtEl>
                                        <p:attrNameLst>
                                          <p:attrName>style.visibility</p:attrName>
                                        </p:attrNameLst>
                                      </p:cBhvr>
                                      <p:to>
                                        <p:strVal val="visible"/>
                                      </p:to>
                                    </p:set>
                                    <p:anim calcmode="lin" valueType="num">
                                      <p:cBhvr additive="base">
                                        <p:cTn id="7" dur="500" fill="hold"/>
                                        <p:tgtEl>
                                          <p:spTgt spid="81927"/>
                                        </p:tgtEl>
                                        <p:attrNameLst>
                                          <p:attrName>ppt_x</p:attrName>
                                        </p:attrNameLst>
                                      </p:cBhvr>
                                      <p:tavLst>
                                        <p:tav tm="0">
                                          <p:val>
                                            <p:strVal val="0-#ppt_w/2"/>
                                          </p:val>
                                        </p:tav>
                                        <p:tav tm="100000">
                                          <p:val>
                                            <p:strVal val="#ppt_x"/>
                                          </p:val>
                                        </p:tav>
                                      </p:tavLst>
                                    </p:anim>
                                    <p:anim calcmode="lin" valueType="num">
                                      <p:cBhvr additive="base">
                                        <p:cTn id="8" dur="500" fill="hold"/>
                                        <p:tgtEl>
                                          <p:spTgt spid="8192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1928"/>
                                        </p:tgtEl>
                                        <p:attrNameLst>
                                          <p:attrName>style.visibility</p:attrName>
                                        </p:attrNameLst>
                                      </p:cBhvr>
                                      <p:to>
                                        <p:strVal val="visible"/>
                                      </p:to>
                                    </p:set>
                                    <p:anim calcmode="lin" valueType="num">
                                      <p:cBhvr additive="base">
                                        <p:cTn id="13" dur="500" fill="hold"/>
                                        <p:tgtEl>
                                          <p:spTgt spid="81928"/>
                                        </p:tgtEl>
                                        <p:attrNameLst>
                                          <p:attrName>ppt_x</p:attrName>
                                        </p:attrNameLst>
                                      </p:cBhvr>
                                      <p:tavLst>
                                        <p:tav tm="0">
                                          <p:val>
                                            <p:strVal val="0-#ppt_w/2"/>
                                          </p:val>
                                        </p:tav>
                                        <p:tav tm="100000">
                                          <p:val>
                                            <p:strVal val="#ppt_x"/>
                                          </p:val>
                                        </p:tav>
                                      </p:tavLst>
                                    </p:anim>
                                    <p:anim calcmode="lin" valueType="num">
                                      <p:cBhvr additive="base">
                                        <p:cTn id="14" dur="500" fill="hold"/>
                                        <p:tgtEl>
                                          <p:spTgt spid="8192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9" presetClass="entr" presetSubtype="0" fill="hold" nodeType="clickEffect">
                                  <p:stCondLst>
                                    <p:cond delay="0"/>
                                  </p:stCondLst>
                                  <p:childTnLst>
                                    <p:set>
                                      <p:cBhvr>
                                        <p:cTn id="18" dur="1" fill="hold">
                                          <p:stCondLst>
                                            <p:cond delay="0"/>
                                          </p:stCondLst>
                                        </p:cTn>
                                        <p:tgtEl>
                                          <p:spTgt spid="81924"/>
                                        </p:tgtEl>
                                        <p:attrNameLst>
                                          <p:attrName>style.visibility</p:attrName>
                                        </p:attrNameLst>
                                      </p:cBhvr>
                                      <p:to>
                                        <p:strVal val="visible"/>
                                      </p:to>
                                    </p:set>
                                    <p:animEffect transition="in" filter="dissolve">
                                      <p:cBhvr>
                                        <p:cTn id="19" dur="500"/>
                                        <p:tgtEl>
                                          <p:spTgt spid="8192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81929"/>
                                        </p:tgtEl>
                                        <p:attrNameLst>
                                          <p:attrName>style.visibility</p:attrName>
                                        </p:attrNameLst>
                                      </p:cBhvr>
                                      <p:to>
                                        <p:strVal val="visible"/>
                                      </p:to>
                                    </p:set>
                                    <p:anim calcmode="lin" valueType="num">
                                      <p:cBhvr additive="base">
                                        <p:cTn id="24" dur="500" fill="hold"/>
                                        <p:tgtEl>
                                          <p:spTgt spid="81929"/>
                                        </p:tgtEl>
                                        <p:attrNameLst>
                                          <p:attrName>ppt_x</p:attrName>
                                        </p:attrNameLst>
                                      </p:cBhvr>
                                      <p:tavLst>
                                        <p:tav tm="0">
                                          <p:val>
                                            <p:strVal val="0-#ppt_w/2"/>
                                          </p:val>
                                        </p:tav>
                                        <p:tav tm="100000">
                                          <p:val>
                                            <p:strVal val="#ppt_x"/>
                                          </p:val>
                                        </p:tav>
                                      </p:tavLst>
                                    </p:anim>
                                    <p:anim calcmode="lin" valueType="num">
                                      <p:cBhvr additive="base">
                                        <p:cTn id="25" dur="500" fill="hold"/>
                                        <p:tgtEl>
                                          <p:spTgt spid="81929"/>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nodeType="clickEffect">
                                  <p:stCondLst>
                                    <p:cond delay="0"/>
                                  </p:stCondLst>
                                  <p:childTnLst>
                                    <p:set>
                                      <p:cBhvr>
                                        <p:cTn id="29" dur="1" fill="hold">
                                          <p:stCondLst>
                                            <p:cond delay="0"/>
                                          </p:stCondLst>
                                        </p:cTn>
                                        <p:tgtEl>
                                          <p:spTgt spid="81925"/>
                                        </p:tgtEl>
                                        <p:attrNameLst>
                                          <p:attrName>style.visibility</p:attrName>
                                        </p:attrNameLst>
                                      </p:cBhvr>
                                      <p:to>
                                        <p:strVal val="visible"/>
                                      </p:to>
                                    </p:set>
                                    <p:animEffect transition="in" filter="dissolve">
                                      <p:cBhvr>
                                        <p:cTn id="30" dur="500"/>
                                        <p:tgtEl>
                                          <p:spTgt spid="8192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81930"/>
                                        </p:tgtEl>
                                        <p:attrNameLst>
                                          <p:attrName>style.visibility</p:attrName>
                                        </p:attrNameLst>
                                      </p:cBhvr>
                                      <p:to>
                                        <p:strVal val="visible"/>
                                      </p:to>
                                    </p:set>
                                    <p:anim calcmode="lin" valueType="num">
                                      <p:cBhvr additive="base">
                                        <p:cTn id="35" dur="500" fill="hold"/>
                                        <p:tgtEl>
                                          <p:spTgt spid="81930"/>
                                        </p:tgtEl>
                                        <p:attrNameLst>
                                          <p:attrName>ppt_x</p:attrName>
                                        </p:attrNameLst>
                                      </p:cBhvr>
                                      <p:tavLst>
                                        <p:tav tm="0">
                                          <p:val>
                                            <p:strVal val="0-#ppt_w/2"/>
                                          </p:val>
                                        </p:tav>
                                        <p:tav tm="100000">
                                          <p:val>
                                            <p:strVal val="#ppt_x"/>
                                          </p:val>
                                        </p:tav>
                                      </p:tavLst>
                                    </p:anim>
                                    <p:anim calcmode="lin" valueType="num">
                                      <p:cBhvr additive="base">
                                        <p:cTn id="36" dur="500" fill="hold"/>
                                        <p:tgtEl>
                                          <p:spTgt spid="81930"/>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ntr" presetSubtype="0" fill="hold" nodeType="clickEffect">
                                  <p:stCondLst>
                                    <p:cond delay="0"/>
                                  </p:stCondLst>
                                  <p:childTnLst>
                                    <p:set>
                                      <p:cBhvr>
                                        <p:cTn id="40" dur="1" fill="hold">
                                          <p:stCondLst>
                                            <p:cond delay="0"/>
                                          </p:stCondLst>
                                        </p:cTn>
                                        <p:tgtEl>
                                          <p:spTgt spid="81926"/>
                                        </p:tgtEl>
                                        <p:attrNameLst>
                                          <p:attrName>style.visibility</p:attrName>
                                        </p:attrNameLst>
                                      </p:cBhvr>
                                      <p:to>
                                        <p:strVal val="visible"/>
                                      </p:to>
                                    </p:set>
                                    <p:animEffect transition="in" filter="dissolve">
                                      <p:cBhvr>
                                        <p:cTn id="41" dur="500"/>
                                        <p:tgtEl>
                                          <p:spTgt spid="819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7" grpId="0" autoUpdateAnimBg="0"/>
      <p:bldP spid="81928" grpId="0" autoUpdateAnimBg="0"/>
      <p:bldP spid="81929" grpId="0" autoUpdateAnimBg="0"/>
      <p:bldP spid="81930"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2">
            <a:extLst>
              <a:ext uri="{FF2B5EF4-FFF2-40B4-BE49-F238E27FC236}">
                <a16:creationId xmlns:a16="http://schemas.microsoft.com/office/drawing/2014/main" id="{EAFB27D8-CBFF-4E6A-BC4C-1C7CADD63B3C}"/>
              </a:ext>
            </a:extLst>
          </p:cNvPr>
          <p:cNvSpPr txBox="1">
            <a:spLocks noChangeArrowheads="1"/>
          </p:cNvSpPr>
          <p:nvPr/>
        </p:nvSpPr>
        <p:spPr bwMode="auto">
          <a:xfrm>
            <a:off x="2411760" y="656692"/>
            <a:ext cx="4684296"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000" b="1" dirty="0">
                <a:solidFill>
                  <a:srgbClr val="CC00CC"/>
                </a:solidFill>
                <a:latin typeface="Times New Roman" panose="02020603050405020304" pitchFamily="18" charset="0"/>
              </a:rPr>
              <a:t>4    </a:t>
            </a:r>
            <a:r>
              <a:rPr kumimoji="1" lang="zh-CN" altLang="en-US" sz="4000" b="1" dirty="0">
                <a:solidFill>
                  <a:srgbClr val="CC00CC"/>
                </a:solidFill>
                <a:latin typeface="宋体" panose="02010600030101010101" pitchFamily="2" charset="-122"/>
              </a:rPr>
              <a:t>轴测图尺寸注法</a:t>
            </a:r>
            <a:r>
              <a:rPr kumimoji="1" lang="zh-CN" altLang="en-US" sz="4000" dirty="0">
                <a:latin typeface="Times New Roman" panose="02020603050405020304" pitchFamily="18" charset="0"/>
              </a:rPr>
              <a:t> </a:t>
            </a:r>
          </a:p>
        </p:txBody>
      </p:sp>
      <p:sp>
        <p:nvSpPr>
          <p:cNvPr id="82947" name="Text Box 3">
            <a:extLst>
              <a:ext uri="{FF2B5EF4-FFF2-40B4-BE49-F238E27FC236}">
                <a16:creationId xmlns:a16="http://schemas.microsoft.com/office/drawing/2014/main" id="{985B7A29-260A-455A-940B-9BE01191472D}"/>
              </a:ext>
            </a:extLst>
          </p:cNvPr>
          <p:cNvSpPr txBox="1">
            <a:spLocks noChangeArrowheads="1"/>
          </p:cNvSpPr>
          <p:nvPr/>
        </p:nvSpPr>
        <p:spPr bwMode="auto">
          <a:xfrm>
            <a:off x="395536" y="1700808"/>
            <a:ext cx="429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solidFill>
                  <a:schemeClr val="accent2"/>
                </a:solidFill>
                <a:latin typeface="Times New Roman" panose="02020603050405020304" pitchFamily="18" charset="0"/>
              </a:rPr>
              <a:t> </a:t>
            </a:r>
            <a:r>
              <a:rPr kumimoji="1" lang="zh-CN" altLang="en-US" sz="2400" b="1" dirty="0">
                <a:solidFill>
                  <a:schemeClr val="accent2"/>
                </a:solidFill>
                <a:latin typeface="Times New Roman" panose="02020603050405020304" pitchFamily="18" charset="0"/>
              </a:rPr>
              <a:t>轴测图中标注尺寸的</a:t>
            </a:r>
            <a:r>
              <a:rPr kumimoji="1" lang="zh-CN" altLang="en-US" sz="2400" b="1" dirty="0">
                <a:solidFill>
                  <a:srgbClr val="FF0000"/>
                </a:solidFill>
                <a:latin typeface="Times New Roman" panose="02020603050405020304" pitchFamily="18" charset="0"/>
              </a:rPr>
              <a:t>基本原则</a:t>
            </a:r>
            <a:r>
              <a:rPr kumimoji="1" lang="zh-CN" altLang="en-US" sz="2400" dirty="0">
                <a:latin typeface="Times New Roman" panose="02020603050405020304" pitchFamily="18" charset="0"/>
              </a:rPr>
              <a:t> </a:t>
            </a:r>
          </a:p>
        </p:txBody>
      </p:sp>
      <p:sp>
        <p:nvSpPr>
          <p:cNvPr id="82948" name="Text Box 4">
            <a:extLst>
              <a:ext uri="{FF2B5EF4-FFF2-40B4-BE49-F238E27FC236}">
                <a16:creationId xmlns:a16="http://schemas.microsoft.com/office/drawing/2014/main" id="{E3F2E499-8FF6-44A5-9B6D-9310F183B831}"/>
              </a:ext>
            </a:extLst>
          </p:cNvPr>
          <p:cNvSpPr txBox="1">
            <a:spLocks noChangeArrowheads="1"/>
          </p:cNvSpPr>
          <p:nvPr/>
        </p:nvSpPr>
        <p:spPr bwMode="auto">
          <a:xfrm>
            <a:off x="323528" y="2708920"/>
            <a:ext cx="6508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chemeClr val="accent2"/>
                </a:solidFill>
                <a:latin typeface="Times New Roman" panose="02020603050405020304" pitchFamily="18" charset="0"/>
              </a:rPr>
              <a:t>1</a:t>
            </a:r>
            <a:r>
              <a:rPr kumimoji="1" lang="zh-CN" altLang="en-US" sz="2400" b="1">
                <a:solidFill>
                  <a:schemeClr val="accent2"/>
                </a:solidFill>
                <a:latin typeface="Times New Roman" panose="02020603050405020304" pitchFamily="18" charset="0"/>
              </a:rPr>
              <a:t>）轴测图中线性尺寸一般应沿轴测轴方向标注</a:t>
            </a:r>
            <a:r>
              <a:rPr kumimoji="1" lang="zh-CN" altLang="en-US" sz="2400">
                <a:latin typeface="Times New Roman" panose="02020603050405020304" pitchFamily="18" charset="0"/>
              </a:rPr>
              <a:t> </a:t>
            </a:r>
          </a:p>
        </p:txBody>
      </p:sp>
      <p:pic>
        <p:nvPicPr>
          <p:cNvPr id="82949" name="Picture 5">
            <a:extLst>
              <a:ext uri="{FF2B5EF4-FFF2-40B4-BE49-F238E27FC236}">
                <a16:creationId xmlns:a16="http://schemas.microsoft.com/office/drawing/2014/main" id="{B4E5A7DD-23A8-4278-9B5E-D96A3D8969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612" y="4041068"/>
            <a:ext cx="7037388" cy="22431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970" name="Object 2">
            <a:extLst>
              <a:ext uri="{FF2B5EF4-FFF2-40B4-BE49-F238E27FC236}">
                <a16:creationId xmlns:a16="http://schemas.microsoft.com/office/drawing/2014/main" id="{29BB7463-2125-47AD-94D4-B8E04C321E86}"/>
              </a:ext>
            </a:extLst>
          </p:cNvPr>
          <p:cNvGraphicFramePr>
            <a:graphicFrameLocks noChangeAspect="1"/>
          </p:cNvGraphicFramePr>
          <p:nvPr/>
        </p:nvGraphicFramePr>
        <p:xfrm>
          <a:off x="5638800" y="1219200"/>
          <a:ext cx="3505200" cy="3319463"/>
        </p:xfrm>
        <a:graphic>
          <a:graphicData uri="http://schemas.openxmlformats.org/presentationml/2006/ole">
            <mc:AlternateContent xmlns:mc="http://schemas.openxmlformats.org/markup-compatibility/2006">
              <mc:Choice xmlns:v="urn:schemas-microsoft-com:vml" Requires="v">
                <p:oleObj spid="_x0000_s44054" name="位图图像" r:id="rId3" imgW="4495238" imgH="4258269" progId="Paint.Picture">
                  <p:embed/>
                </p:oleObj>
              </mc:Choice>
              <mc:Fallback>
                <p:oleObj name="位图图像" r:id="rId3" imgW="4495238" imgH="4258269" progId="Paint.Picture">
                  <p:embed/>
                  <p:pic>
                    <p:nvPicPr>
                      <p:cNvPr id="83970" name="Object 2">
                        <a:extLst>
                          <a:ext uri="{FF2B5EF4-FFF2-40B4-BE49-F238E27FC236}">
                            <a16:creationId xmlns:a16="http://schemas.microsoft.com/office/drawing/2014/main" id="{29BB7463-2125-47AD-94D4-B8E04C321E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8800" y="1219200"/>
                        <a:ext cx="3505200" cy="331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3971" name="Text Box 3">
            <a:extLst>
              <a:ext uri="{FF2B5EF4-FFF2-40B4-BE49-F238E27FC236}">
                <a16:creationId xmlns:a16="http://schemas.microsoft.com/office/drawing/2014/main" id="{DAEB44B9-80D3-4725-B7D0-0F54E18E8244}"/>
              </a:ext>
            </a:extLst>
          </p:cNvPr>
          <p:cNvSpPr txBox="1">
            <a:spLocks noChangeArrowheads="1"/>
          </p:cNvSpPr>
          <p:nvPr/>
        </p:nvSpPr>
        <p:spPr bwMode="auto">
          <a:xfrm>
            <a:off x="6613" y="612775"/>
            <a:ext cx="5197475"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dirty="0">
                <a:solidFill>
                  <a:schemeClr val="accent2"/>
                </a:solidFill>
                <a:latin typeface="Times New Roman" panose="02020603050405020304" pitchFamily="18" charset="0"/>
              </a:rPr>
              <a:t>        2</a:t>
            </a:r>
            <a:r>
              <a:rPr kumimoji="1" lang="zh-CN" altLang="en-US" sz="2400" b="1" dirty="0">
                <a:solidFill>
                  <a:schemeClr val="accent2"/>
                </a:solidFill>
                <a:latin typeface="Times New Roman" panose="02020603050405020304" pitchFamily="18" charset="0"/>
              </a:rPr>
              <a:t>）尺寸线必须和所标线段平行，尺寸界线应平行于某一轴测轴，尺寸数字注写在尺寸线上方，当在图形中出现字头向下或当数字写不下时应引出标注，数字水平注写，其数值是机件的实际大小 </a:t>
            </a:r>
          </a:p>
        </p:txBody>
      </p:sp>
      <p:sp>
        <p:nvSpPr>
          <p:cNvPr id="83972" name="Text Box 4">
            <a:extLst>
              <a:ext uri="{FF2B5EF4-FFF2-40B4-BE49-F238E27FC236}">
                <a16:creationId xmlns:a16="http://schemas.microsoft.com/office/drawing/2014/main" id="{9FF5BCFA-8E9A-4615-A4EC-C04C9810BE65}"/>
              </a:ext>
            </a:extLst>
          </p:cNvPr>
          <p:cNvSpPr txBox="1">
            <a:spLocks noChangeArrowheads="1"/>
          </p:cNvSpPr>
          <p:nvPr/>
        </p:nvSpPr>
        <p:spPr bwMode="auto">
          <a:xfrm>
            <a:off x="6613" y="3050526"/>
            <a:ext cx="5121275"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dirty="0">
                <a:solidFill>
                  <a:schemeClr val="accent2"/>
                </a:solidFill>
                <a:latin typeface="Times New Roman" panose="02020603050405020304" pitchFamily="18" charset="0"/>
              </a:rPr>
              <a:t>       3) </a:t>
            </a:r>
            <a:r>
              <a:rPr kumimoji="1" lang="zh-CN" altLang="en-US" sz="2400" b="1" dirty="0">
                <a:solidFill>
                  <a:schemeClr val="accent2"/>
                </a:solidFill>
                <a:latin typeface="Times New Roman" panose="02020603050405020304" pitchFamily="18" charset="0"/>
              </a:rPr>
              <a:t>圆的直径尺寸的尺寸线和尺寸界限一般应分别平行于所在平面的轴测轴；当圆的直径较小时，尺寸线可以从圆心引出标注，但注写直径数字的短线必须平行于轴测轴</a:t>
            </a:r>
            <a:r>
              <a:rPr kumimoji="1" lang="zh-CN" altLang="en-US" sz="2400" dirty="0">
                <a:latin typeface="Times New Roman" panose="02020603050405020304" pitchFamily="18" charset="0"/>
              </a:rPr>
              <a:t> </a:t>
            </a:r>
          </a:p>
        </p:txBody>
      </p:sp>
      <p:sp>
        <p:nvSpPr>
          <p:cNvPr id="83973" name="Text Box 5">
            <a:extLst>
              <a:ext uri="{FF2B5EF4-FFF2-40B4-BE49-F238E27FC236}">
                <a16:creationId xmlns:a16="http://schemas.microsoft.com/office/drawing/2014/main" id="{F79FDD9E-58D8-4CD7-A7ED-4BC58C042273}"/>
              </a:ext>
            </a:extLst>
          </p:cNvPr>
          <p:cNvSpPr txBox="1">
            <a:spLocks noChangeArrowheads="1"/>
          </p:cNvSpPr>
          <p:nvPr/>
        </p:nvSpPr>
        <p:spPr bwMode="auto">
          <a:xfrm>
            <a:off x="13666" y="5624210"/>
            <a:ext cx="6858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dirty="0">
                <a:solidFill>
                  <a:schemeClr val="accent2"/>
                </a:solidFill>
                <a:latin typeface="Times New Roman" panose="02020603050405020304" pitchFamily="18" charset="0"/>
              </a:rPr>
              <a:t>        4)</a:t>
            </a:r>
            <a:r>
              <a:rPr kumimoji="1" lang="zh-CN" altLang="en-US" sz="2400" b="1" dirty="0">
                <a:solidFill>
                  <a:schemeClr val="accent2"/>
                </a:solidFill>
                <a:latin typeface="Times New Roman" panose="02020603050405020304" pitchFamily="18" charset="0"/>
              </a:rPr>
              <a:t>弧半径的尺寸线可从（或通过）圆心引出标注，但注写半径数字的横线必须平行于轴测轴</a:t>
            </a:r>
            <a:r>
              <a:rPr kumimoji="1" lang="zh-CN" altLang="en-US" sz="2400" dirty="0">
                <a:latin typeface="Times New Roman" panose="02020603050405020304" pitchFamily="18" charset="0"/>
              </a:rPr>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4994" name="Object 2">
            <a:extLst>
              <a:ext uri="{FF2B5EF4-FFF2-40B4-BE49-F238E27FC236}">
                <a16:creationId xmlns:a16="http://schemas.microsoft.com/office/drawing/2014/main" id="{610DC143-C4A9-4F02-878F-EA82D517F693}"/>
              </a:ext>
            </a:extLst>
          </p:cNvPr>
          <p:cNvGraphicFramePr>
            <a:graphicFrameLocks noChangeAspect="1"/>
          </p:cNvGraphicFramePr>
          <p:nvPr/>
        </p:nvGraphicFramePr>
        <p:xfrm>
          <a:off x="4838700" y="381000"/>
          <a:ext cx="4305300" cy="2019300"/>
        </p:xfrm>
        <a:graphic>
          <a:graphicData uri="http://schemas.openxmlformats.org/presentationml/2006/ole">
            <mc:AlternateContent xmlns:mc="http://schemas.openxmlformats.org/markup-compatibility/2006">
              <mc:Choice xmlns:v="urn:schemas-microsoft-com:vml" Requires="v">
                <p:oleObj spid="_x0000_s45118" name="位图图像" r:id="rId3" imgW="4304762" imgH="2019048" progId="Paint.Picture">
                  <p:embed/>
                </p:oleObj>
              </mc:Choice>
              <mc:Fallback>
                <p:oleObj name="位图图像" r:id="rId3" imgW="4304762" imgH="2019048" progId="Paint.Picture">
                  <p:embed/>
                  <p:pic>
                    <p:nvPicPr>
                      <p:cNvPr id="84994" name="Object 2">
                        <a:extLst>
                          <a:ext uri="{FF2B5EF4-FFF2-40B4-BE49-F238E27FC236}">
                            <a16:creationId xmlns:a16="http://schemas.microsoft.com/office/drawing/2014/main" id="{610DC143-C4A9-4F02-878F-EA82D517F6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8700" y="381000"/>
                        <a:ext cx="4305300" cy="201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4995" name="Object 3">
            <a:extLst>
              <a:ext uri="{FF2B5EF4-FFF2-40B4-BE49-F238E27FC236}">
                <a16:creationId xmlns:a16="http://schemas.microsoft.com/office/drawing/2014/main" id="{8183094D-998C-4F3C-8786-AB03B8A08A9E}"/>
              </a:ext>
            </a:extLst>
          </p:cNvPr>
          <p:cNvGraphicFramePr>
            <a:graphicFrameLocks noChangeAspect="1"/>
          </p:cNvGraphicFramePr>
          <p:nvPr/>
        </p:nvGraphicFramePr>
        <p:xfrm>
          <a:off x="304800" y="3657600"/>
          <a:ext cx="4495800" cy="2847975"/>
        </p:xfrm>
        <a:graphic>
          <a:graphicData uri="http://schemas.openxmlformats.org/presentationml/2006/ole">
            <mc:AlternateContent xmlns:mc="http://schemas.openxmlformats.org/markup-compatibility/2006">
              <mc:Choice xmlns:v="urn:schemas-microsoft-com:vml" Requires="v">
                <p:oleObj spid="_x0000_s45119" name="位图图像" r:id="rId5" imgW="4495238" imgH="2847619" progId="Paint.Picture">
                  <p:embed/>
                </p:oleObj>
              </mc:Choice>
              <mc:Fallback>
                <p:oleObj name="位图图像" r:id="rId5" imgW="4495238" imgH="2847619" progId="Paint.Picture">
                  <p:embed/>
                  <p:pic>
                    <p:nvPicPr>
                      <p:cNvPr id="84995" name="Object 3">
                        <a:extLst>
                          <a:ext uri="{FF2B5EF4-FFF2-40B4-BE49-F238E27FC236}">
                            <a16:creationId xmlns:a16="http://schemas.microsoft.com/office/drawing/2014/main" id="{8183094D-998C-4F3C-8786-AB03B8A08A9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3657600"/>
                        <a:ext cx="4495800" cy="284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4996" name="Object 4">
            <a:extLst>
              <a:ext uri="{FF2B5EF4-FFF2-40B4-BE49-F238E27FC236}">
                <a16:creationId xmlns:a16="http://schemas.microsoft.com/office/drawing/2014/main" id="{2DD11FFC-78F3-4B31-B7E7-D9F1B7BF97D6}"/>
              </a:ext>
            </a:extLst>
          </p:cNvPr>
          <p:cNvGraphicFramePr>
            <a:graphicFrameLocks noChangeAspect="1"/>
          </p:cNvGraphicFramePr>
          <p:nvPr/>
        </p:nvGraphicFramePr>
        <p:xfrm>
          <a:off x="4876800" y="3124200"/>
          <a:ext cx="3333750" cy="3476625"/>
        </p:xfrm>
        <a:graphic>
          <a:graphicData uri="http://schemas.openxmlformats.org/presentationml/2006/ole">
            <mc:AlternateContent xmlns:mc="http://schemas.openxmlformats.org/markup-compatibility/2006">
              <mc:Choice xmlns:v="urn:schemas-microsoft-com:vml" Requires="v">
                <p:oleObj spid="_x0000_s45120" name="位图图像" r:id="rId7" imgW="3333333" imgH="3476190" progId="Paint.Picture">
                  <p:embed/>
                </p:oleObj>
              </mc:Choice>
              <mc:Fallback>
                <p:oleObj name="位图图像" r:id="rId7" imgW="3333333" imgH="3476190" progId="Paint.Picture">
                  <p:embed/>
                  <p:pic>
                    <p:nvPicPr>
                      <p:cNvPr id="84996" name="Object 4">
                        <a:extLst>
                          <a:ext uri="{FF2B5EF4-FFF2-40B4-BE49-F238E27FC236}">
                            <a16:creationId xmlns:a16="http://schemas.microsoft.com/office/drawing/2014/main" id="{2DD11FFC-78F3-4B31-B7E7-D9F1B7BF97D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76800" y="3124200"/>
                        <a:ext cx="3333750" cy="347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4997" name="Text Box 5">
            <a:extLst>
              <a:ext uri="{FF2B5EF4-FFF2-40B4-BE49-F238E27FC236}">
                <a16:creationId xmlns:a16="http://schemas.microsoft.com/office/drawing/2014/main" id="{106565B3-3597-4725-989C-1D432BDC0F8F}"/>
              </a:ext>
            </a:extLst>
          </p:cNvPr>
          <p:cNvSpPr txBox="1">
            <a:spLocks noChangeArrowheads="1"/>
          </p:cNvSpPr>
          <p:nvPr/>
        </p:nvSpPr>
        <p:spPr bwMode="auto">
          <a:xfrm>
            <a:off x="136525" y="762000"/>
            <a:ext cx="4435475"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dirty="0">
                <a:solidFill>
                  <a:schemeClr val="accent2"/>
                </a:solidFill>
                <a:latin typeface="Times New Roman" panose="02020603050405020304" pitchFamily="18" charset="0"/>
              </a:rPr>
              <a:t>        5)</a:t>
            </a:r>
            <a:r>
              <a:rPr kumimoji="1" lang="zh-CN" altLang="en-US" sz="2400" b="1" dirty="0">
                <a:solidFill>
                  <a:schemeClr val="accent2"/>
                </a:solidFill>
                <a:latin typeface="Times New Roman" panose="02020603050405020304" pitchFamily="18" charset="0"/>
              </a:rPr>
              <a:t>标注角度的尺寸线应画成与视图上圆弧尺寸线相对应的椭圆弧，数字一般水平注写在尺寸线的中断处，字头向上</a:t>
            </a:r>
            <a:r>
              <a:rPr kumimoji="1" lang="zh-CN" altLang="en-US" sz="2400" dirty="0">
                <a:latin typeface="Times New Roman" panose="02020603050405020304" pitchFamily="18" charset="0"/>
              </a:rPr>
              <a:t> </a:t>
            </a:r>
          </a:p>
        </p:txBody>
      </p:sp>
      <p:sp>
        <p:nvSpPr>
          <p:cNvPr id="84998" name="Text Box 6">
            <a:extLst>
              <a:ext uri="{FF2B5EF4-FFF2-40B4-BE49-F238E27FC236}">
                <a16:creationId xmlns:a16="http://schemas.microsoft.com/office/drawing/2014/main" id="{CA210EA0-A83A-4739-BBCB-B2467F737CA7}"/>
              </a:ext>
            </a:extLst>
          </p:cNvPr>
          <p:cNvSpPr txBox="1">
            <a:spLocks noChangeArrowheads="1"/>
          </p:cNvSpPr>
          <p:nvPr/>
        </p:nvSpPr>
        <p:spPr bwMode="auto">
          <a:xfrm>
            <a:off x="1143000" y="2743200"/>
            <a:ext cx="854075" cy="485775"/>
          </a:xfrm>
          <a:prstGeom prst="rect">
            <a:avLst/>
          </a:prstGeom>
          <a:solidFill>
            <a:srgbClr val="FFFF00"/>
          </a:solidFill>
          <a:ln w="2857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a:latin typeface="Times New Roman" panose="02020603050405020304" pitchFamily="18" charset="0"/>
              </a:rPr>
              <a:t>实例</a:t>
            </a:r>
          </a:p>
        </p:txBody>
      </p:sp>
    </p:spTree>
  </p:cSld>
  <p:clrMapOvr>
    <a:masterClrMapping/>
  </p:clrMapOvr>
</p:sld>
</file>

<file path=ppt/theme/theme1.xml><?xml version="1.0" encoding="utf-8"?>
<a:theme xmlns:a="http://schemas.openxmlformats.org/drawingml/2006/main" name="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0066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3145</TotalTime>
  <Words>1469</Words>
  <Application>Microsoft Office PowerPoint</Application>
  <PresentationFormat>全屏显示(4:3)</PresentationFormat>
  <Paragraphs>120</Paragraphs>
  <Slides>29</Slides>
  <Notes>1</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29</vt:i4>
      </vt:variant>
    </vt:vector>
  </HeadingPairs>
  <TitlesOfParts>
    <vt:vector size="44" baseType="lpstr">
      <vt:lpstr>等线</vt:lpstr>
      <vt:lpstr>黑体</vt:lpstr>
      <vt:lpstr>华文楷体</vt:lpstr>
      <vt:lpstr>华文隶书</vt:lpstr>
      <vt:lpstr>楷体_GB2312</vt:lpstr>
      <vt:lpstr>宋体</vt:lpstr>
      <vt:lpstr>Arial</vt:lpstr>
      <vt:lpstr>Symbol</vt:lpstr>
      <vt:lpstr>Tahoma</vt:lpstr>
      <vt:lpstr>Times New Roman</vt:lpstr>
      <vt:lpstr>Verdana</vt:lpstr>
      <vt:lpstr>Wingdings</vt:lpstr>
      <vt:lpstr>Blends</vt:lpstr>
      <vt:lpstr>Image</vt:lpstr>
      <vt:lpstr>位图图像</vt:lpstr>
      <vt:lpstr>轴测投影 </vt:lpstr>
      <vt:lpstr> 轴 测 投 影</vt:lpstr>
      <vt:lpstr>1  轴测投影的基本知识</vt:lpstr>
      <vt:lpstr>PowerPoint 演示文稿</vt:lpstr>
      <vt:lpstr>二、轴测投影的轴间角和轴向伸缩系数</vt:lpstr>
      <vt:lpstr>PowerPoint 演示文稿</vt:lpstr>
      <vt:lpstr>PowerPoint 演示文稿</vt:lpstr>
      <vt:lpstr>PowerPoint 演示文稿</vt:lpstr>
      <vt:lpstr>2   正等轴测图的画法</vt:lpstr>
      <vt:lpstr>PowerPoint 演示文稿</vt:lpstr>
      <vt:lpstr>PowerPoint 演示文稿</vt:lpstr>
      <vt:lpstr>PowerPoint 演示文稿</vt:lpstr>
      <vt:lpstr>PowerPoint 演示文稿</vt:lpstr>
      <vt:lpstr>正等轴测图的画法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   斜二等轴测图的画法</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Visual Basic程序开发环境</dc:title>
  <dc:creator>ya6</dc:creator>
  <cp:lastModifiedBy>msn</cp:lastModifiedBy>
  <cp:revision>324</cp:revision>
  <dcterms:created xsi:type="dcterms:W3CDTF">2003-03-08T08:18:19Z</dcterms:created>
  <dcterms:modified xsi:type="dcterms:W3CDTF">2022-12-07T03:06:13Z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2052-10.1.0.6930</vt:lpwstr>
  </property>
</Properties>
</file>