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3"/>
    <p:sldId id="316" r:id="rId4"/>
    <p:sldId id="262" r:id="rId5"/>
    <p:sldId id="263" r:id="rId6"/>
    <p:sldId id="264" r:id="rId7"/>
    <p:sldId id="265" r:id="rId8"/>
    <p:sldId id="266" r:id="rId9"/>
    <p:sldId id="308" r:id="rId10"/>
    <p:sldId id="267" r:id="rId11"/>
    <p:sldId id="268" r:id="rId12"/>
    <p:sldId id="269" r:id="rId13"/>
    <p:sldId id="309" r:id="rId14"/>
    <p:sldId id="270" r:id="rId15"/>
    <p:sldId id="305" r:id="rId16"/>
    <p:sldId id="306" r:id="rId17"/>
    <p:sldId id="307" r:id="rId18"/>
    <p:sldId id="323" r:id="rId19"/>
    <p:sldId id="273" r:id="rId20"/>
    <p:sldId id="274" r:id="rId21"/>
    <p:sldId id="331" r:id="rId22"/>
    <p:sldId id="317" r:id="rId23"/>
    <p:sldId id="277" r:id="rId24"/>
    <p:sldId id="278" r:id="rId25"/>
    <p:sldId id="279" r:id="rId26"/>
    <p:sldId id="280" r:id="rId27"/>
    <p:sldId id="281" r:id="rId28"/>
    <p:sldId id="282" r:id="rId29"/>
    <p:sldId id="283" r:id="rId30"/>
    <p:sldId id="320" r:id="rId31"/>
    <p:sldId id="285" r:id="rId32"/>
    <p:sldId id="286" r:id="rId34"/>
    <p:sldId id="287" r:id="rId35"/>
    <p:sldId id="288" r:id="rId36"/>
    <p:sldId id="289" r:id="rId37"/>
    <p:sldId id="318" r:id="rId38"/>
    <p:sldId id="291" r:id="rId39"/>
    <p:sldId id="292" r:id="rId40"/>
    <p:sldId id="293" r:id="rId41"/>
    <p:sldId id="319" r:id="rId42"/>
    <p:sldId id="295" r:id="rId43"/>
    <p:sldId id="296" r:id="rId44"/>
    <p:sldId id="310" r:id="rId45"/>
    <p:sldId id="298" r:id="rId46"/>
    <p:sldId id="299" r:id="rId47"/>
    <p:sldId id="321" r:id="rId48"/>
    <p:sldId id="303" r:id="rId49"/>
    <p:sldId id="304" r:id="rId50"/>
    <p:sldId id="302" r:id="rId51"/>
    <p:sldId id="311" r:id="rId52"/>
  </p:sldIdLst>
  <p:sldSz cx="9144000" cy="6858000" type="screen4x3"/>
  <p:notesSz cx="6858000" cy="9144000"/>
  <p:custDataLst>
    <p:tags r:id="rId56"/>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38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18" autoAdjust="0"/>
    <p:restoredTop sz="94660"/>
  </p:normalViewPr>
  <p:slideViewPr>
    <p:cSldViewPr>
      <p:cViewPr varScale="1">
        <p:scale>
          <a:sx n="81" d="100"/>
          <a:sy n="81" d="100"/>
        </p:scale>
        <p:origin x="60" y="208"/>
      </p:cViewPr>
      <p:guideLst>
        <p:guide orient="horz" pos="2300"/>
        <p:guide pos="280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gs" Target="tags/tag2.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6BA8DA0B-9F4D-4D21-829A-36072320F3DC}"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smtClean="0">
                <a:latin typeface="Calibri" panose="020F0502020204030204" pitchFamily="34" charset="0"/>
              </a:defRPr>
            </a:lvl1pPr>
          </a:lstStyle>
          <a:p>
            <a:pPr>
              <a:defRPr/>
            </a:pPr>
            <a:fld id="{3310CC7B-182D-48C7-91A7-35B72A3E310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8D299F4-6B6F-4662-84D9-64F2672D1BA8}" type="slidenum">
              <a:rPr lang="en-US" altLang="zh-CN"/>
            </a:fld>
            <a:endParaRPr lang="en-US" altLang="zh-CN"/>
          </a:p>
        </p:txBody>
      </p:sp>
      <p:sp>
        <p:nvSpPr>
          <p:cNvPr id="3379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ln>
        </p:spPr>
      </p:sp>
      <p:sp>
        <p:nvSpPr>
          <p:cNvPr id="337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ln>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C6BA59C5-3DD6-4B0C-88A3-7002AAE79E97}"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495239FA-F55C-42BF-BAAC-5A8A89E341AF}"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8EAB5064-2499-41C5-8417-694A3236569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3B2104BD-6E4C-4555-A2C2-7A37F46DC3E4}"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D0E0B3E7-703D-4702-B1CF-303DA92065A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2EED81E7-6265-49E7-BA9D-66566CB2A750}"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pPr>
              <a:defRPr/>
            </a:pPr>
            <a:fld id="{C041092E-8FBD-4FD5-B0F3-1AF84317F27A}"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smtClean="0"/>
            </a:lvl1pPr>
          </a:lstStyle>
          <a:p>
            <a:pPr>
              <a:defRPr/>
            </a:pPr>
            <a:fld id="{9ECBCE8C-7466-464F-BD3E-4E7890ECAC48}"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pPr>
              <a:defRPr/>
            </a:pPr>
            <a:fld id="{27D2641E-B573-476F-AD44-970D48E2863B}"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smtClean="0"/>
            </a:lvl1pPr>
          </a:lstStyle>
          <a:p>
            <a:pPr>
              <a:defRPr/>
            </a:pPr>
            <a:fld id="{977C17DE-B993-463A-8CCD-9DA2C0AC2AB0}"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C2FA5629-BC52-4F93-8FEF-1D43BA12233B}" type="datetimeFigureOut">
              <a:rPr lang="zh-CN" altLang="en-US"/>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smtClean="0"/>
            </a:lvl1pPr>
          </a:lstStyle>
          <a:p>
            <a:pPr>
              <a:defRPr/>
            </a:pPr>
            <a:fld id="{93F7FF02-A7A7-44BC-9FDC-899F2932E0CA}"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66848038-F6C5-4C2C-BD6C-FC90DC8C8F14}" type="datetimeFigureOut">
              <a:rPr lang="zh-CN" altLang="en-US"/>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smtClean="0"/>
            </a:lvl1pPr>
          </a:lstStyle>
          <a:p>
            <a:pPr>
              <a:defRPr/>
            </a:pPr>
            <a:fld id="{B0982818-6E97-4954-A003-E552AFC73B6B}"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fld id="{90FEAD0C-7624-4DC6-96F5-A065E11EC555}"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smtClean="0"/>
            </a:lvl1pPr>
          </a:lstStyle>
          <a:p>
            <a:pPr>
              <a:defRPr/>
            </a:pPr>
            <a:fld id="{3C5A0B48-2FE5-4BAB-8757-617719842444}"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pPr>
              <a:defRPr/>
            </a:pPr>
            <a:fld id="{AE7B65D2-EE4B-427F-9421-D330C4666D80}"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smtClean="0"/>
            </a:lvl1pPr>
          </a:lstStyle>
          <a:p>
            <a:pPr>
              <a:defRPr/>
            </a:pPr>
            <a:fld id="{DD7136A1-64BA-4556-9B7B-1A481963A62E}"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6AC2C8E-310E-4183-9BC9-BF326CB820D9}"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E417A518-6522-4459-BEB3-96CF5B18EDD0}"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107A3BC8-5138-4039-B2B6-946A6F4EC60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smtClean="0"/>
            </a:lvl1pPr>
          </a:lstStyle>
          <a:p>
            <a:pPr>
              <a:defRPr/>
            </a:pPr>
            <a:fld id="{E1F9BAAD-8141-4467-8217-7373CD3FC38C}"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4"/>
          <p:cNvSpPr/>
          <p:nvPr userDrawn="1"/>
        </p:nvSpPr>
        <p:spPr>
          <a:xfrm>
            <a:off x="0" y="333375"/>
            <a:ext cx="9144000" cy="71913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dirty="0">
              <a:solidFill>
                <a:srgbClr val="002060"/>
              </a:solidFill>
            </a:endParaRPr>
          </a:p>
        </p:txBody>
      </p:sp>
      <p:sp>
        <p:nvSpPr>
          <p:cNvPr id="5" name="Rectangle 14"/>
          <p:cNvSpPr>
            <a:spLocks noChangeArrowheads="1"/>
          </p:cNvSpPr>
          <p:nvPr userDrawn="1"/>
        </p:nvSpPr>
        <p:spPr bwMode="auto">
          <a:xfrm flipV="1">
            <a:off x="395288" y="6332538"/>
            <a:ext cx="8748712" cy="49212"/>
          </a:xfrm>
          <a:prstGeom prst="rect">
            <a:avLst/>
          </a:prstGeom>
          <a:solidFill>
            <a:schemeClr val="accent6">
              <a:lumMod val="50000"/>
              <a:alpha val="8117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nchor="ctr"/>
          <a:lstStyle/>
          <a:p>
            <a:pPr algn="ctr" eaLnBrk="1" hangingPunct="1">
              <a:defRPr/>
            </a:pPr>
            <a:endParaRPr lang="zh-CN" altLang="zh-CN" sz="4400">
              <a:solidFill>
                <a:srgbClr val="1F497D"/>
              </a:solidFill>
            </a:endParaRPr>
          </a:p>
        </p:txBody>
      </p:sp>
      <p:sp>
        <p:nvSpPr>
          <p:cNvPr id="6" name="Rectangle 11"/>
          <p:cNvSpPr>
            <a:spLocks noChangeArrowheads="1"/>
          </p:cNvSpPr>
          <p:nvPr userDrawn="1"/>
        </p:nvSpPr>
        <p:spPr bwMode="auto">
          <a:xfrm>
            <a:off x="395288" y="6434138"/>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a:solidFill>
                  <a:srgbClr val="595959"/>
                </a:solidFill>
                <a:latin typeface="宋体" panose="02010600030101010101" pitchFamily="2" charset="-122"/>
              </a:rPr>
              <a:t>《</a:t>
            </a:r>
            <a:r>
              <a:rPr lang="zh-CN" altLang="en-US" sz="1400" b="1">
                <a:solidFill>
                  <a:srgbClr val="595959"/>
                </a:solidFill>
                <a:latin typeface="宋体" panose="02010600030101010101" pitchFamily="2" charset="-122"/>
              </a:rPr>
              <a:t>机械制图</a:t>
            </a:r>
            <a:r>
              <a:rPr lang="en-US" altLang="zh-CN" sz="1400" b="1">
                <a:solidFill>
                  <a:srgbClr val="595959"/>
                </a:solidFill>
                <a:latin typeface="宋体" panose="02010600030101010101" pitchFamily="2" charset="-122"/>
              </a:rPr>
              <a:t>》</a:t>
            </a:r>
            <a:endParaRPr lang="zh-CN" altLang="en-US" sz="1400" b="1">
              <a:solidFill>
                <a:srgbClr val="595959"/>
              </a:solidFill>
              <a:latin typeface="宋体" panose="02010600030101010101" pitchFamily="2" charset="-122"/>
            </a:endParaRPr>
          </a:p>
        </p:txBody>
      </p:sp>
      <p:sp>
        <p:nvSpPr>
          <p:cNvPr id="7" name="Rectangle 7"/>
          <p:cNvSpPr>
            <a:spLocks noChangeArrowheads="1"/>
          </p:cNvSpPr>
          <p:nvPr userDrawn="1"/>
        </p:nvSpPr>
        <p:spPr bwMode="auto">
          <a:xfrm>
            <a:off x="3357563" y="6429375"/>
            <a:ext cx="1101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595959"/>
                </a:solidFill>
              </a:rPr>
              <a:t>第</a:t>
            </a:r>
            <a:r>
              <a:rPr lang="en-US" altLang="zh-CN" sz="1400" b="1">
                <a:solidFill>
                  <a:srgbClr val="595959"/>
                </a:solidFill>
              </a:rPr>
              <a:t>1</a:t>
            </a:r>
            <a:r>
              <a:rPr lang="zh-CN" altLang="en-US" sz="1400" b="1">
                <a:solidFill>
                  <a:srgbClr val="595959"/>
                </a:solidFill>
              </a:rPr>
              <a:t>章  绪论</a:t>
            </a:r>
            <a:endParaRPr lang="zh-CN" altLang="en-US" sz="1400" b="1">
              <a:solidFill>
                <a:srgbClr val="595959"/>
              </a:solidFill>
            </a:endParaRPr>
          </a:p>
        </p:txBody>
      </p:sp>
      <p:sp>
        <p:nvSpPr>
          <p:cNvPr id="3" name="内容占位符 2"/>
          <p:cNvSpPr>
            <a:spLocks noGrp="1"/>
          </p:cNvSpPr>
          <p:nvPr>
            <p:ph idx="1"/>
          </p:nvPr>
        </p:nvSpPr>
        <p:spPr>
          <a:xfrm>
            <a:off x="323528" y="1351309"/>
            <a:ext cx="8229600" cy="4525963"/>
          </a:xfrm>
        </p:spPr>
        <p:txBody>
          <a:bodyPr/>
          <a:lstStyle>
            <a:lvl1pPr>
              <a:defRPr b="1">
                <a:latin typeface="黑体" panose="02010609060101010101" pitchFamily="49" charset="-122"/>
                <a:ea typeface="黑体" panose="02010609060101010101" pitchFamily="49" charset="-122"/>
              </a:defRPr>
            </a:lvl1pPr>
            <a:lvl2pPr>
              <a:buNone/>
              <a:defRPr>
                <a:latin typeface="黑体" panose="02010609060101010101" pitchFamily="49" charset="-122"/>
                <a:ea typeface="黑体" panose="02010609060101010101" pitchFamily="49" charset="-122"/>
              </a:defRPr>
            </a:lvl2pPr>
          </a:lstStyle>
          <a:p>
            <a:pPr lvl="0"/>
            <a:r>
              <a:rPr lang="zh-CN" altLang="en-US"/>
              <a:t>单击此处编辑母版文本样式</a:t>
            </a:r>
            <a:endParaRPr lang="zh-CN" altLang="en-US"/>
          </a:p>
          <a:p>
            <a:pPr lvl="1"/>
            <a:r>
              <a:rPr lang="zh-CN" altLang="en-US"/>
              <a:t>二级</a:t>
            </a:r>
            <a:endParaRPr lang="zh-CN" altLang="en-US"/>
          </a:p>
        </p:txBody>
      </p:sp>
      <p:sp>
        <p:nvSpPr>
          <p:cNvPr id="8" name="Slide Number Placeholder 4"/>
          <p:cNvSpPr>
            <a:spLocks noGrp="1"/>
          </p:cNvSpPr>
          <p:nvPr>
            <p:ph type="sldNum" sz="quarter" idx="10"/>
          </p:nvPr>
        </p:nvSpPr>
        <p:spPr>
          <a:xfrm>
            <a:off x="6875463" y="6381750"/>
            <a:ext cx="2133600" cy="365125"/>
          </a:xfrm>
        </p:spPr>
        <p:txBody>
          <a:bodyPr/>
          <a:lstStyle>
            <a:lvl1pPr>
              <a:defRPr smtClean="0">
                <a:solidFill>
                  <a:schemeClr val="tx1">
                    <a:lumMod val="75000"/>
                    <a:lumOff val="25000"/>
                  </a:schemeClr>
                </a:solidFill>
              </a:defRPr>
            </a:lvl1pPr>
          </a:lstStyle>
          <a:p>
            <a:pPr>
              <a:defRPr/>
            </a:pPr>
            <a:fld id="{10398A4C-4BAF-456D-906D-678BC69D4A60}" type="slidenum">
              <a:rPr lang="zh-CN" altLang="en-US"/>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Rectangle 5"/>
          <p:cNvSpPr>
            <a:spLocks noChangeArrowheads="1"/>
          </p:cNvSpPr>
          <p:nvPr userDrawn="1"/>
        </p:nvSpPr>
        <p:spPr bwMode="auto">
          <a:xfrm flipV="1">
            <a:off x="395288" y="6332538"/>
            <a:ext cx="8748712" cy="49212"/>
          </a:xfrm>
          <a:prstGeom prst="rect">
            <a:avLst/>
          </a:prstGeom>
          <a:solidFill>
            <a:schemeClr val="accent6">
              <a:lumMod val="50000"/>
              <a:alpha val="8117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nchor="ctr"/>
          <a:lstStyle/>
          <a:p>
            <a:pPr algn="ctr" eaLnBrk="1" hangingPunct="1">
              <a:defRPr/>
            </a:pPr>
            <a:endParaRPr lang="zh-CN" altLang="zh-CN" sz="4400">
              <a:solidFill>
                <a:srgbClr val="1F497D"/>
              </a:solidFill>
            </a:endParaRPr>
          </a:p>
        </p:txBody>
      </p:sp>
      <p:sp>
        <p:nvSpPr>
          <p:cNvPr id="3" name="Rectangle 7"/>
          <p:cNvSpPr>
            <a:spLocks noChangeArrowheads="1"/>
          </p:cNvSpPr>
          <p:nvPr userDrawn="1"/>
        </p:nvSpPr>
        <p:spPr bwMode="auto">
          <a:xfrm>
            <a:off x="395288" y="6434138"/>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b="1">
                <a:solidFill>
                  <a:srgbClr val="595959"/>
                </a:solidFill>
                <a:latin typeface="宋体" panose="02010600030101010101" pitchFamily="2" charset="-122"/>
              </a:rPr>
              <a:t>《</a:t>
            </a:r>
            <a:r>
              <a:rPr lang="zh-CN" altLang="en-US" sz="1400" b="1">
                <a:solidFill>
                  <a:srgbClr val="595959"/>
                </a:solidFill>
                <a:latin typeface="宋体" panose="02010600030101010101" pitchFamily="2" charset="-122"/>
              </a:rPr>
              <a:t>机械制图</a:t>
            </a:r>
            <a:r>
              <a:rPr lang="en-US" altLang="zh-CN" sz="1400" b="1">
                <a:solidFill>
                  <a:srgbClr val="595959"/>
                </a:solidFill>
                <a:latin typeface="宋体" panose="02010600030101010101" pitchFamily="2" charset="-122"/>
              </a:rPr>
              <a:t>》</a:t>
            </a:r>
            <a:endParaRPr lang="zh-CN" altLang="en-US" sz="1400" b="1">
              <a:solidFill>
                <a:srgbClr val="595959"/>
              </a:solidFill>
              <a:latin typeface="宋体" panose="02010600030101010101" pitchFamily="2" charset="-122"/>
            </a:endParaRPr>
          </a:p>
        </p:txBody>
      </p:sp>
      <p:sp>
        <p:nvSpPr>
          <p:cNvPr id="4" name="Rectangle 7"/>
          <p:cNvSpPr>
            <a:spLocks noChangeArrowheads="1"/>
          </p:cNvSpPr>
          <p:nvPr userDrawn="1"/>
        </p:nvSpPr>
        <p:spPr bwMode="auto">
          <a:xfrm>
            <a:off x="3357563" y="6429375"/>
            <a:ext cx="1101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595959"/>
                </a:solidFill>
              </a:rPr>
              <a:t>第</a:t>
            </a:r>
            <a:r>
              <a:rPr lang="en-US" altLang="zh-CN" sz="1400" b="1">
                <a:solidFill>
                  <a:srgbClr val="595959"/>
                </a:solidFill>
              </a:rPr>
              <a:t>1</a:t>
            </a:r>
            <a:r>
              <a:rPr lang="zh-CN" altLang="en-US" sz="1400" b="1">
                <a:solidFill>
                  <a:srgbClr val="595959"/>
                </a:solidFill>
              </a:rPr>
              <a:t>章  绪论</a:t>
            </a:r>
            <a:endParaRPr lang="zh-CN" altLang="en-US" sz="1400" b="1">
              <a:solidFill>
                <a:srgbClr val="595959"/>
              </a:solidFill>
            </a:endParaRPr>
          </a:p>
        </p:txBody>
      </p:sp>
      <p:sp>
        <p:nvSpPr>
          <p:cNvPr id="5" name="Slide Number Placeholder 4"/>
          <p:cNvSpPr>
            <a:spLocks noGrp="1"/>
          </p:cNvSpPr>
          <p:nvPr>
            <p:ph type="sldNum" sz="quarter" idx="10"/>
          </p:nvPr>
        </p:nvSpPr>
        <p:spPr>
          <a:xfrm>
            <a:off x="6875463" y="6381750"/>
            <a:ext cx="2133600" cy="365125"/>
          </a:xfrm>
        </p:spPr>
        <p:txBody>
          <a:bodyPr/>
          <a:lstStyle>
            <a:lvl1pPr>
              <a:defRPr smtClean="0">
                <a:solidFill>
                  <a:schemeClr val="tx1">
                    <a:lumMod val="75000"/>
                    <a:lumOff val="25000"/>
                  </a:schemeClr>
                </a:solidFill>
              </a:defRPr>
            </a:lvl1pPr>
          </a:lstStyle>
          <a:p>
            <a:pPr>
              <a:defRPr/>
            </a:pPr>
            <a:fld id="{A308BBA3-C608-4444-B6E5-E867D87E901A}" type="slidenum">
              <a:rPr lang="zh-CN" altLang="en-US"/>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01625" y="228600"/>
            <a:ext cx="8540750"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301625" y="1600200"/>
            <a:ext cx="4194175" cy="21732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quarter" idx="2"/>
          </p:nvPr>
        </p:nvSpPr>
        <p:spPr>
          <a:xfrm>
            <a:off x="4648200" y="1600200"/>
            <a:ext cx="4194175" cy="21732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内容占位符 4"/>
          <p:cNvSpPr>
            <a:spLocks noGrp="1"/>
          </p:cNvSpPr>
          <p:nvPr>
            <p:ph sz="quarter" idx="3"/>
          </p:nvPr>
        </p:nvSpPr>
        <p:spPr>
          <a:xfrm>
            <a:off x="301625" y="3925888"/>
            <a:ext cx="4194175" cy="21732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内容占位符 5"/>
          <p:cNvSpPr>
            <a:spLocks noGrp="1"/>
          </p:cNvSpPr>
          <p:nvPr>
            <p:ph sz="quarter" idx="4"/>
          </p:nvPr>
        </p:nvSpPr>
        <p:spPr>
          <a:xfrm>
            <a:off x="4648200" y="3925888"/>
            <a:ext cx="4194175" cy="21732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301625" y="6245225"/>
            <a:ext cx="2289175" cy="476250"/>
          </a:xfrm>
        </p:spPr>
        <p:txBody>
          <a:bodyPr/>
          <a:lstStyle>
            <a:lvl1pPr>
              <a:defRPr/>
            </a:lvl1pPr>
          </a:lstStyle>
          <a:p>
            <a:endParaRPr lang="en-US" altLang="zh-CN"/>
          </a:p>
        </p:txBody>
      </p:sp>
      <p:sp>
        <p:nvSpPr>
          <p:cNvPr id="8" name="页脚占位符 7"/>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9" name="灯片编号占位符 8"/>
          <p:cNvSpPr>
            <a:spLocks noGrp="1"/>
          </p:cNvSpPr>
          <p:nvPr>
            <p:ph type="sldNum" sz="quarter" idx="12"/>
          </p:nvPr>
        </p:nvSpPr>
        <p:spPr>
          <a:xfrm>
            <a:off x="6553200" y="6245225"/>
            <a:ext cx="2289175" cy="476250"/>
          </a:xfrm>
        </p:spPr>
        <p:txBody>
          <a:bodyPr/>
          <a:lstStyle>
            <a:lvl1pPr>
              <a:defRPr/>
            </a:lvl1pPr>
          </a:lstStyle>
          <a:p>
            <a:fld id="{433C10A3-1A0B-441C-913A-B0761FCF9A6E}" type="slidenum">
              <a:rPr lang="zh-CN" altLang="en-US"/>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228600"/>
            <a:ext cx="8540750"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quarter" idx="2"/>
          </p:nvPr>
        </p:nvSpPr>
        <p:spPr>
          <a:xfrm>
            <a:off x="4648200" y="1600200"/>
            <a:ext cx="4194175" cy="21732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内容占位符 4"/>
          <p:cNvSpPr>
            <a:spLocks noGrp="1"/>
          </p:cNvSpPr>
          <p:nvPr>
            <p:ph sz="quarter" idx="3"/>
          </p:nvPr>
        </p:nvSpPr>
        <p:spPr>
          <a:xfrm>
            <a:off x="4648200" y="3925888"/>
            <a:ext cx="4194175" cy="217328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日期占位符 5"/>
          <p:cNvSpPr>
            <a:spLocks noGrp="1"/>
          </p:cNvSpPr>
          <p:nvPr>
            <p:ph type="dt" sz="half" idx="10"/>
          </p:nvPr>
        </p:nvSpPr>
        <p:spPr>
          <a:xfrm>
            <a:off x="301625" y="6245225"/>
            <a:ext cx="2289175"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5225"/>
            <a:ext cx="2289175" cy="476250"/>
          </a:xfrm>
        </p:spPr>
        <p:txBody>
          <a:bodyPr/>
          <a:lstStyle>
            <a:lvl1pPr>
              <a:defRPr/>
            </a:lvl1pPr>
          </a:lstStyle>
          <a:p>
            <a:fld id="{A1AB1B9B-FC64-40CF-B573-E1D1D1A9DC03}" type="slidenum">
              <a:rPr lang="zh-CN" altLang="en-US"/>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reserve="1" showMasterSp="0">
  <p:cSld name="内容">
    <p:bg>
      <p:bgPr>
        <a:solidFill>
          <a:schemeClr val="bg1"/>
        </a:solidFill>
        <a:effectLst/>
      </p:bgPr>
    </p:bg>
    <p:spTree>
      <p:nvGrpSpPr>
        <p:cNvPr id="1" name=""/>
        <p:cNvGrpSpPr/>
        <p:nvPr/>
      </p:nvGrpSpPr>
      <p:grpSpPr>
        <a:xfrm>
          <a:off x="0" y="0"/>
          <a:ext cx="0" cy="0"/>
          <a:chOff x="0" y="0"/>
          <a:chExt cx="0" cy="0"/>
        </a:xfrm>
      </p:grpSpPr>
      <p:graphicFrame>
        <p:nvGraphicFramePr>
          <p:cNvPr id="38915" name="Object 9"/>
          <p:cNvGraphicFramePr>
            <a:graphicFrameLocks noChangeAspect="1"/>
          </p:cNvGraphicFramePr>
          <p:nvPr userDrawn="1"/>
        </p:nvGraphicFramePr>
        <p:xfrm>
          <a:off x="8458200" y="142875"/>
          <a:ext cx="685800" cy="611188"/>
        </p:xfrm>
        <a:graphic>
          <a:graphicData uri="http://schemas.openxmlformats.org/presentationml/2006/ole">
            <mc:AlternateContent xmlns:mc="http://schemas.openxmlformats.org/markup-compatibility/2006">
              <mc:Choice xmlns:v="urn:schemas-microsoft-com:vml" Requires="v">
                <p:oleObj spid="_x0000_s2" name="" r:id="rId2" imgW="2428875" imgH="2171700" progId="StaticDib">
                  <p:embed/>
                </p:oleObj>
              </mc:Choice>
              <mc:Fallback>
                <p:oleObj name="" r:id="rId2" imgW="2428875" imgH="2171700" progId="StaticDib">
                  <p:embed/>
                  <p:pic>
                    <p:nvPicPr>
                      <p:cNvPr id="0" name="图片 3075"/>
                      <p:cNvPicPr/>
                      <p:nvPr/>
                    </p:nvPicPr>
                    <p:blipFill>
                      <a:blip r:embed="rId3"/>
                      <a:stretch>
                        <a:fillRect/>
                      </a:stretch>
                    </p:blipFill>
                    <p:spPr>
                      <a:xfrm>
                        <a:off x="8458200" y="142875"/>
                        <a:ext cx="685800" cy="611188"/>
                      </a:xfrm>
                      <a:prstGeom prst="rect">
                        <a:avLst/>
                      </a:prstGeom>
                      <a:noFill/>
                      <a:ln w="38100">
                        <a:noFill/>
                        <a:miter/>
                      </a:ln>
                    </p:spPr>
                  </p:pic>
                </p:oleObj>
              </mc:Fallback>
            </mc:AlternateContent>
          </a:graphicData>
        </a:graphic>
      </p:graphicFrame>
      <p:sp>
        <p:nvSpPr>
          <p:cNvPr id="11" name="Line 7"/>
          <p:cNvSpPr>
            <a:spLocks noChangeShapeType="1"/>
          </p:cNvSpPr>
          <p:nvPr/>
        </p:nvSpPr>
        <p:spPr bwMode="auto">
          <a:xfrm>
            <a:off x="0" y="762000"/>
            <a:ext cx="9144000" cy="0"/>
          </a:xfrm>
          <a:prstGeom prst="line">
            <a:avLst/>
          </a:prstGeom>
          <a:noFill/>
          <a:ln w="19050">
            <a:solidFill>
              <a:srgbClr val="FF0000"/>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矩形 11"/>
          <p:cNvSpPr/>
          <p:nvPr/>
        </p:nvSpPr>
        <p:spPr>
          <a:xfrm>
            <a:off x="0" y="6488113"/>
            <a:ext cx="2492375" cy="369888"/>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06600"/>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rPr>
              <a:t>工程制图基础教学软件</a:t>
            </a:r>
            <a:endParaRPr kumimoji="0" lang="zh-CN" altLang="en-US" sz="1800" b="0" i="0" u="none" strike="noStrike" kern="1200" cap="none" spc="0" normalizeH="0" baseline="0" noProof="0" dirty="0">
              <a:ln>
                <a:noFill/>
              </a:ln>
              <a:solidFill>
                <a:srgbClr val="006600"/>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mn-cs"/>
            </a:endParaRPr>
          </a:p>
        </p:txBody>
      </p:sp>
      <p:sp>
        <p:nvSpPr>
          <p:cNvPr id="3" name="内容占位符 2"/>
          <p:cNvSpPr>
            <a:spLocks noGrp="1"/>
          </p:cNvSpPr>
          <p:nvPr>
            <p:ph/>
          </p:nvPr>
        </p:nvSpPr>
        <p:spPr>
          <a:xfrm>
            <a:off x="457200" y="457200"/>
            <a:ext cx="8229600" cy="5410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3" name="Rectangle 2"/>
          <p:cNvSpPr>
            <a:spLocks noGrp="1" noChangeArrowheads="1"/>
          </p:cNvSpPr>
          <p:nvPr>
            <p:ph type="ftr" sz="quarter" idx="3"/>
          </p:nvPr>
        </p:nvSpPr>
        <p:spPr bwMode="auto">
          <a:xfrm>
            <a:off x="3184525" y="64008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第一章   制图基本知识和技能 </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 name="Rectangle 3"/>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p>
            <a:pPr algn="r">
              <a:buNone/>
            </a:pPr>
            <a:fld id="{9A0DB2DC-4C9A-4742-B13C-FB6460FD3503}" type="slidenum">
              <a:rPr lang="en-US" altLang="zh-CN" dirty="0">
                <a:latin typeface="Arial Black" panose="020B0A04020102020204" pitchFamily="34" charset="0"/>
              </a:rPr>
            </a:fld>
            <a:endParaRPr lang="en-US" altLang="zh-CN" dirty="0">
              <a:latin typeface="Arial Black" panose="020B0A04020102020204" pitchFamily="34" charset="0"/>
            </a:endParaRPr>
          </a:p>
        </p:txBody>
      </p:sp>
      <p:sp>
        <p:nvSpPr>
          <p:cNvPr id="15" name="Rectangle 16"/>
          <p:cNvSpPr>
            <a:spLocks noGrp="1" noChangeArrowheads="1"/>
          </p:cNvSpPr>
          <p:nvPr>
            <p:ph type="dt" sz="half" idx="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2.jpe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7"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E6BA3471-8F77-4988-93EC-C76938312EAD}" type="datetimeFigureOut">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smtClean="0">
                <a:solidFill>
                  <a:srgbClr val="898989"/>
                </a:solidFill>
                <a:latin typeface="Calibri" panose="020F0502020204030204" pitchFamily="34" charset="0"/>
              </a:defRPr>
            </a:lvl1pPr>
          </a:lstStyle>
          <a:p>
            <a:pPr>
              <a:defRPr/>
            </a:pPr>
            <a:fld id="{64C67417-CE36-47FB-9AB7-1A10D914B3C0}"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49.xml"/><Relationship Id="rId2" Type="http://schemas.openxmlformats.org/officeDocument/2006/relationships/slide" Target="slide47.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 Target="slide4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jpeg"/><Relationship Id="rId1" Type="http://schemas.openxmlformats.org/officeDocument/2006/relationships/slide" Target="slide48.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slide" Target="slide48.xml"/><Relationship Id="rId2" Type="http://schemas.openxmlformats.org/officeDocument/2006/relationships/image" Target="../media/image9.jpeg"/><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jpeg"/><Relationship Id="rId3" Type="http://schemas.openxmlformats.org/officeDocument/2006/relationships/image" Target="../media/image9.jpeg"/><Relationship Id="rId2" Type="http://schemas.openxmlformats.org/officeDocument/2006/relationships/slide" Target="slide48.xml"/><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9.jpeg"/><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slide" Target="slide46.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 Target="slide46.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47.png"/><Relationship Id="rId1" Type="http://schemas.openxmlformats.org/officeDocument/2006/relationships/image" Target="../media/image4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0.png"/><Relationship Id="rId1"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3.jpeg"/><Relationship Id="rId1" Type="http://schemas.openxmlformats.org/officeDocument/2006/relationships/image" Target="../media/image52.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4.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5.png"/><Relationship Id="rId1" Type="http://schemas.openxmlformats.org/officeDocument/2006/relationships/image" Target="../media/image54.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6.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image" Target="../media/image56.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标题 1"/>
          <p:cNvSpPr>
            <a:spLocks noGrp="1"/>
          </p:cNvSpPr>
          <p:nvPr>
            <p:ph type="ctrTitle"/>
          </p:nvPr>
        </p:nvSpPr>
        <p:spPr/>
        <p:txBody>
          <a:bodyPr/>
          <a:lstStyle/>
          <a:p>
            <a:pPr eaLnBrk="1" hangingPunct="1"/>
            <a:r>
              <a:rPr lang="zh-CN" altLang="en-US" dirty="0"/>
              <a:t>第</a:t>
            </a:r>
            <a:r>
              <a:rPr lang="en-US" altLang="zh-CN"/>
              <a:t>14</a:t>
            </a:r>
            <a:r>
              <a:rPr lang="zh-CN" altLang="en-US"/>
              <a:t>讲 </a:t>
            </a:r>
            <a:r>
              <a:rPr lang="zh-CN" altLang="en-US" dirty="0"/>
              <a:t>零件图之二</a:t>
            </a:r>
            <a:endParaRPr lang="zh-CN" altLang="en-US" dirty="0"/>
          </a:p>
        </p:txBody>
      </p:sp>
      <p:sp>
        <p:nvSpPr>
          <p:cNvPr id="3" name="副标题 2"/>
          <p:cNvSpPr>
            <a:spLocks noGrp="1"/>
          </p:cNvSpPr>
          <p:nvPr>
            <p:ph type="subTitle" idx="1"/>
          </p:nvPr>
        </p:nvSpPr>
        <p:spPr/>
        <p:txBody>
          <a:bodyPr rtlCol="0">
            <a:normAutofit/>
          </a:bodyPr>
          <a:lstStyle/>
          <a:p>
            <a:pPr eaLnBrk="1" fontAlgn="auto" hangingPunct="1">
              <a:spcAft>
                <a:spcPts val="0"/>
              </a:spcAft>
              <a:defRPr/>
            </a:pPr>
            <a:r>
              <a:rPr lang="zh-CN" altLang="en-US" dirty="0"/>
              <a:t>第六单元   机械图介绍</a:t>
            </a:r>
            <a:endParaRPr lang="zh-CN" altLang="en-US" b="1" dirty="0">
              <a:solidFill>
                <a:srgbClr val="000066"/>
              </a:solidFill>
              <a:latin typeface="黑体" panose="02010609060101010101" pitchFamily="49" charset="-122"/>
              <a:ea typeface="黑体" panose="02010609060101010101" pitchFamily="49" charset="-122"/>
            </a:endParaRPr>
          </a:p>
          <a:p>
            <a:pPr eaLnBrk="1" fontAlgn="auto" hangingPunct="1">
              <a:spcAft>
                <a:spcPts val="0"/>
              </a:spcAft>
              <a:defRPr/>
            </a:pPr>
            <a:endParaRPr lang="zh-CN" altLang="en-US" b="1" dirty="0">
              <a:solidFill>
                <a:srgbClr val="000066"/>
              </a:solidFill>
              <a:latin typeface="黑体" panose="02010609060101010101" pitchFamily="49" charset="-122"/>
              <a:ea typeface="黑体" panose="02010609060101010101" pitchFamily="49"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8" name="Rectangle 4"/>
          <p:cNvSpPr>
            <a:spLocks noGrp="1" noChangeArrowheads="1"/>
          </p:cNvSpPr>
          <p:nvPr>
            <p:ph type="ctrTitle"/>
          </p:nvPr>
        </p:nvSpPr>
        <p:spPr>
          <a:xfrm>
            <a:off x="1641475" y="138113"/>
            <a:ext cx="5819775" cy="606425"/>
          </a:xfrm>
          <a:gradFill rotWithShape="0">
            <a:gsLst>
              <a:gs pos="0">
                <a:srgbClr val="33CCCC"/>
              </a:gs>
              <a:gs pos="50000">
                <a:srgbClr val="33CCCC">
                  <a:gamma/>
                  <a:tint val="5098"/>
                  <a:invGamma/>
                </a:srgbClr>
              </a:gs>
              <a:gs pos="100000">
                <a:srgbClr val="33CCCC"/>
              </a:gs>
            </a:gsLst>
            <a:lin ang="5400000" scaled="1"/>
          </a:gradFill>
          <a:ln w="76200">
            <a:pattFill prst="sphere">
              <a:fgClr>
                <a:srgbClr val="33CCCC"/>
              </a:fgClr>
              <a:bgClr>
                <a:srgbClr val="FFFFFF"/>
              </a:bgClr>
            </a:patt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r>
              <a:rPr lang="zh-CN" altLang="en-US" sz="3600" b="1" dirty="0">
                <a:solidFill>
                  <a:srgbClr val="0000CC"/>
                </a:solidFill>
                <a:latin typeface="黑体" panose="02010609060101010101" pitchFamily="49" charset="-122"/>
                <a:ea typeface="黑体" panose="02010609060101010101" pitchFamily="49" charset="-122"/>
              </a:rPr>
              <a:t>零件图的视图选择</a:t>
            </a:r>
            <a:endParaRPr lang="zh-CN" altLang="en-US" sz="3600" b="1" dirty="0">
              <a:solidFill>
                <a:srgbClr val="FF3300"/>
              </a:solidFill>
              <a:latin typeface="黑体" panose="02010609060101010101" pitchFamily="49" charset="-122"/>
              <a:ea typeface="黑体" panose="02010609060101010101" pitchFamily="49" charset="-122"/>
            </a:endParaRPr>
          </a:p>
        </p:txBody>
      </p:sp>
      <p:sp>
        <p:nvSpPr>
          <p:cNvPr id="72709" name="Text Box 5"/>
          <p:cNvSpPr txBox="1">
            <a:spLocks noChangeArrowheads="1"/>
          </p:cNvSpPr>
          <p:nvPr/>
        </p:nvSpPr>
        <p:spPr bwMode="auto">
          <a:xfrm>
            <a:off x="584200" y="1438275"/>
            <a:ext cx="8123238" cy="1373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latin typeface="宋体" panose="02010600030101010101" pitchFamily="2" charset="-122"/>
              </a:rPr>
              <a:t>    </a:t>
            </a:r>
            <a:r>
              <a:rPr lang="zh-CN" altLang="en-US" sz="2800" b="1">
                <a:latin typeface="宋体" panose="02010600030101010101" pitchFamily="2" charset="-122"/>
              </a:rPr>
              <a:t>为满足生产的需要，零件图的一组视图应视零件的功用及结构形状的不同而采用不同的视图及表达方法。</a:t>
            </a:r>
            <a:endParaRPr lang="zh-CN" altLang="en-US" sz="2800" b="1">
              <a:latin typeface="宋体" panose="02010600030101010101" pitchFamily="2" charset="-122"/>
            </a:endParaRPr>
          </a:p>
        </p:txBody>
      </p:sp>
      <p:sp>
        <p:nvSpPr>
          <p:cNvPr id="72710" name="Text Box 6"/>
          <p:cNvSpPr txBox="1">
            <a:spLocks noChangeArrowheads="1"/>
          </p:cNvSpPr>
          <p:nvPr/>
        </p:nvSpPr>
        <p:spPr bwMode="auto">
          <a:xfrm>
            <a:off x="536575" y="2733675"/>
            <a:ext cx="19954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t>如：圆筒</a:t>
            </a:r>
            <a:endParaRPr lang="zh-CN" altLang="en-US" sz="2800" b="1"/>
          </a:p>
        </p:txBody>
      </p:sp>
      <p:sp>
        <p:nvSpPr>
          <p:cNvPr id="72711" name="Text Box 7"/>
          <p:cNvSpPr txBox="1">
            <a:spLocks noChangeArrowheads="1"/>
          </p:cNvSpPr>
          <p:nvPr/>
        </p:nvSpPr>
        <p:spPr bwMode="auto">
          <a:xfrm>
            <a:off x="2281238" y="2733675"/>
            <a:ext cx="203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solidFill>
                  <a:srgbClr val="FF3300"/>
                </a:solidFill>
              </a:rPr>
              <a:t>一个视图</a:t>
            </a:r>
            <a:endParaRPr lang="zh-CN" altLang="en-US" sz="2800" b="1">
              <a:solidFill>
                <a:srgbClr val="FF3300"/>
              </a:solidFill>
            </a:endParaRPr>
          </a:p>
        </p:txBody>
      </p:sp>
      <p:grpSp>
        <p:nvGrpSpPr>
          <p:cNvPr id="72712" name="Group 8"/>
          <p:cNvGrpSpPr/>
          <p:nvPr/>
        </p:nvGrpSpPr>
        <p:grpSpPr bwMode="auto">
          <a:xfrm>
            <a:off x="709613" y="3479800"/>
            <a:ext cx="2335212" cy="1428750"/>
            <a:chOff x="447" y="2300"/>
            <a:chExt cx="1471" cy="900"/>
          </a:xfrm>
        </p:grpSpPr>
        <p:sp>
          <p:nvSpPr>
            <p:cNvPr id="72713" name="Text Box 9"/>
            <p:cNvSpPr txBox="1">
              <a:spLocks noChangeArrowheads="1"/>
            </p:cNvSpPr>
            <p:nvPr/>
          </p:nvSpPr>
          <p:spPr bwMode="auto">
            <a:xfrm rot="-5400000">
              <a:off x="1368" y="2529"/>
              <a:ext cx="327"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2000" b="1" i="1">
                  <a:latin typeface="ISOCPEUR" panose="020B0604020202020204" pitchFamily="34" charset="0"/>
                  <a:sym typeface="Symbol" panose="05050102010706020507" pitchFamily="18" charset="2"/>
                </a:rPr>
                <a:t></a:t>
              </a:r>
              <a:r>
                <a:rPr lang="en-US" altLang="zh-CN" sz="2000" b="1" i="1">
                  <a:latin typeface="ISOCPEUR" panose="020B0604020202020204" pitchFamily="34" charset="0"/>
                </a:rPr>
                <a:t>12</a:t>
              </a:r>
              <a:endParaRPr lang="en-US" altLang="zh-CN" b="1">
                <a:latin typeface="ISOCPEUR" panose="020B0604020202020204" pitchFamily="34" charset="0"/>
              </a:endParaRPr>
            </a:p>
          </p:txBody>
        </p:sp>
        <p:sp>
          <p:nvSpPr>
            <p:cNvPr id="72714" name="Line 10"/>
            <p:cNvSpPr>
              <a:spLocks noChangeShapeType="1"/>
            </p:cNvSpPr>
            <p:nvPr/>
          </p:nvSpPr>
          <p:spPr bwMode="auto">
            <a:xfrm>
              <a:off x="447" y="2612"/>
              <a:ext cx="1080" cy="0"/>
            </a:xfrm>
            <a:prstGeom prst="line">
              <a:avLst/>
            </a:prstGeom>
            <a:noFill/>
            <a:ln w="9525">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5" name="Rectangle 11"/>
            <p:cNvSpPr>
              <a:spLocks noChangeArrowheads="1"/>
            </p:cNvSpPr>
            <p:nvPr/>
          </p:nvSpPr>
          <p:spPr bwMode="auto">
            <a:xfrm>
              <a:off x="579" y="2312"/>
              <a:ext cx="852" cy="600"/>
            </a:xfrm>
            <a:prstGeom prst="rect">
              <a:avLst/>
            </a:prstGeom>
            <a:noFill/>
            <a:ln w="38100">
              <a:solidFill>
                <a:schemeClr val="tx1"/>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72716" name="Line 12"/>
            <p:cNvSpPr>
              <a:spLocks noChangeShapeType="1"/>
            </p:cNvSpPr>
            <p:nvPr/>
          </p:nvSpPr>
          <p:spPr bwMode="auto">
            <a:xfrm>
              <a:off x="579" y="2420"/>
              <a:ext cx="85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7" name="Line 13"/>
            <p:cNvSpPr>
              <a:spLocks noChangeShapeType="1"/>
            </p:cNvSpPr>
            <p:nvPr/>
          </p:nvSpPr>
          <p:spPr bwMode="auto">
            <a:xfrm>
              <a:off x="579" y="2804"/>
              <a:ext cx="85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8" name="Line 14"/>
            <p:cNvSpPr>
              <a:spLocks noChangeShapeType="1"/>
            </p:cNvSpPr>
            <p:nvPr/>
          </p:nvSpPr>
          <p:spPr bwMode="auto">
            <a:xfrm flipV="1">
              <a:off x="579" y="2300"/>
              <a:ext cx="120" cy="1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19" name="Line 15"/>
            <p:cNvSpPr>
              <a:spLocks noChangeShapeType="1"/>
            </p:cNvSpPr>
            <p:nvPr/>
          </p:nvSpPr>
          <p:spPr bwMode="auto">
            <a:xfrm flipV="1">
              <a:off x="759" y="2300"/>
              <a:ext cx="108" cy="10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0" name="Line 16"/>
            <p:cNvSpPr>
              <a:spLocks noChangeShapeType="1"/>
            </p:cNvSpPr>
            <p:nvPr/>
          </p:nvSpPr>
          <p:spPr bwMode="auto">
            <a:xfrm flipV="1">
              <a:off x="939" y="2312"/>
              <a:ext cx="108" cy="10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1" name="Line 17"/>
            <p:cNvSpPr>
              <a:spLocks noChangeShapeType="1"/>
            </p:cNvSpPr>
            <p:nvPr/>
          </p:nvSpPr>
          <p:spPr bwMode="auto">
            <a:xfrm flipV="1">
              <a:off x="1143" y="2300"/>
              <a:ext cx="108" cy="10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2" name="Line 18"/>
            <p:cNvSpPr>
              <a:spLocks noChangeShapeType="1"/>
            </p:cNvSpPr>
            <p:nvPr/>
          </p:nvSpPr>
          <p:spPr bwMode="auto">
            <a:xfrm flipV="1">
              <a:off x="579" y="2804"/>
              <a:ext cx="108" cy="10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3" name="Line 19"/>
            <p:cNvSpPr>
              <a:spLocks noChangeShapeType="1"/>
            </p:cNvSpPr>
            <p:nvPr/>
          </p:nvSpPr>
          <p:spPr bwMode="auto">
            <a:xfrm flipV="1">
              <a:off x="771" y="2804"/>
              <a:ext cx="108" cy="10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4" name="Line 20"/>
            <p:cNvSpPr>
              <a:spLocks noChangeShapeType="1"/>
            </p:cNvSpPr>
            <p:nvPr/>
          </p:nvSpPr>
          <p:spPr bwMode="auto">
            <a:xfrm flipV="1">
              <a:off x="975" y="2804"/>
              <a:ext cx="108" cy="10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5" name="Line 21"/>
            <p:cNvSpPr>
              <a:spLocks noChangeShapeType="1"/>
            </p:cNvSpPr>
            <p:nvPr/>
          </p:nvSpPr>
          <p:spPr bwMode="auto">
            <a:xfrm flipV="1">
              <a:off x="1155" y="2804"/>
              <a:ext cx="108" cy="10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6" name="Line 22"/>
            <p:cNvSpPr>
              <a:spLocks noChangeShapeType="1"/>
            </p:cNvSpPr>
            <p:nvPr/>
          </p:nvSpPr>
          <p:spPr bwMode="auto">
            <a:xfrm flipV="1">
              <a:off x="1335" y="2816"/>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7" name="Line 23"/>
            <p:cNvSpPr>
              <a:spLocks noChangeShapeType="1"/>
            </p:cNvSpPr>
            <p:nvPr/>
          </p:nvSpPr>
          <p:spPr bwMode="auto">
            <a:xfrm flipV="1">
              <a:off x="1323" y="2324"/>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8" name="Line 24"/>
            <p:cNvSpPr>
              <a:spLocks noChangeShapeType="1"/>
            </p:cNvSpPr>
            <p:nvPr/>
          </p:nvSpPr>
          <p:spPr bwMode="auto">
            <a:xfrm>
              <a:off x="1431" y="2420"/>
              <a:ext cx="26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9" name="Line 25"/>
            <p:cNvSpPr>
              <a:spLocks noChangeShapeType="1"/>
            </p:cNvSpPr>
            <p:nvPr/>
          </p:nvSpPr>
          <p:spPr bwMode="auto">
            <a:xfrm>
              <a:off x="1431" y="2804"/>
              <a:ext cx="26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0" name="Line 26"/>
            <p:cNvSpPr>
              <a:spLocks noChangeShapeType="1"/>
            </p:cNvSpPr>
            <p:nvPr/>
          </p:nvSpPr>
          <p:spPr bwMode="auto">
            <a:xfrm>
              <a:off x="1623" y="2410"/>
              <a:ext cx="0" cy="408"/>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1" name="Line 27"/>
            <p:cNvSpPr>
              <a:spLocks noChangeShapeType="1"/>
            </p:cNvSpPr>
            <p:nvPr/>
          </p:nvSpPr>
          <p:spPr bwMode="auto">
            <a:xfrm>
              <a:off x="1431" y="2312"/>
              <a:ext cx="48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2" name="Line 28"/>
            <p:cNvSpPr>
              <a:spLocks noChangeShapeType="1"/>
            </p:cNvSpPr>
            <p:nvPr/>
          </p:nvSpPr>
          <p:spPr bwMode="auto">
            <a:xfrm>
              <a:off x="1431" y="2912"/>
              <a:ext cx="48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3" name="Line 29"/>
            <p:cNvSpPr>
              <a:spLocks noChangeShapeType="1"/>
            </p:cNvSpPr>
            <p:nvPr/>
          </p:nvSpPr>
          <p:spPr bwMode="auto">
            <a:xfrm flipH="1">
              <a:off x="1863" y="2307"/>
              <a:ext cx="0" cy="616"/>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4" name="Line 30"/>
            <p:cNvSpPr>
              <a:spLocks noChangeShapeType="1"/>
            </p:cNvSpPr>
            <p:nvPr/>
          </p:nvSpPr>
          <p:spPr bwMode="auto">
            <a:xfrm>
              <a:off x="579" y="2900"/>
              <a:ext cx="0" cy="3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5" name="Line 31"/>
            <p:cNvSpPr>
              <a:spLocks noChangeShapeType="1"/>
            </p:cNvSpPr>
            <p:nvPr/>
          </p:nvSpPr>
          <p:spPr bwMode="auto">
            <a:xfrm>
              <a:off x="1431" y="2888"/>
              <a:ext cx="0" cy="3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6" name="Line 32"/>
            <p:cNvSpPr>
              <a:spLocks noChangeShapeType="1"/>
            </p:cNvSpPr>
            <p:nvPr/>
          </p:nvSpPr>
          <p:spPr bwMode="auto">
            <a:xfrm>
              <a:off x="579" y="3152"/>
              <a:ext cx="852"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37" name="Text Box 33"/>
            <p:cNvSpPr txBox="1">
              <a:spLocks noChangeArrowheads="1"/>
            </p:cNvSpPr>
            <p:nvPr/>
          </p:nvSpPr>
          <p:spPr bwMode="auto">
            <a:xfrm>
              <a:off x="911" y="2947"/>
              <a:ext cx="266"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eaLnBrk="0" hangingPunct="0"/>
              <a:r>
                <a:rPr lang="en-US" altLang="zh-CN" sz="2000" b="1" i="1">
                  <a:latin typeface="ISOCPEUR" panose="020B0604020202020204" pitchFamily="34" charset="0"/>
                </a:rPr>
                <a:t>25</a:t>
              </a:r>
              <a:endParaRPr lang="en-US" altLang="zh-CN" b="1">
                <a:latin typeface="ISOCPEUR" panose="020B0604020202020204" pitchFamily="34" charset="0"/>
              </a:endParaRPr>
            </a:p>
          </p:txBody>
        </p:sp>
        <p:sp>
          <p:nvSpPr>
            <p:cNvPr id="72738" name="Text Box 34"/>
            <p:cNvSpPr txBox="1">
              <a:spLocks noChangeArrowheads="1"/>
            </p:cNvSpPr>
            <p:nvPr/>
          </p:nvSpPr>
          <p:spPr bwMode="auto">
            <a:xfrm rot="-5400000">
              <a:off x="1608" y="2529"/>
              <a:ext cx="327"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2000" b="1" i="1">
                  <a:latin typeface="ISOCPEUR" panose="020B0604020202020204" pitchFamily="34" charset="0"/>
                  <a:sym typeface="Symbol" panose="05050102010706020507" pitchFamily="18" charset="2"/>
                </a:rPr>
                <a:t></a:t>
              </a:r>
              <a:r>
                <a:rPr lang="en-US" altLang="zh-CN" sz="2000" b="1" i="1">
                  <a:latin typeface="ISOCPEUR" panose="020B0604020202020204" pitchFamily="34" charset="0"/>
                </a:rPr>
                <a:t>18</a:t>
              </a:r>
              <a:endParaRPr lang="en-US" altLang="zh-CN" b="1" i="1">
                <a:latin typeface="ISOCPEUR" panose="020B0604020202020204" pitchFamily="34" charset="0"/>
              </a:endParaRPr>
            </a:p>
          </p:txBody>
        </p:sp>
      </p:grpSp>
      <p:grpSp>
        <p:nvGrpSpPr>
          <p:cNvPr id="72739" name="Group 35"/>
          <p:cNvGrpSpPr/>
          <p:nvPr/>
        </p:nvGrpSpPr>
        <p:grpSpPr bwMode="auto">
          <a:xfrm>
            <a:off x="6405563" y="3409950"/>
            <a:ext cx="1162050" cy="1133475"/>
            <a:chOff x="4404" y="2706"/>
            <a:chExt cx="732" cy="714"/>
          </a:xfrm>
        </p:grpSpPr>
        <p:sp>
          <p:nvSpPr>
            <p:cNvPr id="72740" name="Line 36"/>
            <p:cNvSpPr>
              <a:spLocks noChangeShapeType="1"/>
            </p:cNvSpPr>
            <p:nvPr/>
          </p:nvSpPr>
          <p:spPr bwMode="auto">
            <a:xfrm>
              <a:off x="4404" y="3060"/>
              <a:ext cx="732" cy="0"/>
            </a:xfrm>
            <a:prstGeom prst="line">
              <a:avLst/>
            </a:prstGeom>
            <a:noFill/>
            <a:ln w="1270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41" name="Oval 37"/>
            <p:cNvSpPr>
              <a:spLocks noChangeArrowheads="1"/>
            </p:cNvSpPr>
            <p:nvPr/>
          </p:nvSpPr>
          <p:spPr bwMode="auto">
            <a:xfrm>
              <a:off x="4614" y="2892"/>
              <a:ext cx="336" cy="336"/>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2" name="Rectangle 38"/>
            <p:cNvSpPr>
              <a:spLocks noChangeArrowheads="1"/>
            </p:cNvSpPr>
            <p:nvPr/>
          </p:nvSpPr>
          <p:spPr bwMode="auto">
            <a:xfrm rot="-2677290">
              <a:off x="4569" y="2847"/>
              <a:ext cx="437" cy="437"/>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3" name="Line 39"/>
            <p:cNvSpPr>
              <a:spLocks noChangeShapeType="1"/>
            </p:cNvSpPr>
            <p:nvPr/>
          </p:nvSpPr>
          <p:spPr bwMode="auto">
            <a:xfrm flipV="1">
              <a:off x="4782" y="2706"/>
              <a:ext cx="0" cy="714"/>
            </a:xfrm>
            <a:prstGeom prst="line">
              <a:avLst/>
            </a:prstGeom>
            <a:noFill/>
            <a:ln w="1270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744" name="Text Box 40"/>
          <p:cNvSpPr txBox="1">
            <a:spLocks noChangeArrowheads="1"/>
          </p:cNvSpPr>
          <p:nvPr/>
        </p:nvSpPr>
        <p:spPr bwMode="auto">
          <a:xfrm>
            <a:off x="4987925" y="2733675"/>
            <a:ext cx="10588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t>方筒</a:t>
            </a:r>
            <a:endParaRPr lang="zh-CN" altLang="en-US" sz="2800" b="1"/>
          </a:p>
        </p:txBody>
      </p:sp>
      <p:sp>
        <p:nvSpPr>
          <p:cNvPr id="72745" name="Text Box 41"/>
          <p:cNvSpPr txBox="1">
            <a:spLocks noChangeArrowheads="1"/>
          </p:cNvSpPr>
          <p:nvPr/>
        </p:nvSpPr>
        <p:spPr bwMode="auto">
          <a:xfrm>
            <a:off x="5976938" y="2733675"/>
            <a:ext cx="203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solidFill>
                  <a:srgbClr val="FF3300"/>
                </a:solidFill>
              </a:rPr>
              <a:t>两个视图</a:t>
            </a:r>
            <a:endParaRPr lang="zh-CN" altLang="en-US" sz="2800" b="1">
              <a:solidFill>
                <a:srgbClr val="FF3300"/>
              </a:solidFill>
            </a:endParaRPr>
          </a:p>
        </p:txBody>
      </p:sp>
      <p:sp>
        <p:nvSpPr>
          <p:cNvPr id="72746" name="WordArt 42"/>
          <p:cNvSpPr>
            <a:spLocks noChangeArrowheads="1" noChangeShapeType="1" noTextEdit="1"/>
          </p:cNvSpPr>
          <p:nvPr/>
        </p:nvSpPr>
        <p:spPr bwMode="auto">
          <a:xfrm>
            <a:off x="1541463" y="981075"/>
            <a:ext cx="4584700" cy="393700"/>
          </a:xfrm>
          <a:prstGeom prst="rect">
            <a:avLst/>
          </a:prstGeom>
          <a:extLst>
            <a:ext uri="{AF507438-7753-43E0-B8FC-AC1667EBCBE1}">
              <a14:hiddenEffects xmlns:a14="http://schemas.microsoft.com/office/drawing/2010/main">
                <a:effectLst/>
              </a14:hiddenEffects>
            </a:ext>
          </a:extLst>
        </p:spPr>
        <p:txBody>
          <a:bodyPr wrap="none" fromWordArt="1">
            <a:prstTxWarp prst="textSlantUp">
              <a:avLst>
                <a:gd name="adj" fmla="val 0"/>
              </a:avLst>
            </a:prstTxWarp>
          </a:bodyPr>
          <a:lstStyle/>
          <a:p>
            <a:pPr algn="ctr"/>
            <a:r>
              <a:rPr lang="zh-CN" altLang="en-US" sz="3600" kern="10">
                <a:ln w="9525">
                  <a:solidFill>
                    <a:srgbClr val="FF3300"/>
                  </a:solidFill>
                  <a:round/>
                </a:ln>
                <a:solidFill>
                  <a:srgbClr val="FF3300"/>
                </a:solidFill>
                <a:latin typeface="宋体" panose="02010600030101010101" pitchFamily="2" charset="-122"/>
              </a:rPr>
              <a:t>为什么要进行视图选择呢？</a:t>
            </a:r>
            <a:endParaRPr lang="zh-CN" altLang="en-US" sz="3600" kern="10">
              <a:ln w="9525">
                <a:solidFill>
                  <a:srgbClr val="FF3300"/>
                </a:solidFill>
                <a:round/>
              </a:ln>
              <a:solidFill>
                <a:srgbClr val="FF3300"/>
              </a:solidFill>
              <a:latin typeface="宋体" panose="02010600030101010101" pitchFamily="2" charset="-122"/>
            </a:endParaRPr>
          </a:p>
        </p:txBody>
      </p:sp>
      <p:grpSp>
        <p:nvGrpSpPr>
          <p:cNvPr id="72747" name="Group 43"/>
          <p:cNvGrpSpPr/>
          <p:nvPr/>
        </p:nvGrpSpPr>
        <p:grpSpPr bwMode="auto">
          <a:xfrm>
            <a:off x="4567238" y="3486150"/>
            <a:ext cx="1819275" cy="981075"/>
            <a:chOff x="2877" y="2304"/>
            <a:chExt cx="1146" cy="618"/>
          </a:xfrm>
        </p:grpSpPr>
        <p:grpSp>
          <p:nvGrpSpPr>
            <p:cNvPr id="72748" name="Group 44"/>
            <p:cNvGrpSpPr/>
            <p:nvPr/>
          </p:nvGrpSpPr>
          <p:grpSpPr bwMode="auto">
            <a:xfrm>
              <a:off x="2877" y="2304"/>
              <a:ext cx="948" cy="618"/>
              <a:chOff x="3408" y="2754"/>
              <a:chExt cx="948" cy="618"/>
            </a:xfrm>
          </p:grpSpPr>
          <p:sp>
            <p:nvSpPr>
              <p:cNvPr id="72749" name="Line 45"/>
              <p:cNvSpPr>
                <a:spLocks noChangeShapeType="1"/>
              </p:cNvSpPr>
              <p:nvPr/>
            </p:nvSpPr>
            <p:spPr bwMode="auto">
              <a:xfrm>
                <a:off x="3438" y="2763"/>
                <a:ext cx="84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0" name="Line 46"/>
              <p:cNvSpPr>
                <a:spLocks noChangeShapeType="1"/>
              </p:cNvSpPr>
              <p:nvPr/>
            </p:nvSpPr>
            <p:spPr bwMode="auto">
              <a:xfrm>
                <a:off x="3450" y="3366"/>
                <a:ext cx="83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1" name="Line 47"/>
              <p:cNvSpPr>
                <a:spLocks noChangeShapeType="1"/>
              </p:cNvSpPr>
              <p:nvPr/>
            </p:nvSpPr>
            <p:spPr bwMode="auto">
              <a:xfrm flipH="1">
                <a:off x="3456" y="2898"/>
                <a:ext cx="8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2" name="Line 48"/>
              <p:cNvSpPr>
                <a:spLocks noChangeShapeType="1"/>
              </p:cNvSpPr>
              <p:nvPr/>
            </p:nvSpPr>
            <p:spPr bwMode="auto">
              <a:xfrm flipH="1">
                <a:off x="3450" y="3228"/>
                <a:ext cx="83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3" name="Line 49"/>
              <p:cNvSpPr>
                <a:spLocks noChangeShapeType="1"/>
              </p:cNvSpPr>
              <p:nvPr/>
            </p:nvSpPr>
            <p:spPr bwMode="auto">
              <a:xfrm flipV="1">
                <a:off x="3450" y="2760"/>
                <a:ext cx="0" cy="6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4" name="Line 50"/>
              <p:cNvSpPr>
                <a:spLocks noChangeShapeType="1"/>
              </p:cNvSpPr>
              <p:nvPr/>
            </p:nvSpPr>
            <p:spPr bwMode="auto">
              <a:xfrm flipV="1">
                <a:off x="4284" y="2757"/>
                <a:ext cx="0" cy="61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5" name="Line 51"/>
              <p:cNvSpPr>
                <a:spLocks noChangeShapeType="1"/>
              </p:cNvSpPr>
              <p:nvPr/>
            </p:nvSpPr>
            <p:spPr bwMode="auto">
              <a:xfrm flipV="1">
                <a:off x="3450" y="2766"/>
                <a:ext cx="60" cy="6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6" name="Line 52"/>
              <p:cNvSpPr>
                <a:spLocks noChangeShapeType="1"/>
              </p:cNvSpPr>
              <p:nvPr/>
            </p:nvSpPr>
            <p:spPr bwMode="auto">
              <a:xfrm flipV="1">
                <a:off x="3534" y="2766"/>
                <a:ext cx="138" cy="1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7" name="Line 53"/>
              <p:cNvSpPr>
                <a:spLocks noChangeShapeType="1"/>
              </p:cNvSpPr>
              <p:nvPr/>
            </p:nvSpPr>
            <p:spPr bwMode="auto">
              <a:xfrm flipV="1">
                <a:off x="3684" y="2760"/>
                <a:ext cx="138" cy="13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8" name="Line 54"/>
              <p:cNvSpPr>
                <a:spLocks noChangeShapeType="1"/>
              </p:cNvSpPr>
              <p:nvPr/>
            </p:nvSpPr>
            <p:spPr bwMode="auto">
              <a:xfrm flipV="1">
                <a:off x="3840" y="2766"/>
                <a:ext cx="132" cy="13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9" name="Line 55"/>
              <p:cNvSpPr>
                <a:spLocks noChangeShapeType="1"/>
              </p:cNvSpPr>
              <p:nvPr/>
            </p:nvSpPr>
            <p:spPr bwMode="auto">
              <a:xfrm flipV="1">
                <a:off x="3990" y="2772"/>
                <a:ext cx="120" cy="12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0" name="Line 56"/>
              <p:cNvSpPr>
                <a:spLocks noChangeShapeType="1"/>
              </p:cNvSpPr>
              <p:nvPr/>
            </p:nvSpPr>
            <p:spPr bwMode="auto">
              <a:xfrm flipV="1">
                <a:off x="4134" y="2754"/>
                <a:ext cx="144" cy="14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1" name="Line 57"/>
              <p:cNvSpPr>
                <a:spLocks noChangeShapeType="1"/>
              </p:cNvSpPr>
              <p:nvPr/>
            </p:nvSpPr>
            <p:spPr bwMode="auto">
              <a:xfrm flipV="1">
                <a:off x="3450" y="3234"/>
                <a:ext cx="48" cy="48"/>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2" name="Line 58"/>
              <p:cNvSpPr>
                <a:spLocks noChangeShapeType="1"/>
              </p:cNvSpPr>
              <p:nvPr/>
            </p:nvSpPr>
            <p:spPr bwMode="auto">
              <a:xfrm flipV="1">
                <a:off x="3516" y="3234"/>
                <a:ext cx="126" cy="12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3" name="Line 59"/>
              <p:cNvSpPr>
                <a:spLocks noChangeShapeType="1"/>
              </p:cNvSpPr>
              <p:nvPr/>
            </p:nvSpPr>
            <p:spPr bwMode="auto">
              <a:xfrm flipV="1">
                <a:off x="3672" y="3228"/>
                <a:ext cx="132" cy="13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4" name="Line 60"/>
              <p:cNvSpPr>
                <a:spLocks noChangeShapeType="1"/>
              </p:cNvSpPr>
              <p:nvPr/>
            </p:nvSpPr>
            <p:spPr bwMode="auto">
              <a:xfrm flipV="1">
                <a:off x="3822" y="3234"/>
                <a:ext cx="126" cy="12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5" name="Line 61"/>
              <p:cNvSpPr>
                <a:spLocks noChangeShapeType="1"/>
              </p:cNvSpPr>
              <p:nvPr/>
            </p:nvSpPr>
            <p:spPr bwMode="auto">
              <a:xfrm flipV="1">
                <a:off x="3966" y="3228"/>
                <a:ext cx="126" cy="12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6" name="Line 62"/>
              <p:cNvSpPr>
                <a:spLocks noChangeShapeType="1"/>
              </p:cNvSpPr>
              <p:nvPr/>
            </p:nvSpPr>
            <p:spPr bwMode="auto">
              <a:xfrm flipV="1">
                <a:off x="4110" y="3228"/>
                <a:ext cx="132" cy="13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67" name="Line 63"/>
              <p:cNvSpPr>
                <a:spLocks noChangeShapeType="1"/>
              </p:cNvSpPr>
              <p:nvPr/>
            </p:nvSpPr>
            <p:spPr bwMode="auto">
              <a:xfrm>
                <a:off x="3408" y="3060"/>
                <a:ext cx="948" cy="0"/>
              </a:xfrm>
              <a:prstGeom prst="line">
                <a:avLst/>
              </a:prstGeom>
              <a:noFill/>
              <a:ln w="1270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768" name="Text Box 64"/>
            <p:cNvSpPr txBox="1">
              <a:spLocks noChangeArrowheads="1"/>
            </p:cNvSpPr>
            <p:nvPr/>
          </p:nvSpPr>
          <p:spPr bwMode="auto">
            <a:xfrm rot="-5400000">
              <a:off x="3624" y="2471"/>
              <a:ext cx="452"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000" b="1" i="1">
                  <a:latin typeface="ISOCPEUR" panose="020B0604020202020204" pitchFamily="34" charset="0"/>
                  <a:sym typeface="Symbol" panose="05050102010706020507" pitchFamily="18" charset="2"/>
                </a:rPr>
                <a:t></a:t>
              </a:r>
              <a:r>
                <a:rPr lang="en-US" altLang="zh-CN" sz="2000" b="1" i="1">
                  <a:latin typeface="ISOCPEUR" panose="020B0604020202020204" pitchFamily="34" charset="0"/>
                </a:rPr>
                <a:t>10</a:t>
              </a:r>
              <a:endParaRPr lang="en-US" altLang="zh-CN" b="1">
                <a:latin typeface="ISOCPEUR" panose="020B0604020202020204" pitchFamily="34" charset="0"/>
              </a:endParaRPr>
            </a:p>
          </p:txBody>
        </p:sp>
        <p:sp>
          <p:nvSpPr>
            <p:cNvPr id="72769" name="Line 65"/>
            <p:cNvSpPr>
              <a:spLocks noChangeShapeType="1"/>
            </p:cNvSpPr>
            <p:nvPr/>
          </p:nvSpPr>
          <p:spPr bwMode="auto">
            <a:xfrm>
              <a:off x="3759" y="2444"/>
              <a:ext cx="26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70" name="Line 66"/>
            <p:cNvSpPr>
              <a:spLocks noChangeShapeType="1"/>
            </p:cNvSpPr>
            <p:nvPr/>
          </p:nvSpPr>
          <p:spPr bwMode="auto">
            <a:xfrm>
              <a:off x="3759" y="2774"/>
              <a:ext cx="26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71" name="Line 67"/>
            <p:cNvSpPr>
              <a:spLocks noChangeShapeType="1"/>
            </p:cNvSpPr>
            <p:nvPr/>
          </p:nvSpPr>
          <p:spPr bwMode="auto">
            <a:xfrm>
              <a:off x="3951" y="2434"/>
              <a:ext cx="0" cy="345"/>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72772" name="Picture 68"/>
          <p:cNvPicPr>
            <a:picLocks noChangeAspect="1" noChangeArrowheads="1"/>
          </p:cNvPicPr>
          <p:nvPr/>
        </p:nvPicPr>
        <p:blipFill>
          <a:blip r:embed="rId1">
            <a:extLst>
              <a:ext uri="{28A0092B-C50C-407E-A947-70E740481C1C}">
                <a14:useLocalDpi xmlns:a14="http://schemas.microsoft.com/office/drawing/2010/main" val="0"/>
              </a:ext>
            </a:extLst>
          </a:blip>
          <a:srcRect l="4605" t="9390" r="24556" b="14650"/>
          <a:stretch>
            <a:fillRect/>
          </a:stretch>
        </p:blipFill>
        <p:spPr bwMode="auto">
          <a:xfrm>
            <a:off x="2452688" y="4176713"/>
            <a:ext cx="2108200" cy="1847850"/>
          </a:xfrm>
          <a:prstGeom prst="rect">
            <a:avLst/>
          </a:prstGeom>
          <a:noFill/>
          <a:extLst>
            <a:ext uri="{909E8E84-426E-40DD-AFC4-6F175D3DCCD1}">
              <a14:hiddenFill xmlns:a14="http://schemas.microsoft.com/office/drawing/2010/main">
                <a:solidFill>
                  <a:srgbClr val="FFFFFF"/>
                </a:solidFill>
              </a14:hiddenFill>
            </a:ext>
          </a:extLst>
        </p:spPr>
      </p:pic>
      <p:pic>
        <p:nvPicPr>
          <p:cNvPr id="72773" name="Picture 69"/>
          <p:cNvPicPr>
            <a:picLocks noChangeAspect="1" noChangeArrowheads="1"/>
          </p:cNvPicPr>
          <p:nvPr/>
        </p:nvPicPr>
        <p:blipFill>
          <a:blip r:embed="rId2">
            <a:extLst>
              <a:ext uri="{28A0092B-C50C-407E-A947-70E740481C1C}">
                <a14:useLocalDpi xmlns:a14="http://schemas.microsoft.com/office/drawing/2010/main" val="0"/>
              </a:ext>
            </a:extLst>
          </a:blip>
          <a:srcRect l="6284" t="10345" r="23135" b="12192"/>
          <a:stretch>
            <a:fillRect/>
          </a:stretch>
        </p:blipFill>
        <p:spPr bwMode="auto">
          <a:xfrm>
            <a:off x="6192838" y="4192588"/>
            <a:ext cx="2257425" cy="1914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2746"/>
                                        </p:tgtEl>
                                        <p:attrNameLst>
                                          <p:attrName>style.visibility</p:attrName>
                                        </p:attrNameLst>
                                      </p:cBhvr>
                                      <p:to>
                                        <p:strVal val="visible"/>
                                      </p:to>
                                    </p:set>
                                    <p:anim calcmode="lin" valueType="num">
                                      <p:cBhvr additive="base">
                                        <p:cTn id="7" dur="500" fill="hold"/>
                                        <p:tgtEl>
                                          <p:spTgt spid="72746"/>
                                        </p:tgtEl>
                                        <p:attrNameLst>
                                          <p:attrName>ppt_x</p:attrName>
                                        </p:attrNameLst>
                                      </p:cBhvr>
                                      <p:tavLst>
                                        <p:tav tm="0">
                                          <p:val>
                                            <p:strVal val="#ppt_x"/>
                                          </p:val>
                                        </p:tav>
                                        <p:tav tm="100000">
                                          <p:val>
                                            <p:strVal val="#ppt_x"/>
                                          </p:val>
                                        </p:tav>
                                      </p:tavLst>
                                    </p:anim>
                                    <p:anim calcmode="lin" valueType="num">
                                      <p:cBhvr additive="base">
                                        <p:cTn id="8" dur="500" fill="hold"/>
                                        <p:tgtEl>
                                          <p:spTgt spid="7274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72709"/>
                                        </p:tgtEl>
                                        <p:attrNameLst>
                                          <p:attrName>style.visibility</p:attrName>
                                        </p:attrNameLst>
                                      </p:cBhvr>
                                      <p:to>
                                        <p:strVal val="visible"/>
                                      </p:to>
                                    </p:set>
                                    <p:animEffect transition="in" filter="strips(downLeft)">
                                      <p:cBhvr>
                                        <p:cTn id="13" dur="500"/>
                                        <p:tgtEl>
                                          <p:spTgt spid="7270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2710"/>
                                        </p:tgtEl>
                                        <p:attrNameLst>
                                          <p:attrName>style.visibility</p:attrName>
                                        </p:attrNameLst>
                                      </p:cBhvr>
                                      <p:to>
                                        <p:strVal val="visible"/>
                                      </p:to>
                                    </p:set>
                                    <p:animEffect transition="in" filter="blinds(horizontal)">
                                      <p:cBhvr>
                                        <p:cTn id="18" dur="500"/>
                                        <p:tgtEl>
                                          <p:spTgt spid="72710"/>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72772"/>
                                        </p:tgtEl>
                                        <p:attrNameLst>
                                          <p:attrName>style.visibility</p:attrName>
                                        </p:attrNameLst>
                                      </p:cBhvr>
                                      <p:to>
                                        <p:strVal val="visible"/>
                                      </p:to>
                                    </p:set>
                                    <p:animEffect transition="in" filter="box(in)">
                                      <p:cBhvr>
                                        <p:cTn id="23" dur="500"/>
                                        <p:tgtEl>
                                          <p:spTgt spid="7277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2711"/>
                                        </p:tgtEl>
                                        <p:attrNameLst>
                                          <p:attrName>style.visibility</p:attrName>
                                        </p:attrNameLst>
                                      </p:cBhvr>
                                      <p:to>
                                        <p:strVal val="visible"/>
                                      </p:to>
                                    </p:set>
                                    <p:animEffect transition="in" filter="blinds(horizontal)">
                                      <p:cBhvr>
                                        <p:cTn id="28" dur="500"/>
                                        <p:tgtEl>
                                          <p:spTgt spid="72711"/>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2712"/>
                                        </p:tgtEl>
                                        <p:attrNameLst>
                                          <p:attrName>style.visibility</p:attrName>
                                        </p:attrNameLst>
                                      </p:cBhvr>
                                      <p:to>
                                        <p:strVal val="visible"/>
                                      </p:to>
                                    </p:set>
                                    <p:animEffect transition="in" filter="blinds(horizontal)">
                                      <p:cBhvr>
                                        <p:cTn id="33" dur="500"/>
                                        <p:tgtEl>
                                          <p:spTgt spid="7271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2744"/>
                                        </p:tgtEl>
                                        <p:attrNameLst>
                                          <p:attrName>style.visibility</p:attrName>
                                        </p:attrNameLst>
                                      </p:cBhvr>
                                      <p:to>
                                        <p:strVal val="visible"/>
                                      </p:to>
                                    </p:set>
                                    <p:animEffect transition="in" filter="blinds(horizontal)">
                                      <p:cBhvr>
                                        <p:cTn id="38" dur="500"/>
                                        <p:tgtEl>
                                          <p:spTgt spid="7274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72773"/>
                                        </p:tgtEl>
                                        <p:attrNameLst>
                                          <p:attrName>style.visibility</p:attrName>
                                        </p:attrNameLst>
                                      </p:cBhvr>
                                      <p:to>
                                        <p:strVal val="visible"/>
                                      </p:to>
                                    </p:set>
                                    <p:animEffect transition="in" filter="blinds(horizontal)">
                                      <p:cBhvr>
                                        <p:cTn id="43" dur="500"/>
                                        <p:tgtEl>
                                          <p:spTgt spid="72773"/>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5" fill="hold" nodeType="clickEffect">
                                  <p:stCondLst>
                                    <p:cond delay="0"/>
                                  </p:stCondLst>
                                  <p:childTnLst>
                                    <p:set>
                                      <p:cBhvr>
                                        <p:cTn id="47" dur="1" fill="hold">
                                          <p:stCondLst>
                                            <p:cond delay="0"/>
                                          </p:stCondLst>
                                        </p:cTn>
                                        <p:tgtEl>
                                          <p:spTgt spid="72747"/>
                                        </p:tgtEl>
                                        <p:attrNameLst>
                                          <p:attrName>style.visibility</p:attrName>
                                        </p:attrNameLst>
                                      </p:cBhvr>
                                      <p:to>
                                        <p:strVal val="visible"/>
                                      </p:to>
                                    </p:set>
                                    <p:animEffect transition="in" filter="blinds(vertical)">
                                      <p:cBhvr>
                                        <p:cTn id="48" dur="500"/>
                                        <p:tgtEl>
                                          <p:spTgt spid="7274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nodeType="clickEffect">
                                  <p:stCondLst>
                                    <p:cond delay="0"/>
                                  </p:stCondLst>
                                  <p:childTnLst>
                                    <p:set>
                                      <p:cBhvr>
                                        <p:cTn id="52" dur="1" fill="hold">
                                          <p:stCondLst>
                                            <p:cond delay="0"/>
                                          </p:stCondLst>
                                        </p:cTn>
                                        <p:tgtEl>
                                          <p:spTgt spid="72739"/>
                                        </p:tgtEl>
                                        <p:attrNameLst>
                                          <p:attrName>style.visibility</p:attrName>
                                        </p:attrNameLst>
                                      </p:cBhvr>
                                      <p:to>
                                        <p:strVal val="visible"/>
                                      </p:to>
                                    </p:set>
                                    <p:animEffect transition="in" filter="wipe(right)">
                                      <p:cBhvr>
                                        <p:cTn id="53" dur="500"/>
                                        <p:tgtEl>
                                          <p:spTgt spid="7273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72745"/>
                                        </p:tgtEl>
                                        <p:attrNameLst>
                                          <p:attrName>style.visibility</p:attrName>
                                        </p:attrNameLst>
                                      </p:cBhvr>
                                      <p:to>
                                        <p:strVal val="visible"/>
                                      </p:to>
                                    </p:set>
                                    <p:animEffect transition="in" filter="blinds(horizontal)">
                                      <p:cBhvr>
                                        <p:cTn id="58" dur="500"/>
                                        <p:tgtEl>
                                          <p:spTgt spid="72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autoUpdateAnimBg="0"/>
      <p:bldP spid="72710" grpId="0" autoUpdateAnimBg="0"/>
      <p:bldP spid="72711" grpId="0" autoUpdateAnimBg="0"/>
      <p:bldP spid="72744" grpId="0" autoUpdateAnimBg="0"/>
      <p:bldP spid="7274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76250" y="661988"/>
            <a:ext cx="1700213"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sym typeface="Monotype Sorts" panose="05000000000000000000" pitchFamily="2" charset="2"/>
              </a:rPr>
              <a:t>(1)</a:t>
            </a:r>
            <a:r>
              <a:rPr lang="zh-CN" altLang="en-US" sz="2800" b="1">
                <a:solidFill>
                  <a:srgbClr val="FF3300"/>
                </a:solidFill>
                <a:latin typeface="宋体" panose="02010600030101010101" pitchFamily="2" charset="-122"/>
                <a:sym typeface="Monotype Sorts" panose="05000000000000000000" pitchFamily="2" charset="2"/>
              </a:rPr>
              <a:t>正确</a:t>
            </a:r>
            <a:endParaRPr lang="zh-CN" altLang="en-US" sz="2800" b="1">
              <a:solidFill>
                <a:srgbClr val="FF3300"/>
              </a:solidFill>
              <a:latin typeface="宋体" panose="02010600030101010101" pitchFamily="2" charset="-122"/>
              <a:sym typeface="Monotype Sorts" panose="05000000000000000000" pitchFamily="2" charset="2"/>
            </a:endParaRPr>
          </a:p>
        </p:txBody>
      </p:sp>
      <p:sp>
        <p:nvSpPr>
          <p:cNvPr id="8195" name="Text Box 3"/>
          <p:cNvSpPr txBox="1">
            <a:spLocks noChangeArrowheads="1"/>
          </p:cNvSpPr>
          <p:nvPr/>
        </p:nvSpPr>
        <p:spPr bwMode="auto">
          <a:xfrm>
            <a:off x="476250" y="1165225"/>
            <a:ext cx="16065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sym typeface="Monotype Sorts" panose="05000000000000000000" pitchFamily="2" charset="2"/>
              </a:rPr>
              <a:t>(2)</a:t>
            </a:r>
            <a:r>
              <a:rPr lang="zh-CN" altLang="en-US" sz="2800" b="1">
                <a:solidFill>
                  <a:srgbClr val="FF3300"/>
                </a:solidFill>
                <a:latin typeface="宋体" panose="02010600030101010101" pitchFamily="2" charset="-122"/>
                <a:sym typeface="Monotype Sorts" panose="05000000000000000000" pitchFamily="2" charset="2"/>
              </a:rPr>
              <a:t>完全</a:t>
            </a:r>
            <a:endParaRPr lang="zh-CN" altLang="en-US" sz="2800" b="1">
              <a:solidFill>
                <a:srgbClr val="FF3300"/>
              </a:solidFill>
              <a:latin typeface="宋体" panose="02010600030101010101" pitchFamily="2" charset="-122"/>
              <a:sym typeface="Monotype Sorts" panose="05000000000000000000" pitchFamily="2" charset="2"/>
            </a:endParaRPr>
          </a:p>
        </p:txBody>
      </p:sp>
      <p:sp>
        <p:nvSpPr>
          <p:cNvPr id="8196" name="Text Box 4"/>
          <p:cNvSpPr txBox="1">
            <a:spLocks noChangeArrowheads="1"/>
          </p:cNvSpPr>
          <p:nvPr/>
        </p:nvSpPr>
        <p:spPr bwMode="auto">
          <a:xfrm>
            <a:off x="476250" y="2146300"/>
            <a:ext cx="16700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sym typeface="Monotype Sorts" panose="05000000000000000000" pitchFamily="2" charset="2"/>
              </a:rPr>
              <a:t>(3)</a:t>
            </a:r>
            <a:r>
              <a:rPr lang="zh-CN" altLang="en-US" sz="2800" b="1">
                <a:solidFill>
                  <a:srgbClr val="FF3300"/>
                </a:solidFill>
                <a:latin typeface="宋体" panose="02010600030101010101" pitchFamily="2" charset="-122"/>
                <a:sym typeface="Monotype Sorts" panose="05000000000000000000" pitchFamily="2" charset="2"/>
              </a:rPr>
              <a:t>清</a:t>
            </a:r>
            <a:r>
              <a:rPr lang="zh-CN" altLang="en-US" sz="2800" b="1">
                <a:solidFill>
                  <a:srgbClr val="FF3300"/>
                </a:solidFill>
                <a:latin typeface="宋体" panose="02010600030101010101" pitchFamily="2" charset="-122"/>
              </a:rPr>
              <a:t>晰</a:t>
            </a:r>
            <a:endParaRPr lang="zh-CN" altLang="en-US" sz="2800" b="1">
              <a:solidFill>
                <a:srgbClr val="FF3300"/>
              </a:solidFill>
              <a:latin typeface="宋体" panose="02010600030101010101" pitchFamily="2" charset="-122"/>
            </a:endParaRPr>
          </a:p>
        </p:txBody>
      </p:sp>
      <p:sp>
        <p:nvSpPr>
          <p:cNvPr id="8197" name="Text Box 5"/>
          <p:cNvSpPr txBox="1">
            <a:spLocks noChangeArrowheads="1"/>
          </p:cNvSpPr>
          <p:nvPr/>
        </p:nvSpPr>
        <p:spPr bwMode="auto">
          <a:xfrm>
            <a:off x="2090738" y="1150938"/>
            <a:ext cx="6745287" cy="103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10000"/>
              </a:lnSpc>
            </a:pPr>
            <a:r>
              <a:rPr lang="zh-CN" altLang="en-US" sz="2800" b="1">
                <a:latin typeface="宋体" panose="02010600030101010101" pitchFamily="2" charset="-122"/>
              </a:rPr>
              <a:t>零件整体和各部分的结构形状、相对位置及表面过渡关系表达得完全且唯一确定。</a:t>
            </a:r>
            <a:endParaRPr lang="zh-CN" altLang="en-US" sz="2800" b="1">
              <a:latin typeface="宋体" panose="02010600030101010101" pitchFamily="2" charset="-122"/>
            </a:endParaRPr>
          </a:p>
        </p:txBody>
      </p:sp>
      <p:sp>
        <p:nvSpPr>
          <p:cNvPr id="8198" name="Text Box 6"/>
          <p:cNvSpPr txBox="1">
            <a:spLocks noChangeArrowheads="1"/>
          </p:cNvSpPr>
          <p:nvPr/>
        </p:nvSpPr>
        <p:spPr bwMode="auto">
          <a:xfrm>
            <a:off x="2090738" y="661988"/>
            <a:ext cx="67246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视图之间的投影关系及表达方法要正确。</a:t>
            </a:r>
            <a:endParaRPr lang="zh-CN" altLang="en-US" sz="2800" b="1">
              <a:latin typeface="宋体" panose="02010600030101010101" pitchFamily="2" charset="-122"/>
            </a:endParaRPr>
          </a:p>
        </p:txBody>
      </p:sp>
      <p:sp>
        <p:nvSpPr>
          <p:cNvPr id="8199" name="Text Box 7"/>
          <p:cNvSpPr txBox="1">
            <a:spLocks noChangeArrowheads="1"/>
          </p:cNvSpPr>
          <p:nvPr/>
        </p:nvSpPr>
        <p:spPr bwMode="auto">
          <a:xfrm>
            <a:off x="2090738" y="2146300"/>
            <a:ext cx="388937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所画图形要清晰易懂。</a:t>
            </a:r>
            <a:endParaRPr lang="zh-CN" altLang="en-US" sz="2800" b="1">
              <a:latin typeface="宋体" panose="02010600030101010101" pitchFamily="2" charset="-122"/>
            </a:endParaRPr>
          </a:p>
        </p:txBody>
      </p:sp>
      <p:sp>
        <p:nvSpPr>
          <p:cNvPr id="8200" name="Text Box 8"/>
          <p:cNvSpPr txBox="1">
            <a:spLocks noChangeArrowheads="1"/>
          </p:cNvSpPr>
          <p:nvPr/>
        </p:nvSpPr>
        <p:spPr bwMode="auto">
          <a:xfrm>
            <a:off x="182563" y="128588"/>
            <a:ext cx="4051300"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latin typeface="宋体" panose="02010600030101010101" pitchFamily="2" charset="-122"/>
              </a:rPr>
              <a:t>1.</a:t>
            </a:r>
            <a:r>
              <a:rPr lang="zh-CN" altLang="en-US" sz="3200" b="1">
                <a:solidFill>
                  <a:schemeClr val="accent2"/>
                </a:solidFill>
                <a:latin typeface="宋体" panose="02010600030101010101" pitchFamily="2" charset="-122"/>
              </a:rPr>
              <a:t>视图选择的要求</a:t>
            </a:r>
            <a:endParaRPr lang="zh-CN" altLang="en-US" sz="3200" b="1">
              <a:solidFill>
                <a:schemeClr val="accent2"/>
              </a:solidFill>
              <a:latin typeface="宋体" panose="02010600030101010101" pitchFamily="2" charset="-122"/>
            </a:endParaRPr>
          </a:p>
        </p:txBody>
      </p:sp>
      <p:sp>
        <p:nvSpPr>
          <p:cNvPr id="8201" name="Text Box 9"/>
          <p:cNvSpPr txBox="1">
            <a:spLocks noChangeArrowheads="1"/>
          </p:cNvSpPr>
          <p:nvPr/>
        </p:nvSpPr>
        <p:spPr bwMode="auto">
          <a:xfrm>
            <a:off x="522288" y="3859213"/>
            <a:ext cx="2451100"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pattFill prst="sphere">
                  <a:fgClr>
                    <a:schemeClr val="accent2"/>
                  </a:fgClr>
                  <a:bgClr>
                    <a:srgbClr val="FFFFFF"/>
                  </a:bgClr>
                </a:pattFill>
                <a:miter lim="800000"/>
                <a:headEnd/>
                <a:tailEnd/>
              </a14:hiddenLine>
            </a:ext>
          </a:extLst>
        </p:spPr>
        <p:txBody>
          <a:bodyPr>
            <a:spAutoFit/>
          </a:bodyPr>
          <a:lstStyle/>
          <a:p>
            <a:pPr eaLnBrk="0" hangingPunct="0"/>
            <a:r>
              <a:rPr lang="en-US" altLang="zh-CN" sz="3200" b="1">
                <a:latin typeface="宋体" panose="02010600030101010101" pitchFamily="2" charset="-122"/>
                <a:sym typeface="Monotype Sorts" panose="05000000000000000000" pitchFamily="2" charset="2"/>
              </a:rPr>
              <a:t>(1)</a:t>
            </a:r>
            <a:r>
              <a:rPr lang="zh-CN" altLang="en-US" sz="3200" b="1">
                <a:latin typeface="宋体" panose="02010600030101010101" pitchFamily="2" charset="-122"/>
                <a:sym typeface="Monotype Sorts" panose="05000000000000000000" pitchFamily="2" charset="2"/>
              </a:rPr>
              <a:t>分析零件</a:t>
            </a:r>
            <a:endParaRPr lang="zh-CN" altLang="en-US" sz="3200" b="1">
              <a:latin typeface="宋体" panose="02010600030101010101" pitchFamily="2" charset="-122"/>
              <a:sym typeface="Monotype Sorts" panose="05000000000000000000" pitchFamily="2" charset="2"/>
            </a:endParaRPr>
          </a:p>
        </p:txBody>
      </p:sp>
      <p:sp>
        <p:nvSpPr>
          <p:cNvPr id="8202" name="Text Box 10"/>
          <p:cNvSpPr txBox="1">
            <a:spLocks noChangeArrowheads="1"/>
          </p:cNvSpPr>
          <p:nvPr/>
        </p:nvSpPr>
        <p:spPr bwMode="auto">
          <a:xfrm>
            <a:off x="3009900" y="3895725"/>
            <a:ext cx="21669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rgbClr val="FF3300"/>
                </a:solidFill>
                <a:latin typeface="宋体" panose="02010600030101010101" pitchFamily="2" charset="-122"/>
                <a:sym typeface="Monotype Sorts" panose="05000000000000000000" pitchFamily="2" charset="2"/>
              </a:rPr>
              <a:t>形状、结构</a:t>
            </a:r>
            <a:endParaRPr lang="zh-CN" altLang="en-US" sz="2800" b="1">
              <a:solidFill>
                <a:srgbClr val="FF3300"/>
              </a:solidFill>
              <a:latin typeface="宋体" panose="02010600030101010101" pitchFamily="2" charset="-122"/>
              <a:sym typeface="Monotype Sorts" panose="05000000000000000000" pitchFamily="2" charset="2"/>
            </a:endParaRPr>
          </a:p>
        </p:txBody>
      </p:sp>
      <p:sp>
        <p:nvSpPr>
          <p:cNvPr id="8203" name="Text Box 11"/>
          <p:cNvSpPr txBox="1">
            <a:spLocks noChangeArrowheads="1"/>
          </p:cNvSpPr>
          <p:nvPr/>
        </p:nvSpPr>
        <p:spPr bwMode="auto">
          <a:xfrm>
            <a:off x="3009900" y="3322638"/>
            <a:ext cx="2703513"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rgbClr val="FF3300"/>
                </a:solidFill>
                <a:latin typeface="宋体" panose="02010600030101010101" pitchFamily="2" charset="-122"/>
              </a:rPr>
              <a:t>功用及工作状态</a:t>
            </a:r>
            <a:endParaRPr lang="zh-CN" altLang="en-US" sz="2800" b="1">
              <a:solidFill>
                <a:srgbClr val="FF3300"/>
              </a:solidFill>
              <a:latin typeface="宋体" panose="02010600030101010101" pitchFamily="2" charset="-122"/>
            </a:endParaRPr>
          </a:p>
        </p:txBody>
      </p:sp>
      <p:sp>
        <p:nvSpPr>
          <p:cNvPr id="8204" name="Text Box 12"/>
          <p:cNvSpPr txBox="1">
            <a:spLocks noChangeArrowheads="1"/>
          </p:cNvSpPr>
          <p:nvPr/>
        </p:nvSpPr>
        <p:spPr bwMode="auto">
          <a:xfrm>
            <a:off x="3009900" y="4510088"/>
            <a:ext cx="1798638"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rgbClr val="FF3300"/>
                </a:solidFill>
                <a:latin typeface="宋体" panose="02010600030101010101" pitchFamily="2" charset="-122"/>
                <a:sym typeface="Monotype Sorts" panose="05000000000000000000" pitchFamily="2" charset="2"/>
              </a:rPr>
              <a:t>加工方法</a:t>
            </a:r>
            <a:endParaRPr lang="zh-CN" altLang="en-US" sz="2800" b="1">
              <a:solidFill>
                <a:srgbClr val="FF3300"/>
              </a:solidFill>
              <a:latin typeface="宋体" panose="02010600030101010101" pitchFamily="2" charset="-122"/>
              <a:sym typeface="Monotype Sorts" panose="05000000000000000000" pitchFamily="2" charset="2"/>
            </a:endParaRPr>
          </a:p>
        </p:txBody>
      </p:sp>
      <p:sp>
        <p:nvSpPr>
          <p:cNvPr id="8205" name="Rectangle 13"/>
          <p:cNvSpPr>
            <a:spLocks noChangeArrowheads="1"/>
          </p:cNvSpPr>
          <p:nvPr/>
        </p:nvSpPr>
        <p:spPr bwMode="auto">
          <a:xfrm>
            <a:off x="230188" y="2630488"/>
            <a:ext cx="6524625" cy="698500"/>
          </a:xfrm>
          <a:prstGeom prst="rect">
            <a:avLst/>
          </a:prstGeom>
          <a:noFill/>
          <a:ln>
            <a:noFill/>
          </a:ln>
          <a:extLst>
            <a:ext uri="{909E8E84-426E-40DD-AFC4-6F175D3DCCD1}">
              <a14:hiddenFill xmlns:a14="http://schemas.microsoft.com/office/drawing/2010/main">
                <a:gradFill rotWithShape="0">
                  <a:gsLst>
                    <a:gs pos="0">
                      <a:srgbClr val="66CCFF"/>
                    </a:gs>
                    <a:gs pos="50000">
                      <a:srgbClr val="66CCFF">
                        <a:gamma/>
                        <a:tint val="27451"/>
                        <a:invGamma/>
                      </a:srgbClr>
                    </a:gs>
                    <a:gs pos="100000">
                      <a:srgbClr val="66CCFF"/>
                    </a:gs>
                  </a:gsLst>
                  <a:lin ang="5400000" scaled="1"/>
                </a:gradFill>
              </a14:hiddenFill>
            </a:ext>
            <a:ext uri="{91240B29-F687-4F45-9708-019B960494DF}">
              <a14:hiddenLine xmlns:a14="http://schemas.microsoft.com/office/drawing/2010/main" w="76200">
                <a:pattFill prst="smCheck">
                  <a:fgClr>
                    <a:srgbClr val="33CCCC"/>
                  </a:fgClr>
                  <a:bgClr>
                    <a:srgbClr val="FFFFFF"/>
                  </a:bgClr>
                </a:pattFill>
                <a:miter lim="800000"/>
                <a:headEnd/>
                <a:tailEnd/>
              </a14:hiddenLine>
            </a:ext>
          </a:extLst>
        </p:spPr>
        <p:txBody>
          <a:bodyP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en-US" altLang="zh-CN" sz="3200" b="1">
                <a:solidFill>
                  <a:schemeClr val="accent2"/>
                </a:solidFill>
                <a:latin typeface="宋体" panose="02010600030101010101" pitchFamily="2" charset="-122"/>
              </a:rPr>
              <a:t>2.</a:t>
            </a:r>
            <a:r>
              <a:rPr lang="zh-CN" altLang="en-US" sz="3200" b="1">
                <a:solidFill>
                  <a:schemeClr val="accent2"/>
                </a:solidFill>
                <a:latin typeface="宋体" panose="02010600030101010101" pitchFamily="2" charset="-122"/>
              </a:rPr>
              <a:t>视图选择的方法及步骤</a:t>
            </a:r>
            <a:r>
              <a:rPr lang="zh-CN" altLang="en-US" sz="3200" b="1">
                <a:solidFill>
                  <a:schemeClr val="accent2"/>
                </a:solidFill>
                <a:latin typeface="宋体" panose="02010600030101010101" pitchFamily="2" charset="-122"/>
                <a:sym typeface="Monotype Sorts" panose="05000000000000000000" pitchFamily="2" charset="2"/>
              </a:rPr>
              <a:t> </a:t>
            </a:r>
            <a:endParaRPr lang="zh-CN" altLang="en-US" sz="3200" b="1">
              <a:solidFill>
                <a:schemeClr val="accent2"/>
              </a:solidFill>
              <a:latin typeface="宋体" panose="02010600030101010101" pitchFamily="2" charset="-122"/>
            </a:endParaRPr>
          </a:p>
        </p:txBody>
      </p:sp>
      <p:sp>
        <p:nvSpPr>
          <p:cNvPr id="8206" name="Text Box 14"/>
          <p:cNvSpPr txBox="1">
            <a:spLocks noChangeArrowheads="1"/>
          </p:cNvSpPr>
          <p:nvPr/>
        </p:nvSpPr>
        <p:spPr bwMode="auto">
          <a:xfrm>
            <a:off x="5170488" y="3895725"/>
            <a:ext cx="3505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分清主要和次要形体</a:t>
            </a:r>
            <a:endParaRPr lang="zh-CN" altLang="en-US" sz="2800" b="1">
              <a:latin typeface="宋体" panose="02010600030101010101" pitchFamily="2" charset="-122"/>
            </a:endParaRPr>
          </a:p>
        </p:txBody>
      </p:sp>
      <p:sp>
        <p:nvSpPr>
          <p:cNvPr id="8207" name="Text Box 15"/>
          <p:cNvSpPr txBox="1">
            <a:spLocks noChangeArrowheads="1"/>
          </p:cNvSpPr>
          <p:nvPr/>
        </p:nvSpPr>
        <p:spPr bwMode="auto">
          <a:xfrm>
            <a:off x="5732463" y="3322638"/>
            <a:ext cx="29749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形状与功用有关</a:t>
            </a:r>
            <a:endParaRPr lang="zh-CN" altLang="en-US" sz="2800" b="1">
              <a:latin typeface="宋体" panose="02010600030101010101" pitchFamily="2" charset="-122"/>
            </a:endParaRPr>
          </a:p>
        </p:txBody>
      </p:sp>
      <p:sp>
        <p:nvSpPr>
          <p:cNvPr id="8208" name="Text Box 16"/>
          <p:cNvSpPr txBox="1">
            <a:spLocks noChangeArrowheads="1"/>
          </p:cNvSpPr>
          <p:nvPr/>
        </p:nvSpPr>
        <p:spPr bwMode="auto">
          <a:xfrm>
            <a:off x="4695825" y="4510088"/>
            <a:ext cx="4265613"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视图选择与加工方法有关</a:t>
            </a:r>
            <a:endParaRPr lang="zh-CN" altLang="en-US" sz="2800" b="1">
              <a:latin typeface="宋体" panose="02010600030101010101" pitchFamily="2" charset="-122"/>
            </a:endParaRPr>
          </a:p>
        </p:txBody>
      </p:sp>
      <p:sp>
        <p:nvSpPr>
          <p:cNvPr id="8209" name="AutoShape 17"/>
          <p:cNvSpPr/>
          <p:nvPr/>
        </p:nvSpPr>
        <p:spPr bwMode="auto">
          <a:xfrm>
            <a:off x="2862263" y="3471863"/>
            <a:ext cx="136525" cy="1362075"/>
          </a:xfrm>
          <a:prstGeom prst="leftBrace">
            <a:avLst>
              <a:gd name="adj1" fmla="val 83140"/>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pic>
        <p:nvPicPr>
          <p:cNvPr id="8213" name="Picture 21"/>
          <p:cNvPicPr>
            <a:picLocks noChangeAspect="1" noChangeArrowheads="1"/>
          </p:cNvPicPr>
          <p:nvPr/>
        </p:nvPicPr>
        <p:blipFill>
          <a:blip r:embed="rId1">
            <a:extLst>
              <a:ext uri="{28A0092B-C50C-407E-A947-70E740481C1C}">
                <a14:useLocalDpi xmlns:a14="http://schemas.microsoft.com/office/drawing/2010/main" val="0"/>
              </a:ext>
            </a:extLst>
          </a:blip>
          <a:srcRect l="25319" t="15768" r="25819" b="11974"/>
          <a:stretch>
            <a:fillRect/>
          </a:stretch>
        </p:blipFill>
        <p:spPr bwMode="auto">
          <a:xfrm>
            <a:off x="385763" y="4330700"/>
            <a:ext cx="2584450" cy="21812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p:cTn id="7" dur="500" fill="hold"/>
                                        <p:tgtEl>
                                          <p:spTgt spid="8194"/>
                                        </p:tgtEl>
                                        <p:attrNameLst>
                                          <p:attrName>ppt_w</p:attrName>
                                        </p:attrNameLst>
                                      </p:cBhvr>
                                      <p:tavLst>
                                        <p:tav tm="0">
                                          <p:val>
                                            <p:fltVal val="0"/>
                                          </p:val>
                                        </p:tav>
                                        <p:tav tm="100000">
                                          <p:val>
                                            <p:strVal val="#ppt_w"/>
                                          </p:val>
                                        </p:tav>
                                      </p:tavLst>
                                    </p:anim>
                                    <p:anim calcmode="lin" valueType="num">
                                      <p:cBhvr>
                                        <p:cTn id="8" dur="500" fill="hold"/>
                                        <p:tgtEl>
                                          <p:spTgt spid="819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6" presetClass="entr" presetSubtype="21" fill="hold" grpId="0" nodeType="afterEffect">
                                  <p:stCondLst>
                                    <p:cond delay="0"/>
                                  </p:stCondLst>
                                  <p:childTnLst>
                                    <p:set>
                                      <p:cBhvr>
                                        <p:cTn id="11" dur="1" fill="hold">
                                          <p:stCondLst>
                                            <p:cond delay="0"/>
                                          </p:stCondLst>
                                        </p:cTn>
                                        <p:tgtEl>
                                          <p:spTgt spid="8198"/>
                                        </p:tgtEl>
                                        <p:attrNameLst>
                                          <p:attrName>style.visibility</p:attrName>
                                        </p:attrNameLst>
                                      </p:cBhvr>
                                      <p:to>
                                        <p:strVal val="visible"/>
                                      </p:to>
                                    </p:set>
                                    <p:animEffect transition="in" filter="barn(inVertical)">
                                      <p:cBhvr>
                                        <p:cTn id="12" dur="500"/>
                                        <p:tgtEl>
                                          <p:spTgt spid="8198"/>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32" fill="hold" grpId="0" nodeType="clickEffect">
                                  <p:stCondLst>
                                    <p:cond delay="0"/>
                                  </p:stCondLst>
                                  <p:childTnLst>
                                    <p:set>
                                      <p:cBhvr>
                                        <p:cTn id="16" dur="1" fill="hold">
                                          <p:stCondLst>
                                            <p:cond delay="0"/>
                                          </p:stCondLst>
                                        </p:cTn>
                                        <p:tgtEl>
                                          <p:spTgt spid="8195"/>
                                        </p:tgtEl>
                                        <p:attrNameLst>
                                          <p:attrName>style.visibility</p:attrName>
                                        </p:attrNameLst>
                                      </p:cBhvr>
                                      <p:to>
                                        <p:strVal val="visible"/>
                                      </p:to>
                                    </p:set>
                                    <p:anim calcmode="lin" valueType="num">
                                      <p:cBhvr>
                                        <p:cTn id="17" dur="500" fill="hold"/>
                                        <p:tgtEl>
                                          <p:spTgt spid="8195"/>
                                        </p:tgtEl>
                                        <p:attrNameLst>
                                          <p:attrName>ppt_w</p:attrName>
                                        </p:attrNameLst>
                                      </p:cBhvr>
                                      <p:tavLst>
                                        <p:tav tm="0">
                                          <p:val>
                                            <p:strVal val="4*#ppt_w"/>
                                          </p:val>
                                        </p:tav>
                                        <p:tav tm="100000">
                                          <p:val>
                                            <p:strVal val="#ppt_w"/>
                                          </p:val>
                                        </p:tav>
                                      </p:tavLst>
                                    </p:anim>
                                    <p:anim calcmode="lin" valueType="num">
                                      <p:cBhvr>
                                        <p:cTn id="18" dur="500" fill="hold"/>
                                        <p:tgtEl>
                                          <p:spTgt spid="8195"/>
                                        </p:tgtEl>
                                        <p:attrNameLst>
                                          <p:attrName>ppt_h</p:attrName>
                                        </p:attrNameLst>
                                      </p:cBhvr>
                                      <p:tavLst>
                                        <p:tav tm="0">
                                          <p:val>
                                            <p:strVal val="4*#ppt_h"/>
                                          </p:val>
                                        </p:tav>
                                        <p:tav tm="100000">
                                          <p:val>
                                            <p:strVal val="#ppt_h"/>
                                          </p:val>
                                        </p:tav>
                                      </p:tavLst>
                                    </p:anim>
                                  </p:childTnLst>
                                </p:cTn>
                              </p:par>
                            </p:childTnLst>
                          </p:cTn>
                        </p:par>
                        <p:par>
                          <p:cTn id="19" fill="hold">
                            <p:stCondLst>
                              <p:cond delay="500"/>
                            </p:stCondLst>
                            <p:childTnLst>
                              <p:par>
                                <p:cTn id="20" presetID="18" presetClass="entr" presetSubtype="6" fill="hold" grpId="0" nodeType="afterEffect">
                                  <p:stCondLst>
                                    <p:cond delay="0"/>
                                  </p:stCondLst>
                                  <p:childTnLst>
                                    <p:set>
                                      <p:cBhvr>
                                        <p:cTn id="21" dur="1" fill="hold">
                                          <p:stCondLst>
                                            <p:cond delay="0"/>
                                          </p:stCondLst>
                                        </p:cTn>
                                        <p:tgtEl>
                                          <p:spTgt spid="8197"/>
                                        </p:tgtEl>
                                        <p:attrNameLst>
                                          <p:attrName>style.visibility</p:attrName>
                                        </p:attrNameLst>
                                      </p:cBhvr>
                                      <p:to>
                                        <p:strVal val="visible"/>
                                      </p:to>
                                    </p:set>
                                    <p:animEffect transition="in" filter="strips(downRight)">
                                      <p:cBhvr>
                                        <p:cTn id="22" dur="500"/>
                                        <p:tgtEl>
                                          <p:spTgt spid="81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196"/>
                                        </p:tgtEl>
                                        <p:attrNameLst>
                                          <p:attrName>style.visibility</p:attrName>
                                        </p:attrNameLst>
                                      </p:cBhvr>
                                      <p:to>
                                        <p:strVal val="visible"/>
                                      </p:to>
                                    </p:set>
                                    <p:animEffect transition="in" filter="wipe(down)">
                                      <p:cBhvr>
                                        <p:cTn id="27" dur="500"/>
                                        <p:tgtEl>
                                          <p:spTgt spid="8196"/>
                                        </p:tgtEl>
                                      </p:cBhvr>
                                    </p:animEffect>
                                  </p:childTnLst>
                                </p:cTn>
                              </p:par>
                            </p:childTnLst>
                          </p:cTn>
                        </p:par>
                        <p:par>
                          <p:cTn id="28" fill="hold">
                            <p:stCondLst>
                              <p:cond delay="500"/>
                            </p:stCondLst>
                            <p:childTnLst>
                              <p:par>
                                <p:cTn id="29" presetID="17" presetClass="entr" presetSubtype="4" fill="hold" grpId="0" nodeType="afterEffect">
                                  <p:stCondLst>
                                    <p:cond delay="0"/>
                                  </p:stCondLst>
                                  <p:childTnLst>
                                    <p:set>
                                      <p:cBhvr>
                                        <p:cTn id="30" dur="1" fill="hold">
                                          <p:stCondLst>
                                            <p:cond delay="0"/>
                                          </p:stCondLst>
                                        </p:cTn>
                                        <p:tgtEl>
                                          <p:spTgt spid="8199"/>
                                        </p:tgtEl>
                                        <p:attrNameLst>
                                          <p:attrName>style.visibility</p:attrName>
                                        </p:attrNameLst>
                                      </p:cBhvr>
                                      <p:to>
                                        <p:strVal val="visible"/>
                                      </p:to>
                                    </p:set>
                                    <p:anim calcmode="lin" valueType="num">
                                      <p:cBhvr>
                                        <p:cTn id="31" dur="500" fill="hold"/>
                                        <p:tgtEl>
                                          <p:spTgt spid="8199"/>
                                        </p:tgtEl>
                                        <p:attrNameLst>
                                          <p:attrName>ppt_x</p:attrName>
                                        </p:attrNameLst>
                                      </p:cBhvr>
                                      <p:tavLst>
                                        <p:tav tm="0">
                                          <p:val>
                                            <p:strVal val="#ppt_x"/>
                                          </p:val>
                                        </p:tav>
                                        <p:tav tm="100000">
                                          <p:val>
                                            <p:strVal val="#ppt_x"/>
                                          </p:val>
                                        </p:tav>
                                      </p:tavLst>
                                    </p:anim>
                                    <p:anim calcmode="lin" valueType="num">
                                      <p:cBhvr>
                                        <p:cTn id="32" dur="500" fill="hold"/>
                                        <p:tgtEl>
                                          <p:spTgt spid="8199"/>
                                        </p:tgtEl>
                                        <p:attrNameLst>
                                          <p:attrName>ppt_y</p:attrName>
                                        </p:attrNameLst>
                                      </p:cBhvr>
                                      <p:tavLst>
                                        <p:tav tm="0">
                                          <p:val>
                                            <p:strVal val="#ppt_y+#ppt_h/2"/>
                                          </p:val>
                                        </p:tav>
                                        <p:tav tm="100000">
                                          <p:val>
                                            <p:strVal val="#ppt_y"/>
                                          </p:val>
                                        </p:tav>
                                      </p:tavLst>
                                    </p:anim>
                                    <p:anim calcmode="lin" valueType="num">
                                      <p:cBhvr>
                                        <p:cTn id="33" dur="500" fill="hold"/>
                                        <p:tgtEl>
                                          <p:spTgt spid="8199"/>
                                        </p:tgtEl>
                                        <p:attrNameLst>
                                          <p:attrName>ppt_w</p:attrName>
                                        </p:attrNameLst>
                                      </p:cBhvr>
                                      <p:tavLst>
                                        <p:tav tm="0">
                                          <p:val>
                                            <p:strVal val="#ppt_w"/>
                                          </p:val>
                                        </p:tav>
                                        <p:tav tm="100000">
                                          <p:val>
                                            <p:strVal val="#ppt_w"/>
                                          </p:val>
                                        </p:tav>
                                      </p:tavLst>
                                    </p:anim>
                                    <p:anim calcmode="lin" valueType="num">
                                      <p:cBhvr>
                                        <p:cTn id="34" dur="500" fill="hold"/>
                                        <p:tgtEl>
                                          <p:spTgt spid="8199"/>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8205"/>
                                        </p:tgtEl>
                                        <p:attrNameLst>
                                          <p:attrName>style.visibility</p:attrName>
                                        </p:attrNameLst>
                                      </p:cBhvr>
                                      <p:to>
                                        <p:strVal val="visible"/>
                                      </p:to>
                                    </p:set>
                                    <p:animEffect transition="in" filter="box(in)">
                                      <p:cBhvr>
                                        <p:cTn id="39" dur="500"/>
                                        <p:tgtEl>
                                          <p:spTgt spid="8205"/>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8201"/>
                                        </p:tgtEl>
                                        <p:attrNameLst>
                                          <p:attrName>style.visibility</p:attrName>
                                        </p:attrNameLst>
                                      </p:cBhvr>
                                      <p:to>
                                        <p:strVal val="visible"/>
                                      </p:to>
                                    </p:set>
                                    <p:animEffect transition="in" filter="slide(fromLeft)">
                                      <p:cBhvr>
                                        <p:cTn id="44" dur="500"/>
                                        <p:tgtEl>
                                          <p:spTgt spid="8201"/>
                                        </p:tgtEl>
                                      </p:cBhvr>
                                    </p:animEffect>
                                  </p:childTnLst>
                                </p:cTn>
                              </p:par>
                            </p:childTnLst>
                          </p:cTn>
                        </p:par>
                        <p:par>
                          <p:cTn id="45" fill="hold">
                            <p:stCondLst>
                              <p:cond delay="500"/>
                            </p:stCondLst>
                            <p:childTnLst>
                              <p:par>
                                <p:cTn id="46" presetID="22" presetClass="entr" presetSubtype="1" fill="hold" nodeType="afterEffect">
                                  <p:stCondLst>
                                    <p:cond delay="0"/>
                                  </p:stCondLst>
                                  <p:childTnLst>
                                    <p:set>
                                      <p:cBhvr>
                                        <p:cTn id="47" dur="1" fill="hold">
                                          <p:stCondLst>
                                            <p:cond delay="0"/>
                                          </p:stCondLst>
                                        </p:cTn>
                                        <p:tgtEl>
                                          <p:spTgt spid="8209"/>
                                        </p:tgtEl>
                                        <p:attrNameLst>
                                          <p:attrName>style.visibility</p:attrName>
                                        </p:attrNameLst>
                                      </p:cBhvr>
                                      <p:to>
                                        <p:strVal val="visible"/>
                                      </p:to>
                                    </p:set>
                                    <p:animEffect transition="in" filter="wipe(up)">
                                      <p:cBhvr>
                                        <p:cTn id="48" dur="500"/>
                                        <p:tgtEl>
                                          <p:spTgt spid="820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8203"/>
                                        </p:tgtEl>
                                        <p:attrNameLst>
                                          <p:attrName>style.visibility</p:attrName>
                                        </p:attrNameLst>
                                      </p:cBhvr>
                                      <p:to>
                                        <p:strVal val="visible"/>
                                      </p:to>
                                    </p:set>
                                    <p:animEffect transition="in" filter="wipe(right)">
                                      <p:cBhvr>
                                        <p:cTn id="53" dur="500"/>
                                        <p:tgtEl>
                                          <p:spTgt spid="8203"/>
                                        </p:tgtEl>
                                      </p:cBhvr>
                                    </p:animEffect>
                                  </p:childTnLst>
                                </p:cTn>
                              </p:par>
                            </p:childTnLst>
                          </p:cTn>
                        </p:par>
                        <p:par>
                          <p:cTn id="54" fill="hold">
                            <p:stCondLst>
                              <p:cond delay="500"/>
                            </p:stCondLst>
                            <p:childTnLst>
                              <p:par>
                                <p:cTn id="55" presetID="22" presetClass="entr" presetSubtype="2" fill="hold" grpId="0" nodeType="afterEffect">
                                  <p:stCondLst>
                                    <p:cond delay="0"/>
                                  </p:stCondLst>
                                  <p:childTnLst>
                                    <p:set>
                                      <p:cBhvr>
                                        <p:cTn id="56" dur="1" fill="hold">
                                          <p:stCondLst>
                                            <p:cond delay="0"/>
                                          </p:stCondLst>
                                        </p:cTn>
                                        <p:tgtEl>
                                          <p:spTgt spid="8207"/>
                                        </p:tgtEl>
                                        <p:attrNameLst>
                                          <p:attrName>style.visibility</p:attrName>
                                        </p:attrNameLst>
                                      </p:cBhvr>
                                      <p:to>
                                        <p:strVal val="visible"/>
                                      </p:to>
                                    </p:set>
                                    <p:animEffect transition="in" filter="wipe(right)">
                                      <p:cBhvr>
                                        <p:cTn id="57" dur="500"/>
                                        <p:tgtEl>
                                          <p:spTgt spid="820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8202"/>
                                        </p:tgtEl>
                                        <p:attrNameLst>
                                          <p:attrName>style.visibility</p:attrName>
                                        </p:attrNameLst>
                                      </p:cBhvr>
                                      <p:to>
                                        <p:strVal val="visible"/>
                                      </p:to>
                                    </p:set>
                                    <p:animEffect transition="in" filter="wipe(left)">
                                      <p:cBhvr>
                                        <p:cTn id="62" dur="500"/>
                                        <p:tgtEl>
                                          <p:spTgt spid="8202"/>
                                        </p:tgtEl>
                                      </p:cBhvr>
                                    </p:animEffect>
                                  </p:childTnLst>
                                </p:cTn>
                              </p:par>
                            </p:childTnLst>
                          </p:cTn>
                        </p:par>
                        <p:par>
                          <p:cTn id="63" fill="hold">
                            <p:stCondLst>
                              <p:cond delay="500"/>
                            </p:stCondLst>
                            <p:childTnLst>
                              <p:par>
                                <p:cTn id="64" presetID="22" presetClass="entr" presetSubtype="2" fill="hold" grpId="0" nodeType="afterEffect">
                                  <p:stCondLst>
                                    <p:cond delay="0"/>
                                  </p:stCondLst>
                                  <p:childTnLst>
                                    <p:set>
                                      <p:cBhvr>
                                        <p:cTn id="65" dur="1" fill="hold">
                                          <p:stCondLst>
                                            <p:cond delay="0"/>
                                          </p:stCondLst>
                                        </p:cTn>
                                        <p:tgtEl>
                                          <p:spTgt spid="8206"/>
                                        </p:tgtEl>
                                        <p:attrNameLst>
                                          <p:attrName>style.visibility</p:attrName>
                                        </p:attrNameLst>
                                      </p:cBhvr>
                                      <p:to>
                                        <p:strVal val="visible"/>
                                      </p:to>
                                    </p:set>
                                    <p:animEffect transition="in" filter="wipe(right)">
                                      <p:cBhvr>
                                        <p:cTn id="66" dur="500"/>
                                        <p:tgtEl>
                                          <p:spTgt spid="8206"/>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nodeType="clickEffect">
                                  <p:stCondLst>
                                    <p:cond delay="0"/>
                                  </p:stCondLst>
                                  <p:childTnLst>
                                    <p:set>
                                      <p:cBhvr>
                                        <p:cTn id="70" dur="1" fill="hold">
                                          <p:stCondLst>
                                            <p:cond delay="0"/>
                                          </p:stCondLst>
                                        </p:cTn>
                                        <p:tgtEl>
                                          <p:spTgt spid="8213"/>
                                        </p:tgtEl>
                                        <p:attrNameLst>
                                          <p:attrName>style.visibility</p:attrName>
                                        </p:attrNameLst>
                                      </p:cBhvr>
                                      <p:to>
                                        <p:strVal val="visible"/>
                                      </p:to>
                                    </p:set>
                                    <p:anim calcmode="lin" valueType="num">
                                      <p:cBhvr additive="base">
                                        <p:cTn id="71" dur="500" fill="hold"/>
                                        <p:tgtEl>
                                          <p:spTgt spid="8213"/>
                                        </p:tgtEl>
                                        <p:attrNameLst>
                                          <p:attrName>ppt_x</p:attrName>
                                        </p:attrNameLst>
                                      </p:cBhvr>
                                      <p:tavLst>
                                        <p:tav tm="0">
                                          <p:val>
                                            <p:strVal val="0-#ppt_w/2"/>
                                          </p:val>
                                        </p:tav>
                                        <p:tav tm="100000">
                                          <p:val>
                                            <p:strVal val="#ppt_x"/>
                                          </p:val>
                                        </p:tav>
                                      </p:tavLst>
                                    </p:anim>
                                    <p:anim calcmode="lin" valueType="num">
                                      <p:cBhvr additive="base">
                                        <p:cTn id="72" dur="500" fill="hold"/>
                                        <p:tgtEl>
                                          <p:spTgt spid="8213"/>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8204"/>
                                        </p:tgtEl>
                                        <p:attrNameLst>
                                          <p:attrName>style.visibility</p:attrName>
                                        </p:attrNameLst>
                                      </p:cBhvr>
                                      <p:to>
                                        <p:strVal val="visible"/>
                                      </p:to>
                                    </p:set>
                                    <p:animEffect transition="in" filter="wipe(up)">
                                      <p:cBhvr>
                                        <p:cTn id="77" dur="500"/>
                                        <p:tgtEl>
                                          <p:spTgt spid="8204"/>
                                        </p:tgtEl>
                                      </p:cBhvr>
                                    </p:animEffect>
                                  </p:childTnLst>
                                </p:cTn>
                              </p:par>
                            </p:childTnLst>
                          </p:cTn>
                        </p:par>
                        <p:par>
                          <p:cTn id="78" fill="hold">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8208"/>
                                        </p:tgtEl>
                                        <p:attrNameLst>
                                          <p:attrName>style.visibility</p:attrName>
                                        </p:attrNameLst>
                                      </p:cBhvr>
                                      <p:to>
                                        <p:strVal val="visible"/>
                                      </p:to>
                                    </p:set>
                                    <p:animEffect transition="in" filter="wipe(up)">
                                      <p:cBhvr>
                                        <p:cTn id="81" dur="500"/>
                                        <p:tgtEl>
                                          <p:spTgt spid="8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5" grpId="0" autoUpdateAnimBg="0"/>
      <p:bldP spid="8196" grpId="0" autoUpdateAnimBg="0"/>
      <p:bldP spid="8197" grpId="0" autoUpdateAnimBg="0"/>
      <p:bldP spid="8198" grpId="0" autoUpdateAnimBg="0"/>
      <p:bldP spid="8199" grpId="0" autoUpdateAnimBg="0"/>
      <p:bldP spid="8201" grpId="0" autoUpdateAnimBg="0"/>
      <p:bldP spid="8202" grpId="0" autoUpdateAnimBg="0"/>
      <p:bldP spid="8203" grpId="0" autoUpdateAnimBg="0"/>
      <p:bldP spid="8204" grpId="0" autoUpdateAnimBg="0"/>
      <p:bldP spid="8205" grpId="0" autoUpdateAnimBg="0"/>
      <p:bldP spid="8206" grpId="0" autoUpdateAnimBg="0"/>
      <p:bldP spid="8207" grpId="0" autoUpdateAnimBg="0"/>
      <p:bldP spid="820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p:nvPr/>
        </p:nvGrpSpPr>
        <p:grpSpPr bwMode="auto">
          <a:xfrm>
            <a:off x="4657725" y="3587750"/>
            <a:ext cx="3835400" cy="2301875"/>
            <a:chOff x="2859" y="2260"/>
            <a:chExt cx="2416" cy="1450"/>
          </a:xfrm>
        </p:grpSpPr>
        <p:pic>
          <p:nvPicPr>
            <p:cNvPr id="9219"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59" y="2260"/>
              <a:ext cx="2416" cy="830"/>
            </a:xfrm>
            <a:prstGeom prst="rect">
              <a:avLst/>
            </a:prstGeom>
            <a:noFill/>
            <a:extLst>
              <a:ext uri="{909E8E84-426E-40DD-AFC4-6F175D3DCCD1}">
                <a14:hiddenFill xmlns:a14="http://schemas.microsoft.com/office/drawing/2010/main">
                  <a:solidFill>
                    <a:srgbClr val="FFFFFF"/>
                  </a:solidFill>
                </a14:hiddenFill>
              </a:ext>
            </a:extLst>
          </p:spPr>
        </p:pic>
        <p:sp>
          <p:nvSpPr>
            <p:cNvPr id="9220" name="Text Box 4"/>
            <p:cNvSpPr txBox="1">
              <a:spLocks noChangeArrowheads="1"/>
            </p:cNvSpPr>
            <p:nvPr/>
          </p:nvSpPr>
          <p:spPr bwMode="auto">
            <a:xfrm>
              <a:off x="3845" y="3335"/>
              <a:ext cx="839" cy="375"/>
            </a:xfrm>
            <a:prstGeom prst="rect">
              <a:avLst/>
            </a:prstGeom>
            <a:pattFill prst="dotDmnd">
              <a:fgClr>
                <a:schemeClr val="bg1"/>
              </a:fgClr>
              <a:bgClr>
                <a:srgbClr val="FF99FF"/>
              </a:bgClr>
            </a:pattFill>
            <a:ln w="76200">
              <a:pattFill prst="smCheck">
                <a:fgClr>
                  <a:srgbClr val="FFFF00"/>
                </a:fgClr>
                <a:bgClr>
                  <a:srgbClr val="FF0000"/>
                </a:bgClr>
              </a:patt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2800" b="1"/>
                <a:t>加工轴</a:t>
              </a:r>
              <a:endParaRPr lang="zh-CN" altLang="en-US" sz="2800" b="1"/>
            </a:p>
          </p:txBody>
        </p:sp>
      </p:grpSp>
      <p:sp>
        <p:nvSpPr>
          <p:cNvPr id="9221" name="Text Box 5"/>
          <p:cNvSpPr txBox="1">
            <a:spLocks noChangeArrowheads="1"/>
          </p:cNvSpPr>
          <p:nvPr/>
        </p:nvSpPr>
        <p:spPr bwMode="auto">
          <a:xfrm>
            <a:off x="174625" y="1328738"/>
            <a:ext cx="2579688"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pattFill prst="sphere">
                  <a:fgClr>
                    <a:schemeClr val="accent2"/>
                  </a:fgClr>
                  <a:bgClr>
                    <a:srgbClr val="FFFFFF"/>
                  </a:bgClr>
                </a:pattFill>
                <a:miter lim="800000"/>
                <a:headEnd/>
                <a:tailEnd/>
              </a14:hiddenLine>
            </a:ext>
          </a:extLst>
        </p:spPr>
        <p:txBody>
          <a:bodyPr>
            <a:spAutoFit/>
          </a:bodyPr>
          <a:lstStyle/>
          <a:p>
            <a:pPr eaLnBrk="0" hangingPunct="0"/>
            <a:r>
              <a:rPr lang="en-US" altLang="zh-CN" sz="3200" b="1">
                <a:latin typeface="宋体" panose="02010600030101010101" pitchFamily="2" charset="-122"/>
                <a:sym typeface="Monotype Sorts" panose="05000000000000000000" pitchFamily="2" charset="2"/>
              </a:rPr>
              <a:t>(2)</a:t>
            </a:r>
            <a:r>
              <a:rPr lang="zh-CN" altLang="en-US" sz="3200" b="1">
                <a:latin typeface="宋体" panose="02010600030101010101" pitchFamily="2" charset="-122"/>
                <a:sym typeface="Monotype Sorts" panose="05000000000000000000" pitchFamily="2" charset="2"/>
              </a:rPr>
              <a:t>选主视图</a:t>
            </a:r>
            <a:endParaRPr lang="zh-CN" altLang="en-US" sz="3200" b="1">
              <a:latin typeface="宋体" panose="02010600030101010101" pitchFamily="2" charset="-122"/>
            </a:endParaRPr>
          </a:p>
        </p:txBody>
      </p:sp>
      <p:sp>
        <p:nvSpPr>
          <p:cNvPr id="9222" name="Text Box 6"/>
          <p:cNvSpPr txBox="1">
            <a:spLocks noChangeArrowheads="1"/>
          </p:cNvSpPr>
          <p:nvPr/>
        </p:nvSpPr>
        <p:spPr bwMode="auto">
          <a:xfrm>
            <a:off x="2619375" y="528638"/>
            <a:ext cx="305117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3200" b="1">
                <a:latin typeface="宋体" panose="02010600030101010101" pitchFamily="2" charset="-122"/>
              </a:rPr>
              <a:t>零件的安放状态</a:t>
            </a:r>
            <a:endParaRPr lang="zh-CN" altLang="en-US" sz="3200" b="1">
              <a:latin typeface="宋体" panose="02010600030101010101" pitchFamily="2" charset="-122"/>
            </a:endParaRPr>
          </a:p>
        </p:txBody>
      </p:sp>
      <p:sp>
        <p:nvSpPr>
          <p:cNvPr id="9223" name="Text Box 7"/>
          <p:cNvSpPr txBox="1">
            <a:spLocks noChangeArrowheads="1"/>
          </p:cNvSpPr>
          <p:nvPr/>
        </p:nvSpPr>
        <p:spPr bwMode="auto">
          <a:xfrm>
            <a:off x="2619375" y="2103438"/>
            <a:ext cx="200342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3200" b="1">
                <a:latin typeface="宋体" panose="02010600030101010101" pitchFamily="2" charset="-122"/>
              </a:rPr>
              <a:t>投射方向</a:t>
            </a:r>
            <a:endParaRPr lang="zh-CN" altLang="en-US" sz="3200" b="1">
              <a:latin typeface="宋体" panose="02010600030101010101" pitchFamily="2" charset="-122"/>
            </a:endParaRPr>
          </a:p>
        </p:txBody>
      </p:sp>
      <p:sp>
        <p:nvSpPr>
          <p:cNvPr id="9224" name="Text Box 8"/>
          <p:cNvSpPr txBox="1">
            <a:spLocks noChangeArrowheads="1"/>
          </p:cNvSpPr>
          <p:nvPr/>
        </p:nvSpPr>
        <p:spPr bwMode="auto">
          <a:xfrm>
            <a:off x="5692775" y="49213"/>
            <a:ext cx="3451225"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rgbClr val="FF3300"/>
                </a:solidFill>
                <a:latin typeface="宋体" panose="02010600030101010101" pitchFamily="2" charset="-122"/>
              </a:rPr>
              <a:t> </a:t>
            </a:r>
            <a:r>
              <a:rPr lang="zh-CN" altLang="en-US" sz="3200" b="1">
                <a:solidFill>
                  <a:srgbClr val="FF3300"/>
                </a:solidFill>
                <a:latin typeface="宋体" panose="02010600030101010101" pitchFamily="2" charset="-122"/>
              </a:rPr>
              <a:t>加工</a:t>
            </a:r>
            <a:r>
              <a:rPr lang="zh-CN" altLang="en-US" sz="3200" b="1">
                <a:latin typeface="宋体" panose="02010600030101010101" pitchFamily="2" charset="-122"/>
              </a:rPr>
              <a:t>状态</a:t>
            </a:r>
            <a:endParaRPr lang="zh-CN" altLang="en-US" sz="3200" b="1">
              <a:latin typeface="宋体" panose="02010600030101010101" pitchFamily="2" charset="-122"/>
            </a:endParaRPr>
          </a:p>
          <a:p>
            <a:pPr eaLnBrk="0" hangingPunct="0"/>
            <a:r>
              <a:rPr lang="zh-CN" altLang="en-US" sz="3200" b="1">
                <a:latin typeface="宋体" panose="02010600030101010101" pitchFamily="2" charset="-122"/>
              </a:rPr>
              <a:t>（轴、盘类）</a:t>
            </a:r>
            <a:endParaRPr lang="zh-CN" altLang="en-US" sz="3200" b="1">
              <a:latin typeface="宋体" panose="02010600030101010101" pitchFamily="2" charset="-122"/>
            </a:endParaRPr>
          </a:p>
        </p:txBody>
      </p:sp>
      <p:sp>
        <p:nvSpPr>
          <p:cNvPr id="9225" name="Text Box 9"/>
          <p:cNvSpPr txBox="1">
            <a:spLocks noChangeArrowheads="1"/>
          </p:cNvSpPr>
          <p:nvPr/>
        </p:nvSpPr>
        <p:spPr bwMode="auto">
          <a:xfrm>
            <a:off x="5729288" y="1081088"/>
            <a:ext cx="3567112"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latin typeface="宋体" panose="02010600030101010101" pitchFamily="2" charset="-122"/>
              </a:rPr>
              <a:t> </a:t>
            </a:r>
            <a:r>
              <a:rPr lang="zh-CN" altLang="en-US" sz="3200" b="1">
                <a:solidFill>
                  <a:srgbClr val="FF3300"/>
                </a:solidFill>
                <a:latin typeface="宋体" panose="02010600030101010101" pitchFamily="2" charset="-122"/>
              </a:rPr>
              <a:t>工作</a:t>
            </a:r>
            <a:r>
              <a:rPr lang="zh-CN" altLang="en-US" sz="3200" b="1">
                <a:latin typeface="宋体" panose="02010600030101010101" pitchFamily="2" charset="-122"/>
              </a:rPr>
              <a:t>状态</a:t>
            </a:r>
            <a:endParaRPr lang="zh-CN" altLang="en-US" sz="3200" b="1">
              <a:latin typeface="宋体" panose="02010600030101010101" pitchFamily="2" charset="-122"/>
            </a:endParaRPr>
          </a:p>
          <a:p>
            <a:pPr eaLnBrk="0" hangingPunct="0"/>
            <a:r>
              <a:rPr lang="zh-CN" altLang="en-US" sz="3200" b="1">
                <a:latin typeface="宋体" panose="02010600030101010101" pitchFamily="2" charset="-122"/>
              </a:rPr>
              <a:t>（支架、壳体类）</a:t>
            </a:r>
            <a:endParaRPr lang="zh-CN" altLang="en-US" sz="3200" b="1">
              <a:latin typeface="宋体" panose="02010600030101010101" pitchFamily="2" charset="-122"/>
            </a:endParaRPr>
          </a:p>
        </p:txBody>
      </p:sp>
      <p:sp>
        <p:nvSpPr>
          <p:cNvPr id="9226" name="Text Box 10"/>
          <p:cNvSpPr txBox="1">
            <a:spLocks noChangeArrowheads="1"/>
          </p:cNvSpPr>
          <p:nvPr/>
        </p:nvSpPr>
        <p:spPr bwMode="auto">
          <a:xfrm>
            <a:off x="190500" y="3159125"/>
            <a:ext cx="3025775"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pattFill prst="sphere">
                  <a:fgClr>
                    <a:schemeClr val="accent2"/>
                  </a:fgClr>
                  <a:bgClr>
                    <a:srgbClr val="FFFFFF"/>
                  </a:bgClr>
                </a:pattFill>
                <a:miter lim="800000"/>
                <a:headEnd/>
                <a:tailEnd/>
              </a14:hiddenLine>
            </a:ext>
          </a:extLst>
        </p:spPr>
        <p:txBody>
          <a:bodyPr>
            <a:spAutoFit/>
          </a:bodyPr>
          <a:lstStyle/>
          <a:p>
            <a:pPr eaLnBrk="0" hangingPunct="0"/>
            <a:r>
              <a:rPr lang="en-US" altLang="zh-CN" sz="3200" b="1">
                <a:latin typeface="宋体" panose="02010600030101010101" pitchFamily="2" charset="-122"/>
                <a:sym typeface="Monotype Sorts" panose="05000000000000000000" pitchFamily="2" charset="2"/>
              </a:rPr>
              <a:t>(3)</a:t>
            </a:r>
            <a:r>
              <a:rPr lang="zh-CN" altLang="en-US" sz="3200" b="1">
                <a:latin typeface="宋体" panose="02010600030101010101" pitchFamily="2" charset="-122"/>
                <a:sym typeface="Monotype Sorts" panose="05000000000000000000" pitchFamily="2" charset="2"/>
              </a:rPr>
              <a:t>选其他视图</a:t>
            </a:r>
            <a:endParaRPr lang="zh-CN" altLang="en-US" sz="3200" b="1">
              <a:latin typeface="宋体" panose="02010600030101010101" pitchFamily="2" charset="-122"/>
            </a:endParaRPr>
          </a:p>
        </p:txBody>
      </p:sp>
      <p:sp>
        <p:nvSpPr>
          <p:cNvPr id="9227" name="Text Box 11"/>
          <p:cNvSpPr txBox="1">
            <a:spLocks noChangeArrowheads="1"/>
          </p:cNvSpPr>
          <p:nvPr/>
        </p:nvSpPr>
        <p:spPr bwMode="auto">
          <a:xfrm>
            <a:off x="4489450" y="2103438"/>
            <a:ext cx="4421188" cy="1066800"/>
          </a:xfrm>
          <a:prstGeom prst="rect">
            <a:avLst/>
          </a:prstGeom>
          <a:noFill/>
          <a:ln>
            <a:noFill/>
          </a:ln>
          <a:extLst>
            <a:ext uri="{909E8E84-426E-40DD-AFC4-6F175D3DCCD1}">
              <a14:hiddenFill xmlns:a14="http://schemas.microsoft.com/office/drawing/2010/main">
                <a:pattFill prst="dotDmnd">
                  <a:fgClr>
                    <a:srgbClr val="66CCFF"/>
                  </a:fgClr>
                  <a:bgClr>
                    <a:srgbClr val="FFFFCC"/>
                  </a:bgClr>
                </a:pattFill>
              </a14:hiddenFill>
            </a:ext>
            <a:ext uri="{91240B29-F687-4F45-9708-019B960494DF}">
              <a14:hiddenLine xmlns:a14="http://schemas.microsoft.com/office/drawing/2010/main" w="57150">
                <a:pattFill prst="lgCheck">
                  <a:fgClr>
                    <a:srgbClr val="33CCCC"/>
                  </a:fgClr>
                  <a:bgClr>
                    <a:srgbClr val="FFFFFF"/>
                  </a:bgClr>
                </a:pattFill>
                <a:miter lim="800000"/>
                <a:headEnd/>
                <a:tailEnd/>
              </a14:hiddenLine>
            </a:ext>
          </a:extLst>
        </p:spPr>
        <p:txBody>
          <a:bodyPr>
            <a:spAutoFit/>
          </a:bodyPr>
          <a:lstStyle/>
          <a:p>
            <a:pPr eaLnBrk="0" hangingPunct="0"/>
            <a:r>
              <a:rPr lang="zh-CN" altLang="en-US" sz="3200" b="1">
                <a:solidFill>
                  <a:srgbClr val="FF3300"/>
                </a:solidFill>
                <a:latin typeface="宋体" panose="02010600030101010101" pitchFamily="2" charset="-122"/>
              </a:rPr>
              <a:t>能较多地表达零件的形状特征</a:t>
            </a:r>
            <a:endParaRPr lang="zh-CN" altLang="en-US" sz="3200" b="1">
              <a:latin typeface="宋体" panose="02010600030101010101" pitchFamily="2" charset="-122"/>
            </a:endParaRPr>
          </a:p>
        </p:txBody>
      </p:sp>
      <p:sp>
        <p:nvSpPr>
          <p:cNvPr id="9228" name="Text Box 12"/>
          <p:cNvSpPr txBox="1">
            <a:spLocks noChangeArrowheads="1"/>
          </p:cNvSpPr>
          <p:nvPr/>
        </p:nvSpPr>
        <p:spPr bwMode="auto">
          <a:xfrm>
            <a:off x="381000" y="3690938"/>
            <a:ext cx="3695700" cy="204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latin typeface="宋体" panose="02010600030101010101" pitchFamily="2" charset="-122"/>
              </a:rPr>
              <a:t>    </a:t>
            </a:r>
            <a:r>
              <a:rPr lang="zh-CN" altLang="en-US" sz="3200" b="1">
                <a:latin typeface="宋体" panose="02010600030101010101" pitchFamily="2" charset="-122"/>
              </a:rPr>
              <a:t>首先考虑表达</a:t>
            </a:r>
            <a:r>
              <a:rPr lang="zh-CN" altLang="en-US" sz="3200" b="1">
                <a:solidFill>
                  <a:srgbClr val="FF3300"/>
                </a:solidFill>
                <a:latin typeface="宋体" panose="02010600030101010101" pitchFamily="2" charset="-122"/>
              </a:rPr>
              <a:t>主要形体</a:t>
            </a:r>
            <a:r>
              <a:rPr lang="zh-CN" altLang="en-US" sz="3200" b="1">
                <a:latin typeface="宋体" panose="02010600030101010101" pitchFamily="2" charset="-122"/>
              </a:rPr>
              <a:t>的其他视图，再补全次要形体的视图。</a:t>
            </a:r>
            <a:endParaRPr lang="zh-CN" altLang="en-US" sz="3200" b="1">
              <a:latin typeface="宋体" panose="02010600030101010101" pitchFamily="2" charset="-122"/>
            </a:endParaRPr>
          </a:p>
        </p:txBody>
      </p:sp>
      <p:grpSp>
        <p:nvGrpSpPr>
          <p:cNvPr id="9229" name="Group 13"/>
          <p:cNvGrpSpPr/>
          <p:nvPr/>
        </p:nvGrpSpPr>
        <p:grpSpPr bwMode="auto">
          <a:xfrm>
            <a:off x="6861175" y="3062288"/>
            <a:ext cx="1722438" cy="933450"/>
            <a:chOff x="4268" y="1998"/>
            <a:chExt cx="1085" cy="588"/>
          </a:xfrm>
        </p:grpSpPr>
        <p:sp>
          <p:nvSpPr>
            <p:cNvPr id="9230" name="Text Box 14"/>
            <p:cNvSpPr txBox="1">
              <a:spLocks noChangeArrowheads="1"/>
            </p:cNvSpPr>
            <p:nvPr/>
          </p:nvSpPr>
          <p:spPr bwMode="auto">
            <a:xfrm>
              <a:off x="4465" y="1998"/>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chemeClr val="accent2"/>
                  </a:solidFill>
                </a:rPr>
                <a:t>工件旋转</a:t>
              </a:r>
              <a:endParaRPr lang="zh-CN" altLang="en-US" sz="2000" b="1">
                <a:solidFill>
                  <a:schemeClr val="accent2"/>
                </a:solidFill>
              </a:endParaRPr>
            </a:p>
          </p:txBody>
        </p:sp>
        <p:sp>
          <p:nvSpPr>
            <p:cNvPr id="9231" name="Line 15"/>
            <p:cNvSpPr>
              <a:spLocks noChangeShapeType="1"/>
            </p:cNvSpPr>
            <p:nvPr/>
          </p:nvSpPr>
          <p:spPr bwMode="auto">
            <a:xfrm flipV="1">
              <a:off x="4268" y="2262"/>
              <a:ext cx="324" cy="324"/>
            </a:xfrm>
            <a:prstGeom prst="line">
              <a:avLst/>
            </a:prstGeom>
            <a:noFill/>
            <a:ln w="19050">
              <a:solidFill>
                <a:schemeClr val="accent2"/>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32" name="Freeform 16"/>
            <p:cNvSpPr/>
            <p:nvPr/>
          </p:nvSpPr>
          <p:spPr bwMode="auto">
            <a:xfrm>
              <a:off x="4580" y="2271"/>
              <a:ext cx="713" cy="1"/>
            </a:xfrm>
            <a:custGeom>
              <a:avLst/>
              <a:gdLst>
                <a:gd name="T0" fmla="*/ 0 w 713"/>
                <a:gd name="T1" fmla="*/ 0 h 1"/>
                <a:gd name="T2" fmla="*/ 713 w 713"/>
                <a:gd name="T3" fmla="*/ 0 h 1"/>
              </a:gdLst>
              <a:ahLst/>
              <a:cxnLst>
                <a:cxn ang="0">
                  <a:pos x="T0" y="T1"/>
                </a:cxn>
                <a:cxn ang="0">
                  <a:pos x="T2" y="T3"/>
                </a:cxn>
              </a:cxnLst>
              <a:rect l="0" t="0" r="r" b="b"/>
              <a:pathLst>
                <a:path w="713" h="1">
                  <a:moveTo>
                    <a:pt x="0" y="0"/>
                  </a:moveTo>
                  <a:lnTo>
                    <a:pt x="713" y="0"/>
                  </a:lnTo>
                </a:path>
              </a:pathLst>
            </a:custGeom>
            <a:noFill/>
            <a:ln w="19050" cmpd="sng">
              <a:solidFill>
                <a:schemeClr val="accent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9233" name="Group 17"/>
          <p:cNvGrpSpPr/>
          <p:nvPr/>
        </p:nvGrpSpPr>
        <p:grpSpPr bwMode="auto">
          <a:xfrm>
            <a:off x="7419975" y="4759325"/>
            <a:ext cx="1216025" cy="609600"/>
            <a:chOff x="4612" y="3006"/>
            <a:chExt cx="766" cy="384"/>
          </a:xfrm>
        </p:grpSpPr>
        <p:sp>
          <p:nvSpPr>
            <p:cNvPr id="9234" name="Text Box 18"/>
            <p:cNvSpPr txBox="1">
              <a:spLocks noChangeArrowheads="1"/>
            </p:cNvSpPr>
            <p:nvPr/>
          </p:nvSpPr>
          <p:spPr bwMode="auto">
            <a:xfrm>
              <a:off x="4878" y="3100"/>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chemeClr val="accent2"/>
                  </a:solidFill>
                </a:rPr>
                <a:t>车床</a:t>
              </a:r>
              <a:endParaRPr lang="zh-CN" altLang="en-US">
                <a:solidFill>
                  <a:schemeClr val="accent2"/>
                </a:solidFill>
              </a:endParaRPr>
            </a:p>
          </p:txBody>
        </p:sp>
        <p:sp>
          <p:nvSpPr>
            <p:cNvPr id="9235" name="Line 19"/>
            <p:cNvSpPr>
              <a:spLocks noChangeShapeType="1"/>
            </p:cNvSpPr>
            <p:nvPr/>
          </p:nvSpPr>
          <p:spPr bwMode="auto">
            <a:xfrm>
              <a:off x="4612" y="3006"/>
              <a:ext cx="384" cy="384"/>
            </a:xfrm>
            <a:prstGeom prst="line">
              <a:avLst/>
            </a:prstGeom>
            <a:noFill/>
            <a:ln w="19050">
              <a:solidFill>
                <a:schemeClr val="accent2"/>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36" name="Line 20"/>
            <p:cNvSpPr>
              <a:spLocks noChangeShapeType="1"/>
            </p:cNvSpPr>
            <p:nvPr/>
          </p:nvSpPr>
          <p:spPr bwMode="auto">
            <a:xfrm>
              <a:off x="4984" y="3378"/>
              <a:ext cx="360"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9237" name="AutoShape 21"/>
          <p:cNvSpPr>
            <a:spLocks noChangeArrowheads="1"/>
          </p:cNvSpPr>
          <p:nvPr/>
        </p:nvSpPr>
        <p:spPr bwMode="auto">
          <a:xfrm>
            <a:off x="5969000" y="3724275"/>
            <a:ext cx="395288" cy="200025"/>
          </a:xfrm>
          <a:prstGeom prst="curvedDownArrow">
            <a:avLst>
              <a:gd name="adj1" fmla="val 39872"/>
              <a:gd name="adj2" fmla="val 79048"/>
              <a:gd name="adj3" fmla="val 33333"/>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38" name="Line 22"/>
          <p:cNvSpPr>
            <a:spLocks noChangeShapeType="1"/>
          </p:cNvSpPr>
          <p:nvPr/>
        </p:nvSpPr>
        <p:spPr bwMode="auto">
          <a:xfrm flipH="1">
            <a:off x="5835650" y="4295775"/>
            <a:ext cx="361950" cy="0"/>
          </a:xfrm>
          <a:prstGeom prst="line">
            <a:avLst/>
          </a:prstGeom>
          <a:noFill/>
          <a:ln w="3810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39" name="AutoShape 23"/>
          <p:cNvSpPr/>
          <p:nvPr/>
        </p:nvSpPr>
        <p:spPr bwMode="auto">
          <a:xfrm>
            <a:off x="5595938" y="328613"/>
            <a:ext cx="244475" cy="1050925"/>
          </a:xfrm>
          <a:prstGeom prst="leftBrace">
            <a:avLst>
              <a:gd name="adj1" fmla="val 3582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40" name="AutoShape 24"/>
          <p:cNvSpPr/>
          <p:nvPr/>
        </p:nvSpPr>
        <p:spPr bwMode="auto">
          <a:xfrm>
            <a:off x="2506663" y="844550"/>
            <a:ext cx="184150" cy="1627188"/>
          </a:xfrm>
          <a:prstGeom prst="leftBrace">
            <a:avLst>
              <a:gd name="adj1" fmla="val 73635"/>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9241" name="Group 25"/>
          <p:cNvGrpSpPr/>
          <p:nvPr/>
        </p:nvGrpSpPr>
        <p:grpSpPr bwMode="auto">
          <a:xfrm>
            <a:off x="4224338" y="4310063"/>
            <a:ext cx="1663700" cy="1162050"/>
            <a:chOff x="2706" y="2706"/>
            <a:chExt cx="1048" cy="732"/>
          </a:xfrm>
        </p:grpSpPr>
        <p:sp>
          <p:nvSpPr>
            <p:cNvPr id="9242" name="Text Box 26"/>
            <p:cNvSpPr txBox="1">
              <a:spLocks noChangeArrowheads="1"/>
            </p:cNvSpPr>
            <p:nvPr/>
          </p:nvSpPr>
          <p:spPr bwMode="auto">
            <a:xfrm>
              <a:off x="2706" y="3150"/>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chemeClr val="accent2"/>
                  </a:solidFill>
                </a:rPr>
                <a:t>车刀移动</a:t>
              </a:r>
              <a:endParaRPr lang="zh-CN" altLang="en-US">
                <a:solidFill>
                  <a:schemeClr val="accent2"/>
                </a:solidFill>
              </a:endParaRPr>
            </a:p>
          </p:txBody>
        </p:sp>
        <p:sp>
          <p:nvSpPr>
            <p:cNvPr id="9243" name="Line 27"/>
            <p:cNvSpPr>
              <a:spLocks noChangeShapeType="1"/>
            </p:cNvSpPr>
            <p:nvPr/>
          </p:nvSpPr>
          <p:spPr bwMode="auto">
            <a:xfrm flipH="1">
              <a:off x="3535" y="2706"/>
              <a:ext cx="219" cy="710"/>
            </a:xfrm>
            <a:prstGeom prst="line">
              <a:avLst/>
            </a:prstGeom>
            <a:noFill/>
            <a:ln w="19050">
              <a:solidFill>
                <a:schemeClr val="accent2"/>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44" name="Line 28"/>
            <p:cNvSpPr>
              <a:spLocks noChangeShapeType="1"/>
            </p:cNvSpPr>
            <p:nvPr/>
          </p:nvSpPr>
          <p:spPr bwMode="auto">
            <a:xfrm flipH="1">
              <a:off x="2748" y="3408"/>
              <a:ext cx="804" cy="0"/>
            </a:xfrm>
            <a:prstGeom prst="line">
              <a:avLst/>
            </a:prstGeom>
            <a:noFill/>
            <a:ln w="19050">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245" name="Text Box 29">
            <a:hlinkClick r:id="rId2" action="ppaction://hlinksldjump"/>
          </p:cNvPr>
          <p:cNvSpPr txBox="1">
            <a:spLocks noChangeArrowheads="1"/>
          </p:cNvSpPr>
          <p:nvPr/>
        </p:nvSpPr>
        <p:spPr bwMode="auto">
          <a:xfrm>
            <a:off x="5984875" y="6127750"/>
            <a:ext cx="869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u="sng">
                <a:solidFill>
                  <a:srgbClr val="0000FF"/>
                </a:solidFill>
              </a:rPr>
              <a:t>轴</a:t>
            </a:r>
            <a:r>
              <a:rPr lang="en-US" altLang="zh-CN" u="sng">
                <a:solidFill>
                  <a:srgbClr val="0000FF"/>
                </a:solidFill>
              </a:rPr>
              <a:t>,</a:t>
            </a:r>
            <a:r>
              <a:rPr lang="zh-CN" altLang="en-US" u="sng">
                <a:solidFill>
                  <a:srgbClr val="0000FF"/>
                </a:solidFill>
              </a:rPr>
              <a:t>盖</a:t>
            </a:r>
            <a:endParaRPr lang="zh-CN" altLang="en-US" u="sng">
              <a:solidFill>
                <a:srgbClr val="0000FF"/>
              </a:solidFill>
            </a:endParaRPr>
          </a:p>
        </p:txBody>
      </p:sp>
      <p:sp>
        <p:nvSpPr>
          <p:cNvPr id="9247" name="Text Box 31">
            <a:hlinkClick r:id="rId3" action="ppaction://hlinksldjump"/>
          </p:cNvPr>
          <p:cNvSpPr txBox="1">
            <a:spLocks noChangeArrowheads="1"/>
          </p:cNvSpPr>
          <p:nvPr/>
        </p:nvSpPr>
        <p:spPr bwMode="auto">
          <a:xfrm>
            <a:off x="7056438" y="60833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u="sng">
                <a:solidFill>
                  <a:srgbClr val="0000FF"/>
                </a:solidFill>
              </a:rPr>
              <a:t>阀体支架</a:t>
            </a:r>
            <a:endParaRPr lang="zh-CN" altLang="en-US" u="sng">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240"/>
                                        </p:tgtEl>
                                        <p:attrNameLst>
                                          <p:attrName>style.visibility</p:attrName>
                                        </p:attrNameLst>
                                      </p:cBhvr>
                                      <p:to>
                                        <p:strVal val="visible"/>
                                      </p:to>
                                    </p:set>
                                    <p:animEffect transition="in" filter="wipe(up)">
                                      <p:cBhvr>
                                        <p:cTn id="7" dur="500"/>
                                        <p:tgtEl>
                                          <p:spTgt spid="924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9222"/>
                                        </p:tgtEl>
                                        <p:attrNameLst>
                                          <p:attrName>style.visibility</p:attrName>
                                        </p:attrNameLst>
                                      </p:cBhvr>
                                      <p:to>
                                        <p:strVal val="visible"/>
                                      </p:to>
                                    </p:set>
                                    <p:animEffect transition="in" filter="slide(fromLeft)">
                                      <p:cBhvr>
                                        <p:cTn id="12" dur="500"/>
                                        <p:tgtEl>
                                          <p:spTgt spid="92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239"/>
                                        </p:tgtEl>
                                        <p:attrNameLst>
                                          <p:attrName>style.visibility</p:attrName>
                                        </p:attrNameLst>
                                      </p:cBhvr>
                                      <p:to>
                                        <p:strVal val="visible"/>
                                      </p:to>
                                    </p:set>
                                    <p:animEffect transition="in" filter="wipe(up)">
                                      <p:cBhvr>
                                        <p:cTn id="17" dur="500"/>
                                        <p:tgtEl>
                                          <p:spTgt spid="923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9224"/>
                                        </p:tgtEl>
                                        <p:attrNameLst>
                                          <p:attrName>style.visibility</p:attrName>
                                        </p:attrNameLst>
                                      </p:cBhvr>
                                      <p:to>
                                        <p:strVal val="visible"/>
                                      </p:to>
                                    </p:set>
                                    <p:animEffect transition="in" filter="slide(fromRight)">
                                      <p:cBhvr>
                                        <p:cTn id="22" dur="500"/>
                                        <p:tgtEl>
                                          <p:spTgt spid="922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9218"/>
                                        </p:tgtEl>
                                        <p:attrNameLst>
                                          <p:attrName>style.visibility</p:attrName>
                                        </p:attrNameLst>
                                      </p:cBhvr>
                                      <p:to>
                                        <p:strVal val="visible"/>
                                      </p:to>
                                    </p:set>
                                    <p:animEffect transition="in" filter="barn(outVertical)">
                                      <p:cBhvr>
                                        <p:cTn id="27" dur="500"/>
                                        <p:tgtEl>
                                          <p:spTgt spid="92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233"/>
                                        </p:tgtEl>
                                        <p:attrNameLst>
                                          <p:attrName>style.visibility</p:attrName>
                                        </p:attrNameLst>
                                      </p:cBhvr>
                                      <p:to>
                                        <p:strVal val="visible"/>
                                      </p:to>
                                    </p:set>
                                    <p:animEffect transition="in" filter="wipe(down)">
                                      <p:cBhvr>
                                        <p:cTn id="32" dur="500"/>
                                        <p:tgtEl>
                                          <p:spTgt spid="92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9237"/>
                                        </p:tgtEl>
                                        <p:attrNameLst>
                                          <p:attrName>style.visibility</p:attrName>
                                        </p:attrNameLst>
                                      </p:cBhvr>
                                      <p:to>
                                        <p:strVal val="visible"/>
                                      </p:to>
                                    </p:set>
                                    <p:animEffect transition="in" filter="wipe(up)">
                                      <p:cBhvr>
                                        <p:cTn id="37" dur="500"/>
                                        <p:tgtEl>
                                          <p:spTgt spid="9237"/>
                                        </p:tgtEl>
                                      </p:cBhvr>
                                    </p:animEffec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9229"/>
                                        </p:tgtEl>
                                        <p:attrNameLst>
                                          <p:attrName>style.visibility</p:attrName>
                                        </p:attrNameLst>
                                      </p:cBhvr>
                                      <p:to>
                                        <p:strVal val="visible"/>
                                      </p:to>
                                    </p:set>
                                    <p:animEffect transition="in" filter="wipe(up)">
                                      <p:cBhvr>
                                        <p:cTn id="41" dur="500"/>
                                        <p:tgtEl>
                                          <p:spTgt spid="922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nodeType="clickEffect">
                                  <p:stCondLst>
                                    <p:cond delay="0"/>
                                  </p:stCondLst>
                                  <p:childTnLst>
                                    <p:set>
                                      <p:cBhvr>
                                        <p:cTn id="45" dur="1" fill="hold">
                                          <p:stCondLst>
                                            <p:cond delay="0"/>
                                          </p:stCondLst>
                                        </p:cTn>
                                        <p:tgtEl>
                                          <p:spTgt spid="9238"/>
                                        </p:tgtEl>
                                        <p:attrNameLst>
                                          <p:attrName>style.visibility</p:attrName>
                                        </p:attrNameLst>
                                      </p:cBhvr>
                                      <p:to>
                                        <p:strVal val="visible"/>
                                      </p:to>
                                    </p:set>
                                    <p:animEffect transition="in" filter="wipe(right)">
                                      <p:cBhvr>
                                        <p:cTn id="46" dur="500"/>
                                        <p:tgtEl>
                                          <p:spTgt spid="9238"/>
                                        </p:tgtEl>
                                      </p:cBhvr>
                                    </p:animEffect>
                                  </p:childTnLst>
                                </p:cTn>
                              </p:par>
                            </p:childTnLst>
                          </p:cTn>
                        </p:par>
                        <p:par>
                          <p:cTn id="47" fill="hold">
                            <p:stCondLst>
                              <p:cond delay="500"/>
                            </p:stCondLst>
                            <p:childTnLst>
                              <p:par>
                                <p:cTn id="48" presetID="22" presetClass="entr" presetSubtype="4" fill="hold" nodeType="afterEffect">
                                  <p:stCondLst>
                                    <p:cond delay="0"/>
                                  </p:stCondLst>
                                  <p:childTnLst>
                                    <p:set>
                                      <p:cBhvr>
                                        <p:cTn id="49" dur="1" fill="hold">
                                          <p:stCondLst>
                                            <p:cond delay="0"/>
                                          </p:stCondLst>
                                        </p:cTn>
                                        <p:tgtEl>
                                          <p:spTgt spid="9241"/>
                                        </p:tgtEl>
                                        <p:attrNameLst>
                                          <p:attrName>style.visibility</p:attrName>
                                        </p:attrNameLst>
                                      </p:cBhvr>
                                      <p:to>
                                        <p:strVal val="visible"/>
                                      </p:to>
                                    </p:set>
                                    <p:animEffect transition="in" filter="wipe(down)">
                                      <p:cBhvr>
                                        <p:cTn id="50" dur="500"/>
                                        <p:tgtEl>
                                          <p:spTgt spid="9241"/>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9225"/>
                                        </p:tgtEl>
                                        <p:attrNameLst>
                                          <p:attrName>style.visibility</p:attrName>
                                        </p:attrNameLst>
                                      </p:cBhvr>
                                      <p:to>
                                        <p:strVal val="visible"/>
                                      </p:to>
                                    </p:set>
                                    <p:animEffect transition="in" filter="slide(fromLeft)">
                                      <p:cBhvr>
                                        <p:cTn id="55" dur="500"/>
                                        <p:tgtEl>
                                          <p:spTgt spid="922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grpId="0" nodeType="clickEffect">
                                  <p:stCondLst>
                                    <p:cond delay="0"/>
                                  </p:stCondLst>
                                  <p:childTnLst>
                                    <p:set>
                                      <p:cBhvr>
                                        <p:cTn id="59" dur="1" fill="hold">
                                          <p:stCondLst>
                                            <p:cond delay="0"/>
                                          </p:stCondLst>
                                        </p:cTn>
                                        <p:tgtEl>
                                          <p:spTgt spid="9223"/>
                                        </p:tgtEl>
                                        <p:attrNameLst>
                                          <p:attrName>style.visibility</p:attrName>
                                        </p:attrNameLst>
                                      </p:cBhvr>
                                      <p:to>
                                        <p:strVal val="visible"/>
                                      </p:to>
                                    </p:set>
                                    <p:animEffect transition="in" filter="wipe(right)">
                                      <p:cBhvr>
                                        <p:cTn id="60" dur="500"/>
                                        <p:tgtEl>
                                          <p:spTgt spid="9223"/>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37" fill="hold" grpId="0" nodeType="clickEffect">
                                  <p:stCondLst>
                                    <p:cond delay="0"/>
                                  </p:stCondLst>
                                  <p:childTnLst>
                                    <p:set>
                                      <p:cBhvr>
                                        <p:cTn id="64" dur="1" fill="hold">
                                          <p:stCondLst>
                                            <p:cond delay="0"/>
                                          </p:stCondLst>
                                        </p:cTn>
                                        <p:tgtEl>
                                          <p:spTgt spid="9227"/>
                                        </p:tgtEl>
                                        <p:attrNameLst>
                                          <p:attrName>style.visibility</p:attrName>
                                        </p:attrNameLst>
                                      </p:cBhvr>
                                      <p:to>
                                        <p:strVal val="visible"/>
                                      </p:to>
                                    </p:set>
                                    <p:animEffect transition="in" filter="barn(outVertical)">
                                      <p:cBhvr>
                                        <p:cTn id="65" dur="500"/>
                                        <p:tgtEl>
                                          <p:spTgt spid="9227"/>
                                        </p:tgtEl>
                                      </p:cBhvr>
                                    </p:animEffect>
                                  </p:childTnLst>
                                </p:cTn>
                              </p:par>
                            </p:childTnLst>
                          </p:cTn>
                        </p:par>
                      </p:childTnLst>
                    </p:cTn>
                  </p:par>
                  <p:par>
                    <p:cTn id="66" fill="hold">
                      <p:stCondLst>
                        <p:cond delay="indefinite"/>
                      </p:stCondLst>
                      <p:childTnLst>
                        <p:par>
                          <p:cTn id="67" fill="hold">
                            <p:stCondLst>
                              <p:cond delay="0"/>
                            </p:stCondLst>
                            <p:childTnLst>
                              <p:par>
                                <p:cTn id="68" presetID="17" presetClass="entr" presetSubtype="8" fill="hold" grpId="0" nodeType="clickEffect">
                                  <p:stCondLst>
                                    <p:cond delay="0"/>
                                  </p:stCondLst>
                                  <p:childTnLst>
                                    <p:set>
                                      <p:cBhvr>
                                        <p:cTn id="69" dur="1" fill="hold">
                                          <p:stCondLst>
                                            <p:cond delay="0"/>
                                          </p:stCondLst>
                                        </p:cTn>
                                        <p:tgtEl>
                                          <p:spTgt spid="9226"/>
                                        </p:tgtEl>
                                        <p:attrNameLst>
                                          <p:attrName>style.visibility</p:attrName>
                                        </p:attrNameLst>
                                      </p:cBhvr>
                                      <p:to>
                                        <p:strVal val="visible"/>
                                      </p:to>
                                    </p:set>
                                    <p:anim calcmode="lin" valueType="num">
                                      <p:cBhvr>
                                        <p:cTn id="70" dur="500" fill="hold"/>
                                        <p:tgtEl>
                                          <p:spTgt spid="9226"/>
                                        </p:tgtEl>
                                        <p:attrNameLst>
                                          <p:attrName>ppt_x</p:attrName>
                                        </p:attrNameLst>
                                      </p:cBhvr>
                                      <p:tavLst>
                                        <p:tav tm="0">
                                          <p:val>
                                            <p:strVal val="#ppt_x-#ppt_w/2"/>
                                          </p:val>
                                        </p:tav>
                                        <p:tav tm="100000">
                                          <p:val>
                                            <p:strVal val="#ppt_x"/>
                                          </p:val>
                                        </p:tav>
                                      </p:tavLst>
                                    </p:anim>
                                    <p:anim calcmode="lin" valueType="num">
                                      <p:cBhvr>
                                        <p:cTn id="71" dur="500" fill="hold"/>
                                        <p:tgtEl>
                                          <p:spTgt spid="9226"/>
                                        </p:tgtEl>
                                        <p:attrNameLst>
                                          <p:attrName>ppt_y</p:attrName>
                                        </p:attrNameLst>
                                      </p:cBhvr>
                                      <p:tavLst>
                                        <p:tav tm="0">
                                          <p:val>
                                            <p:strVal val="#ppt_y"/>
                                          </p:val>
                                        </p:tav>
                                        <p:tav tm="100000">
                                          <p:val>
                                            <p:strVal val="#ppt_y"/>
                                          </p:val>
                                        </p:tav>
                                      </p:tavLst>
                                    </p:anim>
                                    <p:anim calcmode="lin" valueType="num">
                                      <p:cBhvr>
                                        <p:cTn id="72" dur="500" fill="hold"/>
                                        <p:tgtEl>
                                          <p:spTgt spid="9226"/>
                                        </p:tgtEl>
                                        <p:attrNameLst>
                                          <p:attrName>ppt_w</p:attrName>
                                        </p:attrNameLst>
                                      </p:cBhvr>
                                      <p:tavLst>
                                        <p:tav tm="0">
                                          <p:val>
                                            <p:fltVal val="0"/>
                                          </p:val>
                                        </p:tav>
                                        <p:tav tm="100000">
                                          <p:val>
                                            <p:strVal val="#ppt_w"/>
                                          </p:val>
                                        </p:tav>
                                      </p:tavLst>
                                    </p:anim>
                                    <p:anim calcmode="lin" valueType="num">
                                      <p:cBhvr>
                                        <p:cTn id="73" dur="500" fill="hold"/>
                                        <p:tgtEl>
                                          <p:spTgt spid="9226"/>
                                        </p:tgtEl>
                                        <p:attrNameLst>
                                          <p:attrName>ppt_h</p:attrName>
                                        </p:attrNameLst>
                                      </p:cBhvr>
                                      <p:tavLst>
                                        <p:tav tm="0">
                                          <p:val>
                                            <p:strVal val="#ppt_h"/>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grpId="0" nodeType="clickEffect">
                                  <p:stCondLst>
                                    <p:cond delay="0"/>
                                  </p:stCondLst>
                                  <p:childTnLst>
                                    <p:set>
                                      <p:cBhvr>
                                        <p:cTn id="77" dur="1" fill="hold">
                                          <p:stCondLst>
                                            <p:cond delay="0"/>
                                          </p:stCondLst>
                                        </p:cTn>
                                        <p:tgtEl>
                                          <p:spTgt spid="9228"/>
                                        </p:tgtEl>
                                        <p:attrNameLst>
                                          <p:attrName>style.visibility</p:attrName>
                                        </p:attrNameLst>
                                      </p:cBhvr>
                                      <p:to>
                                        <p:strVal val="visible"/>
                                      </p:to>
                                    </p:set>
                                    <p:anim calcmode="lin" valueType="num">
                                      <p:cBhvr>
                                        <p:cTn id="78" dur="500" fill="hold"/>
                                        <p:tgtEl>
                                          <p:spTgt spid="9228"/>
                                        </p:tgtEl>
                                        <p:attrNameLst>
                                          <p:attrName>ppt_x</p:attrName>
                                        </p:attrNameLst>
                                      </p:cBhvr>
                                      <p:tavLst>
                                        <p:tav tm="0">
                                          <p:val>
                                            <p:strVal val="#ppt_x-#ppt_w/2"/>
                                          </p:val>
                                        </p:tav>
                                        <p:tav tm="100000">
                                          <p:val>
                                            <p:strVal val="#ppt_x"/>
                                          </p:val>
                                        </p:tav>
                                      </p:tavLst>
                                    </p:anim>
                                    <p:anim calcmode="lin" valueType="num">
                                      <p:cBhvr>
                                        <p:cTn id="79" dur="500" fill="hold"/>
                                        <p:tgtEl>
                                          <p:spTgt spid="9228"/>
                                        </p:tgtEl>
                                        <p:attrNameLst>
                                          <p:attrName>ppt_y</p:attrName>
                                        </p:attrNameLst>
                                      </p:cBhvr>
                                      <p:tavLst>
                                        <p:tav tm="0">
                                          <p:val>
                                            <p:strVal val="#ppt_y"/>
                                          </p:val>
                                        </p:tav>
                                        <p:tav tm="100000">
                                          <p:val>
                                            <p:strVal val="#ppt_y"/>
                                          </p:val>
                                        </p:tav>
                                      </p:tavLst>
                                    </p:anim>
                                    <p:anim calcmode="lin" valueType="num">
                                      <p:cBhvr>
                                        <p:cTn id="80" dur="500" fill="hold"/>
                                        <p:tgtEl>
                                          <p:spTgt spid="9228"/>
                                        </p:tgtEl>
                                        <p:attrNameLst>
                                          <p:attrName>ppt_w</p:attrName>
                                        </p:attrNameLst>
                                      </p:cBhvr>
                                      <p:tavLst>
                                        <p:tav tm="0">
                                          <p:val>
                                            <p:fltVal val="0"/>
                                          </p:val>
                                        </p:tav>
                                        <p:tav tm="100000">
                                          <p:val>
                                            <p:strVal val="#ppt_w"/>
                                          </p:val>
                                        </p:tav>
                                      </p:tavLst>
                                    </p:anim>
                                    <p:anim calcmode="lin" valueType="num">
                                      <p:cBhvr>
                                        <p:cTn id="81" dur="500" fill="hold"/>
                                        <p:tgtEl>
                                          <p:spTgt spid="92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utoUpdateAnimBg="0"/>
      <p:bldP spid="9223" grpId="0" autoUpdateAnimBg="0"/>
      <p:bldP spid="9224" grpId="0" autoUpdateAnimBg="0"/>
      <p:bldP spid="9225" grpId="0" autoUpdateAnimBg="0"/>
      <p:bldP spid="9226" grpId="0" autoUpdateAnimBg="0"/>
      <p:bldP spid="9227" grpId="0" autoUpdateAnimBg="0"/>
      <p:bldP spid="922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536575" y="1781175"/>
            <a:ext cx="8272463" cy="184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pPr>
            <a:r>
              <a:rPr lang="en-US" altLang="zh-CN" sz="3200" b="1">
                <a:latin typeface="宋体" panose="02010600030101010101" pitchFamily="2" charset="-122"/>
              </a:rPr>
              <a:t>② </a:t>
            </a:r>
            <a:r>
              <a:rPr lang="zh-CN" altLang="en-US" sz="3200" b="1">
                <a:latin typeface="宋体" panose="02010600030101010101" pitchFamily="2" charset="-122"/>
              </a:rPr>
              <a:t>内、外形的表达，内形复杂的可取全剖；</a:t>
            </a:r>
            <a:endParaRPr lang="zh-CN" altLang="en-US" sz="3200" b="1">
              <a:latin typeface="宋体" panose="02010600030101010101" pitchFamily="2" charset="-122"/>
            </a:endParaRPr>
          </a:p>
          <a:p>
            <a:pPr>
              <a:lnSpc>
                <a:spcPct val="120000"/>
              </a:lnSpc>
            </a:pPr>
            <a:r>
              <a:rPr lang="zh-CN" altLang="en-US" sz="3200" b="1">
                <a:latin typeface="宋体" panose="02010600030101010101" pitchFamily="2" charset="-122"/>
              </a:rPr>
              <a:t>   内外形需兼顾，且不影响清楚表达时可</a:t>
            </a:r>
            <a:endParaRPr lang="zh-CN" altLang="en-US" sz="3200" b="1">
              <a:latin typeface="宋体" panose="02010600030101010101" pitchFamily="2" charset="-122"/>
            </a:endParaRPr>
          </a:p>
          <a:p>
            <a:pPr>
              <a:lnSpc>
                <a:spcPct val="120000"/>
              </a:lnSpc>
            </a:pPr>
            <a:r>
              <a:rPr lang="zh-CN" altLang="en-US" sz="3200" b="1">
                <a:latin typeface="宋体" panose="02010600030101010101" pitchFamily="2" charset="-122"/>
              </a:rPr>
              <a:t>   取局部剖。</a:t>
            </a:r>
            <a:endParaRPr lang="zh-CN" altLang="en-US" sz="3200" b="1">
              <a:latin typeface="宋体" panose="02010600030101010101" pitchFamily="2" charset="-122"/>
            </a:endParaRPr>
          </a:p>
        </p:txBody>
      </p:sp>
      <p:sp>
        <p:nvSpPr>
          <p:cNvPr id="10243" name="Text Box 3"/>
          <p:cNvSpPr txBox="1">
            <a:spLocks noChangeArrowheads="1"/>
          </p:cNvSpPr>
          <p:nvPr/>
        </p:nvSpPr>
        <p:spPr bwMode="auto">
          <a:xfrm>
            <a:off x="536575" y="3705225"/>
            <a:ext cx="8250238" cy="1844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pPr>
            <a:r>
              <a:rPr lang="en-US" altLang="zh-CN" sz="3200" b="1">
                <a:latin typeface="宋体" panose="02010600030101010101" pitchFamily="2" charset="-122"/>
              </a:rPr>
              <a:t>③ </a:t>
            </a:r>
            <a:r>
              <a:rPr lang="zh-CN" altLang="en-US" sz="3200" b="1">
                <a:latin typeface="宋体" panose="02010600030101010101" pitchFamily="2" charset="-122"/>
              </a:rPr>
              <a:t>尽量不用虚线表示零件的轮廓线，但用少 </a:t>
            </a:r>
            <a:endParaRPr lang="zh-CN" altLang="en-US" sz="3200" b="1">
              <a:latin typeface="宋体" panose="02010600030101010101" pitchFamily="2" charset="-122"/>
            </a:endParaRPr>
          </a:p>
          <a:p>
            <a:pPr>
              <a:lnSpc>
                <a:spcPct val="120000"/>
              </a:lnSpc>
            </a:pPr>
            <a:r>
              <a:rPr lang="zh-CN" altLang="en-US" sz="3200" b="1">
                <a:latin typeface="宋体" panose="02010600030101010101" pitchFamily="2" charset="-122"/>
              </a:rPr>
              <a:t>   量虚线可节省视图数量而又不在虚线上标</a:t>
            </a:r>
            <a:endParaRPr lang="zh-CN" altLang="en-US" sz="3200" b="1">
              <a:latin typeface="宋体" panose="02010600030101010101" pitchFamily="2" charset="-122"/>
            </a:endParaRPr>
          </a:p>
          <a:p>
            <a:pPr>
              <a:lnSpc>
                <a:spcPct val="120000"/>
              </a:lnSpc>
            </a:pPr>
            <a:r>
              <a:rPr lang="zh-CN" altLang="en-US" sz="3200" b="1">
                <a:latin typeface="宋体" panose="02010600030101010101" pitchFamily="2" charset="-122"/>
              </a:rPr>
              <a:t>   注尺寸时，可适当采用虚线。   </a:t>
            </a:r>
            <a:endParaRPr lang="zh-CN" altLang="en-US" sz="3200" b="1">
              <a:latin typeface="宋体" panose="02010600030101010101" pitchFamily="2" charset="-122"/>
            </a:endParaRPr>
          </a:p>
        </p:txBody>
      </p:sp>
      <p:sp>
        <p:nvSpPr>
          <p:cNvPr id="10244" name="Text Box 4"/>
          <p:cNvSpPr txBox="1">
            <a:spLocks noChangeArrowheads="1"/>
          </p:cNvSpPr>
          <p:nvPr/>
        </p:nvSpPr>
        <p:spPr bwMode="auto">
          <a:xfrm>
            <a:off x="441325" y="287338"/>
            <a:ext cx="6532563"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sz="3600" b="1">
                <a:solidFill>
                  <a:srgbClr val="FF3300"/>
                </a:solidFill>
                <a:latin typeface="宋体" panose="02010600030101010101" pitchFamily="2" charset="-122"/>
              </a:rPr>
              <a:t>☆</a:t>
            </a:r>
            <a:r>
              <a:rPr lang="zh-CN" altLang="en-US" sz="3600" b="1">
                <a:latin typeface="宋体" panose="02010600030101010101" pitchFamily="2" charset="-122"/>
              </a:rPr>
              <a:t>视图选择应注意的问题：</a:t>
            </a:r>
            <a:endParaRPr lang="zh-CN" altLang="en-US" sz="3600" b="1">
              <a:latin typeface="宋体" panose="02010600030101010101" pitchFamily="2" charset="-122"/>
            </a:endParaRPr>
          </a:p>
        </p:txBody>
      </p:sp>
      <p:sp>
        <p:nvSpPr>
          <p:cNvPr id="10245" name="Text Box 5"/>
          <p:cNvSpPr txBox="1">
            <a:spLocks noChangeArrowheads="1"/>
          </p:cNvSpPr>
          <p:nvPr/>
        </p:nvSpPr>
        <p:spPr bwMode="auto">
          <a:xfrm>
            <a:off x="536575" y="1119188"/>
            <a:ext cx="4468813"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3200" b="1">
                <a:latin typeface="宋体" panose="02010600030101010101" pitchFamily="2" charset="-122"/>
              </a:rPr>
              <a:t>① </a:t>
            </a:r>
            <a:r>
              <a:rPr lang="zh-CN" altLang="en-US" sz="3200" b="1">
                <a:latin typeface="宋体" panose="02010600030101010101" pitchFamily="2" charset="-122"/>
              </a:rPr>
              <a:t>优先选用基本视图。</a:t>
            </a:r>
            <a:endParaRPr lang="zh-CN" altLang="en-US" sz="32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blinds(horizontal)">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242"/>
                                        </p:tgtEl>
                                        <p:attrNameLst>
                                          <p:attrName>style.visibility</p:attrName>
                                        </p:attrNameLst>
                                      </p:cBhvr>
                                      <p:to>
                                        <p:strVal val="visible"/>
                                      </p:to>
                                    </p:set>
                                    <p:animEffect transition="in" filter="barn(inVertical)">
                                      <p:cBhvr>
                                        <p:cTn id="12" dur="500"/>
                                        <p:tgtEl>
                                          <p:spTgt spid="1024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0243"/>
                                        </p:tgtEl>
                                        <p:attrNameLst>
                                          <p:attrName>style.visibility</p:attrName>
                                        </p:attrNameLst>
                                      </p:cBhvr>
                                      <p:to>
                                        <p:strVal val="visible"/>
                                      </p:to>
                                    </p:set>
                                    <p:animEffect transition="in" filter="barn(outVertical)">
                                      <p:cBhvr>
                                        <p:cTn id="17"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43" grpId="0" autoUpdateAnimBg="0"/>
      <p:bldP spid="10245"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1371600" y="1952625"/>
            <a:ext cx="3667125"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zh-CN" altLang="en-US" sz="4000" b="1">
                <a:solidFill>
                  <a:srgbClr val="FF3300"/>
                </a:solidFill>
                <a:latin typeface="宋体" panose="02010600030101010101" pitchFamily="2" charset="-122"/>
              </a:rPr>
              <a:t>择优原则：</a:t>
            </a:r>
            <a:endParaRPr lang="zh-CN" altLang="en-US" sz="4000" b="1">
              <a:latin typeface="宋体" panose="02010600030101010101" pitchFamily="2" charset="-122"/>
            </a:endParaRPr>
          </a:p>
        </p:txBody>
      </p:sp>
      <p:sp>
        <p:nvSpPr>
          <p:cNvPr id="11267" name="Text Box 3"/>
          <p:cNvSpPr txBox="1">
            <a:spLocks noChangeArrowheads="1"/>
          </p:cNvSpPr>
          <p:nvPr/>
        </p:nvSpPr>
        <p:spPr bwMode="auto">
          <a:xfrm>
            <a:off x="898525" y="2905125"/>
            <a:ext cx="7789863" cy="1409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pPr>
            <a:r>
              <a:rPr lang="en-US" altLang="zh-CN" sz="3600" b="1">
                <a:latin typeface="宋体" panose="02010600030101010101" pitchFamily="2" charset="-122"/>
              </a:rPr>
              <a:t>① </a:t>
            </a:r>
            <a:r>
              <a:rPr lang="zh-CN" altLang="en-US" sz="3600" b="1">
                <a:latin typeface="宋体" panose="02010600030101010101" pitchFamily="2" charset="-122"/>
              </a:rPr>
              <a:t>在零件的结构形状表达清楚的</a:t>
            </a:r>
            <a:endParaRPr lang="zh-CN" altLang="en-US" sz="3600" b="1">
              <a:latin typeface="宋体" panose="02010600030101010101" pitchFamily="2" charset="-122"/>
            </a:endParaRPr>
          </a:p>
          <a:p>
            <a:pPr>
              <a:lnSpc>
                <a:spcPct val="120000"/>
              </a:lnSpc>
            </a:pPr>
            <a:r>
              <a:rPr lang="zh-CN" altLang="en-US" sz="3600" b="1">
                <a:latin typeface="宋体" panose="02010600030101010101" pitchFamily="2" charset="-122"/>
              </a:rPr>
              <a:t>   基础上，视图的数量越少越好。</a:t>
            </a:r>
            <a:endParaRPr lang="zh-CN" altLang="en-US" sz="3600" b="1">
              <a:latin typeface="宋体" panose="02010600030101010101" pitchFamily="2" charset="-122"/>
            </a:endParaRPr>
          </a:p>
        </p:txBody>
      </p:sp>
      <p:sp>
        <p:nvSpPr>
          <p:cNvPr id="11268" name="Text Box 4"/>
          <p:cNvSpPr txBox="1">
            <a:spLocks noChangeArrowheads="1"/>
          </p:cNvSpPr>
          <p:nvPr/>
        </p:nvSpPr>
        <p:spPr bwMode="auto">
          <a:xfrm>
            <a:off x="439738" y="244475"/>
            <a:ext cx="406717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pattFill prst="sphere">
                  <a:fgClr>
                    <a:schemeClr val="accent2"/>
                  </a:fgClr>
                  <a:bgClr>
                    <a:srgbClr val="FFFFFF"/>
                  </a:bgClr>
                </a:pattFill>
                <a:miter lim="800000"/>
                <a:headEnd/>
                <a:tailEnd/>
              </a14:hiddenLine>
            </a:ext>
          </a:extLst>
        </p:spPr>
        <p:txBody>
          <a:bodyPr>
            <a:spAutoFit/>
          </a:bodyPr>
          <a:lstStyle/>
          <a:p>
            <a:pPr eaLnBrk="0" hangingPunct="0"/>
            <a:r>
              <a:rPr lang="zh-CN" altLang="en-US" sz="4400" b="1">
                <a:latin typeface="宋体" panose="02010600030101010101" pitchFamily="2" charset="-122"/>
                <a:sym typeface="Monotype Sorts" panose="05000000000000000000" pitchFamily="2" charset="2"/>
              </a:rPr>
              <a:t>（</a:t>
            </a:r>
            <a:r>
              <a:rPr lang="en-US" altLang="zh-CN" sz="4400" b="1">
                <a:latin typeface="宋体" panose="02010600030101010101" pitchFamily="2" charset="-122"/>
                <a:sym typeface="Monotype Sorts" panose="05000000000000000000" pitchFamily="2" charset="2"/>
              </a:rPr>
              <a:t>4</a:t>
            </a:r>
            <a:r>
              <a:rPr lang="zh-CN" altLang="en-US" sz="4400" b="1">
                <a:latin typeface="宋体" panose="02010600030101010101" pitchFamily="2" charset="-122"/>
                <a:sym typeface="Monotype Sorts" panose="05000000000000000000" pitchFamily="2" charset="2"/>
              </a:rPr>
              <a:t>）方案比较</a:t>
            </a:r>
            <a:endParaRPr lang="zh-CN" altLang="en-US" sz="4400">
              <a:latin typeface="宋体" panose="02010600030101010101" pitchFamily="2" charset="-122"/>
            </a:endParaRPr>
          </a:p>
        </p:txBody>
      </p:sp>
      <p:sp>
        <p:nvSpPr>
          <p:cNvPr id="11269" name="Text Box 5"/>
          <p:cNvSpPr txBox="1">
            <a:spLocks noChangeArrowheads="1"/>
          </p:cNvSpPr>
          <p:nvPr/>
        </p:nvSpPr>
        <p:spPr bwMode="auto">
          <a:xfrm>
            <a:off x="1363663" y="1066800"/>
            <a:ext cx="6904037"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4000" b="1">
                <a:latin typeface="宋体" panose="02010600030101010101" pitchFamily="2" charset="-122"/>
              </a:rPr>
              <a:t>在多种方案中比较，择优。</a:t>
            </a:r>
            <a:endParaRPr lang="zh-CN" altLang="en-US" sz="4000">
              <a:latin typeface="宋体" panose="02010600030101010101" pitchFamily="2" charset="-122"/>
            </a:endParaRPr>
          </a:p>
        </p:txBody>
      </p:sp>
      <p:sp>
        <p:nvSpPr>
          <p:cNvPr id="11270" name="Text Box 6"/>
          <p:cNvSpPr txBox="1">
            <a:spLocks noChangeArrowheads="1"/>
          </p:cNvSpPr>
          <p:nvPr/>
        </p:nvSpPr>
        <p:spPr bwMode="auto">
          <a:xfrm>
            <a:off x="898525" y="4397375"/>
            <a:ext cx="6637338"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en-US" altLang="zh-CN" sz="3600" b="1">
                <a:latin typeface="宋体" panose="02010600030101010101" pitchFamily="2" charset="-122"/>
              </a:rPr>
              <a:t>② </a:t>
            </a:r>
            <a:r>
              <a:rPr lang="zh-CN" altLang="en-US" sz="3600" b="1">
                <a:latin typeface="宋体" panose="02010600030101010101" pitchFamily="2" charset="-122"/>
              </a:rPr>
              <a:t>避免不必要的细节重复。</a:t>
            </a:r>
            <a:endParaRPr lang="zh-CN" altLang="en-US" sz="36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p:cTn id="7" dur="500" fill="hold"/>
                                        <p:tgtEl>
                                          <p:spTgt spid="11269"/>
                                        </p:tgtEl>
                                        <p:attrNameLst>
                                          <p:attrName>ppt_x</p:attrName>
                                        </p:attrNameLst>
                                      </p:cBhvr>
                                      <p:tavLst>
                                        <p:tav tm="0">
                                          <p:val>
                                            <p:strVal val="#ppt_x+#ppt_w/2"/>
                                          </p:val>
                                        </p:tav>
                                        <p:tav tm="100000">
                                          <p:val>
                                            <p:strVal val="#ppt_x"/>
                                          </p:val>
                                        </p:tav>
                                      </p:tavLst>
                                    </p:anim>
                                    <p:anim calcmode="lin" valueType="num">
                                      <p:cBhvr>
                                        <p:cTn id="8" dur="500" fill="hold"/>
                                        <p:tgtEl>
                                          <p:spTgt spid="11269"/>
                                        </p:tgtEl>
                                        <p:attrNameLst>
                                          <p:attrName>ppt_y</p:attrName>
                                        </p:attrNameLst>
                                      </p:cBhvr>
                                      <p:tavLst>
                                        <p:tav tm="0">
                                          <p:val>
                                            <p:strVal val="#ppt_y"/>
                                          </p:val>
                                        </p:tav>
                                        <p:tav tm="100000">
                                          <p:val>
                                            <p:strVal val="#ppt_y"/>
                                          </p:val>
                                        </p:tav>
                                      </p:tavLst>
                                    </p:anim>
                                    <p:anim calcmode="lin" valueType="num">
                                      <p:cBhvr>
                                        <p:cTn id="9" dur="500" fill="hold"/>
                                        <p:tgtEl>
                                          <p:spTgt spid="11269"/>
                                        </p:tgtEl>
                                        <p:attrNameLst>
                                          <p:attrName>ppt_w</p:attrName>
                                        </p:attrNameLst>
                                      </p:cBhvr>
                                      <p:tavLst>
                                        <p:tav tm="0">
                                          <p:val>
                                            <p:fltVal val="0"/>
                                          </p:val>
                                        </p:tav>
                                        <p:tav tm="100000">
                                          <p:val>
                                            <p:strVal val="#ppt_w"/>
                                          </p:val>
                                        </p:tav>
                                      </p:tavLst>
                                    </p:anim>
                                    <p:anim calcmode="lin" valueType="num">
                                      <p:cBhvr>
                                        <p:cTn id="10" dur="500" fill="hold"/>
                                        <p:tgtEl>
                                          <p:spTgt spid="11269"/>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266"/>
                                        </p:tgtEl>
                                        <p:attrNameLst>
                                          <p:attrName>style.visibility</p:attrName>
                                        </p:attrNameLst>
                                      </p:cBhvr>
                                      <p:to>
                                        <p:strVal val="visible"/>
                                      </p:to>
                                    </p:set>
                                    <p:animEffect transition="in" filter="blinds(horizontal)">
                                      <p:cBhvr>
                                        <p:cTn id="15" dur="500"/>
                                        <p:tgtEl>
                                          <p:spTgt spid="11266"/>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37" fill="hold" grpId="0" nodeType="clickEffect">
                                  <p:stCondLst>
                                    <p:cond delay="0"/>
                                  </p:stCondLst>
                                  <p:childTnLst>
                                    <p:set>
                                      <p:cBhvr>
                                        <p:cTn id="19" dur="1" fill="hold">
                                          <p:stCondLst>
                                            <p:cond delay="0"/>
                                          </p:stCondLst>
                                        </p:cTn>
                                        <p:tgtEl>
                                          <p:spTgt spid="11267"/>
                                        </p:tgtEl>
                                        <p:attrNameLst>
                                          <p:attrName>style.visibility</p:attrName>
                                        </p:attrNameLst>
                                      </p:cBhvr>
                                      <p:to>
                                        <p:strVal val="visible"/>
                                      </p:to>
                                    </p:set>
                                    <p:animEffect transition="in" filter="barn(outVertical)">
                                      <p:cBhvr>
                                        <p:cTn id="20" dur="500"/>
                                        <p:tgtEl>
                                          <p:spTgt spid="11267"/>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11270"/>
                                        </p:tgtEl>
                                        <p:attrNameLst>
                                          <p:attrName>style.visibility</p:attrName>
                                        </p:attrNameLst>
                                      </p:cBhvr>
                                      <p:to>
                                        <p:strVal val="visible"/>
                                      </p:to>
                                    </p:set>
                                    <p:animEffect transition="in" filter="strips(downRight)">
                                      <p:cBhvr>
                                        <p:cTn id="25"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autoUpdateAnimBg="0"/>
      <p:bldP spid="11267" grpId="0" autoUpdateAnimBg="0"/>
      <p:bldP spid="11269" grpId="0" autoUpdateAnimBg="0"/>
      <p:bldP spid="11270"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23" name="Picture 3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97425" y="1181100"/>
            <a:ext cx="2882900" cy="3733800"/>
          </a:xfrm>
          <a:prstGeom prst="rect">
            <a:avLst/>
          </a:prstGeom>
          <a:noFill/>
          <a:extLst>
            <a:ext uri="{909E8E84-426E-40DD-AFC4-6F175D3DCCD1}">
              <a14:hiddenFill xmlns:a14="http://schemas.microsoft.com/office/drawing/2010/main">
                <a:solidFill>
                  <a:srgbClr val="FFFFFF"/>
                </a:solidFill>
              </a14:hiddenFill>
            </a:ext>
          </a:extLst>
        </p:spPr>
      </p:pic>
      <p:sp>
        <p:nvSpPr>
          <p:cNvPr id="12290" name="Rectangle 2"/>
          <p:cNvSpPr>
            <a:spLocks noChangeArrowheads="1"/>
          </p:cNvSpPr>
          <p:nvPr/>
        </p:nvSpPr>
        <p:spPr bwMode="auto">
          <a:xfrm>
            <a:off x="377825" y="122238"/>
            <a:ext cx="7694613" cy="628650"/>
          </a:xfrm>
          <a:prstGeom prst="rect">
            <a:avLst/>
          </a:prstGeom>
          <a:noFill/>
          <a:ln>
            <a:noFill/>
          </a:ln>
          <a:extLst>
            <a:ext uri="{909E8E84-426E-40DD-AFC4-6F175D3DCCD1}">
              <a14:hiddenFill xmlns:a14="http://schemas.microsoft.com/office/drawing/2010/main">
                <a:gradFill rotWithShape="0">
                  <a:gsLst>
                    <a:gs pos="0">
                      <a:srgbClr val="66CCFF"/>
                    </a:gs>
                    <a:gs pos="50000">
                      <a:srgbClr val="66CCFF">
                        <a:gamma/>
                        <a:tint val="10196"/>
                        <a:invGamma/>
                      </a:srgbClr>
                    </a:gs>
                    <a:gs pos="100000">
                      <a:srgbClr val="66CCFF"/>
                    </a:gs>
                  </a:gsLst>
                  <a:lin ang="5400000" scaled="1"/>
                </a:gradFill>
              </a14:hiddenFill>
            </a:ext>
            <a:ext uri="{91240B29-F687-4F45-9708-019B960494DF}">
              <a14:hiddenLine xmlns:a14="http://schemas.microsoft.com/office/drawing/2010/main" w="76200">
                <a:pattFill prst="lgCheck">
                  <a:fgClr>
                    <a:srgbClr val="33CCCC"/>
                  </a:fgClr>
                  <a:bgClr>
                    <a:srgbClr val="FFFFFF"/>
                  </a:bgClr>
                </a:pattFill>
                <a:miter lim="800000"/>
                <a:headEnd/>
                <a:tailEnd/>
              </a14:hiddenLine>
            </a:ext>
          </a:extLst>
        </p:spPr>
        <p:txBody>
          <a:bodyPr/>
          <a:lstStyle>
            <a:lvl1pPr algn="ctr">
              <a:defRPr kumimoji="1" sz="4400">
                <a:solidFill>
                  <a:schemeClr val="tx2"/>
                </a:solidFill>
                <a:latin typeface="Times New Roman" panose="02020603050405020304" pitchFamily="18" charset="0"/>
                <a:ea typeface="宋体" panose="02010600030101010101" pitchFamily="2" charset="-122"/>
              </a:defRPr>
            </a:lvl1pPr>
            <a:lvl2pPr algn="ctr">
              <a:defRPr kumimoji="1" sz="4400">
                <a:solidFill>
                  <a:schemeClr val="tx2"/>
                </a:solidFill>
                <a:latin typeface="Times New Roman" panose="02020603050405020304" pitchFamily="18" charset="0"/>
                <a:ea typeface="宋体" panose="02010600030101010101" pitchFamily="2" charset="-122"/>
              </a:defRPr>
            </a:lvl2pPr>
            <a:lvl3pPr algn="ctr">
              <a:defRPr kumimoji="1" sz="4400">
                <a:solidFill>
                  <a:schemeClr val="tx2"/>
                </a:solidFill>
                <a:latin typeface="Times New Roman" panose="02020603050405020304" pitchFamily="18" charset="0"/>
                <a:ea typeface="宋体" panose="02010600030101010101" pitchFamily="2" charset="-122"/>
              </a:defRPr>
            </a:lvl3pPr>
            <a:lvl4pPr algn="ctr">
              <a:defRPr kumimoji="1" sz="4400">
                <a:solidFill>
                  <a:schemeClr val="tx2"/>
                </a:solidFill>
                <a:latin typeface="Times New Roman" panose="02020603050405020304" pitchFamily="18" charset="0"/>
                <a:ea typeface="宋体" panose="02010600030101010101" pitchFamily="2" charset="-122"/>
              </a:defRPr>
            </a:lvl4pPr>
            <a:lvl5pPr algn="ctr">
              <a:defRPr kumimoji="1" sz="4400">
                <a:solidFill>
                  <a:schemeClr val="tx2"/>
                </a:solidFill>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en-US" altLang="zh-CN" sz="4000" b="1">
                <a:solidFill>
                  <a:schemeClr val="accent2"/>
                </a:solidFill>
              </a:rPr>
              <a:t>3.</a:t>
            </a:r>
            <a:r>
              <a:rPr lang="zh-CN" altLang="en-US" sz="4000" b="1">
                <a:solidFill>
                  <a:schemeClr val="accent2"/>
                </a:solidFill>
              </a:rPr>
              <a:t>典型零件的视图表达</a:t>
            </a:r>
            <a:endParaRPr lang="zh-CN" altLang="en-US" sz="4800" b="1">
              <a:solidFill>
                <a:schemeClr val="accent2"/>
              </a:solidFill>
            </a:endParaRPr>
          </a:p>
        </p:txBody>
      </p:sp>
      <p:sp>
        <p:nvSpPr>
          <p:cNvPr id="12291" name="Text Box 3"/>
          <p:cNvSpPr txBox="1">
            <a:spLocks noChangeArrowheads="1"/>
          </p:cNvSpPr>
          <p:nvPr/>
        </p:nvSpPr>
        <p:spPr bwMode="auto">
          <a:xfrm>
            <a:off x="793750" y="1382713"/>
            <a:ext cx="2287588"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chemeClr val="accent2"/>
                </a:solidFill>
                <a:latin typeface="宋体" panose="02010600030101010101" pitchFamily="2" charset="-122"/>
                <a:sym typeface="Monotype Sorts" panose="05000000000000000000" pitchFamily="2" charset="2"/>
              </a:rPr>
              <a:t>⑴ </a:t>
            </a:r>
            <a:r>
              <a:rPr lang="zh-CN" altLang="en-US" sz="2800" b="1">
                <a:solidFill>
                  <a:schemeClr val="accent2"/>
                </a:solidFill>
                <a:latin typeface="宋体" panose="02010600030101010101" pitchFamily="2" charset="-122"/>
                <a:sym typeface="Monotype Sorts" panose="05000000000000000000" pitchFamily="2" charset="2"/>
              </a:rPr>
              <a:t>分析零件</a:t>
            </a:r>
            <a:endParaRPr lang="zh-CN" altLang="en-US" sz="2800" b="1">
              <a:solidFill>
                <a:schemeClr val="accent2"/>
              </a:solidFill>
              <a:latin typeface="宋体" panose="02010600030101010101" pitchFamily="2" charset="-122"/>
              <a:sym typeface="Monotype Sorts" panose="05000000000000000000" pitchFamily="2" charset="2"/>
            </a:endParaRPr>
          </a:p>
        </p:txBody>
      </p:sp>
      <p:sp>
        <p:nvSpPr>
          <p:cNvPr id="12292" name="Text Box 4"/>
          <p:cNvSpPr txBox="1">
            <a:spLocks noChangeArrowheads="1"/>
          </p:cNvSpPr>
          <p:nvPr/>
        </p:nvSpPr>
        <p:spPr bwMode="auto">
          <a:xfrm>
            <a:off x="460375" y="1890713"/>
            <a:ext cx="4519613"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rgbClr val="FF3300"/>
                </a:solidFill>
                <a:latin typeface="宋体" panose="02010600030101010101" pitchFamily="2" charset="-122"/>
              </a:rPr>
              <a:t>功用</a:t>
            </a:r>
            <a:r>
              <a:rPr lang="zh-CN" altLang="en-US" sz="2800" b="1">
                <a:latin typeface="宋体" panose="02010600030101010101" pitchFamily="2" charset="-122"/>
              </a:rPr>
              <a:t>：支撑轴及轴上零件。</a:t>
            </a:r>
            <a:endParaRPr lang="zh-CN" altLang="en-US" sz="2800" b="1">
              <a:latin typeface="宋体" panose="02010600030101010101" pitchFamily="2" charset="-122"/>
            </a:endParaRPr>
          </a:p>
        </p:txBody>
      </p:sp>
      <p:sp>
        <p:nvSpPr>
          <p:cNvPr id="12293" name="Text Box 5"/>
          <p:cNvSpPr txBox="1">
            <a:spLocks noChangeArrowheads="1"/>
          </p:cNvSpPr>
          <p:nvPr/>
        </p:nvSpPr>
        <p:spPr bwMode="auto">
          <a:xfrm>
            <a:off x="449263" y="3435350"/>
            <a:ext cx="4368800" cy="150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110000"/>
              </a:lnSpc>
            </a:pPr>
            <a:r>
              <a:rPr lang="zh-CN" altLang="en-US" sz="2800" b="1">
                <a:solidFill>
                  <a:srgbClr val="FF3300"/>
                </a:solidFill>
                <a:latin typeface="宋体" panose="02010600030101010101" pitchFamily="2" charset="-122"/>
              </a:rPr>
              <a:t>结构</a:t>
            </a:r>
            <a:r>
              <a:rPr lang="zh-CN" altLang="en-US" sz="2800" b="1">
                <a:latin typeface="宋体" panose="02010600030101010101" pitchFamily="2" charset="-122"/>
              </a:rPr>
              <a:t>：分析三部分主要形 </a:t>
            </a:r>
            <a:endParaRPr lang="zh-CN" altLang="en-US" sz="2800" b="1">
              <a:latin typeface="宋体" panose="02010600030101010101" pitchFamily="2" charset="-122"/>
            </a:endParaRPr>
          </a:p>
          <a:p>
            <a:pPr eaLnBrk="0" hangingPunct="0">
              <a:lnSpc>
                <a:spcPct val="110000"/>
              </a:lnSpc>
            </a:pPr>
            <a:r>
              <a:rPr lang="zh-CN" altLang="en-US" sz="2800" b="1">
                <a:latin typeface="宋体" panose="02010600030101010101" pitchFamily="2" charset="-122"/>
              </a:rPr>
              <a:t>      体的相对位置及表</a:t>
            </a:r>
            <a:endParaRPr lang="zh-CN" altLang="en-US" sz="2800" b="1">
              <a:latin typeface="宋体" panose="02010600030101010101" pitchFamily="2" charset="-122"/>
            </a:endParaRPr>
          </a:p>
          <a:p>
            <a:pPr eaLnBrk="0" hangingPunct="0">
              <a:lnSpc>
                <a:spcPct val="110000"/>
              </a:lnSpc>
            </a:pPr>
            <a:r>
              <a:rPr lang="zh-CN" altLang="en-US" sz="2800" b="1">
                <a:latin typeface="宋体" panose="02010600030101010101" pitchFamily="2" charset="-122"/>
              </a:rPr>
              <a:t>      面连接关系。</a:t>
            </a:r>
            <a:endParaRPr lang="zh-CN" altLang="en-US" sz="2800" b="1">
              <a:latin typeface="宋体" panose="02010600030101010101" pitchFamily="2" charset="-122"/>
            </a:endParaRPr>
          </a:p>
        </p:txBody>
      </p:sp>
      <p:sp>
        <p:nvSpPr>
          <p:cNvPr id="12294" name="Text Box 6"/>
          <p:cNvSpPr txBox="1">
            <a:spLocks noChangeArrowheads="1"/>
          </p:cNvSpPr>
          <p:nvPr/>
        </p:nvSpPr>
        <p:spPr bwMode="auto">
          <a:xfrm>
            <a:off x="460375" y="2405063"/>
            <a:ext cx="4332288"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lnSpc>
                <a:spcPct val="110000"/>
              </a:lnSpc>
            </a:pPr>
            <a:r>
              <a:rPr lang="zh-CN" altLang="en-US" sz="2800" b="1">
                <a:solidFill>
                  <a:srgbClr val="FF3300"/>
                </a:solidFill>
                <a:latin typeface="宋体" panose="02010600030101010101" pitchFamily="2" charset="-122"/>
              </a:rPr>
              <a:t>形体</a:t>
            </a:r>
            <a:r>
              <a:rPr lang="zh-CN" altLang="en-US" sz="2800" b="1">
                <a:latin typeface="宋体" panose="02010600030101010101" pitchFamily="2" charset="-122"/>
              </a:rPr>
              <a:t>：由圆筒、底板、</a:t>
            </a:r>
            <a:endParaRPr lang="zh-CN" altLang="en-US" sz="2800" b="1">
              <a:latin typeface="宋体" panose="02010600030101010101" pitchFamily="2" charset="-122"/>
            </a:endParaRPr>
          </a:p>
          <a:p>
            <a:pPr eaLnBrk="0" hangingPunct="0">
              <a:lnSpc>
                <a:spcPct val="110000"/>
              </a:lnSpc>
            </a:pPr>
            <a:r>
              <a:rPr lang="zh-CN" altLang="en-US" sz="2800" b="1">
                <a:latin typeface="宋体" panose="02010600030101010101" pitchFamily="2" charset="-122"/>
              </a:rPr>
              <a:t>      支撑板等组成。</a:t>
            </a:r>
            <a:endParaRPr lang="zh-CN" altLang="en-US" sz="2800" b="1">
              <a:latin typeface="宋体" panose="02010600030101010101" pitchFamily="2" charset="-122"/>
            </a:endParaRPr>
          </a:p>
        </p:txBody>
      </p:sp>
      <p:sp>
        <p:nvSpPr>
          <p:cNvPr id="12295" name="Text Box 7"/>
          <p:cNvSpPr txBox="1">
            <a:spLocks noChangeArrowheads="1"/>
          </p:cNvSpPr>
          <p:nvPr/>
        </p:nvSpPr>
        <p:spPr bwMode="auto">
          <a:xfrm>
            <a:off x="1519238" y="4946650"/>
            <a:ext cx="6653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latin typeface="宋体" panose="02010600030101010101" pitchFamily="2" charset="-122"/>
              </a:rPr>
              <a:t>支撑板两侧面与圆筒外表面相交等。</a:t>
            </a:r>
            <a:endParaRPr lang="zh-CN" altLang="en-US" sz="2800" b="1">
              <a:latin typeface="宋体" panose="02010600030101010101" pitchFamily="2" charset="-122"/>
            </a:endParaRPr>
          </a:p>
        </p:txBody>
      </p:sp>
      <p:sp>
        <p:nvSpPr>
          <p:cNvPr id="12296" name="Text Box 8"/>
          <p:cNvSpPr txBox="1">
            <a:spLocks noChangeArrowheads="1"/>
          </p:cNvSpPr>
          <p:nvPr/>
        </p:nvSpPr>
        <p:spPr bwMode="auto">
          <a:xfrm>
            <a:off x="425450" y="873125"/>
            <a:ext cx="4678363"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latin typeface="宋体" panose="02010600030101010101" pitchFamily="2" charset="-122"/>
                <a:sym typeface="Monotype Sorts" panose="05000000000000000000" pitchFamily="2" charset="2"/>
              </a:rPr>
              <a:t> </a:t>
            </a:r>
            <a:r>
              <a:rPr lang="en-US" altLang="zh-CN" sz="2800" b="1">
                <a:solidFill>
                  <a:srgbClr val="FF3300"/>
                </a:solidFill>
                <a:latin typeface="宋体" panose="02010600030101010101" pitchFamily="2" charset="-122"/>
                <a:sym typeface="Monotype Sorts" panose="05000000000000000000" pitchFamily="2" charset="2"/>
              </a:rPr>
              <a:t>1)</a:t>
            </a:r>
            <a:r>
              <a:rPr lang="zh-CN" altLang="en-US" sz="3200" b="1">
                <a:solidFill>
                  <a:srgbClr val="FF3300"/>
                </a:solidFill>
                <a:latin typeface="宋体" panose="02010600030101010101" pitchFamily="2" charset="-122"/>
                <a:sym typeface="Monotype Sorts" panose="05000000000000000000" pitchFamily="2" charset="2"/>
              </a:rPr>
              <a:t>支架类零件</a:t>
            </a:r>
            <a:r>
              <a:rPr lang="en-US" altLang="zh-CN" sz="3200" b="1">
                <a:solidFill>
                  <a:srgbClr val="FF3300"/>
                </a:solidFill>
                <a:sym typeface="Monotype Sorts" panose="05000000000000000000" pitchFamily="2" charset="2"/>
              </a:rPr>
              <a:t>——</a:t>
            </a:r>
            <a:r>
              <a:rPr lang="zh-CN" altLang="en-US" sz="3200" b="1">
                <a:solidFill>
                  <a:srgbClr val="FF3300"/>
                </a:solidFill>
                <a:latin typeface="宋体" panose="02010600030101010101" pitchFamily="2" charset="-122"/>
                <a:sym typeface="Monotype Sorts" panose="05000000000000000000" pitchFamily="2" charset="2"/>
              </a:rPr>
              <a:t>支架</a:t>
            </a:r>
            <a:endParaRPr lang="zh-CN" altLang="en-US" sz="2800" b="1">
              <a:latin typeface="宋体" panose="02010600030101010101" pitchFamily="2" charset="-122"/>
              <a:sym typeface="Monotype Sorts" panose="05000000000000000000" pitchFamily="2" charset="2"/>
            </a:endParaRPr>
          </a:p>
        </p:txBody>
      </p:sp>
      <p:grpSp>
        <p:nvGrpSpPr>
          <p:cNvPr id="12330" name="Group 42"/>
          <p:cNvGrpSpPr/>
          <p:nvPr/>
        </p:nvGrpSpPr>
        <p:grpSpPr bwMode="auto">
          <a:xfrm>
            <a:off x="6716713" y="1881188"/>
            <a:ext cx="1593850" cy="1247775"/>
            <a:chOff x="4231" y="1185"/>
            <a:chExt cx="1004" cy="786"/>
          </a:xfrm>
        </p:grpSpPr>
        <p:sp>
          <p:nvSpPr>
            <p:cNvPr id="12309" name="Text Box 21"/>
            <p:cNvSpPr txBox="1">
              <a:spLocks noChangeArrowheads="1"/>
            </p:cNvSpPr>
            <p:nvPr/>
          </p:nvSpPr>
          <p:spPr bwMode="auto">
            <a:xfrm>
              <a:off x="4543" y="1185"/>
              <a:ext cx="6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支撑板</a:t>
              </a:r>
              <a:endParaRPr lang="zh-CN" altLang="en-US" b="1">
                <a:solidFill>
                  <a:srgbClr val="FF3300"/>
                </a:solidFill>
              </a:endParaRPr>
            </a:p>
          </p:txBody>
        </p:sp>
        <p:sp>
          <p:nvSpPr>
            <p:cNvPr id="12310" name="Line 22"/>
            <p:cNvSpPr>
              <a:spLocks noChangeShapeType="1"/>
            </p:cNvSpPr>
            <p:nvPr/>
          </p:nvSpPr>
          <p:spPr bwMode="auto">
            <a:xfrm flipV="1">
              <a:off x="4231" y="1458"/>
              <a:ext cx="418" cy="513"/>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1" name="Line 23"/>
            <p:cNvSpPr>
              <a:spLocks noChangeShapeType="1"/>
            </p:cNvSpPr>
            <p:nvPr/>
          </p:nvSpPr>
          <p:spPr bwMode="auto">
            <a:xfrm>
              <a:off x="4643" y="1458"/>
              <a:ext cx="51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329" name="Group 41"/>
          <p:cNvGrpSpPr/>
          <p:nvPr/>
        </p:nvGrpSpPr>
        <p:grpSpPr bwMode="auto">
          <a:xfrm>
            <a:off x="7115175" y="2566988"/>
            <a:ext cx="1214438" cy="746125"/>
            <a:chOff x="4482" y="1617"/>
            <a:chExt cx="765" cy="470"/>
          </a:xfrm>
        </p:grpSpPr>
        <p:sp>
          <p:nvSpPr>
            <p:cNvPr id="12313" name="Text Box 25"/>
            <p:cNvSpPr txBox="1">
              <a:spLocks noChangeArrowheads="1"/>
            </p:cNvSpPr>
            <p:nvPr/>
          </p:nvSpPr>
          <p:spPr bwMode="auto">
            <a:xfrm>
              <a:off x="4651" y="1617"/>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底  板</a:t>
              </a:r>
              <a:endParaRPr lang="zh-CN" altLang="en-US" b="1">
                <a:solidFill>
                  <a:srgbClr val="FF3300"/>
                </a:solidFill>
              </a:endParaRPr>
            </a:p>
          </p:txBody>
        </p:sp>
        <p:sp>
          <p:nvSpPr>
            <p:cNvPr id="12314" name="Line 26"/>
            <p:cNvSpPr>
              <a:spLocks noChangeShapeType="1"/>
            </p:cNvSpPr>
            <p:nvPr/>
          </p:nvSpPr>
          <p:spPr bwMode="auto">
            <a:xfrm>
              <a:off x="4715" y="1884"/>
              <a:ext cx="45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5" name="Line 27"/>
            <p:cNvSpPr>
              <a:spLocks noChangeShapeType="1"/>
            </p:cNvSpPr>
            <p:nvPr/>
          </p:nvSpPr>
          <p:spPr bwMode="auto">
            <a:xfrm flipV="1">
              <a:off x="4482" y="1884"/>
              <a:ext cx="239" cy="203"/>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328" name="Group 40"/>
          <p:cNvGrpSpPr/>
          <p:nvPr/>
        </p:nvGrpSpPr>
        <p:grpSpPr bwMode="auto">
          <a:xfrm>
            <a:off x="6740525" y="1252538"/>
            <a:ext cx="1516063" cy="815975"/>
            <a:chOff x="4246" y="789"/>
            <a:chExt cx="955" cy="514"/>
          </a:xfrm>
        </p:grpSpPr>
        <p:sp>
          <p:nvSpPr>
            <p:cNvPr id="12317" name="Text Box 29"/>
            <p:cNvSpPr txBox="1">
              <a:spLocks noChangeArrowheads="1"/>
            </p:cNvSpPr>
            <p:nvPr/>
          </p:nvSpPr>
          <p:spPr bwMode="auto">
            <a:xfrm>
              <a:off x="4605" y="789"/>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圆  筒</a:t>
              </a:r>
              <a:endParaRPr lang="zh-CN" altLang="en-US" b="1">
                <a:solidFill>
                  <a:srgbClr val="FF3300"/>
                </a:solidFill>
              </a:endParaRPr>
            </a:p>
          </p:txBody>
        </p:sp>
        <p:sp>
          <p:nvSpPr>
            <p:cNvPr id="12318" name="Line 30"/>
            <p:cNvSpPr>
              <a:spLocks noChangeShapeType="1"/>
            </p:cNvSpPr>
            <p:nvPr/>
          </p:nvSpPr>
          <p:spPr bwMode="auto">
            <a:xfrm flipV="1">
              <a:off x="4246" y="1062"/>
              <a:ext cx="387" cy="241"/>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9" name="Line 31"/>
            <p:cNvSpPr>
              <a:spLocks noChangeShapeType="1"/>
            </p:cNvSpPr>
            <p:nvPr/>
          </p:nvSpPr>
          <p:spPr bwMode="auto">
            <a:xfrm>
              <a:off x="4627" y="1062"/>
              <a:ext cx="55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296"/>
                                        </p:tgtEl>
                                        <p:attrNameLst>
                                          <p:attrName>style.visibility</p:attrName>
                                        </p:attrNameLst>
                                      </p:cBhvr>
                                      <p:to>
                                        <p:strVal val="visible"/>
                                      </p:to>
                                    </p:set>
                                    <p:animEffect transition="in" filter="barn(inVertical)">
                                      <p:cBhvr>
                                        <p:cTn id="7" dur="500"/>
                                        <p:tgtEl>
                                          <p:spTgt spid="122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1"/>
                                        </p:tgtEl>
                                        <p:attrNameLst>
                                          <p:attrName>style.visibility</p:attrName>
                                        </p:attrNameLst>
                                      </p:cBhvr>
                                      <p:to>
                                        <p:strVal val="visible"/>
                                      </p:to>
                                    </p:set>
                                    <p:animEffect transition="in" filter="blinds(horizontal)">
                                      <p:cBhvr>
                                        <p:cTn id="12" dur="500"/>
                                        <p:tgtEl>
                                          <p:spTgt spid="1229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2292"/>
                                        </p:tgtEl>
                                        <p:attrNameLst>
                                          <p:attrName>style.visibility</p:attrName>
                                        </p:attrNameLst>
                                      </p:cBhvr>
                                      <p:to>
                                        <p:strVal val="visible"/>
                                      </p:to>
                                    </p:set>
                                    <p:animEffect transition="in" filter="barn(inHorizontal)">
                                      <p:cBhvr>
                                        <p:cTn id="17" dur="500"/>
                                        <p:tgtEl>
                                          <p:spTgt spid="1229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12294"/>
                                        </p:tgtEl>
                                        <p:attrNameLst>
                                          <p:attrName>style.visibility</p:attrName>
                                        </p:attrNameLst>
                                      </p:cBhvr>
                                      <p:to>
                                        <p:strVal val="visible"/>
                                      </p:to>
                                    </p:set>
                                    <p:animEffect transition="in" filter="barn(outVertical)">
                                      <p:cBhvr>
                                        <p:cTn id="22" dur="500"/>
                                        <p:tgtEl>
                                          <p:spTgt spid="122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328"/>
                                        </p:tgtEl>
                                        <p:attrNameLst>
                                          <p:attrName>style.visibility</p:attrName>
                                        </p:attrNameLst>
                                      </p:cBhvr>
                                      <p:to>
                                        <p:strVal val="visible"/>
                                      </p:to>
                                    </p:set>
                                    <p:animEffect transition="in" filter="wipe(left)">
                                      <p:cBhvr>
                                        <p:cTn id="27" dur="500"/>
                                        <p:tgtEl>
                                          <p:spTgt spid="123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329"/>
                                        </p:tgtEl>
                                        <p:attrNameLst>
                                          <p:attrName>style.visibility</p:attrName>
                                        </p:attrNameLst>
                                      </p:cBhvr>
                                      <p:to>
                                        <p:strVal val="visible"/>
                                      </p:to>
                                    </p:set>
                                    <p:animEffect transition="in" filter="wipe(left)">
                                      <p:cBhvr>
                                        <p:cTn id="32" dur="500"/>
                                        <p:tgtEl>
                                          <p:spTgt spid="123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330"/>
                                        </p:tgtEl>
                                        <p:attrNameLst>
                                          <p:attrName>style.visibility</p:attrName>
                                        </p:attrNameLst>
                                      </p:cBhvr>
                                      <p:to>
                                        <p:strVal val="visible"/>
                                      </p:to>
                                    </p:set>
                                    <p:animEffect transition="in" filter="wipe(left)">
                                      <p:cBhvr>
                                        <p:cTn id="37" dur="500"/>
                                        <p:tgtEl>
                                          <p:spTgt spid="1233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12293"/>
                                        </p:tgtEl>
                                        <p:attrNameLst>
                                          <p:attrName>style.visibility</p:attrName>
                                        </p:attrNameLst>
                                      </p:cBhvr>
                                      <p:to>
                                        <p:strVal val="visible"/>
                                      </p:to>
                                    </p:set>
                                    <p:animEffect transition="in" filter="barn(inHorizontal)">
                                      <p:cBhvr>
                                        <p:cTn id="42" dur="500"/>
                                        <p:tgtEl>
                                          <p:spTgt spid="12293"/>
                                        </p:tgtEl>
                                      </p:cBhvr>
                                    </p:animEffect>
                                  </p:childTnLst>
                                </p:cTn>
                              </p:par>
                            </p:childTnLst>
                          </p:cTn>
                        </p:par>
                        <p:par>
                          <p:cTn id="43" fill="hold">
                            <p:stCondLst>
                              <p:cond delay="500"/>
                            </p:stCondLst>
                            <p:childTnLst>
                              <p:par>
                                <p:cTn id="44" presetID="16" presetClass="entr" presetSubtype="42" fill="hold" grpId="0" nodeType="afterEffect">
                                  <p:stCondLst>
                                    <p:cond delay="0"/>
                                  </p:stCondLst>
                                  <p:childTnLst>
                                    <p:set>
                                      <p:cBhvr>
                                        <p:cTn id="45" dur="1" fill="hold">
                                          <p:stCondLst>
                                            <p:cond delay="0"/>
                                          </p:stCondLst>
                                        </p:cTn>
                                        <p:tgtEl>
                                          <p:spTgt spid="12295"/>
                                        </p:tgtEl>
                                        <p:attrNameLst>
                                          <p:attrName>style.visibility</p:attrName>
                                        </p:attrNameLst>
                                      </p:cBhvr>
                                      <p:to>
                                        <p:strVal val="visible"/>
                                      </p:to>
                                    </p:set>
                                    <p:animEffect transition="in" filter="barn(outHorizontal)">
                                      <p:cBhvr>
                                        <p:cTn id="46"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p:bldP spid="12292" grpId="0" autoUpdateAnimBg="0"/>
      <p:bldP spid="12293" grpId="0" autoUpdateAnimBg="0"/>
      <p:bldP spid="12294" grpId="0" autoUpdateAnimBg="0"/>
      <p:bldP spid="12295" grpId="0" autoUpdateAnimBg="0"/>
      <p:bldP spid="1229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327025" y="177800"/>
            <a:ext cx="357505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latin typeface="宋体" panose="02010600030101010101" pitchFamily="2" charset="-122"/>
                <a:sym typeface="Monotype Sorts" panose="05000000000000000000" pitchFamily="2" charset="2"/>
              </a:rPr>
              <a:t>⑵ </a:t>
            </a:r>
            <a:r>
              <a:rPr lang="zh-CN" altLang="en-US" sz="3200" b="1">
                <a:solidFill>
                  <a:schemeClr val="accent2"/>
                </a:solidFill>
                <a:latin typeface="宋体" panose="02010600030101010101" pitchFamily="2" charset="-122"/>
                <a:sym typeface="Monotype Sorts" panose="05000000000000000000" pitchFamily="2" charset="2"/>
              </a:rPr>
              <a:t>选择主视图</a:t>
            </a:r>
            <a:endParaRPr lang="zh-CN" altLang="en-US" sz="3200" b="1">
              <a:solidFill>
                <a:schemeClr val="accent2"/>
              </a:solidFill>
              <a:latin typeface="宋体" panose="02010600030101010101" pitchFamily="2" charset="-122"/>
              <a:sym typeface="Monotype Sorts" panose="05000000000000000000" pitchFamily="2" charset="2"/>
            </a:endParaRPr>
          </a:p>
        </p:txBody>
      </p:sp>
      <p:sp>
        <p:nvSpPr>
          <p:cNvPr id="59395" name="Text Box 3"/>
          <p:cNvSpPr txBox="1">
            <a:spLocks noChangeArrowheads="1"/>
          </p:cNvSpPr>
          <p:nvPr/>
        </p:nvSpPr>
        <p:spPr bwMode="auto">
          <a:xfrm>
            <a:off x="784225" y="725488"/>
            <a:ext cx="32480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rPr>
              <a:t>● </a:t>
            </a:r>
            <a:r>
              <a:rPr lang="zh-CN" altLang="en-US" sz="2800" b="1">
                <a:solidFill>
                  <a:srgbClr val="FF3300"/>
                </a:solidFill>
                <a:latin typeface="宋体" panose="02010600030101010101" pitchFamily="2" charset="-122"/>
              </a:rPr>
              <a:t>零件的安放状态</a:t>
            </a:r>
            <a:endParaRPr lang="zh-CN" altLang="en-US" sz="2800" b="1">
              <a:solidFill>
                <a:srgbClr val="FF3300"/>
              </a:solidFill>
              <a:latin typeface="宋体" panose="02010600030101010101" pitchFamily="2" charset="-122"/>
            </a:endParaRPr>
          </a:p>
        </p:txBody>
      </p:sp>
      <p:sp>
        <p:nvSpPr>
          <p:cNvPr id="59396" name="Text Box 4"/>
          <p:cNvSpPr txBox="1">
            <a:spLocks noChangeArrowheads="1"/>
          </p:cNvSpPr>
          <p:nvPr/>
        </p:nvSpPr>
        <p:spPr bwMode="auto">
          <a:xfrm>
            <a:off x="4475163" y="725488"/>
            <a:ext cx="304165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2800" b="1">
                <a:latin typeface="宋体" panose="02010600030101010101" pitchFamily="2" charset="-122"/>
              </a:rPr>
              <a:t>支架的</a:t>
            </a:r>
            <a:r>
              <a:rPr lang="zh-CN" altLang="en-US" sz="2800" b="1">
                <a:solidFill>
                  <a:schemeClr val="accent2"/>
                </a:solidFill>
                <a:latin typeface="宋体" panose="02010600030101010101" pitchFamily="2" charset="-122"/>
              </a:rPr>
              <a:t>工作状态</a:t>
            </a:r>
            <a:r>
              <a:rPr lang="zh-CN" altLang="en-US" sz="2800" b="1">
                <a:latin typeface="宋体" panose="02010600030101010101" pitchFamily="2" charset="-122"/>
              </a:rPr>
              <a:t>。</a:t>
            </a:r>
            <a:endParaRPr lang="zh-CN" altLang="en-US" sz="2800" b="1">
              <a:latin typeface="宋体" panose="02010600030101010101" pitchFamily="2" charset="-122"/>
            </a:endParaRPr>
          </a:p>
        </p:txBody>
      </p:sp>
      <p:sp>
        <p:nvSpPr>
          <p:cNvPr id="59397" name="Text Box 5"/>
          <p:cNvSpPr txBox="1">
            <a:spLocks noChangeArrowheads="1"/>
          </p:cNvSpPr>
          <p:nvPr/>
        </p:nvSpPr>
        <p:spPr bwMode="auto">
          <a:xfrm>
            <a:off x="784225" y="1208088"/>
            <a:ext cx="2481263"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rgbClr val="FF3300"/>
                </a:solidFill>
                <a:latin typeface="宋体" panose="02010600030101010101" pitchFamily="2" charset="-122"/>
              </a:rPr>
              <a:t>● </a:t>
            </a:r>
            <a:r>
              <a:rPr lang="zh-CN" altLang="en-US" sz="2800" b="1">
                <a:solidFill>
                  <a:srgbClr val="FF3300"/>
                </a:solidFill>
                <a:latin typeface="宋体" panose="02010600030101010101" pitchFamily="2" charset="-122"/>
              </a:rPr>
              <a:t>投射方向</a:t>
            </a:r>
            <a:endParaRPr lang="zh-CN" altLang="en-US" sz="2800" b="1">
              <a:solidFill>
                <a:srgbClr val="FF3300"/>
              </a:solidFill>
              <a:latin typeface="宋体" panose="02010600030101010101" pitchFamily="2" charset="-122"/>
            </a:endParaRPr>
          </a:p>
        </p:txBody>
      </p:sp>
      <p:sp>
        <p:nvSpPr>
          <p:cNvPr id="59400" name="Text Box 8"/>
          <p:cNvSpPr txBox="1">
            <a:spLocks noChangeArrowheads="1"/>
          </p:cNvSpPr>
          <p:nvPr/>
        </p:nvSpPr>
        <p:spPr bwMode="auto">
          <a:xfrm>
            <a:off x="3632200" y="1208088"/>
            <a:ext cx="3559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latin typeface="宋体" panose="02010600030101010101" pitchFamily="2" charset="-122"/>
              </a:rPr>
              <a:t>比较</a:t>
            </a:r>
            <a:r>
              <a:rPr lang="en-US" altLang="zh-CN" sz="2800" b="1" i="1">
                <a:solidFill>
                  <a:srgbClr val="FF3300"/>
                </a:solidFill>
                <a:latin typeface="宋体" panose="02010600030101010101" pitchFamily="2" charset="-122"/>
              </a:rPr>
              <a:t>A</a:t>
            </a:r>
            <a:r>
              <a:rPr lang="zh-CN" altLang="en-US" sz="2800" b="1">
                <a:solidFill>
                  <a:srgbClr val="FF3300"/>
                </a:solidFill>
                <a:latin typeface="宋体" panose="02010600030101010101" pitchFamily="2" charset="-122"/>
              </a:rPr>
              <a:t>、</a:t>
            </a:r>
            <a:r>
              <a:rPr lang="en-US" altLang="zh-CN" sz="2800" b="1" i="1">
                <a:solidFill>
                  <a:srgbClr val="FF3300"/>
                </a:solidFill>
                <a:latin typeface="宋体" panose="02010600030101010101" pitchFamily="2" charset="-122"/>
              </a:rPr>
              <a:t>B </a:t>
            </a:r>
            <a:r>
              <a:rPr lang="zh-CN" altLang="en-US" sz="2800" b="1">
                <a:latin typeface="宋体" panose="02010600030101010101" pitchFamily="2" charset="-122"/>
              </a:rPr>
              <a:t>两方向。</a:t>
            </a:r>
            <a:endParaRPr lang="zh-CN" altLang="en-US" sz="2800">
              <a:latin typeface="宋体" panose="02010600030101010101" pitchFamily="2" charset="-122"/>
            </a:endParaRPr>
          </a:p>
        </p:txBody>
      </p:sp>
      <p:sp>
        <p:nvSpPr>
          <p:cNvPr id="59492" name="Text Box 100">
            <a:hlinkClick r:id="rId1" action="ppaction://hlinksldjump"/>
          </p:cNvPr>
          <p:cNvSpPr txBox="1">
            <a:spLocks noChangeArrowheads="1"/>
          </p:cNvSpPr>
          <p:nvPr/>
        </p:nvSpPr>
        <p:spPr bwMode="auto">
          <a:xfrm>
            <a:off x="7997825" y="614362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u="sng">
                <a:solidFill>
                  <a:srgbClr val="0000FF"/>
                </a:solidFill>
              </a:rPr>
              <a:t>支架</a:t>
            </a:r>
            <a:endParaRPr lang="zh-CN" altLang="en-US" u="sng">
              <a:solidFill>
                <a:srgbClr val="0000FF"/>
              </a:solidFill>
            </a:endParaRPr>
          </a:p>
        </p:txBody>
      </p:sp>
      <p:sp>
        <p:nvSpPr>
          <p:cNvPr id="59497" name="Text Box 105"/>
          <p:cNvSpPr txBox="1">
            <a:spLocks noChangeArrowheads="1"/>
          </p:cNvSpPr>
          <p:nvPr/>
        </p:nvSpPr>
        <p:spPr bwMode="auto">
          <a:xfrm>
            <a:off x="2022475" y="547528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(1)</a:t>
            </a:r>
            <a:endParaRPr lang="en-US" altLang="zh-CN" b="1"/>
          </a:p>
        </p:txBody>
      </p:sp>
      <p:sp>
        <p:nvSpPr>
          <p:cNvPr id="59498" name="Text Box 106"/>
          <p:cNvSpPr txBox="1">
            <a:spLocks noChangeArrowheads="1"/>
          </p:cNvSpPr>
          <p:nvPr/>
        </p:nvSpPr>
        <p:spPr bwMode="auto">
          <a:xfrm>
            <a:off x="7227888" y="547528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(3)</a:t>
            </a:r>
            <a:endParaRPr lang="en-US" altLang="zh-CN" b="1"/>
          </a:p>
        </p:txBody>
      </p:sp>
      <p:sp>
        <p:nvSpPr>
          <p:cNvPr id="59499" name="Text Box 107"/>
          <p:cNvSpPr txBox="1">
            <a:spLocks noChangeArrowheads="1"/>
          </p:cNvSpPr>
          <p:nvPr/>
        </p:nvSpPr>
        <p:spPr bwMode="auto">
          <a:xfrm>
            <a:off x="5175250" y="5475288"/>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(2)</a:t>
            </a:r>
            <a:endParaRPr lang="en-US" altLang="zh-CN" b="1"/>
          </a:p>
        </p:txBody>
      </p:sp>
      <p:pic>
        <p:nvPicPr>
          <p:cNvPr id="59515" name="Picture 1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2463" y="2735263"/>
            <a:ext cx="1738312" cy="2757487"/>
          </a:xfrm>
          <a:prstGeom prst="rect">
            <a:avLst/>
          </a:prstGeom>
          <a:noFill/>
          <a:extLst>
            <a:ext uri="{909E8E84-426E-40DD-AFC4-6F175D3DCCD1}">
              <a14:hiddenFill xmlns:a14="http://schemas.microsoft.com/office/drawing/2010/main">
                <a:solidFill>
                  <a:srgbClr val="FFFFFF"/>
                </a:solidFill>
              </a14:hiddenFill>
            </a:ext>
          </a:extLst>
        </p:spPr>
      </p:pic>
      <p:pic>
        <p:nvPicPr>
          <p:cNvPr id="59516" name="Picture 1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3513" y="2736850"/>
            <a:ext cx="1797050" cy="2759075"/>
          </a:xfrm>
          <a:prstGeom prst="rect">
            <a:avLst/>
          </a:prstGeom>
          <a:noFill/>
          <a:extLst>
            <a:ext uri="{909E8E84-426E-40DD-AFC4-6F175D3DCCD1}">
              <a14:hiddenFill xmlns:a14="http://schemas.microsoft.com/office/drawing/2010/main">
                <a:solidFill>
                  <a:srgbClr val="FFFFFF"/>
                </a:solidFill>
              </a14:hiddenFill>
            </a:ext>
          </a:extLst>
        </p:spPr>
      </p:pic>
      <p:grpSp>
        <p:nvGrpSpPr>
          <p:cNvPr id="59505" name="Group 113"/>
          <p:cNvGrpSpPr/>
          <p:nvPr/>
        </p:nvGrpSpPr>
        <p:grpSpPr bwMode="auto">
          <a:xfrm>
            <a:off x="4999038" y="1743075"/>
            <a:ext cx="2049462" cy="1060450"/>
            <a:chOff x="2939" y="1098"/>
            <a:chExt cx="1291" cy="668"/>
          </a:xfrm>
        </p:grpSpPr>
        <p:sp>
          <p:nvSpPr>
            <p:cNvPr id="59503" name="AutoShape 111"/>
            <p:cNvSpPr>
              <a:spLocks noChangeArrowheads="1"/>
            </p:cNvSpPr>
            <p:nvPr/>
          </p:nvSpPr>
          <p:spPr bwMode="auto">
            <a:xfrm flipH="1">
              <a:off x="2939" y="1098"/>
              <a:ext cx="1090" cy="668"/>
            </a:xfrm>
            <a:prstGeom prst="leftArrow">
              <a:avLst>
                <a:gd name="adj1" fmla="val 50000"/>
                <a:gd name="adj2" fmla="val 40793"/>
              </a:avLst>
            </a:prstGeom>
            <a:gradFill rotWithShape="0">
              <a:gsLst>
                <a:gs pos="0">
                  <a:srgbClr val="FFFF00"/>
                </a:gs>
                <a:gs pos="50000">
                  <a:srgbClr val="FFFF00">
                    <a:gamma/>
                    <a:tint val="39216"/>
                    <a:invGamma/>
                  </a:srgbClr>
                </a:gs>
                <a:gs pos="100000">
                  <a:srgbClr val="FFFF00"/>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501" name="Text Box 109"/>
            <p:cNvSpPr txBox="1">
              <a:spLocks noChangeArrowheads="1"/>
            </p:cNvSpPr>
            <p:nvPr/>
          </p:nvSpPr>
          <p:spPr bwMode="auto">
            <a:xfrm>
              <a:off x="2939" y="1271"/>
              <a:ext cx="12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t>按</a:t>
              </a:r>
              <a:r>
                <a:rPr lang="en-US" altLang="zh-CN" b="1" i="1">
                  <a:solidFill>
                    <a:srgbClr val="FF3300"/>
                  </a:solidFill>
                </a:rPr>
                <a:t>B</a:t>
              </a:r>
              <a:r>
                <a:rPr lang="zh-CN" altLang="en-US" b="1">
                  <a:solidFill>
                    <a:srgbClr val="FF3300"/>
                  </a:solidFill>
                </a:rPr>
                <a:t>向</a:t>
              </a:r>
              <a:r>
                <a:rPr lang="zh-CN" altLang="en-US" b="1"/>
                <a:t>投射</a:t>
              </a:r>
              <a:endParaRPr lang="zh-CN" altLang="en-US" b="1"/>
            </a:p>
          </p:txBody>
        </p:sp>
      </p:grpSp>
      <p:grpSp>
        <p:nvGrpSpPr>
          <p:cNvPr id="59504" name="Group 112"/>
          <p:cNvGrpSpPr/>
          <p:nvPr/>
        </p:nvGrpSpPr>
        <p:grpSpPr bwMode="auto">
          <a:xfrm>
            <a:off x="1241425" y="1776413"/>
            <a:ext cx="2105025" cy="1060450"/>
            <a:chOff x="782" y="1119"/>
            <a:chExt cx="1326" cy="668"/>
          </a:xfrm>
        </p:grpSpPr>
        <p:sp>
          <p:nvSpPr>
            <p:cNvPr id="59502" name="AutoShape 110"/>
            <p:cNvSpPr>
              <a:spLocks noChangeArrowheads="1"/>
            </p:cNvSpPr>
            <p:nvPr/>
          </p:nvSpPr>
          <p:spPr bwMode="auto">
            <a:xfrm>
              <a:off x="782" y="1119"/>
              <a:ext cx="1090" cy="668"/>
            </a:xfrm>
            <a:prstGeom prst="leftArrow">
              <a:avLst>
                <a:gd name="adj1" fmla="val 50000"/>
                <a:gd name="adj2" fmla="val 40793"/>
              </a:avLst>
            </a:prstGeom>
            <a:gradFill rotWithShape="0">
              <a:gsLst>
                <a:gs pos="0">
                  <a:srgbClr val="FFFF00"/>
                </a:gs>
                <a:gs pos="50000">
                  <a:srgbClr val="FFFF00">
                    <a:gamma/>
                    <a:tint val="33333"/>
                    <a:invGamma/>
                  </a:srgbClr>
                </a:gs>
                <a:gs pos="100000">
                  <a:srgbClr val="FFFF00"/>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500" name="Text Box 108"/>
            <p:cNvSpPr txBox="1">
              <a:spLocks noChangeArrowheads="1"/>
            </p:cNvSpPr>
            <p:nvPr/>
          </p:nvSpPr>
          <p:spPr bwMode="auto">
            <a:xfrm>
              <a:off x="851" y="1298"/>
              <a:ext cx="12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t>按</a:t>
              </a:r>
              <a:r>
                <a:rPr lang="en-US" altLang="zh-CN" b="1" i="1">
                  <a:solidFill>
                    <a:srgbClr val="FF3300"/>
                  </a:solidFill>
                </a:rPr>
                <a:t>A</a:t>
              </a:r>
              <a:r>
                <a:rPr lang="zh-CN" altLang="en-US" b="1">
                  <a:solidFill>
                    <a:srgbClr val="FF3300"/>
                  </a:solidFill>
                </a:rPr>
                <a:t>向</a:t>
              </a:r>
              <a:r>
                <a:rPr lang="zh-CN" altLang="en-US" b="1"/>
                <a:t>投射</a:t>
              </a:r>
              <a:endParaRPr lang="zh-CN" altLang="en-US" b="1"/>
            </a:p>
          </p:txBody>
        </p:sp>
      </p:grpSp>
      <p:grpSp>
        <p:nvGrpSpPr>
          <p:cNvPr id="59523" name="Group 131"/>
          <p:cNvGrpSpPr/>
          <p:nvPr/>
        </p:nvGrpSpPr>
        <p:grpSpPr bwMode="auto">
          <a:xfrm>
            <a:off x="923925" y="2657475"/>
            <a:ext cx="2752725" cy="2828925"/>
            <a:chOff x="582" y="1674"/>
            <a:chExt cx="1734" cy="1782"/>
          </a:xfrm>
        </p:grpSpPr>
        <p:grpSp>
          <p:nvGrpSpPr>
            <p:cNvPr id="59511" name="Group 119"/>
            <p:cNvGrpSpPr/>
            <p:nvPr/>
          </p:nvGrpSpPr>
          <p:grpSpPr bwMode="auto">
            <a:xfrm>
              <a:off x="582" y="1674"/>
              <a:ext cx="1734" cy="1782"/>
              <a:chOff x="2524" y="450"/>
              <a:chExt cx="1734" cy="1782"/>
            </a:xfrm>
          </p:grpSpPr>
          <p:pic>
            <p:nvPicPr>
              <p:cNvPr id="59512" name="Picture 1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 y="450"/>
                <a:ext cx="1734" cy="1782"/>
              </a:xfrm>
              <a:prstGeom prst="rect">
                <a:avLst/>
              </a:prstGeom>
              <a:noFill/>
              <a:extLst>
                <a:ext uri="{909E8E84-426E-40DD-AFC4-6F175D3DCCD1}">
                  <a14:hiddenFill xmlns:a14="http://schemas.microsoft.com/office/drawing/2010/main">
                    <a:solidFill>
                      <a:srgbClr val="FFFFFF"/>
                    </a:solidFill>
                  </a14:hiddenFill>
                </a:ext>
              </a:extLst>
            </p:spPr>
          </p:pic>
          <p:sp>
            <p:nvSpPr>
              <p:cNvPr id="59513" name="Rectangle 121"/>
              <p:cNvSpPr>
                <a:spLocks noChangeArrowheads="1"/>
              </p:cNvSpPr>
              <p:nvPr/>
            </p:nvSpPr>
            <p:spPr bwMode="auto">
              <a:xfrm>
                <a:off x="2719" y="1634"/>
                <a:ext cx="139"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514" name="Rectangle 122"/>
              <p:cNvSpPr>
                <a:spLocks noChangeArrowheads="1"/>
              </p:cNvSpPr>
              <p:nvPr/>
            </p:nvSpPr>
            <p:spPr bwMode="auto">
              <a:xfrm>
                <a:off x="3905" y="1628"/>
                <a:ext cx="166" cy="1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520" name="Rectangle 128"/>
            <p:cNvSpPr>
              <a:spLocks noChangeArrowheads="1"/>
            </p:cNvSpPr>
            <p:nvPr/>
          </p:nvSpPr>
          <p:spPr bwMode="auto">
            <a:xfrm>
              <a:off x="996" y="3180"/>
              <a:ext cx="180" cy="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521" name="Rectangle 129"/>
            <p:cNvSpPr>
              <a:spLocks noChangeArrowheads="1"/>
            </p:cNvSpPr>
            <p:nvPr/>
          </p:nvSpPr>
          <p:spPr bwMode="auto">
            <a:xfrm>
              <a:off x="1708" y="3180"/>
              <a:ext cx="180" cy="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522" name="Line 130"/>
            <p:cNvSpPr>
              <a:spLocks noChangeShapeType="1"/>
            </p:cNvSpPr>
            <p:nvPr/>
          </p:nvSpPr>
          <p:spPr bwMode="auto">
            <a:xfrm>
              <a:off x="980" y="3172"/>
              <a:ext cx="91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0-#ppt_w/2"/>
                                          </p:val>
                                        </p:tav>
                                        <p:tav tm="100000">
                                          <p:val>
                                            <p:strVal val="#ppt_x"/>
                                          </p:val>
                                        </p:tav>
                                      </p:tavLst>
                                    </p:anim>
                                    <p:anim calcmode="lin" valueType="num">
                                      <p:cBhvr additive="base">
                                        <p:cTn id="8"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59396"/>
                                        </p:tgtEl>
                                        <p:attrNameLst>
                                          <p:attrName>style.visibility</p:attrName>
                                        </p:attrNameLst>
                                      </p:cBhvr>
                                      <p:to>
                                        <p:strVal val="visible"/>
                                      </p:to>
                                    </p:set>
                                    <p:animEffect transition="in" filter="slide(fromLeft)">
                                      <p:cBhvr>
                                        <p:cTn id="13" dur="500"/>
                                        <p:tgtEl>
                                          <p:spTgt spid="5939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9397"/>
                                        </p:tgtEl>
                                        <p:attrNameLst>
                                          <p:attrName>style.visibility</p:attrName>
                                        </p:attrNameLst>
                                      </p:cBhvr>
                                      <p:to>
                                        <p:strVal val="visible"/>
                                      </p:to>
                                    </p:set>
                                    <p:anim calcmode="lin" valueType="num">
                                      <p:cBhvr additive="base">
                                        <p:cTn id="18" dur="500" fill="hold"/>
                                        <p:tgtEl>
                                          <p:spTgt spid="59397"/>
                                        </p:tgtEl>
                                        <p:attrNameLst>
                                          <p:attrName>ppt_x</p:attrName>
                                        </p:attrNameLst>
                                      </p:cBhvr>
                                      <p:tavLst>
                                        <p:tav tm="0">
                                          <p:val>
                                            <p:strVal val="0-#ppt_w/2"/>
                                          </p:val>
                                        </p:tav>
                                        <p:tav tm="100000">
                                          <p:val>
                                            <p:strVal val="#ppt_x"/>
                                          </p:val>
                                        </p:tav>
                                      </p:tavLst>
                                    </p:anim>
                                    <p:anim calcmode="lin" valueType="num">
                                      <p:cBhvr additive="base">
                                        <p:cTn id="19" dur="500" fill="hold"/>
                                        <p:tgtEl>
                                          <p:spTgt spid="5939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59400"/>
                                        </p:tgtEl>
                                        <p:attrNameLst>
                                          <p:attrName>style.visibility</p:attrName>
                                        </p:attrNameLst>
                                      </p:cBhvr>
                                      <p:to>
                                        <p:strVal val="visible"/>
                                      </p:to>
                                    </p:set>
                                    <p:animEffect transition="in" filter="box(out)">
                                      <p:cBhvr>
                                        <p:cTn id="24" dur="500"/>
                                        <p:tgtEl>
                                          <p:spTgt spid="5940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nodeType="clickEffect">
                                  <p:stCondLst>
                                    <p:cond delay="0"/>
                                  </p:stCondLst>
                                  <p:childTnLst>
                                    <p:set>
                                      <p:cBhvr>
                                        <p:cTn id="28" dur="1" fill="hold">
                                          <p:stCondLst>
                                            <p:cond delay="0"/>
                                          </p:stCondLst>
                                        </p:cTn>
                                        <p:tgtEl>
                                          <p:spTgt spid="59504"/>
                                        </p:tgtEl>
                                        <p:attrNameLst>
                                          <p:attrName>style.visibility</p:attrName>
                                        </p:attrNameLst>
                                      </p:cBhvr>
                                      <p:to>
                                        <p:strVal val="visible"/>
                                      </p:to>
                                    </p:set>
                                    <p:animEffect transition="in" filter="wipe(right)">
                                      <p:cBhvr>
                                        <p:cTn id="29" dur="500"/>
                                        <p:tgtEl>
                                          <p:spTgt spid="59504"/>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59523"/>
                                        </p:tgtEl>
                                        <p:attrNameLst>
                                          <p:attrName>style.visibility</p:attrName>
                                        </p:attrNameLst>
                                      </p:cBhvr>
                                      <p:to>
                                        <p:strVal val="visible"/>
                                      </p:to>
                                    </p:set>
                                    <p:animEffect transition="in" filter="blinds(horizontal)">
                                      <p:cBhvr>
                                        <p:cTn id="34" dur="500"/>
                                        <p:tgtEl>
                                          <p:spTgt spid="5952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59497"/>
                                        </p:tgtEl>
                                        <p:attrNameLst>
                                          <p:attrName>style.visibility</p:attrName>
                                        </p:attrNameLst>
                                      </p:cBhvr>
                                      <p:to>
                                        <p:strVal val="visible"/>
                                      </p:to>
                                    </p:set>
                                    <p:animEffect transition="in" filter="wipe(down)">
                                      <p:cBhvr>
                                        <p:cTn id="38" dur="500"/>
                                        <p:tgtEl>
                                          <p:spTgt spid="5949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59505"/>
                                        </p:tgtEl>
                                        <p:attrNameLst>
                                          <p:attrName>style.visibility</p:attrName>
                                        </p:attrNameLst>
                                      </p:cBhvr>
                                      <p:to>
                                        <p:strVal val="visible"/>
                                      </p:to>
                                    </p:set>
                                    <p:animEffect transition="in" filter="wipe(left)">
                                      <p:cBhvr>
                                        <p:cTn id="43" dur="500"/>
                                        <p:tgtEl>
                                          <p:spTgt spid="5950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59515"/>
                                        </p:tgtEl>
                                        <p:attrNameLst>
                                          <p:attrName>style.visibility</p:attrName>
                                        </p:attrNameLst>
                                      </p:cBhvr>
                                      <p:to>
                                        <p:strVal val="visible"/>
                                      </p:to>
                                    </p:set>
                                    <p:animEffect transition="in" filter="wipe(up)">
                                      <p:cBhvr>
                                        <p:cTn id="48" dur="500"/>
                                        <p:tgtEl>
                                          <p:spTgt spid="59515"/>
                                        </p:tgtEl>
                                      </p:cBhvr>
                                    </p:animEffect>
                                  </p:childTnLst>
                                </p:cTn>
                              </p:par>
                            </p:childTnLst>
                          </p:cTn>
                        </p:par>
                        <p:par>
                          <p:cTn id="49" fill="hold">
                            <p:stCondLst>
                              <p:cond delay="500"/>
                            </p:stCondLst>
                            <p:childTnLst>
                              <p:par>
                                <p:cTn id="50" presetID="22" presetClass="entr" presetSubtype="4" fill="hold" grpId="0" nodeType="afterEffect">
                                  <p:stCondLst>
                                    <p:cond delay="0"/>
                                  </p:stCondLst>
                                  <p:childTnLst>
                                    <p:set>
                                      <p:cBhvr>
                                        <p:cTn id="51" dur="1" fill="hold">
                                          <p:stCondLst>
                                            <p:cond delay="0"/>
                                          </p:stCondLst>
                                        </p:cTn>
                                        <p:tgtEl>
                                          <p:spTgt spid="59499"/>
                                        </p:tgtEl>
                                        <p:attrNameLst>
                                          <p:attrName>style.visibility</p:attrName>
                                        </p:attrNameLst>
                                      </p:cBhvr>
                                      <p:to>
                                        <p:strVal val="visible"/>
                                      </p:to>
                                    </p:set>
                                    <p:animEffect transition="in" filter="wipe(down)">
                                      <p:cBhvr>
                                        <p:cTn id="52" dur="500"/>
                                        <p:tgtEl>
                                          <p:spTgt spid="5949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59516"/>
                                        </p:tgtEl>
                                        <p:attrNameLst>
                                          <p:attrName>style.visibility</p:attrName>
                                        </p:attrNameLst>
                                      </p:cBhvr>
                                      <p:to>
                                        <p:strVal val="visible"/>
                                      </p:to>
                                    </p:set>
                                    <p:animEffect transition="in" filter="wipe(up)">
                                      <p:cBhvr>
                                        <p:cTn id="57" dur="500"/>
                                        <p:tgtEl>
                                          <p:spTgt spid="59516"/>
                                        </p:tgtEl>
                                      </p:cBhvr>
                                    </p:animEffec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59498"/>
                                        </p:tgtEl>
                                        <p:attrNameLst>
                                          <p:attrName>style.visibility</p:attrName>
                                        </p:attrNameLst>
                                      </p:cBhvr>
                                      <p:to>
                                        <p:strVal val="visible"/>
                                      </p:to>
                                    </p:set>
                                    <p:animEffect transition="in" filter="wipe(down)">
                                      <p:cBhvr>
                                        <p:cTn id="61" dur="500"/>
                                        <p:tgtEl>
                                          <p:spTgt spid="59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utoUpdateAnimBg="0"/>
      <p:bldP spid="59396" grpId="0" autoUpdateAnimBg="0"/>
      <p:bldP spid="59397" grpId="0" autoUpdateAnimBg="0"/>
      <p:bldP spid="59400" grpId="0" autoUpdateAnimBg="0"/>
      <p:bldP spid="59497" grpId="0" autoUpdateAnimBg="0"/>
      <p:bldP spid="59498" grpId="0" autoUpdateAnimBg="0"/>
      <p:bldP spid="5949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327025" y="177800"/>
            <a:ext cx="35750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600" b="1">
                <a:solidFill>
                  <a:schemeClr val="accent2"/>
                </a:solidFill>
                <a:latin typeface="宋体" panose="02010600030101010101" pitchFamily="2" charset="-122"/>
                <a:sym typeface="Monotype Sorts" panose="05000000000000000000" pitchFamily="2" charset="2"/>
              </a:rPr>
              <a:t>⑵ </a:t>
            </a:r>
            <a:r>
              <a:rPr lang="zh-CN" altLang="en-US" sz="3600" b="1">
                <a:solidFill>
                  <a:schemeClr val="accent2"/>
                </a:solidFill>
                <a:latin typeface="宋体" panose="02010600030101010101" pitchFamily="2" charset="-122"/>
                <a:sym typeface="Monotype Sorts" panose="05000000000000000000" pitchFamily="2" charset="2"/>
              </a:rPr>
              <a:t>选择主视图</a:t>
            </a:r>
            <a:endParaRPr lang="zh-CN" altLang="en-US" sz="3600" b="1">
              <a:solidFill>
                <a:schemeClr val="accent2"/>
              </a:solidFill>
              <a:latin typeface="宋体" panose="02010600030101010101" pitchFamily="2" charset="-122"/>
              <a:sym typeface="Monotype Sorts" panose="05000000000000000000" pitchFamily="2" charset="2"/>
            </a:endParaRPr>
          </a:p>
        </p:txBody>
      </p:sp>
      <p:sp>
        <p:nvSpPr>
          <p:cNvPr id="13315" name="Text Box 3"/>
          <p:cNvSpPr txBox="1">
            <a:spLocks noChangeArrowheads="1"/>
          </p:cNvSpPr>
          <p:nvPr/>
        </p:nvSpPr>
        <p:spPr bwMode="auto">
          <a:xfrm>
            <a:off x="784225" y="701675"/>
            <a:ext cx="3659188"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000" b="1">
                <a:solidFill>
                  <a:srgbClr val="FF3300"/>
                </a:solidFill>
                <a:latin typeface="宋体" panose="02010600030101010101" pitchFamily="2" charset="-122"/>
              </a:rPr>
              <a:t>●</a:t>
            </a:r>
            <a:r>
              <a:rPr lang="en-US" altLang="zh-CN" sz="3200" b="1">
                <a:solidFill>
                  <a:srgbClr val="FF3300"/>
                </a:solidFill>
                <a:latin typeface="宋体" panose="02010600030101010101" pitchFamily="2" charset="-122"/>
              </a:rPr>
              <a:t> </a:t>
            </a:r>
            <a:r>
              <a:rPr lang="zh-CN" altLang="en-US" sz="3200" b="1">
                <a:solidFill>
                  <a:srgbClr val="FF3300"/>
                </a:solidFill>
                <a:latin typeface="宋体" panose="02010600030101010101" pitchFamily="2" charset="-122"/>
              </a:rPr>
              <a:t>零件的安放状态</a:t>
            </a:r>
            <a:endParaRPr lang="zh-CN" altLang="en-US" sz="3200" b="1">
              <a:solidFill>
                <a:srgbClr val="FF3300"/>
              </a:solidFill>
              <a:latin typeface="宋体" panose="02010600030101010101" pitchFamily="2" charset="-122"/>
            </a:endParaRPr>
          </a:p>
        </p:txBody>
      </p:sp>
      <p:sp>
        <p:nvSpPr>
          <p:cNvPr id="13316" name="Text Box 4"/>
          <p:cNvSpPr txBox="1">
            <a:spLocks noChangeArrowheads="1"/>
          </p:cNvSpPr>
          <p:nvPr/>
        </p:nvSpPr>
        <p:spPr bwMode="auto">
          <a:xfrm>
            <a:off x="1289050" y="1206500"/>
            <a:ext cx="346075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3200" b="1">
                <a:latin typeface="宋体" panose="02010600030101010101" pitchFamily="2" charset="-122"/>
              </a:rPr>
              <a:t>支架的</a:t>
            </a:r>
            <a:r>
              <a:rPr lang="zh-CN" altLang="en-US" sz="3200" b="1">
                <a:solidFill>
                  <a:schemeClr val="accent2"/>
                </a:solidFill>
                <a:latin typeface="宋体" panose="02010600030101010101" pitchFamily="2" charset="-122"/>
              </a:rPr>
              <a:t>工作状态</a:t>
            </a:r>
            <a:r>
              <a:rPr lang="zh-CN" altLang="en-US" sz="3200" b="1">
                <a:latin typeface="宋体" panose="02010600030101010101" pitchFamily="2" charset="-122"/>
              </a:rPr>
              <a:t>。</a:t>
            </a:r>
            <a:endParaRPr lang="zh-CN" altLang="en-US" sz="3200" b="1">
              <a:latin typeface="宋体" panose="02010600030101010101" pitchFamily="2" charset="-122"/>
            </a:endParaRPr>
          </a:p>
        </p:txBody>
      </p:sp>
      <p:sp>
        <p:nvSpPr>
          <p:cNvPr id="13317" name="Text Box 5"/>
          <p:cNvSpPr txBox="1">
            <a:spLocks noChangeArrowheads="1"/>
          </p:cNvSpPr>
          <p:nvPr/>
        </p:nvSpPr>
        <p:spPr bwMode="auto">
          <a:xfrm>
            <a:off x="784225" y="1736725"/>
            <a:ext cx="2481263"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000" b="1">
                <a:solidFill>
                  <a:srgbClr val="FF3300"/>
                </a:solidFill>
                <a:latin typeface="宋体" panose="02010600030101010101" pitchFamily="2" charset="-122"/>
              </a:rPr>
              <a:t>●</a:t>
            </a:r>
            <a:r>
              <a:rPr lang="en-US" altLang="zh-CN" sz="3200" b="1">
                <a:solidFill>
                  <a:srgbClr val="FF3300"/>
                </a:solidFill>
                <a:latin typeface="宋体" panose="02010600030101010101" pitchFamily="2" charset="-122"/>
              </a:rPr>
              <a:t> </a:t>
            </a:r>
            <a:r>
              <a:rPr lang="zh-CN" altLang="en-US" sz="3200" b="1">
                <a:solidFill>
                  <a:srgbClr val="FF3300"/>
                </a:solidFill>
                <a:latin typeface="宋体" panose="02010600030101010101" pitchFamily="2" charset="-122"/>
              </a:rPr>
              <a:t>投射方向</a:t>
            </a:r>
            <a:endParaRPr lang="zh-CN" altLang="en-US" sz="3200" b="1">
              <a:solidFill>
                <a:srgbClr val="FF3300"/>
              </a:solidFill>
              <a:latin typeface="宋体" panose="02010600030101010101" pitchFamily="2" charset="-122"/>
            </a:endParaRPr>
          </a:p>
        </p:txBody>
      </p:sp>
      <p:sp>
        <p:nvSpPr>
          <p:cNvPr id="13318" name="Text Box 6"/>
          <p:cNvSpPr txBox="1">
            <a:spLocks noChangeArrowheads="1"/>
          </p:cNvSpPr>
          <p:nvPr/>
        </p:nvSpPr>
        <p:spPr bwMode="auto">
          <a:xfrm>
            <a:off x="6235700" y="4078288"/>
            <a:ext cx="1511300" cy="579437"/>
          </a:xfrm>
          <a:prstGeom prst="rect">
            <a:avLst/>
          </a:prstGeom>
          <a:noFill/>
          <a:ln>
            <a:noFill/>
          </a:ln>
          <a:extLst>
            <a:ext uri="{909E8E84-426E-40DD-AFC4-6F175D3DCCD1}">
              <a14:hiddenFill xmlns:a14="http://schemas.microsoft.com/office/drawing/2010/main">
                <a:pattFill prst="smConfetti">
                  <a:fgClr>
                    <a:srgbClr val="CC99FF"/>
                  </a:fgClr>
                  <a:bgClr>
                    <a:srgbClr val="FFFFFF"/>
                  </a:bgClr>
                </a:patt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3200" b="1">
                <a:solidFill>
                  <a:schemeClr val="accent2"/>
                </a:solidFill>
              </a:rPr>
              <a:t>主视图</a:t>
            </a:r>
            <a:endParaRPr lang="zh-CN" altLang="en-US" sz="3200" b="1">
              <a:solidFill>
                <a:schemeClr val="accent2"/>
              </a:solidFill>
            </a:endParaRPr>
          </a:p>
        </p:txBody>
      </p:sp>
      <p:sp>
        <p:nvSpPr>
          <p:cNvPr id="13319" name="Text Box 7"/>
          <p:cNvSpPr txBox="1">
            <a:spLocks noChangeArrowheads="1"/>
          </p:cNvSpPr>
          <p:nvPr/>
        </p:nvSpPr>
        <p:spPr bwMode="auto">
          <a:xfrm>
            <a:off x="420688" y="3465513"/>
            <a:ext cx="4751387" cy="2528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latin typeface="宋体" panose="02010600030101010101" pitchFamily="2" charset="-122"/>
              </a:rPr>
              <a:t>    </a:t>
            </a:r>
            <a:r>
              <a:rPr lang="zh-CN" altLang="en-US" sz="3200" b="1">
                <a:latin typeface="宋体" panose="02010600030101010101" pitchFamily="2" charset="-122"/>
              </a:rPr>
              <a:t>主视图清楚表达了支架主要形体</a:t>
            </a:r>
            <a:r>
              <a:rPr lang="en-US" altLang="zh-CN" sz="3200" b="1">
                <a:latin typeface="宋体" panose="02010600030101010101" pitchFamily="2" charset="-122"/>
              </a:rPr>
              <a:t>(</a:t>
            </a:r>
            <a:r>
              <a:rPr lang="zh-CN" altLang="en-US" sz="3200" b="1">
                <a:latin typeface="宋体" panose="02010600030101010101" pitchFamily="2" charset="-122"/>
              </a:rPr>
              <a:t>圆筒</a:t>
            </a:r>
            <a:r>
              <a:rPr lang="en-US" altLang="zh-CN" sz="3200" b="1">
                <a:latin typeface="宋体" panose="02010600030101010101" pitchFamily="2" charset="-122"/>
              </a:rPr>
              <a:t>)</a:t>
            </a:r>
            <a:r>
              <a:rPr lang="zh-CN" altLang="en-US" sz="3200" b="1">
                <a:latin typeface="宋体" panose="02010600030101010101" pitchFamily="2" charset="-122"/>
              </a:rPr>
              <a:t>的形状特征，同时表达了各组成部分的相对位置及连接关系及一些次要部分。</a:t>
            </a:r>
            <a:endParaRPr lang="zh-CN" altLang="en-US" sz="3200" b="1">
              <a:latin typeface="宋体" panose="02010600030101010101" pitchFamily="2" charset="-122"/>
            </a:endParaRPr>
          </a:p>
        </p:txBody>
      </p:sp>
      <p:sp>
        <p:nvSpPr>
          <p:cNvPr id="13321" name="Text Box 9"/>
          <p:cNvSpPr txBox="1">
            <a:spLocks noChangeArrowheads="1"/>
          </p:cNvSpPr>
          <p:nvPr/>
        </p:nvSpPr>
        <p:spPr bwMode="auto">
          <a:xfrm>
            <a:off x="1260475" y="2295525"/>
            <a:ext cx="41735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3200" b="1">
                <a:latin typeface="宋体" panose="02010600030101010101" pitchFamily="2" charset="-122"/>
              </a:rPr>
              <a:t>比较</a:t>
            </a:r>
            <a:r>
              <a:rPr lang="en-US" altLang="zh-CN" sz="3200" b="1" i="1">
                <a:solidFill>
                  <a:srgbClr val="FF3300"/>
                </a:solidFill>
                <a:latin typeface="宋体" panose="02010600030101010101" pitchFamily="2" charset="-122"/>
              </a:rPr>
              <a:t>A</a:t>
            </a:r>
            <a:r>
              <a:rPr lang="zh-CN" altLang="en-US" sz="3200" b="1">
                <a:solidFill>
                  <a:srgbClr val="FF3300"/>
                </a:solidFill>
                <a:latin typeface="宋体" panose="02010600030101010101" pitchFamily="2" charset="-122"/>
              </a:rPr>
              <a:t>、</a:t>
            </a:r>
            <a:r>
              <a:rPr lang="en-US" altLang="zh-CN" sz="3200" b="1" i="1">
                <a:solidFill>
                  <a:srgbClr val="FF3300"/>
                </a:solidFill>
                <a:latin typeface="宋体" panose="02010600030101010101" pitchFamily="2" charset="-122"/>
              </a:rPr>
              <a:t>B </a:t>
            </a:r>
            <a:r>
              <a:rPr lang="zh-CN" altLang="en-US" sz="3200" b="1">
                <a:latin typeface="宋体" panose="02010600030101010101" pitchFamily="2" charset="-122"/>
              </a:rPr>
              <a:t>两方向后，定为</a:t>
            </a:r>
            <a:r>
              <a:rPr lang="en-US" altLang="zh-CN" sz="3200" b="1" i="1">
                <a:solidFill>
                  <a:srgbClr val="FF3300"/>
                </a:solidFill>
                <a:latin typeface="宋体" panose="02010600030101010101" pitchFamily="2" charset="-122"/>
              </a:rPr>
              <a:t>A</a:t>
            </a:r>
            <a:r>
              <a:rPr lang="zh-CN" altLang="en-US" sz="3200" b="1">
                <a:latin typeface="宋体" panose="02010600030101010101" pitchFamily="2" charset="-122"/>
              </a:rPr>
              <a:t>向。</a:t>
            </a:r>
            <a:endParaRPr lang="zh-CN" altLang="en-US" sz="3200">
              <a:latin typeface="宋体" panose="02010600030101010101" pitchFamily="2" charset="-122"/>
            </a:endParaRPr>
          </a:p>
        </p:txBody>
      </p:sp>
      <p:sp>
        <p:nvSpPr>
          <p:cNvPr id="13413" name="Text Box 101">
            <a:hlinkClick r:id="rId1" action="ppaction://hlinksldjump"/>
          </p:cNvPr>
          <p:cNvSpPr txBox="1">
            <a:spLocks noChangeArrowheads="1"/>
          </p:cNvSpPr>
          <p:nvPr/>
        </p:nvSpPr>
        <p:spPr bwMode="auto">
          <a:xfrm>
            <a:off x="7680325" y="5888038"/>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u="sng">
                <a:solidFill>
                  <a:srgbClr val="0000FF"/>
                </a:solidFill>
              </a:rPr>
              <a:t>支架</a:t>
            </a:r>
            <a:endParaRPr lang="zh-CN" altLang="en-US" u="sng">
              <a:solidFill>
                <a:srgbClr val="0000FF"/>
              </a:solidFill>
            </a:endParaRPr>
          </a:p>
        </p:txBody>
      </p:sp>
      <p:grpSp>
        <p:nvGrpSpPr>
          <p:cNvPr id="13443" name="Group 131"/>
          <p:cNvGrpSpPr/>
          <p:nvPr/>
        </p:nvGrpSpPr>
        <p:grpSpPr bwMode="auto">
          <a:xfrm>
            <a:off x="5495925" y="815975"/>
            <a:ext cx="2752725" cy="2828925"/>
            <a:chOff x="582" y="1674"/>
            <a:chExt cx="1734" cy="1782"/>
          </a:xfrm>
        </p:grpSpPr>
        <p:grpSp>
          <p:nvGrpSpPr>
            <p:cNvPr id="13444" name="Group 132"/>
            <p:cNvGrpSpPr/>
            <p:nvPr/>
          </p:nvGrpSpPr>
          <p:grpSpPr bwMode="auto">
            <a:xfrm>
              <a:off x="582" y="1674"/>
              <a:ext cx="1734" cy="1782"/>
              <a:chOff x="2524" y="450"/>
              <a:chExt cx="1734" cy="1782"/>
            </a:xfrm>
          </p:grpSpPr>
          <p:pic>
            <p:nvPicPr>
              <p:cNvPr id="13445" name="Picture 1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 y="450"/>
                <a:ext cx="1734" cy="1782"/>
              </a:xfrm>
              <a:prstGeom prst="rect">
                <a:avLst/>
              </a:prstGeom>
              <a:noFill/>
              <a:extLst>
                <a:ext uri="{909E8E84-426E-40DD-AFC4-6F175D3DCCD1}">
                  <a14:hiddenFill xmlns:a14="http://schemas.microsoft.com/office/drawing/2010/main">
                    <a:solidFill>
                      <a:srgbClr val="FFFFFF"/>
                    </a:solidFill>
                  </a14:hiddenFill>
                </a:ext>
              </a:extLst>
            </p:spPr>
          </p:pic>
          <p:sp>
            <p:nvSpPr>
              <p:cNvPr id="13446" name="Rectangle 134"/>
              <p:cNvSpPr>
                <a:spLocks noChangeArrowheads="1"/>
              </p:cNvSpPr>
              <p:nvPr/>
            </p:nvSpPr>
            <p:spPr bwMode="auto">
              <a:xfrm>
                <a:off x="2719" y="1634"/>
                <a:ext cx="139"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47" name="Rectangle 135"/>
              <p:cNvSpPr>
                <a:spLocks noChangeArrowheads="1"/>
              </p:cNvSpPr>
              <p:nvPr/>
            </p:nvSpPr>
            <p:spPr bwMode="auto">
              <a:xfrm>
                <a:off x="3905" y="1628"/>
                <a:ext cx="166" cy="1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448" name="Rectangle 136"/>
            <p:cNvSpPr>
              <a:spLocks noChangeArrowheads="1"/>
            </p:cNvSpPr>
            <p:nvPr/>
          </p:nvSpPr>
          <p:spPr bwMode="auto">
            <a:xfrm>
              <a:off x="996" y="3180"/>
              <a:ext cx="180" cy="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49" name="Rectangle 137"/>
            <p:cNvSpPr>
              <a:spLocks noChangeArrowheads="1"/>
            </p:cNvSpPr>
            <p:nvPr/>
          </p:nvSpPr>
          <p:spPr bwMode="auto">
            <a:xfrm>
              <a:off x="1708" y="3180"/>
              <a:ext cx="180" cy="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50" name="Line 138"/>
            <p:cNvSpPr>
              <a:spLocks noChangeShapeType="1"/>
            </p:cNvSpPr>
            <p:nvPr/>
          </p:nvSpPr>
          <p:spPr bwMode="auto">
            <a:xfrm>
              <a:off x="980" y="3172"/>
              <a:ext cx="91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321"/>
                                        </p:tgtEl>
                                        <p:attrNameLst>
                                          <p:attrName>style.visibility</p:attrName>
                                        </p:attrNameLst>
                                      </p:cBhvr>
                                      <p:to>
                                        <p:strVal val="visible"/>
                                      </p:to>
                                    </p:set>
                                    <p:animEffect transition="in" filter="box(out)">
                                      <p:cBhvr>
                                        <p:cTn id="7" dur="500"/>
                                        <p:tgtEl>
                                          <p:spTgt spid="133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443"/>
                                        </p:tgtEl>
                                        <p:attrNameLst>
                                          <p:attrName>style.visibility</p:attrName>
                                        </p:attrNameLst>
                                      </p:cBhvr>
                                      <p:to>
                                        <p:strVal val="visible"/>
                                      </p:to>
                                    </p:set>
                                    <p:animEffect transition="in" filter="blinds(horizontal)">
                                      <p:cBhvr>
                                        <p:cTn id="12" dur="500"/>
                                        <p:tgtEl>
                                          <p:spTgt spid="13443"/>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3318"/>
                                        </p:tgtEl>
                                        <p:attrNameLst>
                                          <p:attrName>style.visibility</p:attrName>
                                        </p:attrNameLst>
                                      </p:cBhvr>
                                      <p:to>
                                        <p:strVal val="visible"/>
                                      </p:to>
                                    </p:set>
                                    <p:animEffect transition="in" filter="wipe(down)">
                                      <p:cBhvr>
                                        <p:cTn id="16" dur="500"/>
                                        <p:tgtEl>
                                          <p:spTgt spid="13318"/>
                                        </p:tgtEl>
                                      </p:cBhvr>
                                    </p:animEffect>
                                  </p:childTnLst>
                                </p:cTn>
                              </p:par>
                            </p:childTnLst>
                          </p:cTn>
                        </p:par>
                        <p:par>
                          <p:cTn id="17" fill="hold">
                            <p:stCondLst>
                              <p:cond delay="1000"/>
                            </p:stCondLst>
                            <p:childTnLst>
                              <p:par>
                                <p:cTn id="18" presetID="18" presetClass="entr" presetSubtype="3" fill="hold" grpId="0" nodeType="afterEffect">
                                  <p:stCondLst>
                                    <p:cond delay="0"/>
                                  </p:stCondLst>
                                  <p:childTnLst>
                                    <p:set>
                                      <p:cBhvr>
                                        <p:cTn id="19" dur="1" fill="hold">
                                          <p:stCondLst>
                                            <p:cond delay="0"/>
                                          </p:stCondLst>
                                        </p:cTn>
                                        <p:tgtEl>
                                          <p:spTgt spid="13319"/>
                                        </p:tgtEl>
                                        <p:attrNameLst>
                                          <p:attrName>style.visibility</p:attrName>
                                        </p:attrNameLst>
                                      </p:cBhvr>
                                      <p:to>
                                        <p:strVal val="visible"/>
                                      </p:to>
                                    </p:set>
                                    <p:animEffect transition="in" filter="strips(upRight)">
                                      <p:cBhvr>
                                        <p:cTn id="20"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utoUpdateAnimBg="0"/>
      <p:bldP spid="13319" grpId="0" autoUpdateAnimBg="0"/>
      <p:bldP spid="1332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88" name="Group 352"/>
          <p:cNvGrpSpPr/>
          <p:nvPr/>
        </p:nvGrpSpPr>
        <p:grpSpPr bwMode="auto">
          <a:xfrm>
            <a:off x="4187825" y="688975"/>
            <a:ext cx="2752725" cy="2828925"/>
            <a:chOff x="582" y="1674"/>
            <a:chExt cx="1734" cy="1782"/>
          </a:xfrm>
        </p:grpSpPr>
        <p:grpSp>
          <p:nvGrpSpPr>
            <p:cNvPr id="14689" name="Group 353"/>
            <p:cNvGrpSpPr/>
            <p:nvPr/>
          </p:nvGrpSpPr>
          <p:grpSpPr bwMode="auto">
            <a:xfrm>
              <a:off x="582" y="1674"/>
              <a:ext cx="1734" cy="1782"/>
              <a:chOff x="2524" y="450"/>
              <a:chExt cx="1734" cy="1782"/>
            </a:xfrm>
          </p:grpSpPr>
          <p:pic>
            <p:nvPicPr>
              <p:cNvPr id="14690" name="Picture 35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4" y="450"/>
                <a:ext cx="1734" cy="1782"/>
              </a:xfrm>
              <a:prstGeom prst="rect">
                <a:avLst/>
              </a:prstGeom>
              <a:noFill/>
              <a:extLst>
                <a:ext uri="{909E8E84-426E-40DD-AFC4-6F175D3DCCD1}">
                  <a14:hiddenFill xmlns:a14="http://schemas.microsoft.com/office/drawing/2010/main">
                    <a:solidFill>
                      <a:srgbClr val="FFFFFF"/>
                    </a:solidFill>
                  </a14:hiddenFill>
                </a:ext>
              </a:extLst>
            </p:spPr>
          </p:pic>
          <p:sp>
            <p:nvSpPr>
              <p:cNvPr id="14691" name="Rectangle 355"/>
              <p:cNvSpPr>
                <a:spLocks noChangeArrowheads="1"/>
              </p:cNvSpPr>
              <p:nvPr/>
            </p:nvSpPr>
            <p:spPr bwMode="auto">
              <a:xfrm>
                <a:off x="2719" y="1634"/>
                <a:ext cx="139"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92" name="Rectangle 356"/>
              <p:cNvSpPr>
                <a:spLocks noChangeArrowheads="1"/>
              </p:cNvSpPr>
              <p:nvPr/>
            </p:nvSpPr>
            <p:spPr bwMode="auto">
              <a:xfrm>
                <a:off x="3905" y="1628"/>
                <a:ext cx="166" cy="1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693" name="Rectangle 357"/>
            <p:cNvSpPr>
              <a:spLocks noChangeArrowheads="1"/>
            </p:cNvSpPr>
            <p:nvPr/>
          </p:nvSpPr>
          <p:spPr bwMode="auto">
            <a:xfrm>
              <a:off x="996" y="3180"/>
              <a:ext cx="180" cy="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94" name="Rectangle 358"/>
            <p:cNvSpPr>
              <a:spLocks noChangeArrowheads="1"/>
            </p:cNvSpPr>
            <p:nvPr/>
          </p:nvSpPr>
          <p:spPr bwMode="auto">
            <a:xfrm>
              <a:off x="1708" y="3180"/>
              <a:ext cx="180" cy="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95" name="Line 359"/>
            <p:cNvSpPr>
              <a:spLocks noChangeShapeType="1"/>
            </p:cNvSpPr>
            <p:nvPr/>
          </p:nvSpPr>
          <p:spPr bwMode="auto">
            <a:xfrm>
              <a:off x="980" y="3172"/>
              <a:ext cx="91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4678" name="Picture 3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9613" y="760413"/>
            <a:ext cx="1797050" cy="2759075"/>
          </a:xfrm>
          <a:prstGeom prst="rect">
            <a:avLst/>
          </a:prstGeom>
          <a:noFill/>
          <a:extLst>
            <a:ext uri="{909E8E84-426E-40DD-AFC4-6F175D3DCCD1}">
              <a14:hiddenFill xmlns:a14="http://schemas.microsoft.com/office/drawing/2010/main">
                <a:solidFill>
                  <a:srgbClr val="FFFFFF"/>
                </a:solidFill>
              </a14:hiddenFill>
            </a:ext>
          </a:extLst>
        </p:spPr>
      </p:pic>
      <p:sp>
        <p:nvSpPr>
          <p:cNvPr id="14338" name="Rectangle 2"/>
          <p:cNvSpPr>
            <a:spLocks noChangeArrowheads="1"/>
          </p:cNvSpPr>
          <p:nvPr/>
        </p:nvSpPr>
        <p:spPr bwMode="auto">
          <a:xfrm>
            <a:off x="411163" y="109538"/>
            <a:ext cx="291147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sym typeface="Monotype Sorts" panose="05000000000000000000" pitchFamily="2" charset="2"/>
              </a:rPr>
              <a:t>⑶ </a:t>
            </a:r>
            <a:r>
              <a:rPr lang="zh-CN" altLang="en-US" sz="3200" b="1">
                <a:solidFill>
                  <a:schemeClr val="accent2"/>
                </a:solidFill>
                <a:sym typeface="Monotype Sorts" panose="05000000000000000000" pitchFamily="2" charset="2"/>
              </a:rPr>
              <a:t>选其他视图</a:t>
            </a:r>
            <a:endParaRPr lang="zh-CN" altLang="en-US" sz="3200" b="1">
              <a:solidFill>
                <a:schemeClr val="accent2"/>
              </a:solidFill>
              <a:sym typeface="Monotype Sorts" panose="05000000000000000000" pitchFamily="2" charset="2"/>
            </a:endParaRPr>
          </a:p>
        </p:txBody>
      </p:sp>
      <p:sp>
        <p:nvSpPr>
          <p:cNvPr id="14339" name="Text Box 3"/>
          <p:cNvSpPr txBox="1">
            <a:spLocks noChangeArrowheads="1"/>
          </p:cNvSpPr>
          <p:nvPr/>
        </p:nvSpPr>
        <p:spPr bwMode="auto">
          <a:xfrm>
            <a:off x="5562600" y="5873750"/>
            <a:ext cx="1962150" cy="533400"/>
          </a:xfrm>
          <a:prstGeom prst="rect">
            <a:avLst/>
          </a:prstGeom>
          <a:noFill/>
          <a:ln w="76200">
            <a:pattFill prst="smCheck">
              <a:fgClr>
                <a:srgbClr val="CC0099"/>
              </a:fgClr>
              <a:bgClr>
                <a:srgbClr val="FFFFFF"/>
              </a:bgClr>
            </a:pattFill>
            <a:miter lim="800000"/>
          </a:ln>
          <a:extLst>
            <a:ext uri="{909E8E84-426E-40DD-AFC4-6F175D3DCCD1}">
              <a14:hiddenFill xmlns:a14="http://schemas.microsoft.com/office/drawing/2010/main">
                <a:solidFill>
                  <a:schemeClr val="accent1"/>
                </a:solidFill>
              </a14:hiddenFill>
            </a:ext>
          </a:extLst>
        </p:spPr>
        <p:txBody>
          <a:bodyPr>
            <a:spAutoFit/>
          </a:bodyPr>
          <a:lstStyle/>
          <a:p>
            <a:pPr eaLnBrk="0" hangingPunct="0"/>
            <a:r>
              <a:rPr lang="zh-CN" altLang="en-US" b="1"/>
              <a:t>视图方案一</a:t>
            </a:r>
            <a:endParaRPr lang="zh-CN" altLang="en-US" b="1"/>
          </a:p>
        </p:txBody>
      </p:sp>
      <p:sp>
        <p:nvSpPr>
          <p:cNvPr id="14340" name="Text Box 4"/>
          <p:cNvSpPr txBox="1">
            <a:spLocks noChangeArrowheads="1"/>
          </p:cNvSpPr>
          <p:nvPr/>
        </p:nvSpPr>
        <p:spPr bwMode="auto">
          <a:xfrm>
            <a:off x="433388" y="4587875"/>
            <a:ext cx="3208337" cy="1320800"/>
          </a:xfrm>
          <a:prstGeom prst="rect">
            <a:avLst/>
          </a:prstGeom>
          <a:noFill/>
          <a:ln w="76200">
            <a:pattFill prst="trellis">
              <a:fgClr>
                <a:srgbClr val="FF0000"/>
              </a:fgClr>
              <a:bgClr>
                <a:srgbClr val="FFFFFF"/>
              </a:bgClr>
            </a:pattFill>
            <a:miter lim="800000"/>
          </a:ln>
          <a:extLst>
            <a:ext uri="{909E8E84-426E-40DD-AFC4-6F175D3DCCD1}">
              <a14:hiddenFill xmlns:a14="http://schemas.microsoft.com/office/drawing/2010/main">
                <a:pattFill prst="weave">
                  <a:fgClr>
                    <a:srgbClr val="9999FF"/>
                  </a:fgClr>
                  <a:bgClr>
                    <a:srgbClr val="FFFFFF"/>
                  </a:bgClr>
                </a:pattFill>
              </a14:hiddenFill>
            </a:ext>
          </a:extLst>
        </p:spPr>
        <p:txBody>
          <a:bodyPr>
            <a:spAutoFit/>
          </a:bodyPr>
          <a:lstStyle/>
          <a:p>
            <a:pPr eaLnBrk="0" hangingPunct="0">
              <a:lnSpc>
                <a:spcPct val="90000"/>
              </a:lnSpc>
            </a:pPr>
            <a:r>
              <a:rPr lang="zh-CN" altLang="en-US" sz="2800" b="1">
                <a:solidFill>
                  <a:srgbClr val="3333CC"/>
                </a:solidFill>
              </a:rPr>
              <a:t>支撑板：</a:t>
            </a:r>
            <a:r>
              <a:rPr lang="zh-CN" altLang="en-US" sz="2800" b="1"/>
              <a:t>选择</a:t>
            </a:r>
            <a:r>
              <a:rPr lang="zh-CN" altLang="en-US" sz="2800" b="1">
                <a:solidFill>
                  <a:srgbClr val="FF3300"/>
                </a:solidFill>
              </a:rPr>
              <a:t>移出断面</a:t>
            </a:r>
            <a:r>
              <a:rPr lang="zh-CN" altLang="en-US" sz="2800" b="1"/>
              <a:t>表达其框形结构形状。</a:t>
            </a:r>
            <a:endParaRPr lang="zh-CN" altLang="en-US" sz="2800" b="1"/>
          </a:p>
        </p:txBody>
      </p:sp>
      <p:grpSp>
        <p:nvGrpSpPr>
          <p:cNvPr id="14342" name="Group 6"/>
          <p:cNvGrpSpPr/>
          <p:nvPr/>
        </p:nvGrpSpPr>
        <p:grpSpPr bwMode="auto">
          <a:xfrm>
            <a:off x="1011238" y="1123950"/>
            <a:ext cx="2690812" cy="2057400"/>
            <a:chOff x="1338" y="1746"/>
            <a:chExt cx="1695" cy="1296"/>
          </a:xfrm>
        </p:grpSpPr>
        <p:sp>
          <p:nvSpPr>
            <p:cNvPr id="14343" name="Freeform 7"/>
            <p:cNvSpPr/>
            <p:nvPr/>
          </p:nvSpPr>
          <p:spPr bwMode="auto">
            <a:xfrm>
              <a:off x="1553" y="1819"/>
              <a:ext cx="263" cy="283"/>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FFCC6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44" name="Freeform 8"/>
            <p:cNvSpPr/>
            <p:nvPr/>
          </p:nvSpPr>
          <p:spPr bwMode="auto">
            <a:xfrm>
              <a:off x="1338" y="1746"/>
              <a:ext cx="303" cy="454"/>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FFCC6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45" name="Freeform 9"/>
            <p:cNvSpPr/>
            <p:nvPr/>
          </p:nvSpPr>
          <p:spPr bwMode="auto">
            <a:xfrm>
              <a:off x="1624" y="2122"/>
              <a:ext cx="159" cy="426"/>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9900CC"/>
            </a:solidFill>
            <a:ln w="9525">
              <a:solidFill>
                <a:schemeClr val="accent2"/>
              </a:solidFill>
              <a:round/>
            </a:ln>
          </p:spPr>
          <p:txBody>
            <a:bodyPr/>
            <a:lstStyle/>
            <a:p>
              <a:endParaRPr lang="zh-CN" altLang="en-US"/>
            </a:p>
          </p:txBody>
        </p:sp>
        <p:sp>
          <p:nvSpPr>
            <p:cNvPr id="14346" name="Freeform 10"/>
            <p:cNvSpPr/>
            <p:nvPr/>
          </p:nvSpPr>
          <p:spPr bwMode="auto">
            <a:xfrm>
              <a:off x="1697" y="2134"/>
              <a:ext cx="242" cy="327"/>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FFCC6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47" name="Freeform 11"/>
            <p:cNvSpPr/>
            <p:nvPr/>
          </p:nvSpPr>
          <p:spPr bwMode="auto">
            <a:xfrm>
              <a:off x="1716" y="2505"/>
              <a:ext cx="295" cy="528"/>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48" name="Freeform 12"/>
            <p:cNvSpPr/>
            <p:nvPr/>
          </p:nvSpPr>
          <p:spPr bwMode="auto">
            <a:xfrm>
              <a:off x="1531" y="2503"/>
              <a:ext cx="199" cy="539"/>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349" name="Text Box 13"/>
            <p:cNvSpPr txBox="1">
              <a:spLocks noChangeArrowheads="1"/>
            </p:cNvSpPr>
            <p:nvPr/>
          </p:nvSpPr>
          <p:spPr bwMode="auto">
            <a:xfrm>
              <a:off x="1927" y="1772"/>
              <a:ext cx="1106" cy="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b="1">
                  <a:solidFill>
                    <a:schemeClr val="accent2"/>
                  </a:solidFill>
                </a:rPr>
                <a:t>还需选择什么视图呢？</a:t>
              </a:r>
              <a:endParaRPr lang="zh-CN" altLang="en-US" b="1">
                <a:solidFill>
                  <a:schemeClr val="accent2"/>
                </a:solidFill>
              </a:endParaRPr>
            </a:p>
          </p:txBody>
        </p:sp>
      </p:grpSp>
      <p:sp>
        <p:nvSpPr>
          <p:cNvPr id="14350" name="Rectangle 14"/>
          <p:cNvSpPr>
            <a:spLocks noChangeArrowheads="1"/>
          </p:cNvSpPr>
          <p:nvPr/>
        </p:nvSpPr>
        <p:spPr bwMode="auto">
          <a:xfrm>
            <a:off x="741363" y="1050925"/>
            <a:ext cx="3130550" cy="2368550"/>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sp>
        <p:nvSpPr>
          <p:cNvPr id="14352" name="Text Box 16"/>
          <p:cNvSpPr txBox="1">
            <a:spLocks noChangeArrowheads="1"/>
          </p:cNvSpPr>
          <p:nvPr/>
        </p:nvSpPr>
        <p:spPr bwMode="auto">
          <a:xfrm>
            <a:off x="441325" y="3321050"/>
            <a:ext cx="3171825" cy="936625"/>
          </a:xfrm>
          <a:prstGeom prst="rect">
            <a:avLst/>
          </a:prstGeom>
          <a:noFill/>
          <a:ln w="76200">
            <a:pattFill prst="smCheck">
              <a:fgClr>
                <a:srgbClr val="9900CC"/>
              </a:fgClr>
              <a:bgClr>
                <a:srgbClr val="FFFFFF"/>
              </a:bgClr>
            </a:pattFill>
            <a:miter lim="800000"/>
          </a:ln>
          <a:extLst>
            <a:ext uri="{909E8E84-426E-40DD-AFC4-6F175D3DCCD1}">
              <a14:hiddenFill xmlns:a14="http://schemas.microsoft.com/office/drawing/2010/main">
                <a:pattFill prst="weave">
                  <a:fgClr>
                    <a:srgbClr val="CC99FF"/>
                  </a:fgClr>
                  <a:bgClr>
                    <a:srgbClr val="FFFFFF"/>
                  </a:bgClr>
                </a:pattFill>
              </a14:hiddenFill>
            </a:ext>
          </a:extLst>
        </p:spPr>
        <p:txBody>
          <a:bodyPr>
            <a:spAutoFit/>
          </a:bodyPr>
          <a:lstStyle/>
          <a:p>
            <a:pPr eaLnBrk="0" hangingPunct="0">
              <a:lnSpc>
                <a:spcPct val="90000"/>
              </a:lnSpc>
            </a:pPr>
            <a:r>
              <a:rPr lang="zh-CN" altLang="en-US" sz="2800" b="1">
                <a:solidFill>
                  <a:srgbClr val="3333CC"/>
                </a:solidFill>
              </a:rPr>
              <a:t>底板：</a:t>
            </a:r>
            <a:r>
              <a:rPr lang="zh-CN" altLang="en-US" sz="2800" b="1"/>
              <a:t>选择</a:t>
            </a:r>
            <a:r>
              <a:rPr lang="en-US" altLang="zh-CN" sz="2000" b="1" i="1">
                <a:solidFill>
                  <a:srgbClr val="FF3300"/>
                </a:solidFill>
              </a:rPr>
              <a:t>B</a:t>
            </a:r>
            <a:r>
              <a:rPr lang="zh-CN" altLang="en-US" sz="2800" b="1">
                <a:solidFill>
                  <a:srgbClr val="FF3300"/>
                </a:solidFill>
              </a:rPr>
              <a:t>向视图</a:t>
            </a:r>
            <a:r>
              <a:rPr lang="zh-CN" altLang="en-US" sz="2800" b="1"/>
              <a:t>表达其形状。</a:t>
            </a:r>
            <a:endParaRPr lang="zh-CN" altLang="en-US" sz="2800" b="1"/>
          </a:p>
        </p:txBody>
      </p:sp>
      <p:sp>
        <p:nvSpPr>
          <p:cNvPr id="14449" name="Rectangle 113"/>
          <p:cNvSpPr>
            <a:spLocks noChangeArrowheads="1"/>
          </p:cNvSpPr>
          <p:nvPr/>
        </p:nvSpPr>
        <p:spPr bwMode="auto">
          <a:xfrm>
            <a:off x="5481638" y="3695700"/>
            <a:ext cx="228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chemeClr val="accent2"/>
                </a:solidFill>
                <a:latin typeface="宋体" panose="02010600030101010101" pitchFamily="2" charset="-122"/>
              </a:rPr>
              <a:t>B</a:t>
            </a:r>
            <a:r>
              <a:rPr lang="en-US" altLang="zh-CN" sz="1200" b="1">
                <a:solidFill>
                  <a:srgbClr val="000000"/>
                </a:solidFill>
                <a:latin typeface="宋体" panose="02010600030101010101" pitchFamily="2" charset="-122"/>
              </a:rPr>
              <a:t> </a:t>
            </a:r>
            <a:endParaRPr lang="en-US" altLang="zh-CN"/>
          </a:p>
        </p:txBody>
      </p:sp>
      <p:sp>
        <p:nvSpPr>
          <p:cNvPr id="14450" name="Rectangle 114"/>
          <p:cNvSpPr>
            <a:spLocks noChangeArrowheads="1"/>
          </p:cNvSpPr>
          <p:nvPr/>
        </p:nvSpPr>
        <p:spPr bwMode="auto">
          <a:xfrm>
            <a:off x="7704138" y="3714750"/>
            <a:ext cx="6175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p>
            <a:pPr eaLnBrk="0" hangingPunct="0"/>
            <a:r>
              <a:rPr lang="en-US" altLang="zh-CN" b="1" i="1">
                <a:solidFill>
                  <a:srgbClr val="FF3300"/>
                </a:solidFill>
                <a:latin typeface="宋体" panose="02010600030101010101" pitchFamily="2" charset="-122"/>
              </a:rPr>
              <a:t>A-A</a:t>
            </a:r>
            <a:endParaRPr lang="en-US" altLang="zh-CN" i="1">
              <a:solidFill>
                <a:srgbClr val="FF3300"/>
              </a:solidFill>
            </a:endParaRPr>
          </a:p>
        </p:txBody>
      </p:sp>
      <p:grpSp>
        <p:nvGrpSpPr>
          <p:cNvPr id="14637" name="Group 301"/>
          <p:cNvGrpSpPr/>
          <p:nvPr/>
        </p:nvGrpSpPr>
        <p:grpSpPr bwMode="auto">
          <a:xfrm>
            <a:off x="4513263" y="2384425"/>
            <a:ext cx="2068512" cy="555625"/>
            <a:chOff x="2789" y="1480"/>
            <a:chExt cx="1303" cy="350"/>
          </a:xfrm>
        </p:grpSpPr>
        <p:grpSp>
          <p:nvGrpSpPr>
            <p:cNvPr id="14638" name="Group 302"/>
            <p:cNvGrpSpPr/>
            <p:nvPr/>
          </p:nvGrpSpPr>
          <p:grpSpPr bwMode="auto">
            <a:xfrm>
              <a:off x="2789" y="1480"/>
              <a:ext cx="146" cy="350"/>
              <a:chOff x="2789" y="1480"/>
              <a:chExt cx="146" cy="350"/>
            </a:xfrm>
          </p:grpSpPr>
          <p:grpSp>
            <p:nvGrpSpPr>
              <p:cNvPr id="14639" name="Group 303"/>
              <p:cNvGrpSpPr/>
              <p:nvPr/>
            </p:nvGrpSpPr>
            <p:grpSpPr bwMode="auto">
              <a:xfrm>
                <a:off x="2789" y="1480"/>
                <a:ext cx="146" cy="234"/>
                <a:chOff x="2789" y="1480"/>
                <a:chExt cx="146" cy="234"/>
              </a:xfrm>
            </p:grpSpPr>
            <p:sp>
              <p:nvSpPr>
                <p:cNvPr id="14640" name="Rectangle 304"/>
                <p:cNvSpPr>
                  <a:spLocks noChangeArrowheads="1"/>
                </p:cNvSpPr>
                <p:nvPr/>
              </p:nvSpPr>
              <p:spPr bwMode="auto">
                <a:xfrm>
                  <a:off x="2811" y="148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rgbClr val="FF3300"/>
                      </a:solidFill>
                      <a:latin typeface="宋体" panose="02010600030101010101" pitchFamily="2" charset="-122"/>
                    </a:rPr>
                    <a:t>A</a:t>
                  </a:r>
                  <a:endParaRPr lang="en-US" altLang="zh-CN" sz="1200" b="1" i="1">
                    <a:solidFill>
                      <a:srgbClr val="FF3300"/>
                    </a:solidFill>
                  </a:endParaRPr>
                </a:p>
              </p:txBody>
            </p:sp>
            <p:sp>
              <p:nvSpPr>
                <p:cNvPr id="14641" name="Freeform 305"/>
                <p:cNvSpPr/>
                <p:nvPr/>
              </p:nvSpPr>
              <p:spPr bwMode="auto">
                <a:xfrm>
                  <a:off x="2789" y="1698"/>
                  <a:ext cx="146" cy="16"/>
                </a:xfrm>
                <a:custGeom>
                  <a:avLst/>
                  <a:gdLst>
                    <a:gd name="T0" fmla="*/ 0 w 350"/>
                    <a:gd name="T1" fmla="*/ 0 h 35"/>
                    <a:gd name="T2" fmla="*/ 0 w 350"/>
                    <a:gd name="T3" fmla="*/ 35 h 35"/>
                    <a:gd name="T4" fmla="*/ 350 w 350"/>
                    <a:gd name="T5" fmla="*/ 0 h 35"/>
                    <a:gd name="T6" fmla="*/ 0 w 350"/>
                    <a:gd name="T7" fmla="*/ 0 h 35"/>
                  </a:gdLst>
                  <a:ahLst/>
                  <a:cxnLst>
                    <a:cxn ang="0">
                      <a:pos x="T0" y="T1"/>
                    </a:cxn>
                    <a:cxn ang="0">
                      <a:pos x="T2" y="T3"/>
                    </a:cxn>
                    <a:cxn ang="0">
                      <a:pos x="T4" y="T5"/>
                    </a:cxn>
                    <a:cxn ang="0">
                      <a:pos x="T6" y="T7"/>
                    </a:cxn>
                  </a:cxnLst>
                  <a:rect l="0" t="0" r="r" b="b"/>
                  <a:pathLst>
                    <a:path w="350" h="35">
                      <a:moveTo>
                        <a:pt x="0" y="0"/>
                      </a:moveTo>
                      <a:lnTo>
                        <a:pt x="0" y="35"/>
                      </a:lnTo>
                      <a:lnTo>
                        <a:pt x="350" y="0"/>
                      </a:lnTo>
                      <a:lnTo>
                        <a:pt x="0" y="0"/>
                      </a:lnTo>
                      <a:close/>
                    </a:path>
                  </a:pathLst>
                </a:custGeom>
                <a:solidFill>
                  <a:srgbClr val="FF3300"/>
                </a:solidFill>
                <a:ln w="9525">
                  <a:solidFill>
                    <a:srgbClr val="FF3300"/>
                  </a:solidFill>
                  <a:round/>
                </a:ln>
              </p:spPr>
              <p:txBody>
                <a:bodyPr/>
                <a:lstStyle/>
                <a:p>
                  <a:endParaRPr lang="zh-CN" altLang="en-US"/>
                </a:p>
              </p:txBody>
            </p:sp>
            <p:sp>
              <p:nvSpPr>
                <p:cNvPr id="14642" name="Freeform 306"/>
                <p:cNvSpPr/>
                <p:nvPr/>
              </p:nvSpPr>
              <p:spPr bwMode="auto">
                <a:xfrm>
                  <a:off x="2789" y="1698"/>
                  <a:ext cx="146" cy="16"/>
                </a:xfrm>
                <a:custGeom>
                  <a:avLst/>
                  <a:gdLst>
                    <a:gd name="T0" fmla="*/ 0 w 350"/>
                    <a:gd name="T1" fmla="*/ 35 h 35"/>
                    <a:gd name="T2" fmla="*/ 350 w 350"/>
                    <a:gd name="T3" fmla="*/ 0 h 35"/>
                    <a:gd name="T4" fmla="*/ 350 w 350"/>
                    <a:gd name="T5" fmla="*/ 35 h 35"/>
                    <a:gd name="T6" fmla="*/ 0 w 350"/>
                    <a:gd name="T7" fmla="*/ 35 h 35"/>
                  </a:gdLst>
                  <a:ahLst/>
                  <a:cxnLst>
                    <a:cxn ang="0">
                      <a:pos x="T0" y="T1"/>
                    </a:cxn>
                    <a:cxn ang="0">
                      <a:pos x="T2" y="T3"/>
                    </a:cxn>
                    <a:cxn ang="0">
                      <a:pos x="T4" y="T5"/>
                    </a:cxn>
                    <a:cxn ang="0">
                      <a:pos x="T6" y="T7"/>
                    </a:cxn>
                  </a:cxnLst>
                  <a:rect l="0" t="0" r="r" b="b"/>
                  <a:pathLst>
                    <a:path w="350" h="35">
                      <a:moveTo>
                        <a:pt x="0" y="35"/>
                      </a:moveTo>
                      <a:lnTo>
                        <a:pt x="350" y="0"/>
                      </a:lnTo>
                      <a:lnTo>
                        <a:pt x="350" y="35"/>
                      </a:lnTo>
                      <a:lnTo>
                        <a:pt x="0" y="35"/>
                      </a:lnTo>
                      <a:close/>
                    </a:path>
                  </a:pathLst>
                </a:custGeom>
                <a:solidFill>
                  <a:srgbClr val="FF3300"/>
                </a:solidFill>
                <a:ln w="9525">
                  <a:solidFill>
                    <a:srgbClr val="FF3300"/>
                  </a:solidFill>
                  <a:round/>
                </a:ln>
              </p:spPr>
              <p:txBody>
                <a:bodyPr/>
                <a:lstStyle/>
                <a:p>
                  <a:endParaRPr lang="zh-CN" altLang="en-US"/>
                </a:p>
              </p:txBody>
            </p:sp>
            <p:sp>
              <p:nvSpPr>
                <p:cNvPr id="14643" name="Rectangle 307"/>
                <p:cNvSpPr>
                  <a:spLocks noChangeArrowheads="1"/>
                </p:cNvSpPr>
                <p:nvPr/>
              </p:nvSpPr>
              <p:spPr bwMode="auto">
                <a:xfrm>
                  <a:off x="2789" y="1698"/>
                  <a:ext cx="146" cy="16"/>
                </a:xfrm>
                <a:prstGeom prst="rect">
                  <a:avLst/>
                </a:prstGeom>
                <a:solidFill>
                  <a:srgbClr val="FF3300"/>
                </a:solidFill>
                <a:ln w="0">
                  <a:solidFill>
                    <a:srgbClr val="FF3300"/>
                  </a:solidFill>
                  <a:miter lim="800000"/>
                </a:ln>
              </p:spPr>
              <p:txBody>
                <a:bodyPr/>
                <a:lstStyle/>
                <a:p>
                  <a:endParaRPr lang="zh-CN" altLang="en-US"/>
                </a:p>
              </p:txBody>
            </p:sp>
          </p:grpSp>
          <p:sp>
            <p:nvSpPr>
              <p:cNvPr id="14644" name="Line 308"/>
              <p:cNvSpPr>
                <a:spLocks noChangeShapeType="1"/>
              </p:cNvSpPr>
              <p:nvPr/>
            </p:nvSpPr>
            <p:spPr bwMode="auto">
              <a:xfrm>
                <a:off x="2790" y="1704"/>
                <a:ext cx="0" cy="126"/>
              </a:xfrm>
              <a:prstGeom prst="line">
                <a:avLst/>
              </a:prstGeom>
              <a:noFill/>
              <a:ln w="9525">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645" name="Group 309"/>
            <p:cNvGrpSpPr/>
            <p:nvPr/>
          </p:nvGrpSpPr>
          <p:grpSpPr bwMode="auto">
            <a:xfrm>
              <a:off x="3944" y="1480"/>
              <a:ext cx="148" cy="350"/>
              <a:chOff x="3944" y="1480"/>
              <a:chExt cx="148" cy="350"/>
            </a:xfrm>
          </p:grpSpPr>
          <p:sp>
            <p:nvSpPr>
              <p:cNvPr id="14646" name="Freeform 310"/>
              <p:cNvSpPr/>
              <p:nvPr/>
            </p:nvSpPr>
            <p:spPr bwMode="auto">
              <a:xfrm>
                <a:off x="3944" y="1698"/>
                <a:ext cx="144" cy="16"/>
              </a:xfrm>
              <a:custGeom>
                <a:avLst/>
                <a:gdLst>
                  <a:gd name="T0" fmla="*/ 0 w 351"/>
                  <a:gd name="T1" fmla="*/ 0 h 35"/>
                  <a:gd name="T2" fmla="*/ 0 w 351"/>
                  <a:gd name="T3" fmla="*/ 35 h 35"/>
                  <a:gd name="T4" fmla="*/ 351 w 351"/>
                  <a:gd name="T5" fmla="*/ 0 h 35"/>
                  <a:gd name="T6" fmla="*/ 0 w 351"/>
                  <a:gd name="T7" fmla="*/ 0 h 35"/>
                </a:gdLst>
                <a:ahLst/>
                <a:cxnLst>
                  <a:cxn ang="0">
                    <a:pos x="T0" y="T1"/>
                  </a:cxn>
                  <a:cxn ang="0">
                    <a:pos x="T2" y="T3"/>
                  </a:cxn>
                  <a:cxn ang="0">
                    <a:pos x="T4" y="T5"/>
                  </a:cxn>
                  <a:cxn ang="0">
                    <a:pos x="T6" y="T7"/>
                  </a:cxn>
                </a:cxnLst>
                <a:rect l="0" t="0" r="r" b="b"/>
                <a:pathLst>
                  <a:path w="351" h="35">
                    <a:moveTo>
                      <a:pt x="0" y="0"/>
                    </a:moveTo>
                    <a:lnTo>
                      <a:pt x="0" y="35"/>
                    </a:lnTo>
                    <a:lnTo>
                      <a:pt x="351" y="0"/>
                    </a:lnTo>
                    <a:lnTo>
                      <a:pt x="0" y="0"/>
                    </a:lnTo>
                    <a:close/>
                  </a:path>
                </a:pathLst>
              </a:custGeom>
              <a:solidFill>
                <a:srgbClr val="FF3300"/>
              </a:solidFill>
              <a:ln w="9525">
                <a:solidFill>
                  <a:srgbClr val="FF3300"/>
                </a:solidFill>
                <a:round/>
              </a:ln>
            </p:spPr>
            <p:txBody>
              <a:bodyPr/>
              <a:lstStyle/>
              <a:p>
                <a:endParaRPr lang="zh-CN" altLang="en-US"/>
              </a:p>
            </p:txBody>
          </p:sp>
          <p:sp>
            <p:nvSpPr>
              <p:cNvPr id="14647" name="Freeform 311"/>
              <p:cNvSpPr/>
              <p:nvPr/>
            </p:nvSpPr>
            <p:spPr bwMode="auto">
              <a:xfrm>
                <a:off x="3944" y="1698"/>
                <a:ext cx="144" cy="16"/>
              </a:xfrm>
              <a:custGeom>
                <a:avLst/>
                <a:gdLst>
                  <a:gd name="T0" fmla="*/ 0 w 351"/>
                  <a:gd name="T1" fmla="*/ 35 h 35"/>
                  <a:gd name="T2" fmla="*/ 351 w 351"/>
                  <a:gd name="T3" fmla="*/ 0 h 35"/>
                  <a:gd name="T4" fmla="*/ 351 w 351"/>
                  <a:gd name="T5" fmla="*/ 35 h 35"/>
                  <a:gd name="T6" fmla="*/ 0 w 351"/>
                  <a:gd name="T7" fmla="*/ 35 h 35"/>
                </a:gdLst>
                <a:ahLst/>
                <a:cxnLst>
                  <a:cxn ang="0">
                    <a:pos x="T0" y="T1"/>
                  </a:cxn>
                  <a:cxn ang="0">
                    <a:pos x="T2" y="T3"/>
                  </a:cxn>
                  <a:cxn ang="0">
                    <a:pos x="T4" y="T5"/>
                  </a:cxn>
                  <a:cxn ang="0">
                    <a:pos x="T6" y="T7"/>
                  </a:cxn>
                </a:cxnLst>
                <a:rect l="0" t="0" r="r" b="b"/>
                <a:pathLst>
                  <a:path w="351" h="35">
                    <a:moveTo>
                      <a:pt x="0" y="35"/>
                    </a:moveTo>
                    <a:lnTo>
                      <a:pt x="351" y="0"/>
                    </a:lnTo>
                    <a:lnTo>
                      <a:pt x="351" y="35"/>
                    </a:lnTo>
                    <a:lnTo>
                      <a:pt x="0" y="35"/>
                    </a:lnTo>
                    <a:close/>
                  </a:path>
                </a:pathLst>
              </a:custGeom>
              <a:solidFill>
                <a:srgbClr val="FF3300"/>
              </a:solidFill>
              <a:ln w="9525">
                <a:solidFill>
                  <a:srgbClr val="FF3300"/>
                </a:solidFill>
                <a:round/>
              </a:ln>
            </p:spPr>
            <p:txBody>
              <a:bodyPr/>
              <a:lstStyle/>
              <a:p>
                <a:endParaRPr lang="zh-CN" altLang="en-US"/>
              </a:p>
            </p:txBody>
          </p:sp>
          <p:sp>
            <p:nvSpPr>
              <p:cNvPr id="14648" name="Freeform 312"/>
              <p:cNvSpPr/>
              <p:nvPr/>
            </p:nvSpPr>
            <p:spPr bwMode="auto">
              <a:xfrm>
                <a:off x="4088" y="1702"/>
                <a:ext cx="4" cy="44"/>
              </a:xfrm>
              <a:custGeom>
                <a:avLst/>
                <a:gdLst>
                  <a:gd name="T0" fmla="*/ 0 w 1"/>
                  <a:gd name="T1" fmla="*/ 0 h 108"/>
                  <a:gd name="T2" fmla="*/ 0 w 1"/>
                  <a:gd name="T3" fmla="*/ 108 h 108"/>
                  <a:gd name="T4" fmla="*/ 1 w 1"/>
                  <a:gd name="T5" fmla="*/ 108 h 108"/>
                </a:gdLst>
                <a:ahLst/>
                <a:cxnLst>
                  <a:cxn ang="0">
                    <a:pos x="T0" y="T1"/>
                  </a:cxn>
                  <a:cxn ang="0">
                    <a:pos x="T2" y="T3"/>
                  </a:cxn>
                  <a:cxn ang="0">
                    <a:pos x="T4" y="T5"/>
                  </a:cxn>
                </a:cxnLst>
                <a:rect l="0" t="0" r="r" b="b"/>
                <a:pathLst>
                  <a:path w="1" h="108">
                    <a:moveTo>
                      <a:pt x="0" y="0"/>
                    </a:moveTo>
                    <a:lnTo>
                      <a:pt x="0" y="108"/>
                    </a:lnTo>
                    <a:lnTo>
                      <a:pt x="1" y="108"/>
                    </a:lnTo>
                  </a:path>
                </a:pathLst>
              </a:custGeom>
              <a:solidFill>
                <a:srgbClr val="FF3300"/>
              </a:solidFill>
              <a:ln w="12700" cmpd="sng">
                <a:solidFill>
                  <a:srgbClr val="FF3300"/>
                </a:solidFill>
                <a:prstDash val="solid"/>
                <a:round/>
              </a:ln>
            </p:spPr>
            <p:txBody>
              <a:bodyPr/>
              <a:lstStyle/>
              <a:p>
                <a:endParaRPr lang="zh-CN" altLang="en-US"/>
              </a:p>
            </p:txBody>
          </p:sp>
          <p:sp>
            <p:nvSpPr>
              <p:cNvPr id="14649" name="Rectangle 313"/>
              <p:cNvSpPr>
                <a:spLocks noChangeArrowheads="1"/>
              </p:cNvSpPr>
              <p:nvPr/>
            </p:nvSpPr>
            <p:spPr bwMode="auto">
              <a:xfrm>
                <a:off x="3978" y="148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rgbClr val="FF3300"/>
                    </a:solidFill>
                    <a:latin typeface="宋体" panose="02010600030101010101" pitchFamily="2" charset="-122"/>
                  </a:rPr>
                  <a:t>A</a:t>
                </a:r>
                <a:endParaRPr lang="en-US" altLang="zh-CN" sz="1200" b="1" i="1">
                  <a:solidFill>
                    <a:srgbClr val="FF3300"/>
                  </a:solidFill>
                </a:endParaRPr>
              </a:p>
            </p:txBody>
          </p:sp>
          <p:sp>
            <p:nvSpPr>
              <p:cNvPr id="14650" name="Rectangle 314"/>
              <p:cNvSpPr>
                <a:spLocks noChangeArrowheads="1"/>
              </p:cNvSpPr>
              <p:nvPr/>
            </p:nvSpPr>
            <p:spPr bwMode="auto">
              <a:xfrm>
                <a:off x="3944" y="1698"/>
                <a:ext cx="144" cy="16"/>
              </a:xfrm>
              <a:prstGeom prst="rect">
                <a:avLst/>
              </a:prstGeom>
              <a:solidFill>
                <a:srgbClr val="FF3300"/>
              </a:solidFill>
              <a:ln w="0">
                <a:solidFill>
                  <a:srgbClr val="FF3300"/>
                </a:solidFill>
                <a:miter lim="800000"/>
              </a:ln>
            </p:spPr>
            <p:txBody>
              <a:bodyPr/>
              <a:lstStyle/>
              <a:p>
                <a:endParaRPr lang="zh-CN" altLang="en-US"/>
              </a:p>
            </p:txBody>
          </p:sp>
          <p:sp>
            <p:nvSpPr>
              <p:cNvPr id="14651" name="Line 315"/>
              <p:cNvSpPr>
                <a:spLocks noChangeShapeType="1"/>
              </p:cNvSpPr>
              <p:nvPr/>
            </p:nvSpPr>
            <p:spPr bwMode="auto">
              <a:xfrm>
                <a:off x="4080" y="1704"/>
                <a:ext cx="0" cy="126"/>
              </a:xfrm>
              <a:prstGeom prst="line">
                <a:avLst/>
              </a:prstGeom>
              <a:noFill/>
              <a:ln w="9525">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696" name="Group 360"/>
          <p:cNvGrpSpPr/>
          <p:nvPr/>
        </p:nvGrpSpPr>
        <p:grpSpPr bwMode="auto">
          <a:xfrm>
            <a:off x="5165725" y="3400425"/>
            <a:ext cx="292100" cy="365125"/>
            <a:chOff x="3254" y="2142"/>
            <a:chExt cx="184" cy="230"/>
          </a:xfrm>
        </p:grpSpPr>
        <p:sp>
          <p:nvSpPr>
            <p:cNvPr id="14653" name="Rectangle 317"/>
            <p:cNvSpPr>
              <a:spLocks noChangeArrowheads="1"/>
            </p:cNvSpPr>
            <p:nvPr/>
          </p:nvSpPr>
          <p:spPr bwMode="auto">
            <a:xfrm>
              <a:off x="3254" y="2142"/>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chemeClr val="accent2"/>
                  </a:solidFill>
                  <a:latin typeface="宋体" panose="02010600030101010101" pitchFamily="2" charset="-122"/>
                </a:rPr>
                <a:t>B</a:t>
              </a:r>
              <a:endParaRPr lang="en-US" altLang="zh-CN" i="1"/>
            </a:p>
          </p:txBody>
        </p:sp>
        <p:sp>
          <p:nvSpPr>
            <p:cNvPr id="14654" name="Line 318"/>
            <p:cNvSpPr>
              <a:spLocks noChangeShapeType="1"/>
            </p:cNvSpPr>
            <p:nvPr/>
          </p:nvSpPr>
          <p:spPr bwMode="auto">
            <a:xfrm flipV="1">
              <a:off x="3438" y="2154"/>
              <a:ext cx="0" cy="192"/>
            </a:xfrm>
            <a:prstGeom prst="line">
              <a:avLst/>
            </a:prstGeom>
            <a:noFill/>
            <a:ln w="1905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655" name="Text Box 319">
            <a:hlinkClick r:id="rId3" action="ppaction://hlinksldjump"/>
          </p:cNvPr>
          <p:cNvSpPr txBox="1">
            <a:spLocks noChangeArrowheads="1"/>
          </p:cNvSpPr>
          <p:nvPr/>
        </p:nvSpPr>
        <p:spPr bwMode="auto">
          <a:xfrm>
            <a:off x="7680325" y="5888038"/>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u="sng">
                <a:solidFill>
                  <a:srgbClr val="0000FF"/>
                </a:solidFill>
              </a:rPr>
              <a:t>支架</a:t>
            </a:r>
            <a:endParaRPr lang="zh-CN" altLang="en-US" u="sng">
              <a:solidFill>
                <a:srgbClr val="0000FF"/>
              </a:solidFill>
            </a:endParaRPr>
          </a:p>
        </p:txBody>
      </p:sp>
      <p:sp>
        <p:nvSpPr>
          <p:cNvPr id="14656" name="Text Box 320"/>
          <p:cNvSpPr txBox="1">
            <a:spLocks noChangeArrowheads="1"/>
          </p:cNvSpPr>
          <p:nvPr/>
        </p:nvSpPr>
        <p:spPr bwMode="auto">
          <a:xfrm>
            <a:off x="736600" y="630238"/>
            <a:ext cx="3175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t>逐个检查主体结构</a:t>
            </a:r>
            <a:endParaRPr lang="zh-CN" altLang="en-US" sz="2800" b="1"/>
          </a:p>
        </p:txBody>
      </p:sp>
      <p:sp>
        <p:nvSpPr>
          <p:cNvPr id="14351" name="Text Box 15"/>
          <p:cNvSpPr txBox="1">
            <a:spLocks noChangeArrowheads="1"/>
          </p:cNvSpPr>
          <p:nvPr/>
        </p:nvSpPr>
        <p:spPr bwMode="auto">
          <a:xfrm>
            <a:off x="422275" y="1279525"/>
            <a:ext cx="3200400" cy="1704975"/>
          </a:xfrm>
          <a:prstGeom prst="rect">
            <a:avLst/>
          </a:prstGeom>
          <a:noFill/>
          <a:ln w="76200">
            <a:pattFill prst="dkDnDiag">
              <a:fgClr>
                <a:srgbClr val="00CC00"/>
              </a:fgClr>
              <a:bgClr>
                <a:schemeClr val="bg1"/>
              </a:bgClr>
            </a:pattFill>
            <a:miter lim="800000"/>
          </a:ln>
          <a:extLst>
            <a:ext uri="{909E8E84-426E-40DD-AFC4-6F175D3DCCD1}">
              <a14:hiddenFill xmlns:a14="http://schemas.microsoft.com/office/drawing/2010/main">
                <a:pattFill prst="dotDmnd">
                  <a:fgClr>
                    <a:schemeClr val="accent1"/>
                  </a:fgClr>
                  <a:bgClr>
                    <a:srgbClr val="FFFFFF"/>
                  </a:bgClr>
                </a:pattFill>
              </a14:hiddenFill>
            </a:ext>
          </a:extLst>
        </p:spPr>
        <p:txBody>
          <a:bodyPr>
            <a:spAutoFit/>
          </a:bodyPr>
          <a:lstStyle/>
          <a:p>
            <a:pPr eaLnBrk="0" hangingPunct="0">
              <a:lnSpc>
                <a:spcPct val="90000"/>
              </a:lnSpc>
            </a:pPr>
            <a:r>
              <a:rPr lang="zh-CN" altLang="en-US" sz="2800" b="1">
                <a:solidFill>
                  <a:srgbClr val="3333CC"/>
                </a:solidFill>
              </a:rPr>
              <a:t>圆筒</a:t>
            </a:r>
            <a:r>
              <a:rPr lang="en-US" altLang="zh-CN" sz="2800" b="1">
                <a:solidFill>
                  <a:srgbClr val="3333CC"/>
                </a:solidFill>
              </a:rPr>
              <a:t>:</a:t>
            </a:r>
            <a:r>
              <a:rPr lang="en-US" altLang="zh-CN" sz="2800" b="1">
                <a:solidFill>
                  <a:srgbClr val="FF3300"/>
                </a:solidFill>
              </a:rPr>
              <a:t> </a:t>
            </a:r>
            <a:r>
              <a:rPr lang="zh-CN" altLang="en-US" sz="2800" b="1"/>
              <a:t>选</a:t>
            </a:r>
            <a:r>
              <a:rPr lang="zh-CN" altLang="en-US" sz="2800" b="1">
                <a:solidFill>
                  <a:srgbClr val="FF3300"/>
                </a:solidFill>
              </a:rPr>
              <a:t>全剖的左视图</a:t>
            </a:r>
            <a:r>
              <a:rPr lang="zh-CN" altLang="en-US" sz="2800" b="1"/>
              <a:t>表达其阶梯孔形状，附带表达两侧支撑板形状等。</a:t>
            </a:r>
            <a:endParaRPr lang="zh-CN" altLang="en-US" sz="2800" b="1"/>
          </a:p>
        </p:txBody>
      </p:sp>
      <p:pic>
        <p:nvPicPr>
          <p:cNvPr id="14680" name="Picture 3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6713" y="4017963"/>
            <a:ext cx="2794000" cy="1670050"/>
          </a:xfrm>
          <a:prstGeom prst="rect">
            <a:avLst/>
          </a:prstGeom>
          <a:noFill/>
          <a:extLst>
            <a:ext uri="{909E8E84-426E-40DD-AFC4-6F175D3DCCD1}">
              <a14:hiddenFill xmlns:a14="http://schemas.microsoft.com/office/drawing/2010/main">
                <a:solidFill>
                  <a:srgbClr val="FFFFFF"/>
                </a:solidFill>
              </a14:hiddenFill>
            </a:ext>
          </a:extLst>
        </p:spPr>
      </p:pic>
      <p:pic>
        <p:nvPicPr>
          <p:cNvPr id="14681" name="Picture 3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3600" y="4149725"/>
            <a:ext cx="1520825" cy="101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nodeType="clickEffect">
                                  <p:stCondLst>
                                    <p:cond delay="0"/>
                                  </p:stCondLst>
                                  <p:childTnLst>
                                    <p:set>
                                      <p:cBhvr>
                                        <p:cTn id="6" dur="1" fill="hold">
                                          <p:stCondLst>
                                            <p:cond delay="0"/>
                                          </p:stCondLst>
                                        </p:cTn>
                                        <p:tgtEl>
                                          <p:spTgt spid="14342"/>
                                        </p:tgtEl>
                                        <p:attrNameLst>
                                          <p:attrName>style.visibility</p:attrName>
                                        </p:attrNameLst>
                                      </p:cBhvr>
                                      <p:to>
                                        <p:strVal val="visible"/>
                                      </p:to>
                                    </p:set>
                                    <p:anim calcmode="lin" valueType="num">
                                      <p:cBhvr>
                                        <p:cTn id="7" dur="5000" fill="hold"/>
                                        <p:tgtEl>
                                          <p:spTgt spid="14342"/>
                                        </p:tgtEl>
                                        <p:attrNameLst>
                                          <p:attrName>ppt_w</p:attrName>
                                        </p:attrNameLst>
                                      </p:cBhvr>
                                      <p:tavLst>
                                        <p:tav tm="0" fmla="#ppt_w*sin(2.5*pi*$)">
                                          <p:val>
                                            <p:fltVal val="0"/>
                                          </p:val>
                                        </p:tav>
                                        <p:tav tm="100000">
                                          <p:val>
                                            <p:fltVal val="1"/>
                                          </p:val>
                                        </p:tav>
                                      </p:tavLst>
                                    </p:anim>
                                    <p:anim calcmode="lin" valueType="num">
                                      <p:cBhvr>
                                        <p:cTn id="8" dur="5000" fill="hold"/>
                                        <p:tgtEl>
                                          <p:spTgt spid="14342"/>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4342"/>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14350"/>
                                        </p:tgtEl>
                                        <p:attrNameLst>
                                          <p:attrName>style.visibility</p:attrName>
                                        </p:attrNameLst>
                                      </p:cBhvr>
                                      <p:to>
                                        <p:strVal val="visible"/>
                                      </p:to>
                                    </p:set>
                                  </p:childTnLst>
                                </p:cTn>
                              </p:par>
                            </p:childTnLst>
                          </p:cTn>
                        </p:par>
                        <p:par>
                          <p:cTn id="13" fill="hold">
                            <p:stCondLst>
                              <p:cond delay="500"/>
                            </p:stCondLst>
                            <p:childTnLst>
                              <p:par>
                                <p:cTn id="14" presetID="18" presetClass="entr" presetSubtype="12" fill="hold" grpId="0" nodeType="afterEffect">
                                  <p:stCondLst>
                                    <p:cond delay="0"/>
                                  </p:stCondLst>
                                  <p:childTnLst>
                                    <p:set>
                                      <p:cBhvr>
                                        <p:cTn id="15" dur="1" fill="hold">
                                          <p:stCondLst>
                                            <p:cond delay="0"/>
                                          </p:stCondLst>
                                        </p:cTn>
                                        <p:tgtEl>
                                          <p:spTgt spid="14351"/>
                                        </p:tgtEl>
                                        <p:attrNameLst>
                                          <p:attrName>style.visibility</p:attrName>
                                        </p:attrNameLst>
                                      </p:cBhvr>
                                      <p:to>
                                        <p:strVal val="visible"/>
                                      </p:to>
                                    </p:set>
                                    <p:animEffect transition="in" filter="strips(downLeft)">
                                      <p:cBhvr>
                                        <p:cTn id="16" dur="500"/>
                                        <p:tgtEl>
                                          <p:spTgt spid="1435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4678"/>
                                        </p:tgtEl>
                                        <p:attrNameLst>
                                          <p:attrName>style.visibility</p:attrName>
                                        </p:attrNameLst>
                                      </p:cBhvr>
                                      <p:to>
                                        <p:strVal val="visible"/>
                                      </p:to>
                                    </p:set>
                                    <p:animEffect transition="in" filter="wipe(left)">
                                      <p:cBhvr>
                                        <p:cTn id="21" dur="500"/>
                                        <p:tgtEl>
                                          <p:spTgt spid="14678"/>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grpId="0" nodeType="clickEffect">
                                  <p:stCondLst>
                                    <p:cond delay="0"/>
                                  </p:stCondLst>
                                  <p:childTnLst>
                                    <p:set>
                                      <p:cBhvr>
                                        <p:cTn id="25" dur="1" fill="hold">
                                          <p:stCondLst>
                                            <p:cond delay="0"/>
                                          </p:stCondLst>
                                        </p:cTn>
                                        <p:tgtEl>
                                          <p:spTgt spid="14352"/>
                                        </p:tgtEl>
                                        <p:attrNameLst>
                                          <p:attrName>style.visibility</p:attrName>
                                        </p:attrNameLst>
                                      </p:cBhvr>
                                      <p:to>
                                        <p:strVal val="visible"/>
                                      </p:to>
                                    </p:set>
                                    <p:animEffect transition="in" filter="strips(upRight)">
                                      <p:cBhvr>
                                        <p:cTn id="26" dur="500"/>
                                        <p:tgtEl>
                                          <p:spTgt spid="14352"/>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696"/>
                                        </p:tgtEl>
                                        <p:attrNameLst>
                                          <p:attrName>style.visibility</p:attrName>
                                        </p:attrNameLst>
                                      </p:cBhvr>
                                      <p:to>
                                        <p:strVal val="visible"/>
                                      </p:to>
                                    </p:set>
                                    <p:anim calcmode="lin" valueType="num">
                                      <p:cBhvr additive="base">
                                        <p:cTn id="31" dur="500" fill="hold"/>
                                        <p:tgtEl>
                                          <p:spTgt spid="14696"/>
                                        </p:tgtEl>
                                        <p:attrNameLst>
                                          <p:attrName>ppt_x</p:attrName>
                                        </p:attrNameLst>
                                      </p:cBhvr>
                                      <p:tavLst>
                                        <p:tav tm="0">
                                          <p:val>
                                            <p:strVal val="#ppt_x"/>
                                          </p:val>
                                        </p:tav>
                                        <p:tav tm="100000">
                                          <p:val>
                                            <p:strVal val="#ppt_x"/>
                                          </p:val>
                                        </p:tav>
                                      </p:tavLst>
                                    </p:anim>
                                    <p:anim calcmode="lin" valueType="num">
                                      <p:cBhvr additive="base">
                                        <p:cTn id="32" dur="500" fill="hold"/>
                                        <p:tgtEl>
                                          <p:spTgt spid="1469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4680"/>
                                        </p:tgtEl>
                                        <p:attrNameLst>
                                          <p:attrName>style.visibility</p:attrName>
                                        </p:attrNameLst>
                                      </p:cBhvr>
                                      <p:to>
                                        <p:strVal val="visible"/>
                                      </p:to>
                                    </p:set>
                                    <p:animEffect transition="in" filter="wipe(down)">
                                      <p:cBhvr>
                                        <p:cTn id="37" dur="500"/>
                                        <p:tgtEl>
                                          <p:spTgt spid="14680"/>
                                        </p:tgtEl>
                                      </p:cBhvr>
                                    </p:animEffect>
                                  </p:childTnLst>
                                </p:cTn>
                              </p:par>
                            </p:childTnLst>
                          </p:cTn>
                        </p:par>
                        <p:par>
                          <p:cTn id="38" fill="hold">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14449"/>
                                        </p:tgtEl>
                                        <p:attrNameLst>
                                          <p:attrName>style.visibility</p:attrName>
                                        </p:attrNameLst>
                                      </p:cBhvr>
                                      <p:to>
                                        <p:strVal val="visible"/>
                                      </p:to>
                                    </p:set>
                                    <p:animEffect transition="in" filter="wipe(down)">
                                      <p:cBhvr>
                                        <p:cTn id="41" dur="500"/>
                                        <p:tgtEl>
                                          <p:spTgt spid="14449"/>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14340"/>
                                        </p:tgtEl>
                                        <p:attrNameLst>
                                          <p:attrName>style.visibility</p:attrName>
                                        </p:attrNameLst>
                                      </p:cBhvr>
                                      <p:to>
                                        <p:strVal val="visible"/>
                                      </p:to>
                                    </p:set>
                                    <p:animEffect transition="in" filter="strips(downRight)">
                                      <p:cBhvr>
                                        <p:cTn id="46" dur="500"/>
                                        <p:tgtEl>
                                          <p:spTgt spid="1434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4637"/>
                                        </p:tgtEl>
                                        <p:attrNameLst>
                                          <p:attrName>style.visibility</p:attrName>
                                        </p:attrNameLst>
                                      </p:cBhvr>
                                      <p:to>
                                        <p:strVal val="visible"/>
                                      </p:to>
                                    </p:set>
                                    <p:animEffect transition="in" filter="wipe(up)">
                                      <p:cBhvr>
                                        <p:cTn id="51" dur="500"/>
                                        <p:tgtEl>
                                          <p:spTgt spid="14637"/>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nodeType="clickEffect">
                                  <p:stCondLst>
                                    <p:cond delay="0"/>
                                  </p:stCondLst>
                                  <p:childTnLst>
                                    <p:set>
                                      <p:cBhvr>
                                        <p:cTn id="55" dur="1" fill="hold">
                                          <p:stCondLst>
                                            <p:cond delay="0"/>
                                          </p:stCondLst>
                                        </p:cTn>
                                        <p:tgtEl>
                                          <p:spTgt spid="14681"/>
                                        </p:tgtEl>
                                        <p:attrNameLst>
                                          <p:attrName>style.visibility</p:attrName>
                                        </p:attrNameLst>
                                      </p:cBhvr>
                                      <p:to>
                                        <p:strVal val="visible"/>
                                      </p:to>
                                    </p:set>
                                    <p:anim calcmode="lin" valueType="num">
                                      <p:cBhvr additive="base">
                                        <p:cTn id="56" dur="500" fill="hold"/>
                                        <p:tgtEl>
                                          <p:spTgt spid="14681"/>
                                        </p:tgtEl>
                                        <p:attrNameLst>
                                          <p:attrName>ppt_x</p:attrName>
                                        </p:attrNameLst>
                                      </p:cBhvr>
                                      <p:tavLst>
                                        <p:tav tm="0">
                                          <p:val>
                                            <p:strVal val="1+#ppt_w/2"/>
                                          </p:val>
                                        </p:tav>
                                        <p:tav tm="100000">
                                          <p:val>
                                            <p:strVal val="#ppt_x"/>
                                          </p:val>
                                        </p:tav>
                                      </p:tavLst>
                                    </p:anim>
                                    <p:anim calcmode="lin" valueType="num">
                                      <p:cBhvr additive="base">
                                        <p:cTn id="57" dur="500" fill="hold"/>
                                        <p:tgtEl>
                                          <p:spTgt spid="14681"/>
                                        </p:tgtEl>
                                        <p:attrNameLst>
                                          <p:attrName>ppt_y</p:attrName>
                                        </p:attrNameLst>
                                      </p:cBhvr>
                                      <p:tavLst>
                                        <p:tav tm="0">
                                          <p:val>
                                            <p:strVal val="#ppt_y"/>
                                          </p:val>
                                        </p:tav>
                                        <p:tav tm="100000">
                                          <p:val>
                                            <p:strVal val="#ppt_y"/>
                                          </p:val>
                                        </p:tav>
                                      </p:tavLst>
                                    </p:anim>
                                  </p:childTnLst>
                                </p:cTn>
                              </p:par>
                            </p:childTnLst>
                          </p:cTn>
                        </p:par>
                        <p:par>
                          <p:cTn id="58" fill="hold">
                            <p:stCondLst>
                              <p:cond delay="500"/>
                            </p:stCondLst>
                            <p:childTnLst>
                              <p:par>
                                <p:cTn id="59" presetID="12" presetClass="entr" presetSubtype="1" fill="hold" grpId="0" nodeType="afterEffect">
                                  <p:stCondLst>
                                    <p:cond delay="0"/>
                                  </p:stCondLst>
                                  <p:childTnLst>
                                    <p:set>
                                      <p:cBhvr>
                                        <p:cTn id="60" dur="1" fill="hold">
                                          <p:stCondLst>
                                            <p:cond delay="0"/>
                                          </p:stCondLst>
                                        </p:cTn>
                                        <p:tgtEl>
                                          <p:spTgt spid="14450"/>
                                        </p:tgtEl>
                                        <p:attrNameLst>
                                          <p:attrName>style.visibility</p:attrName>
                                        </p:attrNameLst>
                                      </p:cBhvr>
                                      <p:to>
                                        <p:strVal val="visible"/>
                                      </p:to>
                                    </p:set>
                                    <p:animEffect transition="in" filter="slide(fromTop)">
                                      <p:cBhvr>
                                        <p:cTn id="61" dur="500"/>
                                        <p:tgtEl>
                                          <p:spTgt spid="1445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4339"/>
                                        </p:tgtEl>
                                        <p:attrNameLst>
                                          <p:attrName>style.visibility</p:attrName>
                                        </p:attrNameLst>
                                      </p:cBhvr>
                                      <p:to>
                                        <p:strVal val="visible"/>
                                      </p:to>
                                    </p:set>
                                    <p:animEffect transition="in" filter="wipe(down)">
                                      <p:cBhvr>
                                        <p:cTn id="66" dur="500"/>
                                        <p:tgtEl>
                                          <p:spTgt spid="14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nimBg="1" autoUpdateAnimBg="0"/>
      <p:bldP spid="14340" grpId="0" animBg="1" autoUpdateAnimBg="0"/>
      <p:bldP spid="14352" grpId="0" animBg="1" autoUpdateAnimBg="0"/>
      <p:bldP spid="14449" grpId="0" autoUpdateAnimBg="0"/>
      <p:bldP spid="14450" grpId="0" autoUpdateAnimBg="0"/>
      <p:bldP spid="14351"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693" name="Group 333"/>
          <p:cNvGrpSpPr/>
          <p:nvPr/>
        </p:nvGrpSpPr>
        <p:grpSpPr bwMode="auto">
          <a:xfrm>
            <a:off x="4010025" y="714375"/>
            <a:ext cx="2752725" cy="2828925"/>
            <a:chOff x="582" y="1674"/>
            <a:chExt cx="1734" cy="1782"/>
          </a:xfrm>
        </p:grpSpPr>
        <p:grpSp>
          <p:nvGrpSpPr>
            <p:cNvPr id="15694" name="Group 334"/>
            <p:cNvGrpSpPr/>
            <p:nvPr/>
          </p:nvGrpSpPr>
          <p:grpSpPr bwMode="auto">
            <a:xfrm>
              <a:off x="582" y="1674"/>
              <a:ext cx="1734" cy="1782"/>
              <a:chOff x="2524" y="450"/>
              <a:chExt cx="1734" cy="1782"/>
            </a:xfrm>
          </p:grpSpPr>
          <p:pic>
            <p:nvPicPr>
              <p:cNvPr id="15695" name="Picture 33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4" y="450"/>
                <a:ext cx="1734" cy="1782"/>
              </a:xfrm>
              <a:prstGeom prst="rect">
                <a:avLst/>
              </a:prstGeom>
              <a:noFill/>
              <a:extLst>
                <a:ext uri="{909E8E84-426E-40DD-AFC4-6F175D3DCCD1}">
                  <a14:hiddenFill xmlns:a14="http://schemas.microsoft.com/office/drawing/2010/main">
                    <a:solidFill>
                      <a:srgbClr val="FFFFFF"/>
                    </a:solidFill>
                  </a14:hiddenFill>
                </a:ext>
              </a:extLst>
            </p:spPr>
          </p:pic>
          <p:sp>
            <p:nvSpPr>
              <p:cNvPr id="15696" name="Rectangle 336"/>
              <p:cNvSpPr>
                <a:spLocks noChangeArrowheads="1"/>
              </p:cNvSpPr>
              <p:nvPr/>
            </p:nvSpPr>
            <p:spPr bwMode="auto">
              <a:xfrm>
                <a:off x="2719" y="1634"/>
                <a:ext cx="139"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7" name="Rectangle 337"/>
              <p:cNvSpPr>
                <a:spLocks noChangeArrowheads="1"/>
              </p:cNvSpPr>
              <p:nvPr/>
            </p:nvSpPr>
            <p:spPr bwMode="auto">
              <a:xfrm>
                <a:off x="3905" y="1628"/>
                <a:ext cx="166" cy="1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698" name="Rectangle 338"/>
            <p:cNvSpPr>
              <a:spLocks noChangeArrowheads="1"/>
            </p:cNvSpPr>
            <p:nvPr/>
          </p:nvSpPr>
          <p:spPr bwMode="auto">
            <a:xfrm>
              <a:off x="996" y="3180"/>
              <a:ext cx="180" cy="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699" name="Rectangle 339"/>
            <p:cNvSpPr>
              <a:spLocks noChangeArrowheads="1"/>
            </p:cNvSpPr>
            <p:nvPr/>
          </p:nvSpPr>
          <p:spPr bwMode="auto">
            <a:xfrm>
              <a:off x="1708" y="3180"/>
              <a:ext cx="180" cy="5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700" name="Line 340"/>
            <p:cNvSpPr>
              <a:spLocks noChangeShapeType="1"/>
            </p:cNvSpPr>
            <p:nvPr/>
          </p:nvSpPr>
          <p:spPr bwMode="auto">
            <a:xfrm>
              <a:off x="980" y="3172"/>
              <a:ext cx="91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66" name="Group 6"/>
          <p:cNvGrpSpPr/>
          <p:nvPr/>
        </p:nvGrpSpPr>
        <p:grpSpPr bwMode="auto">
          <a:xfrm>
            <a:off x="4335463" y="2435225"/>
            <a:ext cx="2097087" cy="511175"/>
            <a:chOff x="2857" y="130"/>
            <a:chExt cx="1321" cy="322"/>
          </a:xfrm>
        </p:grpSpPr>
        <p:sp>
          <p:nvSpPr>
            <p:cNvPr id="15367" name="Rectangle 7"/>
            <p:cNvSpPr>
              <a:spLocks noChangeArrowheads="1"/>
            </p:cNvSpPr>
            <p:nvPr/>
          </p:nvSpPr>
          <p:spPr bwMode="auto">
            <a:xfrm>
              <a:off x="2889" y="13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chemeClr val="accent2"/>
                  </a:solidFill>
                  <a:latin typeface="宋体" panose="02010600030101010101" pitchFamily="2" charset="-122"/>
                </a:rPr>
                <a:t>B</a:t>
              </a:r>
              <a:endParaRPr lang="en-US" altLang="zh-CN" sz="1200" b="1" i="1"/>
            </a:p>
          </p:txBody>
        </p:sp>
        <p:sp>
          <p:nvSpPr>
            <p:cNvPr id="15368" name="Rectangle 8"/>
            <p:cNvSpPr>
              <a:spLocks noChangeArrowheads="1"/>
            </p:cNvSpPr>
            <p:nvPr/>
          </p:nvSpPr>
          <p:spPr bwMode="auto">
            <a:xfrm>
              <a:off x="4056" y="13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chemeClr val="accent2"/>
                  </a:solidFill>
                  <a:latin typeface="宋体" panose="02010600030101010101" pitchFamily="2" charset="-122"/>
                </a:rPr>
                <a:t>B</a:t>
              </a:r>
              <a:endParaRPr lang="en-US" altLang="zh-CN" sz="1200" b="1" i="1"/>
            </a:p>
          </p:txBody>
        </p:sp>
        <p:grpSp>
          <p:nvGrpSpPr>
            <p:cNvPr id="15369" name="Group 9"/>
            <p:cNvGrpSpPr/>
            <p:nvPr/>
          </p:nvGrpSpPr>
          <p:grpSpPr bwMode="auto">
            <a:xfrm>
              <a:off x="2857" y="348"/>
              <a:ext cx="156" cy="104"/>
              <a:chOff x="2797" y="1692"/>
              <a:chExt cx="156" cy="104"/>
            </a:xfrm>
          </p:grpSpPr>
          <p:sp>
            <p:nvSpPr>
              <p:cNvPr id="15370" name="Freeform 10"/>
              <p:cNvSpPr/>
              <p:nvPr/>
            </p:nvSpPr>
            <p:spPr bwMode="auto">
              <a:xfrm>
                <a:off x="2807" y="1692"/>
                <a:ext cx="146" cy="16"/>
              </a:xfrm>
              <a:custGeom>
                <a:avLst/>
                <a:gdLst>
                  <a:gd name="T0" fmla="*/ 0 w 350"/>
                  <a:gd name="T1" fmla="*/ 0 h 35"/>
                  <a:gd name="T2" fmla="*/ 0 w 350"/>
                  <a:gd name="T3" fmla="*/ 35 h 35"/>
                  <a:gd name="T4" fmla="*/ 350 w 350"/>
                  <a:gd name="T5" fmla="*/ 0 h 35"/>
                  <a:gd name="T6" fmla="*/ 0 w 350"/>
                  <a:gd name="T7" fmla="*/ 0 h 35"/>
                </a:gdLst>
                <a:ahLst/>
                <a:cxnLst>
                  <a:cxn ang="0">
                    <a:pos x="T0" y="T1"/>
                  </a:cxn>
                  <a:cxn ang="0">
                    <a:pos x="T2" y="T3"/>
                  </a:cxn>
                  <a:cxn ang="0">
                    <a:pos x="T4" y="T5"/>
                  </a:cxn>
                  <a:cxn ang="0">
                    <a:pos x="T6" y="T7"/>
                  </a:cxn>
                </a:cxnLst>
                <a:rect l="0" t="0" r="r" b="b"/>
                <a:pathLst>
                  <a:path w="350" h="35">
                    <a:moveTo>
                      <a:pt x="0" y="0"/>
                    </a:moveTo>
                    <a:lnTo>
                      <a:pt x="0" y="35"/>
                    </a:lnTo>
                    <a:lnTo>
                      <a:pt x="350" y="0"/>
                    </a:lnTo>
                    <a:lnTo>
                      <a:pt x="0" y="0"/>
                    </a:lnTo>
                    <a:close/>
                  </a:path>
                </a:pathLst>
              </a:custGeom>
              <a:solidFill>
                <a:srgbClr val="000000"/>
              </a:solidFill>
              <a:ln w="9525">
                <a:solidFill>
                  <a:schemeClr val="tx1"/>
                </a:solidFill>
                <a:round/>
              </a:ln>
            </p:spPr>
            <p:txBody>
              <a:bodyPr/>
              <a:lstStyle/>
              <a:p>
                <a:endParaRPr lang="zh-CN" altLang="en-US"/>
              </a:p>
            </p:txBody>
          </p:sp>
          <p:sp>
            <p:nvSpPr>
              <p:cNvPr id="15371" name="Freeform 11"/>
              <p:cNvSpPr/>
              <p:nvPr/>
            </p:nvSpPr>
            <p:spPr bwMode="auto">
              <a:xfrm>
                <a:off x="2807" y="1692"/>
                <a:ext cx="146" cy="16"/>
              </a:xfrm>
              <a:custGeom>
                <a:avLst/>
                <a:gdLst>
                  <a:gd name="T0" fmla="*/ 0 w 350"/>
                  <a:gd name="T1" fmla="*/ 35 h 35"/>
                  <a:gd name="T2" fmla="*/ 350 w 350"/>
                  <a:gd name="T3" fmla="*/ 0 h 35"/>
                  <a:gd name="T4" fmla="*/ 350 w 350"/>
                  <a:gd name="T5" fmla="*/ 35 h 35"/>
                  <a:gd name="T6" fmla="*/ 0 w 350"/>
                  <a:gd name="T7" fmla="*/ 35 h 35"/>
                </a:gdLst>
                <a:ahLst/>
                <a:cxnLst>
                  <a:cxn ang="0">
                    <a:pos x="T0" y="T1"/>
                  </a:cxn>
                  <a:cxn ang="0">
                    <a:pos x="T2" y="T3"/>
                  </a:cxn>
                  <a:cxn ang="0">
                    <a:pos x="T4" y="T5"/>
                  </a:cxn>
                  <a:cxn ang="0">
                    <a:pos x="T6" y="T7"/>
                  </a:cxn>
                </a:cxnLst>
                <a:rect l="0" t="0" r="r" b="b"/>
                <a:pathLst>
                  <a:path w="350" h="35">
                    <a:moveTo>
                      <a:pt x="0" y="35"/>
                    </a:moveTo>
                    <a:lnTo>
                      <a:pt x="350" y="0"/>
                    </a:lnTo>
                    <a:lnTo>
                      <a:pt x="350" y="35"/>
                    </a:lnTo>
                    <a:lnTo>
                      <a:pt x="0" y="35"/>
                    </a:lnTo>
                    <a:close/>
                  </a:path>
                </a:pathLst>
              </a:custGeom>
              <a:solidFill>
                <a:srgbClr val="000000"/>
              </a:solidFill>
              <a:ln w="9525">
                <a:solidFill>
                  <a:schemeClr val="tx1"/>
                </a:solidFill>
                <a:round/>
              </a:ln>
            </p:spPr>
            <p:txBody>
              <a:bodyPr/>
              <a:lstStyle/>
              <a:p>
                <a:endParaRPr lang="zh-CN" altLang="en-US"/>
              </a:p>
            </p:txBody>
          </p:sp>
          <p:sp>
            <p:nvSpPr>
              <p:cNvPr id="15372" name="Rectangle 12"/>
              <p:cNvSpPr>
                <a:spLocks noChangeArrowheads="1"/>
              </p:cNvSpPr>
              <p:nvPr/>
            </p:nvSpPr>
            <p:spPr bwMode="auto">
              <a:xfrm>
                <a:off x="2807" y="1692"/>
                <a:ext cx="146" cy="16"/>
              </a:xfrm>
              <a:prstGeom prst="rect">
                <a:avLst/>
              </a:prstGeom>
              <a:noFill/>
              <a:ln w="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73" name="Freeform 13"/>
              <p:cNvSpPr/>
              <p:nvPr/>
            </p:nvSpPr>
            <p:spPr bwMode="auto">
              <a:xfrm>
                <a:off x="2804" y="1696"/>
                <a:ext cx="3" cy="44"/>
              </a:xfrm>
              <a:custGeom>
                <a:avLst/>
                <a:gdLst>
                  <a:gd name="T0" fmla="*/ 0 w 1"/>
                  <a:gd name="T1" fmla="*/ 0 h 108"/>
                  <a:gd name="T2" fmla="*/ 0 w 1"/>
                  <a:gd name="T3" fmla="*/ 108 h 108"/>
                  <a:gd name="T4" fmla="*/ 1 w 1"/>
                  <a:gd name="T5" fmla="*/ 108 h 108"/>
                </a:gdLst>
                <a:ahLst/>
                <a:cxnLst>
                  <a:cxn ang="0">
                    <a:pos x="T0" y="T1"/>
                  </a:cxn>
                  <a:cxn ang="0">
                    <a:pos x="T2" y="T3"/>
                  </a:cxn>
                  <a:cxn ang="0">
                    <a:pos x="T4" y="T5"/>
                  </a:cxn>
                </a:cxnLst>
                <a:rect l="0" t="0" r="r" b="b"/>
                <a:pathLst>
                  <a:path w="1" h="108">
                    <a:moveTo>
                      <a:pt x="0" y="0"/>
                    </a:moveTo>
                    <a:lnTo>
                      <a:pt x="0" y="108"/>
                    </a:lnTo>
                    <a:lnTo>
                      <a:pt x="1" y="108"/>
                    </a:lnTo>
                  </a:path>
                </a:pathLst>
              </a:custGeom>
              <a:noFill/>
              <a:ln w="127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74" name="Freeform 14"/>
              <p:cNvSpPr/>
              <p:nvPr/>
            </p:nvSpPr>
            <p:spPr bwMode="auto">
              <a:xfrm>
                <a:off x="2797" y="1740"/>
                <a:ext cx="19" cy="56"/>
              </a:xfrm>
              <a:custGeom>
                <a:avLst/>
                <a:gdLst>
                  <a:gd name="T0" fmla="*/ 47 w 47"/>
                  <a:gd name="T1" fmla="*/ 0 h 139"/>
                  <a:gd name="T2" fmla="*/ 24 w 47"/>
                  <a:gd name="T3" fmla="*/ 139 h 139"/>
                  <a:gd name="T4" fmla="*/ 0 w 47"/>
                  <a:gd name="T5" fmla="*/ 0 h 139"/>
                  <a:gd name="T6" fmla="*/ 47 w 47"/>
                  <a:gd name="T7" fmla="*/ 0 h 139"/>
                </a:gdLst>
                <a:ahLst/>
                <a:cxnLst>
                  <a:cxn ang="0">
                    <a:pos x="T0" y="T1"/>
                  </a:cxn>
                  <a:cxn ang="0">
                    <a:pos x="T2" y="T3"/>
                  </a:cxn>
                  <a:cxn ang="0">
                    <a:pos x="T4" y="T5"/>
                  </a:cxn>
                  <a:cxn ang="0">
                    <a:pos x="T6" y="T7"/>
                  </a:cxn>
                </a:cxnLst>
                <a:rect l="0" t="0" r="r" b="b"/>
                <a:pathLst>
                  <a:path w="47" h="139">
                    <a:moveTo>
                      <a:pt x="47" y="0"/>
                    </a:moveTo>
                    <a:lnTo>
                      <a:pt x="24" y="139"/>
                    </a:lnTo>
                    <a:lnTo>
                      <a:pt x="0" y="0"/>
                    </a:lnTo>
                    <a:lnTo>
                      <a:pt x="47" y="0"/>
                    </a:lnTo>
                    <a:close/>
                  </a:path>
                </a:pathLst>
              </a:custGeom>
              <a:solidFill>
                <a:srgbClr val="000000"/>
              </a:solidFill>
              <a:ln w="9525">
                <a:solidFill>
                  <a:schemeClr val="tx1"/>
                </a:solidFill>
                <a:round/>
              </a:ln>
            </p:spPr>
            <p:txBody>
              <a:bodyPr/>
              <a:lstStyle/>
              <a:p>
                <a:endParaRPr lang="zh-CN" altLang="en-US"/>
              </a:p>
            </p:txBody>
          </p:sp>
          <p:sp>
            <p:nvSpPr>
              <p:cNvPr id="15375" name="Freeform 15"/>
              <p:cNvSpPr/>
              <p:nvPr/>
            </p:nvSpPr>
            <p:spPr bwMode="auto">
              <a:xfrm>
                <a:off x="2797" y="1740"/>
                <a:ext cx="19" cy="56"/>
              </a:xfrm>
              <a:custGeom>
                <a:avLst/>
                <a:gdLst>
                  <a:gd name="T0" fmla="*/ 47 w 47"/>
                  <a:gd name="T1" fmla="*/ 0 h 139"/>
                  <a:gd name="T2" fmla="*/ 24 w 47"/>
                  <a:gd name="T3" fmla="*/ 139 h 139"/>
                  <a:gd name="T4" fmla="*/ 0 w 47"/>
                  <a:gd name="T5" fmla="*/ 0 h 139"/>
                  <a:gd name="T6" fmla="*/ 47 w 47"/>
                  <a:gd name="T7" fmla="*/ 0 h 139"/>
                </a:gdLst>
                <a:ahLst/>
                <a:cxnLst>
                  <a:cxn ang="0">
                    <a:pos x="T0" y="T1"/>
                  </a:cxn>
                  <a:cxn ang="0">
                    <a:pos x="T2" y="T3"/>
                  </a:cxn>
                  <a:cxn ang="0">
                    <a:pos x="T4" y="T5"/>
                  </a:cxn>
                  <a:cxn ang="0">
                    <a:pos x="T6" y="T7"/>
                  </a:cxn>
                </a:cxnLst>
                <a:rect l="0" t="0" r="r" b="b"/>
                <a:pathLst>
                  <a:path w="47" h="139">
                    <a:moveTo>
                      <a:pt x="47" y="0"/>
                    </a:moveTo>
                    <a:lnTo>
                      <a:pt x="24" y="139"/>
                    </a:lnTo>
                    <a:lnTo>
                      <a:pt x="0" y="0"/>
                    </a:lnTo>
                    <a:lnTo>
                      <a:pt x="47" y="0"/>
                    </a:lnTo>
                  </a:path>
                </a:pathLst>
              </a:custGeom>
              <a:noFill/>
              <a:ln w="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5376" name="Group 16"/>
            <p:cNvGrpSpPr/>
            <p:nvPr/>
          </p:nvGrpSpPr>
          <p:grpSpPr bwMode="auto">
            <a:xfrm>
              <a:off x="4022" y="348"/>
              <a:ext cx="156" cy="104"/>
              <a:chOff x="3962" y="1692"/>
              <a:chExt cx="156" cy="104"/>
            </a:xfrm>
          </p:grpSpPr>
          <p:sp>
            <p:nvSpPr>
              <p:cNvPr id="15377" name="Freeform 17"/>
              <p:cNvSpPr/>
              <p:nvPr/>
            </p:nvSpPr>
            <p:spPr bwMode="auto">
              <a:xfrm>
                <a:off x="3962" y="1692"/>
                <a:ext cx="144" cy="16"/>
              </a:xfrm>
              <a:custGeom>
                <a:avLst/>
                <a:gdLst>
                  <a:gd name="T0" fmla="*/ 0 w 351"/>
                  <a:gd name="T1" fmla="*/ 0 h 35"/>
                  <a:gd name="T2" fmla="*/ 0 w 351"/>
                  <a:gd name="T3" fmla="*/ 35 h 35"/>
                  <a:gd name="T4" fmla="*/ 351 w 351"/>
                  <a:gd name="T5" fmla="*/ 0 h 35"/>
                  <a:gd name="T6" fmla="*/ 0 w 351"/>
                  <a:gd name="T7" fmla="*/ 0 h 35"/>
                </a:gdLst>
                <a:ahLst/>
                <a:cxnLst>
                  <a:cxn ang="0">
                    <a:pos x="T0" y="T1"/>
                  </a:cxn>
                  <a:cxn ang="0">
                    <a:pos x="T2" y="T3"/>
                  </a:cxn>
                  <a:cxn ang="0">
                    <a:pos x="T4" y="T5"/>
                  </a:cxn>
                  <a:cxn ang="0">
                    <a:pos x="T6" y="T7"/>
                  </a:cxn>
                </a:cxnLst>
                <a:rect l="0" t="0" r="r" b="b"/>
                <a:pathLst>
                  <a:path w="351" h="35">
                    <a:moveTo>
                      <a:pt x="0" y="0"/>
                    </a:moveTo>
                    <a:lnTo>
                      <a:pt x="0" y="35"/>
                    </a:lnTo>
                    <a:lnTo>
                      <a:pt x="351" y="0"/>
                    </a:lnTo>
                    <a:lnTo>
                      <a:pt x="0" y="0"/>
                    </a:lnTo>
                    <a:close/>
                  </a:path>
                </a:pathLst>
              </a:custGeom>
              <a:solidFill>
                <a:srgbClr val="000000"/>
              </a:solidFill>
              <a:ln w="9525">
                <a:solidFill>
                  <a:schemeClr val="tx1"/>
                </a:solidFill>
                <a:round/>
              </a:ln>
            </p:spPr>
            <p:txBody>
              <a:bodyPr/>
              <a:lstStyle/>
              <a:p>
                <a:endParaRPr lang="zh-CN" altLang="en-US"/>
              </a:p>
            </p:txBody>
          </p:sp>
          <p:sp>
            <p:nvSpPr>
              <p:cNvPr id="15378" name="Freeform 18"/>
              <p:cNvSpPr/>
              <p:nvPr/>
            </p:nvSpPr>
            <p:spPr bwMode="auto">
              <a:xfrm>
                <a:off x="3962" y="1692"/>
                <a:ext cx="144" cy="16"/>
              </a:xfrm>
              <a:custGeom>
                <a:avLst/>
                <a:gdLst>
                  <a:gd name="T0" fmla="*/ 0 w 351"/>
                  <a:gd name="T1" fmla="*/ 35 h 35"/>
                  <a:gd name="T2" fmla="*/ 351 w 351"/>
                  <a:gd name="T3" fmla="*/ 0 h 35"/>
                  <a:gd name="T4" fmla="*/ 351 w 351"/>
                  <a:gd name="T5" fmla="*/ 35 h 35"/>
                  <a:gd name="T6" fmla="*/ 0 w 351"/>
                  <a:gd name="T7" fmla="*/ 35 h 35"/>
                </a:gdLst>
                <a:ahLst/>
                <a:cxnLst>
                  <a:cxn ang="0">
                    <a:pos x="T0" y="T1"/>
                  </a:cxn>
                  <a:cxn ang="0">
                    <a:pos x="T2" y="T3"/>
                  </a:cxn>
                  <a:cxn ang="0">
                    <a:pos x="T4" y="T5"/>
                  </a:cxn>
                  <a:cxn ang="0">
                    <a:pos x="T6" y="T7"/>
                  </a:cxn>
                </a:cxnLst>
                <a:rect l="0" t="0" r="r" b="b"/>
                <a:pathLst>
                  <a:path w="351" h="35">
                    <a:moveTo>
                      <a:pt x="0" y="35"/>
                    </a:moveTo>
                    <a:lnTo>
                      <a:pt x="351" y="0"/>
                    </a:lnTo>
                    <a:lnTo>
                      <a:pt x="351" y="35"/>
                    </a:lnTo>
                    <a:lnTo>
                      <a:pt x="0" y="35"/>
                    </a:lnTo>
                    <a:close/>
                  </a:path>
                </a:pathLst>
              </a:custGeom>
              <a:solidFill>
                <a:srgbClr val="000000"/>
              </a:solidFill>
              <a:ln w="9525">
                <a:solidFill>
                  <a:schemeClr val="tx1"/>
                </a:solidFill>
                <a:round/>
              </a:ln>
            </p:spPr>
            <p:txBody>
              <a:bodyPr/>
              <a:lstStyle/>
              <a:p>
                <a:endParaRPr lang="zh-CN" altLang="en-US"/>
              </a:p>
            </p:txBody>
          </p:sp>
          <p:sp>
            <p:nvSpPr>
              <p:cNvPr id="15379" name="Rectangle 19"/>
              <p:cNvSpPr>
                <a:spLocks noChangeArrowheads="1"/>
              </p:cNvSpPr>
              <p:nvPr/>
            </p:nvSpPr>
            <p:spPr bwMode="auto">
              <a:xfrm>
                <a:off x="3962" y="1692"/>
                <a:ext cx="144" cy="16"/>
              </a:xfrm>
              <a:prstGeom prst="rect">
                <a:avLst/>
              </a:prstGeom>
              <a:noFill/>
              <a:ln w="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80" name="Freeform 20"/>
              <p:cNvSpPr/>
              <p:nvPr/>
            </p:nvSpPr>
            <p:spPr bwMode="auto">
              <a:xfrm>
                <a:off x="4106" y="1696"/>
                <a:ext cx="4" cy="44"/>
              </a:xfrm>
              <a:custGeom>
                <a:avLst/>
                <a:gdLst>
                  <a:gd name="T0" fmla="*/ 0 w 1"/>
                  <a:gd name="T1" fmla="*/ 0 h 108"/>
                  <a:gd name="T2" fmla="*/ 0 w 1"/>
                  <a:gd name="T3" fmla="*/ 108 h 108"/>
                  <a:gd name="T4" fmla="*/ 1 w 1"/>
                  <a:gd name="T5" fmla="*/ 108 h 108"/>
                </a:gdLst>
                <a:ahLst/>
                <a:cxnLst>
                  <a:cxn ang="0">
                    <a:pos x="T0" y="T1"/>
                  </a:cxn>
                  <a:cxn ang="0">
                    <a:pos x="T2" y="T3"/>
                  </a:cxn>
                  <a:cxn ang="0">
                    <a:pos x="T4" y="T5"/>
                  </a:cxn>
                </a:cxnLst>
                <a:rect l="0" t="0" r="r" b="b"/>
                <a:pathLst>
                  <a:path w="1" h="108">
                    <a:moveTo>
                      <a:pt x="0" y="0"/>
                    </a:moveTo>
                    <a:lnTo>
                      <a:pt x="0" y="108"/>
                    </a:lnTo>
                    <a:lnTo>
                      <a:pt x="1" y="108"/>
                    </a:lnTo>
                  </a:path>
                </a:pathLst>
              </a:custGeom>
              <a:noFill/>
              <a:ln w="127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81" name="Freeform 21"/>
              <p:cNvSpPr/>
              <p:nvPr/>
            </p:nvSpPr>
            <p:spPr bwMode="auto">
              <a:xfrm>
                <a:off x="4099" y="1740"/>
                <a:ext cx="19" cy="56"/>
              </a:xfrm>
              <a:custGeom>
                <a:avLst/>
                <a:gdLst>
                  <a:gd name="T0" fmla="*/ 47 w 47"/>
                  <a:gd name="T1" fmla="*/ 0 h 139"/>
                  <a:gd name="T2" fmla="*/ 23 w 47"/>
                  <a:gd name="T3" fmla="*/ 139 h 139"/>
                  <a:gd name="T4" fmla="*/ 0 w 47"/>
                  <a:gd name="T5" fmla="*/ 0 h 139"/>
                  <a:gd name="T6" fmla="*/ 47 w 47"/>
                  <a:gd name="T7" fmla="*/ 0 h 139"/>
                </a:gdLst>
                <a:ahLst/>
                <a:cxnLst>
                  <a:cxn ang="0">
                    <a:pos x="T0" y="T1"/>
                  </a:cxn>
                  <a:cxn ang="0">
                    <a:pos x="T2" y="T3"/>
                  </a:cxn>
                  <a:cxn ang="0">
                    <a:pos x="T4" y="T5"/>
                  </a:cxn>
                  <a:cxn ang="0">
                    <a:pos x="T6" y="T7"/>
                  </a:cxn>
                </a:cxnLst>
                <a:rect l="0" t="0" r="r" b="b"/>
                <a:pathLst>
                  <a:path w="47" h="139">
                    <a:moveTo>
                      <a:pt x="47" y="0"/>
                    </a:moveTo>
                    <a:lnTo>
                      <a:pt x="23" y="139"/>
                    </a:lnTo>
                    <a:lnTo>
                      <a:pt x="0" y="0"/>
                    </a:lnTo>
                    <a:lnTo>
                      <a:pt x="47" y="0"/>
                    </a:lnTo>
                    <a:close/>
                  </a:path>
                </a:pathLst>
              </a:custGeom>
              <a:solidFill>
                <a:srgbClr val="000000"/>
              </a:solidFill>
              <a:ln w="9525">
                <a:solidFill>
                  <a:schemeClr val="tx1"/>
                </a:solidFill>
                <a:round/>
              </a:ln>
            </p:spPr>
            <p:txBody>
              <a:bodyPr/>
              <a:lstStyle/>
              <a:p>
                <a:endParaRPr lang="zh-CN" altLang="en-US"/>
              </a:p>
            </p:txBody>
          </p:sp>
          <p:sp>
            <p:nvSpPr>
              <p:cNvPr id="15382" name="Freeform 22"/>
              <p:cNvSpPr/>
              <p:nvPr/>
            </p:nvSpPr>
            <p:spPr bwMode="auto">
              <a:xfrm>
                <a:off x="4099" y="1740"/>
                <a:ext cx="19" cy="56"/>
              </a:xfrm>
              <a:custGeom>
                <a:avLst/>
                <a:gdLst>
                  <a:gd name="T0" fmla="*/ 47 w 47"/>
                  <a:gd name="T1" fmla="*/ 0 h 139"/>
                  <a:gd name="T2" fmla="*/ 23 w 47"/>
                  <a:gd name="T3" fmla="*/ 139 h 139"/>
                  <a:gd name="T4" fmla="*/ 0 w 47"/>
                  <a:gd name="T5" fmla="*/ 0 h 139"/>
                  <a:gd name="T6" fmla="*/ 47 w 47"/>
                  <a:gd name="T7" fmla="*/ 0 h 139"/>
                </a:gdLst>
                <a:ahLst/>
                <a:cxnLst>
                  <a:cxn ang="0">
                    <a:pos x="T0" y="T1"/>
                  </a:cxn>
                  <a:cxn ang="0">
                    <a:pos x="T2" y="T3"/>
                  </a:cxn>
                  <a:cxn ang="0">
                    <a:pos x="T4" y="T5"/>
                  </a:cxn>
                  <a:cxn ang="0">
                    <a:pos x="T6" y="T7"/>
                  </a:cxn>
                </a:cxnLst>
                <a:rect l="0" t="0" r="r" b="b"/>
                <a:pathLst>
                  <a:path w="47" h="139">
                    <a:moveTo>
                      <a:pt x="47" y="0"/>
                    </a:moveTo>
                    <a:lnTo>
                      <a:pt x="23" y="139"/>
                    </a:lnTo>
                    <a:lnTo>
                      <a:pt x="0" y="0"/>
                    </a:lnTo>
                    <a:lnTo>
                      <a:pt x="47" y="0"/>
                    </a:lnTo>
                  </a:path>
                </a:pathLst>
              </a:custGeom>
              <a:noFill/>
              <a:ln w="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5362" name="Text Box 2"/>
          <p:cNvSpPr txBox="1">
            <a:spLocks noChangeArrowheads="1"/>
          </p:cNvSpPr>
          <p:nvPr/>
        </p:nvSpPr>
        <p:spPr bwMode="auto">
          <a:xfrm>
            <a:off x="757238" y="493713"/>
            <a:ext cx="23669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200" b="1"/>
              <a:t>视图方案二</a:t>
            </a:r>
            <a:r>
              <a:rPr lang="en-US" altLang="zh-CN" sz="3200" b="1"/>
              <a:t>:</a:t>
            </a:r>
            <a:endParaRPr lang="en-US" altLang="zh-CN" sz="3200" b="1"/>
          </a:p>
        </p:txBody>
      </p:sp>
      <p:sp>
        <p:nvSpPr>
          <p:cNvPr id="15364" name="Text Box 4"/>
          <p:cNvSpPr txBox="1">
            <a:spLocks noChangeArrowheads="1"/>
          </p:cNvSpPr>
          <p:nvPr/>
        </p:nvSpPr>
        <p:spPr bwMode="auto">
          <a:xfrm>
            <a:off x="427038" y="3630613"/>
            <a:ext cx="3179762" cy="1320800"/>
          </a:xfrm>
          <a:prstGeom prst="rect">
            <a:avLst/>
          </a:prstGeom>
          <a:noFill/>
          <a:ln w="76200">
            <a:pattFill prst="smCheck">
              <a:fgClr>
                <a:srgbClr val="FF0000"/>
              </a:fgClr>
              <a:bgClr>
                <a:srgbClr val="FFFFFF"/>
              </a:bgClr>
            </a:pattFill>
            <a:miter lim="800000"/>
          </a:ln>
          <a:extLst>
            <a:ext uri="{909E8E84-426E-40DD-AFC4-6F175D3DCCD1}">
              <a14:hiddenFill xmlns:a14="http://schemas.microsoft.com/office/drawing/2010/main">
                <a:solidFill>
                  <a:schemeClr val="accent1"/>
                </a:solidFill>
              </a14:hiddenFill>
            </a:ext>
          </a:extLst>
        </p:spPr>
        <p:txBody>
          <a:bodyPr>
            <a:spAutoFit/>
          </a:bodyPr>
          <a:lstStyle/>
          <a:p>
            <a:pPr eaLnBrk="0" hangingPunct="0">
              <a:lnSpc>
                <a:spcPct val="90000"/>
              </a:lnSpc>
            </a:pPr>
            <a:r>
              <a:rPr lang="zh-CN" altLang="en-US" sz="2800" b="1">
                <a:solidFill>
                  <a:srgbClr val="3333CC"/>
                </a:solidFill>
              </a:rPr>
              <a:t>底板、支撑板断面形状：</a:t>
            </a:r>
            <a:r>
              <a:rPr lang="zh-CN" altLang="en-US" sz="2800" b="1"/>
              <a:t>选用</a:t>
            </a:r>
            <a:r>
              <a:rPr lang="en-US" altLang="zh-CN" sz="2800" b="1" i="1">
                <a:solidFill>
                  <a:srgbClr val="FF3300"/>
                </a:solidFill>
              </a:rPr>
              <a:t>B</a:t>
            </a:r>
            <a:r>
              <a:rPr lang="zh-CN" altLang="en-US" sz="2800" b="1">
                <a:solidFill>
                  <a:srgbClr val="FF3300"/>
                </a:solidFill>
              </a:rPr>
              <a:t>－</a:t>
            </a:r>
            <a:r>
              <a:rPr lang="en-US" altLang="zh-CN" sz="2800" b="1" i="1">
                <a:solidFill>
                  <a:srgbClr val="FF3300"/>
                </a:solidFill>
              </a:rPr>
              <a:t>B</a:t>
            </a:r>
            <a:r>
              <a:rPr lang="zh-CN" altLang="en-US" sz="2800" b="1">
                <a:solidFill>
                  <a:srgbClr val="FF3300"/>
                </a:solidFill>
              </a:rPr>
              <a:t>全剖俯视图</a:t>
            </a:r>
            <a:r>
              <a:rPr lang="zh-CN" altLang="en-US" sz="2800" b="1"/>
              <a:t>表达。</a:t>
            </a:r>
            <a:endParaRPr lang="zh-CN" altLang="en-US" sz="2800" b="1"/>
          </a:p>
        </p:txBody>
      </p:sp>
      <p:sp>
        <p:nvSpPr>
          <p:cNvPr id="15365" name="Rectangle 5"/>
          <p:cNvSpPr>
            <a:spLocks noChangeArrowheads="1"/>
          </p:cNvSpPr>
          <p:nvPr/>
        </p:nvSpPr>
        <p:spPr bwMode="auto">
          <a:xfrm>
            <a:off x="5157788" y="3689350"/>
            <a:ext cx="7127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b="1" i="1">
                <a:solidFill>
                  <a:schemeClr val="accent2"/>
                </a:solidFill>
                <a:latin typeface="宋体" panose="02010600030101010101" pitchFamily="2" charset="-122"/>
              </a:rPr>
              <a:t>B</a:t>
            </a:r>
            <a:r>
              <a:rPr lang="en-US" altLang="zh-CN" b="1">
                <a:solidFill>
                  <a:schemeClr val="accent2"/>
                </a:solidFill>
                <a:latin typeface="宋体" panose="02010600030101010101" pitchFamily="2" charset="-122"/>
              </a:rPr>
              <a:t>-</a:t>
            </a:r>
            <a:r>
              <a:rPr lang="en-US" altLang="zh-CN" b="1" i="1">
                <a:solidFill>
                  <a:schemeClr val="accent2"/>
                </a:solidFill>
                <a:latin typeface="宋体" panose="02010600030101010101" pitchFamily="2" charset="-122"/>
              </a:rPr>
              <a:t>B</a:t>
            </a:r>
            <a:endParaRPr lang="en-US" altLang="zh-CN" i="1"/>
          </a:p>
        </p:txBody>
      </p:sp>
      <p:sp>
        <p:nvSpPr>
          <p:cNvPr id="15651" name="Text Box 291">
            <a:hlinkClick r:id="rId2" action="ppaction://hlinksldjump"/>
          </p:cNvPr>
          <p:cNvSpPr txBox="1">
            <a:spLocks noChangeArrowheads="1"/>
          </p:cNvSpPr>
          <p:nvPr/>
        </p:nvSpPr>
        <p:spPr bwMode="auto">
          <a:xfrm>
            <a:off x="7680325" y="5888038"/>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u="sng">
                <a:solidFill>
                  <a:srgbClr val="0000FF"/>
                </a:solidFill>
              </a:rPr>
              <a:t>支架</a:t>
            </a:r>
            <a:endParaRPr lang="zh-CN" altLang="en-US" u="sng">
              <a:solidFill>
                <a:srgbClr val="0000FF"/>
              </a:solidFill>
            </a:endParaRPr>
          </a:p>
        </p:txBody>
      </p:sp>
      <p:sp>
        <p:nvSpPr>
          <p:cNvPr id="15652" name="Text Box 292"/>
          <p:cNvSpPr txBox="1">
            <a:spLocks noChangeArrowheads="1"/>
          </p:cNvSpPr>
          <p:nvPr/>
        </p:nvSpPr>
        <p:spPr bwMode="auto">
          <a:xfrm>
            <a:off x="422275" y="1279525"/>
            <a:ext cx="3200400" cy="1704975"/>
          </a:xfrm>
          <a:prstGeom prst="rect">
            <a:avLst/>
          </a:prstGeom>
          <a:noFill/>
          <a:ln w="76200">
            <a:pattFill prst="dkDnDiag">
              <a:fgClr>
                <a:srgbClr val="00CC00"/>
              </a:fgClr>
              <a:bgClr>
                <a:schemeClr val="bg1"/>
              </a:bgClr>
            </a:pattFill>
            <a:miter lim="800000"/>
          </a:ln>
          <a:extLst>
            <a:ext uri="{909E8E84-426E-40DD-AFC4-6F175D3DCCD1}">
              <a14:hiddenFill xmlns:a14="http://schemas.microsoft.com/office/drawing/2010/main">
                <a:pattFill prst="dotDmnd">
                  <a:fgClr>
                    <a:schemeClr val="accent1"/>
                  </a:fgClr>
                  <a:bgClr>
                    <a:srgbClr val="FFFFFF"/>
                  </a:bgClr>
                </a:pattFill>
              </a14:hiddenFill>
            </a:ext>
          </a:extLst>
        </p:spPr>
        <p:txBody>
          <a:bodyPr>
            <a:spAutoFit/>
          </a:bodyPr>
          <a:lstStyle/>
          <a:p>
            <a:pPr eaLnBrk="0" hangingPunct="0">
              <a:lnSpc>
                <a:spcPct val="90000"/>
              </a:lnSpc>
            </a:pPr>
            <a:r>
              <a:rPr lang="zh-CN" altLang="en-US" sz="2800" b="1">
                <a:solidFill>
                  <a:srgbClr val="3333CC"/>
                </a:solidFill>
              </a:rPr>
              <a:t>圆筒</a:t>
            </a:r>
            <a:r>
              <a:rPr lang="en-US" altLang="zh-CN" sz="2800" b="1">
                <a:solidFill>
                  <a:srgbClr val="3333CC"/>
                </a:solidFill>
              </a:rPr>
              <a:t>:</a:t>
            </a:r>
            <a:r>
              <a:rPr lang="en-US" altLang="zh-CN" sz="2800" b="1">
                <a:solidFill>
                  <a:srgbClr val="FF3300"/>
                </a:solidFill>
              </a:rPr>
              <a:t> </a:t>
            </a:r>
            <a:r>
              <a:rPr lang="zh-CN" altLang="en-US" sz="2800" b="1"/>
              <a:t>选</a:t>
            </a:r>
            <a:r>
              <a:rPr lang="zh-CN" altLang="en-US" sz="2800" b="1">
                <a:solidFill>
                  <a:srgbClr val="FF3300"/>
                </a:solidFill>
              </a:rPr>
              <a:t>全剖的左视图</a:t>
            </a:r>
            <a:r>
              <a:rPr lang="zh-CN" altLang="en-US" sz="2800" b="1"/>
              <a:t>表达其阶梯孔形状，附带表达两侧支撑板形状等。</a:t>
            </a:r>
            <a:endParaRPr lang="zh-CN" altLang="en-US" sz="2800" b="1"/>
          </a:p>
        </p:txBody>
      </p:sp>
      <p:pic>
        <p:nvPicPr>
          <p:cNvPr id="15685" name="Picture 3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1813" y="788988"/>
            <a:ext cx="1797050" cy="2759075"/>
          </a:xfrm>
          <a:prstGeom prst="rect">
            <a:avLst/>
          </a:prstGeom>
          <a:noFill/>
          <a:extLst>
            <a:ext uri="{909E8E84-426E-40DD-AFC4-6F175D3DCCD1}">
              <a14:hiddenFill xmlns:a14="http://schemas.microsoft.com/office/drawing/2010/main">
                <a:solidFill>
                  <a:srgbClr val="FFFFFF"/>
                </a:solidFill>
              </a14:hiddenFill>
            </a:ext>
          </a:extLst>
        </p:spPr>
      </p:pic>
      <p:pic>
        <p:nvPicPr>
          <p:cNvPr id="15686" name="Picture 3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313" y="4035425"/>
            <a:ext cx="2759075" cy="1619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15652"/>
                                        </p:tgtEl>
                                        <p:attrNameLst>
                                          <p:attrName>style.visibility</p:attrName>
                                        </p:attrNameLst>
                                      </p:cBhvr>
                                      <p:to>
                                        <p:strVal val="visible"/>
                                      </p:to>
                                    </p:set>
                                    <p:animEffect transition="in" filter="strips(downLeft)">
                                      <p:cBhvr>
                                        <p:cTn id="7" dur="500"/>
                                        <p:tgtEl>
                                          <p:spTgt spid="1565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364"/>
                                        </p:tgtEl>
                                        <p:attrNameLst>
                                          <p:attrName>style.visibility</p:attrName>
                                        </p:attrNameLst>
                                      </p:cBhvr>
                                      <p:to>
                                        <p:strVal val="visible"/>
                                      </p:to>
                                    </p:set>
                                    <p:animEffect transition="in" filter="box(in)">
                                      <p:cBhvr>
                                        <p:cTn id="12" dur="500"/>
                                        <p:tgtEl>
                                          <p:spTgt spid="1536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15366"/>
                                        </p:tgtEl>
                                        <p:attrNameLst>
                                          <p:attrName>style.visibility</p:attrName>
                                        </p:attrNameLst>
                                      </p:cBhvr>
                                      <p:to>
                                        <p:strVal val="visible"/>
                                      </p:to>
                                    </p:set>
                                    <p:animEffect transition="in" filter="slide(fromTop)">
                                      <p:cBhvr>
                                        <p:cTn id="17" dur="500"/>
                                        <p:tgtEl>
                                          <p:spTgt spid="153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5686"/>
                                        </p:tgtEl>
                                        <p:attrNameLst>
                                          <p:attrName>style.visibility</p:attrName>
                                        </p:attrNameLst>
                                      </p:cBhvr>
                                      <p:to>
                                        <p:strVal val="visible"/>
                                      </p:to>
                                    </p:set>
                                    <p:animEffect transition="in" filter="wipe(up)">
                                      <p:cBhvr>
                                        <p:cTn id="22" dur="500"/>
                                        <p:tgtEl>
                                          <p:spTgt spid="15686"/>
                                        </p:tgtEl>
                                      </p:cBhvr>
                                    </p:animEffect>
                                  </p:childTnLst>
                                </p:cTn>
                              </p:par>
                            </p:childTnLst>
                          </p:cTn>
                        </p:par>
                        <p:par>
                          <p:cTn id="23" fill="hold">
                            <p:stCondLst>
                              <p:cond delay="500"/>
                            </p:stCondLst>
                            <p:childTnLst>
                              <p:par>
                                <p:cTn id="24" presetID="2" presetClass="entr" presetSubtype="1" fill="hold" grpId="0" nodeType="afterEffect">
                                  <p:stCondLst>
                                    <p:cond delay="0"/>
                                  </p:stCondLst>
                                  <p:childTnLst>
                                    <p:set>
                                      <p:cBhvr>
                                        <p:cTn id="25" dur="1" fill="hold">
                                          <p:stCondLst>
                                            <p:cond delay="0"/>
                                          </p:stCondLst>
                                        </p:cTn>
                                        <p:tgtEl>
                                          <p:spTgt spid="15365"/>
                                        </p:tgtEl>
                                        <p:attrNameLst>
                                          <p:attrName>style.visibility</p:attrName>
                                        </p:attrNameLst>
                                      </p:cBhvr>
                                      <p:to>
                                        <p:strVal val="visible"/>
                                      </p:to>
                                    </p:set>
                                    <p:anim calcmode="lin" valueType="num">
                                      <p:cBhvr additive="base">
                                        <p:cTn id="26" dur="500" fill="hold"/>
                                        <p:tgtEl>
                                          <p:spTgt spid="15365"/>
                                        </p:tgtEl>
                                        <p:attrNameLst>
                                          <p:attrName>ppt_x</p:attrName>
                                        </p:attrNameLst>
                                      </p:cBhvr>
                                      <p:tavLst>
                                        <p:tav tm="0">
                                          <p:val>
                                            <p:strVal val="#ppt_x"/>
                                          </p:val>
                                        </p:tav>
                                        <p:tav tm="100000">
                                          <p:val>
                                            <p:strVal val="#ppt_x"/>
                                          </p:val>
                                        </p:tav>
                                      </p:tavLst>
                                    </p:anim>
                                    <p:anim calcmode="lin" valueType="num">
                                      <p:cBhvr additive="base">
                                        <p:cTn id="27" dur="500" fill="hold"/>
                                        <p:tgtEl>
                                          <p:spTgt spid="1536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nimBg="1" autoUpdateAnimBg="0"/>
      <p:bldP spid="15365" grpId="0" autoUpdateAnimBg="0"/>
      <p:bldP spid="15652"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49" name="Group 3105"/>
          <p:cNvGrpSpPr/>
          <p:nvPr/>
        </p:nvGrpSpPr>
        <p:grpSpPr bwMode="auto">
          <a:xfrm>
            <a:off x="2589213" y="563563"/>
            <a:ext cx="4462462" cy="5397500"/>
            <a:chOff x="1631" y="355"/>
            <a:chExt cx="2811" cy="3400"/>
          </a:xfrm>
        </p:grpSpPr>
        <p:grpSp>
          <p:nvGrpSpPr>
            <p:cNvPr id="60434" name="Group 3090"/>
            <p:cNvGrpSpPr/>
            <p:nvPr/>
          </p:nvGrpSpPr>
          <p:grpSpPr bwMode="auto">
            <a:xfrm>
              <a:off x="1631" y="355"/>
              <a:ext cx="2811" cy="3400"/>
              <a:chOff x="1631" y="355"/>
              <a:chExt cx="2769" cy="3400"/>
            </a:xfrm>
          </p:grpSpPr>
          <p:pic>
            <p:nvPicPr>
              <p:cNvPr id="60426" name="Picture 308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6" y="355"/>
                <a:ext cx="2684" cy="3400"/>
              </a:xfrm>
              <a:prstGeom prst="rect">
                <a:avLst/>
              </a:prstGeom>
              <a:noFill/>
              <a:extLst>
                <a:ext uri="{909E8E84-426E-40DD-AFC4-6F175D3DCCD1}">
                  <a14:hiddenFill xmlns:a14="http://schemas.microsoft.com/office/drawing/2010/main">
                    <a:solidFill>
                      <a:srgbClr val="FFFFFF"/>
                    </a:solidFill>
                  </a14:hiddenFill>
                </a:ext>
              </a:extLst>
            </p:spPr>
          </p:pic>
          <p:sp>
            <p:nvSpPr>
              <p:cNvPr id="60429" name="Line 3085"/>
              <p:cNvSpPr>
                <a:spLocks noChangeShapeType="1"/>
              </p:cNvSpPr>
              <p:nvPr/>
            </p:nvSpPr>
            <p:spPr bwMode="auto">
              <a:xfrm flipH="1">
                <a:off x="1668" y="1479"/>
                <a:ext cx="14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0" name="Line 3086"/>
              <p:cNvSpPr>
                <a:spLocks noChangeShapeType="1"/>
              </p:cNvSpPr>
              <p:nvPr/>
            </p:nvSpPr>
            <p:spPr bwMode="auto">
              <a:xfrm flipH="1">
                <a:off x="2675" y="1479"/>
                <a:ext cx="14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1" name="Text Box 3087"/>
              <p:cNvSpPr txBox="1">
                <a:spLocks noChangeArrowheads="1"/>
              </p:cNvSpPr>
              <p:nvPr/>
            </p:nvSpPr>
            <p:spPr bwMode="auto">
              <a:xfrm>
                <a:off x="1631" y="1215"/>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i="1">
                    <a:latin typeface="宋体" panose="02010600030101010101" pitchFamily="2" charset="-122"/>
                  </a:rPr>
                  <a:t>C</a:t>
                </a:r>
                <a:endParaRPr lang="en-US" altLang="zh-CN" b="1" i="1">
                  <a:latin typeface="宋体" panose="02010600030101010101" pitchFamily="2" charset="-122"/>
                </a:endParaRPr>
              </a:p>
            </p:txBody>
          </p:sp>
          <p:sp>
            <p:nvSpPr>
              <p:cNvPr id="60432" name="Text Box 3088"/>
              <p:cNvSpPr txBox="1">
                <a:spLocks noChangeArrowheads="1"/>
              </p:cNvSpPr>
              <p:nvPr/>
            </p:nvSpPr>
            <p:spPr bwMode="auto">
              <a:xfrm>
                <a:off x="2629" y="1215"/>
                <a:ext cx="2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i="1">
                    <a:latin typeface="宋体" panose="02010600030101010101" pitchFamily="2" charset="-122"/>
                  </a:rPr>
                  <a:t>C</a:t>
                </a:r>
                <a:endParaRPr lang="en-US" altLang="zh-CN" b="1" i="1">
                  <a:latin typeface="宋体" panose="02010600030101010101" pitchFamily="2" charset="-122"/>
                </a:endParaRPr>
              </a:p>
            </p:txBody>
          </p:sp>
          <p:sp>
            <p:nvSpPr>
              <p:cNvPr id="60433" name="Text Box 3089"/>
              <p:cNvSpPr txBox="1">
                <a:spLocks noChangeArrowheads="1"/>
              </p:cNvSpPr>
              <p:nvPr/>
            </p:nvSpPr>
            <p:spPr bwMode="auto">
              <a:xfrm>
                <a:off x="1974" y="1956"/>
                <a:ext cx="4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i="1">
                    <a:latin typeface="宋体" panose="02010600030101010101" pitchFamily="2" charset="-122"/>
                  </a:rPr>
                  <a:t>C</a:t>
                </a:r>
                <a:r>
                  <a:rPr lang="en-US" altLang="zh-CN" b="1">
                    <a:latin typeface="宋体" panose="02010600030101010101" pitchFamily="2" charset="-122"/>
                  </a:rPr>
                  <a:t>-</a:t>
                </a:r>
                <a:r>
                  <a:rPr lang="en-US" altLang="zh-CN" b="1" i="1">
                    <a:latin typeface="宋体" panose="02010600030101010101" pitchFamily="2" charset="-122"/>
                  </a:rPr>
                  <a:t>C</a:t>
                </a:r>
                <a:endParaRPr lang="en-US" altLang="zh-CN" b="1" i="1">
                  <a:latin typeface="宋体" panose="02010600030101010101" pitchFamily="2" charset="-122"/>
                </a:endParaRPr>
              </a:p>
            </p:txBody>
          </p:sp>
        </p:grpSp>
        <p:sp>
          <p:nvSpPr>
            <p:cNvPr id="60446" name="Rectangle 3102"/>
            <p:cNvSpPr>
              <a:spLocks noChangeArrowheads="1"/>
            </p:cNvSpPr>
            <p:nvPr/>
          </p:nvSpPr>
          <p:spPr bwMode="auto">
            <a:xfrm>
              <a:off x="3276" y="1660"/>
              <a:ext cx="168" cy="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Rectangle 3103"/>
            <p:cNvSpPr>
              <a:spLocks noChangeArrowheads="1"/>
            </p:cNvSpPr>
            <p:nvPr/>
          </p:nvSpPr>
          <p:spPr bwMode="auto">
            <a:xfrm>
              <a:off x="3900" y="1656"/>
              <a:ext cx="168" cy="32"/>
            </a:xfrm>
            <a:prstGeom prst="rect">
              <a:avLst/>
            </a:prstGeom>
            <a:solidFill>
              <a:schemeClr val="bg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8" name="Line 3104"/>
            <p:cNvSpPr>
              <a:spLocks noChangeShapeType="1"/>
            </p:cNvSpPr>
            <p:nvPr/>
          </p:nvSpPr>
          <p:spPr bwMode="auto">
            <a:xfrm>
              <a:off x="3000" y="1652"/>
              <a:ext cx="10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0422" name="Text Box 3078"/>
          <p:cNvSpPr txBox="1">
            <a:spLocks noChangeArrowheads="1"/>
          </p:cNvSpPr>
          <p:nvPr/>
        </p:nvSpPr>
        <p:spPr bwMode="auto">
          <a:xfrm>
            <a:off x="422275" y="407988"/>
            <a:ext cx="23510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200" b="1"/>
              <a:t>视图方案三</a:t>
            </a:r>
            <a:r>
              <a:rPr lang="en-US" altLang="zh-CN" sz="3200" b="1"/>
              <a:t>:</a:t>
            </a:r>
            <a:endParaRPr lang="en-US" altLang="zh-CN" sz="3200" b="1"/>
          </a:p>
        </p:txBody>
      </p:sp>
      <p:sp>
        <p:nvSpPr>
          <p:cNvPr id="60423" name="Text Box 3079"/>
          <p:cNvSpPr txBox="1">
            <a:spLocks noChangeArrowheads="1"/>
          </p:cNvSpPr>
          <p:nvPr/>
        </p:nvSpPr>
        <p:spPr bwMode="auto">
          <a:xfrm>
            <a:off x="4422775" y="3597275"/>
            <a:ext cx="2917825"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a:t>在主、俯视图上下方向过长，图纸利用不好。</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23"/>
                                        </p:tgtEl>
                                        <p:attrNameLst>
                                          <p:attrName>style.visibility</p:attrName>
                                        </p:attrNameLst>
                                      </p:cBhvr>
                                      <p:to>
                                        <p:strVal val="visible"/>
                                      </p:to>
                                    </p:set>
                                    <p:anim calcmode="lin" valueType="num">
                                      <p:cBhvr additive="base">
                                        <p:cTn id="7" dur="500" fill="hold"/>
                                        <p:tgtEl>
                                          <p:spTgt spid="60423"/>
                                        </p:tgtEl>
                                        <p:attrNameLst>
                                          <p:attrName>ppt_x</p:attrName>
                                        </p:attrNameLst>
                                      </p:cBhvr>
                                      <p:tavLst>
                                        <p:tav tm="0">
                                          <p:val>
                                            <p:strVal val="#ppt_x"/>
                                          </p:val>
                                        </p:tav>
                                        <p:tav tm="100000">
                                          <p:val>
                                            <p:strVal val="#ppt_x"/>
                                          </p:val>
                                        </p:tav>
                                      </p:tavLst>
                                    </p:anim>
                                    <p:anim calcmode="lin" valueType="num">
                                      <p:cBhvr additive="base">
                                        <p:cTn id="8" dur="500" fill="hold"/>
                                        <p:tgtEl>
                                          <p:spTgt spid="604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3"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373063" y="38100"/>
            <a:ext cx="2720975"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sym typeface="Monotype Sorts" panose="05000000000000000000" pitchFamily="2" charset="2"/>
              </a:rPr>
              <a:t>⑷ </a:t>
            </a:r>
            <a:r>
              <a:rPr lang="zh-CN" altLang="en-US" sz="3200" b="1">
                <a:solidFill>
                  <a:schemeClr val="accent2"/>
                </a:solidFill>
                <a:sym typeface="Monotype Sorts" panose="05000000000000000000" pitchFamily="2" charset="2"/>
              </a:rPr>
              <a:t>方案比较</a:t>
            </a:r>
            <a:endParaRPr lang="zh-CN" altLang="en-US" sz="3200" b="1">
              <a:solidFill>
                <a:schemeClr val="accent2"/>
              </a:solidFill>
            </a:endParaRPr>
          </a:p>
        </p:txBody>
      </p:sp>
      <p:sp>
        <p:nvSpPr>
          <p:cNvPr id="16387" name="Text Box 3"/>
          <p:cNvSpPr txBox="1">
            <a:spLocks noChangeArrowheads="1"/>
          </p:cNvSpPr>
          <p:nvPr/>
        </p:nvSpPr>
        <p:spPr bwMode="auto">
          <a:xfrm>
            <a:off x="738188" y="5867400"/>
            <a:ext cx="80438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solidFill>
                  <a:srgbClr val="FF3300"/>
                </a:solidFill>
              </a:rPr>
              <a:t>分析、比较两个方案，选第二方案较好。</a:t>
            </a:r>
            <a:endParaRPr lang="zh-CN" altLang="en-US" sz="3200" b="1">
              <a:solidFill>
                <a:srgbClr val="FF3300"/>
              </a:solidFill>
            </a:endParaRPr>
          </a:p>
        </p:txBody>
      </p:sp>
      <p:sp>
        <p:nvSpPr>
          <p:cNvPr id="16388" name="Text Box 4"/>
          <p:cNvSpPr txBox="1">
            <a:spLocks noChangeArrowheads="1"/>
          </p:cNvSpPr>
          <p:nvPr/>
        </p:nvSpPr>
        <p:spPr bwMode="auto">
          <a:xfrm>
            <a:off x="1758950" y="5365750"/>
            <a:ext cx="1471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rgbClr val="FF3300"/>
                </a:solidFill>
              </a:rPr>
              <a:t>方案一</a:t>
            </a:r>
            <a:endParaRPr lang="zh-CN" altLang="en-US" sz="2800" b="1">
              <a:solidFill>
                <a:srgbClr val="FF3300"/>
              </a:solidFill>
            </a:endParaRPr>
          </a:p>
        </p:txBody>
      </p:sp>
      <p:sp>
        <p:nvSpPr>
          <p:cNvPr id="16389" name="Text Box 5"/>
          <p:cNvSpPr txBox="1">
            <a:spLocks noChangeArrowheads="1"/>
          </p:cNvSpPr>
          <p:nvPr/>
        </p:nvSpPr>
        <p:spPr bwMode="auto">
          <a:xfrm>
            <a:off x="6122988" y="5365750"/>
            <a:ext cx="1577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rgbClr val="FF3300"/>
                </a:solidFill>
              </a:rPr>
              <a:t>方案二</a:t>
            </a:r>
            <a:endParaRPr lang="zh-CN" altLang="en-US" sz="2800" b="1">
              <a:solidFill>
                <a:srgbClr val="FF3300"/>
              </a:solidFill>
            </a:endParaRPr>
          </a:p>
        </p:txBody>
      </p:sp>
      <p:sp>
        <p:nvSpPr>
          <p:cNvPr id="16390" name="Freeform 6"/>
          <p:cNvSpPr/>
          <p:nvPr/>
        </p:nvSpPr>
        <p:spPr bwMode="auto">
          <a:xfrm>
            <a:off x="2527300" y="2551113"/>
            <a:ext cx="6350" cy="66675"/>
          </a:xfrm>
          <a:custGeom>
            <a:avLst/>
            <a:gdLst>
              <a:gd name="T0" fmla="*/ 0 w 1"/>
              <a:gd name="T1" fmla="*/ 0 h 108"/>
              <a:gd name="T2" fmla="*/ 0 w 1"/>
              <a:gd name="T3" fmla="*/ 108 h 108"/>
              <a:gd name="T4" fmla="*/ 1 w 1"/>
              <a:gd name="T5" fmla="*/ 108 h 108"/>
            </a:gdLst>
            <a:ahLst/>
            <a:cxnLst>
              <a:cxn ang="0">
                <a:pos x="T0" y="T1"/>
              </a:cxn>
              <a:cxn ang="0">
                <a:pos x="T2" y="T3"/>
              </a:cxn>
              <a:cxn ang="0">
                <a:pos x="T4" y="T5"/>
              </a:cxn>
            </a:cxnLst>
            <a:rect l="0" t="0" r="r" b="b"/>
            <a:pathLst>
              <a:path w="1" h="108">
                <a:moveTo>
                  <a:pt x="0" y="0"/>
                </a:moveTo>
                <a:lnTo>
                  <a:pt x="0" y="108"/>
                </a:lnTo>
                <a:lnTo>
                  <a:pt x="1" y="10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prstDash val="solid"/>
                <a:round/>
              </a14:hiddenLine>
            </a:ext>
          </a:extLst>
        </p:spPr>
        <p:txBody>
          <a:bodyPr/>
          <a:lstStyle/>
          <a:p>
            <a:endParaRPr lang="zh-CN" altLang="en-US"/>
          </a:p>
        </p:txBody>
      </p:sp>
      <p:grpSp>
        <p:nvGrpSpPr>
          <p:cNvPr id="17030" name="Group 646"/>
          <p:cNvGrpSpPr/>
          <p:nvPr/>
        </p:nvGrpSpPr>
        <p:grpSpPr bwMode="auto">
          <a:xfrm>
            <a:off x="192088" y="636588"/>
            <a:ext cx="4362450" cy="4762500"/>
            <a:chOff x="121" y="401"/>
            <a:chExt cx="2748" cy="3000"/>
          </a:xfrm>
        </p:grpSpPr>
        <p:grpSp>
          <p:nvGrpSpPr>
            <p:cNvPr id="17021" name="Group 637"/>
            <p:cNvGrpSpPr/>
            <p:nvPr/>
          </p:nvGrpSpPr>
          <p:grpSpPr bwMode="auto">
            <a:xfrm>
              <a:off x="121" y="401"/>
              <a:ext cx="2748" cy="3000"/>
              <a:chOff x="121" y="401"/>
              <a:chExt cx="2748" cy="3000"/>
            </a:xfrm>
          </p:grpSpPr>
          <p:grpSp>
            <p:nvGrpSpPr>
              <p:cNvPr id="16985" name="Group 601"/>
              <p:cNvGrpSpPr/>
              <p:nvPr/>
            </p:nvGrpSpPr>
            <p:grpSpPr bwMode="auto">
              <a:xfrm>
                <a:off x="126" y="401"/>
                <a:ext cx="1666" cy="1712"/>
                <a:chOff x="2524" y="450"/>
                <a:chExt cx="1734" cy="1782"/>
              </a:xfrm>
            </p:grpSpPr>
            <p:pic>
              <p:nvPicPr>
                <p:cNvPr id="16986" name="Picture 6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4" y="450"/>
                  <a:ext cx="1734" cy="1782"/>
                </a:xfrm>
                <a:prstGeom prst="rect">
                  <a:avLst/>
                </a:prstGeom>
                <a:noFill/>
                <a:extLst>
                  <a:ext uri="{909E8E84-426E-40DD-AFC4-6F175D3DCCD1}">
                    <a14:hiddenFill xmlns:a14="http://schemas.microsoft.com/office/drawing/2010/main">
                      <a:solidFill>
                        <a:srgbClr val="FFFFFF"/>
                      </a:solidFill>
                    </a14:hiddenFill>
                  </a:ext>
                </a:extLst>
              </p:spPr>
            </p:pic>
            <p:sp>
              <p:nvSpPr>
                <p:cNvPr id="16987" name="Rectangle 603"/>
                <p:cNvSpPr>
                  <a:spLocks noChangeArrowheads="1"/>
                </p:cNvSpPr>
                <p:nvPr/>
              </p:nvSpPr>
              <p:spPr bwMode="auto">
                <a:xfrm>
                  <a:off x="2719" y="1634"/>
                  <a:ext cx="139"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88" name="Rectangle 604"/>
                <p:cNvSpPr>
                  <a:spLocks noChangeArrowheads="1"/>
                </p:cNvSpPr>
                <p:nvPr/>
              </p:nvSpPr>
              <p:spPr bwMode="auto">
                <a:xfrm>
                  <a:off x="3905" y="1628"/>
                  <a:ext cx="166" cy="1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16989" name="Picture 6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 y="447"/>
                <a:ext cx="1088" cy="1670"/>
              </a:xfrm>
              <a:prstGeom prst="rect">
                <a:avLst/>
              </a:prstGeom>
              <a:noFill/>
              <a:extLst>
                <a:ext uri="{909E8E84-426E-40DD-AFC4-6F175D3DCCD1}">
                  <a14:hiddenFill xmlns:a14="http://schemas.microsoft.com/office/drawing/2010/main">
                    <a:solidFill>
                      <a:srgbClr val="FFFFFF"/>
                    </a:solidFill>
                  </a14:hiddenFill>
                </a:ext>
              </a:extLst>
            </p:spPr>
          </p:pic>
          <p:sp>
            <p:nvSpPr>
              <p:cNvPr id="16990" name="Rectangle 606"/>
              <p:cNvSpPr>
                <a:spLocks noChangeArrowheads="1"/>
              </p:cNvSpPr>
              <p:nvPr/>
            </p:nvSpPr>
            <p:spPr bwMode="auto">
              <a:xfrm>
                <a:off x="999" y="2196"/>
                <a:ext cx="19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chemeClr val="accent2"/>
                    </a:solidFill>
                    <a:latin typeface="宋体" panose="02010600030101010101" pitchFamily="2" charset="-122"/>
                  </a:rPr>
                  <a:t>B</a:t>
                </a:r>
                <a:r>
                  <a:rPr lang="en-US" altLang="zh-CN" b="1">
                    <a:solidFill>
                      <a:srgbClr val="000000"/>
                    </a:solidFill>
                    <a:latin typeface="宋体" panose="02010600030101010101" pitchFamily="2" charset="-122"/>
                  </a:rPr>
                  <a:t> </a:t>
                </a:r>
                <a:endParaRPr lang="en-US" altLang="zh-CN"/>
              </a:p>
            </p:txBody>
          </p:sp>
          <p:sp>
            <p:nvSpPr>
              <p:cNvPr id="16991" name="Rectangle 607"/>
              <p:cNvSpPr>
                <a:spLocks noChangeArrowheads="1"/>
              </p:cNvSpPr>
              <p:nvPr/>
            </p:nvSpPr>
            <p:spPr bwMode="auto">
              <a:xfrm>
                <a:off x="2201" y="2226"/>
                <a:ext cx="32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p>
                <a:pPr eaLnBrk="0" hangingPunct="0"/>
                <a:r>
                  <a:rPr lang="en-US" altLang="zh-CN" b="1" i="1">
                    <a:solidFill>
                      <a:srgbClr val="FF3300"/>
                    </a:solidFill>
                    <a:latin typeface="宋体" panose="02010600030101010101" pitchFamily="2" charset="-122"/>
                  </a:rPr>
                  <a:t>A</a:t>
                </a:r>
                <a:r>
                  <a:rPr lang="en-US" altLang="zh-CN" b="1">
                    <a:solidFill>
                      <a:srgbClr val="FF3300"/>
                    </a:solidFill>
                    <a:latin typeface="宋体" panose="02010600030101010101" pitchFamily="2" charset="-122"/>
                  </a:rPr>
                  <a:t>-</a:t>
                </a:r>
                <a:r>
                  <a:rPr lang="en-US" altLang="zh-CN" b="1" i="1">
                    <a:solidFill>
                      <a:srgbClr val="FF3300"/>
                    </a:solidFill>
                    <a:latin typeface="宋体" panose="02010600030101010101" pitchFamily="2" charset="-122"/>
                  </a:rPr>
                  <a:t>A</a:t>
                </a:r>
                <a:endParaRPr lang="en-US" altLang="zh-CN" i="1">
                  <a:solidFill>
                    <a:srgbClr val="FF3300"/>
                  </a:solidFill>
                </a:endParaRPr>
              </a:p>
            </p:txBody>
          </p:sp>
          <p:grpSp>
            <p:nvGrpSpPr>
              <p:cNvPr id="16992" name="Group 608"/>
              <p:cNvGrpSpPr/>
              <p:nvPr/>
            </p:nvGrpSpPr>
            <p:grpSpPr bwMode="auto">
              <a:xfrm>
                <a:off x="299" y="1436"/>
                <a:ext cx="1303" cy="350"/>
                <a:chOff x="2789" y="1480"/>
                <a:chExt cx="1303" cy="350"/>
              </a:xfrm>
            </p:grpSpPr>
            <p:grpSp>
              <p:nvGrpSpPr>
                <p:cNvPr id="16993" name="Group 609"/>
                <p:cNvGrpSpPr/>
                <p:nvPr/>
              </p:nvGrpSpPr>
              <p:grpSpPr bwMode="auto">
                <a:xfrm>
                  <a:off x="2789" y="1480"/>
                  <a:ext cx="146" cy="350"/>
                  <a:chOff x="2789" y="1480"/>
                  <a:chExt cx="146" cy="350"/>
                </a:xfrm>
              </p:grpSpPr>
              <p:grpSp>
                <p:nvGrpSpPr>
                  <p:cNvPr id="16994" name="Group 610"/>
                  <p:cNvGrpSpPr/>
                  <p:nvPr/>
                </p:nvGrpSpPr>
                <p:grpSpPr bwMode="auto">
                  <a:xfrm>
                    <a:off x="2789" y="1480"/>
                    <a:ext cx="146" cy="234"/>
                    <a:chOff x="2789" y="1480"/>
                    <a:chExt cx="146" cy="234"/>
                  </a:xfrm>
                </p:grpSpPr>
                <p:sp>
                  <p:nvSpPr>
                    <p:cNvPr id="16995" name="Rectangle 611"/>
                    <p:cNvSpPr>
                      <a:spLocks noChangeArrowheads="1"/>
                    </p:cNvSpPr>
                    <p:nvPr/>
                  </p:nvSpPr>
                  <p:spPr bwMode="auto">
                    <a:xfrm>
                      <a:off x="2811" y="148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rgbClr val="FF3300"/>
                          </a:solidFill>
                          <a:latin typeface="宋体" panose="02010600030101010101" pitchFamily="2" charset="-122"/>
                        </a:rPr>
                        <a:t>A</a:t>
                      </a:r>
                      <a:endParaRPr lang="en-US" altLang="zh-CN" sz="1200" b="1" i="1">
                        <a:solidFill>
                          <a:srgbClr val="FF3300"/>
                        </a:solidFill>
                      </a:endParaRPr>
                    </a:p>
                  </p:txBody>
                </p:sp>
                <p:sp>
                  <p:nvSpPr>
                    <p:cNvPr id="16996" name="Freeform 612"/>
                    <p:cNvSpPr/>
                    <p:nvPr/>
                  </p:nvSpPr>
                  <p:spPr bwMode="auto">
                    <a:xfrm>
                      <a:off x="2789" y="1698"/>
                      <a:ext cx="146" cy="16"/>
                    </a:xfrm>
                    <a:custGeom>
                      <a:avLst/>
                      <a:gdLst>
                        <a:gd name="T0" fmla="*/ 0 w 350"/>
                        <a:gd name="T1" fmla="*/ 0 h 35"/>
                        <a:gd name="T2" fmla="*/ 0 w 350"/>
                        <a:gd name="T3" fmla="*/ 35 h 35"/>
                        <a:gd name="T4" fmla="*/ 350 w 350"/>
                        <a:gd name="T5" fmla="*/ 0 h 35"/>
                        <a:gd name="T6" fmla="*/ 0 w 350"/>
                        <a:gd name="T7" fmla="*/ 0 h 35"/>
                      </a:gdLst>
                      <a:ahLst/>
                      <a:cxnLst>
                        <a:cxn ang="0">
                          <a:pos x="T0" y="T1"/>
                        </a:cxn>
                        <a:cxn ang="0">
                          <a:pos x="T2" y="T3"/>
                        </a:cxn>
                        <a:cxn ang="0">
                          <a:pos x="T4" y="T5"/>
                        </a:cxn>
                        <a:cxn ang="0">
                          <a:pos x="T6" y="T7"/>
                        </a:cxn>
                      </a:cxnLst>
                      <a:rect l="0" t="0" r="r" b="b"/>
                      <a:pathLst>
                        <a:path w="350" h="35">
                          <a:moveTo>
                            <a:pt x="0" y="0"/>
                          </a:moveTo>
                          <a:lnTo>
                            <a:pt x="0" y="35"/>
                          </a:lnTo>
                          <a:lnTo>
                            <a:pt x="350" y="0"/>
                          </a:lnTo>
                          <a:lnTo>
                            <a:pt x="0" y="0"/>
                          </a:lnTo>
                          <a:close/>
                        </a:path>
                      </a:pathLst>
                    </a:custGeom>
                    <a:solidFill>
                      <a:srgbClr val="FF3300"/>
                    </a:solidFill>
                    <a:ln w="9525">
                      <a:solidFill>
                        <a:srgbClr val="FF3300"/>
                      </a:solidFill>
                      <a:round/>
                    </a:ln>
                  </p:spPr>
                  <p:txBody>
                    <a:bodyPr/>
                    <a:lstStyle/>
                    <a:p>
                      <a:endParaRPr lang="zh-CN" altLang="en-US"/>
                    </a:p>
                  </p:txBody>
                </p:sp>
                <p:sp>
                  <p:nvSpPr>
                    <p:cNvPr id="16997" name="Freeform 613"/>
                    <p:cNvSpPr/>
                    <p:nvPr/>
                  </p:nvSpPr>
                  <p:spPr bwMode="auto">
                    <a:xfrm>
                      <a:off x="2789" y="1698"/>
                      <a:ext cx="146" cy="16"/>
                    </a:xfrm>
                    <a:custGeom>
                      <a:avLst/>
                      <a:gdLst>
                        <a:gd name="T0" fmla="*/ 0 w 350"/>
                        <a:gd name="T1" fmla="*/ 35 h 35"/>
                        <a:gd name="T2" fmla="*/ 350 w 350"/>
                        <a:gd name="T3" fmla="*/ 0 h 35"/>
                        <a:gd name="T4" fmla="*/ 350 w 350"/>
                        <a:gd name="T5" fmla="*/ 35 h 35"/>
                        <a:gd name="T6" fmla="*/ 0 w 350"/>
                        <a:gd name="T7" fmla="*/ 35 h 35"/>
                      </a:gdLst>
                      <a:ahLst/>
                      <a:cxnLst>
                        <a:cxn ang="0">
                          <a:pos x="T0" y="T1"/>
                        </a:cxn>
                        <a:cxn ang="0">
                          <a:pos x="T2" y="T3"/>
                        </a:cxn>
                        <a:cxn ang="0">
                          <a:pos x="T4" y="T5"/>
                        </a:cxn>
                        <a:cxn ang="0">
                          <a:pos x="T6" y="T7"/>
                        </a:cxn>
                      </a:cxnLst>
                      <a:rect l="0" t="0" r="r" b="b"/>
                      <a:pathLst>
                        <a:path w="350" h="35">
                          <a:moveTo>
                            <a:pt x="0" y="35"/>
                          </a:moveTo>
                          <a:lnTo>
                            <a:pt x="350" y="0"/>
                          </a:lnTo>
                          <a:lnTo>
                            <a:pt x="350" y="35"/>
                          </a:lnTo>
                          <a:lnTo>
                            <a:pt x="0" y="35"/>
                          </a:lnTo>
                          <a:close/>
                        </a:path>
                      </a:pathLst>
                    </a:custGeom>
                    <a:solidFill>
                      <a:srgbClr val="FF3300"/>
                    </a:solidFill>
                    <a:ln w="9525">
                      <a:solidFill>
                        <a:srgbClr val="FF3300"/>
                      </a:solidFill>
                      <a:round/>
                    </a:ln>
                  </p:spPr>
                  <p:txBody>
                    <a:bodyPr/>
                    <a:lstStyle/>
                    <a:p>
                      <a:endParaRPr lang="zh-CN" altLang="en-US"/>
                    </a:p>
                  </p:txBody>
                </p:sp>
                <p:sp>
                  <p:nvSpPr>
                    <p:cNvPr id="16998" name="Rectangle 614"/>
                    <p:cNvSpPr>
                      <a:spLocks noChangeArrowheads="1"/>
                    </p:cNvSpPr>
                    <p:nvPr/>
                  </p:nvSpPr>
                  <p:spPr bwMode="auto">
                    <a:xfrm>
                      <a:off x="2789" y="1698"/>
                      <a:ext cx="146" cy="16"/>
                    </a:xfrm>
                    <a:prstGeom prst="rect">
                      <a:avLst/>
                    </a:prstGeom>
                    <a:solidFill>
                      <a:srgbClr val="FF3300"/>
                    </a:solidFill>
                    <a:ln w="0">
                      <a:solidFill>
                        <a:srgbClr val="FF3300"/>
                      </a:solidFill>
                      <a:miter lim="800000"/>
                    </a:ln>
                  </p:spPr>
                  <p:txBody>
                    <a:bodyPr/>
                    <a:lstStyle/>
                    <a:p>
                      <a:endParaRPr lang="zh-CN" altLang="en-US"/>
                    </a:p>
                  </p:txBody>
                </p:sp>
              </p:grpSp>
              <p:sp>
                <p:nvSpPr>
                  <p:cNvPr id="16999" name="Line 615"/>
                  <p:cNvSpPr>
                    <a:spLocks noChangeShapeType="1"/>
                  </p:cNvSpPr>
                  <p:nvPr/>
                </p:nvSpPr>
                <p:spPr bwMode="auto">
                  <a:xfrm>
                    <a:off x="2790" y="1704"/>
                    <a:ext cx="0" cy="126"/>
                  </a:xfrm>
                  <a:prstGeom prst="line">
                    <a:avLst/>
                  </a:prstGeom>
                  <a:noFill/>
                  <a:ln w="9525">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000" name="Group 616"/>
                <p:cNvGrpSpPr/>
                <p:nvPr/>
              </p:nvGrpSpPr>
              <p:grpSpPr bwMode="auto">
                <a:xfrm>
                  <a:off x="3944" y="1480"/>
                  <a:ext cx="148" cy="350"/>
                  <a:chOff x="3944" y="1480"/>
                  <a:chExt cx="148" cy="350"/>
                </a:xfrm>
              </p:grpSpPr>
              <p:sp>
                <p:nvSpPr>
                  <p:cNvPr id="17001" name="Freeform 617"/>
                  <p:cNvSpPr/>
                  <p:nvPr/>
                </p:nvSpPr>
                <p:spPr bwMode="auto">
                  <a:xfrm>
                    <a:off x="3944" y="1698"/>
                    <a:ext cx="144" cy="16"/>
                  </a:xfrm>
                  <a:custGeom>
                    <a:avLst/>
                    <a:gdLst>
                      <a:gd name="T0" fmla="*/ 0 w 351"/>
                      <a:gd name="T1" fmla="*/ 0 h 35"/>
                      <a:gd name="T2" fmla="*/ 0 w 351"/>
                      <a:gd name="T3" fmla="*/ 35 h 35"/>
                      <a:gd name="T4" fmla="*/ 351 w 351"/>
                      <a:gd name="T5" fmla="*/ 0 h 35"/>
                      <a:gd name="T6" fmla="*/ 0 w 351"/>
                      <a:gd name="T7" fmla="*/ 0 h 35"/>
                    </a:gdLst>
                    <a:ahLst/>
                    <a:cxnLst>
                      <a:cxn ang="0">
                        <a:pos x="T0" y="T1"/>
                      </a:cxn>
                      <a:cxn ang="0">
                        <a:pos x="T2" y="T3"/>
                      </a:cxn>
                      <a:cxn ang="0">
                        <a:pos x="T4" y="T5"/>
                      </a:cxn>
                      <a:cxn ang="0">
                        <a:pos x="T6" y="T7"/>
                      </a:cxn>
                    </a:cxnLst>
                    <a:rect l="0" t="0" r="r" b="b"/>
                    <a:pathLst>
                      <a:path w="351" h="35">
                        <a:moveTo>
                          <a:pt x="0" y="0"/>
                        </a:moveTo>
                        <a:lnTo>
                          <a:pt x="0" y="35"/>
                        </a:lnTo>
                        <a:lnTo>
                          <a:pt x="351" y="0"/>
                        </a:lnTo>
                        <a:lnTo>
                          <a:pt x="0" y="0"/>
                        </a:lnTo>
                        <a:close/>
                      </a:path>
                    </a:pathLst>
                  </a:custGeom>
                  <a:solidFill>
                    <a:srgbClr val="FF3300"/>
                  </a:solidFill>
                  <a:ln w="9525">
                    <a:solidFill>
                      <a:srgbClr val="FF3300"/>
                    </a:solidFill>
                    <a:round/>
                  </a:ln>
                </p:spPr>
                <p:txBody>
                  <a:bodyPr/>
                  <a:lstStyle/>
                  <a:p>
                    <a:endParaRPr lang="zh-CN" altLang="en-US"/>
                  </a:p>
                </p:txBody>
              </p:sp>
              <p:sp>
                <p:nvSpPr>
                  <p:cNvPr id="17002" name="Freeform 618"/>
                  <p:cNvSpPr/>
                  <p:nvPr/>
                </p:nvSpPr>
                <p:spPr bwMode="auto">
                  <a:xfrm>
                    <a:off x="3944" y="1698"/>
                    <a:ext cx="144" cy="16"/>
                  </a:xfrm>
                  <a:custGeom>
                    <a:avLst/>
                    <a:gdLst>
                      <a:gd name="T0" fmla="*/ 0 w 351"/>
                      <a:gd name="T1" fmla="*/ 35 h 35"/>
                      <a:gd name="T2" fmla="*/ 351 w 351"/>
                      <a:gd name="T3" fmla="*/ 0 h 35"/>
                      <a:gd name="T4" fmla="*/ 351 w 351"/>
                      <a:gd name="T5" fmla="*/ 35 h 35"/>
                      <a:gd name="T6" fmla="*/ 0 w 351"/>
                      <a:gd name="T7" fmla="*/ 35 h 35"/>
                    </a:gdLst>
                    <a:ahLst/>
                    <a:cxnLst>
                      <a:cxn ang="0">
                        <a:pos x="T0" y="T1"/>
                      </a:cxn>
                      <a:cxn ang="0">
                        <a:pos x="T2" y="T3"/>
                      </a:cxn>
                      <a:cxn ang="0">
                        <a:pos x="T4" y="T5"/>
                      </a:cxn>
                      <a:cxn ang="0">
                        <a:pos x="T6" y="T7"/>
                      </a:cxn>
                    </a:cxnLst>
                    <a:rect l="0" t="0" r="r" b="b"/>
                    <a:pathLst>
                      <a:path w="351" h="35">
                        <a:moveTo>
                          <a:pt x="0" y="35"/>
                        </a:moveTo>
                        <a:lnTo>
                          <a:pt x="351" y="0"/>
                        </a:lnTo>
                        <a:lnTo>
                          <a:pt x="351" y="35"/>
                        </a:lnTo>
                        <a:lnTo>
                          <a:pt x="0" y="35"/>
                        </a:lnTo>
                        <a:close/>
                      </a:path>
                    </a:pathLst>
                  </a:custGeom>
                  <a:solidFill>
                    <a:srgbClr val="FF3300"/>
                  </a:solidFill>
                  <a:ln w="9525">
                    <a:solidFill>
                      <a:srgbClr val="FF3300"/>
                    </a:solidFill>
                    <a:round/>
                  </a:ln>
                </p:spPr>
                <p:txBody>
                  <a:bodyPr/>
                  <a:lstStyle/>
                  <a:p>
                    <a:endParaRPr lang="zh-CN" altLang="en-US"/>
                  </a:p>
                </p:txBody>
              </p:sp>
              <p:sp>
                <p:nvSpPr>
                  <p:cNvPr id="17003" name="Freeform 619"/>
                  <p:cNvSpPr/>
                  <p:nvPr/>
                </p:nvSpPr>
                <p:spPr bwMode="auto">
                  <a:xfrm>
                    <a:off x="4088" y="1702"/>
                    <a:ext cx="4" cy="44"/>
                  </a:xfrm>
                  <a:custGeom>
                    <a:avLst/>
                    <a:gdLst>
                      <a:gd name="T0" fmla="*/ 0 w 1"/>
                      <a:gd name="T1" fmla="*/ 0 h 108"/>
                      <a:gd name="T2" fmla="*/ 0 w 1"/>
                      <a:gd name="T3" fmla="*/ 108 h 108"/>
                      <a:gd name="T4" fmla="*/ 1 w 1"/>
                      <a:gd name="T5" fmla="*/ 108 h 108"/>
                    </a:gdLst>
                    <a:ahLst/>
                    <a:cxnLst>
                      <a:cxn ang="0">
                        <a:pos x="T0" y="T1"/>
                      </a:cxn>
                      <a:cxn ang="0">
                        <a:pos x="T2" y="T3"/>
                      </a:cxn>
                      <a:cxn ang="0">
                        <a:pos x="T4" y="T5"/>
                      </a:cxn>
                    </a:cxnLst>
                    <a:rect l="0" t="0" r="r" b="b"/>
                    <a:pathLst>
                      <a:path w="1" h="108">
                        <a:moveTo>
                          <a:pt x="0" y="0"/>
                        </a:moveTo>
                        <a:lnTo>
                          <a:pt x="0" y="108"/>
                        </a:lnTo>
                        <a:lnTo>
                          <a:pt x="1" y="108"/>
                        </a:lnTo>
                      </a:path>
                    </a:pathLst>
                  </a:custGeom>
                  <a:solidFill>
                    <a:srgbClr val="FF3300"/>
                  </a:solidFill>
                  <a:ln w="12700" cmpd="sng">
                    <a:solidFill>
                      <a:srgbClr val="FF3300"/>
                    </a:solidFill>
                    <a:prstDash val="solid"/>
                    <a:round/>
                  </a:ln>
                </p:spPr>
                <p:txBody>
                  <a:bodyPr/>
                  <a:lstStyle/>
                  <a:p>
                    <a:endParaRPr lang="zh-CN" altLang="en-US"/>
                  </a:p>
                </p:txBody>
              </p:sp>
              <p:sp>
                <p:nvSpPr>
                  <p:cNvPr id="17004" name="Rectangle 620"/>
                  <p:cNvSpPr>
                    <a:spLocks noChangeArrowheads="1"/>
                  </p:cNvSpPr>
                  <p:nvPr/>
                </p:nvSpPr>
                <p:spPr bwMode="auto">
                  <a:xfrm>
                    <a:off x="3978" y="148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rgbClr val="FF3300"/>
                        </a:solidFill>
                        <a:latin typeface="宋体" panose="02010600030101010101" pitchFamily="2" charset="-122"/>
                      </a:rPr>
                      <a:t>A</a:t>
                    </a:r>
                    <a:endParaRPr lang="en-US" altLang="zh-CN" sz="1200" b="1" i="1">
                      <a:solidFill>
                        <a:srgbClr val="FF3300"/>
                      </a:solidFill>
                    </a:endParaRPr>
                  </a:p>
                </p:txBody>
              </p:sp>
              <p:sp>
                <p:nvSpPr>
                  <p:cNvPr id="17005" name="Rectangle 621"/>
                  <p:cNvSpPr>
                    <a:spLocks noChangeArrowheads="1"/>
                  </p:cNvSpPr>
                  <p:nvPr/>
                </p:nvSpPr>
                <p:spPr bwMode="auto">
                  <a:xfrm>
                    <a:off x="3944" y="1698"/>
                    <a:ext cx="144" cy="16"/>
                  </a:xfrm>
                  <a:prstGeom prst="rect">
                    <a:avLst/>
                  </a:prstGeom>
                  <a:solidFill>
                    <a:srgbClr val="FF3300"/>
                  </a:solidFill>
                  <a:ln w="0">
                    <a:solidFill>
                      <a:srgbClr val="FF3300"/>
                    </a:solidFill>
                    <a:miter lim="800000"/>
                  </a:ln>
                </p:spPr>
                <p:txBody>
                  <a:bodyPr/>
                  <a:lstStyle/>
                  <a:p>
                    <a:endParaRPr lang="zh-CN" altLang="en-US"/>
                  </a:p>
                </p:txBody>
              </p:sp>
              <p:sp>
                <p:nvSpPr>
                  <p:cNvPr id="17006" name="Line 622"/>
                  <p:cNvSpPr>
                    <a:spLocks noChangeShapeType="1"/>
                  </p:cNvSpPr>
                  <p:nvPr/>
                </p:nvSpPr>
                <p:spPr bwMode="auto">
                  <a:xfrm>
                    <a:off x="4080" y="1704"/>
                    <a:ext cx="0" cy="126"/>
                  </a:xfrm>
                  <a:prstGeom prst="line">
                    <a:avLst/>
                  </a:prstGeom>
                  <a:noFill/>
                  <a:ln w="9525">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7019" name="Group 635"/>
              <p:cNvGrpSpPr/>
              <p:nvPr/>
            </p:nvGrpSpPr>
            <p:grpSpPr bwMode="auto">
              <a:xfrm>
                <a:off x="726" y="2076"/>
                <a:ext cx="168" cy="230"/>
                <a:chOff x="726" y="2076"/>
                <a:chExt cx="168" cy="230"/>
              </a:xfrm>
            </p:grpSpPr>
            <p:sp>
              <p:nvSpPr>
                <p:cNvPr id="17008" name="Rectangle 624"/>
                <p:cNvSpPr>
                  <a:spLocks noChangeArrowheads="1"/>
                </p:cNvSpPr>
                <p:nvPr/>
              </p:nvSpPr>
              <p:spPr bwMode="auto">
                <a:xfrm>
                  <a:off x="726" y="2076"/>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i="1">
                      <a:solidFill>
                        <a:schemeClr val="accent2"/>
                      </a:solidFill>
                      <a:latin typeface="宋体" panose="02010600030101010101" pitchFamily="2" charset="-122"/>
                    </a:rPr>
                    <a:t>B</a:t>
                  </a:r>
                  <a:endParaRPr lang="en-US" altLang="zh-CN" i="1"/>
                </a:p>
              </p:txBody>
            </p:sp>
            <p:sp>
              <p:nvSpPr>
                <p:cNvPr id="17009" name="Line 625"/>
                <p:cNvSpPr>
                  <a:spLocks noChangeShapeType="1"/>
                </p:cNvSpPr>
                <p:nvPr/>
              </p:nvSpPr>
              <p:spPr bwMode="auto">
                <a:xfrm flipV="1">
                  <a:off x="894" y="2088"/>
                  <a:ext cx="0" cy="192"/>
                </a:xfrm>
                <a:prstGeom prst="line">
                  <a:avLst/>
                </a:prstGeom>
                <a:noFill/>
                <a:ln w="19050">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17010" name="Picture 6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 y="2389"/>
                <a:ext cx="1692" cy="1012"/>
              </a:xfrm>
              <a:prstGeom prst="rect">
                <a:avLst/>
              </a:prstGeom>
              <a:noFill/>
              <a:extLst>
                <a:ext uri="{909E8E84-426E-40DD-AFC4-6F175D3DCCD1}">
                  <a14:hiddenFill xmlns:a14="http://schemas.microsoft.com/office/drawing/2010/main">
                    <a:solidFill>
                      <a:srgbClr val="FFFFFF"/>
                    </a:solidFill>
                  </a14:hiddenFill>
                </a:ext>
              </a:extLst>
            </p:spPr>
          </p:pic>
          <p:pic>
            <p:nvPicPr>
              <p:cNvPr id="17011" name="Picture 6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 y="2465"/>
                <a:ext cx="920" cy="61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025" name="Group 641"/>
            <p:cNvGrpSpPr/>
            <p:nvPr/>
          </p:nvGrpSpPr>
          <p:grpSpPr bwMode="auto">
            <a:xfrm>
              <a:off x="500" y="1840"/>
              <a:ext cx="880" cy="40"/>
              <a:chOff x="500" y="1840"/>
              <a:chExt cx="880" cy="40"/>
            </a:xfrm>
          </p:grpSpPr>
          <p:sp>
            <p:nvSpPr>
              <p:cNvPr id="17022" name="Rectangle 638"/>
              <p:cNvSpPr>
                <a:spLocks noChangeArrowheads="1"/>
              </p:cNvSpPr>
              <p:nvPr/>
            </p:nvSpPr>
            <p:spPr bwMode="auto">
              <a:xfrm>
                <a:off x="500" y="1848"/>
                <a:ext cx="228" cy="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23" name="Rectangle 639"/>
              <p:cNvSpPr>
                <a:spLocks noChangeArrowheads="1"/>
              </p:cNvSpPr>
              <p:nvPr/>
            </p:nvSpPr>
            <p:spPr bwMode="auto">
              <a:xfrm>
                <a:off x="1152" y="1848"/>
                <a:ext cx="228" cy="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24" name="Line 640"/>
              <p:cNvSpPr>
                <a:spLocks noChangeShapeType="1"/>
              </p:cNvSpPr>
              <p:nvPr/>
            </p:nvSpPr>
            <p:spPr bwMode="auto">
              <a:xfrm>
                <a:off x="504" y="1840"/>
                <a:ext cx="8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7031" name="Group 647"/>
          <p:cNvGrpSpPr/>
          <p:nvPr/>
        </p:nvGrpSpPr>
        <p:grpSpPr bwMode="auto">
          <a:xfrm>
            <a:off x="4703763" y="657225"/>
            <a:ext cx="4338637" cy="4710113"/>
            <a:chOff x="2963" y="414"/>
            <a:chExt cx="2733" cy="2967"/>
          </a:xfrm>
        </p:grpSpPr>
        <p:grpSp>
          <p:nvGrpSpPr>
            <p:cNvPr id="17020" name="Group 636"/>
            <p:cNvGrpSpPr/>
            <p:nvPr/>
          </p:nvGrpSpPr>
          <p:grpSpPr bwMode="auto">
            <a:xfrm>
              <a:off x="2963" y="414"/>
              <a:ext cx="2733" cy="2967"/>
              <a:chOff x="2963" y="414"/>
              <a:chExt cx="2733" cy="2967"/>
            </a:xfrm>
          </p:grpSpPr>
          <p:grpSp>
            <p:nvGrpSpPr>
              <p:cNvPr id="16964" name="Group 580"/>
              <p:cNvGrpSpPr/>
              <p:nvPr/>
            </p:nvGrpSpPr>
            <p:grpSpPr bwMode="auto">
              <a:xfrm>
                <a:off x="3136" y="1463"/>
                <a:ext cx="1321" cy="322"/>
                <a:chOff x="2857" y="130"/>
                <a:chExt cx="1321" cy="322"/>
              </a:xfrm>
            </p:grpSpPr>
            <p:sp>
              <p:nvSpPr>
                <p:cNvPr id="16965" name="Rectangle 581"/>
                <p:cNvSpPr>
                  <a:spLocks noChangeArrowheads="1"/>
                </p:cNvSpPr>
                <p:nvPr/>
              </p:nvSpPr>
              <p:spPr bwMode="auto">
                <a:xfrm>
                  <a:off x="2889" y="13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a:solidFill>
                        <a:schemeClr val="accent2"/>
                      </a:solidFill>
                      <a:latin typeface="宋体" panose="02010600030101010101" pitchFamily="2" charset="-122"/>
                    </a:rPr>
                    <a:t>B</a:t>
                  </a:r>
                  <a:endParaRPr lang="en-US" altLang="zh-CN" sz="1200" b="1"/>
                </a:p>
              </p:txBody>
            </p:sp>
            <p:sp>
              <p:nvSpPr>
                <p:cNvPr id="16966" name="Rectangle 582"/>
                <p:cNvSpPr>
                  <a:spLocks noChangeArrowheads="1"/>
                </p:cNvSpPr>
                <p:nvPr/>
              </p:nvSpPr>
              <p:spPr bwMode="auto">
                <a:xfrm>
                  <a:off x="4056" y="13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pPr eaLnBrk="0" hangingPunct="0"/>
                  <a:r>
                    <a:rPr lang="en-US" altLang="zh-CN" b="1">
                      <a:solidFill>
                        <a:schemeClr val="accent2"/>
                      </a:solidFill>
                      <a:latin typeface="宋体" panose="02010600030101010101" pitchFamily="2" charset="-122"/>
                    </a:rPr>
                    <a:t>B</a:t>
                  </a:r>
                  <a:endParaRPr lang="en-US" altLang="zh-CN" sz="1200" b="1"/>
                </a:p>
              </p:txBody>
            </p:sp>
            <p:grpSp>
              <p:nvGrpSpPr>
                <p:cNvPr id="16967" name="Group 583"/>
                <p:cNvGrpSpPr/>
                <p:nvPr/>
              </p:nvGrpSpPr>
              <p:grpSpPr bwMode="auto">
                <a:xfrm>
                  <a:off x="2857" y="348"/>
                  <a:ext cx="156" cy="104"/>
                  <a:chOff x="2797" y="1692"/>
                  <a:chExt cx="156" cy="104"/>
                </a:xfrm>
              </p:grpSpPr>
              <p:sp>
                <p:nvSpPr>
                  <p:cNvPr id="16968" name="Freeform 584"/>
                  <p:cNvSpPr/>
                  <p:nvPr/>
                </p:nvSpPr>
                <p:spPr bwMode="auto">
                  <a:xfrm>
                    <a:off x="2807" y="1692"/>
                    <a:ext cx="146" cy="16"/>
                  </a:xfrm>
                  <a:custGeom>
                    <a:avLst/>
                    <a:gdLst>
                      <a:gd name="T0" fmla="*/ 0 w 350"/>
                      <a:gd name="T1" fmla="*/ 0 h 35"/>
                      <a:gd name="T2" fmla="*/ 0 w 350"/>
                      <a:gd name="T3" fmla="*/ 35 h 35"/>
                      <a:gd name="T4" fmla="*/ 350 w 350"/>
                      <a:gd name="T5" fmla="*/ 0 h 35"/>
                      <a:gd name="T6" fmla="*/ 0 w 350"/>
                      <a:gd name="T7" fmla="*/ 0 h 35"/>
                    </a:gdLst>
                    <a:ahLst/>
                    <a:cxnLst>
                      <a:cxn ang="0">
                        <a:pos x="T0" y="T1"/>
                      </a:cxn>
                      <a:cxn ang="0">
                        <a:pos x="T2" y="T3"/>
                      </a:cxn>
                      <a:cxn ang="0">
                        <a:pos x="T4" y="T5"/>
                      </a:cxn>
                      <a:cxn ang="0">
                        <a:pos x="T6" y="T7"/>
                      </a:cxn>
                    </a:cxnLst>
                    <a:rect l="0" t="0" r="r" b="b"/>
                    <a:pathLst>
                      <a:path w="350" h="35">
                        <a:moveTo>
                          <a:pt x="0" y="0"/>
                        </a:moveTo>
                        <a:lnTo>
                          <a:pt x="0" y="35"/>
                        </a:lnTo>
                        <a:lnTo>
                          <a:pt x="350" y="0"/>
                        </a:lnTo>
                        <a:lnTo>
                          <a:pt x="0" y="0"/>
                        </a:lnTo>
                        <a:close/>
                      </a:path>
                    </a:pathLst>
                  </a:custGeom>
                  <a:solidFill>
                    <a:srgbClr val="000000"/>
                  </a:solidFill>
                  <a:ln w="9525">
                    <a:solidFill>
                      <a:schemeClr val="tx1"/>
                    </a:solidFill>
                    <a:round/>
                  </a:ln>
                </p:spPr>
                <p:txBody>
                  <a:bodyPr/>
                  <a:lstStyle/>
                  <a:p>
                    <a:endParaRPr lang="zh-CN" altLang="en-US"/>
                  </a:p>
                </p:txBody>
              </p:sp>
              <p:sp>
                <p:nvSpPr>
                  <p:cNvPr id="16969" name="Freeform 585"/>
                  <p:cNvSpPr/>
                  <p:nvPr/>
                </p:nvSpPr>
                <p:spPr bwMode="auto">
                  <a:xfrm>
                    <a:off x="2807" y="1692"/>
                    <a:ext cx="146" cy="16"/>
                  </a:xfrm>
                  <a:custGeom>
                    <a:avLst/>
                    <a:gdLst>
                      <a:gd name="T0" fmla="*/ 0 w 350"/>
                      <a:gd name="T1" fmla="*/ 35 h 35"/>
                      <a:gd name="T2" fmla="*/ 350 w 350"/>
                      <a:gd name="T3" fmla="*/ 0 h 35"/>
                      <a:gd name="T4" fmla="*/ 350 w 350"/>
                      <a:gd name="T5" fmla="*/ 35 h 35"/>
                      <a:gd name="T6" fmla="*/ 0 w 350"/>
                      <a:gd name="T7" fmla="*/ 35 h 35"/>
                    </a:gdLst>
                    <a:ahLst/>
                    <a:cxnLst>
                      <a:cxn ang="0">
                        <a:pos x="T0" y="T1"/>
                      </a:cxn>
                      <a:cxn ang="0">
                        <a:pos x="T2" y="T3"/>
                      </a:cxn>
                      <a:cxn ang="0">
                        <a:pos x="T4" y="T5"/>
                      </a:cxn>
                      <a:cxn ang="0">
                        <a:pos x="T6" y="T7"/>
                      </a:cxn>
                    </a:cxnLst>
                    <a:rect l="0" t="0" r="r" b="b"/>
                    <a:pathLst>
                      <a:path w="350" h="35">
                        <a:moveTo>
                          <a:pt x="0" y="35"/>
                        </a:moveTo>
                        <a:lnTo>
                          <a:pt x="350" y="0"/>
                        </a:lnTo>
                        <a:lnTo>
                          <a:pt x="350" y="35"/>
                        </a:lnTo>
                        <a:lnTo>
                          <a:pt x="0" y="35"/>
                        </a:lnTo>
                        <a:close/>
                      </a:path>
                    </a:pathLst>
                  </a:custGeom>
                  <a:solidFill>
                    <a:srgbClr val="000000"/>
                  </a:solidFill>
                  <a:ln w="9525">
                    <a:solidFill>
                      <a:schemeClr val="tx1"/>
                    </a:solidFill>
                    <a:round/>
                  </a:ln>
                </p:spPr>
                <p:txBody>
                  <a:bodyPr/>
                  <a:lstStyle/>
                  <a:p>
                    <a:endParaRPr lang="zh-CN" altLang="en-US"/>
                  </a:p>
                </p:txBody>
              </p:sp>
              <p:sp>
                <p:nvSpPr>
                  <p:cNvPr id="16970" name="Rectangle 586"/>
                  <p:cNvSpPr>
                    <a:spLocks noChangeArrowheads="1"/>
                  </p:cNvSpPr>
                  <p:nvPr/>
                </p:nvSpPr>
                <p:spPr bwMode="auto">
                  <a:xfrm>
                    <a:off x="2807" y="1692"/>
                    <a:ext cx="146" cy="16"/>
                  </a:xfrm>
                  <a:prstGeom prst="rect">
                    <a:avLst/>
                  </a:prstGeom>
                  <a:noFill/>
                  <a:ln w="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971" name="Freeform 587"/>
                  <p:cNvSpPr/>
                  <p:nvPr/>
                </p:nvSpPr>
                <p:spPr bwMode="auto">
                  <a:xfrm>
                    <a:off x="2804" y="1696"/>
                    <a:ext cx="3" cy="44"/>
                  </a:xfrm>
                  <a:custGeom>
                    <a:avLst/>
                    <a:gdLst>
                      <a:gd name="T0" fmla="*/ 0 w 1"/>
                      <a:gd name="T1" fmla="*/ 0 h 108"/>
                      <a:gd name="T2" fmla="*/ 0 w 1"/>
                      <a:gd name="T3" fmla="*/ 108 h 108"/>
                      <a:gd name="T4" fmla="*/ 1 w 1"/>
                      <a:gd name="T5" fmla="*/ 108 h 108"/>
                    </a:gdLst>
                    <a:ahLst/>
                    <a:cxnLst>
                      <a:cxn ang="0">
                        <a:pos x="T0" y="T1"/>
                      </a:cxn>
                      <a:cxn ang="0">
                        <a:pos x="T2" y="T3"/>
                      </a:cxn>
                      <a:cxn ang="0">
                        <a:pos x="T4" y="T5"/>
                      </a:cxn>
                    </a:cxnLst>
                    <a:rect l="0" t="0" r="r" b="b"/>
                    <a:pathLst>
                      <a:path w="1" h="108">
                        <a:moveTo>
                          <a:pt x="0" y="0"/>
                        </a:moveTo>
                        <a:lnTo>
                          <a:pt x="0" y="108"/>
                        </a:lnTo>
                        <a:lnTo>
                          <a:pt x="1" y="108"/>
                        </a:lnTo>
                      </a:path>
                    </a:pathLst>
                  </a:custGeom>
                  <a:noFill/>
                  <a:ln w="127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972" name="Freeform 588"/>
                  <p:cNvSpPr/>
                  <p:nvPr/>
                </p:nvSpPr>
                <p:spPr bwMode="auto">
                  <a:xfrm>
                    <a:off x="2797" y="1740"/>
                    <a:ext cx="19" cy="56"/>
                  </a:xfrm>
                  <a:custGeom>
                    <a:avLst/>
                    <a:gdLst>
                      <a:gd name="T0" fmla="*/ 47 w 47"/>
                      <a:gd name="T1" fmla="*/ 0 h 139"/>
                      <a:gd name="T2" fmla="*/ 24 w 47"/>
                      <a:gd name="T3" fmla="*/ 139 h 139"/>
                      <a:gd name="T4" fmla="*/ 0 w 47"/>
                      <a:gd name="T5" fmla="*/ 0 h 139"/>
                      <a:gd name="T6" fmla="*/ 47 w 47"/>
                      <a:gd name="T7" fmla="*/ 0 h 139"/>
                    </a:gdLst>
                    <a:ahLst/>
                    <a:cxnLst>
                      <a:cxn ang="0">
                        <a:pos x="T0" y="T1"/>
                      </a:cxn>
                      <a:cxn ang="0">
                        <a:pos x="T2" y="T3"/>
                      </a:cxn>
                      <a:cxn ang="0">
                        <a:pos x="T4" y="T5"/>
                      </a:cxn>
                      <a:cxn ang="0">
                        <a:pos x="T6" y="T7"/>
                      </a:cxn>
                    </a:cxnLst>
                    <a:rect l="0" t="0" r="r" b="b"/>
                    <a:pathLst>
                      <a:path w="47" h="139">
                        <a:moveTo>
                          <a:pt x="47" y="0"/>
                        </a:moveTo>
                        <a:lnTo>
                          <a:pt x="24" y="139"/>
                        </a:lnTo>
                        <a:lnTo>
                          <a:pt x="0" y="0"/>
                        </a:lnTo>
                        <a:lnTo>
                          <a:pt x="47" y="0"/>
                        </a:lnTo>
                        <a:close/>
                      </a:path>
                    </a:pathLst>
                  </a:custGeom>
                  <a:solidFill>
                    <a:srgbClr val="000000"/>
                  </a:solidFill>
                  <a:ln w="9525">
                    <a:solidFill>
                      <a:schemeClr val="tx1"/>
                    </a:solidFill>
                    <a:round/>
                  </a:ln>
                </p:spPr>
                <p:txBody>
                  <a:bodyPr/>
                  <a:lstStyle/>
                  <a:p>
                    <a:endParaRPr lang="zh-CN" altLang="en-US"/>
                  </a:p>
                </p:txBody>
              </p:sp>
              <p:sp>
                <p:nvSpPr>
                  <p:cNvPr id="16973" name="Freeform 589"/>
                  <p:cNvSpPr/>
                  <p:nvPr/>
                </p:nvSpPr>
                <p:spPr bwMode="auto">
                  <a:xfrm>
                    <a:off x="2797" y="1740"/>
                    <a:ext cx="19" cy="56"/>
                  </a:xfrm>
                  <a:custGeom>
                    <a:avLst/>
                    <a:gdLst>
                      <a:gd name="T0" fmla="*/ 47 w 47"/>
                      <a:gd name="T1" fmla="*/ 0 h 139"/>
                      <a:gd name="T2" fmla="*/ 24 w 47"/>
                      <a:gd name="T3" fmla="*/ 139 h 139"/>
                      <a:gd name="T4" fmla="*/ 0 w 47"/>
                      <a:gd name="T5" fmla="*/ 0 h 139"/>
                      <a:gd name="T6" fmla="*/ 47 w 47"/>
                      <a:gd name="T7" fmla="*/ 0 h 139"/>
                    </a:gdLst>
                    <a:ahLst/>
                    <a:cxnLst>
                      <a:cxn ang="0">
                        <a:pos x="T0" y="T1"/>
                      </a:cxn>
                      <a:cxn ang="0">
                        <a:pos x="T2" y="T3"/>
                      </a:cxn>
                      <a:cxn ang="0">
                        <a:pos x="T4" y="T5"/>
                      </a:cxn>
                      <a:cxn ang="0">
                        <a:pos x="T6" y="T7"/>
                      </a:cxn>
                    </a:cxnLst>
                    <a:rect l="0" t="0" r="r" b="b"/>
                    <a:pathLst>
                      <a:path w="47" h="139">
                        <a:moveTo>
                          <a:pt x="47" y="0"/>
                        </a:moveTo>
                        <a:lnTo>
                          <a:pt x="24" y="139"/>
                        </a:lnTo>
                        <a:lnTo>
                          <a:pt x="0" y="0"/>
                        </a:lnTo>
                        <a:lnTo>
                          <a:pt x="47" y="0"/>
                        </a:lnTo>
                      </a:path>
                    </a:pathLst>
                  </a:custGeom>
                  <a:noFill/>
                  <a:ln w="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6974" name="Group 590"/>
                <p:cNvGrpSpPr/>
                <p:nvPr/>
              </p:nvGrpSpPr>
              <p:grpSpPr bwMode="auto">
                <a:xfrm>
                  <a:off x="4022" y="348"/>
                  <a:ext cx="156" cy="104"/>
                  <a:chOff x="3962" y="1692"/>
                  <a:chExt cx="156" cy="104"/>
                </a:xfrm>
              </p:grpSpPr>
              <p:sp>
                <p:nvSpPr>
                  <p:cNvPr id="16975" name="Freeform 591"/>
                  <p:cNvSpPr/>
                  <p:nvPr/>
                </p:nvSpPr>
                <p:spPr bwMode="auto">
                  <a:xfrm>
                    <a:off x="3962" y="1692"/>
                    <a:ext cx="144" cy="16"/>
                  </a:xfrm>
                  <a:custGeom>
                    <a:avLst/>
                    <a:gdLst>
                      <a:gd name="T0" fmla="*/ 0 w 351"/>
                      <a:gd name="T1" fmla="*/ 0 h 35"/>
                      <a:gd name="T2" fmla="*/ 0 w 351"/>
                      <a:gd name="T3" fmla="*/ 35 h 35"/>
                      <a:gd name="T4" fmla="*/ 351 w 351"/>
                      <a:gd name="T5" fmla="*/ 0 h 35"/>
                      <a:gd name="T6" fmla="*/ 0 w 351"/>
                      <a:gd name="T7" fmla="*/ 0 h 35"/>
                    </a:gdLst>
                    <a:ahLst/>
                    <a:cxnLst>
                      <a:cxn ang="0">
                        <a:pos x="T0" y="T1"/>
                      </a:cxn>
                      <a:cxn ang="0">
                        <a:pos x="T2" y="T3"/>
                      </a:cxn>
                      <a:cxn ang="0">
                        <a:pos x="T4" y="T5"/>
                      </a:cxn>
                      <a:cxn ang="0">
                        <a:pos x="T6" y="T7"/>
                      </a:cxn>
                    </a:cxnLst>
                    <a:rect l="0" t="0" r="r" b="b"/>
                    <a:pathLst>
                      <a:path w="351" h="35">
                        <a:moveTo>
                          <a:pt x="0" y="0"/>
                        </a:moveTo>
                        <a:lnTo>
                          <a:pt x="0" y="35"/>
                        </a:lnTo>
                        <a:lnTo>
                          <a:pt x="351" y="0"/>
                        </a:lnTo>
                        <a:lnTo>
                          <a:pt x="0" y="0"/>
                        </a:lnTo>
                        <a:close/>
                      </a:path>
                    </a:pathLst>
                  </a:custGeom>
                  <a:solidFill>
                    <a:srgbClr val="000000"/>
                  </a:solidFill>
                  <a:ln w="9525">
                    <a:solidFill>
                      <a:schemeClr val="tx1"/>
                    </a:solidFill>
                    <a:round/>
                  </a:ln>
                </p:spPr>
                <p:txBody>
                  <a:bodyPr/>
                  <a:lstStyle/>
                  <a:p>
                    <a:endParaRPr lang="zh-CN" altLang="en-US"/>
                  </a:p>
                </p:txBody>
              </p:sp>
              <p:sp>
                <p:nvSpPr>
                  <p:cNvPr id="16976" name="Freeform 592"/>
                  <p:cNvSpPr/>
                  <p:nvPr/>
                </p:nvSpPr>
                <p:spPr bwMode="auto">
                  <a:xfrm>
                    <a:off x="3962" y="1692"/>
                    <a:ext cx="144" cy="16"/>
                  </a:xfrm>
                  <a:custGeom>
                    <a:avLst/>
                    <a:gdLst>
                      <a:gd name="T0" fmla="*/ 0 w 351"/>
                      <a:gd name="T1" fmla="*/ 35 h 35"/>
                      <a:gd name="T2" fmla="*/ 351 w 351"/>
                      <a:gd name="T3" fmla="*/ 0 h 35"/>
                      <a:gd name="T4" fmla="*/ 351 w 351"/>
                      <a:gd name="T5" fmla="*/ 35 h 35"/>
                      <a:gd name="T6" fmla="*/ 0 w 351"/>
                      <a:gd name="T7" fmla="*/ 35 h 35"/>
                    </a:gdLst>
                    <a:ahLst/>
                    <a:cxnLst>
                      <a:cxn ang="0">
                        <a:pos x="T0" y="T1"/>
                      </a:cxn>
                      <a:cxn ang="0">
                        <a:pos x="T2" y="T3"/>
                      </a:cxn>
                      <a:cxn ang="0">
                        <a:pos x="T4" y="T5"/>
                      </a:cxn>
                      <a:cxn ang="0">
                        <a:pos x="T6" y="T7"/>
                      </a:cxn>
                    </a:cxnLst>
                    <a:rect l="0" t="0" r="r" b="b"/>
                    <a:pathLst>
                      <a:path w="351" h="35">
                        <a:moveTo>
                          <a:pt x="0" y="35"/>
                        </a:moveTo>
                        <a:lnTo>
                          <a:pt x="351" y="0"/>
                        </a:lnTo>
                        <a:lnTo>
                          <a:pt x="351" y="35"/>
                        </a:lnTo>
                        <a:lnTo>
                          <a:pt x="0" y="35"/>
                        </a:lnTo>
                        <a:close/>
                      </a:path>
                    </a:pathLst>
                  </a:custGeom>
                  <a:solidFill>
                    <a:srgbClr val="000000"/>
                  </a:solidFill>
                  <a:ln w="9525">
                    <a:solidFill>
                      <a:schemeClr val="tx1"/>
                    </a:solidFill>
                    <a:round/>
                  </a:ln>
                </p:spPr>
                <p:txBody>
                  <a:bodyPr/>
                  <a:lstStyle/>
                  <a:p>
                    <a:endParaRPr lang="zh-CN" altLang="en-US"/>
                  </a:p>
                </p:txBody>
              </p:sp>
              <p:sp>
                <p:nvSpPr>
                  <p:cNvPr id="16977" name="Rectangle 593"/>
                  <p:cNvSpPr>
                    <a:spLocks noChangeArrowheads="1"/>
                  </p:cNvSpPr>
                  <p:nvPr/>
                </p:nvSpPr>
                <p:spPr bwMode="auto">
                  <a:xfrm>
                    <a:off x="3962" y="1692"/>
                    <a:ext cx="144" cy="16"/>
                  </a:xfrm>
                  <a:prstGeom prst="rect">
                    <a:avLst/>
                  </a:prstGeom>
                  <a:noFill/>
                  <a:ln w="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978" name="Freeform 594"/>
                  <p:cNvSpPr/>
                  <p:nvPr/>
                </p:nvSpPr>
                <p:spPr bwMode="auto">
                  <a:xfrm>
                    <a:off x="4106" y="1696"/>
                    <a:ext cx="4" cy="44"/>
                  </a:xfrm>
                  <a:custGeom>
                    <a:avLst/>
                    <a:gdLst>
                      <a:gd name="T0" fmla="*/ 0 w 1"/>
                      <a:gd name="T1" fmla="*/ 0 h 108"/>
                      <a:gd name="T2" fmla="*/ 0 w 1"/>
                      <a:gd name="T3" fmla="*/ 108 h 108"/>
                      <a:gd name="T4" fmla="*/ 1 w 1"/>
                      <a:gd name="T5" fmla="*/ 108 h 108"/>
                    </a:gdLst>
                    <a:ahLst/>
                    <a:cxnLst>
                      <a:cxn ang="0">
                        <a:pos x="T0" y="T1"/>
                      </a:cxn>
                      <a:cxn ang="0">
                        <a:pos x="T2" y="T3"/>
                      </a:cxn>
                      <a:cxn ang="0">
                        <a:pos x="T4" y="T5"/>
                      </a:cxn>
                    </a:cxnLst>
                    <a:rect l="0" t="0" r="r" b="b"/>
                    <a:pathLst>
                      <a:path w="1" h="108">
                        <a:moveTo>
                          <a:pt x="0" y="0"/>
                        </a:moveTo>
                        <a:lnTo>
                          <a:pt x="0" y="108"/>
                        </a:lnTo>
                        <a:lnTo>
                          <a:pt x="1" y="108"/>
                        </a:lnTo>
                      </a:path>
                    </a:pathLst>
                  </a:custGeom>
                  <a:noFill/>
                  <a:ln w="127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979" name="Freeform 595"/>
                  <p:cNvSpPr/>
                  <p:nvPr/>
                </p:nvSpPr>
                <p:spPr bwMode="auto">
                  <a:xfrm>
                    <a:off x="4099" y="1740"/>
                    <a:ext cx="19" cy="56"/>
                  </a:xfrm>
                  <a:custGeom>
                    <a:avLst/>
                    <a:gdLst>
                      <a:gd name="T0" fmla="*/ 47 w 47"/>
                      <a:gd name="T1" fmla="*/ 0 h 139"/>
                      <a:gd name="T2" fmla="*/ 23 w 47"/>
                      <a:gd name="T3" fmla="*/ 139 h 139"/>
                      <a:gd name="T4" fmla="*/ 0 w 47"/>
                      <a:gd name="T5" fmla="*/ 0 h 139"/>
                      <a:gd name="T6" fmla="*/ 47 w 47"/>
                      <a:gd name="T7" fmla="*/ 0 h 139"/>
                    </a:gdLst>
                    <a:ahLst/>
                    <a:cxnLst>
                      <a:cxn ang="0">
                        <a:pos x="T0" y="T1"/>
                      </a:cxn>
                      <a:cxn ang="0">
                        <a:pos x="T2" y="T3"/>
                      </a:cxn>
                      <a:cxn ang="0">
                        <a:pos x="T4" y="T5"/>
                      </a:cxn>
                      <a:cxn ang="0">
                        <a:pos x="T6" y="T7"/>
                      </a:cxn>
                    </a:cxnLst>
                    <a:rect l="0" t="0" r="r" b="b"/>
                    <a:pathLst>
                      <a:path w="47" h="139">
                        <a:moveTo>
                          <a:pt x="47" y="0"/>
                        </a:moveTo>
                        <a:lnTo>
                          <a:pt x="23" y="139"/>
                        </a:lnTo>
                        <a:lnTo>
                          <a:pt x="0" y="0"/>
                        </a:lnTo>
                        <a:lnTo>
                          <a:pt x="47" y="0"/>
                        </a:lnTo>
                        <a:close/>
                      </a:path>
                    </a:pathLst>
                  </a:custGeom>
                  <a:solidFill>
                    <a:srgbClr val="000000"/>
                  </a:solidFill>
                  <a:ln w="9525">
                    <a:solidFill>
                      <a:schemeClr val="tx1"/>
                    </a:solidFill>
                    <a:round/>
                  </a:ln>
                </p:spPr>
                <p:txBody>
                  <a:bodyPr/>
                  <a:lstStyle/>
                  <a:p>
                    <a:endParaRPr lang="zh-CN" altLang="en-US"/>
                  </a:p>
                </p:txBody>
              </p:sp>
              <p:sp>
                <p:nvSpPr>
                  <p:cNvPr id="16980" name="Freeform 596"/>
                  <p:cNvSpPr/>
                  <p:nvPr/>
                </p:nvSpPr>
                <p:spPr bwMode="auto">
                  <a:xfrm>
                    <a:off x="4099" y="1740"/>
                    <a:ext cx="19" cy="56"/>
                  </a:xfrm>
                  <a:custGeom>
                    <a:avLst/>
                    <a:gdLst>
                      <a:gd name="T0" fmla="*/ 47 w 47"/>
                      <a:gd name="T1" fmla="*/ 0 h 139"/>
                      <a:gd name="T2" fmla="*/ 23 w 47"/>
                      <a:gd name="T3" fmla="*/ 139 h 139"/>
                      <a:gd name="T4" fmla="*/ 0 w 47"/>
                      <a:gd name="T5" fmla="*/ 0 h 139"/>
                      <a:gd name="T6" fmla="*/ 47 w 47"/>
                      <a:gd name="T7" fmla="*/ 0 h 139"/>
                    </a:gdLst>
                    <a:ahLst/>
                    <a:cxnLst>
                      <a:cxn ang="0">
                        <a:pos x="T0" y="T1"/>
                      </a:cxn>
                      <a:cxn ang="0">
                        <a:pos x="T2" y="T3"/>
                      </a:cxn>
                      <a:cxn ang="0">
                        <a:pos x="T4" y="T5"/>
                      </a:cxn>
                      <a:cxn ang="0">
                        <a:pos x="T6" y="T7"/>
                      </a:cxn>
                    </a:cxnLst>
                    <a:rect l="0" t="0" r="r" b="b"/>
                    <a:pathLst>
                      <a:path w="47" h="139">
                        <a:moveTo>
                          <a:pt x="47" y="0"/>
                        </a:moveTo>
                        <a:lnTo>
                          <a:pt x="23" y="139"/>
                        </a:lnTo>
                        <a:lnTo>
                          <a:pt x="0" y="0"/>
                        </a:lnTo>
                        <a:lnTo>
                          <a:pt x="47" y="0"/>
                        </a:lnTo>
                      </a:path>
                    </a:pathLst>
                  </a:custGeom>
                  <a:noFill/>
                  <a:ln w="0">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6981" name="Rectangle 597"/>
              <p:cNvSpPr>
                <a:spLocks noChangeArrowheads="1"/>
              </p:cNvSpPr>
              <p:nvPr/>
            </p:nvSpPr>
            <p:spPr bwMode="auto">
              <a:xfrm>
                <a:off x="3654" y="2193"/>
                <a:ext cx="34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b="1" i="1">
                    <a:solidFill>
                      <a:schemeClr val="accent2"/>
                    </a:solidFill>
                    <a:latin typeface="宋体" panose="02010600030101010101" pitchFamily="2" charset="-122"/>
                  </a:rPr>
                  <a:t>B</a:t>
                </a:r>
                <a:r>
                  <a:rPr lang="en-US" altLang="zh-CN" b="1">
                    <a:solidFill>
                      <a:schemeClr val="accent2"/>
                    </a:solidFill>
                    <a:latin typeface="宋体" panose="02010600030101010101" pitchFamily="2" charset="-122"/>
                  </a:rPr>
                  <a:t>-</a:t>
                </a:r>
                <a:r>
                  <a:rPr lang="en-US" altLang="zh-CN" b="1" i="1">
                    <a:solidFill>
                      <a:schemeClr val="accent2"/>
                    </a:solidFill>
                    <a:latin typeface="宋体" panose="02010600030101010101" pitchFamily="2" charset="-122"/>
                  </a:rPr>
                  <a:t>B</a:t>
                </a:r>
                <a:endParaRPr lang="en-US" altLang="zh-CN" i="1"/>
              </a:p>
            </p:txBody>
          </p:sp>
          <p:pic>
            <p:nvPicPr>
              <p:cNvPr id="16982" name="Picture 5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 y="460"/>
                <a:ext cx="1088" cy="1670"/>
              </a:xfrm>
              <a:prstGeom prst="rect">
                <a:avLst/>
              </a:prstGeom>
              <a:noFill/>
              <a:extLst>
                <a:ext uri="{909E8E84-426E-40DD-AFC4-6F175D3DCCD1}">
                  <a14:hiddenFill xmlns:a14="http://schemas.microsoft.com/office/drawing/2010/main">
                    <a:solidFill>
                      <a:srgbClr val="FFFFFF"/>
                    </a:solidFill>
                  </a14:hiddenFill>
                </a:ext>
              </a:extLst>
            </p:spPr>
          </p:pic>
          <p:pic>
            <p:nvPicPr>
              <p:cNvPr id="16983" name="Picture 5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4" y="2401"/>
                <a:ext cx="1670" cy="980"/>
              </a:xfrm>
              <a:prstGeom prst="rect">
                <a:avLst/>
              </a:prstGeom>
              <a:noFill/>
              <a:extLst>
                <a:ext uri="{909E8E84-426E-40DD-AFC4-6F175D3DCCD1}">
                  <a14:hiddenFill xmlns:a14="http://schemas.microsoft.com/office/drawing/2010/main">
                    <a:solidFill>
                      <a:srgbClr val="FFFFFF"/>
                    </a:solidFill>
                  </a14:hiddenFill>
                </a:ext>
              </a:extLst>
            </p:spPr>
          </p:pic>
          <p:grpSp>
            <p:nvGrpSpPr>
              <p:cNvPr id="16960" name="Group 576"/>
              <p:cNvGrpSpPr/>
              <p:nvPr/>
            </p:nvGrpSpPr>
            <p:grpSpPr bwMode="auto">
              <a:xfrm>
                <a:off x="2963" y="414"/>
                <a:ext cx="1666" cy="1712"/>
                <a:chOff x="2524" y="450"/>
                <a:chExt cx="1734" cy="1782"/>
              </a:xfrm>
            </p:grpSpPr>
            <p:pic>
              <p:nvPicPr>
                <p:cNvPr id="16961" name="Picture 57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4" y="450"/>
                  <a:ext cx="1734" cy="1782"/>
                </a:xfrm>
                <a:prstGeom prst="rect">
                  <a:avLst/>
                </a:prstGeom>
                <a:noFill/>
                <a:extLst>
                  <a:ext uri="{909E8E84-426E-40DD-AFC4-6F175D3DCCD1}">
                    <a14:hiddenFill xmlns:a14="http://schemas.microsoft.com/office/drawing/2010/main">
                      <a:solidFill>
                        <a:srgbClr val="FFFFFF"/>
                      </a:solidFill>
                    </a14:hiddenFill>
                  </a:ext>
                </a:extLst>
              </p:spPr>
            </p:pic>
            <p:sp>
              <p:nvSpPr>
                <p:cNvPr id="16962" name="Rectangle 578"/>
                <p:cNvSpPr>
                  <a:spLocks noChangeArrowheads="1"/>
                </p:cNvSpPr>
                <p:nvPr/>
              </p:nvSpPr>
              <p:spPr bwMode="auto">
                <a:xfrm>
                  <a:off x="2719" y="1634"/>
                  <a:ext cx="139"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63" name="Rectangle 579"/>
                <p:cNvSpPr>
                  <a:spLocks noChangeArrowheads="1"/>
                </p:cNvSpPr>
                <p:nvPr/>
              </p:nvSpPr>
              <p:spPr bwMode="auto">
                <a:xfrm>
                  <a:off x="3905" y="1628"/>
                  <a:ext cx="166" cy="1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7026" name="Group 642"/>
            <p:cNvGrpSpPr/>
            <p:nvPr/>
          </p:nvGrpSpPr>
          <p:grpSpPr bwMode="auto">
            <a:xfrm>
              <a:off x="3344" y="1852"/>
              <a:ext cx="880" cy="40"/>
              <a:chOff x="500" y="1840"/>
              <a:chExt cx="880" cy="40"/>
            </a:xfrm>
          </p:grpSpPr>
          <p:sp>
            <p:nvSpPr>
              <p:cNvPr id="17027" name="Rectangle 643"/>
              <p:cNvSpPr>
                <a:spLocks noChangeArrowheads="1"/>
              </p:cNvSpPr>
              <p:nvPr/>
            </p:nvSpPr>
            <p:spPr bwMode="auto">
              <a:xfrm>
                <a:off x="500" y="1848"/>
                <a:ext cx="228" cy="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28" name="Rectangle 644"/>
              <p:cNvSpPr>
                <a:spLocks noChangeArrowheads="1"/>
              </p:cNvSpPr>
              <p:nvPr/>
            </p:nvSpPr>
            <p:spPr bwMode="auto">
              <a:xfrm>
                <a:off x="1152" y="1848"/>
                <a:ext cx="228" cy="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29" name="Line 645"/>
              <p:cNvSpPr>
                <a:spLocks noChangeShapeType="1"/>
              </p:cNvSpPr>
              <p:nvPr/>
            </p:nvSpPr>
            <p:spPr bwMode="auto">
              <a:xfrm>
                <a:off x="504" y="1840"/>
                <a:ext cx="8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slide(fromLeft)">
                                      <p:cBhvr>
                                        <p:cTn id="7" dur="500"/>
                                        <p:tgtEl>
                                          <p:spTgt spid="16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98" name="Picture 2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80000" y="1028700"/>
            <a:ext cx="3063875" cy="3651250"/>
          </a:xfrm>
          <a:prstGeom prst="rect">
            <a:avLst/>
          </a:prstGeom>
          <a:noFill/>
          <a:extLst>
            <a:ext uri="{909E8E84-426E-40DD-AFC4-6F175D3DCCD1}">
              <a14:hiddenFill xmlns:a14="http://schemas.microsoft.com/office/drawing/2010/main">
                <a:solidFill>
                  <a:srgbClr val="FFFFFF"/>
                </a:solidFill>
              </a14:hiddenFill>
            </a:ext>
          </a:extLst>
        </p:spPr>
      </p:pic>
      <p:sp>
        <p:nvSpPr>
          <p:cNvPr id="54274" name="Text Box 2"/>
          <p:cNvSpPr txBox="1">
            <a:spLocks noChangeArrowheads="1"/>
          </p:cNvSpPr>
          <p:nvPr/>
        </p:nvSpPr>
        <p:spPr bwMode="auto">
          <a:xfrm>
            <a:off x="793750" y="882650"/>
            <a:ext cx="2684463"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chemeClr val="accent2"/>
                </a:solidFill>
                <a:latin typeface="宋体" panose="02010600030101010101" pitchFamily="2" charset="-122"/>
                <a:sym typeface="Monotype Sorts" panose="05000000000000000000" pitchFamily="2" charset="2"/>
              </a:rPr>
              <a:t>⑴ </a:t>
            </a:r>
            <a:r>
              <a:rPr lang="zh-CN" altLang="en-US" sz="2800" b="1">
                <a:solidFill>
                  <a:schemeClr val="accent2"/>
                </a:solidFill>
                <a:latin typeface="宋体" panose="02010600030101010101" pitchFamily="2" charset="-122"/>
                <a:sym typeface="Monotype Sorts" panose="05000000000000000000" pitchFamily="2" charset="2"/>
              </a:rPr>
              <a:t>分析零件</a:t>
            </a:r>
            <a:endParaRPr lang="zh-CN" altLang="en-US" sz="2800" b="1">
              <a:solidFill>
                <a:schemeClr val="accent2"/>
              </a:solidFill>
              <a:latin typeface="宋体" panose="02010600030101010101" pitchFamily="2" charset="-122"/>
              <a:sym typeface="Monotype Sorts" panose="05000000000000000000" pitchFamily="2" charset="2"/>
            </a:endParaRPr>
          </a:p>
        </p:txBody>
      </p:sp>
      <p:sp>
        <p:nvSpPr>
          <p:cNvPr id="54275" name="Text Box 3"/>
          <p:cNvSpPr txBox="1">
            <a:spLocks noChangeArrowheads="1"/>
          </p:cNvSpPr>
          <p:nvPr/>
        </p:nvSpPr>
        <p:spPr bwMode="auto">
          <a:xfrm>
            <a:off x="574675" y="1423988"/>
            <a:ext cx="5013325"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rgbClr val="FF3300"/>
                </a:solidFill>
                <a:latin typeface="宋体" panose="02010600030101010101" pitchFamily="2" charset="-122"/>
              </a:rPr>
              <a:t>功用</a:t>
            </a:r>
            <a:r>
              <a:rPr lang="zh-CN" altLang="en-US" sz="2800" b="1">
                <a:latin typeface="宋体" panose="02010600030101010101" pitchFamily="2" charset="-122"/>
              </a:rPr>
              <a:t>：流体开关装置球阀</a:t>
            </a:r>
            <a:endParaRPr lang="zh-CN" altLang="en-US" sz="2800" b="1">
              <a:latin typeface="宋体" panose="02010600030101010101" pitchFamily="2" charset="-122"/>
            </a:endParaRPr>
          </a:p>
          <a:p>
            <a:pPr eaLnBrk="0" hangingPunct="0"/>
            <a:r>
              <a:rPr lang="zh-CN" altLang="en-US" sz="2800" b="1">
                <a:latin typeface="宋体" panose="02010600030101010101" pitchFamily="2" charset="-122"/>
              </a:rPr>
              <a:t>      中的主体件，用于</a:t>
            </a:r>
            <a:endParaRPr lang="zh-CN" altLang="en-US" sz="2800" b="1">
              <a:latin typeface="宋体" panose="02010600030101010101" pitchFamily="2" charset="-122"/>
            </a:endParaRPr>
          </a:p>
          <a:p>
            <a:pPr eaLnBrk="0" hangingPunct="0"/>
            <a:r>
              <a:rPr lang="zh-CN" altLang="en-US" sz="2800" b="1">
                <a:latin typeface="宋体" panose="02010600030101010101" pitchFamily="2" charset="-122"/>
              </a:rPr>
              <a:t>      盛装阀芯及密封件</a:t>
            </a:r>
            <a:endParaRPr lang="zh-CN" altLang="en-US" sz="2800" b="1">
              <a:latin typeface="宋体" panose="02010600030101010101" pitchFamily="2" charset="-122"/>
            </a:endParaRPr>
          </a:p>
          <a:p>
            <a:pPr eaLnBrk="0" hangingPunct="0"/>
            <a:r>
              <a:rPr lang="zh-CN" altLang="en-US" sz="2800" b="1">
                <a:latin typeface="宋体" panose="02010600030101010101" pitchFamily="2" charset="-122"/>
              </a:rPr>
              <a:t>      等。</a:t>
            </a:r>
            <a:endParaRPr lang="zh-CN" altLang="en-US" sz="2800" b="1">
              <a:latin typeface="宋体" panose="02010600030101010101" pitchFamily="2" charset="-122"/>
            </a:endParaRPr>
          </a:p>
        </p:txBody>
      </p:sp>
      <p:sp>
        <p:nvSpPr>
          <p:cNvPr id="54276" name="Text Box 4"/>
          <p:cNvSpPr txBox="1">
            <a:spLocks noChangeArrowheads="1"/>
          </p:cNvSpPr>
          <p:nvPr/>
        </p:nvSpPr>
        <p:spPr bwMode="auto">
          <a:xfrm>
            <a:off x="574675" y="4306888"/>
            <a:ext cx="5562600"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solidFill>
                  <a:srgbClr val="FF3300"/>
                </a:solidFill>
                <a:latin typeface="宋体" panose="02010600030101010101" pitchFamily="2" charset="-122"/>
              </a:rPr>
              <a:t>结构</a:t>
            </a:r>
            <a:r>
              <a:rPr lang="zh-CN" altLang="en-US" sz="2800" b="1">
                <a:latin typeface="宋体" panose="02010600030101010101" pitchFamily="2" charset="-122"/>
              </a:rPr>
              <a:t>：两部分圆柱与球形体</a:t>
            </a:r>
            <a:endParaRPr lang="zh-CN" altLang="en-US" sz="2800" b="1">
              <a:latin typeface="宋体" panose="02010600030101010101" pitchFamily="2" charset="-122"/>
            </a:endParaRPr>
          </a:p>
          <a:p>
            <a:pPr eaLnBrk="0" hangingPunct="0"/>
            <a:r>
              <a:rPr lang="zh-CN" altLang="en-US" sz="2800" b="1">
                <a:latin typeface="宋体" panose="02010600030101010101" pitchFamily="2" charset="-122"/>
              </a:rPr>
              <a:t>      相交，内孔相通。</a:t>
            </a:r>
            <a:endParaRPr lang="zh-CN" altLang="en-US" sz="2800" b="1">
              <a:latin typeface="宋体" panose="02010600030101010101" pitchFamily="2" charset="-122"/>
            </a:endParaRPr>
          </a:p>
        </p:txBody>
      </p:sp>
      <p:sp>
        <p:nvSpPr>
          <p:cNvPr id="54277" name="Text Box 5"/>
          <p:cNvSpPr txBox="1">
            <a:spLocks noChangeArrowheads="1"/>
          </p:cNvSpPr>
          <p:nvPr/>
        </p:nvSpPr>
        <p:spPr bwMode="auto">
          <a:xfrm>
            <a:off x="555625" y="3305175"/>
            <a:ext cx="55324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solidFill>
                  <a:srgbClr val="FF3300"/>
                </a:solidFill>
                <a:latin typeface="宋体" panose="02010600030101010101" pitchFamily="2" charset="-122"/>
              </a:rPr>
              <a:t>形体</a:t>
            </a:r>
            <a:r>
              <a:rPr lang="zh-CN" altLang="en-US" sz="2800" b="1">
                <a:latin typeface="宋体" panose="02010600030101010101" pitchFamily="2" charset="-122"/>
              </a:rPr>
              <a:t>：球形壳体、圆柱筒、</a:t>
            </a:r>
            <a:endParaRPr lang="zh-CN" altLang="en-US" sz="2800" b="1">
              <a:latin typeface="宋体" panose="02010600030101010101" pitchFamily="2" charset="-122"/>
            </a:endParaRPr>
          </a:p>
          <a:p>
            <a:pPr eaLnBrk="0" hangingPunct="0"/>
            <a:r>
              <a:rPr lang="zh-CN" altLang="en-US" sz="2800" b="1">
                <a:latin typeface="宋体" panose="02010600030101010101" pitchFamily="2" charset="-122"/>
              </a:rPr>
              <a:t>      方板、管接头等。</a:t>
            </a:r>
            <a:endParaRPr lang="zh-CN" altLang="en-US" sz="2800" b="1">
              <a:latin typeface="宋体" panose="02010600030101010101" pitchFamily="2" charset="-122"/>
            </a:endParaRPr>
          </a:p>
        </p:txBody>
      </p:sp>
      <p:sp>
        <p:nvSpPr>
          <p:cNvPr id="54278" name="Text Box 6"/>
          <p:cNvSpPr txBox="1">
            <a:spLocks noChangeArrowheads="1"/>
          </p:cNvSpPr>
          <p:nvPr/>
        </p:nvSpPr>
        <p:spPr bwMode="auto">
          <a:xfrm>
            <a:off x="431800" y="242888"/>
            <a:ext cx="534987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rgbClr val="FF3300"/>
                </a:solidFill>
                <a:latin typeface="宋体" panose="02010600030101010101" pitchFamily="2" charset="-122"/>
                <a:sym typeface="Monotype Sorts" panose="05000000000000000000" pitchFamily="2" charset="2"/>
              </a:rPr>
              <a:t>2</a:t>
            </a:r>
            <a:r>
              <a:rPr lang="zh-CN" altLang="en-US" sz="3200" b="1">
                <a:solidFill>
                  <a:srgbClr val="FF3300"/>
                </a:solidFill>
                <a:latin typeface="宋体" panose="02010600030101010101" pitchFamily="2" charset="-122"/>
                <a:sym typeface="Monotype Sorts" panose="05000000000000000000" pitchFamily="2" charset="2"/>
              </a:rPr>
              <a:t>）箱体类零件</a:t>
            </a:r>
            <a:r>
              <a:rPr lang="en-US" altLang="zh-CN" sz="3200" b="1">
                <a:solidFill>
                  <a:srgbClr val="FF3300"/>
                </a:solidFill>
                <a:sym typeface="Monotype Sorts" panose="05000000000000000000" pitchFamily="2" charset="2"/>
              </a:rPr>
              <a:t>——</a:t>
            </a:r>
            <a:r>
              <a:rPr lang="zh-CN" altLang="en-US" sz="3200" b="1">
                <a:solidFill>
                  <a:srgbClr val="FF3300"/>
                </a:solidFill>
                <a:latin typeface="宋体" panose="02010600030101010101" pitchFamily="2" charset="-122"/>
                <a:sym typeface="Monotype Sorts" panose="05000000000000000000" pitchFamily="2" charset="2"/>
              </a:rPr>
              <a:t>阀体</a:t>
            </a:r>
            <a:endParaRPr lang="zh-CN" altLang="en-US" sz="2800" b="1">
              <a:latin typeface="宋体" panose="02010600030101010101" pitchFamily="2" charset="-122"/>
              <a:sym typeface="Monotype Sorts" panose="05000000000000000000" pitchFamily="2" charset="2"/>
            </a:endParaRPr>
          </a:p>
        </p:txBody>
      </p:sp>
      <p:grpSp>
        <p:nvGrpSpPr>
          <p:cNvPr id="54280" name="Group 8"/>
          <p:cNvGrpSpPr/>
          <p:nvPr/>
        </p:nvGrpSpPr>
        <p:grpSpPr bwMode="auto">
          <a:xfrm>
            <a:off x="6648450" y="3987800"/>
            <a:ext cx="1539875" cy="519113"/>
            <a:chOff x="4188" y="2512"/>
            <a:chExt cx="898" cy="345"/>
          </a:xfrm>
        </p:grpSpPr>
        <p:sp>
          <p:nvSpPr>
            <p:cNvPr id="54281" name="Text Box 9"/>
            <p:cNvSpPr txBox="1">
              <a:spLocks noChangeArrowheads="1"/>
            </p:cNvSpPr>
            <p:nvPr/>
          </p:nvSpPr>
          <p:spPr bwMode="auto">
            <a:xfrm>
              <a:off x="4562" y="2512"/>
              <a:ext cx="524"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方板</a:t>
              </a:r>
              <a:endParaRPr lang="zh-CN" altLang="en-US" sz="2800" b="1">
                <a:solidFill>
                  <a:srgbClr val="FF3300"/>
                </a:solidFill>
              </a:endParaRPr>
            </a:p>
          </p:txBody>
        </p:sp>
        <p:sp>
          <p:nvSpPr>
            <p:cNvPr id="54282" name="Line 10"/>
            <p:cNvSpPr>
              <a:spLocks noChangeShapeType="1"/>
            </p:cNvSpPr>
            <p:nvPr/>
          </p:nvSpPr>
          <p:spPr bwMode="auto">
            <a:xfrm flipH="1" flipV="1">
              <a:off x="4188" y="2580"/>
              <a:ext cx="480" cy="144"/>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283" name="Group 11"/>
          <p:cNvGrpSpPr/>
          <p:nvPr/>
        </p:nvGrpSpPr>
        <p:grpSpPr bwMode="auto">
          <a:xfrm>
            <a:off x="7219950" y="3238500"/>
            <a:ext cx="1633538" cy="715963"/>
            <a:chOff x="4548" y="2040"/>
            <a:chExt cx="1029" cy="451"/>
          </a:xfrm>
        </p:grpSpPr>
        <p:sp>
          <p:nvSpPr>
            <p:cNvPr id="54284" name="Text Box 12"/>
            <p:cNvSpPr txBox="1">
              <a:spLocks noChangeArrowheads="1"/>
            </p:cNvSpPr>
            <p:nvPr/>
          </p:nvSpPr>
          <p:spPr bwMode="auto">
            <a:xfrm>
              <a:off x="4562" y="2164"/>
              <a:ext cx="10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球形壳体</a:t>
              </a:r>
              <a:endParaRPr lang="zh-CN" altLang="en-US" sz="2800" b="1">
                <a:solidFill>
                  <a:srgbClr val="FF3300"/>
                </a:solidFill>
              </a:endParaRPr>
            </a:p>
          </p:txBody>
        </p:sp>
        <p:sp>
          <p:nvSpPr>
            <p:cNvPr id="54285" name="Line 13"/>
            <p:cNvSpPr>
              <a:spLocks noChangeShapeType="1"/>
            </p:cNvSpPr>
            <p:nvPr/>
          </p:nvSpPr>
          <p:spPr bwMode="auto">
            <a:xfrm flipH="1" flipV="1">
              <a:off x="4548" y="2040"/>
              <a:ext cx="300" cy="1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286" name="Group 14"/>
          <p:cNvGrpSpPr/>
          <p:nvPr/>
        </p:nvGrpSpPr>
        <p:grpSpPr bwMode="auto">
          <a:xfrm>
            <a:off x="6934200" y="577850"/>
            <a:ext cx="1568450" cy="774700"/>
            <a:chOff x="4368" y="364"/>
            <a:chExt cx="988" cy="488"/>
          </a:xfrm>
        </p:grpSpPr>
        <p:sp>
          <p:nvSpPr>
            <p:cNvPr id="54287" name="Text Box 15"/>
            <p:cNvSpPr txBox="1">
              <a:spLocks noChangeArrowheads="1"/>
            </p:cNvSpPr>
            <p:nvPr/>
          </p:nvSpPr>
          <p:spPr bwMode="auto">
            <a:xfrm>
              <a:off x="4562" y="364"/>
              <a:ext cx="79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圆柱筒</a:t>
              </a:r>
              <a:endParaRPr lang="zh-CN" altLang="en-US">
                <a:solidFill>
                  <a:srgbClr val="FF3300"/>
                </a:solidFill>
              </a:endParaRPr>
            </a:p>
          </p:txBody>
        </p:sp>
        <p:sp>
          <p:nvSpPr>
            <p:cNvPr id="54288" name="Line 16"/>
            <p:cNvSpPr>
              <a:spLocks noChangeShapeType="1"/>
            </p:cNvSpPr>
            <p:nvPr/>
          </p:nvSpPr>
          <p:spPr bwMode="auto">
            <a:xfrm flipH="1">
              <a:off x="4368" y="552"/>
              <a:ext cx="240" cy="30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289" name="Group 17"/>
          <p:cNvGrpSpPr/>
          <p:nvPr/>
        </p:nvGrpSpPr>
        <p:grpSpPr bwMode="auto">
          <a:xfrm>
            <a:off x="7242175" y="1168400"/>
            <a:ext cx="1260475" cy="869950"/>
            <a:chOff x="4562" y="736"/>
            <a:chExt cx="794" cy="548"/>
          </a:xfrm>
        </p:grpSpPr>
        <p:sp>
          <p:nvSpPr>
            <p:cNvPr id="54290" name="Text Box 18"/>
            <p:cNvSpPr txBox="1">
              <a:spLocks noChangeArrowheads="1"/>
            </p:cNvSpPr>
            <p:nvPr/>
          </p:nvSpPr>
          <p:spPr bwMode="auto">
            <a:xfrm>
              <a:off x="4562" y="736"/>
              <a:ext cx="79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管接头</a:t>
              </a:r>
              <a:endParaRPr lang="zh-CN" altLang="en-US">
                <a:solidFill>
                  <a:srgbClr val="FF3300"/>
                </a:solidFill>
              </a:endParaRPr>
            </a:p>
          </p:txBody>
        </p:sp>
        <p:sp>
          <p:nvSpPr>
            <p:cNvPr id="54291" name="Line 19"/>
            <p:cNvSpPr>
              <a:spLocks noChangeShapeType="1"/>
            </p:cNvSpPr>
            <p:nvPr/>
          </p:nvSpPr>
          <p:spPr bwMode="auto">
            <a:xfrm flipH="1">
              <a:off x="4692" y="1032"/>
              <a:ext cx="60" cy="25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4278"/>
                                        </p:tgtEl>
                                        <p:attrNameLst>
                                          <p:attrName>style.visibility</p:attrName>
                                        </p:attrNameLst>
                                      </p:cBhvr>
                                      <p:to>
                                        <p:strVal val="visible"/>
                                      </p:to>
                                    </p:set>
                                    <p:animEffect transition="in" filter="barn(inVertical)">
                                      <p:cBhvr>
                                        <p:cTn id="7" dur="500"/>
                                        <p:tgtEl>
                                          <p:spTgt spid="5427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4274"/>
                                        </p:tgtEl>
                                        <p:attrNameLst>
                                          <p:attrName>style.visibility</p:attrName>
                                        </p:attrNameLst>
                                      </p:cBhvr>
                                      <p:to>
                                        <p:strVal val="visible"/>
                                      </p:to>
                                    </p:set>
                                    <p:animEffect transition="in" filter="blinds(horizontal)">
                                      <p:cBhvr>
                                        <p:cTn id="12" dur="500"/>
                                        <p:tgtEl>
                                          <p:spTgt spid="5427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54275"/>
                                        </p:tgtEl>
                                        <p:attrNameLst>
                                          <p:attrName>style.visibility</p:attrName>
                                        </p:attrNameLst>
                                      </p:cBhvr>
                                      <p:to>
                                        <p:strVal val="visible"/>
                                      </p:to>
                                    </p:set>
                                    <p:animEffect transition="in" filter="barn(inHorizontal)">
                                      <p:cBhvr>
                                        <p:cTn id="17" dur="500"/>
                                        <p:tgtEl>
                                          <p:spTgt spid="5427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54277"/>
                                        </p:tgtEl>
                                        <p:attrNameLst>
                                          <p:attrName>style.visibility</p:attrName>
                                        </p:attrNameLst>
                                      </p:cBhvr>
                                      <p:to>
                                        <p:strVal val="visible"/>
                                      </p:to>
                                    </p:set>
                                    <p:animEffect transition="in" filter="barn(outVertical)">
                                      <p:cBhvr>
                                        <p:cTn id="22" dur="500"/>
                                        <p:tgtEl>
                                          <p:spTgt spid="542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54283"/>
                                        </p:tgtEl>
                                        <p:attrNameLst>
                                          <p:attrName>style.visibility</p:attrName>
                                        </p:attrNameLst>
                                      </p:cBhvr>
                                      <p:to>
                                        <p:strVal val="visible"/>
                                      </p:to>
                                    </p:set>
                                    <p:animEffect transition="in" filter="wipe(right)">
                                      <p:cBhvr>
                                        <p:cTn id="27" dur="500"/>
                                        <p:tgtEl>
                                          <p:spTgt spid="5428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4286"/>
                                        </p:tgtEl>
                                        <p:attrNameLst>
                                          <p:attrName>style.visibility</p:attrName>
                                        </p:attrNameLst>
                                      </p:cBhvr>
                                      <p:to>
                                        <p:strVal val="visible"/>
                                      </p:to>
                                    </p:set>
                                    <p:animEffect transition="in" filter="wipe(right)">
                                      <p:cBhvr>
                                        <p:cTn id="32" dur="500"/>
                                        <p:tgtEl>
                                          <p:spTgt spid="5428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4280"/>
                                        </p:tgtEl>
                                        <p:attrNameLst>
                                          <p:attrName>style.visibility</p:attrName>
                                        </p:attrNameLst>
                                      </p:cBhvr>
                                      <p:to>
                                        <p:strVal val="visible"/>
                                      </p:to>
                                    </p:set>
                                    <p:animEffect transition="in" filter="wipe(right)">
                                      <p:cBhvr>
                                        <p:cTn id="37" dur="500"/>
                                        <p:tgtEl>
                                          <p:spTgt spid="5428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4289"/>
                                        </p:tgtEl>
                                        <p:attrNameLst>
                                          <p:attrName>style.visibility</p:attrName>
                                        </p:attrNameLst>
                                      </p:cBhvr>
                                      <p:to>
                                        <p:strVal val="visible"/>
                                      </p:to>
                                    </p:set>
                                    <p:animEffect transition="in" filter="wipe(up)">
                                      <p:cBhvr>
                                        <p:cTn id="42" dur="500"/>
                                        <p:tgtEl>
                                          <p:spTgt spid="54289"/>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grpId="0" nodeType="clickEffect">
                                  <p:stCondLst>
                                    <p:cond delay="0"/>
                                  </p:stCondLst>
                                  <p:childTnLst>
                                    <p:set>
                                      <p:cBhvr>
                                        <p:cTn id="46" dur="1" fill="hold">
                                          <p:stCondLst>
                                            <p:cond delay="0"/>
                                          </p:stCondLst>
                                        </p:cTn>
                                        <p:tgtEl>
                                          <p:spTgt spid="54276"/>
                                        </p:tgtEl>
                                        <p:attrNameLst>
                                          <p:attrName>style.visibility</p:attrName>
                                        </p:attrNameLst>
                                      </p:cBhvr>
                                      <p:to>
                                        <p:strVal val="visible"/>
                                      </p:to>
                                    </p:set>
                                    <p:animEffect transition="in" filter="barn(inHorizontal)">
                                      <p:cBhvr>
                                        <p:cTn id="47" dur="500"/>
                                        <p:tgtEl>
                                          <p:spTgt spid="54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P spid="54275" grpId="0" autoUpdateAnimBg="0"/>
      <p:bldP spid="54276" grpId="0" autoUpdateAnimBg="0"/>
      <p:bldP spid="54277" grpId="0" autoUpdateAnimBg="0"/>
      <p:bldP spid="5427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1026"/>
          <p:cNvSpPr txBox="1">
            <a:spLocks noChangeArrowheads="1"/>
          </p:cNvSpPr>
          <p:nvPr/>
        </p:nvSpPr>
        <p:spPr bwMode="auto">
          <a:xfrm>
            <a:off x="327025" y="177800"/>
            <a:ext cx="3575050"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600" b="1">
                <a:solidFill>
                  <a:schemeClr val="accent2"/>
                </a:solidFill>
                <a:latin typeface="宋体" panose="02010600030101010101" pitchFamily="2" charset="-122"/>
                <a:sym typeface="Monotype Sorts" panose="05000000000000000000" pitchFamily="2" charset="2"/>
              </a:rPr>
              <a:t>⑵ </a:t>
            </a:r>
            <a:r>
              <a:rPr lang="zh-CN" altLang="en-US" sz="3600" b="1">
                <a:solidFill>
                  <a:schemeClr val="accent2"/>
                </a:solidFill>
                <a:latin typeface="宋体" panose="02010600030101010101" pitchFamily="2" charset="-122"/>
                <a:sym typeface="Monotype Sorts" panose="05000000000000000000" pitchFamily="2" charset="2"/>
              </a:rPr>
              <a:t>选择主视图</a:t>
            </a:r>
            <a:endParaRPr lang="zh-CN" altLang="en-US" sz="3600" b="1">
              <a:solidFill>
                <a:schemeClr val="accent2"/>
              </a:solidFill>
              <a:latin typeface="宋体" panose="02010600030101010101" pitchFamily="2" charset="-122"/>
              <a:sym typeface="Monotype Sorts" panose="05000000000000000000" pitchFamily="2" charset="2"/>
            </a:endParaRPr>
          </a:p>
        </p:txBody>
      </p:sp>
      <p:sp>
        <p:nvSpPr>
          <p:cNvPr id="55299" name="Text Box 1027"/>
          <p:cNvSpPr txBox="1">
            <a:spLocks noChangeArrowheads="1"/>
          </p:cNvSpPr>
          <p:nvPr/>
        </p:nvSpPr>
        <p:spPr bwMode="auto">
          <a:xfrm>
            <a:off x="784225" y="796925"/>
            <a:ext cx="3738563"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000" b="1">
                <a:solidFill>
                  <a:srgbClr val="FF3300"/>
                </a:solidFill>
                <a:latin typeface="宋体" panose="02010600030101010101" pitchFamily="2" charset="-122"/>
              </a:rPr>
              <a:t>●</a:t>
            </a:r>
            <a:r>
              <a:rPr lang="en-US" altLang="zh-CN" sz="3200" b="1">
                <a:solidFill>
                  <a:srgbClr val="FF3300"/>
                </a:solidFill>
                <a:latin typeface="宋体" panose="02010600030101010101" pitchFamily="2" charset="-122"/>
              </a:rPr>
              <a:t> </a:t>
            </a:r>
            <a:r>
              <a:rPr lang="zh-CN" altLang="en-US" sz="3200" b="1">
                <a:solidFill>
                  <a:srgbClr val="FF3300"/>
                </a:solidFill>
                <a:latin typeface="宋体" panose="02010600030101010101" pitchFamily="2" charset="-122"/>
              </a:rPr>
              <a:t>零件的安放状态</a:t>
            </a:r>
            <a:endParaRPr lang="zh-CN" altLang="en-US" sz="3200" b="1">
              <a:solidFill>
                <a:srgbClr val="FF3300"/>
              </a:solidFill>
              <a:latin typeface="宋体" panose="02010600030101010101" pitchFamily="2" charset="-122"/>
            </a:endParaRPr>
          </a:p>
        </p:txBody>
      </p:sp>
      <p:sp>
        <p:nvSpPr>
          <p:cNvPr id="55300" name="Text Box 1028"/>
          <p:cNvSpPr txBox="1">
            <a:spLocks noChangeArrowheads="1"/>
          </p:cNvSpPr>
          <p:nvPr/>
        </p:nvSpPr>
        <p:spPr bwMode="auto">
          <a:xfrm>
            <a:off x="1422400" y="1416050"/>
            <a:ext cx="346075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3200" b="1">
                <a:latin typeface="宋体" panose="02010600030101010101" pitchFamily="2" charset="-122"/>
              </a:rPr>
              <a:t>阀体的</a:t>
            </a:r>
            <a:r>
              <a:rPr lang="zh-CN" altLang="en-US" sz="3200" b="1">
                <a:solidFill>
                  <a:schemeClr val="accent2"/>
                </a:solidFill>
                <a:latin typeface="宋体" panose="02010600030101010101" pitchFamily="2" charset="-122"/>
              </a:rPr>
              <a:t>工作状态</a:t>
            </a:r>
            <a:r>
              <a:rPr lang="zh-CN" altLang="en-US" sz="3200" b="1">
                <a:latin typeface="宋体" panose="02010600030101010101" pitchFamily="2" charset="-122"/>
              </a:rPr>
              <a:t>。</a:t>
            </a:r>
            <a:endParaRPr lang="zh-CN" altLang="en-US" sz="3200" b="1">
              <a:latin typeface="宋体" panose="02010600030101010101" pitchFamily="2" charset="-122"/>
            </a:endParaRPr>
          </a:p>
        </p:txBody>
      </p:sp>
      <p:sp>
        <p:nvSpPr>
          <p:cNvPr id="55301" name="Text Box 1029"/>
          <p:cNvSpPr txBox="1">
            <a:spLocks noChangeArrowheads="1"/>
          </p:cNvSpPr>
          <p:nvPr/>
        </p:nvSpPr>
        <p:spPr bwMode="auto">
          <a:xfrm>
            <a:off x="800100" y="2041525"/>
            <a:ext cx="2522538"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000" b="1">
                <a:solidFill>
                  <a:srgbClr val="FF3300"/>
                </a:solidFill>
                <a:latin typeface="宋体" panose="02010600030101010101" pitchFamily="2" charset="-122"/>
              </a:rPr>
              <a:t>●</a:t>
            </a:r>
            <a:r>
              <a:rPr lang="en-US" altLang="zh-CN" sz="3200" b="1">
                <a:solidFill>
                  <a:srgbClr val="FF3300"/>
                </a:solidFill>
                <a:latin typeface="宋体" panose="02010600030101010101" pitchFamily="2" charset="-122"/>
              </a:rPr>
              <a:t> </a:t>
            </a:r>
            <a:r>
              <a:rPr lang="zh-CN" altLang="en-US" sz="3200" b="1">
                <a:solidFill>
                  <a:srgbClr val="FF3300"/>
                </a:solidFill>
                <a:latin typeface="宋体" panose="02010600030101010101" pitchFamily="2" charset="-122"/>
              </a:rPr>
              <a:t>投射方向</a:t>
            </a:r>
            <a:endParaRPr lang="zh-CN" altLang="en-US" sz="3200" b="1">
              <a:solidFill>
                <a:srgbClr val="FF3300"/>
              </a:solidFill>
              <a:latin typeface="宋体" panose="02010600030101010101" pitchFamily="2" charset="-122"/>
            </a:endParaRPr>
          </a:p>
        </p:txBody>
      </p:sp>
      <p:sp>
        <p:nvSpPr>
          <p:cNvPr id="55302" name="Text Box 1030"/>
          <p:cNvSpPr txBox="1">
            <a:spLocks noChangeArrowheads="1"/>
          </p:cNvSpPr>
          <p:nvPr/>
        </p:nvSpPr>
        <p:spPr bwMode="auto">
          <a:xfrm>
            <a:off x="609600" y="2700338"/>
            <a:ext cx="4427538" cy="204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latin typeface="宋体" panose="02010600030101010101" pitchFamily="2" charset="-122"/>
              </a:rPr>
              <a:t>    </a:t>
            </a:r>
            <a:r>
              <a:rPr lang="en-US" altLang="zh-CN" sz="3200" b="1" i="1">
                <a:solidFill>
                  <a:srgbClr val="FF3300"/>
                </a:solidFill>
                <a:latin typeface="宋体" panose="02010600030101010101" pitchFamily="2" charset="-122"/>
              </a:rPr>
              <a:t>A</a:t>
            </a:r>
            <a:r>
              <a:rPr lang="zh-CN" altLang="en-US" sz="3200" b="1">
                <a:solidFill>
                  <a:srgbClr val="FF3300"/>
                </a:solidFill>
                <a:latin typeface="宋体" panose="02010600030101010101" pitchFamily="2" charset="-122"/>
              </a:rPr>
              <a:t>向</a:t>
            </a:r>
            <a:r>
              <a:rPr lang="zh-CN" altLang="en-US" sz="3200" b="1">
                <a:latin typeface="宋体" panose="02010600030101010101" pitchFamily="2" charset="-122"/>
              </a:rPr>
              <a:t>。全剖的主视图表达了阀体的内部形状特征，各组成部分的相对位置等。</a:t>
            </a:r>
            <a:endParaRPr lang="zh-CN" altLang="en-US" sz="3200" b="1">
              <a:latin typeface="宋体" panose="02010600030101010101" pitchFamily="2" charset="-122"/>
            </a:endParaRPr>
          </a:p>
        </p:txBody>
      </p:sp>
      <p:sp>
        <p:nvSpPr>
          <p:cNvPr id="55451" name="Text Box 1179"/>
          <p:cNvSpPr txBox="1">
            <a:spLocks noChangeArrowheads="1"/>
          </p:cNvSpPr>
          <p:nvPr/>
        </p:nvSpPr>
        <p:spPr bwMode="auto">
          <a:xfrm>
            <a:off x="6388100" y="4235450"/>
            <a:ext cx="1530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chemeClr val="accent2"/>
                </a:solidFill>
              </a:rPr>
              <a:t>主视图</a:t>
            </a:r>
            <a:endParaRPr lang="zh-CN" altLang="en-US" sz="2800" b="1">
              <a:solidFill>
                <a:schemeClr val="accent2"/>
              </a:solidFill>
            </a:endParaRPr>
          </a:p>
        </p:txBody>
      </p:sp>
      <p:sp>
        <p:nvSpPr>
          <p:cNvPr id="55452" name="Text Box 1180">
            <a:hlinkClick r:id="rId1" action="ppaction://hlinksldjump"/>
          </p:cNvPr>
          <p:cNvSpPr txBox="1">
            <a:spLocks noChangeArrowheads="1"/>
          </p:cNvSpPr>
          <p:nvPr/>
        </p:nvSpPr>
        <p:spPr bwMode="auto">
          <a:xfrm>
            <a:off x="7851775" y="5911850"/>
            <a:ext cx="1084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u="sng">
                <a:solidFill>
                  <a:srgbClr val="0000FF"/>
                </a:solidFill>
              </a:rPr>
              <a:t>阀体</a:t>
            </a:r>
            <a:endParaRPr lang="zh-CN" altLang="en-US" u="sng">
              <a:solidFill>
                <a:srgbClr val="0000FF"/>
              </a:solidFill>
            </a:endParaRPr>
          </a:p>
        </p:txBody>
      </p:sp>
      <p:pic>
        <p:nvPicPr>
          <p:cNvPr id="55453" name="Picture 11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750" y="1033463"/>
            <a:ext cx="2390775"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anim calcmode="lin" valueType="num">
                                      <p:cBhvr additive="base">
                                        <p:cTn id="7" dur="500" fill="hold"/>
                                        <p:tgtEl>
                                          <p:spTgt spid="55299"/>
                                        </p:tgtEl>
                                        <p:attrNameLst>
                                          <p:attrName>ppt_x</p:attrName>
                                        </p:attrNameLst>
                                      </p:cBhvr>
                                      <p:tavLst>
                                        <p:tav tm="0">
                                          <p:val>
                                            <p:strVal val="0-#ppt_w/2"/>
                                          </p:val>
                                        </p:tav>
                                        <p:tav tm="100000">
                                          <p:val>
                                            <p:strVal val="#ppt_x"/>
                                          </p:val>
                                        </p:tav>
                                      </p:tavLst>
                                    </p:anim>
                                    <p:anim calcmode="lin" valueType="num">
                                      <p:cBhvr additive="base">
                                        <p:cTn id="8" dur="500" fill="hold"/>
                                        <p:tgtEl>
                                          <p:spTgt spid="552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55300"/>
                                        </p:tgtEl>
                                        <p:attrNameLst>
                                          <p:attrName>style.visibility</p:attrName>
                                        </p:attrNameLst>
                                      </p:cBhvr>
                                      <p:to>
                                        <p:strVal val="visible"/>
                                      </p:to>
                                    </p:set>
                                    <p:animEffect transition="in" filter="slide(fromLeft)">
                                      <p:cBhvr>
                                        <p:cTn id="13" dur="500"/>
                                        <p:tgtEl>
                                          <p:spTgt spid="5530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5301"/>
                                        </p:tgtEl>
                                        <p:attrNameLst>
                                          <p:attrName>style.visibility</p:attrName>
                                        </p:attrNameLst>
                                      </p:cBhvr>
                                      <p:to>
                                        <p:strVal val="visible"/>
                                      </p:to>
                                    </p:set>
                                    <p:anim calcmode="lin" valueType="num">
                                      <p:cBhvr additive="base">
                                        <p:cTn id="18" dur="500" fill="hold"/>
                                        <p:tgtEl>
                                          <p:spTgt spid="55301"/>
                                        </p:tgtEl>
                                        <p:attrNameLst>
                                          <p:attrName>ppt_x</p:attrName>
                                        </p:attrNameLst>
                                      </p:cBhvr>
                                      <p:tavLst>
                                        <p:tav tm="0">
                                          <p:val>
                                            <p:strVal val="0-#ppt_w/2"/>
                                          </p:val>
                                        </p:tav>
                                        <p:tav tm="100000">
                                          <p:val>
                                            <p:strVal val="#ppt_x"/>
                                          </p:val>
                                        </p:tav>
                                      </p:tavLst>
                                    </p:anim>
                                    <p:anim calcmode="lin" valueType="num">
                                      <p:cBhvr additive="base">
                                        <p:cTn id="19" dur="500" fill="hold"/>
                                        <p:tgtEl>
                                          <p:spTgt spid="5530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3" fill="hold" grpId="0" nodeType="clickEffect">
                                  <p:stCondLst>
                                    <p:cond delay="0"/>
                                  </p:stCondLst>
                                  <p:childTnLst>
                                    <p:set>
                                      <p:cBhvr>
                                        <p:cTn id="23" dur="1" fill="hold">
                                          <p:stCondLst>
                                            <p:cond delay="0"/>
                                          </p:stCondLst>
                                        </p:cTn>
                                        <p:tgtEl>
                                          <p:spTgt spid="55302"/>
                                        </p:tgtEl>
                                        <p:attrNameLst>
                                          <p:attrName>style.visibility</p:attrName>
                                        </p:attrNameLst>
                                      </p:cBhvr>
                                      <p:to>
                                        <p:strVal val="visible"/>
                                      </p:to>
                                    </p:set>
                                    <p:animEffect transition="in" filter="strips(upRight)">
                                      <p:cBhvr>
                                        <p:cTn id="24" dur="500"/>
                                        <p:tgtEl>
                                          <p:spTgt spid="5530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5" fill="hold" nodeType="clickEffect">
                                  <p:stCondLst>
                                    <p:cond delay="0"/>
                                  </p:stCondLst>
                                  <p:childTnLst>
                                    <p:set>
                                      <p:cBhvr>
                                        <p:cTn id="28" dur="1" fill="hold">
                                          <p:stCondLst>
                                            <p:cond delay="0"/>
                                          </p:stCondLst>
                                        </p:cTn>
                                        <p:tgtEl>
                                          <p:spTgt spid="55453"/>
                                        </p:tgtEl>
                                        <p:attrNameLst>
                                          <p:attrName>style.visibility</p:attrName>
                                        </p:attrNameLst>
                                      </p:cBhvr>
                                      <p:to>
                                        <p:strVal val="visible"/>
                                      </p:to>
                                    </p:set>
                                    <p:animEffect transition="in" filter="blinds(vertical)">
                                      <p:cBhvr>
                                        <p:cTn id="29" dur="500"/>
                                        <p:tgtEl>
                                          <p:spTgt spid="55453"/>
                                        </p:tgtEl>
                                      </p:cBhvr>
                                    </p:animEffect>
                                  </p:childTnLst>
                                </p:cTn>
                              </p:par>
                            </p:childTnLst>
                          </p:cTn>
                        </p:par>
                        <p:par>
                          <p:cTn id="30" fill="hold">
                            <p:stCondLst>
                              <p:cond delay="500"/>
                            </p:stCondLst>
                            <p:childTnLst>
                              <p:par>
                                <p:cTn id="31" presetID="2" presetClass="entr" presetSubtype="2" fill="hold" grpId="0" nodeType="afterEffect">
                                  <p:stCondLst>
                                    <p:cond delay="0"/>
                                  </p:stCondLst>
                                  <p:childTnLst>
                                    <p:set>
                                      <p:cBhvr>
                                        <p:cTn id="32" dur="1" fill="hold">
                                          <p:stCondLst>
                                            <p:cond delay="0"/>
                                          </p:stCondLst>
                                        </p:cTn>
                                        <p:tgtEl>
                                          <p:spTgt spid="55451"/>
                                        </p:tgtEl>
                                        <p:attrNameLst>
                                          <p:attrName>style.visibility</p:attrName>
                                        </p:attrNameLst>
                                      </p:cBhvr>
                                      <p:to>
                                        <p:strVal val="visible"/>
                                      </p:to>
                                    </p:set>
                                    <p:anim calcmode="lin" valueType="num">
                                      <p:cBhvr additive="base">
                                        <p:cTn id="33" dur="500" fill="hold"/>
                                        <p:tgtEl>
                                          <p:spTgt spid="55451"/>
                                        </p:tgtEl>
                                        <p:attrNameLst>
                                          <p:attrName>ppt_x</p:attrName>
                                        </p:attrNameLst>
                                      </p:cBhvr>
                                      <p:tavLst>
                                        <p:tav tm="0">
                                          <p:val>
                                            <p:strVal val="1+#ppt_w/2"/>
                                          </p:val>
                                        </p:tav>
                                        <p:tav tm="100000">
                                          <p:val>
                                            <p:strVal val="#ppt_x"/>
                                          </p:val>
                                        </p:tav>
                                      </p:tavLst>
                                    </p:anim>
                                    <p:anim calcmode="lin" valueType="num">
                                      <p:cBhvr additive="base">
                                        <p:cTn id="34" dur="500" fill="hold"/>
                                        <p:tgtEl>
                                          <p:spTgt spid="554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autoUpdateAnimBg="0"/>
      <p:bldP spid="55300" grpId="0" autoUpdateAnimBg="0"/>
      <p:bldP spid="55301" grpId="0" autoUpdateAnimBg="0"/>
      <p:bldP spid="55302" grpId="0" autoUpdateAnimBg="0"/>
      <p:bldP spid="5545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78" name="Rectangle 158"/>
          <p:cNvSpPr>
            <a:spLocks noChangeArrowheads="1"/>
          </p:cNvSpPr>
          <p:nvPr/>
        </p:nvSpPr>
        <p:spPr bwMode="auto">
          <a:xfrm>
            <a:off x="7734300" y="400050"/>
            <a:ext cx="6238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000" b="1" i="1">
                <a:solidFill>
                  <a:srgbClr val="FF3300"/>
                </a:solidFill>
                <a:latin typeface="宋体" panose="02010600030101010101" pitchFamily="2" charset="-122"/>
              </a:rPr>
              <a:t>B</a:t>
            </a:r>
            <a:r>
              <a:rPr lang="en-US" altLang="zh-CN" sz="2000" b="1">
                <a:solidFill>
                  <a:srgbClr val="FF3300"/>
                </a:solidFill>
                <a:latin typeface="宋体" panose="02010600030101010101" pitchFamily="2" charset="-122"/>
              </a:rPr>
              <a:t>-</a:t>
            </a:r>
            <a:r>
              <a:rPr lang="en-US" altLang="zh-CN" sz="2000" b="1" i="1">
                <a:solidFill>
                  <a:srgbClr val="FF3300"/>
                </a:solidFill>
                <a:latin typeface="宋体" panose="02010600030101010101" pitchFamily="2" charset="-122"/>
              </a:rPr>
              <a:t>B</a:t>
            </a:r>
            <a:endParaRPr lang="en-US" altLang="zh-CN" sz="2000" i="1"/>
          </a:p>
        </p:txBody>
      </p:sp>
      <p:sp>
        <p:nvSpPr>
          <p:cNvPr id="56544" name="Rectangle 224"/>
          <p:cNvSpPr>
            <a:spLocks noChangeArrowheads="1"/>
          </p:cNvSpPr>
          <p:nvPr/>
        </p:nvSpPr>
        <p:spPr bwMode="auto">
          <a:xfrm>
            <a:off x="392113" y="300038"/>
            <a:ext cx="2884487"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sym typeface="Monotype Sorts" panose="05000000000000000000" pitchFamily="2" charset="2"/>
              </a:rPr>
              <a:t>⑶ </a:t>
            </a:r>
            <a:r>
              <a:rPr lang="zh-CN" altLang="en-US" sz="3200" b="1">
                <a:solidFill>
                  <a:schemeClr val="accent2"/>
                </a:solidFill>
                <a:sym typeface="Monotype Sorts" panose="05000000000000000000" pitchFamily="2" charset="2"/>
              </a:rPr>
              <a:t>选其他视图</a:t>
            </a:r>
            <a:endParaRPr lang="zh-CN" altLang="en-US" sz="3200" b="1">
              <a:solidFill>
                <a:schemeClr val="accent2"/>
              </a:solidFill>
              <a:sym typeface="Monotype Sorts" panose="05000000000000000000" pitchFamily="2" charset="2"/>
            </a:endParaRPr>
          </a:p>
        </p:txBody>
      </p:sp>
      <p:sp>
        <p:nvSpPr>
          <p:cNvPr id="56545" name="Text Box 225"/>
          <p:cNvSpPr txBox="1">
            <a:spLocks noChangeArrowheads="1"/>
          </p:cNvSpPr>
          <p:nvPr/>
        </p:nvSpPr>
        <p:spPr bwMode="auto">
          <a:xfrm>
            <a:off x="392113" y="1079500"/>
            <a:ext cx="3200400" cy="2089150"/>
          </a:xfrm>
          <a:prstGeom prst="rect">
            <a:avLst/>
          </a:prstGeom>
          <a:noFill/>
          <a:ln w="76200">
            <a:pattFill prst="dkDnDiag">
              <a:fgClr>
                <a:srgbClr val="00CC00"/>
              </a:fgClr>
              <a:bgClr>
                <a:schemeClr val="bg1"/>
              </a:bgClr>
            </a:pattFill>
            <a:miter lim="800000"/>
          </a:ln>
          <a:extLst>
            <a:ext uri="{909E8E84-426E-40DD-AFC4-6F175D3DCCD1}">
              <a14:hiddenFill xmlns:a14="http://schemas.microsoft.com/office/drawing/2010/main">
                <a:pattFill prst="dotDmnd">
                  <a:fgClr>
                    <a:schemeClr val="accent1"/>
                  </a:fgClr>
                  <a:bgClr>
                    <a:srgbClr val="FFFFFF"/>
                  </a:bgClr>
                </a:pattFill>
              </a14:hiddenFill>
            </a:ext>
          </a:extLst>
        </p:spPr>
        <p:txBody>
          <a:bodyPr>
            <a:spAutoFit/>
          </a:bodyPr>
          <a:lstStyle/>
          <a:p>
            <a:pPr eaLnBrk="0" hangingPunct="0">
              <a:lnSpc>
                <a:spcPct val="90000"/>
              </a:lnSpc>
            </a:pPr>
            <a:r>
              <a:rPr lang="zh-CN" altLang="en-US" sz="2800" b="1"/>
              <a:t>选半剖的左视图，表达阀体主体部分的外形特征、左侧方形板形状及内孔的形状结构等。</a:t>
            </a:r>
            <a:endParaRPr lang="zh-CN" altLang="en-US" sz="2800" b="1"/>
          </a:p>
        </p:txBody>
      </p:sp>
      <p:sp>
        <p:nvSpPr>
          <p:cNvPr id="56546" name="Text Box 226"/>
          <p:cNvSpPr txBox="1">
            <a:spLocks noChangeArrowheads="1"/>
          </p:cNvSpPr>
          <p:nvPr/>
        </p:nvSpPr>
        <p:spPr bwMode="auto">
          <a:xfrm>
            <a:off x="392113" y="3497263"/>
            <a:ext cx="3192462" cy="1704975"/>
          </a:xfrm>
          <a:prstGeom prst="rect">
            <a:avLst/>
          </a:prstGeom>
          <a:noFill/>
          <a:ln w="76200">
            <a:pattFill prst="smCheck">
              <a:fgClr>
                <a:srgbClr val="9900CC"/>
              </a:fgClr>
              <a:bgClr>
                <a:srgbClr val="FFFFFF"/>
              </a:bgClr>
            </a:pattFill>
            <a:miter lim="800000"/>
          </a:ln>
          <a:extLst>
            <a:ext uri="{909E8E84-426E-40DD-AFC4-6F175D3DCCD1}">
              <a14:hiddenFill xmlns:a14="http://schemas.microsoft.com/office/drawing/2010/main">
                <a:pattFill prst="weave">
                  <a:fgClr>
                    <a:srgbClr val="CC99FF"/>
                  </a:fgClr>
                  <a:bgClr>
                    <a:srgbClr val="FFFFFF"/>
                  </a:bgClr>
                </a:pattFill>
              </a14:hiddenFill>
            </a:ext>
          </a:extLst>
        </p:spPr>
        <p:txBody>
          <a:bodyPr>
            <a:spAutoFit/>
          </a:bodyPr>
          <a:lstStyle/>
          <a:p>
            <a:pPr eaLnBrk="0" hangingPunct="0">
              <a:lnSpc>
                <a:spcPct val="90000"/>
              </a:lnSpc>
            </a:pPr>
            <a:r>
              <a:rPr lang="zh-CN" altLang="en-US" sz="2800" b="1"/>
              <a:t>选择俯视图表达阀体整体形状特征及顶部扇形结构的形状。</a:t>
            </a:r>
            <a:endParaRPr lang="zh-CN" altLang="en-US" sz="2800" b="1"/>
          </a:p>
        </p:txBody>
      </p:sp>
      <p:sp>
        <p:nvSpPr>
          <p:cNvPr id="56547" name="Text Box 227">
            <a:hlinkClick r:id="rId1" action="ppaction://hlinksldjump"/>
          </p:cNvPr>
          <p:cNvSpPr txBox="1">
            <a:spLocks noChangeArrowheads="1"/>
          </p:cNvSpPr>
          <p:nvPr/>
        </p:nvSpPr>
        <p:spPr bwMode="auto">
          <a:xfrm>
            <a:off x="7851775" y="5911850"/>
            <a:ext cx="9477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u="sng">
                <a:solidFill>
                  <a:srgbClr val="0000FF"/>
                </a:solidFill>
              </a:rPr>
              <a:t>阀体</a:t>
            </a:r>
            <a:endParaRPr lang="zh-CN" altLang="en-US" u="sng">
              <a:solidFill>
                <a:srgbClr val="0000FF"/>
              </a:solidFill>
            </a:endParaRPr>
          </a:p>
        </p:txBody>
      </p:sp>
      <p:pic>
        <p:nvPicPr>
          <p:cNvPr id="56632" name="Picture 3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4650" y="895350"/>
            <a:ext cx="2390775" cy="290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633" name="Picture 3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5450" y="887413"/>
            <a:ext cx="2114550"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634" name="Picture 3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3986213"/>
            <a:ext cx="2381250"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3" name="Rectangle 3"/>
          <p:cNvSpPr>
            <a:spLocks noChangeArrowheads="1"/>
          </p:cNvSpPr>
          <p:nvPr/>
        </p:nvSpPr>
        <p:spPr bwMode="auto">
          <a:xfrm>
            <a:off x="5022850" y="3438525"/>
            <a:ext cx="1936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1800" b="1" i="1">
                <a:solidFill>
                  <a:srgbClr val="FF3300"/>
                </a:solidFill>
                <a:latin typeface="宋体" panose="02010600030101010101" pitchFamily="2" charset="-122"/>
              </a:rPr>
              <a:t>B</a:t>
            </a:r>
            <a:endParaRPr lang="en-US" altLang="zh-CN" sz="1800" i="1"/>
          </a:p>
        </p:txBody>
      </p:sp>
      <p:sp>
        <p:nvSpPr>
          <p:cNvPr id="56324" name="Rectangle 4"/>
          <p:cNvSpPr>
            <a:spLocks noChangeArrowheads="1"/>
          </p:cNvSpPr>
          <p:nvPr/>
        </p:nvSpPr>
        <p:spPr bwMode="auto">
          <a:xfrm>
            <a:off x="4883150" y="3581400"/>
            <a:ext cx="22225" cy="166688"/>
          </a:xfrm>
          <a:prstGeom prst="rect">
            <a:avLst/>
          </a:prstGeom>
          <a:solidFill>
            <a:schemeClr val="tx1"/>
          </a:solidFill>
          <a:ln w="38100">
            <a:solidFill>
              <a:srgbClr val="FF3300"/>
            </a:solidFill>
            <a:miter lim="800000"/>
          </a:ln>
        </p:spPr>
        <p:txBody>
          <a:bodyPr/>
          <a:lstStyle/>
          <a:p>
            <a:endParaRPr lang="zh-CN" altLang="en-US"/>
          </a:p>
        </p:txBody>
      </p:sp>
      <p:sp>
        <p:nvSpPr>
          <p:cNvPr id="56327" name="Rectangle 7"/>
          <p:cNvSpPr>
            <a:spLocks noChangeArrowheads="1"/>
          </p:cNvSpPr>
          <p:nvPr/>
        </p:nvSpPr>
        <p:spPr bwMode="auto">
          <a:xfrm>
            <a:off x="5022850" y="528638"/>
            <a:ext cx="180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1800" b="1" i="1">
                <a:solidFill>
                  <a:srgbClr val="FF3300"/>
                </a:solidFill>
                <a:latin typeface="宋体" panose="02010600030101010101" pitchFamily="2" charset="-122"/>
              </a:rPr>
              <a:t>B</a:t>
            </a:r>
            <a:endParaRPr lang="en-US" altLang="zh-CN" sz="1800" i="1"/>
          </a:p>
        </p:txBody>
      </p:sp>
      <p:sp>
        <p:nvSpPr>
          <p:cNvPr id="56328" name="Rectangle 8"/>
          <p:cNvSpPr>
            <a:spLocks noChangeArrowheads="1"/>
          </p:cNvSpPr>
          <p:nvPr/>
        </p:nvSpPr>
        <p:spPr bwMode="auto">
          <a:xfrm>
            <a:off x="4875213" y="655638"/>
            <a:ext cx="22225" cy="160337"/>
          </a:xfrm>
          <a:prstGeom prst="rect">
            <a:avLst/>
          </a:prstGeom>
          <a:solidFill>
            <a:schemeClr val="tx1"/>
          </a:solidFill>
          <a:ln w="38100">
            <a:solidFill>
              <a:srgbClr val="FF3300"/>
            </a:solidFill>
            <a:miter lim="800000"/>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56545"/>
                                        </p:tgtEl>
                                        <p:attrNameLst>
                                          <p:attrName>style.visibility</p:attrName>
                                        </p:attrNameLst>
                                      </p:cBhvr>
                                      <p:to>
                                        <p:strVal val="visible"/>
                                      </p:to>
                                    </p:set>
                                    <p:animEffect transition="in" filter="strips(downLeft)">
                                      <p:cBhvr>
                                        <p:cTn id="7" dur="500"/>
                                        <p:tgtEl>
                                          <p:spTgt spid="5654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633"/>
                                        </p:tgtEl>
                                        <p:attrNameLst>
                                          <p:attrName>style.visibility</p:attrName>
                                        </p:attrNameLst>
                                      </p:cBhvr>
                                      <p:to>
                                        <p:strVal val="visible"/>
                                      </p:to>
                                    </p:set>
                                    <p:animEffect transition="in" filter="blinds(horizontal)">
                                      <p:cBhvr>
                                        <p:cTn id="12" dur="500"/>
                                        <p:tgtEl>
                                          <p:spTgt spid="56633"/>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56478"/>
                                        </p:tgtEl>
                                        <p:attrNameLst>
                                          <p:attrName>style.visibility</p:attrName>
                                        </p:attrNameLst>
                                      </p:cBhvr>
                                      <p:to>
                                        <p:strVal val="visible"/>
                                      </p:to>
                                    </p:set>
                                    <p:animEffect transition="in" filter="wipe(up)">
                                      <p:cBhvr>
                                        <p:cTn id="16" dur="500"/>
                                        <p:tgtEl>
                                          <p:spTgt spid="56478"/>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3" fill="hold" grpId="0" nodeType="clickEffect">
                                  <p:stCondLst>
                                    <p:cond delay="0"/>
                                  </p:stCondLst>
                                  <p:childTnLst>
                                    <p:set>
                                      <p:cBhvr>
                                        <p:cTn id="20" dur="1" fill="hold">
                                          <p:stCondLst>
                                            <p:cond delay="0"/>
                                          </p:stCondLst>
                                        </p:cTn>
                                        <p:tgtEl>
                                          <p:spTgt spid="56546"/>
                                        </p:tgtEl>
                                        <p:attrNameLst>
                                          <p:attrName>style.visibility</p:attrName>
                                        </p:attrNameLst>
                                      </p:cBhvr>
                                      <p:to>
                                        <p:strVal val="visible"/>
                                      </p:to>
                                    </p:set>
                                    <p:animEffect transition="in" filter="strips(upRight)">
                                      <p:cBhvr>
                                        <p:cTn id="21" dur="500"/>
                                        <p:tgtEl>
                                          <p:spTgt spid="5654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56634"/>
                                        </p:tgtEl>
                                        <p:attrNameLst>
                                          <p:attrName>style.visibility</p:attrName>
                                        </p:attrNameLst>
                                      </p:cBhvr>
                                      <p:to>
                                        <p:strVal val="visible"/>
                                      </p:to>
                                    </p:set>
                                    <p:animEffect transition="in" filter="wipe(up)">
                                      <p:cBhvr>
                                        <p:cTn id="26" dur="500"/>
                                        <p:tgtEl>
                                          <p:spTgt spid="56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78" grpId="0" autoUpdateAnimBg="0"/>
      <p:bldP spid="56545" grpId="0" animBg="1" autoUpdateAnimBg="0"/>
      <p:bldP spid="5654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323850" y="152400"/>
            <a:ext cx="26463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3200" b="1">
                <a:solidFill>
                  <a:srgbClr val="FF3300"/>
                </a:solidFill>
                <a:latin typeface="宋体" panose="02010600030101010101" pitchFamily="2" charset="-122"/>
                <a:sym typeface="Monotype Sorts" panose="05000000000000000000" pitchFamily="2" charset="2"/>
              </a:rPr>
              <a:t>3</a:t>
            </a:r>
            <a:r>
              <a:rPr lang="zh-CN" altLang="en-US" sz="3200" b="1">
                <a:solidFill>
                  <a:srgbClr val="FF3300"/>
                </a:solidFill>
                <a:latin typeface="宋体" panose="02010600030101010101" pitchFamily="2" charset="-122"/>
                <a:sym typeface="Monotype Sorts" panose="05000000000000000000" pitchFamily="2" charset="2"/>
              </a:rPr>
              <a:t>）轴类零件</a:t>
            </a:r>
            <a:endParaRPr lang="zh-CN" altLang="en-US" sz="3200" b="1">
              <a:solidFill>
                <a:srgbClr val="FF3300"/>
              </a:solidFill>
              <a:latin typeface="宋体" panose="02010600030101010101" pitchFamily="2" charset="-122"/>
              <a:sym typeface="Monotype Sorts" panose="05000000000000000000" pitchFamily="2" charset="2"/>
            </a:endParaRPr>
          </a:p>
        </p:txBody>
      </p:sp>
      <p:sp>
        <p:nvSpPr>
          <p:cNvPr id="79875" name="Text Box 3"/>
          <p:cNvSpPr txBox="1">
            <a:spLocks noChangeArrowheads="1"/>
          </p:cNvSpPr>
          <p:nvPr/>
        </p:nvSpPr>
        <p:spPr bwMode="auto">
          <a:xfrm>
            <a:off x="415925" y="663575"/>
            <a:ext cx="348138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2800" b="1">
                <a:solidFill>
                  <a:schemeClr val="accent2"/>
                </a:solidFill>
                <a:latin typeface="宋体" panose="02010600030101010101" pitchFamily="2" charset="-122"/>
                <a:sym typeface="Monotype Sorts" panose="05000000000000000000" pitchFamily="2" charset="2"/>
              </a:rPr>
              <a:t>⑴ </a:t>
            </a:r>
            <a:r>
              <a:rPr lang="zh-CN" altLang="en-US" sz="2800" b="1">
                <a:solidFill>
                  <a:schemeClr val="accent2"/>
                </a:solidFill>
                <a:latin typeface="宋体" panose="02010600030101010101" pitchFamily="2" charset="-122"/>
                <a:sym typeface="Monotype Sorts" panose="05000000000000000000" pitchFamily="2" charset="2"/>
              </a:rPr>
              <a:t>分析形体、结构</a:t>
            </a:r>
            <a:endParaRPr lang="zh-CN" altLang="en-US" sz="2800" b="1">
              <a:solidFill>
                <a:schemeClr val="accent2"/>
              </a:solidFill>
              <a:latin typeface="宋体" panose="02010600030101010101" pitchFamily="2" charset="-122"/>
              <a:sym typeface="Monotype Sorts" panose="05000000000000000000" pitchFamily="2" charset="2"/>
            </a:endParaRPr>
          </a:p>
        </p:txBody>
      </p:sp>
      <p:sp>
        <p:nvSpPr>
          <p:cNvPr id="79876" name="Text Box 4"/>
          <p:cNvSpPr txBox="1">
            <a:spLocks noChangeArrowheads="1"/>
          </p:cNvSpPr>
          <p:nvPr/>
        </p:nvSpPr>
        <p:spPr bwMode="auto">
          <a:xfrm>
            <a:off x="560388" y="1130300"/>
            <a:ext cx="3413125" cy="162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lnSpc>
                <a:spcPct val="90000"/>
              </a:lnSpc>
            </a:pPr>
            <a:r>
              <a:rPr lang="en-US" altLang="zh-CN" sz="2800" b="1">
                <a:latin typeface="宋体" panose="02010600030101010101" pitchFamily="2" charset="-122"/>
              </a:rPr>
              <a:t>    </a:t>
            </a:r>
            <a:r>
              <a:rPr lang="zh-CN" altLang="en-US" sz="2800" b="1">
                <a:latin typeface="宋体" panose="02010600030101010101" pitchFamily="2" charset="-122"/>
              </a:rPr>
              <a:t>由于轴上零件的固定及定位要求，其形状为阶梯形，并有键槽。</a:t>
            </a:r>
            <a:endParaRPr lang="zh-CN" altLang="en-US" sz="2800" b="1">
              <a:latin typeface="宋体" panose="02010600030101010101" pitchFamily="2" charset="-122"/>
            </a:endParaRPr>
          </a:p>
        </p:txBody>
      </p:sp>
      <p:sp>
        <p:nvSpPr>
          <p:cNvPr id="79898" name="Text Box 26"/>
          <p:cNvSpPr txBox="1">
            <a:spLocks noChangeArrowheads="1"/>
          </p:cNvSpPr>
          <p:nvPr/>
        </p:nvSpPr>
        <p:spPr bwMode="auto">
          <a:xfrm>
            <a:off x="3551238" y="6040438"/>
            <a:ext cx="2176462" cy="519112"/>
          </a:xfrm>
          <a:prstGeom prst="rect">
            <a:avLst/>
          </a:prstGeom>
          <a:gradFill rotWithShape="0">
            <a:gsLst>
              <a:gs pos="0">
                <a:srgbClr val="FFFF00"/>
              </a:gs>
              <a:gs pos="50000">
                <a:schemeClr val="bg1"/>
              </a:gs>
              <a:gs pos="100000">
                <a:srgbClr val="FFFF00"/>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chemeClr val="accent2"/>
                </a:solidFill>
              </a:rPr>
              <a:t>轴系分解图</a:t>
            </a:r>
            <a:endParaRPr lang="zh-CN" altLang="en-US">
              <a:solidFill>
                <a:schemeClr val="accent2"/>
              </a:solidFill>
            </a:endParaRPr>
          </a:p>
        </p:txBody>
      </p:sp>
      <p:pic>
        <p:nvPicPr>
          <p:cNvPr id="79910" name="Picture 3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94225" y="263525"/>
            <a:ext cx="3835400" cy="2816225"/>
          </a:xfrm>
          <a:prstGeom prst="rect">
            <a:avLst/>
          </a:prstGeom>
          <a:noFill/>
          <a:extLst>
            <a:ext uri="{909E8E84-426E-40DD-AFC4-6F175D3DCCD1}">
              <a14:hiddenFill xmlns:a14="http://schemas.microsoft.com/office/drawing/2010/main">
                <a:solidFill>
                  <a:srgbClr val="FFFFFF"/>
                </a:solidFill>
              </a14:hiddenFill>
            </a:ext>
          </a:extLst>
        </p:spPr>
      </p:pic>
      <p:pic>
        <p:nvPicPr>
          <p:cNvPr id="79911"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25" y="2243138"/>
            <a:ext cx="1946275" cy="2540000"/>
          </a:xfrm>
          <a:prstGeom prst="rect">
            <a:avLst/>
          </a:prstGeom>
          <a:noFill/>
          <a:extLst>
            <a:ext uri="{909E8E84-426E-40DD-AFC4-6F175D3DCCD1}">
              <a14:hiddenFill xmlns:a14="http://schemas.microsoft.com/office/drawing/2010/main">
                <a:solidFill>
                  <a:srgbClr val="FFFFFF"/>
                </a:solidFill>
              </a14:hiddenFill>
            </a:ext>
          </a:extLst>
        </p:spPr>
      </p:pic>
      <p:pic>
        <p:nvPicPr>
          <p:cNvPr id="79912"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1838" y="4706938"/>
            <a:ext cx="3416300" cy="1492250"/>
          </a:xfrm>
          <a:prstGeom prst="rect">
            <a:avLst/>
          </a:prstGeom>
          <a:noFill/>
          <a:extLst>
            <a:ext uri="{909E8E84-426E-40DD-AFC4-6F175D3DCCD1}">
              <a14:hiddenFill xmlns:a14="http://schemas.microsoft.com/office/drawing/2010/main">
                <a:solidFill>
                  <a:srgbClr val="FFFFFF"/>
                </a:solidFill>
              </a14:hiddenFill>
            </a:ext>
          </a:extLst>
        </p:spPr>
      </p:pic>
      <p:pic>
        <p:nvPicPr>
          <p:cNvPr id="79915"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9913" y="4403725"/>
            <a:ext cx="650875" cy="473075"/>
          </a:xfrm>
          <a:prstGeom prst="rect">
            <a:avLst/>
          </a:prstGeom>
          <a:noFill/>
          <a:extLst>
            <a:ext uri="{909E8E84-426E-40DD-AFC4-6F175D3DCCD1}">
              <a14:hiddenFill xmlns:a14="http://schemas.microsoft.com/office/drawing/2010/main">
                <a:solidFill>
                  <a:srgbClr val="FFFFFF"/>
                </a:solidFill>
              </a14:hiddenFill>
            </a:ext>
          </a:extLst>
        </p:spPr>
      </p:pic>
      <p:pic>
        <p:nvPicPr>
          <p:cNvPr id="79916" name="Picture 4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76850" y="4284663"/>
            <a:ext cx="736600" cy="892175"/>
          </a:xfrm>
          <a:prstGeom prst="rect">
            <a:avLst/>
          </a:prstGeom>
          <a:noFill/>
          <a:extLst>
            <a:ext uri="{909E8E84-426E-40DD-AFC4-6F175D3DCCD1}">
              <a14:hiddenFill xmlns:a14="http://schemas.microsoft.com/office/drawing/2010/main">
                <a:solidFill>
                  <a:srgbClr val="FFFFFF"/>
                </a:solidFill>
              </a14:hiddenFill>
            </a:ext>
          </a:extLst>
        </p:spPr>
      </p:pic>
      <p:grpSp>
        <p:nvGrpSpPr>
          <p:cNvPr id="79925" name="Group 53"/>
          <p:cNvGrpSpPr/>
          <p:nvPr/>
        </p:nvGrpSpPr>
        <p:grpSpPr bwMode="auto">
          <a:xfrm>
            <a:off x="1828800" y="4203700"/>
            <a:ext cx="5551488" cy="1530350"/>
            <a:chOff x="1152" y="2648"/>
            <a:chExt cx="3497" cy="964"/>
          </a:xfrm>
        </p:grpSpPr>
        <p:pic>
          <p:nvPicPr>
            <p:cNvPr id="79913" name="Picture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9" y="2712"/>
              <a:ext cx="670" cy="900"/>
            </a:xfrm>
            <a:prstGeom prst="rect">
              <a:avLst/>
            </a:prstGeom>
            <a:noFill/>
            <a:extLst>
              <a:ext uri="{909E8E84-426E-40DD-AFC4-6F175D3DCCD1}">
                <a14:hiddenFill xmlns:a14="http://schemas.microsoft.com/office/drawing/2010/main">
                  <a:solidFill>
                    <a:srgbClr val="FFFFFF"/>
                  </a:solidFill>
                </a14:hiddenFill>
              </a:ext>
            </a:extLst>
          </p:spPr>
        </p:pic>
        <p:pic>
          <p:nvPicPr>
            <p:cNvPr id="79919" name="Picture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 y="2648"/>
              <a:ext cx="670" cy="9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9920" name="Group 48"/>
          <p:cNvGrpSpPr/>
          <p:nvPr/>
        </p:nvGrpSpPr>
        <p:grpSpPr bwMode="auto">
          <a:xfrm>
            <a:off x="1689100" y="3481388"/>
            <a:ext cx="1403350" cy="522287"/>
            <a:chOff x="1064" y="2193"/>
            <a:chExt cx="884" cy="329"/>
          </a:xfrm>
        </p:grpSpPr>
        <p:sp>
          <p:nvSpPr>
            <p:cNvPr id="79881" name="Text Box 9"/>
            <p:cNvSpPr txBox="1">
              <a:spLocks noChangeArrowheads="1"/>
            </p:cNvSpPr>
            <p:nvPr/>
          </p:nvSpPr>
          <p:spPr bwMode="auto">
            <a:xfrm>
              <a:off x="1064" y="2193"/>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齿轮</a:t>
              </a:r>
              <a:endParaRPr lang="zh-CN" altLang="en-US"/>
            </a:p>
          </p:txBody>
        </p:sp>
        <p:sp>
          <p:nvSpPr>
            <p:cNvPr id="79882" name="Line 10"/>
            <p:cNvSpPr>
              <a:spLocks noChangeShapeType="1"/>
            </p:cNvSpPr>
            <p:nvPr/>
          </p:nvSpPr>
          <p:spPr bwMode="auto">
            <a:xfrm>
              <a:off x="1593" y="2404"/>
              <a:ext cx="355" cy="118"/>
            </a:xfrm>
            <a:prstGeom prst="line">
              <a:avLst/>
            </a:prstGeom>
            <a:noFill/>
            <a:ln w="19050">
              <a:solidFill>
                <a:srgbClr val="FF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922" name="Group 50"/>
          <p:cNvGrpSpPr/>
          <p:nvPr/>
        </p:nvGrpSpPr>
        <p:grpSpPr bwMode="auto">
          <a:xfrm>
            <a:off x="5422900" y="3549650"/>
            <a:ext cx="898525" cy="855663"/>
            <a:chOff x="3416" y="2236"/>
            <a:chExt cx="566" cy="539"/>
          </a:xfrm>
        </p:grpSpPr>
        <p:sp>
          <p:nvSpPr>
            <p:cNvPr id="79887" name="Text Box 15"/>
            <p:cNvSpPr txBox="1">
              <a:spLocks noChangeArrowheads="1"/>
            </p:cNvSpPr>
            <p:nvPr/>
          </p:nvSpPr>
          <p:spPr bwMode="auto">
            <a:xfrm>
              <a:off x="3416" y="2236"/>
              <a:ext cx="56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轴套</a:t>
              </a:r>
              <a:endParaRPr lang="zh-CN" altLang="en-US" sz="2800" b="1">
                <a:solidFill>
                  <a:srgbClr val="FF3300"/>
                </a:solidFill>
              </a:endParaRPr>
            </a:p>
          </p:txBody>
        </p:sp>
        <p:sp>
          <p:nvSpPr>
            <p:cNvPr id="79888" name="Line 16"/>
            <p:cNvSpPr>
              <a:spLocks noChangeShapeType="1"/>
            </p:cNvSpPr>
            <p:nvPr/>
          </p:nvSpPr>
          <p:spPr bwMode="auto">
            <a:xfrm flipH="1">
              <a:off x="3541" y="2532"/>
              <a:ext cx="150" cy="243"/>
            </a:xfrm>
            <a:prstGeom prst="line">
              <a:avLst/>
            </a:prstGeom>
            <a:noFill/>
            <a:ln w="19050">
              <a:solidFill>
                <a:srgbClr val="FF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923" name="Group 51"/>
          <p:cNvGrpSpPr/>
          <p:nvPr/>
        </p:nvGrpSpPr>
        <p:grpSpPr bwMode="auto">
          <a:xfrm>
            <a:off x="6299200" y="3549650"/>
            <a:ext cx="1612900" cy="923925"/>
            <a:chOff x="3968" y="2236"/>
            <a:chExt cx="1016" cy="582"/>
          </a:xfrm>
        </p:grpSpPr>
        <p:sp>
          <p:nvSpPr>
            <p:cNvPr id="79890" name="Text Box 18"/>
            <p:cNvSpPr txBox="1">
              <a:spLocks noChangeArrowheads="1"/>
            </p:cNvSpPr>
            <p:nvPr/>
          </p:nvSpPr>
          <p:spPr bwMode="auto">
            <a:xfrm>
              <a:off x="3968" y="2236"/>
              <a:ext cx="1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滚动轴承</a:t>
              </a:r>
              <a:endParaRPr lang="zh-CN" altLang="en-US" sz="2800" b="1">
                <a:solidFill>
                  <a:srgbClr val="FF3300"/>
                </a:solidFill>
              </a:endParaRPr>
            </a:p>
          </p:txBody>
        </p:sp>
        <p:sp>
          <p:nvSpPr>
            <p:cNvPr id="79891" name="Line 19"/>
            <p:cNvSpPr>
              <a:spLocks noChangeShapeType="1"/>
            </p:cNvSpPr>
            <p:nvPr/>
          </p:nvSpPr>
          <p:spPr bwMode="auto">
            <a:xfrm flipH="1">
              <a:off x="4312" y="2537"/>
              <a:ext cx="139" cy="281"/>
            </a:xfrm>
            <a:prstGeom prst="line">
              <a:avLst/>
            </a:prstGeom>
            <a:noFill/>
            <a:ln w="19050">
              <a:solidFill>
                <a:srgbClr val="FF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921" name="Group 49"/>
          <p:cNvGrpSpPr/>
          <p:nvPr/>
        </p:nvGrpSpPr>
        <p:grpSpPr bwMode="auto">
          <a:xfrm>
            <a:off x="4733925" y="3530600"/>
            <a:ext cx="561975" cy="1042988"/>
            <a:chOff x="2982" y="2224"/>
            <a:chExt cx="354" cy="657"/>
          </a:xfrm>
        </p:grpSpPr>
        <p:sp>
          <p:nvSpPr>
            <p:cNvPr id="79884" name="Text Box 12"/>
            <p:cNvSpPr txBox="1">
              <a:spLocks noChangeArrowheads="1"/>
            </p:cNvSpPr>
            <p:nvPr/>
          </p:nvSpPr>
          <p:spPr bwMode="auto">
            <a:xfrm>
              <a:off x="2996" y="222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键</a:t>
              </a:r>
              <a:endParaRPr lang="zh-CN" altLang="en-US"/>
            </a:p>
          </p:txBody>
        </p:sp>
        <p:sp>
          <p:nvSpPr>
            <p:cNvPr id="79885" name="Line 13"/>
            <p:cNvSpPr>
              <a:spLocks noChangeShapeType="1"/>
            </p:cNvSpPr>
            <p:nvPr/>
          </p:nvSpPr>
          <p:spPr bwMode="auto">
            <a:xfrm flipH="1">
              <a:off x="2982" y="2520"/>
              <a:ext cx="162" cy="361"/>
            </a:xfrm>
            <a:prstGeom prst="line">
              <a:avLst/>
            </a:prstGeom>
            <a:noFill/>
            <a:ln w="19050">
              <a:solidFill>
                <a:srgbClr val="FF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924" name="Group 52"/>
          <p:cNvGrpSpPr/>
          <p:nvPr/>
        </p:nvGrpSpPr>
        <p:grpSpPr bwMode="auto">
          <a:xfrm>
            <a:off x="2752725" y="5210175"/>
            <a:ext cx="700088" cy="909638"/>
            <a:chOff x="1734" y="3282"/>
            <a:chExt cx="441" cy="573"/>
          </a:xfrm>
        </p:grpSpPr>
        <p:sp>
          <p:nvSpPr>
            <p:cNvPr id="79896" name="Text Box 24"/>
            <p:cNvSpPr txBox="1">
              <a:spLocks noChangeArrowheads="1"/>
            </p:cNvSpPr>
            <p:nvPr/>
          </p:nvSpPr>
          <p:spPr bwMode="auto">
            <a:xfrm>
              <a:off x="1734" y="3528"/>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sz="2800" b="1">
                  <a:solidFill>
                    <a:srgbClr val="FF3300"/>
                  </a:solidFill>
                </a:rPr>
                <a:t>轴</a:t>
              </a:r>
              <a:endParaRPr lang="zh-CN" altLang="en-US"/>
            </a:p>
          </p:txBody>
        </p:sp>
        <p:sp>
          <p:nvSpPr>
            <p:cNvPr id="79897" name="Line 25"/>
            <p:cNvSpPr>
              <a:spLocks noChangeShapeType="1"/>
            </p:cNvSpPr>
            <p:nvPr/>
          </p:nvSpPr>
          <p:spPr bwMode="auto">
            <a:xfrm flipV="1">
              <a:off x="1963" y="3282"/>
              <a:ext cx="212" cy="301"/>
            </a:xfrm>
            <a:prstGeom prst="line">
              <a:avLst/>
            </a:prstGeom>
            <a:noFill/>
            <a:ln w="19050">
              <a:solidFill>
                <a:srgbClr val="3333CC"/>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9924"/>
                                        </p:tgtEl>
                                        <p:attrNameLst>
                                          <p:attrName>style.visibility</p:attrName>
                                        </p:attrNameLst>
                                      </p:cBhvr>
                                      <p:to>
                                        <p:strVal val="visible"/>
                                      </p:to>
                                    </p:set>
                                    <p:animEffect transition="in" filter="wipe(down)">
                                      <p:cBhvr>
                                        <p:cTn id="7" dur="500"/>
                                        <p:tgtEl>
                                          <p:spTgt spid="7992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79875"/>
                                        </p:tgtEl>
                                        <p:attrNameLst>
                                          <p:attrName>style.visibility</p:attrName>
                                        </p:attrNameLst>
                                      </p:cBhvr>
                                      <p:to>
                                        <p:strVal val="visible"/>
                                      </p:to>
                                    </p:set>
                                    <p:animEffect transition="in" filter="slide(fromLeft)">
                                      <p:cBhvr>
                                        <p:cTn id="12" dur="500"/>
                                        <p:tgtEl>
                                          <p:spTgt spid="798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9910"/>
                                        </p:tgtEl>
                                        <p:attrNameLst>
                                          <p:attrName>style.visibility</p:attrName>
                                        </p:attrNameLst>
                                      </p:cBhvr>
                                      <p:to>
                                        <p:strVal val="visible"/>
                                      </p:to>
                                    </p:set>
                                    <p:animEffect transition="in" filter="dissolve">
                                      <p:cBhvr>
                                        <p:cTn id="17" dur="500"/>
                                        <p:tgtEl>
                                          <p:spTgt spid="7991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9" fill="hold" grpId="0" nodeType="clickEffect">
                                  <p:stCondLst>
                                    <p:cond delay="0"/>
                                  </p:stCondLst>
                                  <p:childTnLst>
                                    <p:set>
                                      <p:cBhvr>
                                        <p:cTn id="21" dur="1" fill="hold">
                                          <p:stCondLst>
                                            <p:cond delay="0"/>
                                          </p:stCondLst>
                                        </p:cTn>
                                        <p:tgtEl>
                                          <p:spTgt spid="79876"/>
                                        </p:tgtEl>
                                        <p:attrNameLst>
                                          <p:attrName>style.visibility</p:attrName>
                                        </p:attrNameLst>
                                      </p:cBhvr>
                                      <p:to>
                                        <p:strVal val="visible"/>
                                      </p:to>
                                    </p:set>
                                    <p:animEffect transition="in" filter="strips(upLeft)">
                                      <p:cBhvr>
                                        <p:cTn id="22" dur="500"/>
                                        <p:tgtEl>
                                          <p:spTgt spid="7987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79898"/>
                                        </p:tgtEl>
                                        <p:attrNameLst>
                                          <p:attrName>style.visibility</p:attrName>
                                        </p:attrNameLst>
                                      </p:cBhvr>
                                      <p:to>
                                        <p:strVal val="visible"/>
                                      </p:to>
                                    </p:set>
                                    <p:animEffect transition="in" filter="blinds(vertical)">
                                      <p:cBhvr>
                                        <p:cTn id="27" dur="500"/>
                                        <p:tgtEl>
                                          <p:spTgt spid="79898"/>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79911"/>
                                        </p:tgtEl>
                                        <p:attrNameLst>
                                          <p:attrName>style.visibility</p:attrName>
                                        </p:attrNameLst>
                                      </p:cBhvr>
                                      <p:to>
                                        <p:strVal val="visible"/>
                                      </p:to>
                                    </p:set>
                                    <p:animEffect transition="in" filter="wipe(up)">
                                      <p:cBhvr>
                                        <p:cTn id="31" dur="500"/>
                                        <p:tgtEl>
                                          <p:spTgt spid="79911"/>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79920"/>
                                        </p:tgtEl>
                                        <p:attrNameLst>
                                          <p:attrName>style.visibility</p:attrName>
                                        </p:attrNameLst>
                                      </p:cBhvr>
                                      <p:to>
                                        <p:strVal val="visible"/>
                                      </p:to>
                                    </p:set>
                                    <p:animEffect transition="in" filter="wipe(left)">
                                      <p:cBhvr>
                                        <p:cTn id="35" dur="500"/>
                                        <p:tgtEl>
                                          <p:spTgt spid="79920"/>
                                        </p:tgtEl>
                                      </p:cBhvr>
                                    </p:animEffect>
                                  </p:childTnLst>
                                </p:cTn>
                              </p:par>
                            </p:childTnLst>
                          </p:cTn>
                        </p:par>
                        <p:par>
                          <p:cTn id="36" fill="hold">
                            <p:stCondLst>
                              <p:cond delay="1500"/>
                            </p:stCondLst>
                            <p:childTnLst>
                              <p:par>
                                <p:cTn id="37" presetID="22" presetClass="entr" presetSubtype="1" fill="hold" nodeType="afterEffect">
                                  <p:stCondLst>
                                    <p:cond delay="0"/>
                                  </p:stCondLst>
                                  <p:childTnLst>
                                    <p:set>
                                      <p:cBhvr>
                                        <p:cTn id="38" dur="1" fill="hold">
                                          <p:stCondLst>
                                            <p:cond delay="0"/>
                                          </p:stCondLst>
                                        </p:cTn>
                                        <p:tgtEl>
                                          <p:spTgt spid="79915"/>
                                        </p:tgtEl>
                                        <p:attrNameLst>
                                          <p:attrName>style.visibility</p:attrName>
                                        </p:attrNameLst>
                                      </p:cBhvr>
                                      <p:to>
                                        <p:strVal val="visible"/>
                                      </p:to>
                                    </p:set>
                                    <p:animEffect transition="in" filter="wipe(up)">
                                      <p:cBhvr>
                                        <p:cTn id="39" dur="500"/>
                                        <p:tgtEl>
                                          <p:spTgt spid="79915"/>
                                        </p:tgtEl>
                                      </p:cBhvr>
                                    </p:animEffect>
                                  </p:childTnLst>
                                </p:cTn>
                              </p:par>
                            </p:childTnLst>
                          </p:cTn>
                        </p:par>
                        <p:par>
                          <p:cTn id="40" fill="hold">
                            <p:stCondLst>
                              <p:cond delay="2000"/>
                            </p:stCondLst>
                            <p:childTnLst>
                              <p:par>
                                <p:cTn id="41" presetID="22" presetClass="entr" presetSubtype="1" fill="hold" nodeType="afterEffect">
                                  <p:stCondLst>
                                    <p:cond delay="0"/>
                                  </p:stCondLst>
                                  <p:childTnLst>
                                    <p:set>
                                      <p:cBhvr>
                                        <p:cTn id="42" dur="1" fill="hold">
                                          <p:stCondLst>
                                            <p:cond delay="0"/>
                                          </p:stCondLst>
                                        </p:cTn>
                                        <p:tgtEl>
                                          <p:spTgt spid="79921"/>
                                        </p:tgtEl>
                                        <p:attrNameLst>
                                          <p:attrName>style.visibility</p:attrName>
                                        </p:attrNameLst>
                                      </p:cBhvr>
                                      <p:to>
                                        <p:strVal val="visible"/>
                                      </p:to>
                                    </p:set>
                                    <p:animEffect transition="in" filter="wipe(up)">
                                      <p:cBhvr>
                                        <p:cTn id="43" dur="500"/>
                                        <p:tgtEl>
                                          <p:spTgt spid="79921"/>
                                        </p:tgtEl>
                                      </p:cBhvr>
                                    </p:animEffect>
                                  </p:childTnLst>
                                </p:cTn>
                              </p:par>
                            </p:childTnLst>
                          </p:cTn>
                        </p:par>
                        <p:par>
                          <p:cTn id="44" fill="hold">
                            <p:stCondLst>
                              <p:cond delay="2500"/>
                            </p:stCondLst>
                            <p:childTnLst>
                              <p:par>
                                <p:cTn id="45" presetID="22" presetClass="entr" presetSubtype="1" fill="hold" nodeType="afterEffect">
                                  <p:stCondLst>
                                    <p:cond delay="0"/>
                                  </p:stCondLst>
                                  <p:childTnLst>
                                    <p:set>
                                      <p:cBhvr>
                                        <p:cTn id="46" dur="1" fill="hold">
                                          <p:stCondLst>
                                            <p:cond delay="0"/>
                                          </p:stCondLst>
                                        </p:cTn>
                                        <p:tgtEl>
                                          <p:spTgt spid="79916"/>
                                        </p:tgtEl>
                                        <p:attrNameLst>
                                          <p:attrName>style.visibility</p:attrName>
                                        </p:attrNameLst>
                                      </p:cBhvr>
                                      <p:to>
                                        <p:strVal val="visible"/>
                                      </p:to>
                                    </p:set>
                                    <p:animEffect transition="in" filter="wipe(up)">
                                      <p:cBhvr>
                                        <p:cTn id="47" dur="500"/>
                                        <p:tgtEl>
                                          <p:spTgt spid="79916"/>
                                        </p:tgtEl>
                                      </p:cBhvr>
                                    </p:animEffect>
                                  </p:childTnLst>
                                </p:cTn>
                              </p:par>
                            </p:childTnLst>
                          </p:cTn>
                        </p:par>
                        <p:par>
                          <p:cTn id="48" fill="hold">
                            <p:stCondLst>
                              <p:cond delay="3000"/>
                            </p:stCondLst>
                            <p:childTnLst>
                              <p:par>
                                <p:cTn id="49" presetID="22" presetClass="entr" presetSubtype="1" fill="hold" nodeType="afterEffect">
                                  <p:stCondLst>
                                    <p:cond delay="0"/>
                                  </p:stCondLst>
                                  <p:childTnLst>
                                    <p:set>
                                      <p:cBhvr>
                                        <p:cTn id="50" dur="1" fill="hold">
                                          <p:stCondLst>
                                            <p:cond delay="0"/>
                                          </p:stCondLst>
                                        </p:cTn>
                                        <p:tgtEl>
                                          <p:spTgt spid="79922"/>
                                        </p:tgtEl>
                                        <p:attrNameLst>
                                          <p:attrName>style.visibility</p:attrName>
                                        </p:attrNameLst>
                                      </p:cBhvr>
                                      <p:to>
                                        <p:strVal val="visible"/>
                                      </p:to>
                                    </p:set>
                                    <p:animEffect transition="in" filter="wipe(up)">
                                      <p:cBhvr>
                                        <p:cTn id="51" dur="500"/>
                                        <p:tgtEl>
                                          <p:spTgt spid="79922"/>
                                        </p:tgtEl>
                                      </p:cBhvr>
                                    </p:animEffect>
                                  </p:childTnLst>
                                </p:cTn>
                              </p:par>
                            </p:childTnLst>
                          </p:cTn>
                        </p:par>
                        <p:par>
                          <p:cTn id="52" fill="hold">
                            <p:stCondLst>
                              <p:cond delay="3500"/>
                            </p:stCondLst>
                            <p:childTnLst>
                              <p:par>
                                <p:cTn id="53" presetID="22" presetClass="entr" presetSubtype="1" fill="hold" nodeType="afterEffect">
                                  <p:stCondLst>
                                    <p:cond delay="0"/>
                                  </p:stCondLst>
                                  <p:childTnLst>
                                    <p:set>
                                      <p:cBhvr>
                                        <p:cTn id="54" dur="1" fill="hold">
                                          <p:stCondLst>
                                            <p:cond delay="0"/>
                                          </p:stCondLst>
                                        </p:cTn>
                                        <p:tgtEl>
                                          <p:spTgt spid="79925"/>
                                        </p:tgtEl>
                                        <p:attrNameLst>
                                          <p:attrName>style.visibility</p:attrName>
                                        </p:attrNameLst>
                                      </p:cBhvr>
                                      <p:to>
                                        <p:strVal val="visible"/>
                                      </p:to>
                                    </p:set>
                                    <p:animEffect transition="in" filter="wipe(up)">
                                      <p:cBhvr>
                                        <p:cTn id="55" dur="500"/>
                                        <p:tgtEl>
                                          <p:spTgt spid="79925"/>
                                        </p:tgtEl>
                                      </p:cBhvr>
                                    </p:animEffect>
                                  </p:childTnLst>
                                </p:cTn>
                              </p:par>
                            </p:childTnLst>
                          </p:cTn>
                        </p:par>
                        <p:par>
                          <p:cTn id="56" fill="hold">
                            <p:stCondLst>
                              <p:cond delay="4000"/>
                            </p:stCondLst>
                            <p:childTnLst>
                              <p:par>
                                <p:cTn id="57" presetID="22" presetClass="entr" presetSubtype="1" fill="hold" nodeType="afterEffect">
                                  <p:stCondLst>
                                    <p:cond delay="0"/>
                                  </p:stCondLst>
                                  <p:childTnLst>
                                    <p:set>
                                      <p:cBhvr>
                                        <p:cTn id="58" dur="1" fill="hold">
                                          <p:stCondLst>
                                            <p:cond delay="0"/>
                                          </p:stCondLst>
                                        </p:cTn>
                                        <p:tgtEl>
                                          <p:spTgt spid="79923"/>
                                        </p:tgtEl>
                                        <p:attrNameLst>
                                          <p:attrName>style.visibility</p:attrName>
                                        </p:attrNameLst>
                                      </p:cBhvr>
                                      <p:to>
                                        <p:strVal val="visible"/>
                                      </p:to>
                                    </p:set>
                                    <p:animEffect transition="in" filter="wipe(up)">
                                      <p:cBhvr>
                                        <p:cTn id="59" dur="500"/>
                                        <p:tgtEl>
                                          <p:spTgt spid="79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autoUpdateAnimBg="0"/>
      <p:bldP spid="79876" grpId="0" autoUpdateAnimBg="0"/>
      <p:bldP spid="79898"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80975" y="192088"/>
            <a:ext cx="3113088"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latin typeface="宋体" panose="02010600030101010101" pitchFamily="2" charset="-122"/>
                <a:sym typeface="Monotype Sorts" panose="05000000000000000000" pitchFamily="2" charset="2"/>
              </a:rPr>
              <a:t>⑵ </a:t>
            </a:r>
            <a:r>
              <a:rPr lang="zh-CN" altLang="en-US" sz="3200" b="1">
                <a:solidFill>
                  <a:schemeClr val="accent2"/>
                </a:solidFill>
                <a:latin typeface="宋体" panose="02010600030101010101" pitchFamily="2" charset="-122"/>
                <a:sym typeface="Monotype Sorts" panose="05000000000000000000" pitchFamily="2" charset="2"/>
              </a:rPr>
              <a:t>选择主视图</a:t>
            </a:r>
            <a:endParaRPr lang="zh-CN" altLang="en-US" sz="3200" b="1">
              <a:solidFill>
                <a:schemeClr val="accent2"/>
              </a:solidFill>
              <a:latin typeface="宋体" panose="02010600030101010101" pitchFamily="2" charset="-122"/>
              <a:sym typeface="Monotype Sorts" panose="05000000000000000000" pitchFamily="2" charset="2"/>
            </a:endParaRPr>
          </a:p>
        </p:txBody>
      </p:sp>
      <p:sp>
        <p:nvSpPr>
          <p:cNvPr id="19459" name="Text Box 3"/>
          <p:cNvSpPr txBox="1">
            <a:spLocks noChangeArrowheads="1"/>
          </p:cNvSpPr>
          <p:nvPr/>
        </p:nvSpPr>
        <p:spPr bwMode="auto">
          <a:xfrm>
            <a:off x="180975" y="4017963"/>
            <a:ext cx="351472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latin typeface="宋体" panose="02010600030101010101" pitchFamily="2" charset="-122"/>
                <a:sym typeface="Monotype Sorts" panose="05000000000000000000" pitchFamily="2" charset="2"/>
              </a:rPr>
              <a:t>⑶ </a:t>
            </a:r>
            <a:r>
              <a:rPr lang="zh-CN" altLang="en-US" sz="3200" b="1">
                <a:solidFill>
                  <a:schemeClr val="accent2"/>
                </a:solidFill>
                <a:latin typeface="宋体" panose="02010600030101010101" pitchFamily="2" charset="-122"/>
                <a:sym typeface="Monotype Sorts" panose="05000000000000000000" pitchFamily="2" charset="2"/>
              </a:rPr>
              <a:t>选择其他视图</a:t>
            </a:r>
            <a:endParaRPr lang="zh-CN" altLang="en-US" sz="3200" b="1">
              <a:solidFill>
                <a:schemeClr val="accent2"/>
              </a:solidFill>
              <a:latin typeface="宋体" panose="02010600030101010101" pitchFamily="2" charset="-122"/>
              <a:sym typeface="Monotype Sorts" panose="05000000000000000000" pitchFamily="2" charset="2"/>
            </a:endParaRPr>
          </a:p>
        </p:txBody>
      </p:sp>
      <p:sp>
        <p:nvSpPr>
          <p:cNvPr id="19460" name="Text Box 4"/>
          <p:cNvSpPr txBox="1">
            <a:spLocks noChangeArrowheads="1"/>
          </p:cNvSpPr>
          <p:nvPr/>
        </p:nvSpPr>
        <p:spPr bwMode="auto">
          <a:xfrm>
            <a:off x="815975" y="4646613"/>
            <a:ext cx="2439988" cy="94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用断面图表达键槽结构。</a:t>
            </a:r>
            <a:endParaRPr lang="zh-CN" altLang="en-US" sz="2800" b="1">
              <a:latin typeface="宋体" panose="02010600030101010101" pitchFamily="2" charset="-122"/>
            </a:endParaRPr>
          </a:p>
        </p:txBody>
      </p:sp>
      <p:grpSp>
        <p:nvGrpSpPr>
          <p:cNvPr id="19556" name="Group 100"/>
          <p:cNvGrpSpPr/>
          <p:nvPr/>
        </p:nvGrpSpPr>
        <p:grpSpPr bwMode="auto">
          <a:xfrm>
            <a:off x="400050" y="2311400"/>
            <a:ext cx="3403600" cy="1373188"/>
            <a:chOff x="252" y="1456"/>
            <a:chExt cx="2144" cy="865"/>
          </a:xfrm>
        </p:grpSpPr>
        <p:sp>
          <p:nvSpPr>
            <p:cNvPr id="19462" name="Text Box 6"/>
            <p:cNvSpPr txBox="1">
              <a:spLocks noChangeArrowheads="1"/>
            </p:cNvSpPr>
            <p:nvPr/>
          </p:nvSpPr>
          <p:spPr bwMode="auto">
            <a:xfrm>
              <a:off x="575" y="1456"/>
              <a:ext cx="1821" cy="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2800" b="1">
                  <a:latin typeface="宋体" panose="02010600030101010101" pitchFamily="2" charset="-122"/>
                </a:rPr>
                <a:t>投射方向</a:t>
              </a:r>
              <a:r>
                <a:rPr lang="en-US" altLang="zh-CN" b="1">
                  <a:latin typeface="宋体" panose="02010600030101010101" pitchFamily="2" charset="-122"/>
                </a:rPr>
                <a:t>:</a:t>
              </a:r>
              <a:endParaRPr lang="en-US" altLang="zh-CN" b="1">
                <a:latin typeface="宋体" panose="02010600030101010101" pitchFamily="2" charset="-122"/>
              </a:endParaRPr>
            </a:p>
            <a:p>
              <a:pPr eaLnBrk="0" hangingPunct="0"/>
              <a:r>
                <a:rPr lang="zh-CN" altLang="en-US" sz="2800" b="1">
                  <a:solidFill>
                    <a:srgbClr val="FF3300"/>
                  </a:solidFill>
                  <a:latin typeface="宋体" panose="02010600030101010101" pitchFamily="2" charset="-122"/>
                </a:rPr>
                <a:t>垂直于轴线方向</a:t>
              </a:r>
              <a:r>
                <a:rPr lang="en-US" altLang="zh-CN" sz="2800" b="1">
                  <a:solidFill>
                    <a:srgbClr val="FF3300"/>
                  </a:solidFill>
                  <a:latin typeface="宋体" panose="02010600030101010101" pitchFamily="2" charset="-122"/>
                </a:rPr>
                <a:t>,</a:t>
              </a:r>
              <a:r>
                <a:rPr lang="zh-CN" altLang="en-US" sz="2800" b="1">
                  <a:solidFill>
                    <a:srgbClr val="FF3300"/>
                  </a:solidFill>
                  <a:latin typeface="宋体" panose="02010600030101010101" pitchFamily="2" charset="-122"/>
                </a:rPr>
                <a:t>如图所示。</a:t>
              </a:r>
              <a:endParaRPr lang="zh-CN" altLang="en-US" b="1">
                <a:latin typeface="宋体" panose="02010600030101010101" pitchFamily="2" charset="-122"/>
              </a:endParaRPr>
            </a:p>
          </p:txBody>
        </p:sp>
        <p:sp>
          <p:nvSpPr>
            <p:cNvPr id="19463" name="AutoShape 7"/>
            <p:cNvSpPr>
              <a:spLocks noChangeArrowheads="1"/>
            </p:cNvSpPr>
            <p:nvPr/>
          </p:nvSpPr>
          <p:spPr bwMode="auto">
            <a:xfrm>
              <a:off x="252" y="1481"/>
              <a:ext cx="288" cy="288"/>
            </a:xfrm>
            <a:prstGeom prst="star4">
              <a:avLst>
                <a:gd name="adj" fmla="val 9806"/>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9464" name="Group 8"/>
          <p:cNvGrpSpPr/>
          <p:nvPr/>
        </p:nvGrpSpPr>
        <p:grpSpPr bwMode="auto">
          <a:xfrm>
            <a:off x="381000" y="796925"/>
            <a:ext cx="2476500" cy="520700"/>
            <a:chOff x="240" y="1802"/>
            <a:chExt cx="1560" cy="328"/>
          </a:xfrm>
        </p:grpSpPr>
        <p:sp>
          <p:nvSpPr>
            <p:cNvPr id="19465" name="Text Box 9"/>
            <p:cNvSpPr txBox="1">
              <a:spLocks noChangeArrowheads="1"/>
            </p:cNvSpPr>
            <p:nvPr/>
          </p:nvSpPr>
          <p:spPr bwMode="auto">
            <a:xfrm>
              <a:off x="554" y="1802"/>
              <a:ext cx="124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2800" b="1">
                  <a:latin typeface="宋体" panose="02010600030101010101" pitchFamily="2" charset="-122"/>
                </a:rPr>
                <a:t>安放状态：</a:t>
              </a:r>
              <a:endParaRPr lang="zh-CN" altLang="en-US" sz="2800" b="1">
                <a:latin typeface="宋体" panose="02010600030101010101" pitchFamily="2" charset="-122"/>
              </a:endParaRPr>
            </a:p>
          </p:txBody>
        </p:sp>
        <p:sp>
          <p:nvSpPr>
            <p:cNvPr id="19466" name="AutoShape 10"/>
            <p:cNvSpPr>
              <a:spLocks noChangeArrowheads="1"/>
            </p:cNvSpPr>
            <p:nvPr/>
          </p:nvSpPr>
          <p:spPr bwMode="auto">
            <a:xfrm>
              <a:off x="240" y="1842"/>
              <a:ext cx="288" cy="288"/>
            </a:xfrm>
            <a:prstGeom prst="star4">
              <a:avLst>
                <a:gd name="adj" fmla="val 9806"/>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9467" name="Group 11"/>
          <p:cNvGrpSpPr/>
          <p:nvPr/>
        </p:nvGrpSpPr>
        <p:grpSpPr bwMode="auto">
          <a:xfrm>
            <a:off x="4730750" y="4514850"/>
            <a:ext cx="1047750" cy="990600"/>
            <a:chOff x="2844" y="2844"/>
            <a:chExt cx="660" cy="624"/>
          </a:xfrm>
        </p:grpSpPr>
        <p:sp>
          <p:nvSpPr>
            <p:cNvPr id="19468" name="Line 12"/>
            <p:cNvSpPr>
              <a:spLocks noChangeShapeType="1"/>
            </p:cNvSpPr>
            <p:nvPr/>
          </p:nvSpPr>
          <p:spPr bwMode="auto">
            <a:xfrm>
              <a:off x="2844" y="3144"/>
              <a:ext cx="660"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69" name="Line 13"/>
            <p:cNvSpPr>
              <a:spLocks noChangeShapeType="1"/>
            </p:cNvSpPr>
            <p:nvPr/>
          </p:nvSpPr>
          <p:spPr bwMode="auto">
            <a:xfrm>
              <a:off x="3192" y="2844"/>
              <a:ext cx="0" cy="624"/>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0" name="Oval 14"/>
            <p:cNvSpPr>
              <a:spLocks noChangeArrowheads="1"/>
            </p:cNvSpPr>
            <p:nvPr/>
          </p:nvSpPr>
          <p:spPr bwMode="auto">
            <a:xfrm>
              <a:off x="2952" y="2904"/>
              <a:ext cx="480" cy="47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1" name="Freeform 15"/>
            <p:cNvSpPr/>
            <p:nvPr/>
          </p:nvSpPr>
          <p:spPr bwMode="auto">
            <a:xfrm>
              <a:off x="3346" y="3065"/>
              <a:ext cx="1" cy="173"/>
            </a:xfrm>
            <a:custGeom>
              <a:avLst/>
              <a:gdLst>
                <a:gd name="T0" fmla="*/ 0 w 1"/>
                <a:gd name="T1" fmla="*/ 173 h 173"/>
                <a:gd name="T2" fmla="*/ 0 w 1"/>
                <a:gd name="T3" fmla="*/ 0 h 173"/>
              </a:gdLst>
              <a:ahLst/>
              <a:cxnLst>
                <a:cxn ang="0">
                  <a:pos x="T0" y="T1"/>
                </a:cxn>
                <a:cxn ang="0">
                  <a:pos x="T2" y="T3"/>
                </a:cxn>
              </a:cxnLst>
              <a:rect l="0" t="0" r="r" b="b"/>
              <a:pathLst>
                <a:path w="1" h="173">
                  <a:moveTo>
                    <a:pt x="0" y="173"/>
                  </a:moveTo>
                  <a:lnTo>
                    <a:pt x="0"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2" name="Line 16"/>
            <p:cNvSpPr>
              <a:spLocks noChangeShapeType="1"/>
            </p:cNvSpPr>
            <p:nvPr/>
          </p:nvSpPr>
          <p:spPr bwMode="auto">
            <a:xfrm>
              <a:off x="3348" y="3228"/>
              <a:ext cx="7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3" name="Rectangle 17"/>
            <p:cNvSpPr>
              <a:spLocks noChangeArrowheads="1"/>
            </p:cNvSpPr>
            <p:nvPr/>
          </p:nvSpPr>
          <p:spPr bwMode="auto">
            <a:xfrm>
              <a:off x="3408" y="3066"/>
              <a:ext cx="78" cy="154"/>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4" name="Line 18"/>
            <p:cNvSpPr>
              <a:spLocks noChangeShapeType="1"/>
            </p:cNvSpPr>
            <p:nvPr/>
          </p:nvSpPr>
          <p:spPr bwMode="auto">
            <a:xfrm flipV="1">
              <a:off x="2952" y="2904"/>
              <a:ext cx="228" cy="2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5" name="Line 19"/>
            <p:cNvSpPr>
              <a:spLocks noChangeShapeType="1"/>
            </p:cNvSpPr>
            <p:nvPr/>
          </p:nvSpPr>
          <p:spPr bwMode="auto">
            <a:xfrm flipV="1">
              <a:off x="2976" y="2928"/>
              <a:ext cx="324" cy="32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6" name="Line 20"/>
            <p:cNvSpPr>
              <a:spLocks noChangeShapeType="1"/>
            </p:cNvSpPr>
            <p:nvPr/>
          </p:nvSpPr>
          <p:spPr bwMode="auto">
            <a:xfrm flipV="1">
              <a:off x="3048" y="3000"/>
              <a:ext cx="336"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7" name="Line 21"/>
            <p:cNvSpPr>
              <a:spLocks noChangeShapeType="1"/>
            </p:cNvSpPr>
            <p:nvPr/>
          </p:nvSpPr>
          <p:spPr bwMode="auto">
            <a:xfrm flipV="1">
              <a:off x="3168" y="3192"/>
              <a:ext cx="180" cy="1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78" name="Freeform 22"/>
            <p:cNvSpPr/>
            <p:nvPr/>
          </p:nvSpPr>
          <p:spPr bwMode="auto">
            <a:xfrm>
              <a:off x="3348" y="3060"/>
              <a:ext cx="84" cy="5"/>
            </a:xfrm>
            <a:custGeom>
              <a:avLst/>
              <a:gdLst>
                <a:gd name="T0" fmla="*/ 0 w 84"/>
                <a:gd name="T1" fmla="*/ 0 h 5"/>
                <a:gd name="T2" fmla="*/ 84 w 84"/>
                <a:gd name="T3" fmla="*/ 5 h 5"/>
              </a:gdLst>
              <a:ahLst/>
              <a:cxnLst>
                <a:cxn ang="0">
                  <a:pos x="T0" y="T1"/>
                </a:cxn>
                <a:cxn ang="0">
                  <a:pos x="T2" y="T3"/>
                </a:cxn>
              </a:cxnLst>
              <a:rect l="0" t="0" r="r" b="b"/>
              <a:pathLst>
                <a:path w="84" h="5">
                  <a:moveTo>
                    <a:pt x="0" y="0"/>
                  </a:moveTo>
                  <a:lnTo>
                    <a:pt x="84" y="5"/>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19479" name="Text Box 23"/>
          <p:cNvSpPr txBox="1">
            <a:spLocks noChangeArrowheads="1"/>
          </p:cNvSpPr>
          <p:nvPr/>
        </p:nvSpPr>
        <p:spPr bwMode="auto">
          <a:xfrm>
            <a:off x="909638" y="1246188"/>
            <a:ext cx="28987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solidFill>
                  <a:srgbClr val="FF3300"/>
                </a:solidFill>
                <a:latin typeface="宋体" panose="02010600030101010101" pitchFamily="2" charset="-122"/>
              </a:rPr>
              <a:t>加工状态，轴线</a:t>
            </a:r>
            <a:endParaRPr lang="zh-CN" altLang="en-US" sz="2800" b="1">
              <a:solidFill>
                <a:srgbClr val="FF3300"/>
              </a:solidFill>
              <a:latin typeface="宋体" panose="02010600030101010101" pitchFamily="2" charset="-122"/>
            </a:endParaRPr>
          </a:p>
          <a:p>
            <a:pPr eaLnBrk="0" hangingPunct="0"/>
            <a:r>
              <a:rPr lang="zh-CN" altLang="en-US" sz="2800" b="1">
                <a:solidFill>
                  <a:srgbClr val="FF3300"/>
                </a:solidFill>
                <a:latin typeface="宋体" panose="02010600030101010101" pitchFamily="2" charset="-122"/>
              </a:rPr>
              <a:t>水平放置。</a:t>
            </a:r>
            <a:endParaRPr lang="zh-CN" altLang="en-US" sz="2800" b="1">
              <a:solidFill>
                <a:srgbClr val="FF3300"/>
              </a:solidFill>
              <a:latin typeface="宋体" panose="02010600030101010101" pitchFamily="2" charset="-122"/>
            </a:endParaRPr>
          </a:p>
        </p:txBody>
      </p:sp>
      <p:grpSp>
        <p:nvGrpSpPr>
          <p:cNvPr id="19480" name="Group 24"/>
          <p:cNvGrpSpPr/>
          <p:nvPr/>
        </p:nvGrpSpPr>
        <p:grpSpPr bwMode="auto">
          <a:xfrm>
            <a:off x="5283200" y="3078163"/>
            <a:ext cx="319088" cy="1169987"/>
            <a:chOff x="3192" y="1939"/>
            <a:chExt cx="201" cy="737"/>
          </a:xfrm>
        </p:grpSpPr>
        <p:sp>
          <p:nvSpPr>
            <p:cNvPr id="19481" name="Line 25"/>
            <p:cNvSpPr>
              <a:spLocks noChangeShapeType="1"/>
            </p:cNvSpPr>
            <p:nvPr/>
          </p:nvSpPr>
          <p:spPr bwMode="auto">
            <a:xfrm>
              <a:off x="3192" y="2608"/>
              <a:ext cx="0" cy="6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82" name="Line 26"/>
            <p:cNvSpPr>
              <a:spLocks noChangeShapeType="1"/>
            </p:cNvSpPr>
            <p:nvPr/>
          </p:nvSpPr>
          <p:spPr bwMode="auto">
            <a:xfrm flipV="1">
              <a:off x="3192" y="1939"/>
              <a:ext cx="0" cy="7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83" name="Line 27"/>
            <p:cNvSpPr>
              <a:spLocks noChangeShapeType="1"/>
            </p:cNvSpPr>
            <p:nvPr/>
          </p:nvSpPr>
          <p:spPr bwMode="auto">
            <a:xfrm>
              <a:off x="3199" y="1945"/>
              <a:ext cx="194" cy="0"/>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84" name="Line 28"/>
            <p:cNvSpPr>
              <a:spLocks noChangeShapeType="1"/>
            </p:cNvSpPr>
            <p:nvPr/>
          </p:nvSpPr>
          <p:spPr bwMode="auto">
            <a:xfrm>
              <a:off x="3199" y="2672"/>
              <a:ext cx="193" cy="0"/>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9486" name="Group 30"/>
          <p:cNvGrpSpPr/>
          <p:nvPr/>
        </p:nvGrpSpPr>
        <p:grpSpPr bwMode="auto">
          <a:xfrm>
            <a:off x="4570413" y="2054225"/>
            <a:ext cx="663575" cy="519113"/>
            <a:chOff x="2822" y="1302"/>
            <a:chExt cx="418" cy="327"/>
          </a:xfrm>
        </p:grpSpPr>
        <p:sp>
          <p:nvSpPr>
            <p:cNvPr id="19487" name="Line 31"/>
            <p:cNvSpPr>
              <a:spLocks noChangeShapeType="1"/>
            </p:cNvSpPr>
            <p:nvPr/>
          </p:nvSpPr>
          <p:spPr bwMode="auto">
            <a:xfrm flipV="1">
              <a:off x="3096" y="1356"/>
              <a:ext cx="144" cy="228"/>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8" name="Text Box 32"/>
            <p:cNvSpPr txBox="1">
              <a:spLocks noChangeArrowheads="1"/>
            </p:cNvSpPr>
            <p:nvPr/>
          </p:nvSpPr>
          <p:spPr bwMode="auto">
            <a:xfrm>
              <a:off x="2822" y="1302"/>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rPr>
                <a:t>A</a:t>
              </a:r>
              <a:endParaRPr lang="en-US" altLang="zh-CN" i="1"/>
            </a:p>
          </p:txBody>
        </p:sp>
      </p:grpSp>
      <p:grpSp>
        <p:nvGrpSpPr>
          <p:cNvPr id="19526" name="Group 70"/>
          <p:cNvGrpSpPr/>
          <p:nvPr/>
        </p:nvGrpSpPr>
        <p:grpSpPr bwMode="auto">
          <a:xfrm>
            <a:off x="7704138" y="4605338"/>
            <a:ext cx="777875" cy="733425"/>
            <a:chOff x="2844" y="2844"/>
            <a:chExt cx="660" cy="624"/>
          </a:xfrm>
        </p:grpSpPr>
        <p:sp>
          <p:nvSpPr>
            <p:cNvPr id="19527" name="Line 71"/>
            <p:cNvSpPr>
              <a:spLocks noChangeShapeType="1"/>
            </p:cNvSpPr>
            <p:nvPr/>
          </p:nvSpPr>
          <p:spPr bwMode="auto">
            <a:xfrm>
              <a:off x="2844" y="3144"/>
              <a:ext cx="660"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28" name="Line 72"/>
            <p:cNvSpPr>
              <a:spLocks noChangeShapeType="1"/>
            </p:cNvSpPr>
            <p:nvPr/>
          </p:nvSpPr>
          <p:spPr bwMode="auto">
            <a:xfrm>
              <a:off x="3192" y="2844"/>
              <a:ext cx="0" cy="624"/>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29" name="Oval 73"/>
            <p:cNvSpPr>
              <a:spLocks noChangeArrowheads="1"/>
            </p:cNvSpPr>
            <p:nvPr/>
          </p:nvSpPr>
          <p:spPr bwMode="auto">
            <a:xfrm>
              <a:off x="2952" y="2904"/>
              <a:ext cx="480" cy="47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30" name="Freeform 74"/>
            <p:cNvSpPr/>
            <p:nvPr/>
          </p:nvSpPr>
          <p:spPr bwMode="auto">
            <a:xfrm>
              <a:off x="3346" y="3065"/>
              <a:ext cx="1" cy="173"/>
            </a:xfrm>
            <a:custGeom>
              <a:avLst/>
              <a:gdLst>
                <a:gd name="T0" fmla="*/ 0 w 1"/>
                <a:gd name="T1" fmla="*/ 173 h 173"/>
                <a:gd name="T2" fmla="*/ 0 w 1"/>
                <a:gd name="T3" fmla="*/ 0 h 173"/>
              </a:gdLst>
              <a:ahLst/>
              <a:cxnLst>
                <a:cxn ang="0">
                  <a:pos x="T0" y="T1"/>
                </a:cxn>
                <a:cxn ang="0">
                  <a:pos x="T2" y="T3"/>
                </a:cxn>
              </a:cxnLst>
              <a:rect l="0" t="0" r="r" b="b"/>
              <a:pathLst>
                <a:path w="1" h="173">
                  <a:moveTo>
                    <a:pt x="0" y="173"/>
                  </a:moveTo>
                  <a:lnTo>
                    <a:pt x="0"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31" name="Line 75"/>
            <p:cNvSpPr>
              <a:spLocks noChangeShapeType="1"/>
            </p:cNvSpPr>
            <p:nvPr/>
          </p:nvSpPr>
          <p:spPr bwMode="auto">
            <a:xfrm>
              <a:off x="3348" y="3228"/>
              <a:ext cx="7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32" name="Rectangle 76"/>
            <p:cNvSpPr>
              <a:spLocks noChangeArrowheads="1"/>
            </p:cNvSpPr>
            <p:nvPr/>
          </p:nvSpPr>
          <p:spPr bwMode="auto">
            <a:xfrm>
              <a:off x="3408" y="3066"/>
              <a:ext cx="78" cy="154"/>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33" name="Line 77"/>
            <p:cNvSpPr>
              <a:spLocks noChangeShapeType="1"/>
            </p:cNvSpPr>
            <p:nvPr/>
          </p:nvSpPr>
          <p:spPr bwMode="auto">
            <a:xfrm flipV="1">
              <a:off x="2952" y="2904"/>
              <a:ext cx="228" cy="2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34" name="Line 78"/>
            <p:cNvSpPr>
              <a:spLocks noChangeShapeType="1"/>
            </p:cNvSpPr>
            <p:nvPr/>
          </p:nvSpPr>
          <p:spPr bwMode="auto">
            <a:xfrm flipV="1">
              <a:off x="2976" y="2928"/>
              <a:ext cx="324" cy="32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35" name="Line 79"/>
            <p:cNvSpPr>
              <a:spLocks noChangeShapeType="1"/>
            </p:cNvSpPr>
            <p:nvPr/>
          </p:nvSpPr>
          <p:spPr bwMode="auto">
            <a:xfrm flipV="1">
              <a:off x="3048" y="3000"/>
              <a:ext cx="336" cy="3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36" name="Line 80"/>
            <p:cNvSpPr>
              <a:spLocks noChangeShapeType="1"/>
            </p:cNvSpPr>
            <p:nvPr/>
          </p:nvSpPr>
          <p:spPr bwMode="auto">
            <a:xfrm flipV="1">
              <a:off x="3168" y="3192"/>
              <a:ext cx="180" cy="1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37" name="Freeform 81"/>
            <p:cNvSpPr/>
            <p:nvPr/>
          </p:nvSpPr>
          <p:spPr bwMode="auto">
            <a:xfrm>
              <a:off x="3348" y="3060"/>
              <a:ext cx="84" cy="5"/>
            </a:xfrm>
            <a:custGeom>
              <a:avLst/>
              <a:gdLst>
                <a:gd name="T0" fmla="*/ 0 w 84"/>
                <a:gd name="T1" fmla="*/ 0 h 5"/>
                <a:gd name="T2" fmla="*/ 84 w 84"/>
                <a:gd name="T3" fmla="*/ 5 h 5"/>
              </a:gdLst>
              <a:ahLst/>
              <a:cxnLst>
                <a:cxn ang="0">
                  <a:pos x="T0" y="T1"/>
                </a:cxn>
                <a:cxn ang="0">
                  <a:pos x="T2" y="T3"/>
                </a:cxn>
              </a:cxnLst>
              <a:rect l="0" t="0" r="r" b="b"/>
              <a:pathLst>
                <a:path w="84" h="5">
                  <a:moveTo>
                    <a:pt x="0" y="0"/>
                  </a:moveTo>
                  <a:lnTo>
                    <a:pt x="84" y="5"/>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19538" name="Group 82"/>
          <p:cNvGrpSpPr/>
          <p:nvPr/>
        </p:nvGrpSpPr>
        <p:grpSpPr bwMode="auto">
          <a:xfrm>
            <a:off x="8102600" y="3211513"/>
            <a:ext cx="319088" cy="903287"/>
            <a:chOff x="5104" y="2023"/>
            <a:chExt cx="201" cy="569"/>
          </a:xfrm>
        </p:grpSpPr>
        <p:sp>
          <p:nvSpPr>
            <p:cNvPr id="19539" name="Line 83"/>
            <p:cNvSpPr>
              <a:spLocks noChangeShapeType="1"/>
            </p:cNvSpPr>
            <p:nvPr/>
          </p:nvSpPr>
          <p:spPr bwMode="auto">
            <a:xfrm>
              <a:off x="5104" y="2524"/>
              <a:ext cx="0" cy="6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40" name="Line 84"/>
            <p:cNvSpPr>
              <a:spLocks noChangeShapeType="1"/>
            </p:cNvSpPr>
            <p:nvPr/>
          </p:nvSpPr>
          <p:spPr bwMode="auto">
            <a:xfrm flipV="1">
              <a:off x="5104" y="2023"/>
              <a:ext cx="0" cy="7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41" name="Line 85"/>
            <p:cNvSpPr>
              <a:spLocks noChangeShapeType="1"/>
            </p:cNvSpPr>
            <p:nvPr/>
          </p:nvSpPr>
          <p:spPr bwMode="auto">
            <a:xfrm>
              <a:off x="5111" y="2029"/>
              <a:ext cx="194" cy="0"/>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42" name="Line 86"/>
            <p:cNvSpPr>
              <a:spLocks noChangeShapeType="1"/>
            </p:cNvSpPr>
            <p:nvPr/>
          </p:nvSpPr>
          <p:spPr bwMode="auto">
            <a:xfrm>
              <a:off x="5111" y="2588"/>
              <a:ext cx="193" cy="0"/>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19548" name="Picture 92"/>
          <p:cNvPicPr>
            <a:picLocks noChangeAspect="1" noChangeArrowheads="1"/>
          </p:cNvPicPr>
          <p:nvPr/>
        </p:nvPicPr>
        <p:blipFill>
          <a:blip r:embed="rId1">
            <a:extLst>
              <a:ext uri="{28A0092B-C50C-407E-A947-70E740481C1C}">
                <a14:useLocalDpi xmlns:a14="http://schemas.microsoft.com/office/drawing/2010/main" val="0"/>
              </a:ext>
            </a:extLst>
          </a:blip>
          <a:srcRect l="14159" t="30370" r="16324" b="16937"/>
          <a:stretch>
            <a:fillRect/>
          </a:stretch>
        </p:blipFill>
        <p:spPr bwMode="auto">
          <a:xfrm>
            <a:off x="4168775" y="600075"/>
            <a:ext cx="4533900" cy="1958975"/>
          </a:xfrm>
          <a:prstGeom prst="rect">
            <a:avLst/>
          </a:prstGeom>
          <a:noFill/>
          <a:extLst>
            <a:ext uri="{909E8E84-426E-40DD-AFC4-6F175D3DCCD1}">
              <a14:hiddenFill xmlns:a14="http://schemas.microsoft.com/office/drawing/2010/main">
                <a:solidFill>
                  <a:srgbClr val="FFFFFF"/>
                </a:solidFill>
              </a14:hiddenFill>
            </a:ext>
          </a:extLst>
        </p:spPr>
      </p:pic>
      <p:grpSp>
        <p:nvGrpSpPr>
          <p:cNvPr id="19563" name="Group 107"/>
          <p:cNvGrpSpPr/>
          <p:nvPr/>
        </p:nvGrpSpPr>
        <p:grpSpPr bwMode="auto">
          <a:xfrm>
            <a:off x="3602038" y="3189288"/>
            <a:ext cx="5211762" cy="957262"/>
            <a:chOff x="2269" y="2009"/>
            <a:chExt cx="3283" cy="603"/>
          </a:xfrm>
        </p:grpSpPr>
        <p:sp>
          <p:nvSpPr>
            <p:cNvPr id="19549" name="Line 93"/>
            <p:cNvSpPr>
              <a:spLocks noChangeShapeType="1"/>
            </p:cNvSpPr>
            <p:nvPr/>
          </p:nvSpPr>
          <p:spPr bwMode="auto">
            <a:xfrm>
              <a:off x="2399" y="2545"/>
              <a:ext cx="30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50" name="Line 94"/>
            <p:cNvSpPr>
              <a:spLocks noChangeShapeType="1"/>
            </p:cNvSpPr>
            <p:nvPr/>
          </p:nvSpPr>
          <p:spPr bwMode="auto">
            <a:xfrm>
              <a:off x="2406" y="2081"/>
              <a:ext cx="29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51" name="Freeform 95"/>
            <p:cNvSpPr/>
            <p:nvPr/>
          </p:nvSpPr>
          <p:spPr bwMode="auto">
            <a:xfrm>
              <a:off x="2688" y="2082"/>
              <a:ext cx="1" cy="456"/>
            </a:xfrm>
            <a:custGeom>
              <a:avLst/>
              <a:gdLst>
                <a:gd name="T0" fmla="*/ 0 w 1"/>
                <a:gd name="T1" fmla="*/ 0 h 456"/>
                <a:gd name="T2" fmla="*/ 0 w 1"/>
                <a:gd name="T3" fmla="*/ 456 h 456"/>
              </a:gdLst>
              <a:ahLst/>
              <a:cxnLst>
                <a:cxn ang="0">
                  <a:pos x="T0" y="T1"/>
                </a:cxn>
                <a:cxn ang="0">
                  <a:pos x="T2" y="T3"/>
                </a:cxn>
              </a:cxnLst>
              <a:rect l="0" t="0" r="r" b="b"/>
              <a:pathLst>
                <a:path w="1" h="456">
                  <a:moveTo>
                    <a:pt x="0" y="0"/>
                  </a:moveTo>
                  <a:lnTo>
                    <a:pt x="0" y="456"/>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552" name="Line 96"/>
            <p:cNvSpPr>
              <a:spLocks noChangeShapeType="1"/>
            </p:cNvSpPr>
            <p:nvPr/>
          </p:nvSpPr>
          <p:spPr bwMode="auto">
            <a:xfrm>
              <a:off x="2336" y="2480"/>
              <a:ext cx="68" cy="6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53" name="Line 97"/>
            <p:cNvSpPr>
              <a:spLocks noChangeShapeType="1"/>
            </p:cNvSpPr>
            <p:nvPr/>
          </p:nvSpPr>
          <p:spPr bwMode="auto">
            <a:xfrm flipV="1">
              <a:off x="2340" y="2076"/>
              <a:ext cx="68" cy="6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562" name="Group 106"/>
            <p:cNvGrpSpPr/>
            <p:nvPr/>
          </p:nvGrpSpPr>
          <p:grpSpPr bwMode="auto">
            <a:xfrm>
              <a:off x="2269" y="2009"/>
              <a:ext cx="3283" cy="603"/>
              <a:chOff x="2269" y="2009"/>
              <a:chExt cx="3283" cy="603"/>
            </a:xfrm>
          </p:grpSpPr>
          <p:sp>
            <p:nvSpPr>
              <p:cNvPr id="19491" name="Rectangle 35"/>
              <p:cNvSpPr>
                <a:spLocks noChangeArrowheads="1"/>
              </p:cNvSpPr>
              <p:nvPr/>
            </p:nvSpPr>
            <p:spPr bwMode="auto">
              <a:xfrm>
                <a:off x="2758" y="2009"/>
                <a:ext cx="176" cy="603"/>
              </a:xfrm>
              <a:prstGeom prst="rect">
                <a:avLst/>
              </a:prstGeom>
              <a:noFill/>
              <a:ln w="38100">
                <a:solidFill>
                  <a:schemeClr val="tx1"/>
                </a:solidFill>
                <a:miter lim="800000"/>
              </a:ln>
              <a:extLst>
                <a:ext uri="{909E8E84-426E-40DD-AFC4-6F175D3DCCD1}">
                  <a14:hiddenFill xmlns:a14="http://schemas.microsoft.com/office/drawing/2010/main">
                    <a:gradFill rotWithShape="0">
                      <a:gsLst>
                        <a:gs pos="0">
                          <a:schemeClr val="folHlink">
                            <a:gamma/>
                            <a:shade val="46275"/>
                            <a:invGamma/>
                          </a:schemeClr>
                        </a:gs>
                        <a:gs pos="50000">
                          <a:schemeClr val="folHlink"/>
                        </a:gs>
                        <a:gs pos="100000">
                          <a:schemeClr val="folHlink">
                            <a:gamma/>
                            <a:shade val="46275"/>
                            <a:invGamma/>
                          </a:schemeClr>
                        </a:gs>
                      </a:gsLst>
                      <a:lin ang="5400000" scaled="1"/>
                    </a:gradFill>
                  </a14:hiddenFill>
                </a:ext>
              </a:extLst>
            </p:spPr>
            <p:txBody>
              <a:bodyPr wrap="none" anchor="ctr"/>
              <a:lstStyle/>
              <a:p>
                <a:endParaRPr lang="zh-CN" altLang="en-US"/>
              </a:p>
            </p:txBody>
          </p:sp>
          <p:sp>
            <p:nvSpPr>
              <p:cNvPr id="19493" name="Freeform 37"/>
              <p:cNvSpPr/>
              <p:nvPr/>
            </p:nvSpPr>
            <p:spPr bwMode="auto">
              <a:xfrm>
                <a:off x="2402" y="2081"/>
                <a:ext cx="2" cy="455"/>
              </a:xfrm>
              <a:custGeom>
                <a:avLst/>
                <a:gdLst>
                  <a:gd name="T0" fmla="*/ 0 w 2"/>
                  <a:gd name="T1" fmla="*/ 0 h 455"/>
                  <a:gd name="T2" fmla="*/ 2 w 2"/>
                  <a:gd name="T3" fmla="*/ 455 h 455"/>
                </a:gdLst>
                <a:ahLst/>
                <a:cxnLst>
                  <a:cxn ang="0">
                    <a:pos x="T0" y="T1"/>
                  </a:cxn>
                  <a:cxn ang="0">
                    <a:pos x="T2" y="T3"/>
                  </a:cxn>
                </a:cxnLst>
                <a:rect l="0" t="0" r="r" b="b"/>
                <a:pathLst>
                  <a:path w="2" h="455">
                    <a:moveTo>
                      <a:pt x="0" y="0"/>
                    </a:moveTo>
                    <a:lnTo>
                      <a:pt x="2" y="455"/>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495" name="Freeform 39"/>
              <p:cNvSpPr/>
              <p:nvPr/>
            </p:nvSpPr>
            <p:spPr bwMode="auto">
              <a:xfrm>
                <a:off x="2938" y="2052"/>
                <a:ext cx="746" cy="1"/>
              </a:xfrm>
              <a:custGeom>
                <a:avLst/>
                <a:gdLst>
                  <a:gd name="T0" fmla="*/ 0 w 746"/>
                  <a:gd name="T1" fmla="*/ 0 h 1"/>
                  <a:gd name="T2" fmla="*/ 746 w 746"/>
                  <a:gd name="T3" fmla="*/ 0 h 1"/>
                </a:gdLst>
                <a:ahLst/>
                <a:cxnLst>
                  <a:cxn ang="0">
                    <a:pos x="T0" y="T1"/>
                  </a:cxn>
                  <a:cxn ang="0">
                    <a:pos x="T2" y="T3"/>
                  </a:cxn>
                </a:cxnLst>
                <a:rect l="0" t="0" r="r" b="b"/>
                <a:pathLst>
                  <a:path w="746" h="1">
                    <a:moveTo>
                      <a:pt x="0" y="0"/>
                    </a:moveTo>
                    <a:lnTo>
                      <a:pt x="746" y="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496" name="Freeform 40"/>
              <p:cNvSpPr/>
              <p:nvPr/>
            </p:nvSpPr>
            <p:spPr bwMode="auto">
              <a:xfrm>
                <a:off x="3674" y="2042"/>
                <a:ext cx="1" cy="533"/>
              </a:xfrm>
              <a:custGeom>
                <a:avLst/>
                <a:gdLst>
                  <a:gd name="T0" fmla="*/ 0 w 1"/>
                  <a:gd name="T1" fmla="*/ 0 h 533"/>
                  <a:gd name="T2" fmla="*/ 0 w 1"/>
                  <a:gd name="T3" fmla="*/ 533 h 533"/>
                </a:gdLst>
                <a:ahLst/>
                <a:cxnLst>
                  <a:cxn ang="0">
                    <a:pos x="T0" y="T1"/>
                  </a:cxn>
                  <a:cxn ang="0">
                    <a:pos x="T2" y="T3"/>
                  </a:cxn>
                </a:cxnLst>
                <a:rect l="0" t="0" r="r" b="b"/>
                <a:pathLst>
                  <a:path w="1" h="533">
                    <a:moveTo>
                      <a:pt x="0" y="0"/>
                    </a:moveTo>
                    <a:lnTo>
                      <a:pt x="0" y="533"/>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497" name="Freeform 41"/>
              <p:cNvSpPr/>
              <p:nvPr/>
            </p:nvSpPr>
            <p:spPr bwMode="auto">
              <a:xfrm>
                <a:off x="2934" y="2568"/>
                <a:ext cx="750" cy="2"/>
              </a:xfrm>
              <a:custGeom>
                <a:avLst/>
                <a:gdLst>
                  <a:gd name="T0" fmla="*/ 0 w 750"/>
                  <a:gd name="T1" fmla="*/ 2 h 2"/>
                  <a:gd name="T2" fmla="*/ 750 w 750"/>
                  <a:gd name="T3" fmla="*/ 0 h 2"/>
                </a:gdLst>
                <a:ahLst/>
                <a:cxnLst>
                  <a:cxn ang="0">
                    <a:pos x="T0" y="T1"/>
                  </a:cxn>
                  <a:cxn ang="0">
                    <a:pos x="T2" y="T3"/>
                  </a:cxn>
                </a:cxnLst>
                <a:rect l="0" t="0" r="r" b="b"/>
                <a:pathLst>
                  <a:path w="750" h="2">
                    <a:moveTo>
                      <a:pt x="0" y="2"/>
                    </a:moveTo>
                    <a:lnTo>
                      <a:pt x="750" y="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498" name="Line 42"/>
              <p:cNvSpPr>
                <a:spLocks noChangeShapeType="1"/>
              </p:cNvSpPr>
              <p:nvPr/>
            </p:nvSpPr>
            <p:spPr bwMode="auto">
              <a:xfrm flipV="1">
                <a:off x="3682" y="2536"/>
                <a:ext cx="614" cy="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99" name="Line 43"/>
              <p:cNvSpPr>
                <a:spLocks noChangeShapeType="1"/>
              </p:cNvSpPr>
              <p:nvPr/>
            </p:nvSpPr>
            <p:spPr bwMode="auto">
              <a:xfrm>
                <a:off x="3670" y="2082"/>
                <a:ext cx="624" cy="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0" name="Freeform 44"/>
              <p:cNvSpPr/>
              <p:nvPr/>
            </p:nvSpPr>
            <p:spPr bwMode="auto">
              <a:xfrm>
                <a:off x="4288" y="2081"/>
                <a:ext cx="1" cy="465"/>
              </a:xfrm>
              <a:custGeom>
                <a:avLst/>
                <a:gdLst>
                  <a:gd name="T0" fmla="*/ 0 w 1"/>
                  <a:gd name="T1" fmla="*/ 0 h 465"/>
                  <a:gd name="T2" fmla="*/ 0 w 1"/>
                  <a:gd name="T3" fmla="*/ 465 h 465"/>
                </a:gdLst>
                <a:ahLst/>
                <a:cxnLst>
                  <a:cxn ang="0">
                    <a:pos x="T0" y="T1"/>
                  </a:cxn>
                  <a:cxn ang="0">
                    <a:pos x="T2" y="T3"/>
                  </a:cxn>
                </a:cxnLst>
                <a:rect l="0" t="0" r="r" b="b"/>
                <a:pathLst>
                  <a:path w="1" h="465">
                    <a:moveTo>
                      <a:pt x="0" y="0"/>
                    </a:moveTo>
                    <a:lnTo>
                      <a:pt x="0" y="465"/>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502" name="Line 46"/>
              <p:cNvSpPr>
                <a:spLocks noChangeShapeType="1"/>
              </p:cNvSpPr>
              <p:nvPr/>
            </p:nvSpPr>
            <p:spPr bwMode="auto">
              <a:xfrm>
                <a:off x="2692" y="2118"/>
                <a:ext cx="7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3" name="Line 47"/>
              <p:cNvSpPr>
                <a:spLocks noChangeShapeType="1"/>
              </p:cNvSpPr>
              <p:nvPr/>
            </p:nvSpPr>
            <p:spPr bwMode="auto">
              <a:xfrm>
                <a:off x="2692" y="2508"/>
                <a:ext cx="7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4" name="Line 48"/>
              <p:cNvSpPr>
                <a:spLocks noChangeShapeType="1"/>
              </p:cNvSpPr>
              <p:nvPr/>
            </p:nvSpPr>
            <p:spPr bwMode="auto">
              <a:xfrm>
                <a:off x="4288" y="2130"/>
                <a:ext cx="52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5" name="Line 49"/>
              <p:cNvSpPr>
                <a:spLocks noChangeShapeType="1"/>
              </p:cNvSpPr>
              <p:nvPr/>
            </p:nvSpPr>
            <p:spPr bwMode="auto">
              <a:xfrm>
                <a:off x="4288" y="2496"/>
                <a:ext cx="52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6" name="Freeform 50"/>
              <p:cNvSpPr/>
              <p:nvPr/>
            </p:nvSpPr>
            <p:spPr bwMode="auto">
              <a:xfrm>
                <a:off x="4802" y="2124"/>
                <a:ext cx="2" cy="380"/>
              </a:xfrm>
              <a:custGeom>
                <a:avLst/>
                <a:gdLst>
                  <a:gd name="T0" fmla="*/ 2 w 2"/>
                  <a:gd name="T1" fmla="*/ 0 h 380"/>
                  <a:gd name="T2" fmla="*/ 0 w 2"/>
                  <a:gd name="T3" fmla="*/ 380 h 380"/>
                </a:gdLst>
                <a:ahLst/>
                <a:cxnLst>
                  <a:cxn ang="0">
                    <a:pos x="T0" y="T1"/>
                  </a:cxn>
                  <a:cxn ang="0">
                    <a:pos x="T2" y="T3"/>
                  </a:cxn>
                </a:cxnLst>
                <a:rect l="0" t="0" r="r" b="b"/>
                <a:pathLst>
                  <a:path w="2" h="380">
                    <a:moveTo>
                      <a:pt x="2" y="0"/>
                    </a:moveTo>
                    <a:lnTo>
                      <a:pt x="0" y="38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507" name="Line 51"/>
              <p:cNvSpPr>
                <a:spLocks noChangeShapeType="1"/>
              </p:cNvSpPr>
              <p:nvPr/>
            </p:nvSpPr>
            <p:spPr bwMode="auto">
              <a:xfrm>
                <a:off x="4804" y="2166"/>
                <a:ext cx="64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8" name="Line 52"/>
              <p:cNvSpPr>
                <a:spLocks noChangeShapeType="1"/>
              </p:cNvSpPr>
              <p:nvPr/>
            </p:nvSpPr>
            <p:spPr bwMode="auto">
              <a:xfrm>
                <a:off x="5440" y="2164"/>
                <a:ext cx="0" cy="30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09" name="Line 53"/>
              <p:cNvSpPr>
                <a:spLocks noChangeShapeType="1"/>
              </p:cNvSpPr>
              <p:nvPr/>
            </p:nvSpPr>
            <p:spPr bwMode="auto">
              <a:xfrm>
                <a:off x="4804" y="2460"/>
                <a:ext cx="63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12" name="Line 56"/>
              <p:cNvSpPr>
                <a:spLocks noChangeShapeType="1"/>
              </p:cNvSpPr>
              <p:nvPr/>
            </p:nvSpPr>
            <p:spPr bwMode="auto">
              <a:xfrm>
                <a:off x="2344" y="2136"/>
                <a:ext cx="0" cy="34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15" name="Line 59"/>
              <p:cNvSpPr>
                <a:spLocks noChangeShapeType="1"/>
              </p:cNvSpPr>
              <p:nvPr/>
            </p:nvSpPr>
            <p:spPr bwMode="auto">
              <a:xfrm>
                <a:off x="5488" y="2205"/>
                <a:ext cx="0" cy="2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16" name="Line 60"/>
              <p:cNvSpPr>
                <a:spLocks noChangeShapeType="1"/>
              </p:cNvSpPr>
              <p:nvPr/>
            </p:nvSpPr>
            <p:spPr bwMode="auto">
              <a:xfrm>
                <a:off x="5441" y="2160"/>
                <a:ext cx="50" cy="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17" name="Line 61"/>
              <p:cNvSpPr>
                <a:spLocks noChangeShapeType="1"/>
              </p:cNvSpPr>
              <p:nvPr/>
            </p:nvSpPr>
            <p:spPr bwMode="auto">
              <a:xfrm flipH="1">
                <a:off x="5440" y="2406"/>
                <a:ext cx="54" cy="5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20" name="Oval 64"/>
              <p:cNvSpPr>
                <a:spLocks noChangeArrowheads="1"/>
              </p:cNvSpPr>
              <p:nvPr/>
            </p:nvSpPr>
            <p:spPr bwMode="auto">
              <a:xfrm>
                <a:off x="4873" y="2244"/>
                <a:ext cx="134" cy="134"/>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1" name="Oval 65"/>
              <p:cNvSpPr>
                <a:spLocks noChangeArrowheads="1"/>
              </p:cNvSpPr>
              <p:nvPr/>
            </p:nvSpPr>
            <p:spPr bwMode="auto">
              <a:xfrm>
                <a:off x="5224" y="2244"/>
                <a:ext cx="134" cy="134"/>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2" name="Rectangle 66"/>
              <p:cNvSpPr>
                <a:spLocks noChangeArrowheads="1"/>
              </p:cNvSpPr>
              <p:nvPr/>
            </p:nvSpPr>
            <p:spPr bwMode="auto">
              <a:xfrm>
                <a:off x="4934" y="2244"/>
                <a:ext cx="370" cy="134"/>
              </a:xfrm>
              <a:prstGeom prst="rect">
                <a:avLst/>
              </a:prstGeom>
              <a:solidFill>
                <a:schemeClr val="bg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3" name="Line 67"/>
              <p:cNvSpPr>
                <a:spLocks noChangeShapeType="1"/>
              </p:cNvSpPr>
              <p:nvPr/>
            </p:nvSpPr>
            <p:spPr bwMode="auto">
              <a:xfrm flipV="1">
                <a:off x="4930" y="2260"/>
                <a:ext cx="0" cy="104"/>
              </a:xfrm>
              <a:prstGeom prst="line">
                <a:avLst/>
              </a:prstGeom>
              <a:noFill/>
              <a:ln w="571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4" name="Line 68"/>
              <p:cNvSpPr>
                <a:spLocks noChangeShapeType="1"/>
              </p:cNvSpPr>
              <p:nvPr/>
            </p:nvSpPr>
            <p:spPr bwMode="auto">
              <a:xfrm flipV="1">
                <a:off x="5302" y="2260"/>
                <a:ext cx="0" cy="104"/>
              </a:xfrm>
              <a:prstGeom prst="line">
                <a:avLst/>
              </a:prstGeom>
              <a:noFill/>
              <a:ln w="571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0" name="Oval 34"/>
              <p:cNvSpPr>
                <a:spLocks noChangeArrowheads="1"/>
              </p:cNvSpPr>
              <p:nvPr/>
            </p:nvSpPr>
            <p:spPr bwMode="auto">
              <a:xfrm>
                <a:off x="3016" y="2226"/>
                <a:ext cx="168" cy="168"/>
              </a:xfrm>
              <a:prstGeom prst="ellipse">
                <a:avLst/>
              </a:prstGeom>
              <a:solidFill>
                <a:schemeClr val="bg1"/>
              </a:solidFill>
              <a:ln w="38100">
                <a:solidFill>
                  <a:schemeClr val="tx1"/>
                </a:solidFill>
                <a:round/>
              </a:ln>
            </p:spPr>
            <p:txBody>
              <a:bodyPr wrap="none" anchor="ctr"/>
              <a:lstStyle/>
              <a:p>
                <a:endParaRPr lang="zh-CN" altLang="en-US"/>
              </a:p>
            </p:txBody>
          </p:sp>
          <p:sp>
            <p:nvSpPr>
              <p:cNvPr id="19510" name="Oval 54"/>
              <p:cNvSpPr>
                <a:spLocks noChangeArrowheads="1"/>
              </p:cNvSpPr>
              <p:nvPr/>
            </p:nvSpPr>
            <p:spPr bwMode="auto">
              <a:xfrm>
                <a:off x="3430" y="2226"/>
                <a:ext cx="168" cy="168"/>
              </a:xfrm>
              <a:prstGeom prst="ellipse">
                <a:avLst/>
              </a:prstGeom>
              <a:noFill/>
              <a:ln w="38100">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19511" name="Rectangle 55"/>
              <p:cNvSpPr>
                <a:spLocks noChangeArrowheads="1"/>
              </p:cNvSpPr>
              <p:nvPr/>
            </p:nvSpPr>
            <p:spPr bwMode="auto">
              <a:xfrm>
                <a:off x="3104" y="2222"/>
                <a:ext cx="408" cy="174"/>
              </a:xfrm>
              <a:prstGeom prst="rect">
                <a:avLst/>
              </a:prstGeom>
              <a:solidFill>
                <a:schemeClr val="bg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18" name="Line 62"/>
              <p:cNvSpPr>
                <a:spLocks noChangeShapeType="1"/>
              </p:cNvSpPr>
              <p:nvPr/>
            </p:nvSpPr>
            <p:spPr bwMode="auto">
              <a:xfrm flipH="1">
                <a:off x="3102" y="2238"/>
                <a:ext cx="0" cy="146"/>
              </a:xfrm>
              <a:prstGeom prst="line">
                <a:avLst/>
              </a:prstGeom>
              <a:noFill/>
              <a:ln w="5715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19" name="Line 63"/>
              <p:cNvSpPr>
                <a:spLocks noChangeShapeType="1"/>
              </p:cNvSpPr>
              <p:nvPr/>
            </p:nvSpPr>
            <p:spPr bwMode="auto">
              <a:xfrm flipH="1">
                <a:off x="3509" y="2238"/>
                <a:ext cx="0" cy="144"/>
              </a:xfrm>
              <a:prstGeom prst="line">
                <a:avLst/>
              </a:prstGeom>
              <a:noFill/>
              <a:ln w="762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525" name="Line 69"/>
              <p:cNvSpPr>
                <a:spLocks noChangeShapeType="1"/>
              </p:cNvSpPr>
              <p:nvPr/>
            </p:nvSpPr>
            <p:spPr bwMode="auto">
              <a:xfrm>
                <a:off x="2269" y="2311"/>
                <a:ext cx="3283"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4"/>
                                        </p:tgtEl>
                                        <p:attrNameLst>
                                          <p:attrName>style.visibility</p:attrName>
                                        </p:attrNameLst>
                                      </p:cBhvr>
                                      <p:to>
                                        <p:strVal val="visible"/>
                                      </p:to>
                                    </p:set>
                                    <p:animEffect transition="in" filter="blinds(horizontal)">
                                      <p:cBhvr>
                                        <p:cTn id="7" dur="500"/>
                                        <p:tgtEl>
                                          <p:spTgt spid="194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79"/>
                                        </p:tgtEl>
                                        <p:attrNameLst>
                                          <p:attrName>style.visibility</p:attrName>
                                        </p:attrNameLst>
                                      </p:cBhvr>
                                      <p:to>
                                        <p:strVal val="visible"/>
                                      </p:to>
                                    </p:set>
                                    <p:animEffect transition="in" filter="blinds(horizontal)">
                                      <p:cBhvr>
                                        <p:cTn id="12" dur="500"/>
                                        <p:tgtEl>
                                          <p:spTgt spid="1947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9548"/>
                                        </p:tgtEl>
                                        <p:attrNameLst>
                                          <p:attrName>style.visibility</p:attrName>
                                        </p:attrNameLst>
                                      </p:cBhvr>
                                      <p:to>
                                        <p:strVal val="visible"/>
                                      </p:to>
                                    </p:set>
                                    <p:anim calcmode="lin" valueType="num">
                                      <p:cBhvr additive="base">
                                        <p:cTn id="17" dur="500" fill="hold"/>
                                        <p:tgtEl>
                                          <p:spTgt spid="19548"/>
                                        </p:tgtEl>
                                        <p:attrNameLst>
                                          <p:attrName>ppt_x</p:attrName>
                                        </p:attrNameLst>
                                      </p:cBhvr>
                                      <p:tavLst>
                                        <p:tav tm="0">
                                          <p:val>
                                            <p:strVal val="1+#ppt_w/2"/>
                                          </p:val>
                                        </p:tav>
                                        <p:tav tm="100000">
                                          <p:val>
                                            <p:strVal val="#ppt_x"/>
                                          </p:val>
                                        </p:tav>
                                      </p:tavLst>
                                    </p:anim>
                                    <p:anim calcmode="lin" valueType="num">
                                      <p:cBhvr additive="base">
                                        <p:cTn id="18" dur="500" fill="hold"/>
                                        <p:tgtEl>
                                          <p:spTgt spid="1954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9556"/>
                                        </p:tgtEl>
                                        <p:attrNameLst>
                                          <p:attrName>style.visibility</p:attrName>
                                        </p:attrNameLst>
                                      </p:cBhvr>
                                      <p:to>
                                        <p:strVal val="visible"/>
                                      </p:to>
                                    </p:set>
                                    <p:animEffect transition="in" filter="wipe(left)">
                                      <p:cBhvr>
                                        <p:cTn id="23" dur="500"/>
                                        <p:tgtEl>
                                          <p:spTgt spid="1955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9486"/>
                                        </p:tgtEl>
                                        <p:attrNameLst>
                                          <p:attrName>style.visibility</p:attrName>
                                        </p:attrNameLst>
                                      </p:cBhvr>
                                      <p:to>
                                        <p:strVal val="visible"/>
                                      </p:to>
                                    </p:set>
                                    <p:animEffect transition="in" filter="wipe(down)">
                                      <p:cBhvr>
                                        <p:cTn id="28" dur="500"/>
                                        <p:tgtEl>
                                          <p:spTgt spid="19486"/>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37" fill="hold" nodeType="clickEffect">
                                  <p:stCondLst>
                                    <p:cond delay="0"/>
                                  </p:stCondLst>
                                  <p:childTnLst>
                                    <p:set>
                                      <p:cBhvr>
                                        <p:cTn id="32" dur="1" fill="hold">
                                          <p:stCondLst>
                                            <p:cond delay="0"/>
                                          </p:stCondLst>
                                        </p:cTn>
                                        <p:tgtEl>
                                          <p:spTgt spid="19563"/>
                                        </p:tgtEl>
                                        <p:attrNameLst>
                                          <p:attrName>style.visibility</p:attrName>
                                        </p:attrNameLst>
                                      </p:cBhvr>
                                      <p:to>
                                        <p:strVal val="visible"/>
                                      </p:to>
                                    </p:set>
                                    <p:animEffect transition="in" filter="barn(outVertical)">
                                      <p:cBhvr>
                                        <p:cTn id="33" dur="500"/>
                                        <p:tgtEl>
                                          <p:spTgt spid="19563"/>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10" fill="hold" grpId="0" nodeType="clickEffect">
                                  <p:stCondLst>
                                    <p:cond delay="0"/>
                                  </p:stCondLst>
                                  <p:childTnLst>
                                    <p:set>
                                      <p:cBhvr>
                                        <p:cTn id="37" dur="1" fill="hold">
                                          <p:stCondLst>
                                            <p:cond delay="0"/>
                                          </p:stCondLst>
                                        </p:cTn>
                                        <p:tgtEl>
                                          <p:spTgt spid="19459"/>
                                        </p:tgtEl>
                                        <p:attrNameLst>
                                          <p:attrName>style.visibility</p:attrName>
                                        </p:attrNameLst>
                                      </p:cBhvr>
                                      <p:to>
                                        <p:strVal val="visible"/>
                                      </p:to>
                                    </p:set>
                                    <p:anim calcmode="lin" valueType="num">
                                      <p:cBhvr>
                                        <p:cTn id="38" dur="500" fill="hold"/>
                                        <p:tgtEl>
                                          <p:spTgt spid="19459"/>
                                        </p:tgtEl>
                                        <p:attrNameLst>
                                          <p:attrName>ppt_w</p:attrName>
                                        </p:attrNameLst>
                                      </p:cBhvr>
                                      <p:tavLst>
                                        <p:tav tm="0">
                                          <p:val>
                                            <p:fltVal val="0"/>
                                          </p:val>
                                        </p:tav>
                                        <p:tav tm="100000">
                                          <p:val>
                                            <p:strVal val="#ppt_w"/>
                                          </p:val>
                                        </p:tav>
                                      </p:tavLst>
                                    </p:anim>
                                    <p:anim calcmode="lin" valueType="num">
                                      <p:cBhvr>
                                        <p:cTn id="39" dur="500" fill="hold"/>
                                        <p:tgtEl>
                                          <p:spTgt spid="19459"/>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9460"/>
                                        </p:tgtEl>
                                        <p:attrNameLst>
                                          <p:attrName>style.visibility</p:attrName>
                                        </p:attrNameLst>
                                      </p:cBhvr>
                                      <p:to>
                                        <p:strVal val="visible"/>
                                      </p:to>
                                    </p:set>
                                    <p:animEffect transition="in" filter="box(in)">
                                      <p:cBhvr>
                                        <p:cTn id="44" dur="500"/>
                                        <p:tgtEl>
                                          <p:spTgt spid="1946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9480"/>
                                        </p:tgtEl>
                                        <p:attrNameLst>
                                          <p:attrName>style.visibility</p:attrName>
                                        </p:attrNameLst>
                                      </p:cBhvr>
                                      <p:to>
                                        <p:strVal val="visible"/>
                                      </p:to>
                                    </p:set>
                                    <p:animEffect transition="in" filter="wipe(left)">
                                      <p:cBhvr>
                                        <p:cTn id="49" dur="500"/>
                                        <p:tgtEl>
                                          <p:spTgt spid="19480"/>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19467"/>
                                        </p:tgtEl>
                                        <p:attrNameLst>
                                          <p:attrName>style.visibility</p:attrName>
                                        </p:attrNameLst>
                                      </p:cBhvr>
                                      <p:to>
                                        <p:strVal val="visible"/>
                                      </p:to>
                                    </p:set>
                                    <p:animEffect transition="in" filter="box(out)">
                                      <p:cBhvr>
                                        <p:cTn id="54" dur="500"/>
                                        <p:tgtEl>
                                          <p:spTgt spid="19467"/>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42" fill="hold" nodeType="clickEffect">
                                  <p:stCondLst>
                                    <p:cond delay="0"/>
                                  </p:stCondLst>
                                  <p:childTnLst>
                                    <p:set>
                                      <p:cBhvr>
                                        <p:cTn id="58" dur="1" fill="hold">
                                          <p:stCondLst>
                                            <p:cond delay="0"/>
                                          </p:stCondLst>
                                        </p:cTn>
                                        <p:tgtEl>
                                          <p:spTgt spid="19538"/>
                                        </p:tgtEl>
                                        <p:attrNameLst>
                                          <p:attrName>style.visibility</p:attrName>
                                        </p:attrNameLst>
                                      </p:cBhvr>
                                      <p:to>
                                        <p:strVal val="visible"/>
                                      </p:to>
                                    </p:set>
                                    <p:animEffect transition="in" filter="barn(outHorizontal)">
                                      <p:cBhvr>
                                        <p:cTn id="59" dur="500"/>
                                        <p:tgtEl>
                                          <p:spTgt spid="19538"/>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19526"/>
                                        </p:tgtEl>
                                        <p:attrNameLst>
                                          <p:attrName>style.visibility</p:attrName>
                                        </p:attrNameLst>
                                      </p:cBhvr>
                                      <p:to>
                                        <p:strVal val="visible"/>
                                      </p:to>
                                    </p:set>
                                    <p:animEffect transition="in" filter="box(out)">
                                      <p:cBhvr>
                                        <p:cTn id="64" dur="500"/>
                                        <p:tgtEl>
                                          <p:spTgt spid="19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autoUpdateAnimBg="0"/>
      <p:bldP spid="19460" grpId="0" autoUpdateAnimBg="0"/>
      <p:bldP spid="19479"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198438" y="100013"/>
            <a:ext cx="4667250"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rgbClr val="FF3300"/>
                </a:solidFill>
                <a:latin typeface="宋体" panose="02010600030101010101" pitchFamily="2" charset="-122"/>
                <a:sym typeface="Monotype Sorts" panose="05000000000000000000" pitchFamily="2" charset="2"/>
              </a:rPr>
              <a:t>4</a:t>
            </a:r>
            <a:r>
              <a:rPr lang="zh-CN" altLang="en-US" sz="3200" b="1">
                <a:solidFill>
                  <a:srgbClr val="FF3300"/>
                </a:solidFill>
                <a:latin typeface="宋体" panose="02010600030101010101" pitchFamily="2" charset="-122"/>
                <a:sym typeface="Monotype Sorts" panose="05000000000000000000" pitchFamily="2" charset="2"/>
              </a:rPr>
              <a:t>）盘类零件</a:t>
            </a:r>
            <a:r>
              <a:rPr lang="zh-CN" altLang="en-US" sz="3200" b="1">
                <a:solidFill>
                  <a:srgbClr val="FF3300"/>
                </a:solidFill>
                <a:latin typeface="宋体" panose="02010600030101010101" pitchFamily="2" charset="-122"/>
              </a:rPr>
              <a:t>（如端盖）</a:t>
            </a:r>
            <a:endParaRPr lang="zh-CN" altLang="en-US" sz="3200" b="1">
              <a:latin typeface="宋体" panose="02010600030101010101" pitchFamily="2" charset="-122"/>
            </a:endParaRPr>
          </a:p>
        </p:txBody>
      </p:sp>
      <p:sp>
        <p:nvSpPr>
          <p:cNvPr id="20483" name="Text Box 3"/>
          <p:cNvSpPr txBox="1">
            <a:spLocks noChangeArrowheads="1"/>
          </p:cNvSpPr>
          <p:nvPr/>
        </p:nvSpPr>
        <p:spPr bwMode="auto">
          <a:xfrm>
            <a:off x="419100" y="592138"/>
            <a:ext cx="3798888"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latin typeface="宋体" panose="02010600030101010101" pitchFamily="2" charset="-122"/>
                <a:sym typeface="Monotype Sorts" panose="05000000000000000000" pitchFamily="2" charset="2"/>
              </a:rPr>
              <a:t>⑴ </a:t>
            </a:r>
            <a:r>
              <a:rPr lang="zh-CN" altLang="en-US" sz="3200" b="1">
                <a:solidFill>
                  <a:schemeClr val="accent2"/>
                </a:solidFill>
                <a:latin typeface="宋体" panose="02010600030101010101" pitchFamily="2" charset="-122"/>
                <a:sym typeface="Monotype Sorts" panose="05000000000000000000" pitchFamily="2" charset="2"/>
              </a:rPr>
              <a:t>分析形体、结构</a:t>
            </a:r>
            <a:endParaRPr lang="zh-CN" altLang="en-US" sz="3200" b="1">
              <a:solidFill>
                <a:schemeClr val="accent2"/>
              </a:solidFill>
              <a:latin typeface="宋体" panose="02010600030101010101" pitchFamily="2" charset="-122"/>
            </a:endParaRPr>
          </a:p>
        </p:txBody>
      </p:sp>
      <p:sp>
        <p:nvSpPr>
          <p:cNvPr id="20484" name="Text Box 4"/>
          <p:cNvSpPr txBox="1">
            <a:spLocks noChangeArrowheads="1"/>
          </p:cNvSpPr>
          <p:nvPr/>
        </p:nvSpPr>
        <p:spPr bwMode="auto">
          <a:xfrm>
            <a:off x="419100" y="2562225"/>
            <a:ext cx="2938463"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solidFill>
                  <a:schemeClr val="accent2"/>
                </a:solidFill>
                <a:latin typeface="宋体" panose="02010600030101010101" pitchFamily="2" charset="-122"/>
                <a:sym typeface="Monotype Sorts" panose="05000000000000000000" pitchFamily="2" charset="2"/>
              </a:rPr>
              <a:t>⑵ </a:t>
            </a:r>
            <a:r>
              <a:rPr lang="zh-CN" altLang="en-US" sz="3200" b="1">
                <a:solidFill>
                  <a:schemeClr val="accent2"/>
                </a:solidFill>
                <a:latin typeface="宋体" panose="02010600030101010101" pitchFamily="2" charset="-122"/>
                <a:sym typeface="Monotype Sorts" panose="05000000000000000000" pitchFamily="2" charset="2"/>
              </a:rPr>
              <a:t>选择主视图</a:t>
            </a:r>
            <a:endParaRPr lang="zh-CN" altLang="en-US" sz="3200" b="1">
              <a:solidFill>
                <a:schemeClr val="accent2"/>
              </a:solidFill>
              <a:latin typeface="宋体" panose="02010600030101010101" pitchFamily="2" charset="-122"/>
              <a:sym typeface="Monotype Sorts" panose="05000000000000000000" pitchFamily="2" charset="2"/>
            </a:endParaRPr>
          </a:p>
        </p:txBody>
      </p:sp>
      <p:sp>
        <p:nvSpPr>
          <p:cNvPr id="20485" name="Text Box 5"/>
          <p:cNvSpPr txBox="1">
            <a:spLocks noChangeArrowheads="1"/>
          </p:cNvSpPr>
          <p:nvPr/>
        </p:nvSpPr>
        <p:spPr bwMode="auto">
          <a:xfrm>
            <a:off x="419100" y="5068888"/>
            <a:ext cx="3244850"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en-US" altLang="zh-CN" sz="3200" b="1">
                <a:solidFill>
                  <a:schemeClr val="accent2"/>
                </a:solidFill>
                <a:latin typeface="宋体" panose="02010600030101010101" pitchFamily="2" charset="-122"/>
                <a:sym typeface="Monotype Sorts" panose="05000000000000000000" pitchFamily="2" charset="2"/>
              </a:rPr>
              <a:t>⑶ </a:t>
            </a:r>
            <a:r>
              <a:rPr lang="zh-CN" altLang="en-US" sz="3200" b="1">
                <a:solidFill>
                  <a:schemeClr val="accent2"/>
                </a:solidFill>
                <a:latin typeface="宋体" panose="02010600030101010101" pitchFamily="2" charset="-122"/>
                <a:sym typeface="Monotype Sorts" panose="05000000000000000000" pitchFamily="2" charset="2"/>
              </a:rPr>
              <a:t>选择其他视图</a:t>
            </a:r>
            <a:endParaRPr lang="zh-CN" altLang="en-US" sz="3200" b="1">
              <a:solidFill>
                <a:schemeClr val="accent2"/>
              </a:solidFill>
              <a:latin typeface="宋体" panose="02010600030101010101" pitchFamily="2" charset="-122"/>
              <a:sym typeface="Monotype Sorts" panose="05000000000000000000" pitchFamily="2" charset="2"/>
            </a:endParaRPr>
          </a:p>
        </p:txBody>
      </p:sp>
      <p:sp>
        <p:nvSpPr>
          <p:cNvPr id="20486" name="Text Box 6"/>
          <p:cNvSpPr txBox="1">
            <a:spLocks noChangeArrowheads="1"/>
          </p:cNvSpPr>
          <p:nvPr/>
        </p:nvSpPr>
        <p:spPr bwMode="auto">
          <a:xfrm>
            <a:off x="755650" y="1089025"/>
            <a:ext cx="7812088" cy="1554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en-US" altLang="zh-CN" sz="3200" b="1">
                <a:latin typeface="宋体" panose="02010600030101010101" pitchFamily="2" charset="-122"/>
                <a:sym typeface="Monotype Sorts" panose="05000000000000000000" pitchFamily="2" charset="2"/>
              </a:rPr>
              <a:t>    </a:t>
            </a:r>
            <a:r>
              <a:rPr lang="zh-CN" altLang="en-US" sz="3200" b="1">
                <a:latin typeface="宋体" panose="02010600030101010101" pitchFamily="2" charset="-122"/>
                <a:sym typeface="Monotype Sorts" panose="05000000000000000000" pitchFamily="2" charset="2"/>
              </a:rPr>
              <a:t>盘类零件主要</a:t>
            </a:r>
            <a:r>
              <a:rPr lang="zh-CN" altLang="en-US" sz="3200" b="1">
                <a:latin typeface="宋体" panose="02010600030101010101" pitchFamily="2" charset="-122"/>
              </a:rPr>
              <a:t>由不同直径的同心圆柱面所组成，其厚度相对于直径小得多，成盘状，周边常分布一些孔、槽等。</a:t>
            </a:r>
            <a:endParaRPr lang="zh-CN" altLang="en-US" sz="3200" b="1">
              <a:latin typeface="宋体" panose="02010600030101010101" pitchFamily="2" charset="-122"/>
            </a:endParaRPr>
          </a:p>
        </p:txBody>
      </p:sp>
      <p:sp>
        <p:nvSpPr>
          <p:cNvPr id="20487" name="Text Box 7"/>
          <p:cNvSpPr txBox="1">
            <a:spLocks noChangeArrowheads="1"/>
          </p:cNvSpPr>
          <p:nvPr/>
        </p:nvSpPr>
        <p:spPr bwMode="auto">
          <a:xfrm>
            <a:off x="858838" y="4557713"/>
            <a:ext cx="3870325" cy="57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eaLnBrk="0" hangingPunct="0"/>
            <a:r>
              <a:rPr lang="zh-CN" altLang="en-US" sz="3200" b="1">
                <a:latin typeface="宋体" panose="02010600030101010101" pitchFamily="2" charset="-122"/>
              </a:rPr>
              <a:t>通常采用全剖视图。</a:t>
            </a:r>
            <a:endParaRPr lang="zh-CN" altLang="en-US" sz="3200" b="1">
              <a:latin typeface="宋体" panose="02010600030101010101" pitchFamily="2" charset="-122"/>
            </a:endParaRPr>
          </a:p>
        </p:txBody>
      </p:sp>
      <p:sp>
        <p:nvSpPr>
          <p:cNvPr id="20488" name="Text Box 8"/>
          <p:cNvSpPr txBox="1">
            <a:spLocks noChangeArrowheads="1"/>
          </p:cNvSpPr>
          <p:nvPr/>
        </p:nvSpPr>
        <p:spPr bwMode="auto">
          <a:xfrm>
            <a:off x="841375" y="5651500"/>
            <a:ext cx="63373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0" hangingPunct="0"/>
            <a:r>
              <a:rPr lang="zh-CN" altLang="en-US" sz="3200" b="1">
                <a:latin typeface="宋体" panose="02010600030101010101" pitchFamily="2" charset="-122"/>
              </a:rPr>
              <a:t>用左视图表达孔、槽的分布情况。</a:t>
            </a:r>
            <a:endParaRPr lang="zh-CN" altLang="en-US" sz="3200" b="1">
              <a:latin typeface="宋体" panose="02010600030101010101" pitchFamily="2" charset="-122"/>
            </a:endParaRPr>
          </a:p>
        </p:txBody>
      </p:sp>
      <p:sp>
        <p:nvSpPr>
          <p:cNvPr id="20489" name="Text Box 9"/>
          <p:cNvSpPr txBox="1">
            <a:spLocks noChangeArrowheads="1"/>
          </p:cNvSpPr>
          <p:nvPr/>
        </p:nvSpPr>
        <p:spPr bwMode="auto">
          <a:xfrm>
            <a:off x="868363" y="3060700"/>
            <a:ext cx="50895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安放状态：</a:t>
            </a:r>
            <a:r>
              <a:rPr lang="zh-CN" altLang="en-US" sz="3200" b="1">
                <a:solidFill>
                  <a:srgbClr val="FF3300"/>
                </a:solidFill>
                <a:latin typeface="宋体" panose="02010600030101010101" pitchFamily="2" charset="-122"/>
              </a:rPr>
              <a:t>符合加工状态   </a:t>
            </a:r>
            <a:endParaRPr lang="zh-CN" altLang="en-US" sz="3200" b="1">
              <a:solidFill>
                <a:srgbClr val="FF3300"/>
              </a:solidFill>
              <a:latin typeface="宋体" panose="02010600030101010101" pitchFamily="2" charset="-122"/>
            </a:endParaRPr>
          </a:p>
          <a:p>
            <a:pPr eaLnBrk="0" hangingPunct="0"/>
            <a:r>
              <a:rPr lang="zh-CN" altLang="en-US" sz="3200" b="1">
                <a:solidFill>
                  <a:srgbClr val="FF3300"/>
                </a:solidFill>
                <a:latin typeface="宋体" panose="02010600030101010101" pitchFamily="2" charset="-122"/>
              </a:rPr>
              <a:t>          轴线水平放置</a:t>
            </a:r>
            <a:endParaRPr lang="zh-CN" altLang="en-US" sz="3200" b="1">
              <a:latin typeface="宋体" panose="02010600030101010101" pitchFamily="2" charset="-122"/>
            </a:endParaRPr>
          </a:p>
        </p:txBody>
      </p:sp>
      <p:sp>
        <p:nvSpPr>
          <p:cNvPr id="20490" name="Text Box 10"/>
          <p:cNvSpPr txBox="1">
            <a:spLocks noChangeArrowheads="1"/>
          </p:cNvSpPr>
          <p:nvPr/>
        </p:nvSpPr>
        <p:spPr bwMode="auto">
          <a:xfrm>
            <a:off x="855663" y="4057650"/>
            <a:ext cx="35258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投射方向：</a:t>
            </a:r>
            <a:r>
              <a:rPr lang="en-US" altLang="zh-CN" sz="3200" b="1" i="1">
                <a:solidFill>
                  <a:srgbClr val="FF3300"/>
                </a:solidFill>
                <a:latin typeface="宋体" panose="02010600030101010101" pitchFamily="2" charset="-122"/>
              </a:rPr>
              <a:t>A</a:t>
            </a:r>
            <a:r>
              <a:rPr lang="zh-CN" altLang="en-US" sz="3200" b="1">
                <a:solidFill>
                  <a:srgbClr val="FF3300"/>
                </a:solidFill>
                <a:latin typeface="宋体" panose="02010600030101010101" pitchFamily="2" charset="-122"/>
              </a:rPr>
              <a:t>向</a:t>
            </a:r>
            <a:endParaRPr lang="zh-CN" altLang="en-US" sz="3200" b="1">
              <a:solidFill>
                <a:srgbClr val="FF3300"/>
              </a:solidFill>
              <a:latin typeface="宋体" panose="02010600030101010101" pitchFamily="2" charset="-122"/>
            </a:endParaRPr>
          </a:p>
        </p:txBody>
      </p:sp>
      <p:grpSp>
        <p:nvGrpSpPr>
          <p:cNvPr id="20491" name="Group 11"/>
          <p:cNvGrpSpPr/>
          <p:nvPr/>
        </p:nvGrpSpPr>
        <p:grpSpPr bwMode="auto">
          <a:xfrm>
            <a:off x="7699375" y="5522913"/>
            <a:ext cx="560388" cy="652462"/>
            <a:chOff x="4850" y="3479"/>
            <a:chExt cx="353" cy="411"/>
          </a:xfrm>
        </p:grpSpPr>
        <p:sp>
          <p:nvSpPr>
            <p:cNvPr id="20492" name="AutoShape 12"/>
            <p:cNvSpPr>
              <a:spLocks noChangeArrowheads="1"/>
            </p:cNvSpPr>
            <p:nvPr/>
          </p:nvSpPr>
          <p:spPr bwMode="auto">
            <a:xfrm rot="-2269517">
              <a:off x="4850" y="3530"/>
              <a:ext cx="141" cy="360"/>
            </a:xfrm>
            <a:prstGeom prst="upArrow">
              <a:avLst>
                <a:gd name="adj1" fmla="val 34176"/>
                <a:gd name="adj2" fmla="val 93783"/>
              </a:avLst>
            </a:prstGeom>
            <a:solidFill>
              <a:srgbClr val="FF33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493" name="Text Box 13"/>
            <p:cNvSpPr txBox="1">
              <a:spLocks noChangeArrowheads="1"/>
            </p:cNvSpPr>
            <p:nvPr/>
          </p:nvSpPr>
          <p:spPr bwMode="auto">
            <a:xfrm>
              <a:off x="4938" y="3479"/>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2800" b="1" i="1">
                  <a:solidFill>
                    <a:srgbClr val="FF3300"/>
                  </a:solidFill>
                </a:rPr>
                <a:t>A</a:t>
              </a:r>
              <a:endParaRPr lang="en-US" altLang="zh-CN" b="1" i="1">
                <a:solidFill>
                  <a:srgbClr val="FF3300"/>
                </a:solidFill>
              </a:endParaRPr>
            </a:p>
          </p:txBody>
        </p:sp>
      </p:grpSp>
      <p:pic>
        <p:nvPicPr>
          <p:cNvPr id="20495" name="Picture 15"/>
          <p:cNvPicPr>
            <a:picLocks noChangeAspect="1" noChangeArrowheads="1"/>
          </p:cNvPicPr>
          <p:nvPr/>
        </p:nvPicPr>
        <p:blipFill>
          <a:blip r:embed="rId1">
            <a:extLst>
              <a:ext uri="{28A0092B-C50C-407E-A947-70E740481C1C}">
                <a14:useLocalDpi xmlns:a14="http://schemas.microsoft.com/office/drawing/2010/main" val="0"/>
              </a:ext>
            </a:extLst>
          </a:blip>
          <a:srcRect l="28210" t="12019" r="26854" b="15297"/>
          <a:stretch>
            <a:fillRect/>
          </a:stretch>
        </p:blipFill>
        <p:spPr bwMode="auto">
          <a:xfrm>
            <a:off x="5837238" y="2913063"/>
            <a:ext cx="2054225" cy="2473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barn(inVertical)">
                                      <p:cBhvr>
                                        <p:cTn id="7" dur="500"/>
                                        <p:tgtEl>
                                          <p:spTgt spid="2048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0486"/>
                                        </p:tgtEl>
                                        <p:attrNameLst>
                                          <p:attrName>style.visibility</p:attrName>
                                        </p:attrNameLst>
                                      </p:cBhvr>
                                      <p:to>
                                        <p:strVal val="visible"/>
                                      </p:to>
                                    </p:set>
                                    <p:animEffect transition="in" filter="barn(outVertical)">
                                      <p:cBhvr>
                                        <p:cTn id="12" dur="500"/>
                                        <p:tgtEl>
                                          <p:spTgt spid="2048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20484"/>
                                        </p:tgtEl>
                                        <p:attrNameLst>
                                          <p:attrName>style.visibility</p:attrName>
                                        </p:attrNameLst>
                                      </p:cBhvr>
                                      <p:to>
                                        <p:strVal val="visible"/>
                                      </p:to>
                                    </p:set>
                                    <p:animEffect transition="in" filter="slide(fromLeft)">
                                      <p:cBhvr>
                                        <p:cTn id="17" dur="500"/>
                                        <p:tgtEl>
                                          <p:spTgt spid="2048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0489"/>
                                        </p:tgtEl>
                                        <p:attrNameLst>
                                          <p:attrName>style.visibility</p:attrName>
                                        </p:attrNameLst>
                                      </p:cBhvr>
                                      <p:to>
                                        <p:strVal val="visible"/>
                                      </p:to>
                                    </p:set>
                                    <p:animEffect transition="in" filter="randombar(horizontal)">
                                      <p:cBhvr>
                                        <p:cTn id="22" dur="500"/>
                                        <p:tgtEl>
                                          <p:spTgt spid="2048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5" fill="hold" grpId="0" nodeType="clickEffect">
                                  <p:stCondLst>
                                    <p:cond delay="0"/>
                                  </p:stCondLst>
                                  <p:childTnLst>
                                    <p:set>
                                      <p:cBhvr>
                                        <p:cTn id="26" dur="1" fill="hold">
                                          <p:stCondLst>
                                            <p:cond delay="0"/>
                                          </p:stCondLst>
                                        </p:cTn>
                                        <p:tgtEl>
                                          <p:spTgt spid="20490"/>
                                        </p:tgtEl>
                                        <p:attrNameLst>
                                          <p:attrName>style.visibility</p:attrName>
                                        </p:attrNameLst>
                                      </p:cBhvr>
                                      <p:to>
                                        <p:strVal val="visible"/>
                                      </p:to>
                                    </p:set>
                                    <p:animEffect transition="in" filter="randombar(vertical)">
                                      <p:cBhvr>
                                        <p:cTn id="27" dur="500"/>
                                        <p:tgtEl>
                                          <p:spTgt spid="2049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6" fill="hold" nodeType="clickEffect">
                                  <p:stCondLst>
                                    <p:cond delay="0"/>
                                  </p:stCondLst>
                                  <p:childTnLst>
                                    <p:set>
                                      <p:cBhvr>
                                        <p:cTn id="31" dur="1" fill="hold">
                                          <p:stCondLst>
                                            <p:cond delay="0"/>
                                          </p:stCondLst>
                                        </p:cTn>
                                        <p:tgtEl>
                                          <p:spTgt spid="20491"/>
                                        </p:tgtEl>
                                        <p:attrNameLst>
                                          <p:attrName>style.visibility</p:attrName>
                                        </p:attrNameLst>
                                      </p:cBhvr>
                                      <p:to>
                                        <p:strVal val="visible"/>
                                      </p:to>
                                    </p:set>
                                    <p:anim calcmode="lin" valueType="num">
                                      <p:cBhvr additive="base">
                                        <p:cTn id="32" dur="500" fill="hold"/>
                                        <p:tgtEl>
                                          <p:spTgt spid="20491"/>
                                        </p:tgtEl>
                                        <p:attrNameLst>
                                          <p:attrName>ppt_x</p:attrName>
                                        </p:attrNameLst>
                                      </p:cBhvr>
                                      <p:tavLst>
                                        <p:tav tm="0">
                                          <p:val>
                                            <p:strVal val="1+#ppt_w/2"/>
                                          </p:val>
                                        </p:tav>
                                        <p:tav tm="100000">
                                          <p:val>
                                            <p:strVal val="#ppt_x"/>
                                          </p:val>
                                        </p:tav>
                                      </p:tavLst>
                                    </p:anim>
                                    <p:anim calcmode="lin" valueType="num">
                                      <p:cBhvr additive="base">
                                        <p:cTn id="33" dur="500" fill="hold"/>
                                        <p:tgtEl>
                                          <p:spTgt spid="2049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grpId="0" nodeType="clickEffect">
                                  <p:stCondLst>
                                    <p:cond delay="0"/>
                                  </p:stCondLst>
                                  <p:childTnLst>
                                    <p:set>
                                      <p:cBhvr>
                                        <p:cTn id="37" dur="1" fill="hold">
                                          <p:stCondLst>
                                            <p:cond delay="0"/>
                                          </p:stCondLst>
                                        </p:cTn>
                                        <p:tgtEl>
                                          <p:spTgt spid="20487"/>
                                        </p:tgtEl>
                                        <p:attrNameLst>
                                          <p:attrName>style.visibility</p:attrName>
                                        </p:attrNameLst>
                                      </p:cBhvr>
                                      <p:to>
                                        <p:strVal val="visible"/>
                                      </p:to>
                                    </p:set>
                                    <p:animEffect transition="in" filter="slide(fromLeft)">
                                      <p:cBhvr>
                                        <p:cTn id="38" dur="500"/>
                                        <p:tgtEl>
                                          <p:spTgt spid="20487"/>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20485"/>
                                        </p:tgtEl>
                                        <p:attrNameLst>
                                          <p:attrName>style.visibility</p:attrName>
                                        </p:attrNameLst>
                                      </p:cBhvr>
                                      <p:to>
                                        <p:strVal val="visible"/>
                                      </p:to>
                                    </p:set>
                                    <p:animEffect transition="in" filter="slide(fromBottom)">
                                      <p:cBhvr>
                                        <p:cTn id="43" dur="500"/>
                                        <p:tgtEl>
                                          <p:spTgt spid="20485"/>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2" fill="hold" grpId="0" nodeType="clickEffect">
                                  <p:stCondLst>
                                    <p:cond delay="0"/>
                                  </p:stCondLst>
                                  <p:childTnLst>
                                    <p:set>
                                      <p:cBhvr>
                                        <p:cTn id="47" dur="1" fill="hold">
                                          <p:stCondLst>
                                            <p:cond delay="0"/>
                                          </p:stCondLst>
                                        </p:cTn>
                                        <p:tgtEl>
                                          <p:spTgt spid="20488"/>
                                        </p:tgtEl>
                                        <p:attrNameLst>
                                          <p:attrName>style.visibility</p:attrName>
                                        </p:attrNameLst>
                                      </p:cBhvr>
                                      <p:to>
                                        <p:strVal val="visible"/>
                                      </p:to>
                                    </p:set>
                                    <p:animEffect transition="in" filter="slide(fromRight)">
                                      <p:cBhvr>
                                        <p:cTn id="48" dur="5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4" grpId="0" autoUpdateAnimBg="0"/>
      <p:bldP spid="20485" grpId="0" autoUpdateAnimBg="0"/>
      <p:bldP spid="20486" grpId="0" autoUpdateAnimBg="0"/>
      <p:bldP spid="20487" grpId="0" autoUpdateAnimBg="0"/>
      <p:bldP spid="20488" grpId="0" autoUpdateAnimBg="0"/>
      <p:bldP spid="20489" grpId="0" autoUpdateAnimBg="0"/>
      <p:bldP spid="20490"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210" name="Group 2"/>
          <p:cNvGrpSpPr/>
          <p:nvPr/>
        </p:nvGrpSpPr>
        <p:grpSpPr bwMode="auto">
          <a:xfrm>
            <a:off x="7813675" y="4741863"/>
            <a:ext cx="571500" cy="652462"/>
            <a:chOff x="4850" y="3479"/>
            <a:chExt cx="360" cy="411"/>
          </a:xfrm>
        </p:grpSpPr>
        <p:sp>
          <p:nvSpPr>
            <p:cNvPr id="94211" name="AutoShape 3"/>
            <p:cNvSpPr>
              <a:spLocks noChangeArrowheads="1"/>
            </p:cNvSpPr>
            <p:nvPr/>
          </p:nvSpPr>
          <p:spPr bwMode="auto">
            <a:xfrm rot="-2269517">
              <a:off x="4850" y="3530"/>
              <a:ext cx="141" cy="360"/>
            </a:xfrm>
            <a:prstGeom prst="upArrow">
              <a:avLst>
                <a:gd name="adj1" fmla="val 34176"/>
                <a:gd name="adj2" fmla="val 93783"/>
              </a:avLst>
            </a:prstGeom>
            <a:solidFill>
              <a:srgbClr val="FF33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4212" name="Text Box 4"/>
            <p:cNvSpPr txBox="1">
              <a:spLocks noChangeArrowheads="1"/>
            </p:cNvSpPr>
            <p:nvPr/>
          </p:nvSpPr>
          <p:spPr bwMode="auto">
            <a:xfrm>
              <a:off x="4932" y="3479"/>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2800" b="1">
                  <a:solidFill>
                    <a:srgbClr val="FF3300"/>
                  </a:solidFill>
                </a:rPr>
                <a:t>A</a:t>
              </a:r>
              <a:endParaRPr lang="en-US" altLang="zh-CN" b="1">
                <a:solidFill>
                  <a:srgbClr val="FF3300"/>
                </a:solidFill>
              </a:endParaRPr>
            </a:p>
          </p:txBody>
        </p:sp>
      </p:grpSp>
      <p:sp>
        <p:nvSpPr>
          <p:cNvPr id="94213" name="WordArt 5"/>
          <p:cNvSpPr>
            <a:spLocks noChangeArrowheads="1" noChangeShapeType="1" noTextEdit="1"/>
          </p:cNvSpPr>
          <p:nvPr/>
        </p:nvSpPr>
        <p:spPr bwMode="auto">
          <a:xfrm>
            <a:off x="2813050" y="619125"/>
            <a:ext cx="3292475" cy="711200"/>
          </a:xfrm>
          <a:prstGeom prst="rect">
            <a:avLst/>
          </a:prstGeom>
        </p:spPr>
        <p:txBody>
          <a:bodyPr wrap="none" fromWordArt="1">
            <a:prstTxWarp prst="textPlain">
              <a:avLst>
                <a:gd name="adj" fmla="val 50000"/>
              </a:avLst>
            </a:prstTxWarp>
          </a:bodyPr>
          <a:lstStyle/>
          <a:p>
            <a:pPr algn="ctr"/>
            <a:r>
              <a:rPr lang="zh-CN" altLang="en-US" sz="3600" kern="10">
                <a:ln w="9525">
                  <a:solidFill>
                    <a:srgbClr val="FF0066"/>
                  </a:solidFill>
                  <a:round/>
                </a:ln>
                <a:solidFill>
                  <a:srgbClr val="FF0066"/>
                </a:solidFill>
                <a:effectLst>
                  <a:outerShdw dist="35921" dir="2700000" algn="ctr" rotWithShape="0">
                    <a:srgbClr val="FFFF99"/>
                  </a:outerShdw>
                </a:effectLst>
                <a:latin typeface="宋体" panose="02010600030101010101" pitchFamily="2" charset="-122"/>
              </a:rPr>
              <a:t>端盖视图表达方案</a:t>
            </a:r>
            <a:endParaRPr lang="zh-CN" altLang="en-US" sz="3600" kern="10">
              <a:ln w="9525">
                <a:solidFill>
                  <a:srgbClr val="FF0066"/>
                </a:solidFill>
                <a:round/>
              </a:ln>
              <a:solidFill>
                <a:srgbClr val="FF0066"/>
              </a:solidFill>
              <a:effectLst>
                <a:outerShdw dist="35921" dir="2700000" algn="ctr" rotWithShape="0">
                  <a:srgbClr val="FFFF99"/>
                </a:outerShdw>
              </a:effectLst>
              <a:latin typeface="宋体" panose="02010600030101010101" pitchFamily="2" charset="-122"/>
            </a:endParaRPr>
          </a:p>
        </p:txBody>
      </p:sp>
      <p:grpSp>
        <p:nvGrpSpPr>
          <p:cNvPr id="94214" name="Group 6"/>
          <p:cNvGrpSpPr/>
          <p:nvPr/>
        </p:nvGrpSpPr>
        <p:grpSpPr bwMode="auto">
          <a:xfrm>
            <a:off x="1274763" y="2174875"/>
            <a:ext cx="4419600" cy="2994025"/>
            <a:chOff x="803" y="1370"/>
            <a:chExt cx="2784" cy="1886"/>
          </a:xfrm>
        </p:grpSpPr>
        <p:grpSp>
          <p:nvGrpSpPr>
            <p:cNvPr id="94215" name="Group 7"/>
            <p:cNvGrpSpPr/>
            <p:nvPr/>
          </p:nvGrpSpPr>
          <p:grpSpPr bwMode="auto">
            <a:xfrm>
              <a:off x="803" y="1406"/>
              <a:ext cx="578" cy="1799"/>
              <a:chOff x="659" y="1094"/>
              <a:chExt cx="578" cy="1799"/>
            </a:xfrm>
          </p:grpSpPr>
          <p:grpSp>
            <p:nvGrpSpPr>
              <p:cNvPr id="94216" name="Group 8"/>
              <p:cNvGrpSpPr/>
              <p:nvPr/>
            </p:nvGrpSpPr>
            <p:grpSpPr bwMode="auto">
              <a:xfrm>
                <a:off x="988" y="2817"/>
                <a:ext cx="213" cy="72"/>
                <a:chOff x="2718" y="3044"/>
                <a:chExt cx="172" cy="58"/>
              </a:xfrm>
            </p:grpSpPr>
            <p:sp>
              <p:nvSpPr>
                <p:cNvPr id="94217" name="Freeform 9"/>
                <p:cNvSpPr/>
                <p:nvPr/>
              </p:nvSpPr>
              <p:spPr bwMode="auto">
                <a:xfrm>
                  <a:off x="2718" y="3044"/>
                  <a:ext cx="6" cy="9"/>
                </a:xfrm>
                <a:custGeom>
                  <a:avLst/>
                  <a:gdLst>
                    <a:gd name="T0" fmla="*/ 0 w 22"/>
                    <a:gd name="T1" fmla="*/ 22 h 22"/>
                    <a:gd name="T2" fmla="*/ 21 w 22"/>
                    <a:gd name="T3" fmla="*/ 0 h 22"/>
                    <a:gd name="T4" fmla="*/ 22 w 22"/>
                    <a:gd name="T5" fmla="*/ 0 h 22"/>
                  </a:gdLst>
                  <a:ahLst/>
                  <a:cxnLst>
                    <a:cxn ang="0">
                      <a:pos x="T0" y="T1"/>
                    </a:cxn>
                    <a:cxn ang="0">
                      <a:pos x="T2" y="T3"/>
                    </a:cxn>
                    <a:cxn ang="0">
                      <a:pos x="T4" y="T5"/>
                    </a:cxn>
                  </a:cxnLst>
                  <a:rect l="0" t="0" r="r" b="b"/>
                  <a:pathLst>
                    <a:path w="22" h="22">
                      <a:moveTo>
                        <a:pt x="0" y="22"/>
                      </a:moveTo>
                      <a:lnTo>
                        <a:pt x="21" y="0"/>
                      </a:lnTo>
                      <a:lnTo>
                        <a:pt x="22"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18" name="Freeform 10"/>
                <p:cNvSpPr/>
                <p:nvPr/>
              </p:nvSpPr>
              <p:spPr bwMode="auto">
                <a:xfrm>
                  <a:off x="2718" y="3044"/>
                  <a:ext cx="44" cy="47"/>
                </a:xfrm>
                <a:custGeom>
                  <a:avLst/>
                  <a:gdLst>
                    <a:gd name="T0" fmla="*/ 0 w 142"/>
                    <a:gd name="T1" fmla="*/ 143 h 143"/>
                    <a:gd name="T2" fmla="*/ 141 w 142"/>
                    <a:gd name="T3" fmla="*/ 0 h 143"/>
                    <a:gd name="T4" fmla="*/ 142 w 142"/>
                    <a:gd name="T5" fmla="*/ 0 h 143"/>
                  </a:gdLst>
                  <a:ahLst/>
                  <a:cxnLst>
                    <a:cxn ang="0">
                      <a:pos x="T0" y="T1"/>
                    </a:cxn>
                    <a:cxn ang="0">
                      <a:pos x="T2" y="T3"/>
                    </a:cxn>
                    <a:cxn ang="0">
                      <a:pos x="T4" y="T5"/>
                    </a:cxn>
                  </a:cxnLst>
                  <a:rect l="0" t="0" r="r" b="b"/>
                  <a:pathLst>
                    <a:path w="142" h="143">
                      <a:moveTo>
                        <a:pt x="0" y="143"/>
                      </a:moveTo>
                      <a:lnTo>
                        <a:pt x="141" y="0"/>
                      </a:lnTo>
                      <a:lnTo>
                        <a:pt x="142"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19" name="Freeform 11"/>
                <p:cNvSpPr/>
                <p:nvPr/>
              </p:nvSpPr>
              <p:spPr bwMode="auto">
                <a:xfrm>
                  <a:off x="2744" y="3044"/>
                  <a:ext cx="59" cy="58"/>
                </a:xfrm>
                <a:custGeom>
                  <a:avLst/>
                  <a:gdLst>
                    <a:gd name="T0" fmla="*/ 0 w 180"/>
                    <a:gd name="T1" fmla="*/ 180 h 180"/>
                    <a:gd name="T2" fmla="*/ 179 w 180"/>
                    <a:gd name="T3" fmla="*/ 0 h 180"/>
                    <a:gd name="T4" fmla="*/ 180 w 180"/>
                    <a:gd name="T5" fmla="*/ 0 h 180"/>
                  </a:gdLst>
                  <a:ahLst/>
                  <a:cxnLst>
                    <a:cxn ang="0">
                      <a:pos x="T0" y="T1"/>
                    </a:cxn>
                    <a:cxn ang="0">
                      <a:pos x="T2" y="T3"/>
                    </a:cxn>
                    <a:cxn ang="0">
                      <a:pos x="T4" y="T5"/>
                    </a:cxn>
                  </a:cxnLst>
                  <a:rect l="0" t="0" r="r" b="b"/>
                  <a:pathLst>
                    <a:path w="180" h="180">
                      <a:moveTo>
                        <a:pt x="0" y="180"/>
                      </a:moveTo>
                      <a:lnTo>
                        <a:pt x="179" y="0"/>
                      </a:lnTo>
                      <a:lnTo>
                        <a:pt x="18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0" name="Freeform 12"/>
                <p:cNvSpPr/>
                <p:nvPr/>
              </p:nvSpPr>
              <p:spPr bwMode="auto">
                <a:xfrm>
                  <a:off x="2782" y="3044"/>
                  <a:ext cx="59" cy="58"/>
                </a:xfrm>
                <a:custGeom>
                  <a:avLst/>
                  <a:gdLst>
                    <a:gd name="T0" fmla="*/ 0 w 180"/>
                    <a:gd name="T1" fmla="*/ 180 h 180"/>
                    <a:gd name="T2" fmla="*/ 179 w 180"/>
                    <a:gd name="T3" fmla="*/ 0 h 180"/>
                    <a:gd name="T4" fmla="*/ 180 w 180"/>
                    <a:gd name="T5" fmla="*/ 0 h 180"/>
                  </a:gdLst>
                  <a:ahLst/>
                  <a:cxnLst>
                    <a:cxn ang="0">
                      <a:pos x="T0" y="T1"/>
                    </a:cxn>
                    <a:cxn ang="0">
                      <a:pos x="T2" y="T3"/>
                    </a:cxn>
                    <a:cxn ang="0">
                      <a:pos x="T4" y="T5"/>
                    </a:cxn>
                  </a:cxnLst>
                  <a:rect l="0" t="0" r="r" b="b"/>
                  <a:pathLst>
                    <a:path w="180" h="180">
                      <a:moveTo>
                        <a:pt x="0" y="180"/>
                      </a:moveTo>
                      <a:lnTo>
                        <a:pt x="179" y="0"/>
                      </a:lnTo>
                      <a:lnTo>
                        <a:pt x="18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1" name="Freeform 13"/>
                <p:cNvSpPr/>
                <p:nvPr/>
              </p:nvSpPr>
              <p:spPr bwMode="auto">
                <a:xfrm>
                  <a:off x="2823" y="3044"/>
                  <a:ext cx="58" cy="58"/>
                </a:xfrm>
                <a:custGeom>
                  <a:avLst/>
                  <a:gdLst>
                    <a:gd name="T0" fmla="*/ 0 w 179"/>
                    <a:gd name="T1" fmla="*/ 180 h 180"/>
                    <a:gd name="T2" fmla="*/ 178 w 179"/>
                    <a:gd name="T3" fmla="*/ 0 h 180"/>
                    <a:gd name="T4" fmla="*/ 179 w 179"/>
                    <a:gd name="T5" fmla="*/ 0 h 180"/>
                  </a:gdLst>
                  <a:ahLst/>
                  <a:cxnLst>
                    <a:cxn ang="0">
                      <a:pos x="T0" y="T1"/>
                    </a:cxn>
                    <a:cxn ang="0">
                      <a:pos x="T2" y="T3"/>
                    </a:cxn>
                    <a:cxn ang="0">
                      <a:pos x="T4" y="T5"/>
                    </a:cxn>
                  </a:cxnLst>
                  <a:rect l="0" t="0" r="r" b="b"/>
                  <a:pathLst>
                    <a:path w="179" h="180">
                      <a:moveTo>
                        <a:pt x="0" y="180"/>
                      </a:moveTo>
                      <a:lnTo>
                        <a:pt x="178" y="0"/>
                      </a:lnTo>
                      <a:lnTo>
                        <a:pt x="17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2" name="Freeform 14"/>
                <p:cNvSpPr/>
                <p:nvPr/>
              </p:nvSpPr>
              <p:spPr bwMode="auto">
                <a:xfrm>
                  <a:off x="2861" y="3073"/>
                  <a:ext cx="29" cy="29"/>
                </a:xfrm>
                <a:custGeom>
                  <a:avLst/>
                  <a:gdLst>
                    <a:gd name="T0" fmla="*/ 0 w 93"/>
                    <a:gd name="T1" fmla="*/ 92 h 92"/>
                    <a:gd name="T2" fmla="*/ 92 w 93"/>
                    <a:gd name="T3" fmla="*/ 0 h 92"/>
                    <a:gd name="T4" fmla="*/ 93 w 93"/>
                    <a:gd name="T5" fmla="*/ 0 h 92"/>
                  </a:gdLst>
                  <a:ahLst/>
                  <a:cxnLst>
                    <a:cxn ang="0">
                      <a:pos x="T0" y="T1"/>
                    </a:cxn>
                    <a:cxn ang="0">
                      <a:pos x="T2" y="T3"/>
                    </a:cxn>
                    <a:cxn ang="0">
                      <a:pos x="T4" y="T5"/>
                    </a:cxn>
                  </a:cxnLst>
                  <a:rect l="0" t="0" r="r" b="b"/>
                  <a:pathLst>
                    <a:path w="93" h="92">
                      <a:moveTo>
                        <a:pt x="0" y="92"/>
                      </a:moveTo>
                      <a:lnTo>
                        <a:pt x="92" y="0"/>
                      </a:lnTo>
                      <a:lnTo>
                        <a:pt x="93"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4223" name="Group 15"/>
              <p:cNvGrpSpPr/>
              <p:nvPr/>
            </p:nvGrpSpPr>
            <p:grpSpPr bwMode="auto">
              <a:xfrm>
                <a:off x="699" y="1094"/>
                <a:ext cx="502" cy="1547"/>
                <a:chOff x="975" y="2162"/>
                <a:chExt cx="502" cy="1547"/>
              </a:xfrm>
            </p:grpSpPr>
            <p:sp>
              <p:nvSpPr>
                <p:cNvPr id="94224" name="Freeform 16"/>
                <p:cNvSpPr/>
                <p:nvPr/>
              </p:nvSpPr>
              <p:spPr bwMode="auto">
                <a:xfrm>
                  <a:off x="975" y="2487"/>
                  <a:ext cx="3" cy="3"/>
                </a:xfrm>
                <a:custGeom>
                  <a:avLst/>
                  <a:gdLst>
                    <a:gd name="T0" fmla="*/ 0 w 9"/>
                    <a:gd name="T1" fmla="*/ 9 h 9"/>
                    <a:gd name="T2" fmla="*/ 8 w 9"/>
                    <a:gd name="T3" fmla="*/ 0 h 9"/>
                    <a:gd name="T4" fmla="*/ 9 w 9"/>
                    <a:gd name="T5" fmla="*/ 0 h 9"/>
                  </a:gdLst>
                  <a:ahLst/>
                  <a:cxnLst>
                    <a:cxn ang="0">
                      <a:pos x="T0" y="T1"/>
                    </a:cxn>
                    <a:cxn ang="0">
                      <a:pos x="T2" y="T3"/>
                    </a:cxn>
                    <a:cxn ang="0">
                      <a:pos x="T4" y="T5"/>
                    </a:cxn>
                  </a:cxnLst>
                  <a:rect l="0" t="0" r="r" b="b"/>
                  <a:pathLst>
                    <a:path w="9" h="9">
                      <a:moveTo>
                        <a:pt x="0" y="9"/>
                      </a:moveTo>
                      <a:lnTo>
                        <a:pt x="8" y="0"/>
                      </a:lnTo>
                      <a:lnTo>
                        <a:pt x="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5" name="Freeform 17"/>
                <p:cNvSpPr/>
                <p:nvPr/>
              </p:nvSpPr>
              <p:spPr bwMode="auto">
                <a:xfrm>
                  <a:off x="1473" y="2230"/>
                  <a:ext cx="4" cy="4"/>
                </a:xfrm>
                <a:custGeom>
                  <a:avLst/>
                  <a:gdLst>
                    <a:gd name="T0" fmla="*/ 0 w 16"/>
                    <a:gd name="T1" fmla="*/ 15 h 15"/>
                    <a:gd name="T2" fmla="*/ 15 w 16"/>
                    <a:gd name="T3" fmla="*/ 0 h 15"/>
                    <a:gd name="T4" fmla="*/ 16 w 16"/>
                    <a:gd name="T5" fmla="*/ 0 h 15"/>
                  </a:gdLst>
                  <a:ahLst/>
                  <a:cxnLst>
                    <a:cxn ang="0">
                      <a:pos x="T0" y="T1"/>
                    </a:cxn>
                    <a:cxn ang="0">
                      <a:pos x="T2" y="T3"/>
                    </a:cxn>
                    <a:cxn ang="0">
                      <a:pos x="T4" y="T5"/>
                    </a:cxn>
                  </a:cxnLst>
                  <a:rect l="0" t="0" r="r" b="b"/>
                  <a:pathLst>
                    <a:path w="16" h="15">
                      <a:moveTo>
                        <a:pt x="0" y="15"/>
                      </a:moveTo>
                      <a:lnTo>
                        <a:pt x="15" y="0"/>
                      </a:lnTo>
                      <a:lnTo>
                        <a:pt x="16"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6" name="Freeform 18"/>
                <p:cNvSpPr/>
                <p:nvPr/>
              </p:nvSpPr>
              <p:spPr bwMode="auto">
                <a:xfrm>
                  <a:off x="1264" y="2415"/>
                  <a:ext cx="29" cy="28"/>
                </a:xfrm>
                <a:custGeom>
                  <a:avLst/>
                  <a:gdLst>
                    <a:gd name="T0" fmla="*/ 0 w 75"/>
                    <a:gd name="T1" fmla="*/ 75 h 75"/>
                    <a:gd name="T2" fmla="*/ 74 w 75"/>
                    <a:gd name="T3" fmla="*/ 0 h 75"/>
                    <a:gd name="T4" fmla="*/ 75 w 75"/>
                    <a:gd name="T5" fmla="*/ 0 h 75"/>
                  </a:gdLst>
                  <a:ahLst/>
                  <a:cxnLst>
                    <a:cxn ang="0">
                      <a:pos x="T0" y="T1"/>
                    </a:cxn>
                    <a:cxn ang="0">
                      <a:pos x="T2" y="T3"/>
                    </a:cxn>
                    <a:cxn ang="0">
                      <a:pos x="T4" y="T5"/>
                    </a:cxn>
                  </a:cxnLst>
                  <a:rect l="0" t="0" r="r" b="b"/>
                  <a:pathLst>
                    <a:path w="75" h="75">
                      <a:moveTo>
                        <a:pt x="0" y="75"/>
                      </a:moveTo>
                      <a:lnTo>
                        <a:pt x="74" y="0"/>
                      </a:lnTo>
                      <a:lnTo>
                        <a:pt x="75"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7" name="Freeform 19"/>
                <p:cNvSpPr/>
                <p:nvPr/>
              </p:nvSpPr>
              <p:spPr bwMode="auto">
                <a:xfrm>
                  <a:off x="1130" y="2415"/>
                  <a:ext cx="209" cy="209"/>
                </a:xfrm>
                <a:custGeom>
                  <a:avLst/>
                  <a:gdLst>
                    <a:gd name="T0" fmla="*/ 0 w 521"/>
                    <a:gd name="T1" fmla="*/ 522 h 522"/>
                    <a:gd name="T2" fmla="*/ 520 w 521"/>
                    <a:gd name="T3" fmla="*/ 0 h 522"/>
                    <a:gd name="T4" fmla="*/ 521 w 521"/>
                    <a:gd name="T5" fmla="*/ 0 h 522"/>
                  </a:gdLst>
                  <a:ahLst/>
                  <a:cxnLst>
                    <a:cxn ang="0">
                      <a:pos x="T0" y="T1"/>
                    </a:cxn>
                    <a:cxn ang="0">
                      <a:pos x="T2" y="T3"/>
                    </a:cxn>
                    <a:cxn ang="0">
                      <a:pos x="T4" y="T5"/>
                    </a:cxn>
                  </a:cxnLst>
                  <a:rect l="0" t="0" r="r" b="b"/>
                  <a:pathLst>
                    <a:path w="521" h="522">
                      <a:moveTo>
                        <a:pt x="0" y="522"/>
                      </a:moveTo>
                      <a:lnTo>
                        <a:pt x="520" y="0"/>
                      </a:lnTo>
                      <a:lnTo>
                        <a:pt x="52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8" name="Freeform 20"/>
                <p:cNvSpPr/>
                <p:nvPr/>
              </p:nvSpPr>
              <p:spPr bwMode="auto">
                <a:xfrm>
                  <a:off x="1452" y="3680"/>
                  <a:ext cx="25" cy="29"/>
                </a:xfrm>
                <a:custGeom>
                  <a:avLst/>
                  <a:gdLst>
                    <a:gd name="T0" fmla="*/ 0 w 69"/>
                    <a:gd name="T1" fmla="*/ 68 h 68"/>
                    <a:gd name="T2" fmla="*/ 68 w 69"/>
                    <a:gd name="T3" fmla="*/ 0 h 68"/>
                    <a:gd name="T4" fmla="*/ 69 w 69"/>
                    <a:gd name="T5" fmla="*/ 0 h 68"/>
                  </a:gdLst>
                  <a:ahLst/>
                  <a:cxnLst>
                    <a:cxn ang="0">
                      <a:pos x="T0" y="T1"/>
                    </a:cxn>
                    <a:cxn ang="0">
                      <a:pos x="T2" y="T3"/>
                    </a:cxn>
                    <a:cxn ang="0">
                      <a:pos x="T4" y="T5"/>
                    </a:cxn>
                  </a:cxnLst>
                  <a:rect l="0" t="0" r="r" b="b"/>
                  <a:pathLst>
                    <a:path w="69" h="68">
                      <a:moveTo>
                        <a:pt x="0" y="68"/>
                      </a:moveTo>
                      <a:lnTo>
                        <a:pt x="68" y="0"/>
                      </a:lnTo>
                      <a:lnTo>
                        <a:pt x="6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29" name="Freeform 21"/>
                <p:cNvSpPr/>
                <p:nvPr/>
              </p:nvSpPr>
              <p:spPr bwMode="auto">
                <a:xfrm>
                  <a:off x="975" y="2487"/>
                  <a:ext cx="51" cy="50"/>
                </a:xfrm>
                <a:custGeom>
                  <a:avLst/>
                  <a:gdLst>
                    <a:gd name="T0" fmla="*/ 0 w 129"/>
                    <a:gd name="T1" fmla="*/ 130 h 130"/>
                    <a:gd name="T2" fmla="*/ 128 w 129"/>
                    <a:gd name="T3" fmla="*/ 0 h 130"/>
                    <a:gd name="T4" fmla="*/ 129 w 129"/>
                    <a:gd name="T5" fmla="*/ 0 h 130"/>
                  </a:gdLst>
                  <a:ahLst/>
                  <a:cxnLst>
                    <a:cxn ang="0">
                      <a:pos x="T0" y="T1"/>
                    </a:cxn>
                    <a:cxn ang="0">
                      <a:pos x="T2" y="T3"/>
                    </a:cxn>
                    <a:cxn ang="0">
                      <a:pos x="T4" y="T5"/>
                    </a:cxn>
                  </a:cxnLst>
                  <a:rect l="0" t="0" r="r" b="b"/>
                  <a:pathLst>
                    <a:path w="129" h="130">
                      <a:moveTo>
                        <a:pt x="0" y="130"/>
                      </a:moveTo>
                      <a:lnTo>
                        <a:pt x="128" y="0"/>
                      </a:lnTo>
                      <a:lnTo>
                        <a:pt x="12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0" name="Freeform 22"/>
                <p:cNvSpPr/>
                <p:nvPr/>
              </p:nvSpPr>
              <p:spPr bwMode="auto">
                <a:xfrm>
                  <a:off x="975" y="3521"/>
                  <a:ext cx="32" cy="32"/>
                </a:xfrm>
                <a:custGeom>
                  <a:avLst/>
                  <a:gdLst>
                    <a:gd name="T0" fmla="*/ 0 w 81"/>
                    <a:gd name="T1" fmla="*/ 81 h 81"/>
                    <a:gd name="T2" fmla="*/ 80 w 81"/>
                    <a:gd name="T3" fmla="*/ 0 h 81"/>
                    <a:gd name="T4" fmla="*/ 81 w 81"/>
                    <a:gd name="T5" fmla="*/ 0 h 81"/>
                  </a:gdLst>
                  <a:ahLst/>
                  <a:cxnLst>
                    <a:cxn ang="0">
                      <a:pos x="T0" y="T1"/>
                    </a:cxn>
                    <a:cxn ang="0">
                      <a:pos x="T2" y="T3"/>
                    </a:cxn>
                    <a:cxn ang="0">
                      <a:pos x="T4" y="T5"/>
                    </a:cxn>
                  </a:cxnLst>
                  <a:rect l="0" t="0" r="r" b="b"/>
                  <a:pathLst>
                    <a:path w="81" h="81">
                      <a:moveTo>
                        <a:pt x="0" y="81"/>
                      </a:moveTo>
                      <a:lnTo>
                        <a:pt x="80" y="0"/>
                      </a:lnTo>
                      <a:lnTo>
                        <a:pt x="8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1" name="Freeform 23"/>
                <p:cNvSpPr/>
                <p:nvPr/>
              </p:nvSpPr>
              <p:spPr bwMode="auto">
                <a:xfrm>
                  <a:off x="1401" y="3633"/>
                  <a:ext cx="76" cy="76"/>
                </a:xfrm>
                <a:custGeom>
                  <a:avLst/>
                  <a:gdLst>
                    <a:gd name="T0" fmla="*/ 0 w 189"/>
                    <a:gd name="T1" fmla="*/ 189 h 189"/>
                    <a:gd name="T2" fmla="*/ 188 w 189"/>
                    <a:gd name="T3" fmla="*/ 0 h 189"/>
                    <a:gd name="T4" fmla="*/ 189 w 189"/>
                    <a:gd name="T5" fmla="*/ 0 h 189"/>
                  </a:gdLst>
                  <a:ahLst/>
                  <a:cxnLst>
                    <a:cxn ang="0">
                      <a:pos x="T0" y="T1"/>
                    </a:cxn>
                    <a:cxn ang="0">
                      <a:pos x="T2" y="T3"/>
                    </a:cxn>
                    <a:cxn ang="0">
                      <a:pos x="T4" y="T5"/>
                    </a:cxn>
                  </a:cxnLst>
                  <a:rect l="0" t="0" r="r" b="b"/>
                  <a:pathLst>
                    <a:path w="189" h="189">
                      <a:moveTo>
                        <a:pt x="0" y="189"/>
                      </a:moveTo>
                      <a:lnTo>
                        <a:pt x="188" y="0"/>
                      </a:lnTo>
                      <a:lnTo>
                        <a:pt x="18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2" name="Freeform 24"/>
                <p:cNvSpPr/>
                <p:nvPr/>
              </p:nvSpPr>
              <p:spPr bwMode="auto">
                <a:xfrm>
                  <a:off x="975" y="2487"/>
                  <a:ext cx="101" cy="101"/>
                </a:xfrm>
                <a:custGeom>
                  <a:avLst/>
                  <a:gdLst>
                    <a:gd name="T0" fmla="*/ 0 w 250"/>
                    <a:gd name="T1" fmla="*/ 251 h 251"/>
                    <a:gd name="T2" fmla="*/ 249 w 250"/>
                    <a:gd name="T3" fmla="*/ 0 h 251"/>
                    <a:gd name="T4" fmla="*/ 250 w 250"/>
                    <a:gd name="T5" fmla="*/ 0 h 251"/>
                  </a:gdLst>
                  <a:ahLst/>
                  <a:cxnLst>
                    <a:cxn ang="0">
                      <a:pos x="T0" y="T1"/>
                    </a:cxn>
                    <a:cxn ang="0">
                      <a:pos x="T2" y="T3"/>
                    </a:cxn>
                    <a:cxn ang="0">
                      <a:pos x="T4" y="T5"/>
                    </a:cxn>
                  </a:cxnLst>
                  <a:rect l="0" t="0" r="r" b="b"/>
                  <a:pathLst>
                    <a:path w="250" h="251">
                      <a:moveTo>
                        <a:pt x="0" y="251"/>
                      </a:moveTo>
                      <a:lnTo>
                        <a:pt x="249" y="0"/>
                      </a:lnTo>
                      <a:lnTo>
                        <a:pt x="25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3" name="Freeform 25"/>
                <p:cNvSpPr/>
                <p:nvPr/>
              </p:nvSpPr>
              <p:spPr bwMode="auto">
                <a:xfrm>
                  <a:off x="1011" y="2487"/>
                  <a:ext cx="111" cy="115"/>
                </a:xfrm>
                <a:custGeom>
                  <a:avLst/>
                  <a:gdLst>
                    <a:gd name="T0" fmla="*/ 0 w 286"/>
                    <a:gd name="T1" fmla="*/ 285 h 285"/>
                    <a:gd name="T2" fmla="*/ 285 w 286"/>
                    <a:gd name="T3" fmla="*/ 0 h 285"/>
                    <a:gd name="T4" fmla="*/ 286 w 286"/>
                    <a:gd name="T5" fmla="*/ 0 h 285"/>
                  </a:gdLst>
                  <a:ahLst/>
                  <a:cxnLst>
                    <a:cxn ang="0">
                      <a:pos x="T0" y="T1"/>
                    </a:cxn>
                    <a:cxn ang="0">
                      <a:pos x="T2" y="T3"/>
                    </a:cxn>
                    <a:cxn ang="0">
                      <a:pos x="T4" y="T5"/>
                    </a:cxn>
                  </a:cxnLst>
                  <a:rect l="0" t="0" r="r" b="b"/>
                  <a:pathLst>
                    <a:path w="286" h="285">
                      <a:moveTo>
                        <a:pt x="0" y="285"/>
                      </a:moveTo>
                      <a:lnTo>
                        <a:pt x="285" y="0"/>
                      </a:lnTo>
                      <a:lnTo>
                        <a:pt x="286"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4" name="Freeform 26"/>
                <p:cNvSpPr/>
                <p:nvPr/>
              </p:nvSpPr>
              <p:spPr bwMode="auto">
                <a:xfrm>
                  <a:off x="1050" y="2487"/>
                  <a:ext cx="123" cy="122"/>
                </a:xfrm>
                <a:custGeom>
                  <a:avLst/>
                  <a:gdLst>
                    <a:gd name="T0" fmla="*/ 0 w 305"/>
                    <a:gd name="T1" fmla="*/ 304 h 304"/>
                    <a:gd name="T2" fmla="*/ 304 w 305"/>
                    <a:gd name="T3" fmla="*/ 0 h 304"/>
                    <a:gd name="T4" fmla="*/ 305 w 305"/>
                    <a:gd name="T5" fmla="*/ 0 h 304"/>
                  </a:gdLst>
                  <a:ahLst/>
                  <a:cxnLst>
                    <a:cxn ang="0">
                      <a:pos x="T0" y="T1"/>
                    </a:cxn>
                    <a:cxn ang="0">
                      <a:pos x="T2" y="T3"/>
                    </a:cxn>
                    <a:cxn ang="0">
                      <a:pos x="T4" y="T5"/>
                    </a:cxn>
                  </a:cxnLst>
                  <a:rect l="0" t="0" r="r" b="b"/>
                  <a:pathLst>
                    <a:path w="305" h="304">
                      <a:moveTo>
                        <a:pt x="0" y="304"/>
                      </a:moveTo>
                      <a:lnTo>
                        <a:pt x="304" y="0"/>
                      </a:lnTo>
                      <a:lnTo>
                        <a:pt x="305"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5" name="Freeform 27"/>
                <p:cNvSpPr/>
                <p:nvPr/>
              </p:nvSpPr>
              <p:spPr bwMode="auto">
                <a:xfrm>
                  <a:off x="1090" y="2487"/>
                  <a:ext cx="130" cy="130"/>
                </a:xfrm>
                <a:custGeom>
                  <a:avLst/>
                  <a:gdLst>
                    <a:gd name="T0" fmla="*/ 0 w 324"/>
                    <a:gd name="T1" fmla="*/ 323 h 323"/>
                    <a:gd name="T2" fmla="*/ 323 w 324"/>
                    <a:gd name="T3" fmla="*/ 0 h 323"/>
                    <a:gd name="T4" fmla="*/ 324 w 324"/>
                    <a:gd name="T5" fmla="*/ 0 h 323"/>
                  </a:gdLst>
                  <a:ahLst/>
                  <a:cxnLst>
                    <a:cxn ang="0">
                      <a:pos x="T0" y="T1"/>
                    </a:cxn>
                    <a:cxn ang="0">
                      <a:pos x="T2" y="T3"/>
                    </a:cxn>
                    <a:cxn ang="0">
                      <a:pos x="T4" y="T5"/>
                    </a:cxn>
                  </a:cxnLst>
                  <a:rect l="0" t="0" r="r" b="b"/>
                  <a:pathLst>
                    <a:path w="324" h="323">
                      <a:moveTo>
                        <a:pt x="0" y="323"/>
                      </a:moveTo>
                      <a:lnTo>
                        <a:pt x="323" y="0"/>
                      </a:lnTo>
                      <a:lnTo>
                        <a:pt x="324"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6" name="Freeform 28"/>
                <p:cNvSpPr/>
                <p:nvPr/>
              </p:nvSpPr>
              <p:spPr bwMode="auto">
                <a:xfrm>
                  <a:off x="1173" y="2415"/>
                  <a:ext cx="217" cy="215"/>
                </a:xfrm>
                <a:custGeom>
                  <a:avLst/>
                  <a:gdLst>
                    <a:gd name="T0" fmla="*/ 0 w 541"/>
                    <a:gd name="T1" fmla="*/ 540 h 540"/>
                    <a:gd name="T2" fmla="*/ 540 w 541"/>
                    <a:gd name="T3" fmla="*/ 0 h 540"/>
                    <a:gd name="T4" fmla="*/ 541 w 541"/>
                    <a:gd name="T5" fmla="*/ 0 h 540"/>
                  </a:gdLst>
                  <a:ahLst/>
                  <a:cxnLst>
                    <a:cxn ang="0">
                      <a:pos x="T0" y="T1"/>
                    </a:cxn>
                    <a:cxn ang="0">
                      <a:pos x="T2" y="T3"/>
                    </a:cxn>
                    <a:cxn ang="0">
                      <a:pos x="T4" y="T5"/>
                    </a:cxn>
                  </a:cxnLst>
                  <a:rect l="0" t="0" r="r" b="b"/>
                  <a:pathLst>
                    <a:path w="541" h="540">
                      <a:moveTo>
                        <a:pt x="0" y="540"/>
                      </a:moveTo>
                      <a:lnTo>
                        <a:pt x="540" y="0"/>
                      </a:lnTo>
                      <a:lnTo>
                        <a:pt x="54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7" name="Freeform 29"/>
                <p:cNvSpPr/>
                <p:nvPr/>
              </p:nvSpPr>
              <p:spPr bwMode="auto">
                <a:xfrm>
                  <a:off x="1213" y="2415"/>
                  <a:ext cx="224" cy="223"/>
                </a:xfrm>
                <a:custGeom>
                  <a:avLst/>
                  <a:gdLst>
                    <a:gd name="T0" fmla="*/ 0 w 560"/>
                    <a:gd name="T1" fmla="*/ 560 h 560"/>
                    <a:gd name="T2" fmla="*/ 559 w 560"/>
                    <a:gd name="T3" fmla="*/ 0 h 560"/>
                    <a:gd name="T4" fmla="*/ 560 w 560"/>
                    <a:gd name="T5" fmla="*/ 0 h 560"/>
                  </a:gdLst>
                  <a:ahLst/>
                  <a:cxnLst>
                    <a:cxn ang="0">
                      <a:pos x="T0" y="T1"/>
                    </a:cxn>
                    <a:cxn ang="0">
                      <a:pos x="T2" y="T3"/>
                    </a:cxn>
                    <a:cxn ang="0">
                      <a:pos x="T4" y="T5"/>
                    </a:cxn>
                  </a:cxnLst>
                  <a:rect l="0" t="0" r="r" b="b"/>
                  <a:pathLst>
                    <a:path w="560" h="560">
                      <a:moveTo>
                        <a:pt x="0" y="560"/>
                      </a:moveTo>
                      <a:lnTo>
                        <a:pt x="559" y="0"/>
                      </a:lnTo>
                      <a:lnTo>
                        <a:pt x="56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8" name="Freeform 30"/>
                <p:cNvSpPr/>
                <p:nvPr/>
              </p:nvSpPr>
              <p:spPr bwMode="auto">
                <a:xfrm>
                  <a:off x="1250" y="2422"/>
                  <a:ext cx="227" cy="231"/>
                </a:xfrm>
                <a:custGeom>
                  <a:avLst/>
                  <a:gdLst>
                    <a:gd name="T0" fmla="*/ 0 w 570"/>
                    <a:gd name="T1" fmla="*/ 569 h 569"/>
                    <a:gd name="T2" fmla="*/ 569 w 570"/>
                    <a:gd name="T3" fmla="*/ 0 h 569"/>
                    <a:gd name="T4" fmla="*/ 570 w 570"/>
                    <a:gd name="T5" fmla="*/ 0 h 569"/>
                  </a:gdLst>
                  <a:ahLst/>
                  <a:cxnLst>
                    <a:cxn ang="0">
                      <a:pos x="T0" y="T1"/>
                    </a:cxn>
                    <a:cxn ang="0">
                      <a:pos x="T2" y="T3"/>
                    </a:cxn>
                    <a:cxn ang="0">
                      <a:pos x="T4" y="T5"/>
                    </a:cxn>
                  </a:cxnLst>
                  <a:rect l="0" t="0" r="r" b="b"/>
                  <a:pathLst>
                    <a:path w="570" h="569">
                      <a:moveTo>
                        <a:pt x="0" y="569"/>
                      </a:moveTo>
                      <a:lnTo>
                        <a:pt x="569" y="0"/>
                      </a:lnTo>
                      <a:lnTo>
                        <a:pt x="57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39" name="Freeform 31"/>
                <p:cNvSpPr/>
                <p:nvPr/>
              </p:nvSpPr>
              <p:spPr bwMode="auto">
                <a:xfrm>
                  <a:off x="1264" y="2472"/>
                  <a:ext cx="213" cy="213"/>
                </a:xfrm>
                <a:custGeom>
                  <a:avLst/>
                  <a:gdLst>
                    <a:gd name="T0" fmla="*/ 0 w 538"/>
                    <a:gd name="T1" fmla="*/ 538 h 538"/>
                    <a:gd name="T2" fmla="*/ 537 w 538"/>
                    <a:gd name="T3" fmla="*/ 0 h 538"/>
                    <a:gd name="T4" fmla="*/ 538 w 538"/>
                    <a:gd name="T5" fmla="*/ 0 h 538"/>
                  </a:gdLst>
                  <a:ahLst/>
                  <a:cxnLst>
                    <a:cxn ang="0">
                      <a:pos x="T0" y="T1"/>
                    </a:cxn>
                    <a:cxn ang="0">
                      <a:pos x="T2" y="T3"/>
                    </a:cxn>
                    <a:cxn ang="0">
                      <a:pos x="T4" y="T5"/>
                    </a:cxn>
                  </a:cxnLst>
                  <a:rect l="0" t="0" r="r" b="b"/>
                  <a:pathLst>
                    <a:path w="538" h="538">
                      <a:moveTo>
                        <a:pt x="0" y="538"/>
                      </a:moveTo>
                      <a:lnTo>
                        <a:pt x="537" y="0"/>
                      </a:lnTo>
                      <a:lnTo>
                        <a:pt x="53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0" name="Freeform 32"/>
                <p:cNvSpPr/>
                <p:nvPr/>
              </p:nvSpPr>
              <p:spPr bwMode="auto">
                <a:xfrm>
                  <a:off x="1264" y="2555"/>
                  <a:ext cx="177" cy="181"/>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1" name="Freeform 33"/>
                <p:cNvSpPr/>
                <p:nvPr/>
              </p:nvSpPr>
              <p:spPr bwMode="auto">
                <a:xfrm>
                  <a:off x="1264" y="2606"/>
                  <a:ext cx="177" cy="177"/>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2" name="Freeform 34"/>
                <p:cNvSpPr/>
                <p:nvPr/>
              </p:nvSpPr>
              <p:spPr bwMode="auto">
                <a:xfrm>
                  <a:off x="1264" y="2653"/>
                  <a:ext cx="177" cy="179"/>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3" name="Freeform 35"/>
                <p:cNvSpPr/>
                <p:nvPr/>
              </p:nvSpPr>
              <p:spPr bwMode="auto">
                <a:xfrm>
                  <a:off x="1264" y="2700"/>
                  <a:ext cx="177" cy="179"/>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4" name="Freeform 36"/>
                <p:cNvSpPr/>
                <p:nvPr/>
              </p:nvSpPr>
              <p:spPr bwMode="auto">
                <a:xfrm>
                  <a:off x="1264" y="2749"/>
                  <a:ext cx="177" cy="181"/>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5" name="Freeform 37"/>
                <p:cNvSpPr/>
                <p:nvPr/>
              </p:nvSpPr>
              <p:spPr bwMode="auto">
                <a:xfrm>
                  <a:off x="1264" y="2796"/>
                  <a:ext cx="177" cy="181"/>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6" name="Freeform 38"/>
                <p:cNvSpPr/>
                <p:nvPr/>
              </p:nvSpPr>
              <p:spPr bwMode="auto">
                <a:xfrm>
                  <a:off x="1264" y="2847"/>
                  <a:ext cx="177" cy="177"/>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7" name="Freeform 39"/>
                <p:cNvSpPr/>
                <p:nvPr/>
              </p:nvSpPr>
              <p:spPr bwMode="auto">
                <a:xfrm>
                  <a:off x="1264" y="2894"/>
                  <a:ext cx="177" cy="180"/>
                </a:xfrm>
                <a:custGeom>
                  <a:avLst/>
                  <a:gdLst>
                    <a:gd name="T0" fmla="*/ 0 w 448"/>
                    <a:gd name="T1" fmla="*/ 448 h 448"/>
                    <a:gd name="T2" fmla="*/ 30 w 448"/>
                    <a:gd name="T3" fmla="*/ 417 h 448"/>
                    <a:gd name="T4" fmla="*/ 447 w 448"/>
                    <a:gd name="T5" fmla="*/ 0 h 448"/>
                    <a:gd name="T6" fmla="*/ 448 w 448"/>
                    <a:gd name="T7" fmla="*/ 0 h 448"/>
                  </a:gdLst>
                  <a:ahLst/>
                  <a:cxnLst>
                    <a:cxn ang="0">
                      <a:pos x="T0" y="T1"/>
                    </a:cxn>
                    <a:cxn ang="0">
                      <a:pos x="T2" y="T3"/>
                    </a:cxn>
                    <a:cxn ang="0">
                      <a:pos x="T4" y="T5"/>
                    </a:cxn>
                    <a:cxn ang="0">
                      <a:pos x="T6" y="T7"/>
                    </a:cxn>
                  </a:cxnLst>
                  <a:rect l="0" t="0" r="r" b="b"/>
                  <a:pathLst>
                    <a:path w="448" h="448">
                      <a:moveTo>
                        <a:pt x="0" y="448"/>
                      </a:moveTo>
                      <a:lnTo>
                        <a:pt x="30" y="417"/>
                      </a:ln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8" name="Freeform 40"/>
                <p:cNvSpPr/>
                <p:nvPr/>
              </p:nvSpPr>
              <p:spPr bwMode="auto">
                <a:xfrm>
                  <a:off x="1264" y="2941"/>
                  <a:ext cx="177" cy="180"/>
                </a:xfrm>
                <a:custGeom>
                  <a:avLst/>
                  <a:gdLst>
                    <a:gd name="T0" fmla="*/ 0 w 448"/>
                    <a:gd name="T1" fmla="*/ 448 h 448"/>
                    <a:gd name="T2" fmla="*/ 151 w 448"/>
                    <a:gd name="T3" fmla="*/ 296 h 448"/>
                    <a:gd name="T4" fmla="*/ 447 w 448"/>
                    <a:gd name="T5" fmla="*/ 0 h 448"/>
                    <a:gd name="T6" fmla="*/ 448 w 448"/>
                    <a:gd name="T7" fmla="*/ 0 h 448"/>
                  </a:gdLst>
                  <a:ahLst/>
                  <a:cxnLst>
                    <a:cxn ang="0">
                      <a:pos x="T0" y="T1"/>
                    </a:cxn>
                    <a:cxn ang="0">
                      <a:pos x="T2" y="T3"/>
                    </a:cxn>
                    <a:cxn ang="0">
                      <a:pos x="T4" y="T5"/>
                    </a:cxn>
                    <a:cxn ang="0">
                      <a:pos x="T6" y="T7"/>
                    </a:cxn>
                  </a:cxnLst>
                  <a:rect l="0" t="0" r="r" b="b"/>
                  <a:pathLst>
                    <a:path w="448" h="448">
                      <a:moveTo>
                        <a:pt x="0" y="448"/>
                      </a:moveTo>
                      <a:lnTo>
                        <a:pt x="151" y="296"/>
                      </a:ln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49" name="Freeform 41"/>
                <p:cNvSpPr/>
                <p:nvPr/>
              </p:nvSpPr>
              <p:spPr bwMode="auto">
                <a:xfrm>
                  <a:off x="1264" y="2991"/>
                  <a:ext cx="177" cy="181"/>
                </a:xfrm>
                <a:custGeom>
                  <a:avLst/>
                  <a:gdLst>
                    <a:gd name="T0" fmla="*/ 0 w 448"/>
                    <a:gd name="T1" fmla="*/ 448 h 448"/>
                    <a:gd name="T2" fmla="*/ 271 w 448"/>
                    <a:gd name="T3" fmla="*/ 175 h 448"/>
                    <a:gd name="T4" fmla="*/ 447 w 448"/>
                    <a:gd name="T5" fmla="*/ 0 h 448"/>
                    <a:gd name="T6" fmla="*/ 448 w 448"/>
                    <a:gd name="T7" fmla="*/ 0 h 448"/>
                  </a:gdLst>
                  <a:ahLst/>
                  <a:cxnLst>
                    <a:cxn ang="0">
                      <a:pos x="T0" y="T1"/>
                    </a:cxn>
                    <a:cxn ang="0">
                      <a:pos x="T2" y="T3"/>
                    </a:cxn>
                    <a:cxn ang="0">
                      <a:pos x="T4" y="T5"/>
                    </a:cxn>
                    <a:cxn ang="0">
                      <a:pos x="T6" y="T7"/>
                    </a:cxn>
                  </a:cxnLst>
                  <a:rect l="0" t="0" r="r" b="b"/>
                  <a:pathLst>
                    <a:path w="448" h="448">
                      <a:moveTo>
                        <a:pt x="0" y="448"/>
                      </a:moveTo>
                      <a:lnTo>
                        <a:pt x="271" y="175"/>
                      </a:ln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0" name="Freeform 42"/>
                <p:cNvSpPr/>
                <p:nvPr/>
              </p:nvSpPr>
              <p:spPr bwMode="auto">
                <a:xfrm>
                  <a:off x="1264" y="3038"/>
                  <a:ext cx="177" cy="181"/>
                </a:xfrm>
                <a:custGeom>
                  <a:avLst/>
                  <a:gdLst>
                    <a:gd name="T0" fmla="*/ 0 w 448"/>
                    <a:gd name="T1" fmla="*/ 447 h 447"/>
                    <a:gd name="T2" fmla="*/ 392 w 448"/>
                    <a:gd name="T3" fmla="*/ 54 h 447"/>
                    <a:gd name="T4" fmla="*/ 447 w 448"/>
                    <a:gd name="T5" fmla="*/ 0 h 447"/>
                    <a:gd name="T6" fmla="*/ 448 w 448"/>
                    <a:gd name="T7" fmla="*/ 0 h 447"/>
                  </a:gdLst>
                  <a:ahLst/>
                  <a:cxnLst>
                    <a:cxn ang="0">
                      <a:pos x="T0" y="T1"/>
                    </a:cxn>
                    <a:cxn ang="0">
                      <a:pos x="T2" y="T3"/>
                    </a:cxn>
                    <a:cxn ang="0">
                      <a:pos x="T4" y="T5"/>
                    </a:cxn>
                    <a:cxn ang="0">
                      <a:pos x="T6" y="T7"/>
                    </a:cxn>
                  </a:cxnLst>
                  <a:rect l="0" t="0" r="r" b="b"/>
                  <a:pathLst>
                    <a:path w="448" h="447">
                      <a:moveTo>
                        <a:pt x="0" y="447"/>
                      </a:moveTo>
                      <a:lnTo>
                        <a:pt x="392" y="54"/>
                      </a:ln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1" name="Freeform 43"/>
                <p:cNvSpPr/>
                <p:nvPr/>
              </p:nvSpPr>
              <p:spPr bwMode="auto">
                <a:xfrm>
                  <a:off x="1264" y="3089"/>
                  <a:ext cx="177" cy="177"/>
                </a:xfrm>
                <a:custGeom>
                  <a:avLst/>
                  <a:gdLst>
                    <a:gd name="T0" fmla="*/ 0 w 448"/>
                    <a:gd name="T1" fmla="*/ 449 h 449"/>
                    <a:gd name="T2" fmla="*/ 447 w 448"/>
                    <a:gd name="T3" fmla="*/ 0 h 449"/>
                    <a:gd name="T4" fmla="*/ 448 w 448"/>
                    <a:gd name="T5" fmla="*/ 0 h 449"/>
                  </a:gdLst>
                  <a:ahLst/>
                  <a:cxnLst>
                    <a:cxn ang="0">
                      <a:pos x="T0" y="T1"/>
                    </a:cxn>
                    <a:cxn ang="0">
                      <a:pos x="T2" y="T3"/>
                    </a:cxn>
                    <a:cxn ang="0">
                      <a:pos x="T4" y="T5"/>
                    </a:cxn>
                  </a:cxnLst>
                  <a:rect l="0" t="0" r="r" b="b"/>
                  <a:pathLst>
                    <a:path w="448" h="449">
                      <a:moveTo>
                        <a:pt x="0" y="449"/>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2" name="Freeform 44"/>
                <p:cNvSpPr/>
                <p:nvPr/>
              </p:nvSpPr>
              <p:spPr bwMode="auto">
                <a:xfrm>
                  <a:off x="975" y="3511"/>
                  <a:ext cx="94" cy="93"/>
                </a:xfrm>
                <a:custGeom>
                  <a:avLst/>
                  <a:gdLst>
                    <a:gd name="T0" fmla="*/ 0 w 230"/>
                    <a:gd name="T1" fmla="*/ 230 h 230"/>
                    <a:gd name="T2" fmla="*/ 229 w 230"/>
                    <a:gd name="T3" fmla="*/ 0 h 230"/>
                    <a:gd name="T4" fmla="*/ 230 w 230"/>
                    <a:gd name="T5" fmla="*/ 0 h 230"/>
                  </a:gdLst>
                  <a:ahLst/>
                  <a:cxnLst>
                    <a:cxn ang="0">
                      <a:pos x="T0" y="T1"/>
                    </a:cxn>
                    <a:cxn ang="0">
                      <a:pos x="T2" y="T3"/>
                    </a:cxn>
                    <a:cxn ang="0">
                      <a:pos x="T4" y="T5"/>
                    </a:cxn>
                  </a:cxnLst>
                  <a:rect l="0" t="0" r="r" b="b"/>
                  <a:pathLst>
                    <a:path w="230" h="230">
                      <a:moveTo>
                        <a:pt x="0" y="230"/>
                      </a:moveTo>
                      <a:lnTo>
                        <a:pt x="229" y="0"/>
                      </a:lnTo>
                      <a:lnTo>
                        <a:pt x="23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3" name="Freeform 45"/>
                <p:cNvSpPr/>
                <p:nvPr/>
              </p:nvSpPr>
              <p:spPr bwMode="auto">
                <a:xfrm>
                  <a:off x="1264" y="3136"/>
                  <a:ext cx="177" cy="179"/>
                </a:xfrm>
                <a:custGeom>
                  <a:avLst/>
                  <a:gdLst>
                    <a:gd name="T0" fmla="*/ 0 w 448"/>
                    <a:gd name="T1" fmla="*/ 449 h 449"/>
                    <a:gd name="T2" fmla="*/ 447 w 448"/>
                    <a:gd name="T3" fmla="*/ 0 h 449"/>
                    <a:gd name="T4" fmla="*/ 448 w 448"/>
                    <a:gd name="T5" fmla="*/ 0 h 449"/>
                  </a:gdLst>
                  <a:ahLst/>
                  <a:cxnLst>
                    <a:cxn ang="0">
                      <a:pos x="T0" y="T1"/>
                    </a:cxn>
                    <a:cxn ang="0">
                      <a:pos x="T2" y="T3"/>
                    </a:cxn>
                    <a:cxn ang="0">
                      <a:pos x="T4" y="T5"/>
                    </a:cxn>
                  </a:cxnLst>
                  <a:rect l="0" t="0" r="r" b="b"/>
                  <a:pathLst>
                    <a:path w="448" h="449">
                      <a:moveTo>
                        <a:pt x="0" y="449"/>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4" name="Freeform 46"/>
                <p:cNvSpPr/>
                <p:nvPr/>
              </p:nvSpPr>
              <p:spPr bwMode="auto">
                <a:xfrm>
                  <a:off x="990" y="3500"/>
                  <a:ext cx="136" cy="136"/>
                </a:xfrm>
                <a:custGeom>
                  <a:avLst/>
                  <a:gdLst>
                    <a:gd name="T0" fmla="*/ 0 w 341"/>
                    <a:gd name="T1" fmla="*/ 340 h 340"/>
                    <a:gd name="T2" fmla="*/ 340 w 341"/>
                    <a:gd name="T3" fmla="*/ 0 h 340"/>
                    <a:gd name="T4" fmla="*/ 341 w 341"/>
                    <a:gd name="T5" fmla="*/ 0 h 340"/>
                  </a:gdLst>
                  <a:ahLst/>
                  <a:cxnLst>
                    <a:cxn ang="0">
                      <a:pos x="T0" y="T1"/>
                    </a:cxn>
                    <a:cxn ang="0">
                      <a:pos x="T2" y="T3"/>
                    </a:cxn>
                    <a:cxn ang="0">
                      <a:pos x="T4" y="T5"/>
                    </a:cxn>
                  </a:cxnLst>
                  <a:rect l="0" t="0" r="r" b="b"/>
                  <a:pathLst>
                    <a:path w="341" h="340">
                      <a:moveTo>
                        <a:pt x="0" y="340"/>
                      </a:moveTo>
                      <a:lnTo>
                        <a:pt x="340" y="0"/>
                      </a:lnTo>
                      <a:lnTo>
                        <a:pt x="34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5" name="Freeform 47"/>
                <p:cNvSpPr/>
                <p:nvPr/>
              </p:nvSpPr>
              <p:spPr bwMode="auto">
                <a:xfrm>
                  <a:off x="1264" y="3183"/>
                  <a:ext cx="177" cy="180"/>
                </a:xfrm>
                <a:custGeom>
                  <a:avLst/>
                  <a:gdLst>
                    <a:gd name="T0" fmla="*/ 0 w 448"/>
                    <a:gd name="T1" fmla="*/ 449 h 449"/>
                    <a:gd name="T2" fmla="*/ 447 w 448"/>
                    <a:gd name="T3" fmla="*/ 0 h 449"/>
                    <a:gd name="T4" fmla="*/ 448 w 448"/>
                    <a:gd name="T5" fmla="*/ 0 h 449"/>
                  </a:gdLst>
                  <a:ahLst/>
                  <a:cxnLst>
                    <a:cxn ang="0">
                      <a:pos x="T0" y="T1"/>
                    </a:cxn>
                    <a:cxn ang="0">
                      <a:pos x="T2" y="T3"/>
                    </a:cxn>
                    <a:cxn ang="0">
                      <a:pos x="T4" y="T5"/>
                    </a:cxn>
                  </a:cxnLst>
                  <a:rect l="0" t="0" r="r" b="b"/>
                  <a:pathLst>
                    <a:path w="448" h="449">
                      <a:moveTo>
                        <a:pt x="0" y="449"/>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6" name="Freeform 48"/>
                <p:cNvSpPr/>
                <p:nvPr/>
              </p:nvSpPr>
              <p:spPr bwMode="auto">
                <a:xfrm>
                  <a:off x="1039" y="3489"/>
                  <a:ext cx="149" cy="147"/>
                </a:xfrm>
                <a:custGeom>
                  <a:avLst/>
                  <a:gdLst>
                    <a:gd name="T0" fmla="*/ 0 w 369"/>
                    <a:gd name="T1" fmla="*/ 367 h 367"/>
                    <a:gd name="T2" fmla="*/ 368 w 369"/>
                    <a:gd name="T3" fmla="*/ 0 h 367"/>
                    <a:gd name="T4" fmla="*/ 369 w 369"/>
                    <a:gd name="T5" fmla="*/ 0 h 367"/>
                  </a:gdLst>
                  <a:ahLst/>
                  <a:cxnLst>
                    <a:cxn ang="0">
                      <a:pos x="T0" y="T1"/>
                    </a:cxn>
                    <a:cxn ang="0">
                      <a:pos x="T2" y="T3"/>
                    </a:cxn>
                    <a:cxn ang="0">
                      <a:pos x="T4" y="T5"/>
                    </a:cxn>
                  </a:cxnLst>
                  <a:rect l="0" t="0" r="r" b="b"/>
                  <a:pathLst>
                    <a:path w="369" h="367">
                      <a:moveTo>
                        <a:pt x="0" y="367"/>
                      </a:moveTo>
                      <a:lnTo>
                        <a:pt x="368" y="0"/>
                      </a:lnTo>
                      <a:lnTo>
                        <a:pt x="36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7" name="Freeform 49"/>
                <p:cNvSpPr/>
                <p:nvPr/>
              </p:nvSpPr>
              <p:spPr bwMode="auto">
                <a:xfrm>
                  <a:off x="1264" y="3232"/>
                  <a:ext cx="177" cy="181"/>
                </a:xfrm>
                <a:custGeom>
                  <a:avLst/>
                  <a:gdLst>
                    <a:gd name="T0" fmla="*/ 0 w 448"/>
                    <a:gd name="T1" fmla="*/ 447 h 447"/>
                    <a:gd name="T2" fmla="*/ 447 w 448"/>
                    <a:gd name="T3" fmla="*/ 0 h 447"/>
                    <a:gd name="T4" fmla="*/ 448 w 448"/>
                    <a:gd name="T5" fmla="*/ 0 h 447"/>
                  </a:gdLst>
                  <a:ahLst/>
                  <a:cxnLst>
                    <a:cxn ang="0">
                      <a:pos x="T0" y="T1"/>
                    </a:cxn>
                    <a:cxn ang="0">
                      <a:pos x="T2" y="T3"/>
                    </a:cxn>
                    <a:cxn ang="0">
                      <a:pos x="T4" y="T5"/>
                    </a:cxn>
                  </a:cxnLst>
                  <a:rect l="0" t="0" r="r" b="b"/>
                  <a:pathLst>
                    <a:path w="448" h="447">
                      <a:moveTo>
                        <a:pt x="0" y="447"/>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8" name="Freeform 50"/>
                <p:cNvSpPr/>
                <p:nvPr/>
              </p:nvSpPr>
              <p:spPr bwMode="auto">
                <a:xfrm>
                  <a:off x="1086" y="3280"/>
                  <a:ext cx="355" cy="356"/>
                </a:xfrm>
                <a:custGeom>
                  <a:avLst/>
                  <a:gdLst>
                    <a:gd name="T0" fmla="*/ 0 w 886"/>
                    <a:gd name="T1" fmla="*/ 886 h 886"/>
                    <a:gd name="T2" fmla="*/ 885 w 886"/>
                    <a:gd name="T3" fmla="*/ 0 h 886"/>
                    <a:gd name="T4" fmla="*/ 886 w 886"/>
                    <a:gd name="T5" fmla="*/ 0 h 886"/>
                  </a:gdLst>
                  <a:ahLst/>
                  <a:cxnLst>
                    <a:cxn ang="0">
                      <a:pos x="T0" y="T1"/>
                    </a:cxn>
                    <a:cxn ang="0">
                      <a:pos x="T2" y="T3"/>
                    </a:cxn>
                    <a:cxn ang="0">
                      <a:pos x="T4" y="T5"/>
                    </a:cxn>
                  </a:cxnLst>
                  <a:rect l="0" t="0" r="r" b="b"/>
                  <a:pathLst>
                    <a:path w="886" h="886">
                      <a:moveTo>
                        <a:pt x="0" y="886"/>
                      </a:moveTo>
                      <a:lnTo>
                        <a:pt x="885" y="0"/>
                      </a:lnTo>
                      <a:lnTo>
                        <a:pt x="886" y="0"/>
                      </a:lnTo>
                    </a:path>
                  </a:pathLst>
                </a:custGeom>
                <a:noFill/>
                <a:ln w="1905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59" name="Freeform 51"/>
                <p:cNvSpPr/>
                <p:nvPr/>
              </p:nvSpPr>
              <p:spPr bwMode="auto">
                <a:xfrm>
                  <a:off x="1133" y="3330"/>
                  <a:ext cx="308" cy="306"/>
                </a:xfrm>
                <a:custGeom>
                  <a:avLst/>
                  <a:gdLst>
                    <a:gd name="T0" fmla="*/ 0 w 765"/>
                    <a:gd name="T1" fmla="*/ 765 h 765"/>
                    <a:gd name="T2" fmla="*/ 764 w 765"/>
                    <a:gd name="T3" fmla="*/ 0 h 765"/>
                    <a:gd name="T4" fmla="*/ 765 w 765"/>
                    <a:gd name="T5" fmla="*/ 0 h 765"/>
                  </a:gdLst>
                  <a:ahLst/>
                  <a:cxnLst>
                    <a:cxn ang="0">
                      <a:pos x="T0" y="T1"/>
                    </a:cxn>
                    <a:cxn ang="0">
                      <a:pos x="T2" y="T3"/>
                    </a:cxn>
                    <a:cxn ang="0">
                      <a:pos x="T4" y="T5"/>
                    </a:cxn>
                  </a:cxnLst>
                  <a:rect l="0" t="0" r="r" b="b"/>
                  <a:pathLst>
                    <a:path w="765" h="765">
                      <a:moveTo>
                        <a:pt x="0" y="765"/>
                      </a:moveTo>
                      <a:lnTo>
                        <a:pt x="764" y="0"/>
                      </a:lnTo>
                      <a:lnTo>
                        <a:pt x="765"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0" name="Freeform 52"/>
                <p:cNvSpPr/>
                <p:nvPr/>
              </p:nvSpPr>
              <p:spPr bwMode="auto">
                <a:xfrm>
                  <a:off x="1184" y="3377"/>
                  <a:ext cx="257" cy="259"/>
                </a:xfrm>
                <a:custGeom>
                  <a:avLst/>
                  <a:gdLst>
                    <a:gd name="T0" fmla="*/ 0 w 644"/>
                    <a:gd name="T1" fmla="*/ 644 h 644"/>
                    <a:gd name="T2" fmla="*/ 643 w 644"/>
                    <a:gd name="T3" fmla="*/ 0 h 644"/>
                    <a:gd name="T4" fmla="*/ 644 w 644"/>
                    <a:gd name="T5" fmla="*/ 0 h 644"/>
                  </a:gdLst>
                  <a:ahLst/>
                  <a:cxnLst>
                    <a:cxn ang="0">
                      <a:pos x="T0" y="T1"/>
                    </a:cxn>
                    <a:cxn ang="0">
                      <a:pos x="T2" y="T3"/>
                    </a:cxn>
                    <a:cxn ang="0">
                      <a:pos x="T4" y="T5"/>
                    </a:cxn>
                  </a:cxnLst>
                  <a:rect l="0" t="0" r="r" b="b"/>
                  <a:pathLst>
                    <a:path w="644" h="644">
                      <a:moveTo>
                        <a:pt x="0" y="644"/>
                      </a:moveTo>
                      <a:lnTo>
                        <a:pt x="643" y="0"/>
                      </a:lnTo>
                      <a:lnTo>
                        <a:pt x="644"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1" name="Freeform 53"/>
                <p:cNvSpPr/>
                <p:nvPr/>
              </p:nvSpPr>
              <p:spPr bwMode="auto">
                <a:xfrm>
                  <a:off x="1231" y="3428"/>
                  <a:ext cx="210" cy="208"/>
                </a:xfrm>
                <a:custGeom>
                  <a:avLst/>
                  <a:gdLst>
                    <a:gd name="T0" fmla="*/ 0 w 524"/>
                    <a:gd name="T1" fmla="*/ 523 h 523"/>
                    <a:gd name="T2" fmla="*/ 523 w 524"/>
                    <a:gd name="T3" fmla="*/ 0 h 523"/>
                    <a:gd name="T4" fmla="*/ 524 w 524"/>
                    <a:gd name="T5" fmla="*/ 0 h 523"/>
                  </a:gdLst>
                  <a:ahLst/>
                  <a:cxnLst>
                    <a:cxn ang="0">
                      <a:pos x="T0" y="T1"/>
                    </a:cxn>
                    <a:cxn ang="0">
                      <a:pos x="T2" y="T3"/>
                    </a:cxn>
                    <a:cxn ang="0">
                      <a:pos x="T4" y="T5"/>
                    </a:cxn>
                  </a:cxnLst>
                  <a:rect l="0" t="0" r="r" b="b"/>
                  <a:pathLst>
                    <a:path w="524" h="523">
                      <a:moveTo>
                        <a:pt x="0" y="523"/>
                      </a:moveTo>
                      <a:lnTo>
                        <a:pt x="523" y="0"/>
                      </a:lnTo>
                      <a:lnTo>
                        <a:pt x="524"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2" name="Freeform 54"/>
                <p:cNvSpPr/>
                <p:nvPr/>
              </p:nvSpPr>
              <p:spPr bwMode="auto">
                <a:xfrm>
                  <a:off x="1264" y="3474"/>
                  <a:ext cx="177" cy="181"/>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3" name="Freeform 55"/>
                <p:cNvSpPr/>
                <p:nvPr/>
              </p:nvSpPr>
              <p:spPr bwMode="auto">
                <a:xfrm>
                  <a:off x="1264" y="3521"/>
                  <a:ext cx="177" cy="181"/>
                </a:xfrm>
                <a:custGeom>
                  <a:avLst/>
                  <a:gdLst>
                    <a:gd name="T0" fmla="*/ 0 w 448"/>
                    <a:gd name="T1" fmla="*/ 448 h 448"/>
                    <a:gd name="T2" fmla="*/ 447 w 448"/>
                    <a:gd name="T3" fmla="*/ 0 h 448"/>
                    <a:gd name="T4" fmla="*/ 448 w 448"/>
                    <a:gd name="T5" fmla="*/ 0 h 448"/>
                  </a:gdLst>
                  <a:ahLst/>
                  <a:cxnLst>
                    <a:cxn ang="0">
                      <a:pos x="T0" y="T1"/>
                    </a:cxn>
                    <a:cxn ang="0">
                      <a:pos x="T2" y="T3"/>
                    </a:cxn>
                    <a:cxn ang="0">
                      <a:pos x="T4" y="T5"/>
                    </a:cxn>
                  </a:cxnLst>
                  <a:rect l="0" t="0" r="r" b="b"/>
                  <a:pathLst>
                    <a:path w="448" h="448">
                      <a:moveTo>
                        <a:pt x="0" y="448"/>
                      </a:moveTo>
                      <a:lnTo>
                        <a:pt x="447" y="0"/>
                      </a:lnTo>
                      <a:lnTo>
                        <a:pt x="4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4" name="Freeform 56"/>
                <p:cNvSpPr/>
                <p:nvPr/>
              </p:nvSpPr>
              <p:spPr bwMode="auto">
                <a:xfrm>
                  <a:off x="1307" y="3572"/>
                  <a:ext cx="134" cy="137"/>
                </a:xfrm>
                <a:custGeom>
                  <a:avLst/>
                  <a:gdLst>
                    <a:gd name="T0" fmla="*/ 0 w 341"/>
                    <a:gd name="T1" fmla="*/ 340 h 340"/>
                    <a:gd name="T2" fmla="*/ 340 w 341"/>
                    <a:gd name="T3" fmla="*/ 0 h 340"/>
                    <a:gd name="T4" fmla="*/ 341 w 341"/>
                    <a:gd name="T5" fmla="*/ 0 h 340"/>
                  </a:gdLst>
                  <a:ahLst/>
                  <a:cxnLst>
                    <a:cxn ang="0">
                      <a:pos x="T0" y="T1"/>
                    </a:cxn>
                    <a:cxn ang="0">
                      <a:pos x="T2" y="T3"/>
                    </a:cxn>
                    <a:cxn ang="0">
                      <a:pos x="T4" y="T5"/>
                    </a:cxn>
                  </a:cxnLst>
                  <a:rect l="0" t="0" r="r" b="b"/>
                  <a:pathLst>
                    <a:path w="341" h="340">
                      <a:moveTo>
                        <a:pt x="0" y="340"/>
                      </a:moveTo>
                      <a:lnTo>
                        <a:pt x="340" y="0"/>
                      </a:lnTo>
                      <a:lnTo>
                        <a:pt x="34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5" name="Freeform 57"/>
                <p:cNvSpPr/>
                <p:nvPr/>
              </p:nvSpPr>
              <p:spPr bwMode="auto">
                <a:xfrm>
                  <a:off x="1354" y="3608"/>
                  <a:ext cx="102" cy="101"/>
                </a:xfrm>
                <a:custGeom>
                  <a:avLst/>
                  <a:gdLst>
                    <a:gd name="T0" fmla="*/ 0 w 248"/>
                    <a:gd name="T1" fmla="*/ 248 h 248"/>
                    <a:gd name="T2" fmla="*/ 247 w 248"/>
                    <a:gd name="T3" fmla="*/ 0 h 248"/>
                    <a:gd name="T4" fmla="*/ 248 w 248"/>
                    <a:gd name="T5" fmla="*/ 0 h 248"/>
                  </a:gdLst>
                  <a:ahLst/>
                  <a:cxnLst>
                    <a:cxn ang="0">
                      <a:pos x="T0" y="T1"/>
                    </a:cxn>
                    <a:cxn ang="0">
                      <a:pos x="T2" y="T3"/>
                    </a:cxn>
                    <a:cxn ang="0">
                      <a:pos x="T4" y="T5"/>
                    </a:cxn>
                  </a:cxnLst>
                  <a:rect l="0" t="0" r="r" b="b"/>
                  <a:pathLst>
                    <a:path w="248" h="248">
                      <a:moveTo>
                        <a:pt x="0" y="248"/>
                      </a:moveTo>
                      <a:lnTo>
                        <a:pt x="247" y="0"/>
                      </a:lnTo>
                      <a:lnTo>
                        <a:pt x="24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6" name="Freeform 58"/>
                <p:cNvSpPr/>
                <p:nvPr/>
              </p:nvSpPr>
              <p:spPr bwMode="auto">
                <a:xfrm>
                  <a:off x="1264" y="2162"/>
                  <a:ext cx="39" cy="40"/>
                </a:xfrm>
                <a:custGeom>
                  <a:avLst/>
                  <a:gdLst>
                    <a:gd name="T0" fmla="*/ 0 w 99"/>
                    <a:gd name="T1" fmla="*/ 98 h 98"/>
                    <a:gd name="T2" fmla="*/ 98 w 99"/>
                    <a:gd name="T3" fmla="*/ 0 h 98"/>
                    <a:gd name="T4" fmla="*/ 99 w 99"/>
                    <a:gd name="T5" fmla="*/ 0 h 98"/>
                  </a:gdLst>
                  <a:ahLst/>
                  <a:cxnLst>
                    <a:cxn ang="0">
                      <a:pos x="T0" y="T1"/>
                    </a:cxn>
                    <a:cxn ang="0">
                      <a:pos x="T2" y="T3"/>
                    </a:cxn>
                    <a:cxn ang="0">
                      <a:pos x="T4" y="T5"/>
                    </a:cxn>
                  </a:cxnLst>
                  <a:rect l="0" t="0" r="r" b="b"/>
                  <a:pathLst>
                    <a:path w="99" h="98">
                      <a:moveTo>
                        <a:pt x="0" y="98"/>
                      </a:moveTo>
                      <a:lnTo>
                        <a:pt x="98" y="0"/>
                      </a:lnTo>
                      <a:lnTo>
                        <a:pt x="9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7" name="Freeform 59"/>
                <p:cNvSpPr/>
                <p:nvPr/>
              </p:nvSpPr>
              <p:spPr bwMode="auto">
                <a:xfrm>
                  <a:off x="1279" y="2162"/>
                  <a:ext cx="72" cy="72"/>
                </a:xfrm>
                <a:custGeom>
                  <a:avLst/>
                  <a:gdLst>
                    <a:gd name="T0" fmla="*/ 0 w 180"/>
                    <a:gd name="T1" fmla="*/ 179 h 179"/>
                    <a:gd name="T2" fmla="*/ 179 w 180"/>
                    <a:gd name="T3" fmla="*/ 0 h 179"/>
                    <a:gd name="T4" fmla="*/ 180 w 180"/>
                    <a:gd name="T5" fmla="*/ 0 h 179"/>
                  </a:gdLst>
                  <a:ahLst/>
                  <a:cxnLst>
                    <a:cxn ang="0">
                      <a:pos x="T0" y="T1"/>
                    </a:cxn>
                    <a:cxn ang="0">
                      <a:pos x="T2" y="T3"/>
                    </a:cxn>
                    <a:cxn ang="0">
                      <a:pos x="T4" y="T5"/>
                    </a:cxn>
                  </a:cxnLst>
                  <a:rect l="0" t="0" r="r" b="b"/>
                  <a:pathLst>
                    <a:path w="180" h="179">
                      <a:moveTo>
                        <a:pt x="0" y="179"/>
                      </a:moveTo>
                      <a:lnTo>
                        <a:pt x="179" y="0"/>
                      </a:lnTo>
                      <a:lnTo>
                        <a:pt x="18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8" name="Freeform 60"/>
                <p:cNvSpPr/>
                <p:nvPr/>
              </p:nvSpPr>
              <p:spPr bwMode="auto">
                <a:xfrm>
                  <a:off x="1326" y="2162"/>
                  <a:ext cx="72" cy="72"/>
                </a:xfrm>
                <a:custGeom>
                  <a:avLst/>
                  <a:gdLst>
                    <a:gd name="T0" fmla="*/ 0 w 180"/>
                    <a:gd name="T1" fmla="*/ 179 h 179"/>
                    <a:gd name="T2" fmla="*/ 179 w 180"/>
                    <a:gd name="T3" fmla="*/ 0 h 179"/>
                    <a:gd name="T4" fmla="*/ 180 w 180"/>
                    <a:gd name="T5" fmla="*/ 0 h 179"/>
                  </a:gdLst>
                  <a:ahLst/>
                  <a:cxnLst>
                    <a:cxn ang="0">
                      <a:pos x="T0" y="T1"/>
                    </a:cxn>
                    <a:cxn ang="0">
                      <a:pos x="T2" y="T3"/>
                    </a:cxn>
                    <a:cxn ang="0">
                      <a:pos x="T4" y="T5"/>
                    </a:cxn>
                  </a:cxnLst>
                  <a:rect l="0" t="0" r="r" b="b"/>
                  <a:pathLst>
                    <a:path w="180" h="179">
                      <a:moveTo>
                        <a:pt x="0" y="179"/>
                      </a:moveTo>
                      <a:lnTo>
                        <a:pt x="179" y="0"/>
                      </a:lnTo>
                      <a:lnTo>
                        <a:pt x="18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69" name="Freeform 61"/>
                <p:cNvSpPr/>
                <p:nvPr/>
              </p:nvSpPr>
              <p:spPr bwMode="auto">
                <a:xfrm>
                  <a:off x="1377" y="2162"/>
                  <a:ext cx="72" cy="72"/>
                </a:xfrm>
                <a:custGeom>
                  <a:avLst/>
                  <a:gdLst>
                    <a:gd name="T0" fmla="*/ 0 w 179"/>
                    <a:gd name="T1" fmla="*/ 179 h 179"/>
                    <a:gd name="T2" fmla="*/ 178 w 179"/>
                    <a:gd name="T3" fmla="*/ 0 h 179"/>
                    <a:gd name="T4" fmla="*/ 179 w 179"/>
                    <a:gd name="T5" fmla="*/ 0 h 179"/>
                  </a:gdLst>
                  <a:ahLst/>
                  <a:cxnLst>
                    <a:cxn ang="0">
                      <a:pos x="T0" y="T1"/>
                    </a:cxn>
                    <a:cxn ang="0">
                      <a:pos x="T2" y="T3"/>
                    </a:cxn>
                    <a:cxn ang="0">
                      <a:pos x="T4" y="T5"/>
                    </a:cxn>
                  </a:cxnLst>
                  <a:rect l="0" t="0" r="r" b="b"/>
                  <a:pathLst>
                    <a:path w="179" h="179">
                      <a:moveTo>
                        <a:pt x="0" y="179"/>
                      </a:moveTo>
                      <a:lnTo>
                        <a:pt x="178" y="0"/>
                      </a:lnTo>
                      <a:lnTo>
                        <a:pt x="17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70" name="Freeform 62"/>
                <p:cNvSpPr/>
                <p:nvPr/>
              </p:nvSpPr>
              <p:spPr bwMode="auto">
                <a:xfrm>
                  <a:off x="1424" y="2181"/>
                  <a:ext cx="53" cy="53"/>
                </a:xfrm>
                <a:custGeom>
                  <a:avLst/>
                  <a:gdLst>
                    <a:gd name="T0" fmla="*/ 0 w 137"/>
                    <a:gd name="T1" fmla="*/ 135 h 135"/>
                    <a:gd name="T2" fmla="*/ 136 w 137"/>
                    <a:gd name="T3" fmla="*/ 0 h 135"/>
                    <a:gd name="T4" fmla="*/ 137 w 137"/>
                    <a:gd name="T5" fmla="*/ 0 h 135"/>
                  </a:gdLst>
                  <a:ahLst/>
                  <a:cxnLst>
                    <a:cxn ang="0">
                      <a:pos x="T0" y="T1"/>
                    </a:cxn>
                    <a:cxn ang="0">
                      <a:pos x="T2" y="T3"/>
                    </a:cxn>
                    <a:cxn ang="0">
                      <a:pos x="T4" y="T5"/>
                    </a:cxn>
                  </a:cxnLst>
                  <a:rect l="0" t="0" r="r" b="b"/>
                  <a:pathLst>
                    <a:path w="137" h="135">
                      <a:moveTo>
                        <a:pt x="0" y="135"/>
                      </a:moveTo>
                      <a:lnTo>
                        <a:pt x="136" y="0"/>
                      </a:lnTo>
                      <a:lnTo>
                        <a:pt x="137"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4271" name="Group 63"/>
              <p:cNvGrpSpPr/>
              <p:nvPr/>
            </p:nvGrpSpPr>
            <p:grpSpPr bwMode="auto">
              <a:xfrm>
                <a:off x="699" y="1094"/>
                <a:ext cx="506" cy="1799"/>
                <a:chOff x="975" y="2162"/>
                <a:chExt cx="506" cy="1799"/>
              </a:xfrm>
            </p:grpSpPr>
            <p:sp>
              <p:nvSpPr>
                <p:cNvPr id="94272" name="Freeform 64"/>
                <p:cNvSpPr/>
                <p:nvPr/>
              </p:nvSpPr>
              <p:spPr bwMode="auto">
                <a:xfrm>
                  <a:off x="1439" y="3571"/>
                  <a:ext cx="38" cy="48"/>
                </a:xfrm>
                <a:custGeom>
                  <a:avLst/>
                  <a:gdLst>
                    <a:gd name="T0" fmla="*/ 0 w 31"/>
                    <a:gd name="T1" fmla="*/ 0 h 39"/>
                    <a:gd name="T2" fmla="*/ 10 w 31"/>
                    <a:gd name="T3" fmla="*/ 30 h 39"/>
                    <a:gd name="T4" fmla="*/ 31 w 31"/>
                    <a:gd name="T5" fmla="*/ 39 h 39"/>
                    <a:gd name="T6" fmla="*/ 31 w 31"/>
                    <a:gd name="T7" fmla="*/ 39 h 39"/>
                  </a:gdLst>
                  <a:ahLst/>
                  <a:cxnLst>
                    <a:cxn ang="0">
                      <a:pos x="T0" y="T1"/>
                    </a:cxn>
                    <a:cxn ang="0">
                      <a:pos x="T2" y="T3"/>
                    </a:cxn>
                    <a:cxn ang="0">
                      <a:pos x="T4" y="T5"/>
                    </a:cxn>
                    <a:cxn ang="0">
                      <a:pos x="T6" y="T7"/>
                    </a:cxn>
                  </a:cxnLst>
                  <a:rect l="0" t="0" r="r" b="b"/>
                  <a:pathLst>
                    <a:path w="31" h="39">
                      <a:moveTo>
                        <a:pt x="0" y="0"/>
                      </a:moveTo>
                      <a:lnTo>
                        <a:pt x="10" y="30"/>
                      </a:lnTo>
                      <a:lnTo>
                        <a:pt x="31" y="39"/>
                      </a:lnTo>
                      <a:lnTo>
                        <a:pt x="31" y="39"/>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73" name="Freeform 65"/>
                <p:cNvSpPr/>
                <p:nvPr/>
              </p:nvSpPr>
              <p:spPr bwMode="auto">
                <a:xfrm>
                  <a:off x="1441" y="2505"/>
                  <a:ext cx="36" cy="36"/>
                </a:xfrm>
                <a:custGeom>
                  <a:avLst/>
                  <a:gdLst>
                    <a:gd name="T0" fmla="*/ 90 w 90"/>
                    <a:gd name="T1" fmla="*/ 0 h 89"/>
                    <a:gd name="T2" fmla="*/ 26 w 90"/>
                    <a:gd name="T3" fmla="*/ 27 h 89"/>
                    <a:gd name="T4" fmla="*/ 0 w 90"/>
                    <a:gd name="T5" fmla="*/ 89 h 89"/>
                    <a:gd name="T6" fmla="*/ 1 w 90"/>
                    <a:gd name="T7" fmla="*/ 89 h 89"/>
                  </a:gdLst>
                  <a:ahLst/>
                  <a:cxnLst>
                    <a:cxn ang="0">
                      <a:pos x="T0" y="T1"/>
                    </a:cxn>
                    <a:cxn ang="0">
                      <a:pos x="T2" y="T3"/>
                    </a:cxn>
                    <a:cxn ang="0">
                      <a:pos x="T4" y="T5"/>
                    </a:cxn>
                    <a:cxn ang="0">
                      <a:pos x="T6" y="T7"/>
                    </a:cxn>
                  </a:cxnLst>
                  <a:rect l="0" t="0" r="r" b="b"/>
                  <a:pathLst>
                    <a:path w="90" h="89">
                      <a:moveTo>
                        <a:pt x="90" y="0"/>
                      </a:moveTo>
                      <a:lnTo>
                        <a:pt x="26" y="27"/>
                      </a:lnTo>
                      <a:lnTo>
                        <a:pt x="0" y="89"/>
                      </a:lnTo>
                      <a:lnTo>
                        <a:pt x="1" y="89"/>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94274" name="Group 66"/>
                <p:cNvGrpSpPr/>
                <p:nvPr/>
              </p:nvGrpSpPr>
              <p:grpSpPr bwMode="auto">
                <a:xfrm>
                  <a:off x="975" y="2162"/>
                  <a:ext cx="506" cy="1799"/>
                  <a:chOff x="975" y="2162"/>
                  <a:chExt cx="506" cy="1799"/>
                </a:xfrm>
              </p:grpSpPr>
              <p:sp>
                <p:nvSpPr>
                  <p:cNvPr id="94275" name="Freeform 67"/>
                  <p:cNvSpPr/>
                  <p:nvPr/>
                </p:nvSpPr>
                <p:spPr bwMode="auto">
                  <a:xfrm>
                    <a:off x="1231" y="2641"/>
                    <a:ext cx="33" cy="36"/>
                  </a:xfrm>
                  <a:custGeom>
                    <a:avLst/>
                    <a:gdLst>
                      <a:gd name="T0" fmla="*/ 74 w 74"/>
                      <a:gd name="T1" fmla="*/ 88 h 88"/>
                      <a:gd name="T2" fmla="*/ 52 w 74"/>
                      <a:gd name="T3" fmla="*/ 30 h 88"/>
                      <a:gd name="T4" fmla="*/ 0 w 74"/>
                      <a:gd name="T5" fmla="*/ 0 h 88"/>
                      <a:gd name="T6" fmla="*/ 1 w 74"/>
                      <a:gd name="T7" fmla="*/ 0 h 88"/>
                    </a:gdLst>
                    <a:ahLst/>
                    <a:cxnLst>
                      <a:cxn ang="0">
                        <a:pos x="T0" y="T1"/>
                      </a:cxn>
                      <a:cxn ang="0">
                        <a:pos x="T2" y="T3"/>
                      </a:cxn>
                      <a:cxn ang="0">
                        <a:pos x="T4" y="T5"/>
                      </a:cxn>
                      <a:cxn ang="0">
                        <a:pos x="T6" y="T7"/>
                      </a:cxn>
                    </a:cxnLst>
                    <a:rect l="0" t="0" r="r" b="b"/>
                    <a:pathLst>
                      <a:path w="74" h="88">
                        <a:moveTo>
                          <a:pt x="74" y="88"/>
                        </a:moveTo>
                        <a:lnTo>
                          <a:pt x="52" y="30"/>
                        </a:lnTo>
                        <a:lnTo>
                          <a:pt x="0" y="0"/>
                        </a:lnTo>
                        <a:lnTo>
                          <a:pt x="1"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94276" name="Group 68"/>
                  <p:cNvGrpSpPr/>
                  <p:nvPr/>
                </p:nvGrpSpPr>
                <p:grpSpPr bwMode="auto">
                  <a:xfrm>
                    <a:off x="975" y="2162"/>
                    <a:ext cx="506" cy="1799"/>
                    <a:chOff x="975" y="2162"/>
                    <a:chExt cx="506" cy="1799"/>
                  </a:xfrm>
                </p:grpSpPr>
                <p:sp>
                  <p:nvSpPr>
                    <p:cNvPr id="94277" name="Freeform 69"/>
                    <p:cNvSpPr/>
                    <p:nvPr/>
                  </p:nvSpPr>
                  <p:spPr bwMode="auto">
                    <a:xfrm>
                      <a:off x="1231" y="3437"/>
                      <a:ext cx="33" cy="41"/>
                    </a:xfrm>
                    <a:custGeom>
                      <a:avLst/>
                      <a:gdLst>
                        <a:gd name="T0" fmla="*/ 0 w 26"/>
                        <a:gd name="T1" fmla="*/ 33 h 33"/>
                        <a:gd name="T2" fmla="*/ 18 w 26"/>
                        <a:gd name="T3" fmla="*/ 24 h 33"/>
                        <a:gd name="T4" fmla="*/ 23 w 26"/>
                        <a:gd name="T5" fmla="*/ 0 h 33"/>
                        <a:gd name="T6" fmla="*/ 26 w 26"/>
                        <a:gd name="T7" fmla="*/ 7 h 33"/>
                      </a:gdLst>
                      <a:ahLst/>
                      <a:cxnLst>
                        <a:cxn ang="0">
                          <a:pos x="T0" y="T1"/>
                        </a:cxn>
                        <a:cxn ang="0">
                          <a:pos x="T2" y="T3"/>
                        </a:cxn>
                        <a:cxn ang="0">
                          <a:pos x="T4" y="T5"/>
                        </a:cxn>
                        <a:cxn ang="0">
                          <a:pos x="T6" y="T7"/>
                        </a:cxn>
                      </a:cxnLst>
                      <a:rect l="0" t="0" r="r" b="b"/>
                      <a:pathLst>
                        <a:path w="26" h="33">
                          <a:moveTo>
                            <a:pt x="0" y="33"/>
                          </a:moveTo>
                          <a:lnTo>
                            <a:pt x="18" y="24"/>
                          </a:lnTo>
                          <a:lnTo>
                            <a:pt x="23" y="0"/>
                          </a:lnTo>
                          <a:lnTo>
                            <a:pt x="26" y="7"/>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94278" name="Group 70"/>
                    <p:cNvGrpSpPr/>
                    <p:nvPr/>
                  </p:nvGrpSpPr>
                  <p:grpSpPr bwMode="auto">
                    <a:xfrm>
                      <a:off x="975" y="2162"/>
                      <a:ext cx="506" cy="1799"/>
                      <a:chOff x="975" y="2162"/>
                      <a:chExt cx="506" cy="1799"/>
                    </a:xfrm>
                  </p:grpSpPr>
                  <p:sp>
                    <p:nvSpPr>
                      <p:cNvPr id="94279" name="Freeform 71"/>
                      <p:cNvSpPr/>
                      <p:nvPr/>
                    </p:nvSpPr>
                    <p:spPr bwMode="auto">
                      <a:xfrm>
                        <a:off x="975" y="2487"/>
                        <a:ext cx="289" cy="3"/>
                      </a:xfrm>
                      <a:custGeom>
                        <a:avLst/>
                        <a:gdLst>
                          <a:gd name="T0" fmla="*/ 716 w 716"/>
                          <a:gd name="T1" fmla="*/ 0 w 716"/>
                          <a:gd name="T2" fmla="*/ 1 w 716"/>
                        </a:gdLst>
                        <a:ahLst/>
                        <a:cxnLst>
                          <a:cxn ang="0">
                            <a:pos x="T0" y="0"/>
                          </a:cxn>
                          <a:cxn ang="0">
                            <a:pos x="T1" y="0"/>
                          </a:cxn>
                          <a:cxn ang="0">
                            <a:pos x="T2" y="0"/>
                          </a:cxn>
                        </a:cxnLst>
                        <a:rect l="0" t="0" r="r" b="b"/>
                        <a:pathLst>
                          <a:path w="716">
                            <a:moveTo>
                              <a:pt x="716" y="0"/>
                            </a:moveTo>
                            <a:lnTo>
                              <a:pt x="0" y="0"/>
                            </a:lnTo>
                            <a:lnTo>
                              <a:pt x="1"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0" name="Freeform 72"/>
                      <p:cNvSpPr/>
                      <p:nvPr/>
                    </p:nvSpPr>
                    <p:spPr bwMode="auto">
                      <a:xfrm>
                        <a:off x="975" y="2594"/>
                        <a:ext cx="260" cy="47"/>
                      </a:xfrm>
                      <a:custGeom>
                        <a:avLst/>
                        <a:gdLst>
                          <a:gd name="T0" fmla="*/ 0 w 643"/>
                          <a:gd name="T1" fmla="*/ 0 h 121"/>
                          <a:gd name="T2" fmla="*/ 642 w 643"/>
                          <a:gd name="T3" fmla="*/ 121 h 121"/>
                          <a:gd name="T4" fmla="*/ 643 w 643"/>
                          <a:gd name="T5" fmla="*/ 121 h 121"/>
                        </a:gdLst>
                        <a:ahLst/>
                        <a:cxnLst>
                          <a:cxn ang="0">
                            <a:pos x="T0" y="T1"/>
                          </a:cxn>
                          <a:cxn ang="0">
                            <a:pos x="T2" y="T3"/>
                          </a:cxn>
                          <a:cxn ang="0">
                            <a:pos x="T4" y="T5"/>
                          </a:cxn>
                        </a:cxnLst>
                        <a:rect l="0" t="0" r="r" b="b"/>
                        <a:pathLst>
                          <a:path w="643" h="121">
                            <a:moveTo>
                              <a:pt x="0" y="0"/>
                            </a:moveTo>
                            <a:lnTo>
                              <a:pt x="642" y="121"/>
                            </a:lnTo>
                            <a:lnTo>
                              <a:pt x="643" y="121"/>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1" name="Freeform 73"/>
                      <p:cNvSpPr/>
                      <p:nvPr/>
                    </p:nvSpPr>
                    <p:spPr bwMode="auto">
                      <a:xfrm>
                        <a:off x="975" y="3636"/>
                        <a:ext cx="289" cy="4"/>
                      </a:xfrm>
                      <a:custGeom>
                        <a:avLst/>
                        <a:gdLst>
                          <a:gd name="T0" fmla="*/ 716 w 716"/>
                          <a:gd name="T1" fmla="*/ 0 w 716"/>
                          <a:gd name="T2" fmla="*/ 1 w 716"/>
                        </a:gdLst>
                        <a:ahLst/>
                        <a:cxnLst>
                          <a:cxn ang="0">
                            <a:pos x="T0" y="0"/>
                          </a:cxn>
                          <a:cxn ang="0">
                            <a:pos x="T1" y="0"/>
                          </a:cxn>
                          <a:cxn ang="0">
                            <a:pos x="T2" y="0"/>
                          </a:cxn>
                        </a:cxnLst>
                        <a:rect l="0" t="0" r="r" b="b"/>
                        <a:pathLst>
                          <a:path w="716">
                            <a:moveTo>
                              <a:pt x="716" y="0"/>
                            </a:moveTo>
                            <a:lnTo>
                              <a:pt x="0" y="0"/>
                            </a:lnTo>
                            <a:lnTo>
                              <a:pt x="1"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2" name="Freeform 74"/>
                      <p:cNvSpPr/>
                      <p:nvPr/>
                    </p:nvSpPr>
                    <p:spPr bwMode="auto">
                      <a:xfrm>
                        <a:off x="975" y="3478"/>
                        <a:ext cx="260" cy="51"/>
                      </a:xfrm>
                      <a:custGeom>
                        <a:avLst/>
                        <a:gdLst>
                          <a:gd name="T0" fmla="*/ 0 w 643"/>
                          <a:gd name="T1" fmla="*/ 121 h 121"/>
                          <a:gd name="T2" fmla="*/ 642 w 643"/>
                          <a:gd name="T3" fmla="*/ 0 h 121"/>
                          <a:gd name="T4" fmla="*/ 643 w 643"/>
                          <a:gd name="T5" fmla="*/ 0 h 121"/>
                        </a:gdLst>
                        <a:ahLst/>
                        <a:cxnLst>
                          <a:cxn ang="0">
                            <a:pos x="T0" y="T1"/>
                          </a:cxn>
                          <a:cxn ang="0">
                            <a:pos x="T2" y="T3"/>
                          </a:cxn>
                          <a:cxn ang="0">
                            <a:pos x="T4" y="T5"/>
                          </a:cxn>
                        </a:cxnLst>
                        <a:rect l="0" t="0" r="r" b="b"/>
                        <a:pathLst>
                          <a:path w="643" h="121">
                            <a:moveTo>
                              <a:pt x="0" y="121"/>
                            </a:moveTo>
                            <a:lnTo>
                              <a:pt x="642" y="0"/>
                            </a:lnTo>
                            <a:lnTo>
                              <a:pt x="643"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3" name="Freeform 75"/>
                      <p:cNvSpPr/>
                      <p:nvPr/>
                    </p:nvSpPr>
                    <p:spPr bwMode="auto">
                      <a:xfrm>
                        <a:off x="1264" y="2162"/>
                        <a:ext cx="3" cy="325"/>
                      </a:xfrm>
                      <a:custGeom>
                        <a:avLst/>
                        <a:gdLst>
                          <a:gd name="T0" fmla="*/ 0 w 1"/>
                          <a:gd name="T1" fmla="*/ 0 h 806"/>
                          <a:gd name="T2" fmla="*/ 0 w 1"/>
                          <a:gd name="T3" fmla="*/ 806 h 806"/>
                          <a:gd name="T4" fmla="*/ 1 w 1"/>
                          <a:gd name="T5" fmla="*/ 806 h 806"/>
                        </a:gdLst>
                        <a:ahLst/>
                        <a:cxnLst>
                          <a:cxn ang="0">
                            <a:pos x="T0" y="T1"/>
                          </a:cxn>
                          <a:cxn ang="0">
                            <a:pos x="T2" y="T3"/>
                          </a:cxn>
                          <a:cxn ang="0">
                            <a:pos x="T4" y="T5"/>
                          </a:cxn>
                        </a:cxnLst>
                        <a:rect l="0" t="0" r="r" b="b"/>
                        <a:pathLst>
                          <a:path w="1" h="806">
                            <a:moveTo>
                              <a:pt x="0" y="0"/>
                            </a:moveTo>
                            <a:lnTo>
                              <a:pt x="0" y="806"/>
                            </a:lnTo>
                            <a:lnTo>
                              <a:pt x="1" y="806"/>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4" name="Freeform 76"/>
                      <p:cNvSpPr/>
                      <p:nvPr/>
                    </p:nvSpPr>
                    <p:spPr bwMode="auto">
                      <a:xfrm>
                        <a:off x="1477" y="2162"/>
                        <a:ext cx="4" cy="1795"/>
                      </a:xfrm>
                      <a:custGeom>
                        <a:avLst/>
                        <a:gdLst>
                          <a:gd name="T0" fmla="*/ 0 w 1"/>
                          <a:gd name="T1" fmla="*/ 0 h 4481"/>
                          <a:gd name="T2" fmla="*/ 0 w 1"/>
                          <a:gd name="T3" fmla="*/ 4481 h 4481"/>
                          <a:gd name="T4" fmla="*/ 1 w 1"/>
                          <a:gd name="T5" fmla="*/ 4481 h 4481"/>
                        </a:gdLst>
                        <a:ahLst/>
                        <a:cxnLst>
                          <a:cxn ang="0">
                            <a:pos x="T0" y="T1"/>
                          </a:cxn>
                          <a:cxn ang="0">
                            <a:pos x="T2" y="T3"/>
                          </a:cxn>
                          <a:cxn ang="0">
                            <a:pos x="T4" y="T5"/>
                          </a:cxn>
                        </a:cxnLst>
                        <a:rect l="0" t="0" r="r" b="b"/>
                        <a:pathLst>
                          <a:path w="1" h="4481">
                            <a:moveTo>
                              <a:pt x="0" y="0"/>
                            </a:moveTo>
                            <a:lnTo>
                              <a:pt x="0" y="4481"/>
                            </a:lnTo>
                            <a:lnTo>
                              <a:pt x="1" y="4481"/>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5" name="Freeform 77"/>
                      <p:cNvSpPr/>
                      <p:nvPr/>
                    </p:nvSpPr>
                    <p:spPr bwMode="auto">
                      <a:xfrm>
                        <a:off x="1264" y="2677"/>
                        <a:ext cx="3" cy="769"/>
                      </a:xfrm>
                      <a:custGeom>
                        <a:avLst/>
                        <a:gdLst>
                          <a:gd name="T0" fmla="*/ 0 w 1"/>
                          <a:gd name="T1" fmla="*/ 0 h 1912"/>
                          <a:gd name="T2" fmla="*/ 0 w 1"/>
                          <a:gd name="T3" fmla="*/ 1912 h 1912"/>
                          <a:gd name="T4" fmla="*/ 1 w 1"/>
                          <a:gd name="T5" fmla="*/ 1912 h 1912"/>
                        </a:gdLst>
                        <a:ahLst/>
                        <a:cxnLst>
                          <a:cxn ang="0">
                            <a:pos x="T0" y="T1"/>
                          </a:cxn>
                          <a:cxn ang="0">
                            <a:pos x="T2" y="T3"/>
                          </a:cxn>
                          <a:cxn ang="0">
                            <a:pos x="T4" y="T5"/>
                          </a:cxn>
                        </a:cxnLst>
                        <a:rect l="0" t="0" r="r" b="b"/>
                        <a:pathLst>
                          <a:path w="1" h="1912">
                            <a:moveTo>
                              <a:pt x="0" y="0"/>
                            </a:moveTo>
                            <a:lnTo>
                              <a:pt x="0" y="1912"/>
                            </a:lnTo>
                            <a:lnTo>
                              <a:pt x="1" y="1912"/>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6" name="Freeform 78"/>
                      <p:cNvSpPr/>
                      <p:nvPr/>
                    </p:nvSpPr>
                    <p:spPr bwMode="auto">
                      <a:xfrm>
                        <a:off x="1441" y="2541"/>
                        <a:ext cx="4" cy="1042"/>
                      </a:xfrm>
                      <a:custGeom>
                        <a:avLst/>
                        <a:gdLst>
                          <a:gd name="T0" fmla="*/ 0 w 1"/>
                          <a:gd name="T1" fmla="*/ 0 h 2600"/>
                          <a:gd name="T2" fmla="*/ 0 w 1"/>
                          <a:gd name="T3" fmla="*/ 2600 h 2600"/>
                          <a:gd name="T4" fmla="*/ 1 w 1"/>
                          <a:gd name="T5" fmla="*/ 2600 h 2600"/>
                        </a:gdLst>
                        <a:ahLst/>
                        <a:cxnLst>
                          <a:cxn ang="0">
                            <a:pos x="T0" y="T1"/>
                          </a:cxn>
                          <a:cxn ang="0">
                            <a:pos x="T2" y="T3"/>
                          </a:cxn>
                          <a:cxn ang="0">
                            <a:pos x="T4" y="T5"/>
                          </a:cxn>
                        </a:cxnLst>
                        <a:rect l="0" t="0" r="r" b="b"/>
                        <a:pathLst>
                          <a:path w="1" h="2600">
                            <a:moveTo>
                              <a:pt x="0" y="0"/>
                            </a:moveTo>
                            <a:lnTo>
                              <a:pt x="0" y="2600"/>
                            </a:lnTo>
                            <a:lnTo>
                              <a:pt x="1" y="260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7" name="Freeform 79"/>
                      <p:cNvSpPr/>
                      <p:nvPr/>
                    </p:nvSpPr>
                    <p:spPr bwMode="auto">
                      <a:xfrm>
                        <a:off x="1264" y="3957"/>
                        <a:ext cx="213" cy="4"/>
                      </a:xfrm>
                      <a:custGeom>
                        <a:avLst/>
                        <a:gdLst>
                          <a:gd name="T0" fmla="*/ 537 w 537"/>
                          <a:gd name="T1" fmla="*/ 0 w 537"/>
                          <a:gd name="T2" fmla="*/ 1 w 537"/>
                        </a:gdLst>
                        <a:ahLst/>
                        <a:cxnLst>
                          <a:cxn ang="0">
                            <a:pos x="T0" y="0"/>
                          </a:cxn>
                          <a:cxn ang="0">
                            <a:pos x="T1" y="0"/>
                          </a:cxn>
                          <a:cxn ang="0">
                            <a:pos x="T2" y="0"/>
                          </a:cxn>
                        </a:cxnLst>
                        <a:rect l="0" t="0" r="r" b="b"/>
                        <a:pathLst>
                          <a:path w="537">
                            <a:moveTo>
                              <a:pt x="537" y="0"/>
                            </a:moveTo>
                            <a:lnTo>
                              <a:pt x="0" y="0"/>
                            </a:lnTo>
                            <a:lnTo>
                              <a:pt x="1"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8" name="Freeform 80"/>
                      <p:cNvSpPr/>
                      <p:nvPr/>
                    </p:nvSpPr>
                    <p:spPr bwMode="auto">
                      <a:xfrm>
                        <a:off x="1264" y="3885"/>
                        <a:ext cx="213" cy="4"/>
                      </a:xfrm>
                      <a:custGeom>
                        <a:avLst/>
                        <a:gdLst>
                          <a:gd name="T0" fmla="*/ 537 w 537"/>
                          <a:gd name="T1" fmla="*/ 0 w 537"/>
                          <a:gd name="T2" fmla="*/ 1 w 537"/>
                        </a:gdLst>
                        <a:ahLst/>
                        <a:cxnLst>
                          <a:cxn ang="0">
                            <a:pos x="T0" y="0"/>
                          </a:cxn>
                          <a:cxn ang="0">
                            <a:pos x="T1" y="0"/>
                          </a:cxn>
                          <a:cxn ang="0">
                            <a:pos x="T2" y="0"/>
                          </a:cxn>
                        </a:cxnLst>
                        <a:rect l="0" t="0" r="r" b="b"/>
                        <a:pathLst>
                          <a:path w="537">
                            <a:moveTo>
                              <a:pt x="537" y="0"/>
                            </a:moveTo>
                            <a:lnTo>
                              <a:pt x="0" y="0"/>
                            </a:lnTo>
                            <a:lnTo>
                              <a:pt x="1"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89" name="Freeform 81"/>
                      <p:cNvSpPr/>
                      <p:nvPr/>
                    </p:nvSpPr>
                    <p:spPr bwMode="auto">
                      <a:xfrm>
                        <a:off x="1264" y="3709"/>
                        <a:ext cx="213" cy="3"/>
                      </a:xfrm>
                      <a:custGeom>
                        <a:avLst/>
                        <a:gdLst>
                          <a:gd name="T0" fmla="*/ 537 w 537"/>
                          <a:gd name="T1" fmla="*/ 0 w 537"/>
                          <a:gd name="T2" fmla="*/ 1 w 537"/>
                        </a:gdLst>
                        <a:ahLst/>
                        <a:cxnLst>
                          <a:cxn ang="0">
                            <a:pos x="T0" y="0"/>
                          </a:cxn>
                          <a:cxn ang="0">
                            <a:pos x="T1" y="0"/>
                          </a:cxn>
                          <a:cxn ang="0">
                            <a:pos x="T2" y="0"/>
                          </a:cxn>
                        </a:cxnLst>
                        <a:rect l="0" t="0" r="r" b="b"/>
                        <a:pathLst>
                          <a:path w="537">
                            <a:moveTo>
                              <a:pt x="537" y="0"/>
                            </a:moveTo>
                            <a:lnTo>
                              <a:pt x="0" y="0"/>
                            </a:lnTo>
                            <a:lnTo>
                              <a:pt x="1"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90" name="Freeform 82"/>
                      <p:cNvSpPr/>
                      <p:nvPr/>
                    </p:nvSpPr>
                    <p:spPr bwMode="auto">
                      <a:xfrm>
                        <a:off x="1264" y="3636"/>
                        <a:ext cx="3" cy="321"/>
                      </a:xfrm>
                      <a:custGeom>
                        <a:avLst/>
                        <a:gdLst>
                          <a:gd name="T0" fmla="*/ 0 w 1"/>
                          <a:gd name="T1" fmla="*/ 0 h 807"/>
                          <a:gd name="T2" fmla="*/ 0 w 1"/>
                          <a:gd name="T3" fmla="*/ 807 h 807"/>
                          <a:gd name="T4" fmla="*/ 1 w 1"/>
                          <a:gd name="T5" fmla="*/ 807 h 807"/>
                        </a:gdLst>
                        <a:ahLst/>
                        <a:cxnLst>
                          <a:cxn ang="0">
                            <a:pos x="T0" y="T1"/>
                          </a:cxn>
                          <a:cxn ang="0">
                            <a:pos x="T2" y="T3"/>
                          </a:cxn>
                          <a:cxn ang="0">
                            <a:pos x="T4" y="T5"/>
                          </a:cxn>
                        </a:cxnLst>
                        <a:rect l="0" t="0" r="r" b="b"/>
                        <a:pathLst>
                          <a:path w="1" h="807">
                            <a:moveTo>
                              <a:pt x="0" y="0"/>
                            </a:moveTo>
                            <a:lnTo>
                              <a:pt x="0" y="807"/>
                            </a:lnTo>
                            <a:lnTo>
                              <a:pt x="1" y="807"/>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91" name="Freeform 83"/>
                      <p:cNvSpPr/>
                      <p:nvPr/>
                    </p:nvSpPr>
                    <p:spPr bwMode="auto">
                      <a:xfrm>
                        <a:off x="1264" y="2415"/>
                        <a:ext cx="213" cy="3"/>
                      </a:xfrm>
                      <a:custGeom>
                        <a:avLst/>
                        <a:gdLst>
                          <a:gd name="T0" fmla="*/ 537 w 537"/>
                          <a:gd name="T1" fmla="*/ 0 w 537"/>
                          <a:gd name="T2" fmla="*/ 1 w 537"/>
                        </a:gdLst>
                        <a:ahLst/>
                        <a:cxnLst>
                          <a:cxn ang="0">
                            <a:pos x="T0" y="0"/>
                          </a:cxn>
                          <a:cxn ang="0">
                            <a:pos x="T1" y="0"/>
                          </a:cxn>
                          <a:cxn ang="0">
                            <a:pos x="T2" y="0"/>
                          </a:cxn>
                        </a:cxnLst>
                        <a:rect l="0" t="0" r="r" b="b"/>
                        <a:pathLst>
                          <a:path w="537">
                            <a:moveTo>
                              <a:pt x="537" y="0"/>
                            </a:moveTo>
                            <a:lnTo>
                              <a:pt x="0" y="0"/>
                            </a:lnTo>
                            <a:lnTo>
                              <a:pt x="1"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92" name="Freeform 84"/>
                      <p:cNvSpPr/>
                      <p:nvPr/>
                    </p:nvSpPr>
                    <p:spPr bwMode="auto">
                      <a:xfrm>
                        <a:off x="1264" y="2234"/>
                        <a:ext cx="213" cy="4"/>
                      </a:xfrm>
                      <a:custGeom>
                        <a:avLst/>
                        <a:gdLst>
                          <a:gd name="T0" fmla="*/ 537 w 537"/>
                          <a:gd name="T1" fmla="*/ 0 w 537"/>
                          <a:gd name="T2" fmla="*/ 1 w 537"/>
                        </a:gdLst>
                        <a:ahLst/>
                        <a:cxnLst>
                          <a:cxn ang="0">
                            <a:pos x="T0" y="0"/>
                          </a:cxn>
                          <a:cxn ang="0">
                            <a:pos x="T1" y="0"/>
                          </a:cxn>
                          <a:cxn ang="0">
                            <a:pos x="T2" y="0"/>
                          </a:cxn>
                        </a:cxnLst>
                        <a:rect l="0" t="0" r="r" b="b"/>
                        <a:pathLst>
                          <a:path w="537">
                            <a:moveTo>
                              <a:pt x="537" y="0"/>
                            </a:moveTo>
                            <a:lnTo>
                              <a:pt x="0" y="0"/>
                            </a:lnTo>
                            <a:lnTo>
                              <a:pt x="1"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93" name="Freeform 85"/>
                      <p:cNvSpPr/>
                      <p:nvPr/>
                    </p:nvSpPr>
                    <p:spPr bwMode="auto">
                      <a:xfrm>
                        <a:off x="975" y="2487"/>
                        <a:ext cx="3" cy="1149"/>
                      </a:xfrm>
                      <a:custGeom>
                        <a:avLst/>
                        <a:gdLst>
                          <a:gd name="T0" fmla="*/ 0 w 1"/>
                          <a:gd name="T1" fmla="*/ 0 h 2868"/>
                          <a:gd name="T2" fmla="*/ 0 w 1"/>
                          <a:gd name="T3" fmla="*/ 2868 h 2868"/>
                          <a:gd name="T4" fmla="*/ 1 w 1"/>
                          <a:gd name="T5" fmla="*/ 2868 h 2868"/>
                        </a:gdLst>
                        <a:ahLst/>
                        <a:cxnLst>
                          <a:cxn ang="0">
                            <a:pos x="T0" y="T1"/>
                          </a:cxn>
                          <a:cxn ang="0">
                            <a:pos x="T2" y="T3"/>
                          </a:cxn>
                          <a:cxn ang="0">
                            <a:pos x="T4" y="T5"/>
                          </a:cxn>
                        </a:cxnLst>
                        <a:rect l="0" t="0" r="r" b="b"/>
                        <a:pathLst>
                          <a:path w="1" h="2868">
                            <a:moveTo>
                              <a:pt x="0" y="0"/>
                            </a:moveTo>
                            <a:lnTo>
                              <a:pt x="0" y="2868"/>
                            </a:lnTo>
                            <a:lnTo>
                              <a:pt x="1" y="2868"/>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94" name="Freeform 86"/>
                      <p:cNvSpPr/>
                      <p:nvPr/>
                    </p:nvSpPr>
                    <p:spPr bwMode="auto">
                      <a:xfrm>
                        <a:off x="1264" y="2162"/>
                        <a:ext cx="213" cy="4"/>
                      </a:xfrm>
                      <a:custGeom>
                        <a:avLst/>
                        <a:gdLst>
                          <a:gd name="T0" fmla="*/ 0 w 538"/>
                          <a:gd name="T1" fmla="*/ 537 w 538"/>
                          <a:gd name="T2" fmla="*/ 538 w 538"/>
                        </a:gdLst>
                        <a:ahLst/>
                        <a:cxnLst>
                          <a:cxn ang="0">
                            <a:pos x="T0" y="0"/>
                          </a:cxn>
                          <a:cxn ang="0">
                            <a:pos x="T1" y="0"/>
                          </a:cxn>
                          <a:cxn ang="0">
                            <a:pos x="T2" y="0"/>
                          </a:cxn>
                        </a:cxnLst>
                        <a:rect l="0" t="0" r="r" b="b"/>
                        <a:pathLst>
                          <a:path w="538">
                            <a:moveTo>
                              <a:pt x="0" y="0"/>
                            </a:moveTo>
                            <a:lnTo>
                              <a:pt x="537" y="0"/>
                            </a:lnTo>
                            <a:lnTo>
                              <a:pt x="538" y="0"/>
                            </a:lnTo>
                          </a:path>
                        </a:pathLst>
                      </a:custGeom>
                      <a:noFill/>
                      <a:ln w="38100"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grpSp>
            <p:nvGrpSpPr>
              <p:cNvPr id="94295" name="Group 87"/>
              <p:cNvGrpSpPr/>
              <p:nvPr/>
            </p:nvGrpSpPr>
            <p:grpSpPr bwMode="auto">
              <a:xfrm>
                <a:off x="659" y="1256"/>
                <a:ext cx="578" cy="1475"/>
                <a:chOff x="935" y="2324"/>
                <a:chExt cx="578" cy="1475"/>
              </a:xfrm>
            </p:grpSpPr>
            <p:grpSp>
              <p:nvGrpSpPr>
                <p:cNvPr id="94296" name="Group 88"/>
                <p:cNvGrpSpPr/>
                <p:nvPr/>
              </p:nvGrpSpPr>
              <p:grpSpPr bwMode="auto">
                <a:xfrm>
                  <a:off x="1209" y="3795"/>
                  <a:ext cx="304" cy="4"/>
                  <a:chOff x="2674" y="2971"/>
                  <a:chExt cx="245" cy="3"/>
                </a:xfrm>
              </p:grpSpPr>
              <p:sp>
                <p:nvSpPr>
                  <p:cNvPr id="94297" name="Freeform 89"/>
                  <p:cNvSpPr/>
                  <p:nvPr/>
                </p:nvSpPr>
                <p:spPr bwMode="auto">
                  <a:xfrm>
                    <a:off x="2674" y="2971"/>
                    <a:ext cx="70" cy="3"/>
                  </a:xfrm>
                  <a:custGeom>
                    <a:avLst/>
                    <a:gdLst>
                      <a:gd name="T0" fmla="*/ 219 w 219"/>
                      <a:gd name="T1" fmla="*/ 0 w 219"/>
                      <a:gd name="T2" fmla="*/ 1 w 219"/>
                    </a:gdLst>
                    <a:ahLst/>
                    <a:cxnLst>
                      <a:cxn ang="0">
                        <a:pos x="T0" y="0"/>
                      </a:cxn>
                      <a:cxn ang="0">
                        <a:pos x="T1" y="0"/>
                      </a:cxn>
                      <a:cxn ang="0">
                        <a:pos x="T2" y="0"/>
                      </a:cxn>
                    </a:cxnLst>
                    <a:rect l="0" t="0" r="r" b="b"/>
                    <a:pathLst>
                      <a:path w="219">
                        <a:moveTo>
                          <a:pt x="219" y="0"/>
                        </a:moveTo>
                        <a:lnTo>
                          <a:pt x="0" y="0"/>
                        </a:lnTo>
                        <a:lnTo>
                          <a:pt x="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98" name="Freeform 90"/>
                  <p:cNvSpPr/>
                  <p:nvPr/>
                </p:nvSpPr>
                <p:spPr bwMode="auto">
                  <a:xfrm>
                    <a:off x="2832" y="2971"/>
                    <a:ext cx="87" cy="3"/>
                  </a:xfrm>
                  <a:custGeom>
                    <a:avLst/>
                    <a:gdLst>
                      <a:gd name="T0" fmla="*/ 272 w 272"/>
                      <a:gd name="T1" fmla="*/ 0 w 272"/>
                      <a:gd name="T2" fmla="*/ 1 w 272"/>
                    </a:gdLst>
                    <a:ahLst/>
                    <a:cxnLst>
                      <a:cxn ang="0">
                        <a:pos x="T0" y="0"/>
                      </a:cxn>
                      <a:cxn ang="0">
                        <a:pos x="T1" y="0"/>
                      </a:cxn>
                      <a:cxn ang="0">
                        <a:pos x="T2" y="0"/>
                      </a:cxn>
                    </a:cxnLst>
                    <a:rect l="0" t="0" r="r" b="b"/>
                    <a:pathLst>
                      <a:path w="272">
                        <a:moveTo>
                          <a:pt x="272" y="0"/>
                        </a:moveTo>
                        <a:lnTo>
                          <a:pt x="0" y="0"/>
                        </a:lnTo>
                        <a:lnTo>
                          <a:pt x="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99" name="Freeform 91"/>
                  <p:cNvSpPr/>
                  <p:nvPr/>
                </p:nvSpPr>
                <p:spPr bwMode="auto">
                  <a:xfrm>
                    <a:off x="2771" y="2971"/>
                    <a:ext cx="23" cy="3"/>
                  </a:xfrm>
                  <a:custGeom>
                    <a:avLst/>
                    <a:gdLst>
                      <a:gd name="T0" fmla="*/ 72 w 72"/>
                      <a:gd name="T1" fmla="*/ 0 w 72"/>
                      <a:gd name="T2" fmla="*/ 1 w 72"/>
                    </a:gdLst>
                    <a:ahLst/>
                    <a:cxnLst>
                      <a:cxn ang="0">
                        <a:pos x="T0" y="0"/>
                      </a:cxn>
                      <a:cxn ang="0">
                        <a:pos x="T1" y="0"/>
                      </a:cxn>
                      <a:cxn ang="0">
                        <a:pos x="T2" y="0"/>
                      </a:cxn>
                    </a:cxnLst>
                    <a:rect l="0" t="0" r="r" b="b"/>
                    <a:pathLst>
                      <a:path w="72">
                        <a:moveTo>
                          <a:pt x="72" y="0"/>
                        </a:moveTo>
                        <a:lnTo>
                          <a:pt x="0" y="0"/>
                        </a:lnTo>
                        <a:lnTo>
                          <a:pt x="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4300" name="Group 92"/>
                <p:cNvGrpSpPr/>
                <p:nvPr/>
              </p:nvGrpSpPr>
              <p:grpSpPr bwMode="auto">
                <a:xfrm>
                  <a:off x="935" y="3060"/>
                  <a:ext cx="574" cy="4"/>
                  <a:chOff x="2456" y="2378"/>
                  <a:chExt cx="463" cy="3"/>
                </a:xfrm>
              </p:grpSpPr>
              <p:sp>
                <p:nvSpPr>
                  <p:cNvPr id="94301" name="Freeform 93"/>
                  <p:cNvSpPr/>
                  <p:nvPr/>
                </p:nvSpPr>
                <p:spPr bwMode="auto">
                  <a:xfrm>
                    <a:off x="2456" y="2378"/>
                    <a:ext cx="137" cy="3"/>
                  </a:xfrm>
                  <a:custGeom>
                    <a:avLst/>
                    <a:gdLst>
                      <a:gd name="T0" fmla="*/ 0 w 423"/>
                      <a:gd name="T1" fmla="*/ 422 w 423"/>
                      <a:gd name="T2" fmla="*/ 423 w 423"/>
                    </a:gdLst>
                    <a:ahLst/>
                    <a:cxnLst>
                      <a:cxn ang="0">
                        <a:pos x="T0" y="0"/>
                      </a:cxn>
                      <a:cxn ang="0">
                        <a:pos x="T1" y="0"/>
                      </a:cxn>
                      <a:cxn ang="0">
                        <a:pos x="T2" y="0"/>
                      </a:cxn>
                    </a:cxnLst>
                    <a:rect l="0" t="0" r="r" b="b"/>
                    <a:pathLst>
                      <a:path w="423">
                        <a:moveTo>
                          <a:pt x="0" y="0"/>
                        </a:moveTo>
                        <a:lnTo>
                          <a:pt x="422" y="0"/>
                        </a:lnTo>
                        <a:lnTo>
                          <a:pt x="423"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02" name="Freeform 94"/>
                  <p:cNvSpPr/>
                  <p:nvPr/>
                </p:nvSpPr>
                <p:spPr bwMode="auto">
                  <a:xfrm>
                    <a:off x="2683" y="2378"/>
                    <a:ext cx="236" cy="3"/>
                  </a:xfrm>
                  <a:custGeom>
                    <a:avLst/>
                    <a:gdLst>
                      <a:gd name="T0" fmla="*/ 0 w 728"/>
                      <a:gd name="T1" fmla="*/ 727 w 728"/>
                      <a:gd name="T2" fmla="*/ 728 w 728"/>
                    </a:gdLst>
                    <a:ahLst/>
                    <a:cxnLst>
                      <a:cxn ang="0">
                        <a:pos x="T0" y="0"/>
                      </a:cxn>
                      <a:cxn ang="0">
                        <a:pos x="T1" y="0"/>
                      </a:cxn>
                      <a:cxn ang="0">
                        <a:pos x="T2" y="0"/>
                      </a:cxn>
                    </a:cxnLst>
                    <a:rect l="0" t="0" r="r" b="b"/>
                    <a:pathLst>
                      <a:path w="728">
                        <a:moveTo>
                          <a:pt x="0" y="0"/>
                        </a:moveTo>
                        <a:lnTo>
                          <a:pt x="727" y="0"/>
                        </a:lnTo>
                        <a:lnTo>
                          <a:pt x="728"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03" name="Freeform 95"/>
                  <p:cNvSpPr/>
                  <p:nvPr/>
                </p:nvSpPr>
                <p:spPr bwMode="auto">
                  <a:xfrm>
                    <a:off x="2625" y="2378"/>
                    <a:ext cx="23" cy="3"/>
                  </a:xfrm>
                  <a:custGeom>
                    <a:avLst/>
                    <a:gdLst>
                      <a:gd name="T0" fmla="*/ 0 w 71"/>
                      <a:gd name="T1" fmla="*/ 70 w 71"/>
                      <a:gd name="T2" fmla="*/ 71 w 71"/>
                    </a:gdLst>
                    <a:ahLst/>
                    <a:cxnLst>
                      <a:cxn ang="0">
                        <a:pos x="T0" y="0"/>
                      </a:cxn>
                      <a:cxn ang="0">
                        <a:pos x="T1" y="0"/>
                      </a:cxn>
                      <a:cxn ang="0">
                        <a:pos x="T2" y="0"/>
                      </a:cxn>
                    </a:cxnLst>
                    <a:rect l="0" t="0" r="r" b="b"/>
                    <a:pathLst>
                      <a:path w="71">
                        <a:moveTo>
                          <a:pt x="0" y="0"/>
                        </a:moveTo>
                        <a:lnTo>
                          <a:pt x="70" y="0"/>
                        </a:lnTo>
                        <a:lnTo>
                          <a:pt x="7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4304" name="Group 96"/>
                <p:cNvGrpSpPr/>
                <p:nvPr/>
              </p:nvGrpSpPr>
              <p:grpSpPr bwMode="auto">
                <a:xfrm>
                  <a:off x="1209" y="2324"/>
                  <a:ext cx="304" cy="4"/>
                  <a:chOff x="2674" y="1784"/>
                  <a:chExt cx="245" cy="3"/>
                </a:xfrm>
              </p:grpSpPr>
              <p:sp>
                <p:nvSpPr>
                  <p:cNvPr id="94305" name="Freeform 97"/>
                  <p:cNvSpPr/>
                  <p:nvPr/>
                </p:nvSpPr>
                <p:spPr bwMode="auto">
                  <a:xfrm>
                    <a:off x="2674" y="1784"/>
                    <a:ext cx="79" cy="3"/>
                  </a:xfrm>
                  <a:custGeom>
                    <a:avLst/>
                    <a:gdLst>
                      <a:gd name="T0" fmla="*/ 247 w 247"/>
                      <a:gd name="T1" fmla="*/ 0 w 247"/>
                      <a:gd name="T2" fmla="*/ 1 w 247"/>
                    </a:gdLst>
                    <a:ahLst/>
                    <a:cxnLst>
                      <a:cxn ang="0">
                        <a:pos x="T0" y="0"/>
                      </a:cxn>
                      <a:cxn ang="0">
                        <a:pos x="T1" y="0"/>
                      </a:cxn>
                      <a:cxn ang="0">
                        <a:pos x="T2" y="0"/>
                      </a:cxn>
                    </a:cxnLst>
                    <a:rect l="0" t="0" r="r" b="b"/>
                    <a:pathLst>
                      <a:path w="247">
                        <a:moveTo>
                          <a:pt x="247" y="0"/>
                        </a:moveTo>
                        <a:lnTo>
                          <a:pt x="0" y="0"/>
                        </a:lnTo>
                        <a:lnTo>
                          <a:pt x="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06" name="Freeform 98"/>
                  <p:cNvSpPr/>
                  <p:nvPr/>
                </p:nvSpPr>
                <p:spPr bwMode="auto">
                  <a:xfrm>
                    <a:off x="2841" y="1784"/>
                    <a:ext cx="78" cy="3"/>
                  </a:xfrm>
                  <a:custGeom>
                    <a:avLst/>
                    <a:gdLst>
                      <a:gd name="T0" fmla="*/ 244 w 244"/>
                      <a:gd name="T1" fmla="*/ 0 w 244"/>
                      <a:gd name="T2" fmla="*/ 1 w 244"/>
                    </a:gdLst>
                    <a:ahLst/>
                    <a:cxnLst>
                      <a:cxn ang="0">
                        <a:pos x="T0" y="0"/>
                      </a:cxn>
                      <a:cxn ang="0">
                        <a:pos x="T1" y="0"/>
                      </a:cxn>
                      <a:cxn ang="0">
                        <a:pos x="T2" y="0"/>
                      </a:cxn>
                    </a:cxnLst>
                    <a:rect l="0" t="0" r="r" b="b"/>
                    <a:pathLst>
                      <a:path w="244">
                        <a:moveTo>
                          <a:pt x="244" y="0"/>
                        </a:moveTo>
                        <a:lnTo>
                          <a:pt x="0" y="0"/>
                        </a:lnTo>
                        <a:lnTo>
                          <a:pt x="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07" name="Freeform 99"/>
                  <p:cNvSpPr/>
                  <p:nvPr/>
                </p:nvSpPr>
                <p:spPr bwMode="auto">
                  <a:xfrm>
                    <a:off x="2785" y="1784"/>
                    <a:ext cx="24" cy="3"/>
                  </a:xfrm>
                  <a:custGeom>
                    <a:avLst/>
                    <a:gdLst>
                      <a:gd name="T0" fmla="*/ 71 w 71"/>
                      <a:gd name="T1" fmla="*/ 0 w 71"/>
                      <a:gd name="T2" fmla="*/ 1 w 71"/>
                    </a:gdLst>
                    <a:ahLst/>
                    <a:cxnLst>
                      <a:cxn ang="0">
                        <a:pos x="T0" y="0"/>
                      </a:cxn>
                      <a:cxn ang="0">
                        <a:pos x="T1" y="0"/>
                      </a:cxn>
                      <a:cxn ang="0">
                        <a:pos x="T2" y="0"/>
                      </a:cxn>
                    </a:cxnLst>
                    <a:rect l="0" t="0" r="r" b="b"/>
                    <a:pathLst>
                      <a:path w="71">
                        <a:moveTo>
                          <a:pt x="71" y="0"/>
                        </a:moveTo>
                        <a:lnTo>
                          <a:pt x="0" y="0"/>
                        </a:lnTo>
                        <a:lnTo>
                          <a:pt x="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grpSp>
          <p:nvGrpSpPr>
            <p:cNvPr id="94308" name="Group 100"/>
            <p:cNvGrpSpPr/>
            <p:nvPr/>
          </p:nvGrpSpPr>
          <p:grpSpPr bwMode="auto">
            <a:xfrm>
              <a:off x="1681" y="1370"/>
              <a:ext cx="1906" cy="1886"/>
              <a:chOff x="1681" y="1370"/>
              <a:chExt cx="1906" cy="1886"/>
            </a:xfrm>
          </p:grpSpPr>
          <p:grpSp>
            <p:nvGrpSpPr>
              <p:cNvPr id="94309" name="Group 101"/>
              <p:cNvGrpSpPr/>
              <p:nvPr/>
            </p:nvGrpSpPr>
            <p:grpSpPr bwMode="auto">
              <a:xfrm>
                <a:off x="2636" y="1370"/>
                <a:ext cx="4" cy="1886"/>
                <a:chOff x="3931" y="1624"/>
                <a:chExt cx="3" cy="1522"/>
              </a:xfrm>
            </p:grpSpPr>
            <p:sp>
              <p:nvSpPr>
                <p:cNvPr id="94310" name="Freeform 102"/>
                <p:cNvSpPr/>
                <p:nvPr/>
              </p:nvSpPr>
              <p:spPr bwMode="auto">
                <a:xfrm>
                  <a:off x="3931" y="1624"/>
                  <a:ext cx="3" cy="297"/>
                </a:xfrm>
                <a:custGeom>
                  <a:avLst/>
                  <a:gdLst>
                    <a:gd name="T0" fmla="*/ 0 w 1"/>
                    <a:gd name="T1" fmla="*/ 0 h 918"/>
                    <a:gd name="T2" fmla="*/ 0 w 1"/>
                    <a:gd name="T3" fmla="*/ 918 h 918"/>
                    <a:gd name="T4" fmla="*/ 1 w 1"/>
                    <a:gd name="T5" fmla="*/ 918 h 918"/>
                  </a:gdLst>
                  <a:ahLst/>
                  <a:cxnLst>
                    <a:cxn ang="0">
                      <a:pos x="T0" y="T1"/>
                    </a:cxn>
                    <a:cxn ang="0">
                      <a:pos x="T2" y="T3"/>
                    </a:cxn>
                    <a:cxn ang="0">
                      <a:pos x="T4" y="T5"/>
                    </a:cxn>
                  </a:cxnLst>
                  <a:rect l="0" t="0" r="r" b="b"/>
                  <a:pathLst>
                    <a:path w="1" h="918">
                      <a:moveTo>
                        <a:pt x="0" y="0"/>
                      </a:moveTo>
                      <a:lnTo>
                        <a:pt x="0" y="918"/>
                      </a:lnTo>
                      <a:lnTo>
                        <a:pt x="1" y="918"/>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11" name="Freeform 103"/>
                <p:cNvSpPr/>
                <p:nvPr/>
              </p:nvSpPr>
              <p:spPr bwMode="auto">
                <a:xfrm>
                  <a:off x="3931" y="2282"/>
                  <a:ext cx="3" cy="212"/>
                </a:xfrm>
                <a:custGeom>
                  <a:avLst/>
                  <a:gdLst>
                    <a:gd name="T0" fmla="*/ 0 w 1"/>
                    <a:gd name="T1" fmla="*/ 0 h 654"/>
                    <a:gd name="T2" fmla="*/ 0 w 1"/>
                    <a:gd name="T3" fmla="*/ 654 h 654"/>
                    <a:gd name="T4" fmla="*/ 1 w 1"/>
                    <a:gd name="T5" fmla="*/ 654 h 654"/>
                  </a:gdLst>
                  <a:ahLst/>
                  <a:cxnLst>
                    <a:cxn ang="0">
                      <a:pos x="T0" y="T1"/>
                    </a:cxn>
                    <a:cxn ang="0">
                      <a:pos x="T2" y="T3"/>
                    </a:cxn>
                    <a:cxn ang="0">
                      <a:pos x="T4" y="T5"/>
                    </a:cxn>
                  </a:cxnLst>
                  <a:rect l="0" t="0" r="r" b="b"/>
                  <a:pathLst>
                    <a:path w="1" h="654">
                      <a:moveTo>
                        <a:pt x="0" y="0"/>
                      </a:moveTo>
                      <a:lnTo>
                        <a:pt x="0" y="654"/>
                      </a:lnTo>
                      <a:lnTo>
                        <a:pt x="1" y="654"/>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12" name="Freeform 104"/>
                <p:cNvSpPr/>
                <p:nvPr/>
              </p:nvSpPr>
              <p:spPr bwMode="auto">
                <a:xfrm>
                  <a:off x="3931" y="2829"/>
                  <a:ext cx="3" cy="317"/>
                </a:xfrm>
                <a:custGeom>
                  <a:avLst/>
                  <a:gdLst>
                    <a:gd name="T0" fmla="*/ 0 w 1"/>
                    <a:gd name="T1" fmla="*/ 0 h 981"/>
                    <a:gd name="T2" fmla="*/ 0 w 1"/>
                    <a:gd name="T3" fmla="*/ 981 h 981"/>
                    <a:gd name="T4" fmla="*/ 1 w 1"/>
                    <a:gd name="T5" fmla="*/ 981 h 981"/>
                  </a:gdLst>
                  <a:ahLst/>
                  <a:cxnLst>
                    <a:cxn ang="0">
                      <a:pos x="T0" y="T1"/>
                    </a:cxn>
                    <a:cxn ang="0">
                      <a:pos x="T2" y="T3"/>
                    </a:cxn>
                    <a:cxn ang="0">
                      <a:pos x="T4" y="T5"/>
                    </a:cxn>
                  </a:cxnLst>
                  <a:rect l="0" t="0" r="r" b="b"/>
                  <a:pathLst>
                    <a:path w="1" h="981">
                      <a:moveTo>
                        <a:pt x="0" y="0"/>
                      </a:moveTo>
                      <a:lnTo>
                        <a:pt x="0" y="981"/>
                      </a:lnTo>
                      <a:lnTo>
                        <a:pt x="1" y="981"/>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13" name="Freeform 105"/>
                <p:cNvSpPr/>
                <p:nvPr/>
              </p:nvSpPr>
              <p:spPr bwMode="auto">
                <a:xfrm>
                  <a:off x="3931" y="2570"/>
                  <a:ext cx="3" cy="198"/>
                </a:xfrm>
                <a:custGeom>
                  <a:avLst/>
                  <a:gdLst>
                    <a:gd name="T0" fmla="*/ 0 w 1"/>
                    <a:gd name="T1" fmla="*/ 0 h 608"/>
                    <a:gd name="T2" fmla="*/ 0 w 1"/>
                    <a:gd name="T3" fmla="*/ 608 h 608"/>
                    <a:gd name="T4" fmla="*/ 1 w 1"/>
                    <a:gd name="T5" fmla="*/ 608 h 608"/>
                  </a:gdLst>
                  <a:ahLst/>
                  <a:cxnLst>
                    <a:cxn ang="0">
                      <a:pos x="T0" y="T1"/>
                    </a:cxn>
                    <a:cxn ang="0">
                      <a:pos x="T2" y="T3"/>
                    </a:cxn>
                    <a:cxn ang="0">
                      <a:pos x="T4" y="T5"/>
                    </a:cxn>
                  </a:cxnLst>
                  <a:rect l="0" t="0" r="r" b="b"/>
                  <a:pathLst>
                    <a:path w="1" h="608">
                      <a:moveTo>
                        <a:pt x="0" y="0"/>
                      </a:moveTo>
                      <a:lnTo>
                        <a:pt x="0" y="608"/>
                      </a:lnTo>
                      <a:lnTo>
                        <a:pt x="1" y="608"/>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14" name="Freeform 106"/>
                <p:cNvSpPr/>
                <p:nvPr/>
              </p:nvSpPr>
              <p:spPr bwMode="auto">
                <a:xfrm>
                  <a:off x="3931" y="2785"/>
                  <a:ext cx="3" cy="23"/>
                </a:xfrm>
                <a:custGeom>
                  <a:avLst/>
                  <a:gdLst>
                    <a:gd name="T0" fmla="*/ 0 w 1"/>
                    <a:gd name="T1" fmla="*/ 0 h 74"/>
                    <a:gd name="T2" fmla="*/ 0 w 1"/>
                    <a:gd name="T3" fmla="*/ 74 h 74"/>
                    <a:gd name="T4" fmla="*/ 1 w 1"/>
                    <a:gd name="T5" fmla="*/ 74 h 74"/>
                  </a:gdLst>
                  <a:ahLst/>
                  <a:cxnLst>
                    <a:cxn ang="0">
                      <a:pos x="T0" y="T1"/>
                    </a:cxn>
                    <a:cxn ang="0">
                      <a:pos x="T2" y="T3"/>
                    </a:cxn>
                    <a:cxn ang="0">
                      <a:pos x="T4" y="T5"/>
                    </a:cxn>
                  </a:cxnLst>
                  <a:rect l="0" t="0" r="r" b="b"/>
                  <a:pathLst>
                    <a:path w="1" h="74">
                      <a:moveTo>
                        <a:pt x="0" y="0"/>
                      </a:moveTo>
                      <a:lnTo>
                        <a:pt x="0" y="74"/>
                      </a:lnTo>
                      <a:lnTo>
                        <a:pt x="1" y="74"/>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15" name="Freeform 107"/>
                <p:cNvSpPr/>
                <p:nvPr/>
              </p:nvSpPr>
              <p:spPr bwMode="auto">
                <a:xfrm>
                  <a:off x="3931" y="2517"/>
                  <a:ext cx="3" cy="24"/>
                </a:xfrm>
                <a:custGeom>
                  <a:avLst/>
                  <a:gdLst>
                    <a:gd name="T0" fmla="*/ 0 w 1"/>
                    <a:gd name="T1" fmla="*/ 0 h 74"/>
                    <a:gd name="T2" fmla="*/ 0 w 1"/>
                    <a:gd name="T3" fmla="*/ 74 h 74"/>
                    <a:gd name="T4" fmla="*/ 1 w 1"/>
                    <a:gd name="T5" fmla="*/ 74 h 74"/>
                  </a:gdLst>
                  <a:ahLst/>
                  <a:cxnLst>
                    <a:cxn ang="0">
                      <a:pos x="T0" y="T1"/>
                    </a:cxn>
                    <a:cxn ang="0">
                      <a:pos x="T2" y="T3"/>
                    </a:cxn>
                    <a:cxn ang="0">
                      <a:pos x="T4" y="T5"/>
                    </a:cxn>
                  </a:cxnLst>
                  <a:rect l="0" t="0" r="r" b="b"/>
                  <a:pathLst>
                    <a:path w="1" h="74">
                      <a:moveTo>
                        <a:pt x="0" y="0"/>
                      </a:moveTo>
                      <a:lnTo>
                        <a:pt x="0" y="74"/>
                      </a:lnTo>
                      <a:lnTo>
                        <a:pt x="1" y="74"/>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16" name="Freeform 108"/>
                <p:cNvSpPr/>
                <p:nvPr/>
              </p:nvSpPr>
              <p:spPr bwMode="auto">
                <a:xfrm>
                  <a:off x="3931" y="1994"/>
                  <a:ext cx="3" cy="206"/>
                </a:xfrm>
                <a:custGeom>
                  <a:avLst/>
                  <a:gdLst>
                    <a:gd name="T0" fmla="*/ 0 w 1"/>
                    <a:gd name="T1" fmla="*/ 0 h 639"/>
                    <a:gd name="T2" fmla="*/ 0 w 1"/>
                    <a:gd name="T3" fmla="*/ 639 h 639"/>
                    <a:gd name="T4" fmla="*/ 1 w 1"/>
                    <a:gd name="T5" fmla="*/ 639 h 639"/>
                  </a:gdLst>
                  <a:ahLst/>
                  <a:cxnLst>
                    <a:cxn ang="0">
                      <a:pos x="T0" y="T1"/>
                    </a:cxn>
                    <a:cxn ang="0">
                      <a:pos x="T2" y="T3"/>
                    </a:cxn>
                    <a:cxn ang="0">
                      <a:pos x="T4" y="T5"/>
                    </a:cxn>
                  </a:cxnLst>
                  <a:rect l="0" t="0" r="r" b="b"/>
                  <a:pathLst>
                    <a:path w="1" h="639">
                      <a:moveTo>
                        <a:pt x="0" y="0"/>
                      </a:moveTo>
                      <a:lnTo>
                        <a:pt x="0" y="639"/>
                      </a:lnTo>
                      <a:lnTo>
                        <a:pt x="1" y="639"/>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17" name="Freeform 109"/>
                <p:cNvSpPr/>
                <p:nvPr/>
              </p:nvSpPr>
              <p:spPr bwMode="auto">
                <a:xfrm>
                  <a:off x="3931" y="2229"/>
                  <a:ext cx="3" cy="24"/>
                </a:xfrm>
                <a:custGeom>
                  <a:avLst/>
                  <a:gdLst>
                    <a:gd name="T0" fmla="*/ 0 w 1"/>
                    <a:gd name="T1" fmla="*/ 0 h 75"/>
                    <a:gd name="T2" fmla="*/ 0 w 1"/>
                    <a:gd name="T3" fmla="*/ 75 h 75"/>
                    <a:gd name="T4" fmla="*/ 1 w 1"/>
                    <a:gd name="T5" fmla="*/ 75 h 75"/>
                  </a:gdLst>
                  <a:ahLst/>
                  <a:cxnLst>
                    <a:cxn ang="0">
                      <a:pos x="T0" y="T1"/>
                    </a:cxn>
                    <a:cxn ang="0">
                      <a:pos x="T2" y="T3"/>
                    </a:cxn>
                    <a:cxn ang="0">
                      <a:pos x="T4" y="T5"/>
                    </a:cxn>
                  </a:cxnLst>
                  <a:rect l="0" t="0" r="r" b="b"/>
                  <a:pathLst>
                    <a:path w="1" h="75">
                      <a:moveTo>
                        <a:pt x="0" y="0"/>
                      </a:moveTo>
                      <a:lnTo>
                        <a:pt x="0" y="75"/>
                      </a:lnTo>
                      <a:lnTo>
                        <a:pt x="1" y="75"/>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18" name="Freeform 110"/>
                <p:cNvSpPr/>
                <p:nvPr/>
              </p:nvSpPr>
              <p:spPr bwMode="auto">
                <a:xfrm>
                  <a:off x="3931" y="1947"/>
                  <a:ext cx="3" cy="23"/>
                </a:xfrm>
                <a:custGeom>
                  <a:avLst/>
                  <a:gdLst>
                    <a:gd name="T0" fmla="*/ 0 w 1"/>
                    <a:gd name="T1" fmla="*/ 0 h 74"/>
                    <a:gd name="T2" fmla="*/ 0 w 1"/>
                    <a:gd name="T3" fmla="*/ 74 h 74"/>
                    <a:gd name="T4" fmla="*/ 1 w 1"/>
                    <a:gd name="T5" fmla="*/ 74 h 74"/>
                  </a:gdLst>
                  <a:ahLst/>
                  <a:cxnLst>
                    <a:cxn ang="0">
                      <a:pos x="T0" y="T1"/>
                    </a:cxn>
                    <a:cxn ang="0">
                      <a:pos x="T2" y="T3"/>
                    </a:cxn>
                    <a:cxn ang="0">
                      <a:pos x="T4" y="T5"/>
                    </a:cxn>
                  </a:cxnLst>
                  <a:rect l="0" t="0" r="r" b="b"/>
                  <a:pathLst>
                    <a:path w="1" h="74">
                      <a:moveTo>
                        <a:pt x="0" y="0"/>
                      </a:moveTo>
                      <a:lnTo>
                        <a:pt x="0" y="74"/>
                      </a:lnTo>
                      <a:lnTo>
                        <a:pt x="1" y="74"/>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94319" name="Group 111"/>
              <p:cNvGrpSpPr/>
              <p:nvPr/>
            </p:nvGrpSpPr>
            <p:grpSpPr bwMode="auto">
              <a:xfrm>
                <a:off x="1681" y="2304"/>
                <a:ext cx="1906" cy="4"/>
                <a:chOff x="3161" y="2378"/>
                <a:chExt cx="1537" cy="3"/>
              </a:xfrm>
            </p:grpSpPr>
            <p:sp>
              <p:nvSpPr>
                <p:cNvPr id="94320" name="Freeform 112"/>
                <p:cNvSpPr/>
                <p:nvPr/>
              </p:nvSpPr>
              <p:spPr bwMode="auto">
                <a:xfrm>
                  <a:off x="3161" y="2378"/>
                  <a:ext cx="312" cy="3"/>
                </a:xfrm>
                <a:custGeom>
                  <a:avLst/>
                  <a:gdLst>
                    <a:gd name="T0" fmla="*/ 0 w 969"/>
                    <a:gd name="T1" fmla="*/ 968 w 969"/>
                    <a:gd name="T2" fmla="*/ 969 w 969"/>
                  </a:gdLst>
                  <a:ahLst/>
                  <a:cxnLst>
                    <a:cxn ang="0">
                      <a:pos x="T0" y="0"/>
                    </a:cxn>
                    <a:cxn ang="0">
                      <a:pos x="T1" y="0"/>
                    </a:cxn>
                    <a:cxn ang="0">
                      <a:pos x="T2" y="0"/>
                    </a:cxn>
                  </a:cxnLst>
                  <a:rect l="0" t="0" r="r" b="b"/>
                  <a:pathLst>
                    <a:path w="969">
                      <a:moveTo>
                        <a:pt x="0" y="0"/>
                      </a:moveTo>
                      <a:lnTo>
                        <a:pt x="968" y="0"/>
                      </a:lnTo>
                      <a:lnTo>
                        <a:pt x="96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21" name="Freeform 113"/>
                <p:cNvSpPr/>
                <p:nvPr/>
              </p:nvSpPr>
              <p:spPr bwMode="auto">
                <a:xfrm>
                  <a:off x="4383" y="2378"/>
                  <a:ext cx="315" cy="3"/>
                </a:xfrm>
                <a:custGeom>
                  <a:avLst/>
                  <a:gdLst>
                    <a:gd name="T0" fmla="*/ 0 w 972"/>
                    <a:gd name="T1" fmla="*/ 971 w 972"/>
                    <a:gd name="T2" fmla="*/ 972 w 972"/>
                  </a:gdLst>
                  <a:ahLst/>
                  <a:cxnLst>
                    <a:cxn ang="0">
                      <a:pos x="T0" y="0"/>
                    </a:cxn>
                    <a:cxn ang="0">
                      <a:pos x="T1" y="0"/>
                    </a:cxn>
                    <a:cxn ang="0">
                      <a:pos x="T2" y="0"/>
                    </a:cxn>
                  </a:cxnLst>
                  <a:rect l="0" t="0" r="r" b="b"/>
                  <a:pathLst>
                    <a:path w="972">
                      <a:moveTo>
                        <a:pt x="0" y="0"/>
                      </a:moveTo>
                      <a:lnTo>
                        <a:pt x="971" y="0"/>
                      </a:lnTo>
                      <a:lnTo>
                        <a:pt x="972"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22" name="Freeform 114"/>
                <p:cNvSpPr/>
                <p:nvPr/>
              </p:nvSpPr>
              <p:spPr bwMode="auto">
                <a:xfrm>
                  <a:off x="3852" y="2378"/>
                  <a:ext cx="181" cy="3"/>
                </a:xfrm>
                <a:custGeom>
                  <a:avLst/>
                  <a:gdLst>
                    <a:gd name="T0" fmla="*/ 0 w 551"/>
                    <a:gd name="T1" fmla="*/ 550 w 551"/>
                    <a:gd name="T2" fmla="*/ 551 w 551"/>
                  </a:gdLst>
                  <a:ahLst/>
                  <a:cxnLst>
                    <a:cxn ang="0">
                      <a:pos x="T0" y="0"/>
                    </a:cxn>
                    <a:cxn ang="0">
                      <a:pos x="T1" y="0"/>
                    </a:cxn>
                    <a:cxn ang="0">
                      <a:pos x="T2" y="0"/>
                    </a:cxn>
                  </a:cxnLst>
                  <a:rect l="0" t="0" r="r" b="b"/>
                  <a:pathLst>
                    <a:path w="551">
                      <a:moveTo>
                        <a:pt x="0" y="0"/>
                      </a:moveTo>
                      <a:lnTo>
                        <a:pt x="550" y="0"/>
                      </a:lnTo>
                      <a:lnTo>
                        <a:pt x="55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23" name="Freeform 115"/>
                <p:cNvSpPr/>
                <p:nvPr/>
              </p:nvSpPr>
              <p:spPr bwMode="auto">
                <a:xfrm>
                  <a:off x="3540" y="2378"/>
                  <a:ext cx="242" cy="3"/>
                </a:xfrm>
                <a:custGeom>
                  <a:avLst/>
                  <a:gdLst>
                    <a:gd name="T0" fmla="*/ 0 w 743"/>
                    <a:gd name="T1" fmla="*/ 742 w 743"/>
                    <a:gd name="T2" fmla="*/ 743 w 743"/>
                  </a:gdLst>
                  <a:ahLst/>
                  <a:cxnLst>
                    <a:cxn ang="0">
                      <a:pos x="T0" y="0"/>
                    </a:cxn>
                    <a:cxn ang="0">
                      <a:pos x="T1" y="0"/>
                    </a:cxn>
                    <a:cxn ang="0">
                      <a:pos x="T2" y="0"/>
                    </a:cxn>
                  </a:cxnLst>
                  <a:rect l="0" t="0" r="r" b="b"/>
                  <a:pathLst>
                    <a:path w="743">
                      <a:moveTo>
                        <a:pt x="0" y="0"/>
                      </a:moveTo>
                      <a:lnTo>
                        <a:pt x="742" y="0"/>
                      </a:lnTo>
                      <a:lnTo>
                        <a:pt x="743"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24" name="Freeform 116"/>
                <p:cNvSpPr/>
                <p:nvPr/>
              </p:nvSpPr>
              <p:spPr bwMode="auto">
                <a:xfrm>
                  <a:off x="3497" y="2378"/>
                  <a:ext cx="20" cy="3"/>
                </a:xfrm>
                <a:custGeom>
                  <a:avLst/>
                  <a:gdLst>
                    <a:gd name="T0" fmla="*/ 0 w 60"/>
                    <a:gd name="T1" fmla="*/ 59 w 60"/>
                    <a:gd name="T2" fmla="*/ 60 w 60"/>
                  </a:gdLst>
                  <a:ahLst/>
                  <a:cxnLst>
                    <a:cxn ang="0">
                      <a:pos x="T0" y="0"/>
                    </a:cxn>
                    <a:cxn ang="0">
                      <a:pos x="T1" y="0"/>
                    </a:cxn>
                    <a:cxn ang="0">
                      <a:pos x="T2" y="0"/>
                    </a:cxn>
                  </a:cxnLst>
                  <a:rect l="0" t="0" r="r" b="b"/>
                  <a:pathLst>
                    <a:path w="60">
                      <a:moveTo>
                        <a:pt x="0" y="0"/>
                      </a:moveTo>
                      <a:lnTo>
                        <a:pt x="59" y="0"/>
                      </a:lnTo>
                      <a:lnTo>
                        <a:pt x="60"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25" name="Freeform 117"/>
                <p:cNvSpPr/>
                <p:nvPr/>
              </p:nvSpPr>
              <p:spPr bwMode="auto">
                <a:xfrm>
                  <a:off x="3806" y="2378"/>
                  <a:ext cx="20" cy="3"/>
                </a:xfrm>
                <a:custGeom>
                  <a:avLst/>
                  <a:gdLst>
                    <a:gd name="T0" fmla="*/ 0 w 61"/>
                    <a:gd name="T1" fmla="*/ 60 w 61"/>
                    <a:gd name="T2" fmla="*/ 61 w 61"/>
                  </a:gdLst>
                  <a:ahLst/>
                  <a:cxnLst>
                    <a:cxn ang="0">
                      <a:pos x="T0" y="0"/>
                    </a:cxn>
                    <a:cxn ang="0">
                      <a:pos x="T1" y="0"/>
                    </a:cxn>
                    <a:cxn ang="0">
                      <a:pos x="T2" y="0"/>
                    </a:cxn>
                  </a:cxnLst>
                  <a:rect l="0" t="0" r="r" b="b"/>
                  <a:pathLst>
                    <a:path w="61">
                      <a:moveTo>
                        <a:pt x="0" y="0"/>
                      </a:moveTo>
                      <a:lnTo>
                        <a:pt x="60" y="0"/>
                      </a:lnTo>
                      <a:lnTo>
                        <a:pt x="61"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26" name="Freeform 118"/>
                <p:cNvSpPr/>
                <p:nvPr/>
              </p:nvSpPr>
              <p:spPr bwMode="auto">
                <a:xfrm>
                  <a:off x="4118" y="2378"/>
                  <a:ext cx="198" cy="3"/>
                </a:xfrm>
                <a:custGeom>
                  <a:avLst/>
                  <a:gdLst>
                    <a:gd name="T0" fmla="*/ 0 w 609"/>
                    <a:gd name="T1" fmla="*/ 608 w 609"/>
                    <a:gd name="T2" fmla="*/ 609 w 609"/>
                  </a:gdLst>
                  <a:ahLst/>
                  <a:cxnLst>
                    <a:cxn ang="0">
                      <a:pos x="T0" y="0"/>
                    </a:cxn>
                    <a:cxn ang="0">
                      <a:pos x="T1" y="0"/>
                    </a:cxn>
                    <a:cxn ang="0">
                      <a:pos x="T2" y="0"/>
                    </a:cxn>
                  </a:cxnLst>
                  <a:rect l="0" t="0" r="r" b="b"/>
                  <a:pathLst>
                    <a:path w="609">
                      <a:moveTo>
                        <a:pt x="0" y="0"/>
                      </a:moveTo>
                      <a:lnTo>
                        <a:pt x="608" y="0"/>
                      </a:lnTo>
                      <a:lnTo>
                        <a:pt x="609"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27" name="Freeform 119"/>
                <p:cNvSpPr/>
                <p:nvPr/>
              </p:nvSpPr>
              <p:spPr bwMode="auto">
                <a:xfrm>
                  <a:off x="4065" y="2378"/>
                  <a:ext cx="24" cy="3"/>
                </a:xfrm>
                <a:custGeom>
                  <a:avLst/>
                  <a:gdLst>
                    <a:gd name="T0" fmla="*/ 0 w 76"/>
                    <a:gd name="T1" fmla="*/ 75 w 76"/>
                    <a:gd name="T2" fmla="*/ 76 w 76"/>
                  </a:gdLst>
                  <a:ahLst/>
                  <a:cxnLst>
                    <a:cxn ang="0">
                      <a:pos x="T0" y="0"/>
                    </a:cxn>
                    <a:cxn ang="0">
                      <a:pos x="T1" y="0"/>
                    </a:cxn>
                    <a:cxn ang="0">
                      <a:pos x="T2" y="0"/>
                    </a:cxn>
                  </a:cxnLst>
                  <a:rect l="0" t="0" r="r" b="b"/>
                  <a:pathLst>
                    <a:path w="76">
                      <a:moveTo>
                        <a:pt x="0" y="0"/>
                      </a:moveTo>
                      <a:lnTo>
                        <a:pt x="75" y="0"/>
                      </a:lnTo>
                      <a:lnTo>
                        <a:pt x="76"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328" name="Freeform 120"/>
                <p:cNvSpPr/>
                <p:nvPr/>
              </p:nvSpPr>
              <p:spPr bwMode="auto">
                <a:xfrm>
                  <a:off x="4334" y="2378"/>
                  <a:ext cx="26" cy="3"/>
                </a:xfrm>
                <a:custGeom>
                  <a:avLst/>
                  <a:gdLst>
                    <a:gd name="T0" fmla="*/ 0 w 75"/>
                    <a:gd name="T1" fmla="*/ 74 w 75"/>
                    <a:gd name="T2" fmla="*/ 75 w 75"/>
                  </a:gdLst>
                  <a:ahLst/>
                  <a:cxnLst>
                    <a:cxn ang="0">
                      <a:pos x="T0" y="0"/>
                    </a:cxn>
                    <a:cxn ang="0">
                      <a:pos x="T1" y="0"/>
                    </a:cxn>
                    <a:cxn ang="0">
                      <a:pos x="T2" y="0"/>
                    </a:cxn>
                  </a:cxnLst>
                  <a:rect l="0" t="0" r="r" b="b"/>
                  <a:pathLst>
                    <a:path w="75">
                      <a:moveTo>
                        <a:pt x="0" y="0"/>
                      </a:moveTo>
                      <a:lnTo>
                        <a:pt x="74" y="0"/>
                      </a:lnTo>
                      <a:lnTo>
                        <a:pt x="75" y="0"/>
                      </a:lnTo>
                    </a:path>
                  </a:pathLst>
                </a:custGeom>
                <a:noFill/>
                <a:ln w="19050" cmpd="sng">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4329" name="Oval 121"/>
              <p:cNvSpPr>
                <a:spLocks noChangeArrowheads="1"/>
              </p:cNvSpPr>
              <p:nvPr/>
            </p:nvSpPr>
            <p:spPr bwMode="auto">
              <a:xfrm>
                <a:off x="2225" y="1900"/>
                <a:ext cx="819" cy="81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0" name="Oval 122"/>
              <p:cNvSpPr>
                <a:spLocks noChangeArrowheads="1"/>
              </p:cNvSpPr>
              <p:nvPr/>
            </p:nvSpPr>
            <p:spPr bwMode="auto">
              <a:xfrm>
                <a:off x="2166" y="1841"/>
                <a:ext cx="937" cy="937"/>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1" name="Oval 123"/>
              <p:cNvSpPr>
                <a:spLocks noChangeArrowheads="1"/>
              </p:cNvSpPr>
              <p:nvPr/>
            </p:nvSpPr>
            <p:spPr bwMode="auto">
              <a:xfrm>
                <a:off x="2054" y="1729"/>
                <a:ext cx="1161" cy="116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2" name="Oval 124"/>
              <p:cNvSpPr>
                <a:spLocks noChangeArrowheads="1"/>
              </p:cNvSpPr>
              <p:nvPr/>
            </p:nvSpPr>
            <p:spPr bwMode="auto">
              <a:xfrm>
                <a:off x="1734" y="1410"/>
                <a:ext cx="1801" cy="1799"/>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3" name="Oval 125"/>
              <p:cNvSpPr>
                <a:spLocks noChangeArrowheads="1"/>
              </p:cNvSpPr>
              <p:nvPr/>
            </p:nvSpPr>
            <p:spPr bwMode="auto">
              <a:xfrm>
                <a:off x="2553" y="1484"/>
                <a:ext cx="168" cy="169"/>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4" name="Oval 126"/>
              <p:cNvSpPr>
                <a:spLocks noChangeArrowheads="1"/>
              </p:cNvSpPr>
              <p:nvPr/>
            </p:nvSpPr>
            <p:spPr bwMode="auto">
              <a:xfrm>
                <a:off x="1814" y="2223"/>
                <a:ext cx="168" cy="16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5" name="Oval 127"/>
              <p:cNvSpPr>
                <a:spLocks noChangeArrowheads="1"/>
              </p:cNvSpPr>
              <p:nvPr/>
            </p:nvSpPr>
            <p:spPr bwMode="auto">
              <a:xfrm>
                <a:off x="3287" y="2223"/>
                <a:ext cx="169" cy="16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336" name="Oval 128"/>
              <p:cNvSpPr>
                <a:spLocks noChangeArrowheads="1"/>
              </p:cNvSpPr>
              <p:nvPr/>
            </p:nvSpPr>
            <p:spPr bwMode="auto">
              <a:xfrm>
                <a:off x="2553" y="2961"/>
                <a:ext cx="168" cy="169"/>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337" name="Group 129"/>
              <p:cNvGrpSpPr/>
              <p:nvPr/>
            </p:nvGrpSpPr>
            <p:grpSpPr bwMode="auto">
              <a:xfrm>
                <a:off x="1896" y="1564"/>
                <a:ext cx="1476" cy="1485"/>
                <a:chOff x="1896" y="1564"/>
                <a:chExt cx="1476" cy="1485"/>
              </a:xfrm>
            </p:grpSpPr>
            <p:sp>
              <p:nvSpPr>
                <p:cNvPr id="94338" name="Freeform 130"/>
                <p:cNvSpPr/>
                <p:nvPr/>
              </p:nvSpPr>
              <p:spPr bwMode="auto">
                <a:xfrm>
                  <a:off x="1980" y="1644"/>
                  <a:ext cx="324" cy="315"/>
                </a:xfrm>
                <a:custGeom>
                  <a:avLst/>
                  <a:gdLst>
                    <a:gd name="T0" fmla="*/ 324 w 324"/>
                    <a:gd name="T1" fmla="*/ 0 h 315"/>
                    <a:gd name="T2" fmla="*/ 186 w 324"/>
                    <a:gd name="T3" fmla="*/ 87 h 315"/>
                    <a:gd name="T4" fmla="*/ 66 w 324"/>
                    <a:gd name="T5" fmla="*/ 216 h 315"/>
                    <a:gd name="T6" fmla="*/ 0 w 324"/>
                    <a:gd name="T7" fmla="*/ 315 h 315"/>
                  </a:gdLst>
                  <a:ahLst/>
                  <a:cxnLst>
                    <a:cxn ang="0">
                      <a:pos x="T0" y="T1"/>
                    </a:cxn>
                    <a:cxn ang="0">
                      <a:pos x="T2" y="T3"/>
                    </a:cxn>
                    <a:cxn ang="0">
                      <a:pos x="T4" y="T5"/>
                    </a:cxn>
                    <a:cxn ang="0">
                      <a:pos x="T6" y="T7"/>
                    </a:cxn>
                  </a:cxnLst>
                  <a:rect l="0" t="0" r="r" b="b"/>
                  <a:pathLst>
                    <a:path w="324" h="315">
                      <a:moveTo>
                        <a:pt x="324" y="0"/>
                      </a:moveTo>
                      <a:cubicBezTo>
                        <a:pt x="301" y="14"/>
                        <a:pt x="229" y="51"/>
                        <a:pt x="186" y="87"/>
                      </a:cubicBezTo>
                      <a:cubicBezTo>
                        <a:pt x="143" y="123"/>
                        <a:pt x="97" y="178"/>
                        <a:pt x="66" y="216"/>
                      </a:cubicBezTo>
                      <a:cubicBezTo>
                        <a:pt x="35" y="254"/>
                        <a:pt x="14" y="294"/>
                        <a:pt x="0" y="315"/>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39" name="Freeform 131"/>
                <p:cNvSpPr/>
                <p:nvPr/>
              </p:nvSpPr>
              <p:spPr bwMode="auto">
                <a:xfrm>
                  <a:off x="1935" y="2010"/>
                  <a:ext cx="21" cy="57"/>
                </a:xfrm>
                <a:custGeom>
                  <a:avLst/>
                  <a:gdLst>
                    <a:gd name="T0" fmla="*/ 21 w 21"/>
                    <a:gd name="T1" fmla="*/ 0 h 57"/>
                    <a:gd name="T2" fmla="*/ 0 w 21"/>
                    <a:gd name="T3" fmla="*/ 57 h 57"/>
                  </a:gdLst>
                  <a:ahLst/>
                  <a:cxnLst>
                    <a:cxn ang="0">
                      <a:pos x="T0" y="T1"/>
                    </a:cxn>
                    <a:cxn ang="0">
                      <a:pos x="T2" y="T3"/>
                    </a:cxn>
                  </a:cxnLst>
                  <a:rect l="0" t="0" r="r" b="b"/>
                  <a:pathLst>
                    <a:path w="21" h="57">
                      <a:moveTo>
                        <a:pt x="21" y="0"/>
                      </a:moveTo>
                      <a:cubicBezTo>
                        <a:pt x="17" y="10"/>
                        <a:pt x="4" y="45"/>
                        <a:pt x="0" y="57"/>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0" name="Freeform 132"/>
                <p:cNvSpPr/>
                <p:nvPr/>
              </p:nvSpPr>
              <p:spPr bwMode="auto">
                <a:xfrm>
                  <a:off x="1896" y="2124"/>
                  <a:ext cx="20" cy="380"/>
                </a:xfrm>
                <a:custGeom>
                  <a:avLst/>
                  <a:gdLst>
                    <a:gd name="T0" fmla="*/ 18 w 20"/>
                    <a:gd name="T1" fmla="*/ 0 h 380"/>
                    <a:gd name="T2" fmla="*/ 4 w 20"/>
                    <a:gd name="T3" fmla="*/ 112 h 380"/>
                    <a:gd name="T4" fmla="*/ 0 w 20"/>
                    <a:gd name="T5" fmla="*/ 184 h 380"/>
                    <a:gd name="T6" fmla="*/ 3 w 20"/>
                    <a:gd name="T7" fmla="*/ 249 h 380"/>
                    <a:gd name="T8" fmla="*/ 8 w 20"/>
                    <a:gd name="T9" fmla="*/ 320 h 380"/>
                    <a:gd name="T10" fmla="*/ 20 w 20"/>
                    <a:gd name="T11" fmla="*/ 380 h 380"/>
                  </a:gdLst>
                  <a:ahLst/>
                  <a:cxnLst>
                    <a:cxn ang="0">
                      <a:pos x="T0" y="T1"/>
                    </a:cxn>
                    <a:cxn ang="0">
                      <a:pos x="T2" y="T3"/>
                    </a:cxn>
                    <a:cxn ang="0">
                      <a:pos x="T4" y="T5"/>
                    </a:cxn>
                    <a:cxn ang="0">
                      <a:pos x="T6" y="T7"/>
                    </a:cxn>
                    <a:cxn ang="0">
                      <a:pos x="T8" y="T9"/>
                    </a:cxn>
                    <a:cxn ang="0">
                      <a:pos x="T10" y="T11"/>
                    </a:cxn>
                  </a:cxnLst>
                  <a:rect l="0" t="0" r="r" b="b"/>
                  <a:pathLst>
                    <a:path w="20" h="380">
                      <a:moveTo>
                        <a:pt x="18" y="0"/>
                      </a:moveTo>
                      <a:cubicBezTo>
                        <a:pt x="16" y="19"/>
                        <a:pt x="7" y="81"/>
                        <a:pt x="4" y="112"/>
                      </a:cubicBezTo>
                      <a:cubicBezTo>
                        <a:pt x="1" y="143"/>
                        <a:pt x="0" y="161"/>
                        <a:pt x="0" y="184"/>
                      </a:cubicBezTo>
                      <a:cubicBezTo>
                        <a:pt x="0" y="207"/>
                        <a:pt x="2" y="226"/>
                        <a:pt x="3" y="249"/>
                      </a:cubicBezTo>
                      <a:cubicBezTo>
                        <a:pt x="4" y="272"/>
                        <a:pt x="5" y="298"/>
                        <a:pt x="8" y="320"/>
                      </a:cubicBezTo>
                      <a:cubicBezTo>
                        <a:pt x="11" y="342"/>
                        <a:pt x="18" y="368"/>
                        <a:pt x="20" y="380"/>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1" name="Freeform 133"/>
                <p:cNvSpPr/>
                <p:nvPr/>
              </p:nvSpPr>
              <p:spPr bwMode="auto">
                <a:xfrm>
                  <a:off x="1932" y="2544"/>
                  <a:ext cx="24" cy="54"/>
                </a:xfrm>
                <a:custGeom>
                  <a:avLst/>
                  <a:gdLst>
                    <a:gd name="T0" fmla="*/ 0 w 24"/>
                    <a:gd name="T1" fmla="*/ 0 h 54"/>
                    <a:gd name="T2" fmla="*/ 24 w 24"/>
                    <a:gd name="T3" fmla="*/ 54 h 54"/>
                  </a:gdLst>
                  <a:ahLst/>
                  <a:cxnLst>
                    <a:cxn ang="0">
                      <a:pos x="T0" y="T1"/>
                    </a:cxn>
                    <a:cxn ang="0">
                      <a:pos x="T2" y="T3"/>
                    </a:cxn>
                  </a:cxnLst>
                  <a:rect l="0" t="0" r="r" b="b"/>
                  <a:pathLst>
                    <a:path w="24" h="54">
                      <a:moveTo>
                        <a:pt x="0" y="0"/>
                      </a:moveTo>
                      <a:cubicBezTo>
                        <a:pt x="4" y="9"/>
                        <a:pt x="19" y="43"/>
                        <a:pt x="24" y="54"/>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2" name="Freeform 134"/>
                <p:cNvSpPr/>
                <p:nvPr/>
              </p:nvSpPr>
              <p:spPr bwMode="auto">
                <a:xfrm>
                  <a:off x="1980" y="2646"/>
                  <a:ext cx="267" cy="297"/>
                </a:xfrm>
                <a:custGeom>
                  <a:avLst/>
                  <a:gdLst>
                    <a:gd name="T0" fmla="*/ 0 w 267"/>
                    <a:gd name="T1" fmla="*/ 0 h 297"/>
                    <a:gd name="T2" fmla="*/ 42 w 267"/>
                    <a:gd name="T3" fmla="*/ 78 h 297"/>
                    <a:gd name="T4" fmla="*/ 92 w 267"/>
                    <a:gd name="T5" fmla="*/ 146 h 297"/>
                    <a:gd name="T6" fmla="*/ 165 w 267"/>
                    <a:gd name="T7" fmla="*/ 219 h 297"/>
                    <a:gd name="T8" fmla="*/ 234 w 267"/>
                    <a:gd name="T9" fmla="*/ 270 h 297"/>
                    <a:gd name="T10" fmla="*/ 267 w 267"/>
                    <a:gd name="T11" fmla="*/ 297 h 297"/>
                  </a:gdLst>
                  <a:ahLst/>
                  <a:cxnLst>
                    <a:cxn ang="0">
                      <a:pos x="T0" y="T1"/>
                    </a:cxn>
                    <a:cxn ang="0">
                      <a:pos x="T2" y="T3"/>
                    </a:cxn>
                    <a:cxn ang="0">
                      <a:pos x="T4" y="T5"/>
                    </a:cxn>
                    <a:cxn ang="0">
                      <a:pos x="T6" y="T7"/>
                    </a:cxn>
                    <a:cxn ang="0">
                      <a:pos x="T8" y="T9"/>
                    </a:cxn>
                    <a:cxn ang="0">
                      <a:pos x="T10" y="T11"/>
                    </a:cxn>
                  </a:cxnLst>
                  <a:rect l="0" t="0" r="r" b="b"/>
                  <a:pathLst>
                    <a:path w="267" h="297">
                      <a:moveTo>
                        <a:pt x="0" y="0"/>
                      </a:moveTo>
                      <a:cubicBezTo>
                        <a:pt x="7" y="13"/>
                        <a:pt x="27" y="54"/>
                        <a:pt x="42" y="78"/>
                      </a:cubicBezTo>
                      <a:cubicBezTo>
                        <a:pt x="57" y="102"/>
                        <a:pt x="72" y="123"/>
                        <a:pt x="92" y="146"/>
                      </a:cubicBezTo>
                      <a:cubicBezTo>
                        <a:pt x="112" y="169"/>
                        <a:pt x="141" y="198"/>
                        <a:pt x="165" y="219"/>
                      </a:cubicBezTo>
                      <a:cubicBezTo>
                        <a:pt x="189" y="240"/>
                        <a:pt x="217" y="257"/>
                        <a:pt x="234" y="270"/>
                      </a:cubicBezTo>
                      <a:cubicBezTo>
                        <a:pt x="251" y="283"/>
                        <a:pt x="260" y="292"/>
                        <a:pt x="267" y="297"/>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3" name="Freeform 135"/>
                <p:cNvSpPr/>
                <p:nvPr/>
              </p:nvSpPr>
              <p:spPr bwMode="auto">
                <a:xfrm>
                  <a:off x="2304" y="2964"/>
                  <a:ext cx="54" cy="30"/>
                </a:xfrm>
                <a:custGeom>
                  <a:avLst/>
                  <a:gdLst>
                    <a:gd name="T0" fmla="*/ 0 w 54"/>
                    <a:gd name="T1" fmla="*/ 0 h 30"/>
                    <a:gd name="T2" fmla="*/ 54 w 54"/>
                    <a:gd name="T3" fmla="*/ 30 h 30"/>
                  </a:gdLst>
                  <a:ahLst/>
                  <a:cxnLst>
                    <a:cxn ang="0">
                      <a:pos x="T0" y="T1"/>
                    </a:cxn>
                    <a:cxn ang="0">
                      <a:pos x="T2" y="T3"/>
                    </a:cxn>
                  </a:cxnLst>
                  <a:rect l="0" t="0" r="r" b="b"/>
                  <a:pathLst>
                    <a:path w="54" h="30">
                      <a:moveTo>
                        <a:pt x="0" y="0"/>
                      </a:moveTo>
                      <a:cubicBezTo>
                        <a:pt x="22" y="12"/>
                        <a:pt x="45" y="25"/>
                        <a:pt x="54" y="30"/>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4" name="Freeform 136"/>
                <p:cNvSpPr/>
                <p:nvPr/>
              </p:nvSpPr>
              <p:spPr bwMode="auto">
                <a:xfrm>
                  <a:off x="2400" y="3006"/>
                  <a:ext cx="492" cy="43"/>
                </a:xfrm>
                <a:custGeom>
                  <a:avLst/>
                  <a:gdLst>
                    <a:gd name="T0" fmla="*/ 0 w 492"/>
                    <a:gd name="T1" fmla="*/ 3 h 43"/>
                    <a:gd name="T2" fmla="*/ 114 w 492"/>
                    <a:gd name="T3" fmla="*/ 30 h 43"/>
                    <a:gd name="T4" fmla="*/ 228 w 492"/>
                    <a:gd name="T5" fmla="*/ 42 h 43"/>
                    <a:gd name="T6" fmla="*/ 342 w 492"/>
                    <a:gd name="T7" fmla="*/ 36 h 43"/>
                    <a:gd name="T8" fmla="*/ 438 w 492"/>
                    <a:gd name="T9" fmla="*/ 15 h 43"/>
                    <a:gd name="T10" fmla="*/ 492 w 492"/>
                    <a:gd name="T11" fmla="*/ 0 h 43"/>
                  </a:gdLst>
                  <a:ahLst/>
                  <a:cxnLst>
                    <a:cxn ang="0">
                      <a:pos x="T0" y="T1"/>
                    </a:cxn>
                    <a:cxn ang="0">
                      <a:pos x="T2" y="T3"/>
                    </a:cxn>
                    <a:cxn ang="0">
                      <a:pos x="T4" y="T5"/>
                    </a:cxn>
                    <a:cxn ang="0">
                      <a:pos x="T6" y="T7"/>
                    </a:cxn>
                    <a:cxn ang="0">
                      <a:pos x="T8" y="T9"/>
                    </a:cxn>
                    <a:cxn ang="0">
                      <a:pos x="T10" y="T11"/>
                    </a:cxn>
                  </a:cxnLst>
                  <a:rect l="0" t="0" r="r" b="b"/>
                  <a:pathLst>
                    <a:path w="492" h="43">
                      <a:moveTo>
                        <a:pt x="0" y="3"/>
                      </a:moveTo>
                      <a:cubicBezTo>
                        <a:pt x="19" y="7"/>
                        <a:pt x="76" y="24"/>
                        <a:pt x="114" y="30"/>
                      </a:cubicBezTo>
                      <a:cubicBezTo>
                        <a:pt x="152" y="36"/>
                        <a:pt x="190" y="41"/>
                        <a:pt x="228" y="42"/>
                      </a:cubicBezTo>
                      <a:cubicBezTo>
                        <a:pt x="266" y="43"/>
                        <a:pt x="307" y="40"/>
                        <a:pt x="342" y="36"/>
                      </a:cubicBezTo>
                      <a:cubicBezTo>
                        <a:pt x="377" y="32"/>
                        <a:pt x="413" y="21"/>
                        <a:pt x="438" y="15"/>
                      </a:cubicBezTo>
                      <a:cubicBezTo>
                        <a:pt x="463" y="9"/>
                        <a:pt x="481" y="3"/>
                        <a:pt x="492" y="0"/>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5" name="Freeform 137"/>
                <p:cNvSpPr/>
                <p:nvPr/>
              </p:nvSpPr>
              <p:spPr bwMode="auto">
                <a:xfrm>
                  <a:off x="2946" y="2958"/>
                  <a:ext cx="42" cy="24"/>
                </a:xfrm>
                <a:custGeom>
                  <a:avLst/>
                  <a:gdLst>
                    <a:gd name="T0" fmla="*/ 0 w 42"/>
                    <a:gd name="T1" fmla="*/ 24 h 24"/>
                    <a:gd name="T2" fmla="*/ 42 w 42"/>
                    <a:gd name="T3" fmla="*/ 0 h 24"/>
                  </a:gdLst>
                  <a:ahLst/>
                  <a:cxnLst>
                    <a:cxn ang="0">
                      <a:pos x="T0" y="T1"/>
                    </a:cxn>
                    <a:cxn ang="0">
                      <a:pos x="T2" y="T3"/>
                    </a:cxn>
                  </a:cxnLst>
                  <a:rect l="0" t="0" r="r" b="b"/>
                  <a:pathLst>
                    <a:path w="42" h="24">
                      <a:moveTo>
                        <a:pt x="0" y="24"/>
                      </a:moveTo>
                      <a:cubicBezTo>
                        <a:pt x="17" y="14"/>
                        <a:pt x="35" y="4"/>
                        <a:pt x="42" y="0"/>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6" name="Freeform 138"/>
                <p:cNvSpPr/>
                <p:nvPr/>
              </p:nvSpPr>
              <p:spPr bwMode="auto">
                <a:xfrm>
                  <a:off x="3042" y="2648"/>
                  <a:ext cx="258" cy="277"/>
                </a:xfrm>
                <a:custGeom>
                  <a:avLst/>
                  <a:gdLst>
                    <a:gd name="T0" fmla="*/ 0 w 258"/>
                    <a:gd name="T1" fmla="*/ 277 h 277"/>
                    <a:gd name="T2" fmla="*/ 108 w 258"/>
                    <a:gd name="T3" fmla="*/ 196 h 277"/>
                    <a:gd name="T4" fmla="*/ 178 w 258"/>
                    <a:gd name="T5" fmla="*/ 120 h 277"/>
                    <a:gd name="T6" fmla="*/ 222 w 258"/>
                    <a:gd name="T7" fmla="*/ 60 h 277"/>
                    <a:gd name="T8" fmla="*/ 258 w 258"/>
                    <a:gd name="T9" fmla="*/ 0 h 277"/>
                  </a:gdLst>
                  <a:ahLst/>
                  <a:cxnLst>
                    <a:cxn ang="0">
                      <a:pos x="T0" y="T1"/>
                    </a:cxn>
                    <a:cxn ang="0">
                      <a:pos x="T2" y="T3"/>
                    </a:cxn>
                    <a:cxn ang="0">
                      <a:pos x="T4" y="T5"/>
                    </a:cxn>
                    <a:cxn ang="0">
                      <a:pos x="T6" y="T7"/>
                    </a:cxn>
                    <a:cxn ang="0">
                      <a:pos x="T8" y="T9"/>
                    </a:cxn>
                  </a:cxnLst>
                  <a:rect l="0" t="0" r="r" b="b"/>
                  <a:pathLst>
                    <a:path w="258" h="277">
                      <a:moveTo>
                        <a:pt x="0" y="277"/>
                      </a:moveTo>
                      <a:cubicBezTo>
                        <a:pt x="17" y="264"/>
                        <a:pt x="78" y="222"/>
                        <a:pt x="108" y="196"/>
                      </a:cubicBezTo>
                      <a:cubicBezTo>
                        <a:pt x="138" y="170"/>
                        <a:pt x="159" y="143"/>
                        <a:pt x="178" y="120"/>
                      </a:cubicBezTo>
                      <a:cubicBezTo>
                        <a:pt x="197" y="97"/>
                        <a:pt x="209" y="80"/>
                        <a:pt x="222" y="60"/>
                      </a:cubicBezTo>
                      <a:cubicBezTo>
                        <a:pt x="235" y="40"/>
                        <a:pt x="251" y="12"/>
                        <a:pt x="258" y="0"/>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7" name="Freeform 139"/>
                <p:cNvSpPr/>
                <p:nvPr/>
              </p:nvSpPr>
              <p:spPr bwMode="auto">
                <a:xfrm>
                  <a:off x="3312" y="2538"/>
                  <a:ext cx="30" cy="72"/>
                </a:xfrm>
                <a:custGeom>
                  <a:avLst/>
                  <a:gdLst>
                    <a:gd name="T0" fmla="*/ 30 w 30"/>
                    <a:gd name="T1" fmla="*/ 0 h 72"/>
                    <a:gd name="T2" fmla="*/ 12 w 30"/>
                    <a:gd name="T3" fmla="*/ 46 h 72"/>
                    <a:gd name="T4" fmla="*/ 0 w 30"/>
                    <a:gd name="T5" fmla="*/ 72 h 72"/>
                  </a:gdLst>
                  <a:ahLst/>
                  <a:cxnLst>
                    <a:cxn ang="0">
                      <a:pos x="T0" y="T1"/>
                    </a:cxn>
                    <a:cxn ang="0">
                      <a:pos x="T2" y="T3"/>
                    </a:cxn>
                    <a:cxn ang="0">
                      <a:pos x="T4" y="T5"/>
                    </a:cxn>
                  </a:cxnLst>
                  <a:rect l="0" t="0" r="r" b="b"/>
                  <a:pathLst>
                    <a:path w="30" h="72">
                      <a:moveTo>
                        <a:pt x="30" y="0"/>
                      </a:moveTo>
                      <a:cubicBezTo>
                        <a:pt x="27" y="8"/>
                        <a:pt x="17" y="34"/>
                        <a:pt x="12" y="46"/>
                      </a:cubicBezTo>
                      <a:cubicBezTo>
                        <a:pt x="7" y="58"/>
                        <a:pt x="2" y="67"/>
                        <a:pt x="0" y="72"/>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8" name="Freeform 140"/>
                <p:cNvSpPr/>
                <p:nvPr/>
              </p:nvSpPr>
              <p:spPr bwMode="auto">
                <a:xfrm>
                  <a:off x="3351" y="2124"/>
                  <a:ext cx="21" cy="366"/>
                </a:xfrm>
                <a:custGeom>
                  <a:avLst/>
                  <a:gdLst>
                    <a:gd name="T0" fmla="*/ 0 w 21"/>
                    <a:gd name="T1" fmla="*/ 0 h 366"/>
                    <a:gd name="T2" fmla="*/ 15 w 21"/>
                    <a:gd name="T3" fmla="*/ 60 h 366"/>
                    <a:gd name="T4" fmla="*/ 21 w 21"/>
                    <a:gd name="T5" fmla="*/ 150 h 366"/>
                    <a:gd name="T6" fmla="*/ 15 w 21"/>
                    <a:gd name="T7" fmla="*/ 270 h 366"/>
                    <a:gd name="T8" fmla="*/ 3 w 21"/>
                    <a:gd name="T9" fmla="*/ 366 h 366"/>
                  </a:gdLst>
                  <a:ahLst/>
                  <a:cxnLst>
                    <a:cxn ang="0">
                      <a:pos x="T0" y="T1"/>
                    </a:cxn>
                    <a:cxn ang="0">
                      <a:pos x="T2" y="T3"/>
                    </a:cxn>
                    <a:cxn ang="0">
                      <a:pos x="T4" y="T5"/>
                    </a:cxn>
                    <a:cxn ang="0">
                      <a:pos x="T6" y="T7"/>
                    </a:cxn>
                    <a:cxn ang="0">
                      <a:pos x="T8" y="T9"/>
                    </a:cxn>
                  </a:cxnLst>
                  <a:rect l="0" t="0" r="r" b="b"/>
                  <a:pathLst>
                    <a:path w="21" h="366">
                      <a:moveTo>
                        <a:pt x="0" y="0"/>
                      </a:moveTo>
                      <a:lnTo>
                        <a:pt x="15" y="60"/>
                      </a:lnTo>
                      <a:lnTo>
                        <a:pt x="21" y="150"/>
                      </a:lnTo>
                      <a:lnTo>
                        <a:pt x="15" y="270"/>
                      </a:lnTo>
                      <a:lnTo>
                        <a:pt x="3" y="366"/>
                      </a:ln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49" name="Freeform 141"/>
                <p:cNvSpPr/>
                <p:nvPr/>
              </p:nvSpPr>
              <p:spPr bwMode="auto">
                <a:xfrm>
                  <a:off x="3312" y="2004"/>
                  <a:ext cx="24" cy="54"/>
                </a:xfrm>
                <a:custGeom>
                  <a:avLst/>
                  <a:gdLst>
                    <a:gd name="T0" fmla="*/ 0 w 24"/>
                    <a:gd name="T1" fmla="*/ 0 h 54"/>
                    <a:gd name="T2" fmla="*/ 24 w 24"/>
                    <a:gd name="T3" fmla="*/ 54 h 54"/>
                  </a:gdLst>
                  <a:ahLst/>
                  <a:cxnLst>
                    <a:cxn ang="0">
                      <a:pos x="T0" y="T1"/>
                    </a:cxn>
                    <a:cxn ang="0">
                      <a:pos x="T2" y="T3"/>
                    </a:cxn>
                  </a:cxnLst>
                  <a:rect l="0" t="0" r="r" b="b"/>
                  <a:pathLst>
                    <a:path w="24" h="54">
                      <a:moveTo>
                        <a:pt x="0" y="0"/>
                      </a:moveTo>
                      <a:cubicBezTo>
                        <a:pt x="10" y="22"/>
                        <a:pt x="20" y="44"/>
                        <a:pt x="24" y="54"/>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50" name="Freeform 142"/>
                <p:cNvSpPr/>
                <p:nvPr/>
              </p:nvSpPr>
              <p:spPr bwMode="auto">
                <a:xfrm>
                  <a:off x="2985" y="1650"/>
                  <a:ext cx="303" cy="306"/>
                </a:xfrm>
                <a:custGeom>
                  <a:avLst/>
                  <a:gdLst>
                    <a:gd name="T0" fmla="*/ 0 w 303"/>
                    <a:gd name="T1" fmla="*/ 0 h 306"/>
                    <a:gd name="T2" fmla="*/ 57 w 303"/>
                    <a:gd name="T3" fmla="*/ 36 h 306"/>
                    <a:gd name="T4" fmla="*/ 135 w 303"/>
                    <a:gd name="T5" fmla="*/ 96 h 306"/>
                    <a:gd name="T6" fmla="*/ 201 w 303"/>
                    <a:gd name="T7" fmla="*/ 153 h 306"/>
                    <a:gd name="T8" fmla="*/ 255 w 303"/>
                    <a:gd name="T9" fmla="*/ 222 h 306"/>
                    <a:gd name="T10" fmla="*/ 303 w 303"/>
                    <a:gd name="T11" fmla="*/ 306 h 306"/>
                  </a:gdLst>
                  <a:ahLst/>
                  <a:cxnLst>
                    <a:cxn ang="0">
                      <a:pos x="T0" y="T1"/>
                    </a:cxn>
                    <a:cxn ang="0">
                      <a:pos x="T2" y="T3"/>
                    </a:cxn>
                    <a:cxn ang="0">
                      <a:pos x="T4" y="T5"/>
                    </a:cxn>
                    <a:cxn ang="0">
                      <a:pos x="T6" y="T7"/>
                    </a:cxn>
                    <a:cxn ang="0">
                      <a:pos x="T8" y="T9"/>
                    </a:cxn>
                    <a:cxn ang="0">
                      <a:pos x="T10" y="T11"/>
                    </a:cxn>
                  </a:cxnLst>
                  <a:rect l="0" t="0" r="r" b="b"/>
                  <a:pathLst>
                    <a:path w="303" h="306">
                      <a:moveTo>
                        <a:pt x="0" y="0"/>
                      </a:moveTo>
                      <a:cubicBezTo>
                        <a:pt x="10" y="6"/>
                        <a:pt x="35" y="20"/>
                        <a:pt x="57" y="36"/>
                      </a:cubicBezTo>
                      <a:cubicBezTo>
                        <a:pt x="79" y="52"/>
                        <a:pt x="111" y="76"/>
                        <a:pt x="135" y="96"/>
                      </a:cubicBezTo>
                      <a:cubicBezTo>
                        <a:pt x="159" y="116"/>
                        <a:pt x="181" y="132"/>
                        <a:pt x="201" y="153"/>
                      </a:cubicBezTo>
                      <a:cubicBezTo>
                        <a:pt x="221" y="174"/>
                        <a:pt x="238" y="196"/>
                        <a:pt x="255" y="222"/>
                      </a:cubicBezTo>
                      <a:cubicBezTo>
                        <a:pt x="272" y="248"/>
                        <a:pt x="293" y="289"/>
                        <a:pt x="303" y="306"/>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51" name="Freeform 143"/>
                <p:cNvSpPr/>
                <p:nvPr/>
              </p:nvSpPr>
              <p:spPr bwMode="auto">
                <a:xfrm>
                  <a:off x="2892" y="1608"/>
                  <a:ext cx="54" cy="24"/>
                </a:xfrm>
                <a:custGeom>
                  <a:avLst/>
                  <a:gdLst>
                    <a:gd name="T0" fmla="*/ 0 w 54"/>
                    <a:gd name="T1" fmla="*/ 0 h 24"/>
                    <a:gd name="T2" fmla="*/ 54 w 54"/>
                    <a:gd name="T3" fmla="*/ 24 h 24"/>
                  </a:gdLst>
                  <a:ahLst/>
                  <a:cxnLst>
                    <a:cxn ang="0">
                      <a:pos x="T0" y="T1"/>
                    </a:cxn>
                    <a:cxn ang="0">
                      <a:pos x="T2" y="T3"/>
                    </a:cxn>
                  </a:cxnLst>
                  <a:rect l="0" t="0" r="r" b="b"/>
                  <a:pathLst>
                    <a:path w="54" h="24">
                      <a:moveTo>
                        <a:pt x="0" y="0"/>
                      </a:moveTo>
                      <a:cubicBezTo>
                        <a:pt x="8" y="4"/>
                        <a:pt x="43" y="19"/>
                        <a:pt x="54" y="24"/>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52" name="Freeform 144"/>
                <p:cNvSpPr/>
                <p:nvPr/>
              </p:nvSpPr>
              <p:spPr bwMode="auto">
                <a:xfrm>
                  <a:off x="2463" y="1564"/>
                  <a:ext cx="375" cy="29"/>
                </a:xfrm>
                <a:custGeom>
                  <a:avLst/>
                  <a:gdLst>
                    <a:gd name="T0" fmla="*/ 0 w 375"/>
                    <a:gd name="T1" fmla="*/ 20 h 29"/>
                    <a:gd name="T2" fmla="*/ 93 w 375"/>
                    <a:gd name="T3" fmla="*/ 5 h 29"/>
                    <a:gd name="T4" fmla="*/ 195 w 375"/>
                    <a:gd name="T5" fmla="*/ 2 h 29"/>
                    <a:gd name="T6" fmla="*/ 261 w 375"/>
                    <a:gd name="T7" fmla="*/ 5 h 29"/>
                    <a:gd name="T8" fmla="*/ 375 w 375"/>
                    <a:gd name="T9" fmla="*/ 29 h 29"/>
                  </a:gdLst>
                  <a:ahLst/>
                  <a:cxnLst>
                    <a:cxn ang="0">
                      <a:pos x="T0" y="T1"/>
                    </a:cxn>
                    <a:cxn ang="0">
                      <a:pos x="T2" y="T3"/>
                    </a:cxn>
                    <a:cxn ang="0">
                      <a:pos x="T4" y="T5"/>
                    </a:cxn>
                    <a:cxn ang="0">
                      <a:pos x="T6" y="T7"/>
                    </a:cxn>
                    <a:cxn ang="0">
                      <a:pos x="T8" y="T9"/>
                    </a:cxn>
                  </a:cxnLst>
                  <a:rect l="0" t="0" r="r" b="b"/>
                  <a:pathLst>
                    <a:path w="375" h="29">
                      <a:moveTo>
                        <a:pt x="0" y="20"/>
                      </a:moveTo>
                      <a:cubicBezTo>
                        <a:pt x="16" y="18"/>
                        <a:pt x="61" y="8"/>
                        <a:pt x="93" y="5"/>
                      </a:cubicBezTo>
                      <a:cubicBezTo>
                        <a:pt x="125" y="2"/>
                        <a:pt x="167" y="2"/>
                        <a:pt x="195" y="2"/>
                      </a:cubicBezTo>
                      <a:cubicBezTo>
                        <a:pt x="223" y="2"/>
                        <a:pt x="231" y="0"/>
                        <a:pt x="261" y="5"/>
                      </a:cubicBezTo>
                      <a:cubicBezTo>
                        <a:pt x="291" y="10"/>
                        <a:pt x="356" y="25"/>
                        <a:pt x="375" y="29"/>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4353" name="Freeform 145"/>
                <p:cNvSpPr/>
                <p:nvPr/>
              </p:nvSpPr>
              <p:spPr bwMode="auto">
                <a:xfrm>
                  <a:off x="2352" y="1596"/>
                  <a:ext cx="66" cy="27"/>
                </a:xfrm>
                <a:custGeom>
                  <a:avLst/>
                  <a:gdLst>
                    <a:gd name="T0" fmla="*/ 0 w 66"/>
                    <a:gd name="T1" fmla="*/ 27 h 27"/>
                    <a:gd name="T2" fmla="*/ 66 w 66"/>
                    <a:gd name="T3" fmla="*/ 0 h 27"/>
                  </a:gdLst>
                  <a:ahLst/>
                  <a:cxnLst>
                    <a:cxn ang="0">
                      <a:pos x="T0" y="T1"/>
                    </a:cxn>
                    <a:cxn ang="0">
                      <a:pos x="T2" y="T3"/>
                    </a:cxn>
                  </a:cxnLst>
                  <a:rect l="0" t="0" r="r" b="b"/>
                  <a:pathLst>
                    <a:path w="66" h="27">
                      <a:moveTo>
                        <a:pt x="0" y="27"/>
                      </a:moveTo>
                      <a:cubicBezTo>
                        <a:pt x="11" y="23"/>
                        <a:pt x="52" y="6"/>
                        <a:pt x="66" y="0"/>
                      </a:cubicBezTo>
                    </a:path>
                  </a:pathLst>
                </a:custGeom>
                <a:noFill/>
                <a:ln w="19050" cmpd="sng">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grpSp>
      <p:pic>
        <p:nvPicPr>
          <p:cNvPr id="94354" name="Picture 146"/>
          <p:cNvPicPr>
            <a:picLocks noChangeAspect="1" noChangeArrowheads="1"/>
          </p:cNvPicPr>
          <p:nvPr/>
        </p:nvPicPr>
        <p:blipFill>
          <a:blip r:embed="rId1">
            <a:extLst>
              <a:ext uri="{28A0092B-C50C-407E-A947-70E740481C1C}">
                <a14:useLocalDpi xmlns:a14="http://schemas.microsoft.com/office/drawing/2010/main" val="0"/>
              </a:ext>
            </a:extLst>
          </a:blip>
          <a:srcRect l="28210" t="12019" r="26854" b="15297"/>
          <a:stretch>
            <a:fillRect/>
          </a:stretch>
        </p:blipFill>
        <p:spPr bwMode="auto">
          <a:xfrm>
            <a:off x="6022975" y="2398713"/>
            <a:ext cx="2054225" cy="2473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2" name="Rectangle 4"/>
          <p:cNvSpPr>
            <a:spLocks noGrp="1" noChangeArrowheads="1"/>
          </p:cNvSpPr>
          <p:nvPr>
            <p:ph type="ctrTitle"/>
          </p:nvPr>
        </p:nvSpPr>
        <p:spPr>
          <a:xfrm>
            <a:off x="1898650" y="123825"/>
            <a:ext cx="5600700" cy="615950"/>
          </a:xfrm>
          <a:gradFill rotWithShape="0">
            <a:gsLst>
              <a:gs pos="0">
                <a:schemeClr val="accent1"/>
              </a:gs>
              <a:gs pos="50000">
                <a:schemeClr val="accent1">
                  <a:gamma/>
                  <a:tint val="0"/>
                  <a:invGamma/>
                </a:schemeClr>
              </a:gs>
              <a:gs pos="100000">
                <a:schemeClr val="accent1"/>
              </a:gs>
            </a:gsLst>
            <a:lin ang="5400000" scaled="1"/>
          </a:gradFill>
          <a:ln w="76200">
            <a:pattFill prst="solidDmnd">
              <a:fgClr>
                <a:schemeClr val="accent1"/>
              </a:fgClr>
              <a:bgClr>
                <a:schemeClr val="bg1"/>
              </a:bgClr>
            </a:patt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r>
              <a:rPr lang="zh-CN" altLang="en-US" sz="3600" b="1" dirty="0">
                <a:solidFill>
                  <a:schemeClr val="accent2"/>
                </a:solidFill>
                <a:latin typeface="黑体" panose="02010609060101010101" pitchFamily="49" charset="-122"/>
                <a:ea typeface="黑体" panose="02010609060101010101" pitchFamily="49" charset="-122"/>
              </a:rPr>
              <a:t>零件的工艺结构</a:t>
            </a:r>
            <a:r>
              <a:rPr lang="zh-CN" altLang="en-US" sz="3600" b="1" dirty="0">
                <a:solidFill>
                  <a:srgbClr val="FF3300"/>
                </a:solidFill>
                <a:latin typeface="黑体" panose="02010609060101010101" pitchFamily="49" charset="-122"/>
                <a:ea typeface="黑体" panose="02010609060101010101" pitchFamily="49" charset="-122"/>
              </a:rPr>
              <a:t> </a:t>
            </a:r>
            <a:endParaRPr lang="zh-CN" altLang="en-US" sz="3600" b="1" dirty="0">
              <a:solidFill>
                <a:srgbClr val="FF3300"/>
              </a:solidFill>
              <a:latin typeface="黑体" panose="02010609060101010101" pitchFamily="49" charset="-122"/>
              <a:ea typeface="黑体" panose="02010609060101010101" pitchFamily="49" charset="-122"/>
            </a:endParaRPr>
          </a:p>
        </p:txBody>
      </p:sp>
      <p:sp>
        <p:nvSpPr>
          <p:cNvPr id="73733" name="Text Box 5"/>
          <p:cNvSpPr txBox="1">
            <a:spLocks noChangeArrowheads="1"/>
          </p:cNvSpPr>
          <p:nvPr/>
        </p:nvSpPr>
        <p:spPr bwMode="auto">
          <a:xfrm>
            <a:off x="307975" y="1735138"/>
            <a:ext cx="6207125" cy="617537"/>
          </a:xfrm>
          <a:prstGeom prst="rect">
            <a:avLst/>
          </a:prstGeom>
          <a:noFill/>
          <a:ln w="38100">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chemeClr val="accent2"/>
                </a:solidFill>
                <a:latin typeface="宋体" panose="02010600030101010101" pitchFamily="2" charset="-122"/>
                <a:sym typeface="Monotype Sorts" panose="05000000000000000000" pitchFamily="2" charset="2"/>
              </a:rPr>
              <a:t>1.</a:t>
            </a:r>
            <a:r>
              <a:rPr lang="zh-CN" altLang="en-US" sz="3200" b="1">
                <a:solidFill>
                  <a:schemeClr val="accent2"/>
                </a:solidFill>
                <a:latin typeface="宋体" panose="02010600030101010101" pitchFamily="2" charset="-122"/>
              </a:rPr>
              <a:t>零件的铸造工艺结构</a:t>
            </a:r>
            <a:endParaRPr lang="zh-CN" altLang="en-US" sz="3200" b="1">
              <a:solidFill>
                <a:schemeClr val="accent2"/>
              </a:solidFill>
              <a:latin typeface="宋体" panose="02010600030101010101" pitchFamily="2" charset="-122"/>
            </a:endParaRPr>
          </a:p>
        </p:txBody>
      </p:sp>
      <p:sp>
        <p:nvSpPr>
          <p:cNvPr id="73734" name="Text Box 6"/>
          <p:cNvSpPr txBox="1">
            <a:spLocks noChangeArrowheads="1"/>
          </p:cNvSpPr>
          <p:nvPr/>
        </p:nvSpPr>
        <p:spPr bwMode="auto">
          <a:xfrm>
            <a:off x="503238" y="2328863"/>
            <a:ext cx="27162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FF3300"/>
                </a:solidFill>
                <a:latin typeface="宋体" panose="02010600030101010101" pitchFamily="2" charset="-122"/>
              </a:rPr>
              <a:t>1</a:t>
            </a:r>
            <a:r>
              <a:rPr lang="zh-CN" altLang="en-US" sz="3200" b="1">
                <a:solidFill>
                  <a:srgbClr val="FF3300"/>
                </a:solidFill>
                <a:latin typeface="宋体" panose="02010600030101010101" pitchFamily="2" charset="-122"/>
              </a:rPr>
              <a:t>）铸造圆角</a:t>
            </a:r>
            <a:endParaRPr lang="zh-CN" altLang="en-US" sz="3200" b="1">
              <a:solidFill>
                <a:srgbClr val="FF3300"/>
              </a:solidFill>
              <a:latin typeface="宋体" panose="02010600030101010101" pitchFamily="2" charset="-122"/>
            </a:endParaRPr>
          </a:p>
        </p:txBody>
      </p:sp>
      <p:sp>
        <p:nvSpPr>
          <p:cNvPr id="73735" name="Text Box 7"/>
          <p:cNvSpPr txBox="1">
            <a:spLocks noChangeArrowheads="1"/>
          </p:cNvSpPr>
          <p:nvPr/>
        </p:nvSpPr>
        <p:spPr bwMode="auto">
          <a:xfrm>
            <a:off x="417513" y="2790825"/>
            <a:ext cx="8478837"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lnSpc>
                <a:spcPct val="120000"/>
              </a:lnSpc>
            </a:pPr>
            <a:r>
              <a:rPr lang="en-US" altLang="zh-CN" sz="2800" b="1">
                <a:latin typeface="宋体" panose="02010600030101010101" pitchFamily="2" charset="-122"/>
              </a:rPr>
              <a:t>   </a:t>
            </a:r>
            <a:r>
              <a:rPr lang="zh-CN" altLang="en-US" sz="2800" b="1">
                <a:latin typeface="宋体" panose="02010600030101010101" pitchFamily="2" charset="-122"/>
              </a:rPr>
              <a:t>铸件转角处应有圆角，以免在尖角处</a:t>
            </a:r>
            <a:r>
              <a:rPr lang="zh-CN" altLang="en-US" sz="2800" b="1">
                <a:solidFill>
                  <a:srgbClr val="FF3300"/>
                </a:solidFill>
                <a:latin typeface="宋体" panose="02010600030101010101" pitchFamily="2" charset="-122"/>
              </a:rPr>
              <a:t>砂型落砂</a:t>
            </a:r>
            <a:r>
              <a:rPr lang="zh-CN" altLang="en-US" sz="2800" b="1">
                <a:latin typeface="宋体" panose="02010600030101010101" pitchFamily="2" charset="-122"/>
              </a:rPr>
              <a:t>，金属冷却时要收缩，容易在尖角处产生</a:t>
            </a:r>
            <a:r>
              <a:rPr lang="zh-CN" altLang="en-US" sz="2800" b="1">
                <a:solidFill>
                  <a:srgbClr val="FF3300"/>
                </a:solidFill>
                <a:latin typeface="宋体" panose="02010600030101010101" pitchFamily="2" charset="-122"/>
              </a:rPr>
              <a:t>缩孔</a:t>
            </a:r>
            <a:r>
              <a:rPr lang="zh-CN" altLang="en-US" sz="2800" b="1">
                <a:latin typeface="宋体" panose="02010600030101010101" pitchFamily="2" charset="-122"/>
              </a:rPr>
              <a:t>或</a:t>
            </a:r>
            <a:r>
              <a:rPr lang="zh-CN" altLang="en-US" sz="2800" b="1">
                <a:solidFill>
                  <a:srgbClr val="FF3300"/>
                </a:solidFill>
                <a:latin typeface="宋体" panose="02010600030101010101" pitchFamily="2" charset="-122"/>
              </a:rPr>
              <a:t>裂纹</a:t>
            </a:r>
            <a:r>
              <a:rPr lang="zh-CN" altLang="en-US" sz="2800" b="1">
                <a:latin typeface="宋体" panose="02010600030101010101" pitchFamily="2" charset="-122"/>
              </a:rPr>
              <a:t>。</a:t>
            </a:r>
            <a:endParaRPr lang="zh-CN" altLang="en-US" sz="2800" b="1">
              <a:latin typeface="宋体" panose="02010600030101010101" pitchFamily="2" charset="-122"/>
            </a:endParaRPr>
          </a:p>
        </p:txBody>
      </p:sp>
      <p:sp>
        <p:nvSpPr>
          <p:cNvPr id="73736" name="Text Box 8"/>
          <p:cNvSpPr txBox="1">
            <a:spLocks noChangeArrowheads="1"/>
          </p:cNvSpPr>
          <p:nvPr/>
        </p:nvSpPr>
        <p:spPr bwMode="auto">
          <a:xfrm>
            <a:off x="544513" y="838200"/>
            <a:ext cx="85994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2800" b="1">
                <a:latin typeface="宋体" panose="02010600030101010101" pitchFamily="2" charset="-122"/>
              </a:rPr>
              <a:t>    </a:t>
            </a:r>
            <a:r>
              <a:rPr lang="zh-CN" altLang="en-US" sz="2800" b="1">
                <a:latin typeface="宋体" panose="02010600030101010101" pitchFamily="2" charset="-122"/>
              </a:rPr>
              <a:t>零件的结构形状既要满足设计要求又要满足加工工艺的要求。</a:t>
            </a:r>
            <a:endParaRPr lang="zh-CN" altLang="en-US" sz="2800" b="1">
              <a:latin typeface="宋体" panose="02010600030101010101" pitchFamily="2" charset="-122"/>
            </a:endParaRPr>
          </a:p>
        </p:txBody>
      </p:sp>
      <p:grpSp>
        <p:nvGrpSpPr>
          <p:cNvPr id="73737" name="Group 9"/>
          <p:cNvGrpSpPr/>
          <p:nvPr/>
        </p:nvGrpSpPr>
        <p:grpSpPr bwMode="auto">
          <a:xfrm>
            <a:off x="1184275" y="3911600"/>
            <a:ext cx="2890838" cy="2266950"/>
            <a:chOff x="1241" y="2521"/>
            <a:chExt cx="1821" cy="1428"/>
          </a:xfrm>
        </p:grpSpPr>
        <p:sp>
          <p:nvSpPr>
            <p:cNvPr id="73738" name="Line 10"/>
            <p:cNvSpPr>
              <a:spLocks noChangeShapeType="1"/>
            </p:cNvSpPr>
            <p:nvPr/>
          </p:nvSpPr>
          <p:spPr bwMode="auto">
            <a:xfrm>
              <a:off x="2147" y="2521"/>
              <a:ext cx="0" cy="1428"/>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39" name="Freeform 11"/>
            <p:cNvSpPr/>
            <p:nvPr/>
          </p:nvSpPr>
          <p:spPr bwMode="auto">
            <a:xfrm>
              <a:off x="1241" y="3821"/>
              <a:ext cx="1821" cy="2"/>
            </a:xfrm>
            <a:custGeom>
              <a:avLst/>
              <a:gdLst>
                <a:gd name="T0" fmla="*/ 0 w 1821"/>
                <a:gd name="T1" fmla="*/ 0 h 2"/>
                <a:gd name="T2" fmla="*/ 1821 w 1821"/>
                <a:gd name="T3" fmla="*/ 2 h 2"/>
              </a:gdLst>
              <a:ahLst/>
              <a:cxnLst>
                <a:cxn ang="0">
                  <a:pos x="T0" y="T1"/>
                </a:cxn>
                <a:cxn ang="0">
                  <a:pos x="T2" y="T3"/>
                </a:cxn>
              </a:cxnLst>
              <a:rect l="0" t="0" r="r" b="b"/>
              <a:pathLst>
                <a:path w="1821" h="2">
                  <a:moveTo>
                    <a:pt x="0" y="0"/>
                  </a:moveTo>
                  <a:lnTo>
                    <a:pt x="1821" y="2"/>
                  </a:ln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0" name="Line 12"/>
            <p:cNvSpPr>
              <a:spLocks noChangeShapeType="1"/>
            </p:cNvSpPr>
            <p:nvPr/>
          </p:nvSpPr>
          <p:spPr bwMode="auto">
            <a:xfrm flipV="1">
              <a:off x="2475" y="2944"/>
              <a:ext cx="0" cy="87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1" name="Line 13"/>
            <p:cNvSpPr>
              <a:spLocks noChangeShapeType="1"/>
            </p:cNvSpPr>
            <p:nvPr/>
          </p:nvSpPr>
          <p:spPr bwMode="auto">
            <a:xfrm flipV="1">
              <a:off x="1801" y="2936"/>
              <a:ext cx="0" cy="88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2" name="Line 14"/>
            <p:cNvSpPr>
              <a:spLocks noChangeShapeType="1"/>
            </p:cNvSpPr>
            <p:nvPr/>
          </p:nvSpPr>
          <p:spPr bwMode="auto">
            <a:xfrm>
              <a:off x="1927" y="2819"/>
              <a:ext cx="40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3" name="Arc 15"/>
            <p:cNvSpPr/>
            <p:nvPr/>
          </p:nvSpPr>
          <p:spPr bwMode="auto">
            <a:xfrm>
              <a:off x="2334" y="2820"/>
              <a:ext cx="139" cy="13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4" name="Arc 16"/>
            <p:cNvSpPr/>
            <p:nvPr/>
          </p:nvSpPr>
          <p:spPr bwMode="auto">
            <a:xfrm flipH="1">
              <a:off x="1805" y="2822"/>
              <a:ext cx="139" cy="13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5" name="Line 17"/>
            <p:cNvSpPr>
              <a:spLocks noChangeShapeType="1"/>
            </p:cNvSpPr>
            <p:nvPr/>
          </p:nvSpPr>
          <p:spPr bwMode="auto">
            <a:xfrm>
              <a:off x="1831" y="2624"/>
              <a:ext cx="61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6" name="Line 18"/>
            <p:cNvSpPr>
              <a:spLocks noChangeShapeType="1"/>
            </p:cNvSpPr>
            <p:nvPr/>
          </p:nvSpPr>
          <p:spPr bwMode="auto">
            <a:xfrm flipV="1">
              <a:off x="2691" y="2838"/>
              <a:ext cx="0" cy="71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7" name="Line 19"/>
            <p:cNvSpPr>
              <a:spLocks noChangeShapeType="1"/>
            </p:cNvSpPr>
            <p:nvPr/>
          </p:nvSpPr>
          <p:spPr bwMode="auto">
            <a:xfrm>
              <a:off x="1602" y="2832"/>
              <a:ext cx="0" cy="63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8" name="Arc 20"/>
            <p:cNvSpPr/>
            <p:nvPr/>
          </p:nvSpPr>
          <p:spPr bwMode="auto">
            <a:xfrm>
              <a:off x="2425" y="2625"/>
              <a:ext cx="263" cy="2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49" name="Arc 21"/>
            <p:cNvSpPr/>
            <p:nvPr/>
          </p:nvSpPr>
          <p:spPr bwMode="auto">
            <a:xfrm flipH="1">
              <a:off x="1597" y="2626"/>
              <a:ext cx="263" cy="2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0" name="Arc 22"/>
            <p:cNvSpPr/>
            <p:nvPr/>
          </p:nvSpPr>
          <p:spPr bwMode="auto">
            <a:xfrm rot="5400000">
              <a:off x="1467" y="3471"/>
              <a:ext cx="139" cy="13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1" name="Arc 23"/>
            <p:cNvSpPr/>
            <p:nvPr/>
          </p:nvSpPr>
          <p:spPr bwMode="auto">
            <a:xfrm rot="-10800000">
              <a:off x="2684" y="3488"/>
              <a:ext cx="139" cy="13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2" name="Line 24"/>
            <p:cNvSpPr>
              <a:spLocks noChangeShapeType="1"/>
            </p:cNvSpPr>
            <p:nvPr/>
          </p:nvSpPr>
          <p:spPr bwMode="auto">
            <a:xfrm>
              <a:off x="2823" y="3612"/>
              <a:ext cx="9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3" name="Line 25"/>
            <p:cNvSpPr>
              <a:spLocks noChangeShapeType="1"/>
            </p:cNvSpPr>
            <p:nvPr/>
          </p:nvSpPr>
          <p:spPr bwMode="auto">
            <a:xfrm>
              <a:off x="1373" y="3605"/>
              <a:ext cx="9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4" name="Arc 26"/>
            <p:cNvSpPr/>
            <p:nvPr/>
          </p:nvSpPr>
          <p:spPr bwMode="auto">
            <a:xfrm>
              <a:off x="2907" y="3602"/>
              <a:ext cx="139" cy="13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5" name="Line 27"/>
            <p:cNvSpPr>
              <a:spLocks noChangeShapeType="1"/>
            </p:cNvSpPr>
            <p:nvPr/>
          </p:nvSpPr>
          <p:spPr bwMode="auto">
            <a:xfrm>
              <a:off x="3046" y="3726"/>
              <a:ext cx="0" cy="9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6" name="Arc 28"/>
            <p:cNvSpPr/>
            <p:nvPr/>
          </p:nvSpPr>
          <p:spPr bwMode="auto">
            <a:xfrm flipH="1">
              <a:off x="1248" y="3598"/>
              <a:ext cx="139" cy="13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7" name="Line 29"/>
            <p:cNvSpPr>
              <a:spLocks noChangeShapeType="1"/>
            </p:cNvSpPr>
            <p:nvPr/>
          </p:nvSpPr>
          <p:spPr bwMode="auto">
            <a:xfrm>
              <a:off x="1248" y="3726"/>
              <a:ext cx="0" cy="9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8" name="Line 30"/>
            <p:cNvSpPr>
              <a:spLocks noChangeShapeType="1"/>
            </p:cNvSpPr>
            <p:nvPr/>
          </p:nvSpPr>
          <p:spPr bwMode="auto">
            <a:xfrm>
              <a:off x="2278" y="2617"/>
              <a:ext cx="0" cy="20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9" name="Line 31"/>
            <p:cNvSpPr>
              <a:spLocks noChangeShapeType="1"/>
            </p:cNvSpPr>
            <p:nvPr/>
          </p:nvSpPr>
          <p:spPr bwMode="auto">
            <a:xfrm>
              <a:off x="2021" y="2617"/>
              <a:ext cx="0" cy="21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0" name="Line 32"/>
            <p:cNvSpPr>
              <a:spLocks noChangeShapeType="1"/>
            </p:cNvSpPr>
            <p:nvPr/>
          </p:nvSpPr>
          <p:spPr bwMode="auto">
            <a:xfrm flipV="1">
              <a:off x="1753" y="3773"/>
              <a:ext cx="50" cy="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73761" name="Group 33"/>
            <p:cNvGrpSpPr/>
            <p:nvPr/>
          </p:nvGrpSpPr>
          <p:grpSpPr bwMode="auto">
            <a:xfrm>
              <a:off x="1244" y="2616"/>
              <a:ext cx="1752" cy="1207"/>
              <a:chOff x="1244" y="2616"/>
              <a:chExt cx="1752" cy="1207"/>
            </a:xfrm>
          </p:grpSpPr>
          <p:sp>
            <p:nvSpPr>
              <p:cNvPr id="73762" name="Line 34"/>
              <p:cNvSpPr>
                <a:spLocks noChangeShapeType="1"/>
              </p:cNvSpPr>
              <p:nvPr/>
            </p:nvSpPr>
            <p:spPr bwMode="auto">
              <a:xfrm flipV="1">
                <a:off x="1602" y="2627"/>
                <a:ext cx="342" cy="34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3" name="Line 35"/>
              <p:cNvSpPr>
                <a:spLocks noChangeShapeType="1"/>
              </p:cNvSpPr>
              <p:nvPr/>
            </p:nvSpPr>
            <p:spPr bwMode="auto">
              <a:xfrm flipV="1">
                <a:off x="1593" y="2951"/>
                <a:ext cx="225" cy="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4" name="Line 36"/>
              <p:cNvSpPr>
                <a:spLocks noChangeShapeType="1"/>
              </p:cNvSpPr>
              <p:nvPr/>
            </p:nvSpPr>
            <p:spPr bwMode="auto">
              <a:xfrm flipV="1">
                <a:off x="1949" y="2740"/>
                <a:ext cx="80" cy="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5" name="Line 37"/>
              <p:cNvSpPr>
                <a:spLocks noChangeShapeType="1"/>
              </p:cNvSpPr>
              <p:nvPr/>
            </p:nvSpPr>
            <p:spPr bwMode="auto">
              <a:xfrm flipV="1">
                <a:off x="1600" y="3162"/>
                <a:ext cx="203" cy="20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6" name="Line 38"/>
              <p:cNvSpPr>
                <a:spLocks noChangeShapeType="1"/>
              </p:cNvSpPr>
              <p:nvPr/>
            </p:nvSpPr>
            <p:spPr bwMode="auto">
              <a:xfrm flipV="1">
                <a:off x="2291" y="2616"/>
                <a:ext cx="66" cy="6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7" name="Line 39"/>
              <p:cNvSpPr>
                <a:spLocks noChangeShapeType="1"/>
              </p:cNvSpPr>
              <p:nvPr/>
            </p:nvSpPr>
            <p:spPr bwMode="auto">
              <a:xfrm flipV="1">
                <a:off x="1244" y="3605"/>
                <a:ext cx="117" cy="11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8" name="Line 40"/>
              <p:cNvSpPr>
                <a:spLocks noChangeShapeType="1"/>
              </p:cNvSpPr>
              <p:nvPr/>
            </p:nvSpPr>
            <p:spPr bwMode="auto">
              <a:xfrm flipV="1">
                <a:off x="1338" y="3358"/>
                <a:ext cx="465" cy="4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9" name="Line 41"/>
              <p:cNvSpPr>
                <a:spLocks noChangeShapeType="1"/>
              </p:cNvSpPr>
              <p:nvPr/>
            </p:nvSpPr>
            <p:spPr bwMode="auto">
              <a:xfrm flipV="1">
                <a:off x="2342" y="2646"/>
                <a:ext cx="174" cy="17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70" name="Line 42"/>
              <p:cNvSpPr>
                <a:spLocks noChangeShapeType="1"/>
              </p:cNvSpPr>
              <p:nvPr/>
            </p:nvSpPr>
            <p:spPr bwMode="auto">
              <a:xfrm flipV="1">
                <a:off x="2451" y="2732"/>
                <a:ext cx="182" cy="1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71" name="Line 43"/>
              <p:cNvSpPr>
                <a:spLocks noChangeShapeType="1"/>
              </p:cNvSpPr>
              <p:nvPr/>
            </p:nvSpPr>
            <p:spPr bwMode="auto">
              <a:xfrm flipH="1">
                <a:off x="1550" y="3569"/>
                <a:ext cx="253" cy="25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72" name="Line 44"/>
              <p:cNvSpPr>
                <a:spLocks noChangeShapeType="1"/>
              </p:cNvSpPr>
              <p:nvPr/>
            </p:nvSpPr>
            <p:spPr bwMode="auto">
              <a:xfrm flipV="1">
                <a:off x="2480" y="2892"/>
                <a:ext cx="211" cy="21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73" name="Line 45"/>
              <p:cNvSpPr>
                <a:spLocks noChangeShapeType="1"/>
              </p:cNvSpPr>
              <p:nvPr/>
            </p:nvSpPr>
            <p:spPr bwMode="auto">
              <a:xfrm flipV="1">
                <a:off x="2472" y="3096"/>
                <a:ext cx="226" cy="2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74" name="Line 46"/>
              <p:cNvSpPr>
                <a:spLocks noChangeShapeType="1"/>
              </p:cNvSpPr>
              <p:nvPr/>
            </p:nvSpPr>
            <p:spPr bwMode="auto">
              <a:xfrm flipV="1">
                <a:off x="2465" y="3307"/>
                <a:ext cx="226" cy="22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75" name="Line 47"/>
              <p:cNvSpPr>
                <a:spLocks noChangeShapeType="1"/>
              </p:cNvSpPr>
              <p:nvPr/>
            </p:nvSpPr>
            <p:spPr bwMode="auto">
              <a:xfrm flipV="1">
                <a:off x="2465" y="3525"/>
                <a:ext cx="218" cy="21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76" name="Line 48"/>
              <p:cNvSpPr>
                <a:spLocks noChangeShapeType="1"/>
              </p:cNvSpPr>
              <p:nvPr/>
            </p:nvSpPr>
            <p:spPr bwMode="auto">
              <a:xfrm flipV="1">
                <a:off x="2603" y="3613"/>
                <a:ext cx="210" cy="21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77" name="Line 49"/>
              <p:cNvSpPr>
                <a:spLocks noChangeShapeType="1"/>
              </p:cNvSpPr>
              <p:nvPr/>
            </p:nvSpPr>
            <p:spPr bwMode="auto">
              <a:xfrm flipV="1">
                <a:off x="2807" y="3634"/>
                <a:ext cx="189" cy="18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73778" name="Line 50"/>
            <p:cNvSpPr>
              <a:spLocks noChangeShapeType="1"/>
            </p:cNvSpPr>
            <p:nvPr/>
          </p:nvSpPr>
          <p:spPr bwMode="auto">
            <a:xfrm flipV="1">
              <a:off x="3011" y="3780"/>
              <a:ext cx="43" cy="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73779" name="Group 51"/>
          <p:cNvGrpSpPr/>
          <p:nvPr/>
        </p:nvGrpSpPr>
        <p:grpSpPr bwMode="auto">
          <a:xfrm>
            <a:off x="4584700" y="4300538"/>
            <a:ext cx="1195388" cy="1504950"/>
            <a:chOff x="3383" y="2712"/>
            <a:chExt cx="694" cy="948"/>
          </a:xfrm>
        </p:grpSpPr>
        <p:grpSp>
          <p:nvGrpSpPr>
            <p:cNvPr id="73780" name="Group 52"/>
            <p:cNvGrpSpPr/>
            <p:nvPr/>
          </p:nvGrpSpPr>
          <p:grpSpPr bwMode="auto">
            <a:xfrm>
              <a:off x="3383" y="2712"/>
              <a:ext cx="551" cy="616"/>
              <a:chOff x="3383" y="2712"/>
              <a:chExt cx="551" cy="616"/>
            </a:xfrm>
          </p:grpSpPr>
          <p:sp>
            <p:nvSpPr>
              <p:cNvPr id="73781" name="Line 53"/>
              <p:cNvSpPr>
                <a:spLocks noChangeShapeType="1"/>
              </p:cNvSpPr>
              <p:nvPr/>
            </p:nvSpPr>
            <p:spPr bwMode="auto">
              <a:xfrm>
                <a:off x="3385" y="2719"/>
                <a:ext cx="54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82" name="Line 54"/>
              <p:cNvSpPr>
                <a:spLocks noChangeShapeType="1"/>
              </p:cNvSpPr>
              <p:nvPr/>
            </p:nvSpPr>
            <p:spPr bwMode="auto">
              <a:xfrm flipV="1">
                <a:off x="3717" y="3027"/>
                <a:ext cx="0" cy="30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83" name="Line 55"/>
              <p:cNvSpPr>
                <a:spLocks noChangeShapeType="1"/>
              </p:cNvSpPr>
              <p:nvPr/>
            </p:nvSpPr>
            <p:spPr bwMode="auto">
              <a:xfrm>
                <a:off x="3403" y="2916"/>
                <a:ext cx="18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84" name="Arc 56"/>
              <p:cNvSpPr/>
              <p:nvPr/>
            </p:nvSpPr>
            <p:spPr bwMode="auto">
              <a:xfrm>
                <a:off x="3584" y="2911"/>
                <a:ext cx="139" cy="13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85" name="Line 57"/>
              <p:cNvSpPr>
                <a:spLocks noChangeShapeType="1"/>
              </p:cNvSpPr>
              <p:nvPr/>
            </p:nvSpPr>
            <p:spPr bwMode="auto">
              <a:xfrm>
                <a:off x="3934" y="2712"/>
                <a:ext cx="0" cy="60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86" name="Freeform 58"/>
              <p:cNvSpPr/>
              <p:nvPr/>
            </p:nvSpPr>
            <p:spPr bwMode="auto">
              <a:xfrm>
                <a:off x="3383" y="2717"/>
                <a:ext cx="549" cy="599"/>
              </a:xfrm>
              <a:custGeom>
                <a:avLst/>
                <a:gdLst>
                  <a:gd name="T0" fmla="*/ 11 w 549"/>
                  <a:gd name="T1" fmla="*/ 0 h 599"/>
                  <a:gd name="T2" fmla="*/ 26 w 549"/>
                  <a:gd name="T3" fmla="*/ 110 h 599"/>
                  <a:gd name="T4" fmla="*/ 11 w 549"/>
                  <a:gd name="T5" fmla="*/ 204 h 599"/>
                  <a:gd name="T6" fmla="*/ 18 w 549"/>
                  <a:gd name="T7" fmla="*/ 386 h 599"/>
                  <a:gd name="T8" fmla="*/ 120 w 549"/>
                  <a:gd name="T9" fmla="*/ 524 h 599"/>
                  <a:gd name="T10" fmla="*/ 222 w 549"/>
                  <a:gd name="T11" fmla="*/ 568 h 599"/>
                  <a:gd name="T12" fmla="*/ 331 w 549"/>
                  <a:gd name="T13" fmla="*/ 597 h 599"/>
                  <a:gd name="T14" fmla="*/ 433 w 549"/>
                  <a:gd name="T15" fmla="*/ 553 h 599"/>
                  <a:gd name="T16" fmla="*/ 549 w 549"/>
                  <a:gd name="T17" fmla="*/ 597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9" h="599">
                    <a:moveTo>
                      <a:pt x="11" y="0"/>
                    </a:moveTo>
                    <a:cubicBezTo>
                      <a:pt x="18" y="38"/>
                      <a:pt x="26" y="76"/>
                      <a:pt x="26" y="110"/>
                    </a:cubicBezTo>
                    <a:cubicBezTo>
                      <a:pt x="26" y="144"/>
                      <a:pt x="12" y="158"/>
                      <a:pt x="11" y="204"/>
                    </a:cubicBezTo>
                    <a:cubicBezTo>
                      <a:pt x="10" y="250"/>
                      <a:pt x="0" y="333"/>
                      <a:pt x="18" y="386"/>
                    </a:cubicBezTo>
                    <a:cubicBezTo>
                      <a:pt x="36" y="439"/>
                      <a:pt x="86" y="494"/>
                      <a:pt x="120" y="524"/>
                    </a:cubicBezTo>
                    <a:cubicBezTo>
                      <a:pt x="154" y="554"/>
                      <a:pt x="187" y="556"/>
                      <a:pt x="222" y="568"/>
                    </a:cubicBezTo>
                    <a:cubicBezTo>
                      <a:pt x="257" y="580"/>
                      <a:pt x="296" y="599"/>
                      <a:pt x="331" y="597"/>
                    </a:cubicBezTo>
                    <a:cubicBezTo>
                      <a:pt x="366" y="595"/>
                      <a:pt x="397" y="553"/>
                      <a:pt x="433" y="553"/>
                    </a:cubicBezTo>
                    <a:cubicBezTo>
                      <a:pt x="469" y="553"/>
                      <a:pt x="509" y="575"/>
                      <a:pt x="549" y="597"/>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87" name="Line 59"/>
              <p:cNvSpPr>
                <a:spLocks noChangeShapeType="1"/>
              </p:cNvSpPr>
              <p:nvPr/>
            </p:nvSpPr>
            <p:spPr bwMode="auto">
              <a:xfrm flipV="1">
                <a:off x="3393" y="2718"/>
                <a:ext cx="175" cy="17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88" name="Line 60"/>
              <p:cNvSpPr>
                <a:spLocks noChangeShapeType="1"/>
              </p:cNvSpPr>
              <p:nvPr/>
            </p:nvSpPr>
            <p:spPr bwMode="auto">
              <a:xfrm flipV="1">
                <a:off x="3590" y="2718"/>
                <a:ext cx="197" cy="19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89" name="Line 61"/>
              <p:cNvSpPr>
                <a:spLocks noChangeShapeType="1"/>
              </p:cNvSpPr>
              <p:nvPr/>
            </p:nvSpPr>
            <p:spPr bwMode="auto">
              <a:xfrm flipV="1">
                <a:off x="3707" y="2798"/>
                <a:ext cx="225" cy="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90" name="Line 62"/>
              <p:cNvSpPr>
                <a:spLocks noChangeShapeType="1"/>
              </p:cNvSpPr>
              <p:nvPr/>
            </p:nvSpPr>
            <p:spPr bwMode="auto">
              <a:xfrm flipV="1">
                <a:off x="3714" y="3016"/>
                <a:ext cx="218" cy="21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91" name="Line 63"/>
              <p:cNvSpPr>
                <a:spLocks noChangeShapeType="1"/>
              </p:cNvSpPr>
              <p:nvPr/>
            </p:nvSpPr>
            <p:spPr bwMode="auto">
              <a:xfrm flipV="1">
                <a:off x="3874" y="3227"/>
                <a:ext cx="58" cy="5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92" name="Freeform 64"/>
              <p:cNvSpPr/>
              <p:nvPr/>
            </p:nvSpPr>
            <p:spPr bwMode="auto">
              <a:xfrm>
                <a:off x="3634" y="2768"/>
                <a:ext cx="233" cy="226"/>
              </a:xfrm>
              <a:custGeom>
                <a:avLst/>
                <a:gdLst>
                  <a:gd name="T0" fmla="*/ 36 w 233"/>
                  <a:gd name="T1" fmla="*/ 0 h 226"/>
                  <a:gd name="T2" fmla="*/ 131 w 233"/>
                  <a:gd name="T3" fmla="*/ 29 h 226"/>
                  <a:gd name="T4" fmla="*/ 211 w 233"/>
                  <a:gd name="T5" fmla="*/ 124 h 226"/>
                  <a:gd name="T6" fmla="*/ 233 w 233"/>
                  <a:gd name="T7" fmla="*/ 175 h 226"/>
                  <a:gd name="T8" fmla="*/ 218 w 233"/>
                  <a:gd name="T9" fmla="*/ 226 h 226"/>
                  <a:gd name="T10" fmla="*/ 175 w 233"/>
                  <a:gd name="T11" fmla="*/ 197 h 226"/>
                  <a:gd name="T12" fmla="*/ 116 w 233"/>
                  <a:gd name="T13" fmla="*/ 153 h 226"/>
                  <a:gd name="T14" fmla="*/ 51 w 233"/>
                  <a:gd name="T15" fmla="*/ 102 h 226"/>
                  <a:gd name="T16" fmla="*/ 0 w 233"/>
                  <a:gd name="T17" fmla="*/ 51 h 226"/>
                  <a:gd name="T18" fmla="*/ 36 w 233"/>
                  <a:gd name="T19" fmla="*/ 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3" h="226">
                    <a:moveTo>
                      <a:pt x="36" y="0"/>
                    </a:moveTo>
                    <a:lnTo>
                      <a:pt x="131" y="29"/>
                    </a:lnTo>
                    <a:lnTo>
                      <a:pt x="211" y="124"/>
                    </a:lnTo>
                    <a:lnTo>
                      <a:pt x="233" y="175"/>
                    </a:lnTo>
                    <a:lnTo>
                      <a:pt x="218" y="226"/>
                    </a:lnTo>
                    <a:lnTo>
                      <a:pt x="175" y="197"/>
                    </a:lnTo>
                    <a:lnTo>
                      <a:pt x="116" y="153"/>
                    </a:lnTo>
                    <a:lnTo>
                      <a:pt x="51" y="102"/>
                    </a:lnTo>
                    <a:lnTo>
                      <a:pt x="0" y="51"/>
                    </a:lnTo>
                    <a:lnTo>
                      <a:pt x="36" y="0"/>
                    </a:lnTo>
                    <a:close/>
                  </a:path>
                </a:pathLst>
              </a:custGeom>
              <a:solidFill>
                <a:schemeClr val="bg1"/>
              </a:solidFill>
              <a:ln w="1905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73793" name="Text Box 65"/>
            <p:cNvSpPr txBox="1">
              <a:spLocks noChangeArrowheads="1"/>
            </p:cNvSpPr>
            <p:nvPr/>
          </p:nvSpPr>
          <p:spPr bwMode="auto">
            <a:xfrm>
              <a:off x="3449" y="3295"/>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3200" b="1">
                  <a:solidFill>
                    <a:schemeClr val="accent2"/>
                  </a:solidFill>
                </a:rPr>
                <a:t>缩孔</a:t>
              </a:r>
              <a:endParaRPr lang="zh-CN" altLang="en-US" sz="3200" b="1">
                <a:solidFill>
                  <a:schemeClr val="accent2"/>
                </a:solidFill>
              </a:endParaRPr>
            </a:p>
          </p:txBody>
        </p:sp>
      </p:grpSp>
      <p:grpSp>
        <p:nvGrpSpPr>
          <p:cNvPr id="73794" name="Group 66"/>
          <p:cNvGrpSpPr/>
          <p:nvPr/>
        </p:nvGrpSpPr>
        <p:grpSpPr bwMode="auto">
          <a:xfrm>
            <a:off x="6161088" y="4324350"/>
            <a:ext cx="1008062" cy="1438275"/>
            <a:chOff x="4376" y="2677"/>
            <a:chExt cx="635" cy="906"/>
          </a:xfrm>
        </p:grpSpPr>
        <p:grpSp>
          <p:nvGrpSpPr>
            <p:cNvPr id="73795" name="Group 67"/>
            <p:cNvGrpSpPr/>
            <p:nvPr/>
          </p:nvGrpSpPr>
          <p:grpSpPr bwMode="auto">
            <a:xfrm>
              <a:off x="4376" y="2677"/>
              <a:ext cx="518" cy="491"/>
              <a:chOff x="4376" y="2677"/>
              <a:chExt cx="518" cy="491"/>
            </a:xfrm>
          </p:grpSpPr>
          <p:sp>
            <p:nvSpPr>
              <p:cNvPr id="73796" name="Line 68"/>
              <p:cNvSpPr>
                <a:spLocks noChangeShapeType="1"/>
              </p:cNvSpPr>
              <p:nvPr/>
            </p:nvSpPr>
            <p:spPr bwMode="auto">
              <a:xfrm>
                <a:off x="4414" y="2686"/>
                <a:ext cx="48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97" name="Line 69"/>
              <p:cNvSpPr>
                <a:spLocks noChangeShapeType="1"/>
              </p:cNvSpPr>
              <p:nvPr/>
            </p:nvSpPr>
            <p:spPr bwMode="auto">
              <a:xfrm>
                <a:off x="4887" y="2679"/>
                <a:ext cx="0" cy="46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98" name="Line 70"/>
              <p:cNvSpPr>
                <a:spLocks noChangeShapeType="1"/>
              </p:cNvSpPr>
              <p:nvPr/>
            </p:nvSpPr>
            <p:spPr bwMode="auto">
              <a:xfrm>
                <a:off x="4387" y="2913"/>
                <a:ext cx="26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99" name="Line 71"/>
              <p:cNvSpPr>
                <a:spLocks noChangeShapeType="1"/>
              </p:cNvSpPr>
              <p:nvPr/>
            </p:nvSpPr>
            <p:spPr bwMode="auto">
              <a:xfrm>
                <a:off x="4669" y="2954"/>
                <a:ext cx="0" cy="20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800" name="Freeform 72"/>
              <p:cNvSpPr/>
              <p:nvPr/>
            </p:nvSpPr>
            <p:spPr bwMode="auto">
              <a:xfrm>
                <a:off x="4376" y="2692"/>
                <a:ext cx="511" cy="476"/>
              </a:xfrm>
              <a:custGeom>
                <a:avLst/>
                <a:gdLst>
                  <a:gd name="T0" fmla="*/ 46 w 511"/>
                  <a:gd name="T1" fmla="*/ 0 h 476"/>
                  <a:gd name="T2" fmla="*/ 9 w 511"/>
                  <a:gd name="T3" fmla="*/ 131 h 476"/>
                  <a:gd name="T4" fmla="*/ 9 w 511"/>
                  <a:gd name="T5" fmla="*/ 226 h 476"/>
                  <a:gd name="T6" fmla="*/ 60 w 511"/>
                  <a:gd name="T7" fmla="*/ 335 h 476"/>
                  <a:gd name="T8" fmla="*/ 169 w 511"/>
                  <a:gd name="T9" fmla="*/ 400 h 476"/>
                  <a:gd name="T10" fmla="*/ 220 w 511"/>
                  <a:gd name="T11" fmla="*/ 466 h 476"/>
                  <a:gd name="T12" fmla="*/ 300 w 511"/>
                  <a:gd name="T13" fmla="*/ 458 h 476"/>
                  <a:gd name="T14" fmla="*/ 380 w 511"/>
                  <a:gd name="T15" fmla="*/ 415 h 476"/>
                  <a:gd name="T16" fmla="*/ 511 w 511"/>
                  <a:gd name="T17" fmla="*/ 444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1" h="476">
                    <a:moveTo>
                      <a:pt x="46" y="0"/>
                    </a:moveTo>
                    <a:cubicBezTo>
                      <a:pt x="30" y="46"/>
                      <a:pt x="15" y="93"/>
                      <a:pt x="9" y="131"/>
                    </a:cubicBezTo>
                    <a:cubicBezTo>
                      <a:pt x="3" y="169"/>
                      <a:pt x="0" y="192"/>
                      <a:pt x="9" y="226"/>
                    </a:cubicBezTo>
                    <a:cubicBezTo>
                      <a:pt x="18" y="260"/>
                      <a:pt x="33" y="306"/>
                      <a:pt x="60" y="335"/>
                    </a:cubicBezTo>
                    <a:cubicBezTo>
                      <a:pt x="87" y="364"/>
                      <a:pt x="142" y="378"/>
                      <a:pt x="169" y="400"/>
                    </a:cubicBezTo>
                    <a:cubicBezTo>
                      <a:pt x="196" y="422"/>
                      <a:pt x="198" y="456"/>
                      <a:pt x="220" y="466"/>
                    </a:cubicBezTo>
                    <a:cubicBezTo>
                      <a:pt x="242" y="476"/>
                      <a:pt x="273" y="466"/>
                      <a:pt x="300" y="458"/>
                    </a:cubicBezTo>
                    <a:cubicBezTo>
                      <a:pt x="327" y="450"/>
                      <a:pt x="345" y="417"/>
                      <a:pt x="380" y="415"/>
                    </a:cubicBezTo>
                    <a:cubicBezTo>
                      <a:pt x="415" y="413"/>
                      <a:pt x="463" y="428"/>
                      <a:pt x="511" y="444"/>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801" name="Line 73"/>
              <p:cNvSpPr>
                <a:spLocks noChangeShapeType="1"/>
              </p:cNvSpPr>
              <p:nvPr/>
            </p:nvSpPr>
            <p:spPr bwMode="auto">
              <a:xfrm flipV="1">
                <a:off x="4392" y="2677"/>
                <a:ext cx="211" cy="21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802" name="Line 74"/>
              <p:cNvSpPr>
                <a:spLocks noChangeShapeType="1"/>
              </p:cNvSpPr>
              <p:nvPr/>
            </p:nvSpPr>
            <p:spPr bwMode="auto">
              <a:xfrm flipV="1">
                <a:off x="4567" y="2677"/>
                <a:ext cx="225" cy="22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803" name="Line 75"/>
              <p:cNvSpPr>
                <a:spLocks noChangeShapeType="1"/>
              </p:cNvSpPr>
              <p:nvPr/>
            </p:nvSpPr>
            <p:spPr bwMode="auto">
              <a:xfrm flipV="1">
                <a:off x="4683" y="2794"/>
                <a:ext cx="204" cy="2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804" name="Line 76"/>
              <p:cNvSpPr>
                <a:spLocks noChangeShapeType="1"/>
              </p:cNvSpPr>
              <p:nvPr/>
            </p:nvSpPr>
            <p:spPr bwMode="auto">
              <a:xfrm flipV="1">
                <a:off x="4785" y="2990"/>
                <a:ext cx="109" cy="10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805" name="Freeform 77"/>
              <p:cNvSpPr/>
              <p:nvPr/>
            </p:nvSpPr>
            <p:spPr bwMode="auto">
              <a:xfrm>
                <a:off x="4646" y="2794"/>
                <a:ext cx="151" cy="160"/>
              </a:xfrm>
              <a:custGeom>
                <a:avLst/>
                <a:gdLst>
                  <a:gd name="T0" fmla="*/ 0 w 151"/>
                  <a:gd name="T1" fmla="*/ 122 h 160"/>
                  <a:gd name="T2" fmla="*/ 24 w 151"/>
                  <a:gd name="T3" fmla="*/ 81 h 160"/>
                  <a:gd name="T4" fmla="*/ 80 w 151"/>
                  <a:gd name="T5" fmla="*/ 57 h 160"/>
                  <a:gd name="T6" fmla="*/ 147 w 151"/>
                  <a:gd name="T7" fmla="*/ 2 h 160"/>
                  <a:gd name="T8" fmla="*/ 101 w 151"/>
                  <a:gd name="T9" fmla="*/ 43 h 160"/>
                  <a:gd name="T10" fmla="*/ 87 w 151"/>
                  <a:gd name="T11" fmla="*/ 57 h 160"/>
                  <a:gd name="T12" fmla="*/ 51 w 151"/>
                  <a:gd name="T13" fmla="*/ 88 h 160"/>
                  <a:gd name="T14" fmla="*/ 29 w 151"/>
                  <a:gd name="T15" fmla="*/ 122 h 160"/>
                  <a:gd name="T16" fmla="*/ 17 w 151"/>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160">
                    <a:moveTo>
                      <a:pt x="0" y="122"/>
                    </a:moveTo>
                    <a:cubicBezTo>
                      <a:pt x="5" y="107"/>
                      <a:pt x="11" y="92"/>
                      <a:pt x="24" y="81"/>
                    </a:cubicBezTo>
                    <a:cubicBezTo>
                      <a:pt x="37" y="70"/>
                      <a:pt x="60" y="70"/>
                      <a:pt x="80" y="57"/>
                    </a:cubicBezTo>
                    <a:cubicBezTo>
                      <a:pt x="100" y="44"/>
                      <a:pt x="143" y="4"/>
                      <a:pt x="147" y="2"/>
                    </a:cubicBezTo>
                    <a:cubicBezTo>
                      <a:pt x="151" y="0"/>
                      <a:pt x="111" y="34"/>
                      <a:pt x="101" y="43"/>
                    </a:cubicBezTo>
                    <a:cubicBezTo>
                      <a:pt x="91" y="52"/>
                      <a:pt x="95" y="49"/>
                      <a:pt x="87" y="57"/>
                    </a:cubicBezTo>
                    <a:cubicBezTo>
                      <a:pt x="79" y="65"/>
                      <a:pt x="61" y="77"/>
                      <a:pt x="51" y="88"/>
                    </a:cubicBezTo>
                    <a:cubicBezTo>
                      <a:pt x="41" y="99"/>
                      <a:pt x="35" y="110"/>
                      <a:pt x="29" y="122"/>
                    </a:cubicBezTo>
                    <a:cubicBezTo>
                      <a:pt x="23" y="134"/>
                      <a:pt x="20" y="147"/>
                      <a:pt x="17" y="16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73806" name="Text Box 78"/>
            <p:cNvSpPr txBox="1">
              <a:spLocks noChangeArrowheads="1"/>
            </p:cNvSpPr>
            <p:nvPr/>
          </p:nvSpPr>
          <p:spPr bwMode="auto">
            <a:xfrm>
              <a:off x="4383" y="3218"/>
              <a:ext cx="62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200" b="1">
                  <a:solidFill>
                    <a:schemeClr val="accent2"/>
                  </a:solidFill>
                </a:rPr>
                <a:t>裂纹</a:t>
              </a:r>
              <a:endParaRPr lang="zh-CN" altLang="en-US" sz="3200" b="1">
                <a:solidFill>
                  <a:schemeClr val="accent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3736"/>
                                        </p:tgtEl>
                                        <p:attrNameLst>
                                          <p:attrName>style.visibility</p:attrName>
                                        </p:attrNameLst>
                                      </p:cBhvr>
                                      <p:to>
                                        <p:strVal val="visible"/>
                                      </p:to>
                                    </p:set>
                                    <p:animEffect transition="in" filter="slide(fromLeft)">
                                      <p:cBhvr>
                                        <p:cTn id="7" dur="500"/>
                                        <p:tgtEl>
                                          <p:spTgt spid="7373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73733"/>
                                        </p:tgtEl>
                                        <p:attrNameLst>
                                          <p:attrName>style.visibility</p:attrName>
                                        </p:attrNameLst>
                                      </p:cBhvr>
                                      <p:to>
                                        <p:strVal val="visible"/>
                                      </p:to>
                                    </p:set>
                                    <p:animEffect transition="in" filter="barn(outVertical)">
                                      <p:cBhvr>
                                        <p:cTn id="12" dur="500"/>
                                        <p:tgtEl>
                                          <p:spTgt spid="737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4"/>
                                        </p:tgtEl>
                                        <p:attrNameLst>
                                          <p:attrName>style.visibility</p:attrName>
                                        </p:attrNameLst>
                                      </p:cBhvr>
                                      <p:to>
                                        <p:strVal val="visible"/>
                                      </p:to>
                                    </p:set>
                                    <p:animEffect transition="in" filter="blinds(horizontal)">
                                      <p:cBhvr>
                                        <p:cTn id="17" dur="500"/>
                                        <p:tgtEl>
                                          <p:spTgt spid="7373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73737"/>
                                        </p:tgtEl>
                                        <p:attrNameLst>
                                          <p:attrName>style.visibility</p:attrName>
                                        </p:attrNameLst>
                                      </p:cBhvr>
                                      <p:to>
                                        <p:strVal val="visible"/>
                                      </p:to>
                                    </p:set>
                                    <p:animEffect transition="in" filter="blinds(vertical)">
                                      <p:cBhvr>
                                        <p:cTn id="22" dur="500"/>
                                        <p:tgtEl>
                                          <p:spTgt spid="7373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3735"/>
                                        </p:tgtEl>
                                        <p:attrNameLst>
                                          <p:attrName>style.visibility</p:attrName>
                                        </p:attrNameLst>
                                      </p:cBhvr>
                                      <p:to>
                                        <p:strVal val="visible"/>
                                      </p:to>
                                    </p:set>
                                    <p:animEffect transition="in" filter="blinds(horizontal)">
                                      <p:cBhvr>
                                        <p:cTn id="27" dur="500"/>
                                        <p:tgtEl>
                                          <p:spTgt spid="7373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73779"/>
                                        </p:tgtEl>
                                        <p:attrNameLst>
                                          <p:attrName>style.visibility</p:attrName>
                                        </p:attrNameLst>
                                      </p:cBhvr>
                                      <p:to>
                                        <p:strVal val="visible"/>
                                      </p:to>
                                    </p:set>
                                    <p:animEffect transition="in" filter="box(out)">
                                      <p:cBhvr>
                                        <p:cTn id="32" dur="500"/>
                                        <p:tgtEl>
                                          <p:spTgt spid="7377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73794"/>
                                        </p:tgtEl>
                                        <p:attrNameLst>
                                          <p:attrName>style.visibility</p:attrName>
                                        </p:attrNameLst>
                                      </p:cBhvr>
                                      <p:to>
                                        <p:strVal val="visible"/>
                                      </p:to>
                                    </p:set>
                                    <p:animEffect transition="in" filter="blinds(vertical)">
                                      <p:cBhvr>
                                        <p:cTn id="37" dur="500"/>
                                        <p:tgtEl>
                                          <p:spTgt spid="73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animBg="1" autoUpdateAnimBg="0"/>
      <p:bldP spid="73734" grpId="0" autoUpdateAnimBg="0"/>
      <p:bldP spid="73735" grpId="0" autoUpdateAnimBg="0"/>
      <p:bldP spid="73736"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754063" y="731838"/>
            <a:ext cx="8062912"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latin typeface="宋体" panose="02010600030101010101" pitchFamily="2" charset="-122"/>
              </a:rPr>
              <a:t>    </a:t>
            </a:r>
            <a:r>
              <a:rPr lang="zh-CN" altLang="en-US" sz="3200" b="1">
                <a:latin typeface="宋体" panose="02010600030101010101" pitchFamily="2" charset="-122"/>
              </a:rPr>
              <a:t>由于铸造圆角的存在，使得铸件表面的相贯线变得不明显，为了区分不同表面，以过渡线（画</a:t>
            </a:r>
            <a:r>
              <a:rPr lang="zh-CN" altLang="en-US" sz="3200" b="1">
                <a:solidFill>
                  <a:srgbClr val="FF3300"/>
                </a:solidFill>
                <a:latin typeface="宋体" panose="02010600030101010101" pitchFamily="2" charset="-122"/>
              </a:rPr>
              <a:t>细实线</a:t>
            </a:r>
            <a:r>
              <a:rPr lang="zh-CN" altLang="en-US" sz="3200" b="1">
                <a:latin typeface="宋体" panose="02010600030101010101" pitchFamily="2" charset="-122"/>
              </a:rPr>
              <a:t>）的形式画出。</a:t>
            </a:r>
            <a:endParaRPr lang="zh-CN" altLang="en-US" sz="3200" b="1">
              <a:latin typeface="宋体" panose="02010600030101010101" pitchFamily="2" charset="-122"/>
            </a:endParaRPr>
          </a:p>
        </p:txBody>
      </p:sp>
      <p:sp>
        <p:nvSpPr>
          <p:cNvPr id="23555" name="Text Box 3"/>
          <p:cNvSpPr txBox="1">
            <a:spLocks noChangeArrowheads="1"/>
          </p:cNvSpPr>
          <p:nvPr/>
        </p:nvSpPr>
        <p:spPr bwMode="auto">
          <a:xfrm>
            <a:off x="957263" y="2513013"/>
            <a:ext cx="30210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sz="3200" b="1">
                <a:solidFill>
                  <a:schemeClr val="accent2"/>
                </a:solidFill>
                <a:latin typeface="宋体" panose="02010600030101010101" pitchFamily="2" charset="-122"/>
              </a:rPr>
              <a:t>⑴ </a:t>
            </a:r>
            <a:r>
              <a:rPr lang="zh-CN" altLang="en-US" sz="3200" b="1">
                <a:solidFill>
                  <a:schemeClr val="accent2"/>
                </a:solidFill>
                <a:latin typeface="宋体" panose="02010600030101010101" pitchFamily="2" charset="-122"/>
              </a:rPr>
              <a:t>两曲面相交</a:t>
            </a:r>
            <a:endParaRPr lang="zh-CN" altLang="en-US" sz="3200" b="1">
              <a:solidFill>
                <a:schemeClr val="accent2"/>
              </a:solidFill>
              <a:latin typeface="宋体" panose="02010600030101010101" pitchFamily="2" charset="-122"/>
            </a:endParaRPr>
          </a:p>
        </p:txBody>
      </p:sp>
      <p:grpSp>
        <p:nvGrpSpPr>
          <p:cNvPr id="23585" name="Group 33"/>
          <p:cNvGrpSpPr/>
          <p:nvPr/>
        </p:nvGrpSpPr>
        <p:grpSpPr bwMode="auto">
          <a:xfrm>
            <a:off x="4670425" y="2708275"/>
            <a:ext cx="2041525" cy="1416050"/>
            <a:chOff x="2936" y="1694"/>
            <a:chExt cx="1286" cy="892"/>
          </a:xfrm>
        </p:grpSpPr>
        <p:sp>
          <p:nvSpPr>
            <p:cNvPr id="23557" name="Text Box 5"/>
            <p:cNvSpPr txBox="1">
              <a:spLocks noChangeArrowheads="1"/>
            </p:cNvSpPr>
            <p:nvPr/>
          </p:nvSpPr>
          <p:spPr bwMode="auto">
            <a:xfrm>
              <a:off x="2936" y="1694"/>
              <a:ext cx="128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b="1">
                  <a:solidFill>
                    <a:srgbClr val="FF3300"/>
                  </a:solidFill>
                </a:rPr>
                <a:t>过渡线不与</a:t>
              </a:r>
              <a:endParaRPr lang="zh-CN" altLang="en-US" b="1">
                <a:solidFill>
                  <a:srgbClr val="FF3300"/>
                </a:solidFill>
              </a:endParaRPr>
            </a:p>
            <a:p>
              <a:pPr algn="ctr" eaLnBrk="0" hangingPunct="0"/>
              <a:r>
                <a:rPr lang="zh-CN" altLang="en-US" b="1">
                  <a:solidFill>
                    <a:srgbClr val="FF3300"/>
                  </a:solidFill>
                </a:rPr>
                <a:t>圆角轮廓接触</a:t>
              </a:r>
              <a:endParaRPr lang="zh-CN" altLang="en-US" b="1">
                <a:solidFill>
                  <a:srgbClr val="FF3300"/>
                </a:solidFill>
              </a:endParaRPr>
            </a:p>
          </p:txBody>
        </p:sp>
        <p:sp>
          <p:nvSpPr>
            <p:cNvPr id="23558" name="Line 6"/>
            <p:cNvSpPr>
              <a:spLocks noChangeShapeType="1"/>
            </p:cNvSpPr>
            <p:nvPr/>
          </p:nvSpPr>
          <p:spPr bwMode="auto">
            <a:xfrm>
              <a:off x="3003" y="2194"/>
              <a:ext cx="1147" cy="0"/>
            </a:xfrm>
            <a:prstGeom prst="line">
              <a:avLst/>
            </a:prstGeom>
            <a:noFill/>
            <a:ln w="127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59" name="Line 7"/>
            <p:cNvSpPr>
              <a:spLocks noChangeShapeType="1"/>
            </p:cNvSpPr>
            <p:nvPr/>
          </p:nvSpPr>
          <p:spPr bwMode="auto">
            <a:xfrm flipH="1" flipV="1">
              <a:off x="3003" y="2193"/>
              <a:ext cx="271" cy="393"/>
            </a:xfrm>
            <a:prstGeom prst="line">
              <a:avLst/>
            </a:prstGeom>
            <a:noFill/>
            <a:ln w="1270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3586" name="Group 34"/>
          <p:cNvGrpSpPr/>
          <p:nvPr/>
        </p:nvGrpSpPr>
        <p:grpSpPr bwMode="auto">
          <a:xfrm>
            <a:off x="5907088" y="3084513"/>
            <a:ext cx="2201862" cy="981075"/>
            <a:chOff x="3721" y="1943"/>
            <a:chExt cx="1387" cy="618"/>
          </a:xfrm>
        </p:grpSpPr>
        <p:sp>
          <p:nvSpPr>
            <p:cNvPr id="23561" name="Line 9"/>
            <p:cNvSpPr>
              <a:spLocks noChangeShapeType="1"/>
            </p:cNvSpPr>
            <p:nvPr/>
          </p:nvSpPr>
          <p:spPr bwMode="auto">
            <a:xfrm>
              <a:off x="4262" y="2210"/>
              <a:ext cx="768" cy="0"/>
            </a:xfrm>
            <a:prstGeom prst="line">
              <a:avLst/>
            </a:prstGeom>
            <a:noFill/>
            <a:ln w="127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62" name="Text Box 10"/>
            <p:cNvSpPr txBox="1">
              <a:spLocks noChangeArrowheads="1"/>
            </p:cNvSpPr>
            <p:nvPr/>
          </p:nvSpPr>
          <p:spPr bwMode="auto">
            <a:xfrm>
              <a:off x="4162" y="1943"/>
              <a:ext cx="9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b="1">
                  <a:solidFill>
                    <a:srgbClr val="FF3300"/>
                  </a:solidFill>
                </a:rPr>
                <a:t>铸造圆角</a:t>
              </a:r>
              <a:endParaRPr lang="zh-CN" altLang="en-US" b="1">
                <a:solidFill>
                  <a:srgbClr val="FF3300"/>
                </a:solidFill>
              </a:endParaRPr>
            </a:p>
          </p:txBody>
        </p:sp>
        <p:sp>
          <p:nvSpPr>
            <p:cNvPr id="23563" name="Line 11"/>
            <p:cNvSpPr>
              <a:spLocks noChangeShapeType="1"/>
            </p:cNvSpPr>
            <p:nvPr/>
          </p:nvSpPr>
          <p:spPr bwMode="auto">
            <a:xfrm flipV="1">
              <a:off x="3721" y="2210"/>
              <a:ext cx="542" cy="351"/>
            </a:xfrm>
            <a:prstGeom prst="line">
              <a:avLst/>
            </a:prstGeom>
            <a:noFill/>
            <a:ln w="1270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3564" name="Group 12"/>
          <p:cNvGrpSpPr/>
          <p:nvPr/>
        </p:nvGrpSpPr>
        <p:grpSpPr bwMode="auto">
          <a:xfrm>
            <a:off x="4664075" y="4244975"/>
            <a:ext cx="1290638" cy="1212850"/>
            <a:chOff x="2938" y="2695"/>
            <a:chExt cx="813" cy="764"/>
          </a:xfrm>
        </p:grpSpPr>
        <p:sp>
          <p:nvSpPr>
            <p:cNvPr id="23565" name="Line 13"/>
            <p:cNvSpPr>
              <a:spLocks noChangeShapeType="1"/>
            </p:cNvSpPr>
            <p:nvPr/>
          </p:nvSpPr>
          <p:spPr bwMode="auto">
            <a:xfrm flipH="1">
              <a:off x="2950" y="2695"/>
              <a:ext cx="430" cy="744"/>
            </a:xfrm>
            <a:prstGeom prst="line">
              <a:avLst/>
            </a:prstGeom>
            <a:noFill/>
            <a:ln w="1270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66" name="Line 14"/>
            <p:cNvSpPr>
              <a:spLocks noChangeShapeType="1"/>
            </p:cNvSpPr>
            <p:nvPr/>
          </p:nvSpPr>
          <p:spPr bwMode="auto">
            <a:xfrm>
              <a:off x="2958" y="3437"/>
              <a:ext cx="660" cy="0"/>
            </a:xfrm>
            <a:prstGeom prst="line">
              <a:avLst/>
            </a:prstGeom>
            <a:noFill/>
            <a:ln w="127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67" name="Text Box 15"/>
            <p:cNvSpPr txBox="1">
              <a:spLocks noChangeArrowheads="1"/>
            </p:cNvSpPr>
            <p:nvPr/>
          </p:nvSpPr>
          <p:spPr bwMode="auto">
            <a:xfrm>
              <a:off x="2938" y="3171"/>
              <a:ext cx="8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b="1">
                  <a:solidFill>
                    <a:srgbClr val="FF3300"/>
                  </a:solidFill>
                </a:rPr>
                <a:t>过渡线</a:t>
              </a:r>
              <a:endParaRPr lang="zh-CN" altLang="en-US">
                <a:solidFill>
                  <a:srgbClr val="FF3300"/>
                </a:solidFill>
              </a:endParaRPr>
            </a:p>
          </p:txBody>
        </p:sp>
      </p:grpSp>
      <p:sp>
        <p:nvSpPr>
          <p:cNvPr id="23568" name="Text Box 16"/>
          <p:cNvSpPr txBox="1">
            <a:spLocks noChangeArrowheads="1"/>
          </p:cNvSpPr>
          <p:nvPr/>
        </p:nvSpPr>
        <p:spPr bwMode="auto">
          <a:xfrm>
            <a:off x="595313" y="184150"/>
            <a:ext cx="2025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200" b="1">
                <a:solidFill>
                  <a:srgbClr val="FF3300"/>
                </a:solidFill>
                <a:latin typeface="宋体" panose="02010600030101010101" pitchFamily="2" charset="-122"/>
              </a:rPr>
              <a:t>过渡线 ：</a:t>
            </a:r>
            <a:endParaRPr lang="zh-CN" altLang="en-US" sz="3200" b="1">
              <a:solidFill>
                <a:srgbClr val="FF3300"/>
              </a:solidFill>
              <a:latin typeface="宋体" panose="02010600030101010101" pitchFamily="2" charset="-122"/>
            </a:endParaRPr>
          </a:p>
        </p:txBody>
      </p:sp>
      <p:grpSp>
        <p:nvGrpSpPr>
          <p:cNvPr id="23584" name="Group 32"/>
          <p:cNvGrpSpPr/>
          <p:nvPr/>
        </p:nvGrpSpPr>
        <p:grpSpPr bwMode="auto">
          <a:xfrm>
            <a:off x="4703763" y="3690938"/>
            <a:ext cx="1728787" cy="1281112"/>
            <a:chOff x="2963" y="2325"/>
            <a:chExt cx="1089" cy="807"/>
          </a:xfrm>
        </p:grpSpPr>
        <p:sp>
          <p:nvSpPr>
            <p:cNvPr id="23570" name="Line 18"/>
            <p:cNvSpPr>
              <a:spLocks noChangeShapeType="1"/>
            </p:cNvSpPr>
            <p:nvPr/>
          </p:nvSpPr>
          <p:spPr bwMode="auto">
            <a:xfrm>
              <a:off x="2963" y="2856"/>
              <a:ext cx="1089"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1" name="Line 19"/>
            <p:cNvSpPr>
              <a:spLocks noChangeShapeType="1"/>
            </p:cNvSpPr>
            <p:nvPr/>
          </p:nvSpPr>
          <p:spPr bwMode="auto">
            <a:xfrm>
              <a:off x="3500" y="2325"/>
              <a:ext cx="0" cy="423"/>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2" name="Line 20"/>
            <p:cNvSpPr>
              <a:spLocks noChangeShapeType="1"/>
            </p:cNvSpPr>
            <p:nvPr/>
          </p:nvSpPr>
          <p:spPr bwMode="auto">
            <a:xfrm flipH="1">
              <a:off x="3030" y="2592"/>
              <a:ext cx="19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3" name="Line 21"/>
            <p:cNvSpPr>
              <a:spLocks noChangeShapeType="1"/>
            </p:cNvSpPr>
            <p:nvPr/>
          </p:nvSpPr>
          <p:spPr bwMode="auto">
            <a:xfrm flipH="1">
              <a:off x="3028" y="3120"/>
              <a:ext cx="95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4" name="Line 22"/>
            <p:cNvSpPr>
              <a:spLocks noChangeShapeType="1"/>
            </p:cNvSpPr>
            <p:nvPr/>
          </p:nvSpPr>
          <p:spPr bwMode="auto">
            <a:xfrm flipV="1">
              <a:off x="3296" y="2372"/>
              <a:ext cx="0" cy="1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5" name="Line 23"/>
            <p:cNvSpPr>
              <a:spLocks noChangeShapeType="1"/>
            </p:cNvSpPr>
            <p:nvPr/>
          </p:nvSpPr>
          <p:spPr bwMode="auto">
            <a:xfrm flipV="1">
              <a:off x="3704" y="2370"/>
              <a:ext cx="0" cy="17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6" name="Line 24"/>
            <p:cNvSpPr>
              <a:spLocks noChangeShapeType="1"/>
            </p:cNvSpPr>
            <p:nvPr/>
          </p:nvSpPr>
          <p:spPr bwMode="auto">
            <a:xfrm>
              <a:off x="3289" y="2376"/>
              <a:ext cx="42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7" name="Line 25"/>
            <p:cNvSpPr>
              <a:spLocks noChangeShapeType="1"/>
            </p:cNvSpPr>
            <p:nvPr/>
          </p:nvSpPr>
          <p:spPr bwMode="auto">
            <a:xfrm>
              <a:off x="3032" y="2589"/>
              <a:ext cx="0" cy="53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8" name="Line 26"/>
            <p:cNvSpPr>
              <a:spLocks noChangeShapeType="1"/>
            </p:cNvSpPr>
            <p:nvPr/>
          </p:nvSpPr>
          <p:spPr bwMode="auto">
            <a:xfrm>
              <a:off x="3980" y="2588"/>
              <a:ext cx="0" cy="5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79" name="Line 27"/>
            <p:cNvSpPr>
              <a:spLocks noChangeShapeType="1"/>
            </p:cNvSpPr>
            <p:nvPr/>
          </p:nvSpPr>
          <p:spPr bwMode="auto">
            <a:xfrm>
              <a:off x="3761" y="2592"/>
              <a:ext cx="22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80" name="Freeform 28"/>
            <p:cNvSpPr/>
            <p:nvPr/>
          </p:nvSpPr>
          <p:spPr bwMode="auto">
            <a:xfrm>
              <a:off x="3224" y="2532"/>
              <a:ext cx="72" cy="60"/>
            </a:xfrm>
            <a:custGeom>
              <a:avLst/>
              <a:gdLst>
                <a:gd name="T0" fmla="*/ 0 w 72"/>
                <a:gd name="T1" fmla="*/ 60 h 60"/>
                <a:gd name="T2" fmla="*/ 40 w 72"/>
                <a:gd name="T3" fmla="*/ 52 h 60"/>
                <a:gd name="T4" fmla="*/ 64 w 72"/>
                <a:gd name="T5" fmla="*/ 32 h 60"/>
                <a:gd name="T6" fmla="*/ 72 w 72"/>
                <a:gd name="T7" fmla="*/ 0 h 60"/>
              </a:gdLst>
              <a:ahLst/>
              <a:cxnLst>
                <a:cxn ang="0">
                  <a:pos x="T0" y="T1"/>
                </a:cxn>
                <a:cxn ang="0">
                  <a:pos x="T2" y="T3"/>
                </a:cxn>
                <a:cxn ang="0">
                  <a:pos x="T4" y="T5"/>
                </a:cxn>
                <a:cxn ang="0">
                  <a:pos x="T6" y="T7"/>
                </a:cxn>
              </a:cxnLst>
              <a:rect l="0" t="0" r="r" b="b"/>
              <a:pathLst>
                <a:path w="72" h="60">
                  <a:moveTo>
                    <a:pt x="0" y="60"/>
                  </a:moveTo>
                  <a:cubicBezTo>
                    <a:pt x="7" y="59"/>
                    <a:pt x="29" y="57"/>
                    <a:pt x="40" y="52"/>
                  </a:cubicBezTo>
                  <a:cubicBezTo>
                    <a:pt x="51" y="47"/>
                    <a:pt x="59" y="41"/>
                    <a:pt x="64" y="32"/>
                  </a:cubicBezTo>
                  <a:cubicBezTo>
                    <a:pt x="69" y="23"/>
                    <a:pt x="70" y="7"/>
                    <a:pt x="72"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81" name="Freeform 29"/>
            <p:cNvSpPr/>
            <p:nvPr/>
          </p:nvSpPr>
          <p:spPr bwMode="auto">
            <a:xfrm>
              <a:off x="3704" y="2532"/>
              <a:ext cx="72" cy="60"/>
            </a:xfrm>
            <a:custGeom>
              <a:avLst/>
              <a:gdLst>
                <a:gd name="T0" fmla="*/ 0 w 72"/>
                <a:gd name="T1" fmla="*/ 0 h 60"/>
                <a:gd name="T2" fmla="*/ 6 w 72"/>
                <a:gd name="T3" fmla="*/ 30 h 60"/>
                <a:gd name="T4" fmla="*/ 26 w 72"/>
                <a:gd name="T5" fmla="*/ 50 h 60"/>
                <a:gd name="T6" fmla="*/ 32 w 72"/>
                <a:gd name="T7" fmla="*/ 56 h 60"/>
                <a:gd name="T8" fmla="*/ 72 w 72"/>
                <a:gd name="T9" fmla="*/ 60 h 60"/>
              </a:gdLst>
              <a:ahLst/>
              <a:cxnLst>
                <a:cxn ang="0">
                  <a:pos x="T0" y="T1"/>
                </a:cxn>
                <a:cxn ang="0">
                  <a:pos x="T2" y="T3"/>
                </a:cxn>
                <a:cxn ang="0">
                  <a:pos x="T4" y="T5"/>
                </a:cxn>
                <a:cxn ang="0">
                  <a:pos x="T6" y="T7"/>
                </a:cxn>
                <a:cxn ang="0">
                  <a:pos x="T8" y="T9"/>
                </a:cxn>
              </a:cxnLst>
              <a:rect l="0" t="0" r="r" b="b"/>
              <a:pathLst>
                <a:path w="72" h="60">
                  <a:moveTo>
                    <a:pt x="0" y="0"/>
                  </a:moveTo>
                  <a:cubicBezTo>
                    <a:pt x="1" y="5"/>
                    <a:pt x="2" y="22"/>
                    <a:pt x="6" y="30"/>
                  </a:cubicBezTo>
                  <a:cubicBezTo>
                    <a:pt x="10" y="38"/>
                    <a:pt x="22" y="46"/>
                    <a:pt x="26" y="50"/>
                  </a:cubicBezTo>
                  <a:cubicBezTo>
                    <a:pt x="30" y="54"/>
                    <a:pt x="24" y="54"/>
                    <a:pt x="32" y="56"/>
                  </a:cubicBezTo>
                  <a:cubicBezTo>
                    <a:pt x="40" y="58"/>
                    <a:pt x="64" y="59"/>
                    <a:pt x="72" y="6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582" name="Arc 30"/>
            <p:cNvSpPr/>
            <p:nvPr/>
          </p:nvSpPr>
          <p:spPr bwMode="auto">
            <a:xfrm flipV="1">
              <a:off x="3302" y="2536"/>
              <a:ext cx="391" cy="140"/>
            </a:xfrm>
            <a:custGeom>
              <a:avLst/>
              <a:gdLst>
                <a:gd name="G0" fmla="+- 19562 0 0"/>
                <a:gd name="G1" fmla="+- 21600 0 0"/>
                <a:gd name="G2" fmla="+- 21600 0 0"/>
                <a:gd name="T0" fmla="*/ 0 w 39539"/>
                <a:gd name="T1" fmla="*/ 12442 h 21600"/>
                <a:gd name="T2" fmla="*/ 39539 w 39539"/>
                <a:gd name="T3" fmla="*/ 13384 h 21600"/>
                <a:gd name="T4" fmla="*/ 19562 w 39539"/>
                <a:gd name="T5" fmla="*/ 21600 h 21600"/>
              </a:gdLst>
              <a:ahLst/>
              <a:cxnLst>
                <a:cxn ang="0">
                  <a:pos x="T0" y="T1"/>
                </a:cxn>
                <a:cxn ang="0">
                  <a:pos x="T2" y="T3"/>
                </a:cxn>
                <a:cxn ang="0">
                  <a:pos x="T4" y="T5"/>
                </a:cxn>
              </a:cxnLst>
              <a:rect l="0" t="0" r="r" b="b"/>
              <a:pathLst>
                <a:path w="39539" h="21600" fill="none" extrusionOk="0">
                  <a:moveTo>
                    <a:pt x="-1" y="12441"/>
                  </a:moveTo>
                  <a:cubicBezTo>
                    <a:pt x="3553" y="4849"/>
                    <a:pt x="11179" y="0"/>
                    <a:pt x="19562" y="0"/>
                  </a:cubicBezTo>
                  <a:cubicBezTo>
                    <a:pt x="28318" y="0"/>
                    <a:pt x="36208" y="5286"/>
                    <a:pt x="39538" y="13384"/>
                  </a:cubicBezTo>
                </a:path>
                <a:path w="39539" h="21600" stroke="0" extrusionOk="0">
                  <a:moveTo>
                    <a:pt x="-1" y="12441"/>
                  </a:moveTo>
                  <a:cubicBezTo>
                    <a:pt x="3553" y="4849"/>
                    <a:pt x="11179" y="0"/>
                    <a:pt x="19562" y="0"/>
                  </a:cubicBezTo>
                  <a:cubicBezTo>
                    <a:pt x="28318" y="0"/>
                    <a:pt x="36208" y="5286"/>
                    <a:pt x="39538" y="13384"/>
                  </a:cubicBezTo>
                  <a:lnTo>
                    <a:pt x="19562" y="21600"/>
                  </a:lnTo>
                  <a:close/>
                </a:path>
              </a:pathLst>
            </a:cu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3583" name="Picture 31"/>
          <p:cNvPicPr>
            <a:picLocks noChangeAspect="1" noChangeArrowheads="1"/>
          </p:cNvPicPr>
          <p:nvPr/>
        </p:nvPicPr>
        <p:blipFill>
          <a:blip r:embed="rId1">
            <a:extLst>
              <a:ext uri="{28A0092B-C50C-407E-A947-70E740481C1C}">
                <a14:useLocalDpi xmlns:a14="http://schemas.microsoft.com/office/drawing/2010/main" val="0"/>
              </a:ext>
            </a:extLst>
          </a:blip>
          <a:srcRect l="24127" t="33080" r="52080" b="30228"/>
          <a:stretch>
            <a:fillRect/>
          </a:stretch>
        </p:blipFill>
        <p:spPr bwMode="auto">
          <a:xfrm>
            <a:off x="1276350" y="3505200"/>
            <a:ext cx="2501900" cy="2247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strips(upRight)">
                                      <p:cBhvr>
                                        <p:cTn id="7" dur="500"/>
                                        <p:tgtEl>
                                          <p:spTgt spid="2355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3555"/>
                                        </p:tgtEl>
                                        <p:attrNameLst>
                                          <p:attrName>style.visibility</p:attrName>
                                        </p:attrNameLst>
                                      </p:cBhvr>
                                      <p:to>
                                        <p:strVal val="visible"/>
                                      </p:to>
                                    </p:set>
                                    <p:animEffect transition="in" filter="box(out)">
                                      <p:cBhvr>
                                        <p:cTn id="12" dur="500"/>
                                        <p:tgtEl>
                                          <p:spTgt spid="235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3583"/>
                                        </p:tgtEl>
                                        <p:attrNameLst>
                                          <p:attrName>style.visibility</p:attrName>
                                        </p:attrNameLst>
                                      </p:cBhvr>
                                      <p:to>
                                        <p:strVal val="visible"/>
                                      </p:to>
                                    </p:set>
                                    <p:animEffect transition="in" filter="dissolve">
                                      <p:cBhvr>
                                        <p:cTn id="17" dur="500"/>
                                        <p:tgtEl>
                                          <p:spTgt spid="2358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3584"/>
                                        </p:tgtEl>
                                        <p:attrNameLst>
                                          <p:attrName>style.visibility</p:attrName>
                                        </p:attrNameLst>
                                      </p:cBhvr>
                                      <p:to>
                                        <p:strVal val="visible"/>
                                      </p:to>
                                    </p:set>
                                    <p:animEffect transition="in" filter="box(in)">
                                      <p:cBhvr>
                                        <p:cTn id="22" dur="500"/>
                                        <p:tgtEl>
                                          <p:spTgt spid="235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3586"/>
                                        </p:tgtEl>
                                        <p:attrNameLst>
                                          <p:attrName>style.visibility</p:attrName>
                                        </p:attrNameLst>
                                      </p:cBhvr>
                                      <p:to>
                                        <p:strVal val="visible"/>
                                      </p:to>
                                    </p:set>
                                    <p:animEffect transition="in" filter="wipe(up)">
                                      <p:cBhvr>
                                        <p:cTn id="27" dur="500"/>
                                        <p:tgtEl>
                                          <p:spTgt spid="2358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3564"/>
                                        </p:tgtEl>
                                        <p:attrNameLst>
                                          <p:attrName>style.visibility</p:attrName>
                                        </p:attrNameLst>
                                      </p:cBhvr>
                                      <p:to>
                                        <p:strVal val="visible"/>
                                      </p:to>
                                    </p:set>
                                    <p:animEffect transition="in" filter="wipe(down)">
                                      <p:cBhvr>
                                        <p:cTn id="32" dur="500"/>
                                        <p:tgtEl>
                                          <p:spTgt spid="2356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3585"/>
                                        </p:tgtEl>
                                        <p:attrNameLst>
                                          <p:attrName>style.visibility</p:attrName>
                                        </p:attrNameLst>
                                      </p:cBhvr>
                                      <p:to>
                                        <p:strVal val="visible"/>
                                      </p:to>
                                    </p:set>
                                    <p:animEffect transition="in" filter="wipe(up)">
                                      <p:cBhvr>
                                        <p:cTn id="37" dur="500"/>
                                        <p:tgtEl>
                                          <p:spTgt spid="23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52425" y="125413"/>
            <a:ext cx="42687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chemeClr val="accent2"/>
                </a:solidFill>
                <a:latin typeface="宋体" panose="02010600030101010101" pitchFamily="2" charset="-122"/>
              </a:rPr>
              <a:t>⑵ </a:t>
            </a:r>
            <a:r>
              <a:rPr lang="zh-CN" altLang="en-US" sz="3200" b="1">
                <a:solidFill>
                  <a:schemeClr val="accent2"/>
                </a:solidFill>
                <a:latin typeface="宋体" panose="02010600030101010101" pitchFamily="2" charset="-122"/>
              </a:rPr>
              <a:t>两等直径圆柱相交</a:t>
            </a:r>
            <a:endParaRPr lang="zh-CN" altLang="en-US" sz="3200" b="1">
              <a:solidFill>
                <a:schemeClr val="accent2"/>
              </a:solidFill>
              <a:latin typeface="宋体" panose="02010600030101010101" pitchFamily="2" charset="-122"/>
            </a:endParaRPr>
          </a:p>
        </p:txBody>
      </p:sp>
      <p:grpSp>
        <p:nvGrpSpPr>
          <p:cNvPr id="24579" name="Group 3"/>
          <p:cNvGrpSpPr/>
          <p:nvPr/>
        </p:nvGrpSpPr>
        <p:grpSpPr bwMode="auto">
          <a:xfrm>
            <a:off x="5167313" y="1677988"/>
            <a:ext cx="2165350" cy="949325"/>
            <a:chOff x="3255" y="1102"/>
            <a:chExt cx="1364" cy="598"/>
          </a:xfrm>
        </p:grpSpPr>
        <p:sp>
          <p:nvSpPr>
            <p:cNvPr id="24580" name="Line 4"/>
            <p:cNvSpPr>
              <a:spLocks noChangeShapeType="1"/>
            </p:cNvSpPr>
            <p:nvPr/>
          </p:nvSpPr>
          <p:spPr bwMode="auto">
            <a:xfrm>
              <a:off x="4275" y="1102"/>
              <a:ext cx="324" cy="562"/>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81" name="Line 5"/>
            <p:cNvSpPr>
              <a:spLocks noChangeShapeType="1"/>
            </p:cNvSpPr>
            <p:nvPr/>
          </p:nvSpPr>
          <p:spPr bwMode="auto">
            <a:xfrm flipH="1">
              <a:off x="3307" y="1664"/>
              <a:ext cx="1289"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82" name="Text Box 6"/>
            <p:cNvSpPr txBox="1">
              <a:spLocks noChangeArrowheads="1"/>
            </p:cNvSpPr>
            <p:nvPr/>
          </p:nvSpPr>
          <p:spPr bwMode="auto">
            <a:xfrm>
              <a:off x="3255" y="1412"/>
              <a:ext cx="13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切点附近断开  </a:t>
              </a:r>
              <a:endParaRPr lang="zh-CN" altLang="en-US" b="1">
                <a:solidFill>
                  <a:srgbClr val="FF3300"/>
                </a:solidFill>
              </a:endParaRPr>
            </a:p>
          </p:txBody>
        </p:sp>
      </p:grpSp>
      <p:grpSp>
        <p:nvGrpSpPr>
          <p:cNvPr id="24716" name="Group 140"/>
          <p:cNvGrpSpPr/>
          <p:nvPr/>
        </p:nvGrpSpPr>
        <p:grpSpPr bwMode="auto">
          <a:xfrm>
            <a:off x="5864225" y="795338"/>
            <a:ext cx="1752600" cy="1295400"/>
            <a:chOff x="3694" y="501"/>
            <a:chExt cx="1104" cy="816"/>
          </a:xfrm>
        </p:grpSpPr>
        <p:sp>
          <p:nvSpPr>
            <p:cNvPr id="24584" name="Line 8"/>
            <p:cNvSpPr>
              <a:spLocks noChangeShapeType="1"/>
            </p:cNvSpPr>
            <p:nvPr/>
          </p:nvSpPr>
          <p:spPr bwMode="auto">
            <a:xfrm>
              <a:off x="3694" y="1044"/>
              <a:ext cx="1104"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4715" name="Group 139"/>
            <p:cNvGrpSpPr/>
            <p:nvPr/>
          </p:nvGrpSpPr>
          <p:grpSpPr bwMode="auto">
            <a:xfrm>
              <a:off x="3774" y="501"/>
              <a:ext cx="952" cy="816"/>
              <a:chOff x="3774" y="501"/>
              <a:chExt cx="952" cy="816"/>
            </a:xfrm>
          </p:grpSpPr>
          <p:sp>
            <p:nvSpPr>
              <p:cNvPr id="24586" name="Line 10"/>
              <p:cNvSpPr>
                <a:spLocks noChangeShapeType="1"/>
              </p:cNvSpPr>
              <p:nvPr/>
            </p:nvSpPr>
            <p:spPr bwMode="auto">
              <a:xfrm flipV="1">
                <a:off x="3967" y="560"/>
                <a:ext cx="0" cy="1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87" name="Freeform 11"/>
              <p:cNvSpPr/>
              <p:nvPr/>
            </p:nvSpPr>
            <p:spPr bwMode="auto">
              <a:xfrm>
                <a:off x="4247" y="501"/>
                <a:ext cx="1" cy="603"/>
              </a:xfrm>
              <a:custGeom>
                <a:avLst/>
                <a:gdLst>
                  <a:gd name="T0" fmla="*/ 1 w 1"/>
                  <a:gd name="T1" fmla="*/ 0 h 603"/>
                  <a:gd name="T2" fmla="*/ 0 w 1"/>
                  <a:gd name="T3" fmla="*/ 603 h 603"/>
                </a:gdLst>
                <a:ahLst/>
                <a:cxnLst>
                  <a:cxn ang="0">
                    <a:pos x="T0" y="T1"/>
                  </a:cxn>
                  <a:cxn ang="0">
                    <a:pos x="T2" y="T3"/>
                  </a:cxn>
                </a:cxnLst>
                <a:rect l="0" t="0" r="r" b="b"/>
                <a:pathLst>
                  <a:path w="1" h="603">
                    <a:moveTo>
                      <a:pt x="1" y="0"/>
                    </a:moveTo>
                    <a:lnTo>
                      <a:pt x="0" y="603"/>
                    </a:lnTo>
                  </a:path>
                </a:pathLst>
              </a:custGeom>
              <a:noFill/>
              <a:ln w="19050" cmpd="sng">
                <a:solidFill>
                  <a:schemeClr val="tx1"/>
                </a:solidFill>
                <a:prstDash val="lgDash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88" name="Line 12"/>
              <p:cNvSpPr>
                <a:spLocks noChangeShapeType="1"/>
              </p:cNvSpPr>
              <p:nvPr/>
            </p:nvSpPr>
            <p:spPr bwMode="auto">
              <a:xfrm flipH="1">
                <a:off x="3781" y="780"/>
                <a:ext cx="11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89" name="Line 13"/>
              <p:cNvSpPr>
                <a:spLocks noChangeShapeType="1"/>
              </p:cNvSpPr>
              <p:nvPr/>
            </p:nvSpPr>
            <p:spPr bwMode="auto">
              <a:xfrm flipH="1">
                <a:off x="3774" y="1308"/>
                <a:ext cx="95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0" name="Line 14"/>
              <p:cNvSpPr>
                <a:spLocks noChangeShapeType="1"/>
              </p:cNvSpPr>
              <p:nvPr/>
            </p:nvSpPr>
            <p:spPr bwMode="auto">
              <a:xfrm flipV="1">
                <a:off x="4515" y="558"/>
                <a:ext cx="0" cy="17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1" name="Line 15"/>
              <p:cNvSpPr>
                <a:spLocks noChangeShapeType="1"/>
              </p:cNvSpPr>
              <p:nvPr/>
            </p:nvSpPr>
            <p:spPr bwMode="auto">
              <a:xfrm>
                <a:off x="3963" y="564"/>
                <a:ext cx="55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2" name="Freeform 16"/>
              <p:cNvSpPr/>
              <p:nvPr/>
            </p:nvSpPr>
            <p:spPr bwMode="auto">
              <a:xfrm>
                <a:off x="3781" y="777"/>
                <a:ext cx="1" cy="538"/>
              </a:xfrm>
              <a:custGeom>
                <a:avLst/>
                <a:gdLst>
                  <a:gd name="T0" fmla="*/ 0 w 1"/>
                  <a:gd name="T1" fmla="*/ 0 h 538"/>
                  <a:gd name="T2" fmla="*/ 0 w 1"/>
                  <a:gd name="T3" fmla="*/ 538 h 538"/>
                </a:gdLst>
                <a:ahLst/>
                <a:cxnLst>
                  <a:cxn ang="0">
                    <a:pos x="T0" y="T1"/>
                  </a:cxn>
                  <a:cxn ang="0">
                    <a:pos x="T2" y="T3"/>
                  </a:cxn>
                </a:cxnLst>
                <a:rect l="0" t="0" r="r" b="b"/>
                <a:pathLst>
                  <a:path w="1" h="538">
                    <a:moveTo>
                      <a:pt x="0" y="0"/>
                    </a:moveTo>
                    <a:lnTo>
                      <a:pt x="0" y="538"/>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3" name="Freeform 17"/>
              <p:cNvSpPr/>
              <p:nvPr/>
            </p:nvSpPr>
            <p:spPr bwMode="auto">
              <a:xfrm>
                <a:off x="4724" y="775"/>
                <a:ext cx="1" cy="542"/>
              </a:xfrm>
              <a:custGeom>
                <a:avLst/>
                <a:gdLst>
                  <a:gd name="T0" fmla="*/ 0 w 1"/>
                  <a:gd name="T1" fmla="*/ 0 h 542"/>
                  <a:gd name="T2" fmla="*/ 0 w 1"/>
                  <a:gd name="T3" fmla="*/ 542 h 542"/>
                </a:gdLst>
                <a:ahLst/>
                <a:cxnLst>
                  <a:cxn ang="0">
                    <a:pos x="T0" y="T1"/>
                  </a:cxn>
                  <a:cxn ang="0">
                    <a:pos x="T2" y="T3"/>
                  </a:cxn>
                </a:cxnLst>
                <a:rect l="0" t="0" r="r" b="b"/>
                <a:pathLst>
                  <a:path w="1" h="542">
                    <a:moveTo>
                      <a:pt x="0" y="0"/>
                    </a:moveTo>
                    <a:lnTo>
                      <a:pt x="0" y="542"/>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4" name="Line 18"/>
              <p:cNvSpPr>
                <a:spLocks noChangeShapeType="1"/>
              </p:cNvSpPr>
              <p:nvPr/>
            </p:nvSpPr>
            <p:spPr bwMode="auto">
              <a:xfrm>
                <a:off x="4575" y="780"/>
                <a:ext cx="14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5" name="Freeform 19"/>
              <p:cNvSpPr/>
              <p:nvPr/>
            </p:nvSpPr>
            <p:spPr bwMode="auto">
              <a:xfrm>
                <a:off x="3895" y="720"/>
                <a:ext cx="72" cy="60"/>
              </a:xfrm>
              <a:custGeom>
                <a:avLst/>
                <a:gdLst>
                  <a:gd name="T0" fmla="*/ 0 w 72"/>
                  <a:gd name="T1" fmla="*/ 60 h 60"/>
                  <a:gd name="T2" fmla="*/ 40 w 72"/>
                  <a:gd name="T3" fmla="*/ 52 h 60"/>
                  <a:gd name="T4" fmla="*/ 64 w 72"/>
                  <a:gd name="T5" fmla="*/ 32 h 60"/>
                  <a:gd name="T6" fmla="*/ 72 w 72"/>
                  <a:gd name="T7" fmla="*/ 0 h 60"/>
                </a:gdLst>
                <a:ahLst/>
                <a:cxnLst>
                  <a:cxn ang="0">
                    <a:pos x="T0" y="T1"/>
                  </a:cxn>
                  <a:cxn ang="0">
                    <a:pos x="T2" y="T3"/>
                  </a:cxn>
                  <a:cxn ang="0">
                    <a:pos x="T4" y="T5"/>
                  </a:cxn>
                  <a:cxn ang="0">
                    <a:pos x="T6" y="T7"/>
                  </a:cxn>
                </a:cxnLst>
                <a:rect l="0" t="0" r="r" b="b"/>
                <a:pathLst>
                  <a:path w="72" h="60">
                    <a:moveTo>
                      <a:pt x="0" y="60"/>
                    </a:moveTo>
                    <a:cubicBezTo>
                      <a:pt x="7" y="59"/>
                      <a:pt x="29" y="57"/>
                      <a:pt x="40" y="52"/>
                    </a:cubicBezTo>
                    <a:cubicBezTo>
                      <a:pt x="51" y="47"/>
                      <a:pt x="59" y="41"/>
                      <a:pt x="64" y="32"/>
                    </a:cubicBezTo>
                    <a:cubicBezTo>
                      <a:pt x="69" y="23"/>
                      <a:pt x="70" y="7"/>
                      <a:pt x="72"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6" name="Freeform 20"/>
              <p:cNvSpPr/>
              <p:nvPr/>
            </p:nvSpPr>
            <p:spPr bwMode="auto">
              <a:xfrm>
                <a:off x="4515" y="720"/>
                <a:ext cx="72" cy="60"/>
              </a:xfrm>
              <a:custGeom>
                <a:avLst/>
                <a:gdLst>
                  <a:gd name="T0" fmla="*/ 0 w 72"/>
                  <a:gd name="T1" fmla="*/ 0 h 60"/>
                  <a:gd name="T2" fmla="*/ 8 w 72"/>
                  <a:gd name="T3" fmla="*/ 36 h 60"/>
                  <a:gd name="T4" fmla="*/ 32 w 72"/>
                  <a:gd name="T5" fmla="*/ 56 h 60"/>
                  <a:gd name="T6" fmla="*/ 72 w 72"/>
                  <a:gd name="T7" fmla="*/ 60 h 60"/>
                </a:gdLst>
                <a:ahLst/>
                <a:cxnLst>
                  <a:cxn ang="0">
                    <a:pos x="T0" y="T1"/>
                  </a:cxn>
                  <a:cxn ang="0">
                    <a:pos x="T2" y="T3"/>
                  </a:cxn>
                  <a:cxn ang="0">
                    <a:pos x="T4" y="T5"/>
                  </a:cxn>
                  <a:cxn ang="0">
                    <a:pos x="T6" y="T7"/>
                  </a:cxn>
                </a:cxnLst>
                <a:rect l="0" t="0" r="r" b="b"/>
                <a:pathLst>
                  <a:path w="72" h="60">
                    <a:moveTo>
                      <a:pt x="0" y="0"/>
                    </a:moveTo>
                    <a:cubicBezTo>
                      <a:pt x="1" y="7"/>
                      <a:pt x="3" y="27"/>
                      <a:pt x="8" y="36"/>
                    </a:cubicBezTo>
                    <a:cubicBezTo>
                      <a:pt x="13" y="45"/>
                      <a:pt x="21" y="52"/>
                      <a:pt x="32" y="56"/>
                    </a:cubicBezTo>
                    <a:cubicBezTo>
                      <a:pt x="43" y="60"/>
                      <a:pt x="64" y="59"/>
                      <a:pt x="72" y="6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7" name="Freeform 21"/>
              <p:cNvSpPr/>
              <p:nvPr/>
            </p:nvSpPr>
            <p:spPr bwMode="auto">
              <a:xfrm>
                <a:off x="4280" y="788"/>
                <a:ext cx="240" cy="240"/>
              </a:xfrm>
              <a:custGeom>
                <a:avLst/>
                <a:gdLst>
                  <a:gd name="T0" fmla="*/ 0 w 240"/>
                  <a:gd name="T1" fmla="*/ 240 h 240"/>
                  <a:gd name="T2" fmla="*/ 240 w 240"/>
                  <a:gd name="T3" fmla="*/ 0 h 240"/>
                </a:gdLst>
                <a:ahLst/>
                <a:cxnLst>
                  <a:cxn ang="0">
                    <a:pos x="T0" y="T1"/>
                  </a:cxn>
                  <a:cxn ang="0">
                    <a:pos x="T2" y="T3"/>
                  </a:cxn>
                </a:cxnLst>
                <a:rect l="0" t="0" r="r" b="b"/>
                <a:pathLst>
                  <a:path w="240" h="240">
                    <a:moveTo>
                      <a:pt x="0" y="240"/>
                    </a:moveTo>
                    <a:lnTo>
                      <a:pt x="24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598" name="Freeform 22"/>
              <p:cNvSpPr/>
              <p:nvPr/>
            </p:nvSpPr>
            <p:spPr bwMode="auto">
              <a:xfrm>
                <a:off x="3974" y="785"/>
                <a:ext cx="244" cy="239"/>
              </a:xfrm>
              <a:custGeom>
                <a:avLst/>
                <a:gdLst>
                  <a:gd name="T0" fmla="*/ 244 w 244"/>
                  <a:gd name="T1" fmla="*/ 239 h 239"/>
                  <a:gd name="T2" fmla="*/ 0 w 244"/>
                  <a:gd name="T3" fmla="*/ 0 h 239"/>
                </a:gdLst>
                <a:ahLst/>
                <a:cxnLst>
                  <a:cxn ang="0">
                    <a:pos x="T0" y="T1"/>
                  </a:cxn>
                  <a:cxn ang="0">
                    <a:pos x="T2" y="T3"/>
                  </a:cxn>
                </a:cxnLst>
                <a:rect l="0" t="0" r="r" b="b"/>
                <a:pathLst>
                  <a:path w="244" h="239">
                    <a:moveTo>
                      <a:pt x="244" y="239"/>
                    </a:moveTo>
                    <a:lnTo>
                      <a:pt x="0" y="0"/>
                    </a:ln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24599" name="Group 23"/>
          <p:cNvGrpSpPr/>
          <p:nvPr/>
        </p:nvGrpSpPr>
        <p:grpSpPr bwMode="auto">
          <a:xfrm>
            <a:off x="4465638" y="558800"/>
            <a:ext cx="1782762" cy="628650"/>
            <a:chOff x="2873" y="397"/>
            <a:chExt cx="1063" cy="396"/>
          </a:xfrm>
        </p:grpSpPr>
        <p:sp>
          <p:nvSpPr>
            <p:cNvPr id="24600" name="Line 24"/>
            <p:cNvSpPr>
              <a:spLocks noChangeShapeType="1"/>
            </p:cNvSpPr>
            <p:nvPr/>
          </p:nvSpPr>
          <p:spPr bwMode="auto">
            <a:xfrm>
              <a:off x="2904" y="670"/>
              <a:ext cx="76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01" name="Text Box 25"/>
            <p:cNvSpPr txBox="1">
              <a:spLocks noChangeArrowheads="1"/>
            </p:cNvSpPr>
            <p:nvPr/>
          </p:nvSpPr>
          <p:spPr bwMode="auto">
            <a:xfrm>
              <a:off x="2873" y="397"/>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b="1">
                  <a:solidFill>
                    <a:srgbClr val="FF3300"/>
                  </a:solidFill>
                </a:rPr>
                <a:t>铸造圆角</a:t>
              </a:r>
              <a:endParaRPr lang="zh-CN" altLang="en-US" b="1">
                <a:solidFill>
                  <a:srgbClr val="FF3300"/>
                </a:solidFill>
              </a:endParaRPr>
            </a:p>
          </p:txBody>
        </p:sp>
        <p:sp>
          <p:nvSpPr>
            <p:cNvPr id="24602" name="Freeform 26"/>
            <p:cNvSpPr/>
            <p:nvPr/>
          </p:nvSpPr>
          <p:spPr bwMode="auto">
            <a:xfrm>
              <a:off x="3671" y="668"/>
              <a:ext cx="265" cy="125"/>
            </a:xfrm>
            <a:custGeom>
              <a:avLst/>
              <a:gdLst>
                <a:gd name="T0" fmla="*/ 0 w 265"/>
                <a:gd name="T1" fmla="*/ 0 h 125"/>
                <a:gd name="T2" fmla="*/ 265 w 265"/>
                <a:gd name="T3" fmla="*/ 125 h 125"/>
              </a:gdLst>
              <a:ahLst/>
              <a:cxnLst>
                <a:cxn ang="0">
                  <a:pos x="T0" y="T1"/>
                </a:cxn>
                <a:cxn ang="0">
                  <a:pos x="T2" y="T3"/>
                </a:cxn>
              </a:cxnLst>
              <a:rect l="0" t="0" r="r" b="b"/>
              <a:pathLst>
                <a:path w="265" h="125">
                  <a:moveTo>
                    <a:pt x="0" y="0"/>
                  </a:moveTo>
                  <a:lnTo>
                    <a:pt x="265" y="125"/>
                  </a:lnTo>
                </a:path>
              </a:pathLst>
            </a:custGeom>
            <a:noFill/>
            <a:ln w="19050" cap="flat" cmpd="sng">
              <a:solidFill>
                <a:srgbClr val="FF3300"/>
              </a:solidFill>
              <a:prstDash val="solid"/>
              <a:round/>
              <a:headEnd type="none" w="med" len="me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4603" name="Text Box 27"/>
          <p:cNvSpPr txBox="1">
            <a:spLocks noChangeArrowheads="1"/>
          </p:cNvSpPr>
          <p:nvPr/>
        </p:nvSpPr>
        <p:spPr bwMode="auto">
          <a:xfrm>
            <a:off x="247650" y="2638425"/>
            <a:ext cx="74818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sz="3200" b="1">
                <a:solidFill>
                  <a:schemeClr val="accent2"/>
                </a:solidFill>
                <a:latin typeface="宋体" panose="02010600030101010101" pitchFamily="2" charset="-122"/>
              </a:rPr>
              <a:t>⑶ </a:t>
            </a:r>
            <a:r>
              <a:rPr lang="zh-CN" altLang="en-US" sz="3200" b="1">
                <a:solidFill>
                  <a:schemeClr val="accent2"/>
                </a:solidFill>
                <a:latin typeface="宋体" panose="02010600030101010101" pitchFamily="2" charset="-122"/>
              </a:rPr>
              <a:t>平面与平面、平面与曲面过渡线画法</a:t>
            </a:r>
            <a:endParaRPr lang="zh-CN" altLang="en-US" sz="3200" b="1">
              <a:solidFill>
                <a:schemeClr val="accent2"/>
              </a:solidFill>
              <a:latin typeface="宋体" panose="02010600030101010101" pitchFamily="2" charset="-122"/>
            </a:endParaRPr>
          </a:p>
        </p:txBody>
      </p:sp>
      <p:grpSp>
        <p:nvGrpSpPr>
          <p:cNvPr id="24733" name="Group 157"/>
          <p:cNvGrpSpPr/>
          <p:nvPr/>
        </p:nvGrpSpPr>
        <p:grpSpPr bwMode="auto">
          <a:xfrm>
            <a:off x="4383088" y="5280025"/>
            <a:ext cx="465137" cy="396875"/>
            <a:chOff x="2761" y="3326"/>
            <a:chExt cx="293" cy="250"/>
          </a:xfrm>
        </p:grpSpPr>
        <p:sp>
          <p:nvSpPr>
            <p:cNvPr id="24606" name="Line 30"/>
            <p:cNvSpPr>
              <a:spLocks noChangeShapeType="1"/>
            </p:cNvSpPr>
            <p:nvPr/>
          </p:nvSpPr>
          <p:spPr bwMode="auto">
            <a:xfrm rot="20059958" flipH="1">
              <a:off x="2897" y="3342"/>
              <a:ext cx="157" cy="42"/>
            </a:xfrm>
            <a:prstGeom prst="line">
              <a:avLst/>
            </a:prstGeom>
            <a:noFill/>
            <a:ln w="1270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08" name="Text Box 32"/>
            <p:cNvSpPr txBox="1">
              <a:spLocks noChangeArrowheads="1"/>
            </p:cNvSpPr>
            <p:nvPr/>
          </p:nvSpPr>
          <p:spPr bwMode="auto">
            <a:xfrm>
              <a:off x="2761" y="3326"/>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2000" b="1" i="1">
                  <a:solidFill>
                    <a:srgbClr val="FF3300"/>
                  </a:solidFill>
                </a:rPr>
                <a:t>A</a:t>
              </a:r>
              <a:endParaRPr lang="en-US" altLang="zh-CN" b="1" i="1">
                <a:solidFill>
                  <a:srgbClr val="FF3300"/>
                </a:solidFill>
              </a:endParaRPr>
            </a:p>
          </p:txBody>
        </p:sp>
      </p:grpSp>
      <p:grpSp>
        <p:nvGrpSpPr>
          <p:cNvPr id="24734" name="Group 158"/>
          <p:cNvGrpSpPr/>
          <p:nvPr/>
        </p:nvGrpSpPr>
        <p:grpSpPr bwMode="auto">
          <a:xfrm>
            <a:off x="4329113" y="5419725"/>
            <a:ext cx="4513262" cy="814388"/>
            <a:chOff x="2727" y="3414"/>
            <a:chExt cx="2843" cy="513"/>
          </a:xfrm>
        </p:grpSpPr>
        <p:sp>
          <p:nvSpPr>
            <p:cNvPr id="24607" name="Line 31"/>
            <p:cNvSpPr>
              <a:spLocks noChangeShapeType="1"/>
            </p:cNvSpPr>
            <p:nvPr/>
          </p:nvSpPr>
          <p:spPr bwMode="auto">
            <a:xfrm rot="19929796" flipH="1">
              <a:off x="2727" y="3414"/>
              <a:ext cx="517" cy="380"/>
            </a:xfrm>
            <a:prstGeom prst="line">
              <a:avLst/>
            </a:prstGeom>
            <a:noFill/>
            <a:ln w="1270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09" name="Text Box 33"/>
            <p:cNvSpPr txBox="1">
              <a:spLocks noChangeArrowheads="1"/>
            </p:cNvSpPr>
            <p:nvPr/>
          </p:nvSpPr>
          <p:spPr bwMode="auto">
            <a:xfrm>
              <a:off x="2887" y="3639"/>
              <a:ext cx="26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b="1">
                  <a:solidFill>
                    <a:srgbClr val="FF3300"/>
                  </a:solidFill>
                </a:rPr>
                <a:t>过渡圆弧与</a:t>
              </a:r>
              <a:r>
                <a:rPr lang="en-US" altLang="zh-CN" b="1" i="1">
                  <a:solidFill>
                    <a:srgbClr val="FF3300"/>
                  </a:solidFill>
                </a:rPr>
                <a:t>A</a:t>
              </a:r>
              <a:r>
                <a:rPr lang="zh-CN" altLang="en-US" b="1">
                  <a:solidFill>
                    <a:srgbClr val="FF3300"/>
                  </a:solidFill>
                </a:rPr>
                <a:t>处圆角弯向一致</a:t>
              </a:r>
              <a:endParaRPr lang="zh-CN" altLang="en-US" b="1">
                <a:solidFill>
                  <a:srgbClr val="FF3300"/>
                </a:solidFill>
              </a:endParaRPr>
            </a:p>
          </p:txBody>
        </p:sp>
        <p:sp>
          <p:nvSpPr>
            <p:cNvPr id="24610" name="Line 34"/>
            <p:cNvSpPr>
              <a:spLocks noChangeShapeType="1"/>
            </p:cNvSpPr>
            <p:nvPr/>
          </p:nvSpPr>
          <p:spPr bwMode="auto">
            <a:xfrm>
              <a:off x="2853" y="3891"/>
              <a:ext cx="2507" cy="0"/>
            </a:xfrm>
            <a:prstGeom prst="line">
              <a:avLst/>
            </a:prstGeom>
            <a:noFill/>
            <a:ln w="127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4722" name="Group 146"/>
          <p:cNvGrpSpPr/>
          <p:nvPr/>
        </p:nvGrpSpPr>
        <p:grpSpPr bwMode="auto">
          <a:xfrm>
            <a:off x="4300538" y="3357563"/>
            <a:ext cx="2401887" cy="2268537"/>
            <a:chOff x="2709" y="2115"/>
            <a:chExt cx="1513" cy="1429"/>
          </a:xfrm>
        </p:grpSpPr>
        <p:sp>
          <p:nvSpPr>
            <p:cNvPr id="24614" name="Line 38"/>
            <p:cNvSpPr>
              <a:spLocks noChangeShapeType="1"/>
            </p:cNvSpPr>
            <p:nvPr/>
          </p:nvSpPr>
          <p:spPr bwMode="auto">
            <a:xfrm>
              <a:off x="3454" y="2115"/>
              <a:ext cx="0" cy="51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15" name="Line 39"/>
            <p:cNvSpPr>
              <a:spLocks noChangeShapeType="1"/>
            </p:cNvSpPr>
            <p:nvPr/>
          </p:nvSpPr>
          <p:spPr bwMode="auto">
            <a:xfrm>
              <a:off x="3826" y="2560"/>
              <a:ext cx="34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16" name="Line 40"/>
            <p:cNvSpPr>
              <a:spLocks noChangeShapeType="1"/>
            </p:cNvSpPr>
            <p:nvPr/>
          </p:nvSpPr>
          <p:spPr bwMode="auto">
            <a:xfrm>
              <a:off x="3070" y="2776"/>
              <a:ext cx="76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17" name="AutoShape 41"/>
            <p:cNvSpPr>
              <a:spLocks noChangeArrowheads="1"/>
            </p:cNvSpPr>
            <p:nvPr/>
          </p:nvSpPr>
          <p:spPr bwMode="auto">
            <a:xfrm>
              <a:off x="3070" y="2176"/>
              <a:ext cx="768" cy="768"/>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400"/>
                    <a:pt x="16200" y="7817"/>
                    <a:pt x="16200" y="10799"/>
                  </a:cubicBezTo>
                  <a:lnTo>
                    <a:pt x="21600" y="10800"/>
                  </a:lnTo>
                  <a:cubicBezTo>
                    <a:pt x="21600" y="4835"/>
                    <a:pt x="16764" y="0"/>
                    <a:pt x="10800" y="0"/>
                  </a:cubicBezTo>
                  <a:cubicBezTo>
                    <a:pt x="4835" y="0"/>
                    <a:pt x="0" y="4835"/>
                    <a:pt x="0" y="10799"/>
                  </a:cubicBezTo>
                  <a:close/>
                </a:path>
              </a:pathLst>
            </a:cu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18" name="Line 42"/>
            <p:cNvSpPr>
              <a:spLocks noChangeShapeType="1"/>
            </p:cNvSpPr>
            <p:nvPr/>
          </p:nvSpPr>
          <p:spPr bwMode="auto">
            <a:xfrm>
              <a:off x="3070" y="2776"/>
              <a:ext cx="0" cy="17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19" name="Line 43"/>
            <p:cNvSpPr>
              <a:spLocks noChangeShapeType="1"/>
            </p:cNvSpPr>
            <p:nvPr/>
          </p:nvSpPr>
          <p:spPr bwMode="auto">
            <a:xfrm>
              <a:off x="3838" y="2770"/>
              <a:ext cx="0" cy="18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0" name="Line 44"/>
            <p:cNvSpPr>
              <a:spLocks noChangeShapeType="1"/>
            </p:cNvSpPr>
            <p:nvPr/>
          </p:nvSpPr>
          <p:spPr bwMode="auto">
            <a:xfrm>
              <a:off x="2709" y="3112"/>
              <a:ext cx="1513"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1" name="Line 45"/>
            <p:cNvSpPr>
              <a:spLocks noChangeShapeType="1"/>
            </p:cNvSpPr>
            <p:nvPr/>
          </p:nvSpPr>
          <p:spPr bwMode="auto">
            <a:xfrm>
              <a:off x="3070" y="3436"/>
              <a:ext cx="76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2" name="Line 46"/>
            <p:cNvSpPr>
              <a:spLocks noChangeShapeType="1"/>
            </p:cNvSpPr>
            <p:nvPr/>
          </p:nvSpPr>
          <p:spPr bwMode="auto">
            <a:xfrm>
              <a:off x="2902" y="2977"/>
              <a:ext cx="0" cy="25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3" name="Line 47"/>
            <p:cNvSpPr>
              <a:spLocks noChangeShapeType="1"/>
            </p:cNvSpPr>
            <p:nvPr/>
          </p:nvSpPr>
          <p:spPr bwMode="auto">
            <a:xfrm>
              <a:off x="4006" y="2983"/>
              <a:ext cx="0" cy="26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4" name="Oval 48"/>
            <p:cNvSpPr>
              <a:spLocks noChangeArrowheads="1"/>
            </p:cNvSpPr>
            <p:nvPr/>
          </p:nvSpPr>
          <p:spPr bwMode="auto">
            <a:xfrm>
              <a:off x="2818" y="3028"/>
              <a:ext cx="168" cy="16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5" name="Line 49"/>
            <p:cNvSpPr>
              <a:spLocks noChangeShapeType="1"/>
            </p:cNvSpPr>
            <p:nvPr/>
          </p:nvSpPr>
          <p:spPr bwMode="auto">
            <a:xfrm>
              <a:off x="3838" y="2944"/>
              <a:ext cx="26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6" name="Line 50"/>
            <p:cNvSpPr>
              <a:spLocks noChangeShapeType="1"/>
            </p:cNvSpPr>
            <p:nvPr/>
          </p:nvSpPr>
          <p:spPr bwMode="auto">
            <a:xfrm>
              <a:off x="3838" y="3280"/>
              <a:ext cx="27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7" name="Oval 51"/>
            <p:cNvSpPr>
              <a:spLocks noChangeArrowheads="1"/>
            </p:cNvSpPr>
            <p:nvPr/>
          </p:nvSpPr>
          <p:spPr bwMode="auto">
            <a:xfrm>
              <a:off x="3922" y="3028"/>
              <a:ext cx="168" cy="16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8" name="Line 52"/>
            <p:cNvSpPr>
              <a:spLocks noChangeShapeType="1"/>
            </p:cNvSpPr>
            <p:nvPr/>
          </p:nvSpPr>
          <p:spPr bwMode="auto">
            <a:xfrm flipH="1">
              <a:off x="2812" y="3280"/>
              <a:ext cx="25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29" name="Line 53"/>
            <p:cNvSpPr>
              <a:spLocks noChangeShapeType="1"/>
            </p:cNvSpPr>
            <p:nvPr/>
          </p:nvSpPr>
          <p:spPr bwMode="auto">
            <a:xfrm>
              <a:off x="2746" y="2974"/>
              <a:ext cx="0" cy="25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0" name="Line 54"/>
            <p:cNvSpPr>
              <a:spLocks noChangeShapeType="1"/>
            </p:cNvSpPr>
            <p:nvPr/>
          </p:nvSpPr>
          <p:spPr bwMode="auto">
            <a:xfrm flipH="1">
              <a:off x="2800" y="2944"/>
              <a:ext cx="27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1" name="Line 55"/>
            <p:cNvSpPr>
              <a:spLocks noChangeShapeType="1"/>
            </p:cNvSpPr>
            <p:nvPr/>
          </p:nvSpPr>
          <p:spPr bwMode="auto">
            <a:xfrm>
              <a:off x="4162" y="3004"/>
              <a:ext cx="0" cy="2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2" name="Line 56"/>
            <p:cNvSpPr>
              <a:spLocks noChangeShapeType="1"/>
            </p:cNvSpPr>
            <p:nvPr/>
          </p:nvSpPr>
          <p:spPr bwMode="auto">
            <a:xfrm>
              <a:off x="2782" y="2428"/>
              <a:ext cx="3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3" name="Line 57"/>
            <p:cNvSpPr>
              <a:spLocks noChangeShapeType="1"/>
            </p:cNvSpPr>
            <p:nvPr/>
          </p:nvSpPr>
          <p:spPr bwMode="auto">
            <a:xfrm>
              <a:off x="3814" y="2428"/>
              <a:ext cx="3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4" name="Line 58"/>
            <p:cNvSpPr>
              <a:spLocks noChangeShapeType="1"/>
            </p:cNvSpPr>
            <p:nvPr/>
          </p:nvSpPr>
          <p:spPr bwMode="auto">
            <a:xfrm flipH="1">
              <a:off x="2734" y="2560"/>
              <a:ext cx="34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5" name="Line 59"/>
            <p:cNvSpPr>
              <a:spLocks noChangeShapeType="1"/>
            </p:cNvSpPr>
            <p:nvPr/>
          </p:nvSpPr>
          <p:spPr bwMode="auto">
            <a:xfrm flipV="1">
              <a:off x="2746" y="2458"/>
              <a:ext cx="0" cy="11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6" name="Line 60"/>
            <p:cNvSpPr>
              <a:spLocks noChangeShapeType="1"/>
            </p:cNvSpPr>
            <p:nvPr/>
          </p:nvSpPr>
          <p:spPr bwMode="auto">
            <a:xfrm flipV="1">
              <a:off x="2902" y="2356"/>
              <a:ext cx="0" cy="264"/>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7" name="Line 61"/>
            <p:cNvSpPr>
              <a:spLocks noChangeShapeType="1"/>
            </p:cNvSpPr>
            <p:nvPr/>
          </p:nvSpPr>
          <p:spPr bwMode="auto">
            <a:xfrm flipV="1">
              <a:off x="4162" y="2452"/>
              <a:ext cx="0" cy="12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8" name="Line 62"/>
            <p:cNvSpPr>
              <a:spLocks noChangeShapeType="1"/>
            </p:cNvSpPr>
            <p:nvPr/>
          </p:nvSpPr>
          <p:spPr bwMode="auto">
            <a:xfrm flipV="1">
              <a:off x="4006" y="2356"/>
              <a:ext cx="0" cy="276"/>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39" name="Oval 63"/>
            <p:cNvSpPr>
              <a:spLocks noChangeArrowheads="1"/>
            </p:cNvSpPr>
            <p:nvPr/>
          </p:nvSpPr>
          <p:spPr bwMode="auto">
            <a:xfrm>
              <a:off x="3370" y="3028"/>
              <a:ext cx="168" cy="16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0" name="Line 64"/>
            <p:cNvSpPr>
              <a:spLocks noChangeShapeType="1"/>
            </p:cNvSpPr>
            <p:nvPr/>
          </p:nvSpPr>
          <p:spPr bwMode="auto">
            <a:xfrm flipV="1">
              <a:off x="3370" y="2200"/>
              <a:ext cx="0" cy="204"/>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1" name="Line 65"/>
            <p:cNvSpPr>
              <a:spLocks noChangeShapeType="1"/>
            </p:cNvSpPr>
            <p:nvPr/>
          </p:nvSpPr>
          <p:spPr bwMode="auto">
            <a:xfrm flipV="1">
              <a:off x="3538" y="2188"/>
              <a:ext cx="0" cy="204"/>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2" name="Line 66"/>
            <p:cNvSpPr>
              <a:spLocks noChangeShapeType="1"/>
            </p:cNvSpPr>
            <p:nvPr/>
          </p:nvSpPr>
          <p:spPr bwMode="auto">
            <a:xfrm>
              <a:off x="3454" y="2728"/>
              <a:ext cx="0" cy="816"/>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3" name="Line 67"/>
            <p:cNvSpPr>
              <a:spLocks noChangeShapeType="1"/>
            </p:cNvSpPr>
            <p:nvPr/>
          </p:nvSpPr>
          <p:spPr bwMode="auto">
            <a:xfrm>
              <a:off x="3106" y="2962"/>
              <a:ext cx="0" cy="29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4" name="Line 68"/>
            <p:cNvSpPr>
              <a:spLocks noChangeShapeType="1"/>
            </p:cNvSpPr>
            <p:nvPr/>
          </p:nvSpPr>
          <p:spPr bwMode="auto">
            <a:xfrm>
              <a:off x="3802" y="2962"/>
              <a:ext cx="0" cy="30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5" name="Freeform 69"/>
            <p:cNvSpPr/>
            <p:nvPr/>
          </p:nvSpPr>
          <p:spPr bwMode="auto">
            <a:xfrm>
              <a:off x="3064" y="2897"/>
              <a:ext cx="72" cy="47"/>
            </a:xfrm>
            <a:custGeom>
              <a:avLst/>
              <a:gdLst>
                <a:gd name="T0" fmla="*/ 0 w 72"/>
                <a:gd name="T1" fmla="*/ 47 h 47"/>
                <a:gd name="T2" fmla="*/ 36 w 72"/>
                <a:gd name="T3" fmla="*/ 31 h 47"/>
                <a:gd name="T4" fmla="*/ 72 w 72"/>
                <a:gd name="T5" fmla="*/ 0 h 47"/>
              </a:gdLst>
              <a:ahLst/>
              <a:cxnLst>
                <a:cxn ang="0">
                  <a:pos x="T0" y="T1"/>
                </a:cxn>
                <a:cxn ang="0">
                  <a:pos x="T2" y="T3"/>
                </a:cxn>
                <a:cxn ang="0">
                  <a:pos x="T4" y="T5"/>
                </a:cxn>
              </a:cxnLst>
              <a:rect l="0" t="0" r="r" b="b"/>
              <a:pathLst>
                <a:path w="72" h="47">
                  <a:moveTo>
                    <a:pt x="0" y="47"/>
                  </a:moveTo>
                  <a:cubicBezTo>
                    <a:pt x="6" y="44"/>
                    <a:pt x="24" y="39"/>
                    <a:pt x="36" y="31"/>
                  </a:cubicBezTo>
                  <a:cubicBezTo>
                    <a:pt x="48" y="23"/>
                    <a:pt x="65" y="6"/>
                    <a:pt x="72"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6" name="Freeform 70"/>
            <p:cNvSpPr/>
            <p:nvPr/>
          </p:nvSpPr>
          <p:spPr bwMode="auto">
            <a:xfrm>
              <a:off x="3064" y="3276"/>
              <a:ext cx="72" cy="51"/>
            </a:xfrm>
            <a:custGeom>
              <a:avLst/>
              <a:gdLst>
                <a:gd name="T0" fmla="*/ 0 w 72"/>
                <a:gd name="T1" fmla="*/ 0 h 51"/>
                <a:gd name="T2" fmla="*/ 52 w 72"/>
                <a:gd name="T3" fmla="*/ 20 h 51"/>
                <a:gd name="T4" fmla="*/ 72 w 72"/>
                <a:gd name="T5" fmla="*/ 51 h 51"/>
              </a:gdLst>
              <a:ahLst/>
              <a:cxnLst>
                <a:cxn ang="0">
                  <a:pos x="T0" y="T1"/>
                </a:cxn>
                <a:cxn ang="0">
                  <a:pos x="T2" y="T3"/>
                </a:cxn>
                <a:cxn ang="0">
                  <a:pos x="T4" y="T5"/>
                </a:cxn>
              </a:cxnLst>
              <a:rect l="0" t="0" r="r" b="b"/>
              <a:pathLst>
                <a:path w="72" h="51">
                  <a:moveTo>
                    <a:pt x="0" y="0"/>
                  </a:moveTo>
                  <a:cubicBezTo>
                    <a:pt x="9" y="3"/>
                    <a:pt x="40" y="12"/>
                    <a:pt x="52" y="20"/>
                  </a:cubicBezTo>
                  <a:cubicBezTo>
                    <a:pt x="64" y="28"/>
                    <a:pt x="68" y="45"/>
                    <a:pt x="72" y="51"/>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7" name="Freeform 71"/>
            <p:cNvSpPr/>
            <p:nvPr/>
          </p:nvSpPr>
          <p:spPr bwMode="auto">
            <a:xfrm>
              <a:off x="3766" y="3274"/>
              <a:ext cx="78" cy="53"/>
            </a:xfrm>
            <a:custGeom>
              <a:avLst/>
              <a:gdLst>
                <a:gd name="T0" fmla="*/ 78 w 78"/>
                <a:gd name="T1" fmla="*/ 0 h 53"/>
                <a:gd name="T2" fmla="*/ 30 w 78"/>
                <a:gd name="T3" fmla="*/ 18 h 53"/>
                <a:gd name="T4" fmla="*/ 0 w 78"/>
                <a:gd name="T5" fmla="*/ 53 h 53"/>
              </a:gdLst>
              <a:ahLst/>
              <a:cxnLst>
                <a:cxn ang="0">
                  <a:pos x="T0" y="T1"/>
                </a:cxn>
                <a:cxn ang="0">
                  <a:pos x="T2" y="T3"/>
                </a:cxn>
                <a:cxn ang="0">
                  <a:pos x="T4" y="T5"/>
                </a:cxn>
              </a:cxnLst>
              <a:rect l="0" t="0" r="r" b="b"/>
              <a:pathLst>
                <a:path w="78" h="53">
                  <a:moveTo>
                    <a:pt x="78" y="0"/>
                  </a:moveTo>
                  <a:cubicBezTo>
                    <a:pt x="70" y="3"/>
                    <a:pt x="43" y="9"/>
                    <a:pt x="30" y="18"/>
                  </a:cubicBezTo>
                  <a:cubicBezTo>
                    <a:pt x="17" y="27"/>
                    <a:pt x="6" y="46"/>
                    <a:pt x="0" y="53"/>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8" name="Freeform 72"/>
            <p:cNvSpPr/>
            <p:nvPr/>
          </p:nvSpPr>
          <p:spPr bwMode="auto">
            <a:xfrm>
              <a:off x="3772" y="2908"/>
              <a:ext cx="76" cy="36"/>
            </a:xfrm>
            <a:custGeom>
              <a:avLst/>
              <a:gdLst>
                <a:gd name="T0" fmla="*/ 76 w 76"/>
                <a:gd name="T1" fmla="*/ 36 h 36"/>
                <a:gd name="T2" fmla="*/ 23 w 76"/>
                <a:gd name="T3" fmla="*/ 23 h 36"/>
                <a:gd name="T4" fmla="*/ 0 w 76"/>
                <a:gd name="T5" fmla="*/ 0 h 36"/>
              </a:gdLst>
              <a:ahLst/>
              <a:cxnLst>
                <a:cxn ang="0">
                  <a:pos x="T0" y="T1"/>
                </a:cxn>
                <a:cxn ang="0">
                  <a:pos x="T2" y="T3"/>
                </a:cxn>
                <a:cxn ang="0">
                  <a:pos x="T4" y="T5"/>
                </a:cxn>
              </a:cxnLst>
              <a:rect l="0" t="0" r="r" b="b"/>
              <a:pathLst>
                <a:path w="76" h="36">
                  <a:moveTo>
                    <a:pt x="76" y="36"/>
                  </a:moveTo>
                  <a:cubicBezTo>
                    <a:pt x="67" y="34"/>
                    <a:pt x="36" y="29"/>
                    <a:pt x="23" y="23"/>
                  </a:cubicBezTo>
                  <a:cubicBezTo>
                    <a:pt x="10" y="17"/>
                    <a:pt x="5" y="5"/>
                    <a:pt x="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49" name="Freeform 73"/>
            <p:cNvSpPr/>
            <p:nvPr/>
          </p:nvSpPr>
          <p:spPr bwMode="auto">
            <a:xfrm>
              <a:off x="2746" y="2428"/>
              <a:ext cx="54" cy="48"/>
            </a:xfrm>
            <a:custGeom>
              <a:avLst/>
              <a:gdLst>
                <a:gd name="T0" fmla="*/ 54 w 54"/>
                <a:gd name="T1" fmla="*/ 0 h 48"/>
                <a:gd name="T2" fmla="*/ 12 w 54"/>
                <a:gd name="T3" fmla="*/ 18 h 48"/>
                <a:gd name="T4" fmla="*/ 0 w 54"/>
                <a:gd name="T5" fmla="*/ 48 h 48"/>
              </a:gdLst>
              <a:ahLst/>
              <a:cxnLst>
                <a:cxn ang="0">
                  <a:pos x="T0" y="T1"/>
                </a:cxn>
                <a:cxn ang="0">
                  <a:pos x="T2" y="T3"/>
                </a:cxn>
                <a:cxn ang="0">
                  <a:pos x="T4" y="T5"/>
                </a:cxn>
              </a:cxnLst>
              <a:rect l="0" t="0" r="r" b="b"/>
              <a:pathLst>
                <a:path w="54" h="48">
                  <a:moveTo>
                    <a:pt x="54" y="0"/>
                  </a:moveTo>
                  <a:cubicBezTo>
                    <a:pt x="48" y="3"/>
                    <a:pt x="21" y="10"/>
                    <a:pt x="12" y="18"/>
                  </a:cubicBezTo>
                  <a:cubicBezTo>
                    <a:pt x="3" y="26"/>
                    <a:pt x="2" y="42"/>
                    <a:pt x="0" y="48"/>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0" name="Freeform 74"/>
            <p:cNvSpPr/>
            <p:nvPr/>
          </p:nvSpPr>
          <p:spPr bwMode="auto">
            <a:xfrm>
              <a:off x="4108" y="2428"/>
              <a:ext cx="54" cy="48"/>
            </a:xfrm>
            <a:custGeom>
              <a:avLst/>
              <a:gdLst>
                <a:gd name="T0" fmla="*/ 0 w 54"/>
                <a:gd name="T1" fmla="*/ 0 h 48"/>
                <a:gd name="T2" fmla="*/ 42 w 54"/>
                <a:gd name="T3" fmla="*/ 12 h 48"/>
                <a:gd name="T4" fmla="*/ 54 w 54"/>
                <a:gd name="T5" fmla="*/ 48 h 48"/>
              </a:gdLst>
              <a:ahLst/>
              <a:cxnLst>
                <a:cxn ang="0">
                  <a:pos x="T0" y="T1"/>
                </a:cxn>
                <a:cxn ang="0">
                  <a:pos x="T2" y="T3"/>
                </a:cxn>
                <a:cxn ang="0">
                  <a:pos x="T4" y="T5"/>
                </a:cxn>
              </a:cxnLst>
              <a:rect l="0" t="0" r="r" b="b"/>
              <a:pathLst>
                <a:path w="54" h="48">
                  <a:moveTo>
                    <a:pt x="0" y="0"/>
                  </a:moveTo>
                  <a:cubicBezTo>
                    <a:pt x="6" y="2"/>
                    <a:pt x="33" y="4"/>
                    <a:pt x="42" y="12"/>
                  </a:cubicBezTo>
                  <a:cubicBezTo>
                    <a:pt x="51" y="20"/>
                    <a:pt x="52" y="41"/>
                    <a:pt x="54" y="48"/>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1" name="Freeform 75"/>
            <p:cNvSpPr/>
            <p:nvPr/>
          </p:nvSpPr>
          <p:spPr bwMode="auto">
            <a:xfrm>
              <a:off x="2746" y="2944"/>
              <a:ext cx="54" cy="48"/>
            </a:xfrm>
            <a:custGeom>
              <a:avLst/>
              <a:gdLst>
                <a:gd name="T0" fmla="*/ 54 w 54"/>
                <a:gd name="T1" fmla="*/ 0 h 48"/>
                <a:gd name="T2" fmla="*/ 12 w 54"/>
                <a:gd name="T3" fmla="*/ 18 h 48"/>
                <a:gd name="T4" fmla="*/ 0 w 54"/>
                <a:gd name="T5" fmla="*/ 48 h 48"/>
              </a:gdLst>
              <a:ahLst/>
              <a:cxnLst>
                <a:cxn ang="0">
                  <a:pos x="T0" y="T1"/>
                </a:cxn>
                <a:cxn ang="0">
                  <a:pos x="T2" y="T3"/>
                </a:cxn>
                <a:cxn ang="0">
                  <a:pos x="T4" y="T5"/>
                </a:cxn>
              </a:cxnLst>
              <a:rect l="0" t="0" r="r" b="b"/>
              <a:pathLst>
                <a:path w="54" h="48">
                  <a:moveTo>
                    <a:pt x="54" y="0"/>
                  </a:moveTo>
                  <a:cubicBezTo>
                    <a:pt x="48" y="3"/>
                    <a:pt x="21" y="10"/>
                    <a:pt x="12" y="18"/>
                  </a:cubicBezTo>
                  <a:cubicBezTo>
                    <a:pt x="3" y="26"/>
                    <a:pt x="2" y="42"/>
                    <a:pt x="0" y="48"/>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2" name="Freeform 76"/>
            <p:cNvSpPr/>
            <p:nvPr/>
          </p:nvSpPr>
          <p:spPr bwMode="auto">
            <a:xfrm>
              <a:off x="2752" y="3220"/>
              <a:ext cx="66" cy="60"/>
            </a:xfrm>
            <a:custGeom>
              <a:avLst/>
              <a:gdLst>
                <a:gd name="T0" fmla="*/ 0 w 66"/>
                <a:gd name="T1" fmla="*/ 0 h 60"/>
                <a:gd name="T2" fmla="*/ 18 w 66"/>
                <a:gd name="T3" fmla="*/ 42 h 60"/>
                <a:gd name="T4" fmla="*/ 66 w 66"/>
                <a:gd name="T5" fmla="*/ 60 h 60"/>
              </a:gdLst>
              <a:ahLst/>
              <a:cxnLst>
                <a:cxn ang="0">
                  <a:pos x="T0" y="T1"/>
                </a:cxn>
                <a:cxn ang="0">
                  <a:pos x="T2" y="T3"/>
                </a:cxn>
                <a:cxn ang="0">
                  <a:pos x="T4" y="T5"/>
                </a:cxn>
              </a:cxnLst>
              <a:rect l="0" t="0" r="r" b="b"/>
              <a:pathLst>
                <a:path w="66" h="60">
                  <a:moveTo>
                    <a:pt x="0" y="0"/>
                  </a:moveTo>
                  <a:cubicBezTo>
                    <a:pt x="2" y="7"/>
                    <a:pt x="7" y="32"/>
                    <a:pt x="18" y="42"/>
                  </a:cubicBezTo>
                  <a:cubicBezTo>
                    <a:pt x="29" y="52"/>
                    <a:pt x="56" y="56"/>
                    <a:pt x="66" y="6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3" name="Freeform 77"/>
            <p:cNvSpPr/>
            <p:nvPr/>
          </p:nvSpPr>
          <p:spPr bwMode="auto">
            <a:xfrm>
              <a:off x="4096" y="2944"/>
              <a:ext cx="66" cy="72"/>
            </a:xfrm>
            <a:custGeom>
              <a:avLst/>
              <a:gdLst>
                <a:gd name="T0" fmla="*/ 0 w 66"/>
                <a:gd name="T1" fmla="*/ 0 h 72"/>
                <a:gd name="T2" fmla="*/ 26 w 66"/>
                <a:gd name="T3" fmla="*/ 5 h 72"/>
                <a:gd name="T4" fmla="*/ 54 w 66"/>
                <a:gd name="T5" fmla="*/ 24 h 72"/>
                <a:gd name="T6" fmla="*/ 66 w 66"/>
                <a:gd name="T7" fmla="*/ 72 h 72"/>
              </a:gdLst>
              <a:ahLst/>
              <a:cxnLst>
                <a:cxn ang="0">
                  <a:pos x="T0" y="T1"/>
                </a:cxn>
                <a:cxn ang="0">
                  <a:pos x="T2" y="T3"/>
                </a:cxn>
                <a:cxn ang="0">
                  <a:pos x="T4" y="T5"/>
                </a:cxn>
                <a:cxn ang="0">
                  <a:pos x="T6" y="T7"/>
                </a:cxn>
              </a:cxnLst>
              <a:rect l="0" t="0" r="r" b="b"/>
              <a:pathLst>
                <a:path w="66" h="72">
                  <a:moveTo>
                    <a:pt x="0" y="0"/>
                  </a:moveTo>
                  <a:cubicBezTo>
                    <a:pt x="4" y="1"/>
                    <a:pt x="17" y="1"/>
                    <a:pt x="26" y="5"/>
                  </a:cubicBezTo>
                  <a:cubicBezTo>
                    <a:pt x="35" y="9"/>
                    <a:pt x="47" y="13"/>
                    <a:pt x="54" y="24"/>
                  </a:cubicBezTo>
                  <a:cubicBezTo>
                    <a:pt x="61" y="35"/>
                    <a:pt x="63" y="62"/>
                    <a:pt x="66" y="72"/>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4" name="Freeform 78"/>
            <p:cNvSpPr/>
            <p:nvPr/>
          </p:nvSpPr>
          <p:spPr bwMode="auto">
            <a:xfrm>
              <a:off x="4090" y="3220"/>
              <a:ext cx="72" cy="60"/>
            </a:xfrm>
            <a:custGeom>
              <a:avLst/>
              <a:gdLst>
                <a:gd name="T0" fmla="*/ 72 w 72"/>
                <a:gd name="T1" fmla="*/ 0 h 60"/>
                <a:gd name="T2" fmla="*/ 54 w 72"/>
                <a:gd name="T3" fmla="*/ 42 h 60"/>
                <a:gd name="T4" fmla="*/ 0 w 72"/>
                <a:gd name="T5" fmla="*/ 60 h 60"/>
              </a:gdLst>
              <a:ahLst/>
              <a:cxnLst>
                <a:cxn ang="0">
                  <a:pos x="T0" y="T1"/>
                </a:cxn>
                <a:cxn ang="0">
                  <a:pos x="T2" y="T3"/>
                </a:cxn>
                <a:cxn ang="0">
                  <a:pos x="T4" y="T5"/>
                </a:cxn>
              </a:cxnLst>
              <a:rect l="0" t="0" r="r" b="b"/>
              <a:pathLst>
                <a:path w="72" h="60">
                  <a:moveTo>
                    <a:pt x="72" y="0"/>
                  </a:moveTo>
                  <a:cubicBezTo>
                    <a:pt x="69" y="7"/>
                    <a:pt x="66" y="32"/>
                    <a:pt x="54" y="42"/>
                  </a:cubicBezTo>
                  <a:cubicBezTo>
                    <a:pt x="42" y="52"/>
                    <a:pt x="11" y="56"/>
                    <a:pt x="0" y="6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5" name="Line 79"/>
            <p:cNvSpPr>
              <a:spLocks noChangeShapeType="1"/>
            </p:cNvSpPr>
            <p:nvPr/>
          </p:nvSpPr>
          <p:spPr bwMode="auto">
            <a:xfrm>
              <a:off x="3262" y="2764"/>
              <a:ext cx="0" cy="684"/>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6" name="Line 80"/>
            <p:cNvSpPr>
              <a:spLocks noChangeShapeType="1"/>
            </p:cNvSpPr>
            <p:nvPr/>
          </p:nvSpPr>
          <p:spPr bwMode="auto">
            <a:xfrm>
              <a:off x="3646" y="2764"/>
              <a:ext cx="0" cy="696"/>
            </a:xfrm>
            <a:prstGeom prst="line">
              <a:avLst/>
            </a:prstGeom>
            <a:noFill/>
            <a:ln w="190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7" name="Line 81"/>
            <p:cNvSpPr>
              <a:spLocks noChangeShapeType="1"/>
            </p:cNvSpPr>
            <p:nvPr/>
          </p:nvSpPr>
          <p:spPr bwMode="auto">
            <a:xfrm>
              <a:off x="3838" y="3286"/>
              <a:ext cx="0" cy="15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8" name="Line 82"/>
            <p:cNvSpPr>
              <a:spLocks noChangeShapeType="1"/>
            </p:cNvSpPr>
            <p:nvPr/>
          </p:nvSpPr>
          <p:spPr bwMode="auto">
            <a:xfrm>
              <a:off x="3070" y="3280"/>
              <a:ext cx="0" cy="15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59" name="Line 83"/>
            <p:cNvSpPr>
              <a:spLocks noChangeShapeType="1"/>
            </p:cNvSpPr>
            <p:nvPr/>
          </p:nvSpPr>
          <p:spPr bwMode="auto">
            <a:xfrm>
              <a:off x="3346" y="2562"/>
              <a:ext cx="23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4717" name="Group 141"/>
          <p:cNvGrpSpPr/>
          <p:nvPr/>
        </p:nvGrpSpPr>
        <p:grpSpPr bwMode="auto">
          <a:xfrm>
            <a:off x="612775" y="3244850"/>
            <a:ext cx="3067050" cy="2457450"/>
            <a:chOff x="386" y="2044"/>
            <a:chExt cx="1932" cy="1548"/>
          </a:xfrm>
        </p:grpSpPr>
        <p:sp>
          <p:nvSpPr>
            <p:cNvPr id="24662" name="Line 86"/>
            <p:cNvSpPr>
              <a:spLocks noChangeShapeType="1"/>
            </p:cNvSpPr>
            <p:nvPr/>
          </p:nvSpPr>
          <p:spPr bwMode="auto">
            <a:xfrm>
              <a:off x="470" y="2680"/>
              <a:ext cx="86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3" name="Line 87"/>
            <p:cNvSpPr>
              <a:spLocks noChangeShapeType="1"/>
            </p:cNvSpPr>
            <p:nvPr/>
          </p:nvSpPr>
          <p:spPr bwMode="auto">
            <a:xfrm>
              <a:off x="1334" y="2104"/>
              <a:ext cx="0" cy="57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4" name="Line 88"/>
            <p:cNvSpPr>
              <a:spLocks noChangeShapeType="1"/>
            </p:cNvSpPr>
            <p:nvPr/>
          </p:nvSpPr>
          <p:spPr bwMode="auto">
            <a:xfrm>
              <a:off x="1178" y="2104"/>
              <a:ext cx="15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5" name="Line 89"/>
            <p:cNvSpPr>
              <a:spLocks noChangeShapeType="1"/>
            </p:cNvSpPr>
            <p:nvPr/>
          </p:nvSpPr>
          <p:spPr bwMode="auto">
            <a:xfrm>
              <a:off x="1178" y="2110"/>
              <a:ext cx="0" cy="3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6" name="Line 90"/>
            <p:cNvSpPr>
              <a:spLocks noChangeShapeType="1"/>
            </p:cNvSpPr>
            <p:nvPr/>
          </p:nvSpPr>
          <p:spPr bwMode="auto">
            <a:xfrm>
              <a:off x="518" y="2536"/>
              <a:ext cx="61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7" name="Line 91"/>
            <p:cNvSpPr>
              <a:spLocks noChangeShapeType="1"/>
            </p:cNvSpPr>
            <p:nvPr/>
          </p:nvSpPr>
          <p:spPr bwMode="auto">
            <a:xfrm>
              <a:off x="470" y="2566"/>
              <a:ext cx="0" cy="12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8" name="Line 92"/>
            <p:cNvSpPr>
              <a:spLocks noChangeShapeType="1"/>
            </p:cNvSpPr>
            <p:nvPr/>
          </p:nvSpPr>
          <p:spPr bwMode="auto">
            <a:xfrm flipH="1">
              <a:off x="602" y="2104"/>
              <a:ext cx="588" cy="4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69" name="Line 93"/>
            <p:cNvSpPr>
              <a:spLocks noChangeShapeType="1"/>
            </p:cNvSpPr>
            <p:nvPr/>
          </p:nvSpPr>
          <p:spPr bwMode="auto">
            <a:xfrm>
              <a:off x="386" y="3232"/>
              <a:ext cx="1044"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0" name="Line 94"/>
            <p:cNvSpPr>
              <a:spLocks noChangeShapeType="1"/>
            </p:cNvSpPr>
            <p:nvPr/>
          </p:nvSpPr>
          <p:spPr bwMode="auto">
            <a:xfrm>
              <a:off x="1334" y="2876"/>
              <a:ext cx="0" cy="71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1" name="Line 95"/>
            <p:cNvSpPr>
              <a:spLocks noChangeShapeType="1"/>
            </p:cNvSpPr>
            <p:nvPr/>
          </p:nvSpPr>
          <p:spPr bwMode="auto">
            <a:xfrm>
              <a:off x="502" y="2884"/>
              <a:ext cx="82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2" name="Line 96"/>
            <p:cNvSpPr>
              <a:spLocks noChangeShapeType="1"/>
            </p:cNvSpPr>
            <p:nvPr/>
          </p:nvSpPr>
          <p:spPr bwMode="auto">
            <a:xfrm>
              <a:off x="502" y="3592"/>
              <a:ext cx="83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3" name="Line 97"/>
            <p:cNvSpPr>
              <a:spLocks noChangeShapeType="1"/>
            </p:cNvSpPr>
            <p:nvPr/>
          </p:nvSpPr>
          <p:spPr bwMode="auto">
            <a:xfrm>
              <a:off x="470" y="2916"/>
              <a:ext cx="0" cy="65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4" name="Line 98"/>
            <p:cNvSpPr>
              <a:spLocks noChangeShapeType="1"/>
            </p:cNvSpPr>
            <p:nvPr/>
          </p:nvSpPr>
          <p:spPr bwMode="auto">
            <a:xfrm>
              <a:off x="1178" y="2888"/>
              <a:ext cx="0" cy="70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5" name="Line 99"/>
            <p:cNvSpPr>
              <a:spLocks noChangeShapeType="1"/>
            </p:cNvSpPr>
            <p:nvPr/>
          </p:nvSpPr>
          <p:spPr bwMode="auto">
            <a:xfrm>
              <a:off x="638" y="3160"/>
              <a:ext cx="53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6" name="Line 100"/>
            <p:cNvSpPr>
              <a:spLocks noChangeShapeType="1"/>
            </p:cNvSpPr>
            <p:nvPr/>
          </p:nvSpPr>
          <p:spPr bwMode="auto">
            <a:xfrm>
              <a:off x="626" y="3304"/>
              <a:ext cx="55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7" name="Line 101"/>
            <p:cNvSpPr>
              <a:spLocks noChangeShapeType="1"/>
            </p:cNvSpPr>
            <p:nvPr/>
          </p:nvSpPr>
          <p:spPr bwMode="auto">
            <a:xfrm>
              <a:off x="614" y="3172"/>
              <a:ext cx="0" cy="12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8" name="Freeform 102"/>
            <p:cNvSpPr/>
            <p:nvPr/>
          </p:nvSpPr>
          <p:spPr bwMode="auto">
            <a:xfrm>
              <a:off x="580" y="3304"/>
              <a:ext cx="54" cy="47"/>
            </a:xfrm>
            <a:custGeom>
              <a:avLst/>
              <a:gdLst>
                <a:gd name="T0" fmla="*/ 54 w 54"/>
                <a:gd name="T1" fmla="*/ 0 h 47"/>
                <a:gd name="T2" fmla="*/ 10 w 54"/>
                <a:gd name="T3" fmla="*/ 18 h 47"/>
                <a:gd name="T4" fmla="*/ 0 w 54"/>
                <a:gd name="T5" fmla="*/ 47 h 47"/>
              </a:gdLst>
              <a:ahLst/>
              <a:cxnLst>
                <a:cxn ang="0">
                  <a:pos x="T0" y="T1"/>
                </a:cxn>
                <a:cxn ang="0">
                  <a:pos x="T2" y="T3"/>
                </a:cxn>
                <a:cxn ang="0">
                  <a:pos x="T4" y="T5"/>
                </a:cxn>
              </a:cxnLst>
              <a:rect l="0" t="0" r="r" b="b"/>
              <a:pathLst>
                <a:path w="54" h="47">
                  <a:moveTo>
                    <a:pt x="54" y="0"/>
                  </a:moveTo>
                  <a:cubicBezTo>
                    <a:pt x="47" y="3"/>
                    <a:pt x="19" y="10"/>
                    <a:pt x="10" y="18"/>
                  </a:cubicBezTo>
                  <a:cubicBezTo>
                    <a:pt x="1" y="26"/>
                    <a:pt x="2" y="41"/>
                    <a:pt x="0" y="47"/>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79" name="Freeform 103"/>
            <p:cNvSpPr/>
            <p:nvPr/>
          </p:nvSpPr>
          <p:spPr bwMode="auto">
            <a:xfrm>
              <a:off x="584" y="3100"/>
              <a:ext cx="66" cy="60"/>
            </a:xfrm>
            <a:custGeom>
              <a:avLst/>
              <a:gdLst>
                <a:gd name="T0" fmla="*/ 0 w 66"/>
                <a:gd name="T1" fmla="*/ 0 h 60"/>
                <a:gd name="T2" fmla="*/ 24 w 66"/>
                <a:gd name="T3" fmla="*/ 36 h 60"/>
                <a:gd name="T4" fmla="*/ 66 w 66"/>
                <a:gd name="T5" fmla="*/ 60 h 60"/>
              </a:gdLst>
              <a:ahLst/>
              <a:cxnLst>
                <a:cxn ang="0">
                  <a:pos x="T0" y="T1"/>
                </a:cxn>
                <a:cxn ang="0">
                  <a:pos x="T2" y="T3"/>
                </a:cxn>
                <a:cxn ang="0">
                  <a:pos x="T4" y="T5"/>
                </a:cxn>
              </a:cxnLst>
              <a:rect l="0" t="0" r="r" b="b"/>
              <a:pathLst>
                <a:path w="66" h="60">
                  <a:moveTo>
                    <a:pt x="0" y="0"/>
                  </a:moveTo>
                  <a:cubicBezTo>
                    <a:pt x="4" y="6"/>
                    <a:pt x="13" y="26"/>
                    <a:pt x="24" y="36"/>
                  </a:cubicBezTo>
                  <a:cubicBezTo>
                    <a:pt x="35" y="46"/>
                    <a:pt x="57" y="55"/>
                    <a:pt x="66" y="6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80" name="Freeform 104"/>
            <p:cNvSpPr/>
            <p:nvPr/>
          </p:nvSpPr>
          <p:spPr bwMode="auto">
            <a:xfrm>
              <a:off x="470" y="2884"/>
              <a:ext cx="44" cy="40"/>
            </a:xfrm>
            <a:custGeom>
              <a:avLst/>
              <a:gdLst>
                <a:gd name="T0" fmla="*/ 0 w 44"/>
                <a:gd name="T1" fmla="*/ 40 h 40"/>
                <a:gd name="T2" fmla="*/ 12 w 44"/>
                <a:gd name="T3" fmla="*/ 12 h 40"/>
                <a:gd name="T4" fmla="*/ 44 w 44"/>
                <a:gd name="T5" fmla="*/ 0 h 40"/>
              </a:gdLst>
              <a:ahLst/>
              <a:cxnLst>
                <a:cxn ang="0">
                  <a:pos x="T0" y="T1"/>
                </a:cxn>
                <a:cxn ang="0">
                  <a:pos x="T2" y="T3"/>
                </a:cxn>
                <a:cxn ang="0">
                  <a:pos x="T4" y="T5"/>
                </a:cxn>
              </a:cxnLst>
              <a:rect l="0" t="0" r="r" b="b"/>
              <a:pathLst>
                <a:path w="44" h="40">
                  <a:moveTo>
                    <a:pt x="0" y="40"/>
                  </a:moveTo>
                  <a:cubicBezTo>
                    <a:pt x="2" y="29"/>
                    <a:pt x="5" y="19"/>
                    <a:pt x="12" y="12"/>
                  </a:cubicBezTo>
                  <a:cubicBezTo>
                    <a:pt x="19" y="5"/>
                    <a:pt x="39" y="2"/>
                    <a:pt x="44"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81" name="Freeform 105"/>
            <p:cNvSpPr/>
            <p:nvPr/>
          </p:nvSpPr>
          <p:spPr bwMode="auto">
            <a:xfrm>
              <a:off x="470" y="3544"/>
              <a:ext cx="48" cy="48"/>
            </a:xfrm>
            <a:custGeom>
              <a:avLst/>
              <a:gdLst>
                <a:gd name="T0" fmla="*/ 0 w 48"/>
                <a:gd name="T1" fmla="*/ 0 h 48"/>
                <a:gd name="T2" fmla="*/ 12 w 48"/>
                <a:gd name="T3" fmla="*/ 36 h 48"/>
                <a:gd name="T4" fmla="*/ 48 w 48"/>
                <a:gd name="T5" fmla="*/ 48 h 48"/>
              </a:gdLst>
              <a:ahLst/>
              <a:cxnLst>
                <a:cxn ang="0">
                  <a:pos x="T0" y="T1"/>
                </a:cxn>
                <a:cxn ang="0">
                  <a:pos x="T2" y="T3"/>
                </a:cxn>
                <a:cxn ang="0">
                  <a:pos x="T4" y="T5"/>
                </a:cxn>
              </a:cxnLst>
              <a:rect l="0" t="0" r="r" b="b"/>
              <a:pathLst>
                <a:path w="48" h="48">
                  <a:moveTo>
                    <a:pt x="0" y="0"/>
                  </a:moveTo>
                  <a:cubicBezTo>
                    <a:pt x="3" y="5"/>
                    <a:pt x="4" y="28"/>
                    <a:pt x="12" y="36"/>
                  </a:cubicBezTo>
                  <a:cubicBezTo>
                    <a:pt x="20" y="44"/>
                    <a:pt x="41" y="46"/>
                    <a:pt x="48" y="48"/>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82" name="Freeform 106"/>
            <p:cNvSpPr/>
            <p:nvPr/>
          </p:nvSpPr>
          <p:spPr bwMode="auto">
            <a:xfrm>
              <a:off x="470" y="2536"/>
              <a:ext cx="48" cy="54"/>
            </a:xfrm>
            <a:custGeom>
              <a:avLst/>
              <a:gdLst>
                <a:gd name="T0" fmla="*/ 0 w 48"/>
                <a:gd name="T1" fmla="*/ 54 h 54"/>
                <a:gd name="T2" fmla="*/ 12 w 48"/>
                <a:gd name="T3" fmla="*/ 12 h 54"/>
                <a:gd name="T4" fmla="*/ 48 w 48"/>
                <a:gd name="T5" fmla="*/ 0 h 54"/>
              </a:gdLst>
              <a:ahLst/>
              <a:cxnLst>
                <a:cxn ang="0">
                  <a:pos x="T0" y="T1"/>
                </a:cxn>
                <a:cxn ang="0">
                  <a:pos x="T2" y="T3"/>
                </a:cxn>
                <a:cxn ang="0">
                  <a:pos x="T4" y="T5"/>
                </a:cxn>
              </a:cxnLst>
              <a:rect l="0" t="0" r="r" b="b"/>
              <a:pathLst>
                <a:path w="48" h="54">
                  <a:moveTo>
                    <a:pt x="0" y="54"/>
                  </a:moveTo>
                  <a:cubicBezTo>
                    <a:pt x="2" y="47"/>
                    <a:pt x="4" y="21"/>
                    <a:pt x="12" y="12"/>
                  </a:cubicBezTo>
                  <a:cubicBezTo>
                    <a:pt x="20" y="3"/>
                    <a:pt x="41" y="2"/>
                    <a:pt x="48"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83" name="Freeform 107"/>
            <p:cNvSpPr/>
            <p:nvPr/>
          </p:nvSpPr>
          <p:spPr bwMode="auto">
            <a:xfrm>
              <a:off x="1106" y="2458"/>
              <a:ext cx="73" cy="79"/>
            </a:xfrm>
            <a:custGeom>
              <a:avLst/>
              <a:gdLst>
                <a:gd name="T0" fmla="*/ 72 w 73"/>
                <a:gd name="T1" fmla="*/ 0 h 79"/>
                <a:gd name="T2" fmla="*/ 72 w 73"/>
                <a:gd name="T3" fmla="*/ 24 h 79"/>
                <a:gd name="T4" fmla="*/ 67 w 73"/>
                <a:gd name="T5" fmla="*/ 40 h 79"/>
                <a:gd name="T6" fmla="*/ 55 w 73"/>
                <a:gd name="T7" fmla="*/ 61 h 79"/>
                <a:gd name="T8" fmla="*/ 35 w 73"/>
                <a:gd name="T9" fmla="*/ 74 h 79"/>
                <a:gd name="T10" fmla="*/ 16 w 73"/>
                <a:gd name="T11" fmla="*/ 78 h 79"/>
                <a:gd name="T12" fmla="*/ 0 w 73"/>
                <a:gd name="T13" fmla="*/ 78 h 79"/>
              </a:gdLst>
              <a:ahLst/>
              <a:cxnLst>
                <a:cxn ang="0">
                  <a:pos x="T0" y="T1"/>
                </a:cxn>
                <a:cxn ang="0">
                  <a:pos x="T2" y="T3"/>
                </a:cxn>
                <a:cxn ang="0">
                  <a:pos x="T4" y="T5"/>
                </a:cxn>
                <a:cxn ang="0">
                  <a:pos x="T6" y="T7"/>
                </a:cxn>
                <a:cxn ang="0">
                  <a:pos x="T8" y="T9"/>
                </a:cxn>
                <a:cxn ang="0">
                  <a:pos x="T10" y="T11"/>
                </a:cxn>
                <a:cxn ang="0">
                  <a:pos x="T12" y="T13"/>
                </a:cxn>
              </a:cxnLst>
              <a:rect l="0" t="0" r="r" b="b"/>
              <a:pathLst>
                <a:path w="73" h="79">
                  <a:moveTo>
                    <a:pt x="72" y="0"/>
                  </a:moveTo>
                  <a:cubicBezTo>
                    <a:pt x="73" y="3"/>
                    <a:pt x="73" y="17"/>
                    <a:pt x="72" y="24"/>
                  </a:cubicBezTo>
                  <a:cubicBezTo>
                    <a:pt x="71" y="31"/>
                    <a:pt x="70" y="34"/>
                    <a:pt x="67" y="40"/>
                  </a:cubicBezTo>
                  <a:cubicBezTo>
                    <a:pt x="64" y="46"/>
                    <a:pt x="60" y="56"/>
                    <a:pt x="55" y="61"/>
                  </a:cubicBezTo>
                  <a:cubicBezTo>
                    <a:pt x="50" y="67"/>
                    <a:pt x="42" y="71"/>
                    <a:pt x="35" y="74"/>
                  </a:cubicBezTo>
                  <a:cubicBezTo>
                    <a:pt x="29" y="77"/>
                    <a:pt x="22" y="78"/>
                    <a:pt x="16" y="78"/>
                  </a:cubicBezTo>
                  <a:cubicBezTo>
                    <a:pt x="10" y="79"/>
                    <a:pt x="3" y="78"/>
                    <a:pt x="0" y="78"/>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4684" name="Group 108"/>
            <p:cNvGrpSpPr/>
            <p:nvPr/>
          </p:nvGrpSpPr>
          <p:grpSpPr bwMode="auto">
            <a:xfrm>
              <a:off x="1586" y="2044"/>
              <a:ext cx="732" cy="680"/>
              <a:chOff x="1631" y="2170"/>
              <a:chExt cx="732" cy="680"/>
            </a:xfrm>
          </p:grpSpPr>
          <p:sp>
            <p:nvSpPr>
              <p:cNvPr id="24685" name="Line 109"/>
              <p:cNvSpPr>
                <a:spLocks noChangeShapeType="1"/>
              </p:cNvSpPr>
              <p:nvPr/>
            </p:nvSpPr>
            <p:spPr bwMode="auto">
              <a:xfrm>
                <a:off x="1631" y="2806"/>
                <a:ext cx="73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86" name="Line 110"/>
              <p:cNvSpPr>
                <a:spLocks noChangeShapeType="1"/>
              </p:cNvSpPr>
              <p:nvPr/>
            </p:nvSpPr>
            <p:spPr bwMode="auto">
              <a:xfrm>
                <a:off x="2003" y="2170"/>
                <a:ext cx="0" cy="68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87" name="Line 111"/>
              <p:cNvSpPr>
                <a:spLocks noChangeShapeType="1"/>
              </p:cNvSpPr>
              <p:nvPr/>
            </p:nvSpPr>
            <p:spPr bwMode="auto">
              <a:xfrm flipV="1">
                <a:off x="1631" y="2278"/>
                <a:ext cx="0" cy="53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88" name="Line 112"/>
              <p:cNvSpPr>
                <a:spLocks noChangeShapeType="1"/>
              </p:cNvSpPr>
              <p:nvPr/>
            </p:nvSpPr>
            <p:spPr bwMode="auto">
              <a:xfrm>
                <a:off x="2351" y="2272"/>
                <a:ext cx="0" cy="53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89" name="Line 113"/>
              <p:cNvSpPr>
                <a:spLocks noChangeShapeType="1"/>
              </p:cNvSpPr>
              <p:nvPr/>
            </p:nvSpPr>
            <p:spPr bwMode="auto">
              <a:xfrm>
                <a:off x="1675" y="2230"/>
                <a:ext cx="62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0" name="Line 114"/>
              <p:cNvSpPr>
                <a:spLocks noChangeShapeType="1"/>
              </p:cNvSpPr>
              <p:nvPr/>
            </p:nvSpPr>
            <p:spPr bwMode="auto">
              <a:xfrm>
                <a:off x="1931" y="2272"/>
                <a:ext cx="0" cy="3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1" name="Line 115"/>
              <p:cNvSpPr>
                <a:spLocks noChangeShapeType="1"/>
              </p:cNvSpPr>
              <p:nvPr/>
            </p:nvSpPr>
            <p:spPr bwMode="auto">
              <a:xfrm>
                <a:off x="2075" y="2278"/>
                <a:ext cx="0" cy="34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2" name="Line 116"/>
              <p:cNvSpPr>
                <a:spLocks noChangeShapeType="1"/>
              </p:cNvSpPr>
              <p:nvPr/>
            </p:nvSpPr>
            <p:spPr bwMode="auto">
              <a:xfrm>
                <a:off x="1643" y="2662"/>
                <a:ext cx="69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3" name="Freeform 117"/>
              <p:cNvSpPr/>
              <p:nvPr/>
            </p:nvSpPr>
            <p:spPr bwMode="auto">
              <a:xfrm>
                <a:off x="2071" y="2224"/>
                <a:ext cx="64" cy="78"/>
              </a:xfrm>
              <a:custGeom>
                <a:avLst/>
                <a:gdLst>
                  <a:gd name="T0" fmla="*/ 4 w 64"/>
                  <a:gd name="T1" fmla="*/ 78 h 78"/>
                  <a:gd name="T2" fmla="*/ 10 w 64"/>
                  <a:gd name="T3" fmla="*/ 30 h 78"/>
                  <a:gd name="T4" fmla="*/ 64 w 64"/>
                  <a:gd name="T5" fmla="*/ 0 h 78"/>
                </a:gdLst>
                <a:ahLst/>
                <a:cxnLst>
                  <a:cxn ang="0">
                    <a:pos x="T0" y="T1"/>
                  </a:cxn>
                  <a:cxn ang="0">
                    <a:pos x="T2" y="T3"/>
                  </a:cxn>
                  <a:cxn ang="0">
                    <a:pos x="T4" y="T5"/>
                  </a:cxn>
                </a:cxnLst>
                <a:rect l="0" t="0" r="r" b="b"/>
                <a:pathLst>
                  <a:path w="64" h="78">
                    <a:moveTo>
                      <a:pt x="4" y="78"/>
                    </a:moveTo>
                    <a:cubicBezTo>
                      <a:pt x="5" y="70"/>
                      <a:pt x="0" y="43"/>
                      <a:pt x="10" y="30"/>
                    </a:cubicBezTo>
                    <a:cubicBezTo>
                      <a:pt x="20" y="17"/>
                      <a:pt x="53" y="6"/>
                      <a:pt x="64"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4" name="Freeform 118"/>
              <p:cNvSpPr/>
              <p:nvPr/>
            </p:nvSpPr>
            <p:spPr bwMode="auto">
              <a:xfrm>
                <a:off x="1883" y="2230"/>
                <a:ext cx="54" cy="66"/>
              </a:xfrm>
              <a:custGeom>
                <a:avLst/>
                <a:gdLst>
                  <a:gd name="T0" fmla="*/ 0 w 54"/>
                  <a:gd name="T1" fmla="*/ 0 h 66"/>
                  <a:gd name="T2" fmla="*/ 36 w 54"/>
                  <a:gd name="T3" fmla="*/ 18 h 66"/>
                  <a:gd name="T4" fmla="*/ 54 w 54"/>
                  <a:gd name="T5" fmla="*/ 66 h 66"/>
                </a:gdLst>
                <a:ahLst/>
                <a:cxnLst>
                  <a:cxn ang="0">
                    <a:pos x="T0" y="T1"/>
                  </a:cxn>
                  <a:cxn ang="0">
                    <a:pos x="T2" y="T3"/>
                  </a:cxn>
                  <a:cxn ang="0">
                    <a:pos x="T4" y="T5"/>
                  </a:cxn>
                </a:cxnLst>
                <a:rect l="0" t="0" r="r" b="b"/>
                <a:pathLst>
                  <a:path w="54" h="66">
                    <a:moveTo>
                      <a:pt x="0" y="0"/>
                    </a:moveTo>
                    <a:cubicBezTo>
                      <a:pt x="5" y="4"/>
                      <a:pt x="27" y="7"/>
                      <a:pt x="36" y="18"/>
                    </a:cubicBezTo>
                    <a:cubicBezTo>
                      <a:pt x="45" y="29"/>
                      <a:pt x="52" y="59"/>
                      <a:pt x="54" y="66"/>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5" name="Freeform 119"/>
              <p:cNvSpPr/>
              <p:nvPr/>
            </p:nvSpPr>
            <p:spPr bwMode="auto">
              <a:xfrm>
                <a:off x="1877" y="2620"/>
                <a:ext cx="54" cy="42"/>
              </a:xfrm>
              <a:custGeom>
                <a:avLst/>
                <a:gdLst>
                  <a:gd name="T0" fmla="*/ 54 w 54"/>
                  <a:gd name="T1" fmla="*/ 0 h 42"/>
                  <a:gd name="T2" fmla="*/ 30 w 54"/>
                  <a:gd name="T3" fmla="*/ 30 h 42"/>
                  <a:gd name="T4" fmla="*/ 0 w 54"/>
                  <a:gd name="T5" fmla="*/ 42 h 42"/>
                </a:gdLst>
                <a:ahLst/>
                <a:cxnLst>
                  <a:cxn ang="0">
                    <a:pos x="T0" y="T1"/>
                  </a:cxn>
                  <a:cxn ang="0">
                    <a:pos x="T2" y="T3"/>
                  </a:cxn>
                  <a:cxn ang="0">
                    <a:pos x="T4" y="T5"/>
                  </a:cxn>
                </a:cxnLst>
                <a:rect l="0" t="0" r="r" b="b"/>
                <a:pathLst>
                  <a:path w="54" h="42">
                    <a:moveTo>
                      <a:pt x="54" y="0"/>
                    </a:moveTo>
                    <a:cubicBezTo>
                      <a:pt x="50" y="5"/>
                      <a:pt x="39" y="23"/>
                      <a:pt x="30" y="30"/>
                    </a:cubicBezTo>
                    <a:cubicBezTo>
                      <a:pt x="21" y="37"/>
                      <a:pt x="6" y="40"/>
                      <a:pt x="0" y="42"/>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6" name="Freeform 120"/>
              <p:cNvSpPr/>
              <p:nvPr/>
            </p:nvSpPr>
            <p:spPr bwMode="auto">
              <a:xfrm>
                <a:off x="2079" y="2602"/>
                <a:ext cx="50" cy="60"/>
              </a:xfrm>
              <a:custGeom>
                <a:avLst/>
                <a:gdLst>
                  <a:gd name="T0" fmla="*/ 2 w 50"/>
                  <a:gd name="T1" fmla="*/ 0 h 60"/>
                  <a:gd name="T2" fmla="*/ 8 w 50"/>
                  <a:gd name="T3" fmla="*/ 36 h 60"/>
                  <a:gd name="T4" fmla="*/ 50 w 50"/>
                  <a:gd name="T5" fmla="*/ 60 h 60"/>
                </a:gdLst>
                <a:ahLst/>
                <a:cxnLst>
                  <a:cxn ang="0">
                    <a:pos x="T0" y="T1"/>
                  </a:cxn>
                  <a:cxn ang="0">
                    <a:pos x="T2" y="T3"/>
                  </a:cxn>
                  <a:cxn ang="0">
                    <a:pos x="T4" y="T5"/>
                  </a:cxn>
                </a:cxnLst>
                <a:rect l="0" t="0" r="r" b="b"/>
                <a:pathLst>
                  <a:path w="50" h="60">
                    <a:moveTo>
                      <a:pt x="2" y="0"/>
                    </a:moveTo>
                    <a:cubicBezTo>
                      <a:pt x="2" y="6"/>
                      <a:pt x="0" y="26"/>
                      <a:pt x="8" y="36"/>
                    </a:cubicBezTo>
                    <a:cubicBezTo>
                      <a:pt x="16" y="46"/>
                      <a:pt x="41" y="55"/>
                      <a:pt x="50" y="6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7" name="Freeform 121"/>
              <p:cNvSpPr/>
              <p:nvPr/>
            </p:nvSpPr>
            <p:spPr bwMode="auto">
              <a:xfrm>
                <a:off x="1631" y="2230"/>
                <a:ext cx="54" cy="60"/>
              </a:xfrm>
              <a:custGeom>
                <a:avLst/>
                <a:gdLst>
                  <a:gd name="T0" fmla="*/ 54 w 54"/>
                  <a:gd name="T1" fmla="*/ 0 h 60"/>
                  <a:gd name="T2" fmla="*/ 18 w 54"/>
                  <a:gd name="T3" fmla="*/ 18 h 60"/>
                  <a:gd name="T4" fmla="*/ 0 w 54"/>
                  <a:gd name="T5" fmla="*/ 60 h 60"/>
                </a:gdLst>
                <a:ahLst/>
                <a:cxnLst>
                  <a:cxn ang="0">
                    <a:pos x="T0" y="T1"/>
                  </a:cxn>
                  <a:cxn ang="0">
                    <a:pos x="T2" y="T3"/>
                  </a:cxn>
                  <a:cxn ang="0">
                    <a:pos x="T4" y="T5"/>
                  </a:cxn>
                </a:cxnLst>
                <a:rect l="0" t="0" r="r" b="b"/>
                <a:pathLst>
                  <a:path w="54" h="60">
                    <a:moveTo>
                      <a:pt x="54" y="0"/>
                    </a:moveTo>
                    <a:cubicBezTo>
                      <a:pt x="40" y="4"/>
                      <a:pt x="27" y="8"/>
                      <a:pt x="18" y="18"/>
                    </a:cubicBezTo>
                    <a:cubicBezTo>
                      <a:pt x="9" y="28"/>
                      <a:pt x="3" y="53"/>
                      <a:pt x="0" y="6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698" name="Freeform 122"/>
              <p:cNvSpPr/>
              <p:nvPr/>
            </p:nvSpPr>
            <p:spPr bwMode="auto">
              <a:xfrm>
                <a:off x="2297" y="2230"/>
                <a:ext cx="54" cy="60"/>
              </a:xfrm>
              <a:custGeom>
                <a:avLst/>
                <a:gdLst>
                  <a:gd name="T0" fmla="*/ 0 w 54"/>
                  <a:gd name="T1" fmla="*/ 0 h 60"/>
                  <a:gd name="T2" fmla="*/ 42 w 54"/>
                  <a:gd name="T3" fmla="*/ 18 h 60"/>
                  <a:gd name="T4" fmla="*/ 54 w 54"/>
                  <a:gd name="T5" fmla="*/ 60 h 60"/>
                </a:gdLst>
                <a:ahLst/>
                <a:cxnLst>
                  <a:cxn ang="0">
                    <a:pos x="T0" y="T1"/>
                  </a:cxn>
                  <a:cxn ang="0">
                    <a:pos x="T2" y="T3"/>
                  </a:cxn>
                  <a:cxn ang="0">
                    <a:pos x="T4" y="T5"/>
                  </a:cxn>
                </a:cxnLst>
                <a:rect l="0" t="0" r="r" b="b"/>
                <a:pathLst>
                  <a:path w="54" h="60">
                    <a:moveTo>
                      <a:pt x="0" y="0"/>
                    </a:moveTo>
                    <a:cubicBezTo>
                      <a:pt x="16" y="4"/>
                      <a:pt x="33" y="8"/>
                      <a:pt x="42" y="18"/>
                    </a:cubicBezTo>
                    <a:cubicBezTo>
                      <a:pt x="51" y="28"/>
                      <a:pt x="52" y="53"/>
                      <a:pt x="54" y="6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4699" name="Line 123"/>
            <p:cNvSpPr>
              <a:spLocks noChangeShapeType="1"/>
            </p:cNvSpPr>
            <p:nvPr/>
          </p:nvSpPr>
          <p:spPr bwMode="auto">
            <a:xfrm>
              <a:off x="742" y="2206"/>
              <a:ext cx="76" cy="9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0" name="Line 124"/>
            <p:cNvSpPr>
              <a:spLocks noChangeShapeType="1"/>
            </p:cNvSpPr>
            <p:nvPr/>
          </p:nvSpPr>
          <p:spPr bwMode="auto">
            <a:xfrm>
              <a:off x="842" y="2110"/>
              <a:ext cx="84" cy="10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1" name="Line 125"/>
            <p:cNvSpPr>
              <a:spLocks noChangeShapeType="1"/>
            </p:cNvSpPr>
            <p:nvPr/>
          </p:nvSpPr>
          <p:spPr bwMode="auto">
            <a:xfrm flipV="1">
              <a:off x="746" y="2104"/>
              <a:ext cx="48" cy="4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2" name="Freeform 126"/>
            <p:cNvSpPr/>
            <p:nvPr/>
          </p:nvSpPr>
          <p:spPr bwMode="auto">
            <a:xfrm>
              <a:off x="741" y="2148"/>
              <a:ext cx="13" cy="76"/>
            </a:xfrm>
            <a:custGeom>
              <a:avLst/>
              <a:gdLst>
                <a:gd name="T0" fmla="*/ 9 w 13"/>
                <a:gd name="T1" fmla="*/ 0 h 76"/>
                <a:gd name="T2" fmla="*/ 1 w 13"/>
                <a:gd name="T3" fmla="*/ 36 h 76"/>
                <a:gd name="T4" fmla="*/ 13 w 13"/>
                <a:gd name="T5" fmla="*/ 76 h 76"/>
              </a:gdLst>
              <a:ahLst/>
              <a:cxnLst>
                <a:cxn ang="0">
                  <a:pos x="T0" y="T1"/>
                </a:cxn>
                <a:cxn ang="0">
                  <a:pos x="T2" y="T3"/>
                </a:cxn>
                <a:cxn ang="0">
                  <a:pos x="T4" y="T5"/>
                </a:cxn>
              </a:cxnLst>
              <a:rect l="0" t="0" r="r" b="b"/>
              <a:pathLst>
                <a:path w="13" h="76">
                  <a:moveTo>
                    <a:pt x="9" y="0"/>
                  </a:moveTo>
                  <a:cubicBezTo>
                    <a:pt x="8" y="6"/>
                    <a:pt x="0" y="23"/>
                    <a:pt x="1" y="36"/>
                  </a:cubicBezTo>
                  <a:cubicBezTo>
                    <a:pt x="2" y="49"/>
                    <a:pt x="11" y="68"/>
                    <a:pt x="13" y="76"/>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3" name="Freeform 127"/>
            <p:cNvSpPr/>
            <p:nvPr/>
          </p:nvSpPr>
          <p:spPr bwMode="auto">
            <a:xfrm>
              <a:off x="788" y="2102"/>
              <a:ext cx="72" cy="26"/>
            </a:xfrm>
            <a:custGeom>
              <a:avLst/>
              <a:gdLst>
                <a:gd name="T0" fmla="*/ 72 w 72"/>
                <a:gd name="T1" fmla="*/ 26 h 26"/>
                <a:gd name="T2" fmla="*/ 36 w 72"/>
                <a:gd name="T3" fmla="*/ 2 h 26"/>
                <a:gd name="T4" fmla="*/ 0 w 72"/>
                <a:gd name="T5" fmla="*/ 14 h 26"/>
              </a:gdLst>
              <a:ahLst/>
              <a:cxnLst>
                <a:cxn ang="0">
                  <a:pos x="T0" y="T1"/>
                </a:cxn>
                <a:cxn ang="0">
                  <a:pos x="T2" y="T3"/>
                </a:cxn>
                <a:cxn ang="0">
                  <a:pos x="T4" y="T5"/>
                </a:cxn>
              </a:cxnLst>
              <a:rect l="0" t="0" r="r" b="b"/>
              <a:pathLst>
                <a:path w="72" h="26">
                  <a:moveTo>
                    <a:pt x="72" y="26"/>
                  </a:moveTo>
                  <a:cubicBezTo>
                    <a:pt x="67" y="22"/>
                    <a:pt x="48" y="4"/>
                    <a:pt x="36" y="2"/>
                  </a:cubicBezTo>
                  <a:cubicBezTo>
                    <a:pt x="24" y="0"/>
                    <a:pt x="6" y="12"/>
                    <a:pt x="0" y="14"/>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4704" name="Group 128"/>
            <p:cNvGrpSpPr/>
            <p:nvPr/>
          </p:nvGrpSpPr>
          <p:grpSpPr bwMode="auto">
            <a:xfrm>
              <a:off x="746" y="2137"/>
              <a:ext cx="176" cy="143"/>
              <a:chOff x="791" y="2263"/>
              <a:chExt cx="176" cy="143"/>
            </a:xfrm>
          </p:grpSpPr>
          <p:sp>
            <p:nvSpPr>
              <p:cNvPr id="24705" name="Line 129"/>
              <p:cNvSpPr>
                <a:spLocks noChangeShapeType="1"/>
              </p:cNvSpPr>
              <p:nvPr/>
            </p:nvSpPr>
            <p:spPr bwMode="auto">
              <a:xfrm flipV="1">
                <a:off x="791" y="2263"/>
                <a:ext cx="116" cy="31"/>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6" name="Line 130"/>
              <p:cNvSpPr>
                <a:spLocks noChangeShapeType="1"/>
              </p:cNvSpPr>
              <p:nvPr/>
            </p:nvSpPr>
            <p:spPr bwMode="auto">
              <a:xfrm flipV="1">
                <a:off x="803" y="2298"/>
                <a:ext cx="140" cy="4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7" name="Line 131"/>
              <p:cNvSpPr>
                <a:spLocks noChangeShapeType="1"/>
              </p:cNvSpPr>
              <p:nvPr/>
            </p:nvSpPr>
            <p:spPr bwMode="auto">
              <a:xfrm flipV="1">
                <a:off x="827" y="2338"/>
                <a:ext cx="132" cy="3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708" name="Line 132"/>
              <p:cNvSpPr>
                <a:spLocks noChangeShapeType="1"/>
              </p:cNvSpPr>
              <p:nvPr/>
            </p:nvSpPr>
            <p:spPr bwMode="auto">
              <a:xfrm flipV="1">
                <a:off x="851" y="2374"/>
                <a:ext cx="116" cy="3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4709" name="Line 133"/>
            <p:cNvSpPr>
              <a:spLocks noChangeShapeType="1"/>
            </p:cNvSpPr>
            <p:nvPr/>
          </p:nvSpPr>
          <p:spPr bwMode="auto">
            <a:xfrm>
              <a:off x="734" y="2080"/>
              <a:ext cx="240" cy="318"/>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4714" name="Picture 138"/>
          <p:cNvPicPr>
            <a:picLocks noChangeAspect="1" noChangeArrowheads="1"/>
          </p:cNvPicPr>
          <p:nvPr/>
        </p:nvPicPr>
        <p:blipFill>
          <a:blip r:embed="rId1">
            <a:extLst>
              <a:ext uri="{28A0092B-C50C-407E-A947-70E740481C1C}">
                <a14:useLocalDpi xmlns:a14="http://schemas.microsoft.com/office/drawing/2010/main" val="0"/>
              </a:ext>
            </a:extLst>
          </a:blip>
          <a:srcRect l="49821" t="37187" r="28299" b="25000"/>
          <a:stretch>
            <a:fillRect/>
          </a:stretch>
        </p:blipFill>
        <p:spPr bwMode="auto">
          <a:xfrm>
            <a:off x="1970088" y="742950"/>
            <a:ext cx="1844675" cy="1728788"/>
          </a:xfrm>
          <a:prstGeom prst="rect">
            <a:avLst/>
          </a:prstGeom>
          <a:noFill/>
          <a:extLst>
            <a:ext uri="{909E8E84-426E-40DD-AFC4-6F175D3DCCD1}">
              <a14:hiddenFill xmlns:a14="http://schemas.microsoft.com/office/drawing/2010/main">
                <a:solidFill>
                  <a:srgbClr val="FFFFFF"/>
                </a:solidFill>
              </a14:hiddenFill>
            </a:ext>
          </a:extLst>
        </p:spPr>
      </p:pic>
      <p:pic>
        <p:nvPicPr>
          <p:cNvPr id="24718" name="Picture 1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400" y="4276725"/>
            <a:ext cx="2022475" cy="2105025"/>
          </a:xfrm>
          <a:prstGeom prst="rect">
            <a:avLst/>
          </a:prstGeom>
          <a:noFill/>
          <a:extLst>
            <a:ext uri="{909E8E84-426E-40DD-AFC4-6F175D3DCCD1}">
              <a14:hiddenFill xmlns:a14="http://schemas.microsoft.com/office/drawing/2010/main">
                <a:solidFill>
                  <a:srgbClr val="FFFFFF"/>
                </a:solidFill>
              </a14:hiddenFill>
            </a:ext>
          </a:extLst>
        </p:spPr>
      </p:pic>
      <p:pic>
        <p:nvPicPr>
          <p:cNvPr id="24719" name="Picture 1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2575" y="3155950"/>
            <a:ext cx="2273300" cy="1666875"/>
          </a:xfrm>
          <a:prstGeom prst="rect">
            <a:avLst/>
          </a:prstGeom>
          <a:noFill/>
          <a:extLst>
            <a:ext uri="{909E8E84-426E-40DD-AFC4-6F175D3DCCD1}">
              <a14:hiddenFill xmlns:a14="http://schemas.microsoft.com/office/drawing/2010/main">
                <a:solidFill>
                  <a:srgbClr val="FFFFFF"/>
                </a:solidFill>
              </a14:hiddenFill>
            </a:ext>
          </a:extLst>
        </p:spPr>
      </p:pic>
      <p:grpSp>
        <p:nvGrpSpPr>
          <p:cNvPr id="24736" name="Group 160"/>
          <p:cNvGrpSpPr/>
          <p:nvPr/>
        </p:nvGrpSpPr>
        <p:grpSpPr bwMode="auto">
          <a:xfrm>
            <a:off x="795338" y="5326063"/>
            <a:ext cx="1527175" cy="985837"/>
            <a:chOff x="501" y="3355"/>
            <a:chExt cx="962" cy="621"/>
          </a:xfrm>
        </p:grpSpPr>
        <p:sp>
          <p:nvSpPr>
            <p:cNvPr id="24723" name="Text Box 147"/>
            <p:cNvSpPr txBox="1">
              <a:spLocks noChangeArrowheads="1"/>
            </p:cNvSpPr>
            <p:nvPr/>
          </p:nvSpPr>
          <p:spPr bwMode="auto">
            <a:xfrm>
              <a:off x="501" y="3688"/>
              <a:ext cx="9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FF3300"/>
                  </a:solidFill>
                </a:rPr>
                <a:t>过渡圆弧</a:t>
              </a:r>
              <a:endParaRPr lang="zh-CN" altLang="en-US" b="1">
                <a:solidFill>
                  <a:srgbClr val="FF3300"/>
                </a:solidFill>
              </a:endParaRPr>
            </a:p>
          </p:txBody>
        </p:sp>
        <p:sp>
          <p:nvSpPr>
            <p:cNvPr id="24724" name="Line 148"/>
            <p:cNvSpPr>
              <a:spLocks noChangeShapeType="1"/>
            </p:cNvSpPr>
            <p:nvPr/>
          </p:nvSpPr>
          <p:spPr bwMode="auto">
            <a:xfrm flipH="1" flipV="1">
              <a:off x="621" y="3355"/>
              <a:ext cx="185" cy="385"/>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735" name="Group 159"/>
          <p:cNvGrpSpPr/>
          <p:nvPr/>
        </p:nvGrpSpPr>
        <p:grpSpPr bwMode="auto">
          <a:xfrm>
            <a:off x="163513" y="4681538"/>
            <a:ext cx="785812" cy="1187450"/>
            <a:chOff x="103" y="2949"/>
            <a:chExt cx="495" cy="748"/>
          </a:xfrm>
        </p:grpSpPr>
        <p:sp>
          <p:nvSpPr>
            <p:cNvPr id="24725" name="Line 149"/>
            <p:cNvSpPr>
              <a:spLocks noChangeShapeType="1"/>
            </p:cNvSpPr>
            <p:nvPr/>
          </p:nvSpPr>
          <p:spPr bwMode="auto">
            <a:xfrm flipH="1">
              <a:off x="364" y="3248"/>
              <a:ext cx="234" cy="14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726" name="Text Box 150"/>
            <p:cNvSpPr txBox="1">
              <a:spLocks noChangeArrowheads="1"/>
            </p:cNvSpPr>
            <p:nvPr/>
          </p:nvSpPr>
          <p:spPr bwMode="auto">
            <a:xfrm>
              <a:off x="103" y="2949"/>
              <a:ext cx="300"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FF3300"/>
                  </a:solidFill>
                </a:rPr>
                <a:t>过渡线</a:t>
              </a:r>
              <a:endParaRPr lang="zh-CN" altLang="en-US" b="1">
                <a:solidFill>
                  <a:srgbClr val="FF3300"/>
                </a:solidFill>
              </a:endParaRPr>
            </a:p>
          </p:txBody>
        </p:sp>
      </p:grpSp>
      <p:grpSp>
        <p:nvGrpSpPr>
          <p:cNvPr id="24732" name="Group 156"/>
          <p:cNvGrpSpPr/>
          <p:nvPr/>
        </p:nvGrpSpPr>
        <p:grpSpPr bwMode="auto">
          <a:xfrm>
            <a:off x="4943475" y="4989513"/>
            <a:ext cx="1309688" cy="895350"/>
            <a:chOff x="3114" y="3143"/>
            <a:chExt cx="825" cy="564"/>
          </a:xfrm>
        </p:grpSpPr>
        <p:sp>
          <p:nvSpPr>
            <p:cNvPr id="24727" name="Text Box 151"/>
            <p:cNvSpPr txBox="1">
              <a:spLocks noChangeArrowheads="1"/>
            </p:cNvSpPr>
            <p:nvPr/>
          </p:nvSpPr>
          <p:spPr bwMode="auto">
            <a:xfrm>
              <a:off x="3214" y="3419"/>
              <a:ext cx="7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FF3300"/>
                  </a:solidFill>
                </a:rPr>
                <a:t>过渡线</a:t>
              </a:r>
              <a:endParaRPr lang="zh-CN" altLang="en-US" b="1">
                <a:solidFill>
                  <a:srgbClr val="FF3300"/>
                </a:solidFill>
              </a:endParaRPr>
            </a:p>
          </p:txBody>
        </p:sp>
        <p:sp>
          <p:nvSpPr>
            <p:cNvPr id="24728" name="Line 152"/>
            <p:cNvSpPr>
              <a:spLocks noChangeShapeType="1"/>
            </p:cNvSpPr>
            <p:nvPr/>
          </p:nvSpPr>
          <p:spPr bwMode="auto">
            <a:xfrm>
              <a:off x="3114" y="3143"/>
              <a:ext cx="274" cy="34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4731" name="Group 155"/>
          <p:cNvGrpSpPr/>
          <p:nvPr/>
        </p:nvGrpSpPr>
        <p:grpSpPr bwMode="auto">
          <a:xfrm>
            <a:off x="7554913" y="4241800"/>
            <a:ext cx="838200" cy="457200"/>
            <a:chOff x="4759" y="2672"/>
            <a:chExt cx="528" cy="288"/>
          </a:xfrm>
        </p:grpSpPr>
        <p:sp>
          <p:nvSpPr>
            <p:cNvPr id="24729" name="Text Box 153"/>
            <p:cNvSpPr txBox="1">
              <a:spLocks noChangeArrowheads="1"/>
            </p:cNvSpPr>
            <p:nvPr/>
          </p:nvSpPr>
          <p:spPr bwMode="auto">
            <a:xfrm>
              <a:off x="5043" y="2672"/>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i="1">
                  <a:solidFill>
                    <a:srgbClr val="FF3300"/>
                  </a:solidFill>
                </a:rPr>
                <a:t>A</a:t>
              </a:r>
              <a:endParaRPr lang="en-US" altLang="zh-CN" b="1" i="1">
                <a:solidFill>
                  <a:srgbClr val="FF3300"/>
                </a:solidFill>
              </a:endParaRPr>
            </a:p>
          </p:txBody>
        </p:sp>
        <p:sp>
          <p:nvSpPr>
            <p:cNvPr id="24730" name="Line 154"/>
            <p:cNvSpPr>
              <a:spLocks noChangeShapeType="1"/>
            </p:cNvSpPr>
            <p:nvPr/>
          </p:nvSpPr>
          <p:spPr bwMode="auto">
            <a:xfrm>
              <a:off x="4759" y="2735"/>
              <a:ext cx="325" cy="7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716"/>
                                        </p:tgtEl>
                                        <p:attrNameLst>
                                          <p:attrName>style.visibility</p:attrName>
                                        </p:attrNameLst>
                                      </p:cBhvr>
                                      <p:to>
                                        <p:strVal val="visible"/>
                                      </p:to>
                                    </p:set>
                                    <p:animEffect transition="in" filter="blinds(horizontal)">
                                      <p:cBhvr>
                                        <p:cTn id="7" dur="500"/>
                                        <p:tgtEl>
                                          <p:spTgt spid="247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599"/>
                                        </p:tgtEl>
                                        <p:attrNameLst>
                                          <p:attrName>style.visibility</p:attrName>
                                        </p:attrNameLst>
                                      </p:cBhvr>
                                      <p:to>
                                        <p:strVal val="visible"/>
                                      </p:to>
                                    </p:set>
                                    <p:animEffect transition="in" filter="wipe(down)">
                                      <p:cBhvr>
                                        <p:cTn id="12" dur="500"/>
                                        <p:tgtEl>
                                          <p:spTgt spid="245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4579"/>
                                        </p:tgtEl>
                                        <p:attrNameLst>
                                          <p:attrName>style.visibility</p:attrName>
                                        </p:attrNameLst>
                                      </p:cBhvr>
                                      <p:to>
                                        <p:strVal val="visible"/>
                                      </p:to>
                                    </p:set>
                                    <p:animEffect transition="in" filter="wipe(up)">
                                      <p:cBhvr>
                                        <p:cTn id="17" dur="500"/>
                                        <p:tgtEl>
                                          <p:spTgt spid="2457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24603"/>
                                        </p:tgtEl>
                                        <p:attrNameLst>
                                          <p:attrName>style.visibility</p:attrName>
                                        </p:attrNameLst>
                                      </p:cBhvr>
                                      <p:to>
                                        <p:strVal val="visible"/>
                                      </p:to>
                                    </p:set>
                                    <p:animEffect transition="in" filter="slide(fromLeft)">
                                      <p:cBhvr>
                                        <p:cTn id="22" dur="500"/>
                                        <p:tgtEl>
                                          <p:spTgt spid="2460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718"/>
                                        </p:tgtEl>
                                        <p:attrNameLst>
                                          <p:attrName>style.visibility</p:attrName>
                                        </p:attrNameLst>
                                      </p:cBhvr>
                                      <p:to>
                                        <p:strVal val="visible"/>
                                      </p:to>
                                    </p:set>
                                    <p:anim calcmode="lin" valueType="num">
                                      <p:cBhvr additive="base">
                                        <p:cTn id="27" dur="500" fill="hold"/>
                                        <p:tgtEl>
                                          <p:spTgt spid="24718"/>
                                        </p:tgtEl>
                                        <p:attrNameLst>
                                          <p:attrName>ppt_x</p:attrName>
                                        </p:attrNameLst>
                                      </p:cBhvr>
                                      <p:tavLst>
                                        <p:tav tm="0">
                                          <p:val>
                                            <p:strVal val="#ppt_x"/>
                                          </p:val>
                                        </p:tav>
                                        <p:tav tm="100000">
                                          <p:val>
                                            <p:strVal val="#ppt_x"/>
                                          </p:val>
                                        </p:tav>
                                      </p:tavLst>
                                    </p:anim>
                                    <p:anim calcmode="lin" valueType="num">
                                      <p:cBhvr additive="base">
                                        <p:cTn id="28" dur="500" fill="hold"/>
                                        <p:tgtEl>
                                          <p:spTgt spid="2471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42" fill="hold" nodeType="clickEffect">
                                  <p:stCondLst>
                                    <p:cond delay="0"/>
                                  </p:stCondLst>
                                  <p:childTnLst>
                                    <p:set>
                                      <p:cBhvr>
                                        <p:cTn id="32" dur="1" fill="hold">
                                          <p:stCondLst>
                                            <p:cond delay="0"/>
                                          </p:stCondLst>
                                        </p:cTn>
                                        <p:tgtEl>
                                          <p:spTgt spid="24717"/>
                                        </p:tgtEl>
                                        <p:attrNameLst>
                                          <p:attrName>style.visibility</p:attrName>
                                        </p:attrNameLst>
                                      </p:cBhvr>
                                      <p:to>
                                        <p:strVal val="visible"/>
                                      </p:to>
                                    </p:set>
                                    <p:animEffect transition="in" filter="barn(outHorizontal)">
                                      <p:cBhvr>
                                        <p:cTn id="33" dur="500"/>
                                        <p:tgtEl>
                                          <p:spTgt spid="2471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4735"/>
                                        </p:tgtEl>
                                        <p:attrNameLst>
                                          <p:attrName>style.visibility</p:attrName>
                                        </p:attrNameLst>
                                      </p:cBhvr>
                                      <p:to>
                                        <p:strVal val="visible"/>
                                      </p:to>
                                    </p:set>
                                    <p:animEffect transition="in" filter="wipe(left)">
                                      <p:cBhvr>
                                        <p:cTn id="38" dur="500"/>
                                        <p:tgtEl>
                                          <p:spTgt spid="2473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4736"/>
                                        </p:tgtEl>
                                        <p:attrNameLst>
                                          <p:attrName>style.visibility</p:attrName>
                                        </p:attrNameLst>
                                      </p:cBhvr>
                                      <p:to>
                                        <p:strVal val="visible"/>
                                      </p:to>
                                    </p:set>
                                    <p:animEffect transition="in" filter="wipe(down)">
                                      <p:cBhvr>
                                        <p:cTn id="43" dur="500"/>
                                        <p:tgtEl>
                                          <p:spTgt spid="2473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24719"/>
                                        </p:tgtEl>
                                        <p:attrNameLst>
                                          <p:attrName>style.visibility</p:attrName>
                                        </p:attrNameLst>
                                      </p:cBhvr>
                                      <p:to>
                                        <p:strVal val="visible"/>
                                      </p:to>
                                    </p:set>
                                    <p:anim calcmode="lin" valueType="num">
                                      <p:cBhvr additive="base">
                                        <p:cTn id="48" dur="500" fill="hold"/>
                                        <p:tgtEl>
                                          <p:spTgt spid="24719"/>
                                        </p:tgtEl>
                                        <p:attrNameLst>
                                          <p:attrName>ppt_x</p:attrName>
                                        </p:attrNameLst>
                                      </p:cBhvr>
                                      <p:tavLst>
                                        <p:tav tm="0">
                                          <p:val>
                                            <p:strVal val="1+#ppt_w/2"/>
                                          </p:val>
                                        </p:tav>
                                        <p:tav tm="100000">
                                          <p:val>
                                            <p:strVal val="#ppt_x"/>
                                          </p:val>
                                        </p:tav>
                                      </p:tavLst>
                                    </p:anim>
                                    <p:anim calcmode="lin" valueType="num">
                                      <p:cBhvr additive="base">
                                        <p:cTn id="49" dur="500" fill="hold"/>
                                        <p:tgtEl>
                                          <p:spTgt spid="24719"/>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24722"/>
                                        </p:tgtEl>
                                        <p:attrNameLst>
                                          <p:attrName>style.visibility</p:attrName>
                                        </p:attrNameLst>
                                      </p:cBhvr>
                                      <p:to>
                                        <p:strVal val="visible"/>
                                      </p:to>
                                    </p:set>
                                    <p:animEffect transition="in" filter="wipe(down)">
                                      <p:cBhvr>
                                        <p:cTn id="54" dur="500"/>
                                        <p:tgtEl>
                                          <p:spTgt spid="2472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24732"/>
                                        </p:tgtEl>
                                        <p:attrNameLst>
                                          <p:attrName>style.visibility</p:attrName>
                                        </p:attrNameLst>
                                      </p:cBhvr>
                                      <p:to>
                                        <p:strVal val="visible"/>
                                      </p:to>
                                    </p:set>
                                    <p:animEffect transition="in" filter="wipe(down)">
                                      <p:cBhvr>
                                        <p:cTn id="59" dur="500"/>
                                        <p:tgtEl>
                                          <p:spTgt spid="2473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24733"/>
                                        </p:tgtEl>
                                        <p:attrNameLst>
                                          <p:attrName>style.visibility</p:attrName>
                                        </p:attrNameLst>
                                      </p:cBhvr>
                                      <p:to>
                                        <p:strVal val="visible"/>
                                      </p:to>
                                    </p:set>
                                    <p:animEffect transition="in" filter="wipe(down)">
                                      <p:cBhvr>
                                        <p:cTn id="64" dur="500"/>
                                        <p:tgtEl>
                                          <p:spTgt spid="24733"/>
                                        </p:tgtEl>
                                      </p:cBhvr>
                                    </p:animEffect>
                                  </p:childTnLst>
                                </p:cTn>
                              </p:par>
                            </p:childTnLst>
                          </p:cTn>
                        </p:par>
                        <p:par>
                          <p:cTn id="65" fill="hold">
                            <p:stCondLst>
                              <p:cond delay="500"/>
                            </p:stCondLst>
                            <p:childTnLst>
                              <p:par>
                                <p:cTn id="66" presetID="22" presetClass="entr" presetSubtype="2" fill="hold" nodeType="afterEffect">
                                  <p:stCondLst>
                                    <p:cond delay="0"/>
                                  </p:stCondLst>
                                  <p:childTnLst>
                                    <p:set>
                                      <p:cBhvr>
                                        <p:cTn id="67" dur="1" fill="hold">
                                          <p:stCondLst>
                                            <p:cond delay="0"/>
                                          </p:stCondLst>
                                        </p:cTn>
                                        <p:tgtEl>
                                          <p:spTgt spid="24731"/>
                                        </p:tgtEl>
                                        <p:attrNameLst>
                                          <p:attrName>style.visibility</p:attrName>
                                        </p:attrNameLst>
                                      </p:cBhvr>
                                      <p:to>
                                        <p:strVal val="visible"/>
                                      </p:to>
                                    </p:set>
                                    <p:animEffect transition="in" filter="wipe(right)">
                                      <p:cBhvr>
                                        <p:cTn id="68" dur="500"/>
                                        <p:tgtEl>
                                          <p:spTgt spid="2473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24734"/>
                                        </p:tgtEl>
                                        <p:attrNameLst>
                                          <p:attrName>style.visibility</p:attrName>
                                        </p:attrNameLst>
                                      </p:cBhvr>
                                      <p:to>
                                        <p:strVal val="visible"/>
                                      </p:to>
                                    </p:set>
                                    <p:animEffect transition="in" filter="wipe(down)">
                                      <p:cBhvr>
                                        <p:cTn id="73" dur="500"/>
                                        <p:tgtEl>
                                          <p:spTgt spid="24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419100" y="222250"/>
            <a:ext cx="66817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sz="3200" b="1">
                <a:solidFill>
                  <a:schemeClr val="accent2"/>
                </a:solidFill>
                <a:latin typeface="宋体" panose="02010600030101010101" pitchFamily="2" charset="-122"/>
              </a:rPr>
              <a:t>⑷ </a:t>
            </a:r>
            <a:r>
              <a:rPr lang="zh-CN" altLang="en-US" sz="3200" b="1">
                <a:solidFill>
                  <a:schemeClr val="accent2"/>
                </a:solidFill>
                <a:latin typeface="宋体" panose="02010600030101010101" pitchFamily="2" charset="-122"/>
              </a:rPr>
              <a:t>圆柱与肋板组合时过渡线的画法</a:t>
            </a:r>
            <a:endParaRPr lang="zh-CN" altLang="en-US" sz="3200" b="1">
              <a:solidFill>
                <a:schemeClr val="accent2"/>
              </a:solidFill>
              <a:latin typeface="宋体" panose="02010600030101010101" pitchFamily="2" charset="-122"/>
            </a:endParaRPr>
          </a:p>
        </p:txBody>
      </p:sp>
      <p:sp>
        <p:nvSpPr>
          <p:cNvPr id="25604" name="Line 4"/>
          <p:cNvSpPr>
            <a:spLocks noChangeShapeType="1"/>
          </p:cNvSpPr>
          <p:nvPr/>
        </p:nvSpPr>
        <p:spPr bwMode="auto">
          <a:xfrm flipV="1">
            <a:off x="7781925" y="3241675"/>
            <a:ext cx="0" cy="1438275"/>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05" name="Text Box 5"/>
          <p:cNvSpPr txBox="1">
            <a:spLocks noChangeArrowheads="1"/>
          </p:cNvSpPr>
          <p:nvPr/>
        </p:nvSpPr>
        <p:spPr bwMode="auto">
          <a:xfrm>
            <a:off x="1098550" y="5141913"/>
            <a:ext cx="10366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solidFill>
                  <a:srgbClr val="FF3300"/>
                </a:solidFill>
              </a:rPr>
              <a:t>相交</a:t>
            </a:r>
            <a:endParaRPr lang="zh-CN" altLang="en-US" sz="2800" b="1">
              <a:solidFill>
                <a:srgbClr val="FF3300"/>
              </a:solidFill>
            </a:endParaRPr>
          </a:p>
        </p:txBody>
      </p:sp>
      <p:sp>
        <p:nvSpPr>
          <p:cNvPr id="25606" name="Text Box 6"/>
          <p:cNvSpPr txBox="1">
            <a:spLocks noChangeArrowheads="1"/>
          </p:cNvSpPr>
          <p:nvPr/>
        </p:nvSpPr>
        <p:spPr bwMode="auto">
          <a:xfrm>
            <a:off x="5145088" y="5141913"/>
            <a:ext cx="9921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solidFill>
                  <a:srgbClr val="FF3300"/>
                </a:solidFill>
              </a:rPr>
              <a:t>相交</a:t>
            </a:r>
            <a:endParaRPr lang="zh-CN" altLang="en-US" sz="2800" b="1">
              <a:solidFill>
                <a:srgbClr val="FF3300"/>
              </a:solidFill>
            </a:endParaRPr>
          </a:p>
        </p:txBody>
      </p:sp>
      <p:sp>
        <p:nvSpPr>
          <p:cNvPr id="25607" name="Text Box 7"/>
          <p:cNvSpPr txBox="1">
            <a:spLocks noChangeArrowheads="1"/>
          </p:cNvSpPr>
          <p:nvPr/>
        </p:nvSpPr>
        <p:spPr bwMode="auto">
          <a:xfrm>
            <a:off x="7127875" y="5141913"/>
            <a:ext cx="971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solidFill>
                  <a:srgbClr val="FF3300"/>
                </a:solidFill>
              </a:rPr>
              <a:t>相切</a:t>
            </a:r>
            <a:endParaRPr lang="zh-CN" altLang="en-US" sz="2800" b="1">
              <a:solidFill>
                <a:srgbClr val="FF3300"/>
              </a:solidFill>
            </a:endParaRPr>
          </a:p>
        </p:txBody>
      </p:sp>
      <p:sp>
        <p:nvSpPr>
          <p:cNvPr id="25608" name="Text Box 8"/>
          <p:cNvSpPr txBox="1">
            <a:spLocks noChangeArrowheads="1"/>
          </p:cNvSpPr>
          <p:nvPr/>
        </p:nvSpPr>
        <p:spPr bwMode="auto">
          <a:xfrm>
            <a:off x="3098800" y="5141913"/>
            <a:ext cx="955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solidFill>
                  <a:srgbClr val="FF3300"/>
                </a:solidFill>
              </a:rPr>
              <a:t>相切</a:t>
            </a:r>
            <a:endParaRPr lang="zh-CN" altLang="en-US" sz="2800" b="1">
              <a:solidFill>
                <a:srgbClr val="FF3300"/>
              </a:solidFill>
            </a:endParaRPr>
          </a:p>
        </p:txBody>
      </p:sp>
      <p:grpSp>
        <p:nvGrpSpPr>
          <p:cNvPr id="25788" name="Group 188"/>
          <p:cNvGrpSpPr/>
          <p:nvPr/>
        </p:nvGrpSpPr>
        <p:grpSpPr bwMode="auto">
          <a:xfrm>
            <a:off x="762000" y="3013075"/>
            <a:ext cx="3800475" cy="1952625"/>
            <a:chOff x="480" y="1898"/>
            <a:chExt cx="2394" cy="1230"/>
          </a:xfrm>
        </p:grpSpPr>
        <p:sp>
          <p:nvSpPr>
            <p:cNvPr id="25612" name="Line 12"/>
            <p:cNvSpPr>
              <a:spLocks noChangeShapeType="1"/>
            </p:cNvSpPr>
            <p:nvPr/>
          </p:nvSpPr>
          <p:spPr bwMode="auto">
            <a:xfrm>
              <a:off x="827" y="2419"/>
              <a:ext cx="0" cy="696"/>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13" name="Line 13"/>
            <p:cNvSpPr>
              <a:spLocks noChangeShapeType="1"/>
            </p:cNvSpPr>
            <p:nvPr/>
          </p:nvSpPr>
          <p:spPr bwMode="auto">
            <a:xfrm>
              <a:off x="2094" y="2432"/>
              <a:ext cx="0" cy="696"/>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14" name="Line 14"/>
            <p:cNvSpPr>
              <a:spLocks noChangeShapeType="1"/>
            </p:cNvSpPr>
            <p:nvPr/>
          </p:nvSpPr>
          <p:spPr bwMode="auto">
            <a:xfrm flipV="1">
              <a:off x="528" y="1944"/>
              <a:ext cx="0" cy="39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15" name="Line 15"/>
            <p:cNvSpPr>
              <a:spLocks noChangeShapeType="1"/>
            </p:cNvSpPr>
            <p:nvPr/>
          </p:nvSpPr>
          <p:spPr bwMode="auto">
            <a:xfrm>
              <a:off x="1040" y="2556"/>
              <a:ext cx="49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16" name="Line 16"/>
            <p:cNvSpPr>
              <a:spLocks noChangeShapeType="1"/>
            </p:cNvSpPr>
            <p:nvPr/>
          </p:nvSpPr>
          <p:spPr bwMode="auto">
            <a:xfrm>
              <a:off x="1015" y="2993"/>
              <a:ext cx="52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17" name="Line 17"/>
            <p:cNvSpPr>
              <a:spLocks noChangeShapeType="1"/>
            </p:cNvSpPr>
            <p:nvPr/>
          </p:nvSpPr>
          <p:spPr bwMode="auto">
            <a:xfrm flipV="1">
              <a:off x="2154" y="2986"/>
              <a:ext cx="629" cy="8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18" name="Line 18"/>
            <p:cNvSpPr>
              <a:spLocks noChangeShapeType="1"/>
            </p:cNvSpPr>
            <p:nvPr/>
          </p:nvSpPr>
          <p:spPr bwMode="auto">
            <a:xfrm>
              <a:off x="2163" y="2473"/>
              <a:ext cx="620" cy="9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19" name="Line 19"/>
            <p:cNvSpPr>
              <a:spLocks noChangeShapeType="1"/>
            </p:cNvSpPr>
            <p:nvPr/>
          </p:nvSpPr>
          <p:spPr bwMode="auto">
            <a:xfrm>
              <a:off x="1032" y="2048"/>
              <a:ext cx="50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0" name="Line 20"/>
            <p:cNvSpPr>
              <a:spLocks noChangeShapeType="1"/>
            </p:cNvSpPr>
            <p:nvPr/>
          </p:nvSpPr>
          <p:spPr bwMode="auto">
            <a:xfrm>
              <a:off x="1032" y="2228"/>
              <a:ext cx="50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1" name="Line 21"/>
            <p:cNvSpPr>
              <a:spLocks noChangeShapeType="1"/>
            </p:cNvSpPr>
            <p:nvPr/>
          </p:nvSpPr>
          <p:spPr bwMode="auto">
            <a:xfrm flipV="1">
              <a:off x="1020" y="2072"/>
              <a:ext cx="0" cy="13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2" name="Line 22"/>
            <p:cNvSpPr>
              <a:spLocks noChangeShapeType="1"/>
            </p:cNvSpPr>
            <p:nvPr/>
          </p:nvSpPr>
          <p:spPr bwMode="auto">
            <a:xfrm>
              <a:off x="526" y="2336"/>
              <a:ext cx="6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3" name="Line 23"/>
            <p:cNvSpPr>
              <a:spLocks noChangeShapeType="1"/>
            </p:cNvSpPr>
            <p:nvPr/>
          </p:nvSpPr>
          <p:spPr bwMode="auto">
            <a:xfrm>
              <a:off x="528" y="1952"/>
              <a:ext cx="6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4" name="Line 24"/>
            <p:cNvSpPr>
              <a:spLocks noChangeShapeType="1"/>
            </p:cNvSpPr>
            <p:nvPr/>
          </p:nvSpPr>
          <p:spPr bwMode="auto">
            <a:xfrm>
              <a:off x="1794" y="1950"/>
              <a:ext cx="60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5" name="Line 25"/>
            <p:cNvSpPr>
              <a:spLocks noChangeShapeType="1"/>
            </p:cNvSpPr>
            <p:nvPr/>
          </p:nvSpPr>
          <p:spPr bwMode="auto">
            <a:xfrm>
              <a:off x="1782" y="2342"/>
              <a:ext cx="6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6" name="Line 26"/>
            <p:cNvSpPr>
              <a:spLocks noChangeShapeType="1"/>
            </p:cNvSpPr>
            <p:nvPr/>
          </p:nvSpPr>
          <p:spPr bwMode="auto">
            <a:xfrm>
              <a:off x="1140" y="1942"/>
              <a:ext cx="0" cy="9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7" name="Line 27"/>
            <p:cNvSpPr>
              <a:spLocks noChangeShapeType="1"/>
            </p:cNvSpPr>
            <p:nvPr/>
          </p:nvSpPr>
          <p:spPr bwMode="auto">
            <a:xfrm flipV="1">
              <a:off x="1128" y="2228"/>
              <a:ext cx="0" cy="10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8" name="Line 28"/>
            <p:cNvSpPr>
              <a:spLocks noChangeShapeType="1"/>
            </p:cNvSpPr>
            <p:nvPr/>
          </p:nvSpPr>
          <p:spPr bwMode="auto">
            <a:xfrm>
              <a:off x="2172" y="2054"/>
              <a:ext cx="61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29" name="Line 29"/>
            <p:cNvSpPr>
              <a:spLocks noChangeShapeType="1"/>
            </p:cNvSpPr>
            <p:nvPr/>
          </p:nvSpPr>
          <p:spPr bwMode="auto">
            <a:xfrm>
              <a:off x="2172" y="2246"/>
              <a:ext cx="6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0" name="Freeform 30"/>
            <p:cNvSpPr/>
            <p:nvPr/>
          </p:nvSpPr>
          <p:spPr bwMode="auto">
            <a:xfrm>
              <a:off x="990" y="2018"/>
              <a:ext cx="42" cy="30"/>
            </a:xfrm>
            <a:custGeom>
              <a:avLst/>
              <a:gdLst>
                <a:gd name="T0" fmla="*/ 42 w 42"/>
                <a:gd name="T1" fmla="*/ 30 h 30"/>
                <a:gd name="T2" fmla="*/ 0 w 42"/>
                <a:gd name="T3" fmla="*/ 0 h 30"/>
              </a:gdLst>
              <a:ahLst/>
              <a:cxnLst>
                <a:cxn ang="0">
                  <a:pos x="T0" y="T1"/>
                </a:cxn>
                <a:cxn ang="0">
                  <a:pos x="T2" y="T3"/>
                </a:cxn>
              </a:cxnLst>
              <a:rect l="0" t="0" r="r" b="b"/>
              <a:pathLst>
                <a:path w="42" h="30">
                  <a:moveTo>
                    <a:pt x="42" y="30"/>
                  </a:moveTo>
                  <a:cubicBezTo>
                    <a:pt x="24" y="17"/>
                    <a:pt x="7" y="5"/>
                    <a:pt x="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1" name="Freeform 31"/>
            <p:cNvSpPr/>
            <p:nvPr/>
          </p:nvSpPr>
          <p:spPr bwMode="auto">
            <a:xfrm>
              <a:off x="1002" y="2228"/>
              <a:ext cx="42" cy="18"/>
            </a:xfrm>
            <a:custGeom>
              <a:avLst/>
              <a:gdLst>
                <a:gd name="T0" fmla="*/ 42 w 42"/>
                <a:gd name="T1" fmla="*/ 0 h 18"/>
                <a:gd name="T2" fmla="*/ 0 w 42"/>
                <a:gd name="T3" fmla="*/ 18 h 18"/>
              </a:gdLst>
              <a:ahLst/>
              <a:cxnLst>
                <a:cxn ang="0">
                  <a:pos x="T0" y="T1"/>
                </a:cxn>
                <a:cxn ang="0">
                  <a:pos x="T2" y="T3"/>
                </a:cxn>
              </a:cxnLst>
              <a:rect l="0" t="0" r="r" b="b"/>
              <a:pathLst>
                <a:path w="42" h="18">
                  <a:moveTo>
                    <a:pt x="42" y="0"/>
                  </a:moveTo>
                  <a:cubicBezTo>
                    <a:pt x="25" y="7"/>
                    <a:pt x="8" y="15"/>
                    <a:pt x="0" y="18"/>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2" name="Freeform 32"/>
            <p:cNvSpPr/>
            <p:nvPr/>
          </p:nvSpPr>
          <p:spPr bwMode="auto">
            <a:xfrm>
              <a:off x="2124" y="2036"/>
              <a:ext cx="54" cy="18"/>
            </a:xfrm>
            <a:custGeom>
              <a:avLst/>
              <a:gdLst>
                <a:gd name="T0" fmla="*/ 54 w 54"/>
                <a:gd name="T1" fmla="*/ 18 h 18"/>
                <a:gd name="T2" fmla="*/ 0 w 54"/>
                <a:gd name="T3" fmla="*/ 0 h 18"/>
              </a:gdLst>
              <a:ahLst/>
              <a:cxnLst>
                <a:cxn ang="0">
                  <a:pos x="T0" y="T1"/>
                </a:cxn>
                <a:cxn ang="0">
                  <a:pos x="T2" y="T3"/>
                </a:cxn>
              </a:cxnLst>
              <a:rect l="0" t="0" r="r" b="b"/>
              <a:pathLst>
                <a:path w="54" h="18">
                  <a:moveTo>
                    <a:pt x="54" y="18"/>
                  </a:moveTo>
                  <a:cubicBezTo>
                    <a:pt x="31" y="10"/>
                    <a:pt x="9" y="3"/>
                    <a:pt x="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3" name="Freeform 33"/>
            <p:cNvSpPr/>
            <p:nvPr/>
          </p:nvSpPr>
          <p:spPr bwMode="auto">
            <a:xfrm>
              <a:off x="2142" y="2246"/>
              <a:ext cx="36" cy="36"/>
            </a:xfrm>
            <a:custGeom>
              <a:avLst/>
              <a:gdLst>
                <a:gd name="T0" fmla="*/ 36 w 36"/>
                <a:gd name="T1" fmla="*/ 0 h 36"/>
                <a:gd name="T2" fmla="*/ 0 w 36"/>
                <a:gd name="T3" fmla="*/ 36 h 36"/>
              </a:gdLst>
              <a:ahLst/>
              <a:cxnLst>
                <a:cxn ang="0">
                  <a:pos x="T0" y="T1"/>
                </a:cxn>
                <a:cxn ang="0">
                  <a:pos x="T2" y="T3"/>
                </a:cxn>
              </a:cxnLst>
              <a:rect l="0" t="0" r="r" b="b"/>
              <a:pathLst>
                <a:path w="36" h="36">
                  <a:moveTo>
                    <a:pt x="36" y="0"/>
                  </a:moveTo>
                  <a:cubicBezTo>
                    <a:pt x="21" y="15"/>
                    <a:pt x="6" y="30"/>
                    <a:pt x="0" y="36"/>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4" name="Line 34"/>
            <p:cNvSpPr>
              <a:spLocks noChangeShapeType="1"/>
            </p:cNvSpPr>
            <p:nvPr/>
          </p:nvSpPr>
          <p:spPr bwMode="auto">
            <a:xfrm>
              <a:off x="1290" y="2840"/>
              <a:ext cx="0" cy="204"/>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5" name="Line 35"/>
            <p:cNvSpPr>
              <a:spLocks noChangeShapeType="1"/>
            </p:cNvSpPr>
            <p:nvPr/>
          </p:nvSpPr>
          <p:spPr bwMode="auto">
            <a:xfrm>
              <a:off x="1206" y="2882"/>
              <a:ext cx="0" cy="5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6" name="Line 36"/>
            <p:cNvSpPr>
              <a:spLocks noChangeShapeType="1"/>
            </p:cNvSpPr>
            <p:nvPr/>
          </p:nvSpPr>
          <p:spPr bwMode="auto">
            <a:xfrm>
              <a:off x="1374" y="2882"/>
              <a:ext cx="0" cy="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7" name="Freeform 37"/>
            <p:cNvSpPr/>
            <p:nvPr/>
          </p:nvSpPr>
          <p:spPr bwMode="auto">
            <a:xfrm>
              <a:off x="1206" y="2936"/>
              <a:ext cx="36" cy="54"/>
            </a:xfrm>
            <a:custGeom>
              <a:avLst/>
              <a:gdLst>
                <a:gd name="T0" fmla="*/ 0 w 36"/>
                <a:gd name="T1" fmla="*/ 0 h 54"/>
                <a:gd name="T2" fmla="*/ 6 w 36"/>
                <a:gd name="T3" fmla="*/ 36 h 54"/>
                <a:gd name="T4" fmla="*/ 36 w 36"/>
                <a:gd name="T5" fmla="*/ 54 h 54"/>
              </a:gdLst>
              <a:ahLst/>
              <a:cxnLst>
                <a:cxn ang="0">
                  <a:pos x="T0" y="T1"/>
                </a:cxn>
                <a:cxn ang="0">
                  <a:pos x="T2" y="T3"/>
                </a:cxn>
                <a:cxn ang="0">
                  <a:pos x="T4" y="T5"/>
                </a:cxn>
              </a:cxnLst>
              <a:rect l="0" t="0" r="r" b="b"/>
              <a:pathLst>
                <a:path w="36" h="54">
                  <a:moveTo>
                    <a:pt x="0" y="0"/>
                  </a:moveTo>
                  <a:cubicBezTo>
                    <a:pt x="1" y="6"/>
                    <a:pt x="0" y="27"/>
                    <a:pt x="6" y="36"/>
                  </a:cubicBezTo>
                  <a:cubicBezTo>
                    <a:pt x="12" y="45"/>
                    <a:pt x="30" y="50"/>
                    <a:pt x="36" y="54"/>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8" name="Freeform 38"/>
            <p:cNvSpPr/>
            <p:nvPr/>
          </p:nvSpPr>
          <p:spPr bwMode="auto">
            <a:xfrm>
              <a:off x="1326" y="2924"/>
              <a:ext cx="56" cy="66"/>
            </a:xfrm>
            <a:custGeom>
              <a:avLst/>
              <a:gdLst>
                <a:gd name="T0" fmla="*/ 0 w 56"/>
                <a:gd name="T1" fmla="*/ 66 h 66"/>
                <a:gd name="T2" fmla="*/ 48 w 56"/>
                <a:gd name="T3" fmla="*/ 48 h 66"/>
                <a:gd name="T4" fmla="*/ 48 w 56"/>
                <a:gd name="T5" fmla="*/ 0 h 66"/>
              </a:gdLst>
              <a:ahLst/>
              <a:cxnLst>
                <a:cxn ang="0">
                  <a:pos x="T0" y="T1"/>
                </a:cxn>
                <a:cxn ang="0">
                  <a:pos x="T2" y="T3"/>
                </a:cxn>
                <a:cxn ang="0">
                  <a:pos x="T4" y="T5"/>
                </a:cxn>
              </a:cxnLst>
              <a:rect l="0" t="0" r="r" b="b"/>
              <a:pathLst>
                <a:path w="56" h="66">
                  <a:moveTo>
                    <a:pt x="0" y="66"/>
                  </a:moveTo>
                  <a:cubicBezTo>
                    <a:pt x="8" y="63"/>
                    <a:pt x="40" y="59"/>
                    <a:pt x="48" y="48"/>
                  </a:cubicBezTo>
                  <a:cubicBezTo>
                    <a:pt x="56" y="37"/>
                    <a:pt x="48" y="10"/>
                    <a:pt x="48" y="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39" name="Line 39"/>
            <p:cNvSpPr>
              <a:spLocks noChangeShapeType="1"/>
            </p:cNvSpPr>
            <p:nvPr/>
          </p:nvSpPr>
          <p:spPr bwMode="auto">
            <a:xfrm flipV="1">
              <a:off x="1206" y="2861"/>
              <a:ext cx="120" cy="6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0" name="Line 40"/>
            <p:cNvSpPr>
              <a:spLocks noChangeShapeType="1"/>
            </p:cNvSpPr>
            <p:nvPr/>
          </p:nvSpPr>
          <p:spPr bwMode="auto">
            <a:xfrm flipV="1">
              <a:off x="1224" y="2900"/>
              <a:ext cx="124" cy="7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1" name="Line 41"/>
            <p:cNvSpPr>
              <a:spLocks noChangeShapeType="1"/>
            </p:cNvSpPr>
            <p:nvPr/>
          </p:nvSpPr>
          <p:spPr bwMode="auto">
            <a:xfrm flipV="1">
              <a:off x="1290" y="2936"/>
              <a:ext cx="84" cy="4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2" name="Line 42"/>
            <p:cNvSpPr>
              <a:spLocks noChangeShapeType="1"/>
            </p:cNvSpPr>
            <p:nvPr/>
          </p:nvSpPr>
          <p:spPr bwMode="auto">
            <a:xfrm rot="-592049">
              <a:off x="2538" y="2888"/>
              <a:ext cx="1" cy="204"/>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3" name="Line 43"/>
            <p:cNvSpPr>
              <a:spLocks noChangeShapeType="1"/>
            </p:cNvSpPr>
            <p:nvPr/>
          </p:nvSpPr>
          <p:spPr bwMode="auto">
            <a:xfrm rot="-410689">
              <a:off x="2449" y="2893"/>
              <a:ext cx="2" cy="8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4" name="Line 44"/>
            <p:cNvSpPr>
              <a:spLocks noChangeShapeType="1"/>
            </p:cNvSpPr>
            <p:nvPr/>
          </p:nvSpPr>
          <p:spPr bwMode="auto">
            <a:xfrm rot="-483300">
              <a:off x="2608" y="2874"/>
              <a:ext cx="1" cy="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5" name="Freeform 45"/>
            <p:cNvSpPr/>
            <p:nvPr/>
          </p:nvSpPr>
          <p:spPr bwMode="auto">
            <a:xfrm rot="-625534">
              <a:off x="2460" y="2972"/>
              <a:ext cx="36" cy="54"/>
            </a:xfrm>
            <a:custGeom>
              <a:avLst/>
              <a:gdLst>
                <a:gd name="T0" fmla="*/ 0 w 36"/>
                <a:gd name="T1" fmla="*/ 0 h 54"/>
                <a:gd name="T2" fmla="*/ 6 w 36"/>
                <a:gd name="T3" fmla="*/ 36 h 54"/>
                <a:gd name="T4" fmla="*/ 36 w 36"/>
                <a:gd name="T5" fmla="*/ 54 h 54"/>
              </a:gdLst>
              <a:ahLst/>
              <a:cxnLst>
                <a:cxn ang="0">
                  <a:pos x="T0" y="T1"/>
                </a:cxn>
                <a:cxn ang="0">
                  <a:pos x="T2" y="T3"/>
                </a:cxn>
                <a:cxn ang="0">
                  <a:pos x="T4" y="T5"/>
                </a:cxn>
              </a:cxnLst>
              <a:rect l="0" t="0" r="r" b="b"/>
              <a:pathLst>
                <a:path w="36" h="54">
                  <a:moveTo>
                    <a:pt x="0" y="0"/>
                  </a:moveTo>
                  <a:cubicBezTo>
                    <a:pt x="1" y="6"/>
                    <a:pt x="0" y="27"/>
                    <a:pt x="6" y="36"/>
                  </a:cubicBezTo>
                  <a:cubicBezTo>
                    <a:pt x="12" y="45"/>
                    <a:pt x="30" y="50"/>
                    <a:pt x="36" y="54"/>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6" name="Freeform 46"/>
            <p:cNvSpPr/>
            <p:nvPr/>
          </p:nvSpPr>
          <p:spPr bwMode="auto">
            <a:xfrm rot="-677661">
              <a:off x="2568" y="2942"/>
              <a:ext cx="56" cy="66"/>
            </a:xfrm>
            <a:custGeom>
              <a:avLst/>
              <a:gdLst>
                <a:gd name="T0" fmla="*/ 0 w 56"/>
                <a:gd name="T1" fmla="*/ 66 h 66"/>
                <a:gd name="T2" fmla="*/ 48 w 56"/>
                <a:gd name="T3" fmla="*/ 48 h 66"/>
                <a:gd name="T4" fmla="*/ 48 w 56"/>
                <a:gd name="T5" fmla="*/ 0 h 66"/>
              </a:gdLst>
              <a:ahLst/>
              <a:cxnLst>
                <a:cxn ang="0">
                  <a:pos x="T0" y="T1"/>
                </a:cxn>
                <a:cxn ang="0">
                  <a:pos x="T2" y="T3"/>
                </a:cxn>
                <a:cxn ang="0">
                  <a:pos x="T4" y="T5"/>
                </a:cxn>
              </a:cxnLst>
              <a:rect l="0" t="0" r="r" b="b"/>
              <a:pathLst>
                <a:path w="56" h="66">
                  <a:moveTo>
                    <a:pt x="0" y="66"/>
                  </a:moveTo>
                  <a:cubicBezTo>
                    <a:pt x="8" y="63"/>
                    <a:pt x="40" y="59"/>
                    <a:pt x="48" y="48"/>
                  </a:cubicBezTo>
                  <a:cubicBezTo>
                    <a:pt x="56" y="37"/>
                    <a:pt x="48" y="10"/>
                    <a:pt x="48" y="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7" name="Line 47"/>
            <p:cNvSpPr>
              <a:spLocks noChangeShapeType="1"/>
            </p:cNvSpPr>
            <p:nvPr/>
          </p:nvSpPr>
          <p:spPr bwMode="auto">
            <a:xfrm rot="20901929" flipV="1">
              <a:off x="2446" y="2863"/>
              <a:ext cx="142" cy="8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8" name="Line 48"/>
            <p:cNvSpPr>
              <a:spLocks noChangeShapeType="1"/>
            </p:cNvSpPr>
            <p:nvPr/>
          </p:nvSpPr>
          <p:spPr bwMode="auto">
            <a:xfrm rot="20927271" flipV="1">
              <a:off x="2464" y="2899"/>
              <a:ext cx="151" cy="8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49" name="Line 49"/>
            <p:cNvSpPr>
              <a:spLocks noChangeShapeType="1"/>
            </p:cNvSpPr>
            <p:nvPr/>
          </p:nvSpPr>
          <p:spPr bwMode="auto">
            <a:xfrm rot="20938028" flipV="1">
              <a:off x="2532" y="2954"/>
              <a:ext cx="84" cy="4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50" name="Line 50"/>
            <p:cNvSpPr>
              <a:spLocks noChangeShapeType="1"/>
            </p:cNvSpPr>
            <p:nvPr/>
          </p:nvSpPr>
          <p:spPr bwMode="auto">
            <a:xfrm>
              <a:off x="480" y="2768"/>
              <a:ext cx="1146"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51" name="Line 51"/>
            <p:cNvSpPr>
              <a:spLocks noChangeShapeType="1"/>
            </p:cNvSpPr>
            <p:nvPr/>
          </p:nvSpPr>
          <p:spPr bwMode="auto">
            <a:xfrm>
              <a:off x="828" y="1898"/>
              <a:ext cx="0" cy="462"/>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52" name="Line 52"/>
            <p:cNvSpPr>
              <a:spLocks noChangeShapeType="1"/>
            </p:cNvSpPr>
            <p:nvPr/>
          </p:nvSpPr>
          <p:spPr bwMode="auto">
            <a:xfrm>
              <a:off x="1728" y="2774"/>
              <a:ext cx="1146"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53" name="Freeform 53"/>
            <p:cNvSpPr/>
            <p:nvPr/>
          </p:nvSpPr>
          <p:spPr bwMode="auto">
            <a:xfrm>
              <a:off x="2093" y="1918"/>
              <a:ext cx="1" cy="462"/>
            </a:xfrm>
            <a:custGeom>
              <a:avLst/>
              <a:gdLst>
                <a:gd name="T0" fmla="*/ 1 w 1"/>
                <a:gd name="T1" fmla="*/ 0 h 462"/>
                <a:gd name="T2" fmla="*/ 0 w 1"/>
                <a:gd name="T3" fmla="*/ 462 h 462"/>
              </a:gdLst>
              <a:ahLst/>
              <a:cxnLst>
                <a:cxn ang="0">
                  <a:pos x="T0" y="T1"/>
                </a:cxn>
                <a:cxn ang="0">
                  <a:pos x="T2" y="T3"/>
                </a:cxn>
              </a:cxnLst>
              <a:rect l="0" t="0" r="r" b="b"/>
              <a:pathLst>
                <a:path w="1" h="462">
                  <a:moveTo>
                    <a:pt x="1" y="0"/>
                  </a:moveTo>
                  <a:lnTo>
                    <a:pt x="0" y="462"/>
                  </a:lnTo>
                </a:path>
              </a:pathLst>
            </a:custGeom>
            <a:noFill/>
            <a:ln w="19050" cmpd="sng">
              <a:solidFill>
                <a:schemeClr val="tx1"/>
              </a:solidFill>
              <a:prstDash val="lgDash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54" name="Line 54"/>
            <p:cNvSpPr>
              <a:spLocks noChangeShapeType="1"/>
            </p:cNvSpPr>
            <p:nvPr/>
          </p:nvSpPr>
          <p:spPr bwMode="auto">
            <a:xfrm flipV="1">
              <a:off x="2400" y="2242"/>
              <a:ext cx="0" cy="12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55" name="Line 55"/>
            <p:cNvSpPr>
              <a:spLocks noChangeShapeType="1"/>
            </p:cNvSpPr>
            <p:nvPr/>
          </p:nvSpPr>
          <p:spPr bwMode="auto">
            <a:xfrm flipV="1">
              <a:off x="2400" y="1948"/>
              <a:ext cx="0" cy="9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56" name="Line 56"/>
            <p:cNvSpPr>
              <a:spLocks noChangeShapeType="1"/>
            </p:cNvSpPr>
            <p:nvPr/>
          </p:nvSpPr>
          <p:spPr bwMode="auto">
            <a:xfrm flipV="1">
              <a:off x="1788" y="1948"/>
              <a:ext cx="0" cy="39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5657" name="Group 57"/>
            <p:cNvGrpSpPr/>
            <p:nvPr/>
          </p:nvGrpSpPr>
          <p:grpSpPr bwMode="auto">
            <a:xfrm>
              <a:off x="1487" y="1986"/>
              <a:ext cx="101" cy="300"/>
              <a:chOff x="1487" y="1314"/>
              <a:chExt cx="101" cy="300"/>
            </a:xfrm>
          </p:grpSpPr>
          <p:sp>
            <p:nvSpPr>
              <p:cNvPr id="25658" name="Line 58"/>
              <p:cNvSpPr>
                <a:spLocks noChangeShapeType="1"/>
              </p:cNvSpPr>
              <p:nvPr/>
            </p:nvSpPr>
            <p:spPr bwMode="auto">
              <a:xfrm>
                <a:off x="1537" y="1314"/>
                <a:ext cx="0" cy="11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59" name="Line 59"/>
              <p:cNvSpPr>
                <a:spLocks noChangeShapeType="1"/>
              </p:cNvSpPr>
              <p:nvPr/>
            </p:nvSpPr>
            <p:spPr bwMode="auto">
              <a:xfrm>
                <a:off x="1538" y="1515"/>
                <a:ext cx="0" cy="9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60" name="Line 60"/>
              <p:cNvSpPr>
                <a:spLocks noChangeShapeType="1"/>
              </p:cNvSpPr>
              <p:nvPr/>
            </p:nvSpPr>
            <p:spPr bwMode="auto">
              <a:xfrm>
                <a:off x="1536" y="1425"/>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61" name="Line 61"/>
              <p:cNvSpPr>
                <a:spLocks noChangeShapeType="1"/>
              </p:cNvSpPr>
              <p:nvPr/>
            </p:nvSpPr>
            <p:spPr bwMode="auto">
              <a:xfrm>
                <a:off x="1487" y="1489"/>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62" name="Line 62"/>
              <p:cNvSpPr>
                <a:spLocks noChangeShapeType="1"/>
              </p:cNvSpPr>
              <p:nvPr/>
            </p:nvSpPr>
            <p:spPr bwMode="auto">
              <a:xfrm flipV="1">
                <a:off x="1487" y="1451"/>
                <a:ext cx="101" cy="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5663" name="Group 63"/>
            <p:cNvGrpSpPr/>
            <p:nvPr/>
          </p:nvGrpSpPr>
          <p:grpSpPr bwMode="auto">
            <a:xfrm>
              <a:off x="1484" y="2528"/>
              <a:ext cx="101" cy="495"/>
              <a:chOff x="1484" y="1856"/>
              <a:chExt cx="101" cy="495"/>
            </a:xfrm>
          </p:grpSpPr>
          <p:sp>
            <p:nvSpPr>
              <p:cNvPr id="25664" name="Line 64"/>
              <p:cNvSpPr>
                <a:spLocks noChangeShapeType="1"/>
              </p:cNvSpPr>
              <p:nvPr/>
            </p:nvSpPr>
            <p:spPr bwMode="auto">
              <a:xfrm>
                <a:off x="1534" y="1856"/>
                <a:ext cx="0" cy="23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65" name="Line 65"/>
              <p:cNvSpPr>
                <a:spLocks noChangeShapeType="1"/>
              </p:cNvSpPr>
              <p:nvPr/>
            </p:nvSpPr>
            <p:spPr bwMode="auto">
              <a:xfrm>
                <a:off x="1535" y="2175"/>
                <a:ext cx="0" cy="1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66" name="Line 66"/>
              <p:cNvSpPr>
                <a:spLocks noChangeShapeType="1"/>
              </p:cNvSpPr>
              <p:nvPr/>
            </p:nvSpPr>
            <p:spPr bwMode="auto">
              <a:xfrm>
                <a:off x="1533" y="2085"/>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67" name="Line 67"/>
              <p:cNvSpPr>
                <a:spLocks noChangeShapeType="1"/>
              </p:cNvSpPr>
              <p:nvPr/>
            </p:nvSpPr>
            <p:spPr bwMode="auto">
              <a:xfrm>
                <a:off x="1484" y="2149"/>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68" name="Line 68"/>
              <p:cNvSpPr>
                <a:spLocks noChangeShapeType="1"/>
              </p:cNvSpPr>
              <p:nvPr/>
            </p:nvSpPr>
            <p:spPr bwMode="auto">
              <a:xfrm flipV="1">
                <a:off x="1484" y="2111"/>
                <a:ext cx="101" cy="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5669" name="Group 69"/>
            <p:cNvGrpSpPr/>
            <p:nvPr/>
          </p:nvGrpSpPr>
          <p:grpSpPr bwMode="auto">
            <a:xfrm>
              <a:off x="2734" y="2527"/>
              <a:ext cx="101" cy="495"/>
              <a:chOff x="1484" y="1856"/>
              <a:chExt cx="101" cy="495"/>
            </a:xfrm>
          </p:grpSpPr>
          <p:sp>
            <p:nvSpPr>
              <p:cNvPr id="25670" name="Line 70"/>
              <p:cNvSpPr>
                <a:spLocks noChangeShapeType="1"/>
              </p:cNvSpPr>
              <p:nvPr/>
            </p:nvSpPr>
            <p:spPr bwMode="auto">
              <a:xfrm>
                <a:off x="1534" y="1856"/>
                <a:ext cx="0" cy="23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71" name="Line 71"/>
              <p:cNvSpPr>
                <a:spLocks noChangeShapeType="1"/>
              </p:cNvSpPr>
              <p:nvPr/>
            </p:nvSpPr>
            <p:spPr bwMode="auto">
              <a:xfrm>
                <a:off x="1535" y="2175"/>
                <a:ext cx="0" cy="1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72" name="Line 72"/>
              <p:cNvSpPr>
                <a:spLocks noChangeShapeType="1"/>
              </p:cNvSpPr>
              <p:nvPr/>
            </p:nvSpPr>
            <p:spPr bwMode="auto">
              <a:xfrm>
                <a:off x="1533" y="2085"/>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73" name="Line 73"/>
              <p:cNvSpPr>
                <a:spLocks noChangeShapeType="1"/>
              </p:cNvSpPr>
              <p:nvPr/>
            </p:nvSpPr>
            <p:spPr bwMode="auto">
              <a:xfrm>
                <a:off x="1484" y="2149"/>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74" name="Line 74"/>
              <p:cNvSpPr>
                <a:spLocks noChangeShapeType="1"/>
              </p:cNvSpPr>
              <p:nvPr/>
            </p:nvSpPr>
            <p:spPr bwMode="auto">
              <a:xfrm flipV="1">
                <a:off x="1484" y="2111"/>
                <a:ext cx="101" cy="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5675" name="Group 75"/>
            <p:cNvGrpSpPr/>
            <p:nvPr/>
          </p:nvGrpSpPr>
          <p:grpSpPr bwMode="auto">
            <a:xfrm>
              <a:off x="2730" y="2003"/>
              <a:ext cx="101" cy="300"/>
              <a:chOff x="1487" y="1314"/>
              <a:chExt cx="101" cy="300"/>
            </a:xfrm>
          </p:grpSpPr>
          <p:sp>
            <p:nvSpPr>
              <p:cNvPr id="25676" name="Line 76"/>
              <p:cNvSpPr>
                <a:spLocks noChangeShapeType="1"/>
              </p:cNvSpPr>
              <p:nvPr/>
            </p:nvSpPr>
            <p:spPr bwMode="auto">
              <a:xfrm>
                <a:off x="1537" y="1314"/>
                <a:ext cx="0" cy="11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77" name="Line 77"/>
              <p:cNvSpPr>
                <a:spLocks noChangeShapeType="1"/>
              </p:cNvSpPr>
              <p:nvPr/>
            </p:nvSpPr>
            <p:spPr bwMode="auto">
              <a:xfrm>
                <a:off x="1538" y="1515"/>
                <a:ext cx="0" cy="9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78" name="Line 78"/>
              <p:cNvSpPr>
                <a:spLocks noChangeShapeType="1"/>
              </p:cNvSpPr>
              <p:nvPr/>
            </p:nvSpPr>
            <p:spPr bwMode="auto">
              <a:xfrm>
                <a:off x="1536" y="1425"/>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79" name="Line 79"/>
              <p:cNvSpPr>
                <a:spLocks noChangeShapeType="1"/>
              </p:cNvSpPr>
              <p:nvPr/>
            </p:nvSpPr>
            <p:spPr bwMode="auto">
              <a:xfrm>
                <a:off x="1487" y="1489"/>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80" name="Line 80"/>
              <p:cNvSpPr>
                <a:spLocks noChangeShapeType="1"/>
              </p:cNvSpPr>
              <p:nvPr/>
            </p:nvSpPr>
            <p:spPr bwMode="auto">
              <a:xfrm flipV="1">
                <a:off x="1487" y="1451"/>
                <a:ext cx="101" cy="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5681" name="Oval 81"/>
            <p:cNvSpPr>
              <a:spLocks noChangeArrowheads="1"/>
            </p:cNvSpPr>
            <p:nvPr/>
          </p:nvSpPr>
          <p:spPr bwMode="auto">
            <a:xfrm>
              <a:off x="672" y="2610"/>
              <a:ext cx="312" cy="312"/>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82" name="Oval 82"/>
            <p:cNvSpPr>
              <a:spLocks noChangeArrowheads="1"/>
            </p:cNvSpPr>
            <p:nvPr/>
          </p:nvSpPr>
          <p:spPr bwMode="auto">
            <a:xfrm>
              <a:off x="528" y="2466"/>
              <a:ext cx="600" cy="6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83" name="Oval 83"/>
            <p:cNvSpPr>
              <a:spLocks noChangeArrowheads="1"/>
            </p:cNvSpPr>
            <p:nvPr/>
          </p:nvSpPr>
          <p:spPr bwMode="auto">
            <a:xfrm>
              <a:off x="1794" y="2472"/>
              <a:ext cx="600" cy="60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84" name="Oval 84"/>
            <p:cNvSpPr>
              <a:spLocks noChangeArrowheads="1"/>
            </p:cNvSpPr>
            <p:nvPr/>
          </p:nvSpPr>
          <p:spPr bwMode="auto">
            <a:xfrm>
              <a:off x="1938" y="2616"/>
              <a:ext cx="312" cy="312"/>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792" name="Group 192"/>
          <p:cNvGrpSpPr/>
          <p:nvPr/>
        </p:nvGrpSpPr>
        <p:grpSpPr bwMode="auto">
          <a:xfrm>
            <a:off x="4838700" y="3013075"/>
            <a:ext cx="3800475" cy="1971675"/>
            <a:chOff x="3048" y="1898"/>
            <a:chExt cx="2394" cy="1242"/>
          </a:xfrm>
        </p:grpSpPr>
        <p:sp>
          <p:nvSpPr>
            <p:cNvPr id="25686" name="Line 86"/>
            <p:cNvSpPr>
              <a:spLocks noChangeShapeType="1"/>
            </p:cNvSpPr>
            <p:nvPr/>
          </p:nvSpPr>
          <p:spPr bwMode="auto">
            <a:xfrm>
              <a:off x="4644" y="2390"/>
              <a:ext cx="0" cy="75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5791" name="Group 191"/>
            <p:cNvGrpSpPr/>
            <p:nvPr/>
          </p:nvGrpSpPr>
          <p:grpSpPr bwMode="auto">
            <a:xfrm>
              <a:off x="3048" y="1898"/>
              <a:ext cx="2394" cy="1208"/>
              <a:chOff x="3048" y="1898"/>
              <a:chExt cx="2394" cy="1208"/>
            </a:xfrm>
          </p:grpSpPr>
          <p:grpSp>
            <p:nvGrpSpPr>
              <p:cNvPr id="25790" name="Group 190"/>
              <p:cNvGrpSpPr/>
              <p:nvPr/>
            </p:nvGrpSpPr>
            <p:grpSpPr bwMode="auto">
              <a:xfrm>
                <a:off x="3096" y="1898"/>
                <a:ext cx="2313" cy="480"/>
                <a:chOff x="3096" y="1898"/>
                <a:chExt cx="2313" cy="480"/>
              </a:xfrm>
            </p:grpSpPr>
            <p:sp>
              <p:nvSpPr>
                <p:cNvPr id="25691" name="Line 91"/>
                <p:cNvSpPr>
                  <a:spLocks noChangeShapeType="1"/>
                </p:cNvSpPr>
                <p:nvPr/>
              </p:nvSpPr>
              <p:spPr bwMode="auto">
                <a:xfrm>
                  <a:off x="4308" y="2336"/>
                  <a:ext cx="64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92" name="Line 92"/>
                <p:cNvSpPr>
                  <a:spLocks noChangeShapeType="1"/>
                </p:cNvSpPr>
                <p:nvPr/>
              </p:nvSpPr>
              <p:spPr bwMode="auto">
                <a:xfrm>
                  <a:off x="4308" y="1952"/>
                  <a:ext cx="64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93" name="Freeform 93"/>
                <p:cNvSpPr/>
                <p:nvPr/>
              </p:nvSpPr>
              <p:spPr bwMode="auto">
                <a:xfrm>
                  <a:off x="3106" y="1949"/>
                  <a:ext cx="2" cy="387"/>
                </a:xfrm>
                <a:custGeom>
                  <a:avLst/>
                  <a:gdLst>
                    <a:gd name="T0" fmla="*/ 2 w 2"/>
                    <a:gd name="T1" fmla="*/ 387 h 387"/>
                    <a:gd name="T2" fmla="*/ 0 w 2"/>
                    <a:gd name="T3" fmla="*/ 0 h 387"/>
                  </a:gdLst>
                  <a:ahLst/>
                  <a:cxnLst>
                    <a:cxn ang="0">
                      <a:pos x="T0" y="T1"/>
                    </a:cxn>
                    <a:cxn ang="0">
                      <a:pos x="T2" y="T3"/>
                    </a:cxn>
                  </a:cxnLst>
                  <a:rect l="0" t="0" r="r" b="b"/>
                  <a:pathLst>
                    <a:path w="2" h="387">
                      <a:moveTo>
                        <a:pt x="2" y="387"/>
                      </a:moveTo>
                      <a:lnTo>
                        <a:pt x="0"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94" name="Line 94"/>
                <p:cNvSpPr>
                  <a:spLocks noChangeShapeType="1"/>
                </p:cNvSpPr>
                <p:nvPr/>
              </p:nvSpPr>
              <p:spPr bwMode="auto">
                <a:xfrm flipV="1">
                  <a:off x="4320" y="1952"/>
                  <a:ext cx="0" cy="38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95" name="Line 95"/>
                <p:cNvSpPr>
                  <a:spLocks noChangeShapeType="1"/>
                </p:cNvSpPr>
                <p:nvPr/>
              </p:nvSpPr>
              <p:spPr bwMode="auto">
                <a:xfrm>
                  <a:off x="4896" y="2060"/>
                  <a:ext cx="46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96" name="Line 96"/>
                <p:cNvSpPr>
                  <a:spLocks noChangeShapeType="1"/>
                </p:cNvSpPr>
                <p:nvPr/>
              </p:nvSpPr>
              <p:spPr bwMode="auto">
                <a:xfrm>
                  <a:off x="4896" y="2240"/>
                  <a:ext cx="46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97" name="Line 97"/>
                <p:cNvSpPr>
                  <a:spLocks noChangeShapeType="1"/>
                </p:cNvSpPr>
                <p:nvPr/>
              </p:nvSpPr>
              <p:spPr bwMode="auto">
                <a:xfrm>
                  <a:off x="3120" y="1952"/>
                  <a:ext cx="6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98" name="Line 98"/>
                <p:cNvSpPr>
                  <a:spLocks noChangeShapeType="1"/>
                </p:cNvSpPr>
                <p:nvPr/>
              </p:nvSpPr>
              <p:spPr bwMode="auto">
                <a:xfrm>
                  <a:off x="3096" y="2336"/>
                  <a:ext cx="63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699" name="Line 99"/>
                <p:cNvSpPr>
                  <a:spLocks noChangeShapeType="1"/>
                </p:cNvSpPr>
                <p:nvPr/>
              </p:nvSpPr>
              <p:spPr bwMode="auto">
                <a:xfrm>
                  <a:off x="3684" y="2048"/>
                  <a:ext cx="42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0" name="Line 100"/>
                <p:cNvSpPr>
                  <a:spLocks noChangeShapeType="1"/>
                </p:cNvSpPr>
                <p:nvPr/>
              </p:nvSpPr>
              <p:spPr bwMode="auto">
                <a:xfrm>
                  <a:off x="3684" y="2228"/>
                  <a:ext cx="42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1" name="Freeform 101"/>
                <p:cNvSpPr/>
                <p:nvPr/>
              </p:nvSpPr>
              <p:spPr bwMode="auto">
                <a:xfrm>
                  <a:off x="3733" y="1954"/>
                  <a:ext cx="1" cy="106"/>
                </a:xfrm>
                <a:custGeom>
                  <a:avLst/>
                  <a:gdLst>
                    <a:gd name="T0" fmla="*/ 1 w 1"/>
                    <a:gd name="T1" fmla="*/ 0 h 106"/>
                    <a:gd name="T2" fmla="*/ 0 w 1"/>
                    <a:gd name="T3" fmla="*/ 106 h 106"/>
                  </a:gdLst>
                  <a:ahLst/>
                  <a:cxnLst>
                    <a:cxn ang="0">
                      <a:pos x="T0" y="T1"/>
                    </a:cxn>
                    <a:cxn ang="0">
                      <a:pos x="T2" y="T3"/>
                    </a:cxn>
                  </a:cxnLst>
                  <a:rect l="0" t="0" r="r" b="b"/>
                  <a:pathLst>
                    <a:path w="1" h="106">
                      <a:moveTo>
                        <a:pt x="1" y="0"/>
                      </a:moveTo>
                      <a:lnTo>
                        <a:pt x="0" y="106"/>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2" name="Freeform 102"/>
                <p:cNvSpPr/>
                <p:nvPr/>
              </p:nvSpPr>
              <p:spPr bwMode="auto">
                <a:xfrm>
                  <a:off x="3730" y="2227"/>
                  <a:ext cx="1" cy="115"/>
                </a:xfrm>
                <a:custGeom>
                  <a:avLst/>
                  <a:gdLst>
                    <a:gd name="T0" fmla="*/ 0 w 1"/>
                    <a:gd name="T1" fmla="*/ 115 h 115"/>
                    <a:gd name="T2" fmla="*/ 0 w 1"/>
                    <a:gd name="T3" fmla="*/ 0 h 115"/>
                  </a:gdLst>
                  <a:ahLst/>
                  <a:cxnLst>
                    <a:cxn ang="0">
                      <a:pos x="T0" y="T1"/>
                    </a:cxn>
                    <a:cxn ang="0">
                      <a:pos x="T2" y="T3"/>
                    </a:cxn>
                  </a:cxnLst>
                  <a:rect l="0" t="0" r="r" b="b"/>
                  <a:pathLst>
                    <a:path w="1" h="115">
                      <a:moveTo>
                        <a:pt x="0" y="115"/>
                      </a:moveTo>
                      <a:lnTo>
                        <a:pt x="0"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3" name="Line 103"/>
                <p:cNvSpPr>
                  <a:spLocks noChangeShapeType="1"/>
                </p:cNvSpPr>
                <p:nvPr/>
              </p:nvSpPr>
              <p:spPr bwMode="auto">
                <a:xfrm>
                  <a:off x="4956" y="1952"/>
                  <a:ext cx="0" cy="10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4" name="Line 104"/>
                <p:cNvSpPr>
                  <a:spLocks noChangeShapeType="1"/>
                </p:cNvSpPr>
                <p:nvPr/>
              </p:nvSpPr>
              <p:spPr bwMode="auto">
                <a:xfrm flipV="1">
                  <a:off x="4956" y="2240"/>
                  <a:ext cx="0" cy="9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5" name="Freeform 105"/>
                <p:cNvSpPr/>
                <p:nvPr/>
              </p:nvSpPr>
              <p:spPr bwMode="auto">
                <a:xfrm>
                  <a:off x="3587" y="2048"/>
                  <a:ext cx="103" cy="180"/>
                </a:xfrm>
                <a:custGeom>
                  <a:avLst/>
                  <a:gdLst>
                    <a:gd name="T0" fmla="*/ 97 w 103"/>
                    <a:gd name="T1" fmla="*/ 0 h 180"/>
                    <a:gd name="T2" fmla="*/ 37 w 103"/>
                    <a:gd name="T3" fmla="*/ 36 h 180"/>
                    <a:gd name="T4" fmla="*/ 1 w 103"/>
                    <a:gd name="T5" fmla="*/ 90 h 180"/>
                    <a:gd name="T6" fmla="*/ 43 w 103"/>
                    <a:gd name="T7" fmla="*/ 150 h 180"/>
                    <a:gd name="T8" fmla="*/ 103 w 103"/>
                    <a:gd name="T9" fmla="*/ 180 h 180"/>
                  </a:gdLst>
                  <a:ahLst/>
                  <a:cxnLst>
                    <a:cxn ang="0">
                      <a:pos x="T0" y="T1"/>
                    </a:cxn>
                    <a:cxn ang="0">
                      <a:pos x="T2" y="T3"/>
                    </a:cxn>
                    <a:cxn ang="0">
                      <a:pos x="T4" y="T5"/>
                    </a:cxn>
                    <a:cxn ang="0">
                      <a:pos x="T6" y="T7"/>
                    </a:cxn>
                    <a:cxn ang="0">
                      <a:pos x="T8" y="T9"/>
                    </a:cxn>
                  </a:cxnLst>
                  <a:rect l="0" t="0" r="r" b="b"/>
                  <a:pathLst>
                    <a:path w="103" h="180">
                      <a:moveTo>
                        <a:pt x="97" y="0"/>
                      </a:moveTo>
                      <a:cubicBezTo>
                        <a:pt x="87" y="6"/>
                        <a:pt x="53" y="21"/>
                        <a:pt x="37" y="36"/>
                      </a:cubicBezTo>
                      <a:cubicBezTo>
                        <a:pt x="21" y="51"/>
                        <a:pt x="0" y="71"/>
                        <a:pt x="1" y="90"/>
                      </a:cubicBezTo>
                      <a:cubicBezTo>
                        <a:pt x="2" y="109"/>
                        <a:pt x="26" y="135"/>
                        <a:pt x="43" y="150"/>
                      </a:cubicBezTo>
                      <a:cubicBezTo>
                        <a:pt x="60" y="165"/>
                        <a:pt x="93" y="175"/>
                        <a:pt x="103" y="18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6" name="Freeform 106"/>
                <p:cNvSpPr/>
                <p:nvPr/>
              </p:nvSpPr>
              <p:spPr bwMode="auto">
                <a:xfrm>
                  <a:off x="4734" y="2060"/>
                  <a:ext cx="174" cy="60"/>
                </a:xfrm>
                <a:custGeom>
                  <a:avLst/>
                  <a:gdLst>
                    <a:gd name="T0" fmla="*/ 174 w 174"/>
                    <a:gd name="T1" fmla="*/ 0 h 60"/>
                    <a:gd name="T2" fmla="*/ 120 w 174"/>
                    <a:gd name="T3" fmla="*/ 6 h 60"/>
                    <a:gd name="T4" fmla="*/ 72 w 174"/>
                    <a:gd name="T5" fmla="*/ 18 h 60"/>
                    <a:gd name="T6" fmla="*/ 42 w 174"/>
                    <a:gd name="T7" fmla="*/ 30 h 60"/>
                    <a:gd name="T8" fmla="*/ 0 w 174"/>
                    <a:gd name="T9" fmla="*/ 60 h 60"/>
                  </a:gdLst>
                  <a:ahLst/>
                  <a:cxnLst>
                    <a:cxn ang="0">
                      <a:pos x="T0" y="T1"/>
                    </a:cxn>
                    <a:cxn ang="0">
                      <a:pos x="T2" y="T3"/>
                    </a:cxn>
                    <a:cxn ang="0">
                      <a:pos x="T4" y="T5"/>
                    </a:cxn>
                    <a:cxn ang="0">
                      <a:pos x="T6" y="T7"/>
                    </a:cxn>
                    <a:cxn ang="0">
                      <a:pos x="T8" y="T9"/>
                    </a:cxn>
                  </a:cxnLst>
                  <a:rect l="0" t="0" r="r" b="b"/>
                  <a:pathLst>
                    <a:path w="174" h="60">
                      <a:moveTo>
                        <a:pt x="174" y="0"/>
                      </a:moveTo>
                      <a:cubicBezTo>
                        <a:pt x="165" y="1"/>
                        <a:pt x="137" y="3"/>
                        <a:pt x="120" y="6"/>
                      </a:cubicBezTo>
                      <a:cubicBezTo>
                        <a:pt x="103" y="9"/>
                        <a:pt x="85" y="14"/>
                        <a:pt x="72" y="18"/>
                      </a:cubicBezTo>
                      <a:cubicBezTo>
                        <a:pt x="59" y="22"/>
                        <a:pt x="54" y="23"/>
                        <a:pt x="42" y="30"/>
                      </a:cubicBezTo>
                      <a:cubicBezTo>
                        <a:pt x="30" y="37"/>
                        <a:pt x="9" y="54"/>
                        <a:pt x="0" y="6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7" name="Freeform 107"/>
                <p:cNvSpPr/>
                <p:nvPr/>
              </p:nvSpPr>
              <p:spPr bwMode="auto">
                <a:xfrm>
                  <a:off x="4728" y="2168"/>
                  <a:ext cx="168" cy="72"/>
                </a:xfrm>
                <a:custGeom>
                  <a:avLst/>
                  <a:gdLst>
                    <a:gd name="T0" fmla="*/ 168 w 168"/>
                    <a:gd name="T1" fmla="*/ 72 h 72"/>
                    <a:gd name="T2" fmla="*/ 102 w 168"/>
                    <a:gd name="T3" fmla="*/ 54 h 72"/>
                    <a:gd name="T4" fmla="*/ 48 w 168"/>
                    <a:gd name="T5" fmla="*/ 36 h 72"/>
                    <a:gd name="T6" fmla="*/ 0 w 168"/>
                    <a:gd name="T7" fmla="*/ 0 h 72"/>
                  </a:gdLst>
                  <a:ahLst/>
                  <a:cxnLst>
                    <a:cxn ang="0">
                      <a:pos x="T0" y="T1"/>
                    </a:cxn>
                    <a:cxn ang="0">
                      <a:pos x="T2" y="T3"/>
                    </a:cxn>
                    <a:cxn ang="0">
                      <a:pos x="T4" y="T5"/>
                    </a:cxn>
                    <a:cxn ang="0">
                      <a:pos x="T6" y="T7"/>
                    </a:cxn>
                  </a:cxnLst>
                  <a:rect l="0" t="0" r="r" b="b"/>
                  <a:pathLst>
                    <a:path w="168" h="72">
                      <a:moveTo>
                        <a:pt x="168" y="72"/>
                      </a:moveTo>
                      <a:cubicBezTo>
                        <a:pt x="157" y="69"/>
                        <a:pt x="122" y="60"/>
                        <a:pt x="102" y="54"/>
                      </a:cubicBezTo>
                      <a:cubicBezTo>
                        <a:pt x="82" y="48"/>
                        <a:pt x="65" y="45"/>
                        <a:pt x="48" y="36"/>
                      </a:cubicBezTo>
                      <a:cubicBezTo>
                        <a:pt x="31" y="27"/>
                        <a:pt x="8" y="6"/>
                        <a:pt x="0" y="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8" name="Line 108"/>
                <p:cNvSpPr>
                  <a:spLocks noChangeShapeType="1"/>
                </p:cNvSpPr>
                <p:nvPr/>
              </p:nvSpPr>
              <p:spPr bwMode="auto">
                <a:xfrm>
                  <a:off x="3420" y="1904"/>
                  <a:ext cx="0" cy="474"/>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09" name="Line 109"/>
                <p:cNvSpPr>
                  <a:spLocks noChangeShapeType="1"/>
                </p:cNvSpPr>
                <p:nvPr/>
              </p:nvSpPr>
              <p:spPr bwMode="auto">
                <a:xfrm>
                  <a:off x="4644" y="1898"/>
                  <a:ext cx="0" cy="48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5710" name="Group 110"/>
                <p:cNvGrpSpPr/>
                <p:nvPr/>
              </p:nvGrpSpPr>
              <p:grpSpPr bwMode="auto">
                <a:xfrm>
                  <a:off x="4055" y="1993"/>
                  <a:ext cx="101" cy="300"/>
                  <a:chOff x="1487" y="1314"/>
                  <a:chExt cx="101" cy="300"/>
                </a:xfrm>
              </p:grpSpPr>
              <p:sp>
                <p:nvSpPr>
                  <p:cNvPr id="25711" name="Line 111"/>
                  <p:cNvSpPr>
                    <a:spLocks noChangeShapeType="1"/>
                  </p:cNvSpPr>
                  <p:nvPr/>
                </p:nvSpPr>
                <p:spPr bwMode="auto">
                  <a:xfrm>
                    <a:off x="1537" y="1314"/>
                    <a:ext cx="0" cy="11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12" name="Line 112"/>
                  <p:cNvSpPr>
                    <a:spLocks noChangeShapeType="1"/>
                  </p:cNvSpPr>
                  <p:nvPr/>
                </p:nvSpPr>
                <p:spPr bwMode="auto">
                  <a:xfrm>
                    <a:off x="1538" y="1515"/>
                    <a:ext cx="0" cy="9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13" name="Line 113"/>
                  <p:cNvSpPr>
                    <a:spLocks noChangeShapeType="1"/>
                  </p:cNvSpPr>
                  <p:nvPr/>
                </p:nvSpPr>
                <p:spPr bwMode="auto">
                  <a:xfrm>
                    <a:off x="1536" y="1425"/>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14" name="Line 114"/>
                  <p:cNvSpPr>
                    <a:spLocks noChangeShapeType="1"/>
                  </p:cNvSpPr>
                  <p:nvPr/>
                </p:nvSpPr>
                <p:spPr bwMode="auto">
                  <a:xfrm>
                    <a:off x="1487" y="1489"/>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15" name="Line 115"/>
                  <p:cNvSpPr>
                    <a:spLocks noChangeShapeType="1"/>
                  </p:cNvSpPr>
                  <p:nvPr/>
                </p:nvSpPr>
                <p:spPr bwMode="auto">
                  <a:xfrm flipV="1">
                    <a:off x="1487" y="1451"/>
                    <a:ext cx="101" cy="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5716" name="Group 116"/>
                <p:cNvGrpSpPr/>
                <p:nvPr/>
              </p:nvGrpSpPr>
              <p:grpSpPr bwMode="auto">
                <a:xfrm>
                  <a:off x="5308" y="2003"/>
                  <a:ext cx="101" cy="300"/>
                  <a:chOff x="1487" y="1314"/>
                  <a:chExt cx="101" cy="300"/>
                </a:xfrm>
              </p:grpSpPr>
              <p:sp>
                <p:nvSpPr>
                  <p:cNvPr id="25717" name="Line 117"/>
                  <p:cNvSpPr>
                    <a:spLocks noChangeShapeType="1"/>
                  </p:cNvSpPr>
                  <p:nvPr/>
                </p:nvSpPr>
                <p:spPr bwMode="auto">
                  <a:xfrm>
                    <a:off x="1537" y="1314"/>
                    <a:ext cx="0" cy="11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18" name="Line 118"/>
                  <p:cNvSpPr>
                    <a:spLocks noChangeShapeType="1"/>
                  </p:cNvSpPr>
                  <p:nvPr/>
                </p:nvSpPr>
                <p:spPr bwMode="auto">
                  <a:xfrm>
                    <a:off x="1538" y="1515"/>
                    <a:ext cx="0" cy="9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19" name="Line 119"/>
                  <p:cNvSpPr>
                    <a:spLocks noChangeShapeType="1"/>
                  </p:cNvSpPr>
                  <p:nvPr/>
                </p:nvSpPr>
                <p:spPr bwMode="auto">
                  <a:xfrm>
                    <a:off x="1536" y="1425"/>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20" name="Line 120"/>
                  <p:cNvSpPr>
                    <a:spLocks noChangeShapeType="1"/>
                  </p:cNvSpPr>
                  <p:nvPr/>
                </p:nvSpPr>
                <p:spPr bwMode="auto">
                  <a:xfrm>
                    <a:off x="1487" y="1489"/>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21" name="Line 121"/>
                  <p:cNvSpPr>
                    <a:spLocks noChangeShapeType="1"/>
                  </p:cNvSpPr>
                  <p:nvPr/>
                </p:nvSpPr>
                <p:spPr bwMode="auto">
                  <a:xfrm flipV="1">
                    <a:off x="1487" y="1451"/>
                    <a:ext cx="101" cy="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25722" name="Group 122"/>
              <p:cNvGrpSpPr/>
              <p:nvPr/>
            </p:nvGrpSpPr>
            <p:grpSpPr bwMode="auto">
              <a:xfrm>
                <a:off x="3048" y="2434"/>
                <a:ext cx="2394" cy="672"/>
                <a:chOff x="3048" y="2362"/>
                <a:chExt cx="2394" cy="672"/>
              </a:xfrm>
            </p:grpSpPr>
            <p:sp>
              <p:nvSpPr>
                <p:cNvPr id="25723" name="Line 123"/>
                <p:cNvSpPr>
                  <a:spLocks noChangeShapeType="1"/>
                </p:cNvSpPr>
                <p:nvPr/>
              </p:nvSpPr>
              <p:spPr bwMode="auto">
                <a:xfrm>
                  <a:off x="4248" y="2696"/>
                  <a:ext cx="1194"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24" name="Freeform 124"/>
                <p:cNvSpPr/>
                <p:nvPr/>
              </p:nvSpPr>
              <p:spPr bwMode="auto">
                <a:xfrm>
                  <a:off x="3418" y="2362"/>
                  <a:ext cx="2" cy="672"/>
                </a:xfrm>
                <a:custGeom>
                  <a:avLst/>
                  <a:gdLst>
                    <a:gd name="T0" fmla="*/ 2 w 2"/>
                    <a:gd name="T1" fmla="*/ 0 h 672"/>
                    <a:gd name="T2" fmla="*/ 0 w 2"/>
                    <a:gd name="T3" fmla="*/ 672 h 672"/>
                  </a:gdLst>
                  <a:ahLst/>
                  <a:cxnLst>
                    <a:cxn ang="0">
                      <a:pos x="T0" y="T1"/>
                    </a:cxn>
                    <a:cxn ang="0">
                      <a:pos x="T2" y="T3"/>
                    </a:cxn>
                  </a:cxnLst>
                  <a:rect l="0" t="0" r="r" b="b"/>
                  <a:pathLst>
                    <a:path w="2" h="672">
                      <a:moveTo>
                        <a:pt x="2" y="0"/>
                      </a:moveTo>
                      <a:lnTo>
                        <a:pt x="0" y="672"/>
                      </a:lnTo>
                    </a:path>
                  </a:pathLst>
                </a:custGeom>
                <a:noFill/>
                <a:ln w="19050" cmpd="sng">
                  <a:solidFill>
                    <a:schemeClr val="tx1"/>
                  </a:solidFill>
                  <a:prstDash val="lgDash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25" name="Line 125"/>
                <p:cNvSpPr>
                  <a:spLocks noChangeShapeType="1"/>
                </p:cNvSpPr>
                <p:nvPr/>
              </p:nvSpPr>
              <p:spPr bwMode="auto">
                <a:xfrm flipV="1">
                  <a:off x="3608" y="2912"/>
                  <a:ext cx="504" cy="4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26" name="Line 126"/>
                <p:cNvSpPr>
                  <a:spLocks noChangeShapeType="1"/>
                </p:cNvSpPr>
                <p:nvPr/>
              </p:nvSpPr>
              <p:spPr bwMode="auto">
                <a:xfrm>
                  <a:off x="3596" y="2433"/>
                  <a:ext cx="520" cy="4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27" name="Freeform 127"/>
                <p:cNvSpPr/>
                <p:nvPr/>
              </p:nvSpPr>
              <p:spPr bwMode="auto">
                <a:xfrm>
                  <a:off x="4722" y="2888"/>
                  <a:ext cx="632" cy="118"/>
                </a:xfrm>
                <a:custGeom>
                  <a:avLst/>
                  <a:gdLst>
                    <a:gd name="T0" fmla="*/ 0 w 650"/>
                    <a:gd name="T1" fmla="*/ 102 h 102"/>
                    <a:gd name="T2" fmla="*/ 650 w 650"/>
                    <a:gd name="T3" fmla="*/ 0 h 102"/>
                  </a:gdLst>
                  <a:ahLst/>
                  <a:cxnLst>
                    <a:cxn ang="0">
                      <a:pos x="T0" y="T1"/>
                    </a:cxn>
                    <a:cxn ang="0">
                      <a:pos x="T2" y="T3"/>
                    </a:cxn>
                  </a:cxnLst>
                  <a:rect l="0" t="0" r="r" b="b"/>
                  <a:pathLst>
                    <a:path w="650" h="102">
                      <a:moveTo>
                        <a:pt x="0" y="102"/>
                      </a:moveTo>
                      <a:lnTo>
                        <a:pt x="650" y="0"/>
                      </a:lnTo>
                    </a:path>
                  </a:pathLst>
                </a:custGeom>
                <a:noFill/>
                <a:ln w="381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28" name="Line 128"/>
                <p:cNvSpPr>
                  <a:spLocks noChangeShapeType="1"/>
                </p:cNvSpPr>
                <p:nvPr/>
              </p:nvSpPr>
              <p:spPr bwMode="auto">
                <a:xfrm flipV="1">
                  <a:off x="3684" y="2828"/>
                  <a:ext cx="516" cy="36"/>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29" name="Line 129"/>
                <p:cNvSpPr>
                  <a:spLocks noChangeShapeType="1"/>
                </p:cNvSpPr>
                <p:nvPr/>
              </p:nvSpPr>
              <p:spPr bwMode="auto">
                <a:xfrm flipV="1">
                  <a:off x="4884" y="2780"/>
                  <a:ext cx="540" cy="96"/>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0" name="Line 130"/>
                <p:cNvSpPr>
                  <a:spLocks noChangeShapeType="1"/>
                </p:cNvSpPr>
                <p:nvPr/>
              </p:nvSpPr>
              <p:spPr bwMode="auto">
                <a:xfrm>
                  <a:off x="3852" y="2744"/>
                  <a:ext cx="18" cy="246"/>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1" name="Line 131"/>
                <p:cNvSpPr>
                  <a:spLocks noChangeShapeType="1"/>
                </p:cNvSpPr>
                <p:nvPr/>
              </p:nvSpPr>
              <p:spPr bwMode="auto">
                <a:xfrm>
                  <a:off x="5076" y="2744"/>
                  <a:ext cx="48" cy="252"/>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2" name="Arc 132"/>
                <p:cNvSpPr/>
                <p:nvPr/>
              </p:nvSpPr>
              <p:spPr bwMode="auto">
                <a:xfrm rot="5023836">
                  <a:off x="3817" y="2794"/>
                  <a:ext cx="101" cy="189"/>
                </a:xfrm>
                <a:custGeom>
                  <a:avLst/>
                  <a:gdLst>
                    <a:gd name="G0" fmla="+- 0 0 0"/>
                    <a:gd name="G1" fmla="+- 21542 0 0"/>
                    <a:gd name="G2" fmla="+- 21600 0 0"/>
                    <a:gd name="T0" fmla="*/ 1577 w 21600"/>
                    <a:gd name="T1" fmla="*/ 0 h 43088"/>
                    <a:gd name="T2" fmla="*/ 1527 w 21600"/>
                    <a:gd name="T3" fmla="*/ 43088 h 43088"/>
                    <a:gd name="T4" fmla="*/ 0 w 21600"/>
                    <a:gd name="T5" fmla="*/ 21542 h 43088"/>
                  </a:gdLst>
                  <a:ahLst/>
                  <a:cxnLst>
                    <a:cxn ang="0">
                      <a:pos x="T0" y="T1"/>
                    </a:cxn>
                    <a:cxn ang="0">
                      <a:pos x="T2" y="T3"/>
                    </a:cxn>
                    <a:cxn ang="0">
                      <a:pos x="T4" y="T5"/>
                    </a:cxn>
                  </a:cxnLst>
                  <a:rect l="0" t="0" r="r" b="b"/>
                  <a:pathLst>
                    <a:path w="21600" h="43088" fill="none" extrusionOk="0">
                      <a:moveTo>
                        <a:pt x="1577" y="-1"/>
                      </a:moveTo>
                      <a:cubicBezTo>
                        <a:pt x="12864" y="825"/>
                        <a:pt x="21600" y="10224"/>
                        <a:pt x="21600" y="21542"/>
                      </a:cubicBezTo>
                      <a:cubicBezTo>
                        <a:pt x="21600" y="32878"/>
                        <a:pt x="12835" y="42286"/>
                        <a:pt x="1526" y="43087"/>
                      </a:cubicBezTo>
                    </a:path>
                    <a:path w="21600" h="43088" stroke="0" extrusionOk="0">
                      <a:moveTo>
                        <a:pt x="1577" y="-1"/>
                      </a:moveTo>
                      <a:cubicBezTo>
                        <a:pt x="12864" y="825"/>
                        <a:pt x="21600" y="10224"/>
                        <a:pt x="21600" y="21542"/>
                      </a:cubicBezTo>
                      <a:cubicBezTo>
                        <a:pt x="21600" y="32878"/>
                        <a:pt x="12835" y="42286"/>
                        <a:pt x="1526" y="43087"/>
                      </a:cubicBezTo>
                      <a:lnTo>
                        <a:pt x="0" y="21542"/>
                      </a:lnTo>
                      <a:close/>
                    </a:path>
                  </a:pathLst>
                </a:cu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3" name="Arc 133"/>
                <p:cNvSpPr/>
                <p:nvPr/>
              </p:nvSpPr>
              <p:spPr bwMode="auto">
                <a:xfrm rot="4756708">
                  <a:off x="5053" y="2794"/>
                  <a:ext cx="101" cy="189"/>
                </a:xfrm>
                <a:custGeom>
                  <a:avLst/>
                  <a:gdLst>
                    <a:gd name="G0" fmla="+- 0 0 0"/>
                    <a:gd name="G1" fmla="+- 21542 0 0"/>
                    <a:gd name="G2" fmla="+- 21600 0 0"/>
                    <a:gd name="T0" fmla="*/ 1577 w 21600"/>
                    <a:gd name="T1" fmla="*/ 0 h 43088"/>
                    <a:gd name="T2" fmla="*/ 1527 w 21600"/>
                    <a:gd name="T3" fmla="*/ 43088 h 43088"/>
                    <a:gd name="T4" fmla="*/ 0 w 21600"/>
                    <a:gd name="T5" fmla="*/ 21542 h 43088"/>
                  </a:gdLst>
                  <a:ahLst/>
                  <a:cxnLst>
                    <a:cxn ang="0">
                      <a:pos x="T0" y="T1"/>
                    </a:cxn>
                    <a:cxn ang="0">
                      <a:pos x="T2" y="T3"/>
                    </a:cxn>
                    <a:cxn ang="0">
                      <a:pos x="T4" y="T5"/>
                    </a:cxn>
                  </a:cxnLst>
                  <a:rect l="0" t="0" r="r" b="b"/>
                  <a:pathLst>
                    <a:path w="21600" h="43088" fill="none" extrusionOk="0">
                      <a:moveTo>
                        <a:pt x="1577" y="-1"/>
                      </a:moveTo>
                      <a:cubicBezTo>
                        <a:pt x="12864" y="825"/>
                        <a:pt x="21600" y="10224"/>
                        <a:pt x="21600" y="21542"/>
                      </a:cubicBezTo>
                      <a:cubicBezTo>
                        <a:pt x="21600" y="32878"/>
                        <a:pt x="12835" y="42286"/>
                        <a:pt x="1526" y="43087"/>
                      </a:cubicBezTo>
                    </a:path>
                    <a:path w="21600" h="43088" stroke="0" extrusionOk="0">
                      <a:moveTo>
                        <a:pt x="1577" y="-1"/>
                      </a:moveTo>
                      <a:cubicBezTo>
                        <a:pt x="12864" y="825"/>
                        <a:pt x="21600" y="10224"/>
                        <a:pt x="21600" y="21542"/>
                      </a:cubicBezTo>
                      <a:cubicBezTo>
                        <a:pt x="21600" y="32878"/>
                        <a:pt x="12835" y="42286"/>
                        <a:pt x="1526" y="43087"/>
                      </a:cubicBezTo>
                      <a:lnTo>
                        <a:pt x="0" y="21542"/>
                      </a:lnTo>
                      <a:close/>
                    </a:path>
                  </a:pathLst>
                </a:cu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4" name="Line 134"/>
                <p:cNvSpPr>
                  <a:spLocks noChangeShapeType="1"/>
                </p:cNvSpPr>
                <p:nvPr/>
              </p:nvSpPr>
              <p:spPr bwMode="auto">
                <a:xfrm flipH="1" flipV="1">
                  <a:off x="4981" y="2790"/>
                  <a:ext cx="24" cy="7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5" name="Line 135"/>
                <p:cNvSpPr>
                  <a:spLocks noChangeShapeType="1"/>
                </p:cNvSpPr>
                <p:nvPr/>
              </p:nvSpPr>
              <p:spPr bwMode="auto">
                <a:xfrm flipH="1" flipV="1">
                  <a:off x="5166" y="2726"/>
                  <a:ext cx="24" cy="9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6" name="Line 136"/>
                <p:cNvSpPr>
                  <a:spLocks noChangeShapeType="1"/>
                </p:cNvSpPr>
                <p:nvPr/>
              </p:nvSpPr>
              <p:spPr bwMode="auto">
                <a:xfrm flipH="1" flipV="1">
                  <a:off x="3930" y="2732"/>
                  <a:ext cx="24" cy="11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7" name="Line 137"/>
                <p:cNvSpPr>
                  <a:spLocks noChangeShapeType="1"/>
                </p:cNvSpPr>
                <p:nvPr/>
              </p:nvSpPr>
              <p:spPr bwMode="auto">
                <a:xfrm flipV="1">
                  <a:off x="5001" y="2762"/>
                  <a:ext cx="111" cy="97"/>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8" name="Line 138"/>
                <p:cNvSpPr>
                  <a:spLocks noChangeShapeType="1"/>
                </p:cNvSpPr>
                <p:nvPr/>
              </p:nvSpPr>
              <p:spPr bwMode="auto">
                <a:xfrm flipV="1">
                  <a:off x="5026" y="2774"/>
                  <a:ext cx="152" cy="13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39" name="Line 139"/>
                <p:cNvSpPr>
                  <a:spLocks noChangeShapeType="1"/>
                </p:cNvSpPr>
                <p:nvPr/>
              </p:nvSpPr>
              <p:spPr bwMode="auto">
                <a:xfrm flipV="1">
                  <a:off x="5070" y="2834"/>
                  <a:ext cx="120" cy="10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40" name="Line 140"/>
                <p:cNvSpPr>
                  <a:spLocks noChangeShapeType="1"/>
                </p:cNvSpPr>
                <p:nvPr/>
              </p:nvSpPr>
              <p:spPr bwMode="auto">
                <a:xfrm flipH="1" flipV="1">
                  <a:off x="3762" y="2780"/>
                  <a:ext cx="6" cy="7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41" name="Line 141"/>
                <p:cNvSpPr>
                  <a:spLocks noChangeShapeType="1"/>
                </p:cNvSpPr>
                <p:nvPr/>
              </p:nvSpPr>
              <p:spPr bwMode="auto">
                <a:xfrm flipV="1">
                  <a:off x="3768" y="2768"/>
                  <a:ext cx="150" cy="7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42" name="Line 142"/>
                <p:cNvSpPr>
                  <a:spLocks noChangeShapeType="1"/>
                </p:cNvSpPr>
                <p:nvPr/>
              </p:nvSpPr>
              <p:spPr bwMode="auto">
                <a:xfrm flipV="1">
                  <a:off x="3786" y="2816"/>
                  <a:ext cx="168" cy="7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43" name="Line 143"/>
                <p:cNvSpPr>
                  <a:spLocks noChangeShapeType="1"/>
                </p:cNvSpPr>
                <p:nvPr/>
              </p:nvSpPr>
              <p:spPr bwMode="auto">
                <a:xfrm flipV="1">
                  <a:off x="3824" y="2881"/>
                  <a:ext cx="120" cy="5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44" name="Line 144"/>
                <p:cNvSpPr>
                  <a:spLocks noChangeShapeType="1"/>
                </p:cNvSpPr>
                <p:nvPr/>
              </p:nvSpPr>
              <p:spPr bwMode="auto">
                <a:xfrm>
                  <a:off x="3048" y="2696"/>
                  <a:ext cx="1134"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5745" name="Group 145"/>
                <p:cNvGrpSpPr/>
                <p:nvPr/>
              </p:nvGrpSpPr>
              <p:grpSpPr bwMode="auto">
                <a:xfrm>
                  <a:off x="4060" y="2447"/>
                  <a:ext cx="101" cy="495"/>
                  <a:chOff x="1484" y="1856"/>
                  <a:chExt cx="101" cy="495"/>
                </a:xfrm>
              </p:grpSpPr>
              <p:sp>
                <p:nvSpPr>
                  <p:cNvPr id="25746" name="Line 146"/>
                  <p:cNvSpPr>
                    <a:spLocks noChangeShapeType="1"/>
                  </p:cNvSpPr>
                  <p:nvPr/>
                </p:nvSpPr>
                <p:spPr bwMode="auto">
                  <a:xfrm>
                    <a:off x="1534" y="1856"/>
                    <a:ext cx="0" cy="23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47" name="Line 147"/>
                  <p:cNvSpPr>
                    <a:spLocks noChangeShapeType="1"/>
                  </p:cNvSpPr>
                  <p:nvPr/>
                </p:nvSpPr>
                <p:spPr bwMode="auto">
                  <a:xfrm>
                    <a:off x="1535" y="2175"/>
                    <a:ext cx="0" cy="1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48" name="Line 148"/>
                  <p:cNvSpPr>
                    <a:spLocks noChangeShapeType="1"/>
                  </p:cNvSpPr>
                  <p:nvPr/>
                </p:nvSpPr>
                <p:spPr bwMode="auto">
                  <a:xfrm>
                    <a:off x="1533" y="2085"/>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49" name="Line 149"/>
                  <p:cNvSpPr>
                    <a:spLocks noChangeShapeType="1"/>
                  </p:cNvSpPr>
                  <p:nvPr/>
                </p:nvSpPr>
                <p:spPr bwMode="auto">
                  <a:xfrm>
                    <a:off x="1484" y="2149"/>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50" name="Line 150"/>
                  <p:cNvSpPr>
                    <a:spLocks noChangeShapeType="1"/>
                  </p:cNvSpPr>
                  <p:nvPr/>
                </p:nvSpPr>
                <p:spPr bwMode="auto">
                  <a:xfrm flipV="1">
                    <a:off x="1484" y="2111"/>
                    <a:ext cx="101" cy="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5751" name="Group 151"/>
                <p:cNvGrpSpPr/>
                <p:nvPr/>
              </p:nvGrpSpPr>
              <p:grpSpPr bwMode="auto">
                <a:xfrm>
                  <a:off x="5308" y="2447"/>
                  <a:ext cx="101" cy="495"/>
                  <a:chOff x="1484" y="1856"/>
                  <a:chExt cx="101" cy="495"/>
                </a:xfrm>
              </p:grpSpPr>
              <p:sp>
                <p:nvSpPr>
                  <p:cNvPr id="25752" name="Line 152"/>
                  <p:cNvSpPr>
                    <a:spLocks noChangeShapeType="1"/>
                  </p:cNvSpPr>
                  <p:nvPr/>
                </p:nvSpPr>
                <p:spPr bwMode="auto">
                  <a:xfrm>
                    <a:off x="1534" y="1856"/>
                    <a:ext cx="0" cy="23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53" name="Line 153"/>
                  <p:cNvSpPr>
                    <a:spLocks noChangeShapeType="1"/>
                  </p:cNvSpPr>
                  <p:nvPr/>
                </p:nvSpPr>
                <p:spPr bwMode="auto">
                  <a:xfrm>
                    <a:off x="1535" y="2175"/>
                    <a:ext cx="0" cy="1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54" name="Line 154"/>
                  <p:cNvSpPr>
                    <a:spLocks noChangeShapeType="1"/>
                  </p:cNvSpPr>
                  <p:nvPr/>
                </p:nvSpPr>
                <p:spPr bwMode="auto">
                  <a:xfrm>
                    <a:off x="1533" y="2085"/>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55" name="Line 155"/>
                  <p:cNvSpPr>
                    <a:spLocks noChangeShapeType="1"/>
                  </p:cNvSpPr>
                  <p:nvPr/>
                </p:nvSpPr>
                <p:spPr bwMode="auto">
                  <a:xfrm>
                    <a:off x="1484" y="2149"/>
                    <a:ext cx="51" cy="2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56" name="Line 156"/>
                  <p:cNvSpPr>
                    <a:spLocks noChangeShapeType="1"/>
                  </p:cNvSpPr>
                  <p:nvPr/>
                </p:nvSpPr>
                <p:spPr bwMode="auto">
                  <a:xfrm flipV="1">
                    <a:off x="1484" y="2111"/>
                    <a:ext cx="101" cy="3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5757" name="Oval 157"/>
                <p:cNvSpPr>
                  <a:spLocks noChangeArrowheads="1"/>
                </p:cNvSpPr>
                <p:nvPr/>
              </p:nvSpPr>
              <p:spPr bwMode="auto">
                <a:xfrm>
                  <a:off x="3096" y="2376"/>
                  <a:ext cx="640" cy="64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58" name="Oval 158"/>
                <p:cNvSpPr>
                  <a:spLocks noChangeArrowheads="1"/>
                </p:cNvSpPr>
                <p:nvPr/>
              </p:nvSpPr>
              <p:spPr bwMode="auto">
                <a:xfrm>
                  <a:off x="3240" y="2520"/>
                  <a:ext cx="352" cy="352"/>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59" name="Oval 159"/>
                <p:cNvSpPr>
                  <a:spLocks noChangeArrowheads="1"/>
                </p:cNvSpPr>
                <p:nvPr/>
              </p:nvSpPr>
              <p:spPr bwMode="auto">
                <a:xfrm>
                  <a:off x="4320" y="2376"/>
                  <a:ext cx="640" cy="640"/>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60" name="Oval 160"/>
                <p:cNvSpPr>
                  <a:spLocks noChangeArrowheads="1"/>
                </p:cNvSpPr>
                <p:nvPr/>
              </p:nvSpPr>
              <p:spPr bwMode="auto">
                <a:xfrm>
                  <a:off x="4464" y="2520"/>
                  <a:ext cx="352" cy="352"/>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761" name="Line 161"/>
                <p:cNvSpPr>
                  <a:spLocks noChangeShapeType="1"/>
                </p:cNvSpPr>
                <p:nvPr/>
              </p:nvSpPr>
              <p:spPr bwMode="auto">
                <a:xfrm flipH="1" flipV="1">
                  <a:off x="4736" y="2384"/>
                  <a:ext cx="624" cy="1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25787" name="Group 187"/>
          <p:cNvGrpSpPr/>
          <p:nvPr/>
        </p:nvGrpSpPr>
        <p:grpSpPr bwMode="auto">
          <a:xfrm>
            <a:off x="5118100" y="2278063"/>
            <a:ext cx="3200400" cy="968375"/>
            <a:chOff x="3224" y="1435"/>
            <a:chExt cx="2016" cy="610"/>
          </a:xfrm>
        </p:grpSpPr>
        <p:sp>
          <p:nvSpPr>
            <p:cNvPr id="25763" name="Line 163"/>
            <p:cNvSpPr>
              <a:spLocks noChangeShapeType="1"/>
            </p:cNvSpPr>
            <p:nvPr/>
          </p:nvSpPr>
          <p:spPr bwMode="auto">
            <a:xfrm flipV="1">
              <a:off x="3680" y="1749"/>
              <a:ext cx="289" cy="29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64" name="Line 164"/>
            <p:cNvSpPr>
              <a:spLocks noChangeShapeType="1"/>
            </p:cNvSpPr>
            <p:nvPr/>
          </p:nvSpPr>
          <p:spPr bwMode="auto">
            <a:xfrm flipH="1" flipV="1">
              <a:off x="4600" y="1758"/>
              <a:ext cx="291" cy="287"/>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765" name="Text Box 165"/>
            <p:cNvSpPr txBox="1">
              <a:spLocks noChangeArrowheads="1"/>
            </p:cNvSpPr>
            <p:nvPr/>
          </p:nvSpPr>
          <p:spPr bwMode="auto">
            <a:xfrm>
              <a:off x="3224" y="1435"/>
              <a:ext cx="20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solidFill>
                    <a:srgbClr val="FF3300"/>
                  </a:solidFill>
                </a:rPr>
                <a:t>从这点开始有曲线</a:t>
              </a:r>
              <a:endParaRPr lang="zh-CN" altLang="en-US" sz="3200" b="1">
                <a:solidFill>
                  <a:srgbClr val="FF3300"/>
                </a:solidFill>
              </a:endParaRPr>
            </a:p>
          </p:txBody>
        </p:sp>
      </p:grpSp>
      <p:pic>
        <p:nvPicPr>
          <p:cNvPr id="25780" name="Picture 180"/>
          <p:cNvPicPr>
            <a:picLocks noChangeAspect="1" noChangeArrowheads="1"/>
          </p:cNvPicPr>
          <p:nvPr/>
        </p:nvPicPr>
        <p:blipFill>
          <a:blip r:embed="rId1">
            <a:extLst>
              <a:ext uri="{28A0092B-C50C-407E-A947-70E740481C1C}">
                <a14:useLocalDpi xmlns:a14="http://schemas.microsoft.com/office/drawing/2010/main" val="0"/>
              </a:ext>
            </a:extLst>
          </a:blip>
          <a:srcRect l="26599" t="20149" r="12654" b="16614"/>
          <a:stretch>
            <a:fillRect/>
          </a:stretch>
        </p:blipFill>
        <p:spPr bwMode="auto">
          <a:xfrm>
            <a:off x="685800" y="833438"/>
            <a:ext cx="2082800" cy="1584325"/>
          </a:xfrm>
          <a:prstGeom prst="rect">
            <a:avLst/>
          </a:prstGeom>
          <a:noFill/>
          <a:extLst>
            <a:ext uri="{909E8E84-426E-40DD-AFC4-6F175D3DCCD1}">
              <a14:hiddenFill xmlns:a14="http://schemas.microsoft.com/office/drawing/2010/main">
                <a:solidFill>
                  <a:srgbClr val="FFFFFF"/>
                </a:solidFill>
              </a14:hiddenFill>
            </a:ext>
          </a:extLst>
        </p:spPr>
      </p:pic>
      <p:pic>
        <p:nvPicPr>
          <p:cNvPr id="25781" name="Picture 181"/>
          <p:cNvPicPr>
            <a:picLocks noChangeAspect="1" noChangeArrowheads="1"/>
          </p:cNvPicPr>
          <p:nvPr/>
        </p:nvPicPr>
        <p:blipFill>
          <a:blip r:embed="rId2">
            <a:extLst>
              <a:ext uri="{28A0092B-C50C-407E-A947-70E740481C1C}">
                <a14:useLocalDpi xmlns:a14="http://schemas.microsoft.com/office/drawing/2010/main" val="0"/>
              </a:ext>
            </a:extLst>
          </a:blip>
          <a:srcRect l="21158" t="13588" r="14647" b="15587"/>
          <a:stretch>
            <a:fillRect/>
          </a:stretch>
        </p:blipFill>
        <p:spPr bwMode="auto">
          <a:xfrm>
            <a:off x="2740025" y="833438"/>
            <a:ext cx="2092325" cy="1568450"/>
          </a:xfrm>
          <a:prstGeom prst="rect">
            <a:avLst/>
          </a:prstGeom>
          <a:noFill/>
          <a:extLst>
            <a:ext uri="{909E8E84-426E-40DD-AFC4-6F175D3DCCD1}">
              <a14:hiddenFill xmlns:a14="http://schemas.microsoft.com/office/drawing/2010/main">
                <a:solidFill>
                  <a:srgbClr val="FFFFFF"/>
                </a:solidFill>
              </a14:hiddenFill>
            </a:ext>
          </a:extLst>
        </p:spPr>
      </p:pic>
      <p:grpSp>
        <p:nvGrpSpPr>
          <p:cNvPr id="25785" name="Group 185"/>
          <p:cNvGrpSpPr/>
          <p:nvPr/>
        </p:nvGrpSpPr>
        <p:grpSpPr bwMode="auto">
          <a:xfrm>
            <a:off x="4786313" y="833438"/>
            <a:ext cx="4114800" cy="1562100"/>
            <a:chOff x="3015" y="525"/>
            <a:chExt cx="2592" cy="984"/>
          </a:xfrm>
        </p:grpSpPr>
        <p:pic>
          <p:nvPicPr>
            <p:cNvPr id="25782" name="Picture 182"/>
            <p:cNvPicPr>
              <a:picLocks noChangeAspect="1" noChangeArrowheads="1"/>
            </p:cNvPicPr>
            <p:nvPr/>
          </p:nvPicPr>
          <p:blipFill>
            <a:blip r:embed="rId3">
              <a:extLst>
                <a:ext uri="{28A0092B-C50C-407E-A947-70E740481C1C}">
                  <a14:useLocalDpi xmlns:a14="http://schemas.microsoft.com/office/drawing/2010/main" val="0"/>
                </a:ext>
              </a:extLst>
            </a:blip>
            <a:srcRect l="28407" t="15414" r="10846" b="8992"/>
            <a:stretch>
              <a:fillRect/>
            </a:stretch>
          </p:blipFill>
          <p:spPr bwMode="auto">
            <a:xfrm>
              <a:off x="3015" y="525"/>
              <a:ext cx="1312" cy="984"/>
            </a:xfrm>
            <a:prstGeom prst="rect">
              <a:avLst/>
            </a:prstGeom>
            <a:noFill/>
            <a:extLst>
              <a:ext uri="{909E8E84-426E-40DD-AFC4-6F175D3DCCD1}">
                <a14:hiddenFill xmlns:a14="http://schemas.microsoft.com/office/drawing/2010/main">
                  <a:solidFill>
                    <a:srgbClr val="FFFFFF"/>
                  </a:solidFill>
                </a14:hiddenFill>
              </a:ext>
            </a:extLst>
          </p:spPr>
        </p:pic>
        <p:pic>
          <p:nvPicPr>
            <p:cNvPr id="25783" name="Picture 183"/>
            <p:cNvPicPr>
              <a:picLocks noChangeAspect="1" noChangeArrowheads="1"/>
            </p:cNvPicPr>
            <p:nvPr/>
          </p:nvPicPr>
          <p:blipFill>
            <a:blip r:embed="rId4">
              <a:extLst>
                <a:ext uri="{28A0092B-C50C-407E-A947-70E740481C1C}">
                  <a14:useLocalDpi xmlns:a14="http://schemas.microsoft.com/office/drawing/2010/main" val="0"/>
                </a:ext>
              </a:extLst>
            </a:blip>
            <a:srcRect l="8569" t="17734" r="23993" b="16995"/>
            <a:stretch>
              <a:fillRect/>
            </a:stretch>
          </p:blipFill>
          <p:spPr bwMode="auto">
            <a:xfrm>
              <a:off x="4291" y="525"/>
              <a:ext cx="1316" cy="984"/>
            </a:xfrm>
            <a:prstGeom prst="rect">
              <a:avLst/>
            </a:prstGeom>
            <a:noFill/>
            <a:extLst>
              <a:ext uri="{909E8E84-426E-40DD-AFC4-6F175D3DCCD1}">
                <a14:hiddenFill xmlns:a14="http://schemas.microsoft.com/office/drawing/2010/main">
                  <a:solidFill>
                    <a:srgbClr val="FFFFFF"/>
                  </a:solidFill>
                </a14:hiddenFill>
              </a:ext>
            </a:extLst>
          </p:spPr>
        </p:pic>
      </p:grpSp>
      <p:sp>
        <p:nvSpPr>
          <p:cNvPr id="25789" name="Line 189"/>
          <p:cNvSpPr>
            <a:spLocks noChangeShapeType="1"/>
          </p:cNvSpPr>
          <p:nvPr/>
        </p:nvSpPr>
        <p:spPr bwMode="auto">
          <a:xfrm flipV="1">
            <a:off x="5842000" y="3257550"/>
            <a:ext cx="0" cy="140493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788"/>
                                        </p:tgtEl>
                                        <p:attrNameLst>
                                          <p:attrName>style.visibility</p:attrName>
                                        </p:attrNameLst>
                                      </p:cBhvr>
                                      <p:to>
                                        <p:strVal val="visible"/>
                                      </p:to>
                                    </p:set>
                                    <p:animEffect transition="in" filter="blinds(horizontal)">
                                      <p:cBhvr>
                                        <p:cTn id="7" dur="500"/>
                                        <p:tgtEl>
                                          <p:spTgt spid="257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25605">
                                            <p:txEl>
                                              <p:pRg st="0" end="0"/>
                                            </p:txEl>
                                          </p:spTgt>
                                        </p:tgtEl>
                                        <p:attrNameLst>
                                          <p:attrName>style.visibility</p:attrName>
                                        </p:attrNameLst>
                                      </p:cBhvr>
                                      <p:to>
                                        <p:strVal val="visible"/>
                                      </p:to>
                                    </p:set>
                                    <p:animEffect transition="in" filter="wipe(up)">
                                      <p:cBhvr>
                                        <p:cTn id="12" dur="75"/>
                                        <p:tgtEl>
                                          <p:spTgt spid="2560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5608">
                                            <p:txEl>
                                              <p:pRg st="0" end="0"/>
                                            </p:txEl>
                                          </p:spTgt>
                                        </p:tgtEl>
                                        <p:attrNameLst>
                                          <p:attrName>style.visibility</p:attrName>
                                        </p:attrNameLst>
                                      </p:cBhvr>
                                      <p:to>
                                        <p:strVal val="visible"/>
                                      </p:to>
                                    </p:set>
                                    <p:animEffect transition="in" filter="wipe(up)">
                                      <p:cBhvr>
                                        <p:cTn id="17" dur="75"/>
                                        <p:tgtEl>
                                          <p:spTgt spid="2560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nodeType="clickEffect">
                                  <p:stCondLst>
                                    <p:cond delay="0"/>
                                  </p:stCondLst>
                                  <p:childTnLst>
                                    <p:set>
                                      <p:cBhvr>
                                        <p:cTn id="21" dur="1" fill="hold">
                                          <p:stCondLst>
                                            <p:cond delay="0"/>
                                          </p:stCondLst>
                                        </p:cTn>
                                        <p:tgtEl>
                                          <p:spTgt spid="25785"/>
                                        </p:tgtEl>
                                        <p:attrNameLst>
                                          <p:attrName>style.visibility</p:attrName>
                                        </p:attrNameLst>
                                      </p:cBhvr>
                                      <p:to>
                                        <p:strVal val="visible"/>
                                      </p:to>
                                    </p:set>
                                    <p:anim calcmode="lin" valueType="num">
                                      <p:cBhvr additive="base">
                                        <p:cTn id="22" dur="500" fill="hold"/>
                                        <p:tgtEl>
                                          <p:spTgt spid="25785"/>
                                        </p:tgtEl>
                                        <p:attrNameLst>
                                          <p:attrName>ppt_x</p:attrName>
                                        </p:attrNameLst>
                                      </p:cBhvr>
                                      <p:tavLst>
                                        <p:tav tm="0">
                                          <p:val>
                                            <p:strVal val="#ppt_x"/>
                                          </p:val>
                                        </p:tav>
                                        <p:tav tm="100000">
                                          <p:val>
                                            <p:strVal val="#ppt_x"/>
                                          </p:val>
                                        </p:tav>
                                      </p:tavLst>
                                    </p:anim>
                                    <p:anim calcmode="lin" valueType="num">
                                      <p:cBhvr additive="base">
                                        <p:cTn id="23" dur="500" fill="hold"/>
                                        <p:tgtEl>
                                          <p:spTgt spid="25785"/>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5792"/>
                                        </p:tgtEl>
                                        <p:attrNameLst>
                                          <p:attrName>style.visibility</p:attrName>
                                        </p:attrNameLst>
                                      </p:cBhvr>
                                      <p:to>
                                        <p:strVal val="visible"/>
                                      </p:to>
                                    </p:set>
                                    <p:anim calcmode="lin" valueType="num">
                                      <p:cBhvr additive="base">
                                        <p:cTn id="28" dur="500" fill="hold"/>
                                        <p:tgtEl>
                                          <p:spTgt spid="25792"/>
                                        </p:tgtEl>
                                        <p:attrNameLst>
                                          <p:attrName>ppt_x</p:attrName>
                                        </p:attrNameLst>
                                      </p:cBhvr>
                                      <p:tavLst>
                                        <p:tav tm="0">
                                          <p:val>
                                            <p:strVal val="#ppt_x"/>
                                          </p:val>
                                        </p:tav>
                                        <p:tav tm="100000">
                                          <p:val>
                                            <p:strVal val="#ppt_x"/>
                                          </p:val>
                                        </p:tav>
                                      </p:tavLst>
                                    </p:anim>
                                    <p:anim calcmode="lin" valueType="num">
                                      <p:cBhvr additive="base">
                                        <p:cTn id="29" dur="500" fill="hold"/>
                                        <p:tgtEl>
                                          <p:spTgt spid="2579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iterate type="lt">
                                    <p:tmPct val="100000"/>
                                  </p:iterate>
                                  <p:childTnLst>
                                    <p:set>
                                      <p:cBhvr>
                                        <p:cTn id="33" dur="1" fill="hold">
                                          <p:stCondLst>
                                            <p:cond delay="0"/>
                                          </p:stCondLst>
                                        </p:cTn>
                                        <p:tgtEl>
                                          <p:spTgt spid="25606">
                                            <p:txEl>
                                              <p:pRg st="0" end="0"/>
                                            </p:txEl>
                                          </p:spTgt>
                                        </p:tgtEl>
                                        <p:attrNameLst>
                                          <p:attrName>style.visibility</p:attrName>
                                        </p:attrNameLst>
                                      </p:cBhvr>
                                      <p:to>
                                        <p:strVal val="visible"/>
                                      </p:to>
                                    </p:set>
                                    <p:animEffect transition="in" filter="wipe(up)">
                                      <p:cBhvr>
                                        <p:cTn id="34" dur="75"/>
                                        <p:tgtEl>
                                          <p:spTgt spid="25606">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iterate type="lt">
                                    <p:tmPct val="100000"/>
                                  </p:iterate>
                                  <p:childTnLst>
                                    <p:set>
                                      <p:cBhvr>
                                        <p:cTn id="38" dur="1" fill="hold">
                                          <p:stCondLst>
                                            <p:cond delay="0"/>
                                          </p:stCondLst>
                                        </p:cTn>
                                        <p:tgtEl>
                                          <p:spTgt spid="25607">
                                            <p:txEl>
                                              <p:pRg st="0" end="0"/>
                                            </p:txEl>
                                          </p:spTgt>
                                        </p:tgtEl>
                                        <p:attrNameLst>
                                          <p:attrName>style.visibility</p:attrName>
                                        </p:attrNameLst>
                                      </p:cBhvr>
                                      <p:to>
                                        <p:strVal val="visible"/>
                                      </p:to>
                                    </p:set>
                                    <p:animEffect transition="in" filter="wipe(up)">
                                      <p:cBhvr>
                                        <p:cTn id="39" dur="75"/>
                                        <p:tgtEl>
                                          <p:spTgt spid="2560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5789"/>
                                        </p:tgtEl>
                                        <p:attrNameLst>
                                          <p:attrName>style.visibility</p:attrName>
                                        </p:attrNameLst>
                                      </p:cBhvr>
                                      <p:to>
                                        <p:strVal val="visible"/>
                                      </p:to>
                                    </p:set>
                                    <p:animEffect transition="in" filter="wipe(down)">
                                      <p:cBhvr>
                                        <p:cTn id="44" dur="500"/>
                                        <p:tgtEl>
                                          <p:spTgt spid="25789"/>
                                        </p:tgtEl>
                                      </p:cBhvr>
                                    </p:animEffect>
                                  </p:childTnLst>
                                </p:cTn>
                              </p:par>
                            </p:childTnLst>
                          </p:cTn>
                        </p:par>
                        <p:par>
                          <p:cTn id="45" fill="hold">
                            <p:stCondLst>
                              <p:cond delay="500"/>
                            </p:stCondLst>
                            <p:childTnLst>
                              <p:par>
                                <p:cTn id="46" presetID="22" presetClass="entr" presetSubtype="4" fill="hold" nodeType="afterEffect">
                                  <p:stCondLst>
                                    <p:cond delay="0"/>
                                  </p:stCondLst>
                                  <p:childTnLst>
                                    <p:set>
                                      <p:cBhvr>
                                        <p:cTn id="47" dur="1" fill="hold">
                                          <p:stCondLst>
                                            <p:cond delay="0"/>
                                          </p:stCondLst>
                                        </p:cTn>
                                        <p:tgtEl>
                                          <p:spTgt spid="25604"/>
                                        </p:tgtEl>
                                        <p:attrNameLst>
                                          <p:attrName>style.visibility</p:attrName>
                                        </p:attrNameLst>
                                      </p:cBhvr>
                                      <p:to>
                                        <p:strVal val="visible"/>
                                      </p:to>
                                    </p:set>
                                    <p:animEffect transition="in" filter="wipe(down)">
                                      <p:cBhvr>
                                        <p:cTn id="48" dur="500"/>
                                        <p:tgtEl>
                                          <p:spTgt spid="2560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5787"/>
                                        </p:tgtEl>
                                        <p:attrNameLst>
                                          <p:attrName>style.visibility</p:attrName>
                                        </p:attrNameLst>
                                      </p:cBhvr>
                                      <p:to>
                                        <p:strVal val="visible"/>
                                      </p:to>
                                    </p:set>
                                    <p:animEffect transition="in" filter="wipe(up)">
                                      <p:cBhvr>
                                        <p:cTn id="53" dur="500"/>
                                        <p:tgtEl>
                                          <p:spTgt spid="25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autoUpdateAnimBg="0" build="p"/>
      <p:bldP spid="25606" grpId="0" autoUpdateAnimBg="0" build="p"/>
      <p:bldP spid="25607" grpId="0" autoUpdateAnimBg="0" build="p"/>
      <p:bldP spid="25608" grpId="0" autoUpdateAnimBg="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631950" y="4422775"/>
            <a:ext cx="7004050" cy="1289050"/>
          </a:xfrm>
          <a:prstGeom prst="rect">
            <a:avLst/>
          </a:prstGeom>
          <a:noFill/>
          <a:extLst>
            <a:ext uri="{909E8E84-426E-40DD-AFC4-6F175D3DCCD1}">
              <a14:hiddenFill xmlns:a14="http://schemas.microsoft.com/office/drawing/2010/main">
                <a:solidFill>
                  <a:srgbClr val="FFFFFF"/>
                </a:solidFill>
              </a14:hiddenFill>
            </a:ext>
          </a:extLst>
        </p:spPr>
      </p:pic>
      <p:sp>
        <p:nvSpPr>
          <p:cNvPr id="26627" name="Text Box 3"/>
          <p:cNvSpPr txBox="1">
            <a:spLocks noChangeArrowheads="1"/>
          </p:cNvSpPr>
          <p:nvPr/>
        </p:nvSpPr>
        <p:spPr bwMode="auto">
          <a:xfrm>
            <a:off x="192088" y="84138"/>
            <a:ext cx="27352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sz="3200" b="1">
                <a:solidFill>
                  <a:srgbClr val="FF3300"/>
                </a:solidFill>
                <a:latin typeface="宋体" panose="02010600030101010101" pitchFamily="2" charset="-122"/>
              </a:rPr>
              <a:t>2</a:t>
            </a:r>
            <a:r>
              <a:rPr lang="zh-CN" altLang="en-US" sz="3200" b="1">
                <a:solidFill>
                  <a:srgbClr val="FF3300"/>
                </a:solidFill>
                <a:latin typeface="宋体" panose="02010600030101010101" pitchFamily="2" charset="-122"/>
              </a:rPr>
              <a:t>）拔模斜度</a:t>
            </a:r>
            <a:endParaRPr lang="zh-CN" altLang="en-US" sz="3200" b="1">
              <a:solidFill>
                <a:srgbClr val="FF3300"/>
              </a:solidFill>
              <a:latin typeface="宋体" panose="02010600030101010101" pitchFamily="2" charset="-122"/>
            </a:endParaRPr>
          </a:p>
        </p:txBody>
      </p:sp>
      <p:sp>
        <p:nvSpPr>
          <p:cNvPr id="26628" name="Text Box 4"/>
          <p:cNvSpPr txBox="1">
            <a:spLocks noChangeArrowheads="1"/>
          </p:cNvSpPr>
          <p:nvPr/>
        </p:nvSpPr>
        <p:spPr bwMode="auto">
          <a:xfrm>
            <a:off x="685800" y="531813"/>
            <a:ext cx="8139113"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2800" b="1">
                <a:latin typeface="宋体" panose="02010600030101010101" pitchFamily="2" charset="-122"/>
              </a:rPr>
              <a:t>    </a:t>
            </a:r>
            <a:r>
              <a:rPr lang="zh-CN" altLang="en-US" sz="2800" b="1">
                <a:latin typeface="宋体" panose="02010600030101010101" pitchFamily="2" charset="-122"/>
              </a:rPr>
              <a:t>铸件在</a:t>
            </a:r>
            <a:r>
              <a:rPr lang="zh-CN" altLang="en-US" sz="2800" b="1">
                <a:solidFill>
                  <a:schemeClr val="accent2"/>
                </a:solidFill>
                <a:latin typeface="宋体" panose="02010600030101010101" pitchFamily="2" charset="-122"/>
              </a:rPr>
              <a:t>内外壁沿起模方向应有斜度</a:t>
            </a:r>
            <a:r>
              <a:rPr lang="en-US" altLang="zh-CN" sz="2800" b="1">
                <a:latin typeface="宋体" panose="02010600030101010101" pitchFamily="2" charset="-122"/>
              </a:rPr>
              <a:t>,</a:t>
            </a:r>
            <a:r>
              <a:rPr lang="zh-CN" altLang="en-US" sz="2800" b="1">
                <a:latin typeface="宋体" panose="02010600030101010101" pitchFamily="2" charset="-122"/>
              </a:rPr>
              <a:t>称为拔模斜度。当斜度较大时，应在图中表示出来，否则不予表示。</a:t>
            </a:r>
            <a:endParaRPr lang="zh-CN" altLang="en-US" sz="2800" b="1">
              <a:latin typeface="宋体" panose="02010600030101010101" pitchFamily="2" charset="-122"/>
            </a:endParaRPr>
          </a:p>
        </p:txBody>
      </p:sp>
      <p:sp>
        <p:nvSpPr>
          <p:cNvPr id="26629" name="Text Box 5"/>
          <p:cNvSpPr txBox="1">
            <a:spLocks noChangeArrowheads="1"/>
          </p:cNvSpPr>
          <p:nvPr/>
        </p:nvSpPr>
        <p:spPr bwMode="auto">
          <a:xfrm>
            <a:off x="261938" y="3911600"/>
            <a:ext cx="2663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FF3300"/>
                </a:solidFill>
                <a:latin typeface="宋体" panose="02010600030101010101" pitchFamily="2" charset="-122"/>
              </a:rPr>
              <a:t>3</a:t>
            </a:r>
            <a:r>
              <a:rPr lang="zh-CN" altLang="en-US" sz="3200" b="1">
                <a:solidFill>
                  <a:srgbClr val="FF3300"/>
                </a:solidFill>
                <a:latin typeface="宋体" panose="02010600030101010101" pitchFamily="2" charset="-122"/>
              </a:rPr>
              <a:t>）壁厚均匀</a:t>
            </a:r>
            <a:endParaRPr lang="zh-CN" altLang="en-US" sz="3200" b="1">
              <a:solidFill>
                <a:srgbClr val="FF3300"/>
              </a:solidFill>
              <a:latin typeface="宋体" panose="02010600030101010101" pitchFamily="2" charset="-122"/>
            </a:endParaRPr>
          </a:p>
        </p:txBody>
      </p:sp>
      <p:sp>
        <p:nvSpPr>
          <p:cNvPr id="26630" name="Text Box 6"/>
          <p:cNvSpPr txBox="1">
            <a:spLocks noChangeArrowheads="1"/>
          </p:cNvSpPr>
          <p:nvPr/>
        </p:nvSpPr>
        <p:spPr bwMode="auto">
          <a:xfrm>
            <a:off x="1728788" y="5738813"/>
            <a:ext cx="1909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b="1">
                <a:solidFill>
                  <a:schemeClr val="accent2"/>
                </a:solidFill>
                <a:latin typeface="宋体" panose="02010600030101010101" pitchFamily="2" charset="-122"/>
              </a:rPr>
              <a:t>壁厚不均匀</a:t>
            </a:r>
            <a:endParaRPr lang="zh-CN" altLang="en-US" b="1">
              <a:solidFill>
                <a:schemeClr val="accent2"/>
              </a:solidFill>
              <a:latin typeface="宋体" panose="02010600030101010101" pitchFamily="2" charset="-122"/>
            </a:endParaRPr>
          </a:p>
        </p:txBody>
      </p:sp>
      <p:sp>
        <p:nvSpPr>
          <p:cNvPr id="26631" name="Text Box 7"/>
          <p:cNvSpPr txBox="1">
            <a:spLocks noChangeArrowheads="1"/>
          </p:cNvSpPr>
          <p:nvPr/>
        </p:nvSpPr>
        <p:spPr bwMode="auto">
          <a:xfrm>
            <a:off x="4397375" y="5738813"/>
            <a:ext cx="1658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b="1">
                <a:solidFill>
                  <a:schemeClr val="accent2"/>
                </a:solidFill>
                <a:latin typeface="宋体" panose="02010600030101010101" pitchFamily="2" charset="-122"/>
              </a:rPr>
              <a:t>壁厚均匀</a:t>
            </a:r>
            <a:endParaRPr lang="zh-CN" altLang="en-US" b="1">
              <a:solidFill>
                <a:schemeClr val="accent2"/>
              </a:solidFill>
              <a:latin typeface="宋体" panose="02010600030101010101" pitchFamily="2" charset="-122"/>
            </a:endParaRPr>
          </a:p>
        </p:txBody>
      </p:sp>
      <p:sp>
        <p:nvSpPr>
          <p:cNvPr id="26632" name="Text Box 8"/>
          <p:cNvSpPr txBox="1">
            <a:spLocks noChangeArrowheads="1"/>
          </p:cNvSpPr>
          <p:nvPr/>
        </p:nvSpPr>
        <p:spPr bwMode="auto">
          <a:xfrm>
            <a:off x="6604000" y="5776913"/>
            <a:ext cx="2217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b="1">
                <a:solidFill>
                  <a:schemeClr val="accent2"/>
                </a:solidFill>
                <a:latin typeface="宋体" panose="02010600030101010101" pitchFamily="2" charset="-122"/>
              </a:rPr>
              <a:t>壁厚逐渐过渡</a:t>
            </a:r>
            <a:endParaRPr lang="zh-CN" altLang="en-US" b="1">
              <a:solidFill>
                <a:schemeClr val="accent2"/>
              </a:solidFill>
              <a:latin typeface="宋体" panose="02010600030101010101" pitchFamily="2" charset="-122"/>
            </a:endParaRPr>
          </a:p>
        </p:txBody>
      </p:sp>
      <p:grpSp>
        <p:nvGrpSpPr>
          <p:cNvPr id="26667" name="Group 43"/>
          <p:cNvGrpSpPr/>
          <p:nvPr/>
        </p:nvGrpSpPr>
        <p:grpSpPr bwMode="auto">
          <a:xfrm>
            <a:off x="612775" y="4764088"/>
            <a:ext cx="1246188" cy="457200"/>
            <a:chOff x="394" y="3001"/>
            <a:chExt cx="785" cy="288"/>
          </a:xfrm>
        </p:grpSpPr>
        <p:sp>
          <p:nvSpPr>
            <p:cNvPr id="26634" name="Line 10"/>
            <p:cNvSpPr>
              <a:spLocks noChangeShapeType="1"/>
            </p:cNvSpPr>
            <p:nvPr/>
          </p:nvSpPr>
          <p:spPr bwMode="auto">
            <a:xfrm flipV="1">
              <a:off x="846" y="3081"/>
              <a:ext cx="333" cy="192"/>
            </a:xfrm>
            <a:prstGeom prst="line">
              <a:avLst/>
            </a:prstGeom>
            <a:noFill/>
            <a:ln w="19050">
              <a:solidFill>
                <a:srgbClr val="FF33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635" name="Line 11"/>
            <p:cNvSpPr>
              <a:spLocks noChangeShapeType="1"/>
            </p:cNvSpPr>
            <p:nvPr/>
          </p:nvSpPr>
          <p:spPr bwMode="auto">
            <a:xfrm flipH="1">
              <a:off x="432" y="3273"/>
              <a:ext cx="42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636" name="Text Box 12"/>
            <p:cNvSpPr txBox="1">
              <a:spLocks noChangeArrowheads="1"/>
            </p:cNvSpPr>
            <p:nvPr/>
          </p:nvSpPr>
          <p:spPr bwMode="auto">
            <a:xfrm>
              <a:off x="394" y="3001"/>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缩孔</a:t>
              </a:r>
              <a:endParaRPr lang="zh-CN" altLang="en-US" b="1">
                <a:solidFill>
                  <a:srgbClr val="FF3300"/>
                </a:solidFill>
              </a:endParaRPr>
            </a:p>
          </p:txBody>
        </p:sp>
      </p:grpSp>
      <p:grpSp>
        <p:nvGrpSpPr>
          <p:cNvPr id="26637" name="Group 13"/>
          <p:cNvGrpSpPr/>
          <p:nvPr/>
        </p:nvGrpSpPr>
        <p:grpSpPr bwMode="auto">
          <a:xfrm>
            <a:off x="6137275" y="2084388"/>
            <a:ext cx="2095500" cy="1973262"/>
            <a:chOff x="3635" y="1430"/>
            <a:chExt cx="1320" cy="1243"/>
          </a:xfrm>
        </p:grpSpPr>
        <p:pic>
          <p:nvPicPr>
            <p:cNvPr id="26638"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5" y="1430"/>
              <a:ext cx="1320" cy="1146"/>
            </a:xfrm>
            <a:prstGeom prst="rect">
              <a:avLst/>
            </a:prstGeom>
            <a:noFill/>
            <a:extLst>
              <a:ext uri="{909E8E84-426E-40DD-AFC4-6F175D3DCCD1}">
                <a14:hiddenFill xmlns:a14="http://schemas.microsoft.com/office/drawing/2010/main">
                  <a:solidFill>
                    <a:srgbClr val="FFFFFF"/>
                  </a:solidFill>
                </a14:hiddenFill>
              </a:ext>
            </a:extLst>
          </p:spPr>
        </p:pic>
        <p:sp>
          <p:nvSpPr>
            <p:cNvPr id="26639" name="Text Box 15"/>
            <p:cNvSpPr txBox="1">
              <a:spLocks noChangeArrowheads="1"/>
            </p:cNvSpPr>
            <p:nvPr/>
          </p:nvSpPr>
          <p:spPr bwMode="auto">
            <a:xfrm>
              <a:off x="3980" y="2346"/>
              <a:ext cx="62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b="1"/>
                <a:t>（</a:t>
              </a:r>
              <a:r>
                <a:rPr lang="en-US" altLang="zh-CN" sz="2800" b="1"/>
                <a:t>b</a:t>
              </a:r>
              <a:r>
                <a:rPr lang="zh-CN" altLang="en-US" b="1"/>
                <a:t>）</a:t>
              </a:r>
              <a:endParaRPr lang="zh-CN" altLang="en-US"/>
            </a:p>
          </p:txBody>
        </p:sp>
      </p:grpSp>
      <p:grpSp>
        <p:nvGrpSpPr>
          <p:cNvPr id="26640" name="Group 16"/>
          <p:cNvGrpSpPr/>
          <p:nvPr/>
        </p:nvGrpSpPr>
        <p:grpSpPr bwMode="auto">
          <a:xfrm>
            <a:off x="6103938" y="1501775"/>
            <a:ext cx="1409700" cy="1057275"/>
            <a:chOff x="3626" y="1075"/>
            <a:chExt cx="888" cy="666"/>
          </a:xfrm>
        </p:grpSpPr>
        <p:sp>
          <p:nvSpPr>
            <p:cNvPr id="26641" name="Line 17"/>
            <p:cNvSpPr>
              <a:spLocks noChangeShapeType="1"/>
            </p:cNvSpPr>
            <p:nvPr/>
          </p:nvSpPr>
          <p:spPr bwMode="auto">
            <a:xfrm flipH="1" flipV="1">
              <a:off x="3678" y="1358"/>
              <a:ext cx="221" cy="383"/>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642" name="Line 18"/>
            <p:cNvSpPr>
              <a:spLocks noChangeShapeType="1"/>
            </p:cNvSpPr>
            <p:nvPr/>
          </p:nvSpPr>
          <p:spPr bwMode="auto">
            <a:xfrm>
              <a:off x="3686" y="1370"/>
              <a:ext cx="811"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643" name="Text Box 19"/>
            <p:cNvSpPr txBox="1">
              <a:spLocks noChangeArrowheads="1"/>
            </p:cNvSpPr>
            <p:nvPr/>
          </p:nvSpPr>
          <p:spPr bwMode="auto">
            <a:xfrm>
              <a:off x="3626" y="1075"/>
              <a:ext cx="8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拔模斜度</a:t>
              </a:r>
              <a:endParaRPr lang="zh-CN" altLang="en-US" b="1">
                <a:solidFill>
                  <a:srgbClr val="FF3300"/>
                </a:solidFill>
              </a:endParaRPr>
            </a:p>
          </p:txBody>
        </p:sp>
      </p:grpSp>
      <p:sp>
        <p:nvSpPr>
          <p:cNvPr id="26645" name="Text Box 21"/>
          <p:cNvSpPr txBox="1">
            <a:spLocks noChangeArrowheads="1"/>
          </p:cNvSpPr>
          <p:nvPr/>
        </p:nvSpPr>
        <p:spPr bwMode="auto">
          <a:xfrm>
            <a:off x="2117725" y="3638550"/>
            <a:ext cx="1028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b="1"/>
              <a:t>（</a:t>
            </a:r>
            <a:r>
              <a:rPr lang="en-US" altLang="zh-CN" sz="2800" b="1"/>
              <a:t>a</a:t>
            </a:r>
            <a:r>
              <a:rPr lang="zh-CN" altLang="en-US" b="1"/>
              <a:t>）</a:t>
            </a:r>
            <a:endParaRPr lang="zh-CN" altLang="en-US"/>
          </a:p>
        </p:txBody>
      </p:sp>
      <p:grpSp>
        <p:nvGrpSpPr>
          <p:cNvPr id="26668" name="Group 44"/>
          <p:cNvGrpSpPr/>
          <p:nvPr/>
        </p:nvGrpSpPr>
        <p:grpSpPr bwMode="auto">
          <a:xfrm>
            <a:off x="641350" y="5154613"/>
            <a:ext cx="1268413" cy="457200"/>
            <a:chOff x="412" y="3247"/>
            <a:chExt cx="799" cy="288"/>
          </a:xfrm>
        </p:grpSpPr>
        <p:sp>
          <p:nvSpPr>
            <p:cNvPr id="26648" name="Line 24"/>
            <p:cNvSpPr>
              <a:spLocks noChangeShapeType="1"/>
            </p:cNvSpPr>
            <p:nvPr/>
          </p:nvSpPr>
          <p:spPr bwMode="auto">
            <a:xfrm flipV="1">
              <a:off x="874" y="3321"/>
              <a:ext cx="337" cy="192"/>
            </a:xfrm>
            <a:prstGeom prst="line">
              <a:avLst/>
            </a:prstGeom>
            <a:noFill/>
            <a:ln w="19050">
              <a:solidFill>
                <a:srgbClr val="FF33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649" name="Line 25"/>
            <p:cNvSpPr>
              <a:spLocks noChangeShapeType="1"/>
            </p:cNvSpPr>
            <p:nvPr/>
          </p:nvSpPr>
          <p:spPr bwMode="auto">
            <a:xfrm flipH="1">
              <a:off x="422" y="3511"/>
              <a:ext cx="45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650" name="Text Box 26"/>
            <p:cNvSpPr txBox="1">
              <a:spLocks noChangeArrowheads="1"/>
            </p:cNvSpPr>
            <p:nvPr/>
          </p:nvSpPr>
          <p:spPr bwMode="auto">
            <a:xfrm>
              <a:off x="412" y="3247"/>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裂纹</a:t>
              </a:r>
              <a:endParaRPr lang="zh-CN" altLang="en-US" b="1">
                <a:solidFill>
                  <a:srgbClr val="FF3300"/>
                </a:solidFill>
              </a:endParaRPr>
            </a:p>
          </p:txBody>
        </p:sp>
      </p:grpSp>
      <p:pic>
        <p:nvPicPr>
          <p:cNvPr id="26653" name="Picture 29"/>
          <p:cNvPicPr>
            <a:picLocks noChangeAspect="1" noChangeArrowheads="1"/>
          </p:cNvPicPr>
          <p:nvPr/>
        </p:nvPicPr>
        <p:blipFill>
          <a:blip r:embed="rId3">
            <a:extLst>
              <a:ext uri="{28A0092B-C50C-407E-A947-70E740481C1C}">
                <a14:useLocalDpi xmlns:a14="http://schemas.microsoft.com/office/drawing/2010/main" val="0"/>
              </a:ext>
            </a:extLst>
          </a:blip>
          <a:srcRect l="23755" t="8270" r="21413" b="12253"/>
          <a:stretch>
            <a:fillRect/>
          </a:stretch>
        </p:blipFill>
        <p:spPr bwMode="auto">
          <a:xfrm>
            <a:off x="762000" y="1671638"/>
            <a:ext cx="2911475" cy="2308225"/>
          </a:xfrm>
          <a:prstGeom prst="rect">
            <a:avLst/>
          </a:prstGeom>
          <a:noFill/>
          <a:extLst>
            <a:ext uri="{909E8E84-426E-40DD-AFC4-6F175D3DCCD1}">
              <a14:hiddenFill xmlns:a14="http://schemas.microsoft.com/office/drawing/2010/main">
                <a:solidFill>
                  <a:srgbClr val="FFFFFF"/>
                </a:solidFill>
              </a14:hiddenFill>
            </a:ext>
          </a:extLst>
        </p:spPr>
      </p:pic>
      <p:pic>
        <p:nvPicPr>
          <p:cNvPr id="26657" name="Picture 33"/>
          <p:cNvPicPr>
            <a:picLocks noChangeAspect="1" noChangeArrowheads="1"/>
          </p:cNvPicPr>
          <p:nvPr/>
        </p:nvPicPr>
        <p:blipFill>
          <a:blip r:embed="rId4">
            <a:extLst>
              <a:ext uri="{28A0092B-C50C-407E-A947-70E740481C1C}">
                <a14:useLocalDpi xmlns:a14="http://schemas.microsoft.com/office/drawing/2010/main" val="0"/>
              </a:ext>
            </a:extLst>
          </a:blip>
          <a:srcRect l="26097" t="16542" r="40483" b="22055"/>
          <a:stretch>
            <a:fillRect/>
          </a:stretch>
        </p:blipFill>
        <p:spPr bwMode="auto">
          <a:xfrm>
            <a:off x="4202113" y="1870075"/>
            <a:ext cx="1882775" cy="1889125"/>
          </a:xfrm>
          <a:prstGeom prst="rect">
            <a:avLst/>
          </a:prstGeom>
          <a:noFill/>
          <a:extLst>
            <a:ext uri="{909E8E84-426E-40DD-AFC4-6F175D3DCCD1}">
              <a14:hiddenFill xmlns:a14="http://schemas.microsoft.com/office/drawing/2010/main">
                <a:solidFill>
                  <a:srgbClr val="FFFFFF"/>
                </a:solidFill>
              </a14:hiddenFill>
            </a:ext>
          </a:extLst>
        </p:spPr>
      </p:pic>
      <p:grpSp>
        <p:nvGrpSpPr>
          <p:cNvPr id="26663" name="Group 39"/>
          <p:cNvGrpSpPr/>
          <p:nvPr/>
        </p:nvGrpSpPr>
        <p:grpSpPr bwMode="auto">
          <a:xfrm>
            <a:off x="3333750" y="3286125"/>
            <a:ext cx="1420813" cy="768350"/>
            <a:chOff x="2088" y="2070"/>
            <a:chExt cx="895" cy="484"/>
          </a:xfrm>
        </p:grpSpPr>
        <p:sp>
          <p:nvSpPr>
            <p:cNvPr id="26658" name="Text Box 34"/>
            <p:cNvSpPr txBox="1">
              <a:spLocks noChangeArrowheads="1"/>
            </p:cNvSpPr>
            <p:nvPr/>
          </p:nvSpPr>
          <p:spPr bwMode="auto">
            <a:xfrm>
              <a:off x="2129" y="2266"/>
              <a:ext cx="8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3333CC"/>
                  </a:solidFill>
                </a:rPr>
                <a:t>下砂箱</a:t>
              </a:r>
              <a:endParaRPr lang="zh-CN" altLang="en-US" b="1">
                <a:solidFill>
                  <a:srgbClr val="3333CC"/>
                </a:solidFill>
              </a:endParaRPr>
            </a:p>
          </p:txBody>
        </p:sp>
        <p:sp>
          <p:nvSpPr>
            <p:cNvPr id="26660" name="Line 36"/>
            <p:cNvSpPr>
              <a:spLocks noChangeShapeType="1"/>
            </p:cNvSpPr>
            <p:nvPr/>
          </p:nvSpPr>
          <p:spPr bwMode="auto">
            <a:xfrm>
              <a:off x="2088" y="2070"/>
              <a:ext cx="342" cy="252"/>
            </a:xfrm>
            <a:prstGeom prst="line">
              <a:avLst/>
            </a:prstGeom>
            <a:noFill/>
            <a:ln w="19050">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662" name="Group 38"/>
          <p:cNvGrpSpPr/>
          <p:nvPr/>
        </p:nvGrpSpPr>
        <p:grpSpPr bwMode="auto">
          <a:xfrm>
            <a:off x="2743200" y="1954213"/>
            <a:ext cx="1782763" cy="1031875"/>
            <a:chOff x="1728" y="1231"/>
            <a:chExt cx="1063" cy="650"/>
          </a:xfrm>
        </p:grpSpPr>
        <p:sp>
          <p:nvSpPr>
            <p:cNvPr id="26659" name="Text Box 35"/>
            <p:cNvSpPr txBox="1">
              <a:spLocks noChangeArrowheads="1"/>
            </p:cNvSpPr>
            <p:nvPr/>
          </p:nvSpPr>
          <p:spPr bwMode="auto">
            <a:xfrm>
              <a:off x="2291" y="1231"/>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solidFill>
                    <a:srgbClr val="3333CC"/>
                  </a:solidFill>
                </a:rPr>
                <a:t>木模</a:t>
              </a:r>
              <a:endParaRPr lang="zh-CN" altLang="en-US" b="1">
                <a:solidFill>
                  <a:srgbClr val="3333CC"/>
                </a:solidFill>
              </a:endParaRPr>
            </a:p>
          </p:txBody>
        </p:sp>
        <p:sp>
          <p:nvSpPr>
            <p:cNvPr id="26661" name="Line 37"/>
            <p:cNvSpPr>
              <a:spLocks noChangeShapeType="1"/>
            </p:cNvSpPr>
            <p:nvPr/>
          </p:nvSpPr>
          <p:spPr bwMode="auto">
            <a:xfrm flipH="1">
              <a:off x="1728" y="1476"/>
              <a:ext cx="657" cy="405"/>
            </a:xfrm>
            <a:prstGeom prst="line">
              <a:avLst/>
            </a:prstGeom>
            <a:noFill/>
            <a:ln w="19050">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6666" name="Group 42"/>
          <p:cNvGrpSpPr/>
          <p:nvPr/>
        </p:nvGrpSpPr>
        <p:grpSpPr bwMode="auto">
          <a:xfrm>
            <a:off x="8035925" y="3513138"/>
            <a:ext cx="796925" cy="654050"/>
            <a:chOff x="5054" y="2205"/>
            <a:chExt cx="502" cy="412"/>
          </a:xfrm>
        </p:grpSpPr>
        <p:sp>
          <p:nvSpPr>
            <p:cNvPr id="26664" name="Text Box 40"/>
            <p:cNvSpPr txBox="1">
              <a:spLocks noChangeArrowheads="1"/>
            </p:cNvSpPr>
            <p:nvPr/>
          </p:nvSpPr>
          <p:spPr bwMode="auto">
            <a:xfrm>
              <a:off x="5054" y="2329"/>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rgbClr val="FF3300"/>
                  </a:solidFill>
                </a:rPr>
                <a:t>尖角</a:t>
              </a:r>
              <a:endParaRPr lang="zh-CN" altLang="en-US" b="1">
                <a:solidFill>
                  <a:srgbClr val="FF3300"/>
                </a:solidFill>
              </a:endParaRPr>
            </a:p>
          </p:txBody>
        </p:sp>
        <p:sp>
          <p:nvSpPr>
            <p:cNvPr id="26665" name="Line 41"/>
            <p:cNvSpPr>
              <a:spLocks noChangeShapeType="1"/>
            </p:cNvSpPr>
            <p:nvPr/>
          </p:nvSpPr>
          <p:spPr bwMode="auto">
            <a:xfrm>
              <a:off x="5157" y="2205"/>
              <a:ext cx="135" cy="189"/>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53"/>
                                        </p:tgtEl>
                                        <p:attrNameLst>
                                          <p:attrName>style.visibility</p:attrName>
                                        </p:attrNameLst>
                                      </p:cBhvr>
                                      <p:to>
                                        <p:strVal val="visible"/>
                                      </p:to>
                                    </p:set>
                                    <p:animEffect transition="in" filter="blinds(horizontal)">
                                      <p:cBhvr>
                                        <p:cTn id="7" dur="500"/>
                                        <p:tgtEl>
                                          <p:spTgt spid="26653"/>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6645"/>
                                        </p:tgtEl>
                                        <p:attrNameLst>
                                          <p:attrName>style.visibility</p:attrName>
                                        </p:attrNameLst>
                                      </p:cBhvr>
                                      <p:to>
                                        <p:strVal val="visible"/>
                                      </p:to>
                                    </p:set>
                                    <p:anim calcmode="lin" valueType="num">
                                      <p:cBhvr additive="base">
                                        <p:cTn id="11" dur="500" fill="hold"/>
                                        <p:tgtEl>
                                          <p:spTgt spid="26645"/>
                                        </p:tgtEl>
                                        <p:attrNameLst>
                                          <p:attrName>ppt_x</p:attrName>
                                        </p:attrNameLst>
                                      </p:cBhvr>
                                      <p:tavLst>
                                        <p:tav tm="0">
                                          <p:val>
                                            <p:strVal val="0-#ppt_w/2"/>
                                          </p:val>
                                        </p:tav>
                                        <p:tav tm="100000">
                                          <p:val>
                                            <p:strVal val="#ppt_x"/>
                                          </p:val>
                                        </p:tav>
                                      </p:tavLst>
                                    </p:anim>
                                    <p:anim calcmode="lin" valueType="num">
                                      <p:cBhvr additive="base">
                                        <p:cTn id="12" dur="500" fill="hold"/>
                                        <p:tgtEl>
                                          <p:spTgt spid="2664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663"/>
                                        </p:tgtEl>
                                        <p:attrNameLst>
                                          <p:attrName>style.visibility</p:attrName>
                                        </p:attrNameLst>
                                      </p:cBhvr>
                                      <p:to>
                                        <p:strVal val="visible"/>
                                      </p:to>
                                    </p:set>
                                    <p:animEffect transition="in" filter="wipe(up)">
                                      <p:cBhvr>
                                        <p:cTn id="17" dur="500"/>
                                        <p:tgtEl>
                                          <p:spTgt spid="266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6662"/>
                                        </p:tgtEl>
                                        <p:attrNameLst>
                                          <p:attrName>style.visibility</p:attrName>
                                        </p:attrNameLst>
                                      </p:cBhvr>
                                      <p:to>
                                        <p:strVal val="visible"/>
                                      </p:to>
                                    </p:set>
                                    <p:animEffect transition="in" filter="wipe(up)">
                                      <p:cBhvr>
                                        <p:cTn id="22" dur="500"/>
                                        <p:tgtEl>
                                          <p:spTgt spid="2666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26628"/>
                                        </p:tgtEl>
                                        <p:attrNameLst>
                                          <p:attrName>style.visibility</p:attrName>
                                        </p:attrNameLst>
                                      </p:cBhvr>
                                      <p:to>
                                        <p:strVal val="visible"/>
                                      </p:to>
                                    </p:set>
                                    <p:animEffect transition="in" filter="strips(upRight)">
                                      <p:cBhvr>
                                        <p:cTn id="27" dur="500"/>
                                        <p:tgtEl>
                                          <p:spTgt spid="2662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6657"/>
                                        </p:tgtEl>
                                        <p:attrNameLst>
                                          <p:attrName>style.visibility</p:attrName>
                                        </p:attrNameLst>
                                      </p:cBhvr>
                                      <p:to>
                                        <p:strVal val="visible"/>
                                      </p:to>
                                    </p:set>
                                    <p:animEffect transition="in" filter="dissolve">
                                      <p:cBhvr>
                                        <p:cTn id="32" dur="500"/>
                                        <p:tgtEl>
                                          <p:spTgt spid="2665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6637"/>
                                        </p:tgtEl>
                                        <p:attrNameLst>
                                          <p:attrName>style.visibility</p:attrName>
                                        </p:attrNameLst>
                                      </p:cBhvr>
                                      <p:to>
                                        <p:strVal val="visible"/>
                                      </p:to>
                                    </p:set>
                                    <p:animEffect transition="in" filter="box(in)">
                                      <p:cBhvr>
                                        <p:cTn id="37" dur="500"/>
                                        <p:tgtEl>
                                          <p:spTgt spid="2663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6640"/>
                                        </p:tgtEl>
                                        <p:attrNameLst>
                                          <p:attrName>style.visibility</p:attrName>
                                        </p:attrNameLst>
                                      </p:cBhvr>
                                      <p:to>
                                        <p:strVal val="visible"/>
                                      </p:to>
                                    </p:set>
                                    <p:animEffect transition="in" filter="wipe(up)">
                                      <p:cBhvr>
                                        <p:cTn id="42" dur="500"/>
                                        <p:tgtEl>
                                          <p:spTgt spid="2664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6666"/>
                                        </p:tgtEl>
                                        <p:attrNameLst>
                                          <p:attrName>style.visibility</p:attrName>
                                        </p:attrNameLst>
                                      </p:cBhvr>
                                      <p:to>
                                        <p:strVal val="visible"/>
                                      </p:to>
                                    </p:set>
                                    <p:animEffect transition="in" filter="wipe(down)">
                                      <p:cBhvr>
                                        <p:cTn id="47" dur="500"/>
                                        <p:tgtEl>
                                          <p:spTgt spid="26666"/>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grpId="0" nodeType="clickEffect">
                                  <p:stCondLst>
                                    <p:cond delay="0"/>
                                  </p:stCondLst>
                                  <p:childTnLst>
                                    <p:set>
                                      <p:cBhvr>
                                        <p:cTn id="51" dur="1" fill="hold">
                                          <p:stCondLst>
                                            <p:cond delay="0"/>
                                          </p:stCondLst>
                                        </p:cTn>
                                        <p:tgtEl>
                                          <p:spTgt spid="26629"/>
                                        </p:tgtEl>
                                        <p:attrNameLst>
                                          <p:attrName>style.visibility</p:attrName>
                                        </p:attrNameLst>
                                      </p:cBhvr>
                                      <p:to>
                                        <p:strVal val="visible"/>
                                      </p:to>
                                    </p:set>
                                    <p:animEffect transition="in" filter="slide(fromLeft)">
                                      <p:cBhvr>
                                        <p:cTn id="52" dur="500"/>
                                        <p:tgtEl>
                                          <p:spTgt spid="2662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5" fill="hold" nodeType="clickEffect">
                                  <p:stCondLst>
                                    <p:cond delay="0"/>
                                  </p:stCondLst>
                                  <p:childTnLst>
                                    <p:set>
                                      <p:cBhvr>
                                        <p:cTn id="56" dur="1" fill="hold">
                                          <p:stCondLst>
                                            <p:cond delay="0"/>
                                          </p:stCondLst>
                                        </p:cTn>
                                        <p:tgtEl>
                                          <p:spTgt spid="26626"/>
                                        </p:tgtEl>
                                        <p:attrNameLst>
                                          <p:attrName>style.visibility</p:attrName>
                                        </p:attrNameLst>
                                      </p:cBhvr>
                                      <p:to>
                                        <p:strVal val="visible"/>
                                      </p:to>
                                    </p:set>
                                    <p:animEffect transition="in" filter="blinds(vertical)">
                                      <p:cBhvr>
                                        <p:cTn id="57" dur="500"/>
                                        <p:tgtEl>
                                          <p:spTgt spid="26626"/>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grpId="0" nodeType="clickEffect">
                                  <p:stCondLst>
                                    <p:cond delay="0"/>
                                  </p:stCondLst>
                                  <p:childTnLst>
                                    <p:set>
                                      <p:cBhvr>
                                        <p:cTn id="61" dur="1" fill="hold">
                                          <p:stCondLst>
                                            <p:cond delay="0"/>
                                          </p:stCondLst>
                                        </p:cTn>
                                        <p:tgtEl>
                                          <p:spTgt spid="26630"/>
                                        </p:tgtEl>
                                        <p:attrNameLst>
                                          <p:attrName>style.visibility</p:attrName>
                                        </p:attrNameLst>
                                      </p:cBhvr>
                                      <p:to>
                                        <p:strVal val="visible"/>
                                      </p:to>
                                    </p:set>
                                    <p:animEffect transition="in" filter="slide(fromLeft)">
                                      <p:cBhvr>
                                        <p:cTn id="62" dur="500"/>
                                        <p:tgtEl>
                                          <p:spTgt spid="2663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6667"/>
                                        </p:tgtEl>
                                        <p:attrNameLst>
                                          <p:attrName>style.visibility</p:attrName>
                                        </p:attrNameLst>
                                      </p:cBhvr>
                                      <p:to>
                                        <p:strVal val="visible"/>
                                      </p:to>
                                    </p:set>
                                    <p:animEffect transition="in" filter="wipe(left)">
                                      <p:cBhvr>
                                        <p:cTn id="67" dur="500"/>
                                        <p:tgtEl>
                                          <p:spTgt spid="2666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6668"/>
                                        </p:tgtEl>
                                        <p:attrNameLst>
                                          <p:attrName>style.visibility</p:attrName>
                                        </p:attrNameLst>
                                      </p:cBhvr>
                                      <p:to>
                                        <p:strVal val="visible"/>
                                      </p:to>
                                    </p:set>
                                    <p:animEffect transition="in" filter="wipe(left)">
                                      <p:cBhvr>
                                        <p:cTn id="72" dur="500"/>
                                        <p:tgtEl>
                                          <p:spTgt spid="26668"/>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26631"/>
                                        </p:tgtEl>
                                        <p:attrNameLst>
                                          <p:attrName>style.visibility</p:attrName>
                                        </p:attrNameLst>
                                      </p:cBhvr>
                                      <p:to>
                                        <p:strVal val="visible"/>
                                      </p:to>
                                    </p:set>
                                    <p:animEffect transition="in" filter="slide(fromBottom)">
                                      <p:cBhvr>
                                        <p:cTn id="77" dur="500"/>
                                        <p:tgtEl>
                                          <p:spTgt spid="26631"/>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2" fill="hold" grpId="0" nodeType="clickEffect">
                                  <p:stCondLst>
                                    <p:cond delay="0"/>
                                  </p:stCondLst>
                                  <p:childTnLst>
                                    <p:set>
                                      <p:cBhvr>
                                        <p:cTn id="81" dur="1" fill="hold">
                                          <p:stCondLst>
                                            <p:cond delay="0"/>
                                          </p:stCondLst>
                                        </p:cTn>
                                        <p:tgtEl>
                                          <p:spTgt spid="26632"/>
                                        </p:tgtEl>
                                        <p:attrNameLst>
                                          <p:attrName>style.visibility</p:attrName>
                                        </p:attrNameLst>
                                      </p:cBhvr>
                                      <p:to>
                                        <p:strVal val="visible"/>
                                      </p:to>
                                    </p:set>
                                    <p:animEffect transition="in" filter="slide(fromRight)">
                                      <p:cBhvr>
                                        <p:cTn id="82" dur="500"/>
                                        <p:tgtEl>
                                          <p:spTgt spid="26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utoUpdateAnimBg="0"/>
      <p:bldP spid="26629" grpId="0" autoUpdateAnimBg="0"/>
      <p:bldP spid="26630" grpId="0" autoUpdateAnimBg="0"/>
      <p:bldP spid="26631" grpId="0" autoUpdateAnimBg="0"/>
      <p:bldP spid="26632" grpId="0" autoUpdateAnimBg="0"/>
      <p:bldP spid="2664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488950" y="792163"/>
            <a:ext cx="19446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sz="3200" b="1">
                <a:solidFill>
                  <a:srgbClr val="FF3300"/>
                </a:solidFill>
                <a:latin typeface="宋体" panose="02010600030101010101" pitchFamily="2" charset="-122"/>
              </a:rPr>
              <a:t>1</a:t>
            </a:r>
            <a:r>
              <a:rPr lang="zh-CN" altLang="en-US" sz="3200" b="1">
                <a:solidFill>
                  <a:srgbClr val="FF3300"/>
                </a:solidFill>
                <a:latin typeface="宋体" panose="02010600030101010101" pitchFamily="2" charset="-122"/>
              </a:rPr>
              <a:t>）倒角</a:t>
            </a:r>
            <a:endParaRPr lang="zh-CN" altLang="en-US" sz="3200" b="1">
              <a:solidFill>
                <a:srgbClr val="FF3300"/>
              </a:solidFill>
              <a:latin typeface="宋体" panose="02010600030101010101" pitchFamily="2" charset="-122"/>
            </a:endParaRPr>
          </a:p>
        </p:txBody>
      </p:sp>
      <p:sp>
        <p:nvSpPr>
          <p:cNvPr id="27651" name="Text Box 3"/>
          <p:cNvSpPr txBox="1">
            <a:spLocks noChangeArrowheads="1"/>
          </p:cNvSpPr>
          <p:nvPr/>
        </p:nvSpPr>
        <p:spPr bwMode="auto">
          <a:xfrm>
            <a:off x="2455863" y="1816100"/>
            <a:ext cx="4924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通常在轴端及孔口倒角。</a:t>
            </a:r>
            <a:endParaRPr lang="zh-CN" altLang="en-US" sz="3200" b="1">
              <a:latin typeface="宋体" panose="02010600030101010101" pitchFamily="2" charset="-122"/>
            </a:endParaRPr>
          </a:p>
        </p:txBody>
      </p:sp>
      <p:sp>
        <p:nvSpPr>
          <p:cNvPr id="27652" name="Text Box 4"/>
          <p:cNvSpPr txBox="1">
            <a:spLocks noChangeArrowheads="1"/>
          </p:cNvSpPr>
          <p:nvPr/>
        </p:nvSpPr>
        <p:spPr bwMode="auto">
          <a:xfrm>
            <a:off x="1252538" y="1338263"/>
            <a:ext cx="546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hangingPunct="0"/>
            <a:r>
              <a:rPr lang="zh-CN" altLang="en-US" sz="3200" b="1">
                <a:latin typeface="宋体" panose="02010600030101010101" pitchFamily="2" charset="-122"/>
              </a:rPr>
              <a:t>作用：便于装配和操作安全。</a:t>
            </a:r>
            <a:endParaRPr lang="zh-CN" altLang="en-US" sz="3200" b="1">
              <a:latin typeface="宋体" panose="02010600030101010101" pitchFamily="2" charset="-122"/>
            </a:endParaRPr>
          </a:p>
        </p:txBody>
      </p:sp>
      <p:sp>
        <p:nvSpPr>
          <p:cNvPr id="27653" name="Rectangle 5"/>
          <p:cNvSpPr>
            <a:spLocks noChangeArrowheads="1"/>
          </p:cNvSpPr>
          <p:nvPr/>
        </p:nvSpPr>
        <p:spPr bwMode="auto">
          <a:xfrm>
            <a:off x="339725" y="188913"/>
            <a:ext cx="78390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600" b="1">
                <a:solidFill>
                  <a:schemeClr val="accent2"/>
                </a:solidFill>
                <a:latin typeface="宋体" panose="02010600030101010101" pitchFamily="2" charset="-122"/>
                <a:sym typeface="Monotype Sorts" panose="05000000000000000000" pitchFamily="2" charset="2"/>
              </a:rPr>
              <a:t>2. </a:t>
            </a:r>
            <a:r>
              <a:rPr lang="zh-CN" altLang="en-US" sz="3600" b="1">
                <a:solidFill>
                  <a:schemeClr val="accent2"/>
                </a:solidFill>
                <a:latin typeface="宋体" panose="02010600030101010101" pitchFamily="2" charset="-122"/>
                <a:sym typeface="Monotype Sorts" panose="05000000000000000000" pitchFamily="2" charset="2"/>
              </a:rPr>
              <a:t>零件的切削工艺结构</a:t>
            </a:r>
            <a:endParaRPr lang="zh-CN" altLang="en-US" sz="3600" b="1">
              <a:solidFill>
                <a:schemeClr val="accent2"/>
              </a:solidFill>
              <a:latin typeface="宋体" panose="02010600030101010101" pitchFamily="2" charset="-122"/>
              <a:sym typeface="Monotype Sorts" panose="05000000000000000000" pitchFamily="2" charset="2"/>
            </a:endParaRPr>
          </a:p>
        </p:txBody>
      </p:sp>
      <p:sp>
        <p:nvSpPr>
          <p:cNvPr id="27694" name="Text Box 46"/>
          <p:cNvSpPr txBox="1">
            <a:spLocks noChangeArrowheads="1"/>
          </p:cNvSpPr>
          <p:nvPr/>
        </p:nvSpPr>
        <p:spPr bwMode="auto">
          <a:xfrm>
            <a:off x="1433513" y="4711700"/>
            <a:ext cx="69167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hangingPunct="0"/>
            <a:r>
              <a:rPr lang="zh-CN" altLang="en-US" sz="3200" b="1">
                <a:solidFill>
                  <a:srgbClr val="FF3300"/>
                </a:solidFill>
                <a:latin typeface="宋体" panose="02010600030101010101" pitchFamily="2" charset="-122"/>
              </a:rPr>
              <a:t>倒角宽度</a:t>
            </a:r>
            <a:r>
              <a:rPr lang="en-US" altLang="zh-CN" sz="3200" b="1" i="1">
                <a:solidFill>
                  <a:srgbClr val="FF3300"/>
                </a:solidFill>
                <a:latin typeface="宋体" panose="02010600030101010101" pitchFamily="2" charset="-122"/>
              </a:rPr>
              <a:t>b</a:t>
            </a:r>
            <a:r>
              <a:rPr lang="zh-CN" altLang="en-US" sz="3200" b="1">
                <a:solidFill>
                  <a:schemeClr val="accent2"/>
                </a:solidFill>
                <a:latin typeface="宋体" panose="02010600030101010101" pitchFamily="2" charset="-122"/>
              </a:rPr>
              <a:t>按轴（孔）径查标准确定。</a:t>
            </a:r>
            <a:endParaRPr lang="zh-CN" altLang="en-US" sz="3200" b="1">
              <a:solidFill>
                <a:schemeClr val="accent2"/>
              </a:solidFill>
              <a:latin typeface="宋体" panose="02010600030101010101" pitchFamily="2" charset="-122"/>
            </a:endParaRPr>
          </a:p>
        </p:txBody>
      </p:sp>
      <p:sp>
        <p:nvSpPr>
          <p:cNvPr id="27695" name="Text Box 47"/>
          <p:cNvSpPr txBox="1">
            <a:spLocks noChangeArrowheads="1"/>
          </p:cNvSpPr>
          <p:nvPr/>
        </p:nvSpPr>
        <p:spPr bwMode="auto">
          <a:xfrm>
            <a:off x="1668463" y="5321300"/>
            <a:ext cx="55641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3200" b="1" i="1">
                <a:solidFill>
                  <a:schemeClr val="accent2"/>
                </a:solidFill>
                <a:latin typeface="宋体" panose="02010600030101010101" pitchFamily="2" charset="-122"/>
                <a:sym typeface="Symbol" panose="05050102010706020507" pitchFamily="18" charset="2"/>
              </a:rPr>
              <a:t></a:t>
            </a:r>
            <a:r>
              <a:rPr lang="en-US" altLang="zh-CN" sz="3200" b="1">
                <a:solidFill>
                  <a:schemeClr val="accent2"/>
                </a:solidFill>
              </a:rPr>
              <a:t>=45°</a:t>
            </a:r>
            <a:r>
              <a:rPr lang="zh-CN" altLang="en-US" sz="3200" b="1">
                <a:solidFill>
                  <a:schemeClr val="accent2"/>
                </a:solidFill>
              </a:rPr>
              <a:t>，也可取</a:t>
            </a:r>
            <a:r>
              <a:rPr lang="en-US" altLang="zh-CN" sz="3200" b="1">
                <a:solidFill>
                  <a:schemeClr val="accent2"/>
                </a:solidFill>
              </a:rPr>
              <a:t>30°</a:t>
            </a:r>
            <a:r>
              <a:rPr lang="zh-CN" altLang="en-US" sz="3200" b="1">
                <a:solidFill>
                  <a:schemeClr val="accent2"/>
                </a:solidFill>
              </a:rPr>
              <a:t>或</a:t>
            </a:r>
            <a:r>
              <a:rPr lang="en-US" altLang="zh-CN" sz="3200" b="1">
                <a:solidFill>
                  <a:schemeClr val="accent2"/>
                </a:solidFill>
              </a:rPr>
              <a:t>60°</a:t>
            </a:r>
            <a:r>
              <a:rPr lang="zh-CN" altLang="en-US" sz="3200" b="1">
                <a:solidFill>
                  <a:schemeClr val="accent2"/>
                </a:solidFill>
              </a:rPr>
              <a:t>。</a:t>
            </a:r>
            <a:endParaRPr lang="zh-CN" altLang="en-US" sz="3200" b="1">
              <a:solidFill>
                <a:schemeClr val="accent2"/>
              </a:solidFill>
            </a:endParaRPr>
          </a:p>
        </p:txBody>
      </p:sp>
      <p:grpSp>
        <p:nvGrpSpPr>
          <p:cNvPr id="27718" name="Group 70"/>
          <p:cNvGrpSpPr/>
          <p:nvPr/>
        </p:nvGrpSpPr>
        <p:grpSpPr bwMode="auto">
          <a:xfrm>
            <a:off x="2439988" y="2363788"/>
            <a:ext cx="4010025" cy="2200275"/>
            <a:chOff x="1537" y="1489"/>
            <a:chExt cx="2526" cy="1386"/>
          </a:xfrm>
        </p:grpSpPr>
        <p:grpSp>
          <p:nvGrpSpPr>
            <p:cNvPr id="27717" name="Group 69"/>
            <p:cNvGrpSpPr/>
            <p:nvPr/>
          </p:nvGrpSpPr>
          <p:grpSpPr bwMode="auto">
            <a:xfrm>
              <a:off x="1537" y="1489"/>
              <a:ext cx="907" cy="1223"/>
              <a:chOff x="1537" y="1489"/>
              <a:chExt cx="907" cy="1223"/>
            </a:xfrm>
          </p:grpSpPr>
          <p:sp>
            <p:nvSpPr>
              <p:cNvPr id="27655" name="Text Box 7"/>
              <p:cNvSpPr txBox="1">
                <a:spLocks noChangeArrowheads="1"/>
              </p:cNvSpPr>
              <p:nvPr/>
            </p:nvSpPr>
            <p:spPr bwMode="auto">
              <a:xfrm>
                <a:off x="1946" y="1489"/>
                <a:ext cx="27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3200" b="1" i="1">
                    <a:solidFill>
                      <a:srgbClr val="FF3300"/>
                    </a:solidFill>
                    <a:latin typeface="宋体" panose="02010600030101010101" pitchFamily="2" charset="-122"/>
                    <a:sym typeface="Symbol" panose="05050102010706020507" pitchFamily="18" charset="2"/>
                  </a:rPr>
                  <a:t></a:t>
                </a:r>
                <a:endParaRPr lang="en-US" altLang="zh-CN" sz="3200" b="1" i="1">
                  <a:solidFill>
                    <a:srgbClr val="FF3300"/>
                  </a:solidFill>
                  <a:latin typeface="宋体" panose="02010600030101010101" pitchFamily="2" charset="-122"/>
                  <a:sym typeface="Symbol" panose="05050102010706020507" pitchFamily="18" charset="2"/>
                </a:endParaRPr>
              </a:p>
            </p:txBody>
          </p:sp>
          <p:sp>
            <p:nvSpPr>
              <p:cNvPr id="27657" name="Text Box 9"/>
              <p:cNvSpPr txBox="1">
                <a:spLocks noChangeArrowheads="1"/>
              </p:cNvSpPr>
              <p:nvPr/>
            </p:nvSpPr>
            <p:spPr bwMode="auto">
              <a:xfrm>
                <a:off x="1655" y="1532"/>
                <a:ext cx="4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spcBef>
                    <a:spcPct val="50000"/>
                  </a:spcBef>
                </a:pPr>
                <a:r>
                  <a:rPr lang="en-US" altLang="zh-CN" sz="2800" b="1" i="1">
                    <a:solidFill>
                      <a:srgbClr val="FF3300"/>
                    </a:solidFill>
                    <a:latin typeface="ISOCPEUR" panose="020B0604020202020204" pitchFamily="34" charset="0"/>
                  </a:rPr>
                  <a:t>b</a:t>
                </a:r>
                <a:r>
                  <a:rPr lang="en-US" altLang="zh-CN" b="1" i="1">
                    <a:solidFill>
                      <a:srgbClr val="FF3300"/>
                    </a:solidFill>
                  </a:rPr>
                  <a:t>×</a:t>
                </a:r>
                <a:endParaRPr lang="en-US" altLang="zh-CN" sz="2800" b="1" i="1">
                  <a:solidFill>
                    <a:srgbClr val="FF3300"/>
                  </a:solidFill>
                  <a:latin typeface="ISOCP" panose="00000400000000000000" pitchFamily="2" charset="0"/>
                </a:endParaRPr>
              </a:p>
            </p:txBody>
          </p:sp>
          <p:sp>
            <p:nvSpPr>
              <p:cNvPr id="27658" name="Line 10"/>
              <p:cNvSpPr>
                <a:spLocks noChangeShapeType="1"/>
              </p:cNvSpPr>
              <p:nvPr/>
            </p:nvSpPr>
            <p:spPr bwMode="auto">
              <a:xfrm flipH="1" flipV="1">
                <a:off x="2125" y="1799"/>
                <a:ext cx="192" cy="1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59" name="Line 11"/>
              <p:cNvSpPr>
                <a:spLocks noChangeShapeType="1"/>
              </p:cNvSpPr>
              <p:nvPr/>
            </p:nvSpPr>
            <p:spPr bwMode="auto">
              <a:xfrm>
                <a:off x="1677" y="1799"/>
                <a:ext cx="453"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0" name="Line 12"/>
              <p:cNvSpPr>
                <a:spLocks noChangeShapeType="1"/>
              </p:cNvSpPr>
              <p:nvPr/>
            </p:nvSpPr>
            <p:spPr bwMode="auto">
              <a:xfrm>
                <a:off x="1537" y="2356"/>
                <a:ext cx="907"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1" name="Line 13"/>
              <p:cNvSpPr>
                <a:spLocks noChangeShapeType="1"/>
              </p:cNvSpPr>
              <p:nvPr/>
            </p:nvSpPr>
            <p:spPr bwMode="auto">
              <a:xfrm>
                <a:off x="1682" y="1979"/>
                <a:ext cx="62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2" name="Line 14"/>
              <p:cNvSpPr>
                <a:spLocks noChangeShapeType="1"/>
              </p:cNvSpPr>
              <p:nvPr/>
            </p:nvSpPr>
            <p:spPr bwMode="auto">
              <a:xfrm>
                <a:off x="2299" y="1987"/>
                <a:ext cx="0" cy="70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3" name="Line 15"/>
              <p:cNvSpPr>
                <a:spLocks noChangeShapeType="1"/>
              </p:cNvSpPr>
              <p:nvPr/>
            </p:nvSpPr>
            <p:spPr bwMode="auto">
              <a:xfrm flipH="1">
                <a:off x="1629" y="2705"/>
                <a:ext cx="67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4" name="Line 16"/>
              <p:cNvSpPr>
                <a:spLocks noChangeShapeType="1"/>
              </p:cNvSpPr>
              <p:nvPr/>
            </p:nvSpPr>
            <p:spPr bwMode="auto">
              <a:xfrm>
                <a:off x="2299" y="1972"/>
                <a:ext cx="60" cy="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5" name="Line 17"/>
              <p:cNvSpPr>
                <a:spLocks noChangeShapeType="1"/>
              </p:cNvSpPr>
              <p:nvPr/>
            </p:nvSpPr>
            <p:spPr bwMode="auto">
              <a:xfrm>
                <a:off x="2359" y="2028"/>
                <a:ext cx="0" cy="62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6" name="Line 18"/>
              <p:cNvSpPr>
                <a:spLocks noChangeShapeType="1"/>
              </p:cNvSpPr>
              <p:nvPr/>
            </p:nvSpPr>
            <p:spPr bwMode="auto">
              <a:xfrm flipH="1">
                <a:off x="2287" y="2638"/>
                <a:ext cx="72" cy="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7" name="Freeform 19"/>
              <p:cNvSpPr/>
              <p:nvPr/>
            </p:nvSpPr>
            <p:spPr bwMode="auto">
              <a:xfrm>
                <a:off x="1606" y="1974"/>
                <a:ext cx="76" cy="738"/>
              </a:xfrm>
              <a:custGeom>
                <a:avLst/>
                <a:gdLst>
                  <a:gd name="T0" fmla="*/ 70 w 70"/>
                  <a:gd name="T1" fmla="*/ 0 h 715"/>
                  <a:gd name="T2" fmla="*/ 25 w 70"/>
                  <a:gd name="T3" fmla="*/ 113 h 715"/>
                  <a:gd name="T4" fmla="*/ 36 w 70"/>
                  <a:gd name="T5" fmla="*/ 209 h 715"/>
                  <a:gd name="T6" fmla="*/ 3 w 70"/>
                  <a:gd name="T7" fmla="*/ 329 h 715"/>
                  <a:gd name="T8" fmla="*/ 18 w 70"/>
                  <a:gd name="T9" fmla="*/ 458 h 715"/>
                  <a:gd name="T10" fmla="*/ 2 w 70"/>
                  <a:gd name="T11" fmla="*/ 548 h 715"/>
                  <a:gd name="T12" fmla="*/ 19 w 70"/>
                  <a:gd name="T13" fmla="*/ 715 h 715"/>
                </a:gdLst>
                <a:ahLst/>
                <a:cxnLst>
                  <a:cxn ang="0">
                    <a:pos x="T0" y="T1"/>
                  </a:cxn>
                  <a:cxn ang="0">
                    <a:pos x="T2" y="T3"/>
                  </a:cxn>
                  <a:cxn ang="0">
                    <a:pos x="T4" y="T5"/>
                  </a:cxn>
                  <a:cxn ang="0">
                    <a:pos x="T6" y="T7"/>
                  </a:cxn>
                  <a:cxn ang="0">
                    <a:pos x="T8" y="T9"/>
                  </a:cxn>
                  <a:cxn ang="0">
                    <a:pos x="T10" y="T11"/>
                  </a:cxn>
                  <a:cxn ang="0">
                    <a:pos x="T12" y="T13"/>
                  </a:cxn>
                </a:cxnLst>
                <a:rect l="0" t="0" r="r" b="b"/>
                <a:pathLst>
                  <a:path w="70" h="715">
                    <a:moveTo>
                      <a:pt x="70" y="0"/>
                    </a:moveTo>
                    <a:cubicBezTo>
                      <a:pt x="63" y="18"/>
                      <a:pt x="31" y="78"/>
                      <a:pt x="25" y="113"/>
                    </a:cubicBezTo>
                    <a:cubicBezTo>
                      <a:pt x="19" y="148"/>
                      <a:pt x="40" y="173"/>
                      <a:pt x="36" y="209"/>
                    </a:cubicBezTo>
                    <a:cubicBezTo>
                      <a:pt x="33" y="245"/>
                      <a:pt x="6" y="288"/>
                      <a:pt x="3" y="329"/>
                    </a:cubicBezTo>
                    <a:cubicBezTo>
                      <a:pt x="0" y="370"/>
                      <a:pt x="18" y="422"/>
                      <a:pt x="18" y="458"/>
                    </a:cubicBezTo>
                    <a:cubicBezTo>
                      <a:pt x="18" y="494"/>
                      <a:pt x="2" y="505"/>
                      <a:pt x="2" y="548"/>
                    </a:cubicBezTo>
                    <a:cubicBezTo>
                      <a:pt x="2" y="591"/>
                      <a:pt x="16" y="680"/>
                      <a:pt x="19" y="715"/>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7715" name="Group 67"/>
            <p:cNvGrpSpPr/>
            <p:nvPr/>
          </p:nvGrpSpPr>
          <p:grpSpPr bwMode="auto">
            <a:xfrm>
              <a:off x="2707" y="1721"/>
              <a:ext cx="1356" cy="1154"/>
              <a:chOff x="2707" y="1601"/>
              <a:chExt cx="1356" cy="1154"/>
            </a:xfrm>
          </p:grpSpPr>
          <p:sp>
            <p:nvSpPr>
              <p:cNvPr id="27668" name="Line 20"/>
              <p:cNvSpPr>
                <a:spLocks noChangeShapeType="1"/>
              </p:cNvSpPr>
              <p:nvPr/>
            </p:nvSpPr>
            <p:spPr bwMode="auto">
              <a:xfrm>
                <a:off x="3091" y="2105"/>
                <a:ext cx="972"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69" name="Line 21"/>
              <p:cNvSpPr>
                <a:spLocks noChangeShapeType="1"/>
              </p:cNvSpPr>
              <p:nvPr/>
            </p:nvSpPr>
            <p:spPr bwMode="auto">
              <a:xfrm>
                <a:off x="3187" y="1601"/>
                <a:ext cx="0" cy="102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0" name="Line 22"/>
              <p:cNvSpPr>
                <a:spLocks noChangeShapeType="1"/>
              </p:cNvSpPr>
              <p:nvPr/>
            </p:nvSpPr>
            <p:spPr bwMode="auto">
              <a:xfrm>
                <a:off x="3955" y="1613"/>
                <a:ext cx="0" cy="103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1" name="Line 23"/>
              <p:cNvSpPr>
                <a:spLocks noChangeShapeType="1"/>
              </p:cNvSpPr>
              <p:nvPr/>
            </p:nvSpPr>
            <p:spPr bwMode="auto">
              <a:xfrm>
                <a:off x="3259" y="1769"/>
                <a:ext cx="64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2" name="Line 24"/>
              <p:cNvSpPr>
                <a:spLocks noChangeShapeType="1"/>
              </p:cNvSpPr>
              <p:nvPr/>
            </p:nvSpPr>
            <p:spPr bwMode="auto">
              <a:xfrm>
                <a:off x="3247" y="2465"/>
                <a:ext cx="66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3" name="Line 25"/>
              <p:cNvSpPr>
                <a:spLocks noChangeShapeType="1"/>
              </p:cNvSpPr>
              <p:nvPr/>
            </p:nvSpPr>
            <p:spPr bwMode="auto">
              <a:xfrm>
                <a:off x="3247" y="1769"/>
                <a:ext cx="0" cy="69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4" name="Line 26"/>
              <p:cNvSpPr>
                <a:spLocks noChangeShapeType="1"/>
              </p:cNvSpPr>
              <p:nvPr/>
            </p:nvSpPr>
            <p:spPr bwMode="auto">
              <a:xfrm>
                <a:off x="3895" y="1769"/>
                <a:ext cx="0" cy="69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5" name="Line 27"/>
              <p:cNvSpPr>
                <a:spLocks noChangeShapeType="1"/>
              </p:cNvSpPr>
              <p:nvPr/>
            </p:nvSpPr>
            <p:spPr bwMode="auto">
              <a:xfrm flipH="1" flipV="1">
                <a:off x="3187" y="1709"/>
                <a:ext cx="60" cy="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6" name="Line 28"/>
              <p:cNvSpPr>
                <a:spLocks noChangeShapeType="1"/>
              </p:cNvSpPr>
              <p:nvPr/>
            </p:nvSpPr>
            <p:spPr bwMode="auto">
              <a:xfrm flipH="1">
                <a:off x="3187" y="2465"/>
                <a:ext cx="60" cy="6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7" name="Line 29"/>
              <p:cNvSpPr>
                <a:spLocks noChangeShapeType="1"/>
              </p:cNvSpPr>
              <p:nvPr/>
            </p:nvSpPr>
            <p:spPr bwMode="auto">
              <a:xfrm flipV="1">
                <a:off x="3895" y="1709"/>
                <a:ext cx="60" cy="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78" name="Line 30"/>
              <p:cNvSpPr>
                <a:spLocks noChangeShapeType="1"/>
              </p:cNvSpPr>
              <p:nvPr/>
            </p:nvSpPr>
            <p:spPr bwMode="auto">
              <a:xfrm>
                <a:off x="3895" y="2465"/>
                <a:ext cx="60" cy="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0" name="Line 32"/>
              <p:cNvSpPr>
                <a:spLocks noChangeShapeType="1"/>
              </p:cNvSpPr>
              <p:nvPr/>
            </p:nvSpPr>
            <p:spPr bwMode="auto">
              <a:xfrm flipV="1">
                <a:off x="3271" y="1625"/>
                <a:ext cx="132" cy="13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1" name="Line 33"/>
              <p:cNvSpPr>
                <a:spLocks noChangeShapeType="1"/>
              </p:cNvSpPr>
              <p:nvPr/>
            </p:nvSpPr>
            <p:spPr bwMode="auto">
              <a:xfrm flipV="1">
                <a:off x="3463" y="1613"/>
                <a:ext cx="156" cy="15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2" name="Line 34"/>
              <p:cNvSpPr>
                <a:spLocks noChangeShapeType="1"/>
              </p:cNvSpPr>
              <p:nvPr/>
            </p:nvSpPr>
            <p:spPr bwMode="auto">
              <a:xfrm flipV="1">
                <a:off x="3679" y="1625"/>
                <a:ext cx="144" cy="14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3" name="Line 35"/>
              <p:cNvSpPr>
                <a:spLocks noChangeShapeType="1"/>
              </p:cNvSpPr>
              <p:nvPr/>
            </p:nvSpPr>
            <p:spPr bwMode="auto">
              <a:xfrm flipV="1">
                <a:off x="3295" y="2465"/>
                <a:ext cx="156" cy="15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4" name="Line 36"/>
              <p:cNvSpPr>
                <a:spLocks noChangeShapeType="1"/>
              </p:cNvSpPr>
              <p:nvPr/>
            </p:nvSpPr>
            <p:spPr bwMode="auto">
              <a:xfrm flipV="1">
                <a:off x="3511" y="2453"/>
                <a:ext cx="168" cy="16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5" name="Line 37"/>
              <p:cNvSpPr>
                <a:spLocks noChangeShapeType="1"/>
              </p:cNvSpPr>
              <p:nvPr/>
            </p:nvSpPr>
            <p:spPr bwMode="auto">
              <a:xfrm flipV="1">
                <a:off x="3727" y="2471"/>
                <a:ext cx="156" cy="15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6" name="Line 38"/>
              <p:cNvSpPr>
                <a:spLocks noChangeShapeType="1"/>
              </p:cNvSpPr>
              <p:nvPr/>
            </p:nvSpPr>
            <p:spPr bwMode="auto">
              <a:xfrm>
                <a:off x="2927" y="1925"/>
                <a:ext cx="262" cy="0"/>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7" name="Text Box 39"/>
              <p:cNvSpPr txBox="1">
                <a:spLocks noChangeArrowheads="1"/>
              </p:cNvSpPr>
              <p:nvPr/>
            </p:nvSpPr>
            <p:spPr bwMode="auto">
              <a:xfrm>
                <a:off x="2933" y="1666"/>
                <a:ext cx="2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2800" b="1" i="1">
                    <a:solidFill>
                      <a:srgbClr val="FF3300"/>
                    </a:solidFill>
                    <a:latin typeface="ISOCPEUR" panose="020B0604020202020204" pitchFamily="34" charset="0"/>
                  </a:rPr>
                  <a:t>b</a:t>
                </a:r>
                <a:endParaRPr lang="en-US" altLang="zh-CN" b="1" i="1">
                  <a:solidFill>
                    <a:srgbClr val="FF3300"/>
                  </a:solidFill>
                  <a:latin typeface="ISOCPEUR" panose="020B0604020202020204" pitchFamily="34" charset="0"/>
                </a:endParaRPr>
              </a:p>
            </p:txBody>
          </p:sp>
          <p:sp>
            <p:nvSpPr>
              <p:cNvPr id="27688" name="Line 40"/>
              <p:cNvSpPr>
                <a:spLocks noChangeShapeType="1"/>
              </p:cNvSpPr>
              <p:nvPr/>
            </p:nvSpPr>
            <p:spPr bwMode="auto">
              <a:xfrm flipH="1">
                <a:off x="2971" y="2501"/>
                <a:ext cx="228" cy="22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89" name="Line 41"/>
              <p:cNvSpPr>
                <a:spLocks noChangeShapeType="1"/>
              </p:cNvSpPr>
              <p:nvPr/>
            </p:nvSpPr>
            <p:spPr bwMode="auto">
              <a:xfrm flipH="1">
                <a:off x="2887" y="2465"/>
                <a:ext cx="36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0" name="Arc 42"/>
              <p:cNvSpPr/>
              <p:nvPr/>
            </p:nvSpPr>
            <p:spPr bwMode="auto">
              <a:xfrm rot="-10208021">
                <a:off x="2926" y="2313"/>
                <a:ext cx="544" cy="398"/>
              </a:xfrm>
              <a:custGeom>
                <a:avLst/>
                <a:gdLst>
                  <a:gd name="G0" fmla="+- 0 0 0"/>
                  <a:gd name="G1" fmla="+- 14930 0 0"/>
                  <a:gd name="G2" fmla="+- 21600 0 0"/>
                  <a:gd name="T0" fmla="*/ 15610 w 20410"/>
                  <a:gd name="T1" fmla="*/ 0 h 14930"/>
                  <a:gd name="T2" fmla="*/ 20410 w 20410"/>
                  <a:gd name="T3" fmla="*/ 7861 h 14930"/>
                  <a:gd name="T4" fmla="*/ 0 w 20410"/>
                  <a:gd name="T5" fmla="*/ 14930 h 14930"/>
                </a:gdLst>
                <a:ahLst/>
                <a:cxnLst>
                  <a:cxn ang="0">
                    <a:pos x="T0" y="T1"/>
                  </a:cxn>
                  <a:cxn ang="0">
                    <a:pos x="T2" y="T3"/>
                  </a:cxn>
                  <a:cxn ang="0">
                    <a:pos x="T4" y="T5"/>
                  </a:cxn>
                </a:cxnLst>
                <a:rect l="0" t="0" r="r" b="b"/>
                <a:pathLst>
                  <a:path w="20410" h="14930" fill="none" extrusionOk="0">
                    <a:moveTo>
                      <a:pt x="15609" y="0"/>
                    </a:moveTo>
                    <a:cubicBezTo>
                      <a:pt x="17756" y="2244"/>
                      <a:pt x="19393" y="4925"/>
                      <a:pt x="20410" y="7860"/>
                    </a:cubicBezTo>
                  </a:path>
                  <a:path w="20410" h="14930" stroke="0" extrusionOk="0">
                    <a:moveTo>
                      <a:pt x="15609" y="0"/>
                    </a:moveTo>
                    <a:cubicBezTo>
                      <a:pt x="17756" y="2244"/>
                      <a:pt x="19393" y="4925"/>
                      <a:pt x="20410" y="7860"/>
                    </a:cubicBezTo>
                    <a:lnTo>
                      <a:pt x="0" y="14930"/>
                    </a:lnTo>
                    <a:close/>
                  </a:path>
                </a:pathLst>
              </a:custGeom>
              <a:noFill/>
              <a:ln w="12700">
                <a:solidFill>
                  <a:srgbClr val="FF3300"/>
                </a:solidFill>
                <a:round/>
                <a:headEnd type="triangle" w="sm" len="lg"/>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1" name="Text Box 43"/>
              <p:cNvSpPr txBox="1">
                <a:spLocks noChangeArrowheads="1"/>
              </p:cNvSpPr>
              <p:nvPr/>
            </p:nvSpPr>
            <p:spPr bwMode="auto">
              <a:xfrm>
                <a:off x="2707" y="2390"/>
                <a:ext cx="27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3200" b="1" i="1">
                    <a:solidFill>
                      <a:srgbClr val="FF3300"/>
                    </a:solidFill>
                    <a:latin typeface="宋体" panose="02010600030101010101" pitchFamily="2" charset="-122"/>
                    <a:sym typeface="Symbol" panose="05050102010706020507" pitchFamily="18" charset="2"/>
                  </a:rPr>
                  <a:t></a:t>
                </a:r>
                <a:endParaRPr lang="en-US" altLang="zh-CN" sz="3200" b="1" i="1">
                  <a:solidFill>
                    <a:srgbClr val="FF3300"/>
                  </a:solidFill>
                  <a:latin typeface="宋体" panose="02010600030101010101" pitchFamily="2" charset="-122"/>
                  <a:sym typeface="Symbol" panose="05050102010706020507" pitchFamily="18" charset="2"/>
                </a:endParaRPr>
              </a:p>
            </p:txBody>
          </p:sp>
          <p:sp>
            <p:nvSpPr>
              <p:cNvPr id="27692" name="Line 44"/>
              <p:cNvSpPr>
                <a:spLocks noChangeShapeType="1"/>
              </p:cNvSpPr>
              <p:nvPr/>
            </p:nvSpPr>
            <p:spPr bwMode="auto">
              <a:xfrm>
                <a:off x="3185" y="1927"/>
                <a:ext cx="6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693" name="Line 45"/>
              <p:cNvSpPr>
                <a:spLocks noChangeShapeType="1"/>
              </p:cNvSpPr>
              <p:nvPr/>
            </p:nvSpPr>
            <p:spPr bwMode="auto">
              <a:xfrm>
                <a:off x="3258" y="1928"/>
                <a:ext cx="167"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701" name="Line 53"/>
              <p:cNvSpPr>
                <a:spLocks noChangeShapeType="1"/>
              </p:cNvSpPr>
              <p:nvPr/>
            </p:nvSpPr>
            <p:spPr bwMode="auto">
              <a:xfrm flipH="1">
                <a:off x="3192" y="2460"/>
                <a:ext cx="54" cy="5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pic>
        <p:nvPicPr>
          <p:cNvPr id="27710" name="Picture 6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2546350"/>
            <a:ext cx="2035175" cy="1866900"/>
          </a:xfrm>
          <a:prstGeom prst="rect">
            <a:avLst/>
          </a:prstGeom>
          <a:noFill/>
          <a:extLst>
            <a:ext uri="{909E8E84-426E-40DD-AFC4-6F175D3DCCD1}">
              <a14:hiddenFill xmlns:a14="http://schemas.microsoft.com/office/drawing/2010/main">
                <a:solidFill>
                  <a:srgbClr val="FFFFFF"/>
                </a:solidFill>
              </a14:hiddenFill>
            </a:ext>
          </a:extLst>
        </p:spPr>
      </p:pic>
      <p:pic>
        <p:nvPicPr>
          <p:cNvPr id="27711" name="Picture 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0813" y="2098675"/>
            <a:ext cx="2127250" cy="2165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p:cTn id="7" dur="500" fill="hold"/>
                                        <p:tgtEl>
                                          <p:spTgt spid="27650"/>
                                        </p:tgtEl>
                                        <p:attrNameLst>
                                          <p:attrName>ppt_w</p:attrName>
                                        </p:attrNameLst>
                                      </p:cBhvr>
                                      <p:tavLst>
                                        <p:tav tm="0">
                                          <p:val>
                                            <p:fltVal val="0"/>
                                          </p:val>
                                        </p:tav>
                                        <p:tav tm="100000">
                                          <p:val>
                                            <p:strVal val="#ppt_w"/>
                                          </p:val>
                                        </p:tav>
                                      </p:tavLst>
                                    </p:anim>
                                    <p:anim calcmode="lin" valueType="num">
                                      <p:cBhvr>
                                        <p:cTn id="8" dur="500" fill="hold"/>
                                        <p:tgtEl>
                                          <p:spTgt spid="27650"/>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3" fill="hold" grpId="0" nodeType="clickEffect">
                                  <p:stCondLst>
                                    <p:cond delay="0"/>
                                  </p:stCondLst>
                                  <p:childTnLst>
                                    <p:set>
                                      <p:cBhvr>
                                        <p:cTn id="12" dur="1" fill="hold">
                                          <p:stCondLst>
                                            <p:cond delay="0"/>
                                          </p:stCondLst>
                                        </p:cTn>
                                        <p:tgtEl>
                                          <p:spTgt spid="27652"/>
                                        </p:tgtEl>
                                        <p:attrNameLst>
                                          <p:attrName>style.visibility</p:attrName>
                                        </p:attrNameLst>
                                      </p:cBhvr>
                                      <p:to>
                                        <p:strVal val="visible"/>
                                      </p:to>
                                    </p:set>
                                    <p:animEffect transition="in" filter="strips(upRight)">
                                      <p:cBhvr>
                                        <p:cTn id="13" dur="500"/>
                                        <p:tgtEl>
                                          <p:spTgt spid="27652"/>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27651"/>
                                        </p:tgtEl>
                                        <p:attrNameLst>
                                          <p:attrName>style.visibility</p:attrName>
                                        </p:attrNameLst>
                                      </p:cBhvr>
                                      <p:to>
                                        <p:strVal val="visible"/>
                                      </p:to>
                                    </p:set>
                                    <p:animEffect transition="in" filter="strips(downLeft)">
                                      <p:cBhvr>
                                        <p:cTn id="18" dur="500"/>
                                        <p:tgtEl>
                                          <p:spTgt spid="2765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7710"/>
                                        </p:tgtEl>
                                        <p:attrNameLst>
                                          <p:attrName>style.visibility</p:attrName>
                                        </p:attrNameLst>
                                      </p:cBhvr>
                                      <p:to>
                                        <p:strVal val="visible"/>
                                      </p:to>
                                    </p:set>
                                    <p:anim calcmode="lin" valueType="num">
                                      <p:cBhvr additive="base">
                                        <p:cTn id="23" dur="500" fill="hold"/>
                                        <p:tgtEl>
                                          <p:spTgt spid="27710"/>
                                        </p:tgtEl>
                                        <p:attrNameLst>
                                          <p:attrName>ppt_x</p:attrName>
                                        </p:attrNameLst>
                                      </p:cBhvr>
                                      <p:tavLst>
                                        <p:tav tm="0">
                                          <p:val>
                                            <p:strVal val="0-#ppt_w/2"/>
                                          </p:val>
                                        </p:tav>
                                        <p:tav tm="100000">
                                          <p:val>
                                            <p:strVal val="#ppt_x"/>
                                          </p:val>
                                        </p:tav>
                                      </p:tavLst>
                                    </p:anim>
                                    <p:anim calcmode="lin" valueType="num">
                                      <p:cBhvr additive="base">
                                        <p:cTn id="24" dur="500" fill="hold"/>
                                        <p:tgtEl>
                                          <p:spTgt spid="27710"/>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2" fill="hold" nodeType="afterEffect">
                                  <p:stCondLst>
                                    <p:cond delay="0"/>
                                  </p:stCondLst>
                                  <p:childTnLst>
                                    <p:set>
                                      <p:cBhvr>
                                        <p:cTn id="27" dur="1" fill="hold">
                                          <p:stCondLst>
                                            <p:cond delay="0"/>
                                          </p:stCondLst>
                                        </p:cTn>
                                        <p:tgtEl>
                                          <p:spTgt spid="27711"/>
                                        </p:tgtEl>
                                        <p:attrNameLst>
                                          <p:attrName>style.visibility</p:attrName>
                                        </p:attrNameLst>
                                      </p:cBhvr>
                                      <p:to>
                                        <p:strVal val="visible"/>
                                      </p:to>
                                    </p:set>
                                    <p:anim calcmode="lin" valueType="num">
                                      <p:cBhvr additive="base">
                                        <p:cTn id="28" dur="500" fill="hold"/>
                                        <p:tgtEl>
                                          <p:spTgt spid="27711"/>
                                        </p:tgtEl>
                                        <p:attrNameLst>
                                          <p:attrName>ppt_x</p:attrName>
                                        </p:attrNameLst>
                                      </p:cBhvr>
                                      <p:tavLst>
                                        <p:tav tm="0">
                                          <p:val>
                                            <p:strVal val="1+#ppt_w/2"/>
                                          </p:val>
                                        </p:tav>
                                        <p:tav tm="100000">
                                          <p:val>
                                            <p:strVal val="#ppt_x"/>
                                          </p:val>
                                        </p:tav>
                                      </p:tavLst>
                                    </p:anim>
                                    <p:anim calcmode="lin" valueType="num">
                                      <p:cBhvr additive="base">
                                        <p:cTn id="29" dur="500" fill="hold"/>
                                        <p:tgtEl>
                                          <p:spTgt spid="27711"/>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nodeType="clickEffect">
                                  <p:stCondLst>
                                    <p:cond delay="0"/>
                                  </p:stCondLst>
                                  <p:childTnLst>
                                    <p:set>
                                      <p:cBhvr>
                                        <p:cTn id="33" dur="1" fill="hold">
                                          <p:stCondLst>
                                            <p:cond delay="0"/>
                                          </p:stCondLst>
                                        </p:cTn>
                                        <p:tgtEl>
                                          <p:spTgt spid="27718"/>
                                        </p:tgtEl>
                                        <p:attrNameLst>
                                          <p:attrName>style.visibility</p:attrName>
                                        </p:attrNameLst>
                                      </p:cBhvr>
                                      <p:to>
                                        <p:strVal val="visible"/>
                                      </p:to>
                                    </p:set>
                                    <p:animEffect transition="in" filter="barn(outVertical)">
                                      <p:cBhvr>
                                        <p:cTn id="34" dur="500"/>
                                        <p:tgtEl>
                                          <p:spTgt spid="2771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7694"/>
                                        </p:tgtEl>
                                        <p:attrNameLst>
                                          <p:attrName>style.visibility</p:attrName>
                                        </p:attrNameLst>
                                      </p:cBhvr>
                                      <p:to>
                                        <p:strVal val="visible"/>
                                      </p:to>
                                    </p:set>
                                    <p:animEffect transition="in" filter="blinds(horizontal)">
                                      <p:cBhvr>
                                        <p:cTn id="39" dur="500"/>
                                        <p:tgtEl>
                                          <p:spTgt spid="27694"/>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7695"/>
                                        </p:tgtEl>
                                        <p:attrNameLst>
                                          <p:attrName>style.visibility</p:attrName>
                                        </p:attrNameLst>
                                      </p:cBhvr>
                                      <p:to>
                                        <p:strVal val="visible"/>
                                      </p:to>
                                    </p:set>
                                    <p:anim calcmode="lin" valueType="num">
                                      <p:cBhvr additive="base">
                                        <p:cTn id="44" dur="500" fill="hold"/>
                                        <p:tgtEl>
                                          <p:spTgt spid="27695"/>
                                        </p:tgtEl>
                                        <p:attrNameLst>
                                          <p:attrName>ppt_x</p:attrName>
                                        </p:attrNameLst>
                                      </p:cBhvr>
                                      <p:tavLst>
                                        <p:tav tm="0">
                                          <p:val>
                                            <p:strVal val="#ppt_x"/>
                                          </p:val>
                                        </p:tav>
                                        <p:tav tm="100000">
                                          <p:val>
                                            <p:strVal val="#ppt_x"/>
                                          </p:val>
                                        </p:tav>
                                      </p:tavLst>
                                    </p:anim>
                                    <p:anim calcmode="lin" valueType="num">
                                      <p:cBhvr additive="base">
                                        <p:cTn id="45" dur="500" fill="hold"/>
                                        <p:tgtEl>
                                          <p:spTgt spid="276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utoUpdateAnimBg="0"/>
      <p:bldP spid="27652" grpId="0" autoUpdateAnimBg="0"/>
      <p:bldP spid="27694" grpId="0" autoUpdateAnimBg="0"/>
      <p:bldP spid="2769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379413" y="215900"/>
            <a:ext cx="4603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FF3300"/>
                </a:solidFill>
                <a:latin typeface="宋体" panose="02010600030101010101" pitchFamily="2" charset="-122"/>
              </a:rPr>
              <a:t>2</a:t>
            </a:r>
            <a:r>
              <a:rPr lang="zh-CN" altLang="en-US" sz="3200" b="1">
                <a:solidFill>
                  <a:srgbClr val="FF3300"/>
                </a:solidFill>
                <a:latin typeface="宋体" panose="02010600030101010101" pitchFamily="2" charset="-122"/>
              </a:rPr>
              <a:t>）退刀槽和砂轮越程槽</a:t>
            </a:r>
            <a:endParaRPr lang="zh-CN" altLang="en-US" sz="3600" b="1">
              <a:solidFill>
                <a:srgbClr val="FF3300"/>
              </a:solidFill>
              <a:latin typeface="宋体" panose="02010600030101010101" pitchFamily="2" charset="-122"/>
            </a:endParaRPr>
          </a:p>
        </p:txBody>
      </p:sp>
      <p:sp>
        <p:nvSpPr>
          <p:cNvPr id="28675" name="Text Box 3"/>
          <p:cNvSpPr txBox="1">
            <a:spLocks noChangeArrowheads="1"/>
          </p:cNvSpPr>
          <p:nvPr/>
        </p:nvSpPr>
        <p:spPr bwMode="auto">
          <a:xfrm>
            <a:off x="1035050" y="866775"/>
            <a:ext cx="6343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作用：便于退刀和零件轴向定位。</a:t>
            </a:r>
            <a:endParaRPr lang="zh-CN" altLang="en-US" sz="3200" b="1">
              <a:latin typeface="宋体" panose="02010600030101010101" pitchFamily="2" charset="-122"/>
            </a:endParaRPr>
          </a:p>
        </p:txBody>
      </p:sp>
      <p:sp>
        <p:nvSpPr>
          <p:cNvPr id="28676" name="Text Box 4"/>
          <p:cNvSpPr txBox="1">
            <a:spLocks noChangeArrowheads="1"/>
          </p:cNvSpPr>
          <p:nvPr/>
        </p:nvSpPr>
        <p:spPr bwMode="auto">
          <a:xfrm>
            <a:off x="1004888" y="5195888"/>
            <a:ext cx="5476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图中 </a:t>
            </a:r>
            <a:r>
              <a:rPr lang="zh-CN" altLang="en-US" sz="3200" b="1" i="1">
                <a:solidFill>
                  <a:srgbClr val="FF3300"/>
                </a:solidFill>
                <a:latin typeface="宋体" panose="02010600030101010101" pitchFamily="2" charset="-122"/>
                <a:sym typeface="Symbol" panose="05050102010706020507" pitchFamily="18" charset="2"/>
              </a:rPr>
              <a:t></a:t>
            </a:r>
            <a:r>
              <a:rPr lang="zh-CN" altLang="en-US" sz="3200" b="1">
                <a:solidFill>
                  <a:srgbClr val="FF3300"/>
                </a:solidFill>
                <a:latin typeface="宋体" panose="02010600030101010101" pitchFamily="2" charset="-122"/>
              </a:rPr>
              <a:t>：</a:t>
            </a:r>
            <a:r>
              <a:rPr lang="zh-CN" altLang="en-US" sz="3200" b="1">
                <a:solidFill>
                  <a:schemeClr val="accent2"/>
                </a:solidFill>
                <a:latin typeface="宋体" panose="02010600030101010101" pitchFamily="2" charset="-122"/>
              </a:rPr>
              <a:t>槽的直径；</a:t>
            </a:r>
            <a:r>
              <a:rPr lang="en-US" altLang="zh-CN" sz="3200" b="1" i="1">
                <a:solidFill>
                  <a:srgbClr val="FF3300"/>
                </a:solidFill>
                <a:latin typeface="宋体" panose="02010600030101010101" pitchFamily="2" charset="-122"/>
              </a:rPr>
              <a:t>b</a:t>
            </a:r>
            <a:r>
              <a:rPr lang="zh-CN" altLang="en-US" sz="3200" b="1">
                <a:solidFill>
                  <a:srgbClr val="FF3300"/>
                </a:solidFill>
                <a:latin typeface="宋体" panose="02010600030101010101" pitchFamily="2" charset="-122"/>
              </a:rPr>
              <a:t>：</a:t>
            </a:r>
            <a:r>
              <a:rPr lang="zh-CN" altLang="en-US" sz="3200" b="1">
                <a:solidFill>
                  <a:schemeClr val="accent2"/>
                </a:solidFill>
                <a:latin typeface="宋体" panose="02010600030101010101" pitchFamily="2" charset="-122"/>
              </a:rPr>
              <a:t>槽宽</a:t>
            </a:r>
            <a:endParaRPr lang="zh-CN" altLang="en-US" sz="3200" b="1">
              <a:solidFill>
                <a:schemeClr val="accent2"/>
              </a:solidFill>
              <a:latin typeface="宋体" panose="02010600030101010101" pitchFamily="2" charset="-122"/>
            </a:endParaRPr>
          </a:p>
        </p:txBody>
      </p:sp>
      <p:sp>
        <p:nvSpPr>
          <p:cNvPr id="28677" name="Text Box 5"/>
          <p:cNvSpPr txBox="1">
            <a:spLocks noChangeArrowheads="1"/>
          </p:cNvSpPr>
          <p:nvPr/>
        </p:nvSpPr>
        <p:spPr bwMode="auto">
          <a:xfrm>
            <a:off x="5897563" y="1493838"/>
            <a:ext cx="2317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3200" b="1">
                <a:solidFill>
                  <a:schemeClr val="accent2"/>
                </a:solidFill>
                <a:latin typeface="宋体" panose="02010600030101010101" pitchFamily="2" charset="-122"/>
              </a:rPr>
              <a:t>砂轮越程槽</a:t>
            </a:r>
            <a:endParaRPr lang="zh-CN" altLang="en-US" sz="3200" b="1">
              <a:solidFill>
                <a:schemeClr val="accent2"/>
              </a:solidFill>
              <a:latin typeface="宋体" panose="02010600030101010101" pitchFamily="2" charset="-122"/>
            </a:endParaRPr>
          </a:p>
        </p:txBody>
      </p:sp>
      <p:sp>
        <p:nvSpPr>
          <p:cNvPr id="28678" name="Text Box 6"/>
          <p:cNvSpPr txBox="1">
            <a:spLocks noChangeArrowheads="1"/>
          </p:cNvSpPr>
          <p:nvPr/>
        </p:nvSpPr>
        <p:spPr bwMode="auto">
          <a:xfrm>
            <a:off x="2374900" y="1446213"/>
            <a:ext cx="14763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3200" b="1">
                <a:solidFill>
                  <a:schemeClr val="accent2"/>
                </a:solidFill>
                <a:latin typeface="宋体" panose="02010600030101010101" pitchFamily="2" charset="-122"/>
              </a:rPr>
              <a:t>退刀槽</a:t>
            </a:r>
            <a:endParaRPr lang="zh-CN" altLang="en-US" sz="3200" b="1">
              <a:solidFill>
                <a:schemeClr val="accent2"/>
              </a:solidFill>
              <a:latin typeface="宋体" panose="02010600030101010101" pitchFamily="2" charset="-122"/>
            </a:endParaRPr>
          </a:p>
        </p:txBody>
      </p:sp>
      <p:grpSp>
        <p:nvGrpSpPr>
          <p:cNvPr id="28813" name="Group 141"/>
          <p:cNvGrpSpPr/>
          <p:nvPr/>
        </p:nvGrpSpPr>
        <p:grpSpPr bwMode="auto">
          <a:xfrm>
            <a:off x="855663" y="2220913"/>
            <a:ext cx="2097087" cy="1941512"/>
            <a:chOff x="635" y="1399"/>
            <a:chExt cx="1321" cy="1223"/>
          </a:xfrm>
        </p:grpSpPr>
        <p:sp>
          <p:nvSpPr>
            <p:cNvPr id="28719" name="Text Box 47"/>
            <p:cNvSpPr txBox="1">
              <a:spLocks noChangeArrowheads="1"/>
            </p:cNvSpPr>
            <p:nvPr/>
          </p:nvSpPr>
          <p:spPr bwMode="auto">
            <a:xfrm>
              <a:off x="1397" y="1399"/>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b="1" i="1">
                  <a:solidFill>
                    <a:srgbClr val="FF3300"/>
                  </a:solidFill>
                  <a:latin typeface="ISOCPEUR" panose="020B0604020202020204" pitchFamily="34" charset="0"/>
                </a:rPr>
                <a:t>b</a:t>
              </a:r>
              <a:endParaRPr lang="en-US" altLang="zh-CN" b="1" i="1">
                <a:solidFill>
                  <a:srgbClr val="FF3300"/>
                </a:solidFill>
                <a:latin typeface="ISOCPEUR" panose="020B0604020202020204" pitchFamily="34" charset="0"/>
              </a:endParaRPr>
            </a:p>
          </p:txBody>
        </p:sp>
        <p:sp>
          <p:nvSpPr>
            <p:cNvPr id="28721" name="Text Box 49"/>
            <p:cNvSpPr txBox="1">
              <a:spLocks noChangeArrowheads="1"/>
            </p:cNvSpPr>
            <p:nvPr/>
          </p:nvSpPr>
          <p:spPr bwMode="auto">
            <a:xfrm rot="-4492571">
              <a:off x="801" y="2075"/>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b="1">
                  <a:solidFill>
                    <a:srgbClr val="FF3300"/>
                  </a:solidFill>
                  <a:latin typeface="ISOCPEUR" panose="020B0604020202020204" pitchFamily="34" charset="0"/>
                  <a:sym typeface="Symbol" panose="05050102010706020507" pitchFamily="18" charset="2"/>
                </a:rPr>
                <a:t></a:t>
              </a:r>
              <a:endParaRPr lang="en-US" altLang="zh-CN" b="1">
                <a:solidFill>
                  <a:srgbClr val="FF3300"/>
                </a:solidFill>
                <a:latin typeface="ISOCPEUR" panose="020B0604020202020204" pitchFamily="34" charset="0"/>
              </a:endParaRPr>
            </a:p>
          </p:txBody>
        </p:sp>
        <p:sp>
          <p:nvSpPr>
            <p:cNvPr id="28722" name="Line 50"/>
            <p:cNvSpPr>
              <a:spLocks noChangeShapeType="1"/>
            </p:cNvSpPr>
            <p:nvPr/>
          </p:nvSpPr>
          <p:spPr bwMode="auto">
            <a:xfrm>
              <a:off x="1067" y="2208"/>
              <a:ext cx="889" cy="0"/>
            </a:xfrm>
            <a:prstGeom prst="line">
              <a:avLst/>
            </a:prstGeom>
            <a:noFill/>
            <a:ln w="19050">
              <a:solidFill>
                <a:schemeClr val="tx2"/>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3" name="Line 51"/>
            <p:cNvSpPr>
              <a:spLocks noChangeShapeType="1"/>
            </p:cNvSpPr>
            <p:nvPr/>
          </p:nvSpPr>
          <p:spPr bwMode="auto">
            <a:xfrm>
              <a:off x="1295" y="1879"/>
              <a:ext cx="55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4" name="Line 52"/>
            <p:cNvSpPr>
              <a:spLocks noChangeShapeType="1"/>
            </p:cNvSpPr>
            <p:nvPr/>
          </p:nvSpPr>
          <p:spPr bwMode="auto">
            <a:xfrm>
              <a:off x="1841" y="1879"/>
              <a:ext cx="0" cy="63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5" name="Line 53"/>
            <p:cNvSpPr>
              <a:spLocks noChangeShapeType="1"/>
            </p:cNvSpPr>
            <p:nvPr/>
          </p:nvSpPr>
          <p:spPr bwMode="auto">
            <a:xfrm flipH="1">
              <a:off x="1289" y="2515"/>
              <a:ext cx="54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6" name="Line 54"/>
            <p:cNvSpPr>
              <a:spLocks noChangeShapeType="1"/>
            </p:cNvSpPr>
            <p:nvPr/>
          </p:nvSpPr>
          <p:spPr bwMode="auto">
            <a:xfrm>
              <a:off x="1841" y="1879"/>
              <a:ext cx="60" cy="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7" name="Line 55"/>
            <p:cNvSpPr>
              <a:spLocks noChangeShapeType="1"/>
            </p:cNvSpPr>
            <p:nvPr/>
          </p:nvSpPr>
          <p:spPr bwMode="auto">
            <a:xfrm>
              <a:off x="1901" y="1934"/>
              <a:ext cx="0" cy="5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8" name="Line 56"/>
            <p:cNvSpPr>
              <a:spLocks noChangeShapeType="1"/>
            </p:cNvSpPr>
            <p:nvPr/>
          </p:nvSpPr>
          <p:spPr bwMode="auto">
            <a:xfrm flipH="1">
              <a:off x="1835" y="2455"/>
              <a:ext cx="66" cy="6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29" name="Line 57"/>
            <p:cNvSpPr>
              <a:spLocks noChangeShapeType="1"/>
            </p:cNvSpPr>
            <p:nvPr/>
          </p:nvSpPr>
          <p:spPr bwMode="auto">
            <a:xfrm>
              <a:off x="1199" y="1807"/>
              <a:ext cx="0" cy="81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0" name="Line 58"/>
            <p:cNvSpPr>
              <a:spLocks noChangeShapeType="1"/>
            </p:cNvSpPr>
            <p:nvPr/>
          </p:nvSpPr>
          <p:spPr bwMode="auto">
            <a:xfrm>
              <a:off x="743" y="1795"/>
              <a:ext cx="46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1" name="Line 59"/>
            <p:cNvSpPr>
              <a:spLocks noChangeShapeType="1"/>
            </p:cNvSpPr>
            <p:nvPr/>
          </p:nvSpPr>
          <p:spPr bwMode="auto">
            <a:xfrm>
              <a:off x="731" y="2611"/>
              <a:ext cx="46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2" name="Line 60"/>
            <p:cNvSpPr>
              <a:spLocks noChangeShapeType="1"/>
            </p:cNvSpPr>
            <p:nvPr/>
          </p:nvSpPr>
          <p:spPr bwMode="auto">
            <a:xfrm>
              <a:off x="1295" y="1873"/>
              <a:ext cx="0" cy="64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3" name="Line 61"/>
            <p:cNvSpPr>
              <a:spLocks noChangeShapeType="1"/>
            </p:cNvSpPr>
            <p:nvPr/>
          </p:nvSpPr>
          <p:spPr bwMode="auto">
            <a:xfrm>
              <a:off x="1295" y="1927"/>
              <a:ext cx="586" cy="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4" name="Line 62"/>
            <p:cNvSpPr>
              <a:spLocks noChangeShapeType="1"/>
            </p:cNvSpPr>
            <p:nvPr/>
          </p:nvSpPr>
          <p:spPr bwMode="auto">
            <a:xfrm>
              <a:off x="1307" y="2467"/>
              <a:ext cx="576" cy="0"/>
            </a:xfrm>
            <a:prstGeom prst="line">
              <a:avLst/>
            </a:prstGeom>
            <a:noFill/>
            <a:ln w="190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5" name="Line 63"/>
            <p:cNvSpPr>
              <a:spLocks noChangeShapeType="1"/>
            </p:cNvSpPr>
            <p:nvPr/>
          </p:nvSpPr>
          <p:spPr bwMode="auto">
            <a:xfrm>
              <a:off x="1199" y="2455"/>
              <a:ext cx="9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6" name="Line 64"/>
            <p:cNvSpPr>
              <a:spLocks noChangeShapeType="1"/>
            </p:cNvSpPr>
            <p:nvPr/>
          </p:nvSpPr>
          <p:spPr bwMode="auto">
            <a:xfrm>
              <a:off x="1199" y="1939"/>
              <a:ext cx="9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7" name="Freeform 65"/>
            <p:cNvSpPr/>
            <p:nvPr/>
          </p:nvSpPr>
          <p:spPr bwMode="auto">
            <a:xfrm>
              <a:off x="710" y="1795"/>
              <a:ext cx="70" cy="817"/>
            </a:xfrm>
            <a:custGeom>
              <a:avLst/>
              <a:gdLst>
                <a:gd name="T0" fmla="*/ 38 w 70"/>
                <a:gd name="T1" fmla="*/ 0 h 817"/>
                <a:gd name="T2" fmla="*/ 57 w 70"/>
                <a:gd name="T3" fmla="*/ 238 h 817"/>
                <a:gd name="T4" fmla="*/ 62 w 70"/>
                <a:gd name="T5" fmla="*/ 459 h 817"/>
                <a:gd name="T6" fmla="*/ 6 w 70"/>
                <a:gd name="T7" fmla="*/ 682 h 817"/>
                <a:gd name="T8" fmla="*/ 23 w 70"/>
                <a:gd name="T9" fmla="*/ 817 h 817"/>
              </a:gdLst>
              <a:ahLst/>
              <a:cxnLst>
                <a:cxn ang="0">
                  <a:pos x="T0" y="T1"/>
                </a:cxn>
                <a:cxn ang="0">
                  <a:pos x="T2" y="T3"/>
                </a:cxn>
                <a:cxn ang="0">
                  <a:pos x="T4" y="T5"/>
                </a:cxn>
                <a:cxn ang="0">
                  <a:pos x="T6" y="T7"/>
                </a:cxn>
                <a:cxn ang="0">
                  <a:pos x="T8" y="T9"/>
                </a:cxn>
              </a:cxnLst>
              <a:rect l="0" t="0" r="r" b="b"/>
              <a:pathLst>
                <a:path w="70" h="817">
                  <a:moveTo>
                    <a:pt x="38" y="0"/>
                  </a:moveTo>
                  <a:cubicBezTo>
                    <a:pt x="10" y="82"/>
                    <a:pt x="30" y="156"/>
                    <a:pt x="57" y="238"/>
                  </a:cubicBezTo>
                  <a:cubicBezTo>
                    <a:pt x="56" y="314"/>
                    <a:pt x="70" y="385"/>
                    <a:pt x="62" y="459"/>
                  </a:cubicBezTo>
                  <a:cubicBezTo>
                    <a:pt x="54" y="533"/>
                    <a:pt x="12" y="622"/>
                    <a:pt x="6" y="682"/>
                  </a:cubicBezTo>
                  <a:cubicBezTo>
                    <a:pt x="0" y="742"/>
                    <a:pt x="20" y="789"/>
                    <a:pt x="23" y="817"/>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8" name="Line 66"/>
            <p:cNvSpPr>
              <a:spLocks noChangeShapeType="1"/>
            </p:cNvSpPr>
            <p:nvPr/>
          </p:nvSpPr>
          <p:spPr bwMode="auto">
            <a:xfrm flipH="1">
              <a:off x="947" y="1939"/>
              <a:ext cx="25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39" name="Line 67"/>
            <p:cNvSpPr>
              <a:spLocks noChangeShapeType="1"/>
            </p:cNvSpPr>
            <p:nvPr/>
          </p:nvSpPr>
          <p:spPr bwMode="auto">
            <a:xfrm flipH="1">
              <a:off x="947" y="2455"/>
              <a:ext cx="25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0" name="Line 68"/>
            <p:cNvSpPr>
              <a:spLocks noChangeShapeType="1"/>
            </p:cNvSpPr>
            <p:nvPr/>
          </p:nvSpPr>
          <p:spPr bwMode="auto">
            <a:xfrm flipV="1">
              <a:off x="1019" y="1925"/>
              <a:ext cx="0" cy="517"/>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1" name="Line 69"/>
            <p:cNvSpPr>
              <a:spLocks noChangeShapeType="1"/>
            </p:cNvSpPr>
            <p:nvPr/>
          </p:nvSpPr>
          <p:spPr bwMode="auto">
            <a:xfrm flipH="1">
              <a:off x="635" y="2209"/>
              <a:ext cx="197"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2" name="Line 70"/>
            <p:cNvSpPr>
              <a:spLocks noChangeShapeType="1"/>
            </p:cNvSpPr>
            <p:nvPr/>
          </p:nvSpPr>
          <p:spPr bwMode="auto">
            <a:xfrm flipV="1">
              <a:off x="1199" y="1577"/>
              <a:ext cx="0" cy="254"/>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3" name="Line 71"/>
            <p:cNvSpPr>
              <a:spLocks noChangeShapeType="1"/>
            </p:cNvSpPr>
            <p:nvPr/>
          </p:nvSpPr>
          <p:spPr bwMode="auto">
            <a:xfrm flipV="1">
              <a:off x="1295" y="1579"/>
              <a:ext cx="0" cy="324"/>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4" name="Line 72"/>
            <p:cNvSpPr>
              <a:spLocks noChangeShapeType="1"/>
            </p:cNvSpPr>
            <p:nvPr/>
          </p:nvSpPr>
          <p:spPr bwMode="auto">
            <a:xfrm flipV="1">
              <a:off x="1286" y="1633"/>
              <a:ext cx="310"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5" name="Line 73"/>
            <p:cNvSpPr>
              <a:spLocks noChangeShapeType="1"/>
            </p:cNvSpPr>
            <p:nvPr/>
          </p:nvSpPr>
          <p:spPr bwMode="auto">
            <a:xfrm flipH="1">
              <a:off x="1200" y="1636"/>
              <a:ext cx="9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46" name="Line 74"/>
            <p:cNvSpPr>
              <a:spLocks noChangeShapeType="1"/>
            </p:cNvSpPr>
            <p:nvPr/>
          </p:nvSpPr>
          <p:spPr bwMode="auto">
            <a:xfrm flipH="1">
              <a:off x="1047" y="1636"/>
              <a:ext cx="153"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90" name="Line 118"/>
            <p:cNvSpPr>
              <a:spLocks noChangeShapeType="1"/>
            </p:cNvSpPr>
            <p:nvPr/>
          </p:nvSpPr>
          <p:spPr bwMode="auto">
            <a:xfrm>
              <a:off x="1197" y="1935"/>
              <a:ext cx="9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8827" name="Group 155"/>
          <p:cNvGrpSpPr/>
          <p:nvPr/>
        </p:nvGrpSpPr>
        <p:grpSpPr bwMode="auto">
          <a:xfrm>
            <a:off x="3367088" y="2125663"/>
            <a:ext cx="2243137" cy="2212975"/>
            <a:chOff x="2121" y="1339"/>
            <a:chExt cx="1413" cy="1394"/>
          </a:xfrm>
        </p:grpSpPr>
        <p:sp>
          <p:nvSpPr>
            <p:cNvPr id="28715" name="Text Box 43"/>
            <p:cNvSpPr txBox="1">
              <a:spLocks noChangeArrowheads="1"/>
            </p:cNvSpPr>
            <p:nvPr/>
          </p:nvSpPr>
          <p:spPr bwMode="auto">
            <a:xfrm>
              <a:off x="2915" y="1339"/>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b="1" i="1">
                  <a:solidFill>
                    <a:srgbClr val="FF3300"/>
                  </a:solidFill>
                  <a:latin typeface="ISOCPEUR" panose="020B0604020202020204" pitchFamily="34" charset="0"/>
                </a:rPr>
                <a:t>b</a:t>
              </a:r>
              <a:endParaRPr lang="en-US" altLang="zh-CN" b="1" i="1">
                <a:solidFill>
                  <a:srgbClr val="FF3300"/>
                </a:solidFill>
                <a:latin typeface="ISOCPEUR" panose="020B0604020202020204" pitchFamily="34" charset="0"/>
              </a:endParaRPr>
            </a:p>
          </p:txBody>
        </p:sp>
        <p:sp>
          <p:nvSpPr>
            <p:cNvPr id="28680" name="Line 8"/>
            <p:cNvSpPr>
              <a:spLocks noChangeShapeType="1"/>
            </p:cNvSpPr>
            <p:nvPr/>
          </p:nvSpPr>
          <p:spPr bwMode="auto">
            <a:xfrm>
              <a:off x="2610" y="2205"/>
              <a:ext cx="924"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1" name="Line 9"/>
            <p:cNvSpPr>
              <a:spLocks noChangeShapeType="1"/>
            </p:cNvSpPr>
            <p:nvPr/>
          </p:nvSpPr>
          <p:spPr bwMode="auto">
            <a:xfrm>
              <a:off x="2214" y="1699"/>
              <a:ext cx="0" cy="103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2" name="Line 10"/>
            <p:cNvSpPr>
              <a:spLocks noChangeShapeType="1"/>
            </p:cNvSpPr>
            <p:nvPr/>
          </p:nvSpPr>
          <p:spPr bwMode="auto">
            <a:xfrm>
              <a:off x="3450" y="1696"/>
              <a:ext cx="0" cy="103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3" name="Line 11"/>
            <p:cNvSpPr>
              <a:spLocks noChangeShapeType="1"/>
            </p:cNvSpPr>
            <p:nvPr/>
          </p:nvSpPr>
          <p:spPr bwMode="auto">
            <a:xfrm>
              <a:off x="2220" y="1879"/>
              <a:ext cx="55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4" name="Line 12"/>
            <p:cNvSpPr>
              <a:spLocks noChangeShapeType="1"/>
            </p:cNvSpPr>
            <p:nvPr/>
          </p:nvSpPr>
          <p:spPr bwMode="auto">
            <a:xfrm>
              <a:off x="2220" y="2539"/>
              <a:ext cx="55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5" name="Line 13"/>
            <p:cNvSpPr>
              <a:spLocks noChangeShapeType="1"/>
            </p:cNvSpPr>
            <p:nvPr/>
          </p:nvSpPr>
          <p:spPr bwMode="auto">
            <a:xfrm>
              <a:off x="3390" y="1879"/>
              <a:ext cx="0" cy="65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6" name="Line 14"/>
            <p:cNvSpPr>
              <a:spLocks noChangeShapeType="1"/>
            </p:cNvSpPr>
            <p:nvPr/>
          </p:nvSpPr>
          <p:spPr bwMode="auto">
            <a:xfrm flipV="1">
              <a:off x="3390" y="1819"/>
              <a:ext cx="60" cy="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7" name="Line 15"/>
            <p:cNvSpPr>
              <a:spLocks noChangeShapeType="1"/>
            </p:cNvSpPr>
            <p:nvPr/>
          </p:nvSpPr>
          <p:spPr bwMode="auto">
            <a:xfrm>
              <a:off x="3378" y="2527"/>
              <a:ext cx="72" cy="7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8" name="Line 16"/>
            <p:cNvSpPr>
              <a:spLocks noChangeShapeType="1"/>
            </p:cNvSpPr>
            <p:nvPr/>
          </p:nvSpPr>
          <p:spPr bwMode="auto">
            <a:xfrm>
              <a:off x="2766" y="1819"/>
              <a:ext cx="0" cy="78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89" name="Line 17"/>
            <p:cNvSpPr>
              <a:spLocks noChangeShapeType="1"/>
            </p:cNvSpPr>
            <p:nvPr/>
          </p:nvSpPr>
          <p:spPr bwMode="auto">
            <a:xfrm>
              <a:off x="2862" y="1811"/>
              <a:ext cx="0" cy="81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0" name="Line 18"/>
            <p:cNvSpPr>
              <a:spLocks noChangeShapeType="1"/>
            </p:cNvSpPr>
            <p:nvPr/>
          </p:nvSpPr>
          <p:spPr bwMode="auto">
            <a:xfrm>
              <a:off x="2778" y="1819"/>
              <a:ext cx="8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1" name="Line 19"/>
            <p:cNvSpPr>
              <a:spLocks noChangeShapeType="1"/>
            </p:cNvSpPr>
            <p:nvPr/>
          </p:nvSpPr>
          <p:spPr bwMode="auto">
            <a:xfrm>
              <a:off x="2754" y="2611"/>
              <a:ext cx="1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2" name="Line 20"/>
            <p:cNvSpPr>
              <a:spLocks noChangeShapeType="1"/>
            </p:cNvSpPr>
            <p:nvPr/>
          </p:nvSpPr>
          <p:spPr bwMode="auto">
            <a:xfrm>
              <a:off x="2874" y="1831"/>
              <a:ext cx="561"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3" name="Line 21"/>
            <p:cNvSpPr>
              <a:spLocks noChangeShapeType="1"/>
            </p:cNvSpPr>
            <p:nvPr/>
          </p:nvSpPr>
          <p:spPr bwMode="auto">
            <a:xfrm>
              <a:off x="2862" y="2587"/>
              <a:ext cx="56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4" name="Line 22"/>
            <p:cNvSpPr>
              <a:spLocks noChangeShapeType="1"/>
            </p:cNvSpPr>
            <p:nvPr/>
          </p:nvSpPr>
          <p:spPr bwMode="auto">
            <a:xfrm>
              <a:off x="2862" y="1879"/>
              <a:ext cx="53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5" name="Line 23"/>
            <p:cNvSpPr>
              <a:spLocks noChangeShapeType="1"/>
            </p:cNvSpPr>
            <p:nvPr/>
          </p:nvSpPr>
          <p:spPr bwMode="auto">
            <a:xfrm>
              <a:off x="2862" y="2539"/>
              <a:ext cx="52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7" name="Line 25"/>
            <p:cNvSpPr>
              <a:spLocks noChangeShapeType="1"/>
            </p:cNvSpPr>
            <p:nvPr/>
          </p:nvSpPr>
          <p:spPr bwMode="auto">
            <a:xfrm flipV="1">
              <a:off x="2299" y="1699"/>
              <a:ext cx="173" cy="17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8" name="Line 26"/>
            <p:cNvSpPr>
              <a:spLocks noChangeShapeType="1"/>
            </p:cNvSpPr>
            <p:nvPr/>
          </p:nvSpPr>
          <p:spPr bwMode="auto">
            <a:xfrm flipV="1">
              <a:off x="2615" y="1705"/>
              <a:ext cx="169" cy="16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699" name="Line 27"/>
            <p:cNvSpPr>
              <a:spLocks noChangeShapeType="1"/>
            </p:cNvSpPr>
            <p:nvPr/>
          </p:nvSpPr>
          <p:spPr bwMode="auto">
            <a:xfrm flipV="1">
              <a:off x="2826" y="1699"/>
              <a:ext cx="120" cy="12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0" name="Line 28"/>
            <p:cNvSpPr>
              <a:spLocks noChangeShapeType="1"/>
            </p:cNvSpPr>
            <p:nvPr/>
          </p:nvSpPr>
          <p:spPr bwMode="auto">
            <a:xfrm flipV="1">
              <a:off x="2266" y="2527"/>
              <a:ext cx="182" cy="18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1" name="Line 29"/>
            <p:cNvSpPr>
              <a:spLocks noChangeShapeType="1"/>
            </p:cNvSpPr>
            <p:nvPr/>
          </p:nvSpPr>
          <p:spPr bwMode="auto">
            <a:xfrm flipV="1">
              <a:off x="2587" y="2527"/>
              <a:ext cx="185" cy="18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2" name="Line 30"/>
            <p:cNvSpPr>
              <a:spLocks noChangeShapeType="1"/>
            </p:cNvSpPr>
            <p:nvPr/>
          </p:nvSpPr>
          <p:spPr bwMode="auto">
            <a:xfrm flipV="1">
              <a:off x="2880" y="2539"/>
              <a:ext cx="174" cy="17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3" name="Line 31"/>
            <p:cNvSpPr>
              <a:spLocks noChangeShapeType="1"/>
            </p:cNvSpPr>
            <p:nvPr/>
          </p:nvSpPr>
          <p:spPr bwMode="auto">
            <a:xfrm flipV="1">
              <a:off x="2928" y="1699"/>
              <a:ext cx="175" cy="17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4" name="Line 32"/>
            <p:cNvSpPr>
              <a:spLocks noChangeShapeType="1"/>
            </p:cNvSpPr>
            <p:nvPr/>
          </p:nvSpPr>
          <p:spPr bwMode="auto">
            <a:xfrm flipV="1">
              <a:off x="3031" y="2533"/>
              <a:ext cx="179" cy="179"/>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5" name="Line 33"/>
            <p:cNvSpPr>
              <a:spLocks noChangeShapeType="1"/>
            </p:cNvSpPr>
            <p:nvPr/>
          </p:nvSpPr>
          <p:spPr bwMode="auto">
            <a:xfrm flipV="1">
              <a:off x="3318" y="2591"/>
              <a:ext cx="128" cy="12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6" name="Line 34"/>
            <p:cNvSpPr>
              <a:spLocks noChangeShapeType="1"/>
            </p:cNvSpPr>
            <p:nvPr/>
          </p:nvSpPr>
          <p:spPr bwMode="auto">
            <a:xfrm flipV="1">
              <a:off x="3234" y="1699"/>
              <a:ext cx="180" cy="1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7" name="Line 35"/>
            <p:cNvSpPr>
              <a:spLocks noChangeShapeType="1"/>
            </p:cNvSpPr>
            <p:nvPr/>
          </p:nvSpPr>
          <p:spPr bwMode="auto">
            <a:xfrm flipH="1">
              <a:off x="2526" y="1819"/>
              <a:ext cx="24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8" name="Line 36"/>
            <p:cNvSpPr>
              <a:spLocks noChangeShapeType="1"/>
            </p:cNvSpPr>
            <p:nvPr/>
          </p:nvSpPr>
          <p:spPr bwMode="auto">
            <a:xfrm flipH="1">
              <a:off x="2526" y="2611"/>
              <a:ext cx="24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09" name="Line 37"/>
            <p:cNvSpPr>
              <a:spLocks noChangeShapeType="1"/>
            </p:cNvSpPr>
            <p:nvPr/>
          </p:nvSpPr>
          <p:spPr bwMode="auto">
            <a:xfrm>
              <a:off x="2586" y="1812"/>
              <a:ext cx="0" cy="792"/>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0" name="Text Box 38"/>
            <p:cNvSpPr txBox="1">
              <a:spLocks noChangeArrowheads="1"/>
            </p:cNvSpPr>
            <p:nvPr/>
          </p:nvSpPr>
          <p:spPr bwMode="auto">
            <a:xfrm rot="-4266869">
              <a:off x="2371" y="2054"/>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b="1">
                  <a:solidFill>
                    <a:srgbClr val="FF3300"/>
                  </a:solidFill>
                  <a:latin typeface="ISOCPEUR" panose="020B0604020202020204" pitchFamily="34" charset="0"/>
                  <a:sym typeface="Symbol" panose="05050102010706020507" pitchFamily="18" charset="2"/>
                </a:rPr>
                <a:t></a:t>
              </a:r>
              <a:endParaRPr lang="en-US" altLang="zh-CN" b="1">
                <a:solidFill>
                  <a:srgbClr val="FF3300"/>
                </a:solidFill>
                <a:latin typeface="ISOCPEUR" panose="020B0604020202020204" pitchFamily="34" charset="0"/>
              </a:endParaRPr>
            </a:p>
          </p:txBody>
        </p:sp>
        <p:sp>
          <p:nvSpPr>
            <p:cNvPr id="28711" name="Line 39"/>
            <p:cNvSpPr>
              <a:spLocks noChangeShapeType="1"/>
            </p:cNvSpPr>
            <p:nvPr/>
          </p:nvSpPr>
          <p:spPr bwMode="auto">
            <a:xfrm>
              <a:off x="2121" y="2205"/>
              <a:ext cx="276"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2" name="Line 40"/>
            <p:cNvSpPr>
              <a:spLocks noChangeShapeType="1"/>
            </p:cNvSpPr>
            <p:nvPr/>
          </p:nvSpPr>
          <p:spPr bwMode="auto">
            <a:xfrm flipV="1">
              <a:off x="2766" y="1519"/>
              <a:ext cx="0" cy="30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3" name="Line 41"/>
            <p:cNvSpPr>
              <a:spLocks noChangeShapeType="1"/>
            </p:cNvSpPr>
            <p:nvPr/>
          </p:nvSpPr>
          <p:spPr bwMode="auto">
            <a:xfrm flipV="1">
              <a:off x="2862" y="1520"/>
              <a:ext cx="0" cy="299"/>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4" name="Line 42"/>
            <p:cNvSpPr>
              <a:spLocks noChangeShapeType="1"/>
            </p:cNvSpPr>
            <p:nvPr/>
          </p:nvSpPr>
          <p:spPr bwMode="auto">
            <a:xfrm flipV="1">
              <a:off x="2847" y="1574"/>
              <a:ext cx="336"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6" name="Line 44"/>
            <p:cNvSpPr>
              <a:spLocks noChangeShapeType="1"/>
            </p:cNvSpPr>
            <p:nvPr/>
          </p:nvSpPr>
          <p:spPr bwMode="auto">
            <a:xfrm flipH="1">
              <a:off x="2763" y="1579"/>
              <a:ext cx="10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17" name="Line 45"/>
            <p:cNvSpPr>
              <a:spLocks noChangeShapeType="1"/>
            </p:cNvSpPr>
            <p:nvPr/>
          </p:nvSpPr>
          <p:spPr bwMode="auto">
            <a:xfrm flipH="1">
              <a:off x="2586" y="1574"/>
              <a:ext cx="189"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88" name="Line 116"/>
            <p:cNvSpPr>
              <a:spLocks noChangeShapeType="1"/>
            </p:cNvSpPr>
            <p:nvPr/>
          </p:nvSpPr>
          <p:spPr bwMode="auto">
            <a:xfrm>
              <a:off x="2761" y="1821"/>
              <a:ext cx="10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02" name="Line 130"/>
            <p:cNvSpPr>
              <a:spLocks noChangeShapeType="1"/>
            </p:cNvSpPr>
            <p:nvPr/>
          </p:nvSpPr>
          <p:spPr bwMode="auto">
            <a:xfrm>
              <a:off x="2212" y="1704"/>
              <a:ext cx="124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03" name="Line 131"/>
            <p:cNvSpPr>
              <a:spLocks noChangeShapeType="1"/>
            </p:cNvSpPr>
            <p:nvPr/>
          </p:nvSpPr>
          <p:spPr bwMode="auto">
            <a:xfrm>
              <a:off x="2214" y="2721"/>
              <a:ext cx="124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04" name="Line 132"/>
            <p:cNvSpPr>
              <a:spLocks noChangeShapeType="1"/>
            </p:cNvSpPr>
            <p:nvPr/>
          </p:nvSpPr>
          <p:spPr bwMode="auto">
            <a:xfrm flipH="1">
              <a:off x="2463" y="1707"/>
              <a:ext cx="165" cy="16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05" name="Line 133"/>
            <p:cNvSpPr>
              <a:spLocks noChangeShapeType="1"/>
            </p:cNvSpPr>
            <p:nvPr/>
          </p:nvSpPr>
          <p:spPr bwMode="auto">
            <a:xfrm flipV="1">
              <a:off x="3089" y="1701"/>
              <a:ext cx="169" cy="17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07" name="Line 135"/>
            <p:cNvSpPr>
              <a:spLocks noChangeShapeType="1"/>
            </p:cNvSpPr>
            <p:nvPr/>
          </p:nvSpPr>
          <p:spPr bwMode="auto">
            <a:xfrm flipH="1">
              <a:off x="2430" y="2535"/>
              <a:ext cx="179" cy="18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08" name="Line 136"/>
            <p:cNvSpPr>
              <a:spLocks noChangeShapeType="1"/>
            </p:cNvSpPr>
            <p:nvPr/>
          </p:nvSpPr>
          <p:spPr bwMode="auto">
            <a:xfrm flipV="1">
              <a:off x="2736" y="2607"/>
              <a:ext cx="108" cy="11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09" name="Line 137"/>
            <p:cNvSpPr>
              <a:spLocks noChangeShapeType="1"/>
            </p:cNvSpPr>
            <p:nvPr/>
          </p:nvSpPr>
          <p:spPr bwMode="auto">
            <a:xfrm flipV="1">
              <a:off x="3180" y="2537"/>
              <a:ext cx="178" cy="17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814" name="Line 142"/>
            <p:cNvSpPr>
              <a:spLocks noChangeShapeType="1"/>
            </p:cNvSpPr>
            <p:nvPr/>
          </p:nvSpPr>
          <p:spPr bwMode="auto">
            <a:xfrm flipV="1">
              <a:off x="2210" y="1706"/>
              <a:ext cx="112" cy="1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815" name="Line 143"/>
            <p:cNvSpPr>
              <a:spLocks noChangeShapeType="1"/>
            </p:cNvSpPr>
            <p:nvPr/>
          </p:nvSpPr>
          <p:spPr bwMode="auto">
            <a:xfrm flipV="1">
              <a:off x="2210" y="2535"/>
              <a:ext cx="93" cy="9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8830" name="Group 158"/>
          <p:cNvGrpSpPr/>
          <p:nvPr/>
        </p:nvGrpSpPr>
        <p:grpSpPr bwMode="auto">
          <a:xfrm>
            <a:off x="6029325" y="2314575"/>
            <a:ext cx="2159000" cy="2247900"/>
            <a:chOff x="3782" y="1458"/>
            <a:chExt cx="1360" cy="1416"/>
          </a:xfrm>
        </p:grpSpPr>
        <p:sp>
          <p:nvSpPr>
            <p:cNvPr id="28748" name="Text Box 76"/>
            <p:cNvSpPr txBox="1">
              <a:spLocks noChangeArrowheads="1"/>
            </p:cNvSpPr>
            <p:nvPr/>
          </p:nvSpPr>
          <p:spPr bwMode="auto">
            <a:xfrm>
              <a:off x="4642" y="1458"/>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砂轮</a:t>
              </a:r>
              <a:endParaRPr lang="zh-CN" altLang="en-US" b="1">
                <a:solidFill>
                  <a:srgbClr val="FF3300"/>
                </a:solidFill>
              </a:endParaRPr>
            </a:p>
          </p:txBody>
        </p:sp>
        <p:sp>
          <p:nvSpPr>
            <p:cNvPr id="28750" name="Text Box 78"/>
            <p:cNvSpPr txBox="1">
              <a:spLocks noChangeArrowheads="1"/>
            </p:cNvSpPr>
            <p:nvPr/>
          </p:nvSpPr>
          <p:spPr bwMode="auto">
            <a:xfrm rot="-4492571">
              <a:off x="3948" y="2050"/>
              <a:ext cx="2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b="1">
                  <a:solidFill>
                    <a:srgbClr val="FF3300"/>
                  </a:solidFill>
                  <a:latin typeface="ISOCPEUR" panose="020B0604020202020204" pitchFamily="34" charset="0"/>
                  <a:sym typeface="Symbol" panose="05050102010706020507" pitchFamily="18" charset="2"/>
                </a:rPr>
                <a:t></a:t>
              </a:r>
              <a:endParaRPr lang="en-US" altLang="zh-CN" b="1">
                <a:solidFill>
                  <a:srgbClr val="FF3300"/>
                </a:solidFill>
                <a:latin typeface="ISOCPEUR" panose="020B0604020202020204" pitchFamily="34" charset="0"/>
              </a:endParaRPr>
            </a:p>
          </p:txBody>
        </p:sp>
        <p:sp>
          <p:nvSpPr>
            <p:cNvPr id="28751" name="Line 79"/>
            <p:cNvSpPr>
              <a:spLocks noChangeShapeType="1"/>
            </p:cNvSpPr>
            <p:nvPr/>
          </p:nvSpPr>
          <p:spPr bwMode="auto">
            <a:xfrm>
              <a:off x="4238" y="2207"/>
              <a:ext cx="879"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2" name="Line 80"/>
            <p:cNvSpPr>
              <a:spLocks noChangeShapeType="1"/>
            </p:cNvSpPr>
            <p:nvPr/>
          </p:nvSpPr>
          <p:spPr bwMode="auto">
            <a:xfrm>
              <a:off x="4442" y="1890"/>
              <a:ext cx="55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3" name="Line 81"/>
            <p:cNvSpPr>
              <a:spLocks noChangeShapeType="1"/>
            </p:cNvSpPr>
            <p:nvPr/>
          </p:nvSpPr>
          <p:spPr bwMode="auto">
            <a:xfrm>
              <a:off x="4988" y="1890"/>
              <a:ext cx="0"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4" name="Line 82"/>
            <p:cNvSpPr>
              <a:spLocks noChangeShapeType="1"/>
            </p:cNvSpPr>
            <p:nvPr/>
          </p:nvSpPr>
          <p:spPr bwMode="auto">
            <a:xfrm flipH="1">
              <a:off x="4442" y="2505"/>
              <a:ext cx="545"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5" name="Line 83"/>
            <p:cNvSpPr>
              <a:spLocks noChangeShapeType="1"/>
            </p:cNvSpPr>
            <p:nvPr/>
          </p:nvSpPr>
          <p:spPr bwMode="auto">
            <a:xfrm>
              <a:off x="4988" y="1890"/>
              <a:ext cx="60" cy="6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6" name="Line 84"/>
            <p:cNvSpPr>
              <a:spLocks noChangeShapeType="1"/>
            </p:cNvSpPr>
            <p:nvPr/>
          </p:nvSpPr>
          <p:spPr bwMode="auto">
            <a:xfrm>
              <a:off x="5048" y="1944"/>
              <a:ext cx="0" cy="50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7" name="Line 85"/>
            <p:cNvSpPr>
              <a:spLocks noChangeShapeType="1"/>
            </p:cNvSpPr>
            <p:nvPr/>
          </p:nvSpPr>
          <p:spPr bwMode="auto">
            <a:xfrm flipH="1">
              <a:off x="4982" y="2442"/>
              <a:ext cx="66" cy="6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8" name="Line 86"/>
            <p:cNvSpPr>
              <a:spLocks noChangeShapeType="1"/>
            </p:cNvSpPr>
            <p:nvPr/>
          </p:nvSpPr>
          <p:spPr bwMode="auto">
            <a:xfrm>
              <a:off x="4349" y="1794"/>
              <a:ext cx="0" cy="81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59" name="Line 87"/>
            <p:cNvSpPr>
              <a:spLocks noChangeShapeType="1"/>
            </p:cNvSpPr>
            <p:nvPr/>
          </p:nvSpPr>
          <p:spPr bwMode="auto">
            <a:xfrm>
              <a:off x="3890" y="1806"/>
              <a:ext cx="45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0" name="Line 88"/>
            <p:cNvSpPr>
              <a:spLocks noChangeShapeType="1"/>
            </p:cNvSpPr>
            <p:nvPr/>
          </p:nvSpPr>
          <p:spPr bwMode="auto">
            <a:xfrm>
              <a:off x="3878" y="2598"/>
              <a:ext cx="46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1" name="Line 89"/>
            <p:cNvSpPr>
              <a:spLocks noChangeShapeType="1"/>
            </p:cNvSpPr>
            <p:nvPr/>
          </p:nvSpPr>
          <p:spPr bwMode="auto">
            <a:xfrm>
              <a:off x="4442" y="1890"/>
              <a:ext cx="0" cy="61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2" name="Line 90"/>
            <p:cNvSpPr>
              <a:spLocks noChangeShapeType="1"/>
            </p:cNvSpPr>
            <p:nvPr/>
          </p:nvSpPr>
          <p:spPr bwMode="auto">
            <a:xfrm>
              <a:off x="4346" y="2442"/>
              <a:ext cx="9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3" name="Line 91"/>
            <p:cNvSpPr>
              <a:spLocks noChangeShapeType="1"/>
            </p:cNvSpPr>
            <p:nvPr/>
          </p:nvSpPr>
          <p:spPr bwMode="auto">
            <a:xfrm>
              <a:off x="4346" y="1950"/>
              <a:ext cx="96" cy="0"/>
            </a:xfrm>
            <a:prstGeom prst="lin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4" name="Freeform 92"/>
            <p:cNvSpPr/>
            <p:nvPr/>
          </p:nvSpPr>
          <p:spPr bwMode="auto">
            <a:xfrm>
              <a:off x="3838" y="1806"/>
              <a:ext cx="77" cy="798"/>
            </a:xfrm>
            <a:custGeom>
              <a:avLst/>
              <a:gdLst>
                <a:gd name="T0" fmla="*/ 57 w 77"/>
                <a:gd name="T1" fmla="*/ 0 h 798"/>
                <a:gd name="T2" fmla="*/ 76 w 77"/>
                <a:gd name="T3" fmla="*/ 212 h 798"/>
                <a:gd name="T4" fmla="*/ 65 w 77"/>
                <a:gd name="T5" fmla="*/ 367 h 798"/>
                <a:gd name="T6" fmla="*/ 4 w 77"/>
                <a:gd name="T7" fmla="*/ 619 h 798"/>
                <a:gd name="T8" fmla="*/ 43 w 77"/>
                <a:gd name="T9" fmla="*/ 798 h 798"/>
              </a:gdLst>
              <a:ahLst/>
              <a:cxnLst>
                <a:cxn ang="0">
                  <a:pos x="T0" y="T1"/>
                </a:cxn>
                <a:cxn ang="0">
                  <a:pos x="T2" y="T3"/>
                </a:cxn>
                <a:cxn ang="0">
                  <a:pos x="T4" y="T5"/>
                </a:cxn>
                <a:cxn ang="0">
                  <a:pos x="T6" y="T7"/>
                </a:cxn>
                <a:cxn ang="0">
                  <a:pos x="T8" y="T9"/>
                </a:cxn>
              </a:cxnLst>
              <a:rect l="0" t="0" r="r" b="b"/>
              <a:pathLst>
                <a:path w="77" h="798">
                  <a:moveTo>
                    <a:pt x="57" y="0"/>
                  </a:moveTo>
                  <a:cubicBezTo>
                    <a:pt x="29" y="73"/>
                    <a:pt x="49" y="139"/>
                    <a:pt x="76" y="212"/>
                  </a:cubicBezTo>
                  <a:cubicBezTo>
                    <a:pt x="75" y="273"/>
                    <a:pt x="77" y="299"/>
                    <a:pt x="65" y="367"/>
                  </a:cubicBezTo>
                  <a:cubicBezTo>
                    <a:pt x="53" y="435"/>
                    <a:pt x="8" y="547"/>
                    <a:pt x="4" y="619"/>
                  </a:cubicBezTo>
                  <a:cubicBezTo>
                    <a:pt x="0" y="691"/>
                    <a:pt x="35" y="761"/>
                    <a:pt x="43" y="798"/>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5" name="Line 93"/>
            <p:cNvSpPr>
              <a:spLocks noChangeShapeType="1"/>
            </p:cNvSpPr>
            <p:nvPr/>
          </p:nvSpPr>
          <p:spPr bwMode="auto">
            <a:xfrm flipH="1">
              <a:off x="4094" y="1950"/>
              <a:ext cx="25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6" name="Line 94"/>
            <p:cNvSpPr>
              <a:spLocks noChangeShapeType="1"/>
            </p:cNvSpPr>
            <p:nvPr/>
          </p:nvSpPr>
          <p:spPr bwMode="auto">
            <a:xfrm flipH="1">
              <a:off x="4094" y="2442"/>
              <a:ext cx="25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7" name="Line 95"/>
            <p:cNvSpPr>
              <a:spLocks noChangeShapeType="1"/>
            </p:cNvSpPr>
            <p:nvPr/>
          </p:nvSpPr>
          <p:spPr bwMode="auto">
            <a:xfrm flipV="1">
              <a:off x="4166" y="1936"/>
              <a:ext cx="0" cy="502"/>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8" name="Line 96"/>
            <p:cNvSpPr>
              <a:spLocks noChangeShapeType="1"/>
            </p:cNvSpPr>
            <p:nvPr/>
          </p:nvSpPr>
          <p:spPr bwMode="auto">
            <a:xfrm flipH="1">
              <a:off x="3782" y="2208"/>
              <a:ext cx="192"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72" name="Text Box 100"/>
            <p:cNvSpPr txBox="1">
              <a:spLocks noChangeArrowheads="1"/>
            </p:cNvSpPr>
            <p:nvPr/>
          </p:nvSpPr>
          <p:spPr bwMode="auto">
            <a:xfrm>
              <a:off x="4475" y="2581"/>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b="1" i="1">
                  <a:solidFill>
                    <a:srgbClr val="FF3300"/>
                  </a:solidFill>
                  <a:latin typeface="ISOCPEUR" panose="020B0604020202020204" pitchFamily="34" charset="0"/>
                </a:rPr>
                <a:t>b</a:t>
              </a:r>
              <a:endParaRPr lang="en-US" altLang="zh-CN" b="1" i="1">
                <a:solidFill>
                  <a:srgbClr val="FF3300"/>
                </a:solidFill>
                <a:latin typeface="ISOCPEUR" panose="020B0604020202020204" pitchFamily="34" charset="0"/>
              </a:endParaRPr>
            </a:p>
          </p:txBody>
        </p:sp>
        <p:sp>
          <p:nvSpPr>
            <p:cNvPr id="28773" name="Line 101"/>
            <p:cNvSpPr>
              <a:spLocks noChangeShapeType="1"/>
            </p:cNvSpPr>
            <p:nvPr/>
          </p:nvSpPr>
          <p:spPr bwMode="auto">
            <a:xfrm>
              <a:off x="4346" y="2598"/>
              <a:ext cx="0" cy="27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74" name="Line 102"/>
            <p:cNvSpPr>
              <a:spLocks noChangeShapeType="1"/>
            </p:cNvSpPr>
            <p:nvPr/>
          </p:nvSpPr>
          <p:spPr bwMode="auto">
            <a:xfrm>
              <a:off x="4442" y="2466"/>
              <a:ext cx="0" cy="40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77" name="Line 105"/>
            <p:cNvSpPr>
              <a:spLocks noChangeShapeType="1"/>
            </p:cNvSpPr>
            <p:nvPr/>
          </p:nvSpPr>
          <p:spPr bwMode="auto">
            <a:xfrm flipV="1">
              <a:off x="4484" y="1614"/>
              <a:ext cx="187" cy="108"/>
            </a:xfrm>
            <a:prstGeom prst="line">
              <a:avLst/>
            </a:prstGeom>
            <a:noFill/>
            <a:ln w="19050">
              <a:solidFill>
                <a:srgbClr val="FF3300"/>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8793" name="Group 121"/>
            <p:cNvGrpSpPr/>
            <p:nvPr/>
          </p:nvGrpSpPr>
          <p:grpSpPr bwMode="auto">
            <a:xfrm>
              <a:off x="4140" y="2838"/>
              <a:ext cx="534" cy="3"/>
              <a:chOff x="4140" y="2187"/>
              <a:chExt cx="534" cy="3"/>
            </a:xfrm>
          </p:grpSpPr>
          <p:sp>
            <p:nvSpPr>
              <p:cNvPr id="28771" name="Line 99"/>
              <p:cNvSpPr>
                <a:spLocks noChangeShapeType="1"/>
              </p:cNvSpPr>
              <p:nvPr/>
            </p:nvSpPr>
            <p:spPr bwMode="auto">
              <a:xfrm>
                <a:off x="4442" y="2187"/>
                <a:ext cx="116"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81" name="Line 109"/>
              <p:cNvSpPr>
                <a:spLocks noChangeShapeType="1"/>
              </p:cNvSpPr>
              <p:nvPr/>
            </p:nvSpPr>
            <p:spPr bwMode="auto">
              <a:xfrm flipH="1">
                <a:off x="4223" y="2187"/>
                <a:ext cx="116"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92" name="Line 120"/>
              <p:cNvSpPr>
                <a:spLocks noChangeShapeType="1"/>
              </p:cNvSpPr>
              <p:nvPr/>
            </p:nvSpPr>
            <p:spPr bwMode="auto">
              <a:xfrm>
                <a:off x="4140" y="2190"/>
                <a:ext cx="53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8829" name="Group 157"/>
            <p:cNvGrpSpPr/>
            <p:nvPr/>
          </p:nvGrpSpPr>
          <p:grpSpPr bwMode="auto">
            <a:xfrm>
              <a:off x="4373" y="1545"/>
              <a:ext cx="120" cy="345"/>
              <a:chOff x="4373" y="1545"/>
              <a:chExt cx="120" cy="345"/>
            </a:xfrm>
          </p:grpSpPr>
          <p:sp>
            <p:nvSpPr>
              <p:cNvPr id="28770" name="Line 98"/>
              <p:cNvSpPr>
                <a:spLocks noChangeShapeType="1"/>
              </p:cNvSpPr>
              <p:nvPr/>
            </p:nvSpPr>
            <p:spPr bwMode="auto">
              <a:xfrm flipV="1">
                <a:off x="4493" y="1545"/>
                <a:ext cx="0" cy="315"/>
              </a:xfrm>
              <a:prstGeom prst="lin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75" name="Line 103"/>
              <p:cNvSpPr>
                <a:spLocks noChangeShapeType="1"/>
              </p:cNvSpPr>
              <p:nvPr/>
            </p:nvSpPr>
            <p:spPr bwMode="auto">
              <a:xfrm flipH="1">
                <a:off x="4403" y="1890"/>
                <a:ext cx="60" cy="0"/>
              </a:xfrm>
              <a:prstGeom prst="lin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76" name="Freeform 104"/>
              <p:cNvSpPr/>
              <p:nvPr/>
            </p:nvSpPr>
            <p:spPr bwMode="auto">
              <a:xfrm>
                <a:off x="4375" y="1551"/>
                <a:ext cx="108" cy="330"/>
              </a:xfrm>
              <a:custGeom>
                <a:avLst/>
                <a:gdLst>
                  <a:gd name="T0" fmla="*/ 0 w 108"/>
                  <a:gd name="T1" fmla="*/ 18 h 330"/>
                  <a:gd name="T2" fmla="*/ 0 w 108"/>
                  <a:gd name="T3" fmla="*/ 294 h 330"/>
                  <a:gd name="T4" fmla="*/ 6 w 108"/>
                  <a:gd name="T5" fmla="*/ 318 h 330"/>
                  <a:gd name="T6" fmla="*/ 27 w 108"/>
                  <a:gd name="T7" fmla="*/ 330 h 330"/>
                  <a:gd name="T8" fmla="*/ 84 w 108"/>
                  <a:gd name="T9" fmla="*/ 327 h 330"/>
                  <a:gd name="T10" fmla="*/ 99 w 108"/>
                  <a:gd name="T11" fmla="*/ 318 h 330"/>
                  <a:gd name="T12" fmla="*/ 108 w 108"/>
                  <a:gd name="T13" fmla="*/ 300 h 330"/>
                  <a:gd name="T14" fmla="*/ 108 w 108"/>
                  <a:gd name="T15" fmla="*/ 0 h 330"/>
                  <a:gd name="T16" fmla="*/ 0 w 108"/>
                  <a:gd name="T17" fmla="*/ 18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330">
                    <a:moveTo>
                      <a:pt x="0" y="18"/>
                    </a:moveTo>
                    <a:lnTo>
                      <a:pt x="0" y="294"/>
                    </a:lnTo>
                    <a:lnTo>
                      <a:pt x="6" y="318"/>
                    </a:lnTo>
                    <a:lnTo>
                      <a:pt x="27" y="330"/>
                    </a:lnTo>
                    <a:lnTo>
                      <a:pt x="84" y="327"/>
                    </a:lnTo>
                    <a:lnTo>
                      <a:pt x="99" y="318"/>
                    </a:lnTo>
                    <a:lnTo>
                      <a:pt x="108" y="300"/>
                    </a:lnTo>
                    <a:lnTo>
                      <a:pt x="108" y="0"/>
                    </a:lnTo>
                    <a:lnTo>
                      <a:pt x="0" y="18"/>
                    </a:lnTo>
                    <a:close/>
                  </a:path>
                </a:pathLst>
              </a:custGeom>
              <a:pattFill prst="smConfetti">
                <a:fgClr>
                  <a:schemeClr val="bg1"/>
                </a:fgClr>
                <a:bgClr>
                  <a:srgbClr val="B2B2B2"/>
                </a:bgClr>
              </a:patt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78" name="Freeform 106"/>
              <p:cNvSpPr/>
              <p:nvPr/>
            </p:nvSpPr>
            <p:spPr bwMode="auto">
              <a:xfrm>
                <a:off x="4379" y="1854"/>
                <a:ext cx="36" cy="33"/>
              </a:xfrm>
              <a:custGeom>
                <a:avLst/>
                <a:gdLst>
                  <a:gd name="T0" fmla="*/ 0 w 36"/>
                  <a:gd name="T1" fmla="*/ 0 h 33"/>
                  <a:gd name="T2" fmla="*/ 6 w 36"/>
                  <a:gd name="T3" fmla="*/ 24 h 33"/>
                  <a:gd name="T4" fmla="*/ 36 w 36"/>
                  <a:gd name="T5" fmla="*/ 33 h 33"/>
                </a:gdLst>
                <a:ahLst/>
                <a:cxnLst>
                  <a:cxn ang="0">
                    <a:pos x="T0" y="T1"/>
                  </a:cxn>
                  <a:cxn ang="0">
                    <a:pos x="T2" y="T3"/>
                  </a:cxn>
                  <a:cxn ang="0">
                    <a:pos x="T4" y="T5"/>
                  </a:cxn>
                </a:cxnLst>
                <a:rect l="0" t="0" r="r" b="b"/>
                <a:pathLst>
                  <a:path w="36" h="33">
                    <a:moveTo>
                      <a:pt x="0" y="0"/>
                    </a:moveTo>
                    <a:cubicBezTo>
                      <a:pt x="0" y="9"/>
                      <a:pt x="0" y="19"/>
                      <a:pt x="6" y="24"/>
                    </a:cubicBezTo>
                    <a:cubicBezTo>
                      <a:pt x="12" y="29"/>
                      <a:pt x="32" y="32"/>
                      <a:pt x="36" y="33"/>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79" name="Freeform 107"/>
              <p:cNvSpPr/>
              <p:nvPr/>
            </p:nvSpPr>
            <p:spPr bwMode="auto">
              <a:xfrm>
                <a:off x="4460" y="1848"/>
                <a:ext cx="32" cy="36"/>
              </a:xfrm>
              <a:custGeom>
                <a:avLst/>
                <a:gdLst>
                  <a:gd name="T0" fmla="*/ 30 w 32"/>
                  <a:gd name="T1" fmla="*/ 0 h 36"/>
                  <a:gd name="T2" fmla="*/ 27 w 32"/>
                  <a:gd name="T3" fmla="*/ 21 h 36"/>
                  <a:gd name="T4" fmla="*/ 0 w 32"/>
                  <a:gd name="T5" fmla="*/ 36 h 36"/>
                </a:gdLst>
                <a:ahLst/>
                <a:cxnLst>
                  <a:cxn ang="0">
                    <a:pos x="T0" y="T1"/>
                  </a:cxn>
                  <a:cxn ang="0">
                    <a:pos x="T2" y="T3"/>
                  </a:cxn>
                  <a:cxn ang="0">
                    <a:pos x="T4" y="T5"/>
                  </a:cxn>
                </a:cxnLst>
                <a:rect l="0" t="0" r="r" b="b"/>
                <a:pathLst>
                  <a:path w="32" h="36">
                    <a:moveTo>
                      <a:pt x="30" y="0"/>
                    </a:moveTo>
                    <a:cubicBezTo>
                      <a:pt x="29" y="3"/>
                      <a:pt x="32" y="15"/>
                      <a:pt x="27" y="21"/>
                    </a:cubicBezTo>
                    <a:cubicBezTo>
                      <a:pt x="22" y="27"/>
                      <a:pt x="6" y="33"/>
                      <a:pt x="0" y="36"/>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769" name="Line 97"/>
              <p:cNvSpPr>
                <a:spLocks noChangeShapeType="1"/>
              </p:cNvSpPr>
              <p:nvPr/>
            </p:nvSpPr>
            <p:spPr bwMode="auto">
              <a:xfrm flipV="1">
                <a:off x="4373" y="1569"/>
                <a:ext cx="0" cy="303"/>
              </a:xfrm>
              <a:prstGeom prst="line">
                <a:avLst/>
              </a:prstGeom>
              <a:noFill/>
              <a:ln w="38100">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box(out)">
                                      <p:cBhvr>
                                        <p:cTn id="7" dur="500"/>
                                        <p:tgtEl>
                                          <p:spTgt spid="286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78"/>
                                        </p:tgtEl>
                                        <p:attrNameLst>
                                          <p:attrName>style.visibility</p:attrName>
                                        </p:attrNameLst>
                                      </p:cBhvr>
                                      <p:to>
                                        <p:strVal val="visible"/>
                                      </p:to>
                                    </p:set>
                                    <p:animEffect transition="in" filter="blinds(horizontal)">
                                      <p:cBhvr>
                                        <p:cTn id="12" dur="500"/>
                                        <p:tgtEl>
                                          <p:spTgt spid="2867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813"/>
                                        </p:tgtEl>
                                        <p:attrNameLst>
                                          <p:attrName>style.visibility</p:attrName>
                                        </p:attrNameLst>
                                      </p:cBhvr>
                                      <p:to>
                                        <p:strVal val="visible"/>
                                      </p:to>
                                    </p:set>
                                    <p:animEffect transition="in" filter="blinds(horizontal)">
                                      <p:cBhvr>
                                        <p:cTn id="17" dur="500"/>
                                        <p:tgtEl>
                                          <p:spTgt spid="288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28827"/>
                                        </p:tgtEl>
                                        <p:attrNameLst>
                                          <p:attrName>style.visibility</p:attrName>
                                        </p:attrNameLst>
                                      </p:cBhvr>
                                      <p:to>
                                        <p:strVal val="visible"/>
                                      </p:to>
                                    </p:set>
                                    <p:animEffect transition="in" filter="blinds(vertical)">
                                      <p:cBhvr>
                                        <p:cTn id="22" dur="500"/>
                                        <p:tgtEl>
                                          <p:spTgt spid="288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28677"/>
                                        </p:tgtEl>
                                        <p:attrNameLst>
                                          <p:attrName>style.visibility</p:attrName>
                                        </p:attrNameLst>
                                      </p:cBhvr>
                                      <p:to>
                                        <p:strVal val="visible"/>
                                      </p:to>
                                    </p:set>
                                    <p:animEffect transition="in" filter="wipe(right)">
                                      <p:cBhvr>
                                        <p:cTn id="27" dur="500"/>
                                        <p:tgtEl>
                                          <p:spTgt spid="2867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8830"/>
                                        </p:tgtEl>
                                        <p:attrNameLst>
                                          <p:attrName>style.visibility</p:attrName>
                                        </p:attrNameLst>
                                      </p:cBhvr>
                                      <p:to>
                                        <p:strVal val="visible"/>
                                      </p:to>
                                    </p:set>
                                    <p:animEffect transition="in" filter="blinds(horizontal)">
                                      <p:cBhvr>
                                        <p:cTn id="32" dur="500"/>
                                        <p:tgtEl>
                                          <p:spTgt spid="28830"/>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28676"/>
                                        </p:tgtEl>
                                        <p:attrNameLst>
                                          <p:attrName>style.visibility</p:attrName>
                                        </p:attrNameLst>
                                      </p:cBhvr>
                                      <p:to>
                                        <p:strVal val="visible"/>
                                      </p:to>
                                    </p:set>
                                    <p:anim calcmode="lin" valueType="num">
                                      <p:cBhvr>
                                        <p:cTn id="37" dur="500" fill="hold"/>
                                        <p:tgtEl>
                                          <p:spTgt spid="28676"/>
                                        </p:tgtEl>
                                        <p:attrNameLst>
                                          <p:attrName>ppt_w</p:attrName>
                                        </p:attrNameLst>
                                      </p:cBhvr>
                                      <p:tavLst>
                                        <p:tav tm="0">
                                          <p:val>
                                            <p:fltVal val="0"/>
                                          </p:val>
                                        </p:tav>
                                        <p:tav tm="100000">
                                          <p:val>
                                            <p:strVal val="#ppt_w"/>
                                          </p:val>
                                        </p:tav>
                                      </p:tavLst>
                                    </p:anim>
                                    <p:anim calcmode="lin" valueType="num">
                                      <p:cBhvr>
                                        <p:cTn id="38" dur="500" fill="hold"/>
                                        <p:tgtEl>
                                          <p:spTgt spid="2867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utoUpdateAnimBg="0"/>
      <p:bldP spid="28676" grpId="0" autoUpdateAnimBg="0"/>
      <p:bldP spid="28677" grpId="0" autoUpdateAnimBg="0"/>
      <p:bldP spid="2867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ext Box 3"/>
          <p:cNvSpPr txBox="1">
            <a:spLocks noChangeArrowheads="1"/>
          </p:cNvSpPr>
          <p:nvPr/>
        </p:nvSpPr>
        <p:spPr bwMode="auto">
          <a:xfrm>
            <a:off x="269875" y="158750"/>
            <a:ext cx="2952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FF3300"/>
                </a:solidFill>
              </a:rPr>
              <a:t>3</a:t>
            </a:r>
            <a:r>
              <a:rPr lang="zh-CN" altLang="en-US" sz="3200" b="1">
                <a:solidFill>
                  <a:srgbClr val="FF3300"/>
                </a:solidFill>
              </a:rPr>
              <a:t>）凸台和凹坑</a:t>
            </a:r>
            <a:endParaRPr lang="zh-CN" altLang="en-US" sz="3200" b="1">
              <a:solidFill>
                <a:srgbClr val="FF3300"/>
              </a:solidFill>
            </a:endParaRPr>
          </a:p>
        </p:txBody>
      </p:sp>
      <p:sp>
        <p:nvSpPr>
          <p:cNvPr id="29700" name="Text Box 4"/>
          <p:cNvSpPr txBox="1">
            <a:spLocks noChangeArrowheads="1"/>
          </p:cNvSpPr>
          <p:nvPr/>
        </p:nvSpPr>
        <p:spPr bwMode="auto">
          <a:xfrm>
            <a:off x="814388" y="687388"/>
            <a:ext cx="7899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t>作用：减少机械加工量及保证两表面接触良好。</a:t>
            </a:r>
            <a:endParaRPr lang="zh-CN" altLang="en-US" sz="2800" b="1"/>
          </a:p>
        </p:txBody>
      </p:sp>
      <p:pic>
        <p:nvPicPr>
          <p:cNvPr id="29701" name="Picture 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60425" y="1854200"/>
            <a:ext cx="7785100" cy="3041650"/>
          </a:xfrm>
          <a:prstGeom prst="rect">
            <a:avLst/>
          </a:prstGeom>
          <a:noFill/>
          <a:extLst>
            <a:ext uri="{909E8E84-426E-40DD-AFC4-6F175D3DCCD1}">
              <a14:hiddenFill xmlns:a14="http://schemas.microsoft.com/office/drawing/2010/main">
                <a:solidFill>
                  <a:srgbClr val="FFFFFF"/>
                </a:solidFill>
              </a14:hiddenFill>
            </a:ext>
          </a:extLst>
        </p:spPr>
      </p:pic>
      <p:grpSp>
        <p:nvGrpSpPr>
          <p:cNvPr id="29702" name="Group 6"/>
          <p:cNvGrpSpPr/>
          <p:nvPr/>
        </p:nvGrpSpPr>
        <p:grpSpPr bwMode="auto">
          <a:xfrm>
            <a:off x="6832600" y="1812925"/>
            <a:ext cx="901700" cy="1189038"/>
            <a:chOff x="4280" y="1322"/>
            <a:chExt cx="568" cy="749"/>
          </a:xfrm>
        </p:grpSpPr>
        <p:sp>
          <p:nvSpPr>
            <p:cNvPr id="29703" name="Line 7"/>
            <p:cNvSpPr>
              <a:spLocks noChangeShapeType="1"/>
            </p:cNvSpPr>
            <p:nvPr/>
          </p:nvSpPr>
          <p:spPr bwMode="auto">
            <a:xfrm>
              <a:off x="4332" y="1634"/>
              <a:ext cx="317" cy="437"/>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04" name="Line 8"/>
            <p:cNvSpPr>
              <a:spLocks noChangeShapeType="1"/>
            </p:cNvSpPr>
            <p:nvPr/>
          </p:nvSpPr>
          <p:spPr bwMode="auto">
            <a:xfrm>
              <a:off x="4332" y="1634"/>
              <a:ext cx="475"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05" name="Text Box 9"/>
            <p:cNvSpPr txBox="1">
              <a:spLocks noChangeArrowheads="1"/>
            </p:cNvSpPr>
            <p:nvPr/>
          </p:nvSpPr>
          <p:spPr bwMode="auto">
            <a:xfrm>
              <a:off x="4280" y="1322"/>
              <a:ext cx="5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2800" b="1">
                  <a:solidFill>
                    <a:srgbClr val="FF3300"/>
                  </a:solidFill>
                </a:rPr>
                <a:t>凹腔</a:t>
              </a:r>
              <a:endParaRPr lang="zh-CN" altLang="en-US" sz="2800" b="1">
                <a:solidFill>
                  <a:srgbClr val="FF3300"/>
                </a:solidFill>
              </a:endParaRPr>
            </a:p>
          </p:txBody>
        </p:sp>
      </p:grpSp>
      <p:grpSp>
        <p:nvGrpSpPr>
          <p:cNvPr id="29706" name="Group 10"/>
          <p:cNvGrpSpPr/>
          <p:nvPr/>
        </p:nvGrpSpPr>
        <p:grpSpPr bwMode="auto">
          <a:xfrm>
            <a:off x="5226050" y="1212850"/>
            <a:ext cx="2898775" cy="565150"/>
            <a:chOff x="3872" y="3548"/>
            <a:chExt cx="1826" cy="356"/>
          </a:xfrm>
        </p:grpSpPr>
        <p:sp>
          <p:nvSpPr>
            <p:cNvPr id="29707" name="Text Box 11"/>
            <p:cNvSpPr txBox="1">
              <a:spLocks noChangeArrowheads="1"/>
            </p:cNvSpPr>
            <p:nvPr/>
          </p:nvSpPr>
          <p:spPr bwMode="auto">
            <a:xfrm>
              <a:off x="4007" y="3577"/>
              <a:ext cx="16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2800" b="1">
                  <a:solidFill>
                    <a:srgbClr val="FF3300"/>
                  </a:solidFill>
                </a:rPr>
                <a:t>处为接触加工面</a:t>
              </a:r>
              <a:endParaRPr lang="zh-CN" altLang="en-US" sz="2800" b="1">
                <a:solidFill>
                  <a:srgbClr val="FF3300"/>
                </a:solidFill>
              </a:endParaRPr>
            </a:p>
          </p:txBody>
        </p:sp>
        <p:grpSp>
          <p:nvGrpSpPr>
            <p:cNvPr id="29708" name="Group 12"/>
            <p:cNvGrpSpPr/>
            <p:nvPr/>
          </p:nvGrpSpPr>
          <p:grpSpPr bwMode="auto">
            <a:xfrm>
              <a:off x="3872" y="3548"/>
              <a:ext cx="268" cy="328"/>
              <a:chOff x="4040" y="3540"/>
              <a:chExt cx="268" cy="328"/>
            </a:xfrm>
          </p:grpSpPr>
          <p:sp>
            <p:nvSpPr>
              <p:cNvPr id="29709" name="Line 13"/>
              <p:cNvSpPr>
                <a:spLocks noChangeShapeType="1"/>
              </p:cNvSpPr>
              <p:nvPr/>
            </p:nvSpPr>
            <p:spPr bwMode="auto">
              <a:xfrm>
                <a:off x="4048" y="3700"/>
                <a:ext cx="80" cy="16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0" name="Line 14"/>
              <p:cNvSpPr>
                <a:spLocks noChangeShapeType="1"/>
              </p:cNvSpPr>
              <p:nvPr/>
            </p:nvSpPr>
            <p:spPr bwMode="auto">
              <a:xfrm flipV="1">
                <a:off x="4128" y="3540"/>
                <a:ext cx="180" cy="31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1" name="Line 15"/>
              <p:cNvSpPr>
                <a:spLocks noChangeShapeType="1"/>
              </p:cNvSpPr>
              <p:nvPr/>
            </p:nvSpPr>
            <p:spPr bwMode="auto">
              <a:xfrm>
                <a:off x="4040" y="3696"/>
                <a:ext cx="18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29712" name="Group 16"/>
          <p:cNvGrpSpPr/>
          <p:nvPr/>
        </p:nvGrpSpPr>
        <p:grpSpPr bwMode="auto">
          <a:xfrm>
            <a:off x="895350" y="1457325"/>
            <a:ext cx="901700" cy="904875"/>
            <a:chOff x="540" y="1098"/>
            <a:chExt cx="568" cy="570"/>
          </a:xfrm>
        </p:grpSpPr>
        <p:sp>
          <p:nvSpPr>
            <p:cNvPr id="29713" name="Line 17"/>
            <p:cNvSpPr>
              <a:spLocks noChangeShapeType="1"/>
            </p:cNvSpPr>
            <p:nvPr/>
          </p:nvSpPr>
          <p:spPr bwMode="auto">
            <a:xfrm flipH="1">
              <a:off x="623" y="1409"/>
              <a:ext cx="39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4" name="Text Box 18"/>
            <p:cNvSpPr txBox="1">
              <a:spLocks noChangeArrowheads="1"/>
            </p:cNvSpPr>
            <p:nvPr/>
          </p:nvSpPr>
          <p:spPr bwMode="auto">
            <a:xfrm>
              <a:off x="540" y="1098"/>
              <a:ext cx="5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2800" b="1">
                  <a:solidFill>
                    <a:srgbClr val="FF3300"/>
                  </a:solidFill>
                </a:rPr>
                <a:t>凸台</a:t>
              </a:r>
              <a:endParaRPr lang="zh-CN" altLang="en-US" sz="2800" b="1">
                <a:solidFill>
                  <a:srgbClr val="FF3300"/>
                </a:solidFill>
              </a:endParaRPr>
            </a:p>
          </p:txBody>
        </p:sp>
        <p:sp>
          <p:nvSpPr>
            <p:cNvPr id="29715" name="Line 19"/>
            <p:cNvSpPr>
              <a:spLocks noChangeShapeType="1"/>
            </p:cNvSpPr>
            <p:nvPr/>
          </p:nvSpPr>
          <p:spPr bwMode="auto">
            <a:xfrm flipH="1">
              <a:off x="888" y="1404"/>
              <a:ext cx="132" cy="264"/>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716" name="Group 20"/>
          <p:cNvGrpSpPr/>
          <p:nvPr/>
        </p:nvGrpSpPr>
        <p:grpSpPr bwMode="auto">
          <a:xfrm>
            <a:off x="2725738" y="1476375"/>
            <a:ext cx="901700" cy="962025"/>
            <a:chOff x="1693" y="1110"/>
            <a:chExt cx="568" cy="606"/>
          </a:xfrm>
        </p:grpSpPr>
        <p:sp>
          <p:nvSpPr>
            <p:cNvPr id="29717" name="Line 21"/>
            <p:cNvSpPr>
              <a:spLocks noChangeShapeType="1"/>
            </p:cNvSpPr>
            <p:nvPr/>
          </p:nvSpPr>
          <p:spPr bwMode="auto">
            <a:xfrm>
              <a:off x="1762" y="1414"/>
              <a:ext cx="424" cy="0"/>
            </a:xfrm>
            <a:prstGeom prst="line">
              <a:avLst/>
            </a:prstGeom>
            <a:noFill/>
            <a:ln w="127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8" name="Text Box 22"/>
            <p:cNvSpPr txBox="1">
              <a:spLocks noChangeArrowheads="1"/>
            </p:cNvSpPr>
            <p:nvPr/>
          </p:nvSpPr>
          <p:spPr bwMode="auto">
            <a:xfrm>
              <a:off x="1693" y="1110"/>
              <a:ext cx="5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2800" b="1">
                  <a:solidFill>
                    <a:srgbClr val="FF3300"/>
                  </a:solidFill>
                </a:rPr>
                <a:t>凹坑</a:t>
              </a:r>
              <a:endParaRPr lang="zh-CN" altLang="en-US" sz="2800" b="1">
                <a:solidFill>
                  <a:srgbClr val="FF3300"/>
                </a:solidFill>
              </a:endParaRPr>
            </a:p>
          </p:txBody>
        </p:sp>
        <p:sp>
          <p:nvSpPr>
            <p:cNvPr id="29719" name="Line 23"/>
            <p:cNvSpPr>
              <a:spLocks noChangeShapeType="1"/>
            </p:cNvSpPr>
            <p:nvPr/>
          </p:nvSpPr>
          <p:spPr bwMode="auto">
            <a:xfrm flipH="1">
              <a:off x="2088" y="1416"/>
              <a:ext cx="98" cy="300"/>
            </a:xfrm>
            <a:prstGeom prst="line">
              <a:avLst/>
            </a:prstGeom>
            <a:noFill/>
            <a:ln w="1270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9723" name="Group 27"/>
          <p:cNvGrpSpPr/>
          <p:nvPr/>
        </p:nvGrpSpPr>
        <p:grpSpPr bwMode="auto">
          <a:xfrm>
            <a:off x="3962400" y="4359275"/>
            <a:ext cx="1273175" cy="647700"/>
            <a:chOff x="2512" y="2746"/>
            <a:chExt cx="802" cy="408"/>
          </a:xfrm>
        </p:grpSpPr>
        <p:sp>
          <p:nvSpPr>
            <p:cNvPr id="29724" name="Text Box 28"/>
            <p:cNvSpPr txBox="1">
              <a:spLocks noChangeArrowheads="1"/>
            </p:cNvSpPr>
            <p:nvPr/>
          </p:nvSpPr>
          <p:spPr bwMode="auto">
            <a:xfrm>
              <a:off x="2512" y="2827"/>
              <a:ext cx="6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solidFill>
                    <a:srgbClr val="FF3300"/>
                  </a:solidFill>
                </a:rPr>
                <a:t>凹槽</a:t>
              </a:r>
              <a:endParaRPr lang="zh-CN" altLang="en-US" sz="2800" b="1">
                <a:solidFill>
                  <a:srgbClr val="FF3300"/>
                </a:solidFill>
              </a:endParaRPr>
            </a:p>
          </p:txBody>
        </p:sp>
        <p:sp>
          <p:nvSpPr>
            <p:cNvPr id="29725" name="Line 29"/>
            <p:cNvSpPr>
              <a:spLocks noChangeShapeType="1"/>
            </p:cNvSpPr>
            <p:nvPr/>
          </p:nvSpPr>
          <p:spPr bwMode="auto">
            <a:xfrm flipH="1">
              <a:off x="3023" y="2746"/>
              <a:ext cx="291" cy="397"/>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26" name="Line 30"/>
            <p:cNvSpPr>
              <a:spLocks noChangeShapeType="1"/>
            </p:cNvSpPr>
            <p:nvPr/>
          </p:nvSpPr>
          <p:spPr bwMode="auto">
            <a:xfrm flipH="1">
              <a:off x="2592" y="3144"/>
              <a:ext cx="432" cy="0"/>
            </a:xfrm>
            <a:prstGeom prst="line">
              <a:avLst/>
            </a:prstGeom>
            <a:noFill/>
            <a:ln w="19050">
              <a:solidFill>
                <a:srgbClr val="FF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29732" name="Picture 36"/>
          <p:cNvPicPr>
            <a:picLocks noChangeAspect="1" noChangeArrowheads="1"/>
          </p:cNvPicPr>
          <p:nvPr/>
        </p:nvPicPr>
        <p:blipFill>
          <a:blip r:embed="rId2">
            <a:extLst>
              <a:ext uri="{28A0092B-C50C-407E-A947-70E740481C1C}">
                <a14:useLocalDpi xmlns:a14="http://schemas.microsoft.com/office/drawing/2010/main" val="0"/>
              </a:ext>
            </a:extLst>
          </a:blip>
          <a:srcRect l="6734" t="31610" r="46571" b="24385"/>
          <a:stretch>
            <a:fillRect/>
          </a:stretch>
        </p:blipFill>
        <p:spPr bwMode="auto">
          <a:xfrm>
            <a:off x="730250" y="4948238"/>
            <a:ext cx="1682750" cy="987425"/>
          </a:xfrm>
          <a:prstGeom prst="rect">
            <a:avLst/>
          </a:prstGeom>
          <a:noFill/>
          <a:extLst>
            <a:ext uri="{909E8E84-426E-40DD-AFC4-6F175D3DCCD1}">
              <a14:hiddenFill xmlns:a14="http://schemas.microsoft.com/office/drawing/2010/main">
                <a:solidFill>
                  <a:srgbClr val="FFFFFF"/>
                </a:solidFill>
              </a14:hiddenFill>
            </a:ext>
          </a:extLst>
        </p:spPr>
      </p:pic>
      <p:pic>
        <p:nvPicPr>
          <p:cNvPr id="29733" name="Picture 37"/>
          <p:cNvPicPr>
            <a:picLocks noChangeAspect="1" noChangeArrowheads="1"/>
          </p:cNvPicPr>
          <p:nvPr/>
        </p:nvPicPr>
        <p:blipFill>
          <a:blip r:embed="rId3">
            <a:extLst>
              <a:ext uri="{28A0092B-C50C-407E-A947-70E740481C1C}">
                <a14:useLocalDpi xmlns:a14="http://schemas.microsoft.com/office/drawing/2010/main" val="0"/>
              </a:ext>
            </a:extLst>
          </a:blip>
          <a:srcRect l="11996" t="16275" r="21422"/>
          <a:stretch>
            <a:fillRect/>
          </a:stretch>
        </p:blipFill>
        <p:spPr bwMode="auto">
          <a:xfrm>
            <a:off x="4567238" y="4887913"/>
            <a:ext cx="1679575" cy="1482725"/>
          </a:xfrm>
          <a:prstGeom prst="rect">
            <a:avLst/>
          </a:prstGeom>
          <a:noFill/>
          <a:extLst>
            <a:ext uri="{909E8E84-426E-40DD-AFC4-6F175D3DCCD1}">
              <a14:hiddenFill xmlns:a14="http://schemas.microsoft.com/office/drawing/2010/main">
                <a:solidFill>
                  <a:srgbClr val="FFFFFF"/>
                </a:solidFill>
              </a14:hiddenFill>
            </a:ext>
          </a:extLst>
        </p:spPr>
      </p:pic>
      <p:pic>
        <p:nvPicPr>
          <p:cNvPr id="29734" name="Picture 38"/>
          <p:cNvPicPr>
            <a:picLocks noChangeAspect="1" noChangeArrowheads="1"/>
          </p:cNvPicPr>
          <p:nvPr/>
        </p:nvPicPr>
        <p:blipFill>
          <a:blip r:embed="rId4">
            <a:extLst>
              <a:ext uri="{28A0092B-C50C-407E-A947-70E740481C1C}">
                <a14:useLocalDpi xmlns:a14="http://schemas.microsoft.com/office/drawing/2010/main" val="0"/>
              </a:ext>
            </a:extLst>
          </a:blip>
          <a:srcRect l="17561" t="10959" r="19885" b="8130"/>
          <a:stretch>
            <a:fillRect/>
          </a:stretch>
        </p:blipFill>
        <p:spPr bwMode="auto">
          <a:xfrm>
            <a:off x="6500813" y="4365625"/>
            <a:ext cx="2070100" cy="1955800"/>
          </a:xfrm>
          <a:prstGeom prst="rect">
            <a:avLst/>
          </a:prstGeom>
          <a:noFill/>
          <a:extLst>
            <a:ext uri="{909E8E84-426E-40DD-AFC4-6F175D3DCCD1}">
              <a14:hiddenFill xmlns:a14="http://schemas.microsoft.com/office/drawing/2010/main">
                <a:solidFill>
                  <a:srgbClr val="FFFFFF"/>
                </a:solidFill>
              </a14:hiddenFill>
            </a:ext>
          </a:extLst>
        </p:spPr>
      </p:pic>
      <p:pic>
        <p:nvPicPr>
          <p:cNvPr id="29736" name="Picture 40"/>
          <p:cNvPicPr>
            <a:picLocks noChangeAspect="1" noChangeArrowheads="1"/>
          </p:cNvPicPr>
          <p:nvPr/>
        </p:nvPicPr>
        <p:blipFill>
          <a:blip r:embed="rId5">
            <a:extLst>
              <a:ext uri="{28A0092B-C50C-407E-A947-70E740481C1C}">
                <a14:useLocalDpi xmlns:a14="http://schemas.microsoft.com/office/drawing/2010/main" val="0"/>
              </a:ext>
            </a:extLst>
          </a:blip>
          <a:srcRect l="26636" t="28154" r="24269" b="27216"/>
          <a:stretch>
            <a:fillRect/>
          </a:stretch>
        </p:blipFill>
        <p:spPr bwMode="auto">
          <a:xfrm>
            <a:off x="2570163" y="4946650"/>
            <a:ext cx="1685925" cy="965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blinds(horizontal)">
                                      <p:cBhvr>
                                        <p:cTn id="7" dur="500"/>
                                        <p:tgtEl>
                                          <p:spTgt spid="297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9701"/>
                                        </p:tgtEl>
                                        <p:attrNameLst>
                                          <p:attrName>style.visibility</p:attrName>
                                        </p:attrNameLst>
                                      </p:cBhvr>
                                      <p:to>
                                        <p:strVal val="visible"/>
                                      </p:to>
                                    </p:set>
                                    <p:animEffect transition="in" filter="blinds(vertical)">
                                      <p:cBhvr>
                                        <p:cTn id="12" dur="500"/>
                                        <p:tgtEl>
                                          <p:spTgt spid="297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9706"/>
                                        </p:tgtEl>
                                        <p:attrNameLst>
                                          <p:attrName>style.visibility</p:attrName>
                                        </p:attrNameLst>
                                      </p:cBhvr>
                                      <p:to>
                                        <p:strVal val="visible"/>
                                      </p:to>
                                    </p:set>
                                    <p:animEffect transition="in" filter="wipe(right)">
                                      <p:cBhvr>
                                        <p:cTn id="17" dur="500"/>
                                        <p:tgtEl>
                                          <p:spTgt spid="297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9712"/>
                                        </p:tgtEl>
                                        <p:attrNameLst>
                                          <p:attrName>style.visibility</p:attrName>
                                        </p:attrNameLst>
                                      </p:cBhvr>
                                      <p:to>
                                        <p:strVal val="visible"/>
                                      </p:to>
                                    </p:set>
                                    <p:animEffect transition="in" filter="wipe(up)">
                                      <p:cBhvr>
                                        <p:cTn id="22" dur="500"/>
                                        <p:tgtEl>
                                          <p:spTgt spid="29712"/>
                                        </p:tgtEl>
                                      </p:cBhvr>
                                    </p:animEffect>
                                  </p:childTnLst>
                                </p:cTn>
                              </p:par>
                            </p:childTnLst>
                          </p:cTn>
                        </p:par>
                        <p:par>
                          <p:cTn id="23" fill="hold">
                            <p:stCondLst>
                              <p:cond delay="500"/>
                            </p:stCondLst>
                            <p:childTnLst>
                              <p:par>
                                <p:cTn id="24" presetID="2" presetClass="entr" presetSubtype="12" fill="hold" nodeType="afterEffect">
                                  <p:stCondLst>
                                    <p:cond delay="0"/>
                                  </p:stCondLst>
                                  <p:childTnLst>
                                    <p:set>
                                      <p:cBhvr>
                                        <p:cTn id="25" dur="1" fill="hold">
                                          <p:stCondLst>
                                            <p:cond delay="0"/>
                                          </p:stCondLst>
                                        </p:cTn>
                                        <p:tgtEl>
                                          <p:spTgt spid="29732"/>
                                        </p:tgtEl>
                                        <p:attrNameLst>
                                          <p:attrName>style.visibility</p:attrName>
                                        </p:attrNameLst>
                                      </p:cBhvr>
                                      <p:to>
                                        <p:strVal val="visible"/>
                                      </p:to>
                                    </p:set>
                                    <p:anim calcmode="lin" valueType="num">
                                      <p:cBhvr additive="base">
                                        <p:cTn id="26" dur="500" fill="hold"/>
                                        <p:tgtEl>
                                          <p:spTgt spid="29732"/>
                                        </p:tgtEl>
                                        <p:attrNameLst>
                                          <p:attrName>ppt_x</p:attrName>
                                        </p:attrNameLst>
                                      </p:cBhvr>
                                      <p:tavLst>
                                        <p:tav tm="0">
                                          <p:val>
                                            <p:strVal val="0-#ppt_w/2"/>
                                          </p:val>
                                        </p:tav>
                                        <p:tav tm="100000">
                                          <p:val>
                                            <p:strVal val="#ppt_x"/>
                                          </p:val>
                                        </p:tav>
                                      </p:tavLst>
                                    </p:anim>
                                    <p:anim calcmode="lin" valueType="num">
                                      <p:cBhvr additive="base">
                                        <p:cTn id="27" dur="500" fill="hold"/>
                                        <p:tgtEl>
                                          <p:spTgt spid="29732"/>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9716"/>
                                        </p:tgtEl>
                                        <p:attrNameLst>
                                          <p:attrName>style.visibility</p:attrName>
                                        </p:attrNameLst>
                                      </p:cBhvr>
                                      <p:to>
                                        <p:strVal val="visible"/>
                                      </p:to>
                                    </p:set>
                                    <p:animEffect transition="in" filter="wipe(up)">
                                      <p:cBhvr>
                                        <p:cTn id="32" dur="500"/>
                                        <p:tgtEl>
                                          <p:spTgt spid="29716"/>
                                        </p:tgtEl>
                                      </p:cBhvr>
                                    </p:animEffect>
                                  </p:childTnLst>
                                </p:cTn>
                              </p:par>
                            </p:childTnLst>
                          </p:cTn>
                        </p:par>
                        <p:par>
                          <p:cTn id="33" fill="hold">
                            <p:stCondLst>
                              <p:cond delay="500"/>
                            </p:stCondLst>
                            <p:childTnLst>
                              <p:par>
                                <p:cTn id="34" presetID="2" presetClass="entr" presetSubtype="4" fill="hold" nodeType="afterEffect">
                                  <p:stCondLst>
                                    <p:cond delay="0"/>
                                  </p:stCondLst>
                                  <p:childTnLst>
                                    <p:set>
                                      <p:cBhvr>
                                        <p:cTn id="35" dur="1" fill="hold">
                                          <p:stCondLst>
                                            <p:cond delay="0"/>
                                          </p:stCondLst>
                                        </p:cTn>
                                        <p:tgtEl>
                                          <p:spTgt spid="29736"/>
                                        </p:tgtEl>
                                        <p:attrNameLst>
                                          <p:attrName>style.visibility</p:attrName>
                                        </p:attrNameLst>
                                      </p:cBhvr>
                                      <p:to>
                                        <p:strVal val="visible"/>
                                      </p:to>
                                    </p:set>
                                    <p:anim calcmode="lin" valueType="num">
                                      <p:cBhvr additive="base">
                                        <p:cTn id="36" dur="500" fill="hold"/>
                                        <p:tgtEl>
                                          <p:spTgt spid="29736"/>
                                        </p:tgtEl>
                                        <p:attrNameLst>
                                          <p:attrName>ppt_x</p:attrName>
                                        </p:attrNameLst>
                                      </p:cBhvr>
                                      <p:tavLst>
                                        <p:tav tm="0">
                                          <p:val>
                                            <p:strVal val="#ppt_x"/>
                                          </p:val>
                                        </p:tav>
                                        <p:tav tm="100000">
                                          <p:val>
                                            <p:strVal val="#ppt_x"/>
                                          </p:val>
                                        </p:tav>
                                      </p:tavLst>
                                    </p:anim>
                                    <p:anim calcmode="lin" valueType="num">
                                      <p:cBhvr additive="base">
                                        <p:cTn id="37" dur="500" fill="hold"/>
                                        <p:tgtEl>
                                          <p:spTgt spid="29736"/>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9723"/>
                                        </p:tgtEl>
                                        <p:attrNameLst>
                                          <p:attrName>style.visibility</p:attrName>
                                        </p:attrNameLst>
                                      </p:cBhvr>
                                      <p:to>
                                        <p:strVal val="visible"/>
                                      </p:to>
                                    </p:set>
                                    <p:animEffect transition="in" filter="wipe(up)">
                                      <p:cBhvr>
                                        <p:cTn id="42" dur="500"/>
                                        <p:tgtEl>
                                          <p:spTgt spid="29723"/>
                                        </p:tgtEl>
                                      </p:cBhvr>
                                    </p:animEffect>
                                  </p:childTnLst>
                                </p:cTn>
                              </p:par>
                            </p:childTnLst>
                          </p:cTn>
                        </p:par>
                        <p:par>
                          <p:cTn id="43" fill="hold">
                            <p:stCondLst>
                              <p:cond delay="500"/>
                            </p:stCondLst>
                            <p:childTnLst>
                              <p:par>
                                <p:cTn id="44" presetID="2" presetClass="entr" presetSubtype="4" fill="hold" nodeType="afterEffect">
                                  <p:stCondLst>
                                    <p:cond delay="0"/>
                                  </p:stCondLst>
                                  <p:childTnLst>
                                    <p:set>
                                      <p:cBhvr>
                                        <p:cTn id="45" dur="1" fill="hold">
                                          <p:stCondLst>
                                            <p:cond delay="0"/>
                                          </p:stCondLst>
                                        </p:cTn>
                                        <p:tgtEl>
                                          <p:spTgt spid="29733"/>
                                        </p:tgtEl>
                                        <p:attrNameLst>
                                          <p:attrName>style.visibility</p:attrName>
                                        </p:attrNameLst>
                                      </p:cBhvr>
                                      <p:to>
                                        <p:strVal val="visible"/>
                                      </p:to>
                                    </p:set>
                                    <p:anim calcmode="lin" valueType="num">
                                      <p:cBhvr additive="base">
                                        <p:cTn id="46" dur="500" fill="hold"/>
                                        <p:tgtEl>
                                          <p:spTgt spid="29733"/>
                                        </p:tgtEl>
                                        <p:attrNameLst>
                                          <p:attrName>ppt_x</p:attrName>
                                        </p:attrNameLst>
                                      </p:cBhvr>
                                      <p:tavLst>
                                        <p:tav tm="0">
                                          <p:val>
                                            <p:strVal val="#ppt_x"/>
                                          </p:val>
                                        </p:tav>
                                        <p:tav tm="100000">
                                          <p:val>
                                            <p:strVal val="#ppt_x"/>
                                          </p:val>
                                        </p:tav>
                                      </p:tavLst>
                                    </p:anim>
                                    <p:anim calcmode="lin" valueType="num">
                                      <p:cBhvr additive="base">
                                        <p:cTn id="47" dur="500" fill="hold"/>
                                        <p:tgtEl>
                                          <p:spTgt spid="29733"/>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29702"/>
                                        </p:tgtEl>
                                        <p:attrNameLst>
                                          <p:attrName>style.visibility</p:attrName>
                                        </p:attrNameLst>
                                      </p:cBhvr>
                                      <p:to>
                                        <p:strVal val="visible"/>
                                      </p:to>
                                    </p:set>
                                    <p:animEffect transition="in" filter="wipe(up)">
                                      <p:cBhvr>
                                        <p:cTn id="52" dur="500"/>
                                        <p:tgtEl>
                                          <p:spTgt spid="29702"/>
                                        </p:tgtEl>
                                      </p:cBhvr>
                                    </p:animEffect>
                                  </p:childTnLst>
                                </p:cTn>
                              </p:par>
                            </p:childTnLst>
                          </p:cTn>
                        </p:par>
                        <p:par>
                          <p:cTn id="53" fill="hold">
                            <p:stCondLst>
                              <p:cond delay="500"/>
                            </p:stCondLst>
                            <p:childTnLst>
                              <p:par>
                                <p:cTn id="54" presetID="2" presetClass="entr" presetSubtype="6" fill="hold" nodeType="afterEffect">
                                  <p:stCondLst>
                                    <p:cond delay="0"/>
                                  </p:stCondLst>
                                  <p:childTnLst>
                                    <p:set>
                                      <p:cBhvr>
                                        <p:cTn id="55" dur="1" fill="hold">
                                          <p:stCondLst>
                                            <p:cond delay="0"/>
                                          </p:stCondLst>
                                        </p:cTn>
                                        <p:tgtEl>
                                          <p:spTgt spid="29734"/>
                                        </p:tgtEl>
                                        <p:attrNameLst>
                                          <p:attrName>style.visibility</p:attrName>
                                        </p:attrNameLst>
                                      </p:cBhvr>
                                      <p:to>
                                        <p:strVal val="visible"/>
                                      </p:to>
                                    </p:set>
                                    <p:anim calcmode="lin" valueType="num">
                                      <p:cBhvr additive="base">
                                        <p:cTn id="56" dur="500" fill="hold"/>
                                        <p:tgtEl>
                                          <p:spTgt spid="29734"/>
                                        </p:tgtEl>
                                        <p:attrNameLst>
                                          <p:attrName>ppt_x</p:attrName>
                                        </p:attrNameLst>
                                      </p:cBhvr>
                                      <p:tavLst>
                                        <p:tav tm="0">
                                          <p:val>
                                            <p:strVal val="1+#ppt_w/2"/>
                                          </p:val>
                                        </p:tav>
                                        <p:tav tm="100000">
                                          <p:val>
                                            <p:strVal val="#ppt_x"/>
                                          </p:val>
                                        </p:tav>
                                      </p:tavLst>
                                    </p:anim>
                                    <p:anim calcmode="lin" valueType="num">
                                      <p:cBhvr additive="base">
                                        <p:cTn id="57" dur="500" fill="hold"/>
                                        <p:tgtEl>
                                          <p:spTgt spid="297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p:cNvSpPr>
            <a:spLocks noGrp="1" noChangeArrowheads="1"/>
          </p:cNvSpPr>
          <p:nvPr>
            <p:ph type="ctrTitle"/>
          </p:nvPr>
        </p:nvSpPr>
        <p:spPr>
          <a:xfrm>
            <a:off x="1617663" y="104775"/>
            <a:ext cx="5792787" cy="701675"/>
          </a:xfrm>
          <a:gradFill rotWithShape="0">
            <a:gsLst>
              <a:gs pos="0">
                <a:srgbClr val="33CCFF"/>
              </a:gs>
              <a:gs pos="50000">
                <a:srgbClr val="33CCFF">
                  <a:gamma/>
                  <a:tint val="0"/>
                  <a:invGamma/>
                </a:srgbClr>
              </a:gs>
              <a:gs pos="100000">
                <a:srgbClr val="33CCFF"/>
              </a:gs>
            </a:gsLst>
            <a:lin ang="5400000" scaled="1"/>
          </a:gradFill>
          <a:ln w="38100">
            <a:pattFill prst="wdUpDiag">
              <a:fgClr>
                <a:schemeClr val="accent2"/>
              </a:fgClr>
              <a:bgClr>
                <a:srgbClr val="FFFFFF"/>
              </a:bgClr>
            </a:pattFill>
            <a:miter lim="800000"/>
          </a:ln>
        </p:spPr>
        <p:txBody>
          <a:bodyPr anchor="ctr"/>
          <a:lstStyle/>
          <a:p>
            <a:pPr eaLnBrk="0" hangingPunct="0"/>
            <a:r>
              <a:rPr lang="en-US" altLang="zh-CN" sz="3600" b="1">
                <a:solidFill>
                  <a:srgbClr val="FF3300"/>
                </a:solidFill>
                <a:latin typeface="黑体" panose="02010609060101010101" pitchFamily="49" charset="-122"/>
                <a:ea typeface="黑体" panose="02010609060101010101" pitchFamily="49" charset="-122"/>
              </a:rPr>
              <a:t>11.4 </a:t>
            </a:r>
            <a:r>
              <a:rPr lang="zh-CN" altLang="en-US" sz="3600" b="1">
                <a:solidFill>
                  <a:srgbClr val="FF3300"/>
                </a:solidFill>
                <a:latin typeface="黑体" panose="02010609060101010101" pitchFamily="49" charset="-122"/>
                <a:ea typeface="黑体" panose="02010609060101010101" pitchFamily="49" charset="-122"/>
              </a:rPr>
              <a:t>零件尺寸的合理标注</a:t>
            </a:r>
            <a:endParaRPr lang="zh-CN" altLang="en-US" sz="3600" b="1">
              <a:solidFill>
                <a:srgbClr val="FF3300"/>
              </a:solidFill>
              <a:latin typeface="黑体" panose="02010609060101010101" pitchFamily="49" charset="-122"/>
              <a:ea typeface="黑体" panose="02010609060101010101" pitchFamily="49" charset="-122"/>
            </a:endParaRPr>
          </a:p>
        </p:txBody>
      </p:sp>
      <p:sp>
        <p:nvSpPr>
          <p:cNvPr id="76805" name="Text Box 5"/>
          <p:cNvSpPr txBox="1">
            <a:spLocks noChangeArrowheads="1"/>
          </p:cNvSpPr>
          <p:nvPr/>
        </p:nvSpPr>
        <p:spPr bwMode="auto">
          <a:xfrm>
            <a:off x="2100263" y="984250"/>
            <a:ext cx="48069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solidFill>
                  <a:schemeClr val="accent2"/>
                </a:solidFill>
                <a:latin typeface="宋体" panose="02010600030101010101" pitchFamily="2" charset="-122"/>
              </a:rPr>
              <a:t>合理标注尺寸的基本原则</a:t>
            </a:r>
            <a:endParaRPr lang="zh-CN" altLang="en-US" sz="3200" b="1">
              <a:solidFill>
                <a:srgbClr val="FF3300"/>
              </a:solidFill>
              <a:latin typeface="宋体" panose="02010600030101010101" pitchFamily="2" charset="-122"/>
            </a:endParaRPr>
          </a:p>
        </p:txBody>
      </p:sp>
      <p:sp>
        <p:nvSpPr>
          <p:cNvPr id="76806" name="Text Box 6"/>
          <p:cNvSpPr txBox="1">
            <a:spLocks noChangeArrowheads="1"/>
          </p:cNvSpPr>
          <p:nvPr/>
        </p:nvSpPr>
        <p:spPr bwMode="auto">
          <a:xfrm>
            <a:off x="762000" y="1550988"/>
            <a:ext cx="7645400"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lnSpc>
                <a:spcPct val="120000"/>
              </a:lnSpc>
            </a:pPr>
            <a:r>
              <a:rPr lang="en-US" altLang="zh-CN" sz="3200" b="1">
                <a:latin typeface="宋体" panose="02010600030101010101" pitchFamily="2" charset="-122"/>
              </a:rPr>
              <a:t>    </a:t>
            </a:r>
            <a:r>
              <a:rPr lang="zh-CN" altLang="en-US" sz="3200" b="1">
                <a:latin typeface="宋体" panose="02010600030101010101" pitchFamily="2" charset="-122"/>
              </a:rPr>
              <a:t>所谓合理就是标注尺寸时，既要满足设计要求又要符合加工测量等工艺要求。</a:t>
            </a:r>
            <a:endParaRPr lang="zh-CN" altLang="en-US" sz="3200" b="1">
              <a:latin typeface="宋体" panose="02010600030101010101" pitchFamily="2" charset="-122"/>
            </a:endParaRPr>
          </a:p>
        </p:txBody>
      </p:sp>
      <p:sp>
        <p:nvSpPr>
          <p:cNvPr id="76807" name="Text Box 7"/>
          <p:cNvSpPr txBox="1">
            <a:spLocks noChangeArrowheads="1"/>
          </p:cNvSpPr>
          <p:nvPr/>
        </p:nvSpPr>
        <p:spPr bwMode="auto">
          <a:xfrm>
            <a:off x="301625" y="2876550"/>
            <a:ext cx="3562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333399"/>
                </a:solidFill>
                <a:latin typeface="宋体" panose="02010600030101010101" pitchFamily="2" charset="-122"/>
              </a:rPr>
              <a:t>1.</a:t>
            </a:r>
            <a:r>
              <a:rPr lang="zh-CN" altLang="en-US" sz="3200" b="1">
                <a:solidFill>
                  <a:srgbClr val="333399"/>
                </a:solidFill>
                <a:latin typeface="宋体" panose="02010600030101010101" pitchFamily="2" charset="-122"/>
              </a:rPr>
              <a:t>正确地选择基准</a:t>
            </a:r>
            <a:endParaRPr lang="zh-CN" altLang="en-US" sz="3200" b="1">
              <a:solidFill>
                <a:srgbClr val="333399"/>
              </a:solidFill>
              <a:latin typeface="宋体" panose="02010600030101010101" pitchFamily="2" charset="-122"/>
            </a:endParaRPr>
          </a:p>
        </p:txBody>
      </p:sp>
      <p:sp>
        <p:nvSpPr>
          <p:cNvPr id="76808" name="Text Box 8"/>
          <p:cNvSpPr txBox="1">
            <a:spLocks noChangeArrowheads="1"/>
          </p:cNvSpPr>
          <p:nvPr/>
        </p:nvSpPr>
        <p:spPr bwMode="auto">
          <a:xfrm>
            <a:off x="762000" y="3467100"/>
            <a:ext cx="28511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600" b="1">
                <a:latin typeface="宋体" panose="02010600030101010101" pitchFamily="2" charset="-122"/>
              </a:rPr>
              <a:t>1</a:t>
            </a:r>
            <a:r>
              <a:rPr lang="zh-CN" altLang="en-US" sz="3600" b="1">
                <a:latin typeface="宋体" panose="02010600030101010101" pitchFamily="2" charset="-122"/>
              </a:rPr>
              <a:t>）设计基准</a:t>
            </a:r>
            <a:endParaRPr lang="zh-CN" altLang="en-US" sz="3600" b="1">
              <a:latin typeface="宋体" panose="02010600030101010101" pitchFamily="2" charset="-122"/>
            </a:endParaRPr>
          </a:p>
        </p:txBody>
      </p:sp>
      <p:sp>
        <p:nvSpPr>
          <p:cNvPr id="76809" name="Text Box 9"/>
          <p:cNvSpPr txBox="1">
            <a:spLocks noChangeArrowheads="1"/>
          </p:cNvSpPr>
          <p:nvPr/>
        </p:nvSpPr>
        <p:spPr bwMode="auto">
          <a:xfrm>
            <a:off x="762000" y="4741863"/>
            <a:ext cx="285115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600" b="1">
                <a:latin typeface="宋体" panose="02010600030101010101" pitchFamily="2" charset="-122"/>
              </a:rPr>
              <a:t>2</a:t>
            </a:r>
            <a:r>
              <a:rPr lang="zh-CN" altLang="en-US" sz="3600" b="1">
                <a:latin typeface="宋体" panose="02010600030101010101" pitchFamily="2" charset="-122"/>
              </a:rPr>
              <a:t>）工艺基准</a:t>
            </a:r>
            <a:endParaRPr lang="zh-CN" altLang="en-US" sz="3600" b="1">
              <a:latin typeface="宋体" panose="02010600030101010101" pitchFamily="2" charset="-122"/>
            </a:endParaRPr>
          </a:p>
        </p:txBody>
      </p:sp>
      <p:sp>
        <p:nvSpPr>
          <p:cNvPr id="76810" name="Text Box 10"/>
          <p:cNvSpPr txBox="1">
            <a:spLocks noChangeArrowheads="1"/>
          </p:cNvSpPr>
          <p:nvPr/>
        </p:nvSpPr>
        <p:spPr bwMode="auto">
          <a:xfrm>
            <a:off x="1443038" y="4151313"/>
            <a:ext cx="72580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用以确定零件在部件中的位置的基准。</a:t>
            </a:r>
            <a:endParaRPr lang="zh-CN" altLang="en-US" sz="3200" b="1">
              <a:latin typeface="宋体" panose="02010600030101010101" pitchFamily="2" charset="-122"/>
            </a:endParaRPr>
          </a:p>
        </p:txBody>
      </p:sp>
      <p:sp>
        <p:nvSpPr>
          <p:cNvPr id="76811" name="Text Box 11"/>
          <p:cNvSpPr txBox="1">
            <a:spLocks noChangeArrowheads="1"/>
          </p:cNvSpPr>
          <p:nvPr/>
        </p:nvSpPr>
        <p:spPr bwMode="auto">
          <a:xfrm>
            <a:off x="1449388" y="5400675"/>
            <a:ext cx="58991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是零件在加工或测量时的基准。</a:t>
            </a:r>
            <a:endParaRPr lang="zh-CN" altLang="en-US" sz="32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ppt_w</p:attrName>
                                        </p:attrNameLst>
                                      </p:cBhvr>
                                      <p:tavLst>
                                        <p:tav tm="0">
                                          <p:val>
                                            <p:fltVal val="0"/>
                                          </p:val>
                                        </p:tav>
                                        <p:tav tm="100000">
                                          <p:val>
                                            <p:strVal val="#ppt_w"/>
                                          </p:val>
                                        </p:tav>
                                      </p:tavLst>
                                    </p:anim>
                                    <p:anim calcmode="lin" valueType="num">
                                      <p:cBhvr>
                                        <p:cTn id="8" dur="500" fill="hold"/>
                                        <p:tgtEl>
                                          <p:spTgt spid="76805"/>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6806"/>
                                        </p:tgtEl>
                                        <p:attrNameLst>
                                          <p:attrName>style.visibility</p:attrName>
                                        </p:attrNameLst>
                                      </p:cBhvr>
                                      <p:to>
                                        <p:strVal val="visible"/>
                                      </p:to>
                                    </p:set>
                                    <p:animEffect transition="in" filter="blinds(horizontal)">
                                      <p:cBhvr>
                                        <p:cTn id="13" dur="500"/>
                                        <p:tgtEl>
                                          <p:spTgt spid="7680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76807"/>
                                        </p:tgtEl>
                                        <p:attrNameLst>
                                          <p:attrName>style.visibility</p:attrName>
                                        </p:attrNameLst>
                                      </p:cBhvr>
                                      <p:to>
                                        <p:strVal val="visible"/>
                                      </p:to>
                                    </p:set>
                                    <p:animEffect transition="in" filter="blinds(horizontal)">
                                      <p:cBhvr>
                                        <p:cTn id="18" dur="500"/>
                                        <p:tgtEl>
                                          <p:spTgt spid="7680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6808"/>
                                        </p:tgtEl>
                                        <p:attrNameLst>
                                          <p:attrName>style.visibility</p:attrName>
                                        </p:attrNameLst>
                                      </p:cBhvr>
                                      <p:to>
                                        <p:strVal val="visible"/>
                                      </p:to>
                                    </p:set>
                                    <p:animEffect transition="in" filter="blinds(horizontal)">
                                      <p:cBhvr>
                                        <p:cTn id="23" dur="500"/>
                                        <p:tgtEl>
                                          <p:spTgt spid="7680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6810"/>
                                        </p:tgtEl>
                                        <p:attrNameLst>
                                          <p:attrName>style.visibility</p:attrName>
                                        </p:attrNameLst>
                                      </p:cBhvr>
                                      <p:to>
                                        <p:strVal val="visible"/>
                                      </p:to>
                                    </p:set>
                                    <p:animEffect transition="in" filter="blinds(horizontal)">
                                      <p:cBhvr>
                                        <p:cTn id="28" dur="500"/>
                                        <p:tgtEl>
                                          <p:spTgt spid="7681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76809"/>
                                        </p:tgtEl>
                                        <p:attrNameLst>
                                          <p:attrName>style.visibility</p:attrName>
                                        </p:attrNameLst>
                                      </p:cBhvr>
                                      <p:to>
                                        <p:strVal val="visible"/>
                                      </p:to>
                                    </p:set>
                                    <p:animEffect transition="in" filter="blinds(horizontal)">
                                      <p:cBhvr>
                                        <p:cTn id="33" dur="500"/>
                                        <p:tgtEl>
                                          <p:spTgt spid="7680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6811"/>
                                        </p:tgtEl>
                                        <p:attrNameLst>
                                          <p:attrName>style.visibility</p:attrName>
                                        </p:attrNameLst>
                                      </p:cBhvr>
                                      <p:to>
                                        <p:strVal val="visible"/>
                                      </p:to>
                                    </p:set>
                                    <p:animEffect transition="in" filter="blinds(horizontal)">
                                      <p:cBhvr>
                                        <p:cTn id="38" dur="500"/>
                                        <p:tgtEl>
                                          <p:spTgt spid="76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autoUpdateAnimBg="0"/>
      <p:bldP spid="76806" grpId="0" autoUpdateAnimBg="0"/>
      <p:bldP spid="76807" grpId="0" autoUpdateAnimBg="0"/>
      <p:bldP spid="76808" grpId="0" autoUpdateAnimBg="0"/>
      <p:bldP spid="76809" grpId="0" autoUpdateAnimBg="0"/>
      <p:bldP spid="76810" grpId="0" autoUpdateAnimBg="0"/>
      <p:bldP spid="76811"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807" name="Group 1087"/>
          <p:cNvGrpSpPr/>
          <p:nvPr/>
        </p:nvGrpSpPr>
        <p:grpSpPr bwMode="auto">
          <a:xfrm>
            <a:off x="830263" y="911225"/>
            <a:ext cx="6550025" cy="4924425"/>
            <a:chOff x="515" y="574"/>
            <a:chExt cx="4126" cy="3102"/>
          </a:xfrm>
        </p:grpSpPr>
        <p:pic>
          <p:nvPicPr>
            <p:cNvPr id="31797" name="Picture 107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5" y="574"/>
              <a:ext cx="4126" cy="3102"/>
            </a:xfrm>
            <a:prstGeom prst="rect">
              <a:avLst/>
            </a:prstGeom>
            <a:noFill/>
            <a:extLst>
              <a:ext uri="{909E8E84-426E-40DD-AFC4-6F175D3DCCD1}">
                <a14:hiddenFill xmlns:a14="http://schemas.microsoft.com/office/drawing/2010/main">
                  <a:solidFill>
                    <a:srgbClr val="FFFFFF"/>
                  </a:solidFill>
                </a14:hiddenFill>
              </a:ext>
            </a:extLst>
          </p:spPr>
        </p:pic>
        <p:sp>
          <p:nvSpPr>
            <p:cNvPr id="31804" name="Text Box 1084"/>
            <p:cNvSpPr txBox="1">
              <a:spLocks noChangeArrowheads="1"/>
            </p:cNvSpPr>
            <p:nvPr/>
          </p:nvSpPr>
          <p:spPr bwMode="auto">
            <a:xfrm>
              <a:off x="893" y="1420"/>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i="1"/>
                <a:t>A</a:t>
              </a:r>
              <a:endParaRPr lang="en-US" altLang="zh-CN" b="1" i="1"/>
            </a:p>
          </p:txBody>
        </p:sp>
        <p:sp>
          <p:nvSpPr>
            <p:cNvPr id="31805" name="Text Box 1085"/>
            <p:cNvSpPr txBox="1">
              <a:spLocks noChangeArrowheads="1"/>
            </p:cNvSpPr>
            <p:nvPr/>
          </p:nvSpPr>
          <p:spPr bwMode="auto">
            <a:xfrm>
              <a:off x="2403" y="1420"/>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i="1"/>
                <a:t>A</a:t>
              </a:r>
              <a:endParaRPr lang="en-US" altLang="zh-CN" b="1" i="1"/>
            </a:p>
          </p:txBody>
        </p:sp>
        <p:sp>
          <p:nvSpPr>
            <p:cNvPr id="31806" name="Text Box 1086"/>
            <p:cNvSpPr txBox="1">
              <a:spLocks noChangeArrowheads="1"/>
            </p:cNvSpPr>
            <p:nvPr/>
          </p:nvSpPr>
          <p:spPr bwMode="auto">
            <a:xfrm>
              <a:off x="1563" y="2593"/>
              <a:ext cx="5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i="1"/>
                <a:t>A—A</a:t>
              </a:r>
              <a:endParaRPr lang="en-US" altLang="zh-CN" b="1" i="1"/>
            </a:p>
          </p:txBody>
        </p:sp>
      </p:grpSp>
      <p:grpSp>
        <p:nvGrpSpPr>
          <p:cNvPr id="31747" name="Group 1027"/>
          <p:cNvGrpSpPr/>
          <p:nvPr/>
        </p:nvGrpSpPr>
        <p:grpSpPr bwMode="auto">
          <a:xfrm>
            <a:off x="3481388" y="1716088"/>
            <a:ext cx="1558925" cy="1943100"/>
            <a:chOff x="2349" y="1163"/>
            <a:chExt cx="982" cy="1224"/>
          </a:xfrm>
        </p:grpSpPr>
        <p:sp>
          <p:nvSpPr>
            <p:cNvPr id="31748" name="Line 1028"/>
            <p:cNvSpPr>
              <a:spLocks noChangeShapeType="1"/>
            </p:cNvSpPr>
            <p:nvPr/>
          </p:nvSpPr>
          <p:spPr bwMode="auto">
            <a:xfrm>
              <a:off x="2349" y="1177"/>
              <a:ext cx="98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49" name="Line 1029"/>
            <p:cNvSpPr>
              <a:spLocks noChangeShapeType="1"/>
            </p:cNvSpPr>
            <p:nvPr/>
          </p:nvSpPr>
          <p:spPr bwMode="auto">
            <a:xfrm>
              <a:off x="3040" y="2371"/>
              <a:ext cx="291"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50" name="Line 1030"/>
            <p:cNvSpPr>
              <a:spLocks noChangeShapeType="1"/>
            </p:cNvSpPr>
            <p:nvPr/>
          </p:nvSpPr>
          <p:spPr bwMode="auto">
            <a:xfrm>
              <a:off x="3280" y="1163"/>
              <a:ext cx="0" cy="1224"/>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1808" name="Group 1088"/>
          <p:cNvGrpSpPr/>
          <p:nvPr/>
        </p:nvGrpSpPr>
        <p:grpSpPr bwMode="auto">
          <a:xfrm>
            <a:off x="817563" y="898525"/>
            <a:ext cx="1982787" cy="757238"/>
            <a:chOff x="515" y="566"/>
            <a:chExt cx="1249" cy="477"/>
          </a:xfrm>
        </p:grpSpPr>
        <p:sp>
          <p:nvSpPr>
            <p:cNvPr id="31752" name="Line 1032"/>
            <p:cNvSpPr>
              <a:spLocks noChangeShapeType="1"/>
            </p:cNvSpPr>
            <p:nvPr/>
          </p:nvSpPr>
          <p:spPr bwMode="auto">
            <a:xfrm flipH="1" flipV="1">
              <a:off x="1386" y="825"/>
              <a:ext cx="378" cy="218"/>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53" name="Line 1033"/>
            <p:cNvSpPr>
              <a:spLocks noChangeShapeType="1"/>
            </p:cNvSpPr>
            <p:nvPr/>
          </p:nvSpPr>
          <p:spPr bwMode="auto">
            <a:xfrm flipH="1">
              <a:off x="571" y="825"/>
              <a:ext cx="815"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54" name="Text Box 1034"/>
            <p:cNvSpPr txBox="1">
              <a:spLocks noChangeArrowheads="1"/>
            </p:cNvSpPr>
            <p:nvPr/>
          </p:nvSpPr>
          <p:spPr bwMode="auto">
            <a:xfrm>
              <a:off x="515" y="566"/>
              <a:ext cx="92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b="1">
                  <a:solidFill>
                    <a:srgbClr val="333399"/>
                  </a:solidFill>
                  <a:latin typeface="ISOCP" panose="00000400000000000000" pitchFamily="2" charset="0"/>
                </a:rPr>
                <a:t>设计基准</a:t>
              </a:r>
              <a:endParaRPr lang="zh-CN" altLang="en-US" b="1">
                <a:solidFill>
                  <a:srgbClr val="333399"/>
                </a:solidFill>
                <a:latin typeface="ISOCP" panose="00000400000000000000" pitchFamily="2" charset="0"/>
              </a:endParaRPr>
            </a:p>
          </p:txBody>
        </p:sp>
      </p:grpSp>
      <p:sp>
        <p:nvSpPr>
          <p:cNvPr id="31755" name="Text Box 1035"/>
          <p:cNvSpPr txBox="1">
            <a:spLocks noChangeArrowheads="1"/>
          </p:cNvSpPr>
          <p:nvPr/>
        </p:nvSpPr>
        <p:spPr bwMode="auto">
          <a:xfrm>
            <a:off x="306388" y="187325"/>
            <a:ext cx="1403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200" b="1">
                <a:solidFill>
                  <a:srgbClr val="333399"/>
                </a:solidFill>
                <a:latin typeface="ISOCP" panose="00000400000000000000" pitchFamily="2" charset="0"/>
              </a:rPr>
              <a:t>例如：</a:t>
            </a:r>
            <a:endParaRPr lang="zh-CN" altLang="en-US" sz="3200" b="1">
              <a:solidFill>
                <a:srgbClr val="333399"/>
              </a:solidFill>
              <a:latin typeface="ISOCP" panose="00000400000000000000" pitchFamily="2" charset="0"/>
            </a:endParaRPr>
          </a:p>
        </p:txBody>
      </p:sp>
      <p:grpSp>
        <p:nvGrpSpPr>
          <p:cNvPr id="31756" name="Group 1036"/>
          <p:cNvGrpSpPr/>
          <p:nvPr/>
        </p:nvGrpSpPr>
        <p:grpSpPr bwMode="auto">
          <a:xfrm>
            <a:off x="1333500" y="3608388"/>
            <a:ext cx="2933700" cy="427037"/>
            <a:chOff x="1008" y="2357"/>
            <a:chExt cx="1848" cy="269"/>
          </a:xfrm>
        </p:grpSpPr>
        <p:sp>
          <p:nvSpPr>
            <p:cNvPr id="31757" name="Line 1037"/>
            <p:cNvSpPr>
              <a:spLocks noChangeShapeType="1"/>
            </p:cNvSpPr>
            <p:nvPr/>
          </p:nvSpPr>
          <p:spPr bwMode="auto">
            <a:xfrm>
              <a:off x="1010" y="2371"/>
              <a:ext cx="0" cy="255"/>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58" name="Line 1038"/>
            <p:cNvSpPr>
              <a:spLocks noChangeShapeType="1"/>
            </p:cNvSpPr>
            <p:nvPr/>
          </p:nvSpPr>
          <p:spPr bwMode="auto">
            <a:xfrm>
              <a:off x="2852" y="2357"/>
              <a:ext cx="0" cy="269"/>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59" name="Line 1039"/>
            <p:cNvSpPr>
              <a:spLocks noChangeShapeType="1"/>
            </p:cNvSpPr>
            <p:nvPr/>
          </p:nvSpPr>
          <p:spPr bwMode="auto">
            <a:xfrm>
              <a:off x="1008" y="2568"/>
              <a:ext cx="1848" cy="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1809" name="Group 1089"/>
          <p:cNvGrpSpPr/>
          <p:nvPr/>
        </p:nvGrpSpPr>
        <p:grpSpPr bwMode="auto">
          <a:xfrm>
            <a:off x="5657850" y="303213"/>
            <a:ext cx="1597025" cy="730250"/>
            <a:chOff x="3564" y="191"/>
            <a:chExt cx="1006" cy="460"/>
          </a:xfrm>
        </p:grpSpPr>
        <p:sp>
          <p:nvSpPr>
            <p:cNvPr id="31761" name="Line 1041"/>
            <p:cNvSpPr>
              <a:spLocks noChangeShapeType="1"/>
            </p:cNvSpPr>
            <p:nvPr/>
          </p:nvSpPr>
          <p:spPr bwMode="auto">
            <a:xfrm flipV="1">
              <a:off x="4209" y="459"/>
              <a:ext cx="190" cy="192"/>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62" name="Line 1042"/>
            <p:cNvSpPr>
              <a:spLocks noChangeShapeType="1"/>
            </p:cNvSpPr>
            <p:nvPr/>
          </p:nvSpPr>
          <p:spPr bwMode="auto">
            <a:xfrm flipH="1">
              <a:off x="3618" y="458"/>
              <a:ext cx="781"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63" name="Text Box 1043"/>
            <p:cNvSpPr txBox="1">
              <a:spLocks noChangeArrowheads="1"/>
            </p:cNvSpPr>
            <p:nvPr/>
          </p:nvSpPr>
          <p:spPr bwMode="auto">
            <a:xfrm>
              <a:off x="3564" y="191"/>
              <a:ext cx="10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b="1">
                  <a:solidFill>
                    <a:srgbClr val="333399"/>
                  </a:solidFill>
                  <a:latin typeface="ISOCP" panose="00000400000000000000" pitchFamily="2" charset="0"/>
                </a:rPr>
                <a:t>工艺基准</a:t>
              </a:r>
              <a:endParaRPr lang="zh-CN" altLang="en-US" b="1">
                <a:solidFill>
                  <a:srgbClr val="333399"/>
                </a:solidFill>
                <a:latin typeface="ISOCP" panose="00000400000000000000" pitchFamily="2" charset="0"/>
              </a:endParaRPr>
            </a:p>
          </p:txBody>
        </p:sp>
      </p:grpSp>
      <p:grpSp>
        <p:nvGrpSpPr>
          <p:cNvPr id="31764" name="Group 1044"/>
          <p:cNvGrpSpPr/>
          <p:nvPr/>
        </p:nvGrpSpPr>
        <p:grpSpPr bwMode="auto">
          <a:xfrm>
            <a:off x="5568950" y="742950"/>
            <a:ext cx="865188" cy="847725"/>
            <a:chOff x="3508" y="462"/>
            <a:chExt cx="545" cy="534"/>
          </a:xfrm>
        </p:grpSpPr>
        <p:sp>
          <p:nvSpPr>
            <p:cNvPr id="31765" name="Line 1045"/>
            <p:cNvSpPr>
              <a:spLocks noChangeShapeType="1"/>
            </p:cNvSpPr>
            <p:nvPr/>
          </p:nvSpPr>
          <p:spPr bwMode="auto">
            <a:xfrm flipH="1">
              <a:off x="3508" y="823"/>
              <a:ext cx="545"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66" name="Line 1046"/>
            <p:cNvSpPr>
              <a:spLocks noChangeShapeType="1"/>
            </p:cNvSpPr>
            <p:nvPr/>
          </p:nvSpPr>
          <p:spPr bwMode="auto">
            <a:xfrm>
              <a:off x="3516" y="650"/>
              <a:ext cx="50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7" name="Line 1047"/>
            <p:cNvSpPr>
              <a:spLocks noChangeShapeType="1"/>
            </p:cNvSpPr>
            <p:nvPr/>
          </p:nvSpPr>
          <p:spPr bwMode="auto">
            <a:xfrm>
              <a:off x="3552" y="462"/>
              <a:ext cx="0" cy="534"/>
            </a:xfrm>
            <a:prstGeom prst="line">
              <a:avLst/>
            </a:prstGeom>
            <a:noFill/>
            <a:ln w="19050">
              <a:solidFill>
                <a:srgbClr val="FF33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8" name="Line 1048"/>
            <p:cNvSpPr>
              <a:spLocks noChangeShapeType="1"/>
            </p:cNvSpPr>
            <p:nvPr/>
          </p:nvSpPr>
          <p:spPr bwMode="auto">
            <a:xfrm>
              <a:off x="3552" y="606"/>
              <a:ext cx="0" cy="60"/>
            </a:xfrm>
            <a:prstGeom prst="line">
              <a:avLst/>
            </a:prstGeom>
            <a:noFill/>
            <a:ln w="19050">
              <a:solidFill>
                <a:srgbClr val="FF33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69" name="Line 1049"/>
            <p:cNvSpPr>
              <a:spLocks noChangeShapeType="1"/>
            </p:cNvSpPr>
            <p:nvPr/>
          </p:nvSpPr>
          <p:spPr bwMode="auto">
            <a:xfrm flipV="1">
              <a:off x="3552" y="808"/>
              <a:ext cx="0" cy="56"/>
            </a:xfrm>
            <a:prstGeom prst="line">
              <a:avLst/>
            </a:prstGeom>
            <a:noFill/>
            <a:ln w="19050">
              <a:solidFill>
                <a:srgbClr val="FF33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1771" name="Group 1051"/>
          <p:cNvGrpSpPr/>
          <p:nvPr/>
        </p:nvGrpSpPr>
        <p:grpSpPr bwMode="auto">
          <a:xfrm>
            <a:off x="4335463" y="3600450"/>
            <a:ext cx="1744662" cy="457200"/>
            <a:chOff x="2731" y="2268"/>
            <a:chExt cx="1045" cy="288"/>
          </a:xfrm>
        </p:grpSpPr>
        <p:sp>
          <p:nvSpPr>
            <p:cNvPr id="31772" name="Line 1052"/>
            <p:cNvSpPr>
              <a:spLocks noChangeShapeType="1"/>
            </p:cNvSpPr>
            <p:nvPr/>
          </p:nvSpPr>
          <p:spPr bwMode="auto">
            <a:xfrm>
              <a:off x="2731" y="2287"/>
              <a:ext cx="240" cy="24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73" name="Line 1053"/>
            <p:cNvSpPr>
              <a:spLocks noChangeShapeType="1"/>
            </p:cNvSpPr>
            <p:nvPr/>
          </p:nvSpPr>
          <p:spPr bwMode="auto">
            <a:xfrm>
              <a:off x="2971" y="2527"/>
              <a:ext cx="764" cy="0"/>
            </a:xfrm>
            <a:prstGeom prst="line">
              <a:avLst/>
            </a:prstGeom>
            <a:noFill/>
            <a:ln w="1905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774" name="Text Box 1054"/>
            <p:cNvSpPr txBox="1">
              <a:spLocks noChangeArrowheads="1"/>
            </p:cNvSpPr>
            <p:nvPr/>
          </p:nvSpPr>
          <p:spPr bwMode="auto">
            <a:xfrm>
              <a:off x="2906" y="2268"/>
              <a:ext cx="87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b="1">
                  <a:solidFill>
                    <a:srgbClr val="333399"/>
                  </a:solidFill>
                  <a:latin typeface="ISOCP" panose="00000400000000000000" pitchFamily="2" charset="0"/>
                </a:rPr>
                <a:t>设计基准</a:t>
              </a:r>
              <a:endParaRPr lang="zh-CN" altLang="en-US" b="1">
                <a:solidFill>
                  <a:srgbClr val="333399"/>
                </a:solidFill>
                <a:latin typeface="ISOCP" panose="00000400000000000000" pitchFamily="2" charset="0"/>
              </a:endParaRPr>
            </a:p>
          </p:txBody>
        </p:sp>
      </p:grpSp>
      <p:pic>
        <p:nvPicPr>
          <p:cNvPr id="31778" name="Picture 1058"/>
          <p:cNvPicPr>
            <a:picLocks noChangeAspect="1" noChangeArrowheads="1"/>
          </p:cNvPicPr>
          <p:nvPr/>
        </p:nvPicPr>
        <p:blipFill>
          <a:blip r:embed="rId2">
            <a:extLst>
              <a:ext uri="{28A0092B-C50C-407E-A947-70E740481C1C}">
                <a14:useLocalDpi xmlns:a14="http://schemas.microsoft.com/office/drawing/2010/main" val="0"/>
              </a:ext>
            </a:extLst>
          </a:blip>
          <a:srcRect l="14027" t="12193" r="15991" b="6477"/>
          <a:stretch>
            <a:fillRect/>
          </a:stretch>
        </p:blipFill>
        <p:spPr bwMode="auto">
          <a:xfrm>
            <a:off x="5368925" y="3749675"/>
            <a:ext cx="3136900" cy="2682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arn(outHorizontal)">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1771"/>
                                        </p:tgtEl>
                                        <p:attrNameLst>
                                          <p:attrName>style.visibility</p:attrName>
                                        </p:attrNameLst>
                                      </p:cBhvr>
                                      <p:to>
                                        <p:strVal val="visible"/>
                                      </p:to>
                                    </p:set>
                                    <p:animEffect transition="in" filter="wipe(up)">
                                      <p:cBhvr>
                                        <p:cTn id="12" dur="500"/>
                                        <p:tgtEl>
                                          <p:spTgt spid="317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756"/>
                                        </p:tgtEl>
                                        <p:attrNameLst>
                                          <p:attrName>style.visibility</p:attrName>
                                        </p:attrNameLst>
                                      </p:cBhvr>
                                      <p:to>
                                        <p:strVal val="visible"/>
                                      </p:to>
                                    </p:set>
                                    <p:animEffect transition="in" filter="wipe(up)">
                                      <p:cBhvr>
                                        <p:cTn id="17" dur="500"/>
                                        <p:tgtEl>
                                          <p:spTgt spid="317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1808"/>
                                        </p:tgtEl>
                                        <p:attrNameLst>
                                          <p:attrName>style.visibility</p:attrName>
                                        </p:attrNameLst>
                                      </p:cBhvr>
                                      <p:to>
                                        <p:strVal val="visible"/>
                                      </p:to>
                                    </p:set>
                                    <p:animEffect transition="in" filter="wipe(right)">
                                      <p:cBhvr>
                                        <p:cTn id="22" dur="500"/>
                                        <p:tgtEl>
                                          <p:spTgt spid="318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31764"/>
                                        </p:tgtEl>
                                        <p:attrNameLst>
                                          <p:attrName>style.visibility</p:attrName>
                                        </p:attrNameLst>
                                      </p:cBhvr>
                                      <p:to>
                                        <p:strVal val="visible"/>
                                      </p:to>
                                    </p:set>
                                    <p:animEffect transition="in" filter="wipe(right)">
                                      <p:cBhvr>
                                        <p:cTn id="27" dur="500"/>
                                        <p:tgtEl>
                                          <p:spTgt spid="317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1809"/>
                                        </p:tgtEl>
                                        <p:attrNameLst>
                                          <p:attrName>style.visibility</p:attrName>
                                        </p:attrNameLst>
                                      </p:cBhvr>
                                      <p:to>
                                        <p:strVal val="visible"/>
                                      </p:to>
                                    </p:set>
                                    <p:animEffect transition="in" filter="wipe(up)">
                                      <p:cBhvr>
                                        <p:cTn id="32" dur="500"/>
                                        <p:tgtEl>
                                          <p:spTgt spid="31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525463" y="68263"/>
            <a:ext cx="43116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333399"/>
                </a:solidFill>
                <a:latin typeface="宋体" panose="02010600030101010101" pitchFamily="2" charset="-122"/>
              </a:rPr>
              <a:t>2.</a:t>
            </a:r>
            <a:r>
              <a:rPr lang="zh-CN" altLang="en-US" sz="3200" b="1">
                <a:solidFill>
                  <a:srgbClr val="333399"/>
                </a:solidFill>
                <a:latin typeface="宋体" panose="02010600030101010101" pitchFamily="2" charset="-122"/>
              </a:rPr>
              <a:t>重要的尺寸直接注出</a:t>
            </a:r>
            <a:endParaRPr lang="zh-CN" altLang="en-US" sz="3200" b="1">
              <a:solidFill>
                <a:srgbClr val="333399"/>
              </a:solidFill>
              <a:latin typeface="宋体" panose="02010600030101010101" pitchFamily="2" charset="-122"/>
            </a:endParaRPr>
          </a:p>
        </p:txBody>
      </p:sp>
      <p:sp>
        <p:nvSpPr>
          <p:cNvPr id="34819" name="Text Box 3"/>
          <p:cNvSpPr txBox="1">
            <a:spLocks noChangeArrowheads="1"/>
          </p:cNvSpPr>
          <p:nvPr/>
        </p:nvSpPr>
        <p:spPr bwMode="auto">
          <a:xfrm>
            <a:off x="936625" y="620713"/>
            <a:ext cx="7802563"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chemeClr val="tx2"/>
                </a:solidFill>
                <a:latin typeface="宋体" panose="02010600030101010101" pitchFamily="2" charset="-122"/>
              </a:rPr>
              <a:t>    </a:t>
            </a:r>
            <a:r>
              <a:rPr lang="zh-CN" altLang="en-US" sz="3200" b="1">
                <a:solidFill>
                  <a:schemeClr val="tx2"/>
                </a:solidFill>
                <a:latin typeface="宋体" panose="02010600030101010101" pitchFamily="2" charset="-122"/>
              </a:rPr>
              <a:t>重要尺寸指影响产品性能、工作精度和配合的尺寸。</a:t>
            </a:r>
            <a:endParaRPr lang="zh-CN" altLang="en-US" sz="3200" b="1">
              <a:solidFill>
                <a:schemeClr val="tx2"/>
              </a:solidFill>
              <a:latin typeface="宋体" panose="02010600030101010101" pitchFamily="2" charset="-122"/>
            </a:endParaRPr>
          </a:p>
        </p:txBody>
      </p:sp>
      <p:sp>
        <p:nvSpPr>
          <p:cNvPr id="34820" name="Text Box 4"/>
          <p:cNvSpPr txBox="1">
            <a:spLocks noChangeArrowheads="1"/>
          </p:cNvSpPr>
          <p:nvPr/>
        </p:nvSpPr>
        <p:spPr bwMode="auto">
          <a:xfrm>
            <a:off x="938213" y="1611313"/>
            <a:ext cx="7894637"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chemeClr val="tx2"/>
                </a:solidFill>
                <a:latin typeface="宋体" panose="02010600030101010101" pitchFamily="2" charset="-122"/>
              </a:rPr>
              <a:t>    </a:t>
            </a:r>
            <a:r>
              <a:rPr lang="zh-CN" altLang="en-US" sz="3200" b="1">
                <a:solidFill>
                  <a:schemeClr val="tx2"/>
                </a:solidFill>
                <a:latin typeface="宋体" panose="02010600030101010101" pitchFamily="2" charset="-122"/>
              </a:rPr>
              <a:t>非主要尺寸指非配合的直径、长度、外轮廓尺寸等。</a:t>
            </a:r>
            <a:endParaRPr lang="zh-CN" altLang="en-US" sz="3200" b="1">
              <a:solidFill>
                <a:schemeClr val="tx2"/>
              </a:solidFill>
              <a:latin typeface="宋体" panose="02010600030101010101" pitchFamily="2" charset="-122"/>
            </a:endParaRPr>
          </a:p>
        </p:txBody>
      </p:sp>
      <p:sp>
        <p:nvSpPr>
          <p:cNvPr id="34821" name="Text Box 5"/>
          <p:cNvSpPr txBox="1">
            <a:spLocks noChangeArrowheads="1"/>
          </p:cNvSpPr>
          <p:nvPr/>
        </p:nvSpPr>
        <p:spPr bwMode="auto">
          <a:xfrm>
            <a:off x="1731963" y="5337175"/>
            <a:ext cx="14033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hangingPunct="0"/>
            <a:r>
              <a:rPr lang="zh-CN" altLang="en-US" sz="3200" b="1">
                <a:solidFill>
                  <a:srgbClr val="FF3300"/>
                </a:solidFill>
                <a:latin typeface="ISOCP" panose="00000400000000000000" pitchFamily="2" charset="0"/>
              </a:rPr>
              <a:t>正确！</a:t>
            </a:r>
            <a:endParaRPr lang="zh-CN" altLang="en-US" sz="3200" b="1">
              <a:solidFill>
                <a:srgbClr val="FF3300"/>
              </a:solidFill>
              <a:latin typeface="ISOCP" panose="00000400000000000000" pitchFamily="2" charset="0"/>
            </a:endParaRPr>
          </a:p>
        </p:txBody>
      </p:sp>
      <p:sp>
        <p:nvSpPr>
          <p:cNvPr id="34822" name="Text Box 6"/>
          <p:cNvSpPr txBox="1">
            <a:spLocks noChangeArrowheads="1"/>
          </p:cNvSpPr>
          <p:nvPr/>
        </p:nvSpPr>
        <p:spPr bwMode="auto">
          <a:xfrm>
            <a:off x="6054725" y="5338763"/>
            <a:ext cx="14033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200" b="1">
                <a:solidFill>
                  <a:srgbClr val="3333CC"/>
                </a:solidFill>
                <a:latin typeface="ISOCP" panose="00000400000000000000" pitchFamily="2" charset="0"/>
              </a:rPr>
              <a:t>错误！</a:t>
            </a:r>
            <a:endParaRPr lang="zh-CN" altLang="en-US" sz="3200" b="1">
              <a:solidFill>
                <a:srgbClr val="3333CC"/>
              </a:solidFill>
              <a:latin typeface="ISOCP" panose="00000400000000000000" pitchFamily="2" charset="0"/>
            </a:endParaRPr>
          </a:p>
        </p:txBody>
      </p:sp>
      <p:pic>
        <p:nvPicPr>
          <p:cNvPr id="34823"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4025" y="2890838"/>
            <a:ext cx="3479800" cy="2257425"/>
          </a:xfrm>
          <a:prstGeom prst="rect">
            <a:avLst/>
          </a:prstGeom>
          <a:noFill/>
          <a:extLst>
            <a:ext uri="{909E8E84-426E-40DD-AFC4-6F175D3DCCD1}">
              <a14:hiddenFill xmlns:a14="http://schemas.microsoft.com/office/drawing/2010/main">
                <a:solidFill>
                  <a:srgbClr val="FFFFFF"/>
                </a:solidFill>
              </a14:hiddenFill>
            </a:ext>
          </a:extLst>
        </p:spPr>
      </p:pic>
      <p:pic>
        <p:nvPicPr>
          <p:cNvPr id="34824" name="Picture 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930775" y="2890838"/>
            <a:ext cx="3479800" cy="2257425"/>
          </a:xfrm>
          <a:prstGeom prst="rect">
            <a:avLst/>
          </a:prstGeom>
          <a:noFill/>
          <a:extLst>
            <a:ext uri="{909E8E84-426E-40DD-AFC4-6F175D3DCCD1}">
              <a14:hiddenFill xmlns:a14="http://schemas.microsoft.com/office/drawing/2010/main">
                <a:solidFill>
                  <a:srgbClr val="FFFFFF"/>
                </a:solidFill>
              </a14:hiddenFill>
            </a:ext>
          </a:extLst>
        </p:spPr>
      </p:pic>
      <p:grpSp>
        <p:nvGrpSpPr>
          <p:cNvPr id="34825" name="Group 9"/>
          <p:cNvGrpSpPr/>
          <p:nvPr/>
        </p:nvGrpSpPr>
        <p:grpSpPr bwMode="auto">
          <a:xfrm>
            <a:off x="2755900" y="3486150"/>
            <a:ext cx="1773238" cy="1644650"/>
            <a:chOff x="1736" y="2340"/>
            <a:chExt cx="1117" cy="1036"/>
          </a:xfrm>
        </p:grpSpPr>
        <p:sp>
          <p:nvSpPr>
            <p:cNvPr id="34826" name="Line 10"/>
            <p:cNvSpPr>
              <a:spLocks noChangeShapeType="1"/>
            </p:cNvSpPr>
            <p:nvPr/>
          </p:nvSpPr>
          <p:spPr bwMode="auto">
            <a:xfrm>
              <a:off x="2425" y="3353"/>
              <a:ext cx="415"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27" name="Line 11"/>
            <p:cNvSpPr>
              <a:spLocks noChangeShapeType="1"/>
            </p:cNvSpPr>
            <p:nvPr/>
          </p:nvSpPr>
          <p:spPr bwMode="auto">
            <a:xfrm>
              <a:off x="2291" y="3058"/>
              <a:ext cx="41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28" name="Line 12"/>
            <p:cNvSpPr>
              <a:spLocks noChangeShapeType="1"/>
            </p:cNvSpPr>
            <p:nvPr/>
          </p:nvSpPr>
          <p:spPr bwMode="auto">
            <a:xfrm>
              <a:off x="1736" y="2358"/>
              <a:ext cx="1117"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29" name="Line 13"/>
            <p:cNvSpPr>
              <a:spLocks noChangeShapeType="1"/>
            </p:cNvSpPr>
            <p:nvPr/>
          </p:nvSpPr>
          <p:spPr bwMode="auto">
            <a:xfrm>
              <a:off x="2788" y="2340"/>
              <a:ext cx="0" cy="1027"/>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30" name="Line 14"/>
            <p:cNvSpPr>
              <a:spLocks noChangeShapeType="1"/>
            </p:cNvSpPr>
            <p:nvPr/>
          </p:nvSpPr>
          <p:spPr bwMode="auto">
            <a:xfrm>
              <a:off x="2646" y="3040"/>
              <a:ext cx="0" cy="336"/>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31" name="Text Box 15"/>
            <p:cNvSpPr txBox="1">
              <a:spLocks noChangeArrowheads="1"/>
            </p:cNvSpPr>
            <p:nvPr/>
          </p:nvSpPr>
          <p:spPr bwMode="auto">
            <a:xfrm rot="-5400000">
              <a:off x="2472" y="3065"/>
              <a:ext cx="19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b="1" i="1">
                  <a:solidFill>
                    <a:srgbClr val="FF3300"/>
                  </a:solidFill>
                  <a:latin typeface="ISOCPEUR" panose="020B0604020202020204" pitchFamily="34" charset="0"/>
                </a:rPr>
                <a:t>c</a:t>
              </a:r>
              <a:endParaRPr lang="en-US" altLang="zh-CN" b="1" i="1">
                <a:solidFill>
                  <a:srgbClr val="FF3300"/>
                </a:solidFill>
                <a:latin typeface="ISOCPEUR" panose="020B0604020202020204" pitchFamily="34" charset="0"/>
              </a:endParaRPr>
            </a:p>
          </p:txBody>
        </p:sp>
        <p:sp>
          <p:nvSpPr>
            <p:cNvPr id="34832" name="Text Box 16"/>
            <p:cNvSpPr txBox="1">
              <a:spLocks noChangeArrowheads="1"/>
            </p:cNvSpPr>
            <p:nvPr/>
          </p:nvSpPr>
          <p:spPr bwMode="auto">
            <a:xfrm rot="-5400000">
              <a:off x="2605" y="2621"/>
              <a:ext cx="2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b="1" i="1">
                  <a:solidFill>
                    <a:srgbClr val="FF3300"/>
                  </a:solidFill>
                  <a:latin typeface="ISOCPEUR" panose="020B0604020202020204" pitchFamily="34" charset="0"/>
                </a:rPr>
                <a:t>b</a:t>
              </a:r>
              <a:endParaRPr lang="en-US" altLang="zh-CN" b="1" i="1">
                <a:solidFill>
                  <a:srgbClr val="FF3300"/>
                </a:solidFill>
                <a:latin typeface="ISOCPEUR" panose="020B0604020202020204" pitchFamily="34" charset="0"/>
              </a:endParaRPr>
            </a:p>
          </p:txBody>
        </p:sp>
      </p:grpSp>
      <p:grpSp>
        <p:nvGrpSpPr>
          <p:cNvPr id="34833" name="Group 17"/>
          <p:cNvGrpSpPr/>
          <p:nvPr/>
        </p:nvGrpSpPr>
        <p:grpSpPr bwMode="auto">
          <a:xfrm>
            <a:off x="7239000" y="3495675"/>
            <a:ext cx="1546225" cy="1609725"/>
            <a:chOff x="4560" y="2346"/>
            <a:chExt cx="974" cy="1014"/>
          </a:xfrm>
        </p:grpSpPr>
        <p:sp>
          <p:nvSpPr>
            <p:cNvPr id="34834" name="Text Box 18"/>
            <p:cNvSpPr txBox="1">
              <a:spLocks noChangeArrowheads="1"/>
            </p:cNvSpPr>
            <p:nvPr/>
          </p:nvSpPr>
          <p:spPr bwMode="auto">
            <a:xfrm rot="-5400000">
              <a:off x="5282" y="3041"/>
              <a:ext cx="19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b="1" i="1">
                  <a:solidFill>
                    <a:srgbClr val="FF3300"/>
                  </a:solidFill>
                  <a:latin typeface="ISOCPEUR" panose="020B0604020202020204" pitchFamily="34" charset="0"/>
                </a:rPr>
                <a:t>c</a:t>
              </a:r>
              <a:endParaRPr lang="en-US" altLang="zh-CN" b="1" i="1">
                <a:solidFill>
                  <a:srgbClr val="FF3300"/>
                </a:solidFill>
                <a:latin typeface="ISOCPEUR" panose="020B0604020202020204" pitchFamily="34" charset="0"/>
              </a:endParaRPr>
            </a:p>
          </p:txBody>
        </p:sp>
        <p:sp>
          <p:nvSpPr>
            <p:cNvPr id="34835" name="Line 19"/>
            <p:cNvSpPr>
              <a:spLocks noChangeShapeType="1"/>
            </p:cNvSpPr>
            <p:nvPr/>
          </p:nvSpPr>
          <p:spPr bwMode="auto">
            <a:xfrm>
              <a:off x="5110" y="3057"/>
              <a:ext cx="42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36" name="Line 20"/>
            <p:cNvSpPr>
              <a:spLocks noChangeShapeType="1"/>
            </p:cNvSpPr>
            <p:nvPr/>
          </p:nvSpPr>
          <p:spPr bwMode="auto">
            <a:xfrm>
              <a:off x="5234" y="3347"/>
              <a:ext cx="299"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37" name="Line 21"/>
            <p:cNvSpPr>
              <a:spLocks noChangeShapeType="1"/>
            </p:cNvSpPr>
            <p:nvPr/>
          </p:nvSpPr>
          <p:spPr bwMode="auto">
            <a:xfrm>
              <a:off x="4560" y="2357"/>
              <a:ext cx="947"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838" name="Text Box 22"/>
            <p:cNvSpPr txBox="1">
              <a:spLocks noChangeArrowheads="1"/>
            </p:cNvSpPr>
            <p:nvPr/>
          </p:nvSpPr>
          <p:spPr bwMode="auto">
            <a:xfrm rot="5400000" flipV="1">
              <a:off x="5263" y="2624"/>
              <a:ext cx="2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b="1" i="1">
                  <a:solidFill>
                    <a:srgbClr val="FF3300"/>
                  </a:solidFill>
                  <a:latin typeface="ISOCPEUR" panose="020B0604020202020204" pitchFamily="34" charset="0"/>
                </a:rPr>
                <a:t>d</a:t>
              </a:r>
              <a:endParaRPr lang="en-US" altLang="zh-CN" b="1" i="1">
                <a:solidFill>
                  <a:srgbClr val="FF3300"/>
                </a:solidFill>
                <a:latin typeface="ISOCPEUR" panose="020B0604020202020204" pitchFamily="34" charset="0"/>
              </a:endParaRPr>
            </a:p>
          </p:txBody>
        </p:sp>
        <p:sp>
          <p:nvSpPr>
            <p:cNvPr id="34839" name="Line 23"/>
            <p:cNvSpPr>
              <a:spLocks noChangeShapeType="1"/>
            </p:cNvSpPr>
            <p:nvPr/>
          </p:nvSpPr>
          <p:spPr bwMode="auto">
            <a:xfrm flipV="1">
              <a:off x="5472" y="2346"/>
              <a:ext cx="0" cy="726"/>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0" name="Line 24"/>
            <p:cNvSpPr>
              <a:spLocks noChangeShapeType="1"/>
            </p:cNvSpPr>
            <p:nvPr/>
          </p:nvSpPr>
          <p:spPr bwMode="auto">
            <a:xfrm>
              <a:off x="5472" y="3048"/>
              <a:ext cx="0" cy="312"/>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Effect transition="in" filter="blinds(horizontal)">
                                      <p:cBhvr>
                                        <p:cTn id="7" dur="500"/>
                                        <p:tgtEl>
                                          <p:spTgt spid="348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820"/>
                                        </p:tgtEl>
                                        <p:attrNameLst>
                                          <p:attrName>style.visibility</p:attrName>
                                        </p:attrNameLst>
                                      </p:cBhvr>
                                      <p:to>
                                        <p:strVal val="visible"/>
                                      </p:to>
                                    </p:set>
                                    <p:animEffect transition="in" filter="blinds(horizontal)">
                                      <p:cBhvr>
                                        <p:cTn id="12" dur="500"/>
                                        <p:tgtEl>
                                          <p:spTgt spid="348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34823"/>
                                        </p:tgtEl>
                                        <p:attrNameLst>
                                          <p:attrName>style.visibility</p:attrName>
                                        </p:attrNameLst>
                                      </p:cBhvr>
                                      <p:to>
                                        <p:strVal val="visible"/>
                                      </p:to>
                                    </p:set>
                                    <p:animEffect transition="in" filter="blinds(vertical)">
                                      <p:cBhvr>
                                        <p:cTn id="17" dur="500"/>
                                        <p:tgtEl>
                                          <p:spTgt spid="348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4825"/>
                                        </p:tgtEl>
                                        <p:attrNameLst>
                                          <p:attrName>style.visibility</p:attrName>
                                        </p:attrNameLst>
                                      </p:cBhvr>
                                      <p:to>
                                        <p:strVal val="visible"/>
                                      </p:to>
                                    </p:set>
                                    <p:animEffect transition="in" filter="wipe(left)">
                                      <p:cBhvr>
                                        <p:cTn id="22" dur="500"/>
                                        <p:tgtEl>
                                          <p:spTgt spid="3482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4821"/>
                                        </p:tgtEl>
                                        <p:attrNameLst>
                                          <p:attrName>style.visibility</p:attrName>
                                        </p:attrNameLst>
                                      </p:cBhvr>
                                      <p:to>
                                        <p:strVal val="visible"/>
                                      </p:to>
                                    </p:set>
                                    <p:anim calcmode="lin" valueType="num">
                                      <p:cBhvr additive="base">
                                        <p:cTn id="27" dur="500" fill="hold"/>
                                        <p:tgtEl>
                                          <p:spTgt spid="34821"/>
                                        </p:tgtEl>
                                        <p:attrNameLst>
                                          <p:attrName>ppt_x</p:attrName>
                                        </p:attrNameLst>
                                      </p:cBhvr>
                                      <p:tavLst>
                                        <p:tav tm="0">
                                          <p:val>
                                            <p:strVal val="#ppt_x"/>
                                          </p:val>
                                        </p:tav>
                                        <p:tav tm="100000">
                                          <p:val>
                                            <p:strVal val="#ppt_x"/>
                                          </p:val>
                                        </p:tav>
                                      </p:tavLst>
                                    </p:anim>
                                    <p:anim calcmode="lin" valueType="num">
                                      <p:cBhvr additive="base">
                                        <p:cTn id="28"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5" fill="hold" nodeType="clickEffect">
                                  <p:stCondLst>
                                    <p:cond delay="0"/>
                                  </p:stCondLst>
                                  <p:childTnLst>
                                    <p:set>
                                      <p:cBhvr>
                                        <p:cTn id="32" dur="1" fill="hold">
                                          <p:stCondLst>
                                            <p:cond delay="0"/>
                                          </p:stCondLst>
                                        </p:cTn>
                                        <p:tgtEl>
                                          <p:spTgt spid="34824"/>
                                        </p:tgtEl>
                                        <p:attrNameLst>
                                          <p:attrName>style.visibility</p:attrName>
                                        </p:attrNameLst>
                                      </p:cBhvr>
                                      <p:to>
                                        <p:strVal val="visible"/>
                                      </p:to>
                                    </p:set>
                                    <p:animEffect transition="in" filter="blinds(vertical)">
                                      <p:cBhvr>
                                        <p:cTn id="33" dur="500"/>
                                        <p:tgtEl>
                                          <p:spTgt spid="3482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4833"/>
                                        </p:tgtEl>
                                        <p:attrNameLst>
                                          <p:attrName>style.visibility</p:attrName>
                                        </p:attrNameLst>
                                      </p:cBhvr>
                                      <p:to>
                                        <p:strVal val="visible"/>
                                      </p:to>
                                    </p:set>
                                    <p:animEffect transition="in" filter="wipe(left)">
                                      <p:cBhvr>
                                        <p:cTn id="38" dur="500"/>
                                        <p:tgtEl>
                                          <p:spTgt spid="34833"/>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4822"/>
                                        </p:tgtEl>
                                        <p:attrNameLst>
                                          <p:attrName>style.visibility</p:attrName>
                                        </p:attrNameLst>
                                      </p:cBhvr>
                                      <p:to>
                                        <p:strVal val="visible"/>
                                      </p:to>
                                    </p:set>
                                    <p:anim calcmode="lin" valueType="num">
                                      <p:cBhvr additive="base">
                                        <p:cTn id="43" dur="500" fill="hold"/>
                                        <p:tgtEl>
                                          <p:spTgt spid="34822"/>
                                        </p:tgtEl>
                                        <p:attrNameLst>
                                          <p:attrName>ppt_x</p:attrName>
                                        </p:attrNameLst>
                                      </p:cBhvr>
                                      <p:tavLst>
                                        <p:tav tm="0">
                                          <p:val>
                                            <p:strVal val="#ppt_x"/>
                                          </p:val>
                                        </p:tav>
                                        <p:tav tm="100000">
                                          <p:val>
                                            <p:strVal val="#ppt_x"/>
                                          </p:val>
                                        </p:tav>
                                      </p:tavLst>
                                    </p:anim>
                                    <p:anim calcmode="lin" valueType="num">
                                      <p:cBhvr additive="base">
                                        <p:cTn id="44" dur="500" fill="hold"/>
                                        <p:tgtEl>
                                          <p:spTgt spid="348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P spid="34820" grpId="0" autoUpdateAnimBg="0"/>
      <p:bldP spid="34821" grpId="0" autoUpdateAnimBg="0"/>
      <p:bldP spid="34822"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p:cNvSpPr txBox="1">
            <a:spLocks noChangeArrowheads="1"/>
          </p:cNvSpPr>
          <p:nvPr/>
        </p:nvSpPr>
        <p:spPr bwMode="auto">
          <a:xfrm>
            <a:off x="277813" y="95250"/>
            <a:ext cx="439261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333399"/>
                </a:solidFill>
                <a:latin typeface="宋体" panose="02010600030101010101" pitchFamily="2" charset="-122"/>
              </a:rPr>
              <a:t>3.</a:t>
            </a:r>
            <a:r>
              <a:rPr lang="zh-CN" altLang="en-US" sz="3200" b="1">
                <a:solidFill>
                  <a:srgbClr val="333399"/>
                </a:solidFill>
                <a:latin typeface="ISOCP" panose="00000400000000000000" pitchFamily="2" charset="0"/>
              </a:rPr>
              <a:t>应尽量符合加工顺序</a:t>
            </a:r>
            <a:endParaRPr lang="zh-CN" altLang="en-US" sz="3200" b="1">
              <a:solidFill>
                <a:srgbClr val="333399"/>
              </a:solidFill>
              <a:latin typeface="ISOCP" panose="00000400000000000000" pitchFamily="2" charset="0"/>
            </a:endParaRPr>
          </a:p>
        </p:txBody>
      </p:sp>
      <p:sp>
        <p:nvSpPr>
          <p:cNvPr id="35844" name="Text Box 4"/>
          <p:cNvSpPr txBox="1">
            <a:spLocks noChangeArrowheads="1"/>
          </p:cNvSpPr>
          <p:nvPr/>
        </p:nvSpPr>
        <p:spPr bwMode="auto">
          <a:xfrm>
            <a:off x="603250" y="2635250"/>
            <a:ext cx="221615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200" b="1">
                <a:solidFill>
                  <a:schemeClr val="tx2"/>
                </a:solidFill>
                <a:latin typeface="ISOCP" panose="00000400000000000000" pitchFamily="2" charset="0"/>
              </a:rPr>
              <a:t>加工顺序：</a:t>
            </a:r>
            <a:endParaRPr lang="zh-CN" altLang="en-US" sz="3200" b="1">
              <a:solidFill>
                <a:schemeClr val="tx2"/>
              </a:solidFill>
              <a:latin typeface="ISOCP" panose="00000400000000000000" pitchFamily="2" charset="0"/>
            </a:endParaRPr>
          </a:p>
        </p:txBody>
      </p:sp>
      <p:grpSp>
        <p:nvGrpSpPr>
          <p:cNvPr id="35845" name="Group 5"/>
          <p:cNvGrpSpPr/>
          <p:nvPr/>
        </p:nvGrpSpPr>
        <p:grpSpPr bwMode="auto">
          <a:xfrm>
            <a:off x="2201863" y="1314450"/>
            <a:ext cx="598487" cy="800100"/>
            <a:chOff x="1387" y="828"/>
            <a:chExt cx="377" cy="504"/>
          </a:xfrm>
        </p:grpSpPr>
        <p:sp>
          <p:nvSpPr>
            <p:cNvPr id="35846" name="Rectangle 6"/>
            <p:cNvSpPr>
              <a:spLocks noChangeArrowheads="1"/>
            </p:cNvSpPr>
            <p:nvPr/>
          </p:nvSpPr>
          <p:spPr bwMode="auto">
            <a:xfrm>
              <a:off x="1416" y="1056"/>
              <a:ext cx="168" cy="7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47" name="Group 7"/>
            <p:cNvGrpSpPr/>
            <p:nvPr/>
          </p:nvGrpSpPr>
          <p:grpSpPr bwMode="auto">
            <a:xfrm>
              <a:off x="1387" y="828"/>
              <a:ext cx="377" cy="504"/>
              <a:chOff x="1387" y="828"/>
              <a:chExt cx="377" cy="504"/>
            </a:xfrm>
          </p:grpSpPr>
          <p:sp>
            <p:nvSpPr>
              <p:cNvPr id="35848" name="Line 8"/>
              <p:cNvSpPr>
                <a:spLocks noChangeShapeType="1"/>
              </p:cNvSpPr>
              <p:nvPr/>
            </p:nvSpPr>
            <p:spPr bwMode="auto">
              <a:xfrm flipH="1">
                <a:off x="1524" y="852"/>
                <a:ext cx="22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9" name="Line 9"/>
              <p:cNvSpPr>
                <a:spLocks noChangeShapeType="1"/>
              </p:cNvSpPr>
              <p:nvPr/>
            </p:nvSpPr>
            <p:spPr bwMode="auto">
              <a:xfrm flipH="1">
                <a:off x="1536" y="1320"/>
                <a:ext cx="22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0" name="Line 10"/>
              <p:cNvSpPr>
                <a:spLocks noChangeShapeType="1"/>
              </p:cNvSpPr>
              <p:nvPr/>
            </p:nvSpPr>
            <p:spPr bwMode="auto">
              <a:xfrm>
                <a:off x="1608" y="828"/>
                <a:ext cx="0" cy="504"/>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1" name="Text Box 11"/>
              <p:cNvSpPr txBox="1">
                <a:spLocks noChangeArrowheads="1"/>
              </p:cNvSpPr>
              <p:nvPr/>
            </p:nvSpPr>
            <p:spPr bwMode="auto">
              <a:xfrm rot="-5400000">
                <a:off x="1347" y="979"/>
                <a:ext cx="32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2000" b="1" i="1">
                    <a:solidFill>
                      <a:srgbClr val="FF3300"/>
                    </a:solidFill>
                    <a:latin typeface="ISOCPEUR" panose="020B0604020202020204" pitchFamily="34" charset="0"/>
                    <a:sym typeface="Symbol" panose="05050102010706020507" pitchFamily="18" charset="2"/>
                  </a:rPr>
                  <a:t>15</a:t>
                </a:r>
                <a:endParaRPr lang="en-US" altLang="zh-CN" sz="2000" b="1">
                  <a:solidFill>
                    <a:srgbClr val="FF3300"/>
                  </a:solidFill>
                  <a:latin typeface="ISOCPEUR" panose="020B0604020202020204" pitchFamily="34" charset="0"/>
                  <a:sym typeface="Symbol" panose="05050102010706020507" pitchFamily="18" charset="2"/>
                </a:endParaRPr>
              </a:p>
            </p:txBody>
          </p:sp>
        </p:grpSp>
      </p:grpSp>
      <p:grpSp>
        <p:nvGrpSpPr>
          <p:cNvPr id="35923" name="Group 83"/>
          <p:cNvGrpSpPr/>
          <p:nvPr/>
        </p:nvGrpSpPr>
        <p:grpSpPr bwMode="auto">
          <a:xfrm>
            <a:off x="2533650" y="2159000"/>
            <a:ext cx="884238" cy="581025"/>
            <a:chOff x="1596" y="1360"/>
            <a:chExt cx="557" cy="366"/>
          </a:xfrm>
        </p:grpSpPr>
        <p:sp>
          <p:nvSpPr>
            <p:cNvPr id="35853" name="Line 13"/>
            <p:cNvSpPr>
              <a:spLocks noChangeShapeType="1"/>
            </p:cNvSpPr>
            <p:nvPr/>
          </p:nvSpPr>
          <p:spPr bwMode="auto">
            <a:xfrm>
              <a:off x="1825" y="1655"/>
              <a:ext cx="269"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854" name="Line 14"/>
            <p:cNvSpPr>
              <a:spLocks noChangeShapeType="1"/>
            </p:cNvSpPr>
            <p:nvPr/>
          </p:nvSpPr>
          <p:spPr bwMode="auto">
            <a:xfrm>
              <a:off x="1596" y="1655"/>
              <a:ext cx="175" cy="0"/>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855" name="Line 15"/>
            <p:cNvSpPr>
              <a:spLocks noChangeShapeType="1"/>
            </p:cNvSpPr>
            <p:nvPr/>
          </p:nvSpPr>
          <p:spPr bwMode="auto">
            <a:xfrm>
              <a:off x="1750" y="1655"/>
              <a:ext cx="9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856" name="Line 16"/>
            <p:cNvSpPr>
              <a:spLocks noChangeShapeType="1"/>
            </p:cNvSpPr>
            <p:nvPr/>
          </p:nvSpPr>
          <p:spPr bwMode="auto">
            <a:xfrm>
              <a:off x="1836" y="1360"/>
              <a:ext cx="0" cy="36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7" name="Text Box 17"/>
            <p:cNvSpPr txBox="1">
              <a:spLocks noChangeArrowheads="1"/>
            </p:cNvSpPr>
            <p:nvPr/>
          </p:nvSpPr>
          <p:spPr bwMode="auto">
            <a:xfrm>
              <a:off x="1934" y="1438"/>
              <a:ext cx="2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4</a:t>
              </a:r>
              <a:endParaRPr lang="en-US" altLang="zh-CN">
                <a:latin typeface="ISOCPEUR" panose="020B0604020202020204" pitchFamily="34" charset="0"/>
              </a:endParaRPr>
            </a:p>
          </p:txBody>
        </p:sp>
      </p:grpSp>
      <p:grpSp>
        <p:nvGrpSpPr>
          <p:cNvPr id="35858" name="Group 18"/>
          <p:cNvGrpSpPr/>
          <p:nvPr/>
        </p:nvGrpSpPr>
        <p:grpSpPr bwMode="auto">
          <a:xfrm>
            <a:off x="2781300" y="2076450"/>
            <a:ext cx="1543050" cy="952500"/>
            <a:chOff x="1752" y="1308"/>
            <a:chExt cx="972" cy="600"/>
          </a:xfrm>
        </p:grpSpPr>
        <p:sp>
          <p:nvSpPr>
            <p:cNvPr id="35859" name="Line 19"/>
            <p:cNvSpPr>
              <a:spLocks noChangeShapeType="1"/>
            </p:cNvSpPr>
            <p:nvPr/>
          </p:nvSpPr>
          <p:spPr bwMode="auto">
            <a:xfrm>
              <a:off x="1752" y="1392"/>
              <a:ext cx="0" cy="51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0" name="Line 20"/>
            <p:cNvSpPr>
              <a:spLocks noChangeShapeType="1"/>
            </p:cNvSpPr>
            <p:nvPr/>
          </p:nvSpPr>
          <p:spPr bwMode="auto">
            <a:xfrm>
              <a:off x="2724" y="1308"/>
              <a:ext cx="0" cy="58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1" name="Line 21"/>
            <p:cNvSpPr>
              <a:spLocks noChangeShapeType="1"/>
            </p:cNvSpPr>
            <p:nvPr/>
          </p:nvSpPr>
          <p:spPr bwMode="auto">
            <a:xfrm>
              <a:off x="1752" y="1836"/>
              <a:ext cx="972" cy="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2" name="Text Box 22"/>
            <p:cNvSpPr txBox="1">
              <a:spLocks noChangeArrowheads="1"/>
            </p:cNvSpPr>
            <p:nvPr/>
          </p:nvSpPr>
          <p:spPr bwMode="auto">
            <a:xfrm>
              <a:off x="2174" y="1602"/>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35</a:t>
              </a:r>
              <a:endParaRPr lang="en-US" altLang="zh-CN">
                <a:latin typeface="ISOCPEUR" panose="020B0604020202020204" pitchFamily="34" charset="0"/>
              </a:endParaRPr>
            </a:p>
          </p:txBody>
        </p:sp>
      </p:grpSp>
      <p:grpSp>
        <p:nvGrpSpPr>
          <p:cNvPr id="35946" name="Group 106"/>
          <p:cNvGrpSpPr/>
          <p:nvPr/>
        </p:nvGrpSpPr>
        <p:grpSpPr bwMode="auto">
          <a:xfrm>
            <a:off x="4133850" y="1270000"/>
            <a:ext cx="685800" cy="920750"/>
            <a:chOff x="2604" y="800"/>
            <a:chExt cx="432" cy="580"/>
          </a:xfrm>
        </p:grpSpPr>
        <p:sp>
          <p:nvSpPr>
            <p:cNvPr id="35864" name="Text Box 24"/>
            <p:cNvSpPr txBox="1">
              <a:spLocks noChangeArrowheads="1"/>
            </p:cNvSpPr>
            <p:nvPr/>
          </p:nvSpPr>
          <p:spPr bwMode="auto">
            <a:xfrm rot="-5400000">
              <a:off x="2650" y="974"/>
              <a:ext cx="45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sz="2000" b="1" i="1">
                  <a:solidFill>
                    <a:srgbClr val="FF3300"/>
                  </a:solidFill>
                  <a:latin typeface="ISOCPEUR" panose="020B0604020202020204" pitchFamily="34" charset="0"/>
                  <a:sym typeface="Symbol" panose="05050102010706020507" pitchFamily="18" charset="2"/>
                </a:rPr>
                <a:t>20</a:t>
              </a:r>
              <a:endParaRPr lang="en-US" altLang="zh-CN" sz="2000" b="1">
                <a:solidFill>
                  <a:srgbClr val="FF3300"/>
                </a:solidFill>
                <a:latin typeface="ISOCPEUR" panose="020B0604020202020204" pitchFamily="34" charset="0"/>
                <a:sym typeface="Symbol" panose="05050102010706020507" pitchFamily="18" charset="2"/>
              </a:endParaRPr>
            </a:p>
          </p:txBody>
        </p:sp>
        <p:sp>
          <p:nvSpPr>
            <p:cNvPr id="35865" name="Line 25"/>
            <p:cNvSpPr>
              <a:spLocks noChangeShapeType="1"/>
            </p:cNvSpPr>
            <p:nvPr/>
          </p:nvSpPr>
          <p:spPr bwMode="auto">
            <a:xfrm>
              <a:off x="2604" y="804"/>
              <a:ext cx="42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6" name="Line 26"/>
            <p:cNvSpPr>
              <a:spLocks noChangeShapeType="1"/>
            </p:cNvSpPr>
            <p:nvPr/>
          </p:nvSpPr>
          <p:spPr bwMode="auto">
            <a:xfrm>
              <a:off x="2628" y="1376"/>
              <a:ext cx="40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7" name="Line 27"/>
            <p:cNvSpPr>
              <a:spLocks noChangeShapeType="1"/>
            </p:cNvSpPr>
            <p:nvPr/>
          </p:nvSpPr>
          <p:spPr bwMode="auto">
            <a:xfrm>
              <a:off x="2964" y="800"/>
              <a:ext cx="0" cy="58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5924" name="Group 84"/>
          <p:cNvGrpSpPr/>
          <p:nvPr/>
        </p:nvGrpSpPr>
        <p:grpSpPr bwMode="auto">
          <a:xfrm>
            <a:off x="3478213" y="633413"/>
            <a:ext cx="731837" cy="642937"/>
            <a:chOff x="2191" y="399"/>
            <a:chExt cx="461" cy="405"/>
          </a:xfrm>
        </p:grpSpPr>
        <p:sp>
          <p:nvSpPr>
            <p:cNvPr id="35869" name="Text Box 29"/>
            <p:cNvSpPr txBox="1">
              <a:spLocks noChangeArrowheads="1"/>
            </p:cNvSpPr>
            <p:nvPr/>
          </p:nvSpPr>
          <p:spPr bwMode="auto">
            <a:xfrm>
              <a:off x="2191" y="399"/>
              <a:ext cx="26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2000" b="1" i="1">
                  <a:solidFill>
                    <a:srgbClr val="FF3300"/>
                  </a:solidFill>
                  <a:latin typeface="ISOCPEUR" panose="020B0604020202020204" pitchFamily="34" charset="0"/>
                </a:rPr>
                <a:t>C2</a:t>
              </a:r>
              <a:endParaRPr lang="en-US" altLang="zh-CN" sz="2000" b="1">
                <a:solidFill>
                  <a:srgbClr val="FF3300"/>
                </a:solidFill>
                <a:latin typeface="ISOCPEUR" panose="020B0604020202020204" pitchFamily="34" charset="0"/>
              </a:endParaRPr>
            </a:p>
          </p:txBody>
        </p:sp>
        <p:sp>
          <p:nvSpPr>
            <p:cNvPr id="35870" name="Line 30"/>
            <p:cNvSpPr>
              <a:spLocks noChangeShapeType="1"/>
            </p:cNvSpPr>
            <p:nvPr/>
          </p:nvSpPr>
          <p:spPr bwMode="auto">
            <a:xfrm flipH="1" flipV="1">
              <a:off x="2460" y="612"/>
              <a:ext cx="192" cy="1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1" name="Line 31"/>
            <p:cNvSpPr>
              <a:spLocks noChangeShapeType="1"/>
            </p:cNvSpPr>
            <p:nvPr/>
          </p:nvSpPr>
          <p:spPr bwMode="auto">
            <a:xfrm flipH="1">
              <a:off x="2201" y="612"/>
              <a:ext cx="269"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5872" name="Text Box 32"/>
          <p:cNvSpPr txBox="1">
            <a:spLocks noChangeArrowheads="1"/>
          </p:cNvSpPr>
          <p:nvPr/>
        </p:nvSpPr>
        <p:spPr bwMode="auto">
          <a:xfrm>
            <a:off x="5070475" y="327818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zh-CN"/>
          </a:p>
        </p:txBody>
      </p:sp>
      <p:sp>
        <p:nvSpPr>
          <p:cNvPr id="35873" name="Text Box 33"/>
          <p:cNvSpPr txBox="1">
            <a:spLocks noChangeArrowheads="1"/>
          </p:cNvSpPr>
          <p:nvPr/>
        </p:nvSpPr>
        <p:spPr bwMode="auto">
          <a:xfrm>
            <a:off x="1031875" y="898525"/>
            <a:ext cx="5461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b="1">
                <a:solidFill>
                  <a:schemeClr val="accent2"/>
                </a:solidFill>
              </a:rPr>
              <a:t>(a)</a:t>
            </a:r>
            <a:r>
              <a:rPr lang="zh-CN" altLang="en-US" b="1">
                <a:solidFill>
                  <a:schemeClr val="accent2"/>
                </a:solidFill>
              </a:rPr>
              <a:t>合理</a:t>
            </a:r>
            <a:endParaRPr lang="zh-CN" altLang="en-US" b="1"/>
          </a:p>
        </p:txBody>
      </p:sp>
      <p:sp>
        <p:nvSpPr>
          <p:cNvPr id="35874" name="Text Box 34"/>
          <p:cNvSpPr txBox="1">
            <a:spLocks noChangeArrowheads="1"/>
          </p:cNvSpPr>
          <p:nvPr/>
        </p:nvSpPr>
        <p:spPr bwMode="auto">
          <a:xfrm>
            <a:off x="5108575" y="784225"/>
            <a:ext cx="60483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b="1">
                <a:solidFill>
                  <a:schemeClr val="accent2"/>
                </a:solidFill>
              </a:rPr>
              <a:t>(b)</a:t>
            </a:r>
            <a:r>
              <a:rPr lang="zh-CN" altLang="en-US" b="1">
                <a:solidFill>
                  <a:schemeClr val="accent2"/>
                </a:solidFill>
              </a:rPr>
              <a:t>不合理</a:t>
            </a:r>
            <a:endParaRPr lang="zh-CN" altLang="en-US" b="1"/>
          </a:p>
        </p:txBody>
      </p:sp>
      <p:sp>
        <p:nvSpPr>
          <p:cNvPr id="35896" name="Text Box 56"/>
          <p:cNvSpPr txBox="1">
            <a:spLocks noChangeArrowheads="1"/>
          </p:cNvSpPr>
          <p:nvPr/>
        </p:nvSpPr>
        <p:spPr bwMode="auto">
          <a:xfrm>
            <a:off x="1412875" y="3190875"/>
            <a:ext cx="3216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a:t>(1)</a:t>
            </a:r>
            <a:r>
              <a:rPr lang="zh-CN" altLang="en-US" sz="2800" b="1"/>
              <a:t>车</a:t>
            </a:r>
            <a:r>
              <a:rPr lang="en-US" altLang="zh-CN" sz="2800" b="1"/>
              <a:t>4×</a:t>
            </a:r>
            <a:r>
              <a:rPr lang="en-US" altLang="zh-CN" sz="2800" b="1" i="1"/>
              <a:t>φ</a:t>
            </a:r>
            <a:r>
              <a:rPr lang="en-US" altLang="zh-CN" sz="2800" b="1"/>
              <a:t>15</a:t>
            </a:r>
            <a:r>
              <a:rPr lang="zh-CN" altLang="en-US" sz="2800" b="1"/>
              <a:t>退刀槽</a:t>
            </a:r>
            <a:endParaRPr lang="zh-CN" altLang="en-US" sz="2800" b="1"/>
          </a:p>
        </p:txBody>
      </p:sp>
      <p:sp>
        <p:nvSpPr>
          <p:cNvPr id="35897" name="Text Box 57"/>
          <p:cNvSpPr txBox="1">
            <a:spLocks noChangeArrowheads="1"/>
          </p:cNvSpPr>
          <p:nvPr/>
        </p:nvSpPr>
        <p:spPr bwMode="auto">
          <a:xfrm>
            <a:off x="5299075" y="3190875"/>
            <a:ext cx="33956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a:t>(2)</a:t>
            </a:r>
            <a:r>
              <a:rPr lang="zh-CN" altLang="en-US" sz="2800" b="1"/>
              <a:t>车</a:t>
            </a:r>
            <a:r>
              <a:rPr lang="en-US" altLang="zh-CN" sz="2800" b="1" i="1"/>
              <a:t>φ</a:t>
            </a:r>
            <a:r>
              <a:rPr lang="en-US" altLang="zh-CN" sz="2800" b="1"/>
              <a:t>20</a:t>
            </a:r>
            <a:r>
              <a:rPr lang="zh-CN" altLang="en-US" sz="2800" b="1"/>
              <a:t>外圆及倒角</a:t>
            </a:r>
            <a:endParaRPr lang="zh-CN" altLang="en-US" sz="2800" b="1"/>
          </a:p>
        </p:txBody>
      </p:sp>
      <p:pic>
        <p:nvPicPr>
          <p:cNvPr id="35898" name="Picture 5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27200" y="3640138"/>
            <a:ext cx="2451100" cy="2549525"/>
          </a:xfrm>
          <a:prstGeom prst="rect">
            <a:avLst/>
          </a:prstGeom>
          <a:noFill/>
          <a:extLst>
            <a:ext uri="{909E8E84-426E-40DD-AFC4-6F175D3DCCD1}">
              <a14:hiddenFill xmlns:a14="http://schemas.microsoft.com/office/drawing/2010/main">
                <a:solidFill>
                  <a:srgbClr val="FFFFFF"/>
                </a:solidFill>
              </a14:hiddenFill>
            </a:ext>
          </a:extLst>
        </p:spPr>
      </p:pic>
      <p:pic>
        <p:nvPicPr>
          <p:cNvPr id="35899"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6413" y="3836988"/>
            <a:ext cx="2847975" cy="2193925"/>
          </a:xfrm>
          <a:prstGeom prst="rect">
            <a:avLst/>
          </a:prstGeom>
          <a:noFill/>
          <a:extLst>
            <a:ext uri="{909E8E84-426E-40DD-AFC4-6F175D3DCCD1}">
              <a14:hiddenFill xmlns:a14="http://schemas.microsoft.com/office/drawing/2010/main">
                <a:solidFill>
                  <a:srgbClr val="FFFFFF"/>
                </a:solidFill>
              </a14:hiddenFill>
            </a:ext>
          </a:extLst>
        </p:spPr>
      </p:pic>
      <p:grpSp>
        <p:nvGrpSpPr>
          <p:cNvPr id="35921" name="Group 81"/>
          <p:cNvGrpSpPr/>
          <p:nvPr/>
        </p:nvGrpSpPr>
        <p:grpSpPr bwMode="auto">
          <a:xfrm>
            <a:off x="1943100" y="1079500"/>
            <a:ext cx="2508250" cy="1293813"/>
            <a:chOff x="1224" y="680"/>
            <a:chExt cx="1580" cy="815"/>
          </a:xfrm>
        </p:grpSpPr>
        <p:sp>
          <p:nvSpPr>
            <p:cNvPr id="35902" name="Line 62"/>
            <p:cNvSpPr>
              <a:spLocks noChangeShapeType="1"/>
            </p:cNvSpPr>
            <p:nvPr/>
          </p:nvSpPr>
          <p:spPr bwMode="auto">
            <a:xfrm>
              <a:off x="1294" y="681"/>
              <a:ext cx="46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3" name="Line 63"/>
            <p:cNvSpPr>
              <a:spLocks noChangeShapeType="1"/>
            </p:cNvSpPr>
            <p:nvPr/>
          </p:nvSpPr>
          <p:spPr bwMode="auto">
            <a:xfrm>
              <a:off x="1750" y="681"/>
              <a:ext cx="0" cy="81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4" name="Line 64"/>
            <p:cNvSpPr>
              <a:spLocks noChangeShapeType="1"/>
            </p:cNvSpPr>
            <p:nvPr/>
          </p:nvSpPr>
          <p:spPr bwMode="auto">
            <a:xfrm flipH="1">
              <a:off x="1270" y="1495"/>
              <a:ext cx="49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6" name="Line 66"/>
            <p:cNvSpPr>
              <a:spLocks noChangeShapeType="1"/>
            </p:cNvSpPr>
            <p:nvPr/>
          </p:nvSpPr>
          <p:spPr bwMode="auto">
            <a:xfrm>
              <a:off x="1844" y="801"/>
              <a:ext cx="0" cy="57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7" name="Line 67"/>
            <p:cNvSpPr>
              <a:spLocks noChangeShapeType="1"/>
            </p:cNvSpPr>
            <p:nvPr/>
          </p:nvSpPr>
          <p:spPr bwMode="auto">
            <a:xfrm>
              <a:off x="1844" y="809"/>
              <a:ext cx="80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8" name="Line 68"/>
            <p:cNvSpPr>
              <a:spLocks noChangeShapeType="1"/>
            </p:cNvSpPr>
            <p:nvPr/>
          </p:nvSpPr>
          <p:spPr bwMode="auto">
            <a:xfrm>
              <a:off x="1839" y="1374"/>
              <a:ext cx="81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09" name="Line 69"/>
            <p:cNvSpPr>
              <a:spLocks noChangeShapeType="1"/>
            </p:cNvSpPr>
            <p:nvPr/>
          </p:nvSpPr>
          <p:spPr bwMode="auto">
            <a:xfrm>
              <a:off x="2647" y="806"/>
              <a:ext cx="0" cy="57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0" name="Line 70"/>
            <p:cNvSpPr>
              <a:spLocks noChangeShapeType="1"/>
            </p:cNvSpPr>
            <p:nvPr/>
          </p:nvSpPr>
          <p:spPr bwMode="auto">
            <a:xfrm>
              <a:off x="2730" y="879"/>
              <a:ext cx="0" cy="4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1" name="Line 71"/>
            <p:cNvSpPr>
              <a:spLocks noChangeShapeType="1"/>
            </p:cNvSpPr>
            <p:nvPr/>
          </p:nvSpPr>
          <p:spPr bwMode="auto">
            <a:xfrm>
              <a:off x="1747" y="847"/>
              <a:ext cx="10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2" name="Line 72"/>
            <p:cNvSpPr>
              <a:spLocks noChangeShapeType="1"/>
            </p:cNvSpPr>
            <p:nvPr/>
          </p:nvSpPr>
          <p:spPr bwMode="auto">
            <a:xfrm>
              <a:off x="1747" y="1329"/>
              <a:ext cx="9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3" name="Line 73"/>
            <p:cNvSpPr>
              <a:spLocks noChangeShapeType="1"/>
            </p:cNvSpPr>
            <p:nvPr/>
          </p:nvSpPr>
          <p:spPr bwMode="auto">
            <a:xfrm flipV="1">
              <a:off x="2647" y="1286"/>
              <a:ext cx="88" cy="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4" name="Line 74"/>
            <p:cNvSpPr>
              <a:spLocks noChangeShapeType="1"/>
            </p:cNvSpPr>
            <p:nvPr/>
          </p:nvSpPr>
          <p:spPr bwMode="auto">
            <a:xfrm>
              <a:off x="2643" y="799"/>
              <a:ext cx="88" cy="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5" name="Freeform 75"/>
            <p:cNvSpPr/>
            <p:nvPr/>
          </p:nvSpPr>
          <p:spPr bwMode="auto">
            <a:xfrm>
              <a:off x="1271" y="680"/>
              <a:ext cx="38" cy="812"/>
            </a:xfrm>
            <a:custGeom>
              <a:avLst/>
              <a:gdLst>
                <a:gd name="T0" fmla="*/ 29 w 38"/>
                <a:gd name="T1" fmla="*/ 0 h 812"/>
                <a:gd name="T2" fmla="*/ 1 w 38"/>
                <a:gd name="T3" fmla="*/ 96 h 812"/>
                <a:gd name="T4" fmla="*/ 25 w 38"/>
                <a:gd name="T5" fmla="*/ 224 h 812"/>
                <a:gd name="T6" fmla="*/ 9 w 38"/>
                <a:gd name="T7" fmla="*/ 356 h 812"/>
                <a:gd name="T8" fmla="*/ 37 w 38"/>
                <a:gd name="T9" fmla="*/ 504 h 812"/>
                <a:gd name="T10" fmla="*/ 17 w 38"/>
                <a:gd name="T11" fmla="*/ 624 h 812"/>
                <a:gd name="T12" fmla="*/ 5 w 38"/>
                <a:gd name="T13" fmla="*/ 812 h 812"/>
              </a:gdLst>
              <a:ahLst/>
              <a:cxnLst>
                <a:cxn ang="0">
                  <a:pos x="T0" y="T1"/>
                </a:cxn>
                <a:cxn ang="0">
                  <a:pos x="T2" y="T3"/>
                </a:cxn>
                <a:cxn ang="0">
                  <a:pos x="T4" y="T5"/>
                </a:cxn>
                <a:cxn ang="0">
                  <a:pos x="T6" y="T7"/>
                </a:cxn>
                <a:cxn ang="0">
                  <a:pos x="T8" y="T9"/>
                </a:cxn>
                <a:cxn ang="0">
                  <a:pos x="T10" y="T11"/>
                </a:cxn>
                <a:cxn ang="0">
                  <a:pos x="T12" y="T13"/>
                </a:cxn>
              </a:cxnLst>
              <a:rect l="0" t="0" r="r" b="b"/>
              <a:pathLst>
                <a:path w="38" h="812">
                  <a:moveTo>
                    <a:pt x="29" y="0"/>
                  </a:moveTo>
                  <a:cubicBezTo>
                    <a:pt x="15" y="29"/>
                    <a:pt x="2" y="59"/>
                    <a:pt x="1" y="96"/>
                  </a:cubicBezTo>
                  <a:cubicBezTo>
                    <a:pt x="0" y="133"/>
                    <a:pt x="24" y="181"/>
                    <a:pt x="25" y="224"/>
                  </a:cubicBezTo>
                  <a:cubicBezTo>
                    <a:pt x="26" y="267"/>
                    <a:pt x="7" y="309"/>
                    <a:pt x="9" y="356"/>
                  </a:cubicBezTo>
                  <a:cubicBezTo>
                    <a:pt x="11" y="403"/>
                    <a:pt x="36" y="459"/>
                    <a:pt x="37" y="504"/>
                  </a:cubicBezTo>
                  <a:cubicBezTo>
                    <a:pt x="38" y="549"/>
                    <a:pt x="22" y="573"/>
                    <a:pt x="17" y="624"/>
                  </a:cubicBezTo>
                  <a:cubicBezTo>
                    <a:pt x="12" y="675"/>
                    <a:pt x="7" y="781"/>
                    <a:pt x="5" y="812"/>
                  </a:cubicBez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5920" name="Group 80"/>
            <p:cNvGrpSpPr/>
            <p:nvPr/>
          </p:nvGrpSpPr>
          <p:grpSpPr bwMode="auto">
            <a:xfrm>
              <a:off x="1224" y="1096"/>
              <a:ext cx="1580" cy="0"/>
              <a:chOff x="1224" y="1096"/>
              <a:chExt cx="1580" cy="0"/>
            </a:xfrm>
          </p:grpSpPr>
          <p:sp>
            <p:nvSpPr>
              <p:cNvPr id="35905" name="Line 65"/>
              <p:cNvSpPr>
                <a:spLocks noChangeShapeType="1"/>
              </p:cNvSpPr>
              <p:nvPr/>
            </p:nvSpPr>
            <p:spPr bwMode="auto">
              <a:xfrm>
                <a:off x="1224" y="1096"/>
                <a:ext cx="22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6" name="Line 76"/>
              <p:cNvSpPr>
                <a:spLocks noChangeShapeType="1"/>
              </p:cNvSpPr>
              <p:nvPr/>
            </p:nvSpPr>
            <p:spPr bwMode="auto">
              <a:xfrm>
                <a:off x="2432" y="1096"/>
                <a:ext cx="3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7" name="Line 77"/>
              <p:cNvSpPr>
                <a:spLocks noChangeShapeType="1"/>
              </p:cNvSpPr>
              <p:nvPr/>
            </p:nvSpPr>
            <p:spPr bwMode="auto">
              <a:xfrm flipH="1">
                <a:off x="2312" y="1096"/>
                <a:ext cx="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8" name="Line 78"/>
              <p:cNvSpPr>
                <a:spLocks noChangeShapeType="1"/>
              </p:cNvSpPr>
              <p:nvPr/>
            </p:nvSpPr>
            <p:spPr bwMode="auto">
              <a:xfrm flipH="1">
                <a:off x="1788" y="1096"/>
                <a:ext cx="4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19" name="Line 79"/>
              <p:cNvSpPr>
                <a:spLocks noChangeShapeType="1"/>
              </p:cNvSpPr>
              <p:nvPr/>
            </p:nvSpPr>
            <p:spPr bwMode="auto">
              <a:xfrm>
                <a:off x="1652" y="1096"/>
                <a:ext cx="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5945" name="Group 105"/>
          <p:cNvGrpSpPr/>
          <p:nvPr/>
        </p:nvGrpSpPr>
        <p:grpSpPr bwMode="auto">
          <a:xfrm>
            <a:off x="5810250" y="690563"/>
            <a:ext cx="2876550" cy="2395537"/>
            <a:chOff x="3660" y="435"/>
            <a:chExt cx="1812" cy="1509"/>
          </a:xfrm>
        </p:grpSpPr>
        <p:sp>
          <p:nvSpPr>
            <p:cNvPr id="35877" name="Line 37"/>
            <p:cNvSpPr>
              <a:spLocks noChangeShapeType="1"/>
            </p:cNvSpPr>
            <p:nvPr/>
          </p:nvSpPr>
          <p:spPr bwMode="auto">
            <a:xfrm>
              <a:off x="4273" y="1651"/>
              <a:ext cx="889" cy="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878" name="Line 38"/>
            <p:cNvSpPr>
              <a:spLocks noChangeShapeType="1"/>
            </p:cNvSpPr>
            <p:nvPr/>
          </p:nvSpPr>
          <p:spPr bwMode="auto">
            <a:xfrm flipH="1">
              <a:off x="3960" y="888"/>
              <a:ext cx="22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9" name="Line 39"/>
            <p:cNvSpPr>
              <a:spLocks noChangeShapeType="1"/>
            </p:cNvSpPr>
            <p:nvPr/>
          </p:nvSpPr>
          <p:spPr bwMode="auto">
            <a:xfrm flipH="1">
              <a:off x="3972" y="1368"/>
              <a:ext cx="22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0" name="Line 40"/>
            <p:cNvSpPr>
              <a:spLocks noChangeShapeType="1"/>
            </p:cNvSpPr>
            <p:nvPr/>
          </p:nvSpPr>
          <p:spPr bwMode="auto">
            <a:xfrm>
              <a:off x="4044" y="876"/>
              <a:ext cx="0" cy="504"/>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1" name="Rectangle 41"/>
            <p:cNvSpPr>
              <a:spLocks noChangeArrowheads="1"/>
            </p:cNvSpPr>
            <p:nvPr/>
          </p:nvSpPr>
          <p:spPr bwMode="auto">
            <a:xfrm>
              <a:off x="3852" y="1092"/>
              <a:ext cx="168" cy="7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2" name="Text Box 42"/>
            <p:cNvSpPr txBox="1">
              <a:spLocks noChangeArrowheads="1"/>
            </p:cNvSpPr>
            <p:nvPr/>
          </p:nvSpPr>
          <p:spPr bwMode="auto">
            <a:xfrm rot="-5400000">
              <a:off x="3783" y="1015"/>
              <a:ext cx="32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2000" b="1" i="1">
                  <a:solidFill>
                    <a:srgbClr val="FF3300"/>
                  </a:solidFill>
                  <a:latin typeface="ISOCPEUR" panose="020B0604020202020204" pitchFamily="34" charset="0"/>
                  <a:sym typeface="Symbol" panose="05050102010706020507" pitchFamily="18" charset="2"/>
                </a:rPr>
                <a:t>15</a:t>
              </a:r>
              <a:endParaRPr lang="en-US" altLang="zh-CN" sz="2000" b="1" i="1">
                <a:solidFill>
                  <a:srgbClr val="FF3300"/>
                </a:solidFill>
                <a:latin typeface="ISOCPEUR" panose="020B0604020202020204" pitchFamily="34" charset="0"/>
                <a:sym typeface="Symbol" panose="05050102010706020507" pitchFamily="18" charset="2"/>
              </a:endParaRPr>
            </a:p>
          </p:txBody>
        </p:sp>
        <p:sp>
          <p:nvSpPr>
            <p:cNvPr id="35883" name="Line 43"/>
            <p:cNvSpPr>
              <a:spLocks noChangeShapeType="1"/>
            </p:cNvSpPr>
            <p:nvPr/>
          </p:nvSpPr>
          <p:spPr bwMode="auto">
            <a:xfrm>
              <a:off x="4188" y="1428"/>
              <a:ext cx="0" cy="51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4" name="Line 44"/>
            <p:cNvSpPr>
              <a:spLocks noChangeShapeType="1"/>
            </p:cNvSpPr>
            <p:nvPr/>
          </p:nvSpPr>
          <p:spPr bwMode="auto">
            <a:xfrm>
              <a:off x="4272" y="1392"/>
              <a:ext cx="0" cy="36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5" name="Text Box 45"/>
            <p:cNvSpPr txBox="1">
              <a:spLocks noChangeArrowheads="1"/>
            </p:cNvSpPr>
            <p:nvPr/>
          </p:nvSpPr>
          <p:spPr bwMode="auto">
            <a:xfrm>
              <a:off x="4596" y="1410"/>
              <a:ext cx="2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31</a:t>
              </a:r>
              <a:endParaRPr lang="en-US" altLang="zh-CN">
                <a:latin typeface="ISOCPEUR" panose="020B0604020202020204" pitchFamily="34" charset="0"/>
              </a:endParaRPr>
            </a:p>
          </p:txBody>
        </p:sp>
        <p:sp>
          <p:nvSpPr>
            <p:cNvPr id="35886" name="Line 46"/>
            <p:cNvSpPr>
              <a:spLocks noChangeShapeType="1"/>
            </p:cNvSpPr>
            <p:nvPr/>
          </p:nvSpPr>
          <p:spPr bwMode="auto">
            <a:xfrm>
              <a:off x="5160" y="1344"/>
              <a:ext cx="0" cy="58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7" name="Line 47"/>
            <p:cNvSpPr>
              <a:spLocks noChangeShapeType="1"/>
            </p:cNvSpPr>
            <p:nvPr/>
          </p:nvSpPr>
          <p:spPr bwMode="auto">
            <a:xfrm>
              <a:off x="4180" y="1872"/>
              <a:ext cx="980" cy="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8" name="Text Box 48"/>
            <p:cNvSpPr txBox="1">
              <a:spLocks noChangeArrowheads="1"/>
            </p:cNvSpPr>
            <p:nvPr/>
          </p:nvSpPr>
          <p:spPr bwMode="auto">
            <a:xfrm>
              <a:off x="4538" y="1650"/>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35</a:t>
              </a:r>
              <a:endParaRPr lang="en-US" altLang="zh-CN">
                <a:latin typeface="ISOCPEUR" panose="020B0604020202020204" pitchFamily="34" charset="0"/>
              </a:endParaRPr>
            </a:p>
          </p:txBody>
        </p:sp>
        <p:sp>
          <p:nvSpPr>
            <p:cNvPr id="35889" name="Text Box 49"/>
            <p:cNvSpPr txBox="1">
              <a:spLocks noChangeArrowheads="1"/>
            </p:cNvSpPr>
            <p:nvPr/>
          </p:nvSpPr>
          <p:spPr bwMode="auto">
            <a:xfrm rot="-5400000">
              <a:off x="5086" y="1012"/>
              <a:ext cx="45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en-US" altLang="zh-CN" sz="2000" b="1" i="1">
                  <a:solidFill>
                    <a:srgbClr val="FF3300"/>
                  </a:solidFill>
                  <a:latin typeface="ISOCPEUR" panose="020B0604020202020204" pitchFamily="34" charset="0"/>
                  <a:sym typeface="Symbol" panose="05050102010706020507" pitchFamily="18" charset="2"/>
                </a:rPr>
                <a:t>20</a:t>
              </a:r>
              <a:endParaRPr lang="en-US" altLang="zh-CN" sz="2000" b="1" i="1">
                <a:solidFill>
                  <a:srgbClr val="FF3300"/>
                </a:solidFill>
                <a:latin typeface="ISOCPEUR" panose="020B0604020202020204" pitchFamily="34" charset="0"/>
                <a:sym typeface="Symbol" panose="05050102010706020507" pitchFamily="18" charset="2"/>
              </a:endParaRPr>
            </a:p>
          </p:txBody>
        </p:sp>
        <p:sp>
          <p:nvSpPr>
            <p:cNvPr id="35890" name="Line 50"/>
            <p:cNvSpPr>
              <a:spLocks noChangeShapeType="1"/>
            </p:cNvSpPr>
            <p:nvPr/>
          </p:nvSpPr>
          <p:spPr bwMode="auto">
            <a:xfrm>
              <a:off x="5040" y="840"/>
              <a:ext cx="42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1" name="Line 51"/>
            <p:cNvSpPr>
              <a:spLocks noChangeShapeType="1"/>
            </p:cNvSpPr>
            <p:nvPr/>
          </p:nvSpPr>
          <p:spPr bwMode="auto">
            <a:xfrm>
              <a:off x="5064" y="1416"/>
              <a:ext cx="40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2" name="Line 52"/>
            <p:cNvSpPr>
              <a:spLocks noChangeShapeType="1"/>
            </p:cNvSpPr>
            <p:nvPr/>
          </p:nvSpPr>
          <p:spPr bwMode="auto">
            <a:xfrm>
              <a:off x="5400" y="828"/>
              <a:ext cx="0" cy="60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3" name="Text Box 53"/>
            <p:cNvSpPr txBox="1">
              <a:spLocks noChangeArrowheads="1"/>
            </p:cNvSpPr>
            <p:nvPr/>
          </p:nvSpPr>
          <p:spPr bwMode="auto">
            <a:xfrm>
              <a:off x="4639" y="435"/>
              <a:ext cx="26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2000" b="1" i="1">
                  <a:solidFill>
                    <a:srgbClr val="FF3300"/>
                  </a:solidFill>
                  <a:latin typeface="ISOCPEUR" panose="020B0604020202020204" pitchFamily="34" charset="0"/>
                </a:rPr>
                <a:t>C2</a:t>
              </a:r>
              <a:endParaRPr lang="en-US" altLang="zh-CN" sz="2000" b="1">
                <a:solidFill>
                  <a:srgbClr val="FF3300"/>
                </a:solidFill>
                <a:latin typeface="ISOCPEUR" panose="020B0604020202020204" pitchFamily="34" charset="0"/>
              </a:endParaRPr>
            </a:p>
          </p:txBody>
        </p:sp>
        <p:sp>
          <p:nvSpPr>
            <p:cNvPr id="35894" name="Line 54"/>
            <p:cNvSpPr>
              <a:spLocks noChangeShapeType="1"/>
            </p:cNvSpPr>
            <p:nvPr/>
          </p:nvSpPr>
          <p:spPr bwMode="auto">
            <a:xfrm flipH="1" flipV="1">
              <a:off x="4896" y="648"/>
              <a:ext cx="192" cy="1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95" name="Line 55"/>
            <p:cNvSpPr>
              <a:spLocks noChangeShapeType="1"/>
            </p:cNvSpPr>
            <p:nvPr/>
          </p:nvSpPr>
          <p:spPr bwMode="auto">
            <a:xfrm flipH="1">
              <a:off x="4639" y="648"/>
              <a:ext cx="263"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925" name="Group 85"/>
            <p:cNvGrpSpPr/>
            <p:nvPr/>
          </p:nvGrpSpPr>
          <p:grpSpPr bwMode="auto">
            <a:xfrm>
              <a:off x="3660" y="720"/>
              <a:ext cx="1580" cy="815"/>
              <a:chOff x="1224" y="680"/>
              <a:chExt cx="1580" cy="815"/>
            </a:xfrm>
          </p:grpSpPr>
          <p:sp>
            <p:nvSpPr>
              <p:cNvPr id="35926" name="Line 86"/>
              <p:cNvSpPr>
                <a:spLocks noChangeShapeType="1"/>
              </p:cNvSpPr>
              <p:nvPr/>
            </p:nvSpPr>
            <p:spPr bwMode="auto">
              <a:xfrm>
                <a:off x="1294" y="681"/>
                <a:ext cx="46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27" name="Line 87"/>
              <p:cNvSpPr>
                <a:spLocks noChangeShapeType="1"/>
              </p:cNvSpPr>
              <p:nvPr/>
            </p:nvSpPr>
            <p:spPr bwMode="auto">
              <a:xfrm>
                <a:off x="1750" y="681"/>
                <a:ext cx="0" cy="81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28" name="Line 88"/>
              <p:cNvSpPr>
                <a:spLocks noChangeShapeType="1"/>
              </p:cNvSpPr>
              <p:nvPr/>
            </p:nvSpPr>
            <p:spPr bwMode="auto">
              <a:xfrm flipH="1">
                <a:off x="1270" y="1495"/>
                <a:ext cx="491"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29" name="Line 89"/>
              <p:cNvSpPr>
                <a:spLocks noChangeShapeType="1"/>
              </p:cNvSpPr>
              <p:nvPr/>
            </p:nvSpPr>
            <p:spPr bwMode="auto">
              <a:xfrm>
                <a:off x="1844" y="801"/>
                <a:ext cx="0" cy="57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0" name="Line 90"/>
              <p:cNvSpPr>
                <a:spLocks noChangeShapeType="1"/>
              </p:cNvSpPr>
              <p:nvPr/>
            </p:nvSpPr>
            <p:spPr bwMode="auto">
              <a:xfrm>
                <a:off x="1844" y="809"/>
                <a:ext cx="80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1" name="Line 91"/>
              <p:cNvSpPr>
                <a:spLocks noChangeShapeType="1"/>
              </p:cNvSpPr>
              <p:nvPr/>
            </p:nvSpPr>
            <p:spPr bwMode="auto">
              <a:xfrm>
                <a:off x="1839" y="1374"/>
                <a:ext cx="81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2" name="Line 92"/>
              <p:cNvSpPr>
                <a:spLocks noChangeShapeType="1"/>
              </p:cNvSpPr>
              <p:nvPr/>
            </p:nvSpPr>
            <p:spPr bwMode="auto">
              <a:xfrm>
                <a:off x="2647" y="806"/>
                <a:ext cx="0" cy="573"/>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3" name="Line 93"/>
              <p:cNvSpPr>
                <a:spLocks noChangeShapeType="1"/>
              </p:cNvSpPr>
              <p:nvPr/>
            </p:nvSpPr>
            <p:spPr bwMode="auto">
              <a:xfrm>
                <a:off x="2730" y="879"/>
                <a:ext cx="0" cy="4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4" name="Line 94"/>
              <p:cNvSpPr>
                <a:spLocks noChangeShapeType="1"/>
              </p:cNvSpPr>
              <p:nvPr/>
            </p:nvSpPr>
            <p:spPr bwMode="auto">
              <a:xfrm>
                <a:off x="1747" y="847"/>
                <a:ext cx="103"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5" name="Line 95"/>
              <p:cNvSpPr>
                <a:spLocks noChangeShapeType="1"/>
              </p:cNvSpPr>
              <p:nvPr/>
            </p:nvSpPr>
            <p:spPr bwMode="auto">
              <a:xfrm>
                <a:off x="1747" y="1329"/>
                <a:ext cx="9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6" name="Line 96"/>
              <p:cNvSpPr>
                <a:spLocks noChangeShapeType="1"/>
              </p:cNvSpPr>
              <p:nvPr/>
            </p:nvSpPr>
            <p:spPr bwMode="auto">
              <a:xfrm flipV="1">
                <a:off x="2647" y="1286"/>
                <a:ext cx="88" cy="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7" name="Line 97"/>
              <p:cNvSpPr>
                <a:spLocks noChangeShapeType="1"/>
              </p:cNvSpPr>
              <p:nvPr/>
            </p:nvSpPr>
            <p:spPr bwMode="auto">
              <a:xfrm>
                <a:off x="2643" y="799"/>
                <a:ext cx="88" cy="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38" name="Freeform 98"/>
              <p:cNvSpPr/>
              <p:nvPr/>
            </p:nvSpPr>
            <p:spPr bwMode="auto">
              <a:xfrm>
                <a:off x="1271" y="680"/>
                <a:ext cx="38" cy="812"/>
              </a:xfrm>
              <a:custGeom>
                <a:avLst/>
                <a:gdLst>
                  <a:gd name="T0" fmla="*/ 29 w 38"/>
                  <a:gd name="T1" fmla="*/ 0 h 812"/>
                  <a:gd name="T2" fmla="*/ 1 w 38"/>
                  <a:gd name="T3" fmla="*/ 96 h 812"/>
                  <a:gd name="T4" fmla="*/ 25 w 38"/>
                  <a:gd name="T5" fmla="*/ 224 h 812"/>
                  <a:gd name="T6" fmla="*/ 9 w 38"/>
                  <a:gd name="T7" fmla="*/ 356 h 812"/>
                  <a:gd name="T8" fmla="*/ 37 w 38"/>
                  <a:gd name="T9" fmla="*/ 504 h 812"/>
                  <a:gd name="T10" fmla="*/ 17 w 38"/>
                  <a:gd name="T11" fmla="*/ 624 h 812"/>
                  <a:gd name="T12" fmla="*/ 5 w 38"/>
                  <a:gd name="T13" fmla="*/ 812 h 812"/>
                </a:gdLst>
                <a:ahLst/>
                <a:cxnLst>
                  <a:cxn ang="0">
                    <a:pos x="T0" y="T1"/>
                  </a:cxn>
                  <a:cxn ang="0">
                    <a:pos x="T2" y="T3"/>
                  </a:cxn>
                  <a:cxn ang="0">
                    <a:pos x="T4" y="T5"/>
                  </a:cxn>
                  <a:cxn ang="0">
                    <a:pos x="T6" y="T7"/>
                  </a:cxn>
                  <a:cxn ang="0">
                    <a:pos x="T8" y="T9"/>
                  </a:cxn>
                  <a:cxn ang="0">
                    <a:pos x="T10" y="T11"/>
                  </a:cxn>
                  <a:cxn ang="0">
                    <a:pos x="T12" y="T13"/>
                  </a:cxn>
                </a:cxnLst>
                <a:rect l="0" t="0" r="r" b="b"/>
                <a:pathLst>
                  <a:path w="38" h="812">
                    <a:moveTo>
                      <a:pt x="29" y="0"/>
                    </a:moveTo>
                    <a:cubicBezTo>
                      <a:pt x="15" y="29"/>
                      <a:pt x="2" y="59"/>
                      <a:pt x="1" y="96"/>
                    </a:cubicBezTo>
                    <a:cubicBezTo>
                      <a:pt x="0" y="133"/>
                      <a:pt x="24" y="181"/>
                      <a:pt x="25" y="224"/>
                    </a:cubicBezTo>
                    <a:cubicBezTo>
                      <a:pt x="26" y="267"/>
                      <a:pt x="7" y="309"/>
                      <a:pt x="9" y="356"/>
                    </a:cubicBezTo>
                    <a:cubicBezTo>
                      <a:pt x="11" y="403"/>
                      <a:pt x="36" y="459"/>
                      <a:pt x="37" y="504"/>
                    </a:cubicBezTo>
                    <a:cubicBezTo>
                      <a:pt x="38" y="549"/>
                      <a:pt x="22" y="573"/>
                      <a:pt x="17" y="624"/>
                    </a:cubicBezTo>
                    <a:cubicBezTo>
                      <a:pt x="12" y="675"/>
                      <a:pt x="7" y="781"/>
                      <a:pt x="5" y="812"/>
                    </a:cubicBezTo>
                  </a:path>
                </a:pathLst>
              </a:custGeom>
              <a:noFill/>
              <a:ln w="190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5939" name="Group 99"/>
              <p:cNvGrpSpPr/>
              <p:nvPr/>
            </p:nvGrpSpPr>
            <p:grpSpPr bwMode="auto">
              <a:xfrm>
                <a:off x="1224" y="1096"/>
                <a:ext cx="1580" cy="0"/>
                <a:chOff x="1224" y="1096"/>
                <a:chExt cx="1580" cy="0"/>
              </a:xfrm>
            </p:grpSpPr>
            <p:sp>
              <p:nvSpPr>
                <p:cNvPr id="35940" name="Line 100"/>
                <p:cNvSpPr>
                  <a:spLocks noChangeShapeType="1"/>
                </p:cNvSpPr>
                <p:nvPr/>
              </p:nvSpPr>
              <p:spPr bwMode="auto">
                <a:xfrm>
                  <a:off x="1224" y="1096"/>
                  <a:ext cx="223"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1" name="Line 101"/>
                <p:cNvSpPr>
                  <a:spLocks noChangeShapeType="1"/>
                </p:cNvSpPr>
                <p:nvPr/>
              </p:nvSpPr>
              <p:spPr bwMode="auto">
                <a:xfrm>
                  <a:off x="2432" y="1096"/>
                  <a:ext cx="37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2" name="Line 102"/>
                <p:cNvSpPr>
                  <a:spLocks noChangeShapeType="1"/>
                </p:cNvSpPr>
                <p:nvPr/>
              </p:nvSpPr>
              <p:spPr bwMode="auto">
                <a:xfrm flipH="1">
                  <a:off x="2312" y="1096"/>
                  <a:ext cx="6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3" name="Line 103"/>
                <p:cNvSpPr>
                  <a:spLocks noChangeShapeType="1"/>
                </p:cNvSpPr>
                <p:nvPr/>
              </p:nvSpPr>
              <p:spPr bwMode="auto">
                <a:xfrm flipH="1">
                  <a:off x="1788" y="1096"/>
                  <a:ext cx="4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4" name="Line 104"/>
                <p:cNvSpPr>
                  <a:spLocks noChangeShapeType="1"/>
                </p:cNvSpPr>
                <p:nvPr/>
              </p:nvSpPr>
              <p:spPr bwMode="auto">
                <a:xfrm>
                  <a:off x="1652" y="1096"/>
                  <a:ext cx="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 calcmode="lin" valueType="num">
                                      <p:cBhvr additive="base">
                                        <p:cTn id="7" dur="500" fill="hold"/>
                                        <p:tgtEl>
                                          <p:spTgt spid="35844"/>
                                        </p:tgtEl>
                                        <p:attrNameLst>
                                          <p:attrName>ppt_x</p:attrName>
                                        </p:attrNameLst>
                                      </p:cBhvr>
                                      <p:tavLst>
                                        <p:tav tm="0">
                                          <p:val>
                                            <p:strVal val="0-#ppt_w/2"/>
                                          </p:val>
                                        </p:tav>
                                        <p:tav tm="100000">
                                          <p:val>
                                            <p:strVal val="#ppt_x"/>
                                          </p:val>
                                        </p:tav>
                                      </p:tavLst>
                                    </p:anim>
                                    <p:anim calcmode="lin" valueType="num">
                                      <p:cBhvr additive="base">
                                        <p:cTn id="8"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35896"/>
                                        </p:tgtEl>
                                        <p:attrNameLst>
                                          <p:attrName>style.visibility</p:attrName>
                                        </p:attrNameLst>
                                      </p:cBhvr>
                                      <p:to>
                                        <p:strVal val="visible"/>
                                      </p:to>
                                    </p:set>
                                    <p:animEffect transition="in" filter="slide(fromLeft)">
                                      <p:cBhvr>
                                        <p:cTn id="13" dur="500"/>
                                        <p:tgtEl>
                                          <p:spTgt spid="3589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5898"/>
                                        </p:tgtEl>
                                        <p:attrNameLst>
                                          <p:attrName>style.visibility</p:attrName>
                                        </p:attrNameLst>
                                      </p:cBhvr>
                                      <p:to>
                                        <p:strVal val="visible"/>
                                      </p:to>
                                    </p:set>
                                    <p:animEffect transition="in" filter="wipe(down)">
                                      <p:cBhvr>
                                        <p:cTn id="18" dur="500"/>
                                        <p:tgtEl>
                                          <p:spTgt spid="3589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35858"/>
                                        </p:tgtEl>
                                        <p:attrNameLst>
                                          <p:attrName>style.visibility</p:attrName>
                                        </p:attrNameLst>
                                      </p:cBhvr>
                                      <p:to>
                                        <p:strVal val="visible"/>
                                      </p:to>
                                    </p:set>
                                    <p:animEffect transition="in" filter="wipe(up)">
                                      <p:cBhvr>
                                        <p:cTn id="23" dur="500"/>
                                        <p:tgtEl>
                                          <p:spTgt spid="3585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35923"/>
                                        </p:tgtEl>
                                        <p:attrNameLst>
                                          <p:attrName>style.visibility</p:attrName>
                                        </p:attrNameLst>
                                      </p:cBhvr>
                                      <p:to>
                                        <p:strVal val="visible"/>
                                      </p:to>
                                    </p:set>
                                    <p:animEffect transition="in" filter="wipe(up)">
                                      <p:cBhvr>
                                        <p:cTn id="28" dur="500"/>
                                        <p:tgtEl>
                                          <p:spTgt spid="3592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35845"/>
                                        </p:tgtEl>
                                        <p:attrNameLst>
                                          <p:attrName>style.visibility</p:attrName>
                                        </p:attrNameLst>
                                      </p:cBhvr>
                                      <p:to>
                                        <p:strVal val="visible"/>
                                      </p:to>
                                    </p:set>
                                    <p:animEffect transition="in" filter="wipe(right)">
                                      <p:cBhvr>
                                        <p:cTn id="33" dur="500"/>
                                        <p:tgtEl>
                                          <p:spTgt spid="35845"/>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nodePh="1">
                                  <p:stCondLst>
                                    <p:cond delay="0"/>
                                  </p:stCondLst>
                                  <p:endCondLst>
                                    <p:cond evt="begin" delay="0">
                                      <p:tn val="36"/>
                                    </p:cond>
                                  </p:endCondLst>
                                  <p:childTnLst>
                                    <p:set>
                                      <p:cBhvr>
                                        <p:cTn id="37" dur="1" fill="hold">
                                          <p:stCondLst>
                                            <p:cond delay="0"/>
                                          </p:stCondLst>
                                        </p:cTn>
                                        <p:tgtEl>
                                          <p:spTgt spid="35872"/>
                                        </p:tgtEl>
                                        <p:attrNameLst>
                                          <p:attrName>style.visibility</p:attrName>
                                        </p:attrNameLst>
                                      </p:cBhvr>
                                      <p:to>
                                        <p:strVal val="visible"/>
                                      </p:to>
                                    </p:set>
                                    <p:anim calcmode="lin" valueType="num">
                                      <p:cBhvr additive="base">
                                        <p:cTn id="38" dur="500" fill="hold"/>
                                        <p:tgtEl>
                                          <p:spTgt spid="35872"/>
                                        </p:tgtEl>
                                        <p:attrNameLst>
                                          <p:attrName>ppt_x</p:attrName>
                                        </p:attrNameLst>
                                      </p:cBhvr>
                                      <p:tavLst>
                                        <p:tav tm="0">
                                          <p:val>
                                            <p:strVal val="1+#ppt_w/2"/>
                                          </p:val>
                                        </p:tav>
                                        <p:tav tm="100000">
                                          <p:val>
                                            <p:strVal val="#ppt_x"/>
                                          </p:val>
                                        </p:tav>
                                      </p:tavLst>
                                    </p:anim>
                                    <p:anim calcmode="lin" valueType="num">
                                      <p:cBhvr additive="base">
                                        <p:cTn id="39" dur="500" fill="hold"/>
                                        <p:tgtEl>
                                          <p:spTgt spid="35872"/>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35897"/>
                                        </p:tgtEl>
                                        <p:attrNameLst>
                                          <p:attrName>style.visibility</p:attrName>
                                        </p:attrNameLst>
                                      </p:cBhvr>
                                      <p:to>
                                        <p:strVal val="visible"/>
                                      </p:to>
                                    </p:set>
                                    <p:animEffect transition="in" filter="slide(fromLeft)">
                                      <p:cBhvr>
                                        <p:cTn id="44" dur="500"/>
                                        <p:tgtEl>
                                          <p:spTgt spid="3589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35899"/>
                                        </p:tgtEl>
                                        <p:attrNameLst>
                                          <p:attrName>style.visibility</p:attrName>
                                        </p:attrNameLst>
                                      </p:cBhvr>
                                      <p:to>
                                        <p:strVal val="visible"/>
                                      </p:to>
                                    </p:set>
                                    <p:animEffect transition="in" filter="wipe(down)">
                                      <p:cBhvr>
                                        <p:cTn id="49" dur="500"/>
                                        <p:tgtEl>
                                          <p:spTgt spid="3589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5946"/>
                                        </p:tgtEl>
                                        <p:attrNameLst>
                                          <p:attrName>style.visibility</p:attrName>
                                        </p:attrNameLst>
                                      </p:cBhvr>
                                      <p:to>
                                        <p:strVal val="visible"/>
                                      </p:to>
                                    </p:set>
                                    <p:animEffect transition="in" filter="wipe(left)">
                                      <p:cBhvr>
                                        <p:cTn id="54" dur="500"/>
                                        <p:tgtEl>
                                          <p:spTgt spid="3594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35924"/>
                                        </p:tgtEl>
                                        <p:attrNameLst>
                                          <p:attrName>style.visibility</p:attrName>
                                        </p:attrNameLst>
                                      </p:cBhvr>
                                      <p:to>
                                        <p:strVal val="visible"/>
                                      </p:to>
                                    </p:set>
                                    <p:animEffect transition="in" filter="wipe(down)">
                                      <p:cBhvr>
                                        <p:cTn id="59" dur="500"/>
                                        <p:tgtEl>
                                          <p:spTgt spid="35924"/>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42" fill="hold" nodeType="clickEffect">
                                  <p:stCondLst>
                                    <p:cond delay="0"/>
                                  </p:stCondLst>
                                  <p:childTnLst>
                                    <p:set>
                                      <p:cBhvr>
                                        <p:cTn id="63" dur="1" fill="hold">
                                          <p:stCondLst>
                                            <p:cond delay="0"/>
                                          </p:stCondLst>
                                        </p:cTn>
                                        <p:tgtEl>
                                          <p:spTgt spid="35945"/>
                                        </p:tgtEl>
                                        <p:attrNameLst>
                                          <p:attrName>style.visibility</p:attrName>
                                        </p:attrNameLst>
                                      </p:cBhvr>
                                      <p:to>
                                        <p:strVal val="visible"/>
                                      </p:to>
                                    </p:set>
                                    <p:animEffect transition="in" filter="barn(outHorizontal)">
                                      <p:cBhvr>
                                        <p:cTn id="64" dur="500"/>
                                        <p:tgtEl>
                                          <p:spTgt spid="35945"/>
                                        </p:tgtEl>
                                      </p:cBhvr>
                                    </p:animEffect>
                                  </p:childTnLst>
                                </p:cTn>
                              </p:par>
                            </p:childTnLst>
                          </p:cTn>
                        </p:par>
                      </p:childTnLst>
                    </p:cTn>
                  </p:par>
                  <p:par>
                    <p:cTn id="65" fill="hold">
                      <p:stCondLst>
                        <p:cond delay="indefinite"/>
                      </p:stCondLst>
                      <p:childTnLst>
                        <p:par>
                          <p:cTn id="66" fill="hold">
                            <p:stCondLst>
                              <p:cond delay="0"/>
                            </p:stCondLst>
                            <p:childTnLst>
                              <p:par>
                                <p:cTn id="67" presetID="12" presetClass="entr" presetSubtype="1" fill="hold" grpId="0" nodeType="clickEffect">
                                  <p:stCondLst>
                                    <p:cond delay="0"/>
                                  </p:stCondLst>
                                  <p:childTnLst>
                                    <p:set>
                                      <p:cBhvr>
                                        <p:cTn id="68" dur="1" fill="hold">
                                          <p:stCondLst>
                                            <p:cond delay="0"/>
                                          </p:stCondLst>
                                        </p:cTn>
                                        <p:tgtEl>
                                          <p:spTgt spid="35873"/>
                                        </p:tgtEl>
                                        <p:attrNameLst>
                                          <p:attrName>style.visibility</p:attrName>
                                        </p:attrNameLst>
                                      </p:cBhvr>
                                      <p:to>
                                        <p:strVal val="visible"/>
                                      </p:to>
                                    </p:set>
                                    <p:animEffect transition="in" filter="slide(fromTop)">
                                      <p:cBhvr>
                                        <p:cTn id="69" dur="500"/>
                                        <p:tgtEl>
                                          <p:spTgt spid="35873"/>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1" fill="hold" grpId="0" nodeType="clickEffect">
                                  <p:stCondLst>
                                    <p:cond delay="0"/>
                                  </p:stCondLst>
                                  <p:childTnLst>
                                    <p:set>
                                      <p:cBhvr>
                                        <p:cTn id="73" dur="1" fill="hold">
                                          <p:stCondLst>
                                            <p:cond delay="0"/>
                                          </p:stCondLst>
                                        </p:cTn>
                                        <p:tgtEl>
                                          <p:spTgt spid="35874"/>
                                        </p:tgtEl>
                                        <p:attrNameLst>
                                          <p:attrName>style.visibility</p:attrName>
                                        </p:attrNameLst>
                                      </p:cBhvr>
                                      <p:to>
                                        <p:strVal val="visible"/>
                                      </p:to>
                                    </p:set>
                                    <p:animEffect transition="in" filter="slide(fromTop)">
                                      <p:cBhvr>
                                        <p:cTn id="74" dur="500"/>
                                        <p:tgtEl>
                                          <p:spTgt spid="35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utoUpdateAnimBg="0"/>
      <p:bldP spid="35872" grpId="0" autoUpdateAnimBg="0"/>
      <p:bldP spid="35873" grpId="0" autoUpdateAnimBg="0"/>
      <p:bldP spid="35874" grpId="0" autoUpdateAnimBg="0"/>
      <p:bldP spid="35896" grpId="0" autoUpdateAnimBg="0"/>
      <p:bldP spid="35897"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428625" y="307975"/>
            <a:ext cx="403701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333399"/>
                </a:solidFill>
                <a:latin typeface="宋体" panose="02010600030101010101" pitchFamily="2" charset="-122"/>
              </a:rPr>
              <a:t>4.</a:t>
            </a:r>
            <a:r>
              <a:rPr lang="zh-CN" altLang="en-US" sz="3200" b="1">
                <a:solidFill>
                  <a:srgbClr val="333399"/>
                </a:solidFill>
                <a:latin typeface="ISOCP" panose="00000400000000000000" pitchFamily="2" charset="0"/>
              </a:rPr>
              <a:t>应考虑测量方便</a:t>
            </a:r>
            <a:endParaRPr lang="zh-CN" altLang="en-US" sz="3200" b="1">
              <a:solidFill>
                <a:srgbClr val="333399"/>
              </a:solidFill>
              <a:latin typeface="ISOCP" panose="00000400000000000000" pitchFamily="2" charset="0"/>
            </a:endParaRPr>
          </a:p>
        </p:txBody>
      </p:sp>
      <p:sp>
        <p:nvSpPr>
          <p:cNvPr id="36867" name="Text Box 3"/>
          <p:cNvSpPr txBox="1">
            <a:spLocks noChangeArrowheads="1"/>
          </p:cNvSpPr>
          <p:nvPr/>
        </p:nvSpPr>
        <p:spPr bwMode="auto">
          <a:xfrm>
            <a:off x="5999163" y="4086225"/>
            <a:ext cx="11049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600" b="1">
                <a:solidFill>
                  <a:srgbClr val="FF3300"/>
                </a:solidFill>
                <a:latin typeface="ISOCP" panose="00000400000000000000" pitchFamily="2" charset="0"/>
              </a:rPr>
              <a:t>好！</a:t>
            </a:r>
            <a:endParaRPr lang="zh-CN" altLang="en-US" sz="3600" b="1">
              <a:solidFill>
                <a:srgbClr val="FF3300"/>
              </a:solidFill>
              <a:latin typeface="ISOCP" panose="00000400000000000000" pitchFamily="2" charset="0"/>
            </a:endParaRPr>
          </a:p>
        </p:txBody>
      </p:sp>
      <p:sp>
        <p:nvSpPr>
          <p:cNvPr id="36868" name="Text Box 4"/>
          <p:cNvSpPr txBox="1">
            <a:spLocks noChangeArrowheads="1"/>
          </p:cNvSpPr>
          <p:nvPr/>
        </p:nvSpPr>
        <p:spPr bwMode="auto">
          <a:xfrm>
            <a:off x="2325688" y="4086225"/>
            <a:ext cx="14128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3200" b="1">
                <a:solidFill>
                  <a:schemeClr val="tx2"/>
                </a:solidFill>
                <a:latin typeface="ISOCP" panose="00000400000000000000" pitchFamily="2" charset="0"/>
              </a:rPr>
              <a:t>不好！</a:t>
            </a:r>
            <a:endParaRPr lang="zh-CN" altLang="en-US" sz="3200" b="1">
              <a:solidFill>
                <a:schemeClr val="tx2"/>
              </a:solidFill>
              <a:latin typeface="ISOCP" panose="00000400000000000000" pitchFamily="2" charset="0"/>
            </a:endParaRPr>
          </a:p>
        </p:txBody>
      </p:sp>
      <p:grpSp>
        <p:nvGrpSpPr>
          <p:cNvPr id="36869" name="Group 5"/>
          <p:cNvGrpSpPr/>
          <p:nvPr/>
        </p:nvGrpSpPr>
        <p:grpSpPr bwMode="auto">
          <a:xfrm>
            <a:off x="1427163" y="1501775"/>
            <a:ext cx="3074987" cy="2624138"/>
            <a:chOff x="899" y="946"/>
            <a:chExt cx="1937" cy="1653"/>
          </a:xfrm>
        </p:grpSpPr>
        <p:grpSp>
          <p:nvGrpSpPr>
            <p:cNvPr id="36870" name="Group 6"/>
            <p:cNvGrpSpPr/>
            <p:nvPr/>
          </p:nvGrpSpPr>
          <p:grpSpPr bwMode="auto">
            <a:xfrm>
              <a:off x="899" y="946"/>
              <a:ext cx="1778" cy="1156"/>
              <a:chOff x="899" y="946"/>
              <a:chExt cx="1778" cy="1156"/>
            </a:xfrm>
          </p:grpSpPr>
          <p:sp>
            <p:nvSpPr>
              <p:cNvPr id="36871" name="Line 7"/>
              <p:cNvSpPr>
                <a:spLocks noChangeShapeType="1"/>
              </p:cNvSpPr>
              <p:nvPr/>
            </p:nvSpPr>
            <p:spPr bwMode="auto">
              <a:xfrm flipV="1">
                <a:off x="2321" y="1200"/>
                <a:ext cx="43" cy="4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72" name="Line 8"/>
              <p:cNvSpPr>
                <a:spLocks noChangeShapeType="1"/>
              </p:cNvSpPr>
              <p:nvPr/>
            </p:nvSpPr>
            <p:spPr bwMode="auto">
              <a:xfrm>
                <a:off x="899" y="1525"/>
                <a:ext cx="1778" cy="0"/>
              </a:xfrm>
              <a:prstGeom prst="line">
                <a:avLst/>
              </a:prstGeom>
              <a:noFill/>
              <a:ln w="19050">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73" name="Rectangle 9"/>
              <p:cNvSpPr>
                <a:spLocks noChangeArrowheads="1"/>
              </p:cNvSpPr>
              <p:nvPr/>
            </p:nvSpPr>
            <p:spPr bwMode="auto">
              <a:xfrm>
                <a:off x="960" y="953"/>
                <a:ext cx="1635" cy="1142"/>
              </a:xfrm>
              <a:prstGeom prst="rect">
                <a:avLst/>
              </a:prstGeom>
              <a:noFill/>
              <a:ln w="381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74" name="Rectangle 10"/>
              <p:cNvSpPr>
                <a:spLocks noChangeArrowheads="1"/>
              </p:cNvSpPr>
              <p:nvPr/>
            </p:nvSpPr>
            <p:spPr bwMode="auto">
              <a:xfrm>
                <a:off x="960" y="1171"/>
                <a:ext cx="389" cy="714"/>
              </a:xfrm>
              <a:prstGeom prst="rect">
                <a:avLst/>
              </a:prstGeom>
              <a:noFill/>
              <a:ln w="381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75" name="Rectangle 11"/>
              <p:cNvSpPr>
                <a:spLocks noChangeArrowheads="1"/>
              </p:cNvSpPr>
              <p:nvPr/>
            </p:nvSpPr>
            <p:spPr bwMode="auto">
              <a:xfrm>
                <a:off x="2362" y="1148"/>
                <a:ext cx="233" cy="753"/>
              </a:xfrm>
              <a:prstGeom prst="rect">
                <a:avLst/>
              </a:prstGeom>
              <a:noFill/>
              <a:ln w="381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76" name="Line 12"/>
              <p:cNvSpPr>
                <a:spLocks noChangeShapeType="1"/>
              </p:cNvSpPr>
              <p:nvPr/>
            </p:nvSpPr>
            <p:spPr bwMode="auto">
              <a:xfrm>
                <a:off x="1350" y="1241"/>
                <a:ext cx="101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77" name="Line 13"/>
              <p:cNvSpPr>
                <a:spLocks noChangeShapeType="1"/>
              </p:cNvSpPr>
              <p:nvPr/>
            </p:nvSpPr>
            <p:spPr bwMode="auto">
              <a:xfrm>
                <a:off x="1350" y="1810"/>
                <a:ext cx="101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36878" name="Group 14"/>
              <p:cNvGrpSpPr/>
              <p:nvPr/>
            </p:nvGrpSpPr>
            <p:grpSpPr bwMode="auto">
              <a:xfrm>
                <a:off x="957" y="946"/>
                <a:ext cx="1642" cy="1156"/>
                <a:chOff x="957" y="946"/>
                <a:chExt cx="1642" cy="1156"/>
              </a:xfrm>
            </p:grpSpPr>
            <p:sp>
              <p:nvSpPr>
                <p:cNvPr id="36879" name="Line 15"/>
                <p:cNvSpPr>
                  <a:spLocks noChangeShapeType="1"/>
                </p:cNvSpPr>
                <p:nvPr/>
              </p:nvSpPr>
              <p:spPr bwMode="auto">
                <a:xfrm flipV="1">
                  <a:off x="960" y="950"/>
                  <a:ext cx="77" cy="7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0" name="Line 16"/>
                <p:cNvSpPr>
                  <a:spLocks noChangeShapeType="1"/>
                </p:cNvSpPr>
                <p:nvPr/>
              </p:nvSpPr>
              <p:spPr bwMode="auto">
                <a:xfrm flipV="1">
                  <a:off x="960" y="955"/>
                  <a:ext cx="216" cy="21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1" name="Line 17"/>
                <p:cNvSpPr>
                  <a:spLocks noChangeShapeType="1"/>
                </p:cNvSpPr>
                <p:nvPr/>
              </p:nvSpPr>
              <p:spPr bwMode="auto">
                <a:xfrm flipV="1">
                  <a:off x="1116" y="953"/>
                  <a:ext cx="218" cy="21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2" name="Line 18"/>
                <p:cNvSpPr>
                  <a:spLocks noChangeShapeType="1"/>
                </p:cNvSpPr>
                <p:nvPr/>
              </p:nvSpPr>
              <p:spPr bwMode="auto">
                <a:xfrm flipV="1">
                  <a:off x="1274" y="950"/>
                  <a:ext cx="216" cy="21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3" name="Line 19"/>
                <p:cNvSpPr>
                  <a:spLocks noChangeShapeType="1"/>
                </p:cNvSpPr>
                <p:nvPr/>
              </p:nvSpPr>
              <p:spPr bwMode="auto">
                <a:xfrm flipV="1">
                  <a:off x="1351" y="950"/>
                  <a:ext cx="288" cy="2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4" name="Line 20"/>
                <p:cNvSpPr>
                  <a:spLocks noChangeShapeType="1"/>
                </p:cNvSpPr>
                <p:nvPr/>
              </p:nvSpPr>
              <p:spPr bwMode="auto">
                <a:xfrm flipV="1">
                  <a:off x="1509" y="959"/>
                  <a:ext cx="284" cy="28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5" name="Line 21"/>
                <p:cNvSpPr>
                  <a:spLocks noChangeShapeType="1"/>
                </p:cNvSpPr>
                <p:nvPr/>
              </p:nvSpPr>
              <p:spPr bwMode="auto">
                <a:xfrm flipV="1">
                  <a:off x="957" y="1886"/>
                  <a:ext cx="68" cy="6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6" name="Line 22"/>
                <p:cNvSpPr>
                  <a:spLocks noChangeShapeType="1"/>
                </p:cNvSpPr>
                <p:nvPr/>
              </p:nvSpPr>
              <p:spPr bwMode="auto">
                <a:xfrm flipV="1">
                  <a:off x="1673" y="955"/>
                  <a:ext cx="283" cy="28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7" name="Line 23"/>
                <p:cNvSpPr>
                  <a:spLocks noChangeShapeType="1"/>
                </p:cNvSpPr>
                <p:nvPr/>
              </p:nvSpPr>
              <p:spPr bwMode="auto">
                <a:xfrm flipH="1">
                  <a:off x="972" y="1882"/>
                  <a:ext cx="211" cy="211"/>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8" name="Line 24"/>
                <p:cNvSpPr>
                  <a:spLocks noChangeShapeType="1"/>
                </p:cNvSpPr>
                <p:nvPr/>
              </p:nvSpPr>
              <p:spPr bwMode="auto">
                <a:xfrm flipV="1">
                  <a:off x="1826" y="950"/>
                  <a:ext cx="293" cy="29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89" name="Line 25"/>
                <p:cNvSpPr>
                  <a:spLocks noChangeShapeType="1"/>
                </p:cNvSpPr>
                <p:nvPr/>
              </p:nvSpPr>
              <p:spPr bwMode="auto">
                <a:xfrm flipH="1">
                  <a:off x="1130" y="1805"/>
                  <a:ext cx="283" cy="28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0" name="Line 26"/>
                <p:cNvSpPr>
                  <a:spLocks noChangeShapeType="1"/>
                </p:cNvSpPr>
                <p:nvPr/>
              </p:nvSpPr>
              <p:spPr bwMode="auto">
                <a:xfrm flipV="1">
                  <a:off x="1985" y="955"/>
                  <a:ext cx="283" cy="28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1" name="Line 27"/>
                <p:cNvSpPr>
                  <a:spLocks noChangeShapeType="1"/>
                </p:cNvSpPr>
                <p:nvPr/>
              </p:nvSpPr>
              <p:spPr bwMode="auto">
                <a:xfrm flipV="1">
                  <a:off x="1298" y="1805"/>
                  <a:ext cx="288" cy="2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2" name="Line 28"/>
                <p:cNvSpPr>
                  <a:spLocks noChangeShapeType="1"/>
                </p:cNvSpPr>
                <p:nvPr/>
              </p:nvSpPr>
              <p:spPr bwMode="auto">
                <a:xfrm flipV="1">
                  <a:off x="2143" y="946"/>
                  <a:ext cx="302" cy="302"/>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3" name="Line 29"/>
                <p:cNvSpPr>
                  <a:spLocks noChangeShapeType="1"/>
                </p:cNvSpPr>
                <p:nvPr/>
              </p:nvSpPr>
              <p:spPr bwMode="auto">
                <a:xfrm flipH="1">
                  <a:off x="1471" y="1805"/>
                  <a:ext cx="288" cy="2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4" name="Line 30"/>
                <p:cNvSpPr>
                  <a:spLocks noChangeShapeType="1"/>
                </p:cNvSpPr>
                <p:nvPr/>
              </p:nvSpPr>
              <p:spPr bwMode="auto">
                <a:xfrm flipV="1">
                  <a:off x="2431" y="975"/>
                  <a:ext cx="163" cy="16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5" name="Line 31"/>
                <p:cNvSpPr>
                  <a:spLocks noChangeShapeType="1"/>
                </p:cNvSpPr>
                <p:nvPr/>
              </p:nvSpPr>
              <p:spPr bwMode="auto">
                <a:xfrm flipV="1">
                  <a:off x="1644" y="1815"/>
                  <a:ext cx="283" cy="28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6" name="Line 32"/>
                <p:cNvSpPr>
                  <a:spLocks noChangeShapeType="1"/>
                </p:cNvSpPr>
                <p:nvPr/>
              </p:nvSpPr>
              <p:spPr bwMode="auto">
                <a:xfrm flipV="1">
                  <a:off x="1812" y="1805"/>
                  <a:ext cx="288" cy="2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7" name="Line 33"/>
                <p:cNvSpPr>
                  <a:spLocks noChangeShapeType="1"/>
                </p:cNvSpPr>
                <p:nvPr/>
              </p:nvSpPr>
              <p:spPr bwMode="auto">
                <a:xfrm flipV="1">
                  <a:off x="1975" y="1800"/>
                  <a:ext cx="298" cy="29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8" name="Line 34"/>
                <p:cNvSpPr>
                  <a:spLocks noChangeShapeType="1"/>
                </p:cNvSpPr>
                <p:nvPr/>
              </p:nvSpPr>
              <p:spPr bwMode="auto">
                <a:xfrm flipV="1">
                  <a:off x="2133" y="1872"/>
                  <a:ext cx="230" cy="23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899" name="Line 35"/>
                <p:cNvSpPr>
                  <a:spLocks noChangeShapeType="1"/>
                </p:cNvSpPr>
                <p:nvPr/>
              </p:nvSpPr>
              <p:spPr bwMode="auto">
                <a:xfrm flipV="1">
                  <a:off x="2297" y="1911"/>
                  <a:ext cx="187" cy="1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00" name="Line 36"/>
                <p:cNvSpPr>
                  <a:spLocks noChangeShapeType="1"/>
                </p:cNvSpPr>
                <p:nvPr/>
              </p:nvSpPr>
              <p:spPr bwMode="auto">
                <a:xfrm flipV="1">
                  <a:off x="2450" y="1949"/>
                  <a:ext cx="149" cy="149"/>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36901" name="Group 37"/>
            <p:cNvGrpSpPr/>
            <p:nvPr/>
          </p:nvGrpSpPr>
          <p:grpSpPr bwMode="auto">
            <a:xfrm>
              <a:off x="959" y="1885"/>
              <a:ext cx="1877" cy="714"/>
              <a:chOff x="959" y="1885"/>
              <a:chExt cx="1877" cy="714"/>
            </a:xfrm>
          </p:grpSpPr>
          <p:sp>
            <p:nvSpPr>
              <p:cNvPr id="36902" name="Line 38"/>
              <p:cNvSpPr>
                <a:spLocks noChangeShapeType="1"/>
              </p:cNvSpPr>
              <p:nvPr/>
            </p:nvSpPr>
            <p:spPr bwMode="auto">
              <a:xfrm>
                <a:off x="2596" y="2104"/>
                <a:ext cx="0" cy="487"/>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03" name="Line 39"/>
              <p:cNvSpPr>
                <a:spLocks noChangeShapeType="1"/>
              </p:cNvSpPr>
              <p:nvPr/>
            </p:nvSpPr>
            <p:spPr bwMode="auto">
              <a:xfrm>
                <a:off x="2363" y="1900"/>
                <a:ext cx="0" cy="487"/>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04" name="Line 40"/>
              <p:cNvSpPr>
                <a:spLocks noChangeShapeType="1"/>
              </p:cNvSpPr>
              <p:nvPr/>
            </p:nvSpPr>
            <p:spPr bwMode="auto">
              <a:xfrm>
                <a:off x="1345" y="1885"/>
                <a:ext cx="0" cy="50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05" name="Line 41"/>
              <p:cNvSpPr>
                <a:spLocks noChangeShapeType="1"/>
              </p:cNvSpPr>
              <p:nvPr/>
            </p:nvSpPr>
            <p:spPr bwMode="auto">
              <a:xfrm>
                <a:off x="1345" y="2336"/>
                <a:ext cx="1018" cy="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06" name="Line 42"/>
              <p:cNvSpPr>
                <a:spLocks noChangeShapeType="1"/>
              </p:cNvSpPr>
              <p:nvPr/>
            </p:nvSpPr>
            <p:spPr bwMode="auto">
              <a:xfrm>
                <a:off x="2363" y="2336"/>
                <a:ext cx="233"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07" name="Line 43"/>
              <p:cNvSpPr>
                <a:spLocks noChangeShapeType="1"/>
              </p:cNvSpPr>
              <p:nvPr/>
            </p:nvSpPr>
            <p:spPr bwMode="auto">
              <a:xfrm>
                <a:off x="2596" y="2336"/>
                <a:ext cx="240"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08" name="Line 44"/>
              <p:cNvSpPr>
                <a:spLocks noChangeShapeType="1"/>
              </p:cNvSpPr>
              <p:nvPr/>
            </p:nvSpPr>
            <p:spPr bwMode="auto">
              <a:xfrm>
                <a:off x="959" y="2111"/>
                <a:ext cx="0" cy="48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09" name="Line 45"/>
              <p:cNvSpPr>
                <a:spLocks noChangeShapeType="1"/>
              </p:cNvSpPr>
              <p:nvPr/>
            </p:nvSpPr>
            <p:spPr bwMode="auto">
              <a:xfrm flipH="1">
                <a:off x="960" y="2555"/>
                <a:ext cx="1636" cy="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10" name="Text Box 46"/>
              <p:cNvSpPr txBox="1">
                <a:spLocks noChangeArrowheads="1"/>
              </p:cNvSpPr>
              <p:nvPr/>
            </p:nvSpPr>
            <p:spPr bwMode="auto">
              <a:xfrm>
                <a:off x="1754" y="2094"/>
                <a:ext cx="2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B</a:t>
                </a:r>
                <a:endParaRPr lang="en-US" altLang="zh-CN">
                  <a:latin typeface="ISOCPEUR" panose="020B0604020202020204" pitchFamily="34" charset="0"/>
                </a:endParaRPr>
              </a:p>
            </p:txBody>
          </p:sp>
          <p:sp>
            <p:nvSpPr>
              <p:cNvPr id="36911" name="Text Box 47"/>
              <p:cNvSpPr txBox="1">
                <a:spLocks noChangeArrowheads="1"/>
              </p:cNvSpPr>
              <p:nvPr/>
            </p:nvSpPr>
            <p:spPr bwMode="auto">
              <a:xfrm>
                <a:off x="2366" y="2094"/>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C</a:t>
                </a:r>
                <a:endParaRPr lang="en-US" altLang="zh-CN">
                  <a:latin typeface="ISOCPEUR" panose="020B0604020202020204" pitchFamily="34" charset="0"/>
                </a:endParaRPr>
              </a:p>
            </p:txBody>
          </p:sp>
        </p:grpSp>
      </p:grpSp>
      <p:grpSp>
        <p:nvGrpSpPr>
          <p:cNvPr id="36912" name="Group 48"/>
          <p:cNvGrpSpPr/>
          <p:nvPr/>
        </p:nvGrpSpPr>
        <p:grpSpPr bwMode="auto">
          <a:xfrm>
            <a:off x="4732338" y="1498600"/>
            <a:ext cx="3362325" cy="2601913"/>
            <a:chOff x="2981" y="944"/>
            <a:chExt cx="2118" cy="1639"/>
          </a:xfrm>
        </p:grpSpPr>
        <p:sp>
          <p:nvSpPr>
            <p:cNvPr id="36913" name="Line 49"/>
            <p:cNvSpPr>
              <a:spLocks noChangeShapeType="1"/>
            </p:cNvSpPr>
            <p:nvPr/>
          </p:nvSpPr>
          <p:spPr bwMode="auto">
            <a:xfrm>
              <a:off x="4859" y="2320"/>
              <a:ext cx="240"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36914" name="Group 50"/>
            <p:cNvGrpSpPr/>
            <p:nvPr/>
          </p:nvGrpSpPr>
          <p:grpSpPr bwMode="auto">
            <a:xfrm>
              <a:off x="2981" y="944"/>
              <a:ext cx="1959" cy="1639"/>
              <a:chOff x="2981" y="944"/>
              <a:chExt cx="1959" cy="1639"/>
            </a:xfrm>
          </p:grpSpPr>
          <p:grpSp>
            <p:nvGrpSpPr>
              <p:cNvPr id="36915" name="Group 51"/>
              <p:cNvGrpSpPr/>
              <p:nvPr/>
            </p:nvGrpSpPr>
            <p:grpSpPr bwMode="auto">
              <a:xfrm>
                <a:off x="3162" y="944"/>
                <a:ext cx="1778" cy="1156"/>
                <a:chOff x="3162" y="944"/>
                <a:chExt cx="1778" cy="1156"/>
              </a:xfrm>
            </p:grpSpPr>
            <p:sp>
              <p:nvSpPr>
                <p:cNvPr id="36916" name="Line 52"/>
                <p:cNvSpPr>
                  <a:spLocks noChangeShapeType="1"/>
                </p:cNvSpPr>
                <p:nvPr/>
              </p:nvSpPr>
              <p:spPr bwMode="auto">
                <a:xfrm flipV="1">
                  <a:off x="4584" y="1198"/>
                  <a:ext cx="43" cy="4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17" name="Rectangle 53"/>
                <p:cNvSpPr>
                  <a:spLocks noChangeArrowheads="1"/>
                </p:cNvSpPr>
                <p:nvPr/>
              </p:nvSpPr>
              <p:spPr bwMode="auto">
                <a:xfrm>
                  <a:off x="3223" y="951"/>
                  <a:ext cx="1635" cy="1142"/>
                </a:xfrm>
                <a:prstGeom prst="rect">
                  <a:avLst/>
                </a:prstGeom>
                <a:noFill/>
                <a:ln w="381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18" name="Rectangle 54"/>
                <p:cNvSpPr>
                  <a:spLocks noChangeArrowheads="1"/>
                </p:cNvSpPr>
                <p:nvPr/>
              </p:nvSpPr>
              <p:spPr bwMode="auto">
                <a:xfrm>
                  <a:off x="3223" y="1169"/>
                  <a:ext cx="389" cy="714"/>
                </a:xfrm>
                <a:prstGeom prst="rect">
                  <a:avLst/>
                </a:prstGeom>
                <a:noFill/>
                <a:ln w="381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19" name="Rectangle 55"/>
                <p:cNvSpPr>
                  <a:spLocks noChangeArrowheads="1"/>
                </p:cNvSpPr>
                <p:nvPr/>
              </p:nvSpPr>
              <p:spPr bwMode="auto">
                <a:xfrm>
                  <a:off x="4625" y="1146"/>
                  <a:ext cx="233" cy="753"/>
                </a:xfrm>
                <a:prstGeom prst="rect">
                  <a:avLst/>
                </a:prstGeom>
                <a:noFill/>
                <a:ln w="381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20" name="Line 56"/>
                <p:cNvSpPr>
                  <a:spLocks noChangeShapeType="1"/>
                </p:cNvSpPr>
                <p:nvPr/>
              </p:nvSpPr>
              <p:spPr bwMode="auto">
                <a:xfrm>
                  <a:off x="3613" y="1239"/>
                  <a:ext cx="101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36921" name="Group 57"/>
                <p:cNvGrpSpPr/>
                <p:nvPr/>
              </p:nvGrpSpPr>
              <p:grpSpPr bwMode="auto">
                <a:xfrm>
                  <a:off x="3162" y="944"/>
                  <a:ext cx="1778" cy="1156"/>
                  <a:chOff x="3162" y="944"/>
                  <a:chExt cx="1778" cy="1156"/>
                </a:xfrm>
              </p:grpSpPr>
              <p:sp>
                <p:nvSpPr>
                  <p:cNvPr id="36922" name="Line 58"/>
                  <p:cNvSpPr>
                    <a:spLocks noChangeShapeType="1"/>
                  </p:cNvSpPr>
                  <p:nvPr/>
                </p:nvSpPr>
                <p:spPr bwMode="auto">
                  <a:xfrm>
                    <a:off x="3162" y="1523"/>
                    <a:ext cx="1778" cy="0"/>
                  </a:xfrm>
                  <a:prstGeom prst="line">
                    <a:avLst/>
                  </a:prstGeom>
                  <a:noFill/>
                  <a:ln w="19050">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23" name="Line 59"/>
                  <p:cNvSpPr>
                    <a:spLocks noChangeShapeType="1"/>
                  </p:cNvSpPr>
                  <p:nvPr/>
                </p:nvSpPr>
                <p:spPr bwMode="auto">
                  <a:xfrm flipV="1">
                    <a:off x="3223" y="948"/>
                    <a:ext cx="77" cy="7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24" name="Line 60"/>
                  <p:cNvSpPr>
                    <a:spLocks noChangeShapeType="1"/>
                  </p:cNvSpPr>
                  <p:nvPr/>
                </p:nvSpPr>
                <p:spPr bwMode="auto">
                  <a:xfrm flipV="1">
                    <a:off x="3223" y="953"/>
                    <a:ext cx="216" cy="21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25" name="Line 61"/>
                  <p:cNvSpPr>
                    <a:spLocks noChangeShapeType="1"/>
                  </p:cNvSpPr>
                  <p:nvPr/>
                </p:nvSpPr>
                <p:spPr bwMode="auto">
                  <a:xfrm flipV="1">
                    <a:off x="3379" y="951"/>
                    <a:ext cx="218" cy="21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26" name="Line 62"/>
                  <p:cNvSpPr>
                    <a:spLocks noChangeShapeType="1"/>
                  </p:cNvSpPr>
                  <p:nvPr/>
                </p:nvSpPr>
                <p:spPr bwMode="auto">
                  <a:xfrm flipV="1">
                    <a:off x="3537" y="948"/>
                    <a:ext cx="216" cy="216"/>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27" name="Line 63"/>
                  <p:cNvSpPr>
                    <a:spLocks noChangeShapeType="1"/>
                  </p:cNvSpPr>
                  <p:nvPr/>
                </p:nvSpPr>
                <p:spPr bwMode="auto">
                  <a:xfrm flipV="1">
                    <a:off x="3614" y="948"/>
                    <a:ext cx="288" cy="2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28" name="Line 64"/>
                  <p:cNvSpPr>
                    <a:spLocks noChangeShapeType="1"/>
                  </p:cNvSpPr>
                  <p:nvPr/>
                </p:nvSpPr>
                <p:spPr bwMode="auto">
                  <a:xfrm flipV="1">
                    <a:off x="3772" y="957"/>
                    <a:ext cx="284" cy="284"/>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29" name="Line 65"/>
                  <p:cNvSpPr>
                    <a:spLocks noChangeShapeType="1"/>
                  </p:cNvSpPr>
                  <p:nvPr/>
                </p:nvSpPr>
                <p:spPr bwMode="auto">
                  <a:xfrm flipV="1">
                    <a:off x="3220" y="1884"/>
                    <a:ext cx="68" cy="6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0" name="Line 66"/>
                  <p:cNvSpPr>
                    <a:spLocks noChangeShapeType="1"/>
                  </p:cNvSpPr>
                  <p:nvPr/>
                </p:nvSpPr>
                <p:spPr bwMode="auto">
                  <a:xfrm flipV="1">
                    <a:off x="3936" y="953"/>
                    <a:ext cx="283" cy="28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1" name="Line 67"/>
                  <p:cNvSpPr>
                    <a:spLocks noChangeShapeType="1"/>
                  </p:cNvSpPr>
                  <p:nvPr/>
                </p:nvSpPr>
                <p:spPr bwMode="auto">
                  <a:xfrm flipH="1">
                    <a:off x="3235" y="1880"/>
                    <a:ext cx="211" cy="211"/>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2" name="Line 68"/>
                  <p:cNvSpPr>
                    <a:spLocks noChangeShapeType="1"/>
                  </p:cNvSpPr>
                  <p:nvPr/>
                </p:nvSpPr>
                <p:spPr bwMode="auto">
                  <a:xfrm flipV="1">
                    <a:off x="4089" y="948"/>
                    <a:ext cx="293" cy="29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3" name="Line 69"/>
                  <p:cNvSpPr>
                    <a:spLocks noChangeShapeType="1"/>
                  </p:cNvSpPr>
                  <p:nvPr/>
                </p:nvSpPr>
                <p:spPr bwMode="auto">
                  <a:xfrm flipH="1">
                    <a:off x="3393" y="1803"/>
                    <a:ext cx="283" cy="28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4" name="Line 70"/>
                  <p:cNvSpPr>
                    <a:spLocks noChangeShapeType="1"/>
                  </p:cNvSpPr>
                  <p:nvPr/>
                </p:nvSpPr>
                <p:spPr bwMode="auto">
                  <a:xfrm flipV="1">
                    <a:off x="4248" y="953"/>
                    <a:ext cx="283" cy="28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5" name="Line 71"/>
                  <p:cNvSpPr>
                    <a:spLocks noChangeShapeType="1"/>
                  </p:cNvSpPr>
                  <p:nvPr/>
                </p:nvSpPr>
                <p:spPr bwMode="auto">
                  <a:xfrm flipV="1">
                    <a:off x="3561" y="1803"/>
                    <a:ext cx="288" cy="2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6" name="Line 72"/>
                  <p:cNvSpPr>
                    <a:spLocks noChangeShapeType="1"/>
                  </p:cNvSpPr>
                  <p:nvPr/>
                </p:nvSpPr>
                <p:spPr bwMode="auto">
                  <a:xfrm flipV="1">
                    <a:off x="4406" y="944"/>
                    <a:ext cx="302" cy="302"/>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7" name="Line 73"/>
                  <p:cNvSpPr>
                    <a:spLocks noChangeShapeType="1"/>
                  </p:cNvSpPr>
                  <p:nvPr/>
                </p:nvSpPr>
                <p:spPr bwMode="auto">
                  <a:xfrm flipH="1">
                    <a:off x="3734" y="1803"/>
                    <a:ext cx="288" cy="2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8" name="Line 74"/>
                  <p:cNvSpPr>
                    <a:spLocks noChangeShapeType="1"/>
                  </p:cNvSpPr>
                  <p:nvPr/>
                </p:nvSpPr>
                <p:spPr bwMode="auto">
                  <a:xfrm flipV="1">
                    <a:off x="4694" y="973"/>
                    <a:ext cx="163" cy="16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39" name="Line 75"/>
                  <p:cNvSpPr>
                    <a:spLocks noChangeShapeType="1"/>
                  </p:cNvSpPr>
                  <p:nvPr/>
                </p:nvSpPr>
                <p:spPr bwMode="auto">
                  <a:xfrm flipV="1">
                    <a:off x="3907" y="1813"/>
                    <a:ext cx="283" cy="283"/>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40" name="Line 76"/>
                  <p:cNvSpPr>
                    <a:spLocks noChangeShapeType="1"/>
                  </p:cNvSpPr>
                  <p:nvPr/>
                </p:nvSpPr>
                <p:spPr bwMode="auto">
                  <a:xfrm flipV="1">
                    <a:off x="4075" y="1803"/>
                    <a:ext cx="288" cy="2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41" name="Line 77"/>
                  <p:cNvSpPr>
                    <a:spLocks noChangeShapeType="1"/>
                  </p:cNvSpPr>
                  <p:nvPr/>
                </p:nvSpPr>
                <p:spPr bwMode="auto">
                  <a:xfrm flipV="1">
                    <a:off x="4238" y="1798"/>
                    <a:ext cx="298" cy="29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42" name="Line 78"/>
                  <p:cNvSpPr>
                    <a:spLocks noChangeShapeType="1"/>
                  </p:cNvSpPr>
                  <p:nvPr/>
                </p:nvSpPr>
                <p:spPr bwMode="auto">
                  <a:xfrm flipV="1">
                    <a:off x="4396" y="1870"/>
                    <a:ext cx="230" cy="23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43" name="Line 79"/>
                  <p:cNvSpPr>
                    <a:spLocks noChangeShapeType="1"/>
                  </p:cNvSpPr>
                  <p:nvPr/>
                </p:nvSpPr>
                <p:spPr bwMode="auto">
                  <a:xfrm flipV="1">
                    <a:off x="4560" y="1909"/>
                    <a:ext cx="187" cy="1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44" name="Line 80"/>
                  <p:cNvSpPr>
                    <a:spLocks noChangeShapeType="1"/>
                  </p:cNvSpPr>
                  <p:nvPr/>
                </p:nvSpPr>
                <p:spPr bwMode="auto">
                  <a:xfrm flipV="1">
                    <a:off x="4713" y="1947"/>
                    <a:ext cx="149" cy="149"/>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36945" name="Group 81"/>
              <p:cNvGrpSpPr/>
              <p:nvPr/>
            </p:nvGrpSpPr>
            <p:grpSpPr bwMode="auto">
              <a:xfrm>
                <a:off x="2981" y="1808"/>
                <a:ext cx="1878" cy="775"/>
                <a:chOff x="2981" y="1808"/>
                <a:chExt cx="1878" cy="775"/>
              </a:xfrm>
            </p:grpSpPr>
            <p:sp>
              <p:nvSpPr>
                <p:cNvPr id="36946" name="Line 82"/>
                <p:cNvSpPr>
                  <a:spLocks noChangeShapeType="1"/>
                </p:cNvSpPr>
                <p:nvPr/>
              </p:nvSpPr>
              <p:spPr bwMode="auto">
                <a:xfrm>
                  <a:off x="3613" y="1808"/>
                  <a:ext cx="101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47" name="Line 83"/>
                <p:cNvSpPr>
                  <a:spLocks noChangeShapeType="1"/>
                </p:cNvSpPr>
                <p:nvPr/>
              </p:nvSpPr>
              <p:spPr bwMode="auto">
                <a:xfrm>
                  <a:off x="4859" y="2088"/>
                  <a:ext cx="0" cy="487"/>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48" name="Line 84"/>
                <p:cNvSpPr>
                  <a:spLocks noChangeShapeType="1"/>
                </p:cNvSpPr>
                <p:nvPr/>
              </p:nvSpPr>
              <p:spPr bwMode="auto">
                <a:xfrm>
                  <a:off x="4626" y="1884"/>
                  <a:ext cx="0" cy="487"/>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49" name="Line 85"/>
                <p:cNvSpPr>
                  <a:spLocks noChangeShapeType="1"/>
                </p:cNvSpPr>
                <p:nvPr/>
              </p:nvSpPr>
              <p:spPr bwMode="auto">
                <a:xfrm>
                  <a:off x="3608" y="1869"/>
                  <a:ext cx="0" cy="50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50" name="Line 86"/>
                <p:cNvSpPr>
                  <a:spLocks noChangeShapeType="1"/>
                </p:cNvSpPr>
                <p:nvPr/>
              </p:nvSpPr>
              <p:spPr bwMode="auto">
                <a:xfrm>
                  <a:off x="4408" y="2320"/>
                  <a:ext cx="218" cy="0"/>
                </a:xfrm>
                <a:prstGeom prst="line">
                  <a:avLst/>
                </a:prstGeom>
                <a:noFill/>
                <a:ln w="19050">
                  <a:solidFill>
                    <a:srgbClr val="FF33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51" name="Line 87"/>
                <p:cNvSpPr>
                  <a:spLocks noChangeShapeType="1"/>
                </p:cNvSpPr>
                <p:nvPr/>
              </p:nvSpPr>
              <p:spPr bwMode="auto">
                <a:xfrm>
                  <a:off x="4626" y="2320"/>
                  <a:ext cx="233"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52" name="Line 88"/>
                <p:cNvSpPr>
                  <a:spLocks noChangeShapeType="1"/>
                </p:cNvSpPr>
                <p:nvPr/>
              </p:nvSpPr>
              <p:spPr bwMode="auto">
                <a:xfrm>
                  <a:off x="3222" y="2095"/>
                  <a:ext cx="0" cy="48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53" name="Line 89"/>
                <p:cNvSpPr>
                  <a:spLocks noChangeShapeType="1"/>
                </p:cNvSpPr>
                <p:nvPr/>
              </p:nvSpPr>
              <p:spPr bwMode="auto">
                <a:xfrm flipH="1">
                  <a:off x="3223" y="2539"/>
                  <a:ext cx="1636" cy="0"/>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54" name="Line 90"/>
                <p:cNvSpPr>
                  <a:spLocks noChangeShapeType="1"/>
                </p:cNvSpPr>
                <p:nvPr/>
              </p:nvSpPr>
              <p:spPr bwMode="auto">
                <a:xfrm>
                  <a:off x="2981" y="2336"/>
                  <a:ext cx="240" cy="0"/>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55" name="Line 91"/>
                <p:cNvSpPr>
                  <a:spLocks noChangeShapeType="1"/>
                </p:cNvSpPr>
                <p:nvPr/>
              </p:nvSpPr>
              <p:spPr bwMode="auto">
                <a:xfrm>
                  <a:off x="3221" y="2336"/>
                  <a:ext cx="38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56" name="Line 92"/>
                <p:cNvSpPr>
                  <a:spLocks noChangeShapeType="1"/>
                </p:cNvSpPr>
                <p:nvPr/>
              </p:nvSpPr>
              <p:spPr bwMode="auto">
                <a:xfrm>
                  <a:off x="3607" y="2336"/>
                  <a:ext cx="240" cy="0"/>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957" name="Text Box 93"/>
                <p:cNvSpPr txBox="1">
                  <a:spLocks noChangeArrowheads="1"/>
                </p:cNvSpPr>
                <p:nvPr/>
              </p:nvSpPr>
              <p:spPr bwMode="auto">
                <a:xfrm>
                  <a:off x="3290" y="2082"/>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A</a:t>
                  </a:r>
                  <a:endParaRPr lang="en-US" altLang="zh-CN" b="1">
                    <a:latin typeface="ISOCPEUR" panose="020B0604020202020204" pitchFamily="34" charset="0"/>
                  </a:endParaRPr>
                </a:p>
              </p:txBody>
            </p:sp>
            <p:sp>
              <p:nvSpPr>
                <p:cNvPr id="36958" name="Text Box 94"/>
                <p:cNvSpPr txBox="1">
                  <a:spLocks noChangeArrowheads="1"/>
                </p:cNvSpPr>
                <p:nvPr/>
              </p:nvSpPr>
              <p:spPr bwMode="auto">
                <a:xfrm>
                  <a:off x="4622" y="2082"/>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C</a:t>
                  </a:r>
                  <a:endParaRPr lang="en-US" altLang="zh-CN" b="1">
                    <a:latin typeface="ISOCPEUR" panose="020B0604020202020204" pitchFamily="34" charset="0"/>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6869"/>
                                        </p:tgtEl>
                                        <p:attrNameLst>
                                          <p:attrName>style.visibility</p:attrName>
                                        </p:attrNameLst>
                                      </p:cBhvr>
                                      <p:to>
                                        <p:strVal val="visible"/>
                                      </p:to>
                                    </p:set>
                                    <p:animEffect transition="in" filter="wipe(up)">
                                      <p:cBhvr>
                                        <p:cTn id="7" dur="500"/>
                                        <p:tgtEl>
                                          <p:spTgt spid="368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6912"/>
                                        </p:tgtEl>
                                        <p:attrNameLst>
                                          <p:attrName>style.visibility</p:attrName>
                                        </p:attrNameLst>
                                      </p:cBhvr>
                                      <p:to>
                                        <p:strVal val="visible"/>
                                      </p:to>
                                    </p:set>
                                    <p:animEffect transition="in" filter="wipe(up)">
                                      <p:cBhvr>
                                        <p:cTn id="12" dur="500"/>
                                        <p:tgtEl>
                                          <p:spTgt spid="369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868"/>
                                        </p:tgtEl>
                                        <p:attrNameLst>
                                          <p:attrName>style.visibility</p:attrName>
                                        </p:attrNameLst>
                                      </p:cBhvr>
                                      <p:to>
                                        <p:strVal val="visible"/>
                                      </p:to>
                                    </p:set>
                                    <p:anim calcmode="lin" valueType="num">
                                      <p:cBhvr additive="base">
                                        <p:cTn id="17" dur="500" fill="hold"/>
                                        <p:tgtEl>
                                          <p:spTgt spid="36868"/>
                                        </p:tgtEl>
                                        <p:attrNameLst>
                                          <p:attrName>ppt_x</p:attrName>
                                        </p:attrNameLst>
                                      </p:cBhvr>
                                      <p:tavLst>
                                        <p:tav tm="0">
                                          <p:val>
                                            <p:strVal val="#ppt_x"/>
                                          </p:val>
                                        </p:tav>
                                        <p:tav tm="100000">
                                          <p:val>
                                            <p:strVal val="#ppt_x"/>
                                          </p:val>
                                        </p:tav>
                                      </p:tavLst>
                                    </p:anim>
                                    <p:anim calcmode="lin" valueType="num">
                                      <p:cBhvr additive="base">
                                        <p:cTn id="18"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6867"/>
                                        </p:tgtEl>
                                        <p:attrNameLst>
                                          <p:attrName>style.visibility</p:attrName>
                                        </p:attrNameLst>
                                      </p:cBhvr>
                                      <p:to>
                                        <p:strVal val="visible"/>
                                      </p:to>
                                    </p:set>
                                    <p:anim calcmode="lin" valueType="num">
                                      <p:cBhvr additive="base">
                                        <p:cTn id="23" dur="500" fill="hold"/>
                                        <p:tgtEl>
                                          <p:spTgt spid="36867"/>
                                        </p:tgtEl>
                                        <p:attrNameLst>
                                          <p:attrName>ppt_x</p:attrName>
                                        </p:attrNameLst>
                                      </p:cBhvr>
                                      <p:tavLst>
                                        <p:tav tm="0">
                                          <p:val>
                                            <p:strVal val="#ppt_x"/>
                                          </p:val>
                                        </p:tav>
                                        <p:tav tm="100000">
                                          <p:val>
                                            <p:strVal val="#ppt_x"/>
                                          </p:val>
                                        </p:tav>
                                      </p:tavLst>
                                    </p:anim>
                                    <p:anim calcmode="lin" valueType="num">
                                      <p:cBhvr additive="base">
                                        <p:cTn id="24" dur="500" fill="hold"/>
                                        <p:tgtEl>
                                          <p:spTgt spid="368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utoUpdateAnimBg="0"/>
      <p:bldP spid="36868"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476250" y="314325"/>
            <a:ext cx="77279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3200" b="1">
                <a:solidFill>
                  <a:schemeClr val="accent2"/>
                </a:solidFill>
                <a:latin typeface="宋体" panose="02010600030101010101" pitchFamily="2" charset="-122"/>
              </a:rPr>
              <a:t>5.</a:t>
            </a:r>
            <a:r>
              <a:rPr lang="zh-CN" altLang="en-US" sz="3200" b="1">
                <a:solidFill>
                  <a:schemeClr val="accent2"/>
                </a:solidFill>
                <a:latin typeface="宋体" panose="02010600030101010101" pitchFamily="2" charset="-122"/>
              </a:rPr>
              <a:t>同一个方向只能有一个非加工面与加</a:t>
            </a:r>
            <a:endParaRPr lang="zh-CN" altLang="en-US" sz="3200" b="1">
              <a:solidFill>
                <a:schemeClr val="accent2"/>
              </a:solidFill>
              <a:latin typeface="宋体" panose="02010600030101010101" pitchFamily="2" charset="-122"/>
            </a:endParaRPr>
          </a:p>
          <a:p>
            <a:pPr eaLnBrk="0" hangingPunct="0"/>
            <a:r>
              <a:rPr lang="zh-CN" altLang="en-US" sz="3200" b="1">
                <a:solidFill>
                  <a:schemeClr val="accent2"/>
                </a:solidFill>
                <a:latin typeface="宋体" panose="02010600030101010101" pitchFamily="2" charset="-122"/>
              </a:rPr>
              <a:t>    工面联系</a:t>
            </a:r>
            <a:endParaRPr lang="zh-CN" altLang="en-US" sz="3200" b="1">
              <a:solidFill>
                <a:schemeClr val="accent2"/>
              </a:solidFill>
              <a:latin typeface="宋体" panose="02010600030101010101" pitchFamily="2" charset="-122"/>
            </a:endParaRPr>
          </a:p>
        </p:txBody>
      </p:sp>
      <p:sp>
        <p:nvSpPr>
          <p:cNvPr id="37891" name="Text Box 3"/>
          <p:cNvSpPr txBox="1">
            <a:spLocks noChangeArrowheads="1"/>
          </p:cNvSpPr>
          <p:nvPr/>
        </p:nvSpPr>
        <p:spPr bwMode="auto">
          <a:xfrm>
            <a:off x="1336675" y="1422400"/>
            <a:ext cx="17922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宋体" panose="02010600030101010101" pitchFamily="2" charset="-122"/>
              </a:rPr>
              <a:t>A</a:t>
            </a:r>
            <a:r>
              <a:rPr lang="zh-CN" altLang="en-US" sz="2800" b="1">
                <a:solidFill>
                  <a:srgbClr val="FF3300"/>
                </a:solidFill>
                <a:latin typeface="宋体" panose="02010600030101010101" pitchFamily="2" charset="-122"/>
              </a:rPr>
              <a:t>：</a:t>
            </a:r>
            <a:r>
              <a:rPr lang="zh-CN" altLang="en-US" sz="2800" b="1">
                <a:solidFill>
                  <a:schemeClr val="accent2"/>
                </a:solidFill>
                <a:latin typeface="宋体" panose="02010600030101010101" pitchFamily="2" charset="-122"/>
              </a:rPr>
              <a:t>加工面</a:t>
            </a:r>
            <a:endParaRPr lang="zh-CN" altLang="en-US" sz="2800" b="1">
              <a:solidFill>
                <a:srgbClr val="FF3300"/>
              </a:solidFill>
              <a:latin typeface="宋体" panose="02010600030101010101" pitchFamily="2" charset="-122"/>
            </a:endParaRPr>
          </a:p>
        </p:txBody>
      </p:sp>
      <p:sp>
        <p:nvSpPr>
          <p:cNvPr id="37892" name="Text Box 4"/>
          <p:cNvSpPr txBox="1">
            <a:spLocks noChangeArrowheads="1"/>
          </p:cNvSpPr>
          <p:nvPr/>
        </p:nvSpPr>
        <p:spPr bwMode="auto">
          <a:xfrm>
            <a:off x="3870325" y="1422400"/>
            <a:ext cx="3222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宋体" panose="02010600030101010101" pitchFamily="2" charset="-122"/>
              </a:rPr>
              <a:t>B</a:t>
            </a:r>
            <a:r>
              <a:rPr lang="zh-CN" altLang="en-US" sz="2800" b="1">
                <a:solidFill>
                  <a:srgbClr val="FF3300"/>
                </a:solidFill>
                <a:latin typeface="宋体" panose="02010600030101010101" pitchFamily="2" charset="-122"/>
              </a:rPr>
              <a:t>、</a:t>
            </a:r>
            <a:r>
              <a:rPr lang="en-US" altLang="zh-CN" sz="2800" b="1" i="1">
                <a:solidFill>
                  <a:srgbClr val="FF3300"/>
                </a:solidFill>
                <a:latin typeface="宋体" panose="02010600030101010101" pitchFamily="2" charset="-122"/>
              </a:rPr>
              <a:t>C</a:t>
            </a:r>
            <a:r>
              <a:rPr lang="zh-CN" altLang="en-US" sz="2800" b="1">
                <a:solidFill>
                  <a:srgbClr val="FF3300"/>
                </a:solidFill>
                <a:latin typeface="宋体" panose="02010600030101010101" pitchFamily="2" charset="-122"/>
              </a:rPr>
              <a:t>、</a:t>
            </a:r>
            <a:r>
              <a:rPr lang="en-US" altLang="zh-CN" sz="2800" b="1" i="1">
                <a:solidFill>
                  <a:srgbClr val="FF3300"/>
                </a:solidFill>
                <a:latin typeface="宋体" panose="02010600030101010101" pitchFamily="2" charset="-122"/>
              </a:rPr>
              <a:t>D</a:t>
            </a:r>
            <a:r>
              <a:rPr lang="zh-CN" altLang="en-US" sz="2800" b="1">
                <a:solidFill>
                  <a:srgbClr val="FF3300"/>
                </a:solidFill>
                <a:latin typeface="宋体" panose="02010600030101010101" pitchFamily="2" charset="-122"/>
              </a:rPr>
              <a:t>：</a:t>
            </a:r>
            <a:r>
              <a:rPr lang="zh-CN" altLang="en-US" sz="2800" b="1">
                <a:solidFill>
                  <a:schemeClr val="accent2"/>
                </a:solidFill>
                <a:latin typeface="宋体" panose="02010600030101010101" pitchFamily="2" charset="-122"/>
              </a:rPr>
              <a:t>非加工面</a:t>
            </a:r>
            <a:endParaRPr lang="zh-CN" altLang="en-US" sz="2800" b="1">
              <a:solidFill>
                <a:srgbClr val="FF3300"/>
              </a:solidFill>
              <a:latin typeface="宋体" panose="02010600030101010101" pitchFamily="2" charset="-122"/>
            </a:endParaRPr>
          </a:p>
        </p:txBody>
      </p:sp>
      <p:grpSp>
        <p:nvGrpSpPr>
          <p:cNvPr id="37893" name="Group 5"/>
          <p:cNvGrpSpPr/>
          <p:nvPr/>
        </p:nvGrpSpPr>
        <p:grpSpPr bwMode="auto">
          <a:xfrm>
            <a:off x="231775" y="2382838"/>
            <a:ext cx="4187825" cy="3144837"/>
            <a:chOff x="146" y="1487"/>
            <a:chExt cx="2638" cy="1981"/>
          </a:xfrm>
        </p:grpSpPr>
        <p:pic>
          <p:nvPicPr>
            <p:cNvPr id="37894"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79" y="1512"/>
              <a:ext cx="2088" cy="1956"/>
            </a:xfrm>
            <a:prstGeom prst="rect">
              <a:avLst/>
            </a:prstGeom>
            <a:noFill/>
            <a:extLst>
              <a:ext uri="{909E8E84-426E-40DD-AFC4-6F175D3DCCD1}">
                <a14:hiddenFill xmlns:a14="http://schemas.microsoft.com/office/drawing/2010/main">
                  <a:solidFill>
                    <a:srgbClr val="FFFFFF"/>
                  </a:solidFill>
                </a14:hiddenFill>
              </a:ext>
            </a:extLst>
          </p:spPr>
        </p:pic>
        <p:sp>
          <p:nvSpPr>
            <p:cNvPr id="37895" name="Line 7"/>
            <p:cNvSpPr>
              <a:spLocks noChangeShapeType="1"/>
            </p:cNvSpPr>
            <p:nvPr/>
          </p:nvSpPr>
          <p:spPr bwMode="auto">
            <a:xfrm flipH="1">
              <a:off x="312" y="2028"/>
              <a:ext cx="39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6" name="Line 8"/>
            <p:cNvSpPr>
              <a:spLocks noChangeShapeType="1"/>
            </p:cNvSpPr>
            <p:nvPr/>
          </p:nvSpPr>
          <p:spPr bwMode="auto">
            <a:xfrm flipH="1">
              <a:off x="336" y="2220"/>
              <a:ext cx="54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7" name="Line 9"/>
            <p:cNvSpPr>
              <a:spLocks noChangeShapeType="1"/>
            </p:cNvSpPr>
            <p:nvPr/>
          </p:nvSpPr>
          <p:spPr bwMode="auto">
            <a:xfrm>
              <a:off x="384" y="2028"/>
              <a:ext cx="0" cy="1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8" name="Line 10"/>
            <p:cNvSpPr>
              <a:spLocks noChangeShapeType="1"/>
            </p:cNvSpPr>
            <p:nvPr/>
          </p:nvSpPr>
          <p:spPr bwMode="auto">
            <a:xfrm flipV="1">
              <a:off x="384" y="2208"/>
              <a:ext cx="0" cy="192"/>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9" name="Line 11"/>
            <p:cNvSpPr>
              <a:spLocks noChangeShapeType="1"/>
            </p:cNvSpPr>
            <p:nvPr/>
          </p:nvSpPr>
          <p:spPr bwMode="auto">
            <a:xfrm>
              <a:off x="384" y="1848"/>
              <a:ext cx="0" cy="192"/>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0" name="Text Box 12"/>
            <p:cNvSpPr txBox="1">
              <a:spLocks noChangeArrowheads="1"/>
            </p:cNvSpPr>
            <p:nvPr/>
          </p:nvSpPr>
          <p:spPr bwMode="auto">
            <a:xfrm rot="-5400000">
              <a:off x="187" y="1995"/>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8</a:t>
              </a:r>
              <a:endParaRPr lang="en-US" altLang="zh-CN">
                <a:latin typeface="ISOCPEUR" panose="020B0604020202020204" pitchFamily="34" charset="0"/>
              </a:endParaRPr>
            </a:p>
          </p:txBody>
        </p:sp>
        <p:sp>
          <p:nvSpPr>
            <p:cNvPr id="37901" name="Line 13"/>
            <p:cNvSpPr>
              <a:spLocks noChangeShapeType="1"/>
            </p:cNvSpPr>
            <p:nvPr/>
          </p:nvSpPr>
          <p:spPr bwMode="auto">
            <a:xfrm>
              <a:off x="2220" y="2868"/>
              <a:ext cx="36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2" name="Line 14"/>
            <p:cNvSpPr>
              <a:spLocks noChangeShapeType="1"/>
            </p:cNvSpPr>
            <p:nvPr/>
          </p:nvSpPr>
          <p:spPr bwMode="auto">
            <a:xfrm flipV="1">
              <a:off x="2520" y="3036"/>
              <a:ext cx="0" cy="216"/>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3" name="Line 15"/>
            <p:cNvSpPr>
              <a:spLocks noChangeShapeType="1"/>
            </p:cNvSpPr>
            <p:nvPr/>
          </p:nvSpPr>
          <p:spPr bwMode="auto">
            <a:xfrm>
              <a:off x="2520" y="2856"/>
              <a:ext cx="0" cy="1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4" name="Text Box 16"/>
            <p:cNvSpPr txBox="1">
              <a:spLocks noChangeArrowheads="1"/>
            </p:cNvSpPr>
            <p:nvPr/>
          </p:nvSpPr>
          <p:spPr bwMode="auto">
            <a:xfrm rot="-5400000">
              <a:off x="2319" y="2818"/>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8</a:t>
              </a:r>
              <a:endParaRPr lang="en-US" altLang="zh-CN" sz="2800" b="1">
                <a:latin typeface="ISOCPEUR" panose="020B0604020202020204" pitchFamily="34" charset="0"/>
              </a:endParaRPr>
            </a:p>
          </p:txBody>
        </p:sp>
        <p:sp>
          <p:nvSpPr>
            <p:cNvPr id="37905" name="Text Box 17"/>
            <p:cNvSpPr txBox="1">
              <a:spLocks noChangeArrowheads="1"/>
            </p:cNvSpPr>
            <p:nvPr/>
          </p:nvSpPr>
          <p:spPr bwMode="auto">
            <a:xfrm rot="-5400000">
              <a:off x="2275" y="2283"/>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34</a:t>
              </a:r>
              <a:endParaRPr lang="en-US" altLang="zh-CN" sz="2800" b="1">
                <a:latin typeface="ISOCPEUR" panose="020B0604020202020204" pitchFamily="34" charset="0"/>
              </a:endParaRPr>
            </a:p>
          </p:txBody>
        </p:sp>
        <p:sp>
          <p:nvSpPr>
            <p:cNvPr id="37906" name="Line 18"/>
            <p:cNvSpPr>
              <a:spLocks noChangeShapeType="1"/>
            </p:cNvSpPr>
            <p:nvPr/>
          </p:nvSpPr>
          <p:spPr bwMode="auto">
            <a:xfrm flipV="1">
              <a:off x="2520" y="2028"/>
              <a:ext cx="0" cy="852"/>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7" name="Line 19"/>
            <p:cNvSpPr>
              <a:spLocks noChangeShapeType="1"/>
            </p:cNvSpPr>
            <p:nvPr/>
          </p:nvSpPr>
          <p:spPr bwMode="auto">
            <a:xfrm>
              <a:off x="1920" y="2040"/>
              <a:ext cx="68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8" name="Line 20"/>
            <p:cNvSpPr>
              <a:spLocks noChangeShapeType="1"/>
            </p:cNvSpPr>
            <p:nvPr/>
          </p:nvSpPr>
          <p:spPr bwMode="auto">
            <a:xfrm>
              <a:off x="1656" y="1920"/>
              <a:ext cx="112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9" name="Line 21"/>
            <p:cNvSpPr>
              <a:spLocks noChangeShapeType="1"/>
            </p:cNvSpPr>
            <p:nvPr/>
          </p:nvSpPr>
          <p:spPr bwMode="auto">
            <a:xfrm flipV="1">
              <a:off x="2724" y="1908"/>
              <a:ext cx="0" cy="1164"/>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0" name="Text Box 22"/>
            <p:cNvSpPr txBox="1">
              <a:spLocks noChangeArrowheads="1"/>
            </p:cNvSpPr>
            <p:nvPr/>
          </p:nvSpPr>
          <p:spPr bwMode="auto">
            <a:xfrm rot="-5400000">
              <a:off x="2479" y="2379"/>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48</a:t>
              </a:r>
              <a:endParaRPr lang="en-US" altLang="zh-CN" sz="2800" b="1">
                <a:latin typeface="ISOCPEUR" panose="020B0604020202020204" pitchFamily="34" charset="0"/>
              </a:endParaRPr>
            </a:p>
          </p:txBody>
        </p:sp>
        <p:sp>
          <p:nvSpPr>
            <p:cNvPr id="37911" name="Line 23"/>
            <p:cNvSpPr>
              <a:spLocks noChangeShapeType="1"/>
            </p:cNvSpPr>
            <p:nvPr/>
          </p:nvSpPr>
          <p:spPr bwMode="auto">
            <a:xfrm>
              <a:off x="2292" y="3048"/>
              <a:ext cx="49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2" name="Line 24"/>
            <p:cNvSpPr>
              <a:spLocks noChangeShapeType="1"/>
            </p:cNvSpPr>
            <p:nvPr/>
          </p:nvSpPr>
          <p:spPr bwMode="auto">
            <a:xfrm flipH="1">
              <a:off x="2100" y="3036"/>
              <a:ext cx="84" cy="28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3" name="Line 25"/>
            <p:cNvSpPr>
              <a:spLocks noChangeShapeType="1"/>
            </p:cNvSpPr>
            <p:nvPr/>
          </p:nvSpPr>
          <p:spPr bwMode="auto">
            <a:xfrm>
              <a:off x="2106" y="3324"/>
              <a:ext cx="25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4" name="Text Box 26"/>
            <p:cNvSpPr txBox="1">
              <a:spLocks noChangeArrowheads="1"/>
            </p:cNvSpPr>
            <p:nvPr/>
          </p:nvSpPr>
          <p:spPr bwMode="auto">
            <a:xfrm>
              <a:off x="2114" y="3035"/>
              <a:ext cx="2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ISOCPEUR" panose="020B0604020202020204" pitchFamily="34" charset="0"/>
                </a:rPr>
                <a:t>A</a:t>
              </a:r>
              <a:endParaRPr lang="en-US" altLang="zh-CN" sz="2800" b="1">
                <a:solidFill>
                  <a:srgbClr val="FF3300"/>
                </a:solidFill>
                <a:latin typeface="ISOCPEUR" panose="020B0604020202020204" pitchFamily="34" charset="0"/>
              </a:endParaRPr>
            </a:p>
          </p:txBody>
        </p:sp>
        <p:sp>
          <p:nvSpPr>
            <p:cNvPr id="37915" name="Line 27"/>
            <p:cNvSpPr>
              <a:spLocks noChangeShapeType="1"/>
            </p:cNvSpPr>
            <p:nvPr/>
          </p:nvSpPr>
          <p:spPr bwMode="auto">
            <a:xfrm flipH="1" flipV="1">
              <a:off x="2112" y="2640"/>
              <a:ext cx="96" cy="21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6" name="Line 28"/>
            <p:cNvSpPr>
              <a:spLocks noChangeShapeType="1"/>
            </p:cNvSpPr>
            <p:nvPr/>
          </p:nvSpPr>
          <p:spPr bwMode="auto">
            <a:xfrm>
              <a:off x="2112" y="2640"/>
              <a:ext cx="22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7" name="Text Box 29"/>
            <p:cNvSpPr txBox="1">
              <a:spLocks noChangeArrowheads="1"/>
            </p:cNvSpPr>
            <p:nvPr/>
          </p:nvSpPr>
          <p:spPr bwMode="auto">
            <a:xfrm>
              <a:off x="2102" y="2363"/>
              <a:ext cx="2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ISOCPEUR" panose="020B0604020202020204" pitchFamily="34" charset="0"/>
                </a:rPr>
                <a:t>B</a:t>
              </a:r>
              <a:endParaRPr lang="en-US" altLang="zh-CN" sz="2800" b="1">
                <a:solidFill>
                  <a:srgbClr val="FF3300"/>
                </a:solidFill>
                <a:latin typeface="ISOCPEUR" panose="020B0604020202020204" pitchFamily="34" charset="0"/>
              </a:endParaRPr>
            </a:p>
          </p:txBody>
        </p:sp>
        <p:sp>
          <p:nvSpPr>
            <p:cNvPr id="37918" name="Line 30"/>
            <p:cNvSpPr>
              <a:spLocks noChangeShapeType="1"/>
            </p:cNvSpPr>
            <p:nvPr/>
          </p:nvSpPr>
          <p:spPr bwMode="auto">
            <a:xfrm flipV="1">
              <a:off x="1836" y="1764"/>
              <a:ext cx="144" cy="264"/>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9" name="Line 31"/>
            <p:cNvSpPr>
              <a:spLocks noChangeShapeType="1"/>
            </p:cNvSpPr>
            <p:nvPr/>
          </p:nvSpPr>
          <p:spPr bwMode="auto">
            <a:xfrm>
              <a:off x="1980" y="1764"/>
              <a:ext cx="26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0" name="Text Box 32"/>
            <p:cNvSpPr txBox="1">
              <a:spLocks noChangeArrowheads="1"/>
            </p:cNvSpPr>
            <p:nvPr/>
          </p:nvSpPr>
          <p:spPr bwMode="auto">
            <a:xfrm>
              <a:off x="1958" y="1487"/>
              <a:ext cx="2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ISOCPEUR" panose="020B0604020202020204" pitchFamily="34" charset="0"/>
                </a:rPr>
                <a:t>C</a:t>
              </a:r>
              <a:endParaRPr lang="en-US" altLang="zh-CN" sz="2800" b="1">
                <a:solidFill>
                  <a:srgbClr val="FF3300"/>
                </a:solidFill>
                <a:latin typeface="ISOCPEUR" panose="020B0604020202020204" pitchFamily="34" charset="0"/>
              </a:endParaRPr>
            </a:p>
          </p:txBody>
        </p:sp>
        <p:sp>
          <p:nvSpPr>
            <p:cNvPr id="37921" name="Line 33"/>
            <p:cNvSpPr>
              <a:spLocks noChangeShapeType="1"/>
            </p:cNvSpPr>
            <p:nvPr/>
          </p:nvSpPr>
          <p:spPr bwMode="auto">
            <a:xfrm>
              <a:off x="948" y="2220"/>
              <a:ext cx="96" cy="25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2" name="Line 34"/>
            <p:cNvSpPr>
              <a:spLocks noChangeShapeType="1"/>
            </p:cNvSpPr>
            <p:nvPr/>
          </p:nvSpPr>
          <p:spPr bwMode="auto">
            <a:xfrm>
              <a:off x="1032" y="2472"/>
              <a:ext cx="24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3" name="Text Box 35"/>
            <p:cNvSpPr txBox="1">
              <a:spLocks noChangeArrowheads="1"/>
            </p:cNvSpPr>
            <p:nvPr/>
          </p:nvSpPr>
          <p:spPr bwMode="auto">
            <a:xfrm>
              <a:off x="1046" y="2183"/>
              <a:ext cx="2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ISOCPEUR" panose="020B0604020202020204" pitchFamily="34" charset="0"/>
                </a:rPr>
                <a:t>D</a:t>
              </a:r>
              <a:endParaRPr lang="en-US" altLang="zh-CN" sz="2800" b="1">
                <a:solidFill>
                  <a:srgbClr val="FF3300"/>
                </a:solidFill>
                <a:latin typeface="ISOCPEUR" panose="020B0604020202020204" pitchFamily="34" charset="0"/>
              </a:endParaRPr>
            </a:p>
          </p:txBody>
        </p:sp>
      </p:grpSp>
      <p:grpSp>
        <p:nvGrpSpPr>
          <p:cNvPr id="37924" name="Group 36"/>
          <p:cNvGrpSpPr/>
          <p:nvPr/>
        </p:nvGrpSpPr>
        <p:grpSpPr bwMode="auto">
          <a:xfrm>
            <a:off x="4591050" y="2370138"/>
            <a:ext cx="4314825" cy="3135312"/>
            <a:chOff x="2892" y="1493"/>
            <a:chExt cx="2718" cy="1975"/>
          </a:xfrm>
        </p:grpSpPr>
        <p:pic>
          <p:nvPicPr>
            <p:cNvPr id="37925" name="Picture 3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92" y="1512"/>
              <a:ext cx="2088" cy="1956"/>
            </a:xfrm>
            <a:prstGeom prst="rect">
              <a:avLst/>
            </a:prstGeom>
            <a:noFill/>
            <a:extLst>
              <a:ext uri="{909E8E84-426E-40DD-AFC4-6F175D3DCCD1}">
                <a14:hiddenFill xmlns:a14="http://schemas.microsoft.com/office/drawing/2010/main">
                  <a:solidFill>
                    <a:srgbClr val="FFFFFF"/>
                  </a:solidFill>
                </a14:hiddenFill>
              </a:ext>
            </a:extLst>
          </p:spPr>
        </p:pic>
        <p:sp>
          <p:nvSpPr>
            <p:cNvPr id="37926" name="Line 38"/>
            <p:cNvSpPr>
              <a:spLocks noChangeShapeType="1"/>
            </p:cNvSpPr>
            <p:nvPr/>
          </p:nvSpPr>
          <p:spPr bwMode="auto">
            <a:xfrm flipH="1">
              <a:off x="4716" y="3036"/>
              <a:ext cx="84" cy="28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7" name="Line 39"/>
            <p:cNvSpPr>
              <a:spLocks noChangeShapeType="1"/>
            </p:cNvSpPr>
            <p:nvPr/>
          </p:nvSpPr>
          <p:spPr bwMode="auto">
            <a:xfrm>
              <a:off x="4722" y="3324"/>
              <a:ext cx="25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8" name="Text Box 40"/>
            <p:cNvSpPr txBox="1">
              <a:spLocks noChangeArrowheads="1"/>
            </p:cNvSpPr>
            <p:nvPr/>
          </p:nvSpPr>
          <p:spPr bwMode="auto">
            <a:xfrm>
              <a:off x="4748" y="3053"/>
              <a:ext cx="2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ISOCPEUR" panose="020B0604020202020204" pitchFamily="34" charset="0"/>
                </a:rPr>
                <a:t>A</a:t>
              </a:r>
              <a:endParaRPr lang="en-US" altLang="zh-CN" sz="2800" b="1">
                <a:solidFill>
                  <a:srgbClr val="FF3300"/>
                </a:solidFill>
                <a:latin typeface="ISOCPEUR" panose="020B0604020202020204" pitchFamily="34" charset="0"/>
              </a:endParaRPr>
            </a:p>
          </p:txBody>
        </p:sp>
        <p:sp>
          <p:nvSpPr>
            <p:cNvPr id="37929" name="Line 41"/>
            <p:cNvSpPr>
              <a:spLocks noChangeShapeType="1"/>
            </p:cNvSpPr>
            <p:nvPr/>
          </p:nvSpPr>
          <p:spPr bwMode="auto">
            <a:xfrm flipH="1" flipV="1">
              <a:off x="4728" y="2640"/>
              <a:ext cx="96" cy="216"/>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0" name="Line 42"/>
            <p:cNvSpPr>
              <a:spLocks noChangeShapeType="1"/>
            </p:cNvSpPr>
            <p:nvPr/>
          </p:nvSpPr>
          <p:spPr bwMode="auto">
            <a:xfrm>
              <a:off x="4728" y="2640"/>
              <a:ext cx="228"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1" name="Text Box 43"/>
            <p:cNvSpPr txBox="1">
              <a:spLocks noChangeArrowheads="1"/>
            </p:cNvSpPr>
            <p:nvPr/>
          </p:nvSpPr>
          <p:spPr bwMode="auto">
            <a:xfrm>
              <a:off x="4730" y="2375"/>
              <a:ext cx="2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ISOCPEUR" panose="020B0604020202020204" pitchFamily="34" charset="0"/>
                </a:rPr>
                <a:t>B</a:t>
              </a:r>
              <a:endParaRPr lang="en-US" altLang="zh-CN" sz="2800" b="1">
                <a:solidFill>
                  <a:srgbClr val="FF3300"/>
                </a:solidFill>
                <a:latin typeface="ISOCPEUR" panose="020B0604020202020204" pitchFamily="34" charset="0"/>
              </a:endParaRPr>
            </a:p>
          </p:txBody>
        </p:sp>
        <p:sp>
          <p:nvSpPr>
            <p:cNvPr id="37932" name="Line 44"/>
            <p:cNvSpPr>
              <a:spLocks noChangeShapeType="1"/>
            </p:cNvSpPr>
            <p:nvPr/>
          </p:nvSpPr>
          <p:spPr bwMode="auto">
            <a:xfrm flipV="1">
              <a:off x="4452" y="1764"/>
              <a:ext cx="144" cy="264"/>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3" name="Line 45"/>
            <p:cNvSpPr>
              <a:spLocks noChangeShapeType="1"/>
            </p:cNvSpPr>
            <p:nvPr/>
          </p:nvSpPr>
          <p:spPr bwMode="auto">
            <a:xfrm>
              <a:off x="4596" y="1764"/>
              <a:ext cx="264"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4" name="Text Box 46"/>
            <p:cNvSpPr txBox="1">
              <a:spLocks noChangeArrowheads="1"/>
            </p:cNvSpPr>
            <p:nvPr/>
          </p:nvSpPr>
          <p:spPr bwMode="auto">
            <a:xfrm>
              <a:off x="4610" y="1493"/>
              <a:ext cx="2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ISOCPEUR" panose="020B0604020202020204" pitchFamily="34" charset="0"/>
                </a:rPr>
                <a:t>C</a:t>
              </a:r>
              <a:endParaRPr lang="en-US" altLang="zh-CN" sz="2800" b="1">
                <a:solidFill>
                  <a:srgbClr val="FF3300"/>
                </a:solidFill>
                <a:latin typeface="ISOCPEUR" panose="020B0604020202020204" pitchFamily="34" charset="0"/>
              </a:endParaRPr>
            </a:p>
          </p:txBody>
        </p:sp>
        <p:sp>
          <p:nvSpPr>
            <p:cNvPr id="37935" name="Line 47"/>
            <p:cNvSpPr>
              <a:spLocks noChangeShapeType="1"/>
            </p:cNvSpPr>
            <p:nvPr/>
          </p:nvSpPr>
          <p:spPr bwMode="auto">
            <a:xfrm>
              <a:off x="3564" y="2220"/>
              <a:ext cx="96" cy="25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6" name="Line 48"/>
            <p:cNvSpPr>
              <a:spLocks noChangeShapeType="1"/>
            </p:cNvSpPr>
            <p:nvPr/>
          </p:nvSpPr>
          <p:spPr bwMode="auto">
            <a:xfrm>
              <a:off x="3654" y="2472"/>
              <a:ext cx="24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7" name="Text Box 49"/>
            <p:cNvSpPr txBox="1">
              <a:spLocks noChangeArrowheads="1"/>
            </p:cNvSpPr>
            <p:nvPr/>
          </p:nvSpPr>
          <p:spPr bwMode="auto">
            <a:xfrm>
              <a:off x="3662" y="2201"/>
              <a:ext cx="2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800" b="1" i="1">
                  <a:solidFill>
                    <a:srgbClr val="FF3300"/>
                  </a:solidFill>
                  <a:latin typeface="ISOCPEUR" panose="020B0604020202020204" pitchFamily="34" charset="0"/>
                </a:rPr>
                <a:t>D</a:t>
              </a:r>
              <a:endParaRPr lang="en-US" altLang="zh-CN" sz="2800" b="1">
                <a:solidFill>
                  <a:srgbClr val="FF3300"/>
                </a:solidFill>
                <a:latin typeface="ISOCPEUR" panose="020B0604020202020204" pitchFamily="34" charset="0"/>
              </a:endParaRPr>
            </a:p>
          </p:txBody>
        </p:sp>
        <p:sp>
          <p:nvSpPr>
            <p:cNvPr id="37938" name="Line 50"/>
            <p:cNvSpPr>
              <a:spLocks noChangeShapeType="1"/>
            </p:cNvSpPr>
            <p:nvPr/>
          </p:nvSpPr>
          <p:spPr bwMode="auto">
            <a:xfrm>
              <a:off x="4836" y="2868"/>
              <a:ext cx="36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39" name="Line 51"/>
            <p:cNvSpPr>
              <a:spLocks noChangeShapeType="1"/>
            </p:cNvSpPr>
            <p:nvPr/>
          </p:nvSpPr>
          <p:spPr bwMode="auto">
            <a:xfrm flipV="1">
              <a:off x="5112" y="3036"/>
              <a:ext cx="0" cy="216"/>
            </a:xfrm>
            <a:prstGeom prst="line">
              <a:avLst/>
            </a:prstGeom>
            <a:noFill/>
            <a:ln w="19050">
              <a:solidFill>
                <a:srgbClr val="FF33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0" name="Line 52"/>
            <p:cNvSpPr>
              <a:spLocks noChangeShapeType="1"/>
            </p:cNvSpPr>
            <p:nvPr/>
          </p:nvSpPr>
          <p:spPr bwMode="auto">
            <a:xfrm>
              <a:off x="5112" y="2856"/>
              <a:ext cx="0" cy="192"/>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1" name="Text Box 53"/>
            <p:cNvSpPr txBox="1">
              <a:spLocks noChangeArrowheads="1"/>
            </p:cNvSpPr>
            <p:nvPr/>
          </p:nvSpPr>
          <p:spPr bwMode="auto">
            <a:xfrm rot="-5400000">
              <a:off x="4942" y="282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b="1" i="1">
                  <a:solidFill>
                    <a:srgbClr val="FF3300"/>
                  </a:solidFill>
                  <a:latin typeface="ISOCPEUR" panose="020B0604020202020204" pitchFamily="34" charset="0"/>
                </a:rPr>
                <a:t>8</a:t>
              </a:r>
              <a:endParaRPr lang="en-US" altLang="zh-CN" sz="2800" b="1">
                <a:latin typeface="ISOCPEUR" panose="020B0604020202020204" pitchFamily="34" charset="0"/>
              </a:endParaRPr>
            </a:p>
          </p:txBody>
        </p:sp>
        <p:sp>
          <p:nvSpPr>
            <p:cNvPr id="37942" name="Text Box 54"/>
            <p:cNvSpPr txBox="1">
              <a:spLocks noChangeArrowheads="1"/>
            </p:cNvSpPr>
            <p:nvPr/>
          </p:nvSpPr>
          <p:spPr bwMode="auto">
            <a:xfrm rot="-5400000">
              <a:off x="4975" y="2391"/>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34</a:t>
              </a:r>
              <a:endParaRPr lang="en-US" altLang="zh-CN" sz="2800" b="1">
                <a:solidFill>
                  <a:srgbClr val="FF3300"/>
                </a:solidFill>
                <a:latin typeface="ISOCPEUR" panose="020B0604020202020204" pitchFamily="34" charset="0"/>
              </a:endParaRPr>
            </a:p>
          </p:txBody>
        </p:sp>
        <p:sp>
          <p:nvSpPr>
            <p:cNvPr id="37943" name="Line 55"/>
            <p:cNvSpPr>
              <a:spLocks noChangeShapeType="1"/>
            </p:cNvSpPr>
            <p:nvPr/>
          </p:nvSpPr>
          <p:spPr bwMode="auto">
            <a:xfrm flipV="1">
              <a:off x="5220" y="2208"/>
              <a:ext cx="0" cy="852"/>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4" name="Line 56"/>
            <p:cNvSpPr>
              <a:spLocks noChangeShapeType="1"/>
            </p:cNvSpPr>
            <p:nvPr/>
          </p:nvSpPr>
          <p:spPr bwMode="auto">
            <a:xfrm>
              <a:off x="4536" y="2040"/>
              <a:ext cx="917"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5" name="Line 57"/>
            <p:cNvSpPr>
              <a:spLocks noChangeShapeType="1"/>
            </p:cNvSpPr>
            <p:nvPr/>
          </p:nvSpPr>
          <p:spPr bwMode="auto">
            <a:xfrm>
              <a:off x="4272" y="1920"/>
              <a:ext cx="132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6" name="Line 58"/>
            <p:cNvSpPr>
              <a:spLocks noChangeShapeType="1"/>
            </p:cNvSpPr>
            <p:nvPr/>
          </p:nvSpPr>
          <p:spPr bwMode="auto">
            <a:xfrm flipV="1">
              <a:off x="5544" y="1908"/>
              <a:ext cx="0" cy="1164"/>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7" name="Text Box 59"/>
            <p:cNvSpPr txBox="1">
              <a:spLocks noChangeArrowheads="1"/>
            </p:cNvSpPr>
            <p:nvPr/>
          </p:nvSpPr>
          <p:spPr bwMode="auto">
            <a:xfrm rot="-5400000">
              <a:off x="5311" y="2386"/>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48</a:t>
              </a:r>
              <a:endParaRPr lang="en-US" altLang="zh-CN" sz="2800" b="1">
                <a:solidFill>
                  <a:srgbClr val="FF3300"/>
                </a:solidFill>
                <a:latin typeface="ISOCPEUR" panose="020B0604020202020204" pitchFamily="34" charset="0"/>
              </a:endParaRPr>
            </a:p>
          </p:txBody>
        </p:sp>
        <p:sp>
          <p:nvSpPr>
            <p:cNvPr id="37948" name="Line 60"/>
            <p:cNvSpPr>
              <a:spLocks noChangeShapeType="1"/>
            </p:cNvSpPr>
            <p:nvPr/>
          </p:nvSpPr>
          <p:spPr bwMode="auto">
            <a:xfrm>
              <a:off x="4908" y="3048"/>
              <a:ext cx="69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49" name="Line 61"/>
            <p:cNvSpPr>
              <a:spLocks noChangeShapeType="1"/>
            </p:cNvSpPr>
            <p:nvPr/>
          </p:nvSpPr>
          <p:spPr bwMode="auto">
            <a:xfrm>
              <a:off x="5382" y="2040"/>
              <a:ext cx="0" cy="1008"/>
            </a:xfrm>
            <a:prstGeom prst="line">
              <a:avLst/>
            </a:prstGeom>
            <a:noFill/>
            <a:ln w="19050">
              <a:solidFill>
                <a:srgbClr val="FF33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50" name="Line 62"/>
            <p:cNvSpPr>
              <a:spLocks noChangeShapeType="1"/>
            </p:cNvSpPr>
            <p:nvPr/>
          </p:nvSpPr>
          <p:spPr bwMode="auto">
            <a:xfrm flipV="1">
              <a:off x="5112" y="2712"/>
              <a:ext cx="0" cy="156"/>
            </a:xfrm>
            <a:prstGeom prst="line">
              <a:avLst/>
            </a:prstGeom>
            <a:noFill/>
            <a:ln w="19050">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51" name="Text Box 63"/>
            <p:cNvSpPr txBox="1">
              <a:spLocks noChangeArrowheads="1"/>
            </p:cNvSpPr>
            <p:nvPr/>
          </p:nvSpPr>
          <p:spPr bwMode="auto">
            <a:xfrm rot="-5400000">
              <a:off x="5139" y="2400"/>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latin typeface="ISOCPEUR" panose="020B0604020202020204" pitchFamily="34" charset="0"/>
                </a:rPr>
                <a:t>42</a:t>
              </a:r>
              <a:endParaRPr lang="en-US" altLang="zh-CN" b="1" i="1">
                <a:solidFill>
                  <a:srgbClr val="FF3300"/>
                </a:solidFill>
                <a:latin typeface="ISOCPEUR" panose="020B0604020202020204" pitchFamily="34" charset="0"/>
              </a:endParaRPr>
            </a:p>
          </p:txBody>
        </p:sp>
        <p:sp>
          <p:nvSpPr>
            <p:cNvPr id="37952" name="Line 64"/>
            <p:cNvSpPr>
              <a:spLocks noChangeShapeType="1"/>
            </p:cNvSpPr>
            <p:nvPr/>
          </p:nvSpPr>
          <p:spPr bwMode="auto">
            <a:xfrm>
              <a:off x="4392" y="2220"/>
              <a:ext cx="90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953" name="Text Box 65"/>
          <p:cNvSpPr txBox="1">
            <a:spLocks noChangeArrowheads="1"/>
          </p:cNvSpPr>
          <p:nvPr/>
        </p:nvSpPr>
        <p:spPr bwMode="auto">
          <a:xfrm>
            <a:off x="1603375" y="5397500"/>
            <a:ext cx="101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rgbClr val="FF3300"/>
                </a:solidFill>
              </a:rPr>
              <a:t>合理</a:t>
            </a:r>
            <a:endParaRPr lang="zh-CN" altLang="en-US" sz="2800" b="1">
              <a:solidFill>
                <a:srgbClr val="FF3300"/>
              </a:solidFill>
            </a:endParaRPr>
          </a:p>
        </p:txBody>
      </p:sp>
      <p:sp>
        <p:nvSpPr>
          <p:cNvPr id="37954" name="Text Box 66"/>
          <p:cNvSpPr txBox="1">
            <a:spLocks noChangeArrowheads="1"/>
          </p:cNvSpPr>
          <p:nvPr/>
        </p:nvSpPr>
        <p:spPr bwMode="auto">
          <a:xfrm>
            <a:off x="5641975" y="5340350"/>
            <a:ext cx="1349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chemeClr val="accent2"/>
                </a:solidFill>
              </a:rPr>
              <a:t>不合理</a:t>
            </a:r>
            <a:endParaRPr lang="zh-CN" altLang="en-US" sz="2800" b="1">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box(out)">
                                      <p:cBhvr>
                                        <p:cTn id="7" dur="500"/>
                                        <p:tgtEl>
                                          <p:spTgt spid="3789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7892"/>
                                        </p:tgtEl>
                                        <p:attrNameLst>
                                          <p:attrName>style.visibility</p:attrName>
                                        </p:attrNameLst>
                                      </p:cBhvr>
                                      <p:to>
                                        <p:strVal val="visible"/>
                                      </p:to>
                                    </p:set>
                                    <p:animEffect transition="in" filter="box(out)">
                                      <p:cBhvr>
                                        <p:cTn id="12" dur="500"/>
                                        <p:tgtEl>
                                          <p:spTgt spid="378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37893"/>
                                        </p:tgtEl>
                                        <p:attrNameLst>
                                          <p:attrName>style.visibility</p:attrName>
                                        </p:attrNameLst>
                                      </p:cBhvr>
                                      <p:to>
                                        <p:strVal val="visible"/>
                                      </p:to>
                                    </p:set>
                                    <p:animEffect transition="in" filter="blinds(vertical)">
                                      <p:cBhvr>
                                        <p:cTn id="17" dur="500"/>
                                        <p:tgtEl>
                                          <p:spTgt spid="3789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7953"/>
                                        </p:tgtEl>
                                        <p:attrNameLst>
                                          <p:attrName>style.visibility</p:attrName>
                                        </p:attrNameLst>
                                      </p:cBhvr>
                                      <p:to>
                                        <p:strVal val="visible"/>
                                      </p:to>
                                    </p:set>
                                    <p:animEffect transition="in" filter="box(in)">
                                      <p:cBhvr>
                                        <p:cTn id="22" dur="500"/>
                                        <p:tgtEl>
                                          <p:spTgt spid="3795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924"/>
                                        </p:tgtEl>
                                        <p:attrNameLst>
                                          <p:attrName>style.visibility</p:attrName>
                                        </p:attrNameLst>
                                      </p:cBhvr>
                                      <p:to>
                                        <p:strVal val="visible"/>
                                      </p:to>
                                    </p:set>
                                    <p:animEffect transition="in" filter="blinds(horizontal)">
                                      <p:cBhvr>
                                        <p:cTn id="27" dur="500"/>
                                        <p:tgtEl>
                                          <p:spTgt spid="3792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7954"/>
                                        </p:tgtEl>
                                        <p:attrNameLst>
                                          <p:attrName>style.visibility</p:attrName>
                                        </p:attrNameLst>
                                      </p:cBhvr>
                                      <p:to>
                                        <p:strVal val="visible"/>
                                      </p:to>
                                    </p:set>
                                    <p:animEffect transition="in" filter="box(in)">
                                      <p:cBhvr>
                                        <p:cTn id="32" dur="500"/>
                                        <p:tgtEl>
                                          <p:spTgt spid="37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p:bldP spid="37892" grpId="0" autoUpdateAnimBg="0"/>
      <p:bldP spid="37953" grpId="0" autoUpdateAnimBg="0"/>
      <p:bldP spid="37954"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6" name="Text Box 4"/>
          <p:cNvSpPr txBox="1">
            <a:spLocks noGrp="1" noChangeArrowheads="1"/>
          </p:cNvSpPr>
          <p:nvPr>
            <p:ph type="ctrTitle"/>
          </p:nvPr>
        </p:nvSpPr>
        <p:spPr>
          <a:xfrm>
            <a:off x="1292225" y="134938"/>
            <a:ext cx="6548438" cy="608012"/>
          </a:xfrm>
          <a:gradFill rotWithShape="0">
            <a:gsLst>
              <a:gs pos="0">
                <a:srgbClr val="FF3300"/>
              </a:gs>
              <a:gs pos="50000">
                <a:srgbClr val="FFFF99"/>
              </a:gs>
              <a:gs pos="100000">
                <a:srgbClr val="FF3300"/>
              </a:gs>
            </a:gsLst>
            <a:lin ang="5400000" scaled="1"/>
          </a:gradFill>
          <a:ln w="57150">
            <a:pattFill prst="smCheck">
              <a:fgClr>
                <a:srgbClr val="FF3300"/>
              </a:fgClr>
              <a:bgClr>
                <a:srgbClr val="FFFF00"/>
              </a:bgClr>
            </a:patt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eaLnBrk="0" hangingPunct="0"/>
            <a:r>
              <a:rPr lang="zh-CN" altLang="en-US" sz="3600" b="1" dirty="0">
                <a:solidFill>
                  <a:schemeClr val="tx1"/>
                </a:solidFill>
                <a:latin typeface="黑体" panose="02010609060101010101" pitchFamily="49" charset="-122"/>
                <a:ea typeface="黑体" panose="02010609060101010101" pitchFamily="49" charset="-122"/>
              </a:rPr>
              <a:t>画零件图的方法与步骤</a:t>
            </a:r>
            <a:endParaRPr lang="zh-CN" altLang="en-US" sz="3600" b="1" dirty="0">
              <a:solidFill>
                <a:schemeClr val="tx1"/>
              </a:solidFill>
              <a:latin typeface="黑体" panose="02010609060101010101" pitchFamily="49" charset="-122"/>
              <a:ea typeface="黑体" panose="02010609060101010101" pitchFamily="49" charset="-122"/>
            </a:endParaRPr>
          </a:p>
        </p:txBody>
      </p:sp>
      <p:sp>
        <p:nvSpPr>
          <p:cNvPr id="74757" name="Text Box 5"/>
          <p:cNvSpPr txBox="1">
            <a:spLocks noChangeArrowheads="1"/>
          </p:cNvSpPr>
          <p:nvPr/>
        </p:nvSpPr>
        <p:spPr bwMode="auto">
          <a:xfrm>
            <a:off x="920750" y="3836988"/>
            <a:ext cx="5153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latin typeface="宋体" panose="02010600030101010101" pitchFamily="2" charset="-122"/>
              </a:rPr>
              <a:t>    </a:t>
            </a:r>
            <a:r>
              <a:rPr lang="zh-CN" altLang="en-US" sz="3200" b="1">
                <a:latin typeface="宋体" panose="02010600030101010101" pitchFamily="2" charset="-122"/>
              </a:rPr>
              <a:t>例如画端盖的零件图：</a:t>
            </a:r>
            <a:endParaRPr lang="zh-CN" altLang="en-US" sz="3200" b="1">
              <a:latin typeface="宋体" panose="02010600030101010101" pitchFamily="2" charset="-122"/>
            </a:endParaRPr>
          </a:p>
        </p:txBody>
      </p:sp>
      <p:sp>
        <p:nvSpPr>
          <p:cNvPr id="74758" name="Text Box 6"/>
          <p:cNvSpPr txBox="1">
            <a:spLocks noChangeArrowheads="1"/>
          </p:cNvSpPr>
          <p:nvPr/>
        </p:nvSpPr>
        <p:spPr bwMode="auto">
          <a:xfrm>
            <a:off x="395288" y="809625"/>
            <a:ext cx="3041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hangingPunct="0"/>
            <a:r>
              <a:rPr lang="en-US" altLang="zh-CN" sz="3200" b="1">
                <a:solidFill>
                  <a:schemeClr val="accent2"/>
                </a:solidFill>
                <a:latin typeface="宋体" panose="02010600030101010101" pitchFamily="2" charset="-122"/>
              </a:rPr>
              <a:t>1.</a:t>
            </a:r>
            <a:r>
              <a:rPr lang="zh-CN" altLang="en-US" sz="3200" b="1">
                <a:solidFill>
                  <a:schemeClr val="accent2"/>
                </a:solidFill>
                <a:latin typeface="宋体" panose="02010600030101010101" pitchFamily="2" charset="-122"/>
              </a:rPr>
              <a:t>画图前的准备</a:t>
            </a:r>
            <a:endParaRPr lang="zh-CN" altLang="en-US" sz="3200" b="1">
              <a:solidFill>
                <a:schemeClr val="accent2"/>
              </a:solidFill>
              <a:latin typeface="宋体" panose="02010600030101010101" pitchFamily="2" charset="-122"/>
            </a:endParaRPr>
          </a:p>
        </p:txBody>
      </p:sp>
      <p:sp>
        <p:nvSpPr>
          <p:cNvPr id="74759" name="Text Box 7"/>
          <p:cNvSpPr txBox="1">
            <a:spLocks noChangeArrowheads="1"/>
          </p:cNvSpPr>
          <p:nvPr/>
        </p:nvSpPr>
        <p:spPr bwMode="auto">
          <a:xfrm>
            <a:off x="804863" y="1355725"/>
            <a:ext cx="80327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a:t>
            </a:r>
            <a:r>
              <a:rPr lang="en-US" altLang="zh-CN" sz="3200" b="1">
                <a:latin typeface="宋体" panose="02010600030101010101" pitchFamily="2" charset="-122"/>
              </a:rPr>
              <a:t>1</a:t>
            </a:r>
            <a:r>
              <a:rPr lang="zh-CN" altLang="en-US" sz="3200" b="1">
                <a:latin typeface="宋体" panose="02010600030101010101" pitchFamily="2" charset="-122"/>
              </a:rPr>
              <a:t>）了解零件的用途、结构特点、材料及相应的加工方法。</a:t>
            </a:r>
            <a:endParaRPr lang="zh-CN" altLang="en-US" sz="3200" b="1">
              <a:latin typeface="宋体" panose="02010600030101010101" pitchFamily="2" charset="-122"/>
            </a:endParaRPr>
          </a:p>
        </p:txBody>
      </p:sp>
      <p:sp>
        <p:nvSpPr>
          <p:cNvPr id="74760" name="Text Box 8"/>
          <p:cNvSpPr txBox="1">
            <a:spLocks noChangeArrowheads="1"/>
          </p:cNvSpPr>
          <p:nvPr/>
        </p:nvSpPr>
        <p:spPr bwMode="auto">
          <a:xfrm>
            <a:off x="647700" y="2370138"/>
            <a:ext cx="793591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latin typeface="宋体" panose="02010600030101010101" pitchFamily="2" charset="-122"/>
              </a:rPr>
              <a:t> </a:t>
            </a:r>
            <a:r>
              <a:rPr lang="zh-CN" altLang="en-US" sz="3200" b="1">
                <a:latin typeface="宋体" panose="02010600030101010101" pitchFamily="2" charset="-122"/>
              </a:rPr>
              <a:t>（</a:t>
            </a:r>
            <a:r>
              <a:rPr lang="en-US" altLang="zh-CN" sz="3200" b="1">
                <a:latin typeface="宋体" panose="02010600030101010101" pitchFamily="2" charset="-122"/>
              </a:rPr>
              <a:t>2</a:t>
            </a:r>
            <a:r>
              <a:rPr lang="zh-CN" altLang="en-US" sz="3200" b="1">
                <a:latin typeface="宋体" panose="02010600030101010101" pitchFamily="2" charset="-122"/>
              </a:rPr>
              <a:t>）分析零件的结构形状，确定零件的视图表达方案。</a:t>
            </a:r>
            <a:endParaRPr lang="zh-CN" altLang="en-US" sz="3200" b="1">
              <a:latin typeface="宋体" panose="02010600030101010101" pitchFamily="2" charset="-122"/>
            </a:endParaRPr>
          </a:p>
        </p:txBody>
      </p:sp>
      <p:sp>
        <p:nvSpPr>
          <p:cNvPr id="74761" name="Text Box 9"/>
          <p:cNvSpPr txBox="1">
            <a:spLocks noChangeArrowheads="1"/>
          </p:cNvSpPr>
          <p:nvPr/>
        </p:nvSpPr>
        <p:spPr bwMode="auto">
          <a:xfrm>
            <a:off x="496888" y="3284538"/>
            <a:ext cx="34496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hangingPunct="0"/>
            <a:r>
              <a:rPr lang="en-US" altLang="zh-CN" sz="3200" b="1">
                <a:solidFill>
                  <a:schemeClr val="accent2"/>
                </a:solidFill>
                <a:latin typeface="宋体" panose="02010600030101010101" pitchFamily="2" charset="-122"/>
              </a:rPr>
              <a:t>2.</a:t>
            </a:r>
            <a:r>
              <a:rPr lang="zh-CN" altLang="en-US" sz="3200" b="1">
                <a:solidFill>
                  <a:schemeClr val="accent2"/>
                </a:solidFill>
                <a:latin typeface="宋体" panose="02010600030101010101" pitchFamily="2" charset="-122"/>
              </a:rPr>
              <a:t>画图方法和步骤</a:t>
            </a:r>
            <a:endParaRPr lang="zh-CN" altLang="en-US" sz="3200" b="1">
              <a:solidFill>
                <a:schemeClr val="accent2"/>
              </a:solidFill>
              <a:latin typeface="宋体" panose="02010600030101010101" pitchFamily="2" charset="-122"/>
            </a:endParaRPr>
          </a:p>
        </p:txBody>
      </p:sp>
      <p:sp>
        <p:nvSpPr>
          <p:cNvPr id="74762" name="Text Box 10"/>
          <p:cNvSpPr txBox="1">
            <a:spLocks noChangeArrowheads="1"/>
          </p:cNvSpPr>
          <p:nvPr/>
        </p:nvSpPr>
        <p:spPr bwMode="auto">
          <a:xfrm>
            <a:off x="760413" y="4348163"/>
            <a:ext cx="20208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en-US" altLang="zh-CN" sz="3200" b="1">
                <a:solidFill>
                  <a:srgbClr val="FF3300"/>
                </a:solidFill>
                <a:latin typeface="宋体" panose="02010600030101010101" pitchFamily="2" charset="-122"/>
              </a:rPr>
              <a:t>1</a:t>
            </a:r>
            <a:r>
              <a:rPr lang="zh-CN" altLang="en-US" sz="3200" b="1">
                <a:solidFill>
                  <a:srgbClr val="FF3300"/>
                </a:solidFill>
                <a:latin typeface="宋体" panose="02010600030101010101" pitchFamily="2" charset="-122"/>
              </a:rPr>
              <a:t>）定图幅</a:t>
            </a:r>
            <a:endParaRPr lang="zh-CN" altLang="en-US" sz="3200" b="1">
              <a:solidFill>
                <a:srgbClr val="FF3300"/>
              </a:solidFill>
              <a:latin typeface="宋体" panose="02010600030101010101" pitchFamily="2" charset="-122"/>
            </a:endParaRPr>
          </a:p>
        </p:txBody>
      </p:sp>
      <p:sp>
        <p:nvSpPr>
          <p:cNvPr id="74763" name="Text Box 11"/>
          <p:cNvSpPr txBox="1">
            <a:spLocks noChangeArrowheads="1"/>
          </p:cNvSpPr>
          <p:nvPr/>
        </p:nvSpPr>
        <p:spPr bwMode="auto">
          <a:xfrm>
            <a:off x="1285875" y="4867275"/>
            <a:ext cx="494665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latin typeface="宋体" panose="02010600030101010101" pitchFamily="2" charset="-122"/>
              </a:rPr>
              <a:t>    </a:t>
            </a:r>
            <a:r>
              <a:rPr lang="zh-CN" altLang="en-US" sz="3200" b="1">
                <a:latin typeface="宋体" panose="02010600030101010101" pitchFamily="2" charset="-122"/>
              </a:rPr>
              <a:t>根据视图数量和大小</a:t>
            </a:r>
            <a:r>
              <a:rPr lang="en-US" altLang="zh-CN" sz="3200" b="1">
                <a:latin typeface="宋体" panose="02010600030101010101" pitchFamily="2" charset="-122"/>
              </a:rPr>
              <a:t>,</a:t>
            </a:r>
            <a:r>
              <a:rPr lang="zh-CN" altLang="en-US" sz="3200" b="1">
                <a:latin typeface="宋体" panose="02010600030101010101" pitchFamily="2" charset="-122"/>
              </a:rPr>
              <a:t>选择适当的绘图比例，确定图幅大小。</a:t>
            </a:r>
            <a:endParaRPr lang="zh-CN" altLang="en-US" sz="3200" b="1">
              <a:latin typeface="宋体" panose="02010600030101010101" pitchFamily="2" charset="-122"/>
            </a:endParaRPr>
          </a:p>
        </p:txBody>
      </p:sp>
      <p:pic>
        <p:nvPicPr>
          <p:cNvPr id="74764" name="Picture 12"/>
          <p:cNvPicPr>
            <a:picLocks noChangeAspect="1" noChangeArrowheads="1"/>
          </p:cNvPicPr>
          <p:nvPr/>
        </p:nvPicPr>
        <p:blipFill>
          <a:blip r:embed="rId1">
            <a:extLst>
              <a:ext uri="{28A0092B-C50C-407E-A947-70E740481C1C}">
                <a14:useLocalDpi xmlns:a14="http://schemas.microsoft.com/office/drawing/2010/main" val="0"/>
              </a:ext>
            </a:extLst>
          </a:blip>
          <a:srcRect l="28481" t="12384" r="26854" b="15662"/>
          <a:stretch>
            <a:fillRect/>
          </a:stretch>
        </p:blipFill>
        <p:spPr bwMode="auto">
          <a:xfrm>
            <a:off x="6053138" y="3387725"/>
            <a:ext cx="2009775" cy="2409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8"/>
                                        </p:tgtEl>
                                        <p:attrNameLst>
                                          <p:attrName>style.visibility</p:attrName>
                                        </p:attrNameLst>
                                      </p:cBhvr>
                                      <p:to>
                                        <p:strVal val="visible"/>
                                      </p:to>
                                    </p:set>
                                    <p:animEffect transition="in" filter="wipe(left)">
                                      <p:cBhvr>
                                        <p:cTn id="7" dur="500"/>
                                        <p:tgtEl>
                                          <p:spTgt spid="7475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74759"/>
                                        </p:tgtEl>
                                        <p:attrNameLst>
                                          <p:attrName>style.visibility</p:attrName>
                                        </p:attrNameLst>
                                      </p:cBhvr>
                                      <p:to>
                                        <p:strVal val="visible"/>
                                      </p:to>
                                    </p:set>
                                    <p:animEffect transition="in" filter="slide(fromRight)">
                                      <p:cBhvr>
                                        <p:cTn id="12" dur="500"/>
                                        <p:tgtEl>
                                          <p:spTgt spid="7475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74760"/>
                                        </p:tgtEl>
                                        <p:attrNameLst>
                                          <p:attrName>style.visibility</p:attrName>
                                        </p:attrNameLst>
                                      </p:cBhvr>
                                      <p:to>
                                        <p:strVal val="visible"/>
                                      </p:to>
                                    </p:set>
                                    <p:animEffect transition="in" filter="slide(fromLeft)">
                                      <p:cBhvr>
                                        <p:cTn id="17" dur="500"/>
                                        <p:tgtEl>
                                          <p:spTgt spid="7476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74761"/>
                                        </p:tgtEl>
                                        <p:attrNameLst>
                                          <p:attrName>style.visibility</p:attrName>
                                        </p:attrNameLst>
                                      </p:cBhvr>
                                      <p:to>
                                        <p:strVal val="visible"/>
                                      </p:to>
                                    </p:set>
                                    <p:animEffect transition="in" filter="slide(fromTop)">
                                      <p:cBhvr>
                                        <p:cTn id="22" dur="500"/>
                                        <p:tgtEl>
                                          <p:spTgt spid="7476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4757"/>
                                        </p:tgtEl>
                                        <p:attrNameLst>
                                          <p:attrName>style.visibility</p:attrName>
                                        </p:attrNameLst>
                                      </p:cBhvr>
                                      <p:to>
                                        <p:strVal val="visible"/>
                                      </p:to>
                                    </p:set>
                                    <p:animEffect transition="in" filter="box(out)">
                                      <p:cBhvr>
                                        <p:cTn id="27" dur="500"/>
                                        <p:tgtEl>
                                          <p:spTgt spid="7475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6" fill="hold" nodeType="clickEffect">
                                  <p:stCondLst>
                                    <p:cond delay="0"/>
                                  </p:stCondLst>
                                  <p:childTnLst>
                                    <p:set>
                                      <p:cBhvr>
                                        <p:cTn id="31" dur="1" fill="hold">
                                          <p:stCondLst>
                                            <p:cond delay="0"/>
                                          </p:stCondLst>
                                        </p:cTn>
                                        <p:tgtEl>
                                          <p:spTgt spid="74764"/>
                                        </p:tgtEl>
                                        <p:attrNameLst>
                                          <p:attrName>style.visibility</p:attrName>
                                        </p:attrNameLst>
                                      </p:cBhvr>
                                      <p:to>
                                        <p:strVal val="visible"/>
                                      </p:to>
                                    </p:set>
                                    <p:anim calcmode="lin" valueType="num">
                                      <p:cBhvr additive="base">
                                        <p:cTn id="32" dur="500" fill="hold"/>
                                        <p:tgtEl>
                                          <p:spTgt spid="74764"/>
                                        </p:tgtEl>
                                        <p:attrNameLst>
                                          <p:attrName>ppt_x</p:attrName>
                                        </p:attrNameLst>
                                      </p:cBhvr>
                                      <p:tavLst>
                                        <p:tav tm="0">
                                          <p:val>
                                            <p:strVal val="1+#ppt_w/2"/>
                                          </p:val>
                                        </p:tav>
                                        <p:tav tm="100000">
                                          <p:val>
                                            <p:strVal val="#ppt_x"/>
                                          </p:val>
                                        </p:tav>
                                      </p:tavLst>
                                    </p:anim>
                                    <p:anim calcmode="lin" valueType="num">
                                      <p:cBhvr additive="base">
                                        <p:cTn id="33" dur="500" fill="hold"/>
                                        <p:tgtEl>
                                          <p:spTgt spid="7476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74762"/>
                                        </p:tgtEl>
                                        <p:attrNameLst>
                                          <p:attrName>style.visibility</p:attrName>
                                        </p:attrNameLst>
                                      </p:cBhvr>
                                      <p:to>
                                        <p:strVal val="visible"/>
                                      </p:to>
                                    </p:set>
                                    <p:animEffect transition="in" filter="box(in)">
                                      <p:cBhvr>
                                        <p:cTn id="38" dur="500"/>
                                        <p:tgtEl>
                                          <p:spTgt spid="74762"/>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74763"/>
                                        </p:tgtEl>
                                        <p:attrNameLst>
                                          <p:attrName>style.visibility</p:attrName>
                                        </p:attrNameLst>
                                      </p:cBhvr>
                                      <p:to>
                                        <p:strVal val="visible"/>
                                      </p:to>
                                    </p:set>
                                    <p:animEffect transition="in" filter="strips(upRight)">
                                      <p:cBhvr>
                                        <p:cTn id="43" dur="500"/>
                                        <p:tgtEl>
                                          <p:spTgt spid="74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autoUpdateAnimBg="0"/>
      <p:bldP spid="74758" grpId="0" autoUpdateAnimBg="0"/>
      <p:bldP spid="74759" grpId="0" autoUpdateAnimBg="0"/>
      <p:bldP spid="74760" grpId="0" autoUpdateAnimBg="0"/>
      <p:bldP spid="74761" grpId="0" autoUpdateAnimBg="0"/>
      <p:bldP spid="74762" grpId="0" autoUpdateAnimBg="0"/>
      <p:bldP spid="7476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217488" y="1000125"/>
            <a:ext cx="2616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FF3300"/>
                </a:solidFill>
                <a:latin typeface="宋体" panose="02010600030101010101" pitchFamily="2" charset="-122"/>
              </a:rPr>
              <a:t>3</a:t>
            </a:r>
            <a:r>
              <a:rPr lang="zh-CN" altLang="en-US" sz="3200" b="1">
                <a:solidFill>
                  <a:srgbClr val="FF3300"/>
                </a:solidFill>
                <a:latin typeface="宋体" panose="02010600030101010101" pitchFamily="2" charset="-122"/>
              </a:rPr>
              <a:t>）布置视图</a:t>
            </a:r>
            <a:endParaRPr lang="zh-CN" altLang="en-US" sz="3200" b="1">
              <a:solidFill>
                <a:srgbClr val="FF3300"/>
              </a:solidFill>
              <a:latin typeface="宋体" panose="02010600030101010101" pitchFamily="2" charset="-122"/>
            </a:endParaRPr>
          </a:p>
        </p:txBody>
      </p:sp>
      <p:sp>
        <p:nvSpPr>
          <p:cNvPr id="39939" name="Text Box 3"/>
          <p:cNvSpPr txBox="1">
            <a:spLocks noChangeArrowheads="1"/>
          </p:cNvSpPr>
          <p:nvPr/>
        </p:nvSpPr>
        <p:spPr bwMode="auto">
          <a:xfrm>
            <a:off x="592138" y="1776413"/>
            <a:ext cx="3065462"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latin typeface="宋体" panose="02010600030101010101" pitchFamily="2" charset="-122"/>
              </a:rPr>
              <a:t>    </a:t>
            </a:r>
            <a:r>
              <a:rPr lang="zh-CN" altLang="en-US" sz="3200" b="1">
                <a:latin typeface="宋体" panose="02010600030101010101" pitchFamily="2" charset="-122"/>
              </a:rPr>
              <a:t>根据各视图的轮廓尺寸，画出确定各视图位置的基线。</a:t>
            </a:r>
            <a:endParaRPr lang="zh-CN" altLang="en-US" sz="3200" b="1">
              <a:latin typeface="宋体" panose="02010600030101010101" pitchFamily="2" charset="-122"/>
            </a:endParaRPr>
          </a:p>
        </p:txBody>
      </p:sp>
      <p:sp>
        <p:nvSpPr>
          <p:cNvPr id="39940" name="Text Box 4"/>
          <p:cNvSpPr txBox="1">
            <a:spLocks noChangeArrowheads="1"/>
          </p:cNvSpPr>
          <p:nvPr/>
        </p:nvSpPr>
        <p:spPr bwMode="auto">
          <a:xfrm>
            <a:off x="217488" y="260350"/>
            <a:ext cx="50847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0" hangingPunct="0"/>
            <a:r>
              <a:rPr lang="en-US" altLang="zh-CN" sz="3200" b="1">
                <a:solidFill>
                  <a:srgbClr val="FF3300"/>
                </a:solidFill>
                <a:latin typeface="宋体" panose="02010600030101010101" pitchFamily="2" charset="-122"/>
              </a:rPr>
              <a:t>2</a:t>
            </a:r>
            <a:r>
              <a:rPr lang="zh-CN" altLang="en-US" sz="3200" b="1">
                <a:solidFill>
                  <a:srgbClr val="FF3300"/>
                </a:solidFill>
                <a:latin typeface="宋体" panose="02010600030101010101" pitchFamily="2" charset="-122"/>
              </a:rPr>
              <a:t>）画出图框和标题栏     </a:t>
            </a:r>
            <a:endParaRPr lang="zh-CN" altLang="en-US" sz="3200" b="1">
              <a:solidFill>
                <a:srgbClr val="FF3300"/>
              </a:solidFill>
              <a:latin typeface="宋体" panose="02010600030101010101" pitchFamily="2" charset="-122"/>
            </a:endParaRPr>
          </a:p>
        </p:txBody>
      </p:sp>
      <p:sp>
        <p:nvSpPr>
          <p:cNvPr id="39941" name="Text Box 5"/>
          <p:cNvSpPr txBox="1">
            <a:spLocks noChangeArrowheads="1"/>
          </p:cNvSpPr>
          <p:nvPr/>
        </p:nvSpPr>
        <p:spPr bwMode="auto">
          <a:xfrm>
            <a:off x="1198563" y="4029075"/>
            <a:ext cx="34988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latin typeface="宋体" panose="02010600030101010101" pitchFamily="2" charset="-122"/>
              </a:rPr>
              <a:t>画图基线包括</a:t>
            </a:r>
            <a:r>
              <a:rPr lang="en-US" altLang="zh-CN" sz="3200" b="1">
                <a:latin typeface="宋体" panose="02010600030101010101" pitchFamily="2" charset="-122"/>
              </a:rPr>
              <a:t>:</a:t>
            </a:r>
            <a:endParaRPr lang="en-US" altLang="zh-CN" sz="3200" b="1">
              <a:latin typeface="宋体" panose="02010600030101010101" pitchFamily="2" charset="-122"/>
            </a:endParaRPr>
          </a:p>
        </p:txBody>
      </p:sp>
      <p:sp>
        <p:nvSpPr>
          <p:cNvPr id="39942" name="Line 6"/>
          <p:cNvSpPr>
            <a:spLocks noChangeShapeType="1"/>
          </p:cNvSpPr>
          <p:nvPr/>
        </p:nvSpPr>
        <p:spPr bwMode="auto">
          <a:xfrm>
            <a:off x="6197600" y="2224088"/>
            <a:ext cx="1882775"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3" name="Line 7"/>
          <p:cNvSpPr>
            <a:spLocks noChangeShapeType="1"/>
          </p:cNvSpPr>
          <p:nvPr/>
        </p:nvSpPr>
        <p:spPr bwMode="auto">
          <a:xfrm>
            <a:off x="4878388" y="2235200"/>
            <a:ext cx="895350"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4" name="Line 8"/>
          <p:cNvSpPr>
            <a:spLocks noChangeShapeType="1"/>
          </p:cNvSpPr>
          <p:nvPr/>
        </p:nvSpPr>
        <p:spPr bwMode="auto">
          <a:xfrm>
            <a:off x="7318375" y="1354138"/>
            <a:ext cx="0" cy="1774825"/>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5" name="Line 9"/>
          <p:cNvSpPr>
            <a:spLocks noChangeShapeType="1"/>
          </p:cNvSpPr>
          <p:nvPr/>
        </p:nvSpPr>
        <p:spPr bwMode="auto">
          <a:xfrm>
            <a:off x="5510213" y="1354138"/>
            <a:ext cx="0" cy="177958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6" name="Rectangle 10"/>
          <p:cNvSpPr>
            <a:spLocks noChangeArrowheads="1"/>
          </p:cNvSpPr>
          <p:nvPr/>
        </p:nvSpPr>
        <p:spPr bwMode="auto">
          <a:xfrm>
            <a:off x="3921125" y="796925"/>
            <a:ext cx="4686300" cy="3173413"/>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947" name="Rectangle 11"/>
          <p:cNvSpPr>
            <a:spLocks noChangeArrowheads="1"/>
          </p:cNvSpPr>
          <p:nvPr/>
        </p:nvSpPr>
        <p:spPr bwMode="auto">
          <a:xfrm>
            <a:off x="4264025" y="892175"/>
            <a:ext cx="4248150" cy="2984500"/>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948" name="Line 12"/>
          <p:cNvSpPr>
            <a:spLocks noChangeShapeType="1"/>
          </p:cNvSpPr>
          <p:nvPr/>
        </p:nvSpPr>
        <p:spPr bwMode="auto">
          <a:xfrm>
            <a:off x="6892925" y="3590925"/>
            <a:ext cx="0" cy="2857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949" name="Line 13"/>
          <p:cNvSpPr>
            <a:spLocks noChangeShapeType="1"/>
          </p:cNvSpPr>
          <p:nvPr/>
        </p:nvSpPr>
        <p:spPr bwMode="auto">
          <a:xfrm>
            <a:off x="6892925" y="3590925"/>
            <a:ext cx="16383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950" name="Text Box 14"/>
          <p:cNvSpPr txBox="1">
            <a:spLocks noChangeArrowheads="1"/>
          </p:cNvSpPr>
          <p:nvPr/>
        </p:nvSpPr>
        <p:spPr bwMode="auto">
          <a:xfrm>
            <a:off x="7091363" y="3543300"/>
            <a:ext cx="1204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sz="2000" b="1"/>
              <a:t>标  题  栏</a:t>
            </a:r>
            <a:endParaRPr lang="zh-CN" altLang="en-US" b="1"/>
          </a:p>
        </p:txBody>
      </p:sp>
      <p:grpSp>
        <p:nvGrpSpPr>
          <p:cNvPr id="39951" name="Group 15"/>
          <p:cNvGrpSpPr/>
          <p:nvPr/>
        </p:nvGrpSpPr>
        <p:grpSpPr bwMode="auto">
          <a:xfrm>
            <a:off x="4264025" y="2968625"/>
            <a:ext cx="1122363" cy="590550"/>
            <a:chOff x="2686" y="1870"/>
            <a:chExt cx="707" cy="372"/>
          </a:xfrm>
        </p:grpSpPr>
        <p:sp>
          <p:nvSpPr>
            <p:cNvPr id="39952" name="Line 16"/>
            <p:cNvSpPr>
              <a:spLocks noChangeShapeType="1"/>
            </p:cNvSpPr>
            <p:nvPr/>
          </p:nvSpPr>
          <p:spPr bwMode="auto">
            <a:xfrm>
              <a:off x="2686" y="1870"/>
              <a:ext cx="216" cy="21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953" name="Text Box 17"/>
            <p:cNvSpPr txBox="1">
              <a:spLocks noChangeArrowheads="1"/>
            </p:cNvSpPr>
            <p:nvPr/>
          </p:nvSpPr>
          <p:spPr bwMode="auto">
            <a:xfrm>
              <a:off x="2891" y="1954"/>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t>图框</a:t>
              </a:r>
              <a:endParaRPr lang="zh-CN" altLang="en-US" b="1"/>
            </a:p>
          </p:txBody>
        </p:sp>
      </p:grpSp>
      <p:grpSp>
        <p:nvGrpSpPr>
          <p:cNvPr id="39954" name="Group 18"/>
          <p:cNvGrpSpPr/>
          <p:nvPr/>
        </p:nvGrpSpPr>
        <p:grpSpPr bwMode="auto">
          <a:xfrm>
            <a:off x="3946525" y="1044575"/>
            <a:ext cx="1350963" cy="838200"/>
            <a:chOff x="2470" y="658"/>
            <a:chExt cx="851" cy="528"/>
          </a:xfrm>
        </p:grpSpPr>
        <p:sp>
          <p:nvSpPr>
            <p:cNvPr id="39955" name="Line 19"/>
            <p:cNvSpPr>
              <a:spLocks noChangeShapeType="1"/>
            </p:cNvSpPr>
            <p:nvPr/>
          </p:nvSpPr>
          <p:spPr bwMode="auto">
            <a:xfrm flipV="1">
              <a:off x="2470" y="838"/>
              <a:ext cx="348" cy="34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956" name="Text Box 20"/>
            <p:cNvSpPr txBox="1">
              <a:spLocks noChangeArrowheads="1"/>
            </p:cNvSpPr>
            <p:nvPr/>
          </p:nvSpPr>
          <p:spPr bwMode="auto">
            <a:xfrm>
              <a:off x="2819" y="658"/>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t>图幅</a:t>
              </a:r>
              <a:endParaRPr lang="zh-CN" altLang="en-US" b="1"/>
            </a:p>
          </p:txBody>
        </p:sp>
      </p:grpSp>
      <p:sp>
        <p:nvSpPr>
          <p:cNvPr id="39957" name="Text Box 21"/>
          <p:cNvSpPr txBox="1">
            <a:spLocks noChangeArrowheads="1"/>
          </p:cNvSpPr>
          <p:nvPr/>
        </p:nvSpPr>
        <p:spPr bwMode="auto">
          <a:xfrm>
            <a:off x="1200150" y="4546600"/>
            <a:ext cx="6838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solidFill>
                  <a:schemeClr val="accent2"/>
                </a:solidFill>
                <a:latin typeface="宋体" panose="02010600030101010101" pitchFamily="2" charset="-122"/>
              </a:rPr>
              <a:t>对称线、轴线、某一基面的投影线。</a:t>
            </a:r>
            <a:endParaRPr lang="zh-CN" altLang="en-US" sz="3200" b="1">
              <a:solidFill>
                <a:schemeClr val="accent2"/>
              </a:solidFill>
              <a:latin typeface="宋体" panose="02010600030101010101" pitchFamily="2" charset="-122"/>
            </a:endParaRPr>
          </a:p>
        </p:txBody>
      </p:sp>
      <p:sp>
        <p:nvSpPr>
          <p:cNvPr id="39958" name="Text Box 22"/>
          <p:cNvSpPr txBox="1">
            <a:spLocks noChangeArrowheads="1"/>
          </p:cNvSpPr>
          <p:nvPr/>
        </p:nvSpPr>
        <p:spPr bwMode="auto">
          <a:xfrm>
            <a:off x="390525" y="5267325"/>
            <a:ext cx="8054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3200" b="1">
                <a:solidFill>
                  <a:srgbClr val="FF3300"/>
                </a:solidFill>
                <a:latin typeface="宋体" panose="02010600030101010101" pitchFamily="2" charset="-122"/>
              </a:rPr>
              <a:t>注意：</a:t>
            </a:r>
            <a:r>
              <a:rPr lang="zh-CN" altLang="en-US" sz="3200" b="1">
                <a:latin typeface="宋体" panose="02010600030101010101" pitchFamily="2" charset="-122"/>
              </a:rPr>
              <a:t>各视图之间要留出标注尺寸的位置。</a:t>
            </a:r>
            <a:endParaRPr lang="zh-CN" altLang="en-US" sz="3200" b="1">
              <a:latin typeface="宋体" panose="02010600030101010101" pitchFamily="2" charset="-122"/>
            </a:endParaRPr>
          </a:p>
        </p:txBody>
      </p:sp>
      <p:sp>
        <p:nvSpPr>
          <p:cNvPr id="39959" name="Text Box 23"/>
          <p:cNvSpPr txBox="1">
            <a:spLocks noChangeArrowheads="1"/>
          </p:cNvSpPr>
          <p:nvPr/>
        </p:nvSpPr>
        <p:spPr bwMode="auto">
          <a:xfrm>
            <a:off x="4408488" y="303213"/>
            <a:ext cx="3071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rgbClr val="3333CC"/>
                </a:solidFill>
              </a:rPr>
              <a:t>如</a:t>
            </a:r>
            <a:r>
              <a:rPr lang="en-US" altLang="zh-CN" b="1">
                <a:solidFill>
                  <a:srgbClr val="3333CC"/>
                </a:solidFill>
              </a:rPr>
              <a:t>A4</a:t>
            </a:r>
            <a:r>
              <a:rPr lang="zh-CN" altLang="en-US" b="1">
                <a:solidFill>
                  <a:srgbClr val="3333CC"/>
                </a:solidFill>
              </a:rPr>
              <a:t>图幅： </a:t>
            </a:r>
            <a:r>
              <a:rPr lang="en-US" altLang="zh-CN" b="1">
                <a:solidFill>
                  <a:srgbClr val="3333CC"/>
                </a:solidFill>
              </a:rPr>
              <a:t>297×210</a:t>
            </a:r>
            <a:endParaRPr lang="en-US" altLang="zh-CN" b="1">
              <a:solidFill>
                <a:srgbClr val="3333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954"/>
                                        </p:tgtEl>
                                        <p:attrNameLst>
                                          <p:attrName>style.visibility</p:attrName>
                                        </p:attrNameLst>
                                      </p:cBhvr>
                                      <p:to>
                                        <p:strVal val="visible"/>
                                      </p:to>
                                    </p:set>
                                    <p:animEffect transition="in" filter="wipe(left)">
                                      <p:cBhvr>
                                        <p:cTn id="7" dur="500"/>
                                        <p:tgtEl>
                                          <p:spTgt spid="3995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9959"/>
                                        </p:tgtEl>
                                        <p:attrNameLst>
                                          <p:attrName>style.visibility</p:attrName>
                                        </p:attrNameLst>
                                      </p:cBhvr>
                                      <p:to>
                                        <p:strVal val="visible"/>
                                      </p:to>
                                    </p:set>
                                    <p:anim calcmode="lin" valueType="num">
                                      <p:cBhvr additive="base">
                                        <p:cTn id="12" dur="500" fill="hold"/>
                                        <p:tgtEl>
                                          <p:spTgt spid="39959"/>
                                        </p:tgtEl>
                                        <p:attrNameLst>
                                          <p:attrName>ppt_x</p:attrName>
                                        </p:attrNameLst>
                                      </p:cBhvr>
                                      <p:tavLst>
                                        <p:tav tm="0">
                                          <p:val>
                                            <p:strVal val="1+#ppt_w/2"/>
                                          </p:val>
                                        </p:tav>
                                        <p:tav tm="100000">
                                          <p:val>
                                            <p:strVal val="#ppt_x"/>
                                          </p:val>
                                        </p:tav>
                                      </p:tavLst>
                                    </p:anim>
                                    <p:anim calcmode="lin" valueType="num">
                                      <p:cBhvr additive="base">
                                        <p:cTn id="13" dur="500" fill="hold"/>
                                        <p:tgtEl>
                                          <p:spTgt spid="3995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39940"/>
                                        </p:tgtEl>
                                        <p:attrNameLst>
                                          <p:attrName>style.visibility</p:attrName>
                                        </p:attrNameLst>
                                      </p:cBhvr>
                                      <p:to>
                                        <p:strVal val="visible"/>
                                      </p:to>
                                    </p:set>
                                    <p:animEffect transition="in" filter="slide(fromTop)">
                                      <p:cBhvr>
                                        <p:cTn id="18" dur="500"/>
                                        <p:tgtEl>
                                          <p:spTgt spid="39940"/>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39947"/>
                                        </p:tgtEl>
                                        <p:attrNameLst>
                                          <p:attrName>style.visibility</p:attrName>
                                        </p:attrNameLst>
                                      </p:cBhvr>
                                      <p:to>
                                        <p:strVal val="visible"/>
                                      </p:to>
                                    </p:set>
                                    <p:animEffect transition="in" filter="strips(downRight)">
                                      <p:cBhvr>
                                        <p:cTn id="23" dur="500"/>
                                        <p:tgtEl>
                                          <p:spTgt spid="3994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9951"/>
                                        </p:tgtEl>
                                        <p:attrNameLst>
                                          <p:attrName>style.visibility</p:attrName>
                                        </p:attrNameLst>
                                      </p:cBhvr>
                                      <p:to>
                                        <p:strVal val="visible"/>
                                      </p:to>
                                    </p:set>
                                    <p:animEffect transition="in" filter="wipe(left)">
                                      <p:cBhvr>
                                        <p:cTn id="28" dur="500"/>
                                        <p:tgtEl>
                                          <p:spTgt spid="39951"/>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nodeType="clickEffect">
                                  <p:stCondLst>
                                    <p:cond delay="0"/>
                                  </p:stCondLst>
                                  <p:childTnLst>
                                    <p:set>
                                      <p:cBhvr>
                                        <p:cTn id="32" dur="1" fill="hold">
                                          <p:stCondLst>
                                            <p:cond delay="0"/>
                                          </p:stCondLst>
                                        </p:cTn>
                                        <p:tgtEl>
                                          <p:spTgt spid="39948"/>
                                        </p:tgtEl>
                                        <p:attrNameLst>
                                          <p:attrName>style.visibility</p:attrName>
                                        </p:attrNameLst>
                                      </p:cBhvr>
                                      <p:to>
                                        <p:strVal val="visible"/>
                                      </p:to>
                                    </p:set>
                                    <p:animEffect transition="in" filter="slide(fromBottom)">
                                      <p:cBhvr>
                                        <p:cTn id="33" dur="500"/>
                                        <p:tgtEl>
                                          <p:spTgt spid="39948"/>
                                        </p:tgtEl>
                                      </p:cBhvr>
                                    </p:animEffect>
                                  </p:childTnLst>
                                </p:cTn>
                              </p:par>
                            </p:childTnLst>
                          </p:cTn>
                        </p:par>
                        <p:par>
                          <p:cTn id="34" fill="hold">
                            <p:stCondLst>
                              <p:cond delay="500"/>
                            </p:stCondLst>
                            <p:childTnLst>
                              <p:par>
                                <p:cTn id="35" presetID="12" presetClass="entr" presetSubtype="8" fill="hold" nodeType="afterEffect">
                                  <p:stCondLst>
                                    <p:cond delay="0"/>
                                  </p:stCondLst>
                                  <p:childTnLst>
                                    <p:set>
                                      <p:cBhvr>
                                        <p:cTn id="36" dur="1" fill="hold">
                                          <p:stCondLst>
                                            <p:cond delay="0"/>
                                          </p:stCondLst>
                                        </p:cTn>
                                        <p:tgtEl>
                                          <p:spTgt spid="39949"/>
                                        </p:tgtEl>
                                        <p:attrNameLst>
                                          <p:attrName>style.visibility</p:attrName>
                                        </p:attrNameLst>
                                      </p:cBhvr>
                                      <p:to>
                                        <p:strVal val="visible"/>
                                      </p:to>
                                    </p:set>
                                    <p:animEffect transition="in" filter="slide(fromLeft)">
                                      <p:cBhvr>
                                        <p:cTn id="37" dur="500"/>
                                        <p:tgtEl>
                                          <p:spTgt spid="39949"/>
                                        </p:tgtEl>
                                      </p:cBhvr>
                                    </p:animEffect>
                                  </p:childTnLst>
                                </p:cTn>
                              </p:par>
                            </p:childTnLst>
                          </p:cTn>
                        </p:par>
                        <p:par>
                          <p:cTn id="38" fill="hold">
                            <p:stCondLst>
                              <p:cond delay="1000"/>
                            </p:stCondLst>
                            <p:childTnLst>
                              <p:par>
                                <p:cTn id="39" presetID="12" presetClass="entr" presetSubtype="2" fill="hold" grpId="0" nodeType="afterEffect">
                                  <p:stCondLst>
                                    <p:cond delay="0"/>
                                  </p:stCondLst>
                                  <p:childTnLst>
                                    <p:set>
                                      <p:cBhvr>
                                        <p:cTn id="40" dur="1" fill="hold">
                                          <p:stCondLst>
                                            <p:cond delay="0"/>
                                          </p:stCondLst>
                                        </p:cTn>
                                        <p:tgtEl>
                                          <p:spTgt spid="39950"/>
                                        </p:tgtEl>
                                        <p:attrNameLst>
                                          <p:attrName>style.visibility</p:attrName>
                                        </p:attrNameLst>
                                      </p:cBhvr>
                                      <p:to>
                                        <p:strVal val="visible"/>
                                      </p:to>
                                    </p:set>
                                    <p:animEffect transition="in" filter="slide(fromRight)">
                                      <p:cBhvr>
                                        <p:cTn id="41" dur="500"/>
                                        <p:tgtEl>
                                          <p:spTgt spid="39950"/>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39938"/>
                                        </p:tgtEl>
                                        <p:attrNameLst>
                                          <p:attrName>style.visibility</p:attrName>
                                        </p:attrNameLst>
                                      </p:cBhvr>
                                      <p:to>
                                        <p:strVal val="visible"/>
                                      </p:to>
                                    </p:set>
                                    <p:animEffect transition="in" filter="slide(fromLeft)">
                                      <p:cBhvr>
                                        <p:cTn id="46" dur="500"/>
                                        <p:tgtEl>
                                          <p:spTgt spid="39938"/>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6" fill="hold" grpId="0" nodeType="clickEffect">
                                  <p:stCondLst>
                                    <p:cond delay="0"/>
                                  </p:stCondLst>
                                  <p:childTnLst>
                                    <p:set>
                                      <p:cBhvr>
                                        <p:cTn id="50" dur="1" fill="hold">
                                          <p:stCondLst>
                                            <p:cond delay="0"/>
                                          </p:stCondLst>
                                        </p:cTn>
                                        <p:tgtEl>
                                          <p:spTgt spid="39939"/>
                                        </p:tgtEl>
                                        <p:attrNameLst>
                                          <p:attrName>style.visibility</p:attrName>
                                        </p:attrNameLst>
                                      </p:cBhvr>
                                      <p:to>
                                        <p:strVal val="visible"/>
                                      </p:to>
                                    </p:set>
                                    <p:animEffect transition="in" filter="strips(downRight)">
                                      <p:cBhvr>
                                        <p:cTn id="51" dur="500"/>
                                        <p:tgtEl>
                                          <p:spTgt spid="39939"/>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39941"/>
                                        </p:tgtEl>
                                        <p:attrNameLst>
                                          <p:attrName>style.visibility</p:attrName>
                                        </p:attrNameLst>
                                      </p:cBhvr>
                                      <p:to>
                                        <p:strVal val="visible"/>
                                      </p:to>
                                    </p:set>
                                    <p:animEffect transition="in" filter="box(out)">
                                      <p:cBhvr>
                                        <p:cTn id="56" dur="500"/>
                                        <p:tgtEl>
                                          <p:spTgt spid="39941"/>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9957"/>
                                        </p:tgtEl>
                                        <p:attrNameLst>
                                          <p:attrName>style.visibility</p:attrName>
                                        </p:attrNameLst>
                                      </p:cBhvr>
                                      <p:to>
                                        <p:strVal val="visible"/>
                                      </p:to>
                                    </p:set>
                                    <p:animEffect transition="in" filter="blinds(horizontal)">
                                      <p:cBhvr>
                                        <p:cTn id="61" dur="500"/>
                                        <p:tgtEl>
                                          <p:spTgt spid="3995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9943"/>
                                        </p:tgtEl>
                                        <p:attrNameLst>
                                          <p:attrName>style.visibility</p:attrName>
                                        </p:attrNameLst>
                                      </p:cBhvr>
                                      <p:to>
                                        <p:strVal val="visible"/>
                                      </p:to>
                                    </p:set>
                                    <p:animEffect transition="in" filter="wipe(left)">
                                      <p:cBhvr>
                                        <p:cTn id="66" dur="500"/>
                                        <p:tgtEl>
                                          <p:spTgt spid="39943"/>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39942"/>
                                        </p:tgtEl>
                                        <p:attrNameLst>
                                          <p:attrName>style.visibility</p:attrName>
                                        </p:attrNameLst>
                                      </p:cBhvr>
                                      <p:to>
                                        <p:strVal val="visible"/>
                                      </p:to>
                                    </p:set>
                                    <p:animEffect transition="in" filter="wipe(left)">
                                      <p:cBhvr>
                                        <p:cTn id="70" dur="500"/>
                                        <p:tgtEl>
                                          <p:spTgt spid="39942"/>
                                        </p:tgtEl>
                                      </p:cBhvr>
                                    </p:animEffect>
                                  </p:childTnLst>
                                </p:cTn>
                              </p:par>
                            </p:childTnLst>
                          </p:cTn>
                        </p:par>
                        <p:par>
                          <p:cTn id="71" fill="hold">
                            <p:stCondLst>
                              <p:cond delay="1000"/>
                            </p:stCondLst>
                            <p:childTnLst>
                              <p:par>
                                <p:cTn id="72" presetID="22" presetClass="entr" presetSubtype="4" fill="hold" nodeType="afterEffect">
                                  <p:stCondLst>
                                    <p:cond delay="0"/>
                                  </p:stCondLst>
                                  <p:childTnLst>
                                    <p:set>
                                      <p:cBhvr>
                                        <p:cTn id="73" dur="1" fill="hold">
                                          <p:stCondLst>
                                            <p:cond delay="0"/>
                                          </p:stCondLst>
                                        </p:cTn>
                                        <p:tgtEl>
                                          <p:spTgt spid="39945"/>
                                        </p:tgtEl>
                                        <p:attrNameLst>
                                          <p:attrName>style.visibility</p:attrName>
                                        </p:attrNameLst>
                                      </p:cBhvr>
                                      <p:to>
                                        <p:strVal val="visible"/>
                                      </p:to>
                                    </p:set>
                                    <p:animEffect transition="in" filter="wipe(down)">
                                      <p:cBhvr>
                                        <p:cTn id="74" dur="500"/>
                                        <p:tgtEl>
                                          <p:spTgt spid="39945"/>
                                        </p:tgtEl>
                                      </p:cBhvr>
                                    </p:animEffect>
                                  </p:childTnLst>
                                </p:cTn>
                              </p:par>
                            </p:childTnLst>
                          </p:cTn>
                        </p:par>
                        <p:par>
                          <p:cTn id="75" fill="hold">
                            <p:stCondLst>
                              <p:cond delay="1500"/>
                            </p:stCondLst>
                            <p:childTnLst>
                              <p:par>
                                <p:cTn id="76" presetID="22" presetClass="entr" presetSubtype="4" fill="hold" nodeType="afterEffect">
                                  <p:stCondLst>
                                    <p:cond delay="0"/>
                                  </p:stCondLst>
                                  <p:childTnLst>
                                    <p:set>
                                      <p:cBhvr>
                                        <p:cTn id="77" dur="1" fill="hold">
                                          <p:stCondLst>
                                            <p:cond delay="0"/>
                                          </p:stCondLst>
                                        </p:cTn>
                                        <p:tgtEl>
                                          <p:spTgt spid="39944"/>
                                        </p:tgtEl>
                                        <p:attrNameLst>
                                          <p:attrName>style.visibility</p:attrName>
                                        </p:attrNameLst>
                                      </p:cBhvr>
                                      <p:to>
                                        <p:strVal val="visible"/>
                                      </p:to>
                                    </p:set>
                                    <p:animEffect transition="in" filter="wipe(down)">
                                      <p:cBhvr>
                                        <p:cTn id="78" dur="500"/>
                                        <p:tgtEl>
                                          <p:spTgt spid="39944"/>
                                        </p:tgtEl>
                                      </p:cBhvr>
                                    </p:animEffect>
                                  </p:childTnLst>
                                </p:cTn>
                              </p:par>
                            </p:childTnLst>
                          </p:cTn>
                        </p:par>
                      </p:childTnLst>
                    </p:cTn>
                  </p:par>
                  <p:par>
                    <p:cTn id="79" fill="hold">
                      <p:stCondLst>
                        <p:cond delay="indefinite"/>
                      </p:stCondLst>
                      <p:childTnLst>
                        <p:par>
                          <p:cTn id="80" fill="hold">
                            <p:stCondLst>
                              <p:cond delay="0"/>
                            </p:stCondLst>
                            <p:childTnLst>
                              <p:par>
                                <p:cTn id="81" presetID="12" presetClass="entr" presetSubtype="4" fill="hold" grpId="0" nodeType="clickEffect">
                                  <p:stCondLst>
                                    <p:cond delay="0"/>
                                  </p:stCondLst>
                                  <p:childTnLst>
                                    <p:set>
                                      <p:cBhvr>
                                        <p:cTn id="82" dur="1" fill="hold">
                                          <p:stCondLst>
                                            <p:cond delay="0"/>
                                          </p:stCondLst>
                                        </p:cTn>
                                        <p:tgtEl>
                                          <p:spTgt spid="39958"/>
                                        </p:tgtEl>
                                        <p:attrNameLst>
                                          <p:attrName>style.visibility</p:attrName>
                                        </p:attrNameLst>
                                      </p:cBhvr>
                                      <p:to>
                                        <p:strVal val="visible"/>
                                      </p:to>
                                    </p:set>
                                    <p:animEffect transition="in" filter="slide(fromBottom)">
                                      <p:cBhvr>
                                        <p:cTn id="83" dur="500"/>
                                        <p:tgtEl>
                                          <p:spTgt spid="39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P spid="39939" grpId="0" autoUpdateAnimBg="0"/>
      <p:bldP spid="39940" grpId="0" autoUpdateAnimBg="0"/>
      <p:bldP spid="39941" grpId="0" autoUpdateAnimBg="0"/>
      <p:bldP spid="39950" grpId="0" autoUpdateAnimBg="0"/>
      <p:bldP spid="39957" grpId="0" autoUpdateAnimBg="0"/>
      <p:bldP spid="39958" grpId="0" autoUpdateAnimBg="0"/>
      <p:bldP spid="39959"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042" name="Group 82"/>
          <p:cNvGrpSpPr/>
          <p:nvPr/>
        </p:nvGrpSpPr>
        <p:grpSpPr bwMode="auto">
          <a:xfrm>
            <a:off x="3494088" y="1644650"/>
            <a:ext cx="276225" cy="2020888"/>
            <a:chOff x="2201" y="1036"/>
            <a:chExt cx="174" cy="1273"/>
          </a:xfrm>
        </p:grpSpPr>
        <p:sp>
          <p:nvSpPr>
            <p:cNvPr id="40962" name="Freeform 2"/>
            <p:cNvSpPr/>
            <p:nvPr/>
          </p:nvSpPr>
          <p:spPr bwMode="auto">
            <a:xfrm>
              <a:off x="2201" y="1036"/>
              <a:ext cx="174" cy="1"/>
            </a:xfrm>
            <a:custGeom>
              <a:avLst/>
              <a:gdLst>
                <a:gd name="T0" fmla="*/ 174 w 174"/>
                <a:gd name="T1" fmla="*/ 0 h 1"/>
                <a:gd name="T2" fmla="*/ 0 w 174"/>
                <a:gd name="T3" fmla="*/ 0 h 1"/>
              </a:gdLst>
              <a:ahLst/>
              <a:cxnLst>
                <a:cxn ang="0">
                  <a:pos x="T0" y="T1"/>
                </a:cxn>
                <a:cxn ang="0">
                  <a:pos x="T2" y="T3"/>
                </a:cxn>
              </a:cxnLst>
              <a:rect l="0" t="0" r="r" b="b"/>
              <a:pathLst>
                <a:path w="174" h="1">
                  <a:moveTo>
                    <a:pt x="174" y="0"/>
                  </a:moveTo>
                  <a:lnTo>
                    <a:pt x="0"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963" name="Line 3"/>
            <p:cNvSpPr>
              <a:spLocks noChangeShapeType="1"/>
            </p:cNvSpPr>
            <p:nvPr/>
          </p:nvSpPr>
          <p:spPr bwMode="auto">
            <a:xfrm flipH="1">
              <a:off x="2209" y="2309"/>
              <a:ext cx="16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0964" name="Line 4"/>
          <p:cNvSpPr>
            <a:spLocks noChangeShapeType="1"/>
          </p:cNvSpPr>
          <p:nvPr/>
        </p:nvSpPr>
        <p:spPr bwMode="auto">
          <a:xfrm>
            <a:off x="3157538" y="2027238"/>
            <a:ext cx="0" cy="12906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1044" name="Group 84"/>
          <p:cNvGrpSpPr/>
          <p:nvPr/>
        </p:nvGrpSpPr>
        <p:grpSpPr bwMode="auto">
          <a:xfrm>
            <a:off x="3157538" y="2038350"/>
            <a:ext cx="347662" cy="1270000"/>
            <a:chOff x="1989" y="1284"/>
            <a:chExt cx="219" cy="800"/>
          </a:xfrm>
        </p:grpSpPr>
        <p:sp>
          <p:nvSpPr>
            <p:cNvPr id="40965" name="Line 5"/>
            <p:cNvSpPr>
              <a:spLocks noChangeShapeType="1"/>
            </p:cNvSpPr>
            <p:nvPr/>
          </p:nvSpPr>
          <p:spPr bwMode="auto">
            <a:xfrm>
              <a:off x="1992" y="1284"/>
              <a:ext cx="21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8" name="Freeform 8"/>
            <p:cNvSpPr/>
            <p:nvPr/>
          </p:nvSpPr>
          <p:spPr bwMode="auto">
            <a:xfrm>
              <a:off x="1989" y="2083"/>
              <a:ext cx="211" cy="1"/>
            </a:xfrm>
            <a:custGeom>
              <a:avLst/>
              <a:gdLst>
                <a:gd name="T0" fmla="*/ 211 w 211"/>
                <a:gd name="T1" fmla="*/ 1 h 1"/>
                <a:gd name="T2" fmla="*/ 0 w 211"/>
                <a:gd name="T3" fmla="*/ 0 h 1"/>
              </a:gdLst>
              <a:ahLst/>
              <a:cxnLst>
                <a:cxn ang="0">
                  <a:pos x="T0" y="T1"/>
                </a:cxn>
                <a:cxn ang="0">
                  <a:pos x="T2" y="T3"/>
                </a:cxn>
              </a:cxnLst>
              <a:rect l="0" t="0" r="r" b="b"/>
              <a:pathLst>
                <a:path w="211" h="1">
                  <a:moveTo>
                    <a:pt x="211" y="1"/>
                  </a:moveTo>
                  <a:lnTo>
                    <a:pt x="0"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41043" name="Group 83"/>
          <p:cNvGrpSpPr/>
          <p:nvPr/>
        </p:nvGrpSpPr>
        <p:grpSpPr bwMode="auto">
          <a:xfrm>
            <a:off x="3498850" y="1643063"/>
            <a:ext cx="0" cy="2035175"/>
            <a:chOff x="2204" y="1035"/>
            <a:chExt cx="0" cy="1282"/>
          </a:xfrm>
        </p:grpSpPr>
        <p:sp>
          <p:nvSpPr>
            <p:cNvPr id="40966" name="Line 6"/>
            <p:cNvSpPr>
              <a:spLocks noChangeShapeType="1"/>
            </p:cNvSpPr>
            <p:nvPr/>
          </p:nvSpPr>
          <p:spPr bwMode="auto">
            <a:xfrm>
              <a:off x="2204" y="2080"/>
              <a:ext cx="0" cy="2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1" name="Line 11"/>
            <p:cNvSpPr>
              <a:spLocks noChangeShapeType="1"/>
            </p:cNvSpPr>
            <p:nvPr/>
          </p:nvSpPr>
          <p:spPr bwMode="auto">
            <a:xfrm>
              <a:off x="2204" y="1035"/>
              <a:ext cx="0" cy="25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0973" name="Oval 13"/>
          <p:cNvSpPr>
            <a:spLocks noChangeArrowheads="1"/>
          </p:cNvSpPr>
          <p:nvPr/>
        </p:nvSpPr>
        <p:spPr bwMode="auto">
          <a:xfrm>
            <a:off x="5183188" y="2120900"/>
            <a:ext cx="1117600" cy="110648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74" name="Oval 14"/>
          <p:cNvSpPr>
            <a:spLocks noChangeArrowheads="1"/>
          </p:cNvSpPr>
          <p:nvPr/>
        </p:nvSpPr>
        <p:spPr bwMode="auto">
          <a:xfrm>
            <a:off x="5097463" y="2033588"/>
            <a:ext cx="1282700" cy="1270000"/>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75" name="Oval 15"/>
          <p:cNvSpPr>
            <a:spLocks noChangeArrowheads="1"/>
          </p:cNvSpPr>
          <p:nvPr/>
        </p:nvSpPr>
        <p:spPr bwMode="auto">
          <a:xfrm>
            <a:off x="4714875" y="1649413"/>
            <a:ext cx="2035175" cy="202247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76" name="Oval 16"/>
          <p:cNvSpPr>
            <a:spLocks noChangeArrowheads="1"/>
          </p:cNvSpPr>
          <p:nvPr/>
        </p:nvSpPr>
        <p:spPr bwMode="auto">
          <a:xfrm>
            <a:off x="5624513" y="1736725"/>
            <a:ext cx="228600" cy="21907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77" name="Oval 17"/>
          <p:cNvSpPr>
            <a:spLocks noChangeArrowheads="1"/>
          </p:cNvSpPr>
          <p:nvPr/>
        </p:nvSpPr>
        <p:spPr bwMode="auto">
          <a:xfrm>
            <a:off x="5624513" y="3384550"/>
            <a:ext cx="228600" cy="207963"/>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78" name="Oval 18"/>
          <p:cNvSpPr>
            <a:spLocks noChangeArrowheads="1"/>
          </p:cNvSpPr>
          <p:nvPr/>
        </p:nvSpPr>
        <p:spPr bwMode="auto">
          <a:xfrm>
            <a:off x="4795838" y="2552700"/>
            <a:ext cx="228600" cy="21907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79" name="Oval 19"/>
          <p:cNvSpPr>
            <a:spLocks noChangeArrowheads="1"/>
          </p:cNvSpPr>
          <p:nvPr/>
        </p:nvSpPr>
        <p:spPr bwMode="auto">
          <a:xfrm>
            <a:off x="6437313" y="2546350"/>
            <a:ext cx="228600" cy="219075"/>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0" name="Oval 20"/>
          <p:cNvSpPr>
            <a:spLocks noChangeArrowheads="1"/>
          </p:cNvSpPr>
          <p:nvPr/>
        </p:nvSpPr>
        <p:spPr bwMode="auto">
          <a:xfrm>
            <a:off x="4910138" y="1839913"/>
            <a:ext cx="1641475" cy="1646237"/>
          </a:xfrm>
          <a:prstGeom prst="ellipse">
            <a:avLst/>
          </a:prstGeom>
          <a:noFill/>
          <a:ln w="19050">
            <a:solidFill>
              <a:schemeClr val="tx1"/>
            </a:solidFill>
            <a:prstDash val="lgDashDot"/>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1" name="Line 21"/>
          <p:cNvSpPr>
            <a:spLocks noChangeShapeType="1"/>
          </p:cNvSpPr>
          <p:nvPr/>
        </p:nvSpPr>
        <p:spPr bwMode="auto">
          <a:xfrm flipH="1">
            <a:off x="3360738" y="1841500"/>
            <a:ext cx="514350"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2" name="Line 22"/>
          <p:cNvSpPr>
            <a:spLocks noChangeShapeType="1"/>
          </p:cNvSpPr>
          <p:nvPr/>
        </p:nvSpPr>
        <p:spPr bwMode="auto">
          <a:xfrm flipH="1">
            <a:off x="3357563" y="3478213"/>
            <a:ext cx="512762"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3" name="Line 23"/>
          <p:cNvSpPr>
            <a:spLocks noChangeShapeType="1"/>
          </p:cNvSpPr>
          <p:nvPr/>
        </p:nvSpPr>
        <p:spPr bwMode="auto">
          <a:xfrm>
            <a:off x="3684588" y="2103438"/>
            <a:ext cx="0" cy="113030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4" name="Line 24"/>
          <p:cNvSpPr>
            <a:spLocks noChangeShapeType="1"/>
          </p:cNvSpPr>
          <p:nvPr/>
        </p:nvSpPr>
        <p:spPr bwMode="auto">
          <a:xfrm>
            <a:off x="3694113" y="2103438"/>
            <a:ext cx="6667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5" name="Line 25"/>
          <p:cNvSpPr>
            <a:spLocks noChangeShapeType="1"/>
          </p:cNvSpPr>
          <p:nvPr/>
        </p:nvSpPr>
        <p:spPr bwMode="auto">
          <a:xfrm>
            <a:off x="3684588" y="3233738"/>
            <a:ext cx="762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6" name="Line 26"/>
          <p:cNvSpPr>
            <a:spLocks noChangeShapeType="1"/>
          </p:cNvSpPr>
          <p:nvPr/>
        </p:nvSpPr>
        <p:spPr bwMode="auto">
          <a:xfrm>
            <a:off x="3503613" y="1731963"/>
            <a:ext cx="2667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7" name="Line 27"/>
          <p:cNvSpPr>
            <a:spLocks noChangeShapeType="1"/>
          </p:cNvSpPr>
          <p:nvPr/>
        </p:nvSpPr>
        <p:spPr bwMode="auto">
          <a:xfrm>
            <a:off x="3503613" y="1939925"/>
            <a:ext cx="2667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88" name="Text Box 28"/>
          <p:cNvSpPr txBox="1">
            <a:spLocks noChangeArrowheads="1"/>
          </p:cNvSpPr>
          <p:nvPr/>
        </p:nvSpPr>
        <p:spPr bwMode="auto">
          <a:xfrm>
            <a:off x="217488" y="0"/>
            <a:ext cx="25288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FF3300"/>
                </a:solidFill>
                <a:latin typeface="宋体" panose="02010600030101010101" pitchFamily="2" charset="-122"/>
              </a:rPr>
              <a:t>4</a:t>
            </a:r>
            <a:r>
              <a:rPr lang="zh-CN" altLang="en-US" sz="3200" b="1">
                <a:solidFill>
                  <a:srgbClr val="FF3300"/>
                </a:solidFill>
                <a:latin typeface="宋体" panose="02010600030101010101" pitchFamily="2" charset="-122"/>
              </a:rPr>
              <a:t>）画底稿   </a:t>
            </a:r>
            <a:endParaRPr lang="zh-CN" altLang="en-US" sz="3200" b="1">
              <a:solidFill>
                <a:srgbClr val="FF3300"/>
              </a:solidFill>
              <a:latin typeface="宋体" panose="02010600030101010101" pitchFamily="2" charset="-122"/>
            </a:endParaRPr>
          </a:p>
        </p:txBody>
      </p:sp>
      <p:sp>
        <p:nvSpPr>
          <p:cNvPr id="40989" name="Text Box 29"/>
          <p:cNvSpPr txBox="1">
            <a:spLocks noChangeArrowheads="1"/>
          </p:cNvSpPr>
          <p:nvPr/>
        </p:nvSpPr>
        <p:spPr bwMode="auto">
          <a:xfrm>
            <a:off x="1257300" y="4452938"/>
            <a:ext cx="6038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zh-CN" altLang="en-US" sz="2800" b="1">
                <a:latin typeface="宋体" panose="02010600030101010101" pitchFamily="2" charset="-122"/>
              </a:rPr>
              <a:t>先画主要形体</a:t>
            </a:r>
            <a:r>
              <a:rPr lang="en-US" altLang="zh-CN" sz="2800" b="1">
                <a:latin typeface="宋体" panose="02010600030101010101" pitchFamily="2" charset="-122"/>
              </a:rPr>
              <a:t>, </a:t>
            </a:r>
            <a:r>
              <a:rPr lang="zh-CN" altLang="en-US" sz="2800" b="1">
                <a:latin typeface="宋体" panose="02010600030101010101" pitchFamily="2" charset="-122"/>
              </a:rPr>
              <a:t>后画次要形体；</a:t>
            </a:r>
            <a:endParaRPr lang="zh-CN" altLang="en-US" sz="2800" b="1">
              <a:latin typeface="宋体" panose="02010600030101010101" pitchFamily="2" charset="-122"/>
            </a:endParaRPr>
          </a:p>
        </p:txBody>
      </p:sp>
      <p:sp>
        <p:nvSpPr>
          <p:cNvPr id="40990" name="Text Box 30"/>
          <p:cNvSpPr txBox="1">
            <a:spLocks noChangeArrowheads="1"/>
          </p:cNvSpPr>
          <p:nvPr/>
        </p:nvSpPr>
        <p:spPr bwMode="auto">
          <a:xfrm>
            <a:off x="1257300" y="4865688"/>
            <a:ext cx="38449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latin typeface="宋体" panose="02010600030101010101" pitchFamily="2" charset="-122"/>
              </a:rPr>
              <a:t>先定位置，后定形状；</a:t>
            </a:r>
            <a:endParaRPr lang="zh-CN" altLang="en-US" sz="2800" b="1">
              <a:latin typeface="宋体" panose="02010600030101010101" pitchFamily="2" charset="-122"/>
            </a:endParaRPr>
          </a:p>
        </p:txBody>
      </p:sp>
      <p:sp>
        <p:nvSpPr>
          <p:cNvPr id="40991" name="Text Box 31"/>
          <p:cNvSpPr txBox="1">
            <a:spLocks noChangeArrowheads="1"/>
          </p:cNvSpPr>
          <p:nvPr/>
        </p:nvSpPr>
        <p:spPr bwMode="auto">
          <a:xfrm>
            <a:off x="512763" y="3836988"/>
            <a:ext cx="14128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3200" b="1">
                <a:solidFill>
                  <a:schemeClr val="accent2"/>
                </a:solidFill>
                <a:latin typeface="宋体" panose="02010600030101010101" pitchFamily="2" charset="-122"/>
              </a:rPr>
              <a:t>步骤：</a:t>
            </a:r>
            <a:endParaRPr lang="zh-CN" altLang="en-US" sz="3200" b="1">
              <a:solidFill>
                <a:schemeClr val="accent2"/>
              </a:solidFill>
              <a:latin typeface="宋体" panose="02010600030101010101" pitchFamily="2" charset="-122"/>
            </a:endParaRPr>
          </a:p>
        </p:txBody>
      </p:sp>
      <p:sp>
        <p:nvSpPr>
          <p:cNvPr id="40992" name="Text Box 32"/>
          <p:cNvSpPr txBox="1">
            <a:spLocks noChangeArrowheads="1"/>
          </p:cNvSpPr>
          <p:nvPr/>
        </p:nvSpPr>
        <p:spPr bwMode="auto">
          <a:xfrm>
            <a:off x="1431925" y="588963"/>
            <a:ext cx="56816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latin typeface="宋体" panose="02010600030101010101" pitchFamily="2" charset="-122"/>
              </a:rPr>
              <a:t>按投影关系，逐个画出各个形体。</a:t>
            </a:r>
            <a:endParaRPr lang="zh-CN" altLang="en-US" sz="2800" b="1">
              <a:latin typeface="宋体" panose="02010600030101010101" pitchFamily="2" charset="-122"/>
            </a:endParaRPr>
          </a:p>
        </p:txBody>
      </p:sp>
      <p:sp>
        <p:nvSpPr>
          <p:cNvPr id="40993" name="Text Box 33"/>
          <p:cNvSpPr txBox="1">
            <a:spLocks noChangeArrowheads="1"/>
          </p:cNvSpPr>
          <p:nvPr/>
        </p:nvSpPr>
        <p:spPr bwMode="auto">
          <a:xfrm>
            <a:off x="1257300" y="5324475"/>
            <a:ext cx="454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0" hangingPunct="0"/>
            <a:r>
              <a:rPr lang="zh-CN" altLang="en-US" sz="2800" b="1">
                <a:latin typeface="宋体" panose="02010600030101010101" pitchFamily="2" charset="-122"/>
              </a:rPr>
              <a:t>先画主要轮廓，后画细节。</a:t>
            </a:r>
            <a:endParaRPr lang="zh-CN" altLang="en-US" sz="2800" b="1">
              <a:latin typeface="宋体" panose="02010600030101010101" pitchFamily="2" charset="-122"/>
            </a:endParaRPr>
          </a:p>
        </p:txBody>
      </p:sp>
      <p:sp>
        <p:nvSpPr>
          <p:cNvPr id="40994" name="Line 34"/>
          <p:cNvSpPr>
            <a:spLocks noChangeShapeType="1"/>
          </p:cNvSpPr>
          <p:nvPr/>
        </p:nvSpPr>
        <p:spPr bwMode="auto">
          <a:xfrm flipH="1">
            <a:off x="3503613" y="3387725"/>
            <a:ext cx="26511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95" name="Line 35"/>
          <p:cNvSpPr>
            <a:spLocks noChangeShapeType="1"/>
          </p:cNvSpPr>
          <p:nvPr/>
        </p:nvSpPr>
        <p:spPr bwMode="auto">
          <a:xfrm flipH="1">
            <a:off x="3492500" y="3579813"/>
            <a:ext cx="27622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98" name="Rectangle 38"/>
          <p:cNvSpPr>
            <a:spLocks noChangeArrowheads="1"/>
          </p:cNvSpPr>
          <p:nvPr/>
        </p:nvSpPr>
        <p:spPr bwMode="auto">
          <a:xfrm>
            <a:off x="2406650" y="1279525"/>
            <a:ext cx="4667250" cy="3009900"/>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999" name="Line 39"/>
          <p:cNvSpPr>
            <a:spLocks noChangeShapeType="1"/>
          </p:cNvSpPr>
          <p:nvPr/>
        </p:nvSpPr>
        <p:spPr bwMode="auto">
          <a:xfrm>
            <a:off x="5397500" y="3965575"/>
            <a:ext cx="0" cy="32385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1000" name="Line 40"/>
          <p:cNvSpPr>
            <a:spLocks noChangeShapeType="1"/>
          </p:cNvSpPr>
          <p:nvPr/>
        </p:nvSpPr>
        <p:spPr bwMode="auto">
          <a:xfrm>
            <a:off x="5397500" y="3965575"/>
            <a:ext cx="16764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1001" name="Line 41"/>
          <p:cNvSpPr>
            <a:spLocks noChangeShapeType="1"/>
          </p:cNvSpPr>
          <p:nvPr/>
        </p:nvSpPr>
        <p:spPr bwMode="auto">
          <a:xfrm>
            <a:off x="4511675" y="2670175"/>
            <a:ext cx="2432050"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2" name="Line 42"/>
          <p:cNvSpPr>
            <a:spLocks noChangeShapeType="1"/>
          </p:cNvSpPr>
          <p:nvPr/>
        </p:nvSpPr>
        <p:spPr bwMode="auto">
          <a:xfrm>
            <a:off x="3033713" y="2671763"/>
            <a:ext cx="939800"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3" name="Line 43"/>
          <p:cNvSpPr>
            <a:spLocks noChangeShapeType="1"/>
          </p:cNvSpPr>
          <p:nvPr/>
        </p:nvSpPr>
        <p:spPr bwMode="auto">
          <a:xfrm>
            <a:off x="5737225" y="1503363"/>
            <a:ext cx="0" cy="2271712"/>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4" name="Line 44"/>
          <p:cNvSpPr>
            <a:spLocks noChangeShapeType="1"/>
          </p:cNvSpPr>
          <p:nvPr/>
        </p:nvSpPr>
        <p:spPr bwMode="auto">
          <a:xfrm>
            <a:off x="3767138" y="1646238"/>
            <a:ext cx="0" cy="202565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5" name="Rectangle 45"/>
          <p:cNvSpPr>
            <a:spLocks noChangeArrowheads="1"/>
          </p:cNvSpPr>
          <p:nvPr/>
        </p:nvSpPr>
        <p:spPr bwMode="auto">
          <a:xfrm>
            <a:off x="2095500" y="1176338"/>
            <a:ext cx="5067300" cy="3200400"/>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1049" name="Oval 89"/>
          <p:cNvSpPr>
            <a:spLocks noChangeArrowheads="1"/>
          </p:cNvSpPr>
          <p:nvPr/>
        </p:nvSpPr>
        <p:spPr bwMode="auto">
          <a:xfrm>
            <a:off x="5241925" y="2171700"/>
            <a:ext cx="1003300" cy="1003300"/>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1051" name="Group 91"/>
          <p:cNvGrpSpPr/>
          <p:nvPr/>
        </p:nvGrpSpPr>
        <p:grpSpPr bwMode="auto">
          <a:xfrm>
            <a:off x="3149600" y="2122488"/>
            <a:ext cx="349250" cy="1103312"/>
            <a:chOff x="1984" y="1337"/>
            <a:chExt cx="220" cy="695"/>
          </a:xfrm>
        </p:grpSpPr>
        <p:sp>
          <p:nvSpPr>
            <p:cNvPr id="40967" name="Line 7"/>
            <p:cNvSpPr>
              <a:spLocks noChangeShapeType="1"/>
            </p:cNvSpPr>
            <p:nvPr/>
          </p:nvSpPr>
          <p:spPr bwMode="auto">
            <a:xfrm>
              <a:off x="2197" y="1373"/>
              <a:ext cx="0" cy="62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69" name="Freeform 9"/>
            <p:cNvSpPr/>
            <p:nvPr/>
          </p:nvSpPr>
          <p:spPr bwMode="auto">
            <a:xfrm>
              <a:off x="1989" y="1997"/>
              <a:ext cx="215" cy="35"/>
            </a:xfrm>
            <a:custGeom>
              <a:avLst/>
              <a:gdLst>
                <a:gd name="T0" fmla="*/ 0 w 211"/>
                <a:gd name="T1" fmla="*/ 65 h 65"/>
                <a:gd name="T2" fmla="*/ 211 w 211"/>
                <a:gd name="T3" fmla="*/ 0 h 65"/>
              </a:gdLst>
              <a:ahLst/>
              <a:cxnLst>
                <a:cxn ang="0">
                  <a:pos x="T0" y="T1"/>
                </a:cxn>
                <a:cxn ang="0">
                  <a:pos x="T2" y="T3"/>
                </a:cxn>
              </a:cxnLst>
              <a:rect l="0" t="0" r="r" b="b"/>
              <a:pathLst>
                <a:path w="211" h="65">
                  <a:moveTo>
                    <a:pt x="0" y="65"/>
                  </a:moveTo>
                  <a:lnTo>
                    <a:pt x="211"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050" name="Freeform 90"/>
            <p:cNvSpPr/>
            <p:nvPr/>
          </p:nvSpPr>
          <p:spPr bwMode="auto">
            <a:xfrm flipV="1">
              <a:off x="1984" y="1337"/>
              <a:ext cx="215" cy="35"/>
            </a:xfrm>
            <a:custGeom>
              <a:avLst/>
              <a:gdLst>
                <a:gd name="T0" fmla="*/ 0 w 211"/>
                <a:gd name="T1" fmla="*/ 65 h 65"/>
                <a:gd name="T2" fmla="*/ 211 w 211"/>
                <a:gd name="T3" fmla="*/ 0 h 65"/>
              </a:gdLst>
              <a:ahLst/>
              <a:cxnLst>
                <a:cxn ang="0">
                  <a:pos x="T0" y="T1"/>
                </a:cxn>
                <a:cxn ang="0">
                  <a:pos x="T2" y="T3"/>
                </a:cxn>
              </a:cxnLst>
              <a:rect l="0" t="0" r="r" b="b"/>
              <a:pathLst>
                <a:path w="211" h="65">
                  <a:moveTo>
                    <a:pt x="0" y="65"/>
                  </a:moveTo>
                  <a:lnTo>
                    <a:pt x="211"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0992"/>
                                        </p:tgtEl>
                                        <p:attrNameLst>
                                          <p:attrName>style.visibility</p:attrName>
                                        </p:attrNameLst>
                                      </p:cBhvr>
                                      <p:to>
                                        <p:strVal val="visible"/>
                                      </p:to>
                                    </p:set>
                                    <p:animEffect transition="in" filter="slide(fromTop)">
                                      <p:cBhvr>
                                        <p:cTn id="7" dur="500"/>
                                        <p:tgtEl>
                                          <p:spTgt spid="4099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0991"/>
                                        </p:tgtEl>
                                        <p:attrNameLst>
                                          <p:attrName>style.visibility</p:attrName>
                                        </p:attrNameLst>
                                      </p:cBhvr>
                                      <p:to>
                                        <p:strVal val="visible"/>
                                      </p:to>
                                    </p:set>
                                    <p:animEffect transition="in" filter="slide(fromLeft)">
                                      <p:cBhvr>
                                        <p:cTn id="12" dur="500"/>
                                        <p:tgtEl>
                                          <p:spTgt spid="4099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40989"/>
                                        </p:tgtEl>
                                        <p:attrNameLst>
                                          <p:attrName>style.visibility</p:attrName>
                                        </p:attrNameLst>
                                      </p:cBhvr>
                                      <p:to>
                                        <p:strVal val="visible"/>
                                      </p:to>
                                    </p:set>
                                    <p:animEffect transition="in" filter="strips(downLeft)">
                                      <p:cBhvr>
                                        <p:cTn id="17" dur="500"/>
                                        <p:tgtEl>
                                          <p:spTgt spid="409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0990"/>
                                        </p:tgtEl>
                                        <p:attrNameLst>
                                          <p:attrName>style.visibility</p:attrName>
                                        </p:attrNameLst>
                                      </p:cBhvr>
                                      <p:to>
                                        <p:strVal val="visible"/>
                                      </p:to>
                                    </p:set>
                                    <p:animEffect transition="in" filter="wipe(up)">
                                      <p:cBhvr>
                                        <p:cTn id="22" dur="500"/>
                                        <p:tgtEl>
                                          <p:spTgt spid="4099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0993"/>
                                        </p:tgtEl>
                                        <p:attrNameLst>
                                          <p:attrName>style.visibility</p:attrName>
                                        </p:attrNameLst>
                                      </p:cBhvr>
                                      <p:to>
                                        <p:strVal val="visible"/>
                                      </p:to>
                                    </p:set>
                                    <p:animEffect transition="in" filter="slide(fromBottom)">
                                      <p:cBhvr>
                                        <p:cTn id="27" dur="500"/>
                                        <p:tgtEl>
                                          <p:spTgt spid="4099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40975"/>
                                        </p:tgtEl>
                                        <p:attrNameLst>
                                          <p:attrName>style.visibility</p:attrName>
                                        </p:attrNameLst>
                                      </p:cBhvr>
                                      <p:to>
                                        <p:strVal val="visible"/>
                                      </p:to>
                                    </p:set>
                                    <p:animEffect transition="in" filter="barn(outVertical)">
                                      <p:cBhvr>
                                        <p:cTn id="32" dur="500"/>
                                        <p:tgtEl>
                                          <p:spTgt spid="40975"/>
                                        </p:tgtEl>
                                      </p:cBhvr>
                                    </p:animEffect>
                                  </p:childTnLst>
                                </p:cTn>
                              </p:par>
                            </p:childTnLst>
                          </p:cTn>
                        </p:par>
                        <p:par>
                          <p:cTn id="33" fill="hold">
                            <p:stCondLst>
                              <p:cond delay="500"/>
                            </p:stCondLst>
                            <p:childTnLst>
                              <p:par>
                                <p:cTn id="34" presetID="22" presetClass="entr" presetSubtype="2" fill="hold" nodeType="afterEffect">
                                  <p:stCondLst>
                                    <p:cond delay="0"/>
                                  </p:stCondLst>
                                  <p:childTnLst>
                                    <p:set>
                                      <p:cBhvr>
                                        <p:cTn id="35" dur="1" fill="hold">
                                          <p:stCondLst>
                                            <p:cond delay="0"/>
                                          </p:stCondLst>
                                        </p:cTn>
                                        <p:tgtEl>
                                          <p:spTgt spid="41042"/>
                                        </p:tgtEl>
                                        <p:attrNameLst>
                                          <p:attrName>style.visibility</p:attrName>
                                        </p:attrNameLst>
                                      </p:cBhvr>
                                      <p:to>
                                        <p:strVal val="visible"/>
                                      </p:to>
                                    </p:set>
                                    <p:animEffect transition="in" filter="wipe(right)">
                                      <p:cBhvr>
                                        <p:cTn id="36" dur="500"/>
                                        <p:tgtEl>
                                          <p:spTgt spid="41042"/>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41043"/>
                                        </p:tgtEl>
                                        <p:attrNameLst>
                                          <p:attrName>style.visibility</p:attrName>
                                        </p:attrNameLst>
                                      </p:cBhvr>
                                      <p:to>
                                        <p:strVal val="visible"/>
                                      </p:to>
                                    </p:set>
                                    <p:animEffect transition="in" filter="wipe(up)">
                                      <p:cBhvr>
                                        <p:cTn id="40" dur="500"/>
                                        <p:tgtEl>
                                          <p:spTgt spid="41043"/>
                                        </p:tgtEl>
                                      </p:cBhvr>
                                    </p:animEffect>
                                  </p:childTnLst>
                                </p:cTn>
                              </p:par>
                            </p:childTnLst>
                          </p:cTn>
                        </p:par>
                        <p:par>
                          <p:cTn id="41" fill="hold">
                            <p:stCondLst>
                              <p:cond delay="1500"/>
                            </p:stCondLst>
                            <p:childTnLst>
                              <p:par>
                                <p:cTn id="42" presetID="16" presetClass="entr" presetSubtype="42" fill="hold" nodeType="afterEffect">
                                  <p:stCondLst>
                                    <p:cond delay="0"/>
                                  </p:stCondLst>
                                  <p:childTnLst>
                                    <p:set>
                                      <p:cBhvr>
                                        <p:cTn id="43" dur="1" fill="hold">
                                          <p:stCondLst>
                                            <p:cond delay="0"/>
                                          </p:stCondLst>
                                        </p:cTn>
                                        <p:tgtEl>
                                          <p:spTgt spid="40974"/>
                                        </p:tgtEl>
                                        <p:attrNameLst>
                                          <p:attrName>style.visibility</p:attrName>
                                        </p:attrNameLst>
                                      </p:cBhvr>
                                      <p:to>
                                        <p:strVal val="visible"/>
                                      </p:to>
                                    </p:set>
                                    <p:animEffect transition="in" filter="barn(outHorizontal)">
                                      <p:cBhvr>
                                        <p:cTn id="44" dur="500"/>
                                        <p:tgtEl>
                                          <p:spTgt spid="40974"/>
                                        </p:tgtEl>
                                      </p:cBhvr>
                                    </p:animEffect>
                                  </p:childTnLst>
                                </p:cTn>
                              </p:par>
                            </p:childTnLst>
                          </p:cTn>
                        </p:par>
                        <p:par>
                          <p:cTn id="45" fill="hold">
                            <p:stCondLst>
                              <p:cond delay="2000"/>
                            </p:stCondLst>
                            <p:childTnLst>
                              <p:par>
                                <p:cTn id="46" presetID="22" presetClass="entr" presetSubtype="2" fill="hold" nodeType="afterEffect">
                                  <p:stCondLst>
                                    <p:cond delay="0"/>
                                  </p:stCondLst>
                                  <p:childTnLst>
                                    <p:set>
                                      <p:cBhvr>
                                        <p:cTn id="47" dur="1" fill="hold">
                                          <p:stCondLst>
                                            <p:cond delay="0"/>
                                          </p:stCondLst>
                                        </p:cTn>
                                        <p:tgtEl>
                                          <p:spTgt spid="41044"/>
                                        </p:tgtEl>
                                        <p:attrNameLst>
                                          <p:attrName>style.visibility</p:attrName>
                                        </p:attrNameLst>
                                      </p:cBhvr>
                                      <p:to>
                                        <p:strVal val="visible"/>
                                      </p:to>
                                    </p:set>
                                    <p:animEffect transition="in" filter="wipe(right)">
                                      <p:cBhvr>
                                        <p:cTn id="48" dur="500"/>
                                        <p:tgtEl>
                                          <p:spTgt spid="41044"/>
                                        </p:tgtEl>
                                      </p:cBhvr>
                                    </p:animEffect>
                                  </p:childTnLst>
                                </p:cTn>
                              </p:par>
                            </p:childTnLst>
                          </p:cTn>
                        </p:par>
                        <p:par>
                          <p:cTn id="49" fill="hold">
                            <p:stCondLst>
                              <p:cond delay="2500"/>
                            </p:stCondLst>
                            <p:childTnLst>
                              <p:par>
                                <p:cTn id="50" presetID="22" presetClass="entr" presetSubtype="4" fill="hold" nodeType="afterEffect">
                                  <p:stCondLst>
                                    <p:cond delay="0"/>
                                  </p:stCondLst>
                                  <p:childTnLst>
                                    <p:set>
                                      <p:cBhvr>
                                        <p:cTn id="51" dur="1" fill="hold">
                                          <p:stCondLst>
                                            <p:cond delay="0"/>
                                          </p:stCondLst>
                                        </p:cTn>
                                        <p:tgtEl>
                                          <p:spTgt spid="40964"/>
                                        </p:tgtEl>
                                        <p:attrNameLst>
                                          <p:attrName>style.visibility</p:attrName>
                                        </p:attrNameLst>
                                      </p:cBhvr>
                                      <p:to>
                                        <p:strVal val="visible"/>
                                      </p:to>
                                    </p:set>
                                    <p:animEffect transition="in" filter="wipe(down)">
                                      <p:cBhvr>
                                        <p:cTn id="52" dur="500"/>
                                        <p:tgtEl>
                                          <p:spTgt spid="4096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1051"/>
                                        </p:tgtEl>
                                        <p:attrNameLst>
                                          <p:attrName>style.visibility</p:attrName>
                                        </p:attrNameLst>
                                      </p:cBhvr>
                                      <p:to>
                                        <p:strVal val="visible"/>
                                      </p:to>
                                    </p:set>
                                    <p:animEffect transition="in" filter="wipe(left)">
                                      <p:cBhvr>
                                        <p:cTn id="57" dur="500"/>
                                        <p:tgtEl>
                                          <p:spTgt spid="41051"/>
                                        </p:tgtEl>
                                      </p:cBhvr>
                                    </p:animEffect>
                                  </p:childTnLst>
                                </p:cTn>
                              </p:par>
                            </p:childTnLst>
                          </p:cTn>
                        </p:par>
                        <p:par>
                          <p:cTn id="58" fill="hold">
                            <p:stCondLst>
                              <p:cond delay="500"/>
                            </p:stCondLst>
                            <p:childTnLst>
                              <p:par>
                                <p:cTn id="59" presetID="16" presetClass="entr" presetSubtype="26" fill="hold" nodeType="afterEffect">
                                  <p:stCondLst>
                                    <p:cond delay="0"/>
                                  </p:stCondLst>
                                  <p:childTnLst>
                                    <p:set>
                                      <p:cBhvr>
                                        <p:cTn id="60" dur="1" fill="hold">
                                          <p:stCondLst>
                                            <p:cond delay="0"/>
                                          </p:stCondLst>
                                        </p:cTn>
                                        <p:tgtEl>
                                          <p:spTgt spid="40973"/>
                                        </p:tgtEl>
                                        <p:attrNameLst>
                                          <p:attrName>style.visibility</p:attrName>
                                        </p:attrNameLst>
                                      </p:cBhvr>
                                      <p:to>
                                        <p:strVal val="visible"/>
                                      </p:to>
                                    </p:set>
                                    <p:animEffect transition="in" filter="barn(inHorizontal)">
                                      <p:cBhvr>
                                        <p:cTn id="61" dur="500"/>
                                        <p:tgtEl>
                                          <p:spTgt spid="40973"/>
                                        </p:tgtEl>
                                      </p:cBhvr>
                                    </p:animEffect>
                                  </p:childTnLst>
                                </p:cTn>
                              </p:par>
                            </p:childTnLst>
                          </p:cTn>
                        </p:par>
                        <p:par>
                          <p:cTn id="62" fill="hold">
                            <p:stCondLst>
                              <p:cond delay="1000"/>
                            </p:stCondLst>
                            <p:childTnLst>
                              <p:par>
                                <p:cTn id="63" presetID="16" presetClass="entr" presetSubtype="42" fill="hold" nodeType="afterEffect">
                                  <p:stCondLst>
                                    <p:cond delay="0"/>
                                  </p:stCondLst>
                                  <p:childTnLst>
                                    <p:set>
                                      <p:cBhvr>
                                        <p:cTn id="64" dur="1" fill="hold">
                                          <p:stCondLst>
                                            <p:cond delay="0"/>
                                          </p:stCondLst>
                                        </p:cTn>
                                        <p:tgtEl>
                                          <p:spTgt spid="41049"/>
                                        </p:tgtEl>
                                        <p:attrNameLst>
                                          <p:attrName>style.visibility</p:attrName>
                                        </p:attrNameLst>
                                      </p:cBhvr>
                                      <p:to>
                                        <p:strVal val="visible"/>
                                      </p:to>
                                    </p:set>
                                    <p:animEffect transition="in" filter="barn(outHorizontal)">
                                      <p:cBhvr>
                                        <p:cTn id="65" dur="500"/>
                                        <p:tgtEl>
                                          <p:spTgt spid="41049"/>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42" fill="hold" nodeType="clickEffect">
                                  <p:stCondLst>
                                    <p:cond delay="0"/>
                                  </p:stCondLst>
                                  <p:childTnLst>
                                    <p:set>
                                      <p:cBhvr>
                                        <p:cTn id="69" dur="1" fill="hold">
                                          <p:stCondLst>
                                            <p:cond delay="0"/>
                                          </p:stCondLst>
                                        </p:cTn>
                                        <p:tgtEl>
                                          <p:spTgt spid="40980"/>
                                        </p:tgtEl>
                                        <p:attrNameLst>
                                          <p:attrName>style.visibility</p:attrName>
                                        </p:attrNameLst>
                                      </p:cBhvr>
                                      <p:to>
                                        <p:strVal val="visible"/>
                                      </p:to>
                                    </p:set>
                                    <p:animEffect transition="in" filter="barn(outHorizontal)">
                                      <p:cBhvr>
                                        <p:cTn id="70" dur="500"/>
                                        <p:tgtEl>
                                          <p:spTgt spid="40980"/>
                                        </p:tgtEl>
                                      </p:cBhvr>
                                    </p:animEffect>
                                  </p:childTnLst>
                                </p:cTn>
                              </p:par>
                            </p:childTnLst>
                          </p:cTn>
                        </p:par>
                        <p:par>
                          <p:cTn id="71" fill="hold">
                            <p:stCondLst>
                              <p:cond delay="500"/>
                            </p:stCondLst>
                            <p:childTnLst>
                              <p:par>
                                <p:cTn id="72" presetID="22" presetClass="entr" presetSubtype="2" fill="hold" nodeType="afterEffect">
                                  <p:stCondLst>
                                    <p:cond delay="0"/>
                                  </p:stCondLst>
                                  <p:childTnLst>
                                    <p:set>
                                      <p:cBhvr>
                                        <p:cTn id="73" dur="1" fill="hold">
                                          <p:stCondLst>
                                            <p:cond delay="0"/>
                                          </p:stCondLst>
                                        </p:cTn>
                                        <p:tgtEl>
                                          <p:spTgt spid="40981"/>
                                        </p:tgtEl>
                                        <p:attrNameLst>
                                          <p:attrName>style.visibility</p:attrName>
                                        </p:attrNameLst>
                                      </p:cBhvr>
                                      <p:to>
                                        <p:strVal val="visible"/>
                                      </p:to>
                                    </p:set>
                                    <p:animEffect transition="in" filter="wipe(right)">
                                      <p:cBhvr>
                                        <p:cTn id="74" dur="500"/>
                                        <p:tgtEl>
                                          <p:spTgt spid="40981"/>
                                        </p:tgtEl>
                                      </p:cBhvr>
                                    </p:animEffect>
                                  </p:childTnLst>
                                </p:cTn>
                              </p:par>
                            </p:childTnLst>
                          </p:cTn>
                        </p:par>
                        <p:par>
                          <p:cTn id="75" fill="hold">
                            <p:stCondLst>
                              <p:cond delay="1000"/>
                            </p:stCondLst>
                            <p:childTnLst>
                              <p:par>
                                <p:cTn id="76" presetID="12" presetClass="entr" presetSubtype="2" fill="hold" nodeType="afterEffect">
                                  <p:stCondLst>
                                    <p:cond delay="0"/>
                                  </p:stCondLst>
                                  <p:childTnLst>
                                    <p:set>
                                      <p:cBhvr>
                                        <p:cTn id="77" dur="1" fill="hold">
                                          <p:stCondLst>
                                            <p:cond delay="0"/>
                                          </p:stCondLst>
                                        </p:cTn>
                                        <p:tgtEl>
                                          <p:spTgt spid="40982"/>
                                        </p:tgtEl>
                                        <p:attrNameLst>
                                          <p:attrName>style.visibility</p:attrName>
                                        </p:attrNameLst>
                                      </p:cBhvr>
                                      <p:to>
                                        <p:strVal val="visible"/>
                                      </p:to>
                                    </p:set>
                                    <p:animEffect transition="in" filter="slide(fromRight)">
                                      <p:cBhvr>
                                        <p:cTn id="78" dur="500"/>
                                        <p:tgtEl>
                                          <p:spTgt spid="40982"/>
                                        </p:tgtEl>
                                      </p:cBhvr>
                                    </p:animEffect>
                                  </p:childTnLst>
                                </p:cTn>
                              </p:par>
                            </p:childTnLst>
                          </p:cTn>
                        </p:par>
                      </p:childTnLst>
                    </p:cTn>
                  </p:par>
                  <p:par>
                    <p:cTn id="79" fill="hold">
                      <p:stCondLst>
                        <p:cond delay="indefinite"/>
                      </p:stCondLst>
                      <p:childTnLst>
                        <p:par>
                          <p:cTn id="80" fill="hold">
                            <p:stCondLst>
                              <p:cond delay="0"/>
                            </p:stCondLst>
                            <p:childTnLst>
                              <p:par>
                                <p:cTn id="81" presetID="16" presetClass="entr" presetSubtype="37" fill="hold" nodeType="clickEffect">
                                  <p:stCondLst>
                                    <p:cond delay="0"/>
                                  </p:stCondLst>
                                  <p:childTnLst>
                                    <p:set>
                                      <p:cBhvr>
                                        <p:cTn id="82" dur="1" fill="hold">
                                          <p:stCondLst>
                                            <p:cond delay="0"/>
                                          </p:stCondLst>
                                        </p:cTn>
                                        <p:tgtEl>
                                          <p:spTgt spid="40976"/>
                                        </p:tgtEl>
                                        <p:attrNameLst>
                                          <p:attrName>style.visibility</p:attrName>
                                        </p:attrNameLst>
                                      </p:cBhvr>
                                      <p:to>
                                        <p:strVal val="visible"/>
                                      </p:to>
                                    </p:set>
                                    <p:animEffect transition="in" filter="barn(outVertical)">
                                      <p:cBhvr>
                                        <p:cTn id="83" dur="500"/>
                                        <p:tgtEl>
                                          <p:spTgt spid="40976"/>
                                        </p:tgtEl>
                                      </p:cBhvr>
                                    </p:animEffect>
                                  </p:childTnLst>
                                </p:cTn>
                              </p:par>
                            </p:childTnLst>
                          </p:cTn>
                        </p:par>
                        <p:par>
                          <p:cTn id="84" fill="hold">
                            <p:stCondLst>
                              <p:cond delay="500"/>
                            </p:stCondLst>
                            <p:childTnLst>
                              <p:par>
                                <p:cTn id="85" presetID="16" presetClass="entr" presetSubtype="37" fill="hold" nodeType="afterEffect">
                                  <p:stCondLst>
                                    <p:cond delay="0"/>
                                  </p:stCondLst>
                                  <p:childTnLst>
                                    <p:set>
                                      <p:cBhvr>
                                        <p:cTn id="86" dur="1" fill="hold">
                                          <p:stCondLst>
                                            <p:cond delay="0"/>
                                          </p:stCondLst>
                                        </p:cTn>
                                        <p:tgtEl>
                                          <p:spTgt spid="40977"/>
                                        </p:tgtEl>
                                        <p:attrNameLst>
                                          <p:attrName>style.visibility</p:attrName>
                                        </p:attrNameLst>
                                      </p:cBhvr>
                                      <p:to>
                                        <p:strVal val="visible"/>
                                      </p:to>
                                    </p:set>
                                    <p:animEffect transition="in" filter="barn(outVertical)">
                                      <p:cBhvr>
                                        <p:cTn id="87" dur="500"/>
                                        <p:tgtEl>
                                          <p:spTgt spid="40977"/>
                                        </p:tgtEl>
                                      </p:cBhvr>
                                    </p:animEffect>
                                  </p:childTnLst>
                                </p:cTn>
                              </p:par>
                            </p:childTnLst>
                          </p:cTn>
                        </p:par>
                        <p:par>
                          <p:cTn id="88" fill="hold">
                            <p:stCondLst>
                              <p:cond delay="1000"/>
                            </p:stCondLst>
                            <p:childTnLst>
                              <p:par>
                                <p:cTn id="89" presetID="16" presetClass="entr" presetSubtype="37" fill="hold" nodeType="afterEffect">
                                  <p:stCondLst>
                                    <p:cond delay="0"/>
                                  </p:stCondLst>
                                  <p:childTnLst>
                                    <p:set>
                                      <p:cBhvr>
                                        <p:cTn id="90" dur="1" fill="hold">
                                          <p:stCondLst>
                                            <p:cond delay="0"/>
                                          </p:stCondLst>
                                        </p:cTn>
                                        <p:tgtEl>
                                          <p:spTgt spid="40978"/>
                                        </p:tgtEl>
                                        <p:attrNameLst>
                                          <p:attrName>style.visibility</p:attrName>
                                        </p:attrNameLst>
                                      </p:cBhvr>
                                      <p:to>
                                        <p:strVal val="visible"/>
                                      </p:to>
                                    </p:set>
                                    <p:animEffect transition="in" filter="barn(outVertical)">
                                      <p:cBhvr>
                                        <p:cTn id="91" dur="500"/>
                                        <p:tgtEl>
                                          <p:spTgt spid="40978"/>
                                        </p:tgtEl>
                                      </p:cBhvr>
                                    </p:animEffect>
                                  </p:childTnLst>
                                </p:cTn>
                              </p:par>
                            </p:childTnLst>
                          </p:cTn>
                        </p:par>
                        <p:par>
                          <p:cTn id="92" fill="hold">
                            <p:stCondLst>
                              <p:cond delay="1500"/>
                            </p:stCondLst>
                            <p:childTnLst>
                              <p:par>
                                <p:cTn id="93" presetID="16" presetClass="entr" presetSubtype="37" fill="hold" nodeType="afterEffect">
                                  <p:stCondLst>
                                    <p:cond delay="0"/>
                                  </p:stCondLst>
                                  <p:childTnLst>
                                    <p:set>
                                      <p:cBhvr>
                                        <p:cTn id="94" dur="1" fill="hold">
                                          <p:stCondLst>
                                            <p:cond delay="0"/>
                                          </p:stCondLst>
                                        </p:cTn>
                                        <p:tgtEl>
                                          <p:spTgt spid="40979"/>
                                        </p:tgtEl>
                                        <p:attrNameLst>
                                          <p:attrName>style.visibility</p:attrName>
                                        </p:attrNameLst>
                                      </p:cBhvr>
                                      <p:to>
                                        <p:strVal val="visible"/>
                                      </p:to>
                                    </p:set>
                                    <p:animEffect transition="in" filter="barn(outVertical)">
                                      <p:cBhvr>
                                        <p:cTn id="95" dur="500"/>
                                        <p:tgtEl>
                                          <p:spTgt spid="40979"/>
                                        </p:tgtEl>
                                      </p:cBhvr>
                                    </p:animEffect>
                                  </p:childTnLst>
                                </p:cTn>
                              </p:par>
                            </p:childTnLst>
                          </p:cTn>
                        </p:par>
                        <p:par>
                          <p:cTn id="96" fill="hold">
                            <p:stCondLst>
                              <p:cond delay="2000"/>
                            </p:stCondLst>
                            <p:childTnLst>
                              <p:par>
                                <p:cTn id="97" presetID="22" presetClass="entr" presetSubtype="2" fill="hold" nodeType="afterEffect">
                                  <p:stCondLst>
                                    <p:cond delay="0"/>
                                  </p:stCondLst>
                                  <p:childTnLst>
                                    <p:set>
                                      <p:cBhvr>
                                        <p:cTn id="98" dur="1" fill="hold">
                                          <p:stCondLst>
                                            <p:cond delay="0"/>
                                          </p:stCondLst>
                                        </p:cTn>
                                        <p:tgtEl>
                                          <p:spTgt spid="40986"/>
                                        </p:tgtEl>
                                        <p:attrNameLst>
                                          <p:attrName>style.visibility</p:attrName>
                                        </p:attrNameLst>
                                      </p:cBhvr>
                                      <p:to>
                                        <p:strVal val="visible"/>
                                      </p:to>
                                    </p:set>
                                    <p:animEffect transition="in" filter="wipe(right)">
                                      <p:cBhvr>
                                        <p:cTn id="99" dur="500"/>
                                        <p:tgtEl>
                                          <p:spTgt spid="40986"/>
                                        </p:tgtEl>
                                      </p:cBhvr>
                                    </p:animEffect>
                                  </p:childTnLst>
                                </p:cTn>
                              </p:par>
                            </p:childTnLst>
                          </p:cTn>
                        </p:par>
                        <p:par>
                          <p:cTn id="100" fill="hold">
                            <p:stCondLst>
                              <p:cond delay="2500"/>
                            </p:stCondLst>
                            <p:childTnLst>
                              <p:par>
                                <p:cTn id="101" presetID="22" presetClass="entr" presetSubtype="2" fill="hold" nodeType="afterEffect">
                                  <p:stCondLst>
                                    <p:cond delay="0"/>
                                  </p:stCondLst>
                                  <p:childTnLst>
                                    <p:set>
                                      <p:cBhvr>
                                        <p:cTn id="102" dur="1" fill="hold">
                                          <p:stCondLst>
                                            <p:cond delay="0"/>
                                          </p:stCondLst>
                                        </p:cTn>
                                        <p:tgtEl>
                                          <p:spTgt spid="40987"/>
                                        </p:tgtEl>
                                        <p:attrNameLst>
                                          <p:attrName>style.visibility</p:attrName>
                                        </p:attrNameLst>
                                      </p:cBhvr>
                                      <p:to>
                                        <p:strVal val="visible"/>
                                      </p:to>
                                    </p:set>
                                    <p:animEffect transition="in" filter="wipe(right)">
                                      <p:cBhvr>
                                        <p:cTn id="103" dur="500"/>
                                        <p:tgtEl>
                                          <p:spTgt spid="40987"/>
                                        </p:tgtEl>
                                      </p:cBhvr>
                                    </p:animEffect>
                                  </p:childTnLst>
                                </p:cTn>
                              </p:par>
                            </p:childTnLst>
                          </p:cTn>
                        </p:par>
                        <p:par>
                          <p:cTn id="104" fill="hold">
                            <p:stCondLst>
                              <p:cond delay="3000"/>
                            </p:stCondLst>
                            <p:childTnLst>
                              <p:par>
                                <p:cTn id="105" presetID="22" presetClass="entr" presetSubtype="2" fill="hold" nodeType="afterEffect">
                                  <p:stCondLst>
                                    <p:cond delay="0"/>
                                  </p:stCondLst>
                                  <p:childTnLst>
                                    <p:set>
                                      <p:cBhvr>
                                        <p:cTn id="106" dur="1" fill="hold">
                                          <p:stCondLst>
                                            <p:cond delay="0"/>
                                          </p:stCondLst>
                                        </p:cTn>
                                        <p:tgtEl>
                                          <p:spTgt spid="40994"/>
                                        </p:tgtEl>
                                        <p:attrNameLst>
                                          <p:attrName>style.visibility</p:attrName>
                                        </p:attrNameLst>
                                      </p:cBhvr>
                                      <p:to>
                                        <p:strVal val="visible"/>
                                      </p:to>
                                    </p:set>
                                    <p:animEffect transition="in" filter="wipe(right)">
                                      <p:cBhvr>
                                        <p:cTn id="107" dur="500"/>
                                        <p:tgtEl>
                                          <p:spTgt spid="40994"/>
                                        </p:tgtEl>
                                      </p:cBhvr>
                                    </p:animEffect>
                                  </p:childTnLst>
                                </p:cTn>
                              </p:par>
                            </p:childTnLst>
                          </p:cTn>
                        </p:par>
                        <p:par>
                          <p:cTn id="108" fill="hold">
                            <p:stCondLst>
                              <p:cond delay="3500"/>
                            </p:stCondLst>
                            <p:childTnLst>
                              <p:par>
                                <p:cTn id="109" presetID="22" presetClass="entr" presetSubtype="2" fill="hold" nodeType="afterEffect">
                                  <p:stCondLst>
                                    <p:cond delay="0"/>
                                  </p:stCondLst>
                                  <p:childTnLst>
                                    <p:set>
                                      <p:cBhvr>
                                        <p:cTn id="110" dur="1" fill="hold">
                                          <p:stCondLst>
                                            <p:cond delay="0"/>
                                          </p:stCondLst>
                                        </p:cTn>
                                        <p:tgtEl>
                                          <p:spTgt spid="40995"/>
                                        </p:tgtEl>
                                        <p:attrNameLst>
                                          <p:attrName>style.visibility</p:attrName>
                                        </p:attrNameLst>
                                      </p:cBhvr>
                                      <p:to>
                                        <p:strVal val="visible"/>
                                      </p:to>
                                    </p:set>
                                    <p:animEffect transition="in" filter="wipe(right)">
                                      <p:cBhvr>
                                        <p:cTn id="111" dur="500"/>
                                        <p:tgtEl>
                                          <p:spTgt spid="40995"/>
                                        </p:tgtEl>
                                      </p:cBhvr>
                                    </p:animEffect>
                                  </p:childTnLst>
                                </p:cTn>
                              </p:par>
                            </p:childTnLst>
                          </p:cTn>
                        </p:par>
                      </p:childTnLst>
                    </p:cTn>
                  </p:par>
                  <p:par>
                    <p:cTn id="112" fill="hold">
                      <p:stCondLst>
                        <p:cond delay="indefinite"/>
                      </p:stCondLst>
                      <p:childTnLst>
                        <p:par>
                          <p:cTn id="113" fill="hold">
                            <p:stCondLst>
                              <p:cond delay="0"/>
                            </p:stCondLst>
                            <p:childTnLst>
                              <p:par>
                                <p:cTn id="114" presetID="12" presetClass="entr" presetSubtype="1" fill="hold" nodeType="clickEffect">
                                  <p:stCondLst>
                                    <p:cond delay="0"/>
                                  </p:stCondLst>
                                  <p:childTnLst>
                                    <p:set>
                                      <p:cBhvr>
                                        <p:cTn id="115" dur="1" fill="hold">
                                          <p:stCondLst>
                                            <p:cond delay="0"/>
                                          </p:stCondLst>
                                        </p:cTn>
                                        <p:tgtEl>
                                          <p:spTgt spid="40983"/>
                                        </p:tgtEl>
                                        <p:attrNameLst>
                                          <p:attrName>style.visibility</p:attrName>
                                        </p:attrNameLst>
                                      </p:cBhvr>
                                      <p:to>
                                        <p:strVal val="visible"/>
                                      </p:to>
                                    </p:set>
                                    <p:animEffect transition="in" filter="slide(fromTop)">
                                      <p:cBhvr>
                                        <p:cTn id="116" dur="500"/>
                                        <p:tgtEl>
                                          <p:spTgt spid="40983"/>
                                        </p:tgtEl>
                                      </p:cBhvr>
                                    </p:animEffec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40984"/>
                                        </p:tgtEl>
                                        <p:attrNameLst>
                                          <p:attrName>style.visibility</p:attrName>
                                        </p:attrNameLst>
                                      </p:cBhvr>
                                      <p:to>
                                        <p:strVal val="visible"/>
                                      </p:to>
                                    </p:set>
                                    <p:animEffect transition="in" filter="wipe(left)">
                                      <p:cBhvr>
                                        <p:cTn id="120" dur="500"/>
                                        <p:tgtEl>
                                          <p:spTgt spid="40984"/>
                                        </p:tgtEl>
                                      </p:cBhvr>
                                    </p:animEffect>
                                  </p:childTnLst>
                                </p:cTn>
                              </p:par>
                            </p:childTnLst>
                          </p:cTn>
                        </p:par>
                        <p:par>
                          <p:cTn id="121" fill="hold">
                            <p:stCondLst>
                              <p:cond delay="1000"/>
                            </p:stCondLst>
                            <p:childTnLst>
                              <p:par>
                                <p:cTn id="122" presetID="22" presetClass="entr" presetSubtype="8" fill="hold" nodeType="afterEffect">
                                  <p:stCondLst>
                                    <p:cond delay="0"/>
                                  </p:stCondLst>
                                  <p:childTnLst>
                                    <p:set>
                                      <p:cBhvr>
                                        <p:cTn id="123" dur="1" fill="hold">
                                          <p:stCondLst>
                                            <p:cond delay="0"/>
                                          </p:stCondLst>
                                        </p:cTn>
                                        <p:tgtEl>
                                          <p:spTgt spid="40985"/>
                                        </p:tgtEl>
                                        <p:attrNameLst>
                                          <p:attrName>style.visibility</p:attrName>
                                        </p:attrNameLst>
                                      </p:cBhvr>
                                      <p:to>
                                        <p:strVal val="visible"/>
                                      </p:to>
                                    </p:set>
                                    <p:animEffect transition="in" filter="wipe(left)">
                                      <p:cBhvr>
                                        <p:cTn id="124" dur="500"/>
                                        <p:tgtEl>
                                          <p:spTgt spid="40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9" grpId="0" autoUpdateAnimBg="0"/>
      <p:bldP spid="40990" grpId="0" autoUpdateAnimBg="0"/>
      <p:bldP spid="40991" grpId="0" autoUpdateAnimBg="0"/>
      <p:bldP spid="40992" grpId="0" autoUpdateAnimBg="0"/>
      <p:bldP spid="40993"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22" name="Text Box 38"/>
          <p:cNvSpPr txBox="1">
            <a:spLocks noChangeArrowheads="1"/>
          </p:cNvSpPr>
          <p:nvPr/>
        </p:nvSpPr>
        <p:spPr bwMode="auto">
          <a:xfrm>
            <a:off x="266700" y="76200"/>
            <a:ext cx="2027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FF3300"/>
                </a:solidFill>
                <a:latin typeface="宋体" panose="02010600030101010101" pitchFamily="2" charset="-122"/>
              </a:rPr>
              <a:t>5</a:t>
            </a:r>
            <a:r>
              <a:rPr lang="zh-CN" altLang="en-US" sz="3200" b="1">
                <a:solidFill>
                  <a:srgbClr val="FF3300"/>
                </a:solidFill>
                <a:latin typeface="宋体" panose="02010600030101010101" pitchFamily="2" charset="-122"/>
              </a:rPr>
              <a:t>）加深</a:t>
            </a:r>
            <a:endParaRPr lang="zh-CN" altLang="en-US" sz="3200" b="1">
              <a:solidFill>
                <a:srgbClr val="FF3300"/>
              </a:solidFill>
              <a:latin typeface="宋体" panose="02010600030101010101" pitchFamily="2" charset="-122"/>
            </a:endParaRPr>
          </a:p>
        </p:txBody>
      </p:sp>
      <p:sp>
        <p:nvSpPr>
          <p:cNvPr id="42023" name="Text Box 39"/>
          <p:cNvSpPr txBox="1">
            <a:spLocks noChangeArrowheads="1"/>
          </p:cNvSpPr>
          <p:nvPr/>
        </p:nvSpPr>
        <p:spPr bwMode="auto">
          <a:xfrm>
            <a:off x="687388" y="534988"/>
            <a:ext cx="6350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2800" b="1">
                <a:latin typeface="宋体" panose="02010600030101010101" pitchFamily="2" charset="-122"/>
              </a:rPr>
              <a:t> </a:t>
            </a:r>
            <a:r>
              <a:rPr lang="zh-CN" altLang="en-US" sz="2800" b="1">
                <a:latin typeface="宋体" panose="02010600030101010101" pitchFamily="2" charset="-122"/>
              </a:rPr>
              <a:t>检查无误后，加深并画剖面线。</a:t>
            </a:r>
            <a:endParaRPr lang="zh-CN" altLang="en-US" sz="2800" b="1">
              <a:latin typeface="宋体" panose="02010600030101010101" pitchFamily="2" charset="-122"/>
            </a:endParaRPr>
          </a:p>
        </p:txBody>
      </p:sp>
      <p:sp>
        <p:nvSpPr>
          <p:cNvPr id="42024" name="Text Box 40"/>
          <p:cNvSpPr txBox="1">
            <a:spLocks noChangeArrowheads="1"/>
          </p:cNvSpPr>
          <p:nvPr/>
        </p:nvSpPr>
        <p:spPr bwMode="auto">
          <a:xfrm>
            <a:off x="904875" y="5435600"/>
            <a:ext cx="77104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2800" b="1">
                <a:latin typeface="宋体" panose="02010600030101010101" pitchFamily="2" charset="-122"/>
              </a:rPr>
              <a:t>    </a:t>
            </a:r>
            <a:r>
              <a:rPr lang="zh-CN" altLang="en-US" sz="2800" b="1">
                <a:latin typeface="宋体" panose="02010600030101010101" pitchFamily="2" charset="-122"/>
              </a:rPr>
              <a:t>标注尺寸、表面粗糙度要求、尺寸公差等，</a:t>
            </a:r>
            <a:endParaRPr lang="zh-CN" altLang="en-US" sz="2800" b="1">
              <a:latin typeface="宋体" panose="02010600030101010101" pitchFamily="2" charset="-122"/>
            </a:endParaRPr>
          </a:p>
          <a:p>
            <a:pPr eaLnBrk="0" hangingPunct="0"/>
            <a:r>
              <a:rPr lang="zh-CN" altLang="en-US" sz="2800" b="1">
                <a:latin typeface="宋体" panose="02010600030101010101" pitchFamily="2" charset="-122"/>
              </a:rPr>
              <a:t>填写技术要求和标题栏。</a:t>
            </a:r>
            <a:endParaRPr lang="zh-CN" altLang="en-US" sz="2800" b="1">
              <a:latin typeface="宋体" panose="02010600030101010101" pitchFamily="2" charset="-122"/>
            </a:endParaRPr>
          </a:p>
        </p:txBody>
      </p:sp>
      <p:grpSp>
        <p:nvGrpSpPr>
          <p:cNvPr id="42381" name="Group 397"/>
          <p:cNvGrpSpPr/>
          <p:nvPr/>
        </p:nvGrpSpPr>
        <p:grpSpPr bwMode="auto">
          <a:xfrm>
            <a:off x="2733675" y="1608138"/>
            <a:ext cx="5067300" cy="3200400"/>
            <a:chOff x="1320" y="741"/>
            <a:chExt cx="3192" cy="2016"/>
          </a:xfrm>
        </p:grpSpPr>
        <p:grpSp>
          <p:nvGrpSpPr>
            <p:cNvPr id="42382" name="Group 398"/>
            <p:cNvGrpSpPr/>
            <p:nvPr/>
          </p:nvGrpSpPr>
          <p:grpSpPr bwMode="auto">
            <a:xfrm>
              <a:off x="2201" y="1036"/>
              <a:ext cx="174" cy="1273"/>
              <a:chOff x="2201" y="1036"/>
              <a:chExt cx="174" cy="1273"/>
            </a:xfrm>
          </p:grpSpPr>
          <p:sp>
            <p:nvSpPr>
              <p:cNvPr id="42383" name="Freeform 399"/>
              <p:cNvSpPr/>
              <p:nvPr/>
            </p:nvSpPr>
            <p:spPr bwMode="auto">
              <a:xfrm>
                <a:off x="2201" y="1036"/>
                <a:ext cx="174" cy="1"/>
              </a:xfrm>
              <a:custGeom>
                <a:avLst/>
                <a:gdLst>
                  <a:gd name="T0" fmla="*/ 174 w 174"/>
                  <a:gd name="T1" fmla="*/ 0 h 1"/>
                  <a:gd name="T2" fmla="*/ 0 w 174"/>
                  <a:gd name="T3" fmla="*/ 0 h 1"/>
                </a:gdLst>
                <a:ahLst/>
                <a:cxnLst>
                  <a:cxn ang="0">
                    <a:pos x="T0" y="T1"/>
                  </a:cxn>
                  <a:cxn ang="0">
                    <a:pos x="T2" y="T3"/>
                  </a:cxn>
                </a:cxnLst>
                <a:rect l="0" t="0" r="r" b="b"/>
                <a:pathLst>
                  <a:path w="174" h="1">
                    <a:moveTo>
                      <a:pt x="174" y="0"/>
                    </a:moveTo>
                    <a:lnTo>
                      <a:pt x="0"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2384" name="Line 400"/>
              <p:cNvSpPr>
                <a:spLocks noChangeShapeType="1"/>
              </p:cNvSpPr>
              <p:nvPr/>
            </p:nvSpPr>
            <p:spPr bwMode="auto">
              <a:xfrm flipH="1">
                <a:off x="2209" y="2309"/>
                <a:ext cx="16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385" name="Line 401"/>
            <p:cNvSpPr>
              <a:spLocks noChangeShapeType="1"/>
            </p:cNvSpPr>
            <p:nvPr/>
          </p:nvSpPr>
          <p:spPr bwMode="auto">
            <a:xfrm>
              <a:off x="1989" y="1277"/>
              <a:ext cx="0" cy="81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2386" name="Group 402"/>
            <p:cNvGrpSpPr/>
            <p:nvPr/>
          </p:nvGrpSpPr>
          <p:grpSpPr bwMode="auto">
            <a:xfrm>
              <a:off x="1989" y="1284"/>
              <a:ext cx="219" cy="800"/>
              <a:chOff x="1989" y="1284"/>
              <a:chExt cx="219" cy="800"/>
            </a:xfrm>
          </p:grpSpPr>
          <p:sp>
            <p:nvSpPr>
              <p:cNvPr id="42387" name="Line 403"/>
              <p:cNvSpPr>
                <a:spLocks noChangeShapeType="1"/>
              </p:cNvSpPr>
              <p:nvPr/>
            </p:nvSpPr>
            <p:spPr bwMode="auto">
              <a:xfrm>
                <a:off x="1992" y="1284"/>
                <a:ext cx="21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388" name="Freeform 404"/>
              <p:cNvSpPr/>
              <p:nvPr/>
            </p:nvSpPr>
            <p:spPr bwMode="auto">
              <a:xfrm>
                <a:off x="1989" y="2083"/>
                <a:ext cx="211" cy="1"/>
              </a:xfrm>
              <a:custGeom>
                <a:avLst/>
                <a:gdLst>
                  <a:gd name="T0" fmla="*/ 211 w 211"/>
                  <a:gd name="T1" fmla="*/ 1 h 1"/>
                  <a:gd name="T2" fmla="*/ 0 w 211"/>
                  <a:gd name="T3" fmla="*/ 0 h 1"/>
                </a:gdLst>
                <a:ahLst/>
                <a:cxnLst>
                  <a:cxn ang="0">
                    <a:pos x="T0" y="T1"/>
                  </a:cxn>
                  <a:cxn ang="0">
                    <a:pos x="T2" y="T3"/>
                  </a:cxn>
                </a:cxnLst>
                <a:rect l="0" t="0" r="r" b="b"/>
                <a:pathLst>
                  <a:path w="211" h="1">
                    <a:moveTo>
                      <a:pt x="211" y="1"/>
                    </a:moveTo>
                    <a:lnTo>
                      <a:pt x="0"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42389" name="Group 405"/>
            <p:cNvGrpSpPr/>
            <p:nvPr/>
          </p:nvGrpSpPr>
          <p:grpSpPr bwMode="auto">
            <a:xfrm>
              <a:off x="2204" y="1035"/>
              <a:ext cx="0" cy="1282"/>
              <a:chOff x="2204" y="1035"/>
              <a:chExt cx="0" cy="1282"/>
            </a:xfrm>
          </p:grpSpPr>
          <p:sp>
            <p:nvSpPr>
              <p:cNvPr id="42390" name="Line 406"/>
              <p:cNvSpPr>
                <a:spLocks noChangeShapeType="1"/>
              </p:cNvSpPr>
              <p:nvPr/>
            </p:nvSpPr>
            <p:spPr bwMode="auto">
              <a:xfrm>
                <a:off x="2204" y="2080"/>
                <a:ext cx="0" cy="23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391" name="Line 407"/>
              <p:cNvSpPr>
                <a:spLocks noChangeShapeType="1"/>
              </p:cNvSpPr>
              <p:nvPr/>
            </p:nvSpPr>
            <p:spPr bwMode="auto">
              <a:xfrm>
                <a:off x="2204" y="1035"/>
                <a:ext cx="0" cy="25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392" name="Oval 408"/>
            <p:cNvSpPr>
              <a:spLocks noChangeArrowheads="1"/>
            </p:cNvSpPr>
            <p:nvPr/>
          </p:nvSpPr>
          <p:spPr bwMode="auto">
            <a:xfrm>
              <a:off x="3265" y="1336"/>
              <a:ext cx="704" cy="697"/>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393" name="Oval 409"/>
            <p:cNvSpPr>
              <a:spLocks noChangeArrowheads="1"/>
            </p:cNvSpPr>
            <p:nvPr/>
          </p:nvSpPr>
          <p:spPr bwMode="auto">
            <a:xfrm>
              <a:off x="3211" y="1281"/>
              <a:ext cx="808" cy="800"/>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394" name="Oval 410"/>
            <p:cNvSpPr>
              <a:spLocks noChangeArrowheads="1"/>
            </p:cNvSpPr>
            <p:nvPr/>
          </p:nvSpPr>
          <p:spPr bwMode="auto">
            <a:xfrm>
              <a:off x="2970" y="1039"/>
              <a:ext cx="1282" cy="1274"/>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395" name="Oval 411"/>
            <p:cNvSpPr>
              <a:spLocks noChangeArrowheads="1"/>
            </p:cNvSpPr>
            <p:nvPr/>
          </p:nvSpPr>
          <p:spPr bwMode="auto">
            <a:xfrm>
              <a:off x="3543" y="1094"/>
              <a:ext cx="144" cy="13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396" name="Oval 412"/>
            <p:cNvSpPr>
              <a:spLocks noChangeArrowheads="1"/>
            </p:cNvSpPr>
            <p:nvPr/>
          </p:nvSpPr>
          <p:spPr bwMode="auto">
            <a:xfrm>
              <a:off x="3543" y="2132"/>
              <a:ext cx="144" cy="131"/>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397" name="Oval 413"/>
            <p:cNvSpPr>
              <a:spLocks noChangeArrowheads="1"/>
            </p:cNvSpPr>
            <p:nvPr/>
          </p:nvSpPr>
          <p:spPr bwMode="auto">
            <a:xfrm>
              <a:off x="3021" y="1608"/>
              <a:ext cx="144" cy="13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398" name="Oval 414"/>
            <p:cNvSpPr>
              <a:spLocks noChangeArrowheads="1"/>
            </p:cNvSpPr>
            <p:nvPr/>
          </p:nvSpPr>
          <p:spPr bwMode="auto">
            <a:xfrm>
              <a:off x="4055" y="1604"/>
              <a:ext cx="144" cy="138"/>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399" name="Oval 415"/>
            <p:cNvSpPr>
              <a:spLocks noChangeArrowheads="1"/>
            </p:cNvSpPr>
            <p:nvPr/>
          </p:nvSpPr>
          <p:spPr bwMode="auto">
            <a:xfrm>
              <a:off x="3093" y="1159"/>
              <a:ext cx="1034" cy="1037"/>
            </a:xfrm>
            <a:prstGeom prst="ellipse">
              <a:avLst/>
            </a:prstGeom>
            <a:noFill/>
            <a:ln w="19050">
              <a:solidFill>
                <a:schemeClr val="tx1"/>
              </a:solidFill>
              <a:prstDash val="lgDashDot"/>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0" name="Line 416"/>
            <p:cNvSpPr>
              <a:spLocks noChangeShapeType="1"/>
            </p:cNvSpPr>
            <p:nvPr/>
          </p:nvSpPr>
          <p:spPr bwMode="auto">
            <a:xfrm flipH="1">
              <a:off x="2117" y="1160"/>
              <a:ext cx="324"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1" name="Line 417"/>
            <p:cNvSpPr>
              <a:spLocks noChangeShapeType="1"/>
            </p:cNvSpPr>
            <p:nvPr/>
          </p:nvSpPr>
          <p:spPr bwMode="auto">
            <a:xfrm flipH="1">
              <a:off x="2115" y="2191"/>
              <a:ext cx="323" cy="0"/>
            </a:xfrm>
            <a:prstGeom prst="line">
              <a:avLst/>
            </a:prstGeom>
            <a:noFill/>
            <a:ln w="19050">
              <a:solidFill>
                <a:schemeClr val="tx1"/>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2" name="Line 418"/>
            <p:cNvSpPr>
              <a:spLocks noChangeShapeType="1"/>
            </p:cNvSpPr>
            <p:nvPr/>
          </p:nvSpPr>
          <p:spPr bwMode="auto">
            <a:xfrm>
              <a:off x="2321" y="1325"/>
              <a:ext cx="0" cy="71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3" name="Line 419"/>
            <p:cNvSpPr>
              <a:spLocks noChangeShapeType="1"/>
            </p:cNvSpPr>
            <p:nvPr/>
          </p:nvSpPr>
          <p:spPr bwMode="auto">
            <a:xfrm>
              <a:off x="2327" y="1325"/>
              <a:ext cx="42"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4" name="Line 420"/>
            <p:cNvSpPr>
              <a:spLocks noChangeShapeType="1"/>
            </p:cNvSpPr>
            <p:nvPr/>
          </p:nvSpPr>
          <p:spPr bwMode="auto">
            <a:xfrm>
              <a:off x="2321" y="2037"/>
              <a:ext cx="4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5" name="Line 421"/>
            <p:cNvSpPr>
              <a:spLocks noChangeShapeType="1"/>
            </p:cNvSpPr>
            <p:nvPr/>
          </p:nvSpPr>
          <p:spPr bwMode="auto">
            <a:xfrm>
              <a:off x="2207" y="1091"/>
              <a:ext cx="1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6" name="Line 422"/>
            <p:cNvSpPr>
              <a:spLocks noChangeShapeType="1"/>
            </p:cNvSpPr>
            <p:nvPr/>
          </p:nvSpPr>
          <p:spPr bwMode="auto">
            <a:xfrm>
              <a:off x="2207" y="1222"/>
              <a:ext cx="168"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7" name="Line 423"/>
            <p:cNvSpPr>
              <a:spLocks noChangeShapeType="1"/>
            </p:cNvSpPr>
            <p:nvPr/>
          </p:nvSpPr>
          <p:spPr bwMode="auto">
            <a:xfrm flipH="1">
              <a:off x="2207" y="2134"/>
              <a:ext cx="167"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8" name="Line 424"/>
            <p:cNvSpPr>
              <a:spLocks noChangeShapeType="1"/>
            </p:cNvSpPr>
            <p:nvPr/>
          </p:nvSpPr>
          <p:spPr bwMode="auto">
            <a:xfrm flipH="1">
              <a:off x="2200" y="2255"/>
              <a:ext cx="174"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09" name="Rectangle 425"/>
            <p:cNvSpPr>
              <a:spLocks noChangeArrowheads="1"/>
            </p:cNvSpPr>
            <p:nvPr/>
          </p:nvSpPr>
          <p:spPr bwMode="auto">
            <a:xfrm>
              <a:off x="1516" y="806"/>
              <a:ext cx="2940" cy="1896"/>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10" name="Line 426"/>
            <p:cNvSpPr>
              <a:spLocks noChangeShapeType="1"/>
            </p:cNvSpPr>
            <p:nvPr/>
          </p:nvSpPr>
          <p:spPr bwMode="auto">
            <a:xfrm>
              <a:off x="3400" y="2498"/>
              <a:ext cx="0" cy="2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11" name="Line 427"/>
            <p:cNvSpPr>
              <a:spLocks noChangeShapeType="1"/>
            </p:cNvSpPr>
            <p:nvPr/>
          </p:nvSpPr>
          <p:spPr bwMode="auto">
            <a:xfrm>
              <a:off x="3400" y="2498"/>
              <a:ext cx="10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12" name="Line 428"/>
            <p:cNvSpPr>
              <a:spLocks noChangeShapeType="1"/>
            </p:cNvSpPr>
            <p:nvPr/>
          </p:nvSpPr>
          <p:spPr bwMode="auto">
            <a:xfrm>
              <a:off x="2842" y="1682"/>
              <a:ext cx="1532"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413" name="Line 429"/>
            <p:cNvSpPr>
              <a:spLocks noChangeShapeType="1"/>
            </p:cNvSpPr>
            <p:nvPr/>
          </p:nvSpPr>
          <p:spPr bwMode="auto">
            <a:xfrm>
              <a:off x="1911" y="1683"/>
              <a:ext cx="592" cy="0"/>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414" name="Line 430"/>
            <p:cNvSpPr>
              <a:spLocks noChangeShapeType="1"/>
            </p:cNvSpPr>
            <p:nvPr/>
          </p:nvSpPr>
          <p:spPr bwMode="auto">
            <a:xfrm>
              <a:off x="3614" y="947"/>
              <a:ext cx="0" cy="1431"/>
            </a:xfrm>
            <a:prstGeom prst="line">
              <a:avLst/>
            </a:prstGeom>
            <a:noFill/>
            <a:ln w="19050">
              <a:solidFill>
                <a:schemeClr val="tx1"/>
              </a:solidFill>
              <a:prstDash val="lg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415" name="Line 431"/>
            <p:cNvSpPr>
              <a:spLocks noChangeShapeType="1"/>
            </p:cNvSpPr>
            <p:nvPr/>
          </p:nvSpPr>
          <p:spPr bwMode="auto">
            <a:xfrm>
              <a:off x="2373" y="1037"/>
              <a:ext cx="0" cy="127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416" name="Rectangle 432"/>
            <p:cNvSpPr>
              <a:spLocks noChangeArrowheads="1"/>
            </p:cNvSpPr>
            <p:nvPr/>
          </p:nvSpPr>
          <p:spPr bwMode="auto">
            <a:xfrm>
              <a:off x="1320" y="741"/>
              <a:ext cx="3192" cy="2016"/>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17" name="Oval 433"/>
            <p:cNvSpPr>
              <a:spLocks noChangeArrowheads="1"/>
            </p:cNvSpPr>
            <p:nvPr/>
          </p:nvSpPr>
          <p:spPr bwMode="auto">
            <a:xfrm>
              <a:off x="3302" y="1368"/>
              <a:ext cx="632" cy="632"/>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2418" name="Group 434"/>
            <p:cNvGrpSpPr/>
            <p:nvPr/>
          </p:nvGrpSpPr>
          <p:grpSpPr bwMode="auto">
            <a:xfrm>
              <a:off x="1984" y="1337"/>
              <a:ext cx="220" cy="695"/>
              <a:chOff x="1984" y="1337"/>
              <a:chExt cx="220" cy="695"/>
            </a:xfrm>
          </p:grpSpPr>
          <p:sp>
            <p:nvSpPr>
              <p:cNvPr id="42419" name="Line 435"/>
              <p:cNvSpPr>
                <a:spLocks noChangeShapeType="1"/>
              </p:cNvSpPr>
              <p:nvPr/>
            </p:nvSpPr>
            <p:spPr bwMode="auto">
              <a:xfrm>
                <a:off x="2197" y="1373"/>
                <a:ext cx="0" cy="62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420" name="Freeform 436"/>
              <p:cNvSpPr/>
              <p:nvPr/>
            </p:nvSpPr>
            <p:spPr bwMode="auto">
              <a:xfrm>
                <a:off x="1989" y="1997"/>
                <a:ext cx="215" cy="35"/>
              </a:xfrm>
              <a:custGeom>
                <a:avLst/>
                <a:gdLst>
                  <a:gd name="T0" fmla="*/ 0 w 211"/>
                  <a:gd name="T1" fmla="*/ 65 h 65"/>
                  <a:gd name="T2" fmla="*/ 211 w 211"/>
                  <a:gd name="T3" fmla="*/ 0 h 65"/>
                </a:gdLst>
                <a:ahLst/>
                <a:cxnLst>
                  <a:cxn ang="0">
                    <a:pos x="T0" y="T1"/>
                  </a:cxn>
                  <a:cxn ang="0">
                    <a:pos x="T2" y="T3"/>
                  </a:cxn>
                </a:cxnLst>
                <a:rect l="0" t="0" r="r" b="b"/>
                <a:pathLst>
                  <a:path w="211" h="65">
                    <a:moveTo>
                      <a:pt x="0" y="65"/>
                    </a:moveTo>
                    <a:lnTo>
                      <a:pt x="211"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2421" name="Freeform 437"/>
              <p:cNvSpPr/>
              <p:nvPr/>
            </p:nvSpPr>
            <p:spPr bwMode="auto">
              <a:xfrm flipV="1">
                <a:off x="1984" y="1337"/>
                <a:ext cx="215" cy="35"/>
              </a:xfrm>
              <a:custGeom>
                <a:avLst/>
                <a:gdLst>
                  <a:gd name="T0" fmla="*/ 0 w 211"/>
                  <a:gd name="T1" fmla="*/ 65 h 65"/>
                  <a:gd name="T2" fmla="*/ 211 w 211"/>
                  <a:gd name="T3" fmla="*/ 0 h 65"/>
                </a:gdLst>
                <a:ahLst/>
                <a:cxnLst>
                  <a:cxn ang="0">
                    <a:pos x="T0" y="T1"/>
                  </a:cxn>
                  <a:cxn ang="0">
                    <a:pos x="T2" y="T3"/>
                  </a:cxn>
                </a:cxnLst>
                <a:rect l="0" t="0" r="r" b="b"/>
                <a:pathLst>
                  <a:path w="211" h="65">
                    <a:moveTo>
                      <a:pt x="0" y="65"/>
                    </a:moveTo>
                    <a:lnTo>
                      <a:pt x="211" y="0"/>
                    </a:lnTo>
                  </a:path>
                </a:pathLst>
              </a:custGeom>
              <a:noFill/>
              <a:ln w="19050" cmpd="sng">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grpSp>
        <p:nvGrpSpPr>
          <p:cNvPr id="42480" name="Group 496"/>
          <p:cNvGrpSpPr/>
          <p:nvPr/>
        </p:nvGrpSpPr>
        <p:grpSpPr bwMode="auto">
          <a:xfrm>
            <a:off x="2598738" y="1463675"/>
            <a:ext cx="5313362" cy="3636963"/>
            <a:chOff x="1643" y="2134"/>
            <a:chExt cx="3347" cy="2291"/>
          </a:xfrm>
        </p:grpSpPr>
        <p:grpSp>
          <p:nvGrpSpPr>
            <p:cNvPr id="42479" name="Group 495"/>
            <p:cNvGrpSpPr/>
            <p:nvPr/>
          </p:nvGrpSpPr>
          <p:grpSpPr bwMode="auto">
            <a:xfrm>
              <a:off x="1643" y="2134"/>
              <a:ext cx="3347" cy="2291"/>
              <a:chOff x="1511" y="3166"/>
              <a:chExt cx="3347" cy="2291"/>
            </a:xfrm>
          </p:grpSpPr>
          <p:sp>
            <p:nvSpPr>
              <p:cNvPr id="42025" name="Rectangle 41"/>
              <p:cNvSpPr>
                <a:spLocks noChangeArrowheads="1"/>
              </p:cNvSpPr>
              <p:nvPr/>
            </p:nvSpPr>
            <p:spPr bwMode="auto">
              <a:xfrm>
                <a:off x="1511" y="3166"/>
                <a:ext cx="3347" cy="2291"/>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42478" name="Group 494"/>
              <p:cNvGrpSpPr/>
              <p:nvPr/>
            </p:nvGrpSpPr>
            <p:grpSpPr bwMode="auto">
              <a:xfrm>
                <a:off x="1592" y="3237"/>
                <a:ext cx="3192" cy="2016"/>
                <a:chOff x="1592" y="3237"/>
                <a:chExt cx="3192" cy="2016"/>
              </a:xfrm>
            </p:grpSpPr>
            <p:sp>
              <p:nvSpPr>
                <p:cNvPr id="42460" name="Rectangle 476"/>
                <p:cNvSpPr>
                  <a:spLocks noChangeArrowheads="1"/>
                </p:cNvSpPr>
                <p:nvPr/>
              </p:nvSpPr>
              <p:spPr bwMode="auto">
                <a:xfrm>
                  <a:off x="1788" y="3302"/>
                  <a:ext cx="2940" cy="1896"/>
                </a:xfrm>
                <a:prstGeom prst="rect">
                  <a:avLst/>
                </a:prstGeom>
                <a:noFill/>
                <a:ln w="190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63" name="Rectangle 479"/>
                <p:cNvSpPr>
                  <a:spLocks noChangeArrowheads="1"/>
                </p:cNvSpPr>
                <p:nvPr/>
              </p:nvSpPr>
              <p:spPr bwMode="auto">
                <a:xfrm>
                  <a:off x="1592" y="3237"/>
                  <a:ext cx="3192" cy="2016"/>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42476" name="Group 492"/>
                <p:cNvGrpSpPr/>
                <p:nvPr/>
              </p:nvGrpSpPr>
              <p:grpSpPr bwMode="auto">
                <a:xfrm>
                  <a:off x="3672" y="4993"/>
                  <a:ext cx="1056" cy="204"/>
                  <a:chOff x="3784" y="2641"/>
                  <a:chExt cx="1056" cy="204"/>
                </a:xfrm>
              </p:grpSpPr>
              <p:sp>
                <p:nvSpPr>
                  <p:cNvPr id="42461" name="Line 477"/>
                  <p:cNvSpPr>
                    <a:spLocks noChangeShapeType="1"/>
                  </p:cNvSpPr>
                  <p:nvPr/>
                </p:nvSpPr>
                <p:spPr bwMode="auto">
                  <a:xfrm>
                    <a:off x="3784" y="2641"/>
                    <a:ext cx="0" cy="20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462" name="Line 478"/>
                  <p:cNvSpPr>
                    <a:spLocks noChangeShapeType="1"/>
                  </p:cNvSpPr>
                  <p:nvPr/>
                </p:nvSpPr>
                <p:spPr bwMode="auto">
                  <a:xfrm>
                    <a:off x="3784" y="2641"/>
                    <a:ext cx="105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grpSp>
          <p:nvGrpSpPr>
            <p:cNvPr id="42473" name="Group 489"/>
            <p:cNvGrpSpPr/>
            <p:nvPr/>
          </p:nvGrpSpPr>
          <p:grpSpPr bwMode="auto">
            <a:xfrm>
              <a:off x="2569" y="2446"/>
              <a:ext cx="2089" cy="1348"/>
              <a:chOff x="2291" y="1129"/>
              <a:chExt cx="2089" cy="1348"/>
            </a:xfrm>
          </p:grpSpPr>
          <p:pic>
            <p:nvPicPr>
              <p:cNvPr id="42464" name="Picture 48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91" y="1129"/>
                <a:ext cx="2089" cy="1348"/>
              </a:xfrm>
              <a:prstGeom prst="rect">
                <a:avLst/>
              </a:prstGeom>
              <a:noFill/>
              <a:extLst>
                <a:ext uri="{909E8E84-426E-40DD-AFC4-6F175D3DCCD1}">
                  <a14:hiddenFill xmlns:a14="http://schemas.microsoft.com/office/drawing/2010/main">
                    <a:solidFill>
                      <a:srgbClr val="FFFFFF"/>
                    </a:solidFill>
                  </a14:hiddenFill>
                </a:ext>
              </a:extLst>
            </p:spPr>
          </p:pic>
          <p:sp>
            <p:nvSpPr>
              <p:cNvPr id="42471" name="Oval 487"/>
              <p:cNvSpPr>
                <a:spLocks noChangeArrowheads="1"/>
              </p:cNvSpPr>
              <p:nvPr/>
            </p:nvSpPr>
            <p:spPr bwMode="auto">
              <a:xfrm>
                <a:off x="3376" y="1476"/>
                <a:ext cx="656" cy="656"/>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2482" name="Group 498"/>
          <p:cNvGrpSpPr/>
          <p:nvPr/>
        </p:nvGrpSpPr>
        <p:grpSpPr bwMode="auto">
          <a:xfrm>
            <a:off x="2566988" y="1119188"/>
            <a:ext cx="5480050" cy="3889375"/>
            <a:chOff x="1617" y="2225"/>
            <a:chExt cx="3452" cy="2450"/>
          </a:xfrm>
        </p:grpSpPr>
        <p:pic>
          <p:nvPicPr>
            <p:cNvPr id="42332" name="Picture 3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7" y="2225"/>
              <a:ext cx="3452" cy="2450"/>
            </a:xfrm>
            <a:prstGeom prst="rect">
              <a:avLst/>
            </a:prstGeom>
            <a:noFill/>
            <a:extLst>
              <a:ext uri="{909E8E84-426E-40DD-AFC4-6F175D3DCCD1}">
                <a14:hiddenFill xmlns:a14="http://schemas.microsoft.com/office/drawing/2010/main">
                  <a:solidFill>
                    <a:srgbClr val="FFFFFF"/>
                  </a:solidFill>
                </a14:hiddenFill>
              </a:ext>
            </a:extLst>
          </p:spPr>
        </p:pic>
        <p:sp>
          <p:nvSpPr>
            <p:cNvPr id="42481" name="Oval 497"/>
            <p:cNvSpPr>
              <a:spLocks noChangeArrowheads="1"/>
            </p:cNvSpPr>
            <p:nvPr/>
          </p:nvSpPr>
          <p:spPr bwMode="auto">
            <a:xfrm>
              <a:off x="3864" y="2900"/>
              <a:ext cx="656" cy="656"/>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082" name="Text Box 98"/>
          <p:cNvSpPr txBox="1">
            <a:spLocks noChangeArrowheads="1"/>
          </p:cNvSpPr>
          <p:nvPr/>
        </p:nvSpPr>
        <p:spPr bwMode="auto">
          <a:xfrm>
            <a:off x="266700" y="4905375"/>
            <a:ext cx="32448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0" hangingPunct="0"/>
            <a:r>
              <a:rPr lang="en-US" altLang="zh-CN" sz="3200" b="1">
                <a:solidFill>
                  <a:srgbClr val="FF3300"/>
                </a:solidFill>
                <a:latin typeface="宋体" panose="02010600030101010101" pitchFamily="2" charset="-122"/>
              </a:rPr>
              <a:t>6</a:t>
            </a:r>
            <a:r>
              <a:rPr lang="zh-CN" altLang="en-US" sz="3200" b="1">
                <a:solidFill>
                  <a:srgbClr val="FF3300"/>
                </a:solidFill>
                <a:latin typeface="宋体" panose="02010600030101010101" pitchFamily="2" charset="-122"/>
              </a:rPr>
              <a:t>）完成零件图</a:t>
            </a:r>
            <a:endParaRPr lang="zh-CN" altLang="en-US" sz="3200" b="1">
              <a:solidFill>
                <a:srgbClr val="FF33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2023"/>
                                        </p:tgtEl>
                                        <p:attrNameLst>
                                          <p:attrName>style.visibility</p:attrName>
                                        </p:attrNameLst>
                                      </p:cBhvr>
                                      <p:to>
                                        <p:strVal val="visible"/>
                                      </p:to>
                                    </p:set>
                                    <p:animEffect transition="in" filter="barn(inVertical)">
                                      <p:cBhvr>
                                        <p:cTn id="7" dur="500"/>
                                        <p:tgtEl>
                                          <p:spTgt spid="420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2480"/>
                                        </p:tgtEl>
                                        <p:attrNameLst>
                                          <p:attrName>style.visibility</p:attrName>
                                        </p:attrNameLst>
                                      </p:cBhvr>
                                      <p:to>
                                        <p:strVal val="visible"/>
                                      </p:to>
                                    </p:set>
                                    <p:animEffect transition="in" filter="dissolve">
                                      <p:cBhvr>
                                        <p:cTn id="12" dur="500"/>
                                        <p:tgtEl>
                                          <p:spTgt spid="4248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082"/>
                                        </p:tgtEl>
                                        <p:attrNameLst>
                                          <p:attrName>style.visibility</p:attrName>
                                        </p:attrNameLst>
                                      </p:cBhvr>
                                      <p:to>
                                        <p:strVal val="visible"/>
                                      </p:to>
                                    </p:set>
                                    <p:animEffect transition="in" filter="blinds(horizontal)">
                                      <p:cBhvr>
                                        <p:cTn id="17" dur="500"/>
                                        <p:tgtEl>
                                          <p:spTgt spid="4208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2024"/>
                                        </p:tgtEl>
                                        <p:attrNameLst>
                                          <p:attrName>style.visibility</p:attrName>
                                        </p:attrNameLst>
                                      </p:cBhvr>
                                      <p:to>
                                        <p:strVal val="visible"/>
                                      </p:to>
                                    </p:set>
                                    <p:animEffect transition="in" filter="blinds(horizontal)">
                                      <p:cBhvr>
                                        <p:cTn id="22" dur="500"/>
                                        <p:tgtEl>
                                          <p:spTgt spid="4202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2482"/>
                                        </p:tgtEl>
                                        <p:attrNameLst>
                                          <p:attrName>style.visibility</p:attrName>
                                        </p:attrNameLst>
                                      </p:cBhvr>
                                      <p:to>
                                        <p:strVal val="visible"/>
                                      </p:to>
                                    </p:set>
                                    <p:animEffect transition="in" filter="dissolve">
                                      <p:cBhvr>
                                        <p:cTn id="27" dur="500"/>
                                        <p:tgtEl>
                                          <p:spTgt spid="42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23" grpId="0" autoUpdateAnimBg="0"/>
      <p:bldP spid="42024" grpId="0" autoUpdateAnimBg="0"/>
      <p:bldP spid="42082"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80" name="Text Box 4"/>
          <p:cNvSpPr txBox="1">
            <a:spLocks noGrp="1" noChangeArrowheads="1"/>
          </p:cNvSpPr>
          <p:nvPr>
            <p:ph type="ctrTitle"/>
          </p:nvPr>
        </p:nvSpPr>
        <p:spPr>
          <a:xfrm>
            <a:off x="1487488" y="131763"/>
            <a:ext cx="6135687" cy="598487"/>
          </a:xfrm>
          <a:gradFill rotWithShape="0">
            <a:gsLst>
              <a:gs pos="0">
                <a:srgbClr val="3399FF"/>
              </a:gs>
              <a:gs pos="50000">
                <a:srgbClr val="3399FF">
                  <a:gamma/>
                  <a:tint val="0"/>
                  <a:invGamma/>
                </a:srgbClr>
              </a:gs>
              <a:gs pos="100000">
                <a:srgbClr val="3399FF"/>
              </a:gs>
            </a:gsLst>
            <a:lin ang="5400000" scaled="1"/>
          </a:gradFill>
          <a:extLst>
            <a:ext uri="{91240B29-F687-4F45-9708-019B960494DF}">
              <a14:hiddenLine xmlns:a14="http://schemas.microsoft.com/office/drawing/2010/main" w="76200">
                <a:solidFill>
                  <a:srgbClr val="FF0066"/>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r>
              <a:rPr lang="zh-CN" altLang="en-US" sz="3200" b="1" dirty="0">
                <a:solidFill>
                  <a:srgbClr val="FF3300"/>
                </a:solidFill>
                <a:latin typeface="黑体" panose="02010609060101010101" pitchFamily="49" charset="-122"/>
                <a:ea typeface="黑体" panose="02010609060101010101" pitchFamily="49" charset="-122"/>
              </a:rPr>
              <a:t>读零件图的方法与步骤</a:t>
            </a:r>
            <a:endParaRPr lang="zh-CN" altLang="en-US" sz="3200" b="1" dirty="0">
              <a:solidFill>
                <a:srgbClr val="FF3300"/>
              </a:solidFill>
              <a:latin typeface="黑体" panose="02010609060101010101" pitchFamily="49" charset="-122"/>
              <a:ea typeface="黑体" panose="02010609060101010101" pitchFamily="49" charset="-122"/>
            </a:endParaRPr>
          </a:p>
        </p:txBody>
      </p:sp>
      <p:sp>
        <p:nvSpPr>
          <p:cNvPr id="75781" name="Text Box 5"/>
          <p:cNvSpPr txBox="1">
            <a:spLocks noChangeArrowheads="1"/>
          </p:cNvSpPr>
          <p:nvPr/>
        </p:nvSpPr>
        <p:spPr bwMode="auto">
          <a:xfrm>
            <a:off x="458788" y="3278188"/>
            <a:ext cx="37973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    </a:t>
            </a:r>
            <a:r>
              <a:rPr lang="zh-CN" altLang="en-US" sz="3200" b="1">
                <a:latin typeface="宋体" panose="02010600030101010101" pitchFamily="2" charset="-122"/>
              </a:rPr>
              <a:t>从右图可知：零件名称为泵体。材料是铸铁。绘</a:t>
            </a:r>
            <a:endParaRPr lang="zh-CN" altLang="en-US" sz="3200" b="1">
              <a:latin typeface="宋体" panose="02010600030101010101" pitchFamily="2" charset="-122"/>
            </a:endParaRPr>
          </a:p>
          <a:p>
            <a:r>
              <a:rPr lang="zh-CN" altLang="en-US" sz="3200" b="1">
                <a:latin typeface="宋体" panose="02010600030101010101" pitchFamily="2" charset="-122"/>
              </a:rPr>
              <a:t>图比例</a:t>
            </a:r>
            <a:r>
              <a:rPr lang="en-US" altLang="zh-CN" sz="3200" b="1">
                <a:latin typeface="宋体" panose="02010600030101010101" pitchFamily="2" charset="-122"/>
              </a:rPr>
              <a:t>1:2</a:t>
            </a:r>
            <a:r>
              <a:rPr lang="zh-CN" altLang="en-US" sz="3200" b="1">
                <a:latin typeface="宋体" panose="02010600030101010101" pitchFamily="2" charset="-122"/>
              </a:rPr>
              <a:t>。</a:t>
            </a:r>
            <a:endParaRPr lang="zh-CN" altLang="en-US" sz="3200" b="1">
              <a:latin typeface="宋体" panose="02010600030101010101" pitchFamily="2" charset="-122"/>
            </a:endParaRPr>
          </a:p>
        </p:txBody>
      </p:sp>
      <p:sp>
        <p:nvSpPr>
          <p:cNvPr id="75782" name="Text Box 6"/>
          <p:cNvSpPr txBox="1">
            <a:spLocks noChangeArrowheads="1"/>
          </p:cNvSpPr>
          <p:nvPr/>
        </p:nvSpPr>
        <p:spPr bwMode="auto">
          <a:xfrm>
            <a:off x="457200" y="1600200"/>
            <a:ext cx="3303588"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solidFill>
                  <a:schemeClr val="accent2"/>
                </a:solidFill>
                <a:latin typeface="宋体" panose="02010600030101010101" pitchFamily="2" charset="-122"/>
              </a:rPr>
              <a:t>    </a:t>
            </a:r>
            <a:r>
              <a:rPr lang="zh-CN" altLang="en-US" sz="3200" b="1">
                <a:solidFill>
                  <a:schemeClr val="accent2"/>
                </a:solidFill>
                <a:latin typeface="宋体" panose="02010600030101010101" pitchFamily="2" charset="-122"/>
              </a:rPr>
              <a:t>了解零件的名称、材料、绘图比例等内容。</a:t>
            </a:r>
            <a:endParaRPr lang="zh-CN" altLang="en-US" sz="3200" b="1">
              <a:solidFill>
                <a:schemeClr val="accent2"/>
              </a:solidFill>
              <a:latin typeface="宋体" panose="02010600030101010101" pitchFamily="2" charset="-122"/>
            </a:endParaRPr>
          </a:p>
        </p:txBody>
      </p:sp>
      <p:sp>
        <p:nvSpPr>
          <p:cNvPr id="75783" name="Text Box 7"/>
          <p:cNvSpPr txBox="1">
            <a:spLocks noChangeArrowheads="1"/>
          </p:cNvSpPr>
          <p:nvPr/>
        </p:nvSpPr>
        <p:spPr bwMode="auto">
          <a:xfrm>
            <a:off x="719138" y="885825"/>
            <a:ext cx="2225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3200" b="1">
                <a:solidFill>
                  <a:srgbClr val="FF3300"/>
                </a:solidFill>
                <a:latin typeface="宋体" panose="02010600030101010101" pitchFamily="2" charset="-122"/>
              </a:rPr>
              <a:t>1.</a:t>
            </a:r>
            <a:r>
              <a:rPr lang="zh-CN" altLang="en-US" sz="3200" b="1">
                <a:solidFill>
                  <a:srgbClr val="FF3300"/>
                </a:solidFill>
                <a:latin typeface="宋体" panose="02010600030101010101" pitchFamily="2" charset="-122"/>
              </a:rPr>
              <a:t>看标题栏</a:t>
            </a:r>
            <a:endParaRPr lang="zh-CN" altLang="en-US" sz="3200" b="1">
              <a:solidFill>
                <a:srgbClr val="FF3300"/>
              </a:solidFill>
              <a:latin typeface="宋体" panose="02010600030101010101" pitchFamily="2" charset="-122"/>
            </a:endParaRPr>
          </a:p>
        </p:txBody>
      </p:sp>
      <p:pic>
        <p:nvPicPr>
          <p:cNvPr id="75784"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86188" y="1011238"/>
            <a:ext cx="4808537" cy="5400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783"/>
                                        </p:tgtEl>
                                        <p:attrNameLst>
                                          <p:attrName>style.visibility</p:attrName>
                                        </p:attrNameLst>
                                      </p:cBhvr>
                                      <p:to>
                                        <p:strVal val="visible"/>
                                      </p:to>
                                    </p:set>
                                    <p:anim calcmode="lin" valueType="num">
                                      <p:cBhvr additive="base">
                                        <p:cTn id="7" dur="500" fill="hold"/>
                                        <p:tgtEl>
                                          <p:spTgt spid="75783"/>
                                        </p:tgtEl>
                                        <p:attrNameLst>
                                          <p:attrName>ppt_x</p:attrName>
                                        </p:attrNameLst>
                                      </p:cBhvr>
                                      <p:tavLst>
                                        <p:tav tm="0">
                                          <p:val>
                                            <p:strVal val="0-#ppt_w/2"/>
                                          </p:val>
                                        </p:tav>
                                        <p:tav tm="100000">
                                          <p:val>
                                            <p:strVal val="#ppt_x"/>
                                          </p:val>
                                        </p:tav>
                                      </p:tavLst>
                                    </p:anim>
                                    <p:anim calcmode="lin" valueType="num">
                                      <p:cBhvr additive="base">
                                        <p:cTn id="8" dur="500" fill="hold"/>
                                        <p:tgtEl>
                                          <p:spTgt spid="757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5782"/>
                                        </p:tgtEl>
                                        <p:attrNameLst>
                                          <p:attrName>style.visibility</p:attrName>
                                        </p:attrNameLst>
                                      </p:cBhvr>
                                      <p:to>
                                        <p:strVal val="visible"/>
                                      </p:to>
                                    </p:set>
                                    <p:animEffect transition="in" filter="blinds(horizontal)">
                                      <p:cBhvr>
                                        <p:cTn id="13" dur="500"/>
                                        <p:tgtEl>
                                          <p:spTgt spid="75782"/>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3" fill="hold" grpId="0" nodeType="clickEffect">
                                  <p:stCondLst>
                                    <p:cond delay="0"/>
                                  </p:stCondLst>
                                  <p:childTnLst>
                                    <p:set>
                                      <p:cBhvr>
                                        <p:cTn id="17" dur="1" fill="hold">
                                          <p:stCondLst>
                                            <p:cond delay="0"/>
                                          </p:stCondLst>
                                        </p:cTn>
                                        <p:tgtEl>
                                          <p:spTgt spid="75781"/>
                                        </p:tgtEl>
                                        <p:attrNameLst>
                                          <p:attrName>style.visibility</p:attrName>
                                        </p:attrNameLst>
                                      </p:cBhvr>
                                      <p:to>
                                        <p:strVal val="visible"/>
                                      </p:to>
                                    </p:set>
                                    <p:animEffect transition="in" filter="strips(upRight)">
                                      <p:cBhvr>
                                        <p:cTn id="18" dur="500"/>
                                        <p:tgtEl>
                                          <p:spTgt spid="7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1" grpId="0" autoUpdateAnimBg="0"/>
      <p:bldP spid="75782" grpId="0" autoUpdateAnimBg="0"/>
      <p:bldP spid="75783"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517525" y="889000"/>
            <a:ext cx="3457575"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solidFill>
                  <a:schemeClr val="accent2"/>
                </a:solidFill>
                <a:latin typeface="宋体" panose="02010600030101010101" pitchFamily="2" charset="-122"/>
              </a:rPr>
              <a:t>    </a:t>
            </a:r>
            <a:r>
              <a:rPr lang="zh-CN" altLang="en-US" sz="3200" b="1">
                <a:solidFill>
                  <a:schemeClr val="accent2"/>
                </a:solidFill>
                <a:latin typeface="宋体" panose="02010600030101010101" pitchFamily="2" charset="-122"/>
              </a:rPr>
              <a:t>找出主视图，分析各视图之间的投影关系及所采用的表达方法。</a:t>
            </a:r>
            <a:endParaRPr lang="zh-CN" altLang="en-US" sz="3200" b="1">
              <a:solidFill>
                <a:schemeClr val="accent2"/>
              </a:solidFill>
              <a:latin typeface="宋体" panose="02010600030101010101" pitchFamily="2" charset="-122"/>
            </a:endParaRPr>
          </a:p>
        </p:txBody>
      </p:sp>
      <p:sp>
        <p:nvSpPr>
          <p:cNvPr id="44035" name="Text Box 3"/>
          <p:cNvSpPr txBox="1">
            <a:spLocks noChangeArrowheads="1"/>
          </p:cNvSpPr>
          <p:nvPr/>
        </p:nvSpPr>
        <p:spPr bwMode="auto">
          <a:xfrm>
            <a:off x="517525" y="3116263"/>
            <a:ext cx="3381375"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    </a:t>
            </a:r>
            <a:r>
              <a:rPr lang="zh-CN" altLang="en-US" sz="3200" b="1">
                <a:latin typeface="宋体" panose="02010600030101010101" pitchFamily="2" charset="-122"/>
              </a:rPr>
              <a:t>主视图是全剖视图，俯视图取了局部剖，左视图是外形图。</a:t>
            </a:r>
            <a:endParaRPr lang="zh-CN" altLang="en-US" sz="3200" b="1">
              <a:latin typeface="宋体" panose="02010600030101010101" pitchFamily="2" charset="-122"/>
            </a:endParaRPr>
          </a:p>
        </p:txBody>
      </p:sp>
      <p:sp>
        <p:nvSpPr>
          <p:cNvPr id="44036" name="Text Box 4"/>
          <p:cNvSpPr txBox="1">
            <a:spLocks noChangeArrowheads="1"/>
          </p:cNvSpPr>
          <p:nvPr/>
        </p:nvSpPr>
        <p:spPr bwMode="auto">
          <a:xfrm>
            <a:off x="414338" y="254000"/>
            <a:ext cx="3022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r>
              <a:rPr lang="en-US" altLang="zh-CN" sz="3200" b="1">
                <a:solidFill>
                  <a:srgbClr val="FF3300"/>
                </a:solidFill>
                <a:latin typeface="宋体" panose="02010600030101010101" pitchFamily="2" charset="-122"/>
              </a:rPr>
              <a:t>2.</a:t>
            </a:r>
            <a:r>
              <a:rPr lang="zh-CN" altLang="en-US" sz="3200" b="1">
                <a:solidFill>
                  <a:srgbClr val="FF3300"/>
                </a:solidFill>
                <a:latin typeface="宋体" panose="02010600030101010101" pitchFamily="2" charset="-122"/>
              </a:rPr>
              <a:t>分析视图</a:t>
            </a:r>
            <a:endParaRPr lang="zh-CN" altLang="en-US" sz="3200" b="1">
              <a:solidFill>
                <a:srgbClr val="FF3300"/>
              </a:solidFill>
              <a:latin typeface="宋体" panose="02010600030101010101" pitchFamily="2" charset="-122"/>
            </a:endParaRPr>
          </a:p>
        </p:txBody>
      </p:sp>
      <p:pic>
        <p:nvPicPr>
          <p:cNvPr id="44040"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48113" y="754063"/>
            <a:ext cx="4808537" cy="5400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blinds(vertical)">
                                      <p:cBhvr>
                                        <p:cTn id="7" dur="500"/>
                                        <p:tgtEl>
                                          <p:spTgt spid="4403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44035"/>
                                        </p:tgtEl>
                                        <p:attrNameLst>
                                          <p:attrName>style.visibility</p:attrName>
                                        </p:attrNameLst>
                                      </p:cBhvr>
                                      <p:to>
                                        <p:strVal val="visible"/>
                                      </p:to>
                                    </p:set>
                                    <p:animEffect transition="in" filter="strips(downLeft)">
                                      <p:cBhvr>
                                        <p:cTn id="12" dur="500"/>
                                        <p:tgtEl>
                                          <p:spTgt spid="44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utoUpdateAnimBg="0"/>
      <p:bldP spid="4403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784225" y="327025"/>
            <a:ext cx="67135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3200" b="1">
                <a:solidFill>
                  <a:srgbClr val="FF3300"/>
                </a:solidFill>
                <a:latin typeface="宋体" panose="02010600030101010101" pitchFamily="2" charset="-122"/>
              </a:rPr>
              <a:t>3.</a:t>
            </a:r>
            <a:r>
              <a:rPr lang="zh-CN" altLang="en-US" sz="3200" b="1">
                <a:solidFill>
                  <a:srgbClr val="FF3300"/>
                </a:solidFill>
                <a:latin typeface="宋体" panose="02010600030101010101" pitchFamily="2" charset="-122"/>
              </a:rPr>
              <a:t>分析投影</a:t>
            </a:r>
            <a:r>
              <a:rPr lang="zh-CN" altLang="en-US" sz="3200" b="1">
                <a:solidFill>
                  <a:schemeClr val="accent2"/>
                </a:solidFill>
                <a:latin typeface="宋体" panose="02010600030101010101" pitchFamily="2" charset="-122"/>
              </a:rPr>
              <a:t>，想象零件的结构形状。</a:t>
            </a:r>
            <a:endParaRPr lang="zh-CN" altLang="en-US" sz="3200" b="1">
              <a:solidFill>
                <a:schemeClr val="accent2"/>
              </a:solidFill>
              <a:latin typeface="宋体" panose="02010600030101010101" pitchFamily="2" charset="-122"/>
            </a:endParaRPr>
          </a:p>
        </p:txBody>
      </p:sp>
      <p:sp>
        <p:nvSpPr>
          <p:cNvPr id="45059" name="Text Box 3"/>
          <p:cNvSpPr txBox="1">
            <a:spLocks noChangeArrowheads="1"/>
          </p:cNvSpPr>
          <p:nvPr/>
        </p:nvSpPr>
        <p:spPr bwMode="auto">
          <a:xfrm>
            <a:off x="1514475" y="1524000"/>
            <a:ext cx="6303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3200" b="1">
                <a:latin typeface="宋体" panose="02010600030101010101" pitchFamily="2" charset="-122"/>
              </a:rPr>
              <a:t>☆</a:t>
            </a:r>
            <a:r>
              <a:rPr lang="zh-CN" altLang="en-US" sz="3200" b="1">
                <a:latin typeface="宋体" panose="02010600030101010101" pitchFamily="2" charset="-122"/>
              </a:rPr>
              <a:t>先看主要部分，后看次要部分；</a:t>
            </a:r>
            <a:endParaRPr lang="zh-CN" altLang="en-US" sz="3200" b="1">
              <a:latin typeface="宋体" panose="02010600030101010101" pitchFamily="2" charset="-122"/>
            </a:endParaRPr>
          </a:p>
        </p:txBody>
      </p:sp>
      <p:sp>
        <p:nvSpPr>
          <p:cNvPr id="45060" name="Text Box 4"/>
          <p:cNvSpPr txBox="1">
            <a:spLocks noChangeArrowheads="1"/>
          </p:cNvSpPr>
          <p:nvPr/>
        </p:nvSpPr>
        <p:spPr bwMode="auto">
          <a:xfrm>
            <a:off x="1490663" y="2092325"/>
            <a:ext cx="5105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a:t>
            </a:r>
            <a:r>
              <a:rPr lang="zh-CN" altLang="en-US" sz="3200" b="1">
                <a:latin typeface="宋体" panose="02010600030101010101" pitchFamily="2" charset="-122"/>
              </a:rPr>
              <a:t>先看整体，后看细节；</a:t>
            </a:r>
            <a:endParaRPr lang="zh-CN" altLang="en-US" sz="3200" b="1">
              <a:latin typeface="宋体" panose="02010600030101010101" pitchFamily="2" charset="-122"/>
            </a:endParaRPr>
          </a:p>
        </p:txBody>
      </p:sp>
      <p:sp>
        <p:nvSpPr>
          <p:cNvPr id="45061" name="Text Box 5"/>
          <p:cNvSpPr txBox="1">
            <a:spLocks noChangeArrowheads="1"/>
          </p:cNvSpPr>
          <p:nvPr/>
        </p:nvSpPr>
        <p:spPr bwMode="auto">
          <a:xfrm>
            <a:off x="1490663" y="2638425"/>
            <a:ext cx="7146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3200" b="1">
                <a:latin typeface="宋体" panose="02010600030101010101" pitchFamily="2" charset="-122"/>
              </a:rPr>
              <a:t>☆</a:t>
            </a:r>
            <a:r>
              <a:rPr lang="zh-CN" altLang="en-US" sz="3200" b="1">
                <a:latin typeface="宋体" panose="02010600030101010101" pitchFamily="2" charset="-122"/>
              </a:rPr>
              <a:t>先看容易看懂部分，后看难懂部分。</a:t>
            </a:r>
            <a:endParaRPr lang="zh-CN" altLang="en-US" sz="3200" b="1">
              <a:latin typeface="宋体" panose="02010600030101010101" pitchFamily="2" charset="-122"/>
            </a:endParaRPr>
          </a:p>
        </p:txBody>
      </p:sp>
      <p:sp>
        <p:nvSpPr>
          <p:cNvPr id="45062" name="Text Box 6"/>
          <p:cNvSpPr txBox="1">
            <a:spLocks noChangeArrowheads="1"/>
          </p:cNvSpPr>
          <p:nvPr/>
        </p:nvSpPr>
        <p:spPr bwMode="auto">
          <a:xfrm>
            <a:off x="1109663" y="1006475"/>
            <a:ext cx="22320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zh-CN" altLang="en-US" sz="3200" b="1">
                <a:solidFill>
                  <a:srgbClr val="FF3300"/>
                </a:solidFill>
                <a:latin typeface="宋体" panose="02010600030101010101" pitchFamily="2" charset="-122"/>
              </a:rPr>
              <a:t>看图步骤：</a:t>
            </a:r>
            <a:endParaRPr lang="zh-CN" altLang="en-US" sz="3200" b="1">
              <a:solidFill>
                <a:srgbClr val="FF3300"/>
              </a:solidFill>
              <a:latin typeface="宋体" panose="02010600030101010101" pitchFamily="2" charset="-122"/>
            </a:endParaRPr>
          </a:p>
        </p:txBody>
      </p:sp>
      <p:sp>
        <p:nvSpPr>
          <p:cNvPr id="45063" name="Text Box 7"/>
          <p:cNvSpPr txBox="1">
            <a:spLocks noChangeArrowheads="1"/>
          </p:cNvSpPr>
          <p:nvPr/>
        </p:nvSpPr>
        <p:spPr bwMode="auto">
          <a:xfrm>
            <a:off x="1131888" y="3403600"/>
            <a:ext cx="6829425"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    </a:t>
            </a:r>
            <a:r>
              <a:rPr lang="zh-CN" altLang="en-US" sz="3200" b="1">
                <a:latin typeface="宋体" panose="02010600030101010101" pitchFamily="2" charset="-122"/>
              </a:rPr>
              <a:t>按投影对应关系分析形体时，要</a:t>
            </a:r>
            <a:r>
              <a:rPr lang="zh-CN" altLang="en-US" sz="3200" b="1">
                <a:solidFill>
                  <a:srgbClr val="FF3300"/>
                </a:solidFill>
                <a:latin typeface="宋体" panose="02010600030101010101" pitchFamily="2" charset="-122"/>
              </a:rPr>
              <a:t>兼顾零件的尺寸及其功用</a:t>
            </a:r>
            <a:r>
              <a:rPr lang="zh-CN" altLang="en-US" sz="3200" b="1">
                <a:latin typeface="宋体" panose="02010600030101010101" pitchFamily="2" charset="-122"/>
              </a:rPr>
              <a:t>，以便帮助想象零件的形状。</a:t>
            </a:r>
            <a:endParaRPr lang="zh-CN" altLang="en-US" sz="32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animEffect transition="in" filter="slide(fromLeft)">
                                      <p:cBhvr>
                                        <p:cTn id="7" dur="500"/>
                                        <p:tgtEl>
                                          <p:spTgt spid="4506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5059"/>
                                        </p:tgtEl>
                                        <p:attrNameLst>
                                          <p:attrName>style.visibility</p:attrName>
                                        </p:attrNameLst>
                                      </p:cBhvr>
                                      <p:to>
                                        <p:strVal val="visible"/>
                                      </p:to>
                                    </p:set>
                                    <p:animEffect transition="in" filter="slide(fromLeft)">
                                      <p:cBhvr>
                                        <p:cTn id="12" dur="500"/>
                                        <p:tgtEl>
                                          <p:spTgt spid="4505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45060"/>
                                        </p:tgtEl>
                                        <p:attrNameLst>
                                          <p:attrName>style.visibility</p:attrName>
                                        </p:attrNameLst>
                                      </p:cBhvr>
                                      <p:to>
                                        <p:strVal val="visible"/>
                                      </p:to>
                                    </p:set>
                                    <p:animEffect transition="in" filter="slide(fromRight)">
                                      <p:cBhvr>
                                        <p:cTn id="17" dur="500"/>
                                        <p:tgtEl>
                                          <p:spTgt spid="4506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5061"/>
                                        </p:tgtEl>
                                        <p:attrNameLst>
                                          <p:attrName>style.visibility</p:attrName>
                                        </p:attrNameLst>
                                      </p:cBhvr>
                                      <p:to>
                                        <p:strVal val="visible"/>
                                      </p:to>
                                    </p:set>
                                    <p:animEffect transition="in" filter="slide(fromBottom)">
                                      <p:cBhvr>
                                        <p:cTn id="22" dur="500"/>
                                        <p:tgtEl>
                                          <p:spTgt spid="45061"/>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45063"/>
                                        </p:tgtEl>
                                        <p:attrNameLst>
                                          <p:attrName>style.visibility</p:attrName>
                                        </p:attrNameLst>
                                      </p:cBhvr>
                                      <p:to>
                                        <p:strVal val="visible"/>
                                      </p:to>
                                    </p:set>
                                    <p:animEffect transition="in" filter="slide(fromTop)">
                                      <p:cBhvr>
                                        <p:cTn id="27" dur="500"/>
                                        <p:tgtEl>
                                          <p:spTgt spid="45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utoUpdateAnimBg="0"/>
      <p:bldP spid="45060" grpId="0" autoUpdateAnimBg="0"/>
      <p:bldP spid="45061" grpId="0" autoUpdateAnimBg="0"/>
      <p:bldP spid="45062" grpId="0" autoUpdateAnimBg="0"/>
      <p:bldP spid="45063"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Text Box 5"/>
          <p:cNvSpPr txBox="1">
            <a:spLocks noChangeArrowheads="1"/>
          </p:cNvSpPr>
          <p:nvPr/>
        </p:nvSpPr>
        <p:spPr bwMode="auto">
          <a:xfrm>
            <a:off x="557213" y="114300"/>
            <a:ext cx="74263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zh-CN" altLang="en-US" sz="3200" b="1">
                <a:solidFill>
                  <a:schemeClr val="accent2"/>
                </a:solidFill>
                <a:latin typeface="宋体" panose="02010600030101010101" pitchFamily="2" charset="-122"/>
              </a:rPr>
              <a:t>从三个视图看，泵体由三部分组成：</a:t>
            </a:r>
            <a:endParaRPr lang="zh-CN" altLang="en-US" sz="3200" b="1">
              <a:solidFill>
                <a:schemeClr val="accent2"/>
              </a:solidFill>
              <a:latin typeface="宋体" panose="02010600030101010101" pitchFamily="2" charset="-122"/>
            </a:endParaRPr>
          </a:p>
        </p:txBody>
      </p:sp>
      <p:sp>
        <p:nvSpPr>
          <p:cNvPr id="61446" name="Text Box 6"/>
          <p:cNvSpPr txBox="1">
            <a:spLocks noChangeArrowheads="1"/>
          </p:cNvSpPr>
          <p:nvPr/>
        </p:nvSpPr>
        <p:spPr bwMode="auto">
          <a:xfrm>
            <a:off x="257175" y="2549525"/>
            <a:ext cx="40290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②</a:t>
            </a:r>
            <a:r>
              <a:rPr lang="zh-CN" altLang="en-US" sz="3200" b="1">
                <a:latin typeface="宋体" panose="02010600030101010101" pitchFamily="2" charset="-122"/>
              </a:rPr>
              <a:t>两块三角形的安装</a:t>
            </a:r>
            <a:endParaRPr lang="zh-CN" altLang="en-US" sz="3200" b="1">
              <a:latin typeface="宋体" panose="02010600030101010101" pitchFamily="2" charset="-122"/>
            </a:endParaRPr>
          </a:p>
          <a:p>
            <a:r>
              <a:rPr lang="zh-CN" altLang="en-US" sz="3200" b="1">
                <a:latin typeface="宋体" panose="02010600030101010101" pitchFamily="2" charset="-122"/>
              </a:rPr>
              <a:t>  板。</a:t>
            </a:r>
            <a:endParaRPr lang="zh-CN" altLang="en-US" sz="3200" b="1">
              <a:latin typeface="宋体" panose="02010600030101010101" pitchFamily="2" charset="-122"/>
            </a:endParaRPr>
          </a:p>
        </p:txBody>
      </p:sp>
      <p:sp>
        <p:nvSpPr>
          <p:cNvPr id="61447" name="Text Box 7"/>
          <p:cNvSpPr txBox="1">
            <a:spLocks noChangeArrowheads="1"/>
          </p:cNvSpPr>
          <p:nvPr/>
        </p:nvSpPr>
        <p:spPr bwMode="auto">
          <a:xfrm>
            <a:off x="268288" y="3608388"/>
            <a:ext cx="4087812"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③</a:t>
            </a:r>
            <a:r>
              <a:rPr lang="zh-CN" altLang="en-US" sz="3200" b="1">
                <a:latin typeface="宋体" panose="02010600030101010101" pitchFamily="2" charset="-122"/>
              </a:rPr>
              <a:t>两个圆柱形的进出</a:t>
            </a:r>
            <a:endParaRPr lang="zh-CN" altLang="en-US" sz="3200" b="1">
              <a:latin typeface="宋体" panose="02010600030101010101" pitchFamily="2" charset="-122"/>
            </a:endParaRPr>
          </a:p>
          <a:p>
            <a:r>
              <a:rPr lang="zh-CN" altLang="en-US" sz="3200" b="1">
                <a:latin typeface="宋体" panose="02010600030101010101" pitchFamily="2" charset="-122"/>
              </a:rPr>
              <a:t>  油口，分别位于泵</a:t>
            </a:r>
            <a:endParaRPr lang="zh-CN" altLang="en-US" sz="3200" b="1">
              <a:latin typeface="宋体" panose="02010600030101010101" pitchFamily="2" charset="-122"/>
            </a:endParaRPr>
          </a:p>
          <a:p>
            <a:r>
              <a:rPr lang="zh-CN" altLang="en-US" sz="3200" b="1">
                <a:latin typeface="宋体" panose="02010600030101010101" pitchFamily="2" charset="-122"/>
              </a:rPr>
              <a:t>  体的右边和后边。</a:t>
            </a:r>
            <a:endParaRPr lang="zh-CN" altLang="en-US" sz="3200" b="1">
              <a:latin typeface="宋体" panose="02010600030101010101" pitchFamily="2" charset="-122"/>
            </a:endParaRPr>
          </a:p>
        </p:txBody>
      </p:sp>
      <p:sp>
        <p:nvSpPr>
          <p:cNvPr id="61448" name="Text Box 8"/>
          <p:cNvSpPr txBox="1">
            <a:spLocks noChangeArrowheads="1"/>
          </p:cNvSpPr>
          <p:nvPr/>
        </p:nvSpPr>
        <p:spPr bwMode="auto">
          <a:xfrm>
            <a:off x="273050" y="571500"/>
            <a:ext cx="4211638"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①</a:t>
            </a:r>
            <a:r>
              <a:rPr lang="zh-CN" altLang="en-US" sz="3200" b="1">
                <a:latin typeface="宋体" panose="02010600030101010101" pitchFamily="2" charset="-122"/>
              </a:rPr>
              <a:t>半圆柱形的壳体，</a:t>
            </a:r>
            <a:endParaRPr lang="zh-CN" altLang="en-US" sz="3200" b="1">
              <a:latin typeface="宋体" panose="02010600030101010101" pitchFamily="2" charset="-122"/>
            </a:endParaRPr>
          </a:p>
          <a:p>
            <a:r>
              <a:rPr lang="zh-CN" altLang="en-US" sz="3200" b="1">
                <a:latin typeface="宋体" panose="02010600030101010101" pitchFamily="2" charset="-122"/>
              </a:rPr>
              <a:t>  其圆柱形的内腔，</a:t>
            </a:r>
            <a:endParaRPr lang="zh-CN" altLang="en-US" sz="3200" b="1">
              <a:latin typeface="宋体" panose="02010600030101010101" pitchFamily="2" charset="-122"/>
            </a:endParaRPr>
          </a:p>
          <a:p>
            <a:r>
              <a:rPr lang="zh-CN" altLang="en-US" sz="3200" b="1">
                <a:latin typeface="宋体" panose="02010600030101010101" pitchFamily="2" charset="-122"/>
              </a:rPr>
              <a:t>  用于容纳其他零    </a:t>
            </a:r>
            <a:endParaRPr lang="zh-CN" altLang="en-US" sz="3200" b="1">
              <a:latin typeface="宋体" panose="02010600030101010101" pitchFamily="2" charset="-122"/>
            </a:endParaRPr>
          </a:p>
          <a:p>
            <a:r>
              <a:rPr lang="zh-CN" altLang="en-US" sz="3200" b="1">
                <a:latin typeface="宋体" panose="02010600030101010101" pitchFamily="2" charset="-122"/>
              </a:rPr>
              <a:t>  件。</a:t>
            </a:r>
            <a:endParaRPr lang="zh-CN" altLang="en-US" sz="3200" b="1">
              <a:latin typeface="宋体" panose="02010600030101010101" pitchFamily="2" charset="-122"/>
            </a:endParaRPr>
          </a:p>
        </p:txBody>
      </p:sp>
      <p:sp>
        <p:nvSpPr>
          <p:cNvPr id="61449" name="Text Box 9"/>
          <p:cNvSpPr txBox="1">
            <a:spLocks noChangeArrowheads="1"/>
          </p:cNvSpPr>
          <p:nvPr/>
        </p:nvSpPr>
        <p:spPr bwMode="auto">
          <a:xfrm>
            <a:off x="631825" y="5127625"/>
            <a:ext cx="38290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solidFill>
                  <a:srgbClr val="9900CC"/>
                </a:solidFill>
                <a:latin typeface="宋体" panose="02010600030101010101" pitchFamily="2" charset="-122"/>
              </a:rPr>
              <a:t>    </a:t>
            </a:r>
            <a:r>
              <a:rPr lang="zh-CN" altLang="en-US" sz="3200" b="1">
                <a:solidFill>
                  <a:srgbClr val="9900CC"/>
                </a:solidFill>
                <a:latin typeface="宋体" panose="02010600030101010101" pitchFamily="2" charset="-122"/>
              </a:rPr>
              <a:t>综合分析后，想象出泵体的状。</a:t>
            </a:r>
            <a:endParaRPr lang="zh-CN" altLang="en-US" sz="3200" b="1">
              <a:solidFill>
                <a:srgbClr val="9900CC"/>
              </a:solidFill>
              <a:latin typeface="宋体" panose="02010600030101010101" pitchFamily="2" charset="-122"/>
            </a:endParaRPr>
          </a:p>
        </p:txBody>
      </p:sp>
      <p:pic>
        <p:nvPicPr>
          <p:cNvPr id="61453"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08463" y="858838"/>
            <a:ext cx="4487862" cy="5040312"/>
          </a:xfrm>
          <a:prstGeom prst="rect">
            <a:avLst/>
          </a:prstGeom>
          <a:noFill/>
          <a:extLst>
            <a:ext uri="{909E8E84-426E-40DD-AFC4-6F175D3DCCD1}">
              <a14:hiddenFill xmlns:a14="http://schemas.microsoft.com/office/drawing/2010/main">
                <a:solidFill>
                  <a:srgbClr val="FFFFFF"/>
                </a:solidFill>
              </a14:hiddenFill>
            </a:ext>
          </a:extLst>
        </p:spPr>
      </p:pic>
      <p:grpSp>
        <p:nvGrpSpPr>
          <p:cNvPr id="61455" name="Group 15"/>
          <p:cNvGrpSpPr/>
          <p:nvPr/>
        </p:nvGrpSpPr>
        <p:grpSpPr bwMode="auto">
          <a:xfrm>
            <a:off x="4243388" y="811213"/>
            <a:ext cx="4457700" cy="5257800"/>
            <a:chOff x="2649" y="511"/>
            <a:chExt cx="2808" cy="3312"/>
          </a:xfrm>
        </p:grpSpPr>
        <p:sp>
          <p:nvSpPr>
            <p:cNvPr id="61451" name="Rectangle 11"/>
            <p:cNvSpPr>
              <a:spLocks noChangeArrowheads="1"/>
            </p:cNvSpPr>
            <p:nvPr/>
          </p:nvSpPr>
          <p:spPr bwMode="auto">
            <a:xfrm>
              <a:off x="2649" y="511"/>
              <a:ext cx="2808" cy="3312"/>
            </a:xfrm>
            <a:prstGeom prst="rect">
              <a:avLst/>
            </a:prstGeom>
            <a:solidFill>
              <a:schemeClr val="bg1"/>
            </a:solidFill>
            <a:ln>
              <a:noFill/>
            </a:ln>
            <a:effectLst/>
            <a:extLst>
              <a:ext uri="{91240B29-F687-4F45-9708-019B960494DF}">
                <a14:hiddenLine xmlns:a14="http://schemas.microsoft.com/office/drawing/2010/main" w="9525">
                  <a:pattFill prst="solidDmnd">
                    <a:fgClr>
                      <a:srgbClr val="33CCCC"/>
                    </a:fgClr>
                    <a:bgClr>
                      <a:srgbClr val="FFFFFF"/>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145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8" y="745"/>
              <a:ext cx="2428" cy="285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61448"/>
                                        </p:tgtEl>
                                        <p:attrNameLst>
                                          <p:attrName>style.visibility</p:attrName>
                                        </p:attrNameLst>
                                      </p:cBhvr>
                                      <p:to>
                                        <p:strVal val="visible"/>
                                      </p:to>
                                    </p:set>
                                    <p:animEffect transition="in" filter="strips(downLeft)">
                                      <p:cBhvr>
                                        <p:cTn id="7" dur="500"/>
                                        <p:tgtEl>
                                          <p:spTgt spid="6144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1446"/>
                                        </p:tgtEl>
                                        <p:attrNameLst>
                                          <p:attrName>style.visibility</p:attrName>
                                        </p:attrNameLst>
                                      </p:cBhvr>
                                      <p:to>
                                        <p:strVal val="visible"/>
                                      </p:to>
                                    </p:set>
                                    <p:animEffect transition="in" filter="strips(downRight)">
                                      <p:cBhvr>
                                        <p:cTn id="12" dur="500"/>
                                        <p:tgtEl>
                                          <p:spTgt spid="61446"/>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9" fill="hold" grpId="0" nodeType="clickEffect">
                                  <p:stCondLst>
                                    <p:cond delay="0"/>
                                  </p:stCondLst>
                                  <p:childTnLst>
                                    <p:set>
                                      <p:cBhvr>
                                        <p:cTn id="16" dur="1" fill="hold">
                                          <p:stCondLst>
                                            <p:cond delay="0"/>
                                          </p:stCondLst>
                                        </p:cTn>
                                        <p:tgtEl>
                                          <p:spTgt spid="61447"/>
                                        </p:tgtEl>
                                        <p:attrNameLst>
                                          <p:attrName>style.visibility</p:attrName>
                                        </p:attrNameLst>
                                      </p:cBhvr>
                                      <p:to>
                                        <p:strVal val="visible"/>
                                      </p:to>
                                    </p:set>
                                    <p:animEffect transition="in" filter="strips(upLeft)">
                                      <p:cBhvr>
                                        <p:cTn id="17" dur="500"/>
                                        <p:tgtEl>
                                          <p:spTgt spid="6144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1449"/>
                                        </p:tgtEl>
                                        <p:attrNameLst>
                                          <p:attrName>style.visibility</p:attrName>
                                        </p:attrNameLst>
                                      </p:cBhvr>
                                      <p:to>
                                        <p:strVal val="visible"/>
                                      </p:to>
                                    </p:set>
                                    <p:animEffect transition="in" filter="strips(downRight)">
                                      <p:cBhvr>
                                        <p:cTn id="22" dur="500"/>
                                        <p:tgtEl>
                                          <p:spTgt spid="6144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1455"/>
                                        </p:tgtEl>
                                        <p:attrNameLst>
                                          <p:attrName>style.visibility</p:attrName>
                                        </p:attrNameLst>
                                      </p:cBhvr>
                                      <p:to>
                                        <p:strVal val="visible"/>
                                      </p:to>
                                    </p:set>
                                    <p:animEffect transition="in" filter="dissolve">
                                      <p:cBhvr>
                                        <p:cTn id="27" dur="500"/>
                                        <p:tgtEl>
                                          <p:spTgt spid="61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p:bldP spid="61447" grpId="0" autoUpdateAnimBg="0"/>
      <p:bldP spid="61448" grpId="0"/>
      <p:bldP spid="61449"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18" name="Picture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48113" y="754063"/>
            <a:ext cx="4808537" cy="5400675"/>
          </a:xfrm>
          <a:prstGeom prst="rect">
            <a:avLst/>
          </a:prstGeom>
          <a:noFill/>
          <a:extLst>
            <a:ext uri="{909E8E84-426E-40DD-AFC4-6F175D3DCCD1}">
              <a14:hiddenFill xmlns:a14="http://schemas.microsoft.com/office/drawing/2010/main">
                <a:solidFill>
                  <a:srgbClr val="FFFFFF"/>
                </a:solidFill>
              </a14:hiddenFill>
            </a:ext>
          </a:extLst>
        </p:spPr>
      </p:pic>
      <p:sp>
        <p:nvSpPr>
          <p:cNvPr id="47109" name="Text Box 5"/>
          <p:cNvSpPr txBox="1">
            <a:spLocks noChangeArrowheads="1"/>
          </p:cNvSpPr>
          <p:nvPr/>
        </p:nvSpPr>
        <p:spPr bwMode="auto">
          <a:xfrm>
            <a:off x="501650" y="25400"/>
            <a:ext cx="4265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3200" b="1">
                <a:solidFill>
                  <a:srgbClr val="FF3300"/>
                </a:solidFill>
                <a:latin typeface="宋体" panose="02010600030101010101" pitchFamily="2" charset="-122"/>
              </a:rPr>
              <a:t>4.</a:t>
            </a:r>
            <a:r>
              <a:rPr lang="zh-CN" altLang="en-US" sz="3200" b="1">
                <a:solidFill>
                  <a:srgbClr val="FF3300"/>
                </a:solidFill>
                <a:latin typeface="宋体" panose="02010600030101010101" pitchFamily="2" charset="-122"/>
              </a:rPr>
              <a:t>分析尺寸和技术要求</a:t>
            </a:r>
            <a:endParaRPr lang="zh-CN" altLang="en-US" sz="3200" b="1">
              <a:solidFill>
                <a:srgbClr val="FF3300"/>
              </a:solidFill>
              <a:latin typeface="宋体" panose="02010600030101010101" pitchFamily="2" charset="-122"/>
            </a:endParaRPr>
          </a:p>
        </p:txBody>
      </p:sp>
      <p:sp>
        <p:nvSpPr>
          <p:cNvPr id="47110" name="Text Box 6"/>
          <p:cNvSpPr txBox="1">
            <a:spLocks noChangeArrowheads="1"/>
          </p:cNvSpPr>
          <p:nvPr/>
        </p:nvSpPr>
        <p:spPr bwMode="auto">
          <a:xfrm>
            <a:off x="400050" y="2166938"/>
            <a:ext cx="35941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90000"/>
              </a:lnSpc>
            </a:pPr>
            <a:r>
              <a:rPr lang="en-US" altLang="zh-CN" sz="2800" b="1">
                <a:latin typeface="宋体" panose="02010600030101010101" pitchFamily="2" charset="-122"/>
              </a:rPr>
              <a:t>    </a:t>
            </a:r>
            <a:r>
              <a:rPr lang="zh-CN" altLang="en-US" sz="2800" b="1">
                <a:latin typeface="宋体" panose="02010600030101010101" pitchFamily="2" charset="-122"/>
              </a:rPr>
              <a:t>长度方向是安装板的端面。</a:t>
            </a:r>
            <a:endParaRPr lang="zh-CN" altLang="en-US" sz="2800" b="1">
              <a:latin typeface="宋体" panose="02010600030101010101" pitchFamily="2" charset="-122"/>
            </a:endParaRPr>
          </a:p>
        </p:txBody>
      </p:sp>
      <p:sp>
        <p:nvSpPr>
          <p:cNvPr id="47111" name="Text Box 7"/>
          <p:cNvSpPr txBox="1">
            <a:spLocks noChangeArrowheads="1"/>
          </p:cNvSpPr>
          <p:nvPr/>
        </p:nvSpPr>
        <p:spPr bwMode="auto">
          <a:xfrm>
            <a:off x="400050" y="3046413"/>
            <a:ext cx="3706813"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90000"/>
              </a:lnSpc>
            </a:pPr>
            <a:r>
              <a:rPr lang="en-US" altLang="zh-CN" sz="2800" b="1">
                <a:latin typeface="宋体" panose="02010600030101010101" pitchFamily="2" charset="-122"/>
              </a:rPr>
              <a:t>    </a:t>
            </a:r>
            <a:r>
              <a:rPr lang="zh-CN" altLang="en-US" sz="2800" b="1">
                <a:latin typeface="宋体" panose="02010600030101010101" pitchFamily="2" charset="-122"/>
              </a:rPr>
              <a:t>宽度方向是泵体前后对称面。</a:t>
            </a:r>
            <a:endParaRPr lang="zh-CN" altLang="en-US" sz="2800" b="1">
              <a:latin typeface="宋体" panose="02010600030101010101" pitchFamily="2" charset="-122"/>
            </a:endParaRPr>
          </a:p>
        </p:txBody>
      </p:sp>
      <p:sp>
        <p:nvSpPr>
          <p:cNvPr id="47112" name="Text Box 8"/>
          <p:cNvSpPr txBox="1">
            <a:spLocks noChangeArrowheads="1"/>
          </p:cNvSpPr>
          <p:nvPr/>
        </p:nvSpPr>
        <p:spPr bwMode="auto">
          <a:xfrm>
            <a:off x="400050" y="3914775"/>
            <a:ext cx="3635375"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90000"/>
              </a:lnSpc>
            </a:pPr>
            <a:r>
              <a:rPr lang="en-US" altLang="zh-CN" sz="2800" b="1">
                <a:latin typeface="宋体" panose="02010600030101010101" pitchFamily="2" charset="-122"/>
              </a:rPr>
              <a:t>    </a:t>
            </a:r>
            <a:r>
              <a:rPr lang="zh-CN" altLang="en-US" sz="2800" b="1">
                <a:latin typeface="宋体" panose="02010600030101010101" pitchFamily="2" charset="-122"/>
              </a:rPr>
              <a:t>高度方向是泵体的上端面。</a:t>
            </a:r>
            <a:endParaRPr lang="zh-CN" altLang="en-US" sz="2800" b="1">
              <a:latin typeface="宋体" panose="02010600030101010101" pitchFamily="2" charset="-122"/>
            </a:endParaRPr>
          </a:p>
        </p:txBody>
      </p:sp>
      <p:sp>
        <p:nvSpPr>
          <p:cNvPr id="47113" name="Text Box 9"/>
          <p:cNvSpPr txBox="1">
            <a:spLocks noChangeArrowheads="1"/>
          </p:cNvSpPr>
          <p:nvPr/>
        </p:nvSpPr>
        <p:spPr bwMode="auto">
          <a:xfrm>
            <a:off x="400050" y="598488"/>
            <a:ext cx="3427413"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90000"/>
              </a:lnSpc>
            </a:pPr>
            <a:r>
              <a:rPr lang="en-US" altLang="zh-CN" sz="2800" b="1">
                <a:latin typeface="宋体" panose="02010600030101010101" pitchFamily="2" charset="-122"/>
              </a:rPr>
              <a:t>    </a:t>
            </a:r>
            <a:r>
              <a:rPr lang="zh-CN" altLang="en-US" sz="2800" b="1">
                <a:latin typeface="宋体" panose="02010600030101010101" pitchFamily="2" charset="-122"/>
              </a:rPr>
              <a:t>首先找出长、宽、高三个方向的尺寸基准，然后找出主要尺寸。</a:t>
            </a:r>
            <a:endParaRPr lang="zh-CN" altLang="en-US" sz="2800" b="1">
              <a:latin typeface="宋体" panose="02010600030101010101" pitchFamily="2" charset="-122"/>
            </a:endParaRPr>
          </a:p>
        </p:txBody>
      </p:sp>
      <p:sp>
        <p:nvSpPr>
          <p:cNvPr id="47114" name="AutoShape 10"/>
          <p:cNvSpPr>
            <a:spLocks noChangeArrowheads="1"/>
          </p:cNvSpPr>
          <p:nvPr/>
        </p:nvSpPr>
        <p:spPr bwMode="auto">
          <a:xfrm>
            <a:off x="4129088" y="5522913"/>
            <a:ext cx="311150" cy="149225"/>
          </a:xfrm>
          <a:prstGeom prst="rightArrow">
            <a:avLst>
              <a:gd name="adj1" fmla="val 50000"/>
              <a:gd name="adj2" fmla="val 52128"/>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115" name="AutoShape 11"/>
          <p:cNvSpPr>
            <a:spLocks noChangeArrowheads="1"/>
          </p:cNvSpPr>
          <p:nvPr/>
        </p:nvSpPr>
        <p:spPr bwMode="auto">
          <a:xfrm rot="1773653">
            <a:off x="6654800" y="4621213"/>
            <a:ext cx="150813" cy="300037"/>
          </a:xfrm>
          <a:prstGeom prst="downArrow">
            <a:avLst>
              <a:gd name="adj1" fmla="val 50000"/>
              <a:gd name="adj2" fmla="val 49737"/>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116" name="AutoShape 12"/>
          <p:cNvSpPr>
            <a:spLocks noChangeArrowheads="1"/>
          </p:cNvSpPr>
          <p:nvPr/>
        </p:nvSpPr>
        <p:spPr bwMode="auto">
          <a:xfrm>
            <a:off x="7786688" y="1004888"/>
            <a:ext cx="109537" cy="231775"/>
          </a:xfrm>
          <a:prstGeom prst="downArrow">
            <a:avLst>
              <a:gd name="adj1" fmla="val 50000"/>
              <a:gd name="adj2" fmla="val 52899"/>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117" name="Text Box 13"/>
          <p:cNvSpPr txBox="1">
            <a:spLocks noChangeArrowheads="1"/>
          </p:cNvSpPr>
          <p:nvPr/>
        </p:nvSpPr>
        <p:spPr bwMode="auto">
          <a:xfrm>
            <a:off x="400050" y="4838700"/>
            <a:ext cx="3829050" cy="124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90000"/>
              </a:lnSpc>
            </a:pPr>
            <a:r>
              <a:rPr lang="en-US" altLang="zh-CN" sz="2800" b="1">
                <a:latin typeface="宋体" panose="02010600030101010101" pitchFamily="2" charset="-122"/>
              </a:rPr>
              <a:t>  </a:t>
            </a:r>
            <a:r>
              <a:rPr lang="en-US" altLang="zh-CN" sz="2800" b="1">
                <a:solidFill>
                  <a:schemeClr val="accent2"/>
                </a:solidFill>
                <a:latin typeface="宋体" panose="02010600030101010101" pitchFamily="2" charset="-122"/>
              </a:rPr>
              <a:t>47</a:t>
            </a:r>
            <a:r>
              <a:rPr lang="en-US" altLang="zh-CN" sz="2800" b="1">
                <a:solidFill>
                  <a:schemeClr val="accent2"/>
                </a:solidFill>
                <a:latin typeface="宋体" panose="02010600030101010101" pitchFamily="2" charset="-122"/>
                <a:sym typeface="CommercialPi BT" panose="05020102010206080802" pitchFamily="18" charset="2"/>
              </a:rPr>
              <a:t>±0.1</a:t>
            </a:r>
            <a:r>
              <a:rPr lang="zh-CN" altLang="en-US" sz="2800" b="1">
                <a:solidFill>
                  <a:schemeClr val="accent2"/>
                </a:solidFill>
                <a:latin typeface="宋体" panose="02010600030101010101" pitchFamily="2" charset="-122"/>
                <a:sym typeface="CommercialPi BT" panose="05020102010206080802" pitchFamily="18" charset="2"/>
              </a:rPr>
              <a:t>、</a:t>
            </a:r>
            <a:r>
              <a:rPr lang="en-US" altLang="zh-CN" sz="2800" b="1">
                <a:solidFill>
                  <a:schemeClr val="accent2"/>
                </a:solidFill>
                <a:latin typeface="宋体" panose="02010600030101010101" pitchFamily="2" charset="-122"/>
                <a:sym typeface="CommercialPi BT" panose="05020102010206080802" pitchFamily="18" charset="2"/>
              </a:rPr>
              <a:t>60±0.2</a:t>
            </a:r>
            <a:endParaRPr lang="en-US" altLang="zh-CN" sz="2800" b="1">
              <a:latin typeface="宋体" panose="02010600030101010101" pitchFamily="2" charset="-122"/>
              <a:sym typeface="CommercialPi BT" panose="05020102010206080802" pitchFamily="18" charset="2"/>
            </a:endParaRPr>
          </a:p>
          <a:p>
            <a:pPr>
              <a:lnSpc>
                <a:spcPct val="90000"/>
              </a:lnSpc>
            </a:pPr>
            <a:r>
              <a:rPr lang="zh-CN" altLang="en-US" sz="2800" b="1">
                <a:latin typeface="宋体" panose="02010600030101010101" pitchFamily="2" charset="-122"/>
                <a:sym typeface="CommercialPi BT" panose="05020102010206080802" pitchFamily="18" charset="2"/>
              </a:rPr>
              <a:t>是主要尺寸，加工时</a:t>
            </a:r>
            <a:endParaRPr lang="zh-CN" altLang="en-US" sz="2800" b="1">
              <a:latin typeface="宋体" panose="02010600030101010101" pitchFamily="2" charset="-122"/>
              <a:sym typeface="CommercialPi BT" panose="05020102010206080802" pitchFamily="18" charset="2"/>
            </a:endParaRPr>
          </a:p>
          <a:p>
            <a:pPr>
              <a:lnSpc>
                <a:spcPct val="90000"/>
              </a:lnSpc>
            </a:pPr>
            <a:r>
              <a:rPr lang="zh-CN" altLang="en-US" sz="2800" b="1">
                <a:latin typeface="宋体" panose="02010600030101010101" pitchFamily="2" charset="-122"/>
                <a:sym typeface="CommercialPi BT" panose="05020102010206080802" pitchFamily="18" charset="2"/>
              </a:rPr>
              <a:t>必须保证。</a:t>
            </a:r>
            <a:endParaRPr lang="zh-CN" altLang="en-US" sz="28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7113"/>
                                        </p:tgtEl>
                                        <p:attrNameLst>
                                          <p:attrName>style.visibility</p:attrName>
                                        </p:attrNameLst>
                                      </p:cBhvr>
                                      <p:to>
                                        <p:strVal val="visible"/>
                                      </p:to>
                                    </p:set>
                                    <p:animEffect transition="in" filter="box(out)">
                                      <p:cBhvr>
                                        <p:cTn id="7" dur="500"/>
                                        <p:tgtEl>
                                          <p:spTgt spid="4711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7110"/>
                                        </p:tgtEl>
                                        <p:attrNameLst>
                                          <p:attrName>style.visibility</p:attrName>
                                        </p:attrNameLst>
                                      </p:cBhvr>
                                      <p:to>
                                        <p:strVal val="visible"/>
                                      </p:to>
                                    </p:set>
                                    <p:animEffect transition="in" filter="slide(fromLeft)">
                                      <p:cBhvr>
                                        <p:cTn id="12" dur="500"/>
                                        <p:tgtEl>
                                          <p:spTgt spid="471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7114"/>
                                        </p:tgtEl>
                                        <p:attrNameLst>
                                          <p:attrName>style.visibility</p:attrName>
                                        </p:attrNameLst>
                                      </p:cBhvr>
                                      <p:to>
                                        <p:strVal val="visible"/>
                                      </p:to>
                                    </p:set>
                                    <p:anim calcmode="lin" valueType="num">
                                      <p:cBhvr additive="base">
                                        <p:cTn id="17" dur="500" fill="hold"/>
                                        <p:tgtEl>
                                          <p:spTgt spid="47114"/>
                                        </p:tgtEl>
                                        <p:attrNameLst>
                                          <p:attrName>ppt_x</p:attrName>
                                        </p:attrNameLst>
                                      </p:cBhvr>
                                      <p:tavLst>
                                        <p:tav tm="0">
                                          <p:val>
                                            <p:strVal val="0-#ppt_w/2"/>
                                          </p:val>
                                        </p:tav>
                                        <p:tav tm="100000">
                                          <p:val>
                                            <p:strVal val="#ppt_x"/>
                                          </p:val>
                                        </p:tav>
                                      </p:tavLst>
                                    </p:anim>
                                    <p:anim calcmode="lin" valueType="num">
                                      <p:cBhvr additive="base">
                                        <p:cTn id="18" dur="500" fill="hold"/>
                                        <p:tgtEl>
                                          <p:spTgt spid="4711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2" fill="hold" grpId="0" nodeType="clickEffect">
                                  <p:stCondLst>
                                    <p:cond delay="0"/>
                                  </p:stCondLst>
                                  <p:childTnLst>
                                    <p:set>
                                      <p:cBhvr>
                                        <p:cTn id="22" dur="1" fill="hold">
                                          <p:stCondLst>
                                            <p:cond delay="0"/>
                                          </p:stCondLst>
                                        </p:cTn>
                                        <p:tgtEl>
                                          <p:spTgt spid="47111"/>
                                        </p:tgtEl>
                                        <p:attrNameLst>
                                          <p:attrName>style.visibility</p:attrName>
                                        </p:attrNameLst>
                                      </p:cBhvr>
                                      <p:to>
                                        <p:strVal val="visible"/>
                                      </p:to>
                                    </p:set>
                                    <p:animEffect transition="in" filter="slide(fromRight)">
                                      <p:cBhvr>
                                        <p:cTn id="23" dur="500"/>
                                        <p:tgtEl>
                                          <p:spTgt spid="4711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47115"/>
                                        </p:tgtEl>
                                        <p:attrNameLst>
                                          <p:attrName>style.visibility</p:attrName>
                                        </p:attrNameLst>
                                      </p:cBhvr>
                                      <p:to>
                                        <p:strVal val="visible"/>
                                      </p:to>
                                    </p:set>
                                    <p:anim calcmode="lin" valueType="num">
                                      <p:cBhvr additive="base">
                                        <p:cTn id="28" dur="500" fill="hold"/>
                                        <p:tgtEl>
                                          <p:spTgt spid="47115"/>
                                        </p:tgtEl>
                                        <p:attrNameLst>
                                          <p:attrName>ppt_x</p:attrName>
                                        </p:attrNameLst>
                                      </p:cBhvr>
                                      <p:tavLst>
                                        <p:tav tm="0">
                                          <p:val>
                                            <p:strVal val="1+#ppt_w/2"/>
                                          </p:val>
                                        </p:tav>
                                        <p:tav tm="100000">
                                          <p:val>
                                            <p:strVal val="#ppt_x"/>
                                          </p:val>
                                        </p:tav>
                                      </p:tavLst>
                                    </p:anim>
                                    <p:anim calcmode="lin" valueType="num">
                                      <p:cBhvr additive="base">
                                        <p:cTn id="29" dur="500" fill="hold"/>
                                        <p:tgtEl>
                                          <p:spTgt spid="4711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grpId="0" nodeType="clickEffect">
                                  <p:stCondLst>
                                    <p:cond delay="0"/>
                                  </p:stCondLst>
                                  <p:childTnLst>
                                    <p:set>
                                      <p:cBhvr>
                                        <p:cTn id="33" dur="1" fill="hold">
                                          <p:stCondLst>
                                            <p:cond delay="0"/>
                                          </p:stCondLst>
                                        </p:cTn>
                                        <p:tgtEl>
                                          <p:spTgt spid="47112"/>
                                        </p:tgtEl>
                                        <p:attrNameLst>
                                          <p:attrName>style.visibility</p:attrName>
                                        </p:attrNameLst>
                                      </p:cBhvr>
                                      <p:to>
                                        <p:strVal val="visible"/>
                                      </p:to>
                                    </p:set>
                                    <p:animEffect transition="in" filter="slide(fromTop)">
                                      <p:cBhvr>
                                        <p:cTn id="34" dur="500"/>
                                        <p:tgtEl>
                                          <p:spTgt spid="47112"/>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1" fill="hold" nodeType="clickEffect">
                                  <p:stCondLst>
                                    <p:cond delay="0"/>
                                  </p:stCondLst>
                                  <p:childTnLst>
                                    <p:set>
                                      <p:cBhvr>
                                        <p:cTn id="38" dur="1" fill="hold">
                                          <p:stCondLst>
                                            <p:cond delay="0"/>
                                          </p:stCondLst>
                                        </p:cTn>
                                        <p:tgtEl>
                                          <p:spTgt spid="47116"/>
                                        </p:tgtEl>
                                        <p:attrNameLst>
                                          <p:attrName>style.visibility</p:attrName>
                                        </p:attrNameLst>
                                      </p:cBhvr>
                                      <p:to>
                                        <p:strVal val="visible"/>
                                      </p:to>
                                    </p:set>
                                    <p:anim calcmode="lin" valueType="num">
                                      <p:cBhvr additive="base">
                                        <p:cTn id="39" dur="500" fill="hold"/>
                                        <p:tgtEl>
                                          <p:spTgt spid="47116"/>
                                        </p:tgtEl>
                                        <p:attrNameLst>
                                          <p:attrName>ppt_x</p:attrName>
                                        </p:attrNameLst>
                                      </p:cBhvr>
                                      <p:tavLst>
                                        <p:tav tm="0">
                                          <p:val>
                                            <p:strVal val="#ppt_x"/>
                                          </p:val>
                                        </p:tav>
                                        <p:tav tm="100000">
                                          <p:val>
                                            <p:strVal val="#ppt_x"/>
                                          </p:val>
                                        </p:tav>
                                      </p:tavLst>
                                    </p:anim>
                                    <p:anim calcmode="lin" valueType="num">
                                      <p:cBhvr additive="base">
                                        <p:cTn id="40" dur="500" fill="hold"/>
                                        <p:tgtEl>
                                          <p:spTgt spid="47116"/>
                                        </p:tgtEl>
                                        <p:attrNameLst>
                                          <p:attrName>ppt_y</p:attrName>
                                        </p:attrNameLst>
                                      </p:cBhvr>
                                      <p:tavLst>
                                        <p:tav tm="0">
                                          <p:val>
                                            <p:strVal val="0-#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47117"/>
                                        </p:tgtEl>
                                        <p:attrNameLst>
                                          <p:attrName>style.visibility</p:attrName>
                                        </p:attrNameLst>
                                      </p:cBhvr>
                                      <p:to>
                                        <p:strVal val="visible"/>
                                      </p:to>
                                    </p:set>
                                    <p:animEffect transition="in" filter="strips(downRight)">
                                      <p:cBhvr>
                                        <p:cTn id="45" dur="500"/>
                                        <p:tgtEl>
                                          <p:spTgt spid="47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0" grpId="0" autoUpdateAnimBg="0"/>
      <p:bldP spid="47111" grpId="0" autoUpdateAnimBg="0"/>
      <p:bldP spid="47112" grpId="0" autoUpdateAnimBg="0"/>
      <p:bldP spid="47113" grpId="0" autoUpdateAnimBg="0"/>
      <p:bldP spid="47117"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419100" y="307975"/>
            <a:ext cx="3375025" cy="594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    </a:t>
            </a:r>
            <a:r>
              <a:rPr lang="zh-CN" altLang="en-US" sz="3200" b="1">
                <a:latin typeface="宋体" panose="02010600030101010101" pitchFamily="2" charset="-122"/>
              </a:rPr>
              <a:t>进出油口及顶面尺寸：</a:t>
            </a:r>
            <a:endParaRPr lang="zh-CN" altLang="en-US" sz="3200" b="1">
              <a:latin typeface="宋体" panose="02010600030101010101" pitchFamily="2" charset="-122"/>
            </a:endParaRPr>
          </a:p>
          <a:p>
            <a:r>
              <a:rPr lang="zh-CN" altLang="en-US" sz="3200" b="1">
                <a:latin typeface="宋体" panose="02010600030101010101" pitchFamily="2" charset="-122"/>
              </a:rPr>
              <a:t>  </a:t>
            </a:r>
            <a:r>
              <a:rPr lang="en-US" altLang="zh-CN" sz="3200" b="1">
                <a:solidFill>
                  <a:schemeClr val="accent2"/>
                </a:solidFill>
                <a:latin typeface="宋体" panose="02010600030101010101" pitchFamily="2" charset="-122"/>
              </a:rPr>
              <a:t>M14×1.5-7H</a:t>
            </a:r>
            <a:endParaRPr lang="en-US" altLang="zh-CN" sz="3200" b="1">
              <a:solidFill>
                <a:schemeClr val="accent2"/>
              </a:solidFill>
              <a:latin typeface="宋体" panose="02010600030101010101" pitchFamily="2" charset="-122"/>
            </a:endParaRPr>
          </a:p>
          <a:p>
            <a:r>
              <a:rPr lang="en-US" altLang="zh-CN" sz="3200" b="1">
                <a:latin typeface="宋体" panose="02010600030101010101" pitchFamily="2" charset="-122"/>
              </a:rPr>
              <a:t>  </a:t>
            </a:r>
            <a:r>
              <a:rPr lang="en-US" altLang="zh-CN" sz="3200" b="1">
                <a:solidFill>
                  <a:schemeClr val="accent2"/>
                </a:solidFill>
                <a:latin typeface="宋体" panose="02010600030101010101" pitchFamily="2" charset="-122"/>
              </a:rPr>
              <a:t>M33×1.5-7H</a:t>
            </a:r>
            <a:endParaRPr lang="en-US" altLang="zh-CN" sz="3200" b="1">
              <a:latin typeface="宋体" panose="02010600030101010101" pitchFamily="2" charset="-122"/>
            </a:endParaRPr>
          </a:p>
          <a:p>
            <a:r>
              <a:rPr lang="en-US" altLang="zh-CN" sz="3200" b="1">
                <a:latin typeface="宋体" panose="02010600030101010101" pitchFamily="2" charset="-122"/>
              </a:rPr>
              <a:t>    </a:t>
            </a:r>
            <a:r>
              <a:rPr lang="zh-CN" altLang="en-US" sz="3200" b="1">
                <a:latin typeface="宋体" panose="02010600030101010101" pitchFamily="2" charset="-122"/>
              </a:rPr>
              <a:t>都是细牙普通螺纹。 </a:t>
            </a:r>
            <a:endParaRPr lang="zh-CN" altLang="en-US" sz="3200" b="1">
              <a:latin typeface="宋体" panose="02010600030101010101" pitchFamily="2" charset="-122"/>
            </a:endParaRPr>
          </a:p>
          <a:p>
            <a:r>
              <a:rPr lang="zh-CN" altLang="en-US" sz="3200" b="1">
                <a:latin typeface="宋体" panose="02010600030101010101" pitchFamily="2" charset="-122"/>
              </a:rPr>
              <a:t>    端面表面粗糙度参数</a:t>
            </a:r>
            <a:r>
              <a:rPr lang="en-US" altLang="zh-CN" sz="3200" b="1" i="1">
                <a:solidFill>
                  <a:schemeClr val="accent2"/>
                </a:solidFill>
              </a:rPr>
              <a:t>Ra</a:t>
            </a:r>
            <a:r>
              <a:rPr lang="zh-CN" altLang="en-US" sz="3200" b="1">
                <a:solidFill>
                  <a:schemeClr val="accent2"/>
                </a:solidFill>
                <a:latin typeface="宋体" panose="02010600030101010101" pitchFamily="2" charset="-122"/>
              </a:rPr>
              <a:t>值分别为</a:t>
            </a:r>
            <a:r>
              <a:rPr lang="en-US" altLang="zh-CN" sz="3200" b="1">
                <a:solidFill>
                  <a:schemeClr val="accent2"/>
                </a:solidFill>
                <a:latin typeface="宋体" panose="02010600030101010101" pitchFamily="2" charset="-122"/>
              </a:rPr>
              <a:t>3.2</a:t>
            </a:r>
            <a:r>
              <a:rPr lang="zh-CN" altLang="en-US" sz="3200" b="1">
                <a:solidFill>
                  <a:schemeClr val="accent2"/>
                </a:solidFill>
                <a:latin typeface="宋体" panose="02010600030101010101" pitchFamily="2" charset="-122"/>
              </a:rPr>
              <a:t>、</a:t>
            </a:r>
            <a:r>
              <a:rPr lang="en-US" altLang="zh-CN" sz="3200" b="1">
                <a:solidFill>
                  <a:schemeClr val="accent2"/>
                </a:solidFill>
                <a:latin typeface="宋体" panose="02010600030101010101" pitchFamily="2" charset="-122"/>
              </a:rPr>
              <a:t>6.3</a:t>
            </a:r>
            <a:r>
              <a:rPr lang="zh-CN" altLang="en-US" sz="3200" b="1">
                <a:latin typeface="宋体" panose="02010600030101010101" pitchFamily="2" charset="-122"/>
              </a:rPr>
              <a:t>，要求较高，以便对外连接紧密，防止漏油。</a:t>
            </a:r>
            <a:endParaRPr lang="zh-CN" altLang="en-US" sz="3200" b="1">
              <a:latin typeface="宋体" panose="02010600030101010101" pitchFamily="2" charset="-122"/>
            </a:endParaRPr>
          </a:p>
        </p:txBody>
      </p:sp>
      <p:pic>
        <p:nvPicPr>
          <p:cNvPr id="4813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81425" y="727075"/>
            <a:ext cx="4808538" cy="5400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randombar(horizontal)">
                                      <p:cBhvr>
                                        <p:cTn id="7" dur="500"/>
                                        <p:tgtEl>
                                          <p:spTgt spid="48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Text Box 4"/>
          <p:cNvSpPr txBox="1">
            <a:spLocks noGrp="1" noChangeArrowheads="1"/>
          </p:cNvSpPr>
          <p:nvPr>
            <p:ph type="ctrTitle"/>
          </p:nvPr>
        </p:nvSpPr>
        <p:spPr>
          <a:xfrm>
            <a:off x="2338388" y="114300"/>
            <a:ext cx="4395787" cy="746125"/>
          </a:xfrm>
          <a:gradFill rotWithShape="0">
            <a:gsLst>
              <a:gs pos="0">
                <a:srgbClr val="FF66FF"/>
              </a:gs>
              <a:gs pos="50000">
                <a:srgbClr val="FF66FF">
                  <a:gamma/>
                  <a:tint val="0"/>
                  <a:invGamma/>
                </a:srgbClr>
              </a:gs>
              <a:gs pos="100000">
                <a:srgbClr val="FF66FF"/>
              </a:gs>
            </a:gsLst>
            <a:lin ang="5400000" scaled="1"/>
          </a:gradFill>
          <a:ln w="38100">
            <a:pattFill prst="trellis">
              <a:fgClr>
                <a:srgbClr val="FF0000"/>
              </a:fgClr>
              <a:bgClr>
                <a:srgbClr val="FFFF00"/>
              </a:bgClr>
            </a:pattFill>
            <a:miter lim="800000"/>
          </a:ln>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r>
              <a:rPr lang="zh-CN" altLang="en-US" sz="4000" b="1">
                <a:solidFill>
                  <a:schemeClr val="tx1"/>
                </a:solidFill>
                <a:latin typeface="宋体" panose="02010600030101010101" pitchFamily="2" charset="-122"/>
              </a:rPr>
              <a:t>小结</a:t>
            </a:r>
            <a:endParaRPr lang="zh-CN" altLang="en-US" sz="4000" b="1" dirty="0">
              <a:solidFill>
                <a:schemeClr val="tx1"/>
              </a:solidFill>
              <a:latin typeface="宋体" panose="02010600030101010101" pitchFamily="2" charset="-122"/>
              <a:sym typeface="Wingdings" panose="05000000000000000000" pitchFamily="2" charset="2"/>
            </a:endParaRPr>
          </a:p>
        </p:txBody>
      </p:sp>
      <p:sp>
        <p:nvSpPr>
          <p:cNvPr id="77829" name="Text Box 5"/>
          <p:cNvSpPr txBox="1">
            <a:spLocks noChangeArrowheads="1"/>
          </p:cNvSpPr>
          <p:nvPr/>
        </p:nvSpPr>
        <p:spPr bwMode="auto">
          <a:xfrm>
            <a:off x="225425" y="884238"/>
            <a:ext cx="79375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3200" b="1">
                <a:solidFill>
                  <a:srgbClr val="FF3300"/>
                </a:solidFill>
                <a:latin typeface="宋体" panose="02010600030101010101" pitchFamily="2" charset="-122"/>
              </a:rPr>
              <a:t>1.</a:t>
            </a:r>
            <a:r>
              <a:rPr lang="zh-CN" altLang="en-US" sz="3200" b="1">
                <a:solidFill>
                  <a:srgbClr val="FF3300"/>
                </a:solidFill>
                <a:latin typeface="宋体" panose="02010600030101010101" pitchFamily="2" charset="-122"/>
              </a:rPr>
              <a:t>掌握零件图视图选择的方法及步骤，并注</a:t>
            </a:r>
            <a:endParaRPr lang="zh-CN" altLang="en-US" sz="3200" b="1">
              <a:solidFill>
                <a:srgbClr val="FF3300"/>
              </a:solidFill>
              <a:latin typeface="宋体" panose="02010600030101010101" pitchFamily="2" charset="-122"/>
            </a:endParaRPr>
          </a:p>
          <a:p>
            <a:r>
              <a:rPr lang="zh-CN" altLang="en-US" sz="3200" b="1">
                <a:solidFill>
                  <a:srgbClr val="FF3300"/>
                </a:solidFill>
                <a:latin typeface="宋体" panose="02010600030101010101" pitchFamily="2" charset="-122"/>
              </a:rPr>
              <a:t>  意以下问题</a:t>
            </a:r>
            <a:r>
              <a:rPr lang="en-US" altLang="zh-CN" sz="3200" b="1">
                <a:solidFill>
                  <a:srgbClr val="FF3300"/>
                </a:solidFill>
                <a:latin typeface="宋体" panose="02010600030101010101" pitchFamily="2" charset="-122"/>
              </a:rPr>
              <a:t>:</a:t>
            </a:r>
            <a:endParaRPr lang="en-US" altLang="zh-CN" sz="3200" b="1">
              <a:solidFill>
                <a:srgbClr val="FF3300"/>
              </a:solidFill>
              <a:latin typeface="宋体" panose="02010600030101010101" pitchFamily="2" charset="-122"/>
            </a:endParaRPr>
          </a:p>
        </p:txBody>
      </p:sp>
      <p:sp>
        <p:nvSpPr>
          <p:cNvPr id="77830" name="Text Box 6"/>
          <p:cNvSpPr txBox="1">
            <a:spLocks noChangeArrowheads="1"/>
          </p:cNvSpPr>
          <p:nvPr/>
        </p:nvSpPr>
        <p:spPr bwMode="auto">
          <a:xfrm>
            <a:off x="596900" y="1890713"/>
            <a:ext cx="8515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3200" b="1">
                <a:latin typeface="宋体" panose="02010600030101010101" pitchFamily="2" charset="-122"/>
              </a:rPr>
              <a:t>⑴ </a:t>
            </a:r>
            <a:r>
              <a:rPr lang="zh-CN" altLang="en-US" sz="3200" b="1">
                <a:latin typeface="宋体" panose="02010600030101010101" pitchFamily="2" charset="-122"/>
              </a:rPr>
              <a:t>了解零件的</a:t>
            </a:r>
            <a:r>
              <a:rPr lang="zh-CN" altLang="en-US" sz="3200" b="1">
                <a:solidFill>
                  <a:srgbClr val="FF3300"/>
                </a:solidFill>
                <a:latin typeface="宋体" panose="02010600030101010101" pitchFamily="2" charset="-122"/>
              </a:rPr>
              <a:t>功用</a:t>
            </a:r>
            <a:r>
              <a:rPr lang="zh-CN" altLang="en-US" sz="3200" b="1">
                <a:latin typeface="宋体" panose="02010600030101010101" pitchFamily="2" charset="-122"/>
              </a:rPr>
              <a:t>及其各组成部分的作用，</a:t>
            </a:r>
            <a:endParaRPr lang="zh-CN" altLang="en-US" sz="3200" b="1">
              <a:latin typeface="宋体" panose="02010600030101010101" pitchFamily="2" charset="-122"/>
            </a:endParaRPr>
          </a:p>
          <a:p>
            <a:r>
              <a:rPr lang="zh-CN" altLang="en-US" sz="3200" b="1">
                <a:latin typeface="宋体" panose="02010600030101010101" pitchFamily="2" charset="-122"/>
              </a:rPr>
              <a:t>   以便在选择主视图时从表达</a:t>
            </a:r>
            <a:r>
              <a:rPr lang="zh-CN" altLang="en-US" sz="3200" b="1">
                <a:solidFill>
                  <a:srgbClr val="FF3300"/>
                </a:solidFill>
                <a:latin typeface="宋体" panose="02010600030101010101" pitchFamily="2" charset="-122"/>
              </a:rPr>
              <a:t>主要形体</a:t>
            </a:r>
            <a:r>
              <a:rPr lang="zh-CN" altLang="en-US" sz="3200" b="1">
                <a:latin typeface="宋体" panose="02010600030101010101" pitchFamily="2" charset="-122"/>
              </a:rPr>
              <a:t>入手。</a:t>
            </a:r>
            <a:endParaRPr lang="zh-CN" altLang="en-US" sz="3200" b="1">
              <a:latin typeface="宋体" panose="02010600030101010101" pitchFamily="2" charset="-122"/>
            </a:endParaRPr>
          </a:p>
        </p:txBody>
      </p:sp>
      <p:sp>
        <p:nvSpPr>
          <p:cNvPr id="77831" name="Text Box 7"/>
          <p:cNvSpPr txBox="1">
            <a:spLocks noChangeArrowheads="1"/>
          </p:cNvSpPr>
          <p:nvPr/>
        </p:nvSpPr>
        <p:spPr bwMode="auto">
          <a:xfrm>
            <a:off x="596900" y="2911475"/>
            <a:ext cx="84201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3200" b="1">
                <a:latin typeface="宋体" panose="02010600030101010101" pitchFamily="2" charset="-122"/>
              </a:rPr>
              <a:t>⑵ </a:t>
            </a:r>
            <a:r>
              <a:rPr lang="zh-CN" altLang="en-US" sz="3200" b="1">
                <a:latin typeface="宋体" panose="02010600030101010101" pitchFamily="2" charset="-122"/>
              </a:rPr>
              <a:t>确定主视图时，要正确选择零件的</a:t>
            </a:r>
            <a:r>
              <a:rPr lang="zh-CN" altLang="en-US" sz="3200" b="1">
                <a:solidFill>
                  <a:srgbClr val="FF3300"/>
                </a:solidFill>
                <a:latin typeface="宋体" panose="02010600030101010101" pitchFamily="2" charset="-122"/>
              </a:rPr>
              <a:t>安放状</a:t>
            </a:r>
            <a:endParaRPr lang="zh-CN" altLang="en-US" sz="3200" b="1">
              <a:solidFill>
                <a:srgbClr val="FF3300"/>
              </a:solidFill>
              <a:latin typeface="宋体" panose="02010600030101010101" pitchFamily="2" charset="-122"/>
            </a:endParaRPr>
          </a:p>
          <a:p>
            <a:r>
              <a:rPr lang="zh-CN" altLang="en-US" sz="3200" b="1">
                <a:latin typeface="宋体" panose="02010600030101010101" pitchFamily="2" charset="-122"/>
              </a:rPr>
              <a:t>   </a:t>
            </a:r>
            <a:r>
              <a:rPr lang="zh-CN" altLang="en-US" sz="3200" b="1">
                <a:solidFill>
                  <a:srgbClr val="FF3300"/>
                </a:solidFill>
                <a:latin typeface="宋体" panose="02010600030101010101" pitchFamily="2" charset="-122"/>
              </a:rPr>
              <a:t>态和投射方向</a:t>
            </a:r>
            <a:r>
              <a:rPr lang="zh-CN" altLang="en-US" sz="3200" b="1">
                <a:latin typeface="宋体" panose="02010600030101010101" pitchFamily="2" charset="-122"/>
              </a:rPr>
              <a:t>。</a:t>
            </a:r>
            <a:endParaRPr lang="zh-CN" altLang="en-US" sz="3200" b="1">
              <a:latin typeface="宋体" panose="02010600030101010101" pitchFamily="2" charset="-122"/>
            </a:endParaRPr>
          </a:p>
        </p:txBody>
      </p:sp>
      <p:sp>
        <p:nvSpPr>
          <p:cNvPr id="77832" name="Text Box 8"/>
          <p:cNvSpPr txBox="1">
            <a:spLocks noChangeArrowheads="1"/>
          </p:cNvSpPr>
          <p:nvPr/>
        </p:nvSpPr>
        <p:spPr bwMode="auto">
          <a:xfrm>
            <a:off x="596900" y="3952875"/>
            <a:ext cx="81089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3200" b="1">
                <a:latin typeface="宋体" panose="02010600030101010101" pitchFamily="2" charset="-122"/>
              </a:rPr>
              <a:t>⑶ </a:t>
            </a:r>
            <a:r>
              <a:rPr lang="zh-CN" altLang="en-US" sz="3200" b="1">
                <a:latin typeface="宋体" panose="02010600030101010101" pitchFamily="2" charset="-122"/>
              </a:rPr>
              <a:t>零件形状要表达完全，必须</a:t>
            </a:r>
            <a:r>
              <a:rPr lang="zh-CN" altLang="en-US" sz="3200" b="1">
                <a:solidFill>
                  <a:srgbClr val="FF3300"/>
                </a:solidFill>
                <a:latin typeface="宋体" panose="02010600030101010101" pitchFamily="2" charset="-122"/>
              </a:rPr>
              <a:t>逐个形体</a:t>
            </a:r>
            <a:r>
              <a:rPr lang="zh-CN" altLang="en-US" sz="3200" b="1">
                <a:latin typeface="宋体" panose="02010600030101010101" pitchFamily="2" charset="-122"/>
              </a:rPr>
              <a:t>检查</a:t>
            </a:r>
            <a:endParaRPr lang="zh-CN" altLang="en-US" sz="3200" b="1">
              <a:latin typeface="宋体" panose="02010600030101010101" pitchFamily="2" charset="-122"/>
            </a:endParaRPr>
          </a:p>
          <a:p>
            <a:r>
              <a:rPr lang="zh-CN" altLang="en-US" sz="3200" b="1">
                <a:latin typeface="宋体" panose="02010600030101010101" pitchFamily="2" charset="-122"/>
              </a:rPr>
              <a:t>   其形状和位置是否唯一确定。</a:t>
            </a:r>
            <a:endParaRPr lang="zh-CN" altLang="en-US" sz="3200" b="1">
              <a:latin typeface="宋体" panose="02010600030101010101" pitchFamily="2" charset="-122"/>
            </a:endParaRPr>
          </a:p>
        </p:txBody>
      </p:sp>
      <p:sp>
        <p:nvSpPr>
          <p:cNvPr id="77833" name="Text Box 9"/>
          <p:cNvSpPr txBox="1">
            <a:spLocks noChangeArrowheads="1"/>
          </p:cNvSpPr>
          <p:nvPr/>
        </p:nvSpPr>
        <p:spPr bwMode="auto">
          <a:xfrm>
            <a:off x="225425" y="4967288"/>
            <a:ext cx="79375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3200" b="1">
                <a:solidFill>
                  <a:srgbClr val="FF3300"/>
                </a:solidFill>
                <a:latin typeface="宋体" panose="02010600030101010101" pitchFamily="2" charset="-122"/>
              </a:rPr>
              <a:t>2.</a:t>
            </a:r>
            <a:r>
              <a:rPr lang="zh-CN" altLang="en-US" sz="3200" b="1">
                <a:solidFill>
                  <a:srgbClr val="FF3300"/>
                </a:solidFill>
                <a:latin typeface="宋体" panose="02010600030101010101" pitchFamily="2" charset="-122"/>
              </a:rPr>
              <a:t>掌握读、画零件图的方法和步骤及零件图</a:t>
            </a:r>
            <a:endParaRPr lang="zh-CN" altLang="en-US" sz="3200" b="1">
              <a:solidFill>
                <a:srgbClr val="FF3300"/>
              </a:solidFill>
              <a:latin typeface="宋体" panose="02010600030101010101" pitchFamily="2" charset="-122"/>
            </a:endParaRPr>
          </a:p>
          <a:p>
            <a:r>
              <a:rPr lang="zh-CN" altLang="en-US" sz="3200" b="1">
                <a:solidFill>
                  <a:srgbClr val="FF3300"/>
                </a:solidFill>
                <a:latin typeface="宋体" panose="02010600030101010101" pitchFamily="2" charset="-122"/>
              </a:rPr>
              <a:t>  上尺寸及技术要求的标注方法。</a:t>
            </a:r>
            <a:endParaRPr lang="zh-CN" altLang="en-US" sz="3200" b="1">
              <a:solidFill>
                <a:srgbClr val="FF33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77829"/>
                                        </p:tgtEl>
                                        <p:attrNameLst>
                                          <p:attrName>style.visibility</p:attrName>
                                        </p:attrNameLst>
                                      </p:cBhvr>
                                      <p:to>
                                        <p:strVal val="visible"/>
                                      </p:to>
                                    </p:set>
                                    <p:animEffect transition="in" filter="barn(outVertical)">
                                      <p:cBhvr>
                                        <p:cTn id="7" dur="500"/>
                                        <p:tgtEl>
                                          <p:spTgt spid="7782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7830"/>
                                        </p:tgtEl>
                                        <p:attrNameLst>
                                          <p:attrName>style.visibility</p:attrName>
                                        </p:attrNameLst>
                                      </p:cBhvr>
                                      <p:to>
                                        <p:strVal val="visible"/>
                                      </p:to>
                                    </p:set>
                                    <p:animEffect transition="in" filter="barn(outHorizontal)">
                                      <p:cBhvr>
                                        <p:cTn id="12" dur="500"/>
                                        <p:tgtEl>
                                          <p:spTgt spid="7783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77831"/>
                                        </p:tgtEl>
                                        <p:attrNameLst>
                                          <p:attrName>style.visibility</p:attrName>
                                        </p:attrNameLst>
                                      </p:cBhvr>
                                      <p:to>
                                        <p:strVal val="visible"/>
                                      </p:to>
                                    </p:set>
                                    <p:animEffect transition="in" filter="barn(inHorizontal)">
                                      <p:cBhvr>
                                        <p:cTn id="17" dur="500"/>
                                        <p:tgtEl>
                                          <p:spTgt spid="7783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77832"/>
                                        </p:tgtEl>
                                        <p:attrNameLst>
                                          <p:attrName>style.visibility</p:attrName>
                                        </p:attrNameLst>
                                      </p:cBhvr>
                                      <p:to>
                                        <p:strVal val="visible"/>
                                      </p:to>
                                    </p:set>
                                    <p:animEffect transition="in" filter="strips(upRight)">
                                      <p:cBhvr>
                                        <p:cTn id="22" dur="500"/>
                                        <p:tgtEl>
                                          <p:spTgt spid="778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7833"/>
                                        </p:tgtEl>
                                        <p:attrNameLst>
                                          <p:attrName>style.visibility</p:attrName>
                                        </p:attrNameLst>
                                      </p:cBhvr>
                                      <p:to>
                                        <p:strVal val="visible"/>
                                      </p:to>
                                    </p:set>
                                    <p:animEffect transition="in" filter="wipe(down)">
                                      <p:cBhvr>
                                        <p:cTn id="27" dur="500"/>
                                        <p:tgtEl>
                                          <p:spTgt spid="77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9" grpId="0" autoUpdateAnimBg="0"/>
      <p:bldP spid="77830" grpId="0" autoUpdateAnimBg="0"/>
      <p:bldP spid="77831" grpId="0" autoUpdateAnimBg="0"/>
      <p:bldP spid="77832" grpId="0" autoUpdateAnimBg="0"/>
      <p:bldP spid="77833"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026">
            <a:hlinkClick r:id="" action="ppaction://hlinkshowjump?jump=lastslideviewed"/>
          </p:cNvPr>
          <p:cNvSpPr txBox="1">
            <a:spLocks noChangeArrowheads="1"/>
          </p:cNvSpPr>
          <p:nvPr/>
        </p:nvSpPr>
        <p:spPr bwMode="auto">
          <a:xfrm>
            <a:off x="7737475" y="5754688"/>
            <a:ext cx="944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b="1">
                <a:solidFill>
                  <a:srgbClr val="33CCFF"/>
                </a:solidFill>
                <a:hlinkClick r:id="" action="ppaction://hlinkshowjump?jump=lastslideviewed"/>
              </a:rPr>
              <a:t>返回</a:t>
            </a:r>
            <a:endParaRPr lang="zh-CN" altLang="en-US"/>
          </a:p>
        </p:txBody>
      </p:sp>
      <p:grpSp>
        <p:nvGrpSpPr>
          <p:cNvPr id="52227" name="Group 1027"/>
          <p:cNvGrpSpPr/>
          <p:nvPr/>
        </p:nvGrpSpPr>
        <p:grpSpPr bwMode="auto">
          <a:xfrm>
            <a:off x="4284663" y="4791075"/>
            <a:ext cx="717550" cy="579438"/>
            <a:chOff x="2772" y="3012"/>
            <a:chExt cx="396" cy="290"/>
          </a:xfrm>
        </p:grpSpPr>
        <p:sp>
          <p:nvSpPr>
            <p:cNvPr id="52228" name="Text Box 1028"/>
            <p:cNvSpPr txBox="1">
              <a:spLocks noChangeArrowheads="1"/>
            </p:cNvSpPr>
            <p:nvPr/>
          </p:nvSpPr>
          <p:spPr bwMode="auto">
            <a:xfrm>
              <a:off x="2772" y="3012"/>
              <a:ext cx="26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3200" b="1" i="1">
                  <a:solidFill>
                    <a:srgbClr val="FF3300"/>
                  </a:solidFill>
                </a:rPr>
                <a:t>A</a:t>
              </a:r>
              <a:endParaRPr lang="en-US" altLang="zh-CN" sz="3200" i="1"/>
            </a:p>
          </p:txBody>
        </p:sp>
        <p:sp>
          <p:nvSpPr>
            <p:cNvPr id="52229" name="Line 1029"/>
            <p:cNvSpPr>
              <a:spLocks noChangeShapeType="1"/>
            </p:cNvSpPr>
            <p:nvPr/>
          </p:nvSpPr>
          <p:spPr bwMode="auto">
            <a:xfrm>
              <a:off x="2988" y="3072"/>
              <a:ext cx="180" cy="192"/>
            </a:xfrm>
            <a:prstGeom prst="line">
              <a:avLst/>
            </a:prstGeom>
            <a:noFill/>
            <a:ln w="28575">
              <a:solidFill>
                <a:srgbClr val="FF3300"/>
              </a:solidFill>
              <a:round/>
              <a:head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52231" name="Picture 10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6063" y="1133475"/>
            <a:ext cx="3063875" cy="3651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Text Box 3">
            <a:hlinkClick r:id="" action="ppaction://hlinkshowjump?jump=lastslideviewed"/>
          </p:cNvPr>
          <p:cNvSpPr txBox="1">
            <a:spLocks noChangeArrowheads="1"/>
          </p:cNvSpPr>
          <p:nvPr/>
        </p:nvSpPr>
        <p:spPr bwMode="auto">
          <a:xfrm>
            <a:off x="8004175" y="5926138"/>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a:t>返回</a:t>
            </a:r>
            <a:endParaRPr lang="zh-CN" altLang="en-US"/>
          </a:p>
        </p:txBody>
      </p:sp>
      <p:pic>
        <p:nvPicPr>
          <p:cNvPr id="53254" name="Picture 6"/>
          <p:cNvPicPr>
            <a:picLocks noChangeAspect="1" noChangeArrowheads="1"/>
          </p:cNvPicPr>
          <p:nvPr/>
        </p:nvPicPr>
        <p:blipFill>
          <a:blip r:embed="rId1">
            <a:extLst>
              <a:ext uri="{28A0092B-C50C-407E-A947-70E740481C1C}">
                <a14:useLocalDpi xmlns:a14="http://schemas.microsoft.com/office/drawing/2010/main" val="0"/>
              </a:ext>
            </a:extLst>
          </a:blip>
          <a:srcRect l="28481" t="12384" r="26854" b="15662"/>
          <a:stretch>
            <a:fillRect/>
          </a:stretch>
        </p:blipFill>
        <p:spPr bwMode="auto">
          <a:xfrm>
            <a:off x="4652963" y="1287463"/>
            <a:ext cx="2009775" cy="2409825"/>
          </a:xfrm>
          <a:prstGeom prst="rect">
            <a:avLst/>
          </a:prstGeom>
          <a:noFill/>
          <a:extLst>
            <a:ext uri="{909E8E84-426E-40DD-AFC4-6F175D3DCCD1}">
              <a14:hiddenFill xmlns:a14="http://schemas.microsoft.com/office/drawing/2010/main">
                <a:solidFill>
                  <a:srgbClr val="FFFFFF"/>
                </a:solidFill>
              </a14:hiddenFill>
            </a:ext>
          </a:extLst>
        </p:spPr>
      </p:pic>
      <p:sp>
        <p:nvSpPr>
          <p:cNvPr id="53258" name="WordArt 10"/>
          <p:cNvSpPr>
            <a:spLocks noChangeArrowheads="1" noChangeShapeType="1" noTextEdit="1"/>
          </p:cNvSpPr>
          <p:nvPr/>
        </p:nvSpPr>
        <p:spPr bwMode="auto">
          <a:xfrm>
            <a:off x="2271713" y="4757738"/>
            <a:ext cx="571500" cy="1000125"/>
          </a:xfrm>
          <a:prstGeom prst="rect">
            <a:avLst/>
          </a:prstGeom>
        </p:spPr>
        <p:txBody>
          <a:bodyPr wrap="none" fromWordArt="1">
            <a:prstTxWarp prst="textSlantUp">
              <a:avLst>
                <a:gd name="adj" fmla="val 2856"/>
              </a:avLst>
            </a:prstTxWarp>
          </a:bodyPr>
          <a:lstStyle/>
          <a:p>
            <a:pPr algn="ctr"/>
            <a:r>
              <a:rPr lang="zh-CN" altLang="en-US" sz="3600" kern="10">
                <a:ln w="9525">
                  <a:solidFill>
                    <a:srgbClr val="FF0066"/>
                  </a:solidFill>
                  <a:round/>
                </a:ln>
                <a:gradFill rotWithShape="0">
                  <a:gsLst>
                    <a:gs pos="0">
                      <a:srgbClr val="FF0066"/>
                    </a:gs>
                    <a:gs pos="100000">
                      <a:srgbClr val="FFFF00"/>
                    </a:gs>
                  </a:gsLst>
                  <a:lin ang="5400000" scaled="1"/>
                </a:gradFill>
                <a:effectLst>
                  <a:outerShdw dist="53882" dir="2700000" algn="ctr" rotWithShape="0">
                    <a:srgbClr val="9999FF"/>
                  </a:outerShdw>
                </a:effectLst>
                <a:latin typeface="宋体" panose="02010600030101010101" pitchFamily="2" charset="-122"/>
              </a:rPr>
              <a:t>轴</a:t>
            </a:r>
            <a:endParaRPr lang="zh-CN" altLang="en-US" sz="3600" kern="10">
              <a:ln w="9525">
                <a:solidFill>
                  <a:srgbClr val="FF0066"/>
                </a:solidFill>
                <a:round/>
              </a:ln>
              <a:gradFill rotWithShape="0">
                <a:gsLst>
                  <a:gs pos="0">
                    <a:srgbClr val="FF0066"/>
                  </a:gs>
                  <a:gs pos="100000">
                    <a:srgbClr val="FFFF00"/>
                  </a:gs>
                </a:gsLst>
                <a:lin ang="5400000" scaled="1"/>
              </a:gradFill>
              <a:effectLst>
                <a:outerShdw dist="53882" dir="2700000" algn="ctr" rotWithShape="0">
                  <a:srgbClr val="9999FF"/>
                </a:outerShdw>
              </a:effectLst>
              <a:latin typeface="宋体" panose="02010600030101010101" pitchFamily="2" charset="-122"/>
            </a:endParaRPr>
          </a:p>
        </p:txBody>
      </p:sp>
      <p:sp>
        <p:nvSpPr>
          <p:cNvPr id="53259" name="WordArt 11"/>
          <p:cNvSpPr>
            <a:spLocks noChangeArrowheads="1" noChangeShapeType="1" noTextEdit="1"/>
          </p:cNvSpPr>
          <p:nvPr/>
        </p:nvSpPr>
        <p:spPr bwMode="auto">
          <a:xfrm>
            <a:off x="7115175" y="1528763"/>
            <a:ext cx="957263" cy="1085850"/>
          </a:xfrm>
          <a:prstGeom prst="rect">
            <a:avLst/>
          </a:prstGeom>
        </p:spPr>
        <p:txBody>
          <a:bodyPr wrap="none" fromWordArt="1">
            <a:prstTxWarp prst="textSlantUp">
              <a:avLst>
                <a:gd name="adj" fmla="val 4102"/>
              </a:avLst>
            </a:prstTxWarp>
          </a:bodyPr>
          <a:lstStyle/>
          <a:p>
            <a:pPr algn="ctr"/>
            <a:r>
              <a:rPr lang="zh-CN" altLang="en-US" sz="3600" kern="10">
                <a:ln w="9525">
                  <a:solidFill>
                    <a:srgbClr val="FF0066"/>
                  </a:solidFill>
                  <a:round/>
                </a:ln>
                <a:gradFill rotWithShape="0">
                  <a:gsLst>
                    <a:gs pos="0">
                      <a:srgbClr val="FF0066"/>
                    </a:gs>
                    <a:gs pos="100000">
                      <a:srgbClr val="FFFF00"/>
                    </a:gs>
                  </a:gsLst>
                  <a:lin ang="5400000" scaled="1"/>
                </a:gradFill>
                <a:effectLst>
                  <a:outerShdw dist="53882" dir="2700000" algn="ctr" rotWithShape="0">
                    <a:srgbClr val="9999FF"/>
                  </a:outerShdw>
                </a:effectLst>
                <a:latin typeface="宋体" panose="02010600030101010101" pitchFamily="2" charset="-122"/>
              </a:rPr>
              <a:t>端盖</a:t>
            </a:r>
            <a:endParaRPr lang="zh-CN" altLang="en-US" sz="3600" kern="10">
              <a:ln w="9525">
                <a:solidFill>
                  <a:srgbClr val="FF0066"/>
                </a:solidFill>
                <a:round/>
              </a:ln>
              <a:gradFill rotWithShape="0">
                <a:gsLst>
                  <a:gs pos="0">
                    <a:srgbClr val="FF0066"/>
                  </a:gs>
                  <a:gs pos="100000">
                    <a:srgbClr val="FFFF00"/>
                  </a:gs>
                </a:gsLst>
                <a:lin ang="5400000" scaled="1"/>
              </a:gradFill>
              <a:effectLst>
                <a:outerShdw dist="53882" dir="2700000" algn="ctr" rotWithShape="0">
                  <a:srgbClr val="9999FF"/>
                </a:outerShdw>
              </a:effectLst>
              <a:latin typeface="宋体" panose="02010600030101010101" pitchFamily="2" charset="-122"/>
            </a:endParaRPr>
          </a:p>
        </p:txBody>
      </p:sp>
      <p:pic>
        <p:nvPicPr>
          <p:cNvPr id="53260" name="Picture 12"/>
          <p:cNvPicPr>
            <a:picLocks noChangeAspect="1" noChangeArrowheads="1"/>
          </p:cNvPicPr>
          <p:nvPr/>
        </p:nvPicPr>
        <p:blipFill>
          <a:blip r:embed="rId2">
            <a:extLst>
              <a:ext uri="{28A0092B-C50C-407E-A947-70E740481C1C}">
                <a14:useLocalDpi xmlns:a14="http://schemas.microsoft.com/office/drawing/2010/main" val="0"/>
              </a:ext>
            </a:extLst>
          </a:blip>
          <a:srcRect l="14159" t="30370" r="16324" b="16937"/>
          <a:stretch>
            <a:fillRect/>
          </a:stretch>
        </p:blipFill>
        <p:spPr bwMode="auto">
          <a:xfrm>
            <a:off x="1225550" y="3021013"/>
            <a:ext cx="4533900" cy="1958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hlinkClick r:id="" action="ppaction://hlinkshowjump?jump=lastslideviewed"/>
          </p:cNvPr>
          <p:cNvSpPr>
            <a:spLocks noChangeArrowheads="1"/>
          </p:cNvSpPr>
          <p:nvPr/>
        </p:nvSpPr>
        <p:spPr bwMode="auto">
          <a:xfrm>
            <a:off x="7699375" y="5811838"/>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b="1">
                <a:solidFill>
                  <a:schemeClr val="hlink"/>
                </a:solidFill>
                <a:hlinkClick r:id="" action="ppaction://hlinkshowjump?jump=lastslideviewed"/>
              </a:rPr>
              <a:t>返回</a:t>
            </a:r>
            <a:endParaRPr lang="zh-CN" altLang="en-US" b="1">
              <a:solidFill>
                <a:schemeClr val="hlink"/>
              </a:solidFill>
              <a:hlinkClick r:id="" action="ppaction://hlinkshowjump?jump=lastslideviewed"/>
            </a:endParaRPr>
          </a:p>
        </p:txBody>
      </p:sp>
      <p:grpSp>
        <p:nvGrpSpPr>
          <p:cNvPr id="51232" name="Group 32"/>
          <p:cNvGrpSpPr/>
          <p:nvPr/>
        </p:nvGrpSpPr>
        <p:grpSpPr bwMode="auto">
          <a:xfrm>
            <a:off x="2984500" y="1357313"/>
            <a:ext cx="3441700" cy="3733800"/>
            <a:chOff x="1880" y="855"/>
            <a:chExt cx="2168" cy="2352"/>
          </a:xfrm>
        </p:grpSpPr>
        <p:pic>
          <p:nvPicPr>
            <p:cNvPr id="51230" name="Picture 3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80" y="855"/>
              <a:ext cx="1816" cy="2352"/>
            </a:xfrm>
            <a:prstGeom prst="rect">
              <a:avLst/>
            </a:prstGeom>
            <a:noFill/>
            <a:extLst>
              <a:ext uri="{909E8E84-426E-40DD-AFC4-6F175D3DCCD1}">
                <a14:hiddenFill xmlns:a14="http://schemas.microsoft.com/office/drawing/2010/main">
                  <a:solidFill>
                    <a:srgbClr val="FFFFFF"/>
                  </a:solidFill>
                </a14:hiddenFill>
              </a:ext>
            </a:extLst>
          </p:spPr>
        </p:pic>
        <p:sp>
          <p:nvSpPr>
            <p:cNvPr id="51215" name="Line 15"/>
            <p:cNvSpPr>
              <a:spLocks noChangeShapeType="1"/>
            </p:cNvSpPr>
            <p:nvPr/>
          </p:nvSpPr>
          <p:spPr bwMode="auto">
            <a:xfrm flipV="1">
              <a:off x="3036" y="1513"/>
              <a:ext cx="420" cy="564"/>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6" name="Line 16"/>
            <p:cNvSpPr>
              <a:spLocks noChangeShapeType="1"/>
            </p:cNvSpPr>
            <p:nvPr/>
          </p:nvSpPr>
          <p:spPr bwMode="auto">
            <a:xfrm>
              <a:off x="3444" y="1519"/>
              <a:ext cx="51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7" name="Text Box 17"/>
            <p:cNvSpPr txBox="1">
              <a:spLocks noChangeArrowheads="1"/>
            </p:cNvSpPr>
            <p:nvPr/>
          </p:nvSpPr>
          <p:spPr bwMode="auto">
            <a:xfrm>
              <a:off x="3350" y="1240"/>
              <a:ext cx="6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支撑板</a:t>
              </a:r>
              <a:endParaRPr lang="zh-CN" altLang="en-US" b="1">
                <a:solidFill>
                  <a:srgbClr val="FF3300"/>
                </a:solidFill>
              </a:endParaRPr>
            </a:p>
          </p:txBody>
        </p:sp>
        <p:sp>
          <p:nvSpPr>
            <p:cNvPr id="51218" name="Line 18"/>
            <p:cNvSpPr>
              <a:spLocks noChangeShapeType="1"/>
            </p:cNvSpPr>
            <p:nvPr/>
          </p:nvSpPr>
          <p:spPr bwMode="auto">
            <a:xfrm>
              <a:off x="3468" y="1915"/>
              <a:ext cx="516"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19" name="Line 19"/>
            <p:cNvSpPr>
              <a:spLocks noChangeShapeType="1"/>
            </p:cNvSpPr>
            <p:nvPr/>
          </p:nvSpPr>
          <p:spPr bwMode="auto">
            <a:xfrm flipV="1">
              <a:off x="3300" y="1909"/>
              <a:ext cx="168" cy="264"/>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0" name="Text Box 20"/>
            <p:cNvSpPr txBox="1">
              <a:spLocks noChangeArrowheads="1"/>
            </p:cNvSpPr>
            <p:nvPr/>
          </p:nvSpPr>
          <p:spPr bwMode="auto">
            <a:xfrm>
              <a:off x="3434" y="1654"/>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latin typeface="宋体" panose="02010600030101010101" pitchFamily="2" charset="-122"/>
                </a:rPr>
                <a:t>底 板</a:t>
              </a:r>
              <a:endParaRPr lang="zh-CN" altLang="en-US" b="1">
                <a:solidFill>
                  <a:srgbClr val="FF3300"/>
                </a:solidFill>
                <a:latin typeface="宋体" panose="02010600030101010101" pitchFamily="2" charset="-122"/>
              </a:endParaRPr>
            </a:p>
          </p:txBody>
        </p:sp>
        <p:sp>
          <p:nvSpPr>
            <p:cNvPr id="51221" name="Line 21"/>
            <p:cNvSpPr>
              <a:spLocks noChangeShapeType="1"/>
            </p:cNvSpPr>
            <p:nvPr/>
          </p:nvSpPr>
          <p:spPr bwMode="auto">
            <a:xfrm flipV="1">
              <a:off x="3072" y="1141"/>
              <a:ext cx="348" cy="348"/>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2" name="Line 22"/>
            <p:cNvSpPr>
              <a:spLocks noChangeShapeType="1"/>
            </p:cNvSpPr>
            <p:nvPr/>
          </p:nvSpPr>
          <p:spPr bwMode="auto">
            <a:xfrm>
              <a:off x="3420" y="1141"/>
              <a:ext cx="552"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23" name="Text Box 23"/>
            <p:cNvSpPr txBox="1">
              <a:spLocks noChangeArrowheads="1"/>
            </p:cNvSpPr>
            <p:nvPr/>
          </p:nvSpPr>
          <p:spPr bwMode="auto">
            <a:xfrm>
              <a:off x="3356" y="856"/>
              <a:ext cx="6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0" hangingPunct="0"/>
              <a:r>
                <a:rPr lang="zh-CN" altLang="en-US" b="1">
                  <a:solidFill>
                    <a:srgbClr val="FF3300"/>
                  </a:solidFill>
                </a:rPr>
                <a:t>轴承孔</a:t>
              </a:r>
              <a:endParaRPr lang="zh-CN" altLang="en-US" b="1">
                <a:solidFill>
                  <a:srgbClr val="FF3300"/>
                </a:solidFill>
              </a:endParaRPr>
            </a:p>
          </p:txBody>
        </p:sp>
      </p:grpSp>
      <p:grpSp>
        <p:nvGrpSpPr>
          <p:cNvPr id="51224" name="Group 24"/>
          <p:cNvGrpSpPr/>
          <p:nvPr/>
        </p:nvGrpSpPr>
        <p:grpSpPr bwMode="auto">
          <a:xfrm>
            <a:off x="2593975" y="4706938"/>
            <a:ext cx="635000" cy="457200"/>
            <a:chOff x="1544" y="2851"/>
            <a:chExt cx="400" cy="288"/>
          </a:xfrm>
        </p:grpSpPr>
        <p:sp>
          <p:nvSpPr>
            <p:cNvPr id="51225" name="Text Box 25"/>
            <p:cNvSpPr txBox="1">
              <a:spLocks noChangeArrowheads="1"/>
            </p:cNvSpPr>
            <p:nvPr/>
          </p:nvSpPr>
          <p:spPr bwMode="auto">
            <a:xfrm>
              <a:off x="1544" y="2851"/>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chemeClr val="accent2"/>
                  </a:solidFill>
                </a:rPr>
                <a:t>B</a:t>
              </a:r>
              <a:endParaRPr lang="en-US" altLang="zh-CN" i="1"/>
            </a:p>
          </p:txBody>
        </p:sp>
        <p:sp>
          <p:nvSpPr>
            <p:cNvPr id="51226" name="Line 26"/>
            <p:cNvSpPr>
              <a:spLocks noChangeShapeType="1"/>
            </p:cNvSpPr>
            <p:nvPr/>
          </p:nvSpPr>
          <p:spPr bwMode="auto">
            <a:xfrm flipV="1">
              <a:off x="1740" y="2928"/>
              <a:ext cx="204" cy="204"/>
            </a:xfrm>
            <a:prstGeom prst="line">
              <a:avLst/>
            </a:prstGeom>
            <a:noFill/>
            <a:ln w="28575">
              <a:solidFill>
                <a:schemeClr val="accent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1227" name="Group 27"/>
          <p:cNvGrpSpPr/>
          <p:nvPr/>
        </p:nvGrpSpPr>
        <p:grpSpPr bwMode="auto">
          <a:xfrm>
            <a:off x="4972050" y="4329113"/>
            <a:ext cx="600075" cy="509587"/>
            <a:chOff x="3048" y="3135"/>
            <a:chExt cx="378" cy="321"/>
          </a:xfrm>
        </p:grpSpPr>
        <p:sp>
          <p:nvSpPr>
            <p:cNvPr id="51228" name="Text Box 28"/>
            <p:cNvSpPr txBox="1">
              <a:spLocks noChangeArrowheads="1"/>
            </p:cNvSpPr>
            <p:nvPr/>
          </p:nvSpPr>
          <p:spPr bwMode="auto">
            <a:xfrm>
              <a:off x="3182" y="3135"/>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1" i="1">
                  <a:solidFill>
                    <a:srgbClr val="FF3300"/>
                  </a:solidFill>
                </a:rPr>
                <a:t>A</a:t>
              </a:r>
              <a:endParaRPr lang="en-US" altLang="zh-CN" i="1"/>
            </a:p>
          </p:txBody>
        </p:sp>
        <p:sp>
          <p:nvSpPr>
            <p:cNvPr id="51229" name="Line 29"/>
            <p:cNvSpPr>
              <a:spLocks noChangeShapeType="1"/>
            </p:cNvSpPr>
            <p:nvPr/>
          </p:nvSpPr>
          <p:spPr bwMode="auto">
            <a:xfrm flipH="1" flipV="1">
              <a:off x="3048" y="3264"/>
              <a:ext cx="192" cy="192"/>
            </a:xfrm>
            <a:prstGeom prst="line">
              <a:avLst/>
            </a:prstGeom>
            <a:noFill/>
            <a:ln w="28575">
              <a:solidFill>
                <a:srgbClr val="FF3300"/>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88" name="Rectangle 24">
            <a:hlinkClick r:id="" action="ppaction://hlinkshowjump?jump=lastslideviewed"/>
          </p:cNvPr>
          <p:cNvSpPr>
            <a:spLocks noChangeArrowheads="1"/>
          </p:cNvSpPr>
          <p:nvPr/>
        </p:nvSpPr>
        <p:spPr bwMode="auto">
          <a:xfrm>
            <a:off x="7713663" y="5926138"/>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zh-CN" altLang="en-US" b="1">
                <a:solidFill>
                  <a:schemeClr val="hlink"/>
                </a:solidFill>
                <a:hlinkClick r:id="" action="ppaction://hlinkshowjump?jump=lastslideviewed"/>
              </a:rPr>
              <a:t>返回</a:t>
            </a:r>
            <a:endParaRPr lang="zh-CN" altLang="en-US" b="1">
              <a:solidFill>
                <a:schemeClr val="hlink"/>
              </a:solidFill>
              <a:hlinkClick r:id="" action="ppaction://hlinkshowjump?jump=lastslideviewed"/>
            </a:endParaRPr>
          </a:p>
        </p:txBody>
      </p:sp>
      <p:sp>
        <p:nvSpPr>
          <p:cNvPr id="62491" name="WordArt 27"/>
          <p:cNvSpPr>
            <a:spLocks noChangeArrowheads="1" noChangeShapeType="1" noTextEdit="1"/>
          </p:cNvSpPr>
          <p:nvPr/>
        </p:nvSpPr>
        <p:spPr bwMode="auto">
          <a:xfrm>
            <a:off x="995363" y="4103688"/>
            <a:ext cx="1116012" cy="84455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contourClr>
                <a:srgbClr val="FFCC99"/>
              </a:contourClr>
            </a:sp3d>
          </a:bodyPr>
          <a:lstStyle/>
          <a:p>
            <a:pPr algn="ctr"/>
            <a:r>
              <a:rPr lang="zh-CN" altLang="en-US" sz="3600" kern="10">
                <a:ln w="9525">
                  <a:round/>
                </a:ln>
                <a:blipFill dpi="0" rotWithShape="0">
                  <a:blip r:embed="rId1"/>
                  <a:srcRect/>
                  <a:tile tx="0" ty="0" sx="100000" sy="100000" flip="none" algn="tl"/>
                </a:blipFill>
                <a:latin typeface="宋体" panose="02010600030101010101" pitchFamily="2" charset="-122"/>
              </a:rPr>
              <a:t>阀体</a:t>
            </a:r>
            <a:endParaRPr lang="zh-CN" altLang="en-US" sz="3600" kern="10">
              <a:ln w="9525">
                <a:round/>
              </a:ln>
              <a:blipFill dpi="0" rotWithShape="0">
                <a:blip r:embed="rId1"/>
                <a:srcRect/>
                <a:tile tx="0" ty="0" sx="100000" sy="100000" flip="none" algn="tl"/>
              </a:blipFill>
              <a:latin typeface="宋体" panose="02010600030101010101" pitchFamily="2" charset="-122"/>
            </a:endParaRPr>
          </a:p>
        </p:txBody>
      </p:sp>
      <p:sp>
        <p:nvSpPr>
          <p:cNvPr id="62492" name="WordArt 28"/>
          <p:cNvSpPr>
            <a:spLocks noChangeArrowheads="1" noChangeShapeType="1" noTextEdit="1"/>
          </p:cNvSpPr>
          <p:nvPr/>
        </p:nvSpPr>
        <p:spPr bwMode="auto">
          <a:xfrm>
            <a:off x="7065963" y="1717675"/>
            <a:ext cx="1000125" cy="847725"/>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contourClr>
                <a:srgbClr val="FFCC99"/>
              </a:contourClr>
            </a:sp3d>
          </a:bodyPr>
          <a:lstStyle/>
          <a:p>
            <a:pPr algn="ctr"/>
            <a:r>
              <a:rPr lang="zh-CN" altLang="en-US" sz="3600" kern="10">
                <a:ln w="9525">
                  <a:round/>
                </a:ln>
                <a:blipFill dpi="0" rotWithShape="0">
                  <a:blip r:embed="rId1"/>
                  <a:srcRect/>
                  <a:tile tx="0" ty="0" sx="100000" sy="100000" flip="none" algn="tl"/>
                </a:blipFill>
                <a:latin typeface="宋体" panose="02010600030101010101" pitchFamily="2" charset="-122"/>
              </a:rPr>
              <a:t>支架</a:t>
            </a:r>
            <a:endParaRPr lang="zh-CN" altLang="en-US" sz="3600" kern="10">
              <a:ln w="9525">
                <a:round/>
              </a:ln>
              <a:blipFill dpi="0" rotWithShape="0">
                <a:blip r:embed="rId1"/>
                <a:srcRect/>
                <a:tile tx="0" ty="0" sx="100000" sy="100000" flip="none" algn="tl"/>
              </a:blipFill>
              <a:latin typeface="宋体" panose="02010600030101010101" pitchFamily="2" charset="-122"/>
            </a:endParaRPr>
          </a:p>
        </p:txBody>
      </p:sp>
      <p:pic>
        <p:nvPicPr>
          <p:cNvPr id="62493"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088" y="615950"/>
            <a:ext cx="3063875" cy="3651250"/>
          </a:xfrm>
          <a:prstGeom prst="rect">
            <a:avLst/>
          </a:prstGeom>
          <a:noFill/>
          <a:extLst>
            <a:ext uri="{909E8E84-426E-40DD-AFC4-6F175D3DCCD1}">
              <a14:hiddenFill xmlns:a14="http://schemas.microsoft.com/office/drawing/2010/main">
                <a:solidFill>
                  <a:srgbClr val="FFFFFF"/>
                </a:solidFill>
              </a14:hiddenFill>
            </a:ext>
          </a:extLst>
        </p:spPr>
      </p:pic>
      <p:pic>
        <p:nvPicPr>
          <p:cNvPr id="62495"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0638" y="2278063"/>
            <a:ext cx="2882900" cy="3733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PP_MARK_KEY" val="7cb0bb86-9a0a-4fb2-89ce-a43e3f88e27d"/>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3776</Words>
  <Application>WPS 演示</Application>
  <PresentationFormat>全屏显示(4:3)</PresentationFormat>
  <Paragraphs>802</Paragraphs>
  <Slides>49</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6" baseType="lpstr">
      <vt:lpstr>Arial</vt:lpstr>
      <vt:lpstr>宋体</vt:lpstr>
      <vt:lpstr>Wingdings</vt:lpstr>
      <vt:lpstr>Calibri</vt:lpstr>
      <vt:lpstr>黑体</vt:lpstr>
      <vt:lpstr>Times New Roman</vt:lpstr>
      <vt:lpstr>Arial Black</vt:lpstr>
      <vt:lpstr>ISOCPEUR</vt:lpstr>
      <vt:lpstr>Symbol</vt:lpstr>
      <vt:lpstr>Monotype Sorts</vt:lpstr>
      <vt:lpstr>Wingdings</vt:lpstr>
      <vt:lpstr>微软雅黑</vt:lpstr>
      <vt:lpstr>Arial Unicode MS</vt:lpstr>
      <vt:lpstr>ISOCP</vt:lpstr>
      <vt:lpstr>CommercialPi BT</vt:lpstr>
      <vt:lpstr>Office 主题</vt:lpstr>
      <vt:lpstr>StaticDib</vt:lpstr>
      <vt:lpstr>第14讲 零件图之二</vt:lpstr>
      <vt:lpstr>零件图的视图选择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零件的工艺结构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11.4 零件尺寸的合理标注</vt:lpstr>
      <vt:lpstr>PowerPoint 演示文稿</vt:lpstr>
      <vt:lpstr>PowerPoint 演示文稿</vt:lpstr>
      <vt:lpstr>PowerPoint 演示文稿</vt:lpstr>
      <vt:lpstr>PowerPoint 演示文稿</vt:lpstr>
      <vt:lpstr>PowerPoint 演示文稿</vt:lpstr>
      <vt:lpstr>画零件图的方法与步骤</vt:lpstr>
      <vt:lpstr>PowerPoint 演示文稿</vt:lpstr>
      <vt:lpstr>PowerPoint 演示文稿</vt:lpstr>
      <vt:lpstr>PowerPoint 演示文稿</vt:lpstr>
      <vt:lpstr>读零件图的方法与步骤</vt:lpstr>
      <vt:lpstr>PowerPoint 演示文稿</vt:lpstr>
      <vt:lpstr>PowerPoint 演示文稿</vt:lpstr>
      <vt:lpstr>PowerPoint 演示文稿</vt:lpstr>
      <vt:lpstr>PowerPoint 演示文稿</vt:lpstr>
      <vt:lpstr>PowerPoint 演示文稿</vt:lpstr>
      <vt:lpstr>小结</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第2单元     正投影法基础</dc:title>
  <dc:creator>Administrator</dc:creator>
  <cp:lastModifiedBy>Chen Yu</cp:lastModifiedBy>
  <cp:revision>68</cp:revision>
  <dcterms:created xsi:type="dcterms:W3CDTF">2019-03-05T10:30:00Z</dcterms:created>
  <dcterms:modified xsi:type="dcterms:W3CDTF">2022-11-30T03:47:36Z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D342C50CE3E7471BB9AC6AE995FC1A05</vt:lpwstr>
  </property>
</Properties>
</file>