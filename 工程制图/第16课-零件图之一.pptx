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332" r:id="rId4"/>
    <p:sldId id="330" r:id="rId5"/>
    <p:sldId id="333" r:id="rId6"/>
    <p:sldId id="261" r:id="rId7"/>
    <p:sldId id="334" r:id="rId8"/>
    <p:sldId id="335" r:id="rId9"/>
    <p:sldId id="336" r:id="rId10"/>
    <p:sldId id="337" r:id="rId11"/>
    <p:sldId id="338" r:id="rId12"/>
    <p:sldId id="339" r:id="rId13"/>
    <p:sldId id="340" r:id="rId14"/>
    <p:sldId id="341" r:id="rId15"/>
    <p:sldId id="342" r:id="rId16"/>
    <p:sldId id="343" r:id="rId18"/>
    <p:sldId id="272" r:id="rId19"/>
    <p:sldId id="344" r:id="rId20"/>
    <p:sldId id="345" r:id="rId21"/>
    <p:sldId id="275" r:id="rId22"/>
    <p:sldId id="276" r:id="rId23"/>
    <p:sldId id="346" r:id="rId24"/>
    <p:sldId id="347" r:id="rId25"/>
    <p:sldId id="348" r:id="rId26"/>
    <p:sldId id="349" r:id="rId27"/>
    <p:sldId id="350" r:id="rId28"/>
    <p:sldId id="351" r:id="rId29"/>
    <p:sldId id="352" r:id="rId30"/>
    <p:sldId id="353" r:id="rId31"/>
    <p:sldId id="284" r:id="rId32"/>
    <p:sldId id="354" r:id="rId33"/>
    <p:sldId id="355" r:id="rId34"/>
    <p:sldId id="356" r:id="rId35"/>
    <p:sldId id="357" r:id="rId36"/>
    <p:sldId id="358" r:id="rId37"/>
    <p:sldId id="297" r:id="rId38"/>
    <p:sldId id="290" r:id="rId39"/>
    <p:sldId id="359" r:id="rId40"/>
    <p:sldId id="360" r:id="rId41"/>
  </p:sldIdLst>
  <p:sldSz cx="9144000" cy="6858000" type="screen4x3"/>
  <p:notesSz cx="6858000" cy="9144000"/>
  <p:custDataLst>
    <p:tags r:id="rId4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38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18" autoAdjust="0"/>
    <p:restoredTop sz="94660"/>
  </p:normalViewPr>
  <p:slideViewPr>
    <p:cSldViewPr>
      <p:cViewPr varScale="1">
        <p:scale>
          <a:sx n="81" d="100"/>
          <a:sy n="81" d="100"/>
        </p:scale>
        <p:origin x="60" y="208"/>
      </p:cViewPr>
      <p:guideLst>
        <p:guide orient="horz" pos="2300"/>
        <p:guide pos="280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gs" Target="tags/tag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6BA8DA0B-9F4D-4D21-829A-36072320F3DC}"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atin typeface="Calibri" panose="020F0502020204030204" pitchFamily="34" charset="0"/>
              </a:defRPr>
            </a:lvl1pPr>
          </a:lstStyle>
          <a:p>
            <a:pPr>
              <a:defRPr/>
            </a:pPr>
            <a:fld id="{3310CC7B-182D-48C7-91A7-35B72A3E310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fld id="{CC71755F-8BEC-4C03-895D-2508B3C6004E}" type="slidenum">
              <a:rPr lang="en-US" altLang="zh-CN" sz="1200"/>
            </a:fld>
            <a:endParaRPr lang="en-US" altLang="zh-CN" sz="1200"/>
          </a:p>
        </p:txBody>
      </p:sp>
      <p:sp>
        <p:nvSpPr>
          <p:cNvPr id="16387" name="Rectangle 2"/>
          <p:cNvSpPr>
            <a:spLocks noGrp="1" noRot="1" noChangeAspect="1" noChangeArrowheads="1" noTextEdit="1"/>
          </p:cNvSpPr>
          <p:nvPr>
            <p:ph type="sldImg"/>
          </p:nvPr>
        </p:nvSpPr>
        <p:spPr>
          <a:solidFill>
            <a:srgbClr val="FFFFFF"/>
          </a:solidFill>
        </p:spPr>
      </p:sp>
      <p:sp>
        <p:nvSpPr>
          <p:cNvPr id="1638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fld id="{84DFDB86-16ED-4DE8-8965-170B43B8DDDB}" type="slidenum">
              <a:rPr lang="en-US" altLang="zh-CN" sz="1200"/>
            </a:fld>
            <a:endParaRPr lang="en-US" altLang="zh-CN" sz="1200"/>
          </a:p>
        </p:txBody>
      </p:sp>
      <p:sp>
        <p:nvSpPr>
          <p:cNvPr id="35843" name="Rectangle 2"/>
          <p:cNvSpPr>
            <a:spLocks noGrp="1" noRot="1" noChangeAspect="1" noChangeArrowheads="1" noTextEdit="1"/>
          </p:cNvSpPr>
          <p:nvPr>
            <p:ph type="sldImg"/>
          </p:nvPr>
        </p:nvSpPr>
        <p:spPr>
          <a:solidFill>
            <a:srgbClr val="FFFFFF"/>
          </a:solidFill>
        </p:spPr>
      </p:sp>
      <p:sp>
        <p:nvSpPr>
          <p:cNvPr id="35844"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fld id="{26BB268D-0E5B-4324-82C1-A2D16DB660B8}" type="slidenum">
              <a:rPr lang="en-US" altLang="zh-CN" sz="1200"/>
            </a:fld>
            <a:endParaRPr lang="en-US" altLang="zh-CN" sz="1200"/>
          </a:p>
        </p:txBody>
      </p:sp>
      <p:sp>
        <p:nvSpPr>
          <p:cNvPr id="38915" name="Rectangle 2"/>
          <p:cNvSpPr>
            <a:spLocks noGrp="1" noRot="1" noChangeAspect="1" noChangeArrowheads="1" noTextEdit="1"/>
          </p:cNvSpPr>
          <p:nvPr>
            <p:ph type="sldImg"/>
          </p:nvPr>
        </p:nvSpPr>
        <p:spPr>
          <a:solidFill>
            <a:srgbClr val="FFFFFF"/>
          </a:solidFill>
        </p:spPr>
      </p:sp>
      <p:sp>
        <p:nvSpPr>
          <p:cNvPr id="38916"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C6BA59C5-3DD6-4B0C-88A3-7002AAE79E97}"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495239FA-F55C-42BF-BAAC-5A8A89E341AF}"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8EAB5064-2499-41C5-8417-694A3236569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3B2104BD-6E4C-4555-A2C2-7A37F46DC3E4}"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D0E0B3E7-703D-4702-B1CF-303DA92065A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2EED81E7-6265-49E7-BA9D-66566CB2A750}"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C041092E-8FBD-4FD5-B0F3-1AF84317F27A}"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smtClean="0"/>
            </a:lvl1pPr>
          </a:lstStyle>
          <a:p>
            <a:pPr>
              <a:defRPr/>
            </a:pPr>
            <a:fld id="{9ECBCE8C-7466-464F-BD3E-4E7890ECAC48}"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pPr>
              <a:defRPr/>
            </a:pPr>
            <a:fld id="{27D2641E-B573-476F-AD44-970D48E2863B}"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smtClean="0"/>
            </a:lvl1pPr>
          </a:lstStyle>
          <a:p>
            <a:pPr>
              <a:defRPr/>
            </a:pPr>
            <a:fld id="{977C17DE-B993-463A-8CCD-9DA2C0AC2AB0}"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C2FA5629-BC52-4F93-8FEF-1D43BA12233B}" type="datetimeFigureOut">
              <a:rPr lang="zh-CN" altLang="en-US"/>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smtClean="0"/>
            </a:lvl1pPr>
          </a:lstStyle>
          <a:p>
            <a:pPr>
              <a:defRPr/>
            </a:pPr>
            <a:fld id="{93F7FF02-A7A7-44BC-9FDC-899F2932E0CA}"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66848038-F6C5-4C2C-BD6C-FC90DC8C8F14}" type="datetimeFigureOut">
              <a:rPr lang="zh-CN" altLang="en-US"/>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smtClean="0"/>
            </a:lvl1pPr>
          </a:lstStyle>
          <a:p>
            <a:pPr>
              <a:defRPr/>
            </a:pPr>
            <a:fld id="{B0982818-6E97-4954-A003-E552AFC73B6B}"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90FEAD0C-7624-4DC6-96F5-A065E11EC555}"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smtClean="0"/>
            </a:lvl1pPr>
          </a:lstStyle>
          <a:p>
            <a:pPr>
              <a:defRPr/>
            </a:pPr>
            <a:fld id="{3C5A0B48-2FE5-4BAB-8757-617719842444}"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AE7B65D2-EE4B-427F-9421-D330C4666D80}"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smtClean="0"/>
            </a:lvl1pPr>
          </a:lstStyle>
          <a:p>
            <a:pPr>
              <a:defRPr/>
            </a:pPr>
            <a:fld id="{DD7136A1-64BA-4556-9B7B-1A481963A62E}"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6AC2C8E-310E-4183-9BC9-BF326CB820D9}"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E417A518-6522-4459-BEB3-96CF5B18EDD0}"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107A3BC8-5138-4039-B2B6-946A6F4EC60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E1F9BAAD-8141-4467-8217-7373CD3FC38C}"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4"/>
          <p:cNvSpPr/>
          <p:nvPr userDrawn="1"/>
        </p:nvSpPr>
        <p:spPr>
          <a:xfrm>
            <a:off x="0" y="333375"/>
            <a:ext cx="9144000" cy="7191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rgbClr val="002060"/>
              </a:solidFill>
            </a:endParaRPr>
          </a:p>
        </p:txBody>
      </p:sp>
      <p:sp>
        <p:nvSpPr>
          <p:cNvPr id="5" name="Rectangle 14"/>
          <p:cNvSpPr>
            <a:spLocks noChangeArrowheads="1"/>
          </p:cNvSpPr>
          <p:nvPr userDrawn="1"/>
        </p:nvSpPr>
        <p:spPr bwMode="auto">
          <a:xfrm flipV="1">
            <a:off x="395288" y="6332538"/>
            <a:ext cx="8748712" cy="49212"/>
          </a:xfrm>
          <a:prstGeom prst="rect">
            <a:avLst/>
          </a:prstGeom>
          <a:solidFill>
            <a:schemeClr val="accent6">
              <a:lumMod val="50000"/>
              <a:alpha val="8117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lstStyle/>
          <a:p>
            <a:pPr algn="ctr" eaLnBrk="1" hangingPunct="1">
              <a:defRPr/>
            </a:pPr>
            <a:endParaRPr lang="zh-CN" altLang="zh-CN" sz="4400">
              <a:solidFill>
                <a:srgbClr val="1F497D"/>
              </a:solidFill>
            </a:endParaRPr>
          </a:p>
        </p:txBody>
      </p:sp>
      <p:sp>
        <p:nvSpPr>
          <p:cNvPr id="6" name="Rectangle 11"/>
          <p:cNvSpPr>
            <a:spLocks noChangeArrowheads="1"/>
          </p:cNvSpPr>
          <p:nvPr userDrawn="1"/>
        </p:nvSpPr>
        <p:spPr bwMode="auto">
          <a:xfrm>
            <a:off x="395288" y="64341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a:solidFill>
                  <a:srgbClr val="595959"/>
                </a:solidFill>
                <a:latin typeface="宋体" panose="02010600030101010101" pitchFamily="2" charset="-122"/>
              </a:rPr>
              <a:t>《</a:t>
            </a:r>
            <a:r>
              <a:rPr lang="zh-CN" altLang="en-US" sz="1400" b="1">
                <a:solidFill>
                  <a:srgbClr val="595959"/>
                </a:solidFill>
                <a:latin typeface="宋体" panose="02010600030101010101" pitchFamily="2" charset="-122"/>
              </a:rPr>
              <a:t>机械制图</a:t>
            </a:r>
            <a:r>
              <a:rPr lang="en-US" altLang="zh-CN" sz="1400" b="1">
                <a:solidFill>
                  <a:srgbClr val="595959"/>
                </a:solidFill>
                <a:latin typeface="宋体" panose="02010600030101010101" pitchFamily="2" charset="-122"/>
              </a:rPr>
              <a:t>》</a:t>
            </a:r>
            <a:endParaRPr lang="zh-CN" altLang="en-US" sz="1400" b="1">
              <a:solidFill>
                <a:srgbClr val="595959"/>
              </a:solidFill>
              <a:latin typeface="宋体" panose="02010600030101010101" pitchFamily="2" charset="-122"/>
            </a:endParaRPr>
          </a:p>
        </p:txBody>
      </p:sp>
      <p:sp>
        <p:nvSpPr>
          <p:cNvPr id="7" name="Rectangle 7"/>
          <p:cNvSpPr>
            <a:spLocks noChangeArrowheads="1"/>
          </p:cNvSpPr>
          <p:nvPr userDrawn="1"/>
        </p:nvSpPr>
        <p:spPr bwMode="auto">
          <a:xfrm>
            <a:off x="3357563" y="6429375"/>
            <a:ext cx="1101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595959"/>
                </a:solidFill>
              </a:rPr>
              <a:t>第</a:t>
            </a:r>
            <a:r>
              <a:rPr lang="en-US" altLang="zh-CN" sz="1400" b="1">
                <a:solidFill>
                  <a:srgbClr val="595959"/>
                </a:solidFill>
              </a:rPr>
              <a:t>1</a:t>
            </a:r>
            <a:r>
              <a:rPr lang="zh-CN" altLang="en-US" sz="1400" b="1">
                <a:solidFill>
                  <a:srgbClr val="595959"/>
                </a:solidFill>
              </a:rPr>
              <a:t>章  绪论</a:t>
            </a:r>
            <a:endParaRPr lang="zh-CN" altLang="en-US" sz="1400" b="1">
              <a:solidFill>
                <a:srgbClr val="595959"/>
              </a:solidFill>
            </a:endParaRPr>
          </a:p>
        </p:txBody>
      </p:sp>
      <p:sp>
        <p:nvSpPr>
          <p:cNvPr id="3" name="内容占位符 2"/>
          <p:cNvSpPr>
            <a:spLocks noGrp="1"/>
          </p:cNvSpPr>
          <p:nvPr>
            <p:ph idx="1"/>
          </p:nvPr>
        </p:nvSpPr>
        <p:spPr>
          <a:xfrm>
            <a:off x="323528" y="1351309"/>
            <a:ext cx="8229600" cy="4525963"/>
          </a:xfrm>
        </p:spPr>
        <p:txBody>
          <a:bodyPr/>
          <a:lstStyle>
            <a:lvl1pPr>
              <a:defRPr b="1">
                <a:latin typeface="黑体" panose="02010609060101010101" pitchFamily="49" charset="-122"/>
                <a:ea typeface="黑体" panose="02010609060101010101" pitchFamily="49" charset="-122"/>
              </a:defRPr>
            </a:lvl1pPr>
            <a:lvl2pPr>
              <a:buNone/>
              <a:defRPr>
                <a:latin typeface="黑体" panose="02010609060101010101" pitchFamily="49" charset="-122"/>
                <a:ea typeface="黑体" panose="02010609060101010101" pitchFamily="49" charset="-122"/>
              </a:defRPr>
            </a:lvl2pPr>
          </a:lstStyle>
          <a:p>
            <a:pPr lvl="0"/>
            <a:r>
              <a:rPr lang="zh-CN" altLang="en-US"/>
              <a:t>单击此处编辑母版文本样式</a:t>
            </a:r>
            <a:endParaRPr lang="zh-CN" altLang="en-US"/>
          </a:p>
          <a:p>
            <a:pPr lvl="1"/>
            <a:r>
              <a:rPr lang="zh-CN" altLang="en-US"/>
              <a:t>二级</a:t>
            </a:r>
            <a:endParaRPr lang="zh-CN" altLang="en-US"/>
          </a:p>
        </p:txBody>
      </p:sp>
      <p:sp>
        <p:nvSpPr>
          <p:cNvPr id="8" name="Slide Number Placeholder 4"/>
          <p:cNvSpPr>
            <a:spLocks noGrp="1"/>
          </p:cNvSpPr>
          <p:nvPr>
            <p:ph type="sldNum" sz="quarter" idx="10"/>
          </p:nvPr>
        </p:nvSpPr>
        <p:spPr>
          <a:xfrm>
            <a:off x="6875463" y="6381750"/>
            <a:ext cx="2133600" cy="365125"/>
          </a:xfrm>
        </p:spPr>
        <p:txBody>
          <a:bodyPr/>
          <a:lstStyle>
            <a:lvl1pPr>
              <a:defRPr smtClean="0">
                <a:solidFill>
                  <a:schemeClr val="tx1">
                    <a:lumMod val="75000"/>
                    <a:lumOff val="25000"/>
                  </a:schemeClr>
                </a:solidFill>
              </a:defRPr>
            </a:lvl1pPr>
          </a:lstStyle>
          <a:p>
            <a:pPr>
              <a:defRPr/>
            </a:pPr>
            <a:fld id="{10398A4C-4BAF-456D-906D-678BC69D4A60}" type="slidenum">
              <a:rPr lang="zh-CN" altLang="en-US"/>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Rectangle 5"/>
          <p:cNvSpPr>
            <a:spLocks noChangeArrowheads="1"/>
          </p:cNvSpPr>
          <p:nvPr userDrawn="1"/>
        </p:nvSpPr>
        <p:spPr bwMode="auto">
          <a:xfrm flipV="1">
            <a:off x="395288" y="6332538"/>
            <a:ext cx="8748712" cy="49212"/>
          </a:xfrm>
          <a:prstGeom prst="rect">
            <a:avLst/>
          </a:prstGeom>
          <a:solidFill>
            <a:schemeClr val="accent6">
              <a:lumMod val="50000"/>
              <a:alpha val="8117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lstStyle/>
          <a:p>
            <a:pPr algn="ctr" eaLnBrk="1" hangingPunct="1">
              <a:defRPr/>
            </a:pPr>
            <a:endParaRPr lang="zh-CN" altLang="zh-CN" sz="4400">
              <a:solidFill>
                <a:srgbClr val="1F497D"/>
              </a:solidFill>
            </a:endParaRPr>
          </a:p>
        </p:txBody>
      </p:sp>
      <p:sp>
        <p:nvSpPr>
          <p:cNvPr id="3" name="Rectangle 7"/>
          <p:cNvSpPr>
            <a:spLocks noChangeArrowheads="1"/>
          </p:cNvSpPr>
          <p:nvPr userDrawn="1"/>
        </p:nvSpPr>
        <p:spPr bwMode="auto">
          <a:xfrm>
            <a:off x="395288" y="64341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a:solidFill>
                  <a:srgbClr val="595959"/>
                </a:solidFill>
                <a:latin typeface="宋体" panose="02010600030101010101" pitchFamily="2" charset="-122"/>
              </a:rPr>
              <a:t>《</a:t>
            </a:r>
            <a:r>
              <a:rPr lang="zh-CN" altLang="en-US" sz="1400" b="1">
                <a:solidFill>
                  <a:srgbClr val="595959"/>
                </a:solidFill>
                <a:latin typeface="宋体" panose="02010600030101010101" pitchFamily="2" charset="-122"/>
              </a:rPr>
              <a:t>机械制图</a:t>
            </a:r>
            <a:r>
              <a:rPr lang="en-US" altLang="zh-CN" sz="1400" b="1">
                <a:solidFill>
                  <a:srgbClr val="595959"/>
                </a:solidFill>
                <a:latin typeface="宋体" panose="02010600030101010101" pitchFamily="2" charset="-122"/>
              </a:rPr>
              <a:t>》</a:t>
            </a:r>
            <a:endParaRPr lang="zh-CN" altLang="en-US" sz="1400" b="1">
              <a:solidFill>
                <a:srgbClr val="595959"/>
              </a:solidFill>
              <a:latin typeface="宋体" panose="02010600030101010101" pitchFamily="2" charset="-122"/>
            </a:endParaRPr>
          </a:p>
        </p:txBody>
      </p:sp>
      <p:sp>
        <p:nvSpPr>
          <p:cNvPr id="4" name="Rectangle 7"/>
          <p:cNvSpPr>
            <a:spLocks noChangeArrowheads="1"/>
          </p:cNvSpPr>
          <p:nvPr userDrawn="1"/>
        </p:nvSpPr>
        <p:spPr bwMode="auto">
          <a:xfrm>
            <a:off x="3357563" y="6429375"/>
            <a:ext cx="1101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595959"/>
                </a:solidFill>
              </a:rPr>
              <a:t>第</a:t>
            </a:r>
            <a:r>
              <a:rPr lang="en-US" altLang="zh-CN" sz="1400" b="1">
                <a:solidFill>
                  <a:srgbClr val="595959"/>
                </a:solidFill>
              </a:rPr>
              <a:t>1</a:t>
            </a:r>
            <a:r>
              <a:rPr lang="zh-CN" altLang="en-US" sz="1400" b="1">
                <a:solidFill>
                  <a:srgbClr val="595959"/>
                </a:solidFill>
              </a:rPr>
              <a:t>章  绪论</a:t>
            </a:r>
            <a:endParaRPr lang="zh-CN" altLang="en-US" sz="1400" b="1">
              <a:solidFill>
                <a:srgbClr val="595959"/>
              </a:solidFill>
            </a:endParaRPr>
          </a:p>
        </p:txBody>
      </p:sp>
      <p:sp>
        <p:nvSpPr>
          <p:cNvPr id="5" name="Slide Number Placeholder 4"/>
          <p:cNvSpPr>
            <a:spLocks noGrp="1"/>
          </p:cNvSpPr>
          <p:nvPr>
            <p:ph type="sldNum" sz="quarter" idx="10"/>
          </p:nvPr>
        </p:nvSpPr>
        <p:spPr>
          <a:xfrm>
            <a:off x="6875463" y="6381750"/>
            <a:ext cx="2133600" cy="365125"/>
          </a:xfrm>
        </p:spPr>
        <p:txBody>
          <a:bodyPr/>
          <a:lstStyle>
            <a:lvl1pPr>
              <a:defRPr smtClean="0">
                <a:solidFill>
                  <a:schemeClr val="tx1">
                    <a:lumMod val="75000"/>
                    <a:lumOff val="25000"/>
                  </a:schemeClr>
                </a:solidFill>
              </a:defRPr>
            </a:lvl1pPr>
          </a:lstStyle>
          <a:p>
            <a:pPr>
              <a:defRPr/>
            </a:pPr>
            <a:fld id="{A308BBA3-C608-4444-B6E5-E867D87E901A}" type="slidenum">
              <a:rPr lang="zh-CN" altLang="en-US"/>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01625" y="228600"/>
            <a:ext cx="854075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301625" y="1600200"/>
            <a:ext cx="4194175" cy="21732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quarter" idx="2"/>
          </p:nvPr>
        </p:nvSpPr>
        <p:spPr>
          <a:xfrm>
            <a:off x="4648200" y="1600200"/>
            <a:ext cx="4194175" cy="21732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内容占位符 4"/>
          <p:cNvSpPr>
            <a:spLocks noGrp="1"/>
          </p:cNvSpPr>
          <p:nvPr>
            <p:ph sz="quarter" idx="3"/>
          </p:nvPr>
        </p:nvSpPr>
        <p:spPr>
          <a:xfrm>
            <a:off x="301625" y="3925888"/>
            <a:ext cx="4194175" cy="21732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内容占位符 5"/>
          <p:cNvSpPr>
            <a:spLocks noGrp="1"/>
          </p:cNvSpPr>
          <p:nvPr>
            <p:ph sz="quarter" idx="4"/>
          </p:nvPr>
        </p:nvSpPr>
        <p:spPr>
          <a:xfrm>
            <a:off x="4648200" y="3925888"/>
            <a:ext cx="4194175" cy="21732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301625" y="6245225"/>
            <a:ext cx="2289175" cy="476250"/>
          </a:xfrm>
        </p:spPr>
        <p:txBody>
          <a:bodyPr/>
          <a:lstStyle>
            <a:lvl1pPr>
              <a:defRPr/>
            </a:lvl1pPr>
          </a:lstStyle>
          <a:p>
            <a:endParaRPr lang="en-US" altLang="zh-CN"/>
          </a:p>
        </p:txBody>
      </p:sp>
      <p:sp>
        <p:nvSpPr>
          <p:cNvPr id="8" name="页脚占位符 7"/>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5225"/>
            <a:ext cx="2289175" cy="476250"/>
          </a:xfrm>
        </p:spPr>
        <p:txBody>
          <a:bodyPr/>
          <a:lstStyle>
            <a:lvl1pPr>
              <a:defRPr/>
            </a:lvl1pPr>
          </a:lstStyle>
          <a:p>
            <a:fld id="{433C10A3-1A0B-441C-913A-B0761FCF9A6E}"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228600"/>
            <a:ext cx="854075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quarter" idx="2"/>
          </p:nvPr>
        </p:nvSpPr>
        <p:spPr>
          <a:xfrm>
            <a:off x="4648200" y="1600200"/>
            <a:ext cx="4194175" cy="21732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内容占位符 4"/>
          <p:cNvSpPr>
            <a:spLocks noGrp="1"/>
          </p:cNvSpPr>
          <p:nvPr>
            <p:ph sz="quarter" idx="3"/>
          </p:nvPr>
        </p:nvSpPr>
        <p:spPr>
          <a:xfrm>
            <a:off x="4648200" y="3925888"/>
            <a:ext cx="4194175" cy="21732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日期占位符 5"/>
          <p:cNvSpPr>
            <a:spLocks noGrp="1"/>
          </p:cNvSpPr>
          <p:nvPr>
            <p:ph type="dt" sz="half" idx="10"/>
          </p:nvPr>
        </p:nvSpPr>
        <p:spPr>
          <a:xfrm>
            <a:off x="301625" y="6245225"/>
            <a:ext cx="2289175"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2289175" cy="476250"/>
          </a:xfrm>
        </p:spPr>
        <p:txBody>
          <a:bodyPr/>
          <a:lstStyle>
            <a:lvl1pPr>
              <a:defRPr/>
            </a:lvl1pPr>
          </a:lstStyle>
          <a:p>
            <a:fld id="{A1AB1B9B-FC64-40CF-B573-E1D1D1A9DC03}" type="slidenum">
              <a:rPr lang="zh-CN" altLang="en-US"/>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reserve="1" showMasterSp="0">
  <p:cSld name="内容">
    <p:bg>
      <p:bgPr>
        <a:solidFill>
          <a:schemeClr val="bg1"/>
        </a:solidFill>
        <a:effectLst/>
      </p:bgPr>
    </p:bg>
    <p:spTree>
      <p:nvGrpSpPr>
        <p:cNvPr id="1" name=""/>
        <p:cNvGrpSpPr/>
        <p:nvPr/>
      </p:nvGrpSpPr>
      <p:grpSpPr>
        <a:xfrm>
          <a:off x="0" y="0"/>
          <a:ext cx="0" cy="0"/>
          <a:chOff x="0" y="0"/>
          <a:chExt cx="0" cy="0"/>
        </a:xfrm>
      </p:grpSpPr>
      <p:graphicFrame>
        <p:nvGraphicFramePr>
          <p:cNvPr id="38915" name="Object 9"/>
          <p:cNvGraphicFramePr>
            <a:graphicFrameLocks noChangeAspect="1"/>
          </p:cNvGraphicFramePr>
          <p:nvPr userDrawn="1"/>
        </p:nvGraphicFramePr>
        <p:xfrm>
          <a:off x="8458200" y="142875"/>
          <a:ext cx="685800" cy="611188"/>
        </p:xfrm>
        <a:graphic>
          <a:graphicData uri="http://schemas.openxmlformats.org/presentationml/2006/ole">
            <mc:AlternateContent xmlns:mc="http://schemas.openxmlformats.org/markup-compatibility/2006">
              <mc:Choice xmlns:v="urn:schemas-microsoft-com:vml" Requires="v">
                <p:oleObj spid="_x0000_s2" name="" r:id="rId2" imgW="2428875" imgH="2171700" progId="StaticDib">
                  <p:embed/>
                </p:oleObj>
              </mc:Choice>
              <mc:Fallback>
                <p:oleObj name="" r:id="rId2" imgW="2428875" imgH="2171700" progId="StaticDib">
                  <p:embed/>
                  <p:pic>
                    <p:nvPicPr>
                      <p:cNvPr id="0" name="图片 3075"/>
                      <p:cNvPicPr/>
                      <p:nvPr/>
                    </p:nvPicPr>
                    <p:blipFill>
                      <a:blip r:embed="rId3"/>
                      <a:stretch>
                        <a:fillRect/>
                      </a:stretch>
                    </p:blipFill>
                    <p:spPr>
                      <a:xfrm>
                        <a:off x="8458200" y="142875"/>
                        <a:ext cx="685800" cy="611188"/>
                      </a:xfrm>
                      <a:prstGeom prst="rect">
                        <a:avLst/>
                      </a:prstGeom>
                      <a:noFill/>
                      <a:ln w="38100">
                        <a:noFill/>
                        <a:miter/>
                      </a:ln>
                    </p:spPr>
                  </p:pic>
                </p:oleObj>
              </mc:Fallback>
            </mc:AlternateContent>
          </a:graphicData>
        </a:graphic>
      </p:graphicFrame>
      <p:sp>
        <p:nvSpPr>
          <p:cNvPr id="11" name="Line 7"/>
          <p:cNvSpPr>
            <a:spLocks noChangeShapeType="1"/>
          </p:cNvSpPr>
          <p:nvPr/>
        </p:nvSpPr>
        <p:spPr bwMode="auto">
          <a:xfrm>
            <a:off x="0" y="762000"/>
            <a:ext cx="9144000" cy="0"/>
          </a:xfrm>
          <a:prstGeom prst="line">
            <a:avLst/>
          </a:prstGeom>
          <a:noFill/>
          <a:ln w="19050">
            <a:solidFill>
              <a:srgbClr val="FF0000"/>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矩形 11"/>
          <p:cNvSpPr/>
          <p:nvPr/>
        </p:nvSpPr>
        <p:spPr>
          <a:xfrm>
            <a:off x="0" y="6488113"/>
            <a:ext cx="2492375" cy="3698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6600"/>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工程制图基础教学软件</a:t>
            </a:r>
            <a:endParaRPr kumimoji="0" lang="zh-CN" altLang="en-US" sz="1800" b="0" i="0" u="none" strike="noStrike" kern="1200" cap="none" spc="0" normalizeH="0" baseline="0" noProof="0" dirty="0">
              <a:ln>
                <a:noFill/>
              </a:ln>
              <a:solidFill>
                <a:srgbClr val="006600"/>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endParaRPr>
          </a:p>
        </p:txBody>
      </p:sp>
      <p:sp>
        <p:nvSpPr>
          <p:cNvPr id="3" name="内容占位符 2"/>
          <p:cNvSpPr>
            <a:spLocks noGrp="1"/>
          </p:cNvSpPr>
          <p:nvPr>
            <p:ph/>
          </p:nvPr>
        </p:nvSpPr>
        <p:spPr>
          <a:xfrm>
            <a:off x="457200" y="457200"/>
            <a:ext cx="8229600" cy="5410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3" name="Rectangle 2"/>
          <p:cNvSpPr>
            <a:spLocks noGrp="1" noChangeArrowheads="1"/>
          </p:cNvSpPr>
          <p:nvPr>
            <p:ph type="ftr" sz="quarter" idx="3"/>
          </p:nvPr>
        </p:nvSpPr>
        <p:spPr bwMode="auto">
          <a:xfrm>
            <a:off x="3184525" y="64008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第一章   制图基本知识和技能 </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Rectangle 3"/>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
        <p:nvSpPr>
          <p:cNvPr id="15" name="Rectangle 16"/>
          <p:cNvSpPr>
            <a:spLocks noGrp="1" noChangeArrowheads="1"/>
          </p:cNvSpPr>
          <p:nvPr>
            <p:ph type="dt" sz="half" idx="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2.jpe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E6BA3471-8F77-4988-93EC-C76938312EAD}"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smtClean="0">
                <a:solidFill>
                  <a:srgbClr val="898989"/>
                </a:solidFill>
                <a:latin typeface="Calibri" panose="020F0502020204030204" pitchFamily="34" charset="0"/>
              </a:defRPr>
            </a:lvl1pPr>
          </a:lstStyle>
          <a:p>
            <a:pPr>
              <a:defRPr/>
            </a:pPr>
            <a:fld id="{64C67417-CE36-47FB-9AB7-1A10D914B3C0}"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6" Type="http://schemas.openxmlformats.org/officeDocument/2006/relationships/slideLayout" Target="../slideLayouts/slideLayout1.xml"/><Relationship Id="rId15" Type="http://schemas.openxmlformats.org/officeDocument/2006/relationships/image" Target="../media/image17.png"/><Relationship Id="rId14" Type="http://schemas.openxmlformats.org/officeDocument/2006/relationships/image" Target="../media/image16.png"/><Relationship Id="rId13" Type="http://schemas.openxmlformats.org/officeDocument/2006/relationships/image" Target="../media/image15.png"/><Relationship Id="rId12" Type="http://schemas.openxmlformats.org/officeDocument/2006/relationships/image" Target="../media/image14.png"/><Relationship Id="rId11" Type="http://schemas.openxmlformats.org/officeDocument/2006/relationships/image" Target="../media/image13.png"/><Relationship Id="rId10" Type="http://schemas.openxmlformats.org/officeDocument/2006/relationships/image" Target="../media/image1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标题 1"/>
          <p:cNvSpPr>
            <a:spLocks noGrp="1"/>
          </p:cNvSpPr>
          <p:nvPr>
            <p:ph type="ctrTitle"/>
          </p:nvPr>
        </p:nvSpPr>
        <p:spPr/>
        <p:txBody>
          <a:bodyPr/>
          <a:lstStyle/>
          <a:p>
            <a:pPr eaLnBrk="1" hangingPunct="1"/>
            <a:r>
              <a:rPr lang="zh-CN" altLang="en-US" dirty="0"/>
              <a:t>第</a:t>
            </a:r>
            <a:r>
              <a:rPr lang="en-US" altLang="zh-CN" dirty="0"/>
              <a:t>13</a:t>
            </a:r>
            <a:r>
              <a:rPr lang="zh-CN" altLang="en-US" dirty="0"/>
              <a:t>讲 零件图之一</a:t>
            </a:r>
            <a:endParaRPr lang="zh-CN" altLang="en-US" dirty="0"/>
          </a:p>
        </p:txBody>
      </p:sp>
      <p:sp>
        <p:nvSpPr>
          <p:cNvPr id="3" name="副标题 2"/>
          <p:cNvSpPr>
            <a:spLocks noGrp="1"/>
          </p:cNvSpPr>
          <p:nvPr>
            <p:ph type="subTitle" idx="1"/>
          </p:nvPr>
        </p:nvSpPr>
        <p:spPr/>
        <p:txBody>
          <a:bodyPr rtlCol="0">
            <a:normAutofit/>
          </a:bodyPr>
          <a:lstStyle/>
          <a:p>
            <a:pPr eaLnBrk="1" fontAlgn="auto" hangingPunct="1">
              <a:spcAft>
                <a:spcPts val="0"/>
              </a:spcAft>
              <a:defRPr/>
            </a:pPr>
            <a:r>
              <a:rPr lang="zh-CN" altLang="en-US" dirty="0"/>
              <a:t>第六单元   机械图介绍</a:t>
            </a:r>
            <a:endParaRPr lang="zh-CN" altLang="en-US" b="1" dirty="0">
              <a:solidFill>
                <a:srgbClr val="000066"/>
              </a:solidFill>
              <a:latin typeface="黑体" panose="02010609060101010101" pitchFamily="49" charset="-122"/>
              <a:ea typeface="黑体" panose="02010609060101010101" pitchFamily="49" charset="-122"/>
            </a:endParaRPr>
          </a:p>
          <a:p>
            <a:pPr eaLnBrk="1" fontAlgn="auto" hangingPunct="1">
              <a:spcAft>
                <a:spcPts val="0"/>
              </a:spcAft>
              <a:defRPr/>
            </a:pPr>
            <a:endParaRPr lang="zh-CN" altLang="en-US" b="1" dirty="0">
              <a:solidFill>
                <a:srgbClr val="000066"/>
              </a:solidFill>
              <a:latin typeface="黑体" panose="02010609060101010101" pitchFamily="49" charset="-122"/>
              <a:ea typeface="黑体" panose="02010609060101010101" pitchFamily="49"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97283" name="Group 3"/>
          <p:cNvGrpSpPr/>
          <p:nvPr/>
        </p:nvGrpSpPr>
        <p:grpSpPr bwMode="auto">
          <a:xfrm>
            <a:off x="7686675" y="1562100"/>
            <a:ext cx="977900" cy="835025"/>
            <a:chOff x="4842" y="984"/>
            <a:chExt cx="616" cy="526"/>
          </a:xfrm>
        </p:grpSpPr>
        <p:sp>
          <p:nvSpPr>
            <p:cNvPr id="97284" name="Text Box 4"/>
            <p:cNvSpPr txBox="1">
              <a:spLocks noChangeArrowheads="1"/>
            </p:cNvSpPr>
            <p:nvPr/>
          </p:nvSpPr>
          <p:spPr bwMode="auto">
            <a:xfrm>
              <a:off x="4842" y="984"/>
              <a:ext cx="61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chemeClr val="accent2"/>
                  </a:solidFill>
                </a:rPr>
                <a:t>螺钉</a:t>
              </a:r>
              <a:endParaRPr lang="zh-CN" altLang="en-US" sz="2800" b="1"/>
            </a:p>
          </p:txBody>
        </p:sp>
        <p:sp>
          <p:nvSpPr>
            <p:cNvPr id="97285" name="Line 5"/>
            <p:cNvSpPr>
              <a:spLocks noChangeShapeType="1"/>
            </p:cNvSpPr>
            <p:nvPr/>
          </p:nvSpPr>
          <p:spPr bwMode="auto">
            <a:xfrm flipH="1">
              <a:off x="4890" y="1259"/>
              <a:ext cx="160" cy="251"/>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7286" name="Group 6"/>
          <p:cNvGrpSpPr/>
          <p:nvPr/>
        </p:nvGrpSpPr>
        <p:grpSpPr bwMode="auto">
          <a:xfrm>
            <a:off x="7377113" y="4899025"/>
            <a:ext cx="985837" cy="701675"/>
            <a:chOff x="4625" y="3104"/>
            <a:chExt cx="621" cy="442"/>
          </a:xfrm>
        </p:grpSpPr>
        <p:sp>
          <p:nvSpPr>
            <p:cNvPr id="97287" name="Text Box 7"/>
            <p:cNvSpPr txBox="1">
              <a:spLocks noChangeArrowheads="1"/>
            </p:cNvSpPr>
            <p:nvPr/>
          </p:nvSpPr>
          <p:spPr bwMode="auto">
            <a:xfrm>
              <a:off x="4680" y="3219"/>
              <a:ext cx="56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2800" b="1">
                  <a:solidFill>
                    <a:schemeClr val="accent2"/>
                  </a:solidFill>
                </a:rPr>
                <a:t>垫圈</a:t>
              </a:r>
              <a:endParaRPr lang="zh-CN" altLang="en-US" sz="2800" b="1"/>
            </a:p>
          </p:txBody>
        </p:sp>
        <p:sp>
          <p:nvSpPr>
            <p:cNvPr id="97288" name="Line 8"/>
            <p:cNvSpPr>
              <a:spLocks noChangeShapeType="1"/>
            </p:cNvSpPr>
            <p:nvPr/>
          </p:nvSpPr>
          <p:spPr bwMode="auto">
            <a:xfrm>
              <a:off x="4625" y="3104"/>
              <a:ext cx="200" cy="184"/>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7289" name="Text Box 9"/>
          <p:cNvSpPr txBox="1">
            <a:spLocks noChangeArrowheads="1"/>
          </p:cNvSpPr>
          <p:nvPr/>
        </p:nvSpPr>
        <p:spPr bwMode="auto">
          <a:xfrm>
            <a:off x="280988" y="2922588"/>
            <a:ext cx="1522412"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chemeClr val="accent2"/>
                </a:solidFill>
                <a:latin typeface="宋体" panose="02010600030101010101" pitchFamily="2" charset="-122"/>
              </a:rPr>
              <a:t>★ </a:t>
            </a:r>
            <a:r>
              <a:rPr lang="zh-CN" altLang="en-US" sz="2800" b="1">
                <a:solidFill>
                  <a:schemeClr val="accent2"/>
                </a:solidFill>
                <a:latin typeface="宋体" panose="02010600030101010101" pitchFamily="2" charset="-122"/>
              </a:rPr>
              <a:t>轴类</a:t>
            </a:r>
            <a:endParaRPr lang="zh-CN" altLang="en-US" sz="2800" b="1">
              <a:solidFill>
                <a:schemeClr val="accent2"/>
              </a:solidFill>
              <a:latin typeface="宋体" panose="02010600030101010101" pitchFamily="2" charset="-122"/>
            </a:endParaRPr>
          </a:p>
        </p:txBody>
      </p:sp>
      <p:sp>
        <p:nvSpPr>
          <p:cNvPr id="97290" name="Text Box 10"/>
          <p:cNvSpPr txBox="1">
            <a:spLocks noChangeArrowheads="1"/>
          </p:cNvSpPr>
          <p:nvPr/>
        </p:nvSpPr>
        <p:spPr bwMode="auto">
          <a:xfrm>
            <a:off x="282575" y="3427413"/>
            <a:ext cx="1625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chemeClr val="accent2"/>
                </a:solidFill>
                <a:latin typeface="宋体" panose="02010600030101010101" pitchFamily="2" charset="-122"/>
              </a:rPr>
              <a:t>★ </a:t>
            </a:r>
            <a:r>
              <a:rPr lang="zh-CN" altLang="en-US" sz="2800" b="1">
                <a:solidFill>
                  <a:schemeClr val="accent2"/>
                </a:solidFill>
                <a:latin typeface="宋体" panose="02010600030101010101" pitchFamily="2" charset="-122"/>
              </a:rPr>
              <a:t>盘类</a:t>
            </a:r>
            <a:endParaRPr lang="zh-CN" altLang="en-US" sz="3200" b="1">
              <a:solidFill>
                <a:schemeClr val="accent2"/>
              </a:solidFill>
              <a:latin typeface="宋体" panose="02010600030101010101" pitchFamily="2" charset="-122"/>
            </a:endParaRPr>
          </a:p>
        </p:txBody>
      </p:sp>
      <p:sp>
        <p:nvSpPr>
          <p:cNvPr id="97291" name="Text Box 11"/>
          <p:cNvSpPr txBox="1">
            <a:spLocks noChangeArrowheads="1"/>
          </p:cNvSpPr>
          <p:nvPr/>
        </p:nvSpPr>
        <p:spPr bwMode="auto">
          <a:xfrm>
            <a:off x="296863" y="3930650"/>
            <a:ext cx="19177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chemeClr val="accent2"/>
                </a:solidFill>
                <a:latin typeface="宋体" panose="02010600030101010101" pitchFamily="2" charset="-122"/>
              </a:rPr>
              <a:t>★ </a:t>
            </a:r>
            <a:r>
              <a:rPr lang="zh-CN" altLang="en-US" sz="2800" b="1">
                <a:solidFill>
                  <a:schemeClr val="accent2"/>
                </a:solidFill>
                <a:latin typeface="宋体" panose="02010600030101010101" pitchFamily="2" charset="-122"/>
              </a:rPr>
              <a:t>箱体类</a:t>
            </a:r>
            <a:endParaRPr lang="zh-CN" altLang="en-US" sz="3200" b="1">
              <a:solidFill>
                <a:schemeClr val="accent2"/>
              </a:solidFill>
              <a:latin typeface="宋体" panose="02010600030101010101" pitchFamily="2" charset="-122"/>
            </a:endParaRPr>
          </a:p>
        </p:txBody>
      </p:sp>
      <p:sp>
        <p:nvSpPr>
          <p:cNvPr id="97292" name="WordArt 12"/>
          <p:cNvSpPr>
            <a:spLocks noChangeArrowheads="1" noChangeShapeType="1" noTextEdit="1"/>
          </p:cNvSpPr>
          <p:nvPr/>
        </p:nvSpPr>
        <p:spPr bwMode="auto">
          <a:xfrm>
            <a:off x="563563" y="893763"/>
            <a:ext cx="2271712" cy="674687"/>
          </a:xfrm>
          <a:prstGeom prst="rect">
            <a:avLst/>
          </a:prstGeom>
          <a:extLst>
            <a:ext uri="{AF507438-7753-43E0-B8FC-AC1667EBCBE1}">
              <a14:hiddenEffects xmlns:a14="http://schemas.microsoft.com/office/drawing/2010/main">
                <a:effectLst/>
              </a14:hiddenEffects>
            </a:ext>
          </a:extLst>
        </p:spPr>
        <p:txBody>
          <a:bodyPr wrap="none" fromWordArt="1">
            <a:prstTxWarp prst="textDeflate">
              <a:avLst>
                <a:gd name="adj" fmla="val 18588"/>
              </a:avLst>
            </a:prstTxWarp>
          </a:bodyPr>
          <a:lstStyle/>
          <a:p>
            <a:pPr algn="ctr"/>
            <a:r>
              <a:rPr lang="zh-CN" altLang="en-US" sz="3600" kern="10">
                <a:ln w="9525">
                  <a:solidFill>
                    <a:srgbClr val="CC66FF"/>
                  </a:solidFill>
                  <a:round/>
                </a:ln>
                <a:solidFill>
                  <a:srgbClr val="9900CC"/>
                </a:solidFill>
                <a:latin typeface="宋体" panose="02010600030101010101" pitchFamily="2" charset="-122"/>
              </a:rPr>
              <a:t>什么是零件</a:t>
            </a:r>
            <a:r>
              <a:rPr lang="en-US" altLang="zh-CN" sz="3600" kern="10">
                <a:ln w="9525">
                  <a:solidFill>
                    <a:srgbClr val="CC66FF"/>
                  </a:solidFill>
                  <a:round/>
                </a:ln>
                <a:solidFill>
                  <a:srgbClr val="9900CC"/>
                </a:solidFill>
                <a:latin typeface="宋体" panose="02010600030101010101" pitchFamily="2" charset="-122"/>
              </a:rPr>
              <a:t>?</a:t>
            </a:r>
            <a:endParaRPr lang="zh-CN" altLang="en-US" sz="3600" kern="10">
              <a:ln w="9525">
                <a:solidFill>
                  <a:srgbClr val="CC66FF"/>
                </a:solidFill>
                <a:round/>
              </a:ln>
              <a:solidFill>
                <a:srgbClr val="9900CC"/>
              </a:solidFill>
              <a:latin typeface="宋体" panose="02010600030101010101" pitchFamily="2" charset="-122"/>
            </a:endParaRPr>
          </a:p>
        </p:txBody>
      </p:sp>
      <p:sp>
        <p:nvSpPr>
          <p:cNvPr id="97293" name="Text Box 13"/>
          <p:cNvSpPr txBox="1">
            <a:spLocks noChangeArrowheads="1"/>
          </p:cNvSpPr>
          <p:nvPr/>
        </p:nvSpPr>
        <p:spPr bwMode="auto">
          <a:xfrm>
            <a:off x="295275" y="4471988"/>
            <a:ext cx="2133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chemeClr val="accent2"/>
                </a:solidFill>
                <a:latin typeface="宋体" panose="02010600030101010101" pitchFamily="2" charset="-122"/>
              </a:rPr>
              <a:t>★ </a:t>
            </a:r>
            <a:r>
              <a:rPr lang="zh-CN" altLang="en-US" sz="2800" b="1">
                <a:solidFill>
                  <a:schemeClr val="accent2"/>
                </a:solidFill>
                <a:latin typeface="宋体" panose="02010600030101010101" pitchFamily="2" charset="-122"/>
              </a:rPr>
              <a:t>标准件</a:t>
            </a:r>
            <a:endParaRPr lang="zh-CN" altLang="en-US" sz="3200" b="1">
              <a:solidFill>
                <a:schemeClr val="accent2"/>
              </a:solidFill>
              <a:latin typeface="宋体" panose="02010600030101010101" pitchFamily="2" charset="-122"/>
            </a:endParaRPr>
          </a:p>
        </p:txBody>
      </p:sp>
      <p:sp>
        <p:nvSpPr>
          <p:cNvPr id="97294" name="Text Box 14"/>
          <p:cNvSpPr txBox="1">
            <a:spLocks noChangeArrowheads="1"/>
          </p:cNvSpPr>
          <p:nvPr/>
        </p:nvSpPr>
        <p:spPr bwMode="auto">
          <a:xfrm>
            <a:off x="1371600" y="2946400"/>
            <a:ext cx="22034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（齿轮轴）</a:t>
            </a:r>
            <a:endParaRPr lang="zh-CN" altLang="en-US" sz="3200" b="1">
              <a:latin typeface="宋体" panose="02010600030101010101" pitchFamily="2" charset="-122"/>
            </a:endParaRPr>
          </a:p>
        </p:txBody>
      </p:sp>
      <p:sp>
        <p:nvSpPr>
          <p:cNvPr id="97295" name="Text Box 15"/>
          <p:cNvSpPr txBox="1">
            <a:spLocks noChangeArrowheads="1"/>
          </p:cNvSpPr>
          <p:nvPr/>
        </p:nvSpPr>
        <p:spPr bwMode="auto">
          <a:xfrm>
            <a:off x="304800" y="1951038"/>
            <a:ext cx="5106988"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latin typeface="宋体" panose="02010600030101010101" pitchFamily="2" charset="-122"/>
              </a:rPr>
              <a:t>根据零件的功用及其结构特点</a:t>
            </a:r>
            <a:r>
              <a:rPr lang="en-US" altLang="zh-CN" sz="2800" b="1">
                <a:latin typeface="宋体" panose="02010600030101010101" pitchFamily="2" charset="-122"/>
              </a:rPr>
              <a:t>,   </a:t>
            </a:r>
            <a:r>
              <a:rPr lang="zh-CN" altLang="en-US" sz="2800" b="1">
                <a:latin typeface="宋体" panose="02010600030101010101" pitchFamily="2" charset="-122"/>
              </a:rPr>
              <a:t>通常分为以下几类</a:t>
            </a:r>
            <a:r>
              <a:rPr lang="zh-CN" altLang="en-US" sz="3200" b="1">
                <a:latin typeface="宋体" panose="02010600030101010101" pitchFamily="2" charset="-122"/>
              </a:rPr>
              <a:t>：</a:t>
            </a:r>
            <a:endParaRPr lang="zh-CN" altLang="en-US" sz="3200" b="1">
              <a:latin typeface="宋体" panose="02010600030101010101" pitchFamily="2" charset="-122"/>
            </a:endParaRPr>
          </a:p>
        </p:txBody>
      </p:sp>
      <p:sp>
        <p:nvSpPr>
          <p:cNvPr id="97296" name="Text Box 16"/>
          <p:cNvSpPr txBox="1">
            <a:spLocks noChangeArrowheads="1"/>
          </p:cNvSpPr>
          <p:nvPr/>
        </p:nvSpPr>
        <p:spPr bwMode="auto">
          <a:xfrm>
            <a:off x="300038" y="1452563"/>
            <a:ext cx="6434137"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零件是组成机器的不可拆最小单元。</a:t>
            </a:r>
            <a:endParaRPr lang="zh-CN" altLang="en-US" sz="2800" b="1">
              <a:latin typeface="宋体" panose="02010600030101010101" pitchFamily="2" charset="-122"/>
            </a:endParaRPr>
          </a:p>
        </p:txBody>
      </p:sp>
      <p:sp>
        <p:nvSpPr>
          <p:cNvPr id="97297" name="Text Box 17"/>
          <p:cNvSpPr txBox="1">
            <a:spLocks noChangeArrowheads="1"/>
          </p:cNvSpPr>
          <p:nvPr/>
        </p:nvSpPr>
        <p:spPr bwMode="auto">
          <a:xfrm>
            <a:off x="1371600" y="3409950"/>
            <a:ext cx="27892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（齿轮、端盖）</a:t>
            </a:r>
            <a:endParaRPr lang="zh-CN" altLang="en-US" sz="3200" b="1">
              <a:latin typeface="宋体" panose="02010600030101010101" pitchFamily="2" charset="-122"/>
            </a:endParaRPr>
          </a:p>
        </p:txBody>
      </p:sp>
      <p:sp>
        <p:nvSpPr>
          <p:cNvPr id="97298" name="Text Box 18"/>
          <p:cNvSpPr txBox="1">
            <a:spLocks noChangeArrowheads="1"/>
          </p:cNvSpPr>
          <p:nvPr/>
        </p:nvSpPr>
        <p:spPr bwMode="auto">
          <a:xfrm>
            <a:off x="344488" y="5003800"/>
            <a:ext cx="2370137"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（螺钉</a:t>
            </a:r>
            <a:r>
              <a:rPr lang="en-US" altLang="zh-CN" sz="2800" b="1">
                <a:latin typeface="宋体" panose="02010600030101010101" pitchFamily="2" charset="-122"/>
              </a:rPr>
              <a:t>,</a:t>
            </a:r>
            <a:r>
              <a:rPr lang="zh-CN" altLang="en-US" sz="2800" b="1">
                <a:latin typeface="宋体" panose="02010600030101010101" pitchFamily="2" charset="-122"/>
              </a:rPr>
              <a:t>螺母</a:t>
            </a:r>
            <a:r>
              <a:rPr lang="en-US" altLang="zh-CN" sz="2800" b="1">
                <a:latin typeface="宋体" panose="02010600030101010101" pitchFamily="2" charset="-122"/>
              </a:rPr>
              <a:t>, </a:t>
            </a:r>
            <a:endParaRPr lang="en-US" altLang="zh-CN" sz="2800" b="1">
              <a:latin typeface="宋体" panose="02010600030101010101" pitchFamily="2" charset="-122"/>
            </a:endParaRPr>
          </a:p>
          <a:p>
            <a:pPr eaLnBrk="0" hangingPunct="0"/>
            <a:r>
              <a:rPr lang="en-US" altLang="zh-CN" sz="2800" b="1">
                <a:latin typeface="宋体" panose="02010600030101010101" pitchFamily="2" charset="-122"/>
              </a:rPr>
              <a:t>  </a:t>
            </a:r>
            <a:r>
              <a:rPr lang="zh-CN" altLang="en-US" sz="2800" b="1">
                <a:latin typeface="宋体" panose="02010600030101010101" pitchFamily="2" charset="-122"/>
              </a:rPr>
              <a:t>键</a:t>
            </a:r>
            <a:r>
              <a:rPr lang="en-US" altLang="zh-CN" sz="2800" b="1">
                <a:latin typeface="宋体" panose="02010600030101010101" pitchFamily="2" charset="-122"/>
              </a:rPr>
              <a:t>,</a:t>
            </a:r>
            <a:r>
              <a:rPr lang="zh-CN" altLang="en-US" sz="2800" b="1">
                <a:latin typeface="宋体" panose="02010600030101010101" pitchFamily="2" charset="-122"/>
              </a:rPr>
              <a:t>销等）</a:t>
            </a:r>
            <a:endParaRPr lang="zh-CN" altLang="en-US" sz="2800" b="1">
              <a:latin typeface="宋体" panose="02010600030101010101" pitchFamily="2" charset="-122"/>
            </a:endParaRPr>
          </a:p>
        </p:txBody>
      </p:sp>
      <p:sp>
        <p:nvSpPr>
          <p:cNvPr id="97299" name="Text Box 19"/>
          <p:cNvSpPr txBox="1">
            <a:spLocks noChangeArrowheads="1"/>
          </p:cNvSpPr>
          <p:nvPr/>
        </p:nvSpPr>
        <p:spPr bwMode="auto">
          <a:xfrm>
            <a:off x="1676400" y="3933825"/>
            <a:ext cx="17399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（泵体）</a:t>
            </a:r>
            <a:endParaRPr lang="zh-CN" altLang="en-US" sz="3200" b="1">
              <a:latin typeface="宋体" panose="02010600030101010101" pitchFamily="2" charset="-122"/>
            </a:endParaRPr>
          </a:p>
        </p:txBody>
      </p:sp>
      <p:sp>
        <p:nvSpPr>
          <p:cNvPr id="97300" name="Text Box 20"/>
          <p:cNvSpPr txBox="1">
            <a:spLocks noChangeArrowheads="1"/>
          </p:cNvSpPr>
          <p:nvPr/>
        </p:nvSpPr>
        <p:spPr bwMode="auto">
          <a:xfrm>
            <a:off x="5437188" y="987425"/>
            <a:ext cx="2684462" cy="51911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齿轮油泵分解图</a:t>
            </a:r>
            <a:endParaRPr lang="zh-CN" altLang="en-US" sz="2800" b="1">
              <a:solidFill>
                <a:srgbClr val="FF3300"/>
              </a:solidFill>
            </a:endParaRPr>
          </a:p>
        </p:txBody>
      </p:sp>
      <p:grpSp>
        <p:nvGrpSpPr>
          <p:cNvPr id="97301" name="Group 21"/>
          <p:cNvGrpSpPr/>
          <p:nvPr/>
        </p:nvGrpSpPr>
        <p:grpSpPr bwMode="auto">
          <a:xfrm>
            <a:off x="2492375" y="2024063"/>
            <a:ext cx="6518275" cy="4154487"/>
            <a:chOff x="1570" y="1275"/>
            <a:chExt cx="4106" cy="2617"/>
          </a:xfrm>
        </p:grpSpPr>
        <p:pic>
          <p:nvPicPr>
            <p:cNvPr id="97302" name="Picture 2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87" y="2307"/>
              <a:ext cx="932" cy="1342"/>
            </a:xfrm>
            <a:prstGeom prst="rect">
              <a:avLst/>
            </a:prstGeom>
            <a:noFill/>
            <a:extLst>
              <a:ext uri="{909E8E84-426E-40DD-AFC4-6F175D3DCCD1}">
                <a14:hiddenFill xmlns:a14="http://schemas.microsoft.com/office/drawing/2010/main">
                  <a:solidFill>
                    <a:srgbClr val="FFFFFF"/>
                  </a:solidFill>
                </a14:hiddenFill>
              </a:ext>
            </a:extLst>
          </p:spPr>
        </p:pic>
        <p:grpSp>
          <p:nvGrpSpPr>
            <p:cNvPr id="97303" name="Group 23"/>
            <p:cNvGrpSpPr/>
            <p:nvPr/>
          </p:nvGrpSpPr>
          <p:grpSpPr bwMode="auto">
            <a:xfrm>
              <a:off x="1570" y="1275"/>
              <a:ext cx="4106" cy="2617"/>
              <a:chOff x="1570" y="1275"/>
              <a:chExt cx="4106" cy="2617"/>
            </a:xfrm>
          </p:grpSpPr>
          <p:pic>
            <p:nvPicPr>
              <p:cNvPr id="97304"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 y="1627"/>
                <a:ext cx="732" cy="1000"/>
              </a:xfrm>
              <a:prstGeom prst="rect">
                <a:avLst/>
              </a:prstGeom>
              <a:noFill/>
              <a:extLst>
                <a:ext uri="{909E8E84-426E-40DD-AFC4-6F175D3DCCD1}">
                  <a14:hiddenFill xmlns:a14="http://schemas.microsoft.com/office/drawing/2010/main">
                    <a:solidFill>
                      <a:srgbClr val="FFFFFF"/>
                    </a:solidFill>
                  </a14:hiddenFill>
                </a:ext>
              </a:extLst>
            </p:spPr>
          </p:pic>
          <p:pic>
            <p:nvPicPr>
              <p:cNvPr id="97305"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9" y="1819"/>
                <a:ext cx="532" cy="938"/>
              </a:xfrm>
              <a:prstGeom prst="rect">
                <a:avLst/>
              </a:prstGeom>
              <a:noFill/>
              <a:extLst>
                <a:ext uri="{909E8E84-426E-40DD-AFC4-6F175D3DCCD1}">
                  <a14:hiddenFill xmlns:a14="http://schemas.microsoft.com/office/drawing/2010/main">
                    <a:solidFill>
                      <a:srgbClr val="FFFFFF"/>
                    </a:solidFill>
                  </a14:hiddenFill>
                </a:ext>
              </a:extLst>
            </p:spPr>
          </p:pic>
          <p:pic>
            <p:nvPicPr>
              <p:cNvPr id="97306"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 y="2602"/>
                <a:ext cx="542" cy="942"/>
              </a:xfrm>
              <a:prstGeom prst="rect">
                <a:avLst/>
              </a:prstGeom>
              <a:noFill/>
              <a:extLst>
                <a:ext uri="{909E8E84-426E-40DD-AFC4-6F175D3DCCD1}">
                  <a14:hiddenFill xmlns:a14="http://schemas.microsoft.com/office/drawing/2010/main">
                    <a:solidFill>
                      <a:srgbClr val="FFFFFF"/>
                    </a:solidFill>
                  </a14:hiddenFill>
                </a:ext>
              </a:extLst>
            </p:spPr>
          </p:pic>
          <p:pic>
            <p:nvPicPr>
              <p:cNvPr id="97307" name="Picture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2" y="2714"/>
                <a:ext cx="606" cy="984"/>
              </a:xfrm>
              <a:prstGeom prst="rect">
                <a:avLst/>
              </a:prstGeom>
              <a:noFill/>
              <a:extLst>
                <a:ext uri="{909E8E84-426E-40DD-AFC4-6F175D3DCCD1}">
                  <a14:hiddenFill xmlns:a14="http://schemas.microsoft.com/office/drawing/2010/main">
                    <a:solidFill>
                      <a:srgbClr val="FFFFFF"/>
                    </a:solidFill>
                  </a14:hiddenFill>
                </a:ext>
              </a:extLst>
            </p:spPr>
          </p:pic>
          <p:pic>
            <p:nvPicPr>
              <p:cNvPr id="97308" name="Picture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9" y="2043"/>
                <a:ext cx="1092" cy="1046"/>
              </a:xfrm>
              <a:prstGeom prst="rect">
                <a:avLst/>
              </a:prstGeom>
              <a:noFill/>
              <a:extLst>
                <a:ext uri="{909E8E84-426E-40DD-AFC4-6F175D3DCCD1}">
                  <a14:hiddenFill xmlns:a14="http://schemas.microsoft.com/office/drawing/2010/main">
                    <a:solidFill>
                      <a:srgbClr val="FFFFFF"/>
                    </a:solidFill>
                  </a14:hiddenFill>
                </a:ext>
              </a:extLst>
            </p:spPr>
          </p:pic>
          <p:pic>
            <p:nvPicPr>
              <p:cNvPr id="97309" name="Picture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7" y="2853"/>
                <a:ext cx="602" cy="686"/>
              </a:xfrm>
              <a:prstGeom prst="rect">
                <a:avLst/>
              </a:prstGeom>
              <a:noFill/>
              <a:extLst>
                <a:ext uri="{909E8E84-426E-40DD-AFC4-6F175D3DCCD1}">
                  <a14:hiddenFill xmlns:a14="http://schemas.microsoft.com/office/drawing/2010/main">
                    <a:solidFill>
                      <a:srgbClr val="FFFFFF"/>
                    </a:solidFill>
                  </a14:hiddenFill>
                </a:ext>
              </a:extLst>
            </p:spPr>
          </p:pic>
          <p:pic>
            <p:nvPicPr>
              <p:cNvPr id="97310" name="Picture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14" y="1275"/>
                <a:ext cx="462" cy="496"/>
              </a:xfrm>
              <a:prstGeom prst="rect">
                <a:avLst/>
              </a:prstGeom>
              <a:noFill/>
              <a:extLst>
                <a:ext uri="{909E8E84-426E-40DD-AFC4-6F175D3DCCD1}">
                  <a14:hiddenFill xmlns:a14="http://schemas.microsoft.com/office/drawing/2010/main">
                    <a:solidFill>
                      <a:srgbClr val="FFFFFF"/>
                    </a:solidFill>
                  </a14:hiddenFill>
                </a:ext>
              </a:extLst>
            </p:spPr>
          </p:pic>
          <p:pic>
            <p:nvPicPr>
              <p:cNvPr id="97311"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98" y="1530"/>
                <a:ext cx="320" cy="338"/>
              </a:xfrm>
              <a:prstGeom prst="rect">
                <a:avLst/>
              </a:prstGeom>
              <a:noFill/>
              <a:extLst>
                <a:ext uri="{909E8E84-426E-40DD-AFC4-6F175D3DCCD1}">
                  <a14:hiddenFill xmlns:a14="http://schemas.microsoft.com/office/drawing/2010/main">
                    <a:solidFill>
                      <a:srgbClr val="FFFFFF"/>
                    </a:solidFill>
                  </a14:hiddenFill>
                </a:ext>
              </a:extLst>
            </p:spPr>
          </p:pic>
          <p:pic>
            <p:nvPicPr>
              <p:cNvPr id="97312" name="Picture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17" y="2654"/>
                <a:ext cx="332" cy="384"/>
              </a:xfrm>
              <a:prstGeom prst="rect">
                <a:avLst/>
              </a:prstGeom>
              <a:noFill/>
              <a:extLst>
                <a:ext uri="{909E8E84-426E-40DD-AFC4-6F175D3DCCD1}">
                  <a14:hiddenFill xmlns:a14="http://schemas.microsoft.com/office/drawing/2010/main">
                    <a:solidFill>
                      <a:srgbClr val="FFFFFF"/>
                    </a:solidFill>
                  </a14:hiddenFill>
                </a:ext>
              </a:extLst>
            </p:spPr>
          </p:pic>
          <p:pic>
            <p:nvPicPr>
              <p:cNvPr id="97313" name="Picture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95" y="2022"/>
                <a:ext cx="158" cy="130"/>
              </a:xfrm>
              <a:prstGeom prst="rect">
                <a:avLst/>
              </a:prstGeom>
              <a:noFill/>
              <a:extLst>
                <a:ext uri="{909E8E84-426E-40DD-AFC4-6F175D3DCCD1}">
                  <a14:hiddenFill xmlns:a14="http://schemas.microsoft.com/office/drawing/2010/main">
                    <a:solidFill>
                      <a:srgbClr val="FFFFFF"/>
                    </a:solidFill>
                  </a14:hiddenFill>
                </a:ext>
              </a:extLst>
            </p:spPr>
          </p:pic>
          <p:pic>
            <p:nvPicPr>
              <p:cNvPr id="97314" name="Picture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0" y="2845"/>
                <a:ext cx="236" cy="286"/>
              </a:xfrm>
              <a:prstGeom prst="rect">
                <a:avLst/>
              </a:prstGeom>
              <a:noFill/>
              <a:extLst>
                <a:ext uri="{909E8E84-426E-40DD-AFC4-6F175D3DCCD1}">
                  <a14:hiddenFill xmlns:a14="http://schemas.microsoft.com/office/drawing/2010/main">
                    <a:solidFill>
                      <a:srgbClr val="FFFFFF"/>
                    </a:solidFill>
                  </a14:hiddenFill>
                </a:ext>
              </a:extLst>
            </p:spPr>
          </p:pic>
          <p:pic>
            <p:nvPicPr>
              <p:cNvPr id="97315" name="Picture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86" y="1331"/>
                <a:ext cx="238" cy="186"/>
              </a:xfrm>
              <a:prstGeom prst="rect">
                <a:avLst/>
              </a:prstGeom>
              <a:noFill/>
              <a:extLst>
                <a:ext uri="{909E8E84-426E-40DD-AFC4-6F175D3DCCD1}">
                  <a14:hiddenFill xmlns:a14="http://schemas.microsoft.com/office/drawing/2010/main">
                    <a:solidFill>
                      <a:srgbClr val="FFFFFF"/>
                    </a:solidFill>
                  </a14:hiddenFill>
                </a:ext>
              </a:extLst>
            </p:spPr>
          </p:pic>
          <p:pic>
            <p:nvPicPr>
              <p:cNvPr id="97316" name="Picture 3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77" y="3708"/>
                <a:ext cx="234" cy="184"/>
              </a:xfrm>
              <a:prstGeom prst="rect">
                <a:avLst/>
              </a:prstGeom>
              <a:noFill/>
              <a:extLst>
                <a:ext uri="{909E8E84-426E-40DD-AFC4-6F175D3DCCD1}">
                  <a14:hiddenFill xmlns:a14="http://schemas.microsoft.com/office/drawing/2010/main">
                    <a:solidFill>
                      <a:srgbClr val="FFFFFF"/>
                    </a:solidFill>
                  </a14:hiddenFill>
                </a:ext>
              </a:extLst>
            </p:spPr>
          </p:pic>
          <p:pic>
            <p:nvPicPr>
              <p:cNvPr id="97317" name="Picture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94" y="2735"/>
                <a:ext cx="212" cy="154"/>
              </a:xfrm>
              <a:prstGeom prst="rect">
                <a:avLst/>
              </a:prstGeom>
              <a:noFill/>
              <a:extLst>
                <a:ext uri="{909E8E84-426E-40DD-AFC4-6F175D3DCCD1}">
                  <a14:hiddenFill xmlns:a14="http://schemas.microsoft.com/office/drawing/2010/main">
                    <a:solidFill>
                      <a:srgbClr val="FFFFFF"/>
                    </a:solidFill>
                  </a14:hiddenFill>
                </a:ext>
              </a:extLst>
            </p:spPr>
          </p:pic>
          <p:pic>
            <p:nvPicPr>
              <p:cNvPr id="97318" name="Picture 3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5" y="3708"/>
                <a:ext cx="212" cy="154"/>
              </a:xfrm>
              <a:prstGeom prst="rect">
                <a:avLst/>
              </a:prstGeom>
              <a:noFill/>
              <a:extLst>
                <a:ext uri="{909E8E84-426E-40DD-AFC4-6F175D3DCCD1}">
                  <a14:hiddenFill xmlns:a14="http://schemas.microsoft.com/office/drawing/2010/main">
                    <a:solidFill>
                      <a:srgbClr val="FFFFFF"/>
                    </a:solidFill>
                  </a14:hiddenFill>
                </a:ext>
              </a:extLst>
            </p:spPr>
          </p:pic>
          <p:pic>
            <p:nvPicPr>
              <p:cNvPr id="97319" name="Picture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70" y="2005"/>
                <a:ext cx="212" cy="154"/>
              </a:xfrm>
              <a:prstGeom prst="rect">
                <a:avLst/>
              </a:prstGeom>
              <a:noFill/>
              <a:extLst>
                <a:ext uri="{909E8E84-426E-40DD-AFC4-6F175D3DCCD1}">
                  <a14:hiddenFill xmlns:a14="http://schemas.microsoft.com/office/drawing/2010/main">
                    <a:solidFill>
                      <a:srgbClr val="FFFFFF"/>
                    </a:solidFill>
                  </a14:hiddenFill>
                </a:ext>
              </a:extLst>
            </p:spPr>
          </p:pic>
          <p:pic>
            <p:nvPicPr>
              <p:cNvPr id="97320" name="Picture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07" y="2338"/>
                <a:ext cx="212" cy="154"/>
              </a:xfrm>
              <a:prstGeom prst="rect">
                <a:avLst/>
              </a:prstGeom>
              <a:noFill/>
              <a:extLst>
                <a:ext uri="{909E8E84-426E-40DD-AFC4-6F175D3DCCD1}">
                  <a14:hiddenFill xmlns:a14="http://schemas.microsoft.com/office/drawing/2010/main">
                    <a:solidFill>
                      <a:srgbClr val="FFFFFF"/>
                    </a:solidFill>
                  </a14:hiddenFill>
                </a:ext>
              </a:extLst>
            </p:spPr>
          </p:pic>
          <p:pic>
            <p:nvPicPr>
              <p:cNvPr id="97321" name="Picture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59" y="1355"/>
                <a:ext cx="238" cy="186"/>
              </a:xfrm>
              <a:prstGeom prst="rect">
                <a:avLst/>
              </a:prstGeom>
              <a:noFill/>
              <a:extLst>
                <a:ext uri="{909E8E84-426E-40DD-AFC4-6F175D3DCCD1}">
                  <a14:hiddenFill xmlns:a14="http://schemas.microsoft.com/office/drawing/2010/main">
                    <a:solidFill>
                      <a:srgbClr val="FFFFFF"/>
                    </a:solidFill>
                  </a14:hiddenFill>
                </a:ext>
              </a:extLst>
            </p:spPr>
          </p:pic>
          <p:pic>
            <p:nvPicPr>
              <p:cNvPr id="97322" name="Picture 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38" y="1475"/>
                <a:ext cx="238" cy="186"/>
              </a:xfrm>
              <a:prstGeom prst="rect">
                <a:avLst/>
              </a:prstGeom>
              <a:noFill/>
              <a:extLst>
                <a:ext uri="{909E8E84-426E-40DD-AFC4-6F175D3DCCD1}">
                  <a14:hiddenFill xmlns:a14="http://schemas.microsoft.com/office/drawing/2010/main">
                    <a:solidFill>
                      <a:srgbClr val="FFFFFF"/>
                    </a:solidFill>
                  </a14:hiddenFill>
                </a:ext>
              </a:extLst>
            </p:spPr>
          </p:pic>
          <p:pic>
            <p:nvPicPr>
              <p:cNvPr id="97323" name="Picture 4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73" y="2195"/>
                <a:ext cx="238" cy="186"/>
              </a:xfrm>
              <a:prstGeom prst="rect">
                <a:avLst/>
              </a:prstGeom>
              <a:noFill/>
              <a:extLst>
                <a:ext uri="{909E8E84-426E-40DD-AFC4-6F175D3DCCD1}">
                  <a14:hiddenFill xmlns:a14="http://schemas.microsoft.com/office/drawing/2010/main">
                    <a:solidFill>
                      <a:srgbClr val="FFFFFF"/>
                    </a:solidFill>
                  </a14:hiddenFill>
                </a:ext>
              </a:extLst>
            </p:spPr>
          </p:pic>
          <p:pic>
            <p:nvPicPr>
              <p:cNvPr id="97324" name="Picture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74" y="2360"/>
                <a:ext cx="238" cy="186"/>
              </a:xfrm>
              <a:prstGeom prst="rect">
                <a:avLst/>
              </a:prstGeom>
              <a:noFill/>
              <a:extLst>
                <a:ext uri="{909E8E84-426E-40DD-AFC4-6F175D3DCCD1}">
                  <a14:hiddenFill xmlns:a14="http://schemas.microsoft.com/office/drawing/2010/main">
                    <a:solidFill>
                      <a:srgbClr val="FFFFFF"/>
                    </a:solidFill>
                  </a14:hiddenFill>
                </a:ext>
              </a:extLst>
            </p:spPr>
          </p:pic>
          <p:pic>
            <p:nvPicPr>
              <p:cNvPr id="97325" name="Picture 4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66" y="2517"/>
                <a:ext cx="238" cy="186"/>
              </a:xfrm>
              <a:prstGeom prst="rect">
                <a:avLst/>
              </a:prstGeom>
              <a:noFill/>
              <a:extLst>
                <a:ext uri="{909E8E84-426E-40DD-AFC4-6F175D3DCCD1}">
                  <a14:hiddenFill xmlns:a14="http://schemas.microsoft.com/office/drawing/2010/main">
                    <a:solidFill>
                      <a:srgbClr val="FFFFFF"/>
                    </a:solidFill>
                  </a14:hiddenFill>
                </a:ext>
              </a:extLst>
            </p:spPr>
          </p:pic>
          <p:pic>
            <p:nvPicPr>
              <p:cNvPr id="97326" name="Picture 4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14" y="3527"/>
                <a:ext cx="234" cy="184"/>
              </a:xfrm>
              <a:prstGeom prst="rect">
                <a:avLst/>
              </a:prstGeom>
              <a:noFill/>
              <a:extLst>
                <a:ext uri="{909E8E84-426E-40DD-AFC4-6F175D3DCCD1}">
                  <a14:hiddenFill xmlns:a14="http://schemas.microsoft.com/office/drawing/2010/main">
                    <a:solidFill>
                      <a:srgbClr val="FFFFFF"/>
                    </a:solidFill>
                  </a14:hiddenFill>
                </a:ext>
              </a:extLst>
            </p:spPr>
          </p:pic>
          <p:pic>
            <p:nvPicPr>
              <p:cNvPr id="97327" name="Picture 4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77" y="3640"/>
                <a:ext cx="234" cy="184"/>
              </a:xfrm>
              <a:prstGeom prst="rect">
                <a:avLst/>
              </a:prstGeom>
              <a:noFill/>
              <a:extLst>
                <a:ext uri="{909E8E84-426E-40DD-AFC4-6F175D3DCCD1}">
                  <a14:hiddenFill xmlns:a14="http://schemas.microsoft.com/office/drawing/2010/main">
                    <a:solidFill>
                      <a:srgbClr val="FFFFFF"/>
                    </a:solidFill>
                  </a14:hiddenFill>
                </a:ext>
              </a:extLst>
            </p:spPr>
          </p:pic>
          <p:pic>
            <p:nvPicPr>
              <p:cNvPr id="97328" name="Picture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70" y="2903"/>
                <a:ext cx="234" cy="184"/>
              </a:xfrm>
              <a:prstGeom prst="rect">
                <a:avLst/>
              </a:prstGeom>
              <a:noFill/>
              <a:extLst>
                <a:ext uri="{909E8E84-426E-40DD-AFC4-6F175D3DCCD1}">
                  <a14:hiddenFill xmlns:a14="http://schemas.microsoft.com/office/drawing/2010/main">
                    <a:solidFill>
                      <a:srgbClr val="FFFFFF"/>
                    </a:solidFill>
                  </a14:hiddenFill>
                </a:ext>
              </a:extLst>
            </p:spPr>
          </p:pic>
          <p:pic>
            <p:nvPicPr>
              <p:cNvPr id="97329" name="Picture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77" y="3087"/>
                <a:ext cx="234" cy="184"/>
              </a:xfrm>
              <a:prstGeom prst="rect">
                <a:avLst/>
              </a:prstGeom>
              <a:noFill/>
              <a:extLst>
                <a:ext uri="{909E8E84-426E-40DD-AFC4-6F175D3DCCD1}">
                  <a14:hiddenFill xmlns:a14="http://schemas.microsoft.com/office/drawing/2010/main">
                    <a:solidFill>
                      <a:srgbClr val="FFFFFF"/>
                    </a:solidFill>
                  </a14:hiddenFill>
                </a:ext>
              </a:extLst>
            </p:spPr>
          </p:pic>
          <p:pic>
            <p:nvPicPr>
              <p:cNvPr id="97330" name="Picture 5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6" y="3294"/>
                <a:ext cx="234" cy="18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97331" name="Group 51"/>
          <p:cNvGrpSpPr/>
          <p:nvPr/>
        </p:nvGrpSpPr>
        <p:grpSpPr bwMode="auto">
          <a:xfrm>
            <a:off x="5762625" y="2532063"/>
            <a:ext cx="541338" cy="746125"/>
            <a:chOff x="3630" y="1595"/>
            <a:chExt cx="341" cy="470"/>
          </a:xfrm>
        </p:grpSpPr>
        <p:sp>
          <p:nvSpPr>
            <p:cNvPr id="97332" name="Line 52"/>
            <p:cNvSpPr>
              <a:spLocks noChangeShapeType="1"/>
            </p:cNvSpPr>
            <p:nvPr/>
          </p:nvSpPr>
          <p:spPr bwMode="auto">
            <a:xfrm flipH="1" flipV="1">
              <a:off x="3821" y="1882"/>
              <a:ext cx="139" cy="183"/>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333" name="Text Box 53"/>
            <p:cNvSpPr txBox="1">
              <a:spLocks noChangeArrowheads="1"/>
            </p:cNvSpPr>
            <p:nvPr/>
          </p:nvSpPr>
          <p:spPr bwMode="auto">
            <a:xfrm>
              <a:off x="3630" y="1595"/>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chemeClr val="accent2"/>
                  </a:solidFill>
                </a:rPr>
                <a:t>键</a:t>
              </a:r>
              <a:endParaRPr lang="zh-CN" altLang="en-US" sz="2800" b="1">
                <a:solidFill>
                  <a:schemeClr val="accent2"/>
                </a:solidFill>
              </a:endParaRPr>
            </a:p>
          </p:txBody>
        </p:sp>
      </p:grpSp>
      <p:grpSp>
        <p:nvGrpSpPr>
          <p:cNvPr id="97334" name="Group 54"/>
          <p:cNvGrpSpPr/>
          <p:nvPr/>
        </p:nvGrpSpPr>
        <p:grpSpPr bwMode="auto">
          <a:xfrm>
            <a:off x="7721600" y="4484688"/>
            <a:ext cx="1422400" cy="519112"/>
            <a:chOff x="4864" y="2825"/>
            <a:chExt cx="703" cy="304"/>
          </a:xfrm>
        </p:grpSpPr>
        <p:sp>
          <p:nvSpPr>
            <p:cNvPr id="97335" name="Text Box 55"/>
            <p:cNvSpPr txBox="1">
              <a:spLocks noChangeArrowheads="1"/>
            </p:cNvSpPr>
            <p:nvPr/>
          </p:nvSpPr>
          <p:spPr bwMode="auto">
            <a:xfrm>
              <a:off x="5001" y="2825"/>
              <a:ext cx="566" cy="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chemeClr val="accent2"/>
                  </a:solidFill>
                </a:rPr>
                <a:t>螺母</a:t>
              </a:r>
              <a:endParaRPr lang="zh-CN" altLang="en-US" sz="2800" b="1"/>
            </a:p>
          </p:txBody>
        </p:sp>
        <p:sp>
          <p:nvSpPr>
            <p:cNvPr id="97336" name="Line 56"/>
            <p:cNvSpPr>
              <a:spLocks noChangeShapeType="1"/>
            </p:cNvSpPr>
            <p:nvPr/>
          </p:nvSpPr>
          <p:spPr bwMode="auto">
            <a:xfrm>
              <a:off x="4864" y="2839"/>
              <a:ext cx="185" cy="162"/>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7337" name="Group 57"/>
          <p:cNvGrpSpPr/>
          <p:nvPr/>
        </p:nvGrpSpPr>
        <p:grpSpPr bwMode="auto">
          <a:xfrm>
            <a:off x="8053388" y="3306763"/>
            <a:ext cx="773112" cy="603250"/>
            <a:chOff x="5073" y="2083"/>
            <a:chExt cx="487" cy="380"/>
          </a:xfrm>
        </p:grpSpPr>
        <p:sp>
          <p:nvSpPr>
            <p:cNvPr id="97338" name="Text Box 58"/>
            <p:cNvSpPr txBox="1">
              <a:spLocks noChangeArrowheads="1"/>
            </p:cNvSpPr>
            <p:nvPr/>
          </p:nvSpPr>
          <p:spPr bwMode="auto">
            <a:xfrm>
              <a:off x="5220" y="2136"/>
              <a:ext cx="34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2800" b="1">
                  <a:solidFill>
                    <a:schemeClr val="accent2"/>
                  </a:solidFill>
                </a:rPr>
                <a:t>销</a:t>
              </a:r>
              <a:endParaRPr lang="zh-CN" altLang="en-US" sz="2800" b="1"/>
            </a:p>
          </p:txBody>
        </p:sp>
        <p:sp>
          <p:nvSpPr>
            <p:cNvPr id="97339" name="Line 59"/>
            <p:cNvSpPr>
              <a:spLocks noChangeShapeType="1"/>
            </p:cNvSpPr>
            <p:nvPr/>
          </p:nvSpPr>
          <p:spPr bwMode="auto">
            <a:xfrm flipH="1" flipV="1">
              <a:off x="5073" y="2083"/>
              <a:ext cx="210" cy="171"/>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7340" name="Group 60"/>
          <p:cNvGrpSpPr/>
          <p:nvPr/>
        </p:nvGrpSpPr>
        <p:grpSpPr bwMode="auto">
          <a:xfrm>
            <a:off x="3756025" y="5578475"/>
            <a:ext cx="1474788" cy="636588"/>
            <a:chOff x="2366" y="3514"/>
            <a:chExt cx="929" cy="401"/>
          </a:xfrm>
        </p:grpSpPr>
        <p:sp>
          <p:nvSpPr>
            <p:cNvPr id="97341" name="Text Box 61"/>
            <p:cNvSpPr txBox="1">
              <a:spLocks noChangeArrowheads="1"/>
            </p:cNvSpPr>
            <p:nvPr/>
          </p:nvSpPr>
          <p:spPr bwMode="auto">
            <a:xfrm>
              <a:off x="2455" y="3588"/>
              <a:ext cx="84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chemeClr val="accent2"/>
                  </a:solidFill>
                </a:rPr>
                <a:t>左端盖</a:t>
              </a:r>
              <a:endParaRPr lang="zh-CN" altLang="en-US" sz="2800" b="1"/>
            </a:p>
          </p:txBody>
        </p:sp>
        <p:sp>
          <p:nvSpPr>
            <p:cNvPr id="97342" name="Line 62"/>
            <p:cNvSpPr>
              <a:spLocks noChangeShapeType="1"/>
            </p:cNvSpPr>
            <p:nvPr/>
          </p:nvSpPr>
          <p:spPr bwMode="auto">
            <a:xfrm>
              <a:off x="2366" y="3514"/>
              <a:ext cx="196" cy="209"/>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7343" name="Group 63"/>
          <p:cNvGrpSpPr/>
          <p:nvPr/>
        </p:nvGrpSpPr>
        <p:grpSpPr bwMode="auto">
          <a:xfrm>
            <a:off x="5072063" y="5589588"/>
            <a:ext cx="1185862" cy="625475"/>
            <a:chOff x="3195" y="3521"/>
            <a:chExt cx="747" cy="394"/>
          </a:xfrm>
        </p:grpSpPr>
        <p:sp>
          <p:nvSpPr>
            <p:cNvPr id="97344" name="Text Box 64"/>
            <p:cNvSpPr txBox="1">
              <a:spLocks noChangeArrowheads="1"/>
            </p:cNvSpPr>
            <p:nvPr/>
          </p:nvSpPr>
          <p:spPr bwMode="auto">
            <a:xfrm>
              <a:off x="3310" y="3588"/>
              <a:ext cx="6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chemeClr val="accent2"/>
                  </a:solidFill>
                </a:rPr>
                <a:t>泵体</a:t>
              </a:r>
              <a:endParaRPr lang="zh-CN" altLang="en-US" sz="2800" b="1">
                <a:solidFill>
                  <a:schemeClr val="accent2"/>
                </a:solidFill>
              </a:endParaRPr>
            </a:p>
          </p:txBody>
        </p:sp>
        <p:sp>
          <p:nvSpPr>
            <p:cNvPr id="97345" name="Line 65"/>
            <p:cNvSpPr>
              <a:spLocks noChangeShapeType="1"/>
            </p:cNvSpPr>
            <p:nvPr/>
          </p:nvSpPr>
          <p:spPr bwMode="auto">
            <a:xfrm>
              <a:off x="3195" y="3521"/>
              <a:ext cx="215" cy="152"/>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7346" name="Group 66"/>
          <p:cNvGrpSpPr/>
          <p:nvPr/>
        </p:nvGrpSpPr>
        <p:grpSpPr bwMode="auto">
          <a:xfrm>
            <a:off x="6326188" y="5494338"/>
            <a:ext cx="1612900" cy="715962"/>
            <a:chOff x="3951" y="3461"/>
            <a:chExt cx="1016" cy="451"/>
          </a:xfrm>
        </p:grpSpPr>
        <p:sp>
          <p:nvSpPr>
            <p:cNvPr id="97347" name="Text Box 67"/>
            <p:cNvSpPr txBox="1">
              <a:spLocks noChangeArrowheads="1"/>
            </p:cNvSpPr>
            <p:nvPr/>
          </p:nvSpPr>
          <p:spPr bwMode="auto">
            <a:xfrm>
              <a:off x="3951" y="3585"/>
              <a:ext cx="101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2800" b="1">
                  <a:solidFill>
                    <a:schemeClr val="accent2"/>
                  </a:solidFill>
                </a:rPr>
                <a:t>传动齿轮</a:t>
              </a:r>
              <a:endParaRPr lang="zh-CN" altLang="en-US" sz="2800" b="1"/>
            </a:p>
          </p:txBody>
        </p:sp>
        <p:sp>
          <p:nvSpPr>
            <p:cNvPr id="97348" name="Line 68"/>
            <p:cNvSpPr>
              <a:spLocks noChangeShapeType="1"/>
            </p:cNvSpPr>
            <p:nvPr/>
          </p:nvSpPr>
          <p:spPr bwMode="auto">
            <a:xfrm>
              <a:off x="4368" y="3461"/>
              <a:ext cx="74" cy="203"/>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7349" name="Group 69"/>
          <p:cNvGrpSpPr/>
          <p:nvPr/>
        </p:nvGrpSpPr>
        <p:grpSpPr bwMode="auto">
          <a:xfrm>
            <a:off x="4772025" y="2935288"/>
            <a:ext cx="1339850" cy="869950"/>
            <a:chOff x="3006" y="1927"/>
            <a:chExt cx="844" cy="548"/>
          </a:xfrm>
        </p:grpSpPr>
        <p:sp>
          <p:nvSpPr>
            <p:cNvPr id="97350" name="Text Box 70"/>
            <p:cNvSpPr txBox="1">
              <a:spLocks noChangeArrowheads="1"/>
            </p:cNvSpPr>
            <p:nvPr/>
          </p:nvSpPr>
          <p:spPr bwMode="auto">
            <a:xfrm>
              <a:off x="3006" y="1927"/>
              <a:ext cx="84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chemeClr val="accent2"/>
                  </a:solidFill>
                </a:rPr>
                <a:t>齿轮轴</a:t>
              </a:r>
              <a:endParaRPr lang="zh-CN" altLang="en-US" sz="2800" b="1"/>
            </a:p>
          </p:txBody>
        </p:sp>
        <p:sp>
          <p:nvSpPr>
            <p:cNvPr id="97351" name="Line 71"/>
            <p:cNvSpPr>
              <a:spLocks noChangeShapeType="1"/>
            </p:cNvSpPr>
            <p:nvPr/>
          </p:nvSpPr>
          <p:spPr bwMode="auto">
            <a:xfrm>
              <a:off x="3486" y="2230"/>
              <a:ext cx="185" cy="245"/>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7352" name="Group 72"/>
          <p:cNvGrpSpPr/>
          <p:nvPr/>
        </p:nvGrpSpPr>
        <p:grpSpPr bwMode="auto">
          <a:xfrm>
            <a:off x="5832475" y="2068513"/>
            <a:ext cx="1425575" cy="630237"/>
            <a:chOff x="3674" y="1303"/>
            <a:chExt cx="898" cy="397"/>
          </a:xfrm>
        </p:grpSpPr>
        <p:sp>
          <p:nvSpPr>
            <p:cNvPr id="97353" name="Text Box 73"/>
            <p:cNvSpPr txBox="1">
              <a:spLocks noChangeArrowheads="1"/>
            </p:cNvSpPr>
            <p:nvPr/>
          </p:nvSpPr>
          <p:spPr bwMode="auto">
            <a:xfrm>
              <a:off x="3674" y="1303"/>
              <a:ext cx="84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chemeClr val="accent2"/>
                  </a:solidFill>
                </a:rPr>
                <a:t>右端盖</a:t>
              </a:r>
              <a:endParaRPr lang="zh-CN" altLang="en-US" sz="2800" b="1">
                <a:solidFill>
                  <a:schemeClr val="accent2"/>
                </a:solidFill>
              </a:endParaRPr>
            </a:p>
          </p:txBody>
        </p:sp>
        <p:sp>
          <p:nvSpPr>
            <p:cNvPr id="97354" name="Line 74"/>
            <p:cNvSpPr>
              <a:spLocks noChangeShapeType="1"/>
            </p:cNvSpPr>
            <p:nvPr/>
          </p:nvSpPr>
          <p:spPr bwMode="auto">
            <a:xfrm>
              <a:off x="4284" y="1578"/>
              <a:ext cx="288" cy="122"/>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标题 1"/>
          <p:cNvSpPr>
            <a:spLocks noGrp="1"/>
          </p:cNvSpPr>
          <p:nvPr>
            <p:ph type="ctrTitle"/>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97300"/>
                                        </p:tgtEl>
                                        <p:attrNameLst>
                                          <p:attrName>style.visibility</p:attrName>
                                        </p:attrNameLst>
                                      </p:cBhvr>
                                      <p:to>
                                        <p:strVal val="visible"/>
                                      </p:to>
                                    </p:set>
                                    <p:animEffect transition="in" filter="wipe(right)">
                                      <p:cBhvr>
                                        <p:cTn id="7" dur="500"/>
                                        <p:tgtEl>
                                          <p:spTgt spid="9730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97292"/>
                                        </p:tgtEl>
                                        <p:attrNameLst>
                                          <p:attrName>style.visibility</p:attrName>
                                        </p:attrNameLst>
                                      </p:cBhvr>
                                      <p:to>
                                        <p:strVal val="visible"/>
                                      </p:to>
                                    </p:set>
                                    <p:animEffect transition="in" filter="slide(fromLeft)">
                                      <p:cBhvr>
                                        <p:cTn id="12" dur="500"/>
                                        <p:tgtEl>
                                          <p:spTgt spid="972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296"/>
                                        </p:tgtEl>
                                        <p:attrNameLst>
                                          <p:attrName>style.visibility</p:attrName>
                                        </p:attrNameLst>
                                      </p:cBhvr>
                                      <p:to>
                                        <p:strVal val="visible"/>
                                      </p:to>
                                    </p:set>
                                    <p:animEffect transition="in" filter="blinds(horizontal)">
                                      <p:cBhvr>
                                        <p:cTn id="17" dur="500"/>
                                        <p:tgtEl>
                                          <p:spTgt spid="9729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97295"/>
                                        </p:tgtEl>
                                        <p:attrNameLst>
                                          <p:attrName>style.visibility</p:attrName>
                                        </p:attrNameLst>
                                      </p:cBhvr>
                                      <p:to>
                                        <p:strVal val="visible"/>
                                      </p:to>
                                    </p:set>
                                    <p:animEffect transition="in" filter="barn(outHorizontal)">
                                      <p:cBhvr>
                                        <p:cTn id="22" dur="500"/>
                                        <p:tgtEl>
                                          <p:spTgt spid="97295"/>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97289"/>
                                        </p:tgtEl>
                                        <p:attrNameLst>
                                          <p:attrName>style.visibility</p:attrName>
                                        </p:attrNameLst>
                                      </p:cBhvr>
                                      <p:to>
                                        <p:strVal val="visible"/>
                                      </p:to>
                                    </p:set>
                                    <p:anim calcmode="lin" valueType="num">
                                      <p:cBhvr>
                                        <p:cTn id="27" dur="500" fill="hold"/>
                                        <p:tgtEl>
                                          <p:spTgt spid="97289"/>
                                        </p:tgtEl>
                                        <p:attrNameLst>
                                          <p:attrName>ppt_w</p:attrName>
                                        </p:attrNameLst>
                                      </p:cBhvr>
                                      <p:tavLst>
                                        <p:tav tm="0">
                                          <p:val>
                                            <p:fltVal val="0"/>
                                          </p:val>
                                        </p:tav>
                                        <p:tav tm="100000">
                                          <p:val>
                                            <p:strVal val="#ppt_w"/>
                                          </p:val>
                                        </p:tav>
                                      </p:tavLst>
                                    </p:anim>
                                    <p:anim calcmode="lin" valueType="num">
                                      <p:cBhvr>
                                        <p:cTn id="28" dur="500" fill="hold"/>
                                        <p:tgtEl>
                                          <p:spTgt spid="9728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97294"/>
                                        </p:tgtEl>
                                        <p:attrNameLst>
                                          <p:attrName>style.visibility</p:attrName>
                                        </p:attrNameLst>
                                      </p:cBhvr>
                                      <p:to>
                                        <p:strVal val="visible"/>
                                      </p:to>
                                    </p:set>
                                    <p:animEffect transition="in" filter="slide(fromLeft)">
                                      <p:cBhvr>
                                        <p:cTn id="33" dur="500"/>
                                        <p:tgtEl>
                                          <p:spTgt spid="97294"/>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97349"/>
                                        </p:tgtEl>
                                        <p:attrNameLst>
                                          <p:attrName>style.visibility</p:attrName>
                                        </p:attrNameLst>
                                      </p:cBhvr>
                                      <p:to>
                                        <p:strVal val="visible"/>
                                      </p:to>
                                    </p:set>
                                    <p:animEffect transition="in" filter="wipe(up)">
                                      <p:cBhvr>
                                        <p:cTn id="37" dur="500"/>
                                        <p:tgtEl>
                                          <p:spTgt spid="97349"/>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32" fill="hold" grpId="0" nodeType="clickEffect">
                                  <p:stCondLst>
                                    <p:cond delay="0"/>
                                  </p:stCondLst>
                                  <p:childTnLst>
                                    <p:set>
                                      <p:cBhvr>
                                        <p:cTn id="41" dur="1" fill="hold">
                                          <p:stCondLst>
                                            <p:cond delay="0"/>
                                          </p:stCondLst>
                                        </p:cTn>
                                        <p:tgtEl>
                                          <p:spTgt spid="97290"/>
                                        </p:tgtEl>
                                        <p:attrNameLst>
                                          <p:attrName>style.visibility</p:attrName>
                                        </p:attrNameLst>
                                      </p:cBhvr>
                                      <p:to>
                                        <p:strVal val="visible"/>
                                      </p:to>
                                    </p:set>
                                    <p:anim calcmode="lin" valueType="num">
                                      <p:cBhvr>
                                        <p:cTn id="42" dur="500" fill="hold"/>
                                        <p:tgtEl>
                                          <p:spTgt spid="97290"/>
                                        </p:tgtEl>
                                        <p:attrNameLst>
                                          <p:attrName>ppt_w</p:attrName>
                                        </p:attrNameLst>
                                      </p:cBhvr>
                                      <p:tavLst>
                                        <p:tav tm="0">
                                          <p:val>
                                            <p:strVal val="4*#ppt_w"/>
                                          </p:val>
                                        </p:tav>
                                        <p:tav tm="100000">
                                          <p:val>
                                            <p:strVal val="#ppt_w"/>
                                          </p:val>
                                        </p:tav>
                                      </p:tavLst>
                                    </p:anim>
                                    <p:anim calcmode="lin" valueType="num">
                                      <p:cBhvr>
                                        <p:cTn id="43" dur="500" fill="hold"/>
                                        <p:tgtEl>
                                          <p:spTgt spid="97290"/>
                                        </p:tgtEl>
                                        <p:attrNameLst>
                                          <p:attrName>ppt_h</p:attrName>
                                        </p:attrNameLst>
                                      </p:cBhvr>
                                      <p:tavLst>
                                        <p:tav tm="0">
                                          <p:val>
                                            <p:strVal val="4*#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97297"/>
                                        </p:tgtEl>
                                        <p:attrNameLst>
                                          <p:attrName>style.visibility</p:attrName>
                                        </p:attrNameLst>
                                      </p:cBhvr>
                                      <p:to>
                                        <p:strVal val="visible"/>
                                      </p:to>
                                    </p:set>
                                    <p:animEffect transition="in" filter="box(out)">
                                      <p:cBhvr>
                                        <p:cTn id="48" dur="500"/>
                                        <p:tgtEl>
                                          <p:spTgt spid="97297"/>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97346"/>
                                        </p:tgtEl>
                                        <p:attrNameLst>
                                          <p:attrName>style.visibility</p:attrName>
                                        </p:attrNameLst>
                                      </p:cBhvr>
                                      <p:to>
                                        <p:strVal val="visible"/>
                                      </p:to>
                                    </p:set>
                                    <p:anim calcmode="lin" valueType="num">
                                      <p:cBhvr additive="base">
                                        <p:cTn id="53" dur="500" fill="hold"/>
                                        <p:tgtEl>
                                          <p:spTgt spid="97346"/>
                                        </p:tgtEl>
                                        <p:attrNameLst>
                                          <p:attrName>ppt_x</p:attrName>
                                        </p:attrNameLst>
                                      </p:cBhvr>
                                      <p:tavLst>
                                        <p:tav tm="0">
                                          <p:val>
                                            <p:strVal val="#ppt_x"/>
                                          </p:val>
                                        </p:tav>
                                        <p:tav tm="100000">
                                          <p:val>
                                            <p:strVal val="#ppt_x"/>
                                          </p:val>
                                        </p:tav>
                                      </p:tavLst>
                                    </p:anim>
                                    <p:anim calcmode="lin" valueType="num">
                                      <p:cBhvr additive="base">
                                        <p:cTn id="54" dur="500" fill="hold"/>
                                        <p:tgtEl>
                                          <p:spTgt spid="9734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97340"/>
                                        </p:tgtEl>
                                        <p:attrNameLst>
                                          <p:attrName>style.visibility</p:attrName>
                                        </p:attrNameLst>
                                      </p:cBhvr>
                                      <p:to>
                                        <p:strVal val="visible"/>
                                      </p:to>
                                    </p:set>
                                    <p:anim calcmode="lin" valueType="num">
                                      <p:cBhvr additive="base">
                                        <p:cTn id="59" dur="500" fill="hold"/>
                                        <p:tgtEl>
                                          <p:spTgt spid="97340"/>
                                        </p:tgtEl>
                                        <p:attrNameLst>
                                          <p:attrName>ppt_x</p:attrName>
                                        </p:attrNameLst>
                                      </p:cBhvr>
                                      <p:tavLst>
                                        <p:tav tm="0">
                                          <p:val>
                                            <p:strVal val="#ppt_x"/>
                                          </p:val>
                                        </p:tav>
                                        <p:tav tm="100000">
                                          <p:val>
                                            <p:strVal val="#ppt_x"/>
                                          </p:val>
                                        </p:tav>
                                      </p:tavLst>
                                    </p:anim>
                                    <p:anim calcmode="lin" valueType="num">
                                      <p:cBhvr additive="base">
                                        <p:cTn id="60" dur="500" fill="hold"/>
                                        <p:tgtEl>
                                          <p:spTgt spid="97340"/>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1" fill="hold" nodeType="clickEffect">
                                  <p:stCondLst>
                                    <p:cond delay="0"/>
                                  </p:stCondLst>
                                  <p:childTnLst>
                                    <p:set>
                                      <p:cBhvr>
                                        <p:cTn id="64" dur="1" fill="hold">
                                          <p:stCondLst>
                                            <p:cond delay="0"/>
                                          </p:stCondLst>
                                        </p:cTn>
                                        <p:tgtEl>
                                          <p:spTgt spid="97352"/>
                                        </p:tgtEl>
                                        <p:attrNameLst>
                                          <p:attrName>style.visibility</p:attrName>
                                        </p:attrNameLst>
                                      </p:cBhvr>
                                      <p:to>
                                        <p:strVal val="visible"/>
                                      </p:to>
                                    </p:set>
                                    <p:anim calcmode="lin" valueType="num">
                                      <p:cBhvr additive="base">
                                        <p:cTn id="65" dur="500" fill="hold"/>
                                        <p:tgtEl>
                                          <p:spTgt spid="97352"/>
                                        </p:tgtEl>
                                        <p:attrNameLst>
                                          <p:attrName>ppt_x</p:attrName>
                                        </p:attrNameLst>
                                      </p:cBhvr>
                                      <p:tavLst>
                                        <p:tav tm="0">
                                          <p:val>
                                            <p:strVal val="#ppt_x"/>
                                          </p:val>
                                        </p:tav>
                                        <p:tav tm="100000">
                                          <p:val>
                                            <p:strVal val="#ppt_x"/>
                                          </p:val>
                                        </p:tav>
                                      </p:tavLst>
                                    </p:anim>
                                    <p:anim calcmode="lin" valueType="num">
                                      <p:cBhvr additive="base">
                                        <p:cTn id="66" dur="500" fill="hold"/>
                                        <p:tgtEl>
                                          <p:spTgt spid="97352"/>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3" presetClass="entr" presetSubtype="16" fill="hold" grpId="0" nodeType="clickEffect">
                                  <p:stCondLst>
                                    <p:cond delay="0"/>
                                  </p:stCondLst>
                                  <p:childTnLst>
                                    <p:set>
                                      <p:cBhvr>
                                        <p:cTn id="70" dur="1" fill="hold">
                                          <p:stCondLst>
                                            <p:cond delay="0"/>
                                          </p:stCondLst>
                                        </p:cTn>
                                        <p:tgtEl>
                                          <p:spTgt spid="97291"/>
                                        </p:tgtEl>
                                        <p:attrNameLst>
                                          <p:attrName>style.visibility</p:attrName>
                                        </p:attrNameLst>
                                      </p:cBhvr>
                                      <p:to>
                                        <p:strVal val="visible"/>
                                      </p:to>
                                    </p:set>
                                    <p:anim calcmode="lin" valueType="num">
                                      <p:cBhvr>
                                        <p:cTn id="71" dur="500" fill="hold"/>
                                        <p:tgtEl>
                                          <p:spTgt spid="97291"/>
                                        </p:tgtEl>
                                        <p:attrNameLst>
                                          <p:attrName>ppt_w</p:attrName>
                                        </p:attrNameLst>
                                      </p:cBhvr>
                                      <p:tavLst>
                                        <p:tav tm="0">
                                          <p:val>
                                            <p:fltVal val="0"/>
                                          </p:val>
                                        </p:tav>
                                        <p:tav tm="100000">
                                          <p:val>
                                            <p:strVal val="#ppt_w"/>
                                          </p:val>
                                        </p:tav>
                                      </p:tavLst>
                                    </p:anim>
                                    <p:anim calcmode="lin" valueType="num">
                                      <p:cBhvr>
                                        <p:cTn id="72" dur="500" fill="hold"/>
                                        <p:tgtEl>
                                          <p:spTgt spid="97291"/>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18" presetClass="entr" presetSubtype="3" fill="hold" grpId="0" nodeType="clickEffect">
                                  <p:stCondLst>
                                    <p:cond delay="0"/>
                                  </p:stCondLst>
                                  <p:childTnLst>
                                    <p:set>
                                      <p:cBhvr>
                                        <p:cTn id="76" dur="1" fill="hold">
                                          <p:stCondLst>
                                            <p:cond delay="0"/>
                                          </p:stCondLst>
                                        </p:cTn>
                                        <p:tgtEl>
                                          <p:spTgt spid="97299"/>
                                        </p:tgtEl>
                                        <p:attrNameLst>
                                          <p:attrName>style.visibility</p:attrName>
                                        </p:attrNameLst>
                                      </p:cBhvr>
                                      <p:to>
                                        <p:strVal val="visible"/>
                                      </p:to>
                                    </p:set>
                                    <p:animEffect transition="in" filter="strips(upRight)">
                                      <p:cBhvr>
                                        <p:cTn id="77" dur="500"/>
                                        <p:tgtEl>
                                          <p:spTgt spid="97299"/>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97343"/>
                                        </p:tgtEl>
                                        <p:attrNameLst>
                                          <p:attrName>style.visibility</p:attrName>
                                        </p:attrNameLst>
                                      </p:cBhvr>
                                      <p:to>
                                        <p:strVal val="visible"/>
                                      </p:to>
                                    </p:set>
                                    <p:anim calcmode="lin" valueType="num">
                                      <p:cBhvr additive="base">
                                        <p:cTn id="82" dur="500" fill="hold"/>
                                        <p:tgtEl>
                                          <p:spTgt spid="97343"/>
                                        </p:tgtEl>
                                        <p:attrNameLst>
                                          <p:attrName>ppt_x</p:attrName>
                                        </p:attrNameLst>
                                      </p:cBhvr>
                                      <p:tavLst>
                                        <p:tav tm="0">
                                          <p:val>
                                            <p:strVal val="#ppt_x"/>
                                          </p:val>
                                        </p:tav>
                                        <p:tav tm="100000">
                                          <p:val>
                                            <p:strVal val="#ppt_x"/>
                                          </p:val>
                                        </p:tav>
                                      </p:tavLst>
                                    </p:anim>
                                    <p:anim calcmode="lin" valueType="num">
                                      <p:cBhvr additive="base">
                                        <p:cTn id="83" dur="500" fill="hold"/>
                                        <p:tgtEl>
                                          <p:spTgt spid="97343"/>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6" presetClass="entr" presetSubtype="42" fill="hold" grpId="0" nodeType="clickEffect">
                                  <p:stCondLst>
                                    <p:cond delay="0"/>
                                  </p:stCondLst>
                                  <p:childTnLst>
                                    <p:set>
                                      <p:cBhvr>
                                        <p:cTn id="87" dur="1" fill="hold">
                                          <p:stCondLst>
                                            <p:cond delay="0"/>
                                          </p:stCondLst>
                                        </p:cTn>
                                        <p:tgtEl>
                                          <p:spTgt spid="97293"/>
                                        </p:tgtEl>
                                        <p:attrNameLst>
                                          <p:attrName>style.visibility</p:attrName>
                                        </p:attrNameLst>
                                      </p:cBhvr>
                                      <p:to>
                                        <p:strVal val="visible"/>
                                      </p:to>
                                    </p:set>
                                    <p:animEffect transition="in" filter="barn(outHorizontal)">
                                      <p:cBhvr>
                                        <p:cTn id="88" dur="500"/>
                                        <p:tgtEl>
                                          <p:spTgt spid="9729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97298"/>
                                        </p:tgtEl>
                                        <p:attrNameLst>
                                          <p:attrName>style.visibility</p:attrName>
                                        </p:attrNameLst>
                                      </p:cBhvr>
                                      <p:to>
                                        <p:strVal val="visible"/>
                                      </p:to>
                                    </p:set>
                                    <p:animEffect transition="in" filter="wipe(down)">
                                      <p:cBhvr>
                                        <p:cTn id="93" dur="500"/>
                                        <p:tgtEl>
                                          <p:spTgt spid="97298"/>
                                        </p:tgtEl>
                                      </p:cBhvr>
                                    </p:animEffect>
                                  </p:childTnLst>
                                </p:cTn>
                              </p:par>
                            </p:childTnLst>
                          </p:cTn>
                        </p:par>
                      </p:childTnLst>
                    </p:cTn>
                  </p:par>
                  <p:par>
                    <p:cTn id="94" fill="hold">
                      <p:stCondLst>
                        <p:cond delay="indefinite"/>
                      </p:stCondLst>
                      <p:childTnLst>
                        <p:par>
                          <p:cTn id="95" fill="hold">
                            <p:stCondLst>
                              <p:cond delay="0"/>
                            </p:stCondLst>
                            <p:childTnLst>
                              <p:par>
                                <p:cTn id="96" presetID="2" presetClass="entr" presetSubtype="2" fill="hold" nodeType="clickEffect">
                                  <p:stCondLst>
                                    <p:cond delay="0"/>
                                  </p:stCondLst>
                                  <p:childTnLst>
                                    <p:set>
                                      <p:cBhvr>
                                        <p:cTn id="97" dur="1" fill="hold">
                                          <p:stCondLst>
                                            <p:cond delay="0"/>
                                          </p:stCondLst>
                                        </p:cTn>
                                        <p:tgtEl>
                                          <p:spTgt spid="97283"/>
                                        </p:tgtEl>
                                        <p:attrNameLst>
                                          <p:attrName>style.visibility</p:attrName>
                                        </p:attrNameLst>
                                      </p:cBhvr>
                                      <p:to>
                                        <p:strVal val="visible"/>
                                      </p:to>
                                    </p:set>
                                    <p:anim calcmode="lin" valueType="num">
                                      <p:cBhvr additive="base">
                                        <p:cTn id="98" dur="500" fill="hold"/>
                                        <p:tgtEl>
                                          <p:spTgt spid="97283"/>
                                        </p:tgtEl>
                                        <p:attrNameLst>
                                          <p:attrName>ppt_x</p:attrName>
                                        </p:attrNameLst>
                                      </p:cBhvr>
                                      <p:tavLst>
                                        <p:tav tm="0">
                                          <p:val>
                                            <p:strVal val="1+#ppt_w/2"/>
                                          </p:val>
                                        </p:tav>
                                        <p:tav tm="100000">
                                          <p:val>
                                            <p:strVal val="#ppt_x"/>
                                          </p:val>
                                        </p:tav>
                                      </p:tavLst>
                                    </p:anim>
                                    <p:anim calcmode="lin" valueType="num">
                                      <p:cBhvr additive="base">
                                        <p:cTn id="99" dur="500" fill="hold"/>
                                        <p:tgtEl>
                                          <p:spTgt spid="97283"/>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2" fill="hold" nodeType="clickEffect">
                                  <p:stCondLst>
                                    <p:cond delay="0"/>
                                  </p:stCondLst>
                                  <p:childTnLst>
                                    <p:set>
                                      <p:cBhvr>
                                        <p:cTn id="103" dur="1" fill="hold">
                                          <p:stCondLst>
                                            <p:cond delay="0"/>
                                          </p:stCondLst>
                                        </p:cTn>
                                        <p:tgtEl>
                                          <p:spTgt spid="97337"/>
                                        </p:tgtEl>
                                        <p:attrNameLst>
                                          <p:attrName>style.visibility</p:attrName>
                                        </p:attrNameLst>
                                      </p:cBhvr>
                                      <p:to>
                                        <p:strVal val="visible"/>
                                      </p:to>
                                    </p:set>
                                    <p:anim calcmode="lin" valueType="num">
                                      <p:cBhvr additive="base">
                                        <p:cTn id="104" dur="500" fill="hold"/>
                                        <p:tgtEl>
                                          <p:spTgt spid="97337"/>
                                        </p:tgtEl>
                                        <p:attrNameLst>
                                          <p:attrName>ppt_x</p:attrName>
                                        </p:attrNameLst>
                                      </p:cBhvr>
                                      <p:tavLst>
                                        <p:tav tm="0">
                                          <p:val>
                                            <p:strVal val="1+#ppt_w/2"/>
                                          </p:val>
                                        </p:tav>
                                        <p:tav tm="100000">
                                          <p:val>
                                            <p:strVal val="#ppt_x"/>
                                          </p:val>
                                        </p:tav>
                                      </p:tavLst>
                                    </p:anim>
                                    <p:anim calcmode="lin" valueType="num">
                                      <p:cBhvr additive="base">
                                        <p:cTn id="105" dur="500" fill="hold"/>
                                        <p:tgtEl>
                                          <p:spTgt spid="97337"/>
                                        </p:tgtEl>
                                        <p:attrNameLst>
                                          <p:attrName>ppt_y</p:attrName>
                                        </p:attrNameLst>
                                      </p:cBhvr>
                                      <p:tavLst>
                                        <p:tav tm="0">
                                          <p:val>
                                            <p:strVal val="#ppt_y"/>
                                          </p:val>
                                        </p:tav>
                                        <p:tav tm="100000">
                                          <p:val>
                                            <p:strVal val="#ppt_y"/>
                                          </p:val>
                                        </p:tav>
                                      </p:tavLst>
                                    </p:anim>
                                  </p:childTnLst>
                                </p:cTn>
                              </p:par>
                            </p:childTnLst>
                          </p:cTn>
                        </p:par>
                        <p:par>
                          <p:cTn id="106" fill="hold">
                            <p:stCondLst>
                              <p:cond delay="500"/>
                            </p:stCondLst>
                            <p:childTnLst>
                              <p:par>
                                <p:cTn id="107" presetID="2" presetClass="entr" presetSubtype="4" fill="hold" nodeType="afterEffect">
                                  <p:stCondLst>
                                    <p:cond delay="0"/>
                                  </p:stCondLst>
                                  <p:childTnLst>
                                    <p:set>
                                      <p:cBhvr>
                                        <p:cTn id="108" dur="1" fill="hold">
                                          <p:stCondLst>
                                            <p:cond delay="0"/>
                                          </p:stCondLst>
                                        </p:cTn>
                                        <p:tgtEl>
                                          <p:spTgt spid="97286"/>
                                        </p:tgtEl>
                                        <p:attrNameLst>
                                          <p:attrName>style.visibility</p:attrName>
                                        </p:attrNameLst>
                                      </p:cBhvr>
                                      <p:to>
                                        <p:strVal val="visible"/>
                                      </p:to>
                                    </p:set>
                                    <p:anim calcmode="lin" valueType="num">
                                      <p:cBhvr additive="base">
                                        <p:cTn id="109" dur="500" fill="hold"/>
                                        <p:tgtEl>
                                          <p:spTgt spid="97286"/>
                                        </p:tgtEl>
                                        <p:attrNameLst>
                                          <p:attrName>ppt_x</p:attrName>
                                        </p:attrNameLst>
                                      </p:cBhvr>
                                      <p:tavLst>
                                        <p:tav tm="0">
                                          <p:val>
                                            <p:strVal val="#ppt_x"/>
                                          </p:val>
                                        </p:tav>
                                        <p:tav tm="100000">
                                          <p:val>
                                            <p:strVal val="#ppt_x"/>
                                          </p:val>
                                        </p:tav>
                                      </p:tavLst>
                                    </p:anim>
                                    <p:anim calcmode="lin" valueType="num">
                                      <p:cBhvr additive="base">
                                        <p:cTn id="110" dur="500" fill="hold"/>
                                        <p:tgtEl>
                                          <p:spTgt spid="9728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nodeType="clickEffect">
                                  <p:stCondLst>
                                    <p:cond delay="0"/>
                                  </p:stCondLst>
                                  <p:childTnLst>
                                    <p:set>
                                      <p:cBhvr>
                                        <p:cTn id="114" dur="1" fill="hold">
                                          <p:stCondLst>
                                            <p:cond delay="0"/>
                                          </p:stCondLst>
                                        </p:cTn>
                                        <p:tgtEl>
                                          <p:spTgt spid="97334"/>
                                        </p:tgtEl>
                                        <p:attrNameLst>
                                          <p:attrName>style.visibility</p:attrName>
                                        </p:attrNameLst>
                                      </p:cBhvr>
                                      <p:to>
                                        <p:strVal val="visible"/>
                                      </p:to>
                                    </p:set>
                                    <p:anim calcmode="lin" valueType="num">
                                      <p:cBhvr additive="base">
                                        <p:cTn id="115" dur="500" fill="hold"/>
                                        <p:tgtEl>
                                          <p:spTgt spid="97334"/>
                                        </p:tgtEl>
                                        <p:attrNameLst>
                                          <p:attrName>ppt_x</p:attrName>
                                        </p:attrNameLst>
                                      </p:cBhvr>
                                      <p:tavLst>
                                        <p:tav tm="0">
                                          <p:val>
                                            <p:strVal val="1+#ppt_w/2"/>
                                          </p:val>
                                        </p:tav>
                                        <p:tav tm="100000">
                                          <p:val>
                                            <p:strVal val="#ppt_x"/>
                                          </p:val>
                                        </p:tav>
                                      </p:tavLst>
                                    </p:anim>
                                    <p:anim calcmode="lin" valueType="num">
                                      <p:cBhvr additive="base">
                                        <p:cTn id="116" dur="500" fill="hold"/>
                                        <p:tgtEl>
                                          <p:spTgt spid="97334"/>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1" fill="hold" nodeType="clickEffect">
                                  <p:stCondLst>
                                    <p:cond delay="0"/>
                                  </p:stCondLst>
                                  <p:childTnLst>
                                    <p:set>
                                      <p:cBhvr>
                                        <p:cTn id="120" dur="1" fill="hold">
                                          <p:stCondLst>
                                            <p:cond delay="0"/>
                                          </p:stCondLst>
                                        </p:cTn>
                                        <p:tgtEl>
                                          <p:spTgt spid="97331"/>
                                        </p:tgtEl>
                                        <p:attrNameLst>
                                          <p:attrName>style.visibility</p:attrName>
                                        </p:attrNameLst>
                                      </p:cBhvr>
                                      <p:to>
                                        <p:strVal val="visible"/>
                                      </p:to>
                                    </p:set>
                                    <p:anim calcmode="lin" valueType="num">
                                      <p:cBhvr additive="base">
                                        <p:cTn id="121" dur="500" fill="hold"/>
                                        <p:tgtEl>
                                          <p:spTgt spid="97331"/>
                                        </p:tgtEl>
                                        <p:attrNameLst>
                                          <p:attrName>ppt_x</p:attrName>
                                        </p:attrNameLst>
                                      </p:cBhvr>
                                      <p:tavLst>
                                        <p:tav tm="0">
                                          <p:val>
                                            <p:strVal val="#ppt_x"/>
                                          </p:val>
                                        </p:tav>
                                        <p:tav tm="100000">
                                          <p:val>
                                            <p:strVal val="#ppt_x"/>
                                          </p:val>
                                        </p:tav>
                                      </p:tavLst>
                                    </p:anim>
                                    <p:anim calcmode="lin" valueType="num">
                                      <p:cBhvr additive="base">
                                        <p:cTn id="122" dur="500" fill="hold"/>
                                        <p:tgtEl>
                                          <p:spTgt spid="9733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9" grpId="0" autoUpdateAnimBg="0"/>
      <p:bldP spid="97290" grpId="0" autoUpdateAnimBg="0"/>
      <p:bldP spid="97291" grpId="0" autoUpdateAnimBg="0"/>
      <p:bldP spid="97293" grpId="0" autoUpdateAnimBg="0"/>
      <p:bldP spid="97294" grpId="0" autoUpdateAnimBg="0"/>
      <p:bldP spid="97295" grpId="0" autoUpdateAnimBg="0"/>
      <p:bldP spid="97296" grpId="0" autoUpdateAnimBg="0"/>
      <p:bldP spid="97297" grpId="0" autoUpdateAnimBg="0"/>
      <p:bldP spid="97298" grpId="0" autoUpdateAnimBg="0"/>
      <p:bldP spid="97299" grpId="0" autoUpdateAnimBg="0"/>
      <p:bldP spid="97300"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304800" y="704850"/>
            <a:ext cx="32067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2800" b="1">
                <a:solidFill>
                  <a:srgbClr val="333399"/>
                </a:solidFill>
                <a:latin typeface="宋体" panose="02010600030101010101" pitchFamily="2" charset="-122"/>
              </a:rPr>
              <a:t>⒈ </a:t>
            </a:r>
            <a:r>
              <a:rPr lang="zh-CN" altLang="en-US" sz="2800" b="1">
                <a:solidFill>
                  <a:srgbClr val="333399"/>
                </a:solidFill>
                <a:latin typeface="宋体" panose="02010600030101010101" pitchFamily="2" charset="-122"/>
              </a:rPr>
              <a:t>零件图的作用</a:t>
            </a:r>
            <a:r>
              <a:rPr lang="en-US" altLang="zh-CN" sz="2800" b="1">
                <a:latin typeface="宋体" panose="02010600030101010101" pitchFamily="2" charset="-122"/>
              </a:rPr>
              <a:t>: </a:t>
            </a:r>
            <a:endParaRPr lang="en-US" altLang="zh-CN" sz="2800" b="1">
              <a:latin typeface="宋体" panose="02010600030101010101" pitchFamily="2" charset="-122"/>
            </a:endParaRPr>
          </a:p>
        </p:txBody>
      </p:sp>
      <p:sp>
        <p:nvSpPr>
          <p:cNvPr id="93187" name="Text Box 3"/>
          <p:cNvSpPr txBox="1">
            <a:spLocks noChangeArrowheads="1"/>
          </p:cNvSpPr>
          <p:nvPr/>
        </p:nvSpPr>
        <p:spPr bwMode="auto">
          <a:xfrm>
            <a:off x="304800" y="1150938"/>
            <a:ext cx="30289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2800" b="1">
                <a:solidFill>
                  <a:srgbClr val="333399"/>
                </a:solidFill>
                <a:latin typeface="宋体" panose="02010600030101010101" pitchFamily="2" charset="-122"/>
              </a:rPr>
              <a:t>⒉ </a:t>
            </a:r>
            <a:r>
              <a:rPr lang="zh-CN" altLang="en-US" sz="2800" b="1">
                <a:solidFill>
                  <a:srgbClr val="333399"/>
                </a:solidFill>
                <a:latin typeface="宋体" panose="02010600030101010101" pitchFamily="2" charset="-122"/>
              </a:rPr>
              <a:t>零件图的内容</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93188" name="Text Box 4"/>
          <p:cNvSpPr txBox="1">
            <a:spLocks noChangeArrowheads="1"/>
          </p:cNvSpPr>
          <p:nvPr/>
        </p:nvSpPr>
        <p:spPr bwMode="auto">
          <a:xfrm>
            <a:off x="304800" y="1568450"/>
            <a:ext cx="235108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sym typeface="Monotype Sorts" panose="05000000000000000000" pitchFamily="2" charset="2"/>
              </a:rPr>
              <a:t>⑴</a:t>
            </a:r>
            <a:r>
              <a:rPr lang="en-US" altLang="zh-CN" sz="2800" b="1">
                <a:latin typeface="宋体" panose="02010600030101010101" pitchFamily="2" charset="-122"/>
                <a:sym typeface="Monotype Sorts" panose="05000000000000000000" pitchFamily="2" charset="2"/>
              </a:rPr>
              <a:t> </a:t>
            </a:r>
            <a:r>
              <a:rPr lang="zh-CN" altLang="en-US" sz="2800" b="1">
                <a:solidFill>
                  <a:srgbClr val="FF3300"/>
                </a:solidFill>
                <a:latin typeface="宋体" panose="02010600030101010101" pitchFamily="2" charset="-122"/>
                <a:sym typeface="Monotype Sorts" panose="05000000000000000000" pitchFamily="2" charset="2"/>
              </a:rPr>
              <a:t>一组视图</a:t>
            </a:r>
            <a:endParaRPr lang="zh-CN" altLang="en-US" sz="2800" b="1">
              <a:latin typeface="宋体" panose="02010600030101010101" pitchFamily="2" charset="-122"/>
            </a:endParaRPr>
          </a:p>
        </p:txBody>
      </p:sp>
      <p:sp>
        <p:nvSpPr>
          <p:cNvPr id="93189" name="Text Box 5"/>
          <p:cNvSpPr txBox="1">
            <a:spLocks noChangeArrowheads="1"/>
          </p:cNvSpPr>
          <p:nvPr/>
        </p:nvSpPr>
        <p:spPr bwMode="auto">
          <a:xfrm>
            <a:off x="304800" y="2867025"/>
            <a:ext cx="268287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sym typeface="Monotype Sorts" panose="05000000000000000000" pitchFamily="2" charset="2"/>
              </a:rPr>
              <a:t>⑵ </a:t>
            </a:r>
            <a:r>
              <a:rPr lang="zh-CN" altLang="en-US" sz="2800" b="1">
                <a:solidFill>
                  <a:srgbClr val="FF3300"/>
                </a:solidFill>
                <a:latin typeface="宋体" panose="02010600030101010101" pitchFamily="2" charset="-122"/>
                <a:sym typeface="Monotype Sorts" panose="05000000000000000000" pitchFamily="2" charset="2"/>
              </a:rPr>
              <a:t>完整的尺寸</a:t>
            </a:r>
            <a:endParaRPr lang="zh-CN" altLang="en-US" sz="2800" b="1">
              <a:latin typeface="宋体" panose="02010600030101010101" pitchFamily="2" charset="-122"/>
            </a:endParaRPr>
          </a:p>
        </p:txBody>
      </p:sp>
      <p:sp>
        <p:nvSpPr>
          <p:cNvPr id="93190" name="Text Box 6"/>
          <p:cNvSpPr txBox="1">
            <a:spLocks noChangeArrowheads="1"/>
          </p:cNvSpPr>
          <p:nvPr/>
        </p:nvSpPr>
        <p:spPr bwMode="auto">
          <a:xfrm>
            <a:off x="304800" y="4146550"/>
            <a:ext cx="243998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sym typeface="Monotype Sorts" panose="05000000000000000000" pitchFamily="2" charset="2"/>
              </a:rPr>
              <a:t>⑶</a:t>
            </a:r>
            <a:r>
              <a:rPr lang="en-US" altLang="zh-CN" sz="2800" b="1">
                <a:latin typeface="宋体" panose="02010600030101010101" pitchFamily="2" charset="-122"/>
                <a:sym typeface="Monotype Sorts" panose="05000000000000000000" pitchFamily="2" charset="2"/>
              </a:rPr>
              <a:t> </a:t>
            </a:r>
            <a:r>
              <a:rPr lang="zh-CN" altLang="en-US" sz="2800" b="1">
                <a:solidFill>
                  <a:srgbClr val="FF3300"/>
                </a:solidFill>
                <a:latin typeface="宋体" panose="02010600030101010101" pitchFamily="2" charset="-122"/>
                <a:sym typeface="Monotype Sorts" panose="05000000000000000000" pitchFamily="2" charset="2"/>
              </a:rPr>
              <a:t>技术要求</a:t>
            </a:r>
            <a:endParaRPr lang="zh-CN" altLang="en-US" sz="2800" b="1">
              <a:solidFill>
                <a:srgbClr val="FF3300"/>
              </a:solidFill>
              <a:latin typeface="宋体" panose="02010600030101010101" pitchFamily="2" charset="-122"/>
            </a:endParaRPr>
          </a:p>
        </p:txBody>
      </p:sp>
      <p:sp>
        <p:nvSpPr>
          <p:cNvPr id="93191" name="Text Box 7"/>
          <p:cNvSpPr txBox="1">
            <a:spLocks noChangeArrowheads="1"/>
          </p:cNvSpPr>
          <p:nvPr/>
        </p:nvSpPr>
        <p:spPr bwMode="auto">
          <a:xfrm>
            <a:off x="304800" y="5353050"/>
            <a:ext cx="208121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sym typeface="Monotype Sorts" panose="05000000000000000000" pitchFamily="2" charset="2"/>
              </a:rPr>
              <a:t>⑷ </a:t>
            </a:r>
            <a:r>
              <a:rPr lang="zh-CN" altLang="en-US" sz="2800" b="1">
                <a:solidFill>
                  <a:srgbClr val="FF3300"/>
                </a:solidFill>
                <a:latin typeface="宋体" panose="02010600030101010101" pitchFamily="2" charset="-122"/>
                <a:sym typeface="Monotype Sorts" panose="05000000000000000000" pitchFamily="2" charset="2"/>
              </a:rPr>
              <a:t>标题栏</a:t>
            </a:r>
            <a:endParaRPr lang="zh-CN" altLang="en-US" sz="2800" b="1">
              <a:solidFill>
                <a:srgbClr val="FF3300"/>
              </a:solidFill>
              <a:latin typeface="宋体" panose="02010600030101010101" pitchFamily="2" charset="-122"/>
            </a:endParaRPr>
          </a:p>
        </p:txBody>
      </p:sp>
      <p:sp>
        <p:nvSpPr>
          <p:cNvPr id="93192" name="Text Box 8"/>
          <p:cNvSpPr txBox="1">
            <a:spLocks noChangeArrowheads="1"/>
          </p:cNvSpPr>
          <p:nvPr/>
        </p:nvSpPr>
        <p:spPr bwMode="auto">
          <a:xfrm>
            <a:off x="304800" y="2005013"/>
            <a:ext cx="271780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latin typeface="宋体" panose="02010600030101010101" pitchFamily="2" charset="-122"/>
              </a:rPr>
              <a:t>   </a:t>
            </a:r>
            <a:r>
              <a:rPr lang="zh-CN" altLang="en-US" sz="2800" b="1">
                <a:latin typeface="宋体" panose="02010600030101010101" pitchFamily="2" charset="-122"/>
              </a:rPr>
              <a:t>清楚表达零件的结构形状。</a:t>
            </a:r>
            <a:endParaRPr lang="zh-CN" altLang="en-US" sz="2800">
              <a:latin typeface="宋体" panose="02010600030101010101" pitchFamily="2" charset="-122"/>
            </a:endParaRPr>
          </a:p>
        </p:txBody>
      </p:sp>
      <p:sp>
        <p:nvSpPr>
          <p:cNvPr id="93193" name="Text Box 9"/>
          <p:cNvSpPr txBox="1">
            <a:spLocks noChangeArrowheads="1"/>
          </p:cNvSpPr>
          <p:nvPr/>
        </p:nvSpPr>
        <p:spPr bwMode="auto">
          <a:xfrm>
            <a:off x="304800" y="3309938"/>
            <a:ext cx="2790825"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latin typeface="宋体" panose="02010600030101010101" pitchFamily="2" charset="-122"/>
              </a:rPr>
              <a:t>   </a:t>
            </a:r>
            <a:r>
              <a:rPr lang="zh-CN" altLang="en-US" sz="2800" b="1">
                <a:latin typeface="宋体" panose="02010600030101010101" pitchFamily="2" charset="-122"/>
              </a:rPr>
              <a:t>确定各部分的大小和位置。</a:t>
            </a:r>
            <a:endParaRPr lang="zh-CN" altLang="en-US" sz="2800">
              <a:latin typeface="宋体" panose="02010600030101010101" pitchFamily="2" charset="-122"/>
            </a:endParaRPr>
          </a:p>
        </p:txBody>
      </p:sp>
      <p:sp>
        <p:nvSpPr>
          <p:cNvPr id="93194" name="Text Box 10"/>
          <p:cNvSpPr txBox="1">
            <a:spLocks noChangeArrowheads="1"/>
          </p:cNvSpPr>
          <p:nvPr/>
        </p:nvSpPr>
        <p:spPr bwMode="auto">
          <a:xfrm>
            <a:off x="304800" y="4579938"/>
            <a:ext cx="3197225" cy="8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90000"/>
              </a:lnSpc>
            </a:pPr>
            <a:r>
              <a:rPr lang="en-US" altLang="zh-CN" sz="2800" b="1">
                <a:latin typeface="宋体" panose="02010600030101010101" pitchFamily="2" charset="-122"/>
              </a:rPr>
              <a:t>   </a:t>
            </a:r>
            <a:r>
              <a:rPr lang="zh-CN" altLang="en-US" sz="2800" b="1">
                <a:latin typeface="宋体" panose="02010600030101010101" pitchFamily="2" charset="-122"/>
              </a:rPr>
              <a:t>加工、检验应达到的技术指标。</a:t>
            </a:r>
            <a:endParaRPr lang="zh-CN" altLang="en-US" sz="2800">
              <a:latin typeface="宋体" panose="02010600030101010101" pitchFamily="2" charset="-122"/>
            </a:endParaRPr>
          </a:p>
        </p:txBody>
      </p:sp>
      <p:sp>
        <p:nvSpPr>
          <p:cNvPr id="93195" name="Text Box 11"/>
          <p:cNvSpPr txBox="1">
            <a:spLocks noChangeArrowheads="1"/>
          </p:cNvSpPr>
          <p:nvPr/>
        </p:nvSpPr>
        <p:spPr bwMode="auto">
          <a:xfrm>
            <a:off x="304800" y="5791200"/>
            <a:ext cx="61674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零件名称、数量、材料及必要签署。</a:t>
            </a:r>
            <a:endParaRPr lang="zh-CN" altLang="en-US" sz="2800" b="1">
              <a:latin typeface="宋体" panose="02010600030101010101" pitchFamily="2" charset="-122"/>
            </a:endParaRPr>
          </a:p>
        </p:txBody>
      </p:sp>
      <p:sp>
        <p:nvSpPr>
          <p:cNvPr id="93196" name="Text Box 12"/>
          <p:cNvSpPr txBox="1">
            <a:spLocks noChangeArrowheads="1"/>
          </p:cNvSpPr>
          <p:nvPr/>
        </p:nvSpPr>
        <p:spPr bwMode="auto">
          <a:xfrm>
            <a:off x="3459163" y="727075"/>
            <a:ext cx="47180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2800" b="1"/>
              <a:t>是制造、检验零件的依据。   </a:t>
            </a:r>
            <a:endParaRPr lang="zh-CN" altLang="en-US" sz="2800"/>
          </a:p>
        </p:txBody>
      </p:sp>
      <p:sp>
        <p:nvSpPr>
          <p:cNvPr id="93197" name="Text Box 13"/>
          <p:cNvSpPr txBox="1">
            <a:spLocks noChangeArrowheads="1"/>
          </p:cNvSpPr>
          <p:nvPr/>
        </p:nvSpPr>
        <p:spPr bwMode="auto">
          <a:xfrm>
            <a:off x="117475" y="236538"/>
            <a:ext cx="9074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2800" b="1">
                <a:latin typeface="宋体" panose="02010600030101010101" pitchFamily="2" charset="-122"/>
              </a:rPr>
              <a:t>表达零件结构形状、大小及技术要求的图样称为</a:t>
            </a:r>
            <a:r>
              <a:rPr lang="zh-CN" altLang="en-US" sz="2800" b="1">
                <a:solidFill>
                  <a:srgbClr val="FF3300"/>
                </a:solidFill>
                <a:latin typeface="宋体" panose="02010600030101010101" pitchFamily="2" charset="-122"/>
              </a:rPr>
              <a:t>零件图</a:t>
            </a:r>
            <a:r>
              <a:rPr lang="zh-CN" altLang="en-US" sz="2800" b="1">
                <a:latin typeface="宋体" panose="02010600030101010101" pitchFamily="2" charset="-122"/>
              </a:rPr>
              <a:t>。</a:t>
            </a:r>
            <a:endParaRPr lang="zh-CN" altLang="en-US">
              <a:latin typeface="宋体" panose="02010600030101010101" pitchFamily="2" charset="-122"/>
            </a:endParaRPr>
          </a:p>
        </p:txBody>
      </p:sp>
      <p:pic>
        <p:nvPicPr>
          <p:cNvPr id="93198"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21075" y="1209675"/>
            <a:ext cx="5354638" cy="3778250"/>
          </a:xfrm>
          <a:prstGeom prst="rect">
            <a:avLst/>
          </a:prstGeom>
          <a:noFill/>
          <a:extLst>
            <a:ext uri="{909E8E84-426E-40DD-AFC4-6F175D3DCCD1}">
              <a14:hiddenFill xmlns:a14="http://schemas.microsoft.com/office/drawing/2010/main">
                <a:solidFill>
                  <a:srgbClr val="FFFFFF"/>
                </a:solidFill>
              </a14:hiddenFill>
            </a:ext>
          </a:extLst>
        </p:spPr>
      </p:pic>
      <p:sp>
        <p:nvSpPr>
          <p:cNvPr id="93199" name="Text Box 15"/>
          <p:cNvSpPr txBox="1">
            <a:spLocks noChangeArrowheads="1"/>
          </p:cNvSpPr>
          <p:nvPr/>
        </p:nvSpPr>
        <p:spPr bwMode="auto">
          <a:xfrm>
            <a:off x="5127625" y="5083175"/>
            <a:ext cx="1962150" cy="519113"/>
          </a:xfrm>
          <a:prstGeom prst="rect">
            <a:avLst/>
          </a:prstGeom>
          <a:solidFill>
            <a:srgbClr val="FF33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zh-CN" altLang="en-US" sz="2800" b="1">
                <a:solidFill>
                  <a:srgbClr val="FFFF00"/>
                </a:solidFill>
              </a:rPr>
              <a:t>端盖零件图</a:t>
            </a:r>
            <a:endParaRPr lang="zh-CN" altLang="en-US"/>
          </a:p>
        </p:txBody>
      </p:sp>
      <p:pic>
        <p:nvPicPr>
          <p:cNvPr id="93200" name="Picture 16"/>
          <p:cNvPicPr>
            <a:picLocks noChangeAspect="1" noChangeArrowheads="1"/>
          </p:cNvPicPr>
          <p:nvPr/>
        </p:nvPicPr>
        <p:blipFill>
          <a:blip r:embed="rId2">
            <a:extLst>
              <a:ext uri="{28A0092B-C50C-407E-A947-70E740481C1C}">
                <a14:useLocalDpi xmlns:a14="http://schemas.microsoft.com/office/drawing/2010/main" val="0"/>
              </a:ext>
            </a:extLst>
          </a:blip>
          <a:srcRect l="28210" t="12019" r="26854" b="15297"/>
          <a:stretch>
            <a:fillRect/>
          </a:stretch>
        </p:blipFill>
        <p:spPr bwMode="auto">
          <a:xfrm>
            <a:off x="7099300" y="4684713"/>
            <a:ext cx="1568450" cy="1889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93200"/>
                                        </p:tgtEl>
                                        <p:attrNameLst>
                                          <p:attrName>style.visibility</p:attrName>
                                        </p:attrNameLst>
                                      </p:cBhvr>
                                      <p:to>
                                        <p:strVal val="visible"/>
                                      </p:to>
                                    </p:set>
                                    <p:anim calcmode="lin" valueType="num">
                                      <p:cBhvr additive="base">
                                        <p:cTn id="7" dur="500" fill="hold"/>
                                        <p:tgtEl>
                                          <p:spTgt spid="93200"/>
                                        </p:tgtEl>
                                        <p:attrNameLst>
                                          <p:attrName>ppt_x</p:attrName>
                                        </p:attrNameLst>
                                      </p:cBhvr>
                                      <p:tavLst>
                                        <p:tav tm="0">
                                          <p:val>
                                            <p:strVal val="#ppt_x"/>
                                          </p:val>
                                        </p:tav>
                                        <p:tav tm="100000">
                                          <p:val>
                                            <p:strVal val="#ppt_x"/>
                                          </p:val>
                                        </p:tav>
                                      </p:tavLst>
                                    </p:anim>
                                    <p:anim calcmode="lin" valueType="num">
                                      <p:cBhvr additive="base">
                                        <p:cTn id="8" dur="500" fill="hold"/>
                                        <p:tgtEl>
                                          <p:spTgt spid="93200"/>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93200"/>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3186"/>
                                        </p:tgtEl>
                                        <p:attrNameLst>
                                          <p:attrName>style.visibility</p:attrName>
                                        </p:attrNameLst>
                                      </p:cBhvr>
                                      <p:to>
                                        <p:strVal val="visible"/>
                                      </p:to>
                                    </p:set>
                                    <p:animEffect transition="in" filter="wipe(left)">
                                      <p:cBhvr>
                                        <p:cTn id="13" dur="500"/>
                                        <p:tgtEl>
                                          <p:spTgt spid="9318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3196"/>
                                        </p:tgtEl>
                                        <p:attrNameLst>
                                          <p:attrName>style.visibility</p:attrName>
                                        </p:attrNameLst>
                                      </p:cBhvr>
                                      <p:to>
                                        <p:strVal val="visible"/>
                                      </p:to>
                                    </p:set>
                                    <p:animEffect transition="in" filter="wipe(left)">
                                      <p:cBhvr>
                                        <p:cTn id="18" dur="500"/>
                                        <p:tgtEl>
                                          <p:spTgt spid="9319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3187"/>
                                        </p:tgtEl>
                                        <p:attrNameLst>
                                          <p:attrName>style.visibility</p:attrName>
                                        </p:attrNameLst>
                                      </p:cBhvr>
                                      <p:to>
                                        <p:strVal val="visible"/>
                                      </p:to>
                                    </p:set>
                                    <p:animEffect transition="in" filter="wipe(left)">
                                      <p:cBhvr>
                                        <p:cTn id="23" dur="500"/>
                                        <p:tgtEl>
                                          <p:spTgt spid="93187"/>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grpId="0" nodeType="clickEffect">
                                  <p:stCondLst>
                                    <p:cond delay="0"/>
                                  </p:stCondLst>
                                  <p:childTnLst>
                                    <p:set>
                                      <p:cBhvr>
                                        <p:cTn id="27" dur="1" fill="hold">
                                          <p:stCondLst>
                                            <p:cond delay="0"/>
                                          </p:stCondLst>
                                        </p:cTn>
                                        <p:tgtEl>
                                          <p:spTgt spid="93188"/>
                                        </p:tgtEl>
                                        <p:attrNameLst>
                                          <p:attrName>style.visibility</p:attrName>
                                        </p:attrNameLst>
                                      </p:cBhvr>
                                      <p:to>
                                        <p:strVal val="visible"/>
                                      </p:to>
                                    </p:set>
                                    <p:anim calcmode="lin" valueType="num">
                                      <p:cBhvr>
                                        <p:cTn id="28" dur="500" fill="hold"/>
                                        <p:tgtEl>
                                          <p:spTgt spid="93188"/>
                                        </p:tgtEl>
                                        <p:attrNameLst>
                                          <p:attrName>ppt_w</p:attrName>
                                        </p:attrNameLst>
                                      </p:cBhvr>
                                      <p:tavLst>
                                        <p:tav tm="0">
                                          <p:val>
                                            <p:fltVal val="0"/>
                                          </p:val>
                                        </p:tav>
                                        <p:tav tm="100000">
                                          <p:val>
                                            <p:strVal val="#ppt_w"/>
                                          </p:val>
                                        </p:tav>
                                      </p:tavLst>
                                    </p:anim>
                                    <p:anim calcmode="lin" valueType="num">
                                      <p:cBhvr>
                                        <p:cTn id="29" dur="500" fill="hold"/>
                                        <p:tgtEl>
                                          <p:spTgt spid="93188"/>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grpId="0" nodeType="clickEffect">
                                  <p:stCondLst>
                                    <p:cond delay="0"/>
                                  </p:stCondLst>
                                  <p:childTnLst>
                                    <p:set>
                                      <p:cBhvr>
                                        <p:cTn id="33" dur="1" fill="hold">
                                          <p:stCondLst>
                                            <p:cond delay="0"/>
                                          </p:stCondLst>
                                        </p:cTn>
                                        <p:tgtEl>
                                          <p:spTgt spid="93192"/>
                                        </p:tgtEl>
                                        <p:attrNameLst>
                                          <p:attrName>style.visibility</p:attrName>
                                        </p:attrNameLst>
                                      </p:cBhvr>
                                      <p:to>
                                        <p:strVal val="visible"/>
                                      </p:to>
                                    </p:set>
                                    <p:anim calcmode="lin" valueType="num">
                                      <p:cBhvr>
                                        <p:cTn id="34" dur="500" fill="hold"/>
                                        <p:tgtEl>
                                          <p:spTgt spid="93192"/>
                                        </p:tgtEl>
                                        <p:attrNameLst>
                                          <p:attrName>ppt_w</p:attrName>
                                        </p:attrNameLst>
                                      </p:cBhvr>
                                      <p:tavLst>
                                        <p:tav tm="0">
                                          <p:val>
                                            <p:fltVal val="0"/>
                                          </p:val>
                                        </p:tav>
                                        <p:tav tm="100000">
                                          <p:val>
                                            <p:strVal val="#ppt_w"/>
                                          </p:val>
                                        </p:tav>
                                      </p:tavLst>
                                    </p:anim>
                                    <p:anim calcmode="lin" valueType="num">
                                      <p:cBhvr>
                                        <p:cTn id="35" dur="500" fill="hold"/>
                                        <p:tgtEl>
                                          <p:spTgt spid="93192"/>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8" presetClass="entr" presetSubtype="12" fill="hold" grpId="0" nodeType="clickEffect">
                                  <p:stCondLst>
                                    <p:cond delay="0"/>
                                  </p:stCondLst>
                                  <p:childTnLst>
                                    <p:set>
                                      <p:cBhvr>
                                        <p:cTn id="39" dur="1" fill="hold">
                                          <p:stCondLst>
                                            <p:cond delay="0"/>
                                          </p:stCondLst>
                                        </p:cTn>
                                        <p:tgtEl>
                                          <p:spTgt spid="93189"/>
                                        </p:tgtEl>
                                        <p:attrNameLst>
                                          <p:attrName>style.visibility</p:attrName>
                                        </p:attrNameLst>
                                      </p:cBhvr>
                                      <p:to>
                                        <p:strVal val="visible"/>
                                      </p:to>
                                    </p:set>
                                    <p:animEffect transition="in" filter="strips(downLeft)">
                                      <p:cBhvr>
                                        <p:cTn id="40" dur="500"/>
                                        <p:tgtEl>
                                          <p:spTgt spid="9318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3193"/>
                                        </p:tgtEl>
                                        <p:attrNameLst>
                                          <p:attrName>style.visibility</p:attrName>
                                        </p:attrNameLst>
                                      </p:cBhvr>
                                      <p:to>
                                        <p:strVal val="visible"/>
                                      </p:to>
                                    </p:set>
                                    <p:animEffect transition="in" filter="wipe(left)">
                                      <p:cBhvr>
                                        <p:cTn id="45" dur="500"/>
                                        <p:tgtEl>
                                          <p:spTgt spid="93193"/>
                                        </p:tgtEl>
                                      </p:cBhvr>
                                    </p:animEffect>
                                  </p:childTnLst>
                                </p:cTn>
                              </p:par>
                            </p:childTnLst>
                          </p:cTn>
                        </p:par>
                      </p:childTnLst>
                    </p:cTn>
                  </p:par>
                  <p:par>
                    <p:cTn id="46" fill="hold">
                      <p:stCondLst>
                        <p:cond delay="indefinite"/>
                      </p:stCondLst>
                      <p:childTnLst>
                        <p:par>
                          <p:cTn id="47" fill="hold">
                            <p:stCondLst>
                              <p:cond delay="0"/>
                            </p:stCondLst>
                            <p:childTnLst>
                              <p:par>
                                <p:cTn id="48" presetID="18" presetClass="entr" presetSubtype="3" fill="hold" grpId="0" nodeType="clickEffect">
                                  <p:stCondLst>
                                    <p:cond delay="0"/>
                                  </p:stCondLst>
                                  <p:childTnLst>
                                    <p:set>
                                      <p:cBhvr>
                                        <p:cTn id="49" dur="1" fill="hold">
                                          <p:stCondLst>
                                            <p:cond delay="0"/>
                                          </p:stCondLst>
                                        </p:cTn>
                                        <p:tgtEl>
                                          <p:spTgt spid="93190"/>
                                        </p:tgtEl>
                                        <p:attrNameLst>
                                          <p:attrName>style.visibility</p:attrName>
                                        </p:attrNameLst>
                                      </p:cBhvr>
                                      <p:to>
                                        <p:strVal val="visible"/>
                                      </p:to>
                                    </p:set>
                                    <p:animEffect transition="in" filter="strips(upRight)">
                                      <p:cBhvr>
                                        <p:cTn id="50" dur="500"/>
                                        <p:tgtEl>
                                          <p:spTgt spid="9319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93194"/>
                                        </p:tgtEl>
                                        <p:attrNameLst>
                                          <p:attrName>style.visibility</p:attrName>
                                        </p:attrNameLst>
                                      </p:cBhvr>
                                      <p:to>
                                        <p:strVal val="visible"/>
                                      </p:to>
                                    </p:set>
                                    <p:animEffect transition="in" filter="wipe(right)">
                                      <p:cBhvr>
                                        <p:cTn id="55" dur="500"/>
                                        <p:tgtEl>
                                          <p:spTgt spid="93194"/>
                                        </p:tgtEl>
                                      </p:cBhvr>
                                    </p:animEffect>
                                  </p:childTnLst>
                                </p:cTn>
                              </p:par>
                            </p:childTnLst>
                          </p:cTn>
                        </p:par>
                      </p:childTnLst>
                    </p:cTn>
                  </p:par>
                  <p:par>
                    <p:cTn id="56" fill="hold">
                      <p:stCondLst>
                        <p:cond delay="indefinite"/>
                      </p:stCondLst>
                      <p:childTnLst>
                        <p:par>
                          <p:cTn id="57" fill="hold">
                            <p:stCondLst>
                              <p:cond delay="0"/>
                            </p:stCondLst>
                            <p:childTnLst>
                              <p:par>
                                <p:cTn id="58" presetID="18" presetClass="entr" presetSubtype="12" fill="hold" grpId="0" nodeType="clickEffect">
                                  <p:stCondLst>
                                    <p:cond delay="0"/>
                                  </p:stCondLst>
                                  <p:childTnLst>
                                    <p:set>
                                      <p:cBhvr>
                                        <p:cTn id="59" dur="1" fill="hold">
                                          <p:stCondLst>
                                            <p:cond delay="0"/>
                                          </p:stCondLst>
                                        </p:cTn>
                                        <p:tgtEl>
                                          <p:spTgt spid="93191"/>
                                        </p:tgtEl>
                                        <p:attrNameLst>
                                          <p:attrName>style.visibility</p:attrName>
                                        </p:attrNameLst>
                                      </p:cBhvr>
                                      <p:to>
                                        <p:strVal val="visible"/>
                                      </p:to>
                                    </p:set>
                                    <p:animEffect transition="in" filter="strips(downLeft)">
                                      <p:cBhvr>
                                        <p:cTn id="60" dur="500"/>
                                        <p:tgtEl>
                                          <p:spTgt spid="93191"/>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3195"/>
                                        </p:tgtEl>
                                        <p:attrNameLst>
                                          <p:attrName>style.visibility</p:attrName>
                                        </p:attrNameLst>
                                      </p:cBhvr>
                                      <p:to>
                                        <p:strVal val="visible"/>
                                      </p:to>
                                    </p:set>
                                    <p:animEffect transition="in" filter="wipe(left)">
                                      <p:cBhvr>
                                        <p:cTn id="65" dur="500"/>
                                        <p:tgtEl>
                                          <p:spTgt spid="93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utoUpdateAnimBg="0"/>
      <p:bldP spid="93187" grpId="0" autoUpdateAnimBg="0"/>
      <p:bldP spid="93188" grpId="0" autoUpdateAnimBg="0"/>
      <p:bldP spid="93189" grpId="0" autoUpdateAnimBg="0"/>
      <p:bldP spid="93190" grpId="0" autoUpdateAnimBg="0"/>
      <p:bldP spid="93191" grpId="0" autoUpdateAnimBg="0"/>
      <p:bldP spid="93192" grpId="0" autoUpdateAnimBg="0"/>
      <p:bldP spid="93193" grpId="0" autoUpdateAnimBg="0"/>
      <p:bldP spid="93194" grpId="0" autoUpdateAnimBg="0"/>
      <p:bldP spid="93195" grpId="0" autoUpdateAnimBg="0"/>
      <p:bldP spid="9319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49" name="Text Box 29"/>
          <p:cNvSpPr txBox="1">
            <a:spLocks noChangeArrowheads="1"/>
          </p:cNvSpPr>
          <p:nvPr/>
        </p:nvSpPr>
        <p:spPr bwMode="auto">
          <a:xfrm>
            <a:off x="458788" y="1262063"/>
            <a:ext cx="7974012" cy="103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10000"/>
              </a:lnSpc>
            </a:pPr>
            <a:r>
              <a:rPr lang="en-US" altLang="zh-CN" sz="2800" b="1">
                <a:solidFill>
                  <a:srgbClr val="003399"/>
                </a:solidFill>
                <a:latin typeface="宋体" panose="02010600030101010101" pitchFamily="2" charset="-122"/>
              </a:rPr>
              <a:t>    </a:t>
            </a:r>
            <a:r>
              <a:rPr lang="zh-CN" altLang="en-US" sz="2800" b="1">
                <a:solidFill>
                  <a:srgbClr val="003399"/>
                </a:solidFill>
                <a:latin typeface="宋体" panose="02010600030101010101" pitchFamily="2" charset="-122"/>
              </a:rPr>
              <a:t>表面粗糙度轮廓的较小间距和峰谷所具有的微观几何形状特性称为表面粗糙度。</a:t>
            </a:r>
            <a:endParaRPr lang="zh-CN" altLang="en-US" sz="2800" b="1">
              <a:solidFill>
                <a:srgbClr val="003399"/>
              </a:solidFill>
              <a:latin typeface="宋体" panose="02010600030101010101" pitchFamily="2" charset="-122"/>
            </a:endParaRPr>
          </a:p>
        </p:txBody>
      </p:sp>
      <p:sp>
        <p:nvSpPr>
          <p:cNvPr id="5123" name="Text Box 30"/>
          <p:cNvSpPr txBox="1">
            <a:spLocks noChangeArrowheads="1"/>
          </p:cNvSpPr>
          <p:nvPr/>
        </p:nvSpPr>
        <p:spPr bwMode="auto">
          <a:xfrm>
            <a:off x="127000" y="765175"/>
            <a:ext cx="5253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3200" b="1">
                <a:solidFill>
                  <a:srgbClr val="FF3300"/>
                </a:solidFill>
                <a:ea typeface="黑体" panose="02010609060101010101" pitchFamily="49" charset="-122"/>
              </a:rPr>
              <a:t>⒈ </a:t>
            </a:r>
            <a:r>
              <a:rPr lang="zh-CN" altLang="en-US" sz="3200" b="1">
                <a:solidFill>
                  <a:srgbClr val="FF3300"/>
                </a:solidFill>
                <a:latin typeface="黑体" panose="02010609060101010101" pitchFamily="49" charset="-122"/>
                <a:ea typeface="黑体" panose="02010609060101010101" pitchFamily="49" charset="-122"/>
              </a:rPr>
              <a:t>表面粗糙度的基本概念</a:t>
            </a:r>
            <a:endParaRPr lang="zh-CN" altLang="en-US" sz="3200" b="1">
              <a:solidFill>
                <a:srgbClr val="FF3300"/>
              </a:solidFill>
              <a:latin typeface="黑体" panose="02010609060101010101" pitchFamily="49" charset="-122"/>
              <a:ea typeface="黑体" panose="02010609060101010101" pitchFamily="49" charset="-122"/>
            </a:endParaRPr>
          </a:p>
        </p:txBody>
      </p:sp>
      <p:sp>
        <p:nvSpPr>
          <p:cNvPr id="56352" name="Text Box 32"/>
          <p:cNvSpPr txBox="1">
            <a:spLocks noChangeArrowheads="1"/>
          </p:cNvSpPr>
          <p:nvPr/>
        </p:nvSpPr>
        <p:spPr bwMode="auto">
          <a:xfrm>
            <a:off x="458788" y="2295525"/>
            <a:ext cx="7740650"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0000"/>
              </a:lnSpc>
            </a:pPr>
            <a:r>
              <a:rPr lang="en-US" altLang="zh-CN" sz="2800" b="1">
                <a:solidFill>
                  <a:srgbClr val="003399"/>
                </a:solidFill>
              </a:rPr>
              <a:t>        </a:t>
            </a:r>
            <a:r>
              <a:rPr lang="zh-CN" altLang="en-US" sz="2800" b="1">
                <a:solidFill>
                  <a:srgbClr val="003399"/>
                </a:solidFill>
              </a:rPr>
              <a:t>表面粗糙度主要由加工过程中的刀痕、刀具和零件被加工表面之间的摩擦、切削分离时的塑性变形等因素引起的。</a:t>
            </a:r>
            <a:endParaRPr lang="zh-CN" altLang="en-US" sz="2800" b="1">
              <a:solidFill>
                <a:srgbClr val="003399"/>
              </a:solidFill>
            </a:endParaRPr>
          </a:p>
        </p:txBody>
      </p:sp>
      <p:sp>
        <p:nvSpPr>
          <p:cNvPr id="56354" name="Text Box 34"/>
          <p:cNvSpPr txBox="1">
            <a:spLocks noChangeArrowheads="1"/>
          </p:cNvSpPr>
          <p:nvPr/>
        </p:nvSpPr>
        <p:spPr bwMode="auto">
          <a:xfrm>
            <a:off x="288925" y="3836988"/>
            <a:ext cx="522287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solidFill>
                  <a:srgbClr val="FF3300"/>
                </a:solidFill>
                <a:ea typeface="黑体" panose="02010609060101010101" pitchFamily="49" charset="-122"/>
              </a:rPr>
              <a:t>2. </a:t>
            </a:r>
            <a:r>
              <a:rPr lang="zh-CN" altLang="en-US" sz="3200" b="1">
                <a:solidFill>
                  <a:srgbClr val="FF3300"/>
                </a:solidFill>
                <a:ea typeface="黑体" panose="02010609060101010101" pitchFamily="49" charset="-122"/>
              </a:rPr>
              <a:t>评定表面粗糙度的参数</a:t>
            </a:r>
            <a:endParaRPr lang="zh-CN" altLang="en-US" sz="3200" b="1">
              <a:solidFill>
                <a:srgbClr val="FF3300"/>
              </a:solidFill>
              <a:ea typeface="黑体" panose="02010609060101010101" pitchFamily="49" charset="-122"/>
            </a:endParaRPr>
          </a:p>
        </p:txBody>
      </p:sp>
      <p:sp>
        <p:nvSpPr>
          <p:cNvPr id="56356" name="Text Box 36"/>
          <p:cNvSpPr txBox="1">
            <a:spLocks noChangeArrowheads="1"/>
          </p:cNvSpPr>
          <p:nvPr/>
        </p:nvSpPr>
        <p:spPr bwMode="auto">
          <a:xfrm>
            <a:off x="515938" y="4937125"/>
            <a:ext cx="480853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轮廓算术平均偏差</a:t>
            </a:r>
            <a:r>
              <a:rPr lang="en-US" altLang="zh-CN" sz="2800" b="1"/>
              <a:t>—</a:t>
            </a:r>
            <a:r>
              <a:rPr lang="en-US" altLang="zh-CN" sz="2800" b="1" i="1">
                <a:solidFill>
                  <a:srgbClr val="FF3300"/>
                </a:solidFill>
                <a:latin typeface="宋体" panose="02010600030101010101" pitchFamily="2" charset="-122"/>
              </a:rPr>
              <a:t>R</a:t>
            </a:r>
            <a:r>
              <a:rPr lang="en-US" altLang="zh-CN" sz="2800" b="1" i="1">
                <a:solidFill>
                  <a:srgbClr val="FF3300"/>
                </a:solidFill>
              </a:rPr>
              <a:t>a</a:t>
            </a:r>
            <a:endParaRPr lang="en-US" altLang="zh-CN" sz="2800" b="1">
              <a:latin typeface="宋体" panose="02010600030101010101" pitchFamily="2" charset="-122"/>
            </a:endParaRPr>
          </a:p>
        </p:txBody>
      </p:sp>
      <p:sp>
        <p:nvSpPr>
          <p:cNvPr id="56357" name="Text Box 37"/>
          <p:cNvSpPr txBox="1">
            <a:spLocks noChangeArrowheads="1"/>
          </p:cNvSpPr>
          <p:nvPr/>
        </p:nvSpPr>
        <p:spPr bwMode="auto">
          <a:xfrm>
            <a:off x="527050" y="5464175"/>
            <a:ext cx="46418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轮廓最大高度</a:t>
            </a:r>
            <a:r>
              <a:rPr lang="en-US" altLang="zh-CN" sz="2800" b="1"/>
              <a:t>—</a:t>
            </a:r>
            <a:r>
              <a:rPr lang="en-US" altLang="zh-CN" sz="2800" b="1" i="1">
                <a:solidFill>
                  <a:srgbClr val="FF0000"/>
                </a:solidFill>
                <a:latin typeface="宋体" panose="02010600030101010101" pitchFamily="2" charset="-122"/>
              </a:rPr>
              <a:t>Rz</a:t>
            </a:r>
            <a:endParaRPr lang="en-US" altLang="zh-CN" sz="2800" b="1">
              <a:solidFill>
                <a:srgbClr val="FF0000"/>
              </a:solidFill>
              <a:latin typeface="宋体" panose="02010600030101010101" pitchFamily="2" charset="-122"/>
            </a:endParaRPr>
          </a:p>
        </p:txBody>
      </p:sp>
      <p:sp>
        <p:nvSpPr>
          <p:cNvPr id="56358" name="Text Box 38"/>
          <p:cNvSpPr txBox="1">
            <a:spLocks noChangeArrowheads="1"/>
          </p:cNvSpPr>
          <p:nvPr/>
        </p:nvSpPr>
        <p:spPr bwMode="auto">
          <a:xfrm>
            <a:off x="655638" y="4379913"/>
            <a:ext cx="19700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常用参数：</a:t>
            </a:r>
            <a:endParaRPr lang="zh-CN" altLang="en-US" sz="2800" b="1"/>
          </a:p>
        </p:txBody>
      </p:sp>
      <p:grpSp>
        <p:nvGrpSpPr>
          <p:cNvPr id="56359" name="Group 39"/>
          <p:cNvGrpSpPr/>
          <p:nvPr/>
        </p:nvGrpSpPr>
        <p:grpSpPr bwMode="auto">
          <a:xfrm>
            <a:off x="5546725" y="4948238"/>
            <a:ext cx="2286000" cy="955675"/>
            <a:chOff x="3494" y="3447"/>
            <a:chExt cx="1440" cy="602"/>
          </a:xfrm>
        </p:grpSpPr>
        <p:sp>
          <p:nvSpPr>
            <p:cNvPr id="5131" name="AutoShape 40"/>
            <p:cNvSpPr>
              <a:spLocks noChangeArrowheads="1"/>
            </p:cNvSpPr>
            <p:nvPr/>
          </p:nvSpPr>
          <p:spPr bwMode="auto">
            <a:xfrm>
              <a:off x="3494" y="3461"/>
              <a:ext cx="1433" cy="588"/>
            </a:xfrm>
            <a:prstGeom prst="wedgeRoundRectCallout">
              <a:avLst>
                <a:gd name="adj1" fmla="val -67306"/>
                <a:gd name="adj2" fmla="val 9352"/>
                <a:gd name="adj3" fmla="val 16667"/>
              </a:avLst>
            </a:prstGeom>
            <a:gradFill rotWithShape="0">
              <a:gsLst>
                <a:gs pos="0">
                  <a:srgbClr val="FF9900"/>
                </a:gs>
                <a:gs pos="50000">
                  <a:srgbClr val="FFFFFF"/>
                </a:gs>
                <a:gs pos="100000">
                  <a:srgbClr val="FF9900"/>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p>
          </p:txBody>
        </p:sp>
        <p:sp>
          <p:nvSpPr>
            <p:cNvPr id="5132" name="Rectangle 41"/>
            <p:cNvSpPr>
              <a:spLocks noChangeArrowheads="1"/>
            </p:cNvSpPr>
            <p:nvPr/>
          </p:nvSpPr>
          <p:spPr bwMode="auto">
            <a:xfrm>
              <a:off x="3551" y="3447"/>
              <a:ext cx="1383"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003399"/>
                  </a:solidFill>
                </a:rPr>
                <a:t>高度</a:t>
              </a:r>
              <a:r>
                <a:rPr lang="zh-CN" altLang="en-US" sz="2800" b="1">
                  <a:solidFill>
                    <a:srgbClr val="003399"/>
                  </a:solidFill>
                  <a:latin typeface="宋体" panose="02010600030101010101" pitchFamily="2" charset="-122"/>
                </a:rPr>
                <a:t>参数值</a:t>
              </a:r>
              <a:endParaRPr lang="zh-CN" altLang="en-US" sz="2800" b="1">
                <a:solidFill>
                  <a:srgbClr val="003399"/>
                </a:solidFill>
                <a:latin typeface="宋体" panose="02010600030101010101" pitchFamily="2" charset="-122"/>
              </a:endParaRPr>
            </a:p>
            <a:p>
              <a:pPr algn="l" eaLnBrk="1" hangingPunct="1"/>
              <a:r>
                <a:rPr lang="zh-CN" altLang="en-US" sz="2800" b="1">
                  <a:solidFill>
                    <a:srgbClr val="003399"/>
                  </a:solidFill>
                  <a:latin typeface="宋体" panose="02010600030101010101" pitchFamily="2" charset="-122"/>
                </a:rPr>
                <a:t>的单位是</a:t>
              </a:r>
              <a:r>
                <a:rPr lang="zh-CN" altLang="en-US" sz="2800" b="1">
                  <a:solidFill>
                    <a:srgbClr val="003399"/>
                  </a:solidFill>
                  <a:latin typeface="宋体" panose="02010600030101010101" pitchFamily="2" charset="-122"/>
                  <a:sym typeface="Symbol" panose="05050102010706020507" pitchFamily="18" charset="2"/>
                </a:rPr>
                <a:t></a:t>
              </a:r>
              <a:r>
                <a:rPr lang="en-US" altLang="zh-CN" sz="2800" b="1">
                  <a:solidFill>
                    <a:srgbClr val="003399"/>
                  </a:solidFill>
                  <a:latin typeface="宋体" panose="02010600030101010101" pitchFamily="2" charset="-122"/>
                </a:rPr>
                <a:t>m</a:t>
              </a:r>
              <a:endParaRPr lang="en-US" altLang="zh-CN" sz="2800" b="1">
                <a:solidFill>
                  <a:srgbClr val="003399"/>
                </a:solidFill>
                <a:latin typeface="宋体" panose="02010600030101010101" pitchFamily="2" charset="-122"/>
              </a:endParaRPr>
            </a:p>
          </p:txBody>
        </p:sp>
      </p:grpSp>
      <p:sp>
        <p:nvSpPr>
          <p:cNvPr id="5130" name="Text Box 42"/>
          <p:cNvSpPr txBox="1">
            <a:spLocks noChangeArrowheads="1"/>
          </p:cNvSpPr>
          <p:nvPr/>
        </p:nvSpPr>
        <p:spPr bwMode="auto">
          <a:xfrm>
            <a:off x="1758950" y="123825"/>
            <a:ext cx="5940425" cy="606425"/>
          </a:xfrm>
          <a:prstGeom prst="rect">
            <a:avLst/>
          </a:prstGeom>
          <a:gradFill rotWithShape="0">
            <a:gsLst>
              <a:gs pos="0">
                <a:srgbClr val="0099FF"/>
              </a:gs>
              <a:gs pos="50000">
                <a:srgbClr val="F5FBFF"/>
              </a:gs>
              <a:gs pos="100000">
                <a:srgbClr val="0099FF"/>
              </a:gs>
            </a:gsLst>
            <a:lin ang="5400000" scaled="1"/>
          </a:gradFill>
          <a:ln>
            <a:noFill/>
          </a:ln>
          <a:extLst>
            <a:ext uri="{91240B29-F687-4F45-9708-019B960494DF}">
              <a14:hiddenLine xmlns:a14="http://schemas.microsoft.com/office/drawing/2010/main" w="76200">
                <a:pattFill prst="trellis">
                  <a:fgClr>
                    <a:srgbClr val="FF3300"/>
                  </a:fgClr>
                  <a:bgClr>
                    <a:srgbClr val="FFFF00"/>
                  </a:bgClr>
                </a:pattFill>
                <a:miter lim="800000"/>
                <a:headEnd/>
                <a:tailEnd/>
              </a14:hiddenLine>
            </a:ext>
          </a:extLst>
        </p:spPr>
        <p:txBody>
          <a:bodyPr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600" b="1" dirty="0">
                <a:solidFill>
                  <a:srgbClr val="FF3300"/>
                </a:solidFill>
                <a:latin typeface="黑体" panose="02010609060101010101" pitchFamily="49" charset="-122"/>
                <a:ea typeface="黑体" panose="02010609060101010101" pitchFamily="49" charset="-122"/>
              </a:rPr>
              <a:t>零件的表面粗糙度</a:t>
            </a:r>
            <a:endParaRPr lang="zh-CN" altLang="en-US" sz="3600" b="1" dirty="0">
              <a:solidFill>
                <a:srgbClr val="FF33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6349"/>
                                        </p:tgtEl>
                                        <p:attrNameLst>
                                          <p:attrName>style.visibility</p:attrName>
                                        </p:attrNameLst>
                                      </p:cBhvr>
                                      <p:to>
                                        <p:strVal val="visible"/>
                                      </p:to>
                                    </p:set>
                                    <p:animEffect transition="in" filter="strips(downRight)">
                                      <p:cBhvr>
                                        <p:cTn id="7" dur="500"/>
                                        <p:tgtEl>
                                          <p:spTgt spid="5634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6352"/>
                                        </p:tgtEl>
                                        <p:attrNameLst>
                                          <p:attrName>style.visibility</p:attrName>
                                        </p:attrNameLst>
                                      </p:cBhvr>
                                      <p:to>
                                        <p:strVal val="visible"/>
                                      </p:to>
                                    </p:set>
                                    <p:animEffect transition="in" filter="strips(downRight)">
                                      <p:cBhvr>
                                        <p:cTn id="12" dur="500"/>
                                        <p:tgtEl>
                                          <p:spTgt spid="563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56354">
                                            <p:txEl>
                                              <p:pRg st="0" end="0"/>
                                            </p:txEl>
                                          </p:spTgt>
                                        </p:tgtEl>
                                        <p:attrNameLst>
                                          <p:attrName>style.visibility</p:attrName>
                                        </p:attrNameLst>
                                      </p:cBhvr>
                                      <p:to>
                                        <p:strVal val="visible"/>
                                      </p:to>
                                    </p:set>
                                    <p:animEffect transition="in" filter="wipe(up)">
                                      <p:cBhvr>
                                        <p:cTn id="17" dur="75"/>
                                        <p:tgtEl>
                                          <p:spTgt spid="5635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358"/>
                                        </p:tgtEl>
                                        <p:attrNameLst>
                                          <p:attrName>style.visibility</p:attrName>
                                        </p:attrNameLst>
                                      </p:cBhvr>
                                      <p:to>
                                        <p:strVal val="visible"/>
                                      </p:to>
                                    </p:set>
                                    <p:animEffect transition="in" filter="wipe(left)">
                                      <p:cBhvr>
                                        <p:cTn id="22" dur="500"/>
                                        <p:tgtEl>
                                          <p:spTgt spid="563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56356">
                                            <p:txEl>
                                              <p:pRg st="0" end="0"/>
                                            </p:txEl>
                                          </p:spTgt>
                                        </p:tgtEl>
                                        <p:attrNameLst>
                                          <p:attrName>style.visibility</p:attrName>
                                        </p:attrNameLst>
                                      </p:cBhvr>
                                      <p:to>
                                        <p:strVal val="visible"/>
                                      </p:to>
                                    </p:set>
                                    <p:animEffect transition="in" filter="wipe(up)">
                                      <p:cBhvr>
                                        <p:cTn id="27" dur="75"/>
                                        <p:tgtEl>
                                          <p:spTgt spid="5635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56357">
                                            <p:txEl>
                                              <p:pRg st="0" end="0"/>
                                            </p:txEl>
                                          </p:spTgt>
                                        </p:tgtEl>
                                        <p:attrNameLst>
                                          <p:attrName>style.visibility</p:attrName>
                                        </p:attrNameLst>
                                      </p:cBhvr>
                                      <p:to>
                                        <p:strVal val="visible"/>
                                      </p:to>
                                    </p:set>
                                    <p:animEffect transition="in" filter="wipe(up)">
                                      <p:cBhvr>
                                        <p:cTn id="32" dur="75"/>
                                        <p:tgtEl>
                                          <p:spTgt spid="5635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6359"/>
                                        </p:tgtEl>
                                        <p:attrNameLst>
                                          <p:attrName>style.visibility</p:attrName>
                                        </p:attrNameLst>
                                      </p:cBhvr>
                                      <p:to>
                                        <p:strVal val="visible"/>
                                      </p:to>
                                    </p:set>
                                    <p:animEffect transition="in" filter="wipe(right)">
                                      <p:cBhvr>
                                        <p:cTn id="37" dur="500"/>
                                        <p:tgtEl>
                                          <p:spTgt spid="56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49" grpId="0" autoUpdateAnimBg="0"/>
      <p:bldP spid="56352" grpId="0"/>
      <p:bldP spid="56354" grpId="0" autoUpdateAnimBg="0" build="p"/>
      <p:bldP spid="56356" grpId="0" autoUpdateAnimBg="0" build="p"/>
      <p:bldP spid="56357" grpId="0" autoUpdateAnimBg="0" build="p"/>
      <p:bldP spid="5635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7662863" y="2703513"/>
            <a:ext cx="0" cy="1350962"/>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1" name="Line 3"/>
          <p:cNvSpPr>
            <a:spLocks noChangeShapeType="1"/>
          </p:cNvSpPr>
          <p:nvPr/>
        </p:nvSpPr>
        <p:spPr bwMode="auto">
          <a:xfrm>
            <a:off x="1598613" y="2316163"/>
            <a:ext cx="0" cy="1751012"/>
          </a:xfrm>
          <a:prstGeom prst="line">
            <a:avLst/>
          </a:prstGeom>
          <a:noFill/>
          <a:ln w="19050">
            <a:solidFill>
              <a:schemeClr val="tx2"/>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2" name="Line 4"/>
          <p:cNvSpPr>
            <a:spLocks noChangeShapeType="1"/>
          </p:cNvSpPr>
          <p:nvPr/>
        </p:nvSpPr>
        <p:spPr bwMode="auto">
          <a:xfrm>
            <a:off x="1309688" y="3243263"/>
            <a:ext cx="6838950" cy="0"/>
          </a:xfrm>
          <a:prstGeom prst="line">
            <a:avLst/>
          </a:prstGeom>
          <a:noFill/>
          <a:ln w="19050">
            <a:solidFill>
              <a:schemeClr val="tx2"/>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nvGrpSpPr>
          <p:cNvPr id="7173" name="Group 5"/>
          <p:cNvGrpSpPr/>
          <p:nvPr/>
        </p:nvGrpSpPr>
        <p:grpSpPr bwMode="auto">
          <a:xfrm>
            <a:off x="1463675" y="2633663"/>
            <a:ext cx="6418263" cy="1196975"/>
            <a:chOff x="1018" y="1069"/>
            <a:chExt cx="4043" cy="754"/>
          </a:xfrm>
        </p:grpSpPr>
        <p:sp>
          <p:nvSpPr>
            <p:cNvPr id="6247" name="Freeform 6"/>
            <p:cNvSpPr/>
            <p:nvPr/>
          </p:nvSpPr>
          <p:spPr bwMode="auto">
            <a:xfrm>
              <a:off x="4133" y="1210"/>
              <a:ext cx="278" cy="558"/>
            </a:xfrm>
            <a:custGeom>
              <a:avLst/>
              <a:gdLst>
                <a:gd name="T0" fmla="*/ 0 w 278"/>
                <a:gd name="T1" fmla="*/ 403 h 558"/>
                <a:gd name="T2" fmla="*/ 48 w 278"/>
                <a:gd name="T3" fmla="*/ 346 h 558"/>
                <a:gd name="T4" fmla="*/ 85 w 278"/>
                <a:gd name="T5" fmla="*/ 412 h 558"/>
                <a:gd name="T6" fmla="*/ 114 w 278"/>
                <a:gd name="T7" fmla="*/ 477 h 558"/>
                <a:gd name="T8" fmla="*/ 136 w 278"/>
                <a:gd name="T9" fmla="*/ 521 h 558"/>
                <a:gd name="T10" fmla="*/ 172 w 278"/>
                <a:gd name="T11" fmla="*/ 557 h 558"/>
                <a:gd name="T12" fmla="*/ 216 w 278"/>
                <a:gd name="T13" fmla="*/ 514 h 558"/>
                <a:gd name="T14" fmla="*/ 216 w 278"/>
                <a:gd name="T15" fmla="*/ 448 h 558"/>
                <a:gd name="T16" fmla="*/ 230 w 278"/>
                <a:gd name="T17" fmla="*/ 376 h 558"/>
                <a:gd name="T18" fmla="*/ 252 w 278"/>
                <a:gd name="T19" fmla="*/ 288 h 558"/>
                <a:gd name="T20" fmla="*/ 252 w 278"/>
                <a:gd name="T21" fmla="*/ 216 h 558"/>
                <a:gd name="T22" fmla="*/ 259 w 278"/>
                <a:gd name="T23" fmla="*/ 99 h 558"/>
                <a:gd name="T24" fmla="*/ 278 w 278"/>
                <a:gd name="T25" fmla="*/ 0 h 5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78" h="558">
                  <a:moveTo>
                    <a:pt x="0" y="403"/>
                  </a:moveTo>
                  <a:cubicBezTo>
                    <a:pt x="8" y="394"/>
                    <a:pt x="34" y="345"/>
                    <a:pt x="48" y="346"/>
                  </a:cubicBezTo>
                  <a:cubicBezTo>
                    <a:pt x="62" y="347"/>
                    <a:pt x="74" y="390"/>
                    <a:pt x="85" y="412"/>
                  </a:cubicBezTo>
                  <a:cubicBezTo>
                    <a:pt x="96" y="434"/>
                    <a:pt x="105" y="459"/>
                    <a:pt x="114" y="477"/>
                  </a:cubicBezTo>
                  <a:cubicBezTo>
                    <a:pt x="123" y="495"/>
                    <a:pt x="126" y="508"/>
                    <a:pt x="136" y="521"/>
                  </a:cubicBezTo>
                  <a:cubicBezTo>
                    <a:pt x="146" y="534"/>
                    <a:pt x="159" y="558"/>
                    <a:pt x="172" y="557"/>
                  </a:cubicBezTo>
                  <a:cubicBezTo>
                    <a:pt x="185" y="556"/>
                    <a:pt x="209" y="532"/>
                    <a:pt x="216" y="514"/>
                  </a:cubicBezTo>
                  <a:cubicBezTo>
                    <a:pt x="223" y="496"/>
                    <a:pt x="214" y="471"/>
                    <a:pt x="216" y="448"/>
                  </a:cubicBezTo>
                  <a:cubicBezTo>
                    <a:pt x="218" y="425"/>
                    <a:pt x="224" y="403"/>
                    <a:pt x="230" y="376"/>
                  </a:cubicBezTo>
                  <a:cubicBezTo>
                    <a:pt x="236" y="349"/>
                    <a:pt x="248" y="315"/>
                    <a:pt x="252" y="288"/>
                  </a:cubicBezTo>
                  <a:cubicBezTo>
                    <a:pt x="256" y="261"/>
                    <a:pt x="251" y="247"/>
                    <a:pt x="252" y="216"/>
                  </a:cubicBezTo>
                  <a:cubicBezTo>
                    <a:pt x="253" y="185"/>
                    <a:pt x="255" y="135"/>
                    <a:pt x="259" y="99"/>
                  </a:cubicBezTo>
                  <a:cubicBezTo>
                    <a:pt x="263" y="63"/>
                    <a:pt x="274" y="21"/>
                    <a:pt x="278" y="0"/>
                  </a:cubicBezTo>
                </a:path>
              </a:pathLst>
            </a:custGeom>
            <a:noFill/>
            <a:ln w="28575"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8" name="Freeform 7"/>
            <p:cNvSpPr/>
            <p:nvPr/>
          </p:nvSpPr>
          <p:spPr bwMode="auto">
            <a:xfrm>
              <a:off x="1018" y="1069"/>
              <a:ext cx="2174" cy="728"/>
            </a:xfrm>
            <a:custGeom>
              <a:avLst/>
              <a:gdLst>
                <a:gd name="T0" fmla="*/ 0 w 2174"/>
                <a:gd name="T1" fmla="*/ 466 h 728"/>
                <a:gd name="T2" fmla="*/ 95 w 2174"/>
                <a:gd name="T3" fmla="*/ 291 h 728"/>
                <a:gd name="T4" fmla="*/ 196 w 2174"/>
                <a:gd name="T5" fmla="*/ 204 h 728"/>
                <a:gd name="T6" fmla="*/ 255 w 2174"/>
                <a:gd name="T7" fmla="*/ 146 h 728"/>
                <a:gd name="T8" fmla="*/ 313 w 2174"/>
                <a:gd name="T9" fmla="*/ 197 h 728"/>
                <a:gd name="T10" fmla="*/ 364 w 2174"/>
                <a:gd name="T11" fmla="*/ 146 h 728"/>
                <a:gd name="T12" fmla="*/ 400 w 2174"/>
                <a:gd name="T13" fmla="*/ 73 h 728"/>
                <a:gd name="T14" fmla="*/ 444 w 2174"/>
                <a:gd name="T15" fmla="*/ 73 h 728"/>
                <a:gd name="T16" fmla="*/ 473 w 2174"/>
                <a:gd name="T17" fmla="*/ 131 h 728"/>
                <a:gd name="T18" fmla="*/ 480 w 2174"/>
                <a:gd name="T19" fmla="*/ 204 h 728"/>
                <a:gd name="T20" fmla="*/ 524 w 2174"/>
                <a:gd name="T21" fmla="*/ 364 h 728"/>
                <a:gd name="T22" fmla="*/ 553 w 2174"/>
                <a:gd name="T23" fmla="*/ 451 h 728"/>
                <a:gd name="T24" fmla="*/ 575 w 2174"/>
                <a:gd name="T25" fmla="*/ 524 h 728"/>
                <a:gd name="T26" fmla="*/ 647 w 2174"/>
                <a:gd name="T27" fmla="*/ 647 h 728"/>
                <a:gd name="T28" fmla="*/ 735 w 2174"/>
                <a:gd name="T29" fmla="*/ 647 h 728"/>
                <a:gd name="T30" fmla="*/ 793 w 2174"/>
                <a:gd name="T31" fmla="*/ 611 h 728"/>
                <a:gd name="T32" fmla="*/ 815 w 2174"/>
                <a:gd name="T33" fmla="*/ 531 h 728"/>
                <a:gd name="T34" fmla="*/ 851 w 2174"/>
                <a:gd name="T35" fmla="*/ 415 h 728"/>
                <a:gd name="T36" fmla="*/ 880 w 2174"/>
                <a:gd name="T37" fmla="*/ 320 h 728"/>
                <a:gd name="T38" fmla="*/ 916 w 2174"/>
                <a:gd name="T39" fmla="*/ 218 h 728"/>
                <a:gd name="T40" fmla="*/ 945 w 2174"/>
                <a:gd name="T41" fmla="*/ 153 h 728"/>
                <a:gd name="T42" fmla="*/ 996 w 2174"/>
                <a:gd name="T43" fmla="*/ 37 h 728"/>
                <a:gd name="T44" fmla="*/ 1055 w 2174"/>
                <a:gd name="T45" fmla="*/ 7 h 728"/>
                <a:gd name="T46" fmla="*/ 1076 w 2174"/>
                <a:gd name="T47" fmla="*/ 80 h 728"/>
                <a:gd name="T48" fmla="*/ 1105 w 2174"/>
                <a:gd name="T49" fmla="*/ 153 h 728"/>
                <a:gd name="T50" fmla="*/ 1105 w 2174"/>
                <a:gd name="T51" fmla="*/ 211 h 728"/>
                <a:gd name="T52" fmla="*/ 1120 w 2174"/>
                <a:gd name="T53" fmla="*/ 284 h 728"/>
                <a:gd name="T54" fmla="*/ 1171 w 2174"/>
                <a:gd name="T55" fmla="*/ 277 h 728"/>
                <a:gd name="T56" fmla="*/ 1185 w 2174"/>
                <a:gd name="T57" fmla="*/ 218 h 728"/>
                <a:gd name="T58" fmla="*/ 1193 w 2174"/>
                <a:gd name="T59" fmla="*/ 146 h 728"/>
                <a:gd name="T60" fmla="*/ 1265 w 2174"/>
                <a:gd name="T61" fmla="*/ 167 h 728"/>
                <a:gd name="T62" fmla="*/ 1273 w 2174"/>
                <a:gd name="T63" fmla="*/ 247 h 728"/>
                <a:gd name="T64" fmla="*/ 1280 w 2174"/>
                <a:gd name="T65" fmla="*/ 291 h 728"/>
                <a:gd name="T66" fmla="*/ 1294 w 2174"/>
                <a:gd name="T67" fmla="*/ 371 h 728"/>
                <a:gd name="T68" fmla="*/ 1294 w 2174"/>
                <a:gd name="T69" fmla="*/ 415 h 728"/>
                <a:gd name="T70" fmla="*/ 1309 w 2174"/>
                <a:gd name="T71" fmla="*/ 487 h 728"/>
                <a:gd name="T72" fmla="*/ 1324 w 2174"/>
                <a:gd name="T73" fmla="*/ 553 h 728"/>
                <a:gd name="T74" fmla="*/ 1367 w 2174"/>
                <a:gd name="T75" fmla="*/ 626 h 728"/>
                <a:gd name="T76" fmla="*/ 1389 w 2174"/>
                <a:gd name="T77" fmla="*/ 706 h 728"/>
                <a:gd name="T78" fmla="*/ 1469 w 2174"/>
                <a:gd name="T79" fmla="*/ 727 h 728"/>
                <a:gd name="T80" fmla="*/ 1578 w 2174"/>
                <a:gd name="T81" fmla="*/ 698 h 728"/>
                <a:gd name="T82" fmla="*/ 1614 w 2174"/>
                <a:gd name="T83" fmla="*/ 567 h 728"/>
                <a:gd name="T84" fmla="*/ 1665 w 2174"/>
                <a:gd name="T85" fmla="*/ 466 h 728"/>
                <a:gd name="T86" fmla="*/ 1680 w 2174"/>
                <a:gd name="T87" fmla="*/ 378 h 728"/>
                <a:gd name="T88" fmla="*/ 1731 w 2174"/>
                <a:gd name="T89" fmla="*/ 240 h 728"/>
                <a:gd name="T90" fmla="*/ 1825 w 2174"/>
                <a:gd name="T91" fmla="*/ 175 h 728"/>
                <a:gd name="T92" fmla="*/ 1884 w 2174"/>
                <a:gd name="T93" fmla="*/ 204 h 728"/>
                <a:gd name="T94" fmla="*/ 1905 w 2174"/>
                <a:gd name="T95" fmla="*/ 298 h 728"/>
                <a:gd name="T96" fmla="*/ 1927 w 2174"/>
                <a:gd name="T97" fmla="*/ 349 h 728"/>
                <a:gd name="T98" fmla="*/ 1949 w 2174"/>
                <a:gd name="T99" fmla="*/ 415 h 728"/>
                <a:gd name="T100" fmla="*/ 1971 w 2174"/>
                <a:gd name="T101" fmla="*/ 473 h 728"/>
                <a:gd name="T102" fmla="*/ 2007 w 2174"/>
                <a:gd name="T103" fmla="*/ 589 h 728"/>
                <a:gd name="T104" fmla="*/ 2036 w 2174"/>
                <a:gd name="T105" fmla="*/ 626 h 728"/>
                <a:gd name="T106" fmla="*/ 2087 w 2174"/>
                <a:gd name="T107" fmla="*/ 647 h 728"/>
                <a:gd name="T108" fmla="*/ 2123 w 2174"/>
                <a:gd name="T109" fmla="*/ 597 h 728"/>
                <a:gd name="T110" fmla="*/ 2174 w 2174"/>
                <a:gd name="T111" fmla="*/ 515 h 72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174" h="728">
                  <a:moveTo>
                    <a:pt x="0" y="466"/>
                  </a:moveTo>
                  <a:cubicBezTo>
                    <a:pt x="16" y="436"/>
                    <a:pt x="62" y="335"/>
                    <a:pt x="95" y="291"/>
                  </a:cubicBezTo>
                  <a:cubicBezTo>
                    <a:pt x="128" y="247"/>
                    <a:pt x="169" y="228"/>
                    <a:pt x="196" y="204"/>
                  </a:cubicBezTo>
                  <a:cubicBezTo>
                    <a:pt x="223" y="180"/>
                    <a:pt x="236" y="147"/>
                    <a:pt x="255" y="146"/>
                  </a:cubicBezTo>
                  <a:cubicBezTo>
                    <a:pt x="274" y="145"/>
                    <a:pt x="295" y="197"/>
                    <a:pt x="313" y="197"/>
                  </a:cubicBezTo>
                  <a:cubicBezTo>
                    <a:pt x="331" y="197"/>
                    <a:pt x="350" y="167"/>
                    <a:pt x="364" y="146"/>
                  </a:cubicBezTo>
                  <a:cubicBezTo>
                    <a:pt x="378" y="125"/>
                    <a:pt x="387" y="85"/>
                    <a:pt x="400" y="73"/>
                  </a:cubicBezTo>
                  <a:cubicBezTo>
                    <a:pt x="413" y="61"/>
                    <a:pt x="432" y="63"/>
                    <a:pt x="444" y="73"/>
                  </a:cubicBezTo>
                  <a:cubicBezTo>
                    <a:pt x="456" y="83"/>
                    <a:pt x="467" y="109"/>
                    <a:pt x="473" y="131"/>
                  </a:cubicBezTo>
                  <a:cubicBezTo>
                    <a:pt x="479" y="153"/>
                    <a:pt x="472" y="165"/>
                    <a:pt x="480" y="204"/>
                  </a:cubicBezTo>
                  <a:cubicBezTo>
                    <a:pt x="488" y="243"/>
                    <a:pt x="512" y="323"/>
                    <a:pt x="524" y="364"/>
                  </a:cubicBezTo>
                  <a:cubicBezTo>
                    <a:pt x="536" y="405"/>
                    <a:pt x="545" y="424"/>
                    <a:pt x="553" y="451"/>
                  </a:cubicBezTo>
                  <a:cubicBezTo>
                    <a:pt x="561" y="478"/>
                    <a:pt x="559" y="491"/>
                    <a:pt x="575" y="524"/>
                  </a:cubicBezTo>
                  <a:cubicBezTo>
                    <a:pt x="591" y="557"/>
                    <a:pt x="620" y="627"/>
                    <a:pt x="647" y="647"/>
                  </a:cubicBezTo>
                  <a:cubicBezTo>
                    <a:pt x="674" y="667"/>
                    <a:pt x="711" y="653"/>
                    <a:pt x="735" y="647"/>
                  </a:cubicBezTo>
                  <a:cubicBezTo>
                    <a:pt x="759" y="641"/>
                    <a:pt x="780" y="630"/>
                    <a:pt x="793" y="611"/>
                  </a:cubicBezTo>
                  <a:cubicBezTo>
                    <a:pt x="806" y="592"/>
                    <a:pt x="805" y="564"/>
                    <a:pt x="815" y="531"/>
                  </a:cubicBezTo>
                  <a:cubicBezTo>
                    <a:pt x="825" y="498"/>
                    <a:pt x="840" y="450"/>
                    <a:pt x="851" y="415"/>
                  </a:cubicBezTo>
                  <a:cubicBezTo>
                    <a:pt x="862" y="380"/>
                    <a:pt x="869" y="353"/>
                    <a:pt x="880" y="320"/>
                  </a:cubicBezTo>
                  <a:cubicBezTo>
                    <a:pt x="891" y="287"/>
                    <a:pt x="905" y="246"/>
                    <a:pt x="916" y="218"/>
                  </a:cubicBezTo>
                  <a:cubicBezTo>
                    <a:pt x="927" y="190"/>
                    <a:pt x="932" y="183"/>
                    <a:pt x="945" y="153"/>
                  </a:cubicBezTo>
                  <a:cubicBezTo>
                    <a:pt x="958" y="123"/>
                    <a:pt x="978" y="61"/>
                    <a:pt x="996" y="37"/>
                  </a:cubicBezTo>
                  <a:cubicBezTo>
                    <a:pt x="1014" y="13"/>
                    <a:pt x="1042" y="0"/>
                    <a:pt x="1055" y="7"/>
                  </a:cubicBezTo>
                  <a:cubicBezTo>
                    <a:pt x="1068" y="14"/>
                    <a:pt x="1068" y="56"/>
                    <a:pt x="1076" y="80"/>
                  </a:cubicBezTo>
                  <a:cubicBezTo>
                    <a:pt x="1084" y="104"/>
                    <a:pt x="1100" y="131"/>
                    <a:pt x="1105" y="153"/>
                  </a:cubicBezTo>
                  <a:cubicBezTo>
                    <a:pt x="1110" y="175"/>
                    <a:pt x="1102" y="189"/>
                    <a:pt x="1105" y="211"/>
                  </a:cubicBezTo>
                  <a:cubicBezTo>
                    <a:pt x="1108" y="233"/>
                    <a:pt x="1109" y="273"/>
                    <a:pt x="1120" y="284"/>
                  </a:cubicBezTo>
                  <a:cubicBezTo>
                    <a:pt x="1131" y="295"/>
                    <a:pt x="1160" y="288"/>
                    <a:pt x="1171" y="277"/>
                  </a:cubicBezTo>
                  <a:cubicBezTo>
                    <a:pt x="1182" y="266"/>
                    <a:pt x="1181" y="240"/>
                    <a:pt x="1185" y="218"/>
                  </a:cubicBezTo>
                  <a:cubicBezTo>
                    <a:pt x="1189" y="196"/>
                    <a:pt x="1180" y="154"/>
                    <a:pt x="1193" y="146"/>
                  </a:cubicBezTo>
                  <a:cubicBezTo>
                    <a:pt x="1206" y="138"/>
                    <a:pt x="1252" y="150"/>
                    <a:pt x="1265" y="167"/>
                  </a:cubicBezTo>
                  <a:cubicBezTo>
                    <a:pt x="1278" y="184"/>
                    <a:pt x="1271" y="226"/>
                    <a:pt x="1273" y="247"/>
                  </a:cubicBezTo>
                  <a:cubicBezTo>
                    <a:pt x="1275" y="268"/>
                    <a:pt x="1276" y="270"/>
                    <a:pt x="1280" y="291"/>
                  </a:cubicBezTo>
                  <a:cubicBezTo>
                    <a:pt x="1284" y="312"/>
                    <a:pt x="1292" y="350"/>
                    <a:pt x="1294" y="371"/>
                  </a:cubicBezTo>
                  <a:cubicBezTo>
                    <a:pt x="1296" y="392"/>
                    <a:pt x="1292" y="396"/>
                    <a:pt x="1294" y="415"/>
                  </a:cubicBezTo>
                  <a:cubicBezTo>
                    <a:pt x="1296" y="434"/>
                    <a:pt x="1304" y="464"/>
                    <a:pt x="1309" y="487"/>
                  </a:cubicBezTo>
                  <a:cubicBezTo>
                    <a:pt x="1314" y="510"/>
                    <a:pt x="1314" y="530"/>
                    <a:pt x="1324" y="553"/>
                  </a:cubicBezTo>
                  <a:cubicBezTo>
                    <a:pt x="1334" y="576"/>
                    <a:pt x="1356" y="601"/>
                    <a:pt x="1367" y="626"/>
                  </a:cubicBezTo>
                  <a:cubicBezTo>
                    <a:pt x="1378" y="651"/>
                    <a:pt x="1372" y="689"/>
                    <a:pt x="1389" y="706"/>
                  </a:cubicBezTo>
                  <a:cubicBezTo>
                    <a:pt x="1406" y="723"/>
                    <a:pt x="1438" y="728"/>
                    <a:pt x="1469" y="727"/>
                  </a:cubicBezTo>
                  <a:cubicBezTo>
                    <a:pt x="1500" y="726"/>
                    <a:pt x="1554" y="725"/>
                    <a:pt x="1578" y="698"/>
                  </a:cubicBezTo>
                  <a:cubicBezTo>
                    <a:pt x="1602" y="671"/>
                    <a:pt x="1600" y="606"/>
                    <a:pt x="1614" y="567"/>
                  </a:cubicBezTo>
                  <a:cubicBezTo>
                    <a:pt x="1628" y="528"/>
                    <a:pt x="1654" y="498"/>
                    <a:pt x="1665" y="466"/>
                  </a:cubicBezTo>
                  <a:cubicBezTo>
                    <a:pt x="1676" y="434"/>
                    <a:pt x="1669" y="416"/>
                    <a:pt x="1680" y="378"/>
                  </a:cubicBezTo>
                  <a:cubicBezTo>
                    <a:pt x="1691" y="340"/>
                    <a:pt x="1707" y="274"/>
                    <a:pt x="1731" y="240"/>
                  </a:cubicBezTo>
                  <a:cubicBezTo>
                    <a:pt x="1755" y="206"/>
                    <a:pt x="1800" y="181"/>
                    <a:pt x="1825" y="175"/>
                  </a:cubicBezTo>
                  <a:cubicBezTo>
                    <a:pt x="1850" y="169"/>
                    <a:pt x="1871" y="184"/>
                    <a:pt x="1884" y="204"/>
                  </a:cubicBezTo>
                  <a:cubicBezTo>
                    <a:pt x="1897" y="224"/>
                    <a:pt x="1898" y="274"/>
                    <a:pt x="1905" y="298"/>
                  </a:cubicBezTo>
                  <a:cubicBezTo>
                    <a:pt x="1912" y="322"/>
                    <a:pt x="1920" y="330"/>
                    <a:pt x="1927" y="349"/>
                  </a:cubicBezTo>
                  <a:cubicBezTo>
                    <a:pt x="1934" y="368"/>
                    <a:pt x="1942" y="394"/>
                    <a:pt x="1949" y="415"/>
                  </a:cubicBezTo>
                  <a:cubicBezTo>
                    <a:pt x="1956" y="436"/>
                    <a:pt x="1961" y="444"/>
                    <a:pt x="1971" y="473"/>
                  </a:cubicBezTo>
                  <a:cubicBezTo>
                    <a:pt x="1981" y="502"/>
                    <a:pt x="1996" y="564"/>
                    <a:pt x="2007" y="589"/>
                  </a:cubicBezTo>
                  <a:cubicBezTo>
                    <a:pt x="2018" y="614"/>
                    <a:pt x="2023" y="616"/>
                    <a:pt x="2036" y="626"/>
                  </a:cubicBezTo>
                  <a:cubicBezTo>
                    <a:pt x="2049" y="636"/>
                    <a:pt x="2073" y="652"/>
                    <a:pt x="2087" y="647"/>
                  </a:cubicBezTo>
                  <a:cubicBezTo>
                    <a:pt x="2101" y="642"/>
                    <a:pt x="2109" y="619"/>
                    <a:pt x="2123" y="597"/>
                  </a:cubicBezTo>
                  <a:cubicBezTo>
                    <a:pt x="2137" y="575"/>
                    <a:pt x="2164" y="532"/>
                    <a:pt x="2174" y="515"/>
                  </a:cubicBezTo>
                </a:path>
              </a:pathLst>
            </a:custGeom>
            <a:noFill/>
            <a:ln w="28575"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9" name="Freeform 8"/>
            <p:cNvSpPr/>
            <p:nvPr/>
          </p:nvSpPr>
          <p:spPr bwMode="auto">
            <a:xfrm>
              <a:off x="3182" y="1144"/>
              <a:ext cx="956" cy="679"/>
            </a:xfrm>
            <a:custGeom>
              <a:avLst/>
              <a:gdLst>
                <a:gd name="T0" fmla="*/ 0 w 956"/>
                <a:gd name="T1" fmla="*/ 459 h 679"/>
                <a:gd name="T2" fmla="*/ 25 w 956"/>
                <a:gd name="T3" fmla="*/ 434 h 679"/>
                <a:gd name="T4" fmla="*/ 61 w 956"/>
                <a:gd name="T5" fmla="*/ 405 h 679"/>
                <a:gd name="T6" fmla="*/ 127 w 956"/>
                <a:gd name="T7" fmla="*/ 456 h 679"/>
                <a:gd name="T8" fmla="*/ 127 w 956"/>
                <a:gd name="T9" fmla="*/ 507 h 679"/>
                <a:gd name="T10" fmla="*/ 141 w 956"/>
                <a:gd name="T11" fmla="*/ 594 h 679"/>
                <a:gd name="T12" fmla="*/ 192 w 956"/>
                <a:gd name="T13" fmla="*/ 631 h 679"/>
                <a:gd name="T14" fmla="*/ 236 w 956"/>
                <a:gd name="T15" fmla="*/ 674 h 679"/>
                <a:gd name="T16" fmla="*/ 287 w 956"/>
                <a:gd name="T17" fmla="*/ 660 h 679"/>
                <a:gd name="T18" fmla="*/ 309 w 956"/>
                <a:gd name="T19" fmla="*/ 616 h 679"/>
                <a:gd name="T20" fmla="*/ 316 w 956"/>
                <a:gd name="T21" fmla="*/ 565 h 679"/>
                <a:gd name="T22" fmla="*/ 338 w 956"/>
                <a:gd name="T23" fmla="*/ 507 h 679"/>
                <a:gd name="T24" fmla="*/ 352 w 956"/>
                <a:gd name="T25" fmla="*/ 456 h 679"/>
                <a:gd name="T26" fmla="*/ 359 w 956"/>
                <a:gd name="T27" fmla="*/ 398 h 679"/>
                <a:gd name="T28" fmla="*/ 374 w 956"/>
                <a:gd name="T29" fmla="*/ 267 h 679"/>
                <a:gd name="T30" fmla="*/ 374 w 956"/>
                <a:gd name="T31" fmla="*/ 202 h 679"/>
                <a:gd name="T32" fmla="*/ 410 w 956"/>
                <a:gd name="T33" fmla="*/ 143 h 679"/>
                <a:gd name="T34" fmla="*/ 439 w 956"/>
                <a:gd name="T35" fmla="*/ 78 h 679"/>
                <a:gd name="T36" fmla="*/ 490 w 956"/>
                <a:gd name="T37" fmla="*/ 63 h 679"/>
                <a:gd name="T38" fmla="*/ 512 w 956"/>
                <a:gd name="T39" fmla="*/ 122 h 679"/>
                <a:gd name="T40" fmla="*/ 556 w 956"/>
                <a:gd name="T41" fmla="*/ 100 h 679"/>
                <a:gd name="T42" fmla="*/ 592 w 956"/>
                <a:gd name="T43" fmla="*/ 71 h 679"/>
                <a:gd name="T44" fmla="*/ 621 w 956"/>
                <a:gd name="T45" fmla="*/ 27 h 679"/>
                <a:gd name="T46" fmla="*/ 658 w 956"/>
                <a:gd name="T47" fmla="*/ 5 h 679"/>
                <a:gd name="T48" fmla="*/ 679 w 956"/>
                <a:gd name="T49" fmla="*/ 56 h 679"/>
                <a:gd name="T50" fmla="*/ 694 w 956"/>
                <a:gd name="T51" fmla="*/ 100 h 679"/>
                <a:gd name="T52" fmla="*/ 716 w 956"/>
                <a:gd name="T53" fmla="*/ 165 h 679"/>
                <a:gd name="T54" fmla="*/ 738 w 956"/>
                <a:gd name="T55" fmla="*/ 260 h 679"/>
                <a:gd name="T56" fmla="*/ 774 w 956"/>
                <a:gd name="T57" fmla="*/ 420 h 679"/>
                <a:gd name="T58" fmla="*/ 796 w 956"/>
                <a:gd name="T59" fmla="*/ 485 h 679"/>
                <a:gd name="T60" fmla="*/ 825 w 956"/>
                <a:gd name="T61" fmla="*/ 558 h 679"/>
                <a:gd name="T62" fmla="*/ 868 w 956"/>
                <a:gd name="T63" fmla="*/ 558 h 679"/>
                <a:gd name="T64" fmla="*/ 919 w 956"/>
                <a:gd name="T65" fmla="*/ 522 h 679"/>
                <a:gd name="T66" fmla="*/ 956 w 956"/>
                <a:gd name="T67" fmla="*/ 459 h 67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56" h="679">
                  <a:moveTo>
                    <a:pt x="0" y="459"/>
                  </a:moveTo>
                  <a:cubicBezTo>
                    <a:pt x="4" y="456"/>
                    <a:pt x="15" y="443"/>
                    <a:pt x="25" y="434"/>
                  </a:cubicBezTo>
                  <a:cubicBezTo>
                    <a:pt x="35" y="425"/>
                    <a:pt x="44" y="401"/>
                    <a:pt x="61" y="405"/>
                  </a:cubicBezTo>
                  <a:cubicBezTo>
                    <a:pt x="78" y="409"/>
                    <a:pt x="116" y="439"/>
                    <a:pt x="127" y="456"/>
                  </a:cubicBezTo>
                  <a:cubicBezTo>
                    <a:pt x="138" y="473"/>
                    <a:pt x="125" y="484"/>
                    <a:pt x="127" y="507"/>
                  </a:cubicBezTo>
                  <a:cubicBezTo>
                    <a:pt x="129" y="530"/>
                    <a:pt x="130" y="573"/>
                    <a:pt x="141" y="594"/>
                  </a:cubicBezTo>
                  <a:cubicBezTo>
                    <a:pt x="152" y="615"/>
                    <a:pt x="176" y="618"/>
                    <a:pt x="192" y="631"/>
                  </a:cubicBezTo>
                  <a:cubicBezTo>
                    <a:pt x="208" y="644"/>
                    <a:pt x="220" y="669"/>
                    <a:pt x="236" y="674"/>
                  </a:cubicBezTo>
                  <a:cubicBezTo>
                    <a:pt x="252" y="679"/>
                    <a:pt x="275" y="670"/>
                    <a:pt x="287" y="660"/>
                  </a:cubicBezTo>
                  <a:cubicBezTo>
                    <a:pt x="299" y="650"/>
                    <a:pt x="304" y="632"/>
                    <a:pt x="309" y="616"/>
                  </a:cubicBezTo>
                  <a:cubicBezTo>
                    <a:pt x="314" y="600"/>
                    <a:pt x="311" y="583"/>
                    <a:pt x="316" y="565"/>
                  </a:cubicBezTo>
                  <a:cubicBezTo>
                    <a:pt x="321" y="547"/>
                    <a:pt x="332" y="525"/>
                    <a:pt x="338" y="507"/>
                  </a:cubicBezTo>
                  <a:cubicBezTo>
                    <a:pt x="344" y="489"/>
                    <a:pt x="349" y="474"/>
                    <a:pt x="352" y="456"/>
                  </a:cubicBezTo>
                  <a:cubicBezTo>
                    <a:pt x="355" y="438"/>
                    <a:pt x="355" y="429"/>
                    <a:pt x="359" y="398"/>
                  </a:cubicBezTo>
                  <a:cubicBezTo>
                    <a:pt x="363" y="367"/>
                    <a:pt x="372" y="300"/>
                    <a:pt x="374" y="267"/>
                  </a:cubicBezTo>
                  <a:cubicBezTo>
                    <a:pt x="376" y="234"/>
                    <a:pt x="368" y="223"/>
                    <a:pt x="374" y="202"/>
                  </a:cubicBezTo>
                  <a:cubicBezTo>
                    <a:pt x="380" y="181"/>
                    <a:pt x="399" y="164"/>
                    <a:pt x="410" y="143"/>
                  </a:cubicBezTo>
                  <a:cubicBezTo>
                    <a:pt x="421" y="122"/>
                    <a:pt x="426" y="91"/>
                    <a:pt x="439" y="78"/>
                  </a:cubicBezTo>
                  <a:cubicBezTo>
                    <a:pt x="452" y="65"/>
                    <a:pt x="478" y="56"/>
                    <a:pt x="490" y="63"/>
                  </a:cubicBezTo>
                  <a:cubicBezTo>
                    <a:pt x="502" y="70"/>
                    <a:pt x="501" y="116"/>
                    <a:pt x="512" y="122"/>
                  </a:cubicBezTo>
                  <a:cubicBezTo>
                    <a:pt x="523" y="128"/>
                    <a:pt x="543" y="108"/>
                    <a:pt x="556" y="100"/>
                  </a:cubicBezTo>
                  <a:cubicBezTo>
                    <a:pt x="569" y="92"/>
                    <a:pt x="581" y="83"/>
                    <a:pt x="592" y="71"/>
                  </a:cubicBezTo>
                  <a:cubicBezTo>
                    <a:pt x="603" y="59"/>
                    <a:pt x="610" y="38"/>
                    <a:pt x="621" y="27"/>
                  </a:cubicBezTo>
                  <a:cubicBezTo>
                    <a:pt x="632" y="16"/>
                    <a:pt x="648" y="0"/>
                    <a:pt x="658" y="5"/>
                  </a:cubicBezTo>
                  <a:cubicBezTo>
                    <a:pt x="668" y="10"/>
                    <a:pt x="673" y="40"/>
                    <a:pt x="679" y="56"/>
                  </a:cubicBezTo>
                  <a:cubicBezTo>
                    <a:pt x="685" y="72"/>
                    <a:pt x="688" y="82"/>
                    <a:pt x="694" y="100"/>
                  </a:cubicBezTo>
                  <a:cubicBezTo>
                    <a:pt x="700" y="118"/>
                    <a:pt x="709" y="138"/>
                    <a:pt x="716" y="165"/>
                  </a:cubicBezTo>
                  <a:cubicBezTo>
                    <a:pt x="723" y="192"/>
                    <a:pt x="728" y="218"/>
                    <a:pt x="738" y="260"/>
                  </a:cubicBezTo>
                  <a:cubicBezTo>
                    <a:pt x="748" y="302"/>
                    <a:pt x="764" y="383"/>
                    <a:pt x="774" y="420"/>
                  </a:cubicBezTo>
                  <a:cubicBezTo>
                    <a:pt x="784" y="457"/>
                    <a:pt x="787" y="462"/>
                    <a:pt x="796" y="485"/>
                  </a:cubicBezTo>
                  <a:cubicBezTo>
                    <a:pt x="805" y="508"/>
                    <a:pt x="813" y="546"/>
                    <a:pt x="825" y="558"/>
                  </a:cubicBezTo>
                  <a:cubicBezTo>
                    <a:pt x="837" y="570"/>
                    <a:pt x="853" y="564"/>
                    <a:pt x="868" y="558"/>
                  </a:cubicBezTo>
                  <a:cubicBezTo>
                    <a:pt x="883" y="552"/>
                    <a:pt x="904" y="538"/>
                    <a:pt x="919" y="522"/>
                  </a:cubicBezTo>
                  <a:cubicBezTo>
                    <a:pt x="934" y="506"/>
                    <a:pt x="948" y="472"/>
                    <a:pt x="956" y="459"/>
                  </a:cubicBezTo>
                </a:path>
              </a:pathLst>
            </a:custGeom>
            <a:noFill/>
            <a:ln w="28575"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50" name="Freeform 9"/>
            <p:cNvSpPr/>
            <p:nvPr/>
          </p:nvSpPr>
          <p:spPr bwMode="auto">
            <a:xfrm>
              <a:off x="4411" y="1082"/>
              <a:ext cx="650" cy="705"/>
            </a:xfrm>
            <a:custGeom>
              <a:avLst/>
              <a:gdLst>
                <a:gd name="T0" fmla="*/ 0 w 650"/>
                <a:gd name="T1" fmla="*/ 137 h 705"/>
                <a:gd name="T2" fmla="*/ 39 w 650"/>
                <a:gd name="T3" fmla="*/ 53 h 705"/>
                <a:gd name="T4" fmla="*/ 98 w 650"/>
                <a:gd name="T5" fmla="*/ 2 h 705"/>
                <a:gd name="T6" fmla="*/ 134 w 650"/>
                <a:gd name="T7" fmla="*/ 38 h 705"/>
                <a:gd name="T8" fmla="*/ 192 w 650"/>
                <a:gd name="T9" fmla="*/ 184 h 705"/>
                <a:gd name="T10" fmla="*/ 199 w 650"/>
                <a:gd name="T11" fmla="*/ 264 h 705"/>
                <a:gd name="T12" fmla="*/ 207 w 650"/>
                <a:gd name="T13" fmla="*/ 336 h 705"/>
                <a:gd name="T14" fmla="*/ 214 w 650"/>
                <a:gd name="T15" fmla="*/ 504 h 705"/>
                <a:gd name="T16" fmla="*/ 229 w 650"/>
                <a:gd name="T17" fmla="*/ 569 h 705"/>
                <a:gd name="T18" fmla="*/ 243 w 650"/>
                <a:gd name="T19" fmla="*/ 620 h 705"/>
                <a:gd name="T20" fmla="*/ 265 w 650"/>
                <a:gd name="T21" fmla="*/ 664 h 705"/>
                <a:gd name="T22" fmla="*/ 309 w 650"/>
                <a:gd name="T23" fmla="*/ 700 h 705"/>
                <a:gd name="T24" fmla="*/ 359 w 650"/>
                <a:gd name="T25" fmla="*/ 693 h 705"/>
                <a:gd name="T26" fmla="*/ 388 w 650"/>
                <a:gd name="T27" fmla="*/ 634 h 705"/>
                <a:gd name="T28" fmla="*/ 425 w 650"/>
                <a:gd name="T29" fmla="*/ 554 h 705"/>
                <a:gd name="T30" fmla="*/ 454 w 650"/>
                <a:gd name="T31" fmla="*/ 511 h 705"/>
                <a:gd name="T32" fmla="*/ 454 w 650"/>
                <a:gd name="T33" fmla="*/ 402 h 705"/>
                <a:gd name="T34" fmla="*/ 490 w 650"/>
                <a:gd name="T35" fmla="*/ 380 h 705"/>
                <a:gd name="T36" fmla="*/ 490 w 650"/>
                <a:gd name="T37" fmla="*/ 293 h 705"/>
                <a:gd name="T38" fmla="*/ 519 w 650"/>
                <a:gd name="T39" fmla="*/ 184 h 705"/>
                <a:gd name="T40" fmla="*/ 578 w 650"/>
                <a:gd name="T41" fmla="*/ 169 h 705"/>
                <a:gd name="T42" fmla="*/ 592 w 650"/>
                <a:gd name="T43" fmla="*/ 213 h 705"/>
                <a:gd name="T44" fmla="*/ 614 w 650"/>
                <a:gd name="T45" fmla="*/ 285 h 705"/>
                <a:gd name="T46" fmla="*/ 636 w 650"/>
                <a:gd name="T47" fmla="*/ 336 h 705"/>
                <a:gd name="T48" fmla="*/ 650 w 650"/>
                <a:gd name="T49" fmla="*/ 380 h 70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50" h="705">
                  <a:moveTo>
                    <a:pt x="0" y="137"/>
                  </a:moveTo>
                  <a:cubicBezTo>
                    <a:pt x="7" y="124"/>
                    <a:pt x="23" y="75"/>
                    <a:pt x="39" y="53"/>
                  </a:cubicBezTo>
                  <a:cubicBezTo>
                    <a:pt x="55" y="31"/>
                    <a:pt x="82" y="4"/>
                    <a:pt x="98" y="2"/>
                  </a:cubicBezTo>
                  <a:cubicBezTo>
                    <a:pt x="114" y="0"/>
                    <a:pt x="118" y="8"/>
                    <a:pt x="134" y="38"/>
                  </a:cubicBezTo>
                  <a:cubicBezTo>
                    <a:pt x="150" y="68"/>
                    <a:pt x="181" y="146"/>
                    <a:pt x="192" y="184"/>
                  </a:cubicBezTo>
                  <a:cubicBezTo>
                    <a:pt x="203" y="222"/>
                    <a:pt x="197" y="239"/>
                    <a:pt x="199" y="264"/>
                  </a:cubicBezTo>
                  <a:cubicBezTo>
                    <a:pt x="201" y="289"/>
                    <a:pt x="205" y="296"/>
                    <a:pt x="207" y="336"/>
                  </a:cubicBezTo>
                  <a:cubicBezTo>
                    <a:pt x="209" y="376"/>
                    <a:pt x="210" y="465"/>
                    <a:pt x="214" y="504"/>
                  </a:cubicBezTo>
                  <a:cubicBezTo>
                    <a:pt x="218" y="543"/>
                    <a:pt x="224" y="550"/>
                    <a:pt x="229" y="569"/>
                  </a:cubicBezTo>
                  <a:cubicBezTo>
                    <a:pt x="234" y="588"/>
                    <a:pt x="237" y="604"/>
                    <a:pt x="243" y="620"/>
                  </a:cubicBezTo>
                  <a:cubicBezTo>
                    <a:pt x="249" y="636"/>
                    <a:pt x="254" y="651"/>
                    <a:pt x="265" y="664"/>
                  </a:cubicBezTo>
                  <a:cubicBezTo>
                    <a:pt x="276" y="677"/>
                    <a:pt x="293" y="695"/>
                    <a:pt x="309" y="700"/>
                  </a:cubicBezTo>
                  <a:cubicBezTo>
                    <a:pt x="325" y="705"/>
                    <a:pt x="346" y="704"/>
                    <a:pt x="359" y="693"/>
                  </a:cubicBezTo>
                  <a:cubicBezTo>
                    <a:pt x="372" y="682"/>
                    <a:pt x="377" y="657"/>
                    <a:pt x="388" y="634"/>
                  </a:cubicBezTo>
                  <a:cubicBezTo>
                    <a:pt x="399" y="611"/>
                    <a:pt x="414" y="574"/>
                    <a:pt x="425" y="554"/>
                  </a:cubicBezTo>
                  <a:cubicBezTo>
                    <a:pt x="436" y="534"/>
                    <a:pt x="449" y="536"/>
                    <a:pt x="454" y="511"/>
                  </a:cubicBezTo>
                  <a:cubicBezTo>
                    <a:pt x="459" y="486"/>
                    <a:pt x="448" y="424"/>
                    <a:pt x="454" y="402"/>
                  </a:cubicBezTo>
                  <a:cubicBezTo>
                    <a:pt x="460" y="380"/>
                    <a:pt x="484" y="398"/>
                    <a:pt x="490" y="380"/>
                  </a:cubicBezTo>
                  <a:cubicBezTo>
                    <a:pt x="496" y="362"/>
                    <a:pt x="485" y="326"/>
                    <a:pt x="490" y="293"/>
                  </a:cubicBezTo>
                  <a:cubicBezTo>
                    <a:pt x="495" y="260"/>
                    <a:pt x="504" y="205"/>
                    <a:pt x="519" y="184"/>
                  </a:cubicBezTo>
                  <a:cubicBezTo>
                    <a:pt x="534" y="163"/>
                    <a:pt x="566" y="164"/>
                    <a:pt x="578" y="169"/>
                  </a:cubicBezTo>
                  <a:cubicBezTo>
                    <a:pt x="590" y="174"/>
                    <a:pt x="586" y="194"/>
                    <a:pt x="592" y="213"/>
                  </a:cubicBezTo>
                  <a:cubicBezTo>
                    <a:pt x="598" y="232"/>
                    <a:pt x="607" y="265"/>
                    <a:pt x="614" y="285"/>
                  </a:cubicBezTo>
                  <a:cubicBezTo>
                    <a:pt x="621" y="305"/>
                    <a:pt x="630" y="320"/>
                    <a:pt x="636" y="336"/>
                  </a:cubicBezTo>
                  <a:cubicBezTo>
                    <a:pt x="642" y="352"/>
                    <a:pt x="648" y="374"/>
                    <a:pt x="650" y="380"/>
                  </a:cubicBezTo>
                </a:path>
              </a:pathLst>
            </a:custGeom>
            <a:noFill/>
            <a:ln w="28575"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7178" name="Line 10"/>
          <p:cNvSpPr>
            <a:spLocks noChangeShapeType="1"/>
          </p:cNvSpPr>
          <p:nvPr/>
        </p:nvSpPr>
        <p:spPr bwMode="auto">
          <a:xfrm>
            <a:off x="1614488" y="3994150"/>
            <a:ext cx="6048375" cy="0"/>
          </a:xfrm>
          <a:prstGeom prst="line">
            <a:avLst/>
          </a:prstGeom>
          <a:noFill/>
          <a:ln w="19050">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9" name="Text Box 11"/>
          <p:cNvSpPr txBox="1">
            <a:spLocks noChangeArrowheads="1"/>
          </p:cNvSpPr>
          <p:nvPr/>
        </p:nvSpPr>
        <p:spPr bwMode="auto">
          <a:xfrm>
            <a:off x="4424363" y="3638550"/>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chemeClr val="tx2"/>
                </a:solidFill>
              </a:rPr>
              <a:t>lr</a:t>
            </a:r>
            <a:endParaRPr lang="en-US" altLang="zh-CN" b="1" i="1">
              <a:solidFill>
                <a:schemeClr val="tx2"/>
              </a:solidFill>
            </a:endParaRPr>
          </a:p>
        </p:txBody>
      </p:sp>
      <p:grpSp>
        <p:nvGrpSpPr>
          <p:cNvPr id="7180" name="Group 12"/>
          <p:cNvGrpSpPr/>
          <p:nvPr/>
        </p:nvGrpSpPr>
        <p:grpSpPr bwMode="auto">
          <a:xfrm>
            <a:off x="1649413" y="2668588"/>
            <a:ext cx="6013450" cy="1119187"/>
            <a:chOff x="1135" y="1091"/>
            <a:chExt cx="3788" cy="705"/>
          </a:xfrm>
        </p:grpSpPr>
        <p:sp>
          <p:nvSpPr>
            <p:cNvPr id="6205" name="Line 13"/>
            <p:cNvSpPr>
              <a:spLocks noChangeShapeType="1"/>
            </p:cNvSpPr>
            <p:nvPr/>
          </p:nvSpPr>
          <p:spPr bwMode="auto">
            <a:xfrm>
              <a:off x="1135" y="1338"/>
              <a:ext cx="0" cy="124"/>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06" name="Line 14"/>
            <p:cNvSpPr>
              <a:spLocks noChangeShapeType="1"/>
            </p:cNvSpPr>
            <p:nvPr/>
          </p:nvSpPr>
          <p:spPr bwMode="auto">
            <a:xfrm>
              <a:off x="1214" y="1273"/>
              <a:ext cx="0" cy="182"/>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07" name="Line 15"/>
            <p:cNvSpPr>
              <a:spLocks noChangeShapeType="1"/>
            </p:cNvSpPr>
            <p:nvPr/>
          </p:nvSpPr>
          <p:spPr bwMode="auto">
            <a:xfrm>
              <a:off x="1294" y="1244"/>
              <a:ext cx="1" cy="21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08" name="Line 16"/>
            <p:cNvSpPr>
              <a:spLocks noChangeShapeType="1"/>
            </p:cNvSpPr>
            <p:nvPr/>
          </p:nvSpPr>
          <p:spPr bwMode="auto">
            <a:xfrm>
              <a:off x="1374" y="1229"/>
              <a:ext cx="0" cy="226"/>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09" name="Line 17"/>
            <p:cNvSpPr>
              <a:spLocks noChangeShapeType="1"/>
            </p:cNvSpPr>
            <p:nvPr/>
          </p:nvSpPr>
          <p:spPr bwMode="auto">
            <a:xfrm>
              <a:off x="1454" y="1135"/>
              <a:ext cx="0" cy="32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10" name="Line 18"/>
            <p:cNvSpPr>
              <a:spLocks noChangeShapeType="1"/>
            </p:cNvSpPr>
            <p:nvPr/>
          </p:nvSpPr>
          <p:spPr bwMode="auto">
            <a:xfrm>
              <a:off x="1612" y="1450"/>
              <a:ext cx="2" cy="20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11" name="Line 19"/>
            <p:cNvSpPr>
              <a:spLocks noChangeShapeType="1"/>
            </p:cNvSpPr>
            <p:nvPr/>
          </p:nvSpPr>
          <p:spPr bwMode="auto">
            <a:xfrm>
              <a:off x="1695" y="1455"/>
              <a:ext cx="0" cy="276"/>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12" name="Line 20"/>
            <p:cNvSpPr>
              <a:spLocks noChangeShapeType="1"/>
            </p:cNvSpPr>
            <p:nvPr/>
          </p:nvSpPr>
          <p:spPr bwMode="auto">
            <a:xfrm>
              <a:off x="1775" y="1455"/>
              <a:ext cx="0" cy="254"/>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13" name="Line 21"/>
            <p:cNvSpPr>
              <a:spLocks noChangeShapeType="1"/>
            </p:cNvSpPr>
            <p:nvPr/>
          </p:nvSpPr>
          <p:spPr bwMode="auto">
            <a:xfrm>
              <a:off x="1854" y="1455"/>
              <a:ext cx="0" cy="87"/>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14" name="Line 22"/>
            <p:cNvSpPr>
              <a:spLocks noChangeShapeType="1"/>
            </p:cNvSpPr>
            <p:nvPr/>
          </p:nvSpPr>
          <p:spPr bwMode="auto">
            <a:xfrm>
              <a:off x="1934" y="1302"/>
              <a:ext cx="0" cy="153"/>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15" name="Line 23"/>
            <p:cNvSpPr>
              <a:spLocks noChangeShapeType="1"/>
            </p:cNvSpPr>
            <p:nvPr/>
          </p:nvSpPr>
          <p:spPr bwMode="auto">
            <a:xfrm>
              <a:off x="2013" y="1106"/>
              <a:ext cx="1" cy="349"/>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16" name="Line 24"/>
            <p:cNvSpPr>
              <a:spLocks noChangeShapeType="1"/>
            </p:cNvSpPr>
            <p:nvPr/>
          </p:nvSpPr>
          <p:spPr bwMode="auto">
            <a:xfrm flipV="1">
              <a:off x="2094" y="1135"/>
              <a:ext cx="0" cy="32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17" name="Line 25"/>
            <p:cNvSpPr>
              <a:spLocks noChangeShapeType="1"/>
            </p:cNvSpPr>
            <p:nvPr/>
          </p:nvSpPr>
          <p:spPr bwMode="auto">
            <a:xfrm flipV="1">
              <a:off x="2174" y="1360"/>
              <a:ext cx="0" cy="95"/>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18" name="Line 26"/>
            <p:cNvSpPr>
              <a:spLocks noChangeShapeType="1"/>
            </p:cNvSpPr>
            <p:nvPr/>
          </p:nvSpPr>
          <p:spPr bwMode="auto">
            <a:xfrm flipH="1" flipV="1">
              <a:off x="2262" y="1224"/>
              <a:ext cx="0" cy="23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19" name="Line 27"/>
            <p:cNvSpPr>
              <a:spLocks noChangeShapeType="1"/>
            </p:cNvSpPr>
            <p:nvPr/>
          </p:nvSpPr>
          <p:spPr bwMode="auto">
            <a:xfrm>
              <a:off x="2392" y="1455"/>
              <a:ext cx="0" cy="26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20" name="Line 28"/>
            <p:cNvSpPr>
              <a:spLocks noChangeShapeType="1"/>
            </p:cNvSpPr>
            <p:nvPr/>
          </p:nvSpPr>
          <p:spPr bwMode="auto">
            <a:xfrm>
              <a:off x="2473" y="1455"/>
              <a:ext cx="0" cy="34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21" name="Line 29"/>
            <p:cNvSpPr>
              <a:spLocks noChangeShapeType="1"/>
            </p:cNvSpPr>
            <p:nvPr/>
          </p:nvSpPr>
          <p:spPr bwMode="auto">
            <a:xfrm>
              <a:off x="2552" y="1462"/>
              <a:ext cx="0" cy="334"/>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22" name="Line 30"/>
            <p:cNvSpPr>
              <a:spLocks noChangeShapeType="1"/>
            </p:cNvSpPr>
            <p:nvPr/>
          </p:nvSpPr>
          <p:spPr bwMode="auto">
            <a:xfrm>
              <a:off x="2632" y="1455"/>
              <a:ext cx="0" cy="189"/>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23" name="Line 31"/>
            <p:cNvSpPr>
              <a:spLocks noChangeShapeType="1"/>
            </p:cNvSpPr>
            <p:nvPr/>
          </p:nvSpPr>
          <p:spPr bwMode="auto">
            <a:xfrm>
              <a:off x="2763" y="1295"/>
              <a:ext cx="0" cy="16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24" name="Line 32"/>
            <p:cNvSpPr>
              <a:spLocks noChangeShapeType="1"/>
            </p:cNvSpPr>
            <p:nvPr/>
          </p:nvSpPr>
          <p:spPr bwMode="auto">
            <a:xfrm>
              <a:off x="2851" y="1244"/>
              <a:ext cx="0" cy="21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25" name="Line 33"/>
            <p:cNvSpPr>
              <a:spLocks noChangeShapeType="1"/>
            </p:cNvSpPr>
            <p:nvPr/>
          </p:nvSpPr>
          <p:spPr bwMode="auto">
            <a:xfrm>
              <a:off x="3032" y="1455"/>
              <a:ext cx="0" cy="218"/>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26" name="Line 34"/>
            <p:cNvSpPr>
              <a:spLocks noChangeShapeType="1"/>
            </p:cNvSpPr>
            <p:nvPr/>
          </p:nvSpPr>
          <p:spPr bwMode="auto">
            <a:xfrm>
              <a:off x="3120" y="1452"/>
              <a:ext cx="0" cy="249"/>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27" name="Line 35"/>
            <p:cNvSpPr>
              <a:spLocks noChangeShapeType="1"/>
            </p:cNvSpPr>
            <p:nvPr/>
          </p:nvSpPr>
          <p:spPr bwMode="auto">
            <a:xfrm flipH="1">
              <a:off x="3207" y="1452"/>
              <a:ext cx="0" cy="126"/>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28" name="Line 36"/>
            <p:cNvSpPr>
              <a:spLocks noChangeShapeType="1"/>
            </p:cNvSpPr>
            <p:nvPr/>
          </p:nvSpPr>
          <p:spPr bwMode="auto">
            <a:xfrm>
              <a:off x="3292" y="1454"/>
              <a:ext cx="2" cy="132"/>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29" name="Line 37"/>
            <p:cNvSpPr>
              <a:spLocks noChangeShapeType="1"/>
            </p:cNvSpPr>
            <p:nvPr/>
          </p:nvSpPr>
          <p:spPr bwMode="auto">
            <a:xfrm>
              <a:off x="3381" y="1455"/>
              <a:ext cx="0" cy="327"/>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0" name="Line 38"/>
            <p:cNvSpPr>
              <a:spLocks noChangeShapeType="1"/>
            </p:cNvSpPr>
            <p:nvPr/>
          </p:nvSpPr>
          <p:spPr bwMode="auto">
            <a:xfrm>
              <a:off x="3469" y="1455"/>
              <a:ext cx="0" cy="34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1" name="Line 39"/>
            <p:cNvSpPr>
              <a:spLocks noChangeShapeType="1"/>
            </p:cNvSpPr>
            <p:nvPr/>
          </p:nvSpPr>
          <p:spPr bwMode="auto">
            <a:xfrm>
              <a:off x="3621" y="1229"/>
              <a:ext cx="0" cy="226"/>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2" name="Line 40"/>
            <p:cNvSpPr>
              <a:spLocks noChangeShapeType="1"/>
            </p:cNvSpPr>
            <p:nvPr/>
          </p:nvSpPr>
          <p:spPr bwMode="auto">
            <a:xfrm>
              <a:off x="3709" y="1266"/>
              <a:ext cx="0" cy="188"/>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33" name="Freeform 41"/>
            <p:cNvSpPr/>
            <p:nvPr/>
          </p:nvSpPr>
          <p:spPr bwMode="auto">
            <a:xfrm>
              <a:off x="3789" y="1184"/>
              <a:ext cx="1" cy="275"/>
            </a:xfrm>
            <a:custGeom>
              <a:avLst/>
              <a:gdLst>
                <a:gd name="T0" fmla="*/ 0 w 1"/>
                <a:gd name="T1" fmla="*/ 0 h 275"/>
                <a:gd name="T2" fmla="*/ 0 w 1"/>
                <a:gd name="T3" fmla="*/ 275 h 275"/>
                <a:gd name="T4" fmla="*/ 0 60000 65536"/>
                <a:gd name="T5" fmla="*/ 0 60000 65536"/>
              </a:gdLst>
              <a:ahLst/>
              <a:cxnLst>
                <a:cxn ang="T4">
                  <a:pos x="T0" y="T1"/>
                </a:cxn>
                <a:cxn ang="T5">
                  <a:pos x="T2" y="T3"/>
                </a:cxn>
              </a:cxnLst>
              <a:rect l="0" t="0" r="r" b="b"/>
              <a:pathLst>
                <a:path w="1" h="275">
                  <a:moveTo>
                    <a:pt x="0" y="0"/>
                  </a:moveTo>
                  <a:lnTo>
                    <a:pt x="0" y="275"/>
                  </a:lnTo>
                </a:path>
              </a:pathLst>
            </a:custGeom>
            <a:noFill/>
            <a:ln w="19050" cap="flat" cmpd="sng">
              <a:solidFill>
                <a:srgbClr val="FF3300"/>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34" name="Line 42"/>
            <p:cNvSpPr>
              <a:spLocks noChangeShapeType="1"/>
            </p:cNvSpPr>
            <p:nvPr/>
          </p:nvSpPr>
          <p:spPr bwMode="auto">
            <a:xfrm>
              <a:off x="3869" y="1222"/>
              <a:ext cx="0" cy="233"/>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5" name="Line 43"/>
            <p:cNvSpPr>
              <a:spLocks noChangeShapeType="1"/>
            </p:cNvSpPr>
            <p:nvPr/>
          </p:nvSpPr>
          <p:spPr bwMode="auto">
            <a:xfrm>
              <a:off x="4014" y="1455"/>
              <a:ext cx="0" cy="254"/>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6" name="Line 44"/>
            <p:cNvSpPr>
              <a:spLocks noChangeShapeType="1"/>
            </p:cNvSpPr>
            <p:nvPr/>
          </p:nvSpPr>
          <p:spPr bwMode="auto">
            <a:xfrm>
              <a:off x="4101" y="1455"/>
              <a:ext cx="0" cy="218"/>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7" name="Line 45"/>
            <p:cNvSpPr>
              <a:spLocks noChangeShapeType="1"/>
            </p:cNvSpPr>
            <p:nvPr/>
          </p:nvSpPr>
          <p:spPr bwMode="auto">
            <a:xfrm>
              <a:off x="4189" y="1455"/>
              <a:ext cx="0" cy="109"/>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8" name="Line 46"/>
            <p:cNvSpPr>
              <a:spLocks noChangeShapeType="1"/>
            </p:cNvSpPr>
            <p:nvPr/>
          </p:nvSpPr>
          <p:spPr bwMode="auto">
            <a:xfrm>
              <a:off x="4276" y="1455"/>
              <a:ext cx="0" cy="29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39" name="Line 47"/>
            <p:cNvSpPr>
              <a:spLocks noChangeShapeType="1"/>
            </p:cNvSpPr>
            <p:nvPr/>
          </p:nvSpPr>
          <p:spPr bwMode="auto">
            <a:xfrm flipH="1">
              <a:off x="4356" y="1455"/>
              <a:ext cx="0" cy="162"/>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240" name="Line 48"/>
            <p:cNvSpPr>
              <a:spLocks noChangeShapeType="1"/>
            </p:cNvSpPr>
            <p:nvPr/>
          </p:nvSpPr>
          <p:spPr bwMode="auto">
            <a:xfrm>
              <a:off x="4436" y="1178"/>
              <a:ext cx="0" cy="277"/>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1" name="Line 49"/>
            <p:cNvSpPr>
              <a:spLocks noChangeShapeType="1"/>
            </p:cNvSpPr>
            <p:nvPr/>
          </p:nvSpPr>
          <p:spPr bwMode="auto">
            <a:xfrm>
              <a:off x="4516" y="1091"/>
              <a:ext cx="0" cy="364"/>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2" name="Line 50"/>
            <p:cNvSpPr>
              <a:spLocks noChangeShapeType="1"/>
            </p:cNvSpPr>
            <p:nvPr/>
          </p:nvSpPr>
          <p:spPr bwMode="auto">
            <a:xfrm>
              <a:off x="4596" y="1244"/>
              <a:ext cx="0" cy="211"/>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3" name="Line 51"/>
            <p:cNvSpPr>
              <a:spLocks noChangeShapeType="1"/>
            </p:cNvSpPr>
            <p:nvPr/>
          </p:nvSpPr>
          <p:spPr bwMode="auto">
            <a:xfrm>
              <a:off x="4669" y="1455"/>
              <a:ext cx="0" cy="269"/>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4" name="Line 52"/>
            <p:cNvSpPr>
              <a:spLocks noChangeShapeType="1"/>
            </p:cNvSpPr>
            <p:nvPr/>
          </p:nvSpPr>
          <p:spPr bwMode="auto">
            <a:xfrm>
              <a:off x="4756" y="1455"/>
              <a:ext cx="0" cy="334"/>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5" name="Line 53"/>
            <p:cNvSpPr>
              <a:spLocks noChangeShapeType="1"/>
            </p:cNvSpPr>
            <p:nvPr/>
          </p:nvSpPr>
          <p:spPr bwMode="auto">
            <a:xfrm>
              <a:off x="4843" y="1455"/>
              <a:ext cx="0" cy="167"/>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46" name="Line 54"/>
            <p:cNvSpPr>
              <a:spLocks noChangeShapeType="1"/>
            </p:cNvSpPr>
            <p:nvPr/>
          </p:nvSpPr>
          <p:spPr bwMode="auto">
            <a:xfrm>
              <a:off x="4923" y="1287"/>
              <a:ext cx="0" cy="168"/>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6153" name="Text Box 55"/>
          <p:cNvSpPr txBox="1">
            <a:spLocks noChangeArrowheads="1"/>
          </p:cNvSpPr>
          <p:nvPr/>
        </p:nvSpPr>
        <p:spPr bwMode="auto">
          <a:xfrm>
            <a:off x="549275" y="127000"/>
            <a:ext cx="518318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轮廓算术平均偏差</a:t>
            </a:r>
            <a:r>
              <a:rPr lang="en-US" altLang="zh-CN" sz="2800" b="1"/>
              <a:t>——</a:t>
            </a:r>
            <a:r>
              <a:rPr lang="en-US" altLang="zh-CN" sz="2800" b="1" i="1">
                <a:solidFill>
                  <a:srgbClr val="FF3300"/>
                </a:solidFill>
                <a:latin typeface="宋体" panose="02010600030101010101" pitchFamily="2" charset="-122"/>
              </a:rPr>
              <a:t>R</a:t>
            </a:r>
            <a:r>
              <a:rPr lang="en-US" altLang="zh-CN" sz="2800" b="1" i="1">
                <a:solidFill>
                  <a:srgbClr val="FF3300"/>
                </a:solidFill>
              </a:rPr>
              <a:t>a</a:t>
            </a:r>
            <a:endParaRPr lang="en-US" altLang="zh-CN" sz="2800" b="1">
              <a:latin typeface="宋体" panose="02010600030101010101" pitchFamily="2" charset="-122"/>
            </a:endParaRPr>
          </a:p>
        </p:txBody>
      </p:sp>
      <p:sp>
        <p:nvSpPr>
          <p:cNvPr id="7224" name="Text Box 56"/>
          <p:cNvSpPr txBox="1">
            <a:spLocks noChangeArrowheads="1"/>
          </p:cNvSpPr>
          <p:nvPr/>
        </p:nvSpPr>
        <p:spPr bwMode="auto">
          <a:xfrm>
            <a:off x="1284288" y="2112963"/>
            <a:ext cx="3698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t>Z</a:t>
            </a:r>
            <a:endParaRPr lang="en-US" altLang="zh-CN" b="1" i="1"/>
          </a:p>
        </p:txBody>
      </p:sp>
      <p:sp>
        <p:nvSpPr>
          <p:cNvPr id="7225" name="Text Box 57"/>
          <p:cNvSpPr txBox="1">
            <a:spLocks noChangeArrowheads="1"/>
          </p:cNvSpPr>
          <p:nvPr/>
        </p:nvSpPr>
        <p:spPr bwMode="auto">
          <a:xfrm>
            <a:off x="7954963" y="2827338"/>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t>X</a:t>
            </a:r>
            <a:endParaRPr lang="en-US" altLang="zh-CN" b="1" i="1"/>
          </a:p>
        </p:txBody>
      </p:sp>
      <p:sp>
        <p:nvSpPr>
          <p:cNvPr id="7226" name="Text Box 58"/>
          <p:cNvSpPr txBox="1">
            <a:spLocks noChangeArrowheads="1"/>
          </p:cNvSpPr>
          <p:nvPr/>
        </p:nvSpPr>
        <p:spPr bwMode="auto">
          <a:xfrm>
            <a:off x="1252538" y="3233738"/>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t>O</a:t>
            </a:r>
            <a:endParaRPr lang="en-US" altLang="zh-CN" i="1"/>
          </a:p>
        </p:txBody>
      </p:sp>
      <p:grpSp>
        <p:nvGrpSpPr>
          <p:cNvPr id="7228" name="Group 60"/>
          <p:cNvGrpSpPr/>
          <p:nvPr/>
        </p:nvGrpSpPr>
        <p:grpSpPr bwMode="auto">
          <a:xfrm>
            <a:off x="1371600" y="2776538"/>
            <a:ext cx="0" cy="742950"/>
            <a:chOff x="960" y="1068"/>
            <a:chExt cx="0" cy="468"/>
          </a:xfrm>
        </p:grpSpPr>
        <p:sp>
          <p:nvSpPr>
            <p:cNvPr id="6202" name="Line 61"/>
            <p:cNvSpPr>
              <a:spLocks noChangeShapeType="1"/>
            </p:cNvSpPr>
            <p:nvPr/>
          </p:nvSpPr>
          <p:spPr bwMode="auto">
            <a:xfrm>
              <a:off x="960" y="1068"/>
              <a:ext cx="0" cy="46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3" name="Line 62"/>
            <p:cNvSpPr>
              <a:spLocks noChangeShapeType="1"/>
            </p:cNvSpPr>
            <p:nvPr/>
          </p:nvSpPr>
          <p:spPr bwMode="auto">
            <a:xfrm>
              <a:off x="960" y="1164"/>
              <a:ext cx="0" cy="60"/>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4" name="Line 63"/>
            <p:cNvSpPr>
              <a:spLocks noChangeShapeType="1"/>
            </p:cNvSpPr>
            <p:nvPr/>
          </p:nvSpPr>
          <p:spPr bwMode="auto">
            <a:xfrm flipV="1">
              <a:off x="960" y="1356"/>
              <a:ext cx="0" cy="96"/>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32" name="Text Box 64"/>
          <p:cNvSpPr txBox="1">
            <a:spLocks noChangeArrowheads="1"/>
          </p:cNvSpPr>
          <p:nvPr/>
        </p:nvSpPr>
        <p:spPr bwMode="auto">
          <a:xfrm rot="-5400000">
            <a:off x="812800" y="2868613"/>
            <a:ext cx="598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solidFill>
                  <a:srgbClr val="FF3300"/>
                </a:solidFill>
              </a:rPr>
              <a:t>Ra</a:t>
            </a:r>
            <a:endParaRPr lang="en-US" altLang="zh-CN" sz="2800" b="1"/>
          </a:p>
        </p:txBody>
      </p:sp>
      <p:sp>
        <p:nvSpPr>
          <p:cNvPr id="7233" name="Text Box 65"/>
          <p:cNvSpPr txBox="1">
            <a:spLocks noChangeArrowheads="1"/>
          </p:cNvSpPr>
          <p:nvPr/>
        </p:nvSpPr>
        <p:spPr bwMode="auto">
          <a:xfrm>
            <a:off x="549275" y="574675"/>
            <a:ext cx="7978775"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10000"/>
              </a:lnSpc>
            </a:pPr>
            <a:r>
              <a:rPr lang="en-US" altLang="zh-CN" sz="2800" b="1">
                <a:latin typeface="宋体" panose="02010600030101010101" pitchFamily="2" charset="-122"/>
              </a:rPr>
              <a:t>    </a:t>
            </a:r>
            <a:r>
              <a:rPr lang="zh-CN" altLang="en-US" sz="2800" b="1">
                <a:latin typeface="宋体" panose="02010600030101010101" pitchFamily="2" charset="-122"/>
              </a:rPr>
              <a:t>在一个取样长度</a:t>
            </a:r>
            <a:r>
              <a:rPr lang="en-US" altLang="zh-CN" sz="2800" b="1" i="1">
                <a:latin typeface="Italic" panose="00000400000000000000" pitchFamily="2" charset="0"/>
              </a:rPr>
              <a:t>l</a:t>
            </a:r>
            <a:r>
              <a:rPr lang="en-US" altLang="zh-CN" sz="2800" b="1" i="1">
                <a:latin typeface="宋体" panose="02010600030101010101" pitchFamily="2" charset="-122"/>
              </a:rPr>
              <a:t>r</a:t>
            </a:r>
            <a:r>
              <a:rPr lang="zh-CN" altLang="en-US" sz="2800" b="1">
                <a:latin typeface="宋体" panose="02010600030101010101" pitchFamily="2" charset="-122"/>
              </a:rPr>
              <a:t>内</a:t>
            </a:r>
            <a:r>
              <a:rPr lang="en-US" altLang="zh-CN" sz="2800" b="1">
                <a:latin typeface="宋体" panose="02010600030101010101" pitchFamily="2" charset="-122"/>
              </a:rPr>
              <a:t>,</a:t>
            </a:r>
            <a:r>
              <a:rPr lang="zh-CN" altLang="en-US" sz="2800" b="1">
                <a:latin typeface="宋体" panose="02010600030101010101" pitchFamily="2" charset="-122"/>
              </a:rPr>
              <a:t>纵坐标值</a:t>
            </a:r>
            <a:r>
              <a:rPr lang="en-US" altLang="zh-CN" sz="2800" b="1" i="1">
                <a:latin typeface="宋体" panose="02010600030101010101" pitchFamily="2" charset="-122"/>
              </a:rPr>
              <a:t>Z</a:t>
            </a:r>
            <a:r>
              <a:rPr lang="en-US" altLang="zh-CN" sz="2800" b="1">
                <a:latin typeface="宋体" panose="02010600030101010101" pitchFamily="2" charset="-122"/>
              </a:rPr>
              <a:t>(</a:t>
            </a:r>
            <a:r>
              <a:rPr lang="en-US" altLang="zh-CN" sz="2800" b="1" i="1">
                <a:latin typeface="宋体" panose="02010600030101010101" pitchFamily="2" charset="-122"/>
              </a:rPr>
              <a:t>x</a:t>
            </a:r>
            <a:r>
              <a:rPr lang="en-US" altLang="zh-CN" sz="2800" b="1">
                <a:latin typeface="宋体" panose="02010600030101010101" pitchFamily="2" charset="-122"/>
              </a:rPr>
              <a:t>)</a:t>
            </a:r>
            <a:r>
              <a:rPr lang="en-US" altLang="zh-CN" sz="2800" b="1">
                <a:solidFill>
                  <a:srgbClr val="FF3300"/>
                </a:solidFill>
                <a:latin typeface="宋体" panose="02010600030101010101" pitchFamily="2" charset="-122"/>
              </a:rPr>
              <a:t> </a:t>
            </a:r>
            <a:r>
              <a:rPr lang="zh-CN" altLang="en-US" sz="2800" b="1">
                <a:latin typeface="宋体" panose="02010600030101010101" pitchFamily="2" charset="-122"/>
              </a:rPr>
              <a:t>绝对值的算术平均值。</a:t>
            </a:r>
            <a:endParaRPr lang="zh-CN" altLang="en-US" sz="2800" b="1">
              <a:latin typeface="宋体" panose="02010600030101010101" pitchFamily="2" charset="-122"/>
            </a:endParaRPr>
          </a:p>
        </p:txBody>
      </p:sp>
      <p:sp>
        <p:nvSpPr>
          <p:cNvPr id="7235" name="Text Box 67"/>
          <p:cNvSpPr txBox="1">
            <a:spLocks noChangeArrowheads="1"/>
          </p:cNvSpPr>
          <p:nvPr/>
        </p:nvSpPr>
        <p:spPr bwMode="auto">
          <a:xfrm>
            <a:off x="1808163" y="1643063"/>
            <a:ext cx="6345237" cy="51911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solidFill>
                  <a:srgbClr val="FF3300"/>
                </a:solidFill>
                <a:latin typeface="宋体" panose="02010600030101010101" pitchFamily="2" charset="-122"/>
              </a:rPr>
              <a:t>R</a:t>
            </a:r>
            <a:r>
              <a:rPr lang="en-US" altLang="zh-CN" sz="2800" b="1" i="1">
                <a:solidFill>
                  <a:srgbClr val="FF3300"/>
                </a:solidFill>
              </a:rPr>
              <a:t>a </a:t>
            </a:r>
            <a:r>
              <a:rPr lang="zh-CN" altLang="en-US" sz="2800" b="1">
                <a:solidFill>
                  <a:schemeClr val="accent2"/>
                </a:solidFill>
              </a:rPr>
              <a:t>数值大的表面粗糙，反之表面光滑</a:t>
            </a:r>
            <a:r>
              <a:rPr lang="zh-CN" altLang="en-US" sz="2800" b="1">
                <a:solidFill>
                  <a:srgbClr val="003399"/>
                </a:solidFill>
              </a:rPr>
              <a:t>。</a:t>
            </a:r>
            <a:endParaRPr lang="zh-CN" altLang="en-US" sz="2800" b="1">
              <a:solidFill>
                <a:srgbClr val="003399"/>
              </a:solidFill>
            </a:endParaRPr>
          </a:p>
        </p:txBody>
      </p:sp>
      <p:sp>
        <p:nvSpPr>
          <p:cNvPr id="7239" name="Rectangle 71"/>
          <p:cNvSpPr>
            <a:spLocks noChangeArrowheads="1"/>
          </p:cNvSpPr>
          <p:nvPr/>
        </p:nvSpPr>
        <p:spPr bwMode="auto">
          <a:xfrm>
            <a:off x="549275" y="4230688"/>
            <a:ext cx="3505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宋体" panose="02010600030101010101" pitchFamily="2" charset="-122"/>
              </a:rPr>
              <a:t>轮廓最大高度</a:t>
            </a:r>
            <a:r>
              <a:rPr lang="en-US" altLang="zh-CN" sz="2800" b="1"/>
              <a:t>——</a:t>
            </a:r>
            <a:r>
              <a:rPr lang="en-US" altLang="zh-CN" sz="2800" b="1" i="1">
                <a:solidFill>
                  <a:srgbClr val="FF0000"/>
                </a:solidFill>
                <a:latin typeface="宋体" panose="02010600030101010101" pitchFamily="2" charset="-122"/>
              </a:rPr>
              <a:t>Rz</a:t>
            </a:r>
            <a:endParaRPr lang="en-US" altLang="zh-CN" sz="2800" b="1" i="1">
              <a:solidFill>
                <a:srgbClr val="FF0000"/>
              </a:solidFill>
              <a:latin typeface="宋体" panose="02010600030101010101" pitchFamily="2" charset="-122"/>
            </a:endParaRPr>
          </a:p>
        </p:txBody>
      </p:sp>
      <p:sp>
        <p:nvSpPr>
          <p:cNvPr id="7240" name="Text Box 72"/>
          <p:cNvSpPr txBox="1">
            <a:spLocks noChangeArrowheads="1"/>
          </p:cNvSpPr>
          <p:nvPr/>
        </p:nvSpPr>
        <p:spPr bwMode="auto">
          <a:xfrm>
            <a:off x="549275" y="4772025"/>
            <a:ext cx="76136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latin typeface="宋体" panose="02010600030101010101" pitchFamily="2" charset="-122"/>
              </a:rPr>
              <a:t>    </a:t>
            </a:r>
            <a:r>
              <a:rPr lang="zh-CN" altLang="en-US" sz="2800" b="1">
                <a:latin typeface="宋体" panose="02010600030101010101" pitchFamily="2" charset="-122"/>
              </a:rPr>
              <a:t>在一个取样长度内</a:t>
            </a:r>
            <a:r>
              <a:rPr lang="zh-CN" altLang="en-US" sz="2800">
                <a:latin typeface="宋体" panose="02010600030101010101" pitchFamily="2" charset="-122"/>
              </a:rPr>
              <a:t>，</a:t>
            </a:r>
            <a:r>
              <a:rPr lang="zh-CN" altLang="en-US" sz="2800" b="1"/>
              <a:t>最大轮廓峰高和最大轮廓谷深之和的高度。</a:t>
            </a:r>
            <a:endParaRPr lang="zh-CN" altLang="en-US" sz="2800" b="1"/>
          </a:p>
        </p:txBody>
      </p:sp>
      <p:grpSp>
        <p:nvGrpSpPr>
          <p:cNvPr id="7279" name="Group 111"/>
          <p:cNvGrpSpPr/>
          <p:nvPr/>
        </p:nvGrpSpPr>
        <p:grpSpPr bwMode="auto">
          <a:xfrm>
            <a:off x="1276350" y="3011488"/>
            <a:ext cx="6400800" cy="220662"/>
            <a:chOff x="804" y="1897"/>
            <a:chExt cx="4032" cy="139"/>
          </a:xfrm>
        </p:grpSpPr>
        <p:sp>
          <p:nvSpPr>
            <p:cNvPr id="6164" name="Line 59"/>
            <p:cNvSpPr>
              <a:spLocks noChangeShapeType="1"/>
            </p:cNvSpPr>
            <p:nvPr/>
          </p:nvSpPr>
          <p:spPr bwMode="auto">
            <a:xfrm>
              <a:off x="804" y="1905"/>
              <a:ext cx="403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165" name="Group 110"/>
            <p:cNvGrpSpPr/>
            <p:nvPr/>
          </p:nvGrpSpPr>
          <p:grpSpPr bwMode="auto">
            <a:xfrm>
              <a:off x="1001" y="1897"/>
              <a:ext cx="3799" cy="139"/>
              <a:chOff x="1001" y="1897"/>
              <a:chExt cx="3799" cy="139"/>
            </a:xfrm>
          </p:grpSpPr>
          <p:sp>
            <p:nvSpPr>
              <p:cNvPr id="6166" name="Line 74"/>
              <p:cNvSpPr>
                <a:spLocks noChangeShapeType="1"/>
              </p:cNvSpPr>
              <p:nvPr/>
            </p:nvSpPr>
            <p:spPr bwMode="auto">
              <a:xfrm flipV="1">
                <a:off x="1001"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7" name="Line 75"/>
              <p:cNvSpPr>
                <a:spLocks noChangeShapeType="1"/>
              </p:cNvSpPr>
              <p:nvPr/>
            </p:nvSpPr>
            <p:spPr bwMode="auto">
              <a:xfrm flipV="1">
                <a:off x="1106"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8" name="Line 76"/>
              <p:cNvSpPr>
                <a:spLocks noChangeShapeType="1"/>
              </p:cNvSpPr>
              <p:nvPr/>
            </p:nvSpPr>
            <p:spPr bwMode="auto">
              <a:xfrm flipV="1">
                <a:off x="1211"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9" name="Line 77"/>
              <p:cNvSpPr>
                <a:spLocks noChangeShapeType="1"/>
              </p:cNvSpPr>
              <p:nvPr/>
            </p:nvSpPr>
            <p:spPr bwMode="auto">
              <a:xfrm flipV="1">
                <a:off x="1315"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0" name="Line 78"/>
              <p:cNvSpPr>
                <a:spLocks noChangeShapeType="1"/>
              </p:cNvSpPr>
              <p:nvPr/>
            </p:nvSpPr>
            <p:spPr bwMode="auto">
              <a:xfrm flipV="1">
                <a:off x="1420"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1" name="Line 79"/>
              <p:cNvSpPr>
                <a:spLocks noChangeShapeType="1"/>
              </p:cNvSpPr>
              <p:nvPr/>
            </p:nvSpPr>
            <p:spPr bwMode="auto">
              <a:xfrm flipV="1">
                <a:off x="1524"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2" name="Line 80"/>
              <p:cNvSpPr>
                <a:spLocks noChangeShapeType="1"/>
              </p:cNvSpPr>
              <p:nvPr/>
            </p:nvSpPr>
            <p:spPr bwMode="auto">
              <a:xfrm flipV="1">
                <a:off x="1629"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3" name="Line 81"/>
              <p:cNvSpPr>
                <a:spLocks noChangeShapeType="1"/>
              </p:cNvSpPr>
              <p:nvPr/>
            </p:nvSpPr>
            <p:spPr bwMode="auto">
              <a:xfrm flipV="1">
                <a:off x="1733"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4" name="Line 82"/>
              <p:cNvSpPr>
                <a:spLocks noChangeShapeType="1"/>
              </p:cNvSpPr>
              <p:nvPr/>
            </p:nvSpPr>
            <p:spPr bwMode="auto">
              <a:xfrm flipV="1">
                <a:off x="1838"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5" name="Line 83"/>
              <p:cNvSpPr>
                <a:spLocks noChangeShapeType="1"/>
              </p:cNvSpPr>
              <p:nvPr/>
            </p:nvSpPr>
            <p:spPr bwMode="auto">
              <a:xfrm flipV="1">
                <a:off x="1943"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6" name="Line 84"/>
              <p:cNvSpPr>
                <a:spLocks noChangeShapeType="1"/>
              </p:cNvSpPr>
              <p:nvPr/>
            </p:nvSpPr>
            <p:spPr bwMode="auto">
              <a:xfrm flipV="1">
                <a:off x="2047"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7" name="Line 85"/>
              <p:cNvSpPr>
                <a:spLocks noChangeShapeType="1"/>
              </p:cNvSpPr>
              <p:nvPr/>
            </p:nvSpPr>
            <p:spPr bwMode="auto">
              <a:xfrm flipV="1">
                <a:off x="2152"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8" name="Line 86"/>
              <p:cNvSpPr>
                <a:spLocks noChangeShapeType="1"/>
              </p:cNvSpPr>
              <p:nvPr/>
            </p:nvSpPr>
            <p:spPr bwMode="auto">
              <a:xfrm flipV="1">
                <a:off x="2256"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9" name="Line 87"/>
              <p:cNvSpPr>
                <a:spLocks noChangeShapeType="1"/>
              </p:cNvSpPr>
              <p:nvPr/>
            </p:nvSpPr>
            <p:spPr bwMode="auto">
              <a:xfrm flipV="1">
                <a:off x="2361"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0" name="Line 88"/>
              <p:cNvSpPr>
                <a:spLocks noChangeShapeType="1"/>
              </p:cNvSpPr>
              <p:nvPr/>
            </p:nvSpPr>
            <p:spPr bwMode="auto">
              <a:xfrm flipV="1">
                <a:off x="2465"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Line 89"/>
              <p:cNvSpPr>
                <a:spLocks noChangeShapeType="1"/>
              </p:cNvSpPr>
              <p:nvPr/>
            </p:nvSpPr>
            <p:spPr bwMode="auto">
              <a:xfrm flipV="1">
                <a:off x="2570"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2" name="Line 90"/>
              <p:cNvSpPr>
                <a:spLocks noChangeShapeType="1"/>
              </p:cNvSpPr>
              <p:nvPr/>
            </p:nvSpPr>
            <p:spPr bwMode="auto">
              <a:xfrm flipV="1">
                <a:off x="2675"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3" name="Line 91"/>
              <p:cNvSpPr>
                <a:spLocks noChangeShapeType="1"/>
              </p:cNvSpPr>
              <p:nvPr/>
            </p:nvSpPr>
            <p:spPr bwMode="auto">
              <a:xfrm flipV="1">
                <a:off x="2779"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Line 92"/>
              <p:cNvSpPr>
                <a:spLocks noChangeShapeType="1"/>
              </p:cNvSpPr>
              <p:nvPr/>
            </p:nvSpPr>
            <p:spPr bwMode="auto">
              <a:xfrm flipV="1">
                <a:off x="2884"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5" name="Line 93"/>
              <p:cNvSpPr>
                <a:spLocks noChangeShapeType="1"/>
              </p:cNvSpPr>
              <p:nvPr/>
            </p:nvSpPr>
            <p:spPr bwMode="auto">
              <a:xfrm flipV="1">
                <a:off x="2988"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6" name="Line 94"/>
              <p:cNvSpPr>
                <a:spLocks noChangeShapeType="1"/>
              </p:cNvSpPr>
              <p:nvPr/>
            </p:nvSpPr>
            <p:spPr bwMode="auto">
              <a:xfrm flipV="1">
                <a:off x="3093"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7" name="Line 95"/>
              <p:cNvSpPr>
                <a:spLocks noChangeShapeType="1"/>
              </p:cNvSpPr>
              <p:nvPr/>
            </p:nvSpPr>
            <p:spPr bwMode="auto">
              <a:xfrm flipV="1">
                <a:off x="3197"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8" name="Line 96"/>
              <p:cNvSpPr>
                <a:spLocks noChangeShapeType="1"/>
              </p:cNvSpPr>
              <p:nvPr/>
            </p:nvSpPr>
            <p:spPr bwMode="auto">
              <a:xfrm flipV="1">
                <a:off x="3302"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9" name="Line 97"/>
              <p:cNvSpPr>
                <a:spLocks noChangeShapeType="1"/>
              </p:cNvSpPr>
              <p:nvPr/>
            </p:nvSpPr>
            <p:spPr bwMode="auto">
              <a:xfrm flipV="1">
                <a:off x="3407"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0" name="Line 98"/>
              <p:cNvSpPr>
                <a:spLocks noChangeShapeType="1"/>
              </p:cNvSpPr>
              <p:nvPr/>
            </p:nvSpPr>
            <p:spPr bwMode="auto">
              <a:xfrm flipV="1">
                <a:off x="3511"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1" name="Line 99"/>
              <p:cNvSpPr>
                <a:spLocks noChangeShapeType="1"/>
              </p:cNvSpPr>
              <p:nvPr/>
            </p:nvSpPr>
            <p:spPr bwMode="auto">
              <a:xfrm flipV="1">
                <a:off x="3616"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2" name="Line 100"/>
              <p:cNvSpPr>
                <a:spLocks noChangeShapeType="1"/>
              </p:cNvSpPr>
              <p:nvPr/>
            </p:nvSpPr>
            <p:spPr bwMode="auto">
              <a:xfrm flipV="1">
                <a:off x="3720"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3" name="Line 101"/>
              <p:cNvSpPr>
                <a:spLocks noChangeShapeType="1"/>
              </p:cNvSpPr>
              <p:nvPr/>
            </p:nvSpPr>
            <p:spPr bwMode="auto">
              <a:xfrm flipV="1">
                <a:off x="3825"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4" name="Line 102"/>
              <p:cNvSpPr>
                <a:spLocks noChangeShapeType="1"/>
              </p:cNvSpPr>
              <p:nvPr/>
            </p:nvSpPr>
            <p:spPr bwMode="auto">
              <a:xfrm flipV="1">
                <a:off x="3929"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5" name="Line 103"/>
              <p:cNvSpPr>
                <a:spLocks noChangeShapeType="1"/>
              </p:cNvSpPr>
              <p:nvPr/>
            </p:nvSpPr>
            <p:spPr bwMode="auto">
              <a:xfrm flipV="1">
                <a:off x="4034"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6" name="Line 104"/>
              <p:cNvSpPr>
                <a:spLocks noChangeShapeType="1"/>
              </p:cNvSpPr>
              <p:nvPr/>
            </p:nvSpPr>
            <p:spPr bwMode="auto">
              <a:xfrm flipV="1">
                <a:off x="4139"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7" name="Line 105"/>
              <p:cNvSpPr>
                <a:spLocks noChangeShapeType="1"/>
              </p:cNvSpPr>
              <p:nvPr/>
            </p:nvSpPr>
            <p:spPr bwMode="auto">
              <a:xfrm flipV="1">
                <a:off x="4243"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8" name="Line 106"/>
              <p:cNvSpPr>
                <a:spLocks noChangeShapeType="1"/>
              </p:cNvSpPr>
              <p:nvPr/>
            </p:nvSpPr>
            <p:spPr bwMode="auto">
              <a:xfrm flipV="1">
                <a:off x="4348"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9" name="Line 107"/>
              <p:cNvSpPr>
                <a:spLocks noChangeShapeType="1"/>
              </p:cNvSpPr>
              <p:nvPr/>
            </p:nvSpPr>
            <p:spPr bwMode="auto">
              <a:xfrm flipV="1">
                <a:off x="4452"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00" name="Line 108"/>
              <p:cNvSpPr>
                <a:spLocks noChangeShapeType="1"/>
              </p:cNvSpPr>
              <p:nvPr/>
            </p:nvSpPr>
            <p:spPr bwMode="auto">
              <a:xfrm flipV="1">
                <a:off x="4557"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01" name="Line 109"/>
              <p:cNvSpPr>
                <a:spLocks noChangeShapeType="1"/>
              </p:cNvSpPr>
              <p:nvPr/>
            </p:nvSpPr>
            <p:spPr bwMode="auto">
              <a:xfrm flipV="1">
                <a:off x="4661" y="1897"/>
                <a:ext cx="139" cy="13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7233"/>
                                        </p:tgtEl>
                                        <p:attrNameLst>
                                          <p:attrName>style.visibility</p:attrName>
                                        </p:attrNameLst>
                                      </p:cBhvr>
                                      <p:to>
                                        <p:strVal val="visible"/>
                                      </p:to>
                                    </p:set>
                                    <p:animEffect transition="in" filter="barn(outVertical)">
                                      <p:cBhvr>
                                        <p:cTn id="7" dur="500"/>
                                        <p:tgtEl>
                                          <p:spTgt spid="72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171"/>
                                        </p:tgtEl>
                                        <p:attrNameLst>
                                          <p:attrName>style.visibility</p:attrName>
                                        </p:attrNameLst>
                                      </p:cBhvr>
                                      <p:to>
                                        <p:strVal val="visible"/>
                                      </p:to>
                                    </p:set>
                                    <p:animEffect transition="in" filter="wipe(down)">
                                      <p:cBhvr>
                                        <p:cTn id="12" dur="500"/>
                                        <p:tgtEl>
                                          <p:spTgt spid="7171"/>
                                        </p:tgtEl>
                                      </p:cBhvr>
                                    </p:animEffect>
                                  </p:childTnLst>
                                </p:cTn>
                              </p:par>
                            </p:childTnLst>
                          </p:cTn>
                        </p:par>
                        <p:par>
                          <p:cTn id="13" fill="hold">
                            <p:stCondLst>
                              <p:cond delay="500"/>
                            </p:stCondLst>
                            <p:childTnLst>
                              <p:par>
                                <p:cTn id="14" presetID="22" presetClass="entr" presetSubtype="1" fill="hold" grpId="0" nodeType="afterEffect">
                                  <p:stCondLst>
                                    <p:cond delay="0"/>
                                  </p:stCondLst>
                                  <p:iterate type="lt">
                                    <p:tmPct val="100000"/>
                                  </p:iterate>
                                  <p:childTnLst>
                                    <p:set>
                                      <p:cBhvr>
                                        <p:cTn id="15" dur="1" fill="hold">
                                          <p:stCondLst>
                                            <p:cond delay="0"/>
                                          </p:stCondLst>
                                        </p:cTn>
                                        <p:tgtEl>
                                          <p:spTgt spid="7224">
                                            <p:txEl>
                                              <p:pRg st="0" end="0"/>
                                            </p:txEl>
                                          </p:spTgt>
                                        </p:tgtEl>
                                        <p:attrNameLst>
                                          <p:attrName>style.visibility</p:attrName>
                                        </p:attrNameLst>
                                      </p:cBhvr>
                                      <p:to>
                                        <p:strVal val="visible"/>
                                      </p:to>
                                    </p:set>
                                    <p:animEffect transition="in" filter="wipe(up)">
                                      <p:cBhvr>
                                        <p:cTn id="16" dur="75"/>
                                        <p:tgtEl>
                                          <p:spTgt spid="7224">
                                            <p:txEl>
                                              <p:pRg st="0" end="0"/>
                                            </p:txEl>
                                          </p:spTgt>
                                        </p:tgtEl>
                                      </p:cBhvr>
                                    </p:animEffect>
                                  </p:childTnLst>
                                </p:cTn>
                              </p:par>
                            </p:childTnLst>
                          </p:cTn>
                        </p:par>
                        <p:par>
                          <p:cTn id="17" fill="hold">
                            <p:stCondLst>
                              <p:cond delay="574"/>
                            </p:stCondLst>
                            <p:childTnLst>
                              <p:par>
                                <p:cTn id="18" presetID="22" presetClass="entr" presetSubtype="8" fill="hold" nodeType="afterEffect">
                                  <p:stCondLst>
                                    <p:cond delay="0"/>
                                  </p:stCondLst>
                                  <p:childTnLst>
                                    <p:set>
                                      <p:cBhvr>
                                        <p:cTn id="19" dur="1" fill="hold">
                                          <p:stCondLst>
                                            <p:cond delay="0"/>
                                          </p:stCondLst>
                                        </p:cTn>
                                        <p:tgtEl>
                                          <p:spTgt spid="7172"/>
                                        </p:tgtEl>
                                        <p:attrNameLst>
                                          <p:attrName>style.visibility</p:attrName>
                                        </p:attrNameLst>
                                      </p:cBhvr>
                                      <p:to>
                                        <p:strVal val="visible"/>
                                      </p:to>
                                    </p:set>
                                    <p:animEffect transition="in" filter="wipe(left)">
                                      <p:cBhvr>
                                        <p:cTn id="20" dur="500"/>
                                        <p:tgtEl>
                                          <p:spTgt spid="7172"/>
                                        </p:tgtEl>
                                      </p:cBhvr>
                                    </p:animEffect>
                                  </p:childTnLst>
                                </p:cTn>
                              </p:par>
                            </p:childTnLst>
                          </p:cTn>
                        </p:par>
                        <p:par>
                          <p:cTn id="21" fill="hold">
                            <p:stCondLst>
                              <p:cond delay="1074"/>
                            </p:stCondLst>
                            <p:childTnLst>
                              <p:par>
                                <p:cTn id="22" presetID="22" presetClass="entr" presetSubtype="1" fill="hold" grpId="0" nodeType="afterEffect">
                                  <p:stCondLst>
                                    <p:cond delay="0"/>
                                  </p:stCondLst>
                                  <p:iterate type="lt">
                                    <p:tmPct val="100000"/>
                                  </p:iterate>
                                  <p:childTnLst>
                                    <p:set>
                                      <p:cBhvr>
                                        <p:cTn id="23" dur="1" fill="hold">
                                          <p:stCondLst>
                                            <p:cond delay="0"/>
                                          </p:stCondLst>
                                        </p:cTn>
                                        <p:tgtEl>
                                          <p:spTgt spid="7225">
                                            <p:txEl>
                                              <p:pRg st="0" end="0"/>
                                            </p:txEl>
                                          </p:spTgt>
                                        </p:tgtEl>
                                        <p:attrNameLst>
                                          <p:attrName>style.visibility</p:attrName>
                                        </p:attrNameLst>
                                      </p:cBhvr>
                                      <p:to>
                                        <p:strVal val="visible"/>
                                      </p:to>
                                    </p:set>
                                    <p:animEffect transition="in" filter="wipe(up)">
                                      <p:cBhvr>
                                        <p:cTn id="24" dur="75"/>
                                        <p:tgtEl>
                                          <p:spTgt spid="7225">
                                            <p:txEl>
                                              <p:pRg st="0" end="0"/>
                                            </p:txEl>
                                          </p:spTgt>
                                        </p:tgtEl>
                                      </p:cBhvr>
                                    </p:animEffect>
                                  </p:childTnLst>
                                </p:cTn>
                              </p:par>
                            </p:childTnLst>
                          </p:cTn>
                        </p:par>
                        <p:par>
                          <p:cTn id="25" fill="hold">
                            <p:stCondLst>
                              <p:cond delay="1149"/>
                            </p:stCondLst>
                            <p:childTnLst>
                              <p:par>
                                <p:cTn id="26" presetID="22" presetClass="entr" presetSubtype="8" fill="hold" nodeType="afterEffect">
                                  <p:stCondLst>
                                    <p:cond delay="0"/>
                                  </p:stCondLst>
                                  <p:childTnLst>
                                    <p:set>
                                      <p:cBhvr>
                                        <p:cTn id="27" dur="1" fill="hold">
                                          <p:stCondLst>
                                            <p:cond delay="0"/>
                                          </p:stCondLst>
                                        </p:cTn>
                                        <p:tgtEl>
                                          <p:spTgt spid="7173"/>
                                        </p:tgtEl>
                                        <p:attrNameLst>
                                          <p:attrName>style.visibility</p:attrName>
                                        </p:attrNameLst>
                                      </p:cBhvr>
                                      <p:to>
                                        <p:strVal val="visible"/>
                                      </p:to>
                                    </p:set>
                                    <p:animEffect transition="in" filter="wipe(left)">
                                      <p:cBhvr>
                                        <p:cTn id="28" dur="500"/>
                                        <p:tgtEl>
                                          <p:spTgt spid="7173"/>
                                        </p:tgtEl>
                                      </p:cBhvr>
                                    </p:animEffect>
                                  </p:childTnLst>
                                </p:cTn>
                              </p:par>
                            </p:childTnLst>
                          </p:cTn>
                        </p:par>
                        <p:par>
                          <p:cTn id="29" fill="hold">
                            <p:stCondLst>
                              <p:cond delay="1649"/>
                            </p:stCondLst>
                            <p:childTnLst>
                              <p:par>
                                <p:cTn id="30" presetID="22" presetClass="entr" presetSubtype="1" fill="hold" nodeType="afterEffect">
                                  <p:stCondLst>
                                    <p:cond delay="0"/>
                                  </p:stCondLst>
                                  <p:childTnLst>
                                    <p:set>
                                      <p:cBhvr>
                                        <p:cTn id="31" dur="1" fill="hold">
                                          <p:stCondLst>
                                            <p:cond delay="0"/>
                                          </p:stCondLst>
                                        </p:cTn>
                                        <p:tgtEl>
                                          <p:spTgt spid="7170"/>
                                        </p:tgtEl>
                                        <p:attrNameLst>
                                          <p:attrName>style.visibility</p:attrName>
                                        </p:attrNameLst>
                                      </p:cBhvr>
                                      <p:to>
                                        <p:strVal val="visible"/>
                                      </p:to>
                                    </p:set>
                                    <p:animEffect transition="in" filter="wipe(up)">
                                      <p:cBhvr>
                                        <p:cTn id="32" dur="500"/>
                                        <p:tgtEl>
                                          <p:spTgt spid="7170"/>
                                        </p:tgtEl>
                                      </p:cBhvr>
                                    </p:animEffect>
                                  </p:childTnLst>
                                </p:cTn>
                              </p:par>
                            </p:childTnLst>
                          </p:cTn>
                        </p:par>
                        <p:par>
                          <p:cTn id="33" fill="hold">
                            <p:stCondLst>
                              <p:cond delay="2149"/>
                            </p:stCondLst>
                            <p:childTnLst>
                              <p:par>
                                <p:cTn id="34" presetID="22" presetClass="entr" presetSubtype="8" fill="hold" nodeType="afterEffect">
                                  <p:stCondLst>
                                    <p:cond delay="0"/>
                                  </p:stCondLst>
                                  <p:childTnLst>
                                    <p:set>
                                      <p:cBhvr>
                                        <p:cTn id="35" dur="1" fill="hold">
                                          <p:stCondLst>
                                            <p:cond delay="0"/>
                                          </p:stCondLst>
                                        </p:cTn>
                                        <p:tgtEl>
                                          <p:spTgt spid="7178"/>
                                        </p:tgtEl>
                                        <p:attrNameLst>
                                          <p:attrName>style.visibility</p:attrName>
                                        </p:attrNameLst>
                                      </p:cBhvr>
                                      <p:to>
                                        <p:strVal val="visible"/>
                                      </p:to>
                                    </p:set>
                                    <p:animEffect transition="in" filter="wipe(left)">
                                      <p:cBhvr>
                                        <p:cTn id="36" dur="500"/>
                                        <p:tgtEl>
                                          <p:spTgt spid="7178"/>
                                        </p:tgtEl>
                                      </p:cBhvr>
                                    </p:animEffect>
                                  </p:childTnLst>
                                </p:cTn>
                              </p:par>
                            </p:childTnLst>
                          </p:cTn>
                        </p:par>
                        <p:par>
                          <p:cTn id="37" fill="hold">
                            <p:stCondLst>
                              <p:cond delay="2649"/>
                            </p:stCondLst>
                            <p:childTnLst>
                              <p:par>
                                <p:cTn id="38" presetID="22" presetClass="entr" presetSubtype="1" fill="hold" grpId="0" nodeType="afterEffect">
                                  <p:stCondLst>
                                    <p:cond delay="0"/>
                                  </p:stCondLst>
                                  <p:iterate type="lt">
                                    <p:tmPct val="100000"/>
                                  </p:iterate>
                                  <p:childTnLst>
                                    <p:set>
                                      <p:cBhvr>
                                        <p:cTn id="39" dur="1" fill="hold">
                                          <p:stCondLst>
                                            <p:cond delay="0"/>
                                          </p:stCondLst>
                                        </p:cTn>
                                        <p:tgtEl>
                                          <p:spTgt spid="7179">
                                            <p:txEl>
                                              <p:pRg st="0" end="0"/>
                                            </p:txEl>
                                          </p:spTgt>
                                        </p:tgtEl>
                                        <p:attrNameLst>
                                          <p:attrName>style.visibility</p:attrName>
                                        </p:attrNameLst>
                                      </p:cBhvr>
                                      <p:to>
                                        <p:strVal val="visible"/>
                                      </p:to>
                                    </p:set>
                                    <p:animEffect transition="in" filter="wipe(up)">
                                      <p:cBhvr>
                                        <p:cTn id="40" dur="75"/>
                                        <p:tgtEl>
                                          <p:spTgt spid="7179">
                                            <p:txEl>
                                              <p:pRg st="0" end="0"/>
                                            </p:txEl>
                                          </p:spTgt>
                                        </p:tgtEl>
                                      </p:cBhvr>
                                    </p:animEffect>
                                  </p:childTnLst>
                                </p:cTn>
                              </p:par>
                            </p:childTnLst>
                          </p:cTn>
                        </p:par>
                        <p:par>
                          <p:cTn id="41" fill="hold">
                            <p:stCondLst>
                              <p:cond delay="2799"/>
                            </p:stCondLst>
                            <p:childTnLst>
                              <p:par>
                                <p:cTn id="42" presetID="22" presetClass="entr" presetSubtype="4" fill="hold" nodeType="afterEffect">
                                  <p:stCondLst>
                                    <p:cond delay="0"/>
                                  </p:stCondLst>
                                  <p:childTnLst>
                                    <p:set>
                                      <p:cBhvr>
                                        <p:cTn id="43" dur="1" fill="hold">
                                          <p:stCondLst>
                                            <p:cond delay="0"/>
                                          </p:stCondLst>
                                        </p:cTn>
                                        <p:tgtEl>
                                          <p:spTgt spid="7180"/>
                                        </p:tgtEl>
                                        <p:attrNameLst>
                                          <p:attrName>style.visibility</p:attrName>
                                        </p:attrNameLst>
                                      </p:cBhvr>
                                      <p:to>
                                        <p:strVal val="visible"/>
                                      </p:to>
                                    </p:set>
                                    <p:animEffect transition="in" filter="wipe(down)">
                                      <p:cBhvr>
                                        <p:cTn id="44" dur="500"/>
                                        <p:tgtEl>
                                          <p:spTgt spid="7180"/>
                                        </p:tgtEl>
                                      </p:cBhvr>
                                    </p:animEffect>
                                  </p:childTnLst>
                                </p:cTn>
                              </p:par>
                            </p:childTnLst>
                          </p:cTn>
                        </p:par>
                        <p:par>
                          <p:cTn id="45" fill="hold">
                            <p:stCondLst>
                              <p:cond delay="3299"/>
                            </p:stCondLst>
                            <p:childTnLst>
                              <p:par>
                                <p:cTn id="46" presetID="1" presetClass="entr" presetSubtype="0" fill="hold" grpId="0" nodeType="afterEffect">
                                  <p:stCondLst>
                                    <p:cond delay="0"/>
                                  </p:stCondLst>
                                  <p:childTnLst>
                                    <p:set>
                                      <p:cBhvr>
                                        <p:cTn id="47" dur="1" fill="hold">
                                          <p:stCondLst>
                                            <p:cond delay="499"/>
                                          </p:stCondLst>
                                        </p:cTn>
                                        <p:tgtEl>
                                          <p:spTgt spid="722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7279"/>
                                        </p:tgtEl>
                                        <p:attrNameLst>
                                          <p:attrName>style.visibility</p:attrName>
                                        </p:attrNameLst>
                                      </p:cBhvr>
                                      <p:to>
                                        <p:strVal val="visible"/>
                                      </p:to>
                                    </p:set>
                                    <p:animEffect transition="in" filter="wipe(right)">
                                      <p:cBhvr>
                                        <p:cTn id="52" dur="500"/>
                                        <p:tgtEl>
                                          <p:spTgt spid="7279"/>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1" fill="hold" nodeType="clickEffect">
                                  <p:stCondLst>
                                    <p:cond delay="0"/>
                                  </p:stCondLst>
                                  <p:childTnLst>
                                    <p:set>
                                      <p:cBhvr>
                                        <p:cTn id="56" dur="1" fill="hold">
                                          <p:stCondLst>
                                            <p:cond delay="0"/>
                                          </p:stCondLst>
                                        </p:cTn>
                                        <p:tgtEl>
                                          <p:spTgt spid="7228"/>
                                        </p:tgtEl>
                                        <p:attrNameLst>
                                          <p:attrName>style.visibility</p:attrName>
                                        </p:attrNameLst>
                                      </p:cBhvr>
                                      <p:to>
                                        <p:strVal val="visible"/>
                                      </p:to>
                                    </p:set>
                                    <p:animEffect transition="in" filter="slide(fromTop)">
                                      <p:cBhvr>
                                        <p:cTn id="57" dur="500"/>
                                        <p:tgtEl>
                                          <p:spTgt spid="7228"/>
                                        </p:tgtEl>
                                      </p:cBhvr>
                                    </p:animEffect>
                                  </p:childTnLst>
                                </p:cTn>
                              </p:par>
                            </p:childTnLst>
                          </p:cTn>
                        </p:par>
                        <p:par>
                          <p:cTn id="58" fill="hold">
                            <p:stCondLst>
                              <p:cond delay="500"/>
                            </p:stCondLst>
                            <p:childTnLst>
                              <p:par>
                                <p:cTn id="59" presetID="12" presetClass="entr" presetSubtype="8" fill="hold" grpId="0" nodeType="afterEffect">
                                  <p:stCondLst>
                                    <p:cond delay="0"/>
                                  </p:stCondLst>
                                  <p:childTnLst>
                                    <p:set>
                                      <p:cBhvr>
                                        <p:cTn id="60" dur="1" fill="hold">
                                          <p:stCondLst>
                                            <p:cond delay="0"/>
                                          </p:stCondLst>
                                        </p:cTn>
                                        <p:tgtEl>
                                          <p:spTgt spid="7232"/>
                                        </p:tgtEl>
                                        <p:attrNameLst>
                                          <p:attrName>style.visibility</p:attrName>
                                        </p:attrNameLst>
                                      </p:cBhvr>
                                      <p:to>
                                        <p:strVal val="visible"/>
                                      </p:to>
                                    </p:set>
                                    <p:animEffect transition="in" filter="slide(fromLeft)">
                                      <p:cBhvr>
                                        <p:cTn id="61" dur="500"/>
                                        <p:tgtEl>
                                          <p:spTgt spid="7232"/>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37" fill="hold" grpId="0" nodeType="clickEffect">
                                  <p:stCondLst>
                                    <p:cond delay="0"/>
                                  </p:stCondLst>
                                  <p:childTnLst>
                                    <p:set>
                                      <p:cBhvr>
                                        <p:cTn id="65" dur="1" fill="hold">
                                          <p:stCondLst>
                                            <p:cond delay="0"/>
                                          </p:stCondLst>
                                        </p:cTn>
                                        <p:tgtEl>
                                          <p:spTgt spid="7235"/>
                                        </p:tgtEl>
                                        <p:attrNameLst>
                                          <p:attrName>style.visibility</p:attrName>
                                        </p:attrNameLst>
                                      </p:cBhvr>
                                      <p:to>
                                        <p:strVal val="visible"/>
                                      </p:to>
                                    </p:set>
                                    <p:animEffect transition="in" filter="barn(outVertical)">
                                      <p:cBhvr>
                                        <p:cTn id="66" dur="500"/>
                                        <p:tgtEl>
                                          <p:spTgt spid="723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7239"/>
                                        </p:tgtEl>
                                        <p:attrNameLst>
                                          <p:attrName>style.visibility</p:attrName>
                                        </p:attrNameLst>
                                      </p:cBhvr>
                                      <p:to>
                                        <p:strVal val="visible"/>
                                      </p:to>
                                    </p:set>
                                    <p:animEffect transition="in" filter="wipe(left)">
                                      <p:cBhvr>
                                        <p:cTn id="71" dur="500"/>
                                        <p:tgtEl>
                                          <p:spTgt spid="723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7240"/>
                                        </p:tgtEl>
                                        <p:attrNameLst>
                                          <p:attrName>style.visibility</p:attrName>
                                        </p:attrNameLst>
                                      </p:cBhvr>
                                      <p:to>
                                        <p:strVal val="visible"/>
                                      </p:to>
                                    </p:set>
                                    <p:animEffect transition="in" filter="wipe(left)">
                                      <p:cBhvr>
                                        <p:cTn id="76" dur="500"/>
                                        <p:tgtEl>
                                          <p:spTgt spid="7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 grpId="0" advAuto="0" autoUpdateAnimBg="0" build="p"/>
      <p:bldP spid="7224" grpId="0" advAuto="0" autoUpdateAnimBg="0" build="p"/>
      <p:bldP spid="7225" grpId="0" advAuto="0" autoUpdateAnimBg="0" build="p"/>
      <p:bldP spid="7226" grpId="0" autoUpdateAnimBg="0"/>
      <p:bldP spid="7232" grpId="0" autoUpdateAnimBg="0"/>
      <p:bldP spid="7233" grpId="0" autoUpdateAnimBg="0"/>
      <p:bldP spid="7235" grpId="0" animBg="1" autoUpdateAnimBg="0"/>
      <p:bldP spid="7239" grpId="0" autoUpdateAnimBg="0"/>
      <p:bldP spid="7240"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5280025" y="741363"/>
            <a:ext cx="30511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图形符号的画法</a:t>
            </a:r>
            <a:endParaRPr lang="zh-CN" altLang="en-US" sz="2800" b="1"/>
          </a:p>
        </p:txBody>
      </p:sp>
      <p:sp>
        <p:nvSpPr>
          <p:cNvPr id="10256" name="Text Box 16"/>
          <p:cNvSpPr txBox="1">
            <a:spLocks noChangeArrowheads="1"/>
          </p:cNvSpPr>
          <p:nvPr/>
        </p:nvSpPr>
        <p:spPr bwMode="auto">
          <a:xfrm>
            <a:off x="454025" y="2763838"/>
            <a:ext cx="44037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1) </a:t>
            </a:r>
            <a:r>
              <a:rPr lang="zh-CN" altLang="en-US" sz="2800" b="1">
                <a:latin typeface="宋体" panose="02010600030101010101" pitchFamily="2" charset="-122"/>
              </a:rPr>
              <a:t>表面粗糙度的图形符号</a:t>
            </a:r>
            <a:endParaRPr lang="zh-CN" altLang="en-US" sz="2800" b="1">
              <a:latin typeface="宋体" panose="02010600030101010101" pitchFamily="2" charset="-122"/>
            </a:endParaRPr>
          </a:p>
        </p:txBody>
      </p:sp>
      <p:grpSp>
        <p:nvGrpSpPr>
          <p:cNvPr id="10303" name="Group 63"/>
          <p:cNvGrpSpPr/>
          <p:nvPr/>
        </p:nvGrpSpPr>
        <p:grpSpPr bwMode="auto">
          <a:xfrm>
            <a:off x="722313" y="3948113"/>
            <a:ext cx="7485062" cy="2120900"/>
            <a:chOff x="500" y="2495"/>
            <a:chExt cx="4715" cy="1336"/>
          </a:xfrm>
        </p:grpSpPr>
        <p:sp>
          <p:nvSpPr>
            <p:cNvPr id="7196" name="Text Box 19"/>
            <p:cNvSpPr txBox="1">
              <a:spLocks noChangeArrowheads="1"/>
            </p:cNvSpPr>
            <p:nvPr/>
          </p:nvSpPr>
          <p:spPr bwMode="auto">
            <a:xfrm>
              <a:off x="500" y="2495"/>
              <a:ext cx="16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chemeClr val="tx2"/>
                  </a:solidFill>
                </a:rPr>
                <a:t>数字与字母高度</a:t>
              </a:r>
              <a:endParaRPr lang="zh-CN" altLang="en-US" sz="2800" b="1">
                <a:solidFill>
                  <a:schemeClr val="tx2"/>
                </a:solidFill>
              </a:endParaRPr>
            </a:p>
          </p:txBody>
        </p:sp>
        <p:sp>
          <p:nvSpPr>
            <p:cNvPr id="7197" name="Text Box 20"/>
            <p:cNvSpPr txBox="1">
              <a:spLocks noChangeArrowheads="1"/>
            </p:cNvSpPr>
            <p:nvPr/>
          </p:nvSpPr>
          <p:spPr bwMode="auto">
            <a:xfrm>
              <a:off x="500" y="2828"/>
              <a:ext cx="16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chemeClr val="tx2"/>
                  </a:solidFill>
                </a:rPr>
                <a:t>符号及字母线宽</a:t>
              </a:r>
              <a:endParaRPr lang="zh-CN" altLang="en-US" sz="2800" b="1">
                <a:solidFill>
                  <a:schemeClr val="tx2"/>
                </a:solidFill>
              </a:endParaRPr>
            </a:p>
          </p:txBody>
        </p:sp>
        <p:sp>
          <p:nvSpPr>
            <p:cNvPr id="7198" name="Text Box 21"/>
            <p:cNvSpPr txBox="1">
              <a:spLocks noChangeArrowheads="1"/>
            </p:cNvSpPr>
            <p:nvPr/>
          </p:nvSpPr>
          <p:spPr bwMode="auto">
            <a:xfrm>
              <a:off x="502" y="3162"/>
              <a:ext cx="81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tx2"/>
                  </a:solidFill>
                </a:rPr>
                <a:t>高度</a:t>
              </a:r>
              <a:r>
                <a:rPr lang="en-US" altLang="zh-CN" sz="2800" b="1" i="1">
                  <a:solidFill>
                    <a:schemeClr val="tx2"/>
                  </a:solidFill>
                </a:rPr>
                <a:t>H</a:t>
              </a:r>
              <a:r>
                <a:rPr lang="en-US" altLang="zh-CN" sz="2800" b="1" baseline="-25000">
                  <a:solidFill>
                    <a:schemeClr val="tx2"/>
                  </a:solidFill>
                </a:rPr>
                <a:t>1</a:t>
              </a:r>
              <a:endParaRPr lang="en-US" altLang="zh-CN" sz="2800" b="1">
                <a:solidFill>
                  <a:schemeClr val="tx2"/>
                </a:solidFill>
              </a:endParaRPr>
            </a:p>
          </p:txBody>
        </p:sp>
        <p:sp>
          <p:nvSpPr>
            <p:cNvPr id="7199" name="Text Box 22"/>
            <p:cNvSpPr txBox="1">
              <a:spLocks noChangeArrowheads="1"/>
            </p:cNvSpPr>
            <p:nvPr/>
          </p:nvSpPr>
          <p:spPr bwMode="auto">
            <a:xfrm>
              <a:off x="500" y="3496"/>
              <a:ext cx="194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tx2"/>
                  </a:solidFill>
                </a:rPr>
                <a:t>高度</a:t>
              </a:r>
              <a:r>
                <a:rPr lang="en-US" altLang="zh-CN" sz="2800" b="1" i="1">
                  <a:solidFill>
                    <a:schemeClr val="tx2"/>
                  </a:solidFill>
                </a:rPr>
                <a:t>H</a:t>
              </a:r>
              <a:r>
                <a:rPr lang="en-US" altLang="zh-CN" sz="2800" b="1" baseline="-25000">
                  <a:solidFill>
                    <a:schemeClr val="tx2"/>
                  </a:solidFill>
                </a:rPr>
                <a:t>2</a:t>
              </a:r>
              <a:r>
                <a:rPr lang="zh-CN" altLang="en-US" sz="2800" b="1">
                  <a:solidFill>
                    <a:schemeClr val="tx2"/>
                  </a:solidFill>
                </a:rPr>
                <a:t>（最小值）</a:t>
              </a:r>
              <a:endParaRPr lang="zh-CN" altLang="en-US" sz="2800" b="1">
                <a:solidFill>
                  <a:schemeClr val="tx2"/>
                </a:solidFill>
              </a:endParaRPr>
            </a:p>
          </p:txBody>
        </p:sp>
        <p:sp>
          <p:nvSpPr>
            <p:cNvPr id="7200" name="Line 23"/>
            <p:cNvSpPr>
              <a:spLocks noChangeShapeType="1"/>
            </p:cNvSpPr>
            <p:nvPr/>
          </p:nvSpPr>
          <p:spPr bwMode="auto">
            <a:xfrm>
              <a:off x="532" y="2503"/>
              <a:ext cx="4683" cy="0"/>
            </a:xfrm>
            <a:prstGeom prst="line">
              <a:avLst/>
            </a:prstGeom>
            <a:noFill/>
            <a:ln w="28575">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201" name="Line 24"/>
            <p:cNvSpPr>
              <a:spLocks noChangeShapeType="1"/>
            </p:cNvSpPr>
            <p:nvPr/>
          </p:nvSpPr>
          <p:spPr bwMode="auto">
            <a:xfrm>
              <a:off x="532" y="2835"/>
              <a:ext cx="4657"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202" name="Line 25"/>
            <p:cNvSpPr>
              <a:spLocks noChangeShapeType="1"/>
            </p:cNvSpPr>
            <p:nvPr/>
          </p:nvSpPr>
          <p:spPr bwMode="auto">
            <a:xfrm>
              <a:off x="532" y="3167"/>
              <a:ext cx="4657"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203" name="Line 26"/>
            <p:cNvSpPr>
              <a:spLocks noChangeShapeType="1"/>
            </p:cNvSpPr>
            <p:nvPr/>
          </p:nvSpPr>
          <p:spPr bwMode="auto">
            <a:xfrm>
              <a:off x="532" y="3499"/>
              <a:ext cx="4657"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204" name="Line 27"/>
            <p:cNvSpPr>
              <a:spLocks noChangeShapeType="1"/>
            </p:cNvSpPr>
            <p:nvPr/>
          </p:nvSpPr>
          <p:spPr bwMode="auto">
            <a:xfrm>
              <a:off x="532" y="3831"/>
              <a:ext cx="4657"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205" name="Line 28"/>
            <p:cNvSpPr>
              <a:spLocks noChangeShapeType="1"/>
            </p:cNvSpPr>
            <p:nvPr/>
          </p:nvSpPr>
          <p:spPr bwMode="auto">
            <a:xfrm>
              <a:off x="2304" y="2503"/>
              <a:ext cx="0" cy="1322"/>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206" name="Line 29"/>
            <p:cNvSpPr>
              <a:spLocks noChangeShapeType="1"/>
            </p:cNvSpPr>
            <p:nvPr/>
          </p:nvSpPr>
          <p:spPr bwMode="auto">
            <a:xfrm flipH="1">
              <a:off x="2895" y="2503"/>
              <a:ext cx="0" cy="1322"/>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207" name="Line 30"/>
            <p:cNvSpPr>
              <a:spLocks noChangeShapeType="1"/>
            </p:cNvSpPr>
            <p:nvPr/>
          </p:nvSpPr>
          <p:spPr bwMode="auto">
            <a:xfrm>
              <a:off x="4079" y="2516"/>
              <a:ext cx="0" cy="131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208" name="Line 31"/>
            <p:cNvSpPr>
              <a:spLocks noChangeShapeType="1"/>
            </p:cNvSpPr>
            <p:nvPr/>
          </p:nvSpPr>
          <p:spPr bwMode="auto">
            <a:xfrm>
              <a:off x="3487" y="2503"/>
              <a:ext cx="0" cy="1322"/>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209" name="Line 32"/>
            <p:cNvSpPr>
              <a:spLocks noChangeShapeType="1"/>
            </p:cNvSpPr>
            <p:nvPr/>
          </p:nvSpPr>
          <p:spPr bwMode="auto">
            <a:xfrm>
              <a:off x="4671" y="2516"/>
              <a:ext cx="0" cy="131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210" name="Text Box 33"/>
            <p:cNvSpPr txBox="1">
              <a:spLocks noChangeArrowheads="1"/>
            </p:cNvSpPr>
            <p:nvPr/>
          </p:nvSpPr>
          <p:spPr bwMode="auto">
            <a:xfrm>
              <a:off x="2398" y="2501"/>
              <a:ext cx="39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2.5</a:t>
              </a:r>
              <a:endParaRPr lang="en-US" altLang="zh-CN" sz="2800" b="1">
                <a:solidFill>
                  <a:schemeClr val="tx2"/>
                </a:solidFill>
              </a:endParaRPr>
            </a:p>
          </p:txBody>
        </p:sp>
        <p:sp>
          <p:nvSpPr>
            <p:cNvPr id="7211" name="Text Box 34"/>
            <p:cNvSpPr txBox="1">
              <a:spLocks noChangeArrowheads="1"/>
            </p:cNvSpPr>
            <p:nvPr/>
          </p:nvSpPr>
          <p:spPr bwMode="auto">
            <a:xfrm>
              <a:off x="2312" y="2831"/>
              <a:ext cx="50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0.25</a:t>
              </a:r>
              <a:endParaRPr lang="en-US" altLang="zh-CN" sz="2800" b="1">
                <a:solidFill>
                  <a:schemeClr val="tx2"/>
                </a:solidFill>
              </a:endParaRPr>
            </a:p>
          </p:txBody>
        </p:sp>
        <p:sp>
          <p:nvSpPr>
            <p:cNvPr id="7212" name="Text Box 35"/>
            <p:cNvSpPr txBox="1">
              <a:spLocks noChangeArrowheads="1"/>
            </p:cNvSpPr>
            <p:nvPr/>
          </p:nvSpPr>
          <p:spPr bwMode="auto">
            <a:xfrm>
              <a:off x="2398" y="3168"/>
              <a:ext cx="39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3.5</a:t>
              </a:r>
              <a:endParaRPr lang="en-US" altLang="zh-CN" sz="2800" b="1">
                <a:solidFill>
                  <a:schemeClr val="tx2"/>
                </a:solidFill>
              </a:endParaRPr>
            </a:p>
          </p:txBody>
        </p:sp>
        <p:sp>
          <p:nvSpPr>
            <p:cNvPr id="7213" name="Text Box 36"/>
            <p:cNvSpPr txBox="1">
              <a:spLocks noChangeArrowheads="1"/>
            </p:cNvSpPr>
            <p:nvPr/>
          </p:nvSpPr>
          <p:spPr bwMode="auto">
            <a:xfrm>
              <a:off x="2398" y="3491"/>
              <a:ext cx="39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7.5</a:t>
              </a:r>
              <a:endParaRPr lang="en-US" altLang="zh-CN" sz="2800" b="1">
                <a:solidFill>
                  <a:schemeClr val="tx2"/>
                </a:solidFill>
              </a:endParaRPr>
            </a:p>
          </p:txBody>
        </p:sp>
        <p:sp>
          <p:nvSpPr>
            <p:cNvPr id="7214" name="Text Box 37"/>
            <p:cNvSpPr txBox="1">
              <a:spLocks noChangeArrowheads="1"/>
            </p:cNvSpPr>
            <p:nvPr/>
          </p:nvSpPr>
          <p:spPr bwMode="auto">
            <a:xfrm>
              <a:off x="2992" y="2501"/>
              <a:ext cx="39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3.5</a:t>
              </a:r>
              <a:endParaRPr lang="en-US" altLang="zh-CN" sz="2800" b="1">
                <a:solidFill>
                  <a:srgbClr val="FF3300"/>
                </a:solidFill>
              </a:endParaRPr>
            </a:p>
          </p:txBody>
        </p:sp>
        <p:sp>
          <p:nvSpPr>
            <p:cNvPr id="7215" name="Text Box 38"/>
            <p:cNvSpPr txBox="1">
              <a:spLocks noChangeArrowheads="1"/>
            </p:cNvSpPr>
            <p:nvPr/>
          </p:nvSpPr>
          <p:spPr bwMode="auto">
            <a:xfrm>
              <a:off x="2936" y="2831"/>
              <a:ext cx="50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0.35</a:t>
              </a:r>
              <a:endParaRPr lang="en-US" altLang="zh-CN" sz="2800" b="1">
                <a:solidFill>
                  <a:srgbClr val="FF3300"/>
                </a:solidFill>
              </a:endParaRPr>
            </a:p>
          </p:txBody>
        </p:sp>
        <p:sp>
          <p:nvSpPr>
            <p:cNvPr id="7216" name="Text Box 39"/>
            <p:cNvSpPr txBox="1">
              <a:spLocks noChangeArrowheads="1"/>
            </p:cNvSpPr>
            <p:nvPr/>
          </p:nvSpPr>
          <p:spPr bwMode="auto">
            <a:xfrm>
              <a:off x="3076" y="3168"/>
              <a:ext cx="22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5</a:t>
              </a:r>
              <a:endParaRPr lang="en-US" altLang="zh-CN" sz="2800" b="1">
                <a:solidFill>
                  <a:srgbClr val="FF3300"/>
                </a:solidFill>
              </a:endParaRPr>
            </a:p>
          </p:txBody>
        </p:sp>
        <p:sp>
          <p:nvSpPr>
            <p:cNvPr id="7217" name="Text Box 40"/>
            <p:cNvSpPr txBox="1">
              <a:spLocks noChangeArrowheads="1"/>
            </p:cNvSpPr>
            <p:nvPr/>
          </p:nvSpPr>
          <p:spPr bwMode="auto">
            <a:xfrm>
              <a:off x="2936" y="3491"/>
              <a:ext cx="50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10.5</a:t>
              </a:r>
              <a:endParaRPr lang="en-US" altLang="zh-CN" sz="2800" b="1">
                <a:solidFill>
                  <a:srgbClr val="FF3300"/>
                </a:solidFill>
              </a:endParaRPr>
            </a:p>
          </p:txBody>
        </p:sp>
        <p:sp>
          <p:nvSpPr>
            <p:cNvPr id="7218" name="Text Box 41"/>
            <p:cNvSpPr txBox="1">
              <a:spLocks noChangeArrowheads="1"/>
            </p:cNvSpPr>
            <p:nvPr/>
          </p:nvSpPr>
          <p:spPr bwMode="auto">
            <a:xfrm>
              <a:off x="3681" y="2501"/>
              <a:ext cx="22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5</a:t>
              </a:r>
              <a:endParaRPr lang="en-US" altLang="zh-CN" sz="2800" b="1">
                <a:solidFill>
                  <a:srgbClr val="FF3300"/>
                </a:solidFill>
              </a:endParaRPr>
            </a:p>
          </p:txBody>
        </p:sp>
        <p:sp>
          <p:nvSpPr>
            <p:cNvPr id="7219" name="Text Box 42"/>
            <p:cNvSpPr txBox="1">
              <a:spLocks noChangeArrowheads="1"/>
            </p:cNvSpPr>
            <p:nvPr/>
          </p:nvSpPr>
          <p:spPr bwMode="auto">
            <a:xfrm>
              <a:off x="3597" y="2831"/>
              <a:ext cx="39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0.5</a:t>
              </a:r>
              <a:endParaRPr lang="en-US" altLang="zh-CN" sz="2800" b="1">
                <a:solidFill>
                  <a:srgbClr val="FF3300"/>
                </a:solidFill>
              </a:endParaRPr>
            </a:p>
          </p:txBody>
        </p:sp>
        <p:sp>
          <p:nvSpPr>
            <p:cNvPr id="7220" name="Text Box 43"/>
            <p:cNvSpPr txBox="1">
              <a:spLocks noChangeArrowheads="1"/>
            </p:cNvSpPr>
            <p:nvPr/>
          </p:nvSpPr>
          <p:spPr bwMode="auto">
            <a:xfrm>
              <a:off x="3681" y="3168"/>
              <a:ext cx="22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7</a:t>
              </a:r>
              <a:endParaRPr lang="en-US" altLang="zh-CN" sz="2800" b="1">
                <a:solidFill>
                  <a:srgbClr val="FF3300"/>
                </a:solidFill>
              </a:endParaRPr>
            </a:p>
          </p:txBody>
        </p:sp>
        <p:sp>
          <p:nvSpPr>
            <p:cNvPr id="7221" name="Text Box 44"/>
            <p:cNvSpPr txBox="1">
              <a:spLocks noChangeArrowheads="1"/>
            </p:cNvSpPr>
            <p:nvPr/>
          </p:nvSpPr>
          <p:spPr bwMode="auto">
            <a:xfrm>
              <a:off x="3625" y="3491"/>
              <a:ext cx="33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15</a:t>
              </a:r>
              <a:endParaRPr lang="en-US" altLang="zh-CN" sz="2800" b="1">
                <a:solidFill>
                  <a:srgbClr val="FF3300"/>
                </a:solidFill>
              </a:endParaRPr>
            </a:p>
          </p:txBody>
        </p:sp>
        <p:sp>
          <p:nvSpPr>
            <p:cNvPr id="7222" name="Text Box 45"/>
            <p:cNvSpPr txBox="1">
              <a:spLocks noChangeArrowheads="1"/>
            </p:cNvSpPr>
            <p:nvPr/>
          </p:nvSpPr>
          <p:spPr bwMode="auto">
            <a:xfrm>
              <a:off x="4258" y="2501"/>
              <a:ext cx="22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7</a:t>
              </a:r>
              <a:endParaRPr lang="en-US" altLang="zh-CN" sz="2800" b="1">
                <a:solidFill>
                  <a:schemeClr val="tx2"/>
                </a:solidFill>
              </a:endParaRPr>
            </a:p>
          </p:txBody>
        </p:sp>
        <p:sp>
          <p:nvSpPr>
            <p:cNvPr id="7223" name="Text Box 46"/>
            <p:cNvSpPr txBox="1">
              <a:spLocks noChangeArrowheads="1"/>
            </p:cNvSpPr>
            <p:nvPr/>
          </p:nvSpPr>
          <p:spPr bwMode="auto">
            <a:xfrm>
              <a:off x="4175" y="2831"/>
              <a:ext cx="39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0.7</a:t>
              </a:r>
              <a:endParaRPr lang="en-US" altLang="zh-CN" sz="2800" b="1">
                <a:solidFill>
                  <a:schemeClr val="tx2"/>
                </a:solidFill>
              </a:endParaRPr>
            </a:p>
          </p:txBody>
        </p:sp>
        <p:sp>
          <p:nvSpPr>
            <p:cNvPr id="7224" name="Text Box 47"/>
            <p:cNvSpPr txBox="1">
              <a:spLocks noChangeArrowheads="1"/>
            </p:cNvSpPr>
            <p:nvPr/>
          </p:nvSpPr>
          <p:spPr bwMode="auto">
            <a:xfrm>
              <a:off x="4202" y="3168"/>
              <a:ext cx="33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10</a:t>
              </a:r>
              <a:endParaRPr lang="en-US" altLang="zh-CN" sz="2800" b="1">
                <a:solidFill>
                  <a:schemeClr val="tx2"/>
                </a:solidFill>
              </a:endParaRPr>
            </a:p>
          </p:txBody>
        </p:sp>
        <p:sp>
          <p:nvSpPr>
            <p:cNvPr id="7225" name="Text Box 48"/>
            <p:cNvSpPr txBox="1">
              <a:spLocks noChangeArrowheads="1"/>
            </p:cNvSpPr>
            <p:nvPr/>
          </p:nvSpPr>
          <p:spPr bwMode="auto">
            <a:xfrm>
              <a:off x="4202" y="3491"/>
              <a:ext cx="33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21</a:t>
              </a:r>
              <a:endParaRPr lang="en-US" altLang="zh-CN" sz="2800" b="1">
                <a:solidFill>
                  <a:schemeClr val="tx2"/>
                </a:solidFill>
              </a:endParaRPr>
            </a:p>
          </p:txBody>
        </p:sp>
        <p:sp>
          <p:nvSpPr>
            <p:cNvPr id="7226" name="Text Box 49"/>
            <p:cNvSpPr txBox="1">
              <a:spLocks noChangeArrowheads="1"/>
            </p:cNvSpPr>
            <p:nvPr/>
          </p:nvSpPr>
          <p:spPr bwMode="auto">
            <a:xfrm>
              <a:off x="4742" y="2501"/>
              <a:ext cx="40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10</a:t>
              </a:r>
              <a:endParaRPr lang="en-US" altLang="zh-CN" sz="2800" b="1">
                <a:solidFill>
                  <a:schemeClr val="tx2"/>
                </a:solidFill>
              </a:endParaRPr>
            </a:p>
          </p:txBody>
        </p:sp>
        <p:sp>
          <p:nvSpPr>
            <p:cNvPr id="7227" name="Text Box 50"/>
            <p:cNvSpPr txBox="1">
              <a:spLocks noChangeArrowheads="1"/>
            </p:cNvSpPr>
            <p:nvPr/>
          </p:nvSpPr>
          <p:spPr bwMode="auto">
            <a:xfrm>
              <a:off x="4830" y="2831"/>
              <a:ext cx="22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1</a:t>
              </a:r>
              <a:endParaRPr lang="en-US" altLang="zh-CN" sz="2800" b="1">
                <a:solidFill>
                  <a:schemeClr val="tx2"/>
                </a:solidFill>
              </a:endParaRPr>
            </a:p>
          </p:txBody>
        </p:sp>
        <p:sp>
          <p:nvSpPr>
            <p:cNvPr id="7228" name="Text Box 51"/>
            <p:cNvSpPr txBox="1">
              <a:spLocks noChangeArrowheads="1"/>
            </p:cNvSpPr>
            <p:nvPr/>
          </p:nvSpPr>
          <p:spPr bwMode="auto">
            <a:xfrm>
              <a:off x="4774" y="3168"/>
              <a:ext cx="33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14</a:t>
              </a:r>
              <a:endParaRPr lang="en-US" altLang="zh-CN" sz="2800" b="1">
                <a:solidFill>
                  <a:schemeClr val="tx2"/>
                </a:solidFill>
              </a:endParaRPr>
            </a:p>
          </p:txBody>
        </p:sp>
        <p:sp>
          <p:nvSpPr>
            <p:cNvPr id="7229" name="Text Box 52"/>
            <p:cNvSpPr txBox="1">
              <a:spLocks noChangeArrowheads="1"/>
            </p:cNvSpPr>
            <p:nvPr/>
          </p:nvSpPr>
          <p:spPr bwMode="auto">
            <a:xfrm>
              <a:off x="4774" y="3491"/>
              <a:ext cx="33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tx2"/>
                  </a:solidFill>
                </a:rPr>
                <a:t>30</a:t>
              </a:r>
              <a:endParaRPr lang="en-US" altLang="zh-CN" sz="2800" b="1">
                <a:solidFill>
                  <a:schemeClr val="tx2"/>
                </a:solidFill>
              </a:endParaRPr>
            </a:p>
          </p:txBody>
        </p:sp>
      </p:grpSp>
      <p:sp>
        <p:nvSpPr>
          <p:cNvPr id="7173" name="Text Box 53"/>
          <p:cNvSpPr txBox="1">
            <a:spLocks noChangeArrowheads="1"/>
          </p:cNvSpPr>
          <p:nvPr/>
        </p:nvSpPr>
        <p:spPr bwMode="auto">
          <a:xfrm>
            <a:off x="260350" y="103188"/>
            <a:ext cx="771207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solidFill>
                  <a:srgbClr val="FF5050"/>
                </a:solidFill>
                <a:latin typeface="黑体" panose="02010609060101010101" pitchFamily="49" charset="-122"/>
                <a:ea typeface="黑体" panose="02010609060101010101" pitchFamily="49" charset="-122"/>
              </a:rPr>
              <a:t>3.</a:t>
            </a:r>
            <a:r>
              <a:rPr lang="zh-CN" altLang="en-US" sz="3200" b="1">
                <a:solidFill>
                  <a:srgbClr val="FF5050"/>
                </a:solidFill>
                <a:latin typeface="黑体" panose="02010609060101010101" pitchFamily="49" charset="-122"/>
                <a:ea typeface="黑体" panose="02010609060101010101" pitchFamily="49" charset="-122"/>
              </a:rPr>
              <a:t>表面粗糙度的图形符号、代号及其注法</a:t>
            </a:r>
            <a:endParaRPr lang="zh-CN" altLang="en-US" sz="3200" b="1">
              <a:solidFill>
                <a:srgbClr val="FF5050"/>
              </a:solidFill>
              <a:latin typeface="黑体" panose="02010609060101010101" pitchFamily="49" charset="-122"/>
              <a:ea typeface="黑体" panose="02010609060101010101" pitchFamily="49" charset="-122"/>
            </a:endParaRPr>
          </a:p>
        </p:txBody>
      </p:sp>
      <p:sp>
        <p:nvSpPr>
          <p:cNvPr id="10296" name="Text Box 56"/>
          <p:cNvSpPr txBox="1">
            <a:spLocks noChangeArrowheads="1"/>
          </p:cNvSpPr>
          <p:nvPr/>
        </p:nvSpPr>
        <p:spPr bwMode="auto">
          <a:xfrm>
            <a:off x="487363" y="1387475"/>
            <a:ext cx="8985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代号</a:t>
            </a:r>
            <a:endParaRPr lang="zh-CN" altLang="en-US" sz="2800" b="1">
              <a:latin typeface="宋体" panose="02010600030101010101" pitchFamily="2" charset="-122"/>
            </a:endParaRPr>
          </a:p>
        </p:txBody>
      </p:sp>
      <p:sp>
        <p:nvSpPr>
          <p:cNvPr id="10297" name="Text Box 57"/>
          <p:cNvSpPr txBox="1">
            <a:spLocks noChangeArrowheads="1"/>
          </p:cNvSpPr>
          <p:nvPr/>
        </p:nvSpPr>
        <p:spPr bwMode="auto">
          <a:xfrm>
            <a:off x="1531938" y="677863"/>
            <a:ext cx="27241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完整图形符号</a:t>
            </a:r>
            <a:endParaRPr lang="zh-CN" altLang="en-US" sz="2800" b="1">
              <a:latin typeface="宋体" panose="02010600030101010101" pitchFamily="2" charset="-122"/>
            </a:endParaRPr>
          </a:p>
        </p:txBody>
      </p:sp>
      <p:sp>
        <p:nvSpPr>
          <p:cNvPr id="10298" name="Text Box 58"/>
          <p:cNvSpPr txBox="1">
            <a:spLocks noChangeArrowheads="1"/>
          </p:cNvSpPr>
          <p:nvPr/>
        </p:nvSpPr>
        <p:spPr bwMode="auto">
          <a:xfrm>
            <a:off x="1504950" y="1195388"/>
            <a:ext cx="329406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参数代号</a:t>
            </a:r>
            <a:r>
              <a:rPr lang="en-US" altLang="zh-CN" sz="2800" b="1">
                <a:latin typeface="宋体" panose="02010600030101010101" pitchFamily="2" charset="-122"/>
              </a:rPr>
              <a:t>(</a:t>
            </a:r>
            <a:r>
              <a:rPr lang="zh-CN" altLang="en-US" sz="2800" b="1">
                <a:latin typeface="宋体" panose="02010600030101010101" pitchFamily="2" charset="-122"/>
              </a:rPr>
              <a:t>如</a:t>
            </a:r>
            <a:r>
              <a:rPr lang="en-US" altLang="zh-CN" sz="2800" b="1" i="1">
                <a:solidFill>
                  <a:srgbClr val="FF3300"/>
                </a:solidFill>
                <a:latin typeface="宋体" panose="02010600030101010101" pitchFamily="2" charset="-122"/>
              </a:rPr>
              <a:t>R</a:t>
            </a:r>
            <a:r>
              <a:rPr lang="en-US" altLang="zh-CN" sz="2800" b="1" i="1">
                <a:solidFill>
                  <a:srgbClr val="FF3300"/>
                </a:solidFill>
              </a:rPr>
              <a:t>a</a:t>
            </a:r>
            <a:r>
              <a:rPr lang="zh-CN" altLang="en-US" sz="2800" b="1">
                <a:solidFill>
                  <a:srgbClr val="FF3300"/>
                </a:solidFill>
              </a:rPr>
              <a:t>等</a:t>
            </a:r>
            <a:r>
              <a:rPr lang="zh-CN" altLang="en-US" sz="2800" b="1">
                <a:latin typeface="宋体" panose="02010600030101010101" pitchFamily="2" charset="-122"/>
              </a:rPr>
              <a:t>）</a:t>
            </a:r>
            <a:endParaRPr lang="zh-CN" altLang="en-US" sz="2800" b="1">
              <a:latin typeface="宋体" panose="02010600030101010101" pitchFamily="2" charset="-122"/>
            </a:endParaRPr>
          </a:p>
        </p:txBody>
      </p:sp>
      <p:sp>
        <p:nvSpPr>
          <p:cNvPr id="10299" name="Text Box 59"/>
          <p:cNvSpPr txBox="1">
            <a:spLocks noChangeArrowheads="1"/>
          </p:cNvSpPr>
          <p:nvPr/>
        </p:nvSpPr>
        <p:spPr bwMode="auto">
          <a:xfrm>
            <a:off x="1504950" y="2198688"/>
            <a:ext cx="338931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补充要求</a:t>
            </a:r>
            <a:r>
              <a:rPr lang="en-US" altLang="zh-CN" sz="2800" b="1">
                <a:latin typeface="宋体" panose="02010600030101010101" pitchFamily="2" charset="-122"/>
              </a:rPr>
              <a:t>(</a:t>
            </a:r>
            <a:r>
              <a:rPr lang="zh-CN" altLang="en-US" sz="2800" b="1">
                <a:latin typeface="宋体" panose="02010600030101010101" pitchFamily="2" charset="-122"/>
              </a:rPr>
              <a:t>必要时</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10300" name="AutoShape 60"/>
          <p:cNvSpPr/>
          <p:nvPr/>
        </p:nvSpPr>
        <p:spPr bwMode="auto">
          <a:xfrm>
            <a:off x="1357313" y="866775"/>
            <a:ext cx="177800" cy="1711325"/>
          </a:xfrm>
          <a:prstGeom prst="leftBrace">
            <a:avLst>
              <a:gd name="adj1" fmla="val 80208"/>
              <a:gd name="adj2" fmla="val 50000"/>
            </a:avLst>
          </a:prstGeom>
          <a:noFill/>
          <a:ln w="28575">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b="1"/>
          </a:p>
        </p:txBody>
      </p:sp>
      <p:sp>
        <p:nvSpPr>
          <p:cNvPr id="10302" name="Text Box 62"/>
          <p:cNvSpPr txBox="1">
            <a:spLocks noChangeArrowheads="1"/>
          </p:cNvSpPr>
          <p:nvPr/>
        </p:nvSpPr>
        <p:spPr bwMode="auto">
          <a:xfrm>
            <a:off x="1504950" y="1697038"/>
            <a:ext cx="2954338"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参数值（</a:t>
            </a:r>
            <a:r>
              <a:rPr lang="zh-CN" altLang="en-US" sz="2800" b="1"/>
              <a:t>数字</a:t>
            </a:r>
            <a:r>
              <a:rPr lang="zh-CN" altLang="en-US" sz="2800" b="1">
                <a:latin typeface="宋体" panose="02010600030101010101" pitchFamily="2" charset="-122"/>
              </a:rPr>
              <a:t>）</a:t>
            </a:r>
            <a:endParaRPr lang="zh-CN" altLang="en-US" sz="2800" b="1">
              <a:latin typeface="宋体" panose="02010600030101010101" pitchFamily="2" charset="-122"/>
            </a:endParaRPr>
          </a:p>
        </p:txBody>
      </p:sp>
      <p:grpSp>
        <p:nvGrpSpPr>
          <p:cNvPr id="10308" name="Group 68"/>
          <p:cNvGrpSpPr/>
          <p:nvPr/>
        </p:nvGrpSpPr>
        <p:grpSpPr bwMode="auto">
          <a:xfrm>
            <a:off x="4538663" y="1370013"/>
            <a:ext cx="4149725" cy="1995487"/>
            <a:chOff x="2859" y="863"/>
            <a:chExt cx="2614" cy="1257"/>
          </a:xfrm>
        </p:grpSpPr>
        <p:sp>
          <p:nvSpPr>
            <p:cNvPr id="7182" name="Text Box 8"/>
            <p:cNvSpPr txBox="1">
              <a:spLocks noChangeArrowheads="1"/>
            </p:cNvSpPr>
            <p:nvPr/>
          </p:nvSpPr>
          <p:spPr bwMode="auto">
            <a:xfrm rot="-5400000">
              <a:off x="2863" y="1395"/>
              <a:ext cx="27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olidFill>
                    <a:srgbClr val="FF0000"/>
                  </a:solidFill>
                  <a:latin typeface="ISOCPEUR" panose="020B0604020202020204" pitchFamily="34" charset="0"/>
                </a:rPr>
                <a:t>H</a:t>
              </a:r>
              <a:r>
                <a:rPr lang="en-US" altLang="zh-CN" b="1" i="1" baseline="-25000">
                  <a:solidFill>
                    <a:srgbClr val="FF0000"/>
                  </a:solidFill>
                  <a:latin typeface="ISOCPEUR" panose="020B0604020202020204" pitchFamily="34" charset="0"/>
                </a:rPr>
                <a:t>2</a:t>
              </a:r>
              <a:endParaRPr lang="en-US" altLang="zh-CN" b="1" i="1">
                <a:solidFill>
                  <a:srgbClr val="FF0000"/>
                </a:solidFill>
                <a:latin typeface="ISOCPEUR" panose="020B0604020202020204" pitchFamily="34" charset="0"/>
              </a:endParaRPr>
            </a:p>
          </p:txBody>
        </p:sp>
        <p:sp>
          <p:nvSpPr>
            <p:cNvPr id="7183" name="Text Box 3"/>
            <p:cNvSpPr txBox="1">
              <a:spLocks noChangeArrowheads="1"/>
            </p:cNvSpPr>
            <p:nvPr/>
          </p:nvSpPr>
          <p:spPr bwMode="auto">
            <a:xfrm>
              <a:off x="4124" y="1908"/>
              <a:ext cx="427"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600" b="1" i="1">
                  <a:solidFill>
                    <a:srgbClr val="FF0000"/>
                  </a:solidFill>
                  <a:latin typeface="ISOCPEUR" panose="020B0604020202020204" pitchFamily="34" charset="0"/>
                </a:rPr>
                <a:t>60°</a:t>
              </a:r>
              <a:endParaRPr lang="en-US" altLang="zh-CN" sz="1600" i="1">
                <a:solidFill>
                  <a:srgbClr val="FF0000"/>
                </a:solidFill>
                <a:latin typeface="ISOCPEUR" panose="020B0604020202020204" pitchFamily="34" charset="0"/>
              </a:endParaRPr>
            </a:p>
          </p:txBody>
        </p:sp>
        <p:sp>
          <p:nvSpPr>
            <p:cNvPr id="7184" name="Text Box 4"/>
            <p:cNvSpPr txBox="1">
              <a:spLocks noChangeArrowheads="1"/>
            </p:cNvSpPr>
            <p:nvPr/>
          </p:nvSpPr>
          <p:spPr bwMode="auto">
            <a:xfrm>
              <a:off x="3779" y="1906"/>
              <a:ext cx="648"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600" b="1" i="1">
                  <a:solidFill>
                    <a:srgbClr val="FF0000"/>
                  </a:solidFill>
                  <a:latin typeface="ISOCPEUR" panose="020B0604020202020204" pitchFamily="34" charset="0"/>
                </a:rPr>
                <a:t>60</a:t>
              </a:r>
              <a:r>
                <a:rPr lang="en-US" altLang="zh-CN" sz="1600" b="1" i="1">
                  <a:solidFill>
                    <a:srgbClr val="FF0000"/>
                  </a:solidFill>
                  <a:latin typeface="ISOCP" panose="00000400000000000000" pitchFamily="2" charset="0"/>
                </a:rPr>
                <a:t>°</a:t>
              </a:r>
              <a:endParaRPr lang="en-US" altLang="zh-CN" sz="1600" b="1" i="1">
                <a:solidFill>
                  <a:srgbClr val="FF0000"/>
                </a:solidFill>
                <a:latin typeface="ISOCP" panose="00000400000000000000" pitchFamily="2" charset="0"/>
              </a:endParaRPr>
            </a:p>
          </p:txBody>
        </p:sp>
        <p:sp>
          <p:nvSpPr>
            <p:cNvPr id="7185" name="Freeform 5"/>
            <p:cNvSpPr/>
            <p:nvPr/>
          </p:nvSpPr>
          <p:spPr bwMode="auto">
            <a:xfrm>
              <a:off x="3475" y="1485"/>
              <a:ext cx="1" cy="619"/>
            </a:xfrm>
            <a:custGeom>
              <a:avLst/>
              <a:gdLst>
                <a:gd name="T0" fmla="*/ 0 w 1"/>
                <a:gd name="T1" fmla="*/ 0 h 619"/>
                <a:gd name="T2" fmla="*/ 0 w 1"/>
                <a:gd name="T3" fmla="*/ 619 h 619"/>
                <a:gd name="T4" fmla="*/ 0 60000 65536"/>
                <a:gd name="T5" fmla="*/ 0 60000 65536"/>
              </a:gdLst>
              <a:ahLst/>
              <a:cxnLst>
                <a:cxn ang="T4">
                  <a:pos x="T0" y="T1"/>
                </a:cxn>
                <a:cxn ang="T5">
                  <a:pos x="T2" y="T3"/>
                </a:cxn>
              </a:cxnLst>
              <a:rect l="0" t="0" r="r" b="b"/>
              <a:pathLst>
                <a:path w="1" h="619">
                  <a:moveTo>
                    <a:pt x="0" y="0"/>
                  </a:moveTo>
                  <a:lnTo>
                    <a:pt x="0" y="619"/>
                  </a:lnTo>
                </a:path>
              </a:pathLst>
            </a:custGeom>
            <a:noFill/>
            <a:ln w="19050" cmpd="sng">
              <a:solidFill>
                <a:srgbClr val="FF0000"/>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86" name="Line 6"/>
            <p:cNvSpPr>
              <a:spLocks noChangeShapeType="1"/>
            </p:cNvSpPr>
            <p:nvPr/>
          </p:nvSpPr>
          <p:spPr bwMode="auto">
            <a:xfrm flipH="1">
              <a:off x="3086" y="880"/>
              <a:ext cx="1725"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7" name="Freeform 7"/>
            <p:cNvSpPr/>
            <p:nvPr/>
          </p:nvSpPr>
          <p:spPr bwMode="auto">
            <a:xfrm>
              <a:off x="3163" y="863"/>
              <a:ext cx="1" cy="1229"/>
            </a:xfrm>
            <a:custGeom>
              <a:avLst/>
              <a:gdLst>
                <a:gd name="T0" fmla="*/ 0 w 1"/>
                <a:gd name="T1" fmla="*/ 0 h 1229"/>
                <a:gd name="T2" fmla="*/ 0 w 1"/>
                <a:gd name="T3" fmla="*/ 1229 h 1229"/>
                <a:gd name="T4" fmla="*/ 0 60000 65536"/>
                <a:gd name="T5" fmla="*/ 0 60000 65536"/>
              </a:gdLst>
              <a:ahLst/>
              <a:cxnLst>
                <a:cxn ang="T4">
                  <a:pos x="T0" y="T1"/>
                </a:cxn>
                <a:cxn ang="T5">
                  <a:pos x="T2" y="T3"/>
                </a:cxn>
              </a:cxnLst>
              <a:rect l="0" t="0" r="r" b="b"/>
              <a:pathLst>
                <a:path w="1" h="1229">
                  <a:moveTo>
                    <a:pt x="0" y="0"/>
                  </a:moveTo>
                  <a:lnTo>
                    <a:pt x="0" y="1229"/>
                  </a:lnTo>
                </a:path>
              </a:pathLst>
            </a:custGeom>
            <a:noFill/>
            <a:ln w="19050" cmpd="sng">
              <a:solidFill>
                <a:srgbClr val="FF0000"/>
              </a:solidFill>
              <a:round/>
              <a:headEnd type="triangle" w="sm" len="lg"/>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88" name="Line 9"/>
            <p:cNvSpPr>
              <a:spLocks noChangeShapeType="1"/>
            </p:cNvSpPr>
            <p:nvPr/>
          </p:nvSpPr>
          <p:spPr bwMode="auto">
            <a:xfrm>
              <a:off x="3086" y="2086"/>
              <a:ext cx="1621"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9" name="Line 10"/>
            <p:cNvSpPr>
              <a:spLocks noChangeShapeType="1"/>
            </p:cNvSpPr>
            <p:nvPr/>
          </p:nvSpPr>
          <p:spPr bwMode="auto">
            <a:xfrm flipH="1">
              <a:off x="3418" y="1495"/>
              <a:ext cx="349"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0" name="Line 11"/>
            <p:cNvSpPr>
              <a:spLocks noChangeShapeType="1"/>
            </p:cNvSpPr>
            <p:nvPr/>
          </p:nvSpPr>
          <p:spPr bwMode="auto">
            <a:xfrm flipH="1" flipV="1">
              <a:off x="3765" y="1488"/>
              <a:ext cx="344" cy="595"/>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191" name="Arc 13"/>
            <p:cNvSpPr/>
            <p:nvPr/>
          </p:nvSpPr>
          <p:spPr bwMode="auto">
            <a:xfrm>
              <a:off x="4107" y="1841"/>
              <a:ext cx="322" cy="255"/>
            </a:xfrm>
            <a:custGeom>
              <a:avLst/>
              <a:gdLst>
                <a:gd name="T0" fmla="*/ 132 w 21600"/>
                <a:gd name="T1" fmla="*/ 0 h 20851"/>
                <a:gd name="T2" fmla="*/ 322 w 21600"/>
                <a:gd name="T3" fmla="*/ 255 h 20851"/>
                <a:gd name="T4" fmla="*/ 0 w 21600"/>
                <a:gd name="T5" fmla="*/ 241 h 20851"/>
                <a:gd name="T6" fmla="*/ 0 60000 65536"/>
                <a:gd name="T7" fmla="*/ 0 60000 65536"/>
                <a:gd name="T8" fmla="*/ 0 60000 65536"/>
              </a:gdLst>
              <a:ahLst/>
              <a:cxnLst>
                <a:cxn ang="T6">
                  <a:pos x="T0" y="T1"/>
                </a:cxn>
                <a:cxn ang="T7">
                  <a:pos x="T2" y="T3"/>
                </a:cxn>
                <a:cxn ang="T8">
                  <a:pos x="T4" y="T5"/>
                </a:cxn>
              </a:cxnLst>
              <a:rect l="0" t="0" r="r" b="b"/>
              <a:pathLst>
                <a:path w="21600" h="20851" fill="none" extrusionOk="0">
                  <a:moveTo>
                    <a:pt x="8838" y="-1"/>
                  </a:moveTo>
                  <a:cubicBezTo>
                    <a:pt x="16603" y="3481"/>
                    <a:pt x="21600" y="11198"/>
                    <a:pt x="21600" y="19709"/>
                  </a:cubicBezTo>
                  <a:cubicBezTo>
                    <a:pt x="21600" y="20089"/>
                    <a:pt x="21589" y="20470"/>
                    <a:pt x="21569" y="20850"/>
                  </a:cubicBezTo>
                </a:path>
                <a:path w="21600" h="20851" stroke="0" extrusionOk="0">
                  <a:moveTo>
                    <a:pt x="8838" y="-1"/>
                  </a:moveTo>
                  <a:cubicBezTo>
                    <a:pt x="16603" y="3481"/>
                    <a:pt x="21600" y="11198"/>
                    <a:pt x="21600" y="19709"/>
                  </a:cubicBezTo>
                  <a:cubicBezTo>
                    <a:pt x="21600" y="20089"/>
                    <a:pt x="21589" y="20470"/>
                    <a:pt x="21569" y="20850"/>
                  </a:cubicBezTo>
                  <a:lnTo>
                    <a:pt x="0" y="19709"/>
                  </a:lnTo>
                  <a:lnTo>
                    <a:pt x="8838" y="-1"/>
                  </a:lnTo>
                  <a:close/>
                </a:path>
              </a:pathLst>
            </a:custGeom>
            <a:noFill/>
            <a:ln w="19050">
              <a:solidFill>
                <a:srgbClr val="FF3300"/>
              </a:solidFill>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192" name="Arc 14"/>
            <p:cNvSpPr/>
            <p:nvPr/>
          </p:nvSpPr>
          <p:spPr bwMode="auto">
            <a:xfrm flipH="1">
              <a:off x="3786" y="1843"/>
              <a:ext cx="322" cy="249"/>
            </a:xfrm>
            <a:custGeom>
              <a:avLst/>
              <a:gdLst>
                <a:gd name="T0" fmla="*/ 132 w 21600"/>
                <a:gd name="T1" fmla="*/ 0 h 20354"/>
                <a:gd name="T2" fmla="*/ 322 w 21600"/>
                <a:gd name="T3" fmla="*/ 249 h 20354"/>
                <a:gd name="T4" fmla="*/ 0 w 21600"/>
                <a:gd name="T5" fmla="*/ 241 h 20354"/>
                <a:gd name="T6" fmla="*/ 0 60000 65536"/>
                <a:gd name="T7" fmla="*/ 0 60000 65536"/>
                <a:gd name="T8" fmla="*/ 0 60000 65536"/>
              </a:gdLst>
              <a:ahLst/>
              <a:cxnLst>
                <a:cxn ang="T6">
                  <a:pos x="T0" y="T1"/>
                </a:cxn>
                <a:cxn ang="T7">
                  <a:pos x="T2" y="T3"/>
                </a:cxn>
                <a:cxn ang="T8">
                  <a:pos x="T4" y="T5"/>
                </a:cxn>
              </a:cxnLst>
              <a:rect l="0" t="0" r="r" b="b"/>
              <a:pathLst>
                <a:path w="21600" h="20354" fill="none" extrusionOk="0">
                  <a:moveTo>
                    <a:pt x="8838" y="-1"/>
                  </a:moveTo>
                  <a:cubicBezTo>
                    <a:pt x="16603" y="3481"/>
                    <a:pt x="21600" y="11198"/>
                    <a:pt x="21600" y="19709"/>
                  </a:cubicBezTo>
                  <a:cubicBezTo>
                    <a:pt x="21600" y="19924"/>
                    <a:pt x="21596" y="20139"/>
                    <a:pt x="21590" y="20354"/>
                  </a:cubicBezTo>
                </a:path>
                <a:path w="21600" h="20354" stroke="0" extrusionOk="0">
                  <a:moveTo>
                    <a:pt x="8838" y="-1"/>
                  </a:moveTo>
                  <a:cubicBezTo>
                    <a:pt x="16603" y="3481"/>
                    <a:pt x="21600" y="11198"/>
                    <a:pt x="21600" y="19709"/>
                  </a:cubicBezTo>
                  <a:cubicBezTo>
                    <a:pt x="21600" y="19924"/>
                    <a:pt x="21596" y="20139"/>
                    <a:pt x="21590" y="20354"/>
                  </a:cubicBezTo>
                  <a:lnTo>
                    <a:pt x="0" y="19709"/>
                  </a:lnTo>
                  <a:lnTo>
                    <a:pt x="8838" y="-1"/>
                  </a:lnTo>
                  <a:close/>
                </a:path>
              </a:pathLst>
            </a:custGeom>
            <a:noFill/>
            <a:ln w="19050">
              <a:solidFill>
                <a:srgbClr val="FF3300"/>
              </a:solidFill>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193" name="Text Box 15"/>
            <p:cNvSpPr txBox="1">
              <a:spLocks noChangeArrowheads="1"/>
            </p:cNvSpPr>
            <p:nvPr/>
          </p:nvSpPr>
          <p:spPr bwMode="auto">
            <a:xfrm rot="-5400000">
              <a:off x="3196" y="1632"/>
              <a:ext cx="26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rgbClr val="FF0000"/>
                  </a:solidFill>
                  <a:latin typeface="ISOCPEUR" panose="020B0604020202020204" pitchFamily="34" charset="0"/>
                </a:rPr>
                <a:t>H</a:t>
              </a:r>
              <a:r>
                <a:rPr lang="en-US" altLang="zh-CN" b="1" i="1" baseline="-25000">
                  <a:solidFill>
                    <a:srgbClr val="FF0000"/>
                  </a:solidFill>
                  <a:latin typeface="ISOCPEUR" panose="020B0604020202020204" pitchFamily="34" charset="0"/>
                </a:rPr>
                <a:t>1</a:t>
              </a:r>
              <a:endParaRPr lang="en-US" altLang="zh-CN" b="1" i="1">
                <a:solidFill>
                  <a:srgbClr val="FF3300"/>
                </a:solidFill>
                <a:latin typeface="ISOCPEUR" panose="020B0604020202020204" pitchFamily="34" charset="0"/>
              </a:endParaRPr>
            </a:p>
          </p:txBody>
        </p:sp>
        <p:sp>
          <p:nvSpPr>
            <p:cNvPr id="7194" name="Line 64"/>
            <p:cNvSpPr>
              <a:spLocks noChangeShapeType="1"/>
            </p:cNvSpPr>
            <p:nvPr/>
          </p:nvSpPr>
          <p:spPr bwMode="auto">
            <a:xfrm>
              <a:off x="4791" y="879"/>
              <a:ext cx="68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5" name="Line 12"/>
            <p:cNvSpPr>
              <a:spLocks noChangeShapeType="1"/>
            </p:cNvSpPr>
            <p:nvPr/>
          </p:nvSpPr>
          <p:spPr bwMode="auto">
            <a:xfrm flipV="1">
              <a:off x="4102" y="886"/>
              <a:ext cx="691" cy="1197"/>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10307" name="Text Box 67"/>
          <p:cNvSpPr txBox="1">
            <a:spLocks noChangeArrowheads="1"/>
          </p:cNvSpPr>
          <p:nvPr/>
        </p:nvSpPr>
        <p:spPr bwMode="auto">
          <a:xfrm>
            <a:off x="1127125" y="3438525"/>
            <a:ext cx="6364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solidFill>
                  <a:srgbClr val="FF0000"/>
                </a:solidFill>
              </a:rPr>
              <a:t>H</a:t>
            </a:r>
            <a:r>
              <a:rPr lang="en-US" altLang="zh-CN" b="1" baseline="-25000">
                <a:solidFill>
                  <a:srgbClr val="FF0000"/>
                </a:solidFill>
              </a:rPr>
              <a:t>2 </a:t>
            </a:r>
            <a:r>
              <a:rPr lang="zh-CN" altLang="en-US" b="1">
                <a:solidFill>
                  <a:srgbClr val="FF0000"/>
                </a:solidFill>
              </a:rPr>
              <a:t>及符号长边横线的长度取决于标注的内容。</a:t>
            </a:r>
            <a:endParaRPr lang="zh-CN" altLang="en-US"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0296">
                                            <p:txEl>
                                              <p:pRg st="0" end="0"/>
                                            </p:txEl>
                                          </p:spTgt>
                                        </p:tgtEl>
                                        <p:attrNameLst>
                                          <p:attrName>style.visibility</p:attrName>
                                        </p:attrNameLst>
                                      </p:cBhvr>
                                      <p:to>
                                        <p:strVal val="visible"/>
                                      </p:to>
                                    </p:set>
                                    <p:animEffect transition="in" filter="wipe(up)">
                                      <p:cBhvr>
                                        <p:cTn id="7" dur="75"/>
                                        <p:tgtEl>
                                          <p:spTgt spid="10296">
                                            <p:txEl>
                                              <p:pRg st="0" end="0"/>
                                            </p:txEl>
                                          </p:spTgt>
                                        </p:tgtEl>
                                      </p:cBhvr>
                                    </p:animEffect>
                                  </p:childTnLst>
                                </p:cTn>
                              </p:par>
                            </p:childTnLst>
                          </p:cTn>
                        </p:par>
                        <p:par>
                          <p:cTn id="8" fill="hold">
                            <p:stCondLst>
                              <p:cond delay="150"/>
                            </p:stCondLst>
                            <p:childTnLst>
                              <p:par>
                                <p:cTn id="9" presetID="22" presetClass="entr" presetSubtype="1" fill="hold" grpId="0" nodeType="afterEffect">
                                  <p:stCondLst>
                                    <p:cond delay="0"/>
                                  </p:stCondLst>
                                  <p:childTnLst>
                                    <p:set>
                                      <p:cBhvr>
                                        <p:cTn id="10" dur="1" fill="hold">
                                          <p:stCondLst>
                                            <p:cond delay="0"/>
                                          </p:stCondLst>
                                        </p:cTn>
                                        <p:tgtEl>
                                          <p:spTgt spid="10300"/>
                                        </p:tgtEl>
                                        <p:attrNameLst>
                                          <p:attrName>style.visibility</p:attrName>
                                        </p:attrNameLst>
                                      </p:cBhvr>
                                      <p:to>
                                        <p:strVal val="visible"/>
                                      </p:to>
                                    </p:set>
                                    <p:animEffect transition="in" filter="wipe(up)">
                                      <p:cBhvr>
                                        <p:cTn id="11" dur="500"/>
                                        <p:tgtEl>
                                          <p:spTgt spid="10300"/>
                                        </p:tgtEl>
                                      </p:cBhvr>
                                    </p:animEffect>
                                  </p:childTnLst>
                                  <p:subTnLst>
                                    <p:audio>
                                      <p:cMediaNode>
                                        <p:cTn display="0" masterRel="sameClick">
                                          <p:stCondLst>
                                            <p:cond evt="begin" delay="0">
                                              <p:tn val="9"/>
                                            </p:cond>
                                          </p:stCondLst>
                                          <p:endCondLst>
                                            <p:cond evt="onStopAudio" delay="0">
                                              <p:tgtEl>
                                                <p:sldTgt/>
                                              </p:tgtEl>
                                            </p:cond>
                                          </p:endCondLst>
                                        </p:cTn>
                                        <p:tgtEl>
                                          <p:sndTgt r:embed="rId1" name="WHOOSH.WAV"/>
                                        </p:tgtEl>
                                      </p:cMediaNode>
                                    </p:audio>
                                  </p:subTnLst>
                                </p:cTn>
                              </p:par>
                            </p:childTnLst>
                          </p:cTn>
                        </p:par>
                        <p:par>
                          <p:cTn id="12" fill="hold">
                            <p:stCondLst>
                              <p:cond delay="650"/>
                            </p:stCondLst>
                            <p:childTnLst>
                              <p:par>
                                <p:cTn id="13" presetID="3" presetClass="entr" presetSubtype="10" fill="hold" grpId="0" nodeType="afterEffect">
                                  <p:stCondLst>
                                    <p:cond delay="0"/>
                                  </p:stCondLst>
                                  <p:childTnLst>
                                    <p:set>
                                      <p:cBhvr>
                                        <p:cTn id="14" dur="1" fill="hold">
                                          <p:stCondLst>
                                            <p:cond delay="0"/>
                                          </p:stCondLst>
                                        </p:cTn>
                                        <p:tgtEl>
                                          <p:spTgt spid="10297"/>
                                        </p:tgtEl>
                                        <p:attrNameLst>
                                          <p:attrName>style.visibility</p:attrName>
                                        </p:attrNameLst>
                                      </p:cBhvr>
                                      <p:to>
                                        <p:strVal val="visible"/>
                                      </p:to>
                                    </p:set>
                                    <p:animEffect transition="in" filter="blinds(horizontal)">
                                      <p:cBhvr>
                                        <p:cTn id="15" dur="500"/>
                                        <p:tgtEl>
                                          <p:spTgt spid="10297"/>
                                        </p:tgtEl>
                                      </p:cBhvr>
                                    </p:animEffect>
                                  </p:childTnLst>
                                </p:cTn>
                              </p:par>
                            </p:childTnLst>
                          </p:cTn>
                        </p:par>
                        <p:par>
                          <p:cTn id="16" fill="hold">
                            <p:stCondLst>
                              <p:cond delay="1150"/>
                            </p:stCondLst>
                            <p:childTnLst>
                              <p:par>
                                <p:cTn id="17" presetID="3" presetClass="entr" presetSubtype="10" fill="hold" grpId="0" nodeType="afterEffect">
                                  <p:stCondLst>
                                    <p:cond delay="0"/>
                                  </p:stCondLst>
                                  <p:childTnLst>
                                    <p:set>
                                      <p:cBhvr>
                                        <p:cTn id="18" dur="1" fill="hold">
                                          <p:stCondLst>
                                            <p:cond delay="0"/>
                                          </p:stCondLst>
                                        </p:cTn>
                                        <p:tgtEl>
                                          <p:spTgt spid="10298"/>
                                        </p:tgtEl>
                                        <p:attrNameLst>
                                          <p:attrName>style.visibility</p:attrName>
                                        </p:attrNameLst>
                                      </p:cBhvr>
                                      <p:to>
                                        <p:strVal val="visible"/>
                                      </p:to>
                                    </p:set>
                                    <p:animEffect transition="in" filter="blinds(horizontal)">
                                      <p:cBhvr>
                                        <p:cTn id="19" dur="500"/>
                                        <p:tgtEl>
                                          <p:spTgt spid="10298"/>
                                        </p:tgtEl>
                                      </p:cBhvr>
                                    </p:animEffect>
                                  </p:childTnLst>
                                </p:cTn>
                              </p:par>
                            </p:childTnLst>
                          </p:cTn>
                        </p:par>
                        <p:par>
                          <p:cTn id="20" fill="hold">
                            <p:stCondLst>
                              <p:cond delay="1650"/>
                            </p:stCondLst>
                            <p:childTnLst>
                              <p:par>
                                <p:cTn id="21" presetID="3" presetClass="entr" presetSubtype="10" fill="hold" grpId="0" nodeType="afterEffect">
                                  <p:stCondLst>
                                    <p:cond delay="0"/>
                                  </p:stCondLst>
                                  <p:childTnLst>
                                    <p:set>
                                      <p:cBhvr>
                                        <p:cTn id="22" dur="1" fill="hold">
                                          <p:stCondLst>
                                            <p:cond delay="0"/>
                                          </p:stCondLst>
                                        </p:cTn>
                                        <p:tgtEl>
                                          <p:spTgt spid="10302"/>
                                        </p:tgtEl>
                                        <p:attrNameLst>
                                          <p:attrName>style.visibility</p:attrName>
                                        </p:attrNameLst>
                                      </p:cBhvr>
                                      <p:to>
                                        <p:strVal val="visible"/>
                                      </p:to>
                                    </p:set>
                                    <p:animEffect transition="in" filter="blinds(horizontal)">
                                      <p:cBhvr>
                                        <p:cTn id="23" dur="500"/>
                                        <p:tgtEl>
                                          <p:spTgt spid="10302"/>
                                        </p:tgtEl>
                                      </p:cBhvr>
                                    </p:animEffect>
                                  </p:childTnLst>
                                </p:cTn>
                              </p:par>
                            </p:childTnLst>
                          </p:cTn>
                        </p:par>
                        <p:par>
                          <p:cTn id="24" fill="hold">
                            <p:stCondLst>
                              <p:cond delay="2150"/>
                            </p:stCondLst>
                            <p:childTnLst>
                              <p:par>
                                <p:cTn id="25" presetID="3" presetClass="entr" presetSubtype="10" fill="hold" grpId="0" nodeType="afterEffect">
                                  <p:stCondLst>
                                    <p:cond delay="0"/>
                                  </p:stCondLst>
                                  <p:childTnLst>
                                    <p:set>
                                      <p:cBhvr>
                                        <p:cTn id="26" dur="1" fill="hold">
                                          <p:stCondLst>
                                            <p:cond delay="0"/>
                                          </p:stCondLst>
                                        </p:cTn>
                                        <p:tgtEl>
                                          <p:spTgt spid="10299"/>
                                        </p:tgtEl>
                                        <p:attrNameLst>
                                          <p:attrName>style.visibility</p:attrName>
                                        </p:attrNameLst>
                                      </p:cBhvr>
                                      <p:to>
                                        <p:strVal val="visible"/>
                                      </p:to>
                                    </p:set>
                                    <p:animEffect transition="in" filter="blinds(horizontal)">
                                      <p:cBhvr>
                                        <p:cTn id="27" dur="500"/>
                                        <p:tgtEl>
                                          <p:spTgt spid="1029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10256"/>
                                        </p:tgtEl>
                                        <p:attrNameLst>
                                          <p:attrName>style.visibility</p:attrName>
                                        </p:attrNameLst>
                                      </p:cBhvr>
                                      <p:to>
                                        <p:strVal val="visible"/>
                                      </p:to>
                                    </p:set>
                                    <p:animEffect transition="in" filter="slide(fromLeft)">
                                      <p:cBhvr>
                                        <p:cTn id="32" dur="500"/>
                                        <p:tgtEl>
                                          <p:spTgt spid="1025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242"/>
                                        </p:tgtEl>
                                        <p:attrNameLst>
                                          <p:attrName>style.visibility</p:attrName>
                                        </p:attrNameLst>
                                      </p:cBhvr>
                                      <p:to>
                                        <p:strVal val="visible"/>
                                      </p:to>
                                    </p:set>
                                    <p:animEffect transition="in" filter="dissolve">
                                      <p:cBhvr>
                                        <p:cTn id="37" dur="500"/>
                                        <p:tgtEl>
                                          <p:spTgt spid="1024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308"/>
                                        </p:tgtEl>
                                        <p:attrNameLst>
                                          <p:attrName>style.visibility</p:attrName>
                                        </p:attrNameLst>
                                      </p:cBhvr>
                                      <p:to>
                                        <p:strVal val="visible"/>
                                      </p:to>
                                    </p:set>
                                    <p:animEffect transition="in" filter="dissolve">
                                      <p:cBhvr>
                                        <p:cTn id="42" dur="500"/>
                                        <p:tgtEl>
                                          <p:spTgt spid="1030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303"/>
                                        </p:tgtEl>
                                        <p:attrNameLst>
                                          <p:attrName>style.visibility</p:attrName>
                                        </p:attrNameLst>
                                      </p:cBhvr>
                                      <p:to>
                                        <p:strVal val="visible"/>
                                      </p:to>
                                    </p:set>
                                    <p:animEffect transition="in" filter="blinds(horizontal)">
                                      <p:cBhvr>
                                        <p:cTn id="47" dur="500"/>
                                        <p:tgtEl>
                                          <p:spTgt spid="10303"/>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37" fill="hold" grpId="0" nodeType="clickEffect">
                                  <p:stCondLst>
                                    <p:cond delay="0"/>
                                  </p:stCondLst>
                                  <p:childTnLst>
                                    <p:set>
                                      <p:cBhvr>
                                        <p:cTn id="51" dur="1" fill="hold">
                                          <p:stCondLst>
                                            <p:cond delay="0"/>
                                          </p:stCondLst>
                                        </p:cTn>
                                        <p:tgtEl>
                                          <p:spTgt spid="10307"/>
                                        </p:tgtEl>
                                        <p:attrNameLst>
                                          <p:attrName>style.visibility</p:attrName>
                                        </p:attrNameLst>
                                      </p:cBhvr>
                                      <p:to>
                                        <p:strVal val="visible"/>
                                      </p:to>
                                    </p:set>
                                    <p:animEffect transition="in" filter="barn(outVertical)">
                                      <p:cBhvr>
                                        <p:cTn id="52" dur="500"/>
                                        <p:tgtEl>
                                          <p:spTgt spid="10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56" grpId="0" autoUpdateAnimBg="0"/>
      <p:bldP spid="10296" grpId="0" autoUpdateAnimBg="0" build="p"/>
      <p:bldP spid="10297" grpId="0" autoUpdateAnimBg="0"/>
      <p:bldP spid="10298" grpId="0" autoUpdateAnimBg="0"/>
      <p:bldP spid="10299" grpId="0" autoUpdateAnimBg="0"/>
      <p:bldP spid="10300" grpId="0" animBg="1" autoUpdateAnimBg="0"/>
      <p:bldP spid="10302" grpId="0" autoUpdateAnimBg="0"/>
      <p:bldP spid="1030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966913" y="381000"/>
            <a:ext cx="587375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黑体" panose="02010609060101010101" pitchFamily="49" charset="-122"/>
                <a:ea typeface="黑体" panose="02010609060101010101" pitchFamily="49" charset="-122"/>
              </a:rPr>
              <a:t>表面粗糙度的</a:t>
            </a:r>
            <a:r>
              <a:rPr lang="zh-CN" altLang="en-US" sz="3200" b="1">
                <a:solidFill>
                  <a:srgbClr val="FF0000"/>
                </a:solidFill>
                <a:latin typeface="黑体" panose="02010609060101010101" pitchFamily="49" charset="-122"/>
                <a:ea typeface="黑体" panose="02010609060101010101" pitchFamily="49" charset="-122"/>
              </a:rPr>
              <a:t>图形符号及其意义</a:t>
            </a:r>
            <a:endParaRPr lang="zh-CN" altLang="en-US" sz="3200" b="1">
              <a:solidFill>
                <a:srgbClr val="FF0000"/>
              </a:solidFill>
              <a:latin typeface="黑体" panose="02010609060101010101" pitchFamily="49" charset="-122"/>
              <a:ea typeface="黑体" panose="02010609060101010101" pitchFamily="49" charset="-122"/>
            </a:endParaRPr>
          </a:p>
        </p:txBody>
      </p:sp>
      <p:grpSp>
        <p:nvGrpSpPr>
          <p:cNvPr id="11267" name="Group 3"/>
          <p:cNvGrpSpPr/>
          <p:nvPr/>
        </p:nvGrpSpPr>
        <p:grpSpPr bwMode="auto">
          <a:xfrm>
            <a:off x="1531938" y="1606550"/>
            <a:ext cx="609600" cy="590550"/>
            <a:chOff x="2648" y="1163"/>
            <a:chExt cx="670" cy="694"/>
          </a:xfrm>
        </p:grpSpPr>
        <p:sp>
          <p:nvSpPr>
            <p:cNvPr id="8267" name="Freeform 4"/>
            <p:cNvSpPr/>
            <p:nvPr/>
          </p:nvSpPr>
          <p:spPr bwMode="auto">
            <a:xfrm>
              <a:off x="2871" y="1163"/>
              <a:ext cx="447" cy="694"/>
            </a:xfrm>
            <a:custGeom>
              <a:avLst/>
              <a:gdLst>
                <a:gd name="T0" fmla="*/ 0 w 1617"/>
                <a:gd name="T1" fmla="*/ 694 h 2806"/>
                <a:gd name="T2" fmla="*/ 447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68" name="Freeform 5"/>
            <p:cNvSpPr/>
            <p:nvPr/>
          </p:nvSpPr>
          <p:spPr bwMode="auto">
            <a:xfrm>
              <a:off x="2648" y="1493"/>
              <a:ext cx="223" cy="364"/>
            </a:xfrm>
            <a:custGeom>
              <a:avLst/>
              <a:gdLst>
                <a:gd name="T0" fmla="*/ 0 w 810"/>
                <a:gd name="T1" fmla="*/ 0 h 1470"/>
                <a:gd name="T2" fmla="*/ 223 w 810"/>
                <a:gd name="T3" fmla="*/ 364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1270" name="Group 6"/>
          <p:cNvGrpSpPr/>
          <p:nvPr/>
        </p:nvGrpSpPr>
        <p:grpSpPr bwMode="auto">
          <a:xfrm>
            <a:off x="1535113" y="2384425"/>
            <a:ext cx="617537" cy="628650"/>
            <a:chOff x="1839" y="720"/>
            <a:chExt cx="2433" cy="2806"/>
          </a:xfrm>
        </p:grpSpPr>
        <p:sp>
          <p:nvSpPr>
            <p:cNvPr id="8264" name="Freeform 7"/>
            <p:cNvSpPr/>
            <p:nvPr/>
          </p:nvSpPr>
          <p:spPr bwMode="auto">
            <a:xfrm>
              <a:off x="2655" y="720"/>
              <a:ext cx="1617" cy="2806"/>
            </a:xfrm>
            <a:custGeom>
              <a:avLst/>
              <a:gdLst>
                <a:gd name="T0" fmla="*/ 0 w 1617"/>
                <a:gd name="T1" fmla="*/ 2806 h 2806"/>
                <a:gd name="T2" fmla="*/ 1617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65" name="Freeform 8"/>
            <p:cNvSpPr/>
            <p:nvPr/>
          </p:nvSpPr>
          <p:spPr bwMode="auto">
            <a:xfrm>
              <a:off x="1839" y="2064"/>
              <a:ext cx="1665" cy="1"/>
            </a:xfrm>
            <a:custGeom>
              <a:avLst/>
              <a:gdLst>
                <a:gd name="T0" fmla="*/ 0 w 1665"/>
                <a:gd name="T1" fmla="*/ 0 h 1"/>
                <a:gd name="T2" fmla="*/ 1665 w 1665"/>
                <a:gd name="T3" fmla="*/ 1 h 1"/>
                <a:gd name="T4" fmla="*/ 0 60000 65536"/>
                <a:gd name="T5" fmla="*/ 0 60000 65536"/>
              </a:gdLst>
              <a:ahLst/>
              <a:cxnLst>
                <a:cxn ang="T4">
                  <a:pos x="T0" y="T1"/>
                </a:cxn>
                <a:cxn ang="T5">
                  <a:pos x="T2" y="T3"/>
                </a:cxn>
              </a:cxnLst>
              <a:rect l="0" t="0" r="r" b="b"/>
              <a:pathLst>
                <a:path w="1665" h="1">
                  <a:moveTo>
                    <a:pt x="0" y="0"/>
                  </a:moveTo>
                  <a:lnTo>
                    <a:pt x="1665" y="1"/>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66" name="Freeform 9"/>
            <p:cNvSpPr/>
            <p:nvPr/>
          </p:nvSpPr>
          <p:spPr bwMode="auto">
            <a:xfrm>
              <a:off x="1845" y="2056"/>
              <a:ext cx="810" cy="1470"/>
            </a:xfrm>
            <a:custGeom>
              <a:avLst/>
              <a:gdLst>
                <a:gd name="T0" fmla="*/ 0 w 810"/>
                <a:gd name="T1" fmla="*/ 0 h 1470"/>
                <a:gd name="T2" fmla="*/ 810 w 810"/>
                <a:gd name="T3" fmla="*/ 1470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8197" name="Group 125"/>
          <p:cNvGrpSpPr/>
          <p:nvPr/>
        </p:nvGrpSpPr>
        <p:grpSpPr bwMode="auto">
          <a:xfrm>
            <a:off x="533400" y="1008063"/>
            <a:ext cx="8162925" cy="4810125"/>
            <a:chOff x="336" y="635"/>
            <a:chExt cx="5142" cy="3030"/>
          </a:xfrm>
        </p:grpSpPr>
        <p:sp>
          <p:nvSpPr>
            <p:cNvPr id="8254" name="Line 36"/>
            <p:cNvSpPr>
              <a:spLocks noChangeShapeType="1"/>
            </p:cNvSpPr>
            <p:nvPr/>
          </p:nvSpPr>
          <p:spPr bwMode="auto">
            <a:xfrm>
              <a:off x="336" y="685"/>
              <a:ext cx="514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5" name="Line 37"/>
            <p:cNvSpPr>
              <a:spLocks noChangeShapeType="1"/>
            </p:cNvSpPr>
            <p:nvPr/>
          </p:nvSpPr>
          <p:spPr bwMode="auto">
            <a:xfrm>
              <a:off x="336" y="1446"/>
              <a:ext cx="509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6" name="Line 38"/>
            <p:cNvSpPr>
              <a:spLocks noChangeShapeType="1"/>
            </p:cNvSpPr>
            <p:nvPr/>
          </p:nvSpPr>
          <p:spPr bwMode="auto">
            <a:xfrm>
              <a:off x="336" y="1966"/>
              <a:ext cx="5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7" name="Line 39"/>
            <p:cNvSpPr>
              <a:spLocks noChangeShapeType="1"/>
            </p:cNvSpPr>
            <p:nvPr/>
          </p:nvSpPr>
          <p:spPr bwMode="auto">
            <a:xfrm>
              <a:off x="336" y="3658"/>
              <a:ext cx="514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8" name="Line 40"/>
            <p:cNvSpPr>
              <a:spLocks noChangeShapeType="1"/>
            </p:cNvSpPr>
            <p:nvPr/>
          </p:nvSpPr>
          <p:spPr bwMode="auto">
            <a:xfrm>
              <a:off x="2163" y="681"/>
              <a:ext cx="0" cy="2984"/>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59" name="Text Box 41"/>
            <p:cNvSpPr txBox="1">
              <a:spLocks noChangeArrowheads="1"/>
            </p:cNvSpPr>
            <p:nvPr/>
          </p:nvSpPr>
          <p:spPr bwMode="auto">
            <a:xfrm>
              <a:off x="616" y="664"/>
              <a:ext cx="140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图 形 符 号</a:t>
              </a:r>
              <a:r>
                <a:rPr lang="zh-CN" altLang="en-US" sz="2800" b="1"/>
                <a:t> </a:t>
              </a:r>
              <a:endParaRPr lang="zh-CN" altLang="en-US" sz="2800" b="1"/>
            </a:p>
          </p:txBody>
        </p:sp>
        <p:sp>
          <p:nvSpPr>
            <p:cNvPr id="8260" name="Line 42"/>
            <p:cNvSpPr>
              <a:spLocks noChangeShapeType="1"/>
            </p:cNvSpPr>
            <p:nvPr/>
          </p:nvSpPr>
          <p:spPr bwMode="auto">
            <a:xfrm flipH="1">
              <a:off x="336" y="951"/>
              <a:ext cx="513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61" name="Text Box 43"/>
            <p:cNvSpPr txBox="1">
              <a:spLocks noChangeArrowheads="1"/>
            </p:cNvSpPr>
            <p:nvPr/>
          </p:nvSpPr>
          <p:spPr bwMode="auto">
            <a:xfrm>
              <a:off x="3048" y="635"/>
              <a:ext cx="21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意  义  及  说  明</a:t>
              </a:r>
              <a:endParaRPr lang="zh-CN" altLang="en-US" sz="2800" b="1"/>
            </a:p>
          </p:txBody>
        </p:sp>
        <p:sp>
          <p:nvSpPr>
            <p:cNvPr id="8262" name="Line 44"/>
            <p:cNvSpPr>
              <a:spLocks noChangeShapeType="1"/>
            </p:cNvSpPr>
            <p:nvPr/>
          </p:nvSpPr>
          <p:spPr bwMode="auto">
            <a:xfrm>
              <a:off x="336" y="2486"/>
              <a:ext cx="5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63" name="Line 45"/>
            <p:cNvSpPr>
              <a:spLocks noChangeShapeType="1"/>
            </p:cNvSpPr>
            <p:nvPr/>
          </p:nvSpPr>
          <p:spPr bwMode="auto">
            <a:xfrm>
              <a:off x="336" y="3034"/>
              <a:ext cx="5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329" name="Text Box 65"/>
          <p:cNvSpPr txBox="1">
            <a:spLocks noChangeArrowheads="1"/>
          </p:cNvSpPr>
          <p:nvPr/>
        </p:nvSpPr>
        <p:spPr bwMode="auto">
          <a:xfrm>
            <a:off x="3397250" y="4865688"/>
            <a:ext cx="52832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表示视图上构成封闭轮廓的各表面有相同的表面粗糙度要求</a:t>
            </a:r>
            <a:endParaRPr lang="zh-CN" altLang="en-US" b="1"/>
          </a:p>
        </p:txBody>
      </p:sp>
      <p:grpSp>
        <p:nvGrpSpPr>
          <p:cNvPr id="11386" name="Group 122"/>
          <p:cNvGrpSpPr/>
          <p:nvPr/>
        </p:nvGrpSpPr>
        <p:grpSpPr bwMode="auto">
          <a:xfrm>
            <a:off x="3463925" y="2257425"/>
            <a:ext cx="5268913" cy="815975"/>
            <a:chOff x="2140" y="1422"/>
            <a:chExt cx="3319" cy="514"/>
          </a:xfrm>
        </p:grpSpPr>
        <p:sp>
          <p:nvSpPr>
            <p:cNvPr id="8252" name="Text Box 13"/>
            <p:cNvSpPr txBox="1">
              <a:spLocks noChangeArrowheads="1"/>
            </p:cNvSpPr>
            <p:nvPr/>
          </p:nvSpPr>
          <p:spPr bwMode="auto">
            <a:xfrm>
              <a:off x="2140" y="1648"/>
              <a:ext cx="331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表示用去除材料的方法获得的表面</a:t>
              </a:r>
              <a:endParaRPr lang="zh-CN" altLang="en-US" b="1"/>
            </a:p>
          </p:txBody>
        </p:sp>
        <p:sp>
          <p:nvSpPr>
            <p:cNvPr id="8253" name="Text Box 67"/>
            <p:cNvSpPr txBox="1">
              <a:spLocks noChangeArrowheads="1"/>
            </p:cNvSpPr>
            <p:nvPr/>
          </p:nvSpPr>
          <p:spPr bwMode="auto">
            <a:xfrm>
              <a:off x="2140" y="1422"/>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a:t>扩展图形符号</a:t>
              </a:r>
              <a:endParaRPr lang="zh-CN" altLang="en-US" b="1"/>
            </a:p>
          </p:txBody>
        </p:sp>
      </p:grpSp>
      <p:grpSp>
        <p:nvGrpSpPr>
          <p:cNvPr id="11387" name="Group 123"/>
          <p:cNvGrpSpPr/>
          <p:nvPr/>
        </p:nvGrpSpPr>
        <p:grpSpPr bwMode="auto">
          <a:xfrm>
            <a:off x="3436938" y="3052763"/>
            <a:ext cx="5300662" cy="844550"/>
            <a:chOff x="2140" y="1932"/>
            <a:chExt cx="3339" cy="532"/>
          </a:xfrm>
        </p:grpSpPr>
        <p:sp>
          <p:nvSpPr>
            <p:cNvPr id="8250" name="Text Box 14"/>
            <p:cNvSpPr txBox="1">
              <a:spLocks noChangeArrowheads="1"/>
            </p:cNvSpPr>
            <p:nvPr/>
          </p:nvSpPr>
          <p:spPr bwMode="auto">
            <a:xfrm>
              <a:off x="2140" y="2176"/>
              <a:ext cx="333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表示用不去除材料的方法获得的表面</a:t>
              </a:r>
              <a:endParaRPr lang="zh-CN" altLang="en-US" b="1"/>
            </a:p>
          </p:txBody>
        </p:sp>
        <p:sp>
          <p:nvSpPr>
            <p:cNvPr id="8251" name="Text Box 68"/>
            <p:cNvSpPr txBox="1">
              <a:spLocks noChangeArrowheads="1"/>
            </p:cNvSpPr>
            <p:nvPr/>
          </p:nvSpPr>
          <p:spPr bwMode="auto">
            <a:xfrm>
              <a:off x="2140" y="1932"/>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a:t>扩展图形符号</a:t>
              </a:r>
              <a:endParaRPr lang="zh-CN" altLang="en-US" b="1"/>
            </a:p>
          </p:txBody>
        </p:sp>
      </p:grpSp>
      <p:grpSp>
        <p:nvGrpSpPr>
          <p:cNvPr id="11388" name="Group 124"/>
          <p:cNvGrpSpPr/>
          <p:nvPr/>
        </p:nvGrpSpPr>
        <p:grpSpPr bwMode="auto">
          <a:xfrm>
            <a:off x="3436938" y="3903663"/>
            <a:ext cx="5486400" cy="868362"/>
            <a:chOff x="2140" y="2468"/>
            <a:chExt cx="3361" cy="547"/>
          </a:xfrm>
        </p:grpSpPr>
        <p:sp>
          <p:nvSpPr>
            <p:cNvPr id="8248" name="Text Box 34"/>
            <p:cNvSpPr txBox="1">
              <a:spLocks noChangeArrowheads="1"/>
            </p:cNvSpPr>
            <p:nvPr/>
          </p:nvSpPr>
          <p:spPr bwMode="auto">
            <a:xfrm>
              <a:off x="2140" y="2727"/>
              <a:ext cx="33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横线上用于标注表面粗糙度的补充信息</a:t>
              </a:r>
              <a:endParaRPr lang="zh-CN" altLang="en-US" b="1"/>
            </a:p>
          </p:txBody>
        </p:sp>
        <p:sp>
          <p:nvSpPr>
            <p:cNvPr id="8249" name="Text Box 70"/>
            <p:cNvSpPr txBox="1">
              <a:spLocks noChangeArrowheads="1"/>
            </p:cNvSpPr>
            <p:nvPr/>
          </p:nvSpPr>
          <p:spPr bwMode="auto">
            <a:xfrm>
              <a:off x="2140" y="2468"/>
              <a:ext cx="1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a:t>完整图形符号</a:t>
              </a:r>
              <a:endParaRPr lang="zh-CN" altLang="en-US" b="1"/>
            </a:p>
          </p:txBody>
        </p:sp>
      </p:grpSp>
      <p:grpSp>
        <p:nvGrpSpPr>
          <p:cNvPr id="11385" name="Group 121"/>
          <p:cNvGrpSpPr/>
          <p:nvPr/>
        </p:nvGrpSpPr>
        <p:grpSpPr bwMode="auto">
          <a:xfrm>
            <a:off x="3427413" y="1487488"/>
            <a:ext cx="4633912" cy="819150"/>
            <a:chOff x="2126" y="937"/>
            <a:chExt cx="2919" cy="516"/>
          </a:xfrm>
        </p:grpSpPr>
        <p:sp>
          <p:nvSpPr>
            <p:cNvPr id="8246" name="Text Box 11"/>
            <p:cNvSpPr txBox="1">
              <a:spLocks noChangeArrowheads="1"/>
            </p:cNvSpPr>
            <p:nvPr/>
          </p:nvSpPr>
          <p:spPr bwMode="auto">
            <a:xfrm>
              <a:off x="2126" y="937"/>
              <a:ext cx="291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基本图形符号，不能</a:t>
              </a:r>
              <a:r>
                <a:rPr lang="zh-CN" altLang="en-US" b="1">
                  <a:solidFill>
                    <a:srgbClr val="FF3300"/>
                  </a:solidFill>
                </a:rPr>
                <a:t>单独使用。</a:t>
              </a:r>
              <a:endParaRPr lang="zh-CN" altLang="en-US" b="1">
                <a:solidFill>
                  <a:srgbClr val="FF3300"/>
                </a:solidFill>
              </a:endParaRPr>
            </a:p>
          </p:txBody>
        </p:sp>
        <p:sp>
          <p:nvSpPr>
            <p:cNvPr id="8247" name="Text Box 71"/>
            <p:cNvSpPr txBox="1">
              <a:spLocks noChangeArrowheads="1"/>
            </p:cNvSpPr>
            <p:nvPr/>
          </p:nvSpPr>
          <p:spPr bwMode="auto">
            <a:xfrm>
              <a:off x="2133" y="1165"/>
              <a:ext cx="243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表示未指定工艺方法的表面</a:t>
              </a:r>
              <a:endParaRPr lang="zh-CN" altLang="en-US" b="1"/>
            </a:p>
          </p:txBody>
        </p:sp>
      </p:grpSp>
      <p:grpSp>
        <p:nvGrpSpPr>
          <p:cNvPr id="11342" name="Group 78"/>
          <p:cNvGrpSpPr/>
          <p:nvPr/>
        </p:nvGrpSpPr>
        <p:grpSpPr bwMode="auto">
          <a:xfrm>
            <a:off x="1528763" y="3194050"/>
            <a:ext cx="636587" cy="627063"/>
            <a:chOff x="963" y="2012"/>
            <a:chExt cx="401" cy="395"/>
          </a:xfrm>
        </p:grpSpPr>
        <p:sp>
          <p:nvSpPr>
            <p:cNvPr id="8242" name="Freeform 17"/>
            <p:cNvSpPr/>
            <p:nvPr/>
          </p:nvSpPr>
          <p:spPr bwMode="auto">
            <a:xfrm>
              <a:off x="963" y="2200"/>
              <a:ext cx="133" cy="207"/>
            </a:xfrm>
            <a:custGeom>
              <a:avLst/>
              <a:gdLst>
                <a:gd name="T0" fmla="*/ 0 w 810"/>
                <a:gd name="T1" fmla="*/ 0 h 1470"/>
                <a:gd name="T2" fmla="*/ 133 w 810"/>
                <a:gd name="T3" fmla="*/ 207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8243" name="Group 75"/>
            <p:cNvGrpSpPr/>
            <p:nvPr/>
          </p:nvGrpSpPr>
          <p:grpSpPr bwMode="auto">
            <a:xfrm>
              <a:off x="1024" y="2012"/>
              <a:ext cx="340" cy="395"/>
              <a:chOff x="1024" y="2012"/>
              <a:chExt cx="340" cy="395"/>
            </a:xfrm>
          </p:grpSpPr>
          <p:sp>
            <p:nvSpPr>
              <p:cNvPr id="8244" name="Freeform 16"/>
              <p:cNvSpPr/>
              <p:nvPr/>
            </p:nvSpPr>
            <p:spPr bwMode="auto">
              <a:xfrm>
                <a:off x="1096" y="2012"/>
                <a:ext cx="268" cy="395"/>
              </a:xfrm>
              <a:custGeom>
                <a:avLst/>
                <a:gdLst>
                  <a:gd name="T0" fmla="*/ 0 w 1617"/>
                  <a:gd name="T1" fmla="*/ 395 h 2806"/>
                  <a:gd name="T2" fmla="*/ 268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45" name="Oval 73"/>
              <p:cNvSpPr>
                <a:spLocks noChangeArrowheads="1"/>
              </p:cNvSpPr>
              <p:nvPr/>
            </p:nvSpPr>
            <p:spPr bwMode="auto">
              <a:xfrm>
                <a:off x="1024" y="2192"/>
                <a:ext cx="152" cy="15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11366" name="Group 102"/>
          <p:cNvGrpSpPr/>
          <p:nvPr/>
        </p:nvGrpSpPr>
        <p:grpSpPr bwMode="auto">
          <a:xfrm>
            <a:off x="657225" y="4051300"/>
            <a:ext cx="2698750" cy="635000"/>
            <a:chOff x="414" y="2552"/>
            <a:chExt cx="1700" cy="400"/>
          </a:xfrm>
        </p:grpSpPr>
        <p:grpSp>
          <p:nvGrpSpPr>
            <p:cNvPr id="8226" name="Group 101"/>
            <p:cNvGrpSpPr/>
            <p:nvPr/>
          </p:nvGrpSpPr>
          <p:grpSpPr bwMode="auto">
            <a:xfrm>
              <a:off x="414" y="2562"/>
              <a:ext cx="622" cy="388"/>
              <a:chOff x="414" y="2562"/>
              <a:chExt cx="622" cy="388"/>
            </a:xfrm>
          </p:grpSpPr>
          <p:grpSp>
            <p:nvGrpSpPr>
              <p:cNvPr id="8238" name="Group 24"/>
              <p:cNvGrpSpPr/>
              <p:nvPr/>
            </p:nvGrpSpPr>
            <p:grpSpPr bwMode="auto">
              <a:xfrm>
                <a:off x="414" y="2563"/>
                <a:ext cx="384" cy="387"/>
                <a:chOff x="2648" y="1163"/>
                <a:chExt cx="670" cy="694"/>
              </a:xfrm>
            </p:grpSpPr>
            <p:sp>
              <p:nvSpPr>
                <p:cNvPr id="8240" name="Freeform 25"/>
                <p:cNvSpPr/>
                <p:nvPr/>
              </p:nvSpPr>
              <p:spPr bwMode="auto">
                <a:xfrm>
                  <a:off x="2871" y="1163"/>
                  <a:ext cx="447" cy="694"/>
                </a:xfrm>
                <a:custGeom>
                  <a:avLst/>
                  <a:gdLst>
                    <a:gd name="T0" fmla="*/ 0 w 1617"/>
                    <a:gd name="T1" fmla="*/ 694 h 2806"/>
                    <a:gd name="T2" fmla="*/ 447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41" name="Freeform 26"/>
                <p:cNvSpPr/>
                <p:nvPr/>
              </p:nvSpPr>
              <p:spPr bwMode="auto">
                <a:xfrm>
                  <a:off x="2648" y="1493"/>
                  <a:ext cx="223" cy="364"/>
                </a:xfrm>
                <a:custGeom>
                  <a:avLst/>
                  <a:gdLst>
                    <a:gd name="T0" fmla="*/ 0 w 810"/>
                    <a:gd name="T1" fmla="*/ 0 h 1470"/>
                    <a:gd name="T2" fmla="*/ 223 w 810"/>
                    <a:gd name="T3" fmla="*/ 364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239" name="Line 31"/>
              <p:cNvSpPr>
                <a:spLocks noChangeShapeType="1"/>
              </p:cNvSpPr>
              <p:nvPr/>
            </p:nvSpPr>
            <p:spPr bwMode="auto">
              <a:xfrm>
                <a:off x="796" y="2562"/>
                <a:ext cx="240"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8227" name="Group 100"/>
            <p:cNvGrpSpPr/>
            <p:nvPr/>
          </p:nvGrpSpPr>
          <p:grpSpPr bwMode="auto">
            <a:xfrm>
              <a:off x="969" y="2556"/>
              <a:ext cx="600" cy="396"/>
              <a:chOff x="969" y="2559"/>
              <a:chExt cx="600" cy="396"/>
            </a:xfrm>
          </p:grpSpPr>
          <p:grpSp>
            <p:nvGrpSpPr>
              <p:cNvPr id="8233" name="Group 20"/>
              <p:cNvGrpSpPr/>
              <p:nvPr/>
            </p:nvGrpSpPr>
            <p:grpSpPr bwMode="auto">
              <a:xfrm>
                <a:off x="969" y="2559"/>
                <a:ext cx="389" cy="396"/>
                <a:chOff x="1839" y="720"/>
                <a:chExt cx="2433" cy="2806"/>
              </a:xfrm>
            </p:grpSpPr>
            <p:sp>
              <p:nvSpPr>
                <p:cNvPr id="8235" name="Freeform 21"/>
                <p:cNvSpPr/>
                <p:nvPr/>
              </p:nvSpPr>
              <p:spPr bwMode="auto">
                <a:xfrm>
                  <a:off x="2655" y="720"/>
                  <a:ext cx="1617" cy="2806"/>
                </a:xfrm>
                <a:custGeom>
                  <a:avLst/>
                  <a:gdLst>
                    <a:gd name="T0" fmla="*/ 0 w 1617"/>
                    <a:gd name="T1" fmla="*/ 2806 h 2806"/>
                    <a:gd name="T2" fmla="*/ 1617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36" name="Freeform 22"/>
                <p:cNvSpPr/>
                <p:nvPr/>
              </p:nvSpPr>
              <p:spPr bwMode="auto">
                <a:xfrm>
                  <a:off x="1839" y="2064"/>
                  <a:ext cx="1665" cy="1"/>
                </a:xfrm>
                <a:custGeom>
                  <a:avLst/>
                  <a:gdLst>
                    <a:gd name="T0" fmla="*/ 0 w 1665"/>
                    <a:gd name="T1" fmla="*/ 0 h 1"/>
                    <a:gd name="T2" fmla="*/ 1665 w 1665"/>
                    <a:gd name="T3" fmla="*/ 1 h 1"/>
                    <a:gd name="T4" fmla="*/ 0 60000 65536"/>
                    <a:gd name="T5" fmla="*/ 0 60000 65536"/>
                  </a:gdLst>
                  <a:ahLst/>
                  <a:cxnLst>
                    <a:cxn ang="T4">
                      <a:pos x="T0" y="T1"/>
                    </a:cxn>
                    <a:cxn ang="T5">
                      <a:pos x="T2" y="T3"/>
                    </a:cxn>
                  </a:cxnLst>
                  <a:rect l="0" t="0" r="r" b="b"/>
                  <a:pathLst>
                    <a:path w="1665" h="1">
                      <a:moveTo>
                        <a:pt x="0" y="0"/>
                      </a:moveTo>
                      <a:lnTo>
                        <a:pt x="1665" y="1"/>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37" name="Freeform 23"/>
                <p:cNvSpPr/>
                <p:nvPr/>
              </p:nvSpPr>
              <p:spPr bwMode="auto">
                <a:xfrm>
                  <a:off x="1845" y="2056"/>
                  <a:ext cx="810" cy="1470"/>
                </a:xfrm>
                <a:custGeom>
                  <a:avLst/>
                  <a:gdLst>
                    <a:gd name="T0" fmla="*/ 0 w 810"/>
                    <a:gd name="T1" fmla="*/ 0 h 1470"/>
                    <a:gd name="T2" fmla="*/ 810 w 810"/>
                    <a:gd name="T3" fmla="*/ 1470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234" name="Line 32"/>
              <p:cNvSpPr>
                <a:spLocks noChangeShapeType="1"/>
              </p:cNvSpPr>
              <p:nvPr/>
            </p:nvSpPr>
            <p:spPr bwMode="auto">
              <a:xfrm>
                <a:off x="1358" y="2564"/>
                <a:ext cx="211"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8228" name="Group 80"/>
            <p:cNvGrpSpPr/>
            <p:nvPr/>
          </p:nvGrpSpPr>
          <p:grpSpPr bwMode="auto">
            <a:xfrm>
              <a:off x="1495" y="2552"/>
              <a:ext cx="619" cy="395"/>
              <a:chOff x="1495" y="2552"/>
              <a:chExt cx="619" cy="395"/>
            </a:xfrm>
          </p:grpSpPr>
          <p:sp>
            <p:nvSpPr>
              <p:cNvPr id="8229" name="Freeform 28"/>
              <p:cNvSpPr/>
              <p:nvPr/>
            </p:nvSpPr>
            <p:spPr bwMode="auto">
              <a:xfrm>
                <a:off x="1628" y="2552"/>
                <a:ext cx="268" cy="395"/>
              </a:xfrm>
              <a:custGeom>
                <a:avLst/>
                <a:gdLst>
                  <a:gd name="T0" fmla="*/ 0 w 1617"/>
                  <a:gd name="T1" fmla="*/ 395 h 2806"/>
                  <a:gd name="T2" fmla="*/ 268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30" name="Freeform 29"/>
              <p:cNvSpPr/>
              <p:nvPr/>
            </p:nvSpPr>
            <p:spPr bwMode="auto">
              <a:xfrm>
                <a:off x="1495" y="2740"/>
                <a:ext cx="133" cy="207"/>
              </a:xfrm>
              <a:custGeom>
                <a:avLst/>
                <a:gdLst>
                  <a:gd name="T0" fmla="*/ 0 w 810"/>
                  <a:gd name="T1" fmla="*/ 0 h 1470"/>
                  <a:gd name="T2" fmla="*/ 133 w 810"/>
                  <a:gd name="T3" fmla="*/ 207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31" name="Line 33"/>
              <p:cNvSpPr>
                <a:spLocks noChangeShapeType="1"/>
              </p:cNvSpPr>
              <p:nvPr/>
            </p:nvSpPr>
            <p:spPr bwMode="auto">
              <a:xfrm>
                <a:off x="1889" y="2557"/>
                <a:ext cx="225"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232" name="Oval 74"/>
              <p:cNvSpPr>
                <a:spLocks noChangeArrowheads="1"/>
              </p:cNvSpPr>
              <p:nvPr/>
            </p:nvSpPr>
            <p:spPr bwMode="auto">
              <a:xfrm>
                <a:off x="1555" y="2728"/>
                <a:ext cx="152" cy="15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11384" name="Group 120"/>
          <p:cNvGrpSpPr/>
          <p:nvPr/>
        </p:nvGrpSpPr>
        <p:grpSpPr bwMode="auto">
          <a:xfrm>
            <a:off x="609600" y="4949825"/>
            <a:ext cx="2698750" cy="746125"/>
            <a:chOff x="384" y="3082"/>
            <a:chExt cx="1700" cy="470"/>
          </a:xfrm>
        </p:grpSpPr>
        <p:sp>
          <p:nvSpPr>
            <p:cNvPr id="8206" name="Oval 30"/>
            <p:cNvSpPr>
              <a:spLocks noChangeArrowheads="1"/>
            </p:cNvSpPr>
            <p:nvPr/>
          </p:nvSpPr>
          <p:spPr bwMode="auto">
            <a:xfrm>
              <a:off x="1787" y="3082"/>
              <a:ext cx="155" cy="149"/>
            </a:xfrm>
            <a:prstGeom prst="ellipse">
              <a:avLst/>
            </a:prstGeom>
            <a:noFill/>
            <a:ln w="19050">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07" name="Oval 97"/>
            <p:cNvSpPr>
              <a:spLocks noChangeArrowheads="1"/>
            </p:cNvSpPr>
            <p:nvPr/>
          </p:nvSpPr>
          <p:spPr bwMode="auto">
            <a:xfrm>
              <a:off x="1253" y="3082"/>
              <a:ext cx="155" cy="149"/>
            </a:xfrm>
            <a:prstGeom prst="ellipse">
              <a:avLst/>
            </a:prstGeom>
            <a:noFill/>
            <a:ln w="19050">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08" name="Oval 98"/>
            <p:cNvSpPr>
              <a:spLocks noChangeArrowheads="1"/>
            </p:cNvSpPr>
            <p:nvPr/>
          </p:nvSpPr>
          <p:spPr bwMode="auto">
            <a:xfrm>
              <a:off x="689" y="3082"/>
              <a:ext cx="155" cy="149"/>
            </a:xfrm>
            <a:prstGeom prst="ellipse">
              <a:avLst/>
            </a:prstGeom>
            <a:noFill/>
            <a:ln w="19050">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8209" name="Group 103"/>
            <p:cNvGrpSpPr/>
            <p:nvPr/>
          </p:nvGrpSpPr>
          <p:grpSpPr bwMode="auto">
            <a:xfrm>
              <a:off x="384" y="3152"/>
              <a:ext cx="1700" cy="400"/>
              <a:chOff x="414" y="2552"/>
              <a:chExt cx="1700" cy="400"/>
            </a:xfrm>
          </p:grpSpPr>
          <p:grpSp>
            <p:nvGrpSpPr>
              <p:cNvPr id="8210" name="Group 104"/>
              <p:cNvGrpSpPr/>
              <p:nvPr/>
            </p:nvGrpSpPr>
            <p:grpSpPr bwMode="auto">
              <a:xfrm>
                <a:off x="414" y="2562"/>
                <a:ext cx="622" cy="388"/>
                <a:chOff x="414" y="2562"/>
                <a:chExt cx="622" cy="388"/>
              </a:xfrm>
            </p:grpSpPr>
            <p:grpSp>
              <p:nvGrpSpPr>
                <p:cNvPr id="8222" name="Group 105"/>
                <p:cNvGrpSpPr/>
                <p:nvPr/>
              </p:nvGrpSpPr>
              <p:grpSpPr bwMode="auto">
                <a:xfrm>
                  <a:off x="414" y="2563"/>
                  <a:ext cx="384" cy="387"/>
                  <a:chOff x="2648" y="1163"/>
                  <a:chExt cx="670" cy="694"/>
                </a:xfrm>
              </p:grpSpPr>
              <p:sp>
                <p:nvSpPr>
                  <p:cNvPr id="8224" name="Freeform 106"/>
                  <p:cNvSpPr/>
                  <p:nvPr/>
                </p:nvSpPr>
                <p:spPr bwMode="auto">
                  <a:xfrm>
                    <a:off x="2871" y="1163"/>
                    <a:ext cx="447" cy="694"/>
                  </a:xfrm>
                  <a:custGeom>
                    <a:avLst/>
                    <a:gdLst>
                      <a:gd name="T0" fmla="*/ 0 w 1617"/>
                      <a:gd name="T1" fmla="*/ 694 h 2806"/>
                      <a:gd name="T2" fmla="*/ 447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25" name="Freeform 107"/>
                  <p:cNvSpPr/>
                  <p:nvPr/>
                </p:nvSpPr>
                <p:spPr bwMode="auto">
                  <a:xfrm>
                    <a:off x="2648" y="1493"/>
                    <a:ext cx="223" cy="364"/>
                  </a:xfrm>
                  <a:custGeom>
                    <a:avLst/>
                    <a:gdLst>
                      <a:gd name="T0" fmla="*/ 0 w 810"/>
                      <a:gd name="T1" fmla="*/ 0 h 1470"/>
                      <a:gd name="T2" fmla="*/ 223 w 810"/>
                      <a:gd name="T3" fmla="*/ 364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223" name="Line 108"/>
                <p:cNvSpPr>
                  <a:spLocks noChangeShapeType="1"/>
                </p:cNvSpPr>
                <p:nvPr/>
              </p:nvSpPr>
              <p:spPr bwMode="auto">
                <a:xfrm>
                  <a:off x="796" y="2562"/>
                  <a:ext cx="240"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8211" name="Group 109"/>
              <p:cNvGrpSpPr/>
              <p:nvPr/>
            </p:nvGrpSpPr>
            <p:grpSpPr bwMode="auto">
              <a:xfrm>
                <a:off x="969" y="2556"/>
                <a:ext cx="600" cy="396"/>
                <a:chOff x="969" y="2559"/>
                <a:chExt cx="600" cy="396"/>
              </a:xfrm>
            </p:grpSpPr>
            <p:grpSp>
              <p:nvGrpSpPr>
                <p:cNvPr id="8217" name="Group 110"/>
                <p:cNvGrpSpPr/>
                <p:nvPr/>
              </p:nvGrpSpPr>
              <p:grpSpPr bwMode="auto">
                <a:xfrm>
                  <a:off x="969" y="2559"/>
                  <a:ext cx="389" cy="396"/>
                  <a:chOff x="1839" y="720"/>
                  <a:chExt cx="2433" cy="2806"/>
                </a:xfrm>
              </p:grpSpPr>
              <p:sp>
                <p:nvSpPr>
                  <p:cNvPr id="8219" name="Freeform 111"/>
                  <p:cNvSpPr/>
                  <p:nvPr/>
                </p:nvSpPr>
                <p:spPr bwMode="auto">
                  <a:xfrm>
                    <a:off x="2655" y="720"/>
                    <a:ext cx="1617" cy="2806"/>
                  </a:xfrm>
                  <a:custGeom>
                    <a:avLst/>
                    <a:gdLst>
                      <a:gd name="T0" fmla="*/ 0 w 1617"/>
                      <a:gd name="T1" fmla="*/ 2806 h 2806"/>
                      <a:gd name="T2" fmla="*/ 1617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20" name="Freeform 112"/>
                  <p:cNvSpPr/>
                  <p:nvPr/>
                </p:nvSpPr>
                <p:spPr bwMode="auto">
                  <a:xfrm>
                    <a:off x="1839" y="2064"/>
                    <a:ext cx="1665" cy="1"/>
                  </a:xfrm>
                  <a:custGeom>
                    <a:avLst/>
                    <a:gdLst>
                      <a:gd name="T0" fmla="*/ 0 w 1665"/>
                      <a:gd name="T1" fmla="*/ 0 h 1"/>
                      <a:gd name="T2" fmla="*/ 1665 w 1665"/>
                      <a:gd name="T3" fmla="*/ 1 h 1"/>
                      <a:gd name="T4" fmla="*/ 0 60000 65536"/>
                      <a:gd name="T5" fmla="*/ 0 60000 65536"/>
                    </a:gdLst>
                    <a:ahLst/>
                    <a:cxnLst>
                      <a:cxn ang="T4">
                        <a:pos x="T0" y="T1"/>
                      </a:cxn>
                      <a:cxn ang="T5">
                        <a:pos x="T2" y="T3"/>
                      </a:cxn>
                    </a:cxnLst>
                    <a:rect l="0" t="0" r="r" b="b"/>
                    <a:pathLst>
                      <a:path w="1665" h="1">
                        <a:moveTo>
                          <a:pt x="0" y="0"/>
                        </a:moveTo>
                        <a:lnTo>
                          <a:pt x="1665" y="1"/>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21" name="Freeform 113"/>
                  <p:cNvSpPr/>
                  <p:nvPr/>
                </p:nvSpPr>
                <p:spPr bwMode="auto">
                  <a:xfrm>
                    <a:off x="1845" y="2056"/>
                    <a:ext cx="810" cy="1470"/>
                  </a:xfrm>
                  <a:custGeom>
                    <a:avLst/>
                    <a:gdLst>
                      <a:gd name="T0" fmla="*/ 0 w 810"/>
                      <a:gd name="T1" fmla="*/ 0 h 1470"/>
                      <a:gd name="T2" fmla="*/ 810 w 810"/>
                      <a:gd name="T3" fmla="*/ 1470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218" name="Line 114"/>
                <p:cNvSpPr>
                  <a:spLocks noChangeShapeType="1"/>
                </p:cNvSpPr>
                <p:nvPr/>
              </p:nvSpPr>
              <p:spPr bwMode="auto">
                <a:xfrm>
                  <a:off x="1358" y="2564"/>
                  <a:ext cx="211"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8212" name="Group 115"/>
              <p:cNvGrpSpPr/>
              <p:nvPr/>
            </p:nvGrpSpPr>
            <p:grpSpPr bwMode="auto">
              <a:xfrm>
                <a:off x="1495" y="2552"/>
                <a:ext cx="619" cy="395"/>
                <a:chOff x="1495" y="2552"/>
                <a:chExt cx="619" cy="395"/>
              </a:xfrm>
            </p:grpSpPr>
            <p:sp>
              <p:nvSpPr>
                <p:cNvPr id="8213" name="Freeform 116"/>
                <p:cNvSpPr/>
                <p:nvPr/>
              </p:nvSpPr>
              <p:spPr bwMode="auto">
                <a:xfrm>
                  <a:off x="1628" y="2552"/>
                  <a:ext cx="268" cy="395"/>
                </a:xfrm>
                <a:custGeom>
                  <a:avLst/>
                  <a:gdLst>
                    <a:gd name="T0" fmla="*/ 0 w 1617"/>
                    <a:gd name="T1" fmla="*/ 395 h 2806"/>
                    <a:gd name="T2" fmla="*/ 268 w 1617"/>
                    <a:gd name="T3" fmla="*/ 0 h 2806"/>
                    <a:gd name="T4" fmla="*/ 0 60000 65536"/>
                    <a:gd name="T5" fmla="*/ 0 60000 65536"/>
                  </a:gdLst>
                  <a:ahLst/>
                  <a:cxnLst>
                    <a:cxn ang="T4">
                      <a:pos x="T0" y="T1"/>
                    </a:cxn>
                    <a:cxn ang="T5">
                      <a:pos x="T2" y="T3"/>
                    </a:cxn>
                  </a:cxnLst>
                  <a:rect l="0" t="0" r="r" b="b"/>
                  <a:pathLst>
                    <a:path w="1617" h="2806">
                      <a:moveTo>
                        <a:pt x="0" y="2806"/>
                      </a:moveTo>
                      <a:lnTo>
                        <a:pt x="1617"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14" name="Freeform 117"/>
                <p:cNvSpPr/>
                <p:nvPr/>
              </p:nvSpPr>
              <p:spPr bwMode="auto">
                <a:xfrm>
                  <a:off x="1495" y="2740"/>
                  <a:ext cx="133" cy="207"/>
                </a:xfrm>
                <a:custGeom>
                  <a:avLst/>
                  <a:gdLst>
                    <a:gd name="T0" fmla="*/ 0 w 810"/>
                    <a:gd name="T1" fmla="*/ 0 h 1470"/>
                    <a:gd name="T2" fmla="*/ 133 w 810"/>
                    <a:gd name="T3" fmla="*/ 207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15" name="Line 118"/>
                <p:cNvSpPr>
                  <a:spLocks noChangeShapeType="1"/>
                </p:cNvSpPr>
                <p:nvPr/>
              </p:nvSpPr>
              <p:spPr bwMode="auto">
                <a:xfrm>
                  <a:off x="1889" y="2557"/>
                  <a:ext cx="225"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216" name="Oval 119"/>
                <p:cNvSpPr>
                  <a:spLocks noChangeArrowheads="1"/>
                </p:cNvSpPr>
                <p:nvPr/>
              </p:nvSpPr>
              <p:spPr bwMode="auto">
                <a:xfrm>
                  <a:off x="1555" y="2728"/>
                  <a:ext cx="152" cy="15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blinds(horizontal)">
                                      <p:cBhvr>
                                        <p:cTn id="7" dur="500"/>
                                        <p:tgtEl>
                                          <p:spTgt spid="1126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385"/>
                                        </p:tgtEl>
                                        <p:attrNameLst>
                                          <p:attrName>style.visibility</p:attrName>
                                        </p:attrNameLst>
                                      </p:cBhvr>
                                      <p:to>
                                        <p:strVal val="visible"/>
                                      </p:to>
                                    </p:set>
                                    <p:animEffect transition="in" filter="blinds(horizontal)">
                                      <p:cBhvr>
                                        <p:cTn id="11" dur="500"/>
                                        <p:tgtEl>
                                          <p:spTgt spid="1138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1270"/>
                                        </p:tgtEl>
                                        <p:attrNameLst>
                                          <p:attrName>style.visibility</p:attrName>
                                        </p:attrNameLst>
                                      </p:cBhvr>
                                      <p:to>
                                        <p:strVal val="visible"/>
                                      </p:to>
                                    </p:set>
                                    <p:animEffect transition="in" filter="blinds(horizontal)">
                                      <p:cBhvr>
                                        <p:cTn id="16" dur="500"/>
                                        <p:tgtEl>
                                          <p:spTgt spid="11270"/>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11386"/>
                                        </p:tgtEl>
                                        <p:attrNameLst>
                                          <p:attrName>style.visibility</p:attrName>
                                        </p:attrNameLst>
                                      </p:cBhvr>
                                      <p:to>
                                        <p:strVal val="visible"/>
                                      </p:to>
                                    </p:set>
                                    <p:animEffect transition="in" filter="blinds(horizontal)">
                                      <p:cBhvr>
                                        <p:cTn id="20" dur="500"/>
                                        <p:tgtEl>
                                          <p:spTgt spid="1138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342"/>
                                        </p:tgtEl>
                                        <p:attrNameLst>
                                          <p:attrName>style.visibility</p:attrName>
                                        </p:attrNameLst>
                                      </p:cBhvr>
                                      <p:to>
                                        <p:strVal val="visible"/>
                                      </p:to>
                                    </p:set>
                                    <p:animEffect transition="in" filter="blinds(horizontal)">
                                      <p:cBhvr>
                                        <p:cTn id="25" dur="500"/>
                                        <p:tgtEl>
                                          <p:spTgt spid="11342"/>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11387"/>
                                        </p:tgtEl>
                                        <p:attrNameLst>
                                          <p:attrName>style.visibility</p:attrName>
                                        </p:attrNameLst>
                                      </p:cBhvr>
                                      <p:to>
                                        <p:strVal val="visible"/>
                                      </p:to>
                                    </p:set>
                                    <p:animEffect transition="in" filter="blinds(horizontal)">
                                      <p:cBhvr>
                                        <p:cTn id="29" dur="500"/>
                                        <p:tgtEl>
                                          <p:spTgt spid="11387"/>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1366"/>
                                        </p:tgtEl>
                                        <p:attrNameLst>
                                          <p:attrName>style.visibility</p:attrName>
                                        </p:attrNameLst>
                                      </p:cBhvr>
                                      <p:to>
                                        <p:strVal val="visible"/>
                                      </p:to>
                                    </p:set>
                                    <p:animEffect transition="in" filter="blinds(horizontal)">
                                      <p:cBhvr>
                                        <p:cTn id="34" dur="500"/>
                                        <p:tgtEl>
                                          <p:spTgt spid="11366"/>
                                        </p:tgtEl>
                                      </p:cBhvr>
                                    </p:animEffect>
                                  </p:childTnLst>
                                </p:cTn>
                              </p:par>
                            </p:childTnLst>
                          </p:cTn>
                        </p:par>
                        <p:par>
                          <p:cTn id="35" fill="hold">
                            <p:stCondLst>
                              <p:cond delay="500"/>
                            </p:stCondLst>
                            <p:childTnLst>
                              <p:par>
                                <p:cTn id="36" presetID="3" presetClass="entr" presetSubtype="10" fill="hold" nodeType="afterEffect">
                                  <p:stCondLst>
                                    <p:cond delay="0"/>
                                  </p:stCondLst>
                                  <p:childTnLst>
                                    <p:set>
                                      <p:cBhvr>
                                        <p:cTn id="37" dur="1" fill="hold">
                                          <p:stCondLst>
                                            <p:cond delay="0"/>
                                          </p:stCondLst>
                                        </p:cTn>
                                        <p:tgtEl>
                                          <p:spTgt spid="11388"/>
                                        </p:tgtEl>
                                        <p:attrNameLst>
                                          <p:attrName>style.visibility</p:attrName>
                                        </p:attrNameLst>
                                      </p:cBhvr>
                                      <p:to>
                                        <p:strVal val="visible"/>
                                      </p:to>
                                    </p:set>
                                    <p:animEffect transition="in" filter="blinds(horizontal)">
                                      <p:cBhvr>
                                        <p:cTn id="38" dur="500"/>
                                        <p:tgtEl>
                                          <p:spTgt spid="11388"/>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1384"/>
                                        </p:tgtEl>
                                        <p:attrNameLst>
                                          <p:attrName>style.visibility</p:attrName>
                                        </p:attrNameLst>
                                      </p:cBhvr>
                                      <p:to>
                                        <p:strVal val="visible"/>
                                      </p:to>
                                    </p:set>
                                    <p:animEffect transition="in" filter="blinds(horizontal)">
                                      <p:cBhvr>
                                        <p:cTn id="43" dur="500"/>
                                        <p:tgtEl>
                                          <p:spTgt spid="11384"/>
                                        </p:tgtEl>
                                      </p:cBhvr>
                                    </p:animEffect>
                                  </p:childTnLst>
                                </p:cTn>
                              </p:par>
                            </p:childTnLst>
                          </p:cTn>
                        </p:par>
                        <p:par>
                          <p:cTn id="44" fill="hold">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11329"/>
                                        </p:tgtEl>
                                        <p:attrNameLst>
                                          <p:attrName>style.visibility</p:attrName>
                                        </p:attrNameLst>
                                      </p:cBhvr>
                                      <p:to>
                                        <p:strVal val="visible"/>
                                      </p:to>
                                    </p:set>
                                    <p:animEffect transition="in" filter="blinds(horizontal)">
                                      <p:cBhvr>
                                        <p:cTn id="47" dur="500"/>
                                        <p:tgtEl>
                                          <p:spTgt spid="11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452438" y="200025"/>
            <a:ext cx="41783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2) </a:t>
            </a:r>
            <a:r>
              <a:rPr lang="zh-CN" altLang="en-US" sz="3200" b="1">
                <a:latin typeface="宋体" panose="02010600030101010101" pitchFamily="2" charset="-122"/>
              </a:rPr>
              <a:t>表面粗糙度代号</a:t>
            </a:r>
            <a:endParaRPr lang="zh-CN" altLang="en-US" sz="3200" b="1">
              <a:latin typeface="宋体" panose="02010600030101010101" pitchFamily="2" charset="-122"/>
            </a:endParaRPr>
          </a:p>
        </p:txBody>
      </p:sp>
      <p:sp>
        <p:nvSpPr>
          <p:cNvPr id="9219" name="Text Box 11"/>
          <p:cNvSpPr txBox="1">
            <a:spLocks noChangeArrowheads="1"/>
          </p:cNvSpPr>
          <p:nvPr/>
        </p:nvSpPr>
        <p:spPr bwMode="auto">
          <a:xfrm>
            <a:off x="2289175" y="1941513"/>
            <a:ext cx="184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endParaRPr lang="zh-CN" altLang="zh-CN"/>
          </a:p>
        </p:txBody>
      </p:sp>
      <p:sp>
        <p:nvSpPr>
          <p:cNvPr id="12350" name="Text Box 62"/>
          <p:cNvSpPr txBox="1">
            <a:spLocks noChangeArrowheads="1"/>
          </p:cNvSpPr>
          <p:nvPr/>
        </p:nvSpPr>
        <p:spPr bwMode="auto">
          <a:xfrm>
            <a:off x="793750" y="1333500"/>
            <a:ext cx="4481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位置</a:t>
            </a:r>
            <a:r>
              <a:rPr lang="en-US" altLang="zh-CN" sz="2800" b="1" i="1"/>
              <a:t>a </a:t>
            </a:r>
            <a:r>
              <a:rPr lang="zh-CN" altLang="en-US" sz="2800" b="1"/>
              <a:t>应注写的内容及格式</a:t>
            </a:r>
            <a:r>
              <a:rPr lang="en-US" altLang="zh-CN" sz="2800" b="1"/>
              <a:t>:</a:t>
            </a:r>
            <a:endParaRPr lang="en-US" altLang="zh-CN" sz="2800" b="1"/>
          </a:p>
        </p:txBody>
      </p:sp>
      <p:sp>
        <p:nvSpPr>
          <p:cNvPr id="12394" name="Text Box 106"/>
          <p:cNvSpPr txBox="1">
            <a:spLocks noChangeArrowheads="1"/>
          </p:cNvSpPr>
          <p:nvPr/>
        </p:nvSpPr>
        <p:spPr bwMode="auto">
          <a:xfrm>
            <a:off x="1004888" y="2033588"/>
            <a:ext cx="3514725" cy="531812"/>
          </a:xfrm>
          <a:prstGeom prst="rect">
            <a:avLst/>
          </a:prstGeom>
          <a:noFill/>
          <a:ln w="12700">
            <a:solidFill>
              <a:srgbClr val="00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003399"/>
                </a:solidFill>
              </a:rPr>
              <a:t>表面粗糙度参数代号</a:t>
            </a:r>
            <a:endParaRPr lang="zh-CN" altLang="en-US" sz="2800" b="1">
              <a:solidFill>
                <a:srgbClr val="003399"/>
              </a:solidFill>
            </a:endParaRPr>
          </a:p>
        </p:txBody>
      </p:sp>
      <p:sp>
        <p:nvSpPr>
          <p:cNvPr id="12396" name="Text Box 108"/>
          <p:cNvSpPr txBox="1">
            <a:spLocks noChangeArrowheads="1"/>
          </p:cNvSpPr>
          <p:nvPr/>
        </p:nvSpPr>
        <p:spPr bwMode="auto">
          <a:xfrm>
            <a:off x="4919663" y="2033588"/>
            <a:ext cx="3222625" cy="531812"/>
          </a:xfrm>
          <a:prstGeom prst="rect">
            <a:avLst/>
          </a:prstGeom>
          <a:noFill/>
          <a:ln w="12700">
            <a:solidFill>
              <a:srgbClr val="00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003399"/>
                </a:solidFill>
              </a:rPr>
              <a:t>参数极限值（</a:t>
            </a:r>
            <a:r>
              <a:rPr lang="en-US" altLang="zh-CN" sz="2800" b="1">
                <a:solidFill>
                  <a:srgbClr val="003399"/>
                </a:solidFill>
              </a:rPr>
              <a:t>μ</a:t>
            </a:r>
            <a:r>
              <a:rPr lang="en-US" altLang="zh-CN" sz="2800" b="1">
                <a:solidFill>
                  <a:srgbClr val="003399"/>
                </a:solidFill>
                <a:latin typeface="宋体" panose="02010600030101010101" pitchFamily="2" charset="-122"/>
              </a:rPr>
              <a:t>m</a:t>
            </a:r>
            <a:r>
              <a:rPr lang="zh-CN" altLang="en-US" sz="2800" b="1">
                <a:solidFill>
                  <a:srgbClr val="003399"/>
                </a:solidFill>
              </a:rPr>
              <a:t>）</a:t>
            </a:r>
            <a:endParaRPr lang="zh-CN" altLang="en-US" sz="2800" b="1">
              <a:solidFill>
                <a:srgbClr val="003399"/>
              </a:solidFill>
            </a:endParaRPr>
          </a:p>
        </p:txBody>
      </p:sp>
      <p:sp>
        <p:nvSpPr>
          <p:cNvPr id="12398" name="Text Box 110"/>
          <p:cNvSpPr txBox="1">
            <a:spLocks noChangeArrowheads="1"/>
          </p:cNvSpPr>
          <p:nvPr/>
        </p:nvSpPr>
        <p:spPr bwMode="auto">
          <a:xfrm>
            <a:off x="793750" y="819150"/>
            <a:ext cx="8012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其他方面不要求时可采用简化注法</a:t>
            </a:r>
            <a:r>
              <a:rPr lang="en-US" altLang="zh-CN" sz="2800" b="1"/>
              <a:t>,</a:t>
            </a:r>
            <a:r>
              <a:rPr lang="zh-CN" altLang="en-US" sz="2800" b="1"/>
              <a:t>代号形式如图</a:t>
            </a:r>
            <a:endParaRPr lang="zh-CN" altLang="en-US" sz="2800" b="1"/>
          </a:p>
        </p:txBody>
      </p:sp>
      <p:sp>
        <p:nvSpPr>
          <p:cNvPr id="12408" name="Text Box 120"/>
          <p:cNvSpPr txBox="1">
            <a:spLocks noChangeArrowheads="1"/>
          </p:cNvSpPr>
          <p:nvPr/>
        </p:nvSpPr>
        <p:spPr bwMode="auto">
          <a:xfrm>
            <a:off x="911225" y="2828925"/>
            <a:ext cx="5518150" cy="519113"/>
          </a:xfrm>
          <a:prstGeom prst="rect">
            <a:avLst/>
          </a:prstGeom>
          <a:gradFill rotWithShape="0">
            <a:gsLst>
              <a:gs pos="0">
                <a:srgbClr val="FFFF66"/>
              </a:gs>
              <a:gs pos="50000">
                <a:srgbClr val="FFFFFF"/>
              </a:gs>
              <a:gs pos="100000">
                <a:srgbClr val="FFFF6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0000"/>
                </a:solidFill>
              </a:rPr>
              <a:t>在参数代号和参数值之间插入空格</a:t>
            </a:r>
            <a:endParaRPr lang="zh-CN" altLang="en-US" sz="2800" b="1">
              <a:solidFill>
                <a:srgbClr val="FF0000"/>
              </a:solidFill>
            </a:endParaRPr>
          </a:p>
        </p:txBody>
      </p:sp>
      <p:sp>
        <p:nvSpPr>
          <p:cNvPr id="12412" name="Text Box 124"/>
          <p:cNvSpPr txBox="1">
            <a:spLocks noChangeArrowheads="1"/>
          </p:cNvSpPr>
          <p:nvPr/>
        </p:nvSpPr>
        <p:spPr bwMode="auto">
          <a:xfrm>
            <a:off x="889000" y="3592513"/>
            <a:ext cx="2755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如：</a:t>
            </a:r>
            <a:r>
              <a:rPr lang="en-US" altLang="zh-CN" sz="2800" b="1" i="1"/>
              <a:t>Ra </a:t>
            </a:r>
            <a:r>
              <a:rPr lang="en-US" altLang="zh-CN" sz="2800" b="1"/>
              <a:t>3.2</a:t>
            </a:r>
            <a:endParaRPr lang="en-US" altLang="zh-CN" sz="2800" b="1"/>
          </a:p>
        </p:txBody>
      </p:sp>
      <p:sp>
        <p:nvSpPr>
          <p:cNvPr id="12417" name="Line 129"/>
          <p:cNvSpPr>
            <a:spLocks noChangeShapeType="1"/>
          </p:cNvSpPr>
          <p:nvPr/>
        </p:nvSpPr>
        <p:spPr bwMode="auto">
          <a:xfrm>
            <a:off x="1666875" y="4030663"/>
            <a:ext cx="428625"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8" name="Line 130"/>
          <p:cNvSpPr>
            <a:spLocks noChangeShapeType="1"/>
          </p:cNvSpPr>
          <p:nvPr/>
        </p:nvSpPr>
        <p:spPr bwMode="auto">
          <a:xfrm>
            <a:off x="2247900" y="4040188"/>
            <a:ext cx="40005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450" name="Group 162"/>
          <p:cNvGrpSpPr/>
          <p:nvPr/>
        </p:nvGrpSpPr>
        <p:grpSpPr bwMode="auto">
          <a:xfrm>
            <a:off x="2424113" y="4032250"/>
            <a:ext cx="1250950" cy="700088"/>
            <a:chOff x="1527" y="2540"/>
            <a:chExt cx="788" cy="441"/>
          </a:xfrm>
        </p:grpSpPr>
        <p:sp>
          <p:nvSpPr>
            <p:cNvPr id="9255" name="Line 133"/>
            <p:cNvSpPr>
              <a:spLocks noChangeShapeType="1"/>
            </p:cNvSpPr>
            <p:nvPr/>
          </p:nvSpPr>
          <p:spPr bwMode="auto">
            <a:xfrm>
              <a:off x="1543" y="2540"/>
              <a:ext cx="0" cy="436"/>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6" name="Line 134"/>
            <p:cNvSpPr>
              <a:spLocks noChangeShapeType="1"/>
            </p:cNvSpPr>
            <p:nvPr/>
          </p:nvSpPr>
          <p:spPr bwMode="auto">
            <a:xfrm flipH="1">
              <a:off x="1543" y="2969"/>
              <a:ext cx="741"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7" name="Text Box 137"/>
            <p:cNvSpPr txBox="1">
              <a:spLocks noChangeArrowheads="1"/>
            </p:cNvSpPr>
            <p:nvPr/>
          </p:nvSpPr>
          <p:spPr bwMode="auto">
            <a:xfrm>
              <a:off x="1527" y="2654"/>
              <a:ext cx="7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003399"/>
                  </a:solidFill>
                </a:rPr>
                <a:t>参数值</a:t>
              </a:r>
              <a:endParaRPr lang="zh-CN" altLang="en-US" sz="2800" b="1">
                <a:solidFill>
                  <a:srgbClr val="003399"/>
                </a:solidFill>
              </a:endParaRPr>
            </a:p>
          </p:txBody>
        </p:sp>
      </p:grpSp>
      <p:grpSp>
        <p:nvGrpSpPr>
          <p:cNvPr id="12444" name="Group 156"/>
          <p:cNvGrpSpPr/>
          <p:nvPr/>
        </p:nvGrpSpPr>
        <p:grpSpPr bwMode="auto">
          <a:xfrm>
            <a:off x="4962525" y="3530600"/>
            <a:ext cx="3543300" cy="2270125"/>
            <a:chOff x="3126" y="1810"/>
            <a:chExt cx="2232" cy="1430"/>
          </a:xfrm>
        </p:grpSpPr>
        <p:grpSp>
          <p:nvGrpSpPr>
            <p:cNvPr id="9234" name="Group 102"/>
            <p:cNvGrpSpPr/>
            <p:nvPr/>
          </p:nvGrpSpPr>
          <p:grpSpPr bwMode="auto">
            <a:xfrm>
              <a:off x="3126" y="3016"/>
              <a:ext cx="1652" cy="224"/>
              <a:chOff x="3242" y="2176"/>
              <a:chExt cx="1652" cy="224"/>
            </a:xfrm>
          </p:grpSpPr>
          <p:sp>
            <p:nvSpPr>
              <p:cNvPr id="9241" name="Line 75"/>
              <p:cNvSpPr>
                <a:spLocks noChangeShapeType="1"/>
              </p:cNvSpPr>
              <p:nvPr/>
            </p:nvSpPr>
            <p:spPr bwMode="auto">
              <a:xfrm>
                <a:off x="3252" y="2182"/>
                <a:ext cx="1621"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42" name="Line 88"/>
              <p:cNvSpPr>
                <a:spLocks noChangeShapeType="1"/>
              </p:cNvSpPr>
              <p:nvPr/>
            </p:nvSpPr>
            <p:spPr bwMode="auto">
              <a:xfrm flipV="1">
                <a:off x="3276"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3" name="Line 89"/>
              <p:cNvSpPr>
                <a:spLocks noChangeShapeType="1"/>
              </p:cNvSpPr>
              <p:nvPr/>
            </p:nvSpPr>
            <p:spPr bwMode="auto">
              <a:xfrm flipV="1">
                <a:off x="3414"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4" name="Line 90"/>
              <p:cNvSpPr>
                <a:spLocks noChangeShapeType="1"/>
              </p:cNvSpPr>
              <p:nvPr/>
            </p:nvSpPr>
            <p:spPr bwMode="auto">
              <a:xfrm flipV="1">
                <a:off x="3552"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Line 91"/>
              <p:cNvSpPr>
                <a:spLocks noChangeShapeType="1"/>
              </p:cNvSpPr>
              <p:nvPr/>
            </p:nvSpPr>
            <p:spPr bwMode="auto">
              <a:xfrm flipV="1">
                <a:off x="3690"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6" name="Line 92"/>
              <p:cNvSpPr>
                <a:spLocks noChangeShapeType="1"/>
              </p:cNvSpPr>
              <p:nvPr/>
            </p:nvSpPr>
            <p:spPr bwMode="auto">
              <a:xfrm flipV="1">
                <a:off x="3828"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7" name="Line 93"/>
              <p:cNvSpPr>
                <a:spLocks noChangeShapeType="1"/>
              </p:cNvSpPr>
              <p:nvPr/>
            </p:nvSpPr>
            <p:spPr bwMode="auto">
              <a:xfrm flipV="1">
                <a:off x="3966"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8" name="Line 94"/>
              <p:cNvSpPr>
                <a:spLocks noChangeShapeType="1"/>
              </p:cNvSpPr>
              <p:nvPr/>
            </p:nvSpPr>
            <p:spPr bwMode="auto">
              <a:xfrm flipV="1">
                <a:off x="4104"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9" name="Line 95"/>
              <p:cNvSpPr>
                <a:spLocks noChangeShapeType="1"/>
              </p:cNvSpPr>
              <p:nvPr/>
            </p:nvSpPr>
            <p:spPr bwMode="auto">
              <a:xfrm flipV="1">
                <a:off x="4242"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0" name="Line 96"/>
              <p:cNvSpPr>
                <a:spLocks noChangeShapeType="1"/>
              </p:cNvSpPr>
              <p:nvPr/>
            </p:nvSpPr>
            <p:spPr bwMode="auto">
              <a:xfrm flipV="1">
                <a:off x="4380"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1" name="Line 97"/>
              <p:cNvSpPr>
                <a:spLocks noChangeShapeType="1"/>
              </p:cNvSpPr>
              <p:nvPr/>
            </p:nvSpPr>
            <p:spPr bwMode="auto">
              <a:xfrm flipV="1">
                <a:off x="4518"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2" name="Line 98"/>
              <p:cNvSpPr>
                <a:spLocks noChangeShapeType="1"/>
              </p:cNvSpPr>
              <p:nvPr/>
            </p:nvSpPr>
            <p:spPr bwMode="auto">
              <a:xfrm flipV="1">
                <a:off x="4656" y="2176"/>
                <a:ext cx="216" cy="2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3" name="Line 99"/>
              <p:cNvSpPr>
                <a:spLocks noChangeShapeType="1"/>
              </p:cNvSpPr>
              <p:nvPr/>
            </p:nvSpPr>
            <p:spPr bwMode="auto">
              <a:xfrm flipV="1">
                <a:off x="3242" y="2176"/>
                <a:ext cx="110" cy="1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4" name="Line 101"/>
              <p:cNvSpPr>
                <a:spLocks noChangeShapeType="1"/>
              </p:cNvSpPr>
              <p:nvPr/>
            </p:nvSpPr>
            <p:spPr bwMode="auto">
              <a:xfrm flipV="1">
                <a:off x="4784" y="2284"/>
                <a:ext cx="110" cy="11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235" name="Text Box 103"/>
            <p:cNvSpPr txBox="1">
              <a:spLocks noChangeArrowheads="1"/>
            </p:cNvSpPr>
            <p:nvPr/>
          </p:nvSpPr>
          <p:spPr bwMode="auto">
            <a:xfrm>
              <a:off x="4908" y="1810"/>
              <a:ext cx="27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4000" i="1"/>
                <a:t>a</a:t>
              </a:r>
              <a:endParaRPr lang="en-US" altLang="zh-CN" sz="4000" i="1"/>
            </a:p>
          </p:txBody>
        </p:sp>
        <p:grpSp>
          <p:nvGrpSpPr>
            <p:cNvPr id="9236" name="Group 155"/>
            <p:cNvGrpSpPr/>
            <p:nvPr/>
          </p:nvGrpSpPr>
          <p:grpSpPr bwMode="auto">
            <a:xfrm>
              <a:off x="3641" y="1822"/>
              <a:ext cx="1717" cy="1197"/>
              <a:chOff x="3641" y="1822"/>
              <a:chExt cx="1717" cy="1197"/>
            </a:xfrm>
          </p:grpSpPr>
          <p:sp>
            <p:nvSpPr>
              <p:cNvPr id="9237" name="Line 77"/>
              <p:cNvSpPr>
                <a:spLocks noChangeShapeType="1"/>
              </p:cNvSpPr>
              <p:nvPr/>
            </p:nvSpPr>
            <p:spPr bwMode="auto">
              <a:xfrm flipH="1" flipV="1">
                <a:off x="3642" y="2420"/>
                <a:ext cx="344" cy="595"/>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9238" name="Line 81"/>
              <p:cNvSpPr>
                <a:spLocks noChangeShapeType="1"/>
              </p:cNvSpPr>
              <p:nvPr/>
            </p:nvSpPr>
            <p:spPr bwMode="auto">
              <a:xfrm>
                <a:off x="4676" y="1828"/>
                <a:ext cx="68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9" name="Line 82"/>
              <p:cNvSpPr>
                <a:spLocks noChangeShapeType="1"/>
              </p:cNvSpPr>
              <p:nvPr/>
            </p:nvSpPr>
            <p:spPr bwMode="auto">
              <a:xfrm flipV="1">
                <a:off x="3986" y="1822"/>
                <a:ext cx="691" cy="1197"/>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40" name="Line 154"/>
              <p:cNvSpPr>
                <a:spLocks noChangeShapeType="1"/>
              </p:cNvSpPr>
              <p:nvPr/>
            </p:nvSpPr>
            <p:spPr bwMode="auto">
              <a:xfrm>
                <a:off x="3641" y="2417"/>
                <a:ext cx="68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449" name="Group 161"/>
          <p:cNvGrpSpPr/>
          <p:nvPr/>
        </p:nvGrpSpPr>
        <p:grpSpPr bwMode="auto">
          <a:xfrm>
            <a:off x="1889125" y="4037013"/>
            <a:ext cx="2690813" cy="1333500"/>
            <a:chOff x="1190" y="2543"/>
            <a:chExt cx="1695" cy="840"/>
          </a:xfrm>
        </p:grpSpPr>
        <p:sp>
          <p:nvSpPr>
            <p:cNvPr id="9231" name="Text Box 136"/>
            <p:cNvSpPr txBox="1">
              <a:spLocks noChangeArrowheads="1"/>
            </p:cNvSpPr>
            <p:nvPr/>
          </p:nvSpPr>
          <p:spPr bwMode="auto">
            <a:xfrm>
              <a:off x="1201" y="3038"/>
              <a:ext cx="16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003399"/>
                  </a:solidFill>
                </a:rPr>
                <a:t>粗糙度参数代号</a:t>
              </a:r>
              <a:endParaRPr lang="zh-CN" altLang="en-US" sz="2800" b="1">
                <a:solidFill>
                  <a:srgbClr val="003399"/>
                </a:solidFill>
              </a:endParaRPr>
            </a:p>
          </p:txBody>
        </p:sp>
        <p:sp>
          <p:nvSpPr>
            <p:cNvPr id="9232" name="Line 158"/>
            <p:cNvSpPr>
              <a:spLocks noChangeShapeType="1"/>
            </p:cNvSpPr>
            <p:nvPr/>
          </p:nvSpPr>
          <p:spPr bwMode="auto">
            <a:xfrm>
              <a:off x="1190" y="2543"/>
              <a:ext cx="0" cy="84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3" name="Line 159"/>
            <p:cNvSpPr>
              <a:spLocks noChangeShapeType="1"/>
            </p:cNvSpPr>
            <p:nvPr/>
          </p:nvSpPr>
          <p:spPr bwMode="auto">
            <a:xfrm>
              <a:off x="1190" y="3378"/>
              <a:ext cx="1635" cy="0"/>
            </a:xfrm>
            <a:prstGeom prst="line">
              <a:avLst/>
            </a:prstGeom>
            <a:noFill/>
            <a:ln w="19050">
              <a:solidFill>
                <a:srgbClr val="00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98"/>
                                        </p:tgtEl>
                                        <p:attrNameLst>
                                          <p:attrName>style.visibility</p:attrName>
                                        </p:attrNameLst>
                                      </p:cBhvr>
                                      <p:to>
                                        <p:strVal val="visible"/>
                                      </p:to>
                                    </p:set>
                                    <p:animEffect transition="in" filter="blinds(horizontal)">
                                      <p:cBhvr>
                                        <p:cTn id="7" dur="500"/>
                                        <p:tgtEl>
                                          <p:spTgt spid="123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444"/>
                                        </p:tgtEl>
                                        <p:attrNameLst>
                                          <p:attrName>style.visibility</p:attrName>
                                        </p:attrNameLst>
                                      </p:cBhvr>
                                      <p:to>
                                        <p:strVal val="visible"/>
                                      </p:to>
                                    </p:set>
                                    <p:animEffect transition="in" filter="wipe(up)">
                                      <p:cBhvr>
                                        <p:cTn id="12" dur="500"/>
                                        <p:tgtEl>
                                          <p:spTgt spid="124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50"/>
                                        </p:tgtEl>
                                        <p:attrNameLst>
                                          <p:attrName>style.visibility</p:attrName>
                                        </p:attrNameLst>
                                      </p:cBhvr>
                                      <p:to>
                                        <p:strVal val="visible"/>
                                      </p:to>
                                    </p:set>
                                    <p:animEffect transition="in" filter="wipe(left)">
                                      <p:cBhvr>
                                        <p:cTn id="17" dur="500"/>
                                        <p:tgtEl>
                                          <p:spTgt spid="123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94"/>
                                        </p:tgtEl>
                                        <p:attrNameLst>
                                          <p:attrName>style.visibility</p:attrName>
                                        </p:attrNameLst>
                                      </p:cBhvr>
                                      <p:to>
                                        <p:strVal val="visible"/>
                                      </p:to>
                                    </p:set>
                                    <p:animEffect transition="in" filter="wipe(left)">
                                      <p:cBhvr>
                                        <p:cTn id="22" dur="500"/>
                                        <p:tgtEl>
                                          <p:spTgt spid="123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396"/>
                                        </p:tgtEl>
                                        <p:attrNameLst>
                                          <p:attrName>style.visibility</p:attrName>
                                        </p:attrNameLst>
                                      </p:cBhvr>
                                      <p:to>
                                        <p:strVal val="visible"/>
                                      </p:to>
                                    </p:set>
                                    <p:animEffect transition="in" filter="wipe(left)">
                                      <p:cBhvr>
                                        <p:cTn id="27" dur="500"/>
                                        <p:tgtEl>
                                          <p:spTgt spid="1239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2408"/>
                                        </p:tgtEl>
                                        <p:attrNameLst>
                                          <p:attrName>style.visibility</p:attrName>
                                        </p:attrNameLst>
                                      </p:cBhvr>
                                      <p:to>
                                        <p:strVal val="visible"/>
                                      </p:to>
                                    </p:set>
                                    <p:animEffect transition="in" filter="box(in)">
                                      <p:cBhvr>
                                        <p:cTn id="32" dur="500"/>
                                        <p:tgtEl>
                                          <p:spTgt spid="124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412"/>
                                        </p:tgtEl>
                                        <p:attrNameLst>
                                          <p:attrName>style.visibility</p:attrName>
                                        </p:attrNameLst>
                                      </p:cBhvr>
                                      <p:to>
                                        <p:strVal val="visible"/>
                                      </p:to>
                                    </p:set>
                                    <p:animEffect transition="in" filter="wipe(left)">
                                      <p:cBhvr>
                                        <p:cTn id="37" dur="500"/>
                                        <p:tgtEl>
                                          <p:spTgt spid="124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2417"/>
                                        </p:tgtEl>
                                        <p:attrNameLst>
                                          <p:attrName>style.visibility</p:attrName>
                                        </p:attrNameLst>
                                      </p:cBhvr>
                                      <p:to>
                                        <p:strVal val="visible"/>
                                      </p:to>
                                    </p:set>
                                    <p:animEffect transition="in" filter="wipe(left)">
                                      <p:cBhvr>
                                        <p:cTn id="42" dur="500"/>
                                        <p:tgtEl>
                                          <p:spTgt spid="12417"/>
                                        </p:tgtEl>
                                      </p:cBhvr>
                                    </p:animEffec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12449"/>
                                        </p:tgtEl>
                                        <p:attrNameLst>
                                          <p:attrName>style.visibility</p:attrName>
                                        </p:attrNameLst>
                                      </p:cBhvr>
                                      <p:to>
                                        <p:strVal val="visible"/>
                                      </p:to>
                                    </p:set>
                                    <p:animEffect transition="in" filter="wipe(up)">
                                      <p:cBhvr>
                                        <p:cTn id="46" dur="500"/>
                                        <p:tgtEl>
                                          <p:spTgt spid="1244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2418"/>
                                        </p:tgtEl>
                                        <p:attrNameLst>
                                          <p:attrName>style.visibility</p:attrName>
                                        </p:attrNameLst>
                                      </p:cBhvr>
                                      <p:to>
                                        <p:strVal val="visible"/>
                                      </p:to>
                                    </p:set>
                                    <p:animEffect transition="in" filter="wipe(left)">
                                      <p:cBhvr>
                                        <p:cTn id="51" dur="500"/>
                                        <p:tgtEl>
                                          <p:spTgt spid="12418"/>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12450"/>
                                        </p:tgtEl>
                                        <p:attrNameLst>
                                          <p:attrName>style.visibility</p:attrName>
                                        </p:attrNameLst>
                                      </p:cBhvr>
                                      <p:to>
                                        <p:strVal val="visible"/>
                                      </p:to>
                                    </p:set>
                                    <p:animEffect transition="in" filter="wipe(left)">
                                      <p:cBhvr>
                                        <p:cTn id="55" dur="500"/>
                                        <p:tgtEl>
                                          <p:spTgt spid="12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50" grpId="0" autoUpdateAnimBg="0"/>
      <p:bldP spid="12394" grpId="0" animBg="1" autoUpdateAnimBg="0"/>
      <p:bldP spid="12396" grpId="0" animBg="1" autoUpdateAnimBg="0"/>
      <p:bldP spid="12398" grpId="0" autoUpdateAnimBg="0"/>
      <p:bldP spid="12408" grpId="0" animBg="1" autoUpdateAnimBg="0"/>
      <p:bldP spid="124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Text Box 4"/>
          <p:cNvSpPr txBox="1">
            <a:spLocks noChangeArrowheads="1"/>
          </p:cNvSpPr>
          <p:nvPr/>
        </p:nvSpPr>
        <p:spPr bwMode="auto">
          <a:xfrm>
            <a:off x="450850" y="4683125"/>
            <a:ext cx="2501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rgbClr val="FF0000"/>
                </a:solidFill>
              </a:rPr>
              <a:t>※</a:t>
            </a:r>
            <a:r>
              <a:rPr lang="en-US" altLang="zh-CN" sz="2800" b="1">
                <a:solidFill>
                  <a:srgbClr val="003399"/>
                </a:solidFill>
              </a:rPr>
              <a:t> </a:t>
            </a:r>
            <a:r>
              <a:rPr lang="zh-CN" altLang="en-US" sz="2800" b="1">
                <a:solidFill>
                  <a:srgbClr val="003399"/>
                </a:solidFill>
              </a:rPr>
              <a:t>最大规则</a:t>
            </a:r>
            <a:endParaRPr lang="zh-CN" altLang="en-US" sz="2800" b="1">
              <a:solidFill>
                <a:srgbClr val="003399"/>
              </a:solidFill>
            </a:endParaRPr>
          </a:p>
        </p:txBody>
      </p:sp>
      <p:sp>
        <p:nvSpPr>
          <p:cNvPr id="10243" name="Text Box 5"/>
          <p:cNvSpPr txBox="1">
            <a:spLocks noChangeArrowheads="1"/>
          </p:cNvSpPr>
          <p:nvPr/>
        </p:nvSpPr>
        <p:spPr bwMode="auto">
          <a:xfrm>
            <a:off x="815975" y="77788"/>
            <a:ext cx="54689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参数极限值的判断与标注规则</a:t>
            </a:r>
            <a:endParaRPr lang="zh-CN" altLang="en-US" sz="2800" b="1"/>
          </a:p>
        </p:txBody>
      </p:sp>
      <p:sp>
        <p:nvSpPr>
          <p:cNvPr id="59398" name="Text Box 6"/>
          <p:cNvSpPr txBox="1">
            <a:spLocks noChangeArrowheads="1"/>
          </p:cNvSpPr>
          <p:nvPr/>
        </p:nvSpPr>
        <p:spPr bwMode="auto">
          <a:xfrm>
            <a:off x="450850" y="523875"/>
            <a:ext cx="2532063"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0000"/>
              </a:lnSpc>
            </a:pPr>
            <a:r>
              <a:rPr lang="en-US" altLang="zh-CN" sz="2800" b="1">
                <a:solidFill>
                  <a:srgbClr val="FF0000"/>
                </a:solidFill>
              </a:rPr>
              <a:t>※</a:t>
            </a:r>
            <a:r>
              <a:rPr lang="zh-CN" altLang="en-US" sz="2800" b="1"/>
              <a:t>参数极限值</a:t>
            </a:r>
            <a:endParaRPr lang="zh-CN" altLang="en-US" sz="2800" b="1"/>
          </a:p>
        </p:txBody>
      </p:sp>
      <p:sp>
        <p:nvSpPr>
          <p:cNvPr id="59399" name="Text Box 7"/>
          <p:cNvSpPr txBox="1">
            <a:spLocks noChangeArrowheads="1"/>
          </p:cNvSpPr>
          <p:nvPr/>
        </p:nvSpPr>
        <p:spPr bwMode="auto">
          <a:xfrm>
            <a:off x="450850" y="3463925"/>
            <a:ext cx="2771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rgbClr val="FF0000"/>
                </a:solidFill>
              </a:rPr>
              <a:t>※</a:t>
            </a:r>
            <a:r>
              <a:rPr lang="en-US" altLang="zh-CN" sz="2800" b="1">
                <a:solidFill>
                  <a:srgbClr val="003399"/>
                </a:solidFill>
              </a:rPr>
              <a:t> 16%</a:t>
            </a:r>
            <a:r>
              <a:rPr lang="zh-CN" altLang="en-US" sz="2800" b="1">
                <a:solidFill>
                  <a:srgbClr val="003399"/>
                </a:solidFill>
              </a:rPr>
              <a:t>规则：</a:t>
            </a:r>
            <a:endParaRPr lang="zh-CN" altLang="en-US" sz="2800" b="1">
              <a:solidFill>
                <a:srgbClr val="003399"/>
              </a:solidFill>
            </a:endParaRPr>
          </a:p>
        </p:txBody>
      </p:sp>
      <p:sp>
        <p:nvSpPr>
          <p:cNvPr id="59406" name="Text Box 14"/>
          <p:cNvSpPr txBox="1">
            <a:spLocks noChangeArrowheads="1"/>
          </p:cNvSpPr>
          <p:nvPr/>
        </p:nvSpPr>
        <p:spPr bwMode="auto">
          <a:xfrm>
            <a:off x="869950" y="963613"/>
            <a:ext cx="74707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3300"/>
                </a:solidFill>
              </a:rPr>
              <a:t>参数的单向极限：</a:t>
            </a:r>
            <a:r>
              <a:rPr lang="zh-CN" altLang="en-US" sz="2800" b="1"/>
              <a:t>只标参数代号和一个参数值时，默认为参数上限值。若为单向下限值时，参数代号前加注</a:t>
            </a:r>
            <a:r>
              <a:rPr lang="en-US" altLang="zh-CN" sz="2800" b="1"/>
              <a:t>L</a:t>
            </a:r>
            <a:r>
              <a:rPr lang="zh-CN" altLang="en-US" sz="2800" b="1"/>
              <a:t>，如 </a:t>
            </a:r>
            <a:r>
              <a:rPr lang="en-US" altLang="zh-CN" sz="2800" b="1"/>
              <a:t>L </a:t>
            </a:r>
            <a:r>
              <a:rPr lang="en-US" altLang="zh-CN" sz="2800" b="1" i="1"/>
              <a:t>Ra </a:t>
            </a:r>
            <a:r>
              <a:rPr lang="en-US" altLang="zh-CN" sz="2800" b="1"/>
              <a:t>3.2</a:t>
            </a:r>
            <a:endParaRPr lang="en-US" altLang="zh-CN" sz="2800" b="1"/>
          </a:p>
        </p:txBody>
      </p:sp>
      <p:sp>
        <p:nvSpPr>
          <p:cNvPr id="59407" name="Text Box 15"/>
          <p:cNvSpPr txBox="1">
            <a:spLocks noChangeArrowheads="1"/>
          </p:cNvSpPr>
          <p:nvPr/>
        </p:nvSpPr>
        <p:spPr bwMode="auto">
          <a:xfrm>
            <a:off x="869950" y="2212975"/>
            <a:ext cx="747077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3300"/>
                </a:solidFill>
              </a:rPr>
              <a:t>参数的双向极限：</a:t>
            </a:r>
            <a:r>
              <a:rPr lang="zh-CN" altLang="en-US" sz="2800" b="1"/>
              <a:t>应标注极限代号，上限值在上方，参数代号前加注</a:t>
            </a:r>
            <a:r>
              <a:rPr lang="en-US" altLang="zh-CN" sz="2800" b="1"/>
              <a:t>U</a:t>
            </a:r>
            <a:r>
              <a:rPr lang="zh-CN" altLang="en-US" sz="2800" b="1"/>
              <a:t>；下限值在下方，参数代号前加注</a:t>
            </a:r>
            <a:r>
              <a:rPr lang="en-US" altLang="zh-CN" sz="2800" b="1"/>
              <a:t>L</a:t>
            </a:r>
            <a:r>
              <a:rPr lang="zh-CN" altLang="en-US" sz="2800" b="1"/>
              <a:t>。</a:t>
            </a:r>
            <a:endParaRPr lang="zh-CN" altLang="en-US" sz="2800" b="1"/>
          </a:p>
        </p:txBody>
      </p:sp>
      <p:sp>
        <p:nvSpPr>
          <p:cNvPr id="59408" name="Text Box 16"/>
          <p:cNvSpPr txBox="1">
            <a:spLocks noChangeArrowheads="1"/>
          </p:cNvSpPr>
          <p:nvPr/>
        </p:nvSpPr>
        <p:spPr bwMode="auto">
          <a:xfrm>
            <a:off x="869950" y="3859213"/>
            <a:ext cx="76676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当标出参数的上限值与下限值或其中一个极限值时，允许全部实测值中的</a:t>
            </a:r>
            <a:r>
              <a:rPr lang="en-US" altLang="zh-CN" sz="2800" b="1"/>
              <a:t>16%</a:t>
            </a:r>
            <a:r>
              <a:rPr lang="zh-CN" altLang="en-US" sz="2800" b="1"/>
              <a:t>的测值超差。</a:t>
            </a:r>
            <a:endParaRPr lang="zh-CN" altLang="en-US" sz="2800" b="1"/>
          </a:p>
        </p:txBody>
      </p:sp>
      <p:sp>
        <p:nvSpPr>
          <p:cNvPr id="59409" name="Text Box 17"/>
          <p:cNvSpPr txBox="1">
            <a:spLocks noChangeArrowheads="1"/>
          </p:cNvSpPr>
          <p:nvPr/>
        </p:nvSpPr>
        <p:spPr bwMode="auto">
          <a:xfrm>
            <a:off x="869950" y="5078413"/>
            <a:ext cx="756602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当要求参数的所有实测值均不超过规定值时，应在参数的代号后面加注“</a:t>
            </a:r>
            <a:r>
              <a:rPr lang="en-US" altLang="zh-CN" sz="2800" b="1"/>
              <a:t>max” </a:t>
            </a:r>
            <a:r>
              <a:rPr lang="zh-CN" altLang="en-US" sz="2800" b="1"/>
              <a:t>，说明参数的最大值。</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animEffect transition="in" filter="wipe(left)">
                                      <p:cBhvr>
                                        <p:cTn id="7" dur="500"/>
                                        <p:tgtEl>
                                          <p:spTgt spid="5939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9406"/>
                                        </p:tgtEl>
                                        <p:attrNameLst>
                                          <p:attrName>style.visibility</p:attrName>
                                        </p:attrNameLst>
                                      </p:cBhvr>
                                      <p:to>
                                        <p:strVal val="visible"/>
                                      </p:to>
                                    </p:set>
                                    <p:animEffect transition="in" filter="barn(outHorizontal)">
                                      <p:cBhvr>
                                        <p:cTn id="12" dur="500"/>
                                        <p:tgtEl>
                                          <p:spTgt spid="5940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9407"/>
                                        </p:tgtEl>
                                        <p:attrNameLst>
                                          <p:attrName>style.visibility</p:attrName>
                                        </p:attrNameLst>
                                      </p:cBhvr>
                                      <p:to>
                                        <p:strVal val="visible"/>
                                      </p:to>
                                    </p:set>
                                    <p:animEffect transition="in" filter="barn(inVertical)">
                                      <p:cBhvr>
                                        <p:cTn id="17" dur="500"/>
                                        <p:tgtEl>
                                          <p:spTgt spid="594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9399"/>
                                        </p:tgtEl>
                                        <p:attrNameLst>
                                          <p:attrName>style.visibility</p:attrName>
                                        </p:attrNameLst>
                                      </p:cBhvr>
                                      <p:to>
                                        <p:strVal val="visible"/>
                                      </p:to>
                                    </p:set>
                                    <p:animEffect transition="in" filter="wipe(left)">
                                      <p:cBhvr>
                                        <p:cTn id="22" dur="500"/>
                                        <p:tgtEl>
                                          <p:spTgt spid="593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408"/>
                                        </p:tgtEl>
                                        <p:attrNameLst>
                                          <p:attrName>style.visibility</p:attrName>
                                        </p:attrNameLst>
                                      </p:cBhvr>
                                      <p:to>
                                        <p:strVal val="visible"/>
                                      </p:to>
                                    </p:set>
                                    <p:animEffect transition="in" filter="wipe(left)">
                                      <p:cBhvr>
                                        <p:cTn id="27" dur="500"/>
                                        <p:tgtEl>
                                          <p:spTgt spid="5940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396"/>
                                        </p:tgtEl>
                                        <p:attrNameLst>
                                          <p:attrName>style.visibility</p:attrName>
                                        </p:attrNameLst>
                                      </p:cBhvr>
                                      <p:to>
                                        <p:strVal val="visible"/>
                                      </p:to>
                                    </p:set>
                                    <p:animEffect transition="in" filter="wipe(left)">
                                      <p:cBhvr>
                                        <p:cTn id="32" dur="500"/>
                                        <p:tgtEl>
                                          <p:spTgt spid="5939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9409"/>
                                        </p:tgtEl>
                                        <p:attrNameLst>
                                          <p:attrName>style.visibility</p:attrName>
                                        </p:attrNameLst>
                                      </p:cBhvr>
                                      <p:to>
                                        <p:strVal val="visible"/>
                                      </p:to>
                                    </p:set>
                                    <p:animEffect transition="in" filter="wipe(left)">
                                      <p:cBhvr>
                                        <p:cTn id="37" dur="500"/>
                                        <p:tgtEl>
                                          <p:spTgt spid="59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P spid="59398" grpId="0" autoUpdateAnimBg="0"/>
      <p:bldP spid="59399" grpId="0" autoUpdateAnimBg="0"/>
      <p:bldP spid="59406" grpId="0" autoUpdateAnimBg="0"/>
      <p:bldP spid="59407" grpId="0" autoUpdateAnimBg="0"/>
      <p:bldP spid="59408" grpId="0" autoUpdateAnimBg="0"/>
      <p:bldP spid="5940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319088" y="219075"/>
            <a:ext cx="85788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采用简化画法时表面粗糙度代号及其意义</a:t>
            </a:r>
            <a:r>
              <a:rPr lang="zh-CN" altLang="en-US" sz="2800" b="1">
                <a:solidFill>
                  <a:srgbClr val="FF3300"/>
                </a:solidFill>
                <a:latin typeface="宋体" panose="02010600030101010101" pitchFamily="2" charset="-122"/>
              </a:rPr>
              <a:t>（单位</a:t>
            </a:r>
            <a:r>
              <a:rPr lang="zh-CN" altLang="en-US" sz="2800" b="1">
                <a:solidFill>
                  <a:srgbClr val="FF3300"/>
                </a:solidFill>
                <a:latin typeface="宋体" panose="02010600030101010101" pitchFamily="2" charset="-122"/>
                <a:sym typeface="Symbol" panose="05050102010706020507" pitchFamily="18" charset="2"/>
              </a:rPr>
              <a:t></a:t>
            </a:r>
            <a:r>
              <a:rPr lang="en-US" altLang="zh-CN" sz="2800" b="1">
                <a:solidFill>
                  <a:srgbClr val="FF3300"/>
                </a:solidFill>
                <a:latin typeface="宋体" panose="02010600030101010101" pitchFamily="2" charset="-122"/>
              </a:rPr>
              <a:t>m</a:t>
            </a:r>
            <a:r>
              <a:rPr lang="zh-CN" altLang="en-US" sz="2800" b="1">
                <a:solidFill>
                  <a:srgbClr val="FF3300"/>
                </a:solidFill>
                <a:latin typeface="宋体" panose="02010600030101010101" pitchFamily="2" charset="-122"/>
              </a:rPr>
              <a:t>）</a:t>
            </a:r>
            <a:endParaRPr lang="zh-CN" altLang="en-US" sz="2800" b="1">
              <a:solidFill>
                <a:srgbClr val="FF3300"/>
              </a:solidFill>
              <a:latin typeface="宋体" panose="02010600030101010101" pitchFamily="2" charset="-122"/>
            </a:endParaRPr>
          </a:p>
        </p:txBody>
      </p:sp>
      <p:sp>
        <p:nvSpPr>
          <p:cNvPr id="57354" name="Text Box 10"/>
          <p:cNvSpPr txBox="1">
            <a:spLocks noChangeArrowheads="1"/>
          </p:cNvSpPr>
          <p:nvPr/>
        </p:nvSpPr>
        <p:spPr bwMode="auto">
          <a:xfrm>
            <a:off x="2800350" y="1306513"/>
            <a:ext cx="5594350"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表示不去除材料，单向上限值，</a:t>
            </a:r>
            <a:endParaRPr lang="zh-CN" altLang="en-US" sz="2800" b="1">
              <a:latin typeface="宋体" panose="02010600030101010101" pitchFamily="2" charset="-122"/>
            </a:endParaRPr>
          </a:p>
          <a:p>
            <a:pPr algn="l"/>
            <a:r>
              <a:rPr lang="en-US" altLang="zh-CN" sz="3200" b="1" i="1"/>
              <a:t>R</a:t>
            </a:r>
            <a:r>
              <a:rPr lang="en-US" altLang="zh-CN" b="1" i="1"/>
              <a:t>a </a:t>
            </a:r>
            <a:r>
              <a:rPr lang="zh-CN" altLang="en-US" sz="2800" b="1">
                <a:latin typeface="宋体" panose="02010600030101010101" pitchFamily="2" charset="-122"/>
              </a:rPr>
              <a:t>的上限</a:t>
            </a:r>
            <a:r>
              <a:rPr lang="zh-CN" altLang="zh-CN" sz="2800" b="1">
                <a:latin typeface="宋体" panose="02010600030101010101" pitchFamily="2" charset="-122"/>
              </a:rPr>
              <a:t>值为</a:t>
            </a:r>
            <a:r>
              <a:rPr lang="en-US" altLang="zh-CN" sz="2800" b="1">
                <a:latin typeface="宋体" panose="02010600030101010101" pitchFamily="2" charset="-122"/>
              </a:rPr>
              <a:t>3.2</a:t>
            </a:r>
            <a:r>
              <a:rPr lang="en-US" altLang="zh-CN" sz="2800" b="1">
                <a:latin typeface="宋体" panose="02010600030101010101" pitchFamily="2" charset="-122"/>
                <a:sym typeface="Symbol" panose="05050102010706020507" pitchFamily="18" charset="2"/>
              </a:rPr>
              <a:t>m</a:t>
            </a:r>
            <a:r>
              <a:rPr lang="zh-CN" altLang="en-US" sz="2800" b="1">
                <a:latin typeface="宋体" panose="02010600030101010101" pitchFamily="2" charset="-122"/>
                <a:sym typeface="Symbol" panose="05050102010706020507" pitchFamily="18" charset="2"/>
              </a:rPr>
              <a:t>。</a:t>
            </a:r>
            <a:endParaRPr lang="zh-CN" altLang="en-US" sz="2800" b="1">
              <a:latin typeface="宋体" panose="02010600030101010101" pitchFamily="2" charset="-122"/>
              <a:sym typeface="Symbol" panose="05050102010706020507" pitchFamily="18" charset="2"/>
            </a:endParaRPr>
          </a:p>
        </p:txBody>
      </p:sp>
      <p:sp>
        <p:nvSpPr>
          <p:cNvPr id="57370" name="Text Box 26"/>
          <p:cNvSpPr txBox="1">
            <a:spLocks noChangeArrowheads="1"/>
          </p:cNvSpPr>
          <p:nvPr/>
        </p:nvSpPr>
        <p:spPr bwMode="auto">
          <a:xfrm>
            <a:off x="2800350" y="2297113"/>
            <a:ext cx="5256213"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表示去除材料</a:t>
            </a:r>
            <a:r>
              <a:rPr lang="en-US" altLang="zh-CN" sz="2800" b="1">
                <a:latin typeface="宋体" panose="02010600030101010101" pitchFamily="2" charset="-122"/>
              </a:rPr>
              <a:t>,</a:t>
            </a:r>
            <a:r>
              <a:rPr lang="zh-CN" altLang="en-US" sz="2800" b="1">
                <a:latin typeface="宋体" panose="02010600030101010101" pitchFamily="2" charset="-122"/>
              </a:rPr>
              <a:t>单向上限值，</a:t>
            </a:r>
            <a:endParaRPr lang="zh-CN" altLang="en-US" sz="2800" b="1">
              <a:latin typeface="宋体" panose="02010600030101010101" pitchFamily="2" charset="-122"/>
            </a:endParaRPr>
          </a:p>
          <a:p>
            <a:pPr algn="l"/>
            <a:r>
              <a:rPr lang="en-US" altLang="zh-CN" sz="3200" b="1" i="1"/>
              <a:t>R</a:t>
            </a:r>
            <a:r>
              <a:rPr lang="en-US" altLang="zh-CN" b="1" i="1"/>
              <a:t>a </a:t>
            </a:r>
            <a:r>
              <a:rPr lang="zh-CN" altLang="en-US" sz="2800" b="1">
                <a:latin typeface="宋体" panose="02010600030101010101" pitchFamily="2" charset="-122"/>
              </a:rPr>
              <a:t>的上限</a:t>
            </a:r>
            <a:r>
              <a:rPr lang="zh-CN" altLang="zh-CN" sz="2800" b="1">
                <a:latin typeface="宋体" panose="02010600030101010101" pitchFamily="2" charset="-122"/>
              </a:rPr>
              <a:t>值为</a:t>
            </a:r>
            <a:r>
              <a:rPr lang="en-US" altLang="zh-CN" sz="2800" b="1">
                <a:latin typeface="宋体" panose="02010600030101010101" pitchFamily="2" charset="-122"/>
              </a:rPr>
              <a:t>3.2</a:t>
            </a:r>
            <a:r>
              <a:rPr lang="en-US" altLang="zh-CN" sz="2800" b="1">
                <a:latin typeface="宋体" panose="02010600030101010101" pitchFamily="2" charset="-122"/>
                <a:sym typeface="Symbol" panose="05050102010706020507" pitchFamily="18" charset="2"/>
              </a:rPr>
              <a:t>m</a:t>
            </a:r>
            <a:r>
              <a:rPr lang="zh-CN" altLang="en-US" sz="2800" b="1">
                <a:latin typeface="宋体" panose="02010600030101010101" pitchFamily="2" charset="-122"/>
                <a:sym typeface="Symbol" panose="05050102010706020507" pitchFamily="18" charset="2"/>
              </a:rPr>
              <a:t>。</a:t>
            </a:r>
            <a:endParaRPr lang="zh-CN" altLang="en-US" sz="2800" b="1">
              <a:latin typeface="宋体" panose="02010600030101010101" pitchFamily="2" charset="-122"/>
              <a:sym typeface="Symbol" panose="05050102010706020507" pitchFamily="18" charset="2"/>
            </a:endParaRPr>
          </a:p>
        </p:txBody>
      </p:sp>
      <p:grpSp>
        <p:nvGrpSpPr>
          <p:cNvPr id="57438" name="Group 94"/>
          <p:cNvGrpSpPr/>
          <p:nvPr/>
        </p:nvGrpSpPr>
        <p:grpSpPr bwMode="auto">
          <a:xfrm>
            <a:off x="773113" y="1441450"/>
            <a:ext cx="1460500" cy="688975"/>
            <a:chOff x="652" y="800"/>
            <a:chExt cx="920" cy="434"/>
          </a:xfrm>
        </p:grpSpPr>
        <p:sp>
          <p:nvSpPr>
            <p:cNvPr id="11312" name="Oval 48"/>
            <p:cNvSpPr>
              <a:spLocks noChangeArrowheads="1"/>
            </p:cNvSpPr>
            <p:nvPr/>
          </p:nvSpPr>
          <p:spPr bwMode="auto">
            <a:xfrm>
              <a:off x="696" y="1038"/>
              <a:ext cx="132" cy="13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13" name="Freeform 6"/>
            <p:cNvSpPr/>
            <p:nvPr/>
          </p:nvSpPr>
          <p:spPr bwMode="auto">
            <a:xfrm>
              <a:off x="763" y="840"/>
              <a:ext cx="239" cy="394"/>
            </a:xfrm>
            <a:custGeom>
              <a:avLst/>
              <a:gdLst>
                <a:gd name="T0" fmla="*/ 0 w 239"/>
                <a:gd name="T1" fmla="*/ 394 h 394"/>
                <a:gd name="T2" fmla="*/ 239 w 239"/>
                <a:gd name="T3" fmla="*/ 0 h 394"/>
                <a:gd name="T4" fmla="*/ 0 60000 65536"/>
                <a:gd name="T5" fmla="*/ 0 60000 65536"/>
              </a:gdLst>
              <a:ahLst/>
              <a:cxnLst>
                <a:cxn ang="T4">
                  <a:pos x="T0" y="T1"/>
                </a:cxn>
                <a:cxn ang="T5">
                  <a:pos x="T2" y="T3"/>
                </a:cxn>
              </a:cxnLst>
              <a:rect l="0" t="0" r="r" b="b"/>
              <a:pathLst>
                <a:path w="239" h="394">
                  <a:moveTo>
                    <a:pt x="0" y="394"/>
                  </a:moveTo>
                  <a:lnTo>
                    <a:pt x="239"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14" name="Freeform 7"/>
            <p:cNvSpPr/>
            <p:nvPr/>
          </p:nvSpPr>
          <p:spPr bwMode="auto">
            <a:xfrm>
              <a:off x="652" y="1043"/>
              <a:ext cx="111" cy="191"/>
            </a:xfrm>
            <a:custGeom>
              <a:avLst/>
              <a:gdLst>
                <a:gd name="T0" fmla="*/ 0 w 810"/>
                <a:gd name="T1" fmla="*/ 0 h 1470"/>
                <a:gd name="T2" fmla="*/ 111 w 810"/>
                <a:gd name="T3" fmla="*/ 191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15" name="Text Box 8"/>
            <p:cNvSpPr txBox="1">
              <a:spLocks noChangeArrowheads="1"/>
            </p:cNvSpPr>
            <p:nvPr/>
          </p:nvSpPr>
          <p:spPr bwMode="auto">
            <a:xfrm>
              <a:off x="916" y="800"/>
              <a:ext cx="65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t>Ra</a:t>
              </a:r>
              <a:r>
                <a:rPr lang="en-US" altLang="zh-CN" b="1" i="1">
                  <a:latin typeface="宋体" panose="02010600030101010101" pitchFamily="2" charset="-122"/>
                </a:rPr>
                <a:t> </a:t>
              </a:r>
              <a:r>
                <a:rPr lang="en-US" altLang="zh-CN" b="1" i="1">
                  <a:latin typeface="ISOCPEUR" panose="020B0604020202020204" pitchFamily="34" charset="0"/>
                </a:rPr>
                <a:t>3.2</a:t>
              </a:r>
              <a:endParaRPr lang="en-US" altLang="zh-CN" b="1">
                <a:latin typeface="ISOCPEUR" panose="020B0604020202020204" pitchFamily="34" charset="0"/>
              </a:endParaRPr>
            </a:p>
          </p:txBody>
        </p:sp>
        <p:sp>
          <p:nvSpPr>
            <p:cNvPr id="11316" name="Line 49"/>
            <p:cNvSpPr>
              <a:spLocks noChangeShapeType="1"/>
            </p:cNvSpPr>
            <p:nvPr/>
          </p:nvSpPr>
          <p:spPr bwMode="auto">
            <a:xfrm>
              <a:off x="994" y="840"/>
              <a:ext cx="5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437" name="Group 93"/>
          <p:cNvGrpSpPr/>
          <p:nvPr/>
        </p:nvGrpSpPr>
        <p:grpSpPr bwMode="auto">
          <a:xfrm>
            <a:off x="773113" y="2455863"/>
            <a:ext cx="1428750" cy="676275"/>
            <a:chOff x="604" y="1366"/>
            <a:chExt cx="900" cy="426"/>
          </a:xfrm>
        </p:grpSpPr>
        <p:sp>
          <p:nvSpPr>
            <p:cNvPr id="11307" name="Freeform 53"/>
            <p:cNvSpPr/>
            <p:nvPr/>
          </p:nvSpPr>
          <p:spPr bwMode="auto">
            <a:xfrm>
              <a:off x="719" y="1400"/>
              <a:ext cx="228" cy="392"/>
            </a:xfrm>
            <a:custGeom>
              <a:avLst/>
              <a:gdLst>
                <a:gd name="T0" fmla="*/ 0 w 228"/>
                <a:gd name="T1" fmla="*/ 392 h 392"/>
                <a:gd name="T2" fmla="*/ 228 w 228"/>
                <a:gd name="T3" fmla="*/ 0 h 392"/>
                <a:gd name="T4" fmla="*/ 0 60000 65536"/>
                <a:gd name="T5" fmla="*/ 0 60000 65536"/>
              </a:gdLst>
              <a:ahLst/>
              <a:cxnLst>
                <a:cxn ang="T4">
                  <a:pos x="T0" y="T1"/>
                </a:cxn>
                <a:cxn ang="T5">
                  <a:pos x="T2" y="T3"/>
                </a:cxn>
              </a:cxnLst>
              <a:rect l="0" t="0" r="r" b="b"/>
              <a:pathLst>
                <a:path w="228" h="392">
                  <a:moveTo>
                    <a:pt x="0" y="392"/>
                  </a:moveTo>
                  <a:lnTo>
                    <a:pt x="228"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08" name="Freeform 54"/>
            <p:cNvSpPr/>
            <p:nvPr/>
          </p:nvSpPr>
          <p:spPr bwMode="auto">
            <a:xfrm>
              <a:off x="604" y="1601"/>
              <a:ext cx="111" cy="191"/>
            </a:xfrm>
            <a:custGeom>
              <a:avLst/>
              <a:gdLst>
                <a:gd name="T0" fmla="*/ 0 w 810"/>
                <a:gd name="T1" fmla="*/ 0 h 1470"/>
                <a:gd name="T2" fmla="*/ 111 w 810"/>
                <a:gd name="T3" fmla="*/ 191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09" name="Text Box 55"/>
            <p:cNvSpPr txBox="1">
              <a:spLocks noChangeArrowheads="1"/>
            </p:cNvSpPr>
            <p:nvPr/>
          </p:nvSpPr>
          <p:spPr bwMode="auto">
            <a:xfrm>
              <a:off x="848" y="1366"/>
              <a:ext cx="65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t>Ra</a:t>
              </a:r>
              <a:r>
                <a:rPr lang="en-US" altLang="zh-CN" b="1" i="1">
                  <a:latin typeface="宋体" panose="02010600030101010101" pitchFamily="2" charset="-122"/>
                </a:rPr>
                <a:t> </a:t>
              </a:r>
              <a:r>
                <a:rPr lang="en-US" altLang="zh-CN" b="1" i="1">
                  <a:latin typeface="ISOCPEUR" panose="020B0604020202020204" pitchFamily="34" charset="0"/>
                </a:rPr>
                <a:t>3.2</a:t>
              </a:r>
              <a:endParaRPr lang="en-US" altLang="zh-CN" b="1">
                <a:latin typeface="ISOCPEUR" panose="020B0604020202020204" pitchFamily="34" charset="0"/>
              </a:endParaRPr>
            </a:p>
          </p:txBody>
        </p:sp>
        <p:sp>
          <p:nvSpPr>
            <p:cNvPr id="11310" name="Line 56"/>
            <p:cNvSpPr>
              <a:spLocks noChangeShapeType="1"/>
            </p:cNvSpPr>
            <p:nvPr/>
          </p:nvSpPr>
          <p:spPr bwMode="auto">
            <a:xfrm>
              <a:off x="942" y="1398"/>
              <a:ext cx="5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1" name="Line 57"/>
            <p:cNvSpPr>
              <a:spLocks noChangeShapeType="1"/>
            </p:cNvSpPr>
            <p:nvPr/>
          </p:nvSpPr>
          <p:spPr bwMode="auto">
            <a:xfrm>
              <a:off x="612" y="1602"/>
              <a:ext cx="2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434" name="Group 90"/>
          <p:cNvGrpSpPr/>
          <p:nvPr/>
        </p:nvGrpSpPr>
        <p:grpSpPr bwMode="auto">
          <a:xfrm>
            <a:off x="773113" y="3457575"/>
            <a:ext cx="2058987" cy="682625"/>
            <a:chOff x="532" y="2010"/>
            <a:chExt cx="1297" cy="430"/>
          </a:xfrm>
        </p:grpSpPr>
        <p:sp>
          <p:nvSpPr>
            <p:cNvPr id="11302" name="Freeform 67"/>
            <p:cNvSpPr/>
            <p:nvPr/>
          </p:nvSpPr>
          <p:spPr bwMode="auto">
            <a:xfrm>
              <a:off x="643" y="2040"/>
              <a:ext cx="240" cy="400"/>
            </a:xfrm>
            <a:custGeom>
              <a:avLst/>
              <a:gdLst>
                <a:gd name="T0" fmla="*/ 0 w 240"/>
                <a:gd name="T1" fmla="*/ 400 h 400"/>
                <a:gd name="T2" fmla="*/ 240 w 240"/>
                <a:gd name="T3" fmla="*/ 0 h 400"/>
                <a:gd name="T4" fmla="*/ 0 60000 65536"/>
                <a:gd name="T5" fmla="*/ 0 60000 65536"/>
              </a:gdLst>
              <a:ahLst/>
              <a:cxnLst>
                <a:cxn ang="T4">
                  <a:pos x="T0" y="T1"/>
                </a:cxn>
                <a:cxn ang="T5">
                  <a:pos x="T2" y="T3"/>
                </a:cxn>
              </a:cxnLst>
              <a:rect l="0" t="0" r="r" b="b"/>
              <a:pathLst>
                <a:path w="240" h="400">
                  <a:moveTo>
                    <a:pt x="0" y="400"/>
                  </a:moveTo>
                  <a:lnTo>
                    <a:pt x="240"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03" name="Freeform 68"/>
            <p:cNvSpPr/>
            <p:nvPr/>
          </p:nvSpPr>
          <p:spPr bwMode="auto">
            <a:xfrm>
              <a:off x="532" y="2249"/>
              <a:ext cx="111" cy="191"/>
            </a:xfrm>
            <a:custGeom>
              <a:avLst/>
              <a:gdLst>
                <a:gd name="T0" fmla="*/ 0 w 810"/>
                <a:gd name="T1" fmla="*/ 0 h 1470"/>
                <a:gd name="T2" fmla="*/ 111 w 810"/>
                <a:gd name="T3" fmla="*/ 191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04" name="Text Box 69"/>
            <p:cNvSpPr txBox="1">
              <a:spLocks noChangeArrowheads="1"/>
            </p:cNvSpPr>
            <p:nvPr/>
          </p:nvSpPr>
          <p:spPr bwMode="auto">
            <a:xfrm>
              <a:off x="776" y="2010"/>
              <a:ext cx="105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t>Ra</a:t>
              </a:r>
              <a:r>
                <a:rPr lang="en-US" altLang="zh-CN" b="1" i="1">
                  <a:latin typeface="宋体" panose="02010600030101010101" pitchFamily="2" charset="-122"/>
                </a:rPr>
                <a:t> m</a:t>
              </a:r>
              <a:r>
                <a:rPr lang="en-US" altLang="zh-CN" b="1" i="1"/>
                <a:t>a</a:t>
              </a:r>
              <a:r>
                <a:rPr lang="en-US" altLang="zh-CN" b="1" i="1">
                  <a:latin typeface="宋体" panose="02010600030101010101" pitchFamily="2" charset="-122"/>
                </a:rPr>
                <a:t>x</a:t>
              </a:r>
              <a:r>
                <a:rPr lang="en-US" altLang="zh-CN" b="1" i="1">
                  <a:latin typeface="ISOCPEUR" panose="020B0604020202020204" pitchFamily="34" charset="0"/>
                </a:rPr>
                <a:t>1.6</a:t>
              </a:r>
              <a:endParaRPr lang="en-US" altLang="zh-CN" b="1">
                <a:latin typeface="ISOCPEUR" panose="020B0604020202020204" pitchFamily="34" charset="0"/>
              </a:endParaRPr>
            </a:p>
          </p:txBody>
        </p:sp>
        <p:sp>
          <p:nvSpPr>
            <p:cNvPr id="11305" name="Line 70"/>
            <p:cNvSpPr>
              <a:spLocks noChangeShapeType="1"/>
            </p:cNvSpPr>
            <p:nvPr/>
          </p:nvSpPr>
          <p:spPr bwMode="auto">
            <a:xfrm>
              <a:off x="878" y="2042"/>
              <a:ext cx="7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6" name="Line 71"/>
            <p:cNvSpPr>
              <a:spLocks noChangeShapeType="1"/>
            </p:cNvSpPr>
            <p:nvPr/>
          </p:nvSpPr>
          <p:spPr bwMode="auto">
            <a:xfrm>
              <a:off x="540" y="2250"/>
              <a:ext cx="2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453" name="Group 109"/>
          <p:cNvGrpSpPr/>
          <p:nvPr/>
        </p:nvGrpSpPr>
        <p:grpSpPr bwMode="auto">
          <a:xfrm>
            <a:off x="773113" y="5424488"/>
            <a:ext cx="1581150" cy="676275"/>
            <a:chOff x="3043" y="3311"/>
            <a:chExt cx="996" cy="426"/>
          </a:xfrm>
        </p:grpSpPr>
        <p:sp>
          <p:nvSpPr>
            <p:cNvPr id="11297" name="Freeform 102"/>
            <p:cNvSpPr/>
            <p:nvPr/>
          </p:nvSpPr>
          <p:spPr bwMode="auto">
            <a:xfrm>
              <a:off x="3158" y="3345"/>
              <a:ext cx="228" cy="392"/>
            </a:xfrm>
            <a:custGeom>
              <a:avLst/>
              <a:gdLst>
                <a:gd name="T0" fmla="*/ 0 w 228"/>
                <a:gd name="T1" fmla="*/ 392 h 392"/>
                <a:gd name="T2" fmla="*/ 228 w 228"/>
                <a:gd name="T3" fmla="*/ 0 h 392"/>
                <a:gd name="T4" fmla="*/ 0 60000 65536"/>
                <a:gd name="T5" fmla="*/ 0 60000 65536"/>
              </a:gdLst>
              <a:ahLst/>
              <a:cxnLst>
                <a:cxn ang="T4">
                  <a:pos x="T0" y="T1"/>
                </a:cxn>
                <a:cxn ang="T5">
                  <a:pos x="T2" y="T3"/>
                </a:cxn>
              </a:cxnLst>
              <a:rect l="0" t="0" r="r" b="b"/>
              <a:pathLst>
                <a:path w="228" h="392">
                  <a:moveTo>
                    <a:pt x="0" y="392"/>
                  </a:moveTo>
                  <a:lnTo>
                    <a:pt x="228"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8" name="Freeform 103"/>
            <p:cNvSpPr/>
            <p:nvPr/>
          </p:nvSpPr>
          <p:spPr bwMode="auto">
            <a:xfrm>
              <a:off x="3043" y="3546"/>
              <a:ext cx="111" cy="191"/>
            </a:xfrm>
            <a:custGeom>
              <a:avLst/>
              <a:gdLst>
                <a:gd name="T0" fmla="*/ 0 w 810"/>
                <a:gd name="T1" fmla="*/ 0 h 1470"/>
                <a:gd name="T2" fmla="*/ 111 w 810"/>
                <a:gd name="T3" fmla="*/ 191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9" name="Text Box 104"/>
            <p:cNvSpPr txBox="1">
              <a:spLocks noChangeArrowheads="1"/>
            </p:cNvSpPr>
            <p:nvPr/>
          </p:nvSpPr>
          <p:spPr bwMode="auto">
            <a:xfrm>
              <a:off x="3311" y="3311"/>
              <a:ext cx="72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t>Rz</a:t>
              </a:r>
              <a:r>
                <a:rPr lang="en-US" altLang="zh-CN" b="1" i="1">
                  <a:latin typeface="宋体" panose="02010600030101010101" pitchFamily="2" charset="-122"/>
                </a:rPr>
                <a:t> </a:t>
              </a:r>
              <a:r>
                <a:rPr lang="en-US" altLang="zh-CN" b="1" i="1">
                  <a:latin typeface="ISOCPEUR" panose="020B0604020202020204" pitchFamily="34" charset="0"/>
                </a:rPr>
                <a:t>3.2</a:t>
              </a:r>
              <a:endParaRPr lang="en-US" altLang="zh-CN" b="1">
                <a:latin typeface="ISOCPEUR" panose="020B0604020202020204" pitchFamily="34" charset="0"/>
              </a:endParaRPr>
            </a:p>
          </p:txBody>
        </p:sp>
        <p:sp>
          <p:nvSpPr>
            <p:cNvPr id="11300" name="Line 105"/>
            <p:cNvSpPr>
              <a:spLocks noChangeShapeType="1"/>
            </p:cNvSpPr>
            <p:nvPr/>
          </p:nvSpPr>
          <p:spPr bwMode="auto">
            <a:xfrm>
              <a:off x="3381" y="3343"/>
              <a:ext cx="55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01" name="Line 106"/>
            <p:cNvSpPr>
              <a:spLocks noChangeShapeType="1"/>
            </p:cNvSpPr>
            <p:nvPr/>
          </p:nvSpPr>
          <p:spPr bwMode="auto">
            <a:xfrm>
              <a:off x="3051" y="3547"/>
              <a:ext cx="2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463" name="Group 119"/>
          <p:cNvGrpSpPr/>
          <p:nvPr/>
        </p:nvGrpSpPr>
        <p:grpSpPr bwMode="auto">
          <a:xfrm>
            <a:off x="773113" y="4379913"/>
            <a:ext cx="1766887" cy="790575"/>
            <a:chOff x="487" y="2705"/>
            <a:chExt cx="1113" cy="498"/>
          </a:xfrm>
        </p:grpSpPr>
        <p:sp>
          <p:nvSpPr>
            <p:cNvPr id="11291" name="Freeform 96"/>
            <p:cNvSpPr/>
            <p:nvPr/>
          </p:nvSpPr>
          <p:spPr bwMode="auto">
            <a:xfrm>
              <a:off x="602" y="2740"/>
              <a:ext cx="264" cy="463"/>
            </a:xfrm>
            <a:custGeom>
              <a:avLst/>
              <a:gdLst>
                <a:gd name="T0" fmla="*/ 0 w 264"/>
                <a:gd name="T1" fmla="*/ 463 h 463"/>
                <a:gd name="T2" fmla="*/ 264 w 264"/>
                <a:gd name="T3" fmla="*/ 0 h 463"/>
                <a:gd name="T4" fmla="*/ 0 60000 65536"/>
                <a:gd name="T5" fmla="*/ 0 60000 65536"/>
              </a:gdLst>
              <a:ahLst/>
              <a:cxnLst>
                <a:cxn ang="T4">
                  <a:pos x="T0" y="T1"/>
                </a:cxn>
                <a:cxn ang="T5">
                  <a:pos x="T2" y="T3"/>
                </a:cxn>
              </a:cxnLst>
              <a:rect l="0" t="0" r="r" b="b"/>
              <a:pathLst>
                <a:path w="264" h="463">
                  <a:moveTo>
                    <a:pt x="0" y="463"/>
                  </a:moveTo>
                  <a:lnTo>
                    <a:pt x="264"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2" name="Freeform 97"/>
            <p:cNvSpPr/>
            <p:nvPr/>
          </p:nvSpPr>
          <p:spPr bwMode="auto">
            <a:xfrm>
              <a:off x="487" y="3012"/>
              <a:ext cx="111" cy="191"/>
            </a:xfrm>
            <a:custGeom>
              <a:avLst/>
              <a:gdLst>
                <a:gd name="T0" fmla="*/ 0 w 810"/>
                <a:gd name="T1" fmla="*/ 0 h 1470"/>
                <a:gd name="T2" fmla="*/ 111 w 810"/>
                <a:gd name="T3" fmla="*/ 191 h 1470"/>
                <a:gd name="T4" fmla="*/ 0 60000 65536"/>
                <a:gd name="T5" fmla="*/ 0 60000 65536"/>
              </a:gdLst>
              <a:ahLst/>
              <a:cxnLst>
                <a:cxn ang="T4">
                  <a:pos x="T0" y="T1"/>
                </a:cxn>
                <a:cxn ang="T5">
                  <a:pos x="T2" y="T3"/>
                </a:cxn>
              </a:cxnLst>
              <a:rect l="0" t="0" r="r" b="b"/>
              <a:pathLst>
                <a:path w="810" h="1470">
                  <a:moveTo>
                    <a:pt x="0" y="0"/>
                  </a:moveTo>
                  <a:lnTo>
                    <a:pt x="810" y="147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93" name="Text Box 98"/>
            <p:cNvSpPr txBox="1">
              <a:spLocks noChangeArrowheads="1"/>
            </p:cNvSpPr>
            <p:nvPr/>
          </p:nvSpPr>
          <p:spPr bwMode="auto">
            <a:xfrm>
              <a:off x="787" y="2705"/>
              <a:ext cx="81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t>URa</a:t>
              </a:r>
              <a:r>
                <a:rPr lang="en-US" altLang="zh-CN" b="1" i="1">
                  <a:latin typeface="宋体" panose="02010600030101010101" pitchFamily="2" charset="-122"/>
                </a:rPr>
                <a:t> </a:t>
              </a:r>
              <a:r>
                <a:rPr lang="en-US" altLang="zh-CN" b="1" i="1">
                  <a:latin typeface="ISOCPEUR" panose="020B0604020202020204" pitchFamily="34" charset="0"/>
                </a:rPr>
                <a:t>3.2</a:t>
              </a:r>
              <a:endParaRPr lang="en-US" altLang="zh-CN" b="1">
                <a:latin typeface="ISOCPEUR" panose="020B0604020202020204" pitchFamily="34" charset="0"/>
              </a:endParaRPr>
            </a:p>
          </p:txBody>
        </p:sp>
        <p:sp>
          <p:nvSpPr>
            <p:cNvPr id="11294" name="Line 99"/>
            <p:cNvSpPr>
              <a:spLocks noChangeShapeType="1"/>
            </p:cNvSpPr>
            <p:nvPr/>
          </p:nvSpPr>
          <p:spPr bwMode="auto">
            <a:xfrm>
              <a:off x="867" y="2743"/>
              <a:ext cx="67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5" name="Line 100"/>
            <p:cNvSpPr>
              <a:spLocks noChangeShapeType="1"/>
            </p:cNvSpPr>
            <p:nvPr/>
          </p:nvSpPr>
          <p:spPr bwMode="auto">
            <a:xfrm>
              <a:off x="495" y="3013"/>
              <a:ext cx="22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6" name="Text Box 107"/>
            <p:cNvSpPr txBox="1">
              <a:spLocks noChangeArrowheads="1"/>
            </p:cNvSpPr>
            <p:nvPr/>
          </p:nvSpPr>
          <p:spPr bwMode="auto">
            <a:xfrm>
              <a:off x="787" y="2863"/>
              <a:ext cx="79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t>LRa</a:t>
              </a:r>
              <a:r>
                <a:rPr lang="en-US" altLang="zh-CN" b="1" i="1">
                  <a:latin typeface="宋体" panose="02010600030101010101" pitchFamily="2" charset="-122"/>
                </a:rPr>
                <a:t> </a:t>
              </a:r>
              <a:r>
                <a:rPr lang="en-US" altLang="zh-CN" b="1" i="1">
                  <a:latin typeface="ISOCPEUR" panose="020B0604020202020204" pitchFamily="34" charset="0"/>
                </a:rPr>
                <a:t>1.6</a:t>
              </a:r>
              <a:endParaRPr lang="en-US" altLang="zh-CN" b="1">
                <a:latin typeface="ISOCPEUR" panose="020B0604020202020204" pitchFamily="34" charset="0"/>
              </a:endParaRPr>
            </a:p>
          </p:txBody>
        </p:sp>
      </p:grpSp>
      <p:grpSp>
        <p:nvGrpSpPr>
          <p:cNvPr id="57462" name="Group 118"/>
          <p:cNvGrpSpPr/>
          <p:nvPr/>
        </p:nvGrpSpPr>
        <p:grpSpPr bwMode="auto">
          <a:xfrm>
            <a:off x="647700" y="804863"/>
            <a:ext cx="7942263" cy="5480050"/>
            <a:chOff x="399" y="507"/>
            <a:chExt cx="5003" cy="3452"/>
          </a:xfrm>
        </p:grpSpPr>
        <p:sp>
          <p:nvSpPr>
            <p:cNvPr id="11278" name="Text Box 45"/>
            <p:cNvSpPr txBox="1">
              <a:spLocks noChangeArrowheads="1"/>
            </p:cNvSpPr>
            <p:nvPr/>
          </p:nvSpPr>
          <p:spPr bwMode="auto">
            <a:xfrm>
              <a:off x="692" y="507"/>
              <a:ext cx="8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代   号</a:t>
              </a:r>
              <a:endParaRPr lang="zh-CN" altLang="en-US" sz="2800" b="1"/>
            </a:p>
          </p:txBody>
        </p:sp>
        <p:sp>
          <p:nvSpPr>
            <p:cNvPr id="11279" name="Text Box 46"/>
            <p:cNvSpPr txBox="1">
              <a:spLocks noChangeArrowheads="1"/>
            </p:cNvSpPr>
            <p:nvPr/>
          </p:nvSpPr>
          <p:spPr bwMode="auto">
            <a:xfrm>
              <a:off x="2802" y="507"/>
              <a:ext cx="112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意          义</a:t>
              </a:r>
              <a:endParaRPr lang="zh-CN" altLang="en-US" sz="2800" b="1"/>
            </a:p>
          </p:txBody>
        </p:sp>
        <p:grpSp>
          <p:nvGrpSpPr>
            <p:cNvPr id="11280" name="Group 117"/>
            <p:cNvGrpSpPr/>
            <p:nvPr/>
          </p:nvGrpSpPr>
          <p:grpSpPr bwMode="auto">
            <a:xfrm>
              <a:off x="399" y="510"/>
              <a:ext cx="5003" cy="3449"/>
              <a:chOff x="399" y="510"/>
              <a:chExt cx="5003" cy="3449"/>
            </a:xfrm>
          </p:grpSpPr>
          <p:sp>
            <p:nvSpPr>
              <p:cNvPr id="11281" name="Line 36"/>
              <p:cNvSpPr>
                <a:spLocks noChangeShapeType="1"/>
              </p:cNvSpPr>
              <p:nvPr/>
            </p:nvSpPr>
            <p:spPr bwMode="auto">
              <a:xfrm>
                <a:off x="399" y="838"/>
                <a:ext cx="500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2" name="Line 37"/>
              <p:cNvSpPr>
                <a:spLocks noChangeShapeType="1"/>
              </p:cNvSpPr>
              <p:nvPr/>
            </p:nvSpPr>
            <p:spPr bwMode="auto">
              <a:xfrm>
                <a:off x="399" y="1461"/>
                <a:ext cx="500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3" name="Line 38"/>
              <p:cNvSpPr>
                <a:spLocks noChangeShapeType="1"/>
              </p:cNvSpPr>
              <p:nvPr/>
            </p:nvSpPr>
            <p:spPr bwMode="auto">
              <a:xfrm>
                <a:off x="399" y="511"/>
                <a:ext cx="499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4" name="Line 39"/>
              <p:cNvSpPr>
                <a:spLocks noChangeShapeType="1"/>
              </p:cNvSpPr>
              <p:nvPr/>
            </p:nvSpPr>
            <p:spPr bwMode="auto">
              <a:xfrm>
                <a:off x="399" y="3953"/>
                <a:ext cx="500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5" name="Line 40"/>
              <p:cNvSpPr>
                <a:spLocks noChangeShapeType="1"/>
              </p:cNvSpPr>
              <p:nvPr/>
            </p:nvSpPr>
            <p:spPr bwMode="auto">
              <a:xfrm>
                <a:off x="399" y="2084"/>
                <a:ext cx="499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6" name="Line 41"/>
              <p:cNvSpPr>
                <a:spLocks noChangeShapeType="1"/>
              </p:cNvSpPr>
              <p:nvPr/>
            </p:nvSpPr>
            <p:spPr bwMode="auto">
              <a:xfrm>
                <a:off x="399" y="2707"/>
                <a:ext cx="499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7" name="Line 42"/>
              <p:cNvSpPr>
                <a:spLocks noChangeShapeType="1"/>
              </p:cNvSpPr>
              <p:nvPr/>
            </p:nvSpPr>
            <p:spPr bwMode="auto">
              <a:xfrm>
                <a:off x="402" y="510"/>
                <a:ext cx="0" cy="34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8" name="Line 43"/>
              <p:cNvSpPr>
                <a:spLocks noChangeShapeType="1"/>
              </p:cNvSpPr>
              <p:nvPr/>
            </p:nvSpPr>
            <p:spPr bwMode="auto">
              <a:xfrm>
                <a:off x="1682" y="510"/>
                <a:ext cx="0" cy="344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9" name="Line 44"/>
              <p:cNvSpPr>
                <a:spLocks noChangeShapeType="1"/>
              </p:cNvSpPr>
              <p:nvPr/>
            </p:nvSpPr>
            <p:spPr bwMode="auto">
              <a:xfrm>
                <a:off x="5396" y="510"/>
                <a:ext cx="0" cy="34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0" name="Line 110"/>
              <p:cNvSpPr>
                <a:spLocks noChangeShapeType="1"/>
              </p:cNvSpPr>
              <p:nvPr/>
            </p:nvSpPr>
            <p:spPr bwMode="auto">
              <a:xfrm>
                <a:off x="399" y="3330"/>
                <a:ext cx="500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7455" name="Text Box 111"/>
          <p:cNvSpPr txBox="1">
            <a:spLocks noChangeArrowheads="1"/>
          </p:cNvSpPr>
          <p:nvPr/>
        </p:nvSpPr>
        <p:spPr bwMode="auto">
          <a:xfrm>
            <a:off x="2800350" y="4278313"/>
            <a:ext cx="5995988"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表示去除材料</a:t>
            </a:r>
            <a:r>
              <a:rPr lang="en-US" altLang="zh-CN" sz="2800" b="1">
                <a:latin typeface="宋体" panose="02010600030101010101" pitchFamily="2" charset="-122"/>
              </a:rPr>
              <a:t>,</a:t>
            </a:r>
            <a:r>
              <a:rPr lang="zh-CN" altLang="en-US" sz="2800" b="1">
                <a:latin typeface="宋体" panose="02010600030101010101" pitchFamily="2" charset="-122"/>
              </a:rPr>
              <a:t>双向极限值</a:t>
            </a:r>
            <a:r>
              <a:rPr lang="en-US" altLang="zh-CN" sz="2800" b="1">
                <a:latin typeface="宋体" panose="02010600030101010101" pitchFamily="2" charset="-122"/>
              </a:rPr>
              <a:t>,</a:t>
            </a:r>
            <a:r>
              <a:rPr lang="zh-CN" altLang="en-US" sz="2800" b="1">
                <a:latin typeface="宋体" panose="02010600030101010101" pitchFamily="2" charset="-122"/>
              </a:rPr>
              <a:t>上限</a:t>
            </a:r>
            <a:r>
              <a:rPr lang="zh-CN" altLang="zh-CN" sz="2800" b="1">
                <a:latin typeface="宋体" panose="02010600030101010101" pitchFamily="2" charset="-122"/>
              </a:rPr>
              <a:t>值：</a:t>
            </a:r>
            <a:r>
              <a:rPr lang="en-US" altLang="zh-CN" sz="3200" b="1" i="1"/>
              <a:t>R</a:t>
            </a:r>
            <a:r>
              <a:rPr lang="en-US" altLang="zh-CN" b="1" i="1"/>
              <a:t>a </a:t>
            </a:r>
            <a:r>
              <a:rPr lang="zh-CN" altLang="zh-CN" sz="2800" b="1">
                <a:latin typeface="宋体" panose="02010600030101010101" pitchFamily="2" charset="-122"/>
              </a:rPr>
              <a:t>为</a:t>
            </a:r>
            <a:r>
              <a:rPr lang="en-US" altLang="zh-CN" sz="2800" b="1">
                <a:latin typeface="宋体" panose="02010600030101010101" pitchFamily="2" charset="-122"/>
              </a:rPr>
              <a:t>3.2</a:t>
            </a:r>
            <a:r>
              <a:rPr lang="en-US" altLang="zh-CN" sz="2800" b="1">
                <a:latin typeface="宋体" panose="02010600030101010101" pitchFamily="2" charset="-122"/>
                <a:sym typeface="Symbol" panose="05050102010706020507" pitchFamily="18" charset="2"/>
              </a:rPr>
              <a:t>m</a:t>
            </a:r>
            <a:r>
              <a:rPr lang="zh-CN" altLang="en-US" sz="2800" b="1">
                <a:latin typeface="宋体" panose="02010600030101010101" pitchFamily="2" charset="-122"/>
                <a:sym typeface="Symbol" panose="05050102010706020507" pitchFamily="18" charset="2"/>
              </a:rPr>
              <a:t>，</a:t>
            </a:r>
            <a:r>
              <a:rPr lang="zh-CN" altLang="en-US" sz="2800" b="1">
                <a:latin typeface="宋体" panose="02010600030101010101" pitchFamily="2" charset="-122"/>
              </a:rPr>
              <a:t>下限</a:t>
            </a:r>
            <a:r>
              <a:rPr lang="zh-CN" altLang="en-US" sz="2800" b="1">
                <a:latin typeface="宋体" panose="02010600030101010101" pitchFamily="2" charset="-122"/>
                <a:sym typeface="Symbol" panose="05050102010706020507" pitchFamily="18" charset="2"/>
              </a:rPr>
              <a:t>值：</a:t>
            </a:r>
            <a:r>
              <a:rPr lang="en-US" altLang="zh-CN" sz="3200" b="1" i="1"/>
              <a:t>R</a:t>
            </a:r>
            <a:r>
              <a:rPr lang="en-US" altLang="zh-CN" b="1" i="1"/>
              <a:t>a</a:t>
            </a:r>
            <a:r>
              <a:rPr lang="zh-CN" altLang="en-US" sz="2800" b="1">
                <a:latin typeface="宋体" panose="02010600030101010101" pitchFamily="2" charset="-122"/>
                <a:sym typeface="Symbol" panose="05050102010706020507" pitchFamily="18" charset="2"/>
              </a:rPr>
              <a:t>为</a:t>
            </a:r>
            <a:r>
              <a:rPr lang="en-US" altLang="zh-CN" sz="2800" b="1">
                <a:latin typeface="宋体" panose="02010600030101010101" pitchFamily="2" charset="-122"/>
                <a:sym typeface="Symbol" panose="05050102010706020507" pitchFamily="18" charset="2"/>
              </a:rPr>
              <a:t>1.6m</a:t>
            </a:r>
            <a:r>
              <a:rPr lang="zh-CN" altLang="en-US" sz="2800" b="1">
                <a:latin typeface="宋体" panose="02010600030101010101" pitchFamily="2" charset="-122"/>
                <a:sym typeface="Symbol" panose="05050102010706020507" pitchFamily="18" charset="2"/>
              </a:rPr>
              <a:t>。</a:t>
            </a:r>
            <a:endParaRPr lang="zh-CN" altLang="en-US" sz="2800" b="1">
              <a:latin typeface="宋体" panose="02010600030101010101" pitchFamily="2" charset="-122"/>
              <a:sym typeface="Symbol" panose="05050102010706020507" pitchFamily="18" charset="2"/>
            </a:endParaRPr>
          </a:p>
        </p:txBody>
      </p:sp>
      <p:sp>
        <p:nvSpPr>
          <p:cNvPr id="57458" name="Text Box 114"/>
          <p:cNvSpPr txBox="1">
            <a:spLocks noChangeArrowheads="1"/>
          </p:cNvSpPr>
          <p:nvPr/>
        </p:nvSpPr>
        <p:spPr bwMode="auto">
          <a:xfrm>
            <a:off x="2800350" y="3287713"/>
            <a:ext cx="5256213"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表示去除材料</a:t>
            </a:r>
            <a:r>
              <a:rPr lang="en-US" altLang="zh-CN" sz="2800" b="1">
                <a:latin typeface="宋体" panose="02010600030101010101" pitchFamily="2" charset="-122"/>
              </a:rPr>
              <a:t>,</a:t>
            </a:r>
            <a:r>
              <a:rPr lang="zh-CN" altLang="en-US" sz="2800" b="1">
                <a:latin typeface="宋体" panose="02010600030101010101" pitchFamily="2" charset="-122"/>
              </a:rPr>
              <a:t>单向上限值，</a:t>
            </a:r>
            <a:endParaRPr lang="zh-CN" altLang="en-US" sz="2800" b="1">
              <a:latin typeface="宋体" panose="02010600030101010101" pitchFamily="2" charset="-122"/>
            </a:endParaRPr>
          </a:p>
          <a:p>
            <a:pPr algn="l"/>
            <a:r>
              <a:rPr lang="en-US" altLang="zh-CN" sz="3200" b="1" i="1"/>
              <a:t>R</a:t>
            </a:r>
            <a:r>
              <a:rPr lang="en-US" altLang="zh-CN" b="1" i="1"/>
              <a:t>a </a:t>
            </a:r>
            <a:r>
              <a:rPr lang="zh-CN" altLang="en-US" sz="2800" b="1">
                <a:latin typeface="宋体" panose="02010600030101010101" pitchFamily="2" charset="-122"/>
              </a:rPr>
              <a:t>的最大</a:t>
            </a:r>
            <a:r>
              <a:rPr lang="zh-CN" altLang="zh-CN" sz="2800" b="1">
                <a:latin typeface="宋体" panose="02010600030101010101" pitchFamily="2" charset="-122"/>
              </a:rPr>
              <a:t>值为</a:t>
            </a:r>
            <a:r>
              <a:rPr lang="en-US" altLang="zh-CN" sz="2800" b="1">
                <a:latin typeface="宋体" panose="02010600030101010101" pitchFamily="2" charset="-122"/>
              </a:rPr>
              <a:t>1.6</a:t>
            </a:r>
            <a:r>
              <a:rPr lang="en-US" altLang="zh-CN" sz="2800" b="1">
                <a:latin typeface="宋体" panose="02010600030101010101" pitchFamily="2" charset="-122"/>
                <a:sym typeface="Symbol" panose="05050102010706020507" pitchFamily="18" charset="2"/>
              </a:rPr>
              <a:t>m</a:t>
            </a:r>
            <a:r>
              <a:rPr lang="zh-CN" altLang="en-US" sz="2800" b="1">
                <a:latin typeface="宋体" panose="02010600030101010101" pitchFamily="2" charset="-122"/>
                <a:sym typeface="Symbol" panose="05050102010706020507" pitchFamily="18" charset="2"/>
              </a:rPr>
              <a:t>。</a:t>
            </a:r>
            <a:endParaRPr lang="zh-CN" altLang="en-US" sz="2800" b="1">
              <a:latin typeface="宋体" panose="02010600030101010101" pitchFamily="2" charset="-122"/>
              <a:sym typeface="Symbol" panose="05050102010706020507" pitchFamily="18" charset="2"/>
            </a:endParaRPr>
          </a:p>
        </p:txBody>
      </p:sp>
      <p:sp>
        <p:nvSpPr>
          <p:cNvPr id="57459" name="Text Box 115"/>
          <p:cNvSpPr txBox="1">
            <a:spLocks noChangeArrowheads="1"/>
          </p:cNvSpPr>
          <p:nvPr/>
        </p:nvSpPr>
        <p:spPr bwMode="auto">
          <a:xfrm>
            <a:off x="2800350" y="5267325"/>
            <a:ext cx="5256213"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表示去除材料</a:t>
            </a:r>
            <a:r>
              <a:rPr lang="en-US" altLang="zh-CN" sz="2800" b="1">
                <a:latin typeface="宋体" panose="02010600030101010101" pitchFamily="2" charset="-122"/>
              </a:rPr>
              <a:t>,</a:t>
            </a:r>
            <a:r>
              <a:rPr lang="zh-CN" altLang="en-US" sz="2800" b="1">
                <a:latin typeface="宋体" panose="02010600030101010101" pitchFamily="2" charset="-122"/>
              </a:rPr>
              <a:t>单向上限值，</a:t>
            </a:r>
            <a:endParaRPr lang="zh-CN" altLang="en-US" sz="2800" b="1">
              <a:latin typeface="宋体" panose="02010600030101010101" pitchFamily="2" charset="-122"/>
            </a:endParaRPr>
          </a:p>
          <a:p>
            <a:pPr algn="l"/>
            <a:r>
              <a:rPr lang="en-US" altLang="zh-CN" sz="3200" b="1" i="1"/>
              <a:t>R</a:t>
            </a:r>
            <a:r>
              <a:rPr lang="en-US" altLang="zh-CN" b="1" i="1"/>
              <a:t>z </a:t>
            </a:r>
            <a:r>
              <a:rPr lang="zh-CN" altLang="en-US" sz="2800" b="1">
                <a:latin typeface="宋体" panose="02010600030101010101" pitchFamily="2" charset="-122"/>
              </a:rPr>
              <a:t>的上限</a:t>
            </a:r>
            <a:r>
              <a:rPr lang="zh-CN" altLang="zh-CN" sz="2800" b="1">
                <a:latin typeface="宋体" panose="02010600030101010101" pitchFamily="2" charset="-122"/>
              </a:rPr>
              <a:t>值为</a:t>
            </a:r>
            <a:r>
              <a:rPr lang="en-US" altLang="zh-CN" sz="2800" b="1">
                <a:latin typeface="宋体" panose="02010600030101010101" pitchFamily="2" charset="-122"/>
              </a:rPr>
              <a:t>3.2</a:t>
            </a:r>
            <a:r>
              <a:rPr lang="en-US" altLang="zh-CN" sz="2800" b="1">
                <a:latin typeface="宋体" panose="02010600030101010101" pitchFamily="2" charset="-122"/>
                <a:sym typeface="Symbol" panose="05050102010706020507" pitchFamily="18" charset="2"/>
              </a:rPr>
              <a:t>m</a:t>
            </a:r>
            <a:r>
              <a:rPr lang="zh-CN" altLang="en-US" sz="2800" b="1">
                <a:latin typeface="宋体" panose="02010600030101010101" pitchFamily="2" charset="-122"/>
                <a:sym typeface="Symbol" panose="05050102010706020507" pitchFamily="18" charset="2"/>
              </a:rPr>
              <a:t>。</a:t>
            </a:r>
            <a:endParaRPr lang="zh-CN" altLang="en-US" sz="2800" b="1">
              <a:latin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462"/>
                                        </p:tgtEl>
                                        <p:attrNameLst>
                                          <p:attrName>style.visibility</p:attrName>
                                        </p:attrNameLst>
                                      </p:cBhvr>
                                      <p:to>
                                        <p:strVal val="visible"/>
                                      </p:to>
                                    </p:set>
                                    <p:animEffect transition="in" filter="wipe(up)">
                                      <p:cBhvr>
                                        <p:cTn id="7" dur="500"/>
                                        <p:tgtEl>
                                          <p:spTgt spid="5746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438"/>
                                        </p:tgtEl>
                                        <p:attrNameLst>
                                          <p:attrName>style.visibility</p:attrName>
                                        </p:attrNameLst>
                                      </p:cBhvr>
                                      <p:to>
                                        <p:strVal val="visible"/>
                                      </p:to>
                                    </p:set>
                                    <p:anim calcmode="lin" valueType="num">
                                      <p:cBhvr additive="base">
                                        <p:cTn id="12" dur="500" fill="hold"/>
                                        <p:tgtEl>
                                          <p:spTgt spid="57438"/>
                                        </p:tgtEl>
                                        <p:attrNameLst>
                                          <p:attrName>ppt_x</p:attrName>
                                        </p:attrNameLst>
                                      </p:cBhvr>
                                      <p:tavLst>
                                        <p:tav tm="0">
                                          <p:val>
                                            <p:strVal val="0-#ppt_w/2"/>
                                          </p:val>
                                        </p:tav>
                                        <p:tav tm="100000">
                                          <p:val>
                                            <p:strVal val="#ppt_x"/>
                                          </p:val>
                                        </p:tav>
                                      </p:tavLst>
                                    </p:anim>
                                    <p:anim calcmode="lin" valueType="num">
                                      <p:cBhvr additive="base">
                                        <p:cTn id="13" dur="500" fill="hold"/>
                                        <p:tgtEl>
                                          <p:spTgt spid="5743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iterate type="lt">
                                    <p:tmPct val="100000"/>
                                  </p:iterate>
                                  <p:childTnLst>
                                    <p:set>
                                      <p:cBhvr>
                                        <p:cTn id="17" dur="1" fill="hold">
                                          <p:stCondLst>
                                            <p:cond delay="0"/>
                                          </p:stCondLst>
                                        </p:cTn>
                                        <p:tgtEl>
                                          <p:spTgt spid="57354">
                                            <p:txEl>
                                              <p:pRg st="0" end="0"/>
                                            </p:txEl>
                                          </p:spTgt>
                                        </p:tgtEl>
                                        <p:attrNameLst>
                                          <p:attrName>style.visibility</p:attrName>
                                        </p:attrNameLst>
                                      </p:cBhvr>
                                      <p:to>
                                        <p:strVal val="visible"/>
                                      </p:to>
                                    </p:set>
                                    <p:animEffect transition="in" filter="wipe(up)">
                                      <p:cBhvr>
                                        <p:cTn id="18" dur="75"/>
                                        <p:tgtEl>
                                          <p:spTgt spid="5735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iterate type="lt">
                                    <p:tmPct val="100000"/>
                                  </p:iterate>
                                  <p:childTnLst>
                                    <p:set>
                                      <p:cBhvr>
                                        <p:cTn id="22" dur="1" fill="hold">
                                          <p:stCondLst>
                                            <p:cond delay="0"/>
                                          </p:stCondLst>
                                        </p:cTn>
                                        <p:tgtEl>
                                          <p:spTgt spid="57354">
                                            <p:txEl>
                                              <p:pRg st="1" end="1"/>
                                            </p:txEl>
                                          </p:spTgt>
                                        </p:tgtEl>
                                        <p:attrNameLst>
                                          <p:attrName>style.visibility</p:attrName>
                                        </p:attrNameLst>
                                      </p:cBhvr>
                                      <p:to>
                                        <p:strVal val="visible"/>
                                      </p:to>
                                    </p:set>
                                    <p:animEffect transition="in" filter="wipe(up)">
                                      <p:cBhvr>
                                        <p:cTn id="23" dur="75"/>
                                        <p:tgtEl>
                                          <p:spTgt spid="5735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57437"/>
                                        </p:tgtEl>
                                        <p:attrNameLst>
                                          <p:attrName>style.visibility</p:attrName>
                                        </p:attrNameLst>
                                      </p:cBhvr>
                                      <p:to>
                                        <p:strVal val="visible"/>
                                      </p:to>
                                    </p:set>
                                    <p:anim calcmode="lin" valueType="num">
                                      <p:cBhvr additive="base">
                                        <p:cTn id="28" dur="500" fill="hold"/>
                                        <p:tgtEl>
                                          <p:spTgt spid="57437"/>
                                        </p:tgtEl>
                                        <p:attrNameLst>
                                          <p:attrName>ppt_x</p:attrName>
                                        </p:attrNameLst>
                                      </p:cBhvr>
                                      <p:tavLst>
                                        <p:tav tm="0">
                                          <p:val>
                                            <p:strVal val="0-#ppt_w/2"/>
                                          </p:val>
                                        </p:tav>
                                        <p:tav tm="100000">
                                          <p:val>
                                            <p:strVal val="#ppt_x"/>
                                          </p:val>
                                        </p:tav>
                                      </p:tavLst>
                                    </p:anim>
                                    <p:anim calcmode="lin" valueType="num">
                                      <p:cBhvr additive="base">
                                        <p:cTn id="29" dur="500" fill="hold"/>
                                        <p:tgtEl>
                                          <p:spTgt spid="5743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 presetClass="entr" presetSubtype="5" fill="hold" grpId="0" nodeType="clickEffect">
                                  <p:stCondLst>
                                    <p:cond delay="0"/>
                                  </p:stCondLst>
                                  <p:childTnLst>
                                    <p:set>
                                      <p:cBhvr>
                                        <p:cTn id="33" dur="1" fill="hold">
                                          <p:stCondLst>
                                            <p:cond delay="0"/>
                                          </p:stCondLst>
                                        </p:cTn>
                                        <p:tgtEl>
                                          <p:spTgt spid="57370"/>
                                        </p:tgtEl>
                                        <p:attrNameLst>
                                          <p:attrName>style.visibility</p:attrName>
                                        </p:attrNameLst>
                                      </p:cBhvr>
                                      <p:to>
                                        <p:strVal val="visible"/>
                                      </p:to>
                                    </p:set>
                                    <p:animEffect transition="in" filter="checkerboard(down)">
                                      <p:cBhvr>
                                        <p:cTn id="34" dur="500"/>
                                        <p:tgtEl>
                                          <p:spTgt spid="5737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57434"/>
                                        </p:tgtEl>
                                        <p:attrNameLst>
                                          <p:attrName>style.visibility</p:attrName>
                                        </p:attrNameLst>
                                      </p:cBhvr>
                                      <p:to>
                                        <p:strVal val="visible"/>
                                      </p:to>
                                    </p:set>
                                    <p:animEffect transition="in" filter="dissolve">
                                      <p:cBhvr>
                                        <p:cTn id="39" dur="500"/>
                                        <p:tgtEl>
                                          <p:spTgt spid="57434"/>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5" fill="hold" grpId="0" nodeType="clickEffect">
                                  <p:stCondLst>
                                    <p:cond delay="0"/>
                                  </p:stCondLst>
                                  <p:childTnLst>
                                    <p:set>
                                      <p:cBhvr>
                                        <p:cTn id="43" dur="1" fill="hold">
                                          <p:stCondLst>
                                            <p:cond delay="0"/>
                                          </p:stCondLst>
                                        </p:cTn>
                                        <p:tgtEl>
                                          <p:spTgt spid="57458"/>
                                        </p:tgtEl>
                                        <p:attrNameLst>
                                          <p:attrName>style.visibility</p:attrName>
                                        </p:attrNameLst>
                                      </p:cBhvr>
                                      <p:to>
                                        <p:strVal val="visible"/>
                                      </p:to>
                                    </p:set>
                                    <p:animEffect transition="in" filter="checkerboard(down)">
                                      <p:cBhvr>
                                        <p:cTn id="44" dur="500"/>
                                        <p:tgtEl>
                                          <p:spTgt spid="57458"/>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nodeType="clickEffect">
                                  <p:stCondLst>
                                    <p:cond delay="0"/>
                                  </p:stCondLst>
                                  <p:childTnLst>
                                    <p:set>
                                      <p:cBhvr>
                                        <p:cTn id="48" dur="1" fill="hold">
                                          <p:stCondLst>
                                            <p:cond delay="0"/>
                                          </p:stCondLst>
                                        </p:cTn>
                                        <p:tgtEl>
                                          <p:spTgt spid="57463"/>
                                        </p:tgtEl>
                                        <p:attrNameLst>
                                          <p:attrName>style.visibility</p:attrName>
                                        </p:attrNameLst>
                                      </p:cBhvr>
                                      <p:to>
                                        <p:strVal val="visible"/>
                                      </p:to>
                                    </p:set>
                                    <p:animEffect transition="in" filter="checkerboard(across)">
                                      <p:cBhvr>
                                        <p:cTn id="49" dur="500"/>
                                        <p:tgtEl>
                                          <p:spTgt spid="57463"/>
                                        </p:tgtEl>
                                      </p:cBhvr>
                                    </p:animEffect>
                                  </p:childTnLst>
                                </p:cTn>
                              </p:par>
                            </p:childTnLst>
                          </p:cTn>
                        </p:par>
                      </p:childTnLst>
                    </p:cTn>
                  </p:par>
                  <p:par>
                    <p:cTn id="50" fill="hold">
                      <p:stCondLst>
                        <p:cond delay="indefinite"/>
                      </p:stCondLst>
                      <p:childTnLst>
                        <p:par>
                          <p:cTn id="51" fill="hold">
                            <p:stCondLst>
                              <p:cond delay="0"/>
                            </p:stCondLst>
                            <p:childTnLst>
                              <p:par>
                                <p:cTn id="52" presetID="5" presetClass="entr" presetSubtype="5" fill="hold" grpId="0" nodeType="clickEffect">
                                  <p:stCondLst>
                                    <p:cond delay="0"/>
                                  </p:stCondLst>
                                  <p:childTnLst>
                                    <p:set>
                                      <p:cBhvr>
                                        <p:cTn id="53" dur="1" fill="hold">
                                          <p:stCondLst>
                                            <p:cond delay="0"/>
                                          </p:stCondLst>
                                        </p:cTn>
                                        <p:tgtEl>
                                          <p:spTgt spid="57455"/>
                                        </p:tgtEl>
                                        <p:attrNameLst>
                                          <p:attrName>style.visibility</p:attrName>
                                        </p:attrNameLst>
                                      </p:cBhvr>
                                      <p:to>
                                        <p:strVal val="visible"/>
                                      </p:to>
                                    </p:set>
                                    <p:animEffect transition="in" filter="checkerboard(down)">
                                      <p:cBhvr>
                                        <p:cTn id="54" dur="500"/>
                                        <p:tgtEl>
                                          <p:spTgt spid="57455"/>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57453"/>
                                        </p:tgtEl>
                                        <p:attrNameLst>
                                          <p:attrName>style.visibility</p:attrName>
                                        </p:attrNameLst>
                                      </p:cBhvr>
                                      <p:to>
                                        <p:strVal val="visible"/>
                                      </p:to>
                                    </p:set>
                                    <p:animEffect transition="in" filter="box(out)">
                                      <p:cBhvr>
                                        <p:cTn id="59" dur="500"/>
                                        <p:tgtEl>
                                          <p:spTgt spid="57453"/>
                                        </p:tgtEl>
                                      </p:cBhvr>
                                    </p:animEffect>
                                  </p:childTnLst>
                                </p:cTn>
                              </p:par>
                            </p:childTnLst>
                          </p:cTn>
                        </p:par>
                      </p:childTnLst>
                    </p:cTn>
                  </p:par>
                  <p:par>
                    <p:cTn id="60" fill="hold">
                      <p:stCondLst>
                        <p:cond delay="indefinite"/>
                      </p:stCondLst>
                      <p:childTnLst>
                        <p:par>
                          <p:cTn id="61" fill="hold">
                            <p:stCondLst>
                              <p:cond delay="0"/>
                            </p:stCondLst>
                            <p:childTnLst>
                              <p:par>
                                <p:cTn id="62" presetID="5" presetClass="entr" presetSubtype="5" fill="hold" grpId="0" nodeType="clickEffect">
                                  <p:stCondLst>
                                    <p:cond delay="0"/>
                                  </p:stCondLst>
                                  <p:childTnLst>
                                    <p:set>
                                      <p:cBhvr>
                                        <p:cTn id="63" dur="1" fill="hold">
                                          <p:stCondLst>
                                            <p:cond delay="0"/>
                                          </p:stCondLst>
                                        </p:cTn>
                                        <p:tgtEl>
                                          <p:spTgt spid="57459"/>
                                        </p:tgtEl>
                                        <p:attrNameLst>
                                          <p:attrName>style.visibility</p:attrName>
                                        </p:attrNameLst>
                                      </p:cBhvr>
                                      <p:to>
                                        <p:strVal val="visible"/>
                                      </p:to>
                                    </p:set>
                                    <p:animEffect transition="in" filter="checkerboard(down)">
                                      <p:cBhvr>
                                        <p:cTn id="64" dur="500"/>
                                        <p:tgtEl>
                                          <p:spTgt spid="57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4" grpId="0" autoUpdateAnimBg="0" build="p"/>
      <p:bldP spid="57370" grpId="0" autoUpdateAnimBg="0"/>
      <p:bldP spid="57455" grpId="0" autoUpdateAnimBg="0"/>
      <p:bldP spid="57458" grpId="0" autoUpdateAnimBg="0"/>
      <p:bldP spid="5745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52400" y="104775"/>
            <a:ext cx="75057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t>3)</a:t>
            </a:r>
            <a:r>
              <a:rPr lang="zh-CN" altLang="en-US" sz="3200" b="1"/>
              <a:t>表面粗糙度要求在图样中的注法</a:t>
            </a:r>
            <a:endParaRPr lang="zh-CN" altLang="en-US" sz="3200" b="1"/>
          </a:p>
        </p:txBody>
      </p:sp>
      <p:sp>
        <p:nvSpPr>
          <p:cNvPr id="14339" name="Text Box 3"/>
          <p:cNvSpPr txBox="1">
            <a:spLocks noChangeArrowheads="1"/>
          </p:cNvSpPr>
          <p:nvPr/>
        </p:nvSpPr>
        <p:spPr bwMode="auto">
          <a:xfrm>
            <a:off x="552450" y="4570413"/>
            <a:ext cx="8218488"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表面粗糙度要求可注在</a:t>
            </a:r>
            <a:r>
              <a:rPr lang="zh-CN" altLang="en-US" sz="2800" b="1">
                <a:solidFill>
                  <a:srgbClr val="FF3300"/>
                </a:solidFill>
                <a:latin typeface="宋体" panose="02010600030101010101" pitchFamily="2" charset="-122"/>
              </a:rPr>
              <a:t>轮廓线或其延长线上，</a:t>
            </a:r>
            <a:endParaRPr lang="zh-CN" altLang="en-US" sz="2800" b="1">
              <a:solidFill>
                <a:srgbClr val="FF3300"/>
              </a:solidFill>
              <a:latin typeface="宋体" panose="02010600030101010101" pitchFamily="2" charset="-122"/>
            </a:endParaRPr>
          </a:p>
          <a:p>
            <a:pPr algn="l"/>
            <a:r>
              <a:rPr lang="zh-CN" altLang="en-US" sz="2800" b="1">
                <a:solidFill>
                  <a:srgbClr val="FF3300"/>
                </a:solidFill>
                <a:latin typeface="宋体" panose="02010600030101010101" pitchFamily="2" charset="-122"/>
              </a:rPr>
              <a:t>   </a:t>
            </a:r>
            <a:r>
              <a:rPr lang="zh-CN" altLang="en-US" sz="2800" b="1">
                <a:latin typeface="宋体" panose="02010600030101010101" pitchFamily="2" charset="-122"/>
              </a:rPr>
              <a:t>其符号应</a:t>
            </a:r>
            <a:r>
              <a:rPr lang="zh-CN" altLang="en-US" sz="2800" b="1">
                <a:solidFill>
                  <a:srgbClr val="FF3300"/>
                </a:solidFill>
                <a:latin typeface="宋体" panose="02010600030101010101" pitchFamily="2" charset="-122"/>
              </a:rPr>
              <a:t>从材料外指向并接触表面。</a:t>
            </a:r>
            <a:endParaRPr lang="zh-CN" altLang="en-US" sz="2800" b="1">
              <a:solidFill>
                <a:srgbClr val="FF3300"/>
              </a:solidFill>
              <a:latin typeface="宋体" panose="02010600030101010101" pitchFamily="2" charset="-122"/>
            </a:endParaRPr>
          </a:p>
        </p:txBody>
      </p:sp>
      <p:sp>
        <p:nvSpPr>
          <p:cNvPr id="14465" name="Text Box 129"/>
          <p:cNvSpPr txBox="1">
            <a:spLocks noChangeArrowheads="1"/>
          </p:cNvSpPr>
          <p:nvPr/>
        </p:nvSpPr>
        <p:spPr bwMode="auto">
          <a:xfrm>
            <a:off x="552450" y="3692525"/>
            <a:ext cx="8223250" cy="946150"/>
          </a:xfrm>
          <a:prstGeom prst="rect">
            <a:avLst/>
          </a:prstGeom>
          <a:noFill/>
          <a:ln>
            <a:noFill/>
          </a:ln>
          <a:effectLst/>
          <a:extLst>
            <a:ext uri="{909E8E84-426E-40DD-AFC4-6F175D3DCCD1}">
              <a14:hiddenFill xmlns:a14="http://schemas.microsoft.com/office/drawing/2010/main">
                <a:solidFill>
                  <a:srgbClr val="FF66FF"/>
                </a:solidFill>
              </a14:hiddenFill>
            </a:ext>
            <a:ext uri="{91240B29-F687-4F45-9708-019B960494DF}">
              <a14:hiddenLine xmlns:a14="http://schemas.microsoft.com/office/drawing/2010/main" w="76200">
                <a:pattFill prst="solidDmnd">
                  <a:fgClr>
                    <a:srgbClr val="FF00FF"/>
                  </a:fgClr>
                  <a:bgClr>
                    <a:srgbClr val="FFFF00"/>
                  </a:bgClr>
                </a:patt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a:t>
            </a:r>
            <a:r>
              <a:rPr lang="en-US" altLang="zh-CN" sz="2800" b="1">
                <a:solidFill>
                  <a:schemeClr val="accent2"/>
                </a:solidFill>
                <a:latin typeface="宋体" panose="02010600030101010101" pitchFamily="2" charset="-122"/>
              </a:rPr>
              <a:t> </a:t>
            </a:r>
            <a:r>
              <a:rPr lang="zh-CN" altLang="en-US" sz="2800" b="1">
                <a:solidFill>
                  <a:schemeClr val="accent2"/>
                </a:solidFill>
                <a:latin typeface="宋体" panose="02010600030101010101" pitchFamily="2" charset="-122"/>
              </a:rPr>
              <a:t>表面粗糙度的注写和读取方向与尺寸的注写和读</a:t>
            </a:r>
            <a:endParaRPr lang="zh-CN" altLang="en-US" sz="2800" b="1">
              <a:solidFill>
                <a:schemeClr val="accent2"/>
              </a:solidFill>
              <a:latin typeface="宋体" panose="02010600030101010101" pitchFamily="2" charset="-122"/>
            </a:endParaRPr>
          </a:p>
          <a:p>
            <a:pPr algn="l"/>
            <a:r>
              <a:rPr lang="zh-CN" altLang="en-US" sz="2800" b="1">
                <a:solidFill>
                  <a:schemeClr val="accent2"/>
                </a:solidFill>
                <a:latin typeface="宋体" panose="02010600030101010101" pitchFamily="2" charset="-122"/>
              </a:rPr>
              <a:t>   取方向一致。</a:t>
            </a:r>
            <a:endParaRPr lang="zh-CN" altLang="en-US" sz="2800" b="1">
              <a:solidFill>
                <a:schemeClr val="accent2"/>
              </a:solidFill>
              <a:latin typeface="宋体" panose="02010600030101010101" pitchFamily="2" charset="-122"/>
            </a:endParaRPr>
          </a:p>
        </p:txBody>
      </p:sp>
      <p:grpSp>
        <p:nvGrpSpPr>
          <p:cNvPr id="14469" name="Group 133"/>
          <p:cNvGrpSpPr/>
          <p:nvPr/>
        </p:nvGrpSpPr>
        <p:grpSpPr bwMode="auto">
          <a:xfrm>
            <a:off x="442913" y="1357313"/>
            <a:ext cx="1771650" cy="1395412"/>
            <a:chOff x="105" y="855"/>
            <a:chExt cx="1116" cy="879"/>
          </a:xfrm>
        </p:grpSpPr>
        <p:sp>
          <p:nvSpPr>
            <p:cNvPr id="14468" name="AutoShape 132"/>
            <p:cNvSpPr>
              <a:spLocks noChangeArrowheads="1"/>
            </p:cNvSpPr>
            <p:nvPr/>
          </p:nvSpPr>
          <p:spPr bwMode="auto">
            <a:xfrm>
              <a:off x="105" y="858"/>
              <a:ext cx="1058" cy="876"/>
            </a:xfrm>
            <a:prstGeom prst="wedgeRoundRectCallout">
              <a:avLst>
                <a:gd name="adj1" fmla="val 68051"/>
                <a:gd name="adj2" fmla="val 44407"/>
                <a:gd name="adj3" fmla="val 16667"/>
              </a:avLst>
            </a:prstGeom>
            <a:gradFill rotWithShape="0">
              <a:gsLst>
                <a:gs pos="0">
                  <a:schemeClr val="accent1"/>
                </a:gs>
                <a:gs pos="100000">
                  <a:schemeClr val="accent1">
                    <a:gamma/>
                    <a:tint val="0"/>
                    <a:invGamma/>
                  </a:schemeClr>
                </a:gs>
              </a:gsLst>
              <a:lin ang="18900000" scaled="1"/>
            </a:gradFill>
            <a:ln w="9525">
              <a:solidFill>
                <a:srgbClr val="00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endParaRPr lang="zh-CN" altLang="zh-CN"/>
            </a:p>
          </p:txBody>
        </p:sp>
        <p:sp>
          <p:nvSpPr>
            <p:cNvPr id="12453" name="Text Box 130"/>
            <p:cNvSpPr txBox="1">
              <a:spLocks noChangeArrowheads="1"/>
            </p:cNvSpPr>
            <p:nvPr/>
          </p:nvSpPr>
          <p:spPr bwMode="auto">
            <a:xfrm>
              <a:off x="146" y="855"/>
              <a:ext cx="1075" cy="86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path path="shape">
                      <a:fillToRect l="50000" t="50000" r="50000" b="50000"/>
                    </a:path>
                  </a:gradFill>
                </a14:hiddenFill>
              </a:ext>
              <a:ext uri="{91240B29-F687-4F45-9708-019B960494DF}">
                <a14:hiddenLine xmlns:a14="http://schemas.microsoft.com/office/drawing/2010/main" w="9525">
                  <a:solidFill>
                    <a:srgbClr val="00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003399"/>
                  </a:solidFill>
                </a:rPr>
                <a:t>参数代号为大小写 </a:t>
              </a:r>
              <a:endParaRPr lang="zh-CN" altLang="en-US" sz="2800" b="1">
                <a:solidFill>
                  <a:srgbClr val="003399"/>
                </a:solidFill>
              </a:endParaRPr>
            </a:p>
            <a:p>
              <a:pPr algn="l" eaLnBrk="1" hangingPunct="1"/>
              <a:r>
                <a:rPr lang="zh-CN" altLang="en-US" sz="2800" b="1">
                  <a:solidFill>
                    <a:srgbClr val="003399"/>
                  </a:solidFill>
                </a:rPr>
                <a:t>    斜体</a:t>
              </a:r>
              <a:endParaRPr lang="zh-CN" altLang="en-US" sz="2800" b="1">
                <a:solidFill>
                  <a:srgbClr val="003399"/>
                </a:solidFill>
              </a:endParaRPr>
            </a:p>
          </p:txBody>
        </p:sp>
      </p:grpSp>
      <p:sp>
        <p:nvSpPr>
          <p:cNvPr id="14467" name="Text Box 131"/>
          <p:cNvSpPr txBox="1">
            <a:spLocks noChangeArrowheads="1"/>
          </p:cNvSpPr>
          <p:nvPr/>
        </p:nvSpPr>
        <p:spPr bwMode="auto">
          <a:xfrm>
            <a:off x="552450" y="5448300"/>
            <a:ext cx="826770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表面粗糙度要求对</a:t>
            </a:r>
            <a:r>
              <a:rPr lang="zh-CN" altLang="en-US" sz="2800" b="1">
                <a:solidFill>
                  <a:srgbClr val="FF3300"/>
                </a:solidFill>
                <a:latin typeface="宋体" panose="02010600030101010101" pitchFamily="2" charset="-122"/>
              </a:rPr>
              <a:t>每一表面只标注一次，</a:t>
            </a:r>
            <a:r>
              <a:rPr lang="zh-CN" altLang="en-US" sz="2800" b="1">
                <a:latin typeface="宋体" panose="02010600030101010101" pitchFamily="2" charset="-122"/>
              </a:rPr>
              <a:t>尽可</a:t>
            </a:r>
            <a:endParaRPr lang="zh-CN" altLang="en-US" sz="2800" b="1">
              <a:latin typeface="宋体" panose="02010600030101010101" pitchFamily="2" charset="-122"/>
            </a:endParaRPr>
          </a:p>
          <a:p>
            <a:pPr algn="l"/>
            <a:r>
              <a:rPr lang="zh-CN" altLang="en-US" sz="2800" b="1">
                <a:latin typeface="宋体" panose="02010600030101010101" pitchFamily="2" charset="-122"/>
              </a:rPr>
              <a:t>   能与</a:t>
            </a:r>
            <a:r>
              <a:rPr lang="zh-CN" altLang="en-US" sz="2800" b="1">
                <a:solidFill>
                  <a:srgbClr val="FF3300"/>
                </a:solidFill>
                <a:latin typeface="宋体" panose="02010600030101010101" pitchFamily="2" charset="-122"/>
              </a:rPr>
              <a:t>相应尺寸及其公差</a:t>
            </a:r>
            <a:r>
              <a:rPr lang="zh-CN" altLang="en-US" sz="2800" b="1">
                <a:latin typeface="宋体" panose="02010600030101010101" pitchFamily="2" charset="-122"/>
              </a:rPr>
              <a:t>注在</a:t>
            </a:r>
            <a:r>
              <a:rPr lang="zh-CN" altLang="en-US" sz="2800" b="1">
                <a:solidFill>
                  <a:srgbClr val="FF3300"/>
                </a:solidFill>
                <a:latin typeface="宋体" panose="02010600030101010101" pitchFamily="2" charset="-122"/>
              </a:rPr>
              <a:t>同一视图上。</a:t>
            </a:r>
            <a:endParaRPr lang="zh-CN" altLang="en-US" sz="2800" b="1">
              <a:solidFill>
                <a:srgbClr val="FF3300"/>
              </a:solidFill>
              <a:latin typeface="宋体" panose="02010600030101010101" pitchFamily="2" charset="-122"/>
            </a:endParaRPr>
          </a:p>
        </p:txBody>
      </p:sp>
      <p:grpSp>
        <p:nvGrpSpPr>
          <p:cNvPr id="12295" name="Group 327"/>
          <p:cNvGrpSpPr/>
          <p:nvPr/>
        </p:nvGrpSpPr>
        <p:grpSpPr bwMode="auto">
          <a:xfrm>
            <a:off x="2914650" y="876300"/>
            <a:ext cx="4321175" cy="2055813"/>
            <a:chOff x="1836" y="552"/>
            <a:chExt cx="2722" cy="1295"/>
          </a:xfrm>
        </p:grpSpPr>
        <p:grpSp>
          <p:nvGrpSpPr>
            <p:cNvPr id="12389" name="Group 193"/>
            <p:cNvGrpSpPr/>
            <p:nvPr/>
          </p:nvGrpSpPr>
          <p:grpSpPr bwMode="auto">
            <a:xfrm>
              <a:off x="1836" y="552"/>
              <a:ext cx="1164" cy="1295"/>
              <a:chOff x="1872" y="552"/>
              <a:chExt cx="1164" cy="1295"/>
            </a:xfrm>
          </p:grpSpPr>
          <p:sp>
            <p:nvSpPr>
              <p:cNvPr id="12434" name="Oval 137"/>
              <p:cNvSpPr>
                <a:spLocks noChangeArrowheads="1"/>
              </p:cNvSpPr>
              <p:nvPr/>
            </p:nvSpPr>
            <p:spPr bwMode="auto">
              <a:xfrm>
                <a:off x="2203" y="989"/>
                <a:ext cx="502" cy="50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435" name="Oval 138"/>
              <p:cNvSpPr>
                <a:spLocks noChangeArrowheads="1"/>
              </p:cNvSpPr>
              <p:nvPr/>
            </p:nvSpPr>
            <p:spPr bwMode="auto">
              <a:xfrm>
                <a:off x="2103" y="889"/>
                <a:ext cx="702" cy="70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436" name="Oval 139"/>
              <p:cNvSpPr>
                <a:spLocks noChangeArrowheads="1"/>
              </p:cNvSpPr>
              <p:nvPr/>
            </p:nvSpPr>
            <p:spPr bwMode="auto">
              <a:xfrm>
                <a:off x="2040" y="826"/>
                <a:ext cx="828" cy="82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437" name="Oval 140"/>
              <p:cNvSpPr>
                <a:spLocks noChangeArrowheads="1"/>
              </p:cNvSpPr>
              <p:nvPr/>
            </p:nvSpPr>
            <p:spPr bwMode="auto">
              <a:xfrm>
                <a:off x="1928" y="714"/>
                <a:ext cx="1052" cy="105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2438" name="Group 188"/>
              <p:cNvGrpSpPr/>
              <p:nvPr/>
            </p:nvGrpSpPr>
            <p:grpSpPr bwMode="auto">
              <a:xfrm>
                <a:off x="1872" y="1240"/>
                <a:ext cx="1164" cy="0"/>
                <a:chOff x="1872" y="1240"/>
                <a:chExt cx="1164" cy="0"/>
              </a:xfrm>
            </p:grpSpPr>
            <p:sp>
              <p:nvSpPr>
                <p:cNvPr id="12447" name="Line 165"/>
                <p:cNvSpPr>
                  <a:spLocks noChangeShapeType="1"/>
                </p:cNvSpPr>
                <p:nvPr/>
              </p:nvSpPr>
              <p:spPr bwMode="auto">
                <a:xfrm>
                  <a:off x="1872" y="1240"/>
                  <a:ext cx="2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48" name="Line 166"/>
                <p:cNvSpPr>
                  <a:spLocks noChangeShapeType="1"/>
                </p:cNvSpPr>
                <p:nvPr/>
              </p:nvSpPr>
              <p:spPr bwMode="auto">
                <a:xfrm>
                  <a:off x="2128" y="1240"/>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49" name="Line 167"/>
                <p:cNvSpPr>
                  <a:spLocks noChangeShapeType="1"/>
                </p:cNvSpPr>
                <p:nvPr/>
              </p:nvSpPr>
              <p:spPr bwMode="auto">
                <a:xfrm>
                  <a:off x="2252" y="1240"/>
                  <a:ext cx="39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50" name="Line 168"/>
                <p:cNvSpPr>
                  <a:spLocks noChangeShapeType="1"/>
                </p:cNvSpPr>
                <p:nvPr/>
              </p:nvSpPr>
              <p:spPr bwMode="auto">
                <a:xfrm>
                  <a:off x="2840" y="1240"/>
                  <a:ext cx="19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51" name="Line 169"/>
                <p:cNvSpPr>
                  <a:spLocks noChangeShapeType="1"/>
                </p:cNvSpPr>
                <p:nvPr/>
              </p:nvSpPr>
              <p:spPr bwMode="auto">
                <a:xfrm>
                  <a:off x="2704" y="1240"/>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439" name="Rectangle 190"/>
              <p:cNvSpPr>
                <a:spLocks noChangeArrowheads="1"/>
              </p:cNvSpPr>
              <p:nvPr/>
            </p:nvSpPr>
            <p:spPr bwMode="auto">
              <a:xfrm>
                <a:off x="2200" y="552"/>
                <a:ext cx="488" cy="20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440" name="Line 154"/>
              <p:cNvSpPr>
                <a:spLocks noChangeShapeType="1"/>
              </p:cNvSpPr>
              <p:nvPr/>
            </p:nvSpPr>
            <p:spPr bwMode="auto">
              <a:xfrm>
                <a:off x="2222" y="764"/>
                <a:ext cx="4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441" name="Group 189"/>
              <p:cNvGrpSpPr/>
              <p:nvPr/>
            </p:nvGrpSpPr>
            <p:grpSpPr bwMode="auto">
              <a:xfrm>
                <a:off x="2455" y="655"/>
                <a:ext cx="0" cy="1192"/>
                <a:chOff x="2455" y="679"/>
                <a:chExt cx="0" cy="1192"/>
              </a:xfrm>
            </p:grpSpPr>
            <p:sp>
              <p:nvSpPr>
                <p:cNvPr id="12442" name="Line 174"/>
                <p:cNvSpPr>
                  <a:spLocks noChangeShapeType="1"/>
                </p:cNvSpPr>
                <p:nvPr/>
              </p:nvSpPr>
              <p:spPr bwMode="auto">
                <a:xfrm rot="-5400000">
                  <a:off x="2341" y="1757"/>
                  <a:ext cx="22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43" name="Line 175"/>
                <p:cNvSpPr>
                  <a:spLocks noChangeShapeType="1"/>
                </p:cNvSpPr>
                <p:nvPr/>
              </p:nvSpPr>
              <p:spPr bwMode="auto">
                <a:xfrm rot="-5400000">
                  <a:off x="2421" y="1553"/>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44" name="Line 176"/>
                <p:cNvSpPr>
                  <a:spLocks noChangeShapeType="1"/>
                </p:cNvSpPr>
                <p:nvPr/>
              </p:nvSpPr>
              <p:spPr bwMode="auto">
                <a:xfrm rot="-5400000">
                  <a:off x="2259" y="1267"/>
                  <a:ext cx="39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45" name="Line 177"/>
                <p:cNvSpPr>
                  <a:spLocks noChangeShapeType="1"/>
                </p:cNvSpPr>
                <p:nvPr/>
              </p:nvSpPr>
              <p:spPr bwMode="auto">
                <a:xfrm rot="-5400000">
                  <a:off x="2357" y="777"/>
                  <a:ext cx="19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46" name="Line 178"/>
                <p:cNvSpPr>
                  <a:spLocks noChangeShapeType="1"/>
                </p:cNvSpPr>
                <p:nvPr/>
              </p:nvSpPr>
              <p:spPr bwMode="auto">
                <a:xfrm rot="-5400000">
                  <a:off x="2421" y="977"/>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390" name="Group 321"/>
            <p:cNvGrpSpPr/>
            <p:nvPr/>
          </p:nvGrpSpPr>
          <p:grpSpPr bwMode="auto">
            <a:xfrm>
              <a:off x="3462" y="760"/>
              <a:ext cx="1096" cy="1014"/>
              <a:chOff x="3612" y="760"/>
              <a:chExt cx="1096" cy="1014"/>
            </a:xfrm>
          </p:grpSpPr>
          <p:grpSp>
            <p:nvGrpSpPr>
              <p:cNvPr id="12391" name="Group 320"/>
              <p:cNvGrpSpPr/>
              <p:nvPr/>
            </p:nvGrpSpPr>
            <p:grpSpPr bwMode="auto">
              <a:xfrm>
                <a:off x="3612" y="760"/>
                <a:ext cx="1096" cy="1014"/>
                <a:chOff x="3612" y="760"/>
                <a:chExt cx="1096" cy="1014"/>
              </a:xfrm>
            </p:grpSpPr>
            <p:sp>
              <p:nvSpPr>
                <p:cNvPr id="12410" name="Line 141"/>
                <p:cNvSpPr>
                  <a:spLocks noChangeShapeType="1"/>
                </p:cNvSpPr>
                <p:nvPr/>
              </p:nvSpPr>
              <p:spPr bwMode="auto">
                <a:xfrm>
                  <a:off x="3683" y="877"/>
                  <a:ext cx="0" cy="72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1" name="Line 142"/>
                <p:cNvSpPr>
                  <a:spLocks noChangeShapeType="1"/>
                </p:cNvSpPr>
                <p:nvPr/>
              </p:nvSpPr>
              <p:spPr bwMode="auto">
                <a:xfrm>
                  <a:off x="4635" y="890"/>
                  <a:ext cx="0" cy="70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2" name="Line 143"/>
                <p:cNvSpPr>
                  <a:spLocks noChangeShapeType="1"/>
                </p:cNvSpPr>
                <p:nvPr/>
              </p:nvSpPr>
              <p:spPr bwMode="auto">
                <a:xfrm>
                  <a:off x="3685" y="987"/>
                  <a:ext cx="95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3" name="Line 144"/>
                <p:cNvSpPr>
                  <a:spLocks noChangeShapeType="1"/>
                </p:cNvSpPr>
                <p:nvPr/>
              </p:nvSpPr>
              <p:spPr bwMode="auto">
                <a:xfrm>
                  <a:off x="3829" y="764"/>
                  <a:ext cx="2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4" name="Line 145"/>
                <p:cNvSpPr>
                  <a:spLocks noChangeShapeType="1"/>
                </p:cNvSpPr>
                <p:nvPr/>
              </p:nvSpPr>
              <p:spPr bwMode="auto">
                <a:xfrm>
                  <a:off x="3685" y="883"/>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5" name="Line 146"/>
                <p:cNvSpPr>
                  <a:spLocks noChangeShapeType="1"/>
                </p:cNvSpPr>
                <p:nvPr/>
              </p:nvSpPr>
              <p:spPr bwMode="auto">
                <a:xfrm>
                  <a:off x="4038" y="828"/>
                  <a:ext cx="32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6" name="Line 147"/>
                <p:cNvSpPr>
                  <a:spLocks noChangeShapeType="1"/>
                </p:cNvSpPr>
                <p:nvPr/>
              </p:nvSpPr>
              <p:spPr bwMode="auto">
                <a:xfrm>
                  <a:off x="4365" y="893"/>
                  <a:ext cx="27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7" name="Line 148"/>
                <p:cNvSpPr>
                  <a:spLocks noChangeShapeType="1"/>
                </p:cNvSpPr>
                <p:nvPr/>
              </p:nvSpPr>
              <p:spPr bwMode="auto">
                <a:xfrm>
                  <a:off x="3683" y="1597"/>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8" name="Line 149"/>
                <p:cNvSpPr>
                  <a:spLocks noChangeShapeType="1"/>
                </p:cNvSpPr>
                <p:nvPr/>
              </p:nvSpPr>
              <p:spPr bwMode="auto">
                <a:xfrm>
                  <a:off x="3827" y="1766"/>
                  <a:ext cx="2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19" name="Line 150"/>
                <p:cNvSpPr>
                  <a:spLocks noChangeShapeType="1"/>
                </p:cNvSpPr>
                <p:nvPr/>
              </p:nvSpPr>
              <p:spPr bwMode="auto">
                <a:xfrm>
                  <a:off x="4035" y="1661"/>
                  <a:ext cx="33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0" name="Line 151"/>
                <p:cNvSpPr>
                  <a:spLocks noChangeShapeType="1"/>
                </p:cNvSpPr>
                <p:nvPr/>
              </p:nvSpPr>
              <p:spPr bwMode="auto">
                <a:xfrm>
                  <a:off x="3827" y="1590"/>
                  <a:ext cx="0" cy="18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1" name="Line 153"/>
                <p:cNvSpPr>
                  <a:spLocks noChangeShapeType="1"/>
                </p:cNvSpPr>
                <p:nvPr/>
              </p:nvSpPr>
              <p:spPr bwMode="auto">
                <a:xfrm>
                  <a:off x="4377" y="1590"/>
                  <a:ext cx="2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2" name="Line 158"/>
                <p:cNvSpPr>
                  <a:spLocks noChangeShapeType="1"/>
                </p:cNvSpPr>
                <p:nvPr/>
              </p:nvSpPr>
              <p:spPr bwMode="auto">
                <a:xfrm>
                  <a:off x="3686" y="1490"/>
                  <a:ext cx="95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3" name="Line 159"/>
                <p:cNvSpPr>
                  <a:spLocks noChangeShapeType="1"/>
                </p:cNvSpPr>
                <p:nvPr/>
              </p:nvSpPr>
              <p:spPr bwMode="auto">
                <a:xfrm>
                  <a:off x="3827" y="760"/>
                  <a:ext cx="0" cy="12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4" name="Line 160"/>
                <p:cNvSpPr>
                  <a:spLocks noChangeShapeType="1"/>
                </p:cNvSpPr>
                <p:nvPr/>
              </p:nvSpPr>
              <p:spPr bwMode="auto">
                <a:xfrm>
                  <a:off x="4040" y="760"/>
                  <a:ext cx="0" cy="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5" name="Line 161"/>
                <p:cNvSpPr>
                  <a:spLocks noChangeShapeType="1"/>
                </p:cNvSpPr>
                <p:nvPr/>
              </p:nvSpPr>
              <p:spPr bwMode="auto">
                <a:xfrm>
                  <a:off x="4365" y="824"/>
                  <a:ext cx="0" cy="7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6" name="Line 162"/>
                <p:cNvSpPr>
                  <a:spLocks noChangeShapeType="1"/>
                </p:cNvSpPr>
                <p:nvPr/>
              </p:nvSpPr>
              <p:spPr bwMode="auto">
                <a:xfrm>
                  <a:off x="4374" y="1585"/>
                  <a:ext cx="0" cy="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27" name="Line 163"/>
                <p:cNvSpPr>
                  <a:spLocks noChangeShapeType="1"/>
                </p:cNvSpPr>
                <p:nvPr/>
              </p:nvSpPr>
              <p:spPr bwMode="auto">
                <a:xfrm flipV="1">
                  <a:off x="4034" y="1653"/>
                  <a:ext cx="0" cy="12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428" name="Group 186"/>
                <p:cNvGrpSpPr/>
                <p:nvPr/>
              </p:nvGrpSpPr>
              <p:grpSpPr bwMode="auto">
                <a:xfrm>
                  <a:off x="3612" y="1240"/>
                  <a:ext cx="1096" cy="0"/>
                  <a:chOff x="3360" y="1240"/>
                  <a:chExt cx="1096" cy="0"/>
                </a:xfrm>
              </p:grpSpPr>
              <p:sp>
                <p:nvSpPr>
                  <p:cNvPr id="12429" name="Line 180"/>
                  <p:cNvSpPr>
                    <a:spLocks noChangeShapeType="1"/>
                  </p:cNvSpPr>
                  <p:nvPr/>
                </p:nvSpPr>
                <p:spPr bwMode="auto">
                  <a:xfrm>
                    <a:off x="3360" y="1240"/>
                    <a:ext cx="1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30" name="Line 181"/>
                  <p:cNvSpPr>
                    <a:spLocks noChangeShapeType="1"/>
                  </p:cNvSpPr>
                  <p:nvPr/>
                </p:nvSpPr>
                <p:spPr bwMode="auto">
                  <a:xfrm>
                    <a:off x="3584" y="1240"/>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31" name="Line 182"/>
                  <p:cNvSpPr>
                    <a:spLocks noChangeShapeType="1"/>
                  </p:cNvSpPr>
                  <p:nvPr/>
                </p:nvSpPr>
                <p:spPr bwMode="auto">
                  <a:xfrm>
                    <a:off x="3708" y="1240"/>
                    <a:ext cx="39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32" name="Line 183"/>
                  <p:cNvSpPr>
                    <a:spLocks noChangeShapeType="1"/>
                  </p:cNvSpPr>
                  <p:nvPr/>
                </p:nvSpPr>
                <p:spPr bwMode="auto">
                  <a:xfrm>
                    <a:off x="4296" y="1240"/>
                    <a:ext cx="16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33" name="Line 184"/>
                  <p:cNvSpPr>
                    <a:spLocks noChangeShapeType="1"/>
                  </p:cNvSpPr>
                  <p:nvPr/>
                </p:nvSpPr>
                <p:spPr bwMode="auto">
                  <a:xfrm>
                    <a:off x="4160" y="1240"/>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2392" name="Group 319"/>
              <p:cNvGrpSpPr/>
              <p:nvPr/>
            </p:nvGrpSpPr>
            <p:grpSpPr bwMode="auto">
              <a:xfrm>
                <a:off x="3739" y="770"/>
                <a:ext cx="891" cy="219"/>
                <a:chOff x="3739" y="770"/>
                <a:chExt cx="891" cy="219"/>
              </a:xfrm>
            </p:grpSpPr>
            <p:sp>
              <p:nvSpPr>
                <p:cNvPr id="12402" name="Line 155"/>
                <p:cNvSpPr>
                  <a:spLocks noChangeShapeType="1"/>
                </p:cNvSpPr>
                <p:nvPr/>
              </p:nvSpPr>
              <p:spPr bwMode="auto">
                <a:xfrm flipV="1">
                  <a:off x="3739" y="770"/>
                  <a:ext cx="207" cy="20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3" name="Line 156"/>
                <p:cNvSpPr>
                  <a:spLocks noChangeShapeType="1"/>
                </p:cNvSpPr>
                <p:nvPr/>
              </p:nvSpPr>
              <p:spPr bwMode="auto">
                <a:xfrm flipV="1">
                  <a:off x="3853" y="791"/>
                  <a:ext cx="195" cy="19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4" name="Line 194"/>
                <p:cNvSpPr>
                  <a:spLocks noChangeShapeType="1"/>
                </p:cNvSpPr>
                <p:nvPr/>
              </p:nvSpPr>
              <p:spPr bwMode="auto">
                <a:xfrm flipV="1">
                  <a:off x="3972" y="833"/>
                  <a:ext cx="150" cy="1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5" name="Line 195"/>
                <p:cNvSpPr>
                  <a:spLocks noChangeShapeType="1"/>
                </p:cNvSpPr>
                <p:nvPr/>
              </p:nvSpPr>
              <p:spPr bwMode="auto">
                <a:xfrm flipV="1">
                  <a:off x="4090" y="820"/>
                  <a:ext cx="163" cy="16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6" name="Line 196"/>
                <p:cNvSpPr>
                  <a:spLocks noChangeShapeType="1"/>
                </p:cNvSpPr>
                <p:nvPr/>
              </p:nvSpPr>
              <p:spPr bwMode="auto">
                <a:xfrm flipV="1">
                  <a:off x="4202" y="836"/>
                  <a:ext cx="153" cy="15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7" name="Line 197"/>
                <p:cNvSpPr>
                  <a:spLocks noChangeShapeType="1"/>
                </p:cNvSpPr>
                <p:nvPr/>
              </p:nvSpPr>
              <p:spPr bwMode="auto">
                <a:xfrm flipV="1">
                  <a:off x="4315" y="895"/>
                  <a:ext cx="94" cy="9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8" name="Line 198"/>
                <p:cNvSpPr>
                  <a:spLocks noChangeShapeType="1"/>
                </p:cNvSpPr>
                <p:nvPr/>
              </p:nvSpPr>
              <p:spPr bwMode="auto">
                <a:xfrm flipV="1">
                  <a:off x="4428" y="889"/>
                  <a:ext cx="100" cy="1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9" name="Line 199"/>
                <p:cNvSpPr>
                  <a:spLocks noChangeShapeType="1"/>
                </p:cNvSpPr>
                <p:nvPr/>
              </p:nvSpPr>
              <p:spPr bwMode="auto">
                <a:xfrm flipV="1">
                  <a:off x="4549" y="899"/>
                  <a:ext cx="81" cy="8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393" name="Group 318"/>
              <p:cNvGrpSpPr/>
              <p:nvPr/>
            </p:nvGrpSpPr>
            <p:grpSpPr bwMode="auto">
              <a:xfrm>
                <a:off x="3710" y="1484"/>
                <a:ext cx="920" cy="276"/>
                <a:chOff x="3710" y="1484"/>
                <a:chExt cx="920" cy="276"/>
              </a:xfrm>
            </p:grpSpPr>
            <p:sp>
              <p:nvSpPr>
                <p:cNvPr id="12394" name="Line 202"/>
                <p:cNvSpPr>
                  <a:spLocks noChangeShapeType="1"/>
                </p:cNvSpPr>
                <p:nvPr/>
              </p:nvSpPr>
              <p:spPr bwMode="auto">
                <a:xfrm flipV="1">
                  <a:off x="3710" y="1484"/>
                  <a:ext cx="113" cy="1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5" name="Line 203"/>
                <p:cNvSpPr>
                  <a:spLocks noChangeShapeType="1"/>
                </p:cNvSpPr>
                <p:nvPr/>
              </p:nvSpPr>
              <p:spPr bwMode="auto">
                <a:xfrm flipV="1">
                  <a:off x="3827" y="1486"/>
                  <a:ext cx="117" cy="117"/>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6" name="Line 204"/>
                <p:cNvSpPr>
                  <a:spLocks noChangeShapeType="1"/>
                </p:cNvSpPr>
                <p:nvPr/>
              </p:nvSpPr>
              <p:spPr bwMode="auto">
                <a:xfrm flipV="1">
                  <a:off x="3836" y="1491"/>
                  <a:ext cx="219" cy="21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7" name="Line 205"/>
                <p:cNvSpPr>
                  <a:spLocks noChangeShapeType="1"/>
                </p:cNvSpPr>
                <p:nvPr/>
              </p:nvSpPr>
              <p:spPr bwMode="auto">
                <a:xfrm flipV="1">
                  <a:off x="3904" y="1487"/>
                  <a:ext cx="273" cy="27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8" name="Line 206"/>
                <p:cNvSpPr>
                  <a:spLocks noChangeShapeType="1"/>
                </p:cNvSpPr>
                <p:nvPr/>
              </p:nvSpPr>
              <p:spPr bwMode="auto">
                <a:xfrm flipV="1">
                  <a:off x="4126" y="1497"/>
                  <a:ext cx="159" cy="15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99" name="Line 207"/>
                <p:cNvSpPr>
                  <a:spLocks noChangeShapeType="1"/>
                </p:cNvSpPr>
                <p:nvPr/>
              </p:nvSpPr>
              <p:spPr bwMode="auto">
                <a:xfrm flipV="1">
                  <a:off x="4236" y="1490"/>
                  <a:ext cx="169" cy="169"/>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0" name="Line 208"/>
                <p:cNvSpPr>
                  <a:spLocks noChangeShapeType="1"/>
                </p:cNvSpPr>
                <p:nvPr/>
              </p:nvSpPr>
              <p:spPr bwMode="auto">
                <a:xfrm flipV="1">
                  <a:off x="4417" y="1496"/>
                  <a:ext cx="95" cy="9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01" name="Line 209"/>
                <p:cNvSpPr>
                  <a:spLocks noChangeShapeType="1"/>
                </p:cNvSpPr>
                <p:nvPr/>
              </p:nvSpPr>
              <p:spPr bwMode="auto">
                <a:xfrm flipV="1">
                  <a:off x="4536" y="1490"/>
                  <a:ext cx="94" cy="9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14662" name="Group 326"/>
          <p:cNvGrpSpPr/>
          <p:nvPr/>
        </p:nvGrpSpPr>
        <p:grpSpPr bwMode="auto">
          <a:xfrm>
            <a:off x="4641850" y="1411288"/>
            <a:ext cx="963613" cy="1123950"/>
            <a:chOff x="3074" y="889"/>
            <a:chExt cx="607" cy="708"/>
          </a:xfrm>
        </p:grpSpPr>
        <p:sp>
          <p:nvSpPr>
            <p:cNvPr id="12385" name="Line 213"/>
            <p:cNvSpPr>
              <a:spLocks noChangeShapeType="1"/>
            </p:cNvSpPr>
            <p:nvPr/>
          </p:nvSpPr>
          <p:spPr bwMode="auto">
            <a:xfrm flipH="1">
              <a:off x="3074" y="889"/>
              <a:ext cx="60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86" name="Line 214"/>
            <p:cNvSpPr>
              <a:spLocks noChangeShapeType="1"/>
            </p:cNvSpPr>
            <p:nvPr/>
          </p:nvSpPr>
          <p:spPr bwMode="auto">
            <a:xfrm flipH="1">
              <a:off x="3512" y="1597"/>
              <a:ext cx="16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87" name="Line 215"/>
            <p:cNvSpPr>
              <a:spLocks noChangeShapeType="1"/>
            </p:cNvSpPr>
            <p:nvPr/>
          </p:nvSpPr>
          <p:spPr bwMode="auto">
            <a:xfrm flipV="1">
              <a:off x="3550" y="889"/>
              <a:ext cx="0" cy="708"/>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88" name="Text Box 217"/>
            <p:cNvSpPr txBox="1">
              <a:spLocks noChangeArrowheads="1"/>
            </p:cNvSpPr>
            <p:nvPr/>
          </p:nvSpPr>
          <p:spPr bwMode="auto">
            <a:xfrm rot="-5400000">
              <a:off x="3246" y="1107"/>
              <a:ext cx="3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φ</a:t>
              </a:r>
              <a:endParaRPr lang="en-US" altLang="zh-CN" b="1" i="1"/>
            </a:p>
          </p:txBody>
        </p:sp>
      </p:grpSp>
      <p:grpSp>
        <p:nvGrpSpPr>
          <p:cNvPr id="12297" name="Group 293"/>
          <p:cNvGrpSpPr/>
          <p:nvPr/>
        </p:nvGrpSpPr>
        <p:grpSpPr bwMode="auto">
          <a:xfrm>
            <a:off x="7097713" y="1401763"/>
            <a:ext cx="822325" cy="1133475"/>
            <a:chOff x="4621" y="883"/>
            <a:chExt cx="518" cy="714"/>
          </a:xfrm>
        </p:grpSpPr>
        <p:sp>
          <p:nvSpPr>
            <p:cNvPr id="12381" name="Line 221"/>
            <p:cNvSpPr>
              <a:spLocks noChangeShapeType="1"/>
            </p:cNvSpPr>
            <p:nvPr/>
          </p:nvSpPr>
          <p:spPr bwMode="auto">
            <a:xfrm>
              <a:off x="4621" y="889"/>
              <a:ext cx="51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82" name="Line 222"/>
            <p:cNvSpPr>
              <a:spLocks noChangeShapeType="1"/>
            </p:cNvSpPr>
            <p:nvPr/>
          </p:nvSpPr>
          <p:spPr bwMode="auto">
            <a:xfrm>
              <a:off x="4627" y="1597"/>
              <a:ext cx="50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83" name="Line 223"/>
            <p:cNvSpPr>
              <a:spLocks noChangeShapeType="1"/>
            </p:cNvSpPr>
            <p:nvPr/>
          </p:nvSpPr>
          <p:spPr bwMode="auto">
            <a:xfrm flipV="1">
              <a:off x="5083" y="883"/>
              <a:ext cx="0" cy="707"/>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84" name="Text Box 228"/>
            <p:cNvSpPr txBox="1">
              <a:spLocks noChangeArrowheads="1"/>
            </p:cNvSpPr>
            <p:nvPr/>
          </p:nvSpPr>
          <p:spPr bwMode="auto">
            <a:xfrm rot="-5400000">
              <a:off x="4792" y="1096"/>
              <a:ext cx="3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φ</a:t>
              </a:r>
              <a:endParaRPr lang="en-US" altLang="zh-CN" b="1" i="1"/>
            </a:p>
          </p:txBody>
        </p:sp>
      </p:grpSp>
      <p:grpSp>
        <p:nvGrpSpPr>
          <p:cNvPr id="12298" name="Group 292"/>
          <p:cNvGrpSpPr/>
          <p:nvPr/>
        </p:nvGrpSpPr>
        <p:grpSpPr bwMode="auto">
          <a:xfrm>
            <a:off x="7088188" y="1570038"/>
            <a:ext cx="485775" cy="795337"/>
            <a:chOff x="4615" y="989"/>
            <a:chExt cx="306" cy="501"/>
          </a:xfrm>
        </p:grpSpPr>
        <p:sp>
          <p:nvSpPr>
            <p:cNvPr id="12377" name="Line 218"/>
            <p:cNvSpPr>
              <a:spLocks noChangeShapeType="1"/>
            </p:cNvSpPr>
            <p:nvPr/>
          </p:nvSpPr>
          <p:spPr bwMode="auto">
            <a:xfrm>
              <a:off x="4639" y="989"/>
              <a:ext cx="28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78" name="Line 219"/>
            <p:cNvSpPr>
              <a:spLocks noChangeShapeType="1"/>
            </p:cNvSpPr>
            <p:nvPr/>
          </p:nvSpPr>
          <p:spPr bwMode="auto">
            <a:xfrm>
              <a:off x="4633" y="1490"/>
              <a:ext cx="281"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79" name="Line 220"/>
            <p:cNvSpPr>
              <a:spLocks noChangeShapeType="1"/>
            </p:cNvSpPr>
            <p:nvPr/>
          </p:nvSpPr>
          <p:spPr bwMode="auto">
            <a:xfrm>
              <a:off x="4867" y="989"/>
              <a:ext cx="0" cy="501"/>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80" name="Text Box 229"/>
            <p:cNvSpPr txBox="1">
              <a:spLocks noChangeArrowheads="1"/>
            </p:cNvSpPr>
            <p:nvPr/>
          </p:nvSpPr>
          <p:spPr bwMode="auto">
            <a:xfrm rot="-5400000">
              <a:off x="4580" y="1096"/>
              <a:ext cx="3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φ</a:t>
              </a:r>
              <a:endParaRPr lang="en-US" altLang="zh-CN" b="1" i="1"/>
            </a:p>
          </p:txBody>
        </p:sp>
      </p:grpSp>
      <p:grpSp>
        <p:nvGrpSpPr>
          <p:cNvPr id="12299" name="Group 295"/>
          <p:cNvGrpSpPr/>
          <p:nvPr/>
        </p:nvGrpSpPr>
        <p:grpSpPr bwMode="auto">
          <a:xfrm>
            <a:off x="6669088" y="1311275"/>
            <a:ext cx="1651000" cy="1322388"/>
            <a:chOff x="4351" y="826"/>
            <a:chExt cx="1040" cy="833"/>
          </a:xfrm>
        </p:grpSpPr>
        <p:sp>
          <p:nvSpPr>
            <p:cNvPr id="12372" name="Line 224"/>
            <p:cNvSpPr>
              <a:spLocks noChangeShapeType="1"/>
            </p:cNvSpPr>
            <p:nvPr/>
          </p:nvSpPr>
          <p:spPr bwMode="auto">
            <a:xfrm>
              <a:off x="4370" y="1659"/>
              <a:ext cx="100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73" name="Line 225"/>
            <p:cNvSpPr>
              <a:spLocks noChangeShapeType="1"/>
            </p:cNvSpPr>
            <p:nvPr/>
          </p:nvSpPr>
          <p:spPr bwMode="auto">
            <a:xfrm>
              <a:off x="4632" y="826"/>
              <a:ext cx="75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74" name="Line 226"/>
            <p:cNvSpPr>
              <a:spLocks noChangeShapeType="1"/>
            </p:cNvSpPr>
            <p:nvPr/>
          </p:nvSpPr>
          <p:spPr bwMode="auto">
            <a:xfrm>
              <a:off x="5324" y="826"/>
              <a:ext cx="0" cy="833"/>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75" name="Text Box 227"/>
            <p:cNvSpPr txBox="1">
              <a:spLocks noChangeArrowheads="1"/>
            </p:cNvSpPr>
            <p:nvPr/>
          </p:nvSpPr>
          <p:spPr bwMode="auto">
            <a:xfrm rot="-5400000">
              <a:off x="5035" y="1096"/>
              <a:ext cx="3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φ</a:t>
              </a:r>
              <a:endParaRPr lang="en-US" altLang="zh-CN" b="1" i="1"/>
            </a:p>
          </p:txBody>
        </p:sp>
        <p:sp>
          <p:nvSpPr>
            <p:cNvPr id="12376" name="Line 230"/>
            <p:cNvSpPr>
              <a:spLocks noChangeShapeType="1"/>
            </p:cNvSpPr>
            <p:nvPr/>
          </p:nvSpPr>
          <p:spPr bwMode="auto">
            <a:xfrm>
              <a:off x="4351" y="826"/>
              <a:ext cx="10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585" name="Group 249"/>
          <p:cNvGrpSpPr/>
          <p:nvPr/>
        </p:nvGrpSpPr>
        <p:grpSpPr bwMode="auto">
          <a:xfrm>
            <a:off x="2720975" y="627063"/>
            <a:ext cx="1387475" cy="585787"/>
            <a:chOff x="2540" y="790"/>
            <a:chExt cx="874" cy="369"/>
          </a:xfrm>
        </p:grpSpPr>
        <p:grpSp>
          <p:nvGrpSpPr>
            <p:cNvPr id="12364" name="Group 250"/>
            <p:cNvGrpSpPr/>
            <p:nvPr/>
          </p:nvGrpSpPr>
          <p:grpSpPr bwMode="auto">
            <a:xfrm>
              <a:off x="2540" y="833"/>
              <a:ext cx="840" cy="326"/>
              <a:chOff x="2540" y="833"/>
              <a:chExt cx="840" cy="326"/>
            </a:xfrm>
          </p:grpSpPr>
          <p:grpSp>
            <p:nvGrpSpPr>
              <p:cNvPr id="12366" name="Group 251"/>
              <p:cNvGrpSpPr/>
              <p:nvPr/>
            </p:nvGrpSpPr>
            <p:grpSpPr bwMode="auto">
              <a:xfrm>
                <a:off x="2540" y="833"/>
                <a:ext cx="282" cy="326"/>
                <a:chOff x="2028" y="889"/>
                <a:chExt cx="282" cy="326"/>
              </a:xfrm>
            </p:grpSpPr>
            <p:grpSp>
              <p:nvGrpSpPr>
                <p:cNvPr id="12368" name="Group 252"/>
                <p:cNvGrpSpPr/>
                <p:nvPr/>
              </p:nvGrpSpPr>
              <p:grpSpPr bwMode="auto">
                <a:xfrm>
                  <a:off x="2033" y="889"/>
                  <a:ext cx="277" cy="326"/>
                  <a:chOff x="2033" y="889"/>
                  <a:chExt cx="277" cy="326"/>
                </a:xfrm>
              </p:grpSpPr>
              <p:sp>
                <p:nvSpPr>
                  <p:cNvPr id="12370" name="Line 253"/>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71" name="Line 254"/>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69" name="Line 255"/>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67" name="Line 256"/>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65" name="Text Box 257"/>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1.6</a:t>
              </a:r>
              <a:endParaRPr lang="en-US" altLang="zh-CN" b="1"/>
            </a:p>
          </p:txBody>
        </p:sp>
      </p:grpSp>
      <p:grpSp>
        <p:nvGrpSpPr>
          <p:cNvPr id="14594" name="Group 258"/>
          <p:cNvGrpSpPr/>
          <p:nvPr/>
        </p:nvGrpSpPr>
        <p:grpSpPr bwMode="auto">
          <a:xfrm rot="-5400000">
            <a:off x="2035175" y="2428875"/>
            <a:ext cx="1354138" cy="585788"/>
            <a:chOff x="2540" y="790"/>
            <a:chExt cx="853" cy="369"/>
          </a:xfrm>
        </p:grpSpPr>
        <p:grpSp>
          <p:nvGrpSpPr>
            <p:cNvPr id="12356" name="Group 259"/>
            <p:cNvGrpSpPr/>
            <p:nvPr/>
          </p:nvGrpSpPr>
          <p:grpSpPr bwMode="auto">
            <a:xfrm>
              <a:off x="2540" y="833"/>
              <a:ext cx="840" cy="326"/>
              <a:chOff x="2540" y="833"/>
              <a:chExt cx="840" cy="326"/>
            </a:xfrm>
          </p:grpSpPr>
          <p:grpSp>
            <p:nvGrpSpPr>
              <p:cNvPr id="12358" name="Group 260"/>
              <p:cNvGrpSpPr/>
              <p:nvPr/>
            </p:nvGrpSpPr>
            <p:grpSpPr bwMode="auto">
              <a:xfrm>
                <a:off x="2540" y="833"/>
                <a:ext cx="282" cy="326"/>
                <a:chOff x="2028" y="889"/>
                <a:chExt cx="282" cy="326"/>
              </a:xfrm>
            </p:grpSpPr>
            <p:grpSp>
              <p:nvGrpSpPr>
                <p:cNvPr id="12360" name="Group 261"/>
                <p:cNvGrpSpPr/>
                <p:nvPr/>
              </p:nvGrpSpPr>
              <p:grpSpPr bwMode="auto">
                <a:xfrm>
                  <a:off x="2033" y="889"/>
                  <a:ext cx="277" cy="326"/>
                  <a:chOff x="2033" y="889"/>
                  <a:chExt cx="277" cy="326"/>
                </a:xfrm>
              </p:grpSpPr>
              <p:sp>
                <p:nvSpPr>
                  <p:cNvPr id="12362" name="Line 262"/>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63" name="Line 263"/>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61" name="Line 264"/>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59" name="Line 265"/>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57" name="Text Box 266"/>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a:t>
              </a:r>
              <a:r>
                <a:rPr lang="en-US" altLang="zh-CN" b="1"/>
                <a:t> 6.3</a:t>
              </a:r>
              <a:endParaRPr lang="en-US" altLang="zh-CN" b="1"/>
            </a:p>
          </p:txBody>
        </p:sp>
      </p:grpSp>
      <p:grpSp>
        <p:nvGrpSpPr>
          <p:cNvPr id="14603" name="Group 267"/>
          <p:cNvGrpSpPr/>
          <p:nvPr/>
        </p:nvGrpSpPr>
        <p:grpSpPr bwMode="auto">
          <a:xfrm>
            <a:off x="6807200" y="822325"/>
            <a:ext cx="1354138" cy="585788"/>
            <a:chOff x="2540" y="790"/>
            <a:chExt cx="853" cy="369"/>
          </a:xfrm>
        </p:grpSpPr>
        <p:grpSp>
          <p:nvGrpSpPr>
            <p:cNvPr id="12348" name="Group 268"/>
            <p:cNvGrpSpPr/>
            <p:nvPr/>
          </p:nvGrpSpPr>
          <p:grpSpPr bwMode="auto">
            <a:xfrm>
              <a:off x="2540" y="833"/>
              <a:ext cx="840" cy="326"/>
              <a:chOff x="2540" y="833"/>
              <a:chExt cx="840" cy="326"/>
            </a:xfrm>
          </p:grpSpPr>
          <p:grpSp>
            <p:nvGrpSpPr>
              <p:cNvPr id="12350" name="Group 269"/>
              <p:cNvGrpSpPr/>
              <p:nvPr/>
            </p:nvGrpSpPr>
            <p:grpSpPr bwMode="auto">
              <a:xfrm>
                <a:off x="2540" y="833"/>
                <a:ext cx="282" cy="326"/>
                <a:chOff x="2028" y="889"/>
                <a:chExt cx="282" cy="326"/>
              </a:xfrm>
            </p:grpSpPr>
            <p:grpSp>
              <p:nvGrpSpPr>
                <p:cNvPr id="12352" name="Group 270"/>
                <p:cNvGrpSpPr/>
                <p:nvPr/>
              </p:nvGrpSpPr>
              <p:grpSpPr bwMode="auto">
                <a:xfrm>
                  <a:off x="2033" y="889"/>
                  <a:ext cx="277" cy="326"/>
                  <a:chOff x="2033" y="889"/>
                  <a:chExt cx="277" cy="326"/>
                </a:xfrm>
              </p:grpSpPr>
              <p:sp>
                <p:nvSpPr>
                  <p:cNvPr id="12354" name="Line 271"/>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55" name="Line 272"/>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53" name="Line 273"/>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51" name="Line 274"/>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49" name="Text Box 275"/>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a:t>
              </a:r>
              <a:r>
                <a:rPr lang="en-US" altLang="zh-CN" b="1"/>
                <a:t> 6.3</a:t>
              </a:r>
              <a:endParaRPr lang="en-US" altLang="zh-CN" b="1"/>
            </a:p>
          </p:txBody>
        </p:sp>
      </p:grpSp>
      <p:grpSp>
        <p:nvGrpSpPr>
          <p:cNvPr id="14612" name="Group 276"/>
          <p:cNvGrpSpPr/>
          <p:nvPr/>
        </p:nvGrpSpPr>
        <p:grpSpPr bwMode="auto">
          <a:xfrm>
            <a:off x="4741863" y="827088"/>
            <a:ext cx="1354137" cy="585787"/>
            <a:chOff x="2540" y="790"/>
            <a:chExt cx="853" cy="369"/>
          </a:xfrm>
        </p:grpSpPr>
        <p:grpSp>
          <p:nvGrpSpPr>
            <p:cNvPr id="12340" name="Group 277"/>
            <p:cNvGrpSpPr/>
            <p:nvPr/>
          </p:nvGrpSpPr>
          <p:grpSpPr bwMode="auto">
            <a:xfrm>
              <a:off x="2540" y="833"/>
              <a:ext cx="840" cy="326"/>
              <a:chOff x="2540" y="833"/>
              <a:chExt cx="840" cy="326"/>
            </a:xfrm>
          </p:grpSpPr>
          <p:grpSp>
            <p:nvGrpSpPr>
              <p:cNvPr id="12342" name="Group 278"/>
              <p:cNvGrpSpPr/>
              <p:nvPr/>
            </p:nvGrpSpPr>
            <p:grpSpPr bwMode="auto">
              <a:xfrm>
                <a:off x="2540" y="833"/>
                <a:ext cx="282" cy="326"/>
                <a:chOff x="2028" y="889"/>
                <a:chExt cx="282" cy="326"/>
              </a:xfrm>
            </p:grpSpPr>
            <p:grpSp>
              <p:nvGrpSpPr>
                <p:cNvPr id="12344" name="Group 279"/>
                <p:cNvGrpSpPr/>
                <p:nvPr/>
              </p:nvGrpSpPr>
              <p:grpSpPr bwMode="auto">
                <a:xfrm>
                  <a:off x="2033" y="889"/>
                  <a:ext cx="277" cy="326"/>
                  <a:chOff x="2033" y="889"/>
                  <a:chExt cx="277" cy="326"/>
                </a:xfrm>
              </p:grpSpPr>
              <p:sp>
                <p:nvSpPr>
                  <p:cNvPr id="12346" name="Line 280"/>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7" name="Line 281"/>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45" name="Line 282"/>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43" name="Line 283"/>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41" name="Text Box 284"/>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a:t>
              </a:r>
              <a:r>
                <a:rPr lang="en-US" altLang="zh-CN" b="1"/>
                <a:t> 6.3</a:t>
              </a:r>
              <a:endParaRPr lang="en-US" altLang="zh-CN" b="1"/>
            </a:p>
          </p:txBody>
        </p:sp>
      </p:grpSp>
      <p:grpSp>
        <p:nvGrpSpPr>
          <p:cNvPr id="12304" name="Group 290"/>
          <p:cNvGrpSpPr/>
          <p:nvPr/>
        </p:nvGrpSpPr>
        <p:grpSpPr bwMode="auto">
          <a:xfrm>
            <a:off x="2506663" y="1212850"/>
            <a:ext cx="984250" cy="755650"/>
            <a:chOff x="1615" y="764"/>
            <a:chExt cx="620" cy="476"/>
          </a:xfrm>
        </p:grpSpPr>
        <p:sp>
          <p:nvSpPr>
            <p:cNvPr id="12337" name="Line 287"/>
            <p:cNvSpPr>
              <a:spLocks noChangeShapeType="1"/>
            </p:cNvSpPr>
            <p:nvPr/>
          </p:nvSpPr>
          <p:spPr bwMode="auto">
            <a:xfrm flipH="1">
              <a:off x="1622" y="1240"/>
              <a:ext cx="25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8" name="Line 288"/>
            <p:cNvSpPr>
              <a:spLocks noChangeShapeType="1"/>
            </p:cNvSpPr>
            <p:nvPr/>
          </p:nvSpPr>
          <p:spPr bwMode="auto">
            <a:xfrm flipH="1">
              <a:off x="1615" y="764"/>
              <a:ext cx="62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9" name="Line 289"/>
            <p:cNvSpPr>
              <a:spLocks noChangeShapeType="1"/>
            </p:cNvSpPr>
            <p:nvPr/>
          </p:nvSpPr>
          <p:spPr bwMode="auto">
            <a:xfrm flipV="1">
              <a:off x="1665" y="764"/>
              <a:ext cx="0" cy="476"/>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305" name="Group 301"/>
          <p:cNvGrpSpPr/>
          <p:nvPr/>
        </p:nvGrpSpPr>
        <p:grpSpPr bwMode="auto">
          <a:xfrm>
            <a:off x="3003550" y="1957388"/>
            <a:ext cx="1679575" cy="1590675"/>
            <a:chOff x="1928" y="1233"/>
            <a:chExt cx="1058" cy="1002"/>
          </a:xfrm>
        </p:grpSpPr>
        <p:sp>
          <p:nvSpPr>
            <p:cNvPr id="12333" name="Line 296"/>
            <p:cNvSpPr>
              <a:spLocks noChangeShapeType="1"/>
            </p:cNvSpPr>
            <p:nvPr/>
          </p:nvSpPr>
          <p:spPr bwMode="auto">
            <a:xfrm>
              <a:off x="1928" y="1233"/>
              <a:ext cx="0" cy="99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4" name="Line 297"/>
            <p:cNvSpPr>
              <a:spLocks noChangeShapeType="1"/>
            </p:cNvSpPr>
            <p:nvPr/>
          </p:nvSpPr>
          <p:spPr bwMode="auto">
            <a:xfrm>
              <a:off x="2986" y="1240"/>
              <a:ext cx="0" cy="99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5" name="Line 298"/>
            <p:cNvSpPr>
              <a:spLocks noChangeShapeType="1"/>
            </p:cNvSpPr>
            <p:nvPr/>
          </p:nvSpPr>
          <p:spPr bwMode="auto">
            <a:xfrm>
              <a:off x="1928" y="2161"/>
              <a:ext cx="1058" cy="0"/>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6" name="Text Box 299"/>
            <p:cNvSpPr txBox="1">
              <a:spLocks noChangeArrowheads="1"/>
            </p:cNvSpPr>
            <p:nvPr/>
          </p:nvSpPr>
          <p:spPr bwMode="auto">
            <a:xfrm>
              <a:off x="2271" y="19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φ</a:t>
              </a:r>
              <a:endParaRPr lang="en-US" altLang="zh-CN" b="1" i="1"/>
            </a:p>
          </p:txBody>
        </p:sp>
      </p:grpSp>
      <p:grpSp>
        <p:nvGrpSpPr>
          <p:cNvPr id="12306" name="Group 323"/>
          <p:cNvGrpSpPr/>
          <p:nvPr/>
        </p:nvGrpSpPr>
        <p:grpSpPr bwMode="auto">
          <a:xfrm>
            <a:off x="5286375" y="2514600"/>
            <a:ext cx="1838325" cy="1009650"/>
            <a:chOff x="3480" y="1584"/>
            <a:chExt cx="1158" cy="636"/>
          </a:xfrm>
        </p:grpSpPr>
        <p:grpSp>
          <p:nvGrpSpPr>
            <p:cNvPr id="12320" name="Group 322"/>
            <p:cNvGrpSpPr/>
            <p:nvPr/>
          </p:nvGrpSpPr>
          <p:grpSpPr bwMode="auto">
            <a:xfrm>
              <a:off x="3670" y="1766"/>
              <a:ext cx="532" cy="448"/>
              <a:chOff x="3670" y="1766"/>
              <a:chExt cx="532" cy="448"/>
            </a:xfrm>
          </p:grpSpPr>
          <p:sp>
            <p:nvSpPr>
              <p:cNvPr id="12328" name="Line 302"/>
              <p:cNvSpPr>
                <a:spLocks noChangeShapeType="1"/>
              </p:cNvSpPr>
              <p:nvPr/>
            </p:nvSpPr>
            <p:spPr bwMode="auto">
              <a:xfrm>
                <a:off x="3825" y="1766"/>
                <a:ext cx="0" cy="4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9" name="Line 303"/>
              <p:cNvSpPr>
                <a:spLocks noChangeShapeType="1"/>
              </p:cNvSpPr>
              <p:nvPr/>
            </p:nvSpPr>
            <p:spPr bwMode="auto">
              <a:xfrm>
                <a:off x="4038" y="1766"/>
                <a:ext cx="0" cy="15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0" name="Line 304"/>
              <p:cNvSpPr>
                <a:spLocks noChangeShapeType="1"/>
              </p:cNvSpPr>
              <p:nvPr/>
            </p:nvSpPr>
            <p:spPr bwMode="auto">
              <a:xfrm>
                <a:off x="3814" y="1879"/>
                <a:ext cx="23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1" name="Line 307"/>
              <p:cNvSpPr>
                <a:spLocks noChangeShapeType="1"/>
              </p:cNvSpPr>
              <p:nvPr/>
            </p:nvSpPr>
            <p:spPr bwMode="auto">
              <a:xfrm>
                <a:off x="4032" y="1876"/>
                <a:ext cx="170" cy="0"/>
              </a:xfrm>
              <a:prstGeom prst="line">
                <a:avLst/>
              </a:prstGeom>
              <a:noFill/>
              <a:ln w="1270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2" name="Line 308"/>
              <p:cNvSpPr>
                <a:spLocks noChangeShapeType="1"/>
              </p:cNvSpPr>
              <p:nvPr/>
            </p:nvSpPr>
            <p:spPr bwMode="auto">
              <a:xfrm>
                <a:off x="3670" y="1876"/>
                <a:ext cx="158" cy="0"/>
              </a:xfrm>
              <a:prstGeom prst="line">
                <a:avLst/>
              </a:prstGeom>
              <a:noFill/>
              <a:ln w="127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21" name="Line 311"/>
            <p:cNvSpPr>
              <a:spLocks noChangeShapeType="1"/>
            </p:cNvSpPr>
            <p:nvPr/>
          </p:nvSpPr>
          <p:spPr bwMode="auto">
            <a:xfrm>
              <a:off x="4374" y="1662"/>
              <a:ext cx="0" cy="42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2" name="Line 312"/>
            <p:cNvSpPr>
              <a:spLocks noChangeShapeType="1"/>
            </p:cNvSpPr>
            <p:nvPr/>
          </p:nvSpPr>
          <p:spPr bwMode="auto">
            <a:xfrm>
              <a:off x="3822" y="2022"/>
              <a:ext cx="552" cy="0"/>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3" name="Line 313"/>
            <p:cNvSpPr>
              <a:spLocks noChangeShapeType="1"/>
            </p:cNvSpPr>
            <p:nvPr/>
          </p:nvSpPr>
          <p:spPr bwMode="auto">
            <a:xfrm>
              <a:off x="4638" y="1584"/>
              <a:ext cx="0" cy="63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4" name="Line 314"/>
            <p:cNvSpPr>
              <a:spLocks noChangeShapeType="1"/>
            </p:cNvSpPr>
            <p:nvPr/>
          </p:nvSpPr>
          <p:spPr bwMode="auto">
            <a:xfrm>
              <a:off x="3822" y="2172"/>
              <a:ext cx="816" cy="0"/>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5" name="Line 315"/>
            <p:cNvSpPr>
              <a:spLocks noChangeShapeType="1"/>
            </p:cNvSpPr>
            <p:nvPr/>
          </p:nvSpPr>
          <p:spPr bwMode="auto">
            <a:xfrm>
              <a:off x="3684" y="1584"/>
              <a:ext cx="0" cy="63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6" name="Line 316"/>
            <p:cNvSpPr>
              <a:spLocks noChangeShapeType="1"/>
            </p:cNvSpPr>
            <p:nvPr/>
          </p:nvSpPr>
          <p:spPr bwMode="auto">
            <a:xfrm flipH="1">
              <a:off x="3684" y="2172"/>
              <a:ext cx="1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7" name="Line 317"/>
            <p:cNvSpPr>
              <a:spLocks noChangeShapeType="1"/>
            </p:cNvSpPr>
            <p:nvPr/>
          </p:nvSpPr>
          <p:spPr bwMode="auto">
            <a:xfrm flipH="1">
              <a:off x="3480" y="2172"/>
              <a:ext cx="204" cy="0"/>
            </a:xfrm>
            <a:prstGeom prst="line">
              <a:avLst/>
            </a:prstGeom>
            <a:noFill/>
            <a:ln w="1270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665" name="Group 329"/>
          <p:cNvGrpSpPr/>
          <p:nvPr/>
        </p:nvGrpSpPr>
        <p:grpSpPr bwMode="auto">
          <a:xfrm>
            <a:off x="7126288" y="2730500"/>
            <a:ext cx="1584325" cy="600075"/>
            <a:chOff x="4489" y="1720"/>
            <a:chExt cx="998" cy="378"/>
          </a:xfrm>
        </p:grpSpPr>
        <p:grpSp>
          <p:nvGrpSpPr>
            <p:cNvPr id="12309" name="Group 240"/>
            <p:cNvGrpSpPr/>
            <p:nvPr/>
          </p:nvGrpSpPr>
          <p:grpSpPr bwMode="auto">
            <a:xfrm>
              <a:off x="4613" y="1720"/>
              <a:ext cx="874" cy="369"/>
              <a:chOff x="2540" y="790"/>
              <a:chExt cx="874" cy="369"/>
            </a:xfrm>
          </p:grpSpPr>
          <p:grpSp>
            <p:nvGrpSpPr>
              <p:cNvPr id="12312" name="Group 241"/>
              <p:cNvGrpSpPr/>
              <p:nvPr/>
            </p:nvGrpSpPr>
            <p:grpSpPr bwMode="auto">
              <a:xfrm>
                <a:off x="2540" y="833"/>
                <a:ext cx="840" cy="326"/>
                <a:chOff x="2540" y="833"/>
                <a:chExt cx="840" cy="326"/>
              </a:xfrm>
            </p:grpSpPr>
            <p:grpSp>
              <p:nvGrpSpPr>
                <p:cNvPr id="12314" name="Group 242"/>
                <p:cNvGrpSpPr/>
                <p:nvPr/>
              </p:nvGrpSpPr>
              <p:grpSpPr bwMode="auto">
                <a:xfrm>
                  <a:off x="2540" y="833"/>
                  <a:ext cx="282" cy="326"/>
                  <a:chOff x="2028" y="889"/>
                  <a:chExt cx="282" cy="326"/>
                </a:xfrm>
              </p:grpSpPr>
              <p:grpSp>
                <p:nvGrpSpPr>
                  <p:cNvPr id="12316" name="Group 243"/>
                  <p:cNvGrpSpPr/>
                  <p:nvPr/>
                </p:nvGrpSpPr>
                <p:grpSpPr bwMode="auto">
                  <a:xfrm>
                    <a:off x="2033" y="889"/>
                    <a:ext cx="277" cy="326"/>
                    <a:chOff x="2033" y="889"/>
                    <a:chExt cx="277" cy="326"/>
                  </a:xfrm>
                </p:grpSpPr>
                <p:sp>
                  <p:nvSpPr>
                    <p:cNvPr id="12318" name="Line 244"/>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9" name="Line 245"/>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17" name="Line 246"/>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15" name="Line 247"/>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13" name="Text Box 248"/>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1.6</a:t>
                </a:r>
                <a:endParaRPr lang="en-US" altLang="zh-CN" b="1"/>
              </a:p>
            </p:txBody>
          </p:sp>
        </p:grpSp>
        <p:sp>
          <p:nvSpPr>
            <p:cNvPr id="12310" name="Line 324"/>
            <p:cNvSpPr>
              <a:spLocks noChangeShapeType="1"/>
            </p:cNvSpPr>
            <p:nvPr/>
          </p:nvSpPr>
          <p:spPr bwMode="auto">
            <a:xfrm flipH="1" flipV="1">
              <a:off x="4489" y="1940"/>
              <a:ext cx="158" cy="158"/>
            </a:xfrm>
            <a:prstGeom prst="line">
              <a:avLst/>
            </a:prstGeom>
            <a:noFill/>
            <a:ln w="127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1" name="Line 325"/>
            <p:cNvSpPr>
              <a:spLocks noChangeShapeType="1"/>
            </p:cNvSpPr>
            <p:nvPr/>
          </p:nvSpPr>
          <p:spPr bwMode="auto">
            <a:xfrm>
              <a:off x="4646" y="2097"/>
              <a:ext cx="48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666" name="Text Box 330"/>
          <p:cNvSpPr txBox="1">
            <a:spLocks noChangeArrowheads="1"/>
          </p:cNvSpPr>
          <p:nvPr/>
        </p:nvSpPr>
        <p:spPr bwMode="auto">
          <a:xfrm>
            <a:off x="3189288" y="4132263"/>
            <a:ext cx="5162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3300"/>
                </a:solidFill>
                <a:latin typeface="宋体" panose="02010600030101010101" pitchFamily="2" charset="-122"/>
              </a:rPr>
              <a:t>（右侧面及下表面应引出标注）</a:t>
            </a:r>
            <a:endParaRPr lang="zh-CN" altLang="en-US" sz="2800" b="1">
              <a:solidFill>
                <a:srgbClr val="FF33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465"/>
                                        </p:tgtEl>
                                        <p:attrNameLst>
                                          <p:attrName>style.visibility</p:attrName>
                                        </p:attrNameLst>
                                      </p:cBhvr>
                                      <p:to>
                                        <p:strVal val="visible"/>
                                      </p:to>
                                    </p:set>
                                    <p:animEffect transition="in" filter="blinds(horizontal)">
                                      <p:cBhvr>
                                        <p:cTn id="7" dur="500"/>
                                        <p:tgtEl>
                                          <p:spTgt spid="144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585"/>
                                        </p:tgtEl>
                                        <p:attrNameLst>
                                          <p:attrName>style.visibility</p:attrName>
                                        </p:attrNameLst>
                                      </p:cBhvr>
                                      <p:to>
                                        <p:strVal val="visible"/>
                                      </p:to>
                                    </p:set>
                                    <p:animEffect transition="in" filter="wipe(up)">
                                      <p:cBhvr>
                                        <p:cTn id="12" dur="500"/>
                                        <p:tgtEl>
                                          <p:spTgt spid="145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4594"/>
                                        </p:tgtEl>
                                        <p:attrNameLst>
                                          <p:attrName>style.visibility</p:attrName>
                                        </p:attrNameLst>
                                      </p:cBhvr>
                                      <p:to>
                                        <p:strVal val="visible"/>
                                      </p:to>
                                    </p:set>
                                    <p:animEffect transition="in" filter="wipe(right)">
                                      <p:cBhvr>
                                        <p:cTn id="17" dur="500"/>
                                        <p:tgtEl>
                                          <p:spTgt spid="145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665"/>
                                        </p:tgtEl>
                                        <p:attrNameLst>
                                          <p:attrName>style.visibility</p:attrName>
                                        </p:attrNameLst>
                                      </p:cBhvr>
                                      <p:to>
                                        <p:strVal val="visible"/>
                                      </p:to>
                                    </p:set>
                                    <p:animEffect transition="in" filter="wipe(down)">
                                      <p:cBhvr>
                                        <p:cTn id="22" dur="500"/>
                                        <p:tgtEl>
                                          <p:spTgt spid="146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666"/>
                                        </p:tgtEl>
                                        <p:attrNameLst>
                                          <p:attrName>style.visibility</p:attrName>
                                        </p:attrNameLst>
                                      </p:cBhvr>
                                      <p:to>
                                        <p:strVal val="visible"/>
                                      </p:to>
                                    </p:set>
                                    <p:animEffect transition="in" filter="wipe(left)">
                                      <p:cBhvr>
                                        <p:cTn id="27" dur="500"/>
                                        <p:tgtEl>
                                          <p:spTgt spid="146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4469"/>
                                        </p:tgtEl>
                                        <p:attrNameLst>
                                          <p:attrName>style.visibility</p:attrName>
                                        </p:attrNameLst>
                                      </p:cBhvr>
                                      <p:to>
                                        <p:strVal val="visible"/>
                                      </p:to>
                                    </p:set>
                                    <p:animEffect transition="in" filter="wipe(up)">
                                      <p:cBhvr>
                                        <p:cTn id="32" dur="500"/>
                                        <p:tgtEl>
                                          <p:spTgt spid="14469"/>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14339"/>
                                        </p:tgtEl>
                                        <p:attrNameLst>
                                          <p:attrName>style.visibility</p:attrName>
                                        </p:attrNameLst>
                                      </p:cBhvr>
                                      <p:to>
                                        <p:strVal val="visible"/>
                                      </p:to>
                                    </p:set>
                                    <p:anim calcmode="lin" valueType="num">
                                      <p:cBhvr>
                                        <p:cTn id="37" dur="500" fill="hold"/>
                                        <p:tgtEl>
                                          <p:spTgt spid="14339"/>
                                        </p:tgtEl>
                                        <p:attrNameLst>
                                          <p:attrName>ppt_x</p:attrName>
                                        </p:attrNameLst>
                                      </p:cBhvr>
                                      <p:tavLst>
                                        <p:tav tm="0">
                                          <p:val>
                                            <p:strVal val="#ppt_x-#ppt_w/2"/>
                                          </p:val>
                                        </p:tav>
                                        <p:tav tm="100000">
                                          <p:val>
                                            <p:strVal val="#ppt_x"/>
                                          </p:val>
                                        </p:tav>
                                      </p:tavLst>
                                    </p:anim>
                                    <p:anim calcmode="lin" valueType="num">
                                      <p:cBhvr>
                                        <p:cTn id="38" dur="500" fill="hold"/>
                                        <p:tgtEl>
                                          <p:spTgt spid="14339"/>
                                        </p:tgtEl>
                                        <p:attrNameLst>
                                          <p:attrName>ppt_y</p:attrName>
                                        </p:attrNameLst>
                                      </p:cBhvr>
                                      <p:tavLst>
                                        <p:tav tm="0">
                                          <p:val>
                                            <p:strVal val="#ppt_y"/>
                                          </p:val>
                                        </p:tav>
                                        <p:tav tm="100000">
                                          <p:val>
                                            <p:strVal val="#ppt_y"/>
                                          </p:val>
                                        </p:tav>
                                      </p:tavLst>
                                    </p:anim>
                                    <p:anim calcmode="lin" valueType="num">
                                      <p:cBhvr>
                                        <p:cTn id="39" dur="500" fill="hold"/>
                                        <p:tgtEl>
                                          <p:spTgt spid="14339"/>
                                        </p:tgtEl>
                                        <p:attrNameLst>
                                          <p:attrName>ppt_w</p:attrName>
                                        </p:attrNameLst>
                                      </p:cBhvr>
                                      <p:tavLst>
                                        <p:tav tm="0">
                                          <p:val>
                                            <p:fltVal val="0"/>
                                          </p:val>
                                        </p:tav>
                                        <p:tav tm="100000">
                                          <p:val>
                                            <p:strVal val="#ppt_w"/>
                                          </p:val>
                                        </p:tav>
                                      </p:tavLst>
                                    </p:anim>
                                    <p:anim calcmode="lin" valueType="num">
                                      <p:cBhvr>
                                        <p:cTn id="40" dur="500" fill="hold"/>
                                        <p:tgtEl>
                                          <p:spTgt spid="14339"/>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4603"/>
                                        </p:tgtEl>
                                        <p:attrNameLst>
                                          <p:attrName>style.visibility</p:attrName>
                                        </p:attrNameLst>
                                      </p:cBhvr>
                                      <p:to>
                                        <p:strVal val="visible"/>
                                      </p:to>
                                    </p:set>
                                    <p:animEffect transition="in" filter="wipe(up)">
                                      <p:cBhvr>
                                        <p:cTn id="45" dur="500"/>
                                        <p:tgtEl>
                                          <p:spTgt spid="1460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nodeType="clickEffect">
                                  <p:stCondLst>
                                    <p:cond delay="0"/>
                                  </p:stCondLst>
                                  <p:childTnLst>
                                    <p:set>
                                      <p:cBhvr>
                                        <p:cTn id="49" dur="1" fill="hold">
                                          <p:stCondLst>
                                            <p:cond delay="0"/>
                                          </p:stCondLst>
                                        </p:cTn>
                                        <p:tgtEl>
                                          <p:spTgt spid="14662"/>
                                        </p:tgtEl>
                                        <p:attrNameLst>
                                          <p:attrName>style.visibility</p:attrName>
                                        </p:attrNameLst>
                                      </p:cBhvr>
                                      <p:to>
                                        <p:strVal val="visible"/>
                                      </p:to>
                                    </p:set>
                                    <p:animEffect transition="in" filter="wipe(right)">
                                      <p:cBhvr>
                                        <p:cTn id="50" dur="500"/>
                                        <p:tgtEl>
                                          <p:spTgt spid="14662"/>
                                        </p:tgtEl>
                                      </p:cBhvr>
                                    </p:animEffect>
                                  </p:childTnLst>
                                </p:cTn>
                              </p:par>
                            </p:childTnLst>
                          </p:cTn>
                        </p:par>
                        <p:par>
                          <p:cTn id="51" fill="hold">
                            <p:stCondLst>
                              <p:cond delay="500"/>
                            </p:stCondLst>
                            <p:childTnLst>
                              <p:par>
                                <p:cTn id="52" presetID="22" presetClass="entr" presetSubtype="1" fill="hold" nodeType="afterEffect">
                                  <p:stCondLst>
                                    <p:cond delay="0"/>
                                  </p:stCondLst>
                                  <p:childTnLst>
                                    <p:set>
                                      <p:cBhvr>
                                        <p:cTn id="53" dur="1" fill="hold">
                                          <p:stCondLst>
                                            <p:cond delay="0"/>
                                          </p:stCondLst>
                                        </p:cTn>
                                        <p:tgtEl>
                                          <p:spTgt spid="14612"/>
                                        </p:tgtEl>
                                        <p:attrNameLst>
                                          <p:attrName>style.visibility</p:attrName>
                                        </p:attrNameLst>
                                      </p:cBhvr>
                                      <p:to>
                                        <p:strVal val="visible"/>
                                      </p:to>
                                    </p:set>
                                    <p:animEffect transition="in" filter="wipe(up)">
                                      <p:cBhvr>
                                        <p:cTn id="54" dur="500"/>
                                        <p:tgtEl>
                                          <p:spTgt spid="14612"/>
                                        </p:tgtEl>
                                      </p:cBhvr>
                                    </p:animEffect>
                                  </p:childTnLst>
                                </p:cTn>
                              </p:par>
                            </p:childTnLst>
                          </p:cTn>
                        </p:par>
                      </p:childTnLst>
                    </p:cTn>
                  </p:par>
                  <p:par>
                    <p:cTn id="55" fill="hold">
                      <p:stCondLst>
                        <p:cond delay="indefinite"/>
                      </p:stCondLst>
                      <p:childTnLst>
                        <p:par>
                          <p:cTn id="56" fill="hold">
                            <p:stCondLst>
                              <p:cond delay="0"/>
                            </p:stCondLst>
                            <p:childTnLst>
                              <p:par>
                                <p:cTn id="57" presetID="17" presetClass="entr" presetSubtype="8" fill="hold" grpId="0" nodeType="clickEffect">
                                  <p:stCondLst>
                                    <p:cond delay="0"/>
                                  </p:stCondLst>
                                  <p:childTnLst>
                                    <p:set>
                                      <p:cBhvr>
                                        <p:cTn id="58" dur="1" fill="hold">
                                          <p:stCondLst>
                                            <p:cond delay="0"/>
                                          </p:stCondLst>
                                        </p:cTn>
                                        <p:tgtEl>
                                          <p:spTgt spid="14467"/>
                                        </p:tgtEl>
                                        <p:attrNameLst>
                                          <p:attrName>style.visibility</p:attrName>
                                        </p:attrNameLst>
                                      </p:cBhvr>
                                      <p:to>
                                        <p:strVal val="visible"/>
                                      </p:to>
                                    </p:set>
                                    <p:anim calcmode="lin" valueType="num">
                                      <p:cBhvr>
                                        <p:cTn id="59" dur="500" fill="hold"/>
                                        <p:tgtEl>
                                          <p:spTgt spid="14467"/>
                                        </p:tgtEl>
                                        <p:attrNameLst>
                                          <p:attrName>ppt_x</p:attrName>
                                        </p:attrNameLst>
                                      </p:cBhvr>
                                      <p:tavLst>
                                        <p:tav tm="0">
                                          <p:val>
                                            <p:strVal val="#ppt_x-#ppt_w/2"/>
                                          </p:val>
                                        </p:tav>
                                        <p:tav tm="100000">
                                          <p:val>
                                            <p:strVal val="#ppt_x"/>
                                          </p:val>
                                        </p:tav>
                                      </p:tavLst>
                                    </p:anim>
                                    <p:anim calcmode="lin" valueType="num">
                                      <p:cBhvr>
                                        <p:cTn id="60" dur="500" fill="hold"/>
                                        <p:tgtEl>
                                          <p:spTgt spid="14467"/>
                                        </p:tgtEl>
                                        <p:attrNameLst>
                                          <p:attrName>ppt_y</p:attrName>
                                        </p:attrNameLst>
                                      </p:cBhvr>
                                      <p:tavLst>
                                        <p:tav tm="0">
                                          <p:val>
                                            <p:strVal val="#ppt_y"/>
                                          </p:val>
                                        </p:tav>
                                        <p:tav tm="100000">
                                          <p:val>
                                            <p:strVal val="#ppt_y"/>
                                          </p:val>
                                        </p:tav>
                                      </p:tavLst>
                                    </p:anim>
                                    <p:anim calcmode="lin" valueType="num">
                                      <p:cBhvr>
                                        <p:cTn id="61" dur="500" fill="hold"/>
                                        <p:tgtEl>
                                          <p:spTgt spid="14467"/>
                                        </p:tgtEl>
                                        <p:attrNameLst>
                                          <p:attrName>ppt_w</p:attrName>
                                        </p:attrNameLst>
                                      </p:cBhvr>
                                      <p:tavLst>
                                        <p:tav tm="0">
                                          <p:val>
                                            <p:fltVal val="0"/>
                                          </p:val>
                                        </p:tav>
                                        <p:tav tm="100000">
                                          <p:val>
                                            <p:strVal val="#ppt_w"/>
                                          </p:val>
                                        </p:tav>
                                      </p:tavLst>
                                    </p:anim>
                                    <p:anim calcmode="lin" valueType="num">
                                      <p:cBhvr>
                                        <p:cTn id="62" dur="500" fill="hold"/>
                                        <p:tgtEl>
                                          <p:spTgt spid="1446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P spid="14465" grpId="0" autoUpdateAnimBg="0"/>
      <p:bldP spid="14467" grpId="0" autoUpdateAnimBg="0"/>
      <p:bldP spid="1466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8" name="Text Box 108"/>
          <p:cNvSpPr txBox="1">
            <a:spLocks noChangeArrowheads="1"/>
          </p:cNvSpPr>
          <p:nvPr/>
        </p:nvSpPr>
        <p:spPr bwMode="auto">
          <a:xfrm>
            <a:off x="192088" y="2871788"/>
            <a:ext cx="8588375" cy="197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10000"/>
              </a:lnSpc>
            </a:pPr>
            <a:r>
              <a:rPr lang="en-US" altLang="zh-CN" sz="2800" b="1">
                <a:latin typeface="宋体" panose="02010600030101010101" pitchFamily="2" charset="-122"/>
              </a:rPr>
              <a:t>★ </a:t>
            </a:r>
            <a:r>
              <a:rPr lang="zh-CN" altLang="en-US" sz="2800" b="1">
                <a:latin typeface="宋体" panose="02010600030101010101" pitchFamily="2" charset="-122"/>
              </a:rPr>
              <a:t>若工件的</a:t>
            </a:r>
            <a:r>
              <a:rPr lang="zh-CN" altLang="en-US" sz="2800" b="1">
                <a:solidFill>
                  <a:srgbClr val="FF3300"/>
                </a:solidFill>
                <a:latin typeface="宋体" panose="02010600030101010101" pitchFamily="2" charset="-122"/>
              </a:rPr>
              <a:t>多数</a:t>
            </a:r>
            <a:r>
              <a:rPr lang="en-US" altLang="zh-CN" sz="2800" b="1">
                <a:solidFill>
                  <a:srgbClr val="FF3300"/>
                </a:solidFill>
                <a:latin typeface="宋体" panose="02010600030101010101" pitchFamily="2" charset="-122"/>
              </a:rPr>
              <a:t>(</a:t>
            </a:r>
            <a:r>
              <a:rPr lang="zh-CN" altLang="en-US" sz="2800" b="1">
                <a:solidFill>
                  <a:srgbClr val="FF3300"/>
                </a:solidFill>
                <a:latin typeface="宋体" panose="02010600030101010101" pitchFamily="2" charset="-122"/>
              </a:rPr>
              <a:t>包括全部</a:t>
            </a:r>
            <a:r>
              <a:rPr lang="en-US" altLang="zh-CN" sz="2800" b="1">
                <a:solidFill>
                  <a:srgbClr val="FF3300"/>
                </a:solidFill>
                <a:latin typeface="宋体" panose="02010600030101010101" pitchFamily="2" charset="-122"/>
              </a:rPr>
              <a:t>)</a:t>
            </a:r>
            <a:r>
              <a:rPr lang="zh-CN" altLang="en-US" sz="2800" b="1">
                <a:solidFill>
                  <a:srgbClr val="FF3300"/>
                </a:solidFill>
                <a:latin typeface="宋体" panose="02010600030101010101" pitchFamily="2" charset="-122"/>
              </a:rPr>
              <a:t>表面</a:t>
            </a:r>
            <a:r>
              <a:rPr lang="zh-CN" altLang="en-US" sz="2800" b="1">
                <a:latin typeface="宋体" panose="02010600030101010101" pitchFamily="2" charset="-122"/>
              </a:rPr>
              <a:t>具有</a:t>
            </a:r>
            <a:r>
              <a:rPr lang="zh-CN" altLang="en-US" sz="2800" b="1">
                <a:solidFill>
                  <a:srgbClr val="FF3300"/>
                </a:solidFill>
                <a:latin typeface="宋体" panose="02010600030101010101" pitchFamily="2" charset="-122"/>
              </a:rPr>
              <a:t>相同的表面粗</a:t>
            </a:r>
            <a:endParaRPr lang="zh-CN" altLang="en-US" sz="2800" b="1">
              <a:solidFill>
                <a:srgbClr val="FF3300"/>
              </a:solidFill>
              <a:latin typeface="宋体" panose="02010600030101010101" pitchFamily="2" charset="-122"/>
            </a:endParaRPr>
          </a:p>
          <a:p>
            <a:pPr algn="l">
              <a:lnSpc>
                <a:spcPct val="110000"/>
              </a:lnSpc>
            </a:pPr>
            <a:r>
              <a:rPr lang="zh-CN" altLang="en-US" sz="2800" b="1">
                <a:solidFill>
                  <a:srgbClr val="FF3300"/>
                </a:solidFill>
                <a:latin typeface="宋体" panose="02010600030101010101" pitchFamily="2" charset="-122"/>
              </a:rPr>
              <a:t>   糙度要求</a:t>
            </a:r>
            <a:r>
              <a:rPr lang="zh-CN" altLang="en-US" sz="2800" b="1">
                <a:latin typeface="宋体" panose="02010600030101010101" pitchFamily="2" charset="-122"/>
              </a:rPr>
              <a:t>，则其要求可统一标注在图样的标题栏</a:t>
            </a:r>
            <a:endParaRPr lang="zh-CN" altLang="en-US" sz="2800" b="1">
              <a:latin typeface="宋体" panose="02010600030101010101" pitchFamily="2" charset="-122"/>
            </a:endParaRPr>
          </a:p>
          <a:p>
            <a:pPr algn="l">
              <a:lnSpc>
                <a:spcPct val="110000"/>
              </a:lnSpc>
            </a:pPr>
            <a:r>
              <a:rPr lang="zh-CN" altLang="en-US" sz="2800" b="1">
                <a:latin typeface="宋体" panose="02010600030101010101" pitchFamily="2" charset="-122"/>
              </a:rPr>
              <a:t>   附近。此时（除全部表面有相同要求的情况外</a:t>
            </a:r>
            <a:r>
              <a:rPr lang="en-US" altLang="zh-CN" sz="2800" b="1">
                <a:latin typeface="宋体" panose="02010600030101010101" pitchFamily="2" charset="-122"/>
              </a:rPr>
              <a:t>)</a:t>
            </a:r>
            <a:r>
              <a:rPr lang="zh-CN" altLang="en-US" sz="2800" b="1">
                <a:latin typeface="宋体" panose="02010600030101010101" pitchFamily="2" charset="-122"/>
              </a:rPr>
              <a:t>，</a:t>
            </a:r>
            <a:endParaRPr lang="zh-CN" altLang="en-US" sz="2800" b="1">
              <a:latin typeface="宋体" panose="02010600030101010101" pitchFamily="2" charset="-122"/>
            </a:endParaRPr>
          </a:p>
          <a:p>
            <a:pPr algn="l">
              <a:lnSpc>
                <a:spcPct val="110000"/>
              </a:lnSpc>
            </a:pPr>
            <a:r>
              <a:rPr lang="zh-CN" altLang="en-US" sz="2800" b="1">
                <a:latin typeface="宋体" panose="02010600030101010101" pitchFamily="2" charset="-122"/>
              </a:rPr>
              <a:t>   表面粗糙度要求的符号后面应有： </a:t>
            </a:r>
            <a:endParaRPr lang="zh-CN" altLang="en-US" sz="2800" b="1">
              <a:latin typeface="宋体" panose="02010600030101010101" pitchFamily="2" charset="-122"/>
            </a:endParaRPr>
          </a:p>
        </p:txBody>
      </p:sp>
      <p:sp>
        <p:nvSpPr>
          <p:cNvPr id="15471" name="Text Box 111"/>
          <p:cNvSpPr txBox="1">
            <a:spLocks noChangeArrowheads="1"/>
          </p:cNvSpPr>
          <p:nvPr/>
        </p:nvSpPr>
        <p:spPr bwMode="auto">
          <a:xfrm>
            <a:off x="250825" y="4772025"/>
            <a:ext cx="88931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(1) </a:t>
            </a:r>
            <a:r>
              <a:rPr lang="zh-CN" altLang="en-US" sz="2800" b="1"/>
              <a:t>在圆括号内给出无任何其他标志的基本符号</a:t>
            </a:r>
            <a:r>
              <a:rPr lang="en-US" altLang="zh-CN" sz="2800" b="1"/>
              <a:t>(</a:t>
            </a:r>
            <a:r>
              <a:rPr lang="zh-CN" altLang="en-US" sz="2800" b="1">
                <a:latin typeface="宋体" panose="02010600030101010101" pitchFamily="2" charset="-122"/>
              </a:rPr>
              <a:t>图</a:t>
            </a:r>
            <a:r>
              <a:rPr lang="en-US" altLang="zh-CN" sz="2800" b="1">
                <a:latin typeface="宋体" panose="02010600030101010101" pitchFamily="2" charset="-122"/>
              </a:rPr>
              <a:t>(a)</a:t>
            </a:r>
            <a:r>
              <a:rPr lang="en-US" altLang="zh-CN" sz="2800" b="1"/>
              <a:t>)</a:t>
            </a:r>
            <a:endParaRPr lang="en-US" altLang="zh-CN" sz="2800" b="1"/>
          </a:p>
        </p:txBody>
      </p:sp>
      <p:sp>
        <p:nvSpPr>
          <p:cNvPr id="15472" name="Text Box 112"/>
          <p:cNvSpPr txBox="1">
            <a:spLocks noChangeArrowheads="1"/>
          </p:cNvSpPr>
          <p:nvPr/>
        </p:nvSpPr>
        <p:spPr bwMode="auto">
          <a:xfrm>
            <a:off x="200025" y="5245100"/>
            <a:ext cx="8631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(2) </a:t>
            </a:r>
            <a:r>
              <a:rPr lang="zh-CN" altLang="en-US" sz="2800" b="1"/>
              <a:t>在圆括号内给出</a:t>
            </a:r>
            <a:r>
              <a:rPr lang="zh-CN" altLang="en-US" sz="2800" b="1">
                <a:latin typeface="宋体" panose="02010600030101010101" pitchFamily="2" charset="-122"/>
              </a:rPr>
              <a:t>不同的表面粗糙度要求</a:t>
            </a:r>
            <a:r>
              <a:rPr lang="en-US" altLang="zh-CN" sz="2800" b="1">
                <a:latin typeface="宋体" panose="02010600030101010101" pitchFamily="2" charset="-122"/>
              </a:rPr>
              <a:t>(</a:t>
            </a:r>
            <a:r>
              <a:rPr lang="zh-CN" altLang="en-US" sz="2800" b="1">
                <a:latin typeface="宋体" panose="02010600030101010101" pitchFamily="2" charset="-122"/>
              </a:rPr>
              <a:t>图</a:t>
            </a:r>
            <a:r>
              <a:rPr lang="en-US" altLang="zh-CN" sz="2800" b="1">
                <a:latin typeface="宋体" panose="02010600030101010101" pitchFamily="2" charset="-122"/>
              </a:rPr>
              <a:t>(b))</a:t>
            </a:r>
            <a:r>
              <a:rPr lang="zh-CN" altLang="en-US" sz="2800" b="1">
                <a:latin typeface="宋体" panose="02010600030101010101" pitchFamily="2" charset="-122"/>
              </a:rPr>
              <a:t>。</a:t>
            </a:r>
            <a:endParaRPr lang="zh-CN" altLang="en-US" sz="2800" b="1">
              <a:latin typeface="宋体" panose="02010600030101010101" pitchFamily="2" charset="-122"/>
            </a:endParaRPr>
          </a:p>
        </p:txBody>
      </p:sp>
      <p:sp>
        <p:nvSpPr>
          <p:cNvPr id="15474" name="Text Box 114"/>
          <p:cNvSpPr txBox="1">
            <a:spLocks noChangeArrowheads="1"/>
          </p:cNvSpPr>
          <p:nvPr/>
        </p:nvSpPr>
        <p:spPr bwMode="auto">
          <a:xfrm>
            <a:off x="795338" y="5743575"/>
            <a:ext cx="7796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latin typeface="宋体" panose="02010600030101010101" pitchFamily="2" charset="-122"/>
              </a:rPr>
              <a:t>不同的表面粗糙度要求，应直接标注在图形中。 </a:t>
            </a:r>
            <a:endParaRPr lang="zh-CN" altLang="en-US" sz="2800" b="1">
              <a:solidFill>
                <a:srgbClr val="FF3300"/>
              </a:solidFill>
              <a:latin typeface="宋体" panose="02010600030101010101" pitchFamily="2" charset="-122"/>
            </a:endParaRPr>
          </a:p>
        </p:txBody>
      </p:sp>
      <p:grpSp>
        <p:nvGrpSpPr>
          <p:cNvPr id="13318" name="Group 332"/>
          <p:cNvGrpSpPr/>
          <p:nvPr/>
        </p:nvGrpSpPr>
        <p:grpSpPr bwMode="auto">
          <a:xfrm>
            <a:off x="650875" y="279400"/>
            <a:ext cx="3148013" cy="1906588"/>
            <a:chOff x="410" y="176"/>
            <a:chExt cx="1983" cy="1201"/>
          </a:xfrm>
        </p:grpSpPr>
        <p:grpSp>
          <p:nvGrpSpPr>
            <p:cNvPr id="13437" name="Group 184"/>
            <p:cNvGrpSpPr/>
            <p:nvPr/>
          </p:nvGrpSpPr>
          <p:grpSpPr bwMode="auto">
            <a:xfrm>
              <a:off x="410" y="334"/>
              <a:ext cx="1093" cy="1043"/>
              <a:chOff x="1124" y="334"/>
              <a:chExt cx="1093" cy="1043"/>
            </a:xfrm>
          </p:grpSpPr>
          <p:grpSp>
            <p:nvGrpSpPr>
              <p:cNvPr id="13458" name="Group 157"/>
              <p:cNvGrpSpPr/>
              <p:nvPr/>
            </p:nvGrpSpPr>
            <p:grpSpPr bwMode="auto">
              <a:xfrm>
                <a:off x="1124" y="334"/>
                <a:ext cx="1093" cy="1043"/>
                <a:chOff x="1124" y="334"/>
                <a:chExt cx="1093" cy="1043"/>
              </a:xfrm>
            </p:grpSpPr>
            <p:sp>
              <p:nvSpPr>
                <p:cNvPr id="13482" name="Line 117"/>
                <p:cNvSpPr>
                  <a:spLocks noChangeShapeType="1"/>
                </p:cNvSpPr>
                <p:nvPr/>
              </p:nvSpPr>
              <p:spPr bwMode="auto">
                <a:xfrm>
                  <a:off x="1175" y="537"/>
                  <a:ext cx="0" cy="6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3" name="Line 118"/>
                <p:cNvSpPr>
                  <a:spLocks noChangeShapeType="1"/>
                </p:cNvSpPr>
                <p:nvPr/>
              </p:nvSpPr>
              <p:spPr bwMode="auto">
                <a:xfrm>
                  <a:off x="1177" y="701"/>
                  <a:ext cx="9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4" name="Line 119"/>
                <p:cNvSpPr>
                  <a:spLocks noChangeShapeType="1"/>
                </p:cNvSpPr>
                <p:nvPr/>
              </p:nvSpPr>
              <p:spPr bwMode="auto">
                <a:xfrm>
                  <a:off x="1181" y="1008"/>
                  <a:ext cx="98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5" name="Line 120"/>
                <p:cNvSpPr>
                  <a:spLocks noChangeShapeType="1"/>
                </p:cNvSpPr>
                <p:nvPr/>
              </p:nvSpPr>
              <p:spPr bwMode="auto">
                <a:xfrm>
                  <a:off x="1176" y="545"/>
                  <a:ext cx="62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6" name="Line 121"/>
                <p:cNvSpPr>
                  <a:spLocks noChangeShapeType="1"/>
                </p:cNvSpPr>
                <p:nvPr/>
              </p:nvSpPr>
              <p:spPr bwMode="auto">
                <a:xfrm>
                  <a:off x="1175" y="1168"/>
                  <a:ext cx="61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7" name="Line 125"/>
                <p:cNvSpPr>
                  <a:spLocks noChangeShapeType="1"/>
                </p:cNvSpPr>
                <p:nvPr/>
              </p:nvSpPr>
              <p:spPr bwMode="auto">
                <a:xfrm>
                  <a:off x="1943" y="545"/>
                  <a:ext cx="22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8" name="Line 126"/>
                <p:cNvSpPr>
                  <a:spLocks noChangeShapeType="1"/>
                </p:cNvSpPr>
                <p:nvPr/>
              </p:nvSpPr>
              <p:spPr bwMode="auto">
                <a:xfrm>
                  <a:off x="2166" y="545"/>
                  <a:ext cx="0" cy="62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9" name="Line 130"/>
                <p:cNvSpPr>
                  <a:spLocks noChangeShapeType="1"/>
                </p:cNvSpPr>
                <p:nvPr/>
              </p:nvSpPr>
              <p:spPr bwMode="auto">
                <a:xfrm>
                  <a:off x="1944" y="1168"/>
                  <a:ext cx="2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490" name="Group 136"/>
                <p:cNvGrpSpPr/>
                <p:nvPr/>
              </p:nvGrpSpPr>
              <p:grpSpPr bwMode="auto">
                <a:xfrm>
                  <a:off x="1124" y="856"/>
                  <a:ext cx="1093" cy="0"/>
                  <a:chOff x="1124" y="856"/>
                  <a:chExt cx="1093" cy="0"/>
                </a:xfrm>
              </p:grpSpPr>
              <p:sp>
                <p:nvSpPr>
                  <p:cNvPr id="13504" name="Line 116"/>
                  <p:cNvSpPr>
                    <a:spLocks noChangeShapeType="1"/>
                  </p:cNvSpPr>
                  <p:nvPr/>
                </p:nvSpPr>
                <p:spPr bwMode="auto">
                  <a:xfrm>
                    <a:off x="1741" y="856"/>
                    <a:ext cx="4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05" name="Line 134"/>
                  <p:cNvSpPr>
                    <a:spLocks noChangeShapeType="1"/>
                  </p:cNvSpPr>
                  <p:nvPr/>
                </p:nvSpPr>
                <p:spPr bwMode="auto">
                  <a:xfrm>
                    <a:off x="1124" y="856"/>
                    <a:ext cx="45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06" name="Line 135"/>
                  <p:cNvSpPr>
                    <a:spLocks noChangeShapeType="1"/>
                  </p:cNvSpPr>
                  <p:nvPr/>
                </p:nvSpPr>
                <p:spPr bwMode="auto">
                  <a:xfrm>
                    <a:off x="1632" y="856"/>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491" name="Group 155"/>
                <p:cNvGrpSpPr/>
                <p:nvPr/>
              </p:nvGrpSpPr>
              <p:grpSpPr bwMode="auto">
                <a:xfrm>
                  <a:off x="1732" y="334"/>
                  <a:ext cx="260" cy="219"/>
                  <a:chOff x="1736" y="334"/>
                  <a:chExt cx="260" cy="219"/>
                </a:xfrm>
              </p:grpSpPr>
              <p:sp>
                <p:nvSpPr>
                  <p:cNvPr id="13498" name="Line 122"/>
                  <p:cNvSpPr>
                    <a:spLocks noChangeShapeType="1"/>
                  </p:cNvSpPr>
                  <p:nvPr/>
                </p:nvSpPr>
                <p:spPr bwMode="auto">
                  <a:xfrm flipV="1">
                    <a:off x="1797" y="342"/>
                    <a:ext cx="0" cy="21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99" name="Line 123"/>
                  <p:cNvSpPr>
                    <a:spLocks noChangeShapeType="1"/>
                  </p:cNvSpPr>
                  <p:nvPr/>
                </p:nvSpPr>
                <p:spPr bwMode="auto">
                  <a:xfrm>
                    <a:off x="1797" y="394"/>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00" name="Line 124"/>
                  <p:cNvSpPr>
                    <a:spLocks noChangeShapeType="1"/>
                  </p:cNvSpPr>
                  <p:nvPr/>
                </p:nvSpPr>
                <p:spPr bwMode="auto">
                  <a:xfrm>
                    <a:off x="1947" y="334"/>
                    <a:ext cx="0" cy="2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01" name="Line 137"/>
                  <p:cNvSpPr>
                    <a:spLocks noChangeShapeType="1"/>
                  </p:cNvSpPr>
                  <p:nvPr/>
                </p:nvSpPr>
                <p:spPr bwMode="auto">
                  <a:xfrm>
                    <a:off x="1736" y="448"/>
                    <a:ext cx="26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02" name="Line 138"/>
                  <p:cNvSpPr>
                    <a:spLocks noChangeShapeType="1"/>
                  </p:cNvSpPr>
                  <p:nvPr/>
                </p:nvSpPr>
                <p:spPr bwMode="auto">
                  <a:xfrm>
                    <a:off x="1789" y="342"/>
                    <a:ext cx="15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03" name="Line 139"/>
                  <p:cNvSpPr>
                    <a:spLocks noChangeShapeType="1"/>
                  </p:cNvSpPr>
                  <p:nvPr/>
                </p:nvSpPr>
                <p:spPr bwMode="auto">
                  <a:xfrm>
                    <a:off x="1797" y="502"/>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92" name="Line 147"/>
                <p:cNvSpPr>
                  <a:spLocks noChangeShapeType="1"/>
                </p:cNvSpPr>
                <p:nvPr/>
              </p:nvSpPr>
              <p:spPr bwMode="auto">
                <a:xfrm>
                  <a:off x="1793" y="1162"/>
                  <a:ext cx="0" cy="21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93" name="Line 148"/>
                <p:cNvSpPr>
                  <a:spLocks noChangeShapeType="1"/>
                </p:cNvSpPr>
                <p:nvPr/>
              </p:nvSpPr>
              <p:spPr bwMode="auto">
                <a:xfrm flipV="1">
                  <a:off x="1793" y="1317"/>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94" name="Line 149"/>
                <p:cNvSpPr>
                  <a:spLocks noChangeShapeType="1"/>
                </p:cNvSpPr>
                <p:nvPr/>
              </p:nvSpPr>
              <p:spPr bwMode="auto">
                <a:xfrm flipV="1">
                  <a:off x="1943" y="1165"/>
                  <a:ext cx="0" cy="2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95" name="Line 150"/>
                <p:cNvSpPr>
                  <a:spLocks noChangeShapeType="1"/>
                </p:cNvSpPr>
                <p:nvPr/>
              </p:nvSpPr>
              <p:spPr bwMode="auto">
                <a:xfrm flipV="1">
                  <a:off x="1732" y="1263"/>
                  <a:ext cx="26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96" name="Line 151"/>
                <p:cNvSpPr>
                  <a:spLocks noChangeShapeType="1"/>
                </p:cNvSpPr>
                <p:nvPr/>
              </p:nvSpPr>
              <p:spPr bwMode="auto">
                <a:xfrm flipV="1">
                  <a:off x="1785" y="1369"/>
                  <a:ext cx="15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97" name="Line 152"/>
                <p:cNvSpPr>
                  <a:spLocks noChangeShapeType="1"/>
                </p:cNvSpPr>
                <p:nvPr/>
              </p:nvSpPr>
              <p:spPr bwMode="auto">
                <a:xfrm flipV="1">
                  <a:off x="1793" y="1209"/>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459" name="Group 181"/>
              <p:cNvGrpSpPr/>
              <p:nvPr/>
            </p:nvGrpSpPr>
            <p:grpSpPr bwMode="auto">
              <a:xfrm>
                <a:off x="1184" y="336"/>
                <a:ext cx="976" cy="360"/>
                <a:chOff x="1184" y="336"/>
                <a:chExt cx="976" cy="360"/>
              </a:xfrm>
            </p:grpSpPr>
            <p:sp>
              <p:nvSpPr>
                <p:cNvPr id="13471" name="Line 166"/>
                <p:cNvSpPr>
                  <a:spLocks noChangeShapeType="1"/>
                </p:cNvSpPr>
                <p:nvPr/>
              </p:nvSpPr>
              <p:spPr bwMode="auto">
                <a:xfrm flipV="1">
                  <a:off x="1784" y="336"/>
                  <a:ext cx="64" cy="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2" name="Line 158"/>
                <p:cNvSpPr>
                  <a:spLocks noChangeShapeType="1"/>
                </p:cNvSpPr>
                <p:nvPr/>
              </p:nvSpPr>
              <p:spPr bwMode="auto">
                <a:xfrm flipV="1">
                  <a:off x="1184" y="540"/>
                  <a:ext cx="112" cy="1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3" name="Line 159"/>
                <p:cNvSpPr>
                  <a:spLocks noChangeShapeType="1"/>
                </p:cNvSpPr>
                <p:nvPr/>
              </p:nvSpPr>
              <p:spPr bwMode="auto">
                <a:xfrm flipV="1">
                  <a:off x="1260"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4" name="Line 160"/>
                <p:cNvSpPr>
                  <a:spLocks noChangeShapeType="1"/>
                </p:cNvSpPr>
                <p:nvPr/>
              </p:nvSpPr>
              <p:spPr bwMode="auto">
                <a:xfrm flipV="1">
                  <a:off x="1375"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5" name="Line 161"/>
                <p:cNvSpPr>
                  <a:spLocks noChangeShapeType="1"/>
                </p:cNvSpPr>
                <p:nvPr/>
              </p:nvSpPr>
              <p:spPr bwMode="auto">
                <a:xfrm flipV="1">
                  <a:off x="1487" y="540"/>
                  <a:ext cx="156" cy="15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6" name="Line 162"/>
                <p:cNvSpPr>
                  <a:spLocks noChangeShapeType="1"/>
                </p:cNvSpPr>
                <p:nvPr/>
              </p:nvSpPr>
              <p:spPr bwMode="auto">
                <a:xfrm flipV="1">
                  <a:off x="1606"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7" name="Line 163"/>
                <p:cNvSpPr>
                  <a:spLocks noChangeShapeType="1"/>
                </p:cNvSpPr>
                <p:nvPr/>
              </p:nvSpPr>
              <p:spPr bwMode="auto">
                <a:xfrm flipV="1">
                  <a:off x="1722" y="508"/>
                  <a:ext cx="184" cy="1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8" name="Line 164"/>
                <p:cNvSpPr>
                  <a:spLocks noChangeShapeType="1"/>
                </p:cNvSpPr>
                <p:nvPr/>
              </p:nvSpPr>
              <p:spPr bwMode="auto">
                <a:xfrm flipV="1">
                  <a:off x="1837"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9" name="Line 165"/>
                <p:cNvSpPr>
                  <a:spLocks noChangeShapeType="1"/>
                </p:cNvSpPr>
                <p:nvPr/>
              </p:nvSpPr>
              <p:spPr bwMode="auto">
                <a:xfrm flipV="1">
                  <a:off x="1952"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0" name="Line 167"/>
                <p:cNvSpPr>
                  <a:spLocks noChangeShapeType="1"/>
                </p:cNvSpPr>
                <p:nvPr/>
              </p:nvSpPr>
              <p:spPr bwMode="auto">
                <a:xfrm flipV="1">
                  <a:off x="2060" y="592"/>
                  <a:ext cx="100" cy="1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81" name="Line 179"/>
                <p:cNvSpPr>
                  <a:spLocks noChangeShapeType="1"/>
                </p:cNvSpPr>
                <p:nvPr/>
              </p:nvSpPr>
              <p:spPr bwMode="auto">
                <a:xfrm flipV="1">
                  <a:off x="1908" y="352"/>
                  <a:ext cx="36" cy="3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460" name="Group 183"/>
              <p:cNvGrpSpPr/>
              <p:nvPr/>
            </p:nvGrpSpPr>
            <p:grpSpPr bwMode="auto">
              <a:xfrm>
                <a:off x="1176" y="1008"/>
                <a:ext cx="984" cy="360"/>
                <a:chOff x="1176" y="1008"/>
                <a:chExt cx="984" cy="360"/>
              </a:xfrm>
            </p:grpSpPr>
            <p:sp>
              <p:nvSpPr>
                <p:cNvPr id="13461" name="Line 170"/>
                <p:cNvSpPr>
                  <a:spLocks noChangeShapeType="1"/>
                </p:cNvSpPr>
                <p:nvPr/>
              </p:nvSpPr>
              <p:spPr bwMode="auto">
                <a:xfrm flipV="1">
                  <a:off x="1176" y="1008"/>
                  <a:ext cx="112" cy="1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2" name="Line 171"/>
                <p:cNvSpPr>
                  <a:spLocks noChangeShapeType="1"/>
                </p:cNvSpPr>
                <p:nvPr/>
              </p:nvSpPr>
              <p:spPr bwMode="auto">
                <a:xfrm flipV="1">
                  <a:off x="1256"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3" name="Line 172"/>
                <p:cNvSpPr>
                  <a:spLocks noChangeShapeType="1"/>
                </p:cNvSpPr>
                <p:nvPr/>
              </p:nvSpPr>
              <p:spPr bwMode="auto">
                <a:xfrm flipV="1">
                  <a:off x="1371"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4" name="Line 173"/>
                <p:cNvSpPr>
                  <a:spLocks noChangeShapeType="1"/>
                </p:cNvSpPr>
                <p:nvPr/>
              </p:nvSpPr>
              <p:spPr bwMode="auto">
                <a:xfrm flipV="1">
                  <a:off x="1487"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5" name="Line 174"/>
                <p:cNvSpPr>
                  <a:spLocks noChangeShapeType="1"/>
                </p:cNvSpPr>
                <p:nvPr/>
              </p:nvSpPr>
              <p:spPr bwMode="auto">
                <a:xfrm flipV="1">
                  <a:off x="1602"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6" name="Line 175"/>
                <p:cNvSpPr>
                  <a:spLocks noChangeShapeType="1"/>
                </p:cNvSpPr>
                <p:nvPr/>
              </p:nvSpPr>
              <p:spPr bwMode="auto">
                <a:xfrm flipV="1">
                  <a:off x="1718"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7" name="Line 176"/>
                <p:cNvSpPr>
                  <a:spLocks noChangeShapeType="1"/>
                </p:cNvSpPr>
                <p:nvPr/>
              </p:nvSpPr>
              <p:spPr bwMode="auto">
                <a:xfrm flipV="1">
                  <a:off x="1797" y="1008"/>
                  <a:ext cx="184" cy="1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8" name="Line 177"/>
                <p:cNvSpPr>
                  <a:spLocks noChangeShapeType="1"/>
                </p:cNvSpPr>
                <p:nvPr/>
              </p:nvSpPr>
              <p:spPr bwMode="auto">
                <a:xfrm flipV="1">
                  <a:off x="1904" y="1008"/>
                  <a:ext cx="192" cy="19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69" name="Line 178"/>
                <p:cNvSpPr>
                  <a:spLocks noChangeShapeType="1"/>
                </p:cNvSpPr>
                <p:nvPr/>
              </p:nvSpPr>
              <p:spPr bwMode="auto">
                <a:xfrm flipV="1">
                  <a:off x="2052" y="1052"/>
                  <a:ext cx="108" cy="10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70" name="Line 182"/>
                <p:cNvSpPr>
                  <a:spLocks noChangeShapeType="1"/>
                </p:cNvSpPr>
                <p:nvPr/>
              </p:nvSpPr>
              <p:spPr bwMode="auto">
                <a:xfrm flipH="1">
                  <a:off x="1844" y="1320"/>
                  <a:ext cx="48" cy="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3438" name="Line 235"/>
            <p:cNvSpPr>
              <a:spLocks noChangeShapeType="1"/>
            </p:cNvSpPr>
            <p:nvPr/>
          </p:nvSpPr>
          <p:spPr bwMode="auto">
            <a:xfrm>
              <a:off x="1427" y="545"/>
              <a:ext cx="32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39" name="Line 236"/>
            <p:cNvSpPr>
              <a:spLocks noChangeShapeType="1"/>
            </p:cNvSpPr>
            <p:nvPr/>
          </p:nvSpPr>
          <p:spPr bwMode="auto">
            <a:xfrm>
              <a:off x="1421" y="1008"/>
              <a:ext cx="31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440" name="Group 251"/>
            <p:cNvGrpSpPr/>
            <p:nvPr/>
          </p:nvGrpSpPr>
          <p:grpSpPr bwMode="auto">
            <a:xfrm>
              <a:off x="1540" y="176"/>
              <a:ext cx="853" cy="369"/>
              <a:chOff x="2540" y="790"/>
              <a:chExt cx="853" cy="369"/>
            </a:xfrm>
          </p:grpSpPr>
          <p:grpSp>
            <p:nvGrpSpPr>
              <p:cNvPr id="13450" name="Group 252"/>
              <p:cNvGrpSpPr/>
              <p:nvPr/>
            </p:nvGrpSpPr>
            <p:grpSpPr bwMode="auto">
              <a:xfrm>
                <a:off x="2540" y="833"/>
                <a:ext cx="840" cy="326"/>
                <a:chOff x="2540" y="833"/>
                <a:chExt cx="840" cy="326"/>
              </a:xfrm>
            </p:grpSpPr>
            <p:grpSp>
              <p:nvGrpSpPr>
                <p:cNvPr id="13452" name="Group 253"/>
                <p:cNvGrpSpPr/>
                <p:nvPr/>
              </p:nvGrpSpPr>
              <p:grpSpPr bwMode="auto">
                <a:xfrm>
                  <a:off x="2540" y="833"/>
                  <a:ext cx="282" cy="326"/>
                  <a:chOff x="2028" y="889"/>
                  <a:chExt cx="282" cy="326"/>
                </a:xfrm>
              </p:grpSpPr>
              <p:grpSp>
                <p:nvGrpSpPr>
                  <p:cNvPr id="13454" name="Group 254"/>
                  <p:cNvGrpSpPr/>
                  <p:nvPr/>
                </p:nvGrpSpPr>
                <p:grpSpPr bwMode="auto">
                  <a:xfrm>
                    <a:off x="2033" y="889"/>
                    <a:ext cx="277" cy="326"/>
                    <a:chOff x="2033" y="889"/>
                    <a:chExt cx="277" cy="326"/>
                  </a:xfrm>
                </p:grpSpPr>
                <p:sp>
                  <p:nvSpPr>
                    <p:cNvPr id="13456" name="Line 255"/>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57" name="Line 256"/>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55" name="Line 257"/>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53" name="Line 258"/>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51" name="Text Box 259"/>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a:t>
                </a:r>
                <a:r>
                  <a:rPr lang="en-US" altLang="zh-CN" b="1"/>
                  <a:t> 6.3</a:t>
                </a:r>
                <a:endParaRPr lang="en-US" altLang="zh-CN" b="1"/>
              </a:p>
            </p:txBody>
          </p:sp>
        </p:grpSp>
        <p:grpSp>
          <p:nvGrpSpPr>
            <p:cNvPr id="13441" name="Group 269"/>
            <p:cNvGrpSpPr/>
            <p:nvPr/>
          </p:nvGrpSpPr>
          <p:grpSpPr bwMode="auto">
            <a:xfrm>
              <a:off x="1540" y="633"/>
              <a:ext cx="853" cy="369"/>
              <a:chOff x="2540" y="790"/>
              <a:chExt cx="853" cy="369"/>
            </a:xfrm>
          </p:grpSpPr>
          <p:grpSp>
            <p:nvGrpSpPr>
              <p:cNvPr id="13442" name="Group 270"/>
              <p:cNvGrpSpPr/>
              <p:nvPr/>
            </p:nvGrpSpPr>
            <p:grpSpPr bwMode="auto">
              <a:xfrm>
                <a:off x="2540" y="833"/>
                <a:ext cx="840" cy="326"/>
                <a:chOff x="2540" y="833"/>
                <a:chExt cx="840" cy="326"/>
              </a:xfrm>
            </p:grpSpPr>
            <p:grpSp>
              <p:nvGrpSpPr>
                <p:cNvPr id="13444" name="Group 271"/>
                <p:cNvGrpSpPr/>
                <p:nvPr/>
              </p:nvGrpSpPr>
              <p:grpSpPr bwMode="auto">
                <a:xfrm>
                  <a:off x="2540" y="833"/>
                  <a:ext cx="282" cy="326"/>
                  <a:chOff x="2028" y="889"/>
                  <a:chExt cx="282" cy="326"/>
                </a:xfrm>
              </p:grpSpPr>
              <p:grpSp>
                <p:nvGrpSpPr>
                  <p:cNvPr id="13446" name="Group 272"/>
                  <p:cNvGrpSpPr/>
                  <p:nvPr/>
                </p:nvGrpSpPr>
                <p:grpSpPr bwMode="auto">
                  <a:xfrm>
                    <a:off x="2033" y="889"/>
                    <a:ext cx="277" cy="326"/>
                    <a:chOff x="2033" y="889"/>
                    <a:chExt cx="277" cy="326"/>
                  </a:xfrm>
                </p:grpSpPr>
                <p:sp>
                  <p:nvSpPr>
                    <p:cNvPr id="13448" name="Line 273"/>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49" name="Line 274"/>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47" name="Line 275"/>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45" name="Line 276"/>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43" name="Text Box 277"/>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a:t>
                </a:r>
                <a:r>
                  <a:rPr lang="en-US" altLang="zh-CN" b="1"/>
                  <a:t> 1.6</a:t>
                </a:r>
                <a:endParaRPr lang="en-US" altLang="zh-CN" b="1"/>
              </a:p>
            </p:txBody>
          </p:sp>
        </p:grpSp>
      </p:grpSp>
      <p:grpSp>
        <p:nvGrpSpPr>
          <p:cNvPr id="15693" name="Group 333"/>
          <p:cNvGrpSpPr/>
          <p:nvPr/>
        </p:nvGrpSpPr>
        <p:grpSpPr bwMode="auto">
          <a:xfrm>
            <a:off x="4689475" y="282575"/>
            <a:ext cx="3178175" cy="1903413"/>
            <a:chOff x="2954" y="178"/>
            <a:chExt cx="2002" cy="1199"/>
          </a:xfrm>
        </p:grpSpPr>
        <p:grpSp>
          <p:nvGrpSpPr>
            <p:cNvPr id="13367" name="Group 185"/>
            <p:cNvGrpSpPr/>
            <p:nvPr/>
          </p:nvGrpSpPr>
          <p:grpSpPr bwMode="auto">
            <a:xfrm>
              <a:off x="2954" y="334"/>
              <a:ext cx="1093" cy="1043"/>
              <a:chOff x="1124" y="334"/>
              <a:chExt cx="1093" cy="1043"/>
            </a:xfrm>
          </p:grpSpPr>
          <p:grpSp>
            <p:nvGrpSpPr>
              <p:cNvPr id="13388" name="Group 186"/>
              <p:cNvGrpSpPr/>
              <p:nvPr/>
            </p:nvGrpSpPr>
            <p:grpSpPr bwMode="auto">
              <a:xfrm>
                <a:off x="1124" y="334"/>
                <a:ext cx="1093" cy="1043"/>
                <a:chOff x="1124" y="334"/>
                <a:chExt cx="1093" cy="1043"/>
              </a:xfrm>
            </p:grpSpPr>
            <p:sp>
              <p:nvSpPr>
                <p:cNvPr id="13412" name="Line 187"/>
                <p:cNvSpPr>
                  <a:spLocks noChangeShapeType="1"/>
                </p:cNvSpPr>
                <p:nvPr/>
              </p:nvSpPr>
              <p:spPr bwMode="auto">
                <a:xfrm>
                  <a:off x="1175" y="537"/>
                  <a:ext cx="0" cy="6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3" name="Line 188"/>
                <p:cNvSpPr>
                  <a:spLocks noChangeShapeType="1"/>
                </p:cNvSpPr>
                <p:nvPr/>
              </p:nvSpPr>
              <p:spPr bwMode="auto">
                <a:xfrm>
                  <a:off x="1177" y="701"/>
                  <a:ext cx="9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4" name="Line 189"/>
                <p:cNvSpPr>
                  <a:spLocks noChangeShapeType="1"/>
                </p:cNvSpPr>
                <p:nvPr/>
              </p:nvSpPr>
              <p:spPr bwMode="auto">
                <a:xfrm>
                  <a:off x="1181" y="1008"/>
                  <a:ext cx="98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5" name="Line 190"/>
                <p:cNvSpPr>
                  <a:spLocks noChangeShapeType="1"/>
                </p:cNvSpPr>
                <p:nvPr/>
              </p:nvSpPr>
              <p:spPr bwMode="auto">
                <a:xfrm>
                  <a:off x="1176" y="545"/>
                  <a:ext cx="62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6" name="Line 191"/>
                <p:cNvSpPr>
                  <a:spLocks noChangeShapeType="1"/>
                </p:cNvSpPr>
                <p:nvPr/>
              </p:nvSpPr>
              <p:spPr bwMode="auto">
                <a:xfrm>
                  <a:off x="1175" y="1168"/>
                  <a:ext cx="61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7" name="Line 192"/>
                <p:cNvSpPr>
                  <a:spLocks noChangeShapeType="1"/>
                </p:cNvSpPr>
                <p:nvPr/>
              </p:nvSpPr>
              <p:spPr bwMode="auto">
                <a:xfrm>
                  <a:off x="1943" y="545"/>
                  <a:ext cx="22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8" name="Line 193"/>
                <p:cNvSpPr>
                  <a:spLocks noChangeShapeType="1"/>
                </p:cNvSpPr>
                <p:nvPr/>
              </p:nvSpPr>
              <p:spPr bwMode="auto">
                <a:xfrm>
                  <a:off x="2166" y="545"/>
                  <a:ext cx="0" cy="62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9" name="Line 194"/>
                <p:cNvSpPr>
                  <a:spLocks noChangeShapeType="1"/>
                </p:cNvSpPr>
                <p:nvPr/>
              </p:nvSpPr>
              <p:spPr bwMode="auto">
                <a:xfrm>
                  <a:off x="1944" y="1168"/>
                  <a:ext cx="2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420" name="Group 195"/>
                <p:cNvGrpSpPr/>
                <p:nvPr/>
              </p:nvGrpSpPr>
              <p:grpSpPr bwMode="auto">
                <a:xfrm>
                  <a:off x="1124" y="856"/>
                  <a:ext cx="1093" cy="0"/>
                  <a:chOff x="1124" y="856"/>
                  <a:chExt cx="1093" cy="0"/>
                </a:xfrm>
              </p:grpSpPr>
              <p:sp>
                <p:nvSpPr>
                  <p:cNvPr id="13434" name="Line 196"/>
                  <p:cNvSpPr>
                    <a:spLocks noChangeShapeType="1"/>
                  </p:cNvSpPr>
                  <p:nvPr/>
                </p:nvSpPr>
                <p:spPr bwMode="auto">
                  <a:xfrm>
                    <a:off x="1741" y="856"/>
                    <a:ext cx="4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35" name="Line 197"/>
                  <p:cNvSpPr>
                    <a:spLocks noChangeShapeType="1"/>
                  </p:cNvSpPr>
                  <p:nvPr/>
                </p:nvSpPr>
                <p:spPr bwMode="auto">
                  <a:xfrm>
                    <a:off x="1124" y="856"/>
                    <a:ext cx="45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36" name="Line 198"/>
                  <p:cNvSpPr>
                    <a:spLocks noChangeShapeType="1"/>
                  </p:cNvSpPr>
                  <p:nvPr/>
                </p:nvSpPr>
                <p:spPr bwMode="auto">
                  <a:xfrm>
                    <a:off x="1632" y="856"/>
                    <a:ext cx="6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421" name="Group 199"/>
                <p:cNvGrpSpPr/>
                <p:nvPr/>
              </p:nvGrpSpPr>
              <p:grpSpPr bwMode="auto">
                <a:xfrm>
                  <a:off x="1732" y="334"/>
                  <a:ext cx="260" cy="219"/>
                  <a:chOff x="1736" y="334"/>
                  <a:chExt cx="260" cy="219"/>
                </a:xfrm>
              </p:grpSpPr>
              <p:sp>
                <p:nvSpPr>
                  <p:cNvPr id="13428" name="Line 200"/>
                  <p:cNvSpPr>
                    <a:spLocks noChangeShapeType="1"/>
                  </p:cNvSpPr>
                  <p:nvPr/>
                </p:nvSpPr>
                <p:spPr bwMode="auto">
                  <a:xfrm flipV="1">
                    <a:off x="1797" y="342"/>
                    <a:ext cx="0" cy="21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9" name="Line 201"/>
                  <p:cNvSpPr>
                    <a:spLocks noChangeShapeType="1"/>
                  </p:cNvSpPr>
                  <p:nvPr/>
                </p:nvSpPr>
                <p:spPr bwMode="auto">
                  <a:xfrm>
                    <a:off x="1797" y="394"/>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30" name="Line 202"/>
                  <p:cNvSpPr>
                    <a:spLocks noChangeShapeType="1"/>
                  </p:cNvSpPr>
                  <p:nvPr/>
                </p:nvSpPr>
                <p:spPr bwMode="auto">
                  <a:xfrm>
                    <a:off x="1947" y="334"/>
                    <a:ext cx="0" cy="2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31" name="Line 203"/>
                  <p:cNvSpPr>
                    <a:spLocks noChangeShapeType="1"/>
                  </p:cNvSpPr>
                  <p:nvPr/>
                </p:nvSpPr>
                <p:spPr bwMode="auto">
                  <a:xfrm>
                    <a:off x="1736" y="448"/>
                    <a:ext cx="26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32" name="Line 204"/>
                  <p:cNvSpPr>
                    <a:spLocks noChangeShapeType="1"/>
                  </p:cNvSpPr>
                  <p:nvPr/>
                </p:nvSpPr>
                <p:spPr bwMode="auto">
                  <a:xfrm>
                    <a:off x="1789" y="342"/>
                    <a:ext cx="15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33" name="Line 205"/>
                  <p:cNvSpPr>
                    <a:spLocks noChangeShapeType="1"/>
                  </p:cNvSpPr>
                  <p:nvPr/>
                </p:nvSpPr>
                <p:spPr bwMode="auto">
                  <a:xfrm>
                    <a:off x="1797" y="502"/>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422" name="Line 206"/>
                <p:cNvSpPr>
                  <a:spLocks noChangeShapeType="1"/>
                </p:cNvSpPr>
                <p:nvPr/>
              </p:nvSpPr>
              <p:spPr bwMode="auto">
                <a:xfrm>
                  <a:off x="1793" y="1162"/>
                  <a:ext cx="0" cy="21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3" name="Line 207"/>
                <p:cNvSpPr>
                  <a:spLocks noChangeShapeType="1"/>
                </p:cNvSpPr>
                <p:nvPr/>
              </p:nvSpPr>
              <p:spPr bwMode="auto">
                <a:xfrm flipV="1">
                  <a:off x="1793" y="1317"/>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4" name="Line 208"/>
                <p:cNvSpPr>
                  <a:spLocks noChangeShapeType="1"/>
                </p:cNvSpPr>
                <p:nvPr/>
              </p:nvSpPr>
              <p:spPr bwMode="auto">
                <a:xfrm flipV="1">
                  <a:off x="1943" y="1165"/>
                  <a:ext cx="0" cy="2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5" name="Line 209"/>
                <p:cNvSpPr>
                  <a:spLocks noChangeShapeType="1"/>
                </p:cNvSpPr>
                <p:nvPr/>
              </p:nvSpPr>
              <p:spPr bwMode="auto">
                <a:xfrm flipV="1">
                  <a:off x="1732" y="1263"/>
                  <a:ext cx="26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6" name="Line 210"/>
                <p:cNvSpPr>
                  <a:spLocks noChangeShapeType="1"/>
                </p:cNvSpPr>
                <p:nvPr/>
              </p:nvSpPr>
              <p:spPr bwMode="auto">
                <a:xfrm flipV="1">
                  <a:off x="1785" y="1369"/>
                  <a:ext cx="15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27" name="Line 211"/>
                <p:cNvSpPr>
                  <a:spLocks noChangeShapeType="1"/>
                </p:cNvSpPr>
                <p:nvPr/>
              </p:nvSpPr>
              <p:spPr bwMode="auto">
                <a:xfrm flipV="1">
                  <a:off x="1793" y="1209"/>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89" name="Group 212"/>
              <p:cNvGrpSpPr/>
              <p:nvPr/>
            </p:nvGrpSpPr>
            <p:grpSpPr bwMode="auto">
              <a:xfrm>
                <a:off x="1184" y="336"/>
                <a:ext cx="976" cy="360"/>
                <a:chOff x="1184" y="336"/>
                <a:chExt cx="976" cy="360"/>
              </a:xfrm>
            </p:grpSpPr>
            <p:sp>
              <p:nvSpPr>
                <p:cNvPr id="13401" name="Line 213"/>
                <p:cNvSpPr>
                  <a:spLocks noChangeShapeType="1"/>
                </p:cNvSpPr>
                <p:nvPr/>
              </p:nvSpPr>
              <p:spPr bwMode="auto">
                <a:xfrm flipV="1">
                  <a:off x="1784" y="336"/>
                  <a:ext cx="64" cy="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2" name="Line 214"/>
                <p:cNvSpPr>
                  <a:spLocks noChangeShapeType="1"/>
                </p:cNvSpPr>
                <p:nvPr/>
              </p:nvSpPr>
              <p:spPr bwMode="auto">
                <a:xfrm flipV="1">
                  <a:off x="1184" y="540"/>
                  <a:ext cx="112" cy="1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3" name="Line 215"/>
                <p:cNvSpPr>
                  <a:spLocks noChangeShapeType="1"/>
                </p:cNvSpPr>
                <p:nvPr/>
              </p:nvSpPr>
              <p:spPr bwMode="auto">
                <a:xfrm flipV="1">
                  <a:off x="1260"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4" name="Line 216"/>
                <p:cNvSpPr>
                  <a:spLocks noChangeShapeType="1"/>
                </p:cNvSpPr>
                <p:nvPr/>
              </p:nvSpPr>
              <p:spPr bwMode="auto">
                <a:xfrm flipV="1">
                  <a:off x="1375"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5" name="Line 217"/>
                <p:cNvSpPr>
                  <a:spLocks noChangeShapeType="1"/>
                </p:cNvSpPr>
                <p:nvPr/>
              </p:nvSpPr>
              <p:spPr bwMode="auto">
                <a:xfrm flipV="1">
                  <a:off x="1487" y="540"/>
                  <a:ext cx="156" cy="15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6" name="Line 218"/>
                <p:cNvSpPr>
                  <a:spLocks noChangeShapeType="1"/>
                </p:cNvSpPr>
                <p:nvPr/>
              </p:nvSpPr>
              <p:spPr bwMode="auto">
                <a:xfrm flipV="1">
                  <a:off x="1606"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7" name="Line 219"/>
                <p:cNvSpPr>
                  <a:spLocks noChangeShapeType="1"/>
                </p:cNvSpPr>
                <p:nvPr/>
              </p:nvSpPr>
              <p:spPr bwMode="auto">
                <a:xfrm flipV="1">
                  <a:off x="1722" y="508"/>
                  <a:ext cx="184" cy="1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8" name="Line 220"/>
                <p:cNvSpPr>
                  <a:spLocks noChangeShapeType="1"/>
                </p:cNvSpPr>
                <p:nvPr/>
              </p:nvSpPr>
              <p:spPr bwMode="auto">
                <a:xfrm flipV="1">
                  <a:off x="1837"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9" name="Line 221"/>
                <p:cNvSpPr>
                  <a:spLocks noChangeShapeType="1"/>
                </p:cNvSpPr>
                <p:nvPr/>
              </p:nvSpPr>
              <p:spPr bwMode="auto">
                <a:xfrm flipV="1">
                  <a:off x="1952" y="540"/>
                  <a:ext cx="152" cy="15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0" name="Line 222"/>
                <p:cNvSpPr>
                  <a:spLocks noChangeShapeType="1"/>
                </p:cNvSpPr>
                <p:nvPr/>
              </p:nvSpPr>
              <p:spPr bwMode="auto">
                <a:xfrm flipV="1">
                  <a:off x="2060" y="592"/>
                  <a:ext cx="100" cy="1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11" name="Line 223"/>
                <p:cNvSpPr>
                  <a:spLocks noChangeShapeType="1"/>
                </p:cNvSpPr>
                <p:nvPr/>
              </p:nvSpPr>
              <p:spPr bwMode="auto">
                <a:xfrm flipV="1">
                  <a:off x="1908" y="352"/>
                  <a:ext cx="36" cy="3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90" name="Group 224"/>
              <p:cNvGrpSpPr/>
              <p:nvPr/>
            </p:nvGrpSpPr>
            <p:grpSpPr bwMode="auto">
              <a:xfrm>
                <a:off x="1176" y="1008"/>
                <a:ext cx="984" cy="360"/>
                <a:chOff x="1176" y="1008"/>
                <a:chExt cx="984" cy="360"/>
              </a:xfrm>
            </p:grpSpPr>
            <p:sp>
              <p:nvSpPr>
                <p:cNvPr id="13391" name="Line 225"/>
                <p:cNvSpPr>
                  <a:spLocks noChangeShapeType="1"/>
                </p:cNvSpPr>
                <p:nvPr/>
              </p:nvSpPr>
              <p:spPr bwMode="auto">
                <a:xfrm flipV="1">
                  <a:off x="1176" y="1008"/>
                  <a:ext cx="112" cy="11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2" name="Line 226"/>
                <p:cNvSpPr>
                  <a:spLocks noChangeShapeType="1"/>
                </p:cNvSpPr>
                <p:nvPr/>
              </p:nvSpPr>
              <p:spPr bwMode="auto">
                <a:xfrm flipV="1">
                  <a:off x="1256"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3" name="Line 227"/>
                <p:cNvSpPr>
                  <a:spLocks noChangeShapeType="1"/>
                </p:cNvSpPr>
                <p:nvPr/>
              </p:nvSpPr>
              <p:spPr bwMode="auto">
                <a:xfrm flipV="1">
                  <a:off x="1371"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4" name="Line 228"/>
                <p:cNvSpPr>
                  <a:spLocks noChangeShapeType="1"/>
                </p:cNvSpPr>
                <p:nvPr/>
              </p:nvSpPr>
              <p:spPr bwMode="auto">
                <a:xfrm flipV="1">
                  <a:off x="1487"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5" name="Line 229"/>
                <p:cNvSpPr>
                  <a:spLocks noChangeShapeType="1"/>
                </p:cNvSpPr>
                <p:nvPr/>
              </p:nvSpPr>
              <p:spPr bwMode="auto">
                <a:xfrm flipV="1">
                  <a:off x="1602"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6" name="Line 230"/>
                <p:cNvSpPr>
                  <a:spLocks noChangeShapeType="1"/>
                </p:cNvSpPr>
                <p:nvPr/>
              </p:nvSpPr>
              <p:spPr bwMode="auto">
                <a:xfrm flipV="1">
                  <a:off x="1718" y="1008"/>
                  <a:ext cx="148" cy="1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7" name="Line 231"/>
                <p:cNvSpPr>
                  <a:spLocks noChangeShapeType="1"/>
                </p:cNvSpPr>
                <p:nvPr/>
              </p:nvSpPr>
              <p:spPr bwMode="auto">
                <a:xfrm flipV="1">
                  <a:off x="1797" y="1008"/>
                  <a:ext cx="184" cy="18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8" name="Line 232"/>
                <p:cNvSpPr>
                  <a:spLocks noChangeShapeType="1"/>
                </p:cNvSpPr>
                <p:nvPr/>
              </p:nvSpPr>
              <p:spPr bwMode="auto">
                <a:xfrm flipV="1">
                  <a:off x="1904" y="1008"/>
                  <a:ext cx="192" cy="19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9" name="Line 233"/>
                <p:cNvSpPr>
                  <a:spLocks noChangeShapeType="1"/>
                </p:cNvSpPr>
                <p:nvPr/>
              </p:nvSpPr>
              <p:spPr bwMode="auto">
                <a:xfrm flipV="1">
                  <a:off x="2052" y="1052"/>
                  <a:ext cx="108" cy="10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00" name="Line 234"/>
                <p:cNvSpPr>
                  <a:spLocks noChangeShapeType="1"/>
                </p:cNvSpPr>
                <p:nvPr/>
              </p:nvSpPr>
              <p:spPr bwMode="auto">
                <a:xfrm flipH="1">
                  <a:off x="1844" y="1320"/>
                  <a:ext cx="48" cy="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3368" name="Line 237"/>
            <p:cNvSpPr>
              <a:spLocks noChangeShapeType="1"/>
            </p:cNvSpPr>
            <p:nvPr/>
          </p:nvSpPr>
          <p:spPr bwMode="auto">
            <a:xfrm>
              <a:off x="3977" y="547"/>
              <a:ext cx="32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9" name="Line 238"/>
            <p:cNvSpPr>
              <a:spLocks noChangeShapeType="1"/>
            </p:cNvSpPr>
            <p:nvPr/>
          </p:nvSpPr>
          <p:spPr bwMode="auto">
            <a:xfrm>
              <a:off x="3971" y="1010"/>
              <a:ext cx="319"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370" name="Group 260"/>
            <p:cNvGrpSpPr/>
            <p:nvPr/>
          </p:nvGrpSpPr>
          <p:grpSpPr bwMode="auto">
            <a:xfrm>
              <a:off x="4103" y="178"/>
              <a:ext cx="853" cy="369"/>
              <a:chOff x="2540" y="790"/>
              <a:chExt cx="853" cy="369"/>
            </a:xfrm>
          </p:grpSpPr>
          <p:grpSp>
            <p:nvGrpSpPr>
              <p:cNvPr id="13380" name="Group 261"/>
              <p:cNvGrpSpPr/>
              <p:nvPr/>
            </p:nvGrpSpPr>
            <p:grpSpPr bwMode="auto">
              <a:xfrm>
                <a:off x="2540" y="833"/>
                <a:ext cx="840" cy="326"/>
                <a:chOff x="2540" y="833"/>
                <a:chExt cx="840" cy="326"/>
              </a:xfrm>
            </p:grpSpPr>
            <p:grpSp>
              <p:nvGrpSpPr>
                <p:cNvPr id="13382" name="Group 262"/>
                <p:cNvGrpSpPr/>
                <p:nvPr/>
              </p:nvGrpSpPr>
              <p:grpSpPr bwMode="auto">
                <a:xfrm>
                  <a:off x="2540" y="833"/>
                  <a:ext cx="282" cy="326"/>
                  <a:chOff x="2028" y="889"/>
                  <a:chExt cx="282" cy="326"/>
                </a:xfrm>
              </p:grpSpPr>
              <p:grpSp>
                <p:nvGrpSpPr>
                  <p:cNvPr id="13384" name="Group 263"/>
                  <p:cNvGrpSpPr/>
                  <p:nvPr/>
                </p:nvGrpSpPr>
                <p:grpSpPr bwMode="auto">
                  <a:xfrm>
                    <a:off x="2033" y="889"/>
                    <a:ext cx="277" cy="326"/>
                    <a:chOff x="2033" y="889"/>
                    <a:chExt cx="277" cy="326"/>
                  </a:xfrm>
                </p:grpSpPr>
                <p:sp>
                  <p:nvSpPr>
                    <p:cNvPr id="13386" name="Line 264"/>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7" name="Line 265"/>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85" name="Line 266"/>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83" name="Line 267"/>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81" name="Text Box 268"/>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a:t>
                </a:r>
                <a:r>
                  <a:rPr lang="en-US" altLang="zh-CN" b="1"/>
                  <a:t> 6.3</a:t>
                </a:r>
                <a:endParaRPr lang="en-US" altLang="zh-CN" b="1"/>
              </a:p>
            </p:txBody>
          </p:sp>
        </p:grpSp>
        <p:grpSp>
          <p:nvGrpSpPr>
            <p:cNvPr id="13371" name="Group 278"/>
            <p:cNvGrpSpPr/>
            <p:nvPr/>
          </p:nvGrpSpPr>
          <p:grpSpPr bwMode="auto">
            <a:xfrm>
              <a:off x="4103" y="639"/>
              <a:ext cx="853" cy="369"/>
              <a:chOff x="2540" y="790"/>
              <a:chExt cx="853" cy="369"/>
            </a:xfrm>
          </p:grpSpPr>
          <p:grpSp>
            <p:nvGrpSpPr>
              <p:cNvPr id="13372" name="Group 279"/>
              <p:cNvGrpSpPr/>
              <p:nvPr/>
            </p:nvGrpSpPr>
            <p:grpSpPr bwMode="auto">
              <a:xfrm>
                <a:off x="2540" y="833"/>
                <a:ext cx="840" cy="326"/>
                <a:chOff x="2540" y="833"/>
                <a:chExt cx="840" cy="326"/>
              </a:xfrm>
            </p:grpSpPr>
            <p:grpSp>
              <p:nvGrpSpPr>
                <p:cNvPr id="13374" name="Group 280"/>
                <p:cNvGrpSpPr/>
                <p:nvPr/>
              </p:nvGrpSpPr>
              <p:grpSpPr bwMode="auto">
                <a:xfrm>
                  <a:off x="2540" y="833"/>
                  <a:ext cx="282" cy="326"/>
                  <a:chOff x="2028" y="889"/>
                  <a:chExt cx="282" cy="326"/>
                </a:xfrm>
              </p:grpSpPr>
              <p:grpSp>
                <p:nvGrpSpPr>
                  <p:cNvPr id="13376" name="Group 281"/>
                  <p:cNvGrpSpPr/>
                  <p:nvPr/>
                </p:nvGrpSpPr>
                <p:grpSpPr bwMode="auto">
                  <a:xfrm>
                    <a:off x="2033" y="889"/>
                    <a:ext cx="277" cy="326"/>
                    <a:chOff x="2033" y="889"/>
                    <a:chExt cx="277" cy="326"/>
                  </a:xfrm>
                </p:grpSpPr>
                <p:sp>
                  <p:nvSpPr>
                    <p:cNvPr id="13378" name="Line 282"/>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79" name="Line 283"/>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77" name="Line 284"/>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75" name="Line 285"/>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73" name="Text Box 286"/>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 </a:t>
                </a:r>
                <a:r>
                  <a:rPr lang="en-US" altLang="zh-CN" b="1"/>
                  <a:t>1.6</a:t>
                </a:r>
                <a:endParaRPr lang="en-US" altLang="zh-CN" b="1"/>
              </a:p>
            </p:txBody>
          </p:sp>
        </p:grpSp>
      </p:grpSp>
      <p:grpSp>
        <p:nvGrpSpPr>
          <p:cNvPr id="15688" name="Group 328"/>
          <p:cNvGrpSpPr/>
          <p:nvPr/>
        </p:nvGrpSpPr>
        <p:grpSpPr bwMode="auto">
          <a:xfrm>
            <a:off x="1384300" y="2251075"/>
            <a:ext cx="2617788" cy="701675"/>
            <a:chOff x="1636" y="1300"/>
            <a:chExt cx="1649" cy="442"/>
          </a:xfrm>
        </p:grpSpPr>
        <p:grpSp>
          <p:nvGrpSpPr>
            <p:cNvPr id="13353" name="Group 240"/>
            <p:cNvGrpSpPr/>
            <p:nvPr/>
          </p:nvGrpSpPr>
          <p:grpSpPr bwMode="auto">
            <a:xfrm>
              <a:off x="1636" y="1309"/>
              <a:ext cx="874" cy="369"/>
              <a:chOff x="2540" y="790"/>
              <a:chExt cx="874" cy="369"/>
            </a:xfrm>
          </p:grpSpPr>
          <p:grpSp>
            <p:nvGrpSpPr>
              <p:cNvPr id="13359" name="Group 241"/>
              <p:cNvGrpSpPr/>
              <p:nvPr/>
            </p:nvGrpSpPr>
            <p:grpSpPr bwMode="auto">
              <a:xfrm>
                <a:off x="2540" y="833"/>
                <a:ext cx="840" cy="326"/>
                <a:chOff x="2540" y="833"/>
                <a:chExt cx="840" cy="326"/>
              </a:xfrm>
            </p:grpSpPr>
            <p:grpSp>
              <p:nvGrpSpPr>
                <p:cNvPr id="13361" name="Group 242"/>
                <p:cNvGrpSpPr/>
                <p:nvPr/>
              </p:nvGrpSpPr>
              <p:grpSpPr bwMode="auto">
                <a:xfrm>
                  <a:off x="2540" y="833"/>
                  <a:ext cx="282" cy="326"/>
                  <a:chOff x="2028" y="889"/>
                  <a:chExt cx="282" cy="326"/>
                </a:xfrm>
              </p:grpSpPr>
              <p:grpSp>
                <p:nvGrpSpPr>
                  <p:cNvPr id="13363" name="Group 243"/>
                  <p:cNvGrpSpPr/>
                  <p:nvPr/>
                </p:nvGrpSpPr>
                <p:grpSpPr bwMode="auto">
                  <a:xfrm>
                    <a:off x="2033" y="889"/>
                    <a:ext cx="277" cy="326"/>
                    <a:chOff x="2033" y="889"/>
                    <a:chExt cx="277" cy="326"/>
                  </a:xfrm>
                </p:grpSpPr>
                <p:sp>
                  <p:nvSpPr>
                    <p:cNvPr id="13365" name="Line 244"/>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6" name="Line 245"/>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64" name="Line 246"/>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62" name="Line 247"/>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60" name="Text Box 248"/>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nvGrpSpPr>
            <p:cNvPr id="13354" name="Group 317"/>
            <p:cNvGrpSpPr/>
            <p:nvPr/>
          </p:nvGrpSpPr>
          <p:grpSpPr bwMode="auto">
            <a:xfrm>
              <a:off x="2671" y="1333"/>
              <a:ext cx="277" cy="326"/>
              <a:chOff x="2033" y="889"/>
              <a:chExt cx="277" cy="326"/>
            </a:xfrm>
          </p:grpSpPr>
          <p:sp>
            <p:nvSpPr>
              <p:cNvPr id="13357" name="Line 318"/>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8" name="Line 319"/>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55" name="Text Box 323"/>
            <p:cNvSpPr txBox="1">
              <a:spLocks noChangeArrowheads="1"/>
            </p:cNvSpPr>
            <p:nvPr/>
          </p:nvSpPr>
          <p:spPr bwMode="auto">
            <a:xfrm>
              <a:off x="2340" y="1300"/>
              <a:ext cx="4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4000"/>
                <a:t>（</a:t>
              </a:r>
              <a:endParaRPr lang="zh-CN" altLang="en-US" sz="4000"/>
            </a:p>
          </p:txBody>
        </p:sp>
        <p:sp>
          <p:nvSpPr>
            <p:cNvPr id="13356" name="Text Box 324"/>
            <p:cNvSpPr txBox="1">
              <a:spLocks noChangeArrowheads="1"/>
            </p:cNvSpPr>
            <p:nvPr/>
          </p:nvSpPr>
          <p:spPr bwMode="auto">
            <a:xfrm>
              <a:off x="2849" y="1300"/>
              <a:ext cx="4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4000"/>
                <a:t>）</a:t>
              </a:r>
              <a:endParaRPr lang="zh-CN" altLang="en-US" sz="4000"/>
            </a:p>
          </p:txBody>
        </p:sp>
      </p:grpSp>
      <p:grpSp>
        <p:nvGrpSpPr>
          <p:cNvPr id="15689" name="Group 329"/>
          <p:cNvGrpSpPr/>
          <p:nvPr/>
        </p:nvGrpSpPr>
        <p:grpSpPr bwMode="auto">
          <a:xfrm>
            <a:off x="4564063" y="2251075"/>
            <a:ext cx="4579937" cy="709613"/>
            <a:chOff x="2947" y="1285"/>
            <a:chExt cx="2885" cy="447"/>
          </a:xfrm>
        </p:grpSpPr>
        <p:grpSp>
          <p:nvGrpSpPr>
            <p:cNvPr id="13324" name="Group 287"/>
            <p:cNvGrpSpPr/>
            <p:nvPr/>
          </p:nvGrpSpPr>
          <p:grpSpPr bwMode="auto">
            <a:xfrm>
              <a:off x="3857" y="1285"/>
              <a:ext cx="853" cy="369"/>
              <a:chOff x="2540" y="790"/>
              <a:chExt cx="853" cy="369"/>
            </a:xfrm>
          </p:grpSpPr>
          <p:grpSp>
            <p:nvGrpSpPr>
              <p:cNvPr id="13345" name="Group 288"/>
              <p:cNvGrpSpPr/>
              <p:nvPr/>
            </p:nvGrpSpPr>
            <p:grpSpPr bwMode="auto">
              <a:xfrm>
                <a:off x="2540" y="833"/>
                <a:ext cx="840" cy="326"/>
                <a:chOff x="2540" y="833"/>
                <a:chExt cx="840" cy="326"/>
              </a:xfrm>
            </p:grpSpPr>
            <p:grpSp>
              <p:nvGrpSpPr>
                <p:cNvPr id="13347" name="Group 289"/>
                <p:cNvGrpSpPr/>
                <p:nvPr/>
              </p:nvGrpSpPr>
              <p:grpSpPr bwMode="auto">
                <a:xfrm>
                  <a:off x="2540" y="833"/>
                  <a:ext cx="282" cy="326"/>
                  <a:chOff x="2028" y="889"/>
                  <a:chExt cx="282" cy="326"/>
                </a:xfrm>
              </p:grpSpPr>
              <p:grpSp>
                <p:nvGrpSpPr>
                  <p:cNvPr id="13349" name="Group 290"/>
                  <p:cNvGrpSpPr/>
                  <p:nvPr/>
                </p:nvGrpSpPr>
                <p:grpSpPr bwMode="auto">
                  <a:xfrm>
                    <a:off x="2033" y="889"/>
                    <a:ext cx="277" cy="326"/>
                    <a:chOff x="2033" y="889"/>
                    <a:chExt cx="277" cy="326"/>
                  </a:xfrm>
                </p:grpSpPr>
                <p:sp>
                  <p:nvSpPr>
                    <p:cNvPr id="13351" name="Line 291"/>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2" name="Line 292"/>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50" name="Line 293"/>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48" name="Line 294"/>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46" name="Text Box 295"/>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 </a:t>
                </a:r>
                <a:r>
                  <a:rPr lang="en-US" altLang="zh-CN" b="1"/>
                  <a:t>1.6</a:t>
                </a:r>
                <a:endParaRPr lang="en-US" altLang="zh-CN" b="1"/>
              </a:p>
            </p:txBody>
          </p:sp>
        </p:grpSp>
        <p:grpSp>
          <p:nvGrpSpPr>
            <p:cNvPr id="13325" name="Group 296"/>
            <p:cNvGrpSpPr/>
            <p:nvPr/>
          </p:nvGrpSpPr>
          <p:grpSpPr bwMode="auto">
            <a:xfrm>
              <a:off x="4679" y="1288"/>
              <a:ext cx="853" cy="369"/>
              <a:chOff x="2540" y="790"/>
              <a:chExt cx="853" cy="369"/>
            </a:xfrm>
          </p:grpSpPr>
          <p:grpSp>
            <p:nvGrpSpPr>
              <p:cNvPr id="13337" name="Group 297"/>
              <p:cNvGrpSpPr/>
              <p:nvPr/>
            </p:nvGrpSpPr>
            <p:grpSpPr bwMode="auto">
              <a:xfrm>
                <a:off x="2540" y="833"/>
                <a:ext cx="840" cy="326"/>
                <a:chOff x="2540" y="833"/>
                <a:chExt cx="840" cy="326"/>
              </a:xfrm>
            </p:grpSpPr>
            <p:grpSp>
              <p:nvGrpSpPr>
                <p:cNvPr id="13339" name="Group 298"/>
                <p:cNvGrpSpPr/>
                <p:nvPr/>
              </p:nvGrpSpPr>
              <p:grpSpPr bwMode="auto">
                <a:xfrm>
                  <a:off x="2540" y="833"/>
                  <a:ext cx="282" cy="326"/>
                  <a:chOff x="2028" y="889"/>
                  <a:chExt cx="282" cy="326"/>
                </a:xfrm>
              </p:grpSpPr>
              <p:grpSp>
                <p:nvGrpSpPr>
                  <p:cNvPr id="13341" name="Group 299"/>
                  <p:cNvGrpSpPr/>
                  <p:nvPr/>
                </p:nvGrpSpPr>
                <p:grpSpPr bwMode="auto">
                  <a:xfrm>
                    <a:off x="2033" y="889"/>
                    <a:ext cx="277" cy="326"/>
                    <a:chOff x="2033" y="889"/>
                    <a:chExt cx="277" cy="326"/>
                  </a:xfrm>
                </p:grpSpPr>
                <p:sp>
                  <p:nvSpPr>
                    <p:cNvPr id="13343" name="Line 300"/>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4" name="Line 301"/>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42" name="Line 302"/>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40" name="Line 303"/>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38" name="Text Box 304"/>
              <p:cNvSpPr txBox="1">
                <a:spLocks noChangeArrowheads="1"/>
              </p:cNvSpPr>
              <p:nvPr/>
            </p:nvSpPr>
            <p:spPr bwMode="auto">
              <a:xfrm>
                <a:off x="2786" y="790"/>
                <a:ext cx="6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Rz</a:t>
                </a:r>
                <a:r>
                  <a:rPr lang="en-US" altLang="zh-CN" b="1"/>
                  <a:t> 6.3</a:t>
                </a:r>
                <a:endParaRPr lang="en-US" altLang="zh-CN" b="1"/>
              </a:p>
            </p:txBody>
          </p:sp>
        </p:grpSp>
        <p:grpSp>
          <p:nvGrpSpPr>
            <p:cNvPr id="13326" name="Group 305"/>
            <p:cNvGrpSpPr/>
            <p:nvPr/>
          </p:nvGrpSpPr>
          <p:grpSpPr bwMode="auto">
            <a:xfrm>
              <a:off x="2947" y="1293"/>
              <a:ext cx="874" cy="369"/>
              <a:chOff x="2540" y="790"/>
              <a:chExt cx="874" cy="369"/>
            </a:xfrm>
          </p:grpSpPr>
          <p:grpSp>
            <p:nvGrpSpPr>
              <p:cNvPr id="13329" name="Group 306"/>
              <p:cNvGrpSpPr/>
              <p:nvPr/>
            </p:nvGrpSpPr>
            <p:grpSpPr bwMode="auto">
              <a:xfrm>
                <a:off x="2540" y="833"/>
                <a:ext cx="840" cy="326"/>
                <a:chOff x="2540" y="833"/>
                <a:chExt cx="840" cy="326"/>
              </a:xfrm>
            </p:grpSpPr>
            <p:grpSp>
              <p:nvGrpSpPr>
                <p:cNvPr id="13331" name="Group 307"/>
                <p:cNvGrpSpPr/>
                <p:nvPr/>
              </p:nvGrpSpPr>
              <p:grpSpPr bwMode="auto">
                <a:xfrm>
                  <a:off x="2540" y="833"/>
                  <a:ext cx="282" cy="326"/>
                  <a:chOff x="2028" y="889"/>
                  <a:chExt cx="282" cy="326"/>
                </a:xfrm>
              </p:grpSpPr>
              <p:grpSp>
                <p:nvGrpSpPr>
                  <p:cNvPr id="13333" name="Group 308"/>
                  <p:cNvGrpSpPr/>
                  <p:nvPr/>
                </p:nvGrpSpPr>
                <p:grpSpPr bwMode="auto">
                  <a:xfrm>
                    <a:off x="2033" y="889"/>
                    <a:ext cx="277" cy="326"/>
                    <a:chOff x="2033" y="889"/>
                    <a:chExt cx="277" cy="326"/>
                  </a:xfrm>
                </p:grpSpPr>
                <p:sp>
                  <p:nvSpPr>
                    <p:cNvPr id="13335" name="Line 309"/>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6" name="Line 310"/>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34" name="Line 311"/>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32" name="Line 312"/>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30" name="Text Box 313"/>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sp>
          <p:nvSpPr>
            <p:cNvPr id="13327" name="Text Box 325"/>
            <p:cNvSpPr txBox="1">
              <a:spLocks noChangeArrowheads="1"/>
            </p:cNvSpPr>
            <p:nvPr/>
          </p:nvSpPr>
          <p:spPr bwMode="auto">
            <a:xfrm>
              <a:off x="3533" y="1290"/>
              <a:ext cx="4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4000"/>
                <a:t>（</a:t>
              </a:r>
              <a:endParaRPr lang="zh-CN" altLang="en-US" sz="4000"/>
            </a:p>
          </p:txBody>
        </p:sp>
        <p:sp>
          <p:nvSpPr>
            <p:cNvPr id="13328" name="Text Box 326"/>
            <p:cNvSpPr txBox="1">
              <a:spLocks noChangeArrowheads="1"/>
            </p:cNvSpPr>
            <p:nvPr/>
          </p:nvSpPr>
          <p:spPr bwMode="auto">
            <a:xfrm>
              <a:off x="5396" y="1290"/>
              <a:ext cx="43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4000"/>
                <a:t>）</a:t>
              </a:r>
              <a:endParaRPr lang="zh-CN" altLang="en-US" sz="4000"/>
            </a:p>
          </p:txBody>
        </p:sp>
      </p:grpSp>
      <p:sp>
        <p:nvSpPr>
          <p:cNvPr id="13322" name="Text Box 330"/>
          <p:cNvSpPr txBox="1">
            <a:spLocks noChangeArrowheads="1"/>
          </p:cNvSpPr>
          <p:nvPr/>
        </p:nvSpPr>
        <p:spPr bwMode="auto">
          <a:xfrm>
            <a:off x="727075" y="2074863"/>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a:t>(a)</a:t>
            </a:r>
            <a:endParaRPr lang="en-US" altLang="zh-CN"/>
          </a:p>
        </p:txBody>
      </p:sp>
      <p:sp>
        <p:nvSpPr>
          <p:cNvPr id="15691" name="Text Box 331"/>
          <p:cNvSpPr txBox="1">
            <a:spLocks noChangeArrowheads="1"/>
          </p:cNvSpPr>
          <p:nvPr/>
        </p:nvSpPr>
        <p:spPr bwMode="auto">
          <a:xfrm>
            <a:off x="4178300" y="2074863"/>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a:t>(b)</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5468"/>
                                        </p:tgtEl>
                                        <p:attrNameLst>
                                          <p:attrName>style.visibility</p:attrName>
                                        </p:attrNameLst>
                                      </p:cBhvr>
                                      <p:to>
                                        <p:strVal val="visible"/>
                                      </p:to>
                                    </p:set>
                                    <p:animEffect transition="in" filter="blinds(vertical)">
                                      <p:cBhvr>
                                        <p:cTn id="7" dur="500"/>
                                        <p:tgtEl>
                                          <p:spTgt spid="1546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5471"/>
                                        </p:tgtEl>
                                        <p:attrNameLst>
                                          <p:attrName>style.visibility</p:attrName>
                                        </p:attrNameLst>
                                      </p:cBhvr>
                                      <p:to>
                                        <p:strVal val="visible"/>
                                      </p:to>
                                    </p:set>
                                    <p:animEffect transition="in" filter="barn(outVertical)">
                                      <p:cBhvr>
                                        <p:cTn id="12" dur="500"/>
                                        <p:tgtEl>
                                          <p:spTgt spid="1547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688"/>
                                        </p:tgtEl>
                                        <p:attrNameLst>
                                          <p:attrName>style.visibility</p:attrName>
                                        </p:attrNameLst>
                                      </p:cBhvr>
                                      <p:to>
                                        <p:strVal val="visible"/>
                                      </p:to>
                                    </p:set>
                                    <p:animEffect transition="in" filter="dissolve">
                                      <p:cBhvr>
                                        <p:cTn id="17" dur="500"/>
                                        <p:tgtEl>
                                          <p:spTgt spid="1568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15472"/>
                                        </p:tgtEl>
                                        <p:attrNameLst>
                                          <p:attrName>style.visibility</p:attrName>
                                        </p:attrNameLst>
                                      </p:cBhvr>
                                      <p:to>
                                        <p:strVal val="visible"/>
                                      </p:to>
                                    </p:set>
                                    <p:animEffect transition="in" filter="barn(outVertical)">
                                      <p:cBhvr>
                                        <p:cTn id="22" dur="500"/>
                                        <p:tgtEl>
                                          <p:spTgt spid="1547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5693"/>
                                        </p:tgtEl>
                                        <p:attrNameLst>
                                          <p:attrName>style.visibility</p:attrName>
                                        </p:attrNameLst>
                                      </p:cBhvr>
                                      <p:to>
                                        <p:strVal val="visible"/>
                                      </p:to>
                                    </p:set>
                                    <p:animEffect transition="in" filter="dissolve">
                                      <p:cBhvr>
                                        <p:cTn id="27" dur="500"/>
                                        <p:tgtEl>
                                          <p:spTgt spid="15693"/>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15691"/>
                                        </p:tgtEl>
                                        <p:attrNameLst>
                                          <p:attrName>style.visibility</p:attrName>
                                        </p:attrNameLst>
                                      </p:cBhvr>
                                      <p:to>
                                        <p:strVal val="visible"/>
                                      </p:to>
                                    </p:set>
                                    <p:animEffect transition="in" filter="dissolve">
                                      <p:cBhvr>
                                        <p:cTn id="31" dur="500"/>
                                        <p:tgtEl>
                                          <p:spTgt spid="15691"/>
                                        </p:tgtEl>
                                      </p:cBhvr>
                                    </p:animEffect>
                                  </p:childTnLst>
                                </p:cTn>
                              </p:par>
                            </p:childTnLst>
                          </p:cTn>
                        </p:par>
                        <p:par>
                          <p:cTn id="32" fill="hold">
                            <p:stCondLst>
                              <p:cond delay="1000"/>
                            </p:stCondLst>
                            <p:childTnLst>
                              <p:par>
                                <p:cTn id="33" presetID="16" presetClass="entr" presetSubtype="21" fill="hold" nodeType="afterEffect">
                                  <p:stCondLst>
                                    <p:cond delay="0"/>
                                  </p:stCondLst>
                                  <p:childTnLst>
                                    <p:set>
                                      <p:cBhvr>
                                        <p:cTn id="34" dur="1" fill="hold">
                                          <p:stCondLst>
                                            <p:cond delay="0"/>
                                          </p:stCondLst>
                                        </p:cTn>
                                        <p:tgtEl>
                                          <p:spTgt spid="15689"/>
                                        </p:tgtEl>
                                        <p:attrNameLst>
                                          <p:attrName>style.visibility</p:attrName>
                                        </p:attrNameLst>
                                      </p:cBhvr>
                                      <p:to>
                                        <p:strVal val="visible"/>
                                      </p:to>
                                    </p:set>
                                    <p:animEffect transition="in" filter="barn(inVertical)">
                                      <p:cBhvr>
                                        <p:cTn id="35" dur="500"/>
                                        <p:tgtEl>
                                          <p:spTgt spid="1568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37" fill="hold" grpId="0" nodeType="clickEffect">
                                  <p:stCondLst>
                                    <p:cond delay="0"/>
                                  </p:stCondLst>
                                  <p:childTnLst>
                                    <p:set>
                                      <p:cBhvr>
                                        <p:cTn id="39" dur="1" fill="hold">
                                          <p:stCondLst>
                                            <p:cond delay="0"/>
                                          </p:stCondLst>
                                        </p:cTn>
                                        <p:tgtEl>
                                          <p:spTgt spid="15474"/>
                                        </p:tgtEl>
                                        <p:attrNameLst>
                                          <p:attrName>style.visibility</p:attrName>
                                        </p:attrNameLst>
                                      </p:cBhvr>
                                      <p:to>
                                        <p:strVal val="visible"/>
                                      </p:to>
                                    </p:set>
                                    <p:animEffect transition="in" filter="barn(outVertical)">
                                      <p:cBhvr>
                                        <p:cTn id="40" dur="500"/>
                                        <p:tgtEl>
                                          <p:spTgt spid="15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8" grpId="0" autoUpdateAnimBg="0"/>
      <p:bldP spid="15471" grpId="0" autoUpdateAnimBg="0"/>
      <p:bldP spid="15472" grpId="0" autoUpdateAnimBg="0"/>
      <p:bldP spid="15474" grpId="0" autoUpdateAnimBg="0"/>
      <p:bldP spid="1569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381000" y="31750"/>
            <a:ext cx="836930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多个表面具有相同的表面粗糙度要求或图样空间</a:t>
            </a:r>
            <a:endParaRPr lang="zh-CN" altLang="en-US" sz="2800" b="1">
              <a:latin typeface="宋体" panose="02010600030101010101" pitchFamily="2" charset="-122"/>
            </a:endParaRPr>
          </a:p>
          <a:p>
            <a:pPr algn="l"/>
            <a:r>
              <a:rPr lang="zh-CN" altLang="en-US" sz="2800" b="1">
                <a:latin typeface="宋体" panose="02010600030101010101" pitchFamily="2" charset="-122"/>
              </a:rPr>
              <a:t>   有限时，可采用</a:t>
            </a:r>
            <a:r>
              <a:rPr lang="zh-CN" altLang="en-US" sz="2800" b="1">
                <a:solidFill>
                  <a:srgbClr val="FF3300"/>
                </a:solidFill>
                <a:latin typeface="宋体" panose="02010600030101010101" pitchFamily="2" charset="-122"/>
              </a:rPr>
              <a:t>简化注法</a:t>
            </a:r>
            <a:r>
              <a:rPr lang="zh-CN" altLang="en-US" sz="2800" b="1">
                <a:latin typeface="宋体" panose="02010600030101010101" pitchFamily="2" charset="-122"/>
              </a:rPr>
              <a:t>。</a:t>
            </a:r>
            <a:endParaRPr lang="zh-CN" altLang="en-US" sz="2800" b="1">
              <a:latin typeface="宋体" panose="02010600030101010101" pitchFamily="2" charset="-122"/>
            </a:endParaRPr>
          </a:p>
        </p:txBody>
      </p:sp>
      <p:sp>
        <p:nvSpPr>
          <p:cNvPr id="60420" name="Text Box 4"/>
          <p:cNvSpPr txBox="1">
            <a:spLocks noChangeArrowheads="1"/>
          </p:cNvSpPr>
          <p:nvPr/>
        </p:nvSpPr>
        <p:spPr bwMode="auto">
          <a:xfrm>
            <a:off x="381000" y="925513"/>
            <a:ext cx="8358188"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⑴ </a:t>
            </a:r>
            <a:r>
              <a:rPr lang="zh-CN" altLang="en-US" sz="2800" b="1"/>
              <a:t>用带字母的完整符号，以等式的形式，在</a:t>
            </a:r>
            <a:r>
              <a:rPr lang="zh-CN" altLang="en-US" sz="2800" b="1">
                <a:solidFill>
                  <a:srgbClr val="FF3300"/>
                </a:solidFill>
              </a:rPr>
              <a:t>图形或</a:t>
            </a:r>
            <a:endParaRPr lang="zh-CN" altLang="en-US" sz="2800" b="1">
              <a:solidFill>
                <a:srgbClr val="FF3300"/>
              </a:solidFill>
            </a:endParaRPr>
          </a:p>
          <a:p>
            <a:pPr algn="l" eaLnBrk="1" hangingPunct="1"/>
            <a:r>
              <a:rPr lang="zh-CN" altLang="en-US" sz="2800" b="1">
                <a:solidFill>
                  <a:srgbClr val="FF3300"/>
                </a:solidFill>
              </a:rPr>
              <a:t>     标题栏附近，</a:t>
            </a:r>
            <a:r>
              <a:rPr lang="zh-CN" altLang="en-US" sz="2800" b="1"/>
              <a:t>对有相</a:t>
            </a:r>
            <a:r>
              <a:rPr lang="zh-CN" altLang="en-US" sz="2800" b="1">
                <a:latin typeface="宋体" panose="02010600030101010101" pitchFamily="2" charset="-122"/>
              </a:rPr>
              <a:t>同表面粗糙度要求的表面进</a:t>
            </a:r>
            <a:endParaRPr lang="zh-CN" altLang="en-US" sz="2800" b="1">
              <a:latin typeface="宋体" panose="02010600030101010101" pitchFamily="2" charset="-122"/>
            </a:endParaRPr>
          </a:p>
          <a:p>
            <a:pPr algn="l" eaLnBrk="1" hangingPunct="1"/>
            <a:r>
              <a:rPr lang="zh-CN" altLang="en-US" sz="2800" b="1">
                <a:latin typeface="宋体" panose="02010600030101010101" pitchFamily="2" charset="-122"/>
              </a:rPr>
              <a:t>   行简化标注</a:t>
            </a:r>
            <a:r>
              <a:rPr lang="en-US" altLang="zh-CN" sz="2800" b="1">
                <a:latin typeface="宋体" panose="02010600030101010101" pitchFamily="2" charset="-122"/>
              </a:rPr>
              <a:t>(</a:t>
            </a:r>
            <a:r>
              <a:rPr lang="zh-CN" altLang="en-US" sz="2800" b="1">
                <a:latin typeface="宋体" panose="02010600030101010101" pitchFamily="2" charset="-122"/>
              </a:rPr>
              <a:t>图</a:t>
            </a:r>
            <a:r>
              <a:rPr lang="en-US" altLang="zh-CN" sz="2800" b="1">
                <a:latin typeface="宋体" panose="02010600030101010101" pitchFamily="2" charset="-122"/>
              </a:rPr>
              <a:t>(a)) </a:t>
            </a:r>
            <a:r>
              <a:rPr lang="zh-CN" altLang="en-US" sz="2800" b="1">
                <a:latin typeface="宋体" panose="02010600030101010101" pitchFamily="2" charset="-122"/>
              </a:rPr>
              <a:t>。</a:t>
            </a:r>
            <a:endParaRPr lang="zh-CN" altLang="en-US" sz="2800" b="1">
              <a:latin typeface="宋体" panose="02010600030101010101" pitchFamily="2" charset="-122"/>
            </a:endParaRPr>
          </a:p>
        </p:txBody>
      </p:sp>
      <p:sp>
        <p:nvSpPr>
          <p:cNvPr id="60421" name="Text Box 5"/>
          <p:cNvSpPr txBox="1">
            <a:spLocks noChangeArrowheads="1"/>
          </p:cNvSpPr>
          <p:nvPr/>
        </p:nvSpPr>
        <p:spPr bwMode="auto">
          <a:xfrm>
            <a:off x="381000" y="2279650"/>
            <a:ext cx="84947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⑵ </a:t>
            </a:r>
            <a:r>
              <a:rPr lang="zh-CN" altLang="en-US" sz="2800" b="1"/>
              <a:t>可用</a:t>
            </a:r>
            <a:r>
              <a:rPr lang="zh-CN" altLang="en-US" sz="2800" b="1">
                <a:latin typeface="宋体" panose="02010600030101010101" pitchFamily="2" charset="-122"/>
              </a:rPr>
              <a:t>表面粗糙度</a:t>
            </a:r>
            <a:r>
              <a:rPr lang="zh-CN" altLang="en-US" sz="2800" b="1"/>
              <a:t>符号，以等式的形式，给出</a:t>
            </a:r>
            <a:r>
              <a:rPr lang="zh-CN" altLang="en-US" sz="2800" b="1">
                <a:latin typeface="宋体" panose="02010600030101010101" pitchFamily="2" charset="-122"/>
              </a:rPr>
              <a:t>多个</a:t>
            </a:r>
            <a:endParaRPr lang="zh-CN" altLang="en-US" sz="2800" b="1">
              <a:latin typeface="宋体" panose="02010600030101010101" pitchFamily="2" charset="-122"/>
            </a:endParaRPr>
          </a:p>
          <a:p>
            <a:pPr algn="l" eaLnBrk="1" hangingPunct="1"/>
            <a:r>
              <a:rPr lang="zh-CN" altLang="en-US" sz="2800" b="1">
                <a:latin typeface="宋体" panose="02010600030101010101" pitchFamily="2" charset="-122"/>
              </a:rPr>
              <a:t>  表面共同的表面粗糙度要求</a:t>
            </a:r>
            <a:r>
              <a:rPr lang="en-US" altLang="zh-CN" sz="2800" b="1">
                <a:latin typeface="宋体" panose="02010600030101010101" pitchFamily="2" charset="-122"/>
              </a:rPr>
              <a:t>(</a:t>
            </a:r>
            <a:r>
              <a:rPr lang="zh-CN" altLang="en-US" sz="2800" b="1">
                <a:latin typeface="宋体" panose="02010600030101010101" pitchFamily="2" charset="-122"/>
              </a:rPr>
              <a:t>图</a:t>
            </a:r>
            <a:r>
              <a:rPr lang="en-US" altLang="zh-CN" sz="2800" b="1">
                <a:latin typeface="宋体" panose="02010600030101010101" pitchFamily="2" charset="-122"/>
              </a:rPr>
              <a:t>(b)</a:t>
            </a:r>
            <a:r>
              <a:rPr lang="zh-CN" altLang="en-US" sz="2800" b="1">
                <a:latin typeface="宋体" panose="02010600030101010101" pitchFamily="2" charset="-122"/>
              </a:rPr>
              <a:t>，</a:t>
            </a:r>
            <a:r>
              <a:rPr lang="en-US" altLang="zh-CN" sz="2800" b="1">
                <a:latin typeface="宋体" panose="02010600030101010101" pitchFamily="2" charset="-122"/>
              </a:rPr>
              <a:t>(c)</a:t>
            </a:r>
            <a:r>
              <a:rPr lang="zh-CN" altLang="en-US" sz="2800" b="1">
                <a:latin typeface="宋体" panose="02010600030101010101" pitchFamily="2" charset="-122"/>
              </a:rPr>
              <a:t>，</a:t>
            </a:r>
            <a:r>
              <a:rPr lang="en-US" altLang="zh-CN" sz="2800" b="1">
                <a:latin typeface="宋体" panose="02010600030101010101" pitchFamily="2" charset="-122"/>
              </a:rPr>
              <a:t>(d))</a:t>
            </a:r>
            <a:r>
              <a:rPr lang="zh-CN" altLang="en-US" sz="2800" b="1">
                <a:latin typeface="宋体" panose="02010600030101010101" pitchFamily="2" charset="-122"/>
              </a:rPr>
              <a:t>。</a:t>
            </a:r>
            <a:endParaRPr lang="zh-CN" altLang="en-US" sz="2800" b="1">
              <a:latin typeface="宋体" panose="02010600030101010101" pitchFamily="2" charset="-122"/>
            </a:endParaRPr>
          </a:p>
        </p:txBody>
      </p:sp>
      <p:grpSp>
        <p:nvGrpSpPr>
          <p:cNvPr id="60504" name="Group 88"/>
          <p:cNvGrpSpPr/>
          <p:nvPr/>
        </p:nvGrpSpPr>
        <p:grpSpPr bwMode="auto">
          <a:xfrm>
            <a:off x="1670050" y="3135313"/>
            <a:ext cx="1927225" cy="1366837"/>
            <a:chOff x="341" y="142"/>
            <a:chExt cx="1214" cy="861"/>
          </a:xfrm>
        </p:grpSpPr>
        <p:grpSp>
          <p:nvGrpSpPr>
            <p:cNvPr id="14424" name="Group 48"/>
            <p:cNvGrpSpPr/>
            <p:nvPr/>
          </p:nvGrpSpPr>
          <p:grpSpPr bwMode="auto">
            <a:xfrm>
              <a:off x="746" y="565"/>
              <a:ext cx="809" cy="438"/>
              <a:chOff x="778" y="457"/>
              <a:chExt cx="809" cy="438"/>
            </a:xfrm>
          </p:grpSpPr>
          <p:grpSp>
            <p:nvGrpSpPr>
              <p:cNvPr id="14437" name="Group 11"/>
              <p:cNvGrpSpPr/>
              <p:nvPr/>
            </p:nvGrpSpPr>
            <p:grpSpPr bwMode="auto">
              <a:xfrm>
                <a:off x="789" y="463"/>
                <a:ext cx="791" cy="432"/>
                <a:chOff x="789" y="463"/>
                <a:chExt cx="791" cy="432"/>
              </a:xfrm>
            </p:grpSpPr>
            <p:sp>
              <p:nvSpPr>
                <p:cNvPr id="14446" name="Line 8"/>
                <p:cNvSpPr>
                  <a:spLocks noChangeShapeType="1"/>
                </p:cNvSpPr>
                <p:nvPr/>
              </p:nvSpPr>
              <p:spPr bwMode="auto">
                <a:xfrm>
                  <a:off x="789" y="463"/>
                  <a:ext cx="0" cy="4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7" name="Line 9"/>
                <p:cNvSpPr>
                  <a:spLocks noChangeShapeType="1"/>
                </p:cNvSpPr>
                <p:nvPr/>
              </p:nvSpPr>
              <p:spPr bwMode="auto">
                <a:xfrm>
                  <a:off x="789" y="463"/>
                  <a:ext cx="78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8" name="Line 10"/>
                <p:cNvSpPr>
                  <a:spLocks noChangeShapeType="1"/>
                </p:cNvSpPr>
                <p:nvPr/>
              </p:nvSpPr>
              <p:spPr bwMode="auto">
                <a:xfrm>
                  <a:off x="1580" y="463"/>
                  <a:ext cx="0" cy="4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438" name="Group 19"/>
              <p:cNvGrpSpPr/>
              <p:nvPr/>
            </p:nvGrpSpPr>
            <p:grpSpPr bwMode="auto">
              <a:xfrm>
                <a:off x="778" y="457"/>
                <a:ext cx="809" cy="432"/>
                <a:chOff x="778" y="457"/>
                <a:chExt cx="809" cy="432"/>
              </a:xfrm>
            </p:grpSpPr>
            <p:sp>
              <p:nvSpPr>
                <p:cNvPr id="14439" name="Line 12"/>
                <p:cNvSpPr>
                  <a:spLocks noChangeShapeType="1"/>
                </p:cNvSpPr>
                <p:nvPr/>
              </p:nvSpPr>
              <p:spPr bwMode="auto">
                <a:xfrm flipV="1">
                  <a:off x="778" y="457"/>
                  <a:ext cx="138" cy="1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0" name="Line 13"/>
                <p:cNvSpPr>
                  <a:spLocks noChangeShapeType="1"/>
                </p:cNvSpPr>
                <p:nvPr/>
              </p:nvSpPr>
              <p:spPr bwMode="auto">
                <a:xfrm flipV="1">
                  <a:off x="779" y="457"/>
                  <a:ext cx="294" cy="29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1" name="Line 14"/>
                <p:cNvSpPr>
                  <a:spLocks noChangeShapeType="1"/>
                </p:cNvSpPr>
                <p:nvPr/>
              </p:nvSpPr>
              <p:spPr bwMode="auto">
                <a:xfrm flipV="1">
                  <a:off x="806" y="457"/>
                  <a:ext cx="426" cy="4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2" name="Line 15"/>
                <p:cNvSpPr>
                  <a:spLocks noChangeShapeType="1"/>
                </p:cNvSpPr>
                <p:nvPr/>
              </p:nvSpPr>
              <p:spPr bwMode="auto">
                <a:xfrm flipV="1">
                  <a:off x="1456" y="770"/>
                  <a:ext cx="119" cy="1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3" name="Line 16"/>
                <p:cNvSpPr>
                  <a:spLocks noChangeShapeType="1"/>
                </p:cNvSpPr>
                <p:nvPr/>
              </p:nvSpPr>
              <p:spPr bwMode="auto">
                <a:xfrm flipV="1">
                  <a:off x="977" y="457"/>
                  <a:ext cx="426" cy="4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4" name="Line 17"/>
                <p:cNvSpPr>
                  <a:spLocks noChangeShapeType="1"/>
                </p:cNvSpPr>
                <p:nvPr/>
              </p:nvSpPr>
              <p:spPr bwMode="auto">
                <a:xfrm flipV="1">
                  <a:off x="1146" y="457"/>
                  <a:ext cx="426" cy="4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45" name="Line 18"/>
                <p:cNvSpPr>
                  <a:spLocks noChangeShapeType="1"/>
                </p:cNvSpPr>
                <p:nvPr/>
              </p:nvSpPr>
              <p:spPr bwMode="auto">
                <a:xfrm flipV="1">
                  <a:off x="1317" y="608"/>
                  <a:ext cx="270" cy="27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4425" name="Group 45"/>
            <p:cNvGrpSpPr/>
            <p:nvPr/>
          </p:nvGrpSpPr>
          <p:grpSpPr bwMode="auto">
            <a:xfrm rot="-5400000">
              <a:off x="329" y="510"/>
              <a:ext cx="439" cy="415"/>
              <a:chOff x="673" y="986"/>
              <a:chExt cx="439" cy="415"/>
            </a:xfrm>
          </p:grpSpPr>
          <p:grpSp>
            <p:nvGrpSpPr>
              <p:cNvPr id="14432" name="Group 30"/>
              <p:cNvGrpSpPr/>
              <p:nvPr/>
            </p:nvGrpSpPr>
            <p:grpSpPr bwMode="auto">
              <a:xfrm>
                <a:off x="673" y="1075"/>
                <a:ext cx="277" cy="326"/>
                <a:chOff x="2033" y="889"/>
                <a:chExt cx="277" cy="326"/>
              </a:xfrm>
            </p:grpSpPr>
            <p:sp>
              <p:nvSpPr>
                <p:cNvPr id="14435" name="Line 31"/>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6" name="Line 32"/>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33" name="Line 42"/>
              <p:cNvSpPr>
                <a:spLocks noChangeShapeType="1"/>
              </p:cNvSpPr>
              <p:nvPr/>
            </p:nvSpPr>
            <p:spPr bwMode="auto">
              <a:xfrm>
                <a:off x="944" y="1078"/>
                <a:ext cx="1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4" name="Text Box 44"/>
              <p:cNvSpPr txBox="1">
                <a:spLocks noChangeArrowheads="1"/>
              </p:cNvSpPr>
              <p:nvPr/>
            </p:nvSpPr>
            <p:spPr bwMode="auto">
              <a:xfrm>
                <a:off x="911" y="986"/>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y</a:t>
                </a:r>
                <a:endParaRPr lang="en-US" altLang="zh-CN" b="1" i="1"/>
              </a:p>
            </p:txBody>
          </p:sp>
        </p:grpSp>
        <p:grpSp>
          <p:nvGrpSpPr>
            <p:cNvPr id="14426" name="Group 47"/>
            <p:cNvGrpSpPr/>
            <p:nvPr/>
          </p:nvGrpSpPr>
          <p:grpSpPr bwMode="auto">
            <a:xfrm>
              <a:off x="1045" y="142"/>
              <a:ext cx="440" cy="417"/>
              <a:chOff x="1017" y="954"/>
              <a:chExt cx="440" cy="417"/>
            </a:xfrm>
          </p:grpSpPr>
          <p:grpSp>
            <p:nvGrpSpPr>
              <p:cNvPr id="14427" name="Group 36"/>
              <p:cNvGrpSpPr/>
              <p:nvPr/>
            </p:nvGrpSpPr>
            <p:grpSpPr bwMode="auto">
              <a:xfrm>
                <a:off x="1017" y="1045"/>
                <a:ext cx="277" cy="326"/>
                <a:chOff x="2033" y="889"/>
                <a:chExt cx="277" cy="326"/>
              </a:xfrm>
            </p:grpSpPr>
            <p:sp>
              <p:nvSpPr>
                <p:cNvPr id="14430" name="Line 37"/>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31" name="Line 38"/>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28" name="Line 43"/>
              <p:cNvSpPr>
                <a:spLocks noChangeShapeType="1"/>
              </p:cNvSpPr>
              <p:nvPr/>
            </p:nvSpPr>
            <p:spPr bwMode="auto">
              <a:xfrm>
                <a:off x="1292" y="1048"/>
                <a:ext cx="1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29" name="Text Box 46"/>
              <p:cNvSpPr txBox="1">
                <a:spLocks noChangeArrowheads="1"/>
              </p:cNvSpPr>
              <p:nvPr/>
            </p:nvSpPr>
            <p:spPr bwMode="auto">
              <a:xfrm>
                <a:off x="1266" y="954"/>
                <a:ext cx="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z</a:t>
                </a:r>
                <a:endParaRPr lang="en-US" altLang="zh-CN" b="1" i="1"/>
              </a:p>
            </p:txBody>
          </p:sp>
        </p:grpSp>
      </p:grpSp>
      <p:grpSp>
        <p:nvGrpSpPr>
          <p:cNvPr id="60498" name="Group 82"/>
          <p:cNvGrpSpPr/>
          <p:nvPr/>
        </p:nvGrpSpPr>
        <p:grpSpPr bwMode="auto">
          <a:xfrm>
            <a:off x="4322763" y="3332163"/>
            <a:ext cx="2738437" cy="869950"/>
            <a:chOff x="1865" y="326"/>
            <a:chExt cx="1725" cy="548"/>
          </a:xfrm>
        </p:grpSpPr>
        <p:grpSp>
          <p:nvGrpSpPr>
            <p:cNvPr id="14409" name="Group 49"/>
            <p:cNvGrpSpPr/>
            <p:nvPr/>
          </p:nvGrpSpPr>
          <p:grpSpPr bwMode="auto">
            <a:xfrm>
              <a:off x="1865" y="394"/>
              <a:ext cx="438" cy="413"/>
              <a:chOff x="669" y="982"/>
              <a:chExt cx="438" cy="413"/>
            </a:xfrm>
          </p:grpSpPr>
          <p:grpSp>
            <p:nvGrpSpPr>
              <p:cNvPr id="14419" name="Group 50"/>
              <p:cNvGrpSpPr/>
              <p:nvPr/>
            </p:nvGrpSpPr>
            <p:grpSpPr bwMode="auto">
              <a:xfrm>
                <a:off x="669" y="1069"/>
                <a:ext cx="277" cy="326"/>
                <a:chOff x="2033" y="889"/>
                <a:chExt cx="277" cy="326"/>
              </a:xfrm>
            </p:grpSpPr>
            <p:sp>
              <p:nvSpPr>
                <p:cNvPr id="14422" name="Line 51"/>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23" name="Line 52"/>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20" name="Line 53"/>
              <p:cNvSpPr>
                <a:spLocks noChangeShapeType="1"/>
              </p:cNvSpPr>
              <p:nvPr/>
            </p:nvSpPr>
            <p:spPr bwMode="auto">
              <a:xfrm>
                <a:off x="940" y="1072"/>
                <a:ext cx="1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21" name="Text Box 54"/>
              <p:cNvSpPr txBox="1">
                <a:spLocks noChangeArrowheads="1"/>
              </p:cNvSpPr>
              <p:nvPr/>
            </p:nvSpPr>
            <p:spPr bwMode="auto">
              <a:xfrm>
                <a:off x="906" y="982"/>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y</a:t>
                </a:r>
                <a:endParaRPr lang="en-US" altLang="zh-CN" b="1" i="1"/>
              </a:p>
            </p:txBody>
          </p:sp>
        </p:grpSp>
        <p:sp>
          <p:nvSpPr>
            <p:cNvPr id="14410" name="Text Box 61"/>
            <p:cNvSpPr txBox="1">
              <a:spLocks noChangeArrowheads="1"/>
            </p:cNvSpPr>
            <p:nvPr/>
          </p:nvSpPr>
          <p:spPr bwMode="auto">
            <a:xfrm>
              <a:off x="2278" y="58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a:t>
              </a:r>
              <a:endParaRPr lang="en-US" altLang="zh-CN" b="1"/>
            </a:p>
          </p:txBody>
        </p:sp>
        <p:grpSp>
          <p:nvGrpSpPr>
            <p:cNvPr id="14411" name="Group 71"/>
            <p:cNvGrpSpPr/>
            <p:nvPr/>
          </p:nvGrpSpPr>
          <p:grpSpPr bwMode="auto">
            <a:xfrm>
              <a:off x="2500" y="326"/>
              <a:ext cx="1090" cy="481"/>
              <a:chOff x="2500" y="326"/>
              <a:chExt cx="1090" cy="481"/>
            </a:xfrm>
          </p:grpSpPr>
          <p:grpSp>
            <p:nvGrpSpPr>
              <p:cNvPr id="14412" name="Group 70"/>
              <p:cNvGrpSpPr/>
              <p:nvPr/>
            </p:nvGrpSpPr>
            <p:grpSpPr bwMode="auto">
              <a:xfrm>
                <a:off x="2500" y="362"/>
                <a:ext cx="1040" cy="445"/>
                <a:chOff x="2500" y="362"/>
                <a:chExt cx="1040" cy="445"/>
              </a:xfrm>
            </p:grpSpPr>
            <p:sp>
              <p:nvSpPr>
                <p:cNvPr id="14415" name="Line 64"/>
                <p:cNvSpPr>
                  <a:spLocks noChangeShapeType="1"/>
                </p:cNvSpPr>
                <p:nvPr/>
              </p:nvSpPr>
              <p:spPr bwMode="auto">
                <a:xfrm>
                  <a:off x="2505" y="650"/>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16" name="Line 65"/>
                <p:cNvSpPr>
                  <a:spLocks noChangeShapeType="1"/>
                </p:cNvSpPr>
                <p:nvPr/>
              </p:nvSpPr>
              <p:spPr bwMode="auto">
                <a:xfrm flipV="1">
                  <a:off x="2594" y="362"/>
                  <a:ext cx="256" cy="44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17" name="Line 66"/>
                <p:cNvSpPr>
                  <a:spLocks noChangeShapeType="1"/>
                </p:cNvSpPr>
                <p:nvPr/>
              </p:nvSpPr>
              <p:spPr bwMode="auto">
                <a:xfrm>
                  <a:off x="2500" y="652"/>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18" name="Line 67"/>
                <p:cNvSpPr>
                  <a:spLocks noChangeShapeType="1"/>
                </p:cNvSpPr>
                <p:nvPr/>
              </p:nvSpPr>
              <p:spPr bwMode="auto">
                <a:xfrm>
                  <a:off x="2848" y="368"/>
                  <a:ext cx="69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13" name="Text Box 68"/>
              <p:cNvSpPr txBox="1">
                <a:spLocks noChangeArrowheads="1"/>
              </p:cNvSpPr>
              <p:nvPr/>
            </p:nvSpPr>
            <p:spPr bwMode="auto">
              <a:xfrm>
                <a:off x="2786" y="326"/>
                <a:ext cx="7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U </a:t>
                </a:r>
                <a:r>
                  <a:rPr lang="en-US" altLang="zh-CN" b="1" i="1"/>
                  <a:t>Rz</a:t>
                </a:r>
                <a:r>
                  <a:rPr lang="en-US" altLang="zh-CN" b="1"/>
                  <a:t> 1.6</a:t>
                </a:r>
                <a:endParaRPr lang="en-US" altLang="zh-CN" b="1"/>
              </a:p>
            </p:txBody>
          </p:sp>
          <p:sp>
            <p:nvSpPr>
              <p:cNvPr id="14414" name="Text Box 69"/>
              <p:cNvSpPr txBox="1">
                <a:spLocks noChangeArrowheads="1"/>
              </p:cNvSpPr>
              <p:nvPr/>
            </p:nvSpPr>
            <p:spPr bwMode="auto">
              <a:xfrm>
                <a:off x="2786" y="502"/>
                <a:ext cx="8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L </a:t>
                </a:r>
                <a:r>
                  <a:rPr lang="en-US" altLang="zh-CN" b="1" i="1"/>
                  <a:t>Ra</a:t>
                </a:r>
                <a:r>
                  <a:rPr lang="en-US" altLang="zh-CN" b="1"/>
                  <a:t> 3.2</a:t>
                </a:r>
                <a:endParaRPr lang="en-US" altLang="zh-CN" b="1"/>
              </a:p>
            </p:txBody>
          </p:sp>
        </p:grpSp>
      </p:grpSp>
      <p:grpSp>
        <p:nvGrpSpPr>
          <p:cNvPr id="60536" name="Group 120"/>
          <p:cNvGrpSpPr/>
          <p:nvPr/>
        </p:nvGrpSpPr>
        <p:grpSpPr bwMode="auto">
          <a:xfrm>
            <a:off x="4322763" y="3992563"/>
            <a:ext cx="2395537" cy="762000"/>
            <a:chOff x="2429" y="688"/>
            <a:chExt cx="1509" cy="480"/>
          </a:xfrm>
        </p:grpSpPr>
        <p:grpSp>
          <p:nvGrpSpPr>
            <p:cNvPr id="14393" name="Group 55"/>
            <p:cNvGrpSpPr/>
            <p:nvPr/>
          </p:nvGrpSpPr>
          <p:grpSpPr bwMode="auto">
            <a:xfrm>
              <a:off x="2429" y="688"/>
              <a:ext cx="440" cy="417"/>
              <a:chOff x="1017" y="954"/>
              <a:chExt cx="440" cy="417"/>
            </a:xfrm>
          </p:grpSpPr>
          <p:grpSp>
            <p:nvGrpSpPr>
              <p:cNvPr id="14404" name="Group 56"/>
              <p:cNvGrpSpPr/>
              <p:nvPr/>
            </p:nvGrpSpPr>
            <p:grpSpPr bwMode="auto">
              <a:xfrm>
                <a:off x="1017" y="1045"/>
                <a:ext cx="277" cy="326"/>
                <a:chOff x="2033" y="889"/>
                <a:chExt cx="277" cy="326"/>
              </a:xfrm>
            </p:grpSpPr>
            <p:sp>
              <p:nvSpPr>
                <p:cNvPr id="14407" name="Line 57"/>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08" name="Line 58"/>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05" name="Line 59"/>
              <p:cNvSpPr>
                <a:spLocks noChangeShapeType="1"/>
              </p:cNvSpPr>
              <p:nvPr/>
            </p:nvSpPr>
            <p:spPr bwMode="auto">
              <a:xfrm>
                <a:off x="1292" y="1048"/>
                <a:ext cx="1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06" name="Text Box 60"/>
              <p:cNvSpPr txBox="1">
                <a:spLocks noChangeArrowheads="1"/>
              </p:cNvSpPr>
              <p:nvPr/>
            </p:nvSpPr>
            <p:spPr bwMode="auto">
              <a:xfrm>
                <a:off x="1266" y="954"/>
                <a:ext cx="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z</a:t>
                </a:r>
                <a:endParaRPr lang="en-US" altLang="zh-CN" b="1" i="1"/>
              </a:p>
            </p:txBody>
          </p:sp>
        </p:grpSp>
        <p:sp>
          <p:nvSpPr>
            <p:cNvPr id="14394" name="Text Box 72"/>
            <p:cNvSpPr txBox="1">
              <a:spLocks noChangeArrowheads="1"/>
            </p:cNvSpPr>
            <p:nvPr/>
          </p:nvSpPr>
          <p:spPr bwMode="auto">
            <a:xfrm>
              <a:off x="2842" y="880"/>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a:t>
              </a:r>
              <a:endParaRPr lang="en-US" altLang="zh-CN" b="1"/>
            </a:p>
          </p:txBody>
        </p:sp>
        <p:grpSp>
          <p:nvGrpSpPr>
            <p:cNvPr id="14395" name="Group 119"/>
            <p:cNvGrpSpPr/>
            <p:nvPr/>
          </p:nvGrpSpPr>
          <p:grpSpPr bwMode="auto">
            <a:xfrm>
              <a:off x="3064" y="736"/>
              <a:ext cx="874" cy="369"/>
              <a:chOff x="3064" y="736"/>
              <a:chExt cx="874" cy="369"/>
            </a:xfrm>
          </p:grpSpPr>
          <p:grpSp>
            <p:nvGrpSpPr>
              <p:cNvPr id="14396" name="Group 80"/>
              <p:cNvGrpSpPr/>
              <p:nvPr/>
            </p:nvGrpSpPr>
            <p:grpSpPr bwMode="auto">
              <a:xfrm>
                <a:off x="3064" y="779"/>
                <a:ext cx="840" cy="326"/>
                <a:chOff x="2540" y="833"/>
                <a:chExt cx="840" cy="326"/>
              </a:xfrm>
            </p:grpSpPr>
            <p:grpSp>
              <p:nvGrpSpPr>
                <p:cNvPr id="14398" name="Group 73"/>
                <p:cNvGrpSpPr/>
                <p:nvPr/>
              </p:nvGrpSpPr>
              <p:grpSpPr bwMode="auto">
                <a:xfrm>
                  <a:off x="2540" y="833"/>
                  <a:ext cx="282" cy="326"/>
                  <a:chOff x="2028" y="889"/>
                  <a:chExt cx="282" cy="326"/>
                </a:xfrm>
              </p:grpSpPr>
              <p:grpSp>
                <p:nvGrpSpPr>
                  <p:cNvPr id="14400" name="Group 74"/>
                  <p:cNvGrpSpPr/>
                  <p:nvPr/>
                </p:nvGrpSpPr>
                <p:grpSpPr bwMode="auto">
                  <a:xfrm>
                    <a:off x="2033" y="889"/>
                    <a:ext cx="277" cy="326"/>
                    <a:chOff x="2033" y="889"/>
                    <a:chExt cx="277" cy="326"/>
                  </a:xfrm>
                </p:grpSpPr>
                <p:sp>
                  <p:nvSpPr>
                    <p:cNvPr id="14402" name="Line 75"/>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03" name="Line 76"/>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401" name="Line 77"/>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99" name="Line 78"/>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97" name="Text Box 79"/>
              <p:cNvSpPr txBox="1">
                <a:spLocks noChangeArrowheads="1"/>
              </p:cNvSpPr>
              <p:nvPr/>
            </p:nvSpPr>
            <p:spPr bwMode="auto">
              <a:xfrm>
                <a:off x="3310" y="736"/>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sp>
        <p:nvSpPr>
          <p:cNvPr id="60500" name="Text Box 84"/>
          <p:cNvSpPr txBox="1">
            <a:spLocks noChangeArrowheads="1"/>
          </p:cNvSpPr>
          <p:nvPr/>
        </p:nvSpPr>
        <p:spPr bwMode="auto">
          <a:xfrm>
            <a:off x="798513" y="3582988"/>
            <a:ext cx="600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(a)</a:t>
            </a:r>
            <a:endParaRPr lang="en-US" altLang="zh-CN" sz="2800" b="1"/>
          </a:p>
        </p:txBody>
      </p:sp>
      <p:sp>
        <p:nvSpPr>
          <p:cNvPr id="60501" name="Text Box 85"/>
          <p:cNvSpPr txBox="1">
            <a:spLocks noChangeArrowheads="1"/>
          </p:cNvSpPr>
          <p:nvPr/>
        </p:nvSpPr>
        <p:spPr bwMode="auto">
          <a:xfrm>
            <a:off x="798513" y="4799013"/>
            <a:ext cx="3943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(b) </a:t>
            </a:r>
            <a:r>
              <a:rPr lang="zh-CN" altLang="en-US" sz="2800" b="1"/>
              <a:t>未指定工艺方法</a:t>
            </a:r>
            <a:endParaRPr lang="zh-CN" altLang="en-US" sz="2800" b="1"/>
          </a:p>
        </p:txBody>
      </p:sp>
      <p:sp>
        <p:nvSpPr>
          <p:cNvPr id="60502" name="Text Box 86"/>
          <p:cNvSpPr txBox="1">
            <a:spLocks noChangeArrowheads="1"/>
          </p:cNvSpPr>
          <p:nvPr/>
        </p:nvSpPr>
        <p:spPr bwMode="auto">
          <a:xfrm>
            <a:off x="798513" y="5307013"/>
            <a:ext cx="3068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(c) </a:t>
            </a:r>
            <a:r>
              <a:rPr lang="zh-CN" altLang="en-US" sz="2800" b="1"/>
              <a:t>要求去除材料</a:t>
            </a:r>
            <a:endParaRPr lang="zh-CN" altLang="en-US" sz="2800" b="1"/>
          </a:p>
        </p:txBody>
      </p:sp>
      <p:sp>
        <p:nvSpPr>
          <p:cNvPr id="60503" name="Text Box 87"/>
          <p:cNvSpPr txBox="1">
            <a:spLocks noChangeArrowheads="1"/>
          </p:cNvSpPr>
          <p:nvPr/>
        </p:nvSpPr>
        <p:spPr bwMode="auto">
          <a:xfrm>
            <a:off x="798513" y="5848350"/>
            <a:ext cx="35067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(d) </a:t>
            </a:r>
            <a:r>
              <a:rPr lang="zh-CN" altLang="en-US" sz="2800" b="1"/>
              <a:t>不允许去除材料</a:t>
            </a:r>
            <a:endParaRPr lang="zh-CN" altLang="en-US" sz="2800" b="1"/>
          </a:p>
        </p:txBody>
      </p:sp>
      <p:grpSp>
        <p:nvGrpSpPr>
          <p:cNvPr id="60538" name="Group 122"/>
          <p:cNvGrpSpPr/>
          <p:nvPr/>
        </p:nvGrpSpPr>
        <p:grpSpPr bwMode="auto">
          <a:xfrm>
            <a:off x="4370388" y="4652963"/>
            <a:ext cx="2214562" cy="687387"/>
            <a:chOff x="2537" y="1122"/>
            <a:chExt cx="1395" cy="433"/>
          </a:xfrm>
        </p:grpSpPr>
        <p:grpSp>
          <p:nvGrpSpPr>
            <p:cNvPr id="14380" name="Group 39"/>
            <p:cNvGrpSpPr/>
            <p:nvPr/>
          </p:nvGrpSpPr>
          <p:grpSpPr bwMode="auto">
            <a:xfrm>
              <a:off x="2537" y="1165"/>
              <a:ext cx="277" cy="326"/>
              <a:chOff x="2033" y="889"/>
              <a:chExt cx="277" cy="326"/>
            </a:xfrm>
          </p:grpSpPr>
          <p:sp>
            <p:nvSpPr>
              <p:cNvPr id="14391" name="Line 40"/>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92" name="Line 41"/>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81" name="Text Box 89"/>
            <p:cNvSpPr txBox="1">
              <a:spLocks noChangeArrowheads="1"/>
            </p:cNvSpPr>
            <p:nvPr/>
          </p:nvSpPr>
          <p:spPr bwMode="auto">
            <a:xfrm>
              <a:off x="2828" y="1267"/>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a:t>
              </a:r>
              <a:endParaRPr lang="en-US" altLang="zh-CN" b="1"/>
            </a:p>
          </p:txBody>
        </p:sp>
        <p:grpSp>
          <p:nvGrpSpPr>
            <p:cNvPr id="14382" name="Group 92"/>
            <p:cNvGrpSpPr/>
            <p:nvPr/>
          </p:nvGrpSpPr>
          <p:grpSpPr bwMode="auto">
            <a:xfrm>
              <a:off x="3058" y="1122"/>
              <a:ext cx="874" cy="369"/>
              <a:chOff x="2540" y="790"/>
              <a:chExt cx="874" cy="369"/>
            </a:xfrm>
          </p:grpSpPr>
          <p:grpSp>
            <p:nvGrpSpPr>
              <p:cNvPr id="14383" name="Group 93"/>
              <p:cNvGrpSpPr/>
              <p:nvPr/>
            </p:nvGrpSpPr>
            <p:grpSpPr bwMode="auto">
              <a:xfrm>
                <a:off x="2540" y="833"/>
                <a:ext cx="840" cy="326"/>
                <a:chOff x="2540" y="833"/>
                <a:chExt cx="840" cy="326"/>
              </a:xfrm>
            </p:grpSpPr>
            <p:grpSp>
              <p:nvGrpSpPr>
                <p:cNvPr id="14385" name="Group 94"/>
                <p:cNvGrpSpPr/>
                <p:nvPr/>
              </p:nvGrpSpPr>
              <p:grpSpPr bwMode="auto">
                <a:xfrm>
                  <a:off x="2540" y="833"/>
                  <a:ext cx="282" cy="326"/>
                  <a:chOff x="2028" y="889"/>
                  <a:chExt cx="282" cy="326"/>
                </a:xfrm>
              </p:grpSpPr>
              <p:grpSp>
                <p:nvGrpSpPr>
                  <p:cNvPr id="14387" name="Group 95"/>
                  <p:cNvGrpSpPr/>
                  <p:nvPr/>
                </p:nvGrpSpPr>
                <p:grpSpPr bwMode="auto">
                  <a:xfrm>
                    <a:off x="2033" y="889"/>
                    <a:ext cx="277" cy="326"/>
                    <a:chOff x="2033" y="889"/>
                    <a:chExt cx="277" cy="326"/>
                  </a:xfrm>
                </p:grpSpPr>
                <p:sp>
                  <p:nvSpPr>
                    <p:cNvPr id="14389" name="Line 96"/>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90" name="Line 97"/>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88" name="Line 98"/>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86" name="Line 99"/>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84" name="Text Box 100"/>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grpSp>
        <p:nvGrpSpPr>
          <p:cNvPr id="60539" name="Group 123"/>
          <p:cNvGrpSpPr/>
          <p:nvPr/>
        </p:nvGrpSpPr>
        <p:grpSpPr bwMode="auto">
          <a:xfrm>
            <a:off x="4370388" y="5195888"/>
            <a:ext cx="2214562" cy="701675"/>
            <a:chOff x="2537" y="1419"/>
            <a:chExt cx="1395" cy="442"/>
          </a:xfrm>
        </p:grpSpPr>
        <p:grpSp>
          <p:nvGrpSpPr>
            <p:cNvPr id="14365" name="Group 33"/>
            <p:cNvGrpSpPr/>
            <p:nvPr/>
          </p:nvGrpSpPr>
          <p:grpSpPr bwMode="auto">
            <a:xfrm>
              <a:off x="2537" y="1462"/>
              <a:ext cx="282" cy="326"/>
              <a:chOff x="2028" y="889"/>
              <a:chExt cx="282" cy="326"/>
            </a:xfrm>
          </p:grpSpPr>
          <p:grpSp>
            <p:nvGrpSpPr>
              <p:cNvPr id="14376" name="Group 26"/>
              <p:cNvGrpSpPr/>
              <p:nvPr/>
            </p:nvGrpSpPr>
            <p:grpSpPr bwMode="auto">
              <a:xfrm>
                <a:off x="2033" y="889"/>
                <a:ext cx="277" cy="326"/>
                <a:chOff x="2033" y="889"/>
                <a:chExt cx="277" cy="326"/>
              </a:xfrm>
            </p:grpSpPr>
            <p:sp>
              <p:nvSpPr>
                <p:cNvPr id="14378" name="Line 20"/>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9" name="Line 21"/>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77" name="Line 23"/>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66" name="Text Box 90"/>
            <p:cNvSpPr txBox="1">
              <a:spLocks noChangeArrowheads="1"/>
            </p:cNvSpPr>
            <p:nvPr/>
          </p:nvSpPr>
          <p:spPr bwMode="auto">
            <a:xfrm>
              <a:off x="2828" y="1573"/>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a:t>
              </a:r>
              <a:endParaRPr lang="en-US" altLang="zh-CN" b="1"/>
            </a:p>
          </p:txBody>
        </p:sp>
        <p:grpSp>
          <p:nvGrpSpPr>
            <p:cNvPr id="14367" name="Group 101"/>
            <p:cNvGrpSpPr/>
            <p:nvPr/>
          </p:nvGrpSpPr>
          <p:grpSpPr bwMode="auto">
            <a:xfrm>
              <a:off x="3058" y="1419"/>
              <a:ext cx="874" cy="369"/>
              <a:chOff x="2540" y="790"/>
              <a:chExt cx="874" cy="369"/>
            </a:xfrm>
          </p:grpSpPr>
          <p:grpSp>
            <p:nvGrpSpPr>
              <p:cNvPr id="14368" name="Group 102"/>
              <p:cNvGrpSpPr/>
              <p:nvPr/>
            </p:nvGrpSpPr>
            <p:grpSpPr bwMode="auto">
              <a:xfrm>
                <a:off x="2540" y="833"/>
                <a:ext cx="840" cy="326"/>
                <a:chOff x="2540" y="833"/>
                <a:chExt cx="840" cy="326"/>
              </a:xfrm>
            </p:grpSpPr>
            <p:grpSp>
              <p:nvGrpSpPr>
                <p:cNvPr id="14370" name="Group 103"/>
                <p:cNvGrpSpPr/>
                <p:nvPr/>
              </p:nvGrpSpPr>
              <p:grpSpPr bwMode="auto">
                <a:xfrm>
                  <a:off x="2540" y="833"/>
                  <a:ext cx="282" cy="326"/>
                  <a:chOff x="2028" y="889"/>
                  <a:chExt cx="282" cy="326"/>
                </a:xfrm>
              </p:grpSpPr>
              <p:grpSp>
                <p:nvGrpSpPr>
                  <p:cNvPr id="14372" name="Group 104"/>
                  <p:cNvGrpSpPr/>
                  <p:nvPr/>
                </p:nvGrpSpPr>
                <p:grpSpPr bwMode="auto">
                  <a:xfrm>
                    <a:off x="2033" y="889"/>
                    <a:ext cx="277" cy="326"/>
                    <a:chOff x="2033" y="889"/>
                    <a:chExt cx="277" cy="326"/>
                  </a:xfrm>
                </p:grpSpPr>
                <p:sp>
                  <p:nvSpPr>
                    <p:cNvPr id="14374" name="Line 105"/>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5" name="Line 106"/>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73" name="Line 107"/>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71" name="Line 108"/>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69" name="Text Box 109"/>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grpSp>
        <p:nvGrpSpPr>
          <p:cNvPr id="60552" name="Group 136"/>
          <p:cNvGrpSpPr/>
          <p:nvPr/>
        </p:nvGrpSpPr>
        <p:grpSpPr bwMode="auto">
          <a:xfrm>
            <a:off x="4370388" y="5732463"/>
            <a:ext cx="2214562" cy="695325"/>
            <a:chOff x="2753" y="3611"/>
            <a:chExt cx="1395" cy="438"/>
          </a:xfrm>
        </p:grpSpPr>
        <p:grpSp>
          <p:nvGrpSpPr>
            <p:cNvPr id="14351" name="Group 113"/>
            <p:cNvGrpSpPr/>
            <p:nvPr/>
          </p:nvGrpSpPr>
          <p:grpSpPr bwMode="auto">
            <a:xfrm>
              <a:off x="3279" y="3654"/>
              <a:ext cx="277" cy="326"/>
              <a:chOff x="2033" y="889"/>
              <a:chExt cx="277" cy="326"/>
            </a:xfrm>
          </p:grpSpPr>
          <p:sp>
            <p:nvSpPr>
              <p:cNvPr id="14363" name="Line 114"/>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4" name="Line 115"/>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52" name="Group 133"/>
            <p:cNvGrpSpPr/>
            <p:nvPr/>
          </p:nvGrpSpPr>
          <p:grpSpPr bwMode="auto">
            <a:xfrm>
              <a:off x="2753" y="3611"/>
              <a:ext cx="1395" cy="438"/>
              <a:chOff x="2753" y="3611"/>
              <a:chExt cx="1395" cy="438"/>
            </a:xfrm>
          </p:grpSpPr>
          <p:grpSp>
            <p:nvGrpSpPr>
              <p:cNvPr id="14354" name="Group 131"/>
              <p:cNvGrpSpPr/>
              <p:nvPr/>
            </p:nvGrpSpPr>
            <p:grpSpPr bwMode="auto">
              <a:xfrm>
                <a:off x="2753" y="3654"/>
                <a:ext cx="277" cy="326"/>
                <a:chOff x="2753" y="3654"/>
                <a:chExt cx="277" cy="326"/>
              </a:xfrm>
            </p:grpSpPr>
            <p:grpSp>
              <p:nvGrpSpPr>
                <p:cNvPr id="14359" name="Group 27"/>
                <p:cNvGrpSpPr/>
                <p:nvPr/>
              </p:nvGrpSpPr>
              <p:grpSpPr bwMode="auto">
                <a:xfrm>
                  <a:off x="2753" y="3654"/>
                  <a:ext cx="277" cy="326"/>
                  <a:chOff x="2033" y="889"/>
                  <a:chExt cx="277" cy="326"/>
                </a:xfrm>
              </p:grpSpPr>
              <p:sp>
                <p:nvSpPr>
                  <p:cNvPr id="14361" name="Line 28"/>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2" name="Line 29"/>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60" name="Oval 34"/>
                <p:cNvSpPr>
                  <a:spLocks noChangeArrowheads="1"/>
                </p:cNvSpPr>
                <p:nvPr/>
              </p:nvSpPr>
              <p:spPr bwMode="auto">
                <a:xfrm>
                  <a:off x="2788" y="3813"/>
                  <a:ext cx="112" cy="11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4355" name="Text Box 91"/>
              <p:cNvSpPr txBox="1">
                <a:spLocks noChangeArrowheads="1"/>
              </p:cNvSpPr>
              <p:nvPr/>
            </p:nvSpPr>
            <p:spPr bwMode="auto">
              <a:xfrm>
                <a:off x="3044" y="3761"/>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t>=</a:t>
                </a:r>
                <a:endParaRPr lang="en-US" altLang="zh-CN" b="1"/>
              </a:p>
            </p:txBody>
          </p:sp>
          <p:grpSp>
            <p:nvGrpSpPr>
              <p:cNvPr id="14356" name="Group 132"/>
              <p:cNvGrpSpPr/>
              <p:nvPr/>
            </p:nvGrpSpPr>
            <p:grpSpPr bwMode="auto">
              <a:xfrm>
                <a:off x="3520" y="3611"/>
                <a:ext cx="628" cy="288"/>
                <a:chOff x="3520" y="3611"/>
                <a:chExt cx="628" cy="288"/>
              </a:xfrm>
            </p:grpSpPr>
            <p:sp>
              <p:nvSpPr>
                <p:cNvPr id="14357" name="Line 117"/>
                <p:cNvSpPr>
                  <a:spLocks noChangeShapeType="1"/>
                </p:cNvSpPr>
                <p:nvPr/>
              </p:nvSpPr>
              <p:spPr bwMode="auto">
                <a:xfrm>
                  <a:off x="3550" y="3657"/>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8" name="Text Box 118"/>
                <p:cNvSpPr txBox="1">
                  <a:spLocks noChangeArrowheads="1"/>
                </p:cNvSpPr>
                <p:nvPr/>
              </p:nvSpPr>
              <p:spPr bwMode="auto">
                <a:xfrm>
                  <a:off x="3520" y="3611"/>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sp>
          <p:nvSpPr>
            <p:cNvPr id="14353" name="Oval 130"/>
            <p:cNvSpPr>
              <a:spLocks noChangeArrowheads="1"/>
            </p:cNvSpPr>
            <p:nvPr/>
          </p:nvSpPr>
          <p:spPr bwMode="auto">
            <a:xfrm>
              <a:off x="3311" y="3812"/>
              <a:ext cx="112" cy="11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strips(upRight)">
                                      <p:cBhvr>
                                        <p:cTn id="7" dur="500"/>
                                        <p:tgtEl>
                                          <p:spTgt spid="6042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0500"/>
                                        </p:tgtEl>
                                        <p:attrNameLst>
                                          <p:attrName>style.visibility</p:attrName>
                                        </p:attrNameLst>
                                      </p:cBhvr>
                                      <p:to>
                                        <p:strVal val="visible"/>
                                      </p:to>
                                    </p:set>
                                    <p:anim calcmode="lin" valueType="num">
                                      <p:cBhvr additive="base">
                                        <p:cTn id="12" dur="500" fill="hold"/>
                                        <p:tgtEl>
                                          <p:spTgt spid="60500"/>
                                        </p:tgtEl>
                                        <p:attrNameLst>
                                          <p:attrName>ppt_x</p:attrName>
                                        </p:attrNameLst>
                                      </p:cBhvr>
                                      <p:tavLst>
                                        <p:tav tm="0">
                                          <p:val>
                                            <p:strVal val="0-#ppt_w/2"/>
                                          </p:val>
                                        </p:tav>
                                        <p:tav tm="100000">
                                          <p:val>
                                            <p:strVal val="#ppt_x"/>
                                          </p:val>
                                        </p:tav>
                                      </p:tavLst>
                                    </p:anim>
                                    <p:anim calcmode="lin" valueType="num">
                                      <p:cBhvr additive="base">
                                        <p:cTn id="13" dur="500" fill="hold"/>
                                        <p:tgtEl>
                                          <p:spTgt spid="60500"/>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60504"/>
                                        </p:tgtEl>
                                        <p:attrNameLst>
                                          <p:attrName>style.visibility</p:attrName>
                                        </p:attrNameLst>
                                      </p:cBhvr>
                                      <p:to>
                                        <p:strVal val="visible"/>
                                      </p:to>
                                    </p:set>
                                    <p:anim calcmode="lin" valueType="num">
                                      <p:cBhvr additive="base">
                                        <p:cTn id="17" dur="500" fill="hold"/>
                                        <p:tgtEl>
                                          <p:spTgt spid="60504"/>
                                        </p:tgtEl>
                                        <p:attrNameLst>
                                          <p:attrName>ppt_x</p:attrName>
                                        </p:attrNameLst>
                                      </p:cBhvr>
                                      <p:tavLst>
                                        <p:tav tm="0">
                                          <p:val>
                                            <p:strVal val="0-#ppt_w/2"/>
                                          </p:val>
                                        </p:tav>
                                        <p:tav tm="100000">
                                          <p:val>
                                            <p:strVal val="#ppt_x"/>
                                          </p:val>
                                        </p:tav>
                                      </p:tavLst>
                                    </p:anim>
                                    <p:anim calcmode="lin" valueType="num">
                                      <p:cBhvr additive="base">
                                        <p:cTn id="18" dur="500" fill="hold"/>
                                        <p:tgtEl>
                                          <p:spTgt spid="6050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60498"/>
                                        </p:tgtEl>
                                        <p:attrNameLst>
                                          <p:attrName>style.visibility</p:attrName>
                                        </p:attrNameLst>
                                      </p:cBhvr>
                                      <p:to>
                                        <p:strVal val="visible"/>
                                      </p:to>
                                    </p:set>
                                    <p:anim calcmode="lin" valueType="num">
                                      <p:cBhvr additive="base">
                                        <p:cTn id="23" dur="500" fill="hold"/>
                                        <p:tgtEl>
                                          <p:spTgt spid="60498"/>
                                        </p:tgtEl>
                                        <p:attrNameLst>
                                          <p:attrName>ppt_x</p:attrName>
                                        </p:attrNameLst>
                                      </p:cBhvr>
                                      <p:tavLst>
                                        <p:tav tm="0">
                                          <p:val>
                                            <p:strVal val="1+#ppt_w/2"/>
                                          </p:val>
                                        </p:tav>
                                        <p:tav tm="100000">
                                          <p:val>
                                            <p:strVal val="#ppt_x"/>
                                          </p:val>
                                        </p:tav>
                                      </p:tavLst>
                                    </p:anim>
                                    <p:anim calcmode="lin" valueType="num">
                                      <p:cBhvr additive="base">
                                        <p:cTn id="24" dur="500" fill="hold"/>
                                        <p:tgtEl>
                                          <p:spTgt spid="6049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60536"/>
                                        </p:tgtEl>
                                        <p:attrNameLst>
                                          <p:attrName>style.visibility</p:attrName>
                                        </p:attrNameLst>
                                      </p:cBhvr>
                                      <p:to>
                                        <p:strVal val="visible"/>
                                      </p:to>
                                    </p:set>
                                    <p:anim calcmode="lin" valueType="num">
                                      <p:cBhvr additive="base">
                                        <p:cTn id="29" dur="500" fill="hold"/>
                                        <p:tgtEl>
                                          <p:spTgt spid="60536"/>
                                        </p:tgtEl>
                                        <p:attrNameLst>
                                          <p:attrName>ppt_x</p:attrName>
                                        </p:attrNameLst>
                                      </p:cBhvr>
                                      <p:tavLst>
                                        <p:tav tm="0">
                                          <p:val>
                                            <p:strVal val="1+#ppt_w/2"/>
                                          </p:val>
                                        </p:tav>
                                        <p:tav tm="100000">
                                          <p:val>
                                            <p:strVal val="#ppt_x"/>
                                          </p:val>
                                        </p:tav>
                                      </p:tavLst>
                                    </p:anim>
                                    <p:anim calcmode="lin" valueType="num">
                                      <p:cBhvr additive="base">
                                        <p:cTn id="30" dur="500" fill="hold"/>
                                        <p:tgtEl>
                                          <p:spTgt spid="6053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60421"/>
                                        </p:tgtEl>
                                        <p:attrNameLst>
                                          <p:attrName>style.visibility</p:attrName>
                                        </p:attrNameLst>
                                      </p:cBhvr>
                                      <p:to>
                                        <p:strVal val="visible"/>
                                      </p:to>
                                    </p:set>
                                    <p:animEffect transition="in" filter="barn(inVertical)">
                                      <p:cBhvr>
                                        <p:cTn id="35" dur="500"/>
                                        <p:tgtEl>
                                          <p:spTgt spid="6042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0501"/>
                                        </p:tgtEl>
                                        <p:attrNameLst>
                                          <p:attrName>style.visibility</p:attrName>
                                        </p:attrNameLst>
                                      </p:cBhvr>
                                      <p:to>
                                        <p:strVal val="visible"/>
                                      </p:to>
                                    </p:set>
                                    <p:animEffect transition="in" filter="wipe(left)">
                                      <p:cBhvr>
                                        <p:cTn id="40" dur="500"/>
                                        <p:tgtEl>
                                          <p:spTgt spid="6050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60538"/>
                                        </p:tgtEl>
                                        <p:attrNameLst>
                                          <p:attrName>style.visibility</p:attrName>
                                        </p:attrNameLst>
                                      </p:cBhvr>
                                      <p:to>
                                        <p:strVal val="visible"/>
                                      </p:to>
                                    </p:set>
                                    <p:animEffect transition="in" filter="wipe(left)">
                                      <p:cBhvr>
                                        <p:cTn id="45" dur="500"/>
                                        <p:tgtEl>
                                          <p:spTgt spid="6053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0502"/>
                                        </p:tgtEl>
                                        <p:attrNameLst>
                                          <p:attrName>style.visibility</p:attrName>
                                        </p:attrNameLst>
                                      </p:cBhvr>
                                      <p:to>
                                        <p:strVal val="visible"/>
                                      </p:to>
                                    </p:set>
                                    <p:animEffect transition="in" filter="wipe(left)">
                                      <p:cBhvr>
                                        <p:cTn id="50" dur="500"/>
                                        <p:tgtEl>
                                          <p:spTgt spid="6050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0539"/>
                                        </p:tgtEl>
                                        <p:attrNameLst>
                                          <p:attrName>style.visibility</p:attrName>
                                        </p:attrNameLst>
                                      </p:cBhvr>
                                      <p:to>
                                        <p:strVal val="visible"/>
                                      </p:to>
                                    </p:set>
                                    <p:animEffect transition="in" filter="wipe(left)">
                                      <p:cBhvr>
                                        <p:cTn id="55" dur="500"/>
                                        <p:tgtEl>
                                          <p:spTgt spid="6053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0503"/>
                                        </p:tgtEl>
                                        <p:attrNameLst>
                                          <p:attrName>style.visibility</p:attrName>
                                        </p:attrNameLst>
                                      </p:cBhvr>
                                      <p:to>
                                        <p:strVal val="visible"/>
                                      </p:to>
                                    </p:set>
                                    <p:animEffect transition="in" filter="wipe(left)">
                                      <p:cBhvr>
                                        <p:cTn id="60" dur="500"/>
                                        <p:tgtEl>
                                          <p:spTgt spid="6050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60552"/>
                                        </p:tgtEl>
                                        <p:attrNameLst>
                                          <p:attrName>style.visibility</p:attrName>
                                        </p:attrNameLst>
                                      </p:cBhvr>
                                      <p:to>
                                        <p:strVal val="visible"/>
                                      </p:to>
                                    </p:set>
                                    <p:animEffect transition="in" filter="wipe(left)">
                                      <p:cBhvr>
                                        <p:cTn id="65" dur="500"/>
                                        <p:tgtEl>
                                          <p:spTgt spid="60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utoUpdateAnimBg="0"/>
      <p:bldP spid="60421" grpId="0" autoUpdateAnimBg="0"/>
      <p:bldP spid="60500" grpId="0" autoUpdateAnimBg="0"/>
      <p:bldP spid="60501" grpId="0" autoUpdateAnimBg="0"/>
      <p:bldP spid="60502" grpId="0" autoUpdateAnimBg="0"/>
      <p:bldP spid="6050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20" name="Group 36"/>
          <p:cNvGrpSpPr/>
          <p:nvPr/>
        </p:nvGrpSpPr>
        <p:grpSpPr bwMode="auto">
          <a:xfrm>
            <a:off x="5988050" y="1633538"/>
            <a:ext cx="2144713" cy="858837"/>
            <a:chOff x="3722" y="1109"/>
            <a:chExt cx="1351" cy="541"/>
          </a:xfrm>
        </p:grpSpPr>
        <p:sp>
          <p:nvSpPr>
            <p:cNvPr id="15515" name="Line 37"/>
            <p:cNvSpPr>
              <a:spLocks noChangeShapeType="1"/>
            </p:cNvSpPr>
            <p:nvPr/>
          </p:nvSpPr>
          <p:spPr bwMode="auto">
            <a:xfrm>
              <a:off x="3722" y="1375"/>
              <a:ext cx="1351"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6" name="Line 38"/>
            <p:cNvSpPr>
              <a:spLocks noChangeShapeType="1"/>
            </p:cNvSpPr>
            <p:nvPr/>
          </p:nvSpPr>
          <p:spPr bwMode="auto">
            <a:xfrm>
              <a:off x="3842" y="1110"/>
              <a:ext cx="0" cy="5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7" name="Line 39"/>
            <p:cNvSpPr>
              <a:spLocks noChangeShapeType="1"/>
            </p:cNvSpPr>
            <p:nvPr/>
          </p:nvSpPr>
          <p:spPr bwMode="auto">
            <a:xfrm>
              <a:off x="3842" y="1109"/>
              <a:ext cx="112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8" name="Line 40"/>
            <p:cNvSpPr>
              <a:spLocks noChangeShapeType="1"/>
            </p:cNvSpPr>
            <p:nvPr/>
          </p:nvSpPr>
          <p:spPr bwMode="auto">
            <a:xfrm>
              <a:off x="3842" y="1650"/>
              <a:ext cx="112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9" name="Freeform 41"/>
            <p:cNvSpPr/>
            <p:nvPr/>
          </p:nvSpPr>
          <p:spPr bwMode="auto">
            <a:xfrm>
              <a:off x="4950" y="1110"/>
              <a:ext cx="65" cy="540"/>
            </a:xfrm>
            <a:custGeom>
              <a:avLst/>
              <a:gdLst>
                <a:gd name="T0" fmla="*/ 18 w 65"/>
                <a:gd name="T1" fmla="*/ 0 h 540"/>
                <a:gd name="T2" fmla="*/ 63 w 65"/>
                <a:gd name="T3" fmla="*/ 135 h 540"/>
                <a:gd name="T4" fmla="*/ 3 w 65"/>
                <a:gd name="T5" fmla="*/ 285 h 540"/>
                <a:gd name="T6" fmla="*/ 48 w 65"/>
                <a:gd name="T7" fmla="*/ 435 h 540"/>
                <a:gd name="T8" fmla="*/ 3 w 65"/>
                <a:gd name="T9" fmla="*/ 540 h 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540">
                  <a:moveTo>
                    <a:pt x="18" y="0"/>
                  </a:moveTo>
                  <a:cubicBezTo>
                    <a:pt x="41" y="44"/>
                    <a:pt x="65" y="88"/>
                    <a:pt x="63" y="135"/>
                  </a:cubicBezTo>
                  <a:cubicBezTo>
                    <a:pt x="61" y="182"/>
                    <a:pt x="6" y="235"/>
                    <a:pt x="3" y="285"/>
                  </a:cubicBezTo>
                  <a:cubicBezTo>
                    <a:pt x="0" y="335"/>
                    <a:pt x="48" y="393"/>
                    <a:pt x="48" y="435"/>
                  </a:cubicBezTo>
                  <a:cubicBezTo>
                    <a:pt x="48" y="477"/>
                    <a:pt x="25" y="508"/>
                    <a:pt x="3" y="54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5520" name="Freeform 42"/>
            <p:cNvSpPr/>
            <p:nvPr/>
          </p:nvSpPr>
          <p:spPr bwMode="auto">
            <a:xfrm>
              <a:off x="3808" y="1109"/>
              <a:ext cx="35" cy="42"/>
            </a:xfrm>
            <a:custGeom>
              <a:avLst/>
              <a:gdLst>
                <a:gd name="T0" fmla="*/ 35 w 35"/>
                <a:gd name="T1" fmla="*/ 0 h 42"/>
                <a:gd name="T2" fmla="*/ 0 w 35"/>
                <a:gd name="T3" fmla="*/ 42 h 42"/>
                <a:gd name="T4" fmla="*/ 0 60000 65536"/>
                <a:gd name="T5" fmla="*/ 0 60000 65536"/>
              </a:gdLst>
              <a:ahLst/>
              <a:cxnLst>
                <a:cxn ang="T4">
                  <a:pos x="T0" y="T1"/>
                </a:cxn>
                <a:cxn ang="T5">
                  <a:pos x="T2" y="T3"/>
                </a:cxn>
              </a:cxnLst>
              <a:rect l="0" t="0" r="r" b="b"/>
              <a:pathLst>
                <a:path w="35" h="42">
                  <a:moveTo>
                    <a:pt x="35" y="0"/>
                  </a:moveTo>
                  <a:lnTo>
                    <a:pt x="0" y="42"/>
                  </a:lnTo>
                </a:path>
              </a:pathLst>
            </a:custGeom>
            <a:noFill/>
            <a:ln w="3810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521" name="Line 43"/>
            <p:cNvSpPr>
              <a:spLocks noChangeShapeType="1"/>
            </p:cNvSpPr>
            <p:nvPr/>
          </p:nvSpPr>
          <p:spPr bwMode="auto">
            <a:xfrm flipH="1" flipV="1">
              <a:off x="3807" y="1615"/>
              <a:ext cx="35" cy="3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22" name="Line 44"/>
            <p:cNvSpPr>
              <a:spLocks noChangeShapeType="1"/>
            </p:cNvSpPr>
            <p:nvPr/>
          </p:nvSpPr>
          <p:spPr bwMode="auto">
            <a:xfrm>
              <a:off x="3807" y="1154"/>
              <a:ext cx="0" cy="48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604" name="Group 220"/>
          <p:cNvGrpSpPr/>
          <p:nvPr/>
        </p:nvGrpSpPr>
        <p:grpSpPr bwMode="auto">
          <a:xfrm>
            <a:off x="1166813" y="4040188"/>
            <a:ext cx="3381375" cy="2032000"/>
            <a:chOff x="825" y="2521"/>
            <a:chExt cx="2130" cy="1280"/>
          </a:xfrm>
        </p:grpSpPr>
        <p:sp>
          <p:nvSpPr>
            <p:cNvPr id="15510" name="Line 77"/>
            <p:cNvSpPr>
              <a:spLocks noChangeShapeType="1"/>
            </p:cNvSpPr>
            <p:nvPr/>
          </p:nvSpPr>
          <p:spPr bwMode="auto">
            <a:xfrm>
              <a:off x="2955" y="2791"/>
              <a:ext cx="0" cy="1010"/>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1" name="Line 78"/>
            <p:cNvSpPr>
              <a:spLocks noChangeShapeType="1"/>
            </p:cNvSpPr>
            <p:nvPr/>
          </p:nvSpPr>
          <p:spPr bwMode="auto">
            <a:xfrm>
              <a:off x="825" y="2521"/>
              <a:ext cx="0" cy="1271"/>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2" name="Line 79"/>
            <p:cNvSpPr>
              <a:spLocks noChangeShapeType="1"/>
            </p:cNvSpPr>
            <p:nvPr/>
          </p:nvSpPr>
          <p:spPr bwMode="auto">
            <a:xfrm>
              <a:off x="2145" y="2716"/>
              <a:ext cx="0" cy="824"/>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3" name="Line 80"/>
            <p:cNvSpPr>
              <a:spLocks noChangeShapeType="1"/>
            </p:cNvSpPr>
            <p:nvPr/>
          </p:nvSpPr>
          <p:spPr bwMode="auto">
            <a:xfrm>
              <a:off x="825" y="3466"/>
              <a:ext cx="1320" cy="0"/>
            </a:xfrm>
            <a:prstGeom prst="line">
              <a:avLst/>
            </a:prstGeom>
            <a:noFill/>
            <a:ln w="12700">
              <a:solidFill>
                <a:srgbClr val="FF0000"/>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14" name="Line 81"/>
            <p:cNvSpPr>
              <a:spLocks noChangeShapeType="1"/>
            </p:cNvSpPr>
            <p:nvPr/>
          </p:nvSpPr>
          <p:spPr bwMode="auto">
            <a:xfrm>
              <a:off x="825" y="3724"/>
              <a:ext cx="2130" cy="0"/>
            </a:xfrm>
            <a:prstGeom prst="line">
              <a:avLst/>
            </a:prstGeom>
            <a:noFill/>
            <a:ln w="12700">
              <a:solidFill>
                <a:srgbClr val="FF0000"/>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64" name="Text Box 94"/>
          <p:cNvSpPr txBox="1">
            <a:spLocks noChangeArrowheads="1"/>
          </p:cNvSpPr>
          <p:nvPr/>
        </p:nvSpPr>
        <p:spPr bwMode="auto">
          <a:xfrm>
            <a:off x="384175" y="163513"/>
            <a:ext cx="2709863"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600" b="1">
                <a:latin typeface="宋体" panose="02010600030101010101" pitchFamily="2" charset="-122"/>
              </a:rPr>
              <a:t>4) </a:t>
            </a:r>
            <a:r>
              <a:rPr lang="zh-CN" altLang="en-US" sz="3600" b="1">
                <a:latin typeface="宋体" panose="02010600030101010101" pitchFamily="2" charset="-122"/>
              </a:rPr>
              <a:t>标注示例</a:t>
            </a:r>
            <a:endParaRPr lang="zh-CN" altLang="en-US" sz="3600" b="1">
              <a:latin typeface="宋体" panose="02010600030101010101" pitchFamily="2" charset="-122"/>
            </a:endParaRPr>
          </a:p>
        </p:txBody>
      </p:sp>
      <p:grpSp>
        <p:nvGrpSpPr>
          <p:cNvPr id="16479" name="Group 95"/>
          <p:cNvGrpSpPr/>
          <p:nvPr/>
        </p:nvGrpSpPr>
        <p:grpSpPr bwMode="auto">
          <a:xfrm>
            <a:off x="6127750" y="906463"/>
            <a:ext cx="1577975" cy="762000"/>
            <a:chOff x="3797" y="674"/>
            <a:chExt cx="994" cy="480"/>
          </a:xfrm>
        </p:grpSpPr>
        <p:sp>
          <p:nvSpPr>
            <p:cNvPr id="15507" name="Text Box 96"/>
            <p:cNvSpPr txBox="1">
              <a:spLocks noChangeArrowheads="1"/>
            </p:cNvSpPr>
            <p:nvPr/>
          </p:nvSpPr>
          <p:spPr bwMode="auto">
            <a:xfrm>
              <a:off x="4008" y="674"/>
              <a:ext cx="78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latin typeface="ISOCPEUR" panose="020B0604020202020204" pitchFamily="34" charset="0"/>
                </a:rPr>
                <a:t>2</a:t>
              </a:r>
              <a:r>
                <a:rPr lang="en-US" altLang="zh-CN" b="1" i="1">
                  <a:latin typeface="ISOCP" panose="00000400000000000000" pitchFamily="2" charset="0"/>
                </a:rPr>
                <a:t>×</a:t>
              </a:r>
              <a:r>
                <a:rPr lang="en-US" altLang="zh-CN" b="1" i="1">
                  <a:latin typeface="ISOCPEUR" panose="020B0604020202020204" pitchFamily="34" charset="0"/>
                </a:rPr>
                <a:t>45</a:t>
              </a:r>
              <a:r>
                <a:rPr lang="en-US" altLang="zh-CN" b="1"/>
                <a:t>°</a:t>
              </a:r>
              <a:endParaRPr lang="en-US" altLang="zh-CN" b="1"/>
            </a:p>
          </p:txBody>
        </p:sp>
        <p:sp>
          <p:nvSpPr>
            <p:cNvPr id="15508" name="Line 97"/>
            <p:cNvSpPr>
              <a:spLocks noChangeShapeType="1"/>
            </p:cNvSpPr>
            <p:nvPr/>
          </p:nvSpPr>
          <p:spPr bwMode="auto">
            <a:xfrm flipV="1">
              <a:off x="3797" y="895"/>
              <a:ext cx="259" cy="25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09" name="Line 98"/>
            <p:cNvSpPr>
              <a:spLocks noChangeShapeType="1"/>
            </p:cNvSpPr>
            <p:nvPr/>
          </p:nvSpPr>
          <p:spPr bwMode="auto">
            <a:xfrm>
              <a:off x="4056" y="896"/>
              <a:ext cx="51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6496" name="Text Box 112"/>
          <p:cNvSpPr txBox="1">
            <a:spLocks noChangeArrowheads="1"/>
          </p:cNvSpPr>
          <p:nvPr/>
        </p:nvSpPr>
        <p:spPr bwMode="auto">
          <a:xfrm>
            <a:off x="6400800" y="3443288"/>
            <a:ext cx="2333625" cy="2605087"/>
          </a:xfrm>
          <a:prstGeom prst="rect">
            <a:avLst/>
          </a:prstGeom>
          <a:noFill/>
          <a:ln w="76200">
            <a:pattFill prst="solidDmnd">
              <a:fgClr>
                <a:schemeClr val="accent2"/>
              </a:fgClr>
              <a:bgClr>
                <a:srgbClr val="FFFF00"/>
              </a:bgClr>
            </a:pattFill>
            <a:miter lim="800000"/>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solidFill>
                  <a:schemeClr val="accent2"/>
                </a:solidFill>
                <a:latin typeface="宋体" panose="02010600030101010101" pitchFamily="2" charset="-122"/>
              </a:rPr>
              <a:t>符号的尖端必须从材料外指向并接</a:t>
            </a:r>
            <a:endParaRPr lang="zh-CN" altLang="en-US" sz="3200" b="1">
              <a:solidFill>
                <a:schemeClr val="accent2"/>
              </a:solidFill>
              <a:latin typeface="宋体" panose="02010600030101010101" pitchFamily="2" charset="-122"/>
            </a:endParaRPr>
          </a:p>
          <a:p>
            <a:pPr algn="l"/>
            <a:r>
              <a:rPr lang="zh-CN" altLang="en-US" sz="3200" b="1">
                <a:solidFill>
                  <a:schemeClr val="accent2"/>
                </a:solidFill>
                <a:latin typeface="宋体" panose="02010600030101010101" pitchFamily="2" charset="-122"/>
              </a:rPr>
              <a:t>触被标注的表面</a:t>
            </a:r>
            <a:r>
              <a:rPr lang="zh-CN" altLang="en-US" sz="2800" b="1">
                <a:solidFill>
                  <a:schemeClr val="accent2"/>
                </a:solidFill>
                <a:latin typeface="宋体" panose="02010600030101010101" pitchFamily="2" charset="-122"/>
              </a:rPr>
              <a:t>。</a:t>
            </a:r>
            <a:endParaRPr lang="zh-CN" altLang="en-US" sz="2800" b="1">
              <a:solidFill>
                <a:schemeClr val="accent2"/>
              </a:solidFill>
              <a:latin typeface="宋体" panose="02010600030101010101" pitchFamily="2" charset="-122"/>
            </a:endParaRPr>
          </a:p>
        </p:txBody>
      </p:sp>
      <p:sp>
        <p:nvSpPr>
          <p:cNvPr id="16503" name="Text Box 119"/>
          <p:cNvSpPr txBox="1">
            <a:spLocks noChangeArrowheads="1"/>
          </p:cNvSpPr>
          <p:nvPr/>
        </p:nvSpPr>
        <p:spPr bwMode="auto">
          <a:xfrm>
            <a:off x="4614863" y="1544638"/>
            <a:ext cx="641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600" b="1">
                <a:solidFill>
                  <a:srgbClr val="FF0000"/>
                </a:solidFill>
              </a:rPr>
              <a:t>×</a:t>
            </a:r>
            <a:endParaRPr lang="en-US" altLang="zh-CN" sz="3600" b="1">
              <a:solidFill>
                <a:srgbClr val="FF0000"/>
              </a:solidFill>
            </a:endParaRPr>
          </a:p>
        </p:txBody>
      </p:sp>
      <p:sp>
        <p:nvSpPr>
          <p:cNvPr id="16504" name="Text Box 120"/>
          <p:cNvSpPr txBox="1">
            <a:spLocks noChangeArrowheads="1"/>
          </p:cNvSpPr>
          <p:nvPr/>
        </p:nvSpPr>
        <p:spPr bwMode="auto">
          <a:xfrm>
            <a:off x="2936875" y="2695575"/>
            <a:ext cx="6413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600" b="1">
                <a:solidFill>
                  <a:srgbClr val="FF0000"/>
                </a:solidFill>
              </a:rPr>
              <a:t>×</a:t>
            </a:r>
            <a:endParaRPr lang="en-US" altLang="zh-CN" sz="3600" b="1">
              <a:solidFill>
                <a:srgbClr val="FF0000"/>
              </a:solidFill>
            </a:endParaRPr>
          </a:p>
        </p:txBody>
      </p:sp>
      <p:grpSp>
        <p:nvGrpSpPr>
          <p:cNvPr id="16546" name="Group 162"/>
          <p:cNvGrpSpPr/>
          <p:nvPr/>
        </p:nvGrpSpPr>
        <p:grpSpPr bwMode="auto">
          <a:xfrm>
            <a:off x="1314450" y="1317625"/>
            <a:ext cx="1387475" cy="585788"/>
            <a:chOff x="2540" y="790"/>
            <a:chExt cx="874" cy="369"/>
          </a:xfrm>
        </p:grpSpPr>
        <p:grpSp>
          <p:nvGrpSpPr>
            <p:cNvPr id="15499" name="Group 163"/>
            <p:cNvGrpSpPr/>
            <p:nvPr/>
          </p:nvGrpSpPr>
          <p:grpSpPr bwMode="auto">
            <a:xfrm>
              <a:off x="2540" y="833"/>
              <a:ext cx="840" cy="326"/>
              <a:chOff x="2540" y="833"/>
              <a:chExt cx="840" cy="326"/>
            </a:xfrm>
          </p:grpSpPr>
          <p:grpSp>
            <p:nvGrpSpPr>
              <p:cNvPr id="15501" name="Group 164"/>
              <p:cNvGrpSpPr/>
              <p:nvPr/>
            </p:nvGrpSpPr>
            <p:grpSpPr bwMode="auto">
              <a:xfrm>
                <a:off x="2540" y="833"/>
                <a:ext cx="282" cy="326"/>
                <a:chOff x="2028" y="889"/>
                <a:chExt cx="282" cy="326"/>
              </a:xfrm>
            </p:grpSpPr>
            <p:grpSp>
              <p:nvGrpSpPr>
                <p:cNvPr id="15503" name="Group 165"/>
                <p:cNvGrpSpPr/>
                <p:nvPr/>
              </p:nvGrpSpPr>
              <p:grpSpPr bwMode="auto">
                <a:xfrm>
                  <a:off x="2033" y="889"/>
                  <a:ext cx="277" cy="326"/>
                  <a:chOff x="2033" y="889"/>
                  <a:chExt cx="277" cy="326"/>
                </a:xfrm>
              </p:grpSpPr>
              <p:sp>
                <p:nvSpPr>
                  <p:cNvPr id="15505" name="Line 166"/>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506" name="Line 167"/>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504" name="Line 168"/>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502" name="Line 169"/>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500" name="Text Box 170"/>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nvGrpSpPr>
          <p:cNvPr id="16555" name="Group 171"/>
          <p:cNvGrpSpPr/>
          <p:nvPr/>
        </p:nvGrpSpPr>
        <p:grpSpPr bwMode="auto">
          <a:xfrm>
            <a:off x="3330575" y="836613"/>
            <a:ext cx="1387475" cy="585787"/>
            <a:chOff x="2540" y="790"/>
            <a:chExt cx="874" cy="369"/>
          </a:xfrm>
        </p:grpSpPr>
        <p:grpSp>
          <p:nvGrpSpPr>
            <p:cNvPr id="15491" name="Group 172"/>
            <p:cNvGrpSpPr/>
            <p:nvPr/>
          </p:nvGrpSpPr>
          <p:grpSpPr bwMode="auto">
            <a:xfrm>
              <a:off x="2540" y="833"/>
              <a:ext cx="840" cy="326"/>
              <a:chOff x="2540" y="833"/>
              <a:chExt cx="840" cy="326"/>
            </a:xfrm>
          </p:grpSpPr>
          <p:grpSp>
            <p:nvGrpSpPr>
              <p:cNvPr id="15493" name="Group 173"/>
              <p:cNvGrpSpPr/>
              <p:nvPr/>
            </p:nvGrpSpPr>
            <p:grpSpPr bwMode="auto">
              <a:xfrm>
                <a:off x="2540" y="833"/>
                <a:ext cx="282" cy="326"/>
                <a:chOff x="2028" y="889"/>
                <a:chExt cx="282" cy="326"/>
              </a:xfrm>
            </p:grpSpPr>
            <p:grpSp>
              <p:nvGrpSpPr>
                <p:cNvPr id="15495" name="Group 174"/>
                <p:cNvGrpSpPr/>
                <p:nvPr/>
              </p:nvGrpSpPr>
              <p:grpSpPr bwMode="auto">
                <a:xfrm>
                  <a:off x="2033" y="889"/>
                  <a:ext cx="277" cy="326"/>
                  <a:chOff x="2033" y="889"/>
                  <a:chExt cx="277" cy="326"/>
                </a:xfrm>
              </p:grpSpPr>
              <p:sp>
                <p:nvSpPr>
                  <p:cNvPr id="15497" name="Line 175"/>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98" name="Line 176"/>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96" name="Line 177"/>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94" name="Line 178"/>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92" name="Text Box 179"/>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6.3</a:t>
              </a:r>
              <a:endParaRPr lang="en-US" altLang="zh-CN" b="1"/>
            </a:p>
          </p:txBody>
        </p:sp>
      </p:grpSp>
      <p:grpSp>
        <p:nvGrpSpPr>
          <p:cNvPr id="16564" name="Group 180"/>
          <p:cNvGrpSpPr/>
          <p:nvPr/>
        </p:nvGrpSpPr>
        <p:grpSpPr bwMode="auto">
          <a:xfrm>
            <a:off x="2854325" y="2819400"/>
            <a:ext cx="1400175" cy="585788"/>
            <a:chOff x="2540" y="790"/>
            <a:chExt cx="857" cy="369"/>
          </a:xfrm>
        </p:grpSpPr>
        <p:grpSp>
          <p:nvGrpSpPr>
            <p:cNvPr id="15483" name="Group 181"/>
            <p:cNvGrpSpPr/>
            <p:nvPr/>
          </p:nvGrpSpPr>
          <p:grpSpPr bwMode="auto">
            <a:xfrm>
              <a:off x="2540" y="833"/>
              <a:ext cx="840" cy="326"/>
              <a:chOff x="2540" y="833"/>
              <a:chExt cx="840" cy="326"/>
            </a:xfrm>
          </p:grpSpPr>
          <p:grpSp>
            <p:nvGrpSpPr>
              <p:cNvPr id="15485" name="Group 182"/>
              <p:cNvGrpSpPr/>
              <p:nvPr/>
            </p:nvGrpSpPr>
            <p:grpSpPr bwMode="auto">
              <a:xfrm>
                <a:off x="2540" y="833"/>
                <a:ext cx="282" cy="326"/>
                <a:chOff x="2028" y="889"/>
                <a:chExt cx="282" cy="326"/>
              </a:xfrm>
            </p:grpSpPr>
            <p:grpSp>
              <p:nvGrpSpPr>
                <p:cNvPr id="15487" name="Group 183"/>
                <p:cNvGrpSpPr/>
                <p:nvPr/>
              </p:nvGrpSpPr>
              <p:grpSpPr bwMode="auto">
                <a:xfrm>
                  <a:off x="2033" y="889"/>
                  <a:ext cx="277" cy="326"/>
                  <a:chOff x="2033" y="889"/>
                  <a:chExt cx="277" cy="326"/>
                </a:xfrm>
              </p:grpSpPr>
              <p:sp>
                <p:nvSpPr>
                  <p:cNvPr id="15489" name="Line 184"/>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90" name="Line 185"/>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88" name="Line 186"/>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86" name="Line 187"/>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84" name="Text Box 188"/>
            <p:cNvSpPr txBox="1">
              <a:spLocks noChangeArrowheads="1"/>
            </p:cNvSpPr>
            <p:nvPr/>
          </p:nvSpPr>
          <p:spPr bwMode="auto">
            <a:xfrm>
              <a:off x="2786" y="790"/>
              <a:ext cx="6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1.6</a:t>
              </a:r>
              <a:endParaRPr lang="en-US" altLang="zh-CN" b="1"/>
            </a:p>
          </p:txBody>
        </p:sp>
      </p:grpSp>
      <p:grpSp>
        <p:nvGrpSpPr>
          <p:cNvPr id="16573" name="Group 189"/>
          <p:cNvGrpSpPr/>
          <p:nvPr/>
        </p:nvGrpSpPr>
        <p:grpSpPr bwMode="auto">
          <a:xfrm rot="-5400000">
            <a:off x="191294" y="3467894"/>
            <a:ext cx="1387475" cy="585787"/>
            <a:chOff x="2540" y="790"/>
            <a:chExt cx="874" cy="369"/>
          </a:xfrm>
        </p:grpSpPr>
        <p:grpSp>
          <p:nvGrpSpPr>
            <p:cNvPr id="15475" name="Group 190"/>
            <p:cNvGrpSpPr/>
            <p:nvPr/>
          </p:nvGrpSpPr>
          <p:grpSpPr bwMode="auto">
            <a:xfrm>
              <a:off x="2540" y="833"/>
              <a:ext cx="840" cy="326"/>
              <a:chOff x="2540" y="833"/>
              <a:chExt cx="840" cy="326"/>
            </a:xfrm>
          </p:grpSpPr>
          <p:grpSp>
            <p:nvGrpSpPr>
              <p:cNvPr id="15477" name="Group 191"/>
              <p:cNvGrpSpPr/>
              <p:nvPr/>
            </p:nvGrpSpPr>
            <p:grpSpPr bwMode="auto">
              <a:xfrm>
                <a:off x="2540" y="833"/>
                <a:ext cx="282" cy="326"/>
                <a:chOff x="2028" y="889"/>
                <a:chExt cx="282" cy="326"/>
              </a:xfrm>
            </p:grpSpPr>
            <p:grpSp>
              <p:nvGrpSpPr>
                <p:cNvPr id="15479" name="Group 192"/>
                <p:cNvGrpSpPr/>
                <p:nvPr/>
              </p:nvGrpSpPr>
              <p:grpSpPr bwMode="auto">
                <a:xfrm>
                  <a:off x="2033" y="889"/>
                  <a:ext cx="277" cy="326"/>
                  <a:chOff x="2033" y="889"/>
                  <a:chExt cx="277" cy="326"/>
                </a:xfrm>
              </p:grpSpPr>
              <p:sp>
                <p:nvSpPr>
                  <p:cNvPr id="15481" name="Line 193"/>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82" name="Line 194"/>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80" name="Line 195"/>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78" name="Line 196"/>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76" name="Text Box 197"/>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6.3</a:t>
              </a:r>
              <a:endParaRPr lang="en-US" altLang="zh-CN" b="1"/>
            </a:p>
          </p:txBody>
        </p:sp>
      </p:grpSp>
      <p:grpSp>
        <p:nvGrpSpPr>
          <p:cNvPr id="16582" name="Group 198"/>
          <p:cNvGrpSpPr/>
          <p:nvPr/>
        </p:nvGrpSpPr>
        <p:grpSpPr bwMode="auto">
          <a:xfrm rot="-5400000">
            <a:off x="2278856" y="4452144"/>
            <a:ext cx="1387475" cy="585788"/>
            <a:chOff x="2540" y="790"/>
            <a:chExt cx="874" cy="369"/>
          </a:xfrm>
        </p:grpSpPr>
        <p:grpSp>
          <p:nvGrpSpPr>
            <p:cNvPr id="15467" name="Group 199"/>
            <p:cNvGrpSpPr/>
            <p:nvPr/>
          </p:nvGrpSpPr>
          <p:grpSpPr bwMode="auto">
            <a:xfrm>
              <a:off x="2540" y="833"/>
              <a:ext cx="840" cy="326"/>
              <a:chOff x="2540" y="833"/>
              <a:chExt cx="840" cy="326"/>
            </a:xfrm>
          </p:grpSpPr>
          <p:grpSp>
            <p:nvGrpSpPr>
              <p:cNvPr id="15469" name="Group 200"/>
              <p:cNvGrpSpPr/>
              <p:nvPr/>
            </p:nvGrpSpPr>
            <p:grpSpPr bwMode="auto">
              <a:xfrm>
                <a:off x="2540" y="833"/>
                <a:ext cx="282" cy="326"/>
                <a:chOff x="2028" y="889"/>
                <a:chExt cx="282" cy="326"/>
              </a:xfrm>
            </p:grpSpPr>
            <p:grpSp>
              <p:nvGrpSpPr>
                <p:cNvPr id="15471" name="Group 201"/>
                <p:cNvGrpSpPr/>
                <p:nvPr/>
              </p:nvGrpSpPr>
              <p:grpSpPr bwMode="auto">
                <a:xfrm>
                  <a:off x="2033" y="889"/>
                  <a:ext cx="277" cy="326"/>
                  <a:chOff x="2033" y="889"/>
                  <a:chExt cx="277" cy="326"/>
                </a:xfrm>
              </p:grpSpPr>
              <p:sp>
                <p:nvSpPr>
                  <p:cNvPr id="15473" name="Line 202"/>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74" name="Line 203"/>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72" name="Line 204"/>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70" name="Line 205"/>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68" name="Text Box 206"/>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nvGrpSpPr>
          <p:cNvPr id="16625" name="Group 241"/>
          <p:cNvGrpSpPr/>
          <p:nvPr/>
        </p:nvGrpSpPr>
        <p:grpSpPr bwMode="auto">
          <a:xfrm>
            <a:off x="4503738" y="4624388"/>
            <a:ext cx="1789112" cy="598487"/>
            <a:chOff x="2927" y="2913"/>
            <a:chExt cx="1127" cy="377"/>
          </a:xfrm>
        </p:grpSpPr>
        <p:grpSp>
          <p:nvGrpSpPr>
            <p:cNvPr id="15456" name="Group 208"/>
            <p:cNvGrpSpPr/>
            <p:nvPr/>
          </p:nvGrpSpPr>
          <p:grpSpPr bwMode="auto">
            <a:xfrm>
              <a:off x="3180" y="2913"/>
              <a:ext cx="874" cy="369"/>
              <a:chOff x="2540" y="790"/>
              <a:chExt cx="874" cy="369"/>
            </a:xfrm>
          </p:grpSpPr>
          <p:grpSp>
            <p:nvGrpSpPr>
              <p:cNvPr id="15459" name="Group 209"/>
              <p:cNvGrpSpPr/>
              <p:nvPr/>
            </p:nvGrpSpPr>
            <p:grpSpPr bwMode="auto">
              <a:xfrm>
                <a:off x="2540" y="833"/>
                <a:ext cx="840" cy="326"/>
                <a:chOff x="2540" y="833"/>
                <a:chExt cx="840" cy="326"/>
              </a:xfrm>
            </p:grpSpPr>
            <p:grpSp>
              <p:nvGrpSpPr>
                <p:cNvPr id="15461" name="Group 210"/>
                <p:cNvGrpSpPr/>
                <p:nvPr/>
              </p:nvGrpSpPr>
              <p:grpSpPr bwMode="auto">
                <a:xfrm>
                  <a:off x="2540" y="833"/>
                  <a:ext cx="282" cy="326"/>
                  <a:chOff x="2028" y="889"/>
                  <a:chExt cx="282" cy="326"/>
                </a:xfrm>
              </p:grpSpPr>
              <p:grpSp>
                <p:nvGrpSpPr>
                  <p:cNvPr id="15463" name="Group 211"/>
                  <p:cNvGrpSpPr/>
                  <p:nvPr/>
                </p:nvGrpSpPr>
                <p:grpSpPr bwMode="auto">
                  <a:xfrm>
                    <a:off x="2033" y="889"/>
                    <a:ext cx="277" cy="326"/>
                    <a:chOff x="2033" y="889"/>
                    <a:chExt cx="277" cy="326"/>
                  </a:xfrm>
                </p:grpSpPr>
                <p:sp>
                  <p:nvSpPr>
                    <p:cNvPr id="15465" name="Line 212"/>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6" name="Line 213"/>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64" name="Line 214"/>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62" name="Line 215"/>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60" name="Text Box 216"/>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6.3</a:t>
                </a:r>
                <a:endParaRPr lang="en-US" altLang="zh-CN" b="1"/>
              </a:p>
            </p:txBody>
          </p:sp>
        </p:grpSp>
        <p:sp>
          <p:nvSpPr>
            <p:cNvPr id="15457" name="Line 217"/>
            <p:cNvSpPr>
              <a:spLocks noChangeShapeType="1"/>
            </p:cNvSpPr>
            <p:nvPr/>
          </p:nvSpPr>
          <p:spPr bwMode="auto">
            <a:xfrm rot="596183" flipH="1" flipV="1">
              <a:off x="2927" y="2992"/>
              <a:ext cx="281" cy="281"/>
            </a:xfrm>
            <a:prstGeom prst="line">
              <a:avLst/>
            </a:prstGeom>
            <a:noFill/>
            <a:ln w="127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8" name="Line 218"/>
            <p:cNvSpPr>
              <a:spLocks noChangeShapeType="1"/>
            </p:cNvSpPr>
            <p:nvPr/>
          </p:nvSpPr>
          <p:spPr bwMode="auto">
            <a:xfrm>
              <a:off x="3183" y="3290"/>
              <a:ext cx="29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616" name="Group 232"/>
          <p:cNvGrpSpPr/>
          <p:nvPr/>
        </p:nvGrpSpPr>
        <p:grpSpPr bwMode="auto">
          <a:xfrm rot="5400000">
            <a:off x="4164806" y="2015332"/>
            <a:ext cx="1387475" cy="585788"/>
            <a:chOff x="2540" y="790"/>
            <a:chExt cx="874" cy="369"/>
          </a:xfrm>
        </p:grpSpPr>
        <p:grpSp>
          <p:nvGrpSpPr>
            <p:cNvPr id="15448" name="Group 233"/>
            <p:cNvGrpSpPr/>
            <p:nvPr/>
          </p:nvGrpSpPr>
          <p:grpSpPr bwMode="auto">
            <a:xfrm>
              <a:off x="2540" y="833"/>
              <a:ext cx="840" cy="326"/>
              <a:chOff x="2540" y="833"/>
              <a:chExt cx="840" cy="326"/>
            </a:xfrm>
          </p:grpSpPr>
          <p:grpSp>
            <p:nvGrpSpPr>
              <p:cNvPr id="15450" name="Group 234"/>
              <p:cNvGrpSpPr/>
              <p:nvPr/>
            </p:nvGrpSpPr>
            <p:grpSpPr bwMode="auto">
              <a:xfrm>
                <a:off x="2540" y="833"/>
                <a:ext cx="282" cy="326"/>
                <a:chOff x="2028" y="889"/>
                <a:chExt cx="282" cy="326"/>
              </a:xfrm>
            </p:grpSpPr>
            <p:grpSp>
              <p:nvGrpSpPr>
                <p:cNvPr id="15452" name="Group 235"/>
                <p:cNvGrpSpPr/>
                <p:nvPr/>
              </p:nvGrpSpPr>
              <p:grpSpPr bwMode="auto">
                <a:xfrm>
                  <a:off x="2033" y="889"/>
                  <a:ext cx="277" cy="326"/>
                  <a:chOff x="2033" y="889"/>
                  <a:chExt cx="277" cy="326"/>
                </a:xfrm>
              </p:grpSpPr>
              <p:sp>
                <p:nvSpPr>
                  <p:cNvPr id="15454" name="Line 236"/>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5" name="Line 237"/>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53" name="Line 238"/>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51" name="Line 239"/>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49" name="Text Box 240"/>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6.3</a:t>
              </a:r>
              <a:endParaRPr lang="en-US" altLang="zh-CN" b="1"/>
            </a:p>
          </p:txBody>
        </p:sp>
      </p:grpSp>
      <p:grpSp>
        <p:nvGrpSpPr>
          <p:cNvPr id="16626" name="Group 242"/>
          <p:cNvGrpSpPr/>
          <p:nvPr/>
        </p:nvGrpSpPr>
        <p:grpSpPr bwMode="auto">
          <a:xfrm rot="-2711190">
            <a:off x="5766594" y="634207"/>
            <a:ext cx="1387475" cy="585787"/>
            <a:chOff x="2540" y="790"/>
            <a:chExt cx="874" cy="369"/>
          </a:xfrm>
        </p:grpSpPr>
        <p:grpSp>
          <p:nvGrpSpPr>
            <p:cNvPr id="15440" name="Group 243"/>
            <p:cNvGrpSpPr/>
            <p:nvPr/>
          </p:nvGrpSpPr>
          <p:grpSpPr bwMode="auto">
            <a:xfrm>
              <a:off x="2540" y="833"/>
              <a:ext cx="840" cy="326"/>
              <a:chOff x="2540" y="833"/>
              <a:chExt cx="840" cy="326"/>
            </a:xfrm>
          </p:grpSpPr>
          <p:grpSp>
            <p:nvGrpSpPr>
              <p:cNvPr id="15442" name="Group 244"/>
              <p:cNvGrpSpPr/>
              <p:nvPr/>
            </p:nvGrpSpPr>
            <p:grpSpPr bwMode="auto">
              <a:xfrm>
                <a:off x="2540" y="833"/>
                <a:ext cx="282" cy="326"/>
                <a:chOff x="2028" y="889"/>
                <a:chExt cx="282" cy="326"/>
              </a:xfrm>
            </p:grpSpPr>
            <p:grpSp>
              <p:nvGrpSpPr>
                <p:cNvPr id="15444" name="Group 245"/>
                <p:cNvGrpSpPr/>
                <p:nvPr/>
              </p:nvGrpSpPr>
              <p:grpSpPr bwMode="auto">
                <a:xfrm>
                  <a:off x="2033" y="889"/>
                  <a:ext cx="277" cy="326"/>
                  <a:chOff x="2033" y="889"/>
                  <a:chExt cx="277" cy="326"/>
                </a:xfrm>
              </p:grpSpPr>
              <p:sp>
                <p:nvSpPr>
                  <p:cNvPr id="15446" name="Line 246"/>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7" name="Line 247"/>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45" name="Line 248"/>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43" name="Line 249"/>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41" name="Text Box 250"/>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6.3</a:t>
              </a:r>
              <a:endParaRPr lang="en-US" altLang="zh-CN" b="1"/>
            </a:p>
          </p:txBody>
        </p:sp>
      </p:grpSp>
      <p:grpSp>
        <p:nvGrpSpPr>
          <p:cNvPr id="16664" name="Group 280"/>
          <p:cNvGrpSpPr/>
          <p:nvPr/>
        </p:nvGrpSpPr>
        <p:grpSpPr bwMode="auto">
          <a:xfrm>
            <a:off x="6648450" y="2471738"/>
            <a:ext cx="1766888" cy="722312"/>
            <a:chOff x="4188" y="1557"/>
            <a:chExt cx="1113" cy="455"/>
          </a:xfrm>
        </p:grpSpPr>
        <p:grpSp>
          <p:nvGrpSpPr>
            <p:cNvPr id="15429" name="Group 261"/>
            <p:cNvGrpSpPr/>
            <p:nvPr/>
          </p:nvGrpSpPr>
          <p:grpSpPr bwMode="auto">
            <a:xfrm>
              <a:off x="4427" y="1642"/>
              <a:ext cx="874" cy="369"/>
              <a:chOff x="2540" y="790"/>
              <a:chExt cx="874" cy="369"/>
            </a:xfrm>
          </p:grpSpPr>
          <p:grpSp>
            <p:nvGrpSpPr>
              <p:cNvPr id="15432" name="Group 262"/>
              <p:cNvGrpSpPr/>
              <p:nvPr/>
            </p:nvGrpSpPr>
            <p:grpSpPr bwMode="auto">
              <a:xfrm>
                <a:off x="2540" y="833"/>
                <a:ext cx="840" cy="326"/>
                <a:chOff x="2540" y="833"/>
                <a:chExt cx="840" cy="326"/>
              </a:xfrm>
            </p:grpSpPr>
            <p:grpSp>
              <p:nvGrpSpPr>
                <p:cNvPr id="15434" name="Group 263"/>
                <p:cNvGrpSpPr/>
                <p:nvPr/>
              </p:nvGrpSpPr>
              <p:grpSpPr bwMode="auto">
                <a:xfrm>
                  <a:off x="2540" y="833"/>
                  <a:ext cx="282" cy="326"/>
                  <a:chOff x="2028" y="889"/>
                  <a:chExt cx="282" cy="326"/>
                </a:xfrm>
              </p:grpSpPr>
              <p:grpSp>
                <p:nvGrpSpPr>
                  <p:cNvPr id="15436" name="Group 264"/>
                  <p:cNvGrpSpPr/>
                  <p:nvPr/>
                </p:nvGrpSpPr>
                <p:grpSpPr bwMode="auto">
                  <a:xfrm>
                    <a:off x="2033" y="889"/>
                    <a:ext cx="277" cy="326"/>
                    <a:chOff x="2033" y="889"/>
                    <a:chExt cx="277" cy="326"/>
                  </a:xfrm>
                </p:grpSpPr>
                <p:sp>
                  <p:nvSpPr>
                    <p:cNvPr id="15438" name="Line 265"/>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9" name="Line 266"/>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37" name="Line 267"/>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35" name="Line 268"/>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33" name="Text Box 269"/>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sp>
          <p:nvSpPr>
            <p:cNvPr id="15430" name="Line 270"/>
            <p:cNvSpPr>
              <a:spLocks noChangeShapeType="1"/>
            </p:cNvSpPr>
            <p:nvPr/>
          </p:nvSpPr>
          <p:spPr bwMode="auto">
            <a:xfrm>
              <a:off x="4363" y="2012"/>
              <a:ext cx="57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1" name="Line 271"/>
            <p:cNvSpPr>
              <a:spLocks noChangeShapeType="1"/>
            </p:cNvSpPr>
            <p:nvPr/>
          </p:nvSpPr>
          <p:spPr bwMode="auto">
            <a:xfrm flipH="1" flipV="1">
              <a:off x="4188" y="1557"/>
              <a:ext cx="175" cy="449"/>
            </a:xfrm>
            <a:prstGeom prst="line">
              <a:avLst/>
            </a:prstGeom>
            <a:noFill/>
            <a:ln w="1270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657" name="Group 273"/>
          <p:cNvGrpSpPr/>
          <p:nvPr/>
        </p:nvGrpSpPr>
        <p:grpSpPr bwMode="auto">
          <a:xfrm>
            <a:off x="6356350" y="1892300"/>
            <a:ext cx="1428750" cy="585788"/>
            <a:chOff x="4028" y="856"/>
            <a:chExt cx="900" cy="369"/>
          </a:xfrm>
        </p:grpSpPr>
        <p:sp>
          <p:nvSpPr>
            <p:cNvPr id="15419" name="Rectangle 272"/>
            <p:cNvSpPr>
              <a:spLocks noChangeArrowheads="1"/>
            </p:cNvSpPr>
            <p:nvPr/>
          </p:nvSpPr>
          <p:spPr bwMode="auto">
            <a:xfrm>
              <a:off x="4247" y="908"/>
              <a:ext cx="681" cy="81"/>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5420" name="Group 252"/>
            <p:cNvGrpSpPr/>
            <p:nvPr/>
          </p:nvGrpSpPr>
          <p:grpSpPr bwMode="auto">
            <a:xfrm>
              <a:off x="4028" y="856"/>
              <a:ext cx="874" cy="369"/>
              <a:chOff x="2540" y="790"/>
              <a:chExt cx="874" cy="369"/>
            </a:xfrm>
          </p:grpSpPr>
          <p:grpSp>
            <p:nvGrpSpPr>
              <p:cNvPr id="15421" name="Group 253"/>
              <p:cNvGrpSpPr/>
              <p:nvPr/>
            </p:nvGrpSpPr>
            <p:grpSpPr bwMode="auto">
              <a:xfrm>
                <a:off x="2540" y="833"/>
                <a:ext cx="840" cy="326"/>
                <a:chOff x="2540" y="833"/>
                <a:chExt cx="840" cy="326"/>
              </a:xfrm>
            </p:grpSpPr>
            <p:grpSp>
              <p:nvGrpSpPr>
                <p:cNvPr id="15423" name="Group 254"/>
                <p:cNvGrpSpPr/>
                <p:nvPr/>
              </p:nvGrpSpPr>
              <p:grpSpPr bwMode="auto">
                <a:xfrm>
                  <a:off x="2540" y="833"/>
                  <a:ext cx="282" cy="326"/>
                  <a:chOff x="2028" y="889"/>
                  <a:chExt cx="282" cy="326"/>
                </a:xfrm>
              </p:grpSpPr>
              <p:grpSp>
                <p:nvGrpSpPr>
                  <p:cNvPr id="15425" name="Group 255"/>
                  <p:cNvGrpSpPr/>
                  <p:nvPr/>
                </p:nvGrpSpPr>
                <p:grpSpPr bwMode="auto">
                  <a:xfrm>
                    <a:off x="2033" y="889"/>
                    <a:ext cx="277" cy="326"/>
                    <a:chOff x="2033" y="889"/>
                    <a:chExt cx="277" cy="326"/>
                  </a:xfrm>
                </p:grpSpPr>
                <p:sp>
                  <p:nvSpPr>
                    <p:cNvPr id="15427" name="Line 256"/>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28" name="Line 257"/>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26" name="Line 258"/>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24" name="Line 259"/>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422" name="Text Box 260"/>
              <p:cNvSpPr txBox="1">
                <a:spLocks noChangeArrowheads="1"/>
              </p:cNvSpPr>
              <p:nvPr/>
            </p:nvSpPr>
            <p:spPr bwMode="auto">
              <a:xfrm>
                <a:off x="2786" y="790"/>
                <a:ext cx="6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3.2</a:t>
                </a:r>
                <a:endParaRPr lang="en-US" altLang="zh-CN" b="1"/>
              </a:p>
            </p:txBody>
          </p:sp>
        </p:grpSp>
      </p:grpSp>
      <p:sp>
        <p:nvSpPr>
          <p:cNvPr id="16392" name="Text Box 8"/>
          <p:cNvSpPr txBox="1">
            <a:spLocks noChangeArrowheads="1"/>
          </p:cNvSpPr>
          <p:nvPr/>
        </p:nvSpPr>
        <p:spPr bwMode="auto">
          <a:xfrm>
            <a:off x="6315075" y="1793875"/>
            <a:ext cx="6413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600" b="1">
                <a:solidFill>
                  <a:srgbClr val="FF0000"/>
                </a:solidFill>
              </a:rPr>
              <a:t>×</a:t>
            </a:r>
            <a:endParaRPr lang="en-US" altLang="zh-CN" sz="3600" b="1">
              <a:solidFill>
                <a:srgbClr val="FF0000"/>
              </a:solidFill>
            </a:endParaRPr>
          </a:p>
        </p:txBody>
      </p:sp>
      <p:grpSp>
        <p:nvGrpSpPr>
          <p:cNvPr id="16663" name="Group 279"/>
          <p:cNvGrpSpPr/>
          <p:nvPr/>
        </p:nvGrpSpPr>
        <p:grpSpPr bwMode="auto">
          <a:xfrm>
            <a:off x="928688" y="1417638"/>
            <a:ext cx="3819525" cy="3097212"/>
            <a:chOff x="585" y="893"/>
            <a:chExt cx="2406" cy="1951"/>
          </a:xfrm>
        </p:grpSpPr>
        <p:grpSp>
          <p:nvGrpSpPr>
            <p:cNvPr id="15392" name="Group 278"/>
            <p:cNvGrpSpPr/>
            <p:nvPr/>
          </p:nvGrpSpPr>
          <p:grpSpPr bwMode="auto">
            <a:xfrm>
              <a:off x="585" y="893"/>
              <a:ext cx="2406" cy="1951"/>
              <a:chOff x="585" y="893"/>
              <a:chExt cx="2406" cy="1951"/>
            </a:xfrm>
          </p:grpSpPr>
          <p:grpSp>
            <p:nvGrpSpPr>
              <p:cNvPr id="15394" name="Group 277"/>
              <p:cNvGrpSpPr/>
              <p:nvPr/>
            </p:nvGrpSpPr>
            <p:grpSpPr bwMode="auto">
              <a:xfrm>
                <a:off x="585" y="893"/>
                <a:ext cx="2406" cy="1951"/>
                <a:chOff x="585" y="893"/>
                <a:chExt cx="2406" cy="1951"/>
              </a:xfrm>
            </p:grpSpPr>
            <p:sp>
              <p:nvSpPr>
                <p:cNvPr id="15410" name="Line 11"/>
                <p:cNvSpPr>
                  <a:spLocks noChangeShapeType="1"/>
                </p:cNvSpPr>
                <p:nvPr/>
              </p:nvSpPr>
              <p:spPr bwMode="auto">
                <a:xfrm>
                  <a:off x="585" y="1883"/>
                  <a:ext cx="2406"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1" name="Freeform 12"/>
                <p:cNvSpPr/>
                <p:nvPr/>
              </p:nvSpPr>
              <p:spPr bwMode="auto">
                <a:xfrm>
                  <a:off x="735" y="1200"/>
                  <a:ext cx="1" cy="1366"/>
                </a:xfrm>
                <a:custGeom>
                  <a:avLst/>
                  <a:gdLst>
                    <a:gd name="T0" fmla="*/ 0 w 1"/>
                    <a:gd name="T1" fmla="*/ 0 h 1366"/>
                    <a:gd name="T2" fmla="*/ 0 w 1"/>
                    <a:gd name="T3" fmla="*/ 1366 h 1366"/>
                    <a:gd name="T4" fmla="*/ 0 60000 65536"/>
                    <a:gd name="T5" fmla="*/ 0 60000 65536"/>
                  </a:gdLst>
                  <a:ahLst/>
                  <a:cxnLst>
                    <a:cxn ang="T4">
                      <a:pos x="T0" y="T1"/>
                    </a:cxn>
                    <a:cxn ang="T5">
                      <a:pos x="T2" y="T3"/>
                    </a:cxn>
                  </a:cxnLst>
                  <a:rect l="0" t="0" r="r" b="b"/>
                  <a:pathLst>
                    <a:path w="1" h="1366">
                      <a:moveTo>
                        <a:pt x="0" y="0"/>
                      </a:moveTo>
                      <a:lnTo>
                        <a:pt x="0" y="1366"/>
                      </a:lnTo>
                    </a:path>
                  </a:pathLst>
                </a:custGeom>
                <a:noFill/>
                <a:ln w="3810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12" name="Freeform 14"/>
                <p:cNvSpPr/>
                <p:nvPr/>
              </p:nvSpPr>
              <p:spPr bwMode="auto">
                <a:xfrm>
                  <a:off x="735" y="2551"/>
                  <a:ext cx="1320" cy="1"/>
                </a:xfrm>
                <a:custGeom>
                  <a:avLst/>
                  <a:gdLst>
                    <a:gd name="T0" fmla="*/ 0 w 1320"/>
                    <a:gd name="T1" fmla="*/ 0 h 1"/>
                    <a:gd name="T2" fmla="*/ 1320 w 1320"/>
                    <a:gd name="T3" fmla="*/ 0 h 1"/>
                    <a:gd name="T4" fmla="*/ 0 60000 65536"/>
                    <a:gd name="T5" fmla="*/ 0 60000 65536"/>
                  </a:gdLst>
                  <a:ahLst/>
                  <a:cxnLst>
                    <a:cxn ang="T4">
                      <a:pos x="T0" y="T1"/>
                    </a:cxn>
                    <a:cxn ang="T5">
                      <a:pos x="T2" y="T3"/>
                    </a:cxn>
                  </a:cxnLst>
                  <a:rect l="0" t="0" r="r" b="b"/>
                  <a:pathLst>
                    <a:path w="1320" h="1">
                      <a:moveTo>
                        <a:pt x="0" y="0"/>
                      </a:moveTo>
                      <a:lnTo>
                        <a:pt x="1320" y="0"/>
                      </a:lnTo>
                    </a:path>
                  </a:pathLst>
                </a:custGeom>
                <a:noFill/>
                <a:ln w="3810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13" name="Freeform 15"/>
                <p:cNvSpPr/>
                <p:nvPr/>
              </p:nvSpPr>
              <p:spPr bwMode="auto">
                <a:xfrm>
                  <a:off x="2055" y="900"/>
                  <a:ext cx="1" cy="315"/>
                </a:xfrm>
                <a:custGeom>
                  <a:avLst/>
                  <a:gdLst>
                    <a:gd name="T0" fmla="*/ 0 w 1"/>
                    <a:gd name="T1" fmla="*/ 315 h 315"/>
                    <a:gd name="T2" fmla="*/ 0 w 1"/>
                    <a:gd name="T3" fmla="*/ 0 h 315"/>
                    <a:gd name="T4" fmla="*/ 0 60000 65536"/>
                    <a:gd name="T5" fmla="*/ 0 60000 65536"/>
                  </a:gdLst>
                  <a:ahLst/>
                  <a:cxnLst>
                    <a:cxn ang="T4">
                      <a:pos x="T0" y="T1"/>
                    </a:cxn>
                    <a:cxn ang="T5">
                      <a:pos x="T2" y="T3"/>
                    </a:cxn>
                  </a:cxnLst>
                  <a:rect l="0" t="0" r="r" b="b"/>
                  <a:pathLst>
                    <a:path w="1" h="315">
                      <a:moveTo>
                        <a:pt x="0" y="315"/>
                      </a:moveTo>
                      <a:lnTo>
                        <a:pt x="0" y="0"/>
                      </a:lnTo>
                    </a:path>
                  </a:pathLst>
                </a:custGeom>
                <a:noFill/>
                <a:ln w="3810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14" name="Line 16"/>
                <p:cNvSpPr>
                  <a:spLocks noChangeShapeType="1"/>
                </p:cNvSpPr>
                <p:nvPr/>
              </p:nvSpPr>
              <p:spPr bwMode="auto">
                <a:xfrm>
                  <a:off x="2058" y="900"/>
                  <a:ext cx="809"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5" name="Freeform 17"/>
                <p:cNvSpPr/>
                <p:nvPr/>
              </p:nvSpPr>
              <p:spPr bwMode="auto">
                <a:xfrm>
                  <a:off x="2055" y="2544"/>
                  <a:ext cx="1" cy="300"/>
                </a:xfrm>
                <a:custGeom>
                  <a:avLst/>
                  <a:gdLst>
                    <a:gd name="T0" fmla="*/ 0 w 1"/>
                    <a:gd name="T1" fmla="*/ 0 h 300"/>
                    <a:gd name="T2" fmla="*/ 0 w 1"/>
                    <a:gd name="T3" fmla="*/ 300 h 300"/>
                    <a:gd name="T4" fmla="*/ 0 60000 65536"/>
                    <a:gd name="T5" fmla="*/ 0 60000 65536"/>
                  </a:gdLst>
                  <a:ahLst/>
                  <a:cxnLst>
                    <a:cxn ang="T4">
                      <a:pos x="T0" y="T1"/>
                    </a:cxn>
                    <a:cxn ang="T5">
                      <a:pos x="T2" y="T3"/>
                    </a:cxn>
                  </a:cxnLst>
                  <a:rect l="0" t="0" r="r" b="b"/>
                  <a:pathLst>
                    <a:path w="1" h="300">
                      <a:moveTo>
                        <a:pt x="0" y="0"/>
                      </a:moveTo>
                      <a:lnTo>
                        <a:pt x="0" y="300"/>
                      </a:lnTo>
                    </a:path>
                  </a:pathLst>
                </a:custGeom>
                <a:noFill/>
                <a:ln w="3810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16" name="Line 18"/>
                <p:cNvSpPr>
                  <a:spLocks noChangeShapeType="1"/>
                </p:cNvSpPr>
                <p:nvPr/>
              </p:nvSpPr>
              <p:spPr bwMode="auto">
                <a:xfrm>
                  <a:off x="2058" y="2836"/>
                  <a:ext cx="809"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7" name="Freeform 19"/>
                <p:cNvSpPr/>
                <p:nvPr/>
              </p:nvSpPr>
              <p:spPr bwMode="auto">
                <a:xfrm>
                  <a:off x="2866" y="893"/>
                  <a:ext cx="1" cy="1951"/>
                </a:xfrm>
                <a:custGeom>
                  <a:avLst/>
                  <a:gdLst>
                    <a:gd name="T0" fmla="*/ 0 w 1"/>
                    <a:gd name="T1" fmla="*/ 0 h 1951"/>
                    <a:gd name="T2" fmla="*/ 0 w 1"/>
                    <a:gd name="T3" fmla="*/ 1951 h 1951"/>
                    <a:gd name="T4" fmla="*/ 0 60000 65536"/>
                    <a:gd name="T5" fmla="*/ 0 60000 65536"/>
                  </a:gdLst>
                  <a:ahLst/>
                  <a:cxnLst>
                    <a:cxn ang="T4">
                      <a:pos x="T0" y="T1"/>
                    </a:cxn>
                    <a:cxn ang="T5">
                      <a:pos x="T2" y="T3"/>
                    </a:cxn>
                  </a:cxnLst>
                  <a:rect l="0" t="0" r="r" b="b"/>
                  <a:pathLst>
                    <a:path w="1" h="1951">
                      <a:moveTo>
                        <a:pt x="0" y="0"/>
                      </a:moveTo>
                      <a:lnTo>
                        <a:pt x="0" y="1951"/>
                      </a:lnTo>
                    </a:path>
                  </a:pathLst>
                </a:custGeom>
                <a:noFill/>
                <a:ln w="3810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18" name="Rectangle 20"/>
                <p:cNvSpPr>
                  <a:spLocks noChangeArrowheads="1"/>
                </p:cNvSpPr>
                <p:nvPr/>
              </p:nvSpPr>
              <p:spPr bwMode="auto">
                <a:xfrm>
                  <a:off x="739" y="1545"/>
                  <a:ext cx="2128" cy="676"/>
                </a:xfrm>
                <a:prstGeom prst="rect">
                  <a:avLst/>
                </a:prstGeom>
                <a:noFill/>
                <a:ln w="38100">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5395" name="Group 21"/>
              <p:cNvGrpSpPr/>
              <p:nvPr/>
            </p:nvGrpSpPr>
            <p:grpSpPr bwMode="auto">
              <a:xfrm>
                <a:off x="732" y="897"/>
                <a:ext cx="2138" cy="1940"/>
                <a:chOff x="822" y="897"/>
                <a:chExt cx="2138" cy="1940"/>
              </a:xfrm>
            </p:grpSpPr>
            <p:sp>
              <p:nvSpPr>
                <p:cNvPr id="15396" name="Freeform 22"/>
                <p:cNvSpPr/>
                <p:nvPr/>
              </p:nvSpPr>
              <p:spPr bwMode="auto">
                <a:xfrm>
                  <a:off x="822" y="1200"/>
                  <a:ext cx="283" cy="276"/>
                </a:xfrm>
                <a:custGeom>
                  <a:avLst/>
                  <a:gdLst>
                    <a:gd name="T0" fmla="*/ 0 w 283"/>
                    <a:gd name="T1" fmla="*/ 276 h 276"/>
                    <a:gd name="T2" fmla="*/ 283 w 283"/>
                    <a:gd name="T3" fmla="*/ 0 h 276"/>
                    <a:gd name="T4" fmla="*/ 0 60000 65536"/>
                    <a:gd name="T5" fmla="*/ 0 60000 65536"/>
                  </a:gdLst>
                  <a:ahLst/>
                  <a:cxnLst>
                    <a:cxn ang="T4">
                      <a:pos x="T0" y="T1"/>
                    </a:cxn>
                    <a:cxn ang="T5">
                      <a:pos x="T2" y="T3"/>
                    </a:cxn>
                  </a:cxnLst>
                  <a:rect l="0" t="0" r="r" b="b"/>
                  <a:pathLst>
                    <a:path w="283" h="276">
                      <a:moveTo>
                        <a:pt x="0" y="276"/>
                      </a:moveTo>
                      <a:lnTo>
                        <a:pt x="283"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97" name="Line 23"/>
                <p:cNvSpPr>
                  <a:spLocks noChangeShapeType="1"/>
                </p:cNvSpPr>
                <p:nvPr/>
              </p:nvSpPr>
              <p:spPr bwMode="auto">
                <a:xfrm flipV="1">
                  <a:off x="1083" y="1212"/>
                  <a:ext cx="330" cy="3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8" name="Freeform 24"/>
                <p:cNvSpPr/>
                <p:nvPr/>
              </p:nvSpPr>
              <p:spPr bwMode="auto">
                <a:xfrm>
                  <a:off x="1425" y="1200"/>
                  <a:ext cx="349" cy="345"/>
                </a:xfrm>
                <a:custGeom>
                  <a:avLst/>
                  <a:gdLst>
                    <a:gd name="T0" fmla="*/ 0 w 349"/>
                    <a:gd name="T1" fmla="*/ 345 h 345"/>
                    <a:gd name="T2" fmla="*/ 349 w 349"/>
                    <a:gd name="T3" fmla="*/ 0 h 345"/>
                    <a:gd name="T4" fmla="*/ 0 60000 65536"/>
                    <a:gd name="T5" fmla="*/ 0 60000 65536"/>
                  </a:gdLst>
                  <a:ahLst/>
                  <a:cxnLst>
                    <a:cxn ang="T4">
                      <a:pos x="T0" y="T1"/>
                    </a:cxn>
                    <a:cxn ang="T5">
                      <a:pos x="T2" y="T3"/>
                    </a:cxn>
                  </a:cxnLst>
                  <a:rect l="0" t="0" r="r" b="b"/>
                  <a:pathLst>
                    <a:path w="349" h="345">
                      <a:moveTo>
                        <a:pt x="0" y="345"/>
                      </a:moveTo>
                      <a:lnTo>
                        <a:pt x="349"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99" name="Line 25"/>
                <p:cNvSpPr>
                  <a:spLocks noChangeShapeType="1"/>
                </p:cNvSpPr>
                <p:nvPr/>
              </p:nvSpPr>
              <p:spPr bwMode="auto">
                <a:xfrm flipV="1">
                  <a:off x="1788" y="912"/>
                  <a:ext cx="630" cy="6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0" name="Line 26"/>
                <p:cNvSpPr>
                  <a:spLocks noChangeShapeType="1"/>
                </p:cNvSpPr>
                <p:nvPr/>
              </p:nvSpPr>
              <p:spPr bwMode="auto">
                <a:xfrm flipV="1">
                  <a:off x="2163" y="897"/>
                  <a:ext cx="645" cy="64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1" name="Line 27"/>
                <p:cNvSpPr>
                  <a:spLocks noChangeShapeType="1"/>
                </p:cNvSpPr>
                <p:nvPr/>
              </p:nvSpPr>
              <p:spPr bwMode="auto">
                <a:xfrm flipV="1">
                  <a:off x="2538" y="1137"/>
                  <a:ext cx="405" cy="40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2" name="Freeform 28"/>
                <p:cNvSpPr/>
                <p:nvPr/>
              </p:nvSpPr>
              <p:spPr bwMode="auto">
                <a:xfrm>
                  <a:off x="2880" y="1462"/>
                  <a:ext cx="80" cy="83"/>
                </a:xfrm>
                <a:custGeom>
                  <a:avLst/>
                  <a:gdLst>
                    <a:gd name="T0" fmla="*/ 0 w 80"/>
                    <a:gd name="T1" fmla="*/ 83 h 83"/>
                    <a:gd name="T2" fmla="*/ 80 w 80"/>
                    <a:gd name="T3" fmla="*/ 0 h 83"/>
                    <a:gd name="T4" fmla="*/ 0 60000 65536"/>
                    <a:gd name="T5" fmla="*/ 0 60000 65536"/>
                  </a:gdLst>
                  <a:ahLst/>
                  <a:cxnLst>
                    <a:cxn ang="T4">
                      <a:pos x="T0" y="T1"/>
                    </a:cxn>
                    <a:cxn ang="T5">
                      <a:pos x="T2" y="T3"/>
                    </a:cxn>
                  </a:cxnLst>
                  <a:rect l="0" t="0" r="r" b="b"/>
                  <a:pathLst>
                    <a:path w="80" h="83">
                      <a:moveTo>
                        <a:pt x="0" y="83"/>
                      </a:moveTo>
                      <a:lnTo>
                        <a:pt x="80"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03" name="Freeform 29"/>
                <p:cNvSpPr/>
                <p:nvPr/>
              </p:nvSpPr>
              <p:spPr bwMode="auto">
                <a:xfrm>
                  <a:off x="1770" y="2221"/>
                  <a:ext cx="330" cy="330"/>
                </a:xfrm>
                <a:custGeom>
                  <a:avLst/>
                  <a:gdLst>
                    <a:gd name="T0" fmla="*/ 330 w 330"/>
                    <a:gd name="T1" fmla="*/ 0 h 330"/>
                    <a:gd name="T2" fmla="*/ 0 w 330"/>
                    <a:gd name="T3" fmla="*/ 330 h 330"/>
                    <a:gd name="T4" fmla="*/ 0 60000 65536"/>
                    <a:gd name="T5" fmla="*/ 0 60000 65536"/>
                  </a:gdLst>
                  <a:ahLst/>
                  <a:cxnLst>
                    <a:cxn ang="T4">
                      <a:pos x="T0" y="T1"/>
                    </a:cxn>
                    <a:cxn ang="T5">
                      <a:pos x="T2" y="T3"/>
                    </a:cxn>
                  </a:cxnLst>
                  <a:rect l="0" t="0" r="r" b="b"/>
                  <a:pathLst>
                    <a:path w="330" h="330">
                      <a:moveTo>
                        <a:pt x="330" y="0"/>
                      </a:moveTo>
                      <a:lnTo>
                        <a:pt x="0" y="33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04" name="Freeform 30"/>
                <p:cNvSpPr/>
                <p:nvPr/>
              </p:nvSpPr>
              <p:spPr bwMode="auto">
                <a:xfrm>
                  <a:off x="2130" y="2221"/>
                  <a:ext cx="345" cy="345"/>
                </a:xfrm>
                <a:custGeom>
                  <a:avLst/>
                  <a:gdLst>
                    <a:gd name="T0" fmla="*/ 0 w 345"/>
                    <a:gd name="T1" fmla="*/ 345 h 345"/>
                    <a:gd name="T2" fmla="*/ 345 w 345"/>
                    <a:gd name="T3" fmla="*/ 0 h 345"/>
                    <a:gd name="T4" fmla="*/ 0 60000 65536"/>
                    <a:gd name="T5" fmla="*/ 0 60000 65536"/>
                  </a:gdLst>
                  <a:ahLst/>
                  <a:cxnLst>
                    <a:cxn ang="T4">
                      <a:pos x="T0" y="T1"/>
                    </a:cxn>
                    <a:cxn ang="T5">
                      <a:pos x="T2" y="T3"/>
                    </a:cxn>
                  </a:cxnLst>
                  <a:rect l="0" t="0" r="r" b="b"/>
                  <a:pathLst>
                    <a:path w="345" h="345">
                      <a:moveTo>
                        <a:pt x="0" y="345"/>
                      </a:moveTo>
                      <a:lnTo>
                        <a:pt x="345" y="0"/>
                      </a:lnTo>
                    </a:path>
                  </a:pathLst>
                </a:custGeom>
                <a:noFill/>
                <a:ln w="19050" cmpd="sng">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05" name="Line 31"/>
                <p:cNvSpPr>
                  <a:spLocks noChangeShapeType="1"/>
                </p:cNvSpPr>
                <p:nvPr/>
              </p:nvSpPr>
              <p:spPr bwMode="auto">
                <a:xfrm flipV="1">
                  <a:off x="2250" y="2221"/>
                  <a:ext cx="615" cy="61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6" name="Freeform 32"/>
                <p:cNvSpPr/>
                <p:nvPr/>
              </p:nvSpPr>
              <p:spPr bwMode="auto">
                <a:xfrm>
                  <a:off x="2611" y="2495"/>
                  <a:ext cx="349" cy="342"/>
                </a:xfrm>
                <a:custGeom>
                  <a:avLst/>
                  <a:gdLst>
                    <a:gd name="T0" fmla="*/ 0 w 349"/>
                    <a:gd name="T1" fmla="*/ 342 h 342"/>
                    <a:gd name="T2" fmla="*/ 349 w 349"/>
                    <a:gd name="T3" fmla="*/ 0 h 342"/>
                    <a:gd name="T4" fmla="*/ 0 60000 65536"/>
                    <a:gd name="T5" fmla="*/ 0 60000 65536"/>
                  </a:gdLst>
                  <a:ahLst/>
                  <a:cxnLst>
                    <a:cxn ang="T4">
                      <a:pos x="T0" y="T1"/>
                    </a:cxn>
                    <a:cxn ang="T5">
                      <a:pos x="T2" y="T3"/>
                    </a:cxn>
                  </a:cxnLst>
                  <a:rect l="0" t="0" r="r" b="b"/>
                  <a:pathLst>
                    <a:path w="349" h="342">
                      <a:moveTo>
                        <a:pt x="0" y="342"/>
                      </a:moveTo>
                      <a:lnTo>
                        <a:pt x="349"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07" name="Freeform 33"/>
                <p:cNvSpPr/>
                <p:nvPr/>
              </p:nvSpPr>
              <p:spPr bwMode="auto">
                <a:xfrm>
                  <a:off x="1403" y="2226"/>
                  <a:ext cx="328" cy="327"/>
                </a:xfrm>
                <a:custGeom>
                  <a:avLst/>
                  <a:gdLst>
                    <a:gd name="T0" fmla="*/ 0 w 328"/>
                    <a:gd name="T1" fmla="*/ 327 h 327"/>
                    <a:gd name="T2" fmla="*/ 328 w 328"/>
                    <a:gd name="T3" fmla="*/ 0 h 327"/>
                    <a:gd name="T4" fmla="*/ 0 60000 65536"/>
                    <a:gd name="T5" fmla="*/ 0 60000 65536"/>
                  </a:gdLst>
                  <a:ahLst/>
                  <a:cxnLst>
                    <a:cxn ang="T4">
                      <a:pos x="T0" y="T1"/>
                    </a:cxn>
                    <a:cxn ang="T5">
                      <a:pos x="T2" y="T3"/>
                    </a:cxn>
                  </a:cxnLst>
                  <a:rect l="0" t="0" r="r" b="b"/>
                  <a:pathLst>
                    <a:path w="328" h="327">
                      <a:moveTo>
                        <a:pt x="0" y="327"/>
                      </a:moveTo>
                      <a:lnTo>
                        <a:pt x="328"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08" name="Line 34"/>
                <p:cNvSpPr>
                  <a:spLocks noChangeShapeType="1"/>
                </p:cNvSpPr>
                <p:nvPr/>
              </p:nvSpPr>
              <p:spPr bwMode="auto">
                <a:xfrm flipV="1">
                  <a:off x="1035" y="2221"/>
                  <a:ext cx="330" cy="33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9" name="Freeform 35"/>
                <p:cNvSpPr/>
                <p:nvPr/>
              </p:nvSpPr>
              <p:spPr bwMode="auto">
                <a:xfrm>
                  <a:off x="822" y="2226"/>
                  <a:ext cx="211" cy="218"/>
                </a:xfrm>
                <a:custGeom>
                  <a:avLst/>
                  <a:gdLst>
                    <a:gd name="T0" fmla="*/ 0 w 211"/>
                    <a:gd name="T1" fmla="*/ 218 h 218"/>
                    <a:gd name="T2" fmla="*/ 211 w 211"/>
                    <a:gd name="T3" fmla="*/ 0 h 218"/>
                    <a:gd name="T4" fmla="*/ 0 60000 65536"/>
                    <a:gd name="T5" fmla="*/ 0 60000 65536"/>
                  </a:gdLst>
                  <a:ahLst/>
                  <a:cxnLst>
                    <a:cxn ang="T4">
                      <a:pos x="T0" y="T1"/>
                    </a:cxn>
                    <a:cxn ang="T5">
                      <a:pos x="T2" y="T3"/>
                    </a:cxn>
                  </a:cxnLst>
                  <a:rect l="0" t="0" r="r" b="b"/>
                  <a:pathLst>
                    <a:path w="211" h="218">
                      <a:moveTo>
                        <a:pt x="0" y="218"/>
                      </a:moveTo>
                      <a:lnTo>
                        <a:pt x="211"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15393" name="Line 274"/>
            <p:cNvSpPr>
              <a:spLocks noChangeShapeType="1"/>
            </p:cNvSpPr>
            <p:nvPr/>
          </p:nvSpPr>
          <p:spPr bwMode="auto">
            <a:xfrm>
              <a:off x="727" y="1204"/>
              <a:ext cx="132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6615" name="Group 231"/>
          <p:cNvGrpSpPr/>
          <p:nvPr/>
        </p:nvGrpSpPr>
        <p:grpSpPr bwMode="auto">
          <a:xfrm>
            <a:off x="1360488" y="2881313"/>
            <a:ext cx="1408112" cy="641350"/>
            <a:chOff x="947" y="1815"/>
            <a:chExt cx="887" cy="404"/>
          </a:xfrm>
        </p:grpSpPr>
        <p:sp>
          <p:nvSpPr>
            <p:cNvPr id="15382" name="Rectangle 221"/>
            <p:cNvSpPr>
              <a:spLocks noChangeArrowheads="1"/>
            </p:cNvSpPr>
            <p:nvPr/>
          </p:nvSpPr>
          <p:spPr bwMode="auto">
            <a:xfrm>
              <a:off x="1106" y="1815"/>
              <a:ext cx="728" cy="117"/>
            </a:xfrm>
            <a:prstGeom prst="rect">
              <a:avLst/>
            </a:prstGeom>
            <a:solidFill>
              <a:srgbClr val="CCFFFF"/>
            </a:solidFill>
            <a:ln w="9525">
              <a:solidFill>
                <a:srgbClr val="CC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5383" name="Group 222"/>
            <p:cNvGrpSpPr/>
            <p:nvPr/>
          </p:nvGrpSpPr>
          <p:grpSpPr bwMode="auto">
            <a:xfrm>
              <a:off x="947" y="1850"/>
              <a:ext cx="882" cy="369"/>
              <a:chOff x="2540" y="790"/>
              <a:chExt cx="857" cy="369"/>
            </a:xfrm>
          </p:grpSpPr>
          <p:grpSp>
            <p:nvGrpSpPr>
              <p:cNvPr id="15384" name="Group 223"/>
              <p:cNvGrpSpPr/>
              <p:nvPr/>
            </p:nvGrpSpPr>
            <p:grpSpPr bwMode="auto">
              <a:xfrm>
                <a:off x="2540" y="833"/>
                <a:ext cx="840" cy="326"/>
                <a:chOff x="2540" y="833"/>
                <a:chExt cx="840" cy="326"/>
              </a:xfrm>
            </p:grpSpPr>
            <p:grpSp>
              <p:nvGrpSpPr>
                <p:cNvPr id="15386" name="Group 224"/>
                <p:cNvGrpSpPr/>
                <p:nvPr/>
              </p:nvGrpSpPr>
              <p:grpSpPr bwMode="auto">
                <a:xfrm>
                  <a:off x="2540" y="833"/>
                  <a:ext cx="282" cy="326"/>
                  <a:chOff x="2028" y="889"/>
                  <a:chExt cx="282" cy="326"/>
                </a:xfrm>
              </p:grpSpPr>
              <p:grpSp>
                <p:nvGrpSpPr>
                  <p:cNvPr id="15388" name="Group 225"/>
                  <p:cNvGrpSpPr/>
                  <p:nvPr/>
                </p:nvGrpSpPr>
                <p:grpSpPr bwMode="auto">
                  <a:xfrm>
                    <a:off x="2033" y="889"/>
                    <a:ext cx="277" cy="326"/>
                    <a:chOff x="2033" y="889"/>
                    <a:chExt cx="277" cy="326"/>
                  </a:xfrm>
                </p:grpSpPr>
                <p:sp>
                  <p:nvSpPr>
                    <p:cNvPr id="15390" name="Line 226"/>
                    <p:cNvSpPr>
                      <a:spLocks noChangeShapeType="1"/>
                    </p:cNvSpPr>
                    <p:nvPr/>
                  </p:nvSpPr>
                  <p:spPr bwMode="auto">
                    <a:xfrm>
                      <a:off x="2033" y="1058"/>
                      <a:ext cx="91" cy="15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1" name="Line 227"/>
                    <p:cNvSpPr>
                      <a:spLocks noChangeShapeType="1"/>
                    </p:cNvSpPr>
                    <p:nvPr/>
                  </p:nvSpPr>
                  <p:spPr bwMode="auto">
                    <a:xfrm flipV="1">
                      <a:off x="2122" y="889"/>
                      <a:ext cx="188" cy="3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89" name="Line 228"/>
                  <p:cNvSpPr>
                    <a:spLocks noChangeShapeType="1"/>
                  </p:cNvSpPr>
                  <p:nvPr/>
                </p:nvSpPr>
                <p:spPr bwMode="auto">
                  <a:xfrm>
                    <a:off x="2028" y="1060"/>
                    <a:ext cx="1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87" name="Line 229"/>
                <p:cNvSpPr>
                  <a:spLocks noChangeShapeType="1"/>
                </p:cNvSpPr>
                <p:nvPr/>
              </p:nvSpPr>
              <p:spPr bwMode="auto">
                <a:xfrm>
                  <a:off x="2816" y="836"/>
                  <a:ext cx="5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85" name="Text Box 230"/>
              <p:cNvSpPr txBox="1">
                <a:spLocks noChangeArrowheads="1"/>
              </p:cNvSpPr>
              <p:nvPr/>
            </p:nvSpPr>
            <p:spPr bwMode="auto">
              <a:xfrm>
                <a:off x="2786" y="790"/>
                <a:ext cx="6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t>Ra</a:t>
                </a:r>
                <a:r>
                  <a:rPr lang="en-US" altLang="zh-CN" b="1"/>
                  <a:t> 1.6</a:t>
                </a:r>
                <a:endParaRPr lang="en-US" altLang="zh-CN" b="1"/>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6663"/>
                                        </p:tgtEl>
                                        <p:attrNameLst>
                                          <p:attrName>style.visibility</p:attrName>
                                        </p:attrNameLst>
                                      </p:cBhvr>
                                      <p:to>
                                        <p:strVal val="visible"/>
                                      </p:to>
                                    </p:set>
                                    <p:animEffect transition="in" filter="blinds(vertical)">
                                      <p:cBhvr>
                                        <p:cTn id="7" dur="500"/>
                                        <p:tgtEl>
                                          <p:spTgt spid="166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6555"/>
                                        </p:tgtEl>
                                        <p:attrNameLst>
                                          <p:attrName>style.visibility</p:attrName>
                                        </p:attrNameLst>
                                      </p:cBhvr>
                                      <p:to>
                                        <p:strVal val="visible"/>
                                      </p:to>
                                    </p:set>
                                    <p:animEffect transition="in" filter="wipe(down)">
                                      <p:cBhvr>
                                        <p:cTn id="12" dur="500"/>
                                        <p:tgtEl>
                                          <p:spTgt spid="165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546"/>
                                        </p:tgtEl>
                                        <p:attrNameLst>
                                          <p:attrName>style.visibility</p:attrName>
                                        </p:attrNameLst>
                                      </p:cBhvr>
                                      <p:to>
                                        <p:strVal val="visible"/>
                                      </p:to>
                                    </p:set>
                                    <p:animEffect transition="in" filter="wipe(down)">
                                      <p:cBhvr>
                                        <p:cTn id="17" dur="500"/>
                                        <p:tgtEl>
                                          <p:spTgt spid="165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6564"/>
                                        </p:tgtEl>
                                        <p:attrNameLst>
                                          <p:attrName>style.visibility</p:attrName>
                                        </p:attrNameLst>
                                      </p:cBhvr>
                                      <p:to>
                                        <p:strVal val="visible"/>
                                      </p:to>
                                    </p:set>
                                    <p:animEffect transition="in" filter="wipe(up)">
                                      <p:cBhvr>
                                        <p:cTn id="22" dur="500"/>
                                        <p:tgtEl>
                                          <p:spTgt spid="1656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16504"/>
                                        </p:tgtEl>
                                        <p:attrNameLst>
                                          <p:attrName>style.visibility</p:attrName>
                                        </p:attrNameLst>
                                      </p:cBhvr>
                                      <p:to>
                                        <p:strVal val="visible"/>
                                      </p:to>
                                    </p:set>
                                    <p:anim calcmode="lin" valueType="num">
                                      <p:cBhvr additive="base">
                                        <p:cTn id="27" dur="500" fill="hold"/>
                                        <p:tgtEl>
                                          <p:spTgt spid="16504"/>
                                        </p:tgtEl>
                                        <p:attrNameLst>
                                          <p:attrName>ppt_x</p:attrName>
                                        </p:attrNameLst>
                                      </p:cBhvr>
                                      <p:tavLst>
                                        <p:tav tm="0">
                                          <p:val>
                                            <p:strVal val="#ppt_x"/>
                                          </p:val>
                                        </p:tav>
                                        <p:tav tm="100000">
                                          <p:val>
                                            <p:strVal val="#ppt_x"/>
                                          </p:val>
                                        </p:tav>
                                      </p:tavLst>
                                    </p:anim>
                                    <p:anim calcmode="lin" valueType="num">
                                      <p:cBhvr additive="base">
                                        <p:cTn id="28" dur="500" fill="hold"/>
                                        <p:tgtEl>
                                          <p:spTgt spid="16504"/>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6615"/>
                                        </p:tgtEl>
                                        <p:attrNameLst>
                                          <p:attrName>style.visibility</p:attrName>
                                        </p:attrNameLst>
                                      </p:cBhvr>
                                      <p:to>
                                        <p:strVal val="visible"/>
                                      </p:to>
                                    </p:set>
                                    <p:animEffect transition="in" filter="wipe(up)">
                                      <p:cBhvr>
                                        <p:cTn id="33" dur="500"/>
                                        <p:tgtEl>
                                          <p:spTgt spid="166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616"/>
                                        </p:tgtEl>
                                        <p:attrNameLst>
                                          <p:attrName>style.visibility</p:attrName>
                                        </p:attrNameLst>
                                      </p:cBhvr>
                                      <p:to>
                                        <p:strVal val="visible"/>
                                      </p:to>
                                    </p:set>
                                    <p:animEffect transition="in" filter="wipe(left)">
                                      <p:cBhvr>
                                        <p:cTn id="38" dur="500"/>
                                        <p:tgtEl>
                                          <p:spTgt spid="1661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503"/>
                                        </p:tgtEl>
                                        <p:attrNameLst>
                                          <p:attrName>style.visibility</p:attrName>
                                        </p:attrNameLst>
                                      </p:cBhvr>
                                      <p:to>
                                        <p:strVal val="visible"/>
                                      </p:to>
                                    </p:set>
                                    <p:anim calcmode="lin" valueType="num">
                                      <p:cBhvr additive="base">
                                        <p:cTn id="43" dur="500" fill="hold"/>
                                        <p:tgtEl>
                                          <p:spTgt spid="16503"/>
                                        </p:tgtEl>
                                        <p:attrNameLst>
                                          <p:attrName>ppt_x</p:attrName>
                                        </p:attrNameLst>
                                      </p:cBhvr>
                                      <p:tavLst>
                                        <p:tav tm="0">
                                          <p:val>
                                            <p:strVal val="#ppt_x"/>
                                          </p:val>
                                        </p:tav>
                                        <p:tav tm="100000">
                                          <p:val>
                                            <p:strVal val="#ppt_x"/>
                                          </p:val>
                                        </p:tav>
                                      </p:tavLst>
                                    </p:anim>
                                    <p:anim calcmode="lin" valueType="num">
                                      <p:cBhvr additive="base">
                                        <p:cTn id="44" dur="500" fill="hold"/>
                                        <p:tgtEl>
                                          <p:spTgt spid="1650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16604"/>
                                        </p:tgtEl>
                                        <p:attrNameLst>
                                          <p:attrName>style.visibility</p:attrName>
                                        </p:attrNameLst>
                                      </p:cBhvr>
                                      <p:to>
                                        <p:strVal val="visible"/>
                                      </p:to>
                                    </p:set>
                                    <p:animEffect transition="in" filter="wipe(up)">
                                      <p:cBhvr>
                                        <p:cTn id="49" dur="500"/>
                                        <p:tgtEl>
                                          <p:spTgt spid="16604"/>
                                        </p:tgtEl>
                                      </p:cBhvr>
                                    </p:animEffect>
                                  </p:childTnLst>
                                </p:cTn>
                              </p:par>
                            </p:childTnLst>
                          </p:cTn>
                        </p:par>
                        <p:par>
                          <p:cTn id="50" fill="hold">
                            <p:stCondLst>
                              <p:cond delay="500"/>
                            </p:stCondLst>
                            <p:childTnLst>
                              <p:par>
                                <p:cTn id="51" presetID="22" presetClass="entr" presetSubtype="2" fill="hold" nodeType="afterEffect">
                                  <p:stCondLst>
                                    <p:cond delay="0"/>
                                  </p:stCondLst>
                                  <p:childTnLst>
                                    <p:set>
                                      <p:cBhvr>
                                        <p:cTn id="52" dur="1" fill="hold">
                                          <p:stCondLst>
                                            <p:cond delay="0"/>
                                          </p:stCondLst>
                                        </p:cTn>
                                        <p:tgtEl>
                                          <p:spTgt spid="16625"/>
                                        </p:tgtEl>
                                        <p:attrNameLst>
                                          <p:attrName>style.visibility</p:attrName>
                                        </p:attrNameLst>
                                      </p:cBhvr>
                                      <p:to>
                                        <p:strVal val="visible"/>
                                      </p:to>
                                    </p:set>
                                    <p:animEffect transition="in" filter="wipe(right)">
                                      <p:cBhvr>
                                        <p:cTn id="53" dur="500"/>
                                        <p:tgtEl>
                                          <p:spTgt spid="1662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16573"/>
                                        </p:tgtEl>
                                        <p:attrNameLst>
                                          <p:attrName>style.visibility</p:attrName>
                                        </p:attrNameLst>
                                      </p:cBhvr>
                                      <p:to>
                                        <p:strVal val="visible"/>
                                      </p:to>
                                    </p:set>
                                    <p:animEffect transition="in" filter="wipe(right)">
                                      <p:cBhvr>
                                        <p:cTn id="58" dur="500"/>
                                        <p:tgtEl>
                                          <p:spTgt spid="1657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nodeType="clickEffect">
                                  <p:stCondLst>
                                    <p:cond delay="0"/>
                                  </p:stCondLst>
                                  <p:childTnLst>
                                    <p:set>
                                      <p:cBhvr>
                                        <p:cTn id="62" dur="1" fill="hold">
                                          <p:stCondLst>
                                            <p:cond delay="0"/>
                                          </p:stCondLst>
                                        </p:cTn>
                                        <p:tgtEl>
                                          <p:spTgt spid="16582"/>
                                        </p:tgtEl>
                                        <p:attrNameLst>
                                          <p:attrName>style.visibility</p:attrName>
                                        </p:attrNameLst>
                                      </p:cBhvr>
                                      <p:to>
                                        <p:strVal val="visible"/>
                                      </p:to>
                                    </p:set>
                                    <p:animEffect transition="in" filter="wipe(right)">
                                      <p:cBhvr>
                                        <p:cTn id="63" dur="500"/>
                                        <p:tgtEl>
                                          <p:spTgt spid="16582"/>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6420"/>
                                        </p:tgtEl>
                                        <p:attrNameLst>
                                          <p:attrName>style.visibility</p:attrName>
                                        </p:attrNameLst>
                                      </p:cBhvr>
                                      <p:to>
                                        <p:strVal val="visible"/>
                                      </p:to>
                                    </p:set>
                                    <p:animEffect transition="in" filter="blinds(horizontal)">
                                      <p:cBhvr>
                                        <p:cTn id="68" dur="500"/>
                                        <p:tgtEl>
                                          <p:spTgt spid="1642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16657"/>
                                        </p:tgtEl>
                                        <p:attrNameLst>
                                          <p:attrName>style.visibility</p:attrName>
                                        </p:attrNameLst>
                                      </p:cBhvr>
                                      <p:to>
                                        <p:strVal val="visible"/>
                                      </p:to>
                                    </p:set>
                                    <p:animEffect transition="in" filter="wipe(up)">
                                      <p:cBhvr>
                                        <p:cTn id="73" dur="500"/>
                                        <p:tgtEl>
                                          <p:spTgt spid="16657"/>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1" fill="hold" grpId="0" nodeType="clickEffect">
                                  <p:stCondLst>
                                    <p:cond delay="0"/>
                                  </p:stCondLst>
                                  <p:childTnLst>
                                    <p:set>
                                      <p:cBhvr>
                                        <p:cTn id="77" dur="1" fill="hold">
                                          <p:stCondLst>
                                            <p:cond delay="0"/>
                                          </p:stCondLst>
                                        </p:cTn>
                                        <p:tgtEl>
                                          <p:spTgt spid="16392"/>
                                        </p:tgtEl>
                                        <p:attrNameLst>
                                          <p:attrName>style.visibility</p:attrName>
                                        </p:attrNameLst>
                                      </p:cBhvr>
                                      <p:to>
                                        <p:strVal val="visible"/>
                                      </p:to>
                                    </p:set>
                                    <p:anim calcmode="lin" valueType="num">
                                      <p:cBhvr additive="base">
                                        <p:cTn id="78" dur="500" fill="hold"/>
                                        <p:tgtEl>
                                          <p:spTgt spid="16392"/>
                                        </p:tgtEl>
                                        <p:attrNameLst>
                                          <p:attrName>ppt_x</p:attrName>
                                        </p:attrNameLst>
                                      </p:cBhvr>
                                      <p:tavLst>
                                        <p:tav tm="0">
                                          <p:val>
                                            <p:strVal val="#ppt_x"/>
                                          </p:val>
                                        </p:tav>
                                        <p:tav tm="100000">
                                          <p:val>
                                            <p:strVal val="#ppt_x"/>
                                          </p:val>
                                        </p:tav>
                                      </p:tavLst>
                                    </p:anim>
                                    <p:anim calcmode="lin" valueType="num">
                                      <p:cBhvr additive="base">
                                        <p:cTn id="79" dur="500" fill="hold"/>
                                        <p:tgtEl>
                                          <p:spTgt spid="16392"/>
                                        </p:tgtEl>
                                        <p:attrNameLst>
                                          <p:attrName>ppt_y</p:attrName>
                                        </p:attrNameLst>
                                      </p:cBhvr>
                                      <p:tavLst>
                                        <p:tav tm="0">
                                          <p:val>
                                            <p:strVal val="0-#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16664"/>
                                        </p:tgtEl>
                                        <p:attrNameLst>
                                          <p:attrName>style.visibility</p:attrName>
                                        </p:attrNameLst>
                                      </p:cBhvr>
                                      <p:to>
                                        <p:strVal val="visible"/>
                                      </p:to>
                                    </p:set>
                                    <p:animEffect transition="in" filter="wipe(down)">
                                      <p:cBhvr>
                                        <p:cTn id="84" dur="500"/>
                                        <p:tgtEl>
                                          <p:spTgt spid="16664"/>
                                        </p:tgtEl>
                                      </p:cBhvr>
                                    </p:animEffect>
                                  </p:childTnLst>
                                </p:cTn>
                              </p:par>
                            </p:childTnLst>
                          </p:cTn>
                        </p:par>
                        <p:par>
                          <p:cTn id="85" fill="hold">
                            <p:stCondLst>
                              <p:cond delay="500"/>
                            </p:stCondLst>
                            <p:childTnLst>
                              <p:par>
                                <p:cTn id="86" presetID="2" presetClass="entr" presetSubtype="2" fill="hold" grpId="0" nodeType="afterEffect">
                                  <p:stCondLst>
                                    <p:cond delay="0"/>
                                  </p:stCondLst>
                                  <p:childTnLst>
                                    <p:set>
                                      <p:cBhvr>
                                        <p:cTn id="87" dur="1" fill="hold">
                                          <p:stCondLst>
                                            <p:cond delay="0"/>
                                          </p:stCondLst>
                                        </p:cTn>
                                        <p:tgtEl>
                                          <p:spTgt spid="16496"/>
                                        </p:tgtEl>
                                        <p:attrNameLst>
                                          <p:attrName>style.visibility</p:attrName>
                                        </p:attrNameLst>
                                      </p:cBhvr>
                                      <p:to>
                                        <p:strVal val="visible"/>
                                      </p:to>
                                    </p:set>
                                    <p:anim calcmode="lin" valueType="num">
                                      <p:cBhvr additive="base">
                                        <p:cTn id="88" dur="500" fill="hold"/>
                                        <p:tgtEl>
                                          <p:spTgt spid="16496"/>
                                        </p:tgtEl>
                                        <p:attrNameLst>
                                          <p:attrName>ppt_x</p:attrName>
                                        </p:attrNameLst>
                                      </p:cBhvr>
                                      <p:tavLst>
                                        <p:tav tm="0">
                                          <p:val>
                                            <p:strVal val="1+#ppt_w/2"/>
                                          </p:val>
                                        </p:tav>
                                        <p:tav tm="100000">
                                          <p:val>
                                            <p:strVal val="#ppt_x"/>
                                          </p:val>
                                        </p:tav>
                                      </p:tavLst>
                                    </p:anim>
                                    <p:anim calcmode="lin" valueType="num">
                                      <p:cBhvr additive="base">
                                        <p:cTn id="89" dur="500" fill="hold"/>
                                        <p:tgtEl>
                                          <p:spTgt spid="16496"/>
                                        </p:tgtEl>
                                        <p:attrNameLst>
                                          <p:attrName>ppt_y</p:attrName>
                                        </p:attrNameLst>
                                      </p:cBhvr>
                                      <p:tavLst>
                                        <p:tav tm="0">
                                          <p:val>
                                            <p:strVal val="#ppt_y"/>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16479"/>
                                        </p:tgtEl>
                                        <p:attrNameLst>
                                          <p:attrName>style.visibility</p:attrName>
                                        </p:attrNameLst>
                                      </p:cBhvr>
                                      <p:to>
                                        <p:strVal val="visible"/>
                                      </p:to>
                                    </p:set>
                                    <p:animEffect transition="in" filter="wipe(down)">
                                      <p:cBhvr>
                                        <p:cTn id="94" dur="500"/>
                                        <p:tgtEl>
                                          <p:spTgt spid="1647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16626"/>
                                        </p:tgtEl>
                                        <p:attrNameLst>
                                          <p:attrName>style.visibility</p:attrName>
                                        </p:attrNameLst>
                                      </p:cBhvr>
                                      <p:to>
                                        <p:strVal val="visible"/>
                                      </p:to>
                                    </p:set>
                                    <p:animEffect transition="in" filter="wipe(left)">
                                      <p:cBhvr>
                                        <p:cTn id="99" dur="500"/>
                                        <p:tgtEl>
                                          <p:spTgt spid="16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6" grpId="0" animBg="1" autoUpdateAnimBg="0"/>
      <p:bldP spid="16503" grpId="0" autoUpdateAnimBg="0"/>
      <p:bldP spid="16504" grpId="0" autoUpdateAnimBg="0"/>
      <p:bldP spid="1639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p:cNvSpPr>
            <a:spLocks noGrp="1" noChangeArrowheads="1"/>
          </p:cNvSpPr>
          <p:nvPr>
            <p:ph type="ctrTitle"/>
          </p:nvPr>
        </p:nvSpPr>
        <p:spPr>
          <a:xfrm>
            <a:off x="1914525" y="138113"/>
            <a:ext cx="5111750" cy="644525"/>
          </a:xfrm>
          <a:gradFill rotWithShape="0">
            <a:gsLst>
              <a:gs pos="0">
                <a:srgbClr val="FF3300"/>
              </a:gs>
              <a:gs pos="50000">
                <a:srgbClr val="FFFF00"/>
              </a:gs>
              <a:gs pos="100000">
                <a:srgbClr val="FF3300"/>
              </a:gs>
            </a:gsLst>
            <a:lin ang="5400000" scaled="1"/>
          </a:gradFill>
          <a:ln w="57150">
            <a:pattFill prst="smCheck">
              <a:fgClr>
                <a:srgbClr val="FF3300"/>
              </a:fgClr>
              <a:bgClr>
                <a:srgbClr val="FFFF00"/>
              </a:bgClr>
            </a:pattFill>
            <a:miter lim="800000"/>
          </a:ln>
        </p:spPr>
        <p:txBody>
          <a:bodyPr anchor="ctr"/>
          <a:lstStyle/>
          <a:p>
            <a:r>
              <a:rPr lang="zh-CN" altLang="en-US" sz="3600" b="1" dirty="0">
                <a:solidFill>
                  <a:schemeClr val="accent2"/>
                </a:solidFill>
                <a:latin typeface="黑体" panose="02010609060101010101" pitchFamily="49" charset="-122"/>
                <a:ea typeface="黑体" panose="02010609060101010101" pitchFamily="49" charset="-122"/>
              </a:rPr>
              <a:t>极限与配合</a:t>
            </a:r>
            <a:endParaRPr lang="zh-CN" altLang="en-US" sz="3600" dirty="0">
              <a:solidFill>
                <a:schemeClr val="tx1"/>
              </a:solidFill>
              <a:latin typeface="黑体" panose="02010609060101010101" pitchFamily="49" charset="-122"/>
              <a:ea typeface="黑体" panose="02010609060101010101" pitchFamily="49" charset="-122"/>
            </a:endParaRPr>
          </a:p>
        </p:txBody>
      </p:sp>
      <p:grpSp>
        <p:nvGrpSpPr>
          <p:cNvPr id="62469" name="Group 5"/>
          <p:cNvGrpSpPr/>
          <p:nvPr/>
        </p:nvGrpSpPr>
        <p:grpSpPr bwMode="auto">
          <a:xfrm>
            <a:off x="555625" y="1262063"/>
            <a:ext cx="5780088" cy="930275"/>
            <a:chOff x="350" y="795"/>
            <a:chExt cx="3641" cy="586"/>
          </a:xfrm>
        </p:grpSpPr>
        <p:sp>
          <p:nvSpPr>
            <p:cNvPr id="18476" name="AutoShape 6"/>
            <p:cNvSpPr>
              <a:spLocks noChangeArrowheads="1"/>
            </p:cNvSpPr>
            <p:nvPr/>
          </p:nvSpPr>
          <p:spPr bwMode="auto">
            <a:xfrm>
              <a:off x="350" y="795"/>
              <a:ext cx="2956" cy="586"/>
            </a:xfrm>
            <a:prstGeom prst="cloudCallout">
              <a:avLst>
                <a:gd name="adj1" fmla="val 64380"/>
                <a:gd name="adj2" fmla="val 104949"/>
              </a:avLst>
            </a:prstGeom>
            <a:solidFill>
              <a:srgbClr val="33CCCC">
                <a:alpha val="50195"/>
              </a:srgbClr>
            </a:solidFill>
            <a:ln w="9525">
              <a:solidFill>
                <a:srgbClr val="FFCC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sz="2800"/>
            </a:p>
          </p:txBody>
        </p:sp>
        <p:sp>
          <p:nvSpPr>
            <p:cNvPr id="18477" name="Text Box 7"/>
            <p:cNvSpPr txBox="1">
              <a:spLocks noChangeArrowheads="1"/>
            </p:cNvSpPr>
            <p:nvPr/>
          </p:nvSpPr>
          <p:spPr bwMode="auto">
            <a:xfrm>
              <a:off x="369" y="971"/>
              <a:ext cx="3622" cy="27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80000"/>
                </a:lnSpc>
              </a:pPr>
              <a:r>
                <a:rPr lang="en-US" altLang="zh-CN" sz="2800" b="1">
                  <a:solidFill>
                    <a:srgbClr val="0033CC"/>
                  </a:solidFill>
                  <a:latin typeface="宋体" panose="02010600030101010101" pitchFamily="2" charset="-122"/>
                </a:rPr>
                <a:t> </a:t>
              </a:r>
              <a:r>
                <a:rPr lang="zh-CN" altLang="en-US" sz="2800" b="1">
                  <a:solidFill>
                    <a:srgbClr val="0033CC"/>
                  </a:solidFill>
                  <a:latin typeface="宋体" panose="02010600030101010101" pitchFamily="2" charset="-122"/>
                </a:rPr>
                <a:t>为什么要制定极限与配合标准</a:t>
              </a:r>
              <a:r>
                <a:rPr lang="en-US" altLang="zh-CN" sz="2800" b="1">
                  <a:solidFill>
                    <a:srgbClr val="0033CC"/>
                  </a:solidFill>
                  <a:latin typeface="宋体" panose="02010600030101010101" pitchFamily="2" charset="-122"/>
                </a:rPr>
                <a:t>?</a:t>
              </a:r>
              <a:r>
                <a:rPr lang="en-US" altLang="zh-CN" sz="2800" b="1">
                  <a:solidFill>
                    <a:srgbClr val="0033CC"/>
                  </a:solidFill>
                </a:rPr>
                <a:t>  </a:t>
              </a:r>
              <a:endParaRPr lang="en-US" altLang="zh-CN" sz="2800" b="1">
                <a:solidFill>
                  <a:srgbClr val="0033CC"/>
                </a:solidFill>
              </a:endParaRPr>
            </a:p>
          </p:txBody>
        </p:sp>
      </p:grpSp>
      <p:sp>
        <p:nvSpPr>
          <p:cNvPr id="18436" name="Text Box 8"/>
          <p:cNvSpPr txBox="1">
            <a:spLocks noChangeArrowheads="1"/>
          </p:cNvSpPr>
          <p:nvPr/>
        </p:nvSpPr>
        <p:spPr bwMode="auto">
          <a:xfrm>
            <a:off x="277813" y="830263"/>
            <a:ext cx="467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solidFill>
                  <a:srgbClr val="FF3300"/>
                </a:solidFill>
                <a:latin typeface="黑体" panose="02010609060101010101" pitchFamily="49" charset="-122"/>
                <a:ea typeface="黑体" panose="02010609060101010101" pitchFamily="49" charset="-122"/>
              </a:rPr>
              <a:t>1.</a:t>
            </a:r>
            <a:r>
              <a:rPr lang="zh-CN" altLang="en-US" sz="3200" b="1">
                <a:solidFill>
                  <a:srgbClr val="FF3300"/>
                </a:solidFill>
                <a:latin typeface="黑体" panose="02010609060101010101" pitchFamily="49" charset="-122"/>
                <a:ea typeface="黑体" panose="02010609060101010101" pitchFamily="49" charset="-122"/>
              </a:rPr>
              <a:t>极限与配合的基本概念</a:t>
            </a:r>
            <a:endParaRPr lang="zh-CN" altLang="en-US" sz="3200" b="1">
              <a:solidFill>
                <a:srgbClr val="FF3300"/>
              </a:solidFill>
              <a:latin typeface="黑体" panose="02010609060101010101" pitchFamily="49" charset="-122"/>
              <a:ea typeface="黑体" panose="02010609060101010101" pitchFamily="49" charset="-122"/>
            </a:endParaRPr>
          </a:p>
        </p:txBody>
      </p:sp>
      <p:sp>
        <p:nvSpPr>
          <p:cNvPr id="62473" name="Text Box 9"/>
          <p:cNvSpPr txBox="1">
            <a:spLocks noChangeArrowheads="1"/>
          </p:cNvSpPr>
          <p:nvPr/>
        </p:nvSpPr>
        <p:spPr bwMode="auto">
          <a:xfrm>
            <a:off x="360363" y="1905000"/>
            <a:ext cx="28638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互换性要求：</a:t>
            </a:r>
            <a:endParaRPr lang="zh-CN" altLang="en-US" sz="2800" b="1">
              <a:latin typeface="宋体" panose="02010600030101010101" pitchFamily="2" charset="-122"/>
            </a:endParaRPr>
          </a:p>
        </p:txBody>
      </p:sp>
      <p:sp>
        <p:nvSpPr>
          <p:cNvPr id="62474" name="Text Box 10"/>
          <p:cNvSpPr txBox="1">
            <a:spLocks noChangeArrowheads="1"/>
          </p:cNvSpPr>
          <p:nvPr/>
        </p:nvSpPr>
        <p:spPr bwMode="auto">
          <a:xfrm>
            <a:off x="373063" y="4148138"/>
            <a:ext cx="53641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保证零件具有互换性的措施：</a:t>
            </a:r>
            <a:endParaRPr lang="zh-CN" altLang="en-US" sz="2800" b="1">
              <a:latin typeface="宋体" panose="02010600030101010101" pitchFamily="2" charset="-122"/>
            </a:endParaRPr>
          </a:p>
        </p:txBody>
      </p:sp>
      <p:sp>
        <p:nvSpPr>
          <p:cNvPr id="62475" name="Text Box 11"/>
          <p:cNvSpPr txBox="1">
            <a:spLocks noChangeArrowheads="1"/>
          </p:cNvSpPr>
          <p:nvPr/>
        </p:nvSpPr>
        <p:spPr bwMode="auto">
          <a:xfrm>
            <a:off x="809625" y="4602163"/>
            <a:ext cx="7977188" cy="1373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控制零件的功能尺寸不超过设定的极限值，确定合理的配合要求。因此规定了</a:t>
            </a:r>
            <a:r>
              <a:rPr lang="zh-CN" altLang="en-US" sz="2800" b="1">
                <a:solidFill>
                  <a:srgbClr val="FF0000"/>
                </a:solidFill>
                <a:latin typeface="宋体" panose="02010600030101010101" pitchFamily="2" charset="-122"/>
              </a:rPr>
              <a:t>尺寸极限与配合</a:t>
            </a:r>
            <a:r>
              <a:rPr lang="zh-CN" altLang="en-US" sz="2800" b="1">
                <a:latin typeface="宋体" panose="02010600030101010101" pitchFamily="2" charset="-122"/>
              </a:rPr>
              <a:t>的国家标准。</a:t>
            </a:r>
            <a:endParaRPr lang="zh-CN" altLang="en-US" sz="2800" b="1">
              <a:latin typeface="宋体" panose="02010600030101010101" pitchFamily="2" charset="-122"/>
            </a:endParaRPr>
          </a:p>
        </p:txBody>
      </p:sp>
      <p:grpSp>
        <p:nvGrpSpPr>
          <p:cNvPr id="62476" name="Group 12"/>
          <p:cNvGrpSpPr/>
          <p:nvPr/>
        </p:nvGrpSpPr>
        <p:grpSpPr bwMode="auto">
          <a:xfrm>
            <a:off x="820738" y="2295525"/>
            <a:ext cx="4560887" cy="2046288"/>
            <a:chOff x="680" y="1806"/>
            <a:chExt cx="2873" cy="1289"/>
          </a:xfrm>
        </p:grpSpPr>
        <p:sp>
          <p:nvSpPr>
            <p:cNvPr id="18474" name="Text Box 13"/>
            <p:cNvSpPr txBox="1">
              <a:spLocks noChangeArrowheads="1"/>
            </p:cNvSpPr>
            <p:nvPr/>
          </p:nvSpPr>
          <p:spPr bwMode="auto">
            <a:xfrm>
              <a:off x="681" y="1806"/>
              <a:ext cx="2872" cy="1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10000"/>
                </a:lnSpc>
              </a:pPr>
              <a:r>
                <a:rPr lang="en-US" altLang="zh-CN" sz="2800" b="1">
                  <a:latin typeface="宋体" panose="02010600030101010101" pitchFamily="2" charset="-122"/>
                </a:rPr>
                <a:t>    </a:t>
              </a:r>
              <a:r>
                <a:rPr lang="zh-CN" altLang="en-US" sz="2800" b="1">
                  <a:latin typeface="宋体" panose="02010600030101010101" pitchFamily="2" charset="-122"/>
                </a:rPr>
                <a:t>一批相同零件中，任取一个</a:t>
              </a:r>
              <a:r>
                <a:rPr lang="zh-CN" altLang="en-US" sz="2800" b="1">
                  <a:solidFill>
                    <a:srgbClr val="FF0000"/>
                  </a:solidFill>
                  <a:latin typeface="宋体" panose="02010600030101010101" pitchFamily="2" charset="-122"/>
                </a:rPr>
                <a:t>不经任何辅助加工</a:t>
              </a:r>
              <a:r>
                <a:rPr lang="zh-CN" altLang="en-US" sz="2800" b="1">
                  <a:latin typeface="宋体" panose="02010600030101010101" pitchFamily="2" charset="-122"/>
                </a:rPr>
                <a:t>，装到机器上去就能</a:t>
              </a:r>
              <a:r>
                <a:rPr lang="zh-CN" altLang="en-US" sz="2800" b="1">
                  <a:solidFill>
                    <a:srgbClr val="FF0000"/>
                  </a:solidFill>
                  <a:latin typeface="宋体" panose="02010600030101010101" pitchFamily="2" charset="-122"/>
                </a:rPr>
                <a:t>满足机器的性能要求。</a:t>
              </a:r>
              <a:endParaRPr lang="zh-CN" altLang="en-US" sz="2800" b="1">
                <a:solidFill>
                  <a:srgbClr val="FF0000"/>
                </a:solidFill>
                <a:latin typeface="宋体" panose="02010600030101010101" pitchFamily="2" charset="-122"/>
              </a:endParaRPr>
            </a:p>
          </p:txBody>
        </p:sp>
        <p:sp>
          <p:nvSpPr>
            <p:cNvPr id="18475" name="Text Box 14"/>
            <p:cNvSpPr txBox="1">
              <a:spLocks noChangeArrowheads="1"/>
            </p:cNvSpPr>
            <p:nvPr/>
          </p:nvSpPr>
          <p:spPr bwMode="auto">
            <a:xfrm>
              <a:off x="680" y="2741"/>
              <a:ext cx="116"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10000"/>
                </a:lnSpc>
              </a:pPr>
              <a:endParaRPr lang="zh-CN" altLang="zh-CN" sz="2800" b="1">
                <a:solidFill>
                  <a:srgbClr val="FF3300"/>
                </a:solidFill>
                <a:latin typeface="宋体" panose="02010600030101010101" pitchFamily="2" charset="-122"/>
              </a:endParaRPr>
            </a:p>
          </p:txBody>
        </p:sp>
      </p:grpSp>
      <p:grpSp>
        <p:nvGrpSpPr>
          <p:cNvPr id="18441" name="Group 15"/>
          <p:cNvGrpSpPr/>
          <p:nvPr/>
        </p:nvGrpSpPr>
        <p:grpSpPr bwMode="auto">
          <a:xfrm>
            <a:off x="6172200" y="1403350"/>
            <a:ext cx="2671763" cy="2863850"/>
            <a:chOff x="3609" y="901"/>
            <a:chExt cx="1683" cy="1804"/>
          </a:xfrm>
        </p:grpSpPr>
        <p:sp>
          <p:nvSpPr>
            <p:cNvPr id="18444" name="Text Box 16"/>
            <p:cNvSpPr txBox="1">
              <a:spLocks noChangeArrowheads="1"/>
            </p:cNvSpPr>
            <p:nvPr/>
          </p:nvSpPr>
          <p:spPr bwMode="auto">
            <a:xfrm rot="-5400000">
              <a:off x="4734" y="1099"/>
              <a:ext cx="6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latin typeface="宋体" panose="02010600030101010101" pitchFamily="2" charset="-122"/>
                </a:rPr>
                <a:t>(</a:t>
              </a:r>
              <a:r>
                <a:rPr lang="en-US" altLang="zh-CN" b="1" i="1">
                  <a:latin typeface="ISOCP" panose="00000400000000000000" pitchFamily="2" charset="0"/>
                </a:rPr>
                <a:t>φ</a:t>
              </a:r>
              <a:r>
                <a:rPr lang="en-US" altLang="zh-CN" b="1" i="1">
                  <a:latin typeface="ISOCPEUR" panose="020B0604020202020204" pitchFamily="34" charset="0"/>
                </a:rPr>
                <a:t>50</a:t>
              </a:r>
              <a:r>
                <a:rPr lang="en-US" altLang="zh-CN" b="1" i="1">
                  <a:latin typeface="宋体" panose="02010600030101010101" pitchFamily="2" charset="-122"/>
                </a:rPr>
                <a:t>)</a:t>
              </a:r>
              <a:endParaRPr lang="en-US" altLang="zh-CN">
                <a:latin typeface="宋体" panose="02010600030101010101" pitchFamily="2" charset="-122"/>
              </a:endParaRPr>
            </a:p>
          </p:txBody>
        </p:sp>
        <p:sp>
          <p:nvSpPr>
            <p:cNvPr id="18445" name="Line 17"/>
            <p:cNvSpPr>
              <a:spLocks noChangeShapeType="1"/>
            </p:cNvSpPr>
            <p:nvPr/>
          </p:nvSpPr>
          <p:spPr bwMode="auto">
            <a:xfrm>
              <a:off x="4426" y="1001"/>
              <a:ext cx="0" cy="170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Line 18"/>
            <p:cNvSpPr>
              <a:spLocks noChangeShapeType="1"/>
            </p:cNvSpPr>
            <p:nvPr/>
          </p:nvSpPr>
          <p:spPr bwMode="auto">
            <a:xfrm>
              <a:off x="3610" y="965"/>
              <a:ext cx="0" cy="17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447" name="Group 19"/>
            <p:cNvGrpSpPr/>
            <p:nvPr/>
          </p:nvGrpSpPr>
          <p:grpSpPr bwMode="auto">
            <a:xfrm>
              <a:off x="3610" y="989"/>
              <a:ext cx="828" cy="1704"/>
              <a:chOff x="3610" y="989"/>
              <a:chExt cx="828" cy="1704"/>
            </a:xfrm>
          </p:grpSpPr>
          <p:sp>
            <p:nvSpPr>
              <p:cNvPr id="18462" name="Line 20"/>
              <p:cNvSpPr>
                <a:spLocks noChangeShapeType="1"/>
              </p:cNvSpPr>
              <p:nvPr/>
            </p:nvSpPr>
            <p:spPr bwMode="auto">
              <a:xfrm>
                <a:off x="3610" y="989"/>
                <a:ext cx="264" cy="2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3" name="Line 21"/>
              <p:cNvSpPr>
                <a:spLocks noChangeShapeType="1"/>
              </p:cNvSpPr>
              <p:nvPr/>
            </p:nvSpPr>
            <p:spPr bwMode="auto">
              <a:xfrm>
                <a:off x="3610" y="1157"/>
                <a:ext cx="108" cy="1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4" name="Line 22"/>
              <p:cNvSpPr>
                <a:spLocks noChangeShapeType="1"/>
              </p:cNvSpPr>
              <p:nvPr/>
            </p:nvSpPr>
            <p:spPr bwMode="auto">
              <a:xfrm>
                <a:off x="3790" y="989"/>
                <a:ext cx="276" cy="2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5" name="Line 23"/>
              <p:cNvSpPr>
                <a:spLocks noChangeShapeType="1"/>
              </p:cNvSpPr>
              <p:nvPr/>
            </p:nvSpPr>
            <p:spPr bwMode="auto">
              <a:xfrm>
                <a:off x="3958" y="989"/>
                <a:ext cx="276" cy="2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6" name="Line 24"/>
              <p:cNvSpPr>
                <a:spLocks noChangeShapeType="1"/>
              </p:cNvSpPr>
              <p:nvPr/>
            </p:nvSpPr>
            <p:spPr bwMode="auto">
              <a:xfrm>
                <a:off x="4138" y="1001"/>
                <a:ext cx="252" cy="25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7" name="Line 25"/>
              <p:cNvSpPr>
                <a:spLocks noChangeShapeType="1"/>
              </p:cNvSpPr>
              <p:nvPr/>
            </p:nvSpPr>
            <p:spPr bwMode="auto">
              <a:xfrm>
                <a:off x="4294" y="989"/>
                <a:ext cx="144"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8" name="Line 26"/>
              <p:cNvSpPr>
                <a:spLocks noChangeShapeType="1"/>
              </p:cNvSpPr>
              <p:nvPr/>
            </p:nvSpPr>
            <p:spPr bwMode="auto">
              <a:xfrm>
                <a:off x="4330" y="2405"/>
                <a:ext cx="108" cy="10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9" name="Line 27"/>
              <p:cNvSpPr>
                <a:spLocks noChangeShapeType="1"/>
              </p:cNvSpPr>
              <p:nvPr/>
            </p:nvSpPr>
            <p:spPr bwMode="auto">
              <a:xfrm>
                <a:off x="4186" y="2417"/>
                <a:ext cx="252" cy="25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0" name="Line 28"/>
              <p:cNvSpPr>
                <a:spLocks noChangeShapeType="1"/>
              </p:cNvSpPr>
              <p:nvPr/>
            </p:nvSpPr>
            <p:spPr bwMode="auto">
              <a:xfrm>
                <a:off x="4006" y="2405"/>
                <a:ext cx="264" cy="26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1" name="Line 29"/>
              <p:cNvSpPr>
                <a:spLocks noChangeShapeType="1"/>
              </p:cNvSpPr>
              <p:nvPr/>
            </p:nvSpPr>
            <p:spPr bwMode="auto">
              <a:xfrm>
                <a:off x="3838" y="2405"/>
                <a:ext cx="276" cy="2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2" name="Line 30"/>
              <p:cNvSpPr>
                <a:spLocks noChangeShapeType="1"/>
              </p:cNvSpPr>
              <p:nvPr/>
            </p:nvSpPr>
            <p:spPr bwMode="auto">
              <a:xfrm>
                <a:off x="3682" y="2417"/>
                <a:ext cx="276" cy="2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73" name="Line 31"/>
              <p:cNvSpPr>
                <a:spLocks noChangeShapeType="1"/>
              </p:cNvSpPr>
              <p:nvPr/>
            </p:nvSpPr>
            <p:spPr bwMode="auto">
              <a:xfrm>
                <a:off x="3610" y="2513"/>
                <a:ext cx="156" cy="15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448" name="Freeform 32" descr="浅色下对角线"/>
            <p:cNvSpPr/>
            <p:nvPr/>
          </p:nvSpPr>
          <p:spPr bwMode="auto">
            <a:xfrm>
              <a:off x="3610" y="1253"/>
              <a:ext cx="816" cy="192"/>
            </a:xfrm>
            <a:custGeom>
              <a:avLst/>
              <a:gdLst>
                <a:gd name="T0" fmla="*/ 0 w 816"/>
                <a:gd name="T1" fmla="*/ 192 h 192"/>
                <a:gd name="T2" fmla="*/ 0 w 816"/>
                <a:gd name="T3" fmla="*/ 0 h 192"/>
                <a:gd name="T4" fmla="*/ 816 w 816"/>
                <a:gd name="T5" fmla="*/ 0 h 192"/>
                <a:gd name="T6" fmla="*/ 816 w 816"/>
                <a:gd name="T7" fmla="*/ 192 h 192"/>
                <a:gd name="T8" fmla="*/ 0 w 816"/>
                <a:gd name="T9" fmla="*/ 192 h 1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6" h="192">
                  <a:moveTo>
                    <a:pt x="0" y="192"/>
                  </a:moveTo>
                  <a:lnTo>
                    <a:pt x="0" y="0"/>
                  </a:lnTo>
                  <a:lnTo>
                    <a:pt x="816" y="0"/>
                  </a:lnTo>
                  <a:lnTo>
                    <a:pt x="816" y="192"/>
                  </a:lnTo>
                  <a:lnTo>
                    <a:pt x="0" y="192"/>
                  </a:lnTo>
                  <a:close/>
                </a:path>
              </a:pathLst>
            </a:custGeom>
            <a:blipFill dpi="0" rotWithShape="0">
              <a:blip r:embed="rId1"/>
              <a:srcRect/>
              <a:tile tx="0" ty="0" sx="100000" sy="100000" flip="none" algn="tl"/>
            </a:blipFill>
            <a:ln w="38100" cmpd="sng">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9" name="Line 33"/>
            <p:cNvSpPr>
              <a:spLocks noChangeShapeType="1"/>
            </p:cNvSpPr>
            <p:nvPr/>
          </p:nvSpPr>
          <p:spPr bwMode="auto">
            <a:xfrm>
              <a:off x="5200" y="1109"/>
              <a:ext cx="0" cy="129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0" name="Line 34"/>
            <p:cNvSpPr>
              <a:spLocks noChangeShapeType="1"/>
            </p:cNvSpPr>
            <p:nvPr/>
          </p:nvSpPr>
          <p:spPr bwMode="auto">
            <a:xfrm>
              <a:off x="4428" y="2405"/>
              <a:ext cx="8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1" name="Line 35"/>
            <p:cNvSpPr>
              <a:spLocks noChangeShapeType="1"/>
            </p:cNvSpPr>
            <p:nvPr/>
          </p:nvSpPr>
          <p:spPr bwMode="auto">
            <a:xfrm flipV="1">
              <a:off x="5200" y="1547"/>
              <a:ext cx="0" cy="144"/>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Line 36"/>
            <p:cNvSpPr>
              <a:spLocks noChangeShapeType="1"/>
            </p:cNvSpPr>
            <p:nvPr/>
          </p:nvSpPr>
          <p:spPr bwMode="auto">
            <a:xfrm>
              <a:off x="5200" y="2261"/>
              <a:ext cx="0" cy="144"/>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3" name="Text Box 37"/>
            <p:cNvSpPr txBox="1">
              <a:spLocks noChangeArrowheads="1"/>
            </p:cNvSpPr>
            <p:nvPr/>
          </p:nvSpPr>
          <p:spPr bwMode="auto">
            <a:xfrm rot="-5400000">
              <a:off x="4623" y="1850"/>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基本尺寸</a:t>
              </a:r>
              <a:endParaRPr lang="zh-CN" altLang="en-US"/>
            </a:p>
          </p:txBody>
        </p:sp>
        <p:sp>
          <p:nvSpPr>
            <p:cNvPr id="18454" name="Line 38"/>
            <p:cNvSpPr>
              <a:spLocks noChangeShapeType="1"/>
            </p:cNvSpPr>
            <p:nvPr/>
          </p:nvSpPr>
          <p:spPr bwMode="auto">
            <a:xfrm>
              <a:off x="3610" y="2405"/>
              <a:ext cx="80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5" name="Freeform 39"/>
            <p:cNvSpPr/>
            <p:nvPr/>
          </p:nvSpPr>
          <p:spPr bwMode="auto">
            <a:xfrm>
              <a:off x="3900" y="1670"/>
              <a:ext cx="942" cy="733"/>
            </a:xfrm>
            <a:custGeom>
              <a:avLst/>
              <a:gdLst>
                <a:gd name="T0" fmla="*/ 908 w 942"/>
                <a:gd name="T1" fmla="*/ 733 h 733"/>
                <a:gd name="T2" fmla="*/ 906 w 942"/>
                <a:gd name="T3" fmla="*/ 670 h 733"/>
                <a:gd name="T4" fmla="*/ 888 w 942"/>
                <a:gd name="T5" fmla="*/ 628 h 733"/>
                <a:gd name="T6" fmla="*/ 882 w 942"/>
                <a:gd name="T7" fmla="*/ 604 h 733"/>
                <a:gd name="T8" fmla="*/ 888 w 942"/>
                <a:gd name="T9" fmla="*/ 568 h 733"/>
                <a:gd name="T10" fmla="*/ 894 w 942"/>
                <a:gd name="T11" fmla="*/ 526 h 733"/>
                <a:gd name="T12" fmla="*/ 906 w 942"/>
                <a:gd name="T13" fmla="*/ 472 h 733"/>
                <a:gd name="T14" fmla="*/ 912 w 942"/>
                <a:gd name="T15" fmla="*/ 412 h 733"/>
                <a:gd name="T16" fmla="*/ 900 w 942"/>
                <a:gd name="T17" fmla="*/ 340 h 733"/>
                <a:gd name="T18" fmla="*/ 901 w 942"/>
                <a:gd name="T19" fmla="*/ 254 h 733"/>
                <a:gd name="T20" fmla="*/ 933 w 942"/>
                <a:gd name="T21" fmla="*/ 165 h 733"/>
                <a:gd name="T22" fmla="*/ 938 w 942"/>
                <a:gd name="T23" fmla="*/ 112 h 733"/>
                <a:gd name="T24" fmla="*/ 933 w 942"/>
                <a:gd name="T25" fmla="*/ 80 h 733"/>
                <a:gd name="T26" fmla="*/ 930 w 942"/>
                <a:gd name="T27" fmla="*/ 48 h 733"/>
                <a:gd name="T28" fmla="*/ 924 w 942"/>
                <a:gd name="T29" fmla="*/ 29 h 733"/>
                <a:gd name="T30" fmla="*/ 908 w 942"/>
                <a:gd name="T31" fmla="*/ 6 h 733"/>
                <a:gd name="T32" fmla="*/ 885 w 942"/>
                <a:gd name="T33" fmla="*/ 3 h 733"/>
                <a:gd name="T34" fmla="*/ 847 w 942"/>
                <a:gd name="T35" fmla="*/ 0 h 733"/>
                <a:gd name="T36" fmla="*/ 812 w 942"/>
                <a:gd name="T37" fmla="*/ 3 h 733"/>
                <a:gd name="T38" fmla="*/ 748 w 942"/>
                <a:gd name="T39" fmla="*/ 3 h 733"/>
                <a:gd name="T40" fmla="*/ 690 w 942"/>
                <a:gd name="T41" fmla="*/ 6 h 733"/>
                <a:gd name="T42" fmla="*/ 6 w 942"/>
                <a:gd name="T43" fmla="*/ 4 h 733"/>
                <a:gd name="T44" fmla="*/ 0 w 942"/>
                <a:gd name="T45" fmla="*/ 724 h 733"/>
                <a:gd name="T46" fmla="*/ 908 w 942"/>
                <a:gd name="T47" fmla="*/ 733 h 73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942" h="733">
                  <a:moveTo>
                    <a:pt x="908" y="733"/>
                  </a:moveTo>
                  <a:lnTo>
                    <a:pt x="906" y="670"/>
                  </a:lnTo>
                  <a:lnTo>
                    <a:pt x="888" y="628"/>
                  </a:lnTo>
                  <a:lnTo>
                    <a:pt x="882" y="604"/>
                  </a:lnTo>
                  <a:lnTo>
                    <a:pt x="888" y="568"/>
                  </a:lnTo>
                  <a:lnTo>
                    <a:pt x="894" y="526"/>
                  </a:lnTo>
                  <a:cubicBezTo>
                    <a:pt x="892" y="516"/>
                    <a:pt x="906" y="491"/>
                    <a:pt x="906" y="472"/>
                  </a:cubicBezTo>
                  <a:cubicBezTo>
                    <a:pt x="909" y="453"/>
                    <a:pt x="913" y="434"/>
                    <a:pt x="912" y="412"/>
                  </a:cubicBezTo>
                  <a:lnTo>
                    <a:pt x="900" y="340"/>
                  </a:lnTo>
                  <a:lnTo>
                    <a:pt x="901" y="254"/>
                  </a:lnTo>
                  <a:lnTo>
                    <a:pt x="933" y="165"/>
                  </a:lnTo>
                  <a:lnTo>
                    <a:pt x="938" y="112"/>
                  </a:lnTo>
                  <a:cubicBezTo>
                    <a:pt x="942" y="91"/>
                    <a:pt x="935" y="94"/>
                    <a:pt x="933" y="80"/>
                  </a:cubicBezTo>
                  <a:cubicBezTo>
                    <a:pt x="932" y="69"/>
                    <a:pt x="931" y="56"/>
                    <a:pt x="930" y="48"/>
                  </a:cubicBezTo>
                  <a:cubicBezTo>
                    <a:pt x="929" y="40"/>
                    <a:pt x="928" y="36"/>
                    <a:pt x="924" y="29"/>
                  </a:cubicBezTo>
                  <a:cubicBezTo>
                    <a:pt x="920" y="22"/>
                    <a:pt x="914" y="10"/>
                    <a:pt x="908" y="6"/>
                  </a:cubicBezTo>
                  <a:cubicBezTo>
                    <a:pt x="902" y="2"/>
                    <a:pt x="895" y="4"/>
                    <a:pt x="885" y="3"/>
                  </a:cubicBezTo>
                  <a:cubicBezTo>
                    <a:pt x="875" y="2"/>
                    <a:pt x="859" y="0"/>
                    <a:pt x="847" y="0"/>
                  </a:cubicBezTo>
                  <a:cubicBezTo>
                    <a:pt x="835" y="0"/>
                    <a:pt x="828" y="3"/>
                    <a:pt x="812" y="3"/>
                  </a:cubicBezTo>
                  <a:cubicBezTo>
                    <a:pt x="796" y="3"/>
                    <a:pt x="768" y="2"/>
                    <a:pt x="748" y="3"/>
                  </a:cubicBezTo>
                  <a:cubicBezTo>
                    <a:pt x="728" y="4"/>
                    <a:pt x="814" y="6"/>
                    <a:pt x="690" y="6"/>
                  </a:cubicBezTo>
                  <a:lnTo>
                    <a:pt x="6" y="4"/>
                  </a:lnTo>
                  <a:lnTo>
                    <a:pt x="0" y="724"/>
                  </a:lnTo>
                  <a:lnTo>
                    <a:pt x="908" y="733"/>
                  </a:lnTo>
                  <a:close/>
                </a:path>
              </a:pathLst>
            </a:cu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6" name="Line 40"/>
            <p:cNvSpPr>
              <a:spLocks noChangeShapeType="1"/>
            </p:cNvSpPr>
            <p:nvPr/>
          </p:nvSpPr>
          <p:spPr bwMode="auto">
            <a:xfrm>
              <a:off x="3909" y="1836"/>
              <a:ext cx="9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7" name="Freeform 41"/>
            <p:cNvSpPr/>
            <p:nvPr/>
          </p:nvSpPr>
          <p:spPr bwMode="auto">
            <a:xfrm>
              <a:off x="3898" y="1668"/>
              <a:ext cx="917" cy="5"/>
            </a:xfrm>
            <a:custGeom>
              <a:avLst/>
              <a:gdLst>
                <a:gd name="T0" fmla="*/ 0 w 917"/>
                <a:gd name="T1" fmla="*/ 5 h 5"/>
                <a:gd name="T2" fmla="*/ 917 w 917"/>
                <a:gd name="T3" fmla="*/ 0 h 5"/>
                <a:gd name="T4" fmla="*/ 0 60000 65536"/>
                <a:gd name="T5" fmla="*/ 0 60000 65536"/>
              </a:gdLst>
              <a:ahLst/>
              <a:cxnLst>
                <a:cxn ang="T4">
                  <a:pos x="T0" y="T1"/>
                </a:cxn>
                <a:cxn ang="T5">
                  <a:pos x="T2" y="T3"/>
                </a:cxn>
              </a:cxnLst>
              <a:rect l="0" t="0" r="r" b="b"/>
              <a:pathLst>
                <a:path w="917" h="5">
                  <a:moveTo>
                    <a:pt x="0" y="5"/>
                  </a:moveTo>
                  <a:lnTo>
                    <a:pt x="917"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8" name="Freeform 42" descr="80%"/>
            <p:cNvSpPr/>
            <p:nvPr/>
          </p:nvSpPr>
          <p:spPr bwMode="auto">
            <a:xfrm>
              <a:off x="3896" y="1675"/>
              <a:ext cx="948" cy="155"/>
            </a:xfrm>
            <a:custGeom>
              <a:avLst/>
              <a:gdLst>
                <a:gd name="T0" fmla="*/ 0 w 932"/>
                <a:gd name="T1" fmla="*/ 0 h 152"/>
                <a:gd name="T2" fmla="*/ 0 w 932"/>
                <a:gd name="T3" fmla="*/ 155 h 152"/>
                <a:gd name="T4" fmla="*/ 938 w 932"/>
                <a:gd name="T5" fmla="*/ 155 h 152"/>
                <a:gd name="T6" fmla="*/ 948 w 932"/>
                <a:gd name="T7" fmla="*/ 66 h 152"/>
                <a:gd name="T8" fmla="*/ 924 w 932"/>
                <a:gd name="T9" fmla="*/ 3 h 152"/>
                <a:gd name="T10" fmla="*/ 0 w 932"/>
                <a:gd name="T11" fmla="*/ 0 h 1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32" h="152">
                  <a:moveTo>
                    <a:pt x="0" y="0"/>
                  </a:moveTo>
                  <a:lnTo>
                    <a:pt x="0" y="152"/>
                  </a:lnTo>
                  <a:lnTo>
                    <a:pt x="922" y="152"/>
                  </a:lnTo>
                  <a:lnTo>
                    <a:pt x="932" y="65"/>
                  </a:lnTo>
                  <a:lnTo>
                    <a:pt x="908" y="3"/>
                  </a:lnTo>
                  <a:lnTo>
                    <a:pt x="0" y="0"/>
                  </a:lnTo>
                  <a:close/>
                </a:path>
              </a:pathLst>
            </a:custGeom>
            <a:blipFill dpi="0" rotWithShape="0">
              <a:blip r:embed="rId2"/>
              <a:srcRect/>
              <a:tile tx="0" ty="0" sx="100000" sy="100000" flip="none" algn="tl"/>
            </a:blipFill>
            <a:ln w="9525" cmpd="sng">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9" name="Line 43"/>
            <p:cNvSpPr>
              <a:spLocks noChangeShapeType="1"/>
            </p:cNvSpPr>
            <p:nvPr/>
          </p:nvSpPr>
          <p:spPr bwMode="auto">
            <a:xfrm>
              <a:off x="3896" y="2403"/>
              <a:ext cx="90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0" name="Line 44"/>
            <p:cNvSpPr>
              <a:spLocks noChangeShapeType="1"/>
            </p:cNvSpPr>
            <p:nvPr/>
          </p:nvSpPr>
          <p:spPr bwMode="auto">
            <a:xfrm>
              <a:off x="3896" y="1664"/>
              <a:ext cx="0" cy="7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1" name="Line 45"/>
            <p:cNvSpPr>
              <a:spLocks noChangeShapeType="1"/>
            </p:cNvSpPr>
            <p:nvPr/>
          </p:nvSpPr>
          <p:spPr bwMode="auto">
            <a:xfrm flipH="1">
              <a:off x="3609" y="1566"/>
              <a:ext cx="16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442" name="Text Box 46"/>
          <p:cNvSpPr txBox="1">
            <a:spLocks noChangeArrowheads="1"/>
          </p:cNvSpPr>
          <p:nvPr/>
        </p:nvSpPr>
        <p:spPr bwMode="auto">
          <a:xfrm>
            <a:off x="7008813" y="3059113"/>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轴</a:t>
            </a:r>
            <a:endParaRPr lang="zh-CN" altLang="en-US" sz="2800" b="1"/>
          </a:p>
        </p:txBody>
      </p:sp>
      <p:sp>
        <p:nvSpPr>
          <p:cNvPr id="18443" name="Text Box 47"/>
          <p:cNvSpPr txBox="1">
            <a:spLocks noChangeArrowheads="1"/>
          </p:cNvSpPr>
          <p:nvPr/>
        </p:nvSpPr>
        <p:spPr bwMode="auto">
          <a:xfrm>
            <a:off x="6551613" y="1173163"/>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孔</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slide(fromLeft)">
                                      <p:cBhvr>
                                        <p:cTn id="7" dur="500"/>
                                        <p:tgtEl>
                                          <p:spTgt spid="624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62473">
                                            <p:txEl>
                                              <p:pRg st="0" end="0"/>
                                            </p:txEl>
                                          </p:spTgt>
                                        </p:tgtEl>
                                        <p:attrNameLst>
                                          <p:attrName>style.visibility</p:attrName>
                                        </p:attrNameLst>
                                      </p:cBhvr>
                                      <p:to>
                                        <p:strVal val="visible"/>
                                      </p:to>
                                    </p:set>
                                    <p:animEffect transition="in" filter="wipe(up)">
                                      <p:cBhvr>
                                        <p:cTn id="12" dur="75"/>
                                        <p:tgtEl>
                                          <p:spTgt spid="6247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2476"/>
                                        </p:tgtEl>
                                        <p:attrNameLst>
                                          <p:attrName>style.visibility</p:attrName>
                                        </p:attrNameLst>
                                      </p:cBhvr>
                                      <p:to>
                                        <p:strVal val="visible"/>
                                      </p:to>
                                    </p:set>
                                    <p:animEffect transition="in" filter="blinds(horizontal)">
                                      <p:cBhvr>
                                        <p:cTn id="17" dur="500"/>
                                        <p:tgtEl>
                                          <p:spTgt spid="624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62474">
                                            <p:txEl>
                                              <p:pRg st="0" end="0"/>
                                            </p:txEl>
                                          </p:spTgt>
                                        </p:tgtEl>
                                        <p:attrNameLst>
                                          <p:attrName>style.visibility</p:attrName>
                                        </p:attrNameLst>
                                      </p:cBhvr>
                                      <p:to>
                                        <p:strVal val="visible"/>
                                      </p:to>
                                    </p:set>
                                    <p:animEffect transition="in" filter="wipe(up)">
                                      <p:cBhvr>
                                        <p:cTn id="22" dur="75"/>
                                        <p:tgtEl>
                                          <p:spTgt spid="6247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62475">
                                            <p:txEl>
                                              <p:pRg st="0" end="0"/>
                                            </p:txEl>
                                          </p:spTgt>
                                        </p:tgtEl>
                                        <p:attrNameLst>
                                          <p:attrName>style.visibility</p:attrName>
                                        </p:attrNameLst>
                                      </p:cBhvr>
                                      <p:to>
                                        <p:strVal val="visible"/>
                                      </p:to>
                                    </p:set>
                                    <p:animEffect transition="in" filter="wipe(up)">
                                      <p:cBhvr>
                                        <p:cTn id="27" dur="75"/>
                                        <p:tgtEl>
                                          <p:spTgt spid="624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3" grpId="0" autoUpdateAnimBg="0" build="p"/>
      <p:bldP spid="62474" grpId="0" autoUpdateAnimBg="0" build="p"/>
      <p:bldP spid="62475" grpId="0" autoUpdateAnimBg="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508000" y="627063"/>
            <a:ext cx="1784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基本尺寸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0483" name="Text Box 3"/>
          <p:cNvSpPr txBox="1">
            <a:spLocks noChangeArrowheads="1"/>
          </p:cNvSpPr>
          <p:nvPr/>
        </p:nvSpPr>
        <p:spPr bwMode="auto">
          <a:xfrm>
            <a:off x="576263" y="1111250"/>
            <a:ext cx="179228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实际尺寸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0484" name="Text Box 4"/>
          <p:cNvSpPr txBox="1">
            <a:spLocks noChangeArrowheads="1"/>
          </p:cNvSpPr>
          <p:nvPr/>
        </p:nvSpPr>
        <p:spPr bwMode="auto">
          <a:xfrm>
            <a:off x="615950" y="2001838"/>
            <a:ext cx="17922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极限尺寸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0485" name="Text Box 5"/>
          <p:cNvSpPr txBox="1">
            <a:spLocks noChangeArrowheads="1"/>
          </p:cNvSpPr>
          <p:nvPr/>
        </p:nvSpPr>
        <p:spPr bwMode="auto">
          <a:xfrm>
            <a:off x="534988" y="3332163"/>
            <a:ext cx="25066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最大极限尺寸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0486" name="Text Box 6"/>
          <p:cNvSpPr txBox="1">
            <a:spLocks noChangeArrowheads="1"/>
          </p:cNvSpPr>
          <p:nvPr/>
        </p:nvSpPr>
        <p:spPr bwMode="auto">
          <a:xfrm>
            <a:off x="508000" y="5172075"/>
            <a:ext cx="31099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零件合格的条件：</a:t>
            </a:r>
            <a:endParaRPr lang="zh-CN" altLang="en-US" sz="2800" b="1">
              <a:latin typeface="宋体" panose="02010600030101010101" pitchFamily="2" charset="-122"/>
            </a:endParaRPr>
          </a:p>
        </p:txBody>
      </p:sp>
      <p:sp>
        <p:nvSpPr>
          <p:cNvPr id="20487" name="Text Box 7"/>
          <p:cNvSpPr txBox="1">
            <a:spLocks noChangeArrowheads="1"/>
          </p:cNvSpPr>
          <p:nvPr/>
        </p:nvSpPr>
        <p:spPr bwMode="auto">
          <a:xfrm>
            <a:off x="633413" y="5592763"/>
            <a:ext cx="81375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solidFill>
                  <a:srgbClr val="FF3300"/>
                </a:solidFill>
                <a:latin typeface="宋体" panose="02010600030101010101" pitchFamily="2" charset="-122"/>
              </a:rPr>
              <a:t>最大极限尺寸≥实际尺寸≥最小极限尺寸</a:t>
            </a:r>
            <a:endParaRPr lang="zh-CN" altLang="en-US" sz="3200" b="1">
              <a:solidFill>
                <a:srgbClr val="FF3300"/>
              </a:solidFill>
              <a:latin typeface="宋体" panose="02010600030101010101" pitchFamily="2" charset="-122"/>
            </a:endParaRPr>
          </a:p>
        </p:txBody>
      </p:sp>
      <p:sp>
        <p:nvSpPr>
          <p:cNvPr id="20488" name="Text Box 8"/>
          <p:cNvSpPr txBox="1">
            <a:spLocks noChangeArrowheads="1"/>
          </p:cNvSpPr>
          <p:nvPr/>
        </p:nvSpPr>
        <p:spPr bwMode="auto">
          <a:xfrm>
            <a:off x="508000" y="1566863"/>
            <a:ext cx="554513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零件制成后实际测得的尺寸。</a:t>
            </a:r>
            <a:endParaRPr lang="zh-CN" altLang="en-US" sz="2800" b="1">
              <a:latin typeface="宋体" panose="02010600030101010101" pitchFamily="2" charset="-122"/>
            </a:endParaRPr>
          </a:p>
        </p:txBody>
      </p:sp>
      <p:sp>
        <p:nvSpPr>
          <p:cNvPr id="20489" name="Text Box 9"/>
          <p:cNvSpPr txBox="1">
            <a:spLocks noChangeArrowheads="1"/>
          </p:cNvSpPr>
          <p:nvPr/>
        </p:nvSpPr>
        <p:spPr bwMode="auto">
          <a:xfrm>
            <a:off x="508000" y="2457450"/>
            <a:ext cx="43434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允许零件实际尺寸变化的两个界限值。</a:t>
            </a:r>
            <a:endParaRPr lang="zh-CN" altLang="en-US" sz="2800" b="1">
              <a:latin typeface="宋体" panose="02010600030101010101" pitchFamily="2" charset="-122"/>
            </a:endParaRPr>
          </a:p>
        </p:txBody>
      </p:sp>
      <p:sp>
        <p:nvSpPr>
          <p:cNvPr id="20490" name="Text Box 10"/>
          <p:cNvSpPr txBox="1">
            <a:spLocks noChangeArrowheads="1"/>
          </p:cNvSpPr>
          <p:nvPr/>
        </p:nvSpPr>
        <p:spPr bwMode="auto">
          <a:xfrm>
            <a:off x="508000" y="3800475"/>
            <a:ext cx="52530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孔或轴允许的最大尺寸。</a:t>
            </a:r>
            <a:endParaRPr lang="zh-CN" altLang="en-US" sz="2800" b="1">
              <a:latin typeface="宋体" panose="02010600030101010101" pitchFamily="2" charset="-122"/>
            </a:endParaRPr>
          </a:p>
        </p:txBody>
      </p:sp>
      <p:sp>
        <p:nvSpPr>
          <p:cNvPr id="20491" name="Text Box 11"/>
          <p:cNvSpPr txBox="1">
            <a:spLocks noChangeArrowheads="1"/>
          </p:cNvSpPr>
          <p:nvPr/>
        </p:nvSpPr>
        <p:spPr bwMode="auto">
          <a:xfrm>
            <a:off x="993775" y="4738688"/>
            <a:ext cx="41132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孔或轴允许的最小尺寸。</a:t>
            </a:r>
            <a:endParaRPr lang="zh-CN" altLang="en-US" sz="2800" b="1">
              <a:latin typeface="宋体" panose="02010600030101010101" pitchFamily="2" charset="-122"/>
            </a:endParaRPr>
          </a:p>
        </p:txBody>
      </p:sp>
      <p:sp>
        <p:nvSpPr>
          <p:cNvPr id="20492" name="Text Box 12"/>
          <p:cNvSpPr txBox="1">
            <a:spLocks noChangeArrowheads="1"/>
          </p:cNvSpPr>
          <p:nvPr/>
        </p:nvSpPr>
        <p:spPr bwMode="auto">
          <a:xfrm>
            <a:off x="42863" y="187325"/>
            <a:ext cx="55181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1)</a:t>
            </a:r>
            <a:r>
              <a:rPr lang="zh-CN" altLang="en-US" sz="2800" b="1">
                <a:latin typeface="宋体" panose="02010600030101010101" pitchFamily="2" charset="-122"/>
              </a:rPr>
              <a:t>基本尺寸、实际尺寸、极限尺寸</a:t>
            </a:r>
            <a:endParaRPr lang="zh-CN" altLang="en-US" sz="2800" b="1">
              <a:latin typeface="宋体" panose="02010600030101010101" pitchFamily="2" charset="-122"/>
            </a:endParaRPr>
          </a:p>
        </p:txBody>
      </p:sp>
      <p:sp>
        <p:nvSpPr>
          <p:cNvPr id="20493" name="Text Box 13"/>
          <p:cNvSpPr txBox="1">
            <a:spLocks noChangeArrowheads="1"/>
          </p:cNvSpPr>
          <p:nvPr/>
        </p:nvSpPr>
        <p:spPr bwMode="auto">
          <a:xfrm>
            <a:off x="534988" y="4270375"/>
            <a:ext cx="250666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最小极限尺寸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0494" name="Text Box 14"/>
          <p:cNvSpPr txBox="1">
            <a:spLocks noChangeArrowheads="1"/>
          </p:cNvSpPr>
          <p:nvPr/>
        </p:nvSpPr>
        <p:spPr bwMode="auto">
          <a:xfrm>
            <a:off x="2344738" y="649288"/>
            <a:ext cx="34131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设计时确定的尺寸。</a:t>
            </a:r>
            <a:endParaRPr lang="zh-CN" altLang="en-US" sz="2800" b="1">
              <a:latin typeface="宋体" panose="02010600030101010101" pitchFamily="2" charset="-122"/>
            </a:endParaRPr>
          </a:p>
        </p:txBody>
      </p:sp>
      <p:grpSp>
        <p:nvGrpSpPr>
          <p:cNvPr id="20495" name="Group 15"/>
          <p:cNvGrpSpPr/>
          <p:nvPr/>
        </p:nvGrpSpPr>
        <p:grpSpPr bwMode="auto">
          <a:xfrm>
            <a:off x="7415213" y="3729038"/>
            <a:ext cx="490537" cy="2022475"/>
            <a:chOff x="4671" y="2366"/>
            <a:chExt cx="309" cy="1274"/>
          </a:xfrm>
        </p:grpSpPr>
        <p:sp>
          <p:nvSpPr>
            <p:cNvPr id="19520" name="Text Box 16"/>
            <p:cNvSpPr txBox="1">
              <a:spLocks noChangeArrowheads="1"/>
            </p:cNvSpPr>
            <p:nvPr/>
          </p:nvSpPr>
          <p:spPr bwMode="auto">
            <a:xfrm rot="-5400000">
              <a:off x="4178" y="2859"/>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最小极限尺寸</a:t>
              </a:r>
              <a:endParaRPr lang="zh-CN" altLang="en-US" b="1"/>
            </a:p>
          </p:txBody>
        </p:sp>
        <p:sp>
          <p:nvSpPr>
            <p:cNvPr id="19521" name="Line 17"/>
            <p:cNvSpPr>
              <a:spLocks noChangeShapeType="1"/>
            </p:cNvSpPr>
            <p:nvPr/>
          </p:nvSpPr>
          <p:spPr bwMode="auto">
            <a:xfrm>
              <a:off x="4980" y="2445"/>
              <a:ext cx="0" cy="1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498" name="Group 18"/>
          <p:cNvGrpSpPr/>
          <p:nvPr/>
        </p:nvGrpSpPr>
        <p:grpSpPr bwMode="auto">
          <a:xfrm>
            <a:off x="8377238" y="3711575"/>
            <a:ext cx="457200" cy="2022475"/>
            <a:chOff x="5277" y="2355"/>
            <a:chExt cx="288" cy="1274"/>
          </a:xfrm>
        </p:grpSpPr>
        <p:sp>
          <p:nvSpPr>
            <p:cNvPr id="19518" name="Text Box 19"/>
            <p:cNvSpPr txBox="1">
              <a:spLocks noChangeArrowheads="1"/>
            </p:cNvSpPr>
            <p:nvPr/>
          </p:nvSpPr>
          <p:spPr bwMode="auto">
            <a:xfrm rot="-5400000">
              <a:off x="4784" y="2848"/>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最大极限尺寸</a:t>
              </a:r>
              <a:endParaRPr lang="zh-CN" altLang="en-US" b="1"/>
            </a:p>
          </p:txBody>
        </p:sp>
        <p:sp>
          <p:nvSpPr>
            <p:cNvPr id="19519" name="Line 20"/>
            <p:cNvSpPr>
              <a:spLocks noChangeShapeType="1"/>
            </p:cNvSpPr>
            <p:nvPr/>
          </p:nvSpPr>
          <p:spPr bwMode="auto">
            <a:xfrm>
              <a:off x="5557" y="2445"/>
              <a:ext cx="0" cy="108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01" name="Group 21"/>
          <p:cNvGrpSpPr/>
          <p:nvPr/>
        </p:nvGrpSpPr>
        <p:grpSpPr bwMode="auto">
          <a:xfrm>
            <a:off x="6859588" y="2343150"/>
            <a:ext cx="2132012" cy="1562100"/>
            <a:chOff x="4321" y="1476"/>
            <a:chExt cx="1343" cy="984"/>
          </a:xfrm>
        </p:grpSpPr>
        <p:sp>
          <p:nvSpPr>
            <p:cNvPr id="19514" name="Line 22"/>
            <p:cNvSpPr>
              <a:spLocks noChangeShapeType="1"/>
            </p:cNvSpPr>
            <p:nvPr/>
          </p:nvSpPr>
          <p:spPr bwMode="auto">
            <a:xfrm>
              <a:off x="4321" y="1479"/>
              <a:ext cx="130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5" name="Line 23"/>
            <p:cNvSpPr>
              <a:spLocks noChangeShapeType="1"/>
            </p:cNvSpPr>
            <p:nvPr/>
          </p:nvSpPr>
          <p:spPr bwMode="auto">
            <a:xfrm>
              <a:off x="5558" y="1476"/>
              <a:ext cx="0" cy="975"/>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6" name="Text Box 24"/>
            <p:cNvSpPr txBox="1">
              <a:spLocks noChangeArrowheads="1"/>
            </p:cNvSpPr>
            <p:nvPr/>
          </p:nvSpPr>
          <p:spPr bwMode="auto">
            <a:xfrm rot="-5400000">
              <a:off x="5031" y="1916"/>
              <a:ext cx="8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  </a:t>
              </a:r>
              <a:r>
                <a:rPr lang="en-US" altLang="zh-CN" b="1" i="1">
                  <a:latin typeface="ISOCP" panose="00000400000000000000" pitchFamily="2" charset="0"/>
                  <a:sym typeface="Symbol" panose="05050102010706020507" pitchFamily="18" charset="2"/>
                </a:rPr>
                <a:t></a:t>
              </a:r>
              <a:r>
                <a:rPr lang="en-US" altLang="zh-CN" b="1" i="1">
                  <a:latin typeface="ISOCPEUR" panose="020B0604020202020204" pitchFamily="34" charset="0"/>
                </a:rPr>
                <a:t>50.008</a:t>
              </a:r>
              <a:endParaRPr lang="en-US" altLang="zh-CN" b="1">
                <a:latin typeface="ISOCPEUR" panose="020B0604020202020204" pitchFamily="34" charset="0"/>
              </a:endParaRPr>
            </a:p>
          </p:txBody>
        </p:sp>
        <p:sp>
          <p:nvSpPr>
            <p:cNvPr id="19517" name="Line 25"/>
            <p:cNvSpPr>
              <a:spLocks noChangeShapeType="1"/>
            </p:cNvSpPr>
            <p:nvPr/>
          </p:nvSpPr>
          <p:spPr bwMode="auto">
            <a:xfrm>
              <a:off x="4415" y="2436"/>
              <a:ext cx="124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06" name="Group 26"/>
          <p:cNvGrpSpPr/>
          <p:nvPr/>
        </p:nvGrpSpPr>
        <p:grpSpPr bwMode="auto">
          <a:xfrm>
            <a:off x="5715000" y="2332038"/>
            <a:ext cx="1263650" cy="146050"/>
            <a:chOff x="3600" y="1349"/>
            <a:chExt cx="796" cy="92"/>
          </a:xfrm>
        </p:grpSpPr>
        <p:sp>
          <p:nvSpPr>
            <p:cNvPr id="19510" name="Freeform 27"/>
            <p:cNvSpPr/>
            <p:nvPr/>
          </p:nvSpPr>
          <p:spPr bwMode="auto">
            <a:xfrm>
              <a:off x="4314" y="1359"/>
              <a:ext cx="82" cy="80"/>
            </a:xfrm>
            <a:custGeom>
              <a:avLst/>
              <a:gdLst>
                <a:gd name="T0" fmla="*/ 0 w 74"/>
                <a:gd name="T1" fmla="*/ 0 h 64"/>
                <a:gd name="T2" fmla="*/ 82 w 74"/>
                <a:gd name="T3" fmla="*/ 80 h 64"/>
                <a:gd name="T4" fmla="*/ 0 60000 65536"/>
                <a:gd name="T5" fmla="*/ 0 60000 65536"/>
              </a:gdLst>
              <a:ahLst/>
              <a:cxnLst>
                <a:cxn ang="T4">
                  <a:pos x="T0" y="T1"/>
                </a:cxn>
                <a:cxn ang="T5">
                  <a:pos x="T2" y="T3"/>
                </a:cxn>
              </a:cxnLst>
              <a:rect l="0" t="0" r="r" b="b"/>
              <a:pathLst>
                <a:path w="74" h="64">
                  <a:moveTo>
                    <a:pt x="0" y="0"/>
                  </a:moveTo>
                  <a:cubicBezTo>
                    <a:pt x="12" y="11"/>
                    <a:pt x="59" y="51"/>
                    <a:pt x="74" y="64"/>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1" name="Freeform 28"/>
            <p:cNvSpPr/>
            <p:nvPr/>
          </p:nvSpPr>
          <p:spPr bwMode="auto">
            <a:xfrm>
              <a:off x="3600" y="1351"/>
              <a:ext cx="718" cy="2"/>
            </a:xfrm>
            <a:custGeom>
              <a:avLst/>
              <a:gdLst>
                <a:gd name="T0" fmla="*/ 0 w 778"/>
                <a:gd name="T1" fmla="*/ 2 h 2"/>
                <a:gd name="T2" fmla="*/ 718 w 778"/>
                <a:gd name="T3" fmla="*/ 0 h 2"/>
                <a:gd name="T4" fmla="*/ 0 60000 65536"/>
                <a:gd name="T5" fmla="*/ 0 60000 65536"/>
              </a:gdLst>
              <a:ahLst/>
              <a:cxnLst>
                <a:cxn ang="T4">
                  <a:pos x="T0" y="T1"/>
                </a:cxn>
                <a:cxn ang="T5">
                  <a:pos x="T2" y="T3"/>
                </a:cxn>
              </a:cxnLst>
              <a:rect l="0" t="0" r="r" b="b"/>
              <a:pathLst>
                <a:path w="778" h="2">
                  <a:moveTo>
                    <a:pt x="0" y="2"/>
                  </a:moveTo>
                  <a:lnTo>
                    <a:pt x="778"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2" name="Freeform 29" descr="75%"/>
            <p:cNvSpPr/>
            <p:nvPr/>
          </p:nvSpPr>
          <p:spPr bwMode="auto">
            <a:xfrm>
              <a:off x="3600" y="1359"/>
              <a:ext cx="775" cy="71"/>
            </a:xfrm>
            <a:custGeom>
              <a:avLst/>
              <a:gdLst>
                <a:gd name="T0" fmla="*/ 0 w 840"/>
                <a:gd name="T1" fmla="*/ 0 h 77"/>
                <a:gd name="T2" fmla="*/ 0 w 840"/>
                <a:gd name="T3" fmla="*/ 71 h 77"/>
                <a:gd name="T4" fmla="*/ 775 w 840"/>
                <a:gd name="T5" fmla="*/ 71 h 77"/>
                <a:gd name="T6" fmla="*/ 713 w 840"/>
                <a:gd name="T7" fmla="*/ 0 h 77"/>
                <a:gd name="T8" fmla="*/ 0 w 840"/>
                <a:gd name="T9" fmla="*/ 0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0" h="77">
                  <a:moveTo>
                    <a:pt x="0" y="0"/>
                  </a:moveTo>
                  <a:lnTo>
                    <a:pt x="0" y="77"/>
                  </a:lnTo>
                  <a:lnTo>
                    <a:pt x="840" y="77"/>
                  </a:lnTo>
                  <a:lnTo>
                    <a:pt x="773" y="0"/>
                  </a:lnTo>
                  <a:lnTo>
                    <a:pt x="0" y="0"/>
                  </a:lnTo>
                  <a:close/>
                </a:path>
              </a:pathLst>
            </a:custGeom>
            <a:blipFill dpi="0" rotWithShape="0">
              <a:blip r:embed="rId1"/>
              <a:srcRect/>
              <a:tile tx="0" ty="0" sx="100000" sy="100000" flip="none" algn="tl"/>
            </a:blip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3" name="Line 30"/>
            <p:cNvSpPr>
              <a:spLocks noChangeShapeType="1"/>
            </p:cNvSpPr>
            <p:nvPr/>
          </p:nvSpPr>
          <p:spPr bwMode="auto">
            <a:xfrm flipV="1">
              <a:off x="3602" y="1349"/>
              <a:ext cx="0" cy="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11" name="Group 31"/>
          <p:cNvGrpSpPr/>
          <p:nvPr/>
        </p:nvGrpSpPr>
        <p:grpSpPr bwMode="auto">
          <a:xfrm>
            <a:off x="5005388" y="2457450"/>
            <a:ext cx="798512" cy="1428750"/>
            <a:chOff x="3141" y="1548"/>
            <a:chExt cx="503" cy="900"/>
          </a:xfrm>
        </p:grpSpPr>
        <p:sp>
          <p:nvSpPr>
            <p:cNvPr id="19506" name="Text Box 32"/>
            <p:cNvSpPr txBox="1">
              <a:spLocks noChangeArrowheads="1"/>
            </p:cNvSpPr>
            <p:nvPr/>
          </p:nvSpPr>
          <p:spPr bwMode="auto">
            <a:xfrm rot="-5400000">
              <a:off x="3087" y="1896"/>
              <a:ext cx="3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ym typeface="Symbol" panose="05050102010706020507" pitchFamily="18" charset="2"/>
                </a:rPr>
                <a:t></a:t>
              </a:r>
              <a:r>
                <a:rPr lang="en-US" altLang="zh-CN" b="1" i="1">
                  <a:latin typeface="ISOCPEUR" panose="020B0604020202020204" pitchFamily="34" charset="0"/>
                </a:rPr>
                <a:t>50</a:t>
              </a:r>
              <a:endParaRPr lang="en-US" altLang="zh-CN" b="1">
                <a:latin typeface="ISOCPEUR" panose="020B0604020202020204" pitchFamily="34" charset="0"/>
              </a:endParaRPr>
            </a:p>
          </p:txBody>
        </p:sp>
        <p:sp>
          <p:nvSpPr>
            <p:cNvPr id="19507" name="Line 33"/>
            <p:cNvSpPr>
              <a:spLocks noChangeShapeType="1"/>
            </p:cNvSpPr>
            <p:nvPr/>
          </p:nvSpPr>
          <p:spPr bwMode="auto">
            <a:xfrm flipH="1" flipV="1">
              <a:off x="3297" y="2447"/>
              <a:ext cx="347" cy="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8" name="Line 34"/>
            <p:cNvSpPr>
              <a:spLocks noChangeShapeType="1"/>
            </p:cNvSpPr>
            <p:nvPr/>
          </p:nvSpPr>
          <p:spPr bwMode="auto">
            <a:xfrm flipH="1">
              <a:off x="3288" y="1560"/>
              <a:ext cx="3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9" name="Line 35"/>
            <p:cNvSpPr>
              <a:spLocks noChangeShapeType="1"/>
            </p:cNvSpPr>
            <p:nvPr/>
          </p:nvSpPr>
          <p:spPr bwMode="auto">
            <a:xfrm>
              <a:off x="3372" y="1548"/>
              <a:ext cx="0" cy="900"/>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16" name="Group 36"/>
          <p:cNvGrpSpPr/>
          <p:nvPr/>
        </p:nvGrpSpPr>
        <p:grpSpPr bwMode="auto">
          <a:xfrm>
            <a:off x="4956175" y="3740150"/>
            <a:ext cx="457200" cy="1409700"/>
            <a:chOff x="3110" y="2373"/>
            <a:chExt cx="288" cy="888"/>
          </a:xfrm>
        </p:grpSpPr>
        <p:sp>
          <p:nvSpPr>
            <p:cNvPr id="19504" name="Text Box 37"/>
            <p:cNvSpPr txBox="1">
              <a:spLocks noChangeArrowheads="1"/>
            </p:cNvSpPr>
            <p:nvPr/>
          </p:nvSpPr>
          <p:spPr bwMode="auto">
            <a:xfrm rot="-5400000">
              <a:off x="2810" y="2673"/>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基本尺寸</a:t>
              </a:r>
              <a:endParaRPr lang="zh-CN" altLang="en-US" b="1"/>
            </a:p>
          </p:txBody>
        </p:sp>
        <p:sp>
          <p:nvSpPr>
            <p:cNvPr id="19505" name="Line 38"/>
            <p:cNvSpPr>
              <a:spLocks noChangeShapeType="1"/>
            </p:cNvSpPr>
            <p:nvPr/>
          </p:nvSpPr>
          <p:spPr bwMode="auto">
            <a:xfrm>
              <a:off x="3372" y="2448"/>
              <a:ext cx="0" cy="7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19" name="Group 39"/>
          <p:cNvGrpSpPr/>
          <p:nvPr/>
        </p:nvGrpSpPr>
        <p:grpSpPr bwMode="auto">
          <a:xfrm>
            <a:off x="6991350" y="2581275"/>
            <a:ext cx="1066800" cy="1397000"/>
            <a:chOff x="4404" y="1626"/>
            <a:chExt cx="672" cy="880"/>
          </a:xfrm>
        </p:grpSpPr>
        <p:sp>
          <p:nvSpPr>
            <p:cNvPr id="19501" name="Line 40"/>
            <p:cNvSpPr>
              <a:spLocks noChangeShapeType="1"/>
            </p:cNvSpPr>
            <p:nvPr/>
          </p:nvSpPr>
          <p:spPr bwMode="auto">
            <a:xfrm>
              <a:off x="4982" y="1626"/>
              <a:ext cx="0" cy="814"/>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2" name="Text Box 41"/>
            <p:cNvSpPr txBox="1">
              <a:spLocks noChangeArrowheads="1"/>
            </p:cNvSpPr>
            <p:nvPr/>
          </p:nvSpPr>
          <p:spPr bwMode="auto">
            <a:xfrm rot="-5400000">
              <a:off x="4459" y="1955"/>
              <a:ext cx="8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t>  </a:t>
              </a:r>
              <a:r>
                <a:rPr lang="en-US" altLang="zh-CN" b="1" i="1">
                  <a:sym typeface="Symbol" panose="05050102010706020507" pitchFamily="18" charset="2"/>
                </a:rPr>
                <a:t></a:t>
              </a:r>
              <a:r>
                <a:rPr lang="en-US" altLang="zh-CN" b="1" i="1">
                  <a:latin typeface="ISOCPEUR" panose="020B0604020202020204" pitchFamily="34" charset="0"/>
                </a:rPr>
                <a:t>49.992</a:t>
              </a:r>
              <a:endParaRPr lang="en-US" altLang="zh-CN" b="1">
                <a:latin typeface="ISOCPEUR" panose="020B0604020202020204" pitchFamily="34" charset="0"/>
              </a:endParaRPr>
            </a:p>
          </p:txBody>
        </p:sp>
        <p:sp>
          <p:nvSpPr>
            <p:cNvPr id="19503" name="Line 42"/>
            <p:cNvSpPr>
              <a:spLocks noChangeShapeType="1"/>
            </p:cNvSpPr>
            <p:nvPr/>
          </p:nvSpPr>
          <p:spPr bwMode="auto">
            <a:xfrm>
              <a:off x="4404" y="1644"/>
              <a:ext cx="6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3" name="Group 43"/>
          <p:cNvGrpSpPr/>
          <p:nvPr/>
        </p:nvGrpSpPr>
        <p:grpSpPr bwMode="auto">
          <a:xfrm>
            <a:off x="5534025" y="2476500"/>
            <a:ext cx="1617663" cy="1428750"/>
            <a:chOff x="3486" y="1560"/>
            <a:chExt cx="1019" cy="900"/>
          </a:xfrm>
        </p:grpSpPr>
        <p:grpSp>
          <p:nvGrpSpPr>
            <p:cNvPr id="19495" name="Group 44"/>
            <p:cNvGrpSpPr/>
            <p:nvPr/>
          </p:nvGrpSpPr>
          <p:grpSpPr bwMode="auto">
            <a:xfrm>
              <a:off x="3600" y="1560"/>
              <a:ext cx="834" cy="900"/>
              <a:chOff x="3600" y="1560"/>
              <a:chExt cx="834" cy="900"/>
            </a:xfrm>
          </p:grpSpPr>
          <p:sp>
            <p:nvSpPr>
              <p:cNvPr id="19497" name="Freeform 45"/>
              <p:cNvSpPr/>
              <p:nvPr/>
            </p:nvSpPr>
            <p:spPr bwMode="auto">
              <a:xfrm>
                <a:off x="3608" y="1560"/>
                <a:ext cx="826" cy="885"/>
              </a:xfrm>
              <a:custGeom>
                <a:avLst/>
                <a:gdLst>
                  <a:gd name="T0" fmla="*/ 0 w 826"/>
                  <a:gd name="T1" fmla="*/ 0 h 885"/>
                  <a:gd name="T2" fmla="*/ 0 w 826"/>
                  <a:gd name="T3" fmla="*/ 885 h 885"/>
                  <a:gd name="T4" fmla="*/ 823 w 826"/>
                  <a:gd name="T5" fmla="*/ 885 h 885"/>
                  <a:gd name="T6" fmla="*/ 820 w 826"/>
                  <a:gd name="T7" fmla="*/ 804 h 885"/>
                  <a:gd name="T8" fmla="*/ 772 w 826"/>
                  <a:gd name="T9" fmla="*/ 708 h 885"/>
                  <a:gd name="T10" fmla="*/ 748 w 826"/>
                  <a:gd name="T11" fmla="*/ 636 h 885"/>
                  <a:gd name="T12" fmla="*/ 760 w 826"/>
                  <a:gd name="T13" fmla="*/ 528 h 885"/>
                  <a:gd name="T14" fmla="*/ 796 w 826"/>
                  <a:gd name="T15" fmla="*/ 456 h 885"/>
                  <a:gd name="T16" fmla="*/ 788 w 826"/>
                  <a:gd name="T17" fmla="*/ 384 h 885"/>
                  <a:gd name="T18" fmla="*/ 772 w 826"/>
                  <a:gd name="T19" fmla="*/ 264 h 885"/>
                  <a:gd name="T20" fmla="*/ 826 w 826"/>
                  <a:gd name="T21" fmla="*/ 138 h 885"/>
                  <a:gd name="T22" fmla="*/ 814 w 826"/>
                  <a:gd name="T23" fmla="*/ 54 h 885"/>
                  <a:gd name="T24" fmla="*/ 791 w 826"/>
                  <a:gd name="T25" fmla="*/ 0 h 885"/>
                  <a:gd name="T26" fmla="*/ 0 w 826"/>
                  <a:gd name="T27" fmla="*/ 0 h 8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26" h="885">
                    <a:moveTo>
                      <a:pt x="0" y="0"/>
                    </a:moveTo>
                    <a:lnTo>
                      <a:pt x="0" y="885"/>
                    </a:lnTo>
                    <a:lnTo>
                      <a:pt x="823" y="885"/>
                    </a:lnTo>
                    <a:lnTo>
                      <a:pt x="820" y="804"/>
                    </a:lnTo>
                    <a:lnTo>
                      <a:pt x="772" y="708"/>
                    </a:lnTo>
                    <a:lnTo>
                      <a:pt x="748" y="636"/>
                    </a:lnTo>
                    <a:lnTo>
                      <a:pt x="760" y="528"/>
                    </a:lnTo>
                    <a:lnTo>
                      <a:pt x="796" y="456"/>
                    </a:lnTo>
                    <a:lnTo>
                      <a:pt x="788" y="384"/>
                    </a:lnTo>
                    <a:lnTo>
                      <a:pt x="772" y="264"/>
                    </a:lnTo>
                    <a:lnTo>
                      <a:pt x="826" y="138"/>
                    </a:lnTo>
                    <a:lnTo>
                      <a:pt x="814" y="54"/>
                    </a:lnTo>
                    <a:lnTo>
                      <a:pt x="791" y="0"/>
                    </a:lnTo>
                    <a:lnTo>
                      <a:pt x="0" y="0"/>
                    </a:lnTo>
                    <a:close/>
                  </a:path>
                </a:pathLst>
              </a:custGeom>
              <a:gradFill rotWithShape="0">
                <a:gsLst>
                  <a:gs pos="0">
                    <a:srgbClr val="00CC66"/>
                  </a:gs>
                  <a:gs pos="50000">
                    <a:srgbClr val="B4F0D2"/>
                  </a:gs>
                  <a:gs pos="100000">
                    <a:srgbClr val="00CC66"/>
                  </a:gs>
                </a:gsLst>
                <a:lin ang="5400000" scaled="1"/>
              </a:gradFill>
              <a:ln w="190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8" name="Line 46"/>
              <p:cNvSpPr>
                <a:spLocks noChangeShapeType="1"/>
              </p:cNvSpPr>
              <p:nvPr/>
            </p:nvSpPr>
            <p:spPr bwMode="auto">
              <a:xfrm flipV="1">
                <a:off x="3600" y="1560"/>
                <a:ext cx="0" cy="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9" name="Line 47"/>
              <p:cNvSpPr>
                <a:spLocks noChangeShapeType="1"/>
              </p:cNvSpPr>
              <p:nvPr/>
            </p:nvSpPr>
            <p:spPr bwMode="auto">
              <a:xfrm>
                <a:off x="3600" y="1560"/>
                <a:ext cx="80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0" name="Line 48"/>
              <p:cNvSpPr>
                <a:spLocks noChangeShapeType="1"/>
              </p:cNvSpPr>
              <p:nvPr/>
            </p:nvSpPr>
            <p:spPr bwMode="auto">
              <a:xfrm>
                <a:off x="3600" y="2448"/>
                <a:ext cx="82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96" name="Line 49"/>
            <p:cNvSpPr>
              <a:spLocks noChangeShapeType="1"/>
            </p:cNvSpPr>
            <p:nvPr/>
          </p:nvSpPr>
          <p:spPr bwMode="auto">
            <a:xfrm>
              <a:off x="3486" y="2027"/>
              <a:ext cx="1019"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30" name="Group 50"/>
          <p:cNvGrpSpPr/>
          <p:nvPr/>
        </p:nvGrpSpPr>
        <p:grpSpPr bwMode="auto">
          <a:xfrm>
            <a:off x="5705475" y="2481263"/>
            <a:ext cx="1338263" cy="128587"/>
            <a:chOff x="3594" y="1443"/>
            <a:chExt cx="843" cy="81"/>
          </a:xfrm>
        </p:grpSpPr>
        <p:sp>
          <p:nvSpPr>
            <p:cNvPr id="19493" name="Freeform 51" descr="75%"/>
            <p:cNvSpPr/>
            <p:nvPr/>
          </p:nvSpPr>
          <p:spPr bwMode="auto">
            <a:xfrm>
              <a:off x="3600" y="1443"/>
              <a:ext cx="837" cy="81"/>
            </a:xfrm>
            <a:custGeom>
              <a:avLst/>
              <a:gdLst>
                <a:gd name="T0" fmla="*/ 8 w 837"/>
                <a:gd name="T1" fmla="*/ 0 h 81"/>
                <a:gd name="T2" fmla="*/ 0 w 837"/>
                <a:gd name="T3" fmla="*/ 81 h 81"/>
                <a:gd name="T4" fmla="*/ 837 w 837"/>
                <a:gd name="T5" fmla="*/ 81 h 81"/>
                <a:gd name="T6" fmla="*/ 823 w 837"/>
                <a:gd name="T7" fmla="*/ 41 h 81"/>
                <a:gd name="T8" fmla="*/ 800 w 837"/>
                <a:gd name="T9" fmla="*/ 0 h 81"/>
                <a:gd name="T10" fmla="*/ 8 w 837"/>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7" h="81">
                  <a:moveTo>
                    <a:pt x="8" y="0"/>
                  </a:moveTo>
                  <a:lnTo>
                    <a:pt x="0" y="81"/>
                  </a:lnTo>
                  <a:lnTo>
                    <a:pt x="837" y="81"/>
                  </a:lnTo>
                  <a:lnTo>
                    <a:pt x="823" y="41"/>
                  </a:lnTo>
                  <a:lnTo>
                    <a:pt x="800" y="0"/>
                  </a:lnTo>
                  <a:lnTo>
                    <a:pt x="8" y="0"/>
                  </a:lnTo>
                  <a:close/>
                </a:path>
              </a:pathLst>
            </a:custGeom>
            <a:blipFill dpi="0" rotWithShape="0">
              <a:blip r:embed="rId1"/>
              <a:srcRect/>
              <a:tile tx="0" ty="0" sx="100000" sy="100000" flip="none" algn="tl"/>
            </a:blip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4" name="Line 52"/>
            <p:cNvSpPr>
              <a:spLocks noChangeShapeType="1"/>
            </p:cNvSpPr>
            <p:nvPr/>
          </p:nvSpPr>
          <p:spPr bwMode="auto">
            <a:xfrm>
              <a:off x="3594" y="1524"/>
              <a:ext cx="84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80" name="Group 67"/>
          <p:cNvGrpSpPr/>
          <p:nvPr/>
        </p:nvGrpSpPr>
        <p:grpSpPr bwMode="auto">
          <a:xfrm>
            <a:off x="6037263" y="228600"/>
            <a:ext cx="2676525" cy="1809750"/>
            <a:chOff x="3803" y="144"/>
            <a:chExt cx="1686" cy="1140"/>
          </a:xfrm>
        </p:grpSpPr>
        <p:sp>
          <p:nvSpPr>
            <p:cNvPr id="19481" name="Line 55"/>
            <p:cNvSpPr>
              <a:spLocks noChangeShapeType="1"/>
            </p:cNvSpPr>
            <p:nvPr/>
          </p:nvSpPr>
          <p:spPr bwMode="auto">
            <a:xfrm flipH="1">
              <a:off x="3960" y="276"/>
              <a:ext cx="2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2" name="Line 56"/>
            <p:cNvSpPr>
              <a:spLocks noChangeShapeType="1"/>
            </p:cNvSpPr>
            <p:nvPr/>
          </p:nvSpPr>
          <p:spPr bwMode="auto">
            <a:xfrm>
              <a:off x="4032" y="276"/>
              <a:ext cx="0" cy="888"/>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3" name="Rectangle 57"/>
            <p:cNvSpPr>
              <a:spLocks noChangeArrowheads="1"/>
            </p:cNvSpPr>
            <p:nvPr/>
          </p:nvSpPr>
          <p:spPr bwMode="auto">
            <a:xfrm rot="-5400000">
              <a:off x="3483" y="638"/>
              <a:ext cx="8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000" b="1" i="1">
                  <a:sym typeface="Symbol" panose="05050102010706020507" pitchFamily="18" charset="2"/>
                </a:rPr>
                <a:t> </a:t>
              </a:r>
              <a:r>
                <a:rPr lang="en-US" altLang="zh-CN" sz="2000" b="1" i="1">
                  <a:latin typeface="宋体" panose="02010600030101010101" pitchFamily="2" charset="-122"/>
                </a:rPr>
                <a:t> </a:t>
              </a:r>
              <a:r>
                <a:rPr lang="en-US" altLang="zh-CN" sz="2000" b="1" i="1">
                  <a:sym typeface="Symbol" panose="05050102010706020507" pitchFamily="18" charset="2"/>
                </a:rPr>
                <a:t></a:t>
              </a:r>
              <a:r>
                <a:rPr lang="en-US" altLang="zh-CN" sz="2000" b="1" i="1">
                  <a:latin typeface="ISOCPEUR" panose="020B0604020202020204" pitchFamily="34" charset="0"/>
                </a:rPr>
                <a:t>50</a:t>
              </a:r>
              <a:r>
                <a:rPr lang="en-US" altLang="zh-CN" sz="2000" b="1" i="1">
                  <a:latin typeface="宋体" panose="02010600030101010101" pitchFamily="2" charset="-122"/>
                  <a:sym typeface="Symbol" panose="05050102010706020507" pitchFamily="18" charset="2"/>
                </a:rPr>
                <a:t></a:t>
              </a:r>
              <a:r>
                <a:rPr lang="en-US" altLang="zh-CN" sz="2000" b="1" i="1">
                  <a:latin typeface="ISOCPEUR" panose="020B0604020202020204" pitchFamily="34" charset="0"/>
                  <a:sym typeface="Symbol" panose="05050102010706020507" pitchFamily="18" charset="2"/>
                </a:rPr>
                <a:t>0.008</a:t>
              </a:r>
              <a:endParaRPr lang="en-US" altLang="zh-CN" sz="2000" b="1" i="1">
                <a:latin typeface="ISOCPEUR" panose="020B0604020202020204" pitchFamily="34" charset="0"/>
                <a:sym typeface="Symbol" panose="05050102010706020507" pitchFamily="18" charset="2"/>
              </a:endParaRPr>
            </a:p>
          </p:txBody>
        </p:sp>
        <p:sp>
          <p:nvSpPr>
            <p:cNvPr id="19484" name="Line 58"/>
            <p:cNvSpPr>
              <a:spLocks noChangeShapeType="1"/>
            </p:cNvSpPr>
            <p:nvPr/>
          </p:nvSpPr>
          <p:spPr bwMode="auto">
            <a:xfrm>
              <a:off x="4248" y="276"/>
              <a:ext cx="80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5" name="Line 59"/>
            <p:cNvSpPr>
              <a:spLocks noChangeShapeType="1"/>
            </p:cNvSpPr>
            <p:nvPr/>
          </p:nvSpPr>
          <p:spPr bwMode="auto">
            <a:xfrm>
              <a:off x="4248" y="1164"/>
              <a:ext cx="80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6" name="Line 60"/>
            <p:cNvSpPr>
              <a:spLocks noChangeShapeType="1"/>
            </p:cNvSpPr>
            <p:nvPr/>
          </p:nvSpPr>
          <p:spPr bwMode="auto">
            <a:xfrm flipV="1">
              <a:off x="4248" y="276"/>
              <a:ext cx="0" cy="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7" name="Line 61"/>
            <p:cNvSpPr>
              <a:spLocks noChangeShapeType="1"/>
            </p:cNvSpPr>
            <p:nvPr/>
          </p:nvSpPr>
          <p:spPr bwMode="auto">
            <a:xfrm>
              <a:off x="4122" y="743"/>
              <a:ext cx="1367"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8" name="Line 62"/>
            <p:cNvSpPr>
              <a:spLocks noChangeShapeType="1"/>
            </p:cNvSpPr>
            <p:nvPr/>
          </p:nvSpPr>
          <p:spPr bwMode="auto">
            <a:xfrm flipV="1">
              <a:off x="5052" y="156"/>
              <a:ext cx="0" cy="11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9" name="Line 63"/>
            <p:cNvSpPr>
              <a:spLocks noChangeShapeType="1"/>
            </p:cNvSpPr>
            <p:nvPr/>
          </p:nvSpPr>
          <p:spPr bwMode="auto">
            <a:xfrm>
              <a:off x="5052" y="1284"/>
              <a:ext cx="34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0" name="Line 64"/>
            <p:cNvSpPr>
              <a:spLocks noChangeShapeType="1"/>
            </p:cNvSpPr>
            <p:nvPr/>
          </p:nvSpPr>
          <p:spPr bwMode="auto">
            <a:xfrm>
              <a:off x="5052" y="156"/>
              <a:ext cx="33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1" name="Freeform 65"/>
            <p:cNvSpPr/>
            <p:nvPr/>
          </p:nvSpPr>
          <p:spPr bwMode="auto">
            <a:xfrm>
              <a:off x="5352" y="144"/>
              <a:ext cx="86" cy="1140"/>
            </a:xfrm>
            <a:custGeom>
              <a:avLst/>
              <a:gdLst>
                <a:gd name="T0" fmla="*/ 24 w 86"/>
                <a:gd name="T1" fmla="*/ 0 h 1140"/>
                <a:gd name="T2" fmla="*/ 84 w 86"/>
                <a:gd name="T3" fmla="*/ 144 h 1140"/>
                <a:gd name="T4" fmla="*/ 36 w 86"/>
                <a:gd name="T5" fmla="*/ 372 h 1140"/>
                <a:gd name="T6" fmla="*/ 48 w 86"/>
                <a:gd name="T7" fmla="*/ 648 h 1140"/>
                <a:gd name="T8" fmla="*/ 0 w 86"/>
                <a:gd name="T9" fmla="*/ 840 h 1140"/>
                <a:gd name="T10" fmla="*/ 48 w 86"/>
                <a:gd name="T11" fmla="*/ 1140 h 11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1140">
                  <a:moveTo>
                    <a:pt x="24" y="0"/>
                  </a:moveTo>
                  <a:cubicBezTo>
                    <a:pt x="53" y="41"/>
                    <a:pt x="82" y="82"/>
                    <a:pt x="84" y="144"/>
                  </a:cubicBezTo>
                  <a:cubicBezTo>
                    <a:pt x="86" y="206"/>
                    <a:pt x="42" y="288"/>
                    <a:pt x="36" y="372"/>
                  </a:cubicBezTo>
                  <a:cubicBezTo>
                    <a:pt x="30" y="456"/>
                    <a:pt x="54" y="570"/>
                    <a:pt x="48" y="648"/>
                  </a:cubicBezTo>
                  <a:cubicBezTo>
                    <a:pt x="42" y="726"/>
                    <a:pt x="0" y="758"/>
                    <a:pt x="0" y="840"/>
                  </a:cubicBezTo>
                  <a:cubicBezTo>
                    <a:pt x="0" y="922"/>
                    <a:pt x="40" y="1090"/>
                    <a:pt x="48" y="114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9492" name="Line 66"/>
            <p:cNvSpPr>
              <a:spLocks noChangeShapeType="1"/>
            </p:cNvSpPr>
            <p:nvPr/>
          </p:nvSpPr>
          <p:spPr bwMode="auto">
            <a:xfrm flipH="1">
              <a:off x="3957" y="1164"/>
              <a:ext cx="28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20492">
                                            <p:txEl>
                                              <p:pRg st="0" end="0"/>
                                            </p:txEl>
                                          </p:spTgt>
                                        </p:tgtEl>
                                        <p:attrNameLst>
                                          <p:attrName>style.visibility</p:attrName>
                                        </p:attrNameLst>
                                      </p:cBhvr>
                                      <p:to>
                                        <p:strVal val="visible"/>
                                      </p:to>
                                    </p:set>
                                    <p:animEffect transition="in" filter="wipe(up)">
                                      <p:cBhvr>
                                        <p:cTn id="7" dur="75"/>
                                        <p:tgtEl>
                                          <p:spTgt spid="204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0523"/>
                                        </p:tgtEl>
                                        <p:attrNameLst>
                                          <p:attrName>style.visibility</p:attrName>
                                        </p:attrNameLst>
                                      </p:cBhvr>
                                      <p:to>
                                        <p:strVal val="visible"/>
                                      </p:to>
                                    </p:set>
                                    <p:animEffect transition="in" filter="blinds(vertical)">
                                      <p:cBhvr>
                                        <p:cTn id="12" dur="500"/>
                                        <p:tgtEl>
                                          <p:spTgt spid="205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iterate type="lt">
                                    <p:tmPct val="100000"/>
                                  </p:iterate>
                                  <p:childTnLst>
                                    <p:set>
                                      <p:cBhvr>
                                        <p:cTn id="16" dur="1" fill="hold">
                                          <p:stCondLst>
                                            <p:cond delay="0"/>
                                          </p:stCondLst>
                                        </p:cTn>
                                        <p:tgtEl>
                                          <p:spTgt spid="20482"/>
                                        </p:tgtEl>
                                        <p:attrNameLst>
                                          <p:attrName>style.visibility</p:attrName>
                                        </p:attrNameLst>
                                      </p:cBhvr>
                                      <p:to>
                                        <p:strVal val="visible"/>
                                      </p:to>
                                    </p:set>
                                    <p:animEffect transition="in" filter="blinds(horizontal)">
                                      <p:cBhvr>
                                        <p:cTn id="17" dur="75"/>
                                        <p:tgtEl>
                                          <p:spTgt spid="204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iterate type="lt">
                                    <p:tmPct val="100000"/>
                                  </p:iterate>
                                  <p:childTnLst>
                                    <p:set>
                                      <p:cBhvr>
                                        <p:cTn id="21" dur="1" fill="hold">
                                          <p:stCondLst>
                                            <p:cond delay="0"/>
                                          </p:stCondLst>
                                        </p:cTn>
                                        <p:tgtEl>
                                          <p:spTgt spid="20494"/>
                                        </p:tgtEl>
                                        <p:attrNameLst>
                                          <p:attrName>style.visibility</p:attrName>
                                        </p:attrNameLst>
                                      </p:cBhvr>
                                      <p:to>
                                        <p:strVal val="visible"/>
                                      </p:to>
                                    </p:set>
                                    <p:animEffect transition="in" filter="blinds(horizontal)">
                                      <p:cBhvr>
                                        <p:cTn id="22" dur="75"/>
                                        <p:tgtEl>
                                          <p:spTgt spid="204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0511"/>
                                        </p:tgtEl>
                                        <p:attrNameLst>
                                          <p:attrName>style.visibility</p:attrName>
                                        </p:attrNameLst>
                                      </p:cBhvr>
                                      <p:to>
                                        <p:strVal val="visible"/>
                                      </p:to>
                                    </p:set>
                                    <p:animEffect transition="in" filter="wipe(right)">
                                      <p:cBhvr>
                                        <p:cTn id="27" dur="500"/>
                                        <p:tgtEl>
                                          <p:spTgt spid="205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0516"/>
                                        </p:tgtEl>
                                        <p:attrNameLst>
                                          <p:attrName>style.visibility</p:attrName>
                                        </p:attrNameLst>
                                      </p:cBhvr>
                                      <p:to>
                                        <p:strVal val="visible"/>
                                      </p:to>
                                    </p:set>
                                    <p:animEffect transition="in" filter="wipe(up)">
                                      <p:cBhvr>
                                        <p:cTn id="32" dur="500"/>
                                        <p:tgtEl>
                                          <p:spTgt spid="2051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iterate type="lt">
                                    <p:tmPct val="100000"/>
                                  </p:iterate>
                                  <p:childTnLst>
                                    <p:set>
                                      <p:cBhvr>
                                        <p:cTn id="36" dur="1" fill="hold">
                                          <p:stCondLst>
                                            <p:cond delay="0"/>
                                          </p:stCondLst>
                                        </p:cTn>
                                        <p:tgtEl>
                                          <p:spTgt spid="20483"/>
                                        </p:tgtEl>
                                        <p:attrNameLst>
                                          <p:attrName>style.visibility</p:attrName>
                                        </p:attrNameLst>
                                      </p:cBhvr>
                                      <p:to>
                                        <p:strVal val="visible"/>
                                      </p:to>
                                    </p:set>
                                    <p:animEffect transition="in" filter="blinds(horizontal)">
                                      <p:cBhvr>
                                        <p:cTn id="37" dur="75"/>
                                        <p:tgtEl>
                                          <p:spTgt spid="2048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iterate type="lt">
                                    <p:tmPct val="100000"/>
                                  </p:iterate>
                                  <p:childTnLst>
                                    <p:set>
                                      <p:cBhvr>
                                        <p:cTn id="41" dur="1" fill="hold">
                                          <p:stCondLst>
                                            <p:cond delay="0"/>
                                          </p:stCondLst>
                                        </p:cTn>
                                        <p:tgtEl>
                                          <p:spTgt spid="20488"/>
                                        </p:tgtEl>
                                        <p:attrNameLst>
                                          <p:attrName>style.visibility</p:attrName>
                                        </p:attrNameLst>
                                      </p:cBhvr>
                                      <p:to>
                                        <p:strVal val="visible"/>
                                      </p:to>
                                    </p:set>
                                    <p:animEffect transition="in" filter="blinds(horizontal)">
                                      <p:cBhvr>
                                        <p:cTn id="42" dur="75"/>
                                        <p:tgtEl>
                                          <p:spTgt spid="2048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0530"/>
                                        </p:tgtEl>
                                        <p:attrNameLst>
                                          <p:attrName>style.visibility</p:attrName>
                                        </p:attrNameLst>
                                      </p:cBhvr>
                                      <p:to>
                                        <p:strVal val="visible"/>
                                      </p:to>
                                    </p:set>
                                    <p:animEffect transition="in" filter="wipe(up)">
                                      <p:cBhvr>
                                        <p:cTn id="47" dur="500"/>
                                        <p:tgtEl>
                                          <p:spTgt spid="205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0506"/>
                                        </p:tgtEl>
                                        <p:attrNameLst>
                                          <p:attrName>style.visibility</p:attrName>
                                        </p:attrNameLst>
                                      </p:cBhvr>
                                      <p:to>
                                        <p:strVal val="visible"/>
                                      </p:to>
                                    </p:set>
                                    <p:animEffect transition="in" filter="wipe(down)">
                                      <p:cBhvr>
                                        <p:cTn id="52" dur="500"/>
                                        <p:tgtEl>
                                          <p:spTgt spid="2050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iterate type="lt">
                                    <p:tmPct val="100000"/>
                                  </p:iterate>
                                  <p:childTnLst>
                                    <p:set>
                                      <p:cBhvr>
                                        <p:cTn id="56" dur="1" fill="hold">
                                          <p:stCondLst>
                                            <p:cond delay="0"/>
                                          </p:stCondLst>
                                        </p:cTn>
                                        <p:tgtEl>
                                          <p:spTgt spid="20484"/>
                                        </p:tgtEl>
                                        <p:attrNameLst>
                                          <p:attrName>style.visibility</p:attrName>
                                        </p:attrNameLst>
                                      </p:cBhvr>
                                      <p:to>
                                        <p:strVal val="visible"/>
                                      </p:to>
                                    </p:set>
                                    <p:animEffect transition="in" filter="blinds(horizontal)">
                                      <p:cBhvr>
                                        <p:cTn id="57" dur="75"/>
                                        <p:tgtEl>
                                          <p:spTgt spid="2048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iterate type="lt">
                                    <p:tmPct val="100000"/>
                                  </p:iterate>
                                  <p:childTnLst>
                                    <p:set>
                                      <p:cBhvr>
                                        <p:cTn id="61" dur="1" fill="hold">
                                          <p:stCondLst>
                                            <p:cond delay="0"/>
                                          </p:stCondLst>
                                        </p:cTn>
                                        <p:tgtEl>
                                          <p:spTgt spid="20489"/>
                                        </p:tgtEl>
                                        <p:attrNameLst>
                                          <p:attrName>style.visibility</p:attrName>
                                        </p:attrNameLst>
                                      </p:cBhvr>
                                      <p:to>
                                        <p:strVal val="visible"/>
                                      </p:to>
                                    </p:set>
                                    <p:animEffect transition="in" filter="blinds(horizontal)">
                                      <p:cBhvr>
                                        <p:cTn id="62" dur="75"/>
                                        <p:tgtEl>
                                          <p:spTgt spid="2048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iterate type="lt">
                                    <p:tmPct val="100000"/>
                                  </p:iterate>
                                  <p:childTnLst>
                                    <p:set>
                                      <p:cBhvr>
                                        <p:cTn id="66" dur="1" fill="hold">
                                          <p:stCondLst>
                                            <p:cond delay="0"/>
                                          </p:stCondLst>
                                        </p:cTn>
                                        <p:tgtEl>
                                          <p:spTgt spid="20485"/>
                                        </p:tgtEl>
                                        <p:attrNameLst>
                                          <p:attrName>style.visibility</p:attrName>
                                        </p:attrNameLst>
                                      </p:cBhvr>
                                      <p:to>
                                        <p:strVal val="visible"/>
                                      </p:to>
                                    </p:set>
                                    <p:animEffect transition="in" filter="blinds(horizontal)">
                                      <p:cBhvr>
                                        <p:cTn id="67" dur="75"/>
                                        <p:tgtEl>
                                          <p:spTgt spid="2048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iterate type="lt">
                                    <p:tmPct val="100000"/>
                                  </p:iterate>
                                  <p:childTnLst>
                                    <p:set>
                                      <p:cBhvr>
                                        <p:cTn id="71" dur="1" fill="hold">
                                          <p:stCondLst>
                                            <p:cond delay="0"/>
                                          </p:stCondLst>
                                        </p:cTn>
                                        <p:tgtEl>
                                          <p:spTgt spid="20490"/>
                                        </p:tgtEl>
                                        <p:attrNameLst>
                                          <p:attrName>style.visibility</p:attrName>
                                        </p:attrNameLst>
                                      </p:cBhvr>
                                      <p:to>
                                        <p:strVal val="visible"/>
                                      </p:to>
                                    </p:set>
                                    <p:animEffect transition="in" filter="blinds(horizontal)">
                                      <p:cBhvr>
                                        <p:cTn id="72" dur="75"/>
                                        <p:tgtEl>
                                          <p:spTgt spid="2049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0501"/>
                                        </p:tgtEl>
                                        <p:attrNameLst>
                                          <p:attrName>style.visibility</p:attrName>
                                        </p:attrNameLst>
                                      </p:cBhvr>
                                      <p:to>
                                        <p:strVal val="visible"/>
                                      </p:to>
                                    </p:set>
                                    <p:animEffect transition="in" filter="wipe(left)">
                                      <p:cBhvr>
                                        <p:cTn id="77" dur="500"/>
                                        <p:tgtEl>
                                          <p:spTgt spid="20501"/>
                                        </p:tgtEl>
                                      </p:cBhvr>
                                    </p:animEffect>
                                  </p:childTnLst>
                                </p:cTn>
                              </p:par>
                            </p:childTnLst>
                          </p:cTn>
                        </p:par>
                        <p:par>
                          <p:cTn id="78" fill="hold">
                            <p:stCondLst>
                              <p:cond delay="500"/>
                            </p:stCondLst>
                            <p:childTnLst>
                              <p:par>
                                <p:cTn id="79" presetID="22" presetClass="entr" presetSubtype="1" fill="hold" nodeType="afterEffect">
                                  <p:stCondLst>
                                    <p:cond delay="0"/>
                                  </p:stCondLst>
                                  <p:childTnLst>
                                    <p:set>
                                      <p:cBhvr>
                                        <p:cTn id="80" dur="1" fill="hold">
                                          <p:stCondLst>
                                            <p:cond delay="0"/>
                                          </p:stCondLst>
                                        </p:cTn>
                                        <p:tgtEl>
                                          <p:spTgt spid="20498"/>
                                        </p:tgtEl>
                                        <p:attrNameLst>
                                          <p:attrName>style.visibility</p:attrName>
                                        </p:attrNameLst>
                                      </p:cBhvr>
                                      <p:to>
                                        <p:strVal val="visible"/>
                                      </p:to>
                                    </p:set>
                                    <p:animEffect transition="in" filter="wipe(up)">
                                      <p:cBhvr>
                                        <p:cTn id="81" dur="500"/>
                                        <p:tgtEl>
                                          <p:spTgt spid="20498"/>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iterate type="lt">
                                    <p:tmPct val="100000"/>
                                  </p:iterate>
                                  <p:childTnLst>
                                    <p:set>
                                      <p:cBhvr>
                                        <p:cTn id="85" dur="1" fill="hold">
                                          <p:stCondLst>
                                            <p:cond delay="0"/>
                                          </p:stCondLst>
                                        </p:cTn>
                                        <p:tgtEl>
                                          <p:spTgt spid="20493"/>
                                        </p:tgtEl>
                                        <p:attrNameLst>
                                          <p:attrName>style.visibility</p:attrName>
                                        </p:attrNameLst>
                                      </p:cBhvr>
                                      <p:to>
                                        <p:strVal val="visible"/>
                                      </p:to>
                                    </p:set>
                                    <p:animEffect transition="in" filter="blinds(horizontal)">
                                      <p:cBhvr>
                                        <p:cTn id="86" dur="75"/>
                                        <p:tgtEl>
                                          <p:spTgt spid="20493"/>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iterate type="lt">
                                    <p:tmPct val="100000"/>
                                  </p:iterate>
                                  <p:childTnLst>
                                    <p:set>
                                      <p:cBhvr>
                                        <p:cTn id="90" dur="1" fill="hold">
                                          <p:stCondLst>
                                            <p:cond delay="0"/>
                                          </p:stCondLst>
                                        </p:cTn>
                                        <p:tgtEl>
                                          <p:spTgt spid="20491"/>
                                        </p:tgtEl>
                                        <p:attrNameLst>
                                          <p:attrName>style.visibility</p:attrName>
                                        </p:attrNameLst>
                                      </p:cBhvr>
                                      <p:to>
                                        <p:strVal val="visible"/>
                                      </p:to>
                                    </p:set>
                                    <p:animEffect transition="in" filter="blinds(horizontal)">
                                      <p:cBhvr>
                                        <p:cTn id="91" dur="75"/>
                                        <p:tgtEl>
                                          <p:spTgt spid="2049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0519"/>
                                        </p:tgtEl>
                                        <p:attrNameLst>
                                          <p:attrName>style.visibility</p:attrName>
                                        </p:attrNameLst>
                                      </p:cBhvr>
                                      <p:to>
                                        <p:strVal val="visible"/>
                                      </p:to>
                                    </p:set>
                                    <p:animEffect transition="in" filter="wipe(left)">
                                      <p:cBhvr>
                                        <p:cTn id="96" dur="500"/>
                                        <p:tgtEl>
                                          <p:spTgt spid="20519"/>
                                        </p:tgtEl>
                                      </p:cBhvr>
                                    </p:animEffect>
                                  </p:childTnLst>
                                </p:cTn>
                              </p:par>
                            </p:childTnLst>
                          </p:cTn>
                        </p:par>
                        <p:par>
                          <p:cTn id="97" fill="hold">
                            <p:stCondLst>
                              <p:cond delay="500"/>
                            </p:stCondLst>
                            <p:childTnLst>
                              <p:par>
                                <p:cTn id="98" presetID="22" presetClass="entr" presetSubtype="1" fill="hold" nodeType="afterEffect">
                                  <p:stCondLst>
                                    <p:cond delay="0"/>
                                  </p:stCondLst>
                                  <p:childTnLst>
                                    <p:set>
                                      <p:cBhvr>
                                        <p:cTn id="99" dur="1" fill="hold">
                                          <p:stCondLst>
                                            <p:cond delay="0"/>
                                          </p:stCondLst>
                                        </p:cTn>
                                        <p:tgtEl>
                                          <p:spTgt spid="20495"/>
                                        </p:tgtEl>
                                        <p:attrNameLst>
                                          <p:attrName>style.visibility</p:attrName>
                                        </p:attrNameLst>
                                      </p:cBhvr>
                                      <p:to>
                                        <p:strVal val="visible"/>
                                      </p:to>
                                    </p:set>
                                    <p:animEffect transition="in" filter="wipe(up)">
                                      <p:cBhvr>
                                        <p:cTn id="100" dur="500"/>
                                        <p:tgtEl>
                                          <p:spTgt spid="2049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iterate type="lt">
                                    <p:tmPct val="100000"/>
                                  </p:iterate>
                                  <p:childTnLst>
                                    <p:set>
                                      <p:cBhvr>
                                        <p:cTn id="104" dur="1" fill="hold">
                                          <p:stCondLst>
                                            <p:cond delay="0"/>
                                          </p:stCondLst>
                                        </p:cTn>
                                        <p:tgtEl>
                                          <p:spTgt spid="20486">
                                            <p:txEl>
                                              <p:pRg st="0" end="0"/>
                                            </p:txEl>
                                          </p:spTgt>
                                        </p:tgtEl>
                                        <p:attrNameLst>
                                          <p:attrName>style.visibility</p:attrName>
                                        </p:attrNameLst>
                                      </p:cBhvr>
                                      <p:to>
                                        <p:strVal val="visible"/>
                                      </p:to>
                                    </p:set>
                                    <p:animEffect transition="in" filter="wipe(up)">
                                      <p:cBhvr>
                                        <p:cTn id="105" dur="75"/>
                                        <p:tgtEl>
                                          <p:spTgt spid="20486">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 presetClass="entr" presetSubtype="8" fill="hold" grpId="0" nodeType="clickEffect">
                                  <p:stCondLst>
                                    <p:cond delay="0"/>
                                  </p:stCondLst>
                                  <p:childTnLst>
                                    <p:set>
                                      <p:cBhvr>
                                        <p:cTn id="109" dur="1" fill="hold">
                                          <p:stCondLst>
                                            <p:cond delay="0"/>
                                          </p:stCondLst>
                                        </p:cTn>
                                        <p:tgtEl>
                                          <p:spTgt spid="20487"/>
                                        </p:tgtEl>
                                        <p:attrNameLst>
                                          <p:attrName>style.visibility</p:attrName>
                                        </p:attrNameLst>
                                      </p:cBhvr>
                                      <p:to>
                                        <p:strVal val="visible"/>
                                      </p:to>
                                    </p:set>
                                    <p:anim calcmode="lin" valueType="num">
                                      <p:cBhvr additive="base">
                                        <p:cTn id="110" dur="500" fill="hold"/>
                                        <p:tgtEl>
                                          <p:spTgt spid="20487"/>
                                        </p:tgtEl>
                                        <p:attrNameLst>
                                          <p:attrName>ppt_x</p:attrName>
                                        </p:attrNameLst>
                                      </p:cBhvr>
                                      <p:tavLst>
                                        <p:tav tm="0">
                                          <p:val>
                                            <p:strVal val="0-#ppt_w/2"/>
                                          </p:val>
                                        </p:tav>
                                        <p:tav tm="100000">
                                          <p:val>
                                            <p:strVal val="#ppt_x"/>
                                          </p:val>
                                        </p:tav>
                                      </p:tavLst>
                                    </p:anim>
                                    <p:anim calcmode="lin" valueType="num">
                                      <p:cBhvr additive="base">
                                        <p:cTn id="111" dur="500" fill="hold"/>
                                        <p:tgtEl>
                                          <p:spTgt spid="204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utoUpdateAnimBg="0"/>
      <p:bldP spid="20484" grpId="0" autoUpdateAnimBg="0"/>
      <p:bldP spid="20485" grpId="0" autoUpdateAnimBg="0"/>
      <p:bldP spid="20486" grpId="0" autoUpdateAnimBg="0" build="p"/>
      <p:bldP spid="20487" grpId="0" autoUpdateAnimBg="0"/>
      <p:bldP spid="20488" grpId="0" autoUpdateAnimBg="0"/>
      <p:bldP spid="20489" grpId="0" autoUpdateAnimBg="0"/>
      <p:bldP spid="20490" grpId="0" autoUpdateAnimBg="0"/>
      <p:bldP spid="20491" grpId="0" autoUpdateAnimBg="0"/>
      <p:bldP spid="20492" grpId="0" autoUpdateAnimBg="0" build="p"/>
      <p:bldP spid="20493" grpId="0" autoUpdateAnimBg="0"/>
      <p:bldP spid="2049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p:nvPr/>
        </p:nvGrpSpPr>
        <p:grpSpPr bwMode="auto">
          <a:xfrm>
            <a:off x="4784725" y="2095500"/>
            <a:ext cx="4035425" cy="3446463"/>
            <a:chOff x="3122" y="1469"/>
            <a:chExt cx="2542" cy="2171"/>
          </a:xfrm>
        </p:grpSpPr>
        <p:grpSp>
          <p:nvGrpSpPr>
            <p:cNvPr id="20518" name="Group 3"/>
            <p:cNvGrpSpPr/>
            <p:nvPr/>
          </p:nvGrpSpPr>
          <p:grpSpPr bwMode="auto">
            <a:xfrm>
              <a:off x="4671" y="2366"/>
              <a:ext cx="309" cy="1274"/>
              <a:chOff x="4671" y="2366"/>
              <a:chExt cx="309" cy="1274"/>
            </a:xfrm>
          </p:grpSpPr>
          <p:sp>
            <p:nvSpPr>
              <p:cNvPr id="20554" name="Text Box 4"/>
              <p:cNvSpPr txBox="1">
                <a:spLocks noChangeArrowheads="1"/>
              </p:cNvSpPr>
              <p:nvPr/>
            </p:nvSpPr>
            <p:spPr bwMode="auto">
              <a:xfrm rot="-5400000">
                <a:off x="4178" y="2859"/>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最小极限尺寸</a:t>
                </a:r>
                <a:endParaRPr lang="zh-CN" altLang="en-US" b="1"/>
              </a:p>
            </p:txBody>
          </p:sp>
          <p:sp>
            <p:nvSpPr>
              <p:cNvPr id="20555" name="Line 5"/>
              <p:cNvSpPr>
                <a:spLocks noChangeShapeType="1"/>
              </p:cNvSpPr>
              <p:nvPr/>
            </p:nvSpPr>
            <p:spPr bwMode="auto">
              <a:xfrm>
                <a:off x="4980" y="2445"/>
                <a:ext cx="0" cy="1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19" name="Group 6"/>
            <p:cNvGrpSpPr/>
            <p:nvPr/>
          </p:nvGrpSpPr>
          <p:grpSpPr bwMode="auto">
            <a:xfrm>
              <a:off x="5277" y="2356"/>
              <a:ext cx="288" cy="1274"/>
              <a:chOff x="5277" y="2356"/>
              <a:chExt cx="288" cy="1274"/>
            </a:xfrm>
          </p:grpSpPr>
          <p:sp>
            <p:nvSpPr>
              <p:cNvPr id="20552" name="Text Box 7"/>
              <p:cNvSpPr txBox="1">
                <a:spLocks noChangeArrowheads="1"/>
              </p:cNvSpPr>
              <p:nvPr/>
            </p:nvSpPr>
            <p:spPr bwMode="auto">
              <a:xfrm rot="-5400000">
                <a:off x="4784" y="2849"/>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最大极限尺寸</a:t>
                </a:r>
                <a:endParaRPr lang="zh-CN" altLang="en-US" b="1"/>
              </a:p>
            </p:txBody>
          </p:sp>
          <p:sp>
            <p:nvSpPr>
              <p:cNvPr id="20553" name="Line 8"/>
              <p:cNvSpPr>
                <a:spLocks noChangeShapeType="1"/>
              </p:cNvSpPr>
              <p:nvPr/>
            </p:nvSpPr>
            <p:spPr bwMode="auto">
              <a:xfrm>
                <a:off x="5557" y="2445"/>
                <a:ext cx="0" cy="108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0" name="Group 9"/>
            <p:cNvGrpSpPr/>
            <p:nvPr/>
          </p:nvGrpSpPr>
          <p:grpSpPr bwMode="auto">
            <a:xfrm>
              <a:off x="4321" y="1476"/>
              <a:ext cx="1343" cy="984"/>
              <a:chOff x="4321" y="1476"/>
              <a:chExt cx="1343" cy="984"/>
            </a:xfrm>
          </p:grpSpPr>
          <p:sp>
            <p:nvSpPr>
              <p:cNvPr id="20548" name="Line 10"/>
              <p:cNvSpPr>
                <a:spLocks noChangeShapeType="1"/>
              </p:cNvSpPr>
              <p:nvPr/>
            </p:nvSpPr>
            <p:spPr bwMode="auto">
              <a:xfrm>
                <a:off x="4321" y="1479"/>
                <a:ext cx="130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9" name="Line 11"/>
              <p:cNvSpPr>
                <a:spLocks noChangeShapeType="1"/>
              </p:cNvSpPr>
              <p:nvPr/>
            </p:nvSpPr>
            <p:spPr bwMode="auto">
              <a:xfrm>
                <a:off x="5558" y="1476"/>
                <a:ext cx="0" cy="975"/>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50" name="Text Box 12"/>
              <p:cNvSpPr txBox="1">
                <a:spLocks noChangeArrowheads="1"/>
              </p:cNvSpPr>
              <p:nvPr/>
            </p:nvSpPr>
            <p:spPr bwMode="auto">
              <a:xfrm rot="-5400000">
                <a:off x="5010" y="1893"/>
                <a:ext cx="8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 </a:t>
                </a:r>
                <a:r>
                  <a:rPr lang="en-US" altLang="zh-CN" b="1" i="1">
                    <a:latin typeface="ISOCP" panose="00000400000000000000" pitchFamily="2" charset="0"/>
                  </a:rPr>
                  <a:t>φ</a:t>
                </a:r>
                <a:r>
                  <a:rPr lang="en-US" altLang="zh-CN" b="1" i="1">
                    <a:latin typeface="ISOCPEUR" panose="020B0604020202020204" pitchFamily="34" charset="0"/>
                  </a:rPr>
                  <a:t>50.008</a:t>
                </a:r>
                <a:endParaRPr lang="en-US" altLang="zh-CN" b="1">
                  <a:latin typeface="ISOCPEUR" panose="020B0604020202020204" pitchFamily="34" charset="0"/>
                </a:endParaRPr>
              </a:p>
            </p:txBody>
          </p:sp>
          <p:sp>
            <p:nvSpPr>
              <p:cNvPr id="20551" name="Line 13"/>
              <p:cNvSpPr>
                <a:spLocks noChangeShapeType="1"/>
              </p:cNvSpPr>
              <p:nvPr/>
            </p:nvSpPr>
            <p:spPr bwMode="auto">
              <a:xfrm>
                <a:off x="4415" y="2436"/>
                <a:ext cx="124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1" name="Group 14"/>
            <p:cNvGrpSpPr/>
            <p:nvPr/>
          </p:nvGrpSpPr>
          <p:grpSpPr bwMode="auto">
            <a:xfrm>
              <a:off x="3600" y="1469"/>
              <a:ext cx="796" cy="92"/>
              <a:chOff x="3600" y="1349"/>
              <a:chExt cx="796" cy="92"/>
            </a:xfrm>
          </p:grpSpPr>
          <p:sp>
            <p:nvSpPr>
              <p:cNvPr id="20544" name="Freeform 15"/>
              <p:cNvSpPr/>
              <p:nvPr/>
            </p:nvSpPr>
            <p:spPr bwMode="auto">
              <a:xfrm>
                <a:off x="4314" y="1359"/>
                <a:ext cx="82" cy="80"/>
              </a:xfrm>
              <a:custGeom>
                <a:avLst/>
                <a:gdLst>
                  <a:gd name="T0" fmla="*/ 0 w 74"/>
                  <a:gd name="T1" fmla="*/ 0 h 64"/>
                  <a:gd name="T2" fmla="*/ 82 w 74"/>
                  <a:gd name="T3" fmla="*/ 80 h 64"/>
                  <a:gd name="T4" fmla="*/ 0 60000 65536"/>
                  <a:gd name="T5" fmla="*/ 0 60000 65536"/>
                </a:gdLst>
                <a:ahLst/>
                <a:cxnLst>
                  <a:cxn ang="T4">
                    <a:pos x="T0" y="T1"/>
                  </a:cxn>
                  <a:cxn ang="T5">
                    <a:pos x="T2" y="T3"/>
                  </a:cxn>
                </a:cxnLst>
                <a:rect l="0" t="0" r="r" b="b"/>
                <a:pathLst>
                  <a:path w="74" h="64">
                    <a:moveTo>
                      <a:pt x="0" y="0"/>
                    </a:moveTo>
                    <a:cubicBezTo>
                      <a:pt x="12" y="11"/>
                      <a:pt x="59" y="51"/>
                      <a:pt x="74" y="64"/>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5" name="Freeform 16"/>
              <p:cNvSpPr/>
              <p:nvPr/>
            </p:nvSpPr>
            <p:spPr bwMode="auto">
              <a:xfrm>
                <a:off x="3600" y="1351"/>
                <a:ext cx="718" cy="2"/>
              </a:xfrm>
              <a:custGeom>
                <a:avLst/>
                <a:gdLst>
                  <a:gd name="T0" fmla="*/ 0 w 778"/>
                  <a:gd name="T1" fmla="*/ 2 h 2"/>
                  <a:gd name="T2" fmla="*/ 718 w 778"/>
                  <a:gd name="T3" fmla="*/ 0 h 2"/>
                  <a:gd name="T4" fmla="*/ 0 60000 65536"/>
                  <a:gd name="T5" fmla="*/ 0 60000 65536"/>
                </a:gdLst>
                <a:ahLst/>
                <a:cxnLst>
                  <a:cxn ang="T4">
                    <a:pos x="T0" y="T1"/>
                  </a:cxn>
                  <a:cxn ang="T5">
                    <a:pos x="T2" y="T3"/>
                  </a:cxn>
                </a:cxnLst>
                <a:rect l="0" t="0" r="r" b="b"/>
                <a:pathLst>
                  <a:path w="778" h="2">
                    <a:moveTo>
                      <a:pt x="0" y="2"/>
                    </a:moveTo>
                    <a:lnTo>
                      <a:pt x="778"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6" name="Freeform 17" descr="75%"/>
              <p:cNvSpPr/>
              <p:nvPr/>
            </p:nvSpPr>
            <p:spPr bwMode="auto">
              <a:xfrm>
                <a:off x="3600" y="1359"/>
                <a:ext cx="775" cy="71"/>
              </a:xfrm>
              <a:custGeom>
                <a:avLst/>
                <a:gdLst>
                  <a:gd name="T0" fmla="*/ 0 w 840"/>
                  <a:gd name="T1" fmla="*/ 0 h 77"/>
                  <a:gd name="T2" fmla="*/ 0 w 840"/>
                  <a:gd name="T3" fmla="*/ 71 h 77"/>
                  <a:gd name="T4" fmla="*/ 775 w 840"/>
                  <a:gd name="T5" fmla="*/ 71 h 77"/>
                  <a:gd name="T6" fmla="*/ 713 w 840"/>
                  <a:gd name="T7" fmla="*/ 0 h 77"/>
                  <a:gd name="T8" fmla="*/ 0 w 840"/>
                  <a:gd name="T9" fmla="*/ 0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0" h="77">
                    <a:moveTo>
                      <a:pt x="0" y="0"/>
                    </a:moveTo>
                    <a:lnTo>
                      <a:pt x="0" y="77"/>
                    </a:lnTo>
                    <a:lnTo>
                      <a:pt x="840" y="77"/>
                    </a:lnTo>
                    <a:lnTo>
                      <a:pt x="773" y="0"/>
                    </a:lnTo>
                    <a:lnTo>
                      <a:pt x="0" y="0"/>
                    </a:lnTo>
                    <a:close/>
                  </a:path>
                </a:pathLst>
              </a:custGeom>
              <a:blipFill dpi="0" rotWithShape="0">
                <a:blip r:embed="rId1"/>
                <a:srcRect/>
                <a:tile tx="0" ty="0" sx="100000" sy="100000" flip="none" algn="tl"/>
              </a:blip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7" name="Line 18"/>
              <p:cNvSpPr>
                <a:spLocks noChangeShapeType="1"/>
              </p:cNvSpPr>
              <p:nvPr/>
            </p:nvSpPr>
            <p:spPr bwMode="auto">
              <a:xfrm flipV="1">
                <a:off x="3602" y="1349"/>
                <a:ext cx="0" cy="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2" name="Group 19"/>
            <p:cNvGrpSpPr/>
            <p:nvPr/>
          </p:nvGrpSpPr>
          <p:grpSpPr bwMode="auto">
            <a:xfrm>
              <a:off x="3155" y="1548"/>
              <a:ext cx="501" cy="900"/>
              <a:chOff x="3143" y="1548"/>
              <a:chExt cx="501" cy="900"/>
            </a:xfrm>
          </p:grpSpPr>
          <p:sp>
            <p:nvSpPr>
              <p:cNvPr id="20540" name="Text Box 20"/>
              <p:cNvSpPr txBox="1">
                <a:spLocks noChangeArrowheads="1"/>
              </p:cNvSpPr>
              <p:nvPr/>
            </p:nvSpPr>
            <p:spPr bwMode="auto">
              <a:xfrm rot="-5400000">
                <a:off x="3042" y="1849"/>
                <a:ext cx="4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latin typeface="ISOCP" panose="00000400000000000000" pitchFamily="2" charset="0"/>
                  </a:rPr>
                  <a:t>φ</a:t>
                </a:r>
                <a:r>
                  <a:rPr lang="en-US" altLang="zh-CN" b="1" i="1">
                    <a:latin typeface="ISOCPEUR" panose="020B0604020202020204" pitchFamily="34" charset="0"/>
                  </a:rPr>
                  <a:t>50</a:t>
                </a:r>
                <a:endParaRPr lang="en-US" altLang="zh-CN" b="1">
                  <a:latin typeface="ISOCPEUR" panose="020B0604020202020204" pitchFamily="34" charset="0"/>
                </a:endParaRPr>
              </a:p>
            </p:txBody>
          </p:sp>
          <p:sp>
            <p:nvSpPr>
              <p:cNvPr id="20541" name="Line 21"/>
              <p:cNvSpPr>
                <a:spLocks noChangeShapeType="1"/>
              </p:cNvSpPr>
              <p:nvPr/>
            </p:nvSpPr>
            <p:spPr bwMode="auto">
              <a:xfrm flipH="1" flipV="1">
                <a:off x="3297" y="2447"/>
                <a:ext cx="347" cy="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2" name="Line 22"/>
              <p:cNvSpPr>
                <a:spLocks noChangeShapeType="1"/>
              </p:cNvSpPr>
              <p:nvPr/>
            </p:nvSpPr>
            <p:spPr bwMode="auto">
              <a:xfrm flipH="1">
                <a:off x="3288" y="1560"/>
                <a:ext cx="3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3" name="Line 23"/>
              <p:cNvSpPr>
                <a:spLocks noChangeShapeType="1"/>
              </p:cNvSpPr>
              <p:nvPr/>
            </p:nvSpPr>
            <p:spPr bwMode="auto">
              <a:xfrm>
                <a:off x="3372" y="1548"/>
                <a:ext cx="0" cy="900"/>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3" name="Group 24"/>
            <p:cNvGrpSpPr/>
            <p:nvPr/>
          </p:nvGrpSpPr>
          <p:grpSpPr bwMode="auto">
            <a:xfrm>
              <a:off x="3122" y="2373"/>
              <a:ext cx="288" cy="888"/>
              <a:chOff x="3110" y="2373"/>
              <a:chExt cx="288" cy="888"/>
            </a:xfrm>
          </p:grpSpPr>
          <p:sp>
            <p:nvSpPr>
              <p:cNvPr id="20538" name="Text Box 25"/>
              <p:cNvSpPr txBox="1">
                <a:spLocks noChangeArrowheads="1"/>
              </p:cNvSpPr>
              <p:nvPr/>
            </p:nvSpPr>
            <p:spPr bwMode="auto">
              <a:xfrm rot="-5400000">
                <a:off x="2810" y="2673"/>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基本尺寸</a:t>
                </a:r>
                <a:endParaRPr lang="zh-CN" altLang="en-US" b="1"/>
              </a:p>
            </p:txBody>
          </p:sp>
          <p:sp>
            <p:nvSpPr>
              <p:cNvPr id="20539" name="Line 26"/>
              <p:cNvSpPr>
                <a:spLocks noChangeShapeType="1"/>
              </p:cNvSpPr>
              <p:nvPr/>
            </p:nvSpPr>
            <p:spPr bwMode="auto">
              <a:xfrm>
                <a:off x="3372" y="2448"/>
                <a:ext cx="0" cy="7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4" name="Group 27"/>
            <p:cNvGrpSpPr/>
            <p:nvPr/>
          </p:nvGrpSpPr>
          <p:grpSpPr bwMode="auto">
            <a:xfrm>
              <a:off x="4404" y="1626"/>
              <a:ext cx="672" cy="880"/>
              <a:chOff x="4404" y="1626"/>
              <a:chExt cx="672" cy="880"/>
            </a:xfrm>
          </p:grpSpPr>
          <p:sp>
            <p:nvSpPr>
              <p:cNvPr id="20535" name="Line 28"/>
              <p:cNvSpPr>
                <a:spLocks noChangeShapeType="1"/>
              </p:cNvSpPr>
              <p:nvPr/>
            </p:nvSpPr>
            <p:spPr bwMode="auto">
              <a:xfrm>
                <a:off x="4982" y="1626"/>
                <a:ext cx="0" cy="814"/>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6" name="Text Box 29"/>
              <p:cNvSpPr txBox="1">
                <a:spLocks noChangeArrowheads="1"/>
              </p:cNvSpPr>
              <p:nvPr/>
            </p:nvSpPr>
            <p:spPr bwMode="auto">
              <a:xfrm rot="-5400000">
                <a:off x="4438" y="1932"/>
                <a:ext cx="8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 </a:t>
                </a:r>
                <a:r>
                  <a:rPr lang="en-US" altLang="zh-CN" b="1" i="1">
                    <a:latin typeface="ISOCP" panose="00000400000000000000" pitchFamily="2" charset="0"/>
                  </a:rPr>
                  <a:t>φ</a:t>
                </a:r>
                <a:r>
                  <a:rPr lang="en-US" altLang="zh-CN" b="1" i="1">
                    <a:latin typeface="ISOCPEUR" panose="020B0604020202020204" pitchFamily="34" charset="0"/>
                  </a:rPr>
                  <a:t>49.992</a:t>
                </a:r>
                <a:endParaRPr lang="en-US" altLang="zh-CN" b="1">
                  <a:latin typeface="ISOCPEUR" panose="020B0604020202020204" pitchFamily="34" charset="0"/>
                </a:endParaRPr>
              </a:p>
            </p:txBody>
          </p:sp>
          <p:sp>
            <p:nvSpPr>
              <p:cNvPr id="20537" name="Line 30"/>
              <p:cNvSpPr>
                <a:spLocks noChangeShapeType="1"/>
              </p:cNvSpPr>
              <p:nvPr/>
            </p:nvSpPr>
            <p:spPr bwMode="auto">
              <a:xfrm>
                <a:off x="4404" y="1644"/>
                <a:ext cx="6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5" name="Group 31"/>
            <p:cNvGrpSpPr/>
            <p:nvPr/>
          </p:nvGrpSpPr>
          <p:grpSpPr bwMode="auto">
            <a:xfrm>
              <a:off x="3486" y="1560"/>
              <a:ext cx="1019" cy="900"/>
              <a:chOff x="3486" y="1560"/>
              <a:chExt cx="1019" cy="900"/>
            </a:xfrm>
          </p:grpSpPr>
          <p:grpSp>
            <p:nvGrpSpPr>
              <p:cNvPr id="20529" name="Group 32"/>
              <p:cNvGrpSpPr/>
              <p:nvPr/>
            </p:nvGrpSpPr>
            <p:grpSpPr bwMode="auto">
              <a:xfrm>
                <a:off x="3600" y="1560"/>
                <a:ext cx="834" cy="900"/>
                <a:chOff x="3600" y="1560"/>
                <a:chExt cx="834" cy="900"/>
              </a:xfrm>
            </p:grpSpPr>
            <p:sp>
              <p:nvSpPr>
                <p:cNvPr id="20531" name="Freeform 33"/>
                <p:cNvSpPr/>
                <p:nvPr/>
              </p:nvSpPr>
              <p:spPr bwMode="auto">
                <a:xfrm>
                  <a:off x="3608" y="1560"/>
                  <a:ext cx="826" cy="885"/>
                </a:xfrm>
                <a:custGeom>
                  <a:avLst/>
                  <a:gdLst>
                    <a:gd name="T0" fmla="*/ 0 w 826"/>
                    <a:gd name="T1" fmla="*/ 0 h 885"/>
                    <a:gd name="T2" fmla="*/ 0 w 826"/>
                    <a:gd name="T3" fmla="*/ 885 h 885"/>
                    <a:gd name="T4" fmla="*/ 823 w 826"/>
                    <a:gd name="T5" fmla="*/ 885 h 885"/>
                    <a:gd name="T6" fmla="*/ 820 w 826"/>
                    <a:gd name="T7" fmla="*/ 804 h 885"/>
                    <a:gd name="T8" fmla="*/ 772 w 826"/>
                    <a:gd name="T9" fmla="*/ 708 h 885"/>
                    <a:gd name="T10" fmla="*/ 748 w 826"/>
                    <a:gd name="T11" fmla="*/ 636 h 885"/>
                    <a:gd name="T12" fmla="*/ 760 w 826"/>
                    <a:gd name="T13" fmla="*/ 528 h 885"/>
                    <a:gd name="T14" fmla="*/ 796 w 826"/>
                    <a:gd name="T15" fmla="*/ 456 h 885"/>
                    <a:gd name="T16" fmla="*/ 788 w 826"/>
                    <a:gd name="T17" fmla="*/ 384 h 885"/>
                    <a:gd name="T18" fmla="*/ 772 w 826"/>
                    <a:gd name="T19" fmla="*/ 264 h 885"/>
                    <a:gd name="T20" fmla="*/ 826 w 826"/>
                    <a:gd name="T21" fmla="*/ 138 h 885"/>
                    <a:gd name="T22" fmla="*/ 814 w 826"/>
                    <a:gd name="T23" fmla="*/ 54 h 885"/>
                    <a:gd name="T24" fmla="*/ 791 w 826"/>
                    <a:gd name="T25" fmla="*/ 0 h 885"/>
                    <a:gd name="T26" fmla="*/ 0 w 826"/>
                    <a:gd name="T27" fmla="*/ 0 h 8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26" h="885">
                      <a:moveTo>
                        <a:pt x="0" y="0"/>
                      </a:moveTo>
                      <a:lnTo>
                        <a:pt x="0" y="885"/>
                      </a:lnTo>
                      <a:lnTo>
                        <a:pt x="823" y="885"/>
                      </a:lnTo>
                      <a:lnTo>
                        <a:pt x="820" y="804"/>
                      </a:lnTo>
                      <a:lnTo>
                        <a:pt x="772" y="708"/>
                      </a:lnTo>
                      <a:lnTo>
                        <a:pt x="748" y="636"/>
                      </a:lnTo>
                      <a:lnTo>
                        <a:pt x="760" y="528"/>
                      </a:lnTo>
                      <a:lnTo>
                        <a:pt x="796" y="456"/>
                      </a:lnTo>
                      <a:lnTo>
                        <a:pt x="788" y="384"/>
                      </a:lnTo>
                      <a:lnTo>
                        <a:pt x="772" y="264"/>
                      </a:lnTo>
                      <a:lnTo>
                        <a:pt x="826" y="138"/>
                      </a:lnTo>
                      <a:lnTo>
                        <a:pt x="814" y="54"/>
                      </a:lnTo>
                      <a:lnTo>
                        <a:pt x="791" y="0"/>
                      </a:lnTo>
                      <a:lnTo>
                        <a:pt x="0" y="0"/>
                      </a:lnTo>
                      <a:close/>
                    </a:path>
                  </a:pathLst>
                </a:custGeom>
                <a:gradFill rotWithShape="0">
                  <a:gsLst>
                    <a:gs pos="0">
                      <a:srgbClr val="00CC66"/>
                    </a:gs>
                    <a:gs pos="50000">
                      <a:srgbClr val="B4F0D2"/>
                    </a:gs>
                    <a:gs pos="100000">
                      <a:srgbClr val="00CC66"/>
                    </a:gs>
                  </a:gsLst>
                  <a:lin ang="5400000" scaled="1"/>
                </a:gradFill>
                <a:ln w="190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2" name="Line 34"/>
                <p:cNvSpPr>
                  <a:spLocks noChangeShapeType="1"/>
                </p:cNvSpPr>
                <p:nvPr/>
              </p:nvSpPr>
              <p:spPr bwMode="auto">
                <a:xfrm flipV="1">
                  <a:off x="3600" y="1560"/>
                  <a:ext cx="0" cy="9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3" name="Line 35"/>
                <p:cNvSpPr>
                  <a:spLocks noChangeShapeType="1"/>
                </p:cNvSpPr>
                <p:nvPr/>
              </p:nvSpPr>
              <p:spPr bwMode="auto">
                <a:xfrm>
                  <a:off x="3600" y="1560"/>
                  <a:ext cx="80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4" name="Line 36"/>
                <p:cNvSpPr>
                  <a:spLocks noChangeShapeType="1"/>
                </p:cNvSpPr>
                <p:nvPr/>
              </p:nvSpPr>
              <p:spPr bwMode="auto">
                <a:xfrm>
                  <a:off x="3600" y="2448"/>
                  <a:ext cx="82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30" name="Line 37"/>
              <p:cNvSpPr>
                <a:spLocks noChangeShapeType="1"/>
              </p:cNvSpPr>
              <p:nvPr/>
            </p:nvSpPr>
            <p:spPr bwMode="auto">
              <a:xfrm>
                <a:off x="3486" y="2027"/>
                <a:ext cx="1019"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26" name="Group 38"/>
            <p:cNvGrpSpPr/>
            <p:nvPr/>
          </p:nvGrpSpPr>
          <p:grpSpPr bwMode="auto">
            <a:xfrm>
              <a:off x="3594" y="1563"/>
              <a:ext cx="843" cy="81"/>
              <a:chOff x="3594" y="1443"/>
              <a:chExt cx="843" cy="81"/>
            </a:xfrm>
          </p:grpSpPr>
          <p:sp>
            <p:nvSpPr>
              <p:cNvPr id="20527" name="Freeform 39" descr="75%"/>
              <p:cNvSpPr/>
              <p:nvPr/>
            </p:nvSpPr>
            <p:spPr bwMode="auto">
              <a:xfrm>
                <a:off x="3600" y="1443"/>
                <a:ext cx="837" cy="81"/>
              </a:xfrm>
              <a:custGeom>
                <a:avLst/>
                <a:gdLst>
                  <a:gd name="T0" fmla="*/ 8 w 837"/>
                  <a:gd name="T1" fmla="*/ 0 h 81"/>
                  <a:gd name="T2" fmla="*/ 0 w 837"/>
                  <a:gd name="T3" fmla="*/ 81 h 81"/>
                  <a:gd name="T4" fmla="*/ 837 w 837"/>
                  <a:gd name="T5" fmla="*/ 81 h 81"/>
                  <a:gd name="T6" fmla="*/ 823 w 837"/>
                  <a:gd name="T7" fmla="*/ 41 h 81"/>
                  <a:gd name="T8" fmla="*/ 800 w 837"/>
                  <a:gd name="T9" fmla="*/ 0 h 81"/>
                  <a:gd name="T10" fmla="*/ 8 w 837"/>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7" h="81">
                    <a:moveTo>
                      <a:pt x="8" y="0"/>
                    </a:moveTo>
                    <a:lnTo>
                      <a:pt x="0" y="81"/>
                    </a:lnTo>
                    <a:lnTo>
                      <a:pt x="837" y="81"/>
                    </a:lnTo>
                    <a:lnTo>
                      <a:pt x="823" y="41"/>
                    </a:lnTo>
                    <a:lnTo>
                      <a:pt x="800" y="0"/>
                    </a:lnTo>
                    <a:lnTo>
                      <a:pt x="8" y="0"/>
                    </a:lnTo>
                    <a:close/>
                  </a:path>
                </a:pathLst>
              </a:custGeom>
              <a:blipFill dpi="0" rotWithShape="0">
                <a:blip r:embed="rId1"/>
                <a:srcRect/>
                <a:tile tx="0" ty="0" sx="100000" sy="100000" flip="none" algn="tl"/>
              </a:blip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8" name="Line 40"/>
              <p:cNvSpPr>
                <a:spLocks noChangeShapeType="1"/>
              </p:cNvSpPr>
              <p:nvPr/>
            </p:nvSpPr>
            <p:spPr bwMode="auto">
              <a:xfrm>
                <a:off x="3594" y="1524"/>
                <a:ext cx="84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1545" name="Text Box 41"/>
          <p:cNvSpPr txBox="1">
            <a:spLocks noChangeArrowheads="1"/>
          </p:cNvSpPr>
          <p:nvPr/>
        </p:nvSpPr>
        <p:spPr bwMode="auto">
          <a:xfrm>
            <a:off x="258763" y="0"/>
            <a:ext cx="426561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2)</a:t>
            </a:r>
            <a:r>
              <a:rPr lang="zh-CN" altLang="en-US" sz="3200" b="1">
                <a:latin typeface="宋体" panose="02010600030101010101" pitchFamily="2" charset="-122"/>
              </a:rPr>
              <a:t>尺寸偏差和尺寸公差</a:t>
            </a:r>
            <a:endParaRPr lang="zh-CN" altLang="en-US" sz="2800" b="1">
              <a:latin typeface="宋体" panose="02010600030101010101" pitchFamily="2" charset="-122"/>
            </a:endParaRPr>
          </a:p>
        </p:txBody>
      </p:sp>
      <p:sp>
        <p:nvSpPr>
          <p:cNvPr id="21546" name="Text Box 42"/>
          <p:cNvSpPr txBox="1">
            <a:spLocks noChangeArrowheads="1"/>
          </p:cNvSpPr>
          <p:nvPr/>
        </p:nvSpPr>
        <p:spPr bwMode="auto">
          <a:xfrm>
            <a:off x="388938" y="687388"/>
            <a:ext cx="13176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上偏差</a:t>
            </a:r>
            <a:endParaRPr lang="zh-CN" altLang="en-US" sz="2800" b="1"/>
          </a:p>
        </p:txBody>
      </p:sp>
      <p:sp>
        <p:nvSpPr>
          <p:cNvPr id="21547" name="Text Box 43"/>
          <p:cNvSpPr txBox="1">
            <a:spLocks noChangeArrowheads="1"/>
          </p:cNvSpPr>
          <p:nvPr/>
        </p:nvSpPr>
        <p:spPr bwMode="auto">
          <a:xfrm>
            <a:off x="1511300" y="693738"/>
            <a:ext cx="43021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a:t>
            </a:r>
            <a:r>
              <a:rPr lang="zh-CN" altLang="en-US" sz="2800" b="1">
                <a:latin typeface="宋体" panose="02010600030101010101" pitchFamily="2" charset="-122"/>
              </a:rPr>
              <a:t>最大极限尺寸－基本尺寸</a:t>
            </a:r>
            <a:endParaRPr lang="zh-CN" altLang="en-US" sz="2800" b="1">
              <a:latin typeface="宋体" panose="02010600030101010101" pitchFamily="2" charset="-122"/>
            </a:endParaRPr>
          </a:p>
        </p:txBody>
      </p:sp>
      <p:sp>
        <p:nvSpPr>
          <p:cNvPr id="21548" name="Text Box 44"/>
          <p:cNvSpPr txBox="1">
            <a:spLocks noChangeArrowheads="1"/>
          </p:cNvSpPr>
          <p:nvPr/>
        </p:nvSpPr>
        <p:spPr bwMode="auto">
          <a:xfrm>
            <a:off x="396875" y="1608138"/>
            <a:ext cx="12557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下偏差</a:t>
            </a:r>
            <a:endParaRPr lang="zh-CN" altLang="en-US" sz="2800" b="1">
              <a:latin typeface="宋体" panose="02010600030101010101" pitchFamily="2" charset="-122"/>
            </a:endParaRPr>
          </a:p>
        </p:txBody>
      </p:sp>
      <p:sp>
        <p:nvSpPr>
          <p:cNvPr id="21549" name="Text Box 45"/>
          <p:cNvSpPr txBox="1">
            <a:spLocks noChangeArrowheads="1"/>
          </p:cNvSpPr>
          <p:nvPr/>
        </p:nvSpPr>
        <p:spPr bwMode="auto">
          <a:xfrm>
            <a:off x="1506538" y="1624013"/>
            <a:ext cx="42926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a:t>
            </a:r>
            <a:r>
              <a:rPr lang="zh-CN" altLang="en-US" sz="2800" b="1">
                <a:latin typeface="宋体" panose="02010600030101010101" pitchFamily="2" charset="-122"/>
              </a:rPr>
              <a:t>最小极限尺寸－基本尺寸</a:t>
            </a:r>
            <a:endParaRPr lang="zh-CN" altLang="en-US" sz="2800" b="1">
              <a:latin typeface="宋体" panose="02010600030101010101" pitchFamily="2" charset="-122"/>
            </a:endParaRPr>
          </a:p>
        </p:txBody>
      </p:sp>
      <p:sp>
        <p:nvSpPr>
          <p:cNvPr id="21550" name="Text Box 46"/>
          <p:cNvSpPr txBox="1">
            <a:spLocks noChangeArrowheads="1"/>
          </p:cNvSpPr>
          <p:nvPr/>
        </p:nvSpPr>
        <p:spPr bwMode="auto">
          <a:xfrm>
            <a:off x="788988" y="1149350"/>
            <a:ext cx="125571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latin typeface="宋体" panose="02010600030101010101" pitchFamily="2" charset="-122"/>
              </a:rPr>
              <a:t>代号：</a:t>
            </a:r>
            <a:endParaRPr lang="zh-CN" altLang="en-US" sz="2800" b="1">
              <a:solidFill>
                <a:srgbClr val="FF3300"/>
              </a:solidFill>
              <a:latin typeface="宋体" panose="02010600030101010101" pitchFamily="2" charset="-122"/>
            </a:endParaRPr>
          </a:p>
        </p:txBody>
      </p:sp>
      <p:sp>
        <p:nvSpPr>
          <p:cNvPr id="21551" name="Text Box 47"/>
          <p:cNvSpPr txBox="1">
            <a:spLocks noChangeArrowheads="1"/>
          </p:cNvSpPr>
          <p:nvPr/>
        </p:nvSpPr>
        <p:spPr bwMode="auto">
          <a:xfrm>
            <a:off x="1971675" y="1155700"/>
            <a:ext cx="25765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latin typeface="宋体" panose="02010600030101010101" pitchFamily="2" charset="-122"/>
              </a:rPr>
              <a:t>孔</a:t>
            </a:r>
            <a:r>
              <a:rPr lang="zh-CN" altLang="en-US" sz="2800" b="1">
                <a:latin typeface="宋体" panose="02010600030101010101" pitchFamily="2" charset="-122"/>
              </a:rPr>
              <a:t>为</a:t>
            </a:r>
            <a:r>
              <a:rPr lang="en-US" altLang="zh-CN" sz="2800" b="1">
                <a:solidFill>
                  <a:srgbClr val="FF3300"/>
                </a:solidFill>
                <a:latin typeface="宋体" panose="02010600030101010101" pitchFamily="2" charset="-122"/>
              </a:rPr>
              <a:t>ES</a:t>
            </a:r>
            <a:r>
              <a:rPr lang="en-US" altLang="zh-CN" sz="2800" b="1">
                <a:latin typeface="宋体" panose="02010600030101010101" pitchFamily="2" charset="-122"/>
              </a:rPr>
              <a:t> </a:t>
            </a:r>
            <a:r>
              <a:rPr lang="zh-CN" altLang="en-US" sz="2800" b="1">
                <a:solidFill>
                  <a:schemeClr val="accent2"/>
                </a:solidFill>
                <a:latin typeface="宋体" panose="02010600030101010101" pitchFamily="2" charset="-122"/>
              </a:rPr>
              <a:t>轴</a:t>
            </a:r>
            <a:r>
              <a:rPr lang="zh-CN" altLang="en-US" sz="2800" b="1">
                <a:latin typeface="宋体" panose="02010600030101010101" pitchFamily="2" charset="-122"/>
              </a:rPr>
              <a:t>为</a:t>
            </a:r>
            <a:r>
              <a:rPr lang="en-US" altLang="zh-CN" sz="2800" b="1">
                <a:solidFill>
                  <a:schemeClr val="accent2"/>
                </a:solidFill>
                <a:latin typeface="宋体" panose="02010600030101010101" pitchFamily="2" charset="-122"/>
              </a:rPr>
              <a:t>es</a:t>
            </a:r>
            <a:endParaRPr lang="en-US" altLang="zh-CN" sz="2800" b="1">
              <a:latin typeface="宋体" panose="02010600030101010101" pitchFamily="2" charset="-122"/>
            </a:endParaRPr>
          </a:p>
        </p:txBody>
      </p:sp>
      <p:sp>
        <p:nvSpPr>
          <p:cNvPr id="21552" name="Text Box 48"/>
          <p:cNvSpPr txBox="1">
            <a:spLocks noChangeArrowheads="1"/>
          </p:cNvSpPr>
          <p:nvPr/>
        </p:nvSpPr>
        <p:spPr bwMode="auto">
          <a:xfrm>
            <a:off x="796925" y="2114550"/>
            <a:ext cx="12557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latin typeface="宋体" panose="02010600030101010101" pitchFamily="2" charset="-122"/>
              </a:rPr>
              <a:t>代号：</a:t>
            </a:r>
            <a:endParaRPr lang="zh-CN" altLang="en-US" sz="2800" b="1">
              <a:solidFill>
                <a:srgbClr val="FF3300"/>
              </a:solidFill>
              <a:latin typeface="宋体" panose="02010600030101010101" pitchFamily="2" charset="-122"/>
            </a:endParaRPr>
          </a:p>
        </p:txBody>
      </p:sp>
      <p:sp>
        <p:nvSpPr>
          <p:cNvPr id="21553" name="Text Box 49"/>
          <p:cNvSpPr txBox="1">
            <a:spLocks noChangeArrowheads="1"/>
          </p:cNvSpPr>
          <p:nvPr/>
        </p:nvSpPr>
        <p:spPr bwMode="auto">
          <a:xfrm>
            <a:off x="1997075" y="2114550"/>
            <a:ext cx="25098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latin typeface="宋体" panose="02010600030101010101" pitchFamily="2" charset="-122"/>
              </a:rPr>
              <a:t>孔</a:t>
            </a:r>
            <a:r>
              <a:rPr lang="zh-CN" altLang="en-US" sz="2800" b="1">
                <a:latin typeface="宋体" panose="02010600030101010101" pitchFamily="2" charset="-122"/>
              </a:rPr>
              <a:t>为</a:t>
            </a:r>
            <a:r>
              <a:rPr lang="en-US" altLang="zh-CN" sz="2800" b="1">
                <a:solidFill>
                  <a:srgbClr val="FF3300"/>
                </a:solidFill>
                <a:latin typeface="宋体" panose="02010600030101010101" pitchFamily="2" charset="-122"/>
              </a:rPr>
              <a:t>EI</a:t>
            </a:r>
            <a:r>
              <a:rPr lang="en-US" altLang="zh-CN" sz="2800" b="1">
                <a:latin typeface="宋体" panose="02010600030101010101" pitchFamily="2" charset="-122"/>
              </a:rPr>
              <a:t> </a:t>
            </a:r>
            <a:r>
              <a:rPr lang="zh-CN" altLang="en-US" sz="2800" b="1">
                <a:solidFill>
                  <a:schemeClr val="accent2"/>
                </a:solidFill>
                <a:latin typeface="宋体" panose="02010600030101010101" pitchFamily="2" charset="-122"/>
              </a:rPr>
              <a:t>轴</a:t>
            </a:r>
            <a:r>
              <a:rPr lang="zh-CN" altLang="en-US" sz="2800" b="1">
                <a:latin typeface="宋体" panose="02010600030101010101" pitchFamily="2" charset="-122"/>
              </a:rPr>
              <a:t>为</a:t>
            </a:r>
            <a:r>
              <a:rPr lang="en-US" altLang="zh-CN" sz="2800" b="1">
                <a:solidFill>
                  <a:schemeClr val="accent2"/>
                </a:solidFill>
                <a:latin typeface="宋体" panose="02010600030101010101" pitchFamily="2" charset="-122"/>
              </a:rPr>
              <a:t>ei</a:t>
            </a:r>
            <a:endParaRPr lang="en-US" altLang="zh-CN" sz="2800" b="1">
              <a:solidFill>
                <a:srgbClr val="FF6600"/>
              </a:solidFill>
              <a:latin typeface="宋体" panose="02010600030101010101" pitchFamily="2" charset="-122"/>
            </a:endParaRPr>
          </a:p>
        </p:txBody>
      </p:sp>
      <p:sp>
        <p:nvSpPr>
          <p:cNvPr id="21554" name="Text Box 50"/>
          <p:cNvSpPr txBox="1">
            <a:spLocks noChangeArrowheads="1"/>
          </p:cNvSpPr>
          <p:nvPr/>
        </p:nvSpPr>
        <p:spPr bwMode="auto">
          <a:xfrm>
            <a:off x="388938" y="3843338"/>
            <a:ext cx="36353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尺寸公差</a:t>
            </a:r>
            <a:r>
              <a:rPr lang="en-US" altLang="zh-CN" sz="2800" b="1">
                <a:latin typeface="宋体" panose="02010600030101010101" pitchFamily="2" charset="-122"/>
              </a:rPr>
              <a:t>(</a:t>
            </a:r>
            <a:r>
              <a:rPr lang="zh-CN" altLang="en-US" sz="2800" b="1">
                <a:latin typeface="宋体" panose="02010600030101010101" pitchFamily="2" charset="-122"/>
              </a:rPr>
              <a:t>简称公差</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1555" name="Text Box 51"/>
          <p:cNvSpPr txBox="1">
            <a:spLocks noChangeArrowheads="1"/>
          </p:cNvSpPr>
          <p:nvPr/>
        </p:nvSpPr>
        <p:spPr bwMode="auto">
          <a:xfrm>
            <a:off x="857250" y="4403725"/>
            <a:ext cx="34385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允许尺寸的变动量。</a:t>
            </a:r>
            <a:endParaRPr lang="zh-CN" altLang="en-US" sz="2800" b="1">
              <a:latin typeface="宋体" panose="02010600030101010101" pitchFamily="2" charset="-122"/>
            </a:endParaRPr>
          </a:p>
        </p:txBody>
      </p:sp>
      <p:sp>
        <p:nvSpPr>
          <p:cNvPr id="21556" name="Text Box 52"/>
          <p:cNvSpPr txBox="1">
            <a:spLocks noChangeArrowheads="1"/>
          </p:cNvSpPr>
          <p:nvPr/>
        </p:nvSpPr>
        <p:spPr bwMode="auto">
          <a:xfrm>
            <a:off x="428625" y="4986338"/>
            <a:ext cx="5748338"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公差</a:t>
            </a:r>
            <a:r>
              <a:rPr lang="en-US" altLang="zh-CN" sz="2800" b="1">
                <a:latin typeface="宋体" panose="02010600030101010101" pitchFamily="2" charset="-122"/>
              </a:rPr>
              <a:t>=</a:t>
            </a:r>
            <a:r>
              <a:rPr lang="zh-CN" altLang="en-US" sz="2800" b="1">
                <a:latin typeface="宋体" panose="02010600030101010101" pitchFamily="2" charset="-122"/>
              </a:rPr>
              <a:t>最大极限尺寸－最小极限尺寸</a:t>
            </a:r>
            <a:endParaRPr lang="zh-CN" altLang="en-US" sz="2800" b="1">
              <a:latin typeface="宋体" panose="02010600030101010101" pitchFamily="2" charset="-122"/>
            </a:endParaRPr>
          </a:p>
          <a:p>
            <a:pPr algn="l"/>
            <a:r>
              <a:rPr lang="zh-CN" altLang="en-US" sz="2800" b="1">
                <a:latin typeface="宋体" panose="02010600030101010101" pitchFamily="2" charset="-122"/>
              </a:rPr>
              <a:t>    </a:t>
            </a:r>
            <a:r>
              <a:rPr lang="en-US" altLang="zh-CN" sz="2800" b="1">
                <a:latin typeface="宋体" panose="02010600030101010101" pitchFamily="2" charset="-122"/>
              </a:rPr>
              <a:t>=</a:t>
            </a:r>
            <a:r>
              <a:rPr lang="zh-CN" altLang="en-US" sz="2800" b="1">
                <a:latin typeface="宋体" panose="02010600030101010101" pitchFamily="2" charset="-122"/>
              </a:rPr>
              <a:t>上偏差－下偏差</a:t>
            </a:r>
            <a:endParaRPr lang="zh-CN" altLang="en-US" sz="2800" b="1">
              <a:latin typeface="宋体" panose="02010600030101010101" pitchFamily="2" charset="-122"/>
            </a:endParaRPr>
          </a:p>
        </p:txBody>
      </p:sp>
      <p:sp>
        <p:nvSpPr>
          <p:cNvPr id="21559" name="Text Box 55"/>
          <p:cNvSpPr txBox="1">
            <a:spLocks noChangeArrowheads="1"/>
          </p:cNvSpPr>
          <p:nvPr/>
        </p:nvSpPr>
        <p:spPr bwMode="auto">
          <a:xfrm>
            <a:off x="2357438" y="2994025"/>
            <a:ext cx="2327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统称极限偏差</a:t>
            </a:r>
            <a:endParaRPr lang="zh-CN" altLang="en-US">
              <a:latin typeface="宋体" panose="02010600030101010101" pitchFamily="2" charset="-122"/>
            </a:endParaRPr>
          </a:p>
        </p:txBody>
      </p:sp>
      <p:grpSp>
        <p:nvGrpSpPr>
          <p:cNvPr id="21580" name="Group 76"/>
          <p:cNvGrpSpPr/>
          <p:nvPr/>
        </p:nvGrpSpPr>
        <p:grpSpPr bwMode="auto">
          <a:xfrm>
            <a:off x="792163" y="2689225"/>
            <a:ext cx="1425575" cy="1033463"/>
            <a:chOff x="482" y="1694"/>
            <a:chExt cx="898" cy="651"/>
          </a:xfrm>
        </p:grpSpPr>
        <p:sp>
          <p:nvSpPr>
            <p:cNvPr id="20515" name="Text Box 53"/>
            <p:cNvSpPr txBox="1">
              <a:spLocks noChangeArrowheads="1"/>
            </p:cNvSpPr>
            <p:nvPr/>
          </p:nvSpPr>
          <p:spPr bwMode="auto">
            <a:xfrm>
              <a:off x="482" y="1694"/>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上偏差</a:t>
              </a:r>
              <a:endParaRPr lang="zh-CN" altLang="en-US" sz="2800" b="1">
                <a:latin typeface="宋体" panose="02010600030101010101" pitchFamily="2" charset="-122"/>
              </a:endParaRPr>
            </a:p>
          </p:txBody>
        </p:sp>
        <p:sp>
          <p:nvSpPr>
            <p:cNvPr id="20516" name="Text Box 54"/>
            <p:cNvSpPr txBox="1">
              <a:spLocks noChangeArrowheads="1"/>
            </p:cNvSpPr>
            <p:nvPr/>
          </p:nvSpPr>
          <p:spPr bwMode="auto">
            <a:xfrm>
              <a:off x="482" y="2018"/>
              <a:ext cx="7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下偏差</a:t>
              </a:r>
              <a:endParaRPr lang="zh-CN" altLang="en-US" sz="2800" b="1">
                <a:latin typeface="宋体" panose="02010600030101010101" pitchFamily="2" charset="-122"/>
              </a:endParaRPr>
            </a:p>
          </p:txBody>
        </p:sp>
        <p:sp>
          <p:nvSpPr>
            <p:cNvPr id="20517" name="AutoShape 56"/>
            <p:cNvSpPr/>
            <p:nvPr/>
          </p:nvSpPr>
          <p:spPr bwMode="auto">
            <a:xfrm>
              <a:off x="1260" y="1762"/>
              <a:ext cx="120" cy="552"/>
            </a:xfrm>
            <a:prstGeom prst="rightBrace">
              <a:avLst>
                <a:gd name="adj1" fmla="val 38333"/>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1561" name="Group 57"/>
          <p:cNvGrpSpPr/>
          <p:nvPr/>
        </p:nvGrpSpPr>
        <p:grpSpPr bwMode="auto">
          <a:xfrm>
            <a:off x="6913563" y="2020888"/>
            <a:ext cx="457200" cy="1404937"/>
            <a:chOff x="4355" y="1273"/>
            <a:chExt cx="288" cy="885"/>
          </a:xfrm>
        </p:grpSpPr>
        <p:sp>
          <p:nvSpPr>
            <p:cNvPr id="20511" name="Line 58"/>
            <p:cNvSpPr>
              <a:spLocks noChangeShapeType="1"/>
            </p:cNvSpPr>
            <p:nvPr/>
          </p:nvSpPr>
          <p:spPr bwMode="auto">
            <a:xfrm flipV="1">
              <a:off x="4599" y="1273"/>
              <a:ext cx="0" cy="80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2" name="Line 59"/>
            <p:cNvSpPr>
              <a:spLocks noChangeShapeType="1"/>
            </p:cNvSpPr>
            <p:nvPr/>
          </p:nvSpPr>
          <p:spPr bwMode="auto">
            <a:xfrm flipV="1">
              <a:off x="4599" y="1506"/>
              <a:ext cx="0" cy="89"/>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3" name="Line 60"/>
            <p:cNvSpPr>
              <a:spLocks noChangeShapeType="1"/>
            </p:cNvSpPr>
            <p:nvPr/>
          </p:nvSpPr>
          <p:spPr bwMode="auto">
            <a:xfrm>
              <a:off x="4599" y="1307"/>
              <a:ext cx="0" cy="132"/>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4" name="Text Box 61"/>
            <p:cNvSpPr txBox="1">
              <a:spLocks noChangeArrowheads="1"/>
            </p:cNvSpPr>
            <p:nvPr/>
          </p:nvSpPr>
          <p:spPr bwMode="auto">
            <a:xfrm rot="-5400000">
              <a:off x="4192" y="1707"/>
              <a:ext cx="6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latin typeface="ISOCPEUR" panose="020B0604020202020204" pitchFamily="34" charset="0"/>
                </a:rPr>
                <a:t>–</a:t>
              </a:r>
              <a:r>
                <a:rPr lang="en-US" altLang="zh-CN" b="1" i="1">
                  <a:latin typeface="ISOCPEUR" panose="020B0604020202020204" pitchFamily="34" charset="0"/>
                </a:rPr>
                <a:t>0.008</a:t>
              </a:r>
              <a:endParaRPr lang="en-US" altLang="zh-CN" b="1">
                <a:latin typeface="ISOCPEUR" panose="020B0604020202020204" pitchFamily="34" charset="0"/>
              </a:endParaRPr>
            </a:p>
          </p:txBody>
        </p:sp>
      </p:grpSp>
      <p:grpSp>
        <p:nvGrpSpPr>
          <p:cNvPr id="21566" name="Group 62"/>
          <p:cNvGrpSpPr/>
          <p:nvPr/>
        </p:nvGrpSpPr>
        <p:grpSpPr bwMode="auto">
          <a:xfrm>
            <a:off x="5942013" y="1260475"/>
            <a:ext cx="457200" cy="1481138"/>
            <a:chOff x="3743" y="794"/>
            <a:chExt cx="288" cy="933"/>
          </a:xfrm>
        </p:grpSpPr>
        <p:sp>
          <p:nvSpPr>
            <p:cNvPr id="20507" name="Line 63"/>
            <p:cNvSpPr>
              <a:spLocks noChangeShapeType="1"/>
            </p:cNvSpPr>
            <p:nvPr/>
          </p:nvSpPr>
          <p:spPr bwMode="auto">
            <a:xfrm>
              <a:off x="4007" y="797"/>
              <a:ext cx="0" cy="93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8" name="Text Box 64"/>
            <p:cNvSpPr txBox="1">
              <a:spLocks noChangeArrowheads="1"/>
            </p:cNvSpPr>
            <p:nvPr/>
          </p:nvSpPr>
          <p:spPr bwMode="auto">
            <a:xfrm rot="-5400000">
              <a:off x="3642" y="895"/>
              <a:ext cx="4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latin typeface="ISOCPEUR" panose="020B0604020202020204" pitchFamily="34" charset="0"/>
                </a:rPr>
                <a:t>0.016</a:t>
              </a:r>
              <a:endParaRPr lang="en-US" altLang="zh-CN" b="1">
                <a:latin typeface="ISOCPEUR" panose="020B0604020202020204" pitchFamily="34" charset="0"/>
              </a:endParaRPr>
            </a:p>
          </p:txBody>
        </p:sp>
        <p:sp>
          <p:nvSpPr>
            <p:cNvPr id="20509" name="Line 65"/>
            <p:cNvSpPr>
              <a:spLocks noChangeShapeType="1"/>
            </p:cNvSpPr>
            <p:nvPr/>
          </p:nvSpPr>
          <p:spPr bwMode="auto">
            <a:xfrm>
              <a:off x="4007" y="1196"/>
              <a:ext cx="0" cy="133"/>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0" name="Line 66"/>
            <p:cNvSpPr>
              <a:spLocks noChangeShapeType="1"/>
            </p:cNvSpPr>
            <p:nvPr/>
          </p:nvSpPr>
          <p:spPr bwMode="auto">
            <a:xfrm flipV="1">
              <a:off x="4008" y="1512"/>
              <a:ext cx="0" cy="60"/>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1" name="AutoShape 67"/>
          <p:cNvSpPr>
            <a:spLocks noChangeArrowheads="1"/>
          </p:cNvSpPr>
          <p:nvPr/>
        </p:nvSpPr>
        <p:spPr bwMode="auto">
          <a:xfrm>
            <a:off x="5524500" y="3986213"/>
            <a:ext cx="1473200" cy="895350"/>
          </a:xfrm>
          <a:prstGeom prst="wedgeRoundRectCallout">
            <a:avLst>
              <a:gd name="adj1" fmla="val 46981"/>
              <a:gd name="adj2" fmla="val -135991"/>
              <a:gd name="adj3" fmla="val 16667"/>
            </a:avLst>
          </a:prstGeom>
          <a:solidFill>
            <a:srgbClr val="FFFF00"/>
          </a:solidFill>
          <a:ln w="12700">
            <a:solidFill>
              <a:schemeClr val="tx2"/>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FF3300"/>
                </a:solidFill>
              </a:rPr>
              <a:t>偏差可正可负</a:t>
            </a:r>
            <a:endParaRPr lang="zh-CN" altLang="en-US" b="1">
              <a:solidFill>
                <a:srgbClr val="FF3300"/>
              </a:solidFill>
            </a:endParaRPr>
          </a:p>
        </p:txBody>
      </p:sp>
      <p:sp>
        <p:nvSpPr>
          <p:cNvPr id="21572" name="AutoShape 68"/>
          <p:cNvSpPr>
            <a:spLocks noChangeArrowheads="1"/>
          </p:cNvSpPr>
          <p:nvPr/>
        </p:nvSpPr>
        <p:spPr bwMode="auto">
          <a:xfrm>
            <a:off x="6081713" y="430213"/>
            <a:ext cx="2465387" cy="622300"/>
          </a:xfrm>
          <a:prstGeom prst="wedgeEllipseCallout">
            <a:avLst>
              <a:gd name="adj1" fmla="val -35125"/>
              <a:gd name="adj2" fmla="val 138009"/>
            </a:avLst>
          </a:prstGeom>
          <a:solidFill>
            <a:srgbClr val="00FFCC"/>
          </a:solidFill>
          <a:ln w="12700">
            <a:solidFill>
              <a:schemeClr val="tx2"/>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FF3300"/>
                </a:solidFill>
              </a:rPr>
              <a:t>公差恒为正</a:t>
            </a:r>
            <a:endParaRPr lang="zh-CN" altLang="en-US" b="1">
              <a:solidFill>
                <a:srgbClr val="FF3300"/>
              </a:solidFill>
            </a:endParaRPr>
          </a:p>
        </p:txBody>
      </p:sp>
      <p:grpSp>
        <p:nvGrpSpPr>
          <p:cNvPr id="21573" name="Group 69"/>
          <p:cNvGrpSpPr/>
          <p:nvPr/>
        </p:nvGrpSpPr>
        <p:grpSpPr bwMode="auto">
          <a:xfrm>
            <a:off x="7712075" y="1192213"/>
            <a:ext cx="457200" cy="1620837"/>
            <a:chOff x="4858" y="751"/>
            <a:chExt cx="288" cy="1021"/>
          </a:xfrm>
        </p:grpSpPr>
        <p:sp>
          <p:nvSpPr>
            <p:cNvPr id="20503" name="Text Box 70"/>
            <p:cNvSpPr txBox="1">
              <a:spLocks noChangeArrowheads="1"/>
            </p:cNvSpPr>
            <p:nvPr/>
          </p:nvSpPr>
          <p:spPr bwMode="auto">
            <a:xfrm rot="-5400000">
              <a:off x="4699" y="910"/>
              <a:ext cx="6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latin typeface="ISOCPEUR" panose="020B0604020202020204" pitchFamily="34" charset="0"/>
                </a:rPr>
                <a:t>+0.008</a:t>
              </a:r>
              <a:endParaRPr lang="en-US" altLang="zh-CN" b="1">
                <a:latin typeface="ISOCPEUR" panose="020B0604020202020204" pitchFamily="34" charset="0"/>
              </a:endParaRPr>
            </a:p>
          </p:txBody>
        </p:sp>
        <p:sp>
          <p:nvSpPr>
            <p:cNvPr id="20504" name="Line 71"/>
            <p:cNvSpPr>
              <a:spLocks noChangeShapeType="1"/>
            </p:cNvSpPr>
            <p:nvPr/>
          </p:nvSpPr>
          <p:spPr bwMode="auto">
            <a:xfrm>
              <a:off x="5116" y="761"/>
              <a:ext cx="0" cy="101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5" name="Line 72"/>
            <p:cNvSpPr>
              <a:spLocks noChangeShapeType="1"/>
            </p:cNvSpPr>
            <p:nvPr/>
          </p:nvSpPr>
          <p:spPr bwMode="auto">
            <a:xfrm>
              <a:off x="5116" y="1196"/>
              <a:ext cx="0" cy="133"/>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6" name="Line 73"/>
            <p:cNvSpPr>
              <a:spLocks noChangeShapeType="1"/>
            </p:cNvSpPr>
            <p:nvPr/>
          </p:nvSpPr>
          <p:spPr bwMode="auto">
            <a:xfrm flipV="1">
              <a:off x="5116" y="1417"/>
              <a:ext cx="0" cy="89"/>
            </a:xfrm>
            <a:prstGeom prst="line">
              <a:avLst/>
            </a:prstGeom>
            <a:noFill/>
            <a:ln w="19050">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8" name="Line 74"/>
          <p:cNvSpPr>
            <a:spLocks noChangeShapeType="1"/>
          </p:cNvSpPr>
          <p:nvPr/>
        </p:nvSpPr>
        <p:spPr bwMode="auto">
          <a:xfrm>
            <a:off x="6686550" y="2266950"/>
            <a:ext cx="15240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45"/>
                                        </p:tgtEl>
                                        <p:attrNameLst>
                                          <p:attrName>style.visibility</p:attrName>
                                        </p:attrNameLst>
                                      </p:cBhvr>
                                      <p:to>
                                        <p:strVal val="visible"/>
                                      </p:to>
                                    </p:set>
                                    <p:animEffect transition="in" filter="blinds(horizontal)">
                                      <p:cBhvr>
                                        <p:cTn id="7" dur="500"/>
                                        <p:tgtEl>
                                          <p:spTgt spid="2154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0"/>
                                  </p:iterate>
                                  <p:childTnLst>
                                    <p:set>
                                      <p:cBhvr>
                                        <p:cTn id="11" dur="1" fill="hold">
                                          <p:stCondLst>
                                            <p:cond delay="0"/>
                                          </p:stCondLst>
                                        </p:cTn>
                                        <p:tgtEl>
                                          <p:spTgt spid="21546"/>
                                        </p:tgtEl>
                                        <p:attrNameLst>
                                          <p:attrName>style.visibility</p:attrName>
                                        </p:attrNameLst>
                                      </p:cBhvr>
                                      <p:to>
                                        <p:strVal val="visible"/>
                                      </p:to>
                                    </p:set>
                                    <p:animEffect transition="in" filter="blinds(horizontal)">
                                      <p:cBhvr>
                                        <p:cTn id="12" dur="75"/>
                                        <p:tgtEl>
                                          <p:spTgt spid="215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iterate type="lt">
                                    <p:tmPct val="100000"/>
                                  </p:iterate>
                                  <p:childTnLst>
                                    <p:set>
                                      <p:cBhvr>
                                        <p:cTn id="16" dur="1" fill="hold">
                                          <p:stCondLst>
                                            <p:cond delay="0"/>
                                          </p:stCondLst>
                                        </p:cTn>
                                        <p:tgtEl>
                                          <p:spTgt spid="21547"/>
                                        </p:tgtEl>
                                        <p:attrNameLst>
                                          <p:attrName>style.visibility</p:attrName>
                                        </p:attrNameLst>
                                      </p:cBhvr>
                                      <p:to>
                                        <p:strVal val="visible"/>
                                      </p:to>
                                    </p:set>
                                    <p:animEffect transition="in" filter="blinds(horizontal)">
                                      <p:cBhvr>
                                        <p:cTn id="17" dur="75"/>
                                        <p:tgtEl>
                                          <p:spTgt spid="215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578"/>
                                        </p:tgtEl>
                                        <p:attrNameLst>
                                          <p:attrName>style.visibility</p:attrName>
                                        </p:attrNameLst>
                                      </p:cBhvr>
                                      <p:to>
                                        <p:strVal val="visible"/>
                                      </p:to>
                                    </p:set>
                                    <p:animEffect transition="in" filter="wipe(left)">
                                      <p:cBhvr>
                                        <p:cTn id="22" dur="500"/>
                                        <p:tgtEl>
                                          <p:spTgt spid="21578"/>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21573"/>
                                        </p:tgtEl>
                                        <p:attrNameLst>
                                          <p:attrName>style.visibility</p:attrName>
                                        </p:attrNameLst>
                                      </p:cBhvr>
                                      <p:to>
                                        <p:strVal val="visible"/>
                                      </p:to>
                                    </p:set>
                                    <p:animEffect transition="in" filter="wipe(down)">
                                      <p:cBhvr>
                                        <p:cTn id="26" dur="500"/>
                                        <p:tgtEl>
                                          <p:spTgt spid="2157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iterate type="lt">
                                    <p:tmPct val="100000"/>
                                  </p:iterate>
                                  <p:childTnLst>
                                    <p:set>
                                      <p:cBhvr>
                                        <p:cTn id="30" dur="1" fill="hold">
                                          <p:stCondLst>
                                            <p:cond delay="0"/>
                                          </p:stCondLst>
                                        </p:cTn>
                                        <p:tgtEl>
                                          <p:spTgt spid="21550"/>
                                        </p:tgtEl>
                                        <p:attrNameLst>
                                          <p:attrName>style.visibility</p:attrName>
                                        </p:attrNameLst>
                                      </p:cBhvr>
                                      <p:to>
                                        <p:strVal val="visible"/>
                                      </p:to>
                                    </p:set>
                                    <p:animEffect transition="in" filter="blinds(horizontal)">
                                      <p:cBhvr>
                                        <p:cTn id="31" dur="75"/>
                                        <p:tgtEl>
                                          <p:spTgt spid="21550"/>
                                        </p:tgtEl>
                                      </p:cBhvr>
                                    </p:animEffect>
                                  </p:childTnLst>
                                </p:cTn>
                              </p:par>
                            </p:childTnLst>
                          </p:cTn>
                        </p:par>
                        <p:par>
                          <p:cTn id="32" fill="hold">
                            <p:stCondLst>
                              <p:cond delay="225"/>
                            </p:stCondLst>
                            <p:childTnLst>
                              <p:par>
                                <p:cTn id="33" presetID="3" presetClass="entr" presetSubtype="10" fill="hold" grpId="0" nodeType="afterEffect">
                                  <p:stCondLst>
                                    <p:cond delay="0"/>
                                  </p:stCondLst>
                                  <p:iterate type="lt">
                                    <p:tmPct val="100000"/>
                                  </p:iterate>
                                  <p:childTnLst>
                                    <p:set>
                                      <p:cBhvr>
                                        <p:cTn id="34" dur="1" fill="hold">
                                          <p:stCondLst>
                                            <p:cond delay="0"/>
                                          </p:stCondLst>
                                        </p:cTn>
                                        <p:tgtEl>
                                          <p:spTgt spid="21551"/>
                                        </p:tgtEl>
                                        <p:attrNameLst>
                                          <p:attrName>style.visibility</p:attrName>
                                        </p:attrNameLst>
                                      </p:cBhvr>
                                      <p:to>
                                        <p:strVal val="visible"/>
                                      </p:to>
                                    </p:set>
                                    <p:animEffect transition="in" filter="blinds(horizontal)">
                                      <p:cBhvr>
                                        <p:cTn id="35" dur="75"/>
                                        <p:tgtEl>
                                          <p:spTgt spid="21551"/>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iterate type="lt">
                                    <p:tmPct val="100000"/>
                                  </p:iterate>
                                  <p:childTnLst>
                                    <p:set>
                                      <p:cBhvr>
                                        <p:cTn id="39" dur="1" fill="hold">
                                          <p:stCondLst>
                                            <p:cond delay="0"/>
                                          </p:stCondLst>
                                        </p:cTn>
                                        <p:tgtEl>
                                          <p:spTgt spid="21548"/>
                                        </p:tgtEl>
                                        <p:attrNameLst>
                                          <p:attrName>style.visibility</p:attrName>
                                        </p:attrNameLst>
                                      </p:cBhvr>
                                      <p:to>
                                        <p:strVal val="visible"/>
                                      </p:to>
                                    </p:set>
                                    <p:animEffect transition="in" filter="blinds(horizontal)">
                                      <p:cBhvr>
                                        <p:cTn id="40" dur="75"/>
                                        <p:tgtEl>
                                          <p:spTgt spid="2154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iterate type="lt">
                                    <p:tmPct val="100000"/>
                                  </p:iterate>
                                  <p:childTnLst>
                                    <p:set>
                                      <p:cBhvr>
                                        <p:cTn id="44" dur="1" fill="hold">
                                          <p:stCondLst>
                                            <p:cond delay="0"/>
                                          </p:stCondLst>
                                        </p:cTn>
                                        <p:tgtEl>
                                          <p:spTgt spid="21549"/>
                                        </p:tgtEl>
                                        <p:attrNameLst>
                                          <p:attrName>style.visibility</p:attrName>
                                        </p:attrNameLst>
                                      </p:cBhvr>
                                      <p:to>
                                        <p:strVal val="visible"/>
                                      </p:to>
                                    </p:set>
                                    <p:animEffect transition="in" filter="blinds(horizontal)">
                                      <p:cBhvr>
                                        <p:cTn id="45" dur="75"/>
                                        <p:tgtEl>
                                          <p:spTgt spid="2154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21561"/>
                                        </p:tgtEl>
                                        <p:attrNameLst>
                                          <p:attrName>style.visibility</p:attrName>
                                        </p:attrNameLst>
                                      </p:cBhvr>
                                      <p:to>
                                        <p:strVal val="visible"/>
                                      </p:to>
                                    </p:set>
                                    <p:animEffect transition="in" filter="wipe(down)">
                                      <p:cBhvr>
                                        <p:cTn id="50" dur="500"/>
                                        <p:tgtEl>
                                          <p:spTgt spid="21561"/>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iterate type="lt">
                                    <p:tmPct val="100000"/>
                                  </p:iterate>
                                  <p:childTnLst>
                                    <p:set>
                                      <p:cBhvr>
                                        <p:cTn id="54" dur="1" fill="hold">
                                          <p:stCondLst>
                                            <p:cond delay="0"/>
                                          </p:stCondLst>
                                        </p:cTn>
                                        <p:tgtEl>
                                          <p:spTgt spid="21552"/>
                                        </p:tgtEl>
                                        <p:attrNameLst>
                                          <p:attrName>style.visibility</p:attrName>
                                        </p:attrNameLst>
                                      </p:cBhvr>
                                      <p:to>
                                        <p:strVal val="visible"/>
                                      </p:to>
                                    </p:set>
                                    <p:animEffect transition="in" filter="blinds(horizontal)">
                                      <p:cBhvr>
                                        <p:cTn id="55" dur="75"/>
                                        <p:tgtEl>
                                          <p:spTgt spid="21552"/>
                                        </p:tgtEl>
                                      </p:cBhvr>
                                    </p:animEffect>
                                  </p:childTnLst>
                                </p:cTn>
                              </p:par>
                            </p:childTnLst>
                          </p:cTn>
                        </p:par>
                        <p:par>
                          <p:cTn id="56" fill="hold">
                            <p:stCondLst>
                              <p:cond delay="225"/>
                            </p:stCondLst>
                            <p:childTnLst>
                              <p:par>
                                <p:cTn id="57" presetID="3" presetClass="entr" presetSubtype="10" fill="hold" grpId="0" nodeType="afterEffect">
                                  <p:stCondLst>
                                    <p:cond delay="0"/>
                                  </p:stCondLst>
                                  <p:iterate type="lt">
                                    <p:tmPct val="100000"/>
                                  </p:iterate>
                                  <p:childTnLst>
                                    <p:set>
                                      <p:cBhvr>
                                        <p:cTn id="58" dur="1" fill="hold">
                                          <p:stCondLst>
                                            <p:cond delay="0"/>
                                          </p:stCondLst>
                                        </p:cTn>
                                        <p:tgtEl>
                                          <p:spTgt spid="21553"/>
                                        </p:tgtEl>
                                        <p:attrNameLst>
                                          <p:attrName>style.visibility</p:attrName>
                                        </p:attrNameLst>
                                      </p:cBhvr>
                                      <p:to>
                                        <p:strVal val="visible"/>
                                      </p:to>
                                    </p:set>
                                    <p:animEffect transition="in" filter="blinds(horizontal)">
                                      <p:cBhvr>
                                        <p:cTn id="59" dur="75"/>
                                        <p:tgtEl>
                                          <p:spTgt spid="2155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1580"/>
                                        </p:tgtEl>
                                        <p:attrNameLst>
                                          <p:attrName>style.visibility</p:attrName>
                                        </p:attrNameLst>
                                      </p:cBhvr>
                                      <p:to>
                                        <p:strVal val="visible"/>
                                      </p:to>
                                    </p:set>
                                    <p:animEffect transition="in" filter="wipe(left)">
                                      <p:cBhvr>
                                        <p:cTn id="64" dur="500"/>
                                        <p:tgtEl>
                                          <p:spTgt spid="21580"/>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grpId="0" nodeType="clickEffect">
                                  <p:stCondLst>
                                    <p:cond delay="0"/>
                                  </p:stCondLst>
                                  <p:childTnLst>
                                    <p:set>
                                      <p:cBhvr>
                                        <p:cTn id="68" dur="1" fill="hold">
                                          <p:stCondLst>
                                            <p:cond delay="0"/>
                                          </p:stCondLst>
                                        </p:cTn>
                                        <p:tgtEl>
                                          <p:spTgt spid="21559"/>
                                        </p:tgtEl>
                                        <p:attrNameLst>
                                          <p:attrName>style.visibility</p:attrName>
                                        </p:attrNameLst>
                                      </p:cBhvr>
                                      <p:to>
                                        <p:strVal val="visible"/>
                                      </p:to>
                                    </p:set>
                                    <p:animEffect transition="in" filter="slide(fromLeft)">
                                      <p:cBhvr>
                                        <p:cTn id="69" dur="500"/>
                                        <p:tgtEl>
                                          <p:spTgt spid="21559"/>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1571"/>
                                        </p:tgtEl>
                                        <p:attrNameLst>
                                          <p:attrName>style.visibility</p:attrName>
                                        </p:attrNameLst>
                                      </p:cBhvr>
                                      <p:to>
                                        <p:strVal val="visible"/>
                                      </p:to>
                                    </p:set>
                                    <p:animEffect transition="in" filter="blinds(horizontal)">
                                      <p:cBhvr>
                                        <p:cTn id="74" dur="500"/>
                                        <p:tgtEl>
                                          <p:spTgt spid="21571"/>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iterate type="lt">
                                    <p:tmPct val="100000"/>
                                  </p:iterate>
                                  <p:childTnLst>
                                    <p:set>
                                      <p:cBhvr>
                                        <p:cTn id="78" dur="1" fill="hold">
                                          <p:stCondLst>
                                            <p:cond delay="0"/>
                                          </p:stCondLst>
                                        </p:cTn>
                                        <p:tgtEl>
                                          <p:spTgt spid="21554"/>
                                        </p:tgtEl>
                                        <p:attrNameLst>
                                          <p:attrName>style.visibility</p:attrName>
                                        </p:attrNameLst>
                                      </p:cBhvr>
                                      <p:to>
                                        <p:strVal val="visible"/>
                                      </p:to>
                                    </p:set>
                                    <p:animEffect transition="in" filter="blinds(horizontal)">
                                      <p:cBhvr>
                                        <p:cTn id="79" dur="75"/>
                                        <p:tgtEl>
                                          <p:spTgt spid="21554"/>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iterate type="lt">
                                    <p:tmPct val="100000"/>
                                  </p:iterate>
                                  <p:childTnLst>
                                    <p:set>
                                      <p:cBhvr>
                                        <p:cTn id="83" dur="1" fill="hold">
                                          <p:stCondLst>
                                            <p:cond delay="0"/>
                                          </p:stCondLst>
                                        </p:cTn>
                                        <p:tgtEl>
                                          <p:spTgt spid="21555"/>
                                        </p:tgtEl>
                                        <p:attrNameLst>
                                          <p:attrName>style.visibility</p:attrName>
                                        </p:attrNameLst>
                                      </p:cBhvr>
                                      <p:to>
                                        <p:strVal val="visible"/>
                                      </p:to>
                                    </p:set>
                                    <p:animEffect transition="in" filter="blinds(horizontal)">
                                      <p:cBhvr>
                                        <p:cTn id="84" dur="75"/>
                                        <p:tgtEl>
                                          <p:spTgt spid="21555"/>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21556"/>
                                        </p:tgtEl>
                                        <p:attrNameLst>
                                          <p:attrName>style.visibility</p:attrName>
                                        </p:attrNameLst>
                                      </p:cBhvr>
                                      <p:to>
                                        <p:strVal val="visible"/>
                                      </p:to>
                                    </p:set>
                                    <p:animEffect transition="in" filter="blinds(horizontal)">
                                      <p:cBhvr>
                                        <p:cTn id="89" dur="500"/>
                                        <p:tgtEl>
                                          <p:spTgt spid="21556"/>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21566"/>
                                        </p:tgtEl>
                                        <p:attrNameLst>
                                          <p:attrName>style.visibility</p:attrName>
                                        </p:attrNameLst>
                                      </p:cBhvr>
                                      <p:to>
                                        <p:strVal val="visible"/>
                                      </p:to>
                                    </p:set>
                                    <p:animEffect transition="in" filter="wipe(up)">
                                      <p:cBhvr>
                                        <p:cTn id="94" dur="500"/>
                                        <p:tgtEl>
                                          <p:spTgt spid="21566"/>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21572"/>
                                        </p:tgtEl>
                                        <p:attrNameLst>
                                          <p:attrName>style.visibility</p:attrName>
                                        </p:attrNameLst>
                                      </p:cBhvr>
                                      <p:to>
                                        <p:strVal val="visible"/>
                                      </p:to>
                                    </p:set>
                                    <p:animEffect transition="in" filter="blinds(horizontal)">
                                      <p:cBhvr>
                                        <p:cTn id="99" dur="500"/>
                                        <p:tgtEl>
                                          <p:spTgt spid="21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45" grpId="0" autoUpdateAnimBg="0"/>
      <p:bldP spid="21546" grpId="0" autoUpdateAnimBg="0"/>
      <p:bldP spid="21547" grpId="0" autoUpdateAnimBg="0"/>
      <p:bldP spid="21548" grpId="0" autoUpdateAnimBg="0"/>
      <p:bldP spid="21549" grpId="0" autoUpdateAnimBg="0"/>
      <p:bldP spid="21550" grpId="0" autoUpdateAnimBg="0"/>
      <p:bldP spid="21551" grpId="0" autoUpdateAnimBg="0"/>
      <p:bldP spid="21552" grpId="0" autoUpdateAnimBg="0"/>
      <p:bldP spid="21553" grpId="0" autoUpdateAnimBg="0"/>
      <p:bldP spid="21554" grpId="0" autoUpdateAnimBg="0"/>
      <p:bldP spid="21555" grpId="0" autoUpdateAnimBg="0"/>
      <p:bldP spid="21556" grpId="0" autoUpdateAnimBg="0"/>
      <p:bldP spid="21559" grpId="0" autoUpdateAnimBg="0"/>
      <p:bldP spid="21571" grpId="0" animBg="1" autoUpdateAnimBg="0"/>
      <p:bldP spid="2157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552450" y="417513"/>
            <a:ext cx="692943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例：一根轴的直径为</a:t>
            </a:r>
            <a:r>
              <a:rPr lang="zh-CN" altLang="en-US" sz="2800" b="1" i="1">
                <a:latin typeface="ISOCPEUR" panose="020B0604020202020204" pitchFamily="34" charset="0"/>
                <a:sym typeface="Symbol" panose="05050102010706020507" pitchFamily="18" charset="2"/>
              </a:rPr>
              <a:t></a:t>
            </a:r>
            <a:r>
              <a:rPr lang="en-US" altLang="zh-CN" sz="2800" b="1" i="1">
                <a:latin typeface="ISOCPEUR" panose="020B0604020202020204" pitchFamily="34" charset="0"/>
                <a:sym typeface="Symbol" panose="05050102010706020507" pitchFamily="18" charset="2"/>
              </a:rPr>
              <a:t>600.015</a:t>
            </a:r>
            <a:endParaRPr lang="en-US" altLang="zh-CN" sz="2800" b="1" i="1">
              <a:latin typeface="ISOCPEUR" panose="020B0604020202020204" pitchFamily="34" charset="0"/>
            </a:endParaRPr>
          </a:p>
        </p:txBody>
      </p:sp>
      <p:sp>
        <p:nvSpPr>
          <p:cNvPr id="22531" name="Text Box 3"/>
          <p:cNvSpPr txBox="1">
            <a:spLocks noChangeArrowheads="1"/>
          </p:cNvSpPr>
          <p:nvPr/>
        </p:nvSpPr>
        <p:spPr bwMode="auto">
          <a:xfrm>
            <a:off x="900113" y="906463"/>
            <a:ext cx="179228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基本尺寸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2532" name="Text Box 4"/>
          <p:cNvSpPr txBox="1">
            <a:spLocks noChangeArrowheads="1"/>
          </p:cNvSpPr>
          <p:nvPr/>
        </p:nvSpPr>
        <p:spPr bwMode="auto">
          <a:xfrm>
            <a:off x="857250" y="1416050"/>
            <a:ext cx="25669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最大极限尺寸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2533" name="Text Box 5"/>
          <p:cNvSpPr txBox="1">
            <a:spLocks noChangeArrowheads="1"/>
          </p:cNvSpPr>
          <p:nvPr/>
        </p:nvSpPr>
        <p:spPr bwMode="auto">
          <a:xfrm>
            <a:off x="893763" y="1949450"/>
            <a:ext cx="250666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最小极限尺寸</a:t>
            </a:r>
            <a:r>
              <a:rPr lang="en-US" altLang="zh-CN" sz="2800" b="1">
                <a:latin typeface="宋体" panose="02010600030101010101" pitchFamily="2" charset="-122"/>
              </a:rPr>
              <a:t>:</a:t>
            </a:r>
            <a:endParaRPr lang="en-US" altLang="zh-CN" sz="2800" b="1">
              <a:latin typeface="宋体" panose="02010600030101010101" pitchFamily="2" charset="-122"/>
            </a:endParaRPr>
          </a:p>
        </p:txBody>
      </p:sp>
      <p:sp>
        <p:nvSpPr>
          <p:cNvPr id="22534" name="Text Box 6"/>
          <p:cNvSpPr txBox="1">
            <a:spLocks noChangeArrowheads="1"/>
          </p:cNvSpPr>
          <p:nvPr/>
        </p:nvSpPr>
        <p:spPr bwMode="auto">
          <a:xfrm>
            <a:off x="2897188" y="968375"/>
            <a:ext cx="106203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latin typeface="宋体" panose="02010600030101010101" pitchFamily="2" charset="-122"/>
                <a:sym typeface="Symbol" panose="05050102010706020507" pitchFamily="18" charset="2"/>
              </a:rPr>
              <a:t></a:t>
            </a:r>
            <a:r>
              <a:rPr lang="en-US" altLang="zh-CN" sz="2800" b="1" i="1">
                <a:latin typeface="ISOCPEUR" panose="020B0604020202020204" pitchFamily="34" charset="0"/>
              </a:rPr>
              <a:t>60</a:t>
            </a:r>
            <a:r>
              <a:rPr lang="en-US" altLang="zh-CN" sz="2800" b="1" i="1">
                <a:latin typeface="宋体" panose="02010600030101010101" pitchFamily="2" charset="-122"/>
              </a:rPr>
              <a:t>mm</a:t>
            </a:r>
            <a:endParaRPr lang="en-US" altLang="zh-CN" sz="2800" b="1">
              <a:latin typeface="宋体" panose="02010600030101010101" pitchFamily="2" charset="-122"/>
            </a:endParaRPr>
          </a:p>
        </p:txBody>
      </p:sp>
      <p:sp>
        <p:nvSpPr>
          <p:cNvPr id="22535" name="Text Box 7"/>
          <p:cNvSpPr txBox="1">
            <a:spLocks noChangeArrowheads="1"/>
          </p:cNvSpPr>
          <p:nvPr/>
        </p:nvSpPr>
        <p:spPr bwMode="auto">
          <a:xfrm>
            <a:off x="841375" y="2506663"/>
            <a:ext cx="31210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零件合格的条件：</a:t>
            </a:r>
            <a:endParaRPr lang="zh-CN" altLang="en-US" sz="2800" b="1">
              <a:latin typeface="宋体" panose="02010600030101010101" pitchFamily="2" charset="-122"/>
            </a:endParaRPr>
          </a:p>
        </p:txBody>
      </p:sp>
      <p:sp>
        <p:nvSpPr>
          <p:cNvPr id="22536" name="Text Box 8"/>
          <p:cNvSpPr txBox="1">
            <a:spLocks noChangeArrowheads="1"/>
          </p:cNvSpPr>
          <p:nvPr/>
        </p:nvSpPr>
        <p:spPr bwMode="auto">
          <a:xfrm>
            <a:off x="938213" y="3114675"/>
            <a:ext cx="576421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sym typeface="Symbol" panose="05050102010706020507" pitchFamily="18" charset="2"/>
              </a:rPr>
              <a:t></a:t>
            </a:r>
            <a:r>
              <a:rPr lang="en-US" altLang="zh-CN" sz="2800" b="1" i="1">
                <a:latin typeface="ISOCPEUR" panose="020B0604020202020204" pitchFamily="34" charset="0"/>
              </a:rPr>
              <a:t>60.015mm</a:t>
            </a:r>
            <a:r>
              <a:rPr lang="en-US" altLang="zh-CN" sz="2800" b="1"/>
              <a:t>≥</a:t>
            </a:r>
            <a:r>
              <a:rPr lang="zh-CN" altLang="en-US" sz="2800" b="1"/>
              <a:t>实际尺寸≥ </a:t>
            </a:r>
            <a:r>
              <a:rPr lang="zh-CN" altLang="en-US" sz="2800" b="1" i="1">
                <a:sym typeface="Symbol" panose="05050102010706020507" pitchFamily="18" charset="2"/>
              </a:rPr>
              <a:t></a:t>
            </a:r>
            <a:r>
              <a:rPr lang="en-US" altLang="zh-CN" sz="2800" b="1" i="1">
                <a:latin typeface="ISOCPEUR" panose="020B0604020202020204" pitchFamily="34" charset="0"/>
              </a:rPr>
              <a:t>59.985mm</a:t>
            </a:r>
            <a:r>
              <a:rPr lang="zh-CN" altLang="en-US" sz="2800" b="1"/>
              <a:t>。</a:t>
            </a:r>
            <a:endParaRPr lang="zh-CN" altLang="en-US" sz="2800" b="1"/>
          </a:p>
        </p:txBody>
      </p:sp>
      <p:grpSp>
        <p:nvGrpSpPr>
          <p:cNvPr id="22537" name="Group 9"/>
          <p:cNvGrpSpPr/>
          <p:nvPr/>
        </p:nvGrpSpPr>
        <p:grpSpPr bwMode="auto">
          <a:xfrm>
            <a:off x="6176963" y="1563688"/>
            <a:ext cx="2386012" cy="1592262"/>
            <a:chOff x="3613" y="413"/>
            <a:chExt cx="1503" cy="1003"/>
          </a:xfrm>
        </p:grpSpPr>
        <p:grpSp>
          <p:nvGrpSpPr>
            <p:cNvPr id="21519" name="Group 10"/>
            <p:cNvGrpSpPr/>
            <p:nvPr/>
          </p:nvGrpSpPr>
          <p:grpSpPr bwMode="auto">
            <a:xfrm>
              <a:off x="4501" y="505"/>
              <a:ext cx="615" cy="911"/>
              <a:chOff x="2856" y="918"/>
              <a:chExt cx="1290" cy="2452"/>
            </a:xfrm>
          </p:grpSpPr>
          <p:sp>
            <p:nvSpPr>
              <p:cNvPr id="21521" name="Freeform 11"/>
              <p:cNvSpPr/>
              <p:nvPr/>
            </p:nvSpPr>
            <p:spPr bwMode="auto">
              <a:xfrm>
                <a:off x="2856" y="1669"/>
                <a:ext cx="505" cy="835"/>
              </a:xfrm>
              <a:custGeom>
                <a:avLst/>
                <a:gdLst>
                  <a:gd name="T0" fmla="*/ 267 w 505"/>
                  <a:gd name="T1" fmla="*/ 124 h 835"/>
                  <a:gd name="T2" fmla="*/ 319 w 505"/>
                  <a:gd name="T3" fmla="*/ 72 h 835"/>
                  <a:gd name="T4" fmla="*/ 392 w 505"/>
                  <a:gd name="T5" fmla="*/ 21 h 835"/>
                  <a:gd name="T6" fmla="*/ 443 w 505"/>
                  <a:gd name="T7" fmla="*/ 0 h 835"/>
                  <a:gd name="T8" fmla="*/ 505 w 505"/>
                  <a:gd name="T9" fmla="*/ 4 h 835"/>
                  <a:gd name="T10" fmla="*/ 505 w 505"/>
                  <a:gd name="T11" fmla="*/ 52 h 835"/>
                  <a:gd name="T12" fmla="*/ 474 w 505"/>
                  <a:gd name="T13" fmla="*/ 93 h 835"/>
                  <a:gd name="T14" fmla="*/ 416 w 505"/>
                  <a:gd name="T15" fmla="*/ 124 h 835"/>
                  <a:gd name="T16" fmla="*/ 271 w 505"/>
                  <a:gd name="T17" fmla="*/ 190 h 835"/>
                  <a:gd name="T18" fmla="*/ 133 w 505"/>
                  <a:gd name="T19" fmla="*/ 269 h 835"/>
                  <a:gd name="T20" fmla="*/ 75 w 505"/>
                  <a:gd name="T21" fmla="*/ 289 h 835"/>
                  <a:gd name="T22" fmla="*/ 55 w 505"/>
                  <a:gd name="T23" fmla="*/ 320 h 835"/>
                  <a:gd name="T24" fmla="*/ 75 w 505"/>
                  <a:gd name="T25" fmla="*/ 351 h 835"/>
                  <a:gd name="T26" fmla="*/ 195 w 505"/>
                  <a:gd name="T27" fmla="*/ 467 h 835"/>
                  <a:gd name="T28" fmla="*/ 250 w 505"/>
                  <a:gd name="T29" fmla="*/ 505 h 835"/>
                  <a:gd name="T30" fmla="*/ 332 w 505"/>
                  <a:gd name="T31" fmla="*/ 570 h 835"/>
                  <a:gd name="T32" fmla="*/ 416 w 505"/>
                  <a:gd name="T33" fmla="*/ 632 h 835"/>
                  <a:gd name="T34" fmla="*/ 412 w 505"/>
                  <a:gd name="T35" fmla="*/ 663 h 835"/>
                  <a:gd name="T36" fmla="*/ 350 w 505"/>
                  <a:gd name="T37" fmla="*/ 673 h 835"/>
                  <a:gd name="T38" fmla="*/ 257 w 505"/>
                  <a:gd name="T39" fmla="*/ 673 h 835"/>
                  <a:gd name="T40" fmla="*/ 199 w 505"/>
                  <a:gd name="T41" fmla="*/ 704 h 835"/>
                  <a:gd name="T42" fmla="*/ 178 w 505"/>
                  <a:gd name="T43" fmla="*/ 783 h 835"/>
                  <a:gd name="T44" fmla="*/ 178 w 505"/>
                  <a:gd name="T45" fmla="*/ 825 h 835"/>
                  <a:gd name="T46" fmla="*/ 154 w 505"/>
                  <a:gd name="T47" fmla="*/ 835 h 835"/>
                  <a:gd name="T48" fmla="*/ 116 w 505"/>
                  <a:gd name="T49" fmla="*/ 797 h 835"/>
                  <a:gd name="T50" fmla="*/ 123 w 505"/>
                  <a:gd name="T51" fmla="*/ 731 h 835"/>
                  <a:gd name="T52" fmla="*/ 157 w 505"/>
                  <a:gd name="T53" fmla="*/ 683 h 835"/>
                  <a:gd name="T54" fmla="*/ 226 w 505"/>
                  <a:gd name="T55" fmla="*/ 642 h 835"/>
                  <a:gd name="T56" fmla="*/ 301 w 505"/>
                  <a:gd name="T57" fmla="*/ 622 h 835"/>
                  <a:gd name="T58" fmla="*/ 308 w 505"/>
                  <a:gd name="T59" fmla="*/ 601 h 835"/>
                  <a:gd name="T60" fmla="*/ 271 w 505"/>
                  <a:gd name="T61" fmla="*/ 560 h 835"/>
                  <a:gd name="T62" fmla="*/ 113 w 505"/>
                  <a:gd name="T63" fmla="*/ 457 h 835"/>
                  <a:gd name="T64" fmla="*/ 65 w 505"/>
                  <a:gd name="T65" fmla="*/ 416 h 835"/>
                  <a:gd name="T66" fmla="*/ 20 w 505"/>
                  <a:gd name="T67" fmla="*/ 361 h 835"/>
                  <a:gd name="T68" fmla="*/ 0 w 505"/>
                  <a:gd name="T69" fmla="*/ 299 h 835"/>
                  <a:gd name="T70" fmla="*/ 13 w 505"/>
                  <a:gd name="T71" fmla="*/ 262 h 835"/>
                  <a:gd name="T72" fmla="*/ 92 w 505"/>
                  <a:gd name="T73" fmla="*/ 238 h 835"/>
                  <a:gd name="T74" fmla="*/ 188 w 505"/>
                  <a:gd name="T75" fmla="*/ 197 h 835"/>
                  <a:gd name="T76" fmla="*/ 250 w 505"/>
                  <a:gd name="T77" fmla="*/ 154 h 835"/>
                  <a:gd name="T78" fmla="*/ 267 w 505"/>
                  <a:gd name="T79" fmla="*/ 124 h 83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05" h="835">
                    <a:moveTo>
                      <a:pt x="267" y="124"/>
                    </a:moveTo>
                    <a:lnTo>
                      <a:pt x="319" y="72"/>
                    </a:lnTo>
                    <a:lnTo>
                      <a:pt x="392" y="21"/>
                    </a:lnTo>
                    <a:lnTo>
                      <a:pt x="443" y="0"/>
                    </a:lnTo>
                    <a:lnTo>
                      <a:pt x="505" y="4"/>
                    </a:lnTo>
                    <a:lnTo>
                      <a:pt x="505" y="52"/>
                    </a:lnTo>
                    <a:lnTo>
                      <a:pt x="474" y="93"/>
                    </a:lnTo>
                    <a:lnTo>
                      <a:pt x="416" y="124"/>
                    </a:lnTo>
                    <a:lnTo>
                      <a:pt x="271" y="190"/>
                    </a:lnTo>
                    <a:lnTo>
                      <a:pt x="133" y="269"/>
                    </a:lnTo>
                    <a:lnTo>
                      <a:pt x="75" y="289"/>
                    </a:lnTo>
                    <a:lnTo>
                      <a:pt x="55" y="320"/>
                    </a:lnTo>
                    <a:lnTo>
                      <a:pt x="75" y="351"/>
                    </a:lnTo>
                    <a:lnTo>
                      <a:pt x="195" y="467"/>
                    </a:lnTo>
                    <a:lnTo>
                      <a:pt x="250" y="505"/>
                    </a:lnTo>
                    <a:lnTo>
                      <a:pt x="332" y="570"/>
                    </a:lnTo>
                    <a:lnTo>
                      <a:pt x="416" y="632"/>
                    </a:lnTo>
                    <a:lnTo>
                      <a:pt x="412" y="663"/>
                    </a:lnTo>
                    <a:lnTo>
                      <a:pt x="350" y="673"/>
                    </a:lnTo>
                    <a:lnTo>
                      <a:pt x="257" y="673"/>
                    </a:lnTo>
                    <a:lnTo>
                      <a:pt x="199" y="704"/>
                    </a:lnTo>
                    <a:lnTo>
                      <a:pt x="178" y="783"/>
                    </a:lnTo>
                    <a:lnTo>
                      <a:pt x="178" y="825"/>
                    </a:lnTo>
                    <a:lnTo>
                      <a:pt x="154" y="835"/>
                    </a:lnTo>
                    <a:lnTo>
                      <a:pt x="116" y="797"/>
                    </a:lnTo>
                    <a:lnTo>
                      <a:pt x="123" y="731"/>
                    </a:lnTo>
                    <a:lnTo>
                      <a:pt x="157" y="683"/>
                    </a:lnTo>
                    <a:lnTo>
                      <a:pt x="226" y="642"/>
                    </a:lnTo>
                    <a:lnTo>
                      <a:pt x="301" y="622"/>
                    </a:lnTo>
                    <a:lnTo>
                      <a:pt x="308" y="601"/>
                    </a:lnTo>
                    <a:lnTo>
                      <a:pt x="271" y="560"/>
                    </a:lnTo>
                    <a:lnTo>
                      <a:pt x="113" y="457"/>
                    </a:lnTo>
                    <a:lnTo>
                      <a:pt x="65" y="416"/>
                    </a:lnTo>
                    <a:lnTo>
                      <a:pt x="20" y="361"/>
                    </a:lnTo>
                    <a:lnTo>
                      <a:pt x="0" y="299"/>
                    </a:lnTo>
                    <a:lnTo>
                      <a:pt x="13" y="262"/>
                    </a:lnTo>
                    <a:lnTo>
                      <a:pt x="92" y="238"/>
                    </a:lnTo>
                    <a:lnTo>
                      <a:pt x="188" y="197"/>
                    </a:lnTo>
                    <a:lnTo>
                      <a:pt x="250" y="154"/>
                    </a:lnTo>
                    <a:lnTo>
                      <a:pt x="267" y="124"/>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522" name="Freeform 12"/>
              <p:cNvSpPr/>
              <p:nvPr/>
            </p:nvSpPr>
            <p:spPr bwMode="auto">
              <a:xfrm>
                <a:off x="3306" y="1632"/>
                <a:ext cx="351" cy="799"/>
              </a:xfrm>
              <a:custGeom>
                <a:avLst/>
                <a:gdLst>
                  <a:gd name="T0" fmla="*/ 75 w 351"/>
                  <a:gd name="T1" fmla="*/ 61 h 799"/>
                  <a:gd name="T2" fmla="*/ 106 w 351"/>
                  <a:gd name="T3" fmla="*/ 10 h 799"/>
                  <a:gd name="T4" fmla="*/ 144 w 351"/>
                  <a:gd name="T5" fmla="*/ 0 h 799"/>
                  <a:gd name="T6" fmla="*/ 196 w 351"/>
                  <a:gd name="T7" fmla="*/ 0 h 799"/>
                  <a:gd name="T8" fmla="*/ 261 w 351"/>
                  <a:gd name="T9" fmla="*/ 37 h 799"/>
                  <a:gd name="T10" fmla="*/ 302 w 351"/>
                  <a:gd name="T11" fmla="*/ 120 h 799"/>
                  <a:gd name="T12" fmla="*/ 333 w 351"/>
                  <a:gd name="T13" fmla="*/ 227 h 799"/>
                  <a:gd name="T14" fmla="*/ 351 w 351"/>
                  <a:gd name="T15" fmla="*/ 336 h 799"/>
                  <a:gd name="T16" fmla="*/ 351 w 351"/>
                  <a:gd name="T17" fmla="*/ 484 h 799"/>
                  <a:gd name="T18" fmla="*/ 313 w 351"/>
                  <a:gd name="T19" fmla="*/ 645 h 799"/>
                  <a:gd name="T20" fmla="*/ 258 w 351"/>
                  <a:gd name="T21" fmla="*/ 740 h 799"/>
                  <a:gd name="T22" fmla="*/ 185 w 351"/>
                  <a:gd name="T23" fmla="*/ 788 h 799"/>
                  <a:gd name="T24" fmla="*/ 117 w 351"/>
                  <a:gd name="T25" fmla="*/ 799 h 799"/>
                  <a:gd name="T26" fmla="*/ 65 w 351"/>
                  <a:gd name="T27" fmla="*/ 768 h 799"/>
                  <a:gd name="T28" fmla="*/ 24 w 351"/>
                  <a:gd name="T29" fmla="*/ 730 h 799"/>
                  <a:gd name="T30" fmla="*/ 13 w 351"/>
                  <a:gd name="T31" fmla="*/ 669 h 799"/>
                  <a:gd name="T32" fmla="*/ 0 w 351"/>
                  <a:gd name="T33" fmla="*/ 552 h 799"/>
                  <a:gd name="T34" fmla="*/ 10 w 351"/>
                  <a:gd name="T35" fmla="*/ 408 h 799"/>
                  <a:gd name="T36" fmla="*/ 41 w 351"/>
                  <a:gd name="T37" fmla="*/ 258 h 799"/>
                  <a:gd name="T38" fmla="*/ 61 w 351"/>
                  <a:gd name="T39" fmla="*/ 150 h 799"/>
                  <a:gd name="T40" fmla="*/ 75 w 351"/>
                  <a:gd name="T41" fmla="*/ 61 h 7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51" h="799">
                    <a:moveTo>
                      <a:pt x="75" y="61"/>
                    </a:moveTo>
                    <a:lnTo>
                      <a:pt x="106" y="10"/>
                    </a:lnTo>
                    <a:lnTo>
                      <a:pt x="144" y="0"/>
                    </a:lnTo>
                    <a:lnTo>
                      <a:pt x="196" y="0"/>
                    </a:lnTo>
                    <a:lnTo>
                      <a:pt x="261" y="37"/>
                    </a:lnTo>
                    <a:lnTo>
                      <a:pt x="302" y="120"/>
                    </a:lnTo>
                    <a:lnTo>
                      <a:pt x="333" y="227"/>
                    </a:lnTo>
                    <a:lnTo>
                      <a:pt x="351" y="336"/>
                    </a:lnTo>
                    <a:lnTo>
                      <a:pt x="351" y="484"/>
                    </a:lnTo>
                    <a:lnTo>
                      <a:pt x="313" y="645"/>
                    </a:lnTo>
                    <a:lnTo>
                      <a:pt x="258" y="740"/>
                    </a:lnTo>
                    <a:lnTo>
                      <a:pt x="185" y="788"/>
                    </a:lnTo>
                    <a:lnTo>
                      <a:pt x="117" y="799"/>
                    </a:lnTo>
                    <a:lnTo>
                      <a:pt x="65" y="768"/>
                    </a:lnTo>
                    <a:lnTo>
                      <a:pt x="24" y="730"/>
                    </a:lnTo>
                    <a:lnTo>
                      <a:pt x="13" y="669"/>
                    </a:lnTo>
                    <a:lnTo>
                      <a:pt x="0" y="552"/>
                    </a:lnTo>
                    <a:lnTo>
                      <a:pt x="10" y="408"/>
                    </a:lnTo>
                    <a:lnTo>
                      <a:pt x="41" y="258"/>
                    </a:lnTo>
                    <a:lnTo>
                      <a:pt x="61" y="150"/>
                    </a:lnTo>
                    <a:lnTo>
                      <a:pt x="75" y="61"/>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523" name="Freeform 13"/>
              <p:cNvSpPr/>
              <p:nvPr/>
            </p:nvSpPr>
            <p:spPr bwMode="auto">
              <a:xfrm>
                <a:off x="3403" y="2327"/>
                <a:ext cx="205" cy="1043"/>
              </a:xfrm>
              <a:custGeom>
                <a:avLst/>
                <a:gdLst>
                  <a:gd name="T0" fmla="*/ 99 w 205"/>
                  <a:gd name="T1" fmla="*/ 185 h 1043"/>
                  <a:gd name="T2" fmla="*/ 71 w 205"/>
                  <a:gd name="T3" fmla="*/ 116 h 1043"/>
                  <a:gd name="T4" fmla="*/ 71 w 205"/>
                  <a:gd name="T5" fmla="*/ 41 h 1043"/>
                  <a:gd name="T6" fmla="*/ 109 w 205"/>
                  <a:gd name="T7" fmla="*/ 0 h 1043"/>
                  <a:gd name="T8" fmla="*/ 153 w 205"/>
                  <a:gd name="T9" fmla="*/ 20 h 1043"/>
                  <a:gd name="T10" fmla="*/ 184 w 205"/>
                  <a:gd name="T11" fmla="*/ 92 h 1043"/>
                  <a:gd name="T12" fmla="*/ 201 w 205"/>
                  <a:gd name="T13" fmla="*/ 216 h 1043"/>
                  <a:gd name="T14" fmla="*/ 205 w 205"/>
                  <a:gd name="T15" fmla="*/ 370 h 1043"/>
                  <a:gd name="T16" fmla="*/ 194 w 205"/>
                  <a:gd name="T17" fmla="*/ 504 h 1043"/>
                  <a:gd name="T18" fmla="*/ 174 w 205"/>
                  <a:gd name="T19" fmla="*/ 648 h 1043"/>
                  <a:gd name="T20" fmla="*/ 174 w 205"/>
                  <a:gd name="T21" fmla="*/ 823 h 1043"/>
                  <a:gd name="T22" fmla="*/ 201 w 205"/>
                  <a:gd name="T23" fmla="*/ 895 h 1043"/>
                  <a:gd name="T24" fmla="*/ 191 w 205"/>
                  <a:gd name="T25" fmla="*/ 929 h 1043"/>
                  <a:gd name="T26" fmla="*/ 143 w 205"/>
                  <a:gd name="T27" fmla="*/ 940 h 1043"/>
                  <a:gd name="T28" fmla="*/ 92 w 205"/>
                  <a:gd name="T29" fmla="*/ 988 h 1043"/>
                  <a:gd name="T30" fmla="*/ 68 w 205"/>
                  <a:gd name="T31" fmla="*/ 1029 h 1043"/>
                  <a:gd name="T32" fmla="*/ 10 w 205"/>
                  <a:gd name="T33" fmla="*/ 1043 h 1043"/>
                  <a:gd name="T34" fmla="*/ 0 w 205"/>
                  <a:gd name="T35" fmla="*/ 998 h 1043"/>
                  <a:gd name="T36" fmla="*/ 20 w 205"/>
                  <a:gd name="T37" fmla="*/ 960 h 1043"/>
                  <a:gd name="T38" fmla="*/ 92 w 205"/>
                  <a:gd name="T39" fmla="*/ 929 h 1043"/>
                  <a:gd name="T40" fmla="*/ 143 w 205"/>
                  <a:gd name="T41" fmla="*/ 906 h 1043"/>
                  <a:gd name="T42" fmla="*/ 160 w 205"/>
                  <a:gd name="T43" fmla="*/ 885 h 1043"/>
                  <a:gd name="T44" fmla="*/ 140 w 205"/>
                  <a:gd name="T45" fmla="*/ 827 h 1043"/>
                  <a:gd name="T46" fmla="*/ 123 w 205"/>
                  <a:gd name="T47" fmla="*/ 709 h 1043"/>
                  <a:gd name="T48" fmla="*/ 119 w 205"/>
                  <a:gd name="T49" fmla="*/ 569 h 1043"/>
                  <a:gd name="T50" fmla="*/ 123 w 205"/>
                  <a:gd name="T51" fmla="*/ 476 h 1043"/>
                  <a:gd name="T52" fmla="*/ 129 w 205"/>
                  <a:gd name="T53" fmla="*/ 350 h 1043"/>
                  <a:gd name="T54" fmla="*/ 119 w 205"/>
                  <a:gd name="T55" fmla="*/ 237 h 1043"/>
                  <a:gd name="T56" fmla="*/ 99 w 205"/>
                  <a:gd name="T57" fmla="*/ 185 h 104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05" h="1043">
                    <a:moveTo>
                      <a:pt x="99" y="185"/>
                    </a:moveTo>
                    <a:lnTo>
                      <a:pt x="71" y="116"/>
                    </a:lnTo>
                    <a:lnTo>
                      <a:pt x="71" y="41"/>
                    </a:lnTo>
                    <a:lnTo>
                      <a:pt x="109" y="0"/>
                    </a:lnTo>
                    <a:lnTo>
                      <a:pt x="153" y="20"/>
                    </a:lnTo>
                    <a:lnTo>
                      <a:pt x="184" y="92"/>
                    </a:lnTo>
                    <a:lnTo>
                      <a:pt x="201" y="216"/>
                    </a:lnTo>
                    <a:lnTo>
                      <a:pt x="205" y="370"/>
                    </a:lnTo>
                    <a:lnTo>
                      <a:pt x="194" y="504"/>
                    </a:lnTo>
                    <a:lnTo>
                      <a:pt x="174" y="648"/>
                    </a:lnTo>
                    <a:lnTo>
                      <a:pt x="174" y="823"/>
                    </a:lnTo>
                    <a:lnTo>
                      <a:pt x="201" y="895"/>
                    </a:lnTo>
                    <a:lnTo>
                      <a:pt x="191" y="929"/>
                    </a:lnTo>
                    <a:lnTo>
                      <a:pt x="143" y="940"/>
                    </a:lnTo>
                    <a:lnTo>
                      <a:pt x="92" y="988"/>
                    </a:lnTo>
                    <a:lnTo>
                      <a:pt x="68" y="1029"/>
                    </a:lnTo>
                    <a:lnTo>
                      <a:pt x="10" y="1043"/>
                    </a:lnTo>
                    <a:lnTo>
                      <a:pt x="0" y="998"/>
                    </a:lnTo>
                    <a:lnTo>
                      <a:pt x="20" y="960"/>
                    </a:lnTo>
                    <a:lnTo>
                      <a:pt x="92" y="929"/>
                    </a:lnTo>
                    <a:lnTo>
                      <a:pt x="143" y="906"/>
                    </a:lnTo>
                    <a:lnTo>
                      <a:pt x="160" y="885"/>
                    </a:lnTo>
                    <a:lnTo>
                      <a:pt x="140" y="827"/>
                    </a:lnTo>
                    <a:lnTo>
                      <a:pt x="123" y="709"/>
                    </a:lnTo>
                    <a:lnTo>
                      <a:pt x="119" y="569"/>
                    </a:lnTo>
                    <a:lnTo>
                      <a:pt x="123" y="476"/>
                    </a:lnTo>
                    <a:lnTo>
                      <a:pt x="129" y="350"/>
                    </a:lnTo>
                    <a:lnTo>
                      <a:pt x="119" y="237"/>
                    </a:lnTo>
                    <a:lnTo>
                      <a:pt x="99" y="185"/>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524" name="Freeform 14"/>
              <p:cNvSpPr/>
              <p:nvPr/>
            </p:nvSpPr>
            <p:spPr bwMode="auto">
              <a:xfrm>
                <a:off x="3115" y="2329"/>
                <a:ext cx="320" cy="1040"/>
              </a:xfrm>
              <a:custGeom>
                <a:avLst/>
                <a:gdLst>
                  <a:gd name="T0" fmla="*/ 197 w 320"/>
                  <a:gd name="T1" fmla="*/ 96 h 1040"/>
                  <a:gd name="T2" fmla="*/ 231 w 320"/>
                  <a:gd name="T3" fmla="*/ 31 h 1040"/>
                  <a:gd name="T4" fmla="*/ 272 w 320"/>
                  <a:gd name="T5" fmla="*/ 0 h 1040"/>
                  <a:gd name="T6" fmla="*/ 320 w 320"/>
                  <a:gd name="T7" fmla="*/ 20 h 1040"/>
                  <a:gd name="T8" fmla="*/ 313 w 320"/>
                  <a:gd name="T9" fmla="*/ 82 h 1040"/>
                  <a:gd name="T10" fmla="*/ 282 w 320"/>
                  <a:gd name="T11" fmla="*/ 126 h 1040"/>
                  <a:gd name="T12" fmla="*/ 221 w 320"/>
                  <a:gd name="T13" fmla="*/ 237 h 1040"/>
                  <a:gd name="T14" fmla="*/ 180 w 320"/>
                  <a:gd name="T15" fmla="*/ 343 h 1040"/>
                  <a:gd name="T16" fmla="*/ 156 w 320"/>
                  <a:gd name="T17" fmla="*/ 456 h 1040"/>
                  <a:gd name="T18" fmla="*/ 159 w 320"/>
                  <a:gd name="T19" fmla="*/ 566 h 1040"/>
                  <a:gd name="T20" fmla="*/ 197 w 320"/>
                  <a:gd name="T21" fmla="*/ 713 h 1040"/>
                  <a:gd name="T22" fmla="*/ 228 w 320"/>
                  <a:gd name="T23" fmla="*/ 855 h 1040"/>
                  <a:gd name="T24" fmla="*/ 272 w 320"/>
                  <a:gd name="T25" fmla="*/ 916 h 1040"/>
                  <a:gd name="T26" fmla="*/ 269 w 320"/>
                  <a:gd name="T27" fmla="*/ 951 h 1040"/>
                  <a:gd name="T28" fmla="*/ 231 w 320"/>
                  <a:gd name="T29" fmla="*/ 968 h 1040"/>
                  <a:gd name="T30" fmla="*/ 145 w 320"/>
                  <a:gd name="T31" fmla="*/ 981 h 1040"/>
                  <a:gd name="T32" fmla="*/ 84 w 320"/>
                  <a:gd name="T33" fmla="*/ 1019 h 1040"/>
                  <a:gd name="T34" fmla="*/ 52 w 320"/>
                  <a:gd name="T35" fmla="*/ 1040 h 1040"/>
                  <a:gd name="T36" fmla="*/ 0 w 320"/>
                  <a:gd name="T37" fmla="*/ 992 h 1040"/>
                  <a:gd name="T38" fmla="*/ 11 w 320"/>
                  <a:gd name="T39" fmla="*/ 961 h 1040"/>
                  <a:gd name="T40" fmla="*/ 62 w 320"/>
                  <a:gd name="T41" fmla="*/ 940 h 1040"/>
                  <a:gd name="T42" fmla="*/ 128 w 320"/>
                  <a:gd name="T43" fmla="*/ 930 h 1040"/>
                  <a:gd name="T44" fmla="*/ 190 w 320"/>
                  <a:gd name="T45" fmla="*/ 930 h 1040"/>
                  <a:gd name="T46" fmla="*/ 200 w 320"/>
                  <a:gd name="T47" fmla="*/ 910 h 1040"/>
                  <a:gd name="T48" fmla="*/ 190 w 320"/>
                  <a:gd name="T49" fmla="*/ 875 h 1040"/>
                  <a:gd name="T50" fmla="*/ 138 w 320"/>
                  <a:gd name="T51" fmla="*/ 741 h 1040"/>
                  <a:gd name="T52" fmla="*/ 104 w 320"/>
                  <a:gd name="T53" fmla="*/ 610 h 1040"/>
                  <a:gd name="T54" fmla="*/ 87 w 320"/>
                  <a:gd name="T55" fmla="*/ 515 h 1040"/>
                  <a:gd name="T56" fmla="*/ 84 w 320"/>
                  <a:gd name="T57" fmla="*/ 426 h 1040"/>
                  <a:gd name="T58" fmla="*/ 97 w 320"/>
                  <a:gd name="T59" fmla="*/ 340 h 1040"/>
                  <a:gd name="T60" fmla="*/ 128 w 320"/>
                  <a:gd name="T61" fmla="*/ 251 h 1040"/>
                  <a:gd name="T62" fmla="*/ 176 w 320"/>
                  <a:gd name="T63" fmla="*/ 133 h 1040"/>
                  <a:gd name="T64" fmla="*/ 197 w 320"/>
                  <a:gd name="T65" fmla="*/ 96 h 10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20" h="1040">
                    <a:moveTo>
                      <a:pt x="197" y="96"/>
                    </a:moveTo>
                    <a:lnTo>
                      <a:pt x="231" y="31"/>
                    </a:lnTo>
                    <a:lnTo>
                      <a:pt x="272" y="0"/>
                    </a:lnTo>
                    <a:lnTo>
                      <a:pt x="320" y="20"/>
                    </a:lnTo>
                    <a:lnTo>
                      <a:pt x="313" y="82"/>
                    </a:lnTo>
                    <a:lnTo>
                      <a:pt x="282" y="126"/>
                    </a:lnTo>
                    <a:lnTo>
                      <a:pt x="221" y="237"/>
                    </a:lnTo>
                    <a:lnTo>
                      <a:pt x="180" y="343"/>
                    </a:lnTo>
                    <a:lnTo>
                      <a:pt x="156" y="456"/>
                    </a:lnTo>
                    <a:lnTo>
                      <a:pt x="159" y="566"/>
                    </a:lnTo>
                    <a:lnTo>
                      <a:pt x="197" y="713"/>
                    </a:lnTo>
                    <a:lnTo>
                      <a:pt x="228" y="855"/>
                    </a:lnTo>
                    <a:lnTo>
                      <a:pt x="272" y="916"/>
                    </a:lnTo>
                    <a:lnTo>
                      <a:pt x="269" y="951"/>
                    </a:lnTo>
                    <a:lnTo>
                      <a:pt x="231" y="968"/>
                    </a:lnTo>
                    <a:lnTo>
                      <a:pt x="145" y="981"/>
                    </a:lnTo>
                    <a:lnTo>
                      <a:pt x="84" y="1019"/>
                    </a:lnTo>
                    <a:lnTo>
                      <a:pt x="52" y="1040"/>
                    </a:lnTo>
                    <a:lnTo>
                      <a:pt x="0" y="992"/>
                    </a:lnTo>
                    <a:lnTo>
                      <a:pt x="11" y="961"/>
                    </a:lnTo>
                    <a:lnTo>
                      <a:pt x="62" y="940"/>
                    </a:lnTo>
                    <a:lnTo>
                      <a:pt x="128" y="930"/>
                    </a:lnTo>
                    <a:lnTo>
                      <a:pt x="190" y="930"/>
                    </a:lnTo>
                    <a:lnTo>
                      <a:pt x="200" y="910"/>
                    </a:lnTo>
                    <a:lnTo>
                      <a:pt x="190" y="875"/>
                    </a:lnTo>
                    <a:lnTo>
                      <a:pt x="138" y="741"/>
                    </a:lnTo>
                    <a:lnTo>
                      <a:pt x="104" y="610"/>
                    </a:lnTo>
                    <a:lnTo>
                      <a:pt x="87" y="515"/>
                    </a:lnTo>
                    <a:lnTo>
                      <a:pt x="84" y="426"/>
                    </a:lnTo>
                    <a:lnTo>
                      <a:pt x="97" y="340"/>
                    </a:lnTo>
                    <a:lnTo>
                      <a:pt x="128" y="251"/>
                    </a:lnTo>
                    <a:lnTo>
                      <a:pt x="176" y="133"/>
                    </a:lnTo>
                    <a:lnTo>
                      <a:pt x="197" y="96"/>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525" name="Freeform 15"/>
              <p:cNvSpPr/>
              <p:nvPr/>
            </p:nvSpPr>
            <p:spPr bwMode="auto">
              <a:xfrm>
                <a:off x="3176" y="1033"/>
                <a:ext cx="412" cy="543"/>
              </a:xfrm>
              <a:custGeom>
                <a:avLst/>
                <a:gdLst>
                  <a:gd name="T0" fmla="*/ 151 w 412"/>
                  <a:gd name="T1" fmla="*/ 454 h 543"/>
                  <a:gd name="T2" fmla="*/ 182 w 412"/>
                  <a:gd name="T3" fmla="*/ 522 h 543"/>
                  <a:gd name="T4" fmla="*/ 254 w 412"/>
                  <a:gd name="T5" fmla="*/ 543 h 543"/>
                  <a:gd name="T6" fmla="*/ 316 w 412"/>
                  <a:gd name="T7" fmla="*/ 536 h 543"/>
                  <a:gd name="T8" fmla="*/ 367 w 412"/>
                  <a:gd name="T9" fmla="*/ 492 h 543"/>
                  <a:gd name="T10" fmla="*/ 408 w 412"/>
                  <a:gd name="T11" fmla="*/ 402 h 543"/>
                  <a:gd name="T12" fmla="*/ 412 w 412"/>
                  <a:gd name="T13" fmla="*/ 296 h 543"/>
                  <a:gd name="T14" fmla="*/ 398 w 412"/>
                  <a:gd name="T15" fmla="*/ 203 h 543"/>
                  <a:gd name="T16" fmla="*/ 340 w 412"/>
                  <a:gd name="T17" fmla="*/ 99 h 543"/>
                  <a:gd name="T18" fmla="*/ 298 w 412"/>
                  <a:gd name="T19" fmla="*/ 51 h 543"/>
                  <a:gd name="T20" fmla="*/ 254 w 412"/>
                  <a:gd name="T21" fmla="*/ 21 h 543"/>
                  <a:gd name="T22" fmla="*/ 213 w 412"/>
                  <a:gd name="T23" fmla="*/ 0 h 543"/>
                  <a:gd name="T24" fmla="*/ 141 w 412"/>
                  <a:gd name="T25" fmla="*/ 7 h 543"/>
                  <a:gd name="T26" fmla="*/ 103 w 412"/>
                  <a:gd name="T27" fmla="*/ 69 h 543"/>
                  <a:gd name="T28" fmla="*/ 83 w 412"/>
                  <a:gd name="T29" fmla="*/ 134 h 543"/>
                  <a:gd name="T30" fmla="*/ 83 w 412"/>
                  <a:gd name="T31" fmla="*/ 238 h 543"/>
                  <a:gd name="T32" fmla="*/ 100 w 412"/>
                  <a:gd name="T33" fmla="*/ 337 h 543"/>
                  <a:gd name="T34" fmla="*/ 120 w 412"/>
                  <a:gd name="T35" fmla="*/ 392 h 543"/>
                  <a:gd name="T36" fmla="*/ 6 w 412"/>
                  <a:gd name="T37" fmla="*/ 474 h 543"/>
                  <a:gd name="T38" fmla="*/ 0 w 412"/>
                  <a:gd name="T39" fmla="*/ 505 h 543"/>
                  <a:gd name="T40" fmla="*/ 17 w 412"/>
                  <a:gd name="T41" fmla="*/ 522 h 543"/>
                  <a:gd name="T42" fmla="*/ 141 w 412"/>
                  <a:gd name="T43" fmla="*/ 430 h 543"/>
                  <a:gd name="T44" fmla="*/ 151 w 412"/>
                  <a:gd name="T45" fmla="*/ 454 h 54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12" h="543">
                    <a:moveTo>
                      <a:pt x="151" y="454"/>
                    </a:moveTo>
                    <a:lnTo>
                      <a:pt x="182" y="522"/>
                    </a:lnTo>
                    <a:lnTo>
                      <a:pt x="254" y="543"/>
                    </a:lnTo>
                    <a:lnTo>
                      <a:pt x="316" y="536"/>
                    </a:lnTo>
                    <a:lnTo>
                      <a:pt x="367" y="492"/>
                    </a:lnTo>
                    <a:lnTo>
                      <a:pt x="408" y="402"/>
                    </a:lnTo>
                    <a:lnTo>
                      <a:pt x="412" y="296"/>
                    </a:lnTo>
                    <a:lnTo>
                      <a:pt x="398" y="203"/>
                    </a:lnTo>
                    <a:lnTo>
                      <a:pt x="340" y="99"/>
                    </a:lnTo>
                    <a:lnTo>
                      <a:pt x="298" y="51"/>
                    </a:lnTo>
                    <a:lnTo>
                      <a:pt x="254" y="21"/>
                    </a:lnTo>
                    <a:lnTo>
                      <a:pt x="213" y="0"/>
                    </a:lnTo>
                    <a:lnTo>
                      <a:pt x="141" y="7"/>
                    </a:lnTo>
                    <a:lnTo>
                      <a:pt x="103" y="69"/>
                    </a:lnTo>
                    <a:lnTo>
                      <a:pt x="83" y="134"/>
                    </a:lnTo>
                    <a:lnTo>
                      <a:pt x="83" y="238"/>
                    </a:lnTo>
                    <a:lnTo>
                      <a:pt x="100" y="337"/>
                    </a:lnTo>
                    <a:lnTo>
                      <a:pt x="120" y="392"/>
                    </a:lnTo>
                    <a:lnTo>
                      <a:pt x="6" y="474"/>
                    </a:lnTo>
                    <a:lnTo>
                      <a:pt x="0" y="505"/>
                    </a:lnTo>
                    <a:lnTo>
                      <a:pt x="17" y="522"/>
                    </a:lnTo>
                    <a:lnTo>
                      <a:pt x="141" y="430"/>
                    </a:lnTo>
                    <a:lnTo>
                      <a:pt x="151" y="454"/>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526" name="Freeform 16"/>
              <p:cNvSpPr/>
              <p:nvPr/>
            </p:nvSpPr>
            <p:spPr bwMode="auto">
              <a:xfrm>
                <a:off x="3327" y="918"/>
                <a:ext cx="819" cy="908"/>
              </a:xfrm>
              <a:custGeom>
                <a:avLst/>
                <a:gdLst>
                  <a:gd name="T0" fmla="*/ 545 w 819"/>
                  <a:gd name="T1" fmla="*/ 628 h 908"/>
                  <a:gd name="T2" fmla="*/ 504 w 819"/>
                  <a:gd name="T3" fmla="*/ 669 h 908"/>
                  <a:gd name="T4" fmla="*/ 417 w 819"/>
                  <a:gd name="T5" fmla="*/ 720 h 908"/>
                  <a:gd name="T6" fmla="*/ 339 w 819"/>
                  <a:gd name="T7" fmla="*/ 751 h 908"/>
                  <a:gd name="T8" fmla="*/ 284 w 819"/>
                  <a:gd name="T9" fmla="*/ 782 h 908"/>
                  <a:gd name="T10" fmla="*/ 232 w 819"/>
                  <a:gd name="T11" fmla="*/ 823 h 908"/>
                  <a:gd name="T12" fmla="*/ 226 w 819"/>
                  <a:gd name="T13" fmla="*/ 895 h 908"/>
                  <a:gd name="T14" fmla="*/ 277 w 819"/>
                  <a:gd name="T15" fmla="*/ 908 h 908"/>
                  <a:gd name="T16" fmla="*/ 407 w 819"/>
                  <a:gd name="T17" fmla="*/ 833 h 908"/>
                  <a:gd name="T18" fmla="*/ 504 w 819"/>
                  <a:gd name="T19" fmla="*/ 744 h 908"/>
                  <a:gd name="T20" fmla="*/ 617 w 819"/>
                  <a:gd name="T21" fmla="*/ 631 h 908"/>
                  <a:gd name="T22" fmla="*/ 709 w 819"/>
                  <a:gd name="T23" fmla="*/ 559 h 908"/>
                  <a:gd name="T24" fmla="*/ 788 w 819"/>
                  <a:gd name="T25" fmla="*/ 504 h 908"/>
                  <a:gd name="T26" fmla="*/ 819 w 819"/>
                  <a:gd name="T27" fmla="*/ 477 h 908"/>
                  <a:gd name="T28" fmla="*/ 808 w 819"/>
                  <a:gd name="T29" fmla="*/ 443 h 908"/>
                  <a:gd name="T30" fmla="*/ 771 w 819"/>
                  <a:gd name="T31" fmla="*/ 395 h 908"/>
                  <a:gd name="T32" fmla="*/ 634 w 819"/>
                  <a:gd name="T33" fmla="*/ 320 h 908"/>
                  <a:gd name="T34" fmla="*/ 504 w 819"/>
                  <a:gd name="T35" fmla="*/ 250 h 908"/>
                  <a:gd name="T36" fmla="*/ 345 w 819"/>
                  <a:gd name="T37" fmla="*/ 178 h 908"/>
                  <a:gd name="T38" fmla="*/ 287 w 819"/>
                  <a:gd name="T39" fmla="*/ 137 h 908"/>
                  <a:gd name="T40" fmla="*/ 226 w 819"/>
                  <a:gd name="T41" fmla="*/ 82 h 908"/>
                  <a:gd name="T42" fmla="*/ 164 w 819"/>
                  <a:gd name="T43" fmla="*/ 21 h 908"/>
                  <a:gd name="T44" fmla="*/ 109 w 819"/>
                  <a:gd name="T45" fmla="*/ 0 h 908"/>
                  <a:gd name="T46" fmla="*/ 0 w 819"/>
                  <a:gd name="T47" fmla="*/ 76 h 908"/>
                  <a:gd name="T48" fmla="*/ 7 w 819"/>
                  <a:gd name="T49" fmla="*/ 147 h 908"/>
                  <a:gd name="T50" fmla="*/ 27 w 819"/>
                  <a:gd name="T51" fmla="*/ 175 h 908"/>
                  <a:gd name="T52" fmla="*/ 82 w 819"/>
                  <a:gd name="T53" fmla="*/ 164 h 908"/>
                  <a:gd name="T54" fmla="*/ 72 w 819"/>
                  <a:gd name="T55" fmla="*/ 134 h 908"/>
                  <a:gd name="T56" fmla="*/ 51 w 819"/>
                  <a:gd name="T57" fmla="*/ 123 h 908"/>
                  <a:gd name="T58" fmla="*/ 41 w 819"/>
                  <a:gd name="T59" fmla="*/ 86 h 908"/>
                  <a:gd name="T60" fmla="*/ 102 w 819"/>
                  <a:gd name="T61" fmla="*/ 45 h 908"/>
                  <a:gd name="T62" fmla="*/ 154 w 819"/>
                  <a:gd name="T63" fmla="*/ 86 h 908"/>
                  <a:gd name="T64" fmla="*/ 154 w 819"/>
                  <a:gd name="T65" fmla="*/ 123 h 908"/>
                  <a:gd name="T66" fmla="*/ 133 w 819"/>
                  <a:gd name="T67" fmla="*/ 168 h 908"/>
                  <a:gd name="T68" fmla="*/ 150 w 819"/>
                  <a:gd name="T69" fmla="*/ 199 h 908"/>
                  <a:gd name="T70" fmla="*/ 253 w 819"/>
                  <a:gd name="T71" fmla="*/ 226 h 908"/>
                  <a:gd name="T72" fmla="*/ 294 w 819"/>
                  <a:gd name="T73" fmla="*/ 188 h 908"/>
                  <a:gd name="T74" fmla="*/ 431 w 819"/>
                  <a:gd name="T75" fmla="*/ 271 h 908"/>
                  <a:gd name="T76" fmla="*/ 545 w 819"/>
                  <a:gd name="T77" fmla="*/ 323 h 908"/>
                  <a:gd name="T78" fmla="*/ 607 w 819"/>
                  <a:gd name="T79" fmla="*/ 354 h 908"/>
                  <a:gd name="T80" fmla="*/ 668 w 819"/>
                  <a:gd name="T81" fmla="*/ 385 h 908"/>
                  <a:gd name="T82" fmla="*/ 716 w 819"/>
                  <a:gd name="T83" fmla="*/ 426 h 908"/>
                  <a:gd name="T84" fmla="*/ 747 w 819"/>
                  <a:gd name="T85" fmla="*/ 467 h 908"/>
                  <a:gd name="T86" fmla="*/ 719 w 819"/>
                  <a:gd name="T87" fmla="*/ 497 h 908"/>
                  <a:gd name="T88" fmla="*/ 654 w 819"/>
                  <a:gd name="T89" fmla="*/ 539 h 908"/>
                  <a:gd name="T90" fmla="*/ 586 w 819"/>
                  <a:gd name="T91" fmla="*/ 586 h 908"/>
                  <a:gd name="T92" fmla="*/ 545 w 819"/>
                  <a:gd name="T93" fmla="*/ 628 h 90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819" h="908">
                    <a:moveTo>
                      <a:pt x="545" y="628"/>
                    </a:moveTo>
                    <a:lnTo>
                      <a:pt x="504" y="669"/>
                    </a:lnTo>
                    <a:lnTo>
                      <a:pt x="417" y="720"/>
                    </a:lnTo>
                    <a:lnTo>
                      <a:pt x="339" y="751"/>
                    </a:lnTo>
                    <a:lnTo>
                      <a:pt x="284" y="782"/>
                    </a:lnTo>
                    <a:lnTo>
                      <a:pt x="232" y="823"/>
                    </a:lnTo>
                    <a:lnTo>
                      <a:pt x="226" y="895"/>
                    </a:lnTo>
                    <a:lnTo>
                      <a:pt x="277" y="908"/>
                    </a:lnTo>
                    <a:lnTo>
                      <a:pt x="407" y="833"/>
                    </a:lnTo>
                    <a:lnTo>
                      <a:pt x="504" y="744"/>
                    </a:lnTo>
                    <a:lnTo>
                      <a:pt x="617" y="631"/>
                    </a:lnTo>
                    <a:lnTo>
                      <a:pt x="709" y="559"/>
                    </a:lnTo>
                    <a:lnTo>
                      <a:pt x="788" y="504"/>
                    </a:lnTo>
                    <a:lnTo>
                      <a:pt x="819" y="477"/>
                    </a:lnTo>
                    <a:lnTo>
                      <a:pt x="808" y="443"/>
                    </a:lnTo>
                    <a:lnTo>
                      <a:pt x="771" y="395"/>
                    </a:lnTo>
                    <a:lnTo>
                      <a:pt x="634" y="320"/>
                    </a:lnTo>
                    <a:lnTo>
                      <a:pt x="504" y="250"/>
                    </a:lnTo>
                    <a:lnTo>
                      <a:pt x="345" y="178"/>
                    </a:lnTo>
                    <a:lnTo>
                      <a:pt x="287" y="137"/>
                    </a:lnTo>
                    <a:lnTo>
                      <a:pt x="226" y="82"/>
                    </a:lnTo>
                    <a:lnTo>
                      <a:pt x="164" y="21"/>
                    </a:lnTo>
                    <a:lnTo>
                      <a:pt x="109" y="0"/>
                    </a:lnTo>
                    <a:lnTo>
                      <a:pt x="0" y="76"/>
                    </a:lnTo>
                    <a:lnTo>
                      <a:pt x="7" y="147"/>
                    </a:lnTo>
                    <a:lnTo>
                      <a:pt x="27" y="175"/>
                    </a:lnTo>
                    <a:lnTo>
                      <a:pt x="82" y="164"/>
                    </a:lnTo>
                    <a:lnTo>
                      <a:pt x="72" y="134"/>
                    </a:lnTo>
                    <a:lnTo>
                      <a:pt x="51" y="123"/>
                    </a:lnTo>
                    <a:lnTo>
                      <a:pt x="41" y="86"/>
                    </a:lnTo>
                    <a:lnTo>
                      <a:pt x="102" y="45"/>
                    </a:lnTo>
                    <a:lnTo>
                      <a:pt x="154" y="86"/>
                    </a:lnTo>
                    <a:lnTo>
                      <a:pt x="154" y="123"/>
                    </a:lnTo>
                    <a:lnTo>
                      <a:pt x="133" y="168"/>
                    </a:lnTo>
                    <a:lnTo>
                      <a:pt x="150" y="199"/>
                    </a:lnTo>
                    <a:lnTo>
                      <a:pt x="253" y="226"/>
                    </a:lnTo>
                    <a:lnTo>
                      <a:pt x="294" y="188"/>
                    </a:lnTo>
                    <a:lnTo>
                      <a:pt x="431" y="271"/>
                    </a:lnTo>
                    <a:lnTo>
                      <a:pt x="545" y="323"/>
                    </a:lnTo>
                    <a:lnTo>
                      <a:pt x="607" y="354"/>
                    </a:lnTo>
                    <a:lnTo>
                      <a:pt x="668" y="385"/>
                    </a:lnTo>
                    <a:lnTo>
                      <a:pt x="716" y="426"/>
                    </a:lnTo>
                    <a:lnTo>
                      <a:pt x="747" y="467"/>
                    </a:lnTo>
                    <a:lnTo>
                      <a:pt x="719" y="497"/>
                    </a:lnTo>
                    <a:lnTo>
                      <a:pt x="654" y="539"/>
                    </a:lnTo>
                    <a:lnTo>
                      <a:pt x="586" y="586"/>
                    </a:lnTo>
                    <a:lnTo>
                      <a:pt x="545" y="628"/>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21520" name="Text Box 17"/>
            <p:cNvSpPr txBox="1">
              <a:spLocks noChangeArrowheads="1"/>
            </p:cNvSpPr>
            <p:nvPr/>
          </p:nvSpPr>
          <p:spPr bwMode="auto">
            <a:xfrm>
              <a:off x="3613" y="413"/>
              <a:ext cx="108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思考并回答</a:t>
              </a:r>
              <a:endParaRPr lang="zh-CN" altLang="en-US" b="1">
                <a:solidFill>
                  <a:srgbClr val="FF3300"/>
                </a:solidFill>
              </a:endParaRPr>
            </a:p>
          </p:txBody>
        </p:sp>
      </p:grpSp>
      <p:sp>
        <p:nvSpPr>
          <p:cNvPr id="22546" name="Text Box 18"/>
          <p:cNvSpPr txBox="1">
            <a:spLocks noChangeArrowheads="1"/>
          </p:cNvSpPr>
          <p:nvPr/>
        </p:nvSpPr>
        <p:spPr bwMode="auto">
          <a:xfrm>
            <a:off x="3492500" y="1447800"/>
            <a:ext cx="16557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sym typeface="Symbol" panose="05050102010706020507" pitchFamily="18" charset="2"/>
              </a:rPr>
              <a:t></a:t>
            </a:r>
            <a:r>
              <a:rPr lang="en-US" altLang="zh-CN" sz="2800" b="1" i="1">
                <a:latin typeface="ISOCPEUR" panose="020B0604020202020204" pitchFamily="34" charset="0"/>
              </a:rPr>
              <a:t>60.015mm</a:t>
            </a:r>
            <a:endParaRPr lang="en-US" altLang="zh-CN" sz="2800" b="1">
              <a:latin typeface="ISOCPEUR" panose="020B0604020202020204" pitchFamily="34" charset="0"/>
            </a:endParaRPr>
          </a:p>
        </p:txBody>
      </p:sp>
      <p:sp>
        <p:nvSpPr>
          <p:cNvPr id="22547" name="Text Box 19"/>
          <p:cNvSpPr txBox="1">
            <a:spLocks noChangeArrowheads="1"/>
          </p:cNvSpPr>
          <p:nvPr/>
        </p:nvSpPr>
        <p:spPr bwMode="auto">
          <a:xfrm>
            <a:off x="3486150" y="1976438"/>
            <a:ext cx="17033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sym typeface="Symbol" panose="05050102010706020507" pitchFamily="18" charset="2"/>
              </a:rPr>
              <a:t></a:t>
            </a:r>
            <a:r>
              <a:rPr lang="en-US" altLang="zh-CN" sz="2800" b="1" i="1">
                <a:latin typeface="ISOCPEUR" panose="020B0604020202020204" pitchFamily="34" charset="0"/>
              </a:rPr>
              <a:t>59.985mm</a:t>
            </a:r>
            <a:endParaRPr lang="en-US" altLang="zh-CN" sz="2800" b="1">
              <a:latin typeface="ISOCPEUR" panose="020B0604020202020204" pitchFamily="34" charset="0"/>
            </a:endParaRPr>
          </a:p>
        </p:txBody>
      </p:sp>
      <p:sp>
        <p:nvSpPr>
          <p:cNvPr id="22548" name="Text Box 20"/>
          <p:cNvSpPr txBox="1">
            <a:spLocks noChangeArrowheads="1"/>
          </p:cNvSpPr>
          <p:nvPr/>
        </p:nvSpPr>
        <p:spPr bwMode="auto">
          <a:xfrm>
            <a:off x="984250" y="3735388"/>
            <a:ext cx="47894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上偏差 </a:t>
            </a:r>
            <a:r>
              <a:rPr lang="en-US" altLang="zh-CN" sz="2800" b="1"/>
              <a:t>= </a:t>
            </a:r>
            <a:r>
              <a:rPr lang="en-US" altLang="zh-CN" sz="2800" b="1" i="1">
                <a:latin typeface="ISOCPEUR" panose="020B0604020202020204" pitchFamily="34" charset="0"/>
              </a:rPr>
              <a:t>60.015</a:t>
            </a:r>
            <a:r>
              <a:rPr lang="en-US" altLang="zh-CN" sz="2800" b="1"/>
              <a:t>-</a:t>
            </a:r>
            <a:r>
              <a:rPr lang="en-US" altLang="zh-CN" sz="2800" b="1" i="1">
                <a:latin typeface="ISOCPEUR" panose="020B0604020202020204" pitchFamily="34" charset="0"/>
              </a:rPr>
              <a:t>60</a:t>
            </a:r>
            <a:r>
              <a:rPr lang="en-US" altLang="zh-CN" sz="2800" b="1"/>
              <a:t> = +</a:t>
            </a:r>
            <a:r>
              <a:rPr lang="en-US" altLang="zh-CN" sz="2800" b="1" i="1">
                <a:latin typeface="ISOCPEUR" panose="020B0604020202020204" pitchFamily="34" charset="0"/>
              </a:rPr>
              <a:t>0.015</a:t>
            </a:r>
            <a:endParaRPr lang="en-US" altLang="zh-CN" sz="2800" b="1">
              <a:latin typeface="ISOCPEUR" panose="020B0604020202020204" pitchFamily="34" charset="0"/>
            </a:endParaRPr>
          </a:p>
        </p:txBody>
      </p:sp>
      <p:sp>
        <p:nvSpPr>
          <p:cNvPr id="22549" name="Text Box 21"/>
          <p:cNvSpPr txBox="1">
            <a:spLocks noChangeArrowheads="1"/>
          </p:cNvSpPr>
          <p:nvPr/>
        </p:nvSpPr>
        <p:spPr bwMode="auto">
          <a:xfrm>
            <a:off x="984250" y="4322763"/>
            <a:ext cx="47688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下偏差 </a:t>
            </a:r>
            <a:r>
              <a:rPr lang="en-US" altLang="zh-CN" sz="2800" b="1"/>
              <a:t>= </a:t>
            </a:r>
            <a:r>
              <a:rPr lang="en-US" altLang="zh-CN" sz="2800" b="1" i="1">
                <a:latin typeface="ISOCPEUR" panose="020B0604020202020204" pitchFamily="34" charset="0"/>
              </a:rPr>
              <a:t>59.985</a:t>
            </a:r>
            <a:r>
              <a:rPr lang="en-US" altLang="zh-CN" sz="2800" b="1"/>
              <a:t>-</a:t>
            </a:r>
            <a:r>
              <a:rPr lang="en-US" altLang="zh-CN" sz="2800" b="1" i="1">
                <a:latin typeface="ISOCPEUR" panose="020B0604020202020204" pitchFamily="34" charset="0"/>
              </a:rPr>
              <a:t>60</a:t>
            </a:r>
            <a:r>
              <a:rPr lang="en-US" altLang="zh-CN" sz="2800" b="1"/>
              <a:t> = -</a:t>
            </a:r>
            <a:r>
              <a:rPr lang="en-US" altLang="zh-CN" sz="2800" b="1" i="1">
                <a:latin typeface="ISOCPEUR" panose="020B0604020202020204" pitchFamily="34" charset="0"/>
              </a:rPr>
              <a:t>0.015</a:t>
            </a:r>
            <a:endParaRPr lang="en-US" altLang="zh-CN" sz="2800" b="1">
              <a:latin typeface="ISOCPEUR" panose="020B0604020202020204" pitchFamily="34" charset="0"/>
            </a:endParaRPr>
          </a:p>
        </p:txBody>
      </p:sp>
      <p:sp>
        <p:nvSpPr>
          <p:cNvPr id="22550" name="Text Box 22"/>
          <p:cNvSpPr txBox="1">
            <a:spLocks noChangeArrowheads="1"/>
          </p:cNvSpPr>
          <p:nvPr/>
        </p:nvSpPr>
        <p:spPr bwMode="auto">
          <a:xfrm>
            <a:off x="984250" y="4905375"/>
            <a:ext cx="47910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公差 </a:t>
            </a:r>
            <a:r>
              <a:rPr lang="en-US" altLang="zh-CN" sz="2800" b="1"/>
              <a:t>= </a:t>
            </a:r>
            <a:r>
              <a:rPr lang="en-US" altLang="zh-CN" sz="2800" b="1" i="1">
                <a:latin typeface="ISOCPEUR" panose="020B0604020202020204" pitchFamily="34" charset="0"/>
              </a:rPr>
              <a:t>0.015</a:t>
            </a:r>
            <a:r>
              <a:rPr lang="en-US" altLang="zh-CN" sz="2800" b="1"/>
              <a:t>-(-</a:t>
            </a:r>
            <a:r>
              <a:rPr lang="en-US" altLang="zh-CN" sz="2800" b="1" i="1">
                <a:latin typeface="ISOCPEUR" panose="020B0604020202020204" pitchFamily="34" charset="0"/>
              </a:rPr>
              <a:t>0.015</a:t>
            </a:r>
            <a:r>
              <a:rPr lang="en-US" altLang="zh-CN" sz="2800" b="1"/>
              <a:t>) = </a:t>
            </a:r>
            <a:r>
              <a:rPr lang="en-US" altLang="zh-CN" sz="2800" b="1" i="1">
                <a:latin typeface="ISOCPEUR" panose="020B0604020202020204" pitchFamily="34" charset="0"/>
              </a:rPr>
              <a:t>0.030</a:t>
            </a:r>
            <a:endParaRPr lang="en-US" altLang="zh-CN" sz="2800" b="1">
              <a:latin typeface="ISOCPEUR"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22537"/>
                                        </p:tgtEl>
                                        <p:attrNameLst>
                                          <p:attrName>style.visibility</p:attrName>
                                        </p:attrNameLst>
                                      </p:cBhvr>
                                      <p:to>
                                        <p:strVal val="visible"/>
                                      </p:to>
                                    </p:set>
                                    <p:anim calcmode="lin" valueType="num">
                                      <p:cBhvr additive="base">
                                        <p:cTn id="7" dur="500" fill="hold"/>
                                        <p:tgtEl>
                                          <p:spTgt spid="22537"/>
                                        </p:tgtEl>
                                        <p:attrNameLst>
                                          <p:attrName>ppt_x</p:attrName>
                                        </p:attrNameLst>
                                      </p:cBhvr>
                                      <p:tavLst>
                                        <p:tav tm="0">
                                          <p:val>
                                            <p:strVal val="1+#ppt_w/2"/>
                                          </p:val>
                                        </p:tav>
                                        <p:tav tm="100000">
                                          <p:val>
                                            <p:strVal val="#ppt_x"/>
                                          </p:val>
                                        </p:tav>
                                      </p:tavLst>
                                    </p:anim>
                                    <p:anim calcmode="lin" valueType="num">
                                      <p:cBhvr additive="base">
                                        <p:cTn id="8" dur="500" fill="hold"/>
                                        <p:tgtEl>
                                          <p:spTgt spid="2253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iterate type="lt">
                                    <p:tmPct val="100000"/>
                                  </p:iterate>
                                  <p:childTnLst>
                                    <p:set>
                                      <p:cBhvr>
                                        <p:cTn id="12" dur="1" fill="hold">
                                          <p:stCondLst>
                                            <p:cond delay="0"/>
                                          </p:stCondLst>
                                        </p:cTn>
                                        <p:tgtEl>
                                          <p:spTgt spid="22531">
                                            <p:txEl>
                                              <p:pRg st="0" end="0"/>
                                            </p:txEl>
                                          </p:spTgt>
                                        </p:tgtEl>
                                        <p:attrNameLst>
                                          <p:attrName>style.visibility</p:attrName>
                                        </p:attrNameLst>
                                      </p:cBhvr>
                                      <p:to>
                                        <p:strVal val="visible"/>
                                      </p:to>
                                    </p:set>
                                    <p:animEffect transition="in" filter="wipe(up)">
                                      <p:cBhvr>
                                        <p:cTn id="13" dur="75"/>
                                        <p:tgtEl>
                                          <p:spTgt spid="2253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iterate type="lt">
                                    <p:tmPct val="100000"/>
                                  </p:iterate>
                                  <p:childTnLst>
                                    <p:set>
                                      <p:cBhvr>
                                        <p:cTn id="17" dur="1" fill="hold">
                                          <p:stCondLst>
                                            <p:cond delay="0"/>
                                          </p:stCondLst>
                                        </p:cTn>
                                        <p:tgtEl>
                                          <p:spTgt spid="22534">
                                            <p:txEl>
                                              <p:pRg st="0" end="0"/>
                                            </p:txEl>
                                          </p:spTgt>
                                        </p:tgtEl>
                                        <p:attrNameLst>
                                          <p:attrName>style.visibility</p:attrName>
                                        </p:attrNameLst>
                                      </p:cBhvr>
                                      <p:to>
                                        <p:strVal val="visible"/>
                                      </p:to>
                                    </p:set>
                                    <p:animEffect transition="in" filter="wipe(up)">
                                      <p:cBhvr>
                                        <p:cTn id="18" dur="75"/>
                                        <p:tgtEl>
                                          <p:spTgt spid="2253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iterate type="lt">
                                    <p:tmPct val="100000"/>
                                  </p:iterate>
                                  <p:childTnLst>
                                    <p:set>
                                      <p:cBhvr>
                                        <p:cTn id="22" dur="1" fill="hold">
                                          <p:stCondLst>
                                            <p:cond delay="0"/>
                                          </p:stCondLst>
                                        </p:cTn>
                                        <p:tgtEl>
                                          <p:spTgt spid="22532">
                                            <p:txEl>
                                              <p:pRg st="0" end="0"/>
                                            </p:txEl>
                                          </p:spTgt>
                                        </p:tgtEl>
                                        <p:attrNameLst>
                                          <p:attrName>style.visibility</p:attrName>
                                        </p:attrNameLst>
                                      </p:cBhvr>
                                      <p:to>
                                        <p:strVal val="visible"/>
                                      </p:to>
                                    </p:set>
                                    <p:animEffect transition="in" filter="wipe(up)">
                                      <p:cBhvr>
                                        <p:cTn id="23" dur="75"/>
                                        <p:tgtEl>
                                          <p:spTgt spid="2253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iterate type="lt">
                                    <p:tmPct val="100000"/>
                                  </p:iterate>
                                  <p:childTnLst>
                                    <p:set>
                                      <p:cBhvr>
                                        <p:cTn id="27" dur="1" fill="hold">
                                          <p:stCondLst>
                                            <p:cond delay="0"/>
                                          </p:stCondLst>
                                        </p:cTn>
                                        <p:tgtEl>
                                          <p:spTgt spid="22546">
                                            <p:txEl>
                                              <p:pRg st="0" end="0"/>
                                            </p:txEl>
                                          </p:spTgt>
                                        </p:tgtEl>
                                        <p:attrNameLst>
                                          <p:attrName>style.visibility</p:attrName>
                                        </p:attrNameLst>
                                      </p:cBhvr>
                                      <p:to>
                                        <p:strVal val="visible"/>
                                      </p:to>
                                    </p:set>
                                    <p:animEffect transition="in" filter="wipe(up)">
                                      <p:cBhvr>
                                        <p:cTn id="28" dur="75"/>
                                        <p:tgtEl>
                                          <p:spTgt spid="22546">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iterate type="lt">
                                    <p:tmPct val="100000"/>
                                  </p:iterate>
                                  <p:childTnLst>
                                    <p:set>
                                      <p:cBhvr>
                                        <p:cTn id="32" dur="1" fill="hold">
                                          <p:stCondLst>
                                            <p:cond delay="0"/>
                                          </p:stCondLst>
                                        </p:cTn>
                                        <p:tgtEl>
                                          <p:spTgt spid="22533">
                                            <p:txEl>
                                              <p:pRg st="0" end="0"/>
                                            </p:txEl>
                                          </p:spTgt>
                                        </p:tgtEl>
                                        <p:attrNameLst>
                                          <p:attrName>style.visibility</p:attrName>
                                        </p:attrNameLst>
                                      </p:cBhvr>
                                      <p:to>
                                        <p:strVal val="visible"/>
                                      </p:to>
                                    </p:set>
                                    <p:animEffect transition="in" filter="wipe(up)">
                                      <p:cBhvr>
                                        <p:cTn id="33" dur="75"/>
                                        <p:tgtEl>
                                          <p:spTgt spid="2253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iterate type="lt">
                                    <p:tmPct val="100000"/>
                                  </p:iterate>
                                  <p:childTnLst>
                                    <p:set>
                                      <p:cBhvr>
                                        <p:cTn id="37" dur="1" fill="hold">
                                          <p:stCondLst>
                                            <p:cond delay="0"/>
                                          </p:stCondLst>
                                        </p:cTn>
                                        <p:tgtEl>
                                          <p:spTgt spid="22547">
                                            <p:txEl>
                                              <p:pRg st="0" end="0"/>
                                            </p:txEl>
                                          </p:spTgt>
                                        </p:tgtEl>
                                        <p:attrNameLst>
                                          <p:attrName>style.visibility</p:attrName>
                                        </p:attrNameLst>
                                      </p:cBhvr>
                                      <p:to>
                                        <p:strVal val="visible"/>
                                      </p:to>
                                    </p:set>
                                    <p:animEffect transition="in" filter="wipe(up)">
                                      <p:cBhvr>
                                        <p:cTn id="38" dur="75"/>
                                        <p:tgtEl>
                                          <p:spTgt spid="2254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iterate type="lt">
                                    <p:tmPct val="100000"/>
                                  </p:iterate>
                                  <p:childTnLst>
                                    <p:set>
                                      <p:cBhvr>
                                        <p:cTn id="42" dur="1" fill="hold">
                                          <p:stCondLst>
                                            <p:cond delay="0"/>
                                          </p:stCondLst>
                                        </p:cTn>
                                        <p:tgtEl>
                                          <p:spTgt spid="22535">
                                            <p:txEl>
                                              <p:pRg st="0" end="0"/>
                                            </p:txEl>
                                          </p:spTgt>
                                        </p:tgtEl>
                                        <p:attrNameLst>
                                          <p:attrName>style.visibility</p:attrName>
                                        </p:attrNameLst>
                                      </p:cBhvr>
                                      <p:to>
                                        <p:strVal val="visible"/>
                                      </p:to>
                                    </p:set>
                                    <p:animEffect transition="in" filter="wipe(up)">
                                      <p:cBhvr>
                                        <p:cTn id="43" dur="75"/>
                                        <p:tgtEl>
                                          <p:spTgt spid="22535">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7" presetClass="entr" presetSubtype="10" fill="hold" grpId="0" nodeType="clickEffect">
                                  <p:stCondLst>
                                    <p:cond delay="0"/>
                                  </p:stCondLst>
                                  <p:childTnLst>
                                    <p:set>
                                      <p:cBhvr>
                                        <p:cTn id="47" dur="1" fill="hold">
                                          <p:stCondLst>
                                            <p:cond delay="0"/>
                                          </p:stCondLst>
                                        </p:cTn>
                                        <p:tgtEl>
                                          <p:spTgt spid="22536"/>
                                        </p:tgtEl>
                                        <p:attrNameLst>
                                          <p:attrName>style.visibility</p:attrName>
                                        </p:attrNameLst>
                                      </p:cBhvr>
                                      <p:to>
                                        <p:strVal val="visible"/>
                                      </p:to>
                                    </p:set>
                                    <p:anim calcmode="lin" valueType="num">
                                      <p:cBhvr>
                                        <p:cTn id="48" dur="500" fill="hold"/>
                                        <p:tgtEl>
                                          <p:spTgt spid="22536"/>
                                        </p:tgtEl>
                                        <p:attrNameLst>
                                          <p:attrName>ppt_w</p:attrName>
                                        </p:attrNameLst>
                                      </p:cBhvr>
                                      <p:tavLst>
                                        <p:tav tm="0">
                                          <p:val>
                                            <p:fltVal val="0"/>
                                          </p:val>
                                        </p:tav>
                                        <p:tav tm="100000">
                                          <p:val>
                                            <p:strVal val="#ppt_w"/>
                                          </p:val>
                                        </p:tav>
                                      </p:tavLst>
                                    </p:anim>
                                    <p:anim calcmode="lin" valueType="num">
                                      <p:cBhvr>
                                        <p:cTn id="49" dur="500" fill="hold"/>
                                        <p:tgtEl>
                                          <p:spTgt spid="22536"/>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iterate type="lt">
                                    <p:tmPct val="100000"/>
                                  </p:iterate>
                                  <p:childTnLst>
                                    <p:set>
                                      <p:cBhvr>
                                        <p:cTn id="53" dur="1" fill="hold">
                                          <p:stCondLst>
                                            <p:cond delay="0"/>
                                          </p:stCondLst>
                                        </p:cTn>
                                        <p:tgtEl>
                                          <p:spTgt spid="22548"/>
                                        </p:tgtEl>
                                        <p:attrNameLst>
                                          <p:attrName>style.visibility</p:attrName>
                                        </p:attrNameLst>
                                      </p:cBhvr>
                                      <p:to>
                                        <p:strVal val="visible"/>
                                      </p:to>
                                    </p:set>
                                    <p:animEffect transition="in" filter="blinds(horizontal)">
                                      <p:cBhvr>
                                        <p:cTn id="54" dur="75"/>
                                        <p:tgtEl>
                                          <p:spTgt spid="2254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iterate type="lt">
                                    <p:tmPct val="100000"/>
                                  </p:iterate>
                                  <p:childTnLst>
                                    <p:set>
                                      <p:cBhvr>
                                        <p:cTn id="58" dur="1" fill="hold">
                                          <p:stCondLst>
                                            <p:cond delay="0"/>
                                          </p:stCondLst>
                                        </p:cTn>
                                        <p:tgtEl>
                                          <p:spTgt spid="22549"/>
                                        </p:tgtEl>
                                        <p:attrNameLst>
                                          <p:attrName>style.visibility</p:attrName>
                                        </p:attrNameLst>
                                      </p:cBhvr>
                                      <p:to>
                                        <p:strVal val="visible"/>
                                      </p:to>
                                    </p:set>
                                    <p:animEffect transition="in" filter="blinds(horizontal)">
                                      <p:cBhvr>
                                        <p:cTn id="59" dur="75"/>
                                        <p:tgtEl>
                                          <p:spTgt spid="22549"/>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iterate type="lt">
                                    <p:tmPct val="100000"/>
                                  </p:iterate>
                                  <p:childTnLst>
                                    <p:set>
                                      <p:cBhvr>
                                        <p:cTn id="63" dur="1" fill="hold">
                                          <p:stCondLst>
                                            <p:cond delay="0"/>
                                          </p:stCondLst>
                                        </p:cTn>
                                        <p:tgtEl>
                                          <p:spTgt spid="22550"/>
                                        </p:tgtEl>
                                        <p:attrNameLst>
                                          <p:attrName>style.visibility</p:attrName>
                                        </p:attrNameLst>
                                      </p:cBhvr>
                                      <p:to>
                                        <p:strVal val="visible"/>
                                      </p:to>
                                    </p:set>
                                    <p:animEffect transition="in" filter="blinds(horizontal)">
                                      <p:cBhvr>
                                        <p:cTn id="64" dur="75"/>
                                        <p:tgtEl>
                                          <p:spTgt spid="22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autoUpdateAnimBg="0" build="p"/>
      <p:bldP spid="22532" grpId="0" autoUpdateAnimBg="0" build="p"/>
      <p:bldP spid="22533" grpId="0" autoUpdateAnimBg="0" build="p"/>
      <p:bldP spid="22534" grpId="0" autoUpdateAnimBg="0" build="p"/>
      <p:bldP spid="22535" grpId="0" autoUpdateAnimBg="0" build="p"/>
      <p:bldP spid="22536" grpId="0" autoUpdateAnimBg="0"/>
      <p:bldP spid="22546" grpId="0" autoUpdateAnimBg="0" build="p"/>
      <p:bldP spid="22547" grpId="0" autoUpdateAnimBg="0" build="p"/>
      <p:bldP spid="22548" grpId="0" autoUpdateAnimBg="0"/>
      <p:bldP spid="22549" grpId="0" autoUpdateAnimBg="0"/>
      <p:bldP spid="2255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descr="75%"/>
          <p:cNvSpPr>
            <a:spLocks noChangeArrowheads="1"/>
          </p:cNvSpPr>
          <p:nvPr/>
        </p:nvSpPr>
        <p:spPr bwMode="auto">
          <a:xfrm>
            <a:off x="2667000" y="1795463"/>
            <a:ext cx="976313" cy="477837"/>
          </a:xfrm>
          <a:prstGeom prst="rect">
            <a:avLst/>
          </a:prstGeom>
          <a:blipFill dpi="0" rotWithShape="0">
            <a:blip r:embed="rId1"/>
            <a:srcRect/>
            <a:tile tx="0" ty="0" sx="100000" sy="100000" flip="none" algn="tl"/>
          </a:blip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3555" name="Group 3"/>
          <p:cNvGrpSpPr/>
          <p:nvPr/>
        </p:nvGrpSpPr>
        <p:grpSpPr bwMode="auto">
          <a:xfrm>
            <a:off x="2667000" y="2255838"/>
            <a:ext cx="1112838" cy="706437"/>
            <a:chOff x="1440" y="1156"/>
            <a:chExt cx="658" cy="445"/>
          </a:xfrm>
        </p:grpSpPr>
        <p:sp>
          <p:nvSpPr>
            <p:cNvPr id="22570" name="Text Box 4"/>
            <p:cNvSpPr txBox="1">
              <a:spLocks noChangeArrowheads="1"/>
            </p:cNvSpPr>
            <p:nvPr/>
          </p:nvSpPr>
          <p:spPr bwMode="auto">
            <a:xfrm>
              <a:off x="1440" y="1307"/>
              <a:ext cx="658" cy="294"/>
            </a:xfrm>
            <a:prstGeom prst="rect">
              <a:avLst/>
            </a:prstGeom>
            <a:noFill/>
            <a:ln w="9525">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下偏差</a:t>
              </a:r>
              <a:endParaRPr lang="zh-CN" altLang="en-US" b="1"/>
            </a:p>
          </p:txBody>
        </p:sp>
        <p:sp>
          <p:nvSpPr>
            <p:cNvPr id="22571" name="Line 5"/>
            <p:cNvSpPr>
              <a:spLocks noChangeShapeType="1"/>
            </p:cNvSpPr>
            <p:nvPr/>
          </p:nvSpPr>
          <p:spPr bwMode="auto">
            <a:xfrm flipV="1">
              <a:off x="1806" y="1156"/>
              <a:ext cx="0" cy="151"/>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3558" name="Group 6"/>
          <p:cNvGrpSpPr/>
          <p:nvPr/>
        </p:nvGrpSpPr>
        <p:grpSpPr bwMode="auto">
          <a:xfrm>
            <a:off x="3246438" y="1017588"/>
            <a:ext cx="1463675" cy="817562"/>
            <a:chOff x="1806" y="501"/>
            <a:chExt cx="922" cy="515"/>
          </a:xfrm>
        </p:grpSpPr>
        <p:sp>
          <p:nvSpPr>
            <p:cNvPr id="22568" name="Text Box 7"/>
            <p:cNvSpPr txBox="1">
              <a:spLocks noChangeArrowheads="1"/>
            </p:cNvSpPr>
            <p:nvPr/>
          </p:nvSpPr>
          <p:spPr bwMode="auto">
            <a:xfrm>
              <a:off x="2027" y="501"/>
              <a:ext cx="701" cy="294"/>
            </a:xfrm>
            <a:prstGeom prst="rect">
              <a:avLst/>
            </a:prstGeom>
            <a:noFill/>
            <a:ln w="9525">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公差带</a:t>
              </a:r>
              <a:endParaRPr lang="zh-CN" altLang="en-US" b="1"/>
            </a:p>
          </p:txBody>
        </p:sp>
        <p:sp>
          <p:nvSpPr>
            <p:cNvPr id="22569" name="Line 8"/>
            <p:cNvSpPr>
              <a:spLocks noChangeShapeType="1"/>
            </p:cNvSpPr>
            <p:nvPr/>
          </p:nvSpPr>
          <p:spPr bwMode="auto">
            <a:xfrm flipH="1">
              <a:off x="1806" y="795"/>
              <a:ext cx="221" cy="221"/>
            </a:xfrm>
            <a:prstGeom prst="line">
              <a:avLst/>
            </a:prstGeom>
            <a:noFill/>
            <a:ln w="952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3561" name="Text Box 9"/>
          <p:cNvSpPr txBox="1">
            <a:spLocks noChangeArrowheads="1"/>
          </p:cNvSpPr>
          <p:nvPr/>
        </p:nvSpPr>
        <p:spPr bwMode="auto">
          <a:xfrm>
            <a:off x="3597275" y="1616075"/>
            <a:ext cx="990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a:t>
            </a:r>
            <a:r>
              <a:rPr lang="en-US" altLang="zh-CN" b="1" i="1">
                <a:latin typeface="ISOCPEUR" panose="020B0604020202020204" pitchFamily="34" charset="0"/>
              </a:rPr>
              <a:t>0.008</a:t>
            </a:r>
            <a:endParaRPr lang="en-US" altLang="zh-CN" b="1">
              <a:latin typeface="ISOCPEUR" panose="020B0604020202020204" pitchFamily="34" charset="0"/>
            </a:endParaRPr>
          </a:p>
        </p:txBody>
      </p:sp>
      <p:sp>
        <p:nvSpPr>
          <p:cNvPr id="23562" name="Text Box 10"/>
          <p:cNvSpPr txBox="1">
            <a:spLocks noChangeArrowheads="1"/>
          </p:cNvSpPr>
          <p:nvPr/>
        </p:nvSpPr>
        <p:spPr bwMode="auto">
          <a:xfrm>
            <a:off x="3597275" y="2022475"/>
            <a:ext cx="9191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a:t>
            </a:r>
            <a:r>
              <a:rPr lang="en-US" altLang="zh-CN" b="1" i="1">
                <a:latin typeface="ISOCPEUR" panose="020B0604020202020204" pitchFamily="34" charset="0"/>
              </a:rPr>
              <a:t>0.008</a:t>
            </a:r>
            <a:endParaRPr lang="en-US" altLang="zh-CN" b="1" i="1">
              <a:latin typeface="ISOCPEUR" panose="020B0604020202020204" pitchFamily="34" charset="0"/>
            </a:endParaRPr>
          </a:p>
        </p:txBody>
      </p:sp>
      <p:grpSp>
        <p:nvGrpSpPr>
          <p:cNvPr id="23563" name="Group 11"/>
          <p:cNvGrpSpPr/>
          <p:nvPr/>
        </p:nvGrpSpPr>
        <p:grpSpPr bwMode="auto">
          <a:xfrm>
            <a:off x="4843463" y="1004888"/>
            <a:ext cx="1936750" cy="962025"/>
            <a:chOff x="3051" y="656"/>
            <a:chExt cx="1220" cy="465"/>
          </a:xfrm>
        </p:grpSpPr>
        <p:sp>
          <p:nvSpPr>
            <p:cNvPr id="22565" name="Text Box 12"/>
            <p:cNvSpPr txBox="1">
              <a:spLocks noChangeArrowheads="1"/>
            </p:cNvSpPr>
            <p:nvPr/>
          </p:nvSpPr>
          <p:spPr bwMode="auto">
            <a:xfrm>
              <a:off x="3647" y="900"/>
              <a:ext cx="624"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a:t>
              </a:r>
              <a:r>
                <a:rPr lang="en-US" altLang="zh-CN" b="1" i="1">
                  <a:latin typeface="ISOCPEUR" panose="020B0604020202020204" pitchFamily="34" charset="0"/>
                </a:rPr>
                <a:t>0.008</a:t>
              </a:r>
              <a:endParaRPr lang="en-US" altLang="zh-CN" b="1" i="1">
                <a:latin typeface="ISOCPEUR" panose="020B0604020202020204" pitchFamily="34" charset="0"/>
              </a:endParaRPr>
            </a:p>
          </p:txBody>
        </p:sp>
        <p:sp>
          <p:nvSpPr>
            <p:cNvPr id="22566" name="Text Box 13"/>
            <p:cNvSpPr txBox="1">
              <a:spLocks noChangeArrowheads="1"/>
            </p:cNvSpPr>
            <p:nvPr/>
          </p:nvSpPr>
          <p:spPr bwMode="auto">
            <a:xfrm>
              <a:off x="3632" y="656"/>
              <a:ext cx="637"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a:t>
              </a:r>
              <a:r>
                <a:rPr lang="en-US" altLang="zh-CN" b="1" i="1">
                  <a:latin typeface="ISOCPEUR" panose="020B0604020202020204" pitchFamily="34" charset="0"/>
                </a:rPr>
                <a:t>0.024</a:t>
              </a:r>
              <a:endParaRPr lang="en-US" altLang="zh-CN" b="1">
                <a:latin typeface="ISOCPEUR" panose="020B0604020202020204" pitchFamily="34" charset="0"/>
              </a:endParaRPr>
            </a:p>
          </p:txBody>
        </p:sp>
        <p:sp>
          <p:nvSpPr>
            <p:cNvPr id="22567" name="Rectangle 14"/>
            <p:cNvSpPr>
              <a:spLocks noChangeArrowheads="1"/>
            </p:cNvSpPr>
            <p:nvPr/>
          </p:nvSpPr>
          <p:spPr bwMode="auto">
            <a:xfrm>
              <a:off x="3051" y="800"/>
              <a:ext cx="615" cy="241"/>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3567" name="Group 15"/>
          <p:cNvGrpSpPr/>
          <p:nvPr/>
        </p:nvGrpSpPr>
        <p:grpSpPr bwMode="auto">
          <a:xfrm>
            <a:off x="5743575" y="1987550"/>
            <a:ext cx="1878013" cy="936625"/>
            <a:chOff x="3618" y="1120"/>
            <a:chExt cx="1183" cy="590"/>
          </a:xfrm>
        </p:grpSpPr>
        <p:sp>
          <p:nvSpPr>
            <p:cNvPr id="22562" name="Rectangle 16"/>
            <p:cNvSpPr>
              <a:spLocks noChangeArrowheads="1"/>
            </p:cNvSpPr>
            <p:nvPr/>
          </p:nvSpPr>
          <p:spPr bwMode="auto">
            <a:xfrm>
              <a:off x="3618" y="1268"/>
              <a:ext cx="615" cy="316"/>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63" name="Text Box 17"/>
            <p:cNvSpPr txBox="1">
              <a:spLocks noChangeArrowheads="1"/>
            </p:cNvSpPr>
            <p:nvPr/>
          </p:nvSpPr>
          <p:spPr bwMode="auto">
            <a:xfrm>
              <a:off x="4199" y="1120"/>
              <a:ext cx="602" cy="28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latin typeface="ISOCPEUR" panose="020B0604020202020204" pitchFamily="34" charset="0"/>
                </a:rPr>
                <a:t>-</a:t>
              </a:r>
              <a:r>
                <a:rPr lang="en-US" altLang="zh-CN" b="1" i="1">
                  <a:latin typeface="ISOCPEUR" panose="020B0604020202020204" pitchFamily="34" charset="0"/>
                </a:rPr>
                <a:t>0.006</a:t>
              </a:r>
              <a:endParaRPr lang="en-US" altLang="zh-CN" b="1">
                <a:latin typeface="ISOCPEUR" panose="020B0604020202020204" pitchFamily="34" charset="0"/>
              </a:endParaRPr>
            </a:p>
          </p:txBody>
        </p:sp>
        <p:sp>
          <p:nvSpPr>
            <p:cNvPr id="22564" name="Text Box 18"/>
            <p:cNvSpPr txBox="1">
              <a:spLocks noChangeArrowheads="1"/>
            </p:cNvSpPr>
            <p:nvPr/>
          </p:nvSpPr>
          <p:spPr bwMode="auto">
            <a:xfrm>
              <a:off x="4199" y="1422"/>
              <a:ext cx="602" cy="28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latin typeface="ISOCPEUR" panose="020B0604020202020204" pitchFamily="34" charset="0"/>
                </a:rPr>
                <a:t>-</a:t>
              </a:r>
              <a:r>
                <a:rPr lang="en-US" altLang="zh-CN" b="1" i="1">
                  <a:latin typeface="ISOCPEUR" panose="020B0604020202020204" pitchFamily="34" charset="0"/>
                </a:rPr>
                <a:t>0.022</a:t>
              </a:r>
              <a:endParaRPr lang="en-US" altLang="zh-CN" b="1">
                <a:latin typeface="ISOCPEUR" panose="020B0604020202020204" pitchFamily="34" charset="0"/>
              </a:endParaRPr>
            </a:p>
          </p:txBody>
        </p:sp>
      </p:grpSp>
      <p:sp>
        <p:nvSpPr>
          <p:cNvPr id="22537" name="Text Box 19"/>
          <p:cNvSpPr txBox="1">
            <a:spLocks noChangeArrowheads="1"/>
          </p:cNvSpPr>
          <p:nvPr/>
        </p:nvSpPr>
        <p:spPr bwMode="auto">
          <a:xfrm>
            <a:off x="703263" y="0"/>
            <a:ext cx="222408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公差带图：</a:t>
            </a:r>
            <a:endParaRPr lang="zh-CN" altLang="en-US" sz="3200" b="1">
              <a:latin typeface="宋体" panose="02010600030101010101" pitchFamily="2" charset="-122"/>
            </a:endParaRPr>
          </a:p>
        </p:txBody>
      </p:sp>
      <p:grpSp>
        <p:nvGrpSpPr>
          <p:cNvPr id="23573" name="Group 21"/>
          <p:cNvGrpSpPr/>
          <p:nvPr/>
        </p:nvGrpSpPr>
        <p:grpSpPr bwMode="auto">
          <a:xfrm>
            <a:off x="3979863" y="3497263"/>
            <a:ext cx="1789112" cy="693737"/>
            <a:chOff x="2507" y="2123"/>
            <a:chExt cx="1066" cy="437"/>
          </a:xfrm>
        </p:grpSpPr>
        <p:sp>
          <p:nvSpPr>
            <p:cNvPr id="22559" name="Text Box 22"/>
            <p:cNvSpPr txBox="1">
              <a:spLocks noChangeArrowheads="1"/>
            </p:cNvSpPr>
            <p:nvPr/>
          </p:nvSpPr>
          <p:spPr bwMode="auto">
            <a:xfrm>
              <a:off x="2507" y="2233"/>
              <a:ext cx="52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solidFill>
                    <a:srgbClr val="FF3300"/>
                  </a:solidFill>
                  <a:latin typeface="ISOCP" panose="00000400000000000000" pitchFamily="2" charset="0"/>
                  <a:sym typeface="Symbol" panose="05050102010706020507" pitchFamily="18" charset="2"/>
                </a:rPr>
                <a:t></a:t>
              </a:r>
              <a:r>
                <a:rPr lang="en-US" altLang="zh-CN" sz="2800" b="1" i="1">
                  <a:solidFill>
                    <a:srgbClr val="FF3300"/>
                  </a:solidFill>
                  <a:latin typeface="ISOCPEUR" panose="020B0604020202020204" pitchFamily="34" charset="0"/>
                  <a:sym typeface="Symbol" panose="05050102010706020507" pitchFamily="18" charset="2"/>
                </a:rPr>
                <a:t>50</a:t>
              </a:r>
              <a:endParaRPr lang="en-US" altLang="zh-CN" sz="2800" b="1" i="1">
                <a:solidFill>
                  <a:srgbClr val="FF3300"/>
                </a:solidFill>
                <a:latin typeface="ISOCPEUR" panose="020B0604020202020204" pitchFamily="34" charset="0"/>
              </a:endParaRPr>
            </a:p>
          </p:txBody>
        </p:sp>
        <p:sp>
          <p:nvSpPr>
            <p:cNvPr id="22560" name="Text Box 23"/>
            <p:cNvSpPr txBox="1">
              <a:spLocks noChangeArrowheads="1"/>
            </p:cNvSpPr>
            <p:nvPr/>
          </p:nvSpPr>
          <p:spPr bwMode="auto">
            <a:xfrm>
              <a:off x="2988" y="2123"/>
              <a:ext cx="58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olidFill>
                    <a:srgbClr val="FF3300"/>
                  </a:solidFill>
                  <a:latin typeface="ISOCPEUR" panose="020B0604020202020204" pitchFamily="34" charset="0"/>
                </a:rPr>
                <a:t>+0.024</a:t>
              </a:r>
              <a:endParaRPr lang="en-US" altLang="zh-CN" b="1">
                <a:solidFill>
                  <a:srgbClr val="FF3300"/>
                </a:solidFill>
                <a:latin typeface="ISOCPEUR" panose="020B0604020202020204" pitchFamily="34" charset="0"/>
              </a:endParaRPr>
            </a:p>
          </p:txBody>
        </p:sp>
        <p:sp>
          <p:nvSpPr>
            <p:cNvPr id="22561" name="Text Box 24"/>
            <p:cNvSpPr txBox="1">
              <a:spLocks noChangeArrowheads="1"/>
            </p:cNvSpPr>
            <p:nvPr/>
          </p:nvSpPr>
          <p:spPr bwMode="auto">
            <a:xfrm>
              <a:off x="2988" y="2271"/>
              <a:ext cx="57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olidFill>
                    <a:srgbClr val="FF3300"/>
                  </a:solidFill>
                  <a:latin typeface="ISOCPEUR" panose="020B0604020202020204" pitchFamily="34" charset="0"/>
                </a:rPr>
                <a:t>+0.008</a:t>
              </a:r>
              <a:endParaRPr lang="en-US" altLang="zh-CN" b="1">
                <a:solidFill>
                  <a:srgbClr val="FF3300"/>
                </a:solidFill>
                <a:latin typeface="ISOCPEUR" panose="020B0604020202020204" pitchFamily="34" charset="0"/>
              </a:endParaRPr>
            </a:p>
          </p:txBody>
        </p:sp>
      </p:grpSp>
      <p:grpSp>
        <p:nvGrpSpPr>
          <p:cNvPr id="23577" name="Group 25"/>
          <p:cNvGrpSpPr/>
          <p:nvPr/>
        </p:nvGrpSpPr>
        <p:grpSpPr bwMode="auto">
          <a:xfrm>
            <a:off x="6132513" y="3487738"/>
            <a:ext cx="1744662" cy="698500"/>
            <a:chOff x="3863" y="2117"/>
            <a:chExt cx="1099" cy="440"/>
          </a:xfrm>
        </p:grpSpPr>
        <p:sp>
          <p:nvSpPr>
            <p:cNvPr id="22556" name="Text Box 26"/>
            <p:cNvSpPr txBox="1">
              <a:spLocks noChangeArrowheads="1"/>
            </p:cNvSpPr>
            <p:nvPr/>
          </p:nvSpPr>
          <p:spPr bwMode="auto">
            <a:xfrm>
              <a:off x="3863" y="2224"/>
              <a:ext cx="5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solidFill>
                    <a:srgbClr val="FF3300"/>
                  </a:solidFill>
                  <a:latin typeface="ISOCP" panose="00000400000000000000" pitchFamily="2" charset="0"/>
                  <a:sym typeface="Symbol" panose="05050102010706020507" pitchFamily="18" charset="2"/>
                </a:rPr>
                <a:t></a:t>
              </a:r>
              <a:r>
                <a:rPr lang="en-US" altLang="zh-CN" sz="2800" b="1" i="1">
                  <a:solidFill>
                    <a:srgbClr val="FF3300"/>
                  </a:solidFill>
                  <a:latin typeface="ISOCPEUR" panose="020B0604020202020204" pitchFamily="34" charset="0"/>
                  <a:sym typeface="Symbol" panose="05050102010706020507" pitchFamily="18" charset="2"/>
                </a:rPr>
                <a:t>50</a:t>
              </a:r>
              <a:endParaRPr lang="en-US" altLang="zh-CN" sz="2800" b="1">
                <a:solidFill>
                  <a:srgbClr val="FF3300"/>
                </a:solidFill>
                <a:latin typeface="ISOCPEUR" panose="020B0604020202020204" pitchFamily="34" charset="0"/>
              </a:endParaRPr>
            </a:p>
          </p:txBody>
        </p:sp>
        <p:sp>
          <p:nvSpPr>
            <p:cNvPr id="22557" name="Text Box 27"/>
            <p:cNvSpPr txBox="1">
              <a:spLocks noChangeArrowheads="1"/>
            </p:cNvSpPr>
            <p:nvPr/>
          </p:nvSpPr>
          <p:spPr bwMode="auto">
            <a:xfrm>
              <a:off x="4357" y="2117"/>
              <a:ext cx="6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olidFill>
                    <a:srgbClr val="FF3300"/>
                  </a:solidFill>
                  <a:latin typeface="ISOCPEUR" panose="020B0604020202020204" pitchFamily="34" charset="0"/>
                </a:rPr>
                <a:t>-0.006</a:t>
              </a:r>
              <a:endParaRPr lang="en-US" altLang="zh-CN" b="1">
                <a:solidFill>
                  <a:srgbClr val="FF3300"/>
                </a:solidFill>
                <a:latin typeface="ISOCPEUR" panose="020B0604020202020204" pitchFamily="34" charset="0"/>
              </a:endParaRPr>
            </a:p>
          </p:txBody>
        </p:sp>
        <p:sp>
          <p:nvSpPr>
            <p:cNvPr id="22558" name="Text Box 28"/>
            <p:cNvSpPr txBox="1">
              <a:spLocks noChangeArrowheads="1"/>
            </p:cNvSpPr>
            <p:nvPr/>
          </p:nvSpPr>
          <p:spPr bwMode="auto">
            <a:xfrm>
              <a:off x="4357" y="2269"/>
              <a:ext cx="6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olidFill>
                    <a:srgbClr val="FF3300"/>
                  </a:solidFill>
                  <a:latin typeface="ISOCPEUR" panose="020B0604020202020204" pitchFamily="34" charset="0"/>
                </a:rPr>
                <a:t>-0.022</a:t>
              </a:r>
              <a:endParaRPr lang="en-US" altLang="zh-CN" b="1">
                <a:solidFill>
                  <a:srgbClr val="FF3300"/>
                </a:solidFill>
                <a:latin typeface="ISOCPEUR" panose="020B0604020202020204" pitchFamily="34" charset="0"/>
              </a:endParaRPr>
            </a:p>
          </p:txBody>
        </p:sp>
      </p:grpSp>
      <p:grpSp>
        <p:nvGrpSpPr>
          <p:cNvPr id="23619" name="Group 67"/>
          <p:cNvGrpSpPr/>
          <p:nvPr/>
        </p:nvGrpSpPr>
        <p:grpSpPr bwMode="auto">
          <a:xfrm>
            <a:off x="1196975" y="1492250"/>
            <a:ext cx="6705600" cy="2047875"/>
            <a:chOff x="754" y="808"/>
            <a:chExt cx="4224" cy="1290"/>
          </a:xfrm>
        </p:grpSpPr>
        <p:sp>
          <p:nvSpPr>
            <p:cNvPr id="22548" name="Text Box 30"/>
            <p:cNvSpPr txBox="1">
              <a:spLocks noChangeArrowheads="1"/>
            </p:cNvSpPr>
            <p:nvPr/>
          </p:nvSpPr>
          <p:spPr bwMode="auto">
            <a:xfrm>
              <a:off x="842" y="808"/>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a:t>
              </a:r>
              <a:endParaRPr lang="zh-CN" altLang="en-US" b="1"/>
            </a:p>
          </p:txBody>
        </p:sp>
        <p:sp>
          <p:nvSpPr>
            <p:cNvPr id="22549" name="Text Box 31"/>
            <p:cNvSpPr txBox="1">
              <a:spLocks noChangeArrowheads="1"/>
            </p:cNvSpPr>
            <p:nvPr/>
          </p:nvSpPr>
          <p:spPr bwMode="auto">
            <a:xfrm>
              <a:off x="842" y="1139"/>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a:t>
              </a:r>
              <a:endParaRPr lang="zh-CN" altLang="en-US" b="1"/>
            </a:p>
          </p:txBody>
        </p:sp>
        <p:sp>
          <p:nvSpPr>
            <p:cNvPr id="22550" name="Line 32"/>
            <p:cNvSpPr>
              <a:spLocks noChangeShapeType="1"/>
            </p:cNvSpPr>
            <p:nvPr/>
          </p:nvSpPr>
          <p:spPr bwMode="auto">
            <a:xfrm>
              <a:off x="945" y="1156"/>
              <a:ext cx="382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551" name="Text Box 33"/>
            <p:cNvSpPr txBox="1">
              <a:spLocks noChangeArrowheads="1"/>
            </p:cNvSpPr>
            <p:nvPr/>
          </p:nvSpPr>
          <p:spPr bwMode="auto">
            <a:xfrm>
              <a:off x="4772" y="1021"/>
              <a:ext cx="2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latin typeface="ISOCPEUR" panose="020B0604020202020204" pitchFamily="34" charset="0"/>
                </a:rPr>
                <a:t>0</a:t>
              </a:r>
              <a:endParaRPr lang="en-US" altLang="zh-CN" b="1" i="1">
                <a:latin typeface="ISOCPEUR" panose="020B0604020202020204" pitchFamily="34" charset="0"/>
              </a:endParaRPr>
            </a:p>
          </p:txBody>
        </p:sp>
        <p:sp>
          <p:nvSpPr>
            <p:cNvPr id="22552" name="Text Box 34"/>
            <p:cNvSpPr txBox="1">
              <a:spLocks noChangeArrowheads="1"/>
            </p:cNvSpPr>
            <p:nvPr/>
          </p:nvSpPr>
          <p:spPr bwMode="auto">
            <a:xfrm>
              <a:off x="754" y="1018"/>
              <a:ext cx="21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latin typeface="ISOCP" panose="00000400000000000000" pitchFamily="2" charset="0"/>
                </a:rPr>
                <a:t>0</a:t>
              </a:r>
              <a:endParaRPr lang="en-US" altLang="zh-CN" b="1"/>
            </a:p>
          </p:txBody>
        </p:sp>
        <p:sp>
          <p:nvSpPr>
            <p:cNvPr id="22553" name="Text Box 35"/>
            <p:cNvSpPr txBox="1">
              <a:spLocks noChangeArrowheads="1"/>
            </p:cNvSpPr>
            <p:nvPr/>
          </p:nvSpPr>
          <p:spPr bwMode="auto">
            <a:xfrm rot="-5400000">
              <a:off x="813" y="1488"/>
              <a:ext cx="9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基本尺寸</a:t>
              </a:r>
              <a:endParaRPr lang="zh-CN" altLang="en-US" b="1">
                <a:solidFill>
                  <a:srgbClr val="FF3300"/>
                </a:solidFill>
              </a:endParaRPr>
            </a:p>
          </p:txBody>
        </p:sp>
        <p:sp>
          <p:nvSpPr>
            <p:cNvPr id="22554" name="Text Box 36"/>
            <p:cNvSpPr txBox="1">
              <a:spLocks noChangeArrowheads="1"/>
            </p:cNvSpPr>
            <p:nvPr/>
          </p:nvSpPr>
          <p:spPr bwMode="auto">
            <a:xfrm rot="-5400000">
              <a:off x="876" y="1446"/>
              <a:ext cx="3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ym typeface="Symbol" panose="05050102010706020507" pitchFamily="18" charset="2"/>
                </a:rPr>
                <a:t></a:t>
              </a:r>
              <a:r>
                <a:rPr lang="en-US" altLang="zh-CN" b="1" i="1">
                  <a:latin typeface="ISOCPEUR" panose="020B0604020202020204" pitchFamily="34" charset="0"/>
                  <a:sym typeface="Symbol" panose="05050102010706020507" pitchFamily="18" charset="2"/>
                </a:rPr>
                <a:t>50</a:t>
              </a:r>
              <a:endParaRPr lang="en-US" altLang="zh-CN" b="1">
                <a:latin typeface="ISOCPEUR" panose="020B0604020202020204" pitchFamily="34" charset="0"/>
              </a:endParaRPr>
            </a:p>
          </p:txBody>
        </p:sp>
        <p:sp>
          <p:nvSpPr>
            <p:cNvPr id="22555" name="Line 37"/>
            <p:cNvSpPr>
              <a:spLocks noChangeShapeType="1"/>
            </p:cNvSpPr>
            <p:nvPr/>
          </p:nvSpPr>
          <p:spPr bwMode="auto">
            <a:xfrm>
              <a:off x="1182" y="1141"/>
              <a:ext cx="0" cy="840"/>
            </a:xfrm>
            <a:prstGeom prst="line">
              <a:avLst/>
            </a:prstGeom>
            <a:noFill/>
            <a:ln w="1905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3590" name="Group 38"/>
          <p:cNvGrpSpPr/>
          <p:nvPr/>
        </p:nvGrpSpPr>
        <p:grpSpPr bwMode="auto">
          <a:xfrm>
            <a:off x="1200150" y="3630613"/>
            <a:ext cx="2662238" cy="555625"/>
            <a:chOff x="722" y="2215"/>
            <a:chExt cx="1624" cy="350"/>
          </a:xfrm>
        </p:grpSpPr>
        <p:sp>
          <p:nvSpPr>
            <p:cNvPr id="22546" name="Text Box 39"/>
            <p:cNvSpPr txBox="1">
              <a:spLocks noChangeArrowheads="1"/>
            </p:cNvSpPr>
            <p:nvPr/>
          </p:nvSpPr>
          <p:spPr bwMode="auto">
            <a:xfrm>
              <a:off x="722" y="2215"/>
              <a:ext cx="40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例</a:t>
              </a:r>
              <a:r>
                <a:rPr lang="en-US" altLang="zh-CN" sz="2800" b="1"/>
                <a:t>:</a:t>
              </a:r>
              <a:endParaRPr lang="en-US" altLang="zh-CN" sz="2800" b="1"/>
            </a:p>
          </p:txBody>
        </p:sp>
        <p:sp>
          <p:nvSpPr>
            <p:cNvPr id="22547" name="Text Box 40"/>
            <p:cNvSpPr txBox="1">
              <a:spLocks noChangeArrowheads="1"/>
            </p:cNvSpPr>
            <p:nvPr/>
          </p:nvSpPr>
          <p:spPr bwMode="auto">
            <a:xfrm>
              <a:off x="1196" y="2238"/>
              <a:ext cx="115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i="1">
                  <a:solidFill>
                    <a:srgbClr val="FF3300"/>
                  </a:solidFill>
                  <a:latin typeface="ISOCP" panose="00000400000000000000" pitchFamily="2" charset="0"/>
                  <a:sym typeface="Symbol" panose="05050102010706020507" pitchFamily="18" charset="2"/>
                </a:rPr>
                <a:t></a:t>
              </a:r>
              <a:r>
                <a:rPr lang="en-US" altLang="zh-CN" sz="2800" b="1" i="1">
                  <a:solidFill>
                    <a:srgbClr val="FF3300"/>
                  </a:solidFill>
                  <a:latin typeface="ISOCPEUR" panose="020B0604020202020204" pitchFamily="34" charset="0"/>
                  <a:sym typeface="Symbol" panose="05050102010706020507" pitchFamily="18" charset="2"/>
                </a:rPr>
                <a:t>50±0.008</a:t>
              </a:r>
              <a:endParaRPr lang="en-US" altLang="zh-CN" sz="2800" b="1">
                <a:solidFill>
                  <a:srgbClr val="FF3300"/>
                </a:solidFill>
                <a:latin typeface="ISOCPEUR" panose="020B0604020202020204" pitchFamily="34" charset="0"/>
                <a:sym typeface="Symbol" panose="05050102010706020507" pitchFamily="18" charset="2"/>
              </a:endParaRPr>
            </a:p>
          </p:txBody>
        </p:sp>
      </p:grpSp>
      <p:grpSp>
        <p:nvGrpSpPr>
          <p:cNvPr id="23593" name="Group 41"/>
          <p:cNvGrpSpPr/>
          <p:nvPr/>
        </p:nvGrpSpPr>
        <p:grpSpPr bwMode="auto">
          <a:xfrm>
            <a:off x="2074863" y="1085850"/>
            <a:ext cx="1112837" cy="703263"/>
            <a:chOff x="1102" y="503"/>
            <a:chExt cx="659" cy="443"/>
          </a:xfrm>
        </p:grpSpPr>
        <p:sp>
          <p:nvSpPr>
            <p:cNvPr id="22544" name="Text Box 42"/>
            <p:cNvSpPr txBox="1">
              <a:spLocks noChangeArrowheads="1"/>
            </p:cNvSpPr>
            <p:nvPr/>
          </p:nvSpPr>
          <p:spPr bwMode="auto">
            <a:xfrm>
              <a:off x="1102" y="503"/>
              <a:ext cx="659" cy="294"/>
            </a:xfrm>
            <a:prstGeom prst="rect">
              <a:avLst/>
            </a:prstGeom>
            <a:noFill/>
            <a:ln w="9525">
              <a:solidFill>
                <a:srgbClr val="FF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上偏差</a:t>
              </a:r>
              <a:endParaRPr lang="zh-CN" altLang="en-US" b="1"/>
            </a:p>
          </p:txBody>
        </p:sp>
        <p:sp>
          <p:nvSpPr>
            <p:cNvPr id="22545" name="Freeform 43"/>
            <p:cNvSpPr/>
            <p:nvPr/>
          </p:nvSpPr>
          <p:spPr bwMode="auto">
            <a:xfrm>
              <a:off x="1605" y="795"/>
              <a:ext cx="1" cy="151"/>
            </a:xfrm>
            <a:custGeom>
              <a:avLst/>
              <a:gdLst>
                <a:gd name="T0" fmla="*/ 0 w 1"/>
                <a:gd name="T1" fmla="*/ 0 h 151"/>
                <a:gd name="T2" fmla="*/ 1 w 1"/>
                <a:gd name="T3" fmla="*/ 151 h 151"/>
                <a:gd name="T4" fmla="*/ 0 60000 65536"/>
                <a:gd name="T5" fmla="*/ 0 60000 65536"/>
              </a:gdLst>
              <a:ahLst/>
              <a:cxnLst>
                <a:cxn ang="T4">
                  <a:pos x="T0" y="T1"/>
                </a:cxn>
                <a:cxn ang="T5">
                  <a:pos x="T2" y="T3"/>
                </a:cxn>
              </a:cxnLst>
              <a:rect l="0" t="0" r="r" b="b"/>
              <a:pathLst>
                <a:path w="1" h="151">
                  <a:moveTo>
                    <a:pt x="0" y="0"/>
                  </a:moveTo>
                  <a:lnTo>
                    <a:pt x="1" y="151"/>
                  </a:lnTo>
                </a:path>
              </a:pathLst>
            </a:custGeom>
            <a:noFill/>
            <a:ln w="9525" cap="flat" cmpd="sng">
              <a:solidFill>
                <a:schemeClr val="tx1"/>
              </a:solidFill>
              <a:prstDash val="solid"/>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3618" name="Text Box 66"/>
          <p:cNvSpPr txBox="1">
            <a:spLocks noChangeArrowheads="1"/>
          </p:cNvSpPr>
          <p:nvPr/>
        </p:nvSpPr>
        <p:spPr bwMode="auto">
          <a:xfrm>
            <a:off x="939800" y="4335463"/>
            <a:ext cx="7434263" cy="1501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10000"/>
              </a:lnSpc>
            </a:pPr>
            <a:r>
              <a:rPr lang="en-US" altLang="zh-CN" sz="2800" b="1">
                <a:latin typeface="宋体" panose="02010600030101010101" pitchFamily="2" charset="-122"/>
              </a:rPr>
              <a:t>    </a:t>
            </a:r>
            <a:r>
              <a:rPr lang="zh-CN" altLang="en-US" sz="2800" b="1">
                <a:solidFill>
                  <a:srgbClr val="FF3300"/>
                </a:solidFill>
                <a:latin typeface="宋体" panose="02010600030101010101" pitchFamily="2" charset="-122"/>
              </a:rPr>
              <a:t>公差带</a:t>
            </a:r>
            <a:r>
              <a:rPr lang="zh-CN" altLang="en-US" sz="2800" b="1">
                <a:latin typeface="宋体" panose="02010600030101010101" pitchFamily="2" charset="-122"/>
              </a:rPr>
              <a:t>指的是代表上、下偏差或最大、最小极限尺寸的两条直线所限定的一个区域。</a:t>
            </a:r>
            <a:r>
              <a:rPr lang="zh-CN" altLang="en-US" sz="2800" b="1">
                <a:solidFill>
                  <a:srgbClr val="FF3300"/>
                </a:solidFill>
                <a:latin typeface="宋体" panose="02010600030101010101" pitchFamily="2" charset="-122"/>
              </a:rPr>
              <a:t>它由公差大小和其相对于零线的位置来确定</a:t>
            </a:r>
            <a:r>
              <a:rPr lang="zh-CN" altLang="en-US" sz="2800" b="1">
                <a:latin typeface="宋体" panose="02010600030101010101" pitchFamily="2" charset="-122"/>
              </a:rPr>
              <a:t>。</a:t>
            </a:r>
            <a:endParaRPr lang="zh-CN" altLang="en-US" sz="28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3619"/>
                                        </p:tgtEl>
                                        <p:attrNameLst>
                                          <p:attrName>style.visibility</p:attrName>
                                        </p:attrNameLst>
                                      </p:cBhvr>
                                      <p:to>
                                        <p:strVal val="visible"/>
                                      </p:to>
                                    </p:set>
                                    <p:animEffect transition="in" filter="barn(outVertical)">
                                      <p:cBhvr>
                                        <p:cTn id="7" dur="500"/>
                                        <p:tgtEl>
                                          <p:spTgt spid="236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90"/>
                                        </p:tgtEl>
                                        <p:attrNameLst>
                                          <p:attrName>style.visibility</p:attrName>
                                        </p:attrNameLst>
                                      </p:cBhvr>
                                      <p:to>
                                        <p:strVal val="visible"/>
                                      </p:to>
                                    </p:set>
                                    <p:animEffect transition="in" filter="blinds(horizontal)">
                                      <p:cBhvr>
                                        <p:cTn id="12" dur="500"/>
                                        <p:tgtEl>
                                          <p:spTgt spid="23590"/>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32" fill="hold" nodeType="clickEffect">
                                  <p:stCondLst>
                                    <p:cond delay="0"/>
                                  </p:stCondLst>
                                  <p:childTnLst>
                                    <p:set>
                                      <p:cBhvr>
                                        <p:cTn id="16" dur="1" fill="hold">
                                          <p:stCondLst>
                                            <p:cond delay="0"/>
                                          </p:stCondLst>
                                        </p:cTn>
                                        <p:tgtEl>
                                          <p:spTgt spid="23554"/>
                                        </p:tgtEl>
                                        <p:attrNameLst>
                                          <p:attrName>style.visibility</p:attrName>
                                        </p:attrNameLst>
                                      </p:cBhvr>
                                      <p:to>
                                        <p:strVal val="visible"/>
                                      </p:to>
                                    </p:set>
                                    <p:anim calcmode="lin" valueType="num">
                                      <p:cBhvr>
                                        <p:cTn id="17" dur="500" fill="hold"/>
                                        <p:tgtEl>
                                          <p:spTgt spid="23554"/>
                                        </p:tgtEl>
                                        <p:attrNameLst>
                                          <p:attrName>ppt_w</p:attrName>
                                        </p:attrNameLst>
                                      </p:cBhvr>
                                      <p:tavLst>
                                        <p:tav tm="0">
                                          <p:val>
                                            <p:strVal val="4*#ppt_w"/>
                                          </p:val>
                                        </p:tav>
                                        <p:tav tm="100000">
                                          <p:val>
                                            <p:strVal val="#ppt_w"/>
                                          </p:val>
                                        </p:tav>
                                      </p:tavLst>
                                    </p:anim>
                                    <p:anim calcmode="lin" valueType="num">
                                      <p:cBhvr>
                                        <p:cTn id="18" dur="500" fill="hold"/>
                                        <p:tgtEl>
                                          <p:spTgt spid="23554"/>
                                        </p:tgtEl>
                                        <p:attrNameLst>
                                          <p:attrName>ppt_h</p:attrName>
                                        </p:attrNameLst>
                                      </p:cBhvr>
                                      <p:tavLst>
                                        <p:tav tm="0">
                                          <p:val>
                                            <p:strVal val="4*#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iterate type="lt">
                                    <p:tmPct val="100000"/>
                                  </p:iterate>
                                  <p:childTnLst>
                                    <p:set>
                                      <p:cBhvr>
                                        <p:cTn id="22" dur="1" fill="hold">
                                          <p:stCondLst>
                                            <p:cond delay="0"/>
                                          </p:stCondLst>
                                        </p:cTn>
                                        <p:tgtEl>
                                          <p:spTgt spid="23561">
                                            <p:txEl>
                                              <p:pRg st="0" end="0"/>
                                            </p:txEl>
                                          </p:spTgt>
                                        </p:tgtEl>
                                        <p:attrNameLst>
                                          <p:attrName>style.visibility</p:attrName>
                                        </p:attrNameLst>
                                      </p:cBhvr>
                                      <p:to>
                                        <p:strVal val="visible"/>
                                      </p:to>
                                    </p:set>
                                    <p:animEffect transition="in" filter="wipe(up)">
                                      <p:cBhvr>
                                        <p:cTn id="23" dur="75"/>
                                        <p:tgtEl>
                                          <p:spTgt spid="23561">
                                            <p:txEl>
                                              <p:pRg st="0" end="0"/>
                                            </p:txEl>
                                          </p:spTgt>
                                        </p:tgtEl>
                                      </p:cBhvr>
                                    </p:animEffect>
                                  </p:childTnLst>
                                </p:cTn>
                              </p:par>
                            </p:childTnLst>
                          </p:cTn>
                        </p:par>
                        <p:par>
                          <p:cTn id="24" fill="hold">
                            <p:stCondLst>
                              <p:cond delay="450"/>
                            </p:stCondLst>
                            <p:childTnLst>
                              <p:par>
                                <p:cTn id="25" presetID="2" presetClass="entr" presetSubtype="8" fill="hold" nodeType="afterEffect">
                                  <p:stCondLst>
                                    <p:cond delay="0"/>
                                  </p:stCondLst>
                                  <p:childTnLst>
                                    <p:set>
                                      <p:cBhvr>
                                        <p:cTn id="26" dur="1" fill="hold">
                                          <p:stCondLst>
                                            <p:cond delay="0"/>
                                          </p:stCondLst>
                                        </p:cTn>
                                        <p:tgtEl>
                                          <p:spTgt spid="23593"/>
                                        </p:tgtEl>
                                        <p:attrNameLst>
                                          <p:attrName>style.visibility</p:attrName>
                                        </p:attrNameLst>
                                      </p:cBhvr>
                                      <p:to>
                                        <p:strVal val="visible"/>
                                      </p:to>
                                    </p:set>
                                    <p:anim calcmode="lin" valueType="num">
                                      <p:cBhvr additive="base">
                                        <p:cTn id="27" dur="500" fill="hold"/>
                                        <p:tgtEl>
                                          <p:spTgt spid="23593"/>
                                        </p:tgtEl>
                                        <p:attrNameLst>
                                          <p:attrName>ppt_x</p:attrName>
                                        </p:attrNameLst>
                                      </p:cBhvr>
                                      <p:tavLst>
                                        <p:tav tm="0">
                                          <p:val>
                                            <p:strVal val="0-#ppt_w/2"/>
                                          </p:val>
                                        </p:tav>
                                        <p:tav tm="100000">
                                          <p:val>
                                            <p:strVal val="#ppt_x"/>
                                          </p:val>
                                        </p:tav>
                                      </p:tavLst>
                                    </p:anim>
                                    <p:anim calcmode="lin" valueType="num">
                                      <p:cBhvr additive="base">
                                        <p:cTn id="28" dur="500" fill="hold"/>
                                        <p:tgtEl>
                                          <p:spTgt spid="2359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iterate type="lt">
                                    <p:tmPct val="100000"/>
                                  </p:iterate>
                                  <p:childTnLst>
                                    <p:set>
                                      <p:cBhvr>
                                        <p:cTn id="32" dur="1" fill="hold">
                                          <p:stCondLst>
                                            <p:cond delay="0"/>
                                          </p:stCondLst>
                                        </p:cTn>
                                        <p:tgtEl>
                                          <p:spTgt spid="23562">
                                            <p:txEl>
                                              <p:pRg st="0" end="0"/>
                                            </p:txEl>
                                          </p:spTgt>
                                        </p:tgtEl>
                                        <p:attrNameLst>
                                          <p:attrName>style.visibility</p:attrName>
                                        </p:attrNameLst>
                                      </p:cBhvr>
                                      <p:to>
                                        <p:strVal val="visible"/>
                                      </p:to>
                                    </p:set>
                                    <p:animEffect transition="in" filter="wipe(up)">
                                      <p:cBhvr>
                                        <p:cTn id="33" dur="75"/>
                                        <p:tgtEl>
                                          <p:spTgt spid="23562">
                                            <p:txEl>
                                              <p:pRg st="0" end="0"/>
                                            </p:txEl>
                                          </p:spTgt>
                                        </p:tgtEl>
                                      </p:cBhvr>
                                    </p:animEffect>
                                  </p:childTnLst>
                                </p:cTn>
                              </p:par>
                            </p:childTnLst>
                          </p:cTn>
                        </p:par>
                        <p:par>
                          <p:cTn id="34" fill="hold">
                            <p:stCondLst>
                              <p:cond delay="450"/>
                            </p:stCondLst>
                            <p:childTnLst>
                              <p:par>
                                <p:cTn id="35" presetID="2" presetClass="entr" presetSubtype="8" fill="hold" nodeType="afterEffect">
                                  <p:stCondLst>
                                    <p:cond delay="0"/>
                                  </p:stCondLst>
                                  <p:childTnLst>
                                    <p:set>
                                      <p:cBhvr>
                                        <p:cTn id="36" dur="1" fill="hold">
                                          <p:stCondLst>
                                            <p:cond delay="0"/>
                                          </p:stCondLst>
                                        </p:cTn>
                                        <p:tgtEl>
                                          <p:spTgt spid="23555"/>
                                        </p:tgtEl>
                                        <p:attrNameLst>
                                          <p:attrName>style.visibility</p:attrName>
                                        </p:attrNameLst>
                                      </p:cBhvr>
                                      <p:to>
                                        <p:strVal val="visible"/>
                                      </p:to>
                                    </p:set>
                                    <p:anim calcmode="lin" valueType="num">
                                      <p:cBhvr additive="base">
                                        <p:cTn id="37" dur="500" fill="hold"/>
                                        <p:tgtEl>
                                          <p:spTgt spid="23555"/>
                                        </p:tgtEl>
                                        <p:attrNameLst>
                                          <p:attrName>ppt_x</p:attrName>
                                        </p:attrNameLst>
                                      </p:cBhvr>
                                      <p:tavLst>
                                        <p:tav tm="0">
                                          <p:val>
                                            <p:strVal val="0-#ppt_w/2"/>
                                          </p:val>
                                        </p:tav>
                                        <p:tav tm="100000">
                                          <p:val>
                                            <p:strVal val="#ppt_x"/>
                                          </p:val>
                                        </p:tav>
                                      </p:tavLst>
                                    </p:anim>
                                    <p:anim calcmode="lin" valueType="num">
                                      <p:cBhvr additive="base">
                                        <p:cTn id="38" dur="500" fill="hold"/>
                                        <p:tgtEl>
                                          <p:spTgt spid="235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3558"/>
                                        </p:tgtEl>
                                        <p:attrNameLst>
                                          <p:attrName>style.visibility</p:attrName>
                                        </p:attrNameLst>
                                      </p:cBhvr>
                                      <p:to>
                                        <p:strVal val="visible"/>
                                      </p:to>
                                    </p:set>
                                    <p:anim calcmode="lin" valueType="num">
                                      <p:cBhvr additive="base">
                                        <p:cTn id="43" dur="500" fill="hold"/>
                                        <p:tgtEl>
                                          <p:spTgt spid="23558"/>
                                        </p:tgtEl>
                                        <p:attrNameLst>
                                          <p:attrName>ppt_x</p:attrName>
                                        </p:attrNameLst>
                                      </p:cBhvr>
                                      <p:tavLst>
                                        <p:tav tm="0">
                                          <p:val>
                                            <p:strVal val="0-#ppt_w/2"/>
                                          </p:val>
                                        </p:tav>
                                        <p:tav tm="100000">
                                          <p:val>
                                            <p:strVal val="#ppt_x"/>
                                          </p:val>
                                        </p:tav>
                                      </p:tavLst>
                                    </p:anim>
                                    <p:anim calcmode="lin" valueType="num">
                                      <p:cBhvr additive="base">
                                        <p:cTn id="44" dur="500" fill="hold"/>
                                        <p:tgtEl>
                                          <p:spTgt spid="2355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3618"/>
                                        </p:tgtEl>
                                        <p:attrNameLst>
                                          <p:attrName>style.visibility</p:attrName>
                                        </p:attrNameLst>
                                      </p:cBhvr>
                                      <p:to>
                                        <p:strVal val="visible"/>
                                      </p:to>
                                    </p:set>
                                    <p:anim calcmode="lin" valueType="num">
                                      <p:cBhvr additive="base">
                                        <p:cTn id="49" dur="500" fill="hold"/>
                                        <p:tgtEl>
                                          <p:spTgt spid="23618"/>
                                        </p:tgtEl>
                                        <p:attrNameLst>
                                          <p:attrName>ppt_x</p:attrName>
                                        </p:attrNameLst>
                                      </p:cBhvr>
                                      <p:tavLst>
                                        <p:tav tm="0">
                                          <p:val>
                                            <p:strVal val="#ppt_x"/>
                                          </p:val>
                                        </p:tav>
                                        <p:tav tm="100000">
                                          <p:val>
                                            <p:strVal val="#ppt_x"/>
                                          </p:val>
                                        </p:tav>
                                      </p:tavLst>
                                    </p:anim>
                                    <p:anim calcmode="lin" valueType="num">
                                      <p:cBhvr additive="base">
                                        <p:cTn id="50" dur="500" fill="hold"/>
                                        <p:tgtEl>
                                          <p:spTgt spid="2361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3573"/>
                                        </p:tgtEl>
                                        <p:attrNameLst>
                                          <p:attrName>style.visibility</p:attrName>
                                        </p:attrNameLst>
                                      </p:cBhvr>
                                      <p:to>
                                        <p:strVal val="visible"/>
                                      </p:to>
                                    </p:set>
                                    <p:animEffect transition="in" filter="wipe(left)">
                                      <p:cBhvr>
                                        <p:cTn id="55" dur="500"/>
                                        <p:tgtEl>
                                          <p:spTgt spid="2357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1" fill="hold" nodeType="clickEffect">
                                  <p:stCondLst>
                                    <p:cond delay="0"/>
                                  </p:stCondLst>
                                  <p:childTnLst>
                                    <p:set>
                                      <p:cBhvr>
                                        <p:cTn id="59" dur="1" fill="hold">
                                          <p:stCondLst>
                                            <p:cond delay="0"/>
                                          </p:stCondLst>
                                        </p:cTn>
                                        <p:tgtEl>
                                          <p:spTgt spid="23563"/>
                                        </p:tgtEl>
                                        <p:attrNameLst>
                                          <p:attrName>style.visibility</p:attrName>
                                        </p:attrNameLst>
                                      </p:cBhvr>
                                      <p:to>
                                        <p:strVal val="visible"/>
                                      </p:to>
                                    </p:set>
                                    <p:anim calcmode="lin" valueType="num">
                                      <p:cBhvr additive="base">
                                        <p:cTn id="60" dur="500" fill="hold"/>
                                        <p:tgtEl>
                                          <p:spTgt spid="23563"/>
                                        </p:tgtEl>
                                        <p:attrNameLst>
                                          <p:attrName>ppt_x</p:attrName>
                                        </p:attrNameLst>
                                      </p:cBhvr>
                                      <p:tavLst>
                                        <p:tav tm="0">
                                          <p:val>
                                            <p:strVal val="#ppt_x"/>
                                          </p:val>
                                        </p:tav>
                                        <p:tav tm="100000">
                                          <p:val>
                                            <p:strVal val="#ppt_x"/>
                                          </p:val>
                                        </p:tav>
                                      </p:tavLst>
                                    </p:anim>
                                    <p:anim calcmode="lin" valueType="num">
                                      <p:cBhvr additive="base">
                                        <p:cTn id="61" dur="500" fill="hold"/>
                                        <p:tgtEl>
                                          <p:spTgt spid="23563"/>
                                        </p:tgtEl>
                                        <p:attrNameLst>
                                          <p:attrName>ppt_y</p:attrName>
                                        </p:attrNameLst>
                                      </p:cBhvr>
                                      <p:tavLst>
                                        <p:tav tm="0">
                                          <p:val>
                                            <p:strVal val="0-#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3577"/>
                                        </p:tgtEl>
                                        <p:attrNameLst>
                                          <p:attrName>style.visibility</p:attrName>
                                        </p:attrNameLst>
                                      </p:cBhvr>
                                      <p:to>
                                        <p:strVal val="visible"/>
                                      </p:to>
                                    </p:set>
                                    <p:animEffect transition="in" filter="wipe(left)">
                                      <p:cBhvr>
                                        <p:cTn id="66" dur="500"/>
                                        <p:tgtEl>
                                          <p:spTgt spid="23577"/>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nodeType="clickEffect">
                                  <p:stCondLst>
                                    <p:cond delay="0"/>
                                  </p:stCondLst>
                                  <p:childTnLst>
                                    <p:set>
                                      <p:cBhvr>
                                        <p:cTn id="70" dur="1" fill="hold">
                                          <p:stCondLst>
                                            <p:cond delay="0"/>
                                          </p:stCondLst>
                                        </p:cTn>
                                        <p:tgtEl>
                                          <p:spTgt spid="23567"/>
                                        </p:tgtEl>
                                        <p:attrNameLst>
                                          <p:attrName>style.visibility</p:attrName>
                                        </p:attrNameLst>
                                      </p:cBhvr>
                                      <p:to>
                                        <p:strVal val="visible"/>
                                      </p:to>
                                    </p:set>
                                    <p:anim calcmode="lin" valueType="num">
                                      <p:cBhvr additive="base">
                                        <p:cTn id="71" dur="500" fill="hold"/>
                                        <p:tgtEl>
                                          <p:spTgt spid="23567"/>
                                        </p:tgtEl>
                                        <p:attrNameLst>
                                          <p:attrName>ppt_x</p:attrName>
                                        </p:attrNameLst>
                                      </p:cBhvr>
                                      <p:tavLst>
                                        <p:tav tm="0">
                                          <p:val>
                                            <p:strVal val="1+#ppt_w/2"/>
                                          </p:val>
                                        </p:tav>
                                        <p:tav tm="100000">
                                          <p:val>
                                            <p:strVal val="#ppt_x"/>
                                          </p:val>
                                        </p:tav>
                                      </p:tavLst>
                                    </p:anim>
                                    <p:anim calcmode="lin" valueType="num">
                                      <p:cBhvr additive="base">
                                        <p:cTn id="72" dur="500" fill="hold"/>
                                        <p:tgtEl>
                                          <p:spTgt spid="235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autoUpdateAnimBg="0" build="p"/>
      <p:bldP spid="23562" grpId="0" autoUpdateAnimBg="0" build="p"/>
      <p:bldP spid="2361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5067300" y="3963988"/>
            <a:ext cx="714375" cy="452437"/>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4579" name="Group 3"/>
          <p:cNvGrpSpPr/>
          <p:nvPr/>
        </p:nvGrpSpPr>
        <p:grpSpPr bwMode="auto">
          <a:xfrm>
            <a:off x="5499100" y="2670175"/>
            <a:ext cx="1644650" cy="860425"/>
            <a:chOff x="1929" y="1694"/>
            <a:chExt cx="1036" cy="542"/>
          </a:xfrm>
        </p:grpSpPr>
        <p:sp>
          <p:nvSpPr>
            <p:cNvPr id="23595" name="Freeform 4"/>
            <p:cNvSpPr/>
            <p:nvPr/>
          </p:nvSpPr>
          <p:spPr bwMode="auto">
            <a:xfrm>
              <a:off x="1929" y="1951"/>
              <a:ext cx="1" cy="285"/>
            </a:xfrm>
            <a:custGeom>
              <a:avLst/>
              <a:gdLst>
                <a:gd name="T0" fmla="*/ 0 w 1"/>
                <a:gd name="T1" fmla="*/ 0 h 285"/>
                <a:gd name="T2" fmla="*/ 0 w 1"/>
                <a:gd name="T3" fmla="*/ 285 h 285"/>
                <a:gd name="T4" fmla="*/ 0 60000 65536"/>
                <a:gd name="T5" fmla="*/ 0 60000 65536"/>
              </a:gdLst>
              <a:ahLst/>
              <a:cxnLst>
                <a:cxn ang="T4">
                  <a:pos x="T0" y="T1"/>
                </a:cxn>
                <a:cxn ang="T5">
                  <a:pos x="T2" y="T3"/>
                </a:cxn>
              </a:cxnLst>
              <a:rect l="0" t="0" r="r" b="b"/>
              <a:pathLst>
                <a:path w="1" h="285">
                  <a:moveTo>
                    <a:pt x="0" y="0"/>
                  </a:moveTo>
                  <a:lnTo>
                    <a:pt x="0" y="285"/>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96" name="Line 5"/>
            <p:cNvSpPr>
              <a:spLocks noChangeShapeType="1"/>
            </p:cNvSpPr>
            <p:nvPr/>
          </p:nvSpPr>
          <p:spPr bwMode="auto">
            <a:xfrm flipV="1">
              <a:off x="1929" y="1951"/>
              <a:ext cx="180" cy="1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97" name="Text Box 6"/>
            <p:cNvSpPr txBox="1">
              <a:spLocks noChangeArrowheads="1"/>
            </p:cNvSpPr>
            <p:nvPr/>
          </p:nvSpPr>
          <p:spPr bwMode="auto">
            <a:xfrm>
              <a:off x="2081" y="1694"/>
              <a:ext cx="8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基本偏差</a:t>
              </a:r>
              <a:endParaRPr lang="zh-CN" altLang="en-US" b="1"/>
            </a:p>
          </p:txBody>
        </p:sp>
        <p:sp>
          <p:nvSpPr>
            <p:cNvPr id="23598" name="Line 7"/>
            <p:cNvSpPr>
              <a:spLocks noChangeShapeType="1"/>
            </p:cNvSpPr>
            <p:nvPr/>
          </p:nvSpPr>
          <p:spPr bwMode="auto">
            <a:xfrm>
              <a:off x="2109" y="1951"/>
              <a:ext cx="79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4584" name="Group 8"/>
          <p:cNvGrpSpPr/>
          <p:nvPr/>
        </p:nvGrpSpPr>
        <p:grpSpPr bwMode="auto">
          <a:xfrm>
            <a:off x="6184900" y="3492500"/>
            <a:ext cx="1785938" cy="525463"/>
            <a:chOff x="2364" y="2206"/>
            <a:chExt cx="1125" cy="331"/>
          </a:xfrm>
        </p:grpSpPr>
        <p:sp>
          <p:nvSpPr>
            <p:cNvPr id="23591" name="Line 9"/>
            <p:cNvSpPr>
              <a:spLocks noChangeShapeType="1"/>
            </p:cNvSpPr>
            <p:nvPr/>
          </p:nvSpPr>
          <p:spPr bwMode="auto">
            <a:xfrm flipV="1">
              <a:off x="2364" y="2206"/>
              <a:ext cx="0" cy="300"/>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92" name="Line 10"/>
            <p:cNvSpPr>
              <a:spLocks noChangeShapeType="1"/>
            </p:cNvSpPr>
            <p:nvPr/>
          </p:nvSpPr>
          <p:spPr bwMode="auto">
            <a:xfrm>
              <a:off x="2364" y="2356"/>
              <a:ext cx="255" cy="14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93" name="Text Box 11"/>
            <p:cNvSpPr txBox="1">
              <a:spLocks noChangeArrowheads="1"/>
            </p:cNvSpPr>
            <p:nvPr/>
          </p:nvSpPr>
          <p:spPr bwMode="auto">
            <a:xfrm>
              <a:off x="2576" y="2249"/>
              <a:ext cx="8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基本偏差</a:t>
              </a:r>
              <a:endParaRPr lang="zh-CN" altLang="en-US" b="1"/>
            </a:p>
          </p:txBody>
        </p:sp>
        <p:sp>
          <p:nvSpPr>
            <p:cNvPr id="23594" name="Line 12"/>
            <p:cNvSpPr>
              <a:spLocks noChangeShapeType="1"/>
            </p:cNvSpPr>
            <p:nvPr/>
          </p:nvSpPr>
          <p:spPr bwMode="auto">
            <a:xfrm>
              <a:off x="2619" y="2506"/>
              <a:ext cx="8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4589" name="Group 13"/>
          <p:cNvGrpSpPr/>
          <p:nvPr/>
        </p:nvGrpSpPr>
        <p:grpSpPr bwMode="auto">
          <a:xfrm>
            <a:off x="5780088" y="3944938"/>
            <a:ext cx="2168525" cy="549275"/>
            <a:chOff x="2109" y="2491"/>
            <a:chExt cx="1366" cy="346"/>
          </a:xfrm>
        </p:grpSpPr>
        <p:sp>
          <p:nvSpPr>
            <p:cNvPr id="23585" name="Text Box 14"/>
            <p:cNvSpPr txBox="1">
              <a:spLocks noChangeArrowheads="1"/>
            </p:cNvSpPr>
            <p:nvPr/>
          </p:nvSpPr>
          <p:spPr bwMode="auto">
            <a:xfrm>
              <a:off x="2591" y="2549"/>
              <a:ext cx="8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标准公差</a:t>
              </a:r>
              <a:endParaRPr lang="zh-CN" altLang="en-US" b="1"/>
            </a:p>
          </p:txBody>
        </p:sp>
        <p:sp>
          <p:nvSpPr>
            <p:cNvPr id="23586" name="Line 15"/>
            <p:cNvSpPr>
              <a:spLocks noChangeShapeType="1"/>
            </p:cNvSpPr>
            <p:nvPr/>
          </p:nvSpPr>
          <p:spPr bwMode="auto">
            <a:xfrm>
              <a:off x="2109" y="2511"/>
              <a:ext cx="33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87" name="Line 16"/>
            <p:cNvSpPr>
              <a:spLocks noChangeShapeType="1"/>
            </p:cNvSpPr>
            <p:nvPr/>
          </p:nvSpPr>
          <p:spPr bwMode="auto">
            <a:xfrm>
              <a:off x="2109" y="2782"/>
              <a:ext cx="31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88" name="Freeform 17"/>
            <p:cNvSpPr/>
            <p:nvPr/>
          </p:nvSpPr>
          <p:spPr bwMode="auto">
            <a:xfrm>
              <a:off x="2362" y="2491"/>
              <a:ext cx="1" cy="306"/>
            </a:xfrm>
            <a:custGeom>
              <a:avLst/>
              <a:gdLst>
                <a:gd name="T0" fmla="*/ 0 w 1"/>
                <a:gd name="T1" fmla="*/ 0 h 306"/>
                <a:gd name="T2" fmla="*/ 0 w 1"/>
                <a:gd name="T3" fmla="*/ 306 h 306"/>
                <a:gd name="T4" fmla="*/ 0 60000 65536"/>
                <a:gd name="T5" fmla="*/ 0 60000 65536"/>
              </a:gdLst>
              <a:ahLst/>
              <a:cxnLst>
                <a:cxn ang="T4">
                  <a:pos x="T0" y="T1"/>
                </a:cxn>
                <a:cxn ang="T5">
                  <a:pos x="T2" y="T3"/>
                </a:cxn>
              </a:cxnLst>
              <a:rect l="0" t="0" r="r" b="b"/>
              <a:pathLst>
                <a:path w="1" h="306">
                  <a:moveTo>
                    <a:pt x="0" y="0"/>
                  </a:moveTo>
                  <a:lnTo>
                    <a:pt x="0" y="306"/>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89" name="Line 18"/>
            <p:cNvSpPr>
              <a:spLocks noChangeShapeType="1"/>
            </p:cNvSpPr>
            <p:nvPr/>
          </p:nvSpPr>
          <p:spPr bwMode="auto">
            <a:xfrm>
              <a:off x="2364" y="2675"/>
              <a:ext cx="227" cy="13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90" name="Line 19"/>
            <p:cNvSpPr>
              <a:spLocks noChangeShapeType="1"/>
            </p:cNvSpPr>
            <p:nvPr/>
          </p:nvSpPr>
          <p:spPr bwMode="auto">
            <a:xfrm>
              <a:off x="2589" y="2806"/>
              <a:ext cx="87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3558" name="Text Box 20"/>
          <p:cNvSpPr txBox="1">
            <a:spLocks noChangeArrowheads="1"/>
          </p:cNvSpPr>
          <p:nvPr/>
        </p:nvSpPr>
        <p:spPr bwMode="auto">
          <a:xfrm>
            <a:off x="209550" y="114300"/>
            <a:ext cx="46132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3)</a:t>
            </a:r>
            <a:r>
              <a:rPr lang="zh-CN" altLang="en-US" sz="3200" b="1">
                <a:latin typeface="宋体" panose="02010600030101010101" pitchFamily="2" charset="-122"/>
              </a:rPr>
              <a:t>标准公差和基本偏差</a:t>
            </a:r>
            <a:endParaRPr lang="zh-CN" altLang="en-US" sz="3200" b="1">
              <a:latin typeface="宋体" panose="02010600030101010101" pitchFamily="2" charset="-122"/>
            </a:endParaRPr>
          </a:p>
        </p:txBody>
      </p:sp>
      <p:sp>
        <p:nvSpPr>
          <p:cNvPr id="24597" name="Text Box 21"/>
          <p:cNvSpPr txBox="1">
            <a:spLocks noChangeArrowheads="1"/>
          </p:cNvSpPr>
          <p:nvPr/>
        </p:nvSpPr>
        <p:spPr bwMode="auto">
          <a:xfrm>
            <a:off x="344488" y="609600"/>
            <a:ext cx="228758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solidFill>
                  <a:srgbClr val="FF3300"/>
                </a:solidFill>
                <a:latin typeface="宋体" panose="02010600030101010101" pitchFamily="2" charset="-122"/>
              </a:rPr>
              <a:t>⑴ </a:t>
            </a:r>
            <a:r>
              <a:rPr lang="zh-CN" altLang="en-US" sz="2800" b="1">
                <a:solidFill>
                  <a:srgbClr val="FF3300"/>
                </a:solidFill>
                <a:latin typeface="宋体" panose="02010600030101010101" pitchFamily="2" charset="-122"/>
              </a:rPr>
              <a:t>标准公差</a:t>
            </a:r>
            <a:endParaRPr lang="zh-CN" altLang="en-US" sz="2800" b="1">
              <a:solidFill>
                <a:srgbClr val="FF3300"/>
              </a:solidFill>
              <a:latin typeface="宋体" panose="02010600030101010101" pitchFamily="2" charset="-122"/>
            </a:endParaRPr>
          </a:p>
        </p:txBody>
      </p:sp>
      <p:sp>
        <p:nvSpPr>
          <p:cNvPr id="24598" name="Text Box 22"/>
          <p:cNvSpPr txBox="1">
            <a:spLocks noChangeArrowheads="1"/>
          </p:cNvSpPr>
          <p:nvPr/>
        </p:nvSpPr>
        <p:spPr bwMode="auto">
          <a:xfrm>
            <a:off x="865188" y="1063625"/>
            <a:ext cx="597376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latin typeface="宋体" panose="02010600030101010101" pitchFamily="2" charset="-122"/>
              </a:rPr>
              <a:t>标准公差代号</a:t>
            </a:r>
            <a:r>
              <a:rPr lang="en-US" altLang="zh-CN" sz="2800" b="1">
                <a:solidFill>
                  <a:srgbClr val="FF3300"/>
                </a:solidFill>
                <a:latin typeface="宋体" panose="02010600030101010101" pitchFamily="2" charset="-122"/>
              </a:rPr>
              <a:t>: </a:t>
            </a:r>
            <a:r>
              <a:rPr lang="zh-CN" altLang="en-US" sz="2800" b="1">
                <a:solidFill>
                  <a:srgbClr val="FF3300"/>
                </a:solidFill>
                <a:latin typeface="宋体" panose="02010600030101010101" pitchFamily="2" charset="-122"/>
              </a:rPr>
              <a:t>符号</a:t>
            </a:r>
            <a:r>
              <a:rPr lang="en-US" altLang="zh-CN" sz="2800" b="1">
                <a:solidFill>
                  <a:srgbClr val="FF3300"/>
                </a:solidFill>
                <a:latin typeface="宋体" panose="02010600030101010101" pitchFamily="2" charset="-122"/>
              </a:rPr>
              <a:t>IT+</a:t>
            </a:r>
            <a:r>
              <a:rPr lang="zh-CN" altLang="en-US" sz="2800" b="1">
                <a:solidFill>
                  <a:srgbClr val="FF3300"/>
                </a:solidFill>
                <a:latin typeface="宋体" panose="02010600030101010101" pitchFamily="2" charset="-122"/>
              </a:rPr>
              <a:t>数字组成</a:t>
            </a:r>
            <a:endParaRPr lang="zh-CN" altLang="en-US" sz="2800" b="1">
              <a:solidFill>
                <a:srgbClr val="FF3300"/>
              </a:solidFill>
              <a:latin typeface="宋体" panose="02010600030101010101" pitchFamily="2" charset="-122"/>
            </a:endParaRPr>
          </a:p>
        </p:txBody>
      </p:sp>
      <p:sp>
        <p:nvSpPr>
          <p:cNvPr id="24600" name="Text Box 24"/>
          <p:cNvSpPr txBox="1">
            <a:spLocks noChangeArrowheads="1"/>
          </p:cNvSpPr>
          <p:nvPr/>
        </p:nvSpPr>
        <p:spPr bwMode="auto">
          <a:xfrm>
            <a:off x="890588" y="2212975"/>
            <a:ext cx="2273300"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标准公差的数值由基本尺寸和公差等级确定。</a:t>
            </a:r>
            <a:endParaRPr lang="zh-CN" altLang="en-US" sz="2800" b="1">
              <a:latin typeface="宋体" panose="02010600030101010101" pitchFamily="2" charset="-122"/>
            </a:endParaRPr>
          </a:p>
        </p:txBody>
      </p:sp>
      <p:sp>
        <p:nvSpPr>
          <p:cNvPr id="24601" name="Text Box 25"/>
          <p:cNvSpPr txBox="1">
            <a:spLocks noChangeArrowheads="1"/>
          </p:cNvSpPr>
          <p:nvPr/>
        </p:nvSpPr>
        <p:spPr bwMode="auto">
          <a:xfrm>
            <a:off x="379413" y="4933950"/>
            <a:ext cx="21463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latin typeface="宋体" panose="02010600030101010101" pitchFamily="2" charset="-122"/>
              </a:rPr>
              <a:t>⑵ </a:t>
            </a:r>
            <a:r>
              <a:rPr lang="zh-CN" altLang="en-US" sz="2800" b="1">
                <a:solidFill>
                  <a:srgbClr val="FF3300"/>
                </a:solidFill>
                <a:latin typeface="宋体" panose="02010600030101010101" pitchFamily="2" charset="-122"/>
              </a:rPr>
              <a:t>基本偏差</a:t>
            </a:r>
            <a:endParaRPr lang="zh-CN" altLang="en-US" sz="2800" b="1">
              <a:solidFill>
                <a:srgbClr val="FF3300"/>
              </a:solidFill>
              <a:latin typeface="宋体" panose="02010600030101010101" pitchFamily="2" charset="-122"/>
            </a:endParaRPr>
          </a:p>
        </p:txBody>
      </p:sp>
      <p:sp>
        <p:nvSpPr>
          <p:cNvPr id="24602" name="Text Box 26"/>
          <p:cNvSpPr txBox="1">
            <a:spLocks noChangeArrowheads="1"/>
          </p:cNvSpPr>
          <p:nvPr/>
        </p:nvSpPr>
        <p:spPr bwMode="auto">
          <a:xfrm>
            <a:off x="877888" y="5389563"/>
            <a:ext cx="49117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一般为靠近零线的那个偏差。</a:t>
            </a:r>
            <a:endParaRPr lang="zh-CN" altLang="en-US" sz="2800" b="1">
              <a:solidFill>
                <a:srgbClr val="FF6600"/>
              </a:solidFill>
              <a:latin typeface="宋体" panose="02010600030101010101" pitchFamily="2" charset="-122"/>
            </a:endParaRPr>
          </a:p>
        </p:txBody>
      </p:sp>
      <p:sp>
        <p:nvSpPr>
          <p:cNvPr id="24603" name="Text Box 27"/>
          <p:cNvSpPr txBox="1">
            <a:spLocks noChangeArrowheads="1"/>
          </p:cNvSpPr>
          <p:nvPr/>
        </p:nvSpPr>
        <p:spPr bwMode="auto">
          <a:xfrm>
            <a:off x="3473450" y="5680075"/>
            <a:ext cx="1809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sz="2800" b="1"/>
          </a:p>
        </p:txBody>
      </p:sp>
      <p:grpSp>
        <p:nvGrpSpPr>
          <p:cNvPr id="24604" name="Group 28"/>
          <p:cNvGrpSpPr/>
          <p:nvPr/>
        </p:nvGrpSpPr>
        <p:grpSpPr bwMode="auto">
          <a:xfrm>
            <a:off x="3200400" y="2678113"/>
            <a:ext cx="4306888" cy="2214562"/>
            <a:chOff x="489" y="1696"/>
            <a:chExt cx="2713" cy="1395"/>
          </a:xfrm>
        </p:grpSpPr>
        <p:sp>
          <p:nvSpPr>
            <p:cNvPr id="23577" name="Line 29"/>
            <p:cNvSpPr>
              <a:spLocks noChangeShapeType="1"/>
            </p:cNvSpPr>
            <p:nvPr/>
          </p:nvSpPr>
          <p:spPr bwMode="auto">
            <a:xfrm>
              <a:off x="729" y="2221"/>
              <a:ext cx="22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8" name="Rectangle 30"/>
            <p:cNvSpPr>
              <a:spLocks noChangeArrowheads="1"/>
            </p:cNvSpPr>
            <p:nvPr/>
          </p:nvSpPr>
          <p:spPr bwMode="auto">
            <a:xfrm>
              <a:off x="1239" y="1696"/>
              <a:ext cx="450" cy="285"/>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579" name="Line 31"/>
            <p:cNvSpPr>
              <a:spLocks noChangeShapeType="1"/>
            </p:cNvSpPr>
            <p:nvPr/>
          </p:nvSpPr>
          <p:spPr bwMode="auto">
            <a:xfrm>
              <a:off x="1119" y="2206"/>
              <a:ext cx="0" cy="885"/>
            </a:xfrm>
            <a:prstGeom prst="line">
              <a:avLst/>
            </a:prstGeom>
            <a:noFill/>
            <a:ln w="19050">
              <a:solidFill>
                <a:schemeClr val="tx1"/>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80" name="Text Box 32"/>
            <p:cNvSpPr txBox="1">
              <a:spLocks noChangeArrowheads="1"/>
            </p:cNvSpPr>
            <p:nvPr/>
          </p:nvSpPr>
          <p:spPr bwMode="auto">
            <a:xfrm rot="-5400000">
              <a:off x="545" y="2483"/>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基本尺寸</a:t>
              </a:r>
              <a:endParaRPr lang="zh-CN" altLang="en-US" b="1"/>
            </a:p>
          </p:txBody>
        </p:sp>
        <p:sp>
          <p:nvSpPr>
            <p:cNvPr id="23581" name="Text Box 33"/>
            <p:cNvSpPr txBox="1">
              <a:spLocks noChangeArrowheads="1"/>
            </p:cNvSpPr>
            <p:nvPr/>
          </p:nvSpPr>
          <p:spPr bwMode="auto">
            <a:xfrm>
              <a:off x="686" y="1992"/>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t>+</a:t>
              </a:r>
              <a:endParaRPr lang="en-US" altLang="zh-CN" b="1"/>
            </a:p>
          </p:txBody>
        </p:sp>
        <p:sp>
          <p:nvSpPr>
            <p:cNvPr id="23582" name="Text Box 34"/>
            <p:cNvSpPr txBox="1">
              <a:spLocks noChangeArrowheads="1"/>
            </p:cNvSpPr>
            <p:nvPr/>
          </p:nvSpPr>
          <p:spPr bwMode="auto">
            <a:xfrm>
              <a:off x="686" y="2204"/>
              <a:ext cx="22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400" b="1"/>
                <a:t>—</a:t>
              </a:r>
              <a:endParaRPr lang="en-US" altLang="zh-CN" sz="1400" b="1"/>
            </a:p>
          </p:txBody>
        </p:sp>
        <p:sp>
          <p:nvSpPr>
            <p:cNvPr id="23583" name="Text Box 35"/>
            <p:cNvSpPr txBox="1">
              <a:spLocks noChangeArrowheads="1"/>
            </p:cNvSpPr>
            <p:nvPr/>
          </p:nvSpPr>
          <p:spPr bwMode="auto">
            <a:xfrm>
              <a:off x="489" y="2077"/>
              <a:ext cx="23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latin typeface="宋体" panose="02010600030101010101" pitchFamily="2" charset="-122"/>
                </a:rPr>
                <a:t>0</a:t>
              </a:r>
              <a:endParaRPr lang="en-US" altLang="zh-CN" b="1">
                <a:latin typeface="宋体" panose="02010600030101010101" pitchFamily="2" charset="-122"/>
              </a:endParaRPr>
            </a:p>
          </p:txBody>
        </p:sp>
        <p:sp>
          <p:nvSpPr>
            <p:cNvPr id="23584" name="Text Box 36"/>
            <p:cNvSpPr txBox="1">
              <a:spLocks noChangeArrowheads="1"/>
            </p:cNvSpPr>
            <p:nvPr/>
          </p:nvSpPr>
          <p:spPr bwMode="auto">
            <a:xfrm>
              <a:off x="2955" y="2083"/>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latin typeface="宋体" panose="02010600030101010101" pitchFamily="2" charset="-122"/>
                </a:rPr>
                <a:t>0</a:t>
              </a:r>
              <a:endParaRPr lang="en-US" altLang="zh-CN" b="1">
                <a:latin typeface="宋体" panose="02010600030101010101" pitchFamily="2" charset="-122"/>
              </a:endParaRPr>
            </a:p>
          </p:txBody>
        </p:sp>
      </p:grpSp>
      <p:grpSp>
        <p:nvGrpSpPr>
          <p:cNvPr id="24630" name="Group 54"/>
          <p:cNvGrpSpPr/>
          <p:nvPr/>
        </p:nvGrpSpPr>
        <p:grpSpPr bwMode="auto">
          <a:xfrm>
            <a:off x="5105400" y="2170113"/>
            <a:ext cx="2085975" cy="979487"/>
            <a:chOff x="3216" y="1367"/>
            <a:chExt cx="1314" cy="617"/>
          </a:xfrm>
        </p:grpSpPr>
        <p:sp>
          <p:nvSpPr>
            <p:cNvPr id="23571" name="Line 38"/>
            <p:cNvSpPr>
              <a:spLocks noChangeShapeType="1"/>
            </p:cNvSpPr>
            <p:nvPr/>
          </p:nvSpPr>
          <p:spPr bwMode="auto">
            <a:xfrm>
              <a:off x="3216" y="1689"/>
              <a:ext cx="29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2" name="Line 39"/>
            <p:cNvSpPr>
              <a:spLocks noChangeShapeType="1"/>
            </p:cNvSpPr>
            <p:nvPr/>
          </p:nvSpPr>
          <p:spPr bwMode="auto">
            <a:xfrm>
              <a:off x="3216" y="1969"/>
              <a:ext cx="29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3" name="Freeform 40"/>
            <p:cNvSpPr/>
            <p:nvPr/>
          </p:nvSpPr>
          <p:spPr bwMode="auto">
            <a:xfrm>
              <a:off x="3462" y="1669"/>
              <a:ext cx="1" cy="315"/>
            </a:xfrm>
            <a:custGeom>
              <a:avLst/>
              <a:gdLst>
                <a:gd name="T0" fmla="*/ 0 w 1"/>
                <a:gd name="T1" fmla="*/ 0 h 315"/>
                <a:gd name="T2" fmla="*/ 0 w 1"/>
                <a:gd name="T3" fmla="*/ 315 h 315"/>
                <a:gd name="T4" fmla="*/ 0 60000 65536"/>
                <a:gd name="T5" fmla="*/ 0 60000 65536"/>
              </a:gdLst>
              <a:ahLst/>
              <a:cxnLst>
                <a:cxn ang="T4">
                  <a:pos x="T0" y="T1"/>
                </a:cxn>
                <a:cxn ang="T5">
                  <a:pos x="T2" y="T3"/>
                </a:cxn>
              </a:cxnLst>
              <a:rect l="0" t="0" r="r" b="b"/>
              <a:pathLst>
                <a:path w="1" h="315">
                  <a:moveTo>
                    <a:pt x="0" y="0"/>
                  </a:moveTo>
                  <a:lnTo>
                    <a:pt x="0" y="315"/>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4" name="Line 41"/>
            <p:cNvSpPr>
              <a:spLocks noChangeShapeType="1"/>
            </p:cNvSpPr>
            <p:nvPr/>
          </p:nvSpPr>
          <p:spPr bwMode="auto">
            <a:xfrm flipV="1">
              <a:off x="3462" y="1624"/>
              <a:ext cx="201" cy="19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5" name="Text Box 42"/>
            <p:cNvSpPr txBox="1">
              <a:spLocks noChangeArrowheads="1"/>
            </p:cNvSpPr>
            <p:nvPr/>
          </p:nvSpPr>
          <p:spPr bwMode="auto">
            <a:xfrm>
              <a:off x="3618" y="1367"/>
              <a:ext cx="9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标准公差</a:t>
              </a:r>
              <a:endParaRPr lang="zh-CN" altLang="en-US" b="1"/>
            </a:p>
          </p:txBody>
        </p:sp>
        <p:sp>
          <p:nvSpPr>
            <p:cNvPr id="23576" name="Line 43"/>
            <p:cNvSpPr>
              <a:spLocks noChangeShapeType="1"/>
            </p:cNvSpPr>
            <p:nvPr/>
          </p:nvSpPr>
          <p:spPr bwMode="auto">
            <a:xfrm>
              <a:off x="3663" y="1624"/>
              <a:ext cx="83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4620" name="Text Box 44"/>
          <p:cNvSpPr txBox="1">
            <a:spLocks noChangeArrowheads="1"/>
          </p:cNvSpPr>
          <p:nvPr/>
        </p:nvSpPr>
        <p:spPr bwMode="auto">
          <a:xfrm>
            <a:off x="2784475" y="615950"/>
            <a:ext cx="4238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用以确定公差带的大小。</a:t>
            </a:r>
            <a:endParaRPr lang="zh-CN" altLang="en-US" sz="2800" b="1">
              <a:latin typeface="宋体" panose="02010600030101010101" pitchFamily="2" charset="-122"/>
            </a:endParaRPr>
          </a:p>
        </p:txBody>
      </p:sp>
      <p:sp>
        <p:nvSpPr>
          <p:cNvPr id="24621" name="Text Box 45"/>
          <p:cNvSpPr txBox="1">
            <a:spLocks noChangeArrowheads="1"/>
          </p:cNvSpPr>
          <p:nvPr/>
        </p:nvSpPr>
        <p:spPr bwMode="auto">
          <a:xfrm>
            <a:off x="2670175" y="4940300"/>
            <a:ext cx="6057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用以确定公差带相对于零线的位置。</a:t>
            </a:r>
            <a:endParaRPr lang="zh-CN" altLang="en-US" sz="2800" b="1">
              <a:latin typeface="宋体" panose="02010600030101010101" pitchFamily="2" charset="-122"/>
            </a:endParaRPr>
          </a:p>
        </p:txBody>
      </p:sp>
      <p:sp>
        <p:nvSpPr>
          <p:cNvPr id="24622" name="Text Box 46"/>
          <p:cNvSpPr txBox="1">
            <a:spLocks noChangeArrowheads="1"/>
          </p:cNvSpPr>
          <p:nvPr/>
        </p:nvSpPr>
        <p:spPr bwMode="auto">
          <a:xfrm>
            <a:off x="866775" y="5876925"/>
            <a:ext cx="74564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latin typeface="宋体" panose="02010600030101010101" pitchFamily="2" charset="-122"/>
              </a:rPr>
              <a:t>代号</a:t>
            </a:r>
            <a:r>
              <a:rPr lang="en-US" altLang="zh-CN" sz="2800" b="1">
                <a:solidFill>
                  <a:srgbClr val="FF3300"/>
                </a:solidFill>
                <a:latin typeface="宋体" panose="02010600030101010101" pitchFamily="2" charset="-122"/>
              </a:rPr>
              <a:t>: </a:t>
            </a:r>
            <a:r>
              <a:rPr lang="zh-CN" altLang="en-US" sz="2800" b="1">
                <a:solidFill>
                  <a:srgbClr val="FF3300"/>
                </a:solidFill>
                <a:latin typeface="宋体" panose="02010600030101010101" pitchFamily="2" charset="-122"/>
              </a:rPr>
              <a:t>孔用大写字母，轴用小字母表示。</a:t>
            </a:r>
            <a:endParaRPr lang="zh-CN" altLang="en-US" sz="2800" b="1">
              <a:solidFill>
                <a:srgbClr val="FF3300"/>
              </a:solidFill>
              <a:latin typeface="宋体" panose="02010600030101010101" pitchFamily="2" charset="-122"/>
            </a:endParaRPr>
          </a:p>
        </p:txBody>
      </p:sp>
      <p:sp>
        <p:nvSpPr>
          <p:cNvPr id="24629" name="Text Box 53"/>
          <p:cNvSpPr txBox="1">
            <a:spLocks noChangeArrowheads="1"/>
          </p:cNvSpPr>
          <p:nvPr/>
        </p:nvSpPr>
        <p:spPr bwMode="auto">
          <a:xfrm>
            <a:off x="850900" y="1522413"/>
            <a:ext cx="6261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宋体" panose="02010600030101010101" pitchFamily="2" charset="-122"/>
              </a:rPr>
              <a:t>共</a:t>
            </a:r>
            <a:r>
              <a:rPr lang="en-US" altLang="zh-CN" sz="2800" b="1">
                <a:latin typeface="宋体" panose="02010600030101010101" pitchFamily="2" charset="-122"/>
              </a:rPr>
              <a:t>20</a:t>
            </a:r>
            <a:r>
              <a:rPr lang="zh-CN" altLang="en-US" sz="2800" b="1">
                <a:latin typeface="宋体" panose="02010600030101010101" pitchFamily="2" charset="-122"/>
              </a:rPr>
              <a:t>个等级：</a:t>
            </a:r>
            <a:r>
              <a:rPr lang="en-US" altLang="zh-CN" sz="2800" b="1">
                <a:latin typeface="宋体" panose="02010600030101010101" pitchFamily="2" charset="-122"/>
              </a:rPr>
              <a:t>IT01</a:t>
            </a:r>
            <a:r>
              <a:rPr lang="zh-CN" altLang="en-US" sz="2800" b="1">
                <a:latin typeface="宋体" panose="02010600030101010101" pitchFamily="2" charset="-122"/>
              </a:rPr>
              <a:t>、</a:t>
            </a:r>
            <a:r>
              <a:rPr lang="en-US" altLang="zh-CN" sz="2800" b="1">
                <a:latin typeface="宋体" panose="02010600030101010101" pitchFamily="2" charset="-122"/>
              </a:rPr>
              <a:t>IT0</a:t>
            </a:r>
            <a:r>
              <a:rPr lang="zh-CN" altLang="en-US" sz="2800" b="1">
                <a:latin typeface="宋体" panose="02010600030101010101" pitchFamily="2" charset="-122"/>
              </a:rPr>
              <a:t>、</a:t>
            </a:r>
            <a:r>
              <a:rPr lang="en-US" altLang="zh-CN" sz="2800" b="1">
                <a:latin typeface="宋体" panose="02010600030101010101" pitchFamily="2" charset="-122"/>
              </a:rPr>
              <a:t>IT1</a:t>
            </a:r>
            <a:r>
              <a:rPr lang="zh-CN" altLang="en-US" sz="2800" b="1">
                <a:latin typeface="宋体" panose="02010600030101010101" pitchFamily="2" charset="-122"/>
              </a:rPr>
              <a:t>～</a:t>
            </a:r>
            <a:r>
              <a:rPr lang="en-US" altLang="zh-CN" sz="2800" b="1">
                <a:latin typeface="宋体" panose="02010600030101010101" pitchFamily="2" charset="-122"/>
              </a:rPr>
              <a:t>IT18</a:t>
            </a:r>
            <a:endParaRPr lang="en-US" altLang="zh-CN" sz="28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type="lt">
                                    <p:tmPct val="100000"/>
                                  </p:iterate>
                                  <p:childTnLst>
                                    <p:set>
                                      <p:cBhvr>
                                        <p:cTn id="6" dur="1" fill="hold">
                                          <p:stCondLst>
                                            <p:cond delay="0"/>
                                          </p:stCondLst>
                                        </p:cTn>
                                        <p:tgtEl>
                                          <p:spTgt spid="24597"/>
                                        </p:tgtEl>
                                        <p:attrNameLst>
                                          <p:attrName>style.visibility</p:attrName>
                                        </p:attrNameLst>
                                      </p:cBhvr>
                                      <p:to>
                                        <p:strVal val="visible"/>
                                      </p:to>
                                    </p:set>
                                    <p:animEffect transition="in" filter="blinds(horizontal)">
                                      <p:cBhvr>
                                        <p:cTn id="7" dur="75"/>
                                        <p:tgtEl>
                                          <p:spTgt spid="2459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4620"/>
                                        </p:tgtEl>
                                        <p:attrNameLst>
                                          <p:attrName>style.visibility</p:attrName>
                                        </p:attrNameLst>
                                      </p:cBhvr>
                                      <p:to>
                                        <p:strVal val="visible"/>
                                      </p:to>
                                    </p:set>
                                    <p:animEffect transition="in" filter="slide(fromLeft)">
                                      <p:cBhvr>
                                        <p:cTn id="12" dur="500"/>
                                        <p:tgtEl>
                                          <p:spTgt spid="246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iterate type="lt">
                                    <p:tmPct val="100000"/>
                                  </p:iterate>
                                  <p:childTnLst>
                                    <p:set>
                                      <p:cBhvr>
                                        <p:cTn id="16" dur="1" fill="hold">
                                          <p:stCondLst>
                                            <p:cond delay="0"/>
                                          </p:stCondLst>
                                        </p:cTn>
                                        <p:tgtEl>
                                          <p:spTgt spid="24598"/>
                                        </p:tgtEl>
                                        <p:attrNameLst>
                                          <p:attrName>style.visibility</p:attrName>
                                        </p:attrNameLst>
                                      </p:cBhvr>
                                      <p:to>
                                        <p:strVal val="visible"/>
                                      </p:to>
                                    </p:set>
                                    <p:animEffect transition="in" filter="blinds(horizontal)">
                                      <p:cBhvr>
                                        <p:cTn id="17" dur="75"/>
                                        <p:tgtEl>
                                          <p:spTgt spid="245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629"/>
                                        </p:tgtEl>
                                        <p:attrNameLst>
                                          <p:attrName>style.visibility</p:attrName>
                                        </p:attrNameLst>
                                      </p:cBhvr>
                                      <p:to>
                                        <p:strVal val="visible"/>
                                      </p:to>
                                    </p:set>
                                    <p:animEffect transition="in" filter="wipe(left)">
                                      <p:cBhvr>
                                        <p:cTn id="22" dur="500"/>
                                        <p:tgtEl>
                                          <p:spTgt spid="2462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iterate type="lt">
                                    <p:tmPct val="100000"/>
                                  </p:iterate>
                                  <p:childTnLst>
                                    <p:set>
                                      <p:cBhvr>
                                        <p:cTn id="26" dur="1" fill="hold">
                                          <p:stCondLst>
                                            <p:cond delay="0"/>
                                          </p:stCondLst>
                                        </p:cTn>
                                        <p:tgtEl>
                                          <p:spTgt spid="24600"/>
                                        </p:tgtEl>
                                        <p:attrNameLst>
                                          <p:attrName>style.visibility</p:attrName>
                                        </p:attrNameLst>
                                      </p:cBhvr>
                                      <p:to>
                                        <p:strVal val="visible"/>
                                      </p:to>
                                    </p:set>
                                    <p:animEffect transition="in" filter="blinds(horizontal)">
                                      <p:cBhvr>
                                        <p:cTn id="27" dur="75"/>
                                        <p:tgtEl>
                                          <p:spTgt spid="2460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24604"/>
                                        </p:tgtEl>
                                        <p:attrNameLst>
                                          <p:attrName>style.visibility</p:attrName>
                                        </p:attrNameLst>
                                      </p:cBhvr>
                                      <p:to>
                                        <p:strVal val="visible"/>
                                      </p:to>
                                    </p:set>
                                    <p:animEffect transition="in" filter="box(out)">
                                      <p:cBhvr>
                                        <p:cTn id="32" dur="500"/>
                                        <p:tgtEl>
                                          <p:spTgt spid="24604"/>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24578"/>
                                        </p:tgtEl>
                                        <p:attrNameLst>
                                          <p:attrName>style.visibility</p:attrName>
                                        </p:attrNameLst>
                                      </p:cBhvr>
                                      <p:to>
                                        <p:strVal val="visible"/>
                                      </p:to>
                                    </p:set>
                                    <p:animEffect transition="in" filter="dissolve">
                                      <p:cBhvr>
                                        <p:cTn id="36" dur="500"/>
                                        <p:tgtEl>
                                          <p:spTgt spid="24578"/>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24589"/>
                                        </p:tgtEl>
                                        <p:attrNameLst>
                                          <p:attrName>style.visibility</p:attrName>
                                        </p:attrNameLst>
                                      </p:cBhvr>
                                      <p:to>
                                        <p:strVal val="visible"/>
                                      </p:to>
                                    </p:set>
                                    <p:animEffect transition="in" filter="wipe(left)">
                                      <p:cBhvr>
                                        <p:cTn id="40" dur="500"/>
                                        <p:tgtEl>
                                          <p:spTgt spid="2458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4630"/>
                                        </p:tgtEl>
                                        <p:attrNameLst>
                                          <p:attrName>style.visibility</p:attrName>
                                        </p:attrNameLst>
                                      </p:cBhvr>
                                      <p:to>
                                        <p:strVal val="visible"/>
                                      </p:to>
                                    </p:set>
                                    <p:animEffect transition="in" filter="wipe(left)">
                                      <p:cBhvr>
                                        <p:cTn id="45" dur="500"/>
                                        <p:tgtEl>
                                          <p:spTgt spid="2463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iterate type="lt">
                                    <p:tmPct val="100000"/>
                                  </p:iterate>
                                  <p:childTnLst>
                                    <p:set>
                                      <p:cBhvr>
                                        <p:cTn id="49" dur="1" fill="hold">
                                          <p:stCondLst>
                                            <p:cond delay="0"/>
                                          </p:stCondLst>
                                        </p:cTn>
                                        <p:tgtEl>
                                          <p:spTgt spid="24601"/>
                                        </p:tgtEl>
                                        <p:attrNameLst>
                                          <p:attrName>style.visibility</p:attrName>
                                        </p:attrNameLst>
                                      </p:cBhvr>
                                      <p:to>
                                        <p:strVal val="visible"/>
                                      </p:to>
                                    </p:set>
                                    <p:animEffect transition="in" filter="blinds(horizontal)">
                                      <p:cBhvr>
                                        <p:cTn id="50" dur="75"/>
                                        <p:tgtEl>
                                          <p:spTgt spid="24601"/>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24621"/>
                                        </p:tgtEl>
                                        <p:attrNameLst>
                                          <p:attrName>style.visibility</p:attrName>
                                        </p:attrNameLst>
                                      </p:cBhvr>
                                      <p:to>
                                        <p:strVal val="visible"/>
                                      </p:to>
                                    </p:set>
                                    <p:animEffect transition="in" filter="slide(fromLeft)">
                                      <p:cBhvr>
                                        <p:cTn id="55" dur="500"/>
                                        <p:tgtEl>
                                          <p:spTgt spid="2462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iterate type="lt">
                                    <p:tmPct val="100000"/>
                                  </p:iterate>
                                  <p:childTnLst>
                                    <p:set>
                                      <p:cBhvr>
                                        <p:cTn id="59" dur="1" fill="hold">
                                          <p:stCondLst>
                                            <p:cond delay="0"/>
                                          </p:stCondLst>
                                        </p:cTn>
                                        <p:tgtEl>
                                          <p:spTgt spid="24602"/>
                                        </p:tgtEl>
                                        <p:attrNameLst>
                                          <p:attrName>style.visibility</p:attrName>
                                        </p:attrNameLst>
                                      </p:cBhvr>
                                      <p:to>
                                        <p:strVal val="visible"/>
                                      </p:to>
                                    </p:set>
                                    <p:animEffect transition="in" filter="blinds(horizontal)">
                                      <p:cBhvr>
                                        <p:cTn id="60" dur="75"/>
                                        <p:tgtEl>
                                          <p:spTgt spid="24602"/>
                                        </p:tgtEl>
                                      </p:cBhvr>
                                    </p:animEffect>
                                  </p:childTnLst>
                                </p:cTn>
                              </p:par>
                            </p:childTnLst>
                          </p:cTn>
                        </p:par>
                      </p:childTnLst>
                    </p:cTn>
                  </p:par>
                  <p:par>
                    <p:cTn id="61" fill="hold">
                      <p:stCondLst>
                        <p:cond delay="indefinite"/>
                      </p:stCondLst>
                      <p:childTnLst>
                        <p:par>
                          <p:cTn id="62" fill="hold">
                            <p:stCondLst>
                              <p:cond delay="0"/>
                            </p:stCondLst>
                            <p:childTnLst>
                              <p:par>
                                <p:cTn id="63" presetID="17" presetClass="entr" presetSubtype="8" fill="hold" nodeType="clickEffect">
                                  <p:stCondLst>
                                    <p:cond delay="0"/>
                                  </p:stCondLst>
                                  <p:childTnLst>
                                    <p:set>
                                      <p:cBhvr>
                                        <p:cTn id="64" dur="1" fill="hold">
                                          <p:stCondLst>
                                            <p:cond delay="0"/>
                                          </p:stCondLst>
                                        </p:cTn>
                                        <p:tgtEl>
                                          <p:spTgt spid="24579"/>
                                        </p:tgtEl>
                                        <p:attrNameLst>
                                          <p:attrName>style.visibility</p:attrName>
                                        </p:attrNameLst>
                                      </p:cBhvr>
                                      <p:to>
                                        <p:strVal val="visible"/>
                                      </p:to>
                                    </p:set>
                                    <p:anim calcmode="lin" valueType="num">
                                      <p:cBhvr>
                                        <p:cTn id="65" dur="500" fill="hold"/>
                                        <p:tgtEl>
                                          <p:spTgt spid="24579"/>
                                        </p:tgtEl>
                                        <p:attrNameLst>
                                          <p:attrName>ppt_x</p:attrName>
                                        </p:attrNameLst>
                                      </p:cBhvr>
                                      <p:tavLst>
                                        <p:tav tm="0">
                                          <p:val>
                                            <p:strVal val="#ppt_x-#ppt_w/2"/>
                                          </p:val>
                                        </p:tav>
                                        <p:tav tm="100000">
                                          <p:val>
                                            <p:strVal val="#ppt_x"/>
                                          </p:val>
                                        </p:tav>
                                      </p:tavLst>
                                    </p:anim>
                                    <p:anim calcmode="lin" valueType="num">
                                      <p:cBhvr>
                                        <p:cTn id="66" dur="500" fill="hold"/>
                                        <p:tgtEl>
                                          <p:spTgt spid="24579"/>
                                        </p:tgtEl>
                                        <p:attrNameLst>
                                          <p:attrName>ppt_y</p:attrName>
                                        </p:attrNameLst>
                                      </p:cBhvr>
                                      <p:tavLst>
                                        <p:tav tm="0">
                                          <p:val>
                                            <p:strVal val="#ppt_y"/>
                                          </p:val>
                                        </p:tav>
                                        <p:tav tm="100000">
                                          <p:val>
                                            <p:strVal val="#ppt_y"/>
                                          </p:val>
                                        </p:tav>
                                      </p:tavLst>
                                    </p:anim>
                                    <p:anim calcmode="lin" valueType="num">
                                      <p:cBhvr>
                                        <p:cTn id="67" dur="500" fill="hold"/>
                                        <p:tgtEl>
                                          <p:spTgt spid="24579"/>
                                        </p:tgtEl>
                                        <p:attrNameLst>
                                          <p:attrName>ppt_w</p:attrName>
                                        </p:attrNameLst>
                                      </p:cBhvr>
                                      <p:tavLst>
                                        <p:tav tm="0">
                                          <p:val>
                                            <p:fltVal val="0"/>
                                          </p:val>
                                        </p:tav>
                                        <p:tav tm="100000">
                                          <p:val>
                                            <p:strVal val="#ppt_w"/>
                                          </p:val>
                                        </p:tav>
                                      </p:tavLst>
                                    </p:anim>
                                    <p:anim calcmode="lin" valueType="num">
                                      <p:cBhvr>
                                        <p:cTn id="68" dur="500" fill="hold"/>
                                        <p:tgtEl>
                                          <p:spTgt spid="24579"/>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24584"/>
                                        </p:tgtEl>
                                        <p:attrNameLst>
                                          <p:attrName>style.visibility</p:attrName>
                                        </p:attrNameLst>
                                      </p:cBhvr>
                                      <p:to>
                                        <p:strVal val="visible"/>
                                      </p:to>
                                    </p:set>
                                    <p:animEffect transition="in" filter="blinds(horizontal)">
                                      <p:cBhvr>
                                        <p:cTn id="73" dur="500"/>
                                        <p:tgtEl>
                                          <p:spTgt spid="24584"/>
                                        </p:tgtEl>
                                      </p:cBhvr>
                                    </p:animEffect>
                                  </p:childTnLst>
                                </p:cTn>
                              </p:par>
                            </p:childTnLst>
                          </p:cTn>
                        </p:par>
                      </p:childTnLst>
                    </p:cTn>
                  </p:par>
                  <p:par>
                    <p:cTn id="74" fill="hold">
                      <p:stCondLst>
                        <p:cond delay="indefinite"/>
                      </p:stCondLst>
                      <p:childTnLst>
                        <p:par>
                          <p:cTn id="75" fill="hold">
                            <p:stCondLst>
                              <p:cond delay="0"/>
                            </p:stCondLst>
                            <p:childTnLst>
                              <p:par>
                                <p:cTn id="76" presetID="12" presetClass="entr" presetSubtype="8" fill="hold" grpId="0" nodeType="clickEffect">
                                  <p:stCondLst>
                                    <p:cond delay="0"/>
                                  </p:stCondLst>
                                  <p:childTnLst>
                                    <p:set>
                                      <p:cBhvr>
                                        <p:cTn id="77" dur="1" fill="hold">
                                          <p:stCondLst>
                                            <p:cond delay="0"/>
                                          </p:stCondLst>
                                        </p:cTn>
                                        <p:tgtEl>
                                          <p:spTgt spid="24622"/>
                                        </p:tgtEl>
                                        <p:attrNameLst>
                                          <p:attrName>style.visibility</p:attrName>
                                        </p:attrNameLst>
                                      </p:cBhvr>
                                      <p:to>
                                        <p:strVal val="visible"/>
                                      </p:to>
                                    </p:set>
                                    <p:animEffect transition="in" filter="slide(fromLeft)">
                                      <p:cBhvr>
                                        <p:cTn id="78" dur="500"/>
                                        <p:tgtEl>
                                          <p:spTgt spid="24622"/>
                                        </p:tgtEl>
                                      </p:cBhvr>
                                    </p:animEffect>
                                  </p:childTnLst>
                                </p:cTn>
                              </p:par>
                            </p:childTnLst>
                          </p:cTn>
                        </p:par>
                        <p:par>
                          <p:cTn id="79" fill="hold">
                            <p:stCondLst>
                              <p:cond delay="500"/>
                            </p:stCondLst>
                            <p:childTnLst>
                              <p:par>
                                <p:cTn id="80" presetID="3" presetClass="entr" presetSubtype="10" fill="hold" grpId="0" nodeType="afterEffect" nodePh="1">
                                  <p:stCondLst>
                                    <p:cond delay="0"/>
                                  </p:stCondLst>
                                  <p:endCondLst>
                                    <p:cond evt="begin" delay="0">
                                      <p:tn val="80"/>
                                    </p:cond>
                                  </p:endCondLst>
                                  <p:iterate type="lt">
                                    <p:tmPct val="100000"/>
                                  </p:iterate>
                                  <p:childTnLst>
                                    <p:set>
                                      <p:cBhvr>
                                        <p:cTn id="81" dur="1" fill="hold">
                                          <p:stCondLst>
                                            <p:cond delay="0"/>
                                          </p:stCondLst>
                                        </p:cTn>
                                        <p:tgtEl>
                                          <p:spTgt spid="24603"/>
                                        </p:tgtEl>
                                        <p:attrNameLst>
                                          <p:attrName>style.visibility</p:attrName>
                                        </p:attrNameLst>
                                      </p:cBhvr>
                                      <p:to>
                                        <p:strVal val="visible"/>
                                      </p:to>
                                    </p:set>
                                    <p:animEffect transition="in" filter="blinds(horizontal)">
                                      <p:cBhvr>
                                        <p:cTn id="82" dur="75"/>
                                        <p:tgtEl>
                                          <p:spTgt spid="24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7" grpId="0" autoUpdateAnimBg="0"/>
      <p:bldP spid="24598" grpId="0" autoUpdateAnimBg="0"/>
      <p:bldP spid="24600" grpId="0" autoUpdateAnimBg="0"/>
      <p:bldP spid="24601" grpId="0" autoUpdateAnimBg="0"/>
      <p:bldP spid="24602" grpId="0" autoUpdateAnimBg="0"/>
      <p:bldP spid="24603" grpId="0" autoUpdateAnimBg="0"/>
      <p:bldP spid="24620" grpId="0" autoUpdateAnimBg="0"/>
      <p:bldP spid="24621" grpId="0" autoUpdateAnimBg="0"/>
      <p:bldP spid="24622" grpId="0" autoUpdateAnimBg="0"/>
      <p:bldP spid="2462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460375" y="79375"/>
            <a:ext cx="73691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基本偏差系列，确定了孔和轴的公差带位置。</a:t>
            </a:r>
            <a:endParaRPr lang="zh-CN" altLang="en-US" sz="2800" b="1"/>
          </a:p>
        </p:txBody>
      </p:sp>
      <p:grpSp>
        <p:nvGrpSpPr>
          <p:cNvPr id="25606" name="Group 6"/>
          <p:cNvGrpSpPr/>
          <p:nvPr/>
        </p:nvGrpSpPr>
        <p:grpSpPr bwMode="auto">
          <a:xfrm>
            <a:off x="3421063" y="3259138"/>
            <a:ext cx="1100137" cy="690562"/>
            <a:chOff x="2260" y="2449"/>
            <a:chExt cx="685" cy="435"/>
          </a:xfrm>
        </p:grpSpPr>
        <p:sp>
          <p:nvSpPr>
            <p:cNvPr id="24791" name="Line 7"/>
            <p:cNvSpPr>
              <a:spLocks noChangeShapeType="1"/>
            </p:cNvSpPr>
            <p:nvPr/>
          </p:nvSpPr>
          <p:spPr bwMode="auto">
            <a:xfrm rot="7318948" flipH="1">
              <a:off x="2579" y="2708"/>
              <a:ext cx="163" cy="190"/>
            </a:xfrm>
            <a:prstGeom prst="line">
              <a:avLst/>
            </a:prstGeom>
            <a:noFill/>
            <a:ln w="38100">
              <a:solidFill>
                <a:srgbClr val="000099"/>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p>
              <a:endParaRPr lang="zh-CN" altLang="en-US"/>
            </a:p>
          </p:txBody>
        </p:sp>
        <p:sp>
          <p:nvSpPr>
            <p:cNvPr id="24792" name="Text Box 8"/>
            <p:cNvSpPr txBox="1">
              <a:spLocks noChangeArrowheads="1"/>
            </p:cNvSpPr>
            <p:nvPr/>
          </p:nvSpPr>
          <p:spPr bwMode="auto">
            <a:xfrm>
              <a:off x="2260" y="2449"/>
              <a:ext cx="68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333399"/>
                  </a:solidFill>
                </a:rPr>
                <a:t>基准轴</a:t>
              </a:r>
              <a:endParaRPr lang="zh-CN" altLang="en-US" sz="1600" b="1">
                <a:solidFill>
                  <a:srgbClr val="333399"/>
                </a:solidFill>
              </a:endParaRPr>
            </a:p>
          </p:txBody>
        </p:sp>
      </p:grpSp>
      <p:sp>
        <p:nvSpPr>
          <p:cNvPr id="25797" name="Text Box 197"/>
          <p:cNvSpPr txBox="1">
            <a:spLocks noChangeArrowheads="1"/>
          </p:cNvSpPr>
          <p:nvPr/>
        </p:nvSpPr>
        <p:spPr bwMode="auto">
          <a:xfrm>
            <a:off x="3794125" y="5607050"/>
            <a:ext cx="2492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基本偏差系列</a:t>
            </a:r>
            <a:endParaRPr lang="zh-CN" altLang="en-US" sz="2800" b="1"/>
          </a:p>
        </p:txBody>
      </p:sp>
      <p:grpSp>
        <p:nvGrpSpPr>
          <p:cNvPr id="25603" name="Group 3"/>
          <p:cNvGrpSpPr/>
          <p:nvPr/>
        </p:nvGrpSpPr>
        <p:grpSpPr bwMode="auto">
          <a:xfrm>
            <a:off x="3216275" y="2165350"/>
            <a:ext cx="1100138" cy="685800"/>
            <a:chOff x="2139" y="1664"/>
            <a:chExt cx="676" cy="432"/>
          </a:xfrm>
        </p:grpSpPr>
        <p:sp>
          <p:nvSpPr>
            <p:cNvPr id="24789" name="Line 4"/>
            <p:cNvSpPr>
              <a:spLocks noChangeShapeType="1"/>
            </p:cNvSpPr>
            <p:nvPr/>
          </p:nvSpPr>
          <p:spPr bwMode="auto">
            <a:xfrm flipV="1">
              <a:off x="2477" y="1664"/>
              <a:ext cx="202" cy="202"/>
            </a:xfrm>
            <a:prstGeom prst="line">
              <a:avLst/>
            </a:prstGeom>
            <a:noFill/>
            <a:ln w="38100">
              <a:solidFill>
                <a:srgbClr val="000099"/>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endParaRPr lang="zh-CN" altLang="en-US"/>
            </a:p>
          </p:txBody>
        </p:sp>
        <p:sp>
          <p:nvSpPr>
            <p:cNvPr id="24790" name="Text Box 5"/>
            <p:cNvSpPr txBox="1">
              <a:spLocks noChangeArrowheads="1"/>
            </p:cNvSpPr>
            <p:nvPr/>
          </p:nvSpPr>
          <p:spPr bwMode="auto">
            <a:xfrm>
              <a:off x="2139" y="1808"/>
              <a:ext cx="6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333399"/>
                  </a:solidFill>
                </a:rPr>
                <a:t>基准孔</a:t>
              </a:r>
              <a:endParaRPr lang="zh-CN" altLang="en-US" sz="1600" b="1">
                <a:solidFill>
                  <a:srgbClr val="333399"/>
                </a:solidFill>
              </a:endParaRPr>
            </a:p>
          </p:txBody>
        </p:sp>
      </p:grpSp>
      <p:sp>
        <p:nvSpPr>
          <p:cNvPr id="25702" name="Text Box 102"/>
          <p:cNvSpPr txBox="1">
            <a:spLocks noChangeArrowheads="1"/>
          </p:cNvSpPr>
          <p:nvPr/>
        </p:nvSpPr>
        <p:spPr bwMode="auto">
          <a:xfrm>
            <a:off x="4459288" y="850900"/>
            <a:ext cx="5873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t>孔</a:t>
            </a:r>
            <a:endParaRPr lang="zh-CN" altLang="en-US" b="1"/>
          </a:p>
        </p:txBody>
      </p:sp>
      <p:grpSp>
        <p:nvGrpSpPr>
          <p:cNvPr id="25831" name="Group 231"/>
          <p:cNvGrpSpPr/>
          <p:nvPr/>
        </p:nvGrpSpPr>
        <p:grpSpPr bwMode="auto">
          <a:xfrm>
            <a:off x="1260475" y="793750"/>
            <a:ext cx="7351713" cy="2543175"/>
            <a:chOff x="768" y="500"/>
            <a:chExt cx="4631" cy="1602"/>
          </a:xfrm>
        </p:grpSpPr>
        <p:sp>
          <p:nvSpPr>
            <p:cNvPr id="24686" name="Text Box 11"/>
            <p:cNvSpPr txBox="1">
              <a:spLocks noChangeArrowheads="1"/>
            </p:cNvSpPr>
            <p:nvPr/>
          </p:nvSpPr>
          <p:spPr bwMode="auto">
            <a:xfrm>
              <a:off x="3489" y="1233"/>
              <a:ext cx="17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S</a:t>
              </a:r>
              <a:endParaRPr lang="en-US" altLang="zh-CN" sz="1400" b="1"/>
            </a:p>
          </p:txBody>
        </p:sp>
        <p:sp>
          <p:nvSpPr>
            <p:cNvPr id="24687" name="Text Box 12"/>
            <p:cNvSpPr txBox="1">
              <a:spLocks noChangeArrowheads="1"/>
            </p:cNvSpPr>
            <p:nvPr/>
          </p:nvSpPr>
          <p:spPr bwMode="auto">
            <a:xfrm>
              <a:off x="3627" y="1236"/>
              <a:ext cx="18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T</a:t>
              </a:r>
              <a:endParaRPr lang="en-US" altLang="zh-CN" sz="1400" b="1"/>
            </a:p>
          </p:txBody>
        </p:sp>
        <p:sp>
          <p:nvSpPr>
            <p:cNvPr id="24688" name="Text Box 14"/>
            <p:cNvSpPr txBox="1">
              <a:spLocks noChangeArrowheads="1"/>
            </p:cNvSpPr>
            <p:nvPr/>
          </p:nvSpPr>
          <p:spPr bwMode="auto">
            <a:xfrm>
              <a:off x="1444" y="988"/>
              <a:ext cx="19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C</a:t>
              </a:r>
              <a:endParaRPr lang="en-US" altLang="zh-CN" sz="1400" b="1"/>
            </a:p>
          </p:txBody>
        </p:sp>
        <p:sp>
          <p:nvSpPr>
            <p:cNvPr id="24689" name="Text Box 15"/>
            <p:cNvSpPr txBox="1">
              <a:spLocks noChangeArrowheads="1"/>
            </p:cNvSpPr>
            <p:nvPr/>
          </p:nvSpPr>
          <p:spPr bwMode="auto">
            <a:xfrm>
              <a:off x="1720" y="1117"/>
              <a:ext cx="1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D</a:t>
              </a:r>
              <a:endParaRPr lang="en-US" altLang="zh-CN" sz="1400" b="1"/>
            </a:p>
          </p:txBody>
        </p:sp>
        <p:sp>
          <p:nvSpPr>
            <p:cNvPr id="24690" name="Text Box 18"/>
            <p:cNvSpPr txBox="1">
              <a:spLocks noChangeArrowheads="1"/>
            </p:cNvSpPr>
            <p:nvPr/>
          </p:nvSpPr>
          <p:spPr bwMode="auto">
            <a:xfrm>
              <a:off x="1529" y="1067"/>
              <a:ext cx="279"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CD</a:t>
              </a:r>
              <a:endParaRPr lang="en-US" altLang="zh-CN" sz="1400" b="1"/>
            </a:p>
          </p:txBody>
        </p:sp>
        <p:sp>
          <p:nvSpPr>
            <p:cNvPr id="24691" name="Line 19"/>
            <p:cNvSpPr>
              <a:spLocks noChangeShapeType="1"/>
            </p:cNvSpPr>
            <p:nvPr/>
          </p:nvSpPr>
          <p:spPr bwMode="auto">
            <a:xfrm>
              <a:off x="917" y="1282"/>
              <a:ext cx="431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2" name="Rectangle 20"/>
            <p:cNvSpPr>
              <a:spLocks noChangeArrowheads="1"/>
            </p:cNvSpPr>
            <p:nvPr/>
          </p:nvSpPr>
          <p:spPr bwMode="auto">
            <a:xfrm>
              <a:off x="1218" y="500"/>
              <a:ext cx="63"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93" name="Line 21"/>
            <p:cNvSpPr>
              <a:spLocks noChangeShapeType="1"/>
            </p:cNvSpPr>
            <p:nvPr/>
          </p:nvSpPr>
          <p:spPr bwMode="auto">
            <a:xfrm>
              <a:off x="1224" y="506"/>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4" name="Rectangle 22"/>
            <p:cNvSpPr>
              <a:spLocks noChangeArrowheads="1"/>
            </p:cNvSpPr>
            <p:nvPr/>
          </p:nvSpPr>
          <p:spPr bwMode="auto">
            <a:xfrm>
              <a:off x="2542" y="1177"/>
              <a:ext cx="63" cy="105"/>
            </a:xfrm>
            <a:prstGeom prst="rect">
              <a:avLst/>
            </a:prstGeom>
            <a:solidFill>
              <a:srgbClr val="FF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95" name="Line 23"/>
            <p:cNvSpPr>
              <a:spLocks noChangeShapeType="1"/>
            </p:cNvSpPr>
            <p:nvPr/>
          </p:nvSpPr>
          <p:spPr bwMode="auto">
            <a:xfrm>
              <a:off x="2548" y="1183"/>
              <a:ext cx="5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6" name="Rectangle 24"/>
            <p:cNvSpPr>
              <a:spLocks noChangeArrowheads="1"/>
            </p:cNvSpPr>
            <p:nvPr/>
          </p:nvSpPr>
          <p:spPr bwMode="auto">
            <a:xfrm>
              <a:off x="2420" y="1164"/>
              <a:ext cx="63"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97" name="Line 25"/>
            <p:cNvSpPr>
              <a:spLocks noChangeShapeType="1"/>
            </p:cNvSpPr>
            <p:nvPr/>
          </p:nvSpPr>
          <p:spPr bwMode="auto">
            <a:xfrm>
              <a:off x="2426" y="1170"/>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8" name="Rectangle 26"/>
            <p:cNvSpPr>
              <a:spLocks noChangeArrowheads="1"/>
            </p:cNvSpPr>
            <p:nvPr/>
          </p:nvSpPr>
          <p:spPr bwMode="auto">
            <a:xfrm>
              <a:off x="2291" y="1153"/>
              <a:ext cx="63"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99" name="Line 27"/>
            <p:cNvSpPr>
              <a:spLocks noChangeShapeType="1"/>
            </p:cNvSpPr>
            <p:nvPr/>
          </p:nvSpPr>
          <p:spPr bwMode="auto">
            <a:xfrm>
              <a:off x="2297" y="1159"/>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0" name="Rectangle 28"/>
            <p:cNvSpPr>
              <a:spLocks noChangeArrowheads="1"/>
            </p:cNvSpPr>
            <p:nvPr/>
          </p:nvSpPr>
          <p:spPr bwMode="auto">
            <a:xfrm>
              <a:off x="2168" y="1135"/>
              <a:ext cx="63"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01" name="Line 29"/>
            <p:cNvSpPr>
              <a:spLocks noChangeShapeType="1"/>
            </p:cNvSpPr>
            <p:nvPr/>
          </p:nvSpPr>
          <p:spPr bwMode="auto">
            <a:xfrm>
              <a:off x="2174" y="1141"/>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2" name="Rectangle 30"/>
            <p:cNvSpPr>
              <a:spLocks noChangeArrowheads="1"/>
            </p:cNvSpPr>
            <p:nvPr/>
          </p:nvSpPr>
          <p:spPr bwMode="auto">
            <a:xfrm>
              <a:off x="2040" y="1116"/>
              <a:ext cx="63" cy="106"/>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03" name="Line 31"/>
            <p:cNvSpPr>
              <a:spLocks noChangeShapeType="1"/>
            </p:cNvSpPr>
            <p:nvPr/>
          </p:nvSpPr>
          <p:spPr bwMode="auto">
            <a:xfrm>
              <a:off x="2046" y="1122"/>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4" name="Rectangle 32"/>
            <p:cNvSpPr>
              <a:spLocks noChangeArrowheads="1"/>
            </p:cNvSpPr>
            <p:nvPr/>
          </p:nvSpPr>
          <p:spPr bwMode="auto">
            <a:xfrm>
              <a:off x="1912" y="1082"/>
              <a:ext cx="63" cy="106"/>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05" name="Line 33"/>
            <p:cNvSpPr>
              <a:spLocks noChangeShapeType="1"/>
            </p:cNvSpPr>
            <p:nvPr/>
          </p:nvSpPr>
          <p:spPr bwMode="auto">
            <a:xfrm>
              <a:off x="1918" y="1088"/>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6" name="Rectangle 34"/>
            <p:cNvSpPr>
              <a:spLocks noChangeArrowheads="1"/>
            </p:cNvSpPr>
            <p:nvPr/>
          </p:nvSpPr>
          <p:spPr bwMode="auto">
            <a:xfrm>
              <a:off x="1777" y="1047"/>
              <a:ext cx="63"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07" name="Line 35"/>
            <p:cNvSpPr>
              <a:spLocks noChangeShapeType="1"/>
            </p:cNvSpPr>
            <p:nvPr/>
          </p:nvSpPr>
          <p:spPr bwMode="auto">
            <a:xfrm>
              <a:off x="1783" y="1053"/>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8" name="Rectangle 36"/>
            <p:cNvSpPr>
              <a:spLocks noChangeArrowheads="1"/>
            </p:cNvSpPr>
            <p:nvPr/>
          </p:nvSpPr>
          <p:spPr bwMode="auto">
            <a:xfrm>
              <a:off x="1628" y="981"/>
              <a:ext cx="63"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09" name="Line 37"/>
            <p:cNvSpPr>
              <a:spLocks noChangeShapeType="1"/>
            </p:cNvSpPr>
            <p:nvPr/>
          </p:nvSpPr>
          <p:spPr bwMode="auto">
            <a:xfrm>
              <a:off x="1634" y="987"/>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10" name="Rectangle 38"/>
            <p:cNvSpPr>
              <a:spLocks noChangeArrowheads="1"/>
            </p:cNvSpPr>
            <p:nvPr/>
          </p:nvSpPr>
          <p:spPr bwMode="auto">
            <a:xfrm>
              <a:off x="1513" y="910"/>
              <a:ext cx="63"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11" name="Line 39"/>
            <p:cNvSpPr>
              <a:spLocks noChangeShapeType="1"/>
            </p:cNvSpPr>
            <p:nvPr/>
          </p:nvSpPr>
          <p:spPr bwMode="auto">
            <a:xfrm>
              <a:off x="1519" y="916"/>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12" name="Rectangle 40"/>
            <p:cNvSpPr>
              <a:spLocks noChangeArrowheads="1"/>
            </p:cNvSpPr>
            <p:nvPr/>
          </p:nvSpPr>
          <p:spPr bwMode="auto">
            <a:xfrm>
              <a:off x="1363" y="797"/>
              <a:ext cx="64" cy="105"/>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13" name="Line 41"/>
            <p:cNvSpPr>
              <a:spLocks noChangeShapeType="1"/>
            </p:cNvSpPr>
            <p:nvPr/>
          </p:nvSpPr>
          <p:spPr bwMode="auto">
            <a:xfrm>
              <a:off x="1370" y="803"/>
              <a:ext cx="54" cy="0"/>
            </a:xfrm>
            <a:prstGeom prst="line">
              <a:avLst/>
            </a:prstGeom>
            <a:noFill/>
            <a:ln w="19050">
              <a:solidFill>
                <a:srgbClr val="FF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14" name="Rectangle 42"/>
            <p:cNvSpPr>
              <a:spLocks noChangeArrowheads="1"/>
            </p:cNvSpPr>
            <p:nvPr/>
          </p:nvSpPr>
          <p:spPr bwMode="auto">
            <a:xfrm flipV="1">
              <a:off x="2671" y="1219"/>
              <a:ext cx="70" cy="112"/>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15" name="Line 43"/>
            <p:cNvSpPr>
              <a:spLocks noChangeShapeType="1"/>
            </p:cNvSpPr>
            <p:nvPr/>
          </p:nvSpPr>
          <p:spPr bwMode="auto">
            <a:xfrm flipV="1">
              <a:off x="2677" y="1336"/>
              <a:ext cx="59" cy="0"/>
            </a:xfrm>
            <a:prstGeom prst="line">
              <a:avLst/>
            </a:prstGeom>
            <a:noFill/>
            <a:ln w="19050">
              <a:solidFill>
                <a:srgbClr val="FF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16" name="Rectangle 44"/>
            <p:cNvSpPr>
              <a:spLocks noChangeArrowheads="1"/>
            </p:cNvSpPr>
            <p:nvPr/>
          </p:nvSpPr>
          <p:spPr bwMode="auto">
            <a:xfrm flipV="1">
              <a:off x="3267" y="1343"/>
              <a:ext cx="72"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17" name="Line 45"/>
            <p:cNvSpPr>
              <a:spLocks noChangeShapeType="1"/>
            </p:cNvSpPr>
            <p:nvPr/>
          </p:nvSpPr>
          <p:spPr bwMode="auto">
            <a:xfrm flipV="1">
              <a:off x="3273" y="1459"/>
              <a:ext cx="61"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18" name="Rectangle 46"/>
            <p:cNvSpPr>
              <a:spLocks noChangeArrowheads="1"/>
            </p:cNvSpPr>
            <p:nvPr/>
          </p:nvSpPr>
          <p:spPr bwMode="auto">
            <a:xfrm flipV="1">
              <a:off x="2977" y="1302"/>
              <a:ext cx="71" cy="99"/>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19" name="Rectangle 47"/>
            <p:cNvSpPr>
              <a:spLocks noChangeArrowheads="1"/>
            </p:cNvSpPr>
            <p:nvPr/>
          </p:nvSpPr>
          <p:spPr bwMode="auto">
            <a:xfrm flipV="1">
              <a:off x="2948" y="1276"/>
              <a:ext cx="50" cy="123"/>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20" name="Rectangle 48"/>
            <p:cNvSpPr>
              <a:spLocks noChangeArrowheads="1"/>
            </p:cNvSpPr>
            <p:nvPr/>
          </p:nvSpPr>
          <p:spPr bwMode="auto">
            <a:xfrm flipV="1">
              <a:off x="2795" y="1284"/>
              <a:ext cx="72" cy="111"/>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21" name="Line 49"/>
            <p:cNvSpPr>
              <a:spLocks noChangeShapeType="1"/>
            </p:cNvSpPr>
            <p:nvPr/>
          </p:nvSpPr>
          <p:spPr bwMode="auto">
            <a:xfrm flipV="1">
              <a:off x="2801" y="1384"/>
              <a:ext cx="61" cy="0"/>
            </a:xfrm>
            <a:prstGeom prst="line">
              <a:avLst/>
            </a:prstGeom>
            <a:noFill/>
            <a:ln w="19050">
              <a:solidFill>
                <a:srgbClr val="FF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22" name="Rectangle 50"/>
            <p:cNvSpPr>
              <a:spLocks noChangeArrowheads="1"/>
            </p:cNvSpPr>
            <p:nvPr/>
          </p:nvSpPr>
          <p:spPr bwMode="auto">
            <a:xfrm flipV="1">
              <a:off x="2839" y="1273"/>
              <a:ext cx="51" cy="124"/>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23" name="Line 51"/>
            <p:cNvSpPr>
              <a:spLocks noChangeShapeType="1"/>
            </p:cNvSpPr>
            <p:nvPr/>
          </p:nvSpPr>
          <p:spPr bwMode="auto">
            <a:xfrm flipV="1">
              <a:off x="2843" y="1386"/>
              <a:ext cx="44" cy="0"/>
            </a:xfrm>
            <a:prstGeom prst="line">
              <a:avLst/>
            </a:prstGeom>
            <a:noFill/>
            <a:ln w="19050">
              <a:solidFill>
                <a:srgbClr val="FF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24" name="Rectangle 52"/>
            <p:cNvSpPr>
              <a:spLocks noChangeArrowheads="1"/>
            </p:cNvSpPr>
            <p:nvPr/>
          </p:nvSpPr>
          <p:spPr bwMode="auto">
            <a:xfrm flipV="1">
              <a:off x="3114" y="1319"/>
              <a:ext cx="65" cy="95"/>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25" name="Line 53"/>
            <p:cNvSpPr>
              <a:spLocks noChangeShapeType="1"/>
            </p:cNvSpPr>
            <p:nvPr/>
          </p:nvSpPr>
          <p:spPr bwMode="auto">
            <a:xfrm flipV="1">
              <a:off x="3119" y="1418"/>
              <a:ext cx="56" cy="0"/>
            </a:xfrm>
            <a:prstGeom prst="line">
              <a:avLst/>
            </a:prstGeom>
            <a:noFill/>
            <a:ln w="19050">
              <a:solidFill>
                <a:srgbClr val="FF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26" name="Rectangle 54"/>
            <p:cNvSpPr>
              <a:spLocks noChangeArrowheads="1"/>
            </p:cNvSpPr>
            <p:nvPr/>
          </p:nvSpPr>
          <p:spPr bwMode="auto">
            <a:xfrm flipV="1">
              <a:off x="3153" y="1289"/>
              <a:ext cx="46" cy="124"/>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27" name="Line 55"/>
            <p:cNvSpPr>
              <a:spLocks noChangeShapeType="1"/>
            </p:cNvSpPr>
            <p:nvPr/>
          </p:nvSpPr>
          <p:spPr bwMode="auto">
            <a:xfrm flipV="1">
              <a:off x="3157" y="1418"/>
              <a:ext cx="39" cy="0"/>
            </a:xfrm>
            <a:prstGeom prst="line">
              <a:avLst/>
            </a:prstGeom>
            <a:noFill/>
            <a:ln w="19050">
              <a:solidFill>
                <a:srgbClr val="FF99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28" name="Rectangle 56"/>
            <p:cNvSpPr>
              <a:spLocks noChangeArrowheads="1"/>
            </p:cNvSpPr>
            <p:nvPr/>
          </p:nvSpPr>
          <p:spPr bwMode="auto">
            <a:xfrm flipV="1">
              <a:off x="3404" y="1363"/>
              <a:ext cx="70"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29" name="Line 57"/>
            <p:cNvSpPr>
              <a:spLocks noChangeShapeType="1"/>
            </p:cNvSpPr>
            <p:nvPr/>
          </p:nvSpPr>
          <p:spPr bwMode="auto">
            <a:xfrm flipV="1">
              <a:off x="3410" y="1479"/>
              <a:ext cx="59"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30" name="Rectangle 58"/>
            <p:cNvSpPr>
              <a:spLocks noChangeArrowheads="1"/>
            </p:cNvSpPr>
            <p:nvPr/>
          </p:nvSpPr>
          <p:spPr bwMode="auto">
            <a:xfrm flipV="1">
              <a:off x="3531" y="1375"/>
              <a:ext cx="71"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31" name="Line 59"/>
            <p:cNvSpPr>
              <a:spLocks noChangeShapeType="1"/>
            </p:cNvSpPr>
            <p:nvPr/>
          </p:nvSpPr>
          <p:spPr bwMode="auto">
            <a:xfrm flipV="1">
              <a:off x="3537" y="1491"/>
              <a:ext cx="60"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32" name="Rectangle 60"/>
            <p:cNvSpPr>
              <a:spLocks noChangeArrowheads="1"/>
            </p:cNvSpPr>
            <p:nvPr/>
          </p:nvSpPr>
          <p:spPr bwMode="auto">
            <a:xfrm flipV="1">
              <a:off x="3675" y="1378"/>
              <a:ext cx="72"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33" name="Line 61"/>
            <p:cNvSpPr>
              <a:spLocks noChangeShapeType="1"/>
            </p:cNvSpPr>
            <p:nvPr/>
          </p:nvSpPr>
          <p:spPr bwMode="auto">
            <a:xfrm flipV="1">
              <a:off x="3681" y="1494"/>
              <a:ext cx="61"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34" name="Rectangle 62"/>
            <p:cNvSpPr>
              <a:spLocks noChangeArrowheads="1"/>
            </p:cNvSpPr>
            <p:nvPr/>
          </p:nvSpPr>
          <p:spPr bwMode="auto">
            <a:xfrm flipV="1">
              <a:off x="4069" y="1437"/>
              <a:ext cx="70" cy="112"/>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35" name="Line 63"/>
            <p:cNvSpPr>
              <a:spLocks noChangeShapeType="1"/>
            </p:cNvSpPr>
            <p:nvPr/>
          </p:nvSpPr>
          <p:spPr bwMode="auto">
            <a:xfrm flipV="1">
              <a:off x="4075" y="1554"/>
              <a:ext cx="59"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36" name="Rectangle 64"/>
            <p:cNvSpPr>
              <a:spLocks noChangeArrowheads="1"/>
            </p:cNvSpPr>
            <p:nvPr/>
          </p:nvSpPr>
          <p:spPr bwMode="auto">
            <a:xfrm flipV="1">
              <a:off x="3935" y="1414"/>
              <a:ext cx="71" cy="112"/>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37" name="Line 65"/>
            <p:cNvSpPr>
              <a:spLocks noChangeShapeType="1"/>
            </p:cNvSpPr>
            <p:nvPr/>
          </p:nvSpPr>
          <p:spPr bwMode="auto">
            <a:xfrm flipV="1">
              <a:off x="3941" y="1531"/>
              <a:ext cx="60"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38" name="Rectangle 66"/>
            <p:cNvSpPr>
              <a:spLocks noChangeArrowheads="1"/>
            </p:cNvSpPr>
            <p:nvPr/>
          </p:nvSpPr>
          <p:spPr bwMode="auto">
            <a:xfrm flipV="1">
              <a:off x="3807" y="1392"/>
              <a:ext cx="71" cy="113"/>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39" name="Line 67"/>
            <p:cNvSpPr>
              <a:spLocks noChangeShapeType="1"/>
            </p:cNvSpPr>
            <p:nvPr/>
          </p:nvSpPr>
          <p:spPr bwMode="auto">
            <a:xfrm flipV="1">
              <a:off x="3813" y="1510"/>
              <a:ext cx="60"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40" name="Rectangle 68"/>
            <p:cNvSpPr>
              <a:spLocks noChangeArrowheads="1"/>
            </p:cNvSpPr>
            <p:nvPr/>
          </p:nvSpPr>
          <p:spPr bwMode="auto">
            <a:xfrm flipV="1">
              <a:off x="4449" y="1502"/>
              <a:ext cx="71"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41" name="Line 69"/>
            <p:cNvSpPr>
              <a:spLocks noChangeShapeType="1"/>
            </p:cNvSpPr>
            <p:nvPr/>
          </p:nvSpPr>
          <p:spPr bwMode="auto">
            <a:xfrm flipV="1">
              <a:off x="4455" y="1618"/>
              <a:ext cx="60"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42" name="Rectangle 70"/>
            <p:cNvSpPr>
              <a:spLocks noChangeArrowheads="1"/>
            </p:cNvSpPr>
            <p:nvPr/>
          </p:nvSpPr>
          <p:spPr bwMode="auto">
            <a:xfrm flipV="1">
              <a:off x="4321" y="1475"/>
              <a:ext cx="71"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43" name="Line 71"/>
            <p:cNvSpPr>
              <a:spLocks noChangeShapeType="1"/>
            </p:cNvSpPr>
            <p:nvPr/>
          </p:nvSpPr>
          <p:spPr bwMode="auto">
            <a:xfrm flipV="1">
              <a:off x="4327" y="1591"/>
              <a:ext cx="60"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44" name="Rectangle 72"/>
            <p:cNvSpPr>
              <a:spLocks noChangeArrowheads="1"/>
            </p:cNvSpPr>
            <p:nvPr/>
          </p:nvSpPr>
          <p:spPr bwMode="auto">
            <a:xfrm flipV="1">
              <a:off x="4201" y="1452"/>
              <a:ext cx="70"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45" name="Line 73"/>
            <p:cNvSpPr>
              <a:spLocks noChangeShapeType="1"/>
            </p:cNvSpPr>
            <p:nvPr/>
          </p:nvSpPr>
          <p:spPr bwMode="auto">
            <a:xfrm flipV="1">
              <a:off x="4207" y="1568"/>
              <a:ext cx="59"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46" name="Rectangle 74"/>
            <p:cNvSpPr>
              <a:spLocks noChangeArrowheads="1"/>
            </p:cNvSpPr>
            <p:nvPr/>
          </p:nvSpPr>
          <p:spPr bwMode="auto">
            <a:xfrm flipV="1">
              <a:off x="4712" y="1756"/>
              <a:ext cx="72"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47" name="Line 75"/>
            <p:cNvSpPr>
              <a:spLocks noChangeShapeType="1"/>
            </p:cNvSpPr>
            <p:nvPr/>
          </p:nvSpPr>
          <p:spPr bwMode="auto">
            <a:xfrm flipV="1">
              <a:off x="4719" y="1872"/>
              <a:ext cx="60"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48" name="Rectangle 76"/>
            <p:cNvSpPr>
              <a:spLocks noChangeArrowheads="1"/>
            </p:cNvSpPr>
            <p:nvPr/>
          </p:nvSpPr>
          <p:spPr bwMode="auto">
            <a:xfrm flipV="1">
              <a:off x="4571" y="1609"/>
              <a:ext cx="72" cy="111"/>
            </a:xfrm>
            <a:prstGeom prst="rect">
              <a:avLst/>
            </a:prstGeom>
            <a:solidFill>
              <a:srgbClr val="FF33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49" name="Line 77"/>
            <p:cNvSpPr>
              <a:spLocks noChangeShapeType="1"/>
            </p:cNvSpPr>
            <p:nvPr/>
          </p:nvSpPr>
          <p:spPr bwMode="auto">
            <a:xfrm flipV="1">
              <a:off x="4577" y="1725"/>
              <a:ext cx="61"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50" name="Text Box 78"/>
            <p:cNvSpPr txBox="1">
              <a:spLocks noChangeArrowheads="1"/>
            </p:cNvSpPr>
            <p:nvPr/>
          </p:nvSpPr>
          <p:spPr bwMode="auto">
            <a:xfrm>
              <a:off x="1854" y="1154"/>
              <a:ext cx="181"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t>E</a:t>
              </a:r>
              <a:endParaRPr lang="en-US" altLang="zh-CN" sz="1200" b="1"/>
            </a:p>
          </p:txBody>
        </p:sp>
        <p:sp>
          <p:nvSpPr>
            <p:cNvPr id="24751" name="Text Box 79"/>
            <p:cNvSpPr txBox="1">
              <a:spLocks noChangeArrowheads="1"/>
            </p:cNvSpPr>
            <p:nvPr/>
          </p:nvSpPr>
          <p:spPr bwMode="auto">
            <a:xfrm>
              <a:off x="2477" y="1235"/>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0000"/>
                  </a:solidFill>
                </a:rPr>
                <a:t>H</a:t>
              </a:r>
              <a:endParaRPr lang="en-US" altLang="zh-CN" sz="1400" b="1">
                <a:solidFill>
                  <a:srgbClr val="FF0000"/>
                </a:solidFill>
              </a:endParaRPr>
            </a:p>
          </p:txBody>
        </p:sp>
        <p:sp>
          <p:nvSpPr>
            <p:cNvPr id="24752" name="Text Box 80"/>
            <p:cNvSpPr txBox="1">
              <a:spLocks noChangeArrowheads="1"/>
            </p:cNvSpPr>
            <p:nvPr/>
          </p:nvSpPr>
          <p:spPr bwMode="auto">
            <a:xfrm>
              <a:off x="4151" y="1309"/>
              <a:ext cx="1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Y</a:t>
              </a:r>
              <a:endParaRPr lang="en-US" altLang="zh-CN" sz="1400" b="1"/>
            </a:p>
          </p:txBody>
        </p:sp>
        <p:sp>
          <p:nvSpPr>
            <p:cNvPr id="24753" name="Text Box 81"/>
            <p:cNvSpPr txBox="1">
              <a:spLocks noChangeArrowheads="1"/>
            </p:cNvSpPr>
            <p:nvPr/>
          </p:nvSpPr>
          <p:spPr bwMode="auto">
            <a:xfrm>
              <a:off x="1150" y="563"/>
              <a:ext cx="19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A</a:t>
              </a:r>
              <a:endParaRPr lang="en-US" altLang="zh-CN" sz="1400" b="1"/>
            </a:p>
          </p:txBody>
        </p:sp>
        <p:sp>
          <p:nvSpPr>
            <p:cNvPr id="24754" name="Text Box 82"/>
            <p:cNvSpPr txBox="1">
              <a:spLocks noChangeArrowheads="1"/>
            </p:cNvSpPr>
            <p:nvPr/>
          </p:nvSpPr>
          <p:spPr bwMode="auto">
            <a:xfrm>
              <a:off x="1305" y="869"/>
              <a:ext cx="18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B</a:t>
              </a:r>
              <a:endParaRPr lang="en-US" altLang="zh-CN" sz="1400" b="1"/>
            </a:p>
          </p:txBody>
        </p:sp>
        <p:sp>
          <p:nvSpPr>
            <p:cNvPr id="24755" name="Text Box 83"/>
            <p:cNvSpPr txBox="1">
              <a:spLocks noChangeArrowheads="1"/>
            </p:cNvSpPr>
            <p:nvPr/>
          </p:nvSpPr>
          <p:spPr bwMode="auto">
            <a:xfrm>
              <a:off x="2354" y="1237"/>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G</a:t>
              </a:r>
              <a:endParaRPr lang="en-US" altLang="zh-CN" sz="1400" b="1"/>
            </a:p>
          </p:txBody>
        </p:sp>
        <p:sp>
          <p:nvSpPr>
            <p:cNvPr id="24756" name="Text Box 84"/>
            <p:cNvSpPr txBox="1">
              <a:spLocks noChangeArrowheads="1"/>
            </p:cNvSpPr>
            <p:nvPr/>
          </p:nvSpPr>
          <p:spPr bwMode="auto">
            <a:xfrm>
              <a:off x="2568" y="1286"/>
              <a:ext cx="26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JS</a:t>
              </a:r>
              <a:endParaRPr lang="en-US" altLang="zh-CN" sz="1400" b="1"/>
            </a:p>
          </p:txBody>
        </p:sp>
        <p:sp>
          <p:nvSpPr>
            <p:cNvPr id="24757" name="Text Box 85"/>
            <p:cNvSpPr txBox="1">
              <a:spLocks noChangeArrowheads="1"/>
            </p:cNvSpPr>
            <p:nvPr/>
          </p:nvSpPr>
          <p:spPr bwMode="auto">
            <a:xfrm>
              <a:off x="2747" y="1118"/>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K</a:t>
              </a:r>
              <a:endParaRPr lang="en-US" altLang="zh-CN" sz="1400" b="1"/>
            </a:p>
          </p:txBody>
        </p:sp>
        <p:sp>
          <p:nvSpPr>
            <p:cNvPr id="24758" name="Text Box 86"/>
            <p:cNvSpPr txBox="1">
              <a:spLocks noChangeArrowheads="1"/>
            </p:cNvSpPr>
            <p:nvPr/>
          </p:nvSpPr>
          <p:spPr bwMode="auto">
            <a:xfrm>
              <a:off x="2907" y="1125"/>
              <a:ext cx="20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M</a:t>
              </a:r>
              <a:endParaRPr lang="en-US" altLang="zh-CN" sz="1400" b="1"/>
            </a:p>
          </p:txBody>
        </p:sp>
        <p:sp>
          <p:nvSpPr>
            <p:cNvPr id="24759" name="Text Box 87"/>
            <p:cNvSpPr txBox="1">
              <a:spLocks noChangeArrowheads="1"/>
            </p:cNvSpPr>
            <p:nvPr/>
          </p:nvSpPr>
          <p:spPr bwMode="auto">
            <a:xfrm>
              <a:off x="3070" y="1125"/>
              <a:ext cx="1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N</a:t>
              </a:r>
              <a:endParaRPr lang="en-US" altLang="zh-CN" sz="1400" b="1"/>
            </a:p>
          </p:txBody>
        </p:sp>
        <p:sp>
          <p:nvSpPr>
            <p:cNvPr id="24760" name="Text Box 88"/>
            <p:cNvSpPr txBox="1">
              <a:spLocks noChangeArrowheads="1"/>
            </p:cNvSpPr>
            <p:nvPr/>
          </p:nvSpPr>
          <p:spPr bwMode="auto">
            <a:xfrm>
              <a:off x="3757" y="1251"/>
              <a:ext cx="1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U</a:t>
              </a:r>
              <a:endParaRPr lang="en-US" altLang="zh-CN" sz="1400" b="1"/>
            </a:p>
          </p:txBody>
        </p:sp>
        <p:sp>
          <p:nvSpPr>
            <p:cNvPr id="24761" name="Text Box 89"/>
            <p:cNvSpPr txBox="1">
              <a:spLocks noChangeArrowheads="1"/>
            </p:cNvSpPr>
            <p:nvPr/>
          </p:nvSpPr>
          <p:spPr bwMode="auto">
            <a:xfrm>
              <a:off x="3874" y="1271"/>
              <a:ext cx="1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V</a:t>
              </a:r>
              <a:endParaRPr lang="en-US" altLang="zh-CN" sz="1400" b="1"/>
            </a:p>
          </p:txBody>
        </p:sp>
        <p:sp>
          <p:nvSpPr>
            <p:cNvPr id="24762" name="Text Box 90"/>
            <p:cNvSpPr txBox="1">
              <a:spLocks noChangeArrowheads="1"/>
            </p:cNvSpPr>
            <p:nvPr/>
          </p:nvSpPr>
          <p:spPr bwMode="auto">
            <a:xfrm>
              <a:off x="4021" y="1293"/>
              <a:ext cx="1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X</a:t>
              </a:r>
              <a:endParaRPr lang="en-US" altLang="zh-CN" sz="1400" b="1"/>
            </a:p>
          </p:txBody>
        </p:sp>
        <p:sp>
          <p:nvSpPr>
            <p:cNvPr id="24763" name="Text Box 91"/>
            <p:cNvSpPr txBox="1">
              <a:spLocks noChangeArrowheads="1"/>
            </p:cNvSpPr>
            <p:nvPr/>
          </p:nvSpPr>
          <p:spPr bwMode="auto">
            <a:xfrm>
              <a:off x="4270" y="1331"/>
              <a:ext cx="18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Z</a:t>
              </a:r>
              <a:endParaRPr lang="en-US" altLang="zh-CN" sz="1400" b="1"/>
            </a:p>
          </p:txBody>
        </p:sp>
        <p:sp>
          <p:nvSpPr>
            <p:cNvPr id="24764" name="Text Box 92"/>
            <p:cNvSpPr txBox="1">
              <a:spLocks noChangeArrowheads="1"/>
            </p:cNvSpPr>
            <p:nvPr/>
          </p:nvSpPr>
          <p:spPr bwMode="auto">
            <a:xfrm>
              <a:off x="4339" y="1358"/>
              <a:ext cx="30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ZA</a:t>
              </a:r>
              <a:endParaRPr lang="en-US" altLang="zh-CN" sz="1400" b="1"/>
            </a:p>
          </p:txBody>
        </p:sp>
        <p:sp>
          <p:nvSpPr>
            <p:cNvPr id="24765" name="Text Box 93"/>
            <p:cNvSpPr txBox="1">
              <a:spLocks noChangeArrowheads="1"/>
            </p:cNvSpPr>
            <p:nvPr/>
          </p:nvSpPr>
          <p:spPr bwMode="auto">
            <a:xfrm>
              <a:off x="4466" y="1461"/>
              <a:ext cx="30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ZB</a:t>
              </a:r>
              <a:endParaRPr lang="en-US" altLang="zh-CN" sz="1400" b="1"/>
            </a:p>
          </p:txBody>
        </p:sp>
        <p:sp>
          <p:nvSpPr>
            <p:cNvPr id="24766" name="Text Box 94"/>
            <p:cNvSpPr txBox="1">
              <a:spLocks noChangeArrowheads="1"/>
            </p:cNvSpPr>
            <p:nvPr/>
          </p:nvSpPr>
          <p:spPr bwMode="auto">
            <a:xfrm>
              <a:off x="4604" y="1615"/>
              <a:ext cx="301"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ZC</a:t>
              </a:r>
              <a:endParaRPr lang="en-US" altLang="zh-CN" sz="1400" b="1"/>
            </a:p>
          </p:txBody>
        </p:sp>
        <p:sp>
          <p:nvSpPr>
            <p:cNvPr id="24767" name="Line 96"/>
            <p:cNvSpPr>
              <a:spLocks noChangeShapeType="1"/>
            </p:cNvSpPr>
            <p:nvPr/>
          </p:nvSpPr>
          <p:spPr bwMode="auto">
            <a:xfrm>
              <a:off x="5129" y="1273"/>
              <a:ext cx="0" cy="734"/>
            </a:xfrm>
            <a:prstGeom prst="line">
              <a:avLst/>
            </a:prstGeom>
            <a:noFill/>
            <a:ln w="19050">
              <a:solidFill>
                <a:schemeClr val="tx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4768" name="Text Box 97"/>
            <p:cNvSpPr txBox="1">
              <a:spLocks noChangeArrowheads="1"/>
            </p:cNvSpPr>
            <p:nvPr/>
          </p:nvSpPr>
          <p:spPr bwMode="auto">
            <a:xfrm rot="-5400000">
              <a:off x="4554" y="1514"/>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基本尺寸</a:t>
              </a:r>
              <a:endParaRPr lang="zh-CN" altLang="en-US" sz="1800" b="1"/>
            </a:p>
          </p:txBody>
        </p:sp>
        <p:sp>
          <p:nvSpPr>
            <p:cNvPr id="24769" name="Text Box 98"/>
            <p:cNvSpPr txBox="1">
              <a:spLocks noChangeArrowheads="1"/>
            </p:cNvSpPr>
            <p:nvPr/>
          </p:nvSpPr>
          <p:spPr bwMode="auto">
            <a:xfrm>
              <a:off x="4709" y="1020"/>
              <a:ext cx="50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零线</a:t>
              </a:r>
              <a:endParaRPr lang="zh-CN" altLang="en-US" sz="1800" b="1"/>
            </a:p>
          </p:txBody>
        </p:sp>
        <p:sp>
          <p:nvSpPr>
            <p:cNvPr id="24770" name="Text Box 99"/>
            <p:cNvSpPr txBox="1">
              <a:spLocks noChangeArrowheads="1"/>
            </p:cNvSpPr>
            <p:nvPr/>
          </p:nvSpPr>
          <p:spPr bwMode="auto">
            <a:xfrm>
              <a:off x="768" y="1139"/>
              <a:ext cx="21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0</a:t>
              </a:r>
              <a:endParaRPr lang="en-US" altLang="zh-CN" sz="1800" b="1"/>
            </a:p>
          </p:txBody>
        </p:sp>
        <p:sp>
          <p:nvSpPr>
            <p:cNvPr id="24771" name="Text Box 100"/>
            <p:cNvSpPr txBox="1">
              <a:spLocks noChangeArrowheads="1"/>
            </p:cNvSpPr>
            <p:nvPr/>
          </p:nvSpPr>
          <p:spPr bwMode="auto">
            <a:xfrm>
              <a:off x="892" y="1001"/>
              <a:ext cx="22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a:t>
              </a:r>
              <a:endParaRPr lang="en-US" altLang="zh-CN" b="1"/>
            </a:p>
          </p:txBody>
        </p:sp>
        <p:sp>
          <p:nvSpPr>
            <p:cNvPr id="24772" name="Text Box 101"/>
            <p:cNvSpPr txBox="1">
              <a:spLocks noChangeArrowheads="1"/>
            </p:cNvSpPr>
            <p:nvPr/>
          </p:nvSpPr>
          <p:spPr bwMode="auto">
            <a:xfrm>
              <a:off x="907" y="1168"/>
              <a:ext cx="201"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600" b="1"/>
                <a:t>-</a:t>
              </a:r>
              <a:endParaRPr lang="en-US" altLang="zh-CN" sz="3600" b="1"/>
            </a:p>
          </p:txBody>
        </p:sp>
        <p:sp>
          <p:nvSpPr>
            <p:cNvPr id="24773" name="Text Box 103"/>
            <p:cNvSpPr txBox="1">
              <a:spLocks noChangeArrowheads="1"/>
            </p:cNvSpPr>
            <p:nvPr/>
          </p:nvSpPr>
          <p:spPr bwMode="auto">
            <a:xfrm>
              <a:off x="2613" y="1374"/>
              <a:ext cx="1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J</a:t>
              </a:r>
              <a:endParaRPr lang="en-US" altLang="zh-CN" sz="1400" b="1"/>
            </a:p>
          </p:txBody>
        </p:sp>
        <p:sp>
          <p:nvSpPr>
            <p:cNvPr id="24774" name="Text Box 104"/>
            <p:cNvSpPr txBox="1">
              <a:spLocks noChangeArrowheads="1"/>
            </p:cNvSpPr>
            <p:nvPr/>
          </p:nvSpPr>
          <p:spPr bwMode="auto">
            <a:xfrm>
              <a:off x="5186" y="1133"/>
              <a:ext cx="21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0</a:t>
              </a:r>
              <a:endParaRPr lang="en-US" altLang="zh-CN" sz="1800" b="1"/>
            </a:p>
          </p:txBody>
        </p:sp>
        <p:grpSp>
          <p:nvGrpSpPr>
            <p:cNvPr id="24775" name="Group 212"/>
            <p:cNvGrpSpPr/>
            <p:nvPr/>
          </p:nvGrpSpPr>
          <p:grpSpPr bwMode="auto">
            <a:xfrm>
              <a:off x="1946" y="1181"/>
              <a:ext cx="260" cy="192"/>
              <a:chOff x="1946" y="1181"/>
              <a:chExt cx="260" cy="192"/>
            </a:xfrm>
          </p:grpSpPr>
          <p:sp>
            <p:nvSpPr>
              <p:cNvPr id="24787" name="Rectangle 198"/>
              <p:cNvSpPr>
                <a:spLocks noChangeArrowheads="1"/>
              </p:cNvSpPr>
              <p:nvPr/>
            </p:nvSpPr>
            <p:spPr bwMode="auto">
              <a:xfrm>
                <a:off x="2007" y="1228"/>
                <a:ext cx="119" cy="110"/>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88" name="Text Box 16"/>
              <p:cNvSpPr txBox="1">
                <a:spLocks noChangeArrowheads="1"/>
              </p:cNvSpPr>
              <p:nvPr/>
            </p:nvSpPr>
            <p:spPr bwMode="auto">
              <a:xfrm>
                <a:off x="1946" y="1181"/>
                <a:ext cx="26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EF</a:t>
                </a:r>
                <a:endParaRPr lang="en-US" altLang="zh-CN" sz="1400" b="1"/>
              </a:p>
            </p:txBody>
          </p:sp>
        </p:grpSp>
        <p:sp>
          <p:nvSpPr>
            <p:cNvPr id="24776" name="Text Box 17"/>
            <p:cNvSpPr txBox="1">
              <a:spLocks noChangeArrowheads="1"/>
            </p:cNvSpPr>
            <p:nvPr/>
          </p:nvSpPr>
          <p:spPr bwMode="auto">
            <a:xfrm>
              <a:off x="2178" y="1242"/>
              <a:ext cx="30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FG</a:t>
              </a:r>
              <a:endParaRPr lang="en-US" altLang="zh-CN" sz="1400" b="1"/>
            </a:p>
          </p:txBody>
        </p:sp>
        <p:sp>
          <p:nvSpPr>
            <p:cNvPr id="24777" name="Line 204"/>
            <p:cNvSpPr>
              <a:spLocks noChangeShapeType="1"/>
            </p:cNvSpPr>
            <p:nvPr/>
          </p:nvSpPr>
          <p:spPr bwMode="auto">
            <a:xfrm flipH="1">
              <a:off x="2252" y="1284"/>
              <a:ext cx="1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4778" name="Group 208"/>
            <p:cNvGrpSpPr/>
            <p:nvPr/>
          </p:nvGrpSpPr>
          <p:grpSpPr bwMode="auto">
            <a:xfrm>
              <a:off x="3355" y="1208"/>
              <a:ext cx="186" cy="192"/>
              <a:chOff x="3355" y="1208"/>
              <a:chExt cx="186" cy="192"/>
            </a:xfrm>
          </p:grpSpPr>
          <p:sp>
            <p:nvSpPr>
              <p:cNvPr id="24785" name="Rectangle 207"/>
              <p:cNvSpPr>
                <a:spLocks noChangeArrowheads="1"/>
              </p:cNvSpPr>
              <p:nvPr/>
            </p:nvSpPr>
            <p:spPr bwMode="auto">
              <a:xfrm>
                <a:off x="3420" y="1260"/>
                <a:ext cx="60" cy="56"/>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86" name="Text Box 10"/>
              <p:cNvSpPr txBox="1">
                <a:spLocks noChangeArrowheads="1"/>
              </p:cNvSpPr>
              <p:nvPr/>
            </p:nvSpPr>
            <p:spPr bwMode="auto">
              <a:xfrm>
                <a:off x="3355" y="1208"/>
                <a:ext cx="1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R</a:t>
                </a:r>
                <a:endParaRPr lang="en-US" altLang="zh-CN" sz="1400" b="1"/>
              </a:p>
            </p:txBody>
          </p:sp>
        </p:grpSp>
        <p:grpSp>
          <p:nvGrpSpPr>
            <p:cNvPr id="24779" name="Group 210"/>
            <p:cNvGrpSpPr/>
            <p:nvPr/>
          </p:nvGrpSpPr>
          <p:grpSpPr bwMode="auto">
            <a:xfrm>
              <a:off x="3225" y="1174"/>
              <a:ext cx="176" cy="192"/>
              <a:chOff x="3225" y="1174"/>
              <a:chExt cx="176" cy="192"/>
            </a:xfrm>
          </p:grpSpPr>
          <p:sp>
            <p:nvSpPr>
              <p:cNvPr id="24783" name="Rectangle 205"/>
              <p:cNvSpPr>
                <a:spLocks noChangeArrowheads="1"/>
              </p:cNvSpPr>
              <p:nvPr/>
            </p:nvSpPr>
            <p:spPr bwMode="auto">
              <a:xfrm>
                <a:off x="3284" y="1216"/>
                <a:ext cx="36" cy="100"/>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84" name="Text Box 13"/>
              <p:cNvSpPr txBox="1">
                <a:spLocks noChangeArrowheads="1"/>
              </p:cNvSpPr>
              <p:nvPr/>
            </p:nvSpPr>
            <p:spPr bwMode="auto">
              <a:xfrm>
                <a:off x="3225" y="1174"/>
                <a:ext cx="17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P</a:t>
                </a:r>
                <a:endParaRPr lang="en-US" altLang="zh-CN" sz="1400" b="1"/>
              </a:p>
            </p:txBody>
          </p:sp>
        </p:grpSp>
        <p:grpSp>
          <p:nvGrpSpPr>
            <p:cNvPr id="24780" name="Group 211"/>
            <p:cNvGrpSpPr/>
            <p:nvPr/>
          </p:nvGrpSpPr>
          <p:grpSpPr bwMode="auto">
            <a:xfrm>
              <a:off x="2112" y="1220"/>
              <a:ext cx="176" cy="192"/>
              <a:chOff x="2112" y="1220"/>
              <a:chExt cx="176" cy="192"/>
            </a:xfrm>
          </p:grpSpPr>
          <p:sp>
            <p:nvSpPr>
              <p:cNvPr id="24781" name="Rectangle 200"/>
              <p:cNvSpPr>
                <a:spLocks noChangeArrowheads="1"/>
              </p:cNvSpPr>
              <p:nvPr/>
            </p:nvSpPr>
            <p:spPr bwMode="auto">
              <a:xfrm>
                <a:off x="2171" y="1256"/>
                <a:ext cx="58" cy="118"/>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82" name="Text Box 95"/>
              <p:cNvSpPr txBox="1">
                <a:spLocks noChangeArrowheads="1"/>
              </p:cNvSpPr>
              <p:nvPr/>
            </p:nvSpPr>
            <p:spPr bwMode="auto">
              <a:xfrm>
                <a:off x="2112" y="1220"/>
                <a:ext cx="17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t>F</a:t>
                </a:r>
                <a:endParaRPr lang="en-US" altLang="zh-CN" sz="1400" b="1"/>
              </a:p>
            </p:txBody>
          </p:sp>
        </p:grpSp>
      </p:grpSp>
      <p:sp>
        <p:nvSpPr>
          <p:cNvPr id="25740" name="Text Box 140"/>
          <p:cNvSpPr txBox="1">
            <a:spLocks noChangeArrowheads="1"/>
          </p:cNvSpPr>
          <p:nvPr/>
        </p:nvSpPr>
        <p:spPr bwMode="auto">
          <a:xfrm>
            <a:off x="4459288" y="4727575"/>
            <a:ext cx="590550"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t>轴</a:t>
            </a:r>
            <a:endParaRPr lang="zh-CN" altLang="en-US" sz="3200" b="1"/>
          </a:p>
        </p:txBody>
      </p:sp>
      <p:grpSp>
        <p:nvGrpSpPr>
          <p:cNvPr id="25832" name="Group 232"/>
          <p:cNvGrpSpPr/>
          <p:nvPr/>
        </p:nvGrpSpPr>
        <p:grpSpPr bwMode="auto">
          <a:xfrm>
            <a:off x="1169988" y="3254375"/>
            <a:ext cx="7405687" cy="2300288"/>
            <a:chOff x="737" y="2033"/>
            <a:chExt cx="4665" cy="1449"/>
          </a:xfrm>
        </p:grpSpPr>
        <p:sp>
          <p:nvSpPr>
            <p:cNvPr id="24586" name="Freeform 150"/>
            <p:cNvSpPr/>
            <p:nvPr/>
          </p:nvSpPr>
          <p:spPr bwMode="auto">
            <a:xfrm>
              <a:off x="4711" y="2035"/>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339933"/>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87" name="Text Box 106"/>
            <p:cNvSpPr txBox="1">
              <a:spLocks noChangeArrowheads="1"/>
            </p:cNvSpPr>
            <p:nvPr/>
          </p:nvSpPr>
          <p:spPr bwMode="auto">
            <a:xfrm>
              <a:off x="878" y="2383"/>
              <a:ext cx="225"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a:t>
              </a:r>
              <a:endParaRPr lang="en-US" altLang="zh-CN" b="1"/>
            </a:p>
          </p:txBody>
        </p:sp>
        <p:sp>
          <p:nvSpPr>
            <p:cNvPr id="24588" name="Text Box 108"/>
            <p:cNvSpPr txBox="1">
              <a:spLocks noChangeArrowheads="1"/>
            </p:cNvSpPr>
            <p:nvPr/>
          </p:nvSpPr>
          <p:spPr bwMode="auto">
            <a:xfrm>
              <a:off x="1151" y="3125"/>
              <a:ext cx="19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a</a:t>
              </a:r>
              <a:endParaRPr lang="en-US" altLang="zh-CN" sz="1800" b="1"/>
            </a:p>
          </p:txBody>
        </p:sp>
        <p:grpSp>
          <p:nvGrpSpPr>
            <p:cNvPr id="24589" name="Group 222"/>
            <p:cNvGrpSpPr/>
            <p:nvPr/>
          </p:nvGrpSpPr>
          <p:grpSpPr bwMode="auto">
            <a:xfrm>
              <a:off x="2203" y="2454"/>
              <a:ext cx="236" cy="232"/>
              <a:chOff x="2203" y="2454"/>
              <a:chExt cx="236" cy="232"/>
            </a:xfrm>
          </p:grpSpPr>
          <p:sp>
            <p:nvSpPr>
              <p:cNvPr id="24684" name="Rectangle 221"/>
              <p:cNvSpPr>
                <a:spLocks noChangeArrowheads="1"/>
              </p:cNvSpPr>
              <p:nvPr/>
            </p:nvSpPr>
            <p:spPr bwMode="auto">
              <a:xfrm>
                <a:off x="2312" y="2612"/>
                <a:ext cx="64" cy="4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85" name="Text Box 109"/>
              <p:cNvSpPr txBox="1">
                <a:spLocks noChangeArrowheads="1"/>
              </p:cNvSpPr>
              <p:nvPr/>
            </p:nvSpPr>
            <p:spPr bwMode="auto">
              <a:xfrm>
                <a:off x="2203" y="2454"/>
                <a:ext cx="23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fg</a:t>
                </a:r>
                <a:endParaRPr lang="en-US" altLang="zh-CN" sz="1800" b="1"/>
              </a:p>
            </p:txBody>
          </p:sp>
        </p:grpSp>
        <p:sp>
          <p:nvSpPr>
            <p:cNvPr id="24590" name="Text Box 110"/>
            <p:cNvSpPr txBox="1">
              <a:spLocks noChangeArrowheads="1"/>
            </p:cNvSpPr>
            <p:nvPr/>
          </p:nvSpPr>
          <p:spPr bwMode="auto">
            <a:xfrm>
              <a:off x="1714" y="2573"/>
              <a:ext cx="19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d</a:t>
              </a:r>
              <a:endParaRPr lang="en-US" altLang="zh-CN" sz="1800" b="1"/>
            </a:p>
          </p:txBody>
        </p:sp>
        <p:sp>
          <p:nvSpPr>
            <p:cNvPr id="24591" name="Text Box 112"/>
            <p:cNvSpPr txBox="1">
              <a:spLocks noChangeArrowheads="1"/>
            </p:cNvSpPr>
            <p:nvPr/>
          </p:nvSpPr>
          <p:spPr bwMode="auto">
            <a:xfrm>
              <a:off x="1544" y="2643"/>
              <a:ext cx="260"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cd</a:t>
              </a:r>
              <a:endParaRPr lang="en-US" altLang="zh-CN" sz="1800" b="1"/>
            </a:p>
          </p:txBody>
        </p:sp>
        <p:sp>
          <p:nvSpPr>
            <p:cNvPr id="24592" name="Text Box 113"/>
            <p:cNvSpPr txBox="1">
              <a:spLocks noChangeArrowheads="1"/>
            </p:cNvSpPr>
            <p:nvPr/>
          </p:nvSpPr>
          <p:spPr bwMode="auto">
            <a:xfrm>
              <a:off x="1313" y="2847"/>
              <a:ext cx="19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b</a:t>
              </a:r>
              <a:endParaRPr lang="en-US" altLang="zh-CN" sz="1800" b="1"/>
            </a:p>
          </p:txBody>
        </p:sp>
        <p:sp>
          <p:nvSpPr>
            <p:cNvPr id="24593" name="Text Box 114"/>
            <p:cNvSpPr txBox="1">
              <a:spLocks noChangeArrowheads="1"/>
            </p:cNvSpPr>
            <p:nvPr/>
          </p:nvSpPr>
          <p:spPr bwMode="auto">
            <a:xfrm>
              <a:off x="2492" y="2440"/>
              <a:ext cx="19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solidFill>
                    <a:srgbClr val="FF0000"/>
                  </a:solidFill>
                </a:rPr>
                <a:t>h</a:t>
              </a:r>
              <a:endParaRPr lang="en-US" altLang="zh-CN" sz="1800" b="1">
                <a:solidFill>
                  <a:srgbClr val="FF0000"/>
                </a:solidFill>
              </a:endParaRPr>
            </a:p>
          </p:txBody>
        </p:sp>
        <p:sp>
          <p:nvSpPr>
            <p:cNvPr id="24594" name="Text Box 115"/>
            <p:cNvSpPr txBox="1">
              <a:spLocks noChangeArrowheads="1"/>
            </p:cNvSpPr>
            <p:nvPr/>
          </p:nvSpPr>
          <p:spPr bwMode="auto">
            <a:xfrm>
              <a:off x="2619" y="2622"/>
              <a:ext cx="22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js</a:t>
              </a:r>
              <a:endParaRPr lang="en-US" altLang="zh-CN" sz="1800" b="1"/>
            </a:p>
          </p:txBody>
        </p:sp>
        <p:sp>
          <p:nvSpPr>
            <p:cNvPr id="24595" name="Text Box 116"/>
            <p:cNvSpPr txBox="1">
              <a:spLocks noChangeArrowheads="1"/>
            </p:cNvSpPr>
            <p:nvPr/>
          </p:nvSpPr>
          <p:spPr bwMode="auto">
            <a:xfrm>
              <a:off x="2631" y="2755"/>
              <a:ext cx="16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j</a:t>
              </a:r>
              <a:endParaRPr lang="en-US" altLang="zh-CN" sz="1800" b="1"/>
            </a:p>
          </p:txBody>
        </p:sp>
        <p:sp>
          <p:nvSpPr>
            <p:cNvPr id="24596" name="Text Box 117"/>
            <p:cNvSpPr txBox="1">
              <a:spLocks noChangeArrowheads="1"/>
            </p:cNvSpPr>
            <p:nvPr/>
          </p:nvSpPr>
          <p:spPr bwMode="auto">
            <a:xfrm>
              <a:off x="2760" y="2578"/>
              <a:ext cx="19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k</a:t>
              </a:r>
              <a:endParaRPr lang="en-US" altLang="zh-CN" sz="1800" b="1"/>
            </a:p>
          </p:txBody>
        </p:sp>
        <p:sp>
          <p:nvSpPr>
            <p:cNvPr id="24597" name="Text Box 118"/>
            <p:cNvSpPr txBox="1">
              <a:spLocks noChangeArrowheads="1"/>
            </p:cNvSpPr>
            <p:nvPr/>
          </p:nvSpPr>
          <p:spPr bwMode="auto">
            <a:xfrm>
              <a:off x="2871" y="2554"/>
              <a:ext cx="23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m</a:t>
              </a:r>
              <a:endParaRPr lang="en-US" altLang="zh-CN" sz="1800" b="1"/>
            </a:p>
          </p:txBody>
        </p:sp>
        <p:sp>
          <p:nvSpPr>
            <p:cNvPr id="24598" name="Text Box 119"/>
            <p:cNvSpPr txBox="1">
              <a:spLocks noChangeArrowheads="1"/>
            </p:cNvSpPr>
            <p:nvPr/>
          </p:nvSpPr>
          <p:spPr bwMode="auto">
            <a:xfrm>
              <a:off x="3058" y="2546"/>
              <a:ext cx="19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n</a:t>
              </a:r>
              <a:endParaRPr lang="en-US" altLang="zh-CN" sz="1800" b="1"/>
            </a:p>
          </p:txBody>
        </p:sp>
        <p:sp>
          <p:nvSpPr>
            <p:cNvPr id="24599" name="Text Box 121"/>
            <p:cNvSpPr txBox="1">
              <a:spLocks noChangeArrowheads="1"/>
            </p:cNvSpPr>
            <p:nvPr/>
          </p:nvSpPr>
          <p:spPr bwMode="auto">
            <a:xfrm>
              <a:off x="3470" y="2461"/>
              <a:ext cx="17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s</a:t>
              </a:r>
              <a:endParaRPr lang="en-US" altLang="zh-CN" sz="1800" b="1"/>
            </a:p>
          </p:txBody>
        </p:sp>
        <p:sp>
          <p:nvSpPr>
            <p:cNvPr id="24600" name="Text Box 122"/>
            <p:cNvSpPr txBox="1">
              <a:spLocks noChangeArrowheads="1"/>
            </p:cNvSpPr>
            <p:nvPr/>
          </p:nvSpPr>
          <p:spPr bwMode="auto">
            <a:xfrm>
              <a:off x="3621" y="2464"/>
              <a:ext cx="16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t</a:t>
              </a:r>
              <a:endParaRPr lang="en-US" altLang="zh-CN" sz="1800" b="1"/>
            </a:p>
          </p:txBody>
        </p:sp>
        <p:sp>
          <p:nvSpPr>
            <p:cNvPr id="24601" name="Text Box 123"/>
            <p:cNvSpPr txBox="1">
              <a:spLocks noChangeArrowheads="1"/>
            </p:cNvSpPr>
            <p:nvPr/>
          </p:nvSpPr>
          <p:spPr bwMode="auto">
            <a:xfrm>
              <a:off x="3750" y="2440"/>
              <a:ext cx="19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u</a:t>
              </a:r>
              <a:endParaRPr lang="en-US" altLang="zh-CN" sz="1800" b="1"/>
            </a:p>
          </p:txBody>
        </p:sp>
        <p:sp>
          <p:nvSpPr>
            <p:cNvPr id="24602" name="Text Box 124"/>
            <p:cNvSpPr txBox="1">
              <a:spLocks noChangeArrowheads="1"/>
            </p:cNvSpPr>
            <p:nvPr/>
          </p:nvSpPr>
          <p:spPr bwMode="auto">
            <a:xfrm>
              <a:off x="4008" y="2389"/>
              <a:ext cx="188"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x</a:t>
              </a:r>
              <a:endParaRPr lang="en-US" altLang="zh-CN" sz="1800" b="1"/>
            </a:p>
          </p:txBody>
        </p:sp>
        <p:sp>
          <p:nvSpPr>
            <p:cNvPr id="24603" name="Text Box 125"/>
            <p:cNvSpPr txBox="1">
              <a:spLocks noChangeArrowheads="1"/>
            </p:cNvSpPr>
            <p:nvPr/>
          </p:nvSpPr>
          <p:spPr bwMode="auto">
            <a:xfrm>
              <a:off x="4280" y="2360"/>
              <a:ext cx="18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z</a:t>
              </a:r>
              <a:endParaRPr lang="en-US" altLang="zh-CN" sz="1800" b="1"/>
            </a:p>
          </p:txBody>
        </p:sp>
        <p:sp>
          <p:nvSpPr>
            <p:cNvPr id="24604" name="Text Box 126"/>
            <p:cNvSpPr txBox="1">
              <a:spLocks noChangeArrowheads="1"/>
            </p:cNvSpPr>
            <p:nvPr/>
          </p:nvSpPr>
          <p:spPr bwMode="auto">
            <a:xfrm>
              <a:off x="4361" y="2324"/>
              <a:ext cx="252"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za</a:t>
              </a:r>
              <a:endParaRPr lang="en-US" altLang="zh-CN" sz="1800" b="1"/>
            </a:p>
          </p:txBody>
        </p:sp>
        <p:sp>
          <p:nvSpPr>
            <p:cNvPr id="24605" name="Text Box 127"/>
            <p:cNvSpPr txBox="1">
              <a:spLocks noChangeArrowheads="1"/>
            </p:cNvSpPr>
            <p:nvPr/>
          </p:nvSpPr>
          <p:spPr bwMode="auto">
            <a:xfrm>
              <a:off x="4488" y="2258"/>
              <a:ext cx="26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zb</a:t>
              </a:r>
              <a:endParaRPr lang="en-US" altLang="zh-CN" sz="1800" b="1"/>
            </a:p>
          </p:txBody>
        </p:sp>
        <p:sp>
          <p:nvSpPr>
            <p:cNvPr id="24606" name="Text Box 128"/>
            <p:cNvSpPr txBox="1">
              <a:spLocks noChangeArrowheads="1"/>
            </p:cNvSpPr>
            <p:nvPr/>
          </p:nvSpPr>
          <p:spPr bwMode="auto">
            <a:xfrm>
              <a:off x="4620" y="2054"/>
              <a:ext cx="24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zc</a:t>
              </a:r>
              <a:endParaRPr lang="en-US" altLang="zh-CN" sz="1800" b="1"/>
            </a:p>
          </p:txBody>
        </p:sp>
        <p:sp>
          <p:nvSpPr>
            <p:cNvPr id="24607" name="Text Box 129"/>
            <p:cNvSpPr txBox="1">
              <a:spLocks noChangeArrowheads="1"/>
            </p:cNvSpPr>
            <p:nvPr/>
          </p:nvSpPr>
          <p:spPr bwMode="auto">
            <a:xfrm>
              <a:off x="2358" y="2420"/>
              <a:ext cx="18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g</a:t>
              </a:r>
              <a:endParaRPr lang="en-US" altLang="zh-CN" sz="1800" b="1"/>
            </a:p>
          </p:txBody>
        </p:sp>
        <p:sp>
          <p:nvSpPr>
            <p:cNvPr id="24608" name="Text Box 130"/>
            <p:cNvSpPr txBox="1">
              <a:spLocks noChangeArrowheads="1"/>
            </p:cNvSpPr>
            <p:nvPr/>
          </p:nvSpPr>
          <p:spPr bwMode="auto">
            <a:xfrm>
              <a:off x="1852" y="2552"/>
              <a:ext cx="18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e</a:t>
              </a:r>
              <a:endParaRPr lang="en-US" altLang="zh-CN" sz="1800" b="1"/>
            </a:p>
          </p:txBody>
        </p:sp>
        <p:sp>
          <p:nvSpPr>
            <p:cNvPr id="24609" name="Text Box 131"/>
            <p:cNvSpPr txBox="1">
              <a:spLocks noChangeArrowheads="1"/>
            </p:cNvSpPr>
            <p:nvPr/>
          </p:nvSpPr>
          <p:spPr bwMode="auto">
            <a:xfrm>
              <a:off x="1453" y="2717"/>
              <a:ext cx="18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c</a:t>
              </a:r>
              <a:endParaRPr lang="en-US" altLang="zh-CN" sz="1800" b="1"/>
            </a:p>
          </p:txBody>
        </p:sp>
        <p:sp>
          <p:nvSpPr>
            <p:cNvPr id="24610" name="Text Box 133"/>
            <p:cNvSpPr txBox="1">
              <a:spLocks noChangeArrowheads="1"/>
            </p:cNvSpPr>
            <p:nvPr/>
          </p:nvSpPr>
          <p:spPr bwMode="auto">
            <a:xfrm>
              <a:off x="3870" y="2427"/>
              <a:ext cx="188"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v</a:t>
              </a:r>
              <a:endParaRPr lang="en-US" altLang="zh-CN" sz="1800" b="1"/>
            </a:p>
          </p:txBody>
        </p:sp>
        <p:sp>
          <p:nvSpPr>
            <p:cNvPr id="24611" name="Text Box 134"/>
            <p:cNvSpPr txBox="1">
              <a:spLocks noChangeArrowheads="1"/>
            </p:cNvSpPr>
            <p:nvPr/>
          </p:nvSpPr>
          <p:spPr bwMode="auto">
            <a:xfrm>
              <a:off x="4147" y="2375"/>
              <a:ext cx="188"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y</a:t>
              </a:r>
              <a:endParaRPr lang="en-US" altLang="zh-CN" sz="1800" b="1"/>
            </a:p>
          </p:txBody>
        </p:sp>
        <p:sp>
          <p:nvSpPr>
            <p:cNvPr id="24612" name="Line 135"/>
            <p:cNvSpPr>
              <a:spLocks noChangeShapeType="1"/>
            </p:cNvSpPr>
            <p:nvPr/>
          </p:nvSpPr>
          <p:spPr bwMode="auto">
            <a:xfrm>
              <a:off x="5106" y="2628"/>
              <a:ext cx="0" cy="819"/>
            </a:xfrm>
            <a:prstGeom prst="line">
              <a:avLst/>
            </a:prstGeom>
            <a:noFill/>
            <a:ln w="19050">
              <a:solidFill>
                <a:schemeClr val="tx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4613" name="Text Box 136"/>
            <p:cNvSpPr txBox="1">
              <a:spLocks noChangeArrowheads="1"/>
            </p:cNvSpPr>
            <p:nvPr/>
          </p:nvSpPr>
          <p:spPr bwMode="auto">
            <a:xfrm rot="-5400000">
              <a:off x="4545" y="2894"/>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基本尺寸</a:t>
              </a:r>
              <a:endParaRPr lang="zh-CN" altLang="en-US" b="1"/>
            </a:p>
          </p:txBody>
        </p:sp>
        <p:sp>
          <p:nvSpPr>
            <p:cNvPr id="24614" name="Text Box 137"/>
            <p:cNvSpPr txBox="1">
              <a:spLocks noChangeArrowheads="1"/>
            </p:cNvSpPr>
            <p:nvPr/>
          </p:nvSpPr>
          <p:spPr bwMode="auto">
            <a:xfrm>
              <a:off x="4635" y="2368"/>
              <a:ext cx="551"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零线</a:t>
              </a:r>
              <a:endParaRPr lang="zh-CN" altLang="en-US" b="1"/>
            </a:p>
          </p:txBody>
        </p:sp>
        <p:sp>
          <p:nvSpPr>
            <p:cNvPr id="24615" name="Text Box 138"/>
            <p:cNvSpPr txBox="1">
              <a:spLocks noChangeArrowheads="1"/>
            </p:cNvSpPr>
            <p:nvPr/>
          </p:nvSpPr>
          <p:spPr bwMode="auto">
            <a:xfrm>
              <a:off x="737" y="2499"/>
              <a:ext cx="212"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0</a:t>
              </a:r>
              <a:endParaRPr lang="en-US" altLang="zh-CN" b="1"/>
            </a:p>
          </p:txBody>
        </p:sp>
        <p:sp>
          <p:nvSpPr>
            <p:cNvPr id="24616" name="Text Box 139"/>
            <p:cNvSpPr txBox="1">
              <a:spLocks noChangeArrowheads="1"/>
            </p:cNvSpPr>
            <p:nvPr/>
          </p:nvSpPr>
          <p:spPr bwMode="auto">
            <a:xfrm>
              <a:off x="885" y="2515"/>
              <a:ext cx="201"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600" b="1"/>
                <a:t>-</a:t>
              </a:r>
              <a:endParaRPr lang="en-US" altLang="zh-CN" sz="3600" b="1"/>
            </a:p>
          </p:txBody>
        </p:sp>
        <p:sp>
          <p:nvSpPr>
            <p:cNvPr id="24617" name="Rectangle 141"/>
            <p:cNvSpPr>
              <a:spLocks noChangeArrowheads="1"/>
            </p:cNvSpPr>
            <p:nvPr/>
          </p:nvSpPr>
          <p:spPr bwMode="auto">
            <a:xfrm>
              <a:off x="4445" y="2302"/>
              <a:ext cx="63" cy="106"/>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18" name="Freeform 142"/>
            <p:cNvSpPr/>
            <p:nvPr/>
          </p:nvSpPr>
          <p:spPr bwMode="auto">
            <a:xfrm>
              <a:off x="4451" y="2304"/>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19" name="Rectangle 143"/>
            <p:cNvSpPr>
              <a:spLocks noChangeArrowheads="1"/>
            </p:cNvSpPr>
            <p:nvPr/>
          </p:nvSpPr>
          <p:spPr bwMode="auto">
            <a:xfrm>
              <a:off x="4329" y="2338"/>
              <a:ext cx="62" cy="105"/>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20" name="Freeform 144"/>
            <p:cNvSpPr/>
            <p:nvPr/>
          </p:nvSpPr>
          <p:spPr bwMode="auto">
            <a:xfrm>
              <a:off x="4335" y="2340"/>
              <a:ext cx="58" cy="1"/>
            </a:xfrm>
            <a:custGeom>
              <a:avLst/>
              <a:gdLst>
                <a:gd name="T0" fmla="*/ 0 w 73"/>
                <a:gd name="T1" fmla="*/ 0 h 1"/>
                <a:gd name="T2" fmla="*/ 58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1" name="Rectangle 145"/>
            <p:cNvSpPr>
              <a:spLocks noChangeArrowheads="1"/>
            </p:cNvSpPr>
            <p:nvPr/>
          </p:nvSpPr>
          <p:spPr bwMode="auto">
            <a:xfrm>
              <a:off x="4200" y="2354"/>
              <a:ext cx="63" cy="105"/>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22" name="Freeform 146"/>
            <p:cNvSpPr/>
            <p:nvPr/>
          </p:nvSpPr>
          <p:spPr bwMode="auto">
            <a:xfrm>
              <a:off x="4206" y="2356"/>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3" name="Rectangle 147"/>
            <p:cNvSpPr>
              <a:spLocks noChangeArrowheads="1"/>
            </p:cNvSpPr>
            <p:nvPr/>
          </p:nvSpPr>
          <p:spPr bwMode="auto">
            <a:xfrm>
              <a:off x="4067" y="2369"/>
              <a:ext cx="62" cy="105"/>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24" name="Freeform 148"/>
            <p:cNvSpPr/>
            <p:nvPr/>
          </p:nvSpPr>
          <p:spPr bwMode="auto">
            <a:xfrm>
              <a:off x="4073" y="2371"/>
              <a:ext cx="58" cy="1"/>
            </a:xfrm>
            <a:custGeom>
              <a:avLst/>
              <a:gdLst>
                <a:gd name="T0" fmla="*/ 0 w 73"/>
                <a:gd name="T1" fmla="*/ 0 h 1"/>
                <a:gd name="T2" fmla="*/ 58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5" name="Rectangle 149"/>
            <p:cNvSpPr>
              <a:spLocks noChangeArrowheads="1"/>
            </p:cNvSpPr>
            <p:nvPr/>
          </p:nvSpPr>
          <p:spPr bwMode="auto">
            <a:xfrm>
              <a:off x="4705" y="2033"/>
              <a:ext cx="63" cy="106"/>
            </a:xfrm>
            <a:prstGeom prst="rect">
              <a:avLst/>
            </a:prstGeom>
            <a:solidFill>
              <a:srgbClr val="3399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26" name="Rectangle 151"/>
            <p:cNvSpPr>
              <a:spLocks noChangeArrowheads="1"/>
            </p:cNvSpPr>
            <p:nvPr/>
          </p:nvSpPr>
          <p:spPr bwMode="auto">
            <a:xfrm>
              <a:off x="4570" y="2206"/>
              <a:ext cx="63" cy="105"/>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27" name="Freeform 152"/>
            <p:cNvSpPr/>
            <p:nvPr/>
          </p:nvSpPr>
          <p:spPr bwMode="auto">
            <a:xfrm>
              <a:off x="4576" y="2208"/>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8" name="Rectangle 153"/>
            <p:cNvSpPr>
              <a:spLocks noChangeArrowheads="1"/>
            </p:cNvSpPr>
            <p:nvPr/>
          </p:nvSpPr>
          <p:spPr bwMode="auto">
            <a:xfrm>
              <a:off x="3927" y="2399"/>
              <a:ext cx="63" cy="105"/>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29" name="Freeform 154"/>
            <p:cNvSpPr/>
            <p:nvPr/>
          </p:nvSpPr>
          <p:spPr bwMode="auto">
            <a:xfrm>
              <a:off x="3933" y="2401"/>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0" name="Rectangle 155"/>
            <p:cNvSpPr>
              <a:spLocks noChangeArrowheads="1"/>
            </p:cNvSpPr>
            <p:nvPr/>
          </p:nvSpPr>
          <p:spPr bwMode="auto">
            <a:xfrm>
              <a:off x="3805" y="2420"/>
              <a:ext cx="63" cy="106"/>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31" name="Freeform 156"/>
            <p:cNvSpPr/>
            <p:nvPr/>
          </p:nvSpPr>
          <p:spPr bwMode="auto">
            <a:xfrm>
              <a:off x="3811" y="2422"/>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2" name="Rectangle 157"/>
            <p:cNvSpPr>
              <a:spLocks noChangeArrowheads="1"/>
            </p:cNvSpPr>
            <p:nvPr/>
          </p:nvSpPr>
          <p:spPr bwMode="auto">
            <a:xfrm>
              <a:off x="3671" y="2435"/>
              <a:ext cx="63" cy="107"/>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33" name="Freeform 158"/>
            <p:cNvSpPr/>
            <p:nvPr/>
          </p:nvSpPr>
          <p:spPr bwMode="auto">
            <a:xfrm>
              <a:off x="3677" y="2437"/>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4" name="Rectangle 159"/>
            <p:cNvSpPr>
              <a:spLocks noChangeArrowheads="1"/>
            </p:cNvSpPr>
            <p:nvPr/>
          </p:nvSpPr>
          <p:spPr bwMode="auto">
            <a:xfrm>
              <a:off x="3531" y="2445"/>
              <a:ext cx="63" cy="106"/>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35" name="Freeform 160"/>
            <p:cNvSpPr/>
            <p:nvPr/>
          </p:nvSpPr>
          <p:spPr bwMode="auto">
            <a:xfrm>
              <a:off x="3537" y="2447"/>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6" name="Rectangle 161"/>
            <p:cNvSpPr>
              <a:spLocks noChangeArrowheads="1"/>
            </p:cNvSpPr>
            <p:nvPr/>
          </p:nvSpPr>
          <p:spPr bwMode="auto">
            <a:xfrm>
              <a:off x="3403" y="2459"/>
              <a:ext cx="63" cy="106"/>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37" name="Freeform 162"/>
            <p:cNvSpPr/>
            <p:nvPr/>
          </p:nvSpPr>
          <p:spPr bwMode="auto">
            <a:xfrm>
              <a:off x="3409" y="2461"/>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8" name="Rectangle 163"/>
            <p:cNvSpPr>
              <a:spLocks noChangeArrowheads="1"/>
            </p:cNvSpPr>
            <p:nvPr/>
          </p:nvSpPr>
          <p:spPr bwMode="auto">
            <a:xfrm>
              <a:off x="3263" y="2468"/>
              <a:ext cx="63" cy="106"/>
            </a:xfrm>
            <a:prstGeom prst="rect">
              <a:avLst/>
            </a:prstGeom>
            <a:solidFill>
              <a:srgbClr val="3399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39" name="Freeform 164"/>
            <p:cNvSpPr/>
            <p:nvPr/>
          </p:nvSpPr>
          <p:spPr bwMode="auto">
            <a:xfrm>
              <a:off x="3269" y="2470"/>
              <a:ext cx="59" cy="1"/>
            </a:xfrm>
            <a:custGeom>
              <a:avLst/>
              <a:gdLst>
                <a:gd name="T0" fmla="*/ 0 w 73"/>
                <a:gd name="T1" fmla="*/ 0 h 1"/>
                <a:gd name="T2" fmla="*/ 59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0" name="Rectangle 165"/>
            <p:cNvSpPr>
              <a:spLocks noChangeArrowheads="1"/>
            </p:cNvSpPr>
            <p:nvPr/>
          </p:nvSpPr>
          <p:spPr bwMode="auto">
            <a:xfrm flipV="1">
              <a:off x="2676" y="2573"/>
              <a:ext cx="63" cy="105"/>
            </a:xfrm>
            <a:prstGeom prst="rect">
              <a:avLst/>
            </a:prstGeom>
            <a:solidFill>
              <a:srgbClr val="33CC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41" name="Line 166"/>
            <p:cNvSpPr>
              <a:spLocks noChangeShapeType="1"/>
            </p:cNvSpPr>
            <p:nvPr/>
          </p:nvSpPr>
          <p:spPr bwMode="auto">
            <a:xfrm flipV="1">
              <a:off x="2682" y="2679"/>
              <a:ext cx="55" cy="0"/>
            </a:xfrm>
            <a:prstGeom prst="line">
              <a:avLst/>
            </a:prstGeom>
            <a:noFill/>
            <a:ln w="1905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2" name="Rectangle 167"/>
            <p:cNvSpPr>
              <a:spLocks noChangeArrowheads="1"/>
            </p:cNvSpPr>
            <p:nvPr/>
          </p:nvSpPr>
          <p:spPr bwMode="auto">
            <a:xfrm flipV="1">
              <a:off x="2541" y="2635"/>
              <a:ext cx="63" cy="106"/>
            </a:xfrm>
            <a:prstGeom prst="rect">
              <a:avLst/>
            </a:prstGeom>
            <a:solidFill>
              <a:srgbClr val="FF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43" name="Line 168"/>
            <p:cNvSpPr>
              <a:spLocks noChangeShapeType="1"/>
            </p:cNvSpPr>
            <p:nvPr/>
          </p:nvSpPr>
          <p:spPr bwMode="auto">
            <a:xfrm flipV="1">
              <a:off x="2547" y="2742"/>
              <a:ext cx="55"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4" name="Rectangle 169"/>
            <p:cNvSpPr>
              <a:spLocks noChangeArrowheads="1"/>
            </p:cNvSpPr>
            <p:nvPr/>
          </p:nvSpPr>
          <p:spPr bwMode="auto">
            <a:xfrm flipV="1">
              <a:off x="2420" y="2650"/>
              <a:ext cx="63" cy="106"/>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45" name="Line 170"/>
            <p:cNvSpPr>
              <a:spLocks noChangeShapeType="1"/>
            </p:cNvSpPr>
            <p:nvPr/>
          </p:nvSpPr>
          <p:spPr bwMode="auto">
            <a:xfrm flipV="1">
              <a:off x="2426" y="2757"/>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6" name="Rectangle 171"/>
            <p:cNvSpPr>
              <a:spLocks noChangeArrowheads="1"/>
            </p:cNvSpPr>
            <p:nvPr/>
          </p:nvSpPr>
          <p:spPr bwMode="auto">
            <a:xfrm flipV="1">
              <a:off x="2293" y="2668"/>
              <a:ext cx="63" cy="106"/>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47" name="Line 172"/>
            <p:cNvSpPr>
              <a:spLocks noChangeShapeType="1"/>
            </p:cNvSpPr>
            <p:nvPr/>
          </p:nvSpPr>
          <p:spPr bwMode="auto">
            <a:xfrm flipV="1">
              <a:off x="2299" y="2775"/>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8" name="Rectangle 173"/>
            <p:cNvSpPr>
              <a:spLocks noChangeArrowheads="1"/>
            </p:cNvSpPr>
            <p:nvPr/>
          </p:nvSpPr>
          <p:spPr bwMode="auto">
            <a:xfrm flipV="1">
              <a:off x="2171" y="2676"/>
              <a:ext cx="63" cy="106"/>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49" name="Line 174"/>
            <p:cNvSpPr>
              <a:spLocks noChangeShapeType="1"/>
            </p:cNvSpPr>
            <p:nvPr/>
          </p:nvSpPr>
          <p:spPr bwMode="auto">
            <a:xfrm flipV="1">
              <a:off x="2177" y="2783"/>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0" name="Rectangle 175"/>
            <p:cNvSpPr>
              <a:spLocks noChangeArrowheads="1"/>
            </p:cNvSpPr>
            <p:nvPr/>
          </p:nvSpPr>
          <p:spPr bwMode="auto">
            <a:xfrm flipV="1">
              <a:off x="2043" y="2699"/>
              <a:ext cx="63" cy="106"/>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51" name="Line 176"/>
            <p:cNvSpPr>
              <a:spLocks noChangeShapeType="1"/>
            </p:cNvSpPr>
            <p:nvPr/>
          </p:nvSpPr>
          <p:spPr bwMode="auto">
            <a:xfrm flipV="1">
              <a:off x="2049" y="2806"/>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2" name="Rectangle 177"/>
            <p:cNvSpPr>
              <a:spLocks noChangeArrowheads="1"/>
            </p:cNvSpPr>
            <p:nvPr/>
          </p:nvSpPr>
          <p:spPr bwMode="auto">
            <a:xfrm flipV="1">
              <a:off x="1776" y="2758"/>
              <a:ext cx="63" cy="105"/>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53" name="Line 178"/>
            <p:cNvSpPr>
              <a:spLocks noChangeShapeType="1"/>
            </p:cNvSpPr>
            <p:nvPr/>
          </p:nvSpPr>
          <p:spPr bwMode="auto">
            <a:xfrm flipV="1">
              <a:off x="1782" y="2864"/>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4" name="Rectangle 179"/>
            <p:cNvSpPr>
              <a:spLocks noChangeArrowheads="1"/>
            </p:cNvSpPr>
            <p:nvPr/>
          </p:nvSpPr>
          <p:spPr bwMode="auto">
            <a:xfrm flipV="1">
              <a:off x="1917" y="2731"/>
              <a:ext cx="63" cy="105"/>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55" name="Line 180"/>
            <p:cNvSpPr>
              <a:spLocks noChangeShapeType="1"/>
            </p:cNvSpPr>
            <p:nvPr/>
          </p:nvSpPr>
          <p:spPr bwMode="auto">
            <a:xfrm flipV="1">
              <a:off x="1923" y="2837"/>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6" name="Rectangle 181"/>
            <p:cNvSpPr>
              <a:spLocks noChangeArrowheads="1"/>
            </p:cNvSpPr>
            <p:nvPr/>
          </p:nvSpPr>
          <p:spPr bwMode="auto">
            <a:xfrm flipV="1">
              <a:off x="1636" y="2837"/>
              <a:ext cx="64" cy="106"/>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57" name="Line 182"/>
            <p:cNvSpPr>
              <a:spLocks noChangeShapeType="1"/>
            </p:cNvSpPr>
            <p:nvPr/>
          </p:nvSpPr>
          <p:spPr bwMode="auto">
            <a:xfrm flipV="1">
              <a:off x="1643" y="2944"/>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8" name="Rectangle 183"/>
            <p:cNvSpPr>
              <a:spLocks noChangeArrowheads="1"/>
            </p:cNvSpPr>
            <p:nvPr/>
          </p:nvSpPr>
          <p:spPr bwMode="auto">
            <a:xfrm flipV="1">
              <a:off x="1517" y="2904"/>
              <a:ext cx="63" cy="105"/>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59" name="Line 184"/>
            <p:cNvSpPr>
              <a:spLocks noChangeShapeType="1"/>
            </p:cNvSpPr>
            <p:nvPr/>
          </p:nvSpPr>
          <p:spPr bwMode="auto">
            <a:xfrm flipV="1">
              <a:off x="1523" y="3010"/>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0" name="Line 185"/>
            <p:cNvSpPr>
              <a:spLocks noChangeShapeType="1"/>
            </p:cNvSpPr>
            <p:nvPr/>
          </p:nvSpPr>
          <p:spPr bwMode="auto">
            <a:xfrm flipV="1">
              <a:off x="897" y="2635"/>
              <a:ext cx="4320" cy="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1" name="Rectangle 186"/>
            <p:cNvSpPr>
              <a:spLocks noChangeArrowheads="1"/>
            </p:cNvSpPr>
            <p:nvPr/>
          </p:nvSpPr>
          <p:spPr bwMode="auto">
            <a:xfrm flipV="1">
              <a:off x="1221" y="3318"/>
              <a:ext cx="64" cy="105"/>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62" name="Line 187"/>
            <p:cNvSpPr>
              <a:spLocks noChangeShapeType="1"/>
            </p:cNvSpPr>
            <p:nvPr/>
          </p:nvSpPr>
          <p:spPr bwMode="auto">
            <a:xfrm flipV="1">
              <a:off x="1228" y="3424"/>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3" name="Rectangle 188"/>
            <p:cNvSpPr>
              <a:spLocks noChangeArrowheads="1"/>
            </p:cNvSpPr>
            <p:nvPr/>
          </p:nvSpPr>
          <p:spPr bwMode="auto">
            <a:xfrm flipV="1">
              <a:off x="1364" y="3036"/>
              <a:ext cx="63" cy="106"/>
            </a:xfrm>
            <a:prstGeom prst="rect">
              <a:avLst/>
            </a:prstGeom>
            <a:solidFill>
              <a:srgbClr val="00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64" name="Line 189"/>
            <p:cNvSpPr>
              <a:spLocks noChangeShapeType="1"/>
            </p:cNvSpPr>
            <p:nvPr/>
          </p:nvSpPr>
          <p:spPr bwMode="auto">
            <a:xfrm flipV="1">
              <a:off x="1370" y="3143"/>
              <a:ext cx="5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5" name="Rectangle 190"/>
            <p:cNvSpPr>
              <a:spLocks noChangeArrowheads="1"/>
            </p:cNvSpPr>
            <p:nvPr/>
          </p:nvSpPr>
          <p:spPr bwMode="auto">
            <a:xfrm>
              <a:off x="2829" y="2499"/>
              <a:ext cx="53" cy="116"/>
            </a:xfrm>
            <a:prstGeom prst="rect">
              <a:avLst/>
            </a:prstGeom>
            <a:solidFill>
              <a:srgbClr val="33CC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66" name="Rectangle 191"/>
            <p:cNvSpPr>
              <a:spLocks noChangeArrowheads="1"/>
            </p:cNvSpPr>
            <p:nvPr/>
          </p:nvSpPr>
          <p:spPr bwMode="auto">
            <a:xfrm>
              <a:off x="2812" y="2498"/>
              <a:ext cx="41" cy="137"/>
            </a:xfrm>
            <a:prstGeom prst="rect">
              <a:avLst/>
            </a:prstGeom>
            <a:solidFill>
              <a:srgbClr val="33CC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67" name="Rectangle 192"/>
            <p:cNvSpPr>
              <a:spLocks noChangeArrowheads="1"/>
            </p:cNvSpPr>
            <p:nvPr/>
          </p:nvSpPr>
          <p:spPr bwMode="auto">
            <a:xfrm>
              <a:off x="2955" y="2507"/>
              <a:ext cx="63" cy="106"/>
            </a:xfrm>
            <a:prstGeom prst="rect">
              <a:avLst/>
            </a:prstGeom>
            <a:solidFill>
              <a:srgbClr val="33CC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68" name="Line 193"/>
            <p:cNvSpPr>
              <a:spLocks noChangeShapeType="1"/>
            </p:cNvSpPr>
            <p:nvPr/>
          </p:nvSpPr>
          <p:spPr bwMode="auto">
            <a:xfrm>
              <a:off x="2961" y="2513"/>
              <a:ext cx="55" cy="0"/>
            </a:xfrm>
            <a:prstGeom prst="line">
              <a:avLst/>
            </a:prstGeom>
            <a:noFill/>
            <a:ln w="1905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9" name="Rectangle 194"/>
            <p:cNvSpPr>
              <a:spLocks noChangeArrowheads="1"/>
            </p:cNvSpPr>
            <p:nvPr/>
          </p:nvSpPr>
          <p:spPr bwMode="auto">
            <a:xfrm>
              <a:off x="3118" y="2491"/>
              <a:ext cx="63" cy="106"/>
            </a:xfrm>
            <a:prstGeom prst="rect">
              <a:avLst/>
            </a:prstGeom>
            <a:solidFill>
              <a:srgbClr val="33CC33"/>
            </a:solidFill>
            <a:ln w="9525">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70" name="Line 195"/>
            <p:cNvSpPr>
              <a:spLocks noChangeShapeType="1"/>
            </p:cNvSpPr>
            <p:nvPr/>
          </p:nvSpPr>
          <p:spPr bwMode="auto">
            <a:xfrm>
              <a:off x="3124" y="2497"/>
              <a:ext cx="55" cy="0"/>
            </a:xfrm>
            <a:prstGeom prst="line">
              <a:avLst/>
            </a:prstGeom>
            <a:noFill/>
            <a:ln w="1905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1" name="Text Box 196"/>
            <p:cNvSpPr txBox="1">
              <a:spLocks noChangeArrowheads="1"/>
            </p:cNvSpPr>
            <p:nvPr/>
          </p:nvSpPr>
          <p:spPr bwMode="auto">
            <a:xfrm>
              <a:off x="5190" y="2479"/>
              <a:ext cx="212"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0</a:t>
              </a:r>
              <a:endParaRPr lang="en-US" altLang="zh-CN" b="1"/>
            </a:p>
          </p:txBody>
        </p:sp>
        <p:grpSp>
          <p:nvGrpSpPr>
            <p:cNvPr id="24672" name="Group 220"/>
            <p:cNvGrpSpPr/>
            <p:nvPr/>
          </p:nvGrpSpPr>
          <p:grpSpPr bwMode="auto">
            <a:xfrm>
              <a:off x="1953" y="2508"/>
              <a:ext cx="228" cy="232"/>
              <a:chOff x="1953" y="2508"/>
              <a:chExt cx="228" cy="232"/>
            </a:xfrm>
          </p:grpSpPr>
          <p:sp>
            <p:nvSpPr>
              <p:cNvPr id="24682" name="Rectangle 215"/>
              <p:cNvSpPr>
                <a:spLocks noChangeArrowheads="1"/>
              </p:cNvSpPr>
              <p:nvPr/>
            </p:nvSpPr>
            <p:spPr bwMode="auto">
              <a:xfrm>
                <a:off x="2012" y="2620"/>
                <a:ext cx="100" cy="3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83" name="Text Box 111"/>
              <p:cNvSpPr txBox="1">
                <a:spLocks noChangeArrowheads="1"/>
              </p:cNvSpPr>
              <p:nvPr/>
            </p:nvSpPr>
            <p:spPr bwMode="auto">
              <a:xfrm>
                <a:off x="1953" y="2508"/>
                <a:ext cx="228"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ef</a:t>
                </a:r>
                <a:endParaRPr lang="en-US" altLang="zh-CN" sz="1800" b="1"/>
              </a:p>
            </p:txBody>
          </p:sp>
        </p:grpSp>
        <p:grpSp>
          <p:nvGrpSpPr>
            <p:cNvPr id="24673" name="Group 219"/>
            <p:cNvGrpSpPr/>
            <p:nvPr/>
          </p:nvGrpSpPr>
          <p:grpSpPr bwMode="auto">
            <a:xfrm>
              <a:off x="2108" y="2492"/>
              <a:ext cx="164" cy="232"/>
              <a:chOff x="2108" y="2492"/>
              <a:chExt cx="164" cy="232"/>
            </a:xfrm>
          </p:grpSpPr>
          <p:sp>
            <p:nvSpPr>
              <p:cNvPr id="24680" name="Rectangle 217"/>
              <p:cNvSpPr>
                <a:spLocks noChangeArrowheads="1"/>
              </p:cNvSpPr>
              <p:nvPr/>
            </p:nvSpPr>
            <p:spPr bwMode="auto">
              <a:xfrm>
                <a:off x="2168" y="2624"/>
                <a:ext cx="48" cy="3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81" name="Text Box 132"/>
              <p:cNvSpPr txBox="1">
                <a:spLocks noChangeArrowheads="1"/>
              </p:cNvSpPr>
              <p:nvPr/>
            </p:nvSpPr>
            <p:spPr bwMode="auto">
              <a:xfrm>
                <a:off x="2108" y="2492"/>
                <a:ext cx="164"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f</a:t>
                </a:r>
                <a:endParaRPr lang="en-US" altLang="zh-CN" sz="1800" b="1"/>
              </a:p>
            </p:txBody>
          </p:sp>
        </p:grpSp>
        <p:grpSp>
          <p:nvGrpSpPr>
            <p:cNvPr id="24674" name="Group 224"/>
            <p:cNvGrpSpPr/>
            <p:nvPr/>
          </p:nvGrpSpPr>
          <p:grpSpPr bwMode="auto">
            <a:xfrm>
              <a:off x="3210" y="2498"/>
              <a:ext cx="196" cy="232"/>
              <a:chOff x="3210" y="2498"/>
              <a:chExt cx="196" cy="232"/>
            </a:xfrm>
          </p:grpSpPr>
          <p:sp>
            <p:nvSpPr>
              <p:cNvPr id="24678" name="Rectangle 223"/>
              <p:cNvSpPr>
                <a:spLocks noChangeArrowheads="1"/>
              </p:cNvSpPr>
              <p:nvPr/>
            </p:nvSpPr>
            <p:spPr bwMode="auto">
              <a:xfrm>
                <a:off x="3268" y="2612"/>
                <a:ext cx="80" cy="4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79" name="Text Box 120"/>
              <p:cNvSpPr txBox="1">
                <a:spLocks noChangeArrowheads="1"/>
              </p:cNvSpPr>
              <p:nvPr/>
            </p:nvSpPr>
            <p:spPr bwMode="auto">
              <a:xfrm>
                <a:off x="3210" y="2498"/>
                <a:ext cx="196"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p</a:t>
                </a:r>
                <a:endParaRPr lang="en-US" altLang="zh-CN" sz="1800" b="1"/>
              </a:p>
            </p:txBody>
          </p:sp>
        </p:grpSp>
        <p:grpSp>
          <p:nvGrpSpPr>
            <p:cNvPr id="24675" name="Group 226"/>
            <p:cNvGrpSpPr/>
            <p:nvPr/>
          </p:nvGrpSpPr>
          <p:grpSpPr bwMode="auto">
            <a:xfrm>
              <a:off x="3356" y="2486"/>
              <a:ext cx="180" cy="232"/>
              <a:chOff x="3356" y="2486"/>
              <a:chExt cx="180" cy="232"/>
            </a:xfrm>
          </p:grpSpPr>
          <p:sp>
            <p:nvSpPr>
              <p:cNvPr id="24676" name="Line 225"/>
              <p:cNvSpPr>
                <a:spLocks noChangeShapeType="1"/>
              </p:cNvSpPr>
              <p:nvPr/>
            </p:nvSpPr>
            <p:spPr bwMode="auto">
              <a:xfrm>
                <a:off x="3416" y="2636"/>
                <a:ext cx="36" cy="0"/>
              </a:xfrm>
              <a:prstGeom prst="line">
                <a:avLst/>
              </a:prstGeom>
              <a:noFill/>
              <a:ln w="57150">
                <a:solidFill>
                  <a:srgbClr val="CC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77" name="Text Box 107"/>
              <p:cNvSpPr txBox="1">
                <a:spLocks noChangeArrowheads="1"/>
              </p:cNvSpPr>
              <p:nvPr/>
            </p:nvSpPr>
            <p:spPr bwMode="auto">
              <a:xfrm>
                <a:off x="3356" y="2486"/>
                <a:ext cx="180"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t>r</a:t>
                </a:r>
                <a:endParaRPr lang="en-US" altLang="zh-CN" sz="1800" b="1"/>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831"/>
                                        </p:tgtEl>
                                        <p:attrNameLst>
                                          <p:attrName>style.visibility</p:attrName>
                                        </p:attrNameLst>
                                      </p:cBhvr>
                                      <p:to>
                                        <p:strVal val="visible"/>
                                      </p:to>
                                    </p:set>
                                    <p:animEffect transition="in" filter="wipe(left)">
                                      <p:cBhvr>
                                        <p:cTn id="7" dur="500"/>
                                        <p:tgtEl>
                                          <p:spTgt spid="25831"/>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25702"/>
                                        </p:tgtEl>
                                        <p:attrNameLst>
                                          <p:attrName>style.visibility</p:attrName>
                                        </p:attrNameLst>
                                      </p:cBhvr>
                                      <p:to>
                                        <p:strVal val="visible"/>
                                      </p:to>
                                    </p:set>
                                    <p:anim calcmode="lin" valueType="num">
                                      <p:cBhvr additive="base">
                                        <p:cTn id="11" dur="500" fill="hold"/>
                                        <p:tgtEl>
                                          <p:spTgt spid="25702"/>
                                        </p:tgtEl>
                                        <p:attrNameLst>
                                          <p:attrName>ppt_x</p:attrName>
                                        </p:attrNameLst>
                                      </p:cBhvr>
                                      <p:tavLst>
                                        <p:tav tm="0">
                                          <p:val>
                                            <p:strVal val="#ppt_x"/>
                                          </p:val>
                                        </p:tav>
                                        <p:tav tm="100000">
                                          <p:val>
                                            <p:strVal val="#ppt_x"/>
                                          </p:val>
                                        </p:tav>
                                      </p:tavLst>
                                    </p:anim>
                                    <p:anim calcmode="lin" valueType="num">
                                      <p:cBhvr additive="base">
                                        <p:cTn id="12" dur="500" fill="hold"/>
                                        <p:tgtEl>
                                          <p:spTgt spid="25702"/>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832"/>
                                        </p:tgtEl>
                                        <p:attrNameLst>
                                          <p:attrName>style.visibility</p:attrName>
                                        </p:attrNameLst>
                                      </p:cBhvr>
                                      <p:to>
                                        <p:strVal val="visible"/>
                                      </p:to>
                                    </p:set>
                                    <p:animEffect transition="in" filter="wipe(left)">
                                      <p:cBhvr>
                                        <p:cTn id="17" dur="500"/>
                                        <p:tgtEl>
                                          <p:spTgt spid="25832"/>
                                        </p:tgtEl>
                                      </p:cBhvr>
                                    </p:animEffect>
                                  </p:childTnLst>
                                </p:cTn>
                              </p:par>
                            </p:childTnLst>
                          </p:cTn>
                        </p:par>
                        <p:par>
                          <p:cTn id="18" fill="hold">
                            <p:stCondLst>
                              <p:cond delay="500"/>
                            </p:stCondLst>
                            <p:childTnLst>
                              <p:par>
                                <p:cTn id="19" presetID="2" presetClass="entr" presetSubtype="4" fill="hold" grpId="0" nodeType="afterEffect">
                                  <p:stCondLst>
                                    <p:cond delay="0"/>
                                  </p:stCondLst>
                                  <p:childTnLst>
                                    <p:set>
                                      <p:cBhvr>
                                        <p:cTn id="20" dur="1" fill="hold">
                                          <p:stCondLst>
                                            <p:cond delay="0"/>
                                          </p:stCondLst>
                                        </p:cTn>
                                        <p:tgtEl>
                                          <p:spTgt spid="25740"/>
                                        </p:tgtEl>
                                        <p:attrNameLst>
                                          <p:attrName>style.visibility</p:attrName>
                                        </p:attrNameLst>
                                      </p:cBhvr>
                                      <p:to>
                                        <p:strVal val="visible"/>
                                      </p:to>
                                    </p:set>
                                    <p:anim calcmode="lin" valueType="num">
                                      <p:cBhvr additive="base">
                                        <p:cTn id="21" dur="500" fill="hold"/>
                                        <p:tgtEl>
                                          <p:spTgt spid="25740"/>
                                        </p:tgtEl>
                                        <p:attrNameLst>
                                          <p:attrName>ppt_x</p:attrName>
                                        </p:attrNameLst>
                                      </p:cBhvr>
                                      <p:tavLst>
                                        <p:tav tm="0">
                                          <p:val>
                                            <p:strVal val="#ppt_x"/>
                                          </p:val>
                                        </p:tav>
                                        <p:tav tm="100000">
                                          <p:val>
                                            <p:strVal val="#ppt_x"/>
                                          </p:val>
                                        </p:tav>
                                      </p:tavLst>
                                    </p:anim>
                                    <p:anim calcmode="lin" valueType="num">
                                      <p:cBhvr additive="base">
                                        <p:cTn id="22" dur="500" fill="hold"/>
                                        <p:tgtEl>
                                          <p:spTgt spid="2574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5797"/>
                                        </p:tgtEl>
                                        <p:attrNameLst>
                                          <p:attrName>style.visibility</p:attrName>
                                        </p:attrNameLst>
                                      </p:cBhvr>
                                      <p:to>
                                        <p:strVal val="visible"/>
                                      </p:to>
                                    </p:set>
                                    <p:anim calcmode="lin" valueType="num">
                                      <p:cBhvr additive="base">
                                        <p:cTn id="27" dur="500" fill="hold"/>
                                        <p:tgtEl>
                                          <p:spTgt spid="25797"/>
                                        </p:tgtEl>
                                        <p:attrNameLst>
                                          <p:attrName>ppt_x</p:attrName>
                                        </p:attrNameLst>
                                      </p:cBhvr>
                                      <p:tavLst>
                                        <p:tav tm="0">
                                          <p:val>
                                            <p:strVal val="0-#ppt_w/2"/>
                                          </p:val>
                                        </p:tav>
                                        <p:tav tm="100000">
                                          <p:val>
                                            <p:strVal val="#ppt_x"/>
                                          </p:val>
                                        </p:tav>
                                      </p:tavLst>
                                    </p:anim>
                                    <p:anim calcmode="lin" valueType="num">
                                      <p:cBhvr additive="base">
                                        <p:cTn id="28" dur="500" fill="hold"/>
                                        <p:tgtEl>
                                          <p:spTgt spid="2579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5602"/>
                                        </p:tgtEl>
                                        <p:attrNameLst>
                                          <p:attrName>style.visibility</p:attrName>
                                        </p:attrNameLst>
                                      </p:cBhvr>
                                      <p:to>
                                        <p:strVal val="visible"/>
                                      </p:to>
                                    </p:set>
                                    <p:anim calcmode="lin" valueType="num">
                                      <p:cBhvr additive="base">
                                        <p:cTn id="33" dur="500" fill="hold"/>
                                        <p:tgtEl>
                                          <p:spTgt spid="25602"/>
                                        </p:tgtEl>
                                        <p:attrNameLst>
                                          <p:attrName>ppt_x</p:attrName>
                                        </p:attrNameLst>
                                      </p:cBhvr>
                                      <p:tavLst>
                                        <p:tav tm="0">
                                          <p:val>
                                            <p:strVal val="0-#ppt_w/2"/>
                                          </p:val>
                                        </p:tav>
                                        <p:tav tm="100000">
                                          <p:val>
                                            <p:strVal val="#ppt_x"/>
                                          </p:val>
                                        </p:tav>
                                      </p:tavLst>
                                    </p:anim>
                                    <p:anim calcmode="lin" valueType="num">
                                      <p:cBhvr additive="base">
                                        <p:cTn id="34" dur="500" fill="hold"/>
                                        <p:tgtEl>
                                          <p:spTgt spid="2560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25603"/>
                                        </p:tgtEl>
                                        <p:attrNameLst>
                                          <p:attrName>style.visibility</p:attrName>
                                        </p:attrNameLst>
                                      </p:cBhvr>
                                      <p:to>
                                        <p:strVal val="visible"/>
                                      </p:to>
                                    </p:set>
                                    <p:anim calcmode="lin" valueType="num">
                                      <p:cBhvr additive="base">
                                        <p:cTn id="39" dur="500" fill="hold"/>
                                        <p:tgtEl>
                                          <p:spTgt spid="25603"/>
                                        </p:tgtEl>
                                        <p:attrNameLst>
                                          <p:attrName>ppt_x</p:attrName>
                                        </p:attrNameLst>
                                      </p:cBhvr>
                                      <p:tavLst>
                                        <p:tav tm="0">
                                          <p:val>
                                            <p:strVal val="0-#ppt_w/2"/>
                                          </p:val>
                                        </p:tav>
                                        <p:tav tm="100000">
                                          <p:val>
                                            <p:strVal val="#ppt_x"/>
                                          </p:val>
                                        </p:tav>
                                      </p:tavLst>
                                    </p:anim>
                                    <p:anim calcmode="lin" valueType="num">
                                      <p:cBhvr additive="base">
                                        <p:cTn id="40" dur="500" fill="hold"/>
                                        <p:tgtEl>
                                          <p:spTgt spid="2560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25606"/>
                                        </p:tgtEl>
                                        <p:attrNameLst>
                                          <p:attrName>style.visibility</p:attrName>
                                        </p:attrNameLst>
                                      </p:cBhvr>
                                      <p:to>
                                        <p:strVal val="visible"/>
                                      </p:to>
                                    </p:set>
                                    <p:anim calcmode="lin" valueType="num">
                                      <p:cBhvr additive="base">
                                        <p:cTn id="45" dur="500" fill="hold"/>
                                        <p:tgtEl>
                                          <p:spTgt spid="25606"/>
                                        </p:tgtEl>
                                        <p:attrNameLst>
                                          <p:attrName>ppt_x</p:attrName>
                                        </p:attrNameLst>
                                      </p:cBhvr>
                                      <p:tavLst>
                                        <p:tav tm="0">
                                          <p:val>
                                            <p:strVal val="0-#ppt_w/2"/>
                                          </p:val>
                                        </p:tav>
                                        <p:tav tm="100000">
                                          <p:val>
                                            <p:strVal val="#ppt_x"/>
                                          </p:val>
                                        </p:tav>
                                      </p:tavLst>
                                    </p:anim>
                                    <p:anim calcmode="lin" valueType="num">
                                      <p:cBhvr additive="base">
                                        <p:cTn id="46" dur="500" fill="hold"/>
                                        <p:tgtEl>
                                          <p:spTgt spid="256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797" grpId="0" autoUpdateAnimBg="0"/>
      <p:bldP spid="25702" grpId="0" autoUpdateAnimBg="0"/>
      <p:bldP spid="25740"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AutoShape 2"/>
          <p:cNvSpPr>
            <a:spLocks noChangeArrowheads="1"/>
          </p:cNvSpPr>
          <p:nvPr/>
        </p:nvSpPr>
        <p:spPr bwMode="auto">
          <a:xfrm>
            <a:off x="657225" y="1930400"/>
            <a:ext cx="1960563" cy="852488"/>
          </a:xfrm>
          <a:prstGeom prst="cloudCallout">
            <a:avLst>
              <a:gd name="adj1" fmla="val 76315"/>
              <a:gd name="adj2" fmla="val 32495"/>
            </a:avLst>
          </a:prstGeom>
          <a:gradFill rotWithShape="0">
            <a:gsLst>
              <a:gs pos="0">
                <a:srgbClr val="FAFEFE"/>
              </a:gs>
              <a:gs pos="100000">
                <a:srgbClr val="33CCCC"/>
              </a:gs>
            </a:gsLst>
            <a:path path="rect">
              <a:fillToRect l="50000" t="50000" r="50000" b="50000"/>
            </a:path>
          </a:gra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a:p>
        </p:txBody>
      </p:sp>
      <p:sp>
        <p:nvSpPr>
          <p:cNvPr id="25603" name="Text Box 3"/>
          <p:cNvSpPr txBox="1">
            <a:spLocks noChangeArrowheads="1"/>
          </p:cNvSpPr>
          <p:nvPr/>
        </p:nvSpPr>
        <p:spPr bwMode="auto">
          <a:xfrm>
            <a:off x="346075" y="306388"/>
            <a:ext cx="2978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(3)</a:t>
            </a:r>
            <a:r>
              <a:rPr lang="zh-CN" altLang="en-US" sz="3200" b="1">
                <a:latin typeface="宋体" panose="02010600030101010101" pitchFamily="2" charset="-122"/>
              </a:rPr>
              <a:t>公差带代号</a:t>
            </a:r>
            <a:endParaRPr lang="zh-CN" altLang="en-US" b="1">
              <a:latin typeface="宋体" panose="02010600030101010101" pitchFamily="2" charset="-122"/>
            </a:endParaRPr>
          </a:p>
        </p:txBody>
      </p:sp>
      <p:sp>
        <p:nvSpPr>
          <p:cNvPr id="26628" name="Text Box 4"/>
          <p:cNvSpPr txBox="1">
            <a:spLocks noChangeArrowheads="1"/>
          </p:cNvSpPr>
          <p:nvPr/>
        </p:nvSpPr>
        <p:spPr bwMode="auto">
          <a:xfrm>
            <a:off x="606425" y="1225550"/>
            <a:ext cx="2711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公差带代号组成</a:t>
            </a:r>
            <a:endParaRPr lang="zh-CN" altLang="en-US" sz="2800" b="1">
              <a:latin typeface="宋体" panose="02010600030101010101" pitchFamily="2" charset="-122"/>
            </a:endParaRPr>
          </a:p>
        </p:txBody>
      </p:sp>
      <p:sp>
        <p:nvSpPr>
          <p:cNvPr id="26632" name="Text Box 8"/>
          <p:cNvSpPr txBox="1">
            <a:spLocks noChangeArrowheads="1"/>
          </p:cNvSpPr>
          <p:nvPr/>
        </p:nvSpPr>
        <p:spPr bwMode="auto">
          <a:xfrm>
            <a:off x="3327400" y="906463"/>
            <a:ext cx="5572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基本偏差代号的字母，如：</a:t>
            </a:r>
            <a:r>
              <a:rPr lang="en-US" altLang="zh-CN" sz="2800" b="1">
                <a:latin typeface="宋体" panose="02010600030101010101" pitchFamily="2" charset="-122"/>
              </a:rPr>
              <a:t>H</a:t>
            </a:r>
            <a:r>
              <a:rPr lang="zh-CN" altLang="en-US" sz="2800" b="1">
                <a:latin typeface="宋体" panose="02010600030101010101" pitchFamily="2" charset="-122"/>
              </a:rPr>
              <a:t>、</a:t>
            </a:r>
            <a:r>
              <a:rPr lang="en-US" altLang="zh-CN" sz="2800" b="1">
                <a:latin typeface="宋体" panose="02010600030101010101" pitchFamily="2" charset="-122"/>
              </a:rPr>
              <a:t>f</a:t>
            </a:r>
            <a:r>
              <a:rPr lang="zh-CN" altLang="en-US" sz="2800" b="1">
                <a:latin typeface="宋体" panose="02010600030101010101" pitchFamily="2" charset="-122"/>
              </a:rPr>
              <a:t>。</a:t>
            </a:r>
            <a:endParaRPr lang="zh-CN" altLang="en-US" sz="2800" b="1">
              <a:latin typeface="宋体" panose="02010600030101010101" pitchFamily="2" charset="-122"/>
            </a:endParaRPr>
          </a:p>
        </p:txBody>
      </p:sp>
      <p:sp>
        <p:nvSpPr>
          <p:cNvPr id="26633" name="Text Box 9"/>
          <p:cNvSpPr txBox="1">
            <a:spLocks noChangeArrowheads="1"/>
          </p:cNvSpPr>
          <p:nvPr/>
        </p:nvSpPr>
        <p:spPr bwMode="auto">
          <a:xfrm>
            <a:off x="3306763" y="1511300"/>
            <a:ext cx="56419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标准公差等级代号中的数字如：</a:t>
            </a:r>
            <a:r>
              <a:rPr lang="en-US" altLang="zh-CN" sz="2800" b="1">
                <a:latin typeface="宋体" panose="02010600030101010101" pitchFamily="2" charset="-122"/>
              </a:rPr>
              <a:t>8</a:t>
            </a:r>
            <a:r>
              <a:rPr lang="zh-CN" altLang="en-US" sz="2800" b="1">
                <a:latin typeface="宋体" panose="02010600030101010101" pitchFamily="2" charset="-122"/>
              </a:rPr>
              <a:t>和</a:t>
            </a:r>
            <a:r>
              <a:rPr lang="en-US" altLang="zh-CN" sz="2800">
                <a:latin typeface="宋体" panose="02010600030101010101" pitchFamily="2" charset="-122"/>
              </a:rPr>
              <a:t>7</a:t>
            </a:r>
            <a:r>
              <a:rPr lang="en-US" altLang="zh-CN" sz="2800" i="1">
                <a:latin typeface="宋体" panose="02010600030101010101" pitchFamily="2" charset="-122"/>
              </a:rPr>
              <a:t> </a:t>
            </a:r>
            <a:r>
              <a:rPr lang="zh-CN" altLang="en-US" sz="2800" b="1">
                <a:latin typeface="宋体" panose="02010600030101010101" pitchFamily="2" charset="-122"/>
              </a:rPr>
              <a:t>等。</a:t>
            </a:r>
            <a:endParaRPr lang="zh-CN" altLang="en-US" sz="2800" b="1">
              <a:latin typeface="宋体" panose="02010600030101010101" pitchFamily="2" charset="-122"/>
            </a:endParaRPr>
          </a:p>
        </p:txBody>
      </p:sp>
      <p:sp>
        <p:nvSpPr>
          <p:cNvPr id="26634" name="Text Box 10"/>
          <p:cNvSpPr txBox="1">
            <a:spLocks noChangeArrowheads="1"/>
          </p:cNvSpPr>
          <p:nvPr/>
        </p:nvSpPr>
        <p:spPr bwMode="auto">
          <a:xfrm>
            <a:off x="2984500" y="3787775"/>
            <a:ext cx="1974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如</a:t>
            </a:r>
            <a:r>
              <a:rPr lang="en-US" altLang="zh-CN" sz="2800" b="1">
                <a:latin typeface="宋体" panose="02010600030101010101" pitchFamily="2" charset="-122"/>
              </a:rPr>
              <a:t>: H8  </a:t>
            </a:r>
            <a:r>
              <a:rPr lang="en-US" altLang="zh-CN" sz="2800" b="1" i="1">
                <a:latin typeface="宋体" panose="02010600030101010101" pitchFamily="2" charset="-122"/>
              </a:rPr>
              <a:t>f</a:t>
            </a:r>
            <a:r>
              <a:rPr lang="en-US" altLang="zh-CN" sz="2800" i="1">
                <a:latin typeface="宋体" panose="02010600030101010101" pitchFamily="2" charset="-122"/>
              </a:rPr>
              <a:t>7</a:t>
            </a:r>
            <a:endParaRPr lang="en-US" altLang="zh-CN" sz="2800">
              <a:latin typeface="宋体" panose="02010600030101010101" pitchFamily="2" charset="-122"/>
            </a:endParaRPr>
          </a:p>
        </p:txBody>
      </p:sp>
      <p:sp>
        <p:nvSpPr>
          <p:cNvPr id="26635" name="Line 11"/>
          <p:cNvSpPr>
            <a:spLocks noChangeShapeType="1"/>
          </p:cNvSpPr>
          <p:nvPr/>
        </p:nvSpPr>
        <p:spPr bwMode="auto">
          <a:xfrm>
            <a:off x="3867150" y="4295775"/>
            <a:ext cx="0" cy="6064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6" name="Line 12"/>
          <p:cNvSpPr>
            <a:spLocks noChangeShapeType="1"/>
          </p:cNvSpPr>
          <p:nvPr/>
        </p:nvSpPr>
        <p:spPr bwMode="auto">
          <a:xfrm flipH="1">
            <a:off x="1125538" y="4892675"/>
            <a:ext cx="274161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7" name="Line 13"/>
          <p:cNvSpPr>
            <a:spLocks noChangeShapeType="1"/>
          </p:cNvSpPr>
          <p:nvPr/>
        </p:nvSpPr>
        <p:spPr bwMode="auto">
          <a:xfrm>
            <a:off x="4098925" y="4267200"/>
            <a:ext cx="0" cy="11858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8" name="Line 14"/>
          <p:cNvSpPr>
            <a:spLocks noChangeShapeType="1"/>
          </p:cNvSpPr>
          <p:nvPr/>
        </p:nvSpPr>
        <p:spPr bwMode="auto">
          <a:xfrm flipH="1">
            <a:off x="939800" y="5457825"/>
            <a:ext cx="315912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9" name="Line 15"/>
          <p:cNvSpPr>
            <a:spLocks noChangeShapeType="1"/>
          </p:cNvSpPr>
          <p:nvPr/>
        </p:nvSpPr>
        <p:spPr bwMode="auto">
          <a:xfrm>
            <a:off x="4819650" y="4325938"/>
            <a:ext cx="0" cy="60483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0" name="Line 16"/>
          <p:cNvSpPr>
            <a:spLocks noChangeShapeType="1"/>
          </p:cNvSpPr>
          <p:nvPr/>
        </p:nvSpPr>
        <p:spPr bwMode="auto">
          <a:xfrm>
            <a:off x="4819650" y="4921250"/>
            <a:ext cx="300196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1" name="Line 17"/>
          <p:cNvSpPr>
            <a:spLocks noChangeShapeType="1"/>
          </p:cNvSpPr>
          <p:nvPr/>
        </p:nvSpPr>
        <p:spPr bwMode="auto">
          <a:xfrm>
            <a:off x="4618038" y="4295775"/>
            <a:ext cx="0" cy="11572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2" name="Text Box 18"/>
          <p:cNvSpPr txBox="1">
            <a:spLocks noChangeArrowheads="1"/>
          </p:cNvSpPr>
          <p:nvPr/>
        </p:nvSpPr>
        <p:spPr bwMode="auto">
          <a:xfrm>
            <a:off x="925513" y="4405313"/>
            <a:ext cx="3095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孔的基本偏差代号</a:t>
            </a:r>
            <a:endParaRPr lang="zh-CN" altLang="en-US" sz="2800" b="1">
              <a:latin typeface="宋体" panose="02010600030101010101" pitchFamily="2" charset="-122"/>
            </a:endParaRPr>
          </a:p>
        </p:txBody>
      </p:sp>
      <p:sp>
        <p:nvSpPr>
          <p:cNvPr id="26643" name="Text Box 19"/>
          <p:cNvSpPr txBox="1">
            <a:spLocks noChangeArrowheads="1"/>
          </p:cNvSpPr>
          <p:nvPr/>
        </p:nvSpPr>
        <p:spPr bwMode="auto">
          <a:xfrm>
            <a:off x="895350" y="4938713"/>
            <a:ext cx="3082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孔的标准公差等级</a:t>
            </a:r>
            <a:endParaRPr lang="zh-CN" altLang="en-US" sz="2800" b="1">
              <a:latin typeface="宋体" panose="02010600030101010101" pitchFamily="2" charset="-122"/>
            </a:endParaRPr>
          </a:p>
        </p:txBody>
      </p:sp>
      <p:sp>
        <p:nvSpPr>
          <p:cNvPr id="26644" name="Text Box 20"/>
          <p:cNvSpPr txBox="1">
            <a:spLocks noChangeArrowheads="1"/>
          </p:cNvSpPr>
          <p:nvPr/>
        </p:nvSpPr>
        <p:spPr bwMode="auto">
          <a:xfrm>
            <a:off x="4767263" y="4446588"/>
            <a:ext cx="31226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轴的标准公差等级</a:t>
            </a:r>
            <a:endParaRPr lang="zh-CN" altLang="en-US" sz="2800" b="1">
              <a:latin typeface="宋体" panose="02010600030101010101" pitchFamily="2" charset="-122"/>
            </a:endParaRPr>
          </a:p>
        </p:txBody>
      </p:sp>
      <p:sp>
        <p:nvSpPr>
          <p:cNvPr id="26645" name="Text Box 21"/>
          <p:cNvSpPr txBox="1">
            <a:spLocks noChangeArrowheads="1"/>
          </p:cNvSpPr>
          <p:nvPr/>
        </p:nvSpPr>
        <p:spPr bwMode="auto">
          <a:xfrm>
            <a:off x="4767263" y="4965700"/>
            <a:ext cx="31226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latin typeface="宋体" panose="02010600030101010101" pitchFamily="2" charset="-122"/>
              </a:rPr>
              <a:t>轴的基本偏差代号</a:t>
            </a:r>
            <a:endParaRPr lang="zh-CN" altLang="en-US" sz="2800" b="1">
              <a:latin typeface="宋体" panose="02010600030101010101" pitchFamily="2" charset="-122"/>
            </a:endParaRPr>
          </a:p>
        </p:txBody>
      </p:sp>
      <p:sp>
        <p:nvSpPr>
          <p:cNvPr id="26646" name="Text Box 22"/>
          <p:cNvSpPr txBox="1">
            <a:spLocks noChangeArrowheads="1"/>
          </p:cNvSpPr>
          <p:nvPr/>
        </p:nvSpPr>
        <p:spPr bwMode="auto">
          <a:xfrm>
            <a:off x="3881438" y="2832100"/>
            <a:ext cx="4852987" cy="946150"/>
          </a:xfrm>
          <a:prstGeom prst="rect">
            <a:avLst/>
          </a:prstGeom>
          <a:gradFill rotWithShape="0">
            <a:gsLst>
              <a:gs pos="0">
                <a:srgbClr val="33CCCC"/>
              </a:gs>
              <a:gs pos="50000">
                <a:srgbClr val="E5F9F9"/>
              </a:gs>
              <a:gs pos="100000">
                <a:srgbClr val="33CCCC"/>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chemeClr val="accent2"/>
                </a:solidFill>
                <a:latin typeface="宋体" panose="02010600030101010101" pitchFamily="2" charset="-122"/>
              </a:rPr>
              <a:t>公差带位置由基本偏差确定，</a:t>
            </a:r>
            <a:endParaRPr lang="zh-CN" altLang="en-US" sz="2800" b="1">
              <a:solidFill>
                <a:schemeClr val="accent2"/>
              </a:solidFill>
              <a:latin typeface="宋体" panose="02010600030101010101" pitchFamily="2" charset="-122"/>
            </a:endParaRPr>
          </a:p>
          <a:p>
            <a:pPr algn="l"/>
            <a:r>
              <a:rPr lang="zh-CN" altLang="en-US" sz="2800" b="1">
                <a:solidFill>
                  <a:schemeClr val="accent2"/>
                </a:solidFill>
                <a:latin typeface="宋体" panose="02010600030101010101" pitchFamily="2" charset="-122"/>
              </a:rPr>
              <a:t>其大小由标准公差等级确定。</a:t>
            </a:r>
            <a:endParaRPr lang="zh-CN" altLang="en-US" sz="2800" b="1">
              <a:solidFill>
                <a:schemeClr val="accent2"/>
              </a:solidFill>
              <a:latin typeface="宋体" panose="02010600030101010101" pitchFamily="2" charset="-122"/>
            </a:endParaRPr>
          </a:p>
        </p:txBody>
      </p:sp>
      <p:sp>
        <p:nvSpPr>
          <p:cNvPr id="26647" name="WordArt 23"/>
          <p:cNvSpPr>
            <a:spLocks noChangeArrowheads="1" noChangeShapeType="1" noTextEdit="1"/>
          </p:cNvSpPr>
          <p:nvPr/>
        </p:nvSpPr>
        <p:spPr bwMode="auto">
          <a:xfrm rot="-332788">
            <a:off x="869950" y="2163763"/>
            <a:ext cx="1600200" cy="365125"/>
          </a:xfrm>
          <a:prstGeom prst="rect">
            <a:avLst/>
          </a:prstGeom>
        </p:spPr>
        <p:txBody>
          <a:bodyPr wrap="none" fromWordArt="1">
            <a:prstTxWarp prst="textPlain">
              <a:avLst>
                <a:gd name="adj" fmla="val 51389"/>
              </a:avLst>
            </a:prstTxWarp>
          </a:bodyPr>
          <a:lstStyle/>
          <a:p>
            <a:pPr algn="ctr" eaLnBrk="1" hangingPunct="1">
              <a:defRPr/>
            </a:pPr>
            <a:r>
              <a:rPr lang="zh-CN" altLang="en-US" sz="3600" kern="10">
                <a:ln w="9525">
                  <a:solidFill>
                    <a:schemeClr val="accent2"/>
                  </a:solidFill>
                  <a:round/>
                </a:ln>
                <a:solidFill>
                  <a:schemeClr val="accent2"/>
                </a:solidFill>
                <a:effectLst>
                  <a:outerShdw dist="35921" dir="2700000" algn="ctr" rotWithShape="0">
                    <a:srgbClr val="C0C0C0"/>
                  </a:outerShdw>
                </a:effectLst>
                <a:latin typeface="宋体" panose="02010600030101010101" pitchFamily="2" charset="-122"/>
              </a:rPr>
              <a:t>为什么</a:t>
            </a:r>
            <a:r>
              <a:rPr lang="en-US" altLang="zh-CN" sz="3600" kern="10">
                <a:ln w="9525">
                  <a:solidFill>
                    <a:schemeClr val="accent2"/>
                  </a:solidFill>
                  <a:round/>
                </a:ln>
                <a:solidFill>
                  <a:schemeClr val="accent2"/>
                </a:solidFill>
                <a:effectLst>
                  <a:outerShdw dist="35921" dir="2700000" algn="ctr" rotWithShape="0">
                    <a:srgbClr val="C0C0C0"/>
                  </a:outerShdw>
                </a:effectLst>
                <a:latin typeface="宋体" panose="02010600030101010101" pitchFamily="2" charset="-122"/>
              </a:rPr>
              <a:t>?</a:t>
            </a:r>
            <a:endParaRPr lang="zh-CN" altLang="en-US" sz="3600" kern="10">
              <a:ln w="9525">
                <a:solidFill>
                  <a:schemeClr val="accent2"/>
                </a:solidFill>
                <a:round/>
              </a:ln>
              <a:solidFill>
                <a:schemeClr val="accent2"/>
              </a:solidFill>
              <a:effectLst>
                <a:outerShdw dist="35921" dir="2700000" algn="ctr" rotWithShape="0">
                  <a:srgbClr val="C0C0C0"/>
                </a:outerShdw>
              </a:effectLst>
              <a:latin typeface="宋体" panose="02010600030101010101" pitchFamily="2" charset="-122"/>
            </a:endParaRPr>
          </a:p>
        </p:txBody>
      </p:sp>
      <p:sp>
        <p:nvSpPr>
          <p:cNvPr id="26648" name="Line 24"/>
          <p:cNvSpPr>
            <a:spLocks noChangeShapeType="1"/>
          </p:cNvSpPr>
          <p:nvPr/>
        </p:nvSpPr>
        <p:spPr bwMode="auto">
          <a:xfrm>
            <a:off x="4610100" y="5457825"/>
            <a:ext cx="31623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0" name="AutoShape 26"/>
          <p:cNvSpPr/>
          <p:nvPr/>
        </p:nvSpPr>
        <p:spPr bwMode="auto">
          <a:xfrm>
            <a:off x="3286125" y="1052513"/>
            <a:ext cx="127000" cy="976312"/>
          </a:xfrm>
          <a:prstGeom prst="leftBrace">
            <a:avLst>
              <a:gd name="adj1" fmla="val 64062"/>
              <a:gd name="adj2" fmla="val 50079"/>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6653" name="Group 29"/>
          <p:cNvGrpSpPr/>
          <p:nvPr/>
        </p:nvGrpSpPr>
        <p:grpSpPr bwMode="auto">
          <a:xfrm>
            <a:off x="665163" y="2832100"/>
            <a:ext cx="3192462" cy="946150"/>
            <a:chOff x="428" y="1784"/>
            <a:chExt cx="2011" cy="596"/>
          </a:xfrm>
        </p:grpSpPr>
        <p:sp>
          <p:nvSpPr>
            <p:cNvPr id="25625" name="Text Box 27"/>
            <p:cNvSpPr txBox="1">
              <a:spLocks noChangeArrowheads="1"/>
            </p:cNvSpPr>
            <p:nvPr/>
          </p:nvSpPr>
          <p:spPr bwMode="auto">
            <a:xfrm>
              <a:off x="428" y="1784"/>
              <a:ext cx="1574" cy="596"/>
            </a:xfrm>
            <a:prstGeom prst="rect">
              <a:avLst/>
            </a:prstGeom>
            <a:gradFill rotWithShape="0">
              <a:gsLst>
                <a:gs pos="0">
                  <a:srgbClr val="33CCCC"/>
                </a:gs>
                <a:gs pos="50000">
                  <a:srgbClr val="FFFFFF"/>
                </a:gs>
                <a:gs pos="100000">
                  <a:srgbClr val="33CCCC"/>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chemeClr val="accent2"/>
                  </a:solidFill>
                  <a:latin typeface="宋体" panose="02010600030101010101" pitchFamily="2" charset="-122"/>
                </a:rPr>
                <a:t>确定某一基本尺寸的公差带</a:t>
              </a:r>
              <a:endParaRPr lang="zh-CN" altLang="en-US" sz="2800" b="1">
                <a:solidFill>
                  <a:schemeClr val="accent2"/>
                </a:solidFill>
                <a:latin typeface="宋体" panose="02010600030101010101" pitchFamily="2" charset="-122"/>
              </a:endParaRPr>
            </a:p>
          </p:txBody>
        </p:sp>
        <p:sp>
          <p:nvSpPr>
            <p:cNvPr id="25626" name="AutoShape 28"/>
            <p:cNvSpPr>
              <a:spLocks noChangeArrowheads="1"/>
            </p:cNvSpPr>
            <p:nvPr/>
          </p:nvSpPr>
          <p:spPr bwMode="auto">
            <a:xfrm>
              <a:off x="2016" y="2007"/>
              <a:ext cx="423" cy="162"/>
            </a:xfrm>
            <a:prstGeom prst="rightArrow">
              <a:avLst>
                <a:gd name="adj1" fmla="val 50000"/>
                <a:gd name="adj2" fmla="val 6527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6654" name="Text Box 30"/>
          <p:cNvSpPr txBox="1">
            <a:spLocks noChangeArrowheads="1"/>
          </p:cNvSpPr>
          <p:nvPr/>
        </p:nvSpPr>
        <p:spPr bwMode="auto">
          <a:xfrm>
            <a:off x="449263" y="5530850"/>
            <a:ext cx="82438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latin typeface="宋体" panose="02010600030101010101" pitchFamily="2" charset="-122"/>
              </a:rPr>
              <a:t>φ</a:t>
            </a:r>
            <a:r>
              <a:rPr lang="en-US" altLang="zh-CN" sz="2800" b="1">
                <a:latin typeface="宋体" panose="02010600030101010101" pitchFamily="2" charset="-122"/>
              </a:rPr>
              <a:t>30H8</a:t>
            </a:r>
            <a:r>
              <a:rPr lang="en-US" altLang="zh-CN" sz="2800" b="1" i="1">
                <a:latin typeface="宋体" panose="02010600030101010101" pitchFamily="2" charset="-122"/>
              </a:rPr>
              <a:t> </a:t>
            </a:r>
            <a:r>
              <a:rPr lang="zh-CN" altLang="en-US" sz="2800" b="1">
                <a:latin typeface="宋体" panose="02010600030101010101" pitchFamily="2" charset="-122"/>
              </a:rPr>
              <a:t>查表确定公差带的下偏差</a:t>
            </a:r>
            <a:r>
              <a:rPr lang="en-US" altLang="zh-CN" sz="2800" b="1">
                <a:latin typeface="宋体" panose="02010600030101010101" pitchFamily="2" charset="-122"/>
              </a:rPr>
              <a:t>=0</a:t>
            </a:r>
            <a:r>
              <a:rPr lang="zh-CN" altLang="en-US" sz="2800" b="1">
                <a:latin typeface="宋体" panose="02010600030101010101" pitchFamily="2" charset="-122"/>
              </a:rPr>
              <a:t>，上偏差</a:t>
            </a:r>
            <a:r>
              <a:rPr lang="en-US" altLang="zh-CN" sz="2800" b="1">
                <a:latin typeface="宋体" panose="02010600030101010101" pitchFamily="2" charset="-122"/>
              </a:rPr>
              <a:t>=0.033</a:t>
            </a:r>
            <a:endParaRPr lang="en-US" altLang="zh-CN" sz="28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slide(fromLeft)">
                                      <p:cBhvr>
                                        <p:cTn id="7" dur="500"/>
                                        <p:tgtEl>
                                          <p:spTgt spid="26628"/>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26650"/>
                                        </p:tgtEl>
                                        <p:attrNameLst>
                                          <p:attrName>style.visibility</p:attrName>
                                        </p:attrNameLst>
                                      </p:cBhvr>
                                      <p:to>
                                        <p:strVal val="visible"/>
                                      </p:to>
                                    </p:set>
                                    <p:animEffect transition="in" filter="barn(outHorizontal)">
                                      <p:cBhvr>
                                        <p:cTn id="11" dur="500"/>
                                        <p:tgtEl>
                                          <p:spTgt spid="26650"/>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2" fill="hold" grpId="0" nodeType="clickEffect">
                                  <p:stCondLst>
                                    <p:cond delay="0"/>
                                  </p:stCondLst>
                                  <p:childTnLst>
                                    <p:set>
                                      <p:cBhvr>
                                        <p:cTn id="15" dur="1" fill="hold">
                                          <p:stCondLst>
                                            <p:cond delay="0"/>
                                          </p:stCondLst>
                                        </p:cTn>
                                        <p:tgtEl>
                                          <p:spTgt spid="26632"/>
                                        </p:tgtEl>
                                        <p:attrNameLst>
                                          <p:attrName>style.visibility</p:attrName>
                                        </p:attrNameLst>
                                      </p:cBhvr>
                                      <p:to>
                                        <p:strVal val="visible"/>
                                      </p:to>
                                    </p:set>
                                    <p:animEffect transition="in" filter="slide(fromRight)">
                                      <p:cBhvr>
                                        <p:cTn id="16" dur="500"/>
                                        <p:tgtEl>
                                          <p:spTgt spid="2663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grpId="0" nodeType="clickEffect">
                                  <p:stCondLst>
                                    <p:cond delay="0"/>
                                  </p:stCondLst>
                                  <p:childTnLst>
                                    <p:set>
                                      <p:cBhvr>
                                        <p:cTn id="20" dur="1" fill="hold">
                                          <p:stCondLst>
                                            <p:cond delay="0"/>
                                          </p:stCondLst>
                                        </p:cTn>
                                        <p:tgtEl>
                                          <p:spTgt spid="26633"/>
                                        </p:tgtEl>
                                        <p:attrNameLst>
                                          <p:attrName>style.visibility</p:attrName>
                                        </p:attrNameLst>
                                      </p:cBhvr>
                                      <p:to>
                                        <p:strVal val="visible"/>
                                      </p:to>
                                    </p:set>
                                    <p:animEffect transition="in" filter="slide(fromRight)">
                                      <p:cBhvr>
                                        <p:cTn id="21" dur="500"/>
                                        <p:tgtEl>
                                          <p:spTgt spid="26633"/>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26626"/>
                                        </p:tgtEl>
                                        <p:attrNameLst>
                                          <p:attrName>style.visibility</p:attrName>
                                        </p:attrNameLst>
                                      </p:cBhvr>
                                      <p:to>
                                        <p:strVal val="visible"/>
                                      </p:to>
                                    </p:set>
                                    <p:animEffect transition="in" filter="slide(fromLeft)">
                                      <p:cBhvr>
                                        <p:cTn id="26" dur="500"/>
                                        <p:tgtEl>
                                          <p:spTgt spid="26626"/>
                                        </p:tgtEl>
                                      </p:cBhvr>
                                    </p:animEffect>
                                  </p:childTnLst>
                                </p:cTn>
                              </p:par>
                            </p:childTnLst>
                          </p:cTn>
                        </p:par>
                        <p:par>
                          <p:cTn id="27" fill="hold">
                            <p:stCondLst>
                              <p:cond delay="500"/>
                            </p:stCondLst>
                            <p:childTnLst>
                              <p:par>
                                <p:cTn id="28" presetID="3" presetClass="entr" presetSubtype="5" fill="hold" nodeType="afterEffect">
                                  <p:stCondLst>
                                    <p:cond delay="0"/>
                                  </p:stCondLst>
                                  <p:childTnLst>
                                    <p:set>
                                      <p:cBhvr>
                                        <p:cTn id="29" dur="1" fill="hold">
                                          <p:stCondLst>
                                            <p:cond delay="499"/>
                                          </p:stCondLst>
                                        </p:cTn>
                                        <p:tgtEl>
                                          <p:spTgt spid="2664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6653"/>
                                        </p:tgtEl>
                                        <p:attrNameLst>
                                          <p:attrName>style.visibility</p:attrName>
                                        </p:attrNameLst>
                                      </p:cBhvr>
                                      <p:to>
                                        <p:strVal val="visible"/>
                                      </p:to>
                                    </p:set>
                                    <p:animEffect transition="in" filter="wipe(left)">
                                      <p:cBhvr>
                                        <p:cTn id="34" dur="500"/>
                                        <p:tgtEl>
                                          <p:spTgt spid="26653"/>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26646"/>
                                        </p:tgtEl>
                                        <p:attrNameLst>
                                          <p:attrName>style.visibility</p:attrName>
                                        </p:attrNameLst>
                                      </p:cBhvr>
                                      <p:to>
                                        <p:strVal val="visible"/>
                                      </p:to>
                                    </p:set>
                                    <p:animEffect transition="in" filter="slide(fromRight)">
                                      <p:cBhvr>
                                        <p:cTn id="39" dur="500"/>
                                        <p:tgtEl>
                                          <p:spTgt spid="26646"/>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26634"/>
                                        </p:tgtEl>
                                        <p:attrNameLst>
                                          <p:attrName>style.visibility</p:attrName>
                                        </p:attrNameLst>
                                      </p:cBhvr>
                                      <p:to>
                                        <p:strVal val="visible"/>
                                      </p:to>
                                    </p:set>
                                    <p:animEffect transition="in" filter="slide(fromLeft)">
                                      <p:cBhvr>
                                        <p:cTn id="44" dur="500"/>
                                        <p:tgtEl>
                                          <p:spTgt spid="26634"/>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1" fill="hold" nodeType="clickEffect">
                                  <p:stCondLst>
                                    <p:cond delay="0"/>
                                  </p:stCondLst>
                                  <p:childTnLst>
                                    <p:set>
                                      <p:cBhvr>
                                        <p:cTn id="48" dur="1" fill="hold">
                                          <p:stCondLst>
                                            <p:cond delay="0"/>
                                          </p:stCondLst>
                                        </p:cTn>
                                        <p:tgtEl>
                                          <p:spTgt spid="26635"/>
                                        </p:tgtEl>
                                        <p:attrNameLst>
                                          <p:attrName>style.visibility</p:attrName>
                                        </p:attrNameLst>
                                      </p:cBhvr>
                                      <p:to>
                                        <p:strVal val="visible"/>
                                      </p:to>
                                    </p:set>
                                    <p:animEffect transition="in" filter="slide(fromTop)">
                                      <p:cBhvr>
                                        <p:cTn id="49" dur="500"/>
                                        <p:tgtEl>
                                          <p:spTgt spid="26635"/>
                                        </p:tgtEl>
                                      </p:cBhvr>
                                    </p:animEffect>
                                  </p:childTnLst>
                                </p:cTn>
                              </p:par>
                            </p:childTnLst>
                          </p:cTn>
                        </p:par>
                        <p:par>
                          <p:cTn id="50" fill="hold">
                            <p:stCondLst>
                              <p:cond delay="500"/>
                            </p:stCondLst>
                            <p:childTnLst>
                              <p:par>
                                <p:cTn id="51" presetID="12" presetClass="entr" presetSubtype="2" fill="hold" nodeType="afterEffect">
                                  <p:stCondLst>
                                    <p:cond delay="0"/>
                                  </p:stCondLst>
                                  <p:childTnLst>
                                    <p:set>
                                      <p:cBhvr>
                                        <p:cTn id="52" dur="1" fill="hold">
                                          <p:stCondLst>
                                            <p:cond delay="0"/>
                                          </p:stCondLst>
                                        </p:cTn>
                                        <p:tgtEl>
                                          <p:spTgt spid="26636"/>
                                        </p:tgtEl>
                                        <p:attrNameLst>
                                          <p:attrName>style.visibility</p:attrName>
                                        </p:attrNameLst>
                                      </p:cBhvr>
                                      <p:to>
                                        <p:strVal val="visible"/>
                                      </p:to>
                                    </p:set>
                                    <p:animEffect transition="in" filter="slide(fromRight)">
                                      <p:cBhvr>
                                        <p:cTn id="53" dur="500"/>
                                        <p:tgtEl>
                                          <p:spTgt spid="26636"/>
                                        </p:tgtEl>
                                      </p:cBhvr>
                                    </p:animEffect>
                                  </p:childTnLst>
                                </p:cTn>
                              </p:par>
                            </p:childTnLst>
                          </p:cTn>
                        </p:par>
                        <p:par>
                          <p:cTn id="54" fill="hold">
                            <p:stCondLst>
                              <p:cond delay="1000"/>
                            </p:stCondLst>
                            <p:childTnLst>
                              <p:par>
                                <p:cTn id="55" presetID="12" presetClass="entr" presetSubtype="8" fill="hold" grpId="0" nodeType="afterEffect">
                                  <p:stCondLst>
                                    <p:cond delay="0"/>
                                  </p:stCondLst>
                                  <p:childTnLst>
                                    <p:set>
                                      <p:cBhvr>
                                        <p:cTn id="56" dur="1" fill="hold">
                                          <p:stCondLst>
                                            <p:cond delay="0"/>
                                          </p:stCondLst>
                                        </p:cTn>
                                        <p:tgtEl>
                                          <p:spTgt spid="26642"/>
                                        </p:tgtEl>
                                        <p:attrNameLst>
                                          <p:attrName>style.visibility</p:attrName>
                                        </p:attrNameLst>
                                      </p:cBhvr>
                                      <p:to>
                                        <p:strVal val="visible"/>
                                      </p:to>
                                    </p:set>
                                    <p:animEffect transition="in" filter="slide(fromLeft)">
                                      <p:cBhvr>
                                        <p:cTn id="57" dur="500"/>
                                        <p:tgtEl>
                                          <p:spTgt spid="26642"/>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nodeType="clickEffect">
                                  <p:stCondLst>
                                    <p:cond delay="0"/>
                                  </p:stCondLst>
                                  <p:childTnLst>
                                    <p:set>
                                      <p:cBhvr>
                                        <p:cTn id="61" dur="1" fill="hold">
                                          <p:stCondLst>
                                            <p:cond delay="0"/>
                                          </p:stCondLst>
                                        </p:cTn>
                                        <p:tgtEl>
                                          <p:spTgt spid="26637"/>
                                        </p:tgtEl>
                                        <p:attrNameLst>
                                          <p:attrName>style.visibility</p:attrName>
                                        </p:attrNameLst>
                                      </p:cBhvr>
                                      <p:to>
                                        <p:strVal val="visible"/>
                                      </p:to>
                                    </p:set>
                                    <p:animEffect transition="in" filter="slide(fromTop)">
                                      <p:cBhvr>
                                        <p:cTn id="62" dur="500"/>
                                        <p:tgtEl>
                                          <p:spTgt spid="26637"/>
                                        </p:tgtEl>
                                      </p:cBhvr>
                                    </p:animEffect>
                                  </p:childTnLst>
                                </p:cTn>
                              </p:par>
                            </p:childTnLst>
                          </p:cTn>
                        </p:par>
                        <p:par>
                          <p:cTn id="63" fill="hold">
                            <p:stCondLst>
                              <p:cond delay="500"/>
                            </p:stCondLst>
                            <p:childTnLst>
                              <p:par>
                                <p:cTn id="64" presetID="12" presetClass="entr" presetSubtype="2" fill="hold" nodeType="afterEffect">
                                  <p:stCondLst>
                                    <p:cond delay="0"/>
                                  </p:stCondLst>
                                  <p:childTnLst>
                                    <p:set>
                                      <p:cBhvr>
                                        <p:cTn id="65" dur="1" fill="hold">
                                          <p:stCondLst>
                                            <p:cond delay="0"/>
                                          </p:stCondLst>
                                        </p:cTn>
                                        <p:tgtEl>
                                          <p:spTgt spid="26638"/>
                                        </p:tgtEl>
                                        <p:attrNameLst>
                                          <p:attrName>style.visibility</p:attrName>
                                        </p:attrNameLst>
                                      </p:cBhvr>
                                      <p:to>
                                        <p:strVal val="visible"/>
                                      </p:to>
                                    </p:set>
                                    <p:animEffect transition="in" filter="slide(fromRight)">
                                      <p:cBhvr>
                                        <p:cTn id="66" dur="500"/>
                                        <p:tgtEl>
                                          <p:spTgt spid="26638"/>
                                        </p:tgtEl>
                                      </p:cBhvr>
                                    </p:animEffect>
                                  </p:childTnLst>
                                </p:cTn>
                              </p:par>
                            </p:childTnLst>
                          </p:cTn>
                        </p:par>
                        <p:par>
                          <p:cTn id="67" fill="hold">
                            <p:stCondLst>
                              <p:cond delay="1000"/>
                            </p:stCondLst>
                            <p:childTnLst>
                              <p:par>
                                <p:cTn id="68" presetID="12" presetClass="entr" presetSubtype="8" fill="hold" grpId="0" nodeType="afterEffect">
                                  <p:stCondLst>
                                    <p:cond delay="0"/>
                                  </p:stCondLst>
                                  <p:childTnLst>
                                    <p:set>
                                      <p:cBhvr>
                                        <p:cTn id="69" dur="1" fill="hold">
                                          <p:stCondLst>
                                            <p:cond delay="0"/>
                                          </p:stCondLst>
                                        </p:cTn>
                                        <p:tgtEl>
                                          <p:spTgt spid="26643"/>
                                        </p:tgtEl>
                                        <p:attrNameLst>
                                          <p:attrName>style.visibility</p:attrName>
                                        </p:attrNameLst>
                                      </p:cBhvr>
                                      <p:to>
                                        <p:strVal val="visible"/>
                                      </p:to>
                                    </p:set>
                                    <p:animEffect transition="in" filter="slide(fromLeft)">
                                      <p:cBhvr>
                                        <p:cTn id="70" dur="500"/>
                                        <p:tgtEl>
                                          <p:spTgt spid="26643"/>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1" fill="hold" nodeType="clickEffect">
                                  <p:stCondLst>
                                    <p:cond delay="0"/>
                                  </p:stCondLst>
                                  <p:childTnLst>
                                    <p:set>
                                      <p:cBhvr>
                                        <p:cTn id="74" dur="1" fill="hold">
                                          <p:stCondLst>
                                            <p:cond delay="0"/>
                                          </p:stCondLst>
                                        </p:cTn>
                                        <p:tgtEl>
                                          <p:spTgt spid="26641"/>
                                        </p:tgtEl>
                                        <p:attrNameLst>
                                          <p:attrName>style.visibility</p:attrName>
                                        </p:attrNameLst>
                                      </p:cBhvr>
                                      <p:to>
                                        <p:strVal val="visible"/>
                                      </p:to>
                                    </p:set>
                                    <p:animEffect transition="in" filter="slide(fromTop)">
                                      <p:cBhvr>
                                        <p:cTn id="75" dur="500"/>
                                        <p:tgtEl>
                                          <p:spTgt spid="26641"/>
                                        </p:tgtEl>
                                      </p:cBhvr>
                                    </p:animEffect>
                                  </p:childTnLst>
                                </p:cTn>
                              </p:par>
                            </p:childTnLst>
                          </p:cTn>
                        </p:par>
                        <p:par>
                          <p:cTn id="76" fill="hold">
                            <p:stCondLst>
                              <p:cond delay="500"/>
                            </p:stCondLst>
                            <p:childTnLst>
                              <p:par>
                                <p:cTn id="77" presetID="12" presetClass="entr" presetSubtype="8" fill="hold" nodeType="afterEffect">
                                  <p:stCondLst>
                                    <p:cond delay="0"/>
                                  </p:stCondLst>
                                  <p:childTnLst>
                                    <p:set>
                                      <p:cBhvr>
                                        <p:cTn id="78" dur="1" fill="hold">
                                          <p:stCondLst>
                                            <p:cond delay="0"/>
                                          </p:stCondLst>
                                        </p:cTn>
                                        <p:tgtEl>
                                          <p:spTgt spid="26648"/>
                                        </p:tgtEl>
                                        <p:attrNameLst>
                                          <p:attrName>style.visibility</p:attrName>
                                        </p:attrNameLst>
                                      </p:cBhvr>
                                      <p:to>
                                        <p:strVal val="visible"/>
                                      </p:to>
                                    </p:set>
                                    <p:animEffect transition="in" filter="slide(fromLeft)">
                                      <p:cBhvr>
                                        <p:cTn id="79" dur="500"/>
                                        <p:tgtEl>
                                          <p:spTgt spid="26648"/>
                                        </p:tgtEl>
                                      </p:cBhvr>
                                    </p:animEffect>
                                  </p:childTnLst>
                                </p:cTn>
                              </p:par>
                            </p:childTnLst>
                          </p:cTn>
                        </p:par>
                        <p:par>
                          <p:cTn id="80" fill="hold">
                            <p:stCondLst>
                              <p:cond delay="1000"/>
                            </p:stCondLst>
                            <p:childTnLst>
                              <p:par>
                                <p:cTn id="81" presetID="12" presetClass="entr" presetSubtype="2" fill="hold" grpId="0" nodeType="afterEffect">
                                  <p:stCondLst>
                                    <p:cond delay="0"/>
                                  </p:stCondLst>
                                  <p:childTnLst>
                                    <p:set>
                                      <p:cBhvr>
                                        <p:cTn id="82" dur="1" fill="hold">
                                          <p:stCondLst>
                                            <p:cond delay="0"/>
                                          </p:stCondLst>
                                        </p:cTn>
                                        <p:tgtEl>
                                          <p:spTgt spid="26645"/>
                                        </p:tgtEl>
                                        <p:attrNameLst>
                                          <p:attrName>style.visibility</p:attrName>
                                        </p:attrNameLst>
                                      </p:cBhvr>
                                      <p:to>
                                        <p:strVal val="visible"/>
                                      </p:to>
                                    </p:set>
                                    <p:animEffect transition="in" filter="slide(fromRight)">
                                      <p:cBhvr>
                                        <p:cTn id="83" dur="500"/>
                                        <p:tgtEl>
                                          <p:spTgt spid="26645"/>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1" fill="hold" nodeType="clickEffect">
                                  <p:stCondLst>
                                    <p:cond delay="0"/>
                                  </p:stCondLst>
                                  <p:childTnLst>
                                    <p:set>
                                      <p:cBhvr>
                                        <p:cTn id="87" dur="1" fill="hold">
                                          <p:stCondLst>
                                            <p:cond delay="0"/>
                                          </p:stCondLst>
                                        </p:cTn>
                                        <p:tgtEl>
                                          <p:spTgt spid="26639"/>
                                        </p:tgtEl>
                                        <p:attrNameLst>
                                          <p:attrName>style.visibility</p:attrName>
                                        </p:attrNameLst>
                                      </p:cBhvr>
                                      <p:to>
                                        <p:strVal val="visible"/>
                                      </p:to>
                                    </p:set>
                                    <p:animEffect transition="in" filter="slide(fromTop)">
                                      <p:cBhvr>
                                        <p:cTn id="88" dur="500"/>
                                        <p:tgtEl>
                                          <p:spTgt spid="26639"/>
                                        </p:tgtEl>
                                      </p:cBhvr>
                                    </p:animEffect>
                                  </p:childTnLst>
                                </p:cTn>
                              </p:par>
                            </p:childTnLst>
                          </p:cTn>
                        </p:par>
                        <p:par>
                          <p:cTn id="89" fill="hold">
                            <p:stCondLst>
                              <p:cond delay="500"/>
                            </p:stCondLst>
                            <p:childTnLst>
                              <p:par>
                                <p:cTn id="90" presetID="12" presetClass="entr" presetSubtype="8" fill="hold" nodeType="afterEffect">
                                  <p:stCondLst>
                                    <p:cond delay="0"/>
                                  </p:stCondLst>
                                  <p:childTnLst>
                                    <p:set>
                                      <p:cBhvr>
                                        <p:cTn id="91" dur="1" fill="hold">
                                          <p:stCondLst>
                                            <p:cond delay="0"/>
                                          </p:stCondLst>
                                        </p:cTn>
                                        <p:tgtEl>
                                          <p:spTgt spid="26640"/>
                                        </p:tgtEl>
                                        <p:attrNameLst>
                                          <p:attrName>style.visibility</p:attrName>
                                        </p:attrNameLst>
                                      </p:cBhvr>
                                      <p:to>
                                        <p:strVal val="visible"/>
                                      </p:to>
                                    </p:set>
                                    <p:animEffect transition="in" filter="slide(fromLeft)">
                                      <p:cBhvr>
                                        <p:cTn id="92" dur="500"/>
                                        <p:tgtEl>
                                          <p:spTgt spid="26640"/>
                                        </p:tgtEl>
                                      </p:cBhvr>
                                    </p:animEffect>
                                  </p:childTnLst>
                                </p:cTn>
                              </p:par>
                            </p:childTnLst>
                          </p:cTn>
                        </p:par>
                        <p:par>
                          <p:cTn id="93" fill="hold">
                            <p:stCondLst>
                              <p:cond delay="1000"/>
                            </p:stCondLst>
                            <p:childTnLst>
                              <p:par>
                                <p:cTn id="94" presetID="12" presetClass="entr" presetSubtype="2" fill="hold" grpId="0" nodeType="afterEffect">
                                  <p:stCondLst>
                                    <p:cond delay="0"/>
                                  </p:stCondLst>
                                  <p:childTnLst>
                                    <p:set>
                                      <p:cBhvr>
                                        <p:cTn id="95" dur="1" fill="hold">
                                          <p:stCondLst>
                                            <p:cond delay="0"/>
                                          </p:stCondLst>
                                        </p:cTn>
                                        <p:tgtEl>
                                          <p:spTgt spid="26644"/>
                                        </p:tgtEl>
                                        <p:attrNameLst>
                                          <p:attrName>style.visibility</p:attrName>
                                        </p:attrNameLst>
                                      </p:cBhvr>
                                      <p:to>
                                        <p:strVal val="visible"/>
                                      </p:to>
                                    </p:set>
                                    <p:animEffect transition="in" filter="slide(fromRight)">
                                      <p:cBhvr>
                                        <p:cTn id="96" dur="500"/>
                                        <p:tgtEl>
                                          <p:spTgt spid="26644"/>
                                        </p:tgtEl>
                                      </p:cBhvr>
                                    </p:animEffect>
                                  </p:childTnLst>
                                </p:cTn>
                              </p:par>
                            </p:childTnLst>
                          </p:cTn>
                        </p:par>
                      </p:childTnLst>
                    </p:cTn>
                  </p:par>
                  <p:par>
                    <p:cTn id="97" fill="hold">
                      <p:stCondLst>
                        <p:cond delay="indefinite"/>
                      </p:stCondLst>
                      <p:childTnLst>
                        <p:par>
                          <p:cTn id="98" fill="hold">
                            <p:stCondLst>
                              <p:cond delay="0"/>
                            </p:stCondLst>
                            <p:childTnLst>
                              <p:par>
                                <p:cTn id="99" presetID="16" presetClass="entr" presetSubtype="37" fill="hold" grpId="0" nodeType="clickEffect">
                                  <p:stCondLst>
                                    <p:cond delay="0"/>
                                  </p:stCondLst>
                                  <p:childTnLst>
                                    <p:set>
                                      <p:cBhvr>
                                        <p:cTn id="100" dur="1" fill="hold">
                                          <p:stCondLst>
                                            <p:cond delay="0"/>
                                          </p:stCondLst>
                                        </p:cTn>
                                        <p:tgtEl>
                                          <p:spTgt spid="26654"/>
                                        </p:tgtEl>
                                        <p:attrNameLst>
                                          <p:attrName>style.visibility</p:attrName>
                                        </p:attrNameLst>
                                      </p:cBhvr>
                                      <p:to>
                                        <p:strVal val="visible"/>
                                      </p:to>
                                    </p:set>
                                    <p:animEffect transition="in" filter="barn(outVertical)">
                                      <p:cBhvr>
                                        <p:cTn id="101" dur="500"/>
                                        <p:tgtEl>
                                          <p:spTgt spid="26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autoUpdateAnimBg="0"/>
      <p:bldP spid="26628" grpId="0" autoUpdateAnimBg="0"/>
      <p:bldP spid="26632" grpId="0" autoUpdateAnimBg="0"/>
      <p:bldP spid="26633" grpId="0" autoUpdateAnimBg="0"/>
      <p:bldP spid="26634" grpId="0" autoUpdateAnimBg="0"/>
      <p:bldP spid="26642" grpId="0" autoUpdateAnimBg="0"/>
      <p:bldP spid="26643" grpId="0" autoUpdateAnimBg="0"/>
      <p:bldP spid="26644" grpId="0" autoUpdateAnimBg="0"/>
      <p:bldP spid="26645" grpId="0" autoUpdateAnimBg="0"/>
      <p:bldP spid="26646" grpId="0" animBg="1" autoUpdateAnimBg="0"/>
      <p:bldP spid="2665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9-32c"/>
          <p:cNvPicPr>
            <a:picLocks noChangeAspect="1" noChangeArrowheads="1"/>
          </p:cNvPicPr>
          <p:nvPr/>
        </p:nvPicPr>
        <p:blipFill>
          <a:blip r:embed="rId1">
            <a:extLst>
              <a:ext uri="{28A0092B-C50C-407E-A947-70E740481C1C}">
                <a14:useLocalDpi xmlns:a14="http://schemas.microsoft.com/office/drawing/2010/main" val="0"/>
              </a:ext>
            </a:extLst>
          </a:blip>
          <a:srcRect l="8621" t="54819" r="71552" b="13855"/>
          <a:stretch>
            <a:fillRect/>
          </a:stretch>
        </p:blipFill>
        <p:spPr bwMode="auto">
          <a:xfrm>
            <a:off x="6402388" y="2724150"/>
            <a:ext cx="2044700" cy="154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 Box 3"/>
          <p:cNvSpPr txBox="1">
            <a:spLocks noChangeArrowheads="1"/>
          </p:cNvSpPr>
          <p:nvPr/>
        </p:nvSpPr>
        <p:spPr bwMode="auto">
          <a:xfrm>
            <a:off x="382588" y="182563"/>
            <a:ext cx="178911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600" b="1">
                <a:latin typeface="宋体" panose="02010600030101010101" pitchFamily="2" charset="-122"/>
              </a:rPr>
              <a:t>4) </a:t>
            </a:r>
            <a:r>
              <a:rPr lang="zh-CN" altLang="en-US" sz="3600" b="1">
                <a:latin typeface="宋体" panose="02010600030101010101" pitchFamily="2" charset="-122"/>
              </a:rPr>
              <a:t>配合</a:t>
            </a:r>
            <a:endParaRPr lang="zh-CN" altLang="en-US" sz="3600" b="1">
              <a:latin typeface="宋体" panose="02010600030101010101" pitchFamily="2" charset="-122"/>
            </a:endParaRPr>
          </a:p>
        </p:txBody>
      </p:sp>
      <p:sp>
        <p:nvSpPr>
          <p:cNvPr id="27652" name="Text Box 4"/>
          <p:cNvSpPr txBox="1">
            <a:spLocks noChangeArrowheads="1"/>
          </p:cNvSpPr>
          <p:nvPr/>
        </p:nvSpPr>
        <p:spPr bwMode="auto">
          <a:xfrm>
            <a:off x="438150" y="703263"/>
            <a:ext cx="281463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t>⑴ </a:t>
            </a:r>
            <a:r>
              <a:rPr lang="zh-CN" altLang="en-US" sz="3200" b="1"/>
              <a:t>配合的概念</a:t>
            </a:r>
            <a:endParaRPr lang="zh-CN" altLang="en-US" sz="3200" b="1"/>
          </a:p>
        </p:txBody>
      </p:sp>
      <p:sp>
        <p:nvSpPr>
          <p:cNvPr id="27653" name="Text Box 5"/>
          <p:cNvSpPr txBox="1">
            <a:spLocks noChangeArrowheads="1"/>
          </p:cNvSpPr>
          <p:nvPr/>
        </p:nvSpPr>
        <p:spPr bwMode="auto">
          <a:xfrm>
            <a:off x="2241550" y="1222375"/>
            <a:ext cx="6246813"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solidFill>
                  <a:srgbClr val="FF3300"/>
                </a:solidFill>
                <a:latin typeface="宋体" panose="02010600030101010101" pitchFamily="2" charset="-122"/>
              </a:rPr>
              <a:t>基本尺寸相同</a:t>
            </a:r>
            <a:r>
              <a:rPr lang="zh-CN" altLang="en-US" sz="3200" b="1">
                <a:latin typeface="宋体" panose="02010600030101010101" pitchFamily="2" charset="-122"/>
              </a:rPr>
              <a:t>相互结合的孔和轴的</a:t>
            </a:r>
            <a:r>
              <a:rPr lang="zh-CN" altLang="en-US" sz="3200" b="1">
                <a:solidFill>
                  <a:srgbClr val="FF3300"/>
                </a:solidFill>
                <a:latin typeface="宋体" panose="02010600030101010101" pitchFamily="2" charset="-122"/>
              </a:rPr>
              <a:t>公差带之间的关系</a:t>
            </a:r>
            <a:r>
              <a:rPr lang="zh-CN" altLang="en-US" sz="3200" b="1">
                <a:latin typeface="宋体" panose="02010600030101010101" pitchFamily="2" charset="-122"/>
              </a:rPr>
              <a:t>。</a:t>
            </a:r>
            <a:endParaRPr lang="zh-CN" altLang="en-US" sz="3200" b="1">
              <a:latin typeface="宋体" panose="02010600030101010101" pitchFamily="2" charset="-122"/>
            </a:endParaRPr>
          </a:p>
        </p:txBody>
      </p:sp>
      <p:sp>
        <p:nvSpPr>
          <p:cNvPr id="27654" name="Text Box 6"/>
          <p:cNvSpPr txBox="1">
            <a:spLocks noChangeArrowheads="1"/>
          </p:cNvSpPr>
          <p:nvPr/>
        </p:nvSpPr>
        <p:spPr bwMode="auto">
          <a:xfrm>
            <a:off x="973138" y="4244975"/>
            <a:ext cx="25654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chemeClr val="accent2"/>
                </a:solidFill>
                <a:latin typeface="宋体" panose="02010600030101010101" pitchFamily="2" charset="-122"/>
              </a:rPr>
              <a:t>间隙或过盈</a:t>
            </a:r>
            <a:r>
              <a:rPr lang="en-US" altLang="zh-CN" sz="3200" b="1">
                <a:solidFill>
                  <a:schemeClr val="accent2"/>
                </a:solidFill>
                <a:latin typeface="宋体" panose="02010600030101010101" pitchFamily="2" charset="-122"/>
              </a:rPr>
              <a:t>:</a:t>
            </a:r>
            <a:endParaRPr lang="en-US" altLang="zh-CN" sz="3200" b="1">
              <a:solidFill>
                <a:schemeClr val="accent2"/>
              </a:solidFill>
              <a:latin typeface="宋体" panose="02010600030101010101" pitchFamily="2" charset="-122"/>
            </a:endParaRPr>
          </a:p>
        </p:txBody>
      </p:sp>
      <p:sp>
        <p:nvSpPr>
          <p:cNvPr id="27655" name="Text Box 7"/>
          <p:cNvSpPr txBox="1">
            <a:spLocks noChangeArrowheads="1"/>
          </p:cNvSpPr>
          <p:nvPr/>
        </p:nvSpPr>
        <p:spPr bwMode="auto">
          <a:xfrm>
            <a:off x="1319213" y="4843463"/>
            <a:ext cx="46513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δ= </a:t>
            </a:r>
            <a:r>
              <a:rPr lang="zh-CN" altLang="en-US" sz="3200" b="1">
                <a:latin typeface="宋体" panose="02010600030101010101" pitchFamily="2" charset="-122"/>
              </a:rPr>
              <a:t>孔的尺寸－轴的尺寸</a:t>
            </a:r>
            <a:endParaRPr lang="zh-CN" altLang="en-US" sz="3200" b="1">
              <a:latin typeface="宋体" panose="02010600030101010101" pitchFamily="2" charset="-122"/>
            </a:endParaRPr>
          </a:p>
        </p:txBody>
      </p:sp>
      <p:sp>
        <p:nvSpPr>
          <p:cNvPr id="27656" name="Text Box 8"/>
          <p:cNvSpPr txBox="1">
            <a:spLocks noChangeArrowheads="1"/>
          </p:cNvSpPr>
          <p:nvPr/>
        </p:nvSpPr>
        <p:spPr bwMode="auto">
          <a:xfrm>
            <a:off x="958850" y="1216025"/>
            <a:ext cx="14779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solidFill>
                  <a:schemeClr val="accent2"/>
                </a:solidFill>
                <a:latin typeface="宋体" panose="02010600030101010101" pitchFamily="2" charset="-122"/>
              </a:rPr>
              <a:t>配合：</a:t>
            </a:r>
            <a:endParaRPr lang="zh-CN" altLang="en-US" sz="3200" b="1">
              <a:solidFill>
                <a:schemeClr val="accent2"/>
              </a:solidFill>
              <a:latin typeface="宋体" panose="02010600030101010101" pitchFamily="2" charset="-122"/>
            </a:endParaRPr>
          </a:p>
        </p:txBody>
      </p:sp>
      <p:sp>
        <p:nvSpPr>
          <p:cNvPr id="27657" name="Text Box 9"/>
          <p:cNvSpPr txBox="1">
            <a:spLocks noChangeArrowheads="1"/>
          </p:cNvSpPr>
          <p:nvPr/>
        </p:nvSpPr>
        <p:spPr bwMode="auto">
          <a:xfrm>
            <a:off x="1319213" y="5421313"/>
            <a:ext cx="46736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solidFill>
                  <a:srgbClr val="FF3300"/>
                </a:solidFill>
                <a:latin typeface="宋体" panose="02010600030101010101" pitchFamily="2" charset="-122"/>
              </a:rPr>
              <a:t>δ</a:t>
            </a:r>
            <a:r>
              <a:rPr lang="zh-CN" altLang="en-US" sz="3200" b="1">
                <a:solidFill>
                  <a:srgbClr val="FF3300"/>
                </a:solidFill>
                <a:latin typeface="宋体" panose="02010600030101010101" pitchFamily="2" charset="-122"/>
              </a:rPr>
              <a:t>＞</a:t>
            </a:r>
            <a:r>
              <a:rPr lang="en-US" altLang="zh-CN" sz="3200" b="1">
                <a:solidFill>
                  <a:srgbClr val="FF3300"/>
                </a:solidFill>
                <a:latin typeface="宋体" panose="02010600030101010101" pitchFamily="2" charset="-122"/>
              </a:rPr>
              <a:t>0 </a:t>
            </a:r>
            <a:r>
              <a:rPr lang="zh-CN" altLang="zh-CN" sz="3200" b="1">
                <a:solidFill>
                  <a:srgbClr val="FF3300"/>
                </a:solidFill>
                <a:latin typeface="宋体" panose="02010600030101010101" pitchFamily="2" charset="-122"/>
              </a:rPr>
              <a:t>间隙  </a:t>
            </a:r>
            <a:r>
              <a:rPr lang="en-US" altLang="zh-CN" sz="3200" b="1">
                <a:solidFill>
                  <a:srgbClr val="FF3300"/>
                </a:solidFill>
                <a:latin typeface="宋体" panose="02010600030101010101" pitchFamily="2" charset="-122"/>
              </a:rPr>
              <a:t>δ</a:t>
            </a:r>
            <a:r>
              <a:rPr lang="zh-CN" altLang="en-US" sz="3200" b="1">
                <a:solidFill>
                  <a:srgbClr val="FF3300"/>
                </a:solidFill>
                <a:latin typeface="宋体" panose="02010600030101010101" pitchFamily="2" charset="-122"/>
              </a:rPr>
              <a:t>＜</a:t>
            </a:r>
            <a:r>
              <a:rPr lang="en-US" altLang="zh-CN" sz="3200" b="1">
                <a:solidFill>
                  <a:srgbClr val="FF3300"/>
                </a:solidFill>
                <a:latin typeface="宋体" panose="02010600030101010101" pitchFamily="2" charset="-122"/>
              </a:rPr>
              <a:t>0 </a:t>
            </a:r>
            <a:r>
              <a:rPr lang="zh-CN" altLang="en-US" sz="3200" b="1">
                <a:solidFill>
                  <a:srgbClr val="FF3300"/>
                </a:solidFill>
                <a:latin typeface="宋体" panose="02010600030101010101" pitchFamily="2" charset="-122"/>
              </a:rPr>
              <a:t>过盈</a:t>
            </a:r>
            <a:endParaRPr lang="zh-CN" altLang="en-US" sz="3200" b="1">
              <a:solidFill>
                <a:srgbClr val="FF3300"/>
              </a:solidFill>
              <a:latin typeface="宋体" panose="02010600030101010101" pitchFamily="2" charset="-122"/>
            </a:endParaRPr>
          </a:p>
        </p:txBody>
      </p:sp>
      <p:sp>
        <p:nvSpPr>
          <p:cNvPr id="27659" name="Line 11"/>
          <p:cNvSpPr>
            <a:spLocks noChangeShapeType="1"/>
          </p:cNvSpPr>
          <p:nvPr/>
        </p:nvSpPr>
        <p:spPr bwMode="auto">
          <a:xfrm>
            <a:off x="2324100" y="1809750"/>
            <a:ext cx="2362200"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7660" name="Group 12"/>
          <p:cNvGrpSpPr/>
          <p:nvPr/>
        </p:nvGrpSpPr>
        <p:grpSpPr bwMode="auto">
          <a:xfrm>
            <a:off x="3111500" y="2732088"/>
            <a:ext cx="2695575" cy="1127125"/>
            <a:chOff x="1960" y="1721"/>
            <a:chExt cx="1698" cy="710"/>
          </a:xfrm>
        </p:grpSpPr>
        <p:pic>
          <p:nvPicPr>
            <p:cNvPr id="26646" name="Picture 13" descr="9-32c"/>
            <p:cNvPicPr>
              <a:picLocks noChangeAspect="1" noChangeArrowheads="1"/>
            </p:cNvPicPr>
            <p:nvPr/>
          </p:nvPicPr>
          <p:blipFill>
            <a:blip r:embed="rId1">
              <a:extLst>
                <a:ext uri="{28A0092B-C50C-407E-A947-70E740481C1C}">
                  <a14:useLocalDpi xmlns:a14="http://schemas.microsoft.com/office/drawing/2010/main" val="0"/>
                </a:ext>
              </a:extLst>
            </a:blip>
            <a:srcRect l="67529" t="58434" r="12930" b="18674"/>
            <a:stretch>
              <a:fillRect/>
            </a:stretch>
          </p:blipFill>
          <p:spPr bwMode="auto">
            <a:xfrm>
              <a:off x="2389" y="1721"/>
              <a:ext cx="1269"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7" name="Line 14"/>
            <p:cNvSpPr>
              <a:spLocks noChangeShapeType="1"/>
            </p:cNvSpPr>
            <p:nvPr/>
          </p:nvSpPr>
          <p:spPr bwMode="auto">
            <a:xfrm flipH="1">
              <a:off x="2172" y="1848"/>
              <a:ext cx="42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8" name="Line 15"/>
            <p:cNvSpPr>
              <a:spLocks noChangeShapeType="1"/>
            </p:cNvSpPr>
            <p:nvPr/>
          </p:nvSpPr>
          <p:spPr bwMode="auto">
            <a:xfrm flipH="1">
              <a:off x="2160" y="2328"/>
              <a:ext cx="3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9" name="Line 16"/>
            <p:cNvSpPr>
              <a:spLocks noChangeShapeType="1"/>
            </p:cNvSpPr>
            <p:nvPr/>
          </p:nvSpPr>
          <p:spPr bwMode="auto">
            <a:xfrm>
              <a:off x="2244" y="1836"/>
              <a:ext cx="0" cy="492"/>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0" name="Text Box 17"/>
            <p:cNvSpPr txBox="1">
              <a:spLocks noChangeArrowheads="1"/>
            </p:cNvSpPr>
            <p:nvPr/>
          </p:nvSpPr>
          <p:spPr bwMode="auto">
            <a:xfrm rot="-5400000">
              <a:off x="1848" y="1951"/>
              <a:ext cx="5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latin typeface="ISOCP" panose="00000400000000000000" pitchFamily="2" charset="0"/>
                </a:rPr>
                <a:t>φ</a:t>
              </a:r>
              <a:r>
                <a:rPr lang="en-US" altLang="zh-CN" sz="2800" b="1" i="1">
                  <a:latin typeface="ISOCPEUR" panose="020B0604020202020204" pitchFamily="34" charset="0"/>
                </a:rPr>
                <a:t>20</a:t>
              </a:r>
              <a:endParaRPr lang="en-US" altLang="zh-CN">
                <a:latin typeface="ISOCPEUR" panose="020B0604020202020204" pitchFamily="34" charset="0"/>
              </a:endParaRPr>
            </a:p>
          </p:txBody>
        </p:sp>
      </p:grpSp>
      <p:grpSp>
        <p:nvGrpSpPr>
          <p:cNvPr id="27666" name="Group 18"/>
          <p:cNvGrpSpPr/>
          <p:nvPr/>
        </p:nvGrpSpPr>
        <p:grpSpPr bwMode="auto">
          <a:xfrm>
            <a:off x="901700" y="2611438"/>
            <a:ext cx="2195513" cy="1541462"/>
            <a:chOff x="568" y="1645"/>
            <a:chExt cx="1383" cy="971"/>
          </a:xfrm>
        </p:grpSpPr>
        <p:pic>
          <p:nvPicPr>
            <p:cNvPr id="26641" name="Picture 19" descr="9-32c"/>
            <p:cNvPicPr>
              <a:picLocks noChangeAspect="1" noChangeArrowheads="1"/>
            </p:cNvPicPr>
            <p:nvPr/>
          </p:nvPicPr>
          <p:blipFill>
            <a:blip r:embed="rId1">
              <a:extLst>
                <a:ext uri="{28A0092B-C50C-407E-A947-70E740481C1C}">
                  <a14:useLocalDpi xmlns:a14="http://schemas.microsoft.com/office/drawing/2010/main" val="0"/>
                </a:ext>
              </a:extLst>
            </a:blip>
            <a:srcRect l="39081" t="54819" r="46552" b="13855"/>
            <a:stretch>
              <a:fillRect/>
            </a:stretch>
          </p:blipFill>
          <p:spPr bwMode="auto">
            <a:xfrm>
              <a:off x="1018" y="1645"/>
              <a:ext cx="933" cy="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2" name="Line 20"/>
            <p:cNvSpPr>
              <a:spLocks noChangeShapeType="1"/>
            </p:cNvSpPr>
            <p:nvPr/>
          </p:nvSpPr>
          <p:spPr bwMode="auto">
            <a:xfrm flipH="1">
              <a:off x="780" y="1896"/>
              <a:ext cx="42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3" name="Line 21"/>
            <p:cNvSpPr>
              <a:spLocks noChangeShapeType="1"/>
            </p:cNvSpPr>
            <p:nvPr/>
          </p:nvSpPr>
          <p:spPr bwMode="auto">
            <a:xfrm flipH="1">
              <a:off x="768" y="2376"/>
              <a:ext cx="3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4" name="Line 22"/>
            <p:cNvSpPr>
              <a:spLocks noChangeShapeType="1"/>
            </p:cNvSpPr>
            <p:nvPr/>
          </p:nvSpPr>
          <p:spPr bwMode="auto">
            <a:xfrm>
              <a:off x="852" y="1884"/>
              <a:ext cx="0" cy="492"/>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5" name="Text Box 23"/>
            <p:cNvSpPr txBox="1">
              <a:spLocks noChangeArrowheads="1"/>
            </p:cNvSpPr>
            <p:nvPr/>
          </p:nvSpPr>
          <p:spPr bwMode="auto">
            <a:xfrm rot="-5400000">
              <a:off x="456" y="1999"/>
              <a:ext cx="5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i="1">
                  <a:latin typeface="ISOCP" panose="00000400000000000000" pitchFamily="2" charset="0"/>
                </a:rPr>
                <a:t>φ</a:t>
              </a:r>
              <a:r>
                <a:rPr lang="en-US" altLang="zh-CN" sz="2800" b="1" i="1">
                  <a:latin typeface="ISOCPEUR" panose="020B0604020202020204" pitchFamily="34" charset="0"/>
                </a:rPr>
                <a:t>20</a:t>
              </a:r>
              <a:endParaRPr lang="en-US" altLang="zh-CN">
                <a:latin typeface="ISOCPEUR" panose="020B0604020202020204" pitchFamily="34" charset="0"/>
              </a:endParaRPr>
            </a:p>
          </p:txBody>
        </p:sp>
      </p:grpSp>
      <p:sp>
        <p:nvSpPr>
          <p:cNvPr id="27672" name="Text Box 24"/>
          <p:cNvSpPr txBox="1">
            <a:spLocks noChangeArrowheads="1"/>
          </p:cNvSpPr>
          <p:nvPr/>
        </p:nvSpPr>
        <p:spPr bwMode="auto">
          <a:xfrm>
            <a:off x="6746875" y="2025650"/>
            <a:ext cx="1022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t>配合</a:t>
            </a:r>
            <a:endParaRPr lang="zh-CN" altLang="en-US"/>
          </a:p>
        </p:txBody>
      </p:sp>
      <p:grpSp>
        <p:nvGrpSpPr>
          <p:cNvPr id="27675" name="Group 27"/>
          <p:cNvGrpSpPr/>
          <p:nvPr/>
        </p:nvGrpSpPr>
        <p:grpSpPr bwMode="auto">
          <a:xfrm>
            <a:off x="6380163" y="2720975"/>
            <a:ext cx="2044700" cy="1481138"/>
            <a:chOff x="4086" y="2739"/>
            <a:chExt cx="1288" cy="933"/>
          </a:xfrm>
        </p:grpSpPr>
        <p:sp>
          <p:nvSpPr>
            <p:cNvPr id="26639" name="Rectangle 25"/>
            <p:cNvSpPr>
              <a:spLocks noChangeArrowheads="1"/>
            </p:cNvSpPr>
            <p:nvPr/>
          </p:nvSpPr>
          <p:spPr bwMode="auto">
            <a:xfrm>
              <a:off x="4098" y="2752"/>
              <a:ext cx="1271" cy="91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26640" name="Picture 10" descr="9-32c"/>
            <p:cNvPicPr>
              <a:picLocks noChangeAspect="1" noChangeArrowheads="1"/>
            </p:cNvPicPr>
            <p:nvPr/>
          </p:nvPicPr>
          <p:blipFill>
            <a:blip r:embed="rId1">
              <a:extLst>
                <a:ext uri="{28A0092B-C50C-407E-A947-70E740481C1C}">
                  <a14:useLocalDpi xmlns:a14="http://schemas.microsoft.com/office/drawing/2010/main" val="0"/>
                </a:ext>
              </a:extLst>
            </a:blip>
            <a:srcRect l="4311" t="15663" r="75862" b="54216"/>
            <a:stretch>
              <a:fillRect/>
            </a:stretch>
          </p:blipFill>
          <p:spPr bwMode="auto">
            <a:xfrm>
              <a:off x="4086" y="2739"/>
              <a:ext cx="1288" cy="933"/>
            </a:xfrm>
            <a:prstGeom prst="rect">
              <a:avLst/>
            </a:prstGeom>
            <a:gradFill rotWithShape="0">
              <a:gsLst>
                <a:gs pos="0">
                  <a:srgbClr val="CCFFFF"/>
                </a:gs>
                <a:gs pos="100000">
                  <a:srgbClr val="E6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additive="base">
                                        <p:cTn id="7" dur="500" fill="hold"/>
                                        <p:tgtEl>
                                          <p:spTgt spid="27652"/>
                                        </p:tgtEl>
                                        <p:attrNameLst>
                                          <p:attrName>ppt_x</p:attrName>
                                        </p:attrNameLst>
                                      </p:cBhvr>
                                      <p:tavLst>
                                        <p:tav tm="0">
                                          <p:val>
                                            <p:strVal val="#ppt_x"/>
                                          </p:val>
                                        </p:tav>
                                        <p:tav tm="100000">
                                          <p:val>
                                            <p:strVal val="#ppt_x"/>
                                          </p:val>
                                        </p:tav>
                                      </p:tavLst>
                                    </p:anim>
                                    <p:anim calcmode="lin" valueType="num">
                                      <p:cBhvr additive="base">
                                        <p:cTn id="8" dur="500" fill="hold"/>
                                        <p:tgtEl>
                                          <p:spTgt spid="2765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iterate type="lt">
                                    <p:tmPct val="100000"/>
                                  </p:iterate>
                                  <p:childTnLst>
                                    <p:set>
                                      <p:cBhvr>
                                        <p:cTn id="12" dur="1" fill="hold">
                                          <p:stCondLst>
                                            <p:cond delay="0"/>
                                          </p:stCondLst>
                                        </p:cTn>
                                        <p:tgtEl>
                                          <p:spTgt spid="27656"/>
                                        </p:tgtEl>
                                        <p:attrNameLst>
                                          <p:attrName>style.visibility</p:attrName>
                                        </p:attrNameLst>
                                      </p:cBhvr>
                                      <p:to>
                                        <p:strVal val="visible"/>
                                      </p:to>
                                    </p:set>
                                    <p:animEffect transition="in" filter="blinds(horizontal)">
                                      <p:cBhvr>
                                        <p:cTn id="13" dur="75"/>
                                        <p:tgtEl>
                                          <p:spTgt spid="2765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iterate type="lt">
                                    <p:tmPct val="100000"/>
                                  </p:iterate>
                                  <p:childTnLst>
                                    <p:set>
                                      <p:cBhvr>
                                        <p:cTn id="17" dur="1" fill="hold">
                                          <p:stCondLst>
                                            <p:cond delay="0"/>
                                          </p:stCondLst>
                                        </p:cTn>
                                        <p:tgtEl>
                                          <p:spTgt spid="27653"/>
                                        </p:tgtEl>
                                        <p:attrNameLst>
                                          <p:attrName>style.visibility</p:attrName>
                                        </p:attrNameLst>
                                      </p:cBhvr>
                                      <p:to>
                                        <p:strVal val="visible"/>
                                      </p:to>
                                    </p:set>
                                    <p:animEffect transition="in" filter="blinds(horizontal)">
                                      <p:cBhvr>
                                        <p:cTn id="18" dur="75"/>
                                        <p:tgtEl>
                                          <p:spTgt spid="2765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7659"/>
                                        </p:tgtEl>
                                        <p:attrNameLst>
                                          <p:attrName>style.visibility</p:attrName>
                                        </p:attrNameLst>
                                      </p:cBhvr>
                                      <p:to>
                                        <p:strVal val="visible"/>
                                      </p:to>
                                    </p:set>
                                    <p:animEffect transition="in" filter="wipe(left)">
                                      <p:cBhvr>
                                        <p:cTn id="23" dur="500"/>
                                        <p:tgtEl>
                                          <p:spTgt spid="2765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nodeType="clickEffect">
                                  <p:stCondLst>
                                    <p:cond delay="0"/>
                                  </p:stCondLst>
                                  <p:childTnLst>
                                    <p:set>
                                      <p:cBhvr>
                                        <p:cTn id="27" dur="1" fill="hold">
                                          <p:stCondLst>
                                            <p:cond delay="0"/>
                                          </p:stCondLst>
                                        </p:cTn>
                                        <p:tgtEl>
                                          <p:spTgt spid="27666"/>
                                        </p:tgtEl>
                                        <p:attrNameLst>
                                          <p:attrName>style.visibility</p:attrName>
                                        </p:attrNameLst>
                                      </p:cBhvr>
                                      <p:to>
                                        <p:strVal val="visible"/>
                                      </p:to>
                                    </p:set>
                                    <p:animEffect transition="in" filter="blinds(vertical)">
                                      <p:cBhvr>
                                        <p:cTn id="28" dur="500"/>
                                        <p:tgtEl>
                                          <p:spTgt spid="2766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7660"/>
                                        </p:tgtEl>
                                        <p:attrNameLst>
                                          <p:attrName>style.visibility</p:attrName>
                                        </p:attrNameLst>
                                      </p:cBhvr>
                                      <p:to>
                                        <p:strVal val="visible"/>
                                      </p:to>
                                    </p:set>
                                    <p:animEffect transition="in" filter="blinds(horizontal)">
                                      <p:cBhvr>
                                        <p:cTn id="33" dur="500"/>
                                        <p:tgtEl>
                                          <p:spTgt spid="2766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27650"/>
                                        </p:tgtEl>
                                        <p:attrNameLst>
                                          <p:attrName>style.visibility</p:attrName>
                                        </p:attrNameLst>
                                      </p:cBhvr>
                                      <p:to>
                                        <p:strVal val="visible"/>
                                      </p:to>
                                    </p:set>
                                    <p:animEffect transition="in" filter="wipe(right)">
                                      <p:cBhvr>
                                        <p:cTn id="38" dur="500"/>
                                        <p:tgtEl>
                                          <p:spTgt spid="27650"/>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2" fill="hold" grpId="0" nodeType="clickEffect">
                                  <p:stCondLst>
                                    <p:cond delay="0"/>
                                  </p:stCondLst>
                                  <p:childTnLst>
                                    <p:set>
                                      <p:cBhvr>
                                        <p:cTn id="42" dur="1" fill="hold">
                                          <p:stCondLst>
                                            <p:cond delay="0"/>
                                          </p:stCondLst>
                                        </p:cTn>
                                        <p:tgtEl>
                                          <p:spTgt spid="27672"/>
                                        </p:tgtEl>
                                        <p:attrNameLst>
                                          <p:attrName>style.visibility</p:attrName>
                                        </p:attrNameLst>
                                      </p:cBhvr>
                                      <p:to>
                                        <p:strVal val="visible"/>
                                      </p:to>
                                    </p:set>
                                    <p:animEffect transition="in" filter="slide(fromRight)">
                                      <p:cBhvr>
                                        <p:cTn id="43" dur="500"/>
                                        <p:tgtEl>
                                          <p:spTgt spid="2767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27675"/>
                                        </p:tgtEl>
                                        <p:attrNameLst>
                                          <p:attrName>style.visibility</p:attrName>
                                        </p:attrNameLst>
                                      </p:cBhvr>
                                      <p:to>
                                        <p:strVal val="visible"/>
                                      </p:to>
                                    </p:set>
                                    <p:animEffect transition="in" filter="blinds(horizontal)">
                                      <p:cBhvr>
                                        <p:cTn id="48" dur="500"/>
                                        <p:tgtEl>
                                          <p:spTgt spid="2767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iterate type="lt">
                                    <p:tmPct val="100000"/>
                                  </p:iterate>
                                  <p:childTnLst>
                                    <p:set>
                                      <p:cBhvr>
                                        <p:cTn id="52" dur="1" fill="hold">
                                          <p:stCondLst>
                                            <p:cond delay="0"/>
                                          </p:stCondLst>
                                        </p:cTn>
                                        <p:tgtEl>
                                          <p:spTgt spid="27654"/>
                                        </p:tgtEl>
                                        <p:attrNameLst>
                                          <p:attrName>style.visibility</p:attrName>
                                        </p:attrNameLst>
                                      </p:cBhvr>
                                      <p:to>
                                        <p:strVal val="visible"/>
                                      </p:to>
                                    </p:set>
                                    <p:animEffect transition="in" filter="blinds(horizontal)">
                                      <p:cBhvr>
                                        <p:cTn id="53" dur="75"/>
                                        <p:tgtEl>
                                          <p:spTgt spid="2765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iterate type="lt">
                                    <p:tmPct val="100000"/>
                                  </p:iterate>
                                  <p:childTnLst>
                                    <p:set>
                                      <p:cBhvr>
                                        <p:cTn id="57" dur="1" fill="hold">
                                          <p:stCondLst>
                                            <p:cond delay="0"/>
                                          </p:stCondLst>
                                        </p:cTn>
                                        <p:tgtEl>
                                          <p:spTgt spid="27655"/>
                                        </p:tgtEl>
                                        <p:attrNameLst>
                                          <p:attrName>style.visibility</p:attrName>
                                        </p:attrNameLst>
                                      </p:cBhvr>
                                      <p:to>
                                        <p:strVal val="visible"/>
                                      </p:to>
                                    </p:set>
                                    <p:animEffect transition="in" filter="blinds(horizontal)">
                                      <p:cBhvr>
                                        <p:cTn id="58" dur="75"/>
                                        <p:tgtEl>
                                          <p:spTgt spid="2765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iterate type="lt">
                                    <p:tmPct val="100000"/>
                                  </p:iterate>
                                  <p:childTnLst>
                                    <p:set>
                                      <p:cBhvr>
                                        <p:cTn id="62" dur="1" fill="hold">
                                          <p:stCondLst>
                                            <p:cond delay="0"/>
                                          </p:stCondLst>
                                        </p:cTn>
                                        <p:tgtEl>
                                          <p:spTgt spid="27657"/>
                                        </p:tgtEl>
                                        <p:attrNameLst>
                                          <p:attrName>style.visibility</p:attrName>
                                        </p:attrNameLst>
                                      </p:cBhvr>
                                      <p:to>
                                        <p:strVal val="visible"/>
                                      </p:to>
                                    </p:set>
                                    <p:animEffect transition="in" filter="blinds(horizontal)">
                                      <p:cBhvr>
                                        <p:cTn id="63" dur="75"/>
                                        <p:tgtEl>
                                          <p:spTgt spid="27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P spid="27653" grpId="0" autoUpdateAnimBg="0"/>
      <p:bldP spid="27654" grpId="0" autoUpdateAnimBg="0"/>
      <p:bldP spid="27655" grpId="0" autoUpdateAnimBg="0"/>
      <p:bldP spid="27656" grpId="0" autoUpdateAnimBg="0"/>
      <p:bldP spid="27657" grpId="0" autoUpdateAnimBg="0"/>
      <p:bldP spid="2767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452438" y="131763"/>
            <a:ext cx="29892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latin typeface="宋体" panose="02010600030101010101" pitchFamily="2" charset="-122"/>
              </a:rPr>
              <a:t>⑵ </a:t>
            </a:r>
            <a:r>
              <a:rPr lang="zh-CN" altLang="en-US" sz="3200" b="1">
                <a:latin typeface="宋体" panose="02010600030101010101" pitchFamily="2" charset="-122"/>
              </a:rPr>
              <a:t>配合的种类</a:t>
            </a:r>
            <a:endParaRPr lang="zh-CN" altLang="en-US" sz="3200" b="1">
              <a:latin typeface="宋体" panose="02010600030101010101" pitchFamily="2" charset="-122"/>
            </a:endParaRPr>
          </a:p>
        </p:txBody>
      </p:sp>
      <p:sp>
        <p:nvSpPr>
          <p:cNvPr id="28675" name="Text Box 3"/>
          <p:cNvSpPr txBox="1">
            <a:spLocks noChangeArrowheads="1"/>
          </p:cNvSpPr>
          <p:nvPr/>
        </p:nvSpPr>
        <p:spPr bwMode="auto">
          <a:xfrm>
            <a:off x="1008063" y="641350"/>
            <a:ext cx="25304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① </a:t>
            </a:r>
            <a:r>
              <a:rPr lang="zh-CN" altLang="en-US" sz="3200" b="1">
                <a:latin typeface="宋体" panose="02010600030101010101" pitchFamily="2" charset="-122"/>
              </a:rPr>
              <a:t>间隙配合</a:t>
            </a:r>
            <a:endParaRPr lang="zh-CN" altLang="en-US" sz="3200" b="1">
              <a:latin typeface="宋体" panose="02010600030101010101" pitchFamily="2" charset="-122"/>
            </a:endParaRPr>
          </a:p>
        </p:txBody>
      </p:sp>
      <p:sp>
        <p:nvSpPr>
          <p:cNvPr id="28676" name="Text Box 4"/>
          <p:cNvSpPr txBox="1">
            <a:spLocks noChangeArrowheads="1"/>
          </p:cNvSpPr>
          <p:nvPr/>
        </p:nvSpPr>
        <p:spPr bwMode="auto">
          <a:xfrm>
            <a:off x="1468438" y="1147763"/>
            <a:ext cx="75501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具有间隙</a:t>
            </a:r>
            <a:r>
              <a:rPr lang="en-US" altLang="zh-CN" sz="3200" b="1">
                <a:latin typeface="宋体" panose="02010600030101010101" pitchFamily="2" charset="-122"/>
              </a:rPr>
              <a:t>(</a:t>
            </a:r>
            <a:r>
              <a:rPr lang="zh-CN" altLang="en-US" sz="3200" b="1">
                <a:latin typeface="宋体" panose="02010600030101010101" pitchFamily="2" charset="-122"/>
              </a:rPr>
              <a:t>包括最小间隙等于零</a:t>
            </a:r>
            <a:r>
              <a:rPr lang="en-US" altLang="zh-CN" sz="3200" b="1">
                <a:latin typeface="宋体" panose="02010600030101010101" pitchFamily="2" charset="-122"/>
              </a:rPr>
              <a:t>)</a:t>
            </a:r>
            <a:r>
              <a:rPr lang="zh-CN" altLang="en-US" sz="3200" b="1">
                <a:latin typeface="宋体" panose="02010600030101010101" pitchFamily="2" charset="-122"/>
              </a:rPr>
              <a:t>的配合。</a:t>
            </a:r>
            <a:endParaRPr lang="zh-CN" altLang="en-US" sz="3200" b="1">
              <a:latin typeface="宋体" panose="02010600030101010101" pitchFamily="2" charset="-122"/>
            </a:endParaRPr>
          </a:p>
        </p:txBody>
      </p:sp>
      <p:grpSp>
        <p:nvGrpSpPr>
          <p:cNvPr id="28677" name="Group 5"/>
          <p:cNvGrpSpPr/>
          <p:nvPr/>
        </p:nvGrpSpPr>
        <p:grpSpPr bwMode="auto">
          <a:xfrm>
            <a:off x="2238375" y="1711325"/>
            <a:ext cx="754063" cy="663575"/>
            <a:chOff x="4986" y="2386"/>
            <a:chExt cx="475" cy="418"/>
          </a:xfrm>
        </p:grpSpPr>
        <p:sp>
          <p:nvSpPr>
            <p:cNvPr id="27738" name="Rectangle 6"/>
            <p:cNvSpPr>
              <a:spLocks noChangeArrowheads="1"/>
            </p:cNvSpPr>
            <p:nvPr/>
          </p:nvSpPr>
          <p:spPr bwMode="auto">
            <a:xfrm>
              <a:off x="4986" y="2649"/>
              <a:ext cx="475" cy="155"/>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739" name="Text Box 7"/>
            <p:cNvSpPr txBox="1">
              <a:spLocks noChangeArrowheads="1"/>
            </p:cNvSpPr>
            <p:nvPr/>
          </p:nvSpPr>
          <p:spPr bwMode="auto">
            <a:xfrm>
              <a:off x="5055" y="2386"/>
              <a:ext cx="3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孔</a:t>
              </a:r>
              <a:endParaRPr lang="zh-CN" altLang="en-US" b="1"/>
            </a:p>
          </p:txBody>
        </p:sp>
      </p:grpSp>
      <p:grpSp>
        <p:nvGrpSpPr>
          <p:cNvPr id="28680" name="Group 8"/>
          <p:cNvGrpSpPr/>
          <p:nvPr/>
        </p:nvGrpSpPr>
        <p:grpSpPr bwMode="auto">
          <a:xfrm>
            <a:off x="3570288" y="1708150"/>
            <a:ext cx="754062" cy="676275"/>
            <a:chOff x="4997" y="2804"/>
            <a:chExt cx="475" cy="426"/>
          </a:xfrm>
        </p:grpSpPr>
        <p:sp>
          <p:nvSpPr>
            <p:cNvPr id="27736" name="Rectangle 9"/>
            <p:cNvSpPr>
              <a:spLocks noChangeArrowheads="1"/>
            </p:cNvSpPr>
            <p:nvPr/>
          </p:nvSpPr>
          <p:spPr bwMode="auto">
            <a:xfrm>
              <a:off x="4997" y="3075"/>
              <a:ext cx="475" cy="155"/>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737" name="Text Box 10"/>
            <p:cNvSpPr txBox="1">
              <a:spLocks noChangeArrowheads="1"/>
            </p:cNvSpPr>
            <p:nvPr/>
          </p:nvSpPr>
          <p:spPr bwMode="auto">
            <a:xfrm>
              <a:off x="5071" y="2804"/>
              <a:ext cx="3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t>轴</a:t>
              </a:r>
              <a:endParaRPr lang="zh-CN" altLang="en-US" b="1"/>
            </a:p>
          </p:txBody>
        </p:sp>
      </p:grpSp>
      <p:grpSp>
        <p:nvGrpSpPr>
          <p:cNvPr id="28683" name="Group 11"/>
          <p:cNvGrpSpPr/>
          <p:nvPr/>
        </p:nvGrpSpPr>
        <p:grpSpPr bwMode="auto">
          <a:xfrm>
            <a:off x="3433763" y="2574925"/>
            <a:ext cx="1684337" cy="2873375"/>
            <a:chOff x="2172" y="1630"/>
            <a:chExt cx="1061" cy="1810"/>
          </a:xfrm>
        </p:grpSpPr>
        <p:sp>
          <p:nvSpPr>
            <p:cNvPr id="27721" name="Text Box 12"/>
            <p:cNvSpPr txBox="1">
              <a:spLocks noChangeArrowheads="1"/>
            </p:cNvSpPr>
            <p:nvPr/>
          </p:nvSpPr>
          <p:spPr bwMode="auto">
            <a:xfrm rot="-5400000">
              <a:off x="2157" y="2129"/>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最小极限尺寸</a:t>
              </a:r>
              <a:endParaRPr lang="zh-CN" altLang="en-US" b="1"/>
            </a:p>
          </p:txBody>
        </p:sp>
        <p:sp>
          <p:nvSpPr>
            <p:cNvPr id="27722" name="Text Box 13"/>
            <p:cNvSpPr txBox="1">
              <a:spLocks noChangeArrowheads="1"/>
            </p:cNvSpPr>
            <p:nvPr/>
          </p:nvSpPr>
          <p:spPr bwMode="auto">
            <a:xfrm rot="-5400000">
              <a:off x="2427" y="2123"/>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最大极限尺寸</a:t>
              </a:r>
              <a:endParaRPr lang="zh-CN" altLang="en-US" b="1"/>
            </a:p>
          </p:txBody>
        </p:sp>
        <p:sp>
          <p:nvSpPr>
            <p:cNvPr id="27723" name="Freeform 14"/>
            <p:cNvSpPr/>
            <p:nvPr/>
          </p:nvSpPr>
          <p:spPr bwMode="auto">
            <a:xfrm>
              <a:off x="2208" y="2894"/>
              <a:ext cx="547" cy="143"/>
            </a:xfrm>
            <a:custGeom>
              <a:avLst/>
              <a:gdLst>
                <a:gd name="T0" fmla="*/ 0 w 547"/>
                <a:gd name="T1" fmla="*/ 0 h 77"/>
                <a:gd name="T2" fmla="*/ 528 w 547"/>
                <a:gd name="T3" fmla="*/ 0 h 77"/>
                <a:gd name="T4" fmla="*/ 547 w 547"/>
                <a:gd name="T5" fmla="*/ 143 h 77"/>
                <a:gd name="T6" fmla="*/ 10 w 547"/>
                <a:gd name="T7" fmla="*/ 143 h 77"/>
                <a:gd name="T8" fmla="*/ 0 w 547"/>
                <a:gd name="T9" fmla="*/ 0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7" h="77">
                  <a:moveTo>
                    <a:pt x="0" y="0"/>
                  </a:moveTo>
                  <a:lnTo>
                    <a:pt x="528" y="0"/>
                  </a:lnTo>
                  <a:lnTo>
                    <a:pt x="547" y="77"/>
                  </a:lnTo>
                  <a:lnTo>
                    <a:pt x="10" y="77"/>
                  </a:lnTo>
                  <a:lnTo>
                    <a:pt x="0" y="0"/>
                  </a:lnTo>
                  <a:close/>
                </a:path>
              </a:pathLst>
            </a:custGeom>
            <a:solidFill>
              <a:srgbClr val="009900"/>
            </a:solidFill>
            <a:ln>
              <a:noFill/>
            </a:ln>
            <a:effectLst/>
            <a:extLst>
              <a:ext uri="{91240B29-F687-4F45-9708-019B960494DF}">
                <a14:hiddenLine xmlns:a14="http://schemas.microsoft.com/office/drawing/2010/main" w="9525">
                  <a:solidFill>
                    <a:srgbClr val="FFFF00"/>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24" name="Freeform 15"/>
            <p:cNvSpPr/>
            <p:nvPr/>
          </p:nvSpPr>
          <p:spPr bwMode="auto">
            <a:xfrm flipH="1">
              <a:off x="2172" y="2878"/>
              <a:ext cx="47" cy="549"/>
            </a:xfrm>
            <a:custGeom>
              <a:avLst/>
              <a:gdLst>
                <a:gd name="T0" fmla="*/ 0 w 1"/>
                <a:gd name="T1" fmla="*/ 0 h 465"/>
                <a:gd name="T2" fmla="*/ 0 w 1"/>
                <a:gd name="T3" fmla="*/ 549 h 465"/>
                <a:gd name="T4" fmla="*/ 0 60000 65536"/>
                <a:gd name="T5" fmla="*/ 0 60000 65536"/>
              </a:gdLst>
              <a:ahLst/>
              <a:cxnLst>
                <a:cxn ang="T4">
                  <a:pos x="T0" y="T1"/>
                </a:cxn>
                <a:cxn ang="T5">
                  <a:pos x="T2" y="T3"/>
                </a:cxn>
              </a:cxnLst>
              <a:rect l="0" t="0" r="r" b="b"/>
              <a:pathLst>
                <a:path w="1" h="465">
                  <a:moveTo>
                    <a:pt x="0" y="0"/>
                  </a:moveTo>
                  <a:lnTo>
                    <a:pt x="0" y="46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25" name="Line 16"/>
            <p:cNvSpPr>
              <a:spLocks noChangeShapeType="1"/>
            </p:cNvSpPr>
            <p:nvPr/>
          </p:nvSpPr>
          <p:spPr bwMode="auto">
            <a:xfrm>
              <a:off x="2218" y="2883"/>
              <a:ext cx="5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26" name="Freeform 17"/>
            <p:cNvSpPr/>
            <p:nvPr/>
          </p:nvSpPr>
          <p:spPr bwMode="auto">
            <a:xfrm>
              <a:off x="2213" y="3421"/>
              <a:ext cx="521" cy="1"/>
            </a:xfrm>
            <a:custGeom>
              <a:avLst/>
              <a:gdLst>
                <a:gd name="T0" fmla="*/ 0 w 521"/>
                <a:gd name="T1" fmla="*/ 0 h 1"/>
                <a:gd name="T2" fmla="*/ 521 w 521"/>
                <a:gd name="T3" fmla="*/ 1 h 1"/>
                <a:gd name="T4" fmla="*/ 0 60000 65536"/>
                <a:gd name="T5" fmla="*/ 0 60000 65536"/>
              </a:gdLst>
              <a:ahLst/>
              <a:cxnLst>
                <a:cxn ang="T4">
                  <a:pos x="T0" y="T1"/>
                </a:cxn>
                <a:cxn ang="T5">
                  <a:pos x="T2" y="T3"/>
                </a:cxn>
              </a:cxnLst>
              <a:rect l="0" t="0" r="r" b="b"/>
              <a:pathLst>
                <a:path w="521" h="1">
                  <a:moveTo>
                    <a:pt x="0" y="0"/>
                  </a:moveTo>
                  <a:lnTo>
                    <a:pt x="521" y="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27" name="Line 18"/>
            <p:cNvSpPr>
              <a:spLocks noChangeShapeType="1"/>
            </p:cNvSpPr>
            <p:nvPr/>
          </p:nvSpPr>
          <p:spPr bwMode="auto">
            <a:xfrm>
              <a:off x="2218" y="3041"/>
              <a:ext cx="525"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28" name="Freeform 19"/>
            <p:cNvSpPr/>
            <p:nvPr/>
          </p:nvSpPr>
          <p:spPr bwMode="auto">
            <a:xfrm>
              <a:off x="2710" y="2879"/>
              <a:ext cx="52" cy="541"/>
            </a:xfrm>
            <a:custGeom>
              <a:avLst/>
              <a:gdLst>
                <a:gd name="T0" fmla="*/ 16 w 52"/>
                <a:gd name="T1" fmla="*/ 0 h 541"/>
                <a:gd name="T2" fmla="*/ 38 w 52"/>
                <a:gd name="T3" fmla="*/ 145 h 541"/>
                <a:gd name="T4" fmla="*/ 2 w 52"/>
                <a:gd name="T5" fmla="*/ 313 h 541"/>
                <a:gd name="T6" fmla="*/ 50 w 52"/>
                <a:gd name="T7" fmla="*/ 445 h 541"/>
                <a:gd name="T8" fmla="*/ 14 w 52"/>
                <a:gd name="T9" fmla="*/ 541 h 5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541">
                  <a:moveTo>
                    <a:pt x="16" y="0"/>
                  </a:moveTo>
                  <a:cubicBezTo>
                    <a:pt x="20" y="24"/>
                    <a:pt x="40" y="93"/>
                    <a:pt x="38" y="145"/>
                  </a:cubicBezTo>
                  <a:cubicBezTo>
                    <a:pt x="36" y="197"/>
                    <a:pt x="0" y="263"/>
                    <a:pt x="2" y="313"/>
                  </a:cubicBezTo>
                  <a:cubicBezTo>
                    <a:pt x="4" y="363"/>
                    <a:pt x="48" y="407"/>
                    <a:pt x="50" y="445"/>
                  </a:cubicBezTo>
                  <a:cubicBezTo>
                    <a:pt x="52" y="483"/>
                    <a:pt x="22" y="521"/>
                    <a:pt x="14" y="541"/>
                  </a:cubicBezTo>
                </a:path>
              </a:pathLst>
            </a:custGeom>
            <a:noFill/>
            <a:ln w="9525"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29" name="Line 20"/>
            <p:cNvSpPr>
              <a:spLocks noChangeShapeType="1"/>
            </p:cNvSpPr>
            <p:nvPr/>
          </p:nvSpPr>
          <p:spPr bwMode="auto">
            <a:xfrm>
              <a:off x="2738" y="3041"/>
              <a:ext cx="21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30" name="Line 21"/>
            <p:cNvSpPr>
              <a:spLocks noChangeShapeType="1"/>
            </p:cNvSpPr>
            <p:nvPr/>
          </p:nvSpPr>
          <p:spPr bwMode="auto">
            <a:xfrm>
              <a:off x="2734" y="3421"/>
              <a:ext cx="487"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31" name="Freeform 22"/>
            <p:cNvSpPr/>
            <p:nvPr/>
          </p:nvSpPr>
          <p:spPr bwMode="auto">
            <a:xfrm>
              <a:off x="2916" y="3033"/>
              <a:ext cx="1" cy="407"/>
            </a:xfrm>
            <a:custGeom>
              <a:avLst/>
              <a:gdLst>
                <a:gd name="T0" fmla="*/ 0 w 1"/>
                <a:gd name="T1" fmla="*/ 0 h 407"/>
                <a:gd name="T2" fmla="*/ 0 w 1"/>
                <a:gd name="T3" fmla="*/ 407 h 407"/>
                <a:gd name="T4" fmla="*/ 0 60000 65536"/>
                <a:gd name="T5" fmla="*/ 0 60000 65536"/>
              </a:gdLst>
              <a:ahLst/>
              <a:cxnLst>
                <a:cxn ang="T4">
                  <a:pos x="T0" y="T1"/>
                </a:cxn>
                <a:cxn ang="T5">
                  <a:pos x="T2" y="T3"/>
                </a:cxn>
              </a:cxnLst>
              <a:rect l="0" t="0" r="r" b="b"/>
              <a:pathLst>
                <a:path w="1" h="407">
                  <a:moveTo>
                    <a:pt x="0" y="0"/>
                  </a:moveTo>
                  <a:lnTo>
                    <a:pt x="0" y="407"/>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32" name="Freeform 23"/>
            <p:cNvSpPr/>
            <p:nvPr/>
          </p:nvSpPr>
          <p:spPr bwMode="auto">
            <a:xfrm flipH="1">
              <a:off x="3128" y="2874"/>
              <a:ext cx="47" cy="560"/>
            </a:xfrm>
            <a:custGeom>
              <a:avLst/>
              <a:gdLst>
                <a:gd name="T0" fmla="*/ 0 w 1"/>
                <a:gd name="T1" fmla="*/ 560 h 494"/>
                <a:gd name="T2" fmla="*/ 0 w 1"/>
                <a:gd name="T3" fmla="*/ 0 h 494"/>
                <a:gd name="T4" fmla="*/ 0 60000 65536"/>
                <a:gd name="T5" fmla="*/ 0 60000 65536"/>
              </a:gdLst>
              <a:ahLst/>
              <a:cxnLst>
                <a:cxn ang="T4">
                  <a:pos x="T0" y="T1"/>
                </a:cxn>
                <a:cxn ang="T5">
                  <a:pos x="T2" y="T3"/>
                </a:cxn>
              </a:cxnLst>
              <a:rect l="0" t="0" r="r" b="b"/>
              <a:pathLst>
                <a:path w="1" h="494">
                  <a:moveTo>
                    <a:pt x="0" y="494"/>
                  </a:moveTo>
                  <a:lnTo>
                    <a:pt x="0" y="0"/>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33" name="Line 24"/>
            <p:cNvSpPr>
              <a:spLocks noChangeShapeType="1"/>
            </p:cNvSpPr>
            <p:nvPr/>
          </p:nvSpPr>
          <p:spPr bwMode="auto">
            <a:xfrm>
              <a:off x="2734" y="2888"/>
              <a:ext cx="49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34" name="Line 25"/>
            <p:cNvSpPr>
              <a:spLocks noChangeShapeType="1"/>
            </p:cNvSpPr>
            <p:nvPr/>
          </p:nvSpPr>
          <p:spPr bwMode="auto">
            <a:xfrm flipV="1">
              <a:off x="2916" y="1744"/>
              <a:ext cx="0" cy="13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35" name="Line 26"/>
            <p:cNvSpPr>
              <a:spLocks noChangeShapeType="1"/>
            </p:cNvSpPr>
            <p:nvPr/>
          </p:nvSpPr>
          <p:spPr bwMode="auto">
            <a:xfrm flipV="1">
              <a:off x="3176" y="1758"/>
              <a:ext cx="0" cy="120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8699" name="Group 27"/>
          <p:cNvGrpSpPr/>
          <p:nvPr/>
        </p:nvGrpSpPr>
        <p:grpSpPr bwMode="auto">
          <a:xfrm>
            <a:off x="2630488" y="2687638"/>
            <a:ext cx="911225" cy="2149475"/>
            <a:chOff x="1657" y="1702"/>
            <a:chExt cx="574" cy="1354"/>
          </a:xfrm>
        </p:grpSpPr>
        <p:sp>
          <p:nvSpPr>
            <p:cNvPr id="27715" name="Text Box 28"/>
            <p:cNvSpPr txBox="1">
              <a:spLocks noChangeArrowheads="1"/>
            </p:cNvSpPr>
            <p:nvPr/>
          </p:nvSpPr>
          <p:spPr bwMode="auto">
            <a:xfrm rot="-5400000">
              <a:off x="1357" y="2002"/>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chemeClr val="accent2"/>
                  </a:solidFill>
                </a:rPr>
                <a:t>最大间隙</a:t>
              </a:r>
              <a:endParaRPr lang="zh-CN" altLang="en-US" b="1">
                <a:solidFill>
                  <a:schemeClr val="accent2"/>
                </a:solidFill>
              </a:endParaRPr>
            </a:p>
          </p:txBody>
        </p:sp>
        <p:grpSp>
          <p:nvGrpSpPr>
            <p:cNvPr id="27716" name="Group 29"/>
            <p:cNvGrpSpPr/>
            <p:nvPr/>
          </p:nvGrpSpPr>
          <p:grpSpPr bwMode="auto">
            <a:xfrm>
              <a:off x="1773" y="1780"/>
              <a:ext cx="458" cy="1276"/>
              <a:chOff x="1773" y="1780"/>
              <a:chExt cx="458" cy="1276"/>
            </a:xfrm>
          </p:grpSpPr>
          <p:sp>
            <p:nvSpPr>
              <p:cNvPr id="27717" name="Freeform 30"/>
              <p:cNvSpPr/>
              <p:nvPr/>
            </p:nvSpPr>
            <p:spPr bwMode="auto">
              <a:xfrm>
                <a:off x="1869" y="3040"/>
                <a:ext cx="362" cy="3"/>
              </a:xfrm>
              <a:custGeom>
                <a:avLst/>
                <a:gdLst>
                  <a:gd name="T0" fmla="*/ 362 w 362"/>
                  <a:gd name="T1" fmla="*/ 3 h 3"/>
                  <a:gd name="T2" fmla="*/ 0 w 362"/>
                  <a:gd name="T3" fmla="*/ 0 h 3"/>
                  <a:gd name="T4" fmla="*/ 0 60000 65536"/>
                  <a:gd name="T5" fmla="*/ 0 60000 65536"/>
                </a:gdLst>
                <a:ahLst/>
                <a:cxnLst>
                  <a:cxn ang="T4">
                    <a:pos x="T0" y="T1"/>
                  </a:cxn>
                  <a:cxn ang="T5">
                    <a:pos x="T2" y="T3"/>
                  </a:cxn>
                </a:cxnLst>
                <a:rect l="0" t="0" r="r" b="b"/>
                <a:pathLst>
                  <a:path w="362" h="3">
                    <a:moveTo>
                      <a:pt x="362" y="3"/>
                    </a:moveTo>
                    <a:lnTo>
                      <a:pt x="0" y="0"/>
                    </a:lnTo>
                  </a:path>
                </a:pathLst>
              </a:custGeom>
              <a:noFill/>
              <a:ln w="19050" cap="flat" cmpd="sng">
                <a:solidFill>
                  <a:srgbClr val="000099"/>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18" name="Line 31"/>
              <p:cNvSpPr>
                <a:spLocks noChangeShapeType="1"/>
              </p:cNvSpPr>
              <p:nvPr/>
            </p:nvSpPr>
            <p:spPr bwMode="auto">
              <a:xfrm>
                <a:off x="1773" y="2663"/>
                <a:ext cx="179"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19" name="Freeform 32"/>
              <p:cNvSpPr/>
              <p:nvPr/>
            </p:nvSpPr>
            <p:spPr bwMode="auto">
              <a:xfrm flipH="1">
                <a:off x="1874" y="2650"/>
                <a:ext cx="47" cy="406"/>
              </a:xfrm>
              <a:custGeom>
                <a:avLst/>
                <a:gdLst>
                  <a:gd name="T0" fmla="*/ 0 w 1"/>
                  <a:gd name="T1" fmla="*/ 0 h 250"/>
                  <a:gd name="T2" fmla="*/ 0 w 1"/>
                  <a:gd name="T3" fmla="*/ 406 h 250"/>
                  <a:gd name="T4" fmla="*/ 0 60000 65536"/>
                  <a:gd name="T5" fmla="*/ 0 60000 65536"/>
                </a:gdLst>
                <a:ahLst/>
                <a:cxnLst>
                  <a:cxn ang="T4">
                    <a:pos x="T0" y="T1"/>
                  </a:cxn>
                  <a:cxn ang="T5">
                    <a:pos x="T2" y="T3"/>
                  </a:cxn>
                </a:cxnLst>
                <a:rect l="0" t="0" r="r" b="b"/>
                <a:pathLst>
                  <a:path w="1" h="250">
                    <a:moveTo>
                      <a:pt x="0" y="0"/>
                    </a:moveTo>
                    <a:lnTo>
                      <a:pt x="0" y="250"/>
                    </a:lnTo>
                  </a:path>
                </a:pathLst>
              </a:custGeom>
              <a:noFill/>
              <a:ln w="19050" cap="flat" cmpd="sng">
                <a:solidFill>
                  <a:srgbClr val="000099"/>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20" name="Line 33"/>
              <p:cNvSpPr>
                <a:spLocks noChangeShapeType="1"/>
              </p:cNvSpPr>
              <p:nvPr/>
            </p:nvSpPr>
            <p:spPr bwMode="auto">
              <a:xfrm flipV="1">
                <a:off x="1921" y="1780"/>
                <a:ext cx="1" cy="104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28706" name="Group 34"/>
          <p:cNvGrpSpPr/>
          <p:nvPr/>
        </p:nvGrpSpPr>
        <p:grpSpPr bwMode="auto">
          <a:xfrm>
            <a:off x="2835275" y="2971800"/>
            <a:ext cx="704850" cy="1755775"/>
            <a:chOff x="1786" y="1898"/>
            <a:chExt cx="444" cy="1106"/>
          </a:xfrm>
        </p:grpSpPr>
        <p:sp>
          <p:nvSpPr>
            <p:cNvPr id="27709" name="Text Box 35"/>
            <p:cNvSpPr txBox="1">
              <a:spLocks noChangeArrowheads="1"/>
            </p:cNvSpPr>
            <p:nvPr/>
          </p:nvSpPr>
          <p:spPr bwMode="auto">
            <a:xfrm rot="-5400000">
              <a:off x="1586" y="2198"/>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最小间隙</a:t>
              </a:r>
              <a:endParaRPr lang="zh-CN" altLang="en-US" b="1">
                <a:solidFill>
                  <a:srgbClr val="FF3300"/>
                </a:solidFill>
              </a:endParaRPr>
            </a:p>
          </p:txBody>
        </p:sp>
        <p:sp>
          <p:nvSpPr>
            <p:cNvPr id="27710" name="Freeform 36"/>
            <p:cNvSpPr/>
            <p:nvPr/>
          </p:nvSpPr>
          <p:spPr bwMode="auto">
            <a:xfrm>
              <a:off x="2138" y="2877"/>
              <a:ext cx="1" cy="127"/>
            </a:xfrm>
            <a:custGeom>
              <a:avLst/>
              <a:gdLst>
                <a:gd name="T0" fmla="*/ 0 w 1"/>
                <a:gd name="T1" fmla="*/ 0 h 127"/>
                <a:gd name="T2" fmla="*/ 0 w 1"/>
                <a:gd name="T3" fmla="*/ 127 h 127"/>
                <a:gd name="T4" fmla="*/ 0 60000 65536"/>
                <a:gd name="T5" fmla="*/ 0 60000 65536"/>
              </a:gdLst>
              <a:ahLst/>
              <a:cxnLst>
                <a:cxn ang="T4">
                  <a:pos x="T0" y="T1"/>
                </a:cxn>
                <a:cxn ang="T5">
                  <a:pos x="T2" y="T3"/>
                </a:cxn>
              </a:cxnLst>
              <a:rect l="0" t="0" r="r" b="b"/>
              <a:pathLst>
                <a:path w="1" h="127">
                  <a:moveTo>
                    <a:pt x="0" y="0"/>
                  </a:moveTo>
                  <a:lnTo>
                    <a:pt x="0" y="127"/>
                  </a:lnTo>
                </a:path>
              </a:pathLst>
            </a:custGeom>
            <a:noFill/>
            <a:ln w="19050" cap="flat" cmpd="sng">
              <a:solidFill>
                <a:srgbClr val="FF3300"/>
              </a:solidFill>
              <a:prstDash val="solid"/>
              <a:round/>
              <a:headEnd type="triangle" w="sm" len="lg"/>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11" name="Freeform 37"/>
            <p:cNvSpPr/>
            <p:nvPr/>
          </p:nvSpPr>
          <p:spPr bwMode="auto">
            <a:xfrm>
              <a:off x="1786" y="2843"/>
              <a:ext cx="384" cy="1"/>
            </a:xfrm>
            <a:custGeom>
              <a:avLst/>
              <a:gdLst>
                <a:gd name="T0" fmla="*/ 0 w 384"/>
                <a:gd name="T1" fmla="*/ 0 h 1"/>
                <a:gd name="T2" fmla="*/ 384 w 384"/>
                <a:gd name="T3" fmla="*/ 0 h 1"/>
                <a:gd name="T4" fmla="*/ 0 60000 65536"/>
                <a:gd name="T5" fmla="*/ 0 60000 65536"/>
              </a:gdLst>
              <a:ahLst/>
              <a:cxnLst>
                <a:cxn ang="T4">
                  <a:pos x="T0" y="T1"/>
                </a:cxn>
                <a:cxn ang="T5">
                  <a:pos x="T2" y="T3"/>
                </a:cxn>
              </a:cxnLst>
              <a:rect l="0" t="0" r="r" b="b"/>
              <a:pathLst>
                <a:path w="384" h="1">
                  <a:moveTo>
                    <a:pt x="0" y="0"/>
                  </a:moveTo>
                  <a:lnTo>
                    <a:pt x="384" y="0"/>
                  </a:lnTo>
                </a:path>
              </a:pathLst>
            </a:custGeom>
            <a:noFill/>
            <a:ln w="190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12" name="Freeform 38"/>
            <p:cNvSpPr/>
            <p:nvPr/>
          </p:nvSpPr>
          <p:spPr bwMode="auto">
            <a:xfrm>
              <a:off x="2080" y="2882"/>
              <a:ext cx="150" cy="1"/>
            </a:xfrm>
            <a:custGeom>
              <a:avLst/>
              <a:gdLst>
                <a:gd name="T0" fmla="*/ 150 w 150"/>
                <a:gd name="T1" fmla="*/ 1 h 1"/>
                <a:gd name="T2" fmla="*/ 0 w 150"/>
                <a:gd name="T3" fmla="*/ 0 h 1"/>
                <a:gd name="T4" fmla="*/ 0 60000 65536"/>
                <a:gd name="T5" fmla="*/ 0 60000 65536"/>
              </a:gdLst>
              <a:ahLst/>
              <a:cxnLst>
                <a:cxn ang="T4">
                  <a:pos x="T0" y="T1"/>
                </a:cxn>
                <a:cxn ang="T5">
                  <a:pos x="T2" y="T3"/>
                </a:cxn>
              </a:cxnLst>
              <a:rect l="0" t="0" r="r" b="b"/>
              <a:pathLst>
                <a:path w="150" h="1">
                  <a:moveTo>
                    <a:pt x="150" y="1"/>
                  </a:moveTo>
                  <a:lnTo>
                    <a:pt x="0" y="0"/>
                  </a:lnTo>
                </a:path>
              </a:pathLst>
            </a:custGeom>
            <a:noFill/>
            <a:ln w="190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13" name="Line 39"/>
            <p:cNvSpPr>
              <a:spLocks noChangeShapeType="1"/>
            </p:cNvSpPr>
            <p:nvPr/>
          </p:nvSpPr>
          <p:spPr bwMode="auto">
            <a:xfrm>
              <a:off x="2138" y="2843"/>
              <a:ext cx="0" cy="45"/>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14" name="Line 40"/>
            <p:cNvSpPr>
              <a:spLocks noChangeShapeType="1"/>
            </p:cNvSpPr>
            <p:nvPr/>
          </p:nvSpPr>
          <p:spPr bwMode="auto">
            <a:xfrm flipV="1">
              <a:off x="2144" y="1920"/>
              <a:ext cx="0" cy="935"/>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8713" name="Group 41"/>
          <p:cNvGrpSpPr/>
          <p:nvPr/>
        </p:nvGrpSpPr>
        <p:grpSpPr bwMode="auto">
          <a:xfrm>
            <a:off x="771525" y="2257425"/>
            <a:ext cx="2068513" cy="3316288"/>
            <a:chOff x="486" y="1439"/>
            <a:chExt cx="1303" cy="2089"/>
          </a:xfrm>
        </p:grpSpPr>
        <p:grpSp>
          <p:nvGrpSpPr>
            <p:cNvPr id="27682" name="Group 42"/>
            <p:cNvGrpSpPr/>
            <p:nvPr/>
          </p:nvGrpSpPr>
          <p:grpSpPr bwMode="auto">
            <a:xfrm>
              <a:off x="1136" y="2513"/>
              <a:ext cx="653" cy="1008"/>
              <a:chOff x="1136" y="2513"/>
              <a:chExt cx="653" cy="1008"/>
            </a:xfrm>
          </p:grpSpPr>
          <p:sp>
            <p:nvSpPr>
              <p:cNvPr id="27699" name="Line 43"/>
              <p:cNvSpPr>
                <a:spLocks noChangeShapeType="1"/>
              </p:cNvSpPr>
              <p:nvPr/>
            </p:nvSpPr>
            <p:spPr bwMode="auto">
              <a:xfrm flipV="1">
                <a:off x="1249" y="2513"/>
                <a:ext cx="153" cy="15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0" name="Line 44"/>
              <p:cNvSpPr>
                <a:spLocks noChangeShapeType="1"/>
              </p:cNvSpPr>
              <p:nvPr/>
            </p:nvSpPr>
            <p:spPr bwMode="auto">
              <a:xfrm flipV="1">
                <a:off x="1396" y="2513"/>
                <a:ext cx="153" cy="15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1" name="Line 45"/>
              <p:cNvSpPr>
                <a:spLocks noChangeShapeType="1"/>
              </p:cNvSpPr>
              <p:nvPr/>
            </p:nvSpPr>
            <p:spPr bwMode="auto">
              <a:xfrm flipV="1">
                <a:off x="1551" y="2513"/>
                <a:ext cx="144"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2" name="Freeform 46"/>
              <p:cNvSpPr/>
              <p:nvPr/>
            </p:nvSpPr>
            <p:spPr bwMode="auto">
              <a:xfrm>
                <a:off x="1136" y="2513"/>
                <a:ext cx="125" cy="125"/>
              </a:xfrm>
              <a:custGeom>
                <a:avLst/>
                <a:gdLst>
                  <a:gd name="T0" fmla="*/ 0 w 125"/>
                  <a:gd name="T1" fmla="*/ 125 h 125"/>
                  <a:gd name="T2" fmla="*/ 125 w 125"/>
                  <a:gd name="T3" fmla="*/ 0 h 125"/>
                  <a:gd name="T4" fmla="*/ 0 60000 65536"/>
                  <a:gd name="T5" fmla="*/ 0 60000 65536"/>
                </a:gdLst>
                <a:ahLst/>
                <a:cxnLst>
                  <a:cxn ang="T4">
                    <a:pos x="T0" y="T1"/>
                  </a:cxn>
                  <a:cxn ang="T5">
                    <a:pos x="T2" y="T3"/>
                  </a:cxn>
                </a:cxnLst>
                <a:rect l="0" t="0" r="r" b="b"/>
                <a:pathLst>
                  <a:path w="125" h="125">
                    <a:moveTo>
                      <a:pt x="0" y="125"/>
                    </a:moveTo>
                    <a:lnTo>
                      <a:pt x="125"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3" name="Line 47"/>
              <p:cNvSpPr>
                <a:spLocks noChangeShapeType="1"/>
              </p:cNvSpPr>
              <p:nvPr/>
            </p:nvSpPr>
            <p:spPr bwMode="auto">
              <a:xfrm flipV="1">
                <a:off x="1684" y="2561"/>
                <a:ext cx="105" cy="10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4" name="Freeform 48"/>
              <p:cNvSpPr/>
              <p:nvPr/>
            </p:nvSpPr>
            <p:spPr bwMode="auto">
              <a:xfrm>
                <a:off x="1136" y="3355"/>
                <a:ext cx="106" cy="107"/>
              </a:xfrm>
              <a:custGeom>
                <a:avLst/>
                <a:gdLst>
                  <a:gd name="T0" fmla="*/ 0 w 106"/>
                  <a:gd name="T1" fmla="*/ 107 h 107"/>
                  <a:gd name="T2" fmla="*/ 106 w 106"/>
                  <a:gd name="T3" fmla="*/ 0 h 107"/>
                  <a:gd name="T4" fmla="*/ 0 60000 65536"/>
                  <a:gd name="T5" fmla="*/ 0 60000 65536"/>
                </a:gdLst>
                <a:ahLst/>
                <a:cxnLst>
                  <a:cxn ang="T4">
                    <a:pos x="T0" y="T1"/>
                  </a:cxn>
                  <a:cxn ang="T5">
                    <a:pos x="T2" y="T3"/>
                  </a:cxn>
                </a:cxnLst>
                <a:rect l="0" t="0" r="r" b="b"/>
                <a:pathLst>
                  <a:path w="106" h="107">
                    <a:moveTo>
                      <a:pt x="0" y="107"/>
                    </a:moveTo>
                    <a:lnTo>
                      <a:pt x="106"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5" name="Line 49"/>
              <p:cNvSpPr>
                <a:spLocks noChangeShapeType="1"/>
              </p:cNvSpPr>
              <p:nvPr/>
            </p:nvSpPr>
            <p:spPr bwMode="auto">
              <a:xfrm flipV="1">
                <a:off x="1210" y="3358"/>
                <a:ext cx="163" cy="1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6" name="Freeform 50"/>
              <p:cNvSpPr/>
              <p:nvPr/>
            </p:nvSpPr>
            <p:spPr bwMode="auto">
              <a:xfrm>
                <a:off x="1345" y="3358"/>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7" name="Freeform 51"/>
              <p:cNvSpPr/>
              <p:nvPr/>
            </p:nvSpPr>
            <p:spPr bwMode="auto">
              <a:xfrm>
                <a:off x="1482" y="3355"/>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8" name="Freeform 52"/>
              <p:cNvSpPr/>
              <p:nvPr/>
            </p:nvSpPr>
            <p:spPr bwMode="auto">
              <a:xfrm>
                <a:off x="1626" y="3355"/>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7683" name="Group 53"/>
            <p:cNvGrpSpPr/>
            <p:nvPr/>
          </p:nvGrpSpPr>
          <p:grpSpPr bwMode="auto">
            <a:xfrm>
              <a:off x="486" y="1439"/>
              <a:ext cx="1301" cy="2089"/>
              <a:chOff x="486" y="1439"/>
              <a:chExt cx="1301" cy="2089"/>
            </a:xfrm>
          </p:grpSpPr>
          <p:sp>
            <p:nvSpPr>
              <p:cNvPr id="27684" name="Freeform 54"/>
              <p:cNvSpPr/>
              <p:nvPr/>
            </p:nvSpPr>
            <p:spPr bwMode="auto">
              <a:xfrm>
                <a:off x="1133" y="2668"/>
                <a:ext cx="651" cy="178"/>
              </a:xfrm>
              <a:custGeom>
                <a:avLst/>
                <a:gdLst>
                  <a:gd name="T0" fmla="*/ 0 w 643"/>
                  <a:gd name="T1" fmla="*/ 0 h 106"/>
                  <a:gd name="T2" fmla="*/ 651 w 643"/>
                  <a:gd name="T3" fmla="*/ 0 h 106"/>
                  <a:gd name="T4" fmla="*/ 651 w 643"/>
                  <a:gd name="T5" fmla="*/ 178 h 106"/>
                  <a:gd name="T6" fmla="*/ 0 w 643"/>
                  <a:gd name="T7" fmla="*/ 178 h 106"/>
                  <a:gd name="T8" fmla="*/ 0 w 643"/>
                  <a:gd name="T9" fmla="*/ 0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3" h="106">
                    <a:moveTo>
                      <a:pt x="0" y="0"/>
                    </a:moveTo>
                    <a:lnTo>
                      <a:pt x="643" y="0"/>
                    </a:lnTo>
                    <a:lnTo>
                      <a:pt x="643" y="106"/>
                    </a:lnTo>
                    <a:lnTo>
                      <a:pt x="0" y="106"/>
                    </a:lnTo>
                    <a:lnTo>
                      <a:pt x="0" y="0"/>
                    </a:lnTo>
                    <a:close/>
                  </a:path>
                </a:pathLst>
              </a:custGeom>
              <a:solidFill>
                <a:srgbClr val="FF66FF"/>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5" name="Freeform 55"/>
              <p:cNvSpPr/>
              <p:nvPr/>
            </p:nvSpPr>
            <p:spPr bwMode="auto">
              <a:xfrm>
                <a:off x="964" y="2846"/>
                <a:ext cx="172" cy="1"/>
              </a:xfrm>
              <a:custGeom>
                <a:avLst/>
                <a:gdLst>
                  <a:gd name="T0" fmla="*/ 172 w 172"/>
                  <a:gd name="T1" fmla="*/ 0 h 1"/>
                  <a:gd name="T2" fmla="*/ 0 w 172"/>
                  <a:gd name="T3" fmla="*/ 0 h 1"/>
                  <a:gd name="T4" fmla="*/ 0 60000 65536"/>
                  <a:gd name="T5" fmla="*/ 0 60000 65536"/>
                </a:gdLst>
                <a:ahLst/>
                <a:cxnLst>
                  <a:cxn ang="T4">
                    <a:pos x="T0" y="T1"/>
                  </a:cxn>
                  <a:cxn ang="T5">
                    <a:pos x="T2" y="T3"/>
                  </a:cxn>
                </a:cxnLst>
                <a:rect l="0" t="0" r="r" b="b"/>
                <a:pathLst>
                  <a:path w="172" h="1">
                    <a:moveTo>
                      <a:pt x="172" y="0"/>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6" name="Freeform 56"/>
              <p:cNvSpPr/>
              <p:nvPr/>
            </p:nvSpPr>
            <p:spPr bwMode="auto">
              <a:xfrm>
                <a:off x="714" y="3345"/>
                <a:ext cx="422" cy="1"/>
              </a:xfrm>
              <a:custGeom>
                <a:avLst/>
                <a:gdLst>
                  <a:gd name="T0" fmla="*/ 422 w 422"/>
                  <a:gd name="T1" fmla="*/ 0 h 1"/>
                  <a:gd name="T2" fmla="*/ 0 w 422"/>
                  <a:gd name="T3" fmla="*/ 0 h 1"/>
                  <a:gd name="T4" fmla="*/ 0 60000 65536"/>
                  <a:gd name="T5" fmla="*/ 0 60000 65536"/>
                </a:gdLst>
                <a:ahLst/>
                <a:cxnLst>
                  <a:cxn ang="T4">
                    <a:pos x="T0" y="T1"/>
                  </a:cxn>
                  <a:cxn ang="T5">
                    <a:pos x="T2" y="T3"/>
                  </a:cxn>
                </a:cxnLst>
                <a:rect l="0" t="0" r="r" b="b"/>
                <a:pathLst>
                  <a:path w="422" h="1">
                    <a:moveTo>
                      <a:pt x="422" y="0"/>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7" name="Freeform 57"/>
              <p:cNvSpPr/>
              <p:nvPr/>
            </p:nvSpPr>
            <p:spPr bwMode="auto">
              <a:xfrm>
                <a:off x="724" y="2663"/>
                <a:ext cx="412" cy="1"/>
              </a:xfrm>
              <a:custGeom>
                <a:avLst/>
                <a:gdLst>
                  <a:gd name="T0" fmla="*/ 412 w 412"/>
                  <a:gd name="T1" fmla="*/ 1 h 1"/>
                  <a:gd name="T2" fmla="*/ 0 w 412"/>
                  <a:gd name="T3" fmla="*/ 0 h 1"/>
                  <a:gd name="T4" fmla="*/ 0 60000 65536"/>
                  <a:gd name="T5" fmla="*/ 0 60000 65536"/>
                </a:gdLst>
                <a:ahLst/>
                <a:cxnLst>
                  <a:cxn ang="T4">
                    <a:pos x="T0" y="T1"/>
                  </a:cxn>
                  <a:cxn ang="T5">
                    <a:pos x="T2" y="T3"/>
                  </a:cxn>
                </a:cxnLst>
                <a:rect l="0" t="0" r="r" b="b"/>
                <a:pathLst>
                  <a:path w="412" h="1">
                    <a:moveTo>
                      <a:pt x="412" y="1"/>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8" name="Freeform 58"/>
              <p:cNvSpPr/>
              <p:nvPr/>
            </p:nvSpPr>
            <p:spPr bwMode="auto">
              <a:xfrm>
                <a:off x="989" y="2803"/>
                <a:ext cx="1" cy="555"/>
              </a:xfrm>
              <a:custGeom>
                <a:avLst/>
                <a:gdLst>
                  <a:gd name="T0" fmla="*/ 0 w 1"/>
                  <a:gd name="T1" fmla="*/ 0 h 555"/>
                  <a:gd name="T2" fmla="*/ 0 w 1"/>
                  <a:gd name="T3" fmla="*/ 555 h 555"/>
                  <a:gd name="T4" fmla="*/ 0 60000 65536"/>
                  <a:gd name="T5" fmla="*/ 0 60000 65536"/>
                </a:gdLst>
                <a:ahLst/>
                <a:cxnLst>
                  <a:cxn ang="T4">
                    <a:pos x="T0" y="T1"/>
                  </a:cxn>
                  <a:cxn ang="T5">
                    <a:pos x="T2" y="T3"/>
                  </a:cxn>
                </a:cxnLst>
                <a:rect l="0" t="0" r="r" b="b"/>
                <a:pathLst>
                  <a:path w="1" h="555">
                    <a:moveTo>
                      <a:pt x="0" y="0"/>
                    </a:moveTo>
                    <a:lnTo>
                      <a:pt x="0" y="555"/>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9" name="Freeform 59"/>
              <p:cNvSpPr/>
              <p:nvPr/>
            </p:nvSpPr>
            <p:spPr bwMode="auto">
              <a:xfrm flipH="1">
                <a:off x="717" y="2659"/>
                <a:ext cx="47" cy="699"/>
              </a:xfrm>
              <a:custGeom>
                <a:avLst/>
                <a:gdLst>
                  <a:gd name="T0" fmla="*/ 0 w 1"/>
                  <a:gd name="T1" fmla="*/ 0 h 645"/>
                  <a:gd name="T2" fmla="*/ 0 w 1"/>
                  <a:gd name="T3" fmla="*/ 699 h 645"/>
                  <a:gd name="T4" fmla="*/ 0 60000 65536"/>
                  <a:gd name="T5" fmla="*/ 0 60000 65536"/>
                </a:gdLst>
                <a:ahLst/>
                <a:cxnLst>
                  <a:cxn ang="T4">
                    <a:pos x="T0" y="T1"/>
                  </a:cxn>
                  <a:cxn ang="T5">
                    <a:pos x="T2" y="T3"/>
                  </a:cxn>
                </a:cxnLst>
                <a:rect l="0" t="0" r="r" b="b"/>
                <a:pathLst>
                  <a:path w="1" h="645">
                    <a:moveTo>
                      <a:pt x="0" y="0"/>
                    </a:moveTo>
                    <a:lnTo>
                      <a:pt x="0" y="645"/>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0" name="Text Box 60"/>
              <p:cNvSpPr txBox="1">
                <a:spLocks noChangeArrowheads="1"/>
              </p:cNvSpPr>
              <p:nvPr/>
            </p:nvSpPr>
            <p:spPr bwMode="auto">
              <a:xfrm rot="-5400000">
                <a:off x="-7" y="1932"/>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最大极限尺寸</a:t>
                </a:r>
                <a:endParaRPr lang="zh-CN" altLang="en-US" b="1"/>
              </a:p>
            </p:txBody>
          </p:sp>
          <p:sp>
            <p:nvSpPr>
              <p:cNvPr id="27691" name="Freeform 61"/>
              <p:cNvSpPr/>
              <p:nvPr/>
            </p:nvSpPr>
            <p:spPr bwMode="auto">
              <a:xfrm>
                <a:off x="989" y="1585"/>
                <a:ext cx="1" cy="1245"/>
              </a:xfrm>
              <a:custGeom>
                <a:avLst/>
                <a:gdLst>
                  <a:gd name="T0" fmla="*/ 0 w 1"/>
                  <a:gd name="T1" fmla="*/ 1245 h 1245"/>
                  <a:gd name="T2" fmla="*/ 0 w 1"/>
                  <a:gd name="T3" fmla="*/ 0 h 1245"/>
                  <a:gd name="T4" fmla="*/ 0 60000 65536"/>
                  <a:gd name="T5" fmla="*/ 0 60000 65536"/>
                </a:gdLst>
                <a:ahLst/>
                <a:cxnLst>
                  <a:cxn ang="T4">
                    <a:pos x="T0" y="T1"/>
                  </a:cxn>
                  <a:cxn ang="T5">
                    <a:pos x="T2" y="T3"/>
                  </a:cxn>
                </a:cxnLst>
                <a:rect l="0" t="0" r="r" b="b"/>
                <a:pathLst>
                  <a:path w="1" h="1245">
                    <a:moveTo>
                      <a:pt x="0" y="1245"/>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2" name="Line 62"/>
              <p:cNvSpPr>
                <a:spLocks noChangeShapeType="1"/>
              </p:cNvSpPr>
              <p:nvPr/>
            </p:nvSpPr>
            <p:spPr bwMode="auto">
              <a:xfrm>
                <a:off x="1787" y="2533"/>
                <a:ext cx="0" cy="97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3" name="Line 63"/>
              <p:cNvSpPr>
                <a:spLocks noChangeShapeType="1"/>
              </p:cNvSpPr>
              <p:nvPr/>
            </p:nvSpPr>
            <p:spPr bwMode="auto">
              <a:xfrm>
                <a:off x="1137" y="2846"/>
                <a:ext cx="65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4" name="Line 64"/>
              <p:cNvSpPr>
                <a:spLocks noChangeShapeType="1"/>
              </p:cNvSpPr>
              <p:nvPr/>
            </p:nvSpPr>
            <p:spPr bwMode="auto">
              <a:xfrm>
                <a:off x="1136" y="3355"/>
                <a:ext cx="6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5" name="Line 65"/>
              <p:cNvSpPr>
                <a:spLocks noChangeShapeType="1"/>
              </p:cNvSpPr>
              <p:nvPr/>
            </p:nvSpPr>
            <p:spPr bwMode="auto">
              <a:xfrm>
                <a:off x="1136" y="2662"/>
                <a:ext cx="6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6" name="Text Box 66"/>
              <p:cNvSpPr txBox="1">
                <a:spLocks noChangeArrowheads="1"/>
              </p:cNvSpPr>
              <p:nvPr/>
            </p:nvSpPr>
            <p:spPr bwMode="auto">
              <a:xfrm rot="-5400000">
                <a:off x="222" y="1943"/>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最小极限尺寸</a:t>
                </a:r>
                <a:endParaRPr lang="zh-CN" altLang="en-US" b="1"/>
              </a:p>
            </p:txBody>
          </p:sp>
          <p:sp>
            <p:nvSpPr>
              <p:cNvPr id="27697" name="Freeform 67"/>
              <p:cNvSpPr/>
              <p:nvPr/>
            </p:nvSpPr>
            <p:spPr bwMode="auto">
              <a:xfrm>
                <a:off x="764" y="1563"/>
                <a:ext cx="1" cy="1177"/>
              </a:xfrm>
              <a:custGeom>
                <a:avLst/>
                <a:gdLst>
                  <a:gd name="T0" fmla="*/ 0 w 1"/>
                  <a:gd name="T1" fmla="*/ 1177 h 1177"/>
                  <a:gd name="T2" fmla="*/ 0 w 1"/>
                  <a:gd name="T3" fmla="*/ 0 h 1177"/>
                  <a:gd name="T4" fmla="*/ 0 60000 65536"/>
                  <a:gd name="T5" fmla="*/ 0 60000 65536"/>
                </a:gdLst>
                <a:ahLst/>
                <a:cxnLst>
                  <a:cxn ang="T4">
                    <a:pos x="T0" y="T1"/>
                  </a:cxn>
                  <a:cxn ang="T5">
                    <a:pos x="T2" y="T3"/>
                  </a:cxn>
                </a:cxnLst>
                <a:rect l="0" t="0" r="r" b="b"/>
                <a:pathLst>
                  <a:path w="1" h="1177">
                    <a:moveTo>
                      <a:pt x="0" y="1177"/>
                    </a:moveTo>
                    <a:lnTo>
                      <a:pt x="0"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8" name="Line 68"/>
              <p:cNvSpPr>
                <a:spLocks noChangeShapeType="1"/>
              </p:cNvSpPr>
              <p:nvPr/>
            </p:nvSpPr>
            <p:spPr bwMode="auto">
              <a:xfrm flipV="1">
                <a:off x="1128" y="2496"/>
                <a:ext cx="0" cy="10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8741" name="Group 69"/>
          <p:cNvGrpSpPr/>
          <p:nvPr/>
        </p:nvGrpSpPr>
        <p:grpSpPr bwMode="auto">
          <a:xfrm>
            <a:off x="5414963" y="3265488"/>
            <a:ext cx="2024062" cy="2092325"/>
            <a:chOff x="3411" y="2066"/>
            <a:chExt cx="1275" cy="1318"/>
          </a:xfrm>
        </p:grpSpPr>
        <p:sp>
          <p:nvSpPr>
            <p:cNvPr id="27669" name="Rectangle 70"/>
            <p:cNvSpPr>
              <a:spLocks noChangeArrowheads="1"/>
            </p:cNvSpPr>
            <p:nvPr/>
          </p:nvSpPr>
          <p:spPr bwMode="auto">
            <a:xfrm>
              <a:off x="3853" y="2893"/>
              <a:ext cx="523" cy="176"/>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670" name="Rectangle 71"/>
            <p:cNvSpPr>
              <a:spLocks noChangeArrowheads="1"/>
            </p:cNvSpPr>
            <p:nvPr/>
          </p:nvSpPr>
          <p:spPr bwMode="auto">
            <a:xfrm>
              <a:off x="3853" y="3197"/>
              <a:ext cx="523" cy="176"/>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671" name="Line 72"/>
            <p:cNvSpPr>
              <a:spLocks noChangeShapeType="1"/>
            </p:cNvSpPr>
            <p:nvPr/>
          </p:nvSpPr>
          <p:spPr bwMode="auto">
            <a:xfrm flipH="1" flipV="1">
              <a:off x="3642" y="2899"/>
              <a:ext cx="211"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2" name="Line 73"/>
            <p:cNvSpPr>
              <a:spLocks noChangeShapeType="1"/>
            </p:cNvSpPr>
            <p:nvPr/>
          </p:nvSpPr>
          <p:spPr bwMode="auto">
            <a:xfrm flipH="1">
              <a:off x="3642" y="3373"/>
              <a:ext cx="211"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3" name="Freeform 74"/>
            <p:cNvSpPr/>
            <p:nvPr/>
          </p:nvSpPr>
          <p:spPr bwMode="auto">
            <a:xfrm>
              <a:off x="3672" y="2886"/>
              <a:ext cx="1" cy="498"/>
            </a:xfrm>
            <a:custGeom>
              <a:avLst/>
              <a:gdLst>
                <a:gd name="T0" fmla="*/ 0 w 1"/>
                <a:gd name="T1" fmla="*/ 498 h 498"/>
                <a:gd name="T2" fmla="*/ 0 w 1"/>
                <a:gd name="T3" fmla="*/ 0 h 498"/>
                <a:gd name="T4" fmla="*/ 0 60000 65536"/>
                <a:gd name="T5" fmla="*/ 0 60000 65536"/>
              </a:gdLst>
              <a:ahLst/>
              <a:cxnLst>
                <a:cxn ang="T4">
                  <a:pos x="T0" y="T1"/>
                </a:cxn>
                <a:cxn ang="T5">
                  <a:pos x="T2" y="T3"/>
                </a:cxn>
              </a:cxnLst>
              <a:rect l="0" t="0" r="r" b="b"/>
              <a:pathLst>
                <a:path w="1" h="498">
                  <a:moveTo>
                    <a:pt x="0" y="498"/>
                  </a:moveTo>
                  <a:lnTo>
                    <a:pt x="0" y="0"/>
                  </a:lnTo>
                </a:path>
              </a:pathLst>
            </a:custGeom>
            <a:noFill/>
            <a:ln w="19050" cap="flat" cmpd="sng">
              <a:solidFill>
                <a:schemeClr val="accent2"/>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4" name="Text Box 75"/>
            <p:cNvSpPr txBox="1">
              <a:spLocks noChangeArrowheads="1"/>
            </p:cNvSpPr>
            <p:nvPr/>
          </p:nvSpPr>
          <p:spPr bwMode="auto">
            <a:xfrm rot="-5400000">
              <a:off x="3111" y="2366"/>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chemeClr val="accent2"/>
                  </a:solidFill>
                </a:rPr>
                <a:t>最大间隙</a:t>
              </a:r>
              <a:endParaRPr lang="zh-CN" altLang="en-US" b="1">
                <a:solidFill>
                  <a:schemeClr val="accent2"/>
                </a:solidFill>
              </a:endParaRPr>
            </a:p>
          </p:txBody>
        </p:sp>
        <p:sp>
          <p:nvSpPr>
            <p:cNvPr id="27675" name="Line 76"/>
            <p:cNvSpPr>
              <a:spLocks noChangeShapeType="1"/>
            </p:cNvSpPr>
            <p:nvPr/>
          </p:nvSpPr>
          <p:spPr bwMode="auto">
            <a:xfrm flipV="1">
              <a:off x="3671" y="2176"/>
              <a:ext cx="0" cy="807"/>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6" name="Text Box 77"/>
            <p:cNvSpPr txBox="1">
              <a:spLocks noChangeArrowheads="1"/>
            </p:cNvSpPr>
            <p:nvPr/>
          </p:nvSpPr>
          <p:spPr bwMode="auto">
            <a:xfrm rot="-5400000">
              <a:off x="4077" y="2485"/>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最小间隙</a:t>
              </a:r>
              <a:endParaRPr lang="zh-CN" altLang="en-US" b="1">
                <a:solidFill>
                  <a:srgbClr val="FF3300"/>
                </a:solidFill>
              </a:endParaRPr>
            </a:p>
          </p:txBody>
        </p:sp>
        <p:sp>
          <p:nvSpPr>
            <p:cNvPr id="27677" name="Line 78"/>
            <p:cNvSpPr>
              <a:spLocks noChangeShapeType="1"/>
            </p:cNvSpPr>
            <p:nvPr/>
          </p:nvSpPr>
          <p:spPr bwMode="auto">
            <a:xfrm>
              <a:off x="4376" y="3197"/>
              <a:ext cx="30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8" name="Line 79"/>
            <p:cNvSpPr>
              <a:spLocks noChangeShapeType="1"/>
            </p:cNvSpPr>
            <p:nvPr/>
          </p:nvSpPr>
          <p:spPr bwMode="auto">
            <a:xfrm>
              <a:off x="4650" y="3075"/>
              <a:ext cx="0" cy="12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9" name="Line 80"/>
            <p:cNvSpPr>
              <a:spLocks noChangeShapeType="1"/>
            </p:cNvSpPr>
            <p:nvPr/>
          </p:nvSpPr>
          <p:spPr bwMode="auto">
            <a:xfrm>
              <a:off x="4650" y="3183"/>
              <a:ext cx="0" cy="158"/>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0" name="Line 81"/>
            <p:cNvSpPr>
              <a:spLocks noChangeShapeType="1"/>
            </p:cNvSpPr>
            <p:nvPr/>
          </p:nvSpPr>
          <p:spPr bwMode="auto">
            <a:xfrm flipV="1">
              <a:off x="4650" y="2201"/>
              <a:ext cx="0" cy="883"/>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1" name="Line 82"/>
            <p:cNvSpPr>
              <a:spLocks noChangeShapeType="1"/>
            </p:cNvSpPr>
            <p:nvPr/>
          </p:nvSpPr>
          <p:spPr bwMode="auto">
            <a:xfrm>
              <a:off x="4368" y="3072"/>
              <a:ext cx="318" cy="0"/>
            </a:xfrm>
            <a:prstGeom prst="line">
              <a:avLst/>
            </a:prstGeom>
            <a:noFill/>
            <a:ln w="190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755" name="Group 83"/>
          <p:cNvGrpSpPr/>
          <p:nvPr/>
        </p:nvGrpSpPr>
        <p:grpSpPr bwMode="auto">
          <a:xfrm>
            <a:off x="5657850" y="1790700"/>
            <a:ext cx="2900363" cy="1028700"/>
            <a:chOff x="3564" y="1092"/>
            <a:chExt cx="1827" cy="648"/>
          </a:xfrm>
        </p:grpSpPr>
        <p:sp>
          <p:nvSpPr>
            <p:cNvPr id="27667" name="AutoShape 84"/>
            <p:cNvSpPr>
              <a:spLocks noChangeArrowheads="1"/>
            </p:cNvSpPr>
            <p:nvPr/>
          </p:nvSpPr>
          <p:spPr bwMode="auto">
            <a:xfrm>
              <a:off x="3564" y="1092"/>
              <a:ext cx="1788" cy="648"/>
            </a:xfrm>
            <a:prstGeom prst="wedgeRoundRectCallout">
              <a:avLst>
                <a:gd name="adj1" fmla="val -17116"/>
                <a:gd name="adj2" fmla="val 141514"/>
                <a:gd name="adj3" fmla="val 16667"/>
              </a:avLst>
            </a:prstGeom>
            <a:gradFill rotWithShape="0">
              <a:gsLst>
                <a:gs pos="0">
                  <a:srgbClr val="FFFFFF"/>
                </a:gs>
                <a:gs pos="100000">
                  <a:srgbClr val="33CCCC"/>
                </a:gs>
              </a:gsLst>
              <a:path path="rect">
                <a:fillToRect l="50000" t="50000" r="50000" b="50000"/>
              </a:path>
            </a:gra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a:p>
          </p:txBody>
        </p:sp>
        <p:sp>
          <p:nvSpPr>
            <p:cNvPr id="27668" name="Text Box 85"/>
            <p:cNvSpPr txBox="1">
              <a:spLocks noChangeArrowheads="1"/>
            </p:cNvSpPr>
            <p:nvPr/>
          </p:nvSpPr>
          <p:spPr bwMode="auto">
            <a:xfrm>
              <a:off x="3674" y="1120"/>
              <a:ext cx="1717"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chemeClr val="accent2"/>
                  </a:solidFill>
                </a:rPr>
                <a:t>孔的公差带在轴的公差带之上</a:t>
              </a:r>
              <a:endParaRPr lang="zh-CN" altLang="en-US">
                <a:solidFill>
                  <a:schemeClr val="accent2"/>
                </a:solidFill>
              </a:endParaRPr>
            </a:p>
          </p:txBody>
        </p:sp>
      </p:grpSp>
      <p:sp>
        <p:nvSpPr>
          <p:cNvPr id="28758" name="Text Box 86"/>
          <p:cNvSpPr txBox="1">
            <a:spLocks noChangeArrowheads="1"/>
          </p:cNvSpPr>
          <p:nvPr/>
        </p:nvSpPr>
        <p:spPr bwMode="auto">
          <a:xfrm>
            <a:off x="1870075" y="5645150"/>
            <a:ext cx="27130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rPr>
              <a:t>间隙配合示意图</a:t>
            </a:r>
            <a:endParaRPr lang="zh-CN" altLang="en-US">
              <a:solidFill>
                <a:srgbClr val="FF3300"/>
              </a:solidFill>
            </a:endParaRPr>
          </a:p>
        </p:txBody>
      </p:sp>
      <p:grpSp>
        <p:nvGrpSpPr>
          <p:cNvPr id="28759" name="Group 87"/>
          <p:cNvGrpSpPr/>
          <p:nvPr/>
        </p:nvGrpSpPr>
        <p:grpSpPr bwMode="auto">
          <a:xfrm>
            <a:off x="7621588" y="2679700"/>
            <a:ext cx="1116012" cy="2628900"/>
            <a:chOff x="4801" y="1705"/>
            <a:chExt cx="703" cy="1656"/>
          </a:xfrm>
        </p:grpSpPr>
        <p:sp>
          <p:nvSpPr>
            <p:cNvPr id="27663" name="Rectangle 88"/>
            <p:cNvSpPr>
              <a:spLocks noChangeArrowheads="1"/>
            </p:cNvSpPr>
            <p:nvPr/>
          </p:nvSpPr>
          <p:spPr bwMode="auto">
            <a:xfrm>
              <a:off x="4801" y="3013"/>
              <a:ext cx="523" cy="176"/>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664" name="Rectangle 89"/>
            <p:cNvSpPr>
              <a:spLocks noChangeArrowheads="1"/>
            </p:cNvSpPr>
            <p:nvPr/>
          </p:nvSpPr>
          <p:spPr bwMode="auto">
            <a:xfrm>
              <a:off x="4801" y="3185"/>
              <a:ext cx="523" cy="176"/>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665" name="Text Box 90"/>
            <p:cNvSpPr txBox="1">
              <a:spLocks noChangeArrowheads="1"/>
            </p:cNvSpPr>
            <p:nvPr/>
          </p:nvSpPr>
          <p:spPr bwMode="auto">
            <a:xfrm rot="-5400000">
              <a:off x="4723" y="2198"/>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最小间隙是零</a:t>
              </a:r>
              <a:endParaRPr lang="zh-CN" altLang="en-US" b="1">
                <a:solidFill>
                  <a:srgbClr val="FF3300"/>
                </a:solidFill>
              </a:endParaRPr>
            </a:p>
          </p:txBody>
        </p:sp>
        <p:sp>
          <p:nvSpPr>
            <p:cNvPr id="27666" name="Line 91"/>
            <p:cNvSpPr>
              <a:spLocks noChangeShapeType="1"/>
            </p:cNvSpPr>
            <p:nvPr/>
          </p:nvSpPr>
          <p:spPr bwMode="auto">
            <a:xfrm flipV="1">
              <a:off x="5322" y="2922"/>
              <a:ext cx="108" cy="252"/>
            </a:xfrm>
            <a:prstGeom prst="line">
              <a:avLst/>
            </a:prstGeom>
            <a:noFill/>
            <a:ln w="19050">
              <a:solidFill>
                <a:srgbClr val="FF66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type="lt">
                                    <p:tmPct val="100000"/>
                                  </p:iterate>
                                  <p:childTnLst>
                                    <p:set>
                                      <p:cBhvr>
                                        <p:cTn id="6" dur="1" fill="hold">
                                          <p:stCondLst>
                                            <p:cond delay="0"/>
                                          </p:stCondLst>
                                        </p:cTn>
                                        <p:tgtEl>
                                          <p:spTgt spid="28675"/>
                                        </p:tgtEl>
                                        <p:attrNameLst>
                                          <p:attrName>style.visibility</p:attrName>
                                        </p:attrNameLst>
                                      </p:cBhvr>
                                      <p:to>
                                        <p:strVal val="visible"/>
                                      </p:to>
                                    </p:set>
                                    <p:animEffect transition="in" filter="blinds(horizontal)">
                                      <p:cBhvr>
                                        <p:cTn id="7" dur="75"/>
                                        <p:tgtEl>
                                          <p:spTgt spid="286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0"/>
                                  </p:iterate>
                                  <p:childTnLst>
                                    <p:set>
                                      <p:cBhvr>
                                        <p:cTn id="11" dur="1" fill="hold">
                                          <p:stCondLst>
                                            <p:cond delay="0"/>
                                          </p:stCondLst>
                                        </p:cTn>
                                        <p:tgtEl>
                                          <p:spTgt spid="28676"/>
                                        </p:tgtEl>
                                        <p:attrNameLst>
                                          <p:attrName>style.visibility</p:attrName>
                                        </p:attrNameLst>
                                      </p:cBhvr>
                                      <p:to>
                                        <p:strVal val="visible"/>
                                      </p:to>
                                    </p:set>
                                    <p:animEffect transition="in" filter="blinds(horizontal)">
                                      <p:cBhvr>
                                        <p:cTn id="12" dur="75"/>
                                        <p:tgtEl>
                                          <p:spTgt spid="286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8713"/>
                                        </p:tgtEl>
                                        <p:attrNameLst>
                                          <p:attrName>style.visibility</p:attrName>
                                        </p:attrNameLst>
                                      </p:cBhvr>
                                      <p:to>
                                        <p:strVal val="visible"/>
                                      </p:to>
                                    </p:set>
                                    <p:animEffect transition="in" filter="wipe(down)">
                                      <p:cBhvr>
                                        <p:cTn id="17" dur="500"/>
                                        <p:tgtEl>
                                          <p:spTgt spid="287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8683"/>
                                        </p:tgtEl>
                                        <p:attrNameLst>
                                          <p:attrName>style.visibility</p:attrName>
                                        </p:attrNameLst>
                                      </p:cBhvr>
                                      <p:to>
                                        <p:strVal val="visible"/>
                                      </p:to>
                                    </p:set>
                                    <p:animEffect transition="in" filter="wipe(down)">
                                      <p:cBhvr>
                                        <p:cTn id="22" dur="500"/>
                                        <p:tgtEl>
                                          <p:spTgt spid="2868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28677"/>
                                        </p:tgtEl>
                                        <p:attrNameLst>
                                          <p:attrName>style.visibility</p:attrName>
                                        </p:attrNameLst>
                                      </p:cBhvr>
                                      <p:to>
                                        <p:strVal val="visible"/>
                                      </p:to>
                                    </p:set>
                                    <p:animEffect transition="in" filter="slide(fromLeft)">
                                      <p:cBhvr>
                                        <p:cTn id="27" dur="500"/>
                                        <p:tgtEl>
                                          <p:spTgt spid="28677"/>
                                        </p:tgtEl>
                                      </p:cBhvr>
                                    </p:animEffect>
                                  </p:childTnLst>
                                </p:cTn>
                              </p:par>
                            </p:childTnLst>
                          </p:cTn>
                        </p:par>
                        <p:par>
                          <p:cTn id="28" fill="hold">
                            <p:stCondLst>
                              <p:cond delay="500"/>
                            </p:stCondLst>
                            <p:childTnLst>
                              <p:par>
                                <p:cTn id="29" presetID="12" presetClass="entr" presetSubtype="8" fill="hold" nodeType="afterEffect">
                                  <p:stCondLst>
                                    <p:cond delay="0"/>
                                  </p:stCondLst>
                                  <p:childTnLst>
                                    <p:set>
                                      <p:cBhvr>
                                        <p:cTn id="30" dur="1" fill="hold">
                                          <p:stCondLst>
                                            <p:cond delay="0"/>
                                          </p:stCondLst>
                                        </p:cTn>
                                        <p:tgtEl>
                                          <p:spTgt spid="28680"/>
                                        </p:tgtEl>
                                        <p:attrNameLst>
                                          <p:attrName>style.visibility</p:attrName>
                                        </p:attrNameLst>
                                      </p:cBhvr>
                                      <p:to>
                                        <p:strVal val="visible"/>
                                      </p:to>
                                    </p:set>
                                    <p:animEffect transition="in" filter="slide(fromLeft)">
                                      <p:cBhvr>
                                        <p:cTn id="31" dur="500"/>
                                        <p:tgtEl>
                                          <p:spTgt spid="2868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8699"/>
                                        </p:tgtEl>
                                        <p:attrNameLst>
                                          <p:attrName>style.visibility</p:attrName>
                                        </p:attrNameLst>
                                      </p:cBhvr>
                                      <p:to>
                                        <p:strVal val="visible"/>
                                      </p:to>
                                    </p:set>
                                    <p:animEffect transition="in" filter="wipe(down)">
                                      <p:cBhvr>
                                        <p:cTn id="36" dur="500"/>
                                        <p:tgtEl>
                                          <p:spTgt spid="2869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8706"/>
                                        </p:tgtEl>
                                        <p:attrNameLst>
                                          <p:attrName>style.visibility</p:attrName>
                                        </p:attrNameLst>
                                      </p:cBhvr>
                                      <p:to>
                                        <p:strVal val="visible"/>
                                      </p:to>
                                    </p:set>
                                    <p:animEffect transition="in" filter="wipe(down)">
                                      <p:cBhvr>
                                        <p:cTn id="41" dur="500"/>
                                        <p:tgtEl>
                                          <p:spTgt spid="28706"/>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28758"/>
                                        </p:tgtEl>
                                        <p:attrNameLst>
                                          <p:attrName>style.visibility</p:attrName>
                                        </p:attrNameLst>
                                      </p:cBhvr>
                                      <p:to>
                                        <p:strVal val="visible"/>
                                      </p:to>
                                    </p:set>
                                    <p:anim calcmode="lin" valueType="num">
                                      <p:cBhvr additive="base">
                                        <p:cTn id="46" dur="500" fill="hold"/>
                                        <p:tgtEl>
                                          <p:spTgt spid="28758"/>
                                        </p:tgtEl>
                                        <p:attrNameLst>
                                          <p:attrName>ppt_x</p:attrName>
                                        </p:attrNameLst>
                                      </p:cBhvr>
                                      <p:tavLst>
                                        <p:tav tm="0">
                                          <p:val>
                                            <p:strVal val="0-#ppt_w/2"/>
                                          </p:val>
                                        </p:tav>
                                        <p:tav tm="100000">
                                          <p:val>
                                            <p:strVal val="#ppt_x"/>
                                          </p:val>
                                        </p:tav>
                                      </p:tavLst>
                                    </p:anim>
                                    <p:anim calcmode="lin" valueType="num">
                                      <p:cBhvr additive="base">
                                        <p:cTn id="47" dur="500" fill="hold"/>
                                        <p:tgtEl>
                                          <p:spTgt spid="28758"/>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28741"/>
                                        </p:tgtEl>
                                        <p:attrNameLst>
                                          <p:attrName>style.visibility</p:attrName>
                                        </p:attrNameLst>
                                      </p:cBhvr>
                                      <p:to>
                                        <p:strVal val="visible"/>
                                      </p:to>
                                    </p:set>
                                    <p:animEffect transition="in" filter="barn(outHorizontal)">
                                      <p:cBhvr>
                                        <p:cTn id="52" dur="500"/>
                                        <p:tgtEl>
                                          <p:spTgt spid="2874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8759"/>
                                        </p:tgtEl>
                                        <p:attrNameLst>
                                          <p:attrName>style.visibility</p:attrName>
                                        </p:attrNameLst>
                                      </p:cBhvr>
                                      <p:to>
                                        <p:strVal val="visible"/>
                                      </p:to>
                                    </p:set>
                                    <p:animEffect transition="in" filter="wipe(down)">
                                      <p:cBhvr>
                                        <p:cTn id="57" dur="500"/>
                                        <p:tgtEl>
                                          <p:spTgt spid="2875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8755"/>
                                        </p:tgtEl>
                                        <p:attrNameLst>
                                          <p:attrName>style.visibility</p:attrName>
                                        </p:attrNameLst>
                                      </p:cBhvr>
                                      <p:to>
                                        <p:strVal val="visible"/>
                                      </p:to>
                                    </p:set>
                                    <p:animEffect transition="in" filter="wipe(up)">
                                      <p:cBhvr>
                                        <p:cTn id="62" dur="500"/>
                                        <p:tgtEl>
                                          <p:spTgt spid="287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p:bldP spid="28676" grpId="0" autoUpdateAnimBg="0"/>
      <p:bldP spid="2875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457200" y="142875"/>
            <a:ext cx="27130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② </a:t>
            </a:r>
            <a:r>
              <a:rPr lang="zh-CN" altLang="en-US" sz="3200" b="1">
                <a:latin typeface="宋体" panose="02010600030101010101" pitchFamily="2" charset="-122"/>
              </a:rPr>
              <a:t>过盈配合</a:t>
            </a:r>
            <a:endParaRPr lang="zh-CN" altLang="en-US" sz="3200" b="1">
              <a:latin typeface="宋体" panose="02010600030101010101" pitchFamily="2" charset="-122"/>
            </a:endParaRPr>
          </a:p>
        </p:txBody>
      </p:sp>
      <p:sp>
        <p:nvSpPr>
          <p:cNvPr id="29699" name="Text Box 3"/>
          <p:cNvSpPr txBox="1">
            <a:spLocks noChangeArrowheads="1"/>
          </p:cNvSpPr>
          <p:nvPr/>
        </p:nvSpPr>
        <p:spPr bwMode="auto">
          <a:xfrm>
            <a:off x="1022350" y="771525"/>
            <a:ext cx="75501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具有过盈</a:t>
            </a:r>
            <a:r>
              <a:rPr lang="en-US" altLang="zh-CN" sz="3200" b="1">
                <a:latin typeface="宋体" panose="02010600030101010101" pitchFamily="2" charset="-122"/>
              </a:rPr>
              <a:t>(</a:t>
            </a:r>
            <a:r>
              <a:rPr lang="zh-CN" altLang="en-US" sz="3200" b="1">
                <a:latin typeface="宋体" panose="02010600030101010101" pitchFamily="2" charset="-122"/>
              </a:rPr>
              <a:t>包括最小过盈等于零</a:t>
            </a:r>
            <a:r>
              <a:rPr lang="en-US" altLang="zh-CN" sz="3200" b="1">
                <a:latin typeface="宋体" panose="02010600030101010101" pitchFamily="2" charset="-122"/>
              </a:rPr>
              <a:t>)</a:t>
            </a:r>
            <a:r>
              <a:rPr lang="zh-CN" altLang="en-US" sz="3200" b="1">
                <a:latin typeface="宋体" panose="02010600030101010101" pitchFamily="2" charset="-122"/>
              </a:rPr>
              <a:t>的配合。</a:t>
            </a:r>
            <a:endParaRPr lang="zh-CN" altLang="en-US" sz="3200" b="1">
              <a:latin typeface="宋体" panose="02010600030101010101" pitchFamily="2" charset="-122"/>
            </a:endParaRPr>
          </a:p>
        </p:txBody>
      </p:sp>
      <p:sp>
        <p:nvSpPr>
          <p:cNvPr id="29700" name="AutoShape 4"/>
          <p:cNvSpPr>
            <a:spLocks noChangeArrowheads="1"/>
          </p:cNvSpPr>
          <p:nvPr/>
        </p:nvSpPr>
        <p:spPr bwMode="auto">
          <a:xfrm>
            <a:off x="4649788" y="4772025"/>
            <a:ext cx="3887787" cy="1314450"/>
          </a:xfrm>
          <a:prstGeom prst="wedgeEllipseCallout">
            <a:avLst>
              <a:gd name="adj1" fmla="val -4963"/>
              <a:gd name="adj2" fmla="val -75847"/>
            </a:avLst>
          </a:prstGeom>
          <a:solidFill>
            <a:srgbClr val="99FF99"/>
          </a:solidFill>
          <a:ln w="12700">
            <a:solidFill>
              <a:schemeClr val="tx2"/>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chemeClr val="tx2"/>
                </a:solidFill>
              </a:rPr>
              <a:t>孔的公差带在轴的公差带之下</a:t>
            </a:r>
            <a:endParaRPr lang="zh-CN" altLang="en-US" sz="2800" b="1">
              <a:solidFill>
                <a:schemeClr val="tx2"/>
              </a:solidFill>
            </a:endParaRPr>
          </a:p>
        </p:txBody>
      </p:sp>
      <p:grpSp>
        <p:nvGrpSpPr>
          <p:cNvPr id="29789" name="Group 93"/>
          <p:cNvGrpSpPr/>
          <p:nvPr/>
        </p:nvGrpSpPr>
        <p:grpSpPr bwMode="auto">
          <a:xfrm>
            <a:off x="403225" y="1741488"/>
            <a:ext cx="2084388" cy="3394075"/>
            <a:chOff x="237" y="1131"/>
            <a:chExt cx="1313" cy="2138"/>
          </a:xfrm>
        </p:grpSpPr>
        <p:grpSp>
          <p:nvGrpSpPr>
            <p:cNvPr id="28731" name="Group 91"/>
            <p:cNvGrpSpPr/>
            <p:nvPr/>
          </p:nvGrpSpPr>
          <p:grpSpPr bwMode="auto">
            <a:xfrm>
              <a:off x="897" y="2220"/>
              <a:ext cx="653" cy="1049"/>
              <a:chOff x="897" y="2220"/>
              <a:chExt cx="653" cy="1049"/>
            </a:xfrm>
          </p:grpSpPr>
          <p:sp>
            <p:nvSpPr>
              <p:cNvPr id="28742" name="Freeform 7"/>
              <p:cNvSpPr/>
              <p:nvPr/>
            </p:nvSpPr>
            <p:spPr bwMode="auto">
              <a:xfrm>
                <a:off x="900" y="2382"/>
                <a:ext cx="645" cy="213"/>
              </a:xfrm>
              <a:custGeom>
                <a:avLst/>
                <a:gdLst>
                  <a:gd name="T0" fmla="*/ 0 w 645"/>
                  <a:gd name="T1" fmla="*/ 0 h 105"/>
                  <a:gd name="T2" fmla="*/ 645 w 645"/>
                  <a:gd name="T3" fmla="*/ 0 h 105"/>
                  <a:gd name="T4" fmla="*/ 645 w 645"/>
                  <a:gd name="T5" fmla="*/ 213 h 105"/>
                  <a:gd name="T6" fmla="*/ 0 w 645"/>
                  <a:gd name="T7" fmla="*/ 213 h 105"/>
                  <a:gd name="T8" fmla="*/ 0 w 645"/>
                  <a:gd name="T9" fmla="*/ 0 h 1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5" h="105">
                    <a:moveTo>
                      <a:pt x="0" y="0"/>
                    </a:moveTo>
                    <a:lnTo>
                      <a:pt x="645" y="0"/>
                    </a:lnTo>
                    <a:lnTo>
                      <a:pt x="645" y="105"/>
                    </a:lnTo>
                    <a:lnTo>
                      <a:pt x="0" y="105"/>
                    </a:lnTo>
                    <a:lnTo>
                      <a:pt x="0" y="0"/>
                    </a:lnTo>
                    <a:close/>
                  </a:path>
                </a:pathLst>
              </a:custGeom>
              <a:solidFill>
                <a:srgbClr val="FF66FF"/>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3" name="Line 8"/>
              <p:cNvSpPr>
                <a:spLocks noChangeShapeType="1"/>
              </p:cNvSpPr>
              <p:nvPr/>
            </p:nvSpPr>
            <p:spPr bwMode="auto">
              <a:xfrm>
                <a:off x="898" y="2260"/>
                <a:ext cx="0" cy="100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4" name="Freeform 9"/>
              <p:cNvSpPr/>
              <p:nvPr/>
            </p:nvSpPr>
            <p:spPr bwMode="auto">
              <a:xfrm>
                <a:off x="1546" y="2260"/>
                <a:ext cx="1" cy="986"/>
              </a:xfrm>
              <a:custGeom>
                <a:avLst/>
                <a:gdLst>
                  <a:gd name="T0" fmla="*/ 0 w 1"/>
                  <a:gd name="T1" fmla="*/ 0 h 986"/>
                  <a:gd name="T2" fmla="*/ 0 w 1"/>
                  <a:gd name="T3" fmla="*/ 986 h 986"/>
                  <a:gd name="T4" fmla="*/ 0 60000 65536"/>
                  <a:gd name="T5" fmla="*/ 0 60000 65536"/>
                </a:gdLst>
                <a:ahLst/>
                <a:cxnLst>
                  <a:cxn ang="T4">
                    <a:pos x="T0" y="T1"/>
                  </a:cxn>
                  <a:cxn ang="T5">
                    <a:pos x="T2" y="T3"/>
                  </a:cxn>
                </a:cxnLst>
                <a:rect l="0" t="0" r="r" b="b"/>
                <a:pathLst>
                  <a:path w="1" h="986">
                    <a:moveTo>
                      <a:pt x="0" y="0"/>
                    </a:moveTo>
                    <a:lnTo>
                      <a:pt x="0" y="986"/>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5" name="Line 10"/>
              <p:cNvSpPr>
                <a:spLocks noChangeShapeType="1"/>
              </p:cNvSpPr>
              <p:nvPr/>
            </p:nvSpPr>
            <p:spPr bwMode="auto">
              <a:xfrm>
                <a:off x="898" y="2591"/>
                <a:ext cx="65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6" name="Line 11"/>
              <p:cNvSpPr>
                <a:spLocks noChangeShapeType="1"/>
              </p:cNvSpPr>
              <p:nvPr/>
            </p:nvSpPr>
            <p:spPr bwMode="auto">
              <a:xfrm>
                <a:off x="897" y="3100"/>
                <a:ext cx="6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7" name="Line 12"/>
              <p:cNvSpPr>
                <a:spLocks noChangeShapeType="1"/>
              </p:cNvSpPr>
              <p:nvPr/>
            </p:nvSpPr>
            <p:spPr bwMode="auto">
              <a:xfrm>
                <a:off x="897" y="2371"/>
                <a:ext cx="6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8748" name="Group 13"/>
              <p:cNvGrpSpPr/>
              <p:nvPr/>
            </p:nvGrpSpPr>
            <p:grpSpPr bwMode="auto">
              <a:xfrm>
                <a:off x="897" y="2220"/>
                <a:ext cx="653" cy="1043"/>
                <a:chOff x="897" y="2220"/>
                <a:chExt cx="653" cy="1043"/>
              </a:xfrm>
            </p:grpSpPr>
            <p:sp>
              <p:nvSpPr>
                <p:cNvPr id="28749" name="Freeform 14"/>
                <p:cNvSpPr/>
                <p:nvPr/>
              </p:nvSpPr>
              <p:spPr bwMode="auto">
                <a:xfrm>
                  <a:off x="1018" y="2220"/>
                  <a:ext cx="148" cy="149"/>
                </a:xfrm>
                <a:custGeom>
                  <a:avLst/>
                  <a:gdLst>
                    <a:gd name="T0" fmla="*/ 0 w 148"/>
                    <a:gd name="T1" fmla="*/ 149 h 149"/>
                    <a:gd name="T2" fmla="*/ 148 w 148"/>
                    <a:gd name="T3" fmla="*/ 0 h 149"/>
                    <a:gd name="T4" fmla="*/ 0 60000 65536"/>
                    <a:gd name="T5" fmla="*/ 0 60000 65536"/>
                  </a:gdLst>
                  <a:ahLst/>
                  <a:cxnLst>
                    <a:cxn ang="T4">
                      <a:pos x="T0" y="T1"/>
                    </a:cxn>
                    <a:cxn ang="T5">
                      <a:pos x="T2" y="T3"/>
                    </a:cxn>
                  </a:cxnLst>
                  <a:rect l="0" t="0" r="r" b="b"/>
                  <a:pathLst>
                    <a:path w="148" h="149">
                      <a:moveTo>
                        <a:pt x="0" y="149"/>
                      </a:moveTo>
                      <a:lnTo>
                        <a:pt x="148"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0" name="Line 15"/>
                <p:cNvSpPr>
                  <a:spLocks noChangeShapeType="1"/>
                </p:cNvSpPr>
                <p:nvPr/>
              </p:nvSpPr>
              <p:spPr bwMode="auto">
                <a:xfrm flipV="1">
                  <a:off x="1157" y="2222"/>
                  <a:ext cx="153" cy="15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1" name="Line 16"/>
                <p:cNvSpPr>
                  <a:spLocks noChangeShapeType="1"/>
                </p:cNvSpPr>
                <p:nvPr/>
              </p:nvSpPr>
              <p:spPr bwMode="auto">
                <a:xfrm flipV="1">
                  <a:off x="1312" y="2222"/>
                  <a:ext cx="144"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2" name="Freeform 17"/>
                <p:cNvSpPr/>
                <p:nvPr/>
              </p:nvSpPr>
              <p:spPr bwMode="auto">
                <a:xfrm>
                  <a:off x="897" y="2222"/>
                  <a:ext cx="125" cy="125"/>
                </a:xfrm>
                <a:custGeom>
                  <a:avLst/>
                  <a:gdLst>
                    <a:gd name="T0" fmla="*/ 0 w 125"/>
                    <a:gd name="T1" fmla="*/ 125 h 125"/>
                    <a:gd name="T2" fmla="*/ 125 w 125"/>
                    <a:gd name="T3" fmla="*/ 0 h 125"/>
                    <a:gd name="T4" fmla="*/ 0 60000 65536"/>
                    <a:gd name="T5" fmla="*/ 0 60000 65536"/>
                  </a:gdLst>
                  <a:ahLst/>
                  <a:cxnLst>
                    <a:cxn ang="T4">
                      <a:pos x="T0" y="T1"/>
                    </a:cxn>
                    <a:cxn ang="T5">
                      <a:pos x="T2" y="T3"/>
                    </a:cxn>
                  </a:cxnLst>
                  <a:rect l="0" t="0" r="r" b="b"/>
                  <a:pathLst>
                    <a:path w="125" h="125">
                      <a:moveTo>
                        <a:pt x="0" y="125"/>
                      </a:moveTo>
                      <a:lnTo>
                        <a:pt x="125"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3" name="Freeform 18"/>
                <p:cNvSpPr/>
                <p:nvPr/>
              </p:nvSpPr>
              <p:spPr bwMode="auto">
                <a:xfrm>
                  <a:off x="1454" y="2278"/>
                  <a:ext cx="92" cy="91"/>
                </a:xfrm>
                <a:custGeom>
                  <a:avLst/>
                  <a:gdLst>
                    <a:gd name="T0" fmla="*/ 0 w 92"/>
                    <a:gd name="T1" fmla="*/ 91 h 91"/>
                    <a:gd name="T2" fmla="*/ 92 w 92"/>
                    <a:gd name="T3" fmla="*/ 0 h 91"/>
                    <a:gd name="T4" fmla="*/ 0 60000 65536"/>
                    <a:gd name="T5" fmla="*/ 0 60000 65536"/>
                  </a:gdLst>
                  <a:ahLst/>
                  <a:cxnLst>
                    <a:cxn ang="T4">
                      <a:pos x="T0" y="T1"/>
                    </a:cxn>
                    <a:cxn ang="T5">
                      <a:pos x="T2" y="T3"/>
                    </a:cxn>
                  </a:cxnLst>
                  <a:rect l="0" t="0" r="r" b="b"/>
                  <a:pathLst>
                    <a:path w="92" h="91">
                      <a:moveTo>
                        <a:pt x="0" y="91"/>
                      </a:moveTo>
                      <a:lnTo>
                        <a:pt x="92"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4" name="Freeform 19"/>
                <p:cNvSpPr/>
                <p:nvPr/>
              </p:nvSpPr>
              <p:spPr bwMode="auto">
                <a:xfrm>
                  <a:off x="897" y="3098"/>
                  <a:ext cx="111" cy="109"/>
                </a:xfrm>
                <a:custGeom>
                  <a:avLst/>
                  <a:gdLst>
                    <a:gd name="T0" fmla="*/ 0 w 111"/>
                    <a:gd name="T1" fmla="*/ 109 h 109"/>
                    <a:gd name="T2" fmla="*/ 111 w 111"/>
                    <a:gd name="T3" fmla="*/ 0 h 109"/>
                    <a:gd name="T4" fmla="*/ 0 60000 65536"/>
                    <a:gd name="T5" fmla="*/ 0 60000 65536"/>
                  </a:gdLst>
                  <a:ahLst/>
                  <a:cxnLst>
                    <a:cxn ang="T4">
                      <a:pos x="T0" y="T1"/>
                    </a:cxn>
                    <a:cxn ang="T5">
                      <a:pos x="T2" y="T3"/>
                    </a:cxn>
                  </a:cxnLst>
                  <a:rect l="0" t="0" r="r" b="b"/>
                  <a:pathLst>
                    <a:path w="111" h="109">
                      <a:moveTo>
                        <a:pt x="0" y="109"/>
                      </a:moveTo>
                      <a:lnTo>
                        <a:pt x="111"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5" name="Line 20"/>
                <p:cNvSpPr>
                  <a:spLocks noChangeShapeType="1"/>
                </p:cNvSpPr>
                <p:nvPr/>
              </p:nvSpPr>
              <p:spPr bwMode="auto">
                <a:xfrm flipV="1">
                  <a:off x="983" y="3091"/>
                  <a:ext cx="163" cy="1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6" name="Freeform 21"/>
                <p:cNvSpPr/>
                <p:nvPr/>
              </p:nvSpPr>
              <p:spPr bwMode="auto">
                <a:xfrm>
                  <a:off x="1118" y="3091"/>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7" name="Freeform 22"/>
                <p:cNvSpPr/>
                <p:nvPr/>
              </p:nvSpPr>
              <p:spPr bwMode="auto">
                <a:xfrm>
                  <a:off x="1243" y="3100"/>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8" name="Freeform 23"/>
                <p:cNvSpPr/>
                <p:nvPr/>
              </p:nvSpPr>
              <p:spPr bwMode="auto">
                <a:xfrm>
                  <a:off x="1387" y="3100"/>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28732" name="Group 92"/>
            <p:cNvGrpSpPr/>
            <p:nvPr/>
          </p:nvGrpSpPr>
          <p:grpSpPr bwMode="auto">
            <a:xfrm>
              <a:off x="237" y="1131"/>
              <a:ext cx="663" cy="1965"/>
              <a:chOff x="237" y="1131"/>
              <a:chExt cx="663" cy="1965"/>
            </a:xfrm>
          </p:grpSpPr>
          <p:sp>
            <p:nvSpPr>
              <p:cNvPr id="28733" name="Text Box 25"/>
              <p:cNvSpPr txBox="1">
                <a:spLocks noChangeArrowheads="1"/>
              </p:cNvSpPr>
              <p:nvPr/>
            </p:nvSpPr>
            <p:spPr bwMode="auto">
              <a:xfrm rot="-5400000">
                <a:off x="-6" y="1639"/>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最小极限尺寸</a:t>
                </a:r>
                <a:endParaRPr lang="zh-CN" altLang="en-US" b="1"/>
              </a:p>
            </p:txBody>
          </p:sp>
          <p:sp>
            <p:nvSpPr>
              <p:cNvPr id="28734" name="Text Box 26"/>
              <p:cNvSpPr txBox="1">
                <a:spLocks noChangeArrowheads="1"/>
              </p:cNvSpPr>
              <p:nvPr/>
            </p:nvSpPr>
            <p:spPr bwMode="auto">
              <a:xfrm rot="-5400000">
                <a:off x="-256" y="1624"/>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最大极限尺寸</a:t>
                </a:r>
                <a:endParaRPr lang="zh-CN" altLang="en-US" b="1"/>
              </a:p>
            </p:txBody>
          </p:sp>
          <p:sp>
            <p:nvSpPr>
              <p:cNvPr id="28735" name="Freeform 27"/>
              <p:cNvSpPr/>
              <p:nvPr/>
            </p:nvSpPr>
            <p:spPr bwMode="auto">
              <a:xfrm>
                <a:off x="499" y="1193"/>
                <a:ext cx="1" cy="1185"/>
              </a:xfrm>
              <a:custGeom>
                <a:avLst/>
                <a:gdLst>
                  <a:gd name="T0" fmla="*/ 0 w 1"/>
                  <a:gd name="T1" fmla="*/ 1185 h 1185"/>
                  <a:gd name="T2" fmla="*/ 1 w 1"/>
                  <a:gd name="T3" fmla="*/ 0 h 1185"/>
                  <a:gd name="T4" fmla="*/ 0 60000 65536"/>
                  <a:gd name="T5" fmla="*/ 0 60000 65536"/>
                </a:gdLst>
                <a:ahLst/>
                <a:cxnLst>
                  <a:cxn ang="T4">
                    <a:pos x="T0" y="T1"/>
                  </a:cxn>
                  <a:cxn ang="T5">
                    <a:pos x="T2" y="T3"/>
                  </a:cxn>
                </a:cxnLst>
                <a:rect l="0" t="0" r="r" b="b"/>
                <a:pathLst>
                  <a:path w="1" h="1185">
                    <a:moveTo>
                      <a:pt x="0" y="1185"/>
                    </a:moveTo>
                    <a:lnTo>
                      <a:pt x="1"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6" name="Line 28"/>
              <p:cNvSpPr>
                <a:spLocks noChangeShapeType="1"/>
              </p:cNvSpPr>
              <p:nvPr/>
            </p:nvSpPr>
            <p:spPr bwMode="auto">
              <a:xfrm flipH="1">
                <a:off x="432" y="3084"/>
                <a:ext cx="4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37" name="Line 29"/>
              <p:cNvSpPr>
                <a:spLocks noChangeShapeType="1"/>
              </p:cNvSpPr>
              <p:nvPr/>
            </p:nvSpPr>
            <p:spPr bwMode="auto">
              <a:xfrm flipH="1">
                <a:off x="660" y="2592"/>
                <a:ext cx="24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38" name="Line 30"/>
              <p:cNvSpPr>
                <a:spLocks noChangeShapeType="1"/>
              </p:cNvSpPr>
              <p:nvPr/>
            </p:nvSpPr>
            <p:spPr bwMode="auto">
              <a:xfrm flipH="1">
                <a:off x="420" y="2376"/>
                <a:ext cx="48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39" name="Line 31"/>
              <p:cNvSpPr>
                <a:spLocks noChangeShapeType="1"/>
              </p:cNvSpPr>
              <p:nvPr/>
            </p:nvSpPr>
            <p:spPr bwMode="auto">
              <a:xfrm>
                <a:off x="756" y="2592"/>
                <a:ext cx="0" cy="504"/>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40" name="Line 32"/>
              <p:cNvSpPr>
                <a:spLocks noChangeShapeType="1"/>
              </p:cNvSpPr>
              <p:nvPr/>
            </p:nvSpPr>
            <p:spPr bwMode="auto">
              <a:xfrm flipV="1">
                <a:off x="756" y="1212"/>
                <a:ext cx="0" cy="139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41" name="Line 33"/>
              <p:cNvSpPr>
                <a:spLocks noChangeShapeType="1"/>
              </p:cNvSpPr>
              <p:nvPr/>
            </p:nvSpPr>
            <p:spPr bwMode="auto">
              <a:xfrm>
                <a:off x="504" y="2376"/>
                <a:ext cx="0" cy="720"/>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9786" name="Group 90"/>
          <p:cNvGrpSpPr/>
          <p:nvPr/>
        </p:nvGrpSpPr>
        <p:grpSpPr bwMode="auto">
          <a:xfrm>
            <a:off x="3133725" y="1263650"/>
            <a:ext cx="1670050" cy="3457575"/>
            <a:chOff x="1974" y="822"/>
            <a:chExt cx="1052" cy="2178"/>
          </a:xfrm>
        </p:grpSpPr>
        <p:sp>
          <p:nvSpPr>
            <p:cNvPr id="28715" name="Text Box 35"/>
            <p:cNvSpPr txBox="1">
              <a:spLocks noChangeArrowheads="1"/>
            </p:cNvSpPr>
            <p:nvPr/>
          </p:nvSpPr>
          <p:spPr bwMode="auto">
            <a:xfrm rot="-5400000">
              <a:off x="2205" y="1328"/>
              <a:ext cx="129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最大极限尺寸</a:t>
              </a:r>
              <a:endParaRPr lang="zh-CN" altLang="en-US" b="1"/>
            </a:p>
          </p:txBody>
        </p:sp>
        <p:sp>
          <p:nvSpPr>
            <p:cNvPr id="28716" name="Text Box 36"/>
            <p:cNvSpPr txBox="1">
              <a:spLocks noChangeArrowheads="1"/>
            </p:cNvSpPr>
            <p:nvPr/>
          </p:nvSpPr>
          <p:spPr bwMode="auto">
            <a:xfrm rot="-5400000">
              <a:off x="1933" y="1335"/>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最小极限尺寸</a:t>
              </a:r>
              <a:endParaRPr lang="zh-CN" altLang="en-US" b="1"/>
            </a:p>
          </p:txBody>
        </p:sp>
        <p:grpSp>
          <p:nvGrpSpPr>
            <p:cNvPr id="28717" name="Group 89"/>
            <p:cNvGrpSpPr/>
            <p:nvPr/>
          </p:nvGrpSpPr>
          <p:grpSpPr bwMode="auto">
            <a:xfrm>
              <a:off x="1974" y="947"/>
              <a:ext cx="1052" cy="2053"/>
              <a:chOff x="1974" y="947"/>
              <a:chExt cx="1052" cy="2053"/>
            </a:xfrm>
          </p:grpSpPr>
          <p:sp>
            <p:nvSpPr>
              <p:cNvPr id="28718" name="Freeform 38"/>
              <p:cNvSpPr/>
              <p:nvPr/>
            </p:nvSpPr>
            <p:spPr bwMode="auto">
              <a:xfrm>
                <a:off x="2460" y="2992"/>
                <a:ext cx="566" cy="1"/>
              </a:xfrm>
              <a:custGeom>
                <a:avLst/>
                <a:gdLst>
                  <a:gd name="T0" fmla="*/ 0 w 566"/>
                  <a:gd name="T1" fmla="*/ 0 h 1"/>
                  <a:gd name="T2" fmla="*/ 566 w 566"/>
                  <a:gd name="T3" fmla="*/ 1 h 1"/>
                  <a:gd name="T4" fmla="*/ 0 60000 65536"/>
                  <a:gd name="T5" fmla="*/ 0 60000 65536"/>
                </a:gdLst>
                <a:ahLst/>
                <a:cxnLst>
                  <a:cxn ang="T4">
                    <a:pos x="T0" y="T1"/>
                  </a:cxn>
                  <a:cxn ang="T5">
                    <a:pos x="T2" y="T3"/>
                  </a:cxn>
                </a:cxnLst>
                <a:rect l="0" t="0" r="r" b="b"/>
                <a:pathLst>
                  <a:path w="566" h="1">
                    <a:moveTo>
                      <a:pt x="0" y="0"/>
                    </a:moveTo>
                    <a:lnTo>
                      <a:pt x="566" y="1"/>
                    </a:lnTo>
                  </a:path>
                </a:pathLst>
              </a:cu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9" name="Line 39"/>
              <p:cNvSpPr>
                <a:spLocks noChangeShapeType="1"/>
              </p:cNvSpPr>
              <p:nvPr/>
            </p:nvSpPr>
            <p:spPr bwMode="auto">
              <a:xfrm flipV="1">
                <a:off x="2680" y="1009"/>
                <a:ext cx="0" cy="132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0" name="Line 40"/>
              <p:cNvSpPr>
                <a:spLocks noChangeShapeType="1"/>
              </p:cNvSpPr>
              <p:nvPr/>
            </p:nvSpPr>
            <p:spPr bwMode="auto">
              <a:xfrm>
                <a:off x="2499" y="2316"/>
                <a:ext cx="2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1" name="Line 41"/>
              <p:cNvSpPr>
                <a:spLocks noChangeShapeType="1"/>
              </p:cNvSpPr>
              <p:nvPr/>
            </p:nvSpPr>
            <p:spPr bwMode="auto">
              <a:xfrm>
                <a:off x="2459" y="2117"/>
                <a:ext cx="56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2" name="Line 42"/>
              <p:cNvSpPr>
                <a:spLocks noChangeShapeType="1"/>
              </p:cNvSpPr>
              <p:nvPr/>
            </p:nvSpPr>
            <p:spPr bwMode="auto">
              <a:xfrm flipV="1">
                <a:off x="2969" y="947"/>
                <a:ext cx="0" cy="117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3" name="Freeform 43"/>
              <p:cNvSpPr/>
              <p:nvPr/>
            </p:nvSpPr>
            <p:spPr bwMode="auto">
              <a:xfrm>
                <a:off x="1980" y="2112"/>
                <a:ext cx="562" cy="195"/>
              </a:xfrm>
              <a:custGeom>
                <a:avLst/>
                <a:gdLst>
                  <a:gd name="T0" fmla="*/ 0 w 555"/>
                  <a:gd name="T1" fmla="*/ 0 h 135"/>
                  <a:gd name="T2" fmla="*/ 516 w 555"/>
                  <a:gd name="T3" fmla="*/ 0 h 135"/>
                  <a:gd name="T4" fmla="*/ 562 w 555"/>
                  <a:gd name="T5" fmla="*/ 195 h 135"/>
                  <a:gd name="T6" fmla="*/ 0 w 555"/>
                  <a:gd name="T7" fmla="*/ 195 h 135"/>
                  <a:gd name="T8" fmla="*/ 0 w 555"/>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5" h="135">
                    <a:moveTo>
                      <a:pt x="0" y="0"/>
                    </a:moveTo>
                    <a:lnTo>
                      <a:pt x="510" y="0"/>
                    </a:lnTo>
                    <a:lnTo>
                      <a:pt x="555" y="135"/>
                    </a:lnTo>
                    <a:lnTo>
                      <a:pt x="0" y="135"/>
                    </a:lnTo>
                    <a:lnTo>
                      <a:pt x="0" y="0"/>
                    </a:lnTo>
                    <a:close/>
                  </a:path>
                </a:pathLst>
              </a:custGeom>
              <a:solidFill>
                <a:srgbClr val="009900"/>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4" name="Line 44"/>
              <p:cNvSpPr>
                <a:spLocks noChangeShapeType="1"/>
              </p:cNvSpPr>
              <p:nvPr/>
            </p:nvSpPr>
            <p:spPr bwMode="auto">
              <a:xfrm>
                <a:off x="1979" y="2117"/>
                <a:ext cx="5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5" name="Freeform 45"/>
              <p:cNvSpPr/>
              <p:nvPr/>
            </p:nvSpPr>
            <p:spPr bwMode="auto">
              <a:xfrm>
                <a:off x="1974" y="2990"/>
                <a:ext cx="498" cy="1"/>
              </a:xfrm>
              <a:custGeom>
                <a:avLst/>
                <a:gdLst>
                  <a:gd name="T0" fmla="*/ 0 w 498"/>
                  <a:gd name="T1" fmla="*/ 0 h 1"/>
                  <a:gd name="T2" fmla="*/ 498 w 498"/>
                  <a:gd name="T3" fmla="*/ 0 h 1"/>
                  <a:gd name="T4" fmla="*/ 0 60000 65536"/>
                  <a:gd name="T5" fmla="*/ 0 60000 65536"/>
                </a:gdLst>
                <a:ahLst/>
                <a:cxnLst>
                  <a:cxn ang="T4">
                    <a:pos x="T0" y="T1"/>
                  </a:cxn>
                  <a:cxn ang="T5">
                    <a:pos x="T2" y="T3"/>
                  </a:cxn>
                </a:cxnLst>
                <a:rect l="0" t="0" r="r" b="b"/>
                <a:pathLst>
                  <a:path w="498" h="1">
                    <a:moveTo>
                      <a:pt x="0" y="0"/>
                    </a:moveTo>
                    <a:lnTo>
                      <a:pt x="49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6" name="Freeform 46"/>
              <p:cNvSpPr/>
              <p:nvPr/>
            </p:nvSpPr>
            <p:spPr bwMode="auto">
              <a:xfrm>
                <a:off x="1979" y="2314"/>
                <a:ext cx="553" cy="1"/>
              </a:xfrm>
              <a:custGeom>
                <a:avLst/>
                <a:gdLst>
                  <a:gd name="T0" fmla="*/ 0 w 553"/>
                  <a:gd name="T1" fmla="*/ 0 h 1"/>
                  <a:gd name="T2" fmla="*/ 553 w 553"/>
                  <a:gd name="T3" fmla="*/ 0 h 1"/>
                  <a:gd name="T4" fmla="*/ 0 60000 65536"/>
                  <a:gd name="T5" fmla="*/ 0 60000 65536"/>
                </a:gdLst>
                <a:ahLst/>
                <a:cxnLst>
                  <a:cxn ang="T4">
                    <a:pos x="T0" y="T1"/>
                  </a:cxn>
                  <a:cxn ang="T5">
                    <a:pos x="T2" y="T3"/>
                  </a:cxn>
                </a:cxnLst>
                <a:rect l="0" t="0" r="r" b="b"/>
                <a:pathLst>
                  <a:path w="553" h="1">
                    <a:moveTo>
                      <a:pt x="0" y="0"/>
                    </a:moveTo>
                    <a:lnTo>
                      <a:pt x="553"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7" name="Freeform 47"/>
              <p:cNvSpPr/>
              <p:nvPr/>
            </p:nvSpPr>
            <p:spPr bwMode="auto">
              <a:xfrm>
                <a:off x="2463" y="2118"/>
                <a:ext cx="75" cy="878"/>
              </a:xfrm>
              <a:custGeom>
                <a:avLst/>
                <a:gdLst>
                  <a:gd name="T0" fmla="*/ 27 w 75"/>
                  <a:gd name="T1" fmla="*/ 0 h 878"/>
                  <a:gd name="T2" fmla="*/ 72 w 75"/>
                  <a:gd name="T3" fmla="*/ 234 h 878"/>
                  <a:gd name="T4" fmla="*/ 9 w 75"/>
                  <a:gd name="T5" fmla="*/ 378 h 878"/>
                  <a:gd name="T6" fmla="*/ 21 w 75"/>
                  <a:gd name="T7" fmla="*/ 570 h 878"/>
                  <a:gd name="T8" fmla="*/ 45 w 75"/>
                  <a:gd name="T9" fmla="*/ 762 h 878"/>
                  <a:gd name="T10" fmla="*/ 5 w 75"/>
                  <a:gd name="T11" fmla="*/ 878 h 8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 h="878">
                    <a:moveTo>
                      <a:pt x="27" y="0"/>
                    </a:moveTo>
                    <a:cubicBezTo>
                      <a:pt x="34" y="39"/>
                      <a:pt x="75" y="171"/>
                      <a:pt x="72" y="234"/>
                    </a:cubicBezTo>
                    <a:cubicBezTo>
                      <a:pt x="69" y="297"/>
                      <a:pt x="18" y="322"/>
                      <a:pt x="9" y="378"/>
                    </a:cubicBezTo>
                    <a:cubicBezTo>
                      <a:pt x="0" y="434"/>
                      <a:pt x="15" y="506"/>
                      <a:pt x="21" y="570"/>
                    </a:cubicBezTo>
                    <a:cubicBezTo>
                      <a:pt x="27" y="634"/>
                      <a:pt x="48" y="711"/>
                      <a:pt x="45" y="762"/>
                    </a:cubicBezTo>
                    <a:cubicBezTo>
                      <a:pt x="42" y="813"/>
                      <a:pt x="13" y="854"/>
                      <a:pt x="5" y="878"/>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8" name="Line 48"/>
              <p:cNvSpPr>
                <a:spLocks noChangeShapeType="1"/>
              </p:cNvSpPr>
              <p:nvPr/>
            </p:nvSpPr>
            <p:spPr bwMode="auto">
              <a:xfrm flipV="1">
                <a:off x="1980" y="2112"/>
                <a:ext cx="0" cy="87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9" name="Line 49"/>
              <p:cNvSpPr>
                <a:spLocks noChangeShapeType="1"/>
              </p:cNvSpPr>
              <p:nvPr/>
            </p:nvSpPr>
            <p:spPr bwMode="auto">
              <a:xfrm>
                <a:off x="2676" y="2316"/>
                <a:ext cx="0" cy="684"/>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30" name="Line 50"/>
              <p:cNvSpPr>
                <a:spLocks noChangeShapeType="1"/>
              </p:cNvSpPr>
              <p:nvPr/>
            </p:nvSpPr>
            <p:spPr bwMode="auto">
              <a:xfrm>
                <a:off x="2964" y="2112"/>
                <a:ext cx="0" cy="888"/>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9747" name="Group 51"/>
          <p:cNvGrpSpPr/>
          <p:nvPr/>
        </p:nvGrpSpPr>
        <p:grpSpPr bwMode="auto">
          <a:xfrm>
            <a:off x="2451100" y="1808163"/>
            <a:ext cx="742950" cy="2127250"/>
            <a:chOff x="1536" y="1156"/>
            <a:chExt cx="468" cy="1340"/>
          </a:xfrm>
        </p:grpSpPr>
        <p:sp>
          <p:nvSpPr>
            <p:cNvPr id="28709" name="Text Box 52"/>
            <p:cNvSpPr txBox="1">
              <a:spLocks noChangeArrowheads="1"/>
            </p:cNvSpPr>
            <p:nvPr/>
          </p:nvSpPr>
          <p:spPr bwMode="auto">
            <a:xfrm rot="-5400000">
              <a:off x="1286" y="1512"/>
              <a:ext cx="10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最小过盈</a:t>
              </a:r>
              <a:endParaRPr lang="zh-CN" altLang="en-US" b="1">
                <a:solidFill>
                  <a:srgbClr val="FF3300"/>
                </a:solidFill>
              </a:endParaRPr>
            </a:p>
          </p:txBody>
        </p:sp>
        <p:grpSp>
          <p:nvGrpSpPr>
            <p:cNvPr id="28710" name="Group 53"/>
            <p:cNvGrpSpPr/>
            <p:nvPr/>
          </p:nvGrpSpPr>
          <p:grpSpPr bwMode="auto">
            <a:xfrm>
              <a:off x="1536" y="1389"/>
              <a:ext cx="468" cy="1107"/>
              <a:chOff x="1536" y="1389"/>
              <a:chExt cx="468" cy="1107"/>
            </a:xfrm>
          </p:grpSpPr>
          <p:sp>
            <p:nvSpPr>
              <p:cNvPr id="28711" name="Freeform 54"/>
              <p:cNvSpPr/>
              <p:nvPr/>
            </p:nvSpPr>
            <p:spPr bwMode="auto">
              <a:xfrm>
                <a:off x="1898" y="2369"/>
                <a:ext cx="1" cy="127"/>
              </a:xfrm>
              <a:custGeom>
                <a:avLst/>
                <a:gdLst>
                  <a:gd name="T0" fmla="*/ 0 w 1"/>
                  <a:gd name="T1" fmla="*/ 0 h 127"/>
                  <a:gd name="T2" fmla="*/ 0 w 1"/>
                  <a:gd name="T3" fmla="*/ 127 h 127"/>
                  <a:gd name="T4" fmla="*/ 0 60000 65536"/>
                  <a:gd name="T5" fmla="*/ 0 60000 65536"/>
                </a:gdLst>
                <a:ahLst/>
                <a:cxnLst>
                  <a:cxn ang="T4">
                    <a:pos x="T0" y="T1"/>
                  </a:cxn>
                  <a:cxn ang="T5">
                    <a:pos x="T2" y="T3"/>
                  </a:cxn>
                </a:cxnLst>
                <a:rect l="0" t="0" r="r" b="b"/>
                <a:pathLst>
                  <a:path w="1" h="127">
                    <a:moveTo>
                      <a:pt x="0" y="0"/>
                    </a:moveTo>
                    <a:lnTo>
                      <a:pt x="0" y="127"/>
                    </a:lnTo>
                  </a:path>
                </a:pathLst>
              </a:custGeom>
              <a:noFill/>
              <a:ln w="19050" cap="flat" cmpd="sng">
                <a:solidFill>
                  <a:srgbClr val="FF3300"/>
                </a:solidFill>
                <a:prstDash val="solid"/>
                <a:round/>
                <a:headEnd type="triangle" w="sm" len="lg"/>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2" name="Freeform 55"/>
              <p:cNvSpPr/>
              <p:nvPr/>
            </p:nvSpPr>
            <p:spPr bwMode="auto">
              <a:xfrm>
                <a:off x="1898" y="1389"/>
                <a:ext cx="1" cy="943"/>
              </a:xfrm>
              <a:custGeom>
                <a:avLst/>
                <a:gdLst>
                  <a:gd name="T0" fmla="*/ 0 w 1"/>
                  <a:gd name="T1" fmla="*/ 943 h 943"/>
                  <a:gd name="T2" fmla="*/ 0 w 1"/>
                  <a:gd name="T3" fmla="*/ 0 h 943"/>
                  <a:gd name="T4" fmla="*/ 0 60000 65536"/>
                  <a:gd name="T5" fmla="*/ 0 60000 65536"/>
                </a:gdLst>
                <a:ahLst/>
                <a:cxnLst>
                  <a:cxn ang="T4">
                    <a:pos x="T0" y="T1"/>
                  </a:cxn>
                  <a:cxn ang="T5">
                    <a:pos x="T2" y="T3"/>
                  </a:cxn>
                </a:cxnLst>
                <a:rect l="0" t="0" r="r" b="b"/>
                <a:pathLst>
                  <a:path w="1" h="943">
                    <a:moveTo>
                      <a:pt x="0" y="943"/>
                    </a:moveTo>
                    <a:lnTo>
                      <a:pt x="0" y="0"/>
                    </a:lnTo>
                  </a:path>
                </a:pathLst>
              </a:custGeom>
              <a:noFill/>
              <a:ln w="19050" cmpd="sng">
                <a:solidFill>
                  <a:srgbClr val="FF3300"/>
                </a:solidFill>
                <a:round/>
                <a:head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3" name="Line 56"/>
              <p:cNvSpPr>
                <a:spLocks noChangeShapeType="1"/>
              </p:cNvSpPr>
              <p:nvPr/>
            </p:nvSpPr>
            <p:spPr bwMode="auto">
              <a:xfrm>
                <a:off x="1536" y="2376"/>
                <a:ext cx="420" cy="0"/>
              </a:xfrm>
              <a:prstGeom prst="line">
                <a:avLst/>
              </a:prstGeom>
              <a:noFill/>
              <a:ln w="190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14" name="Line 57"/>
              <p:cNvSpPr>
                <a:spLocks noChangeShapeType="1"/>
              </p:cNvSpPr>
              <p:nvPr/>
            </p:nvSpPr>
            <p:spPr bwMode="auto">
              <a:xfrm flipH="1">
                <a:off x="1836" y="2316"/>
                <a:ext cx="168" cy="0"/>
              </a:xfrm>
              <a:prstGeom prst="line">
                <a:avLst/>
              </a:prstGeom>
              <a:noFill/>
              <a:ln w="190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9754" name="Group 58"/>
          <p:cNvGrpSpPr/>
          <p:nvPr/>
        </p:nvGrpSpPr>
        <p:grpSpPr bwMode="auto">
          <a:xfrm>
            <a:off x="2217738" y="1974850"/>
            <a:ext cx="923925" cy="2119313"/>
            <a:chOff x="1397" y="1269"/>
            <a:chExt cx="582" cy="1335"/>
          </a:xfrm>
        </p:grpSpPr>
        <p:sp>
          <p:nvSpPr>
            <p:cNvPr id="28704" name="Text Box 59"/>
            <p:cNvSpPr txBox="1">
              <a:spLocks noChangeArrowheads="1"/>
            </p:cNvSpPr>
            <p:nvPr/>
          </p:nvSpPr>
          <p:spPr bwMode="auto">
            <a:xfrm rot="-5400000">
              <a:off x="1073" y="1593"/>
              <a:ext cx="93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chemeClr val="accent2"/>
                  </a:solidFill>
                </a:rPr>
                <a:t>最大过盈</a:t>
              </a:r>
              <a:endParaRPr lang="zh-CN" altLang="en-US" b="1">
                <a:solidFill>
                  <a:schemeClr val="accent2"/>
                </a:solidFill>
              </a:endParaRPr>
            </a:p>
          </p:txBody>
        </p:sp>
        <p:sp>
          <p:nvSpPr>
            <p:cNvPr id="28705" name="Freeform 60"/>
            <p:cNvSpPr/>
            <p:nvPr/>
          </p:nvSpPr>
          <p:spPr bwMode="auto">
            <a:xfrm>
              <a:off x="1657" y="1389"/>
              <a:ext cx="1" cy="775"/>
            </a:xfrm>
            <a:custGeom>
              <a:avLst/>
              <a:gdLst>
                <a:gd name="T0" fmla="*/ 0 w 1"/>
                <a:gd name="T1" fmla="*/ 775 h 775"/>
                <a:gd name="T2" fmla="*/ 1 w 1"/>
                <a:gd name="T3" fmla="*/ 0 h 775"/>
                <a:gd name="T4" fmla="*/ 0 60000 65536"/>
                <a:gd name="T5" fmla="*/ 0 60000 65536"/>
              </a:gdLst>
              <a:ahLst/>
              <a:cxnLst>
                <a:cxn ang="T4">
                  <a:pos x="T0" y="T1"/>
                </a:cxn>
                <a:cxn ang="T5">
                  <a:pos x="T2" y="T3"/>
                </a:cxn>
              </a:cxnLst>
              <a:rect l="0" t="0" r="r" b="b"/>
              <a:pathLst>
                <a:path w="1" h="775">
                  <a:moveTo>
                    <a:pt x="0" y="775"/>
                  </a:moveTo>
                  <a:lnTo>
                    <a:pt x="1" y="0"/>
                  </a:lnTo>
                </a:path>
              </a:pathLst>
            </a:custGeom>
            <a:noFill/>
            <a:ln w="19050" cmpd="sng">
              <a:solidFill>
                <a:schemeClr val="accent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6" name="Line 61"/>
            <p:cNvSpPr>
              <a:spLocks noChangeShapeType="1"/>
            </p:cNvSpPr>
            <p:nvPr/>
          </p:nvSpPr>
          <p:spPr bwMode="auto">
            <a:xfrm flipH="1">
              <a:off x="1607" y="2115"/>
              <a:ext cx="372"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7" name="Line 62"/>
            <p:cNvSpPr>
              <a:spLocks noChangeShapeType="1"/>
            </p:cNvSpPr>
            <p:nvPr/>
          </p:nvSpPr>
          <p:spPr bwMode="auto">
            <a:xfrm>
              <a:off x="1543" y="2587"/>
              <a:ext cx="181"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8" name="Line 63"/>
            <p:cNvSpPr>
              <a:spLocks noChangeShapeType="1"/>
            </p:cNvSpPr>
            <p:nvPr/>
          </p:nvSpPr>
          <p:spPr bwMode="auto">
            <a:xfrm>
              <a:off x="1656" y="2112"/>
              <a:ext cx="0" cy="492"/>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60" name="Group 64"/>
          <p:cNvGrpSpPr/>
          <p:nvPr/>
        </p:nvGrpSpPr>
        <p:grpSpPr bwMode="auto">
          <a:xfrm>
            <a:off x="5010150" y="2111375"/>
            <a:ext cx="1987550" cy="2159000"/>
            <a:chOff x="3156" y="1364"/>
            <a:chExt cx="1252" cy="1360"/>
          </a:xfrm>
        </p:grpSpPr>
        <p:sp>
          <p:nvSpPr>
            <p:cNvPr id="28689" name="Rectangle 65"/>
            <p:cNvSpPr>
              <a:spLocks noChangeArrowheads="1"/>
            </p:cNvSpPr>
            <p:nvPr/>
          </p:nvSpPr>
          <p:spPr bwMode="auto">
            <a:xfrm>
              <a:off x="3614" y="2222"/>
              <a:ext cx="523" cy="194"/>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690" name="Rectangle 66"/>
            <p:cNvSpPr>
              <a:spLocks noChangeArrowheads="1"/>
            </p:cNvSpPr>
            <p:nvPr/>
          </p:nvSpPr>
          <p:spPr bwMode="auto">
            <a:xfrm>
              <a:off x="3614" y="2508"/>
              <a:ext cx="523" cy="206"/>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8691" name="Group 67"/>
            <p:cNvGrpSpPr/>
            <p:nvPr/>
          </p:nvGrpSpPr>
          <p:grpSpPr bwMode="auto">
            <a:xfrm>
              <a:off x="4119" y="1466"/>
              <a:ext cx="289" cy="1150"/>
              <a:chOff x="4119" y="1466"/>
              <a:chExt cx="289" cy="1150"/>
            </a:xfrm>
          </p:grpSpPr>
          <p:sp>
            <p:nvSpPr>
              <p:cNvPr id="28698" name="Text Box 68"/>
              <p:cNvSpPr txBox="1">
                <a:spLocks noChangeArrowheads="1"/>
              </p:cNvSpPr>
              <p:nvPr/>
            </p:nvSpPr>
            <p:spPr bwMode="auto">
              <a:xfrm rot="-5400000">
                <a:off x="3820" y="1766"/>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最小过盈</a:t>
                </a:r>
                <a:endParaRPr lang="zh-CN" altLang="en-US" b="1">
                  <a:solidFill>
                    <a:srgbClr val="FF3300"/>
                  </a:solidFill>
                </a:endParaRPr>
              </a:p>
            </p:txBody>
          </p:sp>
          <p:sp>
            <p:nvSpPr>
              <p:cNvPr id="28699" name="Line 69"/>
              <p:cNvSpPr>
                <a:spLocks noChangeShapeType="1"/>
              </p:cNvSpPr>
              <p:nvPr/>
            </p:nvSpPr>
            <p:spPr bwMode="auto">
              <a:xfrm>
                <a:off x="4119" y="2416"/>
                <a:ext cx="28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0" name="Line 70"/>
              <p:cNvSpPr>
                <a:spLocks noChangeShapeType="1"/>
              </p:cNvSpPr>
              <p:nvPr/>
            </p:nvSpPr>
            <p:spPr bwMode="auto">
              <a:xfrm>
                <a:off x="4137" y="2508"/>
                <a:ext cx="26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1" name="Line 71"/>
              <p:cNvSpPr>
                <a:spLocks noChangeShapeType="1"/>
              </p:cNvSpPr>
              <p:nvPr/>
            </p:nvSpPr>
            <p:spPr bwMode="auto">
              <a:xfrm>
                <a:off x="4375" y="2416"/>
                <a:ext cx="0" cy="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2" name="Line 72"/>
              <p:cNvSpPr>
                <a:spLocks noChangeShapeType="1"/>
              </p:cNvSpPr>
              <p:nvPr/>
            </p:nvSpPr>
            <p:spPr bwMode="auto">
              <a:xfrm>
                <a:off x="4375" y="2494"/>
                <a:ext cx="0" cy="122"/>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3" name="Line 73"/>
              <p:cNvSpPr>
                <a:spLocks noChangeShapeType="1"/>
              </p:cNvSpPr>
              <p:nvPr/>
            </p:nvSpPr>
            <p:spPr bwMode="auto">
              <a:xfrm flipV="1">
                <a:off x="4375" y="1467"/>
                <a:ext cx="0" cy="97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8692" name="Group 74"/>
            <p:cNvGrpSpPr/>
            <p:nvPr/>
          </p:nvGrpSpPr>
          <p:grpSpPr bwMode="auto">
            <a:xfrm>
              <a:off x="3156" y="1364"/>
              <a:ext cx="458" cy="1360"/>
              <a:chOff x="3156" y="1364"/>
              <a:chExt cx="458" cy="1360"/>
            </a:xfrm>
          </p:grpSpPr>
          <p:sp>
            <p:nvSpPr>
              <p:cNvPr id="28693" name="Text Box 75"/>
              <p:cNvSpPr txBox="1">
                <a:spLocks noChangeArrowheads="1"/>
              </p:cNvSpPr>
              <p:nvPr/>
            </p:nvSpPr>
            <p:spPr bwMode="auto">
              <a:xfrm rot="-5400000">
                <a:off x="2856" y="1664"/>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chemeClr val="accent2"/>
                    </a:solidFill>
                  </a:rPr>
                  <a:t>最大过盈</a:t>
                </a:r>
                <a:endParaRPr lang="zh-CN" altLang="en-US" b="1">
                  <a:solidFill>
                    <a:schemeClr val="accent2"/>
                  </a:solidFill>
                </a:endParaRPr>
              </a:p>
            </p:txBody>
          </p:sp>
          <p:sp>
            <p:nvSpPr>
              <p:cNvPr id="28694" name="Line 76"/>
              <p:cNvSpPr>
                <a:spLocks noChangeShapeType="1"/>
              </p:cNvSpPr>
              <p:nvPr/>
            </p:nvSpPr>
            <p:spPr bwMode="auto">
              <a:xfrm flipH="1" flipV="1">
                <a:off x="3343" y="2222"/>
                <a:ext cx="271"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5" name="Line 77"/>
              <p:cNvSpPr>
                <a:spLocks noChangeShapeType="1"/>
              </p:cNvSpPr>
              <p:nvPr/>
            </p:nvSpPr>
            <p:spPr bwMode="auto">
              <a:xfrm flipH="1">
                <a:off x="3331" y="2714"/>
                <a:ext cx="283"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6" name="Line 78"/>
              <p:cNvSpPr>
                <a:spLocks noChangeShapeType="1"/>
              </p:cNvSpPr>
              <p:nvPr/>
            </p:nvSpPr>
            <p:spPr bwMode="auto">
              <a:xfrm flipV="1">
                <a:off x="3435" y="1388"/>
                <a:ext cx="0" cy="822"/>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7" name="Line 79"/>
              <p:cNvSpPr>
                <a:spLocks noChangeShapeType="1"/>
              </p:cNvSpPr>
              <p:nvPr/>
            </p:nvSpPr>
            <p:spPr bwMode="auto">
              <a:xfrm>
                <a:off x="3432" y="2208"/>
                <a:ext cx="0" cy="516"/>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9776" name="Group 80"/>
          <p:cNvGrpSpPr/>
          <p:nvPr/>
        </p:nvGrpSpPr>
        <p:grpSpPr bwMode="auto">
          <a:xfrm>
            <a:off x="7226300" y="1665288"/>
            <a:ext cx="1081088" cy="2651125"/>
            <a:chOff x="4560" y="1049"/>
            <a:chExt cx="681" cy="1670"/>
          </a:xfrm>
        </p:grpSpPr>
        <p:grpSp>
          <p:nvGrpSpPr>
            <p:cNvPr id="28684" name="Group 81"/>
            <p:cNvGrpSpPr/>
            <p:nvPr/>
          </p:nvGrpSpPr>
          <p:grpSpPr bwMode="auto">
            <a:xfrm>
              <a:off x="4560" y="2317"/>
              <a:ext cx="475" cy="402"/>
              <a:chOff x="4560" y="2317"/>
              <a:chExt cx="475" cy="402"/>
            </a:xfrm>
          </p:grpSpPr>
          <p:sp>
            <p:nvSpPr>
              <p:cNvPr id="28687" name="Rectangle 82"/>
              <p:cNvSpPr>
                <a:spLocks noChangeArrowheads="1"/>
              </p:cNvSpPr>
              <p:nvPr/>
            </p:nvSpPr>
            <p:spPr bwMode="auto">
              <a:xfrm>
                <a:off x="4560" y="2317"/>
                <a:ext cx="475" cy="204"/>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688" name="Rectangle 83"/>
              <p:cNvSpPr>
                <a:spLocks noChangeArrowheads="1"/>
              </p:cNvSpPr>
              <p:nvPr/>
            </p:nvSpPr>
            <p:spPr bwMode="auto">
              <a:xfrm>
                <a:off x="4560" y="2515"/>
                <a:ext cx="475" cy="204"/>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8685" name="Line 84"/>
            <p:cNvSpPr>
              <a:spLocks noChangeShapeType="1"/>
            </p:cNvSpPr>
            <p:nvPr/>
          </p:nvSpPr>
          <p:spPr bwMode="auto">
            <a:xfrm flipV="1">
              <a:off x="5040" y="2292"/>
              <a:ext cx="144" cy="216"/>
            </a:xfrm>
            <a:prstGeom prst="line">
              <a:avLst/>
            </a:prstGeom>
            <a:noFill/>
            <a:ln w="19050">
              <a:solidFill>
                <a:srgbClr val="FF66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6" name="Text Box 85"/>
            <p:cNvSpPr txBox="1">
              <a:spLocks noChangeArrowheads="1"/>
            </p:cNvSpPr>
            <p:nvPr/>
          </p:nvSpPr>
          <p:spPr bwMode="auto">
            <a:xfrm rot="-5400000">
              <a:off x="4460" y="1542"/>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最小过盈是零</a:t>
              </a:r>
              <a:endParaRPr lang="zh-CN" altLang="en-US" b="1">
                <a:solidFill>
                  <a:srgbClr val="FF3300"/>
                </a:solidFill>
              </a:endParaRPr>
            </a:p>
          </p:txBody>
        </p:sp>
      </p:grpSp>
      <p:sp>
        <p:nvSpPr>
          <p:cNvPr id="29782" name="Text Box 86"/>
          <p:cNvSpPr txBox="1">
            <a:spLocks noChangeArrowheads="1"/>
          </p:cNvSpPr>
          <p:nvPr/>
        </p:nvSpPr>
        <p:spPr bwMode="auto">
          <a:xfrm>
            <a:off x="1260475" y="5302250"/>
            <a:ext cx="2801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rPr>
              <a:t>过盈配合示意图</a:t>
            </a:r>
            <a:endParaRPr lang="zh-CN" altLang="en-US">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ppt_x"/>
                                          </p:val>
                                        </p:tav>
                                        <p:tav tm="100000">
                                          <p:val>
                                            <p:strVal val="#ppt_x"/>
                                          </p:val>
                                        </p:tav>
                                      </p:tavLst>
                                    </p:anim>
                                    <p:anim calcmode="lin" valueType="num">
                                      <p:cBhvr additive="base">
                                        <p:cTn id="8" dur="500" fill="hold"/>
                                        <p:tgtEl>
                                          <p:spTgt spid="2969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9789"/>
                                        </p:tgtEl>
                                        <p:attrNameLst>
                                          <p:attrName>style.visibility</p:attrName>
                                        </p:attrNameLst>
                                      </p:cBhvr>
                                      <p:to>
                                        <p:strVal val="visible"/>
                                      </p:to>
                                    </p:set>
                                    <p:animEffect transition="in" filter="wipe(down)">
                                      <p:cBhvr>
                                        <p:cTn id="13" dur="500"/>
                                        <p:tgtEl>
                                          <p:spTgt spid="2978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9786"/>
                                        </p:tgtEl>
                                        <p:attrNameLst>
                                          <p:attrName>style.visibility</p:attrName>
                                        </p:attrNameLst>
                                      </p:cBhvr>
                                      <p:to>
                                        <p:strVal val="visible"/>
                                      </p:to>
                                    </p:set>
                                    <p:animEffect transition="in" filter="wipe(down)">
                                      <p:cBhvr>
                                        <p:cTn id="18" dur="500"/>
                                        <p:tgtEl>
                                          <p:spTgt spid="2978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9754"/>
                                        </p:tgtEl>
                                        <p:attrNameLst>
                                          <p:attrName>style.visibility</p:attrName>
                                        </p:attrNameLst>
                                      </p:cBhvr>
                                      <p:to>
                                        <p:strVal val="visible"/>
                                      </p:to>
                                    </p:set>
                                    <p:animEffect transition="in" filter="wipe(down)">
                                      <p:cBhvr>
                                        <p:cTn id="23" dur="500"/>
                                        <p:tgtEl>
                                          <p:spTgt spid="2975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9747"/>
                                        </p:tgtEl>
                                        <p:attrNameLst>
                                          <p:attrName>style.visibility</p:attrName>
                                        </p:attrNameLst>
                                      </p:cBhvr>
                                      <p:to>
                                        <p:strVal val="visible"/>
                                      </p:to>
                                    </p:set>
                                    <p:animEffect transition="in" filter="wipe(down)">
                                      <p:cBhvr>
                                        <p:cTn id="28" dur="500"/>
                                        <p:tgtEl>
                                          <p:spTgt spid="29747"/>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29782"/>
                                        </p:tgtEl>
                                        <p:attrNameLst>
                                          <p:attrName>style.visibility</p:attrName>
                                        </p:attrNameLst>
                                      </p:cBhvr>
                                      <p:to>
                                        <p:strVal val="visible"/>
                                      </p:to>
                                    </p:set>
                                    <p:animEffect transition="in" filter="slide(fromLeft)">
                                      <p:cBhvr>
                                        <p:cTn id="33" dur="500"/>
                                        <p:tgtEl>
                                          <p:spTgt spid="2978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9760"/>
                                        </p:tgtEl>
                                        <p:attrNameLst>
                                          <p:attrName>style.visibility</p:attrName>
                                        </p:attrNameLst>
                                      </p:cBhvr>
                                      <p:to>
                                        <p:strVal val="visible"/>
                                      </p:to>
                                    </p:set>
                                    <p:animEffect transition="in" filter="wipe(down)">
                                      <p:cBhvr>
                                        <p:cTn id="38" dur="500"/>
                                        <p:tgtEl>
                                          <p:spTgt spid="2976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9776"/>
                                        </p:tgtEl>
                                        <p:attrNameLst>
                                          <p:attrName>style.visibility</p:attrName>
                                        </p:attrNameLst>
                                      </p:cBhvr>
                                      <p:to>
                                        <p:strVal val="visible"/>
                                      </p:to>
                                    </p:set>
                                    <p:animEffect transition="in" filter="wipe(down)">
                                      <p:cBhvr>
                                        <p:cTn id="43" dur="500"/>
                                        <p:tgtEl>
                                          <p:spTgt spid="2977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9700"/>
                                        </p:tgtEl>
                                        <p:attrNameLst>
                                          <p:attrName>style.visibility</p:attrName>
                                        </p:attrNameLst>
                                      </p:cBhvr>
                                      <p:to>
                                        <p:strVal val="visible"/>
                                      </p:to>
                                    </p:set>
                                    <p:anim calcmode="lin" valueType="num">
                                      <p:cBhvr additive="base">
                                        <p:cTn id="48" dur="500" fill="hold"/>
                                        <p:tgtEl>
                                          <p:spTgt spid="29700"/>
                                        </p:tgtEl>
                                        <p:attrNameLst>
                                          <p:attrName>ppt_x</p:attrName>
                                        </p:attrNameLst>
                                      </p:cBhvr>
                                      <p:tavLst>
                                        <p:tav tm="0">
                                          <p:val>
                                            <p:strVal val="#ppt_x"/>
                                          </p:val>
                                        </p:tav>
                                        <p:tav tm="100000">
                                          <p:val>
                                            <p:strVal val="#ppt_x"/>
                                          </p:val>
                                        </p:tav>
                                      </p:tavLst>
                                    </p:anim>
                                    <p:anim calcmode="lin" valueType="num">
                                      <p:cBhvr additive="base">
                                        <p:cTn id="49" dur="500" fill="hold"/>
                                        <p:tgtEl>
                                          <p:spTgt spid="297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utoUpdateAnimBg="0"/>
      <p:bldP spid="29700" grpId="0" animBg="1" autoUpdateAnimBg="0"/>
      <p:bldP spid="2978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536575" y="211138"/>
            <a:ext cx="271303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③ </a:t>
            </a:r>
            <a:r>
              <a:rPr lang="zh-CN" altLang="en-US" sz="3200" b="1">
                <a:latin typeface="宋体" panose="02010600030101010101" pitchFamily="2" charset="-122"/>
              </a:rPr>
              <a:t>过渡配合</a:t>
            </a:r>
            <a:endParaRPr lang="zh-CN" altLang="en-US" sz="3200" b="1">
              <a:latin typeface="宋体" panose="02010600030101010101" pitchFamily="2" charset="-122"/>
            </a:endParaRPr>
          </a:p>
        </p:txBody>
      </p:sp>
      <p:sp>
        <p:nvSpPr>
          <p:cNvPr id="30723" name="Text Box 3"/>
          <p:cNvSpPr txBox="1">
            <a:spLocks noChangeArrowheads="1"/>
          </p:cNvSpPr>
          <p:nvPr/>
        </p:nvSpPr>
        <p:spPr bwMode="auto">
          <a:xfrm>
            <a:off x="1108075" y="736600"/>
            <a:ext cx="55467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可能具有间隙或过盈的配合。</a:t>
            </a:r>
            <a:endParaRPr lang="zh-CN" altLang="en-US" sz="3200" b="1">
              <a:latin typeface="宋体" panose="02010600030101010101" pitchFamily="2" charset="-122"/>
            </a:endParaRPr>
          </a:p>
        </p:txBody>
      </p:sp>
      <p:grpSp>
        <p:nvGrpSpPr>
          <p:cNvPr id="30809" name="Group 89"/>
          <p:cNvGrpSpPr/>
          <p:nvPr/>
        </p:nvGrpSpPr>
        <p:grpSpPr bwMode="auto">
          <a:xfrm>
            <a:off x="2465388" y="1687513"/>
            <a:ext cx="855662" cy="2182812"/>
            <a:chOff x="1553" y="1063"/>
            <a:chExt cx="539" cy="1375"/>
          </a:xfrm>
        </p:grpSpPr>
        <p:sp>
          <p:nvSpPr>
            <p:cNvPr id="29773" name="Line 5"/>
            <p:cNvSpPr>
              <a:spLocks noChangeShapeType="1"/>
            </p:cNvSpPr>
            <p:nvPr/>
          </p:nvSpPr>
          <p:spPr bwMode="auto">
            <a:xfrm flipH="1">
              <a:off x="1924" y="2168"/>
              <a:ext cx="16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74" name="Text Box 6"/>
            <p:cNvSpPr txBox="1">
              <a:spLocks noChangeArrowheads="1"/>
            </p:cNvSpPr>
            <p:nvPr/>
          </p:nvSpPr>
          <p:spPr bwMode="auto">
            <a:xfrm rot="-5400000">
              <a:off x="1373" y="1416"/>
              <a:ext cx="99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最大过盈</a:t>
              </a:r>
              <a:endParaRPr lang="zh-CN" altLang="en-US" b="1">
                <a:solidFill>
                  <a:srgbClr val="FF3300"/>
                </a:solidFill>
              </a:endParaRPr>
            </a:p>
          </p:txBody>
        </p:sp>
        <p:sp>
          <p:nvSpPr>
            <p:cNvPr id="29775" name="Freeform 7"/>
            <p:cNvSpPr/>
            <p:nvPr/>
          </p:nvSpPr>
          <p:spPr bwMode="auto">
            <a:xfrm>
              <a:off x="1982" y="2282"/>
              <a:ext cx="47" cy="156"/>
            </a:xfrm>
            <a:custGeom>
              <a:avLst/>
              <a:gdLst>
                <a:gd name="T0" fmla="*/ 0 w 1"/>
                <a:gd name="T1" fmla="*/ 0 h 127"/>
                <a:gd name="T2" fmla="*/ 0 w 1"/>
                <a:gd name="T3" fmla="*/ 156 h 127"/>
                <a:gd name="T4" fmla="*/ 0 60000 65536"/>
                <a:gd name="T5" fmla="*/ 0 60000 65536"/>
              </a:gdLst>
              <a:ahLst/>
              <a:cxnLst>
                <a:cxn ang="T4">
                  <a:pos x="T0" y="T1"/>
                </a:cxn>
                <a:cxn ang="T5">
                  <a:pos x="T2" y="T3"/>
                </a:cxn>
              </a:cxnLst>
              <a:rect l="0" t="0" r="r" b="b"/>
              <a:pathLst>
                <a:path w="1" h="127">
                  <a:moveTo>
                    <a:pt x="0" y="0"/>
                  </a:moveTo>
                  <a:lnTo>
                    <a:pt x="0" y="127"/>
                  </a:lnTo>
                </a:path>
              </a:pathLst>
            </a:custGeom>
            <a:noFill/>
            <a:ln w="19050" cap="flat" cmpd="sng">
              <a:solidFill>
                <a:srgbClr val="FF3300"/>
              </a:solidFill>
              <a:prstDash val="solid"/>
              <a:round/>
              <a:headEnd type="triangle" w="sm" len="lg"/>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76" name="Line 8"/>
            <p:cNvSpPr>
              <a:spLocks noChangeShapeType="1"/>
            </p:cNvSpPr>
            <p:nvPr/>
          </p:nvSpPr>
          <p:spPr bwMode="auto">
            <a:xfrm flipV="1">
              <a:off x="1978" y="1184"/>
              <a:ext cx="0" cy="993"/>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77" name="Line 9"/>
            <p:cNvSpPr>
              <a:spLocks noChangeShapeType="1"/>
            </p:cNvSpPr>
            <p:nvPr/>
          </p:nvSpPr>
          <p:spPr bwMode="auto">
            <a:xfrm flipV="1">
              <a:off x="1985" y="2165"/>
              <a:ext cx="0" cy="12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78" name="Line 10"/>
            <p:cNvSpPr>
              <a:spLocks noChangeShapeType="1"/>
            </p:cNvSpPr>
            <p:nvPr/>
          </p:nvSpPr>
          <p:spPr bwMode="auto">
            <a:xfrm>
              <a:off x="1553" y="2286"/>
              <a:ext cx="467"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0731" name="AutoShape 11"/>
          <p:cNvSpPr>
            <a:spLocks noChangeArrowheads="1"/>
          </p:cNvSpPr>
          <p:nvPr/>
        </p:nvSpPr>
        <p:spPr bwMode="auto">
          <a:xfrm>
            <a:off x="4597400" y="4611688"/>
            <a:ext cx="2359025" cy="1487487"/>
          </a:xfrm>
          <a:prstGeom prst="wedgeRoundRectCallout">
            <a:avLst>
              <a:gd name="adj1" fmla="val 17431"/>
              <a:gd name="adj2" fmla="val -78495"/>
              <a:gd name="adj3" fmla="val 16667"/>
            </a:avLst>
          </a:prstGeom>
          <a:solidFill>
            <a:srgbClr val="00FFCC"/>
          </a:solidFill>
          <a:ln w="12700">
            <a:solidFill>
              <a:schemeClr val="tx2"/>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tx2"/>
                </a:solidFill>
              </a:rPr>
              <a:t>孔的公差带与轴的公差带相互交叠</a:t>
            </a:r>
            <a:endParaRPr lang="zh-CN" altLang="en-US" sz="2800" b="1">
              <a:solidFill>
                <a:schemeClr val="tx2"/>
              </a:solidFill>
            </a:endParaRPr>
          </a:p>
        </p:txBody>
      </p:sp>
      <p:grpSp>
        <p:nvGrpSpPr>
          <p:cNvPr id="30811" name="Group 91"/>
          <p:cNvGrpSpPr/>
          <p:nvPr/>
        </p:nvGrpSpPr>
        <p:grpSpPr bwMode="auto">
          <a:xfrm>
            <a:off x="5048250" y="1917700"/>
            <a:ext cx="1908175" cy="2378075"/>
            <a:chOff x="3180" y="1225"/>
            <a:chExt cx="1202" cy="1498"/>
          </a:xfrm>
        </p:grpSpPr>
        <p:sp>
          <p:nvSpPr>
            <p:cNvPr id="29759" name="Rectangle 13"/>
            <p:cNvSpPr>
              <a:spLocks noChangeArrowheads="1"/>
            </p:cNvSpPr>
            <p:nvPr/>
          </p:nvSpPr>
          <p:spPr bwMode="auto">
            <a:xfrm>
              <a:off x="3543" y="2327"/>
              <a:ext cx="523" cy="182"/>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60" name="Text Box 14"/>
            <p:cNvSpPr txBox="1">
              <a:spLocks noChangeArrowheads="1"/>
            </p:cNvSpPr>
            <p:nvPr/>
          </p:nvSpPr>
          <p:spPr bwMode="auto">
            <a:xfrm rot="-5400000">
              <a:off x="2880" y="1824"/>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rgbClr val="FF3300"/>
                  </a:solidFill>
                </a:rPr>
                <a:t>最大过盈</a:t>
              </a:r>
              <a:endParaRPr lang="zh-CN" altLang="en-US" b="1">
                <a:solidFill>
                  <a:srgbClr val="FF3300"/>
                </a:solidFill>
              </a:endParaRPr>
            </a:p>
          </p:txBody>
        </p:sp>
        <p:sp>
          <p:nvSpPr>
            <p:cNvPr id="29761" name="Line 15"/>
            <p:cNvSpPr>
              <a:spLocks noChangeShapeType="1"/>
            </p:cNvSpPr>
            <p:nvPr/>
          </p:nvSpPr>
          <p:spPr bwMode="auto">
            <a:xfrm flipV="1">
              <a:off x="3389" y="2440"/>
              <a:ext cx="24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62" name="Freeform 16"/>
            <p:cNvSpPr/>
            <p:nvPr/>
          </p:nvSpPr>
          <p:spPr bwMode="auto">
            <a:xfrm>
              <a:off x="3394" y="2508"/>
              <a:ext cx="160" cy="1"/>
            </a:xfrm>
            <a:custGeom>
              <a:avLst/>
              <a:gdLst>
                <a:gd name="T0" fmla="*/ 160 w 160"/>
                <a:gd name="T1" fmla="*/ 0 h 1"/>
                <a:gd name="T2" fmla="*/ 0 w 160"/>
                <a:gd name="T3" fmla="*/ 0 h 1"/>
                <a:gd name="T4" fmla="*/ 0 60000 65536"/>
                <a:gd name="T5" fmla="*/ 0 60000 65536"/>
              </a:gdLst>
              <a:ahLst/>
              <a:cxnLst>
                <a:cxn ang="T4">
                  <a:pos x="T0" y="T1"/>
                </a:cxn>
                <a:cxn ang="T5">
                  <a:pos x="T2" y="T3"/>
                </a:cxn>
              </a:cxnLst>
              <a:rect l="0" t="0" r="r" b="b"/>
              <a:pathLst>
                <a:path w="160" h="1">
                  <a:moveTo>
                    <a:pt x="160" y="0"/>
                  </a:moveTo>
                  <a:lnTo>
                    <a:pt x="0" y="0"/>
                  </a:lnTo>
                </a:path>
              </a:pathLst>
            </a:custGeom>
            <a:noFill/>
            <a:ln w="19050">
              <a:solidFill>
                <a:srgbClr val="FF33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63" name="Freeform 17"/>
            <p:cNvSpPr/>
            <p:nvPr/>
          </p:nvSpPr>
          <p:spPr bwMode="auto">
            <a:xfrm>
              <a:off x="3441" y="2496"/>
              <a:ext cx="4" cy="166"/>
            </a:xfrm>
            <a:custGeom>
              <a:avLst/>
              <a:gdLst>
                <a:gd name="T0" fmla="*/ 0 w 4"/>
                <a:gd name="T1" fmla="*/ 166 h 166"/>
                <a:gd name="T2" fmla="*/ 4 w 4"/>
                <a:gd name="T3" fmla="*/ 0 h 166"/>
                <a:gd name="T4" fmla="*/ 0 60000 65536"/>
                <a:gd name="T5" fmla="*/ 0 60000 65536"/>
              </a:gdLst>
              <a:ahLst/>
              <a:cxnLst>
                <a:cxn ang="T4">
                  <a:pos x="T0" y="T1"/>
                </a:cxn>
                <a:cxn ang="T5">
                  <a:pos x="T2" y="T3"/>
                </a:cxn>
              </a:cxnLst>
              <a:rect l="0" t="0" r="r" b="b"/>
              <a:pathLst>
                <a:path w="4" h="166">
                  <a:moveTo>
                    <a:pt x="0" y="166"/>
                  </a:moveTo>
                  <a:lnTo>
                    <a:pt x="4" y="0"/>
                  </a:lnTo>
                </a:path>
              </a:pathLst>
            </a:custGeom>
            <a:noFill/>
            <a:ln w="19050" cap="flat" cmpd="sng">
              <a:solidFill>
                <a:srgbClr val="FF3300"/>
              </a:solidFill>
              <a:prstDash val="solid"/>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64" name="Freeform 18"/>
            <p:cNvSpPr/>
            <p:nvPr/>
          </p:nvSpPr>
          <p:spPr bwMode="auto">
            <a:xfrm>
              <a:off x="3440" y="1586"/>
              <a:ext cx="3" cy="862"/>
            </a:xfrm>
            <a:custGeom>
              <a:avLst/>
              <a:gdLst>
                <a:gd name="T0" fmla="*/ 3 w 3"/>
                <a:gd name="T1" fmla="*/ 862 h 862"/>
                <a:gd name="T2" fmla="*/ 0 w 3"/>
                <a:gd name="T3" fmla="*/ 0 h 862"/>
                <a:gd name="T4" fmla="*/ 0 60000 65536"/>
                <a:gd name="T5" fmla="*/ 0 60000 65536"/>
              </a:gdLst>
              <a:ahLst/>
              <a:cxnLst>
                <a:cxn ang="T4">
                  <a:pos x="T0" y="T1"/>
                </a:cxn>
                <a:cxn ang="T5">
                  <a:pos x="T2" y="T3"/>
                </a:cxn>
              </a:cxnLst>
              <a:rect l="0" t="0" r="r" b="b"/>
              <a:pathLst>
                <a:path w="3" h="862">
                  <a:moveTo>
                    <a:pt x="3" y="862"/>
                  </a:moveTo>
                  <a:lnTo>
                    <a:pt x="0" y="0"/>
                  </a:lnTo>
                </a:path>
              </a:pathLst>
            </a:custGeom>
            <a:noFill/>
            <a:ln w="19050" cap="flat" cmpd="sng">
              <a:solidFill>
                <a:srgbClr val="FF3300"/>
              </a:solidFill>
              <a:prstDash val="solid"/>
              <a:round/>
              <a:headEnd type="triangle" w="sm" len="lg"/>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65" name="Rectangle 19"/>
            <p:cNvSpPr>
              <a:spLocks noChangeArrowheads="1"/>
            </p:cNvSpPr>
            <p:nvPr/>
          </p:nvSpPr>
          <p:spPr bwMode="auto">
            <a:xfrm>
              <a:off x="3629" y="2439"/>
              <a:ext cx="523" cy="182"/>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66" name="Text Box 20"/>
            <p:cNvSpPr txBox="1">
              <a:spLocks noChangeArrowheads="1"/>
            </p:cNvSpPr>
            <p:nvPr/>
          </p:nvSpPr>
          <p:spPr bwMode="auto">
            <a:xfrm rot="-5400000">
              <a:off x="3657" y="1636"/>
              <a:ext cx="11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chemeClr val="accent2"/>
                  </a:solidFill>
                </a:rPr>
                <a:t>最大间隙</a:t>
              </a:r>
              <a:endParaRPr lang="zh-CN" altLang="en-US" b="1">
                <a:solidFill>
                  <a:schemeClr val="accent2"/>
                </a:solidFill>
              </a:endParaRPr>
            </a:p>
          </p:txBody>
        </p:sp>
        <p:sp>
          <p:nvSpPr>
            <p:cNvPr id="29767" name="Line 21"/>
            <p:cNvSpPr>
              <a:spLocks noChangeShapeType="1"/>
            </p:cNvSpPr>
            <p:nvPr/>
          </p:nvSpPr>
          <p:spPr bwMode="auto">
            <a:xfrm>
              <a:off x="4059" y="2327"/>
              <a:ext cx="320"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68" name="Line 22"/>
            <p:cNvSpPr>
              <a:spLocks noChangeShapeType="1"/>
            </p:cNvSpPr>
            <p:nvPr/>
          </p:nvSpPr>
          <p:spPr bwMode="auto">
            <a:xfrm>
              <a:off x="4152" y="2620"/>
              <a:ext cx="230"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69" name="Line 23"/>
            <p:cNvSpPr>
              <a:spLocks noChangeShapeType="1"/>
            </p:cNvSpPr>
            <p:nvPr/>
          </p:nvSpPr>
          <p:spPr bwMode="auto">
            <a:xfrm>
              <a:off x="4342" y="2334"/>
              <a:ext cx="0" cy="299"/>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70" name="Line 24"/>
            <p:cNvSpPr>
              <a:spLocks noChangeShapeType="1"/>
            </p:cNvSpPr>
            <p:nvPr/>
          </p:nvSpPr>
          <p:spPr bwMode="auto">
            <a:xfrm>
              <a:off x="4342" y="2601"/>
              <a:ext cx="0" cy="122"/>
            </a:xfrm>
            <a:prstGeom prst="line">
              <a:avLst/>
            </a:prstGeom>
            <a:noFill/>
            <a:ln w="19050">
              <a:solidFill>
                <a:schemeClr val="accent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71" name="Line 25"/>
            <p:cNvSpPr>
              <a:spLocks noChangeShapeType="1"/>
            </p:cNvSpPr>
            <p:nvPr/>
          </p:nvSpPr>
          <p:spPr bwMode="auto">
            <a:xfrm flipV="1">
              <a:off x="4342" y="1492"/>
              <a:ext cx="0" cy="861"/>
            </a:xfrm>
            <a:prstGeom prst="line">
              <a:avLst/>
            </a:prstGeom>
            <a:noFill/>
            <a:ln w="19050">
              <a:solidFill>
                <a:schemeClr val="accent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72" name="Freeform 26"/>
            <p:cNvSpPr/>
            <p:nvPr/>
          </p:nvSpPr>
          <p:spPr bwMode="auto">
            <a:xfrm>
              <a:off x="3446" y="2431"/>
              <a:ext cx="1" cy="75"/>
            </a:xfrm>
            <a:custGeom>
              <a:avLst/>
              <a:gdLst>
                <a:gd name="T0" fmla="*/ 0 w 1"/>
                <a:gd name="T1" fmla="*/ 75 h 75"/>
                <a:gd name="T2" fmla="*/ 0 w 1"/>
                <a:gd name="T3" fmla="*/ 0 h 75"/>
                <a:gd name="T4" fmla="*/ 0 60000 65536"/>
                <a:gd name="T5" fmla="*/ 0 60000 65536"/>
              </a:gdLst>
              <a:ahLst/>
              <a:cxnLst>
                <a:cxn ang="T4">
                  <a:pos x="T0" y="T1"/>
                </a:cxn>
                <a:cxn ang="T5">
                  <a:pos x="T2" y="T3"/>
                </a:cxn>
              </a:cxnLst>
              <a:rect l="0" t="0" r="r" b="b"/>
              <a:pathLst>
                <a:path w="1" h="75">
                  <a:moveTo>
                    <a:pt x="0" y="75"/>
                  </a:moveTo>
                  <a:lnTo>
                    <a:pt x="0" y="0"/>
                  </a:lnTo>
                </a:path>
              </a:pathLst>
            </a:custGeom>
            <a:noFill/>
            <a:ln w="19050">
              <a:solidFill>
                <a:srgbClr val="FF33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0747" name="Group 27"/>
          <p:cNvGrpSpPr/>
          <p:nvPr/>
        </p:nvGrpSpPr>
        <p:grpSpPr bwMode="auto">
          <a:xfrm>
            <a:off x="2355850" y="1703388"/>
            <a:ext cx="977900" cy="2363787"/>
            <a:chOff x="1484" y="1073"/>
            <a:chExt cx="616" cy="1489"/>
          </a:xfrm>
        </p:grpSpPr>
        <p:sp>
          <p:nvSpPr>
            <p:cNvPr id="29753" name="Text Box 28"/>
            <p:cNvSpPr txBox="1">
              <a:spLocks noChangeArrowheads="1"/>
            </p:cNvSpPr>
            <p:nvPr/>
          </p:nvSpPr>
          <p:spPr bwMode="auto">
            <a:xfrm rot="-5400000">
              <a:off x="1164" y="1393"/>
              <a:ext cx="9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b="1">
                  <a:solidFill>
                    <a:schemeClr val="accent2"/>
                  </a:solidFill>
                </a:rPr>
                <a:t>最大间隙</a:t>
              </a:r>
              <a:endParaRPr lang="zh-CN" altLang="en-US" b="1">
                <a:solidFill>
                  <a:schemeClr val="accent2"/>
                </a:solidFill>
              </a:endParaRPr>
            </a:p>
          </p:txBody>
        </p:sp>
        <p:sp>
          <p:nvSpPr>
            <p:cNvPr id="29754" name="Freeform 29"/>
            <p:cNvSpPr/>
            <p:nvPr/>
          </p:nvSpPr>
          <p:spPr bwMode="auto">
            <a:xfrm>
              <a:off x="1752" y="2350"/>
              <a:ext cx="4" cy="212"/>
            </a:xfrm>
            <a:custGeom>
              <a:avLst/>
              <a:gdLst>
                <a:gd name="T0" fmla="*/ 4 w 4"/>
                <a:gd name="T1" fmla="*/ 0 h 212"/>
                <a:gd name="T2" fmla="*/ 0 w 4"/>
                <a:gd name="T3" fmla="*/ 212 h 212"/>
                <a:gd name="T4" fmla="*/ 3 w 4"/>
                <a:gd name="T5" fmla="*/ 128 h 212"/>
                <a:gd name="T6" fmla="*/ 0 60000 65536"/>
                <a:gd name="T7" fmla="*/ 0 60000 65536"/>
                <a:gd name="T8" fmla="*/ 0 60000 65536"/>
              </a:gdLst>
              <a:ahLst/>
              <a:cxnLst>
                <a:cxn ang="T6">
                  <a:pos x="T0" y="T1"/>
                </a:cxn>
                <a:cxn ang="T7">
                  <a:pos x="T2" y="T3"/>
                </a:cxn>
                <a:cxn ang="T8">
                  <a:pos x="T4" y="T5"/>
                </a:cxn>
              </a:cxnLst>
              <a:rect l="0" t="0" r="r" b="b"/>
              <a:pathLst>
                <a:path w="4" h="212">
                  <a:moveTo>
                    <a:pt x="4" y="0"/>
                  </a:moveTo>
                  <a:lnTo>
                    <a:pt x="0" y="212"/>
                  </a:lnTo>
                  <a:lnTo>
                    <a:pt x="3" y="128"/>
                  </a:lnTo>
                </a:path>
              </a:pathLst>
            </a:custGeom>
            <a:noFill/>
            <a:ln w="19050" cap="flat" cmpd="sng">
              <a:solidFill>
                <a:schemeClr val="accent2"/>
              </a:solidFill>
              <a:prstDash val="solid"/>
              <a:round/>
              <a:headEnd type="triangl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55" name="Line 30"/>
            <p:cNvSpPr>
              <a:spLocks noChangeShapeType="1"/>
            </p:cNvSpPr>
            <p:nvPr/>
          </p:nvSpPr>
          <p:spPr bwMode="auto">
            <a:xfrm flipV="1">
              <a:off x="1758" y="1142"/>
              <a:ext cx="1" cy="960"/>
            </a:xfrm>
            <a:prstGeom prst="line">
              <a:avLst/>
            </a:prstGeom>
            <a:noFill/>
            <a:ln w="19050">
              <a:solidFill>
                <a:schemeClr val="accent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56" name="Line 31"/>
            <p:cNvSpPr>
              <a:spLocks noChangeShapeType="1"/>
            </p:cNvSpPr>
            <p:nvPr/>
          </p:nvSpPr>
          <p:spPr bwMode="auto">
            <a:xfrm>
              <a:off x="1541" y="2092"/>
              <a:ext cx="261"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57" name="Line 32"/>
            <p:cNvSpPr>
              <a:spLocks noChangeShapeType="1"/>
            </p:cNvSpPr>
            <p:nvPr/>
          </p:nvSpPr>
          <p:spPr bwMode="auto">
            <a:xfrm flipV="1">
              <a:off x="1760" y="2078"/>
              <a:ext cx="0" cy="301"/>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58" name="Line 33"/>
            <p:cNvSpPr>
              <a:spLocks noChangeShapeType="1"/>
            </p:cNvSpPr>
            <p:nvPr/>
          </p:nvSpPr>
          <p:spPr bwMode="auto">
            <a:xfrm flipH="1">
              <a:off x="1692" y="2364"/>
              <a:ext cx="408"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0754" name="Group 34"/>
          <p:cNvGrpSpPr/>
          <p:nvPr/>
        </p:nvGrpSpPr>
        <p:grpSpPr bwMode="auto">
          <a:xfrm>
            <a:off x="7450138" y="3692525"/>
            <a:ext cx="923925" cy="447675"/>
            <a:chOff x="4693" y="2326"/>
            <a:chExt cx="582" cy="282"/>
          </a:xfrm>
        </p:grpSpPr>
        <p:sp>
          <p:nvSpPr>
            <p:cNvPr id="29751" name="Rectangle 35"/>
            <p:cNvSpPr>
              <a:spLocks noChangeArrowheads="1"/>
            </p:cNvSpPr>
            <p:nvPr/>
          </p:nvSpPr>
          <p:spPr bwMode="auto">
            <a:xfrm>
              <a:off x="4693" y="2428"/>
              <a:ext cx="475" cy="180"/>
            </a:xfrm>
            <a:prstGeom prst="rect">
              <a:avLst/>
            </a:prstGeom>
            <a:solidFill>
              <a:srgbClr val="FF66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52" name="Rectangle 36"/>
            <p:cNvSpPr>
              <a:spLocks noChangeArrowheads="1"/>
            </p:cNvSpPr>
            <p:nvPr/>
          </p:nvSpPr>
          <p:spPr bwMode="auto">
            <a:xfrm>
              <a:off x="4800" y="2326"/>
              <a:ext cx="475" cy="192"/>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0757" name="Text Box 37"/>
          <p:cNvSpPr txBox="1">
            <a:spLocks noChangeArrowheads="1"/>
          </p:cNvSpPr>
          <p:nvPr/>
        </p:nvSpPr>
        <p:spPr bwMode="auto">
          <a:xfrm>
            <a:off x="1298575" y="4997450"/>
            <a:ext cx="2936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2800" b="1">
                <a:solidFill>
                  <a:srgbClr val="FF3300"/>
                </a:solidFill>
              </a:rPr>
              <a:t>过渡配合示意图</a:t>
            </a:r>
            <a:endParaRPr lang="zh-CN" altLang="en-US">
              <a:solidFill>
                <a:srgbClr val="FF3300"/>
              </a:solidFill>
            </a:endParaRPr>
          </a:p>
        </p:txBody>
      </p:sp>
      <p:grpSp>
        <p:nvGrpSpPr>
          <p:cNvPr id="30758" name="Group 38"/>
          <p:cNvGrpSpPr/>
          <p:nvPr/>
        </p:nvGrpSpPr>
        <p:grpSpPr bwMode="auto">
          <a:xfrm>
            <a:off x="419100" y="1316038"/>
            <a:ext cx="2065338" cy="3384550"/>
            <a:chOff x="264" y="829"/>
            <a:chExt cx="1301" cy="2132"/>
          </a:xfrm>
        </p:grpSpPr>
        <p:grpSp>
          <p:nvGrpSpPr>
            <p:cNvPr id="29724" name="Group 39"/>
            <p:cNvGrpSpPr/>
            <p:nvPr/>
          </p:nvGrpSpPr>
          <p:grpSpPr bwMode="auto">
            <a:xfrm>
              <a:off x="909" y="1944"/>
              <a:ext cx="656" cy="1017"/>
              <a:chOff x="909" y="1944"/>
              <a:chExt cx="656" cy="1017"/>
            </a:xfrm>
          </p:grpSpPr>
          <p:sp>
            <p:nvSpPr>
              <p:cNvPr id="29741" name="Freeform 40"/>
              <p:cNvSpPr/>
              <p:nvPr/>
            </p:nvSpPr>
            <p:spPr bwMode="auto">
              <a:xfrm>
                <a:off x="1025" y="1945"/>
                <a:ext cx="141" cy="148"/>
              </a:xfrm>
              <a:custGeom>
                <a:avLst/>
                <a:gdLst>
                  <a:gd name="T0" fmla="*/ 0 w 153"/>
                  <a:gd name="T1" fmla="*/ 148 h 148"/>
                  <a:gd name="T2" fmla="*/ 141 w 153"/>
                  <a:gd name="T3" fmla="*/ 0 h 148"/>
                  <a:gd name="T4" fmla="*/ 0 60000 65536"/>
                  <a:gd name="T5" fmla="*/ 0 60000 65536"/>
                </a:gdLst>
                <a:ahLst/>
                <a:cxnLst>
                  <a:cxn ang="T4">
                    <a:pos x="T0" y="T1"/>
                  </a:cxn>
                  <a:cxn ang="T5">
                    <a:pos x="T2" y="T3"/>
                  </a:cxn>
                </a:cxnLst>
                <a:rect l="0" t="0" r="r" b="b"/>
                <a:pathLst>
                  <a:path w="153" h="148">
                    <a:moveTo>
                      <a:pt x="0" y="148"/>
                    </a:moveTo>
                    <a:lnTo>
                      <a:pt x="153"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2" name="Line 41"/>
              <p:cNvSpPr>
                <a:spLocks noChangeShapeType="1"/>
              </p:cNvSpPr>
              <p:nvPr/>
            </p:nvSpPr>
            <p:spPr bwMode="auto">
              <a:xfrm flipV="1">
                <a:off x="1172" y="1944"/>
                <a:ext cx="153" cy="1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3" name="Line 42"/>
              <p:cNvSpPr>
                <a:spLocks noChangeShapeType="1"/>
              </p:cNvSpPr>
              <p:nvPr/>
            </p:nvSpPr>
            <p:spPr bwMode="auto">
              <a:xfrm flipV="1">
                <a:off x="1327" y="1944"/>
                <a:ext cx="144"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4" name="Freeform 43"/>
              <p:cNvSpPr/>
              <p:nvPr/>
            </p:nvSpPr>
            <p:spPr bwMode="auto">
              <a:xfrm>
                <a:off x="912" y="1944"/>
                <a:ext cx="125" cy="125"/>
              </a:xfrm>
              <a:custGeom>
                <a:avLst/>
                <a:gdLst>
                  <a:gd name="T0" fmla="*/ 0 w 125"/>
                  <a:gd name="T1" fmla="*/ 125 h 125"/>
                  <a:gd name="T2" fmla="*/ 125 w 125"/>
                  <a:gd name="T3" fmla="*/ 0 h 125"/>
                  <a:gd name="T4" fmla="*/ 0 60000 65536"/>
                  <a:gd name="T5" fmla="*/ 0 60000 65536"/>
                </a:gdLst>
                <a:ahLst/>
                <a:cxnLst>
                  <a:cxn ang="T4">
                    <a:pos x="T0" y="T1"/>
                  </a:cxn>
                  <a:cxn ang="T5">
                    <a:pos x="T2" y="T3"/>
                  </a:cxn>
                </a:cxnLst>
                <a:rect l="0" t="0" r="r" b="b"/>
                <a:pathLst>
                  <a:path w="125" h="125">
                    <a:moveTo>
                      <a:pt x="0" y="125"/>
                    </a:moveTo>
                    <a:lnTo>
                      <a:pt x="125"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5" name="Freeform 44"/>
              <p:cNvSpPr/>
              <p:nvPr/>
            </p:nvSpPr>
            <p:spPr bwMode="auto">
              <a:xfrm>
                <a:off x="1454" y="1991"/>
                <a:ext cx="109" cy="102"/>
              </a:xfrm>
              <a:custGeom>
                <a:avLst/>
                <a:gdLst>
                  <a:gd name="T0" fmla="*/ 0 w 109"/>
                  <a:gd name="T1" fmla="*/ 102 h 102"/>
                  <a:gd name="T2" fmla="*/ 109 w 109"/>
                  <a:gd name="T3" fmla="*/ 0 h 102"/>
                  <a:gd name="T4" fmla="*/ 0 60000 65536"/>
                  <a:gd name="T5" fmla="*/ 0 60000 65536"/>
                </a:gdLst>
                <a:ahLst/>
                <a:cxnLst>
                  <a:cxn ang="T4">
                    <a:pos x="T0" y="T1"/>
                  </a:cxn>
                  <a:cxn ang="T5">
                    <a:pos x="T2" y="T3"/>
                  </a:cxn>
                </a:cxnLst>
                <a:rect l="0" t="0" r="r" b="b"/>
                <a:pathLst>
                  <a:path w="109" h="102">
                    <a:moveTo>
                      <a:pt x="0" y="102"/>
                    </a:moveTo>
                    <a:lnTo>
                      <a:pt x="109"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6" name="Freeform 45"/>
              <p:cNvSpPr/>
              <p:nvPr/>
            </p:nvSpPr>
            <p:spPr bwMode="auto">
              <a:xfrm>
                <a:off x="909" y="2799"/>
                <a:ext cx="95" cy="95"/>
              </a:xfrm>
              <a:custGeom>
                <a:avLst/>
                <a:gdLst>
                  <a:gd name="T0" fmla="*/ 0 w 95"/>
                  <a:gd name="T1" fmla="*/ 95 h 95"/>
                  <a:gd name="T2" fmla="*/ 95 w 95"/>
                  <a:gd name="T3" fmla="*/ 0 h 95"/>
                  <a:gd name="T4" fmla="*/ 0 60000 65536"/>
                  <a:gd name="T5" fmla="*/ 0 60000 65536"/>
                </a:gdLst>
                <a:ahLst/>
                <a:cxnLst>
                  <a:cxn ang="T4">
                    <a:pos x="T0" y="T1"/>
                  </a:cxn>
                  <a:cxn ang="T5">
                    <a:pos x="T2" y="T3"/>
                  </a:cxn>
                </a:cxnLst>
                <a:rect l="0" t="0" r="r" b="b"/>
                <a:pathLst>
                  <a:path w="95" h="95">
                    <a:moveTo>
                      <a:pt x="0" y="95"/>
                    </a:moveTo>
                    <a:lnTo>
                      <a:pt x="95"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7" name="Line 46"/>
              <p:cNvSpPr>
                <a:spLocks noChangeShapeType="1"/>
              </p:cNvSpPr>
              <p:nvPr/>
            </p:nvSpPr>
            <p:spPr bwMode="auto">
              <a:xfrm flipV="1">
                <a:off x="998" y="2789"/>
                <a:ext cx="163" cy="1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8" name="Freeform 47"/>
              <p:cNvSpPr/>
              <p:nvPr/>
            </p:nvSpPr>
            <p:spPr bwMode="auto">
              <a:xfrm>
                <a:off x="1133" y="2789"/>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49" name="Freeform 48"/>
              <p:cNvSpPr/>
              <p:nvPr/>
            </p:nvSpPr>
            <p:spPr bwMode="auto">
              <a:xfrm>
                <a:off x="1258" y="2798"/>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50" name="Freeform 49"/>
              <p:cNvSpPr/>
              <p:nvPr/>
            </p:nvSpPr>
            <p:spPr bwMode="auto">
              <a:xfrm>
                <a:off x="1402" y="2798"/>
                <a:ext cx="163" cy="163"/>
              </a:xfrm>
              <a:custGeom>
                <a:avLst/>
                <a:gdLst>
                  <a:gd name="T0" fmla="*/ 0 w 163"/>
                  <a:gd name="T1" fmla="*/ 163 h 163"/>
                  <a:gd name="T2" fmla="*/ 163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9725" name="Group 50"/>
            <p:cNvGrpSpPr/>
            <p:nvPr/>
          </p:nvGrpSpPr>
          <p:grpSpPr bwMode="auto">
            <a:xfrm>
              <a:off x="264" y="829"/>
              <a:ext cx="1299" cy="2124"/>
              <a:chOff x="264" y="829"/>
              <a:chExt cx="1299" cy="2124"/>
            </a:xfrm>
          </p:grpSpPr>
          <p:sp>
            <p:nvSpPr>
              <p:cNvPr id="29726" name="Text Box 51"/>
              <p:cNvSpPr txBox="1">
                <a:spLocks noChangeArrowheads="1"/>
              </p:cNvSpPr>
              <p:nvPr/>
            </p:nvSpPr>
            <p:spPr bwMode="auto">
              <a:xfrm rot="-5400000">
                <a:off x="-226" y="1319"/>
                <a:ext cx="12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最大极限尺寸</a:t>
                </a:r>
                <a:endParaRPr lang="zh-CN" altLang="en-US" b="1"/>
              </a:p>
            </p:txBody>
          </p:sp>
          <p:sp>
            <p:nvSpPr>
              <p:cNvPr id="29727" name="Text Box 52"/>
              <p:cNvSpPr txBox="1">
                <a:spLocks noChangeArrowheads="1"/>
              </p:cNvSpPr>
              <p:nvPr/>
            </p:nvSpPr>
            <p:spPr bwMode="auto">
              <a:xfrm rot="-5400000">
                <a:off x="8" y="1357"/>
                <a:ext cx="126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最小极限尺寸</a:t>
                </a:r>
                <a:endParaRPr lang="zh-CN" altLang="en-US" b="1"/>
              </a:p>
            </p:txBody>
          </p:sp>
          <p:sp>
            <p:nvSpPr>
              <p:cNvPr id="29728" name="Freeform 53"/>
              <p:cNvSpPr/>
              <p:nvPr/>
            </p:nvSpPr>
            <p:spPr bwMode="auto">
              <a:xfrm>
                <a:off x="763" y="2258"/>
                <a:ext cx="2" cy="540"/>
              </a:xfrm>
              <a:custGeom>
                <a:avLst/>
                <a:gdLst>
                  <a:gd name="T0" fmla="*/ 2 w 2"/>
                  <a:gd name="T1" fmla="*/ 0 h 540"/>
                  <a:gd name="T2" fmla="*/ 0 w 2"/>
                  <a:gd name="T3" fmla="*/ 540 h 540"/>
                  <a:gd name="T4" fmla="*/ 0 60000 65536"/>
                  <a:gd name="T5" fmla="*/ 0 60000 65536"/>
                </a:gdLst>
                <a:ahLst/>
                <a:cxnLst>
                  <a:cxn ang="T4">
                    <a:pos x="T0" y="T1"/>
                  </a:cxn>
                  <a:cxn ang="T5">
                    <a:pos x="T2" y="T3"/>
                  </a:cxn>
                </a:cxnLst>
                <a:rect l="0" t="0" r="r" b="b"/>
                <a:pathLst>
                  <a:path w="2" h="540">
                    <a:moveTo>
                      <a:pt x="2" y="0"/>
                    </a:moveTo>
                    <a:lnTo>
                      <a:pt x="0" y="540"/>
                    </a:lnTo>
                  </a:path>
                </a:pathLst>
              </a:custGeom>
              <a:noFill/>
              <a:ln w="19050" cap="flat" cmpd="sng">
                <a:solidFill>
                  <a:schemeClr val="tx1"/>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29" name="Freeform 54"/>
              <p:cNvSpPr/>
              <p:nvPr/>
            </p:nvSpPr>
            <p:spPr bwMode="auto">
              <a:xfrm>
                <a:off x="526" y="934"/>
                <a:ext cx="1" cy="1166"/>
              </a:xfrm>
              <a:custGeom>
                <a:avLst/>
                <a:gdLst>
                  <a:gd name="T0" fmla="*/ 0 w 1"/>
                  <a:gd name="T1" fmla="*/ 1166 h 1166"/>
                  <a:gd name="T2" fmla="*/ 0 w 1"/>
                  <a:gd name="T3" fmla="*/ 0 h 1166"/>
                  <a:gd name="T4" fmla="*/ 0 60000 65536"/>
                  <a:gd name="T5" fmla="*/ 0 60000 65536"/>
                </a:gdLst>
                <a:ahLst/>
                <a:cxnLst>
                  <a:cxn ang="T4">
                    <a:pos x="T0" y="T1"/>
                  </a:cxn>
                  <a:cxn ang="T5">
                    <a:pos x="T2" y="T3"/>
                  </a:cxn>
                </a:cxnLst>
                <a:rect l="0" t="0" r="r" b="b"/>
                <a:pathLst>
                  <a:path w="1" h="1166">
                    <a:moveTo>
                      <a:pt x="0" y="1166"/>
                    </a:moveTo>
                    <a:lnTo>
                      <a:pt x="0"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0" name="Freeform 55"/>
              <p:cNvSpPr/>
              <p:nvPr/>
            </p:nvSpPr>
            <p:spPr bwMode="auto">
              <a:xfrm>
                <a:off x="764" y="1039"/>
                <a:ext cx="1" cy="1234"/>
              </a:xfrm>
              <a:custGeom>
                <a:avLst/>
                <a:gdLst>
                  <a:gd name="T0" fmla="*/ 1 w 1"/>
                  <a:gd name="T1" fmla="*/ 1234 h 1234"/>
                  <a:gd name="T2" fmla="*/ 0 w 1"/>
                  <a:gd name="T3" fmla="*/ 0 h 1234"/>
                  <a:gd name="T4" fmla="*/ 0 60000 65536"/>
                  <a:gd name="T5" fmla="*/ 0 60000 65536"/>
                </a:gdLst>
                <a:ahLst/>
                <a:cxnLst>
                  <a:cxn ang="T4">
                    <a:pos x="T0" y="T1"/>
                  </a:cxn>
                  <a:cxn ang="T5">
                    <a:pos x="T2" y="T3"/>
                  </a:cxn>
                </a:cxnLst>
                <a:rect l="0" t="0" r="r" b="b"/>
                <a:pathLst>
                  <a:path w="1" h="1234">
                    <a:moveTo>
                      <a:pt x="1" y="1234"/>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1" name="Freeform 56"/>
              <p:cNvSpPr/>
              <p:nvPr/>
            </p:nvSpPr>
            <p:spPr bwMode="auto">
              <a:xfrm>
                <a:off x="915" y="2080"/>
                <a:ext cx="645" cy="213"/>
              </a:xfrm>
              <a:custGeom>
                <a:avLst/>
                <a:gdLst>
                  <a:gd name="T0" fmla="*/ 1 w 645"/>
                  <a:gd name="T1" fmla="*/ 16 h 105"/>
                  <a:gd name="T2" fmla="*/ 645 w 645"/>
                  <a:gd name="T3" fmla="*/ 0 h 105"/>
                  <a:gd name="T4" fmla="*/ 645 w 645"/>
                  <a:gd name="T5" fmla="*/ 213 h 105"/>
                  <a:gd name="T6" fmla="*/ 0 w 645"/>
                  <a:gd name="T7" fmla="*/ 213 h 105"/>
                  <a:gd name="T8" fmla="*/ 1 w 645"/>
                  <a:gd name="T9" fmla="*/ 16 h 1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5" h="105">
                    <a:moveTo>
                      <a:pt x="1" y="8"/>
                    </a:moveTo>
                    <a:lnTo>
                      <a:pt x="645" y="0"/>
                    </a:lnTo>
                    <a:lnTo>
                      <a:pt x="645" y="105"/>
                    </a:lnTo>
                    <a:lnTo>
                      <a:pt x="0" y="105"/>
                    </a:lnTo>
                    <a:lnTo>
                      <a:pt x="1" y="8"/>
                    </a:lnTo>
                    <a:close/>
                  </a:path>
                </a:pathLst>
              </a:custGeom>
              <a:solidFill>
                <a:srgbClr val="FF66FF"/>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2" name="Line 57"/>
              <p:cNvSpPr>
                <a:spLocks noChangeShapeType="1"/>
              </p:cNvSpPr>
              <p:nvPr/>
            </p:nvSpPr>
            <p:spPr bwMode="auto">
              <a:xfrm>
                <a:off x="913" y="1934"/>
                <a:ext cx="0" cy="100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3" name="Line 58"/>
              <p:cNvSpPr>
                <a:spLocks noChangeShapeType="1"/>
              </p:cNvSpPr>
              <p:nvPr/>
            </p:nvSpPr>
            <p:spPr bwMode="auto">
              <a:xfrm>
                <a:off x="1563" y="1946"/>
                <a:ext cx="0" cy="100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4" name="Line 59"/>
              <p:cNvSpPr>
                <a:spLocks noChangeShapeType="1"/>
              </p:cNvSpPr>
              <p:nvPr/>
            </p:nvSpPr>
            <p:spPr bwMode="auto">
              <a:xfrm>
                <a:off x="913" y="2289"/>
                <a:ext cx="65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5" name="Line 60"/>
              <p:cNvSpPr>
                <a:spLocks noChangeShapeType="1"/>
              </p:cNvSpPr>
              <p:nvPr/>
            </p:nvSpPr>
            <p:spPr bwMode="auto">
              <a:xfrm>
                <a:off x="912" y="2798"/>
                <a:ext cx="6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6" name="Line 61"/>
              <p:cNvSpPr>
                <a:spLocks noChangeShapeType="1"/>
              </p:cNvSpPr>
              <p:nvPr/>
            </p:nvSpPr>
            <p:spPr bwMode="auto">
              <a:xfrm>
                <a:off x="912" y="2093"/>
                <a:ext cx="6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37" name="Line 62"/>
              <p:cNvSpPr>
                <a:spLocks noChangeShapeType="1"/>
              </p:cNvSpPr>
              <p:nvPr/>
            </p:nvSpPr>
            <p:spPr bwMode="auto">
              <a:xfrm flipH="1">
                <a:off x="720" y="2280"/>
                <a:ext cx="19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8" name="Line 63"/>
              <p:cNvSpPr>
                <a:spLocks noChangeShapeType="1"/>
              </p:cNvSpPr>
              <p:nvPr/>
            </p:nvSpPr>
            <p:spPr bwMode="auto">
              <a:xfrm>
                <a:off x="528" y="2064"/>
                <a:ext cx="0" cy="744"/>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39" name="Line 64"/>
              <p:cNvSpPr>
                <a:spLocks noChangeShapeType="1"/>
              </p:cNvSpPr>
              <p:nvPr/>
            </p:nvSpPr>
            <p:spPr bwMode="auto">
              <a:xfrm flipH="1">
                <a:off x="444" y="2784"/>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0" name="Line 65"/>
              <p:cNvSpPr>
                <a:spLocks noChangeShapeType="1"/>
              </p:cNvSpPr>
              <p:nvPr/>
            </p:nvSpPr>
            <p:spPr bwMode="auto">
              <a:xfrm flipH="1">
                <a:off x="444" y="2088"/>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0808" name="Group 88"/>
          <p:cNvGrpSpPr/>
          <p:nvPr/>
        </p:nvGrpSpPr>
        <p:grpSpPr bwMode="auto">
          <a:xfrm>
            <a:off x="3328988" y="1316038"/>
            <a:ext cx="1571625" cy="3149600"/>
            <a:chOff x="2097" y="854"/>
            <a:chExt cx="990" cy="1984"/>
          </a:xfrm>
        </p:grpSpPr>
        <p:sp>
          <p:nvSpPr>
            <p:cNvPr id="29708" name="Text Box 67"/>
            <p:cNvSpPr txBox="1">
              <a:spLocks noChangeArrowheads="1"/>
            </p:cNvSpPr>
            <p:nvPr/>
          </p:nvSpPr>
          <p:spPr bwMode="auto">
            <a:xfrm rot="-5400000">
              <a:off x="2014" y="1422"/>
              <a:ext cx="1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最小极限尺寸</a:t>
              </a:r>
              <a:endParaRPr lang="zh-CN" altLang="en-US" b="1"/>
            </a:p>
          </p:txBody>
        </p:sp>
        <p:sp>
          <p:nvSpPr>
            <p:cNvPr id="29709" name="Text Box 68"/>
            <p:cNvSpPr txBox="1">
              <a:spLocks noChangeArrowheads="1"/>
            </p:cNvSpPr>
            <p:nvPr/>
          </p:nvSpPr>
          <p:spPr bwMode="auto">
            <a:xfrm rot="-5400000">
              <a:off x="2237" y="1381"/>
              <a:ext cx="134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zh-CN" b="1"/>
                <a:t>最大极限尺寸</a:t>
              </a:r>
              <a:endParaRPr lang="zh-CN" altLang="en-US" b="1"/>
            </a:p>
          </p:txBody>
        </p:sp>
        <p:grpSp>
          <p:nvGrpSpPr>
            <p:cNvPr id="29710" name="Group 87"/>
            <p:cNvGrpSpPr/>
            <p:nvPr/>
          </p:nvGrpSpPr>
          <p:grpSpPr bwMode="auto">
            <a:xfrm>
              <a:off x="2097" y="1012"/>
              <a:ext cx="990" cy="1821"/>
              <a:chOff x="2097" y="1012"/>
              <a:chExt cx="990" cy="1821"/>
            </a:xfrm>
          </p:grpSpPr>
          <p:sp>
            <p:nvSpPr>
              <p:cNvPr id="29713" name="Freeform 70"/>
              <p:cNvSpPr/>
              <p:nvPr/>
            </p:nvSpPr>
            <p:spPr bwMode="auto">
              <a:xfrm>
                <a:off x="2592" y="2832"/>
                <a:ext cx="495" cy="1"/>
              </a:xfrm>
              <a:custGeom>
                <a:avLst/>
                <a:gdLst>
                  <a:gd name="T0" fmla="*/ 0 w 495"/>
                  <a:gd name="T1" fmla="*/ 0 h 1"/>
                  <a:gd name="T2" fmla="*/ 495 w 495"/>
                  <a:gd name="T3" fmla="*/ 0 h 1"/>
                  <a:gd name="T4" fmla="*/ 0 60000 65536"/>
                  <a:gd name="T5" fmla="*/ 0 60000 65536"/>
                </a:gdLst>
                <a:ahLst/>
                <a:cxnLst>
                  <a:cxn ang="T4">
                    <a:pos x="T0" y="T1"/>
                  </a:cxn>
                  <a:cxn ang="T5">
                    <a:pos x="T2" y="T3"/>
                  </a:cxn>
                </a:cxnLst>
                <a:rect l="0" t="0" r="r" b="b"/>
                <a:pathLst>
                  <a:path w="495" h="1">
                    <a:moveTo>
                      <a:pt x="0" y="0"/>
                    </a:moveTo>
                    <a:lnTo>
                      <a:pt x="495" y="0"/>
                    </a:lnTo>
                  </a:path>
                </a:pathLst>
              </a:custGeom>
              <a:noFill/>
              <a:ln w="1905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4" name="Line 71"/>
              <p:cNvSpPr>
                <a:spLocks noChangeShapeType="1"/>
              </p:cNvSpPr>
              <p:nvPr/>
            </p:nvSpPr>
            <p:spPr bwMode="auto">
              <a:xfrm flipV="1">
                <a:off x="2779" y="1078"/>
                <a:ext cx="0" cy="128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5" name="Line 72"/>
              <p:cNvSpPr>
                <a:spLocks noChangeShapeType="1"/>
              </p:cNvSpPr>
              <p:nvPr/>
            </p:nvSpPr>
            <p:spPr bwMode="auto">
              <a:xfrm>
                <a:off x="2601" y="2368"/>
                <a:ext cx="26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6" name="Line 73"/>
              <p:cNvSpPr>
                <a:spLocks noChangeShapeType="1"/>
              </p:cNvSpPr>
              <p:nvPr/>
            </p:nvSpPr>
            <p:spPr bwMode="auto">
              <a:xfrm>
                <a:off x="2597" y="2170"/>
                <a:ext cx="489"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7" name="Line 74"/>
              <p:cNvSpPr>
                <a:spLocks noChangeShapeType="1"/>
              </p:cNvSpPr>
              <p:nvPr/>
            </p:nvSpPr>
            <p:spPr bwMode="auto">
              <a:xfrm flipV="1">
                <a:off x="3028" y="1012"/>
                <a:ext cx="0" cy="115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8" name="Freeform 75"/>
              <p:cNvSpPr/>
              <p:nvPr/>
            </p:nvSpPr>
            <p:spPr bwMode="auto">
              <a:xfrm>
                <a:off x="2108" y="2172"/>
                <a:ext cx="567" cy="198"/>
              </a:xfrm>
              <a:custGeom>
                <a:avLst/>
                <a:gdLst>
                  <a:gd name="T0" fmla="*/ 2 w 567"/>
                  <a:gd name="T1" fmla="*/ 0 h 102"/>
                  <a:gd name="T2" fmla="*/ 520 w 567"/>
                  <a:gd name="T3" fmla="*/ 0 h 102"/>
                  <a:gd name="T4" fmla="*/ 567 w 567"/>
                  <a:gd name="T5" fmla="*/ 184 h 102"/>
                  <a:gd name="T6" fmla="*/ 0 w 567"/>
                  <a:gd name="T7" fmla="*/ 198 h 102"/>
                  <a:gd name="T8" fmla="*/ 2 w 567"/>
                  <a:gd name="T9" fmla="*/ 0 h 1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102">
                    <a:moveTo>
                      <a:pt x="2" y="0"/>
                    </a:moveTo>
                    <a:lnTo>
                      <a:pt x="520" y="0"/>
                    </a:lnTo>
                    <a:lnTo>
                      <a:pt x="567" y="95"/>
                    </a:lnTo>
                    <a:lnTo>
                      <a:pt x="0" y="102"/>
                    </a:lnTo>
                    <a:lnTo>
                      <a:pt x="2" y="0"/>
                    </a:lnTo>
                    <a:close/>
                  </a:path>
                </a:pathLst>
              </a:custGeom>
              <a:solidFill>
                <a:srgbClr val="009900"/>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9" name="Line 76"/>
              <p:cNvSpPr>
                <a:spLocks noChangeShapeType="1"/>
              </p:cNvSpPr>
              <p:nvPr/>
            </p:nvSpPr>
            <p:spPr bwMode="auto">
              <a:xfrm>
                <a:off x="2102" y="2170"/>
                <a:ext cx="5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20" name="Freeform 77"/>
              <p:cNvSpPr/>
              <p:nvPr/>
            </p:nvSpPr>
            <p:spPr bwMode="auto">
              <a:xfrm>
                <a:off x="2097" y="2827"/>
                <a:ext cx="513" cy="1"/>
              </a:xfrm>
              <a:custGeom>
                <a:avLst/>
                <a:gdLst>
                  <a:gd name="T0" fmla="*/ 0 w 513"/>
                  <a:gd name="T1" fmla="*/ 0 h 1"/>
                  <a:gd name="T2" fmla="*/ 513 w 513"/>
                  <a:gd name="T3" fmla="*/ 1 h 1"/>
                  <a:gd name="T4" fmla="*/ 0 60000 65536"/>
                  <a:gd name="T5" fmla="*/ 0 60000 65536"/>
                </a:gdLst>
                <a:ahLst/>
                <a:cxnLst>
                  <a:cxn ang="T4">
                    <a:pos x="T0" y="T1"/>
                  </a:cxn>
                  <a:cxn ang="T5">
                    <a:pos x="T2" y="T3"/>
                  </a:cxn>
                </a:cxnLst>
                <a:rect l="0" t="0" r="r" b="b"/>
                <a:pathLst>
                  <a:path w="513" h="1">
                    <a:moveTo>
                      <a:pt x="0" y="0"/>
                    </a:moveTo>
                    <a:lnTo>
                      <a:pt x="513" y="1"/>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21" name="Freeform 78"/>
              <p:cNvSpPr/>
              <p:nvPr/>
            </p:nvSpPr>
            <p:spPr bwMode="auto">
              <a:xfrm>
                <a:off x="2102" y="2362"/>
                <a:ext cx="556" cy="2"/>
              </a:xfrm>
              <a:custGeom>
                <a:avLst/>
                <a:gdLst>
                  <a:gd name="T0" fmla="*/ 0 w 556"/>
                  <a:gd name="T1" fmla="*/ 2 h 2"/>
                  <a:gd name="T2" fmla="*/ 556 w 556"/>
                  <a:gd name="T3" fmla="*/ 0 h 2"/>
                  <a:gd name="T4" fmla="*/ 0 60000 65536"/>
                  <a:gd name="T5" fmla="*/ 0 60000 65536"/>
                </a:gdLst>
                <a:ahLst/>
                <a:cxnLst>
                  <a:cxn ang="T4">
                    <a:pos x="T0" y="T1"/>
                  </a:cxn>
                  <a:cxn ang="T5">
                    <a:pos x="T2" y="T3"/>
                  </a:cxn>
                </a:cxnLst>
                <a:rect l="0" t="0" r="r" b="b"/>
                <a:pathLst>
                  <a:path w="556" h="2">
                    <a:moveTo>
                      <a:pt x="0" y="2"/>
                    </a:moveTo>
                    <a:lnTo>
                      <a:pt x="556"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22" name="Freeform 79"/>
              <p:cNvSpPr/>
              <p:nvPr/>
            </p:nvSpPr>
            <p:spPr bwMode="auto">
              <a:xfrm>
                <a:off x="2588" y="2166"/>
                <a:ext cx="78" cy="661"/>
              </a:xfrm>
              <a:custGeom>
                <a:avLst/>
                <a:gdLst>
                  <a:gd name="T0" fmla="*/ 28 w 78"/>
                  <a:gd name="T1" fmla="*/ 0 h 661"/>
                  <a:gd name="T2" fmla="*/ 76 w 78"/>
                  <a:gd name="T3" fmla="*/ 222 h 661"/>
                  <a:gd name="T4" fmla="*/ 16 w 78"/>
                  <a:gd name="T5" fmla="*/ 342 h 661"/>
                  <a:gd name="T6" fmla="*/ 4 w 78"/>
                  <a:gd name="T7" fmla="*/ 438 h 661"/>
                  <a:gd name="T8" fmla="*/ 40 w 78"/>
                  <a:gd name="T9" fmla="*/ 558 h 661"/>
                  <a:gd name="T10" fmla="*/ 8 w 78"/>
                  <a:gd name="T11" fmla="*/ 661 h 66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 h="661">
                    <a:moveTo>
                      <a:pt x="28" y="0"/>
                    </a:moveTo>
                    <a:cubicBezTo>
                      <a:pt x="36" y="37"/>
                      <a:pt x="78" y="165"/>
                      <a:pt x="76" y="222"/>
                    </a:cubicBezTo>
                    <a:cubicBezTo>
                      <a:pt x="74" y="279"/>
                      <a:pt x="28" y="306"/>
                      <a:pt x="16" y="342"/>
                    </a:cubicBezTo>
                    <a:cubicBezTo>
                      <a:pt x="4" y="378"/>
                      <a:pt x="0" y="402"/>
                      <a:pt x="4" y="438"/>
                    </a:cubicBezTo>
                    <a:cubicBezTo>
                      <a:pt x="8" y="474"/>
                      <a:pt x="39" y="521"/>
                      <a:pt x="40" y="558"/>
                    </a:cubicBezTo>
                    <a:cubicBezTo>
                      <a:pt x="41" y="595"/>
                      <a:pt x="15" y="640"/>
                      <a:pt x="8" y="661"/>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23" name="Line 80"/>
              <p:cNvSpPr>
                <a:spLocks noChangeShapeType="1"/>
              </p:cNvSpPr>
              <p:nvPr/>
            </p:nvSpPr>
            <p:spPr bwMode="auto">
              <a:xfrm flipV="1">
                <a:off x="2100" y="2160"/>
                <a:ext cx="0" cy="6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9711" name="Line 81"/>
            <p:cNvSpPr>
              <a:spLocks noChangeShapeType="1"/>
            </p:cNvSpPr>
            <p:nvPr/>
          </p:nvSpPr>
          <p:spPr bwMode="auto">
            <a:xfrm>
              <a:off x="3024" y="2148"/>
              <a:ext cx="0" cy="684"/>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2" name="Line 82"/>
            <p:cNvSpPr>
              <a:spLocks noChangeShapeType="1"/>
            </p:cNvSpPr>
            <p:nvPr/>
          </p:nvSpPr>
          <p:spPr bwMode="auto">
            <a:xfrm>
              <a:off x="2778" y="2355"/>
              <a:ext cx="0" cy="483"/>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 calcmode="lin" valueType="num">
                                      <p:cBhvr additive="base">
                                        <p:cTn id="7" dur="500" fill="hold"/>
                                        <p:tgtEl>
                                          <p:spTgt spid="30723"/>
                                        </p:tgtEl>
                                        <p:attrNameLst>
                                          <p:attrName>ppt_x</p:attrName>
                                        </p:attrNameLst>
                                      </p:cBhvr>
                                      <p:tavLst>
                                        <p:tav tm="0">
                                          <p:val>
                                            <p:strVal val="#ppt_x"/>
                                          </p:val>
                                        </p:tav>
                                        <p:tav tm="100000">
                                          <p:val>
                                            <p:strVal val="#ppt_x"/>
                                          </p:val>
                                        </p:tav>
                                      </p:tavLst>
                                    </p:anim>
                                    <p:anim calcmode="lin" valueType="num">
                                      <p:cBhvr additive="base">
                                        <p:cTn id="8" dur="500" fill="hold"/>
                                        <p:tgtEl>
                                          <p:spTgt spid="3072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nodeType="clickEffect">
                                  <p:stCondLst>
                                    <p:cond delay="0"/>
                                  </p:stCondLst>
                                  <p:childTnLst>
                                    <p:set>
                                      <p:cBhvr>
                                        <p:cTn id="12" dur="1" fill="hold">
                                          <p:stCondLst>
                                            <p:cond delay="0"/>
                                          </p:stCondLst>
                                        </p:cTn>
                                        <p:tgtEl>
                                          <p:spTgt spid="30758"/>
                                        </p:tgtEl>
                                        <p:attrNameLst>
                                          <p:attrName>style.visibility</p:attrName>
                                        </p:attrNameLst>
                                      </p:cBhvr>
                                      <p:to>
                                        <p:strVal val="visible"/>
                                      </p:to>
                                    </p:set>
                                    <p:animEffect transition="in" filter="barn(outHorizontal)">
                                      <p:cBhvr>
                                        <p:cTn id="13" dur="500"/>
                                        <p:tgtEl>
                                          <p:spTgt spid="3075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0808"/>
                                        </p:tgtEl>
                                        <p:attrNameLst>
                                          <p:attrName>style.visibility</p:attrName>
                                        </p:attrNameLst>
                                      </p:cBhvr>
                                      <p:to>
                                        <p:strVal val="visible"/>
                                      </p:to>
                                    </p:set>
                                    <p:animEffect transition="in" filter="wipe(down)">
                                      <p:cBhvr>
                                        <p:cTn id="18" dur="500"/>
                                        <p:tgtEl>
                                          <p:spTgt spid="3080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0747"/>
                                        </p:tgtEl>
                                        <p:attrNameLst>
                                          <p:attrName>style.visibility</p:attrName>
                                        </p:attrNameLst>
                                      </p:cBhvr>
                                      <p:to>
                                        <p:strVal val="visible"/>
                                      </p:to>
                                    </p:set>
                                    <p:animEffect transition="in" filter="wipe(down)">
                                      <p:cBhvr>
                                        <p:cTn id="23" dur="500"/>
                                        <p:tgtEl>
                                          <p:spTgt spid="3074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0809"/>
                                        </p:tgtEl>
                                        <p:attrNameLst>
                                          <p:attrName>style.visibility</p:attrName>
                                        </p:attrNameLst>
                                      </p:cBhvr>
                                      <p:to>
                                        <p:strVal val="visible"/>
                                      </p:to>
                                    </p:set>
                                    <p:animEffect transition="in" filter="wipe(down)">
                                      <p:cBhvr>
                                        <p:cTn id="28" dur="500"/>
                                        <p:tgtEl>
                                          <p:spTgt spid="3080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30757"/>
                                        </p:tgtEl>
                                        <p:attrNameLst>
                                          <p:attrName>style.visibility</p:attrName>
                                        </p:attrNameLst>
                                      </p:cBhvr>
                                      <p:to>
                                        <p:strVal val="visible"/>
                                      </p:to>
                                    </p:set>
                                    <p:animEffect transition="in" filter="slide(fromLeft)">
                                      <p:cBhvr>
                                        <p:cTn id="33" dur="500"/>
                                        <p:tgtEl>
                                          <p:spTgt spid="3075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30811"/>
                                        </p:tgtEl>
                                        <p:attrNameLst>
                                          <p:attrName>style.visibility</p:attrName>
                                        </p:attrNameLst>
                                      </p:cBhvr>
                                      <p:to>
                                        <p:strVal val="visible"/>
                                      </p:to>
                                    </p:set>
                                    <p:animEffect transition="in" filter="wipe(down)">
                                      <p:cBhvr>
                                        <p:cTn id="38" dur="500"/>
                                        <p:tgtEl>
                                          <p:spTgt spid="308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30754"/>
                                        </p:tgtEl>
                                        <p:attrNameLst>
                                          <p:attrName>style.visibility</p:attrName>
                                        </p:attrNameLst>
                                      </p:cBhvr>
                                      <p:to>
                                        <p:strVal val="visible"/>
                                      </p:to>
                                    </p:set>
                                    <p:animEffect transition="in" filter="wipe(down)">
                                      <p:cBhvr>
                                        <p:cTn id="43" dur="500"/>
                                        <p:tgtEl>
                                          <p:spTgt spid="30754"/>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0731"/>
                                        </p:tgtEl>
                                        <p:attrNameLst>
                                          <p:attrName>style.visibility</p:attrName>
                                        </p:attrNameLst>
                                      </p:cBhvr>
                                      <p:to>
                                        <p:strVal val="visible"/>
                                      </p:to>
                                    </p:set>
                                    <p:anim calcmode="lin" valueType="num">
                                      <p:cBhvr additive="base">
                                        <p:cTn id="48" dur="500" fill="hold"/>
                                        <p:tgtEl>
                                          <p:spTgt spid="30731"/>
                                        </p:tgtEl>
                                        <p:attrNameLst>
                                          <p:attrName>ppt_x</p:attrName>
                                        </p:attrNameLst>
                                      </p:cBhvr>
                                      <p:tavLst>
                                        <p:tav tm="0">
                                          <p:val>
                                            <p:strVal val="#ppt_x"/>
                                          </p:val>
                                        </p:tav>
                                        <p:tav tm="100000">
                                          <p:val>
                                            <p:strVal val="#ppt_x"/>
                                          </p:val>
                                        </p:tav>
                                      </p:tavLst>
                                    </p:anim>
                                    <p:anim calcmode="lin" valueType="num">
                                      <p:cBhvr additive="base">
                                        <p:cTn id="49" dur="500" fill="hold"/>
                                        <p:tgtEl>
                                          <p:spTgt spid="307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utoUpdateAnimBg="0"/>
      <p:bldP spid="30731" grpId="0" animBg="1" autoUpdateAnimBg="0"/>
      <p:bldP spid="3075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48" descr="13-轴系模型(1)yo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6350" y="1238250"/>
            <a:ext cx="468947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36" name="Text Box 24"/>
          <p:cNvSpPr txBox="1">
            <a:spLocks noChangeArrowheads="1"/>
          </p:cNvSpPr>
          <p:nvPr/>
        </p:nvSpPr>
        <p:spPr bwMode="auto">
          <a:xfrm>
            <a:off x="6305550" y="1160463"/>
            <a:ext cx="2473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chemeClr val="accent2"/>
                </a:solidFill>
              </a:rPr>
              <a:t>① </a:t>
            </a:r>
            <a:r>
              <a:rPr lang="zh-CN" altLang="en-US" sz="2800" b="1">
                <a:solidFill>
                  <a:schemeClr val="accent2"/>
                </a:solidFill>
              </a:rPr>
              <a:t>轴套与轴</a:t>
            </a:r>
            <a:endParaRPr lang="zh-CN" altLang="en-US" sz="2800" b="1">
              <a:solidFill>
                <a:schemeClr val="accent2"/>
              </a:solidFill>
            </a:endParaRPr>
          </a:p>
        </p:txBody>
      </p:sp>
      <p:sp>
        <p:nvSpPr>
          <p:cNvPr id="64537" name="Text Box 25"/>
          <p:cNvSpPr txBox="1">
            <a:spLocks noChangeArrowheads="1"/>
          </p:cNvSpPr>
          <p:nvPr/>
        </p:nvSpPr>
        <p:spPr bwMode="auto">
          <a:xfrm>
            <a:off x="6789738" y="1760538"/>
            <a:ext cx="1687512" cy="519112"/>
          </a:xfrm>
          <a:prstGeom prst="rect">
            <a:avLst/>
          </a:prstGeom>
          <a:gradFill rotWithShape="0">
            <a:gsLst>
              <a:gs pos="0">
                <a:srgbClr val="FF9900"/>
              </a:gs>
              <a:gs pos="50000">
                <a:srgbClr val="FFFFFF"/>
              </a:gs>
              <a:gs pos="100000">
                <a:srgbClr val="FF99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间隙配合</a:t>
            </a:r>
            <a:endParaRPr lang="zh-CN" altLang="en-US" sz="2800" b="1"/>
          </a:p>
        </p:txBody>
      </p:sp>
      <p:sp>
        <p:nvSpPr>
          <p:cNvPr id="64538" name="Text Box 26"/>
          <p:cNvSpPr txBox="1">
            <a:spLocks noChangeArrowheads="1"/>
          </p:cNvSpPr>
          <p:nvPr/>
        </p:nvSpPr>
        <p:spPr bwMode="auto">
          <a:xfrm>
            <a:off x="6789738" y="3006725"/>
            <a:ext cx="1727200" cy="519113"/>
          </a:xfrm>
          <a:prstGeom prst="rect">
            <a:avLst/>
          </a:prstGeom>
          <a:gradFill rotWithShape="0">
            <a:gsLst>
              <a:gs pos="0">
                <a:srgbClr val="FF9900"/>
              </a:gs>
              <a:gs pos="50000">
                <a:srgbClr val="FFFFFF"/>
              </a:gs>
              <a:gs pos="100000">
                <a:srgbClr val="FF99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过渡配合</a:t>
            </a:r>
            <a:endParaRPr lang="zh-CN" altLang="en-US" sz="2800" b="1"/>
          </a:p>
        </p:txBody>
      </p:sp>
      <p:sp>
        <p:nvSpPr>
          <p:cNvPr id="64539" name="Text Box 27"/>
          <p:cNvSpPr txBox="1">
            <a:spLocks noChangeArrowheads="1"/>
          </p:cNvSpPr>
          <p:nvPr/>
        </p:nvSpPr>
        <p:spPr bwMode="auto">
          <a:xfrm>
            <a:off x="6789738" y="4652963"/>
            <a:ext cx="1685925" cy="519112"/>
          </a:xfrm>
          <a:prstGeom prst="rect">
            <a:avLst/>
          </a:prstGeom>
          <a:gradFill rotWithShape="0">
            <a:gsLst>
              <a:gs pos="0">
                <a:srgbClr val="FF9900"/>
              </a:gs>
              <a:gs pos="50000">
                <a:srgbClr val="FFFFFF"/>
              </a:gs>
              <a:gs pos="100000">
                <a:srgbClr val="FF99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过盈配合</a:t>
            </a:r>
            <a:endParaRPr lang="zh-CN" altLang="en-US" sz="2800" b="1"/>
          </a:p>
        </p:txBody>
      </p:sp>
      <p:sp>
        <p:nvSpPr>
          <p:cNvPr id="64540" name="Text Box 28"/>
          <p:cNvSpPr txBox="1">
            <a:spLocks noChangeArrowheads="1"/>
          </p:cNvSpPr>
          <p:nvPr/>
        </p:nvSpPr>
        <p:spPr bwMode="auto">
          <a:xfrm>
            <a:off x="6359525" y="2392363"/>
            <a:ext cx="2058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chemeClr val="accent2"/>
                </a:solidFill>
              </a:rPr>
              <a:t>② </a:t>
            </a:r>
            <a:r>
              <a:rPr lang="zh-CN" altLang="en-US" sz="2800" b="1">
                <a:solidFill>
                  <a:schemeClr val="accent2"/>
                </a:solidFill>
              </a:rPr>
              <a:t>齿轮与轴</a:t>
            </a:r>
            <a:endParaRPr lang="zh-CN" altLang="en-US" sz="2800" b="1">
              <a:solidFill>
                <a:schemeClr val="accent2"/>
              </a:solidFill>
            </a:endParaRPr>
          </a:p>
        </p:txBody>
      </p:sp>
      <p:sp>
        <p:nvSpPr>
          <p:cNvPr id="64541" name="Text Box 29"/>
          <p:cNvSpPr txBox="1">
            <a:spLocks noChangeArrowheads="1"/>
          </p:cNvSpPr>
          <p:nvPr/>
        </p:nvSpPr>
        <p:spPr bwMode="auto">
          <a:xfrm>
            <a:off x="6305550" y="3629025"/>
            <a:ext cx="25098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chemeClr val="accent2"/>
                </a:solidFill>
              </a:rPr>
              <a:t>③ </a:t>
            </a:r>
            <a:r>
              <a:rPr lang="zh-CN" altLang="en-US" sz="2800" b="1">
                <a:solidFill>
                  <a:schemeClr val="accent2"/>
                </a:solidFill>
              </a:rPr>
              <a:t>轴承内环 </a:t>
            </a:r>
            <a:endParaRPr lang="zh-CN" altLang="en-US" sz="2800" b="1">
              <a:solidFill>
                <a:schemeClr val="accent2"/>
              </a:solidFill>
            </a:endParaRPr>
          </a:p>
          <a:p>
            <a:pPr algn="l" eaLnBrk="1" hangingPunct="1"/>
            <a:r>
              <a:rPr lang="zh-CN" altLang="en-US" sz="2800" b="1">
                <a:solidFill>
                  <a:schemeClr val="accent2"/>
                </a:solidFill>
              </a:rPr>
              <a:t>    与轴</a:t>
            </a:r>
            <a:endParaRPr lang="zh-CN" altLang="en-US" sz="2800" b="1">
              <a:solidFill>
                <a:schemeClr val="accent2"/>
              </a:solidFill>
            </a:endParaRPr>
          </a:p>
        </p:txBody>
      </p:sp>
      <p:sp>
        <p:nvSpPr>
          <p:cNvPr id="30729" name="Text Box 30"/>
          <p:cNvSpPr txBox="1">
            <a:spLocks noChangeArrowheads="1"/>
          </p:cNvSpPr>
          <p:nvPr/>
        </p:nvSpPr>
        <p:spPr bwMode="auto">
          <a:xfrm>
            <a:off x="2671763" y="334963"/>
            <a:ext cx="3832225" cy="636587"/>
          </a:xfrm>
          <a:prstGeom prst="rect">
            <a:avLst/>
          </a:prstGeom>
          <a:gradFill rotWithShape="0">
            <a:gsLst>
              <a:gs pos="0">
                <a:srgbClr val="FF9900"/>
              </a:gs>
              <a:gs pos="50000">
                <a:srgbClr val="FFFFFF"/>
              </a:gs>
              <a:gs pos="100000">
                <a:srgbClr val="FF9900"/>
              </a:gs>
            </a:gsLst>
            <a:lin ang="5400000" scaled="1"/>
          </a:gradFill>
          <a:ln w="57150">
            <a:pattFill prst="solidDmnd">
              <a:fgClr>
                <a:srgbClr val="0033CC"/>
              </a:fgClr>
              <a:bgClr>
                <a:srgbClr val="FFFF00"/>
              </a:bgClr>
            </a:patt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33CC"/>
                </a:solidFill>
              </a:rPr>
              <a:t>零件配合实例</a:t>
            </a:r>
            <a:endParaRPr lang="zh-CN" altLang="en-US" sz="3200" b="1">
              <a:solidFill>
                <a:srgbClr val="0033CC"/>
              </a:solidFill>
            </a:endParaRPr>
          </a:p>
        </p:txBody>
      </p:sp>
      <p:grpSp>
        <p:nvGrpSpPr>
          <p:cNvPr id="64554" name="Group 42"/>
          <p:cNvGrpSpPr/>
          <p:nvPr/>
        </p:nvGrpSpPr>
        <p:grpSpPr bwMode="auto">
          <a:xfrm>
            <a:off x="1366838" y="3998913"/>
            <a:ext cx="1089025" cy="1344612"/>
            <a:chOff x="878" y="2519"/>
            <a:chExt cx="686" cy="847"/>
          </a:xfrm>
        </p:grpSpPr>
        <p:sp>
          <p:nvSpPr>
            <p:cNvPr id="30741" name="Text Box 17"/>
            <p:cNvSpPr txBox="1">
              <a:spLocks noChangeArrowheads="1"/>
            </p:cNvSpPr>
            <p:nvPr/>
          </p:nvSpPr>
          <p:spPr bwMode="auto">
            <a:xfrm>
              <a:off x="878" y="3039"/>
              <a:ext cx="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3300"/>
                  </a:solidFill>
                </a:rPr>
                <a:t>齿轮</a:t>
              </a:r>
              <a:endParaRPr lang="zh-CN" altLang="en-US" sz="2800">
                <a:solidFill>
                  <a:srgbClr val="FF3300"/>
                </a:solidFill>
              </a:endParaRPr>
            </a:p>
          </p:txBody>
        </p:sp>
        <p:sp>
          <p:nvSpPr>
            <p:cNvPr id="30742" name="Line 33"/>
            <p:cNvSpPr>
              <a:spLocks noChangeShapeType="1"/>
            </p:cNvSpPr>
            <p:nvPr/>
          </p:nvSpPr>
          <p:spPr bwMode="auto">
            <a:xfrm flipV="1">
              <a:off x="1222" y="2519"/>
              <a:ext cx="267" cy="570"/>
            </a:xfrm>
            <a:prstGeom prst="line">
              <a:avLst/>
            </a:prstGeom>
            <a:noFill/>
            <a:ln w="19050">
              <a:solidFill>
                <a:srgbClr val="FF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55" name="Group 43"/>
          <p:cNvGrpSpPr/>
          <p:nvPr/>
        </p:nvGrpSpPr>
        <p:grpSpPr bwMode="auto">
          <a:xfrm>
            <a:off x="2352675" y="3444875"/>
            <a:ext cx="1030288" cy="1898650"/>
            <a:chOff x="1482" y="2170"/>
            <a:chExt cx="649" cy="1196"/>
          </a:xfrm>
        </p:grpSpPr>
        <p:sp>
          <p:nvSpPr>
            <p:cNvPr id="30739" name="Text Box 11"/>
            <p:cNvSpPr txBox="1">
              <a:spLocks noChangeArrowheads="1"/>
            </p:cNvSpPr>
            <p:nvPr/>
          </p:nvSpPr>
          <p:spPr bwMode="auto">
            <a:xfrm>
              <a:off x="1482" y="3039"/>
              <a:ext cx="6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3300"/>
                  </a:solidFill>
                </a:rPr>
                <a:t>轴套 </a:t>
              </a:r>
              <a:endParaRPr lang="zh-CN" altLang="en-US" sz="2800">
                <a:solidFill>
                  <a:srgbClr val="FF3300"/>
                </a:solidFill>
              </a:endParaRPr>
            </a:p>
          </p:txBody>
        </p:sp>
        <p:sp>
          <p:nvSpPr>
            <p:cNvPr id="30740" name="Line 34"/>
            <p:cNvSpPr>
              <a:spLocks noChangeShapeType="1"/>
            </p:cNvSpPr>
            <p:nvPr/>
          </p:nvSpPr>
          <p:spPr bwMode="auto">
            <a:xfrm flipV="1">
              <a:off x="1839" y="2170"/>
              <a:ext cx="267" cy="913"/>
            </a:xfrm>
            <a:prstGeom prst="line">
              <a:avLst/>
            </a:prstGeom>
            <a:noFill/>
            <a:ln w="19050">
              <a:solidFill>
                <a:srgbClr val="FF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56" name="Group 44"/>
          <p:cNvGrpSpPr/>
          <p:nvPr/>
        </p:nvGrpSpPr>
        <p:grpSpPr bwMode="auto">
          <a:xfrm>
            <a:off x="3368675" y="3981450"/>
            <a:ext cx="1612900" cy="1362075"/>
            <a:chOff x="2097" y="2508"/>
            <a:chExt cx="1016" cy="858"/>
          </a:xfrm>
        </p:grpSpPr>
        <p:sp>
          <p:nvSpPr>
            <p:cNvPr id="30737" name="Text Box 14"/>
            <p:cNvSpPr txBox="1">
              <a:spLocks noChangeArrowheads="1"/>
            </p:cNvSpPr>
            <p:nvPr/>
          </p:nvSpPr>
          <p:spPr bwMode="auto">
            <a:xfrm>
              <a:off x="2097" y="3039"/>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3300"/>
                  </a:solidFill>
                </a:rPr>
                <a:t>滚动轴承</a:t>
              </a:r>
              <a:endParaRPr lang="zh-CN" altLang="en-US" sz="2800">
                <a:solidFill>
                  <a:srgbClr val="FF3300"/>
                </a:solidFill>
              </a:endParaRPr>
            </a:p>
          </p:txBody>
        </p:sp>
        <p:sp>
          <p:nvSpPr>
            <p:cNvPr id="30738" name="Line 35"/>
            <p:cNvSpPr>
              <a:spLocks noChangeShapeType="1"/>
            </p:cNvSpPr>
            <p:nvPr/>
          </p:nvSpPr>
          <p:spPr bwMode="auto">
            <a:xfrm>
              <a:off x="2420" y="2508"/>
              <a:ext cx="123" cy="581"/>
            </a:xfrm>
            <a:prstGeom prst="line">
              <a:avLst/>
            </a:prstGeom>
            <a:noFill/>
            <a:ln w="19050">
              <a:solidFill>
                <a:srgbClr val="FF3300"/>
              </a:solidFill>
              <a:round/>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557" name="Group 45"/>
          <p:cNvGrpSpPr/>
          <p:nvPr/>
        </p:nvGrpSpPr>
        <p:grpSpPr bwMode="auto">
          <a:xfrm>
            <a:off x="5024438" y="3602038"/>
            <a:ext cx="598487" cy="1741487"/>
            <a:chOff x="3165" y="2269"/>
            <a:chExt cx="377" cy="1097"/>
          </a:xfrm>
        </p:grpSpPr>
        <p:sp>
          <p:nvSpPr>
            <p:cNvPr id="30735" name="Text Box 23"/>
            <p:cNvSpPr txBox="1">
              <a:spLocks noChangeArrowheads="1"/>
            </p:cNvSpPr>
            <p:nvPr/>
          </p:nvSpPr>
          <p:spPr bwMode="auto">
            <a:xfrm>
              <a:off x="3202" y="3039"/>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solidFill>
                    <a:srgbClr val="FF3300"/>
                  </a:solidFill>
                </a:rPr>
                <a:t>轴</a:t>
              </a:r>
              <a:endParaRPr lang="zh-CN" altLang="en-US" sz="2800" b="1">
                <a:solidFill>
                  <a:srgbClr val="FF3300"/>
                </a:solidFill>
              </a:endParaRPr>
            </a:p>
          </p:txBody>
        </p:sp>
        <p:sp>
          <p:nvSpPr>
            <p:cNvPr id="30736" name="Line 36"/>
            <p:cNvSpPr>
              <a:spLocks noChangeShapeType="1"/>
            </p:cNvSpPr>
            <p:nvPr/>
          </p:nvSpPr>
          <p:spPr bwMode="auto">
            <a:xfrm>
              <a:off x="3165" y="2269"/>
              <a:ext cx="180" cy="797"/>
            </a:xfrm>
            <a:prstGeom prst="line">
              <a:avLst/>
            </a:prstGeom>
            <a:noFill/>
            <a:ln w="19050">
              <a:solidFill>
                <a:srgbClr val="FF3300"/>
              </a:solidFill>
              <a:round/>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734" name="Text Box 46"/>
          <p:cNvSpPr txBox="1">
            <a:spLocks noChangeArrowheads="1"/>
          </p:cNvSpPr>
          <p:nvPr/>
        </p:nvSpPr>
        <p:spPr bwMode="auto">
          <a:xfrm>
            <a:off x="2209800" y="5416550"/>
            <a:ext cx="2638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solidFill>
                  <a:schemeClr val="accent2"/>
                </a:solidFill>
              </a:rPr>
              <a:t>齿 轮 轴 系</a:t>
            </a:r>
            <a:endParaRPr lang="zh-CN" altLang="en-US" sz="3200" b="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4536"/>
                                        </p:tgtEl>
                                        <p:attrNameLst>
                                          <p:attrName>style.visibility</p:attrName>
                                        </p:attrNameLst>
                                      </p:cBhvr>
                                      <p:to>
                                        <p:strVal val="visible"/>
                                      </p:to>
                                    </p:set>
                                    <p:animEffect transition="in" filter="box(out)">
                                      <p:cBhvr>
                                        <p:cTn id="7" dur="500"/>
                                        <p:tgtEl>
                                          <p:spTgt spid="645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4555"/>
                                        </p:tgtEl>
                                        <p:attrNameLst>
                                          <p:attrName>style.visibility</p:attrName>
                                        </p:attrNameLst>
                                      </p:cBhvr>
                                      <p:to>
                                        <p:strVal val="visible"/>
                                      </p:to>
                                    </p:set>
                                    <p:animEffect transition="in" filter="wipe(up)">
                                      <p:cBhvr>
                                        <p:cTn id="12" dur="500"/>
                                        <p:tgtEl>
                                          <p:spTgt spid="645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4557"/>
                                        </p:tgtEl>
                                        <p:attrNameLst>
                                          <p:attrName>style.visibility</p:attrName>
                                        </p:attrNameLst>
                                      </p:cBhvr>
                                      <p:to>
                                        <p:strVal val="visible"/>
                                      </p:to>
                                    </p:set>
                                    <p:animEffect transition="in" filter="wipe(up)">
                                      <p:cBhvr>
                                        <p:cTn id="17" dur="500"/>
                                        <p:tgtEl>
                                          <p:spTgt spid="6455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4537"/>
                                        </p:tgtEl>
                                        <p:attrNameLst>
                                          <p:attrName>style.visibility</p:attrName>
                                        </p:attrNameLst>
                                      </p:cBhvr>
                                      <p:to>
                                        <p:strVal val="visible"/>
                                      </p:to>
                                    </p:set>
                                    <p:animEffect transition="in" filter="box(in)">
                                      <p:cBhvr>
                                        <p:cTn id="22" dur="500"/>
                                        <p:tgtEl>
                                          <p:spTgt spid="6453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4540"/>
                                        </p:tgtEl>
                                        <p:attrNameLst>
                                          <p:attrName>style.visibility</p:attrName>
                                        </p:attrNameLst>
                                      </p:cBhvr>
                                      <p:to>
                                        <p:strVal val="visible"/>
                                      </p:to>
                                    </p:set>
                                    <p:animEffect transition="in" filter="box(out)">
                                      <p:cBhvr>
                                        <p:cTn id="27" dur="500"/>
                                        <p:tgtEl>
                                          <p:spTgt spid="645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4554"/>
                                        </p:tgtEl>
                                        <p:attrNameLst>
                                          <p:attrName>style.visibility</p:attrName>
                                        </p:attrNameLst>
                                      </p:cBhvr>
                                      <p:to>
                                        <p:strVal val="visible"/>
                                      </p:to>
                                    </p:set>
                                    <p:animEffect transition="in" filter="wipe(up)">
                                      <p:cBhvr>
                                        <p:cTn id="32" dur="500"/>
                                        <p:tgtEl>
                                          <p:spTgt spid="6455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4538"/>
                                        </p:tgtEl>
                                        <p:attrNameLst>
                                          <p:attrName>style.visibility</p:attrName>
                                        </p:attrNameLst>
                                      </p:cBhvr>
                                      <p:to>
                                        <p:strVal val="visible"/>
                                      </p:to>
                                    </p:set>
                                    <p:animEffect transition="in" filter="box(in)">
                                      <p:cBhvr>
                                        <p:cTn id="37" dur="500"/>
                                        <p:tgtEl>
                                          <p:spTgt spid="6453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64541"/>
                                        </p:tgtEl>
                                        <p:attrNameLst>
                                          <p:attrName>style.visibility</p:attrName>
                                        </p:attrNameLst>
                                      </p:cBhvr>
                                      <p:to>
                                        <p:strVal val="visible"/>
                                      </p:to>
                                    </p:set>
                                    <p:animEffect transition="in" filter="box(out)">
                                      <p:cBhvr>
                                        <p:cTn id="42" dur="500"/>
                                        <p:tgtEl>
                                          <p:spTgt spid="6454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64556"/>
                                        </p:tgtEl>
                                        <p:attrNameLst>
                                          <p:attrName>style.visibility</p:attrName>
                                        </p:attrNameLst>
                                      </p:cBhvr>
                                      <p:to>
                                        <p:strVal val="visible"/>
                                      </p:to>
                                    </p:set>
                                    <p:animEffect transition="in" filter="wipe(up)">
                                      <p:cBhvr>
                                        <p:cTn id="47" dur="500"/>
                                        <p:tgtEl>
                                          <p:spTgt spid="6455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64539"/>
                                        </p:tgtEl>
                                        <p:attrNameLst>
                                          <p:attrName>style.visibility</p:attrName>
                                        </p:attrNameLst>
                                      </p:cBhvr>
                                      <p:to>
                                        <p:strVal val="visible"/>
                                      </p:to>
                                    </p:set>
                                    <p:animEffect transition="in" filter="box(in)">
                                      <p:cBhvr>
                                        <p:cTn id="52" dur="500"/>
                                        <p:tgtEl>
                                          <p:spTgt spid="64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6" grpId="0" autoUpdateAnimBg="0"/>
      <p:bldP spid="64537" grpId="0" animBg="1" autoUpdateAnimBg="0"/>
      <p:bldP spid="64538" grpId="0" animBg="1" autoUpdateAnimBg="0"/>
      <p:bldP spid="64539" grpId="0" animBg="1" autoUpdateAnimBg="0"/>
      <p:bldP spid="64540" grpId="0" autoUpdateAnimBg="0"/>
      <p:bldP spid="6454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p:nvPr/>
        </p:nvGrpSpPr>
        <p:grpSpPr bwMode="auto">
          <a:xfrm>
            <a:off x="2262188" y="2452688"/>
            <a:ext cx="5930900" cy="1608137"/>
            <a:chOff x="1425" y="1545"/>
            <a:chExt cx="3736" cy="1013"/>
          </a:xfrm>
        </p:grpSpPr>
        <p:sp>
          <p:nvSpPr>
            <p:cNvPr id="31806" name="Line 3"/>
            <p:cNvSpPr>
              <a:spLocks noChangeShapeType="1"/>
            </p:cNvSpPr>
            <p:nvPr/>
          </p:nvSpPr>
          <p:spPr bwMode="auto">
            <a:xfrm>
              <a:off x="1425" y="1545"/>
              <a:ext cx="37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807" name="Line 4"/>
            <p:cNvSpPr>
              <a:spLocks noChangeShapeType="1"/>
            </p:cNvSpPr>
            <p:nvPr/>
          </p:nvSpPr>
          <p:spPr bwMode="auto">
            <a:xfrm>
              <a:off x="1425" y="1744"/>
              <a:ext cx="372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 name="Line 5"/>
            <p:cNvSpPr>
              <a:spLocks noChangeShapeType="1"/>
            </p:cNvSpPr>
            <p:nvPr/>
          </p:nvSpPr>
          <p:spPr bwMode="auto">
            <a:xfrm>
              <a:off x="1425" y="2558"/>
              <a:ext cx="372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1811" name="Group 67"/>
          <p:cNvGrpSpPr/>
          <p:nvPr/>
        </p:nvGrpSpPr>
        <p:grpSpPr bwMode="auto">
          <a:xfrm>
            <a:off x="5151438" y="2630488"/>
            <a:ext cx="909637" cy="1425575"/>
            <a:chOff x="3245" y="1657"/>
            <a:chExt cx="573" cy="898"/>
          </a:xfrm>
        </p:grpSpPr>
        <p:sp>
          <p:nvSpPr>
            <p:cNvPr id="3" name="Freeform 7"/>
            <p:cNvSpPr/>
            <p:nvPr/>
          </p:nvSpPr>
          <p:spPr bwMode="auto">
            <a:xfrm>
              <a:off x="3252" y="1669"/>
              <a:ext cx="566" cy="194"/>
            </a:xfrm>
            <a:custGeom>
              <a:avLst/>
              <a:gdLst>
                <a:gd name="T0" fmla="*/ 0 w 566"/>
                <a:gd name="T1" fmla="*/ 3 h 194"/>
                <a:gd name="T2" fmla="*/ 523 w 566"/>
                <a:gd name="T3" fmla="*/ 0 h 194"/>
                <a:gd name="T4" fmla="*/ 566 w 566"/>
                <a:gd name="T5" fmla="*/ 185 h 194"/>
                <a:gd name="T6" fmla="*/ 6 w 566"/>
                <a:gd name="T7" fmla="*/ 194 h 194"/>
                <a:gd name="T8" fmla="*/ 0 w 566"/>
                <a:gd name="T9" fmla="*/ 3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194">
                  <a:moveTo>
                    <a:pt x="0" y="3"/>
                  </a:moveTo>
                  <a:lnTo>
                    <a:pt x="523" y="0"/>
                  </a:lnTo>
                  <a:lnTo>
                    <a:pt x="566" y="185"/>
                  </a:lnTo>
                  <a:lnTo>
                    <a:pt x="6" y="194"/>
                  </a:lnTo>
                  <a:lnTo>
                    <a:pt x="0" y="3"/>
                  </a:lnTo>
                  <a:close/>
                </a:path>
              </a:pathLst>
            </a:custGeom>
            <a:solidFill>
              <a:srgbClr val="009900"/>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801" name="Freeform 8"/>
            <p:cNvSpPr/>
            <p:nvPr/>
          </p:nvSpPr>
          <p:spPr bwMode="auto">
            <a:xfrm>
              <a:off x="3251" y="1657"/>
              <a:ext cx="1" cy="897"/>
            </a:xfrm>
            <a:custGeom>
              <a:avLst/>
              <a:gdLst>
                <a:gd name="T0" fmla="*/ 0 w 1"/>
                <a:gd name="T1" fmla="*/ 0 h 465"/>
                <a:gd name="T2" fmla="*/ 0 w 1"/>
                <a:gd name="T3" fmla="*/ 897 h 465"/>
                <a:gd name="T4" fmla="*/ 0 60000 65536"/>
                <a:gd name="T5" fmla="*/ 0 60000 65536"/>
              </a:gdLst>
              <a:ahLst/>
              <a:cxnLst>
                <a:cxn ang="T4">
                  <a:pos x="T0" y="T1"/>
                </a:cxn>
                <a:cxn ang="T5">
                  <a:pos x="T2" y="T3"/>
                </a:cxn>
              </a:cxnLst>
              <a:rect l="0" t="0" r="r" b="b"/>
              <a:pathLst>
                <a:path w="1" h="465">
                  <a:moveTo>
                    <a:pt x="0" y="0"/>
                  </a:moveTo>
                  <a:lnTo>
                    <a:pt x="0" y="465"/>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802" name="Line 9"/>
            <p:cNvSpPr>
              <a:spLocks noChangeShapeType="1"/>
            </p:cNvSpPr>
            <p:nvPr/>
          </p:nvSpPr>
          <p:spPr bwMode="auto">
            <a:xfrm>
              <a:off x="3250" y="1666"/>
              <a:ext cx="5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803" name="Freeform 10"/>
            <p:cNvSpPr/>
            <p:nvPr/>
          </p:nvSpPr>
          <p:spPr bwMode="auto">
            <a:xfrm>
              <a:off x="3245" y="2554"/>
              <a:ext cx="501" cy="1"/>
            </a:xfrm>
            <a:custGeom>
              <a:avLst/>
              <a:gdLst>
                <a:gd name="T0" fmla="*/ 0 w 501"/>
                <a:gd name="T1" fmla="*/ 0 h 1"/>
                <a:gd name="T2" fmla="*/ 501 w 501"/>
                <a:gd name="T3" fmla="*/ 0 h 1"/>
                <a:gd name="T4" fmla="*/ 0 60000 65536"/>
                <a:gd name="T5" fmla="*/ 0 60000 65536"/>
              </a:gdLst>
              <a:ahLst/>
              <a:cxnLst>
                <a:cxn ang="T4">
                  <a:pos x="T0" y="T1"/>
                </a:cxn>
                <a:cxn ang="T5">
                  <a:pos x="T2" y="T3"/>
                </a:cxn>
              </a:cxnLst>
              <a:rect l="0" t="0" r="r" b="b"/>
              <a:pathLst>
                <a:path w="501" h="1">
                  <a:moveTo>
                    <a:pt x="0" y="0"/>
                  </a:moveTo>
                  <a:lnTo>
                    <a:pt x="50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804" name="Freeform 11"/>
            <p:cNvSpPr/>
            <p:nvPr/>
          </p:nvSpPr>
          <p:spPr bwMode="auto">
            <a:xfrm>
              <a:off x="3250" y="1858"/>
              <a:ext cx="556" cy="1"/>
            </a:xfrm>
            <a:custGeom>
              <a:avLst/>
              <a:gdLst>
                <a:gd name="T0" fmla="*/ 0 w 556"/>
                <a:gd name="T1" fmla="*/ 0 h 1"/>
                <a:gd name="T2" fmla="*/ 556 w 556"/>
                <a:gd name="T3" fmla="*/ 0 h 1"/>
                <a:gd name="T4" fmla="*/ 0 60000 65536"/>
                <a:gd name="T5" fmla="*/ 0 60000 65536"/>
              </a:gdLst>
              <a:ahLst/>
              <a:cxnLst>
                <a:cxn ang="T4">
                  <a:pos x="T0" y="T1"/>
                </a:cxn>
                <a:cxn ang="T5">
                  <a:pos x="T2" y="T3"/>
                </a:cxn>
              </a:cxnLst>
              <a:rect l="0" t="0" r="r" b="b"/>
              <a:pathLst>
                <a:path w="556" h="1">
                  <a:moveTo>
                    <a:pt x="0" y="0"/>
                  </a:moveTo>
                  <a:lnTo>
                    <a:pt x="556"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805" name="Freeform 12"/>
            <p:cNvSpPr/>
            <p:nvPr/>
          </p:nvSpPr>
          <p:spPr bwMode="auto">
            <a:xfrm>
              <a:off x="3742" y="1666"/>
              <a:ext cx="65" cy="889"/>
            </a:xfrm>
            <a:custGeom>
              <a:avLst/>
              <a:gdLst>
                <a:gd name="T0" fmla="*/ 19 w 65"/>
                <a:gd name="T1" fmla="*/ 0 h 889"/>
                <a:gd name="T2" fmla="*/ 64 w 65"/>
                <a:gd name="T3" fmla="*/ 196 h 889"/>
                <a:gd name="T4" fmla="*/ 14 w 65"/>
                <a:gd name="T5" fmla="*/ 410 h 889"/>
                <a:gd name="T6" fmla="*/ 2 w 65"/>
                <a:gd name="T7" fmla="*/ 578 h 889"/>
                <a:gd name="T8" fmla="*/ 26 w 65"/>
                <a:gd name="T9" fmla="*/ 686 h 889"/>
                <a:gd name="T10" fmla="*/ 38 w 65"/>
                <a:gd name="T11" fmla="*/ 758 h 889"/>
                <a:gd name="T12" fmla="*/ 2 w 65"/>
                <a:gd name="T13" fmla="*/ 889 h 8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889">
                  <a:moveTo>
                    <a:pt x="19" y="0"/>
                  </a:moveTo>
                  <a:cubicBezTo>
                    <a:pt x="26" y="33"/>
                    <a:pt x="65" y="128"/>
                    <a:pt x="64" y="196"/>
                  </a:cubicBezTo>
                  <a:cubicBezTo>
                    <a:pt x="63" y="264"/>
                    <a:pt x="24" y="346"/>
                    <a:pt x="14" y="410"/>
                  </a:cubicBezTo>
                  <a:cubicBezTo>
                    <a:pt x="4" y="474"/>
                    <a:pt x="0" y="532"/>
                    <a:pt x="2" y="578"/>
                  </a:cubicBezTo>
                  <a:cubicBezTo>
                    <a:pt x="4" y="624"/>
                    <a:pt x="20" y="656"/>
                    <a:pt x="26" y="686"/>
                  </a:cubicBezTo>
                  <a:cubicBezTo>
                    <a:pt x="32" y="716"/>
                    <a:pt x="42" y="724"/>
                    <a:pt x="38" y="758"/>
                  </a:cubicBezTo>
                  <a:cubicBezTo>
                    <a:pt x="34" y="792"/>
                    <a:pt x="9" y="862"/>
                    <a:pt x="2" y="889"/>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1813" name="Group 69"/>
          <p:cNvGrpSpPr/>
          <p:nvPr/>
        </p:nvGrpSpPr>
        <p:grpSpPr bwMode="auto">
          <a:xfrm>
            <a:off x="3365500" y="2847975"/>
            <a:ext cx="881063" cy="1211263"/>
            <a:chOff x="2120" y="1794"/>
            <a:chExt cx="555" cy="763"/>
          </a:xfrm>
        </p:grpSpPr>
        <p:sp>
          <p:nvSpPr>
            <p:cNvPr id="31794" name="Freeform 14"/>
            <p:cNvSpPr/>
            <p:nvPr/>
          </p:nvSpPr>
          <p:spPr bwMode="auto">
            <a:xfrm>
              <a:off x="2120" y="1795"/>
              <a:ext cx="547" cy="187"/>
            </a:xfrm>
            <a:custGeom>
              <a:avLst/>
              <a:gdLst>
                <a:gd name="T0" fmla="*/ 0 w 547"/>
                <a:gd name="T1" fmla="*/ 0 h 77"/>
                <a:gd name="T2" fmla="*/ 528 w 547"/>
                <a:gd name="T3" fmla="*/ 0 h 77"/>
                <a:gd name="T4" fmla="*/ 547 w 547"/>
                <a:gd name="T5" fmla="*/ 187 h 77"/>
                <a:gd name="T6" fmla="*/ 10 w 547"/>
                <a:gd name="T7" fmla="*/ 187 h 77"/>
                <a:gd name="T8" fmla="*/ 0 w 547"/>
                <a:gd name="T9" fmla="*/ 0 h 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7" h="77">
                  <a:moveTo>
                    <a:pt x="0" y="0"/>
                  </a:moveTo>
                  <a:lnTo>
                    <a:pt x="528" y="0"/>
                  </a:lnTo>
                  <a:lnTo>
                    <a:pt x="547" y="77"/>
                  </a:lnTo>
                  <a:lnTo>
                    <a:pt x="10" y="77"/>
                  </a:lnTo>
                  <a:lnTo>
                    <a:pt x="0" y="0"/>
                  </a:lnTo>
                  <a:close/>
                </a:path>
              </a:pathLst>
            </a:custGeom>
            <a:solidFill>
              <a:srgbClr val="009900"/>
            </a:solidFill>
            <a:ln>
              <a:noFill/>
            </a:ln>
            <a:effectLst/>
            <a:extLst>
              <a:ext uri="{91240B29-F687-4F45-9708-019B960494DF}">
                <a14:hiddenLine xmlns:a14="http://schemas.microsoft.com/office/drawing/2010/main" w="9525">
                  <a:solidFill>
                    <a:srgbClr val="FFFF00"/>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95" name="Freeform 15"/>
            <p:cNvSpPr/>
            <p:nvPr/>
          </p:nvSpPr>
          <p:spPr bwMode="auto">
            <a:xfrm>
              <a:off x="2131" y="1794"/>
              <a:ext cx="1" cy="762"/>
            </a:xfrm>
            <a:custGeom>
              <a:avLst/>
              <a:gdLst>
                <a:gd name="T0" fmla="*/ 1 w 1"/>
                <a:gd name="T1" fmla="*/ 0 h 762"/>
                <a:gd name="T2" fmla="*/ 0 w 1"/>
                <a:gd name="T3" fmla="*/ 762 h 762"/>
                <a:gd name="T4" fmla="*/ 0 60000 65536"/>
                <a:gd name="T5" fmla="*/ 0 60000 65536"/>
              </a:gdLst>
              <a:ahLst/>
              <a:cxnLst>
                <a:cxn ang="T4">
                  <a:pos x="T0" y="T1"/>
                </a:cxn>
                <a:cxn ang="T5">
                  <a:pos x="T2" y="T3"/>
                </a:cxn>
              </a:cxnLst>
              <a:rect l="0" t="0" r="r" b="b"/>
              <a:pathLst>
                <a:path w="1" h="762">
                  <a:moveTo>
                    <a:pt x="1" y="0"/>
                  </a:moveTo>
                  <a:lnTo>
                    <a:pt x="0" y="76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96" name="Line 16"/>
            <p:cNvSpPr>
              <a:spLocks noChangeShapeType="1"/>
            </p:cNvSpPr>
            <p:nvPr/>
          </p:nvSpPr>
          <p:spPr bwMode="auto">
            <a:xfrm>
              <a:off x="2130" y="1797"/>
              <a:ext cx="5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97" name="Freeform 17"/>
            <p:cNvSpPr/>
            <p:nvPr/>
          </p:nvSpPr>
          <p:spPr bwMode="auto">
            <a:xfrm>
              <a:off x="2125" y="2556"/>
              <a:ext cx="505" cy="1"/>
            </a:xfrm>
            <a:custGeom>
              <a:avLst/>
              <a:gdLst>
                <a:gd name="T0" fmla="*/ 0 w 505"/>
                <a:gd name="T1" fmla="*/ 0 h 1"/>
                <a:gd name="T2" fmla="*/ 505 w 505"/>
                <a:gd name="T3" fmla="*/ 0 h 1"/>
                <a:gd name="T4" fmla="*/ 0 60000 65536"/>
                <a:gd name="T5" fmla="*/ 0 60000 65536"/>
              </a:gdLst>
              <a:ahLst/>
              <a:cxnLst>
                <a:cxn ang="T4">
                  <a:pos x="T0" y="T1"/>
                </a:cxn>
                <a:cxn ang="T5">
                  <a:pos x="T2" y="T3"/>
                </a:cxn>
              </a:cxnLst>
              <a:rect l="0" t="0" r="r" b="b"/>
              <a:pathLst>
                <a:path w="505" h="1">
                  <a:moveTo>
                    <a:pt x="0" y="0"/>
                  </a:moveTo>
                  <a:lnTo>
                    <a:pt x="505"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98" name="Line 18"/>
            <p:cNvSpPr>
              <a:spLocks noChangeShapeType="1"/>
            </p:cNvSpPr>
            <p:nvPr/>
          </p:nvSpPr>
          <p:spPr bwMode="auto">
            <a:xfrm>
              <a:off x="2126" y="1977"/>
              <a:ext cx="54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99" name="Freeform 19"/>
            <p:cNvSpPr/>
            <p:nvPr/>
          </p:nvSpPr>
          <p:spPr bwMode="auto">
            <a:xfrm>
              <a:off x="2588" y="1801"/>
              <a:ext cx="80" cy="755"/>
            </a:xfrm>
            <a:custGeom>
              <a:avLst/>
              <a:gdLst>
                <a:gd name="T0" fmla="*/ 50 w 80"/>
                <a:gd name="T1" fmla="*/ 0 h 755"/>
                <a:gd name="T2" fmla="*/ 74 w 80"/>
                <a:gd name="T3" fmla="*/ 200 h 755"/>
                <a:gd name="T4" fmla="*/ 16 w 80"/>
                <a:gd name="T5" fmla="*/ 347 h 755"/>
                <a:gd name="T6" fmla="*/ 4 w 80"/>
                <a:gd name="T7" fmla="*/ 515 h 755"/>
                <a:gd name="T8" fmla="*/ 40 w 80"/>
                <a:gd name="T9" fmla="*/ 635 h 755"/>
                <a:gd name="T10" fmla="*/ 36 w 80"/>
                <a:gd name="T11" fmla="*/ 755 h 75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755">
                  <a:moveTo>
                    <a:pt x="50" y="0"/>
                  </a:moveTo>
                  <a:cubicBezTo>
                    <a:pt x="56" y="33"/>
                    <a:pt x="80" y="142"/>
                    <a:pt x="74" y="200"/>
                  </a:cubicBezTo>
                  <a:cubicBezTo>
                    <a:pt x="68" y="258"/>
                    <a:pt x="28" y="295"/>
                    <a:pt x="16" y="347"/>
                  </a:cubicBezTo>
                  <a:cubicBezTo>
                    <a:pt x="4" y="399"/>
                    <a:pt x="0" y="467"/>
                    <a:pt x="4" y="515"/>
                  </a:cubicBezTo>
                  <a:cubicBezTo>
                    <a:pt x="8" y="563"/>
                    <a:pt x="35" y="595"/>
                    <a:pt x="40" y="635"/>
                  </a:cubicBezTo>
                  <a:cubicBezTo>
                    <a:pt x="45" y="675"/>
                    <a:pt x="37" y="730"/>
                    <a:pt x="36" y="755"/>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1749" name="Text Box 20"/>
          <p:cNvSpPr txBox="1">
            <a:spLocks noChangeArrowheads="1"/>
          </p:cNvSpPr>
          <p:nvPr/>
        </p:nvSpPr>
        <p:spPr bwMode="auto">
          <a:xfrm>
            <a:off x="222250" y="74613"/>
            <a:ext cx="24384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⑶ </a:t>
            </a:r>
            <a:r>
              <a:rPr lang="zh-CN" altLang="en-US" sz="3200" b="1">
                <a:latin typeface="宋体" panose="02010600030101010101" pitchFamily="2" charset="-122"/>
              </a:rPr>
              <a:t>配合制</a:t>
            </a:r>
            <a:endParaRPr lang="zh-CN" altLang="en-US" sz="3200" b="1">
              <a:latin typeface="宋体" panose="02010600030101010101" pitchFamily="2" charset="-122"/>
            </a:endParaRPr>
          </a:p>
        </p:txBody>
      </p:sp>
      <p:sp>
        <p:nvSpPr>
          <p:cNvPr id="31765" name="Text Box 21"/>
          <p:cNvSpPr txBox="1">
            <a:spLocks noChangeArrowheads="1"/>
          </p:cNvSpPr>
          <p:nvPr/>
        </p:nvSpPr>
        <p:spPr bwMode="auto">
          <a:xfrm>
            <a:off x="438150" y="573088"/>
            <a:ext cx="33972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① </a:t>
            </a:r>
            <a:r>
              <a:rPr lang="zh-CN" altLang="en-US" sz="3200" b="1">
                <a:latin typeface="宋体" panose="02010600030101010101" pitchFamily="2" charset="-122"/>
              </a:rPr>
              <a:t>基孔制配合</a:t>
            </a:r>
            <a:endParaRPr lang="zh-CN" altLang="en-US" sz="3200" b="1">
              <a:latin typeface="宋体" panose="02010600030101010101" pitchFamily="2" charset="-122"/>
            </a:endParaRPr>
          </a:p>
        </p:txBody>
      </p:sp>
      <p:sp>
        <p:nvSpPr>
          <p:cNvPr id="31766" name="Text Box 22"/>
          <p:cNvSpPr txBox="1">
            <a:spLocks noChangeArrowheads="1"/>
          </p:cNvSpPr>
          <p:nvPr/>
        </p:nvSpPr>
        <p:spPr bwMode="auto">
          <a:xfrm>
            <a:off x="547688" y="1038225"/>
            <a:ext cx="8596312"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    </a:t>
            </a:r>
            <a:r>
              <a:rPr lang="zh-CN" altLang="en-US" sz="2800" b="1">
                <a:latin typeface="宋体" panose="02010600030101010101" pitchFamily="2" charset="-122"/>
              </a:rPr>
              <a:t>基本偏差为</a:t>
            </a:r>
            <a:r>
              <a:rPr lang="zh-CN" altLang="en-US" sz="2800" b="1">
                <a:solidFill>
                  <a:srgbClr val="FF6600"/>
                </a:solidFill>
                <a:latin typeface="宋体" panose="02010600030101010101" pitchFamily="2" charset="-122"/>
              </a:rPr>
              <a:t>一定的</a:t>
            </a:r>
            <a:r>
              <a:rPr lang="zh-CN" altLang="en-US" sz="2800" b="1">
                <a:solidFill>
                  <a:srgbClr val="FF3300"/>
                </a:solidFill>
                <a:latin typeface="宋体" panose="02010600030101010101" pitchFamily="2" charset="-122"/>
              </a:rPr>
              <a:t>孔的公差带</a:t>
            </a:r>
            <a:r>
              <a:rPr lang="zh-CN" altLang="en-US" sz="2800" b="1">
                <a:latin typeface="宋体" panose="02010600030101010101" pitchFamily="2" charset="-122"/>
              </a:rPr>
              <a:t>，与</a:t>
            </a:r>
            <a:r>
              <a:rPr lang="zh-CN" altLang="en-US" sz="2800" b="1">
                <a:solidFill>
                  <a:srgbClr val="FF6600"/>
                </a:solidFill>
                <a:latin typeface="宋体" panose="02010600030101010101" pitchFamily="2" charset="-122"/>
              </a:rPr>
              <a:t>不同</a:t>
            </a:r>
            <a:r>
              <a:rPr lang="zh-CN" altLang="en-US" sz="2800" b="1">
                <a:latin typeface="宋体" panose="02010600030101010101" pitchFamily="2" charset="-122"/>
              </a:rPr>
              <a:t>基本偏</a:t>
            </a:r>
            <a:endParaRPr lang="zh-CN" altLang="en-US" sz="2800" b="1">
              <a:latin typeface="宋体" panose="02010600030101010101" pitchFamily="2" charset="-122"/>
            </a:endParaRPr>
          </a:p>
          <a:p>
            <a:pPr algn="l"/>
            <a:r>
              <a:rPr lang="zh-CN" altLang="en-US" sz="2800" b="1">
                <a:latin typeface="宋体" panose="02010600030101010101" pitchFamily="2" charset="-122"/>
              </a:rPr>
              <a:t>差的</a:t>
            </a:r>
            <a:r>
              <a:rPr lang="zh-CN" altLang="en-US" sz="2800" b="1">
                <a:solidFill>
                  <a:srgbClr val="FF3300"/>
                </a:solidFill>
                <a:latin typeface="宋体" panose="02010600030101010101" pitchFamily="2" charset="-122"/>
              </a:rPr>
              <a:t>轴的公差带</a:t>
            </a:r>
            <a:r>
              <a:rPr lang="zh-CN" altLang="en-US" sz="2800" b="1">
                <a:latin typeface="宋体" panose="02010600030101010101" pitchFamily="2" charset="-122"/>
              </a:rPr>
              <a:t>形成各种配合的制度。</a:t>
            </a:r>
            <a:endParaRPr lang="zh-CN" altLang="en-US" sz="2800" b="1">
              <a:latin typeface="宋体" panose="02010600030101010101" pitchFamily="2" charset="-122"/>
            </a:endParaRPr>
          </a:p>
        </p:txBody>
      </p:sp>
      <p:sp>
        <p:nvSpPr>
          <p:cNvPr id="31767" name="Text Box 23"/>
          <p:cNvSpPr txBox="1">
            <a:spLocks noChangeArrowheads="1"/>
          </p:cNvSpPr>
          <p:nvPr/>
        </p:nvSpPr>
        <p:spPr bwMode="auto">
          <a:xfrm>
            <a:off x="819150" y="4267200"/>
            <a:ext cx="14795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基准孔</a:t>
            </a:r>
            <a:endParaRPr lang="zh-CN" altLang="en-US" sz="2800" b="1"/>
          </a:p>
        </p:txBody>
      </p:sp>
      <p:sp>
        <p:nvSpPr>
          <p:cNvPr id="31768" name="Text Box 24"/>
          <p:cNvSpPr txBox="1">
            <a:spLocks noChangeArrowheads="1"/>
          </p:cNvSpPr>
          <p:nvPr/>
        </p:nvSpPr>
        <p:spPr bwMode="auto">
          <a:xfrm>
            <a:off x="3033713" y="4114800"/>
            <a:ext cx="178593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间隙配合</a:t>
            </a:r>
            <a:endParaRPr lang="zh-CN" altLang="en-US" sz="2800" b="1"/>
          </a:p>
        </p:txBody>
      </p:sp>
      <p:sp>
        <p:nvSpPr>
          <p:cNvPr id="31769" name="Text Box 25"/>
          <p:cNvSpPr txBox="1">
            <a:spLocks noChangeArrowheads="1"/>
          </p:cNvSpPr>
          <p:nvPr/>
        </p:nvSpPr>
        <p:spPr bwMode="auto">
          <a:xfrm>
            <a:off x="4800600" y="4094163"/>
            <a:ext cx="17494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过渡配合</a:t>
            </a:r>
            <a:endParaRPr lang="zh-CN" altLang="en-US" sz="2800" b="1"/>
          </a:p>
        </p:txBody>
      </p:sp>
      <p:sp>
        <p:nvSpPr>
          <p:cNvPr id="31770" name="Text Box 26"/>
          <p:cNvSpPr txBox="1">
            <a:spLocks noChangeArrowheads="1"/>
          </p:cNvSpPr>
          <p:nvPr/>
        </p:nvSpPr>
        <p:spPr bwMode="auto">
          <a:xfrm>
            <a:off x="6661150" y="4094163"/>
            <a:ext cx="18272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过盈配合</a:t>
            </a:r>
            <a:endParaRPr lang="zh-CN" altLang="en-US" sz="2800" b="1"/>
          </a:p>
        </p:txBody>
      </p:sp>
      <p:sp>
        <p:nvSpPr>
          <p:cNvPr id="31771" name="Text Box 27"/>
          <p:cNvSpPr txBox="1">
            <a:spLocks noChangeArrowheads="1"/>
          </p:cNvSpPr>
          <p:nvPr/>
        </p:nvSpPr>
        <p:spPr bwMode="auto">
          <a:xfrm>
            <a:off x="474663" y="4797425"/>
            <a:ext cx="20701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tx2"/>
                </a:solidFill>
              </a:rPr>
              <a:t>公差带图：</a:t>
            </a:r>
            <a:endParaRPr lang="zh-CN" altLang="en-US" sz="2800" b="1">
              <a:solidFill>
                <a:schemeClr val="tx2"/>
              </a:solidFill>
            </a:endParaRPr>
          </a:p>
        </p:txBody>
      </p:sp>
      <p:sp>
        <p:nvSpPr>
          <p:cNvPr id="31772" name="Rectangle 28"/>
          <p:cNvSpPr>
            <a:spLocks noChangeArrowheads="1"/>
          </p:cNvSpPr>
          <p:nvPr/>
        </p:nvSpPr>
        <p:spPr bwMode="auto">
          <a:xfrm>
            <a:off x="3167063" y="5759450"/>
            <a:ext cx="1047750" cy="347663"/>
          </a:xfrm>
          <a:prstGeom prst="rect">
            <a:avLst/>
          </a:prstGeom>
          <a:solidFill>
            <a:srgbClr val="0099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1773" name="Rectangle 29"/>
          <p:cNvSpPr>
            <a:spLocks noChangeArrowheads="1"/>
          </p:cNvSpPr>
          <p:nvPr/>
        </p:nvSpPr>
        <p:spPr bwMode="auto">
          <a:xfrm>
            <a:off x="6916738" y="4854575"/>
            <a:ext cx="976312" cy="361950"/>
          </a:xfrm>
          <a:prstGeom prst="rect">
            <a:avLst/>
          </a:prstGeom>
          <a:solidFill>
            <a:srgbClr val="0099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31774" name="Group 30"/>
          <p:cNvGrpSpPr/>
          <p:nvPr/>
        </p:nvGrpSpPr>
        <p:grpSpPr bwMode="auto">
          <a:xfrm>
            <a:off x="184150" y="5292725"/>
            <a:ext cx="8385175" cy="801688"/>
            <a:chOff x="116" y="3334"/>
            <a:chExt cx="5282" cy="505"/>
          </a:xfrm>
        </p:grpSpPr>
        <p:sp>
          <p:nvSpPr>
            <p:cNvPr id="31788" name="Text Box 31"/>
            <p:cNvSpPr txBox="1">
              <a:spLocks noChangeArrowheads="1"/>
            </p:cNvSpPr>
            <p:nvPr/>
          </p:nvSpPr>
          <p:spPr bwMode="auto">
            <a:xfrm>
              <a:off x="5148" y="3430"/>
              <a:ext cx="25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latin typeface="ISOCTEUR" panose="020B0609020202020204" pitchFamily="49" charset="0"/>
                </a:rPr>
                <a:t>0</a:t>
              </a:r>
              <a:endParaRPr lang="en-US" altLang="zh-CN" b="1"/>
            </a:p>
          </p:txBody>
        </p:sp>
        <p:sp>
          <p:nvSpPr>
            <p:cNvPr id="31789" name="Line 32"/>
            <p:cNvSpPr>
              <a:spLocks noChangeShapeType="1"/>
            </p:cNvSpPr>
            <p:nvPr/>
          </p:nvSpPr>
          <p:spPr bwMode="auto">
            <a:xfrm>
              <a:off x="315" y="3568"/>
              <a:ext cx="486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90" name="Rectangle 33"/>
            <p:cNvSpPr>
              <a:spLocks noChangeArrowheads="1"/>
            </p:cNvSpPr>
            <p:nvPr/>
          </p:nvSpPr>
          <p:spPr bwMode="auto">
            <a:xfrm>
              <a:off x="615" y="3363"/>
              <a:ext cx="4451" cy="205"/>
            </a:xfrm>
            <a:prstGeom prst="rect">
              <a:avLst/>
            </a:prstGeom>
            <a:solidFill>
              <a:srgbClr val="FF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1791" name="Text Box 34"/>
            <p:cNvSpPr txBox="1">
              <a:spLocks noChangeArrowheads="1"/>
            </p:cNvSpPr>
            <p:nvPr/>
          </p:nvSpPr>
          <p:spPr bwMode="auto">
            <a:xfrm>
              <a:off x="291" y="3359"/>
              <a:ext cx="231"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4400" b="1"/>
                <a:t>-</a:t>
              </a:r>
              <a:endParaRPr lang="en-US" altLang="zh-CN" sz="4400" b="1"/>
            </a:p>
          </p:txBody>
        </p:sp>
        <p:sp>
          <p:nvSpPr>
            <p:cNvPr id="31792" name="Text Box 35"/>
            <p:cNvSpPr txBox="1">
              <a:spLocks noChangeArrowheads="1"/>
            </p:cNvSpPr>
            <p:nvPr/>
          </p:nvSpPr>
          <p:spPr bwMode="auto">
            <a:xfrm>
              <a:off x="116" y="3409"/>
              <a:ext cx="25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latin typeface="ISOCTEUR" panose="020B0609020202020204" pitchFamily="49" charset="0"/>
                </a:rPr>
                <a:t>0</a:t>
              </a:r>
              <a:endParaRPr lang="en-US" altLang="zh-CN" b="1"/>
            </a:p>
          </p:txBody>
        </p:sp>
        <p:sp>
          <p:nvSpPr>
            <p:cNvPr id="31793" name="Text Box 36"/>
            <p:cNvSpPr txBox="1">
              <a:spLocks noChangeArrowheads="1"/>
            </p:cNvSpPr>
            <p:nvPr/>
          </p:nvSpPr>
          <p:spPr bwMode="auto">
            <a:xfrm>
              <a:off x="294" y="3334"/>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a:t>
              </a:r>
              <a:endParaRPr lang="en-US" altLang="zh-CN" b="1"/>
            </a:p>
          </p:txBody>
        </p:sp>
      </p:grpSp>
      <p:grpSp>
        <p:nvGrpSpPr>
          <p:cNvPr id="31781" name="Group 37"/>
          <p:cNvGrpSpPr/>
          <p:nvPr/>
        </p:nvGrpSpPr>
        <p:grpSpPr bwMode="auto">
          <a:xfrm>
            <a:off x="649288" y="2076450"/>
            <a:ext cx="1644650" cy="2308225"/>
            <a:chOff x="409" y="1308"/>
            <a:chExt cx="1036" cy="1454"/>
          </a:xfrm>
        </p:grpSpPr>
        <p:grpSp>
          <p:nvGrpSpPr>
            <p:cNvPr id="4" name="Group 38"/>
            <p:cNvGrpSpPr/>
            <p:nvPr/>
          </p:nvGrpSpPr>
          <p:grpSpPr bwMode="auto">
            <a:xfrm>
              <a:off x="409" y="1311"/>
              <a:ext cx="1033" cy="1451"/>
              <a:chOff x="409" y="1311"/>
              <a:chExt cx="1033" cy="1451"/>
            </a:xfrm>
          </p:grpSpPr>
          <p:sp>
            <p:nvSpPr>
              <p:cNvPr id="31782" name="Freeform 39"/>
              <p:cNvSpPr/>
              <p:nvPr/>
            </p:nvSpPr>
            <p:spPr bwMode="auto">
              <a:xfrm>
                <a:off x="414" y="1540"/>
                <a:ext cx="1023" cy="213"/>
              </a:xfrm>
              <a:custGeom>
                <a:avLst/>
                <a:gdLst>
                  <a:gd name="T0" fmla="*/ 1 w 1023"/>
                  <a:gd name="T1" fmla="*/ 10 h 165"/>
                  <a:gd name="T2" fmla="*/ 1023 w 1023"/>
                  <a:gd name="T3" fmla="*/ 0 h 165"/>
                  <a:gd name="T4" fmla="*/ 1023 w 1023"/>
                  <a:gd name="T5" fmla="*/ 213 h 165"/>
                  <a:gd name="T6" fmla="*/ 0 w 1023"/>
                  <a:gd name="T7" fmla="*/ 213 h 165"/>
                  <a:gd name="T8" fmla="*/ 1 w 1023"/>
                  <a:gd name="T9" fmla="*/ 10 h 1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3" h="165">
                    <a:moveTo>
                      <a:pt x="1" y="8"/>
                    </a:moveTo>
                    <a:lnTo>
                      <a:pt x="1023" y="0"/>
                    </a:lnTo>
                    <a:lnTo>
                      <a:pt x="1023" y="165"/>
                    </a:lnTo>
                    <a:lnTo>
                      <a:pt x="0" y="165"/>
                    </a:lnTo>
                    <a:lnTo>
                      <a:pt x="1" y="8"/>
                    </a:lnTo>
                    <a:close/>
                  </a:path>
                </a:pathLst>
              </a:custGeom>
              <a:solidFill>
                <a:srgbClr val="FF66FF"/>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83" name="Line 40"/>
              <p:cNvSpPr>
                <a:spLocks noChangeShapeType="1"/>
              </p:cNvSpPr>
              <p:nvPr/>
            </p:nvSpPr>
            <p:spPr bwMode="auto">
              <a:xfrm>
                <a:off x="411" y="1311"/>
                <a:ext cx="0" cy="145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84" name="Line 41"/>
              <p:cNvSpPr>
                <a:spLocks noChangeShapeType="1"/>
              </p:cNvSpPr>
              <p:nvPr/>
            </p:nvSpPr>
            <p:spPr bwMode="auto">
              <a:xfrm>
                <a:off x="1442" y="1311"/>
                <a:ext cx="0" cy="143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85" name="Line 42"/>
              <p:cNvSpPr>
                <a:spLocks noChangeShapeType="1"/>
              </p:cNvSpPr>
              <p:nvPr/>
            </p:nvSpPr>
            <p:spPr bwMode="auto">
              <a:xfrm>
                <a:off x="411" y="1747"/>
                <a:ext cx="103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86" name="Line 43"/>
              <p:cNvSpPr>
                <a:spLocks noChangeShapeType="1"/>
              </p:cNvSpPr>
              <p:nvPr/>
            </p:nvSpPr>
            <p:spPr bwMode="auto">
              <a:xfrm>
                <a:off x="409" y="2558"/>
                <a:ext cx="103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87" name="Line 44"/>
              <p:cNvSpPr>
                <a:spLocks noChangeShapeType="1"/>
              </p:cNvSpPr>
              <p:nvPr/>
            </p:nvSpPr>
            <p:spPr bwMode="auto">
              <a:xfrm>
                <a:off x="409" y="1542"/>
                <a:ext cx="103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5" name="Group 45"/>
            <p:cNvGrpSpPr/>
            <p:nvPr/>
          </p:nvGrpSpPr>
          <p:grpSpPr bwMode="auto">
            <a:xfrm>
              <a:off x="415" y="1308"/>
              <a:ext cx="1030" cy="1446"/>
              <a:chOff x="415" y="1308"/>
              <a:chExt cx="1030" cy="1446"/>
            </a:xfrm>
          </p:grpSpPr>
          <p:sp>
            <p:nvSpPr>
              <p:cNvPr id="6" name="Line 46"/>
              <p:cNvSpPr>
                <a:spLocks noChangeShapeType="1"/>
              </p:cNvSpPr>
              <p:nvPr/>
            </p:nvSpPr>
            <p:spPr bwMode="auto">
              <a:xfrm flipV="1">
                <a:off x="588" y="1308"/>
                <a:ext cx="231" cy="2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 name="Freeform 47"/>
              <p:cNvSpPr/>
              <p:nvPr/>
            </p:nvSpPr>
            <p:spPr bwMode="auto">
              <a:xfrm>
                <a:off x="821" y="1315"/>
                <a:ext cx="233" cy="233"/>
              </a:xfrm>
              <a:custGeom>
                <a:avLst/>
                <a:gdLst>
                  <a:gd name="T0" fmla="*/ 0 w 233"/>
                  <a:gd name="T1" fmla="*/ 233 h 233"/>
                  <a:gd name="T2" fmla="*/ 233 w 233"/>
                  <a:gd name="T3" fmla="*/ 0 h 233"/>
                  <a:gd name="T4" fmla="*/ 0 60000 65536"/>
                  <a:gd name="T5" fmla="*/ 0 60000 65536"/>
                </a:gdLst>
                <a:ahLst/>
                <a:cxnLst>
                  <a:cxn ang="T4">
                    <a:pos x="T0" y="T1"/>
                  </a:cxn>
                  <a:cxn ang="T5">
                    <a:pos x="T2" y="T3"/>
                  </a:cxn>
                </a:cxnLst>
                <a:rect l="0" t="0" r="r" b="b"/>
                <a:pathLst>
                  <a:path w="233" h="233">
                    <a:moveTo>
                      <a:pt x="0" y="233"/>
                    </a:moveTo>
                    <a:lnTo>
                      <a:pt x="233"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 name="Freeform 48"/>
              <p:cNvSpPr/>
              <p:nvPr/>
            </p:nvSpPr>
            <p:spPr bwMode="auto">
              <a:xfrm>
                <a:off x="1055" y="1308"/>
                <a:ext cx="240" cy="240"/>
              </a:xfrm>
              <a:custGeom>
                <a:avLst/>
                <a:gdLst>
                  <a:gd name="T0" fmla="*/ 0 w 240"/>
                  <a:gd name="T1" fmla="*/ 240 h 240"/>
                  <a:gd name="T2" fmla="*/ 240 w 240"/>
                  <a:gd name="T3" fmla="*/ 0 h 240"/>
                  <a:gd name="T4" fmla="*/ 0 60000 65536"/>
                  <a:gd name="T5" fmla="*/ 0 60000 65536"/>
                </a:gdLst>
                <a:ahLst/>
                <a:cxnLst>
                  <a:cxn ang="T4">
                    <a:pos x="T0" y="T1"/>
                  </a:cxn>
                  <a:cxn ang="T5">
                    <a:pos x="T2" y="T3"/>
                  </a:cxn>
                </a:cxnLst>
                <a:rect l="0" t="0" r="r" b="b"/>
                <a:pathLst>
                  <a:path w="240" h="240">
                    <a:moveTo>
                      <a:pt x="0" y="240"/>
                    </a:moveTo>
                    <a:lnTo>
                      <a:pt x="240"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75" name="Freeform 49"/>
              <p:cNvSpPr/>
              <p:nvPr/>
            </p:nvSpPr>
            <p:spPr bwMode="auto">
              <a:xfrm>
                <a:off x="415" y="1320"/>
                <a:ext cx="177" cy="177"/>
              </a:xfrm>
              <a:custGeom>
                <a:avLst/>
                <a:gdLst>
                  <a:gd name="T0" fmla="*/ 0 w 189"/>
                  <a:gd name="T1" fmla="*/ 177 h 189"/>
                  <a:gd name="T2" fmla="*/ 177 w 189"/>
                  <a:gd name="T3" fmla="*/ 0 h 189"/>
                  <a:gd name="T4" fmla="*/ 0 60000 65536"/>
                  <a:gd name="T5" fmla="*/ 0 60000 65536"/>
                </a:gdLst>
                <a:ahLst/>
                <a:cxnLst>
                  <a:cxn ang="T4">
                    <a:pos x="T0" y="T1"/>
                  </a:cxn>
                  <a:cxn ang="T5">
                    <a:pos x="T2" y="T3"/>
                  </a:cxn>
                </a:cxnLst>
                <a:rect l="0" t="0" r="r" b="b"/>
                <a:pathLst>
                  <a:path w="189" h="189">
                    <a:moveTo>
                      <a:pt x="0" y="189"/>
                    </a:moveTo>
                    <a:lnTo>
                      <a:pt x="189"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76" name="Line 50"/>
              <p:cNvSpPr>
                <a:spLocks noChangeShapeType="1"/>
              </p:cNvSpPr>
              <p:nvPr/>
            </p:nvSpPr>
            <p:spPr bwMode="auto">
              <a:xfrm flipV="1">
                <a:off x="1278" y="1383"/>
                <a:ext cx="167" cy="1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77" name="Freeform 51"/>
              <p:cNvSpPr/>
              <p:nvPr/>
            </p:nvSpPr>
            <p:spPr bwMode="auto">
              <a:xfrm>
                <a:off x="417" y="2558"/>
                <a:ext cx="148" cy="152"/>
              </a:xfrm>
              <a:custGeom>
                <a:avLst/>
                <a:gdLst>
                  <a:gd name="T0" fmla="*/ 0 w 106"/>
                  <a:gd name="T1" fmla="*/ 152 h 107"/>
                  <a:gd name="T2" fmla="*/ 148 w 106"/>
                  <a:gd name="T3" fmla="*/ 0 h 107"/>
                  <a:gd name="T4" fmla="*/ 0 60000 65536"/>
                  <a:gd name="T5" fmla="*/ 0 60000 65536"/>
                </a:gdLst>
                <a:ahLst/>
                <a:cxnLst>
                  <a:cxn ang="T4">
                    <a:pos x="T0" y="T1"/>
                  </a:cxn>
                  <a:cxn ang="T5">
                    <a:pos x="T2" y="T3"/>
                  </a:cxn>
                </a:cxnLst>
                <a:rect l="0" t="0" r="r" b="b"/>
                <a:pathLst>
                  <a:path w="106" h="107">
                    <a:moveTo>
                      <a:pt x="0" y="107"/>
                    </a:moveTo>
                    <a:lnTo>
                      <a:pt x="106"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78" name="Freeform 52"/>
              <p:cNvSpPr/>
              <p:nvPr/>
            </p:nvSpPr>
            <p:spPr bwMode="auto">
              <a:xfrm>
                <a:off x="589" y="2553"/>
                <a:ext cx="196" cy="195"/>
              </a:xfrm>
              <a:custGeom>
                <a:avLst/>
                <a:gdLst>
                  <a:gd name="T0" fmla="*/ 0 w 248"/>
                  <a:gd name="T1" fmla="*/ 195 h 247"/>
                  <a:gd name="T2" fmla="*/ 196 w 248"/>
                  <a:gd name="T3" fmla="*/ 0 h 247"/>
                  <a:gd name="T4" fmla="*/ 0 60000 65536"/>
                  <a:gd name="T5" fmla="*/ 0 60000 65536"/>
                </a:gdLst>
                <a:ahLst/>
                <a:cxnLst>
                  <a:cxn ang="T4">
                    <a:pos x="T0" y="T1"/>
                  </a:cxn>
                  <a:cxn ang="T5">
                    <a:pos x="T2" y="T3"/>
                  </a:cxn>
                </a:cxnLst>
                <a:rect l="0" t="0" r="r" b="b"/>
                <a:pathLst>
                  <a:path w="248" h="247">
                    <a:moveTo>
                      <a:pt x="0" y="247"/>
                    </a:moveTo>
                    <a:lnTo>
                      <a:pt x="248" y="0"/>
                    </a:lnTo>
                  </a:path>
                </a:pathLst>
              </a:custGeom>
              <a:noFill/>
              <a:ln w="19050" cmpd="sng">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79" name="Freeform 53"/>
              <p:cNvSpPr/>
              <p:nvPr/>
            </p:nvSpPr>
            <p:spPr bwMode="auto">
              <a:xfrm>
                <a:off x="800" y="2561"/>
                <a:ext cx="192" cy="192"/>
              </a:xfrm>
              <a:custGeom>
                <a:avLst/>
                <a:gdLst>
                  <a:gd name="T0" fmla="*/ 0 w 240"/>
                  <a:gd name="T1" fmla="*/ 192 h 240"/>
                  <a:gd name="T2" fmla="*/ 192 w 240"/>
                  <a:gd name="T3" fmla="*/ 0 h 240"/>
                  <a:gd name="T4" fmla="*/ 0 60000 65536"/>
                  <a:gd name="T5" fmla="*/ 0 60000 65536"/>
                </a:gdLst>
                <a:ahLst/>
                <a:cxnLst>
                  <a:cxn ang="T4">
                    <a:pos x="T0" y="T1"/>
                  </a:cxn>
                  <a:cxn ang="T5">
                    <a:pos x="T2" y="T3"/>
                  </a:cxn>
                </a:cxnLst>
                <a:rect l="0" t="0" r="r" b="b"/>
                <a:pathLst>
                  <a:path w="240" h="240">
                    <a:moveTo>
                      <a:pt x="0" y="240"/>
                    </a:moveTo>
                    <a:lnTo>
                      <a:pt x="24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80" name="Freeform 54"/>
              <p:cNvSpPr/>
              <p:nvPr/>
            </p:nvSpPr>
            <p:spPr bwMode="auto">
              <a:xfrm>
                <a:off x="1014" y="2558"/>
                <a:ext cx="191" cy="196"/>
              </a:xfrm>
              <a:custGeom>
                <a:avLst/>
                <a:gdLst>
                  <a:gd name="T0" fmla="*/ 0 w 163"/>
                  <a:gd name="T1" fmla="*/ 196 h 163"/>
                  <a:gd name="T2" fmla="*/ 191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 name="Freeform 55"/>
              <p:cNvSpPr/>
              <p:nvPr/>
            </p:nvSpPr>
            <p:spPr bwMode="auto">
              <a:xfrm>
                <a:off x="1246" y="2558"/>
                <a:ext cx="187" cy="196"/>
              </a:xfrm>
              <a:custGeom>
                <a:avLst/>
                <a:gdLst>
                  <a:gd name="T0" fmla="*/ 0 w 163"/>
                  <a:gd name="T1" fmla="*/ 196 h 163"/>
                  <a:gd name="T2" fmla="*/ 187 w 163"/>
                  <a:gd name="T3" fmla="*/ 0 h 163"/>
                  <a:gd name="T4" fmla="*/ 0 60000 65536"/>
                  <a:gd name="T5" fmla="*/ 0 60000 65536"/>
                </a:gdLst>
                <a:ahLst/>
                <a:cxnLst>
                  <a:cxn ang="T4">
                    <a:pos x="T0" y="T1"/>
                  </a:cxn>
                  <a:cxn ang="T5">
                    <a:pos x="T2" y="T3"/>
                  </a:cxn>
                </a:cxnLst>
                <a:rect l="0" t="0" r="r" b="b"/>
                <a:pathLst>
                  <a:path w="163" h="163">
                    <a:moveTo>
                      <a:pt x="0" y="163"/>
                    </a:moveTo>
                    <a:lnTo>
                      <a:pt x="16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31800" name="Rectangle 56"/>
          <p:cNvSpPr>
            <a:spLocks noChangeArrowheads="1"/>
          </p:cNvSpPr>
          <p:nvPr/>
        </p:nvSpPr>
        <p:spPr bwMode="auto">
          <a:xfrm>
            <a:off x="4995863" y="5497513"/>
            <a:ext cx="1047750" cy="366712"/>
          </a:xfrm>
          <a:prstGeom prst="rect">
            <a:avLst/>
          </a:prstGeom>
          <a:solidFill>
            <a:srgbClr val="0099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31812" name="Group 68"/>
          <p:cNvGrpSpPr/>
          <p:nvPr/>
        </p:nvGrpSpPr>
        <p:grpSpPr bwMode="auto">
          <a:xfrm>
            <a:off x="6945313" y="2063750"/>
            <a:ext cx="1008062" cy="2003425"/>
            <a:chOff x="4375" y="1300"/>
            <a:chExt cx="635" cy="1262"/>
          </a:xfrm>
        </p:grpSpPr>
        <p:sp>
          <p:nvSpPr>
            <p:cNvPr id="31764" name="Freeform 58"/>
            <p:cNvSpPr/>
            <p:nvPr/>
          </p:nvSpPr>
          <p:spPr bwMode="auto">
            <a:xfrm>
              <a:off x="4382" y="1316"/>
              <a:ext cx="628" cy="197"/>
            </a:xfrm>
            <a:custGeom>
              <a:avLst/>
              <a:gdLst>
                <a:gd name="T0" fmla="*/ 10 w 628"/>
                <a:gd name="T1" fmla="*/ 0 h 197"/>
                <a:gd name="T2" fmla="*/ 599 w 628"/>
                <a:gd name="T3" fmla="*/ 0 h 197"/>
                <a:gd name="T4" fmla="*/ 628 w 628"/>
                <a:gd name="T5" fmla="*/ 197 h 197"/>
                <a:gd name="T6" fmla="*/ 0 w 628"/>
                <a:gd name="T7" fmla="*/ 186 h 197"/>
                <a:gd name="T8" fmla="*/ 10 w 628"/>
                <a:gd name="T9" fmla="*/ 0 h 1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8" h="197">
                  <a:moveTo>
                    <a:pt x="10" y="0"/>
                  </a:moveTo>
                  <a:lnTo>
                    <a:pt x="599" y="0"/>
                  </a:lnTo>
                  <a:lnTo>
                    <a:pt x="628" y="197"/>
                  </a:lnTo>
                  <a:lnTo>
                    <a:pt x="0" y="186"/>
                  </a:lnTo>
                  <a:lnTo>
                    <a:pt x="10" y="0"/>
                  </a:lnTo>
                  <a:close/>
                </a:path>
              </a:pathLst>
            </a:custGeom>
            <a:solidFill>
              <a:srgbClr val="009900"/>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Line 59"/>
            <p:cNvSpPr>
              <a:spLocks noChangeShapeType="1"/>
            </p:cNvSpPr>
            <p:nvPr/>
          </p:nvSpPr>
          <p:spPr bwMode="auto">
            <a:xfrm>
              <a:off x="4381" y="1306"/>
              <a:ext cx="58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 name="Freeform 60"/>
            <p:cNvSpPr/>
            <p:nvPr/>
          </p:nvSpPr>
          <p:spPr bwMode="auto">
            <a:xfrm>
              <a:off x="4375" y="2553"/>
              <a:ext cx="563" cy="1"/>
            </a:xfrm>
            <a:custGeom>
              <a:avLst/>
              <a:gdLst>
                <a:gd name="T0" fmla="*/ 0 w 563"/>
                <a:gd name="T1" fmla="*/ 0 h 1"/>
                <a:gd name="T2" fmla="*/ 563 w 563"/>
                <a:gd name="T3" fmla="*/ 0 h 1"/>
                <a:gd name="T4" fmla="*/ 0 60000 65536"/>
                <a:gd name="T5" fmla="*/ 0 60000 65536"/>
              </a:gdLst>
              <a:ahLst/>
              <a:cxnLst>
                <a:cxn ang="T4">
                  <a:pos x="T0" y="T1"/>
                </a:cxn>
                <a:cxn ang="T5">
                  <a:pos x="T2" y="T3"/>
                </a:cxn>
              </a:cxnLst>
              <a:rect l="0" t="0" r="r" b="b"/>
              <a:pathLst>
                <a:path w="563" h="1">
                  <a:moveTo>
                    <a:pt x="0" y="0"/>
                  </a:moveTo>
                  <a:lnTo>
                    <a:pt x="563"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Freeform 61"/>
            <p:cNvSpPr/>
            <p:nvPr/>
          </p:nvSpPr>
          <p:spPr bwMode="auto">
            <a:xfrm>
              <a:off x="4376" y="1502"/>
              <a:ext cx="634" cy="2"/>
            </a:xfrm>
            <a:custGeom>
              <a:avLst/>
              <a:gdLst>
                <a:gd name="T0" fmla="*/ 0 w 634"/>
                <a:gd name="T1" fmla="*/ 2 h 2"/>
                <a:gd name="T2" fmla="*/ 634 w 634"/>
                <a:gd name="T3" fmla="*/ 0 h 2"/>
                <a:gd name="T4" fmla="*/ 0 60000 65536"/>
                <a:gd name="T5" fmla="*/ 0 60000 65536"/>
              </a:gdLst>
              <a:ahLst/>
              <a:cxnLst>
                <a:cxn ang="T4">
                  <a:pos x="T0" y="T1"/>
                </a:cxn>
                <a:cxn ang="T5">
                  <a:pos x="T2" y="T3"/>
                </a:cxn>
              </a:cxnLst>
              <a:rect l="0" t="0" r="r" b="b"/>
              <a:pathLst>
                <a:path w="634" h="2">
                  <a:moveTo>
                    <a:pt x="0" y="2"/>
                  </a:moveTo>
                  <a:lnTo>
                    <a:pt x="634"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Freeform 62"/>
            <p:cNvSpPr/>
            <p:nvPr/>
          </p:nvSpPr>
          <p:spPr bwMode="auto">
            <a:xfrm>
              <a:off x="4932" y="1300"/>
              <a:ext cx="72" cy="1262"/>
            </a:xfrm>
            <a:custGeom>
              <a:avLst/>
              <a:gdLst>
                <a:gd name="T0" fmla="*/ 27 w 72"/>
                <a:gd name="T1" fmla="*/ 0 h 1262"/>
                <a:gd name="T2" fmla="*/ 72 w 72"/>
                <a:gd name="T3" fmla="*/ 278 h 1262"/>
                <a:gd name="T4" fmla="*/ 24 w 72"/>
                <a:gd name="T5" fmla="*/ 458 h 1262"/>
                <a:gd name="T6" fmla="*/ 0 w 72"/>
                <a:gd name="T7" fmla="*/ 602 h 1262"/>
                <a:gd name="T8" fmla="*/ 24 w 72"/>
                <a:gd name="T9" fmla="*/ 818 h 1262"/>
                <a:gd name="T10" fmla="*/ 48 w 72"/>
                <a:gd name="T11" fmla="*/ 926 h 1262"/>
                <a:gd name="T12" fmla="*/ 48 w 72"/>
                <a:gd name="T13" fmla="*/ 1070 h 1262"/>
                <a:gd name="T14" fmla="*/ 0 w 72"/>
                <a:gd name="T15" fmla="*/ 1262 h 126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2" h="1262">
                  <a:moveTo>
                    <a:pt x="27" y="0"/>
                  </a:moveTo>
                  <a:cubicBezTo>
                    <a:pt x="34" y="46"/>
                    <a:pt x="72" y="202"/>
                    <a:pt x="72" y="278"/>
                  </a:cubicBezTo>
                  <a:cubicBezTo>
                    <a:pt x="72" y="354"/>
                    <a:pt x="36" y="404"/>
                    <a:pt x="24" y="458"/>
                  </a:cubicBezTo>
                  <a:cubicBezTo>
                    <a:pt x="12" y="512"/>
                    <a:pt x="0" y="542"/>
                    <a:pt x="0" y="602"/>
                  </a:cubicBezTo>
                  <a:cubicBezTo>
                    <a:pt x="0" y="662"/>
                    <a:pt x="16" y="764"/>
                    <a:pt x="24" y="818"/>
                  </a:cubicBezTo>
                  <a:cubicBezTo>
                    <a:pt x="32" y="872"/>
                    <a:pt x="44" y="884"/>
                    <a:pt x="48" y="926"/>
                  </a:cubicBezTo>
                  <a:cubicBezTo>
                    <a:pt x="52" y="968"/>
                    <a:pt x="56" y="1014"/>
                    <a:pt x="48" y="1070"/>
                  </a:cubicBezTo>
                  <a:cubicBezTo>
                    <a:pt x="40" y="1126"/>
                    <a:pt x="10" y="1222"/>
                    <a:pt x="0" y="1262"/>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Line 63"/>
            <p:cNvSpPr>
              <a:spLocks noChangeShapeType="1"/>
            </p:cNvSpPr>
            <p:nvPr/>
          </p:nvSpPr>
          <p:spPr bwMode="auto">
            <a:xfrm>
              <a:off x="4380" y="1302"/>
              <a:ext cx="0" cy="12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1808" name="Text Box 64"/>
          <p:cNvSpPr txBox="1">
            <a:spLocks noChangeArrowheads="1"/>
          </p:cNvSpPr>
          <p:nvPr/>
        </p:nvSpPr>
        <p:spPr bwMode="auto">
          <a:xfrm>
            <a:off x="1265238" y="3067050"/>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H</a:t>
            </a:r>
            <a:endParaRPr lang="en-US" altLang="zh-CN"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1765">
                                            <p:txEl>
                                              <p:pRg st="0" end="0"/>
                                            </p:txEl>
                                          </p:spTgt>
                                        </p:tgtEl>
                                        <p:attrNameLst>
                                          <p:attrName>style.visibility</p:attrName>
                                        </p:attrNameLst>
                                      </p:cBhvr>
                                      <p:to>
                                        <p:strVal val="visible"/>
                                      </p:to>
                                    </p:set>
                                    <p:animEffect transition="in" filter="wipe(up)">
                                      <p:cBhvr>
                                        <p:cTn id="7" dur="75"/>
                                        <p:tgtEl>
                                          <p:spTgt spid="317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31766"/>
                                        </p:tgtEl>
                                        <p:attrNameLst>
                                          <p:attrName>style.visibility</p:attrName>
                                        </p:attrNameLst>
                                      </p:cBhvr>
                                      <p:to>
                                        <p:strVal val="visible"/>
                                      </p:to>
                                    </p:set>
                                    <p:animEffect transition="in" filter="barn(outVertical)">
                                      <p:cBhvr>
                                        <p:cTn id="12" dur="500"/>
                                        <p:tgtEl>
                                          <p:spTgt spid="317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1781"/>
                                        </p:tgtEl>
                                        <p:attrNameLst>
                                          <p:attrName>style.visibility</p:attrName>
                                        </p:attrNameLst>
                                      </p:cBhvr>
                                      <p:to>
                                        <p:strVal val="visible"/>
                                      </p:to>
                                    </p:set>
                                    <p:animEffect transition="in" filter="wipe(down)">
                                      <p:cBhvr>
                                        <p:cTn id="17" dur="500"/>
                                        <p:tgtEl>
                                          <p:spTgt spid="31781"/>
                                        </p:tgtEl>
                                      </p:cBhvr>
                                    </p:animEffect>
                                  </p:childTnLst>
                                </p:cTn>
                              </p:par>
                            </p:childTnLst>
                          </p:cTn>
                        </p:par>
                        <p:par>
                          <p:cTn id="18" fill="hold">
                            <p:stCondLst>
                              <p:cond delay="500"/>
                            </p:stCondLst>
                            <p:childTnLst>
                              <p:par>
                                <p:cTn id="19" presetID="22" presetClass="entr" presetSubtype="1" fill="hold" grpId="0" nodeType="afterEffect">
                                  <p:stCondLst>
                                    <p:cond delay="0"/>
                                  </p:stCondLst>
                                  <p:iterate type="lt">
                                    <p:tmPct val="100000"/>
                                  </p:iterate>
                                  <p:childTnLst>
                                    <p:set>
                                      <p:cBhvr>
                                        <p:cTn id="20" dur="1" fill="hold">
                                          <p:stCondLst>
                                            <p:cond delay="0"/>
                                          </p:stCondLst>
                                        </p:cTn>
                                        <p:tgtEl>
                                          <p:spTgt spid="31767">
                                            <p:txEl>
                                              <p:pRg st="0" end="0"/>
                                            </p:txEl>
                                          </p:spTgt>
                                        </p:tgtEl>
                                        <p:attrNameLst>
                                          <p:attrName>style.visibility</p:attrName>
                                        </p:attrNameLst>
                                      </p:cBhvr>
                                      <p:to>
                                        <p:strVal val="visible"/>
                                      </p:to>
                                    </p:set>
                                    <p:animEffect transition="in" filter="wipe(up)">
                                      <p:cBhvr>
                                        <p:cTn id="21" dur="75"/>
                                        <p:tgtEl>
                                          <p:spTgt spid="3176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31808"/>
                                        </p:tgtEl>
                                        <p:attrNameLst>
                                          <p:attrName>style.visibility</p:attrName>
                                        </p:attrNameLst>
                                      </p:cBhvr>
                                      <p:to>
                                        <p:strVal val="visible"/>
                                      </p:to>
                                    </p:set>
                                    <p:anim calcmode="lin" valueType="num">
                                      <p:cBhvr additive="base">
                                        <p:cTn id="26" dur="500" fill="hold"/>
                                        <p:tgtEl>
                                          <p:spTgt spid="31808"/>
                                        </p:tgtEl>
                                        <p:attrNameLst>
                                          <p:attrName>ppt_x</p:attrName>
                                        </p:attrNameLst>
                                      </p:cBhvr>
                                      <p:tavLst>
                                        <p:tav tm="0">
                                          <p:val>
                                            <p:strVal val="0-#ppt_w/2"/>
                                          </p:val>
                                        </p:tav>
                                        <p:tav tm="100000">
                                          <p:val>
                                            <p:strVal val="#ppt_x"/>
                                          </p:val>
                                        </p:tav>
                                      </p:tavLst>
                                    </p:anim>
                                    <p:anim calcmode="lin" valueType="num">
                                      <p:cBhvr additive="base">
                                        <p:cTn id="27" dur="500" fill="hold"/>
                                        <p:tgtEl>
                                          <p:spTgt spid="31808"/>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31771">
                                            <p:txEl>
                                              <p:pRg st="0" end="0"/>
                                            </p:txEl>
                                          </p:spTgt>
                                        </p:tgtEl>
                                        <p:attrNameLst>
                                          <p:attrName>style.visibility</p:attrName>
                                        </p:attrNameLst>
                                      </p:cBhvr>
                                      <p:to>
                                        <p:strVal val="visible"/>
                                      </p:to>
                                    </p:set>
                                    <p:animEffect transition="in" filter="wipe(up)">
                                      <p:cBhvr>
                                        <p:cTn id="32" dur="75"/>
                                        <p:tgtEl>
                                          <p:spTgt spid="3177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1774"/>
                                        </p:tgtEl>
                                        <p:attrNameLst>
                                          <p:attrName>style.visibility</p:attrName>
                                        </p:attrNameLst>
                                      </p:cBhvr>
                                      <p:to>
                                        <p:strVal val="visible"/>
                                      </p:to>
                                    </p:set>
                                    <p:animEffect transition="in" filter="wipe(left)">
                                      <p:cBhvr>
                                        <p:cTn id="37" dur="500"/>
                                        <p:tgtEl>
                                          <p:spTgt spid="3177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1746"/>
                                        </p:tgtEl>
                                        <p:attrNameLst>
                                          <p:attrName>style.visibility</p:attrName>
                                        </p:attrNameLst>
                                      </p:cBhvr>
                                      <p:to>
                                        <p:strVal val="visible"/>
                                      </p:to>
                                    </p:set>
                                    <p:animEffect transition="in" filter="wipe(left)">
                                      <p:cBhvr>
                                        <p:cTn id="42" dur="500"/>
                                        <p:tgtEl>
                                          <p:spTgt spid="3174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1813"/>
                                        </p:tgtEl>
                                        <p:attrNameLst>
                                          <p:attrName>style.visibility</p:attrName>
                                        </p:attrNameLst>
                                      </p:cBhvr>
                                      <p:to>
                                        <p:strVal val="visible"/>
                                      </p:to>
                                    </p:set>
                                    <p:animEffect transition="in" filter="blinds(horizontal)">
                                      <p:cBhvr>
                                        <p:cTn id="47" dur="500"/>
                                        <p:tgtEl>
                                          <p:spTgt spid="31813"/>
                                        </p:tgtEl>
                                      </p:cBhvr>
                                    </p:animEffect>
                                  </p:childTnLst>
                                </p:cTn>
                              </p:par>
                            </p:childTnLst>
                          </p:cTn>
                        </p:par>
                        <p:par>
                          <p:cTn id="48" fill="hold">
                            <p:stCondLst>
                              <p:cond delay="500"/>
                            </p:stCondLst>
                            <p:childTnLst>
                              <p:par>
                                <p:cTn id="49" presetID="4" presetClass="entr" presetSubtype="32" fill="hold" nodeType="afterEffect">
                                  <p:stCondLst>
                                    <p:cond delay="0"/>
                                  </p:stCondLst>
                                  <p:childTnLst>
                                    <p:set>
                                      <p:cBhvr>
                                        <p:cTn id="50" dur="1" fill="hold">
                                          <p:stCondLst>
                                            <p:cond delay="0"/>
                                          </p:stCondLst>
                                        </p:cTn>
                                        <p:tgtEl>
                                          <p:spTgt spid="31772"/>
                                        </p:tgtEl>
                                        <p:attrNameLst>
                                          <p:attrName>style.visibility</p:attrName>
                                        </p:attrNameLst>
                                      </p:cBhvr>
                                      <p:to>
                                        <p:strVal val="visible"/>
                                      </p:to>
                                    </p:set>
                                    <p:animEffect transition="in" filter="box(out)">
                                      <p:cBhvr>
                                        <p:cTn id="51" dur="500"/>
                                        <p:tgtEl>
                                          <p:spTgt spid="3177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iterate type="lt">
                                    <p:tmPct val="100000"/>
                                  </p:iterate>
                                  <p:childTnLst>
                                    <p:set>
                                      <p:cBhvr>
                                        <p:cTn id="55" dur="1" fill="hold">
                                          <p:stCondLst>
                                            <p:cond delay="0"/>
                                          </p:stCondLst>
                                        </p:cTn>
                                        <p:tgtEl>
                                          <p:spTgt spid="31768">
                                            <p:txEl>
                                              <p:pRg st="0" end="0"/>
                                            </p:txEl>
                                          </p:spTgt>
                                        </p:tgtEl>
                                        <p:attrNameLst>
                                          <p:attrName>style.visibility</p:attrName>
                                        </p:attrNameLst>
                                      </p:cBhvr>
                                      <p:to>
                                        <p:strVal val="visible"/>
                                      </p:to>
                                    </p:set>
                                    <p:animEffect transition="in" filter="wipe(up)">
                                      <p:cBhvr>
                                        <p:cTn id="56" dur="75"/>
                                        <p:tgtEl>
                                          <p:spTgt spid="31768">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1811"/>
                                        </p:tgtEl>
                                        <p:attrNameLst>
                                          <p:attrName>style.visibility</p:attrName>
                                        </p:attrNameLst>
                                      </p:cBhvr>
                                      <p:to>
                                        <p:strVal val="visible"/>
                                      </p:to>
                                    </p:set>
                                    <p:animEffect transition="in" filter="blinds(horizontal)">
                                      <p:cBhvr>
                                        <p:cTn id="61" dur="500"/>
                                        <p:tgtEl>
                                          <p:spTgt spid="31811"/>
                                        </p:tgtEl>
                                      </p:cBhvr>
                                    </p:animEffect>
                                  </p:childTnLst>
                                </p:cTn>
                              </p:par>
                            </p:childTnLst>
                          </p:cTn>
                        </p:par>
                        <p:par>
                          <p:cTn id="62" fill="hold">
                            <p:stCondLst>
                              <p:cond delay="500"/>
                            </p:stCondLst>
                            <p:childTnLst>
                              <p:par>
                                <p:cTn id="63" presetID="4" presetClass="entr" presetSubtype="32" fill="hold" nodeType="afterEffect">
                                  <p:stCondLst>
                                    <p:cond delay="0"/>
                                  </p:stCondLst>
                                  <p:childTnLst>
                                    <p:set>
                                      <p:cBhvr>
                                        <p:cTn id="64" dur="1" fill="hold">
                                          <p:stCondLst>
                                            <p:cond delay="0"/>
                                          </p:stCondLst>
                                        </p:cTn>
                                        <p:tgtEl>
                                          <p:spTgt spid="31800"/>
                                        </p:tgtEl>
                                        <p:attrNameLst>
                                          <p:attrName>style.visibility</p:attrName>
                                        </p:attrNameLst>
                                      </p:cBhvr>
                                      <p:to>
                                        <p:strVal val="visible"/>
                                      </p:to>
                                    </p:set>
                                    <p:animEffect transition="in" filter="box(out)">
                                      <p:cBhvr>
                                        <p:cTn id="65" dur="500"/>
                                        <p:tgtEl>
                                          <p:spTgt spid="3180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grpId="0" nodeType="clickEffect">
                                  <p:stCondLst>
                                    <p:cond delay="0"/>
                                  </p:stCondLst>
                                  <p:iterate type="lt">
                                    <p:tmPct val="100000"/>
                                  </p:iterate>
                                  <p:childTnLst>
                                    <p:set>
                                      <p:cBhvr>
                                        <p:cTn id="69" dur="1" fill="hold">
                                          <p:stCondLst>
                                            <p:cond delay="0"/>
                                          </p:stCondLst>
                                        </p:cTn>
                                        <p:tgtEl>
                                          <p:spTgt spid="31769">
                                            <p:txEl>
                                              <p:pRg st="0" end="0"/>
                                            </p:txEl>
                                          </p:spTgt>
                                        </p:tgtEl>
                                        <p:attrNameLst>
                                          <p:attrName>style.visibility</p:attrName>
                                        </p:attrNameLst>
                                      </p:cBhvr>
                                      <p:to>
                                        <p:strVal val="visible"/>
                                      </p:to>
                                    </p:set>
                                    <p:animEffect transition="in" filter="wipe(up)">
                                      <p:cBhvr>
                                        <p:cTn id="70" dur="75"/>
                                        <p:tgtEl>
                                          <p:spTgt spid="31769">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5" fill="hold" nodeType="clickEffect">
                                  <p:stCondLst>
                                    <p:cond delay="0"/>
                                  </p:stCondLst>
                                  <p:childTnLst>
                                    <p:set>
                                      <p:cBhvr>
                                        <p:cTn id="74" dur="1" fill="hold">
                                          <p:stCondLst>
                                            <p:cond delay="0"/>
                                          </p:stCondLst>
                                        </p:cTn>
                                        <p:tgtEl>
                                          <p:spTgt spid="31812"/>
                                        </p:tgtEl>
                                        <p:attrNameLst>
                                          <p:attrName>style.visibility</p:attrName>
                                        </p:attrNameLst>
                                      </p:cBhvr>
                                      <p:to>
                                        <p:strVal val="visible"/>
                                      </p:to>
                                    </p:set>
                                    <p:animEffect transition="in" filter="blinds(vertical)">
                                      <p:cBhvr>
                                        <p:cTn id="75" dur="500"/>
                                        <p:tgtEl>
                                          <p:spTgt spid="31812"/>
                                        </p:tgtEl>
                                      </p:cBhvr>
                                    </p:animEffect>
                                  </p:childTnLst>
                                </p:cTn>
                              </p:par>
                            </p:childTnLst>
                          </p:cTn>
                        </p:par>
                        <p:par>
                          <p:cTn id="76" fill="hold">
                            <p:stCondLst>
                              <p:cond delay="500"/>
                            </p:stCondLst>
                            <p:childTnLst>
                              <p:par>
                                <p:cTn id="77" presetID="4" presetClass="entr" presetSubtype="32" fill="hold" nodeType="afterEffect">
                                  <p:stCondLst>
                                    <p:cond delay="0"/>
                                  </p:stCondLst>
                                  <p:childTnLst>
                                    <p:set>
                                      <p:cBhvr>
                                        <p:cTn id="78" dur="1" fill="hold">
                                          <p:stCondLst>
                                            <p:cond delay="0"/>
                                          </p:stCondLst>
                                        </p:cTn>
                                        <p:tgtEl>
                                          <p:spTgt spid="31773"/>
                                        </p:tgtEl>
                                        <p:attrNameLst>
                                          <p:attrName>style.visibility</p:attrName>
                                        </p:attrNameLst>
                                      </p:cBhvr>
                                      <p:to>
                                        <p:strVal val="visible"/>
                                      </p:to>
                                    </p:set>
                                    <p:animEffect transition="in" filter="box(out)">
                                      <p:cBhvr>
                                        <p:cTn id="79" dur="500"/>
                                        <p:tgtEl>
                                          <p:spTgt spid="31773"/>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iterate type="lt">
                                    <p:tmPct val="100000"/>
                                  </p:iterate>
                                  <p:childTnLst>
                                    <p:set>
                                      <p:cBhvr>
                                        <p:cTn id="83" dur="1" fill="hold">
                                          <p:stCondLst>
                                            <p:cond delay="0"/>
                                          </p:stCondLst>
                                        </p:cTn>
                                        <p:tgtEl>
                                          <p:spTgt spid="31770">
                                            <p:txEl>
                                              <p:pRg st="0" end="0"/>
                                            </p:txEl>
                                          </p:spTgt>
                                        </p:tgtEl>
                                        <p:attrNameLst>
                                          <p:attrName>style.visibility</p:attrName>
                                        </p:attrNameLst>
                                      </p:cBhvr>
                                      <p:to>
                                        <p:strVal val="visible"/>
                                      </p:to>
                                    </p:set>
                                    <p:animEffect transition="in" filter="wipe(up)">
                                      <p:cBhvr>
                                        <p:cTn id="84" dur="75"/>
                                        <p:tgtEl>
                                          <p:spTgt spid="317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5" grpId="0" autoUpdateAnimBg="0" build="p"/>
      <p:bldP spid="31766" grpId="0" autoUpdateAnimBg="0"/>
      <p:bldP spid="31767" grpId="0" advAuto="0" autoUpdateAnimBg="0" build="p"/>
      <p:bldP spid="31768" grpId="0" autoUpdateAnimBg="0" build="p"/>
      <p:bldP spid="31769" grpId="0" autoUpdateAnimBg="0" build="p"/>
      <p:bldP spid="31770" grpId="0" autoUpdateAnimBg="0" build="p"/>
      <p:bldP spid="31771" grpId="0" autoUpdateAnimBg="0" build="p"/>
      <p:bldP spid="3180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p:nvPr/>
        </p:nvGrpSpPr>
        <p:grpSpPr bwMode="auto">
          <a:xfrm>
            <a:off x="2459038" y="2265363"/>
            <a:ext cx="1154112" cy="1773237"/>
            <a:chOff x="1549" y="1315"/>
            <a:chExt cx="727" cy="1117"/>
          </a:xfrm>
        </p:grpSpPr>
        <p:sp>
          <p:nvSpPr>
            <p:cNvPr id="32833" name="Freeform 3"/>
            <p:cNvSpPr/>
            <p:nvPr/>
          </p:nvSpPr>
          <p:spPr bwMode="auto">
            <a:xfrm>
              <a:off x="1556" y="1699"/>
              <a:ext cx="713" cy="167"/>
            </a:xfrm>
            <a:custGeom>
              <a:avLst/>
              <a:gdLst>
                <a:gd name="T0" fmla="*/ 0 w 713"/>
                <a:gd name="T1" fmla="*/ 0 h 95"/>
                <a:gd name="T2" fmla="*/ 713 w 713"/>
                <a:gd name="T3" fmla="*/ 0 h 95"/>
                <a:gd name="T4" fmla="*/ 713 w 713"/>
                <a:gd name="T5" fmla="*/ 167 h 95"/>
                <a:gd name="T6" fmla="*/ 5 w 713"/>
                <a:gd name="T7" fmla="*/ 163 h 95"/>
                <a:gd name="T8" fmla="*/ 0 w 713"/>
                <a:gd name="T9" fmla="*/ 0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13" h="95">
                  <a:moveTo>
                    <a:pt x="0" y="0"/>
                  </a:moveTo>
                  <a:lnTo>
                    <a:pt x="713" y="0"/>
                  </a:lnTo>
                  <a:lnTo>
                    <a:pt x="713" y="95"/>
                  </a:lnTo>
                  <a:lnTo>
                    <a:pt x="5" y="93"/>
                  </a:lnTo>
                  <a:lnTo>
                    <a:pt x="0" y="0"/>
                  </a:lnTo>
                  <a:close/>
                </a:path>
              </a:pathLst>
            </a:custGeom>
            <a:solidFill>
              <a:srgbClr val="FF66FF"/>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4" name="Line 4"/>
            <p:cNvSpPr>
              <a:spLocks noChangeShapeType="1"/>
            </p:cNvSpPr>
            <p:nvPr/>
          </p:nvSpPr>
          <p:spPr bwMode="auto">
            <a:xfrm>
              <a:off x="1559" y="1339"/>
              <a:ext cx="0" cy="108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5" name="Line 5"/>
            <p:cNvSpPr>
              <a:spLocks noChangeShapeType="1"/>
            </p:cNvSpPr>
            <p:nvPr/>
          </p:nvSpPr>
          <p:spPr bwMode="auto">
            <a:xfrm>
              <a:off x="2268" y="1315"/>
              <a:ext cx="0" cy="111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6" name="Line 6"/>
            <p:cNvSpPr>
              <a:spLocks noChangeShapeType="1"/>
            </p:cNvSpPr>
            <p:nvPr/>
          </p:nvSpPr>
          <p:spPr bwMode="auto">
            <a:xfrm>
              <a:off x="1559" y="1867"/>
              <a:ext cx="70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7" name="Line 7"/>
            <p:cNvSpPr>
              <a:spLocks noChangeShapeType="1"/>
            </p:cNvSpPr>
            <p:nvPr/>
          </p:nvSpPr>
          <p:spPr bwMode="auto">
            <a:xfrm>
              <a:off x="1558" y="2274"/>
              <a:ext cx="71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8" name="Line 8"/>
            <p:cNvSpPr>
              <a:spLocks noChangeShapeType="1"/>
            </p:cNvSpPr>
            <p:nvPr/>
          </p:nvSpPr>
          <p:spPr bwMode="auto">
            <a:xfrm>
              <a:off x="1558" y="1693"/>
              <a:ext cx="71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9" name="Line 9"/>
            <p:cNvSpPr>
              <a:spLocks noChangeShapeType="1"/>
            </p:cNvSpPr>
            <p:nvPr/>
          </p:nvSpPr>
          <p:spPr bwMode="auto">
            <a:xfrm flipV="1">
              <a:off x="1731" y="1369"/>
              <a:ext cx="318" cy="31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0" name="Line 10"/>
            <p:cNvSpPr>
              <a:spLocks noChangeShapeType="1"/>
            </p:cNvSpPr>
            <p:nvPr/>
          </p:nvSpPr>
          <p:spPr bwMode="auto">
            <a:xfrm flipV="1">
              <a:off x="1563" y="1407"/>
              <a:ext cx="279" cy="27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1" name="Freeform 11"/>
            <p:cNvSpPr/>
            <p:nvPr/>
          </p:nvSpPr>
          <p:spPr bwMode="auto">
            <a:xfrm>
              <a:off x="1554" y="1368"/>
              <a:ext cx="138" cy="150"/>
            </a:xfrm>
            <a:custGeom>
              <a:avLst/>
              <a:gdLst>
                <a:gd name="T0" fmla="*/ 0 w 138"/>
                <a:gd name="T1" fmla="*/ 150 h 150"/>
                <a:gd name="T2" fmla="*/ 138 w 138"/>
                <a:gd name="T3" fmla="*/ 0 h 150"/>
                <a:gd name="T4" fmla="*/ 0 60000 65536"/>
                <a:gd name="T5" fmla="*/ 0 60000 65536"/>
              </a:gdLst>
              <a:ahLst/>
              <a:cxnLst>
                <a:cxn ang="T4">
                  <a:pos x="T0" y="T1"/>
                </a:cxn>
                <a:cxn ang="T5">
                  <a:pos x="T2" y="T3"/>
                </a:cxn>
              </a:cxnLst>
              <a:rect l="0" t="0" r="r" b="b"/>
              <a:pathLst>
                <a:path w="138" h="150">
                  <a:moveTo>
                    <a:pt x="0" y="150"/>
                  </a:moveTo>
                  <a:lnTo>
                    <a:pt x="138" y="0"/>
                  </a:lnTo>
                </a:path>
              </a:pathLst>
            </a:custGeom>
            <a:noFill/>
            <a:ln w="19050">
              <a:solidFill>
                <a:schemeClr val="tx1"/>
              </a:solidFill>
              <a:roun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2" name="Freeform 12"/>
            <p:cNvSpPr/>
            <p:nvPr/>
          </p:nvSpPr>
          <p:spPr bwMode="auto">
            <a:xfrm>
              <a:off x="1911" y="1352"/>
              <a:ext cx="334" cy="335"/>
            </a:xfrm>
            <a:custGeom>
              <a:avLst/>
              <a:gdLst>
                <a:gd name="T0" fmla="*/ 0 w 334"/>
                <a:gd name="T1" fmla="*/ 335 h 335"/>
                <a:gd name="T2" fmla="*/ 334 w 334"/>
                <a:gd name="T3" fmla="*/ 0 h 335"/>
                <a:gd name="T4" fmla="*/ 0 60000 65536"/>
                <a:gd name="T5" fmla="*/ 0 60000 65536"/>
              </a:gdLst>
              <a:ahLst/>
              <a:cxnLst>
                <a:cxn ang="T4">
                  <a:pos x="T0" y="T1"/>
                </a:cxn>
                <a:cxn ang="T5">
                  <a:pos x="T2" y="T3"/>
                </a:cxn>
              </a:cxnLst>
              <a:rect l="0" t="0" r="r" b="b"/>
              <a:pathLst>
                <a:path w="334" h="335">
                  <a:moveTo>
                    <a:pt x="0" y="335"/>
                  </a:moveTo>
                  <a:lnTo>
                    <a:pt x="334"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3" name="Freeform 13"/>
            <p:cNvSpPr/>
            <p:nvPr/>
          </p:nvSpPr>
          <p:spPr bwMode="auto">
            <a:xfrm>
              <a:off x="2083" y="1492"/>
              <a:ext cx="193" cy="197"/>
            </a:xfrm>
            <a:custGeom>
              <a:avLst/>
              <a:gdLst>
                <a:gd name="T0" fmla="*/ 0 w 146"/>
                <a:gd name="T1" fmla="*/ 197 h 153"/>
                <a:gd name="T2" fmla="*/ 193 w 146"/>
                <a:gd name="T3" fmla="*/ 0 h 153"/>
                <a:gd name="T4" fmla="*/ 0 60000 65536"/>
                <a:gd name="T5" fmla="*/ 0 60000 65536"/>
              </a:gdLst>
              <a:ahLst/>
              <a:cxnLst>
                <a:cxn ang="T4">
                  <a:pos x="T0" y="T1"/>
                </a:cxn>
                <a:cxn ang="T5">
                  <a:pos x="T2" y="T3"/>
                </a:cxn>
              </a:cxnLst>
              <a:rect l="0" t="0" r="r" b="b"/>
              <a:pathLst>
                <a:path w="146" h="153">
                  <a:moveTo>
                    <a:pt x="0" y="153"/>
                  </a:moveTo>
                  <a:lnTo>
                    <a:pt x="146"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4" name="Freeform 14"/>
            <p:cNvSpPr/>
            <p:nvPr/>
          </p:nvSpPr>
          <p:spPr bwMode="auto">
            <a:xfrm>
              <a:off x="2174" y="2330"/>
              <a:ext cx="95" cy="95"/>
            </a:xfrm>
            <a:custGeom>
              <a:avLst/>
              <a:gdLst>
                <a:gd name="T0" fmla="*/ 0 w 95"/>
                <a:gd name="T1" fmla="*/ 95 h 95"/>
                <a:gd name="T2" fmla="*/ 95 w 95"/>
                <a:gd name="T3" fmla="*/ 0 h 95"/>
                <a:gd name="T4" fmla="*/ 0 60000 65536"/>
                <a:gd name="T5" fmla="*/ 0 60000 65536"/>
              </a:gdLst>
              <a:ahLst/>
              <a:cxnLst>
                <a:cxn ang="T4">
                  <a:pos x="T0" y="T1"/>
                </a:cxn>
                <a:cxn ang="T5">
                  <a:pos x="T2" y="T3"/>
                </a:cxn>
              </a:cxnLst>
              <a:rect l="0" t="0" r="r" b="b"/>
              <a:pathLst>
                <a:path w="95" h="95">
                  <a:moveTo>
                    <a:pt x="0" y="95"/>
                  </a:moveTo>
                  <a:lnTo>
                    <a:pt x="95"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5" name="Line 15"/>
            <p:cNvSpPr>
              <a:spLocks noChangeShapeType="1"/>
            </p:cNvSpPr>
            <p:nvPr/>
          </p:nvSpPr>
          <p:spPr bwMode="auto">
            <a:xfrm flipV="1">
              <a:off x="2030" y="2279"/>
              <a:ext cx="153" cy="15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6" name="Line 16"/>
            <p:cNvSpPr>
              <a:spLocks noChangeShapeType="1"/>
            </p:cNvSpPr>
            <p:nvPr/>
          </p:nvSpPr>
          <p:spPr bwMode="auto">
            <a:xfrm flipH="1">
              <a:off x="1890" y="2272"/>
              <a:ext cx="152" cy="15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7" name="Line 17"/>
            <p:cNvSpPr>
              <a:spLocks noChangeShapeType="1"/>
            </p:cNvSpPr>
            <p:nvPr/>
          </p:nvSpPr>
          <p:spPr bwMode="auto">
            <a:xfrm flipH="1">
              <a:off x="1759" y="2265"/>
              <a:ext cx="153" cy="15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48" name="Freeform 18"/>
            <p:cNvSpPr/>
            <p:nvPr/>
          </p:nvSpPr>
          <p:spPr bwMode="auto">
            <a:xfrm>
              <a:off x="1614" y="2272"/>
              <a:ext cx="154" cy="153"/>
            </a:xfrm>
            <a:custGeom>
              <a:avLst/>
              <a:gdLst>
                <a:gd name="T0" fmla="*/ 154 w 154"/>
                <a:gd name="T1" fmla="*/ 0 h 153"/>
                <a:gd name="T2" fmla="*/ 0 w 154"/>
                <a:gd name="T3" fmla="*/ 153 h 153"/>
                <a:gd name="T4" fmla="*/ 0 60000 65536"/>
                <a:gd name="T5" fmla="*/ 0 60000 65536"/>
              </a:gdLst>
              <a:ahLst/>
              <a:cxnLst>
                <a:cxn ang="T4">
                  <a:pos x="T0" y="T1"/>
                </a:cxn>
                <a:cxn ang="T5">
                  <a:pos x="T2" y="T3"/>
                </a:cxn>
              </a:cxnLst>
              <a:rect l="0" t="0" r="r" b="b"/>
              <a:pathLst>
                <a:path w="154" h="153">
                  <a:moveTo>
                    <a:pt x="154" y="0"/>
                  </a:moveTo>
                  <a:lnTo>
                    <a:pt x="0" y="153"/>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 name="Line 19"/>
            <p:cNvSpPr>
              <a:spLocks noChangeShapeType="1"/>
            </p:cNvSpPr>
            <p:nvPr/>
          </p:nvSpPr>
          <p:spPr bwMode="auto">
            <a:xfrm flipH="1">
              <a:off x="1549" y="2272"/>
              <a:ext cx="80" cy="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2788" name="Group 20"/>
          <p:cNvGrpSpPr/>
          <p:nvPr/>
        </p:nvGrpSpPr>
        <p:grpSpPr bwMode="auto">
          <a:xfrm>
            <a:off x="6832600" y="1835150"/>
            <a:ext cx="1127125" cy="2222500"/>
            <a:chOff x="4304" y="1044"/>
            <a:chExt cx="710" cy="1400"/>
          </a:xfrm>
        </p:grpSpPr>
        <p:sp>
          <p:nvSpPr>
            <p:cNvPr id="32819" name="Freeform 21"/>
            <p:cNvSpPr/>
            <p:nvPr/>
          </p:nvSpPr>
          <p:spPr bwMode="auto">
            <a:xfrm>
              <a:off x="4305" y="1221"/>
              <a:ext cx="706" cy="208"/>
            </a:xfrm>
            <a:custGeom>
              <a:avLst/>
              <a:gdLst>
                <a:gd name="T0" fmla="*/ 7 w 706"/>
                <a:gd name="T1" fmla="*/ 11 h 136"/>
                <a:gd name="T2" fmla="*/ 705 w 706"/>
                <a:gd name="T3" fmla="*/ 0 h 136"/>
                <a:gd name="T4" fmla="*/ 706 w 706"/>
                <a:gd name="T5" fmla="*/ 208 h 136"/>
                <a:gd name="T6" fmla="*/ 0 w 706"/>
                <a:gd name="T7" fmla="*/ 200 h 136"/>
                <a:gd name="T8" fmla="*/ 7 w 706"/>
                <a:gd name="T9" fmla="*/ 11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6" h="136">
                  <a:moveTo>
                    <a:pt x="7" y="7"/>
                  </a:moveTo>
                  <a:lnTo>
                    <a:pt x="705" y="0"/>
                  </a:lnTo>
                  <a:lnTo>
                    <a:pt x="706" y="136"/>
                  </a:lnTo>
                  <a:lnTo>
                    <a:pt x="0" y="131"/>
                  </a:lnTo>
                  <a:lnTo>
                    <a:pt x="7" y="7"/>
                  </a:lnTo>
                  <a:close/>
                </a:path>
              </a:pathLst>
            </a:custGeom>
            <a:solidFill>
              <a:srgbClr val="FF66FF"/>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 name="Line 22"/>
            <p:cNvSpPr>
              <a:spLocks noChangeShapeType="1"/>
            </p:cNvSpPr>
            <p:nvPr/>
          </p:nvSpPr>
          <p:spPr bwMode="auto">
            <a:xfrm>
              <a:off x="4305" y="1099"/>
              <a:ext cx="0" cy="134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1" name="Line 23"/>
            <p:cNvSpPr>
              <a:spLocks noChangeShapeType="1"/>
            </p:cNvSpPr>
            <p:nvPr/>
          </p:nvSpPr>
          <p:spPr bwMode="auto">
            <a:xfrm>
              <a:off x="5014" y="1087"/>
              <a:ext cx="0" cy="135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2" name="Line 24"/>
            <p:cNvSpPr>
              <a:spLocks noChangeShapeType="1"/>
            </p:cNvSpPr>
            <p:nvPr/>
          </p:nvSpPr>
          <p:spPr bwMode="auto">
            <a:xfrm>
              <a:off x="4305" y="1423"/>
              <a:ext cx="70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3" name="Line 25"/>
            <p:cNvSpPr>
              <a:spLocks noChangeShapeType="1"/>
            </p:cNvSpPr>
            <p:nvPr/>
          </p:nvSpPr>
          <p:spPr bwMode="auto">
            <a:xfrm>
              <a:off x="4304" y="2288"/>
              <a:ext cx="71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 name="Line 26"/>
            <p:cNvSpPr>
              <a:spLocks noChangeShapeType="1"/>
            </p:cNvSpPr>
            <p:nvPr/>
          </p:nvSpPr>
          <p:spPr bwMode="auto">
            <a:xfrm>
              <a:off x="4304" y="1236"/>
              <a:ext cx="71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5" name="Line 27"/>
            <p:cNvSpPr>
              <a:spLocks noChangeShapeType="1"/>
            </p:cNvSpPr>
            <p:nvPr/>
          </p:nvSpPr>
          <p:spPr bwMode="auto">
            <a:xfrm flipV="1">
              <a:off x="4327" y="1059"/>
              <a:ext cx="174" cy="17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6" name="Line 28"/>
            <p:cNvSpPr>
              <a:spLocks noChangeShapeType="1"/>
            </p:cNvSpPr>
            <p:nvPr/>
          </p:nvSpPr>
          <p:spPr bwMode="auto">
            <a:xfrm flipV="1">
              <a:off x="4509" y="1058"/>
              <a:ext cx="175" cy="1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7" name="Line 29"/>
            <p:cNvSpPr>
              <a:spLocks noChangeShapeType="1"/>
            </p:cNvSpPr>
            <p:nvPr/>
          </p:nvSpPr>
          <p:spPr bwMode="auto">
            <a:xfrm flipV="1">
              <a:off x="4698" y="1044"/>
              <a:ext cx="189" cy="18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8" name="Line 30"/>
            <p:cNvSpPr>
              <a:spLocks noChangeShapeType="1"/>
            </p:cNvSpPr>
            <p:nvPr/>
          </p:nvSpPr>
          <p:spPr bwMode="auto">
            <a:xfrm flipV="1">
              <a:off x="4887" y="1116"/>
              <a:ext cx="117" cy="11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29" name="Line 31"/>
            <p:cNvSpPr>
              <a:spLocks noChangeShapeType="1"/>
            </p:cNvSpPr>
            <p:nvPr/>
          </p:nvSpPr>
          <p:spPr bwMode="auto">
            <a:xfrm flipV="1">
              <a:off x="4312" y="2291"/>
              <a:ext cx="131" cy="13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0" name="Line 32"/>
            <p:cNvSpPr>
              <a:spLocks noChangeShapeType="1"/>
            </p:cNvSpPr>
            <p:nvPr/>
          </p:nvSpPr>
          <p:spPr bwMode="auto">
            <a:xfrm flipV="1">
              <a:off x="4480" y="2292"/>
              <a:ext cx="152" cy="15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31" name="Line 33"/>
            <p:cNvSpPr>
              <a:spLocks noChangeShapeType="1"/>
            </p:cNvSpPr>
            <p:nvPr/>
          </p:nvSpPr>
          <p:spPr bwMode="auto">
            <a:xfrm flipV="1">
              <a:off x="4676" y="2299"/>
              <a:ext cx="145" cy="14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 name="Line 34"/>
            <p:cNvSpPr>
              <a:spLocks noChangeShapeType="1"/>
            </p:cNvSpPr>
            <p:nvPr/>
          </p:nvSpPr>
          <p:spPr bwMode="auto">
            <a:xfrm flipV="1">
              <a:off x="4865" y="2306"/>
              <a:ext cx="138" cy="1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2772" name="Text Box 35"/>
          <p:cNvSpPr txBox="1">
            <a:spLocks noChangeArrowheads="1"/>
          </p:cNvSpPr>
          <p:nvPr/>
        </p:nvSpPr>
        <p:spPr bwMode="auto">
          <a:xfrm>
            <a:off x="322263" y="0"/>
            <a:ext cx="283368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② </a:t>
            </a:r>
            <a:r>
              <a:rPr lang="zh-CN" altLang="en-US" sz="3200" b="1">
                <a:latin typeface="宋体" panose="02010600030101010101" pitchFamily="2" charset="-122"/>
              </a:rPr>
              <a:t>基轴制配合</a:t>
            </a:r>
            <a:endParaRPr lang="zh-CN" altLang="en-US" sz="3200" b="1">
              <a:latin typeface="宋体" panose="02010600030101010101" pitchFamily="2" charset="-122"/>
            </a:endParaRPr>
          </a:p>
        </p:txBody>
      </p:sp>
      <p:sp>
        <p:nvSpPr>
          <p:cNvPr id="32804" name="Text Box 36"/>
          <p:cNvSpPr txBox="1">
            <a:spLocks noChangeArrowheads="1"/>
          </p:cNvSpPr>
          <p:nvPr/>
        </p:nvSpPr>
        <p:spPr bwMode="auto">
          <a:xfrm>
            <a:off x="666750" y="647700"/>
            <a:ext cx="81819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6600"/>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    </a:t>
            </a:r>
            <a:r>
              <a:rPr lang="zh-CN" altLang="en-US" sz="3200" b="1">
                <a:latin typeface="宋体" panose="02010600030101010101" pitchFamily="2" charset="-122"/>
              </a:rPr>
              <a:t>基本偏差为</a:t>
            </a:r>
            <a:r>
              <a:rPr lang="zh-CN" altLang="en-US" sz="3200" b="1">
                <a:solidFill>
                  <a:srgbClr val="FF6600"/>
                </a:solidFill>
                <a:latin typeface="宋体" panose="02010600030101010101" pitchFamily="2" charset="-122"/>
              </a:rPr>
              <a:t>一定的</a:t>
            </a:r>
            <a:r>
              <a:rPr lang="zh-CN" altLang="en-US" sz="3200" b="1">
                <a:solidFill>
                  <a:srgbClr val="FF3300"/>
                </a:solidFill>
                <a:latin typeface="宋体" panose="02010600030101010101" pitchFamily="2" charset="-122"/>
              </a:rPr>
              <a:t>轴的公差带</a:t>
            </a:r>
            <a:r>
              <a:rPr lang="zh-CN" altLang="en-US" sz="3200" b="1">
                <a:latin typeface="宋体" panose="02010600030101010101" pitchFamily="2" charset="-122"/>
              </a:rPr>
              <a:t>与</a:t>
            </a:r>
            <a:r>
              <a:rPr lang="zh-CN" altLang="en-US" sz="3200" b="1">
                <a:solidFill>
                  <a:srgbClr val="FF6600"/>
                </a:solidFill>
                <a:latin typeface="宋体" panose="02010600030101010101" pitchFamily="2" charset="-122"/>
              </a:rPr>
              <a:t>不同</a:t>
            </a:r>
            <a:r>
              <a:rPr lang="zh-CN" altLang="en-US" sz="3200" b="1">
                <a:latin typeface="宋体" panose="02010600030101010101" pitchFamily="2" charset="-122"/>
              </a:rPr>
              <a:t>基本偏差的</a:t>
            </a:r>
            <a:r>
              <a:rPr lang="zh-CN" altLang="en-US" sz="3200" b="1">
                <a:solidFill>
                  <a:srgbClr val="FF3300"/>
                </a:solidFill>
                <a:latin typeface="宋体" panose="02010600030101010101" pitchFamily="2" charset="-122"/>
              </a:rPr>
              <a:t>孔的公差带形成</a:t>
            </a:r>
            <a:r>
              <a:rPr lang="zh-CN" altLang="en-US" sz="3200" b="1">
                <a:latin typeface="宋体" panose="02010600030101010101" pitchFamily="2" charset="-122"/>
              </a:rPr>
              <a:t>各种配合的制度。</a:t>
            </a:r>
            <a:endParaRPr lang="zh-CN" altLang="en-US" sz="3200" b="1">
              <a:latin typeface="宋体" panose="02010600030101010101" pitchFamily="2" charset="-122"/>
            </a:endParaRPr>
          </a:p>
        </p:txBody>
      </p:sp>
      <p:sp>
        <p:nvSpPr>
          <p:cNvPr id="32805" name="Text Box 37"/>
          <p:cNvSpPr txBox="1">
            <a:spLocks noChangeArrowheads="1"/>
          </p:cNvSpPr>
          <p:nvPr/>
        </p:nvSpPr>
        <p:spPr bwMode="auto">
          <a:xfrm>
            <a:off x="633413" y="3730625"/>
            <a:ext cx="136366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基准轴</a:t>
            </a:r>
            <a:endParaRPr lang="zh-CN" altLang="en-US" sz="2800" b="1"/>
          </a:p>
        </p:txBody>
      </p:sp>
      <p:sp>
        <p:nvSpPr>
          <p:cNvPr id="32806" name="Text Box 38"/>
          <p:cNvSpPr txBox="1">
            <a:spLocks noChangeArrowheads="1"/>
          </p:cNvSpPr>
          <p:nvPr/>
        </p:nvSpPr>
        <p:spPr bwMode="auto">
          <a:xfrm>
            <a:off x="6599238" y="3968750"/>
            <a:ext cx="1778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间隙配合</a:t>
            </a:r>
            <a:endParaRPr lang="zh-CN" altLang="en-US" sz="2800" b="1"/>
          </a:p>
        </p:txBody>
      </p:sp>
      <p:sp>
        <p:nvSpPr>
          <p:cNvPr id="32807" name="Text Box 39"/>
          <p:cNvSpPr txBox="1">
            <a:spLocks noChangeArrowheads="1"/>
          </p:cNvSpPr>
          <p:nvPr/>
        </p:nvSpPr>
        <p:spPr bwMode="auto">
          <a:xfrm>
            <a:off x="4432300" y="3968750"/>
            <a:ext cx="16970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过渡配合</a:t>
            </a:r>
            <a:endParaRPr lang="zh-CN" altLang="en-US" sz="2800" b="1"/>
          </a:p>
        </p:txBody>
      </p:sp>
      <p:sp>
        <p:nvSpPr>
          <p:cNvPr id="32808" name="Text Box 40"/>
          <p:cNvSpPr txBox="1">
            <a:spLocks noChangeArrowheads="1"/>
          </p:cNvSpPr>
          <p:nvPr/>
        </p:nvSpPr>
        <p:spPr bwMode="auto">
          <a:xfrm>
            <a:off x="2262188" y="3968750"/>
            <a:ext cx="171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过盈配合</a:t>
            </a:r>
            <a:endParaRPr lang="zh-CN" altLang="en-US" sz="2800" b="1"/>
          </a:p>
        </p:txBody>
      </p:sp>
      <p:sp>
        <p:nvSpPr>
          <p:cNvPr id="32809" name="Rectangle 41"/>
          <p:cNvSpPr>
            <a:spLocks noChangeArrowheads="1"/>
          </p:cNvSpPr>
          <p:nvPr/>
        </p:nvSpPr>
        <p:spPr bwMode="auto">
          <a:xfrm>
            <a:off x="2571750" y="5570538"/>
            <a:ext cx="1047750" cy="366712"/>
          </a:xfrm>
          <a:prstGeom prst="rect">
            <a:avLst/>
          </a:prstGeom>
          <a:solidFill>
            <a:srgbClr val="FF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810" name="Rectangle 42"/>
          <p:cNvSpPr>
            <a:spLocks noChangeArrowheads="1"/>
          </p:cNvSpPr>
          <p:nvPr/>
        </p:nvSpPr>
        <p:spPr bwMode="auto">
          <a:xfrm>
            <a:off x="6892925" y="4737100"/>
            <a:ext cx="976313" cy="342900"/>
          </a:xfrm>
          <a:prstGeom prst="rect">
            <a:avLst/>
          </a:prstGeom>
          <a:solidFill>
            <a:srgbClr val="FF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811" name="Text Box 43"/>
          <p:cNvSpPr txBox="1">
            <a:spLocks noChangeArrowheads="1"/>
          </p:cNvSpPr>
          <p:nvPr/>
        </p:nvSpPr>
        <p:spPr bwMode="auto">
          <a:xfrm>
            <a:off x="536575" y="4397375"/>
            <a:ext cx="21097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chemeClr val="tx2"/>
                </a:solidFill>
              </a:rPr>
              <a:t>公差带图：</a:t>
            </a:r>
            <a:endParaRPr lang="zh-CN" altLang="en-US" sz="2800" b="1">
              <a:solidFill>
                <a:schemeClr val="tx2"/>
              </a:solidFill>
            </a:endParaRPr>
          </a:p>
        </p:txBody>
      </p:sp>
      <p:grpSp>
        <p:nvGrpSpPr>
          <p:cNvPr id="32812" name="Group 44"/>
          <p:cNvGrpSpPr/>
          <p:nvPr/>
        </p:nvGrpSpPr>
        <p:grpSpPr bwMode="auto">
          <a:xfrm>
            <a:off x="142875" y="4784725"/>
            <a:ext cx="8524875" cy="777875"/>
            <a:chOff x="90" y="2842"/>
            <a:chExt cx="5370" cy="490"/>
          </a:xfrm>
        </p:grpSpPr>
        <p:sp>
          <p:nvSpPr>
            <p:cNvPr id="6" name="Line 45"/>
            <p:cNvSpPr>
              <a:spLocks noChangeShapeType="1"/>
            </p:cNvSpPr>
            <p:nvPr/>
          </p:nvSpPr>
          <p:spPr bwMode="auto">
            <a:xfrm>
              <a:off x="345" y="3076"/>
              <a:ext cx="4861" cy="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32813" name="Group 46"/>
            <p:cNvGrpSpPr/>
            <p:nvPr/>
          </p:nvGrpSpPr>
          <p:grpSpPr bwMode="auto">
            <a:xfrm>
              <a:off x="90" y="2842"/>
              <a:ext cx="5370" cy="490"/>
              <a:chOff x="90" y="2842"/>
              <a:chExt cx="5370" cy="490"/>
            </a:xfrm>
          </p:grpSpPr>
          <p:sp>
            <p:nvSpPr>
              <p:cNvPr id="32814" name="Rectangle 47"/>
              <p:cNvSpPr>
                <a:spLocks noChangeArrowheads="1"/>
              </p:cNvSpPr>
              <p:nvPr/>
            </p:nvSpPr>
            <p:spPr bwMode="auto">
              <a:xfrm>
                <a:off x="555" y="3075"/>
                <a:ext cx="4535" cy="205"/>
              </a:xfrm>
              <a:prstGeom prst="rect">
                <a:avLst/>
              </a:prstGeom>
              <a:solidFill>
                <a:srgbClr val="00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815" name="Text Box 48"/>
              <p:cNvSpPr txBox="1">
                <a:spLocks noChangeArrowheads="1"/>
              </p:cNvSpPr>
              <p:nvPr/>
            </p:nvSpPr>
            <p:spPr bwMode="auto">
              <a:xfrm>
                <a:off x="90" y="2917"/>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i="1">
                    <a:latin typeface="ISOCTEUR" panose="020B0609020202020204" pitchFamily="49" charset="0"/>
                  </a:rPr>
                  <a:t>０</a:t>
                </a:r>
                <a:endParaRPr lang="zh-CN" altLang="en-US" b="1"/>
              </a:p>
            </p:txBody>
          </p:sp>
          <p:sp>
            <p:nvSpPr>
              <p:cNvPr id="32816" name="Text Box 49"/>
              <p:cNvSpPr txBox="1">
                <a:spLocks noChangeArrowheads="1"/>
              </p:cNvSpPr>
              <p:nvPr/>
            </p:nvSpPr>
            <p:spPr bwMode="auto">
              <a:xfrm>
                <a:off x="5152" y="2923"/>
                <a:ext cx="3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i="1">
                    <a:latin typeface="ISOCTEUR" panose="020B0609020202020204" pitchFamily="49" charset="0"/>
                  </a:rPr>
                  <a:t>０</a:t>
                </a:r>
                <a:endParaRPr lang="zh-CN" altLang="en-US" b="1"/>
              </a:p>
            </p:txBody>
          </p:sp>
          <p:sp>
            <p:nvSpPr>
              <p:cNvPr id="32817" name="Text Box 50"/>
              <p:cNvSpPr txBox="1">
                <a:spLocks noChangeArrowheads="1"/>
              </p:cNvSpPr>
              <p:nvPr/>
            </p:nvSpPr>
            <p:spPr bwMode="auto">
              <a:xfrm>
                <a:off x="321" y="2852"/>
                <a:ext cx="231"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4400" b="1"/>
                  <a:t>-</a:t>
                </a:r>
                <a:endParaRPr lang="en-US" altLang="zh-CN" sz="4400" b="1"/>
              </a:p>
            </p:txBody>
          </p:sp>
          <p:sp>
            <p:nvSpPr>
              <p:cNvPr id="32818" name="Text Box 51"/>
              <p:cNvSpPr txBox="1">
                <a:spLocks noChangeArrowheads="1"/>
              </p:cNvSpPr>
              <p:nvPr/>
            </p:nvSpPr>
            <p:spPr bwMode="auto">
              <a:xfrm>
                <a:off x="324" y="2842"/>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a:t>
                </a:r>
                <a:endParaRPr lang="en-US" altLang="zh-CN" b="1"/>
              </a:p>
            </p:txBody>
          </p:sp>
        </p:grpSp>
      </p:grpSp>
      <p:grpSp>
        <p:nvGrpSpPr>
          <p:cNvPr id="32820" name="Group 52"/>
          <p:cNvGrpSpPr/>
          <p:nvPr/>
        </p:nvGrpSpPr>
        <p:grpSpPr bwMode="auto">
          <a:xfrm>
            <a:off x="1643063" y="2511425"/>
            <a:ext cx="6502400" cy="1287463"/>
            <a:chOff x="1035" y="1470"/>
            <a:chExt cx="4096" cy="811"/>
          </a:xfrm>
        </p:grpSpPr>
        <p:sp>
          <p:nvSpPr>
            <p:cNvPr id="7" name="Line 53"/>
            <p:cNvSpPr>
              <a:spLocks noChangeShapeType="1"/>
            </p:cNvSpPr>
            <p:nvPr/>
          </p:nvSpPr>
          <p:spPr bwMode="auto">
            <a:xfrm>
              <a:off x="1050" y="1470"/>
              <a:ext cx="406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 name="Line 54"/>
            <p:cNvSpPr>
              <a:spLocks noChangeShapeType="1"/>
            </p:cNvSpPr>
            <p:nvPr/>
          </p:nvSpPr>
          <p:spPr bwMode="auto">
            <a:xfrm>
              <a:off x="1095" y="1651"/>
              <a:ext cx="40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 name="Line 55"/>
            <p:cNvSpPr>
              <a:spLocks noChangeShapeType="1"/>
            </p:cNvSpPr>
            <p:nvPr/>
          </p:nvSpPr>
          <p:spPr bwMode="auto">
            <a:xfrm>
              <a:off x="1035" y="2281"/>
              <a:ext cx="4036"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32824" name="Rectangle 56"/>
          <p:cNvSpPr>
            <a:spLocks noChangeArrowheads="1"/>
          </p:cNvSpPr>
          <p:nvPr/>
        </p:nvSpPr>
        <p:spPr bwMode="auto">
          <a:xfrm>
            <a:off x="4757738" y="5275263"/>
            <a:ext cx="1047750" cy="385762"/>
          </a:xfrm>
          <a:prstGeom prst="rect">
            <a:avLst/>
          </a:prstGeom>
          <a:solidFill>
            <a:srgbClr val="FF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32852" name="Group 84"/>
          <p:cNvGrpSpPr/>
          <p:nvPr/>
        </p:nvGrpSpPr>
        <p:grpSpPr bwMode="auto">
          <a:xfrm>
            <a:off x="857250" y="2492375"/>
            <a:ext cx="879475" cy="1333500"/>
            <a:chOff x="540" y="1570"/>
            <a:chExt cx="554" cy="840"/>
          </a:xfrm>
        </p:grpSpPr>
        <p:sp>
          <p:nvSpPr>
            <p:cNvPr id="32803" name="Freeform 58"/>
            <p:cNvSpPr/>
            <p:nvPr/>
          </p:nvSpPr>
          <p:spPr bwMode="auto">
            <a:xfrm>
              <a:off x="540" y="1577"/>
              <a:ext cx="552" cy="187"/>
            </a:xfrm>
            <a:custGeom>
              <a:avLst/>
              <a:gdLst>
                <a:gd name="T0" fmla="*/ 5 w 552"/>
                <a:gd name="T1" fmla="*/ 0 h 187"/>
                <a:gd name="T2" fmla="*/ 533 w 552"/>
                <a:gd name="T3" fmla="*/ 0 h 187"/>
                <a:gd name="T4" fmla="*/ 552 w 552"/>
                <a:gd name="T5" fmla="*/ 187 h 187"/>
                <a:gd name="T6" fmla="*/ 0 w 552"/>
                <a:gd name="T7" fmla="*/ 187 h 187"/>
                <a:gd name="T8" fmla="*/ 5 w 552"/>
                <a:gd name="T9" fmla="*/ 0 h 1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2" h="187">
                  <a:moveTo>
                    <a:pt x="5" y="0"/>
                  </a:moveTo>
                  <a:lnTo>
                    <a:pt x="533" y="0"/>
                  </a:lnTo>
                  <a:lnTo>
                    <a:pt x="552" y="187"/>
                  </a:lnTo>
                  <a:lnTo>
                    <a:pt x="0" y="187"/>
                  </a:lnTo>
                  <a:lnTo>
                    <a:pt x="5" y="0"/>
                  </a:lnTo>
                  <a:close/>
                </a:path>
              </a:pathLst>
            </a:custGeom>
            <a:solidFill>
              <a:srgbClr val="009900"/>
            </a:solidFill>
            <a:ln>
              <a:noFill/>
            </a:ln>
            <a:effectLst/>
            <a:extLst>
              <a:ext uri="{91240B29-F687-4F45-9708-019B960494DF}">
                <a14:hiddenLine xmlns:a14="http://schemas.microsoft.com/office/drawing/2010/main" w="9525">
                  <a:solidFill>
                    <a:srgbClr val="FFFF00"/>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Line 59"/>
            <p:cNvSpPr>
              <a:spLocks noChangeShapeType="1"/>
            </p:cNvSpPr>
            <p:nvPr/>
          </p:nvSpPr>
          <p:spPr bwMode="auto">
            <a:xfrm>
              <a:off x="543" y="1579"/>
              <a:ext cx="52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 name="Freeform 60"/>
            <p:cNvSpPr/>
            <p:nvPr/>
          </p:nvSpPr>
          <p:spPr bwMode="auto">
            <a:xfrm>
              <a:off x="550" y="2398"/>
              <a:ext cx="498" cy="1"/>
            </a:xfrm>
            <a:custGeom>
              <a:avLst/>
              <a:gdLst>
                <a:gd name="T0" fmla="*/ 0 w 498"/>
                <a:gd name="T1" fmla="*/ 0 h 1"/>
                <a:gd name="T2" fmla="*/ 498 w 498"/>
                <a:gd name="T3" fmla="*/ 0 h 1"/>
                <a:gd name="T4" fmla="*/ 0 60000 65536"/>
                <a:gd name="T5" fmla="*/ 0 60000 65536"/>
              </a:gdLst>
              <a:ahLst/>
              <a:cxnLst>
                <a:cxn ang="T4">
                  <a:pos x="T0" y="T1"/>
                </a:cxn>
                <a:cxn ang="T5">
                  <a:pos x="T2" y="T3"/>
                </a:cxn>
              </a:cxnLst>
              <a:rect l="0" t="0" r="r" b="b"/>
              <a:pathLst>
                <a:path w="498" h="1">
                  <a:moveTo>
                    <a:pt x="0" y="0"/>
                  </a:moveTo>
                  <a:lnTo>
                    <a:pt x="498"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Freeform 61"/>
            <p:cNvSpPr/>
            <p:nvPr/>
          </p:nvSpPr>
          <p:spPr bwMode="auto">
            <a:xfrm>
              <a:off x="542" y="1768"/>
              <a:ext cx="548" cy="1"/>
            </a:xfrm>
            <a:custGeom>
              <a:avLst/>
              <a:gdLst>
                <a:gd name="T0" fmla="*/ 0 w 548"/>
                <a:gd name="T1" fmla="*/ 0 h 1"/>
                <a:gd name="T2" fmla="*/ 548 w 548"/>
                <a:gd name="T3" fmla="*/ 0 h 1"/>
                <a:gd name="T4" fmla="*/ 0 60000 65536"/>
                <a:gd name="T5" fmla="*/ 0 60000 65536"/>
              </a:gdLst>
              <a:ahLst/>
              <a:cxnLst>
                <a:cxn ang="T4">
                  <a:pos x="T0" y="T1"/>
                </a:cxn>
                <a:cxn ang="T5">
                  <a:pos x="T2" y="T3"/>
                </a:cxn>
              </a:cxnLst>
              <a:rect l="0" t="0" r="r" b="b"/>
              <a:pathLst>
                <a:path w="548" h="1">
                  <a:moveTo>
                    <a:pt x="0" y="0"/>
                  </a:moveTo>
                  <a:lnTo>
                    <a:pt x="548"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Freeform 62"/>
            <p:cNvSpPr/>
            <p:nvPr/>
          </p:nvSpPr>
          <p:spPr bwMode="auto">
            <a:xfrm>
              <a:off x="1037" y="1576"/>
              <a:ext cx="57" cy="826"/>
            </a:xfrm>
            <a:custGeom>
              <a:avLst/>
              <a:gdLst>
                <a:gd name="T0" fmla="*/ 27 w 57"/>
                <a:gd name="T1" fmla="*/ 0 h 826"/>
                <a:gd name="T2" fmla="*/ 43 w 57"/>
                <a:gd name="T3" fmla="*/ 96 h 826"/>
                <a:gd name="T4" fmla="*/ 55 w 57"/>
                <a:gd name="T5" fmla="*/ 192 h 826"/>
                <a:gd name="T6" fmla="*/ 49 w 57"/>
                <a:gd name="T7" fmla="*/ 258 h 826"/>
                <a:gd name="T8" fmla="*/ 7 w 57"/>
                <a:gd name="T9" fmla="*/ 420 h 826"/>
                <a:gd name="T10" fmla="*/ 7 w 57"/>
                <a:gd name="T11" fmla="*/ 564 h 826"/>
                <a:gd name="T12" fmla="*/ 31 w 57"/>
                <a:gd name="T13" fmla="*/ 720 h 826"/>
                <a:gd name="T14" fmla="*/ 7 w 57"/>
                <a:gd name="T15" fmla="*/ 826 h 82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7" h="826">
                  <a:moveTo>
                    <a:pt x="27" y="0"/>
                  </a:moveTo>
                  <a:cubicBezTo>
                    <a:pt x="30" y="16"/>
                    <a:pt x="38" y="64"/>
                    <a:pt x="43" y="96"/>
                  </a:cubicBezTo>
                  <a:cubicBezTo>
                    <a:pt x="48" y="128"/>
                    <a:pt x="54" y="165"/>
                    <a:pt x="55" y="192"/>
                  </a:cubicBezTo>
                  <a:cubicBezTo>
                    <a:pt x="56" y="219"/>
                    <a:pt x="57" y="220"/>
                    <a:pt x="49" y="258"/>
                  </a:cubicBezTo>
                  <a:cubicBezTo>
                    <a:pt x="41" y="296"/>
                    <a:pt x="14" y="369"/>
                    <a:pt x="7" y="420"/>
                  </a:cubicBezTo>
                  <a:cubicBezTo>
                    <a:pt x="0" y="471"/>
                    <a:pt x="3" y="514"/>
                    <a:pt x="7" y="564"/>
                  </a:cubicBezTo>
                  <a:cubicBezTo>
                    <a:pt x="11" y="614"/>
                    <a:pt x="31" y="676"/>
                    <a:pt x="31" y="720"/>
                  </a:cubicBezTo>
                  <a:cubicBezTo>
                    <a:pt x="31" y="764"/>
                    <a:pt x="12" y="804"/>
                    <a:pt x="7" y="826"/>
                  </a:cubicBezTo>
                </a:path>
              </a:pathLst>
            </a:custGeom>
            <a:noFill/>
            <a:ln w="19050" cap="flat" cmpd="sng">
              <a:solidFill>
                <a:schemeClr val="tx1"/>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Line 63"/>
            <p:cNvSpPr>
              <a:spLocks noChangeShapeType="1"/>
            </p:cNvSpPr>
            <p:nvPr/>
          </p:nvSpPr>
          <p:spPr bwMode="auto">
            <a:xfrm flipV="1">
              <a:off x="540" y="1570"/>
              <a:ext cx="0" cy="84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2832" name="Group 64"/>
          <p:cNvGrpSpPr/>
          <p:nvPr/>
        </p:nvGrpSpPr>
        <p:grpSpPr bwMode="auto">
          <a:xfrm>
            <a:off x="4673600" y="2181225"/>
            <a:ext cx="1127125" cy="1882775"/>
            <a:chOff x="2944" y="1274"/>
            <a:chExt cx="710" cy="1186"/>
          </a:xfrm>
        </p:grpSpPr>
        <p:sp>
          <p:nvSpPr>
            <p:cNvPr id="32787" name="Freeform 65"/>
            <p:cNvSpPr/>
            <p:nvPr/>
          </p:nvSpPr>
          <p:spPr bwMode="auto">
            <a:xfrm>
              <a:off x="2952" y="1556"/>
              <a:ext cx="699" cy="208"/>
            </a:xfrm>
            <a:custGeom>
              <a:avLst/>
              <a:gdLst>
                <a:gd name="T0" fmla="*/ 0 w 699"/>
                <a:gd name="T1" fmla="*/ 2 h 124"/>
                <a:gd name="T2" fmla="*/ 699 w 699"/>
                <a:gd name="T3" fmla="*/ 0 h 124"/>
                <a:gd name="T4" fmla="*/ 699 w 699"/>
                <a:gd name="T5" fmla="*/ 206 h 124"/>
                <a:gd name="T6" fmla="*/ 0 w 699"/>
                <a:gd name="T7" fmla="*/ 208 h 124"/>
                <a:gd name="T8" fmla="*/ 0 w 699"/>
                <a:gd name="T9" fmla="*/ 2 h 1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9" h="124">
                  <a:moveTo>
                    <a:pt x="0" y="1"/>
                  </a:moveTo>
                  <a:lnTo>
                    <a:pt x="699" y="0"/>
                  </a:lnTo>
                  <a:lnTo>
                    <a:pt x="699" y="123"/>
                  </a:lnTo>
                  <a:lnTo>
                    <a:pt x="0" y="124"/>
                  </a:lnTo>
                  <a:lnTo>
                    <a:pt x="0" y="1"/>
                  </a:lnTo>
                  <a:close/>
                </a:path>
              </a:pathLst>
            </a:custGeom>
            <a:solidFill>
              <a:srgbClr val="FF66FF"/>
            </a:solidFill>
            <a:ln>
              <a:noFill/>
            </a:ln>
            <a:effectLst/>
            <a:extLst>
              <a:ext uri="{91240B29-F687-4F45-9708-019B960494DF}">
                <a14:hiddenLine xmlns:a14="http://schemas.microsoft.com/office/drawing/2010/main" w="9525">
                  <a:solidFill>
                    <a:schemeClr val="tx1"/>
                  </a:solidFill>
                  <a:prstDash val="solid"/>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Line 66"/>
            <p:cNvSpPr>
              <a:spLocks noChangeShapeType="1"/>
            </p:cNvSpPr>
            <p:nvPr/>
          </p:nvSpPr>
          <p:spPr bwMode="auto">
            <a:xfrm>
              <a:off x="2945" y="1315"/>
              <a:ext cx="0" cy="113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89" name="Line 67"/>
            <p:cNvSpPr>
              <a:spLocks noChangeShapeType="1"/>
            </p:cNvSpPr>
            <p:nvPr/>
          </p:nvSpPr>
          <p:spPr bwMode="auto">
            <a:xfrm>
              <a:off x="2945" y="1759"/>
              <a:ext cx="70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0" name="Line 68"/>
            <p:cNvSpPr>
              <a:spLocks noChangeShapeType="1"/>
            </p:cNvSpPr>
            <p:nvPr/>
          </p:nvSpPr>
          <p:spPr bwMode="auto">
            <a:xfrm>
              <a:off x="2944" y="2296"/>
              <a:ext cx="71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1" name="Line 69"/>
            <p:cNvSpPr>
              <a:spLocks noChangeShapeType="1"/>
            </p:cNvSpPr>
            <p:nvPr/>
          </p:nvSpPr>
          <p:spPr bwMode="auto">
            <a:xfrm>
              <a:off x="2944" y="1569"/>
              <a:ext cx="71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2" name="Line 70"/>
            <p:cNvSpPr>
              <a:spLocks noChangeShapeType="1"/>
            </p:cNvSpPr>
            <p:nvPr/>
          </p:nvSpPr>
          <p:spPr bwMode="auto">
            <a:xfrm flipV="1">
              <a:off x="2952" y="2298"/>
              <a:ext cx="117" cy="11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3" name="Freeform 71"/>
            <p:cNvSpPr/>
            <p:nvPr/>
          </p:nvSpPr>
          <p:spPr bwMode="auto">
            <a:xfrm>
              <a:off x="3083" y="2291"/>
              <a:ext cx="153" cy="160"/>
            </a:xfrm>
            <a:custGeom>
              <a:avLst/>
              <a:gdLst>
                <a:gd name="T0" fmla="*/ 0 w 153"/>
                <a:gd name="T1" fmla="*/ 160 h 160"/>
                <a:gd name="T2" fmla="*/ 153 w 153"/>
                <a:gd name="T3" fmla="*/ 0 h 160"/>
                <a:gd name="T4" fmla="*/ 0 60000 65536"/>
                <a:gd name="T5" fmla="*/ 0 60000 65536"/>
              </a:gdLst>
              <a:ahLst/>
              <a:cxnLst>
                <a:cxn ang="T4">
                  <a:pos x="T0" y="T1"/>
                </a:cxn>
                <a:cxn ang="T5">
                  <a:pos x="T2" y="T3"/>
                </a:cxn>
              </a:cxnLst>
              <a:rect l="0" t="0" r="r" b="b"/>
              <a:pathLst>
                <a:path w="153" h="160">
                  <a:moveTo>
                    <a:pt x="0" y="160"/>
                  </a:moveTo>
                  <a:lnTo>
                    <a:pt x="15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4" name="Line 72"/>
            <p:cNvSpPr>
              <a:spLocks noChangeShapeType="1"/>
            </p:cNvSpPr>
            <p:nvPr/>
          </p:nvSpPr>
          <p:spPr bwMode="auto">
            <a:xfrm flipV="1">
              <a:off x="3258" y="2298"/>
              <a:ext cx="146" cy="14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5" name="Freeform 73"/>
            <p:cNvSpPr/>
            <p:nvPr/>
          </p:nvSpPr>
          <p:spPr bwMode="auto">
            <a:xfrm>
              <a:off x="3418" y="2298"/>
              <a:ext cx="145" cy="153"/>
            </a:xfrm>
            <a:custGeom>
              <a:avLst/>
              <a:gdLst>
                <a:gd name="T0" fmla="*/ 0 w 145"/>
                <a:gd name="T1" fmla="*/ 153 h 153"/>
                <a:gd name="T2" fmla="*/ 145 w 145"/>
                <a:gd name="T3" fmla="*/ 0 h 153"/>
                <a:gd name="T4" fmla="*/ 0 60000 65536"/>
                <a:gd name="T5" fmla="*/ 0 60000 65536"/>
              </a:gdLst>
              <a:ahLst/>
              <a:cxnLst>
                <a:cxn ang="T4">
                  <a:pos x="T0" y="T1"/>
                </a:cxn>
                <a:cxn ang="T5">
                  <a:pos x="T2" y="T3"/>
                </a:cxn>
              </a:cxnLst>
              <a:rect l="0" t="0" r="r" b="b"/>
              <a:pathLst>
                <a:path w="145" h="153">
                  <a:moveTo>
                    <a:pt x="0" y="153"/>
                  </a:moveTo>
                  <a:lnTo>
                    <a:pt x="145"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6" name="Freeform 74"/>
            <p:cNvSpPr/>
            <p:nvPr/>
          </p:nvSpPr>
          <p:spPr bwMode="auto">
            <a:xfrm>
              <a:off x="3578" y="2372"/>
              <a:ext cx="73" cy="79"/>
            </a:xfrm>
            <a:custGeom>
              <a:avLst/>
              <a:gdLst>
                <a:gd name="T0" fmla="*/ 0 w 73"/>
                <a:gd name="T1" fmla="*/ 79 h 79"/>
                <a:gd name="T2" fmla="*/ 73 w 73"/>
                <a:gd name="T3" fmla="*/ 0 h 79"/>
                <a:gd name="T4" fmla="*/ 0 60000 65536"/>
                <a:gd name="T5" fmla="*/ 0 60000 65536"/>
              </a:gdLst>
              <a:ahLst/>
              <a:cxnLst>
                <a:cxn ang="T4">
                  <a:pos x="T0" y="T1"/>
                </a:cxn>
                <a:cxn ang="T5">
                  <a:pos x="T2" y="T3"/>
                </a:cxn>
              </a:cxnLst>
              <a:rect l="0" t="0" r="r" b="b"/>
              <a:pathLst>
                <a:path w="73" h="79">
                  <a:moveTo>
                    <a:pt x="0" y="79"/>
                  </a:moveTo>
                  <a:lnTo>
                    <a:pt x="73"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7" name="Line 75"/>
            <p:cNvSpPr>
              <a:spLocks noChangeShapeType="1"/>
            </p:cNvSpPr>
            <p:nvPr/>
          </p:nvSpPr>
          <p:spPr bwMode="auto">
            <a:xfrm flipV="1">
              <a:off x="2984" y="1299"/>
              <a:ext cx="282" cy="27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8" name="Freeform 76"/>
            <p:cNvSpPr/>
            <p:nvPr/>
          </p:nvSpPr>
          <p:spPr bwMode="auto">
            <a:xfrm>
              <a:off x="2945" y="1274"/>
              <a:ext cx="147" cy="160"/>
            </a:xfrm>
            <a:custGeom>
              <a:avLst/>
              <a:gdLst>
                <a:gd name="T0" fmla="*/ 0 w 255"/>
                <a:gd name="T1" fmla="*/ 160 h 256"/>
                <a:gd name="T2" fmla="*/ 147 w 255"/>
                <a:gd name="T3" fmla="*/ 0 h 256"/>
                <a:gd name="T4" fmla="*/ 0 60000 65536"/>
                <a:gd name="T5" fmla="*/ 0 60000 65536"/>
              </a:gdLst>
              <a:ahLst/>
              <a:cxnLst>
                <a:cxn ang="T4">
                  <a:pos x="T0" y="T1"/>
                </a:cxn>
                <a:cxn ang="T5">
                  <a:pos x="T2" y="T3"/>
                </a:cxn>
              </a:cxnLst>
              <a:rect l="0" t="0" r="r" b="b"/>
              <a:pathLst>
                <a:path w="255" h="256">
                  <a:moveTo>
                    <a:pt x="0" y="256"/>
                  </a:moveTo>
                  <a:lnTo>
                    <a:pt x="255"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alpha val="50195"/>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799" name="Line 77"/>
            <p:cNvSpPr>
              <a:spLocks noChangeShapeType="1"/>
            </p:cNvSpPr>
            <p:nvPr/>
          </p:nvSpPr>
          <p:spPr bwMode="auto">
            <a:xfrm flipV="1">
              <a:off x="3177" y="1279"/>
              <a:ext cx="278" cy="27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00" name="Line 78"/>
            <p:cNvSpPr>
              <a:spLocks noChangeShapeType="1"/>
            </p:cNvSpPr>
            <p:nvPr/>
          </p:nvSpPr>
          <p:spPr bwMode="auto">
            <a:xfrm flipV="1">
              <a:off x="3358" y="1338"/>
              <a:ext cx="231" cy="21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01" name="Line 79"/>
            <p:cNvSpPr>
              <a:spLocks noChangeShapeType="1"/>
            </p:cNvSpPr>
            <p:nvPr/>
          </p:nvSpPr>
          <p:spPr bwMode="auto">
            <a:xfrm flipV="1">
              <a:off x="3541" y="1455"/>
              <a:ext cx="102" cy="10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802" name="Line 80"/>
            <p:cNvSpPr>
              <a:spLocks noChangeShapeType="1"/>
            </p:cNvSpPr>
            <p:nvPr/>
          </p:nvSpPr>
          <p:spPr bwMode="auto">
            <a:xfrm flipV="1">
              <a:off x="3648" y="1320"/>
              <a:ext cx="0" cy="114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849" name="Text Box 81"/>
          <p:cNvSpPr txBox="1">
            <a:spLocks noChangeArrowheads="1"/>
          </p:cNvSpPr>
          <p:nvPr/>
        </p:nvSpPr>
        <p:spPr bwMode="auto">
          <a:xfrm>
            <a:off x="1093788" y="3024188"/>
            <a:ext cx="3825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h</a:t>
            </a:r>
            <a:endParaRPr lang="en-US" altLang="zh-CN"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2804"/>
                                        </p:tgtEl>
                                        <p:attrNameLst>
                                          <p:attrName>style.visibility</p:attrName>
                                        </p:attrNameLst>
                                      </p:cBhvr>
                                      <p:to>
                                        <p:strVal val="visible"/>
                                      </p:to>
                                    </p:set>
                                    <p:anim calcmode="lin" valueType="num">
                                      <p:cBhvr>
                                        <p:cTn id="7" dur="500" fill="hold"/>
                                        <p:tgtEl>
                                          <p:spTgt spid="32804"/>
                                        </p:tgtEl>
                                        <p:attrNameLst>
                                          <p:attrName>ppt_w</p:attrName>
                                        </p:attrNameLst>
                                      </p:cBhvr>
                                      <p:tavLst>
                                        <p:tav tm="0">
                                          <p:val>
                                            <p:fltVal val="0"/>
                                          </p:val>
                                        </p:tav>
                                        <p:tav tm="100000">
                                          <p:val>
                                            <p:strVal val="#ppt_w"/>
                                          </p:val>
                                        </p:tav>
                                      </p:tavLst>
                                    </p:anim>
                                    <p:anim calcmode="lin" valueType="num">
                                      <p:cBhvr>
                                        <p:cTn id="8" dur="500" fill="hold"/>
                                        <p:tgtEl>
                                          <p:spTgt spid="3280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32852"/>
                                        </p:tgtEl>
                                        <p:attrNameLst>
                                          <p:attrName>style.visibility</p:attrName>
                                        </p:attrNameLst>
                                      </p:cBhvr>
                                      <p:to>
                                        <p:strVal val="visible"/>
                                      </p:to>
                                    </p:set>
                                    <p:animEffect transition="in" filter="blinds(vertical)">
                                      <p:cBhvr>
                                        <p:cTn id="13" dur="500"/>
                                        <p:tgtEl>
                                          <p:spTgt spid="32852"/>
                                        </p:tgtEl>
                                      </p:cBhvr>
                                    </p:animEffect>
                                  </p:childTnLst>
                                </p:cTn>
                              </p:par>
                            </p:childTnLst>
                          </p:cTn>
                        </p:par>
                        <p:par>
                          <p:cTn id="14" fill="hold">
                            <p:stCondLst>
                              <p:cond delay="500"/>
                            </p:stCondLst>
                            <p:childTnLst>
                              <p:par>
                                <p:cTn id="15" presetID="3" presetClass="entr" presetSubtype="10" fill="hold" grpId="0" nodeType="afterEffect">
                                  <p:stCondLst>
                                    <p:cond delay="0"/>
                                  </p:stCondLst>
                                  <p:iterate type="lt">
                                    <p:tmPct val="100000"/>
                                  </p:iterate>
                                  <p:childTnLst>
                                    <p:set>
                                      <p:cBhvr>
                                        <p:cTn id="16" dur="1" fill="hold">
                                          <p:stCondLst>
                                            <p:cond delay="0"/>
                                          </p:stCondLst>
                                        </p:cTn>
                                        <p:tgtEl>
                                          <p:spTgt spid="32805"/>
                                        </p:tgtEl>
                                        <p:attrNameLst>
                                          <p:attrName>style.visibility</p:attrName>
                                        </p:attrNameLst>
                                      </p:cBhvr>
                                      <p:to>
                                        <p:strVal val="visible"/>
                                      </p:to>
                                    </p:set>
                                    <p:animEffect transition="in" filter="blinds(horizontal)">
                                      <p:cBhvr>
                                        <p:cTn id="17" dur="75"/>
                                        <p:tgtEl>
                                          <p:spTgt spid="3280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32849"/>
                                        </p:tgtEl>
                                        <p:attrNameLst>
                                          <p:attrName>style.visibility</p:attrName>
                                        </p:attrNameLst>
                                      </p:cBhvr>
                                      <p:to>
                                        <p:strVal val="visible"/>
                                      </p:to>
                                    </p:set>
                                    <p:anim calcmode="lin" valueType="num">
                                      <p:cBhvr additive="base">
                                        <p:cTn id="22" dur="500" fill="hold"/>
                                        <p:tgtEl>
                                          <p:spTgt spid="32849"/>
                                        </p:tgtEl>
                                        <p:attrNameLst>
                                          <p:attrName>ppt_x</p:attrName>
                                        </p:attrNameLst>
                                      </p:cBhvr>
                                      <p:tavLst>
                                        <p:tav tm="0">
                                          <p:val>
                                            <p:strVal val="0-#ppt_w/2"/>
                                          </p:val>
                                        </p:tav>
                                        <p:tav tm="100000">
                                          <p:val>
                                            <p:strVal val="#ppt_x"/>
                                          </p:val>
                                        </p:tav>
                                      </p:tavLst>
                                    </p:anim>
                                    <p:anim calcmode="lin" valueType="num">
                                      <p:cBhvr additive="base">
                                        <p:cTn id="23" dur="500" fill="hold"/>
                                        <p:tgtEl>
                                          <p:spTgt spid="32849"/>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3" presetClass="entr" presetSubtype="10" fill="hold" grpId="0" nodeType="afterEffect">
                                  <p:stCondLst>
                                    <p:cond delay="0"/>
                                  </p:stCondLst>
                                  <p:childTnLst>
                                    <p:set>
                                      <p:cBhvr>
                                        <p:cTn id="26" dur="1" fill="hold">
                                          <p:stCondLst>
                                            <p:cond delay="0"/>
                                          </p:stCondLst>
                                        </p:cTn>
                                        <p:tgtEl>
                                          <p:spTgt spid="32811"/>
                                        </p:tgtEl>
                                        <p:attrNameLst>
                                          <p:attrName>style.visibility</p:attrName>
                                        </p:attrNameLst>
                                      </p:cBhvr>
                                      <p:to>
                                        <p:strVal val="visible"/>
                                      </p:to>
                                    </p:set>
                                    <p:animEffect transition="in" filter="blinds(horizontal)">
                                      <p:cBhvr>
                                        <p:cTn id="27" dur="500"/>
                                        <p:tgtEl>
                                          <p:spTgt spid="328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2812"/>
                                        </p:tgtEl>
                                        <p:attrNameLst>
                                          <p:attrName>style.visibility</p:attrName>
                                        </p:attrNameLst>
                                      </p:cBhvr>
                                      <p:to>
                                        <p:strVal val="visible"/>
                                      </p:to>
                                    </p:set>
                                    <p:animEffect transition="in" filter="wipe(left)">
                                      <p:cBhvr>
                                        <p:cTn id="32" dur="500"/>
                                        <p:tgtEl>
                                          <p:spTgt spid="328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2820"/>
                                        </p:tgtEl>
                                        <p:attrNameLst>
                                          <p:attrName>style.visibility</p:attrName>
                                        </p:attrNameLst>
                                      </p:cBhvr>
                                      <p:to>
                                        <p:strVal val="visible"/>
                                      </p:to>
                                    </p:set>
                                    <p:animEffect transition="in" filter="wipe(left)">
                                      <p:cBhvr>
                                        <p:cTn id="37" dur="500"/>
                                        <p:tgtEl>
                                          <p:spTgt spid="3282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32770"/>
                                        </p:tgtEl>
                                        <p:attrNameLst>
                                          <p:attrName>style.visibility</p:attrName>
                                        </p:attrNameLst>
                                      </p:cBhvr>
                                      <p:to>
                                        <p:strVal val="visible"/>
                                      </p:to>
                                    </p:set>
                                    <p:animEffect transition="in" filter="blinds(vertical)">
                                      <p:cBhvr>
                                        <p:cTn id="42" dur="500"/>
                                        <p:tgtEl>
                                          <p:spTgt spid="32770"/>
                                        </p:tgtEl>
                                      </p:cBhvr>
                                    </p:animEffect>
                                  </p:childTnLst>
                                </p:cTn>
                              </p:par>
                            </p:childTnLst>
                          </p:cTn>
                        </p:par>
                        <p:par>
                          <p:cTn id="43" fill="hold">
                            <p:stCondLst>
                              <p:cond delay="500"/>
                            </p:stCondLst>
                            <p:childTnLst>
                              <p:par>
                                <p:cTn id="44" presetID="4" presetClass="entr" presetSubtype="32" fill="hold" nodeType="afterEffect">
                                  <p:stCondLst>
                                    <p:cond delay="0"/>
                                  </p:stCondLst>
                                  <p:childTnLst>
                                    <p:set>
                                      <p:cBhvr>
                                        <p:cTn id="45" dur="1" fill="hold">
                                          <p:stCondLst>
                                            <p:cond delay="0"/>
                                          </p:stCondLst>
                                        </p:cTn>
                                        <p:tgtEl>
                                          <p:spTgt spid="32809"/>
                                        </p:tgtEl>
                                        <p:attrNameLst>
                                          <p:attrName>style.visibility</p:attrName>
                                        </p:attrNameLst>
                                      </p:cBhvr>
                                      <p:to>
                                        <p:strVal val="visible"/>
                                      </p:to>
                                    </p:set>
                                    <p:animEffect transition="in" filter="box(out)">
                                      <p:cBhvr>
                                        <p:cTn id="46" dur="500"/>
                                        <p:tgtEl>
                                          <p:spTgt spid="32809"/>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iterate type="lt">
                                    <p:tmPct val="100000"/>
                                  </p:iterate>
                                  <p:childTnLst>
                                    <p:set>
                                      <p:cBhvr>
                                        <p:cTn id="50" dur="1" fill="hold">
                                          <p:stCondLst>
                                            <p:cond delay="0"/>
                                          </p:stCondLst>
                                        </p:cTn>
                                        <p:tgtEl>
                                          <p:spTgt spid="32808"/>
                                        </p:tgtEl>
                                        <p:attrNameLst>
                                          <p:attrName>style.visibility</p:attrName>
                                        </p:attrNameLst>
                                      </p:cBhvr>
                                      <p:to>
                                        <p:strVal val="visible"/>
                                      </p:to>
                                    </p:set>
                                    <p:animEffect transition="in" filter="blinds(horizontal)">
                                      <p:cBhvr>
                                        <p:cTn id="51" dur="75"/>
                                        <p:tgtEl>
                                          <p:spTgt spid="32808"/>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32832"/>
                                        </p:tgtEl>
                                        <p:attrNameLst>
                                          <p:attrName>style.visibility</p:attrName>
                                        </p:attrNameLst>
                                      </p:cBhvr>
                                      <p:to>
                                        <p:strVal val="visible"/>
                                      </p:to>
                                    </p:set>
                                    <p:animEffect transition="in" filter="blinds(horizontal)">
                                      <p:cBhvr>
                                        <p:cTn id="56" dur="500"/>
                                        <p:tgtEl>
                                          <p:spTgt spid="32832"/>
                                        </p:tgtEl>
                                      </p:cBhvr>
                                    </p:animEffect>
                                  </p:childTnLst>
                                </p:cTn>
                              </p:par>
                            </p:childTnLst>
                          </p:cTn>
                        </p:par>
                        <p:par>
                          <p:cTn id="57" fill="hold">
                            <p:stCondLst>
                              <p:cond delay="500"/>
                            </p:stCondLst>
                            <p:childTnLst>
                              <p:par>
                                <p:cTn id="58" presetID="4" presetClass="entr" presetSubtype="32" fill="hold" nodeType="afterEffect">
                                  <p:stCondLst>
                                    <p:cond delay="0"/>
                                  </p:stCondLst>
                                  <p:childTnLst>
                                    <p:set>
                                      <p:cBhvr>
                                        <p:cTn id="59" dur="1" fill="hold">
                                          <p:stCondLst>
                                            <p:cond delay="0"/>
                                          </p:stCondLst>
                                        </p:cTn>
                                        <p:tgtEl>
                                          <p:spTgt spid="32824"/>
                                        </p:tgtEl>
                                        <p:attrNameLst>
                                          <p:attrName>style.visibility</p:attrName>
                                        </p:attrNameLst>
                                      </p:cBhvr>
                                      <p:to>
                                        <p:strVal val="visible"/>
                                      </p:to>
                                    </p:set>
                                    <p:animEffect transition="in" filter="box(out)">
                                      <p:cBhvr>
                                        <p:cTn id="60" dur="500"/>
                                        <p:tgtEl>
                                          <p:spTgt spid="32824"/>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iterate type="lt">
                                    <p:tmPct val="100000"/>
                                  </p:iterate>
                                  <p:childTnLst>
                                    <p:set>
                                      <p:cBhvr>
                                        <p:cTn id="64" dur="1" fill="hold">
                                          <p:stCondLst>
                                            <p:cond delay="0"/>
                                          </p:stCondLst>
                                        </p:cTn>
                                        <p:tgtEl>
                                          <p:spTgt spid="32807"/>
                                        </p:tgtEl>
                                        <p:attrNameLst>
                                          <p:attrName>style.visibility</p:attrName>
                                        </p:attrNameLst>
                                      </p:cBhvr>
                                      <p:to>
                                        <p:strVal val="visible"/>
                                      </p:to>
                                    </p:set>
                                    <p:animEffect transition="in" filter="blinds(horizontal)">
                                      <p:cBhvr>
                                        <p:cTn id="65" dur="75"/>
                                        <p:tgtEl>
                                          <p:spTgt spid="32807"/>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5" fill="hold" nodeType="clickEffect">
                                  <p:stCondLst>
                                    <p:cond delay="0"/>
                                  </p:stCondLst>
                                  <p:childTnLst>
                                    <p:set>
                                      <p:cBhvr>
                                        <p:cTn id="69" dur="1" fill="hold">
                                          <p:stCondLst>
                                            <p:cond delay="0"/>
                                          </p:stCondLst>
                                        </p:cTn>
                                        <p:tgtEl>
                                          <p:spTgt spid="32788"/>
                                        </p:tgtEl>
                                        <p:attrNameLst>
                                          <p:attrName>style.visibility</p:attrName>
                                        </p:attrNameLst>
                                      </p:cBhvr>
                                      <p:to>
                                        <p:strVal val="visible"/>
                                      </p:to>
                                    </p:set>
                                    <p:animEffect transition="in" filter="blinds(vertical)">
                                      <p:cBhvr>
                                        <p:cTn id="70" dur="500"/>
                                        <p:tgtEl>
                                          <p:spTgt spid="32788"/>
                                        </p:tgtEl>
                                      </p:cBhvr>
                                    </p:animEffect>
                                  </p:childTnLst>
                                </p:cTn>
                              </p:par>
                            </p:childTnLst>
                          </p:cTn>
                        </p:par>
                        <p:par>
                          <p:cTn id="71" fill="hold">
                            <p:stCondLst>
                              <p:cond delay="500"/>
                            </p:stCondLst>
                            <p:childTnLst>
                              <p:par>
                                <p:cTn id="72" presetID="4" presetClass="entr" presetSubtype="32" fill="hold" nodeType="afterEffect">
                                  <p:stCondLst>
                                    <p:cond delay="0"/>
                                  </p:stCondLst>
                                  <p:childTnLst>
                                    <p:set>
                                      <p:cBhvr>
                                        <p:cTn id="73" dur="1" fill="hold">
                                          <p:stCondLst>
                                            <p:cond delay="0"/>
                                          </p:stCondLst>
                                        </p:cTn>
                                        <p:tgtEl>
                                          <p:spTgt spid="32810"/>
                                        </p:tgtEl>
                                        <p:attrNameLst>
                                          <p:attrName>style.visibility</p:attrName>
                                        </p:attrNameLst>
                                      </p:cBhvr>
                                      <p:to>
                                        <p:strVal val="visible"/>
                                      </p:to>
                                    </p:set>
                                    <p:animEffect transition="in" filter="box(out)">
                                      <p:cBhvr>
                                        <p:cTn id="74" dur="500"/>
                                        <p:tgtEl>
                                          <p:spTgt spid="32810"/>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iterate type="lt">
                                    <p:tmPct val="100000"/>
                                  </p:iterate>
                                  <p:childTnLst>
                                    <p:set>
                                      <p:cBhvr>
                                        <p:cTn id="78" dur="1" fill="hold">
                                          <p:stCondLst>
                                            <p:cond delay="0"/>
                                          </p:stCondLst>
                                        </p:cTn>
                                        <p:tgtEl>
                                          <p:spTgt spid="32806"/>
                                        </p:tgtEl>
                                        <p:attrNameLst>
                                          <p:attrName>style.visibility</p:attrName>
                                        </p:attrNameLst>
                                      </p:cBhvr>
                                      <p:to>
                                        <p:strVal val="visible"/>
                                      </p:to>
                                    </p:set>
                                    <p:animEffect transition="in" filter="blinds(horizontal)">
                                      <p:cBhvr>
                                        <p:cTn id="79" dur="75"/>
                                        <p:tgtEl>
                                          <p:spTgt spid="32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04" grpId="0" autoUpdateAnimBg="0"/>
      <p:bldP spid="32805" grpId="0" autoUpdateAnimBg="0"/>
      <p:bldP spid="32806" grpId="0" autoUpdateAnimBg="0"/>
      <p:bldP spid="32807" grpId="0" autoUpdateAnimBg="0"/>
      <p:bldP spid="32808" grpId="0" autoUpdateAnimBg="0"/>
      <p:bldP spid="32811" grpId="0" autoUpdateAnimBg="0"/>
      <p:bldP spid="3284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3670300" y="1027113"/>
            <a:ext cx="16875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宋体" panose="02010600030101010101" pitchFamily="2" charset="-122"/>
              </a:rPr>
              <a:t>基轴制：</a:t>
            </a:r>
            <a:endParaRPr lang="zh-CN" altLang="en-US" sz="3200" b="1">
              <a:latin typeface="宋体" panose="02010600030101010101" pitchFamily="2" charset="-122"/>
            </a:endParaRPr>
          </a:p>
        </p:txBody>
      </p:sp>
      <p:sp>
        <p:nvSpPr>
          <p:cNvPr id="33795" name="Text Box 3"/>
          <p:cNvSpPr txBox="1">
            <a:spLocks noChangeArrowheads="1"/>
          </p:cNvSpPr>
          <p:nvPr/>
        </p:nvSpPr>
        <p:spPr bwMode="auto">
          <a:xfrm>
            <a:off x="5278438" y="687388"/>
            <a:ext cx="327501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A</a:t>
            </a:r>
            <a:r>
              <a:rPr lang="zh-CN" altLang="en-US" sz="2800" b="1">
                <a:latin typeface="宋体" panose="02010600030101010101" pitchFamily="2" charset="-122"/>
              </a:rPr>
              <a:t>～</a:t>
            </a:r>
            <a:r>
              <a:rPr lang="en-US" altLang="zh-CN" sz="2800" b="1">
                <a:latin typeface="宋体" panose="02010600030101010101" pitchFamily="2" charset="-122"/>
              </a:rPr>
              <a:t>H </a:t>
            </a:r>
            <a:r>
              <a:rPr lang="zh-CN" altLang="zh-CN" sz="2800" b="1">
                <a:latin typeface="宋体" panose="02010600030101010101" pitchFamily="2" charset="-122"/>
              </a:rPr>
              <a:t>形成间隙配合</a:t>
            </a:r>
            <a:endParaRPr lang="zh-CN" altLang="en-US" sz="2800" b="1">
              <a:latin typeface="宋体" panose="02010600030101010101" pitchFamily="2" charset="-122"/>
            </a:endParaRPr>
          </a:p>
        </p:txBody>
      </p:sp>
      <p:sp>
        <p:nvSpPr>
          <p:cNvPr id="33796" name="Text Box 4"/>
          <p:cNvSpPr txBox="1">
            <a:spLocks noChangeArrowheads="1"/>
          </p:cNvSpPr>
          <p:nvPr/>
        </p:nvSpPr>
        <p:spPr bwMode="auto">
          <a:xfrm>
            <a:off x="5278438" y="1108075"/>
            <a:ext cx="327501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J</a:t>
            </a:r>
            <a:r>
              <a:rPr lang="zh-CN" altLang="en-US" sz="2800" b="1">
                <a:latin typeface="宋体" panose="02010600030101010101" pitchFamily="2" charset="-122"/>
              </a:rPr>
              <a:t>～</a:t>
            </a:r>
            <a:r>
              <a:rPr lang="en-US" altLang="zh-CN" sz="2800" b="1">
                <a:latin typeface="宋体" panose="02010600030101010101" pitchFamily="2" charset="-122"/>
              </a:rPr>
              <a:t>N </a:t>
            </a:r>
            <a:r>
              <a:rPr lang="zh-CN" altLang="zh-CN" sz="2800" b="1">
                <a:latin typeface="宋体" panose="02010600030101010101" pitchFamily="2" charset="-122"/>
              </a:rPr>
              <a:t>形成过渡配合</a:t>
            </a:r>
            <a:endParaRPr lang="zh-CN" altLang="en-US" sz="2800" b="1">
              <a:latin typeface="宋体" panose="02010600030101010101" pitchFamily="2" charset="-122"/>
            </a:endParaRPr>
          </a:p>
        </p:txBody>
      </p:sp>
      <p:sp>
        <p:nvSpPr>
          <p:cNvPr id="33797" name="Text Box 5"/>
          <p:cNvSpPr txBox="1">
            <a:spLocks noChangeArrowheads="1"/>
          </p:cNvSpPr>
          <p:nvPr/>
        </p:nvSpPr>
        <p:spPr bwMode="auto">
          <a:xfrm>
            <a:off x="5278438" y="1527175"/>
            <a:ext cx="350678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P</a:t>
            </a:r>
            <a:r>
              <a:rPr lang="zh-CN" altLang="en-US" sz="2800" b="1">
                <a:latin typeface="宋体" panose="02010600030101010101" pitchFamily="2" charset="-122"/>
              </a:rPr>
              <a:t>～</a:t>
            </a:r>
            <a:r>
              <a:rPr lang="en-US" altLang="zh-CN" sz="2800" b="1">
                <a:latin typeface="宋体" panose="02010600030101010101" pitchFamily="2" charset="-122"/>
              </a:rPr>
              <a:t>ZC </a:t>
            </a:r>
            <a:r>
              <a:rPr lang="zh-CN" altLang="zh-CN" sz="2800" b="1">
                <a:latin typeface="宋体" panose="02010600030101010101" pitchFamily="2" charset="-122"/>
              </a:rPr>
              <a:t>形成过盈配合</a:t>
            </a:r>
            <a:endParaRPr lang="zh-CN" altLang="en-US" sz="2800" b="1">
              <a:latin typeface="宋体" panose="02010600030101010101" pitchFamily="2" charset="-122"/>
            </a:endParaRPr>
          </a:p>
        </p:txBody>
      </p:sp>
      <p:sp>
        <p:nvSpPr>
          <p:cNvPr id="33798" name="Text Box 6"/>
          <p:cNvSpPr txBox="1">
            <a:spLocks noChangeArrowheads="1"/>
          </p:cNvSpPr>
          <p:nvPr/>
        </p:nvSpPr>
        <p:spPr bwMode="auto">
          <a:xfrm>
            <a:off x="3770313" y="5283200"/>
            <a:ext cx="16478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latin typeface="宋体" panose="02010600030101010101" pitchFamily="2" charset="-122"/>
              </a:rPr>
              <a:t>基孔制：</a:t>
            </a:r>
            <a:endParaRPr lang="zh-CN" altLang="en-US" sz="2800" b="1">
              <a:latin typeface="宋体" panose="02010600030101010101" pitchFamily="2" charset="-122"/>
            </a:endParaRPr>
          </a:p>
        </p:txBody>
      </p:sp>
      <p:sp>
        <p:nvSpPr>
          <p:cNvPr id="33799" name="Text Box 7"/>
          <p:cNvSpPr txBox="1">
            <a:spLocks noChangeArrowheads="1"/>
          </p:cNvSpPr>
          <p:nvPr/>
        </p:nvSpPr>
        <p:spPr bwMode="auto">
          <a:xfrm>
            <a:off x="5303838" y="4937125"/>
            <a:ext cx="332898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a</a:t>
            </a:r>
            <a:r>
              <a:rPr lang="zh-CN" altLang="en-US" sz="2800" b="1">
                <a:latin typeface="宋体" panose="02010600030101010101" pitchFamily="2" charset="-122"/>
              </a:rPr>
              <a:t>～</a:t>
            </a:r>
            <a:r>
              <a:rPr lang="en-US" altLang="zh-CN" sz="2800" b="1">
                <a:latin typeface="宋体" panose="02010600030101010101" pitchFamily="2" charset="-122"/>
              </a:rPr>
              <a:t>h </a:t>
            </a:r>
            <a:r>
              <a:rPr lang="zh-CN" altLang="zh-CN" sz="2800" b="1">
                <a:latin typeface="宋体" panose="02010600030101010101" pitchFamily="2" charset="-122"/>
              </a:rPr>
              <a:t>形成间隙配合</a:t>
            </a:r>
            <a:endParaRPr lang="zh-CN" altLang="en-US" sz="2800" b="1">
              <a:latin typeface="宋体" panose="02010600030101010101" pitchFamily="2" charset="-122"/>
            </a:endParaRPr>
          </a:p>
        </p:txBody>
      </p:sp>
      <p:sp>
        <p:nvSpPr>
          <p:cNvPr id="33800" name="Text Box 8"/>
          <p:cNvSpPr txBox="1">
            <a:spLocks noChangeArrowheads="1"/>
          </p:cNvSpPr>
          <p:nvPr/>
        </p:nvSpPr>
        <p:spPr bwMode="auto">
          <a:xfrm>
            <a:off x="5278438" y="5421313"/>
            <a:ext cx="3302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j</a:t>
            </a:r>
            <a:r>
              <a:rPr lang="zh-CN" altLang="en-US" sz="2800" b="1">
                <a:latin typeface="宋体" panose="02010600030101010101" pitchFamily="2" charset="-122"/>
              </a:rPr>
              <a:t>～</a:t>
            </a:r>
            <a:r>
              <a:rPr lang="en-US" altLang="zh-CN" sz="2800" b="1">
                <a:latin typeface="宋体" panose="02010600030101010101" pitchFamily="2" charset="-122"/>
              </a:rPr>
              <a:t>n </a:t>
            </a:r>
            <a:r>
              <a:rPr lang="zh-CN" altLang="zh-CN" sz="2800" b="1">
                <a:latin typeface="宋体" panose="02010600030101010101" pitchFamily="2" charset="-122"/>
              </a:rPr>
              <a:t>形成过渡配合</a:t>
            </a:r>
            <a:endParaRPr lang="zh-CN" altLang="en-US" sz="2800" b="1">
              <a:latin typeface="宋体" panose="02010600030101010101" pitchFamily="2" charset="-122"/>
            </a:endParaRPr>
          </a:p>
        </p:txBody>
      </p:sp>
      <p:sp>
        <p:nvSpPr>
          <p:cNvPr id="33801" name="Text Box 9"/>
          <p:cNvSpPr txBox="1">
            <a:spLocks noChangeArrowheads="1"/>
          </p:cNvSpPr>
          <p:nvPr/>
        </p:nvSpPr>
        <p:spPr bwMode="auto">
          <a:xfrm>
            <a:off x="5278438" y="5891213"/>
            <a:ext cx="3429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2800" b="1">
                <a:latin typeface="宋体" panose="02010600030101010101" pitchFamily="2" charset="-122"/>
              </a:rPr>
              <a:t>p</a:t>
            </a:r>
            <a:r>
              <a:rPr lang="zh-CN" altLang="en-US" sz="2800" b="1">
                <a:latin typeface="宋体" panose="02010600030101010101" pitchFamily="2" charset="-122"/>
              </a:rPr>
              <a:t>～</a:t>
            </a:r>
            <a:r>
              <a:rPr lang="en-US" altLang="zh-CN" sz="2800" b="1">
                <a:latin typeface="宋体" panose="02010600030101010101" pitchFamily="2" charset="-122"/>
              </a:rPr>
              <a:t>zc </a:t>
            </a:r>
            <a:r>
              <a:rPr lang="zh-CN" altLang="zh-CN" sz="2800" b="1">
                <a:latin typeface="宋体" panose="02010600030101010101" pitchFamily="2" charset="-122"/>
              </a:rPr>
              <a:t>形成过盈配合</a:t>
            </a:r>
            <a:endParaRPr lang="zh-CN" altLang="en-US" sz="2800" b="1">
              <a:latin typeface="宋体" panose="02010600030101010101" pitchFamily="2" charset="-122"/>
            </a:endParaRPr>
          </a:p>
        </p:txBody>
      </p:sp>
      <p:grpSp>
        <p:nvGrpSpPr>
          <p:cNvPr id="33802" name="Group 10"/>
          <p:cNvGrpSpPr/>
          <p:nvPr/>
        </p:nvGrpSpPr>
        <p:grpSpPr bwMode="auto">
          <a:xfrm>
            <a:off x="447675" y="1328738"/>
            <a:ext cx="7343775" cy="3898900"/>
            <a:chOff x="282" y="845"/>
            <a:chExt cx="4626" cy="2456"/>
          </a:xfrm>
        </p:grpSpPr>
        <p:sp>
          <p:nvSpPr>
            <p:cNvPr id="33805" name="Text Box 11"/>
            <p:cNvSpPr txBox="1">
              <a:spLocks noChangeArrowheads="1"/>
            </p:cNvSpPr>
            <p:nvPr/>
          </p:nvSpPr>
          <p:spPr bwMode="auto">
            <a:xfrm>
              <a:off x="3084" y="1504"/>
              <a:ext cx="3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N</a:t>
              </a:r>
              <a:endParaRPr lang="en-US" altLang="zh-CN" b="1"/>
            </a:p>
          </p:txBody>
        </p:sp>
        <p:sp>
          <p:nvSpPr>
            <p:cNvPr id="33806" name="Text Box 12"/>
            <p:cNvSpPr txBox="1">
              <a:spLocks noChangeArrowheads="1"/>
            </p:cNvSpPr>
            <p:nvPr/>
          </p:nvSpPr>
          <p:spPr bwMode="auto">
            <a:xfrm>
              <a:off x="2408" y="1488"/>
              <a:ext cx="4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K</a:t>
              </a:r>
              <a:endParaRPr lang="en-US" altLang="zh-CN" b="1"/>
            </a:p>
          </p:txBody>
        </p:sp>
        <p:sp>
          <p:nvSpPr>
            <p:cNvPr id="33807" name="Text Box 13"/>
            <p:cNvSpPr txBox="1">
              <a:spLocks noChangeArrowheads="1"/>
            </p:cNvSpPr>
            <p:nvPr/>
          </p:nvSpPr>
          <p:spPr bwMode="auto">
            <a:xfrm>
              <a:off x="2032" y="1374"/>
              <a:ext cx="560" cy="288"/>
            </a:xfrm>
            <a:prstGeom prst="rect">
              <a:avLst/>
            </a:prstGeom>
            <a:noFill/>
            <a:ln>
              <a:noFill/>
            </a:ln>
            <a:effectLst/>
            <a:extLst>
              <a:ext uri="{909E8E84-426E-40DD-AFC4-6F175D3DCCD1}">
                <a14:hiddenFill xmlns:a14="http://schemas.microsoft.com/office/drawing/2010/main">
                  <a:solidFill>
                    <a:srgbClr val="FF00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JS</a:t>
              </a:r>
              <a:endParaRPr lang="en-US" altLang="zh-CN" b="1"/>
            </a:p>
          </p:txBody>
        </p:sp>
        <p:sp>
          <p:nvSpPr>
            <p:cNvPr id="33808" name="Rectangle 14"/>
            <p:cNvSpPr>
              <a:spLocks noChangeArrowheads="1"/>
            </p:cNvSpPr>
            <p:nvPr/>
          </p:nvSpPr>
          <p:spPr bwMode="auto">
            <a:xfrm>
              <a:off x="1977" y="1189"/>
              <a:ext cx="132" cy="169"/>
            </a:xfrm>
            <a:prstGeom prst="rect">
              <a:avLst/>
            </a:prstGeom>
            <a:solidFill>
              <a:srgbClr val="FF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09" name="Rectangle 15"/>
            <p:cNvSpPr>
              <a:spLocks noChangeArrowheads="1"/>
            </p:cNvSpPr>
            <p:nvPr/>
          </p:nvSpPr>
          <p:spPr bwMode="auto">
            <a:xfrm>
              <a:off x="1452" y="1150"/>
              <a:ext cx="133" cy="170"/>
            </a:xfrm>
            <a:prstGeom prst="rect">
              <a:avLst/>
            </a:prstGeom>
            <a:solidFill>
              <a:srgbClr val="FF00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10" name="Rectangle 16"/>
            <p:cNvSpPr>
              <a:spLocks noChangeArrowheads="1"/>
            </p:cNvSpPr>
            <p:nvPr/>
          </p:nvSpPr>
          <p:spPr bwMode="auto">
            <a:xfrm>
              <a:off x="1196" y="1121"/>
              <a:ext cx="133" cy="170"/>
            </a:xfrm>
            <a:prstGeom prst="rect">
              <a:avLst/>
            </a:prstGeom>
            <a:solidFill>
              <a:srgbClr val="FF00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11" name="Rectangle 17"/>
            <p:cNvSpPr>
              <a:spLocks noChangeArrowheads="1"/>
            </p:cNvSpPr>
            <p:nvPr/>
          </p:nvSpPr>
          <p:spPr bwMode="auto">
            <a:xfrm flipV="1">
              <a:off x="3781" y="1489"/>
              <a:ext cx="147" cy="179"/>
            </a:xfrm>
            <a:prstGeom prst="rect">
              <a:avLst/>
            </a:prstGeom>
            <a:solidFill>
              <a:srgbClr val="CC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12" name="Rectangle 18"/>
            <p:cNvSpPr>
              <a:spLocks noChangeArrowheads="1"/>
            </p:cNvSpPr>
            <p:nvPr/>
          </p:nvSpPr>
          <p:spPr bwMode="auto">
            <a:xfrm flipV="1">
              <a:off x="4047" y="1508"/>
              <a:ext cx="149" cy="179"/>
            </a:xfrm>
            <a:prstGeom prst="rect">
              <a:avLst/>
            </a:prstGeom>
            <a:solidFill>
              <a:srgbClr val="CC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13" name="Text Box 19"/>
            <p:cNvSpPr txBox="1">
              <a:spLocks noChangeArrowheads="1"/>
            </p:cNvSpPr>
            <p:nvPr/>
          </p:nvSpPr>
          <p:spPr bwMode="auto">
            <a:xfrm>
              <a:off x="282" y="2077"/>
              <a:ext cx="146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rgbClr val="333399"/>
                  </a:solidFill>
                </a:rPr>
                <a:t>基准孔公差带</a:t>
              </a:r>
              <a:endParaRPr lang="zh-CN" altLang="en-US" sz="2800" b="1">
                <a:solidFill>
                  <a:srgbClr val="333399"/>
                </a:solidFill>
              </a:endParaRPr>
            </a:p>
          </p:txBody>
        </p:sp>
        <p:sp>
          <p:nvSpPr>
            <p:cNvPr id="33814" name="Line 20"/>
            <p:cNvSpPr>
              <a:spLocks noChangeShapeType="1"/>
            </p:cNvSpPr>
            <p:nvPr/>
          </p:nvSpPr>
          <p:spPr bwMode="auto">
            <a:xfrm rot="7318948" flipH="1">
              <a:off x="1037" y="2332"/>
              <a:ext cx="171" cy="298"/>
            </a:xfrm>
            <a:prstGeom prst="line">
              <a:avLst/>
            </a:prstGeom>
            <a:noFill/>
            <a:ln w="38100">
              <a:solidFill>
                <a:srgbClr val="000099"/>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p>
              <a:endParaRPr lang="zh-CN" altLang="en-US"/>
            </a:p>
          </p:txBody>
        </p:sp>
        <p:sp>
          <p:nvSpPr>
            <p:cNvPr id="33815" name="Text Box 21"/>
            <p:cNvSpPr txBox="1">
              <a:spLocks noChangeArrowheads="1"/>
            </p:cNvSpPr>
            <p:nvPr/>
          </p:nvSpPr>
          <p:spPr bwMode="auto">
            <a:xfrm>
              <a:off x="334" y="1686"/>
              <a:ext cx="146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solidFill>
                    <a:srgbClr val="333399"/>
                  </a:solidFill>
                </a:rPr>
                <a:t>基准轴公差带</a:t>
              </a:r>
              <a:endParaRPr lang="zh-CN" altLang="en-US" sz="2800" b="1">
                <a:solidFill>
                  <a:srgbClr val="333399"/>
                </a:solidFill>
              </a:endParaRPr>
            </a:p>
          </p:txBody>
        </p:sp>
        <p:sp>
          <p:nvSpPr>
            <p:cNvPr id="33816" name="Text Box 22"/>
            <p:cNvSpPr txBox="1">
              <a:spLocks noChangeArrowheads="1"/>
            </p:cNvSpPr>
            <p:nvPr/>
          </p:nvSpPr>
          <p:spPr bwMode="auto">
            <a:xfrm>
              <a:off x="3789" y="2239"/>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r</a:t>
              </a:r>
              <a:endParaRPr lang="en-US" altLang="zh-CN" b="1"/>
            </a:p>
          </p:txBody>
        </p:sp>
        <p:sp>
          <p:nvSpPr>
            <p:cNvPr id="33817" name="Text Box 23"/>
            <p:cNvSpPr txBox="1">
              <a:spLocks noChangeArrowheads="1"/>
            </p:cNvSpPr>
            <p:nvPr/>
          </p:nvSpPr>
          <p:spPr bwMode="auto">
            <a:xfrm>
              <a:off x="1390" y="2942"/>
              <a:ext cx="2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fg</a:t>
              </a:r>
              <a:endParaRPr lang="en-US" altLang="zh-CN" b="1"/>
            </a:p>
          </p:txBody>
        </p:sp>
        <p:sp>
          <p:nvSpPr>
            <p:cNvPr id="33818" name="Text Box 24"/>
            <p:cNvSpPr txBox="1">
              <a:spLocks noChangeArrowheads="1"/>
            </p:cNvSpPr>
            <p:nvPr/>
          </p:nvSpPr>
          <p:spPr bwMode="auto">
            <a:xfrm>
              <a:off x="861" y="2992"/>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ef</a:t>
              </a:r>
              <a:endParaRPr lang="en-US" altLang="zh-CN" b="1"/>
            </a:p>
          </p:txBody>
        </p:sp>
        <p:sp>
          <p:nvSpPr>
            <p:cNvPr id="33819" name="Text Box 25"/>
            <p:cNvSpPr txBox="1">
              <a:spLocks noChangeArrowheads="1"/>
            </p:cNvSpPr>
            <p:nvPr/>
          </p:nvSpPr>
          <p:spPr bwMode="auto">
            <a:xfrm>
              <a:off x="1981" y="2895"/>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0000"/>
                  </a:solidFill>
                </a:rPr>
                <a:t>h</a:t>
              </a:r>
              <a:endParaRPr lang="en-US" altLang="zh-CN" b="1">
                <a:solidFill>
                  <a:srgbClr val="FF0000"/>
                </a:solidFill>
              </a:endParaRPr>
            </a:p>
          </p:txBody>
        </p:sp>
        <p:sp>
          <p:nvSpPr>
            <p:cNvPr id="33820" name="Text Box 26"/>
            <p:cNvSpPr txBox="1">
              <a:spLocks noChangeArrowheads="1"/>
            </p:cNvSpPr>
            <p:nvPr/>
          </p:nvSpPr>
          <p:spPr bwMode="auto">
            <a:xfrm>
              <a:off x="2256" y="2801"/>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js</a:t>
              </a:r>
              <a:endParaRPr lang="en-US" altLang="zh-CN" b="1"/>
            </a:p>
          </p:txBody>
        </p:sp>
        <p:sp>
          <p:nvSpPr>
            <p:cNvPr id="33821" name="Text Box 27"/>
            <p:cNvSpPr txBox="1">
              <a:spLocks noChangeArrowheads="1"/>
            </p:cNvSpPr>
            <p:nvPr/>
          </p:nvSpPr>
          <p:spPr bwMode="auto">
            <a:xfrm>
              <a:off x="2261" y="3013"/>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j</a:t>
              </a:r>
              <a:endParaRPr lang="en-US" altLang="zh-CN" b="1"/>
            </a:p>
          </p:txBody>
        </p:sp>
        <p:sp>
          <p:nvSpPr>
            <p:cNvPr id="33822" name="Text Box 28"/>
            <p:cNvSpPr txBox="1">
              <a:spLocks noChangeArrowheads="1"/>
            </p:cNvSpPr>
            <p:nvPr/>
          </p:nvSpPr>
          <p:spPr bwMode="auto">
            <a:xfrm>
              <a:off x="2450" y="2717"/>
              <a:ext cx="41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k</a:t>
              </a:r>
              <a:endParaRPr lang="en-US" altLang="zh-CN" b="1"/>
            </a:p>
          </p:txBody>
        </p:sp>
        <p:sp>
          <p:nvSpPr>
            <p:cNvPr id="33823" name="Text Box 29"/>
            <p:cNvSpPr txBox="1">
              <a:spLocks noChangeArrowheads="1"/>
            </p:cNvSpPr>
            <p:nvPr/>
          </p:nvSpPr>
          <p:spPr bwMode="auto">
            <a:xfrm>
              <a:off x="2793" y="2319"/>
              <a:ext cx="2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m</a:t>
              </a:r>
              <a:endParaRPr lang="en-US" altLang="zh-CN" b="1"/>
            </a:p>
          </p:txBody>
        </p:sp>
        <p:sp>
          <p:nvSpPr>
            <p:cNvPr id="33824" name="Text Box 30"/>
            <p:cNvSpPr txBox="1">
              <a:spLocks noChangeArrowheads="1"/>
            </p:cNvSpPr>
            <p:nvPr/>
          </p:nvSpPr>
          <p:spPr bwMode="auto">
            <a:xfrm>
              <a:off x="3169" y="2289"/>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n</a:t>
              </a:r>
              <a:endParaRPr lang="en-US" altLang="zh-CN" b="1"/>
            </a:p>
          </p:txBody>
        </p:sp>
        <p:sp>
          <p:nvSpPr>
            <p:cNvPr id="33825" name="Text Box 31"/>
            <p:cNvSpPr txBox="1">
              <a:spLocks noChangeArrowheads="1"/>
            </p:cNvSpPr>
            <p:nvPr/>
          </p:nvSpPr>
          <p:spPr bwMode="auto">
            <a:xfrm>
              <a:off x="3394" y="2205"/>
              <a:ext cx="4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p</a:t>
              </a:r>
              <a:endParaRPr lang="en-US" altLang="zh-CN" b="1"/>
            </a:p>
          </p:txBody>
        </p:sp>
        <p:sp>
          <p:nvSpPr>
            <p:cNvPr id="33826" name="Text Box 32"/>
            <p:cNvSpPr txBox="1">
              <a:spLocks noChangeArrowheads="1"/>
            </p:cNvSpPr>
            <p:nvPr/>
          </p:nvSpPr>
          <p:spPr bwMode="auto">
            <a:xfrm>
              <a:off x="4026" y="2216"/>
              <a:ext cx="19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s</a:t>
              </a:r>
              <a:endParaRPr lang="en-US" altLang="zh-CN" b="1"/>
            </a:p>
          </p:txBody>
        </p:sp>
        <p:sp>
          <p:nvSpPr>
            <p:cNvPr id="33827" name="Text Box 33"/>
            <p:cNvSpPr txBox="1">
              <a:spLocks noChangeArrowheads="1"/>
            </p:cNvSpPr>
            <p:nvPr/>
          </p:nvSpPr>
          <p:spPr bwMode="auto">
            <a:xfrm>
              <a:off x="4339" y="2216"/>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t</a:t>
              </a:r>
              <a:endParaRPr lang="en-US" altLang="zh-CN" b="1"/>
            </a:p>
          </p:txBody>
        </p:sp>
        <p:sp>
          <p:nvSpPr>
            <p:cNvPr id="33828" name="Text Box 34"/>
            <p:cNvSpPr txBox="1">
              <a:spLocks noChangeArrowheads="1"/>
            </p:cNvSpPr>
            <p:nvPr/>
          </p:nvSpPr>
          <p:spPr bwMode="auto">
            <a:xfrm>
              <a:off x="4622" y="2495"/>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u</a:t>
              </a:r>
              <a:endParaRPr lang="en-US" altLang="zh-CN" b="1"/>
            </a:p>
          </p:txBody>
        </p:sp>
        <p:sp>
          <p:nvSpPr>
            <p:cNvPr id="33829" name="Text Box 35"/>
            <p:cNvSpPr txBox="1">
              <a:spLocks noChangeArrowheads="1"/>
            </p:cNvSpPr>
            <p:nvPr/>
          </p:nvSpPr>
          <p:spPr bwMode="auto">
            <a:xfrm>
              <a:off x="1697" y="2863"/>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g</a:t>
              </a:r>
              <a:endParaRPr lang="en-US" altLang="zh-CN" b="1"/>
            </a:p>
          </p:txBody>
        </p:sp>
        <p:sp>
          <p:nvSpPr>
            <p:cNvPr id="33830" name="Text Box 36"/>
            <p:cNvSpPr txBox="1">
              <a:spLocks noChangeArrowheads="1"/>
            </p:cNvSpPr>
            <p:nvPr/>
          </p:nvSpPr>
          <p:spPr bwMode="auto">
            <a:xfrm>
              <a:off x="1162" y="2964"/>
              <a:ext cx="18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f</a:t>
              </a:r>
              <a:endParaRPr lang="en-US" altLang="zh-CN" b="1"/>
            </a:p>
          </p:txBody>
        </p:sp>
        <p:sp>
          <p:nvSpPr>
            <p:cNvPr id="33831" name="Text Box 37"/>
            <p:cNvSpPr txBox="1">
              <a:spLocks noChangeArrowheads="1"/>
            </p:cNvSpPr>
            <p:nvPr/>
          </p:nvSpPr>
          <p:spPr bwMode="auto">
            <a:xfrm>
              <a:off x="416" y="2568"/>
              <a:ext cx="37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t>轴</a:t>
              </a:r>
              <a:endParaRPr lang="zh-CN" altLang="en-US" b="1"/>
            </a:p>
          </p:txBody>
        </p:sp>
        <p:sp>
          <p:nvSpPr>
            <p:cNvPr id="33832" name="Rectangle 38"/>
            <p:cNvSpPr>
              <a:spLocks noChangeArrowheads="1"/>
            </p:cNvSpPr>
            <p:nvPr/>
          </p:nvSpPr>
          <p:spPr bwMode="auto">
            <a:xfrm>
              <a:off x="4643" y="2423"/>
              <a:ext cx="133" cy="169"/>
            </a:xfrm>
            <a:prstGeom prst="rect">
              <a:avLst/>
            </a:prstGeom>
            <a:solidFill>
              <a:srgbClr val="3399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33" name="Freeform 39"/>
            <p:cNvSpPr/>
            <p:nvPr/>
          </p:nvSpPr>
          <p:spPr bwMode="auto">
            <a:xfrm>
              <a:off x="4656" y="2426"/>
              <a:ext cx="124" cy="2"/>
            </a:xfrm>
            <a:custGeom>
              <a:avLst/>
              <a:gdLst>
                <a:gd name="T0" fmla="*/ 0 w 73"/>
                <a:gd name="T1" fmla="*/ 0 h 1"/>
                <a:gd name="T2" fmla="*/ 124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34" name="Rectangle 40"/>
            <p:cNvSpPr>
              <a:spLocks noChangeArrowheads="1"/>
            </p:cNvSpPr>
            <p:nvPr/>
          </p:nvSpPr>
          <p:spPr bwMode="auto">
            <a:xfrm>
              <a:off x="4362" y="2447"/>
              <a:ext cx="132" cy="171"/>
            </a:xfrm>
            <a:prstGeom prst="rect">
              <a:avLst/>
            </a:prstGeom>
            <a:solidFill>
              <a:srgbClr val="3399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35" name="Freeform 41"/>
            <p:cNvSpPr/>
            <p:nvPr/>
          </p:nvSpPr>
          <p:spPr bwMode="auto">
            <a:xfrm>
              <a:off x="4375" y="2450"/>
              <a:ext cx="124" cy="2"/>
            </a:xfrm>
            <a:custGeom>
              <a:avLst/>
              <a:gdLst>
                <a:gd name="T0" fmla="*/ 0 w 73"/>
                <a:gd name="T1" fmla="*/ 0 h 1"/>
                <a:gd name="T2" fmla="*/ 124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36" name="Rectangle 42"/>
            <p:cNvSpPr>
              <a:spLocks noChangeArrowheads="1"/>
            </p:cNvSpPr>
            <p:nvPr/>
          </p:nvSpPr>
          <p:spPr bwMode="auto">
            <a:xfrm>
              <a:off x="4068" y="2463"/>
              <a:ext cx="133" cy="170"/>
            </a:xfrm>
            <a:prstGeom prst="rect">
              <a:avLst/>
            </a:prstGeom>
            <a:solidFill>
              <a:srgbClr val="3399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37" name="Freeform 43"/>
            <p:cNvSpPr/>
            <p:nvPr/>
          </p:nvSpPr>
          <p:spPr bwMode="auto">
            <a:xfrm>
              <a:off x="4081" y="2467"/>
              <a:ext cx="124" cy="1"/>
            </a:xfrm>
            <a:custGeom>
              <a:avLst/>
              <a:gdLst>
                <a:gd name="T0" fmla="*/ 0 w 73"/>
                <a:gd name="T1" fmla="*/ 0 h 1"/>
                <a:gd name="T2" fmla="*/ 124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38" name="Rectangle 44"/>
            <p:cNvSpPr>
              <a:spLocks noChangeArrowheads="1"/>
            </p:cNvSpPr>
            <p:nvPr/>
          </p:nvSpPr>
          <p:spPr bwMode="auto">
            <a:xfrm>
              <a:off x="3800" y="2486"/>
              <a:ext cx="132" cy="169"/>
            </a:xfrm>
            <a:prstGeom prst="rect">
              <a:avLst/>
            </a:prstGeom>
            <a:solidFill>
              <a:srgbClr val="3399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39" name="Freeform 45"/>
            <p:cNvSpPr/>
            <p:nvPr/>
          </p:nvSpPr>
          <p:spPr bwMode="auto">
            <a:xfrm>
              <a:off x="3812" y="2489"/>
              <a:ext cx="124" cy="2"/>
            </a:xfrm>
            <a:custGeom>
              <a:avLst/>
              <a:gdLst>
                <a:gd name="T0" fmla="*/ 0 w 73"/>
                <a:gd name="T1" fmla="*/ 0 h 1"/>
                <a:gd name="T2" fmla="*/ 124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40" name="Rectangle 46"/>
            <p:cNvSpPr>
              <a:spLocks noChangeArrowheads="1"/>
            </p:cNvSpPr>
            <p:nvPr/>
          </p:nvSpPr>
          <p:spPr bwMode="auto">
            <a:xfrm>
              <a:off x="3506" y="2500"/>
              <a:ext cx="132" cy="170"/>
            </a:xfrm>
            <a:prstGeom prst="rect">
              <a:avLst/>
            </a:prstGeom>
            <a:solidFill>
              <a:srgbClr val="3399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41" name="Freeform 47"/>
            <p:cNvSpPr/>
            <p:nvPr/>
          </p:nvSpPr>
          <p:spPr bwMode="auto">
            <a:xfrm>
              <a:off x="3518" y="2504"/>
              <a:ext cx="124" cy="1"/>
            </a:xfrm>
            <a:custGeom>
              <a:avLst/>
              <a:gdLst>
                <a:gd name="T0" fmla="*/ 0 w 73"/>
                <a:gd name="T1" fmla="*/ 0 h 1"/>
                <a:gd name="T2" fmla="*/ 124 w 73"/>
                <a:gd name="T3" fmla="*/ 0 h 1"/>
                <a:gd name="T4" fmla="*/ 0 60000 65536"/>
                <a:gd name="T5" fmla="*/ 0 60000 65536"/>
              </a:gdLst>
              <a:ahLst/>
              <a:cxnLst>
                <a:cxn ang="T4">
                  <a:pos x="T0" y="T1"/>
                </a:cxn>
                <a:cxn ang="T5">
                  <a:pos x="T2" y="T3"/>
                </a:cxn>
              </a:cxnLst>
              <a:rect l="0" t="0" r="r" b="b"/>
              <a:pathLst>
                <a:path w="73" h="1">
                  <a:moveTo>
                    <a:pt x="0" y="0"/>
                  </a:moveTo>
                  <a:lnTo>
                    <a:pt x="73" y="0"/>
                  </a:lnTo>
                </a:path>
              </a:pathLst>
            </a:custGeom>
            <a:solidFill>
              <a:srgbClr val="FF9900"/>
            </a:solidFill>
            <a:ln w="19050" cap="flat" cmpd="sng">
              <a:solidFill>
                <a:srgbClr val="0099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42" name="Rectangle 48"/>
            <p:cNvSpPr>
              <a:spLocks noChangeArrowheads="1"/>
            </p:cNvSpPr>
            <p:nvPr/>
          </p:nvSpPr>
          <p:spPr bwMode="auto">
            <a:xfrm flipV="1">
              <a:off x="2273" y="2692"/>
              <a:ext cx="133" cy="169"/>
            </a:xfrm>
            <a:prstGeom prst="rect">
              <a:avLst/>
            </a:prstGeom>
            <a:solidFill>
              <a:srgbClr val="33CC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43" name="Line 49"/>
            <p:cNvSpPr>
              <a:spLocks noChangeShapeType="1"/>
            </p:cNvSpPr>
            <p:nvPr/>
          </p:nvSpPr>
          <p:spPr bwMode="auto">
            <a:xfrm flipV="1">
              <a:off x="2286" y="2851"/>
              <a:ext cx="115" cy="0"/>
            </a:xfrm>
            <a:prstGeom prst="line">
              <a:avLst/>
            </a:prstGeom>
            <a:noFill/>
            <a:ln w="1905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44" name="Rectangle 50"/>
            <p:cNvSpPr>
              <a:spLocks noChangeArrowheads="1"/>
            </p:cNvSpPr>
            <p:nvPr/>
          </p:nvSpPr>
          <p:spPr bwMode="auto">
            <a:xfrm flipV="1">
              <a:off x="1990" y="2768"/>
              <a:ext cx="132" cy="169"/>
            </a:xfrm>
            <a:prstGeom prst="rect">
              <a:avLst/>
            </a:prstGeom>
            <a:solidFill>
              <a:srgbClr val="FF00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45" name="Line 51"/>
            <p:cNvSpPr>
              <a:spLocks noChangeShapeType="1"/>
            </p:cNvSpPr>
            <p:nvPr/>
          </p:nvSpPr>
          <p:spPr bwMode="auto">
            <a:xfrm flipV="1">
              <a:off x="2002" y="2939"/>
              <a:ext cx="11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46" name="Rectangle 52"/>
            <p:cNvSpPr>
              <a:spLocks noChangeArrowheads="1"/>
            </p:cNvSpPr>
            <p:nvPr/>
          </p:nvSpPr>
          <p:spPr bwMode="auto">
            <a:xfrm flipV="1">
              <a:off x="1736" y="2792"/>
              <a:ext cx="132" cy="170"/>
            </a:xfrm>
            <a:prstGeom prst="rect">
              <a:avLst/>
            </a:prstGeom>
            <a:solidFill>
              <a:srgbClr val="00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47" name="Line 53"/>
            <p:cNvSpPr>
              <a:spLocks noChangeShapeType="1"/>
            </p:cNvSpPr>
            <p:nvPr/>
          </p:nvSpPr>
          <p:spPr bwMode="auto">
            <a:xfrm flipV="1">
              <a:off x="1748" y="2963"/>
              <a:ext cx="116"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48" name="Rectangle 54"/>
            <p:cNvSpPr>
              <a:spLocks noChangeArrowheads="1"/>
            </p:cNvSpPr>
            <p:nvPr/>
          </p:nvSpPr>
          <p:spPr bwMode="auto">
            <a:xfrm flipV="1">
              <a:off x="1469" y="2821"/>
              <a:ext cx="132" cy="170"/>
            </a:xfrm>
            <a:prstGeom prst="rect">
              <a:avLst/>
            </a:prstGeom>
            <a:solidFill>
              <a:srgbClr val="00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49" name="Line 55"/>
            <p:cNvSpPr>
              <a:spLocks noChangeShapeType="1"/>
            </p:cNvSpPr>
            <p:nvPr/>
          </p:nvSpPr>
          <p:spPr bwMode="auto">
            <a:xfrm flipV="1">
              <a:off x="1482" y="2992"/>
              <a:ext cx="11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50" name="Rectangle 56"/>
            <p:cNvSpPr>
              <a:spLocks noChangeArrowheads="1"/>
            </p:cNvSpPr>
            <p:nvPr/>
          </p:nvSpPr>
          <p:spPr bwMode="auto">
            <a:xfrm flipV="1">
              <a:off x="1213" y="2834"/>
              <a:ext cx="132" cy="169"/>
            </a:xfrm>
            <a:prstGeom prst="rect">
              <a:avLst/>
            </a:prstGeom>
            <a:solidFill>
              <a:srgbClr val="00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51" name="Line 57"/>
            <p:cNvSpPr>
              <a:spLocks noChangeShapeType="1"/>
            </p:cNvSpPr>
            <p:nvPr/>
          </p:nvSpPr>
          <p:spPr bwMode="auto">
            <a:xfrm flipV="1">
              <a:off x="1226" y="3005"/>
              <a:ext cx="11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52" name="Rectangle 58"/>
            <p:cNvSpPr>
              <a:spLocks noChangeArrowheads="1"/>
            </p:cNvSpPr>
            <p:nvPr/>
          </p:nvSpPr>
          <p:spPr bwMode="auto">
            <a:xfrm flipV="1">
              <a:off x="944" y="2871"/>
              <a:ext cx="133" cy="170"/>
            </a:xfrm>
            <a:prstGeom prst="rect">
              <a:avLst/>
            </a:prstGeom>
            <a:solidFill>
              <a:srgbClr val="00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53" name="Line 59"/>
            <p:cNvSpPr>
              <a:spLocks noChangeShapeType="1"/>
            </p:cNvSpPr>
            <p:nvPr/>
          </p:nvSpPr>
          <p:spPr bwMode="auto">
            <a:xfrm flipV="1">
              <a:off x="957" y="3042"/>
              <a:ext cx="115" cy="0"/>
            </a:xfrm>
            <a:prstGeom prst="line">
              <a:avLst/>
            </a:prstGeom>
            <a:noFill/>
            <a:ln w="19050">
              <a:solidFill>
                <a:srgbClr val="00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54" name="Line 60"/>
            <p:cNvSpPr>
              <a:spLocks noChangeShapeType="1"/>
            </p:cNvSpPr>
            <p:nvPr/>
          </p:nvSpPr>
          <p:spPr bwMode="auto">
            <a:xfrm flipV="1">
              <a:off x="871" y="2768"/>
              <a:ext cx="3985" cy="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55" name="Rectangle 61"/>
            <p:cNvSpPr>
              <a:spLocks noChangeArrowheads="1"/>
            </p:cNvSpPr>
            <p:nvPr/>
          </p:nvSpPr>
          <p:spPr bwMode="auto">
            <a:xfrm>
              <a:off x="2592" y="2550"/>
              <a:ext cx="120" cy="199"/>
            </a:xfrm>
            <a:prstGeom prst="rect">
              <a:avLst/>
            </a:prstGeom>
            <a:solidFill>
              <a:srgbClr val="33CC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56" name="Rectangle 62"/>
            <p:cNvSpPr>
              <a:spLocks noChangeArrowheads="1"/>
            </p:cNvSpPr>
            <p:nvPr/>
          </p:nvSpPr>
          <p:spPr bwMode="auto">
            <a:xfrm>
              <a:off x="2546" y="2549"/>
              <a:ext cx="86" cy="219"/>
            </a:xfrm>
            <a:prstGeom prst="rect">
              <a:avLst/>
            </a:prstGeom>
            <a:solidFill>
              <a:srgbClr val="33CC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57" name="Line 63"/>
            <p:cNvSpPr>
              <a:spLocks noChangeShapeType="1"/>
            </p:cNvSpPr>
            <p:nvPr/>
          </p:nvSpPr>
          <p:spPr bwMode="auto">
            <a:xfrm>
              <a:off x="2598" y="2550"/>
              <a:ext cx="143" cy="0"/>
            </a:xfrm>
            <a:prstGeom prst="line">
              <a:avLst/>
            </a:prstGeom>
            <a:noFill/>
            <a:ln w="28575">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58" name="Rectangle 64"/>
            <p:cNvSpPr>
              <a:spLocks noChangeArrowheads="1"/>
            </p:cNvSpPr>
            <p:nvPr/>
          </p:nvSpPr>
          <p:spPr bwMode="auto">
            <a:xfrm>
              <a:off x="2859" y="2563"/>
              <a:ext cx="132" cy="170"/>
            </a:xfrm>
            <a:prstGeom prst="rect">
              <a:avLst/>
            </a:prstGeom>
            <a:solidFill>
              <a:srgbClr val="33CC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59" name="Line 65"/>
            <p:cNvSpPr>
              <a:spLocks noChangeShapeType="1"/>
            </p:cNvSpPr>
            <p:nvPr/>
          </p:nvSpPr>
          <p:spPr bwMode="auto">
            <a:xfrm>
              <a:off x="2872" y="2573"/>
              <a:ext cx="115" cy="0"/>
            </a:xfrm>
            <a:prstGeom prst="line">
              <a:avLst/>
            </a:prstGeom>
            <a:noFill/>
            <a:ln w="1905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60" name="Rectangle 66"/>
            <p:cNvSpPr>
              <a:spLocks noChangeArrowheads="1"/>
            </p:cNvSpPr>
            <p:nvPr/>
          </p:nvSpPr>
          <p:spPr bwMode="auto">
            <a:xfrm>
              <a:off x="3201" y="2538"/>
              <a:ext cx="132" cy="169"/>
            </a:xfrm>
            <a:prstGeom prst="rect">
              <a:avLst/>
            </a:prstGeom>
            <a:solidFill>
              <a:srgbClr val="33CC33"/>
            </a:solidFill>
            <a:ln w="19050">
              <a:solidFill>
                <a:schemeClr val="tx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61" name="Line 67"/>
            <p:cNvSpPr>
              <a:spLocks noChangeShapeType="1"/>
            </p:cNvSpPr>
            <p:nvPr/>
          </p:nvSpPr>
          <p:spPr bwMode="auto">
            <a:xfrm>
              <a:off x="3214" y="2547"/>
              <a:ext cx="115" cy="0"/>
            </a:xfrm>
            <a:prstGeom prst="line">
              <a:avLst/>
            </a:prstGeom>
            <a:noFill/>
            <a:ln w="19050">
              <a:solidFill>
                <a:srgbClr val="33CC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62" name="Line 68"/>
            <p:cNvSpPr>
              <a:spLocks noChangeShapeType="1"/>
            </p:cNvSpPr>
            <p:nvPr/>
          </p:nvSpPr>
          <p:spPr bwMode="auto">
            <a:xfrm>
              <a:off x="839" y="1358"/>
              <a:ext cx="403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63" name="Line 69"/>
            <p:cNvSpPr>
              <a:spLocks noChangeShapeType="1"/>
            </p:cNvSpPr>
            <p:nvPr/>
          </p:nvSpPr>
          <p:spPr bwMode="auto">
            <a:xfrm flipV="1">
              <a:off x="1980" y="1225"/>
              <a:ext cx="132" cy="5"/>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64" name="Text Box 70"/>
            <p:cNvSpPr txBox="1">
              <a:spLocks noChangeArrowheads="1"/>
            </p:cNvSpPr>
            <p:nvPr/>
          </p:nvSpPr>
          <p:spPr bwMode="auto">
            <a:xfrm>
              <a:off x="1843" y="1293"/>
              <a:ext cx="4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0000"/>
                  </a:solidFill>
                </a:rPr>
                <a:t>H</a:t>
              </a:r>
              <a:endParaRPr lang="en-US" altLang="zh-CN" b="1">
                <a:solidFill>
                  <a:srgbClr val="FF0000"/>
                </a:solidFill>
              </a:endParaRPr>
            </a:p>
          </p:txBody>
        </p:sp>
        <p:sp>
          <p:nvSpPr>
            <p:cNvPr id="33865" name="Text Box 71"/>
            <p:cNvSpPr txBox="1">
              <a:spLocks noChangeArrowheads="1"/>
            </p:cNvSpPr>
            <p:nvPr/>
          </p:nvSpPr>
          <p:spPr bwMode="auto">
            <a:xfrm>
              <a:off x="1217" y="916"/>
              <a:ext cx="6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FG</a:t>
              </a:r>
              <a:endParaRPr lang="en-US" altLang="zh-CN" b="1"/>
            </a:p>
          </p:txBody>
        </p:sp>
        <p:sp>
          <p:nvSpPr>
            <p:cNvPr id="33866" name="Text Box 72"/>
            <p:cNvSpPr txBox="1">
              <a:spLocks noChangeArrowheads="1"/>
            </p:cNvSpPr>
            <p:nvPr/>
          </p:nvSpPr>
          <p:spPr bwMode="auto">
            <a:xfrm>
              <a:off x="1079" y="894"/>
              <a:ext cx="36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F</a:t>
              </a:r>
              <a:endParaRPr lang="en-US" altLang="zh-CN" b="1"/>
            </a:p>
          </p:txBody>
        </p:sp>
        <p:sp>
          <p:nvSpPr>
            <p:cNvPr id="33867" name="Line 73"/>
            <p:cNvSpPr>
              <a:spLocks noChangeShapeType="1"/>
            </p:cNvSpPr>
            <p:nvPr/>
          </p:nvSpPr>
          <p:spPr bwMode="auto">
            <a:xfrm>
              <a:off x="1199" y="1124"/>
              <a:ext cx="128" cy="0"/>
            </a:xfrm>
            <a:prstGeom prst="line">
              <a:avLst/>
            </a:prstGeom>
            <a:noFill/>
            <a:ln w="1905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68" name="Rectangle 74"/>
            <p:cNvSpPr>
              <a:spLocks noChangeArrowheads="1"/>
            </p:cNvSpPr>
            <p:nvPr/>
          </p:nvSpPr>
          <p:spPr bwMode="auto">
            <a:xfrm flipV="1">
              <a:off x="2248" y="1257"/>
              <a:ext cx="147" cy="180"/>
            </a:xfrm>
            <a:prstGeom prst="rect">
              <a:avLst/>
            </a:prstGeom>
            <a:solidFill>
              <a:srgbClr val="FF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69" name="Text Box 75"/>
            <p:cNvSpPr txBox="1">
              <a:spLocks noChangeArrowheads="1"/>
            </p:cNvSpPr>
            <p:nvPr/>
          </p:nvSpPr>
          <p:spPr bwMode="auto">
            <a:xfrm>
              <a:off x="2201" y="1515"/>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J</a:t>
              </a:r>
              <a:endParaRPr lang="en-US" altLang="zh-CN" b="1"/>
            </a:p>
          </p:txBody>
        </p:sp>
        <p:sp>
          <p:nvSpPr>
            <p:cNvPr id="33870" name="Line 76"/>
            <p:cNvSpPr>
              <a:spLocks noChangeShapeType="1"/>
            </p:cNvSpPr>
            <p:nvPr/>
          </p:nvSpPr>
          <p:spPr bwMode="auto">
            <a:xfrm flipV="1">
              <a:off x="2256" y="1440"/>
              <a:ext cx="133"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71" name="Text Box 77"/>
            <p:cNvSpPr txBox="1">
              <a:spLocks noChangeArrowheads="1"/>
            </p:cNvSpPr>
            <p:nvPr/>
          </p:nvSpPr>
          <p:spPr bwMode="auto">
            <a:xfrm>
              <a:off x="2741" y="1493"/>
              <a:ext cx="43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M</a:t>
              </a:r>
              <a:endParaRPr lang="en-US" altLang="zh-CN" b="1"/>
            </a:p>
          </p:txBody>
        </p:sp>
        <p:sp>
          <p:nvSpPr>
            <p:cNvPr id="33872" name="Rectangle 78"/>
            <p:cNvSpPr>
              <a:spLocks noChangeArrowheads="1"/>
            </p:cNvSpPr>
            <p:nvPr/>
          </p:nvSpPr>
          <p:spPr bwMode="auto">
            <a:xfrm flipV="1">
              <a:off x="2888" y="1377"/>
              <a:ext cx="149" cy="179"/>
            </a:xfrm>
            <a:prstGeom prst="rect">
              <a:avLst/>
            </a:prstGeom>
            <a:solidFill>
              <a:srgbClr val="FF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73" name="Line 79"/>
            <p:cNvSpPr>
              <a:spLocks noChangeShapeType="1"/>
            </p:cNvSpPr>
            <p:nvPr/>
          </p:nvSpPr>
          <p:spPr bwMode="auto">
            <a:xfrm flipV="1">
              <a:off x="2891" y="1553"/>
              <a:ext cx="126"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74" name="Rectangle 80"/>
            <p:cNvSpPr>
              <a:spLocks noChangeArrowheads="1"/>
            </p:cNvSpPr>
            <p:nvPr/>
          </p:nvSpPr>
          <p:spPr bwMode="auto">
            <a:xfrm flipV="1">
              <a:off x="2841" y="1355"/>
              <a:ext cx="105" cy="199"/>
            </a:xfrm>
            <a:prstGeom prst="rect">
              <a:avLst/>
            </a:prstGeom>
            <a:solidFill>
              <a:srgbClr val="FF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75" name="Line 81"/>
            <p:cNvSpPr>
              <a:spLocks noChangeShapeType="1"/>
            </p:cNvSpPr>
            <p:nvPr/>
          </p:nvSpPr>
          <p:spPr bwMode="auto">
            <a:xfrm flipV="1">
              <a:off x="2849" y="1557"/>
              <a:ext cx="90"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76" name="Rectangle 82"/>
            <p:cNvSpPr>
              <a:spLocks noChangeArrowheads="1"/>
            </p:cNvSpPr>
            <p:nvPr/>
          </p:nvSpPr>
          <p:spPr bwMode="auto">
            <a:xfrm>
              <a:off x="1723" y="1168"/>
              <a:ext cx="132" cy="169"/>
            </a:xfrm>
            <a:prstGeom prst="rect">
              <a:avLst/>
            </a:prstGeom>
            <a:solidFill>
              <a:srgbClr val="FF00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77" name="Line 83"/>
            <p:cNvSpPr>
              <a:spLocks noChangeShapeType="1"/>
            </p:cNvSpPr>
            <p:nvPr/>
          </p:nvSpPr>
          <p:spPr bwMode="auto">
            <a:xfrm>
              <a:off x="1727" y="1209"/>
              <a:ext cx="122" cy="0"/>
            </a:xfrm>
            <a:prstGeom prst="line">
              <a:avLst/>
            </a:prstGeom>
            <a:noFill/>
            <a:ln w="1905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78" name="Text Box 84"/>
            <p:cNvSpPr txBox="1">
              <a:spLocks noChangeArrowheads="1"/>
            </p:cNvSpPr>
            <p:nvPr/>
          </p:nvSpPr>
          <p:spPr bwMode="auto">
            <a:xfrm>
              <a:off x="1585" y="1289"/>
              <a:ext cx="4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G</a:t>
              </a:r>
              <a:endParaRPr lang="en-US" altLang="zh-CN" b="1"/>
            </a:p>
          </p:txBody>
        </p:sp>
        <p:sp>
          <p:nvSpPr>
            <p:cNvPr id="33879" name="Rectangle 85"/>
            <p:cNvSpPr>
              <a:spLocks noChangeArrowheads="1"/>
            </p:cNvSpPr>
            <p:nvPr/>
          </p:nvSpPr>
          <p:spPr bwMode="auto">
            <a:xfrm flipV="1">
              <a:off x="2508" y="1354"/>
              <a:ext cx="149" cy="179"/>
            </a:xfrm>
            <a:prstGeom prst="rect">
              <a:avLst/>
            </a:prstGeom>
            <a:solidFill>
              <a:srgbClr val="FF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80" name="Line 86"/>
            <p:cNvSpPr>
              <a:spLocks noChangeShapeType="1"/>
            </p:cNvSpPr>
            <p:nvPr/>
          </p:nvSpPr>
          <p:spPr bwMode="auto">
            <a:xfrm flipV="1">
              <a:off x="2516" y="1536"/>
              <a:ext cx="126"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81" name="Rectangle 87"/>
            <p:cNvSpPr>
              <a:spLocks noChangeArrowheads="1"/>
            </p:cNvSpPr>
            <p:nvPr/>
          </p:nvSpPr>
          <p:spPr bwMode="auto">
            <a:xfrm flipV="1">
              <a:off x="2599" y="1336"/>
              <a:ext cx="107" cy="200"/>
            </a:xfrm>
            <a:prstGeom prst="rect">
              <a:avLst/>
            </a:prstGeom>
            <a:solidFill>
              <a:srgbClr val="FF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82" name="Line 88"/>
            <p:cNvSpPr>
              <a:spLocks noChangeShapeType="1"/>
            </p:cNvSpPr>
            <p:nvPr/>
          </p:nvSpPr>
          <p:spPr bwMode="auto">
            <a:xfrm flipV="1">
              <a:off x="2607" y="1544"/>
              <a:ext cx="92"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83" name="Rectangle 89"/>
            <p:cNvSpPr>
              <a:spLocks noChangeArrowheads="1"/>
            </p:cNvSpPr>
            <p:nvPr/>
          </p:nvSpPr>
          <p:spPr bwMode="auto">
            <a:xfrm flipV="1">
              <a:off x="3174" y="1418"/>
              <a:ext cx="136" cy="153"/>
            </a:xfrm>
            <a:prstGeom prst="rect">
              <a:avLst/>
            </a:prstGeom>
            <a:solidFill>
              <a:srgbClr val="FF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84" name="Line 90"/>
            <p:cNvSpPr>
              <a:spLocks noChangeShapeType="1"/>
            </p:cNvSpPr>
            <p:nvPr/>
          </p:nvSpPr>
          <p:spPr bwMode="auto">
            <a:xfrm flipV="1">
              <a:off x="3184" y="1578"/>
              <a:ext cx="118"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85" name="Rectangle 91"/>
            <p:cNvSpPr>
              <a:spLocks noChangeArrowheads="1"/>
            </p:cNvSpPr>
            <p:nvPr/>
          </p:nvSpPr>
          <p:spPr bwMode="auto">
            <a:xfrm flipV="1">
              <a:off x="3256" y="1370"/>
              <a:ext cx="96" cy="200"/>
            </a:xfrm>
            <a:prstGeom prst="rect">
              <a:avLst/>
            </a:prstGeom>
            <a:solidFill>
              <a:srgbClr val="FF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86" name="Line 92"/>
            <p:cNvSpPr>
              <a:spLocks noChangeShapeType="1"/>
            </p:cNvSpPr>
            <p:nvPr/>
          </p:nvSpPr>
          <p:spPr bwMode="auto">
            <a:xfrm flipV="1">
              <a:off x="3264" y="1578"/>
              <a:ext cx="82" cy="0"/>
            </a:xfrm>
            <a:prstGeom prst="line">
              <a:avLst/>
            </a:prstGeom>
            <a:noFill/>
            <a:ln w="19050">
              <a:solidFill>
                <a:srgbClr val="FF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87" name="Text Box 93"/>
            <p:cNvSpPr txBox="1">
              <a:spLocks noChangeArrowheads="1"/>
            </p:cNvSpPr>
            <p:nvPr/>
          </p:nvSpPr>
          <p:spPr bwMode="auto">
            <a:xfrm>
              <a:off x="3680" y="1623"/>
              <a:ext cx="3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R</a:t>
              </a:r>
              <a:endParaRPr lang="en-US" altLang="zh-CN" b="1"/>
            </a:p>
          </p:txBody>
        </p:sp>
        <p:sp>
          <p:nvSpPr>
            <p:cNvPr id="33888" name="Text Box 94"/>
            <p:cNvSpPr txBox="1">
              <a:spLocks noChangeArrowheads="1"/>
            </p:cNvSpPr>
            <p:nvPr/>
          </p:nvSpPr>
          <p:spPr bwMode="auto">
            <a:xfrm>
              <a:off x="3959" y="1646"/>
              <a:ext cx="3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S</a:t>
              </a:r>
              <a:endParaRPr lang="en-US" altLang="zh-CN" b="1"/>
            </a:p>
          </p:txBody>
        </p:sp>
        <p:sp>
          <p:nvSpPr>
            <p:cNvPr id="33889" name="Text Box 95"/>
            <p:cNvSpPr txBox="1">
              <a:spLocks noChangeArrowheads="1"/>
            </p:cNvSpPr>
            <p:nvPr/>
          </p:nvSpPr>
          <p:spPr bwMode="auto">
            <a:xfrm>
              <a:off x="4249" y="1654"/>
              <a:ext cx="37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T</a:t>
              </a:r>
              <a:endParaRPr lang="en-US" altLang="zh-CN" b="1"/>
            </a:p>
          </p:txBody>
        </p:sp>
        <p:sp>
          <p:nvSpPr>
            <p:cNvPr id="33890" name="Text Box 96"/>
            <p:cNvSpPr txBox="1">
              <a:spLocks noChangeArrowheads="1"/>
            </p:cNvSpPr>
            <p:nvPr/>
          </p:nvSpPr>
          <p:spPr bwMode="auto">
            <a:xfrm>
              <a:off x="3407" y="1574"/>
              <a:ext cx="36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P</a:t>
              </a:r>
              <a:endParaRPr lang="en-US" altLang="zh-CN" b="1"/>
            </a:p>
          </p:txBody>
        </p:sp>
        <p:sp>
          <p:nvSpPr>
            <p:cNvPr id="33891" name="Rectangle 97"/>
            <p:cNvSpPr>
              <a:spLocks noChangeArrowheads="1"/>
            </p:cNvSpPr>
            <p:nvPr/>
          </p:nvSpPr>
          <p:spPr bwMode="auto">
            <a:xfrm flipV="1">
              <a:off x="3495" y="1457"/>
              <a:ext cx="151" cy="179"/>
            </a:xfrm>
            <a:prstGeom prst="rect">
              <a:avLst/>
            </a:prstGeom>
            <a:solidFill>
              <a:srgbClr val="CC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92" name="Line 98"/>
            <p:cNvSpPr>
              <a:spLocks noChangeShapeType="1"/>
            </p:cNvSpPr>
            <p:nvPr/>
          </p:nvSpPr>
          <p:spPr bwMode="auto">
            <a:xfrm flipV="1">
              <a:off x="3503" y="1634"/>
              <a:ext cx="143" cy="0"/>
            </a:xfrm>
            <a:prstGeom prst="line">
              <a:avLst/>
            </a:prstGeom>
            <a:noFill/>
            <a:ln w="38100">
              <a:solidFill>
                <a:srgbClr val="CC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93" name="Line 99"/>
            <p:cNvSpPr>
              <a:spLocks noChangeShapeType="1"/>
            </p:cNvSpPr>
            <p:nvPr/>
          </p:nvSpPr>
          <p:spPr bwMode="auto">
            <a:xfrm flipV="1">
              <a:off x="3793" y="1666"/>
              <a:ext cx="133" cy="0"/>
            </a:xfrm>
            <a:prstGeom prst="line">
              <a:avLst/>
            </a:prstGeom>
            <a:noFill/>
            <a:ln w="38100">
              <a:solidFill>
                <a:srgbClr val="CC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94" name="Line 100"/>
            <p:cNvSpPr>
              <a:spLocks noChangeShapeType="1"/>
            </p:cNvSpPr>
            <p:nvPr/>
          </p:nvSpPr>
          <p:spPr bwMode="auto">
            <a:xfrm flipV="1">
              <a:off x="4050" y="1685"/>
              <a:ext cx="150" cy="0"/>
            </a:xfrm>
            <a:prstGeom prst="line">
              <a:avLst/>
            </a:prstGeom>
            <a:noFill/>
            <a:ln w="38100">
              <a:solidFill>
                <a:srgbClr val="CC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95" name="Rectangle 101"/>
            <p:cNvSpPr>
              <a:spLocks noChangeArrowheads="1"/>
            </p:cNvSpPr>
            <p:nvPr/>
          </p:nvSpPr>
          <p:spPr bwMode="auto">
            <a:xfrm flipV="1">
              <a:off x="4347" y="1513"/>
              <a:ext cx="152" cy="179"/>
            </a:xfrm>
            <a:prstGeom prst="rect">
              <a:avLst/>
            </a:prstGeom>
            <a:solidFill>
              <a:srgbClr val="CC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96" name="Line 102"/>
            <p:cNvSpPr>
              <a:spLocks noChangeShapeType="1"/>
            </p:cNvSpPr>
            <p:nvPr/>
          </p:nvSpPr>
          <p:spPr bwMode="auto">
            <a:xfrm flipV="1">
              <a:off x="4360" y="1690"/>
              <a:ext cx="133" cy="0"/>
            </a:xfrm>
            <a:prstGeom prst="line">
              <a:avLst/>
            </a:prstGeom>
            <a:noFill/>
            <a:ln w="38100">
              <a:solidFill>
                <a:srgbClr val="CC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97" name="Rectangle 103"/>
            <p:cNvSpPr>
              <a:spLocks noChangeArrowheads="1"/>
            </p:cNvSpPr>
            <p:nvPr/>
          </p:nvSpPr>
          <p:spPr bwMode="auto">
            <a:xfrm flipV="1">
              <a:off x="4625" y="1536"/>
              <a:ext cx="149" cy="182"/>
            </a:xfrm>
            <a:prstGeom prst="rect">
              <a:avLst/>
            </a:prstGeom>
            <a:solidFill>
              <a:srgbClr val="CC66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98" name="Line 104"/>
            <p:cNvSpPr>
              <a:spLocks noChangeShapeType="1"/>
            </p:cNvSpPr>
            <p:nvPr/>
          </p:nvSpPr>
          <p:spPr bwMode="auto">
            <a:xfrm flipV="1">
              <a:off x="4637" y="1721"/>
              <a:ext cx="135" cy="0"/>
            </a:xfrm>
            <a:prstGeom prst="line">
              <a:avLst/>
            </a:prstGeom>
            <a:noFill/>
            <a:ln w="38100">
              <a:solidFill>
                <a:srgbClr val="CC66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899" name="Text Box 105"/>
            <p:cNvSpPr txBox="1">
              <a:spLocks noChangeArrowheads="1"/>
            </p:cNvSpPr>
            <p:nvPr/>
          </p:nvSpPr>
          <p:spPr bwMode="auto">
            <a:xfrm>
              <a:off x="4520" y="1318"/>
              <a:ext cx="3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U</a:t>
              </a:r>
              <a:endParaRPr lang="en-US" altLang="zh-CN" b="1"/>
            </a:p>
          </p:txBody>
        </p:sp>
        <p:sp>
          <p:nvSpPr>
            <p:cNvPr id="33900" name="Text Box 106"/>
            <p:cNvSpPr txBox="1">
              <a:spLocks noChangeArrowheads="1"/>
            </p:cNvSpPr>
            <p:nvPr/>
          </p:nvSpPr>
          <p:spPr bwMode="auto">
            <a:xfrm>
              <a:off x="389" y="1182"/>
              <a:ext cx="3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t>孔</a:t>
              </a:r>
              <a:endParaRPr lang="zh-CN" altLang="en-US" b="1"/>
            </a:p>
          </p:txBody>
        </p:sp>
        <p:sp>
          <p:nvSpPr>
            <p:cNvPr id="33901" name="Text Box 107"/>
            <p:cNvSpPr txBox="1">
              <a:spLocks noChangeArrowheads="1"/>
            </p:cNvSpPr>
            <p:nvPr/>
          </p:nvSpPr>
          <p:spPr bwMode="auto">
            <a:xfrm>
              <a:off x="822" y="845"/>
              <a:ext cx="3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t>EF</a:t>
              </a:r>
              <a:endParaRPr lang="en-US" altLang="zh-CN" b="1"/>
            </a:p>
          </p:txBody>
        </p:sp>
        <p:sp>
          <p:nvSpPr>
            <p:cNvPr id="33902" name="Rectangle 108"/>
            <p:cNvSpPr>
              <a:spLocks noChangeArrowheads="1"/>
            </p:cNvSpPr>
            <p:nvPr/>
          </p:nvSpPr>
          <p:spPr bwMode="auto">
            <a:xfrm>
              <a:off x="928" y="1091"/>
              <a:ext cx="132" cy="171"/>
            </a:xfrm>
            <a:prstGeom prst="rect">
              <a:avLst/>
            </a:prstGeom>
            <a:solidFill>
              <a:srgbClr val="FF00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903" name="Line 109"/>
            <p:cNvSpPr>
              <a:spLocks noChangeShapeType="1"/>
            </p:cNvSpPr>
            <p:nvPr/>
          </p:nvSpPr>
          <p:spPr bwMode="auto">
            <a:xfrm flipV="1">
              <a:off x="1456" y="1153"/>
              <a:ext cx="127" cy="1"/>
            </a:xfrm>
            <a:prstGeom prst="line">
              <a:avLst/>
            </a:prstGeom>
            <a:noFill/>
            <a:ln w="1905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904" name="Line 110"/>
            <p:cNvSpPr>
              <a:spLocks noChangeShapeType="1"/>
            </p:cNvSpPr>
            <p:nvPr/>
          </p:nvSpPr>
          <p:spPr bwMode="auto">
            <a:xfrm>
              <a:off x="931" y="1099"/>
              <a:ext cx="123" cy="0"/>
            </a:xfrm>
            <a:prstGeom prst="line">
              <a:avLst/>
            </a:prstGeom>
            <a:noFill/>
            <a:ln w="1905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905" name="Rectangle 111"/>
            <p:cNvSpPr>
              <a:spLocks noChangeArrowheads="1"/>
            </p:cNvSpPr>
            <p:nvPr/>
          </p:nvSpPr>
          <p:spPr bwMode="auto">
            <a:xfrm>
              <a:off x="852" y="1356"/>
              <a:ext cx="504" cy="180"/>
            </a:xfrm>
            <a:prstGeom prst="rect">
              <a:avLst/>
            </a:prstGeom>
            <a:solidFill>
              <a:schemeClr val="accent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906" name="Rectangle 112"/>
            <p:cNvSpPr>
              <a:spLocks noChangeArrowheads="1"/>
            </p:cNvSpPr>
            <p:nvPr/>
          </p:nvSpPr>
          <p:spPr bwMode="auto">
            <a:xfrm>
              <a:off x="900" y="2592"/>
              <a:ext cx="540" cy="180"/>
            </a:xfrm>
            <a:prstGeom prst="rect">
              <a:avLst/>
            </a:prstGeom>
            <a:solidFill>
              <a:srgbClr val="FF00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907" name="Line 113"/>
            <p:cNvSpPr>
              <a:spLocks noChangeShapeType="1"/>
            </p:cNvSpPr>
            <p:nvPr/>
          </p:nvSpPr>
          <p:spPr bwMode="auto">
            <a:xfrm rot="554232" flipH="1">
              <a:off x="953" y="1504"/>
              <a:ext cx="171" cy="298"/>
            </a:xfrm>
            <a:prstGeom prst="line">
              <a:avLst/>
            </a:prstGeom>
            <a:noFill/>
            <a:ln w="38100">
              <a:solidFill>
                <a:srgbClr val="000099"/>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p>
              <a:endParaRPr lang="zh-CN" altLang="en-US"/>
            </a:p>
          </p:txBody>
        </p:sp>
      </p:grpSp>
      <p:sp>
        <p:nvSpPr>
          <p:cNvPr id="33803" name="Text Box 114"/>
          <p:cNvSpPr txBox="1">
            <a:spLocks noChangeArrowheads="1"/>
          </p:cNvSpPr>
          <p:nvPr/>
        </p:nvSpPr>
        <p:spPr bwMode="auto">
          <a:xfrm>
            <a:off x="436563" y="161925"/>
            <a:ext cx="8448675" cy="579438"/>
          </a:xfrm>
          <a:prstGeom prst="rect">
            <a:avLst/>
          </a:prstGeom>
          <a:gradFill rotWithShape="0">
            <a:gsLst>
              <a:gs pos="0">
                <a:srgbClr val="33CCCC"/>
              </a:gs>
              <a:gs pos="50000">
                <a:srgbClr val="FFFFFF"/>
              </a:gs>
              <a:gs pos="100000">
                <a:srgbClr val="33CCCC"/>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solidFill>
                  <a:srgbClr val="0033CC"/>
                </a:solidFill>
              </a:rPr>
              <a:t>一般情况可</a:t>
            </a:r>
            <a:r>
              <a:rPr lang="zh-CN" altLang="en-US" sz="3200" b="1">
                <a:solidFill>
                  <a:schemeClr val="accent2"/>
                </a:solidFill>
                <a:latin typeface="宋体" panose="02010600030101010101" pitchFamily="2" charset="-122"/>
              </a:rPr>
              <a:t>根据基本偏差代号确定配合种类</a:t>
            </a:r>
            <a:endParaRPr lang="zh-CN" altLang="en-US" sz="3200" b="1">
              <a:solidFill>
                <a:schemeClr val="accent2"/>
              </a:solidFill>
              <a:latin typeface="宋体" panose="02010600030101010101" pitchFamily="2" charset="-122"/>
            </a:endParaRPr>
          </a:p>
        </p:txBody>
      </p:sp>
      <p:sp>
        <p:nvSpPr>
          <p:cNvPr id="33908" name="Text Box 116"/>
          <p:cNvSpPr txBox="1">
            <a:spLocks noChangeArrowheads="1"/>
          </p:cNvSpPr>
          <p:nvPr/>
        </p:nvSpPr>
        <p:spPr bwMode="auto">
          <a:xfrm>
            <a:off x="376238" y="5230813"/>
            <a:ext cx="3373437" cy="1287462"/>
          </a:xfrm>
          <a:prstGeom prst="rect">
            <a:avLst/>
          </a:prstGeom>
          <a:noFill/>
          <a:ln w="38100">
            <a:pattFill prst="wdDnDiag">
              <a:fgClr>
                <a:schemeClr val="accent2"/>
              </a:fgClr>
              <a:bgClr>
                <a:srgbClr val="FFFFFF"/>
              </a:bgClr>
            </a:patt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chemeClr val="accent2"/>
                </a:solidFill>
                <a:latin typeface="宋体" panose="02010600030101010101" pitchFamily="2" charset="-122"/>
              </a:rPr>
              <a:t>N(n),P(p)</a:t>
            </a:r>
            <a:r>
              <a:rPr lang="zh-CN" altLang="en-US" b="1">
                <a:solidFill>
                  <a:schemeClr val="accent2"/>
                </a:solidFill>
              </a:rPr>
              <a:t>有时形成过渡配合有时形成过盈配合</a:t>
            </a:r>
            <a:r>
              <a:rPr lang="en-US" altLang="zh-CN" b="1">
                <a:solidFill>
                  <a:schemeClr val="accent2"/>
                </a:solidFill>
              </a:rPr>
              <a:t>,</a:t>
            </a:r>
            <a:r>
              <a:rPr lang="zh-CN" altLang="en-US" b="1">
                <a:solidFill>
                  <a:schemeClr val="accent2"/>
                </a:solidFill>
              </a:rPr>
              <a:t>用时查阅国家标准</a:t>
            </a:r>
            <a:endParaRPr lang="zh-CN" altLang="en-US" b="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3794">
                                            <p:txEl>
                                              <p:pRg st="0" end="0"/>
                                            </p:txEl>
                                          </p:spTgt>
                                        </p:tgtEl>
                                        <p:attrNameLst>
                                          <p:attrName>style.visibility</p:attrName>
                                        </p:attrNameLst>
                                      </p:cBhvr>
                                      <p:to>
                                        <p:strVal val="visible"/>
                                      </p:to>
                                    </p:set>
                                    <p:animEffect transition="in" filter="wipe(up)">
                                      <p:cBhvr>
                                        <p:cTn id="7" dur="75"/>
                                        <p:tgtEl>
                                          <p:spTgt spid="337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0"/>
                                  </p:iterate>
                                  <p:childTnLst>
                                    <p:set>
                                      <p:cBhvr>
                                        <p:cTn id="11" dur="1" fill="hold">
                                          <p:stCondLst>
                                            <p:cond delay="0"/>
                                          </p:stCondLst>
                                        </p:cTn>
                                        <p:tgtEl>
                                          <p:spTgt spid="33795"/>
                                        </p:tgtEl>
                                        <p:attrNameLst>
                                          <p:attrName>style.visibility</p:attrName>
                                        </p:attrNameLst>
                                      </p:cBhvr>
                                      <p:to>
                                        <p:strVal val="visible"/>
                                      </p:to>
                                    </p:set>
                                    <p:animEffect transition="in" filter="blinds(horizontal)">
                                      <p:cBhvr>
                                        <p:cTn id="12" dur="75"/>
                                        <p:tgtEl>
                                          <p:spTgt spid="3379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iterate type="lt">
                                    <p:tmPct val="100000"/>
                                  </p:iterate>
                                  <p:childTnLst>
                                    <p:set>
                                      <p:cBhvr>
                                        <p:cTn id="16" dur="1" fill="hold">
                                          <p:stCondLst>
                                            <p:cond delay="0"/>
                                          </p:stCondLst>
                                        </p:cTn>
                                        <p:tgtEl>
                                          <p:spTgt spid="33796"/>
                                        </p:tgtEl>
                                        <p:attrNameLst>
                                          <p:attrName>style.visibility</p:attrName>
                                        </p:attrNameLst>
                                      </p:cBhvr>
                                      <p:to>
                                        <p:strVal val="visible"/>
                                      </p:to>
                                    </p:set>
                                    <p:animEffect transition="in" filter="blinds(horizontal)">
                                      <p:cBhvr>
                                        <p:cTn id="17" dur="75"/>
                                        <p:tgtEl>
                                          <p:spTgt spid="337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iterate type="lt">
                                    <p:tmPct val="100000"/>
                                  </p:iterate>
                                  <p:childTnLst>
                                    <p:set>
                                      <p:cBhvr>
                                        <p:cTn id="21" dur="1" fill="hold">
                                          <p:stCondLst>
                                            <p:cond delay="0"/>
                                          </p:stCondLst>
                                        </p:cTn>
                                        <p:tgtEl>
                                          <p:spTgt spid="33797"/>
                                        </p:tgtEl>
                                        <p:attrNameLst>
                                          <p:attrName>style.visibility</p:attrName>
                                        </p:attrNameLst>
                                      </p:cBhvr>
                                      <p:to>
                                        <p:strVal val="visible"/>
                                      </p:to>
                                    </p:set>
                                    <p:animEffect transition="in" filter="blinds(horizontal)">
                                      <p:cBhvr>
                                        <p:cTn id="22" dur="75"/>
                                        <p:tgtEl>
                                          <p:spTgt spid="337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33798">
                                            <p:txEl>
                                              <p:pRg st="0" end="0"/>
                                            </p:txEl>
                                          </p:spTgt>
                                        </p:tgtEl>
                                        <p:attrNameLst>
                                          <p:attrName>style.visibility</p:attrName>
                                        </p:attrNameLst>
                                      </p:cBhvr>
                                      <p:to>
                                        <p:strVal val="visible"/>
                                      </p:to>
                                    </p:set>
                                    <p:animEffect transition="in" filter="wipe(up)">
                                      <p:cBhvr>
                                        <p:cTn id="27" dur="75"/>
                                        <p:tgtEl>
                                          <p:spTgt spid="3379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iterate type="lt">
                                    <p:tmPct val="100000"/>
                                  </p:iterate>
                                  <p:childTnLst>
                                    <p:set>
                                      <p:cBhvr>
                                        <p:cTn id="31" dur="1" fill="hold">
                                          <p:stCondLst>
                                            <p:cond delay="0"/>
                                          </p:stCondLst>
                                        </p:cTn>
                                        <p:tgtEl>
                                          <p:spTgt spid="33799"/>
                                        </p:tgtEl>
                                        <p:attrNameLst>
                                          <p:attrName>style.visibility</p:attrName>
                                        </p:attrNameLst>
                                      </p:cBhvr>
                                      <p:to>
                                        <p:strVal val="visible"/>
                                      </p:to>
                                    </p:set>
                                    <p:animEffect transition="in" filter="blinds(horizontal)">
                                      <p:cBhvr>
                                        <p:cTn id="32" dur="75"/>
                                        <p:tgtEl>
                                          <p:spTgt spid="3379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iterate type="lt">
                                    <p:tmPct val="100000"/>
                                  </p:iterate>
                                  <p:childTnLst>
                                    <p:set>
                                      <p:cBhvr>
                                        <p:cTn id="36" dur="1" fill="hold">
                                          <p:stCondLst>
                                            <p:cond delay="0"/>
                                          </p:stCondLst>
                                        </p:cTn>
                                        <p:tgtEl>
                                          <p:spTgt spid="33800"/>
                                        </p:tgtEl>
                                        <p:attrNameLst>
                                          <p:attrName>style.visibility</p:attrName>
                                        </p:attrNameLst>
                                      </p:cBhvr>
                                      <p:to>
                                        <p:strVal val="visible"/>
                                      </p:to>
                                    </p:set>
                                    <p:animEffect transition="in" filter="blinds(horizontal)">
                                      <p:cBhvr>
                                        <p:cTn id="37" dur="75"/>
                                        <p:tgtEl>
                                          <p:spTgt spid="3380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iterate type="lt">
                                    <p:tmPct val="100000"/>
                                  </p:iterate>
                                  <p:childTnLst>
                                    <p:set>
                                      <p:cBhvr>
                                        <p:cTn id="41" dur="1" fill="hold">
                                          <p:stCondLst>
                                            <p:cond delay="0"/>
                                          </p:stCondLst>
                                        </p:cTn>
                                        <p:tgtEl>
                                          <p:spTgt spid="33801"/>
                                        </p:tgtEl>
                                        <p:attrNameLst>
                                          <p:attrName>style.visibility</p:attrName>
                                        </p:attrNameLst>
                                      </p:cBhvr>
                                      <p:to>
                                        <p:strVal val="visible"/>
                                      </p:to>
                                    </p:set>
                                    <p:animEffect transition="in" filter="blinds(horizontal)">
                                      <p:cBhvr>
                                        <p:cTn id="42" dur="75"/>
                                        <p:tgtEl>
                                          <p:spTgt spid="3380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3908"/>
                                        </p:tgtEl>
                                        <p:attrNameLst>
                                          <p:attrName>style.visibility</p:attrName>
                                        </p:attrNameLst>
                                      </p:cBhvr>
                                      <p:to>
                                        <p:strVal val="visible"/>
                                      </p:to>
                                    </p:set>
                                    <p:animEffect transition="in" filter="blinds(horizontal)">
                                      <p:cBhvr>
                                        <p:cTn id="47" dur="500"/>
                                        <p:tgtEl>
                                          <p:spTgt spid="33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autoUpdateAnimBg="0" build="p"/>
      <p:bldP spid="33795" grpId="0" autoUpdateAnimBg="0"/>
      <p:bldP spid="33796" grpId="0" autoUpdateAnimBg="0"/>
      <p:bldP spid="33797" grpId="0" autoUpdateAnimBg="0"/>
      <p:bldP spid="33798" grpId="0" autoUpdateAnimBg="0" build="p"/>
      <p:bldP spid="33799" grpId="0" autoUpdateAnimBg="0"/>
      <p:bldP spid="33800" grpId="0" autoUpdateAnimBg="0"/>
      <p:bldP spid="33801" grpId="0" autoUpdateAnimBg="0"/>
      <p:bldP spid="33908"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reeform 2"/>
          <p:cNvSpPr/>
          <p:nvPr/>
        </p:nvSpPr>
        <p:spPr bwMode="auto">
          <a:xfrm>
            <a:off x="6240463" y="3749675"/>
            <a:ext cx="1587" cy="1524000"/>
          </a:xfrm>
          <a:custGeom>
            <a:avLst/>
            <a:gdLst>
              <a:gd name="T0" fmla="*/ 0 w 1"/>
              <a:gd name="T1" fmla="*/ 0 h 960"/>
              <a:gd name="T2" fmla="*/ 0 w 1"/>
              <a:gd name="T3" fmla="*/ 1524000 h 960"/>
              <a:gd name="T4" fmla="*/ 0 60000 65536"/>
              <a:gd name="T5" fmla="*/ 0 60000 65536"/>
            </a:gdLst>
            <a:ahLst/>
            <a:cxnLst>
              <a:cxn ang="T4">
                <a:pos x="T0" y="T1"/>
              </a:cxn>
              <a:cxn ang="T5">
                <a:pos x="T2" y="T3"/>
              </a:cxn>
            </a:cxnLst>
            <a:rect l="0" t="0" r="r" b="b"/>
            <a:pathLst>
              <a:path w="1" h="960">
                <a:moveTo>
                  <a:pt x="0" y="0"/>
                </a:moveTo>
                <a:lnTo>
                  <a:pt x="0" y="960"/>
                </a:lnTo>
              </a:path>
            </a:pathLst>
          </a:custGeom>
          <a:noFill/>
          <a:ln w="19050" cap="flat" cmpd="sng">
            <a:solidFill>
              <a:srgbClr val="FF3300"/>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19" name="Freeform 3"/>
          <p:cNvSpPr/>
          <p:nvPr/>
        </p:nvSpPr>
        <p:spPr bwMode="auto">
          <a:xfrm>
            <a:off x="6772275" y="4025900"/>
            <a:ext cx="1588" cy="987425"/>
          </a:xfrm>
          <a:custGeom>
            <a:avLst/>
            <a:gdLst>
              <a:gd name="T0" fmla="*/ 0 w 1"/>
              <a:gd name="T1" fmla="*/ 0 h 622"/>
              <a:gd name="T2" fmla="*/ 0 w 1"/>
              <a:gd name="T3" fmla="*/ 974725 h 622"/>
              <a:gd name="T4" fmla="*/ 1588 w 1"/>
              <a:gd name="T5" fmla="*/ 987425 h 622"/>
              <a:gd name="T6" fmla="*/ 0 60000 65536"/>
              <a:gd name="T7" fmla="*/ 0 60000 65536"/>
              <a:gd name="T8" fmla="*/ 0 60000 65536"/>
            </a:gdLst>
            <a:ahLst/>
            <a:cxnLst>
              <a:cxn ang="T6">
                <a:pos x="T0" y="T1"/>
              </a:cxn>
              <a:cxn ang="T7">
                <a:pos x="T2" y="T3"/>
              </a:cxn>
              <a:cxn ang="T8">
                <a:pos x="T4" y="T5"/>
              </a:cxn>
            </a:cxnLst>
            <a:rect l="0" t="0" r="r" b="b"/>
            <a:pathLst>
              <a:path w="1" h="622">
                <a:moveTo>
                  <a:pt x="0" y="0"/>
                </a:moveTo>
                <a:lnTo>
                  <a:pt x="0" y="614"/>
                </a:lnTo>
                <a:lnTo>
                  <a:pt x="1" y="622"/>
                </a:lnTo>
              </a:path>
            </a:pathLst>
          </a:custGeom>
          <a:noFill/>
          <a:ln w="19050" cap="flat" cmpd="sng">
            <a:solidFill>
              <a:srgbClr val="000099"/>
            </a:solidFill>
            <a:prstDash val="solid"/>
            <a:round/>
            <a:headEnd type="triangl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20" name="Text Box 4"/>
          <p:cNvSpPr txBox="1">
            <a:spLocks noChangeArrowheads="1"/>
          </p:cNvSpPr>
          <p:nvPr/>
        </p:nvSpPr>
        <p:spPr bwMode="auto">
          <a:xfrm>
            <a:off x="223838" y="-3175"/>
            <a:ext cx="51689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solidFill>
                  <a:srgbClr val="FF5050"/>
                </a:solidFill>
                <a:latin typeface="黑体" panose="02010609060101010101" pitchFamily="49" charset="-122"/>
                <a:ea typeface="黑体" panose="02010609060101010101" pitchFamily="49" charset="-122"/>
              </a:rPr>
              <a:t>2.</a:t>
            </a:r>
            <a:r>
              <a:rPr lang="zh-CN" altLang="en-US" sz="3200" b="1">
                <a:solidFill>
                  <a:srgbClr val="FF5050"/>
                </a:solidFill>
                <a:latin typeface="黑体" panose="02010609060101010101" pitchFamily="49" charset="-122"/>
                <a:ea typeface="黑体" panose="02010609060101010101" pitchFamily="49" charset="-122"/>
              </a:rPr>
              <a:t>极限与配合在图上的标注</a:t>
            </a:r>
            <a:endParaRPr lang="zh-CN" altLang="en-US" sz="3200" b="1">
              <a:solidFill>
                <a:srgbClr val="FF5050"/>
              </a:solidFill>
              <a:latin typeface="黑体" panose="02010609060101010101" pitchFamily="49" charset="-122"/>
              <a:ea typeface="黑体" panose="02010609060101010101" pitchFamily="49" charset="-122"/>
            </a:endParaRPr>
          </a:p>
        </p:txBody>
      </p:sp>
      <p:sp>
        <p:nvSpPr>
          <p:cNvPr id="34821" name="Text Box 5"/>
          <p:cNvSpPr txBox="1">
            <a:spLocks noChangeArrowheads="1"/>
          </p:cNvSpPr>
          <p:nvPr/>
        </p:nvSpPr>
        <p:spPr bwMode="auto">
          <a:xfrm>
            <a:off x="406400" y="560388"/>
            <a:ext cx="43164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1)</a:t>
            </a:r>
            <a:r>
              <a:rPr lang="zh-CN" altLang="en-US" sz="3200" b="1">
                <a:latin typeface="宋体" panose="02010600030101010101" pitchFamily="2" charset="-122"/>
              </a:rPr>
              <a:t>装配图中配合的标注</a:t>
            </a:r>
            <a:endParaRPr lang="zh-CN" altLang="en-US" sz="3200" b="1">
              <a:latin typeface="宋体" panose="02010600030101010101" pitchFamily="2" charset="-122"/>
            </a:endParaRPr>
          </a:p>
        </p:txBody>
      </p:sp>
      <p:sp>
        <p:nvSpPr>
          <p:cNvPr id="34822" name="Text Box 6"/>
          <p:cNvSpPr txBox="1">
            <a:spLocks noChangeArrowheads="1"/>
          </p:cNvSpPr>
          <p:nvPr/>
        </p:nvSpPr>
        <p:spPr bwMode="auto">
          <a:xfrm>
            <a:off x="987425" y="1041400"/>
            <a:ext cx="30003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标注形式为：</a:t>
            </a:r>
            <a:endParaRPr lang="zh-CN" altLang="en-US" sz="3200" b="1">
              <a:latin typeface="宋体" panose="02010600030101010101" pitchFamily="2" charset="-122"/>
            </a:endParaRPr>
          </a:p>
        </p:txBody>
      </p:sp>
      <p:sp>
        <p:nvSpPr>
          <p:cNvPr id="34823" name="Text Box 7"/>
          <p:cNvSpPr txBox="1">
            <a:spLocks noChangeArrowheads="1"/>
          </p:cNvSpPr>
          <p:nvPr/>
        </p:nvSpPr>
        <p:spPr bwMode="auto">
          <a:xfrm>
            <a:off x="715963" y="2827338"/>
            <a:ext cx="483552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采用基孔制配合时，分子为基准孔的公差带代号。</a:t>
            </a:r>
            <a:endParaRPr lang="zh-CN" altLang="en-US" sz="3200" b="1">
              <a:latin typeface="宋体" panose="02010600030101010101" pitchFamily="2" charset="-122"/>
            </a:endParaRPr>
          </a:p>
        </p:txBody>
      </p:sp>
      <p:sp>
        <p:nvSpPr>
          <p:cNvPr id="34824" name="Text Box 8"/>
          <p:cNvSpPr txBox="1">
            <a:spLocks noChangeArrowheads="1"/>
          </p:cNvSpPr>
          <p:nvPr/>
        </p:nvSpPr>
        <p:spPr bwMode="auto">
          <a:xfrm>
            <a:off x="850900" y="4002088"/>
            <a:ext cx="14081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latin typeface="宋体" panose="02010600030101010101" pitchFamily="2" charset="-122"/>
              </a:rPr>
              <a:t>例如：</a:t>
            </a:r>
            <a:endParaRPr lang="zh-CN" altLang="en-US" sz="3200" b="1">
              <a:latin typeface="宋体" panose="02010600030101010101" pitchFamily="2" charset="-122"/>
            </a:endParaRPr>
          </a:p>
        </p:txBody>
      </p:sp>
      <p:sp>
        <p:nvSpPr>
          <p:cNvPr id="34825" name="Text Box 9"/>
          <p:cNvSpPr txBox="1">
            <a:spLocks noChangeArrowheads="1"/>
          </p:cNvSpPr>
          <p:nvPr/>
        </p:nvSpPr>
        <p:spPr bwMode="auto">
          <a:xfrm>
            <a:off x="2139950" y="4576763"/>
            <a:ext cx="30924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基孔制间隙配合</a:t>
            </a:r>
            <a:endParaRPr lang="zh-CN" altLang="en-US" sz="3200" b="1">
              <a:latin typeface="宋体" panose="02010600030101010101" pitchFamily="2" charset="-122"/>
            </a:endParaRPr>
          </a:p>
        </p:txBody>
      </p:sp>
      <p:sp>
        <p:nvSpPr>
          <p:cNvPr id="34826" name="Text Box 10"/>
          <p:cNvSpPr txBox="1">
            <a:spLocks noChangeArrowheads="1"/>
          </p:cNvSpPr>
          <p:nvPr/>
        </p:nvSpPr>
        <p:spPr bwMode="auto">
          <a:xfrm>
            <a:off x="2182813" y="5294313"/>
            <a:ext cx="33623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基孔制过渡配合</a:t>
            </a:r>
            <a:endParaRPr lang="zh-CN" altLang="en-US" sz="3200" b="1">
              <a:latin typeface="宋体" panose="02010600030101010101" pitchFamily="2" charset="-122"/>
            </a:endParaRPr>
          </a:p>
        </p:txBody>
      </p:sp>
      <p:grpSp>
        <p:nvGrpSpPr>
          <p:cNvPr id="34827" name="Group 11"/>
          <p:cNvGrpSpPr/>
          <p:nvPr/>
        </p:nvGrpSpPr>
        <p:grpSpPr bwMode="auto">
          <a:xfrm>
            <a:off x="6248400" y="4060825"/>
            <a:ext cx="625475" cy="917575"/>
            <a:chOff x="3936" y="2558"/>
            <a:chExt cx="394" cy="578"/>
          </a:xfrm>
        </p:grpSpPr>
        <p:sp>
          <p:nvSpPr>
            <p:cNvPr id="34902" name="Text Box 12"/>
            <p:cNvSpPr txBox="1">
              <a:spLocks noChangeArrowheads="1"/>
            </p:cNvSpPr>
            <p:nvPr/>
          </p:nvSpPr>
          <p:spPr bwMode="auto">
            <a:xfrm rot="-5400000">
              <a:off x="3947" y="2836"/>
              <a:ext cx="35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i="1">
                  <a:solidFill>
                    <a:schemeClr val="accent2"/>
                  </a:solidFill>
                  <a:sym typeface="Symbol" panose="05050102010706020507" pitchFamily="18" charset="2"/>
                </a:rPr>
                <a:t></a:t>
              </a:r>
              <a:r>
                <a:rPr lang="en-US" altLang="zh-CN" sz="2000" b="1" i="1">
                  <a:solidFill>
                    <a:schemeClr val="accent2"/>
                  </a:solidFill>
                  <a:latin typeface="ISOCPEUR" panose="020B0604020202020204" pitchFamily="34" charset="0"/>
                  <a:sym typeface="Symbol" panose="05050102010706020507" pitchFamily="18" charset="2"/>
                </a:rPr>
                <a:t>30</a:t>
              </a:r>
              <a:endParaRPr lang="en-US" altLang="zh-CN" sz="2000" b="1">
                <a:solidFill>
                  <a:srgbClr val="333399"/>
                </a:solidFill>
                <a:latin typeface="ISOCPEUR" panose="020B0604020202020204" pitchFamily="34" charset="0"/>
              </a:endParaRPr>
            </a:p>
          </p:txBody>
        </p:sp>
        <p:sp>
          <p:nvSpPr>
            <p:cNvPr id="2" name="Text Box 13"/>
            <p:cNvSpPr txBox="1">
              <a:spLocks noChangeArrowheads="1"/>
            </p:cNvSpPr>
            <p:nvPr/>
          </p:nvSpPr>
          <p:spPr bwMode="auto">
            <a:xfrm rot="-5400000">
              <a:off x="3922" y="2572"/>
              <a:ext cx="27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i="1">
                  <a:solidFill>
                    <a:schemeClr val="accent2"/>
                  </a:solidFill>
                  <a:latin typeface="ISOCPEUR" panose="020B0604020202020204" pitchFamily="34" charset="0"/>
                </a:rPr>
                <a:t>H8</a:t>
              </a:r>
              <a:endParaRPr lang="en-US" altLang="zh-CN" sz="2000" b="1">
                <a:solidFill>
                  <a:srgbClr val="333399"/>
                </a:solidFill>
                <a:latin typeface="ISOCPEUR" panose="020B0604020202020204" pitchFamily="34" charset="0"/>
              </a:endParaRPr>
            </a:p>
          </p:txBody>
        </p:sp>
        <p:sp>
          <p:nvSpPr>
            <p:cNvPr id="34904" name="Text Box 14"/>
            <p:cNvSpPr txBox="1">
              <a:spLocks noChangeArrowheads="1"/>
            </p:cNvSpPr>
            <p:nvPr/>
          </p:nvSpPr>
          <p:spPr bwMode="auto">
            <a:xfrm rot="-5400000">
              <a:off x="4066" y="2580"/>
              <a:ext cx="27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i="1">
                  <a:solidFill>
                    <a:schemeClr val="accent2"/>
                  </a:solidFill>
                  <a:latin typeface="ISOCPEUR" panose="020B0604020202020204" pitchFamily="34" charset="0"/>
                </a:rPr>
                <a:t>f</a:t>
              </a:r>
              <a:r>
                <a:rPr lang="en-US" altLang="zh-CN" sz="1800" i="1">
                  <a:solidFill>
                    <a:schemeClr val="accent2"/>
                  </a:solidFill>
                  <a:latin typeface="Arial" panose="020B0604020202020204" pitchFamily="34" charset="0"/>
                </a:rPr>
                <a:t>7</a:t>
              </a:r>
              <a:endParaRPr lang="en-US" altLang="zh-CN" sz="1800">
                <a:solidFill>
                  <a:schemeClr val="accent2"/>
                </a:solidFill>
                <a:latin typeface="Arial" panose="020B0604020202020204" pitchFamily="34" charset="0"/>
              </a:endParaRPr>
            </a:p>
          </p:txBody>
        </p:sp>
        <p:sp>
          <p:nvSpPr>
            <p:cNvPr id="34905" name="Line 15"/>
            <p:cNvSpPr>
              <a:spLocks noChangeShapeType="1"/>
            </p:cNvSpPr>
            <p:nvPr/>
          </p:nvSpPr>
          <p:spPr bwMode="auto">
            <a:xfrm>
              <a:off x="4132" y="2583"/>
              <a:ext cx="0" cy="225"/>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4832" name="Group 16"/>
          <p:cNvGrpSpPr/>
          <p:nvPr/>
        </p:nvGrpSpPr>
        <p:grpSpPr bwMode="auto">
          <a:xfrm>
            <a:off x="5686425" y="3971925"/>
            <a:ext cx="627063" cy="1033463"/>
            <a:chOff x="3582" y="2502"/>
            <a:chExt cx="395" cy="651"/>
          </a:xfrm>
        </p:grpSpPr>
        <p:sp>
          <p:nvSpPr>
            <p:cNvPr id="3" name="Text Box 17"/>
            <p:cNvSpPr txBox="1">
              <a:spLocks noChangeArrowheads="1"/>
            </p:cNvSpPr>
            <p:nvPr/>
          </p:nvSpPr>
          <p:spPr bwMode="auto">
            <a:xfrm rot="-5400000">
              <a:off x="3598" y="2848"/>
              <a:ext cx="3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i="1">
                  <a:solidFill>
                    <a:srgbClr val="FF3300"/>
                  </a:solidFill>
                  <a:sym typeface="Symbol" panose="05050102010706020507" pitchFamily="18" charset="2"/>
                </a:rPr>
                <a:t></a:t>
              </a:r>
              <a:r>
                <a:rPr lang="en-US" altLang="zh-CN" sz="2000" b="1" i="1">
                  <a:solidFill>
                    <a:srgbClr val="FF3300"/>
                  </a:solidFill>
                  <a:latin typeface="ISOCPEUR" panose="020B0604020202020204" pitchFamily="34" charset="0"/>
                  <a:sym typeface="Symbol" panose="05050102010706020507" pitchFamily="18" charset="2"/>
                </a:rPr>
                <a:t>40</a:t>
              </a:r>
              <a:endParaRPr lang="en-US" altLang="zh-CN" sz="2000" b="1">
                <a:solidFill>
                  <a:srgbClr val="FF3300"/>
                </a:solidFill>
                <a:latin typeface="ISOCPEUR" panose="020B0604020202020204" pitchFamily="34" charset="0"/>
              </a:endParaRPr>
            </a:p>
          </p:txBody>
        </p:sp>
        <p:sp>
          <p:nvSpPr>
            <p:cNvPr id="34899" name="Text Box 18"/>
            <p:cNvSpPr txBox="1">
              <a:spLocks noChangeArrowheads="1"/>
            </p:cNvSpPr>
            <p:nvPr/>
          </p:nvSpPr>
          <p:spPr bwMode="auto">
            <a:xfrm rot="-5400000">
              <a:off x="3566" y="2603"/>
              <a:ext cx="28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i="1">
                  <a:solidFill>
                    <a:srgbClr val="FF3300"/>
                  </a:solidFill>
                  <a:latin typeface="ISOCPEUR" panose="020B0604020202020204" pitchFamily="34" charset="0"/>
                </a:rPr>
                <a:t>H</a:t>
              </a:r>
              <a:r>
                <a:rPr lang="en-US" altLang="zh-CN" sz="1800" i="1">
                  <a:solidFill>
                    <a:srgbClr val="FF3300"/>
                  </a:solidFill>
                  <a:latin typeface="Arial" panose="020B0604020202020204" pitchFamily="34" charset="0"/>
                </a:rPr>
                <a:t>7</a:t>
              </a:r>
              <a:endParaRPr lang="en-US" altLang="zh-CN" sz="1800">
                <a:solidFill>
                  <a:srgbClr val="FF3300"/>
                </a:solidFill>
                <a:latin typeface="Arial" panose="020B0604020202020204" pitchFamily="34" charset="0"/>
              </a:endParaRPr>
            </a:p>
          </p:txBody>
        </p:sp>
        <p:sp>
          <p:nvSpPr>
            <p:cNvPr id="34900" name="Text Box 19"/>
            <p:cNvSpPr txBox="1">
              <a:spLocks noChangeArrowheads="1"/>
            </p:cNvSpPr>
            <p:nvPr/>
          </p:nvSpPr>
          <p:spPr bwMode="auto">
            <a:xfrm rot="-5400000">
              <a:off x="3626" y="2603"/>
              <a:ext cx="45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i="1">
                  <a:solidFill>
                    <a:srgbClr val="FF3300"/>
                  </a:solidFill>
                  <a:latin typeface="ISOCPEUR" panose="020B0604020202020204" pitchFamily="34" charset="0"/>
                </a:rPr>
                <a:t>n6</a:t>
              </a:r>
              <a:endParaRPr lang="en-US" altLang="zh-CN" sz="2000" b="1">
                <a:solidFill>
                  <a:srgbClr val="FF3300"/>
                </a:solidFill>
                <a:latin typeface="ISOCPEUR" panose="020B0604020202020204" pitchFamily="34" charset="0"/>
              </a:endParaRPr>
            </a:p>
          </p:txBody>
        </p:sp>
        <p:sp>
          <p:nvSpPr>
            <p:cNvPr id="34901" name="Line 20"/>
            <p:cNvSpPr>
              <a:spLocks noChangeShapeType="1"/>
            </p:cNvSpPr>
            <p:nvPr/>
          </p:nvSpPr>
          <p:spPr bwMode="auto">
            <a:xfrm>
              <a:off x="3787" y="2616"/>
              <a:ext cx="0" cy="21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4898" name="Group 82"/>
          <p:cNvGrpSpPr/>
          <p:nvPr/>
        </p:nvGrpSpPr>
        <p:grpSpPr bwMode="auto">
          <a:xfrm>
            <a:off x="796925" y="4487863"/>
            <a:ext cx="1458913" cy="879475"/>
            <a:chOff x="1281" y="2490"/>
            <a:chExt cx="919" cy="554"/>
          </a:xfrm>
        </p:grpSpPr>
        <p:sp>
          <p:nvSpPr>
            <p:cNvPr id="34894" name="Text Box 83"/>
            <p:cNvSpPr txBox="1">
              <a:spLocks noChangeArrowheads="1"/>
            </p:cNvSpPr>
            <p:nvPr/>
          </p:nvSpPr>
          <p:spPr bwMode="auto">
            <a:xfrm>
              <a:off x="1281" y="2559"/>
              <a:ext cx="45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333399"/>
                  </a:solidFill>
                  <a:sym typeface="Symbol" panose="05050102010706020507" pitchFamily="18" charset="2"/>
                </a:rPr>
                <a:t>30</a:t>
              </a:r>
              <a:endParaRPr lang="en-US" altLang="zh-CN" sz="2800" b="1">
                <a:solidFill>
                  <a:srgbClr val="333399"/>
                </a:solidFill>
              </a:endParaRPr>
            </a:p>
          </p:txBody>
        </p:sp>
        <p:sp>
          <p:nvSpPr>
            <p:cNvPr id="34895" name="Text Box 84"/>
            <p:cNvSpPr txBox="1">
              <a:spLocks noChangeArrowheads="1"/>
            </p:cNvSpPr>
            <p:nvPr/>
          </p:nvSpPr>
          <p:spPr bwMode="auto">
            <a:xfrm>
              <a:off x="1712" y="2490"/>
              <a:ext cx="40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333399"/>
                  </a:solidFill>
                </a:rPr>
                <a:t>H8</a:t>
              </a:r>
              <a:endParaRPr lang="en-US" altLang="zh-CN" sz="2800" b="1">
                <a:solidFill>
                  <a:srgbClr val="333399"/>
                </a:solidFill>
              </a:endParaRPr>
            </a:p>
          </p:txBody>
        </p:sp>
        <p:sp>
          <p:nvSpPr>
            <p:cNvPr id="34896" name="Text Box 85"/>
            <p:cNvSpPr txBox="1">
              <a:spLocks noChangeArrowheads="1"/>
            </p:cNvSpPr>
            <p:nvPr/>
          </p:nvSpPr>
          <p:spPr bwMode="auto">
            <a:xfrm>
              <a:off x="1571" y="2717"/>
              <a:ext cx="6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333399"/>
                  </a:solidFill>
                </a:rPr>
                <a:t>f7</a:t>
              </a:r>
              <a:endParaRPr lang="en-US" altLang="zh-CN" sz="2800" b="1">
                <a:solidFill>
                  <a:srgbClr val="333399"/>
                </a:solidFill>
              </a:endParaRPr>
            </a:p>
          </p:txBody>
        </p:sp>
        <p:sp>
          <p:nvSpPr>
            <p:cNvPr id="34897" name="Line 86"/>
            <p:cNvSpPr>
              <a:spLocks noChangeShapeType="1"/>
            </p:cNvSpPr>
            <p:nvPr/>
          </p:nvSpPr>
          <p:spPr bwMode="auto">
            <a:xfrm>
              <a:off x="1726" y="2764"/>
              <a:ext cx="363" cy="0"/>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4903" name="Group 87"/>
          <p:cNvGrpSpPr/>
          <p:nvPr/>
        </p:nvGrpSpPr>
        <p:grpSpPr bwMode="auto">
          <a:xfrm>
            <a:off x="846138" y="5200650"/>
            <a:ext cx="1343025" cy="874713"/>
            <a:chOff x="624" y="3380"/>
            <a:chExt cx="846" cy="551"/>
          </a:xfrm>
        </p:grpSpPr>
        <p:sp>
          <p:nvSpPr>
            <p:cNvPr id="34890" name="Text Box 88"/>
            <p:cNvSpPr txBox="1">
              <a:spLocks noChangeArrowheads="1"/>
            </p:cNvSpPr>
            <p:nvPr/>
          </p:nvSpPr>
          <p:spPr bwMode="auto">
            <a:xfrm>
              <a:off x="624" y="3514"/>
              <a:ext cx="45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sym typeface="Symbol" panose="05050102010706020507" pitchFamily="18" charset="2"/>
                </a:rPr>
                <a:t>40</a:t>
              </a:r>
              <a:endParaRPr lang="en-US" altLang="zh-CN" sz="2800" b="1">
                <a:solidFill>
                  <a:srgbClr val="FF3300"/>
                </a:solidFill>
              </a:endParaRPr>
            </a:p>
          </p:txBody>
        </p:sp>
        <p:sp>
          <p:nvSpPr>
            <p:cNvPr id="34891" name="Text Box 89"/>
            <p:cNvSpPr txBox="1">
              <a:spLocks noChangeArrowheads="1"/>
            </p:cNvSpPr>
            <p:nvPr/>
          </p:nvSpPr>
          <p:spPr bwMode="auto">
            <a:xfrm>
              <a:off x="1051" y="3380"/>
              <a:ext cx="40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H7</a:t>
              </a:r>
              <a:endParaRPr lang="en-US" altLang="zh-CN" sz="2800" b="1">
                <a:solidFill>
                  <a:srgbClr val="FF3300"/>
                </a:solidFill>
              </a:endParaRPr>
            </a:p>
          </p:txBody>
        </p:sp>
        <p:sp>
          <p:nvSpPr>
            <p:cNvPr id="34892" name="Text Box 90"/>
            <p:cNvSpPr txBox="1">
              <a:spLocks noChangeArrowheads="1"/>
            </p:cNvSpPr>
            <p:nvPr/>
          </p:nvSpPr>
          <p:spPr bwMode="auto">
            <a:xfrm>
              <a:off x="1038" y="3604"/>
              <a:ext cx="4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n6</a:t>
              </a:r>
              <a:endParaRPr lang="en-US" altLang="zh-CN" sz="2800" b="1">
                <a:solidFill>
                  <a:srgbClr val="FF3300"/>
                </a:solidFill>
              </a:endParaRPr>
            </a:p>
          </p:txBody>
        </p:sp>
        <p:sp>
          <p:nvSpPr>
            <p:cNvPr id="34893" name="Line 91"/>
            <p:cNvSpPr>
              <a:spLocks noChangeShapeType="1"/>
            </p:cNvSpPr>
            <p:nvPr/>
          </p:nvSpPr>
          <p:spPr bwMode="auto">
            <a:xfrm>
              <a:off x="1077" y="3685"/>
              <a:ext cx="337"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4908" name="Group 92"/>
          <p:cNvGrpSpPr/>
          <p:nvPr/>
        </p:nvGrpSpPr>
        <p:grpSpPr bwMode="auto">
          <a:xfrm>
            <a:off x="1082675" y="1604963"/>
            <a:ext cx="4743450" cy="1108075"/>
            <a:chOff x="558" y="936"/>
            <a:chExt cx="2988" cy="698"/>
          </a:xfrm>
        </p:grpSpPr>
        <p:sp>
          <p:nvSpPr>
            <p:cNvPr id="34886" name="Text Box 93"/>
            <p:cNvSpPr txBox="1">
              <a:spLocks noChangeArrowheads="1"/>
            </p:cNvSpPr>
            <p:nvPr/>
          </p:nvSpPr>
          <p:spPr bwMode="auto">
            <a:xfrm>
              <a:off x="558" y="1093"/>
              <a:ext cx="126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t>基本尺寸</a:t>
              </a:r>
              <a:endParaRPr lang="zh-CN" altLang="en-US" sz="3200" b="1"/>
            </a:p>
          </p:txBody>
        </p:sp>
        <p:sp>
          <p:nvSpPr>
            <p:cNvPr id="34887" name="Text Box 94"/>
            <p:cNvSpPr txBox="1">
              <a:spLocks noChangeArrowheads="1"/>
            </p:cNvSpPr>
            <p:nvPr/>
          </p:nvSpPr>
          <p:spPr bwMode="auto">
            <a:xfrm>
              <a:off x="1631" y="936"/>
              <a:ext cx="1915"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solidFill>
                    <a:srgbClr val="FF3300"/>
                  </a:solidFill>
                </a:rPr>
                <a:t>孔</a:t>
              </a:r>
              <a:r>
                <a:rPr lang="zh-CN" altLang="en-US" sz="3200" b="1"/>
                <a:t>的公差带代号</a:t>
              </a:r>
              <a:endParaRPr lang="zh-CN" altLang="en-US" sz="3200" b="1"/>
            </a:p>
          </p:txBody>
        </p:sp>
        <p:sp>
          <p:nvSpPr>
            <p:cNvPr id="34888" name="Text Box 95"/>
            <p:cNvSpPr txBox="1">
              <a:spLocks noChangeArrowheads="1"/>
            </p:cNvSpPr>
            <p:nvPr/>
          </p:nvSpPr>
          <p:spPr bwMode="auto">
            <a:xfrm>
              <a:off x="1631" y="1269"/>
              <a:ext cx="1915"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solidFill>
                    <a:srgbClr val="FF3300"/>
                  </a:solidFill>
                </a:rPr>
                <a:t>轴</a:t>
              </a:r>
              <a:r>
                <a:rPr lang="zh-CN" altLang="en-US" sz="3200" b="1"/>
                <a:t>的公差带代号</a:t>
              </a:r>
              <a:endParaRPr lang="zh-CN" altLang="en-US" sz="3200" b="1"/>
            </a:p>
          </p:txBody>
        </p:sp>
        <p:sp>
          <p:nvSpPr>
            <p:cNvPr id="34889" name="Line 96"/>
            <p:cNvSpPr>
              <a:spLocks noChangeShapeType="1"/>
            </p:cNvSpPr>
            <p:nvPr/>
          </p:nvSpPr>
          <p:spPr bwMode="auto">
            <a:xfrm>
              <a:off x="1692" y="1308"/>
              <a:ext cx="18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978" name="Group 162"/>
          <p:cNvGrpSpPr/>
          <p:nvPr/>
        </p:nvGrpSpPr>
        <p:grpSpPr bwMode="auto">
          <a:xfrm>
            <a:off x="5337175" y="2874963"/>
            <a:ext cx="3514725" cy="3038475"/>
            <a:chOff x="3362" y="1811"/>
            <a:chExt cx="2214" cy="1914"/>
          </a:xfrm>
        </p:grpSpPr>
        <p:grpSp>
          <p:nvGrpSpPr>
            <p:cNvPr id="34834" name="Group 163"/>
            <p:cNvGrpSpPr/>
            <p:nvPr/>
          </p:nvGrpSpPr>
          <p:grpSpPr bwMode="auto">
            <a:xfrm>
              <a:off x="4786" y="2270"/>
              <a:ext cx="720" cy="404"/>
              <a:chOff x="4786" y="2270"/>
              <a:chExt cx="720" cy="404"/>
            </a:xfrm>
          </p:grpSpPr>
          <p:sp>
            <p:nvSpPr>
              <p:cNvPr id="34883" name="Text Box 164"/>
              <p:cNvSpPr txBox="1">
                <a:spLocks noChangeArrowheads="1"/>
              </p:cNvSpPr>
              <p:nvPr/>
            </p:nvSpPr>
            <p:spPr bwMode="auto">
              <a:xfrm>
                <a:off x="5176" y="2270"/>
                <a:ext cx="31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轴</a:t>
                </a:r>
                <a:endParaRPr lang="zh-CN" altLang="en-US" b="1"/>
              </a:p>
            </p:txBody>
          </p:sp>
          <p:sp>
            <p:nvSpPr>
              <p:cNvPr id="34884" name="Line 165"/>
              <p:cNvSpPr>
                <a:spLocks noChangeShapeType="1"/>
              </p:cNvSpPr>
              <p:nvPr/>
            </p:nvSpPr>
            <p:spPr bwMode="auto">
              <a:xfrm flipV="1">
                <a:off x="4786" y="2539"/>
                <a:ext cx="312" cy="135"/>
              </a:xfrm>
              <a:prstGeom prst="line">
                <a:avLst/>
              </a:prstGeom>
              <a:noFill/>
              <a:ln w="19050">
                <a:solidFill>
                  <a:schemeClr val="tx2"/>
                </a:solidFill>
                <a:round/>
                <a:headEnd type="oval"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85" name="Line 166"/>
              <p:cNvSpPr>
                <a:spLocks noChangeShapeType="1"/>
              </p:cNvSpPr>
              <p:nvPr/>
            </p:nvSpPr>
            <p:spPr bwMode="auto">
              <a:xfrm>
                <a:off x="5100" y="2540"/>
                <a:ext cx="406"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34835" name="Group 167"/>
            <p:cNvGrpSpPr/>
            <p:nvPr/>
          </p:nvGrpSpPr>
          <p:grpSpPr bwMode="auto">
            <a:xfrm>
              <a:off x="4471" y="2774"/>
              <a:ext cx="1095" cy="477"/>
              <a:chOff x="4471" y="2774"/>
              <a:chExt cx="1095" cy="477"/>
            </a:xfrm>
          </p:grpSpPr>
          <p:sp>
            <p:nvSpPr>
              <p:cNvPr id="34880" name="Text Box 168"/>
              <p:cNvSpPr txBox="1">
                <a:spLocks noChangeArrowheads="1"/>
              </p:cNvSpPr>
              <p:nvPr/>
            </p:nvSpPr>
            <p:spPr bwMode="auto">
              <a:xfrm>
                <a:off x="5066" y="2774"/>
                <a:ext cx="5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轴套</a:t>
                </a:r>
                <a:endParaRPr lang="zh-CN" altLang="en-US" b="1"/>
              </a:p>
            </p:txBody>
          </p:sp>
          <p:sp>
            <p:nvSpPr>
              <p:cNvPr id="34881" name="Line 169"/>
              <p:cNvSpPr>
                <a:spLocks noChangeShapeType="1"/>
              </p:cNvSpPr>
              <p:nvPr/>
            </p:nvSpPr>
            <p:spPr bwMode="auto">
              <a:xfrm flipV="1">
                <a:off x="4471" y="3041"/>
                <a:ext cx="631" cy="210"/>
              </a:xfrm>
              <a:prstGeom prst="line">
                <a:avLst/>
              </a:prstGeom>
              <a:noFill/>
              <a:ln w="19050">
                <a:solidFill>
                  <a:schemeClr val="tx2"/>
                </a:solidFill>
                <a:round/>
                <a:headEnd type="oval"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82" name="Line 170"/>
              <p:cNvSpPr>
                <a:spLocks noChangeShapeType="1"/>
              </p:cNvSpPr>
              <p:nvPr/>
            </p:nvSpPr>
            <p:spPr bwMode="auto">
              <a:xfrm>
                <a:off x="5103" y="3043"/>
                <a:ext cx="424"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34836" name="Group 171"/>
            <p:cNvGrpSpPr/>
            <p:nvPr/>
          </p:nvGrpSpPr>
          <p:grpSpPr bwMode="auto">
            <a:xfrm>
              <a:off x="4335" y="1811"/>
              <a:ext cx="1241" cy="474"/>
              <a:chOff x="4335" y="1811"/>
              <a:chExt cx="1241" cy="474"/>
            </a:xfrm>
          </p:grpSpPr>
          <p:sp>
            <p:nvSpPr>
              <p:cNvPr id="34877" name="Text Box 172"/>
              <p:cNvSpPr txBox="1">
                <a:spLocks noChangeArrowheads="1"/>
              </p:cNvSpPr>
              <p:nvPr/>
            </p:nvSpPr>
            <p:spPr bwMode="auto">
              <a:xfrm>
                <a:off x="5076" y="1811"/>
                <a:ext cx="5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箱体</a:t>
                </a:r>
                <a:endParaRPr lang="zh-CN" altLang="en-US" b="1"/>
              </a:p>
            </p:txBody>
          </p:sp>
          <p:sp>
            <p:nvSpPr>
              <p:cNvPr id="34878" name="Line 173"/>
              <p:cNvSpPr>
                <a:spLocks noChangeShapeType="1"/>
              </p:cNvSpPr>
              <p:nvPr/>
            </p:nvSpPr>
            <p:spPr bwMode="auto">
              <a:xfrm flipV="1">
                <a:off x="4335" y="2098"/>
                <a:ext cx="770" cy="187"/>
              </a:xfrm>
              <a:prstGeom prst="line">
                <a:avLst/>
              </a:prstGeom>
              <a:noFill/>
              <a:ln w="19050">
                <a:solidFill>
                  <a:schemeClr val="tx2"/>
                </a:solidFill>
                <a:round/>
                <a:headEnd type="oval"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79" name="Line 174"/>
              <p:cNvSpPr>
                <a:spLocks noChangeShapeType="1"/>
              </p:cNvSpPr>
              <p:nvPr/>
            </p:nvSpPr>
            <p:spPr bwMode="auto">
              <a:xfrm>
                <a:off x="5108" y="2098"/>
                <a:ext cx="425"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34837" name="Group 175"/>
            <p:cNvGrpSpPr/>
            <p:nvPr/>
          </p:nvGrpSpPr>
          <p:grpSpPr bwMode="auto">
            <a:xfrm>
              <a:off x="3362" y="1971"/>
              <a:ext cx="1950" cy="1754"/>
              <a:chOff x="3362" y="1971"/>
              <a:chExt cx="1950" cy="1754"/>
            </a:xfrm>
          </p:grpSpPr>
          <p:grpSp>
            <p:nvGrpSpPr>
              <p:cNvPr id="34838" name="Group 176"/>
              <p:cNvGrpSpPr/>
              <p:nvPr/>
            </p:nvGrpSpPr>
            <p:grpSpPr bwMode="auto">
              <a:xfrm>
                <a:off x="3362" y="1971"/>
                <a:ext cx="1950" cy="1754"/>
                <a:chOff x="3362" y="1971"/>
                <a:chExt cx="1950" cy="1754"/>
              </a:xfrm>
            </p:grpSpPr>
            <p:sp>
              <p:nvSpPr>
                <p:cNvPr id="34841" name="Line 177"/>
                <p:cNvSpPr>
                  <a:spLocks noChangeShapeType="1"/>
                </p:cNvSpPr>
                <p:nvPr/>
              </p:nvSpPr>
              <p:spPr bwMode="auto">
                <a:xfrm>
                  <a:off x="4365" y="2842"/>
                  <a:ext cx="947" cy="0"/>
                </a:xfrm>
                <a:prstGeom prst="line">
                  <a:avLst/>
                </a:prstGeom>
                <a:noFill/>
                <a:ln w="19050">
                  <a:solidFill>
                    <a:schemeClr val="tx2"/>
                  </a:solidFill>
                  <a:prstDash val="lg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42" name="Line 178"/>
                <p:cNvSpPr>
                  <a:spLocks noChangeShapeType="1"/>
                </p:cNvSpPr>
                <p:nvPr/>
              </p:nvSpPr>
              <p:spPr bwMode="auto">
                <a:xfrm flipH="1">
                  <a:off x="3362" y="2842"/>
                  <a:ext cx="346" cy="0"/>
                </a:xfrm>
                <a:prstGeom prst="line">
                  <a:avLst/>
                </a:prstGeom>
                <a:noFill/>
                <a:ln w="1905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43" name="Line 179"/>
                <p:cNvSpPr>
                  <a:spLocks noChangeShapeType="1"/>
                </p:cNvSpPr>
                <p:nvPr/>
              </p:nvSpPr>
              <p:spPr bwMode="auto">
                <a:xfrm>
                  <a:off x="3971" y="2842"/>
                  <a:ext cx="144" cy="0"/>
                </a:xfrm>
                <a:prstGeom prst="line">
                  <a:avLst/>
                </a:prstGeom>
                <a:noFill/>
                <a:ln w="1905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44" name="Line 180"/>
                <p:cNvSpPr>
                  <a:spLocks noChangeShapeType="1"/>
                </p:cNvSpPr>
                <p:nvPr/>
              </p:nvSpPr>
              <p:spPr bwMode="auto">
                <a:xfrm>
                  <a:off x="3440" y="2542"/>
                  <a:ext cx="1181" cy="0"/>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45" name="Line 181"/>
                <p:cNvSpPr>
                  <a:spLocks noChangeShapeType="1"/>
                </p:cNvSpPr>
                <p:nvPr/>
              </p:nvSpPr>
              <p:spPr bwMode="auto">
                <a:xfrm>
                  <a:off x="3440" y="3141"/>
                  <a:ext cx="1181" cy="0"/>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46" name="Freeform 182"/>
                <p:cNvSpPr/>
                <p:nvPr/>
              </p:nvSpPr>
              <p:spPr bwMode="auto">
                <a:xfrm>
                  <a:off x="4621" y="2339"/>
                  <a:ext cx="347" cy="1"/>
                </a:xfrm>
                <a:custGeom>
                  <a:avLst/>
                  <a:gdLst>
                    <a:gd name="T0" fmla="*/ 0 w 347"/>
                    <a:gd name="T1" fmla="*/ 0 h 1"/>
                    <a:gd name="T2" fmla="*/ 347 w 347"/>
                    <a:gd name="T3" fmla="*/ 1 h 1"/>
                    <a:gd name="T4" fmla="*/ 0 60000 65536"/>
                    <a:gd name="T5" fmla="*/ 0 60000 65536"/>
                  </a:gdLst>
                  <a:ahLst/>
                  <a:cxnLst>
                    <a:cxn ang="T4">
                      <a:pos x="T0" y="T1"/>
                    </a:cxn>
                    <a:cxn ang="T5">
                      <a:pos x="T2" y="T3"/>
                    </a:cxn>
                  </a:cxnLst>
                  <a:rect l="0" t="0" r="r" b="b"/>
                  <a:pathLst>
                    <a:path w="347" h="1">
                      <a:moveTo>
                        <a:pt x="0" y="0"/>
                      </a:moveTo>
                      <a:lnTo>
                        <a:pt x="347" y="1"/>
                      </a:lnTo>
                    </a:path>
                  </a:pathLst>
                </a:custGeom>
                <a:noFill/>
                <a:ln w="38100">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47" name="Line 183"/>
                <p:cNvSpPr>
                  <a:spLocks noChangeShapeType="1"/>
                </p:cNvSpPr>
                <p:nvPr/>
              </p:nvSpPr>
              <p:spPr bwMode="auto">
                <a:xfrm>
                  <a:off x="4621" y="3353"/>
                  <a:ext cx="346" cy="0"/>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48" name="Line 184"/>
                <p:cNvSpPr>
                  <a:spLocks noChangeShapeType="1"/>
                </p:cNvSpPr>
                <p:nvPr/>
              </p:nvSpPr>
              <p:spPr bwMode="auto">
                <a:xfrm>
                  <a:off x="4621" y="1997"/>
                  <a:ext cx="0" cy="1691"/>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49" name="Line 185"/>
                <p:cNvSpPr>
                  <a:spLocks noChangeShapeType="1"/>
                </p:cNvSpPr>
                <p:nvPr/>
              </p:nvSpPr>
              <p:spPr bwMode="auto">
                <a:xfrm>
                  <a:off x="3725" y="1985"/>
                  <a:ext cx="0" cy="559"/>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50" name="Line 186"/>
                <p:cNvSpPr>
                  <a:spLocks noChangeShapeType="1"/>
                </p:cNvSpPr>
                <p:nvPr/>
              </p:nvSpPr>
              <p:spPr bwMode="auto">
                <a:xfrm>
                  <a:off x="3725" y="3141"/>
                  <a:ext cx="0" cy="561"/>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51" name="Freeform 187"/>
                <p:cNvSpPr/>
                <p:nvPr/>
              </p:nvSpPr>
              <p:spPr bwMode="auto">
                <a:xfrm>
                  <a:off x="3725" y="2376"/>
                  <a:ext cx="739" cy="8"/>
                </a:xfrm>
                <a:custGeom>
                  <a:avLst/>
                  <a:gdLst>
                    <a:gd name="T0" fmla="*/ 0 w 739"/>
                    <a:gd name="T1" fmla="*/ 8 h 8"/>
                    <a:gd name="T2" fmla="*/ 739 w 739"/>
                    <a:gd name="T3" fmla="*/ 0 h 8"/>
                    <a:gd name="T4" fmla="*/ 0 60000 65536"/>
                    <a:gd name="T5" fmla="*/ 0 60000 65536"/>
                  </a:gdLst>
                  <a:ahLst/>
                  <a:cxnLst>
                    <a:cxn ang="T4">
                      <a:pos x="T0" y="T1"/>
                    </a:cxn>
                    <a:cxn ang="T5">
                      <a:pos x="T2" y="T3"/>
                    </a:cxn>
                  </a:cxnLst>
                  <a:rect l="0" t="0" r="r" b="b"/>
                  <a:pathLst>
                    <a:path w="739" h="8">
                      <a:moveTo>
                        <a:pt x="0" y="8"/>
                      </a:moveTo>
                      <a:lnTo>
                        <a:pt x="739" y="0"/>
                      </a:lnTo>
                    </a:path>
                  </a:pathLst>
                </a:custGeom>
                <a:noFill/>
                <a:ln w="3810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52" name="Line 188"/>
                <p:cNvSpPr>
                  <a:spLocks noChangeShapeType="1"/>
                </p:cNvSpPr>
                <p:nvPr/>
              </p:nvSpPr>
              <p:spPr bwMode="auto">
                <a:xfrm>
                  <a:off x="3725" y="3304"/>
                  <a:ext cx="742" cy="0"/>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53" name="Line 189"/>
                <p:cNvSpPr>
                  <a:spLocks noChangeShapeType="1"/>
                </p:cNvSpPr>
                <p:nvPr/>
              </p:nvSpPr>
              <p:spPr bwMode="auto">
                <a:xfrm>
                  <a:off x="4467" y="2376"/>
                  <a:ext cx="154" cy="0"/>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54" name="Line 190"/>
                <p:cNvSpPr>
                  <a:spLocks noChangeShapeType="1"/>
                </p:cNvSpPr>
                <p:nvPr/>
              </p:nvSpPr>
              <p:spPr bwMode="auto">
                <a:xfrm>
                  <a:off x="4467" y="3307"/>
                  <a:ext cx="154" cy="0"/>
                </a:xfrm>
                <a:prstGeom prst="line">
                  <a:avLst/>
                </a:prstGeom>
                <a:noFill/>
                <a:ln w="3810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55" name="Freeform 191"/>
                <p:cNvSpPr/>
                <p:nvPr/>
              </p:nvSpPr>
              <p:spPr bwMode="auto">
                <a:xfrm>
                  <a:off x="4460" y="2381"/>
                  <a:ext cx="163" cy="163"/>
                </a:xfrm>
                <a:custGeom>
                  <a:avLst/>
                  <a:gdLst>
                    <a:gd name="T0" fmla="*/ 0 w 163"/>
                    <a:gd name="T1" fmla="*/ 0 h 163"/>
                    <a:gd name="T2" fmla="*/ 163 w 163"/>
                    <a:gd name="T3" fmla="*/ 163 h 163"/>
                    <a:gd name="T4" fmla="*/ 0 60000 65536"/>
                    <a:gd name="T5" fmla="*/ 0 60000 65536"/>
                  </a:gdLst>
                  <a:ahLst/>
                  <a:cxnLst>
                    <a:cxn ang="T4">
                      <a:pos x="T0" y="T1"/>
                    </a:cxn>
                    <a:cxn ang="T5">
                      <a:pos x="T2" y="T3"/>
                    </a:cxn>
                  </a:cxnLst>
                  <a:rect l="0" t="0" r="r" b="b"/>
                  <a:pathLst>
                    <a:path w="163" h="163">
                      <a:moveTo>
                        <a:pt x="0" y="0"/>
                      </a:moveTo>
                      <a:lnTo>
                        <a:pt x="163" y="163"/>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56" name="Freeform 192"/>
                <p:cNvSpPr/>
                <p:nvPr/>
              </p:nvSpPr>
              <p:spPr bwMode="auto">
                <a:xfrm>
                  <a:off x="4306" y="2386"/>
                  <a:ext cx="158" cy="158"/>
                </a:xfrm>
                <a:custGeom>
                  <a:avLst/>
                  <a:gdLst>
                    <a:gd name="T0" fmla="*/ 0 w 158"/>
                    <a:gd name="T1" fmla="*/ 0 h 158"/>
                    <a:gd name="T2" fmla="*/ 158 w 158"/>
                    <a:gd name="T3" fmla="*/ 158 h 158"/>
                    <a:gd name="T4" fmla="*/ 0 60000 65536"/>
                    <a:gd name="T5" fmla="*/ 0 60000 65536"/>
                  </a:gdLst>
                  <a:ahLst/>
                  <a:cxnLst>
                    <a:cxn ang="T4">
                      <a:pos x="T0" y="T1"/>
                    </a:cxn>
                    <a:cxn ang="T5">
                      <a:pos x="T2" y="T3"/>
                    </a:cxn>
                  </a:cxnLst>
                  <a:rect l="0" t="0" r="r" b="b"/>
                  <a:pathLst>
                    <a:path w="158" h="158">
                      <a:moveTo>
                        <a:pt x="0" y="0"/>
                      </a:moveTo>
                      <a:lnTo>
                        <a:pt x="158" y="158"/>
                      </a:lnTo>
                    </a:path>
                  </a:pathLst>
                </a:custGeom>
                <a:noFill/>
                <a:ln w="1905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57" name="Line 193"/>
                <p:cNvSpPr>
                  <a:spLocks noChangeShapeType="1"/>
                </p:cNvSpPr>
                <p:nvPr/>
              </p:nvSpPr>
              <p:spPr bwMode="auto">
                <a:xfrm>
                  <a:off x="3964" y="2384"/>
                  <a:ext cx="159" cy="160"/>
                </a:xfrm>
                <a:prstGeom prst="line">
                  <a:avLst/>
                </a:prstGeom>
                <a:noFill/>
                <a:ln w="1905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58" name="Freeform 194"/>
                <p:cNvSpPr/>
                <p:nvPr/>
              </p:nvSpPr>
              <p:spPr bwMode="auto">
                <a:xfrm>
                  <a:off x="4131" y="2386"/>
                  <a:ext cx="172" cy="172"/>
                </a:xfrm>
                <a:custGeom>
                  <a:avLst/>
                  <a:gdLst>
                    <a:gd name="T0" fmla="*/ 0 w 172"/>
                    <a:gd name="T1" fmla="*/ 0 h 172"/>
                    <a:gd name="T2" fmla="*/ 172 w 172"/>
                    <a:gd name="T3" fmla="*/ 172 h 172"/>
                    <a:gd name="T4" fmla="*/ 0 60000 65536"/>
                    <a:gd name="T5" fmla="*/ 0 60000 65536"/>
                  </a:gdLst>
                  <a:ahLst/>
                  <a:cxnLst>
                    <a:cxn ang="T4">
                      <a:pos x="T0" y="T1"/>
                    </a:cxn>
                    <a:cxn ang="T5">
                      <a:pos x="T2" y="T3"/>
                    </a:cxn>
                  </a:cxnLst>
                  <a:rect l="0" t="0" r="r" b="b"/>
                  <a:pathLst>
                    <a:path w="172" h="172">
                      <a:moveTo>
                        <a:pt x="0" y="0"/>
                      </a:moveTo>
                      <a:lnTo>
                        <a:pt x="172" y="172"/>
                      </a:lnTo>
                    </a:path>
                  </a:pathLst>
                </a:custGeom>
                <a:noFill/>
                <a:ln w="1905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59" name="Freeform 195"/>
                <p:cNvSpPr/>
                <p:nvPr/>
              </p:nvSpPr>
              <p:spPr bwMode="auto">
                <a:xfrm>
                  <a:off x="3802" y="2381"/>
                  <a:ext cx="163" cy="163"/>
                </a:xfrm>
                <a:custGeom>
                  <a:avLst/>
                  <a:gdLst>
                    <a:gd name="T0" fmla="*/ 0 w 163"/>
                    <a:gd name="T1" fmla="*/ 0 h 163"/>
                    <a:gd name="T2" fmla="*/ 163 w 163"/>
                    <a:gd name="T3" fmla="*/ 163 h 163"/>
                    <a:gd name="T4" fmla="*/ 0 60000 65536"/>
                    <a:gd name="T5" fmla="*/ 0 60000 65536"/>
                  </a:gdLst>
                  <a:ahLst/>
                  <a:cxnLst>
                    <a:cxn ang="T4">
                      <a:pos x="T0" y="T1"/>
                    </a:cxn>
                    <a:cxn ang="T5">
                      <a:pos x="T2" y="T3"/>
                    </a:cxn>
                  </a:cxnLst>
                  <a:rect l="0" t="0" r="r" b="b"/>
                  <a:pathLst>
                    <a:path w="163" h="163">
                      <a:moveTo>
                        <a:pt x="0" y="0"/>
                      </a:moveTo>
                      <a:lnTo>
                        <a:pt x="163" y="163"/>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0" name="Freeform 196"/>
                <p:cNvSpPr/>
                <p:nvPr/>
              </p:nvSpPr>
              <p:spPr bwMode="auto">
                <a:xfrm>
                  <a:off x="3730" y="2472"/>
                  <a:ext cx="73" cy="72"/>
                </a:xfrm>
                <a:custGeom>
                  <a:avLst/>
                  <a:gdLst>
                    <a:gd name="T0" fmla="*/ 0 w 73"/>
                    <a:gd name="T1" fmla="*/ 0 h 72"/>
                    <a:gd name="T2" fmla="*/ 73 w 73"/>
                    <a:gd name="T3" fmla="*/ 72 h 72"/>
                    <a:gd name="T4" fmla="*/ 0 60000 65536"/>
                    <a:gd name="T5" fmla="*/ 0 60000 65536"/>
                  </a:gdLst>
                  <a:ahLst/>
                  <a:cxnLst>
                    <a:cxn ang="T4">
                      <a:pos x="T0" y="T1"/>
                    </a:cxn>
                    <a:cxn ang="T5">
                      <a:pos x="T2" y="T3"/>
                    </a:cxn>
                  </a:cxnLst>
                  <a:rect l="0" t="0" r="r" b="b"/>
                  <a:pathLst>
                    <a:path w="73" h="72">
                      <a:moveTo>
                        <a:pt x="0" y="0"/>
                      </a:moveTo>
                      <a:lnTo>
                        <a:pt x="73" y="72"/>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1" name="Line 197"/>
                <p:cNvSpPr>
                  <a:spLocks noChangeShapeType="1"/>
                </p:cNvSpPr>
                <p:nvPr/>
              </p:nvSpPr>
              <p:spPr bwMode="auto">
                <a:xfrm>
                  <a:off x="3721" y="3193"/>
                  <a:ext cx="106" cy="107"/>
                </a:xfrm>
                <a:prstGeom prst="line">
                  <a:avLst/>
                </a:prstGeom>
                <a:noFill/>
                <a:ln w="1905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2" name="Freeform 198"/>
                <p:cNvSpPr/>
                <p:nvPr/>
              </p:nvSpPr>
              <p:spPr bwMode="auto">
                <a:xfrm>
                  <a:off x="3821" y="3149"/>
                  <a:ext cx="154" cy="153"/>
                </a:xfrm>
                <a:custGeom>
                  <a:avLst/>
                  <a:gdLst>
                    <a:gd name="T0" fmla="*/ 0 w 154"/>
                    <a:gd name="T1" fmla="*/ 0 h 153"/>
                    <a:gd name="T2" fmla="*/ 154 w 154"/>
                    <a:gd name="T3" fmla="*/ 153 h 153"/>
                    <a:gd name="T4" fmla="*/ 0 60000 65536"/>
                    <a:gd name="T5" fmla="*/ 0 60000 65536"/>
                  </a:gdLst>
                  <a:ahLst/>
                  <a:cxnLst>
                    <a:cxn ang="T4">
                      <a:pos x="T0" y="T1"/>
                    </a:cxn>
                    <a:cxn ang="T5">
                      <a:pos x="T2" y="T3"/>
                    </a:cxn>
                  </a:cxnLst>
                  <a:rect l="0" t="0" r="r" b="b"/>
                  <a:pathLst>
                    <a:path w="154" h="153">
                      <a:moveTo>
                        <a:pt x="0" y="0"/>
                      </a:moveTo>
                      <a:lnTo>
                        <a:pt x="154" y="153"/>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3" name="Freeform 199"/>
                <p:cNvSpPr/>
                <p:nvPr/>
              </p:nvSpPr>
              <p:spPr bwMode="auto">
                <a:xfrm>
                  <a:off x="3975" y="3134"/>
                  <a:ext cx="169" cy="168"/>
                </a:xfrm>
                <a:custGeom>
                  <a:avLst/>
                  <a:gdLst>
                    <a:gd name="T0" fmla="*/ 0 w 169"/>
                    <a:gd name="T1" fmla="*/ 0 h 168"/>
                    <a:gd name="T2" fmla="*/ 169 w 169"/>
                    <a:gd name="T3" fmla="*/ 168 h 168"/>
                    <a:gd name="T4" fmla="*/ 0 60000 65536"/>
                    <a:gd name="T5" fmla="*/ 0 60000 65536"/>
                  </a:gdLst>
                  <a:ahLst/>
                  <a:cxnLst>
                    <a:cxn ang="T4">
                      <a:pos x="T0" y="T1"/>
                    </a:cxn>
                    <a:cxn ang="T5">
                      <a:pos x="T2" y="T3"/>
                    </a:cxn>
                  </a:cxnLst>
                  <a:rect l="0" t="0" r="r" b="b"/>
                  <a:pathLst>
                    <a:path w="169" h="168">
                      <a:moveTo>
                        <a:pt x="0" y="0"/>
                      </a:moveTo>
                      <a:lnTo>
                        <a:pt x="169" y="168"/>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4" name="Line 200"/>
                <p:cNvSpPr>
                  <a:spLocks noChangeShapeType="1"/>
                </p:cNvSpPr>
                <p:nvPr/>
              </p:nvSpPr>
              <p:spPr bwMode="auto">
                <a:xfrm>
                  <a:off x="4149" y="3143"/>
                  <a:ext cx="159" cy="159"/>
                </a:xfrm>
                <a:prstGeom prst="line">
                  <a:avLst/>
                </a:prstGeom>
                <a:noFill/>
                <a:ln w="1905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5" name="Freeform 201"/>
                <p:cNvSpPr/>
                <p:nvPr/>
              </p:nvSpPr>
              <p:spPr bwMode="auto">
                <a:xfrm>
                  <a:off x="4469" y="3144"/>
                  <a:ext cx="154" cy="154"/>
                </a:xfrm>
                <a:custGeom>
                  <a:avLst/>
                  <a:gdLst>
                    <a:gd name="T0" fmla="*/ 0 w 154"/>
                    <a:gd name="T1" fmla="*/ 0 h 154"/>
                    <a:gd name="T2" fmla="*/ 154 w 154"/>
                    <a:gd name="T3" fmla="*/ 154 h 154"/>
                    <a:gd name="T4" fmla="*/ 0 60000 65536"/>
                    <a:gd name="T5" fmla="*/ 0 60000 65536"/>
                  </a:gdLst>
                  <a:ahLst/>
                  <a:cxnLst>
                    <a:cxn ang="T4">
                      <a:pos x="T0" y="T1"/>
                    </a:cxn>
                    <a:cxn ang="T5">
                      <a:pos x="T2" y="T3"/>
                    </a:cxn>
                  </a:cxnLst>
                  <a:rect l="0" t="0" r="r" b="b"/>
                  <a:pathLst>
                    <a:path w="154" h="154">
                      <a:moveTo>
                        <a:pt x="0" y="0"/>
                      </a:moveTo>
                      <a:lnTo>
                        <a:pt x="154" y="154"/>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6" name="Freeform 202"/>
                <p:cNvSpPr/>
                <p:nvPr/>
              </p:nvSpPr>
              <p:spPr bwMode="auto">
                <a:xfrm>
                  <a:off x="3720" y="1978"/>
                  <a:ext cx="404" cy="403"/>
                </a:xfrm>
                <a:custGeom>
                  <a:avLst/>
                  <a:gdLst>
                    <a:gd name="T0" fmla="*/ 0 w 404"/>
                    <a:gd name="T1" fmla="*/ 403 h 403"/>
                    <a:gd name="T2" fmla="*/ 404 w 404"/>
                    <a:gd name="T3" fmla="*/ 0 h 403"/>
                    <a:gd name="T4" fmla="*/ 0 60000 65536"/>
                    <a:gd name="T5" fmla="*/ 0 60000 65536"/>
                  </a:gdLst>
                  <a:ahLst/>
                  <a:cxnLst>
                    <a:cxn ang="T4">
                      <a:pos x="T0" y="T1"/>
                    </a:cxn>
                    <a:cxn ang="T5">
                      <a:pos x="T2" y="T3"/>
                    </a:cxn>
                  </a:cxnLst>
                  <a:rect l="0" t="0" r="r" b="b"/>
                  <a:pathLst>
                    <a:path w="404" h="403">
                      <a:moveTo>
                        <a:pt x="0" y="403"/>
                      </a:moveTo>
                      <a:lnTo>
                        <a:pt x="404" y="0"/>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7" name="Line 203"/>
                <p:cNvSpPr>
                  <a:spLocks noChangeShapeType="1"/>
                </p:cNvSpPr>
                <p:nvPr/>
              </p:nvSpPr>
              <p:spPr bwMode="auto">
                <a:xfrm flipV="1">
                  <a:off x="3726" y="1971"/>
                  <a:ext cx="189" cy="195"/>
                </a:xfrm>
                <a:prstGeom prst="line">
                  <a:avLst/>
                </a:prstGeom>
                <a:noFill/>
                <a:ln w="1905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68" name="Freeform 204"/>
                <p:cNvSpPr/>
                <p:nvPr/>
              </p:nvSpPr>
              <p:spPr bwMode="auto">
                <a:xfrm>
                  <a:off x="3924" y="1985"/>
                  <a:ext cx="398" cy="399"/>
                </a:xfrm>
                <a:custGeom>
                  <a:avLst/>
                  <a:gdLst>
                    <a:gd name="T0" fmla="*/ 0 w 288"/>
                    <a:gd name="T1" fmla="*/ 399 h 288"/>
                    <a:gd name="T2" fmla="*/ 398 w 288"/>
                    <a:gd name="T3" fmla="*/ 0 h 288"/>
                    <a:gd name="T4" fmla="*/ 0 60000 65536"/>
                    <a:gd name="T5" fmla="*/ 0 60000 65536"/>
                  </a:gdLst>
                  <a:ahLst/>
                  <a:cxnLst>
                    <a:cxn ang="T4">
                      <a:pos x="T0" y="T1"/>
                    </a:cxn>
                    <a:cxn ang="T5">
                      <a:pos x="T2" y="T3"/>
                    </a:cxn>
                  </a:cxnLst>
                  <a:rect l="0" t="0" r="r" b="b"/>
                  <a:pathLst>
                    <a:path w="288" h="288">
                      <a:moveTo>
                        <a:pt x="0" y="288"/>
                      </a:moveTo>
                      <a:lnTo>
                        <a:pt x="288" y="0"/>
                      </a:lnTo>
                    </a:path>
                  </a:pathLst>
                </a:custGeom>
                <a:noFill/>
                <a:ln w="1905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69" name="Freeform 205"/>
                <p:cNvSpPr/>
                <p:nvPr/>
              </p:nvSpPr>
              <p:spPr bwMode="auto">
                <a:xfrm>
                  <a:off x="4138" y="1999"/>
                  <a:ext cx="390" cy="387"/>
                </a:xfrm>
                <a:custGeom>
                  <a:avLst/>
                  <a:gdLst>
                    <a:gd name="T0" fmla="*/ 0 w 390"/>
                    <a:gd name="T1" fmla="*/ 387 h 387"/>
                    <a:gd name="T2" fmla="*/ 390 w 390"/>
                    <a:gd name="T3" fmla="*/ 0 h 387"/>
                    <a:gd name="T4" fmla="*/ 0 60000 65536"/>
                    <a:gd name="T5" fmla="*/ 0 60000 65536"/>
                  </a:gdLst>
                  <a:ahLst/>
                  <a:cxnLst>
                    <a:cxn ang="T4">
                      <a:pos x="T0" y="T1"/>
                    </a:cxn>
                    <a:cxn ang="T5">
                      <a:pos x="T2" y="T3"/>
                    </a:cxn>
                  </a:cxnLst>
                  <a:rect l="0" t="0" r="r" b="b"/>
                  <a:pathLst>
                    <a:path w="390" h="387">
                      <a:moveTo>
                        <a:pt x="0" y="387"/>
                      </a:moveTo>
                      <a:lnTo>
                        <a:pt x="390" y="0"/>
                      </a:lnTo>
                    </a:path>
                  </a:pathLst>
                </a:custGeom>
                <a:noFill/>
                <a:ln w="1905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70" name="Freeform 206"/>
                <p:cNvSpPr/>
                <p:nvPr/>
              </p:nvSpPr>
              <p:spPr bwMode="auto">
                <a:xfrm>
                  <a:off x="4374" y="2143"/>
                  <a:ext cx="231" cy="227"/>
                </a:xfrm>
                <a:custGeom>
                  <a:avLst/>
                  <a:gdLst>
                    <a:gd name="T0" fmla="*/ 0 w 87"/>
                    <a:gd name="T1" fmla="*/ 227 h 86"/>
                    <a:gd name="T2" fmla="*/ 231 w 87"/>
                    <a:gd name="T3" fmla="*/ 0 h 86"/>
                    <a:gd name="T4" fmla="*/ 0 60000 65536"/>
                    <a:gd name="T5" fmla="*/ 0 60000 65536"/>
                  </a:gdLst>
                  <a:ahLst/>
                  <a:cxnLst>
                    <a:cxn ang="T4">
                      <a:pos x="T0" y="T1"/>
                    </a:cxn>
                    <a:cxn ang="T5">
                      <a:pos x="T2" y="T3"/>
                    </a:cxn>
                  </a:cxnLst>
                  <a:rect l="0" t="0" r="r" b="b"/>
                  <a:pathLst>
                    <a:path w="87" h="86">
                      <a:moveTo>
                        <a:pt x="0" y="86"/>
                      </a:moveTo>
                      <a:lnTo>
                        <a:pt x="87" y="0"/>
                      </a:lnTo>
                    </a:path>
                  </a:pathLst>
                </a:custGeom>
                <a:noFill/>
                <a:ln w="1905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71" name="Freeform 207"/>
                <p:cNvSpPr/>
                <p:nvPr/>
              </p:nvSpPr>
              <p:spPr bwMode="auto">
                <a:xfrm>
                  <a:off x="3720" y="3312"/>
                  <a:ext cx="384" cy="384"/>
                </a:xfrm>
                <a:custGeom>
                  <a:avLst/>
                  <a:gdLst>
                    <a:gd name="T0" fmla="*/ 0 w 384"/>
                    <a:gd name="T1" fmla="*/ 384 h 384"/>
                    <a:gd name="T2" fmla="*/ 384 w 384"/>
                    <a:gd name="T3" fmla="*/ 0 h 384"/>
                    <a:gd name="T4" fmla="*/ 0 60000 65536"/>
                    <a:gd name="T5" fmla="*/ 0 60000 65536"/>
                  </a:gdLst>
                  <a:ahLst/>
                  <a:cxnLst>
                    <a:cxn ang="T4">
                      <a:pos x="T0" y="T1"/>
                    </a:cxn>
                    <a:cxn ang="T5">
                      <a:pos x="T2" y="T3"/>
                    </a:cxn>
                  </a:cxnLst>
                  <a:rect l="0" t="0" r="r" b="b"/>
                  <a:pathLst>
                    <a:path w="384" h="384">
                      <a:moveTo>
                        <a:pt x="0" y="384"/>
                      </a:moveTo>
                      <a:lnTo>
                        <a:pt x="384" y="0"/>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72" name="Freeform 208"/>
                <p:cNvSpPr/>
                <p:nvPr/>
              </p:nvSpPr>
              <p:spPr bwMode="auto">
                <a:xfrm>
                  <a:off x="3725" y="3298"/>
                  <a:ext cx="178" cy="178"/>
                </a:xfrm>
                <a:custGeom>
                  <a:avLst/>
                  <a:gdLst>
                    <a:gd name="T0" fmla="*/ 0 w 178"/>
                    <a:gd name="T1" fmla="*/ 178 h 178"/>
                    <a:gd name="T2" fmla="*/ 178 w 178"/>
                    <a:gd name="T3" fmla="*/ 0 h 178"/>
                    <a:gd name="T4" fmla="*/ 0 60000 65536"/>
                    <a:gd name="T5" fmla="*/ 0 60000 65536"/>
                  </a:gdLst>
                  <a:ahLst/>
                  <a:cxnLst>
                    <a:cxn ang="T4">
                      <a:pos x="T0" y="T1"/>
                    </a:cxn>
                    <a:cxn ang="T5">
                      <a:pos x="T2" y="T3"/>
                    </a:cxn>
                  </a:cxnLst>
                  <a:rect l="0" t="0" r="r" b="b"/>
                  <a:pathLst>
                    <a:path w="178" h="178">
                      <a:moveTo>
                        <a:pt x="0" y="178"/>
                      </a:moveTo>
                      <a:lnTo>
                        <a:pt x="178" y="0"/>
                      </a:lnTo>
                    </a:path>
                  </a:pathLst>
                </a:custGeom>
                <a:noFill/>
                <a:ln w="1905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73" name="Freeform 209"/>
                <p:cNvSpPr/>
                <p:nvPr/>
              </p:nvSpPr>
              <p:spPr bwMode="auto">
                <a:xfrm>
                  <a:off x="3908" y="3302"/>
                  <a:ext cx="417" cy="418"/>
                </a:xfrm>
                <a:custGeom>
                  <a:avLst/>
                  <a:gdLst>
                    <a:gd name="T0" fmla="*/ 417 w 417"/>
                    <a:gd name="T1" fmla="*/ 0 h 418"/>
                    <a:gd name="T2" fmla="*/ 0 w 417"/>
                    <a:gd name="T3" fmla="*/ 418 h 418"/>
                    <a:gd name="T4" fmla="*/ 0 60000 65536"/>
                    <a:gd name="T5" fmla="*/ 0 60000 65536"/>
                  </a:gdLst>
                  <a:ahLst/>
                  <a:cxnLst>
                    <a:cxn ang="T4">
                      <a:pos x="T0" y="T1"/>
                    </a:cxn>
                    <a:cxn ang="T5">
                      <a:pos x="T2" y="T3"/>
                    </a:cxn>
                  </a:cxnLst>
                  <a:rect l="0" t="0" r="r" b="b"/>
                  <a:pathLst>
                    <a:path w="417" h="418">
                      <a:moveTo>
                        <a:pt x="417" y="0"/>
                      </a:moveTo>
                      <a:lnTo>
                        <a:pt x="0" y="418"/>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74" name="Freeform 210"/>
                <p:cNvSpPr/>
                <p:nvPr/>
              </p:nvSpPr>
              <p:spPr bwMode="auto">
                <a:xfrm>
                  <a:off x="4128" y="3320"/>
                  <a:ext cx="415" cy="405"/>
                </a:xfrm>
                <a:custGeom>
                  <a:avLst/>
                  <a:gdLst>
                    <a:gd name="T0" fmla="*/ 415 w 415"/>
                    <a:gd name="T1" fmla="*/ 0 h 405"/>
                    <a:gd name="T2" fmla="*/ 0 w 415"/>
                    <a:gd name="T3" fmla="*/ 405 h 405"/>
                    <a:gd name="T4" fmla="*/ 0 60000 65536"/>
                    <a:gd name="T5" fmla="*/ 0 60000 65536"/>
                  </a:gdLst>
                  <a:ahLst/>
                  <a:cxnLst>
                    <a:cxn ang="T4">
                      <a:pos x="T0" y="T1"/>
                    </a:cxn>
                    <a:cxn ang="T5">
                      <a:pos x="T2" y="T3"/>
                    </a:cxn>
                  </a:cxnLst>
                  <a:rect l="0" t="0" r="r" b="b"/>
                  <a:pathLst>
                    <a:path w="415" h="405">
                      <a:moveTo>
                        <a:pt x="415" y="0"/>
                      </a:moveTo>
                      <a:lnTo>
                        <a:pt x="0" y="405"/>
                      </a:lnTo>
                    </a:path>
                  </a:pathLst>
                </a:custGeom>
                <a:noFill/>
                <a:ln w="19050" cap="flat" cmpd="sng">
                  <a:solidFill>
                    <a:schemeClr val="tx2"/>
                  </a:solidFill>
                  <a:prstDash val="solid"/>
                  <a:round/>
                  <a:headEnd type="none" w="med" len="me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4875" name="Freeform 211"/>
                <p:cNvSpPr/>
                <p:nvPr/>
              </p:nvSpPr>
              <p:spPr bwMode="auto">
                <a:xfrm>
                  <a:off x="4364" y="3442"/>
                  <a:ext cx="257" cy="268"/>
                </a:xfrm>
                <a:custGeom>
                  <a:avLst/>
                  <a:gdLst>
                    <a:gd name="T0" fmla="*/ 257 w 257"/>
                    <a:gd name="T1" fmla="*/ 0 h 268"/>
                    <a:gd name="T2" fmla="*/ 0 w 257"/>
                    <a:gd name="T3" fmla="*/ 268 h 268"/>
                    <a:gd name="T4" fmla="*/ 0 60000 65536"/>
                    <a:gd name="T5" fmla="*/ 0 60000 65536"/>
                  </a:gdLst>
                  <a:ahLst/>
                  <a:cxnLst>
                    <a:cxn ang="T4">
                      <a:pos x="T0" y="T1"/>
                    </a:cxn>
                    <a:cxn ang="T5">
                      <a:pos x="T2" y="T3"/>
                    </a:cxn>
                  </a:cxnLst>
                  <a:rect l="0" t="0" r="r" b="b"/>
                  <a:pathLst>
                    <a:path w="257" h="268">
                      <a:moveTo>
                        <a:pt x="257" y="0"/>
                      </a:moveTo>
                      <a:lnTo>
                        <a:pt x="0" y="268"/>
                      </a:lnTo>
                    </a:path>
                  </a:pathLst>
                </a:custGeom>
                <a:noFill/>
                <a:ln w="19050" cmpd="sng">
                  <a:solidFill>
                    <a:schemeClr val="tx2"/>
                  </a:solidFill>
                  <a:round/>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4876" name="Line 212"/>
                <p:cNvSpPr>
                  <a:spLocks noChangeShapeType="1"/>
                </p:cNvSpPr>
                <p:nvPr/>
              </p:nvSpPr>
              <p:spPr bwMode="auto">
                <a:xfrm flipH="1">
                  <a:off x="4547" y="3635"/>
                  <a:ext cx="67" cy="67"/>
                </a:xfrm>
                <a:prstGeom prst="line">
                  <a:avLst/>
                </a:prstGeom>
                <a:noFill/>
                <a:ln w="19050">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34839" name="Freeform 213"/>
              <p:cNvSpPr/>
              <p:nvPr/>
            </p:nvSpPr>
            <p:spPr bwMode="auto">
              <a:xfrm>
                <a:off x="3423" y="2537"/>
                <a:ext cx="32" cy="611"/>
              </a:xfrm>
              <a:custGeom>
                <a:avLst/>
                <a:gdLst>
                  <a:gd name="T0" fmla="*/ 20 w 32"/>
                  <a:gd name="T1" fmla="*/ 0 h 611"/>
                  <a:gd name="T2" fmla="*/ 3 w 32"/>
                  <a:gd name="T3" fmla="*/ 81 h 611"/>
                  <a:gd name="T4" fmla="*/ 26 w 32"/>
                  <a:gd name="T5" fmla="*/ 203 h 611"/>
                  <a:gd name="T6" fmla="*/ 3 w 32"/>
                  <a:gd name="T7" fmla="*/ 349 h 611"/>
                  <a:gd name="T8" fmla="*/ 32 w 32"/>
                  <a:gd name="T9" fmla="*/ 436 h 611"/>
                  <a:gd name="T10" fmla="*/ 3 w 32"/>
                  <a:gd name="T11" fmla="*/ 523 h 611"/>
                  <a:gd name="T12" fmla="*/ 15 w 32"/>
                  <a:gd name="T13" fmla="*/ 611 h 6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611">
                    <a:moveTo>
                      <a:pt x="20" y="0"/>
                    </a:moveTo>
                    <a:cubicBezTo>
                      <a:pt x="11" y="23"/>
                      <a:pt x="2" y="47"/>
                      <a:pt x="3" y="81"/>
                    </a:cubicBezTo>
                    <a:cubicBezTo>
                      <a:pt x="4" y="115"/>
                      <a:pt x="26" y="158"/>
                      <a:pt x="26" y="203"/>
                    </a:cubicBezTo>
                    <a:cubicBezTo>
                      <a:pt x="26" y="248"/>
                      <a:pt x="2" y="310"/>
                      <a:pt x="3" y="349"/>
                    </a:cubicBezTo>
                    <a:cubicBezTo>
                      <a:pt x="4" y="388"/>
                      <a:pt x="32" y="407"/>
                      <a:pt x="32" y="436"/>
                    </a:cubicBezTo>
                    <a:cubicBezTo>
                      <a:pt x="32" y="465"/>
                      <a:pt x="6" y="494"/>
                      <a:pt x="3" y="523"/>
                    </a:cubicBezTo>
                    <a:cubicBezTo>
                      <a:pt x="0" y="552"/>
                      <a:pt x="13" y="593"/>
                      <a:pt x="15" y="611"/>
                    </a:cubicBez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0" name="Freeform 214"/>
              <p:cNvSpPr/>
              <p:nvPr/>
            </p:nvSpPr>
            <p:spPr bwMode="auto">
              <a:xfrm>
                <a:off x="4965" y="2340"/>
                <a:ext cx="43" cy="1015"/>
              </a:xfrm>
              <a:custGeom>
                <a:avLst/>
                <a:gdLst>
                  <a:gd name="T0" fmla="*/ 7 w 43"/>
                  <a:gd name="T1" fmla="*/ 0 h 1015"/>
                  <a:gd name="T2" fmla="*/ 41 w 43"/>
                  <a:gd name="T3" fmla="*/ 203 h 1015"/>
                  <a:gd name="T4" fmla="*/ 18 w 43"/>
                  <a:gd name="T5" fmla="*/ 342 h 1015"/>
                  <a:gd name="T6" fmla="*/ 35 w 43"/>
                  <a:gd name="T7" fmla="*/ 429 h 1015"/>
                  <a:gd name="T8" fmla="*/ 35 w 43"/>
                  <a:gd name="T9" fmla="*/ 540 h 1015"/>
                  <a:gd name="T10" fmla="*/ 6 w 43"/>
                  <a:gd name="T11" fmla="*/ 674 h 1015"/>
                  <a:gd name="T12" fmla="*/ 29 w 43"/>
                  <a:gd name="T13" fmla="*/ 831 h 1015"/>
                  <a:gd name="T14" fmla="*/ 0 w 43"/>
                  <a:gd name="T15" fmla="*/ 1015 h 101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 h="1015">
                    <a:moveTo>
                      <a:pt x="7" y="0"/>
                    </a:moveTo>
                    <a:cubicBezTo>
                      <a:pt x="14" y="34"/>
                      <a:pt x="39" y="146"/>
                      <a:pt x="41" y="203"/>
                    </a:cubicBezTo>
                    <a:cubicBezTo>
                      <a:pt x="43" y="260"/>
                      <a:pt x="19" y="304"/>
                      <a:pt x="18" y="342"/>
                    </a:cubicBezTo>
                    <a:cubicBezTo>
                      <a:pt x="17" y="380"/>
                      <a:pt x="32" y="396"/>
                      <a:pt x="35" y="429"/>
                    </a:cubicBezTo>
                    <a:cubicBezTo>
                      <a:pt x="38" y="462"/>
                      <a:pt x="40" y="499"/>
                      <a:pt x="35" y="540"/>
                    </a:cubicBezTo>
                    <a:cubicBezTo>
                      <a:pt x="30" y="581"/>
                      <a:pt x="7" y="626"/>
                      <a:pt x="6" y="674"/>
                    </a:cubicBezTo>
                    <a:cubicBezTo>
                      <a:pt x="5" y="722"/>
                      <a:pt x="30" y="774"/>
                      <a:pt x="29" y="831"/>
                    </a:cubicBezTo>
                    <a:cubicBezTo>
                      <a:pt x="28" y="888"/>
                      <a:pt x="6" y="977"/>
                      <a:pt x="0" y="1015"/>
                    </a:cubicBez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pic>
        <p:nvPicPr>
          <p:cNvPr id="35032" name="Picture 216" descr="11-34a模型"/>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45250" y="514350"/>
            <a:ext cx="1903413"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4821">
                                            <p:txEl>
                                              <p:pRg st="0" end="0"/>
                                            </p:txEl>
                                          </p:spTgt>
                                        </p:tgtEl>
                                        <p:attrNameLst>
                                          <p:attrName>style.visibility</p:attrName>
                                        </p:attrNameLst>
                                      </p:cBhvr>
                                      <p:to>
                                        <p:strVal val="visible"/>
                                      </p:to>
                                    </p:set>
                                    <p:animEffect transition="in" filter="wipe(up)">
                                      <p:cBhvr>
                                        <p:cTn id="7" dur="75"/>
                                        <p:tgtEl>
                                          <p:spTgt spid="348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4822">
                                            <p:txEl>
                                              <p:pRg st="0" end="0"/>
                                            </p:txEl>
                                          </p:spTgt>
                                        </p:tgtEl>
                                        <p:attrNameLst>
                                          <p:attrName>style.visibility</p:attrName>
                                        </p:attrNameLst>
                                      </p:cBhvr>
                                      <p:to>
                                        <p:strVal val="visible"/>
                                      </p:to>
                                    </p:set>
                                    <p:animEffect transition="in" filter="wipe(up)">
                                      <p:cBhvr>
                                        <p:cTn id="12" dur="75"/>
                                        <p:tgtEl>
                                          <p:spTgt spid="348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908"/>
                                        </p:tgtEl>
                                        <p:attrNameLst>
                                          <p:attrName>style.visibility</p:attrName>
                                        </p:attrNameLst>
                                      </p:cBhvr>
                                      <p:to>
                                        <p:strVal val="visible"/>
                                      </p:to>
                                    </p:set>
                                    <p:animEffect transition="in" filter="wipe(left)">
                                      <p:cBhvr>
                                        <p:cTn id="17" dur="500"/>
                                        <p:tgtEl>
                                          <p:spTgt spid="349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34823">
                                            <p:txEl>
                                              <p:pRg st="0" end="0"/>
                                            </p:txEl>
                                          </p:spTgt>
                                        </p:tgtEl>
                                        <p:attrNameLst>
                                          <p:attrName>style.visibility</p:attrName>
                                        </p:attrNameLst>
                                      </p:cBhvr>
                                      <p:to>
                                        <p:strVal val="visible"/>
                                      </p:to>
                                    </p:set>
                                    <p:animEffect transition="in" filter="wipe(up)">
                                      <p:cBhvr>
                                        <p:cTn id="22" dur="75"/>
                                        <p:tgtEl>
                                          <p:spTgt spid="3482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34824">
                                            <p:txEl>
                                              <p:pRg st="0" end="0"/>
                                            </p:txEl>
                                          </p:spTgt>
                                        </p:tgtEl>
                                        <p:attrNameLst>
                                          <p:attrName>style.visibility</p:attrName>
                                        </p:attrNameLst>
                                      </p:cBhvr>
                                      <p:to>
                                        <p:strVal val="visible"/>
                                      </p:to>
                                    </p:set>
                                    <p:animEffect transition="in" filter="wipe(up)">
                                      <p:cBhvr>
                                        <p:cTn id="27" dur="75"/>
                                        <p:tgtEl>
                                          <p:spTgt spid="3482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34978"/>
                                        </p:tgtEl>
                                        <p:attrNameLst>
                                          <p:attrName>style.visibility</p:attrName>
                                        </p:attrNameLst>
                                      </p:cBhvr>
                                      <p:to>
                                        <p:strVal val="visible"/>
                                      </p:to>
                                    </p:set>
                                    <p:anim calcmode="lin" valueType="num">
                                      <p:cBhvr additive="base">
                                        <p:cTn id="32" dur="500" fill="hold"/>
                                        <p:tgtEl>
                                          <p:spTgt spid="34978"/>
                                        </p:tgtEl>
                                        <p:attrNameLst>
                                          <p:attrName>ppt_x</p:attrName>
                                        </p:attrNameLst>
                                      </p:cBhvr>
                                      <p:tavLst>
                                        <p:tav tm="0">
                                          <p:val>
                                            <p:strVal val="1+#ppt_w/2"/>
                                          </p:val>
                                        </p:tav>
                                        <p:tav tm="100000">
                                          <p:val>
                                            <p:strVal val="#ppt_x"/>
                                          </p:val>
                                        </p:tav>
                                      </p:tavLst>
                                    </p:anim>
                                    <p:anim calcmode="lin" valueType="num">
                                      <p:cBhvr additive="base">
                                        <p:cTn id="33" dur="500" fill="hold"/>
                                        <p:tgtEl>
                                          <p:spTgt spid="34978"/>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2" presetClass="entr" presetSubtype="2" fill="hold" nodeType="afterEffect">
                                  <p:stCondLst>
                                    <p:cond delay="0"/>
                                  </p:stCondLst>
                                  <p:childTnLst>
                                    <p:set>
                                      <p:cBhvr>
                                        <p:cTn id="36" dur="1" fill="hold">
                                          <p:stCondLst>
                                            <p:cond delay="0"/>
                                          </p:stCondLst>
                                        </p:cTn>
                                        <p:tgtEl>
                                          <p:spTgt spid="35032"/>
                                        </p:tgtEl>
                                        <p:attrNameLst>
                                          <p:attrName>style.visibility</p:attrName>
                                        </p:attrNameLst>
                                      </p:cBhvr>
                                      <p:to>
                                        <p:strVal val="visible"/>
                                      </p:to>
                                    </p:set>
                                    <p:animEffect transition="in" filter="wipe(right)">
                                      <p:cBhvr>
                                        <p:cTn id="37" dur="500"/>
                                        <p:tgtEl>
                                          <p:spTgt spid="350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4819"/>
                                        </p:tgtEl>
                                        <p:attrNameLst>
                                          <p:attrName>style.visibility</p:attrName>
                                        </p:attrNameLst>
                                      </p:cBhvr>
                                      <p:to>
                                        <p:strVal val="visible"/>
                                      </p:to>
                                    </p:set>
                                    <p:animEffect transition="in" filter="wipe(down)">
                                      <p:cBhvr>
                                        <p:cTn id="42" dur="500"/>
                                        <p:tgtEl>
                                          <p:spTgt spid="34819"/>
                                        </p:tgtEl>
                                      </p:cBhvr>
                                    </p:animEffect>
                                  </p:childTnLst>
                                </p:cTn>
                              </p:par>
                            </p:childTnLst>
                          </p:cTn>
                        </p:par>
                        <p:par>
                          <p:cTn id="43" fill="hold">
                            <p:stCondLst>
                              <p:cond delay="500"/>
                            </p:stCondLst>
                            <p:childTnLst>
                              <p:par>
                                <p:cTn id="44" presetID="22" presetClass="entr" presetSubtype="4" fill="hold" nodeType="afterEffect">
                                  <p:stCondLst>
                                    <p:cond delay="0"/>
                                  </p:stCondLst>
                                  <p:childTnLst>
                                    <p:set>
                                      <p:cBhvr>
                                        <p:cTn id="45" dur="1" fill="hold">
                                          <p:stCondLst>
                                            <p:cond delay="0"/>
                                          </p:stCondLst>
                                        </p:cTn>
                                        <p:tgtEl>
                                          <p:spTgt spid="34827"/>
                                        </p:tgtEl>
                                        <p:attrNameLst>
                                          <p:attrName>style.visibility</p:attrName>
                                        </p:attrNameLst>
                                      </p:cBhvr>
                                      <p:to>
                                        <p:strVal val="visible"/>
                                      </p:to>
                                    </p:set>
                                    <p:animEffect transition="in" filter="wipe(down)">
                                      <p:cBhvr>
                                        <p:cTn id="46" dur="500"/>
                                        <p:tgtEl>
                                          <p:spTgt spid="3482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4898"/>
                                        </p:tgtEl>
                                        <p:attrNameLst>
                                          <p:attrName>style.visibility</p:attrName>
                                        </p:attrNameLst>
                                      </p:cBhvr>
                                      <p:to>
                                        <p:strVal val="visible"/>
                                      </p:to>
                                    </p:set>
                                    <p:animEffect transition="in" filter="wipe(left)">
                                      <p:cBhvr>
                                        <p:cTn id="51" dur="500"/>
                                        <p:tgtEl>
                                          <p:spTgt spid="3489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iterate type="lt">
                                    <p:tmPct val="100000"/>
                                  </p:iterate>
                                  <p:childTnLst>
                                    <p:set>
                                      <p:cBhvr>
                                        <p:cTn id="55" dur="1" fill="hold">
                                          <p:stCondLst>
                                            <p:cond delay="0"/>
                                          </p:stCondLst>
                                        </p:cTn>
                                        <p:tgtEl>
                                          <p:spTgt spid="34825">
                                            <p:txEl>
                                              <p:pRg st="0" end="0"/>
                                            </p:txEl>
                                          </p:spTgt>
                                        </p:tgtEl>
                                        <p:attrNameLst>
                                          <p:attrName>style.visibility</p:attrName>
                                        </p:attrNameLst>
                                      </p:cBhvr>
                                      <p:to>
                                        <p:strVal val="visible"/>
                                      </p:to>
                                    </p:set>
                                    <p:animEffect transition="in" filter="wipe(up)">
                                      <p:cBhvr>
                                        <p:cTn id="56" dur="75"/>
                                        <p:tgtEl>
                                          <p:spTgt spid="34825">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34818"/>
                                        </p:tgtEl>
                                        <p:attrNameLst>
                                          <p:attrName>style.visibility</p:attrName>
                                        </p:attrNameLst>
                                      </p:cBhvr>
                                      <p:to>
                                        <p:strVal val="visible"/>
                                      </p:to>
                                    </p:set>
                                    <p:animEffect transition="in" filter="wipe(down)">
                                      <p:cBhvr>
                                        <p:cTn id="61" dur="500"/>
                                        <p:tgtEl>
                                          <p:spTgt spid="34818"/>
                                        </p:tgtEl>
                                      </p:cBhvr>
                                    </p:animEffect>
                                  </p:childTnLst>
                                </p:cTn>
                              </p:par>
                            </p:childTnLst>
                          </p:cTn>
                        </p:par>
                        <p:par>
                          <p:cTn id="62" fill="hold">
                            <p:stCondLst>
                              <p:cond delay="500"/>
                            </p:stCondLst>
                            <p:childTnLst>
                              <p:par>
                                <p:cTn id="63" presetID="22" presetClass="entr" presetSubtype="4" fill="hold" nodeType="afterEffect">
                                  <p:stCondLst>
                                    <p:cond delay="0"/>
                                  </p:stCondLst>
                                  <p:childTnLst>
                                    <p:set>
                                      <p:cBhvr>
                                        <p:cTn id="64" dur="1" fill="hold">
                                          <p:stCondLst>
                                            <p:cond delay="0"/>
                                          </p:stCondLst>
                                        </p:cTn>
                                        <p:tgtEl>
                                          <p:spTgt spid="34832"/>
                                        </p:tgtEl>
                                        <p:attrNameLst>
                                          <p:attrName>style.visibility</p:attrName>
                                        </p:attrNameLst>
                                      </p:cBhvr>
                                      <p:to>
                                        <p:strVal val="visible"/>
                                      </p:to>
                                    </p:set>
                                    <p:animEffect transition="in" filter="wipe(down)">
                                      <p:cBhvr>
                                        <p:cTn id="65" dur="500"/>
                                        <p:tgtEl>
                                          <p:spTgt spid="3483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34903"/>
                                        </p:tgtEl>
                                        <p:attrNameLst>
                                          <p:attrName>style.visibility</p:attrName>
                                        </p:attrNameLst>
                                      </p:cBhvr>
                                      <p:to>
                                        <p:strVal val="visible"/>
                                      </p:to>
                                    </p:set>
                                    <p:animEffect transition="in" filter="wipe(left)">
                                      <p:cBhvr>
                                        <p:cTn id="70" dur="500"/>
                                        <p:tgtEl>
                                          <p:spTgt spid="3490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iterate type="lt">
                                    <p:tmPct val="100000"/>
                                  </p:iterate>
                                  <p:childTnLst>
                                    <p:set>
                                      <p:cBhvr>
                                        <p:cTn id="74" dur="1" fill="hold">
                                          <p:stCondLst>
                                            <p:cond delay="0"/>
                                          </p:stCondLst>
                                        </p:cTn>
                                        <p:tgtEl>
                                          <p:spTgt spid="34826">
                                            <p:txEl>
                                              <p:pRg st="0" end="0"/>
                                            </p:txEl>
                                          </p:spTgt>
                                        </p:tgtEl>
                                        <p:attrNameLst>
                                          <p:attrName>style.visibility</p:attrName>
                                        </p:attrNameLst>
                                      </p:cBhvr>
                                      <p:to>
                                        <p:strVal val="visible"/>
                                      </p:to>
                                    </p:set>
                                    <p:animEffect transition="in" filter="wipe(up)">
                                      <p:cBhvr>
                                        <p:cTn id="75" dur="75"/>
                                        <p:tgtEl>
                                          <p:spTgt spid="348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autoUpdateAnimBg="0" build="p"/>
      <p:bldP spid="34822" grpId="0" autoUpdateAnimBg="0" build="p"/>
      <p:bldP spid="34823" grpId="0" autoUpdateAnimBg="0" build="p"/>
      <p:bldP spid="34824" grpId="0" autoUpdateAnimBg="0" build="p"/>
      <p:bldP spid="34825" grpId="0" autoUpdateAnimBg="0" build="p"/>
      <p:bldP spid="34826" grpId="0" autoUpdateAnimBg="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045" name="Group 181"/>
          <p:cNvGrpSpPr/>
          <p:nvPr/>
        </p:nvGrpSpPr>
        <p:grpSpPr bwMode="auto">
          <a:xfrm>
            <a:off x="4759325" y="725488"/>
            <a:ext cx="4083050" cy="3122612"/>
            <a:chOff x="2872" y="1297"/>
            <a:chExt cx="2572" cy="1967"/>
          </a:xfrm>
        </p:grpSpPr>
        <p:grpSp>
          <p:nvGrpSpPr>
            <p:cNvPr id="36900" name="Group 182"/>
            <p:cNvGrpSpPr/>
            <p:nvPr/>
          </p:nvGrpSpPr>
          <p:grpSpPr bwMode="auto">
            <a:xfrm>
              <a:off x="4504" y="1755"/>
              <a:ext cx="56" cy="665"/>
              <a:chOff x="4504" y="1755"/>
              <a:chExt cx="56" cy="665"/>
            </a:xfrm>
          </p:grpSpPr>
          <p:sp>
            <p:nvSpPr>
              <p:cNvPr id="37007" name="Line 183"/>
              <p:cNvSpPr>
                <a:spLocks noChangeShapeType="1"/>
              </p:cNvSpPr>
              <p:nvPr/>
            </p:nvSpPr>
            <p:spPr bwMode="auto">
              <a:xfrm>
                <a:off x="4508" y="1769"/>
                <a:ext cx="0" cy="6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08" name="Line 184"/>
              <p:cNvSpPr>
                <a:spLocks noChangeShapeType="1"/>
              </p:cNvSpPr>
              <p:nvPr/>
            </p:nvSpPr>
            <p:spPr bwMode="auto">
              <a:xfrm>
                <a:off x="4560" y="1769"/>
                <a:ext cx="0" cy="6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09" name="Freeform 185"/>
              <p:cNvSpPr/>
              <p:nvPr/>
            </p:nvSpPr>
            <p:spPr bwMode="auto">
              <a:xfrm>
                <a:off x="4508" y="1755"/>
                <a:ext cx="52" cy="34"/>
              </a:xfrm>
              <a:custGeom>
                <a:avLst/>
                <a:gdLst>
                  <a:gd name="T0" fmla="*/ 0 w 28"/>
                  <a:gd name="T1" fmla="*/ 34 h 17"/>
                  <a:gd name="T2" fmla="*/ 6 w 28"/>
                  <a:gd name="T3" fmla="*/ 12 h 17"/>
                  <a:gd name="T4" fmla="*/ 26 w 28"/>
                  <a:gd name="T5" fmla="*/ 0 h 17"/>
                  <a:gd name="T6" fmla="*/ 46 w 28"/>
                  <a:gd name="T7" fmla="*/ 10 h 17"/>
                  <a:gd name="T8" fmla="*/ 52 w 28"/>
                  <a:gd name="T9" fmla="*/ 34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17">
                    <a:moveTo>
                      <a:pt x="0" y="17"/>
                    </a:moveTo>
                    <a:cubicBezTo>
                      <a:pt x="0" y="15"/>
                      <a:pt x="1" y="9"/>
                      <a:pt x="3" y="6"/>
                    </a:cubicBezTo>
                    <a:cubicBezTo>
                      <a:pt x="5" y="3"/>
                      <a:pt x="10" y="0"/>
                      <a:pt x="14" y="0"/>
                    </a:cubicBezTo>
                    <a:cubicBezTo>
                      <a:pt x="18" y="0"/>
                      <a:pt x="23" y="2"/>
                      <a:pt x="25" y="5"/>
                    </a:cubicBezTo>
                    <a:cubicBezTo>
                      <a:pt x="27" y="8"/>
                      <a:pt x="28" y="15"/>
                      <a:pt x="28" y="17"/>
                    </a:cubicBezTo>
                  </a:path>
                </a:pathLst>
              </a:custGeom>
              <a:noFill/>
              <a:ln w="28575"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10" name="Line 186"/>
              <p:cNvSpPr>
                <a:spLocks noChangeShapeType="1"/>
              </p:cNvSpPr>
              <p:nvPr/>
            </p:nvSpPr>
            <p:spPr bwMode="auto">
              <a:xfrm>
                <a:off x="4506" y="2410"/>
                <a:ext cx="5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011" name="Line 187"/>
              <p:cNvSpPr>
                <a:spLocks noChangeShapeType="1"/>
              </p:cNvSpPr>
              <p:nvPr/>
            </p:nvSpPr>
            <p:spPr bwMode="auto">
              <a:xfrm>
                <a:off x="4504" y="2296"/>
                <a:ext cx="5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6901" name="Group 188"/>
            <p:cNvGrpSpPr/>
            <p:nvPr/>
          </p:nvGrpSpPr>
          <p:grpSpPr bwMode="auto">
            <a:xfrm>
              <a:off x="2872" y="1297"/>
              <a:ext cx="2572" cy="1967"/>
              <a:chOff x="2872" y="1297"/>
              <a:chExt cx="2572" cy="1967"/>
            </a:xfrm>
          </p:grpSpPr>
          <p:grpSp>
            <p:nvGrpSpPr>
              <p:cNvPr id="36902" name="Group 189"/>
              <p:cNvGrpSpPr/>
              <p:nvPr/>
            </p:nvGrpSpPr>
            <p:grpSpPr bwMode="auto">
              <a:xfrm>
                <a:off x="3653" y="1316"/>
                <a:ext cx="439" cy="1431"/>
                <a:chOff x="3653" y="1316"/>
                <a:chExt cx="439" cy="1431"/>
              </a:xfrm>
            </p:grpSpPr>
            <p:sp>
              <p:nvSpPr>
                <p:cNvPr id="36994" name="Freeform 190"/>
                <p:cNvSpPr/>
                <p:nvPr/>
              </p:nvSpPr>
              <p:spPr bwMode="auto">
                <a:xfrm>
                  <a:off x="3707" y="1316"/>
                  <a:ext cx="113" cy="4"/>
                </a:xfrm>
                <a:custGeom>
                  <a:avLst/>
                  <a:gdLst>
                    <a:gd name="T0" fmla="*/ 0 w 113"/>
                    <a:gd name="T1" fmla="*/ 4 h 4"/>
                    <a:gd name="T2" fmla="*/ 113 w 113"/>
                    <a:gd name="T3" fmla="*/ 0 h 4"/>
                    <a:gd name="T4" fmla="*/ 0 60000 65536"/>
                    <a:gd name="T5" fmla="*/ 0 60000 65536"/>
                  </a:gdLst>
                  <a:ahLst/>
                  <a:cxnLst>
                    <a:cxn ang="T4">
                      <a:pos x="T0" y="T1"/>
                    </a:cxn>
                    <a:cxn ang="T5">
                      <a:pos x="T2" y="T3"/>
                    </a:cxn>
                  </a:cxnLst>
                  <a:rect l="0" t="0" r="r" b="b"/>
                  <a:pathLst>
                    <a:path w="113" h="4">
                      <a:moveTo>
                        <a:pt x="0" y="4"/>
                      </a:moveTo>
                      <a:lnTo>
                        <a:pt x="113" y="0"/>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 name="Freeform 191"/>
                <p:cNvSpPr/>
                <p:nvPr/>
              </p:nvSpPr>
              <p:spPr bwMode="auto">
                <a:xfrm>
                  <a:off x="3653" y="1476"/>
                  <a:ext cx="385" cy="389"/>
                </a:xfrm>
                <a:custGeom>
                  <a:avLst/>
                  <a:gdLst>
                    <a:gd name="T0" fmla="*/ 0 w 385"/>
                    <a:gd name="T1" fmla="*/ 389 h 389"/>
                    <a:gd name="T2" fmla="*/ 385 w 385"/>
                    <a:gd name="T3" fmla="*/ 0 h 389"/>
                    <a:gd name="T4" fmla="*/ 0 60000 65536"/>
                    <a:gd name="T5" fmla="*/ 0 60000 65536"/>
                  </a:gdLst>
                  <a:ahLst/>
                  <a:cxnLst>
                    <a:cxn ang="T4">
                      <a:pos x="T0" y="T1"/>
                    </a:cxn>
                    <a:cxn ang="T5">
                      <a:pos x="T2" y="T3"/>
                    </a:cxn>
                  </a:cxnLst>
                  <a:rect l="0" t="0" r="r" b="b"/>
                  <a:pathLst>
                    <a:path w="385" h="389">
                      <a:moveTo>
                        <a:pt x="0" y="389"/>
                      </a:moveTo>
                      <a:lnTo>
                        <a:pt x="385" y="0"/>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96" name="Freeform 192"/>
                <p:cNvSpPr/>
                <p:nvPr/>
              </p:nvSpPr>
              <p:spPr bwMode="auto">
                <a:xfrm>
                  <a:off x="3653" y="1338"/>
                  <a:ext cx="385" cy="388"/>
                </a:xfrm>
                <a:custGeom>
                  <a:avLst/>
                  <a:gdLst>
                    <a:gd name="T0" fmla="*/ 0 w 385"/>
                    <a:gd name="T1" fmla="*/ 388 h 388"/>
                    <a:gd name="T2" fmla="*/ 385 w 385"/>
                    <a:gd name="T3" fmla="*/ 0 h 388"/>
                    <a:gd name="T4" fmla="*/ 0 60000 65536"/>
                    <a:gd name="T5" fmla="*/ 0 60000 65536"/>
                  </a:gdLst>
                  <a:ahLst/>
                  <a:cxnLst>
                    <a:cxn ang="T4">
                      <a:pos x="T0" y="T1"/>
                    </a:cxn>
                    <a:cxn ang="T5">
                      <a:pos x="T2" y="T3"/>
                    </a:cxn>
                  </a:cxnLst>
                  <a:rect l="0" t="0" r="r" b="b"/>
                  <a:pathLst>
                    <a:path w="385" h="388">
                      <a:moveTo>
                        <a:pt x="0" y="388"/>
                      </a:moveTo>
                      <a:lnTo>
                        <a:pt x="385" y="0"/>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97" name="Freeform 193"/>
                <p:cNvSpPr/>
                <p:nvPr/>
              </p:nvSpPr>
              <p:spPr bwMode="auto">
                <a:xfrm>
                  <a:off x="3713" y="1418"/>
                  <a:ext cx="114" cy="114"/>
                </a:xfrm>
                <a:custGeom>
                  <a:avLst/>
                  <a:gdLst>
                    <a:gd name="T0" fmla="*/ 0 w 114"/>
                    <a:gd name="T1" fmla="*/ 114 h 114"/>
                    <a:gd name="T2" fmla="*/ 114 w 114"/>
                    <a:gd name="T3" fmla="*/ 0 h 114"/>
                    <a:gd name="T4" fmla="*/ 0 60000 65536"/>
                    <a:gd name="T5" fmla="*/ 0 60000 65536"/>
                  </a:gdLst>
                  <a:ahLst/>
                  <a:cxnLst>
                    <a:cxn ang="T4">
                      <a:pos x="T0" y="T1"/>
                    </a:cxn>
                    <a:cxn ang="T5">
                      <a:pos x="T2" y="T3"/>
                    </a:cxn>
                  </a:cxnLst>
                  <a:rect l="0" t="0" r="r" b="b"/>
                  <a:pathLst>
                    <a:path w="114" h="114">
                      <a:moveTo>
                        <a:pt x="0" y="114"/>
                      </a:moveTo>
                      <a:lnTo>
                        <a:pt x="114" y="0"/>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98" name="Freeform 194"/>
                <p:cNvSpPr/>
                <p:nvPr/>
              </p:nvSpPr>
              <p:spPr bwMode="auto">
                <a:xfrm>
                  <a:off x="3806" y="1578"/>
                  <a:ext cx="283" cy="284"/>
                </a:xfrm>
                <a:custGeom>
                  <a:avLst/>
                  <a:gdLst>
                    <a:gd name="T0" fmla="*/ 0 w 283"/>
                    <a:gd name="T1" fmla="*/ 284 h 284"/>
                    <a:gd name="T2" fmla="*/ 283 w 283"/>
                    <a:gd name="T3" fmla="*/ 0 h 284"/>
                    <a:gd name="T4" fmla="*/ 0 60000 65536"/>
                    <a:gd name="T5" fmla="*/ 0 60000 65536"/>
                  </a:gdLst>
                  <a:ahLst/>
                  <a:cxnLst>
                    <a:cxn ang="T4">
                      <a:pos x="T0" y="T1"/>
                    </a:cxn>
                    <a:cxn ang="T5">
                      <a:pos x="T2" y="T3"/>
                    </a:cxn>
                  </a:cxnLst>
                  <a:rect l="0" t="0" r="r" b="b"/>
                  <a:pathLst>
                    <a:path w="283" h="284">
                      <a:moveTo>
                        <a:pt x="0" y="284"/>
                      </a:moveTo>
                      <a:lnTo>
                        <a:pt x="283" y="0"/>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99" name="Line 195"/>
                <p:cNvSpPr>
                  <a:spLocks noChangeShapeType="1"/>
                </p:cNvSpPr>
                <p:nvPr/>
              </p:nvSpPr>
              <p:spPr bwMode="auto">
                <a:xfrm flipV="1">
                  <a:off x="3946" y="1707"/>
                  <a:ext cx="146" cy="15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000" name="Freeform 196"/>
                <p:cNvSpPr/>
                <p:nvPr/>
              </p:nvSpPr>
              <p:spPr bwMode="auto">
                <a:xfrm>
                  <a:off x="3693" y="2240"/>
                  <a:ext cx="395" cy="391"/>
                </a:xfrm>
                <a:custGeom>
                  <a:avLst/>
                  <a:gdLst>
                    <a:gd name="T0" fmla="*/ 395 w 395"/>
                    <a:gd name="T1" fmla="*/ 0 h 391"/>
                    <a:gd name="T2" fmla="*/ 0 w 395"/>
                    <a:gd name="T3" fmla="*/ 391 h 391"/>
                    <a:gd name="T4" fmla="*/ 0 60000 65536"/>
                    <a:gd name="T5" fmla="*/ 0 60000 65536"/>
                  </a:gdLst>
                  <a:ahLst/>
                  <a:cxnLst>
                    <a:cxn ang="T4">
                      <a:pos x="T0" y="T1"/>
                    </a:cxn>
                    <a:cxn ang="T5">
                      <a:pos x="T2" y="T3"/>
                    </a:cxn>
                  </a:cxnLst>
                  <a:rect l="0" t="0" r="r" b="b"/>
                  <a:pathLst>
                    <a:path w="395" h="391">
                      <a:moveTo>
                        <a:pt x="395" y="0"/>
                      </a:moveTo>
                      <a:lnTo>
                        <a:pt x="0" y="391"/>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001" name="Freeform 197"/>
                <p:cNvSpPr/>
                <p:nvPr/>
              </p:nvSpPr>
              <p:spPr bwMode="auto">
                <a:xfrm>
                  <a:off x="3705" y="2211"/>
                  <a:ext cx="268" cy="271"/>
                </a:xfrm>
                <a:custGeom>
                  <a:avLst/>
                  <a:gdLst>
                    <a:gd name="T0" fmla="*/ 0 w 268"/>
                    <a:gd name="T1" fmla="*/ 271 h 271"/>
                    <a:gd name="T2" fmla="*/ 268 w 268"/>
                    <a:gd name="T3" fmla="*/ 0 h 271"/>
                    <a:gd name="T4" fmla="*/ 0 60000 65536"/>
                    <a:gd name="T5" fmla="*/ 0 60000 65536"/>
                  </a:gdLst>
                  <a:ahLst/>
                  <a:cxnLst>
                    <a:cxn ang="T4">
                      <a:pos x="T0" y="T1"/>
                    </a:cxn>
                    <a:cxn ang="T5">
                      <a:pos x="T2" y="T3"/>
                    </a:cxn>
                  </a:cxnLst>
                  <a:rect l="0" t="0" r="r" b="b"/>
                  <a:pathLst>
                    <a:path w="268" h="271">
                      <a:moveTo>
                        <a:pt x="0" y="271"/>
                      </a:moveTo>
                      <a:lnTo>
                        <a:pt x="268" y="0"/>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002" name="Freeform 198"/>
                <p:cNvSpPr/>
                <p:nvPr/>
              </p:nvSpPr>
              <p:spPr bwMode="auto">
                <a:xfrm>
                  <a:off x="3653" y="2200"/>
                  <a:ext cx="198" cy="194"/>
                </a:xfrm>
                <a:custGeom>
                  <a:avLst/>
                  <a:gdLst>
                    <a:gd name="T0" fmla="*/ 0 w 168"/>
                    <a:gd name="T1" fmla="*/ 194 h 160"/>
                    <a:gd name="T2" fmla="*/ 198 w 168"/>
                    <a:gd name="T3" fmla="*/ 0 h 160"/>
                    <a:gd name="T4" fmla="*/ 0 60000 65536"/>
                    <a:gd name="T5" fmla="*/ 0 60000 65536"/>
                  </a:gdLst>
                  <a:ahLst/>
                  <a:cxnLst>
                    <a:cxn ang="T4">
                      <a:pos x="T0" y="T1"/>
                    </a:cxn>
                    <a:cxn ang="T5">
                      <a:pos x="T2" y="T3"/>
                    </a:cxn>
                  </a:cxnLst>
                  <a:rect l="0" t="0" r="r" b="b"/>
                  <a:pathLst>
                    <a:path w="168" h="160">
                      <a:moveTo>
                        <a:pt x="0" y="160"/>
                      </a:moveTo>
                      <a:lnTo>
                        <a:pt x="168" y="0"/>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003" name="Line 199"/>
                <p:cNvSpPr>
                  <a:spLocks noChangeShapeType="1"/>
                </p:cNvSpPr>
                <p:nvPr/>
              </p:nvSpPr>
              <p:spPr bwMode="auto">
                <a:xfrm flipV="1">
                  <a:off x="3653" y="2209"/>
                  <a:ext cx="52" cy="53"/>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 name="Freeform 200"/>
                <p:cNvSpPr/>
                <p:nvPr/>
              </p:nvSpPr>
              <p:spPr bwMode="auto">
                <a:xfrm>
                  <a:off x="3713" y="2371"/>
                  <a:ext cx="376" cy="376"/>
                </a:xfrm>
                <a:custGeom>
                  <a:avLst/>
                  <a:gdLst>
                    <a:gd name="T0" fmla="*/ 0 w 376"/>
                    <a:gd name="T1" fmla="*/ 376 h 376"/>
                    <a:gd name="T2" fmla="*/ 376 w 376"/>
                    <a:gd name="T3" fmla="*/ 0 h 376"/>
                    <a:gd name="T4" fmla="*/ 0 60000 65536"/>
                    <a:gd name="T5" fmla="*/ 0 60000 65536"/>
                  </a:gdLst>
                  <a:ahLst/>
                  <a:cxnLst>
                    <a:cxn ang="T4">
                      <a:pos x="T0" y="T1"/>
                    </a:cxn>
                    <a:cxn ang="T5">
                      <a:pos x="T2" y="T3"/>
                    </a:cxn>
                  </a:cxnLst>
                  <a:rect l="0" t="0" r="r" b="b"/>
                  <a:pathLst>
                    <a:path w="376" h="376">
                      <a:moveTo>
                        <a:pt x="0" y="376"/>
                      </a:moveTo>
                      <a:lnTo>
                        <a:pt x="376" y="0"/>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005" name="Freeform 201"/>
                <p:cNvSpPr/>
                <p:nvPr/>
              </p:nvSpPr>
              <p:spPr bwMode="auto">
                <a:xfrm>
                  <a:off x="3928" y="2560"/>
                  <a:ext cx="110" cy="107"/>
                </a:xfrm>
                <a:custGeom>
                  <a:avLst/>
                  <a:gdLst>
                    <a:gd name="T0" fmla="*/ 0 w 110"/>
                    <a:gd name="T1" fmla="*/ 107 h 107"/>
                    <a:gd name="T2" fmla="*/ 110 w 110"/>
                    <a:gd name="T3" fmla="*/ 0 h 107"/>
                    <a:gd name="T4" fmla="*/ 0 60000 65536"/>
                    <a:gd name="T5" fmla="*/ 0 60000 65536"/>
                  </a:gdLst>
                  <a:ahLst/>
                  <a:cxnLst>
                    <a:cxn ang="T4">
                      <a:pos x="T0" y="T1"/>
                    </a:cxn>
                    <a:cxn ang="T5">
                      <a:pos x="T2" y="T3"/>
                    </a:cxn>
                  </a:cxnLst>
                  <a:rect l="0" t="0" r="r" b="b"/>
                  <a:pathLst>
                    <a:path w="110" h="107">
                      <a:moveTo>
                        <a:pt x="0" y="107"/>
                      </a:moveTo>
                      <a:lnTo>
                        <a:pt x="110" y="0"/>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006" name="Line 202"/>
                <p:cNvSpPr>
                  <a:spLocks noChangeShapeType="1"/>
                </p:cNvSpPr>
                <p:nvPr/>
              </p:nvSpPr>
              <p:spPr bwMode="auto">
                <a:xfrm flipV="1">
                  <a:off x="3988" y="2684"/>
                  <a:ext cx="52" cy="53"/>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36903" name="Group 203"/>
              <p:cNvGrpSpPr/>
              <p:nvPr/>
            </p:nvGrpSpPr>
            <p:grpSpPr bwMode="auto">
              <a:xfrm>
                <a:off x="3267" y="1527"/>
                <a:ext cx="1222" cy="1231"/>
                <a:chOff x="3267" y="1527"/>
                <a:chExt cx="1222" cy="1231"/>
              </a:xfrm>
            </p:grpSpPr>
            <p:sp>
              <p:nvSpPr>
                <p:cNvPr id="4" name="Freeform 204"/>
                <p:cNvSpPr/>
                <p:nvPr/>
              </p:nvSpPr>
              <p:spPr bwMode="auto">
                <a:xfrm>
                  <a:off x="4162" y="2662"/>
                  <a:ext cx="240" cy="52"/>
                </a:xfrm>
                <a:custGeom>
                  <a:avLst/>
                  <a:gdLst>
                    <a:gd name="T0" fmla="*/ 0 w 240"/>
                    <a:gd name="T1" fmla="*/ 22 h 52"/>
                    <a:gd name="T2" fmla="*/ 102 w 240"/>
                    <a:gd name="T3" fmla="*/ 51 h 52"/>
                    <a:gd name="T4" fmla="*/ 182 w 240"/>
                    <a:gd name="T5" fmla="*/ 15 h 52"/>
                    <a:gd name="T6" fmla="*/ 240 w 240"/>
                    <a:gd name="T7" fmla="*/ 0 h 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52">
                      <a:moveTo>
                        <a:pt x="0" y="22"/>
                      </a:moveTo>
                      <a:cubicBezTo>
                        <a:pt x="36" y="37"/>
                        <a:pt x="72" y="52"/>
                        <a:pt x="102" y="51"/>
                      </a:cubicBezTo>
                      <a:cubicBezTo>
                        <a:pt x="132" y="50"/>
                        <a:pt x="159" y="24"/>
                        <a:pt x="182" y="15"/>
                      </a:cubicBezTo>
                      <a:cubicBezTo>
                        <a:pt x="205" y="6"/>
                        <a:pt x="230" y="3"/>
                        <a:pt x="240" y="0"/>
                      </a:cubicBezTo>
                    </a:path>
                  </a:pathLst>
                </a:custGeom>
                <a:noFill/>
                <a:ln w="19050" cap="flat" cmpd="sng">
                  <a:solidFill>
                    <a:schemeClr val="tx2"/>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74" name="Freeform 205"/>
                <p:cNvSpPr/>
                <p:nvPr/>
              </p:nvSpPr>
              <p:spPr bwMode="auto">
                <a:xfrm>
                  <a:off x="3340" y="2720"/>
                  <a:ext cx="240" cy="38"/>
                </a:xfrm>
                <a:custGeom>
                  <a:avLst/>
                  <a:gdLst>
                    <a:gd name="T0" fmla="*/ 0 w 240"/>
                    <a:gd name="T1" fmla="*/ 29 h 38"/>
                    <a:gd name="T2" fmla="*/ 80 w 240"/>
                    <a:gd name="T3" fmla="*/ 7 h 38"/>
                    <a:gd name="T4" fmla="*/ 153 w 240"/>
                    <a:gd name="T5" fmla="*/ 37 h 38"/>
                    <a:gd name="T6" fmla="*/ 240 w 240"/>
                    <a:gd name="T7" fmla="*/ 0 h 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 h="38">
                      <a:moveTo>
                        <a:pt x="0" y="29"/>
                      </a:moveTo>
                      <a:cubicBezTo>
                        <a:pt x="27" y="17"/>
                        <a:pt x="55" y="6"/>
                        <a:pt x="80" y="7"/>
                      </a:cubicBezTo>
                      <a:cubicBezTo>
                        <a:pt x="105" y="8"/>
                        <a:pt x="126" y="38"/>
                        <a:pt x="153" y="37"/>
                      </a:cubicBezTo>
                      <a:cubicBezTo>
                        <a:pt x="180" y="36"/>
                        <a:pt x="210" y="18"/>
                        <a:pt x="240" y="0"/>
                      </a:cubicBezTo>
                    </a:path>
                  </a:pathLst>
                </a:custGeom>
                <a:noFill/>
                <a:ln w="19050" cap="flat" cmpd="sng">
                  <a:solidFill>
                    <a:schemeClr val="tx2"/>
                  </a:solidFill>
                  <a:prstDash val="solid"/>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 name="Freeform 206"/>
                <p:cNvSpPr/>
                <p:nvPr/>
              </p:nvSpPr>
              <p:spPr bwMode="auto">
                <a:xfrm>
                  <a:off x="3362" y="1535"/>
                  <a:ext cx="298" cy="305"/>
                </a:xfrm>
                <a:custGeom>
                  <a:avLst/>
                  <a:gdLst>
                    <a:gd name="T0" fmla="*/ 0 w 298"/>
                    <a:gd name="T1" fmla="*/ 0 h 305"/>
                    <a:gd name="T2" fmla="*/ 298 w 298"/>
                    <a:gd name="T3" fmla="*/ 305 h 305"/>
                    <a:gd name="T4" fmla="*/ 0 60000 65536"/>
                    <a:gd name="T5" fmla="*/ 0 60000 65536"/>
                  </a:gdLst>
                  <a:ahLst/>
                  <a:cxnLst>
                    <a:cxn ang="T4">
                      <a:pos x="T0" y="T1"/>
                    </a:cxn>
                    <a:cxn ang="T5">
                      <a:pos x="T2" y="T3"/>
                    </a:cxn>
                  </a:cxnLst>
                  <a:rect l="0" t="0" r="r" b="b"/>
                  <a:pathLst>
                    <a:path w="298" h="305">
                      <a:moveTo>
                        <a:pt x="0" y="0"/>
                      </a:moveTo>
                      <a:lnTo>
                        <a:pt x="298" y="305"/>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 name="Line 207"/>
                <p:cNvSpPr>
                  <a:spLocks noChangeShapeType="1"/>
                </p:cNvSpPr>
                <p:nvPr/>
              </p:nvSpPr>
              <p:spPr bwMode="auto">
                <a:xfrm>
                  <a:off x="3516" y="1532"/>
                  <a:ext cx="147" cy="15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 name="Freeform 208"/>
                <p:cNvSpPr/>
                <p:nvPr/>
              </p:nvSpPr>
              <p:spPr bwMode="auto">
                <a:xfrm>
                  <a:off x="3276" y="1595"/>
                  <a:ext cx="275" cy="274"/>
                </a:xfrm>
                <a:custGeom>
                  <a:avLst/>
                  <a:gdLst>
                    <a:gd name="T0" fmla="*/ 0 w 275"/>
                    <a:gd name="T1" fmla="*/ 0 h 274"/>
                    <a:gd name="T2" fmla="*/ 275 w 275"/>
                    <a:gd name="T3" fmla="*/ 274 h 274"/>
                    <a:gd name="T4" fmla="*/ 0 60000 65536"/>
                    <a:gd name="T5" fmla="*/ 0 60000 65536"/>
                  </a:gdLst>
                  <a:ahLst/>
                  <a:cxnLst>
                    <a:cxn ang="T4">
                      <a:pos x="T0" y="T1"/>
                    </a:cxn>
                    <a:cxn ang="T5">
                      <a:pos x="T2" y="T3"/>
                    </a:cxn>
                  </a:cxnLst>
                  <a:rect l="0" t="0" r="r" b="b"/>
                  <a:pathLst>
                    <a:path w="275" h="274">
                      <a:moveTo>
                        <a:pt x="0" y="0"/>
                      </a:moveTo>
                      <a:lnTo>
                        <a:pt x="275" y="274"/>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 name="Freeform 209"/>
                <p:cNvSpPr/>
                <p:nvPr/>
              </p:nvSpPr>
              <p:spPr bwMode="auto">
                <a:xfrm>
                  <a:off x="3268" y="1734"/>
                  <a:ext cx="145" cy="135"/>
                </a:xfrm>
                <a:custGeom>
                  <a:avLst/>
                  <a:gdLst>
                    <a:gd name="T0" fmla="*/ 0 w 145"/>
                    <a:gd name="T1" fmla="*/ 0 h 135"/>
                    <a:gd name="T2" fmla="*/ 145 w 145"/>
                    <a:gd name="T3" fmla="*/ 135 h 135"/>
                    <a:gd name="T4" fmla="*/ 0 60000 65536"/>
                    <a:gd name="T5" fmla="*/ 0 60000 65536"/>
                  </a:gdLst>
                  <a:ahLst/>
                  <a:cxnLst>
                    <a:cxn ang="T4">
                      <a:pos x="T0" y="T1"/>
                    </a:cxn>
                    <a:cxn ang="T5">
                      <a:pos x="T2" y="T3"/>
                    </a:cxn>
                  </a:cxnLst>
                  <a:rect l="0" t="0" r="r" b="b"/>
                  <a:pathLst>
                    <a:path w="145" h="135">
                      <a:moveTo>
                        <a:pt x="0" y="0"/>
                      </a:moveTo>
                      <a:lnTo>
                        <a:pt x="145" y="135"/>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79" name="Freeform 210"/>
                <p:cNvSpPr/>
                <p:nvPr/>
              </p:nvSpPr>
              <p:spPr bwMode="auto">
                <a:xfrm>
                  <a:off x="4089" y="1767"/>
                  <a:ext cx="102" cy="102"/>
                </a:xfrm>
                <a:custGeom>
                  <a:avLst/>
                  <a:gdLst>
                    <a:gd name="T0" fmla="*/ 0 w 102"/>
                    <a:gd name="T1" fmla="*/ 0 h 102"/>
                    <a:gd name="T2" fmla="*/ 102 w 102"/>
                    <a:gd name="T3" fmla="*/ 102 h 102"/>
                    <a:gd name="T4" fmla="*/ 0 60000 65536"/>
                    <a:gd name="T5" fmla="*/ 0 60000 65536"/>
                  </a:gdLst>
                  <a:ahLst/>
                  <a:cxnLst>
                    <a:cxn ang="T4">
                      <a:pos x="T0" y="T1"/>
                    </a:cxn>
                    <a:cxn ang="T5">
                      <a:pos x="T2" y="T3"/>
                    </a:cxn>
                  </a:cxnLst>
                  <a:rect l="0" t="0" r="r" b="b"/>
                  <a:pathLst>
                    <a:path w="102" h="102">
                      <a:moveTo>
                        <a:pt x="0" y="0"/>
                      </a:moveTo>
                      <a:lnTo>
                        <a:pt x="102" y="102"/>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0" name="Freeform 211"/>
                <p:cNvSpPr/>
                <p:nvPr/>
              </p:nvSpPr>
              <p:spPr bwMode="auto">
                <a:xfrm>
                  <a:off x="4096" y="1644"/>
                  <a:ext cx="226" cy="221"/>
                </a:xfrm>
                <a:custGeom>
                  <a:avLst/>
                  <a:gdLst>
                    <a:gd name="T0" fmla="*/ 0 w 226"/>
                    <a:gd name="T1" fmla="*/ 0 h 221"/>
                    <a:gd name="T2" fmla="*/ 226 w 226"/>
                    <a:gd name="T3" fmla="*/ 221 h 221"/>
                    <a:gd name="T4" fmla="*/ 0 60000 65536"/>
                    <a:gd name="T5" fmla="*/ 0 60000 65536"/>
                  </a:gdLst>
                  <a:ahLst/>
                  <a:cxnLst>
                    <a:cxn ang="T4">
                      <a:pos x="T0" y="T1"/>
                    </a:cxn>
                    <a:cxn ang="T5">
                      <a:pos x="T2" y="T3"/>
                    </a:cxn>
                  </a:cxnLst>
                  <a:rect l="0" t="0" r="r" b="b"/>
                  <a:pathLst>
                    <a:path w="226" h="221">
                      <a:moveTo>
                        <a:pt x="0" y="0"/>
                      </a:moveTo>
                      <a:lnTo>
                        <a:pt x="226" y="221"/>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1" name="Freeform 212"/>
                <p:cNvSpPr/>
                <p:nvPr/>
              </p:nvSpPr>
              <p:spPr bwMode="auto">
                <a:xfrm>
                  <a:off x="4140" y="1542"/>
                  <a:ext cx="327" cy="334"/>
                </a:xfrm>
                <a:custGeom>
                  <a:avLst/>
                  <a:gdLst>
                    <a:gd name="T0" fmla="*/ 0 w 327"/>
                    <a:gd name="T1" fmla="*/ 0 h 334"/>
                    <a:gd name="T2" fmla="*/ 327 w 327"/>
                    <a:gd name="T3" fmla="*/ 334 h 334"/>
                    <a:gd name="T4" fmla="*/ 0 60000 65536"/>
                    <a:gd name="T5" fmla="*/ 0 60000 65536"/>
                  </a:gdLst>
                  <a:ahLst/>
                  <a:cxnLst>
                    <a:cxn ang="T4">
                      <a:pos x="T0" y="T1"/>
                    </a:cxn>
                    <a:cxn ang="T5">
                      <a:pos x="T2" y="T3"/>
                    </a:cxn>
                  </a:cxnLst>
                  <a:rect l="0" t="0" r="r" b="b"/>
                  <a:pathLst>
                    <a:path w="327" h="334">
                      <a:moveTo>
                        <a:pt x="0" y="0"/>
                      </a:moveTo>
                      <a:lnTo>
                        <a:pt x="327" y="334"/>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2" name="Freeform 213"/>
                <p:cNvSpPr/>
                <p:nvPr/>
              </p:nvSpPr>
              <p:spPr bwMode="auto">
                <a:xfrm>
                  <a:off x="4279" y="1532"/>
                  <a:ext cx="210" cy="214"/>
                </a:xfrm>
                <a:custGeom>
                  <a:avLst/>
                  <a:gdLst>
                    <a:gd name="T0" fmla="*/ 0 w 210"/>
                    <a:gd name="T1" fmla="*/ 0 h 214"/>
                    <a:gd name="T2" fmla="*/ 210 w 210"/>
                    <a:gd name="T3" fmla="*/ 214 h 214"/>
                    <a:gd name="T4" fmla="*/ 0 60000 65536"/>
                    <a:gd name="T5" fmla="*/ 0 60000 65536"/>
                  </a:gdLst>
                  <a:ahLst/>
                  <a:cxnLst>
                    <a:cxn ang="T4">
                      <a:pos x="T0" y="T1"/>
                    </a:cxn>
                    <a:cxn ang="T5">
                      <a:pos x="T2" y="T3"/>
                    </a:cxn>
                  </a:cxnLst>
                  <a:rect l="0" t="0" r="r" b="b"/>
                  <a:pathLst>
                    <a:path w="210" h="214">
                      <a:moveTo>
                        <a:pt x="0" y="0"/>
                      </a:moveTo>
                      <a:lnTo>
                        <a:pt x="210" y="214"/>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3" name="Freeform 214"/>
                <p:cNvSpPr/>
                <p:nvPr/>
              </p:nvSpPr>
              <p:spPr bwMode="auto">
                <a:xfrm>
                  <a:off x="4424" y="1527"/>
                  <a:ext cx="58" cy="66"/>
                </a:xfrm>
                <a:custGeom>
                  <a:avLst/>
                  <a:gdLst>
                    <a:gd name="T0" fmla="*/ 0 w 58"/>
                    <a:gd name="T1" fmla="*/ 0 h 66"/>
                    <a:gd name="T2" fmla="*/ 58 w 58"/>
                    <a:gd name="T3" fmla="*/ 66 h 66"/>
                    <a:gd name="T4" fmla="*/ 0 60000 65536"/>
                    <a:gd name="T5" fmla="*/ 0 60000 65536"/>
                  </a:gdLst>
                  <a:ahLst/>
                  <a:cxnLst>
                    <a:cxn ang="T4">
                      <a:pos x="T0" y="T1"/>
                    </a:cxn>
                    <a:cxn ang="T5">
                      <a:pos x="T2" y="T3"/>
                    </a:cxn>
                  </a:cxnLst>
                  <a:rect l="0" t="0" r="r" b="b"/>
                  <a:pathLst>
                    <a:path w="58" h="66">
                      <a:moveTo>
                        <a:pt x="0" y="0"/>
                      </a:moveTo>
                      <a:lnTo>
                        <a:pt x="58" y="66"/>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4" name="Freeform 215"/>
                <p:cNvSpPr/>
                <p:nvPr/>
              </p:nvSpPr>
              <p:spPr bwMode="auto">
                <a:xfrm>
                  <a:off x="3267" y="2226"/>
                  <a:ext cx="309" cy="308"/>
                </a:xfrm>
                <a:custGeom>
                  <a:avLst/>
                  <a:gdLst>
                    <a:gd name="T0" fmla="*/ 0 w 309"/>
                    <a:gd name="T1" fmla="*/ 0 h 308"/>
                    <a:gd name="T2" fmla="*/ 309 w 309"/>
                    <a:gd name="T3" fmla="*/ 308 h 308"/>
                    <a:gd name="T4" fmla="*/ 0 60000 65536"/>
                    <a:gd name="T5" fmla="*/ 0 60000 65536"/>
                  </a:gdLst>
                  <a:ahLst/>
                  <a:cxnLst>
                    <a:cxn ang="T4">
                      <a:pos x="T0" y="T1"/>
                    </a:cxn>
                    <a:cxn ang="T5">
                      <a:pos x="T2" y="T3"/>
                    </a:cxn>
                  </a:cxnLst>
                  <a:rect l="0" t="0" r="r" b="b"/>
                  <a:pathLst>
                    <a:path w="309" h="308">
                      <a:moveTo>
                        <a:pt x="0" y="0"/>
                      </a:moveTo>
                      <a:lnTo>
                        <a:pt x="309" y="308"/>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 name="Freeform 216"/>
                <p:cNvSpPr/>
                <p:nvPr/>
              </p:nvSpPr>
              <p:spPr bwMode="auto">
                <a:xfrm>
                  <a:off x="3391" y="2204"/>
                  <a:ext cx="262" cy="262"/>
                </a:xfrm>
                <a:custGeom>
                  <a:avLst/>
                  <a:gdLst>
                    <a:gd name="T0" fmla="*/ 0 w 262"/>
                    <a:gd name="T1" fmla="*/ 0 h 262"/>
                    <a:gd name="T2" fmla="*/ 262 w 262"/>
                    <a:gd name="T3" fmla="*/ 262 h 262"/>
                    <a:gd name="T4" fmla="*/ 0 60000 65536"/>
                    <a:gd name="T5" fmla="*/ 0 60000 65536"/>
                  </a:gdLst>
                  <a:ahLst/>
                  <a:cxnLst>
                    <a:cxn ang="T4">
                      <a:pos x="T0" y="T1"/>
                    </a:cxn>
                    <a:cxn ang="T5">
                      <a:pos x="T2" y="T3"/>
                    </a:cxn>
                  </a:cxnLst>
                  <a:rect l="0" t="0" r="r" b="b"/>
                  <a:pathLst>
                    <a:path w="262" h="262">
                      <a:moveTo>
                        <a:pt x="0" y="0"/>
                      </a:moveTo>
                      <a:lnTo>
                        <a:pt x="262" y="262"/>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6" name="Line 217"/>
                <p:cNvSpPr>
                  <a:spLocks noChangeShapeType="1"/>
                </p:cNvSpPr>
                <p:nvPr/>
              </p:nvSpPr>
              <p:spPr bwMode="auto">
                <a:xfrm>
                  <a:off x="3568" y="2217"/>
                  <a:ext cx="86" cy="89"/>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7" name="Freeform 218"/>
                <p:cNvSpPr/>
                <p:nvPr/>
              </p:nvSpPr>
              <p:spPr bwMode="auto">
                <a:xfrm>
                  <a:off x="3267" y="2371"/>
                  <a:ext cx="318" cy="322"/>
                </a:xfrm>
                <a:custGeom>
                  <a:avLst/>
                  <a:gdLst>
                    <a:gd name="T0" fmla="*/ 0 w 318"/>
                    <a:gd name="T1" fmla="*/ 0 h 322"/>
                    <a:gd name="T2" fmla="*/ 318 w 318"/>
                    <a:gd name="T3" fmla="*/ 322 h 322"/>
                    <a:gd name="T4" fmla="*/ 0 60000 65536"/>
                    <a:gd name="T5" fmla="*/ 0 60000 65536"/>
                  </a:gdLst>
                  <a:ahLst/>
                  <a:cxnLst>
                    <a:cxn ang="T4">
                      <a:pos x="T0" y="T1"/>
                    </a:cxn>
                    <a:cxn ang="T5">
                      <a:pos x="T2" y="T3"/>
                    </a:cxn>
                  </a:cxnLst>
                  <a:rect l="0" t="0" r="r" b="b"/>
                  <a:pathLst>
                    <a:path w="318" h="322">
                      <a:moveTo>
                        <a:pt x="0" y="0"/>
                      </a:moveTo>
                      <a:lnTo>
                        <a:pt x="318" y="322"/>
                      </a:lnTo>
                    </a:path>
                  </a:pathLst>
                </a:custGeom>
                <a:solidFill>
                  <a:srgbClr val="FFFFCC"/>
                </a:solidFill>
                <a:ln w="19050" cap="flat" cmpd="sng">
                  <a:solidFill>
                    <a:schemeClr val="tx2"/>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8" name="Freeform 219"/>
                <p:cNvSpPr/>
                <p:nvPr/>
              </p:nvSpPr>
              <p:spPr bwMode="auto">
                <a:xfrm>
                  <a:off x="3328" y="2569"/>
                  <a:ext cx="187" cy="188"/>
                </a:xfrm>
                <a:custGeom>
                  <a:avLst/>
                  <a:gdLst>
                    <a:gd name="T0" fmla="*/ 0 w 187"/>
                    <a:gd name="T1" fmla="*/ 0 h 188"/>
                    <a:gd name="T2" fmla="*/ 187 w 187"/>
                    <a:gd name="T3" fmla="*/ 188 h 188"/>
                    <a:gd name="T4" fmla="*/ 0 60000 65536"/>
                    <a:gd name="T5" fmla="*/ 0 60000 65536"/>
                  </a:gdLst>
                  <a:ahLst/>
                  <a:cxnLst>
                    <a:cxn ang="T4">
                      <a:pos x="T0" y="T1"/>
                    </a:cxn>
                    <a:cxn ang="T5">
                      <a:pos x="T2" y="T3"/>
                    </a:cxn>
                  </a:cxnLst>
                  <a:rect l="0" t="0" r="r" b="b"/>
                  <a:pathLst>
                    <a:path w="187" h="188">
                      <a:moveTo>
                        <a:pt x="0" y="0"/>
                      </a:moveTo>
                      <a:lnTo>
                        <a:pt x="187" y="188"/>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89" name="Line 220"/>
                <p:cNvSpPr>
                  <a:spLocks noChangeShapeType="1"/>
                </p:cNvSpPr>
                <p:nvPr/>
              </p:nvSpPr>
              <p:spPr bwMode="auto">
                <a:xfrm>
                  <a:off x="4382" y="2209"/>
                  <a:ext cx="101" cy="104"/>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10" name="Freeform 221"/>
                <p:cNvSpPr/>
                <p:nvPr/>
              </p:nvSpPr>
              <p:spPr bwMode="auto">
                <a:xfrm>
                  <a:off x="4256" y="2211"/>
                  <a:ext cx="230" cy="236"/>
                </a:xfrm>
                <a:custGeom>
                  <a:avLst/>
                  <a:gdLst>
                    <a:gd name="T0" fmla="*/ 0 w 230"/>
                    <a:gd name="T1" fmla="*/ 0 h 236"/>
                    <a:gd name="T2" fmla="*/ 230 w 230"/>
                    <a:gd name="T3" fmla="*/ 236 h 236"/>
                    <a:gd name="T4" fmla="*/ 0 60000 65536"/>
                    <a:gd name="T5" fmla="*/ 0 60000 65536"/>
                  </a:gdLst>
                  <a:ahLst/>
                  <a:cxnLst>
                    <a:cxn ang="T4">
                      <a:pos x="T0" y="T1"/>
                    </a:cxn>
                    <a:cxn ang="T5">
                      <a:pos x="T2" y="T3"/>
                    </a:cxn>
                  </a:cxnLst>
                  <a:rect l="0" t="0" r="r" b="b"/>
                  <a:pathLst>
                    <a:path w="230" h="236">
                      <a:moveTo>
                        <a:pt x="0" y="0"/>
                      </a:moveTo>
                      <a:lnTo>
                        <a:pt x="230" y="236"/>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91" name="Freeform 222"/>
                <p:cNvSpPr/>
                <p:nvPr/>
              </p:nvSpPr>
              <p:spPr bwMode="auto">
                <a:xfrm>
                  <a:off x="4125" y="2217"/>
                  <a:ext cx="306" cy="307"/>
                </a:xfrm>
                <a:custGeom>
                  <a:avLst/>
                  <a:gdLst>
                    <a:gd name="T0" fmla="*/ 0 w 306"/>
                    <a:gd name="T1" fmla="*/ 0 h 307"/>
                    <a:gd name="T2" fmla="*/ 306 w 306"/>
                    <a:gd name="T3" fmla="*/ 307 h 307"/>
                    <a:gd name="T4" fmla="*/ 0 60000 65536"/>
                    <a:gd name="T5" fmla="*/ 0 60000 65536"/>
                  </a:gdLst>
                  <a:ahLst/>
                  <a:cxnLst>
                    <a:cxn ang="T4">
                      <a:pos x="T0" y="T1"/>
                    </a:cxn>
                    <a:cxn ang="T5">
                      <a:pos x="T2" y="T3"/>
                    </a:cxn>
                  </a:cxnLst>
                  <a:rect l="0" t="0" r="r" b="b"/>
                  <a:pathLst>
                    <a:path w="306" h="307">
                      <a:moveTo>
                        <a:pt x="0" y="0"/>
                      </a:moveTo>
                      <a:lnTo>
                        <a:pt x="306" y="307"/>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92" name="Line 223"/>
                <p:cNvSpPr>
                  <a:spLocks noChangeShapeType="1"/>
                </p:cNvSpPr>
                <p:nvPr/>
              </p:nvSpPr>
              <p:spPr bwMode="auto">
                <a:xfrm>
                  <a:off x="4099" y="2341"/>
                  <a:ext cx="301" cy="308"/>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93" name="Line 224"/>
                <p:cNvSpPr>
                  <a:spLocks noChangeShapeType="1"/>
                </p:cNvSpPr>
                <p:nvPr/>
              </p:nvSpPr>
              <p:spPr bwMode="auto">
                <a:xfrm>
                  <a:off x="4176" y="2569"/>
                  <a:ext cx="128" cy="132"/>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36904" name="Group 225"/>
              <p:cNvGrpSpPr/>
              <p:nvPr/>
            </p:nvGrpSpPr>
            <p:grpSpPr bwMode="auto">
              <a:xfrm>
                <a:off x="2872" y="1297"/>
                <a:ext cx="1998" cy="1967"/>
                <a:chOff x="2872" y="1297"/>
                <a:chExt cx="1998" cy="1967"/>
              </a:xfrm>
            </p:grpSpPr>
            <p:sp>
              <p:nvSpPr>
                <p:cNvPr id="36919" name="Rectangle 226"/>
                <p:cNvSpPr>
                  <a:spLocks noChangeArrowheads="1"/>
                </p:cNvSpPr>
                <p:nvPr/>
              </p:nvSpPr>
              <p:spPr bwMode="auto">
                <a:xfrm>
                  <a:off x="3261" y="1865"/>
                  <a:ext cx="1370" cy="340"/>
                </a:xfrm>
                <a:prstGeom prst="rect">
                  <a:avLst/>
                </a:prstGeom>
                <a:solidFill>
                  <a:schemeClr val="bg1"/>
                </a:solidFill>
                <a:ln w="38100">
                  <a:solidFill>
                    <a:schemeClr val="tx2"/>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920" name="Rectangle 227"/>
                <p:cNvSpPr>
                  <a:spLocks noChangeArrowheads="1"/>
                </p:cNvSpPr>
                <p:nvPr/>
              </p:nvSpPr>
              <p:spPr bwMode="auto">
                <a:xfrm>
                  <a:off x="3005" y="1701"/>
                  <a:ext cx="261" cy="674"/>
                </a:xfrm>
                <a:prstGeom prst="rect">
                  <a:avLst/>
                </a:prstGeom>
                <a:solidFill>
                  <a:schemeClr val="bg1"/>
                </a:solidFill>
                <a:ln w="38100">
                  <a:solidFill>
                    <a:schemeClr val="tx2"/>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6921" name="Freeform 228"/>
                <p:cNvSpPr/>
                <p:nvPr/>
              </p:nvSpPr>
              <p:spPr bwMode="auto">
                <a:xfrm>
                  <a:off x="3708" y="2483"/>
                  <a:ext cx="3" cy="274"/>
                </a:xfrm>
                <a:custGeom>
                  <a:avLst/>
                  <a:gdLst>
                    <a:gd name="T0" fmla="*/ 3 w 3"/>
                    <a:gd name="T1" fmla="*/ 274 h 274"/>
                    <a:gd name="T2" fmla="*/ 0 w 3"/>
                    <a:gd name="T3" fmla="*/ 0 h 274"/>
                    <a:gd name="T4" fmla="*/ 0 60000 65536"/>
                    <a:gd name="T5" fmla="*/ 0 60000 65536"/>
                  </a:gdLst>
                  <a:ahLst/>
                  <a:cxnLst>
                    <a:cxn ang="T4">
                      <a:pos x="T0" y="T1"/>
                    </a:cxn>
                    <a:cxn ang="T5">
                      <a:pos x="T2" y="T3"/>
                    </a:cxn>
                  </a:cxnLst>
                  <a:rect l="0" t="0" r="r" b="b"/>
                  <a:pathLst>
                    <a:path w="3" h="274">
                      <a:moveTo>
                        <a:pt x="3" y="274"/>
                      </a:moveTo>
                      <a:lnTo>
                        <a:pt x="0" y="0"/>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22" name="Line 229"/>
                <p:cNvSpPr>
                  <a:spLocks noChangeShapeType="1"/>
                </p:cNvSpPr>
                <p:nvPr/>
              </p:nvSpPr>
              <p:spPr bwMode="auto">
                <a:xfrm>
                  <a:off x="3657" y="1567"/>
                  <a:ext cx="5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23" name="Line 230"/>
                <p:cNvSpPr>
                  <a:spLocks noChangeShapeType="1"/>
                </p:cNvSpPr>
                <p:nvPr/>
              </p:nvSpPr>
              <p:spPr bwMode="auto">
                <a:xfrm>
                  <a:off x="4041" y="1579"/>
                  <a:ext cx="5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24" name="Line 231"/>
                <p:cNvSpPr>
                  <a:spLocks noChangeShapeType="1"/>
                </p:cNvSpPr>
                <p:nvPr/>
              </p:nvSpPr>
              <p:spPr bwMode="auto">
                <a:xfrm>
                  <a:off x="3659" y="2491"/>
                  <a:ext cx="5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25" name="Line 232"/>
                <p:cNvSpPr>
                  <a:spLocks noChangeShapeType="1"/>
                </p:cNvSpPr>
                <p:nvPr/>
              </p:nvSpPr>
              <p:spPr bwMode="auto">
                <a:xfrm>
                  <a:off x="4042" y="2500"/>
                  <a:ext cx="5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26" name="Line 233"/>
                <p:cNvSpPr>
                  <a:spLocks noChangeShapeType="1"/>
                </p:cNvSpPr>
                <p:nvPr/>
              </p:nvSpPr>
              <p:spPr bwMode="auto">
                <a:xfrm flipV="1">
                  <a:off x="3707" y="1312"/>
                  <a:ext cx="0" cy="25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27" name="Freeform 234"/>
                <p:cNvSpPr/>
                <p:nvPr/>
              </p:nvSpPr>
              <p:spPr bwMode="auto">
                <a:xfrm>
                  <a:off x="4037" y="1308"/>
                  <a:ext cx="1" cy="286"/>
                </a:xfrm>
                <a:custGeom>
                  <a:avLst/>
                  <a:gdLst>
                    <a:gd name="T0" fmla="*/ 1 w 1"/>
                    <a:gd name="T1" fmla="*/ 286 h 286"/>
                    <a:gd name="T2" fmla="*/ 0 w 1"/>
                    <a:gd name="T3" fmla="*/ 0 h 286"/>
                    <a:gd name="T4" fmla="*/ 0 60000 65536"/>
                    <a:gd name="T5" fmla="*/ 0 60000 65536"/>
                  </a:gdLst>
                  <a:ahLst/>
                  <a:cxnLst>
                    <a:cxn ang="T4">
                      <a:pos x="T0" y="T1"/>
                    </a:cxn>
                    <a:cxn ang="T5">
                      <a:pos x="T2" y="T3"/>
                    </a:cxn>
                  </a:cxnLst>
                  <a:rect l="0" t="0" r="r" b="b"/>
                  <a:pathLst>
                    <a:path w="1" h="286">
                      <a:moveTo>
                        <a:pt x="1" y="286"/>
                      </a:moveTo>
                      <a:lnTo>
                        <a:pt x="0" y="0"/>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28" name="Line 235"/>
                <p:cNvSpPr>
                  <a:spLocks noChangeShapeType="1"/>
                </p:cNvSpPr>
                <p:nvPr/>
              </p:nvSpPr>
              <p:spPr bwMode="auto">
                <a:xfrm flipV="1">
                  <a:off x="4036" y="2496"/>
                  <a:ext cx="0" cy="26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29" name="Line 236"/>
                <p:cNvSpPr>
                  <a:spLocks noChangeShapeType="1"/>
                </p:cNvSpPr>
                <p:nvPr/>
              </p:nvSpPr>
              <p:spPr bwMode="auto">
                <a:xfrm>
                  <a:off x="3844" y="1435"/>
                  <a:ext cx="78"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30" name="Freeform 237"/>
                <p:cNvSpPr/>
                <p:nvPr/>
              </p:nvSpPr>
              <p:spPr bwMode="auto">
                <a:xfrm>
                  <a:off x="3933" y="1309"/>
                  <a:ext cx="113" cy="11"/>
                </a:xfrm>
                <a:custGeom>
                  <a:avLst/>
                  <a:gdLst>
                    <a:gd name="T0" fmla="*/ 0 w 113"/>
                    <a:gd name="T1" fmla="*/ 11 h 11"/>
                    <a:gd name="T2" fmla="*/ 113 w 113"/>
                    <a:gd name="T3" fmla="*/ 0 h 11"/>
                    <a:gd name="T4" fmla="*/ 0 60000 65536"/>
                    <a:gd name="T5" fmla="*/ 0 60000 65536"/>
                  </a:gdLst>
                  <a:ahLst/>
                  <a:cxnLst>
                    <a:cxn ang="T4">
                      <a:pos x="T0" y="T1"/>
                    </a:cxn>
                    <a:cxn ang="T5">
                      <a:pos x="T2" y="T3"/>
                    </a:cxn>
                  </a:cxnLst>
                  <a:rect l="0" t="0" r="r" b="b"/>
                  <a:pathLst>
                    <a:path w="113" h="11">
                      <a:moveTo>
                        <a:pt x="0" y="11"/>
                      </a:moveTo>
                      <a:lnTo>
                        <a:pt x="113" y="0"/>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31" name="Line 238"/>
                <p:cNvSpPr>
                  <a:spLocks noChangeShapeType="1"/>
                </p:cNvSpPr>
                <p:nvPr/>
              </p:nvSpPr>
              <p:spPr bwMode="auto">
                <a:xfrm>
                  <a:off x="3810" y="1320"/>
                  <a:ext cx="32" cy="123"/>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32" name="Line 239"/>
                <p:cNvSpPr>
                  <a:spLocks noChangeShapeType="1"/>
                </p:cNvSpPr>
                <p:nvPr/>
              </p:nvSpPr>
              <p:spPr bwMode="auto">
                <a:xfrm flipH="1">
                  <a:off x="3907" y="1320"/>
                  <a:ext cx="32" cy="123"/>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33" name="Line 240"/>
                <p:cNvSpPr>
                  <a:spLocks noChangeShapeType="1"/>
                </p:cNvSpPr>
                <p:nvPr/>
              </p:nvSpPr>
              <p:spPr bwMode="auto">
                <a:xfrm flipV="1">
                  <a:off x="3707" y="2746"/>
                  <a:ext cx="103"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34" name="Line 241"/>
                <p:cNvSpPr>
                  <a:spLocks noChangeShapeType="1"/>
                </p:cNvSpPr>
                <p:nvPr/>
              </p:nvSpPr>
              <p:spPr bwMode="auto">
                <a:xfrm flipV="1">
                  <a:off x="3844" y="2632"/>
                  <a:ext cx="78"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35" name="Line 242"/>
                <p:cNvSpPr>
                  <a:spLocks noChangeShapeType="1"/>
                </p:cNvSpPr>
                <p:nvPr/>
              </p:nvSpPr>
              <p:spPr bwMode="auto">
                <a:xfrm flipV="1">
                  <a:off x="3933" y="2746"/>
                  <a:ext cx="102"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36" name="Line 243"/>
                <p:cNvSpPr>
                  <a:spLocks noChangeShapeType="1"/>
                </p:cNvSpPr>
                <p:nvPr/>
              </p:nvSpPr>
              <p:spPr bwMode="auto">
                <a:xfrm flipV="1">
                  <a:off x="3810" y="2624"/>
                  <a:ext cx="32" cy="123"/>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37" name="Line 244"/>
                <p:cNvSpPr>
                  <a:spLocks noChangeShapeType="1"/>
                </p:cNvSpPr>
                <p:nvPr/>
              </p:nvSpPr>
              <p:spPr bwMode="auto">
                <a:xfrm flipH="1" flipV="1">
                  <a:off x="3907" y="2624"/>
                  <a:ext cx="32" cy="123"/>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38" name="Line 245"/>
                <p:cNvSpPr>
                  <a:spLocks noChangeShapeType="1"/>
                </p:cNvSpPr>
                <p:nvPr/>
              </p:nvSpPr>
              <p:spPr bwMode="auto">
                <a:xfrm>
                  <a:off x="3262" y="2525"/>
                  <a:ext cx="77"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39" name="Line 246"/>
                <p:cNvSpPr>
                  <a:spLocks noChangeShapeType="1"/>
                </p:cNvSpPr>
                <p:nvPr/>
              </p:nvSpPr>
              <p:spPr bwMode="auto">
                <a:xfrm flipV="1">
                  <a:off x="3266" y="1534"/>
                  <a:ext cx="0" cy="35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40" name="Line 247"/>
                <p:cNvSpPr>
                  <a:spLocks noChangeShapeType="1"/>
                </p:cNvSpPr>
                <p:nvPr/>
              </p:nvSpPr>
              <p:spPr bwMode="auto">
                <a:xfrm flipV="1">
                  <a:off x="3653" y="1533"/>
                  <a:ext cx="0" cy="342"/>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41" name="Freeform 248"/>
                <p:cNvSpPr/>
                <p:nvPr/>
              </p:nvSpPr>
              <p:spPr bwMode="auto">
                <a:xfrm>
                  <a:off x="3260" y="1535"/>
                  <a:ext cx="397" cy="1"/>
                </a:xfrm>
                <a:custGeom>
                  <a:avLst/>
                  <a:gdLst>
                    <a:gd name="T0" fmla="*/ 0 w 397"/>
                    <a:gd name="T1" fmla="*/ 0 h 1"/>
                    <a:gd name="T2" fmla="*/ 397 w 397"/>
                    <a:gd name="T3" fmla="*/ 0 h 1"/>
                    <a:gd name="T4" fmla="*/ 0 60000 65536"/>
                    <a:gd name="T5" fmla="*/ 0 60000 65536"/>
                  </a:gdLst>
                  <a:ahLst/>
                  <a:cxnLst>
                    <a:cxn ang="T4">
                      <a:pos x="T0" y="T1"/>
                    </a:cxn>
                    <a:cxn ang="T5">
                      <a:pos x="T2" y="T3"/>
                    </a:cxn>
                  </a:cxnLst>
                  <a:rect l="0" t="0" r="r" b="b"/>
                  <a:pathLst>
                    <a:path w="397" h="1">
                      <a:moveTo>
                        <a:pt x="0" y="0"/>
                      </a:moveTo>
                      <a:lnTo>
                        <a:pt x="397" y="0"/>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42" name="Line 249"/>
                <p:cNvSpPr>
                  <a:spLocks noChangeShapeType="1"/>
                </p:cNvSpPr>
                <p:nvPr/>
              </p:nvSpPr>
              <p:spPr bwMode="auto">
                <a:xfrm flipV="1">
                  <a:off x="3265" y="2221"/>
                  <a:ext cx="0" cy="306"/>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43" name="Line 250"/>
                <p:cNvSpPr>
                  <a:spLocks noChangeShapeType="1"/>
                </p:cNvSpPr>
                <p:nvPr/>
              </p:nvSpPr>
              <p:spPr bwMode="auto">
                <a:xfrm flipV="1">
                  <a:off x="3653" y="2210"/>
                  <a:ext cx="0" cy="32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44" name="Line 251"/>
                <p:cNvSpPr>
                  <a:spLocks noChangeShapeType="1"/>
                </p:cNvSpPr>
                <p:nvPr/>
              </p:nvSpPr>
              <p:spPr bwMode="auto">
                <a:xfrm>
                  <a:off x="3588" y="2526"/>
                  <a:ext cx="78"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45" name="Freeform 252"/>
                <p:cNvSpPr/>
                <p:nvPr/>
              </p:nvSpPr>
              <p:spPr bwMode="auto">
                <a:xfrm>
                  <a:off x="3330" y="2518"/>
                  <a:ext cx="3" cy="377"/>
                </a:xfrm>
                <a:custGeom>
                  <a:avLst/>
                  <a:gdLst>
                    <a:gd name="T0" fmla="*/ 0 w 3"/>
                    <a:gd name="T1" fmla="*/ 0 h 377"/>
                    <a:gd name="T2" fmla="*/ 3 w 3"/>
                    <a:gd name="T3" fmla="*/ 377 h 377"/>
                    <a:gd name="T4" fmla="*/ 0 60000 65536"/>
                    <a:gd name="T5" fmla="*/ 0 60000 65536"/>
                  </a:gdLst>
                  <a:ahLst/>
                  <a:cxnLst>
                    <a:cxn ang="T4">
                      <a:pos x="T0" y="T1"/>
                    </a:cxn>
                    <a:cxn ang="T5">
                      <a:pos x="T2" y="T3"/>
                    </a:cxn>
                  </a:cxnLst>
                  <a:rect l="0" t="0" r="r" b="b"/>
                  <a:pathLst>
                    <a:path w="3" h="377">
                      <a:moveTo>
                        <a:pt x="0" y="0"/>
                      </a:moveTo>
                      <a:lnTo>
                        <a:pt x="3" y="377"/>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46" name="Freeform 253"/>
                <p:cNvSpPr/>
                <p:nvPr/>
              </p:nvSpPr>
              <p:spPr bwMode="auto">
                <a:xfrm>
                  <a:off x="3580" y="2514"/>
                  <a:ext cx="1" cy="382"/>
                </a:xfrm>
                <a:custGeom>
                  <a:avLst/>
                  <a:gdLst>
                    <a:gd name="T0" fmla="*/ 0 w 1"/>
                    <a:gd name="T1" fmla="*/ 0 h 382"/>
                    <a:gd name="T2" fmla="*/ 0 w 1"/>
                    <a:gd name="T3" fmla="*/ 382 h 382"/>
                    <a:gd name="T4" fmla="*/ 0 60000 65536"/>
                    <a:gd name="T5" fmla="*/ 0 60000 65536"/>
                  </a:gdLst>
                  <a:ahLst/>
                  <a:cxnLst>
                    <a:cxn ang="T4">
                      <a:pos x="T0" y="T1"/>
                    </a:cxn>
                    <a:cxn ang="T5">
                      <a:pos x="T2" y="T3"/>
                    </a:cxn>
                  </a:cxnLst>
                  <a:rect l="0" t="0" r="r" b="b"/>
                  <a:pathLst>
                    <a:path w="1" h="382">
                      <a:moveTo>
                        <a:pt x="0" y="0"/>
                      </a:moveTo>
                      <a:lnTo>
                        <a:pt x="0" y="382"/>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47" name="Line 254"/>
                <p:cNvSpPr>
                  <a:spLocks noChangeShapeType="1"/>
                </p:cNvSpPr>
                <p:nvPr/>
              </p:nvSpPr>
              <p:spPr bwMode="auto">
                <a:xfrm flipH="1">
                  <a:off x="2876" y="2886"/>
                  <a:ext cx="454"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48" name="Line 255"/>
                <p:cNvSpPr>
                  <a:spLocks noChangeShapeType="1"/>
                </p:cNvSpPr>
                <p:nvPr/>
              </p:nvSpPr>
              <p:spPr bwMode="auto">
                <a:xfrm>
                  <a:off x="3099" y="2802"/>
                  <a:ext cx="0" cy="428"/>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49" name="Line 256"/>
                <p:cNvSpPr>
                  <a:spLocks noChangeShapeType="1"/>
                </p:cNvSpPr>
                <p:nvPr/>
              </p:nvSpPr>
              <p:spPr bwMode="auto">
                <a:xfrm flipV="1">
                  <a:off x="4380" y="1297"/>
                  <a:ext cx="0" cy="0"/>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0" name="Line 257"/>
                <p:cNvSpPr>
                  <a:spLocks noChangeShapeType="1"/>
                </p:cNvSpPr>
                <p:nvPr/>
              </p:nvSpPr>
              <p:spPr bwMode="auto">
                <a:xfrm flipV="1">
                  <a:off x="4479" y="1524"/>
                  <a:ext cx="0" cy="352"/>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1" name="Line 258"/>
                <p:cNvSpPr>
                  <a:spLocks noChangeShapeType="1"/>
                </p:cNvSpPr>
                <p:nvPr/>
              </p:nvSpPr>
              <p:spPr bwMode="auto">
                <a:xfrm>
                  <a:off x="4093" y="1534"/>
                  <a:ext cx="38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2" name="Freeform 259"/>
                <p:cNvSpPr/>
                <p:nvPr/>
              </p:nvSpPr>
              <p:spPr bwMode="auto">
                <a:xfrm>
                  <a:off x="4089" y="2211"/>
                  <a:ext cx="1" cy="327"/>
                </a:xfrm>
                <a:custGeom>
                  <a:avLst/>
                  <a:gdLst>
                    <a:gd name="T0" fmla="*/ 0 w 1"/>
                    <a:gd name="T1" fmla="*/ 327 h 327"/>
                    <a:gd name="T2" fmla="*/ 0 w 1"/>
                    <a:gd name="T3" fmla="*/ 0 h 327"/>
                    <a:gd name="T4" fmla="*/ 0 60000 65536"/>
                    <a:gd name="T5" fmla="*/ 0 60000 65536"/>
                  </a:gdLst>
                  <a:ahLst/>
                  <a:cxnLst>
                    <a:cxn ang="T4">
                      <a:pos x="T0" y="T1"/>
                    </a:cxn>
                    <a:cxn ang="T5">
                      <a:pos x="T2" y="T3"/>
                    </a:cxn>
                  </a:cxnLst>
                  <a:rect l="0" t="0" r="r" b="b"/>
                  <a:pathLst>
                    <a:path w="1" h="327">
                      <a:moveTo>
                        <a:pt x="0" y="327"/>
                      </a:moveTo>
                      <a:lnTo>
                        <a:pt x="0" y="0"/>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3" name="Line 260"/>
                <p:cNvSpPr>
                  <a:spLocks noChangeShapeType="1"/>
                </p:cNvSpPr>
                <p:nvPr/>
              </p:nvSpPr>
              <p:spPr bwMode="auto">
                <a:xfrm flipV="1">
                  <a:off x="4479" y="2209"/>
                  <a:ext cx="0" cy="32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4" name="Line 261"/>
                <p:cNvSpPr>
                  <a:spLocks noChangeShapeType="1"/>
                </p:cNvSpPr>
                <p:nvPr/>
              </p:nvSpPr>
              <p:spPr bwMode="auto">
                <a:xfrm>
                  <a:off x="4414" y="2526"/>
                  <a:ext cx="78"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5" name="Line 262"/>
                <p:cNvSpPr>
                  <a:spLocks noChangeShapeType="1"/>
                </p:cNvSpPr>
                <p:nvPr/>
              </p:nvSpPr>
              <p:spPr bwMode="auto">
                <a:xfrm>
                  <a:off x="4164" y="2527"/>
                  <a:ext cx="0" cy="37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56" name="Line 263"/>
                <p:cNvSpPr>
                  <a:spLocks noChangeShapeType="1"/>
                </p:cNvSpPr>
                <p:nvPr/>
              </p:nvSpPr>
              <p:spPr bwMode="auto">
                <a:xfrm flipH="1">
                  <a:off x="4405" y="2520"/>
                  <a:ext cx="0" cy="377"/>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7" name="Line 264"/>
                <p:cNvSpPr>
                  <a:spLocks noChangeShapeType="1"/>
                </p:cNvSpPr>
                <p:nvPr/>
              </p:nvSpPr>
              <p:spPr bwMode="auto">
                <a:xfrm>
                  <a:off x="4099" y="2526"/>
                  <a:ext cx="78"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8" name="Line 265"/>
                <p:cNvSpPr>
                  <a:spLocks noChangeShapeType="1"/>
                </p:cNvSpPr>
                <p:nvPr/>
              </p:nvSpPr>
              <p:spPr bwMode="auto">
                <a:xfrm flipH="1">
                  <a:off x="4390" y="2887"/>
                  <a:ext cx="480"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59" name="Line 266"/>
                <p:cNvSpPr>
                  <a:spLocks noChangeShapeType="1"/>
                </p:cNvSpPr>
                <p:nvPr/>
              </p:nvSpPr>
              <p:spPr bwMode="auto">
                <a:xfrm>
                  <a:off x="4645" y="2818"/>
                  <a:ext cx="0" cy="446"/>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60" name="Line 267"/>
                <p:cNvSpPr>
                  <a:spLocks noChangeShapeType="1"/>
                </p:cNvSpPr>
                <p:nvPr/>
              </p:nvSpPr>
              <p:spPr bwMode="auto">
                <a:xfrm flipV="1">
                  <a:off x="4089" y="1526"/>
                  <a:ext cx="0" cy="342"/>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61" name="Line 268"/>
                <p:cNvSpPr>
                  <a:spLocks noChangeShapeType="1"/>
                </p:cNvSpPr>
                <p:nvPr/>
              </p:nvSpPr>
              <p:spPr bwMode="auto">
                <a:xfrm>
                  <a:off x="2884" y="2886"/>
                  <a:ext cx="0" cy="25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62" name="Line 269"/>
                <p:cNvSpPr>
                  <a:spLocks noChangeShapeType="1"/>
                </p:cNvSpPr>
                <p:nvPr/>
              </p:nvSpPr>
              <p:spPr bwMode="auto">
                <a:xfrm>
                  <a:off x="4857" y="2889"/>
                  <a:ext cx="0" cy="25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63" name="Freeform 270"/>
                <p:cNvSpPr/>
                <p:nvPr/>
              </p:nvSpPr>
              <p:spPr bwMode="auto">
                <a:xfrm>
                  <a:off x="2872" y="3132"/>
                  <a:ext cx="638" cy="3"/>
                </a:xfrm>
                <a:custGeom>
                  <a:avLst/>
                  <a:gdLst>
                    <a:gd name="T0" fmla="*/ 0 w 638"/>
                    <a:gd name="T1" fmla="*/ 0 h 3"/>
                    <a:gd name="T2" fmla="*/ 638 w 638"/>
                    <a:gd name="T3" fmla="*/ 3 h 3"/>
                    <a:gd name="T4" fmla="*/ 0 60000 65536"/>
                    <a:gd name="T5" fmla="*/ 0 60000 65536"/>
                  </a:gdLst>
                  <a:ahLst/>
                  <a:cxnLst>
                    <a:cxn ang="T4">
                      <a:pos x="T0" y="T1"/>
                    </a:cxn>
                    <a:cxn ang="T5">
                      <a:pos x="T2" y="T3"/>
                    </a:cxn>
                  </a:cxnLst>
                  <a:rect l="0" t="0" r="r" b="b"/>
                  <a:pathLst>
                    <a:path w="638" h="3">
                      <a:moveTo>
                        <a:pt x="0" y="0"/>
                      </a:moveTo>
                      <a:lnTo>
                        <a:pt x="638" y="3"/>
                      </a:lnTo>
                    </a:path>
                  </a:pathLst>
                </a:custGeom>
                <a:solidFill>
                  <a:srgbClr val="FFFFCC"/>
                </a:solidFill>
                <a:ln w="381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64" name="Line 271"/>
                <p:cNvSpPr>
                  <a:spLocks noChangeShapeType="1"/>
                </p:cNvSpPr>
                <p:nvPr/>
              </p:nvSpPr>
              <p:spPr bwMode="auto">
                <a:xfrm>
                  <a:off x="4225" y="3132"/>
                  <a:ext cx="634"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65" name="Line 272"/>
                <p:cNvSpPr>
                  <a:spLocks noChangeShapeType="1"/>
                </p:cNvSpPr>
                <p:nvPr/>
              </p:nvSpPr>
              <p:spPr bwMode="auto">
                <a:xfrm>
                  <a:off x="3579" y="2886"/>
                  <a:ext cx="592"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66" name="Line 273"/>
                <p:cNvSpPr>
                  <a:spLocks noChangeShapeType="1"/>
                </p:cNvSpPr>
                <p:nvPr/>
              </p:nvSpPr>
              <p:spPr bwMode="auto">
                <a:xfrm flipV="1">
                  <a:off x="3502" y="3080"/>
                  <a:ext cx="30" cy="52"/>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67" name="Line 274"/>
                <p:cNvSpPr>
                  <a:spLocks noChangeShapeType="1"/>
                </p:cNvSpPr>
                <p:nvPr/>
              </p:nvSpPr>
              <p:spPr bwMode="auto">
                <a:xfrm flipH="1" flipV="1">
                  <a:off x="4197" y="3089"/>
                  <a:ext cx="42" cy="44"/>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68" name="Line 275"/>
                <p:cNvSpPr>
                  <a:spLocks noChangeShapeType="1"/>
                </p:cNvSpPr>
                <p:nvPr/>
              </p:nvSpPr>
              <p:spPr bwMode="auto">
                <a:xfrm>
                  <a:off x="3528" y="3088"/>
                  <a:ext cx="677"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69" name="Freeform 276"/>
                <p:cNvSpPr/>
                <p:nvPr/>
              </p:nvSpPr>
              <p:spPr bwMode="auto">
                <a:xfrm>
                  <a:off x="3704" y="1321"/>
                  <a:ext cx="104" cy="105"/>
                </a:xfrm>
                <a:custGeom>
                  <a:avLst/>
                  <a:gdLst>
                    <a:gd name="T0" fmla="*/ 0 w 104"/>
                    <a:gd name="T1" fmla="*/ 105 h 105"/>
                    <a:gd name="T2" fmla="*/ 104 w 104"/>
                    <a:gd name="T3" fmla="*/ 0 h 105"/>
                    <a:gd name="T4" fmla="*/ 0 60000 65536"/>
                    <a:gd name="T5" fmla="*/ 0 60000 65536"/>
                  </a:gdLst>
                  <a:ahLst/>
                  <a:cxnLst>
                    <a:cxn ang="T4">
                      <a:pos x="T0" y="T1"/>
                    </a:cxn>
                    <a:cxn ang="T5">
                      <a:pos x="T2" y="T3"/>
                    </a:cxn>
                  </a:cxnLst>
                  <a:rect l="0" t="0" r="r" b="b"/>
                  <a:pathLst>
                    <a:path w="104" h="105">
                      <a:moveTo>
                        <a:pt x="0" y="105"/>
                      </a:moveTo>
                      <a:lnTo>
                        <a:pt x="104" y="0"/>
                      </a:lnTo>
                    </a:path>
                  </a:pathLst>
                </a:custGeom>
                <a:solidFill>
                  <a:srgbClr val="FFFFCC"/>
                </a:solidFill>
                <a:ln w="19050" cmpd="sng">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70" name="Freeform 277"/>
                <p:cNvSpPr/>
                <p:nvPr/>
              </p:nvSpPr>
              <p:spPr bwMode="auto">
                <a:xfrm>
                  <a:off x="3328" y="2701"/>
                  <a:ext cx="41" cy="56"/>
                </a:xfrm>
                <a:custGeom>
                  <a:avLst/>
                  <a:gdLst>
                    <a:gd name="T0" fmla="*/ 0 w 41"/>
                    <a:gd name="T1" fmla="*/ 0 h 56"/>
                    <a:gd name="T2" fmla="*/ 41 w 41"/>
                    <a:gd name="T3" fmla="*/ 56 h 56"/>
                    <a:gd name="T4" fmla="*/ 0 60000 65536"/>
                    <a:gd name="T5" fmla="*/ 0 60000 65536"/>
                  </a:gdLst>
                  <a:ahLst/>
                  <a:cxnLst>
                    <a:cxn ang="T4">
                      <a:pos x="T0" y="T1"/>
                    </a:cxn>
                    <a:cxn ang="T5">
                      <a:pos x="T2" y="T3"/>
                    </a:cxn>
                  </a:cxnLst>
                  <a:rect l="0" t="0" r="r" b="b"/>
                  <a:pathLst>
                    <a:path w="41" h="56">
                      <a:moveTo>
                        <a:pt x="0" y="0"/>
                      </a:moveTo>
                      <a:lnTo>
                        <a:pt x="41" y="56"/>
                      </a:lnTo>
                    </a:path>
                  </a:pathLst>
                </a:custGeom>
                <a:solidFill>
                  <a:srgbClr val="FFFFCC"/>
                </a:solidFill>
                <a:ln w="12700">
                  <a:solidFill>
                    <a:schemeClr val="tx2"/>
                  </a:solidFill>
                  <a:round/>
                  <a:headEnd type="none" w="sm" len="lg"/>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71" name="Line 278"/>
                <p:cNvSpPr>
                  <a:spLocks noChangeShapeType="1"/>
                </p:cNvSpPr>
                <p:nvPr/>
              </p:nvSpPr>
              <p:spPr bwMode="auto">
                <a:xfrm>
                  <a:off x="4091" y="2482"/>
                  <a:ext cx="43" cy="45"/>
                </a:xfrm>
                <a:prstGeom prst="line">
                  <a:avLst/>
                </a:prstGeom>
                <a:noFill/>
                <a:ln w="127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972" name="Line 279"/>
                <p:cNvSpPr>
                  <a:spLocks noChangeShapeType="1"/>
                </p:cNvSpPr>
                <p:nvPr/>
              </p:nvSpPr>
              <p:spPr bwMode="auto">
                <a:xfrm>
                  <a:off x="2919" y="2036"/>
                  <a:ext cx="1845" cy="0"/>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36905" name="Text Box 280"/>
              <p:cNvSpPr txBox="1">
                <a:spLocks noChangeArrowheads="1"/>
              </p:cNvSpPr>
              <p:nvPr/>
            </p:nvSpPr>
            <p:spPr bwMode="auto">
              <a:xfrm>
                <a:off x="4889" y="2821"/>
                <a:ext cx="5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底座</a:t>
                </a:r>
                <a:endParaRPr lang="zh-CN" altLang="en-US" b="1"/>
              </a:p>
            </p:txBody>
          </p:sp>
          <p:sp>
            <p:nvSpPr>
              <p:cNvPr id="36906" name="Line 281"/>
              <p:cNvSpPr>
                <a:spLocks noChangeShapeType="1"/>
              </p:cNvSpPr>
              <p:nvPr/>
            </p:nvSpPr>
            <p:spPr bwMode="auto">
              <a:xfrm>
                <a:off x="4563" y="2984"/>
                <a:ext cx="406" cy="115"/>
              </a:xfrm>
              <a:prstGeom prst="line">
                <a:avLst/>
              </a:prstGeom>
              <a:noFill/>
              <a:ln w="19050">
                <a:solidFill>
                  <a:schemeClr val="tx2"/>
                </a:solidFill>
                <a:round/>
                <a:headEnd type="oval"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07" name="Line 282"/>
              <p:cNvSpPr>
                <a:spLocks noChangeShapeType="1"/>
              </p:cNvSpPr>
              <p:nvPr/>
            </p:nvSpPr>
            <p:spPr bwMode="auto">
              <a:xfrm>
                <a:off x="4951" y="2701"/>
                <a:ext cx="400"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nvGrpSpPr>
              <p:cNvPr id="36908" name="Group 283"/>
              <p:cNvGrpSpPr/>
              <p:nvPr/>
            </p:nvGrpSpPr>
            <p:grpSpPr bwMode="auto">
              <a:xfrm>
                <a:off x="3899" y="2358"/>
                <a:ext cx="1497" cy="743"/>
                <a:chOff x="3899" y="2358"/>
                <a:chExt cx="1497" cy="743"/>
              </a:xfrm>
            </p:grpSpPr>
            <p:sp>
              <p:nvSpPr>
                <p:cNvPr id="36916" name="Text Box 284"/>
                <p:cNvSpPr txBox="1">
                  <a:spLocks noChangeArrowheads="1"/>
                </p:cNvSpPr>
                <p:nvPr/>
              </p:nvSpPr>
              <p:spPr bwMode="auto">
                <a:xfrm>
                  <a:off x="4896" y="2412"/>
                  <a:ext cx="5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滑轮</a:t>
                  </a:r>
                  <a:endParaRPr lang="zh-CN" altLang="en-US" b="1"/>
                </a:p>
              </p:txBody>
            </p:sp>
            <p:sp>
              <p:nvSpPr>
                <p:cNvPr id="36917" name="Line 285"/>
                <p:cNvSpPr>
                  <a:spLocks noChangeShapeType="1"/>
                </p:cNvSpPr>
                <p:nvPr/>
              </p:nvSpPr>
              <p:spPr bwMode="auto">
                <a:xfrm>
                  <a:off x="3899" y="2358"/>
                  <a:ext cx="1064" cy="342"/>
                </a:xfrm>
                <a:prstGeom prst="line">
                  <a:avLst/>
                </a:prstGeom>
                <a:noFill/>
                <a:ln w="19050">
                  <a:solidFill>
                    <a:schemeClr val="tx2"/>
                  </a:solidFill>
                  <a:round/>
                  <a:headEnd type="oval"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18" name="Line 286"/>
                <p:cNvSpPr>
                  <a:spLocks noChangeShapeType="1"/>
                </p:cNvSpPr>
                <p:nvPr/>
              </p:nvSpPr>
              <p:spPr bwMode="auto">
                <a:xfrm flipH="1">
                  <a:off x="4965" y="3101"/>
                  <a:ext cx="390"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36909" name="Group 287"/>
              <p:cNvGrpSpPr/>
              <p:nvPr/>
            </p:nvGrpSpPr>
            <p:grpSpPr bwMode="auto">
              <a:xfrm>
                <a:off x="4445" y="1565"/>
                <a:ext cx="999" cy="453"/>
                <a:chOff x="4445" y="1565"/>
                <a:chExt cx="999" cy="453"/>
              </a:xfrm>
            </p:grpSpPr>
            <p:sp>
              <p:nvSpPr>
                <p:cNvPr id="36913" name="Text Box 288"/>
                <p:cNvSpPr txBox="1">
                  <a:spLocks noChangeArrowheads="1"/>
                </p:cNvSpPr>
                <p:nvPr/>
              </p:nvSpPr>
              <p:spPr bwMode="auto">
                <a:xfrm>
                  <a:off x="4881" y="1565"/>
                  <a:ext cx="56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销轴</a:t>
                  </a:r>
                  <a:endParaRPr lang="zh-CN" altLang="en-US" b="1"/>
                </a:p>
              </p:txBody>
            </p:sp>
            <p:sp>
              <p:nvSpPr>
                <p:cNvPr id="36914" name="Line 289"/>
                <p:cNvSpPr>
                  <a:spLocks noChangeShapeType="1"/>
                </p:cNvSpPr>
                <p:nvPr/>
              </p:nvSpPr>
              <p:spPr bwMode="auto">
                <a:xfrm flipV="1">
                  <a:off x="4445" y="1845"/>
                  <a:ext cx="512" cy="173"/>
                </a:xfrm>
                <a:prstGeom prst="line">
                  <a:avLst/>
                </a:prstGeom>
                <a:noFill/>
                <a:ln w="19050">
                  <a:solidFill>
                    <a:schemeClr val="tx2"/>
                  </a:solidFill>
                  <a:round/>
                  <a:headEnd type="oval"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15" name="Line 290"/>
                <p:cNvSpPr>
                  <a:spLocks noChangeShapeType="1"/>
                </p:cNvSpPr>
                <p:nvPr/>
              </p:nvSpPr>
              <p:spPr bwMode="auto">
                <a:xfrm flipH="1">
                  <a:off x="4943" y="1845"/>
                  <a:ext cx="408"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36910" name="Text Box 291"/>
              <p:cNvSpPr txBox="1">
                <a:spLocks noChangeArrowheads="1"/>
              </p:cNvSpPr>
              <p:nvPr/>
            </p:nvSpPr>
            <p:spPr bwMode="auto">
              <a:xfrm>
                <a:off x="4740" y="1946"/>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t>开口销</a:t>
                </a:r>
                <a:endParaRPr lang="zh-CN" altLang="en-US" b="1"/>
              </a:p>
            </p:txBody>
          </p:sp>
          <p:sp>
            <p:nvSpPr>
              <p:cNvPr id="36911" name="Line 292"/>
              <p:cNvSpPr>
                <a:spLocks noChangeShapeType="1"/>
              </p:cNvSpPr>
              <p:nvPr/>
            </p:nvSpPr>
            <p:spPr bwMode="auto">
              <a:xfrm flipV="1">
                <a:off x="4534" y="2209"/>
                <a:ext cx="281" cy="151"/>
              </a:xfrm>
              <a:prstGeom prst="line">
                <a:avLst/>
              </a:prstGeom>
              <a:noFill/>
              <a:ln w="19050">
                <a:solidFill>
                  <a:schemeClr val="tx2"/>
                </a:solidFill>
                <a:round/>
                <a:headEnd type="oval" w="sm" len="sm"/>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912" name="Line 293"/>
              <p:cNvSpPr>
                <a:spLocks noChangeShapeType="1"/>
              </p:cNvSpPr>
              <p:nvPr/>
            </p:nvSpPr>
            <p:spPr bwMode="auto">
              <a:xfrm>
                <a:off x="4810" y="2215"/>
                <a:ext cx="566" cy="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sp>
        <p:nvSpPr>
          <p:cNvPr id="36973" name="Line 109"/>
          <p:cNvSpPr>
            <a:spLocks noChangeShapeType="1"/>
          </p:cNvSpPr>
          <p:nvPr/>
        </p:nvSpPr>
        <p:spPr bwMode="auto">
          <a:xfrm>
            <a:off x="6967538" y="1624013"/>
            <a:ext cx="0" cy="546100"/>
          </a:xfrm>
          <a:prstGeom prst="line">
            <a:avLst/>
          </a:prstGeom>
          <a:noFill/>
          <a:ln w="12700">
            <a:solidFill>
              <a:srgbClr val="0000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868" name="Text Box 110"/>
          <p:cNvSpPr txBox="1">
            <a:spLocks noChangeArrowheads="1"/>
          </p:cNvSpPr>
          <p:nvPr/>
        </p:nvSpPr>
        <p:spPr bwMode="auto">
          <a:xfrm>
            <a:off x="146050" y="441325"/>
            <a:ext cx="48958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采用基轴制配合时</a:t>
            </a:r>
            <a:r>
              <a:rPr lang="en-US" altLang="zh-CN" sz="3200" b="1">
                <a:latin typeface="宋体" panose="02010600030101010101" pitchFamily="2" charset="-122"/>
              </a:rPr>
              <a:t>,</a:t>
            </a:r>
            <a:r>
              <a:rPr lang="zh-CN" altLang="en-US" sz="3200" b="1">
                <a:latin typeface="宋体" panose="02010600030101010101" pitchFamily="2" charset="-122"/>
              </a:rPr>
              <a:t>分母</a:t>
            </a:r>
            <a:endParaRPr lang="zh-CN" altLang="en-US" sz="3200" b="1">
              <a:latin typeface="宋体" panose="02010600030101010101" pitchFamily="2" charset="-122"/>
            </a:endParaRPr>
          </a:p>
          <a:p>
            <a:pPr algn="l"/>
            <a:r>
              <a:rPr lang="zh-CN" altLang="en-US" sz="3200" b="1">
                <a:latin typeface="宋体" panose="02010600030101010101" pitchFamily="2" charset="-122"/>
              </a:rPr>
              <a:t>为基准轴的公差带代号。</a:t>
            </a:r>
            <a:endParaRPr lang="zh-CN" altLang="en-US" sz="3200" b="1">
              <a:latin typeface="宋体" panose="02010600030101010101" pitchFamily="2" charset="-122"/>
            </a:endParaRPr>
          </a:p>
        </p:txBody>
      </p:sp>
      <p:sp>
        <p:nvSpPr>
          <p:cNvPr id="36975" name="Text Box 111"/>
          <p:cNvSpPr txBox="1">
            <a:spLocks noChangeArrowheads="1"/>
          </p:cNvSpPr>
          <p:nvPr/>
        </p:nvSpPr>
        <p:spPr bwMode="auto">
          <a:xfrm>
            <a:off x="484188" y="1743075"/>
            <a:ext cx="140811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例如：</a:t>
            </a:r>
            <a:endParaRPr lang="zh-CN" altLang="en-US" sz="3200" b="1">
              <a:latin typeface="宋体" panose="02010600030101010101" pitchFamily="2" charset="-122"/>
            </a:endParaRPr>
          </a:p>
        </p:txBody>
      </p:sp>
      <p:sp>
        <p:nvSpPr>
          <p:cNvPr id="36976" name="Text Box 112"/>
          <p:cNvSpPr txBox="1">
            <a:spLocks noChangeArrowheads="1"/>
          </p:cNvSpPr>
          <p:nvPr/>
        </p:nvSpPr>
        <p:spPr bwMode="auto">
          <a:xfrm>
            <a:off x="449263" y="2428875"/>
            <a:ext cx="317341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基轴制间隙配合</a:t>
            </a:r>
            <a:endParaRPr lang="zh-CN" altLang="en-US" sz="3200" b="1">
              <a:latin typeface="宋体" panose="02010600030101010101" pitchFamily="2" charset="-122"/>
            </a:endParaRPr>
          </a:p>
        </p:txBody>
      </p:sp>
      <p:sp>
        <p:nvSpPr>
          <p:cNvPr id="36977" name="Text Box 113"/>
          <p:cNvSpPr txBox="1">
            <a:spLocks noChangeArrowheads="1"/>
          </p:cNvSpPr>
          <p:nvPr/>
        </p:nvSpPr>
        <p:spPr bwMode="auto">
          <a:xfrm>
            <a:off x="1549400" y="3286125"/>
            <a:ext cx="30908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基轴制过渡配合</a:t>
            </a:r>
            <a:endParaRPr lang="zh-CN" altLang="en-US" sz="3200" b="1">
              <a:latin typeface="宋体" panose="02010600030101010101" pitchFamily="2" charset="-122"/>
            </a:endParaRPr>
          </a:p>
        </p:txBody>
      </p:sp>
      <p:grpSp>
        <p:nvGrpSpPr>
          <p:cNvPr id="36978" name="Group 114"/>
          <p:cNvGrpSpPr/>
          <p:nvPr/>
        </p:nvGrpSpPr>
        <p:grpSpPr bwMode="auto">
          <a:xfrm>
            <a:off x="4765675" y="374650"/>
            <a:ext cx="1439863" cy="1446213"/>
            <a:chOff x="2888" y="1076"/>
            <a:chExt cx="907" cy="911"/>
          </a:xfrm>
        </p:grpSpPr>
        <p:sp>
          <p:nvSpPr>
            <p:cNvPr id="36894" name="Line 115"/>
            <p:cNvSpPr>
              <a:spLocks noChangeShapeType="1"/>
            </p:cNvSpPr>
            <p:nvPr/>
          </p:nvSpPr>
          <p:spPr bwMode="auto">
            <a:xfrm flipH="1" flipV="1">
              <a:off x="3501" y="1478"/>
              <a:ext cx="294" cy="509"/>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895" name="Line 116"/>
            <p:cNvSpPr>
              <a:spLocks noChangeShapeType="1"/>
            </p:cNvSpPr>
            <p:nvPr/>
          </p:nvSpPr>
          <p:spPr bwMode="auto">
            <a:xfrm flipH="1">
              <a:off x="2922" y="1481"/>
              <a:ext cx="586"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896" name="Text Box 117"/>
            <p:cNvSpPr txBox="1">
              <a:spLocks noChangeArrowheads="1"/>
            </p:cNvSpPr>
            <p:nvPr/>
          </p:nvSpPr>
          <p:spPr bwMode="auto">
            <a:xfrm>
              <a:off x="2888" y="1155"/>
              <a:ext cx="37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rgbClr val="FF3300"/>
                  </a:solidFill>
                  <a:sym typeface="Symbol" panose="05050102010706020507" pitchFamily="18" charset="2"/>
                </a:rPr>
                <a:t></a:t>
              </a:r>
              <a:r>
                <a:rPr lang="en-US" altLang="zh-CN" b="1" i="1">
                  <a:solidFill>
                    <a:srgbClr val="FF3300"/>
                  </a:solidFill>
                  <a:latin typeface="ISOCPEUR" panose="020B0604020202020204" pitchFamily="34" charset="0"/>
                  <a:sym typeface="Symbol" panose="05050102010706020507" pitchFamily="18" charset="2"/>
                </a:rPr>
                <a:t>12</a:t>
              </a:r>
              <a:endParaRPr lang="en-US" altLang="zh-CN" b="1">
                <a:solidFill>
                  <a:srgbClr val="FF3300"/>
                </a:solidFill>
                <a:latin typeface="ISOCPEUR" panose="020B0604020202020204" pitchFamily="34" charset="0"/>
              </a:endParaRPr>
            </a:p>
          </p:txBody>
        </p:sp>
        <p:sp>
          <p:nvSpPr>
            <p:cNvPr id="36897" name="Text Box 118"/>
            <p:cNvSpPr txBox="1">
              <a:spLocks noChangeArrowheads="1"/>
            </p:cNvSpPr>
            <p:nvPr/>
          </p:nvSpPr>
          <p:spPr bwMode="auto">
            <a:xfrm>
              <a:off x="3190" y="1076"/>
              <a:ext cx="2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rgbClr val="FF3300"/>
                  </a:solidFill>
                  <a:latin typeface="ISOCPEUR" panose="020B0604020202020204" pitchFamily="34" charset="0"/>
                </a:rPr>
                <a:t>F8</a:t>
              </a:r>
              <a:endParaRPr lang="en-US" altLang="zh-CN" b="1">
                <a:solidFill>
                  <a:srgbClr val="FF3300"/>
                </a:solidFill>
                <a:latin typeface="ISOCPEUR" panose="020B0604020202020204" pitchFamily="34" charset="0"/>
              </a:endParaRPr>
            </a:p>
          </p:txBody>
        </p:sp>
        <p:sp>
          <p:nvSpPr>
            <p:cNvPr id="36898" name="Text Box 119"/>
            <p:cNvSpPr txBox="1">
              <a:spLocks noChangeArrowheads="1"/>
            </p:cNvSpPr>
            <p:nvPr/>
          </p:nvSpPr>
          <p:spPr bwMode="auto">
            <a:xfrm>
              <a:off x="3193" y="1253"/>
              <a:ext cx="3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rgbClr val="FF3300"/>
                  </a:solidFill>
                  <a:latin typeface="ISOCPEUR" panose="020B0604020202020204" pitchFamily="34" charset="0"/>
                </a:rPr>
                <a:t>h</a:t>
              </a:r>
              <a:r>
                <a:rPr lang="en-US" altLang="zh-CN" sz="2200" i="1">
                  <a:solidFill>
                    <a:srgbClr val="FF3300"/>
                  </a:solidFill>
                  <a:latin typeface="Arial" panose="020B0604020202020204" pitchFamily="34" charset="0"/>
                </a:rPr>
                <a:t>7</a:t>
              </a:r>
              <a:endParaRPr lang="en-US" altLang="zh-CN" sz="2200">
                <a:solidFill>
                  <a:srgbClr val="FF3300"/>
                </a:solidFill>
                <a:latin typeface="Arial" panose="020B0604020202020204" pitchFamily="34" charset="0"/>
              </a:endParaRPr>
            </a:p>
          </p:txBody>
        </p:sp>
        <p:sp>
          <p:nvSpPr>
            <p:cNvPr id="36899" name="Line 120"/>
            <p:cNvSpPr>
              <a:spLocks noChangeShapeType="1"/>
            </p:cNvSpPr>
            <p:nvPr/>
          </p:nvSpPr>
          <p:spPr bwMode="auto">
            <a:xfrm>
              <a:off x="3228" y="1300"/>
              <a:ext cx="25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36985" name="Group 121"/>
          <p:cNvGrpSpPr/>
          <p:nvPr/>
        </p:nvGrpSpPr>
        <p:grpSpPr bwMode="auto">
          <a:xfrm>
            <a:off x="1835150" y="1665288"/>
            <a:ext cx="1192213" cy="841375"/>
            <a:chOff x="1159" y="961"/>
            <a:chExt cx="751" cy="530"/>
          </a:xfrm>
        </p:grpSpPr>
        <p:sp>
          <p:nvSpPr>
            <p:cNvPr id="36890" name="Text Box 122"/>
            <p:cNvSpPr txBox="1">
              <a:spLocks noChangeArrowheads="1"/>
            </p:cNvSpPr>
            <p:nvPr/>
          </p:nvSpPr>
          <p:spPr bwMode="auto">
            <a:xfrm>
              <a:off x="1159" y="1036"/>
              <a:ext cx="45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sym typeface="Symbol" panose="05050102010706020507" pitchFamily="18" charset="2"/>
                </a:rPr>
                <a:t>12</a:t>
              </a:r>
              <a:endParaRPr lang="en-US" altLang="zh-CN" sz="2800" b="1">
                <a:solidFill>
                  <a:srgbClr val="FF3300"/>
                </a:solidFill>
              </a:endParaRPr>
            </a:p>
          </p:txBody>
        </p:sp>
        <p:sp>
          <p:nvSpPr>
            <p:cNvPr id="36891" name="Text Box 123"/>
            <p:cNvSpPr txBox="1">
              <a:spLocks noChangeArrowheads="1"/>
            </p:cNvSpPr>
            <p:nvPr/>
          </p:nvSpPr>
          <p:spPr bwMode="auto">
            <a:xfrm>
              <a:off x="1544" y="961"/>
              <a:ext cx="3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F8</a:t>
              </a:r>
              <a:endParaRPr lang="en-US" altLang="zh-CN" sz="2800" b="1">
                <a:solidFill>
                  <a:srgbClr val="FF3300"/>
                </a:solidFill>
              </a:endParaRPr>
            </a:p>
          </p:txBody>
        </p:sp>
        <p:sp>
          <p:nvSpPr>
            <p:cNvPr id="36892" name="Text Box 124"/>
            <p:cNvSpPr txBox="1">
              <a:spLocks noChangeArrowheads="1"/>
            </p:cNvSpPr>
            <p:nvPr/>
          </p:nvSpPr>
          <p:spPr bwMode="auto">
            <a:xfrm>
              <a:off x="1557" y="1164"/>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rgbClr val="FF3300"/>
                  </a:solidFill>
                </a:rPr>
                <a:t>h7</a:t>
              </a:r>
              <a:endParaRPr lang="en-US" altLang="zh-CN" sz="2800" b="1">
                <a:solidFill>
                  <a:srgbClr val="FF3300"/>
                </a:solidFill>
              </a:endParaRPr>
            </a:p>
          </p:txBody>
        </p:sp>
        <p:sp>
          <p:nvSpPr>
            <p:cNvPr id="36893" name="Line 125"/>
            <p:cNvSpPr>
              <a:spLocks noChangeShapeType="1"/>
            </p:cNvSpPr>
            <p:nvPr/>
          </p:nvSpPr>
          <p:spPr bwMode="auto">
            <a:xfrm>
              <a:off x="1593" y="1229"/>
              <a:ext cx="261"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36990" name="Group 126"/>
          <p:cNvGrpSpPr/>
          <p:nvPr/>
        </p:nvGrpSpPr>
        <p:grpSpPr bwMode="auto">
          <a:xfrm>
            <a:off x="307975" y="3162300"/>
            <a:ext cx="1182688" cy="852488"/>
            <a:chOff x="1030" y="2285"/>
            <a:chExt cx="745" cy="537"/>
          </a:xfrm>
        </p:grpSpPr>
        <p:sp>
          <p:nvSpPr>
            <p:cNvPr id="36886" name="Text Box 127"/>
            <p:cNvSpPr txBox="1">
              <a:spLocks noChangeArrowheads="1"/>
            </p:cNvSpPr>
            <p:nvPr/>
          </p:nvSpPr>
          <p:spPr bwMode="auto">
            <a:xfrm>
              <a:off x="1030" y="2367"/>
              <a:ext cx="45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accent2"/>
                  </a:solidFill>
                  <a:sym typeface="Symbol" panose="05050102010706020507" pitchFamily="18" charset="2"/>
                </a:rPr>
                <a:t>12</a:t>
              </a:r>
              <a:endParaRPr lang="en-US" altLang="zh-CN" sz="2800" b="1">
                <a:solidFill>
                  <a:schemeClr val="accent2"/>
                </a:solidFill>
              </a:endParaRPr>
            </a:p>
          </p:txBody>
        </p:sp>
        <p:sp>
          <p:nvSpPr>
            <p:cNvPr id="36887" name="Text Box 128"/>
            <p:cNvSpPr txBox="1">
              <a:spLocks noChangeArrowheads="1"/>
            </p:cNvSpPr>
            <p:nvPr/>
          </p:nvSpPr>
          <p:spPr bwMode="auto">
            <a:xfrm>
              <a:off x="1421" y="2285"/>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accent2"/>
                  </a:solidFill>
                </a:rPr>
                <a:t>J8</a:t>
              </a:r>
              <a:endParaRPr lang="en-US" altLang="zh-CN" sz="2800" b="1">
                <a:solidFill>
                  <a:schemeClr val="accent2"/>
                </a:solidFill>
              </a:endParaRPr>
            </a:p>
          </p:txBody>
        </p:sp>
        <p:sp>
          <p:nvSpPr>
            <p:cNvPr id="36888" name="Text Box 129"/>
            <p:cNvSpPr txBox="1">
              <a:spLocks noChangeArrowheads="1"/>
            </p:cNvSpPr>
            <p:nvPr/>
          </p:nvSpPr>
          <p:spPr bwMode="auto">
            <a:xfrm>
              <a:off x="1422" y="2495"/>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solidFill>
                    <a:schemeClr val="accent2"/>
                  </a:solidFill>
                </a:rPr>
                <a:t>h7</a:t>
              </a:r>
              <a:endParaRPr lang="en-US" altLang="zh-CN" sz="2800" b="1">
                <a:solidFill>
                  <a:schemeClr val="accent2"/>
                </a:solidFill>
              </a:endParaRPr>
            </a:p>
          </p:txBody>
        </p:sp>
        <p:sp>
          <p:nvSpPr>
            <p:cNvPr id="36889" name="Line 130"/>
            <p:cNvSpPr>
              <a:spLocks noChangeShapeType="1"/>
            </p:cNvSpPr>
            <p:nvPr/>
          </p:nvSpPr>
          <p:spPr bwMode="auto">
            <a:xfrm>
              <a:off x="1454" y="2553"/>
              <a:ext cx="284"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36995" name="Line 131"/>
          <p:cNvSpPr>
            <a:spLocks noChangeShapeType="1"/>
          </p:cNvSpPr>
          <p:nvPr/>
        </p:nvSpPr>
        <p:spPr bwMode="auto">
          <a:xfrm>
            <a:off x="6200775" y="1600200"/>
            <a:ext cx="0" cy="552450"/>
          </a:xfrm>
          <a:prstGeom prst="line">
            <a:avLst/>
          </a:prstGeom>
          <a:noFill/>
          <a:ln w="12700">
            <a:solidFill>
              <a:srgbClr val="FF66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015" name="Group 151"/>
          <p:cNvGrpSpPr/>
          <p:nvPr/>
        </p:nvGrpSpPr>
        <p:grpSpPr bwMode="auto">
          <a:xfrm>
            <a:off x="6967538" y="327025"/>
            <a:ext cx="1517650" cy="1519238"/>
            <a:chOff x="4263" y="1046"/>
            <a:chExt cx="956" cy="957"/>
          </a:xfrm>
        </p:grpSpPr>
        <p:grpSp>
          <p:nvGrpSpPr>
            <p:cNvPr id="36879" name="Group 150"/>
            <p:cNvGrpSpPr/>
            <p:nvPr/>
          </p:nvGrpSpPr>
          <p:grpSpPr bwMode="auto">
            <a:xfrm>
              <a:off x="4263" y="1479"/>
              <a:ext cx="897" cy="524"/>
              <a:chOff x="4263" y="1479"/>
              <a:chExt cx="897" cy="524"/>
            </a:xfrm>
          </p:grpSpPr>
          <p:sp>
            <p:nvSpPr>
              <p:cNvPr id="36884" name="Line 134"/>
              <p:cNvSpPr>
                <a:spLocks noChangeShapeType="1"/>
              </p:cNvSpPr>
              <p:nvPr/>
            </p:nvSpPr>
            <p:spPr bwMode="auto">
              <a:xfrm flipV="1">
                <a:off x="4263" y="1479"/>
                <a:ext cx="416" cy="524"/>
              </a:xfrm>
              <a:prstGeom prst="line">
                <a:avLst/>
              </a:prstGeom>
              <a:noFill/>
              <a:ln w="19050">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6885" name="Line 135"/>
              <p:cNvSpPr>
                <a:spLocks noChangeShapeType="1"/>
              </p:cNvSpPr>
              <p:nvPr/>
            </p:nvSpPr>
            <p:spPr bwMode="auto">
              <a:xfrm>
                <a:off x="4678" y="1479"/>
                <a:ext cx="482" cy="0"/>
              </a:xfrm>
              <a:prstGeom prst="line">
                <a:avLst/>
              </a:prstGeom>
              <a:noFill/>
              <a:ln w="19050">
                <a:solidFill>
                  <a:srgbClr val="000099"/>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36880" name="Text Box 136"/>
            <p:cNvSpPr txBox="1">
              <a:spLocks noChangeArrowheads="1"/>
            </p:cNvSpPr>
            <p:nvPr/>
          </p:nvSpPr>
          <p:spPr bwMode="auto">
            <a:xfrm>
              <a:off x="4617" y="1154"/>
              <a:ext cx="37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chemeClr val="accent2"/>
                  </a:solidFill>
                  <a:latin typeface="ISOCP" panose="00000400000000000000" pitchFamily="2" charset="0"/>
                  <a:sym typeface="Symbol" panose="05050102010706020507" pitchFamily="18" charset="2"/>
                </a:rPr>
                <a:t></a:t>
              </a:r>
              <a:r>
                <a:rPr lang="en-US" altLang="zh-CN" b="1" i="1">
                  <a:solidFill>
                    <a:schemeClr val="accent2"/>
                  </a:solidFill>
                  <a:latin typeface="ISOCPEUR" panose="020B0604020202020204" pitchFamily="34" charset="0"/>
                  <a:sym typeface="Symbol" panose="05050102010706020507" pitchFamily="18" charset="2"/>
                </a:rPr>
                <a:t>12</a:t>
              </a:r>
              <a:endParaRPr lang="en-US" altLang="zh-CN" b="1">
                <a:solidFill>
                  <a:schemeClr val="accent2"/>
                </a:solidFill>
                <a:latin typeface="ISOCPEUR" panose="020B0604020202020204" pitchFamily="34" charset="0"/>
              </a:endParaRPr>
            </a:p>
          </p:txBody>
        </p:sp>
        <p:sp>
          <p:nvSpPr>
            <p:cNvPr id="36881" name="Text Box 137"/>
            <p:cNvSpPr txBox="1">
              <a:spLocks noChangeArrowheads="1"/>
            </p:cNvSpPr>
            <p:nvPr/>
          </p:nvSpPr>
          <p:spPr bwMode="auto">
            <a:xfrm>
              <a:off x="4915" y="1252"/>
              <a:ext cx="3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chemeClr val="accent2"/>
                  </a:solidFill>
                  <a:latin typeface="ISOCPEUR" panose="020B0604020202020204" pitchFamily="34" charset="0"/>
                </a:rPr>
                <a:t>h</a:t>
              </a:r>
              <a:r>
                <a:rPr lang="en-US" altLang="zh-CN" sz="2200" i="1">
                  <a:solidFill>
                    <a:schemeClr val="accent2"/>
                  </a:solidFill>
                  <a:latin typeface="Arial" panose="020B0604020202020204" pitchFamily="34" charset="0"/>
                </a:rPr>
                <a:t>7</a:t>
              </a:r>
              <a:endParaRPr lang="en-US" altLang="zh-CN" sz="2200">
                <a:solidFill>
                  <a:schemeClr val="accent2"/>
                </a:solidFill>
                <a:latin typeface="Arial" panose="020B0604020202020204" pitchFamily="34" charset="0"/>
              </a:endParaRPr>
            </a:p>
          </p:txBody>
        </p:sp>
        <p:sp>
          <p:nvSpPr>
            <p:cNvPr id="36882" name="Line 138"/>
            <p:cNvSpPr>
              <a:spLocks noChangeShapeType="1"/>
            </p:cNvSpPr>
            <p:nvPr/>
          </p:nvSpPr>
          <p:spPr bwMode="auto">
            <a:xfrm>
              <a:off x="4958" y="1296"/>
              <a:ext cx="233"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883" name="Text Box 139"/>
            <p:cNvSpPr txBox="1">
              <a:spLocks noChangeArrowheads="1"/>
            </p:cNvSpPr>
            <p:nvPr/>
          </p:nvSpPr>
          <p:spPr bwMode="auto">
            <a:xfrm>
              <a:off x="4924" y="1046"/>
              <a:ext cx="28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solidFill>
                    <a:schemeClr val="accent2"/>
                  </a:solidFill>
                  <a:latin typeface="ISOCPEUR" panose="020B0604020202020204" pitchFamily="34" charset="0"/>
                </a:rPr>
                <a:t>J8</a:t>
              </a:r>
              <a:endParaRPr lang="en-US" altLang="zh-CN">
                <a:solidFill>
                  <a:schemeClr val="accent2"/>
                </a:solidFill>
                <a:latin typeface="ISOCPEUR" panose="020B0604020202020204" pitchFamily="34" charset="0"/>
              </a:endParaRPr>
            </a:p>
          </p:txBody>
        </p:sp>
      </p:grpSp>
      <p:sp>
        <p:nvSpPr>
          <p:cNvPr id="37004" name="Text Box 140"/>
          <p:cNvSpPr txBox="1">
            <a:spLocks noChangeArrowheads="1"/>
          </p:cNvSpPr>
          <p:nvPr/>
        </p:nvSpPr>
        <p:spPr bwMode="auto">
          <a:xfrm>
            <a:off x="379413" y="4092575"/>
            <a:ext cx="4754562"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solidFill>
                  <a:srgbClr val="FF3300"/>
                </a:solidFill>
              </a:rPr>
              <a:t>        </a:t>
            </a:r>
            <a:r>
              <a:rPr lang="zh-CN" altLang="en-US" sz="2800" b="1">
                <a:solidFill>
                  <a:srgbClr val="FF3300"/>
                </a:solidFill>
              </a:rPr>
              <a:t>一般情况选用基孔制配合。当等径的光轴在不同部位装上配合要求不同的零件时，采用基轴制配合。</a:t>
            </a:r>
            <a:endParaRPr lang="zh-CN" altLang="en-US" sz="2800" b="1">
              <a:solidFill>
                <a:srgbClr val="FF3300"/>
              </a:solidFill>
            </a:endParaRPr>
          </a:p>
        </p:txBody>
      </p:sp>
      <p:pic>
        <p:nvPicPr>
          <p:cNvPr id="37158" name="Picture 294" descr="11-34配合模型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00650" y="3643313"/>
            <a:ext cx="28321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6975">
                                            <p:txEl>
                                              <p:pRg st="0" end="0"/>
                                            </p:txEl>
                                          </p:spTgt>
                                        </p:tgtEl>
                                        <p:attrNameLst>
                                          <p:attrName>style.visibility</p:attrName>
                                        </p:attrNameLst>
                                      </p:cBhvr>
                                      <p:to>
                                        <p:strVal val="visible"/>
                                      </p:to>
                                    </p:set>
                                    <p:animEffect transition="in" filter="wipe(up)">
                                      <p:cBhvr>
                                        <p:cTn id="7" dur="75"/>
                                        <p:tgtEl>
                                          <p:spTgt spid="369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37045"/>
                                        </p:tgtEl>
                                        <p:attrNameLst>
                                          <p:attrName>style.visibility</p:attrName>
                                        </p:attrNameLst>
                                      </p:cBhvr>
                                      <p:to>
                                        <p:strVal val="visible"/>
                                      </p:to>
                                    </p:set>
                                    <p:animEffect transition="in" filter="blinds(vertical)">
                                      <p:cBhvr>
                                        <p:cTn id="12" dur="500"/>
                                        <p:tgtEl>
                                          <p:spTgt spid="37045"/>
                                        </p:tgtEl>
                                      </p:cBhvr>
                                    </p:animEffect>
                                  </p:childTnLst>
                                </p:cTn>
                              </p:par>
                            </p:childTnLst>
                          </p:cTn>
                        </p:par>
                        <p:par>
                          <p:cTn id="13" fill="hold">
                            <p:stCondLst>
                              <p:cond delay="500"/>
                            </p:stCondLst>
                            <p:childTnLst>
                              <p:par>
                                <p:cTn id="14" presetID="2" presetClass="entr" presetSubtype="2" fill="hold" nodeType="afterEffect">
                                  <p:stCondLst>
                                    <p:cond delay="0"/>
                                  </p:stCondLst>
                                  <p:childTnLst>
                                    <p:set>
                                      <p:cBhvr>
                                        <p:cTn id="15" dur="1" fill="hold">
                                          <p:stCondLst>
                                            <p:cond delay="0"/>
                                          </p:stCondLst>
                                        </p:cTn>
                                        <p:tgtEl>
                                          <p:spTgt spid="37158"/>
                                        </p:tgtEl>
                                        <p:attrNameLst>
                                          <p:attrName>style.visibility</p:attrName>
                                        </p:attrNameLst>
                                      </p:cBhvr>
                                      <p:to>
                                        <p:strVal val="visible"/>
                                      </p:to>
                                    </p:set>
                                    <p:anim calcmode="lin" valueType="num">
                                      <p:cBhvr additive="base">
                                        <p:cTn id="16" dur="500" fill="hold"/>
                                        <p:tgtEl>
                                          <p:spTgt spid="37158"/>
                                        </p:tgtEl>
                                        <p:attrNameLst>
                                          <p:attrName>ppt_x</p:attrName>
                                        </p:attrNameLst>
                                      </p:cBhvr>
                                      <p:tavLst>
                                        <p:tav tm="0">
                                          <p:val>
                                            <p:strVal val="1+#ppt_w/2"/>
                                          </p:val>
                                        </p:tav>
                                        <p:tav tm="100000">
                                          <p:val>
                                            <p:strVal val="#ppt_x"/>
                                          </p:val>
                                        </p:tav>
                                      </p:tavLst>
                                    </p:anim>
                                    <p:anim calcmode="lin" valueType="num">
                                      <p:cBhvr additive="base">
                                        <p:cTn id="17" dur="500" fill="hold"/>
                                        <p:tgtEl>
                                          <p:spTgt spid="37158"/>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6995"/>
                                        </p:tgtEl>
                                        <p:attrNameLst>
                                          <p:attrName>style.visibility</p:attrName>
                                        </p:attrNameLst>
                                      </p:cBhvr>
                                      <p:to>
                                        <p:strVal val="visible"/>
                                      </p:to>
                                    </p:set>
                                    <p:animEffect transition="in" filter="wipe(down)">
                                      <p:cBhvr>
                                        <p:cTn id="22" dur="500"/>
                                        <p:tgtEl>
                                          <p:spTgt spid="36995"/>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36978"/>
                                        </p:tgtEl>
                                        <p:attrNameLst>
                                          <p:attrName>style.visibility</p:attrName>
                                        </p:attrNameLst>
                                      </p:cBhvr>
                                      <p:to>
                                        <p:strVal val="visible"/>
                                      </p:to>
                                    </p:set>
                                    <p:animEffect transition="in" filter="wipe(down)">
                                      <p:cBhvr>
                                        <p:cTn id="26" dur="500"/>
                                        <p:tgtEl>
                                          <p:spTgt spid="3697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6985"/>
                                        </p:tgtEl>
                                        <p:attrNameLst>
                                          <p:attrName>style.visibility</p:attrName>
                                        </p:attrNameLst>
                                      </p:cBhvr>
                                      <p:to>
                                        <p:strVal val="visible"/>
                                      </p:to>
                                    </p:set>
                                    <p:animEffect transition="in" filter="wipe(left)">
                                      <p:cBhvr>
                                        <p:cTn id="31" dur="500"/>
                                        <p:tgtEl>
                                          <p:spTgt spid="3698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iterate type="lt">
                                    <p:tmPct val="100000"/>
                                  </p:iterate>
                                  <p:childTnLst>
                                    <p:set>
                                      <p:cBhvr>
                                        <p:cTn id="35" dur="1" fill="hold">
                                          <p:stCondLst>
                                            <p:cond delay="0"/>
                                          </p:stCondLst>
                                        </p:cTn>
                                        <p:tgtEl>
                                          <p:spTgt spid="36976">
                                            <p:txEl>
                                              <p:pRg st="0" end="0"/>
                                            </p:txEl>
                                          </p:spTgt>
                                        </p:tgtEl>
                                        <p:attrNameLst>
                                          <p:attrName>style.visibility</p:attrName>
                                        </p:attrNameLst>
                                      </p:cBhvr>
                                      <p:to>
                                        <p:strVal val="visible"/>
                                      </p:to>
                                    </p:set>
                                    <p:animEffect transition="in" filter="wipe(up)">
                                      <p:cBhvr>
                                        <p:cTn id="36" dur="75"/>
                                        <p:tgtEl>
                                          <p:spTgt spid="36976">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6973"/>
                                        </p:tgtEl>
                                        <p:attrNameLst>
                                          <p:attrName>style.visibility</p:attrName>
                                        </p:attrNameLst>
                                      </p:cBhvr>
                                      <p:to>
                                        <p:strVal val="visible"/>
                                      </p:to>
                                    </p:set>
                                    <p:animEffect transition="in" filter="wipe(down)">
                                      <p:cBhvr>
                                        <p:cTn id="41" dur="500"/>
                                        <p:tgtEl>
                                          <p:spTgt spid="36973"/>
                                        </p:tgtEl>
                                      </p:cBhvr>
                                    </p:animEffect>
                                  </p:childTnLst>
                                </p:cTn>
                              </p:par>
                            </p:childTnLst>
                          </p:cTn>
                        </p:par>
                        <p:par>
                          <p:cTn id="42" fill="hold">
                            <p:stCondLst>
                              <p:cond delay="500"/>
                            </p:stCondLst>
                            <p:childTnLst>
                              <p:par>
                                <p:cTn id="43" presetID="22" presetClass="entr" presetSubtype="4" fill="hold" nodeType="afterEffect">
                                  <p:stCondLst>
                                    <p:cond delay="0"/>
                                  </p:stCondLst>
                                  <p:childTnLst>
                                    <p:set>
                                      <p:cBhvr>
                                        <p:cTn id="44" dur="1" fill="hold">
                                          <p:stCondLst>
                                            <p:cond delay="0"/>
                                          </p:stCondLst>
                                        </p:cTn>
                                        <p:tgtEl>
                                          <p:spTgt spid="37015"/>
                                        </p:tgtEl>
                                        <p:attrNameLst>
                                          <p:attrName>style.visibility</p:attrName>
                                        </p:attrNameLst>
                                      </p:cBhvr>
                                      <p:to>
                                        <p:strVal val="visible"/>
                                      </p:to>
                                    </p:set>
                                    <p:animEffect transition="in" filter="wipe(down)">
                                      <p:cBhvr>
                                        <p:cTn id="45" dur="500"/>
                                        <p:tgtEl>
                                          <p:spTgt spid="370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6990"/>
                                        </p:tgtEl>
                                        <p:attrNameLst>
                                          <p:attrName>style.visibility</p:attrName>
                                        </p:attrNameLst>
                                      </p:cBhvr>
                                      <p:to>
                                        <p:strVal val="visible"/>
                                      </p:to>
                                    </p:set>
                                    <p:animEffect transition="in" filter="wipe(left)">
                                      <p:cBhvr>
                                        <p:cTn id="50" dur="500"/>
                                        <p:tgtEl>
                                          <p:spTgt spid="3699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iterate type="lt">
                                    <p:tmPct val="100000"/>
                                  </p:iterate>
                                  <p:childTnLst>
                                    <p:set>
                                      <p:cBhvr>
                                        <p:cTn id="54" dur="1" fill="hold">
                                          <p:stCondLst>
                                            <p:cond delay="0"/>
                                          </p:stCondLst>
                                        </p:cTn>
                                        <p:tgtEl>
                                          <p:spTgt spid="36977">
                                            <p:txEl>
                                              <p:pRg st="0" end="0"/>
                                            </p:txEl>
                                          </p:spTgt>
                                        </p:tgtEl>
                                        <p:attrNameLst>
                                          <p:attrName>style.visibility</p:attrName>
                                        </p:attrNameLst>
                                      </p:cBhvr>
                                      <p:to>
                                        <p:strVal val="visible"/>
                                      </p:to>
                                    </p:set>
                                    <p:animEffect transition="in" filter="wipe(up)">
                                      <p:cBhvr>
                                        <p:cTn id="55" dur="75"/>
                                        <p:tgtEl>
                                          <p:spTgt spid="36977">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37" fill="hold" grpId="0" nodeType="clickEffect">
                                  <p:stCondLst>
                                    <p:cond delay="0"/>
                                  </p:stCondLst>
                                  <p:childTnLst>
                                    <p:set>
                                      <p:cBhvr>
                                        <p:cTn id="59" dur="1" fill="hold">
                                          <p:stCondLst>
                                            <p:cond delay="0"/>
                                          </p:stCondLst>
                                        </p:cTn>
                                        <p:tgtEl>
                                          <p:spTgt spid="37004"/>
                                        </p:tgtEl>
                                        <p:attrNameLst>
                                          <p:attrName>style.visibility</p:attrName>
                                        </p:attrNameLst>
                                      </p:cBhvr>
                                      <p:to>
                                        <p:strVal val="visible"/>
                                      </p:to>
                                    </p:set>
                                    <p:animEffect transition="in" filter="barn(outVertical)">
                                      <p:cBhvr>
                                        <p:cTn id="60" dur="500"/>
                                        <p:tgtEl>
                                          <p:spTgt spid="37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75" grpId="0" autoUpdateAnimBg="0" build="p"/>
      <p:bldP spid="36976" grpId="0" autoUpdateAnimBg="0" build="p"/>
      <p:bldP spid="36977" grpId="0" autoUpdateAnimBg="0" build="p"/>
      <p:bldP spid="3700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225425" y="141288"/>
            <a:ext cx="43021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2)</a:t>
            </a:r>
            <a:r>
              <a:rPr lang="zh-CN" altLang="en-US" sz="3200" b="1">
                <a:latin typeface="宋体" panose="02010600030101010101" pitchFamily="2" charset="-122"/>
              </a:rPr>
              <a:t>零件图中极限的标注</a:t>
            </a:r>
            <a:endParaRPr lang="zh-CN" altLang="en-US" sz="3200" b="1">
              <a:latin typeface="宋体" panose="02010600030101010101" pitchFamily="2" charset="-122"/>
            </a:endParaRPr>
          </a:p>
        </p:txBody>
      </p:sp>
      <p:sp>
        <p:nvSpPr>
          <p:cNvPr id="37891" name="Text Box 3"/>
          <p:cNvSpPr txBox="1">
            <a:spLocks noChangeArrowheads="1"/>
          </p:cNvSpPr>
          <p:nvPr/>
        </p:nvSpPr>
        <p:spPr bwMode="auto">
          <a:xfrm>
            <a:off x="503238" y="666750"/>
            <a:ext cx="8396287" cy="155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⑴ </a:t>
            </a:r>
            <a:r>
              <a:rPr lang="zh-CN" altLang="en-US" sz="3200" b="1">
                <a:latin typeface="宋体" panose="02010600030101010101" pitchFamily="2" charset="-122"/>
              </a:rPr>
              <a:t>在基本尺寸后注出</a:t>
            </a:r>
            <a:r>
              <a:rPr lang="zh-CN" altLang="en-US" sz="3200" b="1">
                <a:solidFill>
                  <a:srgbClr val="FF3300"/>
                </a:solidFill>
                <a:latin typeface="宋体" panose="02010600030101010101" pitchFamily="2" charset="-122"/>
              </a:rPr>
              <a:t>公差带代号</a:t>
            </a:r>
            <a:r>
              <a:rPr lang="zh-CN" altLang="en-US" sz="3200" b="1">
                <a:latin typeface="宋体" panose="02010600030101010101" pitchFamily="2" charset="-122"/>
              </a:rPr>
              <a:t>（基本偏 </a:t>
            </a:r>
            <a:endParaRPr lang="zh-CN" altLang="en-US" sz="3200" b="1">
              <a:latin typeface="宋体" panose="02010600030101010101" pitchFamily="2" charset="-122"/>
            </a:endParaRPr>
          </a:p>
          <a:p>
            <a:pPr algn="l"/>
            <a:r>
              <a:rPr lang="zh-CN" altLang="en-US" sz="3200" b="1">
                <a:latin typeface="宋体" panose="02010600030101010101" pitchFamily="2" charset="-122"/>
              </a:rPr>
              <a:t>   差代号和标准公差等级数字）其高度与尺 </a:t>
            </a:r>
            <a:endParaRPr lang="zh-CN" altLang="en-US" sz="3200" b="1">
              <a:latin typeface="宋体" panose="02010600030101010101" pitchFamily="2" charset="-122"/>
            </a:endParaRPr>
          </a:p>
          <a:p>
            <a:pPr algn="l"/>
            <a:r>
              <a:rPr lang="zh-CN" altLang="en-US" sz="3200" b="1">
                <a:latin typeface="宋体" panose="02010600030101010101" pitchFamily="2" charset="-122"/>
              </a:rPr>
              <a:t>   寸数字相同。</a:t>
            </a:r>
            <a:endParaRPr lang="zh-CN" altLang="en-US" sz="3200" b="1">
              <a:latin typeface="宋体" panose="02010600030101010101" pitchFamily="2" charset="-122"/>
            </a:endParaRPr>
          </a:p>
        </p:txBody>
      </p:sp>
      <p:sp>
        <p:nvSpPr>
          <p:cNvPr id="37947" name="Text Box 59"/>
          <p:cNvSpPr txBox="1">
            <a:spLocks noChangeArrowheads="1"/>
          </p:cNvSpPr>
          <p:nvPr/>
        </p:nvSpPr>
        <p:spPr bwMode="auto">
          <a:xfrm>
            <a:off x="812800" y="4783138"/>
            <a:ext cx="7624763"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    </a:t>
            </a:r>
            <a:r>
              <a:rPr lang="zh-CN" altLang="en-US" sz="3200" b="1">
                <a:latin typeface="宋体" panose="02010600030101010101" pitchFamily="2" charset="-122"/>
              </a:rPr>
              <a:t>配合精度明确，标注简单，但数值不直观。适用于量规检测的尺寸。</a:t>
            </a:r>
            <a:endParaRPr lang="zh-CN" altLang="en-US" sz="3200" b="1">
              <a:latin typeface="宋体" panose="02010600030101010101" pitchFamily="2" charset="-122"/>
            </a:endParaRPr>
          </a:p>
        </p:txBody>
      </p:sp>
      <p:grpSp>
        <p:nvGrpSpPr>
          <p:cNvPr id="37958" name="Group 70"/>
          <p:cNvGrpSpPr/>
          <p:nvPr/>
        </p:nvGrpSpPr>
        <p:grpSpPr bwMode="auto">
          <a:xfrm>
            <a:off x="1243013" y="2298700"/>
            <a:ext cx="6170612" cy="2538413"/>
            <a:chOff x="783" y="1448"/>
            <a:chExt cx="3887" cy="1599"/>
          </a:xfrm>
        </p:grpSpPr>
        <p:grpSp>
          <p:nvGrpSpPr>
            <p:cNvPr id="37894" name="Group 5"/>
            <p:cNvGrpSpPr/>
            <p:nvPr/>
          </p:nvGrpSpPr>
          <p:grpSpPr bwMode="auto">
            <a:xfrm>
              <a:off x="1194" y="1448"/>
              <a:ext cx="1346" cy="1229"/>
              <a:chOff x="1194" y="1250"/>
              <a:chExt cx="1346" cy="1229"/>
            </a:xfrm>
          </p:grpSpPr>
          <p:sp>
            <p:nvSpPr>
              <p:cNvPr id="37917" name="Line 6"/>
              <p:cNvSpPr>
                <a:spLocks noChangeShapeType="1"/>
              </p:cNvSpPr>
              <p:nvPr/>
            </p:nvSpPr>
            <p:spPr bwMode="auto">
              <a:xfrm>
                <a:off x="1194" y="1861"/>
                <a:ext cx="1346" cy="0"/>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18" name="Line 7"/>
              <p:cNvSpPr>
                <a:spLocks noChangeShapeType="1"/>
              </p:cNvSpPr>
              <p:nvPr/>
            </p:nvSpPr>
            <p:spPr bwMode="auto">
              <a:xfrm>
                <a:off x="1308" y="1389"/>
                <a:ext cx="865"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19" name="Line 8"/>
              <p:cNvSpPr>
                <a:spLocks noChangeShapeType="1"/>
              </p:cNvSpPr>
              <p:nvPr/>
            </p:nvSpPr>
            <p:spPr bwMode="auto">
              <a:xfrm>
                <a:off x="1307" y="2327"/>
                <a:ext cx="865"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20" name="Line 9"/>
              <p:cNvSpPr>
                <a:spLocks noChangeShapeType="1"/>
              </p:cNvSpPr>
              <p:nvPr/>
            </p:nvSpPr>
            <p:spPr bwMode="auto">
              <a:xfrm>
                <a:off x="2163" y="1251"/>
                <a:ext cx="0" cy="14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21" name="Line 10"/>
              <p:cNvSpPr>
                <a:spLocks noChangeShapeType="1"/>
              </p:cNvSpPr>
              <p:nvPr/>
            </p:nvSpPr>
            <p:spPr bwMode="auto">
              <a:xfrm>
                <a:off x="2163" y="2327"/>
                <a:ext cx="0" cy="152"/>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22" name="Line 11"/>
              <p:cNvSpPr>
                <a:spLocks noChangeShapeType="1"/>
              </p:cNvSpPr>
              <p:nvPr/>
            </p:nvSpPr>
            <p:spPr bwMode="auto">
              <a:xfrm>
                <a:off x="2169" y="1254"/>
                <a:ext cx="26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23" name="Line 12"/>
              <p:cNvSpPr>
                <a:spLocks noChangeShapeType="1"/>
              </p:cNvSpPr>
              <p:nvPr/>
            </p:nvSpPr>
            <p:spPr bwMode="auto">
              <a:xfrm>
                <a:off x="2164" y="2468"/>
                <a:ext cx="284"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24" name="Line 13"/>
              <p:cNvSpPr>
                <a:spLocks noChangeShapeType="1"/>
              </p:cNvSpPr>
              <p:nvPr/>
            </p:nvSpPr>
            <p:spPr bwMode="auto">
              <a:xfrm>
                <a:off x="2431" y="1251"/>
                <a:ext cx="0" cy="1221"/>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25" name="Freeform 14"/>
              <p:cNvSpPr/>
              <p:nvPr/>
            </p:nvSpPr>
            <p:spPr bwMode="auto">
              <a:xfrm>
                <a:off x="1315" y="1388"/>
                <a:ext cx="1" cy="951"/>
              </a:xfrm>
              <a:custGeom>
                <a:avLst/>
                <a:gdLst>
                  <a:gd name="T0" fmla="*/ 0 w 1"/>
                  <a:gd name="T1" fmla="*/ 0 h 951"/>
                  <a:gd name="T2" fmla="*/ 0 w 1"/>
                  <a:gd name="T3" fmla="*/ 951 h 951"/>
                  <a:gd name="T4" fmla="*/ 0 60000 65536"/>
                  <a:gd name="T5" fmla="*/ 0 60000 65536"/>
                </a:gdLst>
                <a:ahLst/>
                <a:cxnLst>
                  <a:cxn ang="T4">
                    <a:pos x="T0" y="T1"/>
                  </a:cxn>
                  <a:cxn ang="T5">
                    <a:pos x="T2" y="T3"/>
                  </a:cxn>
                </a:cxnLst>
                <a:rect l="0" t="0" r="r" b="b"/>
                <a:pathLst>
                  <a:path w="1" h="951">
                    <a:moveTo>
                      <a:pt x="0" y="0"/>
                    </a:moveTo>
                    <a:lnTo>
                      <a:pt x="0" y="951"/>
                    </a:lnTo>
                  </a:path>
                </a:pathLst>
              </a:custGeom>
              <a:noFill/>
              <a:ln w="3810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26" name="Line 15"/>
              <p:cNvSpPr>
                <a:spLocks noChangeShapeType="1"/>
              </p:cNvSpPr>
              <p:nvPr/>
            </p:nvSpPr>
            <p:spPr bwMode="auto">
              <a:xfrm>
                <a:off x="1311" y="1592"/>
                <a:ext cx="111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27" name="Line 16"/>
              <p:cNvSpPr>
                <a:spLocks noChangeShapeType="1"/>
              </p:cNvSpPr>
              <p:nvPr/>
            </p:nvSpPr>
            <p:spPr bwMode="auto">
              <a:xfrm>
                <a:off x="1312" y="2131"/>
                <a:ext cx="111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28" name="Line 17"/>
              <p:cNvSpPr>
                <a:spLocks noChangeShapeType="1"/>
              </p:cNvSpPr>
              <p:nvPr/>
            </p:nvSpPr>
            <p:spPr bwMode="auto">
              <a:xfrm flipV="1">
                <a:off x="2380" y="1542"/>
                <a:ext cx="50" cy="5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29" name="Freeform 18"/>
              <p:cNvSpPr/>
              <p:nvPr/>
            </p:nvSpPr>
            <p:spPr bwMode="auto">
              <a:xfrm>
                <a:off x="1310" y="1388"/>
                <a:ext cx="102" cy="102"/>
              </a:xfrm>
              <a:custGeom>
                <a:avLst/>
                <a:gdLst>
                  <a:gd name="T0" fmla="*/ 0 w 102"/>
                  <a:gd name="T1" fmla="*/ 102 h 102"/>
                  <a:gd name="T2" fmla="*/ 102 w 102"/>
                  <a:gd name="T3" fmla="*/ 0 h 102"/>
                  <a:gd name="T4" fmla="*/ 0 60000 65536"/>
                  <a:gd name="T5" fmla="*/ 0 60000 65536"/>
                </a:gdLst>
                <a:ahLst/>
                <a:cxnLst>
                  <a:cxn ang="T4">
                    <a:pos x="T0" y="T1"/>
                  </a:cxn>
                  <a:cxn ang="T5">
                    <a:pos x="T2" y="T3"/>
                  </a:cxn>
                </a:cxnLst>
                <a:rect l="0" t="0" r="r" b="b"/>
                <a:pathLst>
                  <a:path w="102" h="102">
                    <a:moveTo>
                      <a:pt x="0" y="102"/>
                    </a:moveTo>
                    <a:lnTo>
                      <a:pt x="102"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0" name="Freeform 19"/>
              <p:cNvSpPr/>
              <p:nvPr/>
            </p:nvSpPr>
            <p:spPr bwMode="auto">
              <a:xfrm>
                <a:off x="1360" y="1388"/>
                <a:ext cx="205" cy="207"/>
              </a:xfrm>
              <a:custGeom>
                <a:avLst/>
                <a:gdLst>
                  <a:gd name="T0" fmla="*/ 0 w 205"/>
                  <a:gd name="T1" fmla="*/ 207 h 207"/>
                  <a:gd name="T2" fmla="*/ 205 w 205"/>
                  <a:gd name="T3" fmla="*/ 0 h 207"/>
                  <a:gd name="T4" fmla="*/ 0 60000 65536"/>
                  <a:gd name="T5" fmla="*/ 0 60000 65536"/>
                </a:gdLst>
                <a:ahLst/>
                <a:cxnLst>
                  <a:cxn ang="T4">
                    <a:pos x="T0" y="T1"/>
                  </a:cxn>
                  <a:cxn ang="T5">
                    <a:pos x="T2" y="T3"/>
                  </a:cxn>
                </a:cxnLst>
                <a:rect l="0" t="0" r="r" b="b"/>
                <a:pathLst>
                  <a:path w="205" h="207">
                    <a:moveTo>
                      <a:pt x="0" y="207"/>
                    </a:moveTo>
                    <a:lnTo>
                      <a:pt x="205"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1" name="Freeform 20"/>
              <p:cNvSpPr/>
              <p:nvPr/>
            </p:nvSpPr>
            <p:spPr bwMode="auto">
              <a:xfrm>
                <a:off x="1517" y="1389"/>
                <a:ext cx="209" cy="211"/>
              </a:xfrm>
              <a:custGeom>
                <a:avLst/>
                <a:gdLst>
                  <a:gd name="T0" fmla="*/ 0 w 209"/>
                  <a:gd name="T1" fmla="*/ 211 h 211"/>
                  <a:gd name="T2" fmla="*/ 209 w 209"/>
                  <a:gd name="T3" fmla="*/ 0 h 211"/>
                  <a:gd name="T4" fmla="*/ 0 60000 65536"/>
                  <a:gd name="T5" fmla="*/ 0 60000 65536"/>
                </a:gdLst>
                <a:ahLst/>
                <a:cxnLst>
                  <a:cxn ang="T4">
                    <a:pos x="T0" y="T1"/>
                  </a:cxn>
                  <a:cxn ang="T5">
                    <a:pos x="T2" y="T3"/>
                  </a:cxn>
                </a:cxnLst>
                <a:rect l="0" t="0" r="r" b="b"/>
                <a:pathLst>
                  <a:path w="209" h="211">
                    <a:moveTo>
                      <a:pt x="0" y="211"/>
                    </a:moveTo>
                    <a:lnTo>
                      <a:pt x="209" y="0"/>
                    </a:lnTo>
                  </a:path>
                </a:pathLst>
              </a:custGeom>
              <a:noFill/>
              <a:ln w="19050" cmpd="sng">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2" name="Freeform 21"/>
              <p:cNvSpPr/>
              <p:nvPr/>
            </p:nvSpPr>
            <p:spPr bwMode="auto">
              <a:xfrm>
                <a:off x="1690" y="1392"/>
                <a:ext cx="201" cy="198"/>
              </a:xfrm>
              <a:custGeom>
                <a:avLst/>
                <a:gdLst>
                  <a:gd name="T0" fmla="*/ 0 w 201"/>
                  <a:gd name="T1" fmla="*/ 198 h 198"/>
                  <a:gd name="T2" fmla="*/ 201 w 201"/>
                  <a:gd name="T3" fmla="*/ 0 h 198"/>
                  <a:gd name="T4" fmla="*/ 0 60000 65536"/>
                  <a:gd name="T5" fmla="*/ 0 60000 65536"/>
                </a:gdLst>
                <a:ahLst/>
                <a:cxnLst>
                  <a:cxn ang="T4">
                    <a:pos x="T0" y="T1"/>
                  </a:cxn>
                  <a:cxn ang="T5">
                    <a:pos x="T2" y="T3"/>
                  </a:cxn>
                </a:cxnLst>
                <a:rect l="0" t="0" r="r" b="b"/>
                <a:pathLst>
                  <a:path w="201" h="198">
                    <a:moveTo>
                      <a:pt x="0" y="198"/>
                    </a:moveTo>
                    <a:lnTo>
                      <a:pt x="201"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33" name="Freeform 22"/>
              <p:cNvSpPr/>
              <p:nvPr/>
            </p:nvSpPr>
            <p:spPr bwMode="auto">
              <a:xfrm>
                <a:off x="1856" y="1399"/>
                <a:ext cx="195" cy="193"/>
              </a:xfrm>
              <a:custGeom>
                <a:avLst/>
                <a:gdLst>
                  <a:gd name="T0" fmla="*/ 0 w 195"/>
                  <a:gd name="T1" fmla="*/ 193 h 193"/>
                  <a:gd name="T2" fmla="*/ 195 w 195"/>
                  <a:gd name="T3" fmla="*/ 0 h 193"/>
                  <a:gd name="T4" fmla="*/ 0 60000 65536"/>
                  <a:gd name="T5" fmla="*/ 0 60000 65536"/>
                </a:gdLst>
                <a:ahLst/>
                <a:cxnLst>
                  <a:cxn ang="T4">
                    <a:pos x="T0" y="T1"/>
                  </a:cxn>
                  <a:cxn ang="T5">
                    <a:pos x="T2" y="T3"/>
                  </a:cxn>
                </a:cxnLst>
                <a:rect l="0" t="0" r="r" b="b"/>
                <a:pathLst>
                  <a:path w="195" h="193">
                    <a:moveTo>
                      <a:pt x="0" y="193"/>
                    </a:moveTo>
                    <a:lnTo>
                      <a:pt x="195"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4" name="Freeform 23"/>
              <p:cNvSpPr/>
              <p:nvPr/>
            </p:nvSpPr>
            <p:spPr bwMode="auto">
              <a:xfrm>
                <a:off x="2030" y="1250"/>
                <a:ext cx="342" cy="342"/>
              </a:xfrm>
              <a:custGeom>
                <a:avLst/>
                <a:gdLst>
                  <a:gd name="T0" fmla="*/ 0 w 342"/>
                  <a:gd name="T1" fmla="*/ 342 h 342"/>
                  <a:gd name="T2" fmla="*/ 342 w 342"/>
                  <a:gd name="T3" fmla="*/ 0 h 342"/>
                  <a:gd name="T4" fmla="*/ 0 60000 65536"/>
                  <a:gd name="T5" fmla="*/ 0 60000 65536"/>
                </a:gdLst>
                <a:ahLst/>
                <a:cxnLst>
                  <a:cxn ang="T4">
                    <a:pos x="T0" y="T1"/>
                  </a:cxn>
                  <a:cxn ang="T5">
                    <a:pos x="T2" y="T3"/>
                  </a:cxn>
                </a:cxnLst>
                <a:rect l="0" t="0" r="r" b="b"/>
                <a:pathLst>
                  <a:path w="342" h="342">
                    <a:moveTo>
                      <a:pt x="0" y="342"/>
                    </a:moveTo>
                    <a:lnTo>
                      <a:pt x="342"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35" name="Freeform 24"/>
              <p:cNvSpPr/>
              <p:nvPr/>
            </p:nvSpPr>
            <p:spPr bwMode="auto">
              <a:xfrm>
                <a:off x="2218" y="1388"/>
                <a:ext cx="211" cy="202"/>
              </a:xfrm>
              <a:custGeom>
                <a:avLst/>
                <a:gdLst>
                  <a:gd name="T0" fmla="*/ 0 w 211"/>
                  <a:gd name="T1" fmla="*/ 202 h 202"/>
                  <a:gd name="T2" fmla="*/ 211 w 211"/>
                  <a:gd name="T3" fmla="*/ 0 h 202"/>
                  <a:gd name="T4" fmla="*/ 0 60000 65536"/>
                  <a:gd name="T5" fmla="*/ 0 60000 65536"/>
                </a:gdLst>
                <a:ahLst/>
                <a:cxnLst>
                  <a:cxn ang="T4">
                    <a:pos x="T0" y="T1"/>
                  </a:cxn>
                  <a:cxn ang="T5">
                    <a:pos x="T2" y="T3"/>
                  </a:cxn>
                </a:cxnLst>
                <a:rect l="0" t="0" r="r" b="b"/>
                <a:pathLst>
                  <a:path w="211" h="202">
                    <a:moveTo>
                      <a:pt x="0" y="202"/>
                    </a:moveTo>
                    <a:lnTo>
                      <a:pt x="211"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6" name="Freeform 25"/>
              <p:cNvSpPr/>
              <p:nvPr/>
            </p:nvSpPr>
            <p:spPr bwMode="auto">
              <a:xfrm>
                <a:off x="1315" y="2128"/>
                <a:ext cx="135" cy="134"/>
              </a:xfrm>
              <a:custGeom>
                <a:avLst/>
                <a:gdLst>
                  <a:gd name="T0" fmla="*/ 0 w 135"/>
                  <a:gd name="T1" fmla="*/ 134 h 134"/>
                  <a:gd name="T2" fmla="*/ 135 w 135"/>
                  <a:gd name="T3" fmla="*/ 0 h 134"/>
                  <a:gd name="T4" fmla="*/ 0 60000 65536"/>
                  <a:gd name="T5" fmla="*/ 0 60000 65536"/>
                </a:gdLst>
                <a:ahLst/>
                <a:cxnLst>
                  <a:cxn ang="T4">
                    <a:pos x="T0" y="T1"/>
                  </a:cxn>
                  <a:cxn ang="T5">
                    <a:pos x="T2" y="T3"/>
                  </a:cxn>
                </a:cxnLst>
                <a:rect l="0" t="0" r="r" b="b"/>
                <a:pathLst>
                  <a:path w="135" h="134">
                    <a:moveTo>
                      <a:pt x="0" y="134"/>
                    </a:moveTo>
                    <a:lnTo>
                      <a:pt x="135"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7" name="Freeform 26"/>
              <p:cNvSpPr/>
              <p:nvPr/>
            </p:nvSpPr>
            <p:spPr bwMode="auto">
              <a:xfrm>
                <a:off x="1401" y="2130"/>
                <a:ext cx="209" cy="209"/>
              </a:xfrm>
              <a:custGeom>
                <a:avLst/>
                <a:gdLst>
                  <a:gd name="T0" fmla="*/ 0 w 209"/>
                  <a:gd name="T1" fmla="*/ 209 h 209"/>
                  <a:gd name="T2" fmla="*/ 209 w 209"/>
                  <a:gd name="T3" fmla="*/ 0 h 209"/>
                  <a:gd name="T4" fmla="*/ 0 60000 65536"/>
                  <a:gd name="T5" fmla="*/ 0 60000 65536"/>
                </a:gdLst>
                <a:ahLst/>
                <a:cxnLst>
                  <a:cxn ang="T4">
                    <a:pos x="T0" y="T1"/>
                  </a:cxn>
                  <a:cxn ang="T5">
                    <a:pos x="T2" y="T3"/>
                  </a:cxn>
                </a:cxnLst>
                <a:rect l="0" t="0" r="r" b="b"/>
                <a:pathLst>
                  <a:path w="209" h="209">
                    <a:moveTo>
                      <a:pt x="0" y="209"/>
                    </a:moveTo>
                    <a:lnTo>
                      <a:pt x="209" y="0"/>
                    </a:lnTo>
                  </a:path>
                </a:pathLst>
              </a:custGeom>
              <a:noFill/>
              <a:ln w="19050" cmpd="sng">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8" name="Freeform 27"/>
              <p:cNvSpPr/>
              <p:nvPr/>
            </p:nvSpPr>
            <p:spPr bwMode="auto">
              <a:xfrm>
                <a:off x="1572" y="2130"/>
                <a:ext cx="211" cy="211"/>
              </a:xfrm>
              <a:custGeom>
                <a:avLst/>
                <a:gdLst>
                  <a:gd name="T0" fmla="*/ 0 w 211"/>
                  <a:gd name="T1" fmla="*/ 211 h 211"/>
                  <a:gd name="T2" fmla="*/ 211 w 211"/>
                  <a:gd name="T3" fmla="*/ 0 h 211"/>
                  <a:gd name="T4" fmla="*/ 0 60000 65536"/>
                  <a:gd name="T5" fmla="*/ 0 60000 65536"/>
                </a:gdLst>
                <a:ahLst/>
                <a:cxnLst>
                  <a:cxn ang="T4">
                    <a:pos x="T0" y="T1"/>
                  </a:cxn>
                  <a:cxn ang="T5">
                    <a:pos x="T2" y="T3"/>
                  </a:cxn>
                </a:cxnLst>
                <a:rect l="0" t="0" r="r" b="b"/>
                <a:pathLst>
                  <a:path w="211" h="211">
                    <a:moveTo>
                      <a:pt x="0" y="211"/>
                    </a:moveTo>
                    <a:lnTo>
                      <a:pt x="211"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39" name="Freeform 28"/>
              <p:cNvSpPr/>
              <p:nvPr/>
            </p:nvSpPr>
            <p:spPr bwMode="auto">
              <a:xfrm>
                <a:off x="1757" y="2128"/>
                <a:ext cx="201" cy="201"/>
              </a:xfrm>
              <a:custGeom>
                <a:avLst/>
                <a:gdLst>
                  <a:gd name="T0" fmla="*/ 0 w 201"/>
                  <a:gd name="T1" fmla="*/ 201 h 201"/>
                  <a:gd name="T2" fmla="*/ 201 w 201"/>
                  <a:gd name="T3" fmla="*/ 0 h 201"/>
                  <a:gd name="T4" fmla="*/ 0 60000 65536"/>
                  <a:gd name="T5" fmla="*/ 0 60000 65536"/>
                </a:gdLst>
                <a:ahLst/>
                <a:cxnLst>
                  <a:cxn ang="T4">
                    <a:pos x="T0" y="T1"/>
                  </a:cxn>
                  <a:cxn ang="T5">
                    <a:pos x="T2" y="T3"/>
                  </a:cxn>
                </a:cxnLst>
                <a:rect l="0" t="0" r="r" b="b"/>
                <a:pathLst>
                  <a:path w="201" h="201">
                    <a:moveTo>
                      <a:pt x="0" y="201"/>
                    </a:moveTo>
                    <a:lnTo>
                      <a:pt x="201" y="0"/>
                    </a:lnTo>
                  </a:path>
                </a:pathLst>
              </a:custGeom>
              <a:noFill/>
              <a:ln w="19050" cmpd="sng">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40" name="Freeform 29"/>
              <p:cNvSpPr/>
              <p:nvPr/>
            </p:nvSpPr>
            <p:spPr bwMode="auto">
              <a:xfrm>
                <a:off x="1920" y="2128"/>
                <a:ext cx="202" cy="201"/>
              </a:xfrm>
              <a:custGeom>
                <a:avLst/>
                <a:gdLst>
                  <a:gd name="T0" fmla="*/ 0 w 202"/>
                  <a:gd name="T1" fmla="*/ 201 h 201"/>
                  <a:gd name="T2" fmla="*/ 202 w 202"/>
                  <a:gd name="T3" fmla="*/ 0 h 201"/>
                  <a:gd name="T4" fmla="*/ 0 60000 65536"/>
                  <a:gd name="T5" fmla="*/ 0 60000 65536"/>
                </a:gdLst>
                <a:ahLst/>
                <a:cxnLst>
                  <a:cxn ang="T4">
                    <a:pos x="T0" y="T1"/>
                  </a:cxn>
                  <a:cxn ang="T5">
                    <a:pos x="T2" y="T3"/>
                  </a:cxn>
                </a:cxnLst>
                <a:rect l="0" t="0" r="r" b="b"/>
                <a:pathLst>
                  <a:path w="202" h="201">
                    <a:moveTo>
                      <a:pt x="0" y="201"/>
                    </a:moveTo>
                    <a:lnTo>
                      <a:pt x="202"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41" name="Freeform 30"/>
              <p:cNvSpPr/>
              <p:nvPr/>
            </p:nvSpPr>
            <p:spPr bwMode="auto">
              <a:xfrm>
                <a:off x="2083" y="2128"/>
                <a:ext cx="202" cy="201"/>
              </a:xfrm>
              <a:custGeom>
                <a:avLst/>
                <a:gdLst>
                  <a:gd name="T0" fmla="*/ 0 w 202"/>
                  <a:gd name="T1" fmla="*/ 201 h 201"/>
                  <a:gd name="T2" fmla="*/ 202 w 202"/>
                  <a:gd name="T3" fmla="*/ 0 h 201"/>
                  <a:gd name="T4" fmla="*/ 0 60000 65536"/>
                  <a:gd name="T5" fmla="*/ 0 60000 65536"/>
                </a:gdLst>
                <a:ahLst/>
                <a:cxnLst>
                  <a:cxn ang="T4">
                    <a:pos x="T0" y="T1"/>
                  </a:cxn>
                  <a:cxn ang="T5">
                    <a:pos x="T2" y="T3"/>
                  </a:cxn>
                </a:cxnLst>
                <a:rect l="0" t="0" r="r" b="b"/>
                <a:pathLst>
                  <a:path w="202" h="201">
                    <a:moveTo>
                      <a:pt x="0" y="201"/>
                    </a:moveTo>
                    <a:lnTo>
                      <a:pt x="202"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42" name="Freeform 31"/>
              <p:cNvSpPr/>
              <p:nvPr/>
            </p:nvSpPr>
            <p:spPr bwMode="auto">
              <a:xfrm>
                <a:off x="2161" y="2155"/>
                <a:ext cx="268" cy="266"/>
              </a:xfrm>
              <a:custGeom>
                <a:avLst/>
                <a:gdLst>
                  <a:gd name="T0" fmla="*/ 0 w 268"/>
                  <a:gd name="T1" fmla="*/ 266 h 266"/>
                  <a:gd name="T2" fmla="*/ 268 w 268"/>
                  <a:gd name="T3" fmla="*/ 0 h 266"/>
                  <a:gd name="T4" fmla="*/ 0 60000 65536"/>
                  <a:gd name="T5" fmla="*/ 0 60000 65536"/>
                </a:gdLst>
                <a:ahLst/>
                <a:cxnLst>
                  <a:cxn ang="T4">
                    <a:pos x="T0" y="T1"/>
                  </a:cxn>
                  <a:cxn ang="T5">
                    <a:pos x="T2" y="T3"/>
                  </a:cxn>
                </a:cxnLst>
                <a:rect l="0" t="0" r="r" b="b"/>
                <a:pathLst>
                  <a:path w="268" h="266">
                    <a:moveTo>
                      <a:pt x="0" y="266"/>
                    </a:moveTo>
                    <a:lnTo>
                      <a:pt x="268"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43" name="Freeform 32"/>
              <p:cNvSpPr/>
              <p:nvPr/>
            </p:nvSpPr>
            <p:spPr bwMode="auto">
              <a:xfrm>
                <a:off x="2294" y="2323"/>
                <a:ext cx="135" cy="131"/>
              </a:xfrm>
              <a:custGeom>
                <a:avLst/>
                <a:gdLst>
                  <a:gd name="T0" fmla="*/ 0 w 135"/>
                  <a:gd name="T1" fmla="*/ 131 h 131"/>
                  <a:gd name="T2" fmla="*/ 135 w 135"/>
                  <a:gd name="T3" fmla="*/ 0 h 131"/>
                  <a:gd name="T4" fmla="*/ 0 60000 65536"/>
                  <a:gd name="T5" fmla="*/ 0 60000 65536"/>
                </a:gdLst>
                <a:ahLst/>
                <a:cxnLst>
                  <a:cxn ang="T4">
                    <a:pos x="T0" y="T1"/>
                  </a:cxn>
                  <a:cxn ang="T5">
                    <a:pos x="T2" y="T3"/>
                  </a:cxn>
                </a:cxnLst>
                <a:rect l="0" t="0" r="r" b="b"/>
                <a:pathLst>
                  <a:path w="135" h="131">
                    <a:moveTo>
                      <a:pt x="0" y="131"/>
                    </a:moveTo>
                    <a:lnTo>
                      <a:pt x="135"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37895" name="Group 61"/>
            <p:cNvGrpSpPr/>
            <p:nvPr/>
          </p:nvGrpSpPr>
          <p:grpSpPr bwMode="auto">
            <a:xfrm>
              <a:off x="783" y="1767"/>
              <a:ext cx="542" cy="1280"/>
              <a:chOff x="783" y="1767"/>
              <a:chExt cx="542" cy="1280"/>
            </a:xfrm>
          </p:grpSpPr>
          <p:sp>
            <p:nvSpPr>
              <p:cNvPr id="37912" name="Text Box 48"/>
              <p:cNvSpPr txBox="1">
                <a:spLocks noChangeArrowheads="1"/>
              </p:cNvSpPr>
              <p:nvPr/>
            </p:nvSpPr>
            <p:spPr bwMode="auto">
              <a:xfrm rot="-5400000">
                <a:off x="613" y="2540"/>
                <a:ext cx="66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i="1">
                    <a:solidFill>
                      <a:srgbClr val="FF3300"/>
                    </a:solidFill>
                    <a:sym typeface="Symbol" panose="05050102010706020507" pitchFamily="18" charset="2"/>
                  </a:rPr>
                  <a:t></a:t>
                </a:r>
                <a:r>
                  <a:rPr lang="en-US" altLang="zh-CN" sz="2800" b="1" i="1">
                    <a:solidFill>
                      <a:srgbClr val="FF3300"/>
                    </a:solidFill>
                    <a:latin typeface="ISOCPEUR" panose="020B0604020202020204" pitchFamily="34" charset="0"/>
                    <a:sym typeface="Symbol" panose="05050102010706020507" pitchFamily="18" charset="2"/>
                  </a:rPr>
                  <a:t>30H8</a:t>
                </a:r>
                <a:endParaRPr lang="en-US" altLang="zh-CN" sz="2800" b="1">
                  <a:solidFill>
                    <a:srgbClr val="FF3300"/>
                  </a:solidFill>
                  <a:latin typeface="ISOCPEUR" panose="020B0604020202020204" pitchFamily="34" charset="0"/>
                </a:endParaRPr>
              </a:p>
            </p:txBody>
          </p:sp>
          <p:sp>
            <p:nvSpPr>
              <p:cNvPr id="37913" name="Line 49"/>
              <p:cNvSpPr>
                <a:spLocks noChangeShapeType="1"/>
              </p:cNvSpPr>
              <p:nvPr/>
            </p:nvSpPr>
            <p:spPr bwMode="auto">
              <a:xfrm flipH="1">
                <a:off x="989" y="1787"/>
                <a:ext cx="326"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14" name="Line 50"/>
              <p:cNvSpPr>
                <a:spLocks noChangeShapeType="1"/>
              </p:cNvSpPr>
              <p:nvPr/>
            </p:nvSpPr>
            <p:spPr bwMode="auto">
              <a:xfrm flipH="1">
                <a:off x="989" y="2324"/>
                <a:ext cx="336"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15" name="Line 51"/>
              <p:cNvSpPr>
                <a:spLocks noChangeShapeType="1"/>
              </p:cNvSpPr>
              <p:nvPr/>
            </p:nvSpPr>
            <p:spPr bwMode="auto">
              <a:xfrm>
                <a:off x="1056" y="1767"/>
                <a:ext cx="0" cy="576"/>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16" name="Line 52"/>
              <p:cNvSpPr>
                <a:spLocks noChangeShapeType="1"/>
              </p:cNvSpPr>
              <p:nvPr/>
            </p:nvSpPr>
            <p:spPr bwMode="auto">
              <a:xfrm>
                <a:off x="1063" y="2319"/>
                <a:ext cx="0" cy="72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37896" name="Freeform 54"/>
            <p:cNvSpPr/>
            <p:nvPr/>
          </p:nvSpPr>
          <p:spPr bwMode="auto">
            <a:xfrm>
              <a:off x="3047" y="1796"/>
              <a:ext cx="320" cy="1"/>
            </a:xfrm>
            <a:custGeom>
              <a:avLst/>
              <a:gdLst>
                <a:gd name="T0" fmla="*/ 320 w 320"/>
                <a:gd name="T1" fmla="*/ 0 h 1"/>
                <a:gd name="T2" fmla="*/ 0 w 320"/>
                <a:gd name="T3" fmla="*/ 0 h 1"/>
                <a:gd name="T4" fmla="*/ 0 60000 65536"/>
                <a:gd name="T5" fmla="*/ 0 60000 65536"/>
              </a:gdLst>
              <a:ahLst/>
              <a:cxnLst>
                <a:cxn ang="T4">
                  <a:pos x="T0" y="T1"/>
                </a:cxn>
                <a:cxn ang="T5">
                  <a:pos x="T2" y="T3"/>
                </a:cxn>
              </a:cxnLst>
              <a:rect l="0" t="0" r="r" b="b"/>
              <a:pathLst>
                <a:path w="320" h="1">
                  <a:moveTo>
                    <a:pt x="320" y="0"/>
                  </a:moveTo>
                  <a:lnTo>
                    <a:pt x="0" y="0"/>
                  </a:lnTo>
                </a:path>
              </a:pathLst>
            </a:custGeom>
            <a:noFill/>
            <a:ln w="19050" cmpd="sng">
              <a:solidFill>
                <a:srgbClr val="FF3300"/>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897" name="Text Box 55"/>
            <p:cNvSpPr txBox="1">
              <a:spLocks noChangeArrowheads="1"/>
            </p:cNvSpPr>
            <p:nvPr/>
          </p:nvSpPr>
          <p:spPr bwMode="auto">
            <a:xfrm rot="-5400000">
              <a:off x="2659" y="2491"/>
              <a:ext cx="64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i="1">
                  <a:solidFill>
                    <a:srgbClr val="FF3300"/>
                  </a:solidFill>
                  <a:sym typeface="Symbol" panose="05050102010706020507" pitchFamily="18" charset="2"/>
                </a:rPr>
                <a:t></a:t>
              </a:r>
              <a:r>
                <a:rPr lang="en-US" altLang="zh-CN" sz="2800" b="1" i="1">
                  <a:solidFill>
                    <a:srgbClr val="FF3300"/>
                  </a:solidFill>
                  <a:latin typeface="ISOCPEUR" panose="020B0604020202020204" pitchFamily="34" charset="0"/>
                  <a:sym typeface="Symbol" panose="05050102010706020507" pitchFamily="18" charset="2"/>
                </a:rPr>
                <a:t>30f</a:t>
              </a:r>
              <a:r>
                <a:rPr lang="en-US" altLang="zh-CN" sz="2600" i="1">
                  <a:solidFill>
                    <a:srgbClr val="FF3300"/>
                  </a:solidFill>
                  <a:latin typeface="Arial" panose="020B0604020202020204" pitchFamily="34" charset="0"/>
                  <a:sym typeface="Symbol" panose="05050102010706020507" pitchFamily="18" charset="2"/>
                </a:rPr>
                <a:t>7</a:t>
              </a:r>
              <a:endParaRPr lang="en-US" altLang="zh-CN" sz="2600">
                <a:solidFill>
                  <a:srgbClr val="FF3300"/>
                </a:solidFill>
                <a:latin typeface="Arial" panose="020B0604020202020204" pitchFamily="34" charset="0"/>
              </a:endParaRPr>
            </a:p>
          </p:txBody>
        </p:sp>
        <p:sp>
          <p:nvSpPr>
            <p:cNvPr id="37898" name="Line 56"/>
            <p:cNvSpPr>
              <a:spLocks noChangeShapeType="1"/>
            </p:cNvSpPr>
            <p:nvPr/>
          </p:nvSpPr>
          <p:spPr bwMode="auto">
            <a:xfrm flipH="1">
              <a:off x="3043" y="2343"/>
              <a:ext cx="312"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899" name="Line 57"/>
            <p:cNvSpPr>
              <a:spLocks noChangeShapeType="1"/>
            </p:cNvSpPr>
            <p:nvPr/>
          </p:nvSpPr>
          <p:spPr bwMode="auto">
            <a:xfrm>
              <a:off x="3101" y="1782"/>
              <a:ext cx="0" cy="566"/>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00" name="Line 58"/>
            <p:cNvSpPr>
              <a:spLocks noChangeShapeType="1"/>
            </p:cNvSpPr>
            <p:nvPr/>
          </p:nvSpPr>
          <p:spPr bwMode="auto">
            <a:xfrm>
              <a:off x="3103" y="2339"/>
              <a:ext cx="0" cy="655"/>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nvGrpSpPr>
            <p:cNvPr id="37901" name="Group 69"/>
            <p:cNvGrpSpPr/>
            <p:nvPr/>
          </p:nvGrpSpPr>
          <p:grpSpPr bwMode="auto">
            <a:xfrm>
              <a:off x="3231" y="1634"/>
              <a:ext cx="1439" cy="878"/>
              <a:chOff x="3231" y="1634"/>
              <a:chExt cx="1439" cy="878"/>
            </a:xfrm>
          </p:grpSpPr>
          <p:sp>
            <p:nvSpPr>
              <p:cNvPr id="37902" name="Line 34"/>
              <p:cNvSpPr>
                <a:spLocks noChangeShapeType="1"/>
              </p:cNvSpPr>
              <p:nvPr/>
            </p:nvSpPr>
            <p:spPr bwMode="auto">
              <a:xfrm>
                <a:off x="3231" y="2067"/>
                <a:ext cx="1439" cy="0"/>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03" name="Rectangle 35"/>
              <p:cNvSpPr>
                <a:spLocks noChangeArrowheads="1"/>
              </p:cNvSpPr>
              <p:nvPr/>
            </p:nvSpPr>
            <p:spPr bwMode="auto">
              <a:xfrm>
                <a:off x="3342" y="1801"/>
                <a:ext cx="945" cy="539"/>
              </a:xfrm>
              <a:prstGeom prst="rect">
                <a:avLst/>
              </a:prstGeom>
              <a:noFill/>
              <a:ln w="38100">
                <a:solidFill>
                  <a:schemeClr val="tx2"/>
                </a:solidFill>
                <a:miter lim="800000"/>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7904" name="Line 36"/>
              <p:cNvSpPr>
                <a:spLocks noChangeShapeType="1"/>
              </p:cNvSpPr>
              <p:nvPr/>
            </p:nvSpPr>
            <p:spPr bwMode="auto">
              <a:xfrm flipH="1">
                <a:off x="3287" y="1801"/>
                <a:ext cx="58" cy="58"/>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05" name="Line 37"/>
              <p:cNvSpPr>
                <a:spLocks noChangeShapeType="1"/>
              </p:cNvSpPr>
              <p:nvPr/>
            </p:nvSpPr>
            <p:spPr bwMode="auto">
              <a:xfrm flipH="1" flipV="1">
                <a:off x="3294" y="2288"/>
                <a:ext cx="51" cy="51"/>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06" name="Line 38"/>
              <p:cNvSpPr>
                <a:spLocks noChangeShapeType="1"/>
              </p:cNvSpPr>
              <p:nvPr/>
            </p:nvSpPr>
            <p:spPr bwMode="auto">
              <a:xfrm>
                <a:off x="3294" y="1852"/>
                <a:ext cx="0" cy="444"/>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07" name="Line 39"/>
              <p:cNvSpPr>
                <a:spLocks noChangeShapeType="1"/>
              </p:cNvSpPr>
              <p:nvPr/>
            </p:nvSpPr>
            <p:spPr bwMode="auto">
              <a:xfrm flipV="1">
                <a:off x="4290" y="1634"/>
                <a:ext cx="0" cy="167"/>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08" name="Line 40"/>
              <p:cNvSpPr>
                <a:spLocks noChangeShapeType="1"/>
              </p:cNvSpPr>
              <p:nvPr/>
            </p:nvSpPr>
            <p:spPr bwMode="auto">
              <a:xfrm flipH="1" flipV="1">
                <a:off x="4290" y="2347"/>
                <a:ext cx="0" cy="16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09" name="Line 41"/>
              <p:cNvSpPr>
                <a:spLocks noChangeShapeType="1"/>
              </p:cNvSpPr>
              <p:nvPr/>
            </p:nvSpPr>
            <p:spPr bwMode="auto">
              <a:xfrm>
                <a:off x="4290" y="1641"/>
                <a:ext cx="306"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910" name="Line 42"/>
              <p:cNvSpPr>
                <a:spLocks noChangeShapeType="1"/>
              </p:cNvSpPr>
              <p:nvPr/>
            </p:nvSpPr>
            <p:spPr bwMode="auto">
              <a:xfrm>
                <a:off x="4291" y="2500"/>
                <a:ext cx="318"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7911" name="Freeform 66"/>
              <p:cNvSpPr/>
              <p:nvPr/>
            </p:nvSpPr>
            <p:spPr bwMode="auto">
              <a:xfrm>
                <a:off x="4585" y="1635"/>
                <a:ext cx="61" cy="873"/>
              </a:xfrm>
              <a:custGeom>
                <a:avLst/>
                <a:gdLst>
                  <a:gd name="T0" fmla="*/ 0 w 61"/>
                  <a:gd name="T1" fmla="*/ 0 h 873"/>
                  <a:gd name="T2" fmla="*/ 40 w 61"/>
                  <a:gd name="T3" fmla="*/ 134 h 873"/>
                  <a:gd name="T4" fmla="*/ 17 w 61"/>
                  <a:gd name="T5" fmla="*/ 262 h 873"/>
                  <a:gd name="T6" fmla="*/ 58 w 61"/>
                  <a:gd name="T7" fmla="*/ 477 h 873"/>
                  <a:gd name="T8" fmla="*/ 35 w 61"/>
                  <a:gd name="T9" fmla="*/ 617 h 873"/>
                  <a:gd name="T10" fmla="*/ 17 w 61"/>
                  <a:gd name="T11" fmla="*/ 768 h 873"/>
                  <a:gd name="T12" fmla="*/ 29 w 61"/>
                  <a:gd name="T13" fmla="*/ 873 h 8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1" h="873">
                    <a:moveTo>
                      <a:pt x="0" y="0"/>
                    </a:moveTo>
                    <a:cubicBezTo>
                      <a:pt x="18" y="45"/>
                      <a:pt x="37" y="90"/>
                      <a:pt x="40" y="134"/>
                    </a:cubicBezTo>
                    <a:cubicBezTo>
                      <a:pt x="43" y="178"/>
                      <a:pt x="14" y="205"/>
                      <a:pt x="17" y="262"/>
                    </a:cubicBezTo>
                    <a:cubicBezTo>
                      <a:pt x="20" y="319"/>
                      <a:pt x="55" y="418"/>
                      <a:pt x="58" y="477"/>
                    </a:cubicBezTo>
                    <a:cubicBezTo>
                      <a:pt x="61" y="536"/>
                      <a:pt x="42" y="569"/>
                      <a:pt x="35" y="617"/>
                    </a:cubicBezTo>
                    <a:cubicBezTo>
                      <a:pt x="28" y="665"/>
                      <a:pt x="18" y="725"/>
                      <a:pt x="17" y="768"/>
                    </a:cubicBezTo>
                    <a:cubicBezTo>
                      <a:pt x="16" y="811"/>
                      <a:pt x="27" y="856"/>
                      <a:pt x="29" y="873"/>
                    </a:cubicBez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iterate type="lt">
                                    <p:tmPct val="100000"/>
                                  </p:iterate>
                                  <p:childTnLst>
                                    <p:set>
                                      <p:cBhvr>
                                        <p:cTn id="6" dur="1" fill="hold">
                                          <p:stCondLst>
                                            <p:cond delay="0"/>
                                          </p:stCondLst>
                                        </p:cTn>
                                        <p:tgtEl>
                                          <p:spTgt spid="37891"/>
                                        </p:tgtEl>
                                        <p:attrNameLst>
                                          <p:attrName>style.visibility</p:attrName>
                                        </p:attrNameLst>
                                      </p:cBhvr>
                                      <p:to>
                                        <p:strVal val="visible"/>
                                      </p:to>
                                    </p:set>
                                    <p:animEffect transition="in" filter="blinds(horizontal)">
                                      <p:cBhvr>
                                        <p:cTn id="7" dur="75"/>
                                        <p:tgtEl>
                                          <p:spTgt spid="3789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7958"/>
                                        </p:tgtEl>
                                        <p:attrNameLst>
                                          <p:attrName>style.visibility</p:attrName>
                                        </p:attrNameLst>
                                      </p:cBhvr>
                                      <p:to>
                                        <p:strVal val="visible"/>
                                      </p:to>
                                    </p:set>
                                    <p:animEffect transition="in" filter="barn(outHorizontal)">
                                      <p:cBhvr>
                                        <p:cTn id="12" dur="500"/>
                                        <p:tgtEl>
                                          <p:spTgt spid="3795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7947"/>
                                        </p:tgtEl>
                                        <p:attrNameLst>
                                          <p:attrName>style.visibility</p:attrName>
                                        </p:attrNameLst>
                                      </p:cBhvr>
                                      <p:to>
                                        <p:strVal val="visible"/>
                                      </p:to>
                                    </p:set>
                                    <p:anim calcmode="lin" valueType="num">
                                      <p:cBhvr additive="base">
                                        <p:cTn id="17" dur="500" fill="hold"/>
                                        <p:tgtEl>
                                          <p:spTgt spid="37947"/>
                                        </p:tgtEl>
                                        <p:attrNameLst>
                                          <p:attrName>ppt_x</p:attrName>
                                        </p:attrNameLst>
                                      </p:cBhvr>
                                      <p:tavLst>
                                        <p:tav tm="0">
                                          <p:val>
                                            <p:strVal val="#ppt_x"/>
                                          </p:val>
                                        </p:tav>
                                        <p:tav tm="100000">
                                          <p:val>
                                            <p:strVal val="#ppt_x"/>
                                          </p:val>
                                        </p:tav>
                                      </p:tavLst>
                                    </p:anim>
                                    <p:anim calcmode="lin" valueType="num">
                                      <p:cBhvr additive="base">
                                        <p:cTn id="18" dur="500" fill="hold"/>
                                        <p:tgtEl>
                                          <p:spTgt spid="379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P spid="3794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85738" y="390525"/>
            <a:ext cx="895826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solidFill>
                  <a:schemeClr val="tx2"/>
                </a:solidFill>
                <a:latin typeface="宋体" panose="02010600030101010101" pitchFamily="2" charset="-122"/>
              </a:rPr>
              <a:t>⑵ </a:t>
            </a:r>
            <a:r>
              <a:rPr lang="zh-CN" altLang="en-US" sz="3200" b="1">
                <a:solidFill>
                  <a:schemeClr val="tx2"/>
                </a:solidFill>
                <a:latin typeface="宋体" panose="02010600030101010101" pitchFamily="2" charset="-122"/>
              </a:rPr>
              <a:t>注出基本尺寸及</a:t>
            </a:r>
            <a:r>
              <a:rPr lang="zh-CN" altLang="en-US" sz="3200" b="1">
                <a:solidFill>
                  <a:srgbClr val="FF3300"/>
                </a:solidFill>
                <a:latin typeface="宋体" panose="02010600030101010101" pitchFamily="2" charset="-122"/>
              </a:rPr>
              <a:t>上、下偏差值</a:t>
            </a:r>
            <a:r>
              <a:rPr lang="zh-CN" altLang="en-US" sz="3200" b="1">
                <a:solidFill>
                  <a:schemeClr val="tx2"/>
                </a:solidFill>
                <a:latin typeface="宋体" panose="02010600030101010101" pitchFamily="2" charset="-122"/>
              </a:rPr>
              <a:t>（以</a:t>
            </a:r>
            <a:r>
              <a:rPr lang="en-US" altLang="zh-CN" sz="3200" b="1">
                <a:solidFill>
                  <a:schemeClr val="tx2"/>
                </a:solidFill>
                <a:latin typeface="宋体" panose="02010600030101010101" pitchFamily="2" charset="-122"/>
              </a:rPr>
              <a:t>mm</a:t>
            </a:r>
            <a:r>
              <a:rPr lang="zh-CN" altLang="en-US" sz="3200" b="1">
                <a:solidFill>
                  <a:schemeClr val="tx2"/>
                </a:solidFill>
                <a:latin typeface="宋体" panose="02010600030101010101" pitchFamily="2" charset="-122"/>
              </a:rPr>
              <a:t>为单位）</a:t>
            </a:r>
            <a:endParaRPr lang="zh-CN" altLang="en-US" sz="3200" b="1">
              <a:solidFill>
                <a:schemeClr val="tx2"/>
              </a:solidFill>
              <a:latin typeface="宋体" panose="02010600030101010101" pitchFamily="2" charset="-122"/>
            </a:endParaRPr>
          </a:p>
        </p:txBody>
      </p:sp>
      <p:grpSp>
        <p:nvGrpSpPr>
          <p:cNvPr id="40003" name="Group 67"/>
          <p:cNvGrpSpPr/>
          <p:nvPr/>
        </p:nvGrpSpPr>
        <p:grpSpPr bwMode="auto">
          <a:xfrm>
            <a:off x="1001713" y="1679575"/>
            <a:ext cx="1060450" cy="2603500"/>
            <a:chOff x="631" y="1058"/>
            <a:chExt cx="668" cy="1640"/>
          </a:xfrm>
        </p:grpSpPr>
        <p:sp>
          <p:nvSpPr>
            <p:cNvPr id="39989" name="Line 4"/>
            <p:cNvSpPr>
              <a:spLocks noChangeShapeType="1"/>
            </p:cNvSpPr>
            <p:nvPr/>
          </p:nvSpPr>
          <p:spPr bwMode="auto">
            <a:xfrm flipH="1">
              <a:off x="998" y="1076"/>
              <a:ext cx="301"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90" name="Line 5"/>
            <p:cNvSpPr>
              <a:spLocks noChangeShapeType="1"/>
            </p:cNvSpPr>
            <p:nvPr/>
          </p:nvSpPr>
          <p:spPr bwMode="auto">
            <a:xfrm flipH="1">
              <a:off x="997" y="1631"/>
              <a:ext cx="298"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91" name="Line 6"/>
            <p:cNvSpPr>
              <a:spLocks noChangeShapeType="1"/>
            </p:cNvSpPr>
            <p:nvPr/>
          </p:nvSpPr>
          <p:spPr bwMode="auto">
            <a:xfrm>
              <a:off x="1045" y="1058"/>
              <a:ext cx="0" cy="576"/>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92" name="Text Box 7"/>
            <p:cNvSpPr txBox="1">
              <a:spLocks noChangeArrowheads="1"/>
            </p:cNvSpPr>
            <p:nvPr/>
          </p:nvSpPr>
          <p:spPr bwMode="auto">
            <a:xfrm rot="-5400000">
              <a:off x="614" y="2243"/>
              <a:ext cx="5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i="1">
                  <a:solidFill>
                    <a:srgbClr val="FF3300"/>
                  </a:solidFill>
                  <a:sym typeface="Symbol" panose="05050102010706020507" pitchFamily="18" charset="2"/>
                </a:rPr>
                <a:t></a:t>
              </a:r>
              <a:r>
                <a:rPr lang="en-US" altLang="zh-CN" sz="3200" b="1" i="1">
                  <a:solidFill>
                    <a:srgbClr val="FF3300"/>
                  </a:solidFill>
                  <a:latin typeface="ISOCPEUR" panose="020B0604020202020204" pitchFamily="34" charset="0"/>
                  <a:sym typeface="Symbol" panose="05050102010706020507" pitchFamily="18" charset="2"/>
                </a:rPr>
                <a:t>30</a:t>
              </a:r>
              <a:endParaRPr lang="en-US" altLang="zh-CN" sz="3200" b="1">
                <a:solidFill>
                  <a:srgbClr val="FF3300"/>
                </a:solidFill>
                <a:latin typeface="ISOCPEUR" panose="020B0604020202020204" pitchFamily="34" charset="0"/>
              </a:endParaRPr>
            </a:p>
          </p:txBody>
        </p:sp>
        <p:sp>
          <p:nvSpPr>
            <p:cNvPr id="39993" name="Text Box 8"/>
            <p:cNvSpPr txBox="1">
              <a:spLocks noChangeArrowheads="1"/>
            </p:cNvSpPr>
            <p:nvPr/>
          </p:nvSpPr>
          <p:spPr bwMode="auto">
            <a:xfrm rot="-5400000">
              <a:off x="423" y="1747"/>
              <a:ext cx="70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3300"/>
                  </a:solidFill>
                </a:rPr>
                <a:t>+</a:t>
              </a:r>
              <a:r>
                <a:rPr lang="en-US" altLang="zh-CN" b="1" i="1">
                  <a:solidFill>
                    <a:srgbClr val="FF3300"/>
                  </a:solidFill>
                  <a:latin typeface="ISOCPEUR" panose="020B0604020202020204" pitchFamily="34" charset="0"/>
                </a:rPr>
                <a:t>0.033</a:t>
              </a:r>
              <a:endParaRPr lang="en-US" altLang="zh-CN" b="1">
                <a:solidFill>
                  <a:srgbClr val="FF3300"/>
                </a:solidFill>
                <a:latin typeface="ISOCPEUR" panose="020B0604020202020204" pitchFamily="34" charset="0"/>
              </a:endParaRPr>
            </a:p>
          </p:txBody>
        </p:sp>
        <p:sp>
          <p:nvSpPr>
            <p:cNvPr id="39994" name="Text Box 9"/>
            <p:cNvSpPr txBox="1">
              <a:spLocks noChangeArrowheads="1"/>
            </p:cNvSpPr>
            <p:nvPr/>
          </p:nvSpPr>
          <p:spPr bwMode="auto">
            <a:xfrm rot="-5400000">
              <a:off x="816" y="1893"/>
              <a:ext cx="2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rgbClr val="FF3300"/>
                  </a:solidFill>
                  <a:latin typeface="ISOCPEUR" panose="020B0604020202020204" pitchFamily="34" charset="0"/>
                </a:rPr>
                <a:t>0</a:t>
              </a:r>
              <a:endParaRPr lang="en-US" altLang="zh-CN" b="1">
                <a:solidFill>
                  <a:srgbClr val="FF3300"/>
                </a:solidFill>
                <a:latin typeface="ISOCPEUR" panose="020B0604020202020204" pitchFamily="34" charset="0"/>
              </a:endParaRPr>
            </a:p>
          </p:txBody>
        </p:sp>
        <p:sp>
          <p:nvSpPr>
            <p:cNvPr id="39995" name="Line 10"/>
            <p:cNvSpPr>
              <a:spLocks noChangeShapeType="1"/>
            </p:cNvSpPr>
            <p:nvPr/>
          </p:nvSpPr>
          <p:spPr bwMode="auto">
            <a:xfrm>
              <a:off x="1046" y="1619"/>
              <a:ext cx="0" cy="102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40002" name="Group 66"/>
          <p:cNvGrpSpPr/>
          <p:nvPr/>
        </p:nvGrpSpPr>
        <p:grpSpPr bwMode="auto">
          <a:xfrm>
            <a:off x="4295775" y="1676400"/>
            <a:ext cx="977900" cy="2638425"/>
            <a:chOff x="2706" y="1056"/>
            <a:chExt cx="616" cy="1662"/>
          </a:xfrm>
        </p:grpSpPr>
        <p:sp>
          <p:nvSpPr>
            <p:cNvPr id="39982" name="Line 12"/>
            <p:cNvSpPr>
              <a:spLocks noChangeShapeType="1"/>
            </p:cNvSpPr>
            <p:nvPr/>
          </p:nvSpPr>
          <p:spPr bwMode="auto">
            <a:xfrm flipH="1">
              <a:off x="3031" y="1076"/>
              <a:ext cx="291"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83" name="Line 13"/>
            <p:cNvSpPr>
              <a:spLocks noChangeShapeType="1"/>
            </p:cNvSpPr>
            <p:nvPr/>
          </p:nvSpPr>
          <p:spPr bwMode="auto">
            <a:xfrm flipH="1">
              <a:off x="3050" y="1604"/>
              <a:ext cx="272"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84" name="Line 14"/>
            <p:cNvSpPr>
              <a:spLocks noChangeShapeType="1"/>
            </p:cNvSpPr>
            <p:nvPr/>
          </p:nvSpPr>
          <p:spPr bwMode="auto">
            <a:xfrm>
              <a:off x="3101" y="1056"/>
              <a:ext cx="0" cy="567"/>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85" name="Text Box 15"/>
            <p:cNvSpPr txBox="1">
              <a:spLocks noChangeArrowheads="1"/>
            </p:cNvSpPr>
            <p:nvPr/>
          </p:nvSpPr>
          <p:spPr bwMode="auto">
            <a:xfrm rot="-5400000">
              <a:off x="2701" y="1749"/>
              <a:ext cx="6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3300"/>
                  </a:solidFill>
                </a:rPr>
                <a:t> -</a:t>
              </a:r>
              <a:r>
                <a:rPr lang="en-US" altLang="zh-CN" b="1" i="1">
                  <a:solidFill>
                    <a:srgbClr val="FF3300"/>
                  </a:solidFill>
                  <a:latin typeface="ISOCPEUR" panose="020B0604020202020204" pitchFamily="34" charset="0"/>
                </a:rPr>
                <a:t>0.041</a:t>
              </a:r>
              <a:endParaRPr lang="en-US" altLang="zh-CN" b="1">
                <a:solidFill>
                  <a:srgbClr val="FF3300"/>
                </a:solidFill>
                <a:latin typeface="ISOCPEUR" panose="020B0604020202020204" pitchFamily="34" charset="0"/>
              </a:endParaRPr>
            </a:p>
          </p:txBody>
        </p:sp>
        <p:sp>
          <p:nvSpPr>
            <p:cNvPr id="39986" name="Text Box 16"/>
            <p:cNvSpPr txBox="1">
              <a:spLocks noChangeArrowheads="1"/>
            </p:cNvSpPr>
            <p:nvPr/>
          </p:nvSpPr>
          <p:spPr bwMode="auto">
            <a:xfrm rot="-5400000">
              <a:off x="2607" y="2187"/>
              <a:ext cx="69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i="1">
                  <a:solidFill>
                    <a:srgbClr val="FF3300"/>
                  </a:solidFill>
                  <a:sym typeface="Symbol" panose="05050102010706020507" pitchFamily="18" charset="2"/>
                </a:rPr>
                <a:t></a:t>
              </a:r>
              <a:r>
                <a:rPr lang="en-US" altLang="zh-CN" sz="3200" b="1" i="1">
                  <a:solidFill>
                    <a:srgbClr val="FF3300"/>
                  </a:solidFill>
                  <a:latin typeface="ISOCPEUR" panose="020B0604020202020204" pitchFamily="34" charset="0"/>
                  <a:sym typeface="Symbol" panose="05050102010706020507" pitchFamily="18" charset="2"/>
                </a:rPr>
                <a:t>30</a:t>
              </a:r>
              <a:endParaRPr lang="en-US" altLang="zh-CN" sz="3200" b="1">
                <a:solidFill>
                  <a:srgbClr val="FF3300"/>
                </a:solidFill>
                <a:latin typeface="ISOCPEUR" panose="020B0604020202020204" pitchFamily="34" charset="0"/>
              </a:endParaRPr>
            </a:p>
          </p:txBody>
        </p:sp>
        <p:sp>
          <p:nvSpPr>
            <p:cNvPr id="39987" name="Text Box 17"/>
            <p:cNvSpPr txBox="1">
              <a:spLocks noChangeArrowheads="1"/>
            </p:cNvSpPr>
            <p:nvPr/>
          </p:nvSpPr>
          <p:spPr bwMode="auto">
            <a:xfrm rot="-5400000">
              <a:off x="2560" y="1730"/>
              <a:ext cx="57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3300"/>
                  </a:solidFill>
                </a:rPr>
                <a:t>-</a:t>
              </a:r>
              <a:r>
                <a:rPr lang="en-US" altLang="zh-CN" b="1" i="1">
                  <a:solidFill>
                    <a:srgbClr val="FF3300"/>
                  </a:solidFill>
                  <a:latin typeface="ISOCPEUR" panose="020B0604020202020204" pitchFamily="34" charset="0"/>
                </a:rPr>
                <a:t>0.020</a:t>
              </a:r>
              <a:endParaRPr lang="en-US" altLang="zh-CN" b="1">
                <a:solidFill>
                  <a:srgbClr val="FF3300"/>
                </a:solidFill>
                <a:latin typeface="ISOCPEUR" panose="020B0604020202020204" pitchFamily="34" charset="0"/>
              </a:endParaRPr>
            </a:p>
          </p:txBody>
        </p:sp>
        <p:sp>
          <p:nvSpPr>
            <p:cNvPr id="39988" name="Line 18"/>
            <p:cNvSpPr>
              <a:spLocks noChangeShapeType="1"/>
            </p:cNvSpPr>
            <p:nvPr/>
          </p:nvSpPr>
          <p:spPr bwMode="auto">
            <a:xfrm>
              <a:off x="3103" y="1607"/>
              <a:ext cx="0" cy="1019"/>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39955" name="Text Box 19"/>
          <p:cNvSpPr txBox="1">
            <a:spLocks noChangeArrowheads="1"/>
          </p:cNvSpPr>
          <p:nvPr/>
        </p:nvSpPr>
        <p:spPr bwMode="auto">
          <a:xfrm>
            <a:off x="812800" y="4432300"/>
            <a:ext cx="7624763"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    </a:t>
            </a:r>
            <a:r>
              <a:rPr lang="zh-CN" altLang="en-US" sz="3200" b="1">
                <a:latin typeface="宋体" panose="02010600030101010101" pitchFamily="2" charset="-122"/>
              </a:rPr>
              <a:t>数值直观，用万能量具检测方便。试制单件及小批生产用此法较多。</a:t>
            </a:r>
            <a:endParaRPr lang="zh-CN" altLang="en-US" sz="3200" b="1">
              <a:latin typeface="宋体" panose="02010600030101010101" pitchFamily="2" charset="-122"/>
            </a:endParaRPr>
          </a:p>
        </p:txBody>
      </p:sp>
      <p:grpSp>
        <p:nvGrpSpPr>
          <p:cNvPr id="40001" name="Group 65"/>
          <p:cNvGrpSpPr/>
          <p:nvPr/>
        </p:nvGrpSpPr>
        <p:grpSpPr bwMode="auto">
          <a:xfrm>
            <a:off x="1857375" y="1181100"/>
            <a:ext cx="5581650" cy="1955800"/>
            <a:chOff x="1170" y="744"/>
            <a:chExt cx="3516" cy="1232"/>
          </a:xfrm>
        </p:grpSpPr>
        <p:grpSp>
          <p:nvGrpSpPr>
            <p:cNvPr id="39943" name="Group 35"/>
            <p:cNvGrpSpPr/>
            <p:nvPr/>
          </p:nvGrpSpPr>
          <p:grpSpPr bwMode="auto">
            <a:xfrm>
              <a:off x="1170" y="744"/>
              <a:ext cx="1346" cy="1232"/>
              <a:chOff x="1170" y="744"/>
              <a:chExt cx="1346" cy="1232"/>
            </a:xfrm>
          </p:grpSpPr>
          <p:sp>
            <p:nvSpPr>
              <p:cNvPr id="2" name="Line 36"/>
              <p:cNvSpPr>
                <a:spLocks noChangeShapeType="1"/>
              </p:cNvSpPr>
              <p:nvPr/>
            </p:nvSpPr>
            <p:spPr bwMode="auto">
              <a:xfrm flipV="1">
                <a:off x="2356" y="1039"/>
                <a:ext cx="50" cy="5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56" name="Line 37"/>
              <p:cNvSpPr>
                <a:spLocks noChangeShapeType="1"/>
              </p:cNvSpPr>
              <p:nvPr/>
            </p:nvSpPr>
            <p:spPr bwMode="auto">
              <a:xfrm>
                <a:off x="1170" y="1358"/>
                <a:ext cx="1346" cy="0"/>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57" name="Line 38"/>
              <p:cNvSpPr>
                <a:spLocks noChangeShapeType="1"/>
              </p:cNvSpPr>
              <p:nvPr/>
            </p:nvSpPr>
            <p:spPr bwMode="auto">
              <a:xfrm>
                <a:off x="1284" y="886"/>
                <a:ext cx="865"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58" name="Line 39"/>
              <p:cNvSpPr>
                <a:spLocks noChangeShapeType="1"/>
              </p:cNvSpPr>
              <p:nvPr/>
            </p:nvSpPr>
            <p:spPr bwMode="auto">
              <a:xfrm>
                <a:off x="1289" y="1812"/>
                <a:ext cx="865"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59" name="Line 40"/>
              <p:cNvSpPr>
                <a:spLocks noChangeShapeType="1"/>
              </p:cNvSpPr>
              <p:nvPr/>
            </p:nvSpPr>
            <p:spPr bwMode="auto">
              <a:xfrm>
                <a:off x="2139" y="748"/>
                <a:ext cx="0" cy="14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60" name="Line 41"/>
              <p:cNvSpPr>
                <a:spLocks noChangeShapeType="1"/>
              </p:cNvSpPr>
              <p:nvPr/>
            </p:nvSpPr>
            <p:spPr bwMode="auto">
              <a:xfrm>
                <a:off x="2139" y="1824"/>
                <a:ext cx="0" cy="152"/>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61" name="Line 42"/>
              <p:cNvSpPr>
                <a:spLocks noChangeShapeType="1"/>
              </p:cNvSpPr>
              <p:nvPr/>
            </p:nvSpPr>
            <p:spPr bwMode="auto">
              <a:xfrm>
                <a:off x="2145" y="751"/>
                <a:ext cx="26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62" name="Line 43"/>
              <p:cNvSpPr>
                <a:spLocks noChangeShapeType="1"/>
              </p:cNvSpPr>
              <p:nvPr/>
            </p:nvSpPr>
            <p:spPr bwMode="auto">
              <a:xfrm>
                <a:off x="2128" y="1965"/>
                <a:ext cx="284"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63" name="Line 44"/>
              <p:cNvSpPr>
                <a:spLocks noChangeShapeType="1"/>
              </p:cNvSpPr>
              <p:nvPr/>
            </p:nvSpPr>
            <p:spPr bwMode="auto">
              <a:xfrm>
                <a:off x="2407" y="748"/>
                <a:ext cx="0" cy="1221"/>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64" name="Line 45"/>
              <p:cNvSpPr>
                <a:spLocks noChangeShapeType="1"/>
              </p:cNvSpPr>
              <p:nvPr/>
            </p:nvSpPr>
            <p:spPr bwMode="auto">
              <a:xfrm>
                <a:off x="1287" y="1077"/>
                <a:ext cx="111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65" name="Line 46"/>
              <p:cNvSpPr>
                <a:spLocks noChangeShapeType="1"/>
              </p:cNvSpPr>
              <p:nvPr/>
            </p:nvSpPr>
            <p:spPr bwMode="auto">
              <a:xfrm>
                <a:off x="1288" y="1628"/>
                <a:ext cx="111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66" name="Freeform 47"/>
              <p:cNvSpPr/>
              <p:nvPr/>
            </p:nvSpPr>
            <p:spPr bwMode="auto">
              <a:xfrm>
                <a:off x="1286" y="882"/>
                <a:ext cx="100" cy="105"/>
              </a:xfrm>
              <a:custGeom>
                <a:avLst/>
                <a:gdLst>
                  <a:gd name="T0" fmla="*/ 0 w 100"/>
                  <a:gd name="T1" fmla="*/ 105 h 105"/>
                  <a:gd name="T2" fmla="*/ 100 w 100"/>
                  <a:gd name="T3" fmla="*/ 0 h 105"/>
                  <a:gd name="T4" fmla="*/ 0 60000 65536"/>
                  <a:gd name="T5" fmla="*/ 0 60000 65536"/>
                </a:gdLst>
                <a:ahLst/>
                <a:cxnLst>
                  <a:cxn ang="T4">
                    <a:pos x="T0" y="T1"/>
                  </a:cxn>
                  <a:cxn ang="T5">
                    <a:pos x="T2" y="T3"/>
                  </a:cxn>
                </a:cxnLst>
                <a:rect l="0" t="0" r="r" b="b"/>
                <a:pathLst>
                  <a:path w="100" h="105">
                    <a:moveTo>
                      <a:pt x="0" y="105"/>
                    </a:moveTo>
                    <a:lnTo>
                      <a:pt x="100"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67" name="Freeform 48"/>
              <p:cNvSpPr/>
              <p:nvPr/>
            </p:nvSpPr>
            <p:spPr bwMode="auto">
              <a:xfrm>
                <a:off x="1336" y="877"/>
                <a:ext cx="206" cy="203"/>
              </a:xfrm>
              <a:custGeom>
                <a:avLst/>
                <a:gdLst>
                  <a:gd name="T0" fmla="*/ 0 w 206"/>
                  <a:gd name="T1" fmla="*/ 203 h 203"/>
                  <a:gd name="T2" fmla="*/ 206 w 206"/>
                  <a:gd name="T3" fmla="*/ 0 h 203"/>
                  <a:gd name="T4" fmla="*/ 0 60000 65536"/>
                  <a:gd name="T5" fmla="*/ 0 60000 65536"/>
                </a:gdLst>
                <a:ahLst/>
                <a:cxnLst>
                  <a:cxn ang="T4">
                    <a:pos x="T0" y="T1"/>
                  </a:cxn>
                  <a:cxn ang="T5">
                    <a:pos x="T2" y="T3"/>
                  </a:cxn>
                </a:cxnLst>
                <a:rect l="0" t="0" r="r" b="b"/>
                <a:pathLst>
                  <a:path w="206" h="203">
                    <a:moveTo>
                      <a:pt x="0" y="203"/>
                    </a:moveTo>
                    <a:lnTo>
                      <a:pt x="206"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68" name="Freeform 49"/>
              <p:cNvSpPr/>
              <p:nvPr/>
            </p:nvSpPr>
            <p:spPr bwMode="auto">
              <a:xfrm>
                <a:off x="1505" y="882"/>
                <a:ext cx="187" cy="189"/>
              </a:xfrm>
              <a:custGeom>
                <a:avLst/>
                <a:gdLst>
                  <a:gd name="T0" fmla="*/ 0 w 187"/>
                  <a:gd name="T1" fmla="*/ 189 h 189"/>
                  <a:gd name="T2" fmla="*/ 187 w 187"/>
                  <a:gd name="T3" fmla="*/ 0 h 189"/>
                  <a:gd name="T4" fmla="*/ 0 60000 65536"/>
                  <a:gd name="T5" fmla="*/ 0 60000 65536"/>
                </a:gdLst>
                <a:ahLst/>
                <a:cxnLst>
                  <a:cxn ang="T4">
                    <a:pos x="T0" y="T1"/>
                  </a:cxn>
                  <a:cxn ang="T5">
                    <a:pos x="T2" y="T3"/>
                  </a:cxn>
                </a:cxnLst>
                <a:rect l="0" t="0" r="r" b="b"/>
                <a:pathLst>
                  <a:path w="187" h="189">
                    <a:moveTo>
                      <a:pt x="0" y="189"/>
                    </a:moveTo>
                    <a:lnTo>
                      <a:pt x="187" y="0"/>
                    </a:lnTo>
                  </a:path>
                </a:pathLst>
              </a:custGeom>
              <a:noFill/>
              <a:ln w="19050" cmpd="sng">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69" name="Freeform 50"/>
              <p:cNvSpPr/>
              <p:nvPr/>
            </p:nvSpPr>
            <p:spPr bwMode="auto">
              <a:xfrm>
                <a:off x="1665" y="877"/>
                <a:ext cx="197" cy="196"/>
              </a:xfrm>
              <a:custGeom>
                <a:avLst/>
                <a:gdLst>
                  <a:gd name="T0" fmla="*/ 0 w 197"/>
                  <a:gd name="T1" fmla="*/ 196 h 196"/>
                  <a:gd name="T2" fmla="*/ 197 w 197"/>
                  <a:gd name="T3" fmla="*/ 0 h 196"/>
                  <a:gd name="T4" fmla="*/ 0 60000 65536"/>
                  <a:gd name="T5" fmla="*/ 0 60000 65536"/>
                </a:gdLst>
                <a:ahLst/>
                <a:cxnLst>
                  <a:cxn ang="T4">
                    <a:pos x="T0" y="T1"/>
                  </a:cxn>
                  <a:cxn ang="T5">
                    <a:pos x="T2" y="T3"/>
                  </a:cxn>
                </a:cxnLst>
                <a:rect l="0" t="0" r="r" b="b"/>
                <a:pathLst>
                  <a:path w="197" h="196">
                    <a:moveTo>
                      <a:pt x="0" y="196"/>
                    </a:moveTo>
                    <a:lnTo>
                      <a:pt x="197"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70" name="Freeform 51"/>
              <p:cNvSpPr/>
              <p:nvPr/>
            </p:nvSpPr>
            <p:spPr bwMode="auto">
              <a:xfrm>
                <a:off x="1832" y="882"/>
                <a:ext cx="190" cy="195"/>
              </a:xfrm>
              <a:custGeom>
                <a:avLst/>
                <a:gdLst>
                  <a:gd name="T0" fmla="*/ 0 w 190"/>
                  <a:gd name="T1" fmla="*/ 195 h 195"/>
                  <a:gd name="T2" fmla="*/ 190 w 190"/>
                  <a:gd name="T3" fmla="*/ 0 h 195"/>
                  <a:gd name="T4" fmla="*/ 0 60000 65536"/>
                  <a:gd name="T5" fmla="*/ 0 60000 65536"/>
                </a:gdLst>
                <a:ahLst/>
                <a:cxnLst>
                  <a:cxn ang="T4">
                    <a:pos x="T0" y="T1"/>
                  </a:cxn>
                  <a:cxn ang="T5">
                    <a:pos x="T2" y="T3"/>
                  </a:cxn>
                </a:cxnLst>
                <a:rect l="0" t="0" r="r" b="b"/>
                <a:pathLst>
                  <a:path w="190" h="195">
                    <a:moveTo>
                      <a:pt x="0" y="195"/>
                    </a:moveTo>
                    <a:lnTo>
                      <a:pt x="190"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71" name="Freeform 52"/>
              <p:cNvSpPr/>
              <p:nvPr/>
            </p:nvSpPr>
            <p:spPr bwMode="auto">
              <a:xfrm>
                <a:off x="2016" y="744"/>
                <a:ext cx="333" cy="336"/>
              </a:xfrm>
              <a:custGeom>
                <a:avLst/>
                <a:gdLst>
                  <a:gd name="T0" fmla="*/ 0 w 333"/>
                  <a:gd name="T1" fmla="*/ 336 h 336"/>
                  <a:gd name="T2" fmla="*/ 333 w 333"/>
                  <a:gd name="T3" fmla="*/ 0 h 336"/>
                  <a:gd name="T4" fmla="*/ 0 60000 65536"/>
                  <a:gd name="T5" fmla="*/ 0 60000 65536"/>
                </a:gdLst>
                <a:ahLst/>
                <a:cxnLst>
                  <a:cxn ang="T4">
                    <a:pos x="T0" y="T1"/>
                  </a:cxn>
                  <a:cxn ang="T5">
                    <a:pos x="T2" y="T3"/>
                  </a:cxn>
                </a:cxnLst>
                <a:rect l="0" t="0" r="r" b="b"/>
                <a:pathLst>
                  <a:path w="333" h="336">
                    <a:moveTo>
                      <a:pt x="0" y="336"/>
                    </a:moveTo>
                    <a:lnTo>
                      <a:pt x="333"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72" name="Freeform 53"/>
              <p:cNvSpPr/>
              <p:nvPr/>
            </p:nvSpPr>
            <p:spPr bwMode="auto">
              <a:xfrm>
                <a:off x="2184" y="874"/>
                <a:ext cx="221" cy="218"/>
              </a:xfrm>
              <a:custGeom>
                <a:avLst/>
                <a:gdLst>
                  <a:gd name="T0" fmla="*/ 0 w 221"/>
                  <a:gd name="T1" fmla="*/ 218 h 218"/>
                  <a:gd name="T2" fmla="*/ 221 w 221"/>
                  <a:gd name="T3" fmla="*/ 0 h 218"/>
                  <a:gd name="T4" fmla="*/ 0 60000 65536"/>
                  <a:gd name="T5" fmla="*/ 0 60000 65536"/>
                </a:gdLst>
                <a:ahLst/>
                <a:cxnLst>
                  <a:cxn ang="T4">
                    <a:pos x="T0" y="T1"/>
                  </a:cxn>
                  <a:cxn ang="T5">
                    <a:pos x="T2" y="T3"/>
                  </a:cxn>
                </a:cxnLst>
                <a:rect l="0" t="0" r="r" b="b"/>
                <a:pathLst>
                  <a:path w="221" h="218">
                    <a:moveTo>
                      <a:pt x="0" y="218"/>
                    </a:moveTo>
                    <a:lnTo>
                      <a:pt x="221"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73" name="Freeform 54"/>
              <p:cNvSpPr/>
              <p:nvPr/>
            </p:nvSpPr>
            <p:spPr bwMode="auto">
              <a:xfrm>
                <a:off x="1287" y="1632"/>
                <a:ext cx="141" cy="144"/>
              </a:xfrm>
              <a:custGeom>
                <a:avLst/>
                <a:gdLst>
                  <a:gd name="T0" fmla="*/ 0 w 141"/>
                  <a:gd name="T1" fmla="*/ 144 h 144"/>
                  <a:gd name="T2" fmla="*/ 141 w 141"/>
                  <a:gd name="T3" fmla="*/ 0 h 144"/>
                  <a:gd name="T4" fmla="*/ 0 60000 65536"/>
                  <a:gd name="T5" fmla="*/ 0 60000 65536"/>
                </a:gdLst>
                <a:ahLst/>
                <a:cxnLst>
                  <a:cxn ang="T4">
                    <a:pos x="T0" y="T1"/>
                  </a:cxn>
                  <a:cxn ang="T5">
                    <a:pos x="T2" y="T3"/>
                  </a:cxn>
                </a:cxnLst>
                <a:rect l="0" t="0" r="r" b="b"/>
                <a:pathLst>
                  <a:path w="141" h="144">
                    <a:moveTo>
                      <a:pt x="0" y="144"/>
                    </a:moveTo>
                    <a:lnTo>
                      <a:pt x="141"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74" name="Freeform 55"/>
              <p:cNvSpPr/>
              <p:nvPr/>
            </p:nvSpPr>
            <p:spPr bwMode="auto">
              <a:xfrm>
                <a:off x="1386" y="1620"/>
                <a:ext cx="198" cy="198"/>
              </a:xfrm>
              <a:custGeom>
                <a:avLst/>
                <a:gdLst>
                  <a:gd name="T0" fmla="*/ 0 w 198"/>
                  <a:gd name="T1" fmla="*/ 198 h 198"/>
                  <a:gd name="T2" fmla="*/ 198 w 198"/>
                  <a:gd name="T3" fmla="*/ 0 h 198"/>
                  <a:gd name="T4" fmla="*/ 0 60000 65536"/>
                  <a:gd name="T5" fmla="*/ 0 60000 65536"/>
                </a:gdLst>
                <a:ahLst/>
                <a:cxnLst>
                  <a:cxn ang="T4">
                    <a:pos x="T0" y="T1"/>
                  </a:cxn>
                  <a:cxn ang="T5">
                    <a:pos x="T2" y="T3"/>
                  </a:cxn>
                </a:cxnLst>
                <a:rect l="0" t="0" r="r" b="b"/>
                <a:pathLst>
                  <a:path w="198" h="198">
                    <a:moveTo>
                      <a:pt x="0" y="198"/>
                    </a:moveTo>
                    <a:lnTo>
                      <a:pt x="198"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75" name="Freeform 56"/>
              <p:cNvSpPr/>
              <p:nvPr/>
            </p:nvSpPr>
            <p:spPr bwMode="auto">
              <a:xfrm>
                <a:off x="1554" y="1632"/>
                <a:ext cx="180" cy="179"/>
              </a:xfrm>
              <a:custGeom>
                <a:avLst/>
                <a:gdLst>
                  <a:gd name="T0" fmla="*/ 0 w 180"/>
                  <a:gd name="T1" fmla="*/ 179 h 179"/>
                  <a:gd name="T2" fmla="*/ 180 w 180"/>
                  <a:gd name="T3" fmla="*/ 0 h 179"/>
                  <a:gd name="T4" fmla="*/ 0 60000 65536"/>
                  <a:gd name="T5" fmla="*/ 0 60000 65536"/>
                </a:gdLst>
                <a:ahLst/>
                <a:cxnLst>
                  <a:cxn ang="T4">
                    <a:pos x="T0" y="T1"/>
                  </a:cxn>
                  <a:cxn ang="T5">
                    <a:pos x="T2" y="T3"/>
                  </a:cxn>
                </a:cxnLst>
                <a:rect l="0" t="0" r="r" b="b"/>
                <a:pathLst>
                  <a:path w="180" h="179">
                    <a:moveTo>
                      <a:pt x="0" y="179"/>
                    </a:moveTo>
                    <a:lnTo>
                      <a:pt x="180"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76" name="Freeform 57"/>
              <p:cNvSpPr/>
              <p:nvPr/>
            </p:nvSpPr>
            <p:spPr bwMode="auto">
              <a:xfrm>
                <a:off x="1735" y="1632"/>
                <a:ext cx="167" cy="168"/>
              </a:xfrm>
              <a:custGeom>
                <a:avLst/>
                <a:gdLst>
                  <a:gd name="T0" fmla="*/ 0 w 167"/>
                  <a:gd name="T1" fmla="*/ 168 h 168"/>
                  <a:gd name="T2" fmla="*/ 167 w 167"/>
                  <a:gd name="T3" fmla="*/ 0 h 168"/>
                  <a:gd name="T4" fmla="*/ 0 60000 65536"/>
                  <a:gd name="T5" fmla="*/ 0 60000 65536"/>
                </a:gdLst>
                <a:ahLst/>
                <a:cxnLst>
                  <a:cxn ang="T4">
                    <a:pos x="T0" y="T1"/>
                  </a:cxn>
                  <a:cxn ang="T5">
                    <a:pos x="T2" y="T3"/>
                  </a:cxn>
                </a:cxnLst>
                <a:rect l="0" t="0" r="r" b="b"/>
                <a:pathLst>
                  <a:path w="167" h="168">
                    <a:moveTo>
                      <a:pt x="0" y="168"/>
                    </a:moveTo>
                    <a:lnTo>
                      <a:pt x="167" y="0"/>
                    </a:lnTo>
                  </a:path>
                </a:pathLst>
              </a:custGeom>
              <a:noFill/>
              <a:ln w="19050" cmpd="sng">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77" name="Freeform 58"/>
              <p:cNvSpPr/>
              <p:nvPr/>
            </p:nvSpPr>
            <p:spPr bwMode="auto">
              <a:xfrm>
                <a:off x="1891" y="1626"/>
                <a:ext cx="185" cy="189"/>
              </a:xfrm>
              <a:custGeom>
                <a:avLst/>
                <a:gdLst>
                  <a:gd name="T0" fmla="*/ 0 w 185"/>
                  <a:gd name="T1" fmla="*/ 189 h 189"/>
                  <a:gd name="T2" fmla="*/ 185 w 185"/>
                  <a:gd name="T3" fmla="*/ 0 h 189"/>
                  <a:gd name="T4" fmla="*/ 0 60000 65536"/>
                  <a:gd name="T5" fmla="*/ 0 60000 65536"/>
                </a:gdLst>
                <a:ahLst/>
                <a:cxnLst>
                  <a:cxn ang="T4">
                    <a:pos x="T0" y="T1"/>
                  </a:cxn>
                  <a:cxn ang="T5">
                    <a:pos x="T2" y="T3"/>
                  </a:cxn>
                </a:cxnLst>
                <a:rect l="0" t="0" r="r" b="b"/>
                <a:pathLst>
                  <a:path w="185" h="189">
                    <a:moveTo>
                      <a:pt x="0" y="189"/>
                    </a:moveTo>
                    <a:lnTo>
                      <a:pt x="185"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78" name="Freeform 59"/>
              <p:cNvSpPr/>
              <p:nvPr/>
            </p:nvSpPr>
            <p:spPr bwMode="auto">
              <a:xfrm>
                <a:off x="2056" y="1626"/>
                <a:ext cx="188" cy="189"/>
              </a:xfrm>
              <a:custGeom>
                <a:avLst/>
                <a:gdLst>
                  <a:gd name="T0" fmla="*/ 0 w 188"/>
                  <a:gd name="T1" fmla="*/ 189 h 189"/>
                  <a:gd name="T2" fmla="*/ 188 w 188"/>
                  <a:gd name="T3" fmla="*/ 0 h 189"/>
                  <a:gd name="T4" fmla="*/ 0 60000 65536"/>
                  <a:gd name="T5" fmla="*/ 0 60000 65536"/>
                </a:gdLst>
                <a:ahLst/>
                <a:cxnLst>
                  <a:cxn ang="T4">
                    <a:pos x="T0" y="T1"/>
                  </a:cxn>
                  <a:cxn ang="T5">
                    <a:pos x="T2" y="T3"/>
                  </a:cxn>
                </a:cxnLst>
                <a:rect l="0" t="0" r="r" b="b"/>
                <a:pathLst>
                  <a:path w="188" h="189">
                    <a:moveTo>
                      <a:pt x="0" y="189"/>
                    </a:moveTo>
                    <a:lnTo>
                      <a:pt x="188"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79" name="Freeform 60"/>
              <p:cNvSpPr/>
              <p:nvPr/>
            </p:nvSpPr>
            <p:spPr bwMode="auto">
              <a:xfrm>
                <a:off x="2142" y="1646"/>
                <a:ext cx="265" cy="262"/>
              </a:xfrm>
              <a:custGeom>
                <a:avLst/>
                <a:gdLst>
                  <a:gd name="T0" fmla="*/ 0 w 265"/>
                  <a:gd name="T1" fmla="*/ 262 h 262"/>
                  <a:gd name="T2" fmla="*/ 265 w 265"/>
                  <a:gd name="T3" fmla="*/ 0 h 262"/>
                  <a:gd name="T4" fmla="*/ 0 60000 65536"/>
                  <a:gd name="T5" fmla="*/ 0 60000 65536"/>
                </a:gdLst>
                <a:ahLst/>
                <a:cxnLst>
                  <a:cxn ang="T4">
                    <a:pos x="T0" y="T1"/>
                  </a:cxn>
                  <a:cxn ang="T5">
                    <a:pos x="T2" y="T3"/>
                  </a:cxn>
                </a:cxnLst>
                <a:rect l="0" t="0" r="r" b="b"/>
                <a:pathLst>
                  <a:path w="265" h="262">
                    <a:moveTo>
                      <a:pt x="0" y="262"/>
                    </a:moveTo>
                    <a:lnTo>
                      <a:pt x="265"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80" name="Freeform 61"/>
              <p:cNvSpPr/>
              <p:nvPr/>
            </p:nvSpPr>
            <p:spPr bwMode="auto">
              <a:xfrm>
                <a:off x="2256" y="1820"/>
                <a:ext cx="149" cy="148"/>
              </a:xfrm>
              <a:custGeom>
                <a:avLst/>
                <a:gdLst>
                  <a:gd name="T0" fmla="*/ 0 w 149"/>
                  <a:gd name="T1" fmla="*/ 148 h 148"/>
                  <a:gd name="T2" fmla="*/ 149 w 149"/>
                  <a:gd name="T3" fmla="*/ 0 h 148"/>
                  <a:gd name="T4" fmla="*/ 0 60000 65536"/>
                  <a:gd name="T5" fmla="*/ 0 60000 65536"/>
                </a:gdLst>
                <a:ahLst/>
                <a:cxnLst>
                  <a:cxn ang="T4">
                    <a:pos x="T0" y="T1"/>
                  </a:cxn>
                  <a:cxn ang="T5">
                    <a:pos x="T2" y="T3"/>
                  </a:cxn>
                </a:cxnLst>
                <a:rect l="0" t="0" r="r" b="b"/>
                <a:pathLst>
                  <a:path w="149" h="148">
                    <a:moveTo>
                      <a:pt x="0" y="148"/>
                    </a:moveTo>
                    <a:lnTo>
                      <a:pt x="149"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81" name="Line 62"/>
              <p:cNvSpPr>
                <a:spLocks noChangeShapeType="1"/>
              </p:cNvSpPr>
              <p:nvPr/>
            </p:nvSpPr>
            <p:spPr bwMode="auto">
              <a:xfrm>
                <a:off x="1296" y="882"/>
                <a:ext cx="0" cy="93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9944" name="Group 64"/>
            <p:cNvGrpSpPr/>
            <p:nvPr/>
          </p:nvGrpSpPr>
          <p:grpSpPr bwMode="auto">
            <a:xfrm>
              <a:off x="3207" y="906"/>
              <a:ext cx="1479" cy="880"/>
              <a:chOff x="3207" y="906"/>
              <a:chExt cx="1479" cy="880"/>
            </a:xfrm>
          </p:grpSpPr>
          <p:sp>
            <p:nvSpPr>
              <p:cNvPr id="39945" name="Line 22"/>
              <p:cNvSpPr>
                <a:spLocks noChangeShapeType="1"/>
              </p:cNvSpPr>
              <p:nvPr/>
            </p:nvSpPr>
            <p:spPr bwMode="auto">
              <a:xfrm>
                <a:off x="3207" y="1339"/>
                <a:ext cx="1479" cy="0"/>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9946" name="Rectangle 23"/>
              <p:cNvSpPr>
                <a:spLocks noChangeArrowheads="1"/>
              </p:cNvSpPr>
              <p:nvPr/>
            </p:nvSpPr>
            <p:spPr bwMode="auto">
              <a:xfrm>
                <a:off x="3318" y="1073"/>
                <a:ext cx="945" cy="539"/>
              </a:xfrm>
              <a:prstGeom prst="rect">
                <a:avLst/>
              </a:prstGeom>
              <a:noFill/>
              <a:ln w="38100">
                <a:solidFill>
                  <a:schemeClr val="tx2"/>
                </a:solidFill>
                <a:miter lim="800000"/>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947" name="Line 24"/>
              <p:cNvSpPr>
                <a:spLocks noChangeShapeType="1"/>
              </p:cNvSpPr>
              <p:nvPr/>
            </p:nvSpPr>
            <p:spPr bwMode="auto">
              <a:xfrm flipH="1">
                <a:off x="3263" y="1073"/>
                <a:ext cx="58" cy="58"/>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48" name="Line 25"/>
              <p:cNvSpPr>
                <a:spLocks noChangeShapeType="1"/>
              </p:cNvSpPr>
              <p:nvPr/>
            </p:nvSpPr>
            <p:spPr bwMode="auto">
              <a:xfrm flipH="1" flipV="1">
                <a:off x="3270" y="1560"/>
                <a:ext cx="51" cy="51"/>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49" name="Line 26"/>
              <p:cNvSpPr>
                <a:spLocks noChangeShapeType="1"/>
              </p:cNvSpPr>
              <p:nvPr/>
            </p:nvSpPr>
            <p:spPr bwMode="auto">
              <a:xfrm>
                <a:off x="3270" y="1124"/>
                <a:ext cx="0" cy="444"/>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50" name="Line 27"/>
              <p:cNvSpPr>
                <a:spLocks noChangeShapeType="1"/>
              </p:cNvSpPr>
              <p:nvPr/>
            </p:nvSpPr>
            <p:spPr bwMode="auto">
              <a:xfrm flipV="1">
                <a:off x="4260" y="906"/>
                <a:ext cx="0" cy="167"/>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51" name="Line 28"/>
              <p:cNvSpPr>
                <a:spLocks noChangeShapeType="1"/>
              </p:cNvSpPr>
              <p:nvPr/>
            </p:nvSpPr>
            <p:spPr bwMode="auto">
              <a:xfrm flipV="1">
                <a:off x="4262" y="1619"/>
                <a:ext cx="0" cy="167"/>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52" name="Line 29"/>
              <p:cNvSpPr>
                <a:spLocks noChangeShapeType="1"/>
              </p:cNvSpPr>
              <p:nvPr/>
            </p:nvSpPr>
            <p:spPr bwMode="auto">
              <a:xfrm>
                <a:off x="4266" y="913"/>
                <a:ext cx="306"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53" name="Line 30"/>
              <p:cNvSpPr>
                <a:spLocks noChangeShapeType="1"/>
              </p:cNvSpPr>
              <p:nvPr/>
            </p:nvSpPr>
            <p:spPr bwMode="auto">
              <a:xfrm>
                <a:off x="4267" y="1772"/>
                <a:ext cx="306"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954" name="Freeform 63"/>
              <p:cNvSpPr/>
              <p:nvPr/>
            </p:nvSpPr>
            <p:spPr bwMode="auto">
              <a:xfrm>
                <a:off x="4561" y="916"/>
                <a:ext cx="64" cy="864"/>
              </a:xfrm>
              <a:custGeom>
                <a:avLst/>
                <a:gdLst>
                  <a:gd name="T0" fmla="*/ 3 w 64"/>
                  <a:gd name="T1" fmla="*/ 0 h 864"/>
                  <a:gd name="T2" fmla="*/ 43 w 64"/>
                  <a:gd name="T3" fmla="*/ 134 h 864"/>
                  <a:gd name="T4" fmla="*/ 20 w 64"/>
                  <a:gd name="T5" fmla="*/ 262 h 864"/>
                  <a:gd name="T6" fmla="*/ 61 w 64"/>
                  <a:gd name="T7" fmla="*/ 477 h 864"/>
                  <a:gd name="T8" fmla="*/ 38 w 64"/>
                  <a:gd name="T9" fmla="*/ 617 h 864"/>
                  <a:gd name="T10" fmla="*/ 20 w 64"/>
                  <a:gd name="T11" fmla="*/ 768 h 864"/>
                  <a:gd name="T12" fmla="*/ 0 w 64"/>
                  <a:gd name="T13" fmla="*/ 864 h 8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864">
                    <a:moveTo>
                      <a:pt x="3" y="0"/>
                    </a:moveTo>
                    <a:cubicBezTo>
                      <a:pt x="21" y="45"/>
                      <a:pt x="40" y="90"/>
                      <a:pt x="43" y="134"/>
                    </a:cubicBezTo>
                    <a:cubicBezTo>
                      <a:pt x="46" y="178"/>
                      <a:pt x="17" y="205"/>
                      <a:pt x="20" y="262"/>
                    </a:cubicBezTo>
                    <a:cubicBezTo>
                      <a:pt x="23" y="319"/>
                      <a:pt x="58" y="418"/>
                      <a:pt x="61" y="477"/>
                    </a:cubicBezTo>
                    <a:cubicBezTo>
                      <a:pt x="64" y="536"/>
                      <a:pt x="45" y="569"/>
                      <a:pt x="38" y="617"/>
                    </a:cubicBezTo>
                    <a:cubicBezTo>
                      <a:pt x="31" y="665"/>
                      <a:pt x="26" y="727"/>
                      <a:pt x="20" y="768"/>
                    </a:cubicBezTo>
                    <a:cubicBezTo>
                      <a:pt x="14" y="809"/>
                      <a:pt x="4" y="844"/>
                      <a:pt x="0" y="864"/>
                    </a:cubicBez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0001"/>
                                        </p:tgtEl>
                                        <p:attrNameLst>
                                          <p:attrName>style.visibility</p:attrName>
                                        </p:attrNameLst>
                                      </p:cBhvr>
                                      <p:to>
                                        <p:strVal val="visible"/>
                                      </p:to>
                                    </p:set>
                                    <p:animEffect transition="in" filter="blinds(vertical)">
                                      <p:cBhvr>
                                        <p:cTn id="7" dur="500"/>
                                        <p:tgtEl>
                                          <p:spTgt spid="400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0003"/>
                                        </p:tgtEl>
                                        <p:attrNameLst>
                                          <p:attrName>style.visibility</p:attrName>
                                        </p:attrNameLst>
                                      </p:cBhvr>
                                      <p:to>
                                        <p:strVal val="visible"/>
                                      </p:to>
                                    </p:set>
                                    <p:animEffect transition="in" filter="wipe(right)">
                                      <p:cBhvr>
                                        <p:cTn id="12" dur="500"/>
                                        <p:tgtEl>
                                          <p:spTgt spid="400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0002"/>
                                        </p:tgtEl>
                                        <p:attrNameLst>
                                          <p:attrName>style.visibility</p:attrName>
                                        </p:attrNameLst>
                                      </p:cBhvr>
                                      <p:to>
                                        <p:strVal val="visible"/>
                                      </p:to>
                                    </p:set>
                                    <p:animEffect transition="in" filter="wipe(right)">
                                      <p:cBhvr>
                                        <p:cTn id="17" dur="500"/>
                                        <p:tgtEl>
                                          <p:spTgt spid="4000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9955"/>
                                        </p:tgtEl>
                                        <p:attrNameLst>
                                          <p:attrName>style.visibility</p:attrName>
                                        </p:attrNameLst>
                                      </p:cBhvr>
                                      <p:to>
                                        <p:strVal val="visible"/>
                                      </p:to>
                                    </p:set>
                                    <p:anim calcmode="lin" valueType="num">
                                      <p:cBhvr additive="base">
                                        <p:cTn id="22" dur="500" fill="hold"/>
                                        <p:tgtEl>
                                          <p:spTgt spid="39955"/>
                                        </p:tgtEl>
                                        <p:attrNameLst>
                                          <p:attrName>ppt_x</p:attrName>
                                        </p:attrNameLst>
                                      </p:cBhvr>
                                      <p:tavLst>
                                        <p:tav tm="0">
                                          <p:val>
                                            <p:strVal val="#ppt_x"/>
                                          </p:val>
                                        </p:tav>
                                        <p:tav tm="100000">
                                          <p:val>
                                            <p:strVal val="#ppt_x"/>
                                          </p:val>
                                        </p:tav>
                                      </p:tavLst>
                                    </p:anim>
                                    <p:anim calcmode="lin" valueType="num">
                                      <p:cBhvr additive="base">
                                        <p:cTn id="23" dur="500" fill="hold"/>
                                        <p:tgtEl>
                                          <p:spTgt spid="399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08013" y="392113"/>
            <a:ext cx="58959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solidFill>
                  <a:srgbClr val="FF3300"/>
                </a:solidFill>
              </a:rPr>
              <a:t>此种标注方式应注意以下几点：</a:t>
            </a:r>
            <a:endParaRPr lang="zh-CN" altLang="en-US" sz="3200" b="1">
              <a:solidFill>
                <a:srgbClr val="FF3300"/>
              </a:solidFill>
            </a:endParaRPr>
          </a:p>
        </p:txBody>
      </p:sp>
      <p:sp>
        <p:nvSpPr>
          <p:cNvPr id="48131" name="Text Box 3"/>
          <p:cNvSpPr txBox="1">
            <a:spLocks noChangeArrowheads="1"/>
          </p:cNvSpPr>
          <p:nvPr/>
        </p:nvSpPr>
        <p:spPr bwMode="auto">
          <a:xfrm>
            <a:off x="407988" y="1025525"/>
            <a:ext cx="8208962"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en-US" altLang="zh-CN" sz="2800" b="1"/>
              <a:t>①</a:t>
            </a:r>
            <a:r>
              <a:rPr lang="zh-CN" altLang="en-US" sz="2800" b="1"/>
              <a:t>上、下偏差绝对值不同时，其数字高度比基本 </a:t>
            </a:r>
            <a:endParaRPr lang="zh-CN" altLang="en-US" sz="2800" b="1"/>
          </a:p>
          <a:p>
            <a:pPr algn="l" eaLnBrk="1" hangingPunct="1">
              <a:lnSpc>
                <a:spcPct val="125000"/>
              </a:lnSpc>
            </a:pPr>
            <a:r>
              <a:rPr lang="zh-CN" altLang="en-US" sz="2800" b="1"/>
              <a:t>    尺寸数字小一号，下偏差应与基本尺寸注在同  </a:t>
            </a:r>
            <a:endParaRPr lang="zh-CN" altLang="en-US" sz="2800" b="1"/>
          </a:p>
          <a:p>
            <a:pPr algn="l" eaLnBrk="1" hangingPunct="1">
              <a:lnSpc>
                <a:spcPct val="125000"/>
              </a:lnSpc>
            </a:pPr>
            <a:r>
              <a:rPr lang="zh-CN" altLang="en-US" sz="2800" b="1"/>
              <a:t>    一底线上，上、下偏差小数点对齐。</a:t>
            </a:r>
            <a:endParaRPr lang="zh-CN" altLang="en-US" sz="2800" b="1"/>
          </a:p>
        </p:txBody>
      </p:sp>
      <p:sp>
        <p:nvSpPr>
          <p:cNvPr id="48132" name="Text Box 4"/>
          <p:cNvSpPr txBox="1">
            <a:spLocks noChangeArrowheads="1"/>
          </p:cNvSpPr>
          <p:nvPr/>
        </p:nvSpPr>
        <p:spPr bwMode="auto">
          <a:xfrm>
            <a:off x="407988" y="2773363"/>
            <a:ext cx="69707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②</a:t>
            </a:r>
            <a:r>
              <a:rPr lang="zh-CN" altLang="en-US" sz="2800" b="1"/>
              <a:t>上、下偏差小数点前、后的数字要对齐。</a:t>
            </a:r>
            <a:endParaRPr lang="zh-CN" altLang="en-US" sz="2800" b="1"/>
          </a:p>
        </p:txBody>
      </p:sp>
      <p:sp>
        <p:nvSpPr>
          <p:cNvPr id="48133" name="Text Box 5"/>
          <p:cNvSpPr txBox="1">
            <a:spLocks noChangeArrowheads="1"/>
          </p:cNvSpPr>
          <p:nvPr/>
        </p:nvSpPr>
        <p:spPr bwMode="auto">
          <a:xfrm>
            <a:off x="407988" y="3452813"/>
            <a:ext cx="79517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③ </a:t>
            </a:r>
            <a:r>
              <a:rPr lang="zh-CN" altLang="en-US" sz="2800" b="1"/>
              <a:t>某一偏差为</a:t>
            </a:r>
            <a:r>
              <a:rPr lang="en-US" altLang="zh-CN" sz="2800" b="1"/>
              <a:t>0</a:t>
            </a:r>
            <a:r>
              <a:rPr lang="zh-CN" altLang="en-US" sz="2800" b="1"/>
              <a:t>时，要与另一偏差的个位数对齐。</a:t>
            </a:r>
            <a:endParaRPr lang="zh-CN" altLang="en-US" sz="2800" b="1"/>
          </a:p>
        </p:txBody>
      </p:sp>
      <p:sp>
        <p:nvSpPr>
          <p:cNvPr id="48134" name="Text Box 6"/>
          <p:cNvSpPr txBox="1">
            <a:spLocks noChangeArrowheads="1"/>
          </p:cNvSpPr>
          <p:nvPr/>
        </p:nvSpPr>
        <p:spPr bwMode="auto">
          <a:xfrm>
            <a:off x="407988" y="4425950"/>
            <a:ext cx="7904162"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en-US" altLang="zh-CN" sz="2800" b="1"/>
              <a:t>④</a:t>
            </a:r>
            <a:r>
              <a:rPr lang="zh-CN" altLang="en-US" sz="2800" b="1"/>
              <a:t>上、下偏差绝对值相同时，只写一个数值，字</a:t>
            </a:r>
            <a:endParaRPr lang="zh-CN" altLang="en-US" sz="2800" b="1"/>
          </a:p>
          <a:p>
            <a:pPr algn="l" eaLnBrk="1" hangingPunct="1">
              <a:lnSpc>
                <a:spcPct val="125000"/>
              </a:lnSpc>
            </a:pPr>
            <a:r>
              <a:rPr lang="zh-CN" altLang="en-US" sz="2800" b="1"/>
              <a:t>    高和基本尺寸数字相同，数值前加“</a:t>
            </a:r>
            <a:r>
              <a:rPr lang="en-US" altLang="zh-CN" sz="2800" b="1"/>
              <a:t>±”</a:t>
            </a:r>
            <a:r>
              <a:rPr lang="zh-CN" altLang="en-US" sz="2800" b="1"/>
              <a:t>号。</a:t>
            </a:r>
            <a:endParaRPr lang="zh-CN" altLang="en-US" sz="2800" b="1"/>
          </a:p>
        </p:txBody>
      </p:sp>
      <p:grpSp>
        <p:nvGrpSpPr>
          <p:cNvPr id="48152" name="Group 24"/>
          <p:cNvGrpSpPr/>
          <p:nvPr/>
        </p:nvGrpSpPr>
        <p:grpSpPr bwMode="auto">
          <a:xfrm>
            <a:off x="1033463" y="3914775"/>
            <a:ext cx="2209800" cy="704850"/>
            <a:chOff x="651" y="2466"/>
            <a:chExt cx="1392" cy="444"/>
          </a:xfrm>
        </p:grpSpPr>
        <p:sp>
          <p:nvSpPr>
            <p:cNvPr id="40974" name="Rectangle 7"/>
            <p:cNvSpPr>
              <a:spLocks noChangeArrowheads="1"/>
            </p:cNvSpPr>
            <p:nvPr/>
          </p:nvSpPr>
          <p:spPr bwMode="auto">
            <a:xfrm>
              <a:off x="651" y="2545"/>
              <a:ext cx="139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3200" b="1" i="1">
                  <a:solidFill>
                    <a:srgbClr val="FF3300"/>
                  </a:solidFill>
                  <a:sym typeface="Symbol" panose="05050102010706020507" pitchFamily="18" charset="2"/>
                </a:rPr>
                <a:t></a:t>
              </a:r>
              <a:r>
                <a:rPr lang="en-US" altLang="zh-CN" sz="3200" b="1" i="1">
                  <a:solidFill>
                    <a:srgbClr val="FF3300"/>
                  </a:solidFill>
                  <a:latin typeface="ISOCPEUR" panose="020B0604020202020204" pitchFamily="34" charset="0"/>
                  <a:sym typeface="Symbol" panose="05050102010706020507" pitchFamily="18" charset="2"/>
                </a:rPr>
                <a:t>30H8</a:t>
              </a:r>
              <a:r>
                <a:rPr lang="en-US" altLang="zh-CN" sz="3200" b="1">
                  <a:solidFill>
                    <a:srgbClr val="FF3300"/>
                  </a:solidFill>
                  <a:latin typeface="宋体" panose="02010600030101010101" pitchFamily="2" charset="-122"/>
                  <a:sym typeface="Symbol" panose="05050102010706020507" pitchFamily="18" charset="2"/>
                </a:rPr>
                <a:t>     </a:t>
              </a:r>
              <a:endParaRPr lang="en-US" altLang="zh-CN" sz="3200" b="1">
                <a:solidFill>
                  <a:srgbClr val="FF3300"/>
                </a:solidFill>
                <a:latin typeface="宋体" panose="02010600030101010101" pitchFamily="2" charset="-122"/>
                <a:sym typeface="Symbol" panose="05050102010706020507" pitchFamily="18" charset="2"/>
              </a:endParaRPr>
            </a:p>
          </p:txBody>
        </p:sp>
        <p:grpSp>
          <p:nvGrpSpPr>
            <p:cNvPr id="40975" name="Group 23"/>
            <p:cNvGrpSpPr/>
            <p:nvPr/>
          </p:nvGrpSpPr>
          <p:grpSpPr bwMode="auto">
            <a:xfrm>
              <a:off x="1353" y="2466"/>
              <a:ext cx="624" cy="438"/>
              <a:chOff x="1461" y="2466"/>
              <a:chExt cx="624" cy="438"/>
            </a:xfrm>
          </p:grpSpPr>
          <p:sp>
            <p:nvSpPr>
              <p:cNvPr id="40976" name="Rectangle 8"/>
              <p:cNvSpPr>
                <a:spLocks noChangeArrowheads="1"/>
              </p:cNvSpPr>
              <p:nvPr/>
            </p:nvSpPr>
            <p:spPr bwMode="auto">
              <a:xfrm>
                <a:off x="1461" y="2466"/>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olidFill>
                      <a:srgbClr val="FF3300"/>
                    </a:solidFill>
                  </a:rPr>
                  <a:t>+</a:t>
                </a:r>
                <a:r>
                  <a:rPr lang="en-US" altLang="zh-CN" b="1" i="1">
                    <a:solidFill>
                      <a:srgbClr val="FF3300"/>
                    </a:solidFill>
                    <a:latin typeface="ISOCPEUR" panose="020B0604020202020204" pitchFamily="34" charset="0"/>
                  </a:rPr>
                  <a:t>0.033</a:t>
                </a:r>
                <a:endParaRPr lang="en-US" altLang="zh-CN" b="1" i="1">
                  <a:solidFill>
                    <a:srgbClr val="FF3300"/>
                  </a:solidFill>
                  <a:latin typeface="ISOCPEUR" panose="020B0604020202020204" pitchFamily="34" charset="0"/>
                </a:endParaRPr>
              </a:p>
            </p:txBody>
          </p:sp>
          <p:sp>
            <p:nvSpPr>
              <p:cNvPr id="40977" name="Rectangle 9"/>
              <p:cNvSpPr>
                <a:spLocks noChangeArrowheads="1"/>
              </p:cNvSpPr>
              <p:nvPr/>
            </p:nvSpPr>
            <p:spPr bwMode="auto">
              <a:xfrm>
                <a:off x="1563" y="2616"/>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i="1">
                    <a:solidFill>
                      <a:srgbClr val="FF3300"/>
                    </a:solidFill>
                    <a:latin typeface="ISOCPEUR" panose="020B0604020202020204" pitchFamily="34" charset="0"/>
                  </a:rPr>
                  <a:t>0</a:t>
                </a:r>
                <a:endParaRPr lang="en-US" altLang="zh-CN" b="1" i="1">
                  <a:solidFill>
                    <a:srgbClr val="FF3300"/>
                  </a:solidFill>
                  <a:latin typeface="ISOCPEUR" panose="020B0604020202020204" pitchFamily="34" charset="0"/>
                </a:endParaRPr>
              </a:p>
            </p:txBody>
          </p:sp>
        </p:grpSp>
      </p:grpSp>
      <p:grpSp>
        <p:nvGrpSpPr>
          <p:cNvPr id="48155" name="Group 27"/>
          <p:cNvGrpSpPr/>
          <p:nvPr/>
        </p:nvGrpSpPr>
        <p:grpSpPr bwMode="auto">
          <a:xfrm>
            <a:off x="6269038" y="2082800"/>
            <a:ext cx="1743075" cy="731838"/>
            <a:chOff x="3949" y="1312"/>
            <a:chExt cx="1098" cy="461"/>
          </a:xfrm>
        </p:grpSpPr>
        <p:sp>
          <p:nvSpPr>
            <p:cNvPr id="40971" name="Text Box 16"/>
            <p:cNvSpPr txBox="1">
              <a:spLocks noChangeArrowheads="1"/>
            </p:cNvSpPr>
            <p:nvPr/>
          </p:nvSpPr>
          <p:spPr bwMode="auto">
            <a:xfrm rot="7438">
              <a:off x="4468" y="1485"/>
              <a:ext cx="5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solidFill>
                    <a:srgbClr val="FF3300"/>
                  </a:solidFill>
                </a:rPr>
                <a:t>-</a:t>
              </a:r>
              <a:r>
                <a:rPr lang="en-US" altLang="zh-CN" b="1" i="1">
                  <a:solidFill>
                    <a:srgbClr val="FF3300"/>
                  </a:solidFill>
                  <a:latin typeface="ISOCPEUR" panose="020B0604020202020204" pitchFamily="34" charset="0"/>
                </a:rPr>
                <a:t>0.041</a:t>
              </a:r>
              <a:endParaRPr lang="en-US" altLang="zh-CN" b="1">
                <a:solidFill>
                  <a:srgbClr val="FF3300"/>
                </a:solidFill>
                <a:latin typeface="ISOCPEUR" panose="020B0604020202020204" pitchFamily="34" charset="0"/>
              </a:endParaRPr>
            </a:p>
          </p:txBody>
        </p:sp>
        <p:sp>
          <p:nvSpPr>
            <p:cNvPr id="40972" name="Text Box 17"/>
            <p:cNvSpPr txBox="1">
              <a:spLocks noChangeArrowheads="1"/>
            </p:cNvSpPr>
            <p:nvPr/>
          </p:nvSpPr>
          <p:spPr bwMode="auto">
            <a:xfrm rot="7438">
              <a:off x="3949" y="1389"/>
              <a:ext cx="69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i="1">
                  <a:solidFill>
                    <a:srgbClr val="FF3300"/>
                  </a:solidFill>
                  <a:sym typeface="Symbol" panose="05050102010706020507" pitchFamily="18" charset="2"/>
                </a:rPr>
                <a:t></a:t>
              </a:r>
              <a:r>
                <a:rPr lang="en-US" altLang="zh-CN" sz="3200" b="1" i="1">
                  <a:solidFill>
                    <a:srgbClr val="FF3300"/>
                  </a:solidFill>
                  <a:latin typeface="ISOCPEUR" panose="020B0604020202020204" pitchFamily="34" charset="0"/>
                  <a:sym typeface="Symbol" panose="05050102010706020507" pitchFamily="18" charset="2"/>
                </a:rPr>
                <a:t>30</a:t>
              </a:r>
              <a:endParaRPr lang="en-US" altLang="zh-CN" sz="3200" b="1">
                <a:solidFill>
                  <a:srgbClr val="FF3300"/>
                </a:solidFill>
                <a:latin typeface="ISOCPEUR" panose="020B0604020202020204" pitchFamily="34" charset="0"/>
              </a:endParaRPr>
            </a:p>
          </p:txBody>
        </p:sp>
        <p:sp>
          <p:nvSpPr>
            <p:cNvPr id="40973" name="Text Box 18"/>
            <p:cNvSpPr txBox="1">
              <a:spLocks noChangeArrowheads="1"/>
            </p:cNvSpPr>
            <p:nvPr/>
          </p:nvSpPr>
          <p:spPr bwMode="auto">
            <a:xfrm rot="7438">
              <a:off x="4468" y="1312"/>
              <a:ext cx="57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a:solidFill>
                    <a:srgbClr val="FF3300"/>
                  </a:solidFill>
                </a:rPr>
                <a:t>-</a:t>
              </a:r>
              <a:r>
                <a:rPr lang="en-US" altLang="zh-CN" b="1" i="1">
                  <a:solidFill>
                    <a:srgbClr val="FF3300"/>
                  </a:solidFill>
                  <a:latin typeface="ISOCPEUR" panose="020B0604020202020204" pitchFamily="34" charset="0"/>
                </a:rPr>
                <a:t>0.020</a:t>
              </a:r>
              <a:endParaRPr lang="en-US" altLang="zh-CN" b="1">
                <a:solidFill>
                  <a:srgbClr val="FF3300"/>
                </a:solidFill>
                <a:latin typeface="ISOCPEUR" panose="020B0604020202020204" pitchFamily="34" charset="0"/>
              </a:endParaRPr>
            </a:p>
          </p:txBody>
        </p:sp>
      </p:grpSp>
      <p:sp>
        <p:nvSpPr>
          <p:cNvPr id="48149" name="Text Box 21"/>
          <p:cNvSpPr txBox="1">
            <a:spLocks noChangeArrowheads="1"/>
          </p:cNvSpPr>
          <p:nvPr/>
        </p:nvSpPr>
        <p:spPr bwMode="auto">
          <a:xfrm>
            <a:off x="1150938" y="5567363"/>
            <a:ext cx="24145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3200" b="1" i="1">
                <a:solidFill>
                  <a:srgbClr val="FF3300"/>
                </a:solidFill>
                <a:sym typeface="Symbol" panose="05050102010706020507" pitchFamily="18" charset="2"/>
              </a:rPr>
              <a:t></a:t>
            </a:r>
            <a:r>
              <a:rPr lang="en-US" altLang="zh-CN" sz="3200" b="1" i="1">
                <a:solidFill>
                  <a:srgbClr val="FF3300"/>
                </a:solidFill>
                <a:latin typeface="ISOCPEUR" panose="020B0604020202020204" pitchFamily="34" charset="0"/>
                <a:sym typeface="Symbol" panose="05050102010706020507" pitchFamily="18" charset="2"/>
              </a:rPr>
              <a:t>50±0.008</a:t>
            </a:r>
            <a:endParaRPr lang="en-US" altLang="zh-CN" sz="3200" b="1" i="1">
              <a:solidFill>
                <a:srgbClr val="FF3300"/>
              </a:solidFill>
              <a:latin typeface="ISOCPEUR" panose="020B0604020202020204" pitchFamily="34" charset="0"/>
              <a:sym typeface="Symbol" panose="05050102010706020507" pitchFamily="18" charset="2"/>
            </a:endParaRPr>
          </a:p>
        </p:txBody>
      </p:sp>
      <p:sp>
        <p:nvSpPr>
          <p:cNvPr id="48153" name="Line 25"/>
          <p:cNvSpPr>
            <a:spLocks noChangeShapeType="1"/>
          </p:cNvSpPr>
          <p:nvPr/>
        </p:nvSpPr>
        <p:spPr bwMode="auto">
          <a:xfrm>
            <a:off x="6521450" y="2716213"/>
            <a:ext cx="1533525"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wipe(left)">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155"/>
                                        </p:tgtEl>
                                        <p:attrNameLst>
                                          <p:attrName>style.visibility</p:attrName>
                                        </p:attrNameLst>
                                      </p:cBhvr>
                                      <p:to>
                                        <p:strVal val="visible"/>
                                      </p:to>
                                    </p:set>
                                    <p:animEffect transition="in" filter="blinds(horizontal)">
                                      <p:cBhvr>
                                        <p:cTn id="12" dur="500"/>
                                        <p:tgtEl>
                                          <p:spTgt spid="48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8153"/>
                                        </p:tgtEl>
                                        <p:attrNameLst>
                                          <p:attrName>style.visibility</p:attrName>
                                        </p:attrNameLst>
                                      </p:cBhvr>
                                      <p:to>
                                        <p:strVal val="visible"/>
                                      </p:to>
                                    </p:set>
                                    <p:animEffect transition="in" filter="wipe(left)">
                                      <p:cBhvr>
                                        <p:cTn id="17" dur="500"/>
                                        <p:tgtEl>
                                          <p:spTgt spid="481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8132"/>
                                        </p:tgtEl>
                                        <p:attrNameLst>
                                          <p:attrName>style.visibility</p:attrName>
                                        </p:attrNameLst>
                                      </p:cBhvr>
                                      <p:to>
                                        <p:strVal val="visible"/>
                                      </p:to>
                                    </p:set>
                                    <p:animEffect transition="in" filter="wipe(left)">
                                      <p:cBhvr>
                                        <p:cTn id="22" dur="500"/>
                                        <p:tgtEl>
                                          <p:spTgt spid="481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8133"/>
                                        </p:tgtEl>
                                        <p:attrNameLst>
                                          <p:attrName>style.visibility</p:attrName>
                                        </p:attrNameLst>
                                      </p:cBhvr>
                                      <p:to>
                                        <p:strVal val="visible"/>
                                      </p:to>
                                    </p:set>
                                    <p:animEffect transition="in" filter="wipe(left)">
                                      <p:cBhvr>
                                        <p:cTn id="27" dur="500"/>
                                        <p:tgtEl>
                                          <p:spTgt spid="4813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48152"/>
                                        </p:tgtEl>
                                        <p:attrNameLst>
                                          <p:attrName>style.visibility</p:attrName>
                                        </p:attrNameLst>
                                      </p:cBhvr>
                                      <p:to>
                                        <p:strVal val="visible"/>
                                      </p:to>
                                    </p:set>
                                    <p:anim calcmode="lin" valueType="num">
                                      <p:cBhvr additive="base">
                                        <p:cTn id="32" dur="500" fill="hold"/>
                                        <p:tgtEl>
                                          <p:spTgt spid="48152"/>
                                        </p:tgtEl>
                                        <p:attrNameLst>
                                          <p:attrName>ppt_x</p:attrName>
                                        </p:attrNameLst>
                                      </p:cBhvr>
                                      <p:tavLst>
                                        <p:tav tm="0">
                                          <p:val>
                                            <p:strVal val="0-#ppt_w/2"/>
                                          </p:val>
                                        </p:tav>
                                        <p:tav tm="100000">
                                          <p:val>
                                            <p:strVal val="#ppt_x"/>
                                          </p:val>
                                        </p:tav>
                                      </p:tavLst>
                                    </p:anim>
                                    <p:anim calcmode="lin" valueType="num">
                                      <p:cBhvr additive="base">
                                        <p:cTn id="33" dur="500" fill="hold"/>
                                        <p:tgtEl>
                                          <p:spTgt spid="48152"/>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8134"/>
                                        </p:tgtEl>
                                        <p:attrNameLst>
                                          <p:attrName>style.visibility</p:attrName>
                                        </p:attrNameLst>
                                      </p:cBhvr>
                                      <p:to>
                                        <p:strVal val="visible"/>
                                      </p:to>
                                    </p:set>
                                    <p:animEffect transition="in" filter="wipe(left)">
                                      <p:cBhvr>
                                        <p:cTn id="38" dur="500"/>
                                        <p:tgtEl>
                                          <p:spTgt spid="4813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8149"/>
                                        </p:tgtEl>
                                        <p:attrNameLst>
                                          <p:attrName>style.visibility</p:attrName>
                                        </p:attrNameLst>
                                      </p:cBhvr>
                                      <p:to>
                                        <p:strVal val="visible"/>
                                      </p:to>
                                    </p:set>
                                    <p:animEffect transition="in" filter="blinds(horizontal)">
                                      <p:cBhvr>
                                        <p:cTn id="43" dur="500"/>
                                        <p:tgtEl>
                                          <p:spTgt spid="48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autoUpdateAnimBg="0"/>
      <p:bldP spid="48132" grpId="0" autoUpdateAnimBg="0"/>
      <p:bldP spid="48133" grpId="0" autoUpdateAnimBg="0"/>
      <p:bldP spid="48134" grpId="0" autoUpdateAnimBg="0"/>
      <p:bldP spid="4814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255588" y="138113"/>
            <a:ext cx="8323262"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⑶ </a:t>
            </a:r>
            <a:r>
              <a:rPr lang="zh-CN" altLang="en-US" sz="3200" b="1">
                <a:latin typeface="宋体" panose="02010600030101010101" pitchFamily="2" charset="-122"/>
              </a:rPr>
              <a:t>在基本尺寸后，注出公差带代号及上、下</a:t>
            </a:r>
            <a:endParaRPr lang="zh-CN" altLang="en-US" sz="3200" b="1">
              <a:latin typeface="宋体" panose="02010600030101010101" pitchFamily="2" charset="-122"/>
            </a:endParaRPr>
          </a:p>
          <a:p>
            <a:pPr algn="l"/>
            <a:r>
              <a:rPr lang="zh-CN" altLang="en-US" sz="3200" b="1">
                <a:latin typeface="宋体" panose="02010600030101010101" pitchFamily="2" charset="-122"/>
              </a:rPr>
              <a:t>   偏差值，偏差值要加上括号。</a:t>
            </a:r>
            <a:endParaRPr lang="zh-CN" altLang="en-US" sz="3200" b="1">
              <a:latin typeface="宋体" panose="02010600030101010101" pitchFamily="2" charset="-122"/>
            </a:endParaRPr>
          </a:p>
        </p:txBody>
      </p:sp>
      <p:grpSp>
        <p:nvGrpSpPr>
          <p:cNvPr id="41031" name="Group 71"/>
          <p:cNvGrpSpPr/>
          <p:nvPr/>
        </p:nvGrpSpPr>
        <p:grpSpPr bwMode="auto">
          <a:xfrm>
            <a:off x="1044575" y="1270000"/>
            <a:ext cx="6345238" cy="3873500"/>
            <a:chOff x="658" y="800"/>
            <a:chExt cx="3997" cy="2440"/>
          </a:xfrm>
        </p:grpSpPr>
        <p:grpSp>
          <p:nvGrpSpPr>
            <p:cNvPr id="41989" name="Group 4"/>
            <p:cNvGrpSpPr/>
            <p:nvPr/>
          </p:nvGrpSpPr>
          <p:grpSpPr bwMode="auto">
            <a:xfrm>
              <a:off x="658" y="1115"/>
              <a:ext cx="642" cy="2125"/>
              <a:chOff x="658" y="1109"/>
              <a:chExt cx="642" cy="2125"/>
            </a:xfrm>
          </p:grpSpPr>
          <p:sp>
            <p:nvSpPr>
              <p:cNvPr id="42039" name="Line 5"/>
              <p:cNvSpPr>
                <a:spLocks noChangeShapeType="1"/>
              </p:cNvSpPr>
              <p:nvPr/>
            </p:nvSpPr>
            <p:spPr bwMode="auto">
              <a:xfrm flipH="1">
                <a:off x="974" y="1129"/>
                <a:ext cx="317"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40" name="Line 6"/>
              <p:cNvSpPr>
                <a:spLocks noChangeShapeType="1"/>
              </p:cNvSpPr>
              <p:nvPr/>
            </p:nvSpPr>
            <p:spPr bwMode="auto">
              <a:xfrm flipH="1">
                <a:off x="993" y="1676"/>
                <a:ext cx="307"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41" name="Line 7"/>
              <p:cNvSpPr>
                <a:spLocks noChangeShapeType="1"/>
              </p:cNvSpPr>
              <p:nvPr/>
            </p:nvSpPr>
            <p:spPr bwMode="auto">
              <a:xfrm>
                <a:off x="1022" y="1109"/>
                <a:ext cx="0" cy="596"/>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nvGrpSpPr>
              <p:cNvPr id="42042" name="Group 8"/>
              <p:cNvGrpSpPr/>
              <p:nvPr/>
            </p:nvGrpSpPr>
            <p:grpSpPr bwMode="auto">
              <a:xfrm>
                <a:off x="658" y="1584"/>
                <a:ext cx="429" cy="1650"/>
                <a:chOff x="658" y="1584"/>
                <a:chExt cx="429" cy="1650"/>
              </a:xfrm>
            </p:grpSpPr>
            <p:sp>
              <p:nvSpPr>
                <p:cNvPr id="42044" name="Text Box 9"/>
                <p:cNvSpPr txBox="1">
                  <a:spLocks noChangeArrowheads="1"/>
                </p:cNvSpPr>
                <p:nvPr/>
              </p:nvSpPr>
              <p:spPr bwMode="auto">
                <a:xfrm rot="-5400000">
                  <a:off x="44" y="2226"/>
                  <a:ext cx="165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i="1">
                      <a:solidFill>
                        <a:srgbClr val="FF3300"/>
                      </a:solidFill>
                      <a:sym typeface="Symbol" panose="05050102010706020507" pitchFamily="18" charset="2"/>
                    </a:rPr>
                    <a:t></a:t>
                  </a:r>
                  <a:r>
                    <a:rPr lang="en-US" altLang="zh-CN" sz="3200" b="1" i="1">
                      <a:solidFill>
                        <a:srgbClr val="FF3300"/>
                      </a:solidFill>
                      <a:latin typeface="ISOCPEUR" panose="020B0604020202020204" pitchFamily="34" charset="0"/>
                      <a:sym typeface="Symbol" panose="05050102010706020507" pitchFamily="18" charset="2"/>
                    </a:rPr>
                    <a:t>30H8</a:t>
                  </a:r>
                  <a:r>
                    <a:rPr lang="en-US" altLang="zh-CN" sz="3200" b="1">
                      <a:solidFill>
                        <a:srgbClr val="FF3300"/>
                      </a:solidFill>
                      <a:latin typeface="宋体" panose="02010600030101010101" pitchFamily="2" charset="-122"/>
                      <a:sym typeface="Symbol" panose="05050102010706020507" pitchFamily="18" charset="2"/>
                    </a:rPr>
                    <a:t>(     )</a:t>
                  </a:r>
                  <a:endParaRPr lang="en-US" altLang="zh-CN" sz="3200" b="1">
                    <a:solidFill>
                      <a:srgbClr val="FF3300"/>
                    </a:solidFill>
                  </a:endParaRPr>
                </a:p>
              </p:txBody>
            </p:sp>
            <p:sp>
              <p:nvSpPr>
                <p:cNvPr id="42045" name="Text Box 10"/>
                <p:cNvSpPr txBox="1">
                  <a:spLocks noChangeArrowheads="1"/>
                </p:cNvSpPr>
                <p:nvPr/>
              </p:nvSpPr>
              <p:spPr bwMode="auto">
                <a:xfrm rot="-5400000">
                  <a:off x="377" y="1926"/>
                  <a:ext cx="84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rgbClr val="FF3300"/>
                      </a:solidFill>
                    </a:rPr>
                    <a:t>+</a:t>
                  </a:r>
                  <a:r>
                    <a:rPr lang="en-US" altLang="zh-CN" b="1" i="1">
                      <a:solidFill>
                        <a:srgbClr val="FF3300"/>
                      </a:solidFill>
                      <a:latin typeface="ISOCPEUR" panose="020B0604020202020204" pitchFamily="34" charset="0"/>
                    </a:rPr>
                    <a:t>0.033</a:t>
                  </a:r>
                  <a:endParaRPr lang="en-US" altLang="zh-CN" b="1">
                    <a:solidFill>
                      <a:srgbClr val="FF3300"/>
                    </a:solidFill>
                    <a:latin typeface="ISOCPEUR" panose="020B0604020202020204" pitchFamily="34" charset="0"/>
                  </a:endParaRPr>
                </a:p>
              </p:txBody>
            </p:sp>
            <p:sp>
              <p:nvSpPr>
                <p:cNvPr id="42046" name="Text Box 11"/>
                <p:cNvSpPr txBox="1">
                  <a:spLocks noChangeArrowheads="1"/>
                </p:cNvSpPr>
                <p:nvPr/>
              </p:nvSpPr>
              <p:spPr bwMode="auto">
                <a:xfrm rot="-5400000">
                  <a:off x="840" y="2041"/>
                  <a:ext cx="2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i="1">
                      <a:solidFill>
                        <a:srgbClr val="FF3300"/>
                      </a:solidFill>
                      <a:latin typeface="ISOCPEUR" panose="020B0604020202020204" pitchFamily="34" charset="0"/>
                    </a:rPr>
                    <a:t>0</a:t>
                  </a:r>
                  <a:endParaRPr lang="en-US" altLang="zh-CN" b="1">
                    <a:solidFill>
                      <a:srgbClr val="FF3300"/>
                    </a:solidFill>
                    <a:latin typeface="ISOCPEUR" panose="020B0604020202020204" pitchFamily="34" charset="0"/>
                  </a:endParaRPr>
                </a:p>
              </p:txBody>
            </p:sp>
          </p:grpSp>
          <p:sp>
            <p:nvSpPr>
              <p:cNvPr id="42043" name="Line 12"/>
              <p:cNvSpPr>
                <a:spLocks noChangeShapeType="1"/>
              </p:cNvSpPr>
              <p:nvPr/>
            </p:nvSpPr>
            <p:spPr bwMode="auto">
              <a:xfrm>
                <a:off x="1022" y="1676"/>
                <a:ext cx="0" cy="1538"/>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41990" name="Group 70"/>
            <p:cNvGrpSpPr/>
            <p:nvPr/>
          </p:nvGrpSpPr>
          <p:grpSpPr bwMode="auto">
            <a:xfrm>
              <a:off x="3216" y="971"/>
              <a:ext cx="1439" cy="880"/>
              <a:chOff x="3216" y="971"/>
              <a:chExt cx="1439" cy="880"/>
            </a:xfrm>
          </p:grpSpPr>
          <p:sp>
            <p:nvSpPr>
              <p:cNvPr id="42029" name="Line 14"/>
              <p:cNvSpPr>
                <a:spLocks noChangeShapeType="1"/>
              </p:cNvSpPr>
              <p:nvPr/>
            </p:nvSpPr>
            <p:spPr bwMode="auto">
              <a:xfrm>
                <a:off x="3216" y="1404"/>
                <a:ext cx="1439" cy="0"/>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30" name="Rectangle 15"/>
              <p:cNvSpPr>
                <a:spLocks noChangeArrowheads="1"/>
              </p:cNvSpPr>
              <p:nvPr/>
            </p:nvSpPr>
            <p:spPr bwMode="auto">
              <a:xfrm>
                <a:off x="3327" y="1138"/>
                <a:ext cx="945" cy="539"/>
              </a:xfrm>
              <a:prstGeom prst="rect">
                <a:avLst/>
              </a:prstGeom>
              <a:noFill/>
              <a:ln w="38100">
                <a:solidFill>
                  <a:schemeClr val="tx2"/>
                </a:solidFill>
                <a:miter lim="800000"/>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2031" name="Line 16"/>
              <p:cNvSpPr>
                <a:spLocks noChangeShapeType="1"/>
              </p:cNvSpPr>
              <p:nvPr/>
            </p:nvSpPr>
            <p:spPr bwMode="auto">
              <a:xfrm flipH="1">
                <a:off x="3272" y="1138"/>
                <a:ext cx="58" cy="58"/>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32" name="Line 17"/>
              <p:cNvSpPr>
                <a:spLocks noChangeShapeType="1"/>
              </p:cNvSpPr>
              <p:nvPr/>
            </p:nvSpPr>
            <p:spPr bwMode="auto">
              <a:xfrm flipH="1" flipV="1">
                <a:off x="3279" y="1625"/>
                <a:ext cx="51" cy="51"/>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33" name="Line 18"/>
              <p:cNvSpPr>
                <a:spLocks noChangeShapeType="1"/>
              </p:cNvSpPr>
              <p:nvPr/>
            </p:nvSpPr>
            <p:spPr bwMode="auto">
              <a:xfrm>
                <a:off x="3279" y="1189"/>
                <a:ext cx="0" cy="444"/>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34" name="Line 19"/>
              <p:cNvSpPr>
                <a:spLocks noChangeShapeType="1"/>
              </p:cNvSpPr>
              <p:nvPr/>
            </p:nvSpPr>
            <p:spPr bwMode="auto">
              <a:xfrm flipV="1">
                <a:off x="4269" y="971"/>
                <a:ext cx="0" cy="167"/>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35" name="Line 20"/>
              <p:cNvSpPr>
                <a:spLocks noChangeShapeType="1"/>
              </p:cNvSpPr>
              <p:nvPr/>
            </p:nvSpPr>
            <p:spPr bwMode="auto">
              <a:xfrm flipV="1">
                <a:off x="4271" y="1684"/>
                <a:ext cx="0" cy="167"/>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36" name="Line 21"/>
              <p:cNvSpPr>
                <a:spLocks noChangeShapeType="1"/>
              </p:cNvSpPr>
              <p:nvPr/>
            </p:nvSpPr>
            <p:spPr bwMode="auto">
              <a:xfrm>
                <a:off x="4275" y="978"/>
                <a:ext cx="306"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37" name="Line 22"/>
              <p:cNvSpPr>
                <a:spLocks noChangeShapeType="1"/>
              </p:cNvSpPr>
              <p:nvPr/>
            </p:nvSpPr>
            <p:spPr bwMode="auto">
              <a:xfrm>
                <a:off x="4276" y="1837"/>
                <a:ext cx="306"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38" name="Freeform 23"/>
              <p:cNvSpPr/>
              <p:nvPr/>
            </p:nvSpPr>
            <p:spPr bwMode="auto">
              <a:xfrm>
                <a:off x="4554" y="978"/>
                <a:ext cx="60" cy="846"/>
              </a:xfrm>
              <a:custGeom>
                <a:avLst/>
                <a:gdLst>
                  <a:gd name="T0" fmla="*/ 20 w 60"/>
                  <a:gd name="T1" fmla="*/ 0 h 846"/>
                  <a:gd name="T2" fmla="*/ 42 w 60"/>
                  <a:gd name="T3" fmla="*/ 150 h 846"/>
                  <a:gd name="T4" fmla="*/ 6 w 60"/>
                  <a:gd name="T5" fmla="*/ 294 h 846"/>
                  <a:gd name="T6" fmla="*/ 6 w 60"/>
                  <a:gd name="T7" fmla="*/ 402 h 846"/>
                  <a:gd name="T8" fmla="*/ 18 w 60"/>
                  <a:gd name="T9" fmla="*/ 534 h 846"/>
                  <a:gd name="T10" fmla="*/ 54 w 60"/>
                  <a:gd name="T11" fmla="*/ 666 h 846"/>
                  <a:gd name="T12" fmla="*/ 54 w 60"/>
                  <a:gd name="T13" fmla="*/ 774 h 846"/>
                  <a:gd name="T14" fmla="*/ 18 w 60"/>
                  <a:gd name="T15" fmla="*/ 846 h 8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0" h="846">
                    <a:moveTo>
                      <a:pt x="20" y="0"/>
                    </a:moveTo>
                    <a:cubicBezTo>
                      <a:pt x="24" y="25"/>
                      <a:pt x="44" y="101"/>
                      <a:pt x="42" y="150"/>
                    </a:cubicBezTo>
                    <a:cubicBezTo>
                      <a:pt x="40" y="199"/>
                      <a:pt x="12" y="252"/>
                      <a:pt x="6" y="294"/>
                    </a:cubicBezTo>
                    <a:cubicBezTo>
                      <a:pt x="0" y="336"/>
                      <a:pt x="4" y="362"/>
                      <a:pt x="6" y="402"/>
                    </a:cubicBezTo>
                    <a:cubicBezTo>
                      <a:pt x="8" y="442"/>
                      <a:pt x="10" y="490"/>
                      <a:pt x="18" y="534"/>
                    </a:cubicBezTo>
                    <a:cubicBezTo>
                      <a:pt x="26" y="578"/>
                      <a:pt x="48" y="626"/>
                      <a:pt x="54" y="666"/>
                    </a:cubicBezTo>
                    <a:cubicBezTo>
                      <a:pt x="60" y="706"/>
                      <a:pt x="60" y="744"/>
                      <a:pt x="54" y="774"/>
                    </a:cubicBezTo>
                    <a:cubicBezTo>
                      <a:pt x="48" y="804"/>
                      <a:pt x="25" y="831"/>
                      <a:pt x="18" y="846"/>
                    </a:cubicBez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41991" name="Group 64"/>
            <p:cNvGrpSpPr/>
            <p:nvPr/>
          </p:nvGrpSpPr>
          <p:grpSpPr bwMode="auto">
            <a:xfrm>
              <a:off x="1179" y="800"/>
              <a:ext cx="2147" cy="2397"/>
              <a:chOff x="1179" y="800"/>
              <a:chExt cx="2147" cy="2397"/>
            </a:xfrm>
          </p:grpSpPr>
          <p:grpSp>
            <p:nvGrpSpPr>
              <p:cNvPr id="41992" name="Group 25"/>
              <p:cNvGrpSpPr/>
              <p:nvPr/>
            </p:nvGrpSpPr>
            <p:grpSpPr bwMode="auto">
              <a:xfrm>
                <a:off x="1179" y="800"/>
                <a:ext cx="1346" cy="1229"/>
                <a:chOff x="1179" y="800"/>
                <a:chExt cx="1346" cy="1229"/>
              </a:xfrm>
            </p:grpSpPr>
            <p:sp>
              <p:nvSpPr>
                <p:cNvPr id="42002" name="Line 26"/>
                <p:cNvSpPr>
                  <a:spLocks noChangeShapeType="1"/>
                </p:cNvSpPr>
                <p:nvPr/>
              </p:nvSpPr>
              <p:spPr bwMode="auto">
                <a:xfrm flipV="1">
                  <a:off x="2365" y="1092"/>
                  <a:ext cx="50" cy="50"/>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03" name="Line 27"/>
                <p:cNvSpPr>
                  <a:spLocks noChangeShapeType="1"/>
                </p:cNvSpPr>
                <p:nvPr/>
              </p:nvSpPr>
              <p:spPr bwMode="auto">
                <a:xfrm>
                  <a:off x="1179" y="1411"/>
                  <a:ext cx="1346" cy="0"/>
                </a:xfrm>
                <a:prstGeom prst="line">
                  <a:avLst/>
                </a:prstGeom>
                <a:noFill/>
                <a:ln w="19050">
                  <a:solidFill>
                    <a:schemeClr val="tx2"/>
                  </a:solidFill>
                  <a:prstDash val="lgDash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04" name="Line 28"/>
                <p:cNvSpPr>
                  <a:spLocks noChangeShapeType="1"/>
                </p:cNvSpPr>
                <p:nvPr/>
              </p:nvSpPr>
              <p:spPr bwMode="auto">
                <a:xfrm>
                  <a:off x="1293" y="939"/>
                  <a:ext cx="865"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05" name="Line 29"/>
                <p:cNvSpPr>
                  <a:spLocks noChangeShapeType="1"/>
                </p:cNvSpPr>
                <p:nvPr/>
              </p:nvSpPr>
              <p:spPr bwMode="auto">
                <a:xfrm>
                  <a:off x="1292" y="1877"/>
                  <a:ext cx="865"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06" name="Line 30"/>
                <p:cNvSpPr>
                  <a:spLocks noChangeShapeType="1"/>
                </p:cNvSpPr>
                <p:nvPr/>
              </p:nvSpPr>
              <p:spPr bwMode="auto">
                <a:xfrm>
                  <a:off x="2148" y="801"/>
                  <a:ext cx="0" cy="145"/>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07" name="Line 31"/>
                <p:cNvSpPr>
                  <a:spLocks noChangeShapeType="1"/>
                </p:cNvSpPr>
                <p:nvPr/>
              </p:nvSpPr>
              <p:spPr bwMode="auto">
                <a:xfrm>
                  <a:off x="2148" y="1877"/>
                  <a:ext cx="0" cy="152"/>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08" name="Line 32"/>
                <p:cNvSpPr>
                  <a:spLocks noChangeShapeType="1"/>
                </p:cNvSpPr>
                <p:nvPr/>
              </p:nvSpPr>
              <p:spPr bwMode="auto">
                <a:xfrm>
                  <a:off x="2154" y="804"/>
                  <a:ext cx="26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09" name="Line 33"/>
                <p:cNvSpPr>
                  <a:spLocks noChangeShapeType="1"/>
                </p:cNvSpPr>
                <p:nvPr/>
              </p:nvSpPr>
              <p:spPr bwMode="auto">
                <a:xfrm>
                  <a:off x="2149" y="2018"/>
                  <a:ext cx="284"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10" name="Line 34"/>
                <p:cNvSpPr>
                  <a:spLocks noChangeShapeType="1"/>
                </p:cNvSpPr>
                <p:nvPr/>
              </p:nvSpPr>
              <p:spPr bwMode="auto">
                <a:xfrm>
                  <a:off x="2416" y="801"/>
                  <a:ext cx="0" cy="1221"/>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11" name="Line 35"/>
                <p:cNvSpPr>
                  <a:spLocks noChangeShapeType="1"/>
                </p:cNvSpPr>
                <p:nvPr/>
              </p:nvSpPr>
              <p:spPr bwMode="auto">
                <a:xfrm>
                  <a:off x="1296" y="1142"/>
                  <a:ext cx="111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2" name="Line 36"/>
                <p:cNvSpPr>
                  <a:spLocks noChangeShapeType="1"/>
                </p:cNvSpPr>
                <p:nvPr/>
              </p:nvSpPr>
              <p:spPr bwMode="auto">
                <a:xfrm>
                  <a:off x="1297" y="1681"/>
                  <a:ext cx="1119" cy="0"/>
                </a:xfrm>
                <a:prstGeom prst="line">
                  <a:avLst/>
                </a:prstGeom>
                <a:noFill/>
                <a:ln w="3810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3" name="Freeform 37"/>
                <p:cNvSpPr/>
                <p:nvPr/>
              </p:nvSpPr>
              <p:spPr bwMode="auto">
                <a:xfrm>
                  <a:off x="2188" y="927"/>
                  <a:ext cx="226" cy="218"/>
                </a:xfrm>
                <a:custGeom>
                  <a:avLst/>
                  <a:gdLst>
                    <a:gd name="T0" fmla="*/ 0 w 226"/>
                    <a:gd name="T1" fmla="*/ 218 h 218"/>
                    <a:gd name="T2" fmla="*/ 226 w 226"/>
                    <a:gd name="T3" fmla="*/ 0 h 218"/>
                    <a:gd name="T4" fmla="*/ 0 60000 65536"/>
                    <a:gd name="T5" fmla="*/ 0 60000 65536"/>
                  </a:gdLst>
                  <a:ahLst/>
                  <a:cxnLst>
                    <a:cxn ang="T4">
                      <a:pos x="T0" y="T1"/>
                    </a:cxn>
                    <a:cxn ang="T5">
                      <a:pos x="T2" y="T3"/>
                    </a:cxn>
                  </a:cxnLst>
                  <a:rect l="0" t="0" r="r" b="b"/>
                  <a:pathLst>
                    <a:path w="226" h="218">
                      <a:moveTo>
                        <a:pt x="0" y="218"/>
                      </a:moveTo>
                      <a:lnTo>
                        <a:pt x="226"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4" name="Freeform 38"/>
                <p:cNvSpPr/>
                <p:nvPr/>
              </p:nvSpPr>
              <p:spPr bwMode="auto">
                <a:xfrm>
                  <a:off x="1296" y="931"/>
                  <a:ext cx="1" cy="953"/>
                </a:xfrm>
                <a:custGeom>
                  <a:avLst/>
                  <a:gdLst>
                    <a:gd name="T0" fmla="*/ 0 w 1"/>
                    <a:gd name="T1" fmla="*/ 0 h 953"/>
                    <a:gd name="T2" fmla="*/ 0 w 1"/>
                    <a:gd name="T3" fmla="*/ 953 h 953"/>
                    <a:gd name="T4" fmla="*/ 0 60000 65536"/>
                    <a:gd name="T5" fmla="*/ 0 60000 65536"/>
                  </a:gdLst>
                  <a:ahLst/>
                  <a:cxnLst>
                    <a:cxn ang="T4">
                      <a:pos x="T0" y="T1"/>
                    </a:cxn>
                    <a:cxn ang="T5">
                      <a:pos x="T2" y="T3"/>
                    </a:cxn>
                  </a:cxnLst>
                  <a:rect l="0" t="0" r="r" b="b"/>
                  <a:pathLst>
                    <a:path w="1" h="953">
                      <a:moveTo>
                        <a:pt x="0" y="0"/>
                      </a:moveTo>
                      <a:lnTo>
                        <a:pt x="0" y="953"/>
                      </a:lnTo>
                    </a:path>
                  </a:pathLst>
                </a:custGeom>
                <a:noFill/>
                <a:ln w="3810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15" name="Freeform 39"/>
                <p:cNvSpPr/>
                <p:nvPr/>
              </p:nvSpPr>
              <p:spPr bwMode="auto">
                <a:xfrm>
                  <a:off x="1295" y="938"/>
                  <a:ext cx="102" cy="102"/>
                </a:xfrm>
                <a:custGeom>
                  <a:avLst/>
                  <a:gdLst>
                    <a:gd name="T0" fmla="*/ 0 w 102"/>
                    <a:gd name="T1" fmla="*/ 102 h 102"/>
                    <a:gd name="T2" fmla="*/ 102 w 102"/>
                    <a:gd name="T3" fmla="*/ 0 h 102"/>
                    <a:gd name="T4" fmla="*/ 0 60000 65536"/>
                    <a:gd name="T5" fmla="*/ 0 60000 65536"/>
                  </a:gdLst>
                  <a:ahLst/>
                  <a:cxnLst>
                    <a:cxn ang="T4">
                      <a:pos x="T0" y="T1"/>
                    </a:cxn>
                    <a:cxn ang="T5">
                      <a:pos x="T2" y="T3"/>
                    </a:cxn>
                  </a:cxnLst>
                  <a:rect l="0" t="0" r="r" b="b"/>
                  <a:pathLst>
                    <a:path w="102" h="102">
                      <a:moveTo>
                        <a:pt x="0" y="102"/>
                      </a:moveTo>
                      <a:lnTo>
                        <a:pt x="102"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6" name="Freeform 40"/>
                <p:cNvSpPr/>
                <p:nvPr/>
              </p:nvSpPr>
              <p:spPr bwMode="auto">
                <a:xfrm>
                  <a:off x="1345" y="938"/>
                  <a:ext cx="205" cy="207"/>
                </a:xfrm>
                <a:custGeom>
                  <a:avLst/>
                  <a:gdLst>
                    <a:gd name="T0" fmla="*/ 0 w 205"/>
                    <a:gd name="T1" fmla="*/ 207 h 207"/>
                    <a:gd name="T2" fmla="*/ 205 w 205"/>
                    <a:gd name="T3" fmla="*/ 0 h 207"/>
                    <a:gd name="T4" fmla="*/ 0 60000 65536"/>
                    <a:gd name="T5" fmla="*/ 0 60000 65536"/>
                  </a:gdLst>
                  <a:ahLst/>
                  <a:cxnLst>
                    <a:cxn ang="T4">
                      <a:pos x="T0" y="T1"/>
                    </a:cxn>
                    <a:cxn ang="T5">
                      <a:pos x="T2" y="T3"/>
                    </a:cxn>
                  </a:cxnLst>
                  <a:rect l="0" t="0" r="r" b="b"/>
                  <a:pathLst>
                    <a:path w="205" h="207">
                      <a:moveTo>
                        <a:pt x="0" y="207"/>
                      </a:moveTo>
                      <a:lnTo>
                        <a:pt x="205"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7" name="Freeform 41"/>
                <p:cNvSpPr/>
                <p:nvPr/>
              </p:nvSpPr>
              <p:spPr bwMode="auto">
                <a:xfrm>
                  <a:off x="1515" y="942"/>
                  <a:ext cx="195" cy="195"/>
                </a:xfrm>
                <a:custGeom>
                  <a:avLst/>
                  <a:gdLst>
                    <a:gd name="T0" fmla="*/ 0 w 195"/>
                    <a:gd name="T1" fmla="*/ 195 h 195"/>
                    <a:gd name="T2" fmla="*/ 195 w 195"/>
                    <a:gd name="T3" fmla="*/ 0 h 195"/>
                    <a:gd name="T4" fmla="*/ 0 60000 65536"/>
                    <a:gd name="T5" fmla="*/ 0 60000 65536"/>
                  </a:gdLst>
                  <a:ahLst/>
                  <a:cxnLst>
                    <a:cxn ang="T4">
                      <a:pos x="T0" y="T1"/>
                    </a:cxn>
                    <a:cxn ang="T5">
                      <a:pos x="T2" y="T3"/>
                    </a:cxn>
                  </a:cxnLst>
                  <a:rect l="0" t="0" r="r" b="b"/>
                  <a:pathLst>
                    <a:path w="195" h="195">
                      <a:moveTo>
                        <a:pt x="0" y="195"/>
                      </a:moveTo>
                      <a:lnTo>
                        <a:pt x="195" y="0"/>
                      </a:lnTo>
                    </a:path>
                  </a:pathLst>
                </a:custGeom>
                <a:noFill/>
                <a:ln w="19050" cmpd="sng">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18" name="Freeform 42"/>
                <p:cNvSpPr/>
                <p:nvPr/>
              </p:nvSpPr>
              <p:spPr bwMode="auto">
                <a:xfrm>
                  <a:off x="1672" y="942"/>
                  <a:ext cx="204" cy="203"/>
                </a:xfrm>
                <a:custGeom>
                  <a:avLst/>
                  <a:gdLst>
                    <a:gd name="T0" fmla="*/ 0 w 204"/>
                    <a:gd name="T1" fmla="*/ 203 h 203"/>
                    <a:gd name="T2" fmla="*/ 204 w 204"/>
                    <a:gd name="T3" fmla="*/ 0 h 203"/>
                    <a:gd name="T4" fmla="*/ 0 60000 65536"/>
                    <a:gd name="T5" fmla="*/ 0 60000 65536"/>
                  </a:gdLst>
                  <a:ahLst/>
                  <a:cxnLst>
                    <a:cxn ang="T4">
                      <a:pos x="T0" y="T1"/>
                    </a:cxn>
                    <a:cxn ang="T5">
                      <a:pos x="T2" y="T3"/>
                    </a:cxn>
                  </a:cxnLst>
                  <a:rect l="0" t="0" r="r" b="b"/>
                  <a:pathLst>
                    <a:path w="204" h="203">
                      <a:moveTo>
                        <a:pt x="0" y="203"/>
                      </a:moveTo>
                      <a:lnTo>
                        <a:pt x="204"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19" name="Freeform 43"/>
                <p:cNvSpPr/>
                <p:nvPr/>
              </p:nvSpPr>
              <p:spPr bwMode="auto">
                <a:xfrm>
                  <a:off x="1829" y="939"/>
                  <a:ext cx="214" cy="215"/>
                </a:xfrm>
                <a:custGeom>
                  <a:avLst/>
                  <a:gdLst>
                    <a:gd name="T0" fmla="*/ 0 w 214"/>
                    <a:gd name="T1" fmla="*/ 215 h 215"/>
                    <a:gd name="T2" fmla="*/ 214 w 214"/>
                    <a:gd name="T3" fmla="*/ 0 h 215"/>
                    <a:gd name="T4" fmla="*/ 0 60000 65536"/>
                    <a:gd name="T5" fmla="*/ 0 60000 65536"/>
                  </a:gdLst>
                  <a:ahLst/>
                  <a:cxnLst>
                    <a:cxn ang="T4">
                      <a:pos x="T0" y="T1"/>
                    </a:cxn>
                    <a:cxn ang="T5">
                      <a:pos x="T2" y="T3"/>
                    </a:cxn>
                  </a:cxnLst>
                  <a:rect l="0" t="0" r="r" b="b"/>
                  <a:pathLst>
                    <a:path w="214" h="215">
                      <a:moveTo>
                        <a:pt x="0" y="215"/>
                      </a:moveTo>
                      <a:lnTo>
                        <a:pt x="214"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0" name="Freeform 44"/>
                <p:cNvSpPr/>
                <p:nvPr/>
              </p:nvSpPr>
              <p:spPr bwMode="auto">
                <a:xfrm>
                  <a:off x="2025" y="800"/>
                  <a:ext cx="332" cy="337"/>
                </a:xfrm>
                <a:custGeom>
                  <a:avLst/>
                  <a:gdLst>
                    <a:gd name="T0" fmla="*/ 0 w 332"/>
                    <a:gd name="T1" fmla="*/ 337 h 337"/>
                    <a:gd name="T2" fmla="*/ 332 w 332"/>
                    <a:gd name="T3" fmla="*/ 0 h 337"/>
                    <a:gd name="T4" fmla="*/ 0 60000 65536"/>
                    <a:gd name="T5" fmla="*/ 0 60000 65536"/>
                  </a:gdLst>
                  <a:ahLst/>
                  <a:cxnLst>
                    <a:cxn ang="T4">
                      <a:pos x="T0" y="T1"/>
                    </a:cxn>
                    <a:cxn ang="T5">
                      <a:pos x="T2" y="T3"/>
                    </a:cxn>
                  </a:cxnLst>
                  <a:rect l="0" t="0" r="r" b="b"/>
                  <a:pathLst>
                    <a:path w="332" h="337">
                      <a:moveTo>
                        <a:pt x="0" y="337"/>
                      </a:moveTo>
                      <a:lnTo>
                        <a:pt x="332"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2021" name="Freeform 45"/>
                <p:cNvSpPr/>
                <p:nvPr/>
              </p:nvSpPr>
              <p:spPr bwMode="auto">
                <a:xfrm>
                  <a:off x="1294" y="1684"/>
                  <a:ext cx="131" cy="138"/>
                </a:xfrm>
                <a:custGeom>
                  <a:avLst/>
                  <a:gdLst>
                    <a:gd name="T0" fmla="*/ 0 w 131"/>
                    <a:gd name="T1" fmla="*/ 138 h 138"/>
                    <a:gd name="T2" fmla="*/ 131 w 131"/>
                    <a:gd name="T3" fmla="*/ 0 h 138"/>
                    <a:gd name="T4" fmla="*/ 0 60000 65536"/>
                    <a:gd name="T5" fmla="*/ 0 60000 65536"/>
                  </a:gdLst>
                  <a:ahLst/>
                  <a:cxnLst>
                    <a:cxn ang="T4">
                      <a:pos x="T0" y="T1"/>
                    </a:cxn>
                    <a:cxn ang="T5">
                      <a:pos x="T2" y="T3"/>
                    </a:cxn>
                  </a:cxnLst>
                  <a:rect l="0" t="0" r="r" b="b"/>
                  <a:pathLst>
                    <a:path w="131" h="138">
                      <a:moveTo>
                        <a:pt x="0" y="138"/>
                      </a:moveTo>
                      <a:lnTo>
                        <a:pt x="131"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2" name="Line 46"/>
                <p:cNvSpPr>
                  <a:spLocks noChangeShapeType="1"/>
                </p:cNvSpPr>
                <p:nvPr/>
              </p:nvSpPr>
              <p:spPr bwMode="auto">
                <a:xfrm flipV="1">
                  <a:off x="1398" y="1687"/>
                  <a:ext cx="189" cy="189"/>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3" name="Freeform 47"/>
                <p:cNvSpPr/>
                <p:nvPr/>
              </p:nvSpPr>
              <p:spPr bwMode="auto">
                <a:xfrm>
                  <a:off x="1565" y="1680"/>
                  <a:ext cx="196" cy="189"/>
                </a:xfrm>
                <a:custGeom>
                  <a:avLst/>
                  <a:gdLst>
                    <a:gd name="T0" fmla="*/ 0 w 196"/>
                    <a:gd name="T1" fmla="*/ 189 h 189"/>
                    <a:gd name="T2" fmla="*/ 196 w 196"/>
                    <a:gd name="T3" fmla="*/ 0 h 189"/>
                    <a:gd name="T4" fmla="*/ 0 60000 65536"/>
                    <a:gd name="T5" fmla="*/ 0 60000 65536"/>
                  </a:gdLst>
                  <a:ahLst/>
                  <a:cxnLst>
                    <a:cxn ang="T4">
                      <a:pos x="T0" y="T1"/>
                    </a:cxn>
                    <a:cxn ang="T5">
                      <a:pos x="T2" y="T3"/>
                    </a:cxn>
                  </a:cxnLst>
                  <a:rect l="0" t="0" r="r" b="b"/>
                  <a:pathLst>
                    <a:path w="196" h="189">
                      <a:moveTo>
                        <a:pt x="0" y="189"/>
                      </a:moveTo>
                      <a:lnTo>
                        <a:pt x="196"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4" name="Line 48"/>
                <p:cNvSpPr>
                  <a:spLocks noChangeShapeType="1"/>
                </p:cNvSpPr>
                <p:nvPr/>
              </p:nvSpPr>
              <p:spPr bwMode="auto">
                <a:xfrm flipV="1">
                  <a:off x="1732" y="1687"/>
                  <a:ext cx="189" cy="189"/>
                </a:xfrm>
                <a:prstGeom prst="line">
                  <a:avLst/>
                </a:prstGeom>
                <a:noFill/>
                <a:ln w="19050">
                  <a:solidFill>
                    <a:schemeClr val="tx2"/>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5" name="Freeform 49"/>
                <p:cNvSpPr/>
                <p:nvPr/>
              </p:nvSpPr>
              <p:spPr bwMode="auto">
                <a:xfrm>
                  <a:off x="1890" y="1676"/>
                  <a:ext cx="211" cy="211"/>
                </a:xfrm>
                <a:custGeom>
                  <a:avLst/>
                  <a:gdLst>
                    <a:gd name="T0" fmla="*/ 0 w 211"/>
                    <a:gd name="T1" fmla="*/ 211 h 211"/>
                    <a:gd name="T2" fmla="*/ 211 w 211"/>
                    <a:gd name="T3" fmla="*/ 0 h 211"/>
                    <a:gd name="T4" fmla="*/ 0 60000 65536"/>
                    <a:gd name="T5" fmla="*/ 0 60000 65536"/>
                  </a:gdLst>
                  <a:ahLst/>
                  <a:cxnLst>
                    <a:cxn ang="T4">
                      <a:pos x="T0" y="T1"/>
                    </a:cxn>
                    <a:cxn ang="T5">
                      <a:pos x="T2" y="T3"/>
                    </a:cxn>
                  </a:cxnLst>
                  <a:rect l="0" t="0" r="r" b="b"/>
                  <a:pathLst>
                    <a:path w="211" h="211">
                      <a:moveTo>
                        <a:pt x="0" y="211"/>
                      </a:moveTo>
                      <a:lnTo>
                        <a:pt x="211"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6" name="Freeform 50"/>
                <p:cNvSpPr/>
                <p:nvPr/>
              </p:nvSpPr>
              <p:spPr bwMode="auto">
                <a:xfrm>
                  <a:off x="2065" y="1676"/>
                  <a:ext cx="196" cy="204"/>
                </a:xfrm>
                <a:custGeom>
                  <a:avLst/>
                  <a:gdLst>
                    <a:gd name="T0" fmla="*/ 0 w 196"/>
                    <a:gd name="T1" fmla="*/ 204 h 204"/>
                    <a:gd name="T2" fmla="*/ 196 w 196"/>
                    <a:gd name="T3" fmla="*/ 0 h 204"/>
                    <a:gd name="T4" fmla="*/ 0 60000 65536"/>
                    <a:gd name="T5" fmla="*/ 0 60000 65536"/>
                  </a:gdLst>
                  <a:ahLst/>
                  <a:cxnLst>
                    <a:cxn ang="T4">
                      <a:pos x="T0" y="T1"/>
                    </a:cxn>
                    <a:cxn ang="T5">
                      <a:pos x="T2" y="T3"/>
                    </a:cxn>
                  </a:cxnLst>
                  <a:rect l="0" t="0" r="r" b="b"/>
                  <a:pathLst>
                    <a:path w="196" h="204">
                      <a:moveTo>
                        <a:pt x="0" y="204"/>
                      </a:moveTo>
                      <a:lnTo>
                        <a:pt x="196"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7" name="Freeform 51"/>
                <p:cNvSpPr/>
                <p:nvPr/>
              </p:nvSpPr>
              <p:spPr bwMode="auto">
                <a:xfrm>
                  <a:off x="2146" y="1705"/>
                  <a:ext cx="268" cy="266"/>
                </a:xfrm>
                <a:custGeom>
                  <a:avLst/>
                  <a:gdLst>
                    <a:gd name="T0" fmla="*/ 0 w 268"/>
                    <a:gd name="T1" fmla="*/ 266 h 266"/>
                    <a:gd name="T2" fmla="*/ 268 w 268"/>
                    <a:gd name="T3" fmla="*/ 0 h 266"/>
                    <a:gd name="T4" fmla="*/ 0 60000 65536"/>
                    <a:gd name="T5" fmla="*/ 0 60000 65536"/>
                  </a:gdLst>
                  <a:ahLst/>
                  <a:cxnLst>
                    <a:cxn ang="T4">
                      <a:pos x="T0" y="T1"/>
                    </a:cxn>
                    <a:cxn ang="T5">
                      <a:pos x="T2" y="T3"/>
                    </a:cxn>
                  </a:cxnLst>
                  <a:rect l="0" t="0" r="r" b="b"/>
                  <a:pathLst>
                    <a:path w="268" h="266">
                      <a:moveTo>
                        <a:pt x="0" y="266"/>
                      </a:moveTo>
                      <a:lnTo>
                        <a:pt x="268"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2028" name="Freeform 52"/>
                <p:cNvSpPr/>
                <p:nvPr/>
              </p:nvSpPr>
              <p:spPr bwMode="auto">
                <a:xfrm>
                  <a:off x="2254" y="1873"/>
                  <a:ext cx="160" cy="152"/>
                </a:xfrm>
                <a:custGeom>
                  <a:avLst/>
                  <a:gdLst>
                    <a:gd name="T0" fmla="*/ 0 w 160"/>
                    <a:gd name="T1" fmla="*/ 152 h 152"/>
                    <a:gd name="T2" fmla="*/ 160 w 160"/>
                    <a:gd name="T3" fmla="*/ 0 h 152"/>
                    <a:gd name="T4" fmla="*/ 0 60000 65536"/>
                    <a:gd name="T5" fmla="*/ 0 60000 65536"/>
                  </a:gdLst>
                  <a:ahLst/>
                  <a:cxnLst>
                    <a:cxn ang="T4">
                      <a:pos x="T0" y="T1"/>
                    </a:cxn>
                    <a:cxn ang="T5">
                      <a:pos x="T2" y="T3"/>
                    </a:cxn>
                  </a:cxnLst>
                  <a:rect l="0" t="0" r="r" b="b"/>
                  <a:pathLst>
                    <a:path w="160" h="152">
                      <a:moveTo>
                        <a:pt x="0" y="152"/>
                      </a:moveTo>
                      <a:lnTo>
                        <a:pt x="160" y="0"/>
                      </a:lnTo>
                    </a:path>
                  </a:pathLst>
                </a:custGeom>
                <a:noFill/>
                <a:ln w="19050" cap="flat" cmpd="sng">
                  <a:solidFill>
                    <a:schemeClr val="tx2"/>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41993" name="Group 63"/>
              <p:cNvGrpSpPr/>
              <p:nvPr/>
            </p:nvGrpSpPr>
            <p:grpSpPr bwMode="auto">
              <a:xfrm>
                <a:off x="2698" y="1115"/>
                <a:ext cx="628" cy="2082"/>
                <a:chOff x="2698" y="1115"/>
                <a:chExt cx="628" cy="2082"/>
              </a:xfrm>
            </p:grpSpPr>
            <p:grpSp>
              <p:nvGrpSpPr>
                <p:cNvPr id="41994" name="Group 54"/>
                <p:cNvGrpSpPr/>
                <p:nvPr/>
              </p:nvGrpSpPr>
              <p:grpSpPr bwMode="auto">
                <a:xfrm>
                  <a:off x="2698" y="1568"/>
                  <a:ext cx="435" cy="1629"/>
                  <a:chOff x="2614" y="2101"/>
                  <a:chExt cx="435" cy="1629"/>
                </a:xfrm>
              </p:grpSpPr>
              <p:sp>
                <p:nvSpPr>
                  <p:cNvPr id="41999" name="Text Box 55"/>
                  <p:cNvSpPr txBox="1">
                    <a:spLocks noChangeArrowheads="1"/>
                  </p:cNvSpPr>
                  <p:nvPr/>
                </p:nvSpPr>
                <p:spPr bwMode="auto">
                  <a:xfrm rot="-5400000">
                    <a:off x="2023" y="2733"/>
                    <a:ext cx="1629"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i="1">
                        <a:solidFill>
                          <a:srgbClr val="FF3300"/>
                        </a:solidFill>
                        <a:sym typeface="Symbol" panose="05050102010706020507" pitchFamily="18" charset="2"/>
                      </a:rPr>
                      <a:t></a:t>
                    </a:r>
                    <a:r>
                      <a:rPr lang="en-US" altLang="zh-CN" sz="3200" b="1" i="1">
                        <a:solidFill>
                          <a:srgbClr val="FF3300"/>
                        </a:solidFill>
                        <a:latin typeface="ISOCPEUR" panose="020B0604020202020204" pitchFamily="34" charset="0"/>
                        <a:sym typeface="Symbol" panose="05050102010706020507" pitchFamily="18" charset="2"/>
                      </a:rPr>
                      <a:t>30f</a:t>
                    </a:r>
                    <a:r>
                      <a:rPr lang="en-US" altLang="zh-CN" sz="3000" i="1">
                        <a:solidFill>
                          <a:srgbClr val="FF3300"/>
                        </a:solidFill>
                        <a:latin typeface="Arial" panose="020B0604020202020204" pitchFamily="34" charset="0"/>
                        <a:sym typeface="Symbol" panose="05050102010706020507" pitchFamily="18" charset="2"/>
                      </a:rPr>
                      <a:t>7</a:t>
                    </a:r>
                    <a:r>
                      <a:rPr lang="en-US" altLang="zh-CN" sz="3200" b="1">
                        <a:solidFill>
                          <a:srgbClr val="FF3300"/>
                        </a:solidFill>
                        <a:latin typeface="宋体" panose="02010600030101010101" pitchFamily="2" charset="-122"/>
                        <a:sym typeface="Symbol" panose="05050102010706020507" pitchFamily="18" charset="2"/>
                      </a:rPr>
                      <a:t>(     )</a:t>
                    </a:r>
                    <a:endParaRPr lang="en-US" altLang="zh-CN" sz="3200" b="1">
                      <a:solidFill>
                        <a:srgbClr val="FF3300"/>
                      </a:solidFill>
                    </a:endParaRPr>
                  </a:p>
                </p:txBody>
              </p:sp>
              <p:sp>
                <p:nvSpPr>
                  <p:cNvPr id="42000" name="Text Box 56"/>
                  <p:cNvSpPr txBox="1">
                    <a:spLocks noChangeArrowheads="1"/>
                  </p:cNvSpPr>
                  <p:nvPr/>
                </p:nvSpPr>
                <p:spPr bwMode="auto">
                  <a:xfrm rot="-5400000">
                    <a:off x="2301" y="2446"/>
                    <a:ext cx="9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3300"/>
                        </a:solidFill>
                      </a:rPr>
                      <a:t>-</a:t>
                    </a:r>
                    <a:r>
                      <a:rPr lang="en-US" altLang="zh-CN" b="1" i="1">
                        <a:solidFill>
                          <a:srgbClr val="FF3300"/>
                        </a:solidFill>
                        <a:latin typeface="ISOCPEUR" panose="020B0604020202020204" pitchFamily="34" charset="0"/>
                      </a:rPr>
                      <a:t>0.020</a:t>
                    </a:r>
                    <a:endParaRPr lang="en-US" altLang="zh-CN" b="1">
                      <a:solidFill>
                        <a:srgbClr val="FF3300"/>
                      </a:solidFill>
                      <a:latin typeface="ISOCPEUR" panose="020B0604020202020204" pitchFamily="34" charset="0"/>
                    </a:endParaRPr>
                  </a:p>
                </p:txBody>
              </p:sp>
              <p:sp>
                <p:nvSpPr>
                  <p:cNvPr id="42001" name="Text Box 57"/>
                  <p:cNvSpPr txBox="1">
                    <a:spLocks noChangeArrowheads="1"/>
                  </p:cNvSpPr>
                  <p:nvPr/>
                </p:nvSpPr>
                <p:spPr bwMode="auto">
                  <a:xfrm rot="-5400000">
                    <a:off x="2504" y="2448"/>
                    <a:ext cx="8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3300"/>
                        </a:solidFill>
                      </a:rPr>
                      <a:t>-</a:t>
                    </a:r>
                    <a:r>
                      <a:rPr lang="en-US" altLang="zh-CN" b="1" i="1">
                        <a:solidFill>
                          <a:srgbClr val="FF3300"/>
                        </a:solidFill>
                        <a:latin typeface="ISOCPEUR" panose="020B0604020202020204" pitchFamily="34" charset="0"/>
                      </a:rPr>
                      <a:t>0.041</a:t>
                    </a:r>
                    <a:endParaRPr lang="en-US" altLang="zh-CN" b="1">
                      <a:solidFill>
                        <a:srgbClr val="FF3300"/>
                      </a:solidFill>
                      <a:latin typeface="ISOCPEUR" panose="020B0604020202020204" pitchFamily="34" charset="0"/>
                    </a:endParaRPr>
                  </a:p>
                </p:txBody>
              </p:sp>
            </p:grpSp>
            <p:sp>
              <p:nvSpPr>
                <p:cNvPr id="41995" name="Line 58"/>
                <p:cNvSpPr>
                  <a:spLocks noChangeShapeType="1"/>
                </p:cNvSpPr>
                <p:nvPr/>
              </p:nvSpPr>
              <p:spPr bwMode="auto">
                <a:xfrm flipH="1">
                  <a:off x="3028" y="1135"/>
                  <a:ext cx="298"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41996" name="Line 59"/>
                <p:cNvSpPr>
                  <a:spLocks noChangeShapeType="1"/>
                </p:cNvSpPr>
                <p:nvPr/>
              </p:nvSpPr>
              <p:spPr bwMode="auto">
                <a:xfrm flipH="1">
                  <a:off x="3028" y="1672"/>
                  <a:ext cx="298" cy="0"/>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1997" name="Line 60"/>
                <p:cNvSpPr>
                  <a:spLocks noChangeShapeType="1"/>
                </p:cNvSpPr>
                <p:nvPr/>
              </p:nvSpPr>
              <p:spPr bwMode="auto">
                <a:xfrm>
                  <a:off x="3086" y="1115"/>
                  <a:ext cx="0" cy="576"/>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1998" name="Line 61"/>
                <p:cNvSpPr>
                  <a:spLocks noChangeShapeType="1"/>
                </p:cNvSpPr>
                <p:nvPr/>
              </p:nvSpPr>
              <p:spPr bwMode="auto">
                <a:xfrm>
                  <a:off x="3086" y="1663"/>
                  <a:ext cx="0" cy="1378"/>
                </a:xfrm>
                <a:prstGeom prst="line">
                  <a:avLst/>
                </a:prstGeom>
                <a:noFill/>
                <a:ln w="19050">
                  <a:solidFill>
                    <a:srgbClr val="FF33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grpSp>
      <p:sp>
        <p:nvSpPr>
          <p:cNvPr id="41022" name="Text Box 62"/>
          <p:cNvSpPr txBox="1">
            <a:spLocks noChangeArrowheads="1"/>
          </p:cNvSpPr>
          <p:nvPr/>
        </p:nvSpPr>
        <p:spPr bwMode="auto">
          <a:xfrm>
            <a:off x="938213" y="5153025"/>
            <a:ext cx="760412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    </a:t>
            </a:r>
            <a:r>
              <a:rPr lang="zh-CN" altLang="en-US" sz="3200" b="1">
                <a:latin typeface="宋体" panose="02010600030101010101" pitchFamily="2" charset="-122"/>
              </a:rPr>
              <a:t>既明确配合精度又有公差数值。适用于生产规模不确定的情况。</a:t>
            </a:r>
            <a:endParaRPr lang="zh-CN" altLang="en-US" sz="32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1031"/>
                                        </p:tgtEl>
                                        <p:attrNameLst>
                                          <p:attrName>style.visibility</p:attrName>
                                        </p:attrNameLst>
                                      </p:cBhvr>
                                      <p:to>
                                        <p:strVal val="visible"/>
                                      </p:to>
                                    </p:set>
                                    <p:animEffect transition="in" filter="box(out)">
                                      <p:cBhvr>
                                        <p:cTn id="7" dur="500"/>
                                        <p:tgtEl>
                                          <p:spTgt spid="4103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1022"/>
                                        </p:tgtEl>
                                        <p:attrNameLst>
                                          <p:attrName>style.visibility</p:attrName>
                                        </p:attrNameLst>
                                      </p:cBhvr>
                                      <p:to>
                                        <p:strVal val="visible"/>
                                      </p:to>
                                    </p:set>
                                    <p:anim calcmode="lin" valueType="num">
                                      <p:cBhvr additive="base">
                                        <p:cTn id="12" dur="500" fill="hold"/>
                                        <p:tgtEl>
                                          <p:spTgt spid="41022"/>
                                        </p:tgtEl>
                                        <p:attrNameLst>
                                          <p:attrName>ppt_x</p:attrName>
                                        </p:attrNameLst>
                                      </p:cBhvr>
                                      <p:tavLst>
                                        <p:tav tm="0">
                                          <p:val>
                                            <p:strVal val="#ppt_x"/>
                                          </p:val>
                                        </p:tav>
                                        <p:tav tm="100000">
                                          <p:val>
                                            <p:strVal val="#ppt_x"/>
                                          </p:val>
                                        </p:tav>
                                      </p:tavLst>
                                    </p:anim>
                                    <p:anim calcmode="lin" valueType="num">
                                      <p:cBhvr additive="base">
                                        <p:cTn id="13" dur="500" fill="hold"/>
                                        <p:tgtEl>
                                          <p:spTgt spid="410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231" name="Group 55"/>
          <p:cNvGrpSpPr/>
          <p:nvPr/>
        </p:nvGrpSpPr>
        <p:grpSpPr bwMode="auto">
          <a:xfrm>
            <a:off x="962025" y="4267200"/>
            <a:ext cx="1279525" cy="458788"/>
            <a:chOff x="606" y="2688"/>
            <a:chExt cx="806" cy="289"/>
          </a:xfrm>
        </p:grpSpPr>
        <p:sp>
          <p:nvSpPr>
            <p:cNvPr id="43063" name="Text Box 23"/>
            <p:cNvSpPr txBox="1">
              <a:spLocks noChangeArrowheads="1"/>
            </p:cNvSpPr>
            <p:nvPr/>
          </p:nvSpPr>
          <p:spPr bwMode="auto">
            <a:xfrm>
              <a:off x="606" y="2688"/>
              <a:ext cx="30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24</a:t>
              </a:r>
              <a:endParaRPr lang="en-US" altLang="zh-CN" b="1">
                <a:solidFill>
                  <a:srgbClr val="FF0000"/>
                </a:solidFill>
              </a:endParaRPr>
            </a:p>
          </p:txBody>
        </p:sp>
        <p:sp>
          <p:nvSpPr>
            <p:cNvPr id="43064" name="Text Box 24"/>
            <p:cNvSpPr txBox="1">
              <a:spLocks noChangeArrowheads="1"/>
            </p:cNvSpPr>
            <p:nvPr/>
          </p:nvSpPr>
          <p:spPr bwMode="auto">
            <a:xfrm>
              <a:off x="1104" y="2689"/>
              <a:ext cx="30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30</a:t>
              </a:r>
              <a:endParaRPr lang="en-US" altLang="zh-CN" b="1">
                <a:solidFill>
                  <a:srgbClr val="FF0000"/>
                </a:solidFill>
              </a:endParaRPr>
            </a:p>
          </p:txBody>
        </p:sp>
      </p:grpSp>
      <p:grpSp>
        <p:nvGrpSpPr>
          <p:cNvPr id="50233" name="Group 57"/>
          <p:cNvGrpSpPr/>
          <p:nvPr/>
        </p:nvGrpSpPr>
        <p:grpSpPr bwMode="auto">
          <a:xfrm>
            <a:off x="5499100" y="4144963"/>
            <a:ext cx="661988" cy="715962"/>
            <a:chOff x="3464" y="2611"/>
            <a:chExt cx="417" cy="451"/>
          </a:xfrm>
        </p:grpSpPr>
        <p:sp>
          <p:nvSpPr>
            <p:cNvPr id="43061" name="Text Box 30"/>
            <p:cNvSpPr txBox="1">
              <a:spLocks noChangeArrowheads="1"/>
            </p:cNvSpPr>
            <p:nvPr/>
          </p:nvSpPr>
          <p:spPr bwMode="auto">
            <a:xfrm>
              <a:off x="3464" y="2611"/>
              <a:ext cx="417"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+33</a:t>
              </a:r>
              <a:endParaRPr lang="en-US" altLang="zh-CN" b="1">
                <a:solidFill>
                  <a:srgbClr val="FF0000"/>
                </a:solidFill>
              </a:endParaRPr>
            </a:p>
          </p:txBody>
        </p:sp>
        <p:sp>
          <p:nvSpPr>
            <p:cNvPr id="43062" name="Text Box 31"/>
            <p:cNvSpPr txBox="1">
              <a:spLocks noChangeArrowheads="1"/>
            </p:cNvSpPr>
            <p:nvPr/>
          </p:nvSpPr>
          <p:spPr bwMode="auto">
            <a:xfrm>
              <a:off x="3661" y="2774"/>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0</a:t>
              </a:r>
              <a:endParaRPr lang="en-US" altLang="zh-CN" b="1">
                <a:solidFill>
                  <a:srgbClr val="FF0000"/>
                </a:solidFill>
              </a:endParaRPr>
            </a:p>
          </p:txBody>
        </p:sp>
      </p:grpSp>
      <p:grpSp>
        <p:nvGrpSpPr>
          <p:cNvPr id="50223" name="Group 47"/>
          <p:cNvGrpSpPr/>
          <p:nvPr/>
        </p:nvGrpSpPr>
        <p:grpSpPr bwMode="auto">
          <a:xfrm>
            <a:off x="871538" y="1876425"/>
            <a:ext cx="7572375" cy="4010025"/>
            <a:chOff x="473" y="1190"/>
            <a:chExt cx="4770" cy="2526"/>
          </a:xfrm>
        </p:grpSpPr>
        <p:grpSp>
          <p:nvGrpSpPr>
            <p:cNvPr id="43033" name="Group 45"/>
            <p:cNvGrpSpPr/>
            <p:nvPr/>
          </p:nvGrpSpPr>
          <p:grpSpPr bwMode="auto">
            <a:xfrm>
              <a:off x="473" y="1465"/>
              <a:ext cx="4770" cy="2251"/>
              <a:chOff x="473" y="1465"/>
              <a:chExt cx="4770" cy="2251"/>
            </a:xfrm>
          </p:grpSpPr>
          <p:sp>
            <p:nvSpPr>
              <p:cNvPr id="43038" name="Line 4"/>
              <p:cNvSpPr>
                <a:spLocks noChangeShapeType="1"/>
              </p:cNvSpPr>
              <p:nvPr/>
            </p:nvSpPr>
            <p:spPr bwMode="auto">
              <a:xfrm>
                <a:off x="1518" y="1757"/>
                <a:ext cx="367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9" name="Line 5"/>
              <p:cNvSpPr>
                <a:spLocks noChangeShapeType="1"/>
              </p:cNvSpPr>
              <p:nvPr/>
            </p:nvSpPr>
            <p:spPr bwMode="auto">
              <a:xfrm>
                <a:off x="509" y="2035"/>
                <a:ext cx="470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0" name="Line 6"/>
              <p:cNvSpPr>
                <a:spLocks noChangeShapeType="1"/>
              </p:cNvSpPr>
              <p:nvPr/>
            </p:nvSpPr>
            <p:spPr bwMode="auto">
              <a:xfrm>
                <a:off x="510" y="2304"/>
                <a:ext cx="471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1" name="Line 7"/>
              <p:cNvSpPr>
                <a:spLocks noChangeShapeType="1"/>
              </p:cNvSpPr>
              <p:nvPr/>
            </p:nvSpPr>
            <p:spPr bwMode="auto">
              <a:xfrm>
                <a:off x="530" y="2659"/>
                <a:ext cx="467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2" name="Line 8"/>
              <p:cNvSpPr>
                <a:spLocks noChangeShapeType="1"/>
              </p:cNvSpPr>
              <p:nvPr/>
            </p:nvSpPr>
            <p:spPr bwMode="auto">
              <a:xfrm>
                <a:off x="529" y="3006"/>
                <a:ext cx="469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3" name="Line 9"/>
              <p:cNvSpPr>
                <a:spLocks noChangeShapeType="1"/>
              </p:cNvSpPr>
              <p:nvPr/>
            </p:nvSpPr>
            <p:spPr bwMode="auto">
              <a:xfrm>
                <a:off x="510" y="3331"/>
                <a:ext cx="469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4" name="Line 10"/>
              <p:cNvSpPr>
                <a:spLocks noChangeShapeType="1"/>
              </p:cNvSpPr>
              <p:nvPr/>
            </p:nvSpPr>
            <p:spPr bwMode="auto">
              <a:xfrm>
                <a:off x="529" y="3705"/>
                <a:ext cx="471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5" name="Line 11"/>
              <p:cNvSpPr>
                <a:spLocks noChangeShapeType="1"/>
              </p:cNvSpPr>
              <p:nvPr/>
            </p:nvSpPr>
            <p:spPr bwMode="auto">
              <a:xfrm>
                <a:off x="1507" y="1465"/>
                <a:ext cx="0" cy="223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6" name="Line 12"/>
              <p:cNvSpPr>
                <a:spLocks noChangeShapeType="1"/>
              </p:cNvSpPr>
              <p:nvPr/>
            </p:nvSpPr>
            <p:spPr bwMode="auto">
              <a:xfrm>
                <a:off x="980" y="2037"/>
                <a:ext cx="0" cy="167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7" name="Line 13"/>
              <p:cNvSpPr>
                <a:spLocks noChangeShapeType="1"/>
              </p:cNvSpPr>
              <p:nvPr/>
            </p:nvSpPr>
            <p:spPr bwMode="auto">
              <a:xfrm>
                <a:off x="2928" y="2034"/>
                <a:ext cx="0" cy="16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8" name="Line 14"/>
              <p:cNvSpPr>
                <a:spLocks noChangeShapeType="1"/>
              </p:cNvSpPr>
              <p:nvPr/>
            </p:nvSpPr>
            <p:spPr bwMode="auto">
              <a:xfrm>
                <a:off x="3428" y="2044"/>
                <a:ext cx="0" cy="167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9" name="Line 15"/>
              <p:cNvSpPr>
                <a:spLocks noChangeShapeType="1"/>
              </p:cNvSpPr>
              <p:nvPr/>
            </p:nvSpPr>
            <p:spPr bwMode="auto">
              <a:xfrm>
                <a:off x="3927" y="2035"/>
                <a:ext cx="0" cy="167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0" name="Line 16"/>
              <p:cNvSpPr>
                <a:spLocks noChangeShapeType="1"/>
              </p:cNvSpPr>
              <p:nvPr/>
            </p:nvSpPr>
            <p:spPr bwMode="auto">
              <a:xfrm>
                <a:off x="4407" y="2044"/>
                <a:ext cx="0" cy="167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1" name="Line 17"/>
              <p:cNvSpPr>
                <a:spLocks noChangeShapeType="1"/>
              </p:cNvSpPr>
              <p:nvPr/>
            </p:nvSpPr>
            <p:spPr bwMode="auto">
              <a:xfrm>
                <a:off x="4906" y="2035"/>
                <a:ext cx="0" cy="168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2" name="Line 18"/>
              <p:cNvSpPr>
                <a:spLocks noChangeShapeType="1"/>
              </p:cNvSpPr>
              <p:nvPr/>
            </p:nvSpPr>
            <p:spPr bwMode="auto">
              <a:xfrm>
                <a:off x="2449" y="1773"/>
                <a:ext cx="0" cy="193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3" name="Line 19"/>
              <p:cNvSpPr>
                <a:spLocks noChangeShapeType="1"/>
              </p:cNvSpPr>
              <p:nvPr/>
            </p:nvSpPr>
            <p:spPr bwMode="auto">
              <a:xfrm>
                <a:off x="1968" y="2042"/>
                <a:ext cx="0" cy="166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4" name="Text Box 20"/>
              <p:cNvSpPr txBox="1">
                <a:spLocks noChangeArrowheads="1"/>
              </p:cNvSpPr>
              <p:nvPr/>
            </p:nvSpPr>
            <p:spPr bwMode="auto">
              <a:xfrm>
                <a:off x="557" y="1497"/>
                <a:ext cx="88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t>基本尺寸</a:t>
                </a:r>
                <a:endParaRPr lang="zh-CN" altLang="en-US" b="1"/>
              </a:p>
            </p:txBody>
          </p:sp>
          <p:sp>
            <p:nvSpPr>
              <p:cNvPr id="43055" name="Text Box 21"/>
              <p:cNvSpPr txBox="1">
                <a:spLocks noChangeArrowheads="1"/>
              </p:cNvSpPr>
              <p:nvPr/>
            </p:nvSpPr>
            <p:spPr bwMode="auto">
              <a:xfrm>
                <a:off x="473" y="2017"/>
                <a:ext cx="500"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t>大于</a:t>
                </a:r>
                <a:endParaRPr lang="zh-CN" altLang="en-US" b="1"/>
              </a:p>
            </p:txBody>
          </p:sp>
          <p:sp>
            <p:nvSpPr>
              <p:cNvPr id="43056" name="Text Box 22"/>
              <p:cNvSpPr txBox="1">
                <a:spLocks noChangeArrowheads="1"/>
              </p:cNvSpPr>
              <p:nvPr/>
            </p:nvSpPr>
            <p:spPr bwMode="auto">
              <a:xfrm>
                <a:off x="1076" y="1997"/>
                <a:ext cx="30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t>至</a:t>
                </a:r>
                <a:endParaRPr lang="zh-CN" altLang="en-US" b="1"/>
              </a:p>
            </p:txBody>
          </p:sp>
          <p:sp>
            <p:nvSpPr>
              <p:cNvPr id="43057" name="Text Box 25"/>
              <p:cNvSpPr txBox="1">
                <a:spLocks noChangeArrowheads="1"/>
              </p:cNvSpPr>
              <p:nvPr/>
            </p:nvSpPr>
            <p:spPr bwMode="auto">
              <a:xfrm>
                <a:off x="1741" y="1748"/>
                <a:ext cx="265"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G</a:t>
                </a:r>
                <a:endParaRPr lang="en-US" altLang="zh-CN" b="1"/>
              </a:p>
            </p:txBody>
          </p:sp>
          <p:sp>
            <p:nvSpPr>
              <p:cNvPr id="43058" name="Text Box 26"/>
              <p:cNvSpPr txBox="1">
                <a:spLocks noChangeArrowheads="1"/>
              </p:cNvSpPr>
              <p:nvPr/>
            </p:nvSpPr>
            <p:spPr bwMode="auto">
              <a:xfrm>
                <a:off x="757" y="1718"/>
                <a:ext cx="489"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/mm</a:t>
                </a:r>
                <a:endParaRPr lang="en-US" altLang="zh-CN" b="1"/>
              </a:p>
            </p:txBody>
          </p:sp>
          <p:sp>
            <p:nvSpPr>
              <p:cNvPr id="43059" name="Text Box 27"/>
              <p:cNvSpPr txBox="1">
                <a:spLocks noChangeArrowheads="1"/>
              </p:cNvSpPr>
              <p:nvPr/>
            </p:nvSpPr>
            <p:spPr bwMode="auto">
              <a:xfrm>
                <a:off x="3487" y="1757"/>
                <a:ext cx="265"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H</a:t>
                </a:r>
                <a:endParaRPr lang="en-US" altLang="zh-CN" b="1"/>
              </a:p>
            </p:txBody>
          </p:sp>
          <p:sp>
            <p:nvSpPr>
              <p:cNvPr id="43060" name="Text Box 29"/>
              <p:cNvSpPr txBox="1">
                <a:spLocks noChangeArrowheads="1"/>
              </p:cNvSpPr>
              <p:nvPr/>
            </p:nvSpPr>
            <p:spPr bwMode="auto">
              <a:xfrm>
                <a:off x="2294" y="1478"/>
                <a:ext cx="214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t>公          差          带</a:t>
                </a:r>
                <a:endParaRPr lang="zh-CN" altLang="en-US" b="1"/>
              </a:p>
            </p:txBody>
          </p:sp>
        </p:grpSp>
        <p:grpSp>
          <p:nvGrpSpPr>
            <p:cNvPr id="43034" name="Group 46"/>
            <p:cNvGrpSpPr/>
            <p:nvPr/>
          </p:nvGrpSpPr>
          <p:grpSpPr bwMode="auto">
            <a:xfrm>
              <a:off x="529" y="1190"/>
              <a:ext cx="4646" cy="298"/>
              <a:chOff x="529" y="1190"/>
              <a:chExt cx="4646" cy="298"/>
            </a:xfrm>
          </p:grpSpPr>
          <p:sp>
            <p:nvSpPr>
              <p:cNvPr id="43035" name="Line 3"/>
              <p:cNvSpPr>
                <a:spLocks noChangeShapeType="1"/>
              </p:cNvSpPr>
              <p:nvPr/>
            </p:nvSpPr>
            <p:spPr bwMode="auto">
              <a:xfrm>
                <a:off x="529" y="1469"/>
                <a:ext cx="464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6" name="Text Box 28"/>
              <p:cNvSpPr txBox="1">
                <a:spLocks noChangeArrowheads="1"/>
              </p:cNvSpPr>
              <p:nvPr/>
            </p:nvSpPr>
            <p:spPr bwMode="auto">
              <a:xfrm>
                <a:off x="3798" y="1200"/>
                <a:ext cx="104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t>单位：</a:t>
                </a:r>
                <a:r>
                  <a:rPr lang="en-US" altLang="zh-CN" b="1"/>
                  <a:t>μm</a:t>
                </a:r>
                <a:endParaRPr lang="en-US" altLang="zh-CN" b="1"/>
              </a:p>
            </p:txBody>
          </p:sp>
          <p:sp>
            <p:nvSpPr>
              <p:cNvPr id="43037" name="Text Box 37"/>
              <p:cNvSpPr txBox="1">
                <a:spLocks noChangeArrowheads="1"/>
              </p:cNvSpPr>
              <p:nvPr/>
            </p:nvSpPr>
            <p:spPr bwMode="auto">
              <a:xfrm>
                <a:off x="948" y="1190"/>
                <a:ext cx="2850"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t>孔的极限偏差（尺寸</a:t>
                </a:r>
                <a:r>
                  <a:rPr lang="en-US" altLang="zh-CN" b="1"/>
                  <a:t>1~500mm</a:t>
                </a:r>
                <a:r>
                  <a:rPr lang="zh-CN" altLang="en-US" b="1"/>
                  <a:t>）</a:t>
                </a:r>
                <a:endParaRPr lang="zh-CN" altLang="en-US" b="1"/>
              </a:p>
            </p:txBody>
          </p:sp>
        </p:grpSp>
      </p:grpSp>
      <p:sp>
        <p:nvSpPr>
          <p:cNvPr id="43013" name="Text Box 38"/>
          <p:cNvSpPr txBox="1">
            <a:spLocks noChangeArrowheads="1"/>
          </p:cNvSpPr>
          <p:nvPr/>
        </p:nvSpPr>
        <p:spPr bwMode="auto">
          <a:xfrm>
            <a:off x="1439863" y="257175"/>
            <a:ext cx="6167437" cy="660400"/>
          </a:xfrm>
          <a:prstGeom prst="rect">
            <a:avLst/>
          </a:prstGeom>
          <a:gradFill rotWithShape="0">
            <a:gsLst>
              <a:gs pos="0">
                <a:srgbClr val="CC66FF"/>
              </a:gs>
              <a:gs pos="50000">
                <a:srgbClr val="F0D2FF"/>
              </a:gs>
              <a:gs pos="100000">
                <a:srgbClr val="CC66FF"/>
              </a:gs>
            </a:gsLst>
            <a:lin ang="5400000" scaled="1"/>
          </a:gradFill>
          <a:ln w="19050">
            <a:solidFill>
              <a:srgbClr val="3399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t>查表确定尺寸的极限偏差数值</a:t>
            </a:r>
            <a:endParaRPr lang="zh-CN" altLang="en-US"/>
          </a:p>
        </p:txBody>
      </p:sp>
      <p:sp>
        <p:nvSpPr>
          <p:cNvPr id="50215" name="Text Box 39"/>
          <p:cNvSpPr txBox="1">
            <a:spLocks noChangeArrowheads="1"/>
          </p:cNvSpPr>
          <p:nvPr/>
        </p:nvSpPr>
        <p:spPr bwMode="auto">
          <a:xfrm>
            <a:off x="1762125" y="1319213"/>
            <a:ext cx="2243138" cy="519112"/>
          </a:xfrm>
          <a:prstGeom prst="rect">
            <a:avLst/>
          </a:prstGeom>
          <a:noFill/>
          <a:ln>
            <a:noFill/>
          </a:ln>
          <a:effectLst/>
          <a:extLst>
            <a:ext uri="{909E8E84-426E-40DD-AFC4-6F175D3DCCD1}">
              <a14:hiddenFill xmlns:a14="http://schemas.microsoft.com/office/drawing/2010/main">
                <a:solidFill>
                  <a:srgbClr val="CC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例：</a:t>
            </a:r>
            <a:r>
              <a:rPr lang="en-US" altLang="zh-CN" sz="2800" b="1"/>
              <a:t>Φ30 H8 </a:t>
            </a:r>
            <a:endParaRPr lang="en-US" altLang="zh-CN" sz="2800" b="1"/>
          </a:p>
        </p:txBody>
      </p:sp>
      <p:grpSp>
        <p:nvGrpSpPr>
          <p:cNvPr id="50237" name="Group 61"/>
          <p:cNvGrpSpPr/>
          <p:nvPr/>
        </p:nvGrpSpPr>
        <p:grpSpPr bwMode="auto">
          <a:xfrm>
            <a:off x="4310063" y="1158875"/>
            <a:ext cx="2808287" cy="646113"/>
            <a:chOff x="2715" y="730"/>
            <a:chExt cx="1769" cy="407"/>
          </a:xfrm>
        </p:grpSpPr>
        <p:sp>
          <p:nvSpPr>
            <p:cNvPr id="43030" name="Text Box 41"/>
            <p:cNvSpPr txBox="1">
              <a:spLocks noChangeArrowheads="1"/>
            </p:cNvSpPr>
            <p:nvPr/>
          </p:nvSpPr>
          <p:spPr bwMode="auto">
            <a:xfrm>
              <a:off x="4009" y="874"/>
              <a:ext cx="196" cy="250"/>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t>0</a:t>
              </a:r>
              <a:endParaRPr lang="en-US" altLang="zh-CN" sz="2000"/>
            </a:p>
          </p:txBody>
        </p:sp>
        <p:sp>
          <p:nvSpPr>
            <p:cNvPr id="43031" name="Text Box 43"/>
            <p:cNvSpPr txBox="1">
              <a:spLocks noChangeArrowheads="1"/>
            </p:cNvSpPr>
            <p:nvPr/>
          </p:nvSpPr>
          <p:spPr bwMode="auto">
            <a:xfrm>
              <a:off x="2715" y="810"/>
              <a:ext cx="12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结果：</a:t>
              </a:r>
              <a:r>
                <a:rPr lang="en-US" altLang="zh-CN" sz="2800" b="1"/>
                <a:t>Φ30 </a:t>
              </a:r>
              <a:endParaRPr lang="en-US" altLang="zh-CN" sz="2800" b="1"/>
            </a:p>
          </p:txBody>
        </p:sp>
        <p:sp>
          <p:nvSpPr>
            <p:cNvPr id="43032" name="Text Box 44"/>
            <p:cNvSpPr txBox="1">
              <a:spLocks noChangeArrowheads="1"/>
            </p:cNvSpPr>
            <p:nvPr/>
          </p:nvSpPr>
          <p:spPr bwMode="auto">
            <a:xfrm>
              <a:off x="3917" y="730"/>
              <a:ext cx="567" cy="250"/>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t>+0.033</a:t>
              </a:r>
              <a:endParaRPr lang="en-US" altLang="zh-CN" sz="2000"/>
            </a:p>
          </p:txBody>
        </p:sp>
      </p:grpSp>
      <p:grpSp>
        <p:nvGrpSpPr>
          <p:cNvPr id="50232" name="Group 56"/>
          <p:cNvGrpSpPr/>
          <p:nvPr/>
        </p:nvGrpSpPr>
        <p:grpSpPr bwMode="auto">
          <a:xfrm>
            <a:off x="962025" y="4800600"/>
            <a:ext cx="1279525" cy="457200"/>
            <a:chOff x="606" y="3024"/>
            <a:chExt cx="806" cy="288"/>
          </a:xfrm>
        </p:grpSpPr>
        <p:sp>
          <p:nvSpPr>
            <p:cNvPr id="43028" name="Text Box 48"/>
            <p:cNvSpPr txBox="1">
              <a:spLocks noChangeArrowheads="1"/>
            </p:cNvSpPr>
            <p:nvPr/>
          </p:nvSpPr>
          <p:spPr bwMode="auto">
            <a:xfrm>
              <a:off x="606" y="3024"/>
              <a:ext cx="30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30</a:t>
              </a:r>
              <a:endParaRPr lang="en-US" altLang="zh-CN" b="1"/>
            </a:p>
          </p:txBody>
        </p:sp>
        <p:sp>
          <p:nvSpPr>
            <p:cNvPr id="43029" name="Text Box 49"/>
            <p:cNvSpPr txBox="1">
              <a:spLocks noChangeArrowheads="1"/>
            </p:cNvSpPr>
            <p:nvPr/>
          </p:nvSpPr>
          <p:spPr bwMode="auto">
            <a:xfrm>
              <a:off x="1104" y="3024"/>
              <a:ext cx="30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40</a:t>
              </a:r>
              <a:endParaRPr lang="en-US" altLang="zh-CN" b="1"/>
            </a:p>
          </p:txBody>
        </p:sp>
      </p:grpSp>
      <p:grpSp>
        <p:nvGrpSpPr>
          <p:cNvPr id="50230" name="Group 54"/>
          <p:cNvGrpSpPr/>
          <p:nvPr/>
        </p:nvGrpSpPr>
        <p:grpSpPr bwMode="auto">
          <a:xfrm>
            <a:off x="2552700" y="3214688"/>
            <a:ext cx="5099050" cy="457200"/>
            <a:chOff x="1608" y="2025"/>
            <a:chExt cx="3212" cy="288"/>
          </a:xfrm>
        </p:grpSpPr>
        <p:sp>
          <p:nvSpPr>
            <p:cNvPr id="43021" name="Text Box 32"/>
            <p:cNvSpPr txBox="1">
              <a:spLocks noChangeArrowheads="1"/>
            </p:cNvSpPr>
            <p:nvPr/>
          </p:nvSpPr>
          <p:spPr bwMode="auto">
            <a:xfrm>
              <a:off x="4070" y="2025"/>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9</a:t>
              </a:r>
              <a:endParaRPr lang="en-US" altLang="zh-CN" b="1"/>
            </a:p>
          </p:txBody>
        </p:sp>
        <p:sp>
          <p:nvSpPr>
            <p:cNvPr id="43022" name="Text Box 33"/>
            <p:cNvSpPr txBox="1">
              <a:spLocks noChangeArrowheads="1"/>
            </p:cNvSpPr>
            <p:nvPr/>
          </p:nvSpPr>
          <p:spPr bwMode="auto">
            <a:xfrm>
              <a:off x="4512" y="2025"/>
              <a:ext cx="308"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10</a:t>
              </a:r>
              <a:endParaRPr lang="en-US" altLang="zh-CN" b="1"/>
            </a:p>
          </p:txBody>
        </p:sp>
        <p:sp>
          <p:nvSpPr>
            <p:cNvPr id="43023" name="Text Box 34"/>
            <p:cNvSpPr txBox="1">
              <a:spLocks noChangeArrowheads="1"/>
            </p:cNvSpPr>
            <p:nvPr/>
          </p:nvSpPr>
          <p:spPr bwMode="auto">
            <a:xfrm>
              <a:off x="3572" y="2025"/>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0000"/>
                  </a:solidFill>
                </a:rPr>
                <a:t>8</a:t>
              </a:r>
              <a:endParaRPr lang="en-US" altLang="zh-CN" b="1">
                <a:solidFill>
                  <a:srgbClr val="FF0000"/>
                </a:solidFill>
              </a:endParaRPr>
            </a:p>
          </p:txBody>
        </p:sp>
        <p:sp>
          <p:nvSpPr>
            <p:cNvPr id="43024" name="Text Box 35"/>
            <p:cNvSpPr txBox="1">
              <a:spLocks noChangeArrowheads="1"/>
            </p:cNvSpPr>
            <p:nvPr/>
          </p:nvSpPr>
          <p:spPr bwMode="auto">
            <a:xfrm>
              <a:off x="3072" y="2025"/>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7</a:t>
              </a:r>
              <a:endParaRPr lang="en-US" altLang="zh-CN" b="1"/>
            </a:p>
          </p:txBody>
        </p:sp>
        <p:sp>
          <p:nvSpPr>
            <p:cNvPr id="43025" name="Text Box 36"/>
            <p:cNvSpPr txBox="1">
              <a:spLocks noChangeArrowheads="1"/>
            </p:cNvSpPr>
            <p:nvPr/>
          </p:nvSpPr>
          <p:spPr bwMode="auto">
            <a:xfrm>
              <a:off x="2583" y="2025"/>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6</a:t>
              </a:r>
              <a:endParaRPr lang="en-US" altLang="zh-CN" b="1"/>
            </a:p>
          </p:txBody>
        </p:sp>
        <p:sp>
          <p:nvSpPr>
            <p:cNvPr id="43026" name="Text Box 50"/>
            <p:cNvSpPr txBox="1">
              <a:spLocks noChangeArrowheads="1"/>
            </p:cNvSpPr>
            <p:nvPr/>
          </p:nvSpPr>
          <p:spPr bwMode="auto">
            <a:xfrm>
              <a:off x="2108" y="2025"/>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7</a:t>
              </a:r>
              <a:endParaRPr lang="en-US" altLang="zh-CN" b="1"/>
            </a:p>
          </p:txBody>
        </p:sp>
        <p:sp>
          <p:nvSpPr>
            <p:cNvPr id="43027" name="Text Box 51"/>
            <p:cNvSpPr txBox="1">
              <a:spLocks noChangeArrowheads="1"/>
            </p:cNvSpPr>
            <p:nvPr/>
          </p:nvSpPr>
          <p:spPr bwMode="auto">
            <a:xfrm>
              <a:off x="1608" y="2025"/>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6</a:t>
              </a:r>
              <a:endParaRPr lang="en-US" altLang="zh-CN" b="1"/>
            </a:p>
          </p:txBody>
        </p:sp>
      </p:grpSp>
      <p:grpSp>
        <p:nvGrpSpPr>
          <p:cNvPr id="50234" name="Group 58"/>
          <p:cNvGrpSpPr/>
          <p:nvPr/>
        </p:nvGrpSpPr>
        <p:grpSpPr bwMode="auto">
          <a:xfrm>
            <a:off x="5499100" y="4687888"/>
            <a:ext cx="661988" cy="706437"/>
            <a:chOff x="3464" y="2953"/>
            <a:chExt cx="417" cy="445"/>
          </a:xfrm>
        </p:grpSpPr>
        <p:sp>
          <p:nvSpPr>
            <p:cNvPr id="43019" name="Text Box 52"/>
            <p:cNvSpPr txBox="1">
              <a:spLocks noChangeArrowheads="1"/>
            </p:cNvSpPr>
            <p:nvPr/>
          </p:nvSpPr>
          <p:spPr bwMode="auto">
            <a:xfrm>
              <a:off x="3464" y="2953"/>
              <a:ext cx="417"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+39</a:t>
              </a:r>
              <a:endParaRPr lang="en-US" altLang="zh-CN" b="1"/>
            </a:p>
          </p:txBody>
        </p:sp>
        <p:sp>
          <p:nvSpPr>
            <p:cNvPr id="43020" name="Text Box 53"/>
            <p:cNvSpPr txBox="1">
              <a:spLocks noChangeArrowheads="1"/>
            </p:cNvSpPr>
            <p:nvPr/>
          </p:nvSpPr>
          <p:spPr bwMode="auto">
            <a:xfrm>
              <a:off x="3661" y="3110"/>
              <a:ext cx="212" cy="288"/>
            </a:xfrm>
            <a:prstGeom prst="rect">
              <a:avLst/>
            </a:prstGeom>
            <a:noFill/>
            <a:ln>
              <a:noFill/>
            </a:ln>
            <a:effectLst/>
            <a:extLst>
              <a:ext uri="{909E8E84-426E-40DD-AFC4-6F175D3DCCD1}">
                <a14:hiddenFill xmlns:a14="http://schemas.microsoft.com/office/drawing/2010/main">
                  <a:solidFill>
                    <a:srgbClr val="00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0</a:t>
              </a:r>
              <a:endParaRPr lang="en-US" altLang="zh-CN"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0223"/>
                                        </p:tgtEl>
                                        <p:attrNameLst>
                                          <p:attrName>style.visibility</p:attrName>
                                        </p:attrNameLst>
                                      </p:cBhvr>
                                      <p:to>
                                        <p:strVal val="visible"/>
                                      </p:to>
                                    </p:set>
                                    <p:animEffect transition="in" filter="wipe(up)">
                                      <p:cBhvr>
                                        <p:cTn id="7" dur="500"/>
                                        <p:tgtEl>
                                          <p:spTgt spid="5022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0215"/>
                                        </p:tgtEl>
                                        <p:attrNameLst>
                                          <p:attrName>style.visibility</p:attrName>
                                        </p:attrNameLst>
                                      </p:cBhvr>
                                      <p:to>
                                        <p:strVal val="visible"/>
                                      </p:to>
                                    </p:set>
                                    <p:animEffect transition="in" filter="slide(fromLeft)">
                                      <p:cBhvr>
                                        <p:cTn id="12" dur="500"/>
                                        <p:tgtEl>
                                          <p:spTgt spid="502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502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0231"/>
                                        </p:tgtEl>
                                        <p:attrNameLst>
                                          <p:attrName>style.visibility</p:attrName>
                                        </p:attrNameLst>
                                      </p:cBhvr>
                                      <p:to>
                                        <p:strVal val="visible"/>
                                      </p:to>
                                    </p:set>
                                    <p:animEffect transition="in" filter="wipe(left)">
                                      <p:cBhvr>
                                        <p:cTn id="21" dur="500"/>
                                        <p:tgtEl>
                                          <p:spTgt spid="50231"/>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50233"/>
                                        </p:tgtEl>
                                        <p:attrNameLst>
                                          <p:attrName>style.visibility</p:attrName>
                                        </p:attrNameLst>
                                      </p:cBhvr>
                                      <p:to>
                                        <p:strVal val="visible"/>
                                      </p:to>
                                    </p:set>
                                    <p:anim calcmode="lin" valueType="num">
                                      <p:cBhvr additive="base">
                                        <p:cTn id="26" dur="500" fill="hold"/>
                                        <p:tgtEl>
                                          <p:spTgt spid="50233"/>
                                        </p:tgtEl>
                                        <p:attrNameLst>
                                          <p:attrName>ppt_x</p:attrName>
                                        </p:attrNameLst>
                                      </p:cBhvr>
                                      <p:tavLst>
                                        <p:tav tm="0">
                                          <p:val>
                                            <p:strVal val="1+#ppt_w/2"/>
                                          </p:val>
                                        </p:tav>
                                        <p:tav tm="100000">
                                          <p:val>
                                            <p:strVal val="#ppt_x"/>
                                          </p:val>
                                        </p:tav>
                                      </p:tavLst>
                                    </p:anim>
                                    <p:anim calcmode="lin" valueType="num">
                                      <p:cBhvr additive="base">
                                        <p:cTn id="27" dur="500" fill="hold"/>
                                        <p:tgtEl>
                                          <p:spTgt spid="50233"/>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0232"/>
                                        </p:tgtEl>
                                        <p:attrNameLst>
                                          <p:attrName>style.visibility</p:attrName>
                                        </p:attrNameLst>
                                      </p:cBhvr>
                                      <p:to>
                                        <p:strVal val="visible"/>
                                      </p:to>
                                    </p:set>
                                    <p:animEffect transition="in" filter="wipe(left)">
                                      <p:cBhvr>
                                        <p:cTn id="32" dur="500"/>
                                        <p:tgtEl>
                                          <p:spTgt spid="50232"/>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0234"/>
                                        </p:tgtEl>
                                        <p:attrNameLst>
                                          <p:attrName>style.visibility</p:attrName>
                                        </p:attrNameLst>
                                      </p:cBhvr>
                                      <p:to>
                                        <p:strVal val="visible"/>
                                      </p:to>
                                    </p:set>
                                    <p:anim calcmode="lin" valueType="num">
                                      <p:cBhvr additive="base">
                                        <p:cTn id="37" dur="500" fill="hold"/>
                                        <p:tgtEl>
                                          <p:spTgt spid="50234"/>
                                        </p:tgtEl>
                                        <p:attrNameLst>
                                          <p:attrName>ppt_x</p:attrName>
                                        </p:attrNameLst>
                                      </p:cBhvr>
                                      <p:tavLst>
                                        <p:tav tm="0">
                                          <p:val>
                                            <p:strVal val="1+#ppt_w/2"/>
                                          </p:val>
                                        </p:tav>
                                        <p:tav tm="100000">
                                          <p:val>
                                            <p:strVal val="#ppt_x"/>
                                          </p:val>
                                        </p:tav>
                                      </p:tavLst>
                                    </p:anim>
                                    <p:anim calcmode="lin" valueType="num">
                                      <p:cBhvr additive="base">
                                        <p:cTn id="38" dur="500" fill="hold"/>
                                        <p:tgtEl>
                                          <p:spTgt spid="5023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50237"/>
                                        </p:tgtEl>
                                        <p:attrNameLst>
                                          <p:attrName>style.visibility</p:attrName>
                                        </p:attrNameLst>
                                      </p:cBhvr>
                                      <p:to>
                                        <p:strVal val="visible"/>
                                      </p:to>
                                    </p:set>
                                    <p:animEffect transition="in" filter="blinds(horizontal)">
                                      <p:cBhvr>
                                        <p:cTn id="43" dur="500"/>
                                        <p:tgtEl>
                                          <p:spTgt spid="50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15"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2895600" y="133350"/>
            <a:ext cx="3143250" cy="719138"/>
          </a:xfrm>
          <a:gradFill rotWithShape="0">
            <a:gsLst>
              <a:gs pos="0">
                <a:srgbClr val="FF3300"/>
              </a:gs>
              <a:gs pos="50000">
                <a:srgbClr val="FFFFFF"/>
              </a:gs>
              <a:gs pos="100000">
                <a:srgbClr val="FF3300"/>
              </a:gs>
            </a:gsLst>
            <a:lin ang="5400000" scaled="1"/>
          </a:gradFill>
        </p:spPr>
        <p:txBody>
          <a:bodyPr anchor="ctr"/>
          <a:lstStyle/>
          <a:p>
            <a:pPr eaLnBrk="1" hangingPunct="1"/>
            <a:r>
              <a:rPr lang="zh-CN" altLang="en-US" sz="4000" b="1">
                <a:solidFill>
                  <a:schemeClr val="tx1"/>
                </a:solidFill>
                <a:latin typeface="宋体" panose="02010600030101010101" pitchFamily="2" charset="-122"/>
              </a:rPr>
              <a:t>小结</a:t>
            </a:r>
            <a:endParaRPr lang="zh-CN" altLang="en-US" sz="4000" b="1" dirty="0">
              <a:solidFill>
                <a:schemeClr val="tx1"/>
              </a:solidFill>
              <a:latin typeface="宋体" panose="02010600030101010101" pitchFamily="2" charset="-122"/>
            </a:endParaRPr>
          </a:p>
        </p:txBody>
      </p:sp>
      <p:sp>
        <p:nvSpPr>
          <p:cNvPr id="63492" name="Text Box 4"/>
          <p:cNvSpPr txBox="1">
            <a:spLocks noChangeArrowheads="1"/>
          </p:cNvSpPr>
          <p:nvPr/>
        </p:nvSpPr>
        <p:spPr bwMode="auto">
          <a:xfrm>
            <a:off x="693738" y="2244725"/>
            <a:ext cx="685641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solidFill>
                  <a:srgbClr val="FF3300"/>
                </a:solidFill>
                <a:latin typeface="宋体" panose="02010600030101010101" pitchFamily="2" charset="-122"/>
              </a:rPr>
              <a:t>2.</a:t>
            </a:r>
            <a:r>
              <a:rPr lang="zh-CN" altLang="en-US" sz="3200" b="1">
                <a:solidFill>
                  <a:srgbClr val="FF3300"/>
                </a:solidFill>
                <a:latin typeface="宋体" panose="02010600030101010101" pitchFamily="2" charset="-122"/>
              </a:rPr>
              <a:t>极限与配合的基本概念及标注。</a:t>
            </a:r>
            <a:endParaRPr lang="zh-CN" altLang="en-US" sz="3200" b="1">
              <a:solidFill>
                <a:srgbClr val="FF3300"/>
              </a:solidFill>
              <a:latin typeface="宋体" panose="02010600030101010101" pitchFamily="2" charset="-122"/>
            </a:endParaRPr>
          </a:p>
        </p:txBody>
      </p:sp>
      <p:sp>
        <p:nvSpPr>
          <p:cNvPr id="63493" name="Text Box 5"/>
          <p:cNvSpPr txBox="1">
            <a:spLocks noChangeArrowheads="1"/>
          </p:cNvSpPr>
          <p:nvPr/>
        </p:nvSpPr>
        <p:spPr bwMode="auto">
          <a:xfrm>
            <a:off x="708025" y="5487988"/>
            <a:ext cx="708342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⑶ </a:t>
            </a:r>
            <a:r>
              <a:rPr lang="zh-CN" altLang="en-US" sz="3200" b="1">
                <a:latin typeface="宋体" panose="02010600030101010101" pitchFamily="2" charset="-122"/>
              </a:rPr>
              <a:t>极限与配合在图纸上的标注方法。</a:t>
            </a:r>
            <a:endParaRPr lang="zh-CN" altLang="en-US" sz="3200" b="1">
              <a:latin typeface="宋体" panose="02010600030101010101" pitchFamily="2" charset="-122"/>
            </a:endParaRPr>
          </a:p>
        </p:txBody>
      </p:sp>
      <p:sp>
        <p:nvSpPr>
          <p:cNvPr id="63494" name="Text Box 6"/>
          <p:cNvSpPr txBox="1">
            <a:spLocks noChangeArrowheads="1"/>
          </p:cNvSpPr>
          <p:nvPr/>
        </p:nvSpPr>
        <p:spPr bwMode="auto">
          <a:xfrm>
            <a:off x="708025" y="2859088"/>
            <a:ext cx="744220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3200" b="1">
                <a:latin typeface="宋体" panose="02010600030101010101" pitchFamily="2" charset="-122"/>
              </a:rPr>
              <a:t>⑴ </a:t>
            </a:r>
            <a:r>
              <a:rPr lang="zh-CN" altLang="en-US" sz="3200" b="1">
                <a:latin typeface="宋体" panose="02010600030101010101" pitchFamily="2" charset="-122"/>
              </a:rPr>
              <a:t>间隙  过盈  标准公差和基本偏差</a:t>
            </a:r>
            <a:endParaRPr lang="zh-CN" altLang="en-US" sz="2800" b="1">
              <a:latin typeface="宋体" panose="02010600030101010101" pitchFamily="2" charset="-122"/>
            </a:endParaRPr>
          </a:p>
        </p:txBody>
      </p:sp>
      <p:sp>
        <p:nvSpPr>
          <p:cNvPr id="63495" name="Text Box 7"/>
          <p:cNvSpPr txBox="1">
            <a:spLocks noChangeArrowheads="1"/>
          </p:cNvSpPr>
          <p:nvPr/>
        </p:nvSpPr>
        <p:spPr bwMode="auto">
          <a:xfrm>
            <a:off x="487363" y="4122738"/>
            <a:ext cx="2789237"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a:latin typeface="宋体" panose="02010600030101010101" pitchFamily="2" charset="-122"/>
              </a:rPr>
              <a:t>⑵ </a:t>
            </a:r>
            <a:r>
              <a:rPr lang="zh-CN" altLang="en-US" sz="3200" b="1">
                <a:latin typeface="宋体" panose="02010600030101010101" pitchFamily="2" charset="-122"/>
              </a:rPr>
              <a:t>配合种类</a:t>
            </a:r>
            <a:endParaRPr lang="zh-CN" altLang="en-US" sz="3200" b="1">
              <a:latin typeface="宋体" panose="02010600030101010101" pitchFamily="2" charset="-122"/>
            </a:endParaRPr>
          </a:p>
        </p:txBody>
      </p:sp>
      <p:sp>
        <p:nvSpPr>
          <p:cNvPr id="63496" name="AutoShape 8"/>
          <p:cNvSpPr/>
          <p:nvPr/>
        </p:nvSpPr>
        <p:spPr bwMode="auto">
          <a:xfrm>
            <a:off x="3089275" y="3768725"/>
            <a:ext cx="133350" cy="1328738"/>
          </a:xfrm>
          <a:prstGeom prst="leftBrace">
            <a:avLst>
              <a:gd name="adj1" fmla="val 83036"/>
              <a:gd name="adj2" fmla="val 50000"/>
            </a:avLst>
          </a:prstGeom>
          <a:noFill/>
          <a:ln w="28575">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3497" name="Text Box 9"/>
          <p:cNvSpPr txBox="1">
            <a:spLocks noChangeArrowheads="1"/>
          </p:cNvSpPr>
          <p:nvPr/>
        </p:nvSpPr>
        <p:spPr bwMode="auto">
          <a:xfrm>
            <a:off x="3192463" y="3482975"/>
            <a:ext cx="19367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间隙配合</a:t>
            </a:r>
            <a:endParaRPr lang="zh-CN" altLang="en-US" sz="3200" b="1">
              <a:latin typeface="宋体" panose="02010600030101010101" pitchFamily="2" charset="-122"/>
            </a:endParaRPr>
          </a:p>
        </p:txBody>
      </p:sp>
      <p:sp>
        <p:nvSpPr>
          <p:cNvPr id="63498" name="Text Box 10"/>
          <p:cNvSpPr txBox="1">
            <a:spLocks noChangeArrowheads="1"/>
          </p:cNvSpPr>
          <p:nvPr/>
        </p:nvSpPr>
        <p:spPr bwMode="auto">
          <a:xfrm>
            <a:off x="3170238" y="4122738"/>
            <a:ext cx="1884362"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过盈配合</a:t>
            </a:r>
            <a:endParaRPr lang="zh-CN" altLang="en-US" sz="3200" b="1">
              <a:latin typeface="宋体" panose="02010600030101010101" pitchFamily="2" charset="-122"/>
            </a:endParaRPr>
          </a:p>
        </p:txBody>
      </p:sp>
      <p:sp>
        <p:nvSpPr>
          <p:cNvPr id="63499" name="Text Box 11"/>
          <p:cNvSpPr txBox="1">
            <a:spLocks noChangeArrowheads="1"/>
          </p:cNvSpPr>
          <p:nvPr/>
        </p:nvSpPr>
        <p:spPr bwMode="auto">
          <a:xfrm>
            <a:off x="3151188" y="4764088"/>
            <a:ext cx="18700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过渡配合</a:t>
            </a:r>
            <a:endParaRPr lang="zh-CN" altLang="en-US" sz="3200" b="1">
              <a:latin typeface="宋体" panose="02010600030101010101" pitchFamily="2" charset="-122"/>
            </a:endParaRPr>
          </a:p>
        </p:txBody>
      </p:sp>
      <p:sp>
        <p:nvSpPr>
          <p:cNvPr id="63500" name="Text Box 12"/>
          <p:cNvSpPr txBox="1">
            <a:spLocks noChangeArrowheads="1"/>
          </p:cNvSpPr>
          <p:nvPr/>
        </p:nvSpPr>
        <p:spPr bwMode="auto">
          <a:xfrm>
            <a:off x="4972050" y="4122738"/>
            <a:ext cx="15652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a:latin typeface="宋体" panose="02010600030101010101" pitchFamily="2" charset="-122"/>
              </a:rPr>
              <a:t>配合制</a:t>
            </a:r>
            <a:endParaRPr lang="zh-CN" altLang="en-US" sz="3200" b="1">
              <a:latin typeface="宋体" panose="02010600030101010101" pitchFamily="2" charset="-122"/>
            </a:endParaRPr>
          </a:p>
        </p:txBody>
      </p:sp>
      <p:sp>
        <p:nvSpPr>
          <p:cNvPr id="63501" name="AutoShape 13"/>
          <p:cNvSpPr/>
          <p:nvPr/>
        </p:nvSpPr>
        <p:spPr bwMode="auto">
          <a:xfrm>
            <a:off x="6457950" y="4029075"/>
            <a:ext cx="169863" cy="822325"/>
          </a:xfrm>
          <a:prstGeom prst="leftBrace">
            <a:avLst>
              <a:gd name="adj1" fmla="val 40343"/>
              <a:gd name="adj2" fmla="val 50000"/>
            </a:avLst>
          </a:prstGeom>
          <a:noFill/>
          <a:ln w="28575">
            <a:solidFill>
              <a:schemeClr val="tx2"/>
            </a:solidFill>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3502" name="Text Box 14"/>
          <p:cNvSpPr txBox="1">
            <a:spLocks noChangeArrowheads="1"/>
          </p:cNvSpPr>
          <p:nvPr/>
        </p:nvSpPr>
        <p:spPr bwMode="auto">
          <a:xfrm>
            <a:off x="6605588" y="3814763"/>
            <a:ext cx="17081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基孔制</a:t>
            </a:r>
            <a:endParaRPr lang="zh-CN" altLang="en-US" sz="3200" b="1">
              <a:latin typeface="宋体" panose="02010600030101010101" pitchFamily="2" charset="-122"/>
            </a:endParaRPr>
          </a:p>
        </p:txBody>
      </p:sp>
      <p:sp>
        <p:nvSpPr>
          <p:cNvPr id="63503" name="Text Box 15"/>
          <p:cNvSpPr txBox="1">
            <a:spLocks noChangeArrowheads="1"/>
          </p:cNvSpPr>
          <p:nvPr/>
        </p:nvSpPr>
        <p:spPr bwMode="auto">
          <a:xfrm>
            <a:off x="6592888" y="4389438"/>
            <a:ext cx="1603375"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zh-CN" altLang="en-US" sz="3200" b="1">
                <a:latin typeface="宋体" panose="02010600030101010101" pitchFamily="2" charset="-122"/>
              </a:rPr>
              <a:t>基轴制</a:t>
            </a:r>
            <a:endParaRPr lang="zh-CN" altLang="en-US" sz="3200" b="1">
              <a:latin typeface="宋体" panose="02010600030101010101" pitchFamily="2" charset="-122"/>
            </a:endParaRPr>
          </a:p>
        </p:txBody>
      </p:sp>
      <p:sp>
        <p:nvSpPr>
          <p:cNvPr id="45071" name="Text Box 16"/>
          <p:cNvSpPr txBox="1">
            <a:spLocks noChangeArrowheads="1"/>
          </p:cNvSpPr>
          <p:nvPr/>
        </p:nvSpPr>
        <p:spPr bwMode="auto">
          <a:xfrm>
            <a:off x="693738" y="1060450"/>
            <a:ext cx="7842250"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0000"/>
              </a:lnSpc>
            </a:pPr>
            <a:r>
              <a:rPr lang="en-US" altLang="zh-CN" sz="3200" b="1">
                <a:solidFill>
                  <a:srgbClr val="FF3300"/>
                </a:solidFill>
              </a:rPr>
              <a:t>1. </a:t>
            </a:r>
            <a:r>
              <a:rPr lang="zh-CN" altLang="en-US" sz="3200" b="1">
                <a:solidFill>
                  <a:srgbClr val="FF3300"/>
                </a:solidFill>
              </a:rPr>
              <a:t>表面粗糙度代号、符号的意义及在图样 </a:t>
            </a:r>
            <a:endParaRPr lang="zh-CN" altLang="en-US" sz="3200" b="1">
              <a:solidFill>
                <a:srgbClr val="FF3300"/>
              </a:solidFill>
            </a:endParaRPr>
          </a:p>
          <a:p>
            <a:pPr algn="l" eaLnBrk="1" hangingPunct="1">
              <a:lnSpc>
                <a:spcPct val="110000"/>
              </a:lnSpc>
            </a:pPr>
            <a:r>
              <a:rPr lang="zh-CN" altLang="en-US" sz="3200" b="1">
                <a:solidFill>
                  <a:srgbClr val="FF3300"/>
                </a:solidFill>
              </a:rPr>
              <a:t>    中的标注方法。</a:t>
            </a:r>
            <a:endParaRPr lang="zh-CN" altLang="en-US" sz="320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blinds(horizontal)">
                                      <p:cBhvr>
                                        <p:cTn id="7" dur="500"/>
                                        <p:tgtEl>
                                          <p:spTgt spid="634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494"/>
                                        </p:tgtEl>
                                        <p:attrNameLst>
                                          <p:attrName>style.visibility</p:attrName>
                                        </p:attrNameLst>
                                      </p:cBhvr>
                                      <p:to>
                                        <p:strVal val="visible"/>
                                      </p:to>
                                    </p:set>
                                    <p:animEffect transition="in" filter="blinds(horizontal)">
                                      <p:cBhvr>
                                        <p:cTn id="12" dur="500"/>
                                        <p:tgtEl>
                                          <p:spTgt spid="634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495"/>
                                        </p:tgtEl>
                                        <p:attrNameLst>
                                          <p:attrName>style.visibility</p:attrName>
                                        </p:attrNameLst>
                                      </p:cBhvr>
                                      <p:to>
                                        <p:strVal val="visible"/>
                                      </p:to>
                                    </p:set>
                                    <p:animEffect transition="in" filter="blinds(horizontal)">
                                      <p:cBhvr>
                                        <p:cTn id="17" dur="500"/>
                                        <p:tgtEl>
                                          <p:spTgt spid="63495"/>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63496"/>
                                        </p:tgtEl>
                                        <p:attrNameLst>
                                          <p:attrName>style.visibility</p:attrName>
                                        </p:attrNameLst>
                                      </p:cBhvr>
                                      <p:to>
                                        <p:strVal val="visible"/>
                                      </p:to>
                                    </p:set>
                                    <p:animEffect transition="in" filter="wipe(up)">
                                      <p:cBhvr>
                                        <p:cTn id="21" dur="500"/>
                                        <p:tgtEl>
                                          <p:spTgt spid="63496"/>
                                        </p:tgtEl>
                                      </p:cBhvr>
                                    </p:animEffect>
                                  </p:childTnLst>
                                </p:cTn>
                              </p:par>
                            </p:childTnLst>
                          </p:cTn>
                        </p:par>
                        <p:par>
                          <p:cTn id="22" fill="hold">
                            <p:stCondLst>
                              <p:cond delay="1000"/>
                            </p:stCondLst>
                            <p:childTnLst>
                              <p:par>
                                <p:cTn id="23" presetID="3" presetClass="entr" presetSubtype="10" fill="hold" grpId="0" nodeType="afterEffect">
                                  <p:stCondLst>
                                    <p:cond delay="0"/>
                                  </p:stCondLst>
                                  <p:childTnLst>
                                    <p:set>
                                      <p:cBhvr>
                                        <p:cTn id="24" dur="1" fill="hold">
                                          <p:stCondLst>
                                            <p:cond delay="0"/>
                                          </p:stCondLst>
                                        </p:cTn>
                                        <p:tgtEl>
                                          <p:spTgt spid="63497"/>
                                        </p:tgtEl>
                                        <p:attrNameLst>
                                          <p:attrName>style.visibility</p:attrName>
                                        </p:attrNameLst>
                                      </p:cBhvr>
                                      <p:to>
                                        <p:strVal val="visible"/>
                                      </p:to>
                                    </p:set>
                                    <p:animEffect transition="in" filter="blinds(horizontal)">
                                      <p:cBhvr>
                                        <p:cTn id="25" dur="500"/>
                                        <p:tgtEl>
                                          <p:spTgt spid="63497"/>
                                        </p:tgtEl>
                                      </p:cBhvr>
                                    </p:animEffect>
                                  </p:childTnLst>
                                </p:cTn>
                              </p:par>
                            </p:childTnLst>
                          </p:cTn>
                        </p:par>
                        <p:par>
                          <p:cTn id="26" fill="hold">
                            <p:stCondLst>
                              <p:cond delay="1500"/>
                            </p:stCondLst>
                            <p:childTnLst>
                              <p:par>
                                <p:cTn id="27" presetID="3" presetClass="entr" presetSubtype="10" fill="hold" grpId="0" nodeType="afterEffect">
                                  <p:stCondLst>
                                    <p:cond delay="0"/>
                                  </p:stCondLst>
                                  <p:childTnLst>
                                    <p:set>
                                      <p:cBhvr>
                                        <p:cTn id="28" dur="1" fill="hold">
                                          <p:stCondLst>
                                            <p:cond delay="0"/>
                                          </p:stCondLst>
                                        </p:cTn>
                                        <p:tgtEl>
                                          <p:spTgt spid="63498"/>
                                        </p:tgtEl>
                                        <p:attrNameLst>
                                          <p:attrName>style.visibility</p:attrName>
                                        </p:attrNameLst>
                                      </p:cBhvr>
                                      <p:to>
                                        <p:strVal val="visible"/>
                                      </p:to>
                                    </p:set>
                                    <p:animEffect transition="in" filter="blinds(horizontal)">
                                      <p:cBhvr>
                                        <p:cTn id="29" dur="500"/>
                                        <p:tgtEl>
                                          <p:spTgt spid="63498"/>
                                        </p:tgtEl>
                                      </p:cBhvr>
                                    </p:animEffect>
                                  </p:childTnLst>
                                </p:cTn>
                              </p:par>
                            </p:childTnLst>
                          </p:cTn>
                        </p:par>
                        <p:par>
                          <p:cTn id="30" fill="hold">
                            <p:stCondLst>
                              <p:cond delay="2000"/>
                            </p:stCondLst>
                            <p:childTnLst>
                              <p:par>
                                <p:cTn id="31" presetID="3" presetClass="entr" presetSubtype="10" fill="hold" grpId="0" nodeType="afterEffect">
                                  <p:stCondLst>
                                    <p:cond delay="0"/>
                                  </p:stCondLst>
                                  <p:childTnLst>
                                    <p:set>
                                      <p:cBhvr>
                                        <p:cTn id="32" dur="1" fill="hold">
                                          <p:stCondLst>
                                            <p:cond delay="0"/>
                                          </p:stCondLst>
                                        </p:cTn>
                                        <p:tgtEl>
                                          <p:spTgt spid="63499"/>
                                        </p:tgtEl>
                                        <p:attrNameLst>
                                          <p:attrName>style.visibility</p:attrName>
                                        </p:attrNameLst>
                                      </p:cBhvr>
                                      <p:to>
                                        <p:strVal val="visible"/>
                                      </p:to>
                                    </p:set>
                                    <p:animEffect transition="in" filter="blinds(horizontal)">
                                      <p:cBhvr>
                                        <p:cTn id="33" dur="500"/>
                                        <p:tgtEl>
                                          <p:spTgt spid="6349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3500"/>
                                        </p:tgtEl>
                                        <p:attrNameLst>
                                          <p:attrName>style.visibility</p:attrName>
                                        </p:attrNameLst>
                                      </p:cBhvr>
                                      <p:to>
                                        <p:strVal val="visible"/>
                                      </p:to>
                                    </p:set>
                                    <p:animEffect transition="in" filter="blinds(horizontal)">
                                      <p:cBhvr>
                                        <p:cTn id="38" dur="500"/>
                                        <p:tgtEl>
                                          <p:spTgt spid="63500"/>
                                        </p:tgtEl>
                                      </p:cBhvr>
                                    </p:animEffect>
                                  </p:childTnLst>
                                </p:cTn>
                              </p:par>
                            </p:childTnLst>
                          </p:cTn>
                        </p:par>
                        <p:par>
                          <p:cTn id="39" fill="hold">
                            <p:stCondLst>
                              <p:cond delay="500"/>
                            </p:stCondLst>
                            <p:childTnLst>
                              <p:par>
                                <p:cTn id="40" presetID="22" presetClass="entr" presetSubtype="1" fill="hold" nodeType="afterEffect">
                                  <p:stCondLst>
                                    <p:cond delay="0"/>
                                  </p:stCondLst>
                                  <p:childTnLst>
                                    <p:set>
                                      <p:cBhvr>
                                        <p:cTn id="41" dur="1" fill="hold">
                                          <p:stCondLst>
                                            <p:cond delay="0"/>
                                          </p:stCondLst>
                                        </p:cTn>
                                        <p:tgtEl>
                                          <p:spTgt spid="63501"/>
                                        </p:tgtEl>
                                        <p:attrNameLst>
                                          <p:attrName>style.visibility</p:attrName>
                                        </p:attrNameLst>
                                      </p:cBhvr>
                                      <p:to>
                                        <p:strVal val="visible"/>
                                      </p:to>
                                    </p:set>
                                    <p:animEffect transition="in" filter="wipe(up)">
                                      <p:cBhvr>
                                        <p:cTn id="42" dur="500"/>
                                        <p:tgtEl>
                                          <p:spTgt spid="63501"/>
                                        </p:tgtEl>
                                      </p:cBhvr>
                                    </p:animEffect>
                                  </p:childTnLst>
                                </p:cTn>
                              </p:par>
                            </p:childTnLst>
                          </p:cTn>
                        </p:par>
                        <p:par>
                          <p:cTn id="43" fill="hold">
                            <p:stCondLst>
                              <p:cond delay="1000"/>
                            </p:stCondLst>
                            <p:childTnLst>
                              <p:par>
                                <p:cTn id="44" presetID="3" presetClass="entr" presetSubtype="10" fill="hold" grpId="0" nodeType="afterEffect">
                                  <p:stCondLst>
                                    <p:cond delay="0"/>
                                  </p:stCondLst>
                                  <p:childTnLst>
                                    <p:set>
                                      <p:cBhvr>
                                        <p:cTn id="45" dur="1" fill="hold">
                                          <p:stCondLst>
                                            <p:cond delay="0"/>
                                          </p:stCondLst>
                                        </p:cTn>
                                        <p:tgtEl>
                                          <p:spTgt spid="63502"/>
                                        </p:tgtEl>
                                        <p:attrNameLst>
                                          <p:attrName>style.visibility</p:attrName>
                                        </p:attrNameLst>
                                      </p:cBhvr>
                                      <p:to>
                                        <p:strVal val="visible"/>
                                      </p:to>
                                    </p:set>
                                    <p:animEffect transition="in" filter="blinds(horizontal)">
                                      <p:cBhvr>
                                        <p:cTn id="46" dur="500"/>
                                        <p:tgtEl>
                                          <p:spTgt spid="63502"/>
                                        </p:tgtEl>
                                      </p:cBhvr>
                                    </p:animEffect>
                                  </p:childTnLst>
                                </p:cTn>
                              </p:par>
                            </p:childTnLst>
                          </p:cTn>
                        </p:par>
                        <p:par>
                          <p:cTn id="47" fill="hold">
                            <p:stCondLst>
                              <p:cond delay="1500"/>
                            </p:stCondLst>
                            <p:childTnLst>
                              <p:par>
                                <p:cTn id="48" presetID="3" presetClass="entr" presetSubtype="10" fill="hold" grpId="0" nodeType="afterEffect">
                                  <p:stCondLst>
                                    <p:cond delay="0"/>
                                  </p:stCondLst>
                                  <p:childTnLst>
                                    <p:set>
                                      <p:cBhvr>
                                        <p:cTn id="49" dur="1" fill="hold">
                                          <p:stCondLst>
                                            <p:cond delay="0"/>
                                          </p:stCondLst>
                                        </p:cTn>
                                        <p:tgtEl>
                                          <p:spTgt spid="63503"/>
                                        </p:tgtEl>
                                        <p:attrNameLst>
                                          <p:attrName>style.visibility</p:attrName>
                                        </p:attrNameLst>
                                      </p:cBhvr>
                                      <p:to>
                                        <p:strVal val="visible"/>
                                      </p:to>
                                    </p:set>
                                    <p:animEffect transition="in" filter="blinds(horizontal)">
                                      <p:cBhvr>
                                        <p:cTn id="50" dur="500"/>
                                        <p:tgtEl>
                                          <p:spTgt spid="63503"/>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63493"/>
                                        </p:tgtEl>
                                        <p:attrNameLst>
                                          <p:attrName>style.visibility</p:attrName>
                                        </p:attrNameLst>
                                      </p:cBhvr>
                                      <p:to>
                                        <p:strVal val="visible"/>
                                      </p:to>
                                    </p:set>
                                    <p:animEffect transition="in" filter="blinds(horizontal)">
                                      <p:cBhvr>
                                        <p:cTn id="55" dur="500"/>
                                        <p:tgtEl>
                                          <p:spTgt spid="63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utoUpdateAnimBg="0"/>
      <p:bldP spid="63493" grpId="0" autoUpdateAnimBg="0"/>
      <p:bldP spid="63494" grpId="0" autoUpdateAnimBg="0"/>
      <p:bldP spid="63495" grpId="0" autoUpdateAnimBg="0"/>
      <p:bldP spid="63497" grpId="0" autoUpdateAnimBg="0"/>
      <p:bldP spid="63498" grpId="0" autoUpdateAnimBg="0"/>
      <p:bldP spid="63499" grpId="0" autoUpdateAnimBg="0"/>
      <p:bldP spid="63500" grpId="0" autoUpdateAnimBg="0"/>
      <p:bldP spid="63502" grpId="0" autoUpdateAnimBg="0"/>
      <p:bldP spid="63503" grpId="0" autoUpdateAnimBg="0"/>
    </p:bldLst>
  </p:timing>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PP_MARK_KEY" val="70a42109-547d-4e84-ad35-f371642096b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5296</Words>
  <Application>WPS 演示</Application>
  <PresentationFormat>全屏显示(4:3)</PresentationFormat>
  <Paragraphs>1357</Paragraphs>
  <Slides>38</Slides>
  <Notes>3</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6" baseType="lpstr">
      <vt:lpstr>Arial</vt:lpstr>
      <vt:lpstr>宋体</vt:lpstr>
      <vt:lpstr>Wingdings</vt:lpstr>
      <vt:lpstr>Calibri</vt:lpstr>
      <vt:lpstr>黑体</vt:lpstr>
      <vt:lpstr>Times New Roman</vt:lpstr>
      <vt:lpstr>Arial Black</vt:lpstr>
      <vt:lpstr>Monotype Sorts</vt:lpstr>
      <vt:lpstr>Wingdings</vt:lpstr>
      <vt:lpstr>Symbol</vt:lpstr>
      <vt:lpstr>Italic</vt:lpstr>
      <vt:lpstr>ISOCPEUR</vt:lpstr>
      <vt:lpstr>ISOCP</vt:lpstr>
      <vt:lpstr>微软雅黑</vt:lpstr>
      <vt:lpstr>Arial Unicode MS</vt:lpstr>
      <vt:lpstr>ISOCTEUR</vt:lpstr>
      <vt:lpstr>Office 主题</vt:lpstr>
      <vt:lpstr>StaticDib</vt:lpstr>
      <vt:lpstr>第13讲 零件图之一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极限与配合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第2单元     正投影法基础</dc:title>
  <dc:creator>Administrator</dc:creator>
  <cp:lastModifiedBy>Chen Yu</cp:lastModifiedBy>
  <cp:revision>67</cp:revision>
  <dcterms:created xsi:type="dcterms:W3CDTF">2019-03-05T10:30:00Z</dcterms:created>
  <dcterms:modified xsi:type="dcterms:W3CDTF">2022-11-30T03:47:19Z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FB57AC77EFD54EFDA09C04E39AA0B362</vt:lpwstr>
  </property>
</Properties>
</file>