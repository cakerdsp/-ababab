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76" r:id="rId3"/>
    <p:sldId id="313" r:id="rId4"/>
    <p:sldId id="314" r:id="rId5"/>
    <p:sldId id="399" r:id="rId6"/>
    <p:sldId id="406" r:id="rId7"/>
    <p:sldId id="316" r:id="rId8"/>
    <p:sldId id="392" r:id="rId9"/>
    <p:sldId id="317" r:id="rId10"/>
    <p:sldId id="318" r:id="rId11"/>
    <p:sldId id="382" r:id="rId12"/>
    <p:sldId id="320" r:id="rId13"/>
    <p:sldId id="321" r:id="rId14"/>
    <p:sldId id="322" r:id="rId15"/>
    <p:sldId id="323" r:id="rId16"/>
    <p:sldId id="400" r:id="rId17"/>
    <p:sldId id="402" r:id="rId18"/>
    <p:sldId id="379" r:id="rId19"/>
    <p:sldId id="377" r:id="rId20"/>
    <p:sldId id="327" r:id="rId21"/>
    <p:sldId id="393" r:id="rId22"/>
    <p:sldId id="329" r:id="rId23"/>
    <p:sldId id="330" r:id="rId24"/>
    <p:sldId id="331" r:id="rId25"/>
    <p:sldId id="378" r:id="rId26"/>
    <p:sldId id="332" r:id="rId27"/>
    <p:sldId id="353" r:id="rId28"/>
    <p:sldId id="301" r:id="rId29"/>
    <p:sldId id="395" r:id="rId30"/>
    <p:sldId id="396" r:id="rId31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0">
          <p15:clr>
            <a:srgbClr val="A4A3A4"/>
          </p15:clr>
        </p15:guide>
        <p15:guide id="2" pos="28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18" autoAdjust="0"/>
    <p:restoredTop sz="94660"/>
  </p:normalViewPr>
  <p:slideViewPr>
    <p:cSldViewPr>
      <p:cViewPr varScale="1">
        <p:scale>
          <a:sx n="114" d="100"/>
          <a:sy n="114" d="100"/>
        </p:scale>
        <p:origin x="1230" y="102"/>
      </p:cViewPr>
      <p:guideLst>
        <p:guide orient="horz" pos="2300"/>
        <p:guide pos="28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A8DA0B-9F4D-4D21-829A-36072320F3DC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310CC7B-182D-48C7-91A7-35B72A3E310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A59C5-3DD6-4B0C-88A3-7002AAE79E97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5239FA-F55C-42BF-BAAC-5A8A89E341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B5064-2499-41C5-8417-694A3236569F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2104BD-6E4C-4555-A2C2-7A37F46DC3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0B3E7-703D-4702-B1CF-303DA92065AB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ED81E7-6265-49E7-BA9D-66566CB2A75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1092E-8FBD-4FD5-B0F3-1AF84317F27A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CBCE8C-7466-464F-BD3E-4E7890ECAC4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641E-B573-476F-AD44-970D48E2863B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7C17DE-B993-463A-8CCD-9DA2C0AC2A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A5629-BC52-4F93-8FEF-1D43BA12233B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F7FF02-A7A7-44BC-9FDC-899F2932E0C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48038-F6C5-4C2C-BD6C-FC90DC8C8F14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982818-6E97-4954-A003-E552AFC73B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EAD0C-7624-4DC6-96F5-A065E11EC555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5A0B48-2FE5-4BAB-8757-6177198424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B65D2-EE4B-427F-9421-D330C4666D80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7136A1-64BA-4556-9B7B-1A481963A62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2C8E-310E-4183-9BC9-BF326CB820D9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17A518-6522-4459-BEB3-96CF5B18EDD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A3BC8-5138-4039-B2B6-946A6F4EC606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F9BAAD-8141-4467-8217-7373CD3FC38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/>
          <p:nvPr userDrawn="1"/>
        </p:nvSpPr>
        <p:spPr>
          <a:xfrm>
            <a:off x="0" y="333375"/>
            <a:ext cx="9144000" cy="7191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 eaLnBrk="1" hangingPunct="1">
              <a:defRPr/>
            </a:pPr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95288" y="64341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595959"/>
                </a:solidFill>
                <a:latin typeface="宋体" panose="02010600030101010101" pitchFamily="2" charset="-122"/>
              </a:rPr>
              <a:t>机械制图</a:t>
            </a:r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》</a:t>
            </a:r>
            <a:endParaRPr lang="zh-CN" altLang="en-US" sz="1400" b="1">
              <a:solidFill>
                <a:srgbClr val="595959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auto">
          <a:xfrm>
            <a:off x="3357563" y="6429375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595959"/>
                </a:solidFill>
              </a:rPr>
              <a:t>第</a:t>
            </a:r>
            <a:r>
              <a:rPr lang="en-US" altLang="zh-CN" sz="1400" b="1">
                <a:solidFill>
                  <a:srgbClr val="595959"/>
                </a:solidFill>
              </a:rPr>
              <a:t>1</a:t>
            </a:r>
            <a:r>
              <a:rPr lang="zh-CN" altLang="en-US" sz="1400" b="1">
                <a:solidFill>
                  <a:srgbClr val="595959"/>
                </a:solidFill>
              </a:rPr>
              <a:t>章  绪论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buNone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10398A4C-4BAF-456D-906D-678BC69D4A60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 eaLnBrk="1" hangingPunct="1">
              <a:defRPr/>
            </a:pPr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395288" y="64341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595959"/>
                </a:solidFill>
                <a:latin typeface="宋体" panose="02010600030101010101" pitchFamily="2" charset="-122"/>
              </a:rPr>
              <a:t>机械制图</a:t>
            </a:r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》</a:t>
            </a:r>
            <a:endParaRPr lang="zh-CN" altLang="en-US" sz="1400" b="1">
              <a:solidFill>
                <a:srgbClr val="595959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3357563" y="6429375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595959"/>
                </a:solidFill>
              </a:rPr>
              <a:t>第</a:t>
            </a:r>
            <a:r>
              <a:rPr lang="en-US" altLang="zh-CN" sz="1400" b="1">
                <a:solidFill>
                  <a:srgbClr val="595959"/>
                </a:solidFill>
              </a:rPr>
              <a:t>1</a:t>
            </a:r>
            <a:r>
              <a:rPr lang="zh-CN" altLang="en-US" sz="1400" b="1">
                <a:solidFill>
                  <a:srgbClr val="595959"/>
                </a:solidFill>
              </a:rPr>
              <a:t>章  绪论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A308BBA3-C608-4444-B6E5-E867D87E901A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01625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01625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433C10A3-1A0B-441C-913A-B0761FCF9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A1AB1B9B-FC64-40CF-B573-E1D1D1A9DC0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5" name="Object 9"/>
          <p:cNvGraphicFramePr>
            <a:graphicFrameLocks noChangeAspect="1"/>
          </p:cNvGraphicFramePr>
          <p:nvPr userDrawn="1"/>
        </p:nvGraphicFramePr>
        <p:xfrm>
          <a:off x="8458200" y="142875"/>
          <a:ext cx="685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2428875" imgH="2171700" progId="StaticDib">
                  <p:embed/>
                </p:oleObj>
              </mc:Choice>
              <mc:Fallback>
                <p:oleObj r:id="rId3" imgW="2428875" imgH="2171700" progId="StaticDib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58200" y="142875"/>
                        <a:ext cx="6858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88113"/>
            <a:ext cx="24923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工程制图基础教学软件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84525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 制图基本知识和技能 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BA3471-8F77-4988-93EC-C76938312EAD}" type="datetimeFigureOut">
              <a:rPr lang="zh-CN" altLang="en-US"/>
              <a:t>2022/12/28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4C67417-CE36-47FB-9AB7-1A10D914B3C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F:\&#24037;&#31243;&#21046;&#22270;\&#35013;&#37197;&#22270;&#40831;&#36718;&#27893;&#21407;&#29702;.avi" TargetMode="External"/><Relationship Id="rId1" Type="http://schemas.microsoft.com/office/2007/relationships/media" Target="file:///F:\&#24037;&#31243;&#21046;&#22270;\&#35013;&#37197;&#22270;&#40831;&#36718;&#27893;&#21407;&#29702;.avi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/>
              <a:t>16</a:t>
            </a:r>
            <a:r>
              <a:rPr lang="zh-CN" altLang="en-US"/>
              <a:t>讲 </a:t>
            </a:r>
            <a:r>
              <a:rPr lang="zh-CN" altLang="en-US" dirty="0"/>
              <a:t>装配图之二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第六单元   机械图介绍</a:t>
            </a:r>
            <a:endParaRPr lang="zh-CN" altLang="en-US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>
            <a:spLocks noGrp="1" noChangeArrowheads="1"/>
          </p:cNvSpPr>
          <p:nvPr>
            <p:ph type="ctrTitle"/>
          </p:nvPr>
        </p:nvSpPr>
        <p:spPr>
          <a:xfrm>
            <a:off x="842963" y="125413"/>
            <a:ext cx="7772400" cy="736600"/>
          </a:xfrm>
          <a:gradFill rotWithShape="0">
            <a:gsLst>
              <a:gs pos="0">
                <a:srgbClr val="FF3300"/>
              </a:gs>
              <a:gs pos="50000">
                <a:srgbClr val="FFFFFF"/>
              </a:gs>
              <a:gs pos="100000">
                <a:srgbClr val="FF3300"/>
              </a:gs>
            </a:gsLst>
            <a:lin ang="5400000" scaled="1"/>
          </a:gradFill>
          <a:ln w="76200">
            <a:pattFill prst="dkDnDiag">
              <a:fgClr>
                <a:srgbClr val="FFFF00"/>
              </a:fgClr>
              <a:bgClr>
                <a:srgbClr val="FF0000"/>
              </a:bgClr>
            </a:patt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读装配图的</a:t>
            </a:r>
            <a:r>
              <a:rPr lang="zh-CN" altLang="zh-CN" sz="4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方法与步骤</a:t>
            </a:r>
            <a:endParaRPr lang="zh-CN" altLang="en-US" sz="40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593725" y="5394325"/>
            <a:ext cx="594836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</a:t>
            </a:r>
            <a:r>
              <a:rPr lang="zh-CN" altLang="en-US">
                <a:latin typeface="宋体" panose="02010600030101010101" pitchFamily="2" charset="-122"/>
              </a:rPr>
              <a:t>了解部件的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尺寸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技术要求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515938" y="2611438"/>
            <a:ext cx="3854450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333399"/>
                </a:solidFill>
                <a:latin typeface="宋体" panose="02010600030101010101" pitchFamily="2" charset="-122"/>
              </a:rPr>
              <a:t>读装配图的要求：</a:t>
            </a:r>
            <a:endParaRPr lang="zh-CN" altLang="en-US">
              <a:solidFill>
                <a:srgbClr val="333399"/>
              </a:solidFill>
              <a:latin typeface="宋体" panose="02010600030101010101" pitchFamily="2" charset="-122"/>
            </a:endParaRPr>
          </a:p>
        </p:txBody>
      </p:sp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93725" y="3276600"/>
            <a:ext cx="79883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</a:t>
            </a:r>
            <a:r>
              <a:rPr lang="zh-CN" altLang="en-US">
                <a:latin typeface="宋体" panose="02010600030101010101" pitchFamily="2" charset="-122"/>
              </a:rPr>
              <a:t>了解部件的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功用</a:t>
            </a:r>
            <a:r>
              <a:rPr lang="zh-CN" altLang="en-US">
                <a:latin typeface="宋体" panose="02010600030101010101" pitchFamily="2" charset="-122"/>
              </a:rPr>
              <a:t>、使用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性能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工作原理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593725" y="3916363"/>
            <a:ext cx="8396288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</a:t>
            </a:r>
            <a:r>
              <a:rPr lang="zh-CN" altLang="en-US">
                <a:latin typeface="宋体" panose="02010600030101010101" pitchFamily="2" charset="-122"/>
              </a:rPr>
              <a:t>弄清各零件的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作用</a:t>
            </a:r>
            <a:r>
              <a:rPr lang="zh-CN" altLang="en-US">
                <a:latin typeface="宋体" panose="02010600030101010101" pitchFamily="2" charset="-122"/>
              </a:rPr>
              <a:t>和它们之间的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相对位置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  装配关系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连接固定方式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593725" y="4843463"/>
            <a:ext cx="51323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</a:t>
            </a:r>
            <a:r>
              <a:rPr lang="zh-CN" altLang="en-US">
                <a:latin typeface="宋体" panose="02010600030101010101" pitchFamily="2" charset="-122"/>
              </a:rPr>
              <a:t>弄懂各零件的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结构形状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7226" name="Text Box 10"/>
          <p:cNvSpPr txBox="1">
            <a:spLocks noChangeArrowheads="1"/>
          </p:cNvSpPr>
          <p:nvPr/>
        </p:nvSpPr>
        <p:spPr bwMode="auto">
          <a:xfrm>
            <a:off x="533400" y="1238250"/>
            <a:ext cx="8229600" cy="148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读装配图是工程技术人员必备的一种能力，在设计、装配、安装、调试以及进行技术交流时，都要读装配图。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1" grpId="0" autoUpdateAnimBg="0"/>
      <p:bldP spid="137222" grpId="0" autoUpdateAnimBg="0"/>
      <p:bldP spid="137223" grpId="0" autoUpdateAnimBg="0"/>
      <p:bldP spid="137224" grpId="0" autoUpdateAnimBg="0"/>
      <p:bldP spid="137225" grpId="0" autoUpdateAnimBg="0"/>
      <p:bldP spid="1372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514350" y="396875"/>
            <a:ext cx="28813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⒈ </a:t>
            </a:r>
            <a:r>
              <a:rPr lang="zh-CN" altLang="en-US" sz="3600">
                <a:solidFill>
                  <a:schemeClr val="accent2"/>
                </a:solidFill>
                <a:latin typeface="宋体" panose="02010600030101010101" pitchFamily="2" charset="-122"/>
              </a:rPr>
              <a:t>概括了解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628650" y="1146175"/>
            <a:ext cx="7880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⑴ </a:t>
            </a:r>
            <a:r>
              <a:rPr lang="zh-CN" altLang="en-US">
                <a:latin typeface="宋体" panose="02010600030101010101" pitchFamily="2" charset="-122"/>
              </a:rPr>
              <a:t>看标题栏并参阅有关资料，了解部件的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名称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用途</a:t>
            </a:r>
            <a:r>
              <a:rPr lang="zh-CN" altLang="en-US">
                <a:latin typeface="宋体" panose="02010600030101010101" pitchFamily="2" charset="-122"/>
              </a:rPr>
              <a:t>和使用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性能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628650" y="2243138"/>
            <a:ext cx="81407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⑵ </a:t>
            </a:r>
            <a:r>
              <a:rPr lang="zh-CN" altLang="en-US">
                <a:latin typeface="宋体" panose="02010600030101010101" pitchFamily="2" charset="-122"/>
              </a:rPr>
              <a:t>看零件编号和明细栏，了解零件的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名称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数量</a:t>
            </a:r>
            <a:r>
              <a:rPr lang="zh-CN" altLang="en-US">
                <a:latin typeface="宋体" panose="02010600030101010101" pitchFamily="2" charset="-122"/>
              </a:rPr>
              <a:t>和它在图中的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位置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8133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427913" y="6065838"/>
            <a:ext cx="138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/>
              <a:t>装配图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996950" y="3568700"/>
            <a:ext cx="7392988" cy="2098675"/>
          </a:xfrm>
          <a:prstGeom prst="rect">
            <a:avLst/>
          </a:prstGeom>
          <a:noFill/>
          <a:ln w="57150">
            <a:pattFill prst="trellis">
              <a:fgClr>
                <a:srgbClr val="CC00FF"/>
              </a:fgClr>
              <a:bgClr>
                <a:srgbClr val="FFFFFF"/>
              </a:bgClr>
            </a:patt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由装配图的标题栏可知，该部件名称为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齿轮油泵</a:t>
            </a:r>
            <a:r>
              <a:rPr lang="zh-CN" altLang="en-US">
                <a:latin typeface="宋体" panose="02010600030101010101" pitchFamily="2" charset="-122"/>
              </a:rPr>
              <a:t>，是安装在油路中的一种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供油装置</a:t>
            </a:r>
            <a:r>
              <a:rPr lang="zh-CN" altLang="en-US">
                <a:latin typeface="宋体" panose="02010600030101010101" pitchFamily="2" charset="-122"/>
              </a:rPr>
              <a:t>。由明细栏和外形尺寸可知它由</a:t>
            </a:r>
            <a:r>
              <a:rPr lang="en-US" altLang="zh-CN">
                <a:latin typeface="宋体" panose="02010600030101010101" pitchFamily="2" charset="-122"/>
              </a:rPr>
              <a:t>15</a:t>
            </a:r>
            <a:r>
              <a:rPr lang="zh-CN" altLang="en-US">
                <a:latin typeface="宋体" panose="02010600030101010101" pitchFamily="2" charset="-122"/>
              </a:rPr>
              <a:t>个零件组成，结构不太复杂。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30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utoUpdateAnimBg="0"/>
      <p:bldP spid="67588" grpId="0" autoUpdateAnimBg="0"/>
      <p:bldP spid="675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077913" y="2370138"/>
            <a:ext cx="7348537" cy="2586037"/>
          </a:xfrm>
          <a:prstGeom prst="rect">
            <a:avLst/>
          </a:prstGeom>
          <a:noFill/>
          <a:ln w="57150">
            <a:pattFill prst="trellis">
              <a:fgClr>
                <a:schemeClr val="accent2"/>
              </a:fgClr>
              <a:bgClr>
                <a:srgbClr val="FFFFFF"/>
              </a:bgClr>
            </a:patt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齿轮油泵装配图由两个视图表达，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主视图</a:t>
            </a:r>
            <a:r>
              <a:rPr lang="zh-CN" altLang="en-US">
                <a:latin typeface="宋体" panose="02010600030101010101" pitchFamily="2" charset="-122"/>
              </a:rPr>
              <a:t>采用了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全剖视</a:t>
            </a:r>
            <a:r>
              <a:rPr lang="zh-CN" altLang="en-US">
                <a:latin typeface="宋体" panose="02010600030101010101" pitchFamily="2" charset="-122"/>
              </a:rPr>
              <a:t>，表达了齿轮油泵的主要装配关系。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左视图沿左</a:t>
            </a:r>
            <a:r>
              <a:rPr lang="zh-CN" altLang="en-US">
                <a:latin typeface="宋体" panose="02010600030101010101" pitchFamily="2" charset="-122"/>
              </a:rPr>
              <a:t>端盖和泵体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结合面剖切</a:t>
            </a:r>
            <a:r>
              <a:rPr lang="zh-CN" altLang="en-US">
                <a:latin typeface="宋体" panose="02010600030101010101" pitchFamily="2" charset="-122"/>
              </a:rPr>
              <a:t>，并沿进油口轴线取局部剖视，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表达了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齿轮油</a:t>
            </a:r>
            <a:r>
              <a:rPr lang="zh-CN" altLang="en-US">
                <a:latin typeface="宋体" panose="02010600030101010101" pitchFamily="2" charset="-122"/>
              </a:rPr>
              <a:t>泵的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工作原理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9155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754938" y="6215063"/>
            <a:ext cx="120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装配图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27013" y="476250"/>
            <a:ext cx="828992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⑶ </a:t>
            </a:r>
            <a:r>
              <a:rPr lang="zh-CN" altLang="en-US">
                <a:latin typeface="宋体" panose="02010600030101010101" pitchFamily="2" charset="-122"/>
              </a:rPr>
              <a:t>分析视图，弄清各个视图的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名称</a:t>
            </a:r>
            <a:r>
              <a:rPr lang="zh-CN" altLang="en-US">
                <a:latin typeface="宋体" panose="02010600030101010101" pitchFamily="2" charset="-122"/>
              </a:rPr>
              <a:t>、所采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用的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表达方法</a:t>
            </a:r>
            <a:r>
              <a:rPr lang="zh-CN" altLang="en-US">
                <a:latin typeface="宋体" panose="02010600030101010101" pitchFamily="2" charset="-122"/>
              </a:rPr>
              <a:t>和所表达的主要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内容</a:t>
            </a:r>
            <a:r>
              <a:rPr lang="zh-CN" altLang="en-US">
                <a:latin typeface="宋体" panose="02010600030101010101" pitchFamily="2" charset="-122"/>
              </a:rPr>
              <a:t>及视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图间的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投影关系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15-19新齿轮原理粗(1浅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668338"/>
            <a:ext cx="3213100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5259388" y="4735513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3300"/>
                </a:solidFill>
              </a:rPr>
              <a:t>齿轮油泵工作原理</a:t>
            </a:r>
          </a:p>
        </p:txBody>
      </p:sp>
      <p:sp>
        <p:nvSpPr>
          <p:cNvPr id="50180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754938" y="6148388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装配图</a:t>
            </a:r>
            <a:endParaRPr lang="zh-CN" altLang="en-US" sz="2400" u="sng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04788" y="133350"/>
            <a:ext cx="5029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⒉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分析部件的工作原理</a:t>
            </a:r>
          </a:p>
        </p:txBody>
      </p:sp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406400" y="769938"/>
            <a:ext cx="397986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从表达传动关系的视图入手，分析部件的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工作原理</a:t>
            </a:r>
            <a:r>
              <a:rPr lang="zh-CN" altLang="en-US" sz="2800">
                <a:latin typeface="宋体" panose="02010600030101010101" pitchFamily="2" charset="-122"/>
              </a:rPr>
              <a:t> 。</a:t>
            </a:r>
          </a:p>
        </p:txBody>
      </p:sp>
      <p:grpSp>
        <p:nvGrpSpPr>
          <p:cNvPr id="167943" name="Group 7"/>
          <p:cNvGrpSpPr/>
          <p:nvPr/>
        </p:nvGrpSpPr>
        <p:grpSpPr bwMode="auto">
          <a:xfrm>
            <a:off x="7788275" y="1716088"/>
            <a:ext cx="1103313" cy="731837"/>
            <a:chOff x="4906" y="901"/>
            <a:chExt cx="695" cy="461"/>
          </a:xfrm>
        </p:grpSpPr>
        <p:sp>
          <p:nvSpPr>
            <p:cNvPr id="50215" name="Text Box 8"/>
            <p:cNvSpPr txBox="1">
              <a:spLocks noChangeArrowheads="1"/>
            </p:cNvSpPr>
            <p:nvPr/>
          </p:nvSpPr>
          <p:spPr bwMode="auto">
            <a:xfrm>
              <a:off x="4906" y="901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进油口</a:t>
              </a:r>
              <a:endParaRPr lang="zh-CN" altLang="en-US" sz="2400" i="1"/>
            </a:p>
          </p:txBody>
        </p:sp>
        <p:sp>
          <p:nvSpPr>
            <p:cNvPr id="50216" name="AutoShape 9"/>
            <p:cNvSpPr>
              <a:spLocks noChangeArrowheads="1"/>
            </p:cNvSpPr>
            <p:nvPr/>
          </p:nvSpPr>
          <p:spPr bwMode="auto">
            <a:xfrm>
              <a:off x="5028" y="1236"/>
              <a:ext cx="363" cy="126"/>
            </a:xfrm>
            <a:prstGeom prst="leftArrow">
              <a:avLst>
                <a:gd name="adj1" fmla="val 50000"/>
                <a:gd name="adj2" fmla="val 7202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</p:grpSp>
      <p:grpSp>
        <p:nvGrpSpPr>
          <p:cNvPr id="167946" name="Group 10"/>
          <p:cNvGrpSpPr/>
          <p:nvPr/>
        </p:nvGrpSpPr>
        <p:grpSpPr bwMode="auto">
          <a:xfrm>
            <a:off x="4095750" y="2043113"/>
            <a:ext cx="1103313" cy="733425"/>
            <a:chOff x="2580" y="1287"/>
            <a:chExt cx="695" cy="462"/>
          </a:xfrm>
        </p:grpSpPr>
        <p:sp>
          <p:nvSpPr>
            <p:cNvPr id="50213" name="Text Box 11"/>
            <p:cNvSpPr txBox="1">
              <a:spLocks noChangeArrowheads="1"/>
            </p:cNvSpPr>
            <p:nvPr/>
          </p:nvSpPr>
          <p:spPr bwMode="auto">
            <a:xfrm>
              <a:off x="2580" y="128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出油口</a:t>
              </a:r>
              <a:endParaRPr lang="zh-CN" altLang="en-US" sz="2400" i="1"/>
            </a:p>
          </p:txBody>
        </p:sp>
        <p:sp>
          <p:nvSpPr>
            <p:cNvPr id="50214" name="AutoShape 12"/>
            <p:cNvSpPr>
              <a:spLocks noChangeArrowheads="1"/>
            </p:cNvSpPr>
            <p:nvPr/>
          </p:nvSpPr>
          <p:spPr bwMode="auto">
            <a:xfrm>
              <a:off x="2832" y="1635"/>
              <a:ext cx="360" cy="114"/>
            </a:xfrm>
            <a:prstGeom prst="leftArrow">
              <a:avLst>
                <a:gd name="adj1" fmla="val 50000"/>
                <a:gd name="adj2" fmla="val 789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</p:grpSp>
      <p:sp>
        <p:nvSpPr>
          <p:cNvPr id="167949" name="Freeform 13"/>
          <p:cNvSpPr/>
          <p:nvPr/>
        </p:nvSpPr>
        <p:spPr bwMode="auto">
          <a:xfrm>
            <a:off x="6538913" y="1735138"/>
            <a:ext cx="500062" cy="207962"/>
          </a:xfrm>
          <a:custGeom>
            <a:avLst/>
            <a:gdLst>
              <a:gd name="T0" fmla="*/ 0 w 315"/>
              <a:gd name="T1" fmla="*/ 299897079 h 131"/>
              <a:gd name="T2" fmla="*/ 136088301 w 315"/>
              <a:gd name="T3" fmla="*/ 133567166 h 131"/>
              <a:gd name="T4" fmla="*/ 264615348 w 315"/>
              <a:gd name="T5" fmla="*/ 42841759 h 131"/>
              <a:gd name="T6" fmla="*/ 370461805 w 315"/>
              <a:gd name="T7" fmla="*/ 5040300 h 131"/>
              <a:gd name="T8" fmla="*/ 506550106 w 315"/>
              <a:gd name="T9" fmla="*/ 5040300 h 131"/>
              <a:gd name="T10" fmla="*/ 597275640 w 315"/>
              <a:gd name="T11" fmla="*/ 42841759 h 131"/>
              <a:gd name="T12" fmla="*/ 703122097 w 315"/>
              <a:gd name="T13" fmla="*/ 118446265 h 131"/>
              <a:gd name="T14" fmla="*/ 763605786 w 315"/>
              <a:gd name="T15" fmla="*/ 231853818 h 131"/>
              <a:gd name="T16" fmla="*/ 793847631 w 315"/>
              <a:gd name="T17" fmla="*/ 330138881 h 13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5" h="131">
                <a:moveTo>
                  <a:pt x="0" y="119"/>
                </a:moveTo>
                <a:cubicBezTo>
                  <a:pt x="9" y="108"/>
                  <a:pt x="37" y="70"/>
                  <a:pt x="54" y="53"/>
                </a:cubicBezTo>
                <a:cubicBezTo>
                  <a:pt x="71" y="36"/>
                  <a:pt x="89" y="25"/>
                  <a:pt x="105" y="17"/>
                </a:cubicBezTo>
                <a:cubicBezTo>
                  <a:pt x="121" y="9"/>
                  <a:pt x="131" y="4"/>
                  <a:pt x="147" y="2"/>
                </a:cubicBezTo>
                <a:cubicBezTo>
                  <a:pt x="163" y="0"/>
                  <a:pt x="186" y="0"/>
                  <a:pt x="201" y="2"/>
                </a:cubicBezTo>
                <a:cubicBezTo>
                  <a:pt x="216" y="4"/>
                  <a:pt x="224" y="10"/>
                  <a:pt x="237" y="17"/>
                </a:cubicBezTo>
                <a:cubicBezTo>
                  <a:pt x="250" y="24"/>
                  <a:pt x="268" y="35"/>
                  <a:pt x="279" y="47"/>
                </a:cubicBezTo>
                <a:cubicBezTo>
                  <a:pt x="290" y="59"/>
                  <a:pt x="297" y="78"/>
                  <a:pt x="303" y="92"/>
                </a:cubicBezTo>
                <a:cubicBezTo>
                  <a:pt x="309" y="106"/>
                  <a:pt x="313" y="123"/>
                  <a:pt x="315" y="131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sm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50" name="Freeform 14"/>
          <p:cNvSpPr/>
          <p:nvPr/>
        </p:nvSpPr>
        <p:spPr bwMode="auto">
          <a:xfrm>
            <a:off x="6438900" y="3149600"/>
            <a:ext cx="587375" cy="223838"/>
          </a:xfrm>
          <a:custGeom>
            <a:avLst/>
            <a:gdLst>
              <a:gd name="T0" fmla="*/ 0 w 370"/>
              <a:gd name="T1" fmla="*/ 115927446 h 141"/>
              <a:gd name="T2" fmla="*/ 156249688 w 370"/>
              <a:gd name="T3" fmla="*/ 262096835 h 141"/>
              <a:gd name="T4" fmla="*/ 272176875 w 370"/>
              <a:gd name="T5" fmla="*/ 322580721 h 141"/>
              <a:gd name="T6" fmla="*/ 418345938 w 370"/>
              <a:gd name="T7" fmla="*/ 352822663 h 141"/>
              <a:gd name="T8" fmla="*/ 539313438 w 370"/>
              <a:gd name="T9" fmla="*/ 342742016 h 141"/>
              <a:gd name="T10" fmla="*/ 660280938 w 370"/>
              <a:gd name="T11" fmla="*/ 312500073 h 141"/>
              <a:gd name="T12" fmla="*/ 771167813 w 370"/>
              <a:gd name="T13" fmla="*/ 231854893 h 141"/>
              <a:gd name="T14" fmla="*/ 892135313 w 370"/>
              <a:gd name="T15" fmla="*/ 100806475 h 141"/>
              <a:gd name="T16" fmla="*/ 932457813 w 370"/>
              <a:gd name="T17" fmla="*/ 0 h 14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70" h="141">
                <a:moveTo>
                  <a:pt x="0" y="46"/>
                </a:moveTo>
                <a:cubicBezTo>
                  <a:pt x="10" y="56"/>
                  <a:pt x="44" y="90"/>
                  <a:pt x="62" y="104"/>
                </a:cubicBezTo>
                <a:cubicBezTo>
                  <a:pt x="80" y="118"/>
                  <a:pt x="91" y="122"/>
                  <a:pt x="108" y="128"/>
                </a:cubicBezTo>
                <a:cubicBezTo>
                  <a:pt x="125" y="134"/>
                  <a:pt x="148" y="139"/>
                  <a:pt x="166" y="140"/>
                </a:cubicBezTo>
                <a:cubicBezTo>
                  <a:pt x="184" y="141"/>
                  <a:pt x="198" y="139"/>
                  <a:pt x="214" y="136"/>
                </a:cubicBezTo>
                <a:cubicBezTo>
                  <a:pt x="230" y="133"/>
                  <a:pt x="247" y="131"/>
                  <a:pt x="262" y="124"/>
                </a:cubicBezTo>
                <a:cubicBezTo>
                  <a:pt x="277" y="117"/>
                  <a:pt x="291" y="106"/>
                  <a:pt x="306" y="92"/>
                </a:cubicBezTo>
                <a:cubicBezTo>
                  <a:pt x="321" y="78"/>
                  <a:pt x="343" y="55"/>
                  <a:pt x="354" y="40"/>
                </a:cubicBezTo>
                <a:cubicBezTo>
                  <a:pt x="365" y="25"/>
                  <a:pt x="367" y="8"/>
                  <a:pt x="370" y="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sm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7951" name="Group 15"/>
          <p:cNvGrpSpPr/>
          <p:nvPr/>
        </p:nvGrpSpPr>
        <p:grpSpPr bwMode="auto">
          <a:xfrm>
            <a:off x="381000" y="1974850"/>
            <a:ext cx="8509000" cy="4360863"/>
            <a:chOff x="240" y="1244"/>
            <a:chExt cx="5360" cy="2747"/>
          </a:xfrm>
        </p:grpSpPr>
        <p:sp>
          <p:nvSpPr>
            <p:cNvPr id="50211" name="Text Box 16"/>
            <p:cNvSpPr txBox="1">
              <a:spLocks noChangeArrowheads="1"/>
            </p:cNvSpPr>
            <p:nvPr/>
          </p:nvSpPr>
          <p:spPr bwMode="auto">
            <a:xfrm>
              <a:off x="240" y="1244"/>
              <a:ext cx="2236" cy="2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宋体" panose="02010600030101010101" pitchFamily="2" charset="-122"/>
                </a:rPr>
                <a:t>    </a:t>
              </a:r>
              <a:r>
                <a:rPr lang="zh-CN" altLang="en-US" sz="2800">
                  <a:latin typeface="宋体" panose="02010600030101010101" pitchFamily="2" charset="-122"/>
                </a:rPr>
                <a:t>如图所示，当主动齿轮逆时针转动，从动齿轮顺时针转动时，齿轮啮合区右边的压力降低，油池中的油在大气压力作用下，从进油口进入泵腔内。随着齿轮的转</a:t>
              </a:r>
            </a:p>
          </p:txBody>
        </p:sp>
        <p:sp>
          <p:nvSpPr>
            <p:cNvPr id="50212" name="Text Box 17"/>
            <p:cNvSpPr txBox="1">
              <a:spLocks noChangeArrowheads="1"/>
            </p:cNvSpPr>
            <p:nvPr/>
          </p:nvSpPr>
          <p:spPr bwMode="auto">
            <a:xfrm>
              <a:off x="240" y="3395"/>
              <a:ext cx="536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动，齿槽中的油不断沿箭头方向被轮齿带到左边，高压油从出油口送到输油系统。</a:t>
              </a:r>
              <a:endParaRPr lang="zh-CN" altLang="en-US">
                <a:latin typeface="宋体" panose="02010600030101010101" pitchFamily="2" charset="-122"/>
              </a:endParaRPr>
            </a:p>
          </p:txBody>
        </p:sp>
      </p:grpSp>
      <p:grpSp>
        <p:nvGrpSpPr>
          <p:cNvPr id="167954" name="Group 18"/>
          <p:cNvGrpSpPr/>
          <p:nvPr/>
        </p:nvGrpSpPr>
        <p:grpSpPr bwMode="auto">
          <a:xfrm>
            <a:off x="5572125" y="2317750"/>
            <a:ext cx="727075" cy="444500"/>
            <a:chOff x="3510" y="1460"/>
            <a:chExt cx="458" cy="280"/>
          </a:xfrm>
        </p:grpSpPr>
        <p:sp>
          <p:nvSpPr>
            <p:cNvPr id="50209" name="Freeform 19"/>
            <p:cNvSpPr/>
            <p:nvPr/>
          </p:nvSpPr>
          <p:spPr bwMode="auto">
            <a:xfrm>
              <a:off x="3540" y="1460"/>
              <a:ext cx="428" cy="193"/>
            </a:xfrm>
            <a:custGeom>
              <a:avLst/>
              <a:gdLst>
                <a:gd name="T0" fmla="*/ 428 w 428"/>
                <a:gd name="T1" fmla="*/ 0 h 193"/>
                <a:gd name="T2" fmla="*/ 392 w 428"/>
                <a:gd name="T3" fmla="*/ 60 h 193"/>
                <a:gd name="T4" fmla="*/ 340 w 428"/>
                <a:gd name="T5" fmla="*/ 96 h 193"/>
                <a:gd name="T6" fmla="*/ 244 w 428"/>
                <a:gd name="T7" fmla="*/ 132 h 193"/>
                <a:gd name="T8" fmla="*/ 140 w 428"/>
                <a:gd name="T9" fmla="*/ 164 h 193"/>
                <a:gd name="T10" fmla="*/ 0 w 428"/>
                <a:gd name="T11" fmla="*/ 193 h 1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193">
                  <a:moveTo>
                    <a:pt x="428" y="0"/>
                  </a:moveTo>
                  <a:cubicBezTo>
                    <a:pt x="422" y="10"/>
                    <a:pt x="407" y="44"/>
                    <a:pt x="392" y="60"/>
                  </a:cubicBezTo>
                  <a:cubicBezTo>
                    <a:pt x="377" y="76"/>
                    <a:pt x="365" y="84"/>
                    <a:pt x="340" y="96"/>
                  </a:cubicBezTo>
                  <a:cubicBezTo>
                    <a:pt x="315" y="108"/>
                    <a:pt x="277" y="121"/>
                    <a:pt x="244" y="132"/>
                  </a:cubicBezTo>
                  <a:cubicBezTo>
                    <a:pt x="211" y="143"/>
                    <a:pt x="181" y="154"/>
                    <a:pt x="140" y="164"/>
                  </a:cubicBezTo>
                  <a:cubicBezTo>
                    <a:pt x="99" y="174"/>
                    <a:pt x="29" y="187"/>
                    <a:pt x="0" y="193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0" name="Freeform 20"/>
            <p:cNvSpPr/>
            <p:nvPr/>
          </p:nvSpPr>
          <p:spPr bwMode="auto">
            <a:xfrm>
              <a:off x="3510" y="1632"/>
              <a:ext cx="458" cy="108"/>
            </a:xfrm>
            <a:custGeom>
              <a:avLst/>
              <a:gdLst>
                <a:gd name="T0" fmla="*/ 0 w 458"/>
                <a:gd name="T1" fmla="*/ 27 h 108"/>
                <a:gd name="T2" fmla="*/ 138 w 458"/>
                <a:gd name="T3" fmla="*/ 4 h 108"/>
                <a:gd name="T4" fmla="*/ 246 w 458"/>
                <a:gd name="T5" fmla="*/ 4 h 108"/>
                <a:gd name="T6" fmla="*/ 358 w 458"/>
                <a:gd name="T7" fmla="*/ 24 h 108"/>
                <a:gd name="T8" fmla="*/ 458 w 458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8" h="108">
                  <a:moveTo>
                    <a:pt x="0" y="27"/>
                  </a:moveTo>
                  <a:cubicBezTo>
                    <a:pt x="23" y="24"/>
                    <a:pt x="97" y="8"/>
                    <a:pt x="138" y="4"/>
                  </a:cubicBezTo>
                  <a:cubicBezTo>
                    <a:pt x="179" y="0"/>
                    <a:pt x="209" y="1"/>
                    <a:pt x="246" y="4"/>
                  </a:cubicBezTo>
                  <a:cubicBezTo>
                    <a:pt x="283" y="7"/>
                    <a:pt x="323" y="7"/>
                    <a:pt x="358" y="24"/>
                  </a:cubicBezTo>
                  <a:cubicBezTo>
                    <a:pt x="393" y="41"/>
                    <a:pt x="437" y="90"/>
                    <a:pt x="458" y="108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7957" name="Group 21"/>
          <p:cNvGrpSpPr/>
          <p:nvPr/>
        </p:nvGrpSpPr>
        <p:grpSpPr bwMode="auto">
          <a:xfrm>
            <a:off x="6276975" y="1528763"/>
            <a:ext cx="985838" cy="881062"/>
            <a:chOff x="3954" y="963"/>
            <a:chExt cx="621" cy="555"/>
          </a:xfrm>
        </p:grpSpPr>
        <p:sp>
          <p:nvSpPr>
            <p:cNvPr id="50201" name="Freeform 22"/>
            <p:cNvSpPr/>
            <p:nvPr/>
          </p:nvSpPr>
          <p:spPr bwMode="auto">
            <a:xfrm>
              <a:off x="4497" y="1359"/>
              <a:ext cx="39" cy="159"/>
            </a:xfrm>
            <a:custGeom>
              <a:avLst/>
              <a:gdLst>
                <a:gd name="T0" fmla="*/ 15 w 39"/>
                <a:gd name="T1" fmla="*/ 159 h 159"/>
                <a:gd name="T2" fmla="*/ 0 w 39"/>
                <a:gd name="T3" fmla="*/ 126 h 159"/>
                <a:gd name="T4" fmla="*/ 15 w 39"/>
                <a:gd name="T5" fmla="*/ 78 h 159"/>
                <a:gd name="T6" fmla="*/ 39 w 39"/>
                <a:gd name="T7" fmla="*/ 0 h 1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159">
                  <a:moveTo>
                    <a:pt x="15" y="159"/>
                  </a:moveTo>
                  <a:cubicBezTo>
                    <a:pt x="13" y="154"/>
                    <a:pt x="0" y="139"/>
                    <a:pt x="0" y="126"/>
                  </a:cubicBezTo>
                  <a:cubicBezTo>
                    <a:pt x="0" y="113"/>
                    <a:pt x="8" y="99"/>
                    <a:pt x="15" y="78"/>
                  </a:cubicBezTo>
                  <a:cubicBezTo>
                    <a:pt x="22" y="57"/>
                    <a:pt x="34" y="16"/>
                    <a:pt x="39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2" name="Freeform 23"/>
            <p:cNvSpPr/>
            <p:nvPr/>
          </p:nvSpPr>
          <p:spPr bwMode="auto">
            <a:xfrm rot="-1192357">
              <a:off x="4518" y="1173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3" name="Freeform 24"/>
            <p:cNvSpPr/>
            <p:nvPr/>
          </p:nvSpPr>
          <p:spPr bwMode="auto">
            <a:xfrm rot="-3200451">
              <a:off x="4485" y="1032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4" name="Freeform 25"/>
            <p:cNvSpPr/>
            <p:nvPr/>
          </p:nvSpPr>
          <p:spPr bwMode="auto">
            <a:xfrm rot="-5002393">
              <a:off x="4398" y="945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5" name="Freeform 26"/>
            <p:cNvSpPr/>
            <p:nvPr/>
          </p:nvSpPr>
          <p:spPr bwMode="auto">
            <a:xfrm rot="-6935737">
              <a:off x="4272" y="921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6" name="Freeform 27"/>
            <p:cNvSpPr/>
            <p:nvPr/>
          </p:nvSpPr>
          <p:spPr bwMode="auto">
            <a:xfrm rot="-8665794">
              <a:off x="4122" y="972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7" name="Freeform 28"/>
            <p:cNvSpPr/>
            <p:nvPr/>
          </p:nvSpPr>
          <p:spPr bwMode="auto">
            <a:xfrm rot="10218113">
              <a:off x="3954" y="1221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8" name="Freeform 29"/>
            <p:cNvSpPr/>
            <p:nvPr/>
          </p:nvSpPr>
          <p:spPr bwMode="auto">
            <a:xfrm rot="-9937764">
              <a:off x="4026" y="1071"/>
              <a:ext cx="48" cy="132"/>
            </a:xfrm>
            <a:custGeom>
              <a:avLst/>
              <a:gdLst>
                <a:gd name="T0" fmla="*/ 0 w 30"/>
                <a:gd name="T1" fmla="*/ 207 h 84"/>
                <a:gd name="T2" fmla="*/ 46 w 30"/>
                <a:gd name="T3" fmla="*/ 112 h 84"/>
                <a:gd name="T4" fmla="*/ 77 w 3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0" y="84"/>
                  </a:moveTo>
                  <a:cubicBezTo>
                    <a:pt x="6" y="71"/>
                    <a:pt x="13" y="59"/>
                    <a:pt x="18" y="45"/>
                  </a:cubicBezTo>
                  <a:cubicBezTo>
                    <a:pt x="23" y="31"/>
                    <a:pt x="28" y="7"/>
                    <a:pt x="3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7966" name="Group 30"/>
          <p:cNvGrpSpPr/>
          <p:nvPr/>
        </p:nvGrpSpPr>
        <p:grpSpPr bwMode="auto">
          <a:xfrm>
            <a:off x="6280150" y="2425700"/>
            <a:ext cx="950913" cy="1162050"/>
            <a:chOff x="3956" y="1528"/>
            <a:chExt cx="599" cy="732"/>
          </a:xfrm>
        </p:grpSpPr>
        <p:sp>
          <p:nvSpPr>
            <p:cNvPr id="50191" name="Freeform 31"/>
            <p:cNvSpPr/>
            <p:nvPr/>
          </p:nvSpPr>
          <p:spPr bwMode="auto">
            <a:xfrm>
              <a:off x="4476" y="1528"/>
              <a:ext cx="59" cy="148"/>
            </a:xfrm>
            <a:custGeom>
              <a:avLst/>
              <a:gdLst>
                <a:gd name="T0" fmla="*/ 59 w 59"/>
                <a:gd name="T1" fmla="*/ 0 h 148"/>
                <a:gd name="T2" fmla="*/ 27 w 59"/>
                <a:gd name="T3" fmla="*/ 24 h 148"/>
                <a:gd name="T4" fmla="*/ 7 w 59"/>
                <a:gd name="T5" fmla="*/ 56 h 148"/>
                <a:gd name="T6" fmla="*/ 3 w 59"/>
                <a:gd name="T7" fmla="*/ 100 h 148"/>
                <a:gd name="T8" fmla="*/ 23 w 59"/>
                <a:gd name="T9" fmla="*/ 148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148">
                  <a:moveTo>
                    <a:pt x="59" y="0"/>
                  </a:moveTo>
                  <a:cubicBezTo>
                    <a:pt x="54" y="5"/>
                    <a:pt x="36" y="15"/>
                    <a:pt x="27" y="24"/>
                  </a:cubicBezTo>
                  <a:cubicBezTo>
                    <a:pt x="18" y="33"/>
                    <a:pt x="11" y="43"/>
                    <a:pt x="7" y="56"/>
                  </a:cubicBezTo>
                  <a:cubicBezTo>
                    <a:pt x="3" y="69"/>
                    <a:pt x="0" y="85"/>
                    <a:pt x="3" y="100"/>
                  </a:cubicBezTo>
                  <a:cubicBezTo>
                    <a:pt x="6" y="115"/>
                    <a:pt x="19" y="138"/>
                    <a:pt x="23" y="148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2" name="Freeform 32"/>
            <p:cNvSpPr/>
            <p:nvPr/>
          </p:nvSpPr>
          <p:spPr bwMode="auto">
            <a:xfrm rot="407964">
              <a:off x="3963" y="2080"/>
              <a:ext cx="84" cy="118"/>
            </a:xfrm>
            <a:custGeom>
              <a:avLst/>
              <a:gdLst>
                <a:gd name="T0" fmla="*/ 84 w 84"/>
                <a:gd name="T1" fmla="*/ 118 h 118"/>
                <a:gd name="T2" fmla="*/ 36 w 84"/>
                <a:gd name="T3" fmla="*/ 68 h 118"/>
                <a:gd name="T4" fmla="*/ 0 w 84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118">
                  <a:moveTo>
                    <a:pt x="84" y="118"/>
                  </a:moveTo>
                  <a:cubicBezTo>
                    <a:pt x="76" y="110"/>
                    <a:pt x="50" y="88"/>
                    <a:pt x="36" y="68"/>
                  </a:cubicBezTo>
                  <a:cubicBezTo>
                    <a:pt x="22" y="48"/>
                    <a:pt x="7" y="14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3" name="Freeform 33"/>
            <p:cNvSpPr/>
            <p:nvPr/>
          </p:nvSpPr>
          <p:spPr bwMode="auto">
            <a:xfrm rot="191663">
              <a:off x="3956" y="1937"/>
              <a:ext cx="19" cy="139"/>
            </a:xfrm>
            <a:custGeom>
              <a:avLst/>
              <a:gdLst>
                <a:gd name="T0" fmla="*/ 19 w 19"/>
                <a:gd name="T1" fmla="*/ 139 h 139"/>
                <a:gd name="T2" fmla="*/ 4 w 19"/>
                <a:gd name="T3" fmla="*/ 76 h 139"/>
                <a:gd name="T4" fmla="*/ 0 w 19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9">
                  <a:moveTo>
                    <a:pt x="19" y="139"/>
                  </a:moveTo>
                  <a:cubicBezTo>
                    <a:pt x="17" y="129"/>
                    <a:pt x="7" y="99"/>
                    <a:pt x="4" y="76"/>
                  </a:cubicBezTo>
                  <a:cubicBezTo>
                    <a:pt x="1" y="53"/>
                    <a:pt x="1" y="16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4" name="Freeform 34"/>
            <p:cNvSpPr/>
            <p:nvPr/>
          </p:nvSpPr>
          <p:spPr bwMode="auto">
            <a:xfrm rot="-198798">
              <a:off x="4036" y="2191"/>
              <a:ext cx="123" cy="69"/>
            </a:xfrm>
            <a:custGeom>
              <a:avLst/>
              <a:gdLst>
                <a:gd name="T0" fmla="*/ 123 w 123"/>
                <a:gd name="T1" fmla="*/ 69 h 69"/>
                <a:gd name="T2" fmla="*/ 65 w 123"/>
                <a:gd name="T3" fmla="*/ 47 h 69"/>
                <a:gd name="T4" fmla="*/ 0 w 123"/>
                <a:gd name="T5" fmla="*/ 0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3" h="69">
                  <a:moveTo>
                    <a:pt x="123" y="69"/>
                  </a:moveTo>
                  <a:cubicBezTo>
                    <a:pt x="113" y="65"/>
                    <a:pt x="85" y="58"/>
                    <a:pt x="65" y="47"/>
                  </a:cubicBezTo>
                  <a:cubicBezTo>
                    <a:pt x="45" y="36"/>
                    <a:pt x="14" y="10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5" name="Freeform 35"/>
            <p:cNvSpPr/>
            <p:nvPr/>
          </p:nvSpPr>
          <p:spPr bwMode="auto">
            <a:xfrm>
              <a:off x="4524" y="1869"/>
              <a:ext cx="27" cy="135"/>
            </a:xfrm>
            <a:custGeom>
              <a:avLst/>
              <a:gdLst>
                <a:gd name="T0" fmla="*/ 27 w 27"/>
                <a:gd name="T1" fmla="*/ 0 h 135"/>
                <a:gd name="T2" fmla="*/ 21 w 27"/>
                <a:gd name="T3" fmla="*/ 63 h 135"/>
                <a:gd name="T4" fmla="*/ 0 w 27"/>
                <a:gd name="T5" fmla="*/ 135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35">
                  <a:moveTo>
                    <a:pt x="27" y="0"/>
                  </a:moveTo>
                  <a:cubicBezTo>
                    <a:pt x="26" y="11"/>
                    <a:pt x="25" y="41"/>
                    <a:pt x="21" y="63"/>
                  </a:cubicBezTo>
                  <a:cubicBezTo>
                    <a:pt x="17" y="85"/>
                    <a:pt x="4" y="120"/>
                    <a:pt x="0" y="135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6" name="Freeform 36"/>
            <p:cNvSpPr/>
            <p:nvPr/>
          </p:nvSpPr>
          <p:spPr bwMode="auto">
            <a:xfrm rot="-433225">
              <a:off x="4548" y="1710"/>
              <a:ext cx="7" cy="129"/>
            </a:xfrm>
            <a:custGeom>
              <a:avLst/>
              <a:gdLst>
                <a:gd name="T0" fmla="*/ 6 w 7"/>
                <a:gd name="T1" fmla="*/ 0 h 129"/>
                <a:gd name="T2" fmla="*/ 6 w 7"/>
                <a:gd name="T3" fmla="*/ 63 h 129"/>
                <a:gd name="T4" fmla="*/ 0 w 7"/>
                <a:gd name="T5" fmla="*/ 129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9">
                  <a:moveTo>
                    <a:pt x="6" y="0"/>
                  </a:moveTo>
                  <a:cubicBezTo>
                    <a:pt x="6" y="10"/>
                    <a:pt x="7" y="42"/>
                    <a:pt x="6" y="63"/>
                  </a:cubicBezTo>
                  <a:cubicBezTo>
                    <a:pt x="5" y="84"/>
                    <a:pt x="1" y="115"/>
                    <a:pt x="0" y="12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7" name="Freeform 37"/>
            <p:cNvSpPr/>
            <p:nvPr/>
          </p:nvSpPr>
          <p:spPr bwMode="auto">
            <a:xfrm rot="1479530">
              <a:off x="4466" y="2009"/>
              <a:ext cx="25" cy="139"/>
            </a:xfrm>
            <a:custGeom>
              <a:avLst/>
              <a:gdLst>
                <a:gd name="T0" fmla="*/ 25 w 25"/>
                <a:gd name="T1" fmla="*/ 0 h 139"/>
                <a:gd name="T2" fmla="*/ 19 w 25"/>
                <a:gd name="T3" fmla="*/ 61 h 139"/>
                <a:gd name="T4" fmla="*/ 0 w 25"/>
                <a:gd name="T5" fmla="*/ 139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39">
                  <a:moveTo>
                    <a:pt x="25" y="0"/>
                  </a:moveTo>
                  <a:cubicBezTo>
                    <a:pt x="24" y="10"/>
                    <a:pt x="23" y="38"/>
                    <a:pt x="19" y="61"/>
                  </a:cubicBezTo>
                  <a:cubicBezTo>
                    <a:pt x="15" y="84"/>
                    <a:pt x="4" y="123"/>
                    <a:pt x="0" y="13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8" name="Freeform 38"/>
            <p:cNvSpPr/>
            <p:nvPr/>
          </p:nvSpPr>
          <p:spPr bwMode="auto">
            <a:xfrm rot="2440225">
              <a:off x="4367" y="2108"/>
              <a:ext cx="26" cy="139"/>
            </a:xfrm>
            <a:custGeom>
              <a:avLst/>
              <a:gdLst>
                <a:gd name="T0" fmla="*/ 25 w 26"/>
                <a:gd name="T1" fmla="*/ 0 h 139"/>
                <a:gd name="T2" fmla="*/ 22 w 26"/>
                <a:gd name="T3" fmla="*/ 67 h 139"/>
                <a:gd name="T4" fmla="*/ 0 w 26"/>
                <a:gd name="T5" fmla="*/ 139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39">
                  <a:moveTo>
                    <a:pt x="25" y="0"/>
                  </a:moveTo>
                  <a:cubicBezTo>
                    <a:pt x="25" y="11"/>
                    <a:pt x="26" y="44"/>
                    <a:pt x="22" y="67"/>
                  </a:cubicBezTo>
                  <a:cubicBezTo>
                    <a:pt x="18" y="90"/>
                    <a:pt x="5" y="124"/>
                    <a:pt x="0" y="13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9" name="Freeform 39"/>
            <p:cNvSpPr/>
            <p:nvPr/>
          </p:nvSpPr>
          <p:spPr bwMode="auto">
            <a:xfrm>
              <a:off x="3963" y="1779"/>
              <a:ext cx="6" cy="150"/>
            </a:xfrm>
            <a:custGeom>
              <a:avLst/>
              <a:gdLst>
                <a:gd name="T0" fmla="*/ 6 w 6"/>
                <a:gd name="T1" fmla="*/ 0 h 150"/>
                <a:gd name="T2" fmla="*/ 3 w 6"/>
                <a:gd name="T3" fmla="*/ 57 h 150"/>
                <a:gd name="T4" fmla="*/ 0 w 6"/>
                <a:gd name="T5" fmla="*/ 111 h 150"/>
                <a:gd name="T6" fmla="*/ 3 w 6"/>
                <a:gd name="T7" fmla="*/ 150 h 1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0">
                  <a:moveTo>
                    <a:pt x="6" y="0"/>
                  </a:moveTo>
                  <a:cubicBezTo>
                    <a:pt x="4" y="19"/>
                    <a:pt x="4" y="39"/>
                    <a:pt x="3" y="57"/>
                  </a:cubicBezTo>
                  <a:cubicBezTo>
                    <a:pt x="2" y="75"/>
                    <a:pt x="0" y="96"/>
                    <a:pt x="0" y="111"/>
                  </a:cubicBezTo>
                  <a:cubicBezTo>
                    <a:pt x="0" y="126"/>
                    <a:pt x="2" y="142"/>
                    <a:pt x="3" y="15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triangle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0" name="Freeform 40"/>
            <p:cNvSpPr/>
            <p:nvPr/>
          </p:nvSpPr>
          <p:spPr bwMode="auto">
            <a:xfrm rot="4179051">
              <a:off x="4229" y="2171"/>
              <a:ext cx="26" cy="139"/>
            </a:xfrm>
            <a:custGeom>
              <a:avLst/>
              <a:gdLst>
                <a:gd name="T0" fmla="*/ 25 w 26"/>
                <a:gd name="T1" fmla="*/ 0 h 139"/>
                <a:gd name="T2" fmla="*/ 22 w 26"/>
                <a:gd name="T3" fmla="*/ 67 h 139"/>
                <a:gd name="T4" fmla="*/ 0 w 26"/>
                <a:gd name="T5" fmla="*/ 139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39">
                  <a:moveTo>
                    <a:pt x="25" y="0"/>
                  </a:moveTo>
                  <a:cubicBezTo>
                    <a:pt x="25" y="11"/>
                    <a:pt x="26" y="44"/>
                    <a:pt x="22" y="67"/>
                  </a:cubicBezTo>
                  <a:cubicBezTo>
                    <a:pt x="18" y="90"/>
                    <a:pt x="5" y="124"/>
                    <a:pt x="0" y="13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6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6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6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配图齿轮泵原理.avi">
            <a:hlinkClick r:id="" action="ppaction://media"/>
          </p:cNvPr>
          <p:cNvPicPr>
            <a:picLocks noRot="1"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244475"/>
            <a:ext cx="8493125" cy="636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574675" y="1193800"/>
            <a:ext cx="8281988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分析部件的装配关系，要弄清零件之间的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配合关系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连接固定方式</a:t>
            </a:r>
            <a:r>
              <a:rPr lang="zh-CN" altLang="en-US">
                <a:latin typeface="宋体" panose="02010600030101010101" pitchFamily="2" charset="-122"/>
              </a:rPr>
              <a:t>等。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180975" y="450850"/>
            <a:ext cx="8043863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⒊ </a:t>
            </a:r>
            <a:r>
              <a:rPr lang="zh-CN" altLang="en-US" sz="3600">
                <a:solidFill>
                  <a:schemeClr val="accent2"/>
                </a:solidFill>
                <a:latin typeface="宋体" panose="02010600030101010101" pitchFamily="2" charset="-122"/>
              </a:rPr>
              <a:t>分析零件间的装配关系和部件结构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574675" y="3100388"/>
            <a:ext cx="8294688" cy="148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可根据图中配合尺寸的配合代号，判别零件的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配合制、配合种类</a:t>
            </a:r>
            <a:r>
              <a:rPr lang="zh-CN" altLang="en-US">
                <a:latin typeface="宋体" panose="02010600030101010101" pitchFamily="2" charset="-122"/>
              </a:rPr>
              <a:t>及轴、孔的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公差等级</a:t>
            </a:r>
            <a:r>
              <a:rPr lang="zh-CN" altLang="en-US">
                <a:latin typeface="宋体" panose="02010600030101010101" pitchFamily="2" charset="-122"/>
              </a:rPr>
              <a:t>等。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574675" y="2336800"/>
            <a:ext cx="29908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rgbClr val="9900FF"/>
                </a:solidFill>
                <a:latin typeface="宋体" panose="02010600030101010101" pitchFamily="2" charset="-122"/>
              </a:rPr>
              <a:t>⑴ </a:t>
            </a:r>
            <a:r>
              <a:rPr lang="zh-CN" altLang="en-US" sz="3600">
                <a:solidFill>
                  <a:srgbClr val="9900FF"/>
                </a:solidFill>
                <a:latin typeface="宋体" panose="02010600030101010101" pitchFamily="2" charset="-122"/>
              </a:rPr>
              <a:t>配合关系</a:t>
            </a: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574675" y="4662488"/>
            <a:ext cx="834707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齿轮油泵有主动齿轮轴系和从动齿轮轴系两条装配线。</a:t>
            </a:r>
            <a:endParaRPr lang="zh-CN" altLang="en-US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479425" y="336550"/>
            <a:ext cx="780732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zh-CN" altLang="zh-CN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utoUpdateAnimBg="0"/>
      <p:bldP spid="70660" grpId="0" autoUpdateAnimBg="0"/>
      <p:bldP spid="70661" grpId="0" autoUpdateAnimBg="0"/>
      <p:bldP spid="7066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7812088" y="1611313"/>
            <a:ext cx="809625" cy="1520825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50000">
                <a:srgbClr val="FFFFFF"/>
              </a:gs>
              <a:gs pos="100000">
                <a:srgbClr val="FF3300"/>
              </a:gs>
            </a:gsLst>
            <a:lin ang="0" scaled="1"/>
          </a:gradFill>
          <a:ln w="76200">
            <a:pattFill prst="sphere">
              <a:fgClr>
                <a:srgbClr val="3333CC"/>
              </a:fgClr>
              <a:bgClr>
                <a:srgbClr val="FFFFFF"/>
              </a:bgClr>
            </a:patt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3333CC"/>
                </a:solidFill>
              </a:rPr>
              <a:t>主视图</a:t>
            </a:r>
            <a:endParaRPr lang="zh-CN" altLang="en-US" sz="3600">
              <a:solidFill>
                <a:srgbClr val="FF3300"/>
              </a:solidFill>
            </a:endParaRPr>
          </a:p>
        </p:txBody>
      </p:sp>
      <p:pic>
        <p:nvPicPr>
          <p:cNvPr id="53251" name="Picture 3" descr="10-18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65100"/>
            <a:ext cx="8788400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9748" name="Group 4"/>
          <p:cNvGrpSpPr/>
          <p:nvPr/>
        </p:nvGrpSpPr>
        <p:grpSpPr bwMode="auto">
          <a:xfrm>
            <a:off x="246063" y="228600"/>
            <a:ext cx="8688387" cy="6103938"/>
            <a:chOff x="155" y="144"/>
            <a:chExt cx="5473" cy="3845"/>
          </a:xfrm>
        </p:grpSpPr>
        <p:sp>
          <p:nvSpPr>
            <p:cNvPr id="53265" name="Rectangle 5"/>
            <p:cNvSpPr>
              <a:spLocks noChangeArrowheads="1"/>
            </p:cNvSpPr>
            <p:nvPr/>
          </p:nvSpPr>
          <p:spPr bwMode="auto">
            <a:xfrm>
              <a:off x="155" y="144"/>
              <a:ext cx="5473" cy="3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pic>
          <p:nvPicPr>
            <p:cNvPr id="53266" name="Picture 6" descr="10-18c-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" y="203"/>
              <a:ext cx="4522" cy="3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9751" name="AutoShape 7"/>
          <p:cNvSpPr>
            <a:spLocks noChangeArrowheads="1"/>
          </p:cNvSpPr>
          <p:nvPr/>
        </p:nvSpPr>
        <p:spPr bwMode="auto">
          <a:xfrm rot="-6276476">
            <a:off x="5133181" y="2069307"/>
            <a:ext cx="236537" cy="698500"/>
          </a:xfrm>
          <a:prstGeom prst="upArrow">
            <a:avLst>
              <a:gd name="adj1" fmla="val 50000"/>
              <a:gd name="adj2" fmla="val 73826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59752" name="AutoShape 8"/>
          <p:cNvSpPr>
            <a:spLocks noChangeArrowheads="1"/>
          </p:cNvSpPr>
          <p:nvPr/>
        </p:nvSpPr>
        <p:spPr bwMode="auto">
          <a:xfrm rot="-885324">
            <a:off x="1193800" y="4159250"/>
            <a:ext cx="787400" cy="203200"/>
          </a:xfrm>
          <a:prstGeom prst="rightArrow">
            <a:avLst>
              <a:gd name="adj1" fmla="val 50000"/>
              <a:gd name="adj2" fmla="val 96875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59753" name="AutoShape 9"/>
          <p:cNvSpPr>
            <a:spLocks noChangeArrowheads="1"/>
          </p:cNvSpPr>
          <p:nvPr/>
        </p:nvSpPr>
        <p:spPr bwMode="auto">
          <a:xfrm rot="1024969">
            <a:off x="1143000" y="2195513"/>
            <a:ext cx="755650" cy="211137"/>
          </a:xfrm>
          <a:prstGeom prst="rightArrow">
            <a:avLst>
              <a:gd name="adj1" fmla="val 50000"/>
              <a:gd name="adj2" fmla="val 89474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59754" name="AutoShape 10"/>
          <p:cNvSpPr>
            <a:spLocks noChangeArrowheads="1"/>
          </p:cNvSpPr>
          <p:nvPr/>
        </p:nvSpPr>
        <p:spPr bwMode="auto">
          <a:xfrm rot="-3604596">
            <a:off x="4663282" y="3906044"/>
            <a:ext cx="223837" cy="701675"/>
          </a:xfrm>
          <a:prstGeom prst="upArrow">
            <a:avLst>
              <a:gd name="adj1" fmla="val 50000"/>
              <a:gd name="adj2" fmla="val 78369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59755" name="Text Box 11"/>
          <p:cNvSpPr txBox="1">
            <a:spLocks noChangeArrowheads="1"/>
          </p:cNvSpPr>
          <p:nvPr/>
        </p:nvSpPr>
        <p:spPr bwMode="auto">
          <a:xfrm>
            <a:off x="7850188" y="1516063"/>
            <a:ext cx="809625" cy="1520825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50000">
                <a:srgbClr val="FFFFFF"/>
              </a:gs>
              <a:gs pos="100000">
                <a:srgbClr val="FFFF00"/>
              </a:gs>
            </a:gsLst>
            <a:lin ang="0" scaled="1"/>
          </a:gradFill>
          <a:ln w="76200">
            <a:pattFill prst="sphere">
              <a:fgClr>
                <a:srgbClr val="FF3300"/>
              </a:fgClr>
              <a:bgClr>
                <a:srgbClr val="FFFFFF"/>
              </a:bgClr>
            </a:patt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3300"/>
                </a:solidFill>
              </a:rPr>
              <a:t>主视图</a:t>
            </a:r>
          </a:p>
        </p:txBody>
      </p:sp>
      <p:sp>
        <p:nvSpPr>
          <p:cNvPr id="159756" name="Text Box 12"/>
          <p:cNvSpPr txBox="1">
            <a:spLocks noChangeArrowheads="1"/>
          </p:cNvSpPr>
          <p:nvPr/>
        </p:nvSpPr>
        <p:spPr bwMode="auto">
          <a:xfrm>
            <a:off x="230188" y="811213"/>
            <a:ext cx="671512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端盖上轴孔与轴的配合尺寸</a:t>
            </a:r>
          </a:p>
        </p:txBody>
      </p:sp>
      <p:grpSp>
        <p:nvGrpSpPr>
          <p:cNvPr id="159757" name="Group 13"/>
          <p:cNvGrpSpPr/>
          <p:nvPr/>
        </p:nvGrpSpPr>
        <p:grpSpPr bwMode="auto">
          <a:xfrm>
            <a:off x="209550" y="114300"/>
            <a:ext cx="8724900" cy="6172200"/>
            <a:chOff x="132" y="72"/>
            <a:chExt cx="5496" cy="3888"/>
          </a:xfrm>
        </p:grpSpPr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132" y="72"/>
              <a:ext cx="5496" cy="3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pic>
          <p:nvPicPr>
            <p:cNvPr id="53264" name="Picture 15" descr="10-18c-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" y="95"/>
              <a:ext cx="3564" cy="3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9760" name="Text Box 16"/>
          <p:cNvSpPr txBox="1">
            <a:spLocks noChangeArrowheads="1"/>
          </p:cNvSpPr>
          <p:nvPr/>
        </p:nvSpPr>
        <p:spPr bwMode="auto">
          <a:xfrm>
            <a:off x="7716838" y="506413"/>
            <a:ext cx="671512" cy="516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齿顶与泵体内壁的配合尺寸</a:t>
            </a:r>
          </a:p>
        </p:txBody>
      </p:sp>
      <p:sp>
        <p:nvSpPr>
          <p:cNvPr id="159761" name="Text Box 17"/>
          <p:cNvSpPr txBox="1">
            <a:spLocks noChangeArrowheads="1"/>
          </p:cNvSpPr>
          <p:nvPr/>
        </p:nvSpPr>
        <p:spPr bwMode="auto">
          <a:xfrm>
            <a:off x="554038" y="1820863"/>
            <a:ext cx="809625" cy="1520825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50000">
                <a:srgbClr val="FFFFFF"/>
              </a:gs>
              <a:gs pos="100000">
                <a:srgbClr val="FFFF00"/>
              </a:gs>
            </a:gsLst>
            <a:lin ang="0" scaled="1"/>
          </a:gradFill>
          <a:ln w="76200">
            <a:pattFill prst="sphere">
              <a:fgClr>
                <a:srgbClr val="FF3300"/>
              </a:fgClr>
              <a:bgClr>
                <a:srgbClr val="FFFFFF"/>
              </a:bgClr>
            </a:patt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3300"/>
                </a:solidFill>
              </a:rPr>
              <a:t>左视图</a:t>
            </a:r>
          </a:p>
        </p:txBody>
      </p:sp>
      <p:sp>
        <p:nvSpPr>
          <p:cNvPr id="159762" name="AutoShape 18"/>
          <p:cNvSpPr>
            <a:spLocks noChangeArrowheads="1"/>
          </p:cNvSpPr>
          <p:nvPr/>
        </p:nvSpPr>
        <p:spPr bwMode="auto">
          <a:xfrm rot="-1650670">
            <a:off x="6245225" y="503238"/>
            <a:ext cx="231775" cy="714375"/>
          </a:xfrm>
          <a:prstGeom prst="downArrow">
            <a:avLst>
              <a:gd name="adj1" fmla="val 50000"/>
              <a:gd name="adj2" fmla="val 77055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5" grpId="0" animBg="1" autoUpdateAnimBg="0"/>
      <p:bldP spid="159756" grpId="0" autoUpdateAnimBg="0"/>
      <p:bldP spid="159760" grpId="0" autoUpdateAnimBg="0"/>
      <p:bldP spid="15976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WordArt 2"/>
          <p:cNvSpPr>
            <a:spLocks noChangeArrowheads="1" noChangeShapeType="1" noTextEdit="1"/>
          </p:cNvSpPr>
          <p:nvPr/>
        </p:nvSpPr>
        <p:spPr bwMode="auto">
          <a:xfrm>
            <a:off x="911225" y="247650"/>
            <a:ext cx="3221038" cy="587375"/>
          </a:xfrm>
          <a:prstGeom prst="rect">
            <a:avLst/>
          </a:prstGeom>
        </p:spPr>
        <p:txBody>
          <a:bodyPr wrap="none" fromWordArt="1">
            <a:prstTxWarp prst="textCanUp">
              <a:avLst>
                <a:gd name="adj" fmla="val 85713"/>
              </a:avLst>
            </a:prstTxWarp>
          </a:bodyPr>
          <a:lstStyle/>
          <a:p>
            <a:pPr algn="ctr"/>
            <a:r>
              <a:rPr lang="zh-CN" altLang="en-US" sz="3600" i="1" kern="10">
                <a:ln w="9525">
                  <a:solidFill>
                    <a:srgbClr val="FF3300"/>
                  </a:solidFill>
                  <a:round/>
                </a:ln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轴与孔的配合？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216025" y="819150"/>
            <a:ext cx="4521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latin typeface="宋体" panose="02010600030101010101" pitchFamily="2" charset="-122"/>
              </a:rPr>
              <a:t>尺寸为  </a:t>
            </a:r>
            <a:r>
              <a:rPr lang="en-US" altLang="zh-CN" sz="4000">
                <a:solidFill>
                  <a:srgbClr val="FF3300"/>
                </a:solidFill>
                <a:latin typeface="宋体" panose="02010600030101010101" pitchFamily="2" charset="-122"/>
              </a:rPr>
              <a:t>φ16H7/f6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1182688" y="1443038"/>
            <a:ext cx="53736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latin typeface="宋体" panose="02010600030101010101" pitchFamily="2" charset="-122"/>
              </a:rPr>
              <a:t>属基孔制，间隙配合</a:t>
            </a: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923925" y="2198688"/>
            <a:ext cx="78676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latin typeface="宋体" panose="02010600030101010101" pitchFamily="2" charset="-122"/>
              </a:rPr>
              <a:t>    </a:t>
            </a:r>
            <a:r>
              <a:rPr lang="zh-CN" altLang="en-US" sz="4000">
                <a:latin typeface="宋体" panose="02010600030101010101" pitchFamily="2" charset="-122"/>
              </a:rPr>
              <a:t>说明轴在左、右端盖的轴孔内是转动的。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2233613" y="4452938"/>
            <a:ext cx="31464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宋体" panose="02010600030101010101" pitchFamily="2" charset="-122"/>
                <a:sym typeface="黑体" panose="02010609060101010101" pitchFamily="49" charset="-122"/>
              </a:rPr>
              <a:t> </a:t>
            </a:r>
            <a:r>
              <a:rPr lang="en-US" altLang="zh-CN" sz="4000">
                <a:solidFill>
                  <a:srgbClr val="FF3300"/>
                </a:solidFill>
                <a:latin typeface="宋体" panose="02010600030101010101" pitchFamily="2" charset="-122"/>
              </a:rPr>
              <a:t>φ34.5H7/f6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1801813" y="5226050"/>
            <a:ext cx="4260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latin typeface="宋体" panose="02010600030101010101" pitchFamily="2" charset="-122"/>
              </a:rPr>
              <a:t>基孔制，间隙配合</a:t>
            </a:r>
          </a:p>
        </p:txBody>
      </p:sp>
      <p:sp>
        <p:nvSpPr>
          <p:cNvPr id="71689" name="WordArt 9"/>
          <p:cNvSpPr>
            <a:spLocks noChangeArrowheads="1" noChangeShapeType="1" noTextEdit="1"/>
          </p:cNvSpPr>
          <p:nvPr/>
        </p:nvSpPr>
        <p:spPr bwMode="auto">
          <a:xfrm>
            <a:off x="982663" y="3648075"/>
            <a:ext cx="7596187" cy="72866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4574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3333CC"/>
                  </a:solidFill>
                  <a:round/>
                </a:ln>
                <a:solidFill>
                  <a:srgbClr val="3333CC"/>
                </a:solidFill>
                <a:latin typeface="宋体" panose="02010600030101010101" pitchFamily="2" charset="-122"/>
              </a:rPr>
              <a:t>齿轮的齿顶和泵体空腔的内壁间是什么配合？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3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3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utoUpdateAnimBg="0"/>
      <p:bldP spid="71684" grpId="0" autoUpdateAnimBg="0"/>
      <p:bldP spid="71685" grpId="0" autoUpdateAnimBg="0"/>
      <p:bldP spid="71687" grpId="0" autoUpdateAnimBg="0"/>
      <p:bldP spid="7168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028700" y="939800"/>
            <a:ext cx="7745413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弄清零件之间用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什么方式连接</a:t>
            </a:r>
            <a:r>
              <a:rPr lang="zh-CN" altLang="en-US">
                <a:latin typeface="宋体" panose="02010600030101010101" pitchFamily="2" charset="-122"/>
              </a:rPr>
              <a:t>，零件是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如何固定、定位</a:t>
            </a:r>
            <a:r>
              <a:rPr lang="zh-CN" altLang="en-US">
                <a:latin typeface="宋体" panose="02010600030101010101" pitchFamily="2" charset="-122"/>
              </a:rPr>
              <a:t>的。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298450" y="146050"/>
            <a:ext cx="4391025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rgbClr val="9900FF"/>
                </a:solidFill>
                <a:latin typeface="宋体" panose="02010600030101010101" pitchFamily="2" charset="-122"/>
              </a:rPr>
              <a:t>⑵ </a:t>
            </a:r>
            <a:r>
              <a:rPr lang="zh-CN" altLang="en-US" sz="3600">
                <a:solidFill>
                  <a:srgbClr val="9900FF"/>
                </a:solidFill>
                <a:latin typeface="宋体" panose="02010600030101010101" pitchFamily="2" charset="-122"/>
              </a:rPr>
              <a:t>连接和固定方式</a:t>
            </a: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676275" y="2008188"/>
            <a:ext cx="4468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★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左、右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端盖与泵体？</a:t>
            </a: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1906588" y="2541588"/>
            <a:ext cx="5895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用螺钉连接，用销钉准确定位。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65163" y="4773613"/>
            <a:ext cx="48783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★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齿轮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11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在轴上的定位？</a:t>
            </a:r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1906588" y="5307013"/>
            <a:ext cx="7119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用螺母和键在轴向和径向固定、定位。</a:t>
            </a:r>
          </a:p>
        </p:txBody>
      </p: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676275" y="3144838"/>
            <a:ext cx="4468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  <a:sym typeface="Monotype Sorts" panose="05000000000000000000" pitchFamily="2" charset="2"/>
              </a:rPr>
              <a:t>★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齿轮轴的轴向定位？</a:t>
            </a:r>
          </a:p>
        </p:txBody>
      </p:sp>
      <p:sp>
        <p:nvSpPr>
          <p:cNvPr id="72713" name="Text Box 9"/>
          <p:cNvSpPr txBox="1">
            <a:spLocks noChangeArrowheads="1"/>
          </p:cNvSpPr>
          <p:nvPr/>
        </p:nvSpPr>
        <p:spPr bwMode="auto">
          <a:xfrm>
            <a:off x="1104900" y="3738563"/>
            <a:ext cx="693420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靠齿轮端面与左、右端盖内侧面接触而定位。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55306" name="Text Box 11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754938" y="6215063"/>
            <a:ext cx="120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装配图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8" grpId="0" autoUpdateAnimBg="0"/>
      <p:bldP spid="72709" grpId="0" autoUpdateAnimBg="0"/>
      <p:bldP spid="72710" grpId="0" autoUpdateAnimBg="0"/>
      <p:bldP spid="72711" grpId="0" autoUpdateAnimBg="0"/>
      <p:bldP spid="72712" grpId="0" autoUpdateAnimBg="0"/>
      <p:bldP spid="7271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15913" y="311150"/>
            <a:ext cx="300990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rgbClr val="9900FF"/>
                </a:solidFill>
                <a:latin typeface="宋体" panose="02010600030101010101" pitchFamily="2" charset="-122"/>
              </a:rPr>
              <a:t>⑶ </a:t>
            </a:r>
            <a:r>
              <a:rPr lang="zh-CN" altLang="en-US" sz="3600">
                <a:solidFill>
                  <a:srgbClr val="9900FF"/>
                </a:solidFill>
                <a:latin typeface="宋体" panose="02010600030101010101" pitchFamily="2" charset="-122"/>
              </a:rPr>
              <a:t>密封装置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730250" y="949325"/>
            <a:ext cx="782637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为了防止漏油及灰尘、水分进入泵体内影响齿轮传动，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在主动齿轮轴的伸出端</a:t>
            </a:r>
            <a:r>
              <a:rPr lang="zh-CN" altLang="en-US">
                <a:latin typeface="宋体" panose="02010600030101010101" pitchFamily="2" charset="-122"/>
              </a:rPr>
              <a:t>设有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密封装置</a:t>
            </a:r>
            <a:r>
              <a:rPr lang="zh-CN" altLang="en-US">
                <a:latin typeface="宋体" panose="02010600030101010101" pitchFamily="2" charset="-122"/>
              </a:rPr>
              <a:t>，靠压盖螺母</a:t>
            </a:r>
            <a:r>
              <a:rPr lang="en-US" altLang="zh-CN">
                <a:latin typeface="宋体" panose="02010600030101010101" pitchFamily="2" charset="-122"/>
              </a:rPr>
              <a:t>10</a:t>
            </a:r>
            <a:r>
              <a:rPr lang="zh-CN" altLang="en-US">
                <a:latin typeface="宋体" panose="02010600030101010101" pitchFamily="2" charset="-122"/>
              </a:rPr>
              <a:t>和压盖</a:t>
            </a:r>
            <a:r>
              <a:rPr lang="en-US" altLang="zh-CN">
                <a:latin typeface="宋体" panose="02010600030101010101" pitchFamily="2" charset="-122"/>
              </a:rPr>
              <a:t>9</a:t>
            </a:r>
            <a:r>
              <a:rPr lang="zh-CN" altLang="en-US">
                <a:latin typeface="宋体" panose="02010600030101010101" pitchFamily="2" charset="-122"/>
              </a:rPr>
              <a:t>将密封圈</a:t>
            </a:r>
            <a:r>
              <a:rPr lang="en-US" altLang="zh-CN">
                <a:latin typeface="宋体" panose="02010600030101010101" pitchFamily="2" charset="-122"/>
              </a:rPr>
              <a:t>8</a:t>
            </a:r>
            <a:r>
              <a:rPr lang="zh-CN" altLang="en-US">
                <a:latin typeface="宋体" panose="02010600030101010101" pitchFamily="2" charset="-122"/>
              </a:rPr>
              <a:t>压紧密封。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730250" y="3233738"/>
            <a:ext cx="3821113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左、右端盖与泵体之间有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垫片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5</a:t>
            </a:r>
            <a:r>
              <a:rPr lang="zh-CN" altLang="en-US">
                <a:latin typeface="宋体" panose="02010600030101010101" pitchFamily="2" charset="-122"/>
              </a:rPr>
              <a:t>密封。</a:t>
            </a:r>
            <a:endParaRPr lang="zh-CN" altLang="en-US" sz="2400" b="0">
              <a:latin typeface="宋体" panose="02010600030101010101" pitchFamily="2" charset="-122"/>
            </a:endParaRP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730250" y="4418013"/>
            <a:ext cx="4117975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垫片的另一个作用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是调整齿轮的轴向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间隙。</a:t>
            </a:r>
          </a:p>
        </p:txBody>
      </p:sp>
      <p:grpSp>
        <p:nvGrpSpPr>
          <p:cNvPr id="146439" name="Group 7"/>
          <p:cNvGrpSpPr/>
          <p:nvPr/>
        </p:nvGrpSpPr>
        <p:grpSpPr bwMode="auto">
          <a:xfrm>
            <a:off x="7281863" y="3090863"/>
            <a:ext cx="1714500" cy="2630487"/>
            <a:chOff x="4587" y="1947"/>
            <a:chExt cx="991" cy="1657"/>
          </a:xfrm>
        </p:grpSpPr>
        <p:sp>
          <p:nvSpPr>
            <p:cNvPr id="56350" name="Text Box 8"/>
            <p:cNvSpPr txBox="1">
              <a:spLocks noChangeArrowheads="1"/>
            </p:cNvSpPr>
            <p:nvPr/>
          </p:nvSpPr>
          <p:spPr bwMode="auto">
            <a:xfrm>
              <a:off x="4587" y="2495"/>
              <a:ext cx="7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7 </a:t>
              </a:r>
              <a:r>
                <a:rPr lang="zh-CN" altLang="en-US" sz="2400"/>
                <a:t>右端盖</a:t>
              </a:r>
            </a:p>
          </p:txBody>
        </p:sp>
        <p:sp>
          <p:nvSpPr>
            <p:cNvPr id="56351" name="Text Box 9"/>
            <p:cNvSpPr txBox="1">
              <a:spLocks noChangeArrowheads="1"/>
            </p:cNvSpPr>
            <p:nvPr/>
          </p:nvSpPr>
          <p:spPr bwMode="auto">
            <a:xfrm>
              <a:off x="4587" y="2769"/>
              <a:ext cx="7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8 </a:t>
              </a:r>
              <a:r>
                <a:rPr lang="zh-CN" altLang="en-US" sz="2400"/>
                <a:t>密封圈</a:t>
              </a:r>
            </a:p>
          </p:txBody>
        </p:sp>
        <p:sp>
          <p:nvSpPr>
            <p:cNvPr id="56352" name="Text Box 10"/>
            <p:cNvSpPr txBox="1">
              <a:spLocks noChangeArrowheads="1"/>
            </p:cNvSpPr>
            <p:nvPr/>
          </p:nvSpPr>
          <p:spPr bwMode="auto">
            <a:xfrm>
              <a:off x="4587" y="3043"/>
              <a:ext cx="6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9 </a:t>
              </a:r>
              <a:r>
                <a:rPr lang="zh-CN" altLang="en-US" sz="2400"/>
                <a:t>压  盖</a:t>
              </a:r>
            </a:p>
          </p:txBody>
        </p:sp>
        <p:sp>
          <p:nvSpPr>
            <p:cNvPr id="56353" name="Text Box 11"/>
            <p:cNvSpPr txBox="1">
              <a:spLocks noChangeArrowheads="1"/>
            </p:cNvSpPr>
            <p:nvPr/>
          </p:nvSpPr>
          <p:spPr bwMode="auto">
            <a:xfrm>
              <a:off x="4587" y="3316"/>
              <a:ext cx="9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10</a:t>
              </a:r>
              <a:r>
                <a:rPr lang="zh-CN" altLang="en-US" sz="2400"/>
                <a:t>压盖螺母</a:t>
              </a:r>
            </a:p>
          </p:txBody>
        </p:sp>
        <p:sp>
          <p:nvSpPr>
            <p:cNvPr id="56354" name="Text Box 12"/>
            <p:cNvSpPr txBox="1">
              <a:spLocks noChangeArrowheads="1"/>
            </p:cNvSpPr>
            <p:nvPr/>
          </p:nvSpPr>
          <p:spPr bwMode="auto">
            <a:xfrm>
              <a:off x="4587" y="1947"/>
              <a:ext cx="6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5 </a:t>
              </a:r>
              <a:r>
                <a:rPr lang="zh-CN" altLang="en-US" sz="2400"/>
                <a:t>垫  片</a:t>
              </a:r>
            </a:p>
          </p:txBody>
        </p:sp>
        <p:sp>
          <p:nvSpPr>
            <p:cNvPr id="56355" name="Text Box 13"/>
            <p:cNvSpPr txBox="1">
              <a:spLocks noChangeArrowheads="1"/>
            </p:cNvSpPr>
            <p:nvPr/>
          </p:nvSpPr>
          <p:spPr bwMode="auto">
            <a:xfrm>
              <a:off x="4587" y="2221"/>
              <a:ext cx="6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6 </a:t>
              </a:r>
              <a:r>
                <a:rPr lang="zh-CN" altLang="en-US" sz="2400"/>
                <a:t>泵  体</a:t>
              </a:r>
            </a:p>
          </p:txBody>
        </p:sp>
      </p:grpSp>
      <p:grpSp>
        <p:nvGrpSpPr>
          <p:cNvPr id="146446" name="Group 14"/>
          <p:cNvGrpSpPr/>
          <p:nvPr/>
        </p:nvGrpSpPr>
        <p:grpSpPr bwMode="auto">
          <a:xfrm>
            <a:off x="4383088" y="2662238"/>
            <a:ext cx="2841625" cy="3286125"/>
            <a:chOff x="2219" y="1189"/>
            <a:chExt cx="1790" cy="2070"/>
          </a:xfrm>
        </p:grpSpPr>
        <p:pic>
          <p:nvPicPr>
            <p:cNvPr id="56329" name="Picture 15" descr="15-18（1）密封（用）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5" y="1446"/>
              <a:ext cx="1401" cy="1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30" name="Line 16"/>
            <p:cNvSpPr>
              <a:spLocks noChangeShapeType="1"/>
            </p:cNvSpPr>
            <p:nvPr/>
          </p:nvSpPr>
          <p:spPr bwMode="auto">
            <a:xfrm flipH="1">
              <a:off x="2806" y="1439"/>
              <a:ext cx="16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1" name="Line 17"/>
            <p:cNvSpPr>
              <a:spLocks noChangeShapeType="1"/>
            </p:cNvSpPr>
            <p:nvPr/>
          </p:nvSpPr>
          <p:spPr bwMode="auto">
            <a:xfrm>
              <a:off x="3461" y="1439"/>
              <a:ext cx="16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2" name="Line 18"/>
            <p:cNvSpPr>
              <a:spLocks noChangeShapeType="1"/>
            </p:cNvSpPr>
            <p:nvPr/>
          </p:nvSpPr>
          <p:spPr bwMode="auto">
            <a:xfrm>
              <a:off x="3777" y="1439"/>
              <a:ext cx="17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3" name="Line 19"/>
            <p:cNvSpPr>
              <a:spLocks noChangeShapeType="1"/>
            </p:cNvSpPr>
            <p:nvPr/>
          </p:nvSpPr>
          <p:spPr bwMode="auto">
            <a:xfrm>
              <a:off x="3143" y="1439"/>
              <a:ext cx="16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4" name="Text Box 20"/>
            <p:cNvSpPr txBox="1">
              <a:spLocks noChangeArrowheads="1"/>
            </p:cNvSpPr>
            <p:nvPr/>
          </p:nvSpPr>
          <p:spPr bwMode="auto">
            <a:xfrm>
              <a:off x="2773" y="119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7</a:t>
              </a:r>
            </a:p>
          </p:txBody>
        </p:sp>
        <p:sp>
          <p:nvSpPr>
            <p:cNvPr id="56335" name="Text Box 21"/>
            <p:cNvSpPr txBox="1">
              <a:spLocks noChangeArrowheads="1"/>
            </p:cNvSpPr>
            <p:nvPr/>
          </p:nvSpPr>
          <p:spPr bwMode="auto">
            <a:xfrm>
              <a:off x="3118" y="118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8</a:t>
              </a:r>
            </a:p>
          </p:txBody>
        </p:sp>
        <p:sp>
          <p:nvSpPr>
            <p:cNvPr id="56336" name="Text Box 22"/>
            <p:cNvSpPr txBox="1">
              <a:spLocks noChangeArrowheads="1"/>
            </p:cNvSpPr>
            <p:nvPr/>
          </p:nvSpPr>
          <p:spPr bwMode="auto">
            <a:xfrm>
              <a:off x="3434" y="119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9</a:t>
              </a:r>
            </a:p>
          </p:txBody>
        </p:sp>
        <p:sp>
          <p:nvSpPr>
            <p:cNvPr id="56337" name="Text Box 23"/>
            <p:cNvSpPr txBox="1">
              <a:spLocks noChangeArrowheads="1"/>
            </p:cNvSpPr>
            <p:nvPr/>
          </p:nvSpPr>
          <p:spPr bwMode="auto">
            <a:xfrm>
              <a:off x="3701" y="119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6338" name="Line 24"/>
            <p:cNvSpPr>
              <a:spLocks noChangeShapeType="1"/>
            </p:cNvSpPr>
            <p:nvPr/>
          </p:nvSpPr>
          <p:spPr bwMode="auto">
            <a:xfrm flipH="1" flipV="1">
              <a:off x="2256" y="1444"/>
              <a:ext cx="505" cy="3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9" name="Line 25"/>
            <p:cNvSpPr>
              <a:spLocks noChangeShapeType="1"/>
            </p:cNvSpPr>
            <p:nvPr/>
          </p:nvSpPr>
          <p:spPr bwMode="auto">
            <a:xfrm flipH="1">
              <a:off x="2524" y="1444"/>
              <a:ext cx="1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0" name="Text Box 26"/>
            <p:cNvSpPr txBox="1">
              <a:spLocks noChangeArrowheads="1"/>
            </p:cNvSpPr>
            <p:nvPr/>
          </p:nvSpPr>
          <p:spPr bwMode="auto">
            <a:xfrm>
              <a:off x="2495" y="12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  <p:sp>
          <p:nvSpPr>
            <p:cNvPr id="56341" name="Line 27"/>
            <p:cNvSpPr>
              <a:spLocks noChangeShapeType="1"/>
            </p:cNvSpPr>
            <p:nvPr/>
          </p:nvSpPr>
          <p:spPr bwMode="auto">
            <a:xfrm flipH="1" flipV="1">
              <a:off x="2526" y="1444"/>
              <a:ext cx="90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2" name="Line 28"/>
            <p:cNvSpPr>
              <a:spLocks noChangeShapeType="1"/>
            </p:cNvSpPr>
            <p:nvPr/>
          </p:nvSpPr>
          <p:spPr bwMode="auto">
            <a:xfrm flipH="1">
              <a:off x="2254" y="1445"/>
              <a:ext cx="1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3" name="Text Box 29"/>
            <p:cNvSpPr txBox="1">
              <a:spLocks noChangeArrowheads="1"/>
            </p:cNvSpPr>
            <p:nvPr/>
          </p:nvSpPr>
          <p:spPr bwMode="auto">
            <a:xfrm>
              <a:off x="2219" y="12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  <p:sp>
          <p:nvSpPr>
            <p:cNvPr id="56344" name="Text Box 30"/>
            <p:cNvSpPr txBox="1">
              <a:spLocks noChangeArrowheads="1"/>
            </p:cNvSpPr>
            <p:nvPr/>
          </p:nvSpPr>
          <p:spPr bwMode="auto">
            <a:xfrm>
              <a:off x="2539" y="1495"/>
              <a:ext cx="15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cs typeface="Times New Roman" panose="02020603050405020304" pitchFamily="18" charset="0"/>
                </a:rPr>
                <a:t>•</a:t>
              </a:r>
              <a:endParaRPr lang="en-US" altLang="zh-CN" sz="1400"/>
            </a:p>
          </p:txBody>
        </p:sp>
        <p:sp>
          <p:nvSpPr>
            <p:cNvPr id="56345" name="Line 31"/>
            <p:cNvSpPr>
              <a:spLocks noChangeShapeType="1"/>
            </p:cNvSpPr>
            <p:nvPr/>
          </p:nvSpPr>
          <p:spPr bwMode="auto">
            <a:xfrm flipH="1">
              <a:off x="3700" y="1436"/>
              <a:ext cx="80" cy="4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6" name="Line 32"/>
            <p:cNvSpPr>
              <a:spLocks noChangeShapeType="1"/>
            </p:cNvSpPr>
            <p:nvPr/>
          </p:nvSpPr>
          <p:spPr bwMode="auto">
            <a:xfrm flipH="1" flipV="1">
              <a:off x="3460" y="1436"/>
              <a:ext cx="92" cy="5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7" name="Line 33"/>
            <p:cNvSpPr>
              <a:spLocks noChangeShapeType="1"/>
            </p:cNvSpPr>
            <p:nvPr/>
          </p:nvSpPr>
          <p:spPr bwMode="auto">
            <a:xfrm flipH="1" flipV="1">
              <a:off x="3144" y="1436"/>
              <a:ext cx="184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8" name="Line 34"/>
            <p:cNvSpPr>
              <a:spLocks noChangeShapeType="1"/>
            </p:cNvSpPr>
            <p:nvPr/>
          </p:nvSpPr>
          <p:spPr bwMode="auto">
            <a:xfrm flipV="1">
              <a:off x="2892" y="1436"/>
              <a:ext cx="84" cy="1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9" name="Text Box 35"/>
            <p:cNvSpPr txBox="1">
              <a:spLocks noChangeArrowheads="1"/>
            </p:cNvSpPr>
            <p:nvPr/>
          </p:nvSpPr>
          <p:spPr bwMode="auto">
            <a:xfrm>
              <a:off x="2798" y="1446"/>
              <a:ext cx="1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·</a:t>
              </a:r>
            </a:p>
          </p:txBody>
        </p:sp>
      </p:grpSp>
      <p:sp>
        <p:nvSpPr>
          <p:cNvPr id="56328" name="Text Box 3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704138" y="6176963"/>
            <a:ext cx="120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装配图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  <p:bldP spid="146436" grpId="0" autoUpdateAnimBg="0"/>
      <p:bldP spid="14643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539750" y="30163"/>
            <a:ext cx="273208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9900FF"/>
                </a:solidFill>
                <a:latin typeface="宋体" panose="02010600030101010101" pitchFamily="2" charset="-122"/>
              </a:rPr>
              <a:t>⑷ </a:t>
            </a:r>
            <a:r>
              <a:rPr lang="zh-CN" altLang="en-US">
                <a:solidFill>
                  <a:srgbClr val="9900FF"/>
                </a:solidFill>
                <a:latin typeface="宋体" panose="02010600030101010101" pitchFamily="2" charset="-122"/>
              </a:rPr>
              <a:t>装拆顺序</a:t>
            </a: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1084263" y="666750"/>
            <a:ext cx="58959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部件的结构应利于零件的装拆。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齿轮油泵的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装拆顺序</a:t>
            </a:r>
            <a:r>
              <a:rPr lang="zh-CN" altLang="en-US"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089025" y="1708150"/>
            <a:ext cx="7348538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/>
              <a:t>拆螺钉</a:t>
            </a:r>
            <a:r>
              <a:rPr lang="en-US" altLang="zh-CN" sz="2800"/>
              <a:t>15 </a:t>
            </a:r>
            <a:r>
              <a:rPr lang="zh-CN" altLang="en-US" sz="2800"/>
              <a:t>、销钉</a:t>
            </a:r>
            <a:r>
              <a:rPr lang="en-US" altLang="zh-CN" sz="2800"/>
              <a:t>4 </a:t>
            </a:r>
            <a:r>
              <a:rPr lang="en-US" altLang="zh-CN" sz="2800">
                <a:latin typeface="宋体" panose="02010600030101010101" pitchFamily="2" charset="-122"/>
              </a:rPr>
              <a:t>→ </a:t>
            </a:r>
            <a:r>
              <a:rPr lang="zh-CN" altLang="en-US" sz="2800">
                <a:latin typeface="宋体" panose="02010600030101010101" pitchFamily="2" charset="-122"/>
              </a:rPr>
              <a:t>左</a:t>
            </a:r>
            <a:r>
              <a:rPr lang="zh-CN" altLang="en-US" sz="2800"/>
              <a:t>端盖</a:t>
            </a:r>
            <a:r>
              <a:rPr lang="en-US" altLang="zh-CN" sz="2800"/>
              <a:t>1  </a:t>
            </a:r>
            <a:r>
              <a:rPr lang="en-US" altLang="zh-CN" sz="2800">
                <a:latin typeface="宋体" panose="02010600030101010101" pitchFamily="2" charset="-122"/>
              </a:rPr>
              <a:t>→ </a:t>
            </a:r>
            <a:r>
              <a:rPr lang="zh-CN" altLang="en-US" sz="2800">
                <a:latin typeface="宋体" panose="02010600030101010101" pitchFamily="2" charset="-122"/>
              </a:rPr>
              <a:t>齿轮轴</a:t>
            </a:r>
            <a:r>
              <a:rPr lang="en-US" altLang="zh-CN" sz="2800">
                <a:latin typeface="宋体" panose="02010600030101010101" pitchFamily="2" charset="-122"/>
              </a:rPr>
              <a:t>2→</a:t>
            </a:r>
            <a:endParaRPr lang="en-US" altLang="zh-CN" sz="2800"/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522288" y="3262313"/>
            <a:ext cx="7296150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chemeClr val="accent2"/>
                </a:solidFill>
                <a:latin typeface="宋体" panose="02010600030101010101" pitchFamily="2" charset="-122"/>
              </a:rPr>
              <a:t>⒋ </a:t>
            </a:r>
            <a:r>
              <a:rPr lang="zh-CN" altLang="en-US" sz="3600">
                <a:solidFill>
                  <a:schemeClr val="accent2"/>
                </a:solidFill>
                <a:latin typeface="宋体" panose="02010600030101010101" pitchFamily="2" charset="-122"/>
              </a:rPr>
              <a:t>分析零件，弄清零件的结构形状</a:t>
            </a:r>
          </a:p>
        </p:txBody>
      </p:sp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1184275" y="4883150"/>
            <a:ext cx="75279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★</a:t>
            </a:r>
            <a:r>
              <a:rPr lang="zh-CN" altLang="en-US">
                <a:latin typeface="宋体" panose="02010600030101010101" pitchFamily="2" charset="-122"/>
              </a:rPr>
              <a:t>先看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容易</a:t>
            </a:r>
            <a:r>
              <a:rPr lang="zh-CN" altLang="en-US">
                <a:latin typeface="宋体" panose="02010600030101010101" pitchFamily="2" charset="-122"/>
              </a:rPr>
              <a:t>分离的零件，再看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其他</a:t>
            </a:r>
            <a:r>
              <a:rPr lang="zh-CN" altLang="en-US">
                <a:latin typeface="宋体" panose="02010600030101010101" pitchFamily="2" charset="-122"/>
              </a:rPr>
              <a:t>零件；</a:t>
            </a: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1257300" y="3824288"/>
            <a:ext cx="140811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顺序：</a:t>
            </a: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1184275" y="4349750"/>
            <a:ext cx="630396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★</a:t>
            </a:r>
            <a:r>
              <a:rPr lang="zh-CN" altLang="en-US">
                <a:latin typeface="宋体" panose="02010600030101010101" pitchFamily="2" charset="-122"/>
              </a:rPr>
              <a:t>先看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主要</a:t>
            </a:r>
            <a:r>
              <a:rPr lang="zh-CN" altLang="en-US">
                <a:latin typeface="宋体" panose="02010600030101010101" pitchFamily="2" charset="-122"/>
              </a:rPr>
              <a:t>零件，再看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次要</a:t>
            </a:r>
            <a:r>
              <a:rPr lang="zh-CN" altLang="en-US">
                <a:latin typeface="宋体" panose="02010600030101010101" pitchFamily="2" charset="-122"/>
              </a:rPr>
              <a:t>零件；</a:t>
            </a:r>
          </a:p>
        </p:txBody>
      </p:sp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1184275" y="5416550"/>
            <a:ext cx="75279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★</a:t>
            </a:r>
            <a:r>
              <a:rPr lang="zh-CN" altLang="en-US">
                <a:latin typeface="宋体" panose="02010600030101010101" pitchFamily="2" charset="-122"/>
              </a:rPr>
              <a:t>先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分离</a:t>
            </a:r>
            <a:r>
              <a:rPr lang="zh-CN" altLang="en-US">
                <a:latin typeface="宋体" panose="02010600030101010101" pitchFamily="2" charset="-122"/>
              </a:rPr>
              <a:t>零件，再分析零件的结构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形状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1089025" y="2303463"/>
            <a:ext cx="7235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螺母</a:t>
            </a:r>
            <a:r>
              <a:rPr lang="en-US" altLang="zh-CN" sz="2800">
                <a:latin typeface="宋体" panose="02010600030101010101" pitchFamily="2" charset="-122"/>
              </a:rPr>
              <a:t>13</a:t>
            </a:r>
            <a:r>
              <a:rPr lang="zh-CN" altLang="en-US" sz="2800">
                <a:latin typeface="宋体" panose="02010600030101010101" pitchFamily="2" charset="-122"/>
              </a:rPr>
              <a:t>及垫圈</a:t>
            </a:r>
            <a:r>
              <a:rPr lang="en-US" altLang="zh-CN" sz="2800">
                <a:latin typeface="宋体" panose="02010600030101010101" pitchFamily="2" charset="-122"/>
              </a:rPr>
              <a:t>12→</a:t>
            </a:r>
            <a:r>
              <a:rPr lang="zh-CN" altLang="en-US" sz="2800">
                <a:latin typeface="宋体" panose="02010600030101010101" pitchFamily="2" charset="-122"/>
              </a:rPr>
              <a:t>齿轮</a:t>
            </a:r>
            <a:r>
              <a:rPr lang="en-US" altLang="zh-CN" sz="2800">
                <a:latin typeface="宋体" panose="02010600030101010101" pitchFamily="2" charset="-122"/>
              </a:rPr>
              <a:t>11→</a:t>
            </a:r>
            <a:r>
              <a:rPr lang="zh-CN" altLang="en-US" sz="2800">
                <a:latin typeface="宋体" panose="02010600030101010101" pitchFamily="2" charset="-122"/>
              </a:rPr>
              <a:t>压盖螺母、压盖</a:t>
            </a:r>
          </a:p>
        </p:txBody>
      </p:sp>
      <p:sp>
        <p:nvSpPr>
          <p:cNvPr id="57355" name="Text Box 11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777163" y="6230938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u="sng"/>
              <a:t>装配图</a:t>
            </a:r>
          </a:p>
        </p:txBody>
      </p:sp>
      <p:sp>
        <p:nvSpPr>
          <p:cNvPr id="74764" name="Text Box 12"/>
          <p:cNvSpPr txBox="1">
            <a:spLocks noChangeArrowheads="1"/>
          </p:cNvSpPr>
          <p:nvPr/>
        </p:nvSpPr>
        <p:spPr bwMode="auto">
          <a:xfrm>
            <a:off x="1089025" y="2863850"/>
            <a:ext cx="3578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及密封圈→齿轮轴</a:t>
            </a:r>
            <a:r>
              <a:rPr lang="en-US" altLang="zh-CN" sz="2800">
                <a:latin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  <p:bldP spid="74756" grpId="0" autoUpdateAnimBg="0"/>
      <p:bldP spid="74757" grpId="0" autoUpdateAnimBg="0"/>
      <p:bldP spid="74758" grpId="0" autoUpdateAnimBg="0"/>
      <p:bldP spid="74759" grpId="0" autoUpdateAnimBg="0"/>
      <p:bldP spid="74760" grpId="0" autoUpdateAnimBg="0"/>
      <p:bldP spid="74761" grpId="0" autoUpdateAnimBg="0"/>
      <p:bldP spid="74762" grpId="0" autoUpdateAnimBg="0"/>
      <p:bldP spid="747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026"/>
          <p:cNvSpPr txBox="1">
            <a:spLocks noChangeArrowheads="1"/>
          </p:cNvSpPr>
          <p:nvPr/>
        </p:nvSpPr>
        <p:spPr bwMode="auto">
          <a:xfrm>
            <a:off x="609600" y="1941513"/>
            <a:ext cx="83454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⑴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根据剖面线的方向和间隔的不同</a:t>
            </a:r>
            <a:r>
              <a:rPr lang="zh-CN" altLang="en-US">
                <a:latin typeface="宋体" panose="02010600030101010101" pitchFamily="2" charset="-122"/>
              </a:rPr>
              <a:t>，及视图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间的投影关系等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区分形体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75779" name="Text Box 1027"/>
          <p:cNvSpPr txBox="1">
            <a:spLocks noChangeArrowheads="1"/>
          </p:cNvSpPr>
          <p:nvPr/>
        </p:nvSpPr>
        <p:spPr bwMode="auto">
          <a:xfrm>
            <a:off x="609600" y="3724275"/>
            <a:ext cx="83629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⑶ </a:t>
            </a:r>
            <a:r>
              <a:rPr lang="zh-CN" altLang="en-US">
                <a:latin typeface="宋体" panose="02010600030101010101" pitchFamily="2" charset="-122"/>
              </a:rPr>
              <a:t>看尺寸，综合考虑零件的功用、加工、装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配等情况，然后确定零件的形状。</a:t>
            </a:r>
          </a:p>
        </p:txBody>
      </p:sp>
      <p:sp>
        <p:nvSpPr>
          <p:cNvPr id="75780" name="Text Box 1028"/>
          <p:cNvSpPr txBox="1">
            <a:spLocks noChangeArrowheads="1"/>
          </p:cNvSpPr>
          <p:nvPr/>
        </p:nvSpPr>
        <p:spPr bwMode="auto">
          <a:xfrm>
            <a:off x="609600" y="4827588"/>
            <a:ext cx="83629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⑷ </a:t>
            </a:r>
            <a:r>
              <a:rPr lang="zh-CN" altLang="en-US">
                <a:latin typeface="宋体" panose="02010600030101010101" pitchFamily="2" charset="-122"/>
              </a:rPr>
              <a:t>形状不能确定的部分，要根据零件的功用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及结构常识确定。</a:t>
            </a:r>
          </a:p>
        </p:txBody>
      </p:sp>
      <p:sp>
        <p:nvSpPr>
          <p:cNvPr id="58373" name="Text Box 1029"/>
          <p:cNvSpPr txBox="1">
            <a:spLocks noChangeArrowheads="1"/>
          </p:cNvSpPr>
          <p:nvPr/>
        </p:nvSpPr>
        <p:spPr bwMode="auto">
          <a:xfrm>
            <a:off x="685800" y="381000"/>
            <a:ext cx="7924800" cy="1555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i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怎样把零件从装配图中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i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    分离出来呢？</a:t>
            </a:r>
            <a:endParaRPr lang="zh-CN" altLang="en-US" sz="3600">
              <a:solidFill>
                <a:srgbClr val="FF33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5782" name="Text Box 1030"/>
          <p:cNvSpPr txBox="1">
            <a:spLocks noChangeArrowheads="1"/>
          </p:cNvSpPr>
          <p:nvPr/>
        </p:nvSpPr>
        <p:spPr bwMode="auto">
          <a:xfrm>
            <a:off x="608013" y="3057525"/>
            <a:ext cx="6249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⑵ </a:t>
            </a:r>
            <a:r>
              <a:rPr lang="zh-CN" altLang="en-US">
                <a:latin typeface="宋体" panose="02010600030101010101" pitchFamily="2" charset="-122"/>
              </a:rPr>
              <a:t>看零件编号，分离不剖零件。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utoUpdateAnimBg="0"/>
      <p:bldP spid="75779" grpId="0" autoUpdateAnimBg="0"/>
      <p:bldP spid="75780" grpId="0" autoUpdateAnimBg="0"/>
      <p:bldP spid="7578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441325" y="168275"/>
            <a:ext cx="2022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宋体" panose="02010600030101010101" pitchFamily="2" charset="-122"/>
              </a:rPr>
              <a:t>如</a:t>
            </a:r>
            <a:r>
              <a:rPr lang="en-US" altLang="zh-CN" sz="3600">
                <a:latin typeface="宋体" panose="02010600030101010101" pitchFamily="2" charset="-122"/>
              </a:rPr>
              <a:t>: </a:t>
            </a:r>
            <a:r>
              <a:rPr lang="zh-CN" altLang="en-US" sz="3600">
                <a:solidFill>
                  <a:srgbClr val="FF3300"/>
                </a:solidFill>
                <a:latin typeface="宋体" panose="02010600030101010101" pitchFamily="2" charset="-122"/>
              </a:rPr>
              <a:t>泵体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422275" y="744538"/>
            <a:ext cx="334645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根据剖面线的方向及视图间的投影关系，在主、左视图中分离出泵体的主要轮廓如图所示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zh-CN" altLang="en-US" sz="2400" b="0">
              <a:latin typeface="宋体" panose="02010600030101010101" pitchFamily="2" charset="-122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422275" y="4106863"/>
            <a:ext cx="66452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外形和内腔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都是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长圆形</a:t>
            </a:r>
            <a:r>
              <a:rPr lang="zh-CN" altLang="en-US">
                <a:latin typeface="宋体" panose="02010600030101010101" pitchFamily="2" charset="-122"/>
              </a:rPr>
              <a:t>，腔内容纳一对齿轮。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390525" y="3611563"/>
            <a:ext cx="2224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主体部分：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422275" y="5021263"/>
            <a:ext cx="83962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前后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锥台</a:t>
            </a:r>
            <a:r>
              <a:rPr lang="zh-CN" altLang="en-US">
                <a:latin typeface="宋体" panose="02010600030101010101" pitchFamily="2" charset="-122"/>
              </a:rPr>
              <a:t>有进、出油口与内腔相通，泵体上有与左、右端盖连接用的螺钉孔和销孔。</a:t>
            </a:r>
            <a:endParaRPr lang="zh-CN" altLang="en-US" sz="2400" b="0">
              <a:latin typeface="宋体" panose="02010600030101010101" pitchFamily="2" charset="-122"/>
            </a:endParaRPr>
          </a:p>
        </p:txBody>
      </p:sp>
      <p:pic>
        <p:nvPicPr>
          <p:cNvPr id="76807" name="Picture 7" descr="10-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5" y="668338"/>
            <a:ext cx="4508500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utoUpdateAnimBg="0"/>
      <p:bldP spid="76804" grpId="0" autoUpdateAnimBg="0"/>
      <p:bldP spid="76805" grpId="0" autoUpdateAnimBg="0"/>
      <p:bldP spid="7680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815263" y="6164263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/>
              <a:t>装配图</a:t>
            </a:r>
          </a:p>
        </p:txBody>
      </p:sp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384175" y="1001713"/>
            <a:ext cx="3176588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根据结构常识，可知底板呈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长方形</a:t>
            </a:r>
            <a:r>
              <a:rPr lang="zh-CN" altLang="en-US">
                <a:latin typeface="宋体" panose="02010600030101010101" pitchFamily="2" charset="-122"/>
              </a:rPr>
              <a:t>，左、右两边各有一个固定用的螺栓孔，底板上面的凹坑和下面的凹槽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用于减少加工面，使齿轮油泵固定平稳。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498475" y="392113"/>
            <a:ext cx="2224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底板部分：</a:t>
            </a:r>
          </a:p>
        </p:txBody>
      </p:sp>
      <p:pic>
        <p:nvPicPr>
          <p:cNvPr id="60421" name="Picture 5" descr="10-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025" y="1182688"/>
            <a:ext cx="4508500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WordArt 2" descr="白色大理石"/>
          <p:cNvSpPr>
            <a:spLocks noChangeArrowheads="1" noChangeShapeType="1" noTextEdit="1"/>
          </p:cNvSpPr>
          <p:nvPr/>
        </p:nvSpPr>
        <p:spPr bwMode="auto">
          <a:xfrm>
            <a:off x="5772150" y="2457450"/>
            <a:ext cx="2362200" cy="1181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4838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latin typeface="宋体" panose="02010600030101010101" pitchFamily="2" charset="-122"/>
              </a:rPr>
              <a:t>泵 体</a:t>
            </a: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644525" y="301625"/>
            <a:ext cx="768191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宋体" panose="02010600030101010101" pitchFamily="2" charset="-122"/>
              </a:rPr>
              <a:t>    </a:t>
            </a:r>
            <a:r>
              <a:rPr lang="zh-CN" altLang="en-US" sz="3600">
                <a:latin typeface="宋体" panose="02010600030101010101" pitchFamily="2" charset="-122"/>
              </a:rPr>
              <a:t>经分析，可知齿轮油泵泵体的形状为：</a:t>
            </a:r>
          </a:p>
        </p:txBody>
      </p:sp>
      <p:pic>
        <p:nvPicPr>
          <p:cNvPr id="61444" name="Picture 4" descr="10-21泵体（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63" y="1425575"/>
            <a:ext cx="29083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10-18（13）用（1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136650"/>
            <a:ext cx="57943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7" name="Picture 3" descr="10-18（9）用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988" y="1201738"/>
            <a:ext cx="1706562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4" descr="泵体2012用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2882900"/>
            <a:ext cx="20542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 descr="10-18(5)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3" t="47589" r="70689" b="39157"/>
          <a:stretch>
            <a:fillRect/>
          </a:stretch>
        </p:blipFill>
        <p:spPr bwMode="auto">
          <a:xfrm>
            <a:off x="293688" y="3514725"/>
            <a:ext cx="492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6" descr="10-18(5)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3" t="47589" r="70689" b="39157"/>
          <a:stretch>
            <a:fillRect/>
          </a:stretch>
        </p:blipFill>
        <p:spPr bwMode="auto">
          <a:xfrm>
            <a:off x="7770813" y="1924050"/>
            <a:ext cx="492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1" name="Picture 7" descr="10-18(8)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5" t="20482" r="54311" b="18073"/>
          <a:stretch>
            <a:fillRect/>
          </a:stretch>
        </p:blipFill>
        <p:spPr bwMode="auto">
          <a:xfrm>
            <a:off x="925513" y="3417888"/>
            <a:ext cx="1270000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2" name="Picture 8" descr="10-18(3)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14" t="13252" r="44540" b="8434"/>
          <a:stretch>
            <a:fillRect/>
          </a:stretch>
        </p:blipFill>
        <p:spPr bwMode="auto">
          <a:xfrm>
            <a:off x="5494338" y="4010025"/>
            <a:ext cx="1387475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3" name="Picture 9" descr="10-18(5)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64" t="31325" r="13792" b="39157"/>
          <a:stretch>
            <a:fillRect/>
          </a:stretch>
        </p:blipFill>
        <p:spPr bwMode="auto">
          <a:xfrm>
            <a:off x="6951663" y="3540125"/>
            <a:ext cx="77152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4" name="Picture 10" descr="10-18(4)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08" t="29518" r="16954" b="18675"/>
          <a:stretch>
            <a:fillRect/>
          </a:stretch>
        </p:blipFill>
        <p:spPr bwMode="auto">
          <a:xfrm>
            <a:off x="6761163" y="498475"/>
            <a:ext cx="77311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5" name="Picture 11" descr="10-18(6)b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9" t="14458" r="37643" b="8434"/>
          <a:stretch>
            <a:fillRect/>
          </a:stretch>
        </p:blipFill>
        <p:spPr bwMode="auto">
          <a:xfrm>
            <a:off x="5364163" y="1576388"/>
            <a:ext cx="1258887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6" name="Picture 12" descr="10-18(5)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3" t="47589" r="70689" b="39157"/>
          <a:stretch>
            <a:fillRect/>
          </a:stretch>
        </p:blipFill>
        <p:spPr bwMode="auto">
          <a:xfrm>
            <a:off x="5789613" y="2838450"/>
            <a:ext cx="492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7" name="Picture 13" descr="10-18(5)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3" t="47589" r="70689" b="39157"/>
          <a:stretch>
            <a:fillRect/>
          </a:stretch>
        </p:blipFill>
        <p:spPr bwMode="auto">
          <a:xfrm>
            <a:off x="1033463" y="5962650"/>
            <a:ext cx="492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478" name="Group 14"/>
          <p:cNvGrpSpPr/>
          <p:nvPr/>
        </p:nvGrpSpPr>
        <p:grpSpPr bwMode="auto">
          <a:xfrm>
            <a:off x="1793875" y="2154238"/>
            <a:ext cx="2317750" cy="760412"/>
            <a:chOff x="1130" y="1357"/>
            <a:chExt cx="1460" cy="479"/>
          </a:xfrm>
        </p:grpSpPr>
        <p:sp>
          <p:nvSpPr>
            <p:cNvPr id="62534" name="Text Box 15"/>
            <p:cNvSpPr txBox="1">
              <a:spLocks noChangeArrowheads="1"/>
            </p:cNvSpPr>
            <p:nvPr/>
          </p:nvSpPr>
          <p:spPr bwMode="auto">
            <a:xfrm>
              <a:off x="1130" y="1357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传动齿轮轴</a:t>
              </a:r>
              <a:r>
                <a:rPr lang="en-US" altLang="zh-CN" sz="2800">
                  <a:solidFill>
                    <a:schemeClr val="accent2"/>
                  </a:solidFill>
                </a:rPr>
                <a:t>3</a:t>
              </a:r>
              <a:endParaRPr lang="en-US" altLang="zh-CN" sz="2800"/>
            </a:p>
          </p:txBody>
        </p:sp>
        <p:sp>
          <p:nvSpPr>
            <p:cNvPr id="62535" name="Line 16"/>
            <p:cNvSpPr>
              <a:spLocks noChangeShapeType="1"/>
            </p:cNvSpPr>
            <p:nvPr/>
          </p:nvSpPr>
          <p:spPr bwMode="auto">
            <a:xfrm>
              <a:off x="2136" y="1644"/>
              <a:ext cx="408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79" name="Group 17"/>
          <p:cNvGrpSpPr/>
          <p:nvPr/>
        </p:nvGrpSpPr>
        <p:grpSpPr bwMode="auto">
          <a:xfrm>
            <a:off x="7661275" y="3314700"/>
            <a:ext cx="1254125" cy="909638"/>
            <a:chOff x="4826" y="2088"/>
            <a:chExt cx="790" cy="573"/>
          </a:xfrm>
        </p:grpSpPr>
        <p:sp>
          <p:nvSpPr>
            <p:cNvPr id="62532" name="Text Box 18"/>
            <p:cNvSpPr txBox="1">
              <a:spLocks noChangeArrowheads="1"/>
            </p:cNvSpPr>
            <p:nvPr/>
          </p:nvSpPr>
          <p:spPr bwMode="auto">
            <a:xfrm>
              <a:off x="4826" y="2334"/>
              <a:ext cx="7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螺钉</a:t>
              </a:r>
              <a:r>
                <a:rPr lang="en-US" altLang="zh-CN" sz="2800">
                  <a:solidFill>
                    <a:schemeClr val="accent2"/>
                  </a:solidFill>
                </a:rPr>
                <a:t>15</a:t>
              </a:r>
              <a:endParaRPr lang="en-US" altLang="zh-CN" sz="2800"/>
            </a:p>
          </p:txBody>
        </p:sp>
        <p:sp>
          <p:nvSpPr>
            <p:cNvPr id="62533" name="Line 19"/>
            <p:cNvSpPr>
              <a:spLocks noChangeShapeType="1"/>
            </p:cNvSpPr>
            <p:nvPr/>
          </p:nvSpPr>
          <p:spPr bwMode="auto">
            <a:xfrm>
              <a:off x="5124" y="2088"/>
              <a:ext cx="180" cy="3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0" name="Group 20"/>
          <p:cNvGrpSpPr/>
          <p:nvPr/>
        </p:nvGrpSpPr>
        <p:grpSpPr bwMode="auto">
          <a:xfrm>
            <a:off x="4289425" y="1019175"/>
            <a:ext cx="2225675" cy="828675"/>
            <a:chOff x="2702" y="642"/>
            <a:chExt cx="1402" cy="522"/>
          </a:xfrm>
        </p:grpSpPr>
        <p:sp>
          <p:nvSpPr>
            <p:cNvPr id="62530" name="Text Box 21"/>
            <p:cNvSpPr txBox="1">
              <a:spLocks noChangeArrowheads="1"/>
            </p:cNvSpPr>
            <p:nvPr/>
          </p:nvSpPr>
          <p:spPr bwMode="auto">
            <a:xfrm>
              <a:off x="2702" y="642"/>
              <a:ext cx="9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右端盖</a:t>
              </a:r>
              <a:r>
                <a:rPr lang="en-US" altLang="zh-CN" sz="28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62531" name="Line 22"/>
            <p:cNvSpPr>
              <a:spLocks noChangeShapeType="1"/>
            </p:cNvSpPr>
            <p:nvPr/>
          </p:nvSpPr>
          <p:spPr bwMode="auto">
            <a:xfrm>
              <a:off x="3480" y="876"/>
              <a:ext cx="624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1" name="Group 23"/>
          <p:cNvGrpSpPr/>
          <p:nvPr/>
        </p:nvGrpSpPr>
        <p:grpSpPr bwMode="auto">
          <a:xfrm>
            <a:off x="5226050" y="409575"/>
            <a:ext cx="1631950" cy="523875"/>
            <a:chOff x="3292" y="258"/>
            <a:chExt cx="1028" cy="330"/>
          </a:xfrm>
        </p:grpSpPr>
        <p:sp>
          <p:nvSpPr>
            <p:cNvPr id="62528" name="Text Box 24"/>
            <p:cNvSpPr txBox="1">
              <a:spLocks noChangeArrowheads="1"/>
            </p:cNvSpPr>
            <p:nvPr/>
          </p:nvSpPr>
          <p:spPr bwMode="auto">
            <a:xfrm>
              <a:off x="3292" y="258"/>
              <a:ext cx="6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轴套</a:t>
              </a:r>
              <a:r>
                <a:rPr lang="en-US" altLang="zh-CN" sz="2800">
                  <a:solidFill>
                    <a:schemeClr val="accent2"/>
                  </a:solidFill>
                </a:rPr>
                <a:t>9</a:t>
              </a:r>
              <a:endParaRPr lang="en-US" altLang="zh-CN" sz="2800"/>
            </a:p>
          </p:txBody>
        </p:sp>
        <p:sp>
          <p:nvSpPr>
            <p:cNvPr id="62529" name="Line 25"/>
            <p:cNvSpPr>
              <a:spLocks noChangeShapeType="1"/>
            </p:cNvSpPr>
            <p:nvPr/>
          </p:nvSpPr>
          <p:spPr bwMode="auto">
            <a:xfrm>
              <a:off x="3936" y="468"/>
              <a:ext cx="384" cy="12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2" name="Group 26"/>
          <p:cNvGrpSpPr/>
          <p:nvPr/>
        </p:nvGrpSpPr>
        <p:grpSpPr bwMode="auto">
          <a:xfrm>
            <a:off x="5984875" y="85725"/>
            <a:ext cx="1968500" cy="657225"/>
            <a:chOff x="3770" y="54"/>
            <a:chExt cx="1240" cy="414"/>
          </a:xfrm>
        </p:grpSpPr>
        <p:sp>
          <p:nvSpPr>
            <p:cNvPr id="62526" name="Text Box 27"/>
            <p:cNvSpPr txBox="1">
              <a:spLocks noChangeArrowheads="1"/>
            </p:cNvSpPr>
            <p:nvPr/>
          </p:nvSpPr>
          <p:spPr bwMode="auto">
            <a:xfrm>
              <a:off x="3770" y="54"/>
              <a:ext cx="1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压紧螺母</a:t>
              </a:r>
              <a:r>
                <a:rPr lang="en-US" altLang="zh-CN" sz="2800">
                  <a:solidFill>
                    <a:schemeClr val="accent2"/>
                  </a:solidFill>
                </a:rPr>
                <a:t>10</a:t>
              </a:r>
              <a:endParaRPr lang="en-US" altLang="zh-CN" sz="2800"/>
            </a:p>
          </p:txBody>
        </p:sp>
        <p:sp>
          <p:nvSpPr>
            <p:cNvPr id="62527" name="Line 28"/>
            <p:cNvSpPr>
              <a:spLocks noChangeShapeType="1"/>
            </p:cNvSpPr>
            <p:nvPr/>
          </p:nvSpPr>
          <p:spPr bwMode="auto">
            <a:xfrm>
              <a:off x="4692" y="288"/>
              <a:ext cx="300" cy="18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3" name="Group 29"/>
          <p:cNvGrpSpPr/>
          <p:nvPr/>
        </p:nvGrpSpPr>
        <p:grpSpPr bwMode="auto">
          <a:xfrm>
            <a:off x="4022725" y="4419600"/>
            <a:ext cx="1433513" cy="738188"/>
            <a:chOff x="2534" y="2784"/>
            <a:chExt cx="903" cy="465"/>
          </a:xfrm>
        </p:grpSpPr>
        <p:sp>
          <p:nvSpPr>
            <p:cNvPr id="62524" name="Text Box 30"/>
            <p:cNvSpPr txBox="1">
              <a:spLocks noChangeArrowheads="1"/>
            </p:cNvSpPr>
            <p:nvPr/>
          </p:nvSpPr>
          <p:spPr bwMode="auto">
            <a:xfrm>
              <a:off x="2534" y="2922"/>
              <a:ext cx="9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齿轮轴</a:t>
              </a:r>
              <a:r>
                <a:rPr lang="en-US" altLang="zh-CN" sz="2800">
                  <a:solidFill>
                    <a:schemeClr val="accent2"/>
                  </a:solidFill>
                </a:rPr>
                <a:t>2</a:t>
              </a:r>
              <a:endParaRPr lang="en-US" altLang="zh-CN" sz="2800"/>
            </a:p>
          </p:txBody>
        </p:sp>
        <p:sp>
          <p:nvSpPr>
            <p:cNvPr id="62525" name="Line 31"/>
            <p:cNvSpPr>
              <a:spLocks noChangeShapeType="1"/>
            </p:cNvSpPr>
            <p:nvPr/>
          </p:nvSpPr>
          <p:spPr bwMode="auto">
            <a:xfrm>
              <a:off x="2712" y="2784"/>
              <a:ext cx="288" cy="2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4" name="Group 32"/>
          <p:cNvGrpSpPr/>
          <p:nvPr/>
        </p:nvGrpSpPr>
        <p:grpSpPr bwMode="auto">
          <a:xfrm>
            <a:off x="3352800" y="5581650"/>
            <a:ext cx="1498600" cy="604838"/>
            <a:chOff x="2112" y="3516"/>
            <a:chExt cx="944" cy="381"/>
          </a:xfrm>
        </p:grpSpPr>
        <p:sp>
          <p:nvSpPr>
            <p:cNvPr id="62522" name="Text Box 33"/>
            <p:cNvSpPr txBox="1">
              <a:spLocks noChangeArrowheads="1"/>
            </p:cNvSpPr>
            <p:nvPr/>
          </p:nvSpPr>
          <p:spPr bwMode="auto">
            <a:xfrm>
              <a:off x="2378" y="3570"/>
              <a:ext cx="6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泵体</a:t>
              </a:r>
              <a:r>
                <a:rPr lang="en-US" altLang="zh-CN" sz="2800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62523" name="Line 34"/>
            <p:cNvSpPr>
              <a:spLocks noChangeShapeType="1"/>
            </p:cNvSpPr>
            <p:nvPr/>
          </p:nvSpPr>
          <p:spPr bwMode="auto">
            <a:xfrm>
              <a:off x="2112" y="3516"/>
              <a:ext cx="336" cy="2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5" name="Group 35"/>
          <p:cNvGrpSpPr/>
          <p:nvPr/>
        </p:nvGrpSpPr>
        <p:grpSpPr bwMode="auto">
          <a:xfrm>
            <a:off x="1050925" y="2600325"/>
            <a:ext cx="1076325" cy="1000125"/>
            <a:chOff x="662" y="1638"/>
            <a:chExt cx="678" cy="630"/>
          </a:xfrm>
        </p:grpSpPr>
        <p:sp>
          <p:nvSpPr>
            <p:cNvPr id="62520" name="Text Box 36"/>
            <p:cNvSpPr txBox="1">
              <a:spLocks noChangeArrowheads="1"/>
            </p:cNvSpPr>
            <p:nvPr/>
          </p:nvSpPr>
          <p:spPr bwMode="auto">
            <a:xfrm>
              <a:off x="662" y="1638"/>
              <a:ext cx="6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垫片</a:t>
              </a:r>
              <a:r>
                <a:rPr lang="en-US" altLang="zh-CN" sz="2800">
                  <a:solidFill>
                    <a:schemeClr val="accent2"/>
                  </a:solidFill>
                </a:rPr>
                <a:t>5</a:t>
              </a:r>
              <a:endParaRPr lang="en-US" altLang="zh-CN" sz="2800"/>
            </a:p>
          </p:txBody>
        </p:sp>
        <p:sp>
          <p:nvSpPr>
            <p:cNvPr id="62521" name="Line 37"/>
            <p:cNvSpPr>
              <a:spLocks noChangeShapeType="1"/>
            </p:cNvSpPr>
            <p:nvPr/>
          </p:nvSpPr>
          <p:spPr bwMode="auto">
            <a:xfrm flipH="1">
              <a:off x="1032" y="1896"/>
              <a:ext cx="180" cy="3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6" name="Group 38"/>
          <p:cNvGrpSpPr/>
          <p:nvPr/>
        </p:nvGrpSpPr>
        <p:grpSpPr bwMode="auto">
          <a:xfrm>
            <a:off x="1447800" y="5886450"/>
            <a:ext cx="1871663" cy="623888"/>
            <a:chOff x="912" y="3708"/>
            <a:chExt cx="1179" cy="393"/>
          </a:xfrm>
        </p:grpSpPr>
        <p:sp>
          <p:nvSpPr>
            <p:cNvPr id="62518" name="Text Box 39"/>
            <p:cNvSpPr txBox="1">
              <a:spLocks noChangeArrowheads="1"/>
            </p:cNvSpPr>
            <p:nvPr/>
          </p:nvSpPr>
          <p:spPr bwMode="auto">
            <a:xfrm>
              <a:off x="1188" y="3774"/>
              <a:ext cx="9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左端盖</a:t>
              </a:r>
              <a:r>
                <a:rPr lang="en-US" altLang="zh-CN" sz="2800">
                  <a:solidFill>
                    <a:schemeClr val="accent2"/>
                  </a:solidFill>
                </a:rPr>
                <a:t>1</a:t>
              </a:r>
              <a:endParaRPr lang="en-US" altLang="zh-CN" sz="2800"/>
            </a:p>
          </p:txBody>
        </p:sp>
        <p:sp>
          <p:nvSpPr>
            <p:cNvPr id="62519" name="Line 40"/>
            <p:cNvSpPr>
              <a:spLocks noChangeShapeType="1"/>
            </p:cNvSpPr>
            <p:nvPr/>
          </p:nvSpPr>
          <p:spPr bwMode="auto">
            <a:xfrm>
              <a:off x="912" y="3708"/>
              <a:ext cx="360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7" name="Group 41"/>
          <p:cNvGrpSpPr/>
          <p:nvPr/>
        </p:nvGrpSpPr>
        <p:grpSpPr bwMode="auto">
          <a:xfrm>
            <a:off x="307975" y="2638425"/>
            <a:ext cx="720725" cy="942975"/>
            <a:chOff x="194" y="1662"/>
            <a:chExt cx="454" cy="594"/>
          </a:xfrm>
        </p:grpSpPr>
        <p:sp>
          <p:nvSpPr>
            <p:cNvPr id="62516" name="Text Box 42"/>
            <p:cNvSpPr txBox="1">
              <a:spLocks noChangeArrowheads="1"/>
            </p:cNvSpPr>
            <p:nvPr/>
          </p:nvSpPr>
          <p:spPr bwMode="auto">
            <a:xfrm>
              <a:off x="194" y="1662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销</a:t>
              </a:r>
              <a:r>
                <a:rPr lang="en-US" altLang="zh-CN" sz="2800">
                  <a:solidFill>
                    <a:schemeClr val="accent2"/>
                  </a:solidFill>
                </a:rPr>
                <a:t>4</a:t>
              </a:r>
              <a:endParaRPr lang="en-US" altLang="zh-CN" sz="2800"/>
            </a:p>
          </p:txBody>
        </p:sp>
        <p:sp>
          <p:nvSpPr>
            <p:cNvPr id="62517" name="Line 43"/>
            <p:cNvSpPr>
              <a:spLocks noChangeShapeType="1"/>
            </p:cNvSpPr>
            <p:nvPr/>
          </p:nvSpPr>
          <p:spPr bwMode="auto">
            <a:xfrm flipH="1">
              <a:off x="432" y="1920"/>
              <a:ext cx="132" cy="3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8" name="Group 44"/>
          <p:cNvGrpSpPr/>
          <p:nvPr/>
        </p:nvGrpSpPr>
        <p:grpSpPr bwMode="auto">
          <a:xfrm>
            <a:off x="5794375" y="5334000"/>
            <a:ext cx="1968500" cy="966788"/>
            <a:chOff x="3650" y="3360"/>
            <a:chExt cx="1240" cy="609"/>
          </a:xfrm>
        </p:grpSpPr>
        <p:sp>
          <p:nvSpPr>
            <p:cNvPr id="62514" name="Text Box 45"/>
            <p:cNvSpPr txBox="1">
              <a:spLocks noChangeArrowheads="1"/>
            </p:cNvSpPr>
            <p:nvPr/>
          </p:nvSpPr>
          <p:spPr bwMode="auto">
            <a:xfrm>
              <a:off x="3650" y="3642"/>
              <a:ext cx="1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传动齿轮</a:t>
              </a:r>
              <a:r>
                <a:rPr lang="en-US" altLang="zh-CN" sz="2800">
                  <a:solidFill>
                    <a:schemeClr val="accent2"/>
                  </a:solidFill>
                </a:rPr>
                <a:t>11</a:t>
              </a:r>
              <a:endParaRPr lang="en-US" altLang="zh-CN" sz="2800"/>
            </a:p>
          </p:txBody>
        </p:sp>
        <p:sp>
          <p:nvSpPr>
            <p:cNvPr id="62515" name="Line 46"/>
            <p:cNvSpPr>
              <a:spLocks noChangeShapeType="1"/>
            </p:cNvSpPr>
            <p:nvPr/>
          </p:nvSpPr>
          <p:spPr bwMode="auto">
            <a:xfrm>
              <a:off x="4116" y="3360"/>
              <a:ext cx="132" cy="3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89" name="Group 47"/>
          <p:cNvGrpSpPr/>
          <p:nvPr/>
        </p:nvGrpSpPr>
        <p:grpSpPr bwMode="auto">
          <a:xfrm>
            <a:off x="6842125" y="4591050"/>
            <a:ext cx="1254125" cy="947738"/>
            <a:chOff x="4310" y="2892"/>
            <a:chExt cx="790" cy="597"/>
          </a:xfrm>
        </p:grpSpPr>
        <p:sp>
          <p:nvSpPr>
            <p:cNvPr id="62512" name="Text Box 48"/>
            <p:cNvSpPr txBox="1">
              <a:spLocks noChangeArrowheads="1"/>
            </p:cNvSpPr>
            <p:nvPr/>
          </p:nvSpPr>
          <p:spPr bwMode="auto">
            <a:xfrm>
              <a:off x="4310" y="3162"/>
              <a:ext cx="7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垫圈</a:t>
              </a:r>
              <a:r>
                <a:rPr lang="en-US" altLang="zh-CN" sz="2800">
                  <a:solidFill>
                    <a:schemeClr val="accent2"/>
                  </a:solidFill>
                </a:rPr>
                <a:t>12</a:t>
              </a:r>
              <a:endParaRPr lang="en-US" altLang="zh-CN" sz="2800"/>
            </a:p>
          </p:txBody>
        </p:sp>
        <p:sp>
          <p:nvSpPr>
            <p:cNvPr id="62513" name="Line 49"/>
            <p:cNvSpPr>
              <a:spLocks noChangeShapeType="1"/>
            </p:cNvSpPr>
            <p:nvPr/>
          </p:nvSpPr>
          <p:spPr bwMode="auto">
            <a:xfrm>
              <a:off x="4392" y="2892"/>
              <a:ext cx="144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490" name="Group 50"/>
          <p:cNvGrpSpPr/>
          <p:nvPr/>
        </p:nvGrpSpPr>
        <p:grpSpPr bwMode="auto">
          <a:xfrm>
            <a:off x="7162800" y="4191000"/>
            <a:ext cx="1254125" cy="776288"/>
            <a:chOff x="4512" y="2640"/>
            <a:chExt cx="790" cy="489"/>
          </a:xfrm>
        </p:grpSpPr>
        <p:sp>
          <p:nvSpPr>
            <p:cNvPr id="62510" name="Text Box 51"/>
            <p:cNvSpPr txBox="1">
              <a:spLocks noChangeArrowheads="1"/>
            </p:cNvSpPr>
            <p:nvPr/>
          </p:nvSpPr>
          <p:spPr bwMode="auto">
            <a:xfrm>
              <a:off x="4512" y="2802"/>
              <a:ext cx="7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螺母</a:t>
              </a:r>
              <a:r>
                <a:rPr lang="en-US" altLang="zh-CN" sz="2800">
                  <a:solidFill>
                    <a:schemeClr val="accent2"/>
                  </a:solidFill>
                </a:rPr>
                <a:t>13</a:t>
              </a:r>
              <a:endParaRPr lang="en-US" altLang="zh-CN" sz="2800"/>
            </a:p>
          </p:txBody>
        </p:sp>
        <p:sp>
          <p:nvSpPr>
            <p:cNvPr id="62511" name="Line 52"/>
            <p:cNvSpPr>
              <a:spLocks noChangeShapeType="1"/>
            </p:cNvSpPr>
            <p:nvPr/>
          </p:nvSpPr>
          <p:spPr bwMode="auto">
            <a:xfrm>
              <a:off x="4812" y="2640"/>
              <a:ext cx="108" cy="21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61" name="Text Box 53"/>
          <p:cNvSpPr txBox="1">
            <a:spLocks noChangeArrowheads="1"/>
          </p:cNvSpPr>
          <p:nvPr/>
        </p:nvSpPr>
        <p:spPr bwMode="auto">
          <a:xfrm>
            <a:off x="0" y="228600"/>
            <a:ext cx="49561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宋体" panose="02010600030101010101" pitchFamily="2" charset="-122"/>
              </a:rPr>
              <a:t>    </a:t>
            </a:r>
            <a:r>
              <a:rPr lang="zh-CN" altLang="en-US" sz="3600">
                <a:latin typeface="宋体" panose="02010600030101010101" pitchFamily="2" charset="-122"/>
              </a:rPr>
              <a:t>逐个零件分析之后各零件</a:t>
            </a:r>
            <a:r>
              <a:rPr lang="zh-CN" altLang="en-US" sz="3600"/>
              <a:t>的</a:t>
            </a:r>
            <a:r>
              <a:rPr lang="zh-CN" altLang="en-US" sz="3600">
                <a:latin typeface="宋体" panose="02010600030101010101" pitchFamily="2" charset="-122"/>
              </a:rPr>
              <a:t>形状</a:t>
            </a:r>
            <a:r>
              <a:rPr lang="zh-CN" altLang="en-US" sz="3600"/>
              <a:t>为：</a:t>
            </a:r>
          </a:p>
        </p:txBody>
      </p:sp>
      <p:grpSp>
        <p:nvGrpSpPr>
          <p:cNvPr id="62492" name="Group 55"/>
          <p:cNvGrpSpPr/>
          <p:nvPr/>
        </p:nvGrpSpPr>
        <p:grpSpPr bwMode="auto">
          <a:xfrm>
            <a:off x="3584575" y="1743075"/>
            <a:ext cx="1616075" cy="523875"/>
            <a:chOff x="2258" y="1098"/>
            <a:chExt cx="1018" cy="330"/>
          </a:xfrm>
        </p:grpSpPr>
        <p:sp>
          <p:nvSpPr>
            <p:cNvPr id="62508" name="Text Box 56"/>
            <p:cNvSpPr txBox="1">
              <a:spLocks noChangeArrowheads="1"/>
            </p:cNvSpPr>
            <p:nvPr/>
          </p:nvSpPr>
          <p:spPr bwMode="auto">
            <a:xfrm>
              <a:off x="2258" y="1098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键</a:t>
              </a:r>
              <a:r>
                <a:rPr lang="en-US" altLang="zh-CN" sz="2800">
                  <a:solidFill>
                    <a:schemeClr val="accent2"/>
                  </a:solidFill>
                </a:rPr>
                <a:t>14</a:t>
              </a:r>
              <a:endParaRPr lang="en-US" altLang="zh-CN" sz="2800"/>
            </a:p>
          </p:txBody>
        </p:sp>
        <p:sp>
          <p:nvSpPr>
            <p:cNvPr id="62509" name="Line 57"/>
            <p:cNvSpPr>
              <a:spLocks noChangeShapeType="1"/>
            </p:cNvSpPr>
            <p:nvPr/>
          </p:nvSpPr>
          <p:spPr bwMode="auto">
            <a:xfrm>
              <a:off x="2784" y="1272"/>
              <a:ext cx="492" cy="15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62493" name="Picture 58" descr="左端盖2012用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3649663"/>
            <a:ext cx="155892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94" name="Picture 59" descr="10-18（4）用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88" y="704850"/>
            <a:ext cx="11191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95" name="Picture 60" descr="10-18（13）用（1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869950"/>
            <a:ext cx="57943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96" name="Picture 61" descr="10-18（13）用（1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675" y="1760538"/>
            <a:ext cx="57943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97" name="Picture 62" descr="10-18（13）用（1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2239963"/>
            <a:ext cx="57943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98" name="Picture 63" descr="10-18（13）用（1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2622550"/>
            <a:ext cx="579437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99" name="Picture 64" descr="10-18（13）用（1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3000375"/>
            <a:ext cx="579437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0" name="Picture 65" descr="10-18（13）用（2）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8" y="3032125"/>
            <a:ext cx="582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1" name="Picture 66" descr="10-18（13）用（2）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6070600"/>
            <a:ext cx="582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2" name="Picture 67" descr="10-18（13）用（2）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5589588"/>
            <a:ext cx="58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3" name="Picture 68" descr="10-18（13）用（2）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5835650"/>
            <a:ext cx="582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4" name="Picture 69" descr="10-18（13）用（2）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4088"/>
            <a:ext cx="58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5" name="Picture 70" descr="10-18（13）用（2）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5551488"/>
            <a:ext cx="58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6" name="Picture 71" descr="10-18（12）用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3975100"/>
            <a:ext cx="550863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07" name="Picture 73" descr="10-18(2)b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13249" r="30460" b="8434"/>
          <a:stretch>
            <a:fillRect/>
          </a:stretch>
        </p:blipFill>
        <p:spPr bwMode="auto">
          <a:xfrm>
            <a:off x="3446463" y="2139950"/>
            <a:ext cx="2628900" cy="249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6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309563" y="295275"/>
            <a:ext cx="4664075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/>
              <a:t>齿轮油泵装配体</a:t>
            </a:r>
          </a:p>
        </p:txBody>
      </p:sp>
      <p:pic>
        <p:nvPicPr>
          <p:cNvPr id="63491" name="Picture 3" descr="齿轮泵装配体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671513"/>
            <a:ext cx="5010150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14388" y="114300"/>
            <a:ext cx="7772400" cy="681038"/>
          </a:xfrm>
          <a:gradFill rotWithShape="0">
            <a:gsLst>
              <a:gs pos="0">
                <a:srgbClr val="FF3300"/>
              </a:gs>
              <a:gs pos="50000">
                <a:srgbClr val="FFFF00"/>
              </a:gs>
              <a:gs pos="100000">
                <a:srgbClr val="FF3300"/>
              </a:gs>
            </a:gsLst>
            <a:lin ang="5400000" scaled="1"/>
          </a:gradFill>
          <a:ln w="57150">
            <a:pattFill prst="smConfetti">
              <a:fgClr>
                <a:srgbClr val="FFFF00"/>
              </a:fgClr>
              <a:bgClr>
                <a:srgbClr val="FF3300"/>
              </a:bgClr>
            </a:patt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/>
            <a:r>
              <a:rPr lang="zh-CN" altLang="en-US" sz="4000" b="1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由装配图拆画零件图</a:t>
            </a:r>
          </a:p>
        </p:txBody>
      </p:sp>
      <p:sp>
        <p:nvSpPr>
          <p:cNvPr id="138245" name="Text Box 5"/>
          <p:cNvSpPr txBox="1">
            <a:spLocks noChangeArrowheads="1"/>
          </p:cNvSpPr>
          <p:nvPr/>
        </p:nvSpPr>
        <p:spPr bwMode="auto">
          <a:xfrm>
            <a:off x="355600" y="995363"/>
            <a:ext cx="4773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rgbClr val="0000CC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3600">
                <a:solidFill>
                  <a:srgbClr val="0000CC"/>
                </a:solidFill>
                <a:latin typeface="宋体" panose="02010600030101010101" pitchFamily="2" charset="-122"/>
              </a:rPr>
              <a:t>拆画零件图的步骤：</a:t>
            </a:r>
            <a:endParaRPr lang="zh-CN" altLang="en-US" sz="3600" b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806450" y="1589088"/>
            <a:ext cx="7531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(1) </a:t>
            </a:r>
            <a:r>
              <a:rPr lang="zh-CN" altLang="en-US">
                <a:latin typeface="宋体" panose="02010600030101010101" pitchFamily="2" charset="-122"/>
              </a:rPr>
              <a:t>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读装配图</a:t>
            </a:r>
            <a:r>
              <a:rPr lang="zh-CN" altLang="en-US">
                <a:latin typeface="宋体" panose="02010600030101010101" pitchFamily="2" charset="-122"/>
              </a:rPr>
              <a:t>的要求，看懂部件的工作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原理、装配关系和零件的结构形状。</a:t>
            </a:r>
          </a:p>
        </p:txBody>
      </p:sp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806450" y="2655888"/>
            <a:ext cx="7531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(2) </a:t>
            </a:r>
            <a:r>
              <a:rPr lang="zh-CN" altLang="en-US">
                <a:latin typeface="宋体" panose="02010600030101010101" pitchFamily="2" charset="-122"/>
              </a:rPr>
              <a:t>根据零件图视图表达的要求，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确定</a:t>
            </a:r>
            <a:r>
              <a:rPr lang="zh-CN" altLang="en-US">
                <a:latin typeface="宋体" panose="02010600030101010101" pitchFamily="2" charset="-122"/>
              </a:rPr>
              <a:t>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零件的视图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表达方案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806450" y="3713163"/>
            <a:ext cx="7531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(3) </a:t>
            </a:r>
            <a:r>
              <a:rPr lang="zh-CN" altLang="en-US">
                <a:latin typeface="宋体" panose="02010600030101010101" pitchFamily="2" charset="-122"/>
              </a:rPr>
              <a:t>根据零件图的内容和画图要求，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画出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    零件工作图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65543" name="Text Box 9"/>
          <p:cNvSpPr txBox="1">
            <a:spLocks noChangeArrowheads="1"/>
          </p:cNvSpPr>
          <p:nvPr/>
        </p:nvSpPr>
        <p:spPr bwMode="auto">
          <a:xfrm>
            <a:off x="1473200" y="54689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 b="0"/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844550" y="5365750"/>
            <a:ext cx="76930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区分零件图与装配图在视图内容、表达方法、尺寸标注等方面的不同。</a:t>
            </a:r>
          </a:p>
        </p:txBody>
      </p:sp>
      <p:grpSp>
        <p:nvGrpSpPr>
          <p:cNvPr id="138251" name="Group 11"/>
          <p:cNvGrpSpPr/>
          <p:nvPr/>
        </p:nvGrpSpPr>
        <p:grpSpPr bwMode="auto">
          <a:xfrm>
            <a:off x="1008063" y="4849813"/>
            <a:ext cx="2079625" cy="657225"/>
            <a:chOff x="635" y="3055"/>
            <a:chExt cx="1310" cy="414"/>
          </a:xfrm>
        </p:grpSpPr>
        <p:sp>
          <p:nvSpPr>
            <p:cNvPr id="138252" name="AutoShape 12"/>
            <p:cNvSpPr>
              <a:spLocks noChangeArrowheads="1"/>
            </p:cNvSpPr>
            <p:nvPr/>
          </p:nvSpPr>
          <p:spPr bwMode="auto">
            <a:xfrm>
              <a:off x="635" y="3074"/>
              <a:ext cx="472" cy="395"/>
            </a:xfrm>
            <a:prstGeom prst="star4">
              <a:avLst>
                <a:gd name="adj" fmla="val 12500"/>
              </a:avLst>
            </a:prstGeom>
            <a:gradFill rotWithShape="0">
              <a:gsLst>
                <a:gs pos="0">
                  <a:schemeClr val="accent1">
                    <a:gamma/>
                    <a:tint val="19608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5547" name="Text Box 13"/>
            <p:cNvSpPr txBox="1">
              <a:spLocks noChangeArrowheads="1"/>
            </p:cNvSpPr>
            <p:nvPr/>
          </p:nvSpPr>
          <p:spPr bwMode="auto">
            <a:xfrm>
              <a:off x="1058" y="3055"/>
              <a:ext cx="8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CC6600"/>
                  </a:solidFill>
                </a:rPr>
                <a:t>注意：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5" grpId="0" autoUpdateAnimBg="0"/>
      <p:bldP spid="138246" grpId="0" autoUpdateAnimBg="0"/>
      <p:bldP spid="138247" grpId="0" autoUpdateAnimBg="0"/>
      <p:bldP spid="138248" grpId="0" autoUpdateAnimBg="0"/>
      <p:bldP spid="13825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315913" y="14288"/>
            <a:ext cx="7427912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rgbClr val="0000CC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3600">
                <a:solidFill>
                  <a:srgbClr val="0000CC"/>
                </a:solidFill>
                <a:latin typeface="宋体" panose="02010600030101010101" pitchFamily="2" charset="-122"/>
              </a:rPr>
              <a:t>拆画零件图应注意的问题</a:t>
            </a:r>
            <a:r>
              <a:rPr lang="en-US" altLang="zh-CN" sz="3600">
                <a:solidFill>
                  <a:srgbClr val="0000CC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476250" y="714375"/>
            <a:ext cx="81819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(1) </a:t>
            </a:r>
            <a:r>
              <a:rPr lang="zh-CN" altLang="en-US">
                <a:latin typeface="宋体" panose="02010600030101010101" pitchFamily="2" charset="-122"/>
              </a:rPr>
              <a:t>零件的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视图表达方案</a:t>
            </a:r>
            <a:r>
              <a:rPr lang="zh-CN" altLang="en-US">
                <a:latin typeface="宋体" panose="02010600030101010101" pitchFamily="2" charset="-122"/>
              </a:rPr>
              <a:t>应根据零件的结构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形状确定，而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不能盲目照抄装配图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1257300" y="1890713"/>
            <a:ext cx="7527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如齿轮油泵中，右端盖零件的形状如下：</a:t>
            </a:r>
            <a:endParaRPr lang="zh-CN" altLang="en-US" sz="2400" b="0">
              <a:latin typeface="宋体" panose="02010600030101010101" pitchFamily="2" charset="-122"/>
            </a:endParaRPr>
          </a:p>
        </p:txBody>
      </p:sp>
      <p:sp>
        <p:nvSpPr>
          <p:cNvPr id="66565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527925" y="6116638"/>
            <a:ext cx="134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u="sng">
                <a:solidFill>
                  <a:srgbClr val="33CCCC"/>
                </a:solidFill>
              </a:rPr>
              <a:t>装配图</a:t>
            </a:r>
            <a:endParaRPr lang="zh-CN" altLang="en-US" sz="2800" u="sng">
              <a:hlinkClick r:id="" action="ppaction://noaction"/>
            </a:endParaRPr>
          </a:p>
        </p:txBody>
      </p:sp>
      <p:pic>
        <p:nvPicPr>
          <p:cNvPr id="81935" name="Picture 15" descr="2012用右端盖1，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2759075"/>
            <a:ext cx="203835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38" name="Picture 18" descr="2012用右端盖1，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2741613"/>
            <a:ext cx="2051050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utoUpdateAnimBg="0"/>
      <p:bldP spid="8192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450850" y="487363"/>
            <a:ext cx="63039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右端盖的视图应按如下方案确定：</a:t>
            </a:r>
            <a:endParaRPr lang="zh-CN" altLang="en-US" sz="2400" b="0"/>
          </a:p>
        </p:txBody>
      </p:sp>
      <p:grpSp>
        <p:nvGrpSpPr>
          <p:cNvPr id="160771" name="Group 3"/>
          <p:cNvGrpSpPr/>
          <p:nvPr/>
        </p:nvGrpSpPr>
        <p:grpSpPr bwMode="auto">
          <a:xfrm>
            <a:off x="4876800" y="1328738"/>
            <a:ext cx="3886200" cy="3673475"/>
            <a:chOff x="3072" y="1509"/>
            <a:chExt cx="2448" cy="2314"/>
          </a:xfrm>
        </p:grpSpPr>
        <p:pic>
          <p:nvPicPr>
            <p:cNvPr id="67603" name="Picture 4" descr="10-2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8" y="1804"/>
              <a:ext cx="2382" cy="1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04" name="Text Box 5"/>
            <p:cNvSpPr txBox="1">
              <a:spLocks noChangeArrowheads="1"/>
            </p:cNvSpPr>
            <p:nvPr/>
          </p:nvSpPr>
          <p:spPr bwMode="auto">
            <a:xfrm>
              <a:off x="3608" y="233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</a:t>
              </a:r>
              <a:endParaRPr lang="en-US" altLang="zh-CN" sz="2400" b="0"/>
            </a:p>
          </p:txBody>
        </p:sp>
        <p:grpSp>
          <p:nvGrpSpPr>
            <p:cNvPr id="67605" name="Group 6"/>
            <p:cNvGrpSpPr/>
            <p:nvPr/>
          </p:nvGrpSpPr>
          <p:grpSpPr bwMode="auto">
            <a:xfrm>
              <a:off x="3542" y="3573"/>
              <a:ext cx="232" cy="250"/>
              <a:chOff x="3542" y="3573"/>
              <a:chExt cx="232" cy="250"/>
            </a:xfrm>
          </p:grpSpPr>
          <p:sp>
            <p:nvSpPr>
              <p:cNvPr id="67611" name="Line 7"/>
              <p:cNvSpPr>
                <a:spLocks noChangeShapeType="1"/>
              </p:cNvSpPr>
              <p:nvPr/>
            </p:nvSpPr>
            <p:spPr bwMode="auto">
              <a:xfrm>
                <a:off x="3768" y="3648"/>
                <a:ext cx="0" cy="1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612" name="Text Box 8"/>
              <p:cNvSpPr txBox="1">
                <a:spLocks noChangeArrowheads="1"/>
              </p:cNvSpPr>
              <p:nvPr/>
            </p:nvSpPr>
            <p:spPr bwMode="auto">
              <a:xfrm>
                <a:off x="3542" y="3573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</a:t>
                </a:r>
                <a:endParaRPr lang="en-US" altLang="zh-CN" sz="2400" b="0"/>
              </a:p>
            </p:txBody>
          </p:sp>
        </p:grpSp>
        <p:sp>
          <p:nvSpPr>
            <p:cNvPr id="67606" name="Text Box 9"/>
            <p:cNvSpPr txBox="1">
              <a:spLocks noChangeArrowheads="1"/>
            </p:cNvSpPr>
            <p:nvPr/>
          </p:nvSpPr>
          <p:spPr bwMode="auto">
            <a:xfrm>
              <a:off x="4922" y="1509"/>
              <a:ext cx="4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A-A</a:t>
              </a:r>
            </a:p>
          </p:txBody>
        </p:sp>
        <p:grpSp>
          <p:nvGrpSpPr>
            <p:cNvPr id="67607" name="Group 10"/>
            <p:cNvGrpSpPr/>
            <p:nvPr/>
          </p:nvGrpSpPr>
          <p:grpSpPr bwMode="auto">
            <a:xfrm>
              <a:off x="3072" y="1597"/>
              <a:ext cx="252" cy="365"/>
              <a:chOff x="3072" y="1597"/>
              <a:chExt cx="252" cy="365"/>
            </a:xfrm>
          </p:grpSpPr>
          <p:sp>
            <p:nvSpPr>
              <p:cNvPr id="67608" name="Line 11"/>
              <p:cNvSpPr>
                <a:spLocks noChangeShapeType="1"/>
              </p:cNvSpPr>
              <p:nvPr/>
            </p:nvSpPr>
            <p:spPr bwMode="auto">
              <a:xfrm>
                <a:off x="3206" y="1862"/>
                <a:ext cx="100" cy="1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609" name="Text Box 12"/>
              <p:cNvSpPr txBox="1">
                <a:spLocks noChangeArrowheads="1"/>
              </p:cNvSpPr>
              <p:nvPr/>
            </p:nvSpPr>
            <p:spPr bwMode="auto">
              <a:xfrm>
                <a:off x="3072" y="1597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</a:t>
                </a:r>
                <a:endParaRPr lang="en-US" altLang="zh-CN" sz="2400" b="0"/>
              </a:p>
            </p:txBody>
          </p:sp>
          <p:sp>
            <p:nvSpPr>
              <p:cNvPr id="67610" name="Line 13"/>
              <p:cNvSpPr>
                <a:spLocks noChangeShapeType="1"/>
              </p:cNvSpPr>
              <p:nvPr/>
            </p:nvSpPr>
            <p:spPr bwMode="auto">
              <a:xfrm flipV="1">
                <a:off x="3216" y="1752"/>
                <a:ext cx="108" cy="1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60782" name="Group 14"/>
          <p:cNvGrpSpPr/>
          <p:nvPr/>
        </p:nvGrpSpPr>
        <p:grpSpPr bwMode="auto">
          <a:xfrm>
            <a:off x="463550" y="1328738"/>
            <a:ext cx="3879850" cy="3648075"/>
            <a:chOff x="292" y="1509"/>
            <a:chExt cx="2444" cy="2298"/>
          </a:xfrm>
        </p:grpSpPr>
        <p:pic>
          <p:nvPicPr>
            <p:cNvPr id="67592" name="Picture 15" descr="10-2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" y="1802"/>
              <a:ext cx="2344" cy="1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93" name="Rectangle 16"/>
            <p:cNvSpPr>
              <a:spLocks noChangeArrowheads="1"/>
            </p:cNvSpPr>
            <p:nvPr/>
          </p:nvSpPr>
          <p:spPr bwMode="auto">
            <a:xfrm>
              <a:off x="1920" y="2412"/>
              <a:ext cx="66" cy="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67594" name="Text Box 17"/>
            <p:cNvSpPr txBox="1">
              <a:spLocks noChangeArrowheads="1"/>
            </p:cNvSpPr>
            <p:nvPr/>
          </p:nvSpPr>
          <p:spPr bwMode="auto">
            <a:xfrm>
              <a:off x="1844" y="233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</a:t>
              </a:r>
              <a:endParaRPr lang="en-US" altLang="zh-CN" sz="2400" b="0"/>
            </a:p>
          </p:txBody>
        </p:sp>
        <p:sp>
          <p:nvSpPr>
            <p:cNvPr id="67595" name="Text Box 18"/>
            <p:cNvSpPr txBox="1">
              <a:spLocks noChangeArrowheads="1"/>
            </p:cNvSpPr>
            <p:nvPr/>
          </p:nvSpPr>
          <p:spPr bwMode="auto">
            <a:xfrm>
              <a:off x="674" y="1509"/>
              <a:ext cx="4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A-A</a:t>
              </a:r>
              <a:endParaRPr lang="en-US" altLang="zh-CN" sz="2400" b="0"/>
            </a:p>
          </p:txBody>
        </p:sp>
        <p:grpSp>
          <p:nvGrpSpPr>
            <p:cNvPr id="67596" name="Group 19"/>
            <p:cNvGrpSpPr/>
            <p:nvPr/>
          </p:nvGrpSpPr>
          <p:grpSpPr bwMode="auto">
            <a:xfrm>
              <a:off x="2452" y="1593"/>
              <a:ext cx="284" cy="387"/>
              <a:chOff x="2452" y="1593"/>
              <a:chExt cx="284" cy="387"/>
            </a:xfrm>
          </p:grpSpPr>
          <p:sp>
            <p:nvSpPr>
              <p:cNvPr id="67600" name="Line 20"/>
              <p:cNvSpPr>
                <a:spLocks noChangeShapeType="1"/>
              </p:cNvSpPr>
              <p:nvPr/>
            </p:nvSpPr>
            <p:spPr bwMode="auto">
              <a:xfrm flipH="1">
                <a:off x="2476" y="1872"/>
                <a:ext cx="100" cy="1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601" name="Text Box 21"/>
              <p:cNvSpPr txBox="1">
                <a:spLocks noChangeArrowheads="1"/>
              </p:cNvSpPr>
              <p:nvPr/>
            </p:nvSpPr>
            <p:spPr bwMode="auto">
              <a:xfrm>
                <a:off x="2504" y="1593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</a:t>
                </a:r>
                <a:endParaRPr lang="en-US" altLang="zh-CN" sz="2000" b="0"/>
              </a:p>
            </p:txBody>
          </p:sp>
          <p:sp>
            <p:nvSpPr>
              <p:cNvPr id="67602" name="Line 22"/>
              <p:cNvSpPr>
                <a:spLocks noChangeShapeType="1"/>
              </p:cNvSpPr>
              <p:nvPr/>
            </p:nvSpPr>
            <p:spPr bwMode="auto">
              <a:xfrm flipH="1" flipV="1">
                <a:off x="2452" y="1756"/>
                <a:ext cx="12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7597" name="Group 23"/>
            <p:cNvGrpSpPr/>
            <p:nvPr/>
          </p:nvGrpSpPr>
          <p:grpSpPr bwMode="auto">
            <a:xfrm>
              <a:off x="2008" y="3557"/>
              <a:ext cx="254" cy="250"/>
              <a:chOff x="2008" y="3557"/>
              <a:chExt cx="254" cy="250"/>
            </a:xfrm>
          </p:grpSpPr>
          <p:sp>
            <p:nvSpPr>
              <p:cNvPr id="67598" name="Text Box 24"/>
              <p:cNvSpPr txBox="1">
                <a:spLocks noChangeArrowheads="1"/>
              </p:cNvSpPr>
              <p:nvPr/>
            </p:nvSpPr>
            <p:spPr bwMode="auto">
              <a:xfrm>
                <a:off x="2030" y="3557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</a:t>
                </a:r>
                <a:endParaRPr lang="en-US" altLang="zh-CN" sz="2400" b="0"/>
              </a:p>
            </p:txBody>
          </p:sp>
          <p:sp>
            <p:nvSpPr>
              <p:cNvPr id="67599" name="Line 25"/>
              <p:cNvSpPr>
                <a:spLocks noChangeShapeType="1"/>
              </p:cNvSpPr>
              <p:nvPr/>
            </p:nvSpPr>
            <p:spPr bwMode="auto">
              <a:xfrm>
                <a:off x="2008" y="3632"/>
                <a:ext cx="0" cy="1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7589" name="Text Box 26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7566025" y="5945188"/>
            <a:ext cx="111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folHlink"/>
                </a:solidFill>
              </a:rPr>
              <a:t>装配图</a:t>
            </a:r>
            <a:endParaRPr lang="zh-CN" altLang="en-US" sz="2400" u="sng"/>
          </a:p>
        </p:txBody>
      </p:sp>
      <p:sp>
        <p:nvSpPr>
          <p:cNvPr id="160795" name="Text Box 27"/>
          <p:cNvSpPr txBox="1">
            <a:spLocks noChangeArrowheads="1"/>
          </p:cNvSpPr>
          <p:nvPr/>
        </p:nvSpPr>
        <p:spPr bwMode="auto">
          <a:xfrm>
            <a:off x="1679575" y="5111750"/>
            <a:ext cx="1255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方案一</a:t>
            </a:r>
            <a:endParaRPr lang="zh-CN" altLang="en-US" sz="2400" b="0">
              <a:solidFill>
                <a:srgbClr val="FF3300"/>
              </a:solidFill>
            </a:endParaRPr>
          </a:p>
        </p:txBody>
      </p:sp>
      <p:sp>
        <p:nvSpPr>
          <p:cNvPr id="160796" name="Text Box 28"/>
          <p:cNvSpPr txBox="1">
            <a:spLocks noChangeArrowheads="1"/>
          </p:cNvSpPr>
          <p:nvPr/>
        </p:nvSpPr>
        <p:spPr bwMode="auto">
          <a:xfrm>
            <a:off x="6327775" y="5054600"/>
            <a:ext cx="1255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方案二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6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16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95" grpId="0" autoUpdateAnimBg="0"/>
      <p:bldP spid="16079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355600" y="360363"/>
            <a:ext cx="875665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(2) </a:t>
            </a:r>
            <a:r>
              <a:rPr lang="zh-CN" altLang="en-US">
                <a:latin typeface="宋体" panose="02010600030101010101" pitchFamily="2" charset="-122"/>
              </a:rPr>
              <a:t>在装配图中允许不画的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零件的工艺结构，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    如倒角</a:t>
            </a:r>
            <a:r>
              <a:rPr lang="zh-CN" altLang="en-US">
                <a:latin typeface="宋体" panose="02010600030101010101" pitchFamily="2" charset="-122"/>
              </a:rPr>
              <a:t>、圆角、退刀槽等，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在零件图中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    应全部画出。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355600" y="2020888"/>
            <a:ext cx="8347075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(3) </a:t>
            </a:r>
            <a:r>
              <a:rPr lang="zh-CN" altLang="en-US">
                <a:latin typeface="宋体" panose="02010600030101010101" pitchFamily="2" charset="-122"/>
              </a:rPr>
              <a:t>零件图的尺寸，除在装配图中注出者外，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其余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尺寸</a:t>
            </a:r>
            <a:r>
              <a:rPr lang="zh-CN" altLang="en-US">
                <a:latin typeface="宋体" panose="02010600030101010101" pitchFamily="2" charset="-122"/>
              </a:rPr>
              <a:t>都在图上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按比例直接量取</a:t>
            </a:r>
            <a:r>
              <a:rPr lang="zh-CN" altLang="en-US">
                <a:latin typeface="宋体" panose="02010600030101010101" pitchFamily="2" charset="-122"/>
              </a:rPr>
              <a:t>，并圆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整。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1162050" y="3516313"/>
            <a:ext cx="79406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与标准件连接或配合的尺寸</a:t>
            </a:r>
            <a:r>
              <a:rPr lang="en-US" altLang="zh-CN">
                <a:latin typeface="宋体" panose="02010600030101010101" pitchFamily="2" charset="-122"/>
              </a:rPr>
              <a:t>, </a:t>
            </a:r>
            <a:r>
              <a:rPr lang="zh-CN" altLang="en-US">
                <a:latin typeface="宋体" panose="02010600030101010101" pitchFamily="2" charset="-122"/>
              </a:rPr>
              <a:t>如螺纹、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倒角、退刀槽等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要查标准注出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1162050" y="4705350"/>
            <a:ext cx="75390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配合</a:t>
            </a:r>
            <a:r>
              <a:rPr lang="zh-CN" altLang="en-US">
                <a:latin typeface="宋体" panose="02010600030101010101" pitchFamily="2" charset="-122"/>
              </a:rPr>
              <a:t>要求的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表面</a:t>
            </a:r>
            <a:r>
              <a:rPr lang="zh-CN" altLang="en-US">
                <a:latin typeface="宋体" panose="02010600030101010101" pitchFamily="2" charset="-122"/>
              </a:rPr>
              <a:t>，要注出尺寸的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公差带代号或偏差数值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 sz="2400" b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  <p:bldP spid="83972" grpId="0" autoUpdateAnimBg="0"/>
      <p:bldP spid="8397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304800" y="282575"/>
            <a:ext cx="8347075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(4) </a:t>
            </a:r>
            <a:r>
              <a:rPr lang="zh-CN" altLang="en-US">
                <a:latin typeface="宋体" panose="02010600030101010101" pitchFamily="2" charset="-122"/>
              </a:rPr>
              <a:t>根据零件各表面的作用和工作要求，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注出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    表面粗糙度</a:t>
            </a:r>
            <a:r>
              <a:rPr lang="zh-CN" altLang="en-US">
                <a:latin typeface="宋体" panose="02010600030101010101" pitchFamily="2" charset="-122"/>
              </a:rPr>
              <a:t>要求。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709613" y="1455738"/>
            <a:ext cx="7802562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① </a:t>
            </a:r>
            <a:r>
              <a:rPr lang="zh-CN" altLang="en-US">
                <a:latin typeface="宋体" panose="02010600030101010101" pitchFamily="2" charset="-122"/>
              </a:rPr>
              <a:t>配合表面：</a:t>
            </a:r>
            <a:r>
              <a:rPr lang="en-US" altLang="zh-CN" i="1"/>
              <a:t>Ra</a:t>
            </a:r>
            <a:r>
              <a:rPr lang="zh-CN" altLang="en-US">
                <a:latin typeface="宋体" panose="02010600030101010101" pitchFamily="2" charset="-122"/>
              </a:rPr>
              <a:t>值取</a:t>
            </a:r>
            <a:r>
              <a:rPr lang="en-US" altLang="zh-CN">
                <a:solidFill>
                  <a:srgbClr val="0000CC"/>
                </a:solidFill>
              </a:rPr>
              <a:t>3.2~0.8</a:t>
            </a:r>
            <a:r>
              <a:rPr lang="zh-CN" altLang="en-US">
                <a:latin typeface="宋体" panose="02010600030101010101" pitchFamily="2" charset="-122"/>
              </a:rPr>
              <a:t>，公差等级高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的</a:t>
            </a:r>
            <a:r>
              <a:rPr lang="en-US" altLang="zh-CN" i="1"/>
              <a:t>Ra</a:t>
            </a:r>
            <a:r>
              <a:rPr lang="zh-CN" altLang="en-US">
                <a:latin typeface="宋体" panose="02010600030101010101" pitchFamily="2" charset="-122"/>
              </a:rPr>
              <a:t>取较小值。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709613" y="2628900"/>
            <a:ext cx="8108950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② </a:t>
            </a:r>
            <a:r>
              <a:rPr lang="zh-CN" altLang="en-US">
                <a:latin typeface="宋体" panose="02010600030101010101" pitchFamily="2" charset="-122"/>
              </a:rPr>
              <a:t>接触面</a:t>
            </a:r>
            <a:r>
              <a:rPr lang="en-US" altLang="zh-CN">
                <a:latin typeface="宋体" panose="02010600030101010101" pitchFamily="2" charset="-122"/>
              </a:rPr>
              <a:t>: </a:t>
            </a:r>
            <a:r>
              <a:rPr lang="en-US" altLang="zh-CN" i="1"/>
              <a:t>Ra</a:t>
            </a:r>
            <a:r>
              <a:rPr lang="zh-CN" altLang="en-US">
                <a:latin typeface="宋体" panose="02010600030101010101" pitchFamily="2" charset="-122"/>
              </a:rPr>
              <a:t>值取</a:t>
            </a:r>
            <a:r>
              <a:rPr lang="en-US" altLang="zh-CN">
                <a:solidFill>
                  <a:srgbClr val="0000CC"/>
                </a:solidFill>
              </a:rPr>
              <a:t>6.3~3.2</a:t>
            </a:r>
            <a:r>
              <a:rPr lang="zh-CN" altLang="en-US">
                <a:latin typeface="宋体" panose="02010600030101010101" pitchFamily="2" charset="-122"/>
              </a:rPr>
              <a:t>，如零件的定位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底面</a:t>
            </a:r>
            <a:r>
              <a:rPr lang="en-US" altLang="zh-CN" i="1">
                <a:latin typeface="宋体" panose="02010600030101010101" pitchFamily="2" charset="-122"/>
              </a:rPr>
              <a:t>R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值可取</a:t>
            </a:r>
            <a:r>
              <a:rPr lang="en-US" altLang="zh-CN">
                <a:solidFill>
                  <a:srgbClr val="0000CC"/>
                </a:solidFill>
              </a:rPr>
              <a:t>3.2</a:t>
            </a:r>
            <a:r>
              <a:rPr lang="zh-CN" altLang="en-US">
                <a:latin typeface="宋体" panose="02010600030101010101" pitchFamily="2" charset="-122"/>
              </a:rPr>
              <a:t>，一般端面可取</a:t>
            </a:r>
            <a:r>
              <a:rPr lang="en-US" altLang="zh-CN">
                <a:solidFill>
                  <a:srgbClr val="0000CC"/>
                </a:solidFill>
              </a:rPr>
              <a:t>6.3</a:t>
            </a:r>
            <a:r>
              <a:rPr lang="zh-CN" altLang="en-US">
                <a:latin typeface="宋体" panose="02010600030101010101" pitchFamily="2" charset="-122"/>
              </a:rPr>
              <a:t>等。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709613" y="3802063"/>
            <a:ext cx="8315325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③ </a:t>
            </a:r>
            <a:r>
              <a:rPr lang="zh-CN" altLang="en-US">
                <a:latin typeface="宋体" panose="02010600030101010101" pitchFamily="2" charset="-122"/>
              </a:rPr>
              <a:t>需加工的自由表面（不与其他零件接触的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表面）</a:t>
            </a:r>
            <a:r>
              <a:rPr lang="en-US" altLang="zh-CN">
                <a:latin typeface="宋体" panose="02010600030101010101" pitchFamily="2" charset="-122"/>
              </a:rPr>
              <a:t>: </a:t>
            </a:r>
            <a:r>
              <a:rPr lang="en-US" altLang="zh-CN" i="1"/>
              <a:t>Ra</a:t>
            </a:r>
            <a:r>
              <a:rPr lang="zh-CN" altLang="en-US">
                <a:latin typeface="宋体" panose="02010600030101010101" pitchFamily="2" charset="-122"/>
              </a:rPr>
              <a:t>值可取</a:t>
            </a:r>
            <a:r>
              <a:rPr lang="en-US" altLang="zh-CN">
                <a:solidFill>
                  <a:srgbClr val="0000CC"/>
                </a:solidFill>
              </a:rPr>
              <a:t>25~12.5</a:t>
            </a:r>
            <a:r>
              <a:rPr lang="zh-CN" altLang="en-US">
                <a:latin typeface="宋体" panose="02010600030101010101" pitchFamily="2" charset="-122"/>
              </a:rPr>
              <a:t>，如螺栓孔等。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304800" y="4975225"/>
            <a:ext cx="8347075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(5) </a:t>
            </a:r>
            <a:r>
              <a:rPr lang="zh-CN" altLang="en-US">
                <a:latin typeface="宋体" panose="02010600030101010101" pitchFamily="2" charset="-122"/>
              </a:rPr>
              <a:t>根据零件在部件中的作用和加工条件，确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 定零件图的其他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技术要求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utoUpdateAnimBg="0"/>
      <p:bldP spid="84996" grpId="0" autoUpdateAnimBg="0"/>
      <p:bldP spid="84997" grpId="0" autoUpdateAnimBg="0"/>
      <p:bldP spid="8499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955675" y="114300"/>
            <a:ext cx="7119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根据齿轮油泵装配图拆画的泵体零件图</a:t>
            </a:r>
            <a:endParaRPr lang="zh-CN" altLang="en-US" sz="2400" b="0"/>
          </a:p>
        </p:txBody>
      </p:sp>
      <p:pic>
        <p:nvPicPr>
          <p:cNvPr id="70659" name="Picture 8" descr="15-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" y="695325"/>
            <a:ext cx="7578725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4"/>
          <p:cNvSpPr>
            <a:spLocks noGrp="1" noChangeArrowheads="1"/>
          </p:cNvSpPr>
          <p:nvPr>
            <p:ph type="ctrTitle"/>
          </p:nvPr>
        </p:nvSpPr>
        <p:spPr>
          <a:xfrm>
            <a:off x="2098675" y="115888"/>
            <a:ext cx="4668838" cy="727075"/>
          </a:xfrm>
          <a:gradFill rotWithShape="0">
            <a:gsLst>
              <a:gs pos="0">
                <a:srgbClr val="FFCCFF"/>
              </a:gs>
              <a:gs pos="50000">
                <a:srgbClr val="FFFF00"/>
              </a:gs>
              <a:gs pos="100000">
                <a:srgbClr val="FFCCFF"/>
              </a:gs>
            </a:gsLst>
            <a:lin ang="5400000" scaled="1"/>
          </a:gradFill>
          <a:ln w="38100">
            <a:pattFill prst="trellis">
              <a:fgClr>
                <a:srgbClr val="FF3300"/>
              </a:fgClr>
              <a:bgClr>
                <a:srgbClr val="FFFF00"/>
              </a:bgClr>
            </a:pattFill>
            <a:miter lim="800000"/>
          </a:ln>
        </p:spPr>
        <p:txBody>
          <a:bodyPr anchor="ctr"/>
          <a:lstStyle/>
          <a:p>
            <a:pPr eaLnBrk="1" hangingPunct="1"/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小结  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sym typeface="Monotype Sorts" panose="05000000000000000000" pitchFamily="2" charset="2"/>
            </a:endParaRPr>
          </a:p>
        </p:txBody>
      </p:sp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273050" y="982663"/>
            <a:ext cx="75025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1.</a:t>
            </a:r>
            <a:r>
              <a:rPr lang="zh-CN" altLang="en-US">
                <a:latin typeface="宋体" panose="02010600030101010101" pitchFamily="2" charset="-122"/>
              </a:rPr>
              <a:t>掌握装配图的</a:t>
            </a:r>
            <a:r>
              <a:rPr lang="zh-CN" altLang="en-US">
                <a:solidFill>
                  <a:srgbClr val="3333CC"/>
                </a:solidFill>
                <a:latin typeface="宋体" panose="02010600030101010101" pitchFamily="2" charset="-122"/>
              </a:rPr>
              <a:t>规定画法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3333CC"/>
                </a:solidFill>
                <a:latin typeface="宋体" panose="02010600030101010101" pitchFamily="2" charset="-122"/>
              </a:rPr>
              <a:t>特殊画法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9270" name="Text Box 6"/>
          <p:cNvSpPr txBox="1">
            <a:spLocks noChangeArrowheads="1"/>
          </p:cNvSpPr>
          <p:nvPr/>
        </p:nvSpPr>
        <p:spPr bwMode="auto">
          <a:xfrm>
            <a:off x="273050" y="1460500"/>
            <a:ext cx="8609013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</a:rPr>
              <a:t>画装配图首先选好主视图，确定较好的视图表达方案，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把部件的</a:t>
            </a:r>
            <a:r>
              <a:rPr lang="zh-CN" altLang="en-US">
                <a:solidFill>
                  <a:srgbClr val="3333CC"/>
                </a:solidFill>
                <a:latin typeface="宋体" panose="02010600030101010101" pitchFamily="2" charset="-122"/>
              </a:rPr>
              <a:t>工作原理、装配关系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零件之间的连接固定方式和重要零件的主要结构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表达清楚。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39271" name="Text Box 7"/>
          <p:cNvSpPr txBox="1">
            <a:spLocks noChangeArrowheads="1"/>
          </p:cNvSpPr>
          <p:nvPr/>
        </p:nvSpPr>
        <p:spPr bwMode="auto">
          <a:xfrm>
            <a:off x="273050" y="3449638"/>
            <a:ext cx="841692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3.</a:t>
            </a:r>
            <a:r>
              <a:rPr lang="zh-CN" altLang="en-US">
                <a:latin typeface="宋体" panose="02010600030101010101" pitchFamily="2" charset="-122"/>
              </a:rPr>
              <a:t>根据尺寸的作用，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弄清装配图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应标注哪几类尺寸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273050" y="4356100"/>
            <a:ext cx="8370888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4.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掌握正确的画图方法和步骤</a:t>
            </a:r>
            <a:r>
              <a:rPr lang="zh-CN" altLang="en-US">
                <a:latin typeface="宋体" panose="02010600030101010101" pitchFamily="2" charset="-122"/>
              </a:rPr>
              <a:t>。画图时要首先了解每个零件在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轴向、径向</a:t>
            </a:r>
            <a:r>
              <a:rPr lang="zh-CN" altLang="en-US">
                <a:latin typeface="宋体" panose="02010600030101010101" pitchFamily="2" charset="-122"/>
              </a:rPr>
              <a:t>的固定方式，使它在装配体中有一个固定的位置，一般径向靠配合、键、销连接固定；轴向靠轴肩或端面定。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 autoUpdateAnimBg="0"/>
      <p:bldP spid="139270" grpId="0" autoUpdateAnimBg="0"/>
      <p:bldP spid="139271" grpId="0" autoUpdateAnimBg="0"/>
      <p:bldP spid="13927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407988" y="3003550"/>
            <a:ext cx="85486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⑶ </a:t>
            </a:r>
            <a:r>
              <a:rPr lang="zh-CN" altLang="en-US">
                <a:latin typeface="宋体" panose="02010600030101010101" pitchFamily="2" charset="-122"/>
              </a:rPr>
              <a:t>通过拆画零件图，提高看图和画图的能力。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407988" y="557213"/>
            <a:ext cx="6918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5.</a:t>
            </a:r>
            <a:r>
              <a:rPr lang="zh-CN" altLang="en-US">
                <a:latin typeface="宋体" panose="02010600030101010101" pitchFamily="2" charset="-122"/>
              </a:rPr>
              <a:t>读装配图的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方法和步骤，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重点掌握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407988" y="1193800"/>
            <a:ext cx="85486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⑴ </a:t>
            </a:r>
            <a:r>
              <a:rPr lang="zh-CN" altLang="en-US">
                <a:latin typeface="宋体" panose="02010600030101010101" pitchFamily="2" charset="-122"/>
              </a:rPr>
              <a:t>分析部件的工作原理和零件间的装配关系。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407988" y="1738313"/>
            <a:ext cx="81407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⑵ </a:t>
            </a:r>
            <a:r>
              <a:rPr lang="zh-CN" altLang="en-US">
                <a:latin typeface="宋体" panose="02010600030101010101" pitchFamily="2" charset="-122"/>
              </a:rPr>
              <a:t>确定主要零件的结构形状。这是看图中的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难点，在练习中逐步掌握。</a:t>
            </a:r>
          </a:p>
        </p:txBody>
      </p:sp>
      <p:grpSp>
        <p:nvGrpSpPr>
          <p:cNvPr id="73734" name="Group 7"/>
          <p:cNvGrpSpPr/>
          <p:nvPr/>
        </p:nvGrpSpPr>
        <p:grpSpPr bwMode="auto">
          <a:xfrm rot="-3146420">
            <a:off x="8085138" y="5137150"/>
            <a:ext cx="1135062" cy="865188"/>
            <a:chOff x="2147" y="588"/>
            <a:chExt cx="1509" cy="1111"/>
          </a:xfrm>
        </p:grpSpPr>
        <p:sp>
          <p:nvSpPr>
            <p:cNvPr id="73785" name="Freeform 8"/>
            <p:cNvSpPr/>
            <p:nvPr/>
          </p:nvSpPr>
          <p:spPr bwMode="auto">
            <a:xfrm>
              <a:off x="2999" y="907"/>
              <a:ext cx="567" cy="660"/>
            </a:xfrm>
            <a:custGeom>
              <a:avLst/>
              <a:gdLst>
                <a:gd name="T0" fmla="*/ 186 w 567"/>
                <a:gd name="T1" fmla="*/ 27 h 660"/>
                <a:gd name="T2" fmla="*/ 315 w 567"/>
                <a:gd name="T3" fmla="*/ 0 h 660"/>
                <a:gd name="T4" fmla="*/ 453 w 567"/>
                <a:gd name="T5" fmla="*/ 24 h 660"/>
                <a:gd name="T6" fmla="*/ 561 w 567"/>
                <a:gd name="T7" fmla="*/ 120 h 660"/>
                <a:gd name="T8" fmla="*/ 567 w 567"/>
                <a:gd name="T9" fmla="*/ 219 h 660"/>
                <a:gd name="T10" fmla="*/ 525 w 567"/>
                <a:gd name="T11" fmla="*/ 363 h 660"/>
                <a:gd name="T12" fmla="*/ 393 w 567"/>
                <a:gd name="T13" fmla="*/ 531 h 660"/>
                <a:gd name="T14" fmla="*/ 300 w 567"/>
                <a:gd name="T15" fmla="*/ 639 h 660"/>
                <a:gd name="T16" fmla="*/ 147 w 567"/>
                <a:gd name="T17" fmla="*/ 660 h 660"/>
                <a:gd name="T18" fmla="*/ 0 w 567"/>
                <a:gd name="T19" fmla="*/ 546 h 660"/>
                <a:gd name="T20" fmla="*/ 186 w 567"/>
                <a:gd name="T21" fmla="*/ 27 h 66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7" h="660">
                  <a:moveTo>
                    <a:pt x="186" y="27"/>
                  </a:moveTo>
                  <a:lnTo>
                    <a:pt x="315" y="0"/>
                  </a:lnTo>
                  <a:lnTo>
                    <a:pt x="453" y="24"/>
                  </a:lnTo>
                  <a:lnTo>
                    <a:pt x="561" y="120"/>
                  </a:lnTo>
                  <a:lnTo>
                    <a:pt x="567" y="219"/>
                  </a:lnTo>
                  <a:lnTo>
                    <a:pt x="525" y="363"/>
                  </a:lnTo>
                  <a:lnTo>
                    <a:pt x="393" y="531"/>
                  </a:lnTo>
                  <a:lnTo>
                    <a:pt x="300" y="639"/>
                  </a:lnTo>
                  <a:lnTo>
                    <a:pt x="147" y="660"/>
                  </a:lnTo>
                  <a:lnTo>
                    <a:pt x="0" y="546"/>
                  </a:lnTo>
                  <a:lnTo>
                    <a:pt x="186" y="27"/>
                  </a:ln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6" name="Freeform 9"/>
            <p:cNvSpPr/>
            <p:nvPr/>
          </p:nvSpPr>
          <p:spPr bwMode="auto">
            <a:xfrm>
              <a:off x="2999" y="960"/>
              <a:ext cx="480" cy="582"/>
            </a:xfrm>
            <a:custGeom>
              <a:avLst/>
              <a:gdLst>
                <a:gd name="T0" fmla="*/ 207 w 480"/>
                <a:gd name="T1" fmla="*/ 69 h 582"/>
                <a:gd name="T2" fmla="*/ 228 w 480"/>
                <a:gd name="T3" fmla="*/ 15 h 582"/>
                <a:gd name="T4" fmla="*/ 294 w 480"/>
                <a:gd name="T5" fmla="*/ 0 h 582"/>
                <a:gd name="T6" fmla="*/ 324 w 480"/>
                <a:gd name="T7" fmla="*/ 3 h 582"/>
                <a:gd name="T8" fmla="*/ 288 w 480"/>
                <a:gd name="T9" fmla="*/ 18 h 582"/>
                <a:gd name="T10" fmla="*/ 273 w 480"/>
                <a:gd name="T11" fmla="*/ 42 h 582"/>
                <a:gd name="T12" fmla="*/ 297 w 480"/>
                <a:gd name="T13" fmla="*/ 42 h 582"/>
                <a:gd name="T14" fmla="*/ 339 w 480"/>
                <a:gd name="T15" fmla="*/ 42 h 582"/>
                <a:gd name="T16" fmla="*/ 411 w 480"/>
                <a:gd name="T17" fmla="*/ 42 h 582"/>
                <a:gd name="T18" fmla="*/ 345 w 480"/>
                <a:gd name="T19" fmla="*/ 66 h 582"/>
                <a:gd name="T20" fmla="*/ 324 w 480"/>
                <a:gd name="T21" fmla="*/ 84 h 582"/>
                <a:gd name="T22" fmla="*/ 306 w 480"/>
                <a:gd name="T23" fmla="*/ 105 h 582"/>
                <a:gd name="T24" fmla="*/ 285 w 480"/>
                <a:gd name="T25" fmla="*/ 156 h 582"/>
                <a:gd name="T26" fmla="*/ 342 w 480"/>
                <a:gd name="T27" fmla="*/ 120 h 582"/>
                <a:gd name="T28" fmla="*/ 363 w 480"/>
                <a:gd name="T29" fmla="*/ 105 h 582"/>
                <a:gd name="T30" fmla="*/ 429 w 480"/>
                <a:gd name="T31" fmla="*/ 93 h 582"/>
                <a:gd name="T32" fmla="*/ 480 w 480"/>
                <a:gd name="T33" fmla="*/ 96 h 582"/>
                <a:gd name="T34" fmla="*/ 438 w 480"/>
                <a:gd name="T35" fmla="*/ 114 h 582"/>
                <a:gd name="T36" fmla="*/ 360 w 480"/>
                <a:gd name="T37" fmla="*/ 165 h 582"/>
                <a:gd name="T38" fmla="*/ 306 w 480"/>
                <a:gd name="T39" fmla="*/ 222 h 582"/>
                <a:gd name="T40" fmla="*/ 285 w 480"/>
                <a:gd name="T41" fmla="*/ 270 h 582"/>
                <a:gd name="T42" fmla="*/ 312 w 480"/>
                <a:gd name="T43" fmla="*/ 249 h 582"/>
                <a:gd name="T44" fmla="*/ 357 w 480"/>
                <a:gd name="T45" fmla="*/ 234 h 582"/>
                <a:gd name="T46" fmla="*/ 411 w 480"/>
                <a:gd name="T47" fmla="*/ 231 h 582"/>
                <a:gd name="T48" fmla="*/ 375 w 480"/>
                <a:gd name="T49" fmla="*/ 249 h 582"/>
                <a:gd name="T50" fmla="*/ 324 w 480"/>
                <a:gd name="T51" fmla="*/ 297 h 582"/>
                <a:gd name="T52" fmla="*/ 276 w 480"/>
                <a:gd name="T53" fmla="*/ 354 h 582"/>
                <a:gd name="T54" fmla="*/ 306 w 480"/>
                <a:gd name="T55" fmla="*/ 348 h 582"/>
                <a:gd name="T56" fmla="*/ 348 w 480"/>
                <a:gd name="T57" fmla="*/ 351 h 582"/>
                <a:gd name="T58" fmla="*/ 378 w 480"/>
                <a:gd name="T59" fmla="*/ 378 h 582"/>
                <a:gd name="T60" fmla="*/ 324 w 480"/>
                <a:gd name="T61" fmla="*/ 375 h 582"/>
                <a:gd name="T62" fmla="*/ 276 w 480"/>
                <a:gd name="T63" fmla="*/ 390 h 582"/>
                <a:gd name="T64" fmla="*/ 231 w 480"/>
                <a:gd name="T65" fmla="*/ 426 h 582"/>
                <a:gd name="T66" fmla="*/ 309 w 480"/>
                <a:gd name="T67" fmla="*/ 411 h 582"/>
                <a:gd name="T68" fmla="*/ 327 w 480"/>
                <a:gd name="T69" fmla="*/ 417 h 582"/>
                <a:gd name="T70" fmla="*/ 384 w 480"/>
                <a:gd name="T71" fmla="*/ 441 h 582"/>
                <a:gd name="T72" fmla="*/ 333 w 480"/>
                <a:gd name="T73" fmla="*/ 441 h 582"/>
                <a:gd name="T74" fmla="*/ 264 w 480"/>
                <a:gd name="T75" fmla="*/ 456 h 582"/>
                <a:gd name="T76" fmla="*/ 231 w 480"/>
                <a:gd name="T77" fmla="*/ 480 h 582"/>
                <a:gd name="T78" fmla="*/ 285 w 480"/>
                <a:gd name="T79" fmla="*/ 480 h 582"/>
                <a:gd name="T80" fmla="*/ 318 w 480"/>
                <a:gd name="T81" fmla="*/ 501 h 582"/>
                <a:gd name="T82" fmla="*/ 267 w 480"/>
                <a:gd name="T83" fmla="*/ 510 h 582"/>
                <a:gd name="T84" fmla="*/ 204 w 480"/>
                <a:gd name="T85" fmla="*/ 531 h 582"/>
                <a:gd name="T86" fmla="*/ 129 w 480"/>
                <a:gd name="T87" fmla="*/ 582 h 582"/>
                <a:gd name="T88" fmla="*/ 0 w 480"/>
                <a:gd name="T89" fmla="*/ 513 h 582"/>
                <a:gd name="T90" fmla="*/ 207 w 480"/>
                <a:gd name="T91" fmla="*/ 69 h 58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80" h="582">
                  <a:moveTo>
                    <a:pt x="207" y="69"/>
                  </a:moveTo>
                  <a:lnTo>
                    <a:pt x="228" y="15"/>
                  </a:lnTo>
                  <a:lnTo>
                    <a:pt x="294" y="0"/>
                  </a:lnTo>
                  <a:lnTo>
                    <a:pt x="324" y="3"/>
                  </a:lnTo>
                  <a:lnTo>
                    <a:pt x="288" y="18"/>
                  </a:lnTo>
                  <a:lnTo>
                    <a:pt x="273" y="42"/>
                  </a:lnTo>
                  <a:lnTo>
                    <a:pt x="297" y="42"/>
                  </a:lnTo>
                  <a:lnTo>
                    <a:pt x="339" y="42"/>
                  </a:lnTo>
                  <a:lnTo>
                    <a:pt x="411" y="42"/>
                  </a:lnTo>
                  <a:lnTo>
                    <a:pt x="345" y="66"/>
                  </a:lnTo>
                  <a:lnTo>
                    <a:pt x="324" y="84"/>
                  </a:lnTo>
                  <a:lnTo>
                    <a:pt x="306" y="105"/>
                  </a:lnTo>
                  <a:lnTo>
                    <a:pt x="285" y="156"/>
                  </a:lnTo>
                  <a:lnTo>
                    <a:pt x="342" y="120"/>
                  </a:lnTo>
                  <a:lnTo>
                    <a:pt x="363" y="105"/>
                  </a:lnTo>
                  <a:lnTo>
                    <a:pt x="429" y="93"/>
                  </a:lnTo>
                  <a:lnTo>
                    <a:pt x="480" y="96"/>
                  </a:lnTo>
                  <a:lnTo>
                    <a:pt x="438" y="114"/>
                  </a:lnTo>
                  <a:lnTo>
                    <a:pt x="360" y="165"/>
                  </a:lnTo>
                  <a:lnTo>
                    <a:pt x="306" y="222"/>
                  </a:lnTo>
                  <a:lnTo>
                    <a:pt x="285" y="270"/>
                  </a:lnTo>
                  <a:lnTo>
                    <a:pt x="312" y="249"/>
                  </a:lnTo>
                  <a:lnTo>
                    <a:pt x="357" y="234"/>
                  </a:lnTo>
                  <a:lnTo>
                    <a:pt x="411" y="231"/>
                  </a:lnTo>
                  <a:lnTo>
                    <a:pt x="375" y="249"/>
                  </a:lnTo>
                  <a:lnTo>
                    <a:pt x="324" y="297"/>
                  </a:lnTo>
                  <a:lnTo>
                    <a:pt x="276" y="354"/>
                  </a:lnTo>
                  <a:lnTo>
                    <a:pt x="306" y="348"/>
                  </a:lnTo>
                  <a:lnTo>
                    <a:pt x="348" y="351"/>
                  </a:lnTo>
                  <a:lnTo>
                    <a:pt x="378" y="378"/>
                  </a:lnTo>
                  <a:lnTo>
                    <a:pt x="324" y="375"/>
                  </a:lnTo>
                  <a:lnTo>
                    <a:pt x="276" y="390"/>
                  </a:lnTo>
                  <a:lnTo>
                    <a:pt x="231" y="426"/>
                  </a:lnTo>
                  <a:lnTo>
                    <a:pt x="309" y="411"/>
                  </a:lnTo>
                  <a:lnTo>
                    <a:pt x="327" y="417"/>
                  </a:lnTo>
                  <a:lnTo>
                    <a:pt x="384" y="441"/>
                  </a:lnTo>
                  <a:lnTo>
                    <a:pt x="333" y="441"/>
                  </a:lnTo>
                  <a:lnTo>
                    <a:pt x="264" y="456"/>
                  </a:lnTo>
                  <a:lnTo>
                    <a:pt x="231" y="480"/>
                  </a:lnTo>
                  <a:lnTo>
                    <a:pt x="285" y="480"/>
                  </a:lnTo>
                  <a:lnTo>
                    <a:pt x="318" y="501"/>
                  </a:lnTo>
                  <a:lnTo>
                    <a:pt x="267" y="510"/>
                  </a:lnTo>
                  <a:lnTo>
                    <a:pt x="204" y="531"/>
                  </a:lnTo>
                  <a:lnTo>
                    <a:pt x="129" y="582"/>
                  </a:lnTo>
                  <a:lnTo>
                    <a:pt x="0" y="513"/>
                  </a:lnTo>
                  <a:lnTo>
                    <a:pt x="207" y="6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7" name="Freeform 10"/>
            <p:cNvSpPr/>
            <p:nvPr/>
          </p:nvSpPr>
          <p:spPr bwMode="auto">
            <a:xfrm>
              <a:off x="3170" y="886"/>
              <a:ext cx="486" cy="753"/>
            </a:xfrm>
            <a:custGeom>
              <a:avLst/>
              <a:gdLst>
                <a:gd name="T0" fmla="*/ 18 w 486"/>
                <a:gd name="T1" fmla="*/ 711 h 753"/>
                <a:gd name="T2" fmla="*/ 54 w 486"/>
                <a:gd name="T3" fmla="*/ 672 h 753"/>
                <a:gd name="T4" fmla="*/ 90 w 486"/>
                <a:gd name="T5" fmla="*/ 649 h 753"/>
                <a:gd name="T6" fmla="*/ 132 w 486"/>
                <a:gd name="T7" fmla="*/ 619 h 753"/>
                <a:gd name="T8" fmla="*/ 192 w 486"/>
                <a:gd name="T9" fmla="*/ 577 h 753"/>
                <a:gd name="T10" fmla="*/ 222 w 486"/>
                <a:gd name="T11" fmla="*/ 505 h 753"/>
                <a:gd name="T12" fmla="*/ 240 w 486"/>
                <a:gd name="T13" fmla="*/ 450 h 753"/>
                <a:gd name="T14" fmla="*/ 258 w 486"/>
                <a:gd name="T15" fmla="*/ 409 h 753"/>
                <a:gd name="T16" fmla="*/ 276 w 486"/>
                <a:gd name="T17" fmla="*/ 361 h 753"/>
                <a:gd name="T18" fmla="*/ 291 w 486"/>
                <a:gd name="T19" fmla="*/ 321 h 753"/>
                <a:gd name="T20" fmla="*/ 318 w 486"/>
                <a:gd name="T21" fmla="*/ 295 h 753"/>
                <a:gd name="T22" fmla="*/ 354 w 486"/>
                <a:gd name="T23" fmla="*/ 265 h 753"/>
                <a:gd name="T24" fmla="*/ 360 w 486"/>
                <a:gd name="T25" fmla="*/ 216 h 753"/>
                <a:gd name="T26" fmla="*/ 345 w 486"/>
                <a:gd name="T27" fmla="*/ 147 h 753"/>
                <a:gd name="T28" fmla="*/ 318 w 486"/>
                <a:gd name="T29" fmla="*/ 111 h 753"/>
                <a:gd name="T30" fmla="*/ 270 w 486"/>
                <a:gd name="T31" fmla="*/ 81 h 753"/>
                <a:gd name="T32" fmla="*/ 210 w 486"/>
                <a:gd name="T33" fmla="*/ 54 h 753"/>
                <a:gd name="T34" fmla="*/ 135 w 486"/>
                <a:gd name="T35" fmla="*/ 45 h 753"/>
                <a:gd name="T36" fmla="*/ 45 w 486"/>
                <a:gd name="T37" fmla="*/ 57 h 753"/>
                <a:gd name="T38" fmla="*/ 39 w 486"/>
                <a:gd name="T39" fmla="*/ 33 h 753"/>
                <a:gd name="T40" fmla="*/ 12 w 486"/>
                <a:gd name="T41" fmla="*/ 18 h 753"/>
                <a:gd name="T42" fmla="*/ 108 w 486"/>
                <a:gd name="T43" fmla="*/ 6 h 753"/>
                <a:gd name="T44" fmla="*/ 168 w 486"/>
                <a:gd name="T45" fmla="*/ 0 h 753"/>
                <a:gd name="T46" fmla="*/ 237 w 486"/>
                <a:gd name="T47" fmla="*/ 0 h 753"/>
                <a:gd name="T48" fmla="*/ 279 w 486"/>
                <a:gd name="T49" fmla="*/ 0 h 753"/>
                <a:gd name="T50" fmla="*/ 318 w 486"/>
                <a:gd name="T51" fmla="*/ 31 h 753"/>
                <a:gd name="T52" fmla="*/ 378 w 486"/>
                <a:gd name="T53" fmla="*/ 49 h 753"/>
                <a:gd name="T54" fmla="*/ 396 w 486"/>
                <a:gd name="T55" fmla="*/ 67 h 753"/>
                <a:gd name="T56" fmla="*/ 444 w 486"/>
                <a:gd name="T57" fmla="*/ 91 h 753"/>
                <a:gd name="T58" fmla="*/ 480 w 486"/>
                <a:gd name="T59" fmla="*/ 97 h 753"/>
                <a:gd name="T60" fmla="*/ 486 w 486"/>
                <a:gd name="T61" fmla="*/ 115 h 753"/>
                <a:gd name="T62" fmla="*/ 474 w 486"/>
                <a:gd name="T63" fmla="*/ 151 h 753"/>
                <a:gd name="T64" fmla="*/ 444 w 486"/>
                <a:gd name="T65" fmla="*/ 163 h 753"/>
                <a:gd name="T66" fmla="*/ 420 w 486"/>
                <a:gd name="T67" fmla="*/ 169 h 753"/>
                <a:gd name="T68" fmla="*/ 450 w 486"/>
                <a:gd name="T69" fmla="*/ 193 h 753"/>
                <a:gd name="T70" fmla="*/ 462 w 486"/>
                <a:gd name="T71" fmla="*/ 223 h 753"/>
                <a:gd name="T72" fmla="*/ 468 w 486"/>
                <a:gd name="T73" fmla="*/ 259 h 753"/>
                <a:gd name="T74" fmla="*/ 468 w 486"/>
                <a:gd name="T75" fmla="*/ 301 h 753"/>
                <a:gd name="T76" fmla="*/ 456 w 486"/>
                <a:gd name="T77" fmla="*/ 337 h 753"/>
                <a:gd name="T78" fmla="*/ 432 w 486"/>
                <a:gd name="T79" fmla="*/ 301 h 753"/>
                <a:gd name="T80" fmla="*/ 414 w 486"/>
                <a:gd name="T81" fmla="*/ 307 h 753"/>
                <a:gd name="T82" fmla="*/ 420 w 486"/>
                <a:gd name="T83" fmla="*/ 337 h 753"/>
                <a:gd name="T84" fmla="*/ 432 w 486"/>
                <a:gd name="T85" fmla="*/ 361 h 753"/>
                <a:gd name="T86" fmla="*/ 420 w 486"/>
                <a:gd name="T87" fmla="*/ 403 h 753"/>
                <a:gd name="T88" fmla="*/ 402 w 486"/>
                <a:gd name="T89" fmla="*/ 439 h 753"/>
                <a:gd name="T90" fmla="*/ 366 w 486"/>
                <a:gd name="T91" fmla="*/ 499 h 753"/>
                <a:gd name="T92" fmla="*/ 348 w 486"/>
                <a:gd name="T93" fmla="*/ 535 h 753"/>
                <a:gd name="T94" fmla="*/ 312 w 486"/>
                <a:gd name="T95" fmla="*/ 559 h 753"/>
                <a:gd name="T96" fmla="*/ 270 w 486"/>
                <a:gd name="T97" fmla="*/ 535 h 753"/>
                <a:gd name="T98" fmla="*/ 312 w 486"/>
                <a:gd name="T99" fmla="*/ 577 h 753"/>
                <a:gd name="T100" fmla="*/ 324 w 486"/>
                <a:gd name="T101" fmla="*/ 619 h 753"/>
                <a:gd name="T102" fmla="*/ 288 w 486"/>
                <a:gd name="T103" fmla="*/ 661 h 753"/>
                <a:gd name="T104" fmla="*/ 246 w 486"/>
                <a:gd name="T105" fmla="*/ 679 h 753"/>
                <a:gd name="T106" fmla="*/ 207 w 486"/>
                <a:gd name="T107" fmla="*/ 675 h 753"/>
                <a:gd name="T108" fmla="*/ 168 w 486"/>
                <a:gd name="T109" fmla="*/ 679 h 753"/>
                <a:gd name="T110" fmla="*/ 132 w 486"/>
                <a:gd name="T111" fmla="*/ 703 h 753"/>
                <a:gd name="T112" fmla="*/ 81 w 486"/>
                <a:gd name="T113" fmla="*/ 708 h 753"/>
                <a:gd name="T114" fmla="*/ 45 w 486"/>
                <a:gd name="T115" fmla="*/ 726 h 753"/>
                <a:gd name="T116" fmla="*/ 24 w 486"/>
                <a:gd name="T117" fmla="*/ 747 h 753"/>
                <a:gd name="T118" fmla="*/ 0 w 486"/>
                <a:gd name="T119" fmla="*/ 753 h 753"/>
                <a:gd name="T120" fmla="*/ 18 w 486"/>
                <a:gd name="T121" fmla="*/ 711 h 7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86" h="753">
                  <a:moveTo>
                    <a:pt x="18" y="711"/>
                  </a:moveTo>
                  <a:lnTo>
                    <a:pt x="54" y="672"/>
                  </a:lnTo>
                  <a:lnTo>
                    <a:pt x="90" y="649"/>
                  </a:lnTo>
                  <a:lnTo>
                    <a:pt x="132" y="619"/>
                  </a:lnTo>
                  <a:lnTo>
                    <a:pt x="192" y="577"/>
                  </a:lnTo>
                  <a:lnTo>
                    <a:pt x="222" y="505"/>
                  </a:lnTo>
                  <a:lnTo>
                    <a:pt x="240" y="450"/>
                  </a:lnTo>
                  <a:lnTo>
                    <a:pt x="258" y="409"/>
                  </a:lnTo>
                  <a:lnTo>
                    <a:pt x="276" y="361"/>
                  </a:lnTo>
                  <a:lnTo>
                    <a:pt x="291" y="321"/>
                  </a:lnTo>
                  <a:lnTo>
                    <a:pt x="318" y="295"/>
                  </a:lnTo>
                  <a:lnTo>
                    <a:pt x="354" y="265"/>
                  </a:lnTo>
                  <a:lnTo>
                    <a:pt x="360" y="216"/>
                  </a:lnTo>
                  <a:lnTo>
                    <a:pt x="345" y="147"/>
                  </a:lnTo>
                  <a:lnTo>
                    <a:pt x="318" y="111"/>
                  </a:lnTo>
                  <a:lnTo>
                    <a:pt x="270" y="81"/>
                  </a:lnTo>
                  <a:lnTo>
                    <a:pt x="210" y="54"/>
                  </a:lnTo>
                  <a:lnTo>
                    <a:pt x="135" y="45"/>
                  </a:lnTo>
                  <a:lnTo>
                    <a:pt x="45" y="57"/>
                  </a:lnTo>
                  <a:lnTo>
                    <a:pt x="39" y="33"/>
                  </a:lnTo>
                  <a:lnTo>
                    <a:pt x="12" y="18"/>
                  </a:lnTo>
                  <a:lnTo>
                    <a:pt x="108" y="6"/>
                  </a:lnTo>
                  <a:lnTo>
                    <a:pt x="168" y="0"/>
                  </a:lnTo>
                  <a:lnTo>
                    <a:pt x="237" y="0"/>
                  </a:lnTo>
                  <a:lnTo>
                    <a:pt x="279" y="0"/>
                  </a:lnTo>
                  <a:lnTo>
                    <a:pt x="318" y="31"/>
                  </a:lnTo>
                  <a:lnTo>
                    <a:pt x="378" y="49"/>
                  </a:lnTo>
                  <a:lnTo>
                    <a:pt x="396" y="67"/>
                  </a:lnTo>
                  <a:lnTo>
                    <a:pt x="444" y="91"/>
                  </a:lnTo>
                  <a:lnTo>
                    <a:pt x="480" y="97"/>
                  </a:lnTo>
                  <a:lnTo>
                    <a:pt x="486" y="115"/>
                  </a:lnTo>
                  <a:lnTo>
                    <a:pt x="474" y="151"/>
                  </a:lnTo>
                  <a:lnTo>
                    <a:pt x="444" y="163"/>
                  </a:lnTo>
                  <a:lnTo>
                    <a:pt x="420" y="169"/>
                  </a:lnTo>
                  <a:lnTo>
                    <a:pt x="450" y="193"/>
                  </a:lnTo>
                  <a:lnTo>
                    <a:pt x="462" y="223"/>
                  </a:lnTo>
                  <a:lnTo>
                    <a:pt x="468" y="259"/>
                  </a:lnTo>
                  <a:lnTo>
                    <a:pt x="468" y="301"/>
                  </a:lnTo>
                  <a:lnTo>
                    <a:pt x="456" y="337"/>
                  </a:lnTo>
                  <a:lnTo>
                    <a:pt x="432" y="301"/>
                  </a:lnTo>
                  <a:lnTo>
                    <a:pt x="414" y="307"/>
                  </a:lnTo>
                  <a:lnTo>
                    <a:pt x="420" y="337"/>
                  </a:lnTo>
                  <a:lnTo>
                    <a:pt x="432" y="361"/>
                  </a:lnTo>
                  <a:lnTo>
                    <a:pt x="420" y="403"/>
                  </a:lnTo>
                  <a:lnTo>
                    <a:pt x="402" y="439"/>
                  </a:lnTo>
                  <a:lnTo>
                    <a:pt x="366" y="499"/>
                  </a:lnTo>
                  <a:lnTo>
                    <a:pt x="348" y="535"/>
                  </a:lnTo>
                  <a:lnTo>
                    <a:pt x="312" y="559"/>
                  </a:lnTo>
                  <a:lnTo>
                    <a:pt x="270" y="535"/>
                  </a:lnTo>
                  <a:lnTo>
                    <a:pt x="312" y="577"/>
                  </a:lnTo>
                  <a:lnTo>
                    <a:pt x="324" y="619"/>
                  </a:lnTo>
                  <a:lnTo>
                    <a:pt x="288" y="661"/>
                  </a:lnTo>
                  <a:lnTo>
                    <a:pt x="246" y="679"/>
                  </a:lnTo>
                  <a:lnTo>
                    <a:pt x="207" y="675"/>
                  </a:lnTo>
                  <a:lnTo>
                    <a:pt x="168" y="679"/>
                  </a:lnTo>
                  <a:lnTo>
                    <a:pt x="132" y="703"/>
                  </a:lnTo>
                  <a:lnTo>
                    <a:pt x="81" y="708"/>
                  </a:lnTo>
                  <a:lnTo>
                    <a:pt x="45" y="726"/>
                  </a:lnTo>
                  <a:lnTo>
                    <a:pt x="24" y="747"/>
                  </a:lnTo>
                  <a:lnTo>
                    <a:pt x="0" y="753"/>
                  </a:lnTo>
                  <a:lnTo>
                    <a:pt x="18" y="711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8" name="Freeform 11"/>
            <p:cNvSpPr/>
            <p:nvPr/>
          </p:nvSpPr>
          <p:spPr bwMode="auto">
            <a:xfrm>
              <a:off x="2705" y="609"/>
              <a:ext cx="537" cy="417"/>
            </a:xfrm>
            <a:custGeom>
              <a:avLst/>
              <a:gdLst>
                <a:gd name="T0" fmla="*/ 513 w 537"/>
                <a:gd name="T1" fmla="*/ 417 h 417"/>
                <a:gd name="T2" fmla="*/ 537 w 537"/>
                <a:gd name="T3" fmla="*/ 303 h 417"/>
                <a:gd name="T4" fmla="*/ 525 w 537"/>
                <a:gd name="T5" fmla="*/ 207 h 417"/>
                <a:gd name="T6" fmla="*/ 489 w 537"/>
                <a:gd name="T7" fmla="*/ 135 h 417"/>
                <a:gd name="T8" fmla="*/ 453 w 537"/>
                <a:gd name="T9" fmla="*/ 90 h 417"/>
                <a:gd name="T10" fmla="*/ 384 w 537"/>
                <a:gd name="T11" fmla="*/ 60 h 417"/>
                <a:gd name="T12" fmla="*/ 306 w 537"/>
                <a:gd name="T13" fmla="*/ 63 h 417"/>
                <a:gd name="T14" fmla="*/ 234 w 537"/>
                <a:gd name="T15" fmla="*/ 15 h 417"/>
                <a:gd name="T16" fmla="*/ 210 w 537"/>
                <a:gd name="T17" fmla="*/ 0 h 417"/>
                <a:gd name="T18" fmla="*/ 177 w 537"/>
                <a:gd name="T19" fmla="*/ 0 h 417"/>
                <a:gd name="T20" fmla="*/ 102 w 537"/>
                <a:gd name="T21" fmla="*/ 0 h 417"/>
                <a:gd name="T22" fmla="*/ 81 w 537"/>
                <a:gd name="T23" fmla="*/ 18 h 417"/>
                <a:gd name="T24" fmla="*/ 60 w 537"/>
                <a:gd name="T25" fmla="*/ 45 h 417"/>
                <a:gd name="T26" fmla="*/ 54 w 537"/>
                <a:gd name="T27" fmla="*/ 87 h 417"/>
                <a:gd name="T28" fmla="*/ 57 w 537"/>
                <a:gd name="T29" fmla="*/ 129 h 417"/>
                <a:gd name="T30" fmla="*/ 54 w 537"/>
                <a:gd name="T31" fmla="*/ 153 h 417"/>
                <a:gd name="T32" fmla="*/ 0 w 537"/>
                <a:gd name="T33" fmla="*/ 216 h 417"/>
                <a:gd name="T34" fmla="*/ 513 w 537"/>
                <a:gd name="T35" fmla="*/ 417 h 41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37" h="417">
                  <a:moveTo>
                    <a:pt x="513" y="417"/>
                  </a:moveTo>
                  <a:lnTo>
                    <a:pt x="537" y="303"/>
                  </a:lnTo>
                  <a:lnTo>
                    <a:pt x="525" y="207"/>
                  </a:lnTo>
                  <a:lnTo>
                    <a:pt x="489" y="135"/>
                  </a:lnTo>
                  <a:lnTo>
                    <a:pt x="453" y="90"/>
                  </a:lnTo>
                  <a:lnTo>
                    <a:pt x="384" y="60"/>
                  </a:lnTo>
                  <a:lnTo>
                    <a:pt x="306" y="63"/>
                  </a:lnTo>
                  <a:lnTo>
                    <a:pt x="234" y="15"/>
                  </a:lnTo>
                  <a:lnTo>
                    <a:pt x="210" y="0"/>
                  </a:lnTo>
                  <a:lnTo>
                    <a:pt x="177" y="0"/>
                  </a:lnTo>
                  <a:lnTo>
                    <a:pt x="102" y="0"/>
                  </a:lnTo>
                  <a:lnTo>
                    <a:pt x="81" y="18"/>
                  </a:lnTo>
                  <a:lnTo>
                    <a:pt x="60" y="45"/>
                  </a:lnTo>
                  <a:lnTo>
                    <a:pt x="54" y="87"/>
                  </a:lnTo>
                  <a:lnTo>
                    <a:pt x="57" y="129"/>
                  </a:lnTo>
                  <a:lnTo>
                    <a:pt x="54" y="153"/>
                  </a:lnTo>
                  <a:lnTo>
                    <a:pt x="0" y="216"/>
                  </a:lnTo>
                  <a:lnTo>
                    <a:pt x="513" y="417"/>
                  </a:lnTo>
                  <a:close/>
                </a:path>
              </a:pathLst>
            </a:custGeom>
            <a:solidFill>
              <a:srgbClr val="E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9" name="Freeform 12"/>
            <p:cNvSpPr/>
            <p:nvPr/>
          </p:nvSpPr>
          <p:spPr bwMode="auto">
            <a:xfrm>
              <a:off x="2762" y="732"/>
              <a:ext cx="441" cy="312"/>
            </a:xfrm>
            <a:custGeom>
              <a:avLst/>
              <a:gdLst>
                <a:gd name="T0" fmla="*/ 0 w 441"/>
                <a:gd name="T1" fmla="*/ 123 h 312"/>
                <a:gd name="T2" fmla="*/ 24 w 441"/>
                <a:gd name="T3" fmla="*/ 60 h 312"/>
                <a:gd name="T4" fmla="*/ 57 w 441"/>
                <a:gd name="T5" fmla="*/ 81 h 312"/>
                <a:gd name="T6" fmla="*/ 54 w 441"/>
                <a:gd name="T7" fmla="*/ 33 h 312"/>
                <a:gd name="T8" fmla="*/ 54 w 441"/>
                <a:gd name="T9" fmla="*/ 15 h 312"/>
                <a:gd name="T10" fmla="*/ 78 w 441"/>
                <a:gd name="T11" fmla="*/ 39 h 312"/>
                <a:gd name="T12" fmla="*/ 99 w 441"/>
                <a:gd name="T13" fmla="*/ 90 h 312"/>
                <a:gd name="T14" fmla="*/ 102 w 441"/>
                <a:gd name="T15" fmla="*/ 33 h 312"/>
                <a:gd name="T16" fmla="*/ 90 w 441"/>
                <a:gd name="T17" fmla="*/ 3 h 312"/>
                <a:gd name="T18" fmla="*/ 144 w 441"/>
                <a:gd name="T19" fmla="*/ 60 h 312"/>
                <a:gd name="T20" fmla="*/ 162 w 441"/>
                <a:gd name="T21" fmla="*/ 9 h 312"/>
                <a:gd name="T22" fmla="*/ 189 w 441"/>
                <a:gd name="T23" fmla="*/ 45 h 312"/>
                <a:gd name="T24" fmla="*/ 234 w 441"/>
                <a:gd name="T25" fmla="*/ 15 h 312"/>
                <a:gd name="T26" fmla="*/ 249 w 441"/>
                <a:gd name="T27" fmla="*/ 42 h 312"/>
                <a:gd name="T28" fmla="*/ 282 w 441"/>
                <a:gd name="T29" fmla="*/ 21 h 312"/>
                <a:gd name="T30" fmla="*/ 291 w 441"/>
                <a:gd name="T31" fmla="*/ 0 h 312"/>
                <a:gd name="T32" fmla="*/ 303 w 441"/>
                <a:gd name="T33" fmla="*/ 42 h 312"/>
                <a:gd name="T34" fmla="*/ 306 w 441"/>
                <a:gd name="T35" fmla="*/ 90 h 312"/>
                <a:gd name="T36" fmla="*/ 339 w 441"/>
                <a:gd name="T37" fmla="*/ 60 h 312"/>
                <a:gd name="T38" fmla="*/ 348 w 441"/>
                <a:gd name="T39" fmla="*/ 33 h 312"/>
                <a:gd name="T40" fmla="*/ 351 w 441"/>
                <a:gd name="T41" fmla="*/ 96 h 312"/>
                <a:gd name="T42" fmla="*/ 354 w 441"/>
                <a:gd name="T43" fmla="*/ 111 h 312"/>
                <a:gd name="T44" fmla="*/ 375 w 441"/>
                <a:gd name="T45" fmla="*/ 84 h 312"/>
                <a:gd name="T46" fmla="*/ 390 w 441"/>
                <a:gd name="T47" fmla="*/ 117 h 312"/>
                <a:gd name="T48" fmla="*/ 399 w 441"/>
                <a:gd name="T49" fmla="*/ 135 h 312"/>
                <a:gd name="T50" fmla="*/ 414 w 441"/>
                <a:gd name="T51" fmla="*/ 126 h 312"/>
                <a:gd name="T52" fmla="*/ 429 w 441"/>
                <a:gd name="T53" fmla="*/ 141 h 312"/>
                <a:gd name="T54" fmla="*/ 441 w 441"/>
                <a:gd name="T55" fmla="*/ 183 h 312"/>
                <a:gd name="T56" fmla="*/ 339 w 441"/>
                <a:gd name="T57" fmla="*/ 312 h 312"/>
                <a:gd name="T58" fmla="*/ 12 w 441"/>
                <a:gd name="T59" fmla="*/ 216 h 312"/>
                <a:gd name="T60" fmla="*/ 0 w 441"/>
                <a:gd name="T61" fmla="*/ 123 h 31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41" h="312">
                  <a:moveTo>
                    <a:pt x="0" y="123"/>
                  </a:moveTo>
                  <a:lnTo>
                    <a:pt x="24" y="60"/>
                  </a:lnTo>
                  <a:lnTo>
                    <a:pt x="57" y="81"/>
                  </a:lnTo>
                  <a:lnTo>
                    <a:pt x="54" y="33"/>
                  </a:lnTo>
                  <a:lnTo>
                    <a:pt x="54" y="15"/>
                  </a:lnTo>
                  <a:lnTo>
                    <a:pt x="78" y="39"/>
                  </a:lnTo>
                  <a:lnTo>
                    <a:pt x="99" y="90"/>
                  </a:lnTo>
                  <a:lnTo>
                    <a:pt x="102" y="33"/>
                  </a:lnTo>
                  <a:lnTo>
                    <a:pt x="90" y="3"/>
                  </a:lnTo>
                  <a:lnTo>
                    <a:pt x="144" y="60"/>
                  </a:lnTo>
                  <a:lnTo>
                    <a:pt x="162" y="9"/>
                  </a:lnTo>
                  <a:lnTo>
                    <a:pt x="189" y="45"/>
                  </a:lnTo>
                  <a:lnTo>
                    <a:pt x="234" y="15"/>
                  </a:lnTo>
                  <a:lnTo>
                    <a:pt x="249" y="42"/>
                  </a:lnTo>
                  <a:lnTo>
                    <a:pt x="282" y="21"/>
                  </a:lnTo>
                  <a:lnTo>
                    <a:pt x="291" y="0"/>
                  </a:lnTo>
                  <a:lnTo>
                    <a:pt x="303" y="42"/>
                  </a:lnTo>
                  <a:lnTo>
                    <a:pt x="306" y="90"/>
                  </a:lnTo>
                  <a:lnTo>
                    <a:pt x="339" y="60"/>
                  </a:lnTo>
                  <a:lnTo>
                    <a:pt x="348" y="33"/>
                  </a:lnTo>
                  <a:lnTo>
                    <a:pt x="351" y="96"/>
                  </a:lnTo>
                  <a:lnTo>
                    <a:pt x="354" y="111"/>
                  </a:lnTo>
                  <a:lnTo>
                    <a:pt x="375" y="84"/>
                  </a:lnTo>
                  <a:lnTo>
                    <a:pt x="390" y="117"/>
                  </a:lnTo>
                  <a:lnTo>
                    <a:pt x="399" y="135"/>
                  </a:lnTo>
                  <a:lnTo>
                    <a:pt x="414" y="126"/>
                  </a:lnTo>
                  <a:lnTo>
                    <a:pt x="429" y="141"/>
                  </a:lnTo>
                  <a:lnTo>
                    <a:pt x="441" y="183"/>
                  </a:lnTo>
                  <a:lnTo>
                    <a:pt x="339" y="312"/>
                  </a:lnTo>
                  <a:lnTo>
                    <a:pt x="12" y="216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0" name="Freeform 13"/>
            <p:cNvSpPr/>
            <p:nvPr/>
          </p:nvSpPr>
          <p:spPr bwMode="auto">
            <a:xfrm>
              <a:off x="2162" y="749"/>
              <a:ext cx="684" cy="762"/>
            </a:xfrm>
            <a:custGeom>
              <a:avLst/>
              <a:gdLst>
                <a:gd name="T0" fmla="*/ 174 w 684"/>
                <a:gd name="T1" fmla="*/ 624 h 762"/>
                <a:gd name="T2" fmla="*/ 138 w 684"/>
                <a:gd name="T3" fmla="*/ 558 h 762"/>
                <a:gd name="T4" fmla="*/ 102 w 684"/>
                <a:gd name="T5" fmla="*/ 516 h 762"/>
                <a:gd name="T6" fmla="*/ 60 w 684"/>
                <a:gd name="T7" fmla="*/ 462 h 762"/>
                <a:gd name="T8" fmla="*/ 48 w 684"/>
                <a:gd name="T9" fmla="*/ 414 h 762"/>
                <a:gd name="T10" fmla="*/ 54 w 684"/>
                <a:gd name="T11" fmla="*/ 366 h 762"/>
                <a:gd name="T12" fmla="*/ 12 w 684"/>
                <a:gd name="T13" fmla="*/ 294 h 762"/>
                <a:gd name="T14" fmla="*/ 0 w 684"/>
                <a:gd name="T15" fmla="*/ 222 h 762"/>
                <a:gd name="T16" fmla="*/ 18 w 684"/>
                <a:gd name="T17" fmla="*/ 180 h 762"/>
                <a:gd name="T18" fmla="*/ 96 w 684"/>
                <a:gd name="T19" fmla="*/ 144 h 762"/>
                <a:gd name="T20" fmla="*/ 132 w 684"/>
                <a:gd name="T21" fmla="*/ 48 h 762"/>
                <a:gd name="T22" fmla="*/ 186 w 684"/>
                <a:gd name="T23" fmla="*/ 12 h 762"/>
                <a:gd name="T24" fmla="*/ 240 w 684"/>
                <a:gd name="T25" fmla="*/ 6 h 762"/>
                <a:gd name="T26" fmla="*/ 312 w 684"/>
                <a:gd name="T27" fmla="*/ 0 h 762"/>
                <a:gd name="T28" fmla="*/ 438 w 684"/>
                <a:gd name="T29" fmla="*/ 24 h 762"/>
                <a:gd name="T30" fmla="*/ 426 w 684"/>
                <a:gd name="T31" fmla="*/ 396 h 762"/>
                <a:gd name="T32" fmla="*/ 684 w 684"/>
                <a:gd name="T33" fmla="*/ 678 h 762"/>
                <a:gd name="T34" fmla="*/ 636 w 684"/>
                <a:gd name="T35" fmla="*/ 762 h 762"/>
                <a:gd name="T36" fmla="*/ 396 w 684"/>
                <a:gd name="T37" fmla="*/ 762 h 762"/>
                <a:gd name="T38" fmla="*/ 174 w 684"/>
                <a:gd name="T39" fmla="*/ 624 h 76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84" h="762">
                  <a:moveTo>
                    <a:pt x="174" y="624"/>
                  </a:moveTo>
                  <a:lnTo>
                    <a:pt x="138" y="558"/>
                  </a:lnTo>
                  <a:lnTo>
                    <a:pt x="102" y="516"/>
                  </a:lnTo>
                  <a:lnTo>
                    <a:pt x="60" y="462"/>
                  </a:lnTo>
                  <a:lnTo>
                    <a:pt x="48" y="414"/>
                  </a:lnTo>
                  <a:lnTo>
                    <a:pt x="54" y="366"/>
                  </a:lnTo>
                  <a:lnTo>
                    <a:pt x="12" y="294"/>
                  </a:lnTo>
                  <a:lnTo>
                    <a:pt x="0" y="222"/>
                  </a:lnTo>
                  <a:lnTo>
                    <a:pt x="18" y="180"/>
                  </a:lnTo>
                  <a:lnTo>
                    <a:pt x="96" y="144"/>
                  </a:lnTo>
                  <a:lnTo>
                    <a:pt x="132" y="48"/>
                  </a:lnTo>
                  <a:lnTo>
                    <a:pt x="186" y="12"/>
                  </a:lnTo>
                  <a:lnTo>
                    <a:pt x="240" y="6"/>
                  </a:lnTo>
                  <a:lnTo>
                    <a:pt x="312" y="0"/>
                  </a:lnTo>
                  <a:lnTo>
                    <a:pt x="438" y="24"/>
                  </a:lnTo>
                  <a:lnTo>
                    <a:pt x="426" y="396"/>
                  </a:lnTo>
                  <a:lnTo>
                    <a:pt x="684" y="678"/>
                  </a:lnTo>
                  <a:lnTo>
                    <a:pt x="636" y="762"/>
                  </a:lnTo>
                  <a:lnTo>
                    <a:pt x="396" y="762"/>
                  </a:lnTo>
                  <a:lnTo>
                    <a:pt x="174" y="624"/>
                  </a:lnTo>
                  <a:close/>
                </a:path>
              </a:pathLst>
            </a:custGeom>
            <a:solidFill>
              <a:srgbClr val="E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1" name="Freeform 14"/>
            <p:cNvSpPr/>
            <p:nvPr/>
          </p:nvSpPr>
          <p:spPr bwMode="auto">
            <a:xfrm>
              <a:off x="2147" y="738"/>
              <a:ext cx="564" cy="804"/>
            </a:xfrm>
            <a:custGeom>
              <a:avLst/>
              <a:gdLst>
                <a:gd name="T0" fmla="*/ 309 w 564"/>
                <a:gd name="T1" fmla="*/ 30 h 804"/>
                <a:gd name="T2" fmla="*/ 234 w 564"/>
                <a:gd name="T3" fmla="*/ 39 h 804"/>
                <a:gd name="T4" fmla="*/ 207 w 564"/>
                <a:gd name="T5" fmla="*/ 60 h 804"/>
                <a:gd name="T6" fmla="*/ 198 w 564"/>
                <a:gd name="T7" fmla="*/ 87 h 804"/>
                <a:gd name="T8" fmla="*/ 195 w 564"/>
                <a:gd name="T9" fmla="*/ 135 h 804"/>
                <a:gd name="T10" fmla="*/ 186 w 564"/>
                <a:gd name="T11" fmla="*/ 165 h 804"/>
                <a:gd name="T12" fmla="*/ 165 w 564"/>
                <a:gd name="T13" fmla="*/ 180 h 804"/>
                <a:gd name="T14" fmla="*/ 126 w 564"/>
                <a:gd name="T15" fmla="*/ 204 h 804"/>
                <a:gd name="T16" fmla="*/ 105 w 564"/>
                <a:gd name="T17" fmla="*/ 216 h 804"/>
                <a:gd name="T18" fmla="*/ 96 w 564"/>
                <a:gd name="T19" fmla="*/ 243 h 804"/>
                <a:gd name="T20" fmla="*/ 99 w 564"/>
                <a:gd name="T21" fmla="*/ 261 h 804"/>
                <a:gd name="T22" fmla="*/ 114 w 564"/>
                <a:gd name="T23" fmla="*/ 276 h 804"/>
                <a:gd name="T24" fmla="*/ 135 w 564"/>
                <a:gd name="T25" fmla="*/ 309 h 804"/>
                <a:gd name="T26" fmla="*/ 147 w 564"/>
                <a:gd name="T27" fmla="*/ 366 h 804"/>
                <a:gd name="T28" fmla="*/ 135 w 564"/>
                <a:gd name="T29" fmla="*/ 402 h 804"/>
                <a:gd name="T30" fmla="*/ 135 w 564"/>
                <a:gd name="T31" fmla="*/ 441 h 804"/>
                <a:gd name="T32" fmla="*/ 144 w 564"/>
                <a:gd name="T33" fmla="*/ 474 h 804"/>
                <a:gd name="T34" fmla="*/ 165 w 564"/>
                <a:gd name="T35" fmla="*/ 510 h 804"/>
                <a:gd name="T36" fmla="*/ 192 w 564"/>
                <a:gd name="T37" fmla="*/ 564 h 804"/>
                <a:gd name="T38" fmla="*/ 240 w 564"/>
                <a:gd name="T39" fmla="*/ 588 h 804"/>
                <a:gd name="T40" fmla="*/ 279 w 564"/>
                <a:gd name="T41" fmla="*/ 597 h 804"/>
                <a:gd name="T42" fmla="*/ 318 w 564"/>
                <a:gd name="T43" fmla="*/ 615 h 804"/>
                <a:gd name="T44" fmla="*/ 348 w 564"/>
                <a:gd name="T45" fmla="*/ 633 h 804"/>
                <a:gd name="T46" fmla="*/ 369 w 564"/>
                <a:gd name="T47" fmla="*/ 660 h 804"/>
                <a:gd name="T48" fmla="*/ 414 w 564"/>
                <a:gd name="T49" fmla="*/ 663 h 804"/>
                <a:gd name="T50" fmla="*/ 447 w 564"/>
                <a:gd name="T51" fmla="*/ 672 h 804"/>
                <a:gd name="T52" fmla="*/ 495 w 564"/>
                <a:gd name="T53" fmla="*/ 687 h 804"/>
                <a:gd name="T54" fmla="*/ 528 w 564"/>
                <a:gd name="T55" fmla="*/ 717 h 804"/>
                <a:gd name="T56" fmla="*/ 564 w 564"/>
                <a:gd name="T57" fmla="*/ 744 h 804"/>
                <a:gd name="T58" fmla="*/ 561 w 564"/>
                <a:gd name="T59" fmla="*/ 804 h 804"/>
                <a:gd name="T60" fmla="*/ 186 w 564"/>
                <a:gd name="T61" fmla="*/ 651 h 804"/>
                <a:gd name="T62" fmla="*/ 153 w 564"/>
                <a:gd name="T63" fmla="*/ 591 h 804"/>
                <a:gd name="T64" fmla="*/ 120 w 564"/>
                <a:gd name="T65" fmla="*/ 555 h 804"/>
                <a:gd name="T66" fmla="*/ 87 w 564"/>
                <a:gd name="T67" fmla="*/ 522 h 804"/>
                <a:gd name="T68" fmla="*/ 69 w 564"/>
                <a:gd name="T69" fmla="*/ 498 h 804"/>
                <a:gd name="T70" fmla="*/ 54 w 564"/>
                <a:gd name="T71" fmla="*/ 453 h 804"/>
                <a:gd name="T72" fmla="*/ 48 w 564"/>
                <a:gd name="T73" fmla="*/ 411 h 804"/>
                <a:gd name="T74" fmla="*/ 51 w 564"/>
                <a:gd name="T75" fmla="*/ 381 h 804"/>
                <a:gd name="T76" fmla="*/ 30 w 564"/>
                <a:gd name="T77" fmla="*/ 348 h 804"/>
                <a:gd name="T78" fmla="*/ 15 w 564"/>
                <a:gd name="T79" fmla="*/ 321 h 804"/>
                <a:gd name="T80" fmla="*/ 3 w 564"/>
                <a:gd name="T81" fmla="*/ 288 h 804"/>
                <a:gd name="T82" fmla="*/ 0 w 564"/>
                <a:gd name="T83" fmla="*/ 255 h 804"/>
                <a:gd name="T84" fmla="*/ 3 w 564"/>
                <a:gd name="T85" fmla="*/ 201 h 804"/>
                <a:gd name="T86" fmla="*/ 18 w 564"/>
                <a:gd name="T87" fmla="*/ 174 h 804"/>
                <a:gd name="T88" fmla="*/ 48 w 564"/>
                <a:gd name="T89" fmla="*/ 162 h 804"/>
                <a:gd name="T90" fmla="*/ 72 w 564"/>
                <a:gd name="T91" fmla="*/ 150 h 804"/>
                <a:gd name="T92" fmla="*/ 102 w 564"/>
                <a:gd name="T93" fmla="*/ 138 h 804"/>
                <a:gd name="T94" fmla="*/ 105 w 564"/>
                <a:gd name="T95" fmla="*/ 108 h 804"/>
                <a:gd name="T96" fmla="*/ 111 w 564"/>
                <a:gd name="T97" fmla="*/ 75 h 804"/>
                <a:gd name="T98" fmla="*/ 126 w 564"/>
                <a:gd name="T99" fmla="*/ 54 h 804"/>
                <a:gd name="T100" fmla="*/ 153 w 564"/>
                <a:gd name="T101" fmla="*/ 36 h 804"/>
                <a:gd name="T102" fmla="*/ 177 w 564"/>
                <a:gd name="T103" fmla="*/ 18 h 804"/>
                <a:gd name="T104" fmla="*/ 222 w 564"/>
                <a:gd name="T105" fmla="*/ 6 h 804"/>
                <a:gd name="T106" fmla="*/ 273 w 564"/>
                <a:gd name="T107" fmla="*/ 3 h 804"/>
                <a:gd name="T108" fmla="*/ 342 w 564"/>
                <a:gd name="T109" fmla="*/ 0 h 804"/>
                <a:gd name="T110" fmla="*/ 420 w 564"/>
                <a:gd name="T111" fmla="*/ 6 h 804"/>
                <a:gd name="T112" fmla="*/ 309 w 564"/>
                <a:gd name="T113" fmla="*/ 30 h 80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64" h="804">
                  <a:moveTo>
                    <a:pt x="309" y="30"/>
                  </a:moveTo>
                  <a:lnTo>
                    <a:pt x="234" y="39"/>
                  </a:lnTo>
                  <a:lnTo>
                    <a:pt x="207" y="60"/>
                  </a:lnTo>
                  <a:lnTo>
                    <a:pt x="198" y="87"/>
                  </a:lnTo>
                  <a:lnTo>
                    <a:pt x="195" y="135"/>
                  </a:lnTo>
                  <a:lnTo>
                    <a:pt x="186" y="165"/>
                  </a:lnTo>
                  <a:lnTo>
                    <a:pt x="165" y="180"/>
                  </a:lnTo>
                  <a:lnTo>
                    <a:pt x="126" y="204"/>
                  </a:lnTo>
                  <a:lnTo>
                    <a:pt x="105" y="216"/>
                  </a:lnTo>
                  <a:lnTo>
                    <a:pt x="96" y="243"/>
                  </a:lnTo>
                  <a:lnTo>
                    <a:pt x="99" y="261"/>
                  </a:lnTo>
                  <a:lnTo>
                    <a:pt x="114" y="276"/>
                  </a:lnTo>
                  <a:lnTo>
                    <a:pt x="135" y="309"/>
                  </a:lnTo>
                  <a:lnTo>
                    <a:pt x="147" y="366"/>
                  </a:lnTo>
                  <a:lnTo>
                    <a:pt x="135" y="402"/>
                  </a:lnTo>
                  <a:lnTo>
                    <a:pt x="135" y="441"/>
                  </a:lnTo>
                  <a:lnTo>
                    <a:pt x="144" y="474"/>
                  </a:lnTo>
                  <a:lnTo>
                    <a:pt x="165" y="510"/>
                  </a:lnTo>
                  <a:lnTo>
                    <a:pt x="192" y="564"/>
                  </a:lnTo>
                  <a:lnTo>
                    <a:pt x="240" y="588"/>
                  </a:lnTo>
                  <a:lnTo>
                    <a:pt x="279" y="597"/>
                  </a:lnTo>
                  <a:lnTo>
                    <a:pt x="318" y="615"/>
                  </a:lnTo>
                  <a:lnTo>
                    <a:pt x="348" y="633"/>
                  </a:lnTo>
                  <a:lnTo>
                    <a:pt x="369" y="660"/>
                  </a:lnTo>
                  <a:lnTo>
                    <a:pt x="414" y="663"/>
                  </a:lnTo>
                  <a:lnTo>
                    <a:pt x="447" y="672"/>
                  </a:lnTo>
                  <a:lnTo>
                    <a:pt x="495" y="687"/>
                  </a:lnTo>
                  <a:lnTo>
                    <a:pt x="528" y="717"/>
                  </a:lnTo>
                  <a:lnTo>
                    <a:pt x="564" y="744"/>
                  </a:lnTo>
                  <a:lnTo>
                    <a:pt x="561" y="804"/>
                  </a:lnTo>
                  <a:lnTo>
                    <a:pt x="186" y="651"/>
                  </a:lnTo>
                  <a:lnTo>
                    <a:pt x="153" y="591"/>
                  </a:lnTo>
                  <a:lnTo>
                    <a:pt x="120" y="555"/>
                  </a:lnTo>
                  <a:lnTo>
                    <a:pt x="87" y="522"/>
                  </a:lnTo>
                  <a:lnTo>
                    <a:pt x="69" y="498"/>
                  </a:lnTo>
                  <a:lnTo>
                    <a:pt x="54" y="453"/>
                  </a:lnTo>
                  <a:lnTo>
                    <a:pt x="48" y="411"/>
                  </a:lnTo>
                  <a:lnTo>
                    <a:pt x="51" y="381"/>
                  </a:lnTo>
                  <a:lnTo>
                    <a:pt x="30" y="348"/>
                  </a:lnTo>
                  <a:lnTo>
                    <a:pt x="15" y="321"/>
                  </a:lnTo>
                  <a:lnTo>
                    <a:pt x="3" y="288"/>
                  </a:lnTo>
                  <a:lnTo>
                    <a:pt x="0" y="255"/>
                  </a:lnTo>
                  <a:lnTo>
                    <a:pt x="3" y="201"/>
                  </a:lnTo>
                  <a:lnTo>
                    <a:pt x="18" y="174"/>
                  </a:lnTo>
                  <a:lnTo>
                    <a:pt x="48" y="162"/>
                  </a:lnTo>
                  <a:lnTo>
                    <a:pt x="72" y="150"/>
                  </a:lnTo>
                  <a:lnTo>
                    <a:pt x="102" y="138"/>
                  </a:lnTo>
                  <a:lnTo>
                    <a:pt x="105" y="108"/>
                  </a:lnTo>
                  <a:lnTo>
                    <a:pt x="111" y="75"/>
                  </a:lnTo>
                  <a:lnTo>
                    <a:pt x="126" y="54"/>
                  </a:lnTo>
                  <a:lnTo>
                    <a:pt x="153" y="36"/>
                  </a:lnTo>
                  <a:lnTo>
                    <a:pt x="177" y="18"/>
                  </a:lnTo>
                  <a:lnTo>
                    <a:pt x="222" y="6"/>
                  </a:lnTo>
                  <a:lnTo>
                    <a:pt x="273" y="3"/>
                  </a:lnTo>
                  <a:lnTo>
                    <a:pt x="342" y="0"/>
                  </a:lnTo>
                  <a:lnTo>
                    <a:pt x="420" y="6"/>
                  </a:lnTo>
                  <a:lnTo>
                    <a:pt x="309" y="30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2" name="Freeform 15"/>
            <p:cNvSpPr/>
            <p:nvPr/>
          </p:nvSpPr>
          <p:spPr bwMode="auto">
            <a:xfrm>
              <a:off x="2372" y="754"/>
              <a:ext cx="636" cy="733"/>
            </a:xfrm>
            <a:custGeom>
              <a:avLst/>
              <a:gdLst>
                <a:gd name="T0" fmla="*/ 402 w 636"/>
                <a:gd name="T1" fmla="*/ 733 h 733"/>
                <a:gd name="T2" fmla="*/ 318 w 636"/>
                <a:gd name="T3" fmla="*/ 685 h 733"/>
                <a:gd name="T4" fmla="*/ 294 w 636"/>
                <a:gd name="T5" fmla="*/ 643 h 733"/>
                <a:gd name="T6" fmla="*/ 264 w 636"/>
                <a:gd name="T7" fmla="*/ 625 h 733"/>
                <a:gd name="T8" fmla="*/ 210 w 636"/>
                <a:gd name="T9" fmla="*/ 619 h 733"/>
                <a:gd name="T10" fmla="*/ 150 w 636"/>
                <a:gd name="T11" fmla="*/ 577 h 733"/>
                <a:gd name="T12" fmla="*/ 117 w 636"/>
                <a:gd name="T13" fmla="*/ 549 h 733"/>
                <a:gd name="T14" fmla="*/ 96 w 636"/>
                <a:gd name="T15" fmla="*/ 517 h 733"/>
                <a:gd name="T16" fmla="*/ 90 w 636"/>
                <a:gd name="T17" fmla="*/ 469 h 733"/>
                <a:gd name="T18" fmla="*/ 96 w 636"/>
                <a:gd name="T19" fmla="*/ 439 h 733"/>
                <a:gd name="T20" fmla="*/ 54 w 636"/>
                <a:gd name="T21" fmla="*/ 409 h 733"/>
                <a:gd name="T22" fmla="*/ 12 w 636"/>
                <a:gd name="T23" fmla="*/ 343 h 733"/>
                <a:gd name="T24" fmla="*/ 0 w 636"/>
                <a:gd name="T25" fmla="*/ 288 h 733"/>
                <a:gd name="T26" fmla="*/ 9 w 636"/>
                <a:gd name="T27" fmla="*/ 243 h 733"/>
                <a:gd name="T28" fmla="*/ 24 w 636"/>
                <a:gd name="T29" fmla="*/ 199 h 733"/>
                <a:gd name="T30" fmla="*/ 72 w 636"/>
                <a:gd name="T31" fmla="*/ 157 h 733"/>
                <a:gd name="T32" fmla="*/ 66 w 636"/>
                <a:gd name="T33" fmla="*/ 105 h 733"/>
                <a:gd name="T34" fmla="*/ 72 w 636"/>
                <a:gd name="T35" fmla="*/ 73 h 733"/>
                <a:gd name="T36" fmla="*/ 102 w 636"/>
                <a:gd name="T37" fmla="*/ 25 h 733"/>
                <a:gd name="T38" fmla="*/ 147 w 636"/>
                <a:gd name="T39" fmla="*/ 9 h 733"/>
                <a:gd name="T40" fmla="*/ 210 w 636"/>
                <a:gd name="T41" fmla="*/ 1 h 733"/>
                <a:gd name="T42" fmla="*/ 261 w 636"/>
                <a:gd name="T43" fmla="*/ 0 h 733"/>
                <a:gd name="T44" fmla="*/ 324 w 636"/>
                <a:gd name="T45" fmla="*/ 19 h 733"/>
                <a:gd name="T46" fmla="*/ 360 w 636"/>
                <a:gd name="T47" fmla="*/ 31 h 733"/>
                <a:gd name="T48" fmla="*/ 438 w 636"/>
                <a:gd name="T49" fmla="*/ 97 h 733"/>
                <a:gd name="T50" fmla="*/ 462 w 636"/>
                <a:gd name="T51" fmla="*/ 151 h 733"/>
                <a:gd name="T52" fmla="*/ 300 w 636"/>
                <a:gd name="T53" fmla="*/ 175 h 733"/>
                <a:gd name="T54" fmla="*/ 294 w 636"/>
                <a:gd name="T55" fmla="*/ 211 h 733"/>
                <a:gd name="T56" fmla="*/ 360 w 636"/>
                <a:gd name="T57" fmla="*/ 451 h 733"/>
                <a:gd name="T58" fmla="*/ 510 w 636"/>
                <a:gd name="T59" fmla="*/ 499 h 733"/>
                <a:gd name="T60" fmla="*/ 636 w 636"/>
                <a:gd name="T61" fmla="*/ 559 h 733"/>
                <a:gd name="T62" fmla="*/ 402 w 636"/>
                <a:gd name="T63" fmla="*/ 733 h 73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36" h="733">
                  <a:moveTo>
                    <a:pt x="402" y="733"/>
                  </a:moveTo>
                  <a:lnTo>
                    <a:pt x="318" y="685"/>
                  </a:lnTo>
                  <a:lnTo>
                    <a:pt x="294" y="643"/>
                  </a:lnTo>
                  <a:lnTo>
                    <a:pt x="264" y="625"/>
                  </a:lnTo>
                  <a:lnTo>
                    <a:pt x="210" y="619"/>
                  </a:lnTo>
                  <a:lnTo>
                    <a:pt x="150" y="577"/>
                  </a:lnTo>
                  <a:lnTo>
                    <a:pt x="117" y="549"/>
                  </a:lnTo>
                  <a:lnTo>
                    <a:pt x="96" y="517"/>
                  </a:lnTo>
                  <a:lnTo>
                    <a:pt x="90" y="469"/>
                  </a:lnTo>
                  <a:lnTo>
                    <a:pt x="96" y="439"/>
                  </a:lnTo>
                  <a:lnTo>
                    <a:pt x="54" y="409"/>
                  </a:lnTo>
                  <a:lnTo>
                    <a:pt x="12" y="343"/>
                  </a:lnTo>
                  <a:lnTo>
                    <a:pt x="0" y="288"/>
                  </a:lnTo>
                  <a:lnTo>
                    <a:pt x="9" y="243"/>
                  </a:lnTo>
                  <a:lnTo>
                    <a:pt x="24" y="199"/>
                  </a:lnTo>
                  <a:lnTo>
                    <a:pt x="72" y="157"/>
                  </a:lnTo>
                  <a:lnTo>
                    <a:pt x="66" y="105"/>
                  </a:lnTo>
                  <a:lnTo>
                    <a:pt x="72" y="73"/>
                  </a:lnTo>
                  <a:lnTo>
                    <a:pt x="102" y="25"/>
                  </a:lnTo>
                  <a:lnTo>
                    <a:pt x="147" y="9"/>
                  </a:lnTo>
                  <a:lnTo>
                    <a:pt x="210" y="1"/>
                  </a:lnTo>
                  <a:lnTo>
                    <a:pt x="261" y="0"/>
                  </a:lnTo>
                  <a:lnTo>
                    <a:pt x="324" y="19"/>
                  </a:lnTo>
                  <a:lnTo>
                    <a:pt x="360" y="31"/>
                  </a:lnTo>
                  <a:lnTo>
                    <a:pt x="438" y="97"/>
                  </a:lnTo>
                  <a:lnTo>
                    <a:pt x="462" y="151"/>
                  </a:lnTo>
                  <a:lnTo>
                    <a:pt x="300" y="175"/>
                  </a:lnTo>
                  <a:lnTo>
                    <a:pt x="294" y="211"/>
                  </a:lnTo>
                  <a:lnTo>
                    <a:pt x="360" y="451"/>
                  </a:lnTo>
                  <a:lnTo>
                    <a:pt x="510" y="499"/>
                  </a:lnTo>
                  <a:lnTo>
                    <a:pt x="636" y="559"/>
                  </a:lnTo>
                  <a:lnTo>
                    <a:pt x="402" y="733"/>
                  </a:ln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3" name="Freeform 16"/>
            <p:cNvSpPr/>
            <p:nvPr/>
          </p:nvSpPr>
          <p:spPr bwMode="auto">
            <a:xfrm>
              <a:off x="2363" y="747"/>
              <a:ext cx="270" cy="468"/>
            </a:xfrm>
            <a:custGeom>
              <a:avLst/>
              <a:gdLst>
                <a:gd name="T0" fmla="*/ 96 w 270"/>
                <a:gd name="T1" fmla="*/ 408 h 468"/>
                <a:gd name="T2" fmla="*/ 75 w 270"/>
                <a:gd name="T3" fmla="*/ 378 h 468"/>
                <a:gd name="T4" fmla="*/ 54 w 270"/>
                <a:gd name="T5" fmla="*/ 342 h 468"/>
                <a:gd name="T6" fmla="*/ 45 w 270"/>
                <a:gd name="T7" fmla="*/ 303 h 468"/>
                <a:gd name="T8" fmla="*/ 51 w 270"/>
                <a:gd name="T9" fmla="*/ 267 h 468"/>
                <a:gd name="T10" fmla="*/ 72 w 270"/>
                <a:gd name="T11" fmla="*/ 237 h 468"/>
                <a:gd name="T12" fmla="*/ 120 w 270"/>
                <a:gd name="T13" fmla="*/ 219 h 468"/>
                <a:gd name="T14" fmla="*/ 147 w 270"/>
                <a:gd name="T15" fmla="*/ 198 h 468"/>
                <a:gd name="T16" fmla="*/ 153 w 270"/>
                <a:gd name="T17" fmla="*/ 156 h 468"/>
                <a:gd name="T18" fmla="*/ 135 w 270"/>
                <a:gd name="T19" fmla="*/ 123 h 468"/>
                <a:gd name="T20" fmla="*/ 123 w 270"/>
                <a:gd name="T21" fmla="*/ 102 h 468"/>
                <a:gd name="T22" fmla="*/ 120 w 270"/>
                <a:gd name="T23" fmla="*/ 54 h 468"/>
                <a:gd name="T24" fmla="*/ 138 w 270"/>
                <a:gd name="T25" fmla="*/ 36 h 468"/>
                <a:gd name="T26" fmla="*/ 168 w 270"/>
                <a:gd name="T27" fmla="*/ 30 h 468"/>
                <a:gd name="T28" fmla="*/ 201 w 270"/>
                <a:gd name="T29" fmla="*/ 18 h 468"/>
                <a:gd name="T30" fmla="*/ 225 w 270"/>
                <a:gd name="T31" fmla="*/ 15 h 468"/>
                <a:gd name="T32" fmla="*/ 270 w 270"/>
                <a:gd name="T33" fmla="*/ 12 h 468"/>
                <a:gd name="T34" fmla="*/ 228 w 270"/>
                <a:gd name="T35" fmla="*/ 0 h 468"/>
                <a:gd name="T36" fmla="*/ 186 w 270"/>
                <a:gd name="T37" fmla="*/ 0 h 468"/>
                <a:gd name="T38" fmla="*/ 153 w 270"/>
                <a:gd name="T39" fmla="*/ 0 h 468"/>
                <a:gd name="T40" fmla="*/ 114 w 270"/>
                <a:gd name="T41" fmla="*/ 12 h 468"/>
                <a:gd name="T42" fmla="*/ 84 w 270"/>
                <a:gd name="T43" fmla="*/ 36 h 468"/>
                <a:gd name="T44" fmla="*/ 75 w 270"/>
                <a:gd name="T45" fmla="*/ 63 h 468"/>
                <a:gd name="T46" fmla="*/ 63 w 270"/>
                <a:gd name="T47" fmla="*/ 102 h 468"/>
                <a:gd name="T48" fmla="*/ 63 w 270"/>
                <a:gd name="T49" fmla="*/ 132 h 468"/>
                <a:gd name="T50" fmla="*/ 72 w 270"/>
                <a:gd name="T51" fmla="*/ 159 h 468"/>
                <a:gd name="T52" fmla="*/ 42 w 270"/>
                <a:gd name="T53" fmla="*/ 171 h 468"/>
                <a:gd name="T54" fmla="*/ 27 w 270"/>
                <a:gd name="T55" fmla="*/ 186 h 468"/>
                <a:gd name="T56" fmla="*/ 9 w 270"/>
                <a:gd name="T57" fmla="*/ 213 h 468"/>
                <a:gd name="T58" fmla="*/ 0 w 270"/>
                <a:gd name="T59" fmla="*/ 252 h 468"/>
                <a:gd name="T60" fmla="*/ 0 w 270"/>
                <a:gd name="T61" fmla="*/ 303 h 468"/>
                <a:gd name="T62" fmla="*/ 15 w 270"/>
                <a:gd name="T63" fmla="*/ 357 h 468"/>
                <a:gd name="T64" fmla="*/ 39 w 270"/>
                <a:gd name="T65" fmla="*/ 417 h 468"/>
                <a:gd name="T66" fmla="*/ 57 w 270"/>
                <a:gd name="T67" fmla="*/ 435 h 468"/>
                <a:gd name="T68" fmla="*/ 78 w 270"/>
                <a:gd name="T69" fmla="*/ 447 h 468"/>
                <a:gd name="T70" fmla="*/ 105 w 270"/>
                <a:gd name="T71" fmla="*/ 468 h 468"/>
                <a:gd name="T72" fmla="*/ 111 w 270"/>
                <a:gd name="T73" fmla="*/ 441 h 468"/>
                <a:gd name="T74" fmla="*/ 96 w 270"/>
                <a:gd name="T75" fmla="*/ 408 h 46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70" h="468">
                  <a:moveTo>
                    <a:pt x="96" y="408"/>
                  </a:moveTo>
                  <a:lnTo>
                    <a:pt x="75" y="378"/>
                  </a:lnTo>
                  <a:lnTo>
                    <a:pt x="54" y="342"/>
                  </a:lnTo>
                  <a:lnTo>
                    <a:pt x="45" y="303"/>
                  </a:lnTo>
                  <a:lnTo>
                    <a:pt x="51" y="267"/>
                  </a:lnTo>
                  <a:lnTo>
                    <a:pt x="72" y="237"/>
                  </a:lnTo>
                  <a:lnTo>
                    <a:pt x="120" y="219"/>
                  </a:lnTo>
                  <a:lnTo>
                    <a:pt x="147" y="198"/>
                  </a:lnTo>
                  <a:lnTo>
                    <a:pt x="153" y="156"/>
                  </a:lnTo>
                  <a:lnTo>
                    <a:pt x="135" y="123"/>
                  </a:lnTo>
                  <a:lnTo>
                    <a:pt x="123" y="102"/>
                  </a:lnTo>
                  <a:lnTo>
                    <a:pt x="120" y="54"/>
                  </a:lnTo>
                  <a:lnTo>
                    <a:pt x="138" y="36"/>
                  </a:lnTo>
                  <a:lnTo>
                    <a:pt x="168" y="30"/>
                  </a:lnTo>
                  <a:lnTo>
                    <a:pt x="201" y="18"/>
                  </a:lnTo>
                  <a:lnTo>
                    <a:pt x="225" y="15"/>
                  </a:lnTo>
                  <a:lnTo>
                    <a:pt x="270" y="12"/>
                  </a:lnTo>
                  <a:lnTo>
                    <a:pt x="228" y="0"/>
                  </a:lnTo>
                  <a:lnTo>
                    <a:pt x="186" y="0"/>
                  </a:lnTo>
                  <a:lnTo>
                    <a:pt x="153" y="0"/>
                  </a:lnTo>
                  <a:lnTo>
                    <a:pt x="114" y="12"/>
                  </a:lnTo>
                  <a:lnTo>
                    <a:pt x="84" y="36"/>
                  </a:lnTo>
                  <a:lnTo>
                    <a:pt x="75" y="63"/>
                  </a:lnTo>
                  <a:lnTo>
                    <a:pt x="63" y="102"/>
                  </a:lnTo>
                  <a:lnTo>
                    <a:pt x="63" y="132"/>
                  </a:lnTo>
                  <a:lnTo>
                    <a:pt x="72" y="159"/>
                  </a:lnTo>
                  <a:lnTo>
                    <a:pt x="42" y="171"/>
                  </a:lnTo>
                  <a:lnTo>
                    <a:pt x="27" y="186"/>
                  </a:lnTo>
                  <a:lnTo>
                    <a:pt x="9" y="213"/>
                  </a:lnTo>
                  <a:lnTo>
                    <a:pt x="0" y="252"/>
                  </a:lnTo>
                  <a:lnTo>
                    <a:pt x="0" y="303"/>
                  </a:lnTo>
                  <a:lnTo>
                    <a:pt x="15" y="357"/>
                  </a:lnTo>
                  <a:lnTo>
                    <a:pt x="39" y="417"/>
                  </a:lnTo>
                  <a:lnTo>
                    <a:pt x="57" y="435"/>
                  </a:lnTo>
                  <a:lnTo>
                    <a:pt x="78" y="447"/>
                  </a:lnTo>
                  <a:lnTo>
                    <a:pt x="105" y="468"/>
                  </a:lnTo>
                  <a:lnTo>
                    <a:pt x="111" y="441"/>
                  </a:lnTo>
                  <a:lnTo>
                    <a:pt x="96" y="408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4" name="Freeform 17"/>
            <p:cNvSpPr/>
            <p:nvPr/>
          </p:nvSpPr>
          <p:spPr bwMode="auto">
            <a:xfrm>
              <a:off x="2528" y="846"/>
              <a:ext cx="321" cy="585"/>
            </a:xfrm>
            <a:custGeom>
              <a:avLst/>
              <a:gdLst>
                <a:gd name="T0" fmla="*/ 261 w 321"/>
                <a:gd name="T1" fmla="*/ 585 h 585"/>
                <a:gd name="T2" fmla="*/ 234 w 321"/>
                <a:gd name="T3" fmla="*/ 573 h 585"/>
                <a:gd name="T4" fmla="*/ 201 w 321"/>
                <a:gd name="T5" fmla="*/ 567 h 585"/>
                <a:gd name="T6" fmla="*/ 183 w 321"/>
                <a:gd name="T7" fmla="*/ 567 h 585"/>
                <a:gd name="T8" fmla="*/ 219 w 321"/>
                <a:gd name="T9" fmla="*/ 552 h 585"/>
                <a:gd name="T10" fmla="*/ 186 w 321"/>
                <a:gd name="T11" fmla="*/ 537 h 585"/>
                <a:gd name="T12" fmla="*/ 153 w 321"/>
                <a:gd name="T13" fmla="*/ 525 h 585"/>
                <a:gd name="T14" fmla="*/ 114 w 321"/>
                <a:gd name="T15" fmla="*/ 519 h 585"/>
                <a:gd name="T16" fmla="*/ 153 w 321"/>
                <a:gd name="T17" fmla="*/ 513 h 585"/>
                <a:gd name="T18" fmla="*/ 195 w 321"/>
                <a:gd name="T19" fmla="*/ 513 h 585"/>
                <a:gd name="T20" fmla="*/ 138 w 321"/>
                <a:gd name="T21" fmla="*/ 480 h 585"/>
                <a:gd name="T22" fmla="*/ 93 w 321"/>
                <a:gd name="T23" fmla="*/ 465 h 585"/>
                <a:gd name="T24" fmla="*/ 66 w 321"/>
                <a:gd name="T25" fmla="*/ 462 h 585"/>
                <a:gd name="T26" fmla="*/ 111 w 321"/>
                <a:gd name="T27" fmla="*/ 453 h 585"/>
                <a:gd name="T28" fmla="*/ 159 w 321"/>
                <a:gd name="T29" fmla="*/ 456 h 585"/>
                <a:gd name="T30" fmla="*/ 183 w 321"/>
                <a:gd name="T31" fmla="*/ 459 h 585"/>
                <a:gd name="T32" fmla="*/ 141 w 321"/>
                <a:gd name="T33" fmla="*/ 432 h 585"/>
                <a:gd name="T34" fmla="*/ 93 w 321"/>
                <a:gd name="T35" fmla="*/ 420 h 585"/>
                <a:gd name="T36" fmla="*/ 36 w 321"/>
                <a:gd name="T37" fmla="*/ 405 h 585"/>
                <a:gd name="T38" fmla="*/ 108 w 321"/>
                <a:gd name="T39" fmla="*/ 402 h 585"/>
                <a:gd name="T40" fmla="*/ 150 w 321"/>
                <a:gd name="T41" fmla="*/ 405 h 585"/>
                <a:gd name="T42" fmla="*/ 108 w 321"/>
                <a:gd name="T43" fmla="*/ 366 h 585"/>
                <a:gd name="T44" fmla="*/ 33 w 321"/>
                <a:gd name="T45" fmla="*/ 339 h 585"/>
                <a:gd name="T46" fmla="*/ 0 w 321"/>
                <a:gd name="T47" fmla="*/ 330 h 585"/>
                <a:gd name="T48" fmla="*/ 108 w 321"/>
                <a:gd name="T49" fmla="*/ 336 h 585"/>
                <a:gd name="T50" fmla="*/ 126 w 321"/>
                <a:gd name="T51" fmla="*/ 339 h 585"/>
                <a:gd name="T52" fmla="*/ 102 w 321"/>
                <a:gd name="T53" fmla="*/ 318 h 585"/>
                <a:gd name="T54" fmla="*/ 60 w 321"/>
                <a:gd name="T55" fmla="*/ 285 h 585"/>
                <a:gd name="T56" fmla="*/ 111 w 321"/>
                <a:gd name="T57" fmla="*/ 270 h 585"/>
                <a:gd name="T58" fmla="*/ 93 w 321"/>
                <a:gd name="T59" fmla="*/ 249 h 585"/>
                <a:gd name="T60" fmla="*/ 51 w 321"/>
                <a:gd name="T61" fmla="*/ 225 h 585"/>
                <a:gd name="T62" fmla="*/ 72 w 321"/>
                <a:gd name="T63" fmla="*/ 210 h 585"/>
                <a:gd name="T64" fmla="*/ 45 w 321"/>
                <a:gd name="T65" fmla="*/ 192 h 585"/>
                <a:gd name="T66" fmla="*/ 9 w 321"/>
                <a:gd name="T67" fmla="*/ 183 h 585"/>
                <a:gd name="T68" fmla="*/ 48 w 321"/>
                <a:gd name="T69" fmla="*/ 174 h 585"/>
                <a:gd name="T70" fmla="*/ 21 w 321"/>
                <a:gd name="T71" fmla="*/ 150 h 585"/>
                <a:gd name="T72" fmla="*/ 0 w 321"/>
                <a:gd name="T73" fmla="*/ 147 h 585"/>
                <a:gd name="T74" fmla="*/ 33 w 321"/>
                <a:gd name="T75" fmla="*/ 141 h 585"/>
                <a:gd name="T76" fmla="*/ 60 w 321"/>
                <a:gd name="T77" fmla="*/ 144 h 585"/>
                <a:gd name="T78" fmla="*/ 24 w 321"/>
                <a:gd name="T79" fmla="*/ 105 h 585"/>
                <a:gd name="T80" fmla="*/ 12 w 321"/>
                <a:gd name="T81" fmla="*/ 75 h 585"/>
                <a:gd name="T82" fmla="*/ 39 w 321"/>
                <a:gd name="T83" fmla="*/ 96 h 585"/>
                <a:gd name="T84" fmla="*/ 69 w 321"/>
                <a:gd name="T85" fmla="*/ 99 h 585"/>
                <a:gd name="T86" fmla="*/ 57 w 321"/>
                <a:gd name="T87" fmla="*/ 42 h 585"/>
                <a:gd name="T88" fmla="*/ 54 w 321"/>
                <a:gd name="T89" fmla="*/ 0 h 585"/>
                <a:gd name="T90" fmla="*/ 63 w 321"/>
                <a:gd name="T91" fmla="*/ 27 h 585"/>
                <a:gd name="T92" fmla="*/ 93 w 321"/>
                <a:gd name="T93" fmla="*/ 57 h 585"/>
                <a:gd name="T94" fmla="*/ 90 w 321"/>
                <a:gd name="T95" fmla="*/ 24 h 585"/>
                <a:gd name="T96" fmla="*/ 93 w 321"/>
                <a:gd name="T97" fmla="*/ 6 h 585"/>
                <a:gd name="T98" fmla="*/ 111 w 321"/>
                <a:gd name="T99" fmla="*/ 33 h 585"/>
                <a:gd name="T100" fmla="*/ 135 w 321"/>
                <a:gd name="T101" fmla="*/ 51 h 585"/>
                <a:gd name="T102" fmla="*/ 159 w 321"/>
                <a:gd name="T103" fmla="*/ 9 h 585"/>
                <a:gd name="T104" fmla="*/ 171 w 321"/>
                <a:gd name="T105" fmla="*/ 39 h 585"/>
                <a:gd name="T106" fmla="*/ 192 w 321"/>
                <a:gd name="T107" fmla="*/ 63 h 585"/>
                <a:gd name="T108" fmla="*/ 204 w 321"/>
                <a:gd name="T109" fmla="*/ 24 h 585"/>
                <a:gd name="T110" fmla="*/ 219 w 321"/>
                <a:gd name="T111" fmla="*/ 81 h 585"/>
                <a:gd name="T112" fmla="*/ 321 w 321"/>
                <a:gd name="T113" fmla="*/ 510 h 585"/>
                <a:gd name="T114" fmla="*/ 261 w 321"/>
                <a:gd name="T115" fmla="*/ 585 h 58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21" h="585">
                  <a:moveTo>
                    <a:pt x="261" y="585"/>
                  </a:moveTo>
                  <a:lnTo>
                    <a:pt x="234" y="573"/>
                  </a:lnTo>
                  <a:lnTo>
                    <a:pt x="201" y="567"/>
                  </a:lnTo>
                  <a:lnTo>
                    <a:pt x="183" y="567"/>
                  </a:lnTo>
                  <a:lnTo>
                    <a:pt x="219" y="552"/>
                  </a:lnTo>
                  <a:lnTo>
                    <a:pt x="186" y="537"/>
                  </a:lnTo>
                  <a:lnTo>
                    <a:pt x="153" y="525"/>
                  </a:lnTo>
                  <a:lnTo>
                    <a:pt x="114" y="519"/>
                  </a:lnTo>
                  <a:lnTo>
                    <a:pt x="153" y="513"/>
                  </a:lnTo>
                  <a:lnTo>
                    <a:pt x="195" y="513"/>
                  </a:lnTo>
                  <a:lnTo>
                    <a:pt x="138" y="480"/>
                  </a:lnTo>
                  <a:lnTo>
                    <a:pt x="93" y="465"/>
                  </a:lnTo>
                  <a:lnTo>
                    <a:pt x="66" y="462"/>
                  </a:lnTo>
                  <a:lnTo>
                    <a:pt x="111" y="453"/>
                  </a:lnTo>
                  <a:lnTo>
                    <a:pt x="159" y="456"/>
                  </a:lnTo>
                  <a:lnTo>
                    <a:pt x="183" y="459"/>
                  </a:lnTo>
                  <a:lnTo>
                    <a:pt x="141" y="432"/>
                  </a:lnTo>
                  <a:lnTo>
                    <a:pt x="93" y="420"/>
                  </a:lnTo>
                  <a:lnTo>
                    <a:pt x="36" y="405"/>
                  </a:lnTo>
                  <a:lnTo>
                    <a:pt x="108" y="402"/>
                  </a:lnTo>
                  <a:lnTo>
                    <a:pt x="150" y="405"/>
                  </a:lnTo>
                  <a:lnTo>
                    <a:pt x="108" y="366"/>
                  </a:lnTo>
                  <a:lnTo>
                    <a:pt x="33" y="339"/>
                  </a:lnTo>
                  <a:lnTo>
                    <a:pt x="0" y="330"/>
                  </a:lnTo>
                  <a:lnTo>
                    <a:pt x="108" y="336"/>
                  </a:lnTo>
                  <a:lnTo>
                    <a:pt x="126" y="339"/>
                  </a:lnTo>
                  <a:lnTo>
                    <a:pt x="102" y="318"/>
                  </a:lnTo>
                  <a:lnTo>
                    <a:pt x="60" y="285"/>
                  </a:lnTo>
                  <a:lnTo>
                    <a:pt x="111" y="270"/>
                  </a:lnTo>
                  <a:lnTo>
                    <a:pt x="93" y="249"/>
                  </a:lnTo>
                  <a:lnTo>
                    <a:pt x="51" y="225"/>
                  </a:lnTo>
                  <a:lnTo>
                    <a:pt x="72" y="210"/>
                  </a:lnTo>
                  <a:lnTo>
                    <a:pt x="45" y="192"/>
                  </a:lnTo>
                  <a:lnTo>
                    <a:pt x="9" y="183"/>
                  </a:lnTo>
                  <a:lnTo>
                    <a:pt x="48" y="174"/>
                  </a:lnTo>
                  <a:lnTo>
                    <a:pt x="21" y="150"/>
                  </a:lnTo>
                  <a:lnTo>
                    <a:pt x="0" y="147"/>
                  </a:lnTo>
                  <a:lnTo>
                    <a:pt x="33" y="141"/>
                  </a:lnTo>
                  <a:lnTo>
                    <a:pt x="60" y="144"/>
                  </a:lnTo>
                  <a:lnTo>
                    <a:pt x="24" y="105"/>
                  </a:lnTo>
                  <a:lnTo>
                    <a:pt x="12" y="75"/>
                  </a:lnTo>
                  <a:lnTo>
                    <a:pt x="39" y="96"/>
                  </a:lnTo>
                  <a:lnTo>
                    <a:pt x="69" y="99"/>
                  </a:lnTo>
                  <a:lnTo>
                    <a:pt x="57" y="42"/>
                  </a:lnTo>
                  <a:lnTo>
                    <a:pt x="54" y="0"/>
                  </a:lnTo>
                  <a:lnTo>
                    <a:pt x="63" y="27"/>
                  </a:lnTo>
                  <a:lnTo>
                    <a:pt x="93" y="57"/>
                  </a:lnTo>
                  <a:lnTo>
                    <a:pt x="90" y="24"/>
                  </a:lnTo>
                  <a:lnTo>
                    <a:pt x="93" y="6"/>
                  </a:lnTo>
                  <a:lnTo>
                    <a:pt x="111" y="33"/>
                  </a:lnTo>
                  <a:lnTo>
                    <a:pt x="135" y="51"/>
                  </a:lnTo>
                  <a:lnTo>
                    <a:pt x="159" y="9"/>
                  </a:lnTo>
                  <a:lnTo>
                    <a:pt x="171" y="39"/>
                  </a:lnTo>
                  <a:lnTo>
                    <a:pt x="192" y="63"/>
                  </a:lnTo>
                  <a:lnTo>
                    <a:pt x="204" y="24"/>
                  </a:lnTo>
                  <a:lnTo>
                    <a:pt x="219" y="81"/>
                  </a:lnTo>
                  <a:lnTo>
                    <a:pt x="321" y="510"/>
                  </a:lnTo>
                  <a:lnTo>
                    <a:pt x="261" y="585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5" name="Freeform 18"/>
            <p:cNvSpPr/>
            <p:nvPr/>
          </p:nvSpPr>
          <p:spPr bwMode="auto">
            <a:xfrm>
              <a:off x="2672" y="850"/>
              <a:ext cx="501" cy="342"/>
            </a:xfrm>
            <a:custGeom>
              <a:avLst/>
              <a:gdLst>
                <a:gd name="T0" fmla="*/ 57 w 501"/>
                <a:gd name="T1" fmla="*/ 72 h 342"/>
                <a:gd name="T2" fmla="*/ 3 w 501"/>
                <a:gd name="T3" fmla="*/ 72 h 342"/>
                <a:gd name="T4" fmla="*/ 0 w 501"/>
                <a:gd name="T5" fmla="*/ 174 h 342"/>
                <a:gd name="T6" fmla="*/ 27 w 501"/>
                <a:gd name="T7" fmla="*/ 309 h 342"/>
                <a:gd name="T8" fmla="*/ 252 w 501"/>
                <a:gd name="T9" fmla="*/ 342 h 342"/>
                <a:gd name="T10" fmla="*/ 477 w 501"/>
                <a:gd name="T11" fmla="*/ 306 h 342"/>
                <a:gd name="T12" fmla="*/ 495 w 501"/>
                <a:gd name="T13" fmla="*/ 171 h 342"/>
                <a:gd name="T14" fmla="*/ 501 w 501"/>
                <a:gd name="T15" fmla="*/ 99 h 342"/>
                <a:gd name="T16" fmla="*/ 480 w 501"/>
                <a:gd name="T17" fmla="*/ 45 h 342"/>
                <a:gd name="T18" fmla="*/ 360 w 501"/>
                <a:gd name="T19" fmla="*/ 0 h 342"/>
                <a:gd name="T20" fmla="*/ 249 w 501"/>
                <a:gd name="T21" fmla="*/ 0 h 342"/>
                <a:gd name="T22" fmla="*/ 177 w 501"/>
                <a:gd name="T23" fmla="*/ 33 h 342"/>
                <a:gd name="T24" fmla="*/ 108 w 501"/>
                <a:gd name="T25" fmla="*/ 72 h 342"/>
                <a:gd name="T26" fmla="*/ 57 w 501"/>
                <a:gd name="T27" fmla="*/ 72 h 3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01" h="342">
                  <a:moveTo>
                    <a:pt x="57" y="72"/>
                  </a:moveTo>
                  <a:lnTo>
                    <a:pt x="3" y="72"/>
                  </a:lnTo>
                  <a:lnTo>
                    <a:pt x="0" y="174"/>
                  </a:lnTo>
                  <a:lnTo>
                    <a:pt x="27" y="309"/>
                  </a:lnTo>
                  <a:lnTo>
                    <a:pt x="252" y="342"/>
                  </a:lnTo>
                  <a:lnTo>
                    <a:pt x="477" y="306"/>
                  </a:lnTo>
                  <a:lnTo>
                    <a:pt x="495" y="171"/>
                  </a:lnTo>
                  <a:lnTo>
                    <a:pt x="501" y="99"/>
                  </a:lnTo>
                  <a:lnTo>
                    <a:pt x="480" y="45"/>
                  </a:lnTo>
                  <a:lnTo>
                    <a:pt x="360" y="0"/>
                  </a:lnTo>
                  <a:lnTo>
                    <a:pt x="249" y="0"/>
                  </a:lnTo>
                  <a:lnTo>
                    <a:pt x="177" y="33"/>
                  </a:lnTo>
                  <a:lnTo>
                    <a:pt x="108" y="72"/>
                  </a:lnTo>
                  <a:lnTo>
                    <a:pt x="57" y="72"/>
                  </a:lnTo>
                  <a:close/>
                </a:path>
              </a:pathLst>
            </a:custGeom>
            <a:solidFill>
              <a:srgbClr val="4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6" name="Freeform 19"/>
            <p:cNvSpPr/>
            <p:nvPr/>
          </p:nvSpPr>
          <p:spPr bwMode="auto">
            <a:xfrm>
              <a:off x="2720" y="1084"/>
              <a:ext cx="456" cy="210"/>
            </a:xfrm>
            <a:custGeom>
              <a:avLst/>
              <a:gdLst>
                <a:gd name="T0" fmla="*/ 57 w 456"/>
                <a:gd name="T1" fmla="*/ 15 h 210"/>
                <a:gd name="T2" fmla="*/ 0 w 456"/>
                <a:gd name="T3" fmla="*/ 54 h 210"/>
                <a:gd name="T4" fmla="*/ 234 w 456"/>
                <a:gd name="T5" fmla="*/ 210 h 210"/>
                <a:gd name="T6" fmla="*/ 294 w 456"/>
                <a:gd name="T7" fmla="*/ 120 h 210"/>
                <a:gd name="T8" fmla="*/ 399 w 456"/>
                <a:gd name="T9" fmla="*/ 84 h 210"/>
                <a:gd name="T10" fmla="*/ 456 w 456"/>
                <a:gd name="T11" fmla="*/ 15 h 210"/>
                <a:gd name="T12" fmla="*/ 402 w 456"/>
                <a:gd name="T13" fmla="*/ 0 h 210"/>
                <a:gd name="T14" fmla="*/ 282 w 456"/>
                <a:gd name="T15" fmla="*/ 21 h 210"/>
                <a:gd name="T16" fmla="*/ 213 w 456"/>
                <a:gd name="T17" fmla="*/ 24 h 210"/>
                <a:gd name="T18" fmla="*/ 159 w 456"/>
                <a:gd name="T19" fmla="*/ 9 h 210"/>
                <a:gd name="T20" fmla="*/ 57 w 456"/>
                <a:gd name="T21" fmla="*/ 15 h 2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6" h="210">
                  <a:moveTo>
                    <a:pt x="57" y="15"/>
                  </a:moveTo>
                  <a:lnTo>
                    <a:pt x="0" y="54"/>
                  </a:lnTo>
                  <a:lnTo>
                    <a:pt x="234" y="210"/>
                  </a:lnTo>
                  <a:lnTo>
                    <a:pt x="294" y="120"/>
                  </a:lnTo>
                  <a:lnTo>
                    <a:pt x="399" y="84"/>
                  </a:lnTo>
                  <a:lnTo>
                    <a:pt x="456" y="15"/>
                  </a:lnTo>
                  <a:lnTo>
                    <a:pt x="402" y="0"/>
                  </a:lnTo>
                  <a:lnTo>
                    <a:pt x="282" y="21"/>
                  </a:lnTo>
                  <a:lnTo>
                    <a:pt x="213" y="24"/>
                  </a:lnTo>
                  <a:lnTo>
                    <a:pt x="159" y="9"/>
                  </a:lnTo>
                  <a:lnTo>
                    <a:pt x="57" y="15"/>
                  </a:lnTo>
                  <a:close/>
                </a:path>
              </a:pathLst>
            </a:custGeom>
            <a:solidFill>
              <a:srgbClr val="6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7" name="Freeform 20"/>
            <p:cNvSpPr/>
            <p:nvPr/>
          </p:nvSpPr>
          <p:spPr bwMode="auto">
            <a:xfrm>
              <a:off x="2510" y="1493"/>
              <a:ext cx="720" cy="206"/>
            </a:xfrm>
            <a:custGeom>
              <a:avLst/>
              <a:gdLst>
                <a:gd name="T0" fmla="*/ 0 w 720"/>
                <a:gd name="T1" fmla="*/ 20 h 206"/>
                <a:gd name="T2" fmla="*/ 96 w 720"/>
                <a:gd name="T3" fmla="*/ 92 h 206"/>
                <a:gd name="T4" fmla="*/ 162 w 720"/>
                <a:gd name="T5" fmla="*/ 140 h 206"/>
                <a:gd name="T6" fmla="*/ 222 w 720"/>
                <a:gd name="T7" fmla="*/ 176 h 206"/>
                <a:gd name="T8" fmla="*/ 270 w 720"/>
                <a:gd name="T9" fmla="*/ 194 h 206"/>
                <a:gd name="T10" fmla="*/ 348 w 720"/>
                <a:gd name="T11" fmla="*/ 206 h 206"/>
                <a:gd name="T12" fmla="*/ 414 w 720"/>
                <a:gd name="T13" fmla="*/ 206 h 206"/>
                <a:gd name="T14" fmla="*/ 480 w 720"/>
                <a:gd name="T15" fmla="*/ 194 h 206"/>
                <a:gd name="T16" fmla="*/ 528 w 720"/>
                <a:gd name="T17" fmla="*/ 182 h 206"/>
                <a:gd name="T18" fmla="*/ 582 w 720"/>
                <a:gd name="T19" fmla="*/ 152 h 206"/>
                <a:gd name="T20" fmla="*/ 642 w 720"/>
                <a:gd name="T21" fmla="*/ 125 h 206"/>
                <a:gd name="T22" fmla="*/ 693 w 720"/>
                <a:gd name="T23" fmla="*/ 85 h 206"/>
                <a:gd name="T24" fmla="*/ 720 w 720"/>
                <a:gd name="T25" fmla="*/ 60 h 206"/>
                <a:gd name="T26" fmla="*/ 534 w 720"/>
                <a:gd name="T27" fmla="*/ 0 h 206"/>
                <a:gd name="T28" fmla="*/ 318 w 720"/>
                <a:gd name="T29" fmla="*/ 6 h 206"/>
                <a:gd name="T30" fmla="*/ 0 w 720"/>
                <a:gd name="T31" fmla="*/ 20 h 2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0" h="206">
                  <a:moveTo>
                    <a:pt x="0" y="20"/>
                  </a:moveTo>
                  <a:lnTo>
                    <a:pt x="96" y="92"/>
                  </a:lnTo>
                  <a:lnTo>
                    <a:pt x="162" y="140"/>
                  </a:lnTo>
                  <a:lnTo>
                    <a:pt x="222" y="176"/>
                  </a:lnTo>
                  <a:lnTo>
                    <a:pt x="270" y="194"/>
                  </a:lnTo>
                  <a:lnTo>
                    <a:pt x="348" y="206"/>
                  </a:lnTo>
                  <a:lnTo>
                    <a:pt x="414" y="206"/>
                  </a:lnTo>
                  <a:lnTo>
                    <a:pt x="480" y="194"/>
                  </a:lnTo>
                  <a:lnTo>
                    <a:pt x="528" y="182"/>
                  </a:lnTo>
                  <a:lnTo>
                    <a:pt x="582" y="152"/>
                  </a:lnTo>
                  <a:lnTo>
                    <a:pt x="642" y="125"/>
                  </a:lnTo>
                  <a:lnTo>
                    <a:pt x="693" y="85"/>
                  </a:lnTo>
                  <a:lnTo>
                    <a:pt x="720" y="60"/>
                  </a:lnTo>
                  <a:lnTo>
                    <a:pt x="534" y="0"/>
                  </a:lnTo>
                  <a:lnTo>
                    <a:pt x="318" y="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8" name="Freeform 21"/>
            <p:cNvSpPr/>
            <p:nvPr/>
          </p:nvSpPr>
          <p:spPr bwMode="auto">
            <a:xfrm>
              <a:off x="2705" y="1207"/>
              <a:ext cx="285" cy="219"/>
            </a:xfrm>
            <a:custGeom>
              <a:avLst/>
              <a:gdLst>
                <a:gd name="T0" fmla="*/ 0 w 285"/>
                <a:gd name="T1" fmla="*/ 0 h 219"/>
                <a:gd name="T2" fmla="*/ 18 w 285"/>
                <a:gd name="T3" fmla="*/ 71 h 219"/>
                <a:gd name="T4" fmla="*/ 39 w 285"/>
                <a:gd name="T5" fmla="*/ 110 h 219"/>
                <a:gd name="T6" fmla="*/ 69 w 285"/>
                <a:gd name="T7" fmla="*/ 152 h 219"/>
                <a:gd name="T8" fmla="*/ 99 w 285"/>
                <a:gd name="T9" fmla="*/ 188 h 219"/>
                <a:gd name="T10" fmla="*/ 129 w 285"/>
                <a:gd name="T11" fmla="*/ 219 h 219"/>
                <a:gd name="T12" fmla="*/ 285 w 285"/>
                <a:gd name="T13" fmla="*/ 100 h 219"/>
                <a:gd name="T14" fmla="*/ 195 w 285"/>
                <a:gd name="T15" fmla="*/ 40 h 219"/>
                <a:gd name="T16" fmla="*/ 0 w 285"/>
                <a:gd name="T17" fmla="*/ 0 h 2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5" h="219">
                  <a:moveTo>
                    <a:pt x="0" y="0"/>
                  </a:moveTo>
                  <a:lnTo>
                    <a:pt x="18" y="71"/>
                  </a:lnTo>
                  <a:lnTo>
                    <a:pt x="39" y="110"/>
                  </a:lnTo>
                  <a:lnTo>
                    <a:pt x="69" y="152"/>
                  </a:lnTo>
                  <a:lnTo>
                    <a:pt x="99" y="188"/>
                  </a:lnTo>
                  <a:lnTo>
                    <a:pt x="129" y="219"/>
                  </a:lnTo>
                  <a:lnTo>
                    <a:pt x="285" y="100"/>
                  </a:lnTo>
                  <a:lnTo>
                    <a:pt x="19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9" name="Freeform 22"/>
            <p:cNvSpPr/>
            <p:nvPr/>
          </p:nvSpPr>
          <p:spPr bwMode="auto">
            <a:xfrm>
              <a:off x="2792" y="989"/>
              <a:ext cx="426" cy="506"/>
            </a:xfrm>
            <a:custGeom>
              <a:avLst/>
              <a:gdLst>
                <a:gd name="T0" fmla="*/ 12 w 426"/>
                <a:gd name="T1" fmla="*/ 498 h 506"/>
                <a:gd name="T2" fmla="*/ 0 w 426"/>
                <a:gd name="T3" fmla="*/ 438 h 506"/>
                <a:gd name="T4" fmla="*/ 36 w 426"/>
                <a:gd name="T5" fmla="*/ 378 h 506"/>
                <a:gd name="T6" fmla="*/ 114 w 426"/>
                <a:gd name="T7" fmla="*/ 318 h 506"/>
                <a:gd name="T8" fmla="*/ 180 w 426"/>
                <a:gd name="T9" fmla="*/ 270 h 506"/>
                <a:gd name="T10" fmla="*/ 210 w 426"/>
                <a:gd name="T11" fmla="*/ 210 h 506"/>
                <a:gd name="T12" fmla="*/ 264 w 426"/>
                <a:gd name="T13" fmla="*/ 192 h 506"/>
                <a:gd name="T14" fmla="*/ 324 w 426"/>
                <a:gd name="T15" fmla="*/ 180 h 506"/>
                <a:gd name="T16" fmla="*/ 348 w 426"/>
                <a:gd name="T17" fmla="*/ 132 h 506"/>
                <a:gd name="T18" fmla="*/ 378 w 426"/>
                <a:gd name="T19" fmla="*/ 66 h 506"/>
                <a:gd name="T20" fmla="*/ 396 w 426"/>
                <a:gd name="T21" fmla="*/ 12 h 506"/>
                <a:gd name="T22" fmla="*/ 414 w 426"/>
                <a:gd name="T23" fmla="*/ 0 h 506"/>
                <a:gd name="T24" fmla="*/ 426 w 426"/>
                <a:gd name="T25" fmla="*/ 80 h 506"/>
                <a:gd name="T26" fmla="*/ 426 w 426"/>
                <a:gd name="T27" fmla="*/ 149 h 506"/>
                <a:gd name="T28" fmla="*/ 426 w 426"/>
                <a:gd name="T29" fmla="*/ 197 h 506"/>
                <a:gd name="T30" fmla="*/ 420 w 426"/>
                <a:gd name="T31" fmla="*/ 248 h 506"/>
                <a:gd name="T32" fmla="*/ 411 w 426"/>
                <a:gd name="T33" fmla="*/ 296 h 506"/>
                <a:gd name="T34" fmla="*/ 390 w 426"/>
                <a:gd name="T35" fmla="*/ 350 h 506"/>
                <a:gd name="T36" fmla="*/ 369 w 426"/>
                <a:gd name="T37" fmla="*/ 392 h 506"/>
                <a:gd name="T38" fmla="*/ 339 w 426"/>
                <a:gd name="T39" fmla="*/ 437 h 506"/>
                <a:gd name="T40" fmla="*/ 285 w 426"/>
                <a:gd name="T41" fmla="*/ 506 h 506"/>
                <a:gd name="T42" fmla="*/ 180 w 426"/>
                <a:gd name="T43" fmla="*/ 492 h 506"/>
                <a:gd name="T44" fmla="*/ 12 w 426"/>
                <a:gd name="T45" fmla="*/ 498 h 5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26" h="506">
                  <a:moveTo>
                    <a:pt x="12" y="498"/>
                  </a:moveTo>
                  <a:lnTo>
                    <a:pt x="0" y="438"/>
                  </a:lnTo>
                  <a:lnTo>
                    <a:pt x="36" y="378"/>
                  </a:lnTo>
                  <a:lnTo>
                    <a:pt x="114" y="318"/>
                  </a:lnTo>
                  <a:lnTo>
                    <a:pt x="180" y="270"/>
                  </a:lnTo>
                  <a:lnTo>
                    <a:pt x="210" y="210"/>
                  </a:lnTo>
                  <a:lnTo>
                    <a:pt x="264" y="192"/>
                  </a:lnTo>
                  <a:lnTo>
                    <a:pt x="324" y="180"/>
                  </a:lnTo>
                  <a:lnTo>
                    <a:pt x="348" y="132"/>
                  </a:lnTo>
                  <a:lnTo>
                    <a:pt x="378" y="66"/>
                  </a:lnTo>
                  <a:lnTo>
                    <a:pt x="396" y="12"/>
                  </a:lnTo>
                  <a:lnTo>
                    <a:pt x="414" y="0"/>
                  </a:lnTo>
                  <a:lnTo>
                    <a:pt x="426" y="80"/>
                  </a:lnTo>
                  <a:lnTo>
                    <a:pt x="426" y="149"/>
                  </a:lnTo>
                  <a:lnTo>
                    <a:pt x="426" y="197"/>
                  </a:lnTo>
                  <a:lnTo>
                    <a:pt x="420" y="248"/>
                  </a:lnTo>
                  <a:lnTo>
                    <a:pt x="411" y="296"/>
                  </a:lnTo>
                  <a:lnTo>
                    <a:pt x="390" y="350"/>
                  </a:lnTo>
                  <a:lnTo>
                    <a:pt x="369" y="392"/>
                  </a:lnTo>
                  <a:lnTo>
                    <a:pt x="339" y="437"/>
                  </a:lnTo>
                  <a:lnTo>
                    <a:pt x="285" y="506"/>
                  </a:lnTo>
                  <a:lnTo>
                    <a:pt x="180" y="492"/>
                  </a:lnTo>
                  <a:lnTo>
                    <a:pt x="12" y="498"/>
                  </a:lnTo>
                  <a:close/>
                </a:path>
              </a:pathLst>
            </a:custGeom>
            <a:solidFill>
              <a:srgbClr val="A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0" name="Freeform 23"/>
            <p:cNvSpPr/>
            <p:nvPr/>
          </p:nvSpPr>
          <p:spPr bwMode="auto">
            <a:xfrm>
              <a:off x="2234" y="1355"/>
              <a:ext cx="1005" cy="240"/>
            </a:xfrm>
            <a:custGeom>
              <a:avLst/>
              <a:gdLst>
                <a:gd name="T0" fmla="*/ 180 w 1005"/>
                <a:gd name="T1" fmla="*/ 30 h 240"/>
                <a:gd name="T2" fmla="*/ 201 w 1005"/>
                <a:gd name="T3" fmla="*/ 58 h 240"/>
                <a:gd name="T4" fmla="*/ 246 w 1005"/>
                <a:gd name="T5" fmla="*/ 78 h 240"/>
                <a:gd name="T6" fmla="*/ 288 w 1005"/>
                <a:gd name="T7" fmla="*/ 82 h 240"/>
                <a:gd name="T8" fmla="*/ 324 w 1005"/>
                <a:gd name="T9" fmla="*/ 78 h 240"/>
                <a:gd name="T10" fmla="*/ 402 w 1005"/>
                <a:gd name="T11" fmla="*/ 90 h 240"/>
                <a:gd name="T12" fmla="*/ 474 w 1005"/>
                <a:gd name="T13" fmla="*/ 126 h 240"/>
                <a:gd name="T14" fmla="*/ 534 w 1005"/>
                <a:gd name="T15" fmla="*/ 130 h 240"/>
                <a:gd name="T16" fmla="*/ 570 w 1005"/>
                <a:gd name="T17" fmla="*/ 120 h 240"/>
                <a:gd name="T18" fmla="*/ 618 w 1005"/>
                <a:gd name="T19" fmla="*/ 112 h 240"/>
                <a:gd name="T20" fmla="*/ 666 w 1005"/>
                <a:gd name="T21" fmla="*/ 108 h 240"/>
                <a:gd name="T22" fmla="*/ 708 w 1005"/>
                <a:gd name="T23" fmla="*/ 106 h 240"/>
                <a:gd name="T24" fmla="*/ 744 w 1005"/>
                <a:gd name="T25" fmla="*/ 108 h 240"/>
                <a:gd name="T26" fmla="*/ 810 w 1005"/>
                <a:gd name="T27" fmla="*/ 108 h 240"/>
                <a:gd name="T28" fmla="*/ 888 w 1005"/>
                <a:gd name="T29" fmla="*/ 132 h 240"/>
                <a:gd name="T30" fmla="*/ 948 w 1005"/>
                <a:gd name="T31" fmla="*/ 174 h 240"/>
                <a:gd name="T32" fmla="*/ 1005 w 1005"/>
                <a:gd name="T33" fmla="*/ 196 h 240"/>
                <a:gd name="T34" fmla="*/ 969 w 1005"/>
                <a:gd name="T35" fmla="*/ 223 h 240"/>
                <a:gd name="T36" fmla="*/ 951 w 1005"/>
                <a:gd name="T37" fmla="*/ 211 h 240"/>
                <a:gd name="T38" fmla="*/ 894 w 1005"/>
                <a:gd name="T39" fmla="*/ 198 h 240"/>
                <a:gd name="T40" fmla="*/ 798 w 1005"/>
                <a:gd name="T41" fmla="*/ 186 h 240"/>
                <a:gd name="T42" fmla="*/ 786 w 1005"/>
                <a:gd name="T43" fmla="*/ 156 h 240"/>
                <a:gd name="T44" fmla="*/ 768 w 1005"/>
                <a:gd name="T45" fmla="*/ 156 h 240"/>
                <a:gd name="T46" fmla="*/ 738 w 1005"/>
                <a:gd name="T47" fmla="*/ 198 h 240"/>
                <a:gd name="T48" fmla="*/ 684 w 1005"/>
                <a:gd name="T49" fmla="*/ 210 h 240"/>
                <a:gd name="T50" fmla="*/ 642 w 1005"/>
                <a:gd name="T51" fmla="*/ 212 h 240"/>
                <a:gd name="T52" fmla="*/ 576 w 1005"/>
                <a:gd name="T53" fmla="*/ 224 h 240"/>
                <a:gd name="T54" fmla="*/ 528 w 1005"/>
                <a:gd name="T55" fmla="*/ 240 h 240"/>
                <a:gd name="T56" fmla="*/ 462 w 1005"/>
                <a:gd name="T57" fmla="*/ 234 h 240"/>
                <a:gd name="T58" fmla="*/ 423 w 1005"/>
                <a:gd name="T59" fmla="*/ 206 h 240"/>
                <a:gd name="T60" fmla="*/ 378 w 1005"/>
                <a:gd name="T61" fmla="*/ 192 h 240"/>
                <a:gd name="T62" fmla="*/ 345 w 1005"/>
                <a:gd name="T63" fmla="*/ 199 h 240"/>
                <a:gd name="T64" fmla="*/ 312 w 1005"/>
                <a:gd name="T65" fmla="*/ 198 h 240"/>
                <a:gd name="T66" fmla="*/ 282 w 1005"/>
                <a:gd name="T67" fmla="*/ 179 h 240"/>
                <a:gd name="T68" fmla="*/ 246 w 1005"/>
                <a:gd name="T69" fmla="*/ 150 h 240"/>
                <a:gd name="T70" fmla="*/ 210 w 1005"/>
                <a:gd name="T71" fmla="*/ 126 h 240"/>
                <a:gd name="T72" fmla="*/ 177 w 1005"/>
                <a:gd name="T73" fmla="*/ 127 h 240"/>
                <a:gd name="T74" fmla="*/ 138 w 1005"/>
                <a:gd name="T75" fmla="*/ 138 h 240"/>
                <a:gd name="T76" fmla="*/ 102 w 1005"/>
                <a:gd name="T77" fmla="*/ 155 h 240"/>
                <a:gd name="T78" fmla="*/ 66 w 1005"/>
                <a:gd name="T79" fmla="*/ 167 h 240"/>
                <a:gd name="T80" fmla="*/ 24 w 1005"/>
                <a:gd name="T81" fmla="*/ 168 h 240"/>
                <a:gd name="T82" fmla="*/ 6 w 1005"/>
                <a:gd name="T83" fmla="*/ 149 h 240"/>
                <a:gd name="T84" fmla="*/ 0 w 1005"/>
                <a:gd name="T85" fmla="*/ 132 h 240"/>
                <a:gd name="T86" fmla="*/ 24 w 1005"/>
                <a:gd name="T87" fmla="*/ 96 h 240"/>
                <a:gd name="T88" fmla="*/ 39 w 1005"/>
                <a:gd name="T89" fmla="*/ 40 h 240"/>
                <a:gd name="T90" fmla="*/ 42 w 1005"/>
                <a:gd name="T91" fmla="*/ 18 h 240"/>
                <a:gd name="T92" fmla="*/ 63 w 1005"/>
                <a:gd name="T93" fmla="*/ 1 h 240"/>
                <a:gd name="T94" fmla="*/ 90 w 1005"/>
                <a:gd name="T95" fmla="*/ 0 h 240"/>
                <a:gd name="T96" fmla="*/ 180 w 1005"/>
                <a:gd name="T97" fmla="*/ 30 h 2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05" h="240">
                  <a:moveTo>
                    <a:pt x="180" y="30"/>
                  </a:moveTo>
                  <a:lnTo>
                    <a:pt x="201" y="58"/>
                  </a:lnTo>
                  <a:lnTo>
                    <a:pt x="246" y="78"/>
                  </a:lnTo>
                  <a:lnTo>
                    <a:pt x="288" y="82"/>
                  </a:lnTo>
                  <a:lnTo>
                    <a:pt x="324" y="78"/>
                  </a:lnTo>
                  <a:lnTo>
                    <a:pt x="402" y="90"/>
                  </a:lnTo>
                  <a:lnTo>
                    <a:pt x="474" y="126"/>
                  </a:lnTo>
                  <a:lnTo>
                    <a:pt x="534" y="130"/>
                  </a:lnTo>
                  <a:lnTo>
                    <a:pt x="570" y="120"/>
                  </a:lnTo>
                  <a:lnTo>
                    <a:pt x="618" y="112"/>
                  </a:lnTo>
                  <a:lnTo>
                    <a:pt x="666" y="108"/>
                  </a:lnTo>
                  <a:lnTo>
                    <a:pt x="708" y="106"/>
                  </a:lnTo>
                  <a:lnTo>
                    <a:pt x="744" y="108"/>
                  </a:lnTo>
                  <a:lnTo>
                    <a:pt x="810" y="108"/>
                  </a:lnTo>
                  <a:lnTo>
                    <a:pt x="888" y="132"/>
                  </a:lnTo>
                  <a:lnTo>
                    <a:pt x="948" y="174"/>
                  </a:lnTo>
                  <a:lnTo>
                    <a:pt x="1005" y="196"/>
                  </a:lnTo>
                  <a:lnTo>
                    <a:pt x="969" y="223"/>
                  </a:lnTo>
                  <a:lnTo>
                    <a:pt x="951" y="211"/>
                  </a:lnTo>
                  <a:lnTo>
                    <a:pt x="894" y="198"/>
                  </a:lnTo>
                  <a:lnTo>
                    <a:pt x="798" y="186"/>
                  </a:lnTo>
                  <a:lnTo>
                    <a:pt x="786" y="156"/>
                  </a:lnTo>
                  <a:lnTo>
                    <a:pt x="768" y="156"/>
                  </a:lnTo>
                  <a:lnTo>
                    <a:pt x="738" y="198"/>
                  </a:lnTo>
                  <a:lnTo>
                    <a:pt x="684" y="210"/>
                  </a:lnTo>
                  <a:lnTo>
                    <a:pt x="642" y="212"/>
                  </a:lnTo>
                  <a:lnTo>
                    <a:pt x="576" y="224"/>
                  </a:lnTo>
                  <a:lnTo>
                    <a:pt x="528" y="240"/>
                  </a:lnTo>
                  <a:lnTo>
                    <a:pt x="462" y="234"/>
                  </a:lnTo>
                  <a:lnTo>
                    <a:pt x="423" y="206"/>
                  </a:lnTo>
                  <a:lnTo>
                    <a:pt x="378" y="192"/>
                  </a:lnTo>
                  <a:lnTo>
                    <a:pt x="345" y="199"/>
                  </a:lnTo>
                  <a:lnTo>
                    <a:pt x="312" y="198"/>
                  </a:lnTo>
                  <a:lnTo>
                    <a:pt x="282" y="179"/>
                  </a:lnTo>
                  <a:lnTo>
                    <a:pt x="246" y="150"/>
                  </a:lnTo>
                  <a:lnTo>
                    <a:pt x="210" y="126"/>
                  </a:lnTo>
                  <a:lnTo>
                    <a:pt x="177" y="127"/>
                  </a:lnTo>
                  <a:lnTo>
                    <a:pt x="138" y="138"/>
                  </a:lnTo>
                  <a:lnTo>
                    <a:pt x="102" y="155"/>
                  </a:lnTo>
                  <a:lnTo>
                    <a:pt x="66" y="167"/>
                  </a:lnTo>
                  <a:lnTo>
                    <a:pt x="24" y="168"/>
                  </a:lnTo>
                  <a:lnTo>
                    <a:pt x="6" y="149"/>
                  </a:lnTo>
                  <a:lnTo>
                    <a:pt x="0" y="132"/>
                  </a:lnTo>
                  <a:lnTo>
                    <a:pt x="24" y="96"/>
                  </a:lnTo>
                  <a:lnTo>
                    <a:pt x="39" y="40"/>
                  </a:lnTo>
                  <a:lnTo>
                    <a:pt x="42" y="18"/>
                  </a:lnTo>
                  <a:lnTo>
                    <a:pt x="63" y="1"/>
                  </a:lnTo>
                  <a:lnTo>
                    <a:pt x="90" y="0"/>
                  </a:lnTo>
                  <a:lnTo>
                    <a:pt x="180" y="30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1" name="Freeform 24"/>
            <p:cNvSpPr/>
            <p:nvPr/>
          </p:nvSpPr>
          <p:spPr bwMode="auto">
            <a:xfrm>
              <a:off x="2582" y="887"/>
              <a:ext cx="360" cy="392"/>
            </a:xfrm>
            <a:custGeom>
              <a:avLst/>
              <a:gdLst>
                <a:gd name="T0" fmla="*/ 360 w 360"/>
                <a:gd name="T1" fmla="*/ 392 h 392"/>
                <a:gd name="T2" fmla="*/ 351 w 360"/>
                <a:gd name="T3" fmla="*/ 365 h 392"/>
                <a:gd name="T4" fmla="*/ 300 w 360"/>
                <a:gd name="T5" fmla="*/ 330 h 392"/>
                <a:gd name="T6" fmla="*/ 234 w 360"/>
                <a:gd name="T7" fmla="*/ 294 h 392"/>
                <a:gd name="T8" fmla="*/ 174 w 360"/>
                <a:gd name="T9" fmla="*/ 246 h 392"/>
                <a:gd name="T10" fmla="*/ 177 w 360"/>
                <a:gd name="T11" fmla="*/ 242 h 392"/>
                <a:gd name="T12" fmla="*/ 138 w 360"/>
                <a:gd name="T13" fmla="*/ 204 h 392"/>
                <a:gd name="T14" fmla="*/ 120 w 360"/>
                <a:gd name="T15" fmla="*/ 158 h 392"/>
                <a:gd name="T16" fmla="*/ 108 w 360"/>
                <a:gd name="T17" fmla="*/ 120 h 392"/>
                <a:gd name="T18" fmla="*/ 108 w 360"/>
                <a:gd name="T19" fmla="*/ 66 h 392"/>
                <a:gd name="T20" fmla="*/ 126 w 360"/>
                <a:gd name="T21" fmla="*/ 48 h 392"/>
                <a:gd name="T22" fmla="*/ 216 w 360"/>
                <a:gd name="T23" fmla="*/ 60 h 392"/>
                <a:gd name="T24" fmla="*/ 138 w 360"/>
                <a:gd name="T25" fmla="*/ 6 h 392"/>
                <a:gd name="T26" fmla="*/ 72 w 360"/>
                <a:gd name="T27" fmla="*/ 0 h 392"/>
                <a:gd name="T28" fmla="*/ 24 w 360"/>
                <a:gd name="T29" fmla="*/ 18 h 392"/>
                <a:gd name="T30" fmla="*/ 12 w 360"/>
                <a:gd name="T31" fmla="*/ 44 h 392"/>
                <a:gd name="T32" fmla="*/ 0 w 360"/>
                <a:gd name="T33" fmla="*/ 85 h 392"/>
                <a:gd name="T34" fmla="*/ 12 w 360"/>
                <a:gd name="T35" fmla="*/ 125 h 392"/>
                <a:gd name="T36" fmla="*/ 45 w 360"/>
                <a:gd name="T37" fmla="*/ 157 h 392"/>
                <a:gd name="T38" fmla="*/ 72 w 360"/>
                <a:gd name="T39" fmla="*/ 180 h 392"/>
                <a:gd name="T40" fmla="*/ 84 w 360"/>
                <a:gd name="T41" fmla="*/ 240 h 392"/>
                <a:gd name="T42" fmla="*/ 84 w 360"/>
                <a:gd name="T43" fmla="*/ 278 h 392"/>
                <a:gd name="T44" fmla="*/ 102 w 360"/>
                <a:gd name="T45" fmla="*/ 326 h 392"/>
                <a:gd name="T46" fmla="*/ 138 w 360"/>
                <a:gd name="T47" fmla="*/ 366 h 392"/>
                <a:gd name="T48" fmla="*/ 186 w 360"/>
                <a:gd name="T49" fmla="*/ 378 h 392"/>
                <a:gd name="T50" fmla="*/ 246 w 360"/>
                <a:gd name="T51" fmla="*/ 372 h 392"/>
                <a:gd name="T52" fmla="*/ 300 w 360"/>
                <a:gd name="T53" fmla="*/ 378 h 392"/>
                <a:gd name="T54" fmla="*/ 360 w 360"/>
                <a:gd name="T55" fmla="*/ 392 h 39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60" h="392">
                  <a:moveTo>
                    <a:pt x="360" y="392"/>
                  </a:moveTo>
                  <a:lnTo>
                    <a:pt x="351" y="365"/>
                  </a:lnTo>
                  <a:lnTo>
                    <a:pt x="300" y="330"/>
                  </a:lnTo>
                  <a:lnTo>
                    <a:pt x="234" y="294"/>
                  </a:lnTo>
                  <a:lnTo>
                    <a:pt x="174" y="246"/>
                  </a:lnTo>
                  <a:lnTo>
                    <a:pt x="177" y="242"/>
                  </a:lnTo>
                  <a:lnTo>
                    <a:pt x="138" y="204"/>
                  </a:lnTo>
                  <a:lnTo>
                    <a:pt x="120" y="158"/>
                  </a:lnTo>
                  <a:lnTo>
                    <a:pt x="108" y="120"/>
                  </a:lnTo>
                  <a:lnTo>
                    <a:pt x="108" y="66"/>
                  </a:lnTo>
                  <a:lnTo>
                    <a:pt x="126" y="48"/>
                  </a:lnTo>
                  <a:lnTo>
                    <a:pt x="216" y="60"/>
                  </a:lnTo>
                  <a:lnTo>
                    <a:pt x="138" y="6"/>
                  </a:lnTo>
                  <a:lnTo>
                    <a:pt x="72" y="0"/>
                  </a:lnTo>
                  <a:lnTo>
                    <a:pt x="24" y="18"/>
                  </a:lnTo>
                  <a:lnTo>
                    <a:pt x="12" y="44"/>
                  </a:lnTo>
                  <a:lnTo>
                    <a:pt x="0" y="85"/>
                  </a:lnTo>
                  <a:lnTo>
                    <a:pt x="12" y="125"/>
                  </a:lnTo>
                  <a:lnTo>
                    <a:pt x="45" y="157"/>
                  </a:lnTo>
                  <a:lnTo>
                    <a:pt x="72" y="180"/>
                  </a:lnTo>
                  <a:lnTo>
                    <a:pt x="84" y="240"/>
                  </a:lnTo>
                  <a:lnTo>
                    <a:pt x="84" y="278"/>
                  </a:lnTo>
                  <a:lnTo>
                    <a:pt x="102" y="326"/>
                  </a:lnTo>
                  <a:lnTo>
                    <a:pt x="138" y="366"/>
                  </a:lnTo>
                  <a:lnTo>
                    <a:pt x="186" y="378"/>
                  </a:lnTo>
                  <a:lnTo>
                    <a:pt x="246" y="372"/>
                  </a:lnTo>
                  <a:lnTo>
                    <a:pt x="300" y="378"/>
                  </a:lnTo>
                  <a:lnTo>
                    <a:pt x="360" y="392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2" name="Freeform 25"/>
            <p:cNvSpPr/>
            <p:nvPr/>
          </p:nvSpPr>
          <p:spPr bwMode="auto">
            <a:xfrm>
              <a:off x="2798" y="985"/>
              <a:ext cx="405" cy="435"/>
            </a:xfrm>
            <a:custGeom>
              <a:avLst/>
              <a:gdLst>
                <a:gd name="T0" fmla="*/ 0 w 405"/>
                <a:gd name="T1" fmla="*/ 435 h 435"/>
                <a:gd name="T2" fmla="*/ 36 w 405"/>
                <a:gd name="T3" fmla="*/ 399 h 435"/>
                <a:gd name="T4" fmla="*/ 84 w 405"/>
                <a:gd name="T5" fmla="*/ 381 h 435"/>
                <a:gd name="T6" fmla="*/ 141 w 405"/>
                <a:gd name="T7" fmla="*/ 360 h 435"/>
                <a:gd name="T8" fmla="*/ 153 w 405"/>
                <a:gd name="T9" fmla="*/ 339 h 435"/>
                <a:gd name="T10" fmla="*/ 153 w 405"/>
                <a:gd name="T11" fmla="*/ 327 h 435"/>
                <a:gd name="T12" fmla="*/ 168 w 405"/>
                <a:gd name="T13" fmla="*/ 309 h 435"/>
                <a:gd name="T14" fmla="*/ 213 w 405"/>
                <a:gd name="T15" fmla="*/ 285 h 435"/>
                <a:gd name="T16" fmla="*/ 219 w 405"/>
                <a:gd name="T17" fmla="*/ 258 h 435"/>
                <a:gd name="T18" fmla="*/ 222 w 405"/>
                <a:gd name="T19" fmla="*/ 231 h 435"/>
                <a:gd name="T20" fmla="*/ 243 w 405"/>
                <a:gd name="T21" fmla="*/ 228 h 435"/>
                <a:gd name="T22" fmla="*/ 294 w 405"/>
                <a:gd name="T23" fmla="*/ 225 h 435"/>
                <a:gd name="T24" fmla="*/ 327 w 405"/>
                <a:gd name="T25" fmla="*/ 210 h 435"/>
                <a:gd name="T26" fmla="*/ 333 w 405"/>
                <a:gd name="T27" fmla="*/ 183 h 435"/>
                <a:gd name="T28" fmla="*/ 369 w 405"/>
                <a:gd name="T29" fmla="*/ 162 h 435"/>
                <a:gd name="T30" fmla="*/ 387 w 405"/>
                <a:gd name="T31" fmla="*/ 132 h 435"/>
                <a:gd name="T32" fmla="*/ 399 w 405"/>
                <a:gd name="T33" fmla="*/ 93 h 435"/>
                <a:gd name="T34" fmla="*/ 402 w 405"/>
                <a:gd name="T35" fmla="*/ 75 h 435"/>
                <a:gd name="T36" fmla="*/ 405 w 405"/>
                <a:gd name="T37" fmla="*/ 0 h 435"/>
                <a:gd name="T38" fmla="*/ 375 w 405"/>
                <a:gd name="T39" fmla="*/ 33 h 435"/>
                <a:gd name="T40" fmla="*/ 372 w 405"/>
                <a:gd name="T41" fmla="*/ 66 h 435"/>
                <a:gd name="T42" fmla="*/ 357 w 405"/>
                <a:gd name="T43" fmla="*/ 102 h 435"/>
                <a:gd name="T44" fmla="*/ 339 w 405"/>
                <a:gd name="T45" fmla="*/ 129 h 435"/>
                <a:gd name="T46" fmla="*/ 321 w 405"/>
                <a:gd name="T47" fmla="*/ 159 h 435"/>
                <a:gd name="T48" fmla="*/ 309 w 405"/>
                <a:gd name="T49" fmla="*/ 171 h 435"/>
                <a:gd name="T50" fmla="*/ 285 w 405"/>
                <a:gd name="T51" fmla="*/ 177 h 435"/>
                <a:gd name="T52" fmla="*/ 243 w 405"/>
                <a:gd name="T53" fmla="*/ 189 h 435"/>
                <a:gd name="T54" fmla="*/ 198 w 405"/>
                <a:gd name="T55" fmla="*/ 201 h 435"/>
                <a:gd name="T56" fmla="*/ 180 w 405"/>
                <a:gd name="T57" fmla="*/ 225 h 435"/>
                <a:gd name="T58" fmla="*/ 177 w 405"/>
                <a:gd name="T59" fmla="*/ 240 h 435"/>
                <a:gd name="T60" fmla="*/ 165 w 405"/>
                <a:gd name="T61" fmla="*/ 273 h 435"/>
                <a:gd name="T62" fmla="*/ 123 w 405"/>
                <a:gd name="T63" fmla="*/ 297 h 435"/>
                <a:gd name="T64" fmla="*/ 96 w 405"/>
                <a:gd name="T65" fmla="*/ 312 h 435"/>
                <a:gd name="T66" fmla="*/ 69 w 405"/>
                <a:gd name="T67" fmla="*/ 333 h 435"/>
                <a:gd name="T68" fmla="*/ 30 w 405"/>
                <a:gd name="T69" fmla="*/ 363 h 435"/>
                <a:gd name="T70" fmla="*/ 12 w 405"/>
                <a:gd name="T71" fmla="*/ 387 h 435"/>
                <a:gd name="T72" fmla="*/ 0 w 405"/>
                <a:gd name="T73" fmla="*/ 435 h 43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05" h="435">
                  <a:moveTo>
                    <a:pt x="0" y="435"/>
                  </a:moveTo>
                  <a:lnTo>
                    <a:pt x="36" y="399"/>
                  </a:lnTo>
                  <a:lnTo>
                    <a:pt x="84" y="381"/>
                  </a:lnTo>
                  <a:lnTo>
                    <a:pt x="141" y="360"/>
                  </a:lnTo>
                  <a:lnTo>
                    <a:pt x="153" y="339"/>
                  </a:lnTo>
                  <a:lnTo>
                    <a:pt x="153" y="327"/>
                  </a:lnTo>
                  <a:lnTo>
                    <a:pt x="168" y="309"/>
                  </a:lnTo>
                  <a:lnTo>
                    <a:pt x="213" y="285"/>
                  </a:lnTo>
                  <a:lnTo>
                    <a:pt x="219" y="258"/>
                  </a:lnTo>
                  <a:lnTo>
                    <a:pt x="222" y="231"/>
                  </a:lnTo>
                  <a:lnTo>
                    <a:pt x="243" y="228"/>
                  </a:lnTo>
                  <a:lnTo>
                    <a:pt x="294" y="225"/>
                  </a:lnTo>
                  <a:lnTo>
                    <a:pt x="327" y="210"/>
                  </a:lnTo>
                  <a:lnTo>
                    <a:pt x="333" y="183"/>
                  </a:lnTo>
                  <a:lnTo>
                    <a:pt x="369" y="162"/>
                  </a:lnTo>
                  <a:lnTo>
                    <a:pt x="387" y="132"/>
                  </a:lnTo>
                  <a:lnTo>
                    <a:pt x="399" y="93"/>
                  </a:lnTo>
                  <a:lnTo>
                    <a:pt x="402" y="75"/>
                  </a:lnTo>
                  <a:lnTo>
                    <a:pt x="405" y="0"/>
                  </a:lnTo>
                  <a:lnTo>
                    <a:pt x="375" y="33"/>
                  </a:lnTo>
                  <a:lnTo>
                    <a:pt x="372" y="66"/>
                  </a:lnTo>
                  <a:lnTo>
                    <a:pt x="357" y="102"/>
                  </a:lnTo>
                  <a:lnTo>
                    <a:pt x="339" y="129"/>
                  </a:lnTo>
                  <a:lnTo>
                    <a:pt x="321" y="159"/>
                  </a:lnTo>
                  <a:lnTo>
                    <a:pt x="309" y="171"/>
                  </a:lnTo>
                  <a:lnTo>
                    <a:pt x="285" y="177"/>
                  </a:lnTo>
                  <a:lnTo>
                    <a:pt x="243" y="189"/>
                  </a:lnTo>
                  <a:lnTo>
                    <a:pt x="198" y="201"/>
                  </a:lnTo>
                  <a:lnTo>
                    <a:pt x="180" y="225"/>
                  </a:lnTo>
                  <a:lnTo>
                    <a:pt x="177" y="240"/>
                  </a:lnTo>
                  <a:lnTo>
                    <a:pt x="165" y="273"/>
                  </a:lnTo>
                  <a:lnTo>
                    <a:pt x="123" y="297"/>
                  </a:lnTo>
                  <a:lnTo>
                    <a:pt x="96" y="312"/>
                  </a:lnTo>
                  <a:lnTo>
                    <a:pt x="69" y="333"/>
                  </a:lnTo>
                  <a:lnTo>
                    <a:pt x="30" y="363"/>
                  </a:lnTo>
                  <a:lnTo>
                    <a:pt x="12" y="387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3" name="Freeform 26"/>
            <p:cNvSpPr/>
            <p:nvPr/>
          </p:nvSpPr>
          <p:spPr bwMode="auto">
            <a:xfrm>
              <a:off x="2747" y="835"/>
              <a:ext cx="462" cy="294"/>
            </a:xfrm>
            <a:custGeom>
              <a:avLst/>
              <a:gdLst>
                <a:gd name="T0" fmla="*/ 0 w 462"/>
                <a:gd name="T1" fmla="*/ 279 h 294"/>
                <a:gd name="T2" fmla="*/ 21 w 462"/>
                <a:gd name="T3" fmla="*/ 249 h 294"/>
                <a:gd name="T4" fmla="*/ 66 w 462"/>
                <a:gd name="T5" fmla="*/ 240 h 294"/>
                <a:gd name="T6" fmla="*/ 123 w 462"/>
                <a:gd name="T7" fmla="*/ 246 h 294"/>
                <a:gd name="T8" fmla="*/ 180 w 462"/>
                <a:gd name="T9" fmla="*/ 258 h 294"/>
                <a:gd name="T10" fmla="*/ 252 w 462"/>
                <a:gd name="T11" fmla="*/ 255 h 294"/>
                <a:gd name="T12" fmla="*/ 366 w 462"/>
                <a:gd name="T13" fmla="*/ 234 h 294"/>
                <a:gd name="T14" fmla="*/ 393 w 462"/>
                <a:gd name="T15" fmla="*/ 204 h 294"/>
                <a:gd name="T16" fmla="*/ 408 w 462"/>
                <a:gd name="T17" fmla="*/ 162 h 294"/>
                <a:gd name="T18" fmla="*/ 408 w 462"/>
                <a:gd name="T19" fmla="*/ 99 h 294"/>
                <a:gd name="T20" fmla="*/ 387 w 462"/>
                <a:gd name="T21" fmla="*/ 72 h 294"/>
                <a:gd name="T22" fmla="*/ 342 w 462"/>
                <a:gd name="T23" fmla="*/ 57 h 294"/>
                <a:gd name="T24" fmla="*/ 312 w 462"/>
                <a:gd name="T25" fmla="*/ 36 h 294"/>
                <a:gd name="T26" fmla="*/ 288 w 462"/>
                <a:gd name="T27" fmla="*/ 0 h 294"/>
                <a:gd name="T28" fmla="*/ 333 w 462"/>
                <a:gd name="T29" fmla="*/ 24 h 294"/>
                <a:gd name="T30" fmla="*/ 393 w 462"/>
                <a:gd name="T31" fmla="*/ 39 h 294"/>
                <a:gd name="T32" fmla="*/ 435 w 462"/>
                <a:gd name="T33" fmla="*/ 69 h 294"/>
                <a:gd name="T34" fmla="*/ 459 w 462"/>
                <a:gd name="T35" fmla="*/ 90 h 294"/>
                <a:gd name="T36" fmla="*/ 462 w 462"/>
                <a:gd name="T37" fmla="*/ 117 h 294"/>
                <a:gd name="T38" fmla="*/ 456 w 462"/>
                <a:gd name="T39" fmla="*/ 150 h 294"/>
                <a:gd name="T40" fmla="*/ 432 w 462"/>
                <a:gd name="T41" fmla="*/ 180 h 294"/>
                <a:gd name="T42" fmla="*/ 420 w 462"/>
                <a:gd name="T43" fmla="*/ 195 h 294"/>
                <a:gd name="T44" fmla="*/ 417 w 462"/>
                <a:gd name="T45" fmla="*/ 222 h 294"/>
                <a:gd name="T46" fmla="*/ 387 w 462"/>
                <a:gd name="T47" fmla="*/ 270 h 294"/>
                <a:gd name="T48" fmla="*/ 333 w 462"/>
                <a:gd name="T49" fmla="*/ 282 h 294"/>
                <a:gd name="T50" fmla="*/ 306 w 462"/>
                <a:gd name="T51" fmla="*/ 273 h 294"/>
                <a:gd name="T52" fmla="*/ 270 w 462"/>
                <a:gd name="T53" fmla="*/ 279 h 294"/>
                <a:gd name="T54" fmla="*/ 246 w 462"/>
                <a:gd name="T55" fmla="*/ 294 h 294"/>
                <a:gd name="T56" fmla="*/ 204 w 462"/>
                <a:gd name="T57" fmla="*/ 294 h 294"/>
                <a:gd name="T58" fmla="*/ 168 w 462"/>
                <a:gd name="T59" fmla="*/ 279 h 294"/>
                <a:gd name="T60" fmla="*/ 132 w 462"/>
                <a:gd name="T61" fmla="*/ 267 h 294"/>
                <a:gd name="T62" fmla="*/ 108 w 462"/>
                <a:gd name="T63" fmla="*/ 276 h 294"/>
                <a:gd name="T64" fmla="*/ 57 w 462"/>
                <a:gd name="T65" fmla="*/ 279 h 294"/>
                <a:gd name="T66" fmla="*/ 24 w 462"/>
                <a:gd name="T67" fmla="*/ 282 h 294"/>
                <a:gd name="T68" fmla="*/ 0 w 462"/>
                <a:gd name="T69" fmla="*/ 279 h 29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62" h="294">
                  <a:moveTo>
                    <a:pt x="0" y="279"/>
                  </a:moveTo>
                  <a:lnTo>
                    <a:pt x="21" y="249"/>
                  </a:lnTo>
                  <a:lnTo>
                    <a:pt x="66" y="240"/>
                  </a:lnTo>
                  <a:lnTo>
                    <a:pt x="123" y="246"/>
                  </a:lnTo>
                  <a:lnTo>
                    <a:pt x="180" y="258"/>
                  </a:lnTo>
                  <a:lnTo>
                    <a:pt x="252" y="255"/>
                  </a:lnTo>
                  <a:lnTo>
                    <a:pt x="366" y="234"/>
                  </a:lnTo>
                  <a:lnTo>
                    <a:pt x="393" y="204"/>
                  </a:lnTo>
                  <a:lnTo>
                    <a:pt x="408" y="162"/>
                  </a:lnTo>
                  <a:lnTo>
                    <a:pt x="408" y="99"/>
                  </a:lnTo>
                  <a:lnTo>
                    <a:pt x="387" y="72"/>
                  </a:lnTo>
                  <a:lnTo>
                    <a:pt x="342" y="57"/>
                  </a:lnTo>
                  <a:lnTo>
                    <a:pt x="312" y="36"/>
                  </a:lnTo>
                  <a:lnTo>
                    <a:pt x="288" y="0"/>
                  </a:lnTo>
                  <a:lnTo>
                    <a:pt x="333" y="24"/>
                  </a:lnTo>
                  <a:lnTo>
                    <a:pt x="393" y="39"/>
                  </a:lnTo>
                  <a:lnTo>
                    <a:pt x="435" y="69"/>
                  </a:lnTo>
                  <a:lnTo>
                    <a:pt x="459" y="90"/>
                  </a:lnTo>
                  <a:lnTo>
                    <a:pt x="462" y="117"/>
                  </a:lnTo>
                  <a:lnTo>
                    <a:pt x="456" y="150"/>
                  </a:lnTo>
                  <a:lnTo>
                    <a:pt x="432" y="180"/>
                  </a:lnTo>
                  <a:lnTo>
                    <a:pt x="420" y="195"/>
                  </a:lnTo>
                  <a:lnTo>
                    <a:pt x="417" y="222"/>
                  </a:lnTo>
                  <a:lnTo>
                    <a:pt x="387" y="270"/>
                  </a:lnTo>
                  <a:lnTo>
                    <a:pt x="333" y="282"/>
                  </a:lnTo>
                  <a:lnTo>
                    <a:pt x="306" y="273"/>
                  </a:lnTo>
                  <a:lnTo>
                    <a:pt x="270" y="279"/>
                  </a:lnTo>
                  <a:lnTo>
                    <a:pt x="246" y="294"/>
                  </a:lnTo>
                  <a:lnTo>
                    <a:pt x="204" y="294"/>
                  </a:lnTo>
                  <a:lnTo>
                    <a:pt x="168" y="279"/>
                  </a:lnTo>
                  <a:lnTo>
                    <a:pt x="132" y="267"/>
                  </a:lnTo>
                  <a:lnTo>
                    <a:pt x="108" y="276"/>
                  </a:lnTo>
                  <a:lnTo>
                    <a:pt x="57" y="279"/>
                  </a:lnTo>
                  <a:lnTo>
                    <a:pt x="24" y="282"/>
                  </a:lnTo>
                  <a:lnTo>
                    <a:pt x="0" y="279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4" name="Freeform 27"/>
            <p:cNvSpPr/>
            <p:nvPr/>
          </p:nvSpPr>
          <p:spPr bwMode="auto">
            <a:xfrm>
              <a:off x="2771" y="799"/>
              <a:ext cx="297" cy="219"/>
            </a:xfrm>
            <a:custGeom>
              <a:avLst/>
              <a:gdLst>
                <a:gd name="T0" fmla="*/ 294 w 297"/>
                <a:gd name="T1" fmla="*/ 219 h 219"/>
                <a:gd name="T2" fmla="*/ 297 w 297"/>
                <a:gd name="T3" fmla="*/ 120 h 219"/>
                <a:gd name="T4" fmla="*/ 285 w 297"/>
                <a:gd name="T5" fmla="*/ 36 h 219"/>
                <a:gd name="T6" fmla="*/ 258 w 297"/>
                <a:gd name="T7" fmla="*/ 6 h 219"/>
                <a:gd name="T8" fmla="*/ 216 w 297"/>
                <a:gd name="T9" fmla="*/ 0 h 219"/>
                <a:gd name="T10" fmla="*/ 150 w 297"/>
                <a:gd name="T11" fmla="*/ 6 h 219"/>
                <a:gd name="T12" fmla="*/ 99 w 297"/>
                <a:gd name="T13" fmla="*/ 24 h 219"/>
                <a:gd name="T14" fmla="*/ 75 w 297"/>
                <a:gd name="T15" fmla="*/ 51 h 219"/>
                <a:gd name="T16" fmla="*/ 36 w 297"/>
                <a:gd name="T17" fmla="*/ 87 h 219"/>
                <a:gd name="T18" fmla="*/ 6 w 297"/>
                <a:gd name="T19" fmla="*/ 111 h 219"/>
                <a:gd name="T20" fmla="*/ 0 w 297"/>
                <a:gd name="T21" fmla="*/ 123 h 219"/>
                <a:gd name="T22" fmla="*/ 24 w 297"/>
                <a:gd name="T23" fmla="*/ 144 h 219"/>
                <a:gd name="T24" fmla="*/ 75 w 297"/>
                <a:gd name="T25" fmla="*/ 114 h 219"/>
                <a:gd name="T26" fmla="*/ 123 w 297"/>
                <a:gd name="T27" fmla="*/ 87 h 219"/>
                <a:gd name="T28" fmla="*/ 189 w 297"/>
                <a:gd name="T29" fmla="*/ 81 h 219"/>
                <a:gd name="T30" fmla="*/ 231 w 297"/>
                <a:gd name="T31" fmla="*/ 90 h 219"/>
                <a:gd name="T32" fmla="*/ 267 w 297"/>
                <a:gd name="T33" fmla="*/ 114 h 219"/>
                <a:gd name="T34" fmla="*/ 276 w 297"/>
                <a:gd name="T35" fmla="*/ 153 h 219"/>
                <a:gd name="T36" fmla="*/ 294 w 297"/>
                <a:gd name="T37" fmla="*/ 219 h 2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97" h="219">
                  <a:moveTo>
                    <a:pt x="294" y="219"/>
                  </a:moveTo>
                  <a:lnTo>
                    <a:pt x="297" y="120"/>
                  </a:lnTo>
                  <a:lnTo>
                    <a:pt x="285" y="36"/>
                  </a:lnTo>
                  <a:lnTo>
                    <a:pt x="258" y="6"/>
                  </a:lnTo>
                  <a:lnTo>
                    <a:pt x="216" y="0"/>
                  </a:lnTo>
                  <a:lnTo>
                    <a:pt x="150" y="6"/>
                  </a:lnTo>
                  <a:lnTo>
                    <a:pt x="99" y="24"/>
                  </a:lnTo>
                  <a:lnTo>
                    <a:pt x="75" y="51"/>
                  </a:lnTo>
                  <a:lnTo>
                    <a:pt x="36" y="87"/>
                  </a:lnTo>
                  <a:lnTo>
                    <a:pt x="6" y="111"/>
                  </a:lnTo>
                  <a:lnTo>
                    <a:pt x="0" y="123"/>
                  </a:lnTo>
                  <a:lnTo>
                    <a:pt x="24" y="144"/>
                  </a:lnTo>
                  <a:lnTo>
                    <a:pt x="75" y="114"/>
                  </a:lnTo>
                  <a:lnTo>
                    <a:pt x="123" y="87"/>
                  </a:lnTo>
                  <a:lnTo>
                    <a:pt x="189" y="81"/>
                  </a:lnTo>
                  <a:lnTo>
                    <a:pt x="231" y="90"/>
                  </a:lnTo>
                  <a:lnTo>
                    <a:pt x="267" y="114"/>
                  </a:lnTo>
                  <a:lnTo>
                    <a:pt x="276" y="153"/>
                  </a:lnTo>
                  <a:lnTo>
                    <a:pt x="294" y="219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5" name="Freeform 28"/>
            <p:cNvSpPr/>
            <p:nvPr/>
          </p:nvSpPr>
          <p:spPr bwMode="auto">
            <a:xfrm>
              <a:off x="2753" y="919"/>
              <a:ext cx="231" cy="165"/>
            </a:xfrm>
            <a:custGeom>
              <a:avLst/>
              <a:gdLst>
                <a:gd name="T0" fmla="*/ 231 w 231"/>
                <a:gd name="T1" fmla="*/ 27 h 165"/>
                <a:gd name="T2" fmla="*/ 174 w 231"/>
                <a:gd name="T3" fmla="*/ 3 h 165"/>
                <a:gd name="T4" fmla="*/ 117 w 231"/>
                <a:gd name="T5" fmla="*/ 0 h 165"/>
                <a:gd name="T6" fmla="*/ 48 w 231"/>
                <a:gd name="T7" fmla="*/ 6 h 165"/>
                <a:gd name="T8" fmla="*/ 9 w 231"/>
                <a:gd name="T9" fmla="*/ 18 h 165"/>
                <a:gd name="T10" fmla="*/ 0 w 231"/>
                <a:gd name="T11" fmla="*/ 42 h 165"/>
                <a:gd name="T12" fmla="*/ 3 w 231"/>
                <a:gd name="T13" fmla="*/ 66 h 165"/>
                <a:gd name="T14" fmla="*/ 18 w 231"/>
                <a:gd name="T15" fmla="*/ 81 h 165"/>
                <a:gd name="T16" fmla="*/ 45 w 231"/>
                <a:gd name="T17" fmla="*/ 99 h 165"/>
                <a:gd name="T18" fmla="*/ 102 w 231"/>
                <a:gd name="T19" fmla="*/ 129 h 165"/>
                <a:gd name="T20" fmla="*/ 123 w 231"/>
                <a:gd name="T21" fmla="*/ 162 h 165"/>
                <a:gd name="T22" fmla="*/ 144 w 231"/>
                <a:gd name="T23" fmla="*/ 165 h 165"/>
                <a:gd name="T24" fmla="*/ 120 w 231"/>
                <a:gd name="T25" fmla="*/ 117 h 165"/>
                <a:gd name="T26" fmla="*/ 81 w 231"/>
                <a:gd name="T27" fmla="*/ 96 h 165"/>
                <a:gd name="T28" fmla="*/ 66 w 231"/>
                <a:gd name="T29" fmla="*/ 78 h 165"/>
                <a:gd name="T30" fmla="*/ 42 w 231"/>
                <a:gd name="T31" fmla="*/ 66 h 165"/>
                <a:gd name="T32" fmla="*/ 42 w 231"/>
                <a:gd name="T33" fmla="*/ 54 h 165"/>
                <a:gd name="T34" fmla="*/ 48 w 231"/>
                <a:gd name="T35" fmla="*/ 45 h 165"/>
                <a:gd name="T36" fmla="*/ 87 w 231"/>
                <a:gd name="T37" fmla="*/ 27 h 165"/>
                <a:gd name="T38" fmla="*/ 123 w 231"/>
                <a:gd name="T39" fmla="*/ 21 h 165"/>
                <a:gd name="T40" fmla="*/ 165 w 231"/>
                <a:gd name="T41" fmla="*/ 18 h 165"/>
                <a:gd name="T42" fmla="*/ 231 w 231"/>
                <a:gd name="T43" fmla="*/ 27 h 16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31" h="165">
                  <a:moveTo>
                    <a:pt x="231" y="27"/>
                  </a:moveTo>
                  <a:lnTo>
                    <a:pt x="174" y="3"/>
                  </a:lnTo>
                  <a:lnTo>
                    <a:pt x="117" y="0"/>
                  </a:lnTo>
                  <a:lnTo>
                    <a:pt x="48" y="6"/>
                  </a:lnTo>
                  <a:lnTo>
                    <a:pt x="9" y="18"/>
                  </a:lnTo>
                  <a:lnTo>
                    <a:pt x="0" y="42"/>
                  </a:lnTo>
                  <a:lnTo>
                    <a:pt x="3" y="66"/>
                  </a:lnTo>
                  <a:lnTo>
                    <a:pt x="18" y="81"/>
                  </a:lnTo>
                  <a:lnTo>
                    <a:pt x="45" y="99"/>
                  </a:lnTo>
                  <a:lnTo>
                    <a:pt x="102" y="129"/>
                  </a:lnTo>
                  <a:lnTo>
                    <a:pt x="123" y="162"/>
                  </a:lnTo>
                  <a:lnTo>
                    <a:pt x="144" y="165"/>
                  </a:lnTo>
                  <a:lnTo>
                    <a:pt x="120" y="117"/>
                  </a:lnTo>
                  <a:lnTo>
                    <a:pt x="81" y="96"/>
                  </a:lnTo>
                  <a:lnTo>
                    <a:pt x="66" y="78"/>
                  </a:lnTo>
                  <a:lnTo>
                    <a:pt x="42" y="66"/>
                  </a:lnTo>
                  <a:lnTo>
                    <a:pt x="42" y="54"/>
                  </a:lnTo>
                  <a:lnTo>
                    <a:pt x="48" y="45"/>
                  </a:lnTo>
                  <a:lnTo>
                    <a:pt x="87" y="27"/>
                  </a:lnTo>
                  <a:lnTo>
                    <a:pt x="123" y="21"/>
                  </a:lnTo>
                  <a:lnTo>
                    <a:pt x="165" y="18"/>
                  </a:lnTo>
                  <a:lnTo>
                    <a:pt x="231" y="27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6" name="Freeform 29"/>
            <p:cNvSpPr/>
            <p:nvPr/>
          </p:nvSpPr>
          <p:spPr bwMode="auto">
            <a:xfrm>
              <a:off x="2879" y="928"/>
              <a:ext cx="153" cy="138"/>
            </a:xfrm>
            <a:custGeom>
              <a:avLst/>
              <a:gdLst>
                <a:gd name="T0" fmla="*/ 81 w 153"/>
                <a:gd name="T1" fmla="*/ 6 h 138"/>
                <a:gd name="T2" fmla="*/ 105 w 153"/>
                <a:gd name="T3" fmla="*/ 18 h 138"/>
                <a:gd name="T4" fmla="*/ 120 w 153"/>
                <a:gd name="T5" fmla="*/ 39 h 138"/>
                <a:gd name="T6" fmla="*/ 108 w 153"/>
                <a:gd name="T7" fmla="*/ 75 h 138"/>
                <a:gd name="T8" fmla="*/ 75 w 153"/>
                <a:gd name="T9" fmla="*/ 105 h 138"/>
                <a:gd name="T10" fmla="*/ 36 w 153"/>
                <a:gd name="T11" fmla="*/ 117 h 138"/>
                <a:gd name="T12" fmla="*/ 0 w 153"/>
                <a:gd name="T13" fmla="*/ 111 h 138"/>
                <a:gd name="T14" fmla="*/ 15 w 153"/>
                <a:gd name="T15" fmla="*/ 135 h 138"/>
                <a:gd name="T16" fmla="*/ 51 w 153"/>
                <a:gd name="T17" fmla="*/ 135 h 138"/>
                <a:gd name="T18" fmla="*/ 78 w 153"/>
                <a:gd name="T19" fmla="*/ 138 h 138"/>
                <a:gd name="T20" fmla="*/ 105 w 153"/>
                <a:gd name="T21" fmla="*/ 135 h 138"/>
                <a:gd name="T22" fmla="*/ 141 w 153"/>
                <a:gd name="T23" fmla="*/ 117 h 138"/>
                <a:gd name="T24" fmla="*/ 153 w 153"/>
                <a:gd name="T25" fmla="*/ 75 h 138"/>
                <a:gd name="T26" fmla="*/ 144 w 153"/>
                <a:gd name="T27" fmla="*/ 60 h 138"/>
                <a:gd name="T28" fmla="*/ 150 w 153"/>
                <a:gd name="T29" fmla="*/ 42 h 138"/>
                <a:gd name="T30" fmla="*/ 150 w 153"/>
                <a:gd name="T31" fmla="*/ 15 h 138"/>
                <a:gd name="T32" fmla="*/ 126 w 153"/>
                <a:gd name="T33" fmla="*/ 0 h 138"/>
                <a:gd name="T34" fmla="*/ 81 w 153"/>
                <a:gd name="T35" fmla="*/ 6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3" h="138">
                  <a:moveTo>
                    <a:pt x="81" y="6"/>
                  </a:moveTo>
                  <a:lnTo>
                    <a:pt x="105" y="18"/>
                  </a:lnTo>
                  <a:lnTo>
                    <a:pt x="120" y="39"/>
                  </a:lnTo>
                  <a:lnTo>
                    <a:pt x="108" y="75"/>
                  </a:lnTo>
                  <a:lnTo>
                    <a:pt x="75" y="105"/>
                  </a:lnTo>
                  <a:lnTo>
                    <a:pt x="36" y="117"/>
                  </a:lnTo>
                  <a:lnTo>
                    <a:pt x="0" y="111"/>
                  </a:lnTo>
                  <a:lnTo>
                    <a:pt x="15" y="135"/>
                  </a:lnTo>
                  <a:lnTo>
                    <a:pt x="51" y="135"/>
                  </a:lnTo>
                  <a:lnTo>
                    <a:pt x="78" y="138"/>
                  </a:lnTo>
                  <a:lnTo>
                    <a:pt x="105" y="135"/>
                  </a:lnTo>
                  <a:lnTo>
                    <a:pt x="141" y="117"/>
                  </a:lnTo>
                  <a:lnTo>
                    <a:pt x="153" y="75"/>
                  </a:lnTo>
                  <a:lnTo>
                    <a:pt x="144" y="60"/>
                  </a:lnTo>
                  <a:lnTo>
                    <a:pt x="150" y="42"/>
                  </a:lnTo>
                  <a:lnTo>
                    <a:pt x="150" y="15"/>
                  </a:lnTo>
                  <a:lnTo>
                    <a:pt x="126" y="0"/>
                  </a:lnTo>
                  <a:lnTo>
                    <a:pt x="81" y="6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7" name="Freeform 30"/>
            <p:cNvSpPr/>
            <p:nvPr/>
          </p:nvSpPr>
          <p:spPr bwMode="auto">
            <a:xfrm>
              <a:off x="2855" y="958"/>
              <a:ext cx="105" cy="78"/>
            </a:xfrm>
            <a:custGeom>
              <a:avLst/>
              <a:gdLst>
                <a:gd name="T0" fmla="*/ 105 w 105"/>
                <a:gd name="T1" fmla="*/ 42 h 78"/>
                <a:gd name="T2" fmla="*/ 87 w 105"/>
                <a:gd name="T3" fmla="*/ 12 h 78"/>
                <a:gd name="T4" fmla="*/ 48 w 105"/>
                <a:gd name="T5" fmla="*/ 0 h 78"/>
                <a:gd name="T6" fmla="*/ 18 w 105"/>
                <a:gd name="T7" fmla="*/ 6 h 78"/>
                <a:gd name="T8" fmla="*/ 3 w 105"/>
                <a:gd name="T9" fmla="*/ 24 h 78"/>
                <a:gd name="T10" fmla="*/ 0 w 105"/>
                <a:gd name="T11" fmla="*/ 51 h 78"/>
                <a:gd name="T12" fmla="*/ 3 w 105"/>
                <a:gd name="T13" fmla="*/ 69 h 78"/>
                <a:gd name="T14" fmla="*/ 18 w 105"/>
                <a:gd name="T15" fmla="*/ 78 h 78"/>
                <a:gd name="T16" fmla="*/ 24 w 105"/>
                <a:gd name="T17" fmla="*/ 45 h 78"/>
                <a:gd name="T18" fmla="*/ 45 w 105"/>
                <a:gd name="T19" fmla="*/ 39 h 78"/>
                <a:gd name="T20" fmla="*/ 84 w 105"/>
                <a:gd name="T21" fmla="*/ 48 h 78"/>
                <a:gd name="T22" fmla="*/ 96 w 105"/>
                <a:gd name="T23" fmla="*/ 72 h 78"/>
                <a:gd name="T24" fmla="*/ 105 w 105"/>
                <a:gd name="T25" fmla="*/ 42 h 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78">
                  <a:moveTo>
                    <a:pt x="105" y="42"/>
                  </a:moveTo>
                  <a:lnTo>
                    <a:pt x="87" y="12"/>
                  </a:lnTo>
                  <a:lnTo>
                    <a:pt x="48" y="0"/>
                  </a:lnTo>
                  <a:lnTo>
                    <a:pt x="18" y="6"/>
                  </a:lnTo>
                  <a:lnTo>
                    <a:pt x="3" y="24"/>
                  </a:lnTo>
                  <a:lnTo>
                    <a:pt x="0" y="51"/>
                  </a:lnTo>
                  <a:lnTo>
                    <a:pt x="3" y="69"/>
                  </a:lnTo>
                  <a:lnTo>
                    <a:pt x="18" y="78"/>
                  </a:lnTo>
                  <a:lnTo>
                    <a:pt x="24" y="45"/>
                  </a:lnTo>
                  <a:lnTo>
                    <a:pt x="45" y="39"/>
                  </a:lnTo>
                  <a:lnTo>
                    <a:pt x="84" y="48"/>
                  </a:lnTo>
                  <a:lnTo>
                    <a:pt x="96" y="72"/>
                  </a:lnTo>
                  <a:lnTo>
                    <a:pt x="105" y="42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8" name="Freeform 31"/>
            <p:cNvSpPr/>
            <p:nvPr/>
          </p:nvSpPr>
          <p:spPr bwMode="auto">
            <a:xfrm>
              <a:off x="2744" y="588"/>
              <a:ext cx="501" cy="297"/>
            </a:xfrm>
            <a:custGeom>
              <a:avLst/>
              <a:gdLst>
                <a:gd name="T0" fmla="*/ 0 w 501"/>
                <a:gd name="T1" fmla="*/ 198 h 297"/>
                <a:gd name="T2" fmla="*/ 33 w 501"/>
                <a:gd name="T3" fmla="*/ 177 h 297"/>
                <a:gd name="T4" fmla="*/ 39 w 501"/>
                <a:gd name="T5" fmla="*/ 150 h 297"/>
                <a:gd name="T6" fmla="*/ 39 w 501"/>
                <a:gd name="T7" fmla="*/ 105 h 297"/>
                <a:gd name="T8" fmla="*/ 54 w 501"/>
                <a:gd name="T9" fmla="*/ 78 h 297"/>
                <a:gd name="T10" fmla="*/ 90 w 501"/>
                <a:gd name="T11" fmla="*/ 69 h 297"/>
                <a:gd name="T12" fmla="*/ 120 w 501"/>
                <a:gd name="T13" fmla="*/ 69 h 297"/>
                <a:gd name="T14" fmla="*/ 162 w 501"/>
                <a:gd name="T15" fmla="*/ 78 h 297"/>
                <a:gd name="T16" fmla="*/ 180 w 501"/>
                <a:gd name="T17" fmla="*/ 102 h 297"/>
                <a:gd name="T18" fmla="*/ 198 w 501"/>
                <a:gd name="T19" fmla="*/ 117 h 297"/>
                <a:gd name="T20" fmla="*/ 219 w 501"/>
                <a:gd name="T21" fmla="*/ 120 h 297"/>
                <a:gd name="T22" fmla="*/ 264 w 501"/>
                <a:gd name="T23" fmla="*/ 117 h 297"/>
                <a:gd name="T24" fmla="*/ 300 w 501"/>
                <a:gd name="T25" fmla="*/ 108 h 297"/>
                <a:gd name="T26" fmla="*/ 348 w 501"/>
                <a:gd name="T27" fmla="*/ 111 h 297"/>
                <a:gd name="T28" fmla="*/ 375 w 501"/>
                <a:gd name="T29" fmla="*/ 123 h 297"/>
                <a:gd name="T30" fmla="*/ 408 w 501"/>
                <a:gd name="T31" fmla="*/ 144 h 297"/>
                <a:gd name="T32" fmla="*/ 444 w 501"/>
                <a:gd name="T33" fmla="*/ 177 h 297"/>
                <a:gd name="T34" fmla="*/ 468 w 501"/>
                <a:gd name="T35" fmla="*/ 216 h 297"/>
                <a:gd name="T36" fmla="*/ 480 w 501"/>
                <a:gd name="T37" fmla="*/ 240 h 297"/>
                <a:gd name="T38" fmla="*/ 489 w 501"/>
                <a:gd name="T39" fmla="*/ 270 h 297"/>
                <a:gd name="T40" fmla="*/ 492 w 501"/>
                <a:gd name="T41" fmla="*/ 297 h 297"/>
                <a:gd name="T42" fmla="*/ 501 w 501"/>
                <a:gd name="T43" fmla="*/ 243 h 297"/>
                <a:gd name="T44" fmla="*/ 498 w 501"/>
                <a:gd name="T45" fmla="*/ 216 h 297"/>
                <a:gd name="T46" fmla="*/ 471 w 501"/>
                <a:gd name="T47" fmla="*/ 153 h 297"/>
                <a:gd name="T48" fmla="*/ 438 w 501"/>
                <a:gd name="T49" fmla="*/ 105 h 297"/>
                <a:gd name="T50" fmla="*/ 405 w 501"/>
                <a:gd name="T51" fmla="*/ 84 h 297"/>
                <a:gd name="T52" fmla="*/ 360 w 501"/>
                <a:gd name="T53" fmla="*/ 72 h 297"/>
                <a:gd name="T54" fmla="*/ 327 w 501"/>
                <a:gd name="T55" fmla="*/ 69 h 297"/>
                <a:gd name="T56" fmla="*/ 288 w 501"/>
                <a:gd name="T57" fmla="*/ 72 h 297"/>
                <a:gd name="T58" fmla="*/ 258 w 501"/>
                <a:gd name="T59" fmla="*/ 69 h 297"/>
                <a:gd name="T60" fmla="*/ 228 w 501"/>
                <a:gd name="T61" fmla="*/ 45 h 297"/>
                <a:gd name="T62" fmla="*/ 204 w 501"/>
                <a:gd name="T63" fmla="*/ 21 h 297"/>
                <a:gd name="T64" fmla="*/ 183 w 501"/>
                <a:gd name="T65" fmla="*/ 9 h 297"/>
                <a:gd name="T66" fmla="*/ 159 w 501"/>
                <a:gd name="T67" fmla="*/ 0 h 297"/>
                <a:gd name="T68" fmla="*/ 102 w 501"/>
                <a:gd name="T69" fmla="*/ 3 h 297"/>
                <a:gd name="T70" fmla="*/ 63 w 501"/>
                <a:gd name="T71" fmla="*/ 6 h 297"/>
                <a:gd name="T72" fmla="*/ 42 w 501"/>
                <a:gd name="T73" fmla="*/ 18 h 297"/>
                <a:gd name="T74" fmla="*/ 12 w 501"/>
                <a:gd name="T75" fmla="*/ 45 h 297"/>
                <a:gd name="T76" fmla="*/ 3 w 501"/>
                <a:gd name="T77" fmla="*/ 78 h 297"/>
                <a:gd name="T78" fmla="*/ 6 w 501"/>
                <a:gd name="T79" fmla="*/ 120 h 297"/>
                <a:gd name="T80" fmla="*/ 12 w 501"/>
                <a:gd name="T81" fmla="*/ 153 h 297"/>
                <a:gd name="T82" fmla="*/ 0 w 501"/>
                <a:gd name="T83" fmla="*/ 198 h 29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1" h="297">
                  <a:moveTo>
                    <a:pt x="0" y="198"/>
                  </a:moveTo>
                  <a:lnTo>
                    <a:pt x="33" y="177"/>
                  </a:lnTo>
                  <a:lnTo>
                    <a:pt x="39" y="150"/>
                  </a:lnTo>
                  <a:lnTo>
                    <a:pt x="39" y="105"/>
                  </a:lnTo>
                  <a:lnTo>
                    <a:pt x="54" y="78"/>
                  </a:lnTo>
                  <a:lnTo>
                    <a:pt x="90" y="69"/>
                  </a:lnTo>
                  <a:lnTo>
                    <a:pt x="120" y="69"/>
                  </a:lnTo>
                  <a:lnTo>
                    <a:pt x="162" y="78"/>
                  </a:lnTo>
                  <a:lnTo>
                    <a:pt x="180" y="102"/>
                  </a:lnTo>
                  <a:lnTo>
                    <a:pt x="198" y="117"/>
                  </a:lnTo>
                  <a:lnTo>
                    <a:pt x="219" y="120"/>
                  </a:lnTo>
                  <a:lnTo>
                    <a:pt x="264" y="117"/>
                  </a:lnTo>
                  <a:lnTo>
                    <a:pt x="300" y="108"/>
                  </a:lnTo>
                  <a:lnTo>
                    <a:pt x="348" y="111"/>
                  </a:lnTo>
                  <a:lnTo>
                    <a:pt x="375" y="123"/>
                  </a:lnTo>
                  <a:lnTo>
                    <a:pt x="408" y="144"/>
                  </a:lnTo>
                  <a:lnTo>
                    <a:pt x="444" y="177"/>
                  </a:lnTo>
                  <a:lnTo>
                    <a:pt x="468" y="216"/>
                  </a:lnTo>
                  <a:lnTo>
                    <a:pt x="480" y="240"/>
                  </a:lnTo>
                  <a:lnTo>
                    <a:pt x="489" y="270"/>
                  </a:lnTo>
                  <a:lnTo>
                    <a:pt x="492" y="297"/>
                  </a:lnTo>
                  <a:lnTo>
                    <a:pt x="501" y="243"/>
                  </a:lnTo>
                  <a:lnTo>
                    <a:pt x="498" y="216"/>
                  </a:lnTo>
                  <a:lnTo>
                    <a:pt x="471" y="153"/>
                  </a:lnTo>
                  <a:lnTo>
                    <a:pt x="438" y="105"/>
                  </a:lnTo>
                  <a:lnTo>
                    <a:pt x="405" y="84"/>
                  </a:lnTo>
                  <a:lnTo>
                    <a:pt x="360" y="72"/>
                  </a:lnTo>
                  <a:lnTo>
                    <a:pt x="327" y="69"/>
                  </a:lnTo>
                  <a:lnTo>
                    <a:pt x="288" y="72"/>
                  </a:lnTo>
                  <a:lnTo>
                    <a:pt x="258" y="69"/>
                  </a:lnTo>
                  <a:lnTo>
                    <a:pt x="228" y="45"/>
                  </a:lnTo>
                  <a:lnTo>
                    <a:pt x="204" y="21"/>
                  </a:lnTo>
                  <a:lnTo>
                    <a:pt x="183" y="9"/>
                  </a:lnTo>
                  <a:lnTo>
                    <a:pt x="159" y="0"/>
                  </a:lnTo>
                  <a:lnTo>
                    <a:pt x="102" y="3"/>
                  </a:lnTo>
                  <a:lnTo>
                    <a:pt x="63" y="6"/>
                  </a:lnTo>
                  <a:lnTo>
                    <a:pt x="42" y="18"/>
                  </a:lnTo>
                  <a:lnTo>
                    <a:pt x="12" y="45"/>
                  </a:lnTo>
                  <a:lnTo>
                    <a:pt x="3" y="78"/>
                  </a:lnTo>
                  <a:lnTo>
                    <a:pt x="6" y="120"/>
                  </a:lnTo>
                  <a:lnTo>
                    <a:pt x="12" y="153"/>
                  </a:lnTo>
                  <a:lnTo>
                    <a:pt x="0" y="198"/>
                  </a:lnTo>
                  <a:close/>
                </a:path>
              </a:pathLst>
            </a:custGeom>
            <a:solidFill>
              <a:srgbClr val="FF404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735" name="Group 32"/>
          <p:cNvGrpSpPr/>
          <p:nvPr/>
        </p:nvGrpSpPr>
        <p:grpSpPr bwMode="auto">
          <a:xfrm rot="-377433">
            <a:off x="6867525" y="5951538"/>
            <a:ext cx="1328738" cy="865187"/>
            <a:chOff x="1576" y="601"/>
            <a:chExt cx="3520" cy="2708"/>
          </a:xfrm>
        </p:grpSpPr>
        <p:sp>
          <p:nvSpPr>
            <p:cNvPr id="73761" name="Freeform 33"/>
            <p:cNvSpPr/>
            <p:nvPr/>
          </p:nvSpPr>
          <p:spPr bwMode="auto">
            <a:xfrm>
              <a:off x="2878" y="652"/>
              <a:ext cx="1252" cy="1017"/>
            </a:xfrm>
            <a:custGeom>
              <a:avLst/>
              <a:gdLst>
                <a:gd name="T0" fmla="*/ 2788 w 537"/>
                <a:gd name="T1" fmla="*/ 2480 h 417"/>
                <a:gd name="T2" fmla="*/ 2919 w 537"/>
                <a:gd name="T3" fmla="*/ 1802 h 417"/>
                <a:gd name="T4" fmla="*/ 2854 w 537"/>
                <a:gd name="T5" fmla="*/ 1232 h 417"/>
                <a:gd name="T6" fmla="*/ 2658 w 537"/>
                <a:gd name="T7" fmla="*/ 802 h 417"/>
                <a:gd name="T8" fmla="*/ 2462 w 537"/>
                <a:gd name="T9" fmla="*/ 534 h 417"/>
                <a:gd name="T10" fmla="*/ 2087 w 537"/>
                <a:gd name="T11" fmla="*/ 356 h 417"/>
                <a:gd name="T12" fmla="*/ 1662 w 537"/>
                <a:gd name="T13" fmla="*/ 376 h 417"/>
                <a:gd name="T14" fmla="*/ 1273 w 537"/>
                <a:gd name="T15" fmla="*/ 90 h 417"/>
                <a:gd name="T16" fmla="*/ 1142 w 537"/>
                <a:gd name="T17" fmla="*/ 0 h 417"/>
                <a:gd name="T18" fmla="*/ 963 w 537"/>
                <a:gd name="T19" fmla="*/ 0 h 417"/>
                <a:gd name="T20" fmla="*/ 555 w 537"/>
                <a:gd name="T21" fmla="*/ 0 h 417"/>
                <a:gd name="T22" fmla="*/ 441 w 537"/>
                <a:gd name="T23" fmla="*/ 107 h 417"/>
                <a:gd name="T24" fmla="*/ 326 w 537"/>
                <a:gd name="T25" fmla="*/ 268 h 417"/>
                <a:gd name="T26" fmla="*/ 294 w 537"/>
                <a:gd name="T27" fmla="*/ 517 h 417"/>
                <a:gd name="T28" fmla="*/ 310 w 537"/>
                <a:gd name="T29" fmla="*/ 768 h 417"/>
                <a:gd name="T30" fmla="*/ 294 w 537"/>
                <a:gd name="T31" fmla="*/ 910 h 417"/>
                <a:gd name="T32" fmla="*/ 0 w 537"/>
                <a:gd name="T33" fmla="*/ 1285 h 417"/>
                <a:gd name="T34" fmla="*/ 2788 w 537"/>
                <a:gd name="T35" fmla="*/ 2480 h 41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37" h="417">
                  <a:moveTo>
                    <a:pt x="513" y="417"/>
                  </a:moveTo>
                  <a:lnTo>
                    <a:pt x="537" y="303"/>
                  </a:lnTo>
                  <a:lnTo>
                    <a:pt x="525" y="207"/>
                  </a:lnTo>
                  <a:lnTo>
                    <a:pt x="489" y="135"/>
                  </a:lnTo>
                  <a:lnTo>
                    <a:pt x="453" y="90"/>
                  </a:lnTo>
                  <a:lnTo>
                    <a:pt x="384" y="60"/>
                  </a:lnTo>
                  <a:lnTo>
                    <a:pt x="306" y="63"/>
                  </a:lnTo>
                  <a:lnTo>
                    <a:pt x="234" y="15"/>
                  </a:lnTo>
                  <a:lnTo>
                    <a:pt x="210" y="0"/>
                  </a:lnTo>
                  <a:lnTo>
                    <a:pt x="177" y="0"/>
                  </a:lnTo>
                  <a:lnTo>
                    <a:pt x="102" y="0"/>
                  </a:lnTo>
                  <a:lnTo>
                    <a:pt x="81" y="18"/>
                  </a:lnTo>
                  <a:lnTo>
                    <a:pt x="60" y="45"/>
                  </a:lnTo>
                  <a:lnTo>
                    <a:pt x="54" y="87"/>
                  </a:lnTo>
                  <a:lnTo>
                    <a:pt x="57" y="129"/>
                  </a:lnTo>
                  <a:lnTo>
                    <a:pt x="54" y="153"/>
                  </a:lnTo>
                  <a:lnTo>
                    <a:pt x="0" y="216"/>
                  </a:lnTo>
                  <a:lnTo>
                    <a:pt x="513" y="417"/>
                  </a:lnTo>
                  <a:close/>
                </a:path>
              </a:pathLst>
            </a:custGeom>
            <a:gradFill rotWithShape="0">
              <a:gsLst>
                <a:gs pos="0">
                  <a:srgbClr val="FF66FF"/>
                </a:gs>
                <a:gs pos="100000">
                  <a:srgbClr val="762F76"/>
                </a:gs>
              </a:gsLst>
              <a:lin ang="540000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2" name="Freeform 34"/>
            <p:cNvSpPr/>
            <p:nvPr/>
          </p:nvSpPr>
          <p:spPr bwMode="auto">
            <a:xfrm>
              <a:off x="3563" y="1379"/>
              <a:ext cx="1323" cy="1608"/>
            </a:xfrm>
            <a:custGeom>
              <a:avLst/>
              <a:gdLst>
                <a:gd name="T0" fmla="*/ 1013 w 567"/>
                <a:gd name="T1" fmla="*/ 161 h 660"/>
                <a:gd name="T2" fmla="*/ 1715 w 567"/>
                <a:gd name="T3" fmla="*/ 0 h 660"/>
                <a:gd name="T4" fmla="*/ 2466 w 567"/>
                <a:gd name="T5" fmla="*/ 141 h 660"/>
                <a:gd name="T6" fmla="*/ 3054 w 567"/>
                <a:gd name="T7" fmla="*/ 711 h 660"/>
                <a:gd name="T8" fmla="*/ 3087 w 567"/>
                <a:gd name="T9" fmla="*/ 1301 h 660"/>
                <a:gd name="T10" fmla="*/ 2858 w 567"/>
                <a:gd name="T11" fmla="*/ 2154 h 660"/>
                <a:gd name="T12" fmla="*/ 2140 w 567"/>
                <a:gd name="T13" fmla="*/ 3153 h 660"/>
                <a:gd name="T14" fmla="*/ 1633 w 567"/>
                <a:gd name="T15" fmla="*/ 3793 h 660"/>
                <a:gd name="T16" fmla="*/ 800 w 567"/>
                <a:gd name="T17" fmla="*/ 3918 h 660"/>
                <a:gd name="T18" fmla="*/ 0 w 567"/>
                <a:gd name="T19" fmla="*/ 3240 h 660"/>
                <a:gd name="T20" fmla="*/ 1013 w 567"/>
                <a:gd name="T21" fmla="*/ 161 h 66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7" h="660">
                  <a:moveTo>
                    <a:pt x="186" y="27"/>
                  </a:moveTo>
                  <a:lnTo>
                    <a:pt x="315" y="0"/>
                  </a:lnTo>
                  <a:lnTo>
                    <a:pt x="453" y="24"/>
                  </a:lnTo>
                  <a:lnTo>
                    <a:pt x="561" y="120"/>
                  </a:lnTo>
                  <a:lnTo>
                    <a:pt x="567" y="219"/>
                  </a:lnTo>
                  <a:lnTo>
                    <a:pt x="525" y="363"/>
                  </a:lnTo>
                  <a:lnTo>
                    <a:pt x="393" y="531"/>
                  </a:lnTo>
                  <a:lnTo>
                    <a:pt x="300" y="639"/>
                  </a:lnTo>
                  <a:lnTo>
                    <a:pt x="147" y="660"/>
                  </a:lnTo>
                  <a:lnTo>
                    <a:pt x="0" y="546"/>
                  </a:lnTo>
                  <a:lnTo>
                    <a:pt x="186" y="27"/>
                  </a:lnTo>
                  <a:close/>
                </a:path>
              </a:pathLst>
            </a:custGeom>
            <a:gradFill rotWithShape="0">
              <a:gsLst>
                <a:gs pos="0">
                  <a:srgbClr val="762F76"/>
                </a:gs>
                <a:gs pos="100000">
                  <a:srgbClr val="FF66FF"/>
                </a:gs>
              </a:gsLst>
              <a:lin ang="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3" name="Freeform 35"/>
            <p:cNvSpPr/>
            <p:nvPr/>
          </p:nvSpPr>
          <p:spPr bwMode="auto">
            <a:xfrm>
              <a:off x="3563" y="1508"/>
              <a:ext cx="1120" cy="1418"/>
            </a:xfrm>
            <a:custGeom>
              <a:avLst/>
              <a:gdLst>
                <a:gd name="T0" fmla="*/ 1127 w 480"/>
                <a:gd name="T1" fmla="*/ 409 h 582"/>
                <a:gd name="T2" fmla="*/ 1241 w 480"/>
                <a:gd name="T3" fmla="*/ 90 h 582"/>
                <a:gd name="T4" fmla="*/ 1601 w 480"/>
                <a:gd name="T5" fmla="*/ 0 h 582"/>
                <a:gd name="T6" fmla="*/ 1764 w 480"/>
                <a:gd name="T7" fmla="*/ 17 h 582"/>
                <a:gd name="T8" fmla="*/ 1568 w 480"/>
                <a:gd name="T9" fmla="*/ 107 h 582"/>
                <a:gd name="T10" fmla="*/ 1486 w 480"/>
                <a:gd name="T11" fmla="*/ 249 h 582"/>
                <a:gd name="T12" fmla="*/ 1617 w 480"/>
                <a:gd name="T13" fmla="*/ 249 h 582"/>
                <a:gd name="T14" fmla="*/ 1846 w 480"/>
                <a:gd name="T15" fmla="*/ 249 h 582"/>
                <a:gd name="T16" fmla="*/ 2238 w 480"/>
                <a:gd name="T17" fmla="*/ 249 h 582"/>
                <a:gd name="T18" fmla="*/ 1878 w 480"/>
                <a:gd name="T19" fmla="*/ 392 h 582"/>
                <a:gd name="T20" fmla="*/ 1764 w 480"/>
                <a:gd name="T21" fmla="*/ 499 h 582"/>
                <a:gd name="T22" fmla="*/ 1666 w 480"/>
                <a:gd name="T23" fmla="*/ 624 h 582"/>
                <a:gd name="T24" fmla="*/ 1552 w 480"/>
                <a:gd name="T25" fmla="*/ 926 h 582"/>
                <a:gd name="T26" fmla="*/ 1862 w 480"/>
                <a:gd name="T27" fmla="*/ 711 h 582"/>
                <a:gd name="T28" fmla="*/ 1976 w 480"/>
                <a:gd name="T29" fmla="*/ 624 h 582"/>
                <a:gd name="T30" fmla="*/ 2336 w 480"/>
                <a:gd name="T31" fmla="*/ 553 h 582"/>
                <a:gd name="T32" fmla="*/ 2613 w 480"/>
                <a:gd name="T33" fmla="*/ 570 h 582"/>
                <a:gd name="T34" fmla="*/ 2385 w 480"/>
                <a:gd name="T35" fmla="*/ 677 h 582"/>
                <a:gd name="T36" fmla="*/ 1960 w 480"/>
                <a:gd name="T37" fmla="*/ 979 h 582"/>
                <a:gd name="T38" fmla="*/ 1666 w 480"/>
                <a:gd name="T39" fmla="*/ 1318 h 582"/>
                <a:gd name="T40" fmla="*/ 1552 w 480"/>
                <a:gd name="T41" fmla="*/ 1603 h 582"/>
                <a:gd name="T42" fmla="*/ 1699 w 480"/>
                <a:gd name="T43" fmla="*/ 1479 h 582"/>
                <a:gd name="T44" fmla="*/ 1944 w 480"/>
                <a:gd name="T45" fmla="*/ 1389 h 582"/>
                <a:gd name="T46" fmla="*/ 2238 w 480"/>
                <a:gd name="T47" fmla="*/ 1372 h 582"/>
                <a:gd name="T48" fmla="*/ 2042 w 480"/>
                <a:gd name="T49" fmla="*/ 1479 h 582"/>
                <a:gd name="T50" fmla="*/ 1764 w 480"/>
                <a:gd name="T51" fmla="*/ 1764 h 582"/>
                <a:gd name="T52" fmla="*/ 1503 w 480"/>
                <a:gd name="T53" fmla="*/ 2100 h 582"/>
                <a:gd name="T54" fmla="*/ 1666 w 480"/>
                <a:gd name="T55" fmla="*/ 2066 h 582"/>
                <a:gd name="T56" fmla="*/ 1895 w 480"/>
                <a:gd name="T57" fmla="*/ 2083 h 582"/>
                <a:gd name="T58" fmla="*/ 2058 w 480"/>
                <a:gd name="T59" fmla="*/ 2244 h 582"/>
                <a:gd name="T60" fmla="*/ 1764 w 480"/>
                <a:gd name="T61" fmla="*/ 2227 h 582"/>
                <a:gd name="T62" fmla="*/ 1503 w 480"/>
                <a:gd name="T63" fmla="*/ 2315 h 582"/>
                <a:gd name="T64" fmla="*/ 1258 w 480"/>
                <a:gd name="T65" fmla="*/ 2529 h 582"/>
                <a:gd name="T66" fmla="*/ 1682 w 480"/>
                <a:gd name="T67" fmla="*/ 2439 h 582"/>
                <a:gd name="T68" fmla="*/ 1780 w 480"/>
                <a:gd name="T69" fmla="*/ 2475 h 582"/>
                <a:gd name="T70" fmla="*/ 2091 w 480"/>
                <a:gd name="T71" fmla="*/ 2617 h 582"/>
                <a:gd name="T72" fmla="*/ 1813 w 480"/>
                <a:gd name="T73" fmla="*/ 2617 h 582"/>
                <a:gd name="T74" fmla="*/ 1437 w 480"/>
                <a:gd name="T75" fmla="*/ 2707 h 582"/>
                <a:gd name="T76" fmla="*/ 1258 w 480"/>
                <a:gd name="T77" fmla="*/ 2848 h 582"/>
                <a:gd name="T78" fmla="*/ 1552 w 480"/>
                <a:gd name="T79" fmla="*/ 2848 h 582"/>
                <a:gd name="T80" fmla="*/ 1731 w 480"/>
                <a:gd name="T81" fmla="*/ 2975 h 582"/>
                <a:gd name="T82" fmla="*/ 1454 w 480"/>
                <a:gd name="T83" fmla="*/ 3028 h 582"/>
                <a:gd name="T84" fmla="*/ 1111 w 480"/>
                <a:gd name="T85" fmla="*/ 3153 h 582"/>
                <a:gd name="T86" fmla="*/ 702 w 480"/>
                <a:gd name="T87" fmla="*/ 3455 h 582"/>
                <a:gd name="T88" fmla="*/ 0 w 480"/>
                <a:gd name="T89" fmla="*/ 3046 h 582"/>
                <a:gd name="T90" fmla="*/ 1127 w 480"/>
                <a:gd name="T91" fmla="*/ 409 h 58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80" h="582">
                  <a:moveTo>
                    <a:pt x="207" y="69"/>
                  </a:moveTo>
                  <a:lnTo>
                    <a:pt x="228" y="15"/>
                  </a:lnTo>
                  <a:lnTo>
                    <a:pt x="294" y="0"/>
                  </a:lnTo>
                  <a:lnTo>
                    <a:pt x="324" y="3"/>
                  </a:lnTo>
                  <a:lnTo>
                    <a:pt x="288" y="18"/>
                  </a:lnTo>
                  <a:lnTo>
                    <a:pt x="273" y="42"/>
                  </a:lnTo>
                  <a:lnTo>
                    <a:pt x="297" y="42"/>
                  </a:lnTo>
                  <a:lnTo>
                    <a:pt x="339" y="42"/>
                  </a:lnTo>
                  <a:lnTo>
                    <a:pt x="411" y="42"/>
                  </a:lnTo>
                  <a:lnTo>
                    <a:pt x="345" y="66"/>
                  </a:lnTo>
                  <a:lnTo>
                    <a:pt x="324" y="84"/>
                  </a:lnTo>
                  <a:lnTo>
                    <a:pt x="306" y="105"/>
                  </a:lnTo>
                  <a:lnTo>
                    <a:pt x="285" y="156"/>
                  </a:lnTo>
                  <a:lnTo>
                    <a:pt x="342" y="120"/>
                  </a:lnTo>
                  <a:lnTo>
                    <a:pt x="363" y="105"/>
                  </a:lnTo>
                  <a:lnTo>
                    <a:pt x="429" y="93"/>
                  </a:lnTo>
                  <a:lnTo>
                    <a:pt x="480" y="96"/>
                  </a:lnTo>
                  <a:lnTo>
                    <a:pt x="438" y="114"/>
                  </a:lnTo>
                  <a:lnTo>
                    <a:pt x="360" y="165"/>
                  </a:lnTo>
                  <a:lnTo>
                    <a:pt x="306" y="222"/>
                  </a:lnTo>
                  <a:lnTo>
                    <a:pt x="285" y="270"/>
                  </a:lnTo>
                  <a:lnTo>
                    <a:pt x="312" y="249"/>
                  </a:lnTo>
                  <a:lnTo>
                    <a:pt x="357" y="234"/>
                  </a:lnTo>
                  <a:lnTo>
                    <a:pt x="411" y="231"/>
                  </a:lnTo>
                  <a:lnTo>
                    <a:pt x="375" y="249"/>
                  </a:lnTo>
                  <a:lnTo>
                    <a:pt x="324" y="297"/>
                  </a:lnTo>
                  <a:lnTo>
                    <a:pt x="276" y="354"/>
                  </a:lnTo>
                  <a:lnTo>
                    <a:pt x="306" y="348"/>
                  </a:lnTo>
                  <a:lnTo>
                    <a:pt x="348" y="351"/>
                  </a:lnTo>
                  <a:lnTo>
                    <a:pt x="378" y="378"/>
                  </a:lnTo>
                  <a:lnTo>
                    <a:pt x="324" y="375"/>
                  </a:lnTo>
                  <a:lnTo>
                    <a:pt x="276" y="390"/>
                  </a:lnTo>
                  <a:lnTo>
                    <a:pt x="231" y="426"/>
                  </a:lnTo>
                  <a:lnTo>
                    <a:pt x="309" y="411"/>
                  </a:lnTo>
                  <a:lnTo>
                    <a:pt x="327" y="417"/>
                  </a:lnTo>
                  <a:lnTo>
                    <a:pt x="384" y="441"/>
                  </a:lnTo>
                  <a:lnTo>
                    <a:pt x="333" y="441"/>
                  </a:lnTo>
                  <a:lnTo>
                    <a:pt x="264" y="456"/>
                  </a:lnTo>
                  <a:lnTo>
                    <a:pt x="231" y="480"/>
                  </a:lnTo>
                  <a:lnTo>
                    <a:pt x="285" y="480"/>
                  </a:lnTo>
                  <a:lnTo>
                    <a:pt x="318" y="501"/>
                  </a:lnTo>
                  <a:lnTo>
                    <a:pt x="267" y="510"/>
                  </a:lnTo>
                  <a:lnTo>
                    <a:pt x="204" y="531"/>
                  </a:lnTo>
                  <a:lnTo>
                    <a:pt x="129" y="582"/>
                  </a:lnTo>
                  <a:lnTo>
                    <a:pt x="0" y="513"/>
                  </a:lnTo>
                  <a:lnTo>
                    <a:pt x="207" y="6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4" name="Freeform 36"/>
            <p:cNvSpPr/>
            <p:nvPr/>
          </p:nvSpPr>
          <p:spPr bwMode="auto">
            <a:xfrm>
              <a:off x="3962" y="1327"/>
              <a:ext cx="1134" cy="1836"/>
            </a:xfrm>
            <a:custGeom>
              <a:avLst/>
              <a:gdLst>
                <a:gd name="T0" fmla="*/ 98 w 486"/>
                <a:gd name="T1" fmla="*/ 4228 h 753"/>
                <a:gd name="T2" fmla="*/ 294 w 486"/>
                <a:gd name="T3" fmla="*/ 3996 h 753"/>
                <a:gd name="T4" fmla="*/ 490 w 486"/>
                <a:gd name="T5" fmla="*/ 3857 h 753"/>
                <a:gd name="T6" fmla="*/ 719 w 486"/>
                <a:gd name="T7" fmla="*/ 3679 h 753"/>
                <a:gd name="T8" fmla="*/ 1045 w 486"/>
                <a:gd name="T9" fmla="*/ 3431 h 753"/>
                <a:gd name="T10" fmla="*/ 1209 w 486"/>
                <a:gd name="T11" fmla="*/ 3001 h 753"/>
                <a:gd name="T12" fmla="*/ 1307 w 486"/>
                <a:gd name="T13" fmla="*/ 2675 h 753"/>
                <a:gd name="T14" fmla="*/ 1405 w 486"/>
                <a:gd name="T15" fmla="*/ 2431 h 753"/>
                <a:gd name="T16" fmla="*/ 1503 w 486"/>
                <a:gd name="T17" fmla="*/ 2146 h 753"/>
                <a:gd name="T18" fmla="*/ 1584 w 486"/>
                <a:gd name="T19" fmla="*/ 1909 h 753"/>
                <a:gd name="T20" fmla="*/ 1731 w 486"/>
                <a:gd name="T21" fmla="*/ 1753 h 753"/>
                <a:gd name="T22" fmla="*/ 1927 w 486"/>
                <a:gd name="T23" fmla="*/ 1575 h 753"/>
                <a:gd name="T24" fmla="*/ 1960 w 486"/>
                <a:gd name="T25" fmla="*/ 1285 h 753"/>
                <a:gd name="T26" fmla="*/ 1878 w 486"/>
                <a:gd name="T27" fmla="*/ 873 h 753"/>
                <a:gd name="T28" fmla="*/ 1731 w 486"/>
                <a:gd name="T29" fmla="*/ 661 h 753"/>
                <a:gd name="T30" fmla="*/ 1470 w 486"/>
                <a:gd name="T31" fmla="*/ 480 h 753"/>
                <a:gd name="T32" fmla="*/ 1143 w 486"/>
                <a:gd name="T33" fmla="*/ 322 h 753"/>
                <a:gd name="T34" fmla="*/ 735 w 486"/>
                <a:gd name="T35" fmla="*/ 268 h 753"/>
                <a:gd name="T36" fmla="*/ 245 w 486"/>
                <a:gd name="T37" fmla="*/ 339 h 753"/>
                <a:gd name="T38" fmla="*/ 212 w 486"/>
                <a:gd name="T39" fmla="*/ 195 h 753"/>
                <a:gd name="T40" fmla="*/ 65 w 486"/>
                <a:gd name="T41" fmla="*/ 107 h 753"/>
                <a:gd name="T42" fmla="*/ 588 w 486"/>
                <a:gd name="T43" fmla="*/ 37 h 753"/>
                <a:gd name="T44" fmla="*/ 915 w 486"/>
                <a:gd name="T45" fmla="*/ 0 h 753"/>
                <a:gd name="T46" fmla="*/ 1290 w 486"/>
                <a:gd name="T47" fmla="*/ 0 h 753"/>
                <a:gd name="T48" fmla="*/ 1519 w 486"/>
                <a:gd name="T49" fmla="*/ 0 h 753"/>
                <a:gd name="T50" fmla="*/ 1731 w 486"/>
                <a:gd name="T51" fmla="*/ 185 h 753"/>
                <a:gd name="T52" fmla="*/ 2058 w 486"/>
                <a:gd name="T53" fmla="*/ 290 h 753"/>
                <a:gd name="T54" fmla="*/ 2156 w 486"/>
                <a:gd name="T55" fmla="*/ 397 h 753"/>
                <a:gd name="T56" fmla="*/ 2417 w 486"/>
                <a:gd name="T57" fmla="*/ 541 h 753"/>
                <a:gd name="T58" fmla="*/ 2613 w 486"/>
                <a:gd name="T59" fmla="*/ 578 h 753"/>
                <a:gd name="T60" fmla="*/ 2646 w 486"/>
                <a:gd name="T61" fmla="*/ 683 h 753"/>
                <a:gd name="T62" fmla="*/ 2581 w 486"/>
                <a:gd name="T63" fmla="*/ 897 h 753"/>
                <a:gd name="T64" fmla="*/ 2417 w 486"/>
                <a:gd name="T65" fmla="*/ 968 h 753"/>
                <a:gd name="T66" fmla="*/ 2287 w 486"/>
                <a:gd name="T67" fmla="*/ 1005 h 753"/>
                <a:gd name="T68" fmla="*/ 2450 w 486"/>
                <a:gd name="T69" fmla="*/ 1148 h 753"/>
                <a:gd name="T70" fmla="*/ 2515 w 486"/>
                <a:gd name="T71" fmla="*/ 1326 h 753"/>
                <a:gd name="T72" fmla="*/ 2548 w 486"/>
                <a:gd name="T73" fmla="*/ 1541 h 753"/>
                <a:gd name="T74" fmla="*/ 2548 w 486"/>
                <a:gd name="T75" fmla="*/ 1790 h 753"/>
                <a:gd name="T76" fmla="*/ 2483 w 486"/>
                <a:gd name="T77" fmla="*/ 2004 h 753"/>
                <a:gd name="T78" fmla="*/ 2352 w 486"/>
                <a:gd name="T79" fmla="*/ 1790 h 753"/>
                <a:gd name="T80" fmla="*/ 2254 w 486"/>
                <a:gd name="T81" fmla="*/ 1826 h 753"/>
                <a:gd name="T82" fmla="*/ 2287 w 486"/>
                <a:gd name="T83" fmla="*/ 2004 h 753"/>
                <a:gd name="T84" fmla="*/ 2352 w 486"/>
                <a:gd name="T85" fmla="*/ 2146 h 753"/>
                <a:gd name="T86" fmla="*/ 2287 w 486"/>
                <a:gd name="T87" fmla="*/ 2397 h 753"/>
                <a:gd name="T88" fmla="*/ 2189 w 486"/>
                <a:gd name="T89" fmla="*/ 2609 h 753"/>
                <a:gd name="T90" fmla="*/ 1993 w 486"/>
                <a:gd name="T91" fmla="*/ 2967 h 753"/>
                <a:gd name="T92" fmla="*/ 1895 w 486"/>
                <a:gd name="T93" fmla="*/ 3179 h 753"/>
                <a:gd name="T94" fmla="*/ 1699 w 486"/>
                <a:gd name="T95" fmla="*/ 3323 h 753"/>
                <a:gd name="T96" fmla="*/ 1470 w 486"/>
                <a:gd name="T97" fmla="*/ 3179 h 753"/>
                <a:gd name="T98" fmla="*/ 1699 w 486"/>
                <a:gd name="T99" fmla="*/ 3431 h 753"/>
                <a:gd name="T100" fmla="*/ 1764 w 486"/>
                <a:gd name="T101" fmla="*/ 3679 h 753"/>
                <a:gd name="T102" fmla="*/ 1568 w 486"/>
                <a:gd name="T103" fmla="*/ 3930 h 753"/>
                <a:gd name="T104" fmla="*/ 1339 w 486"/>
                <a:gd name="T105" fmla="*/ 4038 h 753"/>
                <a:gd name="T106" fmla="*/ 1127 w 486"/>
                <a:gd name="T107" fmla="*/ 4013 h 753"/>
                <a:gd name="T108" fmla="*/ 915 w 486"/>
                <a:gd name="T109" fmla="*/ 4038 h 753"/>
                <a:gd name="T110" fmla="*/ 719 w 486"/>
                <a:gd name="T111" fmla="*/ 4179 h 753"/>
                <a:gd name="T112" fmla="*/ 441 w 486"/>
                <a:gd name="T113" fmla="*/ 4208 h 753"/>
                <a:gd name="T114" fmla="*/ 245 w 486"/>
                <a:gd name="T115" fmla="*/ 4316 h 753"/>
                <a:gd name="T116" fmla="*/ 131 w 486"/>
                <a:gd name="T117" fmla="*/ 4440 h 753"/>
                <a:gd name="T118" fmla="*/ 0 w 486"/>
                <a:gd name="T119" fmla="*/ 4477 h 753"/>
                <a:gd name="T120" fmla="*/ 98 w 486"/>
                <a:gd name="T121" fmla="*/ 4228 h 7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86" h="753">
                  <a:moveTo>
                    <a:pt x="18" y="711"/>
                  </a:moveTo>
                  <a:lnTo>
                    <a:pt x="54" y="672"/>
                  </a:lnTo>
                  <a:lnTo>
                    <a:pt x="90" y="649"/>
                  </a:lnTo>
                  <a:lnTo>
                    <a:pt x="132" y="619"/>
                  </a:lnTo>
                  <a:lnTo>
                    <a:pt x="192" y="577"/>
                  </a:lnTo>
                  <a:lnTo>
                    <a:pt x="222" y="505"/>
                  </a:lnTo>
                  <a:lnTo>
                    <a:pt x="240" y="450"/>
                  </a:lnTo>
                  <a:lnTo>
                    <a:pt x="258" y="409"/>
                  </a:lnTo>
                  <a:lnTo>
                    <a:pt x="276" y="361"/>
                  </a:lnTo>
                  <a:lnTo>
                    <a:pt x="291" y="321"/>
                  </a:lnTo>
                  <a:lnTo>
                    <a:pt x="318" y="295"/>
                  </a:lnTo>
                  <a:lnTo>
                    <a:pt x="354" y="265"/>
                  </a:lnTo>
                  <a:lnTo>
                    <a:pt x="360" y="216"/>
                  </a:lnTo>
                  <a:lnTo>
                    <a:pt x="345" y="147"/>
                  </a:lnTo>
                  <a:lnTo>
                    <a:pt x="318" y="111"/>
                  </a:lnTo>
                  <a:lnTo>
                    <a:pt x="270" y="81"/>
                  </a:lnTo>
                  <a:lnTo>
                    <a:pt x="210" y="54"/>
                  </a:lnTo>
                  <a:lnTo>
                    <a:pt x="135" y="45"/>
                  </a:lnTo>
                  <a:lnTo>
                    <a:pt x="45" y="57"/>
                  </a:lnTo>
                  <a:lnTo>
                    <a:pt x="39" y="33"/>
                  </a:lnTo>
                  <a:lnTo>
                    <a:pt x="12" y="18"/>
                  </a:lnTo>
                  <a:lnTo>
                    <a:pt x="108" y="6"/>
                  </a:lnTo>
                  <a:lnTo>
                    <a:pt x="168" y="0"/>
                  </a:lnTo>
                  <a:lnTo>
                    <a:pt x="237" y="0"/>
                  </a:lnTo>
                  <a:lnTo>
                    <a:pt x="279" y="0"/>
                  </a:lnTo>
                  <a:lnTo>
                    <a:pt x="318" y="31"/>
                  </a:lnTo>
                  <a:lnTo>
                    <a:pt x="378" y="49"/>
                  </a:lnTo>
                  <a:lnTo>
                    <a:pt x="396" y="67"/>
                  </a:lnTo>
                  <a:lnTo>
                    <a:pt x="444" y="91"/>
                  </a:lnTo>
                  <a:lnTo>
                    <a:pt x="480" y="97"/>
                  </a:lnTo>
                  <a:lnTo>
                    <a:pt x="486" y="115"/>
                  </a:lnTo>
                  <a:lnTo>
                    <a:pt x="474" y="151"/>
                  </a:lnTo>
                  <a:lnTo>
                    <a:pt x="444" y="163"/>
                  </a:lnTo>
                  <a:lnTo>
                    <a:pt x="420" y="169"/>
                  </a:lnTo>
                  <a:lnTo>
                    <a:pt x="450" y="193"/>
                  </a:lnTo>
                  <a:lnTo>
                    <a:pt x="462" y="223"/>
                  </a:lnTo>
                  <a:lnTo>
                    <a:pt x="468" y="259"/>
                  </a:lnTo>
                  <a:lnTo>
                    <a:pt x="468" y="301"/>
                  </a:lnTo>
                  <a:lnTo>
                    <a:pt x="456" y="337"/>
                  </a:lnTo>
                  <a:lnTo>
                    <a:pt x="432" y="301"/>
                  </a:lnTo>
                  <a:lnTo>
                    <a:pt x="414" y="307"/>
                  </a:lnTo>
                  <a:lnTo>
                    <a:pt x="420" y="337"/>
                  </a:lnTo>
                  <a:lnTo>
                    <a:pt x="432" y="361"/>
                  </a:lnTo>
                  <a:lnTo>
                    <a:pt x="420" y="403"/>
                  </a:lnTo>
                  <a:lnTo>
                    <a:pt x="402" y="439"/>
                  </a:lnTo>
                  <a:lnTo>
                    <a:pt x="366" y="499"/>
                  </a:lnTo>
                  <a:lnTo>
                    <a:pt x="348" y="535"/>
                  </a:lnTo>
                  <a:lnTo>
                    <a:pt x="312" y="559"/>
                  </a:lnTo>
                  <a:lnTo>
                    <a:pt x="270" y="535"/>
                  </a:lnTo>
                  <a:lnTo>
                    <a:pt x="312" y="577"/>
                  </a:lnTo>
                  <a:lnTo>
                    <a:pt x="324" y="619"/>
                  </a:lnTo>
                  <a:lnTo>
                    <a:pt x="288" y="661"/>
                  </a:lnTo>
                  <a:lnTo>
                    <a:pt x="246" y="679"/>
                  </a:lnTo>
                  <a:lnTo>
                    <a:pt x="207" y="675"/>
                  </a:lnTo>
                  <a:lnTo>
                    <a:pt x="168" y="679"/>
                  </a:lnTo>
                  <a:lnTo>
                    <a:pt x="132" y="703"/>
                  </a:lnTo>
                  <a:lnTo>
                    <a:pt x="81" y="708"/>
                  </a:lnTo>
                  <a:lnTo>
                    <a:pt x="45" y="726"/>
                  </a:lnTo>
                  <a:lnTo>
                    <a:pt x="24" y="747"/>
                  </a:lnTo>
                  <a:lnTo>
                    <a:pt x="0" y="753"/>
                  </a:lnTo>
                  <a:lnTo>
                    <a:pt x="18" y="711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5" name="Freeform 37"/>
            <p:cNvSpPr/>
            <p:nvPr/>
          </p:nvSpPr>
          <p:spPr bwMode="auto">
            <a:xfrm>
              <a:off x="3011" y="952"/>
              <a:ext cx="1028" cy="760"/>
            </a:xfrm>
            <a:custGeom>
              <a:avLst/>
              <a:gdLst>
                <a:gd name="T0" fmla="*/ 0 w 441"/>
                <a:gd name="T1" fmla="*/ 731 h 312"/>
                <a:gd name="T2" fmla="*/ 131 w 441"/>
                <a:gd name="T3" fmla="*/ 356 h 312"/>
                <a:gd name="T4" fmla="*/ 310 w 441"/>
                <a:gd name="T5" fmla="*/ 480 h 312"/>
                <a:gd name="T6" fmla="*/ 294 w 441"/>
                <a:gd name="T7" fmla="*/ 195 h 312"/>
                <a:gd name="T8" fmla="*/ 294 w 441"/>
                <a:gd name="T9" fmla="*/ 90 h 312"/>
                <a:gd name="T10" fmla="*/ 424 w 441"/>
                <a:gd name="T11" fmla="*/ 231 h 312"/>
                <a:gd name="T12" fmla="*/ 538 w 441"/>
                <a:gd name="T13" fmla="*/ 533 h 312"/>
                <a:gd name="T14" fmla="*/ 555 w 441"/>
                <a:gd name="T15" fmla="*/ 195 h 312"/>
                <a:gd name="T16" fmla="*/ 490 w 441"/>
                <a:gd name="T17" fmla="*/ 17 h 312"/>
                <a:gd name="T18" fmla="*/ 783 w 441"/>
                <a:gd name="T19" fmla="*/ 356 h 312"/>
                <a:gd name="T20" fmla="*/ 881 w 441"/>
                <a:gd name="T21" fmla="*/ 54 h 312"/>
                <a:gd name="T22" fmla="*/ 1028 w 441"/>
                <a:gd name="T23" fmla="*/ 268 h 312"/>
                <a:gd name="T24" fmla="*/ 1270 w 441"/>
                <a:gd name="T25" fmla="*/ 90 h 312"/>
                <a:gd name="T26" fmla="*/ 1352 w 441"/>
                <a:gd name="T27" fmla="*/ 248 h 312"/>
                <a:gd name="T28" fmla="*/ 1532 w 441"/>
                <a:gd name="T29" fmla="*/ 124 h 312"/>
                <a:gd name="T30" fmla="*/ 1580 w 441"/>
                <a:gd name="T31" fmla="*/ 0 h 312"/>
                <a:gd name="T32" fmla="*/ 1646 w 441"/>
                <a:gd name="T33" fmla="*/ 248 h 312"/>
                <a:gd name="T34" fmla="*/ 1662 w 441"/>
                <a:gd name="T35" fmla="*/ 533 h 312"/>
                <a:gd name="T36" fmla="*/ 1842 w 441"/>
                <a:gd name="T37" fmla="*/ 356 h 312"/>
                <a:gd name="T38" fmla="*/ 1890 w 441"/>
                <a:gd name="T39" fmla="*/ 195 h 312"/>
                <a:gd name="T40" fmla="*/ 1907 w 441"/>
                <a:gd name="T41" fmla="*/ 570 h 312"/>
                <a:gd name="T42" fmla="*/ 1923 w 441"/>
                <a:gd name="T43" fmla="*/ 658 h 312"/>
                <a:gd name="T44" fmla="*/ 2037 w 441"/>
                <a:gd name="T45" fmla="*/ 499 h 312"/>
                <a:gd name="T46" fmla="*/ 2119 w 441"/>
                <a:gd name="T47" fmla="*/ 694 h 312"/>
                <a:gd name="T48" fmla="*/ 2168 w 441"/>
                <a:gd name="T49" fmla="*/ 801 h 312"/>
                <a:gd name="T50" fmla="*/ 2249 w 441"/>
                <a:gd name="T51" fmla="*/ 748 h 312"/>
                <a:gd name="T52" fmla="*/ 2331 w 441"/>
                <a:gd name="T53" fmla="*/ 836 h 312"/>
                <a:gd name="T54" fmla="*/ 2396 w 441"/>
                <a:gd name="T55" fmla="*/ 1086 h 312"/>
                <a:gd name="T56" fmla="*/ 1842 w 441"/>
                <a:gd name="T57" fmla="*/ 1851 h 312"/>
                <a:gd name="T58" fmla="*/ 65 w 441"/>
                <a:gd name="T59" fmla="*/ 1281 h 312"/>
                <a:gd name="T60" fmla="*/ 0 w 441"/>
                <a:gd name="T61" fmla="*/ 731 h 31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41" h="312">
                  <a:moveTo>
                    <a:pt x="0" y="123"/>
                  </a:moveTo>
                  <a:lnTo>
                    <a:pt x="24" y="60"/>
                  </a:lnTo>
                  <a:lnTo>
                    <a:pt x="57" y="81"/>
                  </a:lnTo>
                  <a:lnTo>
                    <a:pt x="54" y="33"/>
                  </a:lnTo>
                  <a:lnTo>
                    <a:pt x="54" y="15"/>
                  </a:lnTo>
                  <a:lnTo>
                    <a:pt x="78" y="39"/>
                  </a:lnTo>
                  <a:lnTo>
                    <a:pt x="99" y="90"/>
                  </a:lnTo>
                  <a:lnTo>
                    <a:pt x="102" y="33"/>
                  </a:lnTo>
                  <a:lnTo>
                    <a:pt x="90" y="3"/>
                  </a:lnTo>
                  <a:lnTo>
                    <a:pt x="144" y="60"/>
                  </a:lnTo>
                  <a:lnTo>
                    <a:pt x="162" y="9"/>
                  </a:lnTo>
                  <a:lnTo>
                    <a:pt x="189" y="45"/>
                  </a:lnTo>
                  <a:lnTo>
                    <a:pt x="234" y="15"/>
                  </a:lnTo>
                  <a:lnTo>
                    <a:pt x="249" y="42"/>
                  </a:lnTo>
                  <a:lnTo>
                    <a:pt x="282" y="21"/>
                  </a:lnTo>
                  <a:lnTo>
                    <a:pt x="291" y="0"/>
                  </a:lnTo>
                  <a:lnTo>
                    <a:pt x="303" y="42"/>
                  </a:lnTo>
                  <a:lnTo>
                    <a:pt x="306" y="90"/>
                  </a:lnTo>
                  <a:lnTo>
                    <a:pt x="339" y="60"/>
                  </a:lnTo>
                  <a:lnTo>
                    <a:pt x="348" y="33"/>
                  </a:lnTo>
                  <a:lnTo>
                    <a:pt x="351" y="96"/>
                  </a:lnTo>
                  <a:lnTo>
                    <a:pt x="354" y="111"/>
                  </a:lnTo>
                  <a:lnTo>
                    <a:pt x="375" y="84"/>
                  </a:lnTo>
                  <a:lnTo>
                    <a:pt x="390" y="117"/>
                  </a:lnTo>
                  <a:lnTo>
                    <a:pt x="399" y="135"/>
                  </a:lnTo>
                  <a:lnTo>
                    <a:pt x="414" y="126"/>
                  </a:lnTo>
                  <a:lnTo>
                    <a:pt x="429" y="141"/>
                  </a:lnTo>
                  <a:lnTo>
                    <a:pt x="441" y="183"/>
                  </a:lnTo>
                  <a:lnTo>
                    <a:pt x="339" y="312"/>
                  </a:lnTo>
                  <a:lnTo>
                    <a:pt x="12" y="216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6" name="Freeform 38"/>
            <p:cNvSpPr/>
            <p:nvPr/>
          </p:nvSpPr>
          <p:spPr bwMode="auto">
            <a:xfrm>
              <a:off x="1611" y="993"/>
              <a:ext cx="1596" cy="1858"/>
            </a:xfrm>
            <a:custGeom>
              <a:avLst/>
              <a:gdLst>
                <a:gd name="T0" fmla="*/ 947 w 684"/>
                <a:gd name="T1" fmla="*/ 3711 h 762"/>
                <a:gd name="T2" fmla="*/ 751 w 684"/>
                <a:gd name="T3" fmla="*/ 3319 h 762"/>
                <a:gd name="T4" fmla="*/ 555 w 684"/>
                <a:gd name="T5" fmla="*/ 3067 h 762"/>
                <a:gd name="T6" fmla="*/ 327 w 684"/>
                <a:gd name="T7" fmla="*/ 2748 h 762"/>
                <a:gd name="T8" fmla="*/ 261 w 684"/>
                <a:gd name="T9" fmla="*/ 2460 h 762"/>
                <a:gd name="T10" fmla="*/ 294 w 684"/>
                <a:gd name="T11" fmla="*/ 2175 h 762"/>
                <a:gd name="T12" fmla="*/ 65 w 684"/>
                <a:gd name="T13" fmla="*/ 1748 h 762"/>
                <a:gd name="T14" fmla="*/ 0 w 684"/>
                <a:gd name="T15" fmla="*/ 1319 h 762"/>
                <a:gd name="T16" fmla="*/ 98 w 684"/>
                <a:gd name="T17" fmla="*/ 1070 h 762"/>
                <a:gd name="T18" fmla="*/ 523 w 684"/>
                <a:gd name="T19" fmla="*/ 856 h 762"/>
                <a:gd name="T20" fmla="*/ 719 w 684"/>
                <a:gd name="T21" fmla="*/ 285 h 762"/>
                <a:gd name="T22" fmla="*/ 1013 w 684"/>
                <a:gd name="T23" fmla="*/ 71 h 762"/>
                <a:gd name="T24" fmla="*/ 1307 w 684"/>
                <a:gd name="T25" fmla="*/ 37 h 762"/>
                <a:gd name="T26" fmla="*/ 1699 w 684"/>
                <a:gd name="T27" fmla="*/ 0 h 762"/>
                <a:gd name="T28" fmla="*/ 2385 w 684"/>
                <a:gd name="T29" fmla="*/ 144 h 762"/>
                <a:gd name="T30" fmla="*/ 2319 w 684"/>
                <a:gd name="T31" fmla="*/ 2355 h 762"/>
                <a:gd name="T32" fmla="*/ 3724 w 684"/>
                <a:gd name="T33" fmla="*/ 4031 h 762"/>
                <a:gd name="T34" fmla="*/ 3463 w 684"/>
                <a:gd name="T35" fmla="*/ 4530 h 762"/>
                <a:gd name="T36" fmla="*/ 2156 w 684"/>
                <a:gd name="T37" fmla="*/ 4530 h 762"/>
                <a:gd name="T38" fmla="*/ 947 w 684"/>
                <a:gd name="T39" fmla="*/ 3711 h 76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84" h="762">
                  <a:moveTo>
                    <a:pt x="174" y="624"/>
                  </a:moveTo>
                  <a:lnTo>
                    <a:pt x="138" y="558"/>
                  </a:lnTo>
                  <a:lnTo>
                    <a:pt x="102" y="516"/>
                  </a:lnTo>
                  <a:lnTo>
                    <a:pt x="60" y="462"/>
                  </a:lnTo>
                  <a:lnTo>
                    <a:pt x="48" y="414"/>
                  </a:lnTo>
                  <a:lnTo>
                    <a:pt x="54" y="366"/>
                  </a:lnTo>
                  <a:lnTo>
                    <a:pt x="12" y="294"/>
                  </a:lnTo>
                  <a:lnTo>
                    <a:pt x="0" y="222"/>
                  </a:lnTo>
                  <a:lnTo>
                    <a:pt x="18" y="180"/>
                  </a:lnTo>
                  <a:lnTo>
                    <a:pt x="96" y="144"/>
                  </a:lnTo>
                  <a:lnTo>
                    <a:pt x="132" y="48"/>
                  </a:lnTo>
                  <a:lnTo>
                    <a:pt x="186" y="12"/>
                  </a:lnTo>
                  <a:lnTo>
                    <a:pt x="240" y="6"/>
                  </a:lnTo>
                  <a:lnTo>
                    <a:pt x="312" y="0"/>
                  </a:lnTo>
                  <a:lnTo>
                    <a:pt x="438" y="24"/>
                  </a:lnTo>
                  <a:lnTo>
                    <a:pt x="426" y="396"/>
                  </a:lnTo>
                  <a:lnTo>
                    <a:pt x="684" y="678"/>
                  </a:lnTo>
                  <a:lnTo>
                    <a:pt x="636" y="762"/>
                  </a:lnTo>
                  <a:lnTo>
                    <a:pt x="396" y="762"/>
                  </a:lnTo>
                  <a:lnTo>
                    <a:pt x="174" y="624"/>
                  </a:lnTo>
                  <a:close/>
                </a:path>
              </a:pathLst>
            </a:custGeom>
            <a:gradFill rotWithShape="0">
              <a:gsLst>
                <a:gs pos="0">
                  <a:srgbClr val="FF66FF"/>
                </a:gs>
                <a:gs pos="100000">
                  <a:srgbClr val="762F76"/>
                </a:gs>
              </a:gsLst>
              <a:lin ang="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7" name="Freeform 39"/>
            <p:cNvSpPr/>
            <p:nvPr/>
          </p:nvSpPr>
          <p:spPr bwMode="auto">
            <a:xfrm>
              <a:off x="1576" y="967"/>
              <a:ext cx="1316" cy="1959"/>
            </a:xfrm>
            <a:custGeom>
              <a:avLst/>
              <a:gdLst>
                <a:gd name="T0" fmla="*/ 1682 w 564"/>
                <a:gd name="T1" fmla="*/ 178 h 804"/>
                <a:gd name="T2" fmla="*/ 1274 w 564"/>
                <a:gd name="T3" fmla="*/ 231 h 804"/>
                <a:gd name="T4" fmla="*/ 1127 w 564"/>
                <a:gd name="T5" fmla="*/ 356 h 804"/>
                <a:gd name="T6" fmla="*/ 1078 w 564"/>
                <a:gd name="T7" fmla="*/ 517 h 804"/>
                <a:gd name="T8" fmla="*/ 1062 w 564"/>
                <a:gd name="T9" fmla="*/ 802 h 804"/>
                <a:gd name="T10" fmla="*/ 1013 w 564"/>
                <a:gd name="T11" fmla="*/ 980 h 804"/>
                <a:gd name="T12" fmla="*/ 898 w 564"/>
                <a:gd name="T13" fmla="*/ 1070 h 804"/>
                <a:gd name="T14" fmla="*/ 686 w 564"/>
                <a:gd name="T15" fmla="*/ 1211 h 804"/>
                <a:gd name="T16" fmla="*/ 572 w 564"/>
                <a:gd name="T17" fmla="*/ 1282 h 804"/>
                <a:gd name="T18" fmla="*/ 523 w 564"/>
                <a:gd name="T19" fmla="*/ 1442 h 804"/>
                <a:gd name="T20" fmla="*/ 539 w 564"/>
                <a:gd name="T21" fmla="*/ 1550 h 804"/>
                <a:gd name="T22" fmla="*/ 621 w 564"/>
                <a:gd name="T23" fmla="*/ 1637 h 804"/>
                <a:gd name="T24" fmla="*/ 735 w 564"/>
                <a:gd name="T25" fmla="*/ 1835 h 804"/>
                <a:gd name="T26" fmla="*/ 800 w 564"/>
                <a:gd name="T27" fmla="*/ 2173 h 804"/>
                <a:gd name="T28" fmla="*/ 735 w 564"/>
                <a:gd name="T29" fmla="*/ 2388 h 804"/>
                <a:gd name="T30" fmla="*/ 735 w 564"/>
                <a:gd name="T31" fmla="*/ 2619 h 804"/>
                <a:gd name="T32" fmla="*/ 784 w 564"/>
                <a:gd name="T33" fmla="*/ 2814 h 804"/>
                <a:gd name="T34" fmla="*/ 898 w 564"/>
                <a:gd name="T35" fmla="*/ 3029 h 804"/>
                <a:gd name="T36" fmla="*/ 1045 w 564"/>
                <a:gd name="T37" fmla="*/ 3348 h 804"/>
                <a:gd name="T38" fmla="*/ 1307 w 564"/>
                <a:gd name="T39" fmla="*/ 3492 h 804"/>
                <a:gd name="T40" fmla="*/ 1519 w 564"/>
                <a:gd name="T41" fmla="*/ 3545 h 804"/>
                <a:gd name="T42" fmla="*/ 1731 w 564"/>
                <a:gd name="T43" fmla="*/ 3650 h 804"/>
                <a:gd name="T44" fmla="*/ 1895 w 564"/>
                <a:gd name="T45" fmla="*/ 3757 h 804"/>
                <a:gd name="T46" fmla="*/ 2009 w 564"/>
                <a:gd name="T47" fmla="*/ 3918 h 804"/>
                <a:gd name="T48" fmla="*/ 2254 w 564"/>
                <a:gd name="T49" fmla="*/ 3935 h 804"/>
                <a:gd name="T50" fmla="*/ 2434 w 564"/>
                <a:gd name="T51" fmla="*/ 3989 h 804"/>
                <a:gd name="T52" fmla="*/ 2695 w 564"/>
                <a:gd name="T53" fmla="*/ 4079 h 804"/>
                <a:gd name="T54" fmla="*/ 2875 w 564"/>
                <a:gd name="T55" fmla="*/ 4257 h 804"/>
                <a:gd name="T56" fmla="*/ 3071 w 564"/>
                <a:gd name="T57" fmla="*/ 4417 h 804"/>
                <a:gd name="T58" fmla="*/ 3054 w 564"/>
                <a:gd name="T59" fmla="*/ 4773 h 804"/>
                <a:gd name="T60" fmla="*/ 1013 w 564"/>
                <a:gd name="T61" fmla="*/ 3864 h 804"/>
                <a:gd name="T62" fmla="*/ 833 w 564"/>
                <a:gd name="T63" fmla="*/ 3509 h 804"/>
                <a:gd name="T64" fmla="*/ 653 w 564"/>
                <a:gd name="T65" fmla="*/ 3294 h 804"/>
                <a:gd name="T66" fmla="*/ 474 w 564"/>
                <a:gd name="T67" fmla="*/ 3099 h 804"/>
                <a:gd name="T68" fmla="*/ 376 w 564"/>
                <a:gd name="T69" fmla="*/ 2956 h 804"/>
                <a:gd name="T70" fmla="*/ 294 w 564"/>
                <a:gd name="T71" fmla="*/ 2690 h 804"/>
                <a:gd name="T72" fmla="*/ 261 w 564"/>
                <a:gd name="T73" fmla="*/ 2439 h 804"/>
                <a:gd name="T74" fmla="*/ 278 w 564"/>
                <a:gd name="T75" fmla="*/ 2261 h 804"/>
                <a:gd name="T76" fmla="*/ 163 w 564"/>
                <a:gd name="T77" fmla="*/ 2066 h 804"/>
                <a:gd name="T78" fmla="*/ 82 w 564"/>
                <a:gd name="T79" fmla="*/ 1905 h 804"/>
                <a:gd name="T80" fmla="*/ 16 w 564"/>
                <a:gd name="T81" fmla="*/ 1710 h 804"/>
                <a:gd name="T82" fmla="*/ 0 w 564"/>
                <a:gd name="T83" fmla="*/ 1513 h 804"/>
                <a:gd name="T84" fmla="*/ 16 w 564"/>
                <a:gd name="T85" fmla="*/ 1194 h 804"/>
                <a:gd name="T86" fmla="*/ 98 w 564"/>
                <a:gd name="T87" fmla="*/ 1033 h 804"/>
                <a:gd name="T88" fmla="*/ 261 w 564"/>
                <a:gd name="T89" fmla="*/ 962 h 804"/>
                <a:gd name="T90" fmla="*/ 392 w 564"/>
                <a:gd name="T91" fmla="*/ 889 h 804"/>
                <a:gd name="T92" fmla="*/ 555 w 564"/>
                <a:gd name="T93" fmla="*/ 819 h 804"/>
                <a:gd name="T94" fmla="*/ 572 w 564"/>
                <a:gd name="T95" fmla="*/ 641 h 804"/>
                <a:gd name="T96" fmla="*/ 604 w 564"/>
                <a:gd name="T97" fmla="*/ 446 h 804"/>
                <a:gd name="T98" fmla="*/ 686 w 564"/>
                <a:gd name="T99" fmla="*/ 322 h 804"/>
                <a:gd name="T100" fmla="*/ 833 w 564"/>
                <a:gd name="T101" fmla="*/ 214 h 804"/>
                <a:gd name="T102" fmla="*/ 964 w 564"/>
                <a:gd name="T103" fmla="*/ 107 h 804"/>
                <a:gd name="T104" fmla="*/ 1209 w 564"/>
                <a:gd name="T105" fmla="*/ 37 h 804"/>
                <a:gd name="T106" fmla="*/ 1486 w 564"/>
                <a:gd name="T107" fmla="*/ 17 h 804"/>
                <a:gd name="T108" fmla="*/ 1862 w 564"/>
                <a:gd name="T109" fmla="*/ 0 h 804"/>
                <a:gd name="T110" fmla="*/ 2287 w 564"/>
                <a:gd name="T111" fmla="*/ 37 h 804"/>
                <a:gd name="T112" fmla="*/ 1682 w 564"/>
                <a:gd name="T113" fmla="*/ 178 h 80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64" h="804">
                  <a:moveTo>
                    <a:pt x="309" y="30"/>
                  </a:moveTo>
                  <a:lnTo>
                    <a:pt x="234" y="39"/>
                  </a:lnTo>
                  <a:lnTo>
                    <a:pt x="207" y="60"/>
                  </a:lnTo>
                  <a:lnTo>
                    <a:pt x="198" y="87"/>
                  </a:lnTo>
                  <a:lnTo>
                    <a:pt x="195" y="135"/>
                  </a:lnTo>
                  <a:lnTo>
                    <a:pt x="186" y="165"/>
                  </a:lnTo>
                  <a:lnTo>
                    <a:pt x="165" y="180"/>
                  </a:lnTo>
                  <a:lnTo>
                    <a:pt x="126" y="204"/>
                  </a:lnTo>
                  <a:lnTo>
                    <a:pt x="105" y="216"/>
                  </a:lnTo>
                  <a:lnTo>
                    <a:pt x="96" y="243"/>
                  </a:lnTo>
                  <a:lnTo>
                    <a:pt x="99" y="261"/>
                  </a:lnTo>
                  <a:lnTo>
                    <a:pt x="114" y="276"/>
                  </a:lnTo>
                  <a:lnTo>
                    <a:pt x="135" y="309"/>
                  </a:lnTo>
                  <a:lnTo>
                    <a:pt x="147" y="366"/>
                  </a:lnTo>
                  <a:lnTo>
                    <a:pt x="135" y="402"/>
                  </a:lnTo>
                  <a:lnTo>
                    <a:pt x="135" y="441"/>
                  </a:lnTo>
                  <a:lnTo>
                    <a:pt x="144" y="474"/>
                  </a:lnTo>
                  <a:lnTo>
                    <a:pt x="165" y="510"/>
                  </a:lnTo>
                  <a:lnTo>
                    <a:pt x="192" y="564"/>
                  </a:lnTo>
                  <a:lnTo>
                    <a:pt x="240" y="588"/>
                  </a:lnTo>
                  <a:lnTo>
                    <a:pt x="279" y="597"/>
                  </a:lnTo>
                  <a:lnTo>
                    <a:pt x="318" y="615"/>
                  </a:lnTo>
                  <a:lnTo>
                    <a:pt x="348" y="633"/>
                  </a:lnTo>
                  <a:lnTo>
                    <a:pt x="369" y="660"/>
                  </a:lnTo>
                  <a:lnTo>
                    <a:pt x="414" y="663"/>
                  </a:lnTo>
                  <a:lnTo>
                    <a:pt x="447" y="672"/>
                  </a:lnTo>
                  <a:lnTo>
                    <a:pt x="495" y="687"/>
                  </a:lnTo>
                  <a:lnTo>
                    <a:pt x="528" y="717"/>
                  </a:lnTo>
                  <a:lnTo>
                    <a:pt x="564" y="744"/>
                  </a:lnTo>
                  <a:lnTo>
                    <a:pt x="561" y="804"/>
                  </a:lnTo>
                  <a:lnTo>
                    <a:pt x="186" y="651"/>
                  </a:lnTo>
                  <a:lnTo>
                    <a:pt x="153" y="591"/>
                  </a:lnTo>
                  <a:lnTo>
                    <a:pt x="120" y="555"/>
                  </a:lnTo>
                  <a:lnTo>
                    <a:pt x="87" y="522"/>
                  </a:lnTo>
                  <a:lnTo>
                    <a:pt x="69" y="498"/>
                  </a:lnTo>
                  <a:lnTo>
                    <a:pt x="54" y="453"/>
                  </a:lnTo>
                  <a:lnTo>
                    <a:pt x="48" y="411"/>
                  </a:lnTo>
                  <a:lnTo>
                    <a:pt x="51" y="381"/>
                  </a:lnTo>
                  <a:lnTo>
                    <a:pt x="30" y="348"/>
                  </a:lnTo>
                  <a:lnTo>
                    <a:pt x="15" y="321"/>
                  </a:lnTo>
                  <a:lnTo>
                    <a:pt x="3" y="288"/>
                  </a:lnTo>
                  <a:lnTo>
                    <a:pt x="0" y="255"/>
                  </a:lnTo>
                  <a:lnTo>
                    <a:pt x="3" y="201"/>
                  </a:lnTo>
                  <a:lnTo>
                    <a:pt x="18" y="174"/>
                  </a:lnTo>
                  <a:lnTo>
                    <a:pt x="48" y="162"/>
                  </a:lnTo>
                  <a:lnTo>
                    <a:pt x="72" y="150"/>
                  </a:lnTo>
                  <a:lnTo>
                    <a:pt x="102" y="138"/>
                  </a:lnTo>
                  <a:lnTo>
                    <a:pt x="105" y="108"/>
                  </a:lnTo>
                  <a:lnTo>
                    <a:pt x="111" y="75"/>
                  </a:lnTo>
                  <a:lnTo>
                    <a:pt x="126" y="54"/>
                  </a:lnTo>
                  <a:lnTo>
                    <a:pt x="153" y="36"/>
                  </a:lnTo>
                  <a:lnTo>
                    <a:pt x="177" y="18"/>
                  </a:lnTo>
                  <a:lnTo>
                    <a:pt x="222" y="6"/>
                  </a:lnTo>
                  <a:lnTo>
                    <a:pt x="273" y="3"/>
                  </a:lnTo>
                  <a:lnTo>
                    <a:pt x="342" y="0"/>
                  </a:lnTo>
                  <a:lnTo>
                    <a:pt x="420" y="6"/>
                  </a:lnTo>
                  <a:lnTo>
                    <a:pt x="309" y="3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8" name="Freeform 40"/>
            <p:cNvSpPr/>
            <p:nvPr/>
          </p:nvSpPr>
          <p:spPr bwMode="auto">
            <a:xfrm>
              <a:off x="2101" y="1006"/>
              <a:ext cx="1483" cy="1786"/>
            </a:xfrm>
            <a:custGeom>
              <a:avLst/>
              <a:gdLst>
                <a:gd name="T0" fmla="*/ 2185 w 636"/>
                <a:gd name="T1" fmla="*/ 4352 h 733"/>
                <a:gd name="T2" fmla="*/ 1730 w 636"/>
                <a:gd name="T3" fmla="*/ 4067 h 733"/>
                <a:gd name="T4" fmla="*/ 1600 w 636"/>
                <a:gd name="T5" fmla="*/ 3818 h 733"/>
                <a:gd name="T6" fmla="*/ 1436 w 636"/>
                <a:gd name="T7" fmla="*/ 3711 h 733"/>
                <a:gd name="T8" fmla="*/ 1143 w 636"/>
                <a:gd name="T9" fmla="*/ 3674 h 733"/>
                <a:gd name="T10" fmla="*/ 816 w 636"/>
                <a:gd name="T11" fmla="*/ 3426 h 733"/>
                <a:gd name="T12" fmla="*/ 637 w 636"/>
                <a:gd name="T13" fmla="*/ 3260 h 733"/>
                <a:gd name="T14" fmla="*/ 522 w 636"/>
                <a:gd name="T15" fmla="*/ 3070 h 733"/>
                <a:gd name="T16" fmla="*/ 490 w 636"/>
                <a:gd name="T17" fmla="*/ 2785 h 733"/>
                <a:gd name="T18" fmla="*/ 522 w 636"/>
                <a:gd name="T19" fmla="*/ 2607 h 733"/>
                <a:gd name="T20" fmla="*/ 294 w 636"/>
                <a:gd name="T21" fmla="*/ 2429 h 733"/>
                <a:gd name="T22" fmla="*/ 65 w 636"/>
                <a:gd name="T23" fmla="*/ 2037 h 733"/>
                <a:gd name="T24" fmla="*/ 0 w 636"/>
                <a:gd name="T25" fmla="*/ 1710 h 733"/>
                <a:gd name="T26" fmla="*/ 49 w 636"/>
                <a:gd name="T27" fmla="*/ 1442 h 733"/>
                <a:gd name="T28" fmla="*/ 131 w 636"/>
                <a:gd name="T29" fmla="*/ 1182 h 733"/>
                <a:gd name="T30" fmla="*/ 392 w 636"/>
                <a:gd name="T31" fmla="*/ 933 h 733"/>
                <a:gd name="T32" fmla="*/ 359 w 636"/>
                <a:gd name="T33" fmla="*/ 624 h 733"/>
                <a:gd name="T34" fmla="*/ 392 w 636"/>
                <a:gd name="T35" fmla="*/ 434 h 733"/>
                <a:gd name="T36" fmla="*/ 555 w 636"/>
                <a:gd name="T37" fmla="*/ 149 h 733"/>
                <a:gd name="T38" fmla="*/ 800 w 636"/>
                <a:gd name="T39" fmla="*/ 54 h 733"/>
                <a:gd name="T40" fmla="*/ 1143 w 636"/>
                <a:gd name="T41" fmla="*/ 5 h 733"/>
                <a:gd name="T42" fmla="*/ 1420 w 636"/>
                <a:gd name="T43" fmla="*/ 0 h 733"/>
                <a:gd name="T44" fmla="*/ 1760 w 636"/>
                <a:gd name="T45" fmla="*/ 112 h 733"/>
                <a:gd name="T46" fmla="*/ 1956 w 636"/>
                <a:gd name="T47" fmla="*/ 185 h 733"/>
                <a:gd name="T48" fmla="*/ 2381 w 636"/>
                <a:gd name="T49" fmla="*/ 575 h 733"/>
                <a:gd name="T50" fmla="*/ 2511 w 636"/>
                <a:gd name="T51" fmla="*/ 897 h 733"/>
                <a:gd name="T52" fmla="*/ 1632 w 636"/>
                <a:gd name="T53" fmla="*/ 1038 h 733"/>
                <a:gd name="T54" fmla="*/ 1600 w 636"/>
                <a:gd name="T55" fmla="*/ 1252 h 733"/>
                <a:gd name="T56" fmla="*/ 1956 w 636"/>
                <a:gd name="T57" fmla="*/ 2678 h 733"/>
                <a:gd name="T58" fmla="*/ 2772 w 636"/>
                <a:gd name="T59" fmla="*/ 2963 h 733"/>
                <a:gd name="T60" fmla="*/ 3458 w 636"/>
                <a:gd name="T61" fmla="*/ 3319 h 733"/>
                <a:gd name="T62" fmla="*/ 2185 w 636"/>
                <a:gd name="T63" fmla="*/ 4352 h 73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36" h="733">
                  <a:moveTo>
                    <a:pt x="402" y="733"/>
                  </a:moveTo>
                  <a:lnTo>
                    <a:pt x="318" y="685"/>
                  </a:lnTo>
                  <a:lnTo>
                    <a:pt x="294" y="643"/>
                  </a:lnTo>
                  <a:lnTo>
                    <a:pt x="264" y="625"/>
                  </a:lnTo>
                  <a:lnTo>
                    <a:pt x="210" y="619"/>
                  </a:lnTo>
                  <a:lnTo>
                    <a:pt x="150" y="577"/>
                  </a:lnTo>
                  <a:lnTo>
                    <a:pt x="117" y="549"/>
                  </a:lnTo>
                  <a:lnTo>
                    <a:pt x="96" y="517"/>
                  </a:lnTo>
                  <a:lnTo>
                    <a:pt x="90" y="469"/>
                  </a:lnTo>
                  <a:lnTo>
                    <a:pt x="96" y="439"/>
                  </a:lnTo>
                  <a:lnTo>
                    <a:pt x="54" y="409"/>
                  </a:lnTo>
                  <a:lnTo>
                    <a:pt x="12" y="343"/>
                  </a:lnTo>
                  <a:lnTo>
                    <a:pt x="0" y="288"/>
                  </a:lnTo>
                  <a:lnTo>
                    <a:pt x="9" y="243"/>
                  </a:lnTo>
                  <a:lnTo>
                    <a:pt x="24" y="199"/>
                  </a:lnTo>
                  <a:lnTo>
                    <a:pt x="72" y="157"/>
                  </a:lnTo>
                  <a:lnTo>
                    <a:pt x="66" y="105"/>
                  </a:lnTo>
                  <a:lnTo>
                    <a:pt x="72" y="73"/>
                  </a:lnTo>
                  <a:lnTo>
                    <a:pt x="102" y="25"/>
                  </a:lnTo>
                  <a:lnTo>
                    <a:pt x="147" y="9"/>
                  </a:lnTo>
                  <a:lnTo>
                    <a:pt x="210" y="1"/>
                  </a:lnTo>
                  <a:lnTo>
                    <a:pt x="261" y="0"/>
                  </a:lnTo>
                  <a:lnTo>
                    <a:pt x="324" y="19"/>
                  </a:lnTo>
                  <a:lnTo>
                    <a:pt x="360" y="31"/>
                  </a:lnTo>
                  <a:lnTo>
                    <a:pt x="438" y="97"/>
                  </a:lnTo>
                  <a:lnTo>
                    <a:pt x="462" y="151"/>
                  </a:lnTo>
                  <a:lnTo>
                    <a:pt x="300" y="175"/>
                  </a:lnTo>
                  <a:lnTo>
                    <a:pt x="294" y="211"/>
                  </a:lnTo>
                  <a:lnTo>
                    <a:pt x="360" y="451"/>
                  </a:lnTo>
                  <a:lnTo>
                    <a:pt x="510" y="499"/>
                  </a:lnTo>
                  <a:lnTo>
                    <a:pt x="636" y="559"/>
                  </a:lnTo>
                  <a:lnTo>
                    <a:pt x="402" y="733"/>
                  </a:lnTo>
                  <a:close/>
                </a:path>
              </a:pathLst>
            </a:custGeom>
            <a:gradFill rotWithShape="0">
              <a:gsLst>
                <a:gs pos="0">
                  <a:srgbClr val="FF66FF"/>
                </a:gs>
                <a:gs pos="100000">
                  <a:srgbClr val="762F76"/>
                </a:gs>
              </a:gsLst>
              <a:lin ang="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9" name="Freeform 41"/>
            <p:cNvSpPr/>
            <p:nvPr/>
          </p:nvSpPr>
          <p:spPr bwMode="auto">
            <a:xfrm>
              <a:off x="2080" y="989"/>
              <a:ext cx="630" cy="1140"/>
            </a:xfrm>
            <a:custGeom>
              <a:avLst/>
              <a:gdLst>
                <a:gd name="T0" fmla="*/ 523 w 270"/>
                <a:gd name="T1" fmla="*/ 2421 h 468"/>
                <a:gd name="T2" fmla="*/ 408 w 270"/>
                <a:gd name="T3" fmla="*/ 2243 h 468"/>
                <a:gd name="T4" fmla="*/ 294 w 270"/>
                <a:gd name="T5" fmla="*/ 2029 h 468"/>
                <a:gd name="T6" fmla="*/ 245 w 270"/>
                <a:gd name="T7" fmla="*/ 1798 h 468"/>
                <a:gd name="T8" fmla="*/ 278 w 270"/>
                <a:gd name="T9" fmla="*/ 1583 h 468"/>
                <a:gd name="T10" fmla="*/ 392 w 270"/>
                <a:gd name="T11" fmla="*/ 1406 h 468"/>
                <a:gd name="T12" fmla="*/ 653 w 270"/>
                <a:gd name="T13" fmla="*/ 1298 h 468"/>
                <a:gd name="T14" fmla="*/ 800 w 270"/>
                <a:gd name="T15" fmla="*/ 1174 h 468"/>
                <a:gd name="T16" fmla="*/ 833 w 270"/>
                <a:gd name="T17" fmla="*/ 926 h 468"/>
                <a:gd name="T18" fmla="*/ 735 w 270"/>
                <a:gd name="T19" fmla="*/ 731 h 468"/>
                <a:gd name="T20" fmla="*/ 670 w 270"/>
                <a:gd name="T21" fmla="*/ 604 h 468"/>
                <a:gd name="T22" fmla="*/ 653 w 270"/>
                <a:gd name="T23" fmla="*/ 322 h 468"/>
                <a:gd name="T24" fmla="*/ 751 w 270"/>
                <a:gd name="T25" fmla="*/ 214 h 468"/>
                <a:gd name="T26" fmla="*/ 915 w 270"/>
                <a:gd name="T27" fmla="*/ 178 h 468"/>
                <a:gd name="T28" fmla="*/ 1094 w 270"/>
                <a:gd name="T29" fmla="*/ 107 h 468"/>
                <a:gd name="T30" fmla="*/ 1225 w 270"/>
                <a:gd name="T31" fmla="*/ 90 h 468"/>
                <a:gd name="T32" fmla="*/ 1470 w 270"/>
                <a:gd name="T33" fmla="*/ 71 h 468"/>
                <a:gd name="T34" fmla="*/ 1241 w 270"/>
                <a:gd name="T35" fmla="*/ 0 h 468"/>
                <a:gd name="T36" fmla="*/ 1013 w 270"/>
                <a:gd name="T37" fmla="*/ 0 h 468"/>
                <a:gd name="T38" fmla="*/ 833 w 270"/>
                <a:gd name="T39" fmla="*/ 0 h 468"/>
                <a:gd name="T40" fmla="*/ 621 w 270"/>
                <a:gd name="T41" fmla="*/ 71 h 468"/>
                <a:gd name="T42" fmla="*/ 457 w 270"/>
                <a:gd name="T43" fmla="*/ 214 h 468"/>
                <a:gd name="T44" fmla="*/ 408 w 270"/>
                <a:gd name="T45" fmla="*/ 373 h 468"/>
                <a:gd name="T46" fmla="*/ 343 w 270"/>
                <a:gd name="T47" fmla="*/ 604 h 468"/>
                <a:gd name="T48" fmla="*/ 343 w 270"/>
                <a:gd name="T49" fmla="*/ 784 h 468"/>
                <a:gd name="T50" fmla="*/ 392 w 270"/>
                <a:gd name="T51" fmla="*/ 943 h 468"/>
                <a:gd name="T52" fmla="*/ 229 w 270"/>
                <a:gd name="T53" fmla="*/ 1016 h 468"/>
                <a:gd name="T54" fmla="*/ 147 w 270"/>
                <a:gd name="T55" fmla="*/ 1103 h 468"/>
                <a:gd name="T56" fmla="*/ 49 w 270"/>
                <a:gd name="T57" fmla="*/ 1264 h 468"/>
                <a:gd name="T58" fmla="*/ 0 w 270"/>
                <a:gd name="T59" fmla="*/ 1496 h 468"/>
                <a:gd name="T60" fmla="*/ 0 w 270"/>
                <a:gd name="T61" fmla="*/ 1798 h 468"/>
                <a:gd name="T62" fmla="*/ 82 w 270"/>
                <a:gd name="T63" fmla="*/ 2119 h 468"/>
                <a:gd name="T64" fmla="*/ 212 w 270"/>
                <a:gd name="T65" fmla="*/ 2475 h 468"/>
                <a:gd name="T66" fmla="*/ 310 w 270"/>
                <a:gd name="T67" fmla="*/ 2582 h 468"/>
                <a:gd name="T68" fmla="*/ 425 w 270"/>
                <a:gd name="T69" fmla="*/ 2653 h 468"/>
                <a:gd name="T70" fmla="*/ 572 w 270"/>
                <a:gd name="T71" fmla="*/ 2777 h 468"/>
                <a:gd name="T72" fmla="*/ 604 w 270"/>
                <a:gd name="T73" fmla="*/ 2616 h 468"/>
                <a:gd name="T74" fmla="*/ 523 w 270"/>
                <a:gd name="T75" fmla="*/ 2421 h 46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70" h="468">
                  <a:moveTo>
                    <a:pt x="96" y="408"/>
                  </a:moveTo>
                  <a:lnTo>
                    <a:pt x="75" y="378"/>
                  </a:lnTo>
                  <a:lnTo>
                    <a:pt x="54" y="342"/>
                  </a:lnTo>
                  <a:lnTo>
                    <a:pt x="45" y="303"/>
                  </a:lnTo>
                  <a:lnTo>
                    <a:pt x="51" y="267"/>
                  </a:lnTo>
                  <a:lnTo>
                    <a:pt x="72" y="237"/>
                  </a:lnTo>
                  <a:lnTo>
                    <a:pt x="120" y="219"/>
                  </a:lnTo>
                  <a:lnTo>
                    <a:pt x="147" y="198"/>
                  </a:lnTo>
                  <a:lnTo>
                    <a:pt x="153" y="156"/>
                  </a:lnTo>
                  <a:lnTo>
                    <a:pt x="135" y="123"/>
                  </a:lnTo>
                  <a:lnTo>
                    <a:pt x="123" y="102"/>
                  </a:lnTo>
                  <a:lnTo>
                    <a:pt x="120" y="54"/>
                  </a:lnTo>
                  <a:lnTo>
                    <a:pt x="138" y="36"/>
                  </a:lnTo>
                  <a:lnTo>
                    <a:pt x="168" y="30"/>
                  </a:lnTo>
                  <a:lnTo>
                    <a:pt x="201" y="18"/>
                  </a:lnTo>
                  <a:lnTo>
                    <a:pt x="225" y="15"/>
                  </a:lnTo>
                  <a:lnTo>
                    <a:pt x="270" y="12"/>
                  </a:lnTo>
                  <a:lnTo>
                    <a:pt x="228" y="0"/>
                  </a:lnTo>
                  <a:lnTo>
                    <a:pt x="186" y="0"/>
                  </a:lnTo>
                  <a:lnTo>
                    <a:pt x="153" y="0"/>
                  </a:lnTo>
                  <a:lnTo>
                    <a:pt x="114" y="12"/>
                  </a:lnTo>
                  <a:lnTo>
                    <a:pt x="84" y="36"/>
                  </a:lnTo>
                  <a:lnTo>
                    <a:pt x="75" y="63"/>
                  </a:lnTo>
                  <a:lnTo>
                    <a:pt x="63" y="102"/>
                  </a:lnTo>
                  <a:lnTo>
                    <a:pt x="63" y="132"/>
                  </a:lnTo>
                  <a:lnTo>
                    <a:pt x="72" y="159"/>
                  </a:lnTo>
                  <a:lnTo>
                    <a:pt x="42" y="171"/>
                  </a:lnTo>
                  <a:lnTo>
                    <a:pt x="27" y="186"/>
                  </a:lnTo>
                  <a:lnTo>
                    <a:pt x="9" y="213"/>
                  </a:lnTo>
                  <a:lnTo>
                    <a:pt x="0" y="252"/>
                  </a:lnTo>
                  <a:lnTo>
                    <a:pt x="0" y="303"/>
                  </a:lnTo>
                  <a:lnTo>
                    <a:pt x="15" y="357"/>
                  </a:lnTo>
                  <a:lnTo>
                    <a:pt x="39" y="417"/>
                  </a:lnTo>
                  <a:lnTo>
                    <a:pt x="57" y="435"/>
                  </a:lnTo>
                  <a:lnTo>
                    <a:pt x="78" y="447"/>
                  </a:lnTo>
                  <a:lnTo>
                    <a:pt x="105" y="468"/>
                  </a:lnTo>
                  <a:lnTo>
                    <a:pt x="111" y="441"/>
                  </a:lnTo>
                  <a:lnTo>
                    <a:pt x="96" y="408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0" name="Freeform 42"/>
            <p:cNvSpPr/>
            <p:nvPr/>
          </p:nvSpPr>
          <p:spPr bwMode="auto">
            <a:xfrm>
              <a:off x="2465" y="1230"/>
              <a:ext cx="749" cy="1426"/>
            </a:xfrm>
            <a:custGeom>
              <a:avLst/>
              <a:gdLst>
                <a:gd name="T0" fmla="*/ 1421 w 321"/>
                <a:gd name="T1" fmla="*/ 3476 h 585"/>
                <a:gd name="T2" fmla="*/ 1274 w 321"/>
                <a:gd name="T3" fmla="*/ 3405 h 585"/>
                <a:gd name="T4" fmla="*/ 1094 w 321"/>
                <a:gd name="T5" fmla="*/ 3369 h 585"/>
                <a:gd name="T6" fmla="*/ 996 w 321"/>
                <a:gd name="T7" fmla="*/ 3369 h 585"/>
                <a:gd name="T8" fmla="*/ 1192 w 321"/>
                <a:gd name="T9" fmla="*/ 3281 h 585"/>
                <a:gd name="T10" fmla="*/ 1013 w 321"/>
                <a:gd name="T11" fmla="*/ 3191 h 585"/>
                <a:gd name="T12" fmla="*/ 833 w 321"/>
                <a:gd name="T13" fmla="*/ 3120 h 585"/>
                <a:gd name="T14" fmla="*/ 621 w 321"/>
                <a:gd name="T15" fmla="*/ 3084 h 585"/>
                <a:gd name="T16" fmla="*/ 833 w 321"/>
                <a:gd name="T17" fmla="*/ 3047 h 585"/>
                <a:gd name="T18" fmla="*/ 1062 w 321"/>
                <a:gd name="T19" fmla="*/ 3047 h 585"/>
                <a:gd name="T20" fmla="*/ 751 w 321"/>
                <a:gd name="T21" fmla="*/ 2852 h 585"/>
                <a:gd name="T22" fmla="*/ 506 w 321"/>
                <a:gd name="T23" fmla="*/ 2762 h 585"/>
                <a:gd name="T24" fmla="*/ 359 w 321"/>
                <a:gd name="T25" fmla="*/ 2745 h 585"/>
                <a:gd name="T26" fmla="*/ 604 w 321"/>
                <a:gd name="T27" fmla="*/ 2691 h 585"/>
                <a:gd name="T28" fmla="*/ 866 w 321"/>
                <a:gd name="T29" fmla="*/ 2711 h 585"/>
                <a:gd name="T30" fmla="*/ 996 w 321"/>
                <a:gd name="T31" fmla="*/ 2728 h 585"/>
                <a:gd name="T32" fmla="*/ 768 w 321"/>
                <a:gd name="T33" fmla="*/ 2567 h 585"/>
                <a:gd name="T34" fmla="*/ 506 w 321"/>
                <a:gd name="T35" fmla="*/ 2496 h 585"/>
                <a:gd name="T36" fmla="*/ 196 w 321"/>
                <a:gd name="T37" fmla="*/ 2406 h 585"/>
                <a:gd name="T38" fmla="*/ 588 w 321"/>
                <a:gd name="T39" fmla="*/ 2389 h 585"/>
                <a:gd name="T40" fmla="*/ 817 w 321"/>
                <a:gd name="T41" fmla="*/ 2406 h 585"/>
                <a:gd name="T42" fmla="*/ 588 w 321"/>
                <a:gd name="T43" fmla="*/ 2174 h 585"/>
                <a:gd name="T44" fmla="*/ 180 w 321"/>
                <a:gd name="T45" fmla="*/ 2013 h 585"/>
                <a:gd name="T46" fmla="*/ 0 w 321"/>
                <a:gd name="T47" fmla="*/ 1960 h 585"/>
                <a:gd name="T48" fmla="*/ 588 w 321"/>
                <a:gd name="T49" fmla="*/ 1996 h 585"/>
                <a:gd name="T50" fmla="*/ 686 w 321"/>
                <a:gd name="T51" fmla="*/ 2013 h 585"/>
                <a:gd name="T52" fmla="*/ 555 w 321"/>
                <a:gd name="T53" fmla="*/ 1889 h 585"/>
                <a:gd name="T54" fmla="*/ 327 w 321"/>
                <a:gd name="T55" fmla="*/ 1694 h 585"/>
                <a:gd name="T56" fmla="*/ 604 w 321"/>
                <a:gd name="T57" fmla="*/ 1604 h 585"/>
                <a:gd name="T58" fmla="*/ 506 w 321"/>
                <a:gd name="T59" fmla="*/ 1480 h 585"/>
                <a:gd name="T60" fmla="*/ 278 w 321"/>
                <a:gd name="T61" fmla="*/ 1336 h 585"/>
                <a:gd name="T62" fmla="*/ 392 w 321"/>
                <a:gd name="T63" fmla="*/ 1248 h 585"/>
                <a:gd name="T64" fmla="*/ 245 w 321"/>
                <a:gd name="T65" fmla="*/ 1141 h 585"/>
                <a:gd name="T66" fmla="*/ 49 w 321"/>
                <a:gd name="T67" fmla="*/ 1087 h 585"/>
                <a:gd name="T68" fmla="*/ 261 w 321"/>
                <a:gd name="T69" fmla="*/ 1034 h 585"/>
                <a:gd name="T70" fmla="*/ 114 w 321"/>
                <a:gd name="T71" fmla="*/ 892 h 585"/>
                <a:gd name="T72" fmla="*/ 0 w 321"/>
                <a:gd name="T73" fmla="*/ 873 h 585"/>
                <a:gd name="T74" fmla="*/ 180 w 321"/>
                <a:gd name="T75" fmla="*/ 839 h 585"/>
                <a:gd name="T76" fmla="*/ 327 w 321"/>
                <a:gd name="T77" fmla="*/ 856 h 585"/>
                <a:gd name="T78" fmla="*/ 131 w 321"/>
                <a:gd name="T79" fmla="*/ 624 h 585"/>
                <a:gd name="T80" fmla="*/ 65 w 321"/>
                <a:gd name="T81" fmla="*/ 446 h 585"/>
                <a:gd name="T82" fmla="*/ 212 w 321"/>
                <a:gd name="T83" fmla="*/ 570 h 585"/>
                <a:gd name="T84" fmla="*/ 376 w 321"/>
                <a:gd name="T85" fmla="*/ 587 h 585"/>
                <a:gd name="T86" fmla="*/ 310 w 321"/>
                <a:gd name="T87" fmla="*/ 249 h 585"/>
                <a:gd name="T88" fmla="*/ 294 w 321"/>
                <a:gd name="T89" fmla="*/ 0 h 585"/>
                <a:gd name="T90" fmla="*/ 343 w 321"/>
                <a:gd name="T91" fmla="*/ 161 h 585"/>
                <a:gd name="T92" fmla="*/ 506 w 321"/>
                <a:gd name="T93" fmla="*/ 339 h 585"/>
                <a:gd name="T94" fmla="*/ 490 w 321"/>
                <a:gd name="T95" fmla="*/ 144 h 585"/>
                <a:gd name="T96" fmla="*/ 506 w 321"/>
                <a:gd name="T97" fmla="*/ 37 h 585"/>
                <a:gd name="T98" fmla="*/ 604 w 321"/>
                <a:gd name="T99" fmla="*/ 195 h 585"/>
                <a:gd name="T100" fmla="*/ 735 w 321"/>
                <a:gd name="T101" fmla="*/ 302 h 585"/>
                <a:gd name="T102" fmla="*/ 866 w 321"/>
                <a:gd name="T103" fmla="*/ 54 h 585"/>
                <a:gd name="T104" fmla="*/ 931 w 321"/>
                <a:gd name="T105" fmla="*/ 232 h 585"/>
                <a:gd name="T106" fmla="*/ 1045 w 321"/>
                <a:gd name="T107" fmla="*/ 375 h 585"/>
                <a:gd name="T108" fmla="*/ 1111 w 321"/>
                <a:gd name="T109" fmla="*/ 144 h 585"/>
                <a:gd name="T110" fmla="*/ 1192 w 321"/>
                <a:gd name="T111" fmla="*/ 480 h 585"/>
                <a:gd name="T112" fmla="*/ 1748 w 321"/>
                <a:gd name="T113" fmla="*/ 3030 h 585"/>
                <a:gd name="T114" fmla="*/ 1421 w 321"/>
                <a:gd name="T115" fmla="*/ 3476 h 58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21" h="585">
                  <a:moveTo>
                    <a:pt x="261" y="585"/>
                  </a:moveTo>
                  <a:lnTo>
                    <a:pt x="234" y="573"/>
                  </a:lnTo>
                  <a:lnTo>
                    <a:pt x="201" y="567"/>
                  </a:lnTo>
                  <a:lnTo>
                    <a:pt x="183" y="567"/>
                  </a:lnTo>
                  <a:lnTo>
                    <a:pt x="219" y="552"/>
                  </a:lnTo>
                  <a:lnTo>
                    <a:pt x="186" y="537"/>
                  </a:lnTo>
                  <a:lnTo>
                    <a:pt x="153" y="525"/>
                  </a:lnTo>
                  <a:lnTo>
                    <a:pt x="114" y="519"/>
                  </a:lnTo>
                  <a:lnTo>
                    <a:pt x="153" y="513"/>
                  </a:lnTo>
                  <a:lnTo>
                    <a:pt x="195" y="513"/>
                  </a:lnTo>
                  <a:lnTo>
                    <a:pt x="138" y="480"/>
                  </a:lnTo>
                  <a:lnTo>
                    <a:pt x="93" y="465"/>
                  </a:lnTo>
                  <a:lnTo>
                    <a:pt x="66" y="462"/>
                  </a:lnTo>
                  <a:lnTo>
                    <a:pt x="111" y="453"/>
                  </a:lnTo>
                  <a:lnTo>
                    <a:pt x="159" y="456"/>
                  </a:lnTo>
                  <a:lnTo>
                    <a:pt x="183" y="459"/>
                  </a:lnTo>
                  <a:lnTo>
                    <a:pt x="141" y="432"/>
                  </a:lnTo>
                  <a:lnTo>
                    <a:pt x="93" y="420"/>
                  </a:lnTo>
                  <a:lnTo>
                    <a:pt x="36" y="405"/>
                  </a:lnTo>
                  <a:lnTo>
                    <a:pt x="108" y="402"/>
                  </a:lnTo>
                  <a:lnTo>
                    <a:pt x="150" y="405"/>
                  </a:lnTo>
                  <a:lnTo>
                    <a:pt x="108" y="366"/>
                  </a:lnTo>
                  <a:lnTo>
                    <a:pt x="33" y="339"/>
                  </a:lnTo>
                  <a:lnTo>
                    <a:pt x="0" y="330"/>
                  </a:lnTo>
                  <a:lnTo>
                    <a:pt x="108" y="336"/>
                  </a:lnTo>
                  <a:lnTo>
                    <a:pt x="126" y="339"/>
                  </a:lnTo>
                  <a:lnTo>
                    <a:pt x="102" y="318"/>
                  </a:lnTo>
                  <a:lnTo>
                    <a:pt x="60" y="285"/>
                  </a:lnTo>
                  <a:lnTo>
                    <a:pt x="111" y="270"/>
                  </a:lnTo>
                  <a:lnTo>
                    <a:pt x="93" y="249"/>
                  </a:lnTo>
                  <a:lnTo>
                    <a:pt x="51" y="225"/>
                  </a:lnTo>
                  <a:lnTo>
                    <a:pt x="72" y="210"/>
                  </a:lnTo>
                  <a:lnTo>
                    <a:pt x="45" y="192"/>
                  </a:lnTo>
                  <a:lnTo>
                    <a:pt x="9" y="183"/>
                  </a:lnTo>
                  <a:lnTo>
                    <a:pt x="48" y="174"/>
                  </a:lnTo>
                  <a:lnTo>
                    <a:pt x="21" y="150"/>
                  </a:lnTo>
                  <a:lnTo>
                    <a:pt x="0" y="147"/>
                  </a:lnTo>
                  <a:lnTo>
                    <a:pt x="33" y="141"/>
                  </a:lnTo>
                  <a:lnTo>
                    <a:pt x="60" y="144"/>
                  </a:lnTo>
                  <a:lnTo>
                    <a:pt x="24" y="105"/>
                  </a:lnTo>
                  <a:lnTo>
                    <a:pt x="12" y="75"/>
                  </a:lnTo>
                  <a:lnTo>
                    <a:pt x="39" y="96"/>
                  </a:lnTo>
                  <a:lnTo>
                    <a:pt x="69" y="99"/>
                  </a:lnTo>
                  <a:lnTo>
                    <a:pt x="57" y="42"/>
                  </a:lnTo>
                  <a:lnTo>
                    <a:pt x="54" y="0"/>
                  </a:lnTo>
                  <a:lnTo>
                    <a:pt x="63" y="27"/>
                  </a:lnTo>
                  <a:lnTo>
                    <a:pt x="93" y="57"/>
                  </a:lnTo>
                  <a:lnTo>
                    <a:pt x="90" y="24"/>
                  </a:lnTo>
                  <a:lnTo>
                    <a:pt x="93" y="6"/>
                  </a:lnTo>
                  <a:lnTo>
                    <a:pt x="111" y="33"/>
                  </a:lnTo>
                  <a:lnTo>
                    <a:pt x="135" y="51"/>
                  </a:lnTo>
                  <a:lnTo>
                    <a:pt x="159" y="9"/>
                  </a:lnTo>
                  <a:lnTo>
                    <a:pt x="171" y="39"/>
                  </a:lnTo>
                  <a:lnTo>
                    <a:pt x="192" y="63"/>
                  </a:lnTo>
                  <a:lnTo>
                    <a:pt x="204" y="24"/>
                  </a:lnTo>
                  <a:lnTo>
                    <a:pt x="219" y="81"/>
                  </a:lnTo>
                  <a:lnTo>
                    <a:pt x="321" y="510"/>
                  </a:lnTo>
                  <a:lnTo>
                    <a:pt x="261" y="585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1" name="Freeform 43"/>
            <p:cNvSpPr/>
            <p:nvPr/>
          </p:nvSpPr>
          <p:spPr bwMode="auto">
            <a:xfrm>
              <a:off x="2801" y="1240"/>
              <a:ext cx="1168" cy="833"/>
            </a:xfrm>
            <a:custGeom>
              <a:avLst/>
              <a:gdLst>
                <a:gd name="T0" fmla="*/ 310 w 501"/>
                <a:gd name="T1" fmla="*/ 426 h 342"/>
                <a:gd name="T2" fmla="*/ 16 w 501"/>
                <a:gd name="T3" fmla="*/ 426 h 342"/>
                <a:gd name="T4" fmla="*/ 0 w 501"/>
                <a:gd name="T5" fmla="*/ 1033 h 342"/>
                <a:gd name="T6" fmla="*/ 147 w 501"/>
                <a:gd name="T7" fmla="*/ 1834 h 342"/>
                <a:gd name="T8" fmla="*/ 1368 w 501"/>
                <a:gd name="T9" fmla="*/ 2029 h 342"/>
                <a:gd name="T10" fmla="*/ 2592 w 501"/>
                <a:gd name="T11" fmla="*/ 1815 h 342"/>
                <a:gd name="T12" fmla="*/ 2690 w 501"/>
                <a:gd name="T13" fmla="*/ 1016 h 342"/>
                <a:gd name="T14" fmla="*/ 2723 w 501"/>
                <a:gd name="T15" fmla="*/ 587 h 342"/>
                <a:gd name="T16" fmla="*/ 2609 w 501"/>
                <a:gd name="T17" fmla="*/ 268 h 342"/>
                <a:gd name="T18" fmla="*/ 1956 w 501"/>
                <a:gd name="T19" fmla="*/ 0 h 342"/>
                <a:gd name="T20" fmla="*/ 1355 w 501"/>
                <a:gd name="T21" fmla="*/ 0 h 342"/>
                <a:gd name="T22" fmla="*/ 963 w 501"/>
                <a:gd name="T23" fmla="*/ 195 h 342"/>
                <a:gd name="T24" fmla="*/ 587 w 501"/>
                <a:gd name="T25" fmla="*/ 426 h 342"/>
                <a:gd name="T26" fmla="*/ 310 w 501"/>
                <a:gd name="T27" fmla="*/ 426 h 3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01" h="342">
                  <a:moveTo>
                    <a:pt x="57" y="72"/>
                  </a:moveTo>
                  <a:lnTo>
                    <a:pt x="3" y="72"/>
                  </a:lnTo>
                  <a:lnTo>
                    <a:pt x="0" y="174"/>
                  </a:lnTo>
                  <a:lnTo>
                    <a:pt x="27" y="309"/>
                  </a:lnTo>
                  <a:lnTo>
                    <a:pt x="252" y="342"/>
                  </a:lnTo>
                  <a:lnTo>
                    <a:pt x="477" y="306"/>
                  </a:lnTo>
                  <a:lnTo>
                    <a:pt x="495" y="171"/>
                  </a:lnTo>
                  <a:lnTo>
                    <a:pt x="501" y="99"/>
                  </a:lnTo>
                  <a:lnTo>
                    <a:pt x="480" y="45"/>
                  </a:lnTo>
                  <a:lnTo>
                    <a:pt x="360" y="0"/>
                  </a:lnTo>
                  <a:lnTo>
                    <a:pt x="249" y="0"/>
                  </a:lnTo>
                  <a:lnTo>
                    <a:pt x="177" y="33"/>
                  </a:lnTo>
                  <a:lnTo>
                    <a:pt x="108" y="72"/>
                  </a:lnTo>
                  <a:lnTo>
                    <a:pt x="57" y="72"/>
                  </a:lnTo>
                  <a:close/>
                </a:path>
              </a:pathLst>
            </a:custGeom>
            <a:solidFill>
              <a:srgbClr val="4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2" name="Freeform 44"/>
            <p:cNvSpPr/>
            <p:nvPr/>
          </p:nvSpPr>
          <p:spPr bwMode="auto">
            <a:xfrm>
              <a:off x="2913" y="1810"/>
              <a:ext cx="1063" cy="512"/>
            </a:xfrm>
            <a:custGeom>
              <a:avLst/>
              <a:gdLst>
                <a:gd name="T0" fmla="*/ 310 w 456"/>
                <a:gd name="T1" fmla="*/ 90 h 210"/>
                <a:gd name="T2" fmla="*/ 0 w 456"/>
                <a:gd name="T3" fmla="*/ 322 h 210"/>
                <a:gd name="T4" fmla="*/ 1270 w 456"/>
                <a:gd name="T5" fmla="*/ 1248 h 210"/>
                <a:gd name="T6" fmla="*/ 1597 w 456"/>
                <a:gd name="T7" fmla="*/ 714 h 210"/>
                <a:gd name="T8" fmla="*/ 2168 w 456"/>
                <a:gd name="T9" fmla="*/ 500 h 210"/>
                <a:gd name="T10" fmla="*/ 2478 w 456"/>
                <a:gd name="T11" fmla="*/ 90 h 210"/>
                <a:gd name="T12" fmla="*/ 2184 w 456"/>
                <a:gd name="T13" fmla="*/ 0 h 210"/>
                <a:gd name="T14" fmla="*/ 1532 w 456"/>
                <a:gd name="T15" fmla="*/ 124 h 210"/>
                <a:gd name="T16" fmla="*/ 1159 w 456"/>
                <a:gd name="T17" fmla="*/ 144 h 210"/>
                <a:gd name="T18" fmla="*/ 865 w 456"/>
                <a:gd name="T19" fmla="*/ 54 h 210"/>
                <a:gd name="T20" fmla="*/ 310 w 456"/>
                <a:gd name="T21" fmla="*/ 90 h 2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6" h="210">
                  <a:moveTo>
                    <a:pt x="57" y="15"/>
                  </a:moveTo>
                  <a:lnTo>
                    <a:pt x="0" y="54"/>
                  </a:lnTo>
                  <a:lnTo>
                    <a:pt x="234" y="210"/>
                  </a:lnTo>
                  <a:lnTo>
                    <a:pt x="294" y="120"/>
                  </a:lnTo>
                  <a:lnTo>
                    <a:pt x="399" y="84"/>
                  </a:lnTo>
                  <a:lnTo>
                    <a:pt x="456" y="15"/>
                  </a:lnTo>
                  <a:lnTo>
                    <a:pt x="402" y="0"/>
                  </a:lnTo>
                  <a:lnTo>
                    <a:pt x="282" y="21"/>
                  </a:lnTo>
                  <a:lnTo>
                    <a:pt x="213" y="24"/>
                  </a:lnTo>
                  <a:lnTo>
                    <a:pt x="159" y="9"/>
                  </a:lnTo>
                  <a:lnTo>
                    <a:pt x="57" y="15"/>
                  </a:lnTo>
                  <a:close/>
                </a:path>
              </a:pathLst>
            </a:custGeom>
            <a:solidFill>
              <a:srgbClr val="6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3" name="Freeform 45"/>
            <p:cNvSpPr/>
            <p:nvPr/>
          </p:nvSpPr>
          <p:spPr bwMode="auto">
            <a:xfrm>
              <a:off x="2423" y="2807"/>
              <a:ext cx="1679" cy="502"/>
            </a:xfrm>
            <a:custGeom>
              <a:avLst/>
              <a:gdLst>
                <a:gd name="T0" fmla="*/ 0 w 720"/>
                <a:gd name="T1" fmla="*/ 119 h 206"/>
                <a:gd name="T2" fmla="*/ 522 w 720"/>
                <a:gd name="T3" fmla="*/ 546 h 206"/>
                <a:gd name="T4" fmla="*/ 881 w 720"/>
                <a:gd name="T5" fmla="*/ 831 h 206"/>
                <a:gd name="T6" fmla="*/ 1208 w 720"/>
                <a:gd name="T7" fmla="*/ 1045 h 206"/>
                <a:gd name="T8" fmla="*/ 1469 w 720"/>
                <a:gd name="T9" fmla="*/ 1153 h 206"/>
                <a:gd name="T10" fmla="*/ 1894 w 720"/>
                <a:gd name="T11" fmla="*/ 1223 h 206"/>
                <a:gd name="T12" fmla="*/ 2250 w 720"/>
                <a:gd name="T13" fmla="*/ 1223 h 206"/>
                <a:gd name="T14" fmla="*/ 2609 w 720"/>
                <a:gd name="T15" fmla="*/ 1153 h 206"/>
                <a:gd name="T16" fmla="*/ 2871 w 720"/>
                <a:gd name="T17" fmla="*/ 1082 h 206"/>
                <a:gd name="T18" fmla="*/ 3164 w 720"/>
                <a:gd name="T19" fmla="*/ 902 h 206"/>
                <a:gd name="T20" fmla="*/ 3491 w 720"/>
                <a:gd name="T21" fmla="*/ 743 h 206"/>
                <a:gd name="T22" fmla="*/ 3768 w 720"/>
                <a:gd name="T23" fmla="*/ 504 h 206"/>
                <a:gd name="T24" fmla="*/ 3915 w 720"/>
                <a:gd name="T25" fmla="*/ 356 h 206"/>
                <a:gd name="T26" fmla="*/ 2903 w 720"/>
                <a:gd name="T27" fmla="*/ 0 h 206"/>
                <a:gd name="T28" fmla="*/ 1730 w 720"/>
                <a:gd name="T29" fmla="*/ 37 h 206"/>
                <a:gd name="T30" fmla="*/ 0 w 720"/>
                <a:gd name="T31" fmla="*/ 119 h 2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0" h="206">
                  <a:moveTo>
                    <a:pt x="0" y="20"/>
                  </a:moveTo>
                  <a:lnTo>
                    <a:pt x="96" y="92"/>
                  </a:lnTo>
                  <a:lnTo>
                    <a:pt x="162" y="140"/>
                  </a:lnTo>
                  <a:lnTo>
                    <a:pt x="222" y="176"/>
                  </a:lnTo>
                  <a:lnTo>
                    <a:pt x="270" y="194"/>
                  </a:lnTo>
                  <a:lnTo>
                    <a:pt x="348" y="206"/>
                  </a:lnTo>
                  <a:lnTo>
                    <a:pt x="414" y="206"/>
                  </a:lnTo>
                  <a:lnTo>
                    <a:pt x="480" y="194"/>
                  </a:lnTo>
                  <a:lnTo>
                    <a:pt x="528" y="182"/>
                  </a:lnTo>
                  <a:lnTo>
                    <a:pt x="582" y="152"/>
                  </a:lnTo>
                  <a:lnTo>
                    <a:pt x="642" y="125"/>
                  </a:lnTo>
                  <a:lnTo>
                    <a:pt x="693" y="85"/>
                  </a:lnTo>
                  <a:lnTo>
                    <a:pt x="720" y="60"/>
                  </a:lnTo>
                  <a:lnTo>
                    <a:pt x="534" y="0"/>
                  </a:lnTo>
                  <a:lnTo>
                    <a:pt x="318" y="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4" name="Freeform 46"/>
            <p:cNvSpPr/>
            <p:nvPr/>
          </p:nvSpPr>
          <p:spPr bwMode="auto">
            <a:xfrm>
              <a:off x="2878" y="2110"/>
              <a:ext cx="664" cy="534"/>
            </a:xfrm>
            <a:custGeom>
              <a:avLst/>
              <a:gdLst>
                <a:gd name="T0" fmla="*/ 0 w 285"/>
                <a:gd name="T1" fmla="*/ 0 h 219"/>
                <a:gd name="T2" fmla="*/ 98 w 285"/>
                <a:gd name="T3" fmla="*/ 422 h 219"/>
                <a:gd name="T4" fmla="*/ 212 w 285"/>
                <a:gd name="T5" fmla="*/ 653 h 219"/>
                <a:gd name="T6" fmla="*/ 375 w 285"/>
                <a:gd name="T7" fmla="*/ 905 h 219"/>
                <a:gd name="T8" fmla="*/ 538 w 285"/>
                <a:gd name="T9" fmla="*/ 1117 h 219"/>
                <a:gd name="T10" fmla="*/ 701 w 285"/>
                <a:gd name="T11" fmla="*/ 1302 h 219"/>
                <a:gd name="T12" fmla="*/ 1547 w 285"/>
                <a:gd name="T13" fmla="*/ 595 h 219"/>
                <a:gd name="T14" fmla="*/ 1058 w 285"/>
                <a:gd name="T15" fmla="*/ 239 h 219"/>
                <a:gd name="T16" fmla="*/ 0 w 285"/>
                <a:gd name="T17" fmla="*/ 0 h 2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5" h="219">
                  <a:moveTo>
                    <a:pt x="0" y="0"/>
                  </a:moveTo>
                  <a:lnTo>
                    <a:pt x="18" y="71"/>
                  </a:lnTo>
                  <a:lnTo>
                    <a:pt x="39" y="110"/>
                  </a:lnTo>
                  <a:lnTo>
                    <a:pt x="69" y="152"/>
                  </a:lnTo>
                  <a:lnTo>
                    <a:pt x="99" y="188"/>
                  </a:lnTo>
                  <a:lnTo>
                    <a:pt x="129" y="219"/>
                  </a:lnTo>
                  <a:lnTo>
                    <a:pt x="285" y="100"/>
                  </a:lnTo>
                  <a:lnTo>
                    <a:pt x="19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CC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5" name="Freeform 47"/>
            <p:cNvSpPr/>
            <p:nvPr/>
          </p:nvSpPr>
          <p:spPr bwMode="auto">
            <a:xfrm>
              <a:off x="3081" y="1578"/>
              <a:ext cx="993" cy="1234"/>
            </a:xfrm>
            <a:custGeom>
              <a:avLst/>
              <a:gdLst>
                <a:gd name="T0" fmla="*/ 65 w 426"/>
                <a:gd name="T1" fmla="*/ 2961 h 506"/>
                <a:gd name="T2" fmla="*/ 0 w 426"/>
                <a:gd name="T3" fmla="*/ 2605 h 506"/>
                <a:gd name="T4" fmla="*/ 196 w 426"/>
                <a:gd name="T5" fmla="*/ 2249 h 506"/>
                <a:gd name="T6" fmla="*/ 620 w 426"/>
                <a:gd name="T7" fmla="*/ 1892 h 506"/>
                <a:gd name="T8" fmla="*/ 979 w 426"/>
                <a:gd name="T9" fmla="*/ 1605 h 506"/>
                <a:gd name="T10" fmla="*/ 1142 w 426"/>
                <a:gd name="T11" fmla="*/ 1249 h 506"/>
                <a:gd name="T12" fmla="*/ 1434 w 426"/>
                <a:gd name="T13" fmla="*/ 1141 h 506"/>
                <a:gd name="T14" fmla="*/ 1760 w 426"/>
                <a:gd name="T15" fmla="*/ 1071 h 506"/>
                <a:gd name="T16" fmla="*/ 1890 w 426"/>
                <a:gd name="T17" fmla="*/ 785 h 506"/>
                <a:gd name="T18" fmla="*/ 2054 w 426"/>
                <a:gd name="T19" fmla="*/ 393 h 506"/>
                <a:gd name="T20" fmla="*/ 2152 w 426"/>
                <a:gd name="T21" fmla="*/ 71 h 506"/>
                <a:gd name="T22" fmla="*/ 2249 w 426"/>
                <a:gd name="T23" fmla="*/ 0 h 506"/>
                <a:gd name="T24" fmla="*/ 2315 w 426"/>
                <a:gd name="T25" fmla="*/ 476 h 506"/>
                <a:gd name="T26" fmla="*/ 2315 w 426"/>
                <a:gd name="T27" fmla="*/ 885 h 506"/>
                <a:gd name="T28" fmla="*/ 2315 w 426"/>
                <a:gd name="T29" fmla="*/ 1171 h 506"/>
                <a:gd name="T30" fmla="*/ 2282 w 426"/>
                <a:gd name="T31" fmla="*/ 1475 h 506"/>
                <a:gd name="T32" fmla="*/ 2233 w 426"/>
                <a:gd name="T33" fmla="*/ 1761 h 506"/>
                <a:gd name="T34" fmla="*/ 2119 w 426"/>
                <a:gd name="T35" fmla="*/ 2083 h 506"/>
                <a:gd name="T36" fmla="*/ 2005 w 426"/>
                <a:gd name="T37" fmla="*/ 2331 h 506"/>
                <a:gd name="T38" fmla="*/ 1841 w 426"/>
                <a:gd name="T39" fmla="*/ 2600 h 506"/>
                <a:gd name="T40" fmla="*/ 1548 w 426"/>
                <a:gd name="T41" fmla="*/ 3009 h 506"/>
                <a:gd name="T42" fmla="*/ 979 w 426"/>
                <a:gd name="T43" fmla="*/ 2926 h 506"/>
                <a:gd name="T44" fmla="*/ 65 w 426"/>
                <a:gd name="T45" fmla="*/ 2961 h 5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26" h="506">
                  <a:moveTo>
                    <a:pt x="12" y="498"/>
                  </a:moveTo>
                  <a:lnTo>
                    <a:pt x="0" y="438"/>
                  </a:lnTo>
                  <a:lnTo>
                    <a:pt x="36" y="378"/>
                  </a:lnTo>
                  <a:lnTo>
                    <a:pt x="114" y="318"/>
                  </a:lnTo>
                  <a:lnTo>
                    <a:pt x="180" y="270"/>
                  </a:lnTo>
                  <a:lnTo>
                    <a:pt x="210" y="210"/>
                  </a:lnTo>
                  <a:lnTo>
                    <a:pt x="264" y="192"/>
                  </a:lnTo>
                  <a:lnTo>
                    <a:pt x="324" y="180"/>
                  </a:lnTo>
                  <a:lnTo>
                    <a:pt x="348" y="132"/>
                  </a:lnTo>
                  <a:lnTo>
                    <a:pt x="378" y="66"/>
                  </a:lnTo>
                  <a:lnTo>
                    <a:pt x="396" y="12"/>
                  </a:lnTo>
                  <a:lnTo>
                    <a:pt x="414" y="0"/>
                  </a:lnTo>
                  <a:lnTo>
                    <a:pt x="426" y="80"/>
                  </a:lnTo>
                  <a:lnTo>
                    <a:pt x="426" y="149"/>
                  </a:lnTo>
                  <a:lnTo>
                    <a:pt x="426" y="197"/>
                  </a:lnTo>
                  <a:lnTo>
                    <a:pt x="420" y="248"/>
                  </a:lnTo>
                  <a:lnTo>
                    <a:pt x="411" y="296"/>
                  </a:lnTo>
                  <a:lnTo>
                    <a:pt x="390" y="350"/>
                  </a:lnTo>
                  <a:lnTo>
                    <a:pt x="369" y="392"/>
                  </a:lnTo>
                  <a:lnTo>
                    <a:pt x="339" y="437"/>
                  </a:lnTo>
                  <a:lnTo>
                    <a:pt x="285" y="506"/>
                  </a:lnTo>
                  <a:lnTo>
                    <a:pt x="180" y="492"/>
                  </a:lnTo>
                  <a:lnTo>
                    <a:pt x="12" y="498"/>
                  </a:lnTo>
                  <a:close/>
                </a:path>
              </a:pathLst>
            </a:custGeom>
            <a:gradFill rotWithShape="0">
              <a:gsLst>
                <a:gs pos="0">
                  <a:srgbClr val="762F76"/>
                </a:gs>
                <a:gs pos="50000">
                  <a:srgbClr val="FF66FF"/>
                </a:gs>
                <a:gs pos="100000">
                  <a:srgbClr val="762F76"/>
                </a:gs>
              </a:gsLst>
              <a:lin ang="540000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6" name="Freeform 48"/>
            <p:cNvSpPr/>
            <p:nvPr/>
          </p:nvSpPr>
          <p:spPr bwMode="auto">
            <a:xfrm>
              <a:off x="1779" y="2471"/>
              <a:ext cx="2344" cy="585"/>
            </a:xfrm>
            <a:custGeom>
              <a:avLst/>
              <a:gdLst>
                <a:gd name="T0" fmla="*/ 980 w 1005"/>
                <a:gd name="T1" fmla="*/ 178 h 240"/>
                <a:gd name="T2" fmla="*/ 1094 w 1005"/>
                <a:gd name="T3" fmla="*/ 344 h 240"/>
                <a:gd name="T4" fmla="*/ 1339 w 1005"/>
                <a:gd name="T5" fmla="*/ 463 h 240"/>
                <a:gd name="T6" fmla="*/ 1567 w 1005"/>
                <a:gd name="T7" fmla="*/ 488 h 240"/>
                <a:gd name="T8" fmla="*/ 1763 w 1005"/>
                <a:gd name="T9" fmla="*/ 463 h 240"/>
                <a:gd name="T10" fmla="*/ 2188 w 1005"/>
                <a:gd name="T11" fmla="*/ 534 h 240"/>
                <a:gd name="T12" fmla="*/ 2580 w 1005"/>
                <a:gd name="T13" fmla="*/ 748 h 240"/>
                <a:gd name="T14" fmla="*/ 2904 w 1005"/>
                <a:gd name="T15" fmla="*/ 773 h 240"/>
                <a:gd name="T16" fmla="*/ 3100 w 1005"/>
                <a:gd name="T17" fmla="*/ 714 h 240"/>
                <a:gd name="T18" fmla="*/ 3361 w 1005"/>
                <a:gd name="T19" fmla="*/ 665 h 240"/>
                <a:gd name="T20" fmla="*/ 3622 w 1005"/>
                <a:gd name="T21" fmla="*/ 641 h 240"/>
                <a:gd name="T22" fmla="*/ 3851 w 1005"/>
                <a:gd name="T23" fmla="*/ 629 h 240"/>
                <a:gd name="T24" fmla="*/ 4047 w 1005"/>
                <a:gd name="T25" fmla="*/ 641 h 240"/>
                <a:gd name="T26" fmla="*/ 4406 w 1005"/>
                <a:gd name="T27" fmla="*/ 641 h 240"/>
                <a:gd name="T28" fmla="*/ 4830 w 1005"/>
                <a:gd name="T29" fmla="*/ 785 h 240"/>
                <a:gd name="T30" fmla="*/ 5157 w 1005"/>
                <a:gd name="T31" fmla="*/ 1034 h 240"/>
                <a:gd name="T32" fmla="*/ 5467 w 1005"/>
                <a:gd name="T33" fmla="*/ 1165 h 240"/>
                <a:gd name="T34" fmla="*/ 5271 w 1005"/>
                <a:gd name="T35" fmla="*/ 1326 h 240"/>
                <a:gd name="T36" fmla="*/ 5173 w 1005"/>
                <a:gd name="T37" fmla="*/ 1253 h 240"/>
                <a:gd name="T38" fmla="*/ 4863 w 1005"/>
                <a:gd name="T39" fmla="*/ 1177 h 240"/>
                <a:gd name="T40" fmla="*/ 4340 w 1005"/>
                <a:gd name="T41" fmla="*/ 1104 h 240"/>
                <a:gd name="T42" fmla="*/ 4275 w 1005"/>
                <a:gd name="T43" fmla="*/ 926 h 240"/>
                <a:gd name="T44" fmla="*/ 4177 w 1005"/>
                <a:gd name="T45" fmla="*/ 926 h 240"/>
                <a:gd name="T46" fmla="*/ 4014 w 1005"/>
                <a:gd name="T47" fmla="*/ 1177 h 240"/>
                <a:gd name="T48" fmla="*/ 3720 w 1005"/>
                <a:gd name="T49" fmla="*/ 1248 h 240"/>
                <a:gd name="T50" fmla="*/ 3492 w 1005"/>
                <a:gd name="T51" fmla="*/ 1260 h 240"/>
                <a:gd name="T52" fmla="*/ 3132 w 1005"/>
                <a:gd name="T53" fmla="*/ 1331 h 240"/>
                <a:gd name="T54" fmla="*/ 2871 w 1005"/>
                <a:gd name="T55" fmla="*/ 1426 h 240"/>
                <a:gd name="T56" fmla="*/ 2514 w 1005"/>
                <a:gd name="T57" fmla="*/ 1389 h 240"/>
                <a:gd name="T58" fmla="*/ 2302 w 1005"/>
                <a:gd name="T59" fmla="*/ 1224 h 240"/>
                <a:gd name="T60" fmla="*/ 2057 w 1005"/>
                <a:gd name="T61" fmla="*/ 1141 h 240"/>
                <a:gd name="T62" fmla="*/ 1878 w 1005"/>
                <a:gd name="T63" fmla="*/ 1182 h 240"/>
                <a:gd name="T64" fmla="*/ 1698 w 1005"/>
                <a:gd name="T65" fmla="*/ 1177 h 240"/>
                <a:gd name="T66" fmla="*/ 1535 w 1005"/>
                <a:gd name="T67" fmla="*/ 1063 h 240"/>
                <a:gd name="T68" fmla="*/ 1339 w 1005"/>
                <a:gd name="T69" fmla="*/ 892 h 240"/>
                <a:gd name="T70" fmla="*/ 1143 w 1005"/>
                <a:gd name="T71" fmla="*/ 748 h 240"/>
                <a:gd name="T72" fmla="*/ 963 w 1005"/>
                <a:gd name="T73" fmla="*/ 756 h 240"/>
                <a:gd name="T74" fmla="*/ 751 w 1005"/>
                <a:gd name="T75" fmla="*/ 819 h 240"/>
                <a:gd name="T76" fmla="*/ 555 w 1005"/>
                <a:gd name="T77" fmla="*/ 921 h 240"/>
                <a:gd name="T78" fmla="*/ 359 w 1005"/>
                <a:gd name="T79" fmla="*/ 992 h 240"/>
                <a:gd name="T80" fmla="*/ 131 w 1005"/>
                <a:gd name="T81" fmla="*/ 999 h 240"/>
                <a:gd name="T82" fmla="*/ 33 w 1005"/>
                <a:gd name="T83" fmla="*/ 885 h 240"/>
                <a:gd name="T84" fmla="*/ 0 w 1005"/>
                <a:gd name="T85" fmla="*/ 785 h 240"/>
                <a:gd name="T86" fmla="*/ 131 w 1005"/>
                <a:gd name="T87" fmla="*/ 570 h 240"/>
                <a:gd name="T88" fmla="*/ 212 w 1005"/>
                <a:gd name="T89" fmla="*/ 239 h 240"/>
                <a:gd name="T90" fmla="*/ 229 w 1005"/>
                <a:gd name="T91" fmla="*/ 107 h 240"/>
                <a:gd name="T92" fmla="*/ 343 w 1005"/>
                <a:gd name="T93" fmla="*/ 5 h 240"/>
                <a:gd name="T94" fmla="*/ 490 w 1005"/>
                <a:gd name="T95" fmla="*/ 0 h 240"/>
                <a:gd name="T96" fmla="*/ 980 w 1005"/>
                <a:gd name="T97" fmla="*/ 178 h 2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05" h="240">
                  <a:moveTo>
                    <a:pt x="180" y="30"/>
                  </a:moveTo>
                  <a:lnTo>
                    <a:pt x="201" y="58"/>
                  </a:lnTo>
                  <a:lnTo>
                    <a:pt x="246" y="78"/>
                  </a:lnTo>
                  <a:lnTo>
                    <a:pt x="288" y="82"/>
                  </a:lnTo>
                  <a:lnTo>
                    <a:pt x="324" y="78"/>
                  </a:lnTo>
                  <a:lnTo>
                    <a:pt x="402" y="90"/>
                  </a:lnTo>
                  <a:lnTo>
                    <a:pt x="474" y="126"/>
                  </a:lnTo>
                  <a:lnTo>
                    <a:pt x="534" y="130"/>
                  </a:lnTo>
                  <a:lnTo>
                    <a:pt x="570" y="120"/>
                  </a:lnTo>
                  <a:lnTo>
                    <a:pt x="618" y="112"/>
                  </a:lnTo>
                  <a:lnTo>
                    <a:pt x="666" y="108"/>
                  </a:lnTo>
                  <a:lnTo>
                    <a:pt x="708" y="106"/>
                  </a:lnTo>
                  <a:lnTo>
                    <a:pt x="744" y="108"/>
                  </a:lnTo>
                  <a:lnTo>
                    <a:pt x="810" y="108"/>
                  </a:lnTo>
                  <a:lnTo>
                    <a:pt x="888" y="132"/>
                  </a:lnTo>
                  <a:lnTo>
                    <a:pt x="948" y="174"/>
                  </a:lnTo>
                  <a:lnTo>
                    <a:pt x="1005" y="196"/>
                  </a:lnTo>
                  <a:lnTo>
                    <a:pt x="969" y="223"/>
                  </a:lnTo>
                  <a:lnTo>
                    <a:pt x="951" y="211"/>
                  </a:lnTo>
                  <a:lnTo>
                    <a:pt x="894" y="198"/>
                  </a:lnTo>
                  <a:lnTo>
                    <a:pt x="798" y="186"/>
                  </a:lnTo>
                  <a:lnTo>
                    <a:pt x="786" y="156"/>
                  </a:lnTo>
                  <a:lnTo>
                    <a:pt x="768" y="156"/>
                  </a:lnTo>
                  <a:lnTo>
                    <a:pt x="738" y="198"/>
                  </a:lnTo>
                  <a:lnTo>
                    <a:pt x="684" y="210"/>
                  </a:lnTo>
                  <a:lnTo>
                    <a:pt x="642" y="212"/>
                  </a:lnTo>
                  <a:lnTo>
                    <a:pt x="576" y="224"/>
                  </a:lnTo>
                  <a:lnTo>
                    <a:pt x="528" y="240"/>
                  </a:lnTo>
                  <a:lnTo>
                    <a:pt x="462" y="234"/>
                  </a:lnTo>
                  <a:lnTo>
                    <a:pt x="423" y="206"/>
                  </a:lnTo>
                  <a:lnTo>
                    <a:pt x="378" y="192"/>
                  </a:lnTo>
                  <a:lnTo>
                    <a:pt x="345" y="199"/>
                  </a:lnTo>
                  <a:lnTo>
                    <a:pt x="312" y="198"/>
                  </a:lnTo>
                  <a:lnTo>
                    <a:pt x="282" y="179"/>
                  </a:lnTo>
                  <a:lnTo>
                    <a:pt x="246" y="150"/>
                  </a:lnTo>
                  <a:lnTo>
                    <a:pt x="210" y="126"/>
                  </a:lnTo>
                  <a:lnTo>
                    <a:pt x="177" y="127"/>
                  </a:lnTo>
                  <a:lnTo>
                    <a:pt x="138" y="138"/>
                  </a:lnTo>
                  <a:lnTo>
                    <a:pt x="102" y="155"/>
                  </a:lnTo>
                  <a:lnTo>
                    <a:pt x="66" y="167"/>
                  </a:lnTo>
                  <a:lnTo>
                    <a:pt x="24" y="168"/>
                  </a:lnTo>
                  <a:lnTo>
                    <a:pt x="6" y="149"/>
                  </a:lnTo>
                  <a:lnTo>
                    <a:pt x="0" y="132"/>
                  </a:lnTo>
                  <a:lnTo>
                    <a:pt x="24" y="96"/>
                  </a:lnTo>
                  <a:lnTo>
                    <a:pt x="39" y="40"/>
                  </a:lnTo>
                  <a:lnTo>
                    <a:pt x="42" y="18"/>
                  </a:lnTo>
                  <a:lnTo>
                    <a:pt x="63" y="1"/>
                  </a:lnTo>
                  <a:lnTo>
                    <a:pt x="90" y="0"/>
                  </a:lnTo>
                  <a:lnTo>
                    <a:pt x="180" y="3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7" name="Freeform 49"/>
            <p:cNvSpPr/>
            <p:nvPr/>
          </p:nvSpPr>
          <p:spPr bwMode="auto">
            <a:xfrm>
              <a:off x="2591" y="1330"/>
              <a:ext cx="839" cy="955"/>
            </a:xfrm>
            <a:custGeom>
              <a:avLst/>
              <a:gdLst>
                <a:gd name="T0" fmla="*/ 1955 w 360"/>
                <a:gd name="T1" fmla="*/ 2327 h 392"/>
                <a:gd name="T2" fmla="*/ 1906 w 360"/>
                <a:gd name="T3" fmla="*/ 2166 h 392"/>
                <a:gd name="T4" fmla="*/ 1629 w 360"/>
                <a:gd name="T5" fmla="*/ 1959 h 392"/>
                <a:gd name="T6" fmla="*/ 1270 w 360"/>
                <a:gd name="T7" fmla="*/ 1744 h 392"/>
                <a:gd name="T8" fmla="*/ 946 w 360"/>
                <a:gd name="T9" fmla="*/ 1459 h 392"/>
                <a:gd name="T10" fmla="*/ 963 w 360"/>
                <a:gd name="T11" fmla="*/ 1437 h 392"/>
                <a:gd name="T12" fmla="*/ 750 w 360"/>
                <a:gd name="T13" fmla="*/ 1211 h 392"/>
                <a:gd name="T14" fmla="*/ 653 w 360"/>
                <a:gd name="T15" fmla="*/ 938 h 392"/>
                <a:gd name="T16" fmla="*/ 587 w 360"/>
                <a:gd name="T17" fmla="*/ 711 h 392"/>
                <a:gd name="T18" fmla="*/ 587 w 360"/>
                <a:gd name="T19" fmla="*/ 392 h 392"/>
                <a:gd name="T20" fmla="*/ 685 w 360"/>
                <a:gd name="T21" fmla="*/ 285 h 392"/>
                <a:gd name="T22" fmla="*/ 1172 w 360"/>
                <a:gd name="T23" fmla="*/ 356 h 392"/>
                <a:gd name="T24" fmla="*/ 750 w 360"/>
                <a:gd name="T25" fmla="*/ 37 h 392"/>
                <a:gd name="T26" fmla="*/ 392 w 360"/>
                <a:gd name="T27" fmla="*/ 0 h 392"/>
                <a:gd name="T28" fmla="*/ 131 w 360"/>
                <a:gd name="T29" fmla="*/ 107 h 392"/>
                <a:gd name="T30" fmla="*/ 65 w 360"/>
                <a:gd name="T31" fmla="*/ 261 h 392"/>
                <a:gd name="T32" fmla="*/ 0 w 360"/>
                <a:gd name="T33" fmla="*/ 504 h 392"/>
                <a:gd name="T34" fmla="*/ 65 w 360"/>
                <a:gd name="T35" fmla="*/ 743 h 392"/>
                <a:gd name="T36" fmla="*/ 245 w 360"/>
                <a:gd name="T37" fmla="*/ 931 h 392"/>
                <a:gd name="T38" fmla="*/ 392 w 360"/>
                <a:gd name="T39" fmla="*/ 1070 h 392"/>
                <a:gd name="T40" fmla="*/ 457 w 360"/>
                <a:gd name="T41" fmla="*/ 1425 h 392"/>
                <a:gd name="T42" fmla="*/ 457 w 360"/>
                <a:gd name="T43" fmla="*/ 1649 h 392"/>
                <a:gd name="T44" fmla="*/ 555 w 360"/>
                <a:gd name="T45" fmla="*/ 1934 h 392"/>
                <a:gd name="T46" fmla="*/ 750 w 360"/>
                <a:gd name="T47" fmla="*/ 2173 h 392"/>
                <a:gd name="T48" fmla="*/ 1009 w 360"/>
                <a:gd name="T49" fmla="*/ 2244 h 392"/>
                <a:gd name="T50" fmla="*/ 1335 w 360"/>
                <a:gd name="T51" fmla="*/ 2207 h 392"/>
                <a:gd name="T52" fmla="*/ 1629 w 360"/>
                <a:gd name="T53" fmla="*/ 2244 h 392"/>
                <a:gd name="T54" fmla="*/ 1955 w 360"/>
                <a:gd name="T55" fmla="*/ 2327 h 39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60" h="392">
                  <a:moveTo>
                    <a:pt x="360" y="392"/>
                  </a:moveTo>
                  <a:lnTo>
                    <a:pt x="351" y="365"/>
                  </a:lnTo>
                  <a:lnTo>
                    <a:pt x="300" y="330"/>
                  </a:lnTo>
                  <a:lnTo>
                    <a:pt x="234" y="294"/>
                  </a:lnTo>
                  <a:lnTo>
                    <a:pt x="174" y="246"/>
                  </a:lnTo>
                  <a:lnTo>
                    <a:pt x="177" y="242"/>
                  </a:lnTo>
                  <a:lnTo>
                    <a:pt x="138" y="204"/>
                  </a:lnTo>
                  <a:lnTo>
                    <a:pt x="120" y="158"/>
                  </a:lnTo>
                  <a:lnTo>
                    <a:pt x="108" y="120"/>
                  </a:lnTo>
                  <a:lnTo>
                    <a:pt x="108" y="66"/>
                  </a:lnTo>
                  <a:lnTo>
                    <a:pt x="126" y="48"/>
                  </a:lnTo>
                  <a:lnTo>
                    <a:pt x="216" y="60"/>
                  </a:lnTo>
                  <a:lnTo>
                    <a:pt x="138" y="6"/>
                  </a:lnTo>
                  <a:lnTo>
                    <a:pt x="72" y="0"/>
                  </a:lnTo>
                  <a:lnTo>
                    <a:pt x="24" y="18"/>
                  </a:lnTo>
                  <a:lnTo>
                    <a:pt x="12" y="44"/>
                  </a:lnTo>
                  <a:lnTo>
                    <a:pt x="0" y="85"/>
                  </a:lnTo>
                  <a:lnTo>
                    <a:pt x="12" y="125"/>
                  </a:lnTo>
                  <a:lnTo>
                    <a:pt x="45" y="157"/>
                  </a:lnTo>
                  <a:lnTo>
                    <a:pt x="72" y="180"/>
                  </a:lnTo>
                  <a:lnTo>
                    <a:pt x="84" y="240"/>
                  </a:lnTo>
                  <a:lnTo>
                    <a:pt x="84" y="278"/>
                  </a:lnTo>
                  <a:lnTo>
                    <a:pt x="102" y="326"/>
                  </a:lnTo>
                  <a:lnTo>
                    <a:pt x="138" y="366"/>
                  </a:lnTo>
                  <a:lnTo>
                    <a:pt x="186" y="378"/>
                  </a:lnTo>
                  <a:lnTo>
                    <a:pt x="246" y="372"/>
                  </a:lnTo>
                  <a:lnTo>
                    <a:pt x="300" y="378"/>
                  </a:lnTo>
                  <a:lnTo>
                    <a:pt x="360" y="392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8" name="Freeform 50"/>
            <p:cNvSpPr/>
            <p:nvPr/>
          </p:nvSpPr>
          <p:spPr bwMode="auto">
            <a:xfrm>
              <a:off x="3095" y="1569"/>
              <a:ext cx="944" cy="1060"/>
            </a:xfrm>
            <a:custGeom>
              <a:avLst/>
              <a:gdLst>
                <a:gd name="T0" fmla="*/ 0 w 405"/>
                <a:gd name="T1" fmla="*/ 2583 h 435"/>
                <a:gd name="T2" fmla="*/ 196 w 405"/>
                <a:gd name="T3" fmla="*/ 2369 h 435"/>
                <a:gd name="T4" fmla="*/ 457 w 405"/>
                <a:gd name="T5" fmla="*/ 2261 h 435"/>
                <a:gd name="T6" fmla="*/ 767 w 405"/>
                <a:gd name="T7" fmla="*/ 2137 h 435"/>
                <a:gd name="T8" fmla="*/ 832 w 405"/>
                <a:gd name="T9" fmla="*/ 2013 h 435"/>
                <a:gd name="T10" fmla="*/ 832 w 405"/>
                <a:gd name="T11" fmla="*/ 1942 h 435"/>
                <a:gd name="T12" fmla="*/ 914 w 405"/>
                <a:gd name="T13" fmla="*/ 1835 h 435"/>
                <a:gd name="T14" fmla="*/ 1156 w 405"/>
                <a:gd name="T15" fmla="*/ 1691 h 435"/>
                <a:gd name="T16" fmla="*/ 1189 w 405"/>
                <a:gd name="T17" fmla="*/ 1533 h 435"/>
                <a:gd name="T18" fmla="*/ 1205 w 405"/>
                <a:gd name="T19" fmla="*/ 1372 h 435"/>
                <a:gd name="T20" fmla="*/ 1319 w 405"/>
                <a:gd name="T21" fmla="*/ 1355 h 435"/>
                <a:gd name="T22" fmla="*/ 1597 w 405"/>
                <a:gd name="T23" fmla="*/ 1335 h 435"/>
                <a:gd name="T24" fmla="*/ 1776 w 405"/>
                <a:gd name="T25" fmla="*/ 1248 h 435"/>
                <a:gd name="T26" fmla="*/ 1809 w 405"/>
                <a:gd name="T27" fmla="*/ 1087 h 435"/>
                <a:gd name="T28" fmla="*/ 2005 w 405"/>
                <a:gd name="T29" fmla="*/ 963 h 435"/>
                <a:gd name="T30" fmla="*/ 2102 w 405"/>
                <a:gd name="T31" fmla="*/ 785 h 435"/>
                <a:gd name="T32" fmla="*/ 2168 w 405"/>
                <a:gd name="T33" fmla="*/ 553 h 435"/>
                <a:gd name="T34" fmla="*/ 2184 w 405"/>
                <a:gd name="T35" fmla="*/ 446 h 435"/>
                <a:gd name="T36" fmla="*/ 2200 w 405"/>
                <a:gd name="T37" fmla="*/ 0 h 435"/>
                <a:gd name="T38" fmla="*/ 2037 w 405"/>
                <a:gd name="T39" fmla="*/ 195 h 435"/>
                <a:gd name="T40" fmla="*/ 2021 w 405"/>
                <a:gd name="T41" fmla="*/ 392 h 435"/>
                <a:gd name="T42" fmla="*/ 1939 w 405"/>
                <a:gd name="T43" fmla="*/ 607 h 435"/>
                <a:gd name="T44" fmla="*/ 1841 w 405"/>
                <a:gd name="T45" fmla="*/ 765 h 435"/>
                <a:gd name="T46" fmla="*/ 1743 w 405"/>
                <a:gd name="T47" fmla="*/ 943 h 435"/>
                <a:gd name="T48" fmla="*/ 1678 w 405"/>
                <a:gd name="T49" fmla="*/ 1016 h 435"/>
                <a:gd name="T50" fmla="*/ 1548 w 405"/>
                <a:gd name="T51" fmla="*/ 1050 h 435"/>
                <a:gd name="T52" fmla="*/ 1319 w 405"/>
                <a:gd name="T53" fmla="*/ 1123 h 435"/>
                <a:gd name="T54" fmla="*/ 1077 w 405"/>
                <a:gd name="T55" fmla="*/ 1194 h 435"/>
                <a:gd name="T56" fmla="*/ 979 w 405"/>
                <a:gd name="T57" fmla="*/ 1335 h 435"/>
                <a:gd name="T58" fmla="*/ 963 w 405"/>
                <a:gd name="T59" fmla="*/ 1426 h 435"/>
                <a:gd name="T60" fmla="*/ 897 w 405"/>
                <a:gd name="T61" fmla="*/ 1620 h 435"/>
                <a:gd name="T62" fmla="*/ 669 w 405"/>
                <a:gd name="T63" fmla="*/ 1764 h 435"/>
                <a:gd name="T64" fmla="*/ 522 w 405"/>
                <a:gd name="T65" fmla="*/ 1852 h 435"/>
                <a:gd name="T66" fmla="*/ 375 w 405"/>
                <a:gd name="T67" fmla="*/ 1976 h 435"/>
                <a:gd name="T68" fmla="*/ 163 w 405"/>
                <a:gd name="T69" fmla="*/ 2157 h 435"/>
                <a:gd name="T70" fmla="*/ 65 w 405"/>
                <a:gd name="T71" fmla="*/ 2298 h 435"/>
                <a:gd name="T72" fmla="*/ 0 w 405"/>
                <a:gd name="T73" fmla="*/ 2583 h 43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05" h="435">
                  <a:moveTo>
                    <a:pt x="0" y="435"/>
                  </a:moveTo>
                  <a:lnTo>
                    <a:pt x="36" y="399"/>
                  </a:lnTo>
                  <a:lnTo>
                    <a:pt x="84" y="381"/>
                  </a:lnTo>
                  <a:lnTo>
                    <a:pt x="141" y="360"/>
                  </a:lnTo>
                  <a:lnTo>
                    <a:pt x="153" y="339"/>
                  </a:lnTo>
                  <a:lnTo>
                    <a:pt x="153" y="327"/>
                  </a:lnTo>
                  <a:lnTo>
                    <a:pt x="168" y="309"/>
                  </a:lnTo>
                  <a:lnTo>
                    <a:pt x="213" y="285"/>
                  </a:lnTo>
                  <a:lnTo>
                    <a:pt x="219" y="258"/>
                  </a:lnTo>
                  <a:lnTo>
                    <a:pt x="222" y="231"/>
                  </a:lnTo>
                  <a:lnTo>
                    <a:pt x="243" y="228"/>
                  </a:lnTo>
                  <a:lnTo>
                    <a:pt x="294" y="225"/>
                  </a:lnTo>
                  <a:lnTo>
                    <a:pt x="327" y="210"/>
                  </a:lnTo>
                  <a:lnTo>
                    <a:pt x="333" y="183"/>
                  </a:lnTo>
                  <a:lnTo>
                    <a:pt x="369" y="162"/>
                  </a:lnTo>
                  <a:lnTo>
                    <a:pt x="387" y="132"/>
                  </a:lnTo>
                  <a:lnTo>
                    <a:pt x="399" y="93"/>
                  </a:lnTo>
                  <a:lnTo>
                    <a:pt x="402" y="75"/>
                  </a:lnTo>
                  <a:lnTo>
                    <a:pt x="405" y="0"/>
                  </a:lnTo>
                  <a:lnTo>
                    <a:pt x="375" y="33"/>
                  </a:lnTo>
                  <a:lnTo>
                    <a:pt x="372" y="66"/>
                  </a:lnTo>
                  <a:lnTo>
                    <a:pt x="357" y="102"/>
                  </a:lnTo>
                  <a:lnTo>
                    <a:pt x="339" y="129"/>
                  </a:lnTo>
                  <a:lnTo>
                    <a:pt x="321" y="159"/>
                  </a:lnTo>
                  <a:lnTo>
                    <a:pt x="309" y="171"/>
                  </a:lnTo>
                  <a:lnTo>
                    <a:pt x="285" y="177"/>
                  </a:lnTo>
                  <a:lnTo>
                    <a:pt x="243" y="189"/>
                  </a:lnTo>
                  <a:lnTo>
                    <a:pt x="198" y="201"/>
                  </a:lnTo>
                  <a:lnTo>
                    <a:pt x="180" y="225"/>
                  </a:lnTo>
                  <a:lnTo>
                    <a:pt x="177" y="240"/>
                  </a:lnTo>
                  <a:lnTo>
                    <a:pt x="165" y="273"/>
                  </a:lnTo>
                  <a:lnTo>
                    <a:pt x="123" y="297"/>
                  </a:lnTo>
                  <a:lnTo>
                    <a:pt x="96" y="312"/>
                  </a:lnTo>
                  <a:lnTo>
                    <a:pt x="69" y="333"/>
                  </a:lnTo>
                  <a:lnTo>
                    <a:pt x="30" y="363"/>
                  </a:lnTo>
                  <a:lnTo>
                    <a:pt x="12" y="387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9" name="Freeform 51"/>
            <p:cNvSpPr/>
            <p:nvPr/>
          </p:nvSpPr>
          <p:spPr bwMode="auto">
            <a:xfrm>
              <a:off x="2976" y="1203"/>
              <a:ext cx="1077" cy="717"/>
            </a:xfrm>
            <a:custGeom>
              <a:avLst/>
              <a:gdLst>
                <a:gd name="T0" fmla="*/ 0 w 462"/>
                <a:gd name="T1" fmla="*/ 1658 h 294"/>
                <a:gd name="T2" fmla="*/ 114 w 462"/>
                <a:gd name="T3" fmla="*/ 1480 h 294"/>
                <a:gd name="T4" fmla="*/ 359 w 462"/>
                <a:gd name="T5" fmla="*/ 1427 h 294"/>
                <a:gd name="T6" fmla="*/ 669 w 462"/>
                <a:gd name="T7" fmla="*/ 1463 h 294"/>
                <a:gd name="T8" fmla="*/ 979 w 462"/>
                <a:gd name="T9" fmla="*/ 1534 h 294"/>
                <a:gd name="T10" fmla="*/ 1368 w 462"/>
                <a:gd name="T11" fmla="*/ 1517 h 294"/>
                <a:gd name="T12" fmla="*/ 1988 w 462"/>
                <a:gd name="T13" fmla="*/ 1393 h 294"/>
                <a:gd name="T14" fmla="*/ 2135 w 462"/>
                <a:gd name="T15" fmla="*/ 1215 h 294"/>
                <a:gd name="T16" fmla="*/ 2217 w 462"/>
                <a:gd name="T17" fmla="*/ 963 h 294"/>
                <a:gd name="T18" fmla="*/ 2217 w 462"/>
                <a:gd name="T19" fmla="*/ 588 h 294"/>
                <a:gd name="T20" fmla="*/ 2103 w 462"/>
                <a:gd name="T21" fmla="*/ 429 h 294"/>
                <a:gd name="T22" fmla="*/ 1858 w 462"/>
                <a:gd name="T23" fmla="*/ 339 h 294"/>
                <a:gd name="T24" fmla="*/ 1695 w 462"/>
                <a:gd name="T25" fmla="*/ 215 h 294"/>
                <a:gd name="T26" fmla="*/ 1564 w 462"/>
                <a:gd name="T27" fmla="*/ 0 h 294"/>
                <a:gd name="T28" fmla="*/ 1809 w 462"/>
                <a:gd name="T29" fmla="*/ 144 h 294"/>
                <a:gd name="T30" fmla="*/ 2135 w 462"/>
                <a:gd name="T31" fmla="*/ 232 h 294"/>
                <a:gd name="T32" fmla="*/ 2364 w 462"/>
                <a:gd name="T33" fmla="*/ 410 h 294"/>
                <a:gd name="T34" fmla="*/ 2494 w 462"/>
                <a:gd name="T35" fmla="*/ 534 h 294"/>
                <a:gd name="T36" fmla="*/ 2511 w 462"/>
                <a:gd name="T37" fmla="*/ 695 h 294"/>
                <a:gd name="T38" fmla="*/ 2478 w 462"/>
                <a:gd name="T39" fmla="*/ 893 h 294"/>
                <a:gd name="T40" fmla="*/ 2347 w 462"/>
                <a:gd name="T41" fmla="*/ 1071 h 294"/>
                <a:gd name="T42" fmla="*/ 2282 w 462"/>
                <a:gd name="T43" fmla="*/ 1161 h 294"/>
                <a:gd name="T44" fmla="*/ 2266 w 462"/>
                <a:gd name="T45" fmla="*/ 1319 h 294"/>
                <a:gd name="T46" fmla="*/ 2103 w 462"/>
                <a:gd name="T47" fmla="*/ 1605 h 294"/>
                <a:gd name="T48" fmla="*/ 1809 w 462"/>
                <a:gd name="T49" fmla="*/ 1678 h 294"/>
                <a:gd name="T50" fmla="*/ 1662 w 462"/>
                <a:gd name="T51" fmla="*/ 1624 h 294"/>
                <a:gd name="T52" fmla="*/ 1466 w 462"/>
                <a:gd name="T53" fmla="*/ 1658 h 294"/>
                <a:gd name="T54" fmla="*/ 1336 w 462"/>
                <a:gd name="T55" fmla="*/ 1749 h 294"/>
                <a:gd name="T56" fmla="*/ 1110 w 462"/>
                <a:gd name="T57" fmla="*/ 1749 h 294"/>
                <a:gd name="T58" fmla="*/ 914 w 462"/>
                <a:gd name="T59" fmla="*/ 1658 h 294"/>
                <a:gd name="T60" fmla="*/ 718 w 462"/>
                <a:gd name="T61" fmla="*/ 1588 h 294"/>
                <a:gd name="T62" fmla="*/ 587 w 462"/>
                <a:gd name="T63" fmla="*/ 1641 h 294"/>
                <a:gd name="T64" fmla="*/ 310 w 462"/>
                <a:gd name="T65" fmla="*/ 1658 h 294"/>
                <a:gd name="T66" fmla="*/ 131 w 462"/>
                <a:gd name="T67" fmla="*/ 1678 h 294"/>
                <a:gd name="T68" fmla="*/ 0 w 462"/>
                <a:gd name="T69" fmla="*/ 1658 h 29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62" h="294">
                  <a:moveTo>
                    <a:pt x="0" y="279"/>
                  </a:moveTo>
                  <a:lnTo>
                    <a:pt x="21" y="249"/>
                  </a:lnTo>
                  <a:lnTo>
                    <a:pt x="66" y="240"/>
                  </a:lnTo>
                  <a:lnTo>
                    <a:pt x="123" y="246"/>
                  </a:lnTo>
                  <a:lnTo>
                    <a:pt x="180" y="258"/>
                  </a:lnTo>
                  <a:lnTo>
                    <a:pt x="252" y="255"/>
                  </a:lnTo>
                  <a:lnTo>
                    <a:pt x="366" y="234"/>
                  </a:lnTo>
                  <a:lnTo>
                    <a:pt x="393" y="204"/>
                  </a:lnTo>
                  <a:lnTo>
                    <a:pt x="408" y="162"/>
                  </a:lnTo>
                  <a:lnTo>
                    <a:pt x="408" y="99"/>
                  </a:lnTo>
                  <a:lnTo>
                    <a:pt x="387" y="72"/>
                  </a:lnTo>
                  <a:lnTo>
                    <a:pt x="342" y="57"/>
                  </a:lnTo>
                  <a:lnTo>
                    <a:pt x="312" y="36"/>
                  </a:lnTo>
                  <a:lnTo>
                    <a:pt x="288" y="0"/>
                  </a:lnTo>
                  <a:lnTo>
                    <a:pt x="333" y="24"/>
                  </a:lnTo>
                  <a:lnTo>
                    <a:pt x="393" y="39"/>
                  </a:lnTo>
                  <a:lnTo>
                    <a:pt x="435" y="69"/>
                  </a:lnTo>
                  <a:lnTo>
                    <a:pt x="459" y="90"/>
                  </a:lnTo>
                  <a:lnTo>
                    <a:pt x="462" y="117"/>
                  </a:lnTo>
                  <a:lnTo>
                    <a:pt x="456" y="150"/>
                  </a:lnTo>
                  <a:lnTo>
                    <a:pt x="432" y="180"/>
                  </a:lnTo>
                  <a:lnTo>
                    <a:pt x="420" y="195"/>
                  </a:lnTo>
                  <a:lnTo>
                    <a:pt x="417" y="222"/>
                  </a:lnTo>
                  <a:lnTo>
                    <a:pt x="387" y="270"/>
                  </a:lnTo>
                  <a:lnTo>
                    <a:pt x="333" y="282"/>
                  </a:lnTo>
                  <a:lnTo>
                    <a:pt x="306" y="273"/>
                  </a:lnTo>
                  <a:lnTo>
                    <a:pt x="270" y="279"/>
                  </a:lnTo>
                  <a:lnTo>
                    <a:pt x="246" y="294"/>
                  </a:lnTo>
                  <a:lnTo>
                    <a:pt x="204" y="294"/>
                  </a:lnTo>
                  <a:lnTo>
                    <a:pt x="168" y="279"/>
                  </a:lnTo>
                  <a:lnTo>
                    <a:pt x="132" y="267"/>
                  </a:lnTo>
                  <a:lnTo>
                    <a:pt x="108" y="276"/>
                  </a:lnTo>
                  <a:lnTo>
                    <a:pt x="57" y="279"/>
                  </a:lnTo>
                  <a:lnTo>
                    <a:pt x="24" y="282"/>
                  </a:lnTo>
                  <a:lnTo>
                    <a:pt x="0" y="279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0" name="Freeform 52"/>
            <p:cNvSpPr/>
            <p:nvPr/>
          </p:nvSpPr>
          <p:spPr bwMode="auto">
            <a:xfrm>
              <a:off x="3032" y="1115"/>
              <a:ext cx="692" cy="534"/>
            </a:xfrm>
            <a:custGeom>
              <a:avLst/>
              <a:gdLst>
                <a:gd name="T0" fmla="*/ 1596 w 297"/>
                <a:gd name="T1" fmla="*/ 1302 h 219"/>
                <a:gd name="T2" fmla="*/ 1612 w 297"/>
                <a:gd name="T3" fmla="*/ 714 h 219"/>
                <a:gd name="T4" fmla="*/ 1547 w 297"/>
                <a:gd name="T5" fmla="*/ 215 h 219"/>
                <a:gd name="T6" fmla="*/ 1400 w 297"/>
                <a:gd name="T7" fmla="*/ 37 h 219"/>
                <a:gd name="T8" fmla="*/ 1172 w 297"/>
                <a:gd name="T9" fmla="*/ 0 h 219"/>
                <a:gd name="T10" fmla="*/ 813 w 297"/>
                <a:gd name="T11" fmla="*/ 37 h 219"/>
                <a:gd name="T12" fmla="*/ 538 w 297"/>
                <a:gd name="T13" fmla="*/ 144 h 219"/>
                <a:gd name="T14" fmla="*/ 408 w 297"/>
                <a:gd name="T15" fmla="*/ 302 h 219"/>
                <a:gd name="T16" fmla="*/ 196 w 297"/>
                <a:gd name="T17" fmla="*/ 517 h 219"/>
                <a:gd name="T18" fmla="*/ 33 w 297"/>
                <a:gd name="T19" fmla="*/ 661 h 219"/>
                <a:gd name="T20" fmla="*/ 0 w 297"/>
                <a:gd name="T21" fmla="*/ 732 h 219"/>
                <a:gd name="T22" fmla="*/ 130 w 297"/>
                <a:gd name="T23" fmla="*/ 856 h 219"/>
                <a:gd name="T24" fmla="*/ 408 w 297"/>
                <a:gd name="T25" fmla="*/ 678 h 219"/>
                <a:gd name="T26" fmla="*/ 669 w 297"/>
                <a:gd name="T27" fmla="*/ 517 h 219"/>
                <a:gd name="T28" fmla="*/ 1025 w 297"/>
                <a:gd name="T29" fmla="*/ 483 h 219"/>
                <a:gd name="T30" fmla="*/ 1254 w 297"/>
                <a:gd name="T31" fmla="*/ 534 h 219"/>
                <a:gd name="T32" fmla="*/ 1449 w 297"/>
                <a:gd name="T33" fmla="*/ 678 h 219"/>
                <a:gd name="T34" fmla="*/ 1498 w 297"/>
                <a:gd name="T35" fmla="*/ 910 h 219"/>
                <a:gd name="T36" fmla="*/ 1596 w 297"/>
                <a:gd name="T37" fmla="*/ 1302 h 2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97" h="219">
                  <a:moveTo>
                    <a:pt x="294" y="219"/>
                  </a:moveTo>
                  <a:lnTo>
                    <a:pt x="297" y="120"/>
                  </a:lnTo>
                  <a:lnTo>
                    <a:pt x="285" y="36"/>
                  </a:lnTo>
                  <a:lnTo>
                    <a:pt x="258" y="6"/>
                  </a:lnTo>
                  <a:lnTo>
                    <a:pt x="216" y="0"/>
                  </a:lnTo>
                  <a:lnTo>
                    <a:pt x="150" y="6"/>
                  </a:lnTo>
                  <a:lnTo>
                    <a:pt x="99" y="24"/>
                  </a:lnTo>
                  <a:lnTo>
                    <a:pt x="75" y="51"/>
                  </a:lnTo>
                  <a:lnTo>
                    <a:pt x="36" y="87"/>
                  </a:lnTo>
                  <a:lnTo>
                    <a:pt x="6" y="111"/>
                  </a:lnTo>
                  <a:lnTo>
                    <a:pt x="0" y="123"/>
                  </a:lnTo>
                  <a:lnTo>
                    <a:pt x="24" y="144"/>
                  </a:lnTo>
                  <a:lnTo>
                    <a:pt x="75" y="114"/>
                  </a:lnTo>
                  <a:lnTo>
                    <a:pt x="123" y="87"/>
                  </a:lnTo>
                  <a:lnTo>
                    <a:pt x="189" y="81"/>
                  </a:lnTo>
                  <a:lnTo>
                    <a:pt x="231" y="90"/>
                  </a:lnTo>
                  <a:lnTo>
                    <a:pt x="267" y="114"/>
                  </a:lnTo>
                  <a:lnTo>
                    <a:pt x="276" y="153"/>
                  </a:lnTo>
                  <a:lnTo>
                    <a:pt x="294" y="219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1" name="Freeform 53"/>
            <p:cNvSpPr/>
            <p:nvPr/>
          </p:nvSpPr>
          <p:spPr bwMode="auto">
            <a:xfrm>
              <a:off x="2990" y="1408"/>
              <a:ext cx="538" cy="402"/>
            </a:xfrm>
            <a:custGeom>
              <a:avLst/>
              <a:gdLst>
                <a:gd name="T0" fmla="*/ 1253 w 231"/>
                <a:gd name="T1" fmla="*/ 161 h 165"/>
                <a:gd name="T2" fmla="*/ 943 w 231"/>
                <a:gd name="T3" fmla="*/ 17 h 165"/>
                <a:gd name="T4" fmla="*/ 633 w 231"/>
                <a:gd name="T5" fmla="*/ 0 h 165"/>
                <a:gd name="T6" fmla="*/ 261 w 231"/>
                <a:gd name="T7" fmla="*/ 37 h 165"/>
                <a:gd name="T8" fmla="*/ 49 w 231"/>
                <a:gd name="T9" fmla="*/ 107 h 165"/>
                <a:gd name="T10" fmla="*/ 0 w 231"/>
                <a:gd name="T11" fmla="*/ 249 h 165"/>
                <a:gd name="T12" fmla="*/ 16 w 231"/>
                <a:gd name="T13" fmla="*/ 392 h 165"/>
                <a:gd name="T14" fmla="*/ 98 w 231"/>
                <a:gd name="T15" fmla="*/ 480 h 165"/>
                <a:gd name="T16" fmla="*/ 245 w 231"/>
                <a:gd name="T17" fmla="*/ 587 h 165"/>
                <a:gd name="T18" fmla="*/ 554 w 231"/>
                <a:gd name="T19" fmla="*/ 765 h 165"/>
                <a:gd name="T20" fmla="*/ 666 w 231"/>
                <a:gd name="T21" fmla="*/ 962 h 165"/>
                <a:gd name="T22" fmla="*/ 780 w 231"/>
                <a:gd name="T23" fmla="*/ 979 h 165"/>
                <a:gd name="T24" fmla="*/ 650 w 231"/>
                <a:gd name="T25" fmla="*/ 694 h 165"/>
                <a:gd name="T26" fmla="*/ 440 w 231"/>
                <a:gd name="T27" fmla="*/ 570 h 165"/>
                <a:gd name="T28" fmla="*/ 359 w 231"/>
                <a:gd name="T29" fmla="*/ 463 h 165"/>
                <a:gd name="T30" fmla="*/ 228 w 231"/>
                <a:gd name="T31" fmla="*/ 392 h 165"/>
                <a:gd name="T32" fmla="*/ 228 w 231"/>
                <a:gd name="T33" fmla="*/ 322 h 165"/>
                <a:gd name="T34" fmla="*/ 261 w 231"/>
                <a:gd name="T35" fmla="*/ 268 h 165"/>
                <a:gd name="T36" fmla="*/ 473 w 231"/>
                <a:gd name="T37" fmla="*/ 161 h 165"/>
                <a:gd name="T38" fmla="*/ 666 w 231"/>
                <a:gd name="T39" fmla="*/ 124 h 165"/>
                <a:gd name="T40" fmla="*/ 894 w 231"/>
                <a:gd name="T41" fmla="*/ 107 h 165"/>
                <a:gd name="T42" fmla="*/ 1253 w 231"/>
                <a:gd name="T43" fmla="*/ 161 h 16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31" h="165">
                  <a:moveTo>
                    <a:pt x="231" y="27"/>
                  </a:moveTo>
                  <a:lnTo>
                    <a:pt x="174" y="3"/>
                  </a:lnTo>
                  <a:lnTo>
                    <a:pt x="117" y="0"/>
                  </a:lnTo>
                  <a:lnTo>
                    <a:pt x="48" y="6"/>
                  </a:lnTo>
                  <a:lnTo>
                    <a:pt x="9" y="18"/>
                  </a:lnTo>
                  <a:lnTo>
                    <a:pt x="0" y="42"/>
                  </a:lnTo>
                  <a:lnTo>
                    <a:pt x="3" y="66"/>
                  </a:lnTo>
                  <a:lnTo>
                    <a:pt x="18" y="81"/>
                  </a:lnTo>
                  <a:lnTo>
                    <a:pt x="45" y="99"/>
                  </a:lnTo>
                  <a:lnTo>
                    <a:pt x="102" y="129"/>
                  </a:lnTo>
                  <a:lnTo>
                    <a:pt x="123" y="162"/>
                  </a:lnTo>
                  <a:lnTo>
                    <a:pt x="144" y="165"/>
                  </a:lnTo>
                  <a:lnTo>
                    <a:pt x="120" y="117"/>
                  </a:lnTo>
                  <a:lnTo>
                    <a:pt x="81" y="96"/>
                  </a:lnTo>
                  <a:lnTo>
                    <a:pt x="66" y="78"/>
                  </a:lnTo>
                  <a:lnTo>
                    <a:pt x="42" y="66"/>
                  </a:lnTo>
                  <a:lnTo>
                    <a:pt x="42" y="54"/>
                  </a:lnTo>
                  <a:lnTo>
                    <a:pt x="48" y="45"/>
                  </a:lnTo>
                  <a:lnTo>
                    <a:pt x="87" y="27"/>
                  </a:lnTo>
                  <a:lnTo>
                    <a:pt x="123" y="21"/>
                  </a:lnTo>
                  <a:lnTo>
                    <a:pt x="165" y="18"/>
                  </a:lnTo>
                  <a:lnTo>
                    <a:pt x="231" y="27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2" name="Freeform 54"/>
            <p:cNvSpPr/>
            <p:nvPr/>
          </p:nvSpPr>
          <p:spPr bwMode="auto">
            <a:xfrm>
              <a:off x="3284" y="1430"/>
              <a:ext cx="356" cy="336"/>
            </a:xfrm>
            <a:custGeom>
              <a:avLst/>
              <a:gdLst>
                <a:gd name="T0" fmla="*/ 437 w 153"/>
                <a:gd name="T1" fmla="*/ 37 h 138"/>
                <a:gd name="T2" fmla="*/ 568 w 153"/>
                <a:gd name="T3" fmla="*/ 107 h 138"/>
                <a:gd name="T4" fmla="*/ 649 w 153"/>
                <a:gd name="T5" fmla="*/ 231 h 138"/>
                <a:gd name="T6" fmla="*/ 584 w 153"/>
                <a:gd name="T7" fmla="*/ 446 h 138"/>
                <a:gd name="T8" fmla="*/ 407 w 153"/>
                <a:gd name="T9" fmla="*/ 623 h 138"/>
                <a:gd name="T10" fmla="*/ 195 w 153"/>
                <a:gd name="T11" fmla="*/ 694 h 138"/>
                <a:gd name="T12" fmla="*/ 0 w 153"/>
                <a:gd name="T13" fmla="*/ 657 h 138"/>
                <a:gd name="T14" fmla="*/ 81 w 153"/>
                <a:gd name="T15" fmla="*/ 801 h 138"/>
                <a:gd name="T16" fmla="*/ 277 w 153"/>
                <a:gd name="T17" fmla="*/ 801 h 138"/>
                <a:gd name="T18" fmla="*/ 421 w 153"/>
                <a:gd name="T19" fmla="*/ 818 h 138"/>
                <a:gd name="T20" fmla="*/ 568 w 153"/>
                <a:gd name="T21" fmla="*/ 801 h 138"/>
                <a:gd name="T22" fmla="*/ 763 w 153"/>
                <a:gd name="T23" fmla="*/ 694 h 138"/>
                <a:gd name="T24" fmla="*/ 828 w 153"/>
                <a:gd name="T25" fmla="*/ 446 h 138"/>
                <a:gd name="T26" fmla="*/ 779 w 153"/>
                <a:gd name="T27" fmla="*/ 355 h 138"/>
                <a:gd name="T28" fmla="*/ 812 w 153"/>
                <a:gd name="T29" fmla="*/ 248 h 138"/>
                <a:gd name="T30" fmla="*/ 812 w 153"/>
                <a:gd name="T31" fmla="*/ 90 h 138"/>
                <a:gd name="T32" fmla="*/ 682 w 153"/>
                <a:gd name="T33" fmla="*/ 0 h 138"/>
                <a:gd name="T34" fmla="*/ 437 w 153"/>
                <a:gd name="T35" fmla="*/ 37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3" h="138">
                  <a:moveTo>
                    <a:pt x="81" y="6"/>
                  </a:moveTo>
                  <a:lnTo>
                    <a:pt x="105" y="18"/>
                  </a:lnTo>
                  <a:lnTo>
                    <a:pt x="120" y="39"/>
                  </a:lnTo>
                  <a:lnTo>
                    <a:pt x="108" y="75"/>
                  </a:lnTo>
                  <a:lnTo>
                    <a:pt x="75" y="105"/>
                  </a:lnTo>
                  <a:lnTo>
                    <a:pt x="36" y="117"/>
                  </a:lnTo>
                  <a:lnTo>
                    <a:pt x="0" y="111"/>
                  </a:lnTo>
                  <a:lnTo>
                    <a:pt x="15" y="135"/>
                  </a:lnTo>
                  <a:lnTo>
                    <a:pt x="51" y="135"/>
                  </a:lnTo>
                  <a:lnTo>
                    <a:pt x="78" y="138"/>
                  </a:lnTo>
                  <a:lnTo>
                    <a:pt x="105" y="135"/>
                  </a:lnTo>
                  <a:lnTo>
                    <a:pt x="141" y="117"/>
                  </a:lnTo>
                  <a:lnTo>
                    <a:pt x="153" y="75"/>
                  </a:lnTo>
                  <a:lnTo>
                    <a:pt x="144" y="60"/>
                  </a:lnTo>
                  <a:lnTo>
                    <a:pt x="150" y="42"/>
                  </a:lnTo>
                  <a:lnTo>
                    <a:pt x="150" y="15"/>
                  </a:lnTo>
                  <a:lnTo>
                    <a:pt x="126" y="0"/>
                  </a:lnTo>
                  <a:lnTo>
                    <a:pt x="81" y="6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3" name="Freeform 55"/>
            <p:cNvSpPr/>
            <p:nvPr/>
          </p:nvSpPr>
          <p:spPr bwMode="auto">
            <a:xfrm>
              <a:off x="3228" y="1503"/>
              <a:ext cx="244" cy="190"/>
            </a:xfrm>
            <a:custGeom>
              <a:avLst/>
              <a:gdLst>
                <a:gd name="T0" fmla="*/ 567 w 105"/>
                <a:gd name="T1" fmla="*/ 248 h 78"/>
                <a:gd name="T2" fmla="*/ 469 w 105"/>
                <a:gd name="T3" fmla="*/ 71 h 78"/>
                <a:gd name="T4" fmla="*/ 260 w 105"/>
                <a:gd name="T5" fmla="*/ 0 h 78"/>
                <a:gd name="T6" fmla="*/ 98 w 105"/>
                <a:gd name="T7" fmla="*/ 37 h 78"/>
                <a:gd name="T8" fmla="*/ 16 w 105"/>
                <a:gd name="T9" fmla="*/ 141 h 78"/>
                <a:gd name="T10" fmla="*/ 0 w 105"/>
                <a:gd name="T11" fmla="*/ 302 h 78"/>
                <a:gd name="T12" fmla="*/ 16 w 105"/>
                <a:gd name="T13" fmla="*/ 409 h 78"/>
                <a:gd name="T14" fmla="*/ 98 w 105"/>
                <a:gd name="T15" fmla="*/ 463 h 78"/>
                <a:gd name="T16" fmla="*/ 130 w 105"/>
                <a:gd name="T17" fmla="*/ 268 h 78"/>
                <a:gd name="T18" fmla="*/ 244 w 105"/>
                <a:gd name="T19" fmla="*/ 231 h 78"/>
                <a:gd name="T20" fmla="*/ 453 w 105"/>
                <a:gd name="T21" fmla="*/ 285 h 78"/>
                <a:gd name="T22" fmla="*/ 518 w 105"/>
                <a:gd name="T23" fmla="*/ 426 h 78"/>
                <a:gd name="T24" fmla="*/ 567 w 105"/>
                <a:gd name="T25" fmla="*/ 248 h 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78">
                  <a:moveTo>
                    <a:pt x="105" y="42"/>
                  </a:moveTo>
                  <a:lnTo>
                    <a:pt x="87" y="12"/>
                  </a:lnTo>
                  <a:lnTo>
                    <a:pt x="48" y="0"/>
                  </a:lnTo>
                  <a:lnTo>
                    <a:pt x="18" y="6"/>
                  </a:lnTo>
                  <a:lnTo>
                    <a:pt x="3" y="24"/>
                  </a:lnTo>
                  <a:lnTo>
                    <a:pt x="0" y="51"/>
                  </a:lnTo>
                  <a:lnTo>
                    <a:pt x="3" y="69"/>
                  </a:lnTo>
                  <a:lnTo>
                    <a:pt x="18" y="78"/>
                  </a:lnTo>
                  <a:lnTo>
                    <a:pt x="24" y="45"/>
                  </a:lnTo>
                  <a:lnTo>
                    <a:pt x="45" y="39"/>
                  </a:lnTo>
                  <a:lnTo>
                    <a:pt x="84" y="48"/>
                  </a:lnTo>
                  <a:lnTo>
                    <a:pt x="96" y="72"/>
                  </a:lnTo>
                  <a:lnTo>
                    <a:pt x="105" y="42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4" name="Freeform 56"/>
            <p:cNvSpPr/>
            <p:nvPr/>
          </p:nvSpPr>
          <p:spPr bwMode="auto">
            <a:xfrm>
              <a:off x="2969" y="601"/>
              <a:ext cx="1168" cy="724"/>
            </a:xfrm>
            <a:custGeom>
              <a:avLst/>
              <a:gdLst>
                <a:gd name="T0" fmla="*/ 0 w 501"/>
                <a:gd name="T1" fmla="*/ 1177 h 297"/>
                <a:gd name="T2" fmla="*/ 180 w 501"/>
                <a:gd name="T3" fmla="*/ 1051 h 297"/>
                <a:gd name="T4" fmla="*/ 212 w 501"/>
                <a:gd name="T5" fmla="*/ 892 h 297"/>
                <a:gd name="T6" fmla="*/ 212 w 501"/>
                <a:gd name="T7" fmla="*/ 624 h 297"/>
                <a:gd name="T8" fmla="*/ 294 w 501"/>
                <a:gd name="T9" fmla="*/ 463 h 297"/>
                <a:gd name="T10" fmla="*/ 490 w 501"/>
                <a:gd name="T11" fmla="*/ 410 h 297"/>
                <a:gd name="T12" fmla="*/ 653 w 501"/>
                <a:gd name="T13" fmla="*/ 410 h 297"/>
                <a:gd name="T14" fmla="*/ 881 w 501"/>
                <a:gd name="T15" fmla="*/ 463 h 297"/>
                <a:gd name="T16" fmla="*/ 979 w 501"/>
                <a:gd name="T17" fmla="*/ 607 h 297"/>
                <a:gd name="T18" fmla="*/ 1077 w 501"/>
                <a:gd name="T19" fmla="*/ 695 h 297"/>
                <a:gd name="T20" fmla="*/ 1191 w 501"/>
                <a:gd name="T21" fmla="*/ 714 h 297"/>
                <a:gd name="T22" fmla="*/ 1434 w 501"/>
                <a:gd name="T23" fmla="*/ 695 h 297"/>
                <a:gd name="T24" fmla="*/ 1630 w 501"/>
                <a:gd name="T25" fmla="*/ 641 h 297"/>
                <a:gd name="T26" fmla="*/ 1891 w 501"/>
                <a:gd name="T27" fmla="*/ 661 h 297"/>
                <a:gd name="T28" fmla="*/ 2038 w 501"/>
                <a:gd name="T29" fmla="*/ 731 h 297"/>
                <a:gd name="T30" fmla="*/ 2217 w 501"/>
                <a:gd name="T31" fmla="*/ 856 h 297"/>
                <a:gd name="T32" fmla="*/ 2413 w 501"/>
                <a:gd name="T33" fmla="*/ 1051 h 297"/>
                <a:gd name="T34" fmla="*/ 2543 w 501"/>
                <a:gd name="T35" fmla="*/ 1285 h 297"/>
                <a:gd name="T36" fmla="*/ 2609 w 501"/>
                <a:gd name="T37" fmla="*/ 1426 h 297"/>
                <a:gd name="T38" fmla="*/ 2658 w 501"/>
                <a:gd name="T39" fmla="*/ 1604 h 297"/>
                <a:gd name="T40" fmla="*/ 2674 w 501"/>
                <a:gd name="T41" fmla="*/ 1765 h 297"/>
                <a:gd name="T42" fmla="*/ 2723 w 501"/>
                <a:gd name="T43" fmla="*/ 1443 h 297"/>
                <a:gd name="T44" fmla="*/ 2707 w 501"/>
                <a:gd name="T45" fmla="*/ 1285 h 297"/>
                <a:gd name="T46" fmla="*/ 2560 w 501"/>
                <a:gd name="T47" fmla="*/ 909 h 297"/>
                <a:gd name="T48" fmla="*/ 2380 w 501"/>
                <a:gd name="T49" fmla="*/ 624 h 297"/>
                <a:gd name="T50" fmla="*/ 2201 w 501"/>
                <a:gd name="T51" fmla="*/ 500 h 297"/>
                <a:gd name="T52" fmla="*/ 1956 w 501"/>
                <a:gd name="T53" fmla="*/ 429 h 297"/>
                <a:gd name="T54" fmla="*/ 1776 w 501"/>
                <a:gd name="T55" fmla="*/ 410 h 297"/>
                <a:gd name="T56" fmla="*/ 1564 w 501"/>
                <a:gd name="T57" fmla="*/ 429 h 297"/>
                <a:gd name="T58" fmla="*/ 1401 w 501"/>
                <a:gd name="T59" fmla="*/ 410 h 297"/>
                <a:gd name="T60" fmla="*/ 1240 w 501"/>
                <a:gd name="T61" fmla="*/ 268 h 297"/>
                <a:gd name="T62" fmla="*/ 1110 w 501"/>
                <a:gd name="T63" fmla="*/ 124 h 297"/>
                <a:gd name="T64" fmla="*/ 995 w 501"/>
                <a:gd name="T65" fmla="*/ 54 h 297"/>
                <a:gd name="T66" fmla="*/ 865 w 501"/>
                <a:gd name="T67" fmla="*/ 0 h 297"/>
                <a:gd name="T68" fmla="*/ 555 w 501"/>
                <a:gd name="T69" fmla="*/ 17 h 297"/>
                <a:gd name="T70" fmla="*/ 343 w 501"/>
                <a:gd name="T71" fmla="*/ 37 h 297"/>
                <a:gd name="T72" fmla="*/ 228 w 501"/>
                <a:gd name="T73" fmla="*/ 107 h 297"/>
                <a:gd name="T74" fmla="*/ 65 w 501"/>
                <a:gd name="T75" fmla="*/ 268 h 297"/>
                <a:gd name="T76" fmla="*/ 16 w 501"/>
                <a:gd name="T77" fmla="*/ 463 h 297"/>
                <a:gd name="T78" fmla="*/ 33 w 501"/>
                <a:gd name="T79" fmla="*/ 714 h 297"/>
                <a:gd name="T80" fmla="*/ 65 w 501"/>
                <a:gd name="T81" fmla="*/ 909 h 297"/>
                <a:gd name="T82" fmla="*/ 0 w 501"/>
                <a:gd name="T83" fmla="*/ 1177 h 29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1" h="297">
                  <a:moveTo>
                    <a:pt x="0" y="198"/>
                  </a:moveTo>
                  <a:lnTo>
                    <a:pt x="33" y="177"/>
                  </a:lnTo>
                  <a:lnTo>
                    <a:pt x="39" y="150"/>
                  </a:lnTo>
                  <a:lnTo>
                    <a:pt x="39" y="105"/>
                  </a:lnTo>
                  <a:lnTo>
                    <a:pt x="54" y="78"/>
                  </a:lnTo>
                  <a:lnTo>
                    <a:pt x="90" y="69"/>
                  </a:lnTo>
                  <a:lnTo>
                    <a:pt x="120" y="69"/>
                  </a:lnTo>
                  <a:lnTo>
                    <a:pt x="162" y="78"/>
                  </a:lnTo>
                  <a:lnTo>
                    <a:pt x="180" y="102"/>
                  </a:lnTo>
                  <a:lnTo>
                    <a:pt x="198" y="117"/>
                  </a:lnTo>
                  <a:lnTo>
                    <a:pt x="219" y="120"/>
                  </a:lnTo>
                  <a:lnTo>
                    <a:pt x="264" y="117"/>
                  </a:lnTo>
                  <a:lnTo>
                    <a:pt x="300" y="108"/>
                  </a:lnTo>
                  <a:lnTo>
                    <a:pt x="348" y="111"/>
                  </a:lnTo>
                  <a:lnTo>
                    <a:pt x="375" y="123"/>
                  </a:lnTo>
                  <a:lnTo>
                    <a:pt x="408" y="144"/>
                  </a:lnTo>
                  <a:lnTo>
                    <a:pt x="444" y="177"/>
                  </a:lnTo>
                  <a:lnTo>
                    <a:pt x="468" y="216"/>
                  </a:lnTo>
                  <a:lnTo>
                    <a:pt x="480" y="240"/>
                  </a:lnTo>
                  <a:lnTo>
                    <a:pt x="489" y="270"/>
                  </a:lnTo>
                  <a:lnTo>
                    <a:pt x="492" y="297"/>
                  </a:lnTo>
                  <a:lnTo>
                    <a:pt x="501" y="243"/>
                  </a:lnTo>
                  <a:lnTo>
                    <a:pt x="498" y="216"/>
                  </a:lnTo>
                  <a:lnTo>
                    <a:pt x="471" y="153"/>
                  </a:lnTo>
                  <a:lnTo>
                    <a:pt x="438" y="105"/>
                  </a:lnTo>
                  <a:lnTo>
                    <a:pt x="405" y="84"/>
                  </a:lnTo>
                  <a:lnTo>
                    <a:pt x="360" y="72"/>
                  </a:lnTo>
                  <a:lnTo>
                    <a:pt x="327" y="69"/>
                  </a:lnTo>
                  <a:lnTo>
                    <a:pt x="288" y="72"/>
                  </a:lnTo>
                  <a:lnTo>
                    <a:pt x="258" y="69"/>
                  </a:lnTo>
                  <a:lnTo>
                    <a:pt x="228" y="45"/>
                  </a:lnTo>
                  <a:lnTo>
                    <a:pt x="204" y="21"/>
                  </a:lnTo>
                  <a:lnTo>
                    <a:pt x="183" y="9"/>
                  </a:lnTo>
                  <a:lnTo>
                    <a:pt x="159" y="0"/>
                  </a:lnTo>
                  <a:lnTo>
                    <a:pt x="102" y="3"/>
                  </a:lnTo>
                  <a:lnTo>
                    <a:pt x="63" y="6"/>
                  </a:lnTo>
                  <a:lnTo>
                    <a:pt x="42" y="18"/>
                  </a:lnTo>
                  <a:lnTo>
                    <a:pt x="12" y="45"/>
                  </a:lnTo>
                  <a:lnTo>
                    <a:pt x="3" y="78"/>
                  </a:lnTo>
                  <a:lnTo>
                    <a:pt x="6" y="120"/>
                  </a:lnTo>
                  <a:lnTo>
                    <a:pt x="12" y="153"/>
                  </a:lnTo>
                  <a:lnTo>
                    <a:pt x="0" y="198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736" name="Group 57"/>
          <p:cNvGrpSpPr/>
          <p:nvPr/>
        </p:nvGrpSpPr>
        <p:grpSpPr bwMode="auto">
          <a:xfrm rot="-1606949">
            <a:off x="7737475" y="5770563"/>
            <a:ext cx="1365250" cy="922337"/>
            <a:chOff x="1524" y="510"/>
            <a:chExt cx="3416" cy="2669"/>
          </a:xfrm>
        </p:grpSpPr>
        <p:sp>
          <p:nvSpPr>
            <p:cNvPr id="73737" name="Freeform 58"/>
            <p:cNvSpPr/>
            <p:nvPr/>
          </p:nvSpPr>
          <p:spPr bwMode="auto">
            <a:xfrm>
              <a:off x="3453" y="1276"/>
              <a:ext cx="1283" cy="1586"/>
            </a:xfrm>
            <a:custGeom>
              <a:avLst/>
              <a:gdLst>
                <a:gd name="T0" fmla="*/ 953 w 567"/>
                <a:gd name="T1" fmla="*/ 156 h 660"/>
                <a:gd name="T2" fmla="*/ 1613 w 567"/>
                <a:gd name="T3" fmla="*/ 0 h 660"/>
                <a:gd name="T4" fmla="*/ 2319 w 567"/>
                <a:gd name="T5" fmla="*/ 139 h 660"/>
                <a:gd name="T6" fmla="*/ 2871 w 567"/>
                <a:gd name="T7" fmla="*/ 692 h 660"/>
                <a:gd name="T8" fmla="*/ 2903 w 567"/>
                <a:gd name="T9" fmla="*/ 1264 h 660"/>
                <a:gd name="T10" fmla="*/ 2688 w 567"/>
                <a:gd name="T11" fmla="*/ 2095 h 660"/>
                <a:gd name="T12" fmla="*/ 2012 w 567"/>
                <a:gd name="T13" fmla="*/ 3066 h 660"/>
                <a:gd name="T14" fmla="*/ 1536 w 567"/>
                <a:gd name="T15" fmla="*/ 3691 h 660"/>
                <a:gd name="T16" fmla="*/ 754 w 567"/>
                <a:gd name="T17" fmla="*/ 3811 h 660"/>
                <a:gd name="T18" fmla="*/ 0 w 567"/>
                <a:gd name="T19" fmla="*/ 3153 h 660"/>
                <a:gd name="T20" fmla="*/ 953 w 567"/>
                <a:gd name="T21" fmla="*/ 156 h 66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7" h="660">
                  <a:moveTo>
                    <a:pt x="186" y="27"/>
                  </a:moveTo>
                  <a:lnTo>
                    <a:pt x="315" y="0"/>
                  </a:lnTo>
                  <a:lnTo>
                    <a:pt x="453" y="24"/>
                  </a:lnTo>
                  <a:lnTo>
                    <a:pt x="561" y="120"/>
                  </a:lnTo>
                  <a:lnTo>
                    <a:pt x="567" y="219"/>
                  </a:lnTo>
                  <a:lnTo>
                    <a:pt x="525" y="363"/>
                  </a:lnTo>
                  <a:lnTo>
                    <a:pt x="393" y="531"/>
                  </a:lnTo>
                  <a:lnTo>
                    <a:pt x="300" y="639"/>
                  </a:lnTo>
                  <a:lnTo>
                    <a:pt x="147" y="660"/>
                  </a:lnTo>
                  <a:lnTo>
                    <a:pt x="0" y="546"/>
                  </a:lnTo>
                  <a:lnTo>
                    <a:pt x="186" y="27"/>
                  </a:lnTo>
                  <a:close/>
                </a:path>
              </a:pathLst>
            </a:cu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8" name="Freeform 59"/>
            <p:cNvSpPr/>
            <p:nvPr/>
          </p:nvSpPr>
          <p:spPr bwMode="auto">
            <a:xfrm>
              <a:off x="3453" y="1404"/>
              <a:ext cx="1086" cy="1398"/>
            </a:xfrm>
            <a:custGeom>
              <a:avLst/>
              <a:gdLst>
                <a:gd name="T0" fmla="*/ 1059 w 480"/>
                <a:gd name="T1" fmla="*/ 399 h 582"/>
                <a:gd name="T2" fmla="*/ 1167 w 480"/>
                <a:gd name="T3" fmla="*/ 86 h 582"/>
                <a:gd name="T4" fmla="*/ 1505 w 480"/>
                <a:gd name="T5" fmla="*/ 0 h 582"/>
                <a:gd name="T6" fmla="*/ 1658 w 480"/>
                <a:gd name="T7" fmla="*/ 17 h 582"/>
                <a:gd name="T8" fmla="*/ 1475 w 480"/>
                <a:gd name="T9" fmla="*/ 103 h 582"/>
                <a:gd name="T10" fmla="*/ 1398 w 480"/>
                <a:gd name="T11" fmla="*/ 243 h 582"/>
                <a:gd name="T12" fmla="*/ 1520 w 480"/>
                <a:gd name="T13" fmla="*/ 243 h 582"/>
                <a:gd name="T14" fmla="*/ 1735 w 480"/>
                <a:gd name="T15" fmla="*/ 243 h 582"/>
                <a:gd name="T16" fmla="*/ 2104 w 480"/>
                <a:gd name="T17" fmla="*/ 243 h 582"/>
                <a:gd name="T18" fmla="*/ 1767 w 480"/>
                <a:gd name="T19" fmla="*/ 382 h 582"/>
                <a:gd name="T20" fmla="*/ 1658 w 480"/>
                <a:gd name="T21" fmla="*/ 485 h 582"/>
                <a:gd name="T22" fmla="*/ 1566 w 480"/>
                <a:gd name="T23" fmla="*/ 605 h 582"/>
                <a:gd name="T24" fmla="*/ 1459 w 480"/>
                <a:gd name="T25" fmla="*/ 901 h 582"/>
                <a:gd name="T26" fmla="*/ 1751 w 480"/>
                <a:gd name="T27" fmla="*/ 692 h 582"/>
                <a:gd name="T28" fmla="*/ 1858 w 480"/>
                <a:gd name="T29" fmla="*/ 605 h 582"/>
                <a:gd name="T30" fmla="*/ 2197 w 480"/>
                <a:gd name="T31" fmla="*/ 536 h 582"/>
                <a:gd name="T32" fmla="*/ 2457 w 480"/>
                <a:gd name="T33" fmla="*/ 555 h 582"/>
                <a:gd name="T34" fmla="*/ 2242 w 480"/>
                <a:gd name="T35" fmla="*/ 658 h 582"/>
                <a:gd name="T36" fmla="*/ 1844 w 480"/>
                <a:gd name="T37" fmla="*/ 951 h 582"/>
                <a:gd name="T38" fmla="*/ 1566 w 480"/>
                <a:gd name="T39" fmla="*/ 1280 h 582"/>
                <a:gd name="T40" fmla="*/ 1459 w 480"/>
                <a:gd name="T41" fmla="*/ 1559 h 582"/>
                <a:gd name="T42" fmla="*/ 1597 w 480"/>
                <a:gd name="T43" fmla="*/ 1436 h 582"/>
                <a:gd name="T44" fmla="*/ 1828 w 480"/>
                <a:gd name="T45" fmla="*/ 1350 h 582"/>
                <a:gd name="T46" fmla="*/ 2104 w 480"/>
                <a:gd name="T47" fmla="*/ 1333 h 582"/>
                <a:gd name="T48" fmla="*/ 1919 w 480"/>
                <a:gd name="T49" fmla="*/ 1436 h 582"/>
                <a:gd name="T50" fmla="*/ 1658 w 480"/>
                <a:gd name="T51" fmla="*/ 1713 h 582"/>
                <a:gd name="T52" fmla="*/ 1412 w 480"/>
                <a:gd name="T53" fmla="*/ 2042 h 582"/>
                <a:gd name="T54" fmla="*/ 1566 w 480"/>
                <a:gd name="T55" fmla="*/ 2008 h 582"/>
                <a:gd name="T56" fmla="*/ 1781 w 480"/>
                <a:gd name="T57" fmla="*/ 2025 h 582"/>
                <a:gd name="T58" fmla="*/ 1934 w 480"/>
                <a:gd name="T59" fmla="*/ 2181 h 582"/>
                <a:gd name="T60" fmla="*/ 1658 w 480"/>
                <a:gd name="T61" fmla="*/ 2164 h 582"/>
                <a:gd name="T62" fmla="*/ 1412 w 480"/>
                <a:gd name="T63" fmla="*/ 2251 h 582"/>
                <a:gd name="T64" fmla="*/ 1183 w 480"/>
                <a:gd name="T65" fmla="*/ 2457 h 582"/>
                <a:gd name="T66" fmla="*/ 1581 w 480"/>
                <a:gd name="T67" fmla="*/ 2371 h 582"/>
                <a:gd name="T68" fmla="*/ 1674 w 480"/>
                <a:gd name="T69" fmla="*/ 2407 h 582"/>
                <a:gd name="T70" fmla="*/ 1966 w 480"/>
                <a:gd name="T71" fmla="*/ 2544 h 582"/>
                <a:gd name="T72" fmla="*/ 1704 w 480"/>
                <a:gd name="T73" fmla="*/ 2544 h 582"/>
                <a:gd name="T74" fmla="*/ 1351 w 480"/>
                <a:gd name="T75" fmla="*/ 2630 h 582"/>
                <a:gd name="T76" fmla="*/ 1183 w 480"/>
                <a:gd name="T77" fmla="*/ 2770 h 582"/>
                <a:gd name="T78" fmla="*/ 1459 w 480"/>
                <a:gd name="T79" fmla="*/ 2770 h 582"/>
                <a:gd name="T80" fmla="*/ 1627 w 480"/>
                <a:gd name="T81" fmla="*/ 2890 h 582"/>
                <a:gd name="T82" fmla="*/ 1367 w 480"/>
                <a:gd name="T83" fmla="*/ 2943 h 582"/>
                <a:gd name="T84" fmla="*/ 1045 w 480"/>
                <a:gd name="T85" fmla="*/ 3063 h 582"/>
                <a:gd name="T86" fmla="*/ 661 w 480"/>
                <a:gd name="T87" fmla="*/ 3358 h 582"/>
                <a:gd name="T88" fmla="*/ 0 w 480"/>
                <a:gd name="T89" fmla="*/ 2959 h 582"/>
                <a:gd name="T90" fmla="*/ 1059 w 480"/>
                <a:gd name="T91" fmla="*/ 399 h 58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80" h="582">
                  <a:moveTo>
                    <a:pt x="207" y="69"/>
                  </a:moveTo>
                  <a:lnTo>
                    <a:pt x="228" y="15"/>
                  </a:lnTo>
                  <a:lnTo>
                    <a:pt x="294" y="0"/>
                  </a:lnTo>
                  <a:lnTo>
                    <a:pt x="324" y="3"/>
                  </a:lnTo>
                  <a:lnTo>
                    <a:pt x="288" y="18"/>
                  </a:lnTo>
                  <a:lnTo>
                    <a:pt x="273" y="42"/>
                  </a:lnTo>
                  <a:lnTo>
                    <a:pt x="297" y="42"/>
                  </a:lnTo>
                  <a:lnTo>
                    <a:pt x="339" y="42"/>
                  </a:lnTo>
                  <a:lnTo>
                    <a:pt x="411" y="42"/>
                  </a:lnTo>
                  <a:lnTo>
                    <a:pt x="345" y="66"/>
                  </a:lnTo>
                  <a:lnTo>
                    <a:pt x="324" y="84"/>
                  </a:lnTo>
                  <a:lnTo>
                    <a:pt x="306" y="105"/>
                  </a:lnTo>
                  <a:lnTo>
                    <a:pt x="285" y="156"/>
                  </a:lnTo>
                  <a:lnTo>
                    <a:pt x="342" y="120"/>
                  </a:lnTo>
                  <a:lnTo>
                    <a:pt x="363" y="105"/>
                  </a:lnTo>
                  <a:lnTo>
                    <a:pt x="429" y="93"/>
                  </a:lnTo>
                  <a:lnTo>
                    <a:pt x="480" y="96"/>
                  </a:lnTo>
                  <a:lnTo>
                    <a:pt x="438" y="114"/>
                  </a:lnTo>
                  <a:lnTo>
                    <a:pt x="360" y="165"/>
                  </a:lnTo>
                  <a:lnTo>
                    <a:pt x="306" y="222"/>
                  </a:lnTo>
                  <a:lnTo>
                    <a:pt x="285" y="270"/>
                  </a:lnTo>
                  <a:lnTo>
                    <a:pt x="312" y="249"/>
                  </a:lnTo>
                  <a:lnTo>
                    <a:pt x="357" y="234"/>
                  </a:lnTo>
                  <a:lnTo>
                    <a:pt x="411" y="231"/>
                  </a:lnTo>
                  <a:lnTo>
                    <a:pt x="375" y="249"/>
                  </a:lnTo>
                  <a:lnTo>
                    <a:pt x="324" y="297"/>
                  </a:lnTo>
                  <a:lnTo>
                    <a:pt x="276" y="354"/>
                  </a:lnTo>
                  <a:lnTo>
                    <a:pt x="306" y="348"/>
                  </a:lnTo>
                  <a:lnTo>
                    <a:pt x="348" y="351"/>
                  </a:lnTo>
                  <a:lnTo>
                    <a:pt x="378" y="378"/>
                  </a:lnTo>
                  <a:lnTo>
                    <a:pt x="324" y="375"/>
                  </a:lnTo>
                  <a:lnTo>
                    <a:pt x="276" y="390"/>
                  </a:lnTo>
                  <a:lnTo>
                    <a:pt x="231" y="426"/>
                  </a:lnTo>
                  <a:lnTo>
                    <a:pt x="309" y="411"/>
                  </a:lnTo>
                  <a:lnTo>
                    <a:pt x="327" y="417"/>
                  </a:lnTo>
                  <a:lnTo>
                    <a:pt x="384" y="441"/>
                  </a:lnTo>
                  <a:lnTo>
                    <a:pt x="333" y="441"/>
                  </a:lnTo>
                  <a:lnTo>
                    <a:pt x="264" y="456"/>
                  </a:lnTo>
                  <a:lnTo>
                    <a:pt x="231" y="480"/>
                  </a:lnTo>
                  <a:lnTo>
                    <a:pt x="285" y="480"/>
                  </a:lnTo>
                  <a:lnTo>
                    <a:pt x="318" y="501"/>
                  </a:lnTo>
                  <a:lnTo>
                    <a:pt x="267" y="510"/>
                  </a:lnTo>
                  <a:lnTo>
                    <a:pt x="204" y="531"/>
                  </a:lnTo>
                  <a:lnTo>
                    <a:pt x="129" y="582"/>
                  </a:lnTo>
                  <a:lnTo>
                    <a:pt x="0" y="513"/>
                  </a:lnTo>
                  <a:lnTo>
                    <a:pt x="207" y="6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Freeform 60"/>
            <p:cNvSpPr/>
            <p:nvPr/>
          </p:nvSpPr>
          <p:spPr bwMode="auto">
            <a:xfrm>
              <a:off x="3840" y="1226"/>
              <a:ext cx="1100" cy="1809"/>
            </a:xfrm>
            <a:custGeom>
              <a:avLst/>
              <a:gdLst>
                <a:gd name="T0" fmla="*/ 93 w 486"/>
                <a:gd name="T1" fmla="*/ 4103 h 753"/>
                <a:gd name="T2" fmla="*/ 276 w 486"/>
                <a:gd name="T3" fmla="*/ 3877 h 753"/>
                <a:gd name="T4" fmla="*/ 462 w 486"/>
                <a:gd name="T5" fmla="*/ 3745 h 753"/>
                <a:gd name="T6" fmla="*/ 677 w 486"/>
                <a:gd name="T7" fmla="*/ 3572 h 753"/>
                <a:gd name="T8" fmla="*/ 985 w 486"/>
                <a:gd name="T9" fmla="*/ 3330 h 753"/>
                <a:gd name="T10" fmla="*/ 1136 w 486"/>
                <a:gd name="T11" fmla="*/ 2914 h 753"/>
                <a:gd name="T12" fmla="*/ 1229 w 486"/>
                <a:gd name="T13" fmla="*/ 2597 h 753"/>
                <a:gd name="T14" fmla="*/ 1322 w 486"/>
                <a:gd name="T15" fmla="*/ 2362 h 753"/>
                <a:gd name="T16" fmla="*/ 1415 w 486"/>
                <a:gd name="T17" fmla="*/ 2083 h 753"/>
                <a:gd name="T18" fmla="*/ 1492 w 486"/>
                <a:gd name="T19" fmla="*/ 1852 h 753"/>
                <a:gd name="T20" fmla="*/ 1630 w 486"/>
                <a:gd name="T21" fmla="*/ 1703 h 753"/>
                <a:gd name="T22" fmla="*/ 1813 w 486"/>
                <a:gd name="T23" fmla="*/ 1530 h 753"/>
                <a:gd name="T24" fmla="*/ 1845 w 486"/>
                <a:gd name="T25" fmla="*/ 1247 h 753"/>
                <a:gd name="T26" fmla="*/ 1768 w 486"/>
                <a:gd name="T27" fmla="*/ 848 h 753"/>
                <a:gd name="T28" fmla="*/ 1630 w 486"/>
                <a:gd name="T29" fmla="*/ 641 h 753"/>
                <a:gd name="T30" fmla="*/ 1383 w 486"/>
                <a:gd name="T31" fmla="*/ 468 h 753"/>
                <a:gd name="T32" fmla="*/ 1075 w 486"/>
                <a:gd name="T33" fmla="*/ 312 h 753"/>
                <a:gd name="T34" fmla="*/ 693 w 486"/>
                <a:gd name="T35" fmla="*/ 259 h 753"/>
                <a:gd name="T36" fmla="*/ 231 w 486"/>
                <a:gd name="T37" fmla="*/ 329 h 753"/>
                <a:gd name="T38" fmla="*/ 199 w 486"/>
                <a:gd name="T39" fmla="*/ 190 h 753"/>
                <a:gd name="T40" fmla="*/ 61 w 486"/>
                <a:gd name="T41" fmla="*/ 103 h 753"/>
                <a:gd name="T42" fmla="*/ 552 w 486"/>
                <a:gd name="T43" fmla="*/ 34 h 753"/>
                <a:gd name="T44" fmla="*/ 860 w 486"/>
                <a:gd name="T45" fmla="*/ 0 h 753"/>
                <a:gd name="T46" fmla="*/ 1213 w 486"/>
                <a:gd name="T47" fmla="*/ 0 h 753"/>
                <a:gd name="T48" fmla="*/ 1428 w 486"/>
                <a:gd name="T49" fmla="*/ 0 h 753"/>
                <a:gd name="T50" fmla="*/ 1630 w 486"/>
                <a:gd name="T51" fmla="*/ 178 h 753"/>
                <a:gd name="T52" fmla="*/ 1937 w 486"/>
                <a:gd name="T53" fmla="*/ 283 h 753"/>
                <a:gd name="T54" fmla="*/ 2028 w 486"/>
                <a:gd name="T55" fmla="*/ 387 h 753"/>
                <a:gd name="T56" fmla="*/ 2275 w 486"/>
                <a:gd name="T57" fmla="*/ 526 h 753"/>
                <a:gd name="T58" fmla="*/ 2458 w 486"/>
                <a:gd name="T59" fmla="*/ 560 h 753"/>
                <a:gd name="T60" fmla="*/ 2490 w 486"/>
                <a:gd name="T61" fmla="*/ 663 h 753"/>
                <a:gd name="T62" fmla="*/ 2429 w 486"/>
                <a:gd name="T63" fmla="*/ 872 h 753"/>
                <a:gd name="T64" fmla="*/ 2275 w 486"/>
                <a:gd name="T65" fmla="*/ 942 h 753"/>
                <a:gd name="T66" fmla="*/ 2152 w 486"/>
                <a:gd name="T67" fmla="*/ 975 h 753"/>
                <a:gd name="T68" fmla="*/ 2306 w 486"/>
                <a:gd name="T69" fmla="*/ 1115 h 753"/>
                <a:gd name="T70" fmla="*/ 2367 w 486"/>
                <a:gd name="T71" fmla="*/ 1288 h 753"/>
                <a:gd name="T72" fmla="*/ 2397 w 486"/>
                <a:gd name="T73" fmla="*/ 1494 h 753"/>
                <a:gd name="T74" fmla="*/ 2397 w 486"/>
                <a:gd name="T75" fmla="*/ 1737 h 753"/>
                <a:gd name="T76" fmla="*/ 2336 w 486"/>
                <a:gd name="T77" fmla="*/ 1946 h 753"/>
                <a:gd name="T78" fmla="*/ 2214 w 486"/>
                <a:gd name="T79" fmla="*/ 1737 h 753"/>
                <a:gd name="T80" fmla="*/ 2121 w 486"/>
                <a:gd name="T81" fmla="*/ 1773 h 753"/>
                <a:gd name="T82" fmla="*/ 2152 w 486"/>
                <a:gd name="T83" fmla="*/ 1946 h 753"/>
                <a:gd name="T84" fmla="*/ 2214 w 486"/>
                <a:gd name="T85" fmla="*/ 2083 h 753"/>
                <a:gd name="T86" fmla="*/ 2152 w 486"/>
                <a:gd name="T87" fmla="*/ 2326 h 753"/>
                <a:gd name="T88" fmla="*/ 2060 w 486"/>
                <a:gd name="T89" fmla="*/ 2535 h 753"/>
                <a:gd name="T90" fmla="*/ 1874 w 486"/>
                <a:gd name="T91" fmla="*/ 2880 h 753"/>
                <a:gd name="T92" fmla="*/ 1784 w 486"/>
                <a:gd name="T93" fmla="*/ 3087 h 753"/>
                <a:gd name="T94" fmla="*/ 1598 w 486"/>
                <a:gd name="T95" fmla="*/ 3226 h 753"/>
                <a:gd name="T96" fmla="*/ 1383 w 486"/>
                <a:gd name="T97" fmla="*/ 3087 h 753"/>
                <a:gd name="T98" fmla="*/ 1598 w 486"/>
                <a:gd name="T99" fmla="*/ 3330 h 753"/>
                <a:gd name="T100" fmla="*/ 1659 w 486"/>
                <a:gd name="T101" fmla="*/ 3572 h 753"/>
                <a:gd name="T102" fmla="*/ 1476 w 486"/>
                <a:gd name="T103" fmla="*/ 3815 h 753"/>
                <a:gd name="T104" fmla="*/ 1261 w 486"/>
                <a:gd name="T105" fmla="*/ 3918 h 753"/>
                <a:gd name="T106" fmla="*/ 1062 w 486"/>
                <a:gd name="T107" fmla="*/ 3897 h 753"/>
                <a:gd name="T108" fmla="*/ 860 w 486"/>
                <a:gd name="T109" fmla="*/ 3918 h 753"/>
                <a:gd name="T110" fmla="*/ 677 w 486"/>
                <a:gd name="T111" fmla="*/ 4058 h 753"/>
                <a:gd name="T112" fmla="*/ 414 w 486"/>
                <a:gd name="T113" fmla="*/ 4086 h 753"/>
                <a:gd name="T114" fmla="*/ 231 w 486"/>
                <a:gd name="T115" fmla="*/ 4190 h 753"/>
                <a:gd name="T116" fmla="*/ 122 w 486"/>
                <a:gd name="T117" fmla="*/ 4312 h 753"/>
                <a:gd name="T118" fmla="*/ 0 w 486"/>
                <a:gd name="T119" fmla="*/ 4346 h 753"/>
                <a:gd name="T120" fmla="*/ 93 w 486"/>
                <a:gd name="T121" fmla="*/ 4103 h 7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86" h="753">
                  <a:moveTo>
                    <a:pt x="18" y="711"/>
                  </a:moveTo>
                  <a:lnTo>
                    <a:pt x="54" y="672"/>
                  </a:lnTo>
                  <a:lnTo>
                    <a:pt x="90" y="649"/>
                  </a:lnTo>
                  <a:lnTo>
                    <a:pt x="132" y="619"/>
                  </a:lnTo>
                  <a:lnTo>
                    <a:pt x="192" y="577"/>
                  </a:lnTo>
                  <a:lnTo>
                    <a:pt x="222" y="505"/>
                  </a:lnTo>
                  <a:lnTo>
                    <a:pt x="240" y="450"/>
                  </a:lnTo>
                  <a:lnTo>
                    <a:pt x="258" y="409"/>
                  </a:lnTo>
                  <a:lnTo>
                    <a:pt x="276" y="361"/>
                  </a:lnTo>
                  <a:lnTo>
                    <a:pt x="291" y="321"/>
                  </a:lnTo>
                  <a:lnTo>
                    <a:pt x="318" y="295"/>
                  </a:lnTo>
                  <a:lnTo>
                    <a:pt x="354" y="265"/>
                  </a:lnTo>
                  <a:lnTo>
                    <a:pt x="360" y="216"/>
                  </a:lnTo>
                  <a:lnTo>
                    <a:pt x="345" y="147"/>
                  </a:lnTo>
                  <a:lnTo>
                    <a:pt x="318" y="111"/>
                  </a:lnTo>
                  <a:lnTo>
                    <a:pt x="270" y="81"/>
                  </a:lnTo>
                  <a:lnTo>
                    <a:pt x="210" y="54"/>
                  </a:lnTo>
                  <a:lnTo>
                    <a:pt x="135" y="45"/>
                  </a:lnTo>
                  <a:lnTo>
                    <a:pt x="45" y="57"/>
                  </a:lnTo>
                  <a:lnTo>
                    <a:pt x="39" y="33"/>
                  </a:lnTo>
                  <a:lnTo>
                    <a:pt x="12" y="18"/>
                  </a:lnTo>
                  <a:lnTo>
                    <a:pt x="108" y="6"/>
                  </a:lnTo>
                  <a:lnTo>
                    <a:pt x="168" y="0"/>
                  </a:lnTo>
                  <a:lnTo>
                    <a:pt x="237" y="0"/>
                  </a:lnTo>
                  <a:lnTo>
                    <a:pt x="279" y="0"/>
                  </a:lnTo>
                  <a:lnTo>
                    <a:pt x="318" y="31"/>
                  </a:lnTo>
                  <a:lnTo>
                    <a:pt x="378" y="49"/>
                  </a:lnTo>
                  <a:lnTo>
                    <a:pt x="396" y="67"/>
                  </a:lnTo>
                  <a:lnTo>
                    <a:pt x="444" y="91"/>
                  </a:lnTo>
                  <a:lnTo>
                    <a:pt x="480" y="97"/>
                  </a:lnTo>
                  <a:lnTo>
                    <a:pt x="486" y="115"/>
                  </a:lnTo>
                  <a:lnTo>
                    <a:pt x="474" y="151"/>
                  </a:lnTo>
                  <a:lnTo>
                    <a:pt x="444" y="163"/>
                  </a:lnTo>
                  <a:lnTo>
                    <a:pt x="420" y="169"/>
                  </a:lnTo>
                  <a:lnTo>
                    <a:pt x="450" y="193"/>
                  </a:lnTo>
                  <a:lnTo>
                    <a:pt x="462" y="223"/>
                  </a:lnTo>
                  <a:lnTo>
                    <a:pt x="468" y="259"/>
                  </a:lnTo>
                  <a:lnTo>
                    <a:pt x="468" y="301"/>
                  </a:lnTo>
                  <a:lnTo>
                    <a:pt x="456" y="337"/>
                  </a:lnTo>
                  <a:lnTo>
                    <a:pt x="432" y="301"/>
                  </a:lnTo>
                  <a:lnTo>
                    <a:pt x="414" y="307"/>
                  </a:lnTo>
                  <a:lnTo>
                    <a:pt x="420" y="337"/>
                  </a:lnTo>
                  <a:lnTo>
                    <a:pt x="432" y="361"/>
                  </a:lnTo>
                  <a:lnTo>
                    <a:pt x="420" y="403"/>
                  </a:lnTo>
                  <a:lnTo>
                    <a:pt x="402" y="439"/>
                  </a:lnTo>
                  <a:lnTo>
                    <a:pt x="366" y="499"/>
                  </a:lnTo>
                  <a:lnTo>
                    <a:pt x="348" y="535"/>
                  </a:lnTo>
                  <a:lnTo>
                    <a:pt x="312" y="559"/>
                  </a:lnTo>
                  <a:lnTo>
                    <a:pt x="270" y="535"/>
                  </a:lnTo>
                  <a:lnTo>
                    <a:pt x="312" y="577"/>
                  </a:lnTo>
                  <a:lnTo>
                    <a:pt x="324" y="619"/>
                  </a:lnTo>
                  <a:lnTo>
                    <a:pt x="288" y="661"/>
                  </a:lnTo>
                  <a:lnTo>
                    <a:pt x="246" y="679"/>
                  </a:lnTo>
                  <a:lnTo>
                    <a:pt x="207" y="675"/>
                  </a:lnTo>
                  <a:lnTo>
                    <a:pt x="168" y="679"/>
                  </a:lnTo>
                  <a:lnTo>
                    <a:pt x="132" y="703"/>
                  </a:lnTo>
                  <a:lnTo>
                    <a:pt x="81" y="708"/>
                  </a:lnTo>
                  <a:lnTo>
                    <a:pt x="45" y="726"/>
                  </a:lnTo>
                  <a:lnTo>
                    <a:pt x="24" y="747"/>
                  </a:lnTo>
                  <a:lnTo>
                    <a:pt x="0" y="753"/>
                  </a:lnTo>
                  <a:lnTo>
                    <a:pt x="18" y="711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0" name="Freeform 61"/>
            <p:cNvSpPr/>
            <p:nvPr/>
          </p:nvSpPr>
          <p:spPr bwMode="auto">
            <a:xfrm>
              <a:off x="2787" y="560"/>
              <a:ext cx="1216" cy="1002"/>
            </a:xfrm>
            <a:custGeom>
              <a:avLst/>
              <a:gdLst>
                <a:gd name="T0" fmla="*/ 2631 w 537"/>
                <a:gd name="T1" fmla="*/ 2408 h 417"/>
                <a:gd name="T2" fmla="*/ 2754 w 537"/>
                <a:gd name="T3" fmla="*/ 1749 h 417"/>
                <a:gd name="T4" fmla="*/ 2692 w 537"/>
                <a:gd name="T5" fmla="*/ 1194 h 417"/>
                <a:gd name="T6" fmla="*/ 2507 w 537"/>
                <a:gd name="T7" fmla="*/ 779 h 417"/>
                <a:gd name="T8" fmla="*/ 2323 w 537"/>
                <a:gd name="T9" fmla="*/ 519 h 417"/>
                <a:gd name="T10" fmla="*/ 1970 w 537"/>
                <a:gd name="T11" fmla="*/ 346 h 417"/>
                <a:gd name="T12" fmla="*/ 1569 w 537"/>
                <a:gd name="T13" fmla="*/ 363 h 417"/>
                <a:gd name="T14" fmla="*/ 1200 w 537"/>
                <a:gd name="T15" fmla="*/ 87 h 417"/>
                <a:gd name="T16" fmla="*/ 1078 w 537"/>
                <a:gd name="T17" fmla="*/ 0 h 417"/>
                <a:gd name="T18" fmla="*/ 908 w 537"/>
                <a:gd name="T19" fmla="*/ 0 h 417"/>
                <a:gd name="T20" fmla="*/ 523 w 537"/>
                <a:gd name="T21" fmla="*/ 0 h 417"/>
                <a:gd name="T22" fmla="*/ 414 w 537"/>
                <a:gd name="T23" fmla="*/ 103 h 417"/>
                <a:gd name="T24" fmla="*/ 308 w 537"/>
                <a:gd name="T25" fmla="*/ 260 h 417"/>
                <a:gd name="T26" fmla="*/ 276 w 537"/>
                <a:gd name="T27" fmla="*/ 502 h 417"/>
                <a:gd name="T28" fmla="*/ 292 w 537"/>
                <a:gd name="T29" fmla="*/ 745 h 417"/>
                <a:gd name="T30" fmla="*/ 276 w 537"/>
                <a:gd name="T31" fmla="*/ 884 h 417"/>
                <a:gd name="T32" fmla="*/ 0 w 537"/>
                <a:gd name="T33" fmla="*/ 1247 h 417"/>
                <a:gd name="T34" fmla="*/ 2631 w 537"/>
                <a:gd name="T35" fmla="*/ 2408 h 41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37" h="417">
                  <a:moveTo>
                    <a:pt x="513" y="417"/>
                  </a:moveTo>
                  <a:lnTo>
                    <a:pt x="537" y="303"/>
                  </a:lnTo>
                  <a:lnTo>
                    <a:pt x="525" y="207"/>
                  </a:lnTo>
                  <a:lnTo>
                    <a:pt x="489" y="135"/>
                  </a:lnTo>
                  <a:lnTo>
                    <a:pt x="453" y="90"/>
                  </a:lnTo>
                  <a:lnTo>
                    <a:pt x="384" y="60"/>
                  </a:lnTo>
                  <a:lnTo>
                    <a:pt x="306" y="63"/>
                  </a:lnTo>
                  <a:lnTo>
                    <a:pt x="234" y="15"/>
                  </a:lnTo>
                  <a:lnTo>
                    <a:pt x="210" y="0"/>
                  </a:lnTo>
                  <a:lnTo>
                    <a:pt x="177" y="0"/>
                  </a:lnTo>
                  <a:lnTo>
                    <a:pt x="102" y="0"/>
                  </a:lnTo>
                  <a:lnTo>
                    <a:pt x="81" y="18"/>
                  </a:lnTo>
                  <a:lnTo>
                    <a:pt x="60" y="45"/>
                  </a:lnTo>
                  <a:lnTo>
                    <a:pt x="54" y="87"/>
                  </a:lnTo>
                  <a:lnTo>
                    <a:pt x="57" y="129"/>
                  </a:lnTo>
                  <a:lnTo>
                    <a:pt x="54" y="153"/>
                  </a:lnTo>
                  <a:lnTo>
                    <a:pt x="0" y="216"/>
                  </a:lnTo>
                  <a:lnTo>
                    <a:pt x="513" y="417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1" name="Freeform 62"/>
            <p:cNvSpPr/>
            <p:nvPr/>
          </p:nvSpPr>
          <p:spPr bwMode="auto">
            <a:xfrm>
              <a:off x="2916" y="856"/>
              <a:ext cx="999" cy="749"/>
            </a:xfrm>
            <a:custGeom>
              <a:avLst/>
              <a:gdLst>
                <a:gd name="T0" fmla="*/ 0 w 441"/>
                <a:gd name="T1" fmla="*/ 708 h 312"/>
                <a:gd name="T2" fmla="*/ 122 w 441"/>
                <a:gd name="T3" fmla="*/ 346 h 312"/>
                <a:gd name="T4" fmla="*/ 292 w 441"/>
                <a:gd name="T5" fmla="*/ 466 h 312"/>
                <a:gd name="T6" fmla="*/ 276 w 441"/>
                <a:gd name="T7" fmla="*/ 190 h 312"/>
                <a:gd name="T8" fmla="*/ 276 w 441"/>
                <a:gd name="T9" fmla="*/ 86 h 312"/>
                <a:gd name="T10" fmla="*/ 401 w 441"/>
                <a:gd name="T11" fmla="*/ 226 h 312"/>
                <a:gd name="T12" fmla="*/ 507 w 441"/>
                <a:gd name="T13" fmla="*/ 519 h 312"/>
                <a:gd name="T14" fmla="*/ 523 w 441"/>
                <a:gd name="T15" fmla="*/ 190 h 312"/>
                <a:gd name="T16" fmla="*/ 462 w 441"/>
                <a:gd name="T17" fmla="*/ 17 h 312"/>
                <a:gd name="T18" fmla="*/ 738 w 441"/>
                <a:gd name="T19" fmla="*/ 346 h 312"/>
                <a:gd name="T20" fmla="*/ 831 w 441"/>
                <a:gd name="T21" fmla="*/ 53 h 312"/>
                <a:gd name="T22" fmla="*/ 970 w 441"/>
                <a:gd name="T23" fmla="*/ 259 h 312"/>
                <a:gd name="T24" fmla="*/ 1201 w 441"/>
                <a:gd name="T25" fmla="*/ 86 h 312"/>
                <a:gd name="T26" fmla="*/ 1278 w 441"/>
                <a:gd name="T27" fmla="*/ 242 h 312"/>
                <a:gd name="T28" fmla="*/ 1448 w 441"/>
                <a:gd name="T29" fmla="*/ 120 h 312"/>
                <a:gd name="T30" fmla="*/ 1493 w 441"/>
                <a:gd name="T31" fmla="*/ 0 h 312"/>
                <a:gd name="T32" fmla="*/ 1554 w 441"/>
                <a:gd name="T33" fmla="*/ 242 h 312"/>
                <a:gd name="T34" fmla="*/ 1570 w 441"/>
                <a:gd name="T35" fmla="*/ 519 h 312"/>
                <a:gd name="T36" fmla="*/ 1740 w 441"/>
                <a:gd name="T37" fmla="*/ 346 h 312"/>
                <a:gd name="T38" fmla="*/ 1785 w 441"/>
                <a:gd name="T39" fmla="*/ 190 h 312"/>
                <a:gd name="T40" fmla="*/ 1801 w 441"/>
                <a:gd name="T41" fmla="*/ 552 h 312"/>
                <a:gd name="T42" fmla="*/ 1817 w 441"/>
                <a:gd name="T43" fmla="*/ 639 h 312"/>
                <a:gd name="T44" fmla="*/ 1923 w 441"/>
                <a:gd name="T45" fmla="*/ 485 h 312"/>
                <a:gd name="T46" fmla="*/ 2000 w 441"/>
                <a:gd name="T47" fmla="*/ 675 h 312"/>
                <a:gd name="T48" fmla="*/ 2048 w 441"/>
                <a:gd name="T49" fmla="*/ 778 h 312"/>
                <a:gd name="T50" fmla="*/ 2125 w 441"/>
                <a:gd name="T51" fmla="*/ 725 h 312"/>
                <a:gd name="T52" fmla="*/ 2202 w 441"/>
                <a:gd name="T53" fmla="*/ 811 h 312"/>
                <a:gd name="T54" fmla="*/ 2263 w 441"/>
                <a:gd name="T55" fmla="*/ 1054 h 312"/>
                <a:gd name="T56" fmla="*/ 1740 w 441"/>
                <a:gd name="T57" fmla="*/ 1798 h 312"/>
                <a:gd name="T58" fmla="*/ 61 w 441"/>
                <a:gd name="T59" fmla="*/ 1246 h 312"/>
                <a:gd name="T60" fmla="*/ 0 w 441"/>
                <a:gd name="T61" fmla="*/ 708 h 31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41" h="312">
                  <a:moveTo>
                    <a:pt x="0" y="123"/>
                  </a:moveTo>
                  <a:lnTo>
                    <a:pt x="24" y="60"/>
                  </a:lnTo>
                  <a:lnTo>
                    <a:pt x="57" y="81"/>
                  </a:lnTo>
                  <a:lnTo>
                    <a:pt x="54" y="33"/>
                  </a:lnTo>
                  <a:lnTo>
                    <a:pt x="54" y="15"/>
                  </a:lnTo>
                  <a:lnTo>
                    <a:pt x="78" y="39"/>
                  </a:lnTo>
                  <a:lnTo>
                    <a:pt x="99" y="90"/>
                  </a:lnTo>
                  <a:lnTo>
                    <a:pt x="102" y="33"/>
                  </a:lnTo>
                  <a:lnTo>
                    <a:pt x="90" y="3"/>
                  </a:lnTo>
                  <a:lnTo>
                    <a:pt x="144" y="60"/>
                  </a:lnTo>
                  <a:lnTo>
                    <a:pt x="162" y="9"/>
                  </a:lnTo>
                  <a:lnTo>
                    <a:pt x="189" y="45"/>
                  </a:lnTo>
                  <a:lnTo>
                    <a:pt x="234" y="15"/>
                  </a:lnTo>
                  <a:lnTo>
                    <a:pt x="249" y="42"/>
                  </a:lnTo>
                  <a:lnTo>
                    <a:pt x="282" y="21"/>
                  </a:lnTo>
                  <a:lnTo>
                    <a:pt x="291" y="0"/>
                  </a:lnTo>
                  <a:lnTo>
                    <a:pt x="303" y="42"/>
                  </a:lnTo>
                  <a:lnTo>
                    <a:pt x="306" y="90"/>
                  </a:lnTo>
                  <a:lnTo>
                    <a:pt x="339" y="60"/>
                  </a:lnTo>
                  <a:lnTo>
                    <a:pt x="348" y="33"/>
                  </a:lnTo>
                  <a:lnTo>
                    <a:pt x="351" y="96"/>
                  </a:lnTo>
                  <a:lnTo>
                    <a:pt x="354" y="111"/>
                  </a:lnTo>
                  <a:lnTo>
                    <a:pt x="375" y="84"/>
                  </a:lnTo>
                  <a:lnTo>
                    <a:pt x="390" y="117"/>
                  </a:lnTo>
                  <a:lnTo>
                    <a:pt x="399" y="135"/>
                  </a:lnTo>
                  <a:lnTo>
                    <a:pt x="414" y="126"/>
                  </a:lnTo>
                  <a:lnTo>
                    <a:pt x="429" y="141"/>
                  </a:lnTo>
                  <a:lnTo>
                    <a:pt x="441" y="183"/>
                  </a:lnTo>
                  <a:lnTo>
                    <a:pt x="339" y="312"/>
                  </a:lnTo>
                  <a:lnTo>
                    <a:pt x="12" y="216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Freeform 63"/>
            <p:cNvSpPr/>
            <p:nvPr/>
          </p:nvSpPr>
          <p:spPr bwMode="auto">
            <a:xfrm>
              <a:off x="1558" y="897"/>
              <a:ext cx="1548" cy="1830"/>
            </a:xfrm>
            <a:custGeom>
              <a:avLst/>
              <a:gdLst>
                <a:gd name="T0" fmla="*/ 892 w 684"/>
                <a:gd name="T1" fmla="*/ 3600 h 762"/>
                <a:gd name="T2" fmla="*/ 706 w 684"/>
                <a:gd name="T3" fmla="*/ 3218 h 762"/>
                <a:gd name="T4" fmla="*/ 523 w 684"/>
                <a:gd name="T5" fmla="*/ 2976 h 762"/>
                <a:gd name="T6" fmla="*/ 308 w 684"/>
                <a:gd name="T7" fmla="*/ 2666 h 762"/>
                <a:gd name="T8" fmla="*/ 247 w 684"/>
                <a:gd name="T9" fmla="*/ 2387 h 762"/>
                <a:gd name="T10" fmla="*/ 276 w 684"/>
                <a:gd name="T11" fmla="*/ 2111 h 762"/>
                <a:gd name="T12" fmla="*/ 61 w 684"/>
                <a:gd name="T13" fmla="*/ 1696 h 762"/>
                <a:gd name="T14" fmla="*/ 0 w 684"/>
                <a:gd name="T15" fmla="*/ 1280 h 762"/>
                <a:gd name="T16" fmla="*/ 93 w 684"/>
                <a:gd name="T17" fmla="*/ 1037 h 762"/>
                <a:gd name="T18" fmla="*/ 491 w 684"/>
                <a:gd name="T19" fmla="*/ 831 h 762"/>
                <a:gd name="T20" fmla="*/ 677 w 684"/>
                <a:gd name="T21" fmla="*/ 276 h 762"/>
                <a:gd name="T22" fmla="*/ 953 w 684"/>
                <a:gd name="T23" fmla="*/ 70 h 762"/>
                <a:gd name="T24" fmla="*/ 1229 w 684"/>
                <a:gd name="T25" fmla="*/ 34 h 762"/>
                <a:gd name="T26" fmla="*/ 1598 w 684"/>
                <a:gd name="T27" fmla="*/ 0 h 762"/>
                <a:gd name="T28" fmla="*/ 2243 w 684"/>
                <a:gd name="T29" fmla="*/ 139 h 762"/>
                <a:gd name="T30" fmla="*/ 2182 w 684"/>
                <a:gd name="T31" fmla="*/ 2284 h 762"/>
                <a:gd name="T32" fmla="*/ 3503 w 684"/>
                <a:gd name="T33" fmla="*/ 3910 h 762"/>
                <a:gd name="T34" fmla="*/ 3257 w 684"/>
                <a:gd name="T35" fmla="*/ 4395 h 762"/>
                <a:gd name="T36" fmla="*/ 2028 w 684"/>
                <a:gd name="T37" fmla="*/ 4395 h 762"/>
                <a:gd name="T38" fmla="*/ 892 w 684"/>
                <a:gd name="T39" fmla="*/ 3600 h 76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84" h="762">
                  <a:moveTo>
                    <a:pt x="174" y="624"/>
                  </a:moveTo>
                  <a:lnTo>
                    <a:pt x="138" y="558"/>
                  </a:lnTo>
                  <a:lnTo>
                    <a:pt x="102" y="516"/>
                  </a:lnTo>
                  <a:lnTo>
                    <a:pt x="60" y="462"/>
                  </a:lnTo>
                  <a:lnTo>
                    <a:pt x="48" y="414"/>
                  </a:lnTo>
                  <a:lnTo>
                    <a:pt x="54" y="366"/>
                  </a:lnTo>
                  <a:lnTo>
                    <a:pt x="12" y="294"/>
                  </a:lnTo>
                  <a:lnTo>
                    <a:pt x="0" y="222"/>
                  </a:lnTo>
                  <a:lnTo>
                    <a:pt x="18" y="180"/>
                  </a:lnTo>
                  <a:lnTo>
                    <a:pt x="96" y="144"/>
                  </a:lnTo>
                  <a:lnTo>
                    <a:pt x="132" y="48"/>
                  </a:lnTo>
                  <a:lnTo>
                    <a:pt x="186" y="12"/>
                  </a:lnTo>
                  <a:lnTo>
                    <a:pt x="240" y="6"/>
                  </a:lnTo>
                  <a:lnTo>
                    <a:pt x="312" y="0"/>
                  </a:lnTo>
                  <a:lnTo>
                    <a:pt x="438" y="24"/>
                  </a:lnTo>
                  <a:lnTo>
                    <a:pt x="426" y="396"/>
                  </a:lnTo>
                  <a:lnTo>
                    <a:pt x="684" y="678"/>
                  </a:lnTo>
                  <a:lnTo>
                    <a:pt x="636" y="762"/>
                  </a:lnTo>
                  <a:lnTo>
                    <a:pt x="396" y="762"/>
                  </a:lnTo>
                  <a:lnTo>
                    <a:pt x="174" y="624"/>
                  </a:lnTo>
                  <a:close/>
                </a:path>
              </a:pathLst>
            </a:custGeom>
            <a:solidFill>
              <a:srgbClr val="FFCC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Freeform 64"/>
            <p:cNvSpPr/>
            <p:nvPr/>
          </p:nvSpPr>
          <p:spPr bwMode="auto">
            <a:xfrm>
              <a:off x="1524" y="870"/>
              <a:ext cx="1277" cy="1932"/>
            </a:xfrm>
            <a:custGeom>
              <a:avLst/>
              <a:gdLst>
                <a:gd name="T0" fmla="*/ 1585 w 564"/>
                <a:gd name="T1" fmla="*/ 173 h 804"/>
                <a:gd name="T2" fmla="*/ 1200 w 564"/>
                <a:gd name="T3" fmla="*/ 226 h 804"/>
                <a:gd name="T4" fmla="*/ 1062 w 564"/>
                <a:gd name="T5" fmla="*/ 346 h 804"/>
                <a:gd name="T6" fmla="*/ 1014 w 564"/>
                <a:gd name="T7" fmla="*/ 502 h 804"/>
                <a:gd name="T8" fmla="*/ 1001 w 564"/>
                <a:gd name="T9" fmla="*/ 779 h 804"/>
                <a:gd name="T10" fmla="*/ 953 w 564"/>
                <a:gd name="T11" fmla="*/ 952 h 804"/>
                <a:gd name="T12" fmla="*/ 847 w 564"/>
                <a:gd name="T13" fmla="*/ 1040 h 804"/>
                <a:gd name="T14" fmla="*/ 645 w 564"/>
                <a:gd name="T15" fmla="*/ 1177 h 804"/>
                <a:gd name="T16" fmla="*/ 539 w 564"/>
                <a:gd name="T17" fmla="*/ 1247 h 804"/>
                <a:gd name="T18" fmla="*/ 491 w 564"/>
                <a:gd name="T19" fmla="*/ 1403 h 804"/>
                <a:gd name="T20" fmla="*/ 507 w 564"/>
                <a:gd name="T21" fmla="*/ 1507 h 804"/>
                <a:gd name="T22" fmla="*/ 584 w 564"/>
                <a:gd name="T23" fmla="*/ 1593 h 804"/>
                <a:gd name="T24" fmla="*/ 693 w 564"/>
                <a:gd name="T25" fmla="*/ 1785 h 804"/>
                <a:gd name="T26" fmla="*/ 754 w 564"/>
                <a:gd name="T27" fmla="*/ 2112 h 804"/>
                <a:gd name="T28" fmla="*/ 693 w 564"/>
                <a:gd name="T29" fmla="*/ 2321 h 804"/>
                <a:gd name="T30" fmla="*/ 693 w 564"/>
                <a:gd name="T31" fmla="*/ 2547 h 804"/>
                <a:gd name="T32" fmla="*/ 738 w 564"/>
                <a:gd name="T33" fmla="*/ 2737 h 804"/>
                <a:gd name="T34" fmla="*/ 847 w 564"/>
                <a:gd name="T35" fmla="*/ 2946 h 804"/>
                <a:gd name="T36" fmla="*/ 985 w 564"/>
                <a:gd name="T37" fmla="*/ 3256 h 804"/>
                <a:gd name="T38" fmla="*/ 1229 w 564"/>
                <a:gd name="T39" fmla="*/ 3395 h 804"/>
                <a:gd name="T40" fmla="*/ 1431 w 564"/>
                <a:gd name="T41" fmla="*/ 3448 h 804"/>
                <a:gd name="T42" fmla="*/ 1630 w 564"/>
                <a:gd name="T43" fmla="*/ 3552 h 804"/>
                <a:gd name="T44" fmla="*/ 1784 w 564"/>
                <a:gd name="T45" fmla="*/ 3655 h 804"/>
                <a:gd name="T46" fmla="*/ 1891 w 564"/>
                <a:gd name="T47" fmla="*/ 3811 h 804"/>
                <a:gd name="T48" fmla="*/ 2122 w 564"/>
                <a:gd name="T49" fmla="*/ 3828 h 804"/>
                <a:gd name="T50" fmla="*/ 2291 w 564"/>
                <a:gd name="T51" fmla="*/ 3881 h 804"/>
                <a:gd name="T52" fmla="*/ 2538 w 564"/>
                <a:gd name="T53" fmla="*/ 3967 h 804"/>
                <a:gd name="T54" fmla="*/ 2706 w 564"/>
                <a:gd name="T55" fmla="*/ 4140 h 804"/>
                <a:gd name="T56" fmla="*/ 2891 w 564"/>
                <a:gd name="T57" fmla="*/ 4297 h 804"/>
                <a:gd name="T58" fmla="*/ 2876 w 564"/>
                <a:gd name="T59" fmla="*/ 4643 h 804"/>
                <a:gd name="T60" fmla="*/ 953 w 564"/>
                <a:gd name="T61" fmla="*/ 3758 h 804"/>
                <a:gd name="T62" fmla="*/ 783 w 564"/>
                <a:gd name="T63" fmla="*/ 3412 h 804"/>
                <a:gd name="T64" fmla="*/ 616 w 564"/>
                <a:gd name="T65" fmla="*/ 3206 h 804"/>
                <a:gd name="T66" fmla="*/ 446 w 564"/>
                <a:gd name="T67" fmla="*/ 3013 h 804"/>
                <a:gd name="T68" fmla="*/ 353 w 564"/>
                <a:gd name="T69" fmla="*/ 2876 h 804"/>
                <a:gd name="T70" fmla="*/ 276 w 564"/>
                <a:gd name="T71" fmla="*/ 2617 h 804"/>
                <a:gd name="T72" fmla="*/ 247 w 564"/>
                <a:gd name="T73" fmla="*/ 2374 h 804"/>
                <a:gd name="T74" fmla="*/ 260 w 564"/>
                <a:gd name="T75" fmla="*/ 2201 h 804"/>
                <a:gd name="T76" fmla="*/ 154 w 564"/>
                <a:gd name="T77" fmla="*/ 2009 h 804"/>
                <a:gd name="T78" fmla="*/ 77 w 564"/>
                <a:gd name="T79" fmla="*/ 1853 h 804"/>
                <a:gd name="T80" fmla="*/ 16 w 564"/>
                <a:gd name="T81" fmla="*/ 1663 h 804"/>
                <a:gd name="T82" fmla="*/ 0 w 564"/>
                <a:gd name="T83" fmla="*/ 1473 h 804"/>
                <a:gd name="T84" fmla="*/ 16 w 564"/>
                <a:gd name="T85" fmla="*/ 1161 h 804"/>
                <a:gd name="T86" fmla="*/ 93 w 564"/>
                <a:gd name="T87" fmla="*/ 1004 h 804"/>
                <a:gd name="T88" fmla="*/ 247 w 564"/>
                <a:gd name="T89" fmla="*/ 935 h 804"/>
                <a:gd name="T90" fmla="*/ 369 w 564"/>
                <a:gd name="T91" fmla="*/ 865 h 804"/>
                <a:gd name="T92" fmla="*/ 523 w 564"/>
                <a:gd name="T93" fmla="*/ 798 h 804"/>
                <a:gd name="T94" fmla="*/ 539 w 564"/>
                <a:gd name="T95" fmla="*/ 625 h 804"/>
                <a:gd name="T96" fmla="*/ 568 w 564"/>
                <a:gd name="T97" fmla="*/ 433 h 804"/>
                <a:gd name="T98" fmla="*/ 645 w 564"/>
                <a:gd name="T99" fmla="*/ 312 h 804"/>
                <a:gd name="T100" fmla="*/ 783 w 564"/>
                <a:gd name="T101" fmla="*/ 209 h 804"/>
                <a:gd name="T102" fmla="*/ 908 w 564"/>
                <a:gd name="T103" fmla="*/ 103 h 804"/>
                <a:gd name="T104" fmla="*/ 1139 w 564"/>
                <a:gd name="T105" fmla="*/ 34 h 804"/>
                <a:gd name="T106" fmla="*/ 1399 w 564"/>
                <a:gd name="T107" fmla="*/ 17 h 804"/>
                <a:gd name="T108" fmla="*/ 1752 w 564"/>
                <a:gd name="T109" fmla="*/ 0 h 804"/>
                <a:gd name="T110" fmla="*/ 2153 w 564"/>
                <a:gd name="T111" fmla="*/ 34 h 804"/>
                <a:gd name="T112" fmla="*/ 1585 w 564"/>
                <a:gd name="T113" fmla="*/ 173 h 80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64" h="804">
                  <a:moveTo>
                    <a:pt x="309" y="30"/>
                  </a:moveTo>
                  <a:lnTo>
                    <a:pt x="234" y="39"/>
                  </a:lnTo>
                  <a:lnTo>
                    <a:pt x="207" y="60"/>
                  </a:lnTo>
                  <a:lnTo>
                    <a:pt x="198" y="87"/>
                  </a:lnTo>
                  <a:lnTo>
                    <a:pt x="195" y="135"/>
                  </a:lnTo>
                  <a:lnTo>
                    <a:pt x="186" y="165"/>
                  </a:lnTo>
                  <a:lnTo>
                    <a:pt x="165" y="180"/>
                  </a:lnTo>
                  <a:lnTo>
                    <a:pt x="126" y="204"/>
                  </a:lnTo>
                  <a:lnTo>
                    <a:pt x="105" y="216"/>
                  </a:lnTo>
                  <a:lnTo>
                    <a:pt x="96" y="243"/>
                  </a:lnTo>
                  <a:lnTo>
                    <a:pt x="99" y="261"/>
                  </a:lnTo>
                  <a:lnTo>
                    <a:pt x="114" y="276"/>
                  </a:lnTo>
                  <a:lnTo>
                    <a:pt x="135" y="309"/>
                  </a:lnTo>
                  <a:lnTo>
                    <a:pt x="147" y="366"/>
                  </a:lnTo>
                  <a:lnTo>
                    <a:pt x="135" y="402"/>
                  </a:lnTo>
                  <a:lnTo>
                    <a:pt x="135" y="441"/>
                  </a:lnTo>
                  <a:lnTo>
                    <a:pt x="144" y="474"/>
                  </a:lnTo>
                  <a:lnTo>
                    <a:pt x="165" y="510"/>
                  </a:lnTo>
                  <a:lnTo>
                    <a:pt x="192" y="564"/>
                  </a:lnTo>
                  <a:lnTo>
                    <a:pt x="240" y="588"/>
                  </a:lnTo>
                  <a:lnTo>
                    <a:pt x="279" y="597"/>
                  </a:lnTo>
                  <a:lnTo>
                    <a:pt x="318" y="615"/>
                  </a:lnTo>
                  <a:lnTo>
                    <a:pt x="348" y="633"/>
                  </a:lnTo>
                  <a:lnTo>
                    <a:pt x="369" y="660"/>
                  </a:lnTo>
                  <a:lnTo>
                    <a:pt x="414" y="663"/>
                  </a:lnTo>
                  <a:lnTo>
                    <a:pt x="447" y="672"/>
                  </a:lnTo>
                  <a:lnTo>
                    <a:pt x="495" y="687"/>
                  </a:lnTo>
                  <a:lnTo>
                    <a:pt x="528" y="717"/>
                  </a:lnTo>
                  <a:lnTo>
                    <a:pt x="564" y="744"/>
                  </a:lnTo>
                  <a:lnTo>
                    <a:pt x="561" y="804"/>
                  </a:lnTo>
                  <a:lnTo>
                    <a:pt x="186" y="651"/>
                  </a:lnTo>
                  <a:lnTo>
                    <a:pt x="153" y="591"/>
                  </a:lnTo>
                  <a:lnTo>
                    <a:pt x="120" y="555"/>
                  </a:lnTo>
                  <a:lnTo>
                    <a:pt x="87" y="522"/>
                  </a:lnTo>
                  <a:lnTo>
                    <a:pt x="69" y="498"/>
                  </a:lnTo>
                  <a:lnTo>
                    <a:pt x="54" y="453"/>
                  </a:lnTo>
                  <a:lnTo>
                    <a:pt x="48" y="411"/>
                  </a:lnTo>
                  <a:lnTo>
                    <a:pt x="51" y="381"/>
                  </a:lnTo>
                  <a:lnTo>
                    <a:pt x="30" y="348"/>
                  </a:lnTo>
                  <a:lnTo>
                    <a:pt x="15" y="321"/>
                  </a:lnTo>
                  <a:lnTo>
                    <a:pt x="3" y="288"/>
                  </a:lnTo>
                  <a:lnTo>
                    <a:pt x="0" y="255"/>
                  </a:lnTo>
                  <a:lnTo>
                    <a:pt x="3" y="201"/>
                  </a:lnTo>
                  <a:lnTo>
                    <a:pt x="18" y="174"/>
                  </a:lnTo>
                  <a:lnTo>
                    <a:pt x="48" y="162"/>
                  </a:lnTo>
                  <a:lnTo>
                    <a:pt x="72" y="150"/>
                  </a:lnTo>
                  <a:lnTo>
                    <a:pt x="102" y="138"/>
                  </a:lnTo>
                  <a:lnTo>
                    <a:pt x="105" y="108"/>
                  </a:lnTo>
                  <a:lnTo>
                    <a:pt x="111" y="75"/>
                  </a:lnTo>
                  <a:lnTo>
                    <a:pt x="126" y="54"/>
                  </a:lnTo>
                  <a:lnTo>
                    <a:pt x="153" y="36"/>
                  </a:lnTo>
                  <a:lnTo>
                    <a:pt x="177" y="18"/>
                  </a:lnTo>
                  <a:lnTo>
                    <a:pt x="222" y="6"/>
                  </a:lnTo>
                  <a:lnTo>
                    <a:pt x="273" y="3"/>
                  </a:lnTo>
                  <a:lnTo>
                    <a:pt x="342" y="0"/>
                  </a:lnTo>
                  <a:lnTo>
                    <a:pt x="420" y="6"/>
                  </a:lnTo>
                  <a:lnTo>
                    <a:pt x="309" y="30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Freeform 65"/>
            <p:cNvSpPr/>
            <p:nvPr/>
          </p:nvSpPr>
          <p:spPr bwMode="auto">
            <a:xfrm>
              <a:off x="2033" y="909"/>
              <a:ext cx="1440" cy="1761"/>
            </a:xfrm>
            <a:custGeom>
              <a:avLst/>
              <a:gdLst>
                <a:gd name="T0" fmla="*/ 2060 w 636"/>
                <a:gd name="T1" fmla="*/ 4231 h 733"/>
                <a:gd name="T2" fmla="*/ 1630 w 636"/>
                <a:gd name="T3" fmla="*/ 3954 h 733"/>
                <a:gd name="T4" fmla="*/ 1508 w 636"/>
                <a:gd name="T5" fmla="*/ 3712 h 733"/>
                <a:gd name="T6" fmla="*/ 1354 w 636"/>
                <a:gd name="T7" fmla="*/ 3608 h 733"/>
                <a:gd name="T8" fmla="*/ 1075 w 636"/>
                <a:gd name="T9" fmla="*/ 3572 h 733"/>
                <a:gd name="T10" fmla="*/ 770 w 636"/>
                <a:gd name="T11" fmla="*/ 3330 h 733"/>
                <a:gd name="T12" fmla="*/ 600 w 636"/>
                <a:gd name="T13" fmla="*/ 3169 h 733"/>
                <a:gd name="T14" fmla="*/ 491 w 636"/>
                <a:gd name="T15" fmla="*/ 2984 h 733"/>
                <a:gd name="T16" fmla="*/ 462 w 636"/>
                <a:gd name="T17" fmla="*/ 2708 h 733"/>
                <a:gd name="T18" fmla="*/ 491 w 636"/>
                <a:gd name="T19" fmla="*/ 2535 h 733"/>
                <a:gd name="T20" fmla="*/ 276 w 636"/>
                <a:gd name="T21" fmla="*/ 2362 h 733"/>
                <a:gd name="T22" fmla="*/ 61 w 636"/>
                <a:gd name="T23" fmla="*/ 1980 h 733"/>
                <a:gd name="T24" fmla="*/ 0 w 636"/>
                <a:gd name="T25" fmla="*/ 1662 h 733"/>
                <a:gd name="T26" fmla="*/ 45 w 636"/>
                <a:gd name="T27" fmla="*/ 1403 h 733"/>
                <a:gd name="T28" fmla="*/ 122 w 636"/>
                <a:gd name="T29" fmla="*/ 1148 h 733"/>
                <a:gd name="T30" fmla="*/ 369 w 636"/>
                <a:gd name="T31" fmla="*/ 906 h 733"/>
                <a:gd name="T32" fmla="*/ 337 w 636"/>
                <a:gd name="T33" fmla="*/ 605 h 733"/>
                <a:gd name="T34" fmla="*/ 369 w 636"/>
                <a:gd name="T35" fmla="*/ 420 h 733"/>
                <a:gd name="T36" fmla="*/ 523 w 636"/>
                <a:gd name="T37" fmla="*/ 144 h 733"/>
                <a:gd name="T38" fmla="*/ 754 w 636"/>
                <a:gd name="T39" fmla="*/ 53 h 733"/>
                <a:gd name="T40" fmla="*/ 1075 w 636"/>
                <a:gd name="T41" fmla="*/ 5 h 733"/>
                <a:gd name="T42" fmla="*/ 1338 w 636"/>
                <a:gd name="T43" fmla="*/ 0 h 733"/>
                <a:gd name="T44" fmla="*/ 1662 w 636"/>
                <a:gd name="T45" fmla="*/ 111 h 733"/>
                <a:gd name="T46" fmla="*/ 1845 w 636"/>
                <a:gd name="T47" fmla="*/ 178 h 733"/>
                <a:gd name="T48" fmla="*/ 2246 w 636"/>
                <a:gd name="T49" fmla="*/ 560 h 733"/>
                <a:gd name="T50" fmla="*/ 2368 w 636"/>
                <a:gd name="T51" fmla="*/ 872 h 733"/>
                <a:gd name="T52" fmla="*/ 1537 w 636"/>
                <a:gd name="T53" fmla="*/ 1009 h 733"/>
                <a:gd name="T54" fmla="*/ 1508 w 636"/>
                <a:gd name="T55" fmla="*/ 1218 h 733"/>
                <a:gd name="T56" fmla="*/ 1845 w 636"/>
                <a:gd name="T57" fmla="*/ 2604 h 733"/>
                <a:gd name="T58" fmla="*/ 2615 w 636"/>
                <a:gd name="T59" fmla="*/ 2881 h 733"/>
                <a:gd name="T60" fmla="*/ 3260 w 636"/>
                <a:gd name="T61" fmla="*/ 3226 h 733"/>
                <a:gd name="T62" fmla="*/ 2060 w 636"/>
                <a:gd name="T63" fmla="*/ 4231 h 73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36" h="733">
                  <a:moveTo>
                    <a:pt x="402" y="733"/>
                  </a:moveTo>
                  <a:lnTo>
                    <a:pt x="318" y="685"/>
                  </a:lnTo>
                  <a:lnTo>
                    <a:pt x="294" y="643"/>
                  </a:lnTo>
                  <a:lnTo>
                    <a:pt x="264" y="625"/>
                  </a:lnTo>
                  <a:lnTo>
                    <a:pt x="210" y="619"/>
                  </a:lnTo>
                  <a:lnTo>
                    <a:pt x="150" y="577"/>
                  </a:lnTo>
                  <a:lnTo>
                    <a:pt x="117" y="549"/>
                  </a:lnTo>
                  <a:lnTo>
                    <a:pt x="96" y="517"/>
                  </a:lnTo>
                  <a:lnTo>
                    <a:pt x="90" y="469"/>
                  </a:lnTo>
                  <a:lnTo>
                    <a:pt x="96" y="439"/>
                  </a:lnTo>
                  <a:lnTo>
                    <a:pt x="54" y="409"/>
                  </a:lnTo>
                  <a:lnTo>
                    <a:pt x="12" y="343"/>
                  </a:lnTo>
                  <a:lnTo>
                    <a:pt x="0" y="288"/>
                  </a:lnTo>
                  <a:lnTo>
                    <a:pt x="9" y="243"/>
                  </a:lnTo>
                  <a:lnTo>
                    <a:pt x="24" y="199"/>
                  </a:lnTo>
                  <a:lnTo>
                    <a:pt x="72" y="157"/>
                  </a:lnTo>
                  <a:lnTo>
                    <a:pt x="66" y="105"/>
                  </a:lnTo>
                  <a:lnTo>
                    <a:pt x="72" y="73"/>
                  </a:lnTo>
                  <a:lnTo>
                    <a:pt x="102" y="25"/>
                  </a:lnTo>
                  <a:lnTo>
                    <a:pt x="147" y="9"/>
                  </a:lnTo>
                  <a:lnTo>
                    <a:pt x="210" y="1"/>
                  </a:lnTo>
                  <a:lnTo>
                    <a:pt x="261" y="0"/>
                  </a:lnTo>
                  <a:lnTo>
                    <a:pt x="324" y="19"/>
                  </a:lnTo>
                  <a:lnTo>
                    <a:pt x="360" y="31"/>
                  </a:lnTo>
                  <a:lnTo>
                    <a:pt x="438" y="97"/>
                  </a:lnTo>
                  <a:lnTo>
                    <a:pt x="462" y="151"/>
                  </a:lnTo>
                  <a:lnTo>
                    <a:pt x="300" y="175"/>
                  </a:lnTo>
                  <a:lnTo>
                    <a:pt x="294" y="211"/>
                  </a:lnTo>
                  <a:lnTo>
                    <a:pt x="360" y="451"/>
                  </a:lnTo>
                  <a:lnTo>
                    <a:pt x="510" y="499"/>
                  </a:lnTo>
                  <a:lnTo>
                    <a:pt x="636" y="559"/>
                  </a:lnTo>
                  <a:lnTo>
                    <a:pt x="402" y="7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Freeform 66"/>
            <p:cNvSpPr/>
            <p:nvPr/>
          </p:nvSpPr>
          <p:spPr bwMode="auto">
            <a:xfrm>
              <a:off x="2013" y="892"/>
              <a:ext cx="611" cy="1124"/>
            </a:xfrm>
            <a:custGeom>
              <a:avLst/>
              <a:gdLst>
                <a:gd name="T0" fmla="*/ 491 w 270"/>
                <a:gd name="T1" fmla="*/ 2354 h 468"/>
                <a:gd name="T2" fmla="*/ 385 w 270"/>
                <a:gd name="T3" fmla="*/ 2181 h 468"/>
                <a:gd name="T4" fmla="*/ 276 w 270"/>
                <a:gd name="T5" fmla="*/ 1972 h 468"/>
                <a:gd name="T6" fmla="*/ 231 w 270"/>
                <a:gd name="T7" fmla="*/ 1748 h 468"/>
                <a:gd name="T8" fmla="*/ 260 w 270"/>
                <a:gd name="T9" fmla="*/ 1539 h 468"/>
                <a:gd name="T10" fmla="*/ 369 w 270"/>
                <a:gd name="T11" fmla="*/ 1367 h 468"/>
                <a:gd name="T12" fmla="*/ 616 w 270"/>
                <a:gd name="T13" fmla="*/ 1263 h 468"/>
                <a:gd name="T14" fmla="*/ 754 w 270"/>
                <a:gd name="T15" fmla="*/ 1143 h 468"/>
                <a:gd name="T16" fmla="*/ 783 w 270"/>
                <a:gd name="T17" fmla="*/ 901 h 468"/>
                <a:gd name="T18" fmla="*/ 692 w 270"/>
                <a:gd name="T19" fmla="*/ 709 h 468"/>
                <a:gd name="T20" fmla="*/ 629 w 270"/>
                <a:gd name="T21" fmla="*/ 588 h 468"/>
                <a:gd name="T22" fmla="*/ 616 w 270"/>
                <a:gd name="T23" fmla="*/ 312 h 468"/>
                <a:gd name="T24" fmla="*/ 706 w 270"/>
                <a:gd name="T25" fmla="*/ 207 h 468"/>
                <a:gd name="T26" fmla="*/ 860 w 270"/>
                <a:gd name="T27" fmla="*/ 173 h 468"/>
                <a:gd name="T28" fmla="*/ 1030 w 270"/>
                <a:gd name="T29" fmla="*/ 103 h 468"/>
                <a:gd name="T30" fmla="*/ 1152 w 270"/>
                <a:gd name="T31" fmla="*/ 86 h 468"/>
                <a:gd name="T32" fmla="*/ 1383 w 270"/>
                <a:gd name="T33" fmla="*/ 70 h 468"/>
                <a:gd name="T34" fmla="*/ 1168 w 270"/>
                <a:gd name="T35" fmla="*/ 0 h 468"/>
                <a:gd name="T36" fmla="*/ 953 w 270"/>
                <a:gd name="T37" fmla="*/ 0 h 468"/>
                <a:gd name="T38" fmla="*/ 783 w 270"/>
                <a:gd name="T39" fmla="*/ 0 h 468"/>
                <a:gd name="T40" fmla="*/ 584 w 270"/>
                <a:gd name="T41" fmla="*/ 70 h 468"/>
                <a:gd name="T42" fmla="*/ 430 w 270"/>
                <a:gd name="T43" fmla="*/ 207 h 468"/>
                <a:gd name="T44" fmla="*/ 385 w 270"/>
                <a:gd name="T45" fmla="*/ 363 h 468"/>
                <a:gd name="T46" fmla="*/ 324 w 270"/>
                <a:gd name="T47" fmla="*/ 588 h 468"/>
                <a:gd name="T48" fmla="*/ 324 w 270"/>
                <a:gd name="T49" fmla="*/ 761 h 468"/>
                <a:gd name="T50" fmla="*/ 369 w 270"/>
                <a:gd name="T51" fmla="*/ 917 h 468"/>
                <a:gd name="T52" fmla="*/ 215 w 270"/>
                <a:gd name="T53" fmla="*/ 987 h 468"/>
                <a:gd name="T54" fmla="*/ 138 w 270"/>
                <a:gd name="T55" fmla="*/ 1074 h 468"/>
                <a:gd name="T56" fmla="*/ 45 w 270"/>
                <a:gd name="T57" fmla="*/ 1230 h 468"/>
                <a:gd name="T58" fmla="*/ 0 w 270"/>
                <a:gd name="T59" fmla="*/ 1453 h 468"/>
                <a:gd name="T60" fmla="*/ 0 w 270"/>
                <a:gd name="T61" fmla="*/ 1748 h 468"/>
                <a:gd name="T62" fmla="*/ 77 w 270"/>
                <a:gd name="T63" fmla="*/ 2058 h 468"/>
                <a:gd name="T64" fmla="*/ 199 w 270"/>
                <a:gd name="T65" fmla="*/ 2407 h 468"/>
                <a:gd name="T66" fmla="*/ 292 w 270"/>
                <a:gd name="T67" fmla="*/ 2510 h 468"/>
                <a:gd name="T68" fmla="*/ 401 w 270"/>
                <a:gd name="T69" fmla="*/ 2579 h 468"/>
                <a:gd name="T70" fmla="*/ 539 w 270"/>
                <a:gd name="T71" fmla="*/ 2700 h 468"/>
                <a:gd name="T72" fmla="*/ 568 w 270"/>
                <a:gd name="T73" fmla="*/ 2543 h 468"/>
                <a:gd name="T74" fmla="*/ 491 w 270"/>
                <a:gd name="T75" fmla="*/ 2354 h 46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70" h="468">
                  <a:moveTo>
                    <a:pt x="96" y="408"/>
                  </a:moveTo>
                  <a:lnTo>
                    <a:pt x="75" y="378"/>
                  </a:lnTo>
                  <a:lnTo>
                    <a:pt x="54" y="342"/>
                  </a:lnTo>
                  <a:lnTo>
                    <a:pt x="45" y="303"/>
                  </a:lnTo>
                  <a:lnTo>
                    <a:pt x="51" y="267"/>
                  </a:lnTo>
                  <a:lnTo>
                    <a:pt x="72" y="237"/>
                  </a:lnTo>
                  <a:lnTo>
                    <a:pt x="120" y="219"/>
                  </a:lnTo>
                  <a:lnTo>
                    <a:pt x="147" y="198"/>
                  </a:lnTo>
                  <a:lnTo>
                    <a:pt x="153" y="156"/>
                  </a:lnTo>
                  <a:lnTo>
                    <a:pt x="135" y="123"/>
                  </a:lnTo>
                  <a:lnTo>
                    <a:pt x="123" y="102"/>
                  </a:lnTo>
                  <a:lnTo>
                    <a:pt x="120" y="54"/>
                  </a:lnTo>
                  <a:lnTo>
                    <a:pt x="138" y="36"/>
                  </a:lnTo>
                  <a:lnTo>
                    <a:pt x="168" y="30"/>
                  </a:lnTo>
                  <a:lnTo>
                    <a:pt x="201" y="18"/>
                  </a:lnTo>
                  <a:lnTo>
                    <a:pt x="225" y="15"/>
                  </a:lnTo>
                  <a:lnTo>
                    <a:pt x="270" y="12"/>
                  </a:lnTo>
                  <a:lnTo>
                    <a:pt x="228" y="0"/>
                  </a:lnTo>
                  <a:lnTo>
                    <a:pt x="186" y="0"/>
                  </a:lnTo>
                  <a:lnTo>
                    <a:pt x="153" y="0"/>
                  </a:lnTo>
                  <a:lnTo>
                    <a:pt x="114" y="12"/>
                  </a:lnTo>
                  <a:lnTo>
                    <a:pt x="84" y="36"/>
                  </a:lnTo>
                  <a:lnTo>
                    <a:pt x="75" y="63"/>
                  </a:lnTo>
                  <a:lnTo>
                    <a:pt x="63" y="102"/>
                  </a:lnTo>
                  <a:lnTo>
                    <a:pt x="63" y="132"/>
                  </a:lnTo>
                  <a:lnTo>
                    <a:pt x="72" y="159"/>
                  </a:lnTo>
                  <a:lnTo>
                    <a:pt x="42" y="171"/>
                  </a:lnTo>
                  <a:lnTo>
                    <a:pt x="27" y="186"/>
                  </a:lnTo>
                  <a:lnTo>
                    <a:pt x="9" y="213"/>
                  </a:lnTo>
                  <a:lnTo>
                    <a:pt x="0" y="252"/>
                  </a:lnTo>
                  <a:lnTo>
                    <a:pt x="0" y="303"/>
                  </a:lnTo>
                  <a:lnTo>
                    <a:pt x="15" y="357"/>
                  </a:lnTo>
                  <a:lnTo>
                    <a:pt x="39" y="417"/>
                  </a:lnTo>
                  <a:lnTo>
                    <a:pt x="57" y="435"/>
                  </a:lnTo>
                  <a:lnTo>
                    <a:pt x="78" y="447"/>
                  </a:lnTo>
                  <a:lnTo>
                    <a:pt x="105" y="468"/>
                  </a:lnTo>
                  <a:lnTo>
                    <a:pt x="111" y="441"/>
                  </a:lnTo>
                  <a:lnTo>
                    <a:pt x="96" y="408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Freeform 67"/>
            <p:cNvSpPr/>
            <p:nvPr/>
          </p:nvSpPr>
          <p:spPr bwMode="auto">
            <a:xfrm>
              <a:off x="2386" y="1130"/>
              <a:ext cx="727" cy="1405"/>
            </a:xfrm>
            <a:custGeom>
              <a:avLst/>
              <a:gdLst>
                <a:gd name="T0" fmla="*/ 1338 w 321"/>
                <a:gd name="T1" fmla="*/ 3374 h 585"/>
                <a:gd name="T2" fmla="*/ 1200 w 321"/>
                <a:gd name="T3" fmla="*/ 3305 h 585"/>
                <a:gd name="T4" fmla="*/ 1030 w 321"/>
                <a:gd name="T5" fmla="*/ 3271 h 585"/>
                <a:gd name="T6" fmla="*/ 938 w 321"/>
                <a:gd name="T7" fmla="*/ 3271 h 585"/>
                <a:gd name="T8" fmla="*/ 1123 w 321"/>
                <a:gd name="T9" fmla="*/ 3185 h 585"/>
                <a:gd name="T10" fmla="*/ 953 w 321"/>
                <a:gd name="T11" fmla="*/ 3098 h 585"/>
                <a:gd name="T12" fmla="*/ 786 w 321"/>
                <a:gd name="T13" fmla="*/ 3029 h 585"/>
                <a:gd name="T14" fmla="*/ 584 w 321"/>
                <a:gd name="T15" fmla="*/ 2993 h 585"/>
                <a:gd name="T16" fmla="*/ 786 w 321"/>
                <a:gd name="T17" fmla="*/ 2959 h 585"/>
                <a:gd name="T18" fmla="*/ 1001 w 321"/>
                <a:gd name="T19" fmla="*/ 2959 h 585"/>
                <a:gd name="T20" fmla="*/ 709 w 321"/>
                <a:gd name="T21" fmla="*/ 2769 h 585"/>
                <a:gd name="T22" fmla="*/ 478 w 321"/>
                <a:gd name="T23" fmla="*/ 2683 h 585"/>
                <a:gd name="T24" fmla="*/ 337 w 321"/>
                <a:gd name="T25" fmla="*/ 2666 h 585"/>
                <a:gd name="T26" fmla="*/ 568 w 321"/>
                <a:gd name="T27" fmla="*/ 2613 h 585"/>
                <a:gd name="T28" fmla="*/ 815 w 321"/>
                <a:gd name="T29" fmla="*/ 2630 h 585"/>
                <a:gd name="T30" fmla="*/ 938 w 321"/>
                <a:gd name="T31" fmla="*/ 2647 h 585"/>
                <a:gd name="T32" fmla="*/ 722 w 321"/>
                <a:gd name="T33" fmla="*/ 2493 h 585"/>
                <a:gd name="T34" fmla="*/ 478 w 321"/>
                <a:gd name="T35" fmla="*/ 2423 h 585"/>
                <a:gd name="T36" fmla="*/ 186 w 321"/>
                <a:gd name="T37" fmla="*/ 2337 h 585"/>
                <a:gd name="T38" fmla="*/ 555 w 321"/>
                <a:gd name="T39" fmla="*/ 2318 h 585"/>
                <a:gd name="T40" fmla="*/ 770 w 321"/>
                <a:gd name="T41" fmla="*/ 2337 h 585"/>
                <a:gd name="T42" fmla="*/ 555 w 321"/>
                <a:gd name="T43" fmla="*/ 2111 h 585"/>
                <a:gd name="T44" fmla="*/ 170 w 321"/>
                <a:gd name="T45" fmla="*/ 1955 h 585"/>
                <a:gd name="T46" fmla="*/ 0 w 321"/>
                <a:gd name="T47" fmla="*/ 1905 h 585"/>
                <a:gd name="T48" fmla="*/ 555 w 321"/>
                <a:gd name="T49" fmla="*/ 1938 h 585"/>
                <a:gd name="T50" fmla="*/ 645 w 321"/>
                <a:gd name="T51" fmla="*/ 1955 h 585"/>
                <a:gd name="T52" fmla="*/ 523 w 321"/>
                <a:gd name="T53" fmla="*/ 1835 h 585"/>
                <a:gd name="T54" fmla="*/ 308 w 321"/>
                <a:gd name="T55" fmla="*/ 1643 h 585"/>
                <a:gd name="T56" fmla="*/ 568 w 321"/>
                <a:gd name="T57" fmla="*/ 1556 h 585"/>
                <a:gd name="T58" fmla="*/ 478 w 321"/>
                <a:gd name="T59" fmla="*/ 1436 h 585"/>
                <a:gd name="T60" fmla="*/ 263 w 321"/>
                <a:gd name="T61" fmla="*/ 1297 h 585"/>
                <a:gd name="T62" fmla="*/ 369 w 321"/>
                <a:gd name="T63" fmla="*/ 1210 h 585"/>
                <a:gd name="T64" fmla="*/ 231 w 321"/>
                <a:gd name="T65" fmla="*/ 1107 h 585"/>
                <a:gd name="T66" fmla="*/ 45 w 321"/>
                <a:gd name="T67" fmla="*/ 1057 h 585"/>
                <a:gd name="T68" fmla="*/ 247 w 321"/>
                <a:gd name="T69" fmla="*/ 1004 h 585"/>
                <a:gd name="T70" fmla="*/ 109 w 321"/>
                <a:gd name="T71" fmla="*/ 865 h 585"/>
                <a:gd name="T72" fmla="*/ 0 w 321"/>
                <a:gd name="T73" fmla="*/ 848 h 585"/>
                <a:gd name="T74" fmla="*/ 170 w 321"/>
                <a:gd name="T75" fmla="*/ 814 h 585"/>
                <a:gd name="T76" fmla="*/ 308 w 321"/>
                <a:gd name="T77" fmla="*/ 831 h 585"/>
                <a:gd name="T78" fmla="*/ 122 w 321"/>
                <a:gd name="T79" fmla="*/ 605 h 585"/>
                <a:gd name="T80" fmla="*/ 61 w 321"/>
                <a:gd name="T81" fmla="*/ 432 h 585"/>
                <a:gd name="T82" fmla="*/ 199 w 321"/>
                <a:gd name="T83" fmla="*/ 555 h 585"/>
                <a:gd name="T84" fmla="*/ 353 w 321"/>
                <a:gd name="T85" fmla="*/ 572 h 585"/>
                <a:gd name="T86" fmla="*/ 292 w 321"/>
                <a:gd name="T87" fmla="*/ 243 h 585"/>
                <a:gd name="T88" fmla="*/ 276 w 321"/>
                <a:gd name="T89" fmla="*/ 0 h 585"/>
                <a:gd name="T90" fmla="*/ 324 w 321"/>
                <a:gd name="T91" fmla="*/ 156 h 585"/>
                <a:gd name="T92" fmla="*/ 478 w 321"/>
                <a:gd name="T93" fmla="*/ 329 h 585"/>
                <a:gd name="T94" fmla="*/ 462 w 321"/>
                <a:gd name="T95" fmla="*/ 139 h 585"/>
                <a:gd name="T96" fmla="*/ 478 w 321"/>
                <a:gd name="T97" fmla="*/ 34 h 585"/>
                <a:gd name="T98" fmla="*/ 568 w 321"/>
                <a:gd name="T99" fmla="*/ 190 h 585"/>
                <a:gd name="T100" fmla="*/ 693 w 321"/>
                <a:gd name="T101" fmla="*/ 293 h 585"/>
                <a:gd name="T102" fmla="*/ 815 w 321"/>
                <a:gd name="T103" fmla="*/ 53 h 585"/>
                <a:gd name="T104" fmla="*/ 876 w 321"/>
                <a:gd name="T105" fmla="*/ 226 h 585"/>
                <a:gd name="T106" fmla="*/ 985 w 321"/>
                <a:gd name="T107" fmla="*/ 363 h 585"/>
                <a:gd name="T108" fmla="*/ 1046 w 321"/>
                <a:gd name="T109" fmla="*/ 139 h 585"/>
                <a:gd name="T110" fmla="*/ 1123 w 321"/>
                <a:gd name="T111" fmla="*/ 468 h 585"/>
                <a:gd name="T112" fmla="*/ 1647 w 321"/>
                <a:gd name="T113" fmla="*/ 2942 h 585"/>
                <a:gd name="T114" fmla="*/ 1338 w 321"/>
                <a:gd name="T115" fmla="*/ 3374 h 58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21" h="585">
                  <a:moveTo>
                    <a:pt x="261" y="585"/>
                  </a:moveTo>
                  <a:lnTo>
                    <a:pt x="234" y="573"/>
                  </a:lnTo>
                  <a:lnTo>
                    <a:pt x="201" y="567"/>
                  </a:lnTo>
                  <a:lnTo>
                    <a:pt x="183" y="567"/>
                  </a:lnTo>
                  <a:lnTo>
                    <a:pt x="219" y="552"/>
                  </a:lnTo>
                  <a:lnTo>
                    <a:pt x="186" y="537"/>
                  </a:lnTo>
                  <a:lnTo>
                    <a:pt x="153" y="525"/>
                  </a:lnTo>
                  <a:lnTo>
                    <a:pt x="114" y="519"/>
                  </a:lnTo>
                  <a:lnTo>
                    <a:pt x="153" y="513"/>
                  </a:lnTo>
                  <a:lnTo>
                    <a:pt x="195" y="513"/>
                  </a:lnTo>
                  <a:lnTo>
                    <a:pt x="138" y="480"/>
                  </a:lnTo>
                  <a:lnTo>
                    <a:pt x="93" y="465"/>
                  </a:lnTo>
                  <a:lnTo>
                    <a:pt x="66" y="462"/>
                  </a:lnTo>
                  <a:lnTo>
                    <a:pt x="111" y="453"/>
                  </a:lnTo>
                  <a:lnTo>
                    <a:pt x="159" y="456"/>
                  </a:lnTo>
                  <a:lnTo>
                    <a:pt x="183" y="459"/>
                  </a:lnTo>
                  <a:lnTo>
                    <a:pt x="141" y="432"/>
                  </a:lnTo>
                  <a:lnTo>
                    <a:pt x="93" y="420"/>
                  </a:lnTo>
                  <a:lnTo>
                    <a:pt x="36" y="405"/>
                  </a:lnTo>
                  <a:lnTo>
                    <a:pt x="108" y="402"/>
                  </a:lnTo>
                  <a:lnTo>
                    <a:pt x="150" y="405"/>
                  </a:lnTo>
                  <a:lnTo>
                    <a:pt x="108" y="366"/>
                  </a:lnTo>
                  <a:lnTo>
                    <a:pt x="33" y="339"/>
                  </a:lnTo>
                  <a:lnTo>
                    <a:pt x="0" y="330"/>
                  </a:lnTo>
                  <a:lnTo>
                    <a:pt x="108" y="336"/>
                  </a:lnTo>
                  <a:lnTo>
                    <a:pt x="126" y="339"/>
                  </a:lnTo>
                  <a:lnTo>
                    <a:pt x="102" y="318"/>
                  </a:lnTo>
                  <a:lnTo>
                    <a:pt x="60" y="285"/>
                  </a:lnTo>
                  <a:lnTo>
                    <a:pt x="111" y="270"/>
                  </a:lnTo>
                  <a:lnTo>
                    <a:pt x="93" y="249"/>
                  </a:lnTo>
                  <a:lnTo>
                    <a:pt x="51" y="225"/>
                  </a:lnTo>
                  <a:lnTo>
                    <a:pt x="72" y="210"/>
                  </a:lnTo>
                  <a:lnTo>
                    <a:pt x="45" y="192"/>
                  </a:lnTo>
                  <a:lnTo>
                    <a:pt x="9" y="183"/>
                  </a:lnTo>
                  <a:lnTo>
                    <a:pt x="48" y="174"/>
                  </a:lnTo>
                  <a:lnTo>
                    <a:pt x="21" y="150"/>
                  </a:lnTo>
                  <a:lnTo>
                    <a:pt x="0" y="147"/>
                  </a:lnTo>
                  <a:lnTo>
                    <a:pt x="33" y="141"/>
                  </a:lnTo>
                  <a:lnTo>
                    <a:pt x="60" y="144"/>
                  </a:lnTo>
                  <a:lnTo>
                    <a:pt x="24" y="105"/>
                  </a:lnTo>
                  <a:lnTo>
                    <a:pt x="12" y="75"/>
                  </a:lnTo>
                  <a:lnTo>
                    <a:pt x="39" y="96"/>
                  </a:lnTo>
                  <a:lnTo>
                    <a:pt x="69" y="99"/>
                  </a:lnTo>
                  <a:lnTo>
                    <a:pt x="57" y="42"/>
                  </a:lnTo>
                  <a:lnTo>
                    <a:pt x="54" y="0"/>
                  </a:lnTo>
                  <a:lnTo>
                    <a:pt x="63" y="27"/>
                  </a:lnTo>
                  <a:lnTo>
                    <a:pt x="93" y="57"/>
                  </a:lnTo>
                  <a:lnTo>
                    <a:pt x="90" y="24"/>
                  </a:lnTo>
                  <a:lnTo>
                    <a:pt x="93" y="6"/>
                  </a:lnTo>
                  <a:lnTo>
                    <a:pt x="111" y="33"/>
                  </a:lnTo>
                  <a:lnTo>
                    <a:pt x="135" y="51"/>
                  </a:lnTo>
                  <a:lnTo>
                    <a:pt x="159" y="9"/>
                  </a:lnTo>
                  <a:lnTo>
                    <a:pt x="171" y="39"/>
                  </a:lnTo>
                  <a:lnTo>
                    <a:pt x="192" y="63"/>
                  </a:lnTo>
                  <a:lnTo>
                    <a:pt x="204" y="24"/>
                  </a:lnTo>
                  <a:lnTo>
                    <a:pt x="219" y="81"/>
                  </a:lnTo>
                  <a:lnTo>
                    <a:pt x="321" y="510"/>
                  </a:lnTo>
                  <a:lnTo>
                    <a:pt x="261" y="585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7" name="Freeform 68"/>
            <p:cNvSpPr/>
            <p:nvPr/>
          </p:nvSpPr>
          <p:spPr bwMode="auto">
            <a:xfrm>
              <a:off x="2712" y="1139"/>
              <a:ext cx="1135" cy="822"/>
            </a:xfrm>
            <a:custGeom>
              <a:avLst/>
              <a:gdLst>
                <a:gd name="T0" fmla="*/ 292 w 501"/>
                <a:gd name="T1" fmla="*/ 416 h 342"/>
                <a:gd name="T2" fmla="*/ 16 w 501"/>
                <a:gd name="T3" fmla="*/ 416 h 342"/>
                <a:gd name="T4" fmla="*/ 0 w 501"/>
                <a:gd name="T5" fmla="*/ 1005 h 342"/>
                <a:gd name="T6" fmla="*/ 138 w 501"/>
                <a:gd name="T7" fmla="*/ 1786 h 342"/>
                <a:gd name="T8" fmla="*/ 1294 w 501"/>
                <a:gd name="T9" fmla="*/ 1976 h 342"/>
                <a:gd name="T10" fmla="*/ 2449 w 501"/>
                <a:gd name="T11" fmla="*/ 1767 h 342"/>
                <a:gd name="T12" fmla="*/ 2540 w 501"/>
                <a:gd name="T13" fmla="*/ 988 h 342"/>
                <a:gd name="T14" fmla="*/ 2571 w 501"/>
                <a:gd name="T15" fmla="*/ 572 h 342"/>
                <a:gd name="T16" fmla="*/ 2463 w 501"/>
                <a:gd name="T17" fmla="*/ 260 h 342"/>
                <a:gd name="T18" fmla="*/ 1849 w 501"/>
                <a:gd name="T19" fmla="*/ 0 h 342"/>
                <a:gd name="T20" fmla="*/ 1278 w 501"/>
                <a:gd name="T21" fmla="*/ 0 h 342"/>
                <a:gd name="T22" fmla="*/ 908 w 501"/>
                <a:gd name="T23" fmla="*/ 190 h 342"/>
                <a:gd name="T24" fmla="*/ 555 w 501"/>
                <a:gd name="T25" fmla="*/ 416 h 342"/>
                <a:gd name="T26" fmla="*/ 292 w 501"/>
                <a:gd name="T27" fmla="*/ 416 h 3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01" h="342">
                  <a:moveTo>
                    <a:pt x="57" y="72"/>
                  </a:moveTo>
                  <a:lnTo>
                    <a:pt x="3" y="72"/>
                  </a:lnTo>
                  <a:lnTo>
                    <a:pt x="0" y="174"/>
                  </a:lnTo>
                  <a:lnTo>
                    <a:pt x="27" y="309"/>
                  </a:lnTo>
                  <a:lnTo>
                    <a:pt x="252" y="342"/>
                  </a:lnTo>
                  <a:lnTo>
                    <a:pt x="477" y="306"/>
                  </a:lnTo>
                  <a:lnTo>
                    <a:pt x="495" y="171"/>
                  </a:lnTo>
                  <a:lnTo>
                    <a:pt x="501" y="99"/>
                  </a:lnTo>
                  <a:lnTo>
                    <a:pt x="480" y="45"/>
                  </a:lnTo>
                  <a:lnTo>
                    <a:pt x="360" y="0"/>
                  </a:lnTo>
                  <a:lnTo>
                    <a:pt x="249" y="0"/>
                  </a:lnTo>
                  <a:lnTo>
                    <a:pt x="177" y="33"/>
                  </a:lnTo>
                  <a:lnTo>
                    <a:pt x="108" y="72"/>
                  </a:lnTo>
                  <a:lnTo>
                    <a:pt x="57" y="72"/>
                  </a:lnTo>
                  <a:close/>
                </a:path>
              </a:pathLst>
            </a:custGeom>
            <a:solidFill>
              <a:srgbClr val="4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8" name="Freeform 69"/>
            <p:cNvSpPr/>
            <p:nvPr/>
          </p:nvSpPr>
          <p:spPr bwMode="auto">
            <a:xfrm>
              <a:off x="2821" y="1702"/>
              <a:ext cx="1032" cy="504"/>
            </a:xfrm>
            <a:custGeom>
              <a:avLst/>
              <a:gdLst>
                <a:gd name="T0" fmla="*/ 292 w 456"/>
                <a:gd name="T1" fmla="*/ 86 h 210"/>
                <a:gd name="T2" fmla="*/ 0 w 456"/>
                <a:gd name="T3" fmla="*/ 312 h 210"/>
                <a:gd name="T4" fmla="*/ 1199 w 456"/>
                <a:gd name="T5" fmla="*/ 1210 h 210"/>
                <a:gd name="T6" fmla="*/ 1505 w 456"/>
                <a:gd name="T7" fmla="*/ 691 h 210"/>
                <a:gd name="T8" fmla="*/ 2044 w 456"/>
                <a:gd name="T9" fmla="*/ 485 h 210"/>
                <a:gd name="T10" fmla="*/ 2336 w 456"/>
                <a:gd name="T11" fmla="*/ 86 h 210"/>
                <a:gd name="T12" fmla="*/ 2059 w 456"/>
                <a:gd name="T13" fmla="*/ 0 h 210"/>
                <a:gd name="T14" fmla="*/ 1444 w 456"/>
                <a:gd name="T15" fmla="*/ 120 h 210"/>
                <a:gd name="T16" fmla="*/ 1091 w 456"/>
                <a:gd name="T17" fmla="*/ 139 h 210"/>
                <a:gd name="T18" fmla="*/ 815 w 456"/>
                <a:gd name="T19" fmla="*/ 53 h 210"/>
                <a:gd name="T20" fmla="*/ 292 w 456"/>
                <a:gd name="T21" fmla="*/ 86 h 2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6" h="210">
                  <a:moveTo>
                    <a:pt x="57" y="15"/>
                  </a:moveTo>
                  <a:lnTo>
                    <a:pt x="0" y="54"/>
                  </a:lnTo>
                  <a:lnTo>
                    <a:pt x="234" y="210"/>
                  </a:lnTo>
                  <a:lnTo>
                    <a:pt x="294" y="120"/>
                  </a:lnTo>
                  <a:lnTo>
                    <a:pt x="399" y="84"/>
                  </a:lnTo>
                  <a:lnTo>
                    <a:pt x="456" y="15"/>
                  </a:lnTo>
                  <a:lnTo>
                    <a:pt x="402" y="0"/>
                  </a:lnTo>
                  <a:lnTo>
                    <a:pt x="282" y="21"/>
                  </a:lnTo>
                  <a:lnTo>
                    <a:pt x="213" y="24"/>
                  </a:lnTo>
                  <a:lnTo>
                    <a:pt x="159" y="9"/>
                  </a:lnTo>
                  <a:lnTo>
                    <a:pt x="57" y="15"/>
                  </a:lnTo>
                  <a:close/>
                </a:path>
              </a:pathLst>
            </a:custGeom>
            <a:solidFill>
              <a:srgbClr val="6000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Freeform 70"/>
            <p:cNvSpPr/>
            <p:nvPr/>
          </p:nvSpPr>
          <p:spPr bwMode="auto">
            <a:xfrm>
              <a:off x="2346" y="2684"/>
              <a:ext cx="1630" cy="495"/>
            </a:xfrm>
            <a:custGeom>
              <a:avLst/>
              <a:gdLst>
                <a:gd name="T0" fmla="*/ 0 w 720"/>
                <a:gd name="T1" fmla="*/ 115 h 206"/>
                <a:gd name="T2" fmla="*/ 491 w 720"/>
                <a:gd name="T3" fmla="*/ 531 h 206"/>
                <a:gd name="T4" fmla="*/ 831 w 720"/>
                <a:gd name="T5" fmla="*/ 807 h 206"/>
                <a:gd name="T6" fmla="*/ 1139 w 720"/>
                <a:gd name="T7" fmla="*/ 1016 h 206"/>
                <a:gd name="T8" fmla="*/ 1383 w 720"/>
                <a:gd name="T9" fmla="*/ 1120 h 206"/>
                <a:gd name="T10" fmla="*/ 1784 w 720"/>
                <a:gd name="T11" fmla="*/ 1189 h 206"/>
                <a:gd name="T12" fmla="*/ 2121 w 720"/>
                <a:gd name="T13" fmla="*/ 1189 h 206"/>
                <a:gd name="T14" fmla="*/ 2461 w 720"/>
                <a:gd name="T15" fmla="*/ 1120 h 206"/>
                <a:gd name="T16" fmla="*/ 2705 w 720"/>
                <a:gd name="T17" fmla="*/ 1050 h 206"/>
                <a:gd name="T18" fmla="*/ 2984 w 720"/>
                <a:gd name="T19" fmla="*/ 877 h 206"/>
                <a:gd name="T20" fmla="*/ 3289 w 720"/>
                <a:gd name="T21" fmla="*/ 721 h 206"/>
                <a:gd name="T22" fmla="*/ 3552 w 720"/>
                <a:gd name="T23" fmla="*/ 490 h 206"/>
                <a:gd name="T24" fmla="*/ 3690 w 720"/>
                <a:gd name="T25" fmla="*/ 346 h 206"/>
                <a:gd name="T26" fmla="*/ 2737 w 720"/>
                <a:gd name="T27" fmla="*/ 0 h 206"/>
                <a:gd name="T28" fmla="*/ 1630 w 720"/>
                <a:gd name="T29" fmla="*/ 34 h 206"/>
                <a:gd name="T30" fmla="*/ 0 w 720"/>
                <a:gd name="T31" fmla="*/ 115 h 2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0" h="206">
                  <a:moveTo>
                    <a:pt x="0" y="20"/>
                  </a:moveTo>
                  <a:lnTo>
                    <a:pt x="96" y="92"/>
                  </a:lnTo>
                  <a:lnTo>
                    <a:pt x="162" y="140"/>
                  </a:lnTo>
                  <a:lnTo>
                    <a:pt x="222" y="176"/>
                  </a:lnTo>
                  <a:lnTo>
                    <a:pt x="270" y="194"/>
                  </a:lnTo>
                  <a:lnTo>
                    <a:pt x="348" y="206"/>
                  </a:lnTo>
                  <a:lnTo>
                    <a:pt x="414" y="206"/>
                  </a:lnTo>
                  <a:lnTo>
                    <a:pt x="480" y="194"/>
                  </a:lnTo>
                  <a:lnTo>
                    <a:pt x="528" y="182"/>
                  </a:lnTo>
                  <a:lnTo>
                    <a:pt x="582" y="152"/>
                  </a:lnTo>
                  <a:lnTo>
                    <a:pt x="642" y="125"/>
                  </a:lnTo>
                  <a:lnTo>
                    <a:pt x="693" y="85"/>
                  </a:lnTo>
                  <a:lnTo>
                    <a:pt x="720" y="60"/>
                  </a:lnTo>
                  <a:lnTo>
                    <a:pt x="534" y="0"/>
                  </a:lnTo>
                  <a:lnTo>
                    <a:pt x="318" y="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Freeform 71"/>
            <p:cNvSpPr/>
            <p:nvPr/>
          </p:nvSpPr>
          <p:spPr bwMode="auto">
            <a:xfrm>
              <a:off x="2787" y="1997"/>
              <a:ext cx="645" cy="526"/>
            </a:xfrm>
            <a:custGeom>
              <a:avLst/>
              <a:gdLst>
                <a:gd name="T0" fmla="*/ 0 w 285"/>
                <a:gd name="T1" fmla="*/ 0 h 219"/>
                <a:gd name="T2" fmla="*/ 93 w 285"/>
                <a:gd name="T3" fmla="*/ 411 h 219"/>
                <a:gd name="T4" fmla="*/ 199 w 285"/>
                <a:gd name="T5" fmla="*/ 634 h 219"/>
                <a:gd name="T6" fmla="*/ 353 w 285"/>
                <a:gd name="T7" fmla="*/ 877 h 219"/>
                <a:gd name="T8" fmla="*/ 507 w 285"/>
                <a:gd name="T9" fmla="*/ 1086 h 219"/>
                <a:gd name="T10" fmla="*/ 661 w 285"/>
                <a:gd name="T11" fmla="*/ 1263 h 219"/>
                <a:gd name="T12" fmla="*/ 1460 w 285"/>
                <a:gd name="T13" fmla="*/ 576 h 219"/>
                <a:gd name="T14" fmla="*/ 998 w 285"/>
                <a:gd name="T15" fmla="*/ 231 h 219"/>
                <a:gd name="T16" fmla="*/ 0 w 285"/>
                <a:gd name="T17" fmla="*/ 0 h 2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5" h="219">
                  <a:moveTo>
                    <a:pt x="0" y="0"/>
                  </a:moveTo>
                  <a:lnTo>
                    <a:pt x="18" y="71"/>
                  </a:lnTo>
                  <a:lnTo>
                    <a:pt x="39" y="110"/>
                  </a:lnTo>
                  <a:lnTo>
                    <a:pt x="69" y="152"/>
                  </a:lnTo>
                  <a:lnTo>
                    <a:pt x="99" y="188"/>
                  </a:lnTo>
                  <a:lnTo>
                    <a:pt x="129" y="219"/>
                  </a:lnTo>
                  <a:lnTo>
                    <a:pt x="285" y="100"/>
                  </a:lnTo>
                  <a:lnTo>
                    <a:pt x="19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1" name="Freeform 72"/>
            <p:cNvSpPr/>
            <p:nvPr/>
          </p:nvSpPr>
          <p:spPr bwMode="auto">
            <a:xfrm>
              <a:off x="2984" y="1473"/>
              <a:ext cx="964" cy="1216"/>
            </a:xfrm>
            <a:custGeom>
              <a:avLst/>
              <a:gdLst>
                <a:gd name="T0" fmla="*/ 61 w 426"/>
                <a:gd name="T1" fmla="*/ 2877 h 506"/>
                <a:gd name="T2" fmla="*/ 0 w 426"/>
                <a:gd name="T3" fmla="*/ 2531 h 506"/>
                <a:gd name="T4" fmla="*/ 183 w 426"/>
                <a:gd name="T5" fmla="*/ 2182 h 506"/>
                <a:gd name="T6" fmla="*/ 584 w 426"/>
                <a:gd name="T7" fmla="*/ 1836 h 506"/>
                <a:gd name="T8" fmla="*/ 921 w 426"/>
                <a:gd name="T9" fmla="*/ 1560 h 506"/>
                <a:gd name="T10" fmla="*/ 1075 w 426"/>
                <a:gd name="T11" fmla="*/ 1214 h 506"/>
                <a:gd name="T12" fmla="*/ 1351 w 426"/>
                <a:gd name="T13" fmla="*/ 1108 h 506"/>
                <a:gd name="T14" fmla="*/ 1659 w 426"/>
                <a:gd name="T15" fmla="*/ 1041 h 506"/>
                <a:gd name="T16" fmla="*/ 1781 w 426"/>
                <a:gd name="T17" fmla="*/ 762 h 506"/>
                <a:gd name="T18" fmla="*/ 1935 w 426"/>
                <a:gd name="T19" fmla="*/ 382 h 506"/>
                <a:gd name="T20" fmla="*/ 2028 w 426"/>
                <a:gd name="T21" fmla="*/ 70 h 506"/>
                <a:gd name="T22" fmla="*/ 2120 w 426"/>
                <a:gd name="T23" fmla="*/ 0 h 506"/>
                <a:gd name="T24" fmla="*/ 2181 w 426"/>
                <a:gd name="T25" fmla="*/ 461 h 506"/>
                <a:gd name="T26" fmla="*/ 2181 w 426"/>
                <a:gd name="T27" fmla="*/ 860 h 506"/>
                <a:gd name="T28" fmla="*/ 2181 w 426"/>
                <a:gd name="T29" fmla="*/ 1137 h 506"/>
                <a:gd name="T30" fmla="*/ 2150 w 426"/>
                <a:gd name="T31" fmla="*/ 1432 h 506"/>
                <a:gd name="T32" fmla="*/ 2105 w 426"/>
                <a:gd name="T33" fmla="*/ 1709 h 506"/>
                <a:gd name="T34" fmla="*/ 1998 w 426"/>
                <a:gd name="T35" fmla="*/ 2021 h 506"/>
                <a:gd name="T36" fmla="*/ 1890 w 426"/>
                <a:gd name="T37" fmla="*/ 2264 h 506"/>
                <a:gd name="T38" fmla="*/ 1736 w 426"/>
                <a:gd name="T39" fmla="*/ 2523 h 506"/>
                <a:gd name="T40" fmla="*/ 1460 w 426"/>
                <a:gd name="T41" fmla="*/ 2922 h 506"/>
                <a:gd name="T42" fmla="*/ 921 w 426"/>
                <a:gd name="T43" fmla="*/ 2841 h 506"/>
                <a:gd name="T44" fmla="*/ 61 w 426"/>
                <a:gd name="T45" fmla="*/ 2877 h 5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26" h="506">
                  <a:moveTo>
                    <a:pt x="12" y="498"/>
                  </a:moveTo>
                  <a:lnTo>
                    <a:pt x="0" y="438"/>
                  </a:lnTo>
                  <a:lnTo>
                    <a:pt x="36" y="378"/>
                  </a:lnTo>
                  <a:lnTo>
                    <a:pt x="114" y="318"/>
                  </a:lnTo>
                  <a:lnTo>
                    <a:pt x="180" y="270"/>
                  </a:lnTo>
                  <a:lnTo>
                    <a:pt x="210" y="210"/>
                  </a:lnTo>
                  <a:lnTo>
                    <a:pt x="264" y="192"/>
                  </a:lnTo>
                  <a:lnTo>
                    <a:pt x="324" y="180"/>
                  </a:lnTo>
                  <a:lnTo>
                    <a:pt x="348" y="132"/>
                  </a:lnTo>
                  <a:lnTo>
                    <a:pt x="378" y="66"/>
                  </a:lnTo>
                  <a:lnTo>
                    <a:pt x="396" y="12"/>
                  </a:lnTo>
                  <a:lnTo>
                    <a:pt x="414" y="0"/>
                  </a:lnTo>
                  <a:lnTo>
                    <a:pt x="426" y="80"/>
                  </a:lnTo>
                  <a:lnTo>
                    <a:pt x="426" y="149"/>
                  </a:lnTo>
                  <a:lnTo>
                    <a:pt x="426" y="197"/>
                  </a:lnTo>
                  <a:lnTo>
                    <a:pt x="420" y="248"/>
                  </a:lnTo>
                  <a:lnTo>
                    <a:pt x="411" y="296"/>
                  </a:lnTo>
                  <a:lnTo>
                    <a:pt x="390" y="350"/>
                  </a:lnTo>
                  <a:lnTo>
                    <a:pt x="369" y="392"/>
                  </a:lnTo>
                  <a:lnTo>
                    <a:pt x="339" y="437"/>
                  </a:lnTo>
                  <a:lnTo>
                    <a:pt x="285" y="506"/>
                  </a:lnTo>
                  <a:lnTo>
                    <a:pt x="180" y="492"/>
                  </a:lnTo>
                  <a:lnTo>
                    <a:pt x="12" y="49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Freeform 73"/>
            <p:cNvSpPr/>
            <p:nvPr/>
          </p:nvSpPr>
          <p:spPr bwMode="auto">
            <a:xfrm>
              <a:off x="1721" y="2353"/>
              <a:ext cx="2275" cy="576"/>
            </a:xfrm>
            <a:custGeom>
              <a:avLst/>
              <a:gdLst>
                <a:gd name="T0" fmla="*/ 921 w 1005"/>
                <a:gd name="T1" fmla="*/ 173 h 240"/>
                <a:gd name="T2" fmla="*/ 1030 w 1005"/>
                <a:gd name="T3" fmla="*/ 334 h 240"/>
                <a:gd name="T4" fmla="*/ 1261 w 1005"/>
                <a:gd name="T5" fmla="*/ 449 h 240"/>
                <a:gd name="T6" fmla="*/ 1476 w 1005"/>
                <a:gd name="T7" fmla="*/ 473 h 240"/>
                <a:gd name="T8" fmla="*/ 1659 w 1005"/>
                <a:gd name="T9" fmla="*/ 449 h 240"/>
                <a:gd name="T10" fmla="*/ 2060 w 1005"/>
                <a:gd name="T11" fmla="*/ 518 h 240"/>
                <a:gd name="T12" fmla="*/ 2429 w 1005"/>
                <a:gd name="T13" fmla="*/ 725 h 240"/>
                <a:gd name="T14" fmla="*/ 2737 w 1005"/>
                <a:gd name="T15" fmla="*/ 749 h 240"/>
                <a:gd name="T16" fmla="*/ 2920 w 1005"/>
                <a:gd name="T17" fmla="*/ 691 h 240"/>
                <a:gd name="T18" fmla="*/ 3167 w 1005"/>
                <a:gd name="T19" fmla="*/ 646 h 240"/>
                <a:gd name="T20" fmla="*/ 3414 w 1005"/>
                <a:gd name="T21" fmla="*/ 622 h 240"/>
                <a:gd name="T22" fmla="*/ 3629 w 1005"/>
                <a:gd name="T23" fmla="*/ 610 h 240"/>
                <a:gd name="T24" fmla="*/ 3812 w 1005"/>
                <a:gd name="T25" fmla="*/ 622 h 240"/>
                <a:gd name="T26" fmla="*/ 4152 w 1005"/>
                <a:gd name="T27" fmla="*/ 622 h 240"/>
                <a:gd name="T28" fmla="*/ 4550 w 1005"/>
                <a:gd name="T29" fmla="*/ 761 h 240"/>
                <a:gd name="T30" fmla="*/ 4858 w 1005"/>
                <a:gd name="T31" fmla="*/ 1003 h 240"/>
                <a:gd name="T32" fmla="*/ 5150 w 1005"/>
                <a:gd name="T33" fmla="*/ 1128 h 240"/>
                <a:gd name="T34" fmla="*/ 4967 w 1005"/>
                <a:gd name="T35" fmla="*/ 1284 h 240"/>
                <a:gd name="T36" fmla="*/ 4874 w 1005"/>
                <a:gd name="T37" fmla="*/ 1214 h 240"/>
                <a:gd name="T38" fmla="*/ 4582 w 1005"/>
                <a:gd name="T39" fmla="*/ 1140 h 240"/>
                <a:gd name="T40" fmla="*/ 4088 w 1005"/>
                <a:gd name="T41" fmla="*/ 1070 h 240"/>
                <a:gd name="T42" fmla="*/ 4027 w 1005"/>
                <a:gd name="T43" fmla="*/ 898 h 240"/>
                <a:gd name="T44" fmla="*/ 3937 w 1005"/>
                <a:gd name="T45" fmla="*/ 898 h 240"/>
                <a:gd name="T46" fmla="*/ 3783 w 1005"/>
                <a:gd name="T47" fmla="*/ 1140 h 240"/>
                <a:gd name="T48" fmla="*/ 3504 w 1005"/>
                <a:gd name="T49" fmla="*/ 1210 h 240"/>
                <a:gd name="T50" fmla="*/ 3289 w 1005"/>
                <a:gd name="T51" fmla="*/ 1222 h 240"/>
                <a:gd name="T52" fmla="*/ 2952 w 1005"/>
                <a:gd name="T53" fmla="*/ 1291 h 240"/>
                <a:gd name="T54" fmla="*/ 2705 w 1005"/>
                <a:gd name="T55" fmla="*/ 1382 h 240"/>
                <a:gd name="T56" fmla="*/ 2368 w 1005"/>
                <a:gd name="T57" fmla="*/ 1349 h 240"/>
                <a:gd name="T58" fmla="*/ 2169 w 1005"/>
                <a:gd name="T59" fmla="*/ 1186 h 240"/>
                <a:gd name="T60" fmla="*/ 1938 w 1005"/>
                <a:gd name="T61" fmla="*/ 1106 h 240"/>
                <a:gd name="T62" fmla="*/ 1768 w 1005"/>
                <a:gd name="T63" fmla="*/ 1147 h 240"/>
                <a:gd name="T64" fmla="*/ 1598 w 1005"/>
                <a:gd name="T65" fmla="*/ 1140 h 240"/>
                <a:gd name="T66" fmla="*/ 1444 w 1005"/>
                <a:gd name="T67" fmla="*/ 1032 h 240"/>
                <a:gd name="T68" fmla="*/ 1261 w 1005"/>
                <a:gd name="T69" fmla="*/ 864 h 240"/>
                <a:gd name="T70" fmla="*/ 1075 w 1005"/>
                <a:gd name="T71" fmla="*/ 725 h 240"/>
                <a:gd name="T72" fmla="*/ 908 w 1005"/>
                <a:gd name="T73" fmla="*/ 732 h 240"/>
                <a:gd name="T74" fmla="*/ 706 w 1005"/>
                <a:gd name="T75" fmla="*/ 794 h 240"/>
                <a:gd name="T76" fmla="*/ 523 w 1005"/>
                <a:gd name="T77" fmla="*/ 893 h 240"/>
                <a:gd name="T78" fmla="*/ 337 w 1005"/>
                <a:gd name="T79" fmla="*/ 962 h 240"/>
                <a:gd name="T80" fmla="*/ 122 w 1005"/>
                <a:gd name="T81" fmla="*/ 967 h 240"/>
                <a:gd name="T82" fmla="*/ 32 w 1005"/>
                <a:gd name="T83" fmla="*/ 859 h 240"/>
                <a:gd name="T84" fmla="*/ 0 w 1005"/>
                <a:gd name="T85" fmla="*/ 761 h 240"/>
                <a:gd name="T86" fmla="*/ 122 w 1005"/>
                <a:gd name="T87" fmla="*/ 552 h 240"/>
                <a:gd name="T88" fmla="*/ 199 w 1005"/>
                <a:gd name="T89" fmla="*/ 230 h 240"/>
                <a:gd name="T90" fmla="*/ 215 w 1005"/>
                <a:gd name="T91" fmla="*/ 103 h 240"/>
                <a:gd name="T92" fmla="*/ 324 w 1005"/>
                <a:gd name="T93" fmla="*/ 5 h 240"/>
                <a:gd name="T94" fmla="*/ 462 w 1005"/>
                <a:gd name="T95" fmla="*/ 0 h 240"/>
                <a:gd name="T96" fmla="*/ 921 w 1005"/>
                <a:gd name="T97" fmla="*/ 173 h 2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05" h="240">
                  <a:moveTo>
                    <a:pt x="180" y="30"/>
                  </a:moveTo>
                  <a:lnTo>
                    <a:pt x="201" y="58"/>
                  </a:lnTo>
                  <a:lnTo>
                    <a:pt x="246" y="78"/>
                  </a:lnTo>
                  <a:lnTo>
                    <a:pt x="288" y="82"/>
                  </a:lnTo>
                  <a:lnTo>
                    <a:pt x="324" y="78"/>
                  </a:lnTo>
                  <a:lnTo>
                    <a:pt x="402" y="90"/>
                  </a:lnTo>
                  <a:lnTo>
                    <a:pt x="474" y="126"/>
                  </a:lnTo>
                  <a:lnTo>
                    <a:pt x="534" y="130"/>
                  </a:lnTo>
                  <a:lnTo>
                    <a:pt x="570" y="120"/>
                  </a:lnTo>
                  <a:lnTo>
                    <a:pt x="618" y="112"/>
                  </a:lnTo>
                  <a:lnTo>
                    <a:pt x="666" y="108"/>
                  </a:lnTo>
                  <a:lnTo>
                    <a:pt x="708" y="106"/>
                  </a:lnTo>
                  <a:lnTo>
                    <a:pt x="744" y="108"/>
                  </a:lnTo>
                  <a:lnTo>
                    <a:pt x="810" y="108"/>
                  </a:lnTo>
                  <a:lnTo>
                    <a:pt x="888" y="132"/>
                  </a:lnTo>
                  <a:lnTo>
                    <a:pt x="948" y="174"/>
                  </a:lnTo>
                  <a:lnTo>
                    <a:pt x="1005" y="196"/>
                  </a:lnTo>
                  <a:lnTo>
                    <a:pt x="969" y="223"/>
                  </a:lnTo>
                  <a:lnTo>
                    <a:pt x="951" y="211"/>
                  </a:lnTo>
                  <a:lnTo>
                    <a:pt x="894" y="198"/>
                  </a:lnTo>
                  <a:lnTo>
                    <a:pt x="798" y="186"/>
                  </a:lnTo>
                  <a:lnTo>
                    <a:pt x="786" y="156"/>
                  </a:lnTo>
                  <a:lnTo>
                    <a:pt x="768" y="156"/>
                  </a:lnTo>
                  <a:lnTo>
                    <a:pt x="738" y="198"/>
                  </a:lnTo>
                  <a:lnTo>
                    <a:pt x="684" y="210"/>
                  </a:lnTo>
                  <a:lnTo>
                    <a:pt x="642" y="212"/>
                  </a:lnTo>
                  <a:lnTo>
                    <a:pt x="576" y="224"/>
                  </a:lnTo>
                  <a:lnTo>
                    <a:pt x="528" y="240"/>
                  </a:lnTo>
                  <a:lnTo>
                    <a:pt x="462" y="234"/>
                  </a:lnTo>
                  <a:lnTo>
                    <a:pt x="423" y="206"/>
                  </a:lnTo>
                  <a:lnTo>
                    <a:pt x="378" y="192"/>
                  </a:lnTo>
                  <a:lnTo>
                    <a:pt x="345" y="199"/>
                  </a:lnTo>
                  <a:lnTo>
                    <a:pt x="312" y="198"/>
                  </a:lnTo>
                  <a:lnTo>
                    <a:pt x="282" y="179"/>
                  </a:lnTo>
                  <a:lnTo>
                    <a:pt x="246" y="150"/>
                  </a:lnTo>
                  <a:lnTo>
                    <a:pt x="210" y="126"/>
                  </a:lnTo>
                  <a:lnTo>
                    <a:pt x="177" y="127"/>
                  </a:lnTo>
                  <a:lnTo>
                    <a:pt x="138" y="138"/>
                  </a:lnTo>
                  <a:lnTo>
                    <a:pt x="102" y="155"/>
                  </a:lnTo>
                  <a:lnTo>
                    <a:pt x="66" y="167"/>
                  </a:lnTo>
                  <a:lnTo>
                    <a:pt x="24" y="168"/>
                  </a:lnTo>
                  <a:lnTo>
                    <a:pt x="6" y="149"/>
                  </a:lnTo>
                  <a:lnTo>
                    <a:pt x="0" y="132"/>
                  </a:lnTo>
                  <a:lnTo>
                    <a:pt x="24" y="96"/>
                  </a:lnTo>
                  <a:lnTo>
                    <a:pt x="39" y="40"/>
                  </a:lnTo>
                  <a:lnTo>
                    <a:pt x="42" y="18"/>
                  </a:lnTo>
                  <a:lnTo>
                    <a:pt x="63" y="1"/>
                  </a:lnTo>
                  <a:lnTo>
                    <a:pt x="90" y="0"/>
                  </a:lnTo>
                  <a:lnTo>
                    <a:pt x="180" y="30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3" name="Freeform 74"/>
            <p:cNvSpPr/>
            <p:nvPr/>
          </p:nvSpPr>
          <p:spPr bwMode="auto">
            <a:xfrm>
              <a:off x="2509" y="1228"/>
              <a:ext cx="815" cy="942"/>
            </a:xfrm>
            <a:custGeom>
              <a:avLst/>
              <a:gdLst>
                <a:gd name="T0" fmla="*/ 1845 w 360"/>
                <a:gd name="T1" fmla="*/ 2264 h 392"/>
                <a:gd name="T2" fmla="*/ 1800 w 360"/>
                <a:gd name="T3" fmla="*/ 2107 h 392"/>
                <a:gd name="T4" fmla="*/ 1537 w 360"/>
                <a:gd name="T5" fmla="*/ 1906 h 392"/>
                <a:gd name="T6" fmla="*/ 1200 w 360"/>
                <a:gd name="T7" fmla="*/ 1699 h 392"/>
                <a:gd name="T8" fmla="*/ 892 w 360"/>
                <a:gd name="T9" fmla="*/ 1420 h 392"/>
                <a:gd name="T10" fmla="*/ 908 w 360"/>
                <a:gd name="T11" fmla="*/ 1399 h 392"/>
                <a:gd name="T12" fmla="*/ 706 w 360"/>
                <a:gd name="T13" fmla="*/ 1178 h 392"/>
                <a:gd name="T14" fmla="*/ 616 w 360"/>
                <a:gd name="T15" fmla="*/ 913 h 392"/>
                <a:gd name="T16" fmla="*/ 555 w 360"/>
                <a:gd name="T17" fmla="*/ 692 h 392"/>
                <a:gd name="T18" fmla="*/ 555 w 360"/>
                <a:gd name="T19" fmla="*/ 382 h 392"/>
                <a:gd name="T20" fmla="*/ 645 w 360"/>
                <a:gd name="T21" fmla="*/ 276 h 392"/>
                <a:gd name="T22" fmla="*/ 1107 w 360"/>
                <a:gd name="T23" fmla="*/ 346 h 392"/>
                <a:gd name="T24" fmla="*/ 706 w 360"/>
                <a:gd name="T25" fmla="*/ 34 h 392"/>
                <a:gd name="T26" fmla="*/ 369 w 360"/>
                <a:gd name="T27" fmla="*/ 0 h 392"/>
                <a:gd name="T28" fmla="*/ 122 w 360"/>
                <a:gd name="T29" fmla="*/ 103 h 392"/>
                <a:gd name="T30" fmla="*/ 61 w 360"/>
                <a:gd name="T31" fmla="*/ 255 h 392"/>
                <a:gd name="T32" fmla="*/ 0 w 360"/>
                <a:gd name="T33" fmla="*/ 490 h 392"/>
                <a:gd name="T34" fmla="*/ 61 w 360"/>
                <a:gd name="T35" fmla="*/ 721 h 392"/>
                <a:gd name="T36" fmla="*/ 231 w 360"/>
                <a:gd name="T37" fmla="*/ 906 h 392"/>
                <a:gd name="T38" fmla="*/ 369 w 360"/>
                <a:gd name="T39" fmla="*/ 1041 h 392"/>
                <a:gd name="T40" fmla="*/ 430 w 360"/>
                <a:gd name="T41" fmla="*/ 1387 h 392"/>
                <a:gd name="T42" fmla="*/ 430 w 360"/>
                <a:gd name="T43" fmla="*/ 1605 h 392"/>
                <a:gd name="T44" fmla="*/ 523 w 360"/>
                <a:gd name="T45" fmla="*/ 1882 h 392"/>
                <a:gd name="T46" fmla="*/ 706 w 360"/>
                <a:gd name="T47" fmla="*/ 2115 h 392"/>
                <a:gd name="T48" fmla="*/ 953 w 360"/>
                <a:gd name="T49" fmla="*/ 2182 h 392"/>
                <a:gd name="T50" fmla="*/ 1261 w 360"/>
                <a:gd name="T51" fmla="*/ 2148 h 392"/>
                <a:gd name="T52" fmla="*/ 1537 w 360"/>
                <a:gd name="T53" fmla="*/ 2182 h 392"/>
                <a:gd name="T54" fmla="*/ 1845 w 360"/>
                <a:gd name="T55" fmla="*/ 2264 h 39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60" h="392">
                  <a:moveTo>
                    <a:pt x="360" y="392"/>
                  </a:moveTo>
                  <a:lnTo>
                    <a:pt x="351" y="365"/>
                  </a:lnTo>
                  <a:lnTo>
                    <a:pt x="300" y="330"/>
                  </a:lnTo>
                  <a:lnTo>
                    <a:pt x="234" y="294"/>
                  </a:lnTo>
                  <a:lnTo>
                    <a:pt x="174" y="246"/>
                  </a:lnTo>
                  <a:lnTo>
                    <a:pt x="177" y="242"/>
                  </a:lnTo>
                  <a:lnTo>
                    <a:pt x="138" y="204"/>
                  </a:lnTo>
                  <a:lnTo>
                    <a:pt x="120" y="158"/>
                  </a:lnTo>
                  <a:lnTo>
                    <a:pt x="108" y="120"/>
                  </a:lnTo>
                  <a:lnTo>
                    <a:pt x="108" y="66"/>
                  </a:lnTo>
                  <a:lnTo>
                    <a:pt x="126" y="48"/>
                  </a:lnTo>
                  <a:lnTo>
                    <a:pt x="216" y="60"/>
                  </a:lnTo>
                  <a:lnTo>
                    <a:pt x="138" y="6"/>
                  </a:lnTo>
                  <a:lnTo>
                    <a:pt x="72" y="0"/>
                  </a:lnTo>
                  <a:lnTo>
                    <a:pt x="24" y="18"/>
                  </a:lnTo>
                  <a:lnTo>
                    <a:pt x="12" y="44"/>
                  </a:lnTo>
                  <a:lnTo>
                    <a:pt x="0" y="85"/>
                  </a:lnTo>
                  <a:lnTo>
                    <a:pt x="12" y="125"/>
                  </a:lnTo>
                  <a:lnTo>
                    <a:pt x="45" y="157"/>
                  </a:lnTo>
                  <a:lnTo>
                    <a:pt x="72" y="180"/>
                  </a:lnTo>
                  <a:lnTo>
                    <a:pt x="84" y="240"/>
                  </a:lnTo>
                  <a:lnTo>
                    <a:pt x="84" y="278"/>
                  </a:lnTo>
                  <a:lnTo>
                    <a:pt x="102" y="326"/>
                  </a:lnTo>
                  <a:lnTo>
                    <a:pt x="138" y="366"/>
                  </a:lnTo>
                  <a:lnTo>
                    <a:pt x="186" y="378"/>
                  </a:lnTo>
                  <a:lnTo>
                    <a:pt x="246" y="372"/>
                  </a:lnTo>
                  <a:lnTo>
                    <a:pt x="300" y="378"/>
                  </a:lnTo>
                  <a:lnTo>
                    <a:pt x="360" y="392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4" name="Freeform 75"/>
            <p:cNvSpPr/>
            <p:nvPr/>
          </p:nvSpPr>
          <p:spPr bwMode="auto">
            <a:xfrm>
              <a:off x="2998" y="1464"/>
              <a:ext cx="917" cy="1045"/>
            </a:xfrm>
            <a:custGeom>
              <a:avLst/>
              <a:gdLst>
                <a:gd name="T0" fmla="*/ 0 w 405"/>
                <a:gd name="T1" fmla="*/ 2510 h 435"/>
                <a:gd name="T2" fmla="*/ 186 w 405"/>
                <a:gd name="T3" fmla="*/ 2304 h 435"/>
                <a:gd name="T4" fmla="*/ 430 w 405"/>
                <a:gd name="T5" fmla="*/ 2198 h 435"/>
                <a:gd name="T6" fmla="*/ 722 w 405"/>
                <a:gd name="T7" fmla="*/ 2078 h 435"/>
                <a:gd name="T8" fmla="*/ 783 w 405"/>
                <a:gd name="T9" fmla="*/ 1955 h 435"/>
                <a:gd name="T10" fmla="*/ 783 w 405"/>
                <a:gd name="T11" fmla="*/ 1888 h 435"/>
                <a:gd name="T12" fmla="*/ 860 w 405"/>
                <a:gd name="T13" fmla="*/ 1783 h 435"/>
                <a:gd name="T14" fmla="*/ 1091 w 405"/>
                <a:gd name="T15" fmla="*/ 1646 h 435"/>
                <a:gd name="T16" fmla="*/ 1123 w 405"/>
                <a:gd name="T17" fmla="*/ 1489 h 435"/>
                <a:gd name="T18" fmla="*/ 1139 w 405"/>
                <a:gd name="T19" fmla="*/ 1333 h 435"/>
                <a:gd name="T20" fmla="*/ 1245 w 405"/>
                <a:gd name="T21" fmla="*/ 1316 h 435"/>
                <a:gd name="T22" fmla="*/ 1508 w 405"/>
                <a:gd name="T23" fmla="*/ 1300 h 435"/>
                <a:gd name="T24" fmla="*/ 1676 w 405"/>
                <a:gd name="T25" fmla="*/ 1211 h 435"/>
                <a:gd name="T26" fmla="*/ 1707 w 405"/>
                <a:gd name="T27" fmla="*/ 1057 h 435"/>
                <a:gd name="T28" fmla="*/ 1891 w 405"/>
                <a:gd name="T29" fmla="*/ 934 h 435"/>
                <a:gd name="T30" fmla="*/ 1983 w 405"/>
                <a:gd name="T31" fmla="*/ 762 h 435"/>
                <a:gd name="T32" fmla="*/ 2045 w 405"/>
                <a:gd name="T33" fmla="*/ 536 h 435"/>
                <a:gd name="T34" fmla="*/ 2060 w 405"/>
                <a:gd name="T35" fmla="*/ 432 h 435"/>
                <a:gd name="T36" fmla="*/ 2076 w 405"/>
                <a:gd name="T37" fmla="*/ 0 h 435"/>
                <a:gd name="T38" fmla="*/ 1922 w 405"/>
                <a:gd name="T39" fmla="*/ 190 h 435"/>
                <a:gd name="T40" fmla="*/ 1906 w 405"/>
                <a:gd name="T41" fmla="*/ 382 h 435"/>
                <a:gd name="T42" fmla="*/ 1829 w 405"/>
                <a:gd name="T43" fmla="*/ 589 h 435"/>
                <a:gd name="T44" fmla="*/ 1739 w 405"/>
                <a:gd name="T45" fmla="*/ 745 h 435"/>
                <a:gd name="T46" fmla="*/ 1646 w 405"/>
                <a:gd name="T47" fmla="*/ 918 h 435"/>
                <a:gd name="T48" fmla="*/ 1585 w 405"/>
                <a:gd name="T49" fmla="*/ 987 h 435"/>
                <a:gd name="T50" fmla="*/ 1460 w 405"/>
                <a:gd name="T51" fmla="*/ 1021 h 435"/>
                <a:gd name="T52" fmla="*/ 1245 w 405"/>
                <a:gd name="T53" fmla="*/ 1091 h 435"/>
                <a:gd name="T54" fmla="*/ 1014 w 405"/>
                <a:gd name="T55" fmla="*/ 1160 h 435"/>
                <a:gd name="T56" fmla="*/ 924 w 405"/>
                <a:gd name="T57" fmla="*/ 1300 h 435"/>
                <a:gd name="T58" fmla="*/ 908 w 405"/>
                <a:gd name="T59" fmla="*/ 1386 h 435"/>
                <a:gd name="T60" fmla="*/ 847 w 405"/>
                <a:gd name="T61" fmla="*/ 1576 h 435"/>
                <a:gd name="T62" fmla="*/ 629 w 405"/>
                <a:gd name="T63" fmla="*/ 1713 h 435"/>
                <a:gd name="T64" fmla="*/ 491 w 405"/>
                <a:gd name="T65" fmla="*/ 1802 h 435"/>
                <a:gd name="T66" fmla="*/ 353 w 405"/>
                <a:gd name="T67" fmla="*/ 1922 h 435"/>
                <a:gd name="T68" fmla="*/ 154 w 405"/>
                <a:gd name="T69" fmla="*/ 2095 h 435"/>
                <a:gd name="T70" fmla="*/ 61 w 405"/>
                <a:gd name="T71" fmla="*/ 2234 h 435"/>
                <a:gd name="T72" fmla="*/ 0 w 405"/>
                <a:gd name="T73" fmla="*/ 2510 h 43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05" h="435">
                  <a:moveTo>
                    <a:pt x="0" y="435"/>
                  </a:moveTo>
                  <a:lnTo>
                    <a:pt x="36" y="399"/>
                  </a:lnTo>
                  <a:lnTo>
                    <a:pt x="84" y="381"/>
                  </a:lnTo>
                  <a:lnTo>
                    <a:pt x="141" y="360"/>
                  </a:lnTo>
                  <a:lnTo>
                    <a:pt x="153" y="339"/>
                  </a:lnTo>
                  <a:lnTo>
                    <a:pt x="153" y="327"/>
                  </a:lnTo>
                  <a:lnTo>
                    <a:pt x="168" y="309"/>
                  </a:lnTo>
                  <a:lnTo>
                    <a:pt x="213" y="285"/>
                  </a:lnTo>
                  <a:lnTo>
                    <a:pt x="219" y="258"/>
                  </a:lnTo>
                  <a:lnTo>
                    <a:pt x="222" y="231"/>
                  </a:lnTo>
                  <a:lnTo>
                    <a:pt x="243" y="228"/>
                  </a:lnTo>
                  <a:lnTo>
                    <a:pt x="294" y="225"/>
                  </a:lnTo>
                  <a:lnTo>
                    <a:pt x="327" y="210"/>
                  </a:lnTo>
                  <a:lnTo>
                    <a:pt x="333" y="183"/>
                  </a:lnTo>
                  <a:lnTo>
                    <a:pt x="369" y="162"/>
                  </a:lnTo>
                  <a:lnTo>
                    <a:pt x="387" y="132"/>
                  </a:lnTo>
                  <a:lnTo>
                    <a:pt x="399" y="93"/>
                  </a:lnTo>
                  <a:lnTo>
                    <a:pt x="402" y="75"/>
                  </a:lnTo>
                  <a:lnTo>
                    <a:pt x="405" y="0"/>
                  </a:lnTo>
                  <a:lnTo>
                    <a:pt x="375" y="33"/>
                  </a:lnTo>
                  <a:lnTo>
                    <a:pt x="372" y="66"/>
                  </a:lnTo>
                  <a:lnTo>
                    <a:pt x="357" y="102"/>
                  </a:lnTo>
                  <a:lnTo>
                    <a:pt x="339" y="129"/>
                  </a:lnTo>
                  <a:lnTo>
                    <a:pt x="321" y="159"/>
                  </a:lnTo>
                  <a:lnTo>
                    <a:pt x="309" y="171"/>
                  </a:lnTo>
                  <a:lnTo>
                    <a:pt x="285" y="177"/>
                  </a:lnTo>
                  <a:lnTo>
                    <a:pt x="243" y="189"/>
                  </a:lnTo>
                  <a:lnTo>
                    <a:pt x="198" y="201"/>
                  </a:lnTo>
                  <a:lnTo>
                    <a:pt x="180" y="225"/>
                  </a:lnTo>
                  <a:lnTo>
                    <a:pt x="177" y="240"/>
                  </a:lnTo>
                  <a:lnTo>
                    <a:pt x="165" y="273"/>
                  </a:lnTo>
                  <a:lnTo>
                    <a:pt x="123" y="297"/>
                  </a:lnTo>
                  <a:lnTo>
                    <a:pt x="96" y="312"/>
                  </a:lnTo>
                  <a:lnTo>
                    <a:pt x="69" y="333"/>
                  </a:lnTo>
                  <a:lnTo>
                    <a:pt x="30" y="363"/>
                  </a:lnTo>
                  <a:lnTo>
                    <a:pt x="12" y="387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5" name="Freeform 76"/>
            <p:cNvSpPr/>
            <p:nvPr/>
          </p:nvSpPr>
          <p:spPr bwMode="auto">
            <a:xfrm>
              <a:off x="2882" y="1103"/>
              <a:ext cx="1046" cy="707"/>
            </a:xfrm>
            <a:custGeom>
              <a:avLst/>
              <a:gdLst>
                <a:gd name="T0" fmla="*/ 0 w 462"/>
                <a:gd name="T1" fmla="*/ 1614 h 294"/>
                <a:gd name="T2" fmla="*/ 109 w 462"/>
                <a:gd name="T3" fmla="*/ 1440 h 294"/>
                <a:gd name="T4" fmla="*/ 337 w 462"/>
                <a:gd name="T5" fmla="*/ 1388 h 294"/>
                <a:gd name="T6" fmla="*/ 629 w 462"/>
                <a:gd name="T7" fmla="*/ 1424 h 294"/>
                <a:gd name="T8" fmla="*/ 924 w 462"/>
                <a:gd name="T9" fmla="*/ 1491 h 294"/>
                <a:gd name="T10" fmla="*/ 1293 w 462"/>
                <a:gd name="T11" fmla="*/ 1474 h 294"/>
                <a:gd name="T12" fmla="*/ 1877 w 462"/>
                <a:gd name="T13" fmla="*/ 1354 h 294"/>
                <a:gd name="T14" fmla="*/ 2015 w 462"/>
                <a:gd name="T15" fmla="*/ 1181 h 294"/>
                <a:gd name="T16" fmla="*/ 2092 w 462"/>
                <a:gd name="T17" fmla="*/ 938 h 294"/>
                <a:gd name="T18" fmla="*/ 2092 w 462"/>
                <a:gd name="T19" fmla="*/ 572 h 294"/>
                <a:gd name="T20" fmla="*/ 1983 w 462"/>
                <a:gd name="T21" fmla="*/ 416 h 294"/>
                <a:gd name="T22" fmla="*/ 1752 w 462"/>
                <a:gd name="T23" fmla="*/ 329 h 294"/>
                <a:gd name="T24" fmla="*/ 1598 w 462"/>
                <a:gd name="T25" fmla="*/ 209 h 294"/>
                <a:gd name="T26" fmla="*/ 1476 w 462"/>
                <a:gd name="T27" fmla="*/ 0 h 294"/>
                <a:gd name="T28" fmla="*/ 1707 w 462"/>
                <a:gd name="T29" fmla="*/ 139 h 294"/>
                <a:gd name="T30" fmla="*/ 2015 w 462"/>
                <a:gd name="T31" fmla="*/ 226 h 294"/>
                <a:gd name="T32" fmla="*/ 2230 w 462"/>
                <a:gd name="T33" fmla="*/ 399 h 294"/>
                <a:gd name="T34" fmla="*/ 2352 w 462"/>
                <a:gd name="T35" fmla="*/ 519 h 294"/>
                <a:gd name="T36" fmla="*/ 2368 w 462"/>
                <a:gd name="T37" fmla="*/ 676 h 294"/>
                <a:gd name="T38" fmla="*/ 2337 w 462"/>
                <a:gd name="T39" fmla="*/ 868 h 294"/>
                <a:gd name="T40" fmla="*/ 2214 w 462"/>
                <a:gd name="T41" fmla="*/ 1041 h 294"/>
                <a:gd name="T42" fmla="*/ 2153 w 462"/>
                <a:gd name="T43" fmla="*/ 1128 h 294"/>
                <a:gd name="T44" fmla="*/ 2137 w 462"/>
                <a:gd name="T45" fmla="*/ 1284 h 294"/>
                <a:gd name="T46" fmla="*/ 1983 w 462"/>
                <a:gd name="T47" fmla="*/ 1561 h 294"/>
                <a:gd name="T48" fmla="*/ 1707 w 462"/>
                <a:gd name="T49" fmla="*/ 1630 h 294"/>
                <a:gd name="T50" fmla="*/ 1569 w 462"/>
                <a:gd name="T51" fmla="*/ 1580 h 294"/>
                <a:gd name="T52" fmla="*/ 1383 w 462"/>
                <a:gd name="T53" fmla="*/ 1614 h 294"/>
                <a:gd name="T54" fmla="*/ 1261 w 462"/>
                <a:gd name="T55" fmla="*/ 1700 h 294"/>
                <a:gd name="T56" fmla="*/ 1046 w 462"/>
                <a:gd name="T57" fmla="*/ 1700 h 294"/>
                <a:gd name="T58" fmla="*/ 860 w 462"/>
                <a:gd name="T59" fmla="*/ 1614 h 294"/>
                <a:gd name="T60" fmla="*/ 677 w 462"/>
                <a:gd name="T61" fmla="*/ 1544 h 294"/>
                <a:gd name="T62" fmla="*/ 555 w 462"/>
                <a:gd name="T63" fmla="*/ 1597 h 294"/>
                <a:gd name="T64" fmla="*/ 292 w 462"/>
                <a:gd name="T65" fmla="*/ 1614 h 294"/>
                <a:gd name="T66" fmla="*/ 122 w 462"/>
                <a:gd name="T67" fmla="*/ 1630 h 294"/>
                <a:gd name="T68" fmla="*/ 0 w 462"/>
                <a:gd name="T69" fmla="*/ 1614 h 29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62" h="294">
                  <a:moveTo>
                    <a:pt x="0" y="279"/>
                  </a:moveTo>
                  <a:lnTo>
                    <a:pt x="21" y="249"/>
                  </a:lnTo>
                  <a:lnTo>
                    <a:pt x="66" y="240"/>
                  </a:lnTo>
                  <a:lnTo>
                    <a:pt x="123" y="246"/>
                  </a:lnTo>
                  <a:lnTo>
                    <a:pt x="180" y="258"/>
                  </a:lnTo>
                  <a:lnTo>
                    <a:pt x="252" y="255"/>
                  </a:lnTo>
                  <a:lnTo>
                    <a:pt x="366" y="234"/>
                  </a:lnTo>
                  <a:lnTo>
                    <a:pt x="393" y="204"/>
                  </a:lnTo>
                  <a:lnTo>
                    <a:pt x="408" y="162"/>
                  </a:lnTo>
                  <a:lnTo>
                    <a:pt x="408" y="99"/>
                  </a:lnTo>
                  <a:lnTo>
                    <a:pt x="387" y="72"/>
                  </a:lnTo>
                  <a:lnTo>
                    <a:pt x="342" y="57"/>
                  </a:lnTo>
                  <a:lnTo>
                    <a:pt x="312" y="36"/>
                  </a:lnTo>
                  <a:lnTo>
                    <a:pt x="288" y="0"/>
                  </a:lnTo>
                  <a:lnTo>
                    <a:pt x="333" y="24"/>
                  </a:lnTo>
                  <a:lnTo>
                    <a:pt x="393" y="39"/>
                  </a:lnTo>
                  <a:lnTo>
                    <a:pt x="435" y="69"/>
                  </a:lnTo>
                  <a:lnTo>
                    <a:pt x="459" y="90"/>
                  </a:lnTo>
                  <a:lnTo>
                    <a:pt x="462" y="117"/>
                  </a:lnTo>
                  <a:lnTo>
                    <a:pt x="456" y="150"/>
                  </a:lnTo>
                  <a:lnTo>
                    <a:pt x="432" y="180"/>
                  </a:lnTo>
                  <a:lnTo>
                    <a:pt x="420" y="195"/>
                  </a:lnTo>
                  <a:lnTo>
                    <a:pt x="417" y="222"/>
                  </a:lnTo>
                  <a:lnTo>
                    <a:pt x="387" y="270"/>
                  </a:lnTo>
                  <a:lnTo>
                    <a:pt x="333" y="282"/>
                  </a:lnTo>
                  <a:lnTo>
                    <a:pt x="306" y="273"/>
                  </a:lnTo>
                  <a:lnTo>
                    <a:pt x="270" y="279"/>
                  </a:lnTo>
                  <a:lnTo>
                    <a:pt x="246" y="294"/>
                  </a:lnTo>
                  <a:lnTo>
                    <a:pt x="204" y="294"/>
                  </a:lnTo>
                  <a:lnTo>
                    <a:pt x="168" y="279"/>
                  </a:lnTo>
                  <a:lnTo>
                    <a:pt x="132" y="267"/>
                  </a:lnTo>
                  <a:lnTo>
                    <a:pt x="108" y="276"/>
                  </a:lnTo>
                  <a:lnTo>
                    <a:pt x="57" y="279"/>
                  </a:lnTo>
                  <a:lnTo>
                    <a:pt x="24" y="282"/>
                  </a:lnTo>
                  <a:lnTo>
                    <a:pt x="0" y="279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6" name="Freeform 77"/>
            <p:cNvSpPr/>
            <p:nvPr/>
          </p:nvSpPr>
          <p:spPr bwMode="auto">
            <a:xfrm>
              <a:off x="2937" y="1017"/>
              <a:ext cx="672" cy="526"/>
            </a:xfrm>
            <a:custGeom>
              <a:avLst/>
              <a:gdLst>
                <a:gd name="T0" fmla="*/ 1505 w 297"/>
                <a:gd name="T1" fmla="*/ 1263 h 219"/>
                <a:gd name="T2" fmla="*/ 1520 w 297"/>
                <a:gd name="T3" fmla="*/ 692 h 219"/>
                <a:gd name="T4" fmla="*/ 1459 w 297"/>
                <a:gd name="T5" fmla="*/ 207 h 219"/>
                <a:gd name="T6" fmla="*/ 1321 w 297"/>
                <a:gd name="T7" fmla="*/ 34 h 219"/>
                <a:gd name="T8" fmla="*/ 1106 w 297"/>
                <a:gd name="T9" fmla="*/ 0 h 219"/>
                <a:gd name="T10" fmla="*/ 767 w 297"/>
                <a:gd name="T11" fmla="*/ 34 h 219"/>
                <a:gd name="T12" fmla="*/ 507 w 297"/>
                <a:gd name="T13" fmla="*/ 139 h 219"/>
                <a:gd name="T14" fmla="*/ 385 w 297"/>
                <a:gd name="T15" fmla="*/ 293 h 219"/>
                <a:gd name="T16" fmla="*/ 183 w 297"/>
                <a:gd name="T17" fmla="*/ 502 h 219"/>
                <a:gd name="T18" fmla="*/ 32 w 297"/>
                <a:gd name="T19" fmla="*/ 641 h 219"/>
                <a:gd name="T20" fmla="*/ 0 w 297"/>
                <a:gd name="T21" fmla="*/ 709 h 219"/>
                <a:gd name="T22" fmla="*/ 122 w 297"/>
                <a:gd name="T23" fmla="*/ 831 h 219"/>
                <a:gd name="T24" fmla="*/ 385 w 297"/>
                <a:gd name="T25" fmla="*/ 658 h 219"/>
                <a:gd name="T26" fmla="*/ 629 w 297"/>
                <a:gd name="T27" fmla="*/ 502 h 219"/>
                <a:gd name="T28" fmla="*/ 968 w 297"/>
                <a:gd name="T29" fmla="*/ 468 h 219"/>
                <a:gd name="T30" fmla="*/ 1183 w 297"/>
                <a:gd name="T31" fmla="*/ 519 h 219"/>
                <a:gd name="T32" fmla="*/ 1367 w 297"/>
                <a:gd name="T33" fmla="*/ 658 h 219"/>
                <a:gd name="T34" fmla="*/ 1412 w 297"/>
                <a:gd name="T35" fmla="*/ 881 h 219"/>
                <a:gd name="T36" fmla="*/ 1505 w 297"/>
                <a:gd name="T37" fmla="*/ 1263 h 2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97" h="219">
                  <a:moveTo>
                    <a:pt x="294" y="219"/>
                  </a:moveTo>
                  <a:lnTo>
                    <a:pt x="297" y="120"/>
                  </a:lnTo>
                  <a:lnTo>
                    <a:pt x="285" y="36"/>
                  </a:lnTo>
                  <a:lnTo>
                    <a:pt x="258" y="6"/>
                  </a:lnTo>
                  <a:lnTo>
                    <a:pt x="216" y="0"/>
                  </a:lnTo>
                  <a:lnTo>
                    <a:pt x="150" y="6"/>
                  </a:lnTo>
                  <a:lnTo>
                    <a:pt x="99" y="24"/>
                  </a:lnTo>
                  <a:lnTo>
                    <a:pt x="75" y="51"/>
                  </a:lnTo>
                  <a:lnTo>
                    <a:pt x="36" y="87"/>
                  </a:lnTo>
                  <a:lnTo>
                    <a:pt x="6" y="111"/>
                  </a:lnTo>
                  <a:lnTo>
                    <a:pt x="0" y="123"/>
                  </a:lnTo>
                  <a:lnTo>
                    <a:pt x="24" y="144"/>
                  </a:lnTo>
                  <a:lnTo>
                    <a:pt x="75" y="114"/>
                  </a:lnTo>
                  <a:lnTo>
                    <a:pt x="123" y="87"/>
                  </a:lnTo>
                  <a:lnTo>
                    <a:pt x="189" y="81"/>
                  </a:lnTo>
                  <a:lnTo>
                    <a:pt x="231" y="90"/>
                  </a:lnTo>
                  <a:lnTo>
                    <a:pt x="267" y="114"/>
                  </a:lnTo>
                  <a:lnTo>
                    <a:pt x="276" y="153"/>
                  </a:lnTo>
                  <a:lnTo>
                    <a:pt x="294" y="219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7" name="Freeform 78"/>
            <p:cNvSpPr/>
            <p:nvPr/>
          </p:nvSpPr>
          <p:spPr bwMode="auto">
            <a:xfrm>
              <a:off x="2896" y="1305"/>
              <a:ext cx="523" cy="397"/>
            </a:xfrm>
            <a:custGeom>
              <a:avLst/>
              <a:gdLst>
                <a:gd name="T0" fmla="*/ 1184 w 231"/>
                <a:gd name="T1" fmla="*/ 156 h 165"/>
                <a:gd name="T2" fmla="*/ 892 w 231"/>
                <a:gd name="T3" fmla="*/ 17 h 165"/>
                <a:gd name="T4" fmla="*/ 600 w 231"/>
                <a:gd name="T5" fmla="*/ 0 h 165"/>
                <a:gd name="T6" fmla="*/ 247 w 231"/>
                <a:gd name="T7" fmla="*/ 34 h 165"/>
                <a:gd name="T8" fmla="*/ 45 w 231"/>
                <a:gd name="T9" fmla="*/ 103 h 165"/>
                <a:gd name="T10" fmla="*/ 0 w 231"/>
                <a:gd name="T11" fmla="*/ 243 h 165"/>
                <a:gd name="T12" fmla="*/ 16 w 231"/>
                <a:gd name="T13" fmla="*/ 383 h 165"/>
                <a:gd name="T14" fmla="*/ 93 w 231"/>
                <a:gd name="T15" fmla="*/ 469 h 165"/>
                <a:gd name="T16" fmla="*/ 231 w 231"/>
                <a:gd name="T17" fmla="*/ 573 h 165"/>
                <a:gd name="T18" fmla="*/ 523 w 231"/>
                <a:gd name="T19" fmla="*/ 746 h 165"/>
                <a:gd name="T20" fmla="*/ 629 w 231"/>
                <a:gd name="T21" fmla="*/ 938 h 165"/>
                <a:gd name="T22" fmla="*/ 738 w 231"/>
                <a:gd name="T23" fmla="*/ 955 h 165"/>
                <a:gd name="T24" fmla="*/ 616 w 231"/>
                <a:gd name="T25" fmla="*/ 679 h 165"/>
                <a:gd name="T26" fmla="*/ 414 w 231"/>
                <a:gd name="T27" fmla="*/ 556 h 165"/>
                <a:gd name="T28" fmla="*/ 337 w 231"/>
                <a:gd name="T29" fmla="*/ 452 h 165"/>
                <a:gd name="T30" fmla="*/ 215 w 231"/>
                <a:gd name="T31" fmla="*/ 383 h 165"/>
                <a:gd name="T32" fmla="*/ 215 w 231"/>
                <a:gd name="T33" fmla="*/ 313 h 165"/>
                <a:gd name="T34" fmla="*/ 247 w 231"/>
                <a:gd name="T35" fmla="*/ 260 h 165"/>
                <a:gd name="T36" fmla="*/ 446 w 231"/>
                <a:gd name="T37" fmla="*/ 156 h 165"/>
                <a:gd name="T38" fmla="*/ 629 w 231"/>
                <a:gd name="T39" fmla="*/ 123 h 165"/>
                <a:gd name="T40" fmla="*/ 847 w 231"/>
                <a:gd name="T41" fmla="*/ 103 h 165"/>
                <a:gd name="T42" fmla="*/ 1184 w 231"/>
                <a:gd name="T43" fmla="*/ 156 h 16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31" h="165">
                  <a:moveTo>
                    <a:pt x="231" y="27"/>
                  </a:moveTo>
                  <a:lnTo>
                    <a:pt x="174" y="3"/>
                  </a:lnTo>
                  <a:lnTo>
                    <a:pt x="117" y="0"/>
                  </a:lnTo>
                  <a:lnTo>
                    <a:pt x="48" y="6"/>
                  </a:lnTo>
                  <a:lnTo>
                    <a:pt x="9" y="18"/>
                  </a:lnTo>
                  <a:lnTo>
                    <a:pt x="0" y="42"/>
                  </a:lnTo>
                  <a:lnTo>
                    <a:pt x="3" y="66"/>
                  </a:lnTo>
                  <a:lnTo>
                    <a:pt x="18" y="81"/>
                  </a:lnTo>
                  <a:lnTo>
                    <a:pt x="45" y="99"/>
                  </a:lnTo>
                  <a:lnTo>
                    <a:pt x="102" y="129"/>
                  </a:lnTo>
                  <a:lnTo>
                    <a:pt x="123" y="162"/>
                  </a:lnTo>
                  <a:lnTo>
                    <a:pt x="144" y="165"/>
                  </a:lnTo>
                  <a:lnTo>
                    <a:pt x="120" y="117"/>
                  </a:lnTo>
                  <a:lnTo>
                    <a:pt x="81" y="96"/>
                  </a:lnTo>
                  <a:lnTo>
                    <a:pt x="66" y="78"/>
                  </a:lnTo>
                  <a:lnTo>
                    <a:pt x="42" y="66"/>
                  </a:lnTo>
                  <a:lnTo>
                    <a:pt x="42" y="54"/>
                  </a:lnTo>
                  <a:lnTo>
                    <a:pt x="48" y="45"/>
                  </a:lnTo>
                  <a:lnTo>
                    <a:pt x="87" y="27"/>
                  </a:lnTo>
                  <a:lnTo>
                    <a:pt x="123" y="21"/>
                  </a:lnTo>
                  <a:lnTo>
                    <a:pt x="165" y="18"/>
                  </a:lnTo>
                  <a:lnTo>
                    <a:pt x="231" y="27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8" name="Freeform 79"/>
            <p:cNvSpPr/>
            <p:nvPr/>
          </p:nvSpPr>
          <p:spPr bwMode="auto">
            <a:xfrm>
              <a:off x="3181" y="1327"/>
              <a:ext cx="346" cy="331"/>
            </a:xfrm>
            <a:custGeom>
              <a:avLst/>
              <a:gdLst>
                <a:gd name="T0" fmla="*/ 414 w 153"/>
                <a:gd name="T1" fmla="*/ 34 h 138"/>
                <a:gd name="T2" fmla="*/ 536 w 153"/>
                <a:gd name="T3" fmla="*/ 103 h 138"/>
                <a:gd name="T4" fmla="*/ 613 w 153"/>
                <a:gd name="T5" fmla="*/ 225 h 138"/>
                <a:gd name="T6" fmla="*/ 552 w 153"/>
                <a:gd name="T7" fmla="*/ 432 h 138"/>
                <a:gd name="T8" fmla="*/ 384 w 153"/>
                <a:gd name="T9" fmla="*/ 604 h 138"/>
                <a:gd name="T10" fmla="*/ 183 w 153"/>
                <a:gd name="T11" fmla="*/ 674 h 138"/>
                <a:gd name="T12" fmla="*/ 0 w 153"/>
                <a:gd name="T13" fmla="*/ 638 h 138"/>
                <a:gd name="T14" fmla="*/ 77 w 153"/>
                <a:gd name="T15" fmla="*/ 777 h 138"/>
                <a:gd name="T16" fmla="*/ 260 w 153"/>
                <a:gd name="T17" fmla="*/ 777 h 138"/>
                <a:gd name="T18" fmla="*/ 398 w 153"/>
                <a:gd name="T19" fmla="*/ 794 h 138"/>
                <a:gd name="T20" fmla="*/ 536 w 153"/>
                <a:gd name="T21" fmla="*/ 777 h 138"/>
                <a:gd name="T22" fmla="*/ 721 w 153"/>
                <a:gd name="T23" fmla="*/ 674 h 138"/>
                <a:gd name="T24" fmla="*/ 782 w 153"/>
                <a:gd name="T25" fmla="*/ 432 h 138"/>
                <a:gd name="T26" fmla="*/ 737 w 153"/>
                <a:gd name="T27" fmla="*/ 345 h 138"/>
                <a:gd name="T28" fmla="*/ 767 w 153"/>
                <a:gd name="T29" fmla="*/ 242 h 138"/>
                <a:gd name="T30" fmla="*/ 767 w 153"/>
                <a:gd name="T31" fmla="*/ 86 h 138"/>
                <a:gd name="T32" fmla="*/ 645 w 153"/>
                <a:gd name="T33" fmla="*/ 0 h 138"/>
                <a:gd name="T34" fmla="*/ 414 w 153"/>
                <a:gd name="T35" fmla="*/ 34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3" h="138">
                  <a:moveTo>
                    <a:pt x="81" y="6"/>
                  </a:moveTo>
                  <a:lnTo>
                    <a:pt x="105" y="18"/>
                  </a:lnTo>
                  <a:lnTo>
                    <a:pt x="120" y="39"/>
                  </a:lnTo>
                  <a:lnTo>
                    <a:pt x="108" y="75"/>
                  </a:lnTo>
                  <a:lnTo>
                    <a:pt x="75" y="105"/>
                  </a:lnTo>
                  <a:lnTo>
                    <a:pt x="36" y="117"/>
                  </a:lnTo>
                  <a:lnTo>
                    <a:pt x="0" y="111"/>
                  </a:lnTo>
                  <a:lnTo>
                    <a:pt x="15" y="135"/>
                  </a:lnTo>
                  <a:lnTo>
                    <a:pt x="51" y="135"/>
                  </a:lnTo>
                  <a:lnTo>
                    <a:pt x="78" y="138"/>
                  </a:lnTo>
                  <a:lnTo>
                    <a:pt x="105" y="135"/>
                  </a:lnTo>
                  <a:lnTo>
                    <a:pt x="141" y="117"/>
                  </a:lnTo>
                  <a:lnTo>
                    <a:pt x="153" y="75"/>
                  </a:lnTo>
                  <a:lnTo>
                    <a:pt x="144" y="60"/>
                  </a:lnTo>
                  <a:lnTo>
                    <a:pt x="150" y="42"/>
                  </a:lnTo>
                  <a:lnTo>
                    <a:pt x="150" y="15"/>
                  </a:lnTo>
                  <a:lnTo>
                    <a:pt x="126" y="0"/>
                  </a:lnTo>
                  <a:lnTo>
                    <a:pt x="81" y="6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9" name="Freeform 80"/>
            <p:cNvSpPr/>
            <p:nvPr/>
          </p:nvSpPr>
          <p:spPr bwMode="auto">
            <a:xfrm>
              <a:off x="3127" y="1399"/>
              <a:ext cx="237" cy="187"/>
            </a:xfrm>
            <a:custGeom>
              <a:avLst/>
              <a:gdLst>
                <a:gd name="T0" fmla="*/ 535 w 105"/>
                <a:gd name="T1" fmla="*/ 242 h 78"/>
                <a:gd name="T2" fmla="*/ 442 w 105"/>
                <a:gd name="T3" fmla="*/ 70 h 78"/>
                <a:gd name="T4" fmla="*/ 244 w 105"/>
                <a:gd name="T5" fmla="*/ 0 h 78"/>
                <a:gd name="T6" fmla="*/ 93 w 105"/>
                <a:gd name="T7" fmla="*/ 34 h 78"/>
                <a:gd name="T8" fmla="*/ 16 w 105"/>
                <a:gd name="T9" fmla="*/ 139 h 78"/>
                <a:gd name="T10" fmla="*/ 0 w 105"/>
                <a:gd name="T11" fmla="*/ 292 h 78"/>
                <a:gd name="T12" fmla="*/ 16 w 105"/>
                <a:gd name="T13" fmla="*/ 396 h 78"/>
                <a:gd name="T14" fmla="*/ 93 w 105"/>
                <a:gd name="T15" fmla="*/ 448 h 78"/>
                <a:gd name="T16" fmla="*/ 122 w 105"/>
                <a:gd name="T17" fmla="*/ 259 h 78"/>
                <a:gd name="T18" fmla="*/ 230 w 105"/>
                <a:gd name="T19" fmla="*/ 225 h 78"/>
                <a:gd name="T20" fmla="*/ 429 w 105"/>
                <a:gd name="T21" fmla="*/ 276 h 78"/>
                <a:gd name="T22" fmla="*/ 490 w 105"/>
                <a:gd name="T23" fmla="*/ 415 h 78"/>
                <a:gd name="T24" fmla="*/ 535 w 105"/>
                <a:gd name="T25" fmla="*/ 242 h 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78">
                  <a:moveTo>
                    <a:pt x="105" y="42"/>
                  </a:moveTo>
                  <a:lnTo>
                    <a:pt x="87" y="12"/>
                  </a:lnTo>
                  <a:lnTo>
                    <a:pt x="48" y="0"/>
                  </a:lnTo>
                  <a:lnTo>
                    <a:pt x="18" y="6"/>
                  </a:lnTo>
                  <a:lnTo>
                    <a:pt x="3" y="24"/>
                  </a:lnTo>
                  <a:lnTo>
                    <a:pt x="0" y="51"/>
                  </a:lnTo>
                  <a:lnTo>
                    <a:pt x="3" y="69"/>
                  </a:lnTo>
                  <a:lnTo>
                    <a:pt x="18" y="78"/>
                  </a:lnTo>
                  <a:lnTo>
                    <a:pt x="24" y="45"/>
                  </a:lnTo>
                  <a:lnTo>
                    <a:pt x="45" y="39"/>
                  </a:lnTo>
                  <a:lnTo>
                    <a:pt x="84" y="48"/>
                  </a:lnTo>
                  <a:lnTo>
                    <a:pt x="96" y="72"/>
                  </a:lnTo>
                  <a:lnTo>
                    <a:pt x="105" y="42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0" name="Freeform 81"/>
            <p:cNvSpPr/>
            <p:nvPr/>
          </p:nvSpPr>
          <p:spPr bwMode="auto">
            <a:xfrm>
              <a:off x="2875" y="510"/>
              <a:ext cx="1135" cy="713"/>
            </a:xfrm>
            <a:custGeom>
              <a:avLst/>
              <a:gdLst>
                <a:gd name="T0" fmla="*/ 0 w 501"/>
                <a:gd name="T1" fmla="*/ 1140 h 297"/>
                <a:gd name="T2" fmla="*/ 170 w 501"/>
                <a:gd name="T3" fmla="*/ 1020 h 297"/>
                <a:gd name="T4" fmla="*/ 199 w 501"/>
                <a:gd name="T5" fmla="*/ 864 h 297"/>
                <a:gd name="T6" fmla="*/ 199 w 501"/>
                <a:gd name="T7" fmla="*/ 605 h 297"/>
                <a:gd name="T8" fmla="*/ 276 w 501"/>
                <a:gd name="T9" fmla="*/ 449 h 297"/>
                <a:gd name="T10" fmla="*/ 462 w 501"/>
                <a:gd name="T11" fmla="*/ 399 h 297"/>
                <a:gd name="T12" fmla="*/ 616 w 501"/>
                <a:gd name="T13" fmla="*/ 399 h 297"/>
                <a:gd name="T14" fmla="*/ 831 w 501"/>
                <a:gd name="T15" fmla="*/ 449 h 297"/>
                <a:gd name="T16" fmla="*/ 924 w 501"/>
                <a:gd name="T17" fmla="*/ 588 h 297"/>
                <a:gd name="T18" fmla="*/ 1017 w 501"/>
                <a:gd name="T19" fmla="*/ 675 h 297"/>
                <a:gd name="T20" fmla="*/ 1124 w 501"/>
                <a:gd name="T21" fmla="*/ 691 h 297"/>
                <a:gd name="T22" fmla="*/ 1355 w 501"/>
                <a:gd name="T23" fmla="*/ 675 h 297"/>
                <a:gd name="T24" fmla="*/ 1541 w 501"/>
                <a:gd name="T25" fmla="*/ 622 h 297"/>
                <a:gd name="T26" fmla="*/ 1785 w 501"/>
                <a:gd name="T27" fmla="*/ 639 h 297"/>
                <a:gd name="T28" fmla="*/ 1926 w 501"/>
                <a:gd name="T29" fmla="*/ 708 h 297"/>
                <a:gd name="T30" fmla="*/ 2093 w 501"/>
                <a:gd name="T31" fmla="*/ 831 h 297"/>
                <a:gd name="T32" fmla="*/ 2279 w 501"/>
                <a:gd name="T33" fmla="*/ 1020 h 297"/>
                <a:gd name="T34" fmla="*/ 2401 w 501"/>
                <a:gd name="T35" fmla="*/ 1246 h 297"/>
                <a:gd name="T36" fmla="*/ 2463 w 501"/>
                <a:gd name="T37" fmla="*/ 1383 h 297"/>
                <a:gd name="T38" fmla="*/ 2510 w 501"/>
                <a:gd name="T39" fmla="*/ 1556 h 297"/>
                <a:gd name="T40" fmla="*/ 2526 w 501"/>
                <a:gd name="T41" fmla="*/ 1712 h 297"/>
                <a:gd name="T42" fmla="*/ 2571 w 501"/>
                <a:gd name="T43" fmla="*/ 1400 h 297"/>
                <a:gd name="T44" fmla="*/ 2555 w 501"/>
                <a:gd name="T45" fmla="*/ 1246 h 297"/>
                <a:gd name="T46" fmla="*/ 2417 w 501"/>
                <a:gd name="T47" fmla="*/ 881 h 297"/>
                <a:gd name="T48" fmla="*/ 2247 w 501"/>
                <a:gd name="T49" fmla="*/ 605 h 297"/>
                <a:gd name="T50" fmla="*/ 2080 w 501"/>
                <a:gd name="T51" fmla="*/ 485 h 297"/>
                <a:gd name="T52" fmla="*/ 1849 w 501"/>
                <a:gd name="T53" fmla="*/ 415 h 297"/>
                <a:gd name="T54" fmla="*/ 1679 w 501"/>
                <a:gd name="T55" fmla="*/ 399 h 297"/>
                <a:gd name="T56" fmla="*/ 1477 w 501"/>
                <a:gd name="T57" fmla="*/ 415 h 297"/>
                <a:gd name="T58" fmla="*/ 1323 w 501"/>
                <a:gd name="T59" fmla="*/ 399 h 297"/>
                <a:gd name="T60" fmla="*/ 1171 w 501"/>
                <a:gd name="T61" fmla="*/ 259 h 297"/>
                <a:gd name="T62" fmla="*/ 1047 w 501"/>
                <a:gd name="T63" fmla="*/ 120 h 297"/>
                <a:gd name="T64" fmla="*/ 940 w 501"/>
                <a:gd name="T65" fmla="*/ 53 h 297"/>
                <a:gd name="T66" fmla="*/ 816 w 501"/>
                <a:gd name="T67" fmla="*/ 0 h 297"/>
                <a:gd name="T68" fmla="*/ 523 w 501"/>
                <a:gd name="T69" fmla="*/ 17 h 297"/>
                <a:gd name="T70" fmla="*/ 324 w 501"/>
                <a:gd name="T71" fmla="*/ 34 h 297"/>
                <a:gd name="T72" fmla="*/ 215 w 501"/>
                <a:gd name="T73" fmla="*/ 103 h 297"/>
                <a:gd name="T74" fmla="*/ 61 w 501"/>
                <a:gd name="T75" fmla="*/ 259 h 297"/>
                <a:gd name="T76" fmla="*/ 16 w 501"/>
                <a:gd name="T77" fmla="*/ 449 h 297"/>
                <a:gd name="T78" fmla="*/ 32 w 501"/>
                <a:gd name="T79" fmla="*/ 691 h 297"/>
                <a:gd name="T80" fmla="*/ 61 w 501"/>
                <a:gd name="T81" fmla="*/ 881 h 297"/>
                <a:gd name="T82" fmla="*/ 0 w 501"/>
                <a:gd name="T83" fmla="*/ 1140 h 29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1" h="297">
                  <a:moveTo>
                    <a:pt x="0" y="198"/>
                  </a:moveTo>
                  <a:lnTo>
                    <a:pt x="33" y="177"/>
                  </a:lnTo>
                  <a:lnTo>
                    <a:pt x="39" y="150"/>
                  </a:lnTo>
                  <a:lnTo>
                    <a:pt x="39" y="105"/>
                  </a:lnTo>
                  <a:lnTo>
                    <a:pt x="54" y="78"/>
                  </a:lnTo>
                  <a:lnTo>
                    <a:pt x="90" y="69"/>
                  </a:lnTo>
                  <a:lnTo>
                    <a:pt x="120" y="69"/>
                  </a:lnTo>
                  <a:lnTo>
                    <a:pt x="162" y="78"/>
                  </a:lnTo>
                  <a:lnTo>
                    <a:pt x="180" y="102"/>
                  </a:lnTo>
                  <a:lnTo>
                    <a:pt x="198" y="117"/>
                  </a:lnTo>
                  <a:lnTo>
                    <a:pt x="219" y="120"/>
                  </a:lnTo>
                  <a:lnTo>
                    <a:pt x="264" y="117"/>
                  </a:lnTo>
                  <a:lnTo>
                    <a:pt x="300" y="108"/>
                  </a:lnTo>
                  <a:lnTo>
                    <a:pt x="348" y="111"/>
                  </a:lnTo>
                  <a:lnTo>
                    <a:pt x="375" y="123"/>
                  </a:lnTo>
                  <a:lnTo>
                    <a:pt x="408" y="144"/>
                  </a:lnTo>
                  <a:lnTo>
                    <a:pt x="444" y="177"/>
                  </a:lnTo>
                  <a:lnTo>
                    <a:pt x="468" y="216"/>
                  </a:lnTo>
                  <a:lnTo>
                    <a:pt x="480" y="240"/>
                  </a:lnTo>
                  <a:lnTo>
                    <a:pt x="489" y="270"/>
                  </a:lnTo>
                  <a:lnTo>
                    <a:pt x="492" y="297"/>
                  </a:lnTo>
                  <a:lnTo>
                    <a:pt x="501" y="243"/>
                  </a:lnTo>
                  <a:lnTo>
                    <a:pt x="498" y="216"/>
                  </a:lnTo>
                  <a:lnTo>
                    <a:pt x="471" y="153"/>
                  </a:lnTo>
                  <a:lnTo>
                    <a:pt x="438" y="105"/>
                  </a:lnTo>
                  <a:lnTo>
                    <a:pt x="405" y="84"/>
                  </a:lnTo>
                  <a:lnTo>
                    <a:pt x="360" y="72"/>
                  </a:lnTo>
                  <a:lnTo>
                    <a:pt x="327" y="69"/>
                  </a:lnTo>
                  <a:lnTo>
                    <a:pt x="288" y="72"/>
                  </a:lnTo>
                  <a:lnTo>
                    <a:pt x="258" y="69"/>
                  </a:lnTo>
                  <a:lnTo>
                    <a:pt x="228" y="45"/>
                  </a:lnTo>
                  <a:lnTo>
                    <a:pt x="204" y="21"/>
                  </a:lnTo>
                  <a:lnTo>
                    <a:pt x="183" y="9"/>
                  </a:lnTo>
                  <a:lnTo>
                    <a:pt x="159" y="0"/>
                  </a:lnTo>
                  <a:lnTo>
                    <a:pt x="102" y="3"/>
                  </a:lnTo>
                  <a:lnTo>
                    <a:pt x="63" y="6"/>
                  </a:lnTo>
                  <a:lnTo>
                    <a:pt x="42" y="18"/>
                  </a:lnTo>
                  <a:lnTo>
                    <a:pt x="12" y="45"/>
                  </a:lnTo>
                  <a:lnTo>
                    <a:pt x="3" y="78"/>
                  </a:lnTo>
                  <a:lnTo>
                    <a:pt x="6" y="120"/>
                  </a:lnTo>
                  <a:lnTo>
                    <a:pt x="12" y="153"/>
                  </a:lnTo>
                  <a:lnTo>
                    <a:pt x="0" y="198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  <p:bldP spid="87044" grpId="0" autoUpdateAnimBg="0"/>
      <p:bldP spid="8704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hlinkClick r:id="" action="ppaction://hlinkshowjump?jump=lastslideviewed"/>
          </p:cNvPr>
          <p:cNvSpPr txBox="1">
            <a:spLocks noChangeArrowheads="1"/>
          </p:cNvSpPr>
          <p:nvPr/>
        </p:nvSpPr>
        <p:spPr bwMode="auto">
          <a:xfrm>
            <a:off x="7870825" y="5945188"/>
            <a:ext cx="96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rgbClr val="FF3300"/>
                </a:solidFill>
              </a:rPr>
              <a:t>返回</a:t>
            </a:r>
          </a:p>
        </p:txBody>
      </p:sp>
      <p:grpSp>
        <p:nvGrpSpPr>
          <p:cNvPr id="76803" name="Group 30"/>
          <p:cNvGrpSpPr/>
          <p:nvPr/>
        </p:nvGrpSpPr>
        <p:grpSpPr bwMode="auto">
          <a:xfrm>
            <a:off x="2117725" y="4476750"/>
            <a:ext cx="708025" cy="876300"/>
            <a:chOff x="1334" y="2820"/>
            <a:chExt cx="446" cy="552"/>
          </a:xfrm>
        </p:grpSpPr>
        <p:sp>
          <p:nvSpPr>
            <p:cNvPr id="76827" name="AutoShape 4"/>
            <p:cNvSpPr>
              <a:spLocks noChangeArrowheads="1"/>
            </p:cNvSpPr>
            <p:nvPr/>
          </p:nvSpPr>
          <p:spPr bwMode="auto">
            <a:xfrm rot="2686081">
              <a:off x="1652" y="2820"/>
              <a:ext cx="128" cy="552"/>
            </a:xfrm>
            <a:prstGeom prst="upArrow">
              <a:avLst>
                <a:gd name="adj1" fmla="val 41667"/>
                <a:gd name="adj2" fmla="val 22476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76828" name="Text Box 5"/>
            <p:cNvSpPr txBox="1">
              <a:spLocks noChangeArrowheads="1"/>
            </p:cNvSpPr>
            <p:nvPr/>
          </p:nvSpPr>
          <p:spPr bwMode="auto">
            <a:xfrm>
              <a:off x="1334" y="2892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/>
                <a:t>A</a:t>
              </a:r>
              <a:endParaRPr lang="en-US" altLang="zh-CN" sz="2400" b="0"/>
            </a:p>
          </p:txBody>
        </p:sp>
      </p:grpSp>
      <p:grpSp>
        <p:nvGrpSpPr>
          <p:cNvPr id="76804" name="Group 29"/>
          <p:cNvGrpSpPr/>
          <p:nvPr/>
        </p:nvGrpSpPr>
        <p:grpSpPr bwMode="auto">
          <a:xfrm>
            <a:off x="5975350" y="5219700"/>
            <a:ext cx="617538" cy="933450"/>
            <a:chOff x="3764" y="3288"/>
            <a:chExt cx="389" cy="588"/>
          </a:xfrm>
        </p:grpSpPr>
        <p:sp>
          <p:nvSpPr>
            <p:cNvPr id="76825" name="AutoShape 7"/>
            <p:cNvSpPr>
              <a:spLocks noChangeArrowheads="1"/>
            </p:cNvSpPr>
            <p:nvPr/>
          </p:nvSpPr>
          <p:spPr bwMode="auto">
            <a:xfrm rot="-2681622">
              <a:off x="3764" y="3324"/>
              <a:ext cx="128" cy="552"/>
            </a:xfrm>
            <a:prstGeom prst="upArrow">
              <a:avLst>
                <a:gd name="adj1" fmla="val 41667"/>
                <a:gd name="adj2" fmla="val 22476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76826" name="Text Box 8"/>
            <p:cNvSpPr txBox="1">
              <a:spLocks noChangeArrowheads="1"/>
            </p:cNvSpPr>
            <p:nvPr/>
          </p:nvSpPr>
          <p:spPr bwMode="auto">
            <a:xfrm>
              <a:off x="3866" y="3288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/>
                <a:t>B</a:t>
              </a:r>
              <a:endParaRPr lang="en-US" altLang="zh-CN" sz="2400" b="0"/>
            </a:p>
          </p:txBody>
        </p:sp>
      </p:grpSp>
      <p:grpSp>
        <p:nvGrpSpPr>
          <p:cNvPr id="76805" name="Group 9"/>
          <p:cNvGrpSpPr/>
          <p:nvPr/>
        </p:nvGrpSpPr>
        <p:grpSpPr bwMode="auto">
          <a:xfrm>
            <a:off x="1317625" y="1108075"/>
            <a:ext cx="6321425" cy="4424363"/>
            <a:chOff x="830" y="698"/>
            <a:chExt cx="3982" cy="2787"/>
          </a:xfrm>
        </p:grpSpPr>
        <p:pic>
          <p:nvPicPr>
            <p:cNvPr id="76806" name="Picture 10" descr="10-13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01" t="4216" r="25862" b="3615"/>
            <a:stretch>
              <a:fillRect/>
            </a:stretch>
          </p:blipFill>
          <p:spPr bwMode="auto">
            <a:xfrm>
              <a:off x="1032" y="871"/>
              <a:ext cx="3060" cy="2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07" name="Text Box 11"/>
            <p:cNvSpPr txBox="1">
              <a:spLocks noChangeArrowheads="1"/>
            </p:cNvSpPr>
            <p:nvPr/>
          </p:nvSpPr>
          <p:spPr bwMode="auto">
            <a:xfrm>
              <a:off x="3362" y="2390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上轴衬</a:t>
              </a:r>
              <a:r>
                <a:rPr lang="en-US" altLang="zh-CN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6808" name="Line 12"/>
            <p:cNvSpPr>
              <a:spLocks noChangeShapeType="1"/>
            </p:cNvSpPr>
            <p:nvPr/>
          </p:nvSpPr>
          <p:spPr bwMode="auto">
            <a:xfrm>
              <a:off x="3180" y="1980"/>
              <a:ext cx="264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09" name="Line 13"/>
            <p:cNvSpPr>
              <a:spLocks noChangeShapeType="1"/>
            </p:cNvSpPr>
            <p:nvPr/>
          </p:nvSpPr>
          <p:spPr bwMode="auto">
            <a:xfrm flipH="1" flipV="1">
              <a:off x="3780" y="1188"/>
              <a:ext cx="456" cy="3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0" name="Text Box 14"/>
            <p:cNvSpPr txBox="1">
              <a:spLocks noChangeArrowheads="1"/>
            </p:cNvSpPr>
            <p:nvPr/>
          </p:nvSpPr>
          <p:spPr bwMode="auto">
            <a:xfrm>
              <a:off x="830" y="2594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轴承座</a:t>
              </a:r>
              <a:r>
                <a:rPr lang="en-US" altLang="zh-CN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6811" name="Line 15"/>
            <p:cNvSpPr>
              <a:spLocks noChangeShapeType="1"/>
            </p:cNvSpPr>
            <p:nvPr/>
          </p:nvSpPr>
          <p:spPr bwMode="auto">
            <a:xfrm flipH="1">
              <a:off x="1248" y="2340"/>
              <a:ext cx="180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2" name="Text Box 16"/>
            <p:cNvSpPr txBox="1">
              <a:spLocks noChangeArrowheads="1"/>
            </p:cNvSpPr>
            <p:nvPr/>
          </p:nvSpPr>
          <p:spPr bwMode="auto">
            <a:xfrm>
              <a:off x="3424" y="2114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轴承盖</a:t>
              </a:r>
              <a:r>
                <a:rPr lang="en-US" altLang="zh-CN" sz="2400">
                  <a:solidFill>
                    <a:schemeClr val="accent2"/>
                  </a:solidFill>
                </a:rPr>
                <a:t>4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76813" name="Line 17"/>
            <p:cNvSpPr>
              <a:spLocks noChangeShapeType="1"/>
            </p:cNvSpPr>
            <p:nvPr/>
          </p:nvSpPr>
          <p:spPr bwMode="auto">
            <a:xfrm>
              <a:off x="3522" y="1776"/>
              <a:ext cx="204" cy="42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4" name="Text Box 18"/>
            <p:cNvSpPr txBox="1">
              <a:spLocks noChangeArrowheads="1"/>
            </p:cNvSpPr>
            <p:nvPr/>
          </p:nvSpPr>
          <p:spPr bwMode="auto">
            <a:xfrm>
              <a:off x="2318" y="818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销套</a:t>
              </a:r>
              <a:r>
                <a:rPr lang="en-US" altLang="zh-CN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6815" name="Line 19"/>
            <p:cNvSpPr>
              <a:spLocks noChangeShapeType="1"/>
            </p:cNvSpPr>
            <p:nvPr/>
          </p:nvSpPr>
          <p:spPr bwMode="auto">
            <a:xfrm flipV="1">
              <a:off x="2388" y="1056"/>
              <a:ext cx="288" cy="5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6" name="Text Box 20"/>
            <p:cNvSpPr txBox="1">
              <a:spLocks noChangeArrowheads="1"/>
            </p:cNvSpPr>
            <p:nvPr/>
          </p:nvSpPr>
          <p:spPr bwMode="auto">
            <a:xfrm>
              <a:off x="1886" y="3050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下轴衬</a:t>
              </a:r>
              <a:r>
                <a:rPr lang="en-US" altLang="zh-CN" sz="2400">
                  <a:solidFill>
                    <a:schemeClr val="accent2"/>
                  </a:solidFill>
                </a:rPr>
                <a:t>2</a:t>
              </a:r>
              <a:endParaRPr lang="en-US" altLang="zh-CN" sz="2400" b="0"/>
            </a:p>
          </p:txBody>
        </p:sp>
        <p:sp>
          <p:nvSpPr>
            <p:cNvPr id="76817" name="Line 21"/>
            <p:cNvSpPr>
              <a:spLocks noChangeShapeType="1"/>
            </p:cNvSpPr>
            <p:nvPr/>
          </p:nvSpPr>
          <p:spPr bwMode="auto">
            <a:xfrm>
              <a:off x="2148" y="2652"/>
              <a:ext cx="156" cy="40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8" name="Text Box 22"/>
            <p:cNvSpPr txBox="1">
              <a:spLocks noChangeArrowheads="1"/>
            </p:cNvSpPr>
            <p:nvPr/>
          </p:nvSpPr>
          <p:spPr bwMode="auto">
            <a:xfrm>
              <a:off x="4202" y="986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螺柱</a:t>
              </a:r>
              <a:r>
                <a:rPr lang="en-US" altLang="zh-CN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6819" name="Text Box 23"/>
            <p:cNvSpPr txBox="1">
              <a:spLocks noChangeArrowheads="1"/>
            </p:cNvSpPr>
            <p:nvPr/>
          </p:nvSpPr>
          <p:spPr bwMode="auto">
            <a:xfrm>
              <a:off x="4214" y="1298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垫圈</a:t>
              </a:r>
              <a:r>
                <a:rPr lang="en-US" altLang="zh-CN" sz="2400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6820" name="Text Box 24"/>
            <p:cNvSpPr txBox="1">
              <a:spLocks noChangeArrowheads="1"/>
            </p:cNvSpPr>
            <p:nvPr/>
          </p:nvSpPr>
          <p:spPr bwMode="auto">
            <a:xfrm>
              <a:off x="4214" y="698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螺母</a:t>
              </a:r>
              <a:r>
                <a:rPr lang="en-US" altLang="zh-CN" sz="2400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76821" name="Line 25"/>
            <p:cNvSpPr>
              <a:spLocks noChangeShapeType="1"/>
            </p:cNvSpPr>
            <p:nvPr/>
          </p:nvSpPr>
          <p:spPr bwMode="auto">
            <a:xfrm>
              <a:off x="4236" y="948"/>
              <a:ext cx="49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2" name="Line 26"/>
            <p:cNvSpPr>
              <a:spLocks noChangeShapeType="1"/>
            </p:cNvSpPr>
            <p:nvPr/>
          </p:nvSpPr>
          <p:spPr bwMode="auto">
            <a:xfrm>
              <a:off x="4236" y="1548"/>
              <a:ext cx="49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3" name="Line 27"/>
            <p:cNvSpPr>
              <a:spLocks noChangeShapeType="1"/>
            </p:cNvSpPr>
            <p:nvPr/>
          </p:nvSpPr>
          <p:spPr bwMode="auto">
            <a:xfrm>
              <a:off x="4248" y="1248"/>
              <a:ext cx="49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4" name="Line 28"/>
            <p:cNvSpPr>
              <a:spLocks noChangeShapeType="1"/>
            </p:cNvSpPr>
            <p:nvPr/>
          </p:nvSpPr>
          <p:spPr bwMode="auto">
            <a:xfrm flipV="1">
              <a:off x="4236" y="948"/>
              <a:ext cx="0" cy="6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17" descr="15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79388"/>
            <a:ext cx="8688388" cy="604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Text Box 3">
            <a:hlinkClick r:id="" action="ppaction://hlinkshowjump?jump=lastslideviewed"/>
          </p:cNvPr>
          <p:cNvSpPr txBox="1">
            <a:spLocks noChangeArrowheads="1"/>
          </p:cNvSpPr>
          <p:nvPr/>
        </p:nvSpPr>
        <p:spPr bwMode="auto">
          <a:xfrm>
            <a:off x="8232775" y="6173788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hlink"/>
                </a:solidFill>
              </a:rPr>
              <a:t>返回</a:t>
            </a:r>
          </a:p>
        </p:txBody>
      </p:sp>
      <p:sp>
        <p:nvSpPr>
          <p:cNvPr id="55303" name="AutoShape 7"/>
          <p:cNvSpPr>
            <a:spLocks noChangeArrowheads="1"/>
          </p:cNvSpPr>
          <p:nvPr/>
        </p:nvSpPr>
        <p:spPr bwMode="auto">
          <a:xfrm>
            <a:off x="3886200" y="2657475"/>
            <a:ext cx="628650" cy="190500"/>
          </a:xfrm>
          <a:prstGeom prst="leftArrow">
            <a:avLst>
              <a:gd name="adj1" fmla="val 50000"/>
              <a:gd name="adj2" fmla="val 82500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55304" name="AutoShape 8"/>
          <p:cNvSpPr>
            <a:spLocks noChangeArrowheads="1"/>
          </p:cNvSpPr>
          <p:nvPr/>
        </p:nvSpPr>
        <p:spPr bwMode="auto">
          <a:xfrm>
            <a:off x="3248025" y="1685925"/>
            <a:ext cx="685800" cy="190500"/>
          </a:xfrm>
          <a:prstGeom prst="leftArrow">
            <a:avLst>
              <a:gd name="adj1" fmla="val 50000"/>
              <a:gd name="adj2" fmla="val 90000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55305" name="AutoShape 9"/>
          <p:cNvSpPr>
            <a:spLocks noChangeArrowheads="1"/>
          </p:cNvSpPr>
          <p:nvPr/>
        </p:nvSpPr>
        <p:spPr bwMode="auto">
          <a:xfrm>
            <a:off x="133350" y="4648200"/>
            <a:ext cx="704850" cy="171450"/>
          </a:xfrm>
          <a:prstGeom prst="rightArrow">
            <a:avLst>
              <a:gd name="adj1" fmla="val 50000"/>
              <a:gd name="adj2" fmla="val 102778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55306" name="AutoShape 10"/>
          <p:cNvSpPr>
            <a:spLocks noChangeArrowheads="1"/>
          </p:cNvSpPr>
          <p:nvPr/>
        </p:nvSpPr>
        <p:spPr bwMode="auto">
          <a:xfrm>
            <a:off x="666750" y="2590800"/>
            <a:ext cx="704850" cy="171450"/>
          </a:xfrm>
          <a:prstGeom prst="rightArrow">
            <a:avLst>
              <a:gd name="adj1" fmla="val 50000"/>
              <a:gd name="adj2" fmla="val 102778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55307" name="AutoShape 11"/>
          <p:cNvSpPr>
            <a:spLocks noChangeArrowheads="1"/>
          </p:cNvSpPr>
          <p:nvPr/>
        </p:nvSpPr>
        <p:spPr bwMode="auto">
          <a:xfrm rot="-1913447">
            <a:off x="3668713" y="2806700"/>
            <a:ext cx="182562" cy="723900"/>
          </a:xfrm>
          <a:prstGeom prst="upArrow">
            <a:avLst>
              <a:gd name="adj1" fmla="val 50000"/>
              <a:gd name="adj2" fmla="val 99131"/>
            </a:avLst>
          </a:prstGeom>
          <a:solidFill>
            <a:srgbClr val="FF3300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77833" name="Text Box 12"/>
          <p:cNvSpPr txBox="1">
            <a:spLocks noChangeArrowheads="1"/>
          </p:cNvSpPr>
          <p:nvPr/>
        </p:nvSpPr>
        <p:spPr bwMode="auto">
          <a:xfrm>
            <a:off x="3481388" y="6127750"/>
            <a:ext cx="225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球阀装配图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>
            <a:hlinkClick r:id="" action="ppaction://hlinkshowjump?jump=lastslideviewed"/>
          </p:cNvPr>
          <p:cNvSpPr txBox="1">
            <a:spLocks noChangeArrowheads="1"/>
          </p:cNvSpPr>
          <p:nvPr/>
        </p:nvSpPr>
        <p:spPr bwMode="auto">
          <a:xfrm>
            <a:off x="7851775" y="62309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chemeClr val="folHlink"/>
                </a:solidFill>
                <a:hlinkClick r:id="" action="ppaction://hlinkshowjump?jump=lastslideviewed"/>
              </a:rPr>
              <a:t>返回</a:t>
            </a:r>
            <a:endParaRPr lang="zh-CN" altLang="en-US" sz="2400" b="0">
              <a:hlinkClick r:id="" action="ppaction://hlinkshowjump?jump=lastslideviewed"/>
            </a:endParaRPr>
          </a:p>
        </p:txBody>
      </p:sp>
      <p:grpSp>
        <p:nvGrpSpPr>
          <p:cNvPr id="78851" name="Group 3"/>
          <p:cNvGrpSpPr/>
          <p:nvPr/>
        </p:nvGrpSpPr>
        <p:grpSpPr bwMode="auto">
          <a:xfrm>
            <a:off x="184150" y="165100"/>
            <a:ext cx="8788400" cy="6159500"/>
            <a:chOff x="116" y="104"/>
            <a:chExt cx="5536" cy="3880"/>
          </a:xfrm>
        </p:grpSpPr>
        <p:pic>
          <p:nvPicPr>
            <p:cNvPr id="78857" name="Picture 4" descr="10-18b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" y="104"/>
              <a:ext cx="5536" cy="3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58" name="Text Box 5"/>
            <p:cNvSpPr txBox="1">
              <a:spLocks noChangeArrowheads="1"/>
            </p:cNvSpPr>
            <p:nvPr/>
          </p:nvSpPr>
          <p:spPr bwMode="auto">
            <a:xfrm>
              <a:off x="3953" y="2909"/>
              <a:ext cx="398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>
                  <a:latin typeface="宋体" panose="02010600030101010101" pitchFamily="2" charset="-122"/>
                </a:rPr>
                <a:t>5m6×18</a:t>
              </a:r>
            </a:p>
          </p:txBody>
        </p:sp>
      </p:grpSp>
      <p:grpSp>
        <p:nvGrpSpPr>
          <p:cNvPr id="162822" name="Group 6"/>
          <p:cNvGrpSpPr/>
          <p:nvPr/>
        </p:nvGrpSpPr>
        <p:grpSpPr bwMode="auto">
          <a:xfrm>
            <a:off x="-1588" y="2616200"/>
            <a:ext cx="9001126" cy="3686175"/>
            <a:chOff x="0" y="1666"/>
            <a:chExt cx="5670" cy="2322"/>
          </a:xfrm>
        </p:grpSpPr>
        <p:grpSp>
          <p:nvGrpSpPr>
            <p:cNvPr id="78853" name="Group 7"/>
            <p:cNvGrpSpPr/>
            <p:nvPr/>
          </p:nvGrpSpPr>
          <p:grpSpPr bwMode="auto">
            <a:xfrm flipV="1">
              <a:off x="0" y="1666"/>
              <a:ext cx="5670" cy="2322"/>
              <a:chOff x="18" y="2370"/>
              <a:chExt cx="5670" cy="1572"/>
            </a:xfrm>
          </p:grpSpPr>
          <p:pic>
            <p:nvPicPr>
              <p:cNvPr id="78855" name="Picture 8" descr="10-18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V="1">
                <a:off x="18" y="2370"/>
                <a:ext cx="5670" cy="15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856" name="Rectangle 9"/>
              <p:cNvSpPr>
                <a:spLocks noChangeArrowheads="1"/>
              </p:cNvSpPr>
              <p:nvPr/>
            </p:nvSpPr>
            <p:spPr bwMode="auto">
              <a:xfrm>
                <a:off x="144" y="2448"/>
                <a:ext cx="5472" cy="1416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</p:grpSp>
        <p:sp>
          <p:nvSpPr>
            <p:cNvPr id="78854" name="Text Box 10"/>
            <p:cNvSpPr txBox="1">
              <a:spLocks noChangeArrowheads="1"/>
            </p:cNvSpPr>
            <p:nvPr/>
          </p:nvSpPr>
          <p:spPr bwMode="auto">
            <a:xfrm>
              <a:off x="3526" y="2006"/>
              <a:ext cx="505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宋体" panose="02010600030101010101" pitchFamily="2" charset="-122"/>
                </a:rPr>
                <a:t>5m6×18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hlinkClick r:id="" action="ppaction://hlinkshowjump?jump=lastslideviewed"/>
          </p:cNvPr>
          <p:cNvSpPr txBox="1">
            <a:spLocks noChangeArrowheads="1"/>
          </p:cNvSpPr>
          <p:nvPr/>
        </p:nvSpPr>
        <p:spPr bwMode="auto">
          <a:xfrm>
            <a:off x="8061325" y="61928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rgbClr val="FF3300"/>
                </a:solidFill>
                <a:hlinkClick r:id="" action="ppaction://hlinkshowjump?jump=lastslideviewed"/>
              </a:rPr>
              <a:t>返回</a:t>
            </a:r>
          </a:p>
        </p:txBody>
      </p:sp>
      <p:grpSp>
        <p:nvGrpSpPr>
          <p:cNvPr id="79875" name="Group 3"/>
          <p:cNvGrpSpPr/>
          <p:nvPr/>
        </p:nvGrpSpPr>
        <p:grpSpPr bwMode="auto">
          <a:xfrm>
            <a:off x="184150" y="165100"/>
            <a:ext cx="8788400" cy="6159500"/>
            <a:chOff x="116" y="104"/>
            <a:chExt cx="5536" cy="3880"/>
          </a:xfrm>
        </p:grpSpPr>
        <p:pic>
          <p:nvPicPr>
            <p:cNvPr id="79876" name="Picture 4" descr="10-18b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" y="104"/>
              <a:ext cx="5536" cy="3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77" name="Text Box 5"/>
            <p:cNvSpPr txBox="1">
              <a:spLocks noChangeArrowheads="1"/>
            </p:cNvSpPr>
            <p:nvPr/>
          </p:nvSpPr>
          <p:spPr bwMode="auto">
            <a:xfrm>
              <a:off x="3953" y="2909"/>
              <a:ext cx="398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>
                  <a:latin typeface="宋体" panose="02010600030101010101" pitchFamily="2" charset="-122"/>
                </a:rPr>
                <a:t>5m6×18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0462654-342a-4d78-ba74-4877f49881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1711</Words>
  <Application>Microsoft Office PowerPoint</Application>
  <PresentationFormat>全屏显示(4:3)</PresentationFormat>
  <Paragraphs>200</Paragraphs>
  <Slides>30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Monotype Sorts</vt:lpstr>
      <vt:lpstr>黑体</vt:lpstr>
      <vt:lpstr>隶书</vt:lpstr>
      <vt:lpstr>宋体</vt:lpstr>
      <vt:lpstr>Arial</vt:lpstr>
      <vt:lpstr>Arial Black</vt:lpstr>
      <vt:lpstr>Calibri</vt:lpstr>
      <vt:lpstr>Times New Roman</vt:lpstr>
      <vt:lpstr>Office 主题</vt:lpstr>
      <vt:lpstr>Picture (Device Independent Bitmap)</vt:lpstr>
      <vt:lpstr>第16讲 装配图之二</vt:lpstr>
      <vt:lpstr>读装配图的方法与步骤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由装配图拆画零件图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 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第2单元     正投影法基础</dc:title>
  <dc:creator>Administrator</dc:creator>
  <cp:lastModifiedBy>msn</cp:lastModifiedBy>
  <cp:revision>72</cp:revision>
  <dcterms:created xsi:type="dcterms:W3CDTF">2019-03-05T10:30:00Z</dcterms:created>
  <dcterms:modified xsi:type="dcterms:W3CDTF">2022-12-28T05:08:07Z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EE30519CCD3D413386A5D78F4B6C0DAC</vt:lpwstr>
  </property>
</Properties>
</file>