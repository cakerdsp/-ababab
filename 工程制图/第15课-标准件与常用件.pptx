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256" r:id="rId3"/>
    <p:sldId id="1142" r:id="rId4"/>
    <p:sldId id="1176" r:id="rId5"/>
    <p:sldId id="1177" r:id="rId6"/>
    <p:sldId id="1178" r:id="rId7"/>
    <p:sldId id="1180" r:id="rId8"/>
    <p:sldId id="1181" r:id="rId9"/>
    <p:sldId id="1182" r:id="rId10"/>
    <p:sldId id="1184" r:id="rId11"/>
    <p:sldId id="1183" r:id="rId12"/>
    <p:sldId id="1185" r:id="rId13"/>
    <p:sldId id="1194" r:id="rId14"/>
    <p:sldId id="1195" r:id="rId15"/>
    <p:sldId id="1196" r:id="rId16"/>
    <p:sldId id="1197" r:id="rId17"/>
    <p:sldId id="1198" r:id="rId18"/>
    <p:sldId id="1199" r:id="rId19"/>
    <p:sldId id="1200" r:id="rId20"/>
    <p:sldId id="1186" r:id="rId21"/>
    <p:sldId id="1187" r:id="rId22"/>
    <p:sldId id="1188" r:id="rId23"/>
    <p:sldId id="1189" r:id="rId24"/>
    <p:sldId id="1191" r:id="rId25"/>
    <p:sldId id="1192" r:id="rId26"/>
    <p:sldId id="1193" r:id="rId27"/>
    <p:sldId id="1201" r:id="rId28"/>
    <p:sldId id="1203" r:id="rId29"/>
    <p:sldId id="1204" r:id="rId30"/>
    <p:sldId id="1209" r:id="rId31"/>
    <p:sldId id="1212" r:id="rId32"/>
    <p:sldId id="1216" r:id="rId33"/>
    <p:sldId id="1219" r:id="rId34"/>
    <p:sldId id="1221" r:id="rId35"/>
    <p:sldId id="1222" r:id="rId36"/>
    <p:sldId id="1225" r:id="rId37"/>
    <p:sldId id="1227" r:id="rId38"/>
    <p:sldId id="1228" r:id="rId39"/>
    <p:sldId id="1229" r:id="rId40"/>
    <p:sldId id="1231" r:id="rId41"/>
  </p:sldIdLst>
  <p:sldSz cx="9144000" cy="6858000" type="screen4x3"/>
  <p:notesSz cx="6858000" cy="9144000"/>
  <p:custDataLst>
    <p:tags r:id="rId46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38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18" autoAdjust="0"/>
    <p:restoredTop sz="94660"/>
  </p:normalViewPr>
  <p:slideViewPr>
    <p:cSldViewPr>
      <p:cViewPr varScale="1">
        <p:scale>
          <a:sx n="81" d="100"/>
          <a:sy n="81" d="100"/>
        </p:scale>
        <p:origin x="60" y="208"/>
      </p:cViewPr>
      <p:guideLst>
        <p:guide orient="horz" pos="2338"/>
        <p:guide pos="2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tags" Target="tags/tag2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notesMaster" Target="notesMasters/notesMaster1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BA8DA0B-9F4D-4D21-829A-36072320F3DC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310CC7B-182D-48C7-91A7-35B72A3E310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BA59C5-3DD6-4B0C-88A3-7002AAE79E97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95239FA-F55C-42BF-BAAC-5A8A89E341A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AB5064-2499-41C5-8417-694A3236569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B2104BD-6E4C-4555-A2C2-7A37F46DC3E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E0B3E7-703D-4702-B1CF-303DA92065AB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ED81E7-6265-49E7-BA9D-66566CB2A75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1092E-8FBD-4FD5-B0F3-1AF84317F27A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ECBCE8C-7466-464F-BD3E-4E7890ECAC4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D2641E-B573-476F-AD44-970D48E2863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77C17DE-B993-463A-8CCD-9DA2C0AC2AB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A5629-BC52-4F93-8FEF-1D43BA12233B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3F7FF02-A7A7-44BC-9FDC-899F2932E0C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848038-F6C5-4C2C-BD6C-FC90DC8C8F14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0982818-6E97-4954-A003-E552AFC73B6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FEAD0C-7624-4DC6-96F5-A065E11EC555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C5A0B48-2FE5-4BAB-8757-61771984244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7B65D2-EE4B-427F-9421-D330C4666D80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D7136A1-64BA-4556-9B7B-1A481963A62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AC2C8E-310E-4183-9BC9-BF326CB820D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417A518-6522-4459-BEB3-96CF5B18EDD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7A3BC8-5138-4039-B2B6-946A6F4EC60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1F9BAAD-8141-4467-8217-7373CD3FC38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4"/>
          <p:cNvSpPr/>
          <p:nvPr userDrawn="1"/>
        </p:nvSpPr>
        <p:spPr>
          <a:xfrm>
            <a:off x="0" y="333375"/>
            <a:ext cx="9144000" cy="71913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5" name="Rectangle 14"/>
          <p:cNvSpPr>
            <a:spLocks noChangeArrowheads="1"/>
          </p:cNvSpPr>
          <p:nvPr userDrawn="1"/>
        </p:nvSpPr>
        <p:spPr bwMode="auto">
          <a:xfrm flipV="1">
            <a:off x="395288" y="6332538"/>
            <a:ext cx="8748712" cy="49212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 eaLnBrk="1" hangingPunct="1">
              <a:defRPr/>
            </a:pPr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95288" y="6434138"/>
            <a:ext cx="12620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>
                <a:solidFill>
                  <a:srgbClr val="595959"/>
                </a:solidFill>
                <a:latin typeface="宋体" panose="02010600030101010101" pitchFamily="2" charset="-122"/>
              </a:rPr>
              <a:t>《</a:t>
            </a:r>
            <a:r>
              <a:rPr lang="zh-CN" altLang="en-US" sz="1400" b="1">
                <a:solidFill>
                  <a:srgbClr val="595959"/>
                </a:solidFill>
                <a:latin typeface="宋体" panose="02010600030101010101" pitchFamily="2" charset="-122"/>
              </a:rPr>
              <a:t>机械制图</a:t>
            </a:r>
            <a:r>
              <a:rPr lang="en-US" altLang="zh-CN" sz="1400" b="1">
                <a:solidFill>
                  <a:srgbClr val="595959"/>
                </a:solidFill>
                <a:latin typeface="宋体" panose="02010600030101010101" pitchFamily="2" charset="-122"/>
              </a:rPr>
              <a:t>》</a:t>
            </a:r>
            <a:endParaRPr lang="zh-CN" altLang="en-US" sz="1400" b="1">
              <a:solidFill>
                <a:srgbClr val="595959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Rectangle 7"/>
          <p:cNvSpPr>
            <a:spLocks noChangeArrowheads="1"/>
          </p:cNvSpPr>
          <p:nvPr userDrawn="1"/>
        </p:nvSpPr>
        <p:spPr bwMode="auto">
          <a:xfrm>
            <a:off x="3357563" y="6429375"/>
            <a:ext cx="11017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595959"/>
                </a:solidFill>
              </a:rPr>
              <a:t>第</a:t>
            </a:r>
            <a:r>
              <a:rPr lang="en-US" altLang="zh-CN" sz="1400" b="1">
                <a:solidFill>
                  <a:srgbClr val="595959"/>
                </a:solidFill>
              </a:rPr>
              <a:t>1</a:t>
            </a:r>
            <a:r>
              <a:rPr lang="zh-CN" altLang="en-US" sz="1400" b="1">
                <a:solidFill>
                  <a:srgbClr val="595959"/>
                </a:solidFill>
              </a:rPr>
              <a:t>章  绪论</a:t>
            </a:r>
            <a:endParaRPr lang="zh-CN" altLang="en-US" sz="1400" b="1">
              <a:solidFill>
                <a:srgbClr val="595959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351309"/>
            <a:ext cx="8229600" cy="4525963"/>
          </a:xfrm>
        </p:spPr>
        <p:txBody>
          <a:bodyPr/>
          <a:lstStyle>
            <a:lvl1pPr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buNone/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2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6875463" y="6381750"/>
            <a:ext cx="2133600" cy="365125"/>
          </a:xfrm>
        </p:spPr>
        <p:txBody>
          <a:bodyPr/>
          <a:lstStyle>
            <a:lvl1pPr>
              <a:defRPr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10398A4C-4BAF-456D-906D-678BC69D4A60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 userDrawn="1"/>
        </p:nvSpPr>
        <p:spPr bwMode="auto">
          <a:xfrm flipV="1">
            <a:off x="395288" y="6332538"/>
            <a:ext cx="8748712" cy="49212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 eaLnBrk="1" hangingPunct="1">
              <a:defRPr/>
            </a:pPr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3" name="Rectangle 7"/>
          <p:cNvSpPr>
            <a:spLocks noChangeArrowheads="1"/>
          </p:cNvSpPr>
          <p:nvPr userDrawn="1"/>
        </p:nvSpPr>
        <p:spPr bwMode="auto">
          <a:xfrm>
            <a:off x="395288" y="6434138"/>
            <a:ext cx="12620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>
                <a:solidFill>
                  <a:srgbClr val="595959"/>
                </a:solidFill>
                <a:latin typeface="宋体" panose="02010600030101010101" pitchFamily="2" charset="-122"/>
              </a:rPr>
              <a:t>《</a:t>
            </a:r>
            <a:r>
              <a:rPr lang="zh-CN" altLang="en-US" sz="1400" b="1">
                <a:solidFill>
                  <a:srgbClr val="595959"/>
                </a:solidFill>
                <a:latin typeface="宋体" panose="02010600030101010101" pitchFamily="2" charset="-122"/>
              </a:rPr>
              <a:t>机械制图</a:t>
            </a:r>
            <a:r>
              <a:rPr lang="en-US" altLang="zh-CN" sz="1400" b="1">
                <a:solidFill>
                  <a:srgbClr val="595959"/>
                </a:solidFill>
                <a:latin typeface="宋体" panose="02010600030101010101" pitchFamily="2" charset="-122"/>
              </a:rPr>
              <a:t>》</a:t>
            </a:r>
            <a:endParaRPr lang="zh-CN" altLang="en-US" sz="1400" b="1">
              <a:solidFill>
                <a:srgbClr val="595959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3357563" y="6429375"/>
            <a:ext cx="11017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595959"/>
                </a:solidFill>
              </a:rPr>
              <a:t>第</a:t>
            </a:r>
            <a:r>
              <a:rPr lang="en-US" altLang="zh-CN" sz="1400" b="1">
                <a:solidFill>
                  <a:srgbClr val="595959"/>
                </a:solidFill>
              </a:rPr>
              <a:t>1</a:t>
            </a:r>
            <a:r>
              <a:rPr lang="zh-CN" altLang="en-US" sz="1400" b="1">
                <a:solidFill>
                  <a:srgbClr val="595959"/>
                </a:solidFill>
              </a:rPr>
              <a:t>章  绪论</a:t>
            </a:r>
            <a:endParaRPr lang="zh-CN" altLang="en-US" sz="1400" b="1">
              <a:solidFill>
                <a:srgbClr val="595959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6875463" y="6381750"/>
            <a:ext cx="2133600" cy="365125"/>
          </a:xfrm>
        </p:spPr>
        <p:txBody>
          <a:bodyPr/>
          <a:lstStyle>
            <a:lvl1pPr>
              <a:defRPr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A308BBA3-C608-4444-B6E5-E867D87E901A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01625" y="228600"/>
            <a:ext cx="854075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01625" y="1600200"/>
            <a:ext cx="4194175" cy="2173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194175" cy="2173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01625" y="3925888"/>
            <a:ext cx="4194175" cy="2173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25888"/>
            <a:ext cx="4194175" cy="2173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01625" y="6245225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fld id="{433C10A3-1A0B-441C-913A-B0761FCF9A6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194175" cy="2173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25888"/>
            <a:ext cx="4194175" cy="2173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301625" y="6245225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fld id="{A1AB1B9B-FC64-40CF-B573-E1D1D1A9DC0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5" name="Object 9"/>
          <p:cNvGraphicFramePr>
            <a:graphicFrameLocks noChangeAspect="1"/>
          </p:cNvGraphicFramePr>
          <p:nvPr userDrawn="1"/>
        </p:nvGraphicFramePr>
        <p:xfrm>
          <a:off x="8458200" y="142875"/>
          <a:ext cx="68580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2" imgW="2428875" imgH="2171700" progId="StaticDib">
                  <p:embed/>
                </p:oleObj>
              </mc:Choice>
              <mc:Fallback>
                <p:oleObj name="" r:id="rId2" imgW="2428875" imgH="2171700" progId="StaticDib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458200" y="142875"/>
                        <a:ext cx="685800" cy="611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Line 7"/>
          <p:cNvSpPr>
            <a:spLocks noChangeShapeType="1"/>
          </p:cNvSpPr>
          <p:nvPr/>
        </p:nvSpPr>
        <p:spPr bwMode="auto">
          <a:xfrm>
            <a:off x="0" y="762000"/>
            <a:ext cx="9144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6488113"/>
            <a:ext cx="2492375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工程制图基础教学软件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3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84525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第一章   制图基本知识和技能 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15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2.jpeg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7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6BA3471-8F77-4988-93EC-C76938312EAD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64C67417-CE36-47FB-9AB7-1A10D914B3C0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11.png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image" Target="../media/image3.jpe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2.jpeg"/><Relationship Id="rId6" Type="http://schemas.openxmlformats.org/officeDocument/2006/relationships/image" Target="../media/image21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0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19.wmf"/><Relationship Id="rId1" Type="http://schemas.openxmlformats.org/officeDocument/2006/relationships/oleObject" Target="../embeddings/oleObject2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3.jpeg"/><Relationship Id="rId6" Type="http://schemas.openxmlformats.org/officeDocument/2006/relationships/image" Target="../media/image21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20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19.wmf"/><Relationship Id="rId1" Type="http://schemas.openxmlformats.org/officeDocument/2006/relationships/oleObject" Target="../embeddings/oleObject5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4.png"/><Relationship Id="rId7" Type="http://schemas.openxmlformats.org/officeDocument/2006/relationships/slide" Target="slide1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0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9.wmf"/><Relationship Id="rId10" Type="http://schemas.openxmlformats.org/officeDocument/2006/relationships/vmlDrawing" Target="../drawings/vmlDrawing4.vml"/><Relationship Id="rId1" Type="http://schemas.openxmlformats.org/officeDocument/2006/relationships/oleObject" Target="../embeddings/oleObject8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5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0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9.wmf"/><Relationship Id="rId1" Type="http://schemas.openxmlformats.org/officeDocument/2006/relationships/oleObject" Target="../embeddings/oleObject11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标准件和常用件 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4" name="矩形 343043"/>
          <p:cNvSpPr/>
          <p:nvPr/>
        </p:nvSpPr>
        <p:spPr>
          <a:xfrm>
            <a:off x="428625" y="838200"/>
            <a:ext cx="99568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200" b="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概念</a:t>
            </a:r>
            <a:endParaRPr lang="zh-CN" altLang="en-US" sz="3200" b="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43045" name="文本框 343044"/>
          <p:cNvSpPr txBox="1"/>
          <p:nvPr/>
        </p:nvSpPr>
        <p:spPr>
          <a:xfrm>
            <a:off x="609600" y="1447800"/>
            <a:ext cx="7741920" cy="2306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ea typeface="黑体" panose="02010609060101010101" pitchFamily="49" charset="-122"/>
                <a:sym typeface="+mn-ea"/>
              </a:rPr>
              <a:t> 标准件</a:t>
            </a:r>
            <a:r>
              <a:rPr lang="en-US" altLang="zh-CN" sz="2400" b="1" dirty="0">
                <a:ea typeface="黑体" panose="02010609060101010101" pitchFamily="49" charset="-122"/>
                <a:sym typeface="+mn-ea"/>
              </a:rPr>
              <a:t>: </a:t>
            </a:r>
            <a:r>
              <a:rPr lang="zh-CN" altLang="en-US" sz="2400" b="1" dirty="0">
                <a:sym typeface="+mn-ea"/>
              </a:rPr>
              <a:t>就是国家标准将其</a:t>
            </a: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型式</a:t>
            </a:r>
            <a:r>
              <a:rPr lang="zh-CN" altLang="en-US" sz="2400" b="1" dirty="0">
                <a:sym typeface="+mn-ea"/>
              </a:rPr>
              <a:t>、</a:t>
            </a: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结构</a:t>
            </a:r>
            <a:r>
              <a:rPr lang="zh-CN" altLang="en-US" sz="2400" b="1" dirty="0">
                <a:sym typeface="+mn-ea"/>
              </a:rPr>
              <a:t>、</a:t>
            </a: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材料</a:t>
            </a:r>
            <a:r>
              <a:rPr lang="zh-CN" altLang="en-US" sz="2400" b="1" dirty="0">
                <a:sym typeface="+mn-ea"/>
              </a:rPr>
              <a:t>、</a:t>
            </a: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尺寸</a:t>
            </a:r>
            <a:r>
              <a:rPr lang="zh-CN" altLang="en-US" sz="2400" b="1" dirty="0">
                <a:sym typeface="+mn-ea"/>
              </a:rPr>
              <a:t>、</a:t>
            </a: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精度</a:t>
            </a:r>
            <a:r>
              <a:rPr lang="zh-CN" altLang="en-US" sz="2400" b="1" dirty="0">
                <a:sym typeface="+mn-ea"/>
              </a:rPr>
              <a:t>及</a:t>
            </a:r>
            <a:r>
              <a:rPr lang="zh-CN" altLang="en-US" sz="2400" b="1" dirty="0">
                <a:solidFill>
                  <a:srgbClr val="0033CC"/>
                </a:solidFill>
                <a:sym typeface="+mn-ea"/>
              </a:rPr>
              <a:t>画法</a:t>
            </a:r>
            <a:r>
              <a:rPr lang="zh-CN" altLang="en-US" sz="2400" b="1" dirty="0">
                <a:sym typeface="+mn-ea"/>
              </a:rPr>
              <a:t>等均予以标准化的零件。如</a:t>
            </a:r>
            <a:r>
              <a:rPr lang="zh-CN" altLang="en-US" sz="2400" b="1" dirty="0">
                <a:solidFill>
                  <a:srgbClr val="FF3399"/>
                </a:solidFill>
                <a:sym typeface="+mn-ea"/>
              </a:rPr>
              <a:t>螺栓、双头螺柱、螺钉、螺母、垫圈，以及键、销、轴承</a:t>
            </a:r>
            <a:r>
              <a:rPr lang="zh-CN" altLang="en-US" sz="2400" b="1" dirty="0">
                <a:sym typeface="+mn-ea"/>
              </a:rPr>
              <a:t>等，由专门厂家进行</a:t>
            </a:r>
            <a:r>
              <a:rPr lang="zh-CN" altLang="en-US" sz="2400" b="1" dirty="0">
                <a:solidFill>
                  <a:srgbClr val="FF3399"/>
                </a:solidFill>
                <a:sym typeface="+mn-ea"/>
              </a:rPr>
              <a:t>大批量生产</a:t>
            </a:r>
            <a:r>
              <a:rPr lang="zh-CN" altLang="en-US" sz="2400" b="1" dirty="0">
                <a:sym typeface="+mn-ea"/>
              </a:rPr>
              <a:t>。</a:t>
            </a:r>
            <a:br>
              <a:rPr lang="zh-CN" altLang="en-US" sz="2400" b="1" dirty="0">
                <a:sym typeface="+mn-ea"/>
              </a:rPr>
            </a:br>
            <a:r>
              <a:rPr lang="zh-CN" altLang="en-US" sz="2400" b="1" dirty="0">
                <a:solidFill>
                  <a:srgbClr val="FF0000"/>
                </a:solidFill>
                <a:ea typeface="黑体" panose="02010609060101010101" pitchFamily="49" charset="-122"/>
                <a:sym typeface="+mn-ea"/>
              </a:rPr>
              <a:t>齿轮、弹簧、铆钉（常用件）</a:t>
            </a:r>
            <a:r>
              <a:rPr lang="en-US" altLang="zh-CN" sz="2400" b="1" dirty="0">
                <a:ea typeface="黑体" panose="02010609060101010101" pitchFamily="49" charset="-122"/>
                <a:sym typeface="+mn-ea"/>
              </a:rPr>
              <a:t>: </a:t>
            </a:r>
            <a:r>
              <a:rPr lang="zh-CN" altLang="en-US" sz="2400" b="1" dirty="0">
                <a:sym typeface="+mn-ea"/>
              </a:rPr>
              <a:t>国家标准对其</a:t>
            </a: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部分结构</a:t>
            </a:r>
            <a:r>
              <a:rPr lang="zh-CN" altLang="en-US" sz="2400" b="1" dirty="0">
                <a:sym typeface="+mn-ea"/>
              </a:rPr>
              <a:t>及</a:t>
            </a: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尺寸参数</a:t>
            </a:r>
            <a:r>
              <a:rPr lang="zh-CN" altLang="en-US" sz="2400" b="1" dirty="0">
                <a:sym typeface="+mn-ea"/>
              </a:rPr>
              <a:t>进行了标准化的零件，如齿轮、弹簧等。</a:t>
            </a: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29" name="Rectangle 33"/>
          <p:cNvSpPr>
            <a:spLocks noGrp="1" noChangeArrowheads="1"/>
          </p:cNvSpPr>
          <p:nvPr>
            <p:ph type="title"/>
          </p:nvPr>
        </p:nvSpPr>
        <p:spPr>
          <a:xfrm>
            <a:off x="847725" y="0"/>
            <a:ext cx="5976938" cy="6111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+mj-ea"/>
                <a:cs typeface="+mj-cs"/>
              </a:rPr>
              <a:t>一、螺纹及螺纹紧固件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anose="02010509060101010101" pitchFamily="49" charset="-122"/>
              <a:ea typeface="+mj-ea"/>
              <a:cs typeface="+mj-cs"/>
            </a:endParaRPr>
          </a:p>
        </p:txBody>
      </p:sp>
      <p:sp>
        <p:nvSpPr>
          <p:cNvPr id="17431" name="Text Box 23"/>
          <p:cNvSpPr txBox="1"/>
          <p:nvPr/>
        </p:nvSpPr>
        <p:spPr>
          <a:xfrm>
            <a:off x="179388" y="1039813"/>
            <a:ext cx="354965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</a:rPr>
              <a:t>螺纹的形成、结构和要素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7432" name="Text Box 24"/>
          <p:cNvSpPr txBox="1"/>
          <p:nvPr/>
        </p:nvSpPr>
        <p:spPr>
          <a:xfrm>
            <a:off x="539750" y="1544638"/>
            <a:ext cx="2174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</a:rPr>
              <a:t>⒈  螺纹的形成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3016" name="Line 25"/>
          <p:cNvSpPr/>
          <p:nvPr/>
        </p:nvSpPr>
        <p:spPr>
          <a:xfrm>
            <a:off x="1766888" y="3741738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34" name="AutoShape 26"/>
          <p:cNvSpPr/>
          <p:nvPr/>
        </p:nvSpPr>
        <p:spPr>
          <a:xfrm>
            <a:off x="954088" y="2116138"/>
            <a:ext cx="1262062" cy="2490787"/>
          </a:xfrm>
          <a:prstGeom prst="can">
            <a:avLst>
              <a:gd name="adj" fmla="val 42384"/>
            </a:avLst>
          </a:prstGeom>
          <a:solidFill>
            <a:srgbClr val="66FF33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435" name="Freeform 27"/>
          <p:cNvSpPr/>
          <p:nvPr/>
        </p:nvSpPr>
        <p:spPr>
          <a:xfrm>
            <a:off x="1206500" y="3900488"/>
            <a:ext cx="1014413" cy="647700"/>
          </a:xfrm>
          <a:custGeom>
            <a:avLst/>
            <a:gdLst>
              <a:gd name="txL" fmla="*/ 0 w 639"/>
              <a:gd name="txT" fmla="*/ 0 h 408"/>
              <a:gd name="txR" fmla="*/ 639 w 639"/>
              <a:gd name="txB" fmla="*/ 408 h 408"/>
            </a:gdLst>
            <a:ahLst/>
            <a:cxnLst>
              <a:cxn ang="0">
                <a:pos x="0" y="980341679"/>
              </a:cxn>
              <a:cxn ang="0">
                <a:pos x="352822013" y="1028223839"/>
              </a:cxn>
              <a:cxn ang="0">
                <a:pos x="698084351" y="960180435"/>
              </a:cxn>
              <a:cxn ang="0">
                <a:pos x="1043345200" y="821570890"/>
              </a:cxn>
              <a:cxn ang="0">
                <a:pos x="1270159288" y="652721266"/>
              </a:cxn>
              <a:cxn ang="0">
                <a:pos x="1441529932" y="483870054"/>
              </a:cxn>
              <a:cxn ang="0">
                <a:pos x="1562497445" y="267136582"/>
              </a:cxn>
              <a:cxn ang="0">
                <a:pos x="1610381213" y="0"/>
              </a:cxn>
            </a:cxnLst>
            <a:rect l="txL" t="txT" r="txR" b="txB"/>
            <a:pathLst>
              <a:path w="639" h="408">
                <a:moveTo>
                  <a:pt x="0" y="389"/>
                </a:moveTo>
                <a:lnTo>
                  <a:pt x="140" y="408"/>
                </a:lnTo>
                <a:lnTo>
                  <a:pt x="277" y="381"/>
                </a:lnTo>
                <a:lnTo>
                  <a:pt x="414" y="326"/>
                </a:lnTo>
                <a:lnTo>
                  <a:pt x="504" y="259"/>
                </a:lnTo>
                <a:lnTo>
                  <a:pt x="572" y="192"/>
                </a:lnTo>
                <a:lnTo>
                  <a:pt x="620" y="106"/>
                </a:lnTo>
                <a:lnTo>
                  <a:pt x="639" y="0"/>
                </a:lnTo>
              </a:path>
            </a:pathLst>
          </a:custGeom>
          <a:noFill/>
          <a:ln w="38100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436" name="Freeform 28"/>
          <p:cNvSpPr/>
          <p:nvPr/>
        </p:nvSpPr>
        <p:spPr>
          <a:xfrm>
            <a:off x="962025" y="3509963"/>
            <a:ext cx="1250950" cy="503237"/>
          </a:xfrm>
          <a:custGeom>
            <a:avLst/>
            <a:gdLst>
              <a:gd name="txL" fmla="*/ 0 w 788"/>
              <a:gd name="txT" fmla="*/ 0 h 317"/>
              <a:gd name="txR" fmla="*/ 788 w 788"/>
              <a:gd name="txB" fmla="*/ 317 h 317"/>
            </a:gdLst>
            <a:ahLst/>
            <a:cxnLst>
              <a:cxn ang="0">
                <a:pos x="1985883303" y="798887835"/>
              </a:cxn>
              <a:cxn ang="0">
                <a:pos x="1948081765" y="546872557"/>
              </a:cxn>
              <a:cxn ang="0">
                <a:pos x="1804432110" y="315018402"/>
              </a:cxn>
              <a:cxn ang="0">
                <a:pos x="1633061141" y="206652577"/>
              </a:cxn>
              <a:cxn ang="0">
                <a:pos x="1441529325" y="98285189"/>
              </a:cxn>
              <a:cxn ang="0">
                <a:pos x="1101307543" y="25201534"/>
              </a:cxn>
              <a:cxn ang="0">
                <a:pos x="715724352" y="0"/>
              </a:cxn>
              <a:cxn ang="0">
                <a:pos x="400705613" y="73083662"/>
              </a:cxn>
              <a:cxn ang="0">
                <a:pos x="206652798" y="133567353"/>
              </a:cxn>
              <a:cxn ang="0">
                <a:pos x="60483756" y="244454125"/>
              </a:cxn>
              <a:cxn ang="0">
                <a:pos x="0" y="375502069"/>
              </a:cxn>
            </a:cxnLst>
            <a:rect l="txL" t="txT" r="txR" b="txB"/>
            <a:pathLst>
              <a:path w="788" h="317">
                <a:moveTo>
                  <a:pt x="788" y="317"/>
                </a:moveTo>
                <a:lnTo>
                  <a:pt x="773" y="217"/>
                </a:lnTo>
                <a:lnTo>
                  <a:pt x="716" y="125"/>
                </a:lnTo>
                <a:lnTo>
                  <a:pt x="648" y="82"/>
                </a:lnTo>
                <a:lnTo>
                  <a:pt x="572" y="39"/>
                </a:lnTo>
                <a:lnTo>
                  <a:pt x="437" y="10"/>
                </a:lnTo>
                <a:lnTo>
                  <a:pt x="284" y="0"/>
                </a:lnTo>
                <a:lnTo>
                  <a:pt x="159" y="29"/>
                </a:lnTo>
                <a:lnTo>
                  <a:pt x="82" y="53"/>
                </a:lnTo>
                <a:lnTo>
                  <a:pt x="24" y="97"/>
                </a:lnTo>
                <a:lnTo>
                  <a:pt x="0" y="149"/>
                </a:lnTo>
              </a:path>
            </a:pathLst>
          </a:custGeom>
          <a:noFill/>
          <a:ln w="19050" cap="flat" cmpd="sng">
            <a:solidFill>
              <a:srgbClr val="FF3300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437" name="Freeform 29"/>
          <p:cNvSpPr/>
          <p:nvPr/>
        </p:nvSpPr>
        <p:spPr>
          <a:xfrm>
            <a:off x="971550" y="3357563"/>
            <a:ext cx="1241425" cy="604837"/>
          </a:xfrm>
          <a:custGeom>
            <a:avLst/>
            <a:gdLst>
              <a:gd name="txL" fmla="*/ 0 w 782"/>
              <a:gd name="txT" fmla="*/ 0 h 381"/>
              <a:gd name="txR" fmla="*/ 782 w 782"/>
              <a:gd name="txB" fmla="*/ 381 h 381"/>
            </a:gdLst>
            <a:ahLst/>
            <a:cxnLst>
              <a:cxn ang="0">
                <a:pos x="0" y="650199765"/>
              </a:cxn>
              <a:cxn ang="0">
                <a:pos x="68043429" y="788807406"/>
              </a:cxn>
              <a:cxn ang="0">
                <a:pos x="274696251" y="892134686"/>
              </a:cxn>
              <a:cxn ang="0">
                <a:pos x="551913451" y="960178033"/>
              </a:cxn>
              <a:cxn ang="0">
                <a:pos x="829132140" y="927416833"/>
              </a:cxn>
              <a:cxn ang="0">
                <a:pos x="1063506002" y="859371899"/>
              </a:cxn>
              <a:cxn ang="0">
                <a:pos x="1315521549" y="748484952"/>
              </a:cxn>
              <a:cxn ang="0">
                <a:pos x="1522174297" y="602316058"/>
              </a:cxn>
              <a:cxn ang="0">
                <a:pos x="1738908063" y="410784303"/>
              </a:cxn>
              <a:cxn ang="0">
                <a:pos x="1885077080" y="191531705"/>
              </a:cxn>
              <a:cxn ang="0">
                <a:pos x="1970762366" y="0"/>
              </a:cxn>
            </a:cxnLst>
            <a:rect l="txL" t="txT" r="txR" b="txB"/>
            <a:pathLst>
              <a:path w="782" h="381">
                <a:moveTo>
                  <a:pt x="0" y="258"/>
                </a:moveTo>
                <a:lnTo>
                  <a:pt x="27" y="313"/>
                </a:lnTo>
                <a:lnTo>
                  <a:pt x="109" y="354"/>
                </a:lnTo>
                <a:lnTo>
                  <a:pt x="219" y="381"/>
                </a:lnTo>
                <a:lnTo>
                  <a:pt x="329" y="368"/>
                </a:lnTo>
                <a:lnTo>
                  <a:pt x="422" y="341"/>
                </a:lnTo>
                <a:lnTo>
                  <a:pt x="522" y="297"/>
                </a:lnTo>
                <a:lnTo>
                  <a:pt x="604" y="239"/>
                </a:lnTo>
                <a:lnTo>
                  <a:pt x="690" y="163"/>
                </a:lnTo>
                <a:lnTo>
                  <a:pt x="748" y="76"/>
                </a:lnTo>
                <a:lnTo>
                  <a:pt x="782" y="0"/>
                </a:lnTo>
              </a:path>
            </a:pathLst>
          </a:custGeom>
          <a:noFill/>
          <a:ln w="38100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438" name="Freeform 30"/>
          <p:cNvSpPr/>
          <p:nvPr/>
        </p:nvSpPr>
        <p:spPr>
          <a:xfrm>
            <a:off x="971550" y="2784475"/>
            <a:ext cx="1233488" cy="536575"/>
          </a:xfrm>
          <a:custGeom>
            <a:avLst/>
            <a:gdLst>
              <a:gd name="txL" fmla="*/ 0 w 777"/>
              <a:gd name="txT" fmla="*/ 0 h 338"/>
              <a:gd name="txR" fmla="*/ 777 w 777"/>
              <a:gd name="txB" fmla="*/ 338 h 338"/>
            </a:gdLst>
            <a:ahLst/>
            <a:cxnLst>
              <a:cxn ang="0">
                <a:pos x="1958163172" y="851812902"/>
              </a:cxn>
              <a:cxn ang="0">
                <a:pos x="1920360031" y="619958412"/>
              </a:cxn>
              <a:cxn ang="0">
                <a:pos x="1824594085" y="415826524"/>
              </a:cxn>
              <a:cxn ang="0">
                <a:pos x="1693545948" y="277217187"/>
              </a:cxn>
              <a:cxn ang="0">
                <a:pos x="1451610529" y="138607800"/>
              </a:cxn>
              <a:cxn ang="0">
                <a:pos x="1209675507" y="35282187"/>
              </a:cxn>
              <a:cxn ang="0">
                <a:pos x="897176104" y="0"/>
              </a:cxn>
              <a:cxn ang="0">
                <a:pos x="655240883" y="0"/>
              </a:cxn>
              <a:cxn ang="0">
                <a:pos x="413305762" y="70564374"/>
              </a:cxn>
              <a:cxn ang="0">
                <a:pos x="204133518" y="186491545"/>
              </a:cxn>
              <a:cxn ang="0">
                <a:pos x="68045044" y="312499361"/>
              </a:cxn>
              <a:cxn ang="0">
                <a:pos x="0" y="483870024"/>
              </a:cxn>
            </a:cxnLst>
            <a:rect l="txL" t="txT" r="txR" b="txB"/>
            <a:pathLst>
              <a:path w="777" h="338">
                <a:moveTo>
                  <a:pt x="777" y="338"/>
                </a:moveTo>
                <a:lnTo>
                  <a:pt x="762" y="246"/>
                </a:lnTo>
                <a:lnTo>
                  <a:pt x="724" y="165"/>
                </a:lnTo>
                <a:lnTo>
                  <a:pt x="672" y="110"/>
                </a:lnTo>
                <a:lnTo>
                  <a:pt x="576" y="55"/>
                </a:lnTo>
                <a:lnTo>
                  <a:pt x="480" y="14"/>
                </a:lnTo>
                <a:lnTo>
                  <a:pt x="356" y="0"/>
                </a:lnTo>
                <a:lnTo>
                  <a:pt x="260" y="0"/>
                </a:lnTo>
                <a:lnTo>
                  <a:pt x="164" y="28"/>
                </a:lnTo>
                <a:lnTo>
                  <a:pt x="81" y="74"/>
                </a:lnTo>
                <a:lnTo>
                  <a:pt x="27" y="124"/>
                </a:lnTo>
                <a:lnTo>
                  <a:pt x="0" y="192"/>
                </a:lnTo>
              </a:path>
            </a:pathLst>
          </a:custGeom>
          <a:noFill/>
          <a:ln w="19050" cap="flat" cmpd="sng">
            <a:solidFill>
              <a:srgbClr val="FF3300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439" name="Freeform 31"/>
          <p:cNvSpPr/>
          <p:nvPr/>
        </p:nvSpPr>
        <p:spPr>
          <a:xfrm>
            <a:off x="949325" y="2654300"/>
            <a:ext cx="1255713" cy="631825"/>
          </a:xfrm>
          <a:custGeom>
            <a:avLst/>
            <a:gdLst>
              <a:gd name="txL" fmla="*/ 0 w 791"/>
              <a:gd name="txT" fmla="*/ 0 h 398"/>
              <a:gd name="txR" fmla="*/ 791 w 791"/>
              <a:gd name="txB" fmla="*/ 398 h 398"/>
            </a:gdLst>
            <a:ahLst/>
            <a:cxnLst>
              <a:cxn ang="0">
                <a:pos x="0" y="725804976"/>
              </a:cxn>
              <a:cxn ang="0">
                <a:pos x="131048186" y="814011211"/>
              </a:cxn>
              <a:cxn ang="0">
                <a:pos x="345262330" y="934978873"/>
              </a:cxn>
              <a:cxn ang="0">
                <a:pos x="587197451" y="1003022277"/>
              </a:cxn>
              <a:cxn ang="0">
                <a:pos x="829132473" y="967740100"/>
              </a:cxn>
              <a:cxn ang="0">
                <a:pos x="1106349883" y="899696696"/>
              </a:cxn>
              <a:cxn ang="0">
                <a:pos x="1348284905" y="725804976"/>
              </a:cxn>
              <a:cxn ang="0">
                <a:pos x="1590219927" y="554434403"/>
              </a:cxn>
              <a:cxn ang="0">
                <a:pos x="1554937736" y="554434403"/>
              </a:cxn>
              <a:cxn ang="0">
                <a:pos x="1774190953" y="413305597"/>
              </a:cxn>
              <a:cxn ang="0">
                <a:pos x="1920360028" y="194052815"/>
              </a:cxn>
              <a:cxn ang="0">
                <a:pos x="1993445360" y="0"/>
              </a:cxn>
            </a:cxnLst>
            <a:rect l="txL" t="txT" r="txR" b="txB"/>
            <a:pathLst>
              <a:path w="791" h="398">
                <a:moveTo>
                  <a:pt x="0" y="288"/>
                </a:moveTo>
                <a:lnTo>
                  <a:pt x="52" y="323"/>
                </a:lnTo>
                <a:lnTo>
                  <a:pt x="137" y="371"/>
                </a:lnTo>
                <a:lnTo>
                  <a:pt x="233" y="398"/>
                </a:lnTo>
                <a:lnTo>
                  <a:pt x="329" y="384"/>
                </a:lnTo>
                <a:lnTo>
                  <a:pt x="439" y="357"/>
                </a:lnTo>
                <a:lnTo>
                  <a:pt x="535" y="288"/>
                </a:lnTo>
                <a:lnTo>
                  <a:pt x="631" y="220"/>
                </a:lnTo>
                <a:lnTo>
                  <a:pt x="617" y="220"/>
                </a:lnTo>
                <a:lnTo>
                  <a:pt x="704" y="164"/>
                </a:lnTo>
                <a:lnTo>
                  <a:pt x="762" y="77"/>
                </a:lnTo>
                <a:lnTo>
                  <a:pt x="791" y="0"/>
                </a:lnTo>
              </a:path>
            </a:pathLst>
          </a:custGeom>
          <a:noFill/>
          <a:ln w="38100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2" name="Group 32"/>
          <p:cNvGrpSpPr/>
          <p:nvPr/>
        </p:nvGrpSpPr>
        <p:grpSpPr>
          <a:xfrm>
            <a:off x="896938" y="4386263"/>
            <a:ext cx="485775" cy="457200"/>
            <a:chOff x="639" y="3148"/>
            <a:chExt cx="306" cy="288"/>
          </a:xfrm>
        </p:grpSpPr>
        <p:sp>
          <p:nvSpPr>
            <p:cNvPr id="43052" name="Text Box 33"/>
            <p:cNvSpPr txBox="1"/>
            <p:nvPr/>
          </p:nvSpPr>
          <p:spPr>
            <a:xfrm>
              <a:off x="639" y="3148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053" name="Text Box 34"/>
            <p:cNvSpPr txBox="1"/>
            <p:nvPr/>
          </p:nvSpPr>
          <p:spPr>
            <a:xfrm>
              <a:off x="756" y="3163"/>
              <a:ext cx="189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9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●</a:t>
              </a:r>
              <a:endParaRPr lang="zh-CN" altLang="en-US" sz="900" b="1" dirty="0">
                <a:solidFill>
                  <a:srgbClr val="333399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35"/>
          <p:cNvGrpSpPr/>
          <p:nvPr/>
        </p:nvGrpSpPr>
        <p:grpSpPr>
          <a:xfrm>
            <a:off x="2081213" y="3565525"/>
            <a:ext cx="1400175" cy="644525"/>
            <a:chOff x="1385" y="2631"/>
            <a:chExt cx="882" cy="406"/>
          </a:xfrm>
        </p:grpSpPr>
        <p:sp>
          <p:nvSpPr>
            <p:cNvPr id="43049" name="Line 36"/>
            <p:cNvSpPr/>
            <p:nvPr/>
          </p:nvSpPr>
          <p:spPr>
            <a:xfrm>
              <a:off x="1385" y="2631"/>
              <a:ext cx="222" cy="384"/>
            </a:xfrm>
            <a:prstGeom prst="line">
              <a:avLst/>
            </a:prstGeom>
            <a:ln w="12700" cap="flat" cmpd="sng">
              <a:solidFill>
                <a:srgbClr val="00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50" name="Line 37"/>
            <p:cNvSpPr/>
            <p:nvPr/>
          </p:nvSpPr>
          <p:spPr>
            <a:xfrm>
              <a:off x="1604" y="3003"/>
              <a:ext cx="617" cy="0"/>
            </a:xfrm>
            <a:prstGeom prst="line">
              <a:avLst/>
            </a:prstGeom>
            <a:ln w="12700" cap="flat" cmpd="sng">
              <a:solidFill>
                <a:srgbClr val="00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51" name="Text Box 38"/>
            <p:cNvSpPr txBox="1"/>
            <p:nvPr/>
          </p:nvSpPr>
          <p:spPr>
            <a:xfrm>
              <a:off x="1574" y="2749"/>
              <a:ext cx="69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螺旋线</a:t>
              </a:r>
              <a:endPara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7447" name="Text Box 39"/>
          <p:cNvSpPr txBox="1"/>
          <p:nvPr/>
        </p:nvSpPr>
        <p:spPr>
          <a:xfrm>
            <a:off x="3348038" y="3933825"/>
            <a:ext cx="5119687" cy="118745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</a:rPr>
              <a:t>　　一个与轴线共面的平面图形（三角形、梯形等），绕圆柱面作螺旋运动，则得到一圆柱螺旋体</a:t>
            </a: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                   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7448" name="Text Box 40"/>
          <p:cNvSpPr txBox="1"/>
          <p:nvPr/>
        </p:nvSpPr>
        <p:spPr>
          <a:xfrm>
            <a:off x="6099175" y="5132388"/>
            <a:ext cx="1709738" cy="457200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46800" rIns="90000" bIns="46800" anchor="ctr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螺纹。</a:t>
            </a:r>
            <a:endParaRPr lang="zh-CN" altLang="en-US" sz="24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49" name="Text Box 41"/>
          <p:cNvSpPr txBox="1"/>
          <p:nvPr/>
        </p:nvSpPr>
        <p:spPr>
          <a:xfrm>
            <a:off x="971550" y="5516563"/>
            <a:ext cx="6624638" cy="4572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制在圆柱体</a:t>
            </a: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外表面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上的螺纹叫</a:t>
            </a: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外螺纹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。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50" name="Text Box 42"/>
          <p:cNvSpPr txBox="1"/>
          <p:nvPr/>
        </p:nvSpPr>
        <p:spPr>
          <a:xfrm>
            <a:off x="900113" y="5949950"/>
            <a:ext cx="6049962" cy="4572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制在圆柱体</a:t>
            </a: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内表面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上的螺纹叫</a:t>
            </a: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内螺纹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。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51" name="AutoShape 43"/>
          <p:cNvSpPr/>
          <p:nvPr/>
        </p:nvSpPr>
        <p:spPr>
          <a:xfrm>
            <a:off x="4595813" y="1341438"/>
            <a:ext cx="1262062" cy="2586037"/>
          </a:xfrm>
          <a:prstGeom prst="can">
            <a:avLst>
              <a:gd name="adj" fmla="val 44005"/>
            </a:avLst>
          </a:prstGeom>
          <a:gradFill rotWithShape="0">
            <a:gsLst>
              <a:gs pos="0">
                <a:srgbClr val="2F7618"/>
              </a:gs>
              <a:gs pos="50000">
                <a:srgbClr val="66FF33"/>
              </a:gs>
              <a:gs pos="100000">
                <a:srgbClr val="2F7618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4" name="Group 44"/>
          <p:cNvGrpSpPr/>
          <p:nvPr/>
        </p:nvGrpSpPr>
        <p:grpSpPr>
          <a:xfrm>
            <a:off x="4427538" y="2576513"/>
            <a:ext cx="1568450" cy="830262"/>
            <a:chOff x="1435" y="1946"/>
            <a:chExt cx="988" cy="523"/>
          </a:xfrm>
        </p:grpSpPr>
        <p:sp>
          <p:nvSpPr>
            <p:cNvPr id="43047" name="Freeform 45"/>
            <p:cNvSpPr/>
            <p:nvPr/>
          </p:nvSpPr>
          <p:spPr>
            <a:xfrm>
              <a:off x="1443" y="2277"/>
              <a:ext cx="720" cy="192"/>
            </a:xfrm>
            <a:custGeom>
              <a:avLst/>
              <a:gdLst>
                <a:gd name="txL" fmla="*/ 0 w 720"/>
                <a:gd name="txT" fmla="*/ 0 h 192"/>
                <a:gd name="txR" fmla="*/ 720 w 720"/>
                <a:gd name="txB" fmla="*/ 192 h 192"/>
              </a:gdLst>
              <a:ahLst/>
              <a:cxnLst>
                <a:cxn ang="0">
                  <a:pos x="0" y="0"/>
                </a:cxn>
                <a:cxn ang="0">
                  <a:pos x="60" y="87"/>
                </a:cxn>
                <a:cxn ang="0">
                  <a:pos x="99" y="120"/>
                </a:cxn>
                <a:cxn ang="0">
                  <a:pos x="162" y="153"/>
                </a:cxn>
                <a:cxn ang="0">
                  <a:pos x="222" y="180"/>
                </a:cxn>
                <a:cxn ang="0">
                  <a:pos x="291" y="192"/>
                </a:cxn>
                <a:cxn ang="0">
                  <a:pos x="360" y="186"/>
                </a:cxn>
                <a:cxn ang="0">
                  <a:pos x="423" y="177"/>
                </a:cxn>
                <a:cxn ang="0">
                  <a:pos x="483" y="162"/>
                </a:cxn>
                <a:cxn ang="0">
                  <a:pos x="531" y="144"/>
                </a:cxn>
                <a:cxn ang="0">
                  <a:pos x="594" y="114"/>
                </a:cxn>
                <a:cxn ang="0">
                  <a:pos x="657" y="78"/>
                </a:cxn>
                <a:cxn ang="0">
                  <a:pos x="720" y="30"/>
                </a:cxn>
                <a:cxn ang="0">
                  <a:pos x="453" y="108"/>
                </a:cxn>
                <a:cxn ang="0">
                  <a:pos x="231" y="108"/>
                </a:cxn>
                <a:cxn ang="0">
                  <a:pos x="0" y="0"/>
                </a:cxn>
              </a:cxnLst>
              <a:rect l="txL" t="txT" r="txR" b="txB"/>
              <a:pathLst>
                <a:path w="720" h="192">
                  <a:moveTo>
                    <a:pt x="0" y="0"/>
                  </a:moveTo>
                  <a:lnTo>
                    <a:pt x="60" y="87"/>
                  </a:lnTo>
                  <a:lnTo>
                    <a:pt x="99" y="120"/>
                  </a:lnTo>
                  <a:lnTo>
                    <a:pt x="162" y="153"/>
                  </a:lnTo>
                  <a:lnTo>
                    <a:pt x="222" y="180"/>
                  </a:lnTo>
                  <a:lnTo>
                    <a:pt x="291" y="192"/>
                  </a:lnTo>
                  <a:lnTo>
                    <a:pt x="360" y="186"/>
                  </a:lnTo>
                  <a:lnTo>
                    <a:pt x="423" y="177"/>
                  </a:lnTo>
                  <a:lnTo>
                    <a:pt x="483" y="162"/>
                  </a:lnTo>
                  <a:lnTo>
                    <a:pt x="531" y="144"/>
                  </a:lnTo>
                  <a:lnTo>
                    <a:pt x="594" y="114"/>
                  </a:lnTo>
                  <a:lnTo>
                    <a:pt x="657" y="78"/>
                  </a:lnTo>
                  <a:lnTo>
                    <a:pt x="720" y="30"/>
                  </a:lnTo>
                  <a:lnTo>
                    <a:pt x="453" y="108"/>
                  </a:lnTo>
                  <a:lnTo>
                    <a:pt x="231" y="10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048" name="Freeform 46"/>
            <p:cNvSpPr/>
            <p:nvPr/>
          </p:nvSpPr>
          <p:spPr>
            <a:xfrm>
              <a:off x="1435" y="1946"/>
              <a:ext cx="988" cy="470"/>
            </a:xfrm>
            <a:custGeom>
              <a:avLst/>
              <a:gdLst>
                <a:gd name="txL" fmla="*/ 0 w 988"/>
                <a:gd name="txT" fmla="*/ 0 h 470"/>
                <a:gd name="txR" fmla="*/ 988 w 988"/>
                <a:gd name="txB" fmla="*/ 470 h 470"/>
              </a:gdLst>
              <a:ahLst/>
              <a:cxnLst>
                <a:cxn ang="0">
                  <a:pos x="110" y="268"/>
                </a:cxn>
                <a:cxn ang="0">
                  <a:pos x="56" y="280"/>
                </a:cxn>
                <a:cxn ang="0">
                  <a:pos x="2" y="310"/>
                </a:cxn>
                <a:cxn ang="0">
                  <a:pos x="41" y="361"/>
                </a:cxn>
                <a:cxn ang="0">
                  <a:pos x="110" y="406"/>
                </a:cxn>
                <a:cxn ang="0">
                  <a:pos x="170" y="436"/>
                </a:cxn>
                <a:cxn ang="0">
                  <a:pos x="239" y="460"/>
                </a:cxn>
                <a:cxn ang="0">
                  <a:pos x="305" y="469"/>
                </a:cxn>
                <a:cxn ang="0">
                  <a:pos x="383" y="469"/>
                </a:cxn>
                <a:cxn ang="0">
                  <a:pos x="473" y="460"/>
                </a:cxn>
                <a:cxn ang="0">
                  <a:pos x="563" y="439"/>
                </a:cxn>
                <a:cxn ang="0">
                  <a:pos x="650" y="406"/>
                </a:cxn>
                <a:cxn ang="0">
                  <a:pos x="740" y="358"/>
                </a:cxn>
                <a:cxn ang="0">
                  <a:pos x="830" y="304"/>
                </a:cxn>
                <a:cxn ang="0">
                  <a:pos x="917" y="226"/>
                </a:cxn>
                <a:cxn ang="0">
                  <a:pos x="980" y="142"/>
                </a:cxn>
                <a:cxn ang="0">
                  <a:pos x="965" y="70"/>
                </a:cxn>
                <a:cxn ang="0">
                  <a:pos x="896" y="4"/>
                </a:cxn>
                <a:cxn ang="0">
                  <a:pos x="872" y="94"/>
                </a:cxn>
                <a:cxn ang="0">
                  <a:pos x="806" y="172"/>
                </a:cxn>
                <a:cxn ang="0">
                  <a:pos x="722" y="232"/>
                </a:cxn>
                <a:cxn ang="0">
                  <a:pos x="614" y="292"/>
                </a:cxn>
                <a:cxn ang="0">
                  <a:pos x="470" y="340"/>
                </a:cxn>
                <a:cxn ang="0">
                  <a:pos x="332" y="352"/>
                </a:cxn>
                <a:cxn ang="0">
                  <a:pos x="218" y="328"/>
                </a:cxn>
                <a:cxn ang="0">
                  <a:pos x="110" y="268"/>
                </a:cxn>
              </a:cxnLst>
              <a:rect l="txL" t="txT" r="txR" b="txB"/>
              <a:pathLst>
                <a:path w="988" h="470">
                  <a:moveTo>
                    <a:pt x="110" y="268"/>
                  </a:moveTo>
                  <a:cubicBezTo>
                    <a:pt x="83" y="260"/>
                    <a:pt x="74" y="273"/>
                    <a:pt x="56" y="280"/>
                  </a:cubicBezTo>
                  <a:cubicBezTo>
                    <a:pt x="38" y="287"/>
                    <a:pt x="4" y="297"/>
                    <a:pt x="2" y="310"/>
                  </a:cubicBezTo>
                  <a:cubicBezTo>
                    <a:pt x="0" y="323"/>
                    <a:pt x="23" y="345"/>
                    <a:pt x="41" y="361"/>
                  </a:cubicBezTo>
                  <a:cubicBezTo>
                    <a:pt x="59" y="377"/>
                    <a:pt x="88" y="393"/>
                    <a:pt x="110" y="406"/>
                  </a:cubicBezTo>
                  <a:cubicBezTo>
                    <a:pt x="132" y="419"/>
                    <a:pt x="149" y="427"/>
                    <a:pt x="170" y="436"/>
                  </a:cubicBezTo>
                  <a:cubicBezTo>
                    <a:pt x="191" y="445"/>
                    <a:pt x="217" y="455"/>
                    <a:pt x="239" y="460"/>
                  </a:cubicBezTo>
                  <a:cubicBezTo>
                    <a:pt x="261" y="465"/>
                    <a:pt x="281" y="468"/>
                    <a:pt x="305" y="469"/>
                  </a:cubicBezTo>
                  <a:cubicBezTo>
                    <a:pt x="329" y="470"/>
                    <a:pt x="355" y="470"/>
                    <a:pt x="383" y="469"/>
                  </a:cubicBezTo>
                  <a:cubicBezTo>
                    <a:pt x="411" y="468"/>
                    <a:pt x="443" y="465"/>
                    <a:pt x="473" y="460"/>
                  </a:cubicBezTo>
                  <a:cubicBezTo>
                    <a:pt x="503" y="455"/>
                    <a:pt x="534" y="448"/>
                    <a:pt x="563" y="439"/>
                  </a:cubicBezTo>
                  <a:cubicBezTo>
                    <a:pt x="592" y="430"/>
                    <a:pt x="620" y="420"/>
                    <a:pt x="650" y="406"/>
                  </a:cubicBezTo>
                  <a:cubicBezTo>
                    <a:pt x="680" y="392"/>
                    <a:pt x="710" y="375"/>
                    <a:pt x="740" y="358"/>
                  </a:cubicBezTo>
                  <a:cubicBezTo>
                    <a:pt x="770" y="341"/>
                    <a:pt x="801" y="326"/>
                    <a:pt x="830" y="304"/>
                  </a:cubicBezTo>
                  <a:cubicBezTo>
                    <a:pt x="859" y="282"/>
                    <a:pt x="892" y="253"/>
                    <a:pt x="917" y="226"/>
                  </a:cubicBezTo>
                  <a:cubicBezTo>
                    <a:pt x="942" y="199"/>
                    <a:pt x="972" y="168"/>
                    <a:pt x="980" y="142"/>
                  </a:cubicBezTo>
                  <a:cubicBezTo>
                    <a:pt x="988" y="116"/>
                    <a:pt x="979" y="93"/>
                    <a:pt x="965" y="70"/>
                  </a:cubicBezTo>
                  <a:cubicBezTo>
                    <a:pt x="951" y="47"/>
                    <a:pt x="911" y="0"/>
                    <a:pt x="896" y="4"/>
                  </a:cubicBezTo>
                  <a:cubicBezTo>
                    <a:pt x="881" y="8"/>
                    <a:pt x="887" y="66"/>
                    <a:pt x="872" y="94"/>
                  </a:cubicBezTo>
                  <a:cubicBezTo>
                    <a:pt x="857" y="122"/>
                    <a:pt x="831" y="149"/>
                    <a:pt x="806" y="172"/>
                  </a:cubicBezTo>
                  <a:cubicBezTo>
                    <a:pt x="781" y="195"/>
                    <a:pt x="754" y="212"/>
                    <a:pt x="722" y="232"/>
                  </a:cubicBezTo>
                  <a:cubicBezTo>
                    <a:pt x="690" y="252"/>
                    <a:pt x="656" y="274"/>
                    <a:pt x="614" y="292"/>
                  </a:cubicBezTo>
                  <a:cubicBezTo>
                    <a:pt x="572" y="310"/>
                    <a:pt x="517" y="330"/>
                    <a:pt x="470" y="340"/>
                  </a:cubicBezTo>
                  <a:cubicBezTo>
                    <a:pt x="423" y="350"/>
                    <a:pt x="374" y="354"/>
                    <a:pt x="332" y="352"/>
                  </a:cubicBezTo>
                  <a:cubicBezTo>
                    <a:pt x="290" y="350"/>
                    <a:pt x="255" y="342"/>
                    <a:pt x="218" y="328"/>
                  </a:cubicBezTo>
                  <a:cubicBezTo>
                    <a:pt x="181" y="314"/>
                    <a:pt x="132" y="280"/>
                    <a:pt x="110" y="268"/>
                  </a:cubicBezTo>
                  <a:close/>
                </a:path>
              </a:pathLst>
            </a:cu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47"/>
          <p:cNvGrpSpPr/>
          <p:nvPr/>
        </p:nvGrpSpPr>
        <p:grpSpPr>
          <a:xfrm>
            <a:off x="4443413" y="1985963"/>
            <a:ext cx="1566862" cy="835025"/>
            <a:chOff x="1445" y="1574"/>
            <a:chExt cx="987" cy="526"/>
          </a:xfrm>
        </p:grpSpPr>
        <p:sp>
          <p:nvSpPr>
            <p:cNvPr id="43045" name="Freeform 48"/>
            <p:cNvSpPr/>
            <p:nvPr/>
          </p:nvSpPr>
          <p:spPr>
            <a:xfrm>
              <a:off x="1452" y="1908"/>
              <a:ext cx="720" cy="192"/>
            </a:xfrm>
            <a:custGeom>
              <a:avLst/>
              <a:gdLst>
                <a:gd name="txL" fmla="*/ 0 w 720"/>
                <a:gd name="txT" fmla="*/ 0 h 192"/>
                <a:gd name="txR" fmla="*/ 720 w 720"/>
                <a:gd name="txB" fmla="*/ 192 h 192"/>
              </a:gdLst>
              <a:ahLst/>
              <a:cxnLst>
                <a:cxn ang="0">
                  <a:pos x="0" y="0"/>
                </a:cxn>
                <a:cxn ang="0">
                  <a:pos x="60" y="87"/>
                </a:cxn>
                <a:cxn ang="0">
                  <a:pos x="99" y="120"/>
                </a:cxn>
                <a:cxn ang="0">
                  <a:pos x="162" y="153"/>
                </a:cxn>
                <a:cxn ang="0">
                  <a:pos x="222" y="180"/>
                </a:cxn>
                <a:cxn ang="0">
                  <a:pos x="291" y="192"/>
                </a:cxn>
                <a:cxn ang="0">
                  <a:pos x="360" y="186"/>
                </a:cxn>
                <a:cxn ang="0">
                  <a:pos x="435" y="177"/>
                </a:cxn>
                <a:cxn ang="0">
                  <a:pos x="483" y="162"/>
                </a:cxn>
                <a:cxn ang="0">
                  <a:pos x="531" y="144"/>
                </a:cxn>
                <a:cxn ang="0">
                  <a:pos x="594" y="114"/>
                </a:cxn>
                <a:cxn ang="0">
                  <a:pos x="657" y="78"/>
                </a:cxn>
                <a:cxn ang="0">
                  <a:pos x="720" y="30"/>
                </a:cxn>
                <a:cxn ang="0">
                  <a:pos x="453" y="108"/>
                </a:cxn>
                <a:cxn ang="0">
                  <a:pos x="231" y="108"/>
                </a:cxn>
                <a:cxn ang="0">
                  <a:pos x="0" y="0"/>
                </a:cxn>
              </a:cxnLst>
              <a:rect l="txL" t="txT" r="txR" b="txB"/>
              <a:pathLst>
                <a:path w="720" h="192">
                  <a:moveTo>
                    <a:pt x="0" y="0"/>
                  </a:moveTo>
                  <a:lnTo>
                    <a:pt x="60" y="87"/>
                  </a:lnTo>
                  <a:lnTo>
                    <a:pt x="99" y="120"/>
                  </a:lnTo>
                  <a:lnTo>
                    <a:pt x="162" y="153"/>
                  </a:lnTo>
                  <a:lnTo>
                    <a:pt x="222" y="180"/>
                  </a:lnTo>
                  <a:lnTo>
                    <a:pt x="291" y="192"/>
                  </a:lnTo>
                  <a:lnTo>
                    <a:pt x="360" y="186"/>
                  </a:lnTo>
                  <a:lnTo>
                    <a:pt x="435" y="177"/>
                  </a:lnTo>
                  <a:lnTo>
                    <a:pt x="483" y="162"/>
                  </a:lnTo>
                  <a:lnTo>
                    <a:pt x="531" y="144"/>
                  </a:lnTo>
                  <a:lnTo>
                    <a:pt x="594" y="114"/>
                  </a:lnTo>
                  <a:lnTo>
                    <a:pt x="657" y="78"/>
                  </a:lnTo>
                  <a:lnTo>
                    <a:pt x="720" y="30"/>
                  </a:lnTo>
                  <a:lnTo>
                    <a:pt x="453" y="108"/>
                  </a:lnTo>
                  <a:lnTo>
                    <a:pt x="231" y="10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046" name="Freeform 49"/>
            <p:cNvSpPr/>
            <p:nvPr/>
          </p:nvSpPr>
          <p:spPr>
            <a:xfrm>
              <a:off x="1445" y="1574"/>
              <a:ext cx="987" cy="473"/>
            </a:xfrm>
            <a:custGeom>
              <a:avLst/>
              <a:gdLst>
                <a:gd name="txL" fmla="*/ 0 w 987"/>
                <a:gd name="txT" fmla="*/ 0 h 473"/>
                <a:gd name="txR" fmla="*/ 987 w 987"/>
                <a:gd name="txB" fmla="*/ 473 h 473"/>
              </a:gdLst>
              <a:ahLst/>
              <a:cxnLst>
                <a:cxn ang="0">
                  <a:pos x="100" y="265"/>
                </a:cxn>
                <a:cxn ang="0">
                  <a:pos x="49" y="283"/>
                </a:cxn>
                <a:cxn ang="0">
                  <a:pos x="1" y="313"/>
                </a:cxn>
                <a:cxn ang="0">
                  <a:pos x="40" y="364"/>
                </a:cxn>
                <a:cxn ang="0">
                  <a:pos x="109" y="409"/>
                </a:cxn>
                <a:cxn ang="0">
                  <a:pos x="169" y="439"/>
                </a:cxn>
                <a:cxn ang="0">
                  <a:pos x="238" y="463"/>
                </a:cxn>
                <a:cxn ang="0">
                  <a:pos x="304" y="472"/>
                </a:cxn>
                <a:cxn ang="0">
                  <a:pos x="382" y="472"/>
                </a:cxn>
                <a:cxn ang="0">
                  <a:pos x="472" y="463"/>
                </a:cxn>
                <a:cxn ang="0">
                  <a:pos x="562" y="442"/>
                </a:cxn>
                <a:cxn ang="0">
                  <a:pos x="649" y="409"/>
                </a:cxn>
                <a:cxn ang="0">
                  <a:pos x="739" y="361"/>
                </a:cxn>
                <a:cxn ang="0">
                  <a:pos x="829" y="307"/>
                </a:cxn>
                <a:cxn ang="0">
                  <a:pos x="916" y="229"/>
                </a:cxn>
                <a:cxn ang="0">
                  <a:pos x="979" y="145"/>
                </a:cxn>
                <a:cxn ang="0">
                  <a:pos x="964" y="73"/>
                </a:cxn>
                <a:cxn ang="0">
                  <a:pos x="883" y="4"/>
                </a:cxn>
                <a:cxn ang="0">
                  <a:pos x="871" y="97"/>
                </a:cxn>
                <a:cxn ang="0">
                  <a:pos x="805" y="175"/>
                </a:cxn>
                <a:cxn ang="0">
                  <a:pos x="721" y="235"/>
                </a:cxn>
                <a:cxn ang="0">
                  <a:pos x="613" y="295"/>
                </a:cxn>
                <a:cxn ang="0">
                  <a:pos x="469" y="343"/>
                </a:cxn>
                <a:cxn ang="0">
                  <a:pos x="331" y="355"/>
                </a:cxn>
                <a:cxn ang="0">
                  <a:pos x="217" y="331"/>
                </a:cxn>
                <a:cxn ang="0">
                  <a:pos x="100" y="265"/>
                </a:cxn>
              </a:cxnLst>
              <a:rect l="txL" t="txT" r="txR" b="txB"/>
              <a:pathLst>
                <a:path w="987" h="473">
                  <a:moveTo>
                    <a:pt x="100" y="265"/>
                  </a:moveTo>
                  <a:cubicBezTo>
                    <a:pt x="72" y="257"/>
                    <a:pt x="65" y="275"/>
                    <a:pt x="49" y="283"/>
                  </a:cubicBezTo>
                  <a:cubicBezTo>
                    <a:pt x="33" y="291"/>
                    <a:pt x="2" y="300"/>
                    <a:pt x="1" y="313"/>
                  </a:cubicBezTo>
                  <a:cubicBezTo>
                    <a:pt x="0" y="326"/>
                    <a:pt x="22" y="348"/>
                    <a:pt x="40" y="364"/>
                  </a:cubicBezTo>
                  <a:cubicBezTo>
                    <a:pt x="58" y="380"/>
                    <a:pt x="87" y="396"/>
                    <a:pt x="109" y="409"/>
                  </a:cubicBezTo>
                  <a:cubicBezTo>
                    <a:pt x="131" y="422"/>
                    <a:pt x="148" y="430"/>
                    <a:pt x="169" y="439"/>
                  </a:cubicBezTo>
                  <a:cubicBezTo>
                    <a:pt x="190" y="448"/>
                    <a:pt x="216" y="458"/>
                    <a:pt x="238" y="463"/>
                  </a:cubicBezTo>
                  <a:cubicBezTo>
                    <a:pt x="260" y="468"/>
                    <a:pt x="280" y="471"/>
                    <a:pt x="304" y="472"/>
                  </a:cubicBezTo>
                  <a:cubicBezTo>
                    <a:pt x="328" y="473"/>
                    <a:pt x="354" y="473"/>
                    <a:pt x="382" y="472"/>
                  </a:cubicBezTo>
                  <a:cubicBezTo>
                    <a:pt x="410" y="471"/>
                    <a:pt x="442" y="468"/>
                    <a:pt x="472" y="463"/>
                  </a:cubicBezTo>
                  <a:cubicBezTo>
                    <a:pt x="502" y="458"/>
                    <a:pt x="533" y="451"/>
                    <a:pt x="562" y="442"/>
                  </a:cubicBezTo>
                  <a:cubicBezTo>
                    <a:pt x="591" y="433"/>
                    <a:pt x="619" y="423"/>
                    <a:pt x="649" y="409"/>
                  </a:cubicBezTo>
                  <a:cubicBezTo>
                    <a:pt x="679" y="395"/>
                    <a:pt x="709" y="378"/>
                    <a:pt x="739" y="361"/>
                  </a:cubicBezTo>
                  <a:cubicBezTo>
                    <a:pt x="769" y="344"/>
                    <a:pt x="800" y="329"/>
                    <a:pt x="829" y="307"/>
                  </a:cubicBezTo>
                  <a:cubicBezTo>
                    <a:pt x="858" y="285"/>
                    <a:pt x="891" y="256"/>
                    <a:pt x="916" y="229"/>
                  </a:cubicBezTo>
                  <a:cubicBezTo>
                    <a:pt x="941" y="202"/>
                    <a:pt x="971" y="171"/>
                    <a:pt x="979" y="145"/>
                  </a:cubicBezTo>
                  <a:cubicBezTo>
                    <a:pt x="987" y="119"/>
                    <a:pt x="980" y="97"/>
                    <a:pt x="964" y="73"/>
                  </a:cubicBezTo>
                  <a:cubicBezTo>
                    <a:pt x="948" y="49"/>
                    <a:pt x="898" y="0"/>
                    <a:pt x="883" y="4"/>
                  </a:cubicBezTo>
                  <a:cubicBezTo>
                    <a:pt x="868" y="8"/>
                    <a:pt x="884" y="68"/>
                    <a:pt x="871" y="97"/>
                  </a:cubicBezTo>
                  <a:cubicBezTo>
                    <a:pt x="858" y="126"/>
                    <a:pt x="830" y="152"/>
                    <a:pt x="805" y="175"/>
                  </a:cubicBezTo>
                  <a:cubicBezTo>
                    <a:pt x="780" y="198"/>
                    <a:pt x="753" y="215"/>
                    <a:pt x="721" y="235"/>
                  </a:cubicBezTo>
                  <a:cubicBezTo>
                    <a:pt x="689" y="255"/>
                    <a:pt x="655" y="277"/>
                    <a:pt x="613" y="295"/>
                  </a:cubicBezTo>
                  <a:cubicBezTo>
                    <a:pt x="571" y="313"/>
                    <a:pt x="516" y="333"/>
                    <a:pt x="469" y="343"/>
                  </a:cubicBezTo>
                  <a:cubicBezTo>
                    <a:pt x="422" y="353"/>
                    <a:pt x="373" y="357"/>
                    <a:pt x="331" y="355"/>
                  </a:cubicBezTo>
                  <a:cubicBezTo>
                    <a:pt x="289" y="353"/>
                    <a:pt x="255" y="346"/>
                    <a:pt x="217" y="331"/>
                  </a:cubicBezTo>
                  <a:cubicBezTo>
                    <a:pt x="179" y="316"/>
                    <a:pt x="127" y="273"/>
                    <a:pt x="100" y="265"/>
                  </a:cubicBezTo>
                  <a:close/>
                </a:path>
              </a:pathLst>
            </a:cu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6" name="Group 50"/>
          <p:cNvGrpSpPr/>
          <p:nvPr/>
        </p:nvGrpSpPr>
        <p:grpSpPr>
          <a:xfrm>
            <a:off x="4443413" y="1755775"/>
            <a:ext cx="1355725" cy="427038"/>
            <a:chOff x="1445" y="1429"/>
            <a:chExt cx="854" cy="269"/>
          </a:xfrm>
        </p:grpSpPr>
        <p:sp>
          <p:nvSpPr>
            <p:cNvPr id="43043" name="Freeform 51"/>
            <p:cNvSpPr/>
            <p:nvPr/>
          </p:nvSpPr>
          <p:spPr>
            <a:xfrm>
              <a:off x="1452" y="1506"/>
              <a:ext cx="720" cy="192"/>
            </a:xfrm>
            <a:custGeom>
              <a:avLst/>
              <a:gdLst>
                <a:gd name="txL" fmla="*/ 0 w 720"/>
                <a:gd name="txT" fmla="*/ 0 h 192"/>
                <a:gd name="txR" fmla="*/ 720 w 720"/>
                <a:gd name="txB" fmla="*/ 192 h 192"/>
              </a:gdLst>
              <a:ahLst/>
              <a:cxnLst>
                <a:cxn ang="0">
                  <a:pos x="0" y="0"/>
                </a:cxn>
                <a:cxn ang="0">
                  <a:pos x="60" y="87"/>
                </a:cxn>
                <a:cxn ang="0">
                  <a:pos x="99" y="120"/>
                </a:cxn>
                <a:cxn ang="0">
                  <a:pos x="162" y="153"/>
                </a:cxn>
                <a:cxn ang="0">
                  <a:pos x="222" y="180"/>
                </a:cxn>
                <a:cxn ang="0">
                  <a:pos x="291" y="192"/>
                </a:cxn>
                <a:cxn ang="0">
                  <a:pos x="360" y="186"/>
                </a:cxn>
                <a:cxn ang="0">
                  <a:pos x="429" y="174"/>
                </a:cxn>
                <a:cxn ang="0">
                  <a:pos x="483" y="162"/>
                </a:cxn>
                <a:cxn ang="0">
                  <a:pos x="531" y="144"/>
                </a:cxn>
                <a:cxn ang="0">
                  <a:pos x="594" y="114"/>
                </a:cxn>
                <a:cxn ang="0">
                  <a:pos x="657" y="78"/>
                </a:cxn>
                <a:cxn ang="0">
                  <a:pos x="720" y="30"/>
                </a:cxn>
                <a:cxn ang="0">
                  <a:pos x="453" y="108"/>
                </a:cxn>
                <a:cxn ang="0">
                  <a:pos x="231" y="108"/>
                </a:cxn>
                <a:cxn ang="0">
                  <a:pos x="0" y="0"/>
                </a:cxn>
              </a:cxnLst>
              <a:rect l="txL" t="txT" r="txR" b="txB"/>
              <a:pathLst>
                <a:path w="720" h="192">
                  <a:moveTo>
                    <a:pt x="0" y="0"/>
                  </a:moveTo>
                  <a:lnTo>
                    <a:pt x="60" y="87"/>
                  </a:lnTo>
                  <a:lnTo>
                    <a:pt x="99" y="120"/>
                  </a:lnTo>
                  <a:lnTo>
                    <a:pt x="162" y="153"/>
                  </a:lnTo>
                  <a:lnTo>
                    <a:pt x="222" y="180"/>
                  </a:lnTo>
                  <a:lnTo>
                    <a:pt x="291" y="192"/>
                  </a:lnTo>
                  <a:lnTo>
                    <a:pt x="360" y="186"/>
                  </a:lnTo>
                  <a:lnTo>
                    <a:pt x="429" y="174"/>
                  </a:lnTo>
                  <a:lnTo>
                    <a:pt x="483" y="162"/>
                  </a:lnTo>
                  <a:lnTo>
                    <a:pt x="531" y="144"/>
                  </a:lnTo>
                  <a:lnTo>
                    <a:pt x="594" y="114"/>
                  </a:lnTo>
                  <a:lnTo>
                    <a:pt x="657" y="78"/>
                  </a:lnTo>
                  <a:lnTo>
                    <a:pt x="720" y="30"/>
                  </a:lnTo>
                  <a:lnTo>
                    <a:pt x="453" y="108"/>
                  </a:lnTo>
                  <a:lnTo>
                    <a:pt x="231" y="10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044" name="Freeform 52"/>
            <p:cNvSpPr/>
            <p:nvPr/>
          </p:nvSpPr>
          <p:spPr>
            <a:xfrm>
              <a:off x="1445" y="1429"/>
              <a:ext cx="854" cy="216"/>
            </a:xfrm>
            <a:custGeom>
              <a:avLst/>
              <a:gdLst>
                <a:gd name="txL" fmla="*/ 0 w 854"/>
                <a:gd name="txT" fmla="*/ 0 h 216"/>
                <a:gd name="txR" fmla="*/ 854 w 854"/>
                <a:gd name="txB" fmla="*/ 216 h 216"/>
              </a:gdLst>
              <a:ahLst/>
              <a:cxnLst>
                <a:cxn ang="0">
                  <a:pos x="100" y="8"/>
                </a:cxn>
                <a:cxn ang="0">
                  <a:pos x="49" y="26"/>
                </a:cxn>
                <a:cxn ang="0">
                  <a:pos x="1" y="56"/>
                </a:cxn>
                <a:cxn ang="0">
                  <a:pos x="40" y="107"/>
                </a:cxn>
                <a:cxn ang="0">
                  <a:pos x="109" y="152"/>
                </a:cxn>
                <a:cxn ang="0">
                  <a:pos x="169" y="182"/>
                </a:cxn>
                <a:cxn ang="0">
                  <a:pos x="238" y="206"/>
                </a:cxn>
                <a:cxn ang="0">
                  <a:pos x="304" y="215"/>
                </a:cxn>
                <a:cxn ang="0">
                  <a:pos x="382" y="215"/>
                </a:cxn>
                <a:cxn ang="0">
                  <a:pos x="472" y="206"/>
                </a:cxn>
                <a:cxn ang="0">
                  <a:pos x="562" y="185"/>
                </a:cxn>
                <a:cxn ang="0">
                  <a:pos x="649" y="152"/>
                </a:cxn>
                <a:cxn ang="0">
                  <a:pos x="739" y="104"/>
                </a:cxn>
                <a:cxn ang="0">
                  <a:pos x="817" y="38"/>
                </a:cxn>
                <a:cxn ang="0">
                  <a:pos x="841" y="5"/>
                </a:cxn>
                <a:cxn ang="0">
                  <a:pos x="739" y="59"/>
                </a:cxn>
                <a:cxn ang="0">
                  <a:pos x="667" y="83"/>
                </a:cxn>
                <a:cxn ang="0">
                  <a:pos x="571" y="101"/>
                </a:cxn>
                <a:cxn ang="0">
                  <a:pos x="475" y="107"/>
                </a:cxn>
                <a:cxn ang="0">
                  <a:pos x="331" y="98"/>
                </a:cxn>
                <a:cxn ang="0">
                  <a:pos x="217" y="74"/>
                </a:cxn>
                <a:cxn ang="0">
                  <a:pos x="100" y="8"/>
                </a:cxn>
              </a:cxnLst>
              <a:rect l="txL" t="txT" r="txR" b="txB"/>
              <a:pathLst>
                <a:path w="854" h="216">
                  <a:moveTo>
                    <a:pt x="100" y="8"/>
                  </a:moveTo>
                  <a:cubicBezTo>
                    <a:pt x="72" y="0"/>
                    <a:pt x="65" y="18"/>
                    <a:pt x="49" y="26"/>
                  </a:cubicBezTo>
                  <a:cubicBezTo>
                    <a:pt x="33" y="34"/>
                    <a:pt x="2" y="43"/>
                    <a:pt x="1" y="56"/>
                  </a:cubicBezTo>
                  <a:cubicBezTo>
                    <a:pt x="0" y="69"/>
                    <a:pt x="22" y="91"/>
                    <a:pt x="40" y="107"/>
                  </a:cubicBezTo>
                  <a:cubicBezTo>
                    <a:pt x="58" y="123"/>
                    <a:pt x="87" y="139"/>
                    <a:pt x="109" y="152"/>
                  </a:cubicBezTo>
                  <a:cubicBezTo>
                    <a:pt x="131" y="165"/>
                    <a:pt x="148" y="173"/>
                    <a:pt x="169" y="182"/>
                  </a:cubicBezTo>
                  <a:cubicBezTo>
                    <a:pt x="190" y="191"/>
                    <a:pt x="216" y="201"/>
                    <a:pt x="238" y="206"/>
                  </a:cubicBezTo>
                  <a:cubicBezTo>
                    <a:pt x="260" y="211"/>
                    <a:pt x="280" y="214"/>
                    <a:pt x="304" y="215"/>
                  </a:cubicBezTo>
                  <a:cubicBezTo>
                    <a:pt x="328" y="216"/>
                    <a:pt x="354" y="216"/>
                    <a:pt x="382" y="215"/>
                  </a:cubicBezTo>
                  <a:cubicBezTo>
                    <a:pt x="410" y="214"/>
                    <a:pt x="442" y="211"/>
                    <a:pt x="472" y="206"/>
                  </a:cubicBezTo>
                  <a:cubicBezTo>
                    <a:pt x="502" y="201"/>
                    <a:pt x="533" y="194"/>
                    <a:pt x="562" y="185"/>
                  </a:cubicBezTo>
                  <a:cubicBezTo>
                    <a:pt x="591" y="176"/>
                    <a:pt x="619" y="166"/>
                    <a:pt x="649" y="152"/>
                  </a:cubicBezTo>
                  <a:cubicBezTo>
                    <a:pt x="679" y="138"/>
                    <a:pt x="711" y="123"/>
                    <a:pt x="739" y="104"/>
                  </a:cubicBezTo>
                  <a:cubicBezTo>
                    <a:pt x="767" y="85"/>
                    <a:pt x="800" y="54"/>
                    <a:pt x="817" y="38"/>
                  </a:cubicBezTo>
                  <a:cubicBezTo>
                    <a:pt x="834" y="22"/>
                    <a:pt x="854" y="2"/>
                    <a:pt x="841" y="5"/>
                  </a:cubicBezTo>
                  <a:cubicBezTo>
                    <a:pt x="828" y="8"/>
                    <a:pt x="768" y="46"/>
                    <a:pt x="739" y="59"/>
                  </a:cubicBezTo>
                  <a:cubicBezTo>
                    <a:pt x="710" y="72"/>
                    <a:pt x="695" y="76"/>
                    <a:pt x="667" y="83"/>
                  </a:cubicBezTo>
                  <a:cubicBezTo>
                    <a:pt x="639" y="90"/>
                    <a:pt x="603" y="97"/>
                    <a:pt x="571" y="101"/>
                  </a:cubicBezTo>
                  <a:cubicBezTo>
                    <a:pt x="539" y="105"/>
                    <a:pt x="515" y="107"/>
                    <a:pt x="475" y="107"/>
                  </a:cubicBezTo>
                  <a:cubicBezTo>
                    <a:pt x="435" y="107"/>
                    <a:pt x="374" y="103"/>
                    <a:pt x="331" y="98"/>
                  </a:cubicBezTo>
                  <a:cubicBezTo>
                    <a:pt x="288" y="93"/>
                    <a:pt x="255" y="89"/>
                    <a:pt x="217" y="74"/>
                  </a:cubicBezTo>
                  <a:cubicBezTo>
                    <a:pt x="179" y="59"/>
                    <a:pt x="127" y="16"/>
                    <a:pt x="100" y="8"/>
                  </a:cubicBezTo>
                  <a:close/>
                </a:path>
              </a:pathLst>
            </a:cu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53"/>
          <p:cNvGrpSpPr/>
          <p:nvPr/>
        </p:nvGrpSpPr>
        <p:grpSpPr>
          <a:xfrm>
            <a:off x="4794250" y="3194050"/>
            <a:ext cx="1201738" cy="731838"/>
            <a:chOff x="1666" y="2335"/>
            <a:chExt cx="757" cy="461"/>
          </a:xfrm>
        </p:grpSpPr>
        <p:sp>
          <p:nvSpPr>
            <p:cNvPr id="43041" name="Freeform 54"/>
            <p:cNvSpPr/>
            <p:nvPr/>
          </p:nvSpPr>
          <p:spPr>
            <a:xfrm>
              <a:off x="1716" y="2694"/>
              <a:ext cx="456" cy="102"/>
            </a:xfrm>
            <a:custGeom>
              <a:avLst/>
              <a:gdLst>
                <a:gd name="txL" fmla="*/ 0 w 456"/>
                <a:gd name="txT" fmla="*/ 0 h 102"/>
                <a:gd name="txR" fmla="*/ 456 w 456"/>
                <a:gd name="txB" fmla="*/ 102 h 102"/>
              </a:gdLst>
              <a:ahLst/>
              <a:cxnLst>
                <a:cxn ang="0">
                  <a:pos x="372" y="72"/>
                </a:cxn>
                <a:cxn ang="0">
                  <a:pos x="408" y="45"/>
                </a:cxn>
                <a:cxn ang="0">
                  <a:pos x="456" y="0"/>
                </a:cxn>
                <a:cxn ang="0">
                  <a:pos x="159" y="84"/>
                </a:cxn>
                <a:cxn ang="0">
                  <a:pos x="0" y="63"/>
                </a:cxn>
                <a:cxn ang="0">
                  <a:pos x="36" y="75"/>
                </a:cxn>
                <a:cxn ang="0">
                  <a:pos x="60" y="84"/>
                </a:cxn>
                <a:cxn ang="0">
                  <a:pos x="114" y="93"/>
                </a:cxn>
                <a:cxn ang="0">
                  <a:pos x="150" y="99"/>
                </a:cxn>
                <a:cxn ang="0">
                  <a:pos x="183" y="99"/>
                </a:cxn>
                <a:cxn ang="0">
                  <a:pos x="240" y="102"/>
                </a:cxn>
                <a:cxn ang="0">
                  <a:pos x="285" y="99"/>
                </a:cxn>
                <a:cxn ang="0">
                  <a:pos x="327" y="90"/>
                </a:cxn>
                <a:cxn ang="0">
                  <a:pos x="372" y="72"/>
                </a:cxn>
              </a:cxnLst>
              <a:rect l="txL" t="txT" r="txR" b="txB"/>
              <a:pathLst>
                <a:path w="456" h="102">
                  <a:moveTo>
                    <a:pt x="372" y="72"/>
                  </a:moveTo>
                  <a:lnTo>
                    <a:pt x="408" y="45"/>
                  </a:lnTo>
                  <a:lnTo>
                    <a:pt x="456" y="0"/>
                  </a:lnTo>
                  <a:lnTo>
                    <a:pt x="159" y="84"/>
                  </a:lnTo>
                  <a:lnTo>
                    <a:pt x="0" y="63"/>
                  </a:lnTo>
                  <a:lnTo>
                    <a:pt x="36" y="75"/>
                  </a:lnTo>
                  <a:lnTo>
                    <a:pt x="60" y="84"/>
                  </a:lnTo>
                  <a:lnTo>
                    <a:pt x="114" y="93"/>
                  </a:lnTo>
                  <a:lnTo>
                    <a:pt x="150" y="99"/>
                  </a:lnTo>
                  <a:lnTo>
                    <a:pt x="183" y="99"/>
                  </a:lnTo>
                  <a:lnTo>
                    <a:pt x="240" y="102"/>
                  </a:lnTo>
                  <a:lnTo>
                    <a:pt x="285" y="99"/>
                  </a:lnTo>
                  <a:lnTo>
                    <a:pt x="327" y="90"/>
                  </a:lnTo>
                  <a:lnTo>
                    <a:pt x="372" y="72"/>
                  </a:lnTo>
                  <a:close/>
                </a:path>
              </a:pathLst>
            </a:custGeom>
            <a:gradFill rotWithShape="0">
              <a:gsLst>
                <a:gs pos="0">
                  <a:srgbClr val="761800"/>
                </a:gs>
                <a:gs pos="100000">
                  <a:srgbClr val="FF3300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042" name="Freeform 55"/>
            <p:cNvSpPr/>
            <p:nvPr/>
          </p:nvSpPr>
          <p:spPr>
            <a:xfrm>
              <a:off x="1666" y="2335"/>
              <a:ext cx="757" cy="446"/>
            </a:xfrm>
            <a:custGeom>
              <a:avLst/>
              <a:gdLst>
                <a:gd name="txL" fmla="*/ 0 w 757"/>
                <a:gd name="txT" fmla="*/ 0 h 446"/>
                <a:gd name="txR" fmla="*/ 757 w 757"/>
                <a:gd name="txB" fmla="*/ 446 h 446"/>
              </a:gdLst>
              <a:ahLst/>
              <a:cxnLst>
                <a:cxn ang="0">
                  <a:pos x="170" y="443"/>
                </a:cxn>
                <a:cxn ang="0">
                  <a:pos x="263" y="437"/>
                </a:cxn>
                <a:cxn ang="0">
                  <a:pos x="356" y="419"/>
                </a:cxn>
                <a:cxn ang="0">
                  <a:pos x="452" y="389"/>
                </a:cxn>
                <a:cxn ang="0">
                  <a:pos x="509" y="358"/>
                </a:cxn>
                <a:cxn ang="0">
                  <a:pos x="599" y="304"/>
                </a:cxn>
                <a:cxn ang="0">
                  <a:pos x="686" y="226"/>
                </a:cxn>
                <a:cxn ang="0">
                  <a:pos x="749" y="142"/>
                </a:cxn>
                <a:cxn ang="0">
                  <a:pos x="734" y="70"/>
                </a:cxn>
                <a:cxn ang="0">
                  <a:pos x="665" y="4"/>
                </a:cxn>
                <a:cxn ang="0">
                  <a:pos x="641" y="94"/>
                </a:cxn>
                <a:cxn ang="0">
                  <a:pos x="575" y="172"/>
                </a:cxn>
                <a:cxn ang="0">
                  <a:pos x="491" y="232"/>
                </a:cxn>
                <a:cxn ang="0">
                  <a:pos x="383" y="293"/>
                </a:cxn>
                <a:cxn ang="0">
                  <a:pos x="383" y="292"/>
                </a:cxn>
                <a:cxn ang="0">
                  <a:pos x="272" y="347"/>
                </a:cxn>
                <a:cxn ang="0">
                  <a:pos x="137" y="386"/>
                </a:cxn>
                <a:cxn ang="0">
                  <a:pos x="5" y="413"/>
                </a:cxn>
                <a:cxn ang="0">
                  <a:pos x="170" y="443"/>
                </a:cxn>
              </a:cxnLst>
              <a:rect l="txL" t="txT" r="txR" b="txB"/>
              <a:pathLst>
                <a:path w="757" h="446">
                  <a:moveTo>
                    <a:pt x="170" y="443"/>
                  </a:moveTo>
                  <a:cubicBezTo>
                    <a:pt x="209" y="446"/>
                    <a:pt x="232" y="441"/>
                    <a:pt x="263" y="437"/>
                  </a:cubicBezTo>
                  <a:cubicBezTo>
                    <a:pt x="294" y="433"/>
                    <a:pt x="325" y="427"/>
                    <a:pt x="356" y="419"/>
                  </a:cubicBezTo>
                  <a:cubicBezTo>
                    <a:pt x="387" y="411"/>
                    <a:pt x="427" y="399"/>
                    <a:pt x="452" y="389"/>
                  </a:cubicBezTo>
                  <a:cubicBezTo>
                    <a:pt x="477" y="379"/>
                    <a:pt x="485" y="372"/>
                    <a:pt x="509" y="358"/>
                  </a:cubicBezTo>
                  <a:cubicBezTo>
                    <a:pt x="533" y="344"/>
                    <a:pt x="570" y="326"/>
                    <a:pt x="599" y="304"/>
                  </a:cubicBezTo>
                  <a:cubicBezTo>
                    <a:pt x="628" y="282"/>
                    <a:pt x="661" y="253"/>
                    <a:pt x="686" y="226"/>
                  </a:cubicBezTo>
                  <a:cubicBezTo>
                    <a:pt x="711" y="199"/>
                    <a:pt x="741" y="168"/>
                    <a:pt x="749" y="142"/>
                  </a:cubicBezTo>
                  <a:cubicBezTo>
                    <a:pt x="757" y="116"/>
                    <a:pt x="748" y="93"/>
                    <a:pt x="734" y="70"/>
                  </a:cubicBezTo>
                  <a:cubicBezTo>
                    <a:pt x="720" y="47"/>
                    <a:pt x="680" y="0"/>
                    <a:pt x="665" y="4"/>
                  </a:cubicBezTo>
                  <a:cubicBezTo>
                    <a:pt x="650" y="8"/>
                    <a:pt x="656" y="66"/>
                    <a:pt x="641" y="94"/>
                  </a:cubicBezTo>
                  <a:cubicBezTo>
                    <a:pt x="626" y="122"/>
                    <a:pt x="600" y="149"/>
                    <a:pt x="575" y="172"/>
                  </a:cubicBezTo>
                  <a:cubicBezTo>
                    <a:pt x="550" y="195"/>
                    <a:pt x="523" y="212"/>
                    <a:pt x="491" y="232"/>
                  </a:cubicBezTo>
                  <a:cubicBezTo>
                    <a:pt x="459" y="252"/>
                    <a:pt x="401" y="283"/>
                    <a:pt x="383" y="293"/>
                  </a:cubicBezTo>
                  <a:cubicBezTo>
                    <a:pt x="365" y="303"/>
                    <a:pt x="402" y="283"/>
                    <a:pt x="383" y="292"/>
                  </a:cubicBezTo>
                  <a:cubicBezTo>
                    <a:pt x="364" y="301"/>
                    <a:pt x="313" y="331"/>
                    <a:pt x="272" y="347"/>
                  </a:cubicBezTo>
                  <a:cubicBezTo>
                    <a:pt x="231" y="363"/>
                    <a:pt x="181" y="375"/>
                    <a:pt x="137" y="386"/>
                  </a:cubicBezTo>
                  <a:cubicBezTo>
                    <a:pt x="93" y="397"/>
                    <a:pt x="0" y="404"/>
                    <a:pt x="5" y="413"/>
                  </a:cubicBezTo>
                  <a:cubicBezTo>
                    <a:pt x="10" y="422"/>
                    <a:pt x="136" y="437"/>
                    <a:pt x="170" y="443"/>
                  </a:cubicBezTo>
                  <a:close/>
                </a:path>
              </a:pathLst>
            </a:custGeom>
            <a:gradFill rotWithShape="0">
              <a:gsLst>
                <a:gs pos="0">
                  <a:srgbClr val="761800"/>
                </a:gs>
                <a:gs pos="100000">
                  <a:srgbClr val="FF3300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pic>
        <p:nvPicPr>
          <p:cNvPr id="17464" name="Picture 56" descr="6-28a"/>
          <p:cNvPicPr>
            <a:picLocks noChangeAspect="1"/>
          </p:cNvPicPr>
          <p:nvPr/>
        </p:nvPicPr>
        <p:blipFill>
          <a:blip r:embed="rId1"/>
          <a:srcRect r="70854"/>
          <a:stretch>
            <a:fillRect/>
          </a:stretch>
        </p:blipFill>
        <p:spPr>
          <a:xfrm>
            <a:off x="6659563" y="981075"/>
            <a:ext cx="2220912" cy="12715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65" name="Picture 57" descr="6-28a"/>
          <p:cNvPicPr>
            <a:picLocks noChangeAspect="1"/>
          </p:cNvPicPr>
          <p:nvPr/>
        </p:nvPicPr>
        <p:blipFill>
          <a:blip r:embed="rId1"/>
          <a:srcRect l="61292" r="18875"/>
          <a:stretch>
            <a:fillRect/>
          </a:stretch>
        </p:blipFill>
        <p:spPr>
          <a:xfrm>
            <a:off x="6948488" y="2708275"/>
            <a:ext cx="1511300" cy="12715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66" name="Text Box 58"/>
          <p:cNvSpPr txBox="1"/>
          <p:nvPr/>
        </p:nvSpPr>
        <p:spPr>
          <a:xfrm>
            <a:off x="7956550" y="1844675"/>
            <a:ext cx="1008063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3300"/>
                </a:solidFill>
                <a:latin typeface="Arial" panose="020B0604020202020204" pitchFamily="34" charset="0"/>
              </a:rPr>
              <a:t>外螺纹</a:t>
            </a:r>
            <a:endParaRPr lang="zh-CN" altLang="en-US" dirty="0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  <p:sp>
        <p:nvSpPr>
          <p:cNvPr id="17467" name="Text Box 59"/>
          <p:cNvSpPr txBox="1"/>
          <p:nvPr/>
        </p:nvSpPr>
        <p:spPr>
          <a:xfrm>
            <a:off x="8243888" y="2349500"/>
            <a:ext cx="1008062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3300"/>
                </a:solidFill>
                <a:latin typeface="Arial" panose="020B0604020202020204" pitchFamily="34" charset="0"/>
              </a:rPr>
              <a:t>内螺纹</a:t>
            </a:r>
            <a:endParaRPr lang="zh-CN" altLang="en-US" dirty="0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  <p:sp>
        <p:nvSpPr>
          <p:cNvPr id="17468" name="Line 60"/>
          <p:cNvSpPr/>
          <p:nvPr/>
        </p:nvSpPr>
        <p:spPr>
          <a:xfrm flipH="1" flipV="1">
            <a:off x="8316913" y="1557338"/>
            <a:ext cx="142875" cy="431800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17469" name="Line 61"/>
          <p:cNvSpPr/>
          <p:nvPr/>
        </p:nvSpPr>
        <p:spPr>
          <a:xfrm flipH="1">
            <a:off x="7740650" y="2636838"/>
            <a:ext cx="576263" cy="504825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med" len="med"/>
            <a:tailEnd type="triangle" w="sm" len="lg"/>
          </a:ln>
        </p:spPr>
      </p:sp>
      <p:grpSp>
        <p:nvGrpSpPr>
          <p:cNvPr id="343051" name="组合 343050"/>
          <p:cNvGrpSpPr/>
          <p:nvPr/>
        </p:nvGrpSpPr>
        <p:grpSpPr>
          <a:xfrm>
            <a:off x="333375" y="81216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7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"/>
                                        <p:tgtEl>
                                          <p:spTgt spid="17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4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74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74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74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74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74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7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3" dur="500"/>
                                        <p:tgtEl>
                                          <p:spTgt spid="174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174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7" dur="500"/>
                                        <p:tgtEl>
                                          <p:spTgt spid="174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7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7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7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7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7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17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31" grpId="0" build="p"/>
      <p:bldP spid="17432" grpId="0" build="p"/>
      <p:bldP spid="17434" grpId="0" bldLvl="0" animBg="1"/>
      <p:bldP spid="17435" grpId="0" bldLvl="0" animBg="1"/>
      <p:bldP spid="17436" grpId="0" bldLvl="0" animBg="1"/>
      <p:bldP spid="17437" grpId="0" bldLvl="0" animBg="1"/>
      <p:bldP spid="17438" grpId="0" bldLvl="0" animBg="1"/>
      <p:bldP spid="17439" grpId="0" bldLvl="0" animBg="1"/>
      <p:bldP spid="17447" grpId="0"/>
      <p:bldP spid="17448" grpId="0"/>
      <p:bldP spid="17449" grpId="0"/>
      <p:bldP spid="17450" grpId="0"/>
      <p:bldP spid="17451" grpId="0" bldLvl="0" animBg="1"/>
      <p:bldP spid="17466" grpId="0"/>
      <p:bldP spid="1746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2"/>
          <p:cNvGrpSpPr/>
          <p:nvPr/>
        </p:nvGrpSpPr>
        <p:grpSpPr>
          <a:xfrm>
            <a:off x="4875213" y="2638425"/>
            <a:ext cx="4076700" cy="1922463"/>
            <a:chOff x="1204" y="1386"/>
            <a:chExt cx="2568" cy="1211"/>
          </a:xfrm>
        </p:grpSpPr>
        <p:grpSp>
          <p:nvGrpSpPr>
            <p:cNvPr id="44103" name="Group 53"/>
            <p:cNvGrpSpPr/>
            <p:nvPr/>
          </p:nvGrpSpPr>
          <p:grpSpPr>
            <a:xfrm>
              <a:off x="1204" y="1386"/>
              <a:ext cx="2242" cy="1211"/>
              <a:chOff x="1204" y="1386"/>
              <a:chExt cx="2242" cy="1211"/>
            </a:xfrm>
          </p:grpSpPr>
          <p:sp>
            <p:nvSpPr>
              <p:cNvPr id="44108" name="Freeform 54"/>
              <p:cNvSpPr/>
              <p:nvPr/>
            </p:nvSpPr>
            <p:spPr>
              <a:xfrm rot="130244">
                <a:off x="1204" y="1386"/>
                <a:ext cx="1000" cy="1182"/>
              </a:xfrm>
              <a:custGeom>
                <a:avLst/>
                <a:gdLst>
                  <a:gd name="txL" fmla="*/ 0 w 1632"/>
                  <a:gd name="txT" fmla="*/ 0 h 1986"/>
                  <a:gd name="txR" fmla="*/ 1632 w 1632"/>
                  <a:gd name="txB" fmla="*/ 1986 h 1986"/>
                </a:gdLst>
                <a:ahLst/>
                <a:cxnLst>
                  <a:cxn ang="0">
                    <a:pos x="266" y="0"/>
                  </a:cxn>
                  <a:cxn ang="0">
                    <a:pos x="232" y="4"/>
                  </a:cxn>
                  <a:cxn ang="0">
                    <a:pos x="205" y="15"/>
                  </a:cxn>
                  <a:cxn ang="0">
                    <a:pos x="173" y="34"/>
                  </a:cxn>
                  <a:cxn ang="0">
                    <a:pos x="129" y="81"/>
                  </a:cxn>
                  <a:cxn ang="0">
                    <a:pos x="97" y="121"/>
                  </a:cxn>
                  <a:cxn ang="0">
                    <a:pos x="66" y="174"/>
                  </a:cxn>
                  <a:cxn ang="0">
                    <a:pos x="43" y="226"/>
                  </a:cxn>
                  <a:cxn ang="0">
                    <a:pos x="20" y="287"/>
                  </a:cxn>
                  <a:cxn ang="0">
                    <a:pos x="11" y="338"/>
                  </a:cxn>
                  <a:cxn ang="0">
                    <a:pos x="2" y="402"/>
                  </a:cxn>
                  <a:cxn ang="0">
                    <a:pos x="0" y="461"/>
                  </a:cxn>
                  <a:cxn ang="0">
                    <a:pos x="7" y="523"/>
                  </a:cxn>
                  <a:cxn ang="0">
                    <a:pos x="23" y="584"/>
                  </a:cxn>
                  <a:cxn ang="0">
                    <a:pos x="36" y="618"/>
                  </a:cxn>
                  <a:cxn ang="0">
                    <a:pos x="52" y="633"/>
                  </a:cxn>
                  <a:cxn ang="0">
                    <a:pos x="79" y="644"/>
                  </a:cxn>
                  <a:cxn ang="0">
                    <a:pos x="444" y="703"/>
                  </a:cxn>
                  <a:cxn ang="0">
                    <a:pos x="360" y="625"/>
                  </a:cxn>
                  <a:cxn ang="0">
                    <a:pos x="613" y="62"/>
                  </a:cxn>
                  <a:cxn ang="0">
                    <a:pos x="266" y="0"/>
                  </a:cxn>
                </a:cxnLst>
                <a:rect l="txL" t="txT" r="txR" b="txB"/>
                <a:pathLst>
                  <a:path w="1632" h="1986">
                    <a:moveTo>
                      <a:pt x="708" y="0"/>
                    </a:moveTo>
                    <a:lnTo>
                      <a:pt x="618" y="12"/>
                    </a:lnTo>
                    <a:lnTo>
                      <a:pt x="546" y="42"/>
                    </a:lnTo>
                    <a:lnTo>
                      <a:pt x="462" y="96"/>
                    </a:lnTo>
                    <a:lnTo>
                      <a:pt x="342" y="228"/>
                    </a:lnTo>
                    <a:lnTo>
                      <a:pt x="258" y="342"/>
                    </a:lnTo>
                    <a:lnTo>
                      <a:pt x="174" y="492"/>
                    </a:lnTo>
                    <a:lnTo>
                      <a:pt x="114" y="636"/>
                    </a:lnTo>
                    <a:lnTo>
                      <a:pt x="54" y="810"/>
                    </a:lnTo>
                    <a:lnTo>
                      <a:pt x="30" y="954"/>
                    </a:lnTo>
                    <a:lnTo>
                      <a:pt x="6" y="1134"/>
                    </a:lnTo>
                    <a:lnTo>
                      <a:pt x="0" y="1302"/>
                    </a:lnTo>
                    <a:lnTo>
                      <a:pt x="18" y="1476"/>
                    </a:lnTo>
                    <a:lnTo>
                      <a:pt x="60" y="1650"/>
                    </a:lnTo>
                    <a:lnTo>
                      <a:pt x="96" y="1746"/>
                    </a:lnTo>
                    <a:lnTo>
                      <a:pt x="138" y="1788"/>
                    </a:lnTo>
                    <a:lnTo>
                      <a:pt x="210" y="1818"/>
                    </a:lnTo>
                    <a:lnTo>
                      <a:pt x="1182" y="1986"/>
                    </a:lnTo>
                    <a:lnTo>
                      <a:pt x="960" y="1764"/>
                    </a:lnTo>
                    <a:lnTo>
                      <a:pt x="1632" y="174"/>
                    </a:lnTo>
                    <a:lnTo>
                      <a:pt x="70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184718"/>
                  </a:gs>
                  <a:gs pos="50000">
                    <a:srgbClr val="339933"/>
                  </a:gs>
                  <a:gs pos="100000">
                    <a:srgbClr val="184718"/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09" name="Oval 55"/>
              <p:cNvSpPr/>
              <p:nvPr/>
            </p:nvSpPr>
            <p:spPr>
              <a:xfrm rot="973571">
                <a:off x="1748" y="1487"/>
                <a:ext cx="617" cy="111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3528"/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10" name="Freeform 56"/>
              <p:cNvSpPr/>
              <p:nvPr/>
            </p:nvSpPr>
            <p:spPr>
              <a:xfrm>
                <a:off x="1893" y="1837"/>
                <a:ext cx="1515" cy="731"/>
              </a:xfrm>
              <a:custGeom>
                <a:avLst/>
                <a:gdLst>
                  <a:gd name="txL" fmla="*/ 0 w 1515"/>
                  <a:gd name="txT" fmla="*/ 0 h 731"/>
                  <a:gd name="txR" fmla="*/ 1515 w 1515"/>
                  <a:gd name="txB" fmla="*/ 731 h 731"/>
                </a:gdLst>
                <a:ahLst/>
                <a:cxnLst>
                  <a:cxn ang="0">
                    <a:pos x="134" y="0"/>
                  </a:cxn>
                  <a:cxn ang="0">
                    <a:pos x="80" y="48"/>
                  </a:cxn>
                  <a:cxn ang="0">
                    <a:pos x="66" y="73"/>
                  </a:cxn>
                  <a:cxn ang="0">
                    <a:pos x="49" y="101"/>
                  </a:cxn>
                  <a:cxn ang="0">
                    <a:pos x="28" y="154"/>
                  </a:cxn>
                  <a:cxn ang="0">
                    <a:pos x="11" y="214"/>
                  </a:cxn>
                  <a:cxn ang="0">
                    <a:pos x="0" y="303"/>
                  </a:cxn>
                  <a:cxn ang="0">
                    <a:pos x="19" y="385"/>
                  </a:cxn>
                  <a:cxn ang="0">
                    <a:pos x="66" y="427"/>
                  </a:cxn>
                  <a:cxn ang="0">
                    <a:pos x="1347" y="731"/>
                  </a:cxn>
                  <a:cxn ang="0">
                    <a:pos x="1515" y="545"/>
                  </a:cxn>
                  <a:cxn ang="0">
                    <a:pos x="1515" y="275"/>
                  </a:cxn>
                  <a:cxn ang="0">
                    <a:pos x="460" y="20"/>
                  </a:cxn>
                  <a:cxn ang="0">
                    <a:pos x="134" y="0"/>
                  </a:cxn>
                </a:cxnLst>
                <a:rect l="txL" t="txT" r="txR" b="txB"/>
                <a:pathLst>
                  <a:path w="1515" h="731">
                    <a:moveTo>
                      <a:pt x="134" y="0"/>
                    </a:moveTo>
                    <a:lnTo>
                      <a:pt x="80" y="48"/>
                    </a:lnTo>
                    <a:lnTo>
                      <a:pt x="66" y="73"/>
                    </a:lnTo>
                    <a:lnTo>
                      <a:pt x="49" y="101"/>
                    </a:lnTo>
                    <a:lnTo>
                      <a:pt x="28" y="154"/>
                    </a:lnTo>
                    <a:lnTo>
                      <a:pt x="11" y="214"/>
                    </a:lnTo>
                    <a:lnTo>
                      <a:pt x="0" y="303"/>
                    </a:lnTo>
                    <a:lnTo>
                      <a:pt x="19" y="385"/>
                    </a:lnTo>
                    <a:lnTo>
                      <a:pt x="66" y="427"/>
                    </a:lnTo>
                    <a:lnTo>
                      <a:pt x="1347" y="731"/>
                    </a:lnTo>
                    <a:lnTo>
                      <a:pt x="1515" y="545"/>
                    </a:lnTo>
                    <a:lnTo>
                      <a:pt x="1515" y="275"/>
                    </a:lnTo>
                    <a:lnTo>
                      <a:pt x="460" y="20"/>
                    </a:lnTo>
                    <a:lnTo>
                      <a:pt x="13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54545"/>
                  </a:gs>
                  <a:gs pos="50000">
                    <a:srgbClr val="969696"/>
                  </a:gs>
                  <a:gs pos="100000">
                    <a:srgbClr val="454545"/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11" name="Freeform 57"/>
              <p:cNvSpPr/>
              <p:nvPr/>
            </p:nvSpPr>
            <p:spPr>
              <a:xfrm rot="130244">
                <a:off x="1687" y="2526"/>
                <a:ext cx="43" cy="20"/>
              </a:xfrm>
              <a:custGeom>
                <a:avLst/>
                <a:gdLst>
                  <a:gd name="txL" fmla="*/ 0 w 71"/>
                  <a:gd name="txT" fmla="*/ 0 h 35"/>
                  <a:gd name="txR" fmla="*/ 71 w 71"/>
                  <a:gd name="txB" fmla="*/ 35 h 35"/>
                </a:gdLst>
                <a:ahLst/>
                <a:cxnLst>
                  <a:cxn ang="0">
                    <a:pos x="15" y="11"/>
                  </a:cxn>
                  <a:cxn ang="0">
                    <a:pos x="24" y="2"/>
                  </a:cxn>
                  <a:cxn ang="0">
                    <a:pos x="1" y="2"/>
                  </a:cxn>
                  <a:cxn ang="0">
                    <a:pos x="15" y="11"/>
                  </a:cxn>
                </a:cxnLst>
                <a:rect l="txL" t="txT" r="txR" b="txB"/>
                <a:pathLst>
                  <a:path w="71" h="35">
                    <a:moveTo>
                      <a:pt x="41" y="35"/>
                    </a:moveTo>
                    <a:cubicBezTo>
                      <a:pt x="51" y="35"/>
                      <a:pt x="71" y="10"/>
                      <a:pt x="65" y="5"/>
                    </a:cubicBezTo>
                    <a:cubicBezTo>
                      <a:pt x="59" y="0"/>
                      <a:pt x="8" y="1"/>
                      <a:pt x="4" y="6"/>
                    </a:cubicBezTo>
                    <a:cubicBezTo>
                      <a:pt x="0" y="11"/>
                      <a:pt x="31" y="35"/>
                      <a:pt x="41" y="35"/>
                    </a:cubicBezTo>
                    <a:close/>
                  </a:path>
                </a:pathLst>
              </a:custGeom>
              <a:solidFill>
                <a:srgbClr val="996600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12" name="Oval 58"/>
              <p:cNvSpPr/>
              <p:nvPr/>
            </p:nvSpPr>
            <p:spPr>
              <a:xfrm rot="1179759">
                <a:off x="1430" y="1897"/>
                <a:ext cx="130" cy="93"/>
              </a:xfrm>
              <a:prstGeom prst="ellipse">
                <a:avLst/>
              </a:prstGeom>
              <a:gradFill rotWithShape="0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13" name="Freeform 59"/>
              <p:cNvSpPr/>
              <p:nvPr/>
            </p:nvSpPr>
            <p:spPr>
              <a:xfrm rot="130244">
                <a:off x="1741" y="2193"/>
                <a:ext cx="420" cy="327"/>
              </a:xfrm>
              <a:custGeom>
                <a:avLst/>
                <a:gdLst>
                  <a:gd name="txL" fmla="*/ 0 w 683"/>
                  <a:gd name="txT" fmla="*/ 0 h 550"/>
                  <a:gd name="txR" fmla="*/ 683 w 683"/>
                  <a:gd name="txB" fmla="*/ 550 h 550"/>
                </a:gdLst>
                <a:ahLst/>
                <a:cxnLst>
                  <a:cxn ang="0">
                    <a:pos x="0" y="188"/>
                  </a:cxn>
                  <a:cxn ang="0">
                    <a:pos x="42" y="194"/>
                  </a:cxn>
                  <a:cxn ang="0">
                    <a:pos x="77" y="136"/>
                  </a:cxn>
                  <a:cxn ang="0">
                    <a:pos x="132" y="146"/>
                  </a:cxn>
                  <a:cxn ang="0">
                    <a:pos x="173" y="76"/>
                  </a:cxn>
                  <a:cxn ang="0">
                    <a:pos x="231" y="86"/>
                  </a:cxn>
                  <a:cxn ang="0">
                    <a:pos x="258" y="30"/>
                  </a:cxn>
                  <a:cxn ang="0">
                    <a:pos x="97" y="0"/>
                  </a:cxn>
                  <a:cxn ang="0">
                    <a:pos x="0" y="188"/>
                  </a:cxn>
                </a:cxnLst>
                <a:rect l="txL" t="txT" r="txR" b="txB"/>
                <a:pathLst>
                  <a:path w="683" h="550">
                    <a:moveTo>
                      <a:pt x="0" y="531"/>
                    </a:moveTo>
                    <a:lnTo>
                      <a:pt x="111" y="550"/>
                    </a:lnTo>
                    <a:lnTo>
                      <a:pt x="204" y="384"/>
                    </a:lnTo>
                    <a:lnTo>
                      <a:pt x="348" y="414"/>
                    </a:lnTo>
                    <a:lnTo>
                      <a:pt x="459" y="213"/>
                    </a:lnTo>
                    <a:lnTo>
                      <a:pt x="612" y="243"/>
                    </a:lnTo>
                    <a:lnTo>
                      <a:pt x="683" y="84"/>
                    </a:lnTo>
                    <a:lnTo>
                      <a:pt x="255" y="0"/>
                    </a:lnTo>
                    <a:lnTo>
                      <a:pt x="0" y="53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7600"/>
                  </a:gs>
                  <a:gs pos="100000">
                    <a:srgbClr val="FFFF00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14" name="Freeform 60"/>
              <p:cNvSpPr/>
              <p:nvPr/>
            </p:nvSpPr>
            <p:spPr>
              <a:xfrm rot="130244">
                <a:off x="1803" y="2405"/>
                <a:ext cx="97" cy="175"/>
              </a:xfrm>
              <a:custGeom>
                <a:avLst/>
                <a:gdLst>
                  <a:gd name="txL" fmla="*/ 0 w 158"/>
                  <a:gd name="txT" fmla="*/ 0 h 294"/>
                  <a:gd name="txR" fmla="*/ 158 w 158"/>
                  <a:gd name="txB" fmla="*/ 294 h 294"/>
                </a:gdLst>
                <a:ahLst/>
                <a:cxnLst>
                  <a:cxn ang="0">
                    <a:pos x="36" y="0"/>
                  </a:cxn>
                  <a:cxn ang="0">
                    <a:pos x="60" y="30"/>
                  </a:cxn>
                  <a:cxn ang="0">
                    <a:pos x="16" y="104"/>
                  </a:cxn>
                  <a:cxn ang="0">
                    <a:pos x="0" y="65"/>
                  </a:cxn>
                  <a:cxn ang="0">
                    <a:pos x="36" y="0"/>
                  </a:cxn>
                </a:cxnLst>
                <a:rect l="txL" t="txT" r="txR" b="txB"/>
                <a:pathLst>
                  <a:path w="158" h="294">
                    <a:moveTo>
                      <a:pt x="94" y="0"/>
                    </a:moveTo>
                    <a:lnTo>
                      <a:pt x="158" y="84"/>
                    </a:lnTo>
                    <a:lnTo>
                      <a:pt x="42" y="294"/>
                    </a:lnTo>
                    <a:lnTo>
                      <a:pt x="0" y="184"/>
                    </a:lnTo>
                    <a:lnTo>
                      <a:pt x="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66"/>
                  </a:gs>
                  <a:gs pos="100000">
                    <a:srgbClr val="765E2F"/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15" name="Freeform 61"/>
              <p:cNvSpPr/>
              <p:nvPr/>
            </p:nvSpPr>
            <p:spPr>
              <a:xfrm rot="130244">
                <a:off x="1860" y="2409"/>
                <a:ext cx="127" cy="72"/>
              </a:xfrm>
              <a:custGeom>
                <a:avLst/>
                <a:gdLst>
                  <a:gd name="txL" fmla="*/ 0 w 207"/>
                  <a:gd name="txT" fmla="*/ 0 h 120"/>
                  <a:gd name="txR" fmla="*/ 207 w 207"/>
                  <a:gd name="txB" fmla="*/ 120 h 120"/>
                </a:gdLst>
                <a:ahLst/>
                <a:cxnLst>
                  <a:cxn ang="0">
                    <a:pos x="0" y="0"/>
                  </a:cxn>
                  <a:cxn ang="0">
                    <a:pos x="51" y="10"/>
                  </a:cxn>
                  <a:cxn ang="0">
                    <a:pos x="78" y="43"/>
                  </a:cxn>
                  <a:cxn ang="0">
                    <a:pos x="27" y="35"/>
                  </a:cxn>
                  <a:cxn ang="0">
                    <a:pos x="0" y="0"/>
                  </a:cxn>
                </a:cxnLst>
                <a:rect l="txL" t="txT" r="txR" b="txB"/>
                <a:pathLst>
                  <a:path w="207" h="120">
                    <a:moveTo>
                      <a:pt x="0" y="0"/>
                    </a:moveTo>
                    <a:lnTo>
                      <a:pt x="135" y="27"/>
                    </a:lnTo>
                    <a:lnTo>
                      <a:pt x="207" y="120"/>
                    </a:lnTo>
                    <a:lnTo>
                      <a:pt x="72" y="99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66"/>
                  </a:gs>
                  <a:gs pos="100000">
                    <a:srgbClr val="4E3E1F"/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16" name="Freeform 62"/>
              <p:cNvSpPr/>
              <p:nvPr/>
            </p:nvSpPr>
            <p:spPr>
              <a:xfrm rot="130244">
                <a:off x="1943" y="2306"/>
                <a:ext cx="103" cy="175"/>
              </a:xfrm>
              <a:custGeom>
                <a:avLst/>
                <a:gdLst>
                  <a:gd name="txL" fmla="*/ 0 w 169"/>
                  <a:gd name="txT" fmla="*/ 0 h 293"/>
                  <a:gd name="txR" fmla="*/ 169 w 169"/>
                  <a:gd name="txB" fmla="*/ 293 h 293"/>
                </a:gdLst>
                <a:ahLst/>
                <a:cxnLst>
                  <a:cxn ang="0">
                    <a:pos x="0" y="72"/>
                  </a:cxn>
                  <a:cxn ang="0">
                    <a:pos x="37" y="0"/>
                  </a:cxn>
                  <a:cxn ang="0">
                    <a:pos x="63" y="33"/>
                  </a:cxn>
                  <a:cxn ang="0">
                    <a:pos x="24" y="105"/>
                  </a:cxn>
                  <a:cxn ang="0">
                    <a:pos x="0" y="72"/>
                  </a:cxn>
                </a:cxnLst>
                <a:rect l="txL" t="txT" r="txR" b="txB"/>
                <a:pathLst>
                  <a:path w="169" h="293">
                    <a:moveTo>
                      <a:pt x="0" y="203"/>
                    </a:moveTo>
                    <a:lnTo>
                      <a:pt x="99" y="0"/>
                    </a:lnTo>
                    <a:lnTo>
                      <a:pt x="169" y="94"/>
                    </a:lnTo>
                    <a:lnTo>
                      <a:pt x="66" y="293"/>
                    </a:lnTo>
                    <a:lnTo>
                      <a:pt x="0" y="2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66"/>
                  </a:gs>
                  <a:gs pos="100000">
                    <a:srgbClr val="5A4824"/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17" name="Freeform 63"/>
              <p:cNvSpPr/>
              <p:nvPr/>
            </p:nvSpPr>
            <p:spPr>
              <a:xfrm rot="130244">
                <a:off x="2006" y="2309"/>
                <a:ext cx="142" cy="76"/>
              </a:xfrm>
              <a:custGeom>
                <a:avLst/>
                <a:gdLst>
                  <a:gd name="txL" fmla="*/ 0 w 233"/>
                  <a:gd name="txT" fmla="*/ 0 h 128"/>
                  <a:gd name="txR" fmla="*/ 233 w 233"/>
                  <a:gd name="txB" fmla="*/ 128 h 128"/>
                </a:gdLst>
                <a:ahLst/>
                <a:cxnLst>
                  <a:cxn ang="0">
                    <a:pos x="0" y="0"/>
                  </a:cxn>
                  <a:cxn ang="0">
                    <a:pos x="68" y="11"/>
                  </a:cxn>
                  <a:cxn ang="0">
                    <a:pos x="87" y="45"/>
                  </a:cxn>
                  <a:cxn ang="0">
                    <a:pos x="24" y="36"/>
                  </a:cxn>
                  <a:cxn ang="0">
                    <a:pos x="0" y="0"/>
                  </a:cxn>
                </a:cxnLst>
                <a:rect l="txL" t="txT" r="txR" b="txB"/>
                <a:pathLst>
                  <a:path w="233" h="128">
                    <a:moveTo>
                      <a:pt x="0" y="0"/>
                    </a:moveTo>
                    <a:lnTo>
                      <a:pt x="183" y="32"/>
                    </a:lnTo>
                    <a:lnTo>
                      <a:pt x="233" y="128"/>
                    </a:lnTo>
                    <a:lnTo>
                      <a:pt x="65" y="10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5E2F"/>
                  </a:gs>
                  <a:gs pos="100000">
                    <a:srgbClr val="FFCC66"/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18" name="Freeform 64"/>
              <p:cNvSpPr/>
              <p:nvPr/>
            </p:nvSpPr>
            <p:spPr>
              <a:xfrm rot="130244">
                <a:off x="2118" y="2251"/>
                <a:ext cx="84" cy="136"/>
              </a:xfrm>
              <a:custGeom>
                <a:avLst/>
                <a:gdLst>
                  <a:gd name="txL" fmla="*/ 0 w 136"/>
                  <a:gd name="txT" fmla="*/ 0 h 230"/>
                  <a:gd name="txR" fmla="*/ 136 w 136"/>
                  <a:gd name="txB" fmla="*/ 230 h 230"/>
                </a:gdLst>
                <a:ahLst/>
                <a:cxnLst>
                  <a:cxn ang="0">
                    <a:pos x="26" y="0"/>
                  </a:cxn>
                  <a:cxn ang="0">
                    <a:pos x="0" y="47"/>
                  </a:cxn>
                  <a:cxn ang="0">
                    <a:pos x="19" y="80"/>
                  </a:cxn>
                  <a:cxn ang="0">
                    <a:pos x="52" y="26"/>
                  </a:cxn>
                  <a:cxn ang="0">
                    <a:pos x="43" y="20"/>
                  </a:cxn>
                  <a:cxn ang="0">
                    <a:pos x="33" y="10"/>
                  </a:cxn>
                  <a:cxn ang="0">
                    <a:pos x="26" y="0"/>
                  </a:cxn>
                </a:cxnLst>
                <a:rect l="txL" t="txT" r="txR" b="txB"/>
                <a:pathLst>
                  <a:path w="136" h="230">
                    <a:moveTo>
                      <a:pt x="68" y="0"/>
                    </a:moveTo>
                    <a:lnTo>
                      <a:pt x="0" y="134"/>
                    </a:lnTo>
                    <a:lnTo>
                      <a:pt x="50" y="230"/>
                    </a:lnTo>
                    <a:lnTo>
                      <a:pt x="136" y="74"/>
                    </a:lnTo>
                    <a:lnTo>
                      <a:pt x="112" y="58"/>
                    </a:lnTo>
                    <a:lnTo>
                      <a:pt x="88" y="28"/>
                    </a:lnTo>
                    <a:lnTo>
                      <a:pt x="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66"/>
                  </a:gs>
                  <a:gs pos="100000">
                    <a:srgbClr val="54432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19" name="Freeform 65"/>
              <p:cNvSpPr/>
              <p:nvPr/>
            </p:nvSpPr>
            <p:spPr>
              <a:xfrm rot="130244">
                <a:off x="1698" y="2507"/>
                <a:ext cx="56" cy="22"/>
              </a:xfrm>
              <a:custGeom>
                <a:avLst/>
                <a:gdLst>
                  <a:gd name="txL" fmla="*/ 0 w 92"/>
                  <a:gd name="txT" fmla="*/ 0 h 38"/>
                  <a:gd name="txR" fmla="*/ 92 w 92"/>
                  <a:gd name="txB" fmla="*/ 38 h 38"/>
                </a:gdLst>
                <a:ahLst/>
                <a:cxnLst>
                  <a:cxn ang="0">
                    <a:pos x="0" y="13"/>
                  </a:cxn>
                  <a:cxn ang="0">
                    <a:pos x="3" y="0"/>
                  </a:cxn>
                  <a:cxn ang="0">
                    <a:pos x="34" y="2"/>
                  </a:cxn>
                  <a:cxn ang="0">
                    <a:pos x="33" y="12"/>
                  </a:cxn>
                  <a:cxn ang="0">
                    <a:pos x="0" y="13"/>
                  </a:cxn>
                </a:cxnLst>
                <a:rect l="txL" t="txT" r="txR" b="txB"/>
                <a:pathLst>
                  <a:path w="92" h="38">
                    <a:moveTo>
                      <a:pt x="0" y="38"/>
                    </a:moveTo>
                    <a:lnTo>
                      <a:pt x="8" y="0"/>
                    </a:lnTo>
                    <a:lnTo>
                      <a:pt x="92" y="7"/>
                    </a:lnTo>
                    <a:lnTo>
                      <a:pt x="89" y="34"/>
                    </a:lnTo>
                    <a:lnTo>
                      <a:pt x="0" y="3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E4700"/>
                  </a:gs>
                  <a:gs pos="100000">
                    <a:srgbClr val="CC9900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44120" name="Group 66"/>
              <p:cNvGrpSpPr/>
              <p:nvPr/>
            </p:nvGrpSpPr>
            <p:grpSpPr>
              <a:xfrm rot="130244">
                <a:off x="1910" y="1437"/>
                <a:ext cx="455" cy="480"/>
                <a:chOff x="2157" y="633"/>
                <a:chExt cx="741" cy="807"/>
              </a:xfrm>
            </p:grpSpPr>
            <p:sp>
              <p:nvSpPr>
                <p:cNvPr id="44145" name="Freeform 67"/>
                <p:cNvSpPr/>
                <p:nvPr/>
              </p:nvSpPr>
              <p:spPr>
                <a:xfrm>
                  <a:off x="2253" y="645"/>
                  <a:ext cx="54" cy="33"/>
                </a:xfrm>
                <a:custGeom>
                  <a:avLst/>
                  <a:gdLst>
                    <a:gd name="txL" fmla="*/ 0 w 54"/>
                    <a:gd name="txT" fmla="*/ 0 h 33"/>
                    <a:gd name="txR" fmla="*/ 54 w 54"/>
                    <a:gd name="txB" fmla="*/ 33 h 33"/>
                  </a:gdLst>
                  <a:ahLst/>
                  <a:cxnLst>
                    <a:cxn ang="0">
                      <a:pos x="54" y="0"/>
                    </a:cxn>
                    <a:cxn ang="0">
                      <a:pos x="54" y="33"/>
                    </a:cxn>
                    <a:cxn ang="0">
                      <a:pos x="0" y="12"/>
                    </a:cxn>
                    <a:cxn ang="0">
                      <a:pos x="54" y="0"/>
                    </a:cxn>
                  </a:cxnLst>
                  <a:rect l="txL" t="txT" r="txR" b="txB"/>
                  <a:pathLst>
                    <a:path w="54" h="33">
                      <a:moveTo>
                        <a:pt x="54" y="0"/>
                      </a:moveTo>
                      <a:lnTo>
                        <a:pt x="54" y="33"/>
                      </a:lnTo>
                      <a:lnTo>
                        <a:pt x="0" y="12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CC9900"/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146" name="Freeform 68"/>
                <p:cNvSpPr/>
                <p:nvPr/>
              </p:nvSpPr>
              <p:spPr>
                <a:xfrm>
                  <a:off x="2247" y="693"/>
                  <a:ext cx="114" cy="117"/>
                </a:xfrm>
                <a:custGeom>
                  <a:avLst/>
                  <a:gdLst>
                    <a:gd name="txL" fmla="*/ 0 w 114"/>
                    <a:gd name="txT" fmla="*/ 0 h 117"/>
                    <a:gd name="txR" fmla="*/ 114 w 114"/>
                    <a:gd name="txB" fmla="*/ 117 h 117"/>
                  </a:gdLst>
                  <a:ahLst/>
                  <a:cxnLst>
                    <a:cxn ang="0">
                      <a:pos x="0" y="0"/>
                    </a:cxn>
                    <a:cxn ang="0">
                      <a:pos x="3" y="84"/>
                    </a:cxn>
                    <a:cxn ang="0">
                      <a:pos x="114" y="117"/>
                    </a:cxn>
                    <a:cxn ang="0">
                      <a:pos x="111" y="33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114" h="117">
                      <a:moveTo>
                        <a:pt x="0" y="0"/>
                      </a:moveTo>
                      <a:lnTo>
                        <a:pt x="3" y="84"/>
                      </a:lnTo>
                      <a:lnTo>
                        <a:pt x="114" y="117"/>
                      </a:lnTo>
                      <a:lnTo>
                        <a:pt x="111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147" name="Freeform 69"/>
                <p:cNvSpPr/>
                <p:nvPr/>
              </p:nvSpPr>
              <p:spPr>
                <a:xfrm>
                  <a:off x="2196" y="696"/>
                  <a:ext cx="54" cy="117"/>
                </a:xfrm>
                <a:custGeom>
                  <a:avLst/>
                  <a:gdLst>
                    <a:gd name="txL" fmla="*/ 0 w 54"/>
                    <a:gd name="txT" fmla="*/ 0 h 117"/>
                    <a:gd name="txR" fmla="*/ 54 w 54"/>
                    <a:gd name="txB" fmla="*/ 117 h 117"/>
                  </a:gdLst>
                  <a:ahLst/>
                  <a:cxnLst>
                    <a:cxn ang="0">
                      <a:pos x="54" y="0"/>
                    </a:cxn>
                    <a:cxn ang="0">
                      <a:pos x="54" y="81"/>
                    </a:cxn>
                    <a:cxn ang="0">
                      <a:pos x="6" y="117"/>
                    </a:cxn>
                    <a:cxn ang="0">
                      <a:pos x="0" y="48"/>
                    </a:cxn>
                    <a:cxn ang="0">
                      <a:pos x="54" y="0"/>
                    </a:cxn>
                  </a:cxnLst>
                  <a:rect l="txL" t="txT" r="txR" b="txB"/>
                  <a:pathLst>
                    <a:path w="54" h="117">
                      <a:moveTo>
                        <a:pt x="54" y="0"/>
                      </a:moveTo>
                      <a:lnTo>
                        <a:pt x="54" y="81"/>
                      </a:lnTo>
                      <a:lnTo>
                        <a:pt x="6" y="117"/>
                      </a:lnTo>
                      <a:lnTo>
                        <a:pt x="0" y="48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/>
                    </a:gs>
                    <a:gs pos="100000">
                      <a:srgbClr val="765E00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148" name="Freeform 70"/>
                <p:cNvSpPr/>
                <p:nvPr/>
              </p:nvSpPr>
              <p:spPr>
                <a:xfrm>
                  <a:off x="2781" y="1164"/>
                  <a:ext cx="117" cy="273"/>
                </a:xfrm>
                <a:custGeom>
                  <a:avLst/>
                  <a:gdLst>
                    <a:gd name="txL" fmla="*/ 0 w 117"/>
                    <a:gd name="txT" fmla="*/ 0 h 273"/>
                    <a:gd name="txR" fmla="*/ 117 w 117"/>
                    <a:gd name="txB" fmla="*/ 273 h 273"/>
                  </a:gdLst>
                  <a:ahLst/>
                  <a:cxnLst>
                    <a:cxn ang="0">
                      <a:pos x="0" y="78"/>
                    </a:cxn>
                    <a:cxn ang="0">
                      <a:pos x="0" y="273"/>
                    </a:cxn>
                    <a:cxn ang="0">
                      <a:pos x="18" y="246"/>
                    </a:cxn>
                    <a:cxn ang="0">
                      <a:pos x="51" y="216"/>
                    </a:cxn>
                    <a:cxn ang="0">
                      <a:pos x="84" y="195"/>
                    </a:cxn>
                    <a:cxn ang="0">
                      <a:pos x="117" y="180"/>
                    </a:cxn>
                    <a:cxn ang="0">
                      <a:pos x="117" y="0"/>
                    </a:cxn>
                    <a:cxn ang="0">
                      <a:pos x="0" y="78"/>
                    </a:cxn>
                  </a:cxnLst>
                  <a:rect l="txL" t="txT" r="txR" b="txB"/>
                  <a:pathLst>
                    <a:path w="117" h="273">
                      <a:moveTo>
                        <a:pt x="0" y="78"/>
                      </a:moveTo>
                      <a:lnTo>
                        <a:pt x="0" y="273"/>
                      </a:lnTo>
                      <a:lnTo>
                        <a:pt x="18" y="246"/>
                      </a:lnTo>
                      <a:lnTo>
                        <a:pt x="51" y="216"/>
                      </a:lnTo>
                      <a:lnTo>
                        <a:pt x="84" y="195"/>
                      </a:lnTo>
                      <a:lnTo>
                        <a:pt x="117" y="180"/>
                      </a:lnTo>
                      <a:lnTo>
                        <a:pt x="117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/>
                    </a:gs>
                    <a:gs pos="100000">
                      <a:srgbClr val="765E00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149" name="Freeform 71"/>
                <p:cNvSpPr/>
                <p:nvPr/>
              </p:nvSpPr>
              <p:spPr>
                <a:xfrm>
                  <a:off x="2160" y="720"/>
                  <a:ext cx="48" cy="96"/>
                </a:xfrm>
                <a:custGeom>
                  <a:avLst/>
                  <a:gdLst>
                    <a:gd name="txL" fmla="*/ 0 w 48"/>
                    <a:gd name="txT" fmla="*/ 0 h 96"/>
                    <a:gd name="txR" fmla="*/ 48 w 48"/>
                    <a:gd name="txB" fmla="*/ 96 h 96"/>
                  </a:gdLst>
                  <a:ahLst/>
                  <a:cxnLst>
                    <a:cxn ang="0">
                      <a:pos x="0" y="0"/>
                    </a:cxn>
                    <a:cxn ang="0">
                      <a:pos x="48" y="12"/>
                    </a:cxn>
                    <a:cxn ang="0">
                      <a:pos x="48" y="96"/>
                    </a:cxn>
                    <a:cxn ang="0">
                      <a:pos x="0" y="81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48" h="96">
                      <a:moveTo>
                        <a:pt x="0" y="0"/>
                      </a:moveTo>
                      <a:lnTo>
                        <a:pt x="48" y="12"/>
                      </a:lnTo>
                      <a:lnTo>
                        <a:pt x="48" y="96"/>
                      </a:lnTo>
                      <a:lnTo>
                        <a:pt x="0" y="8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7600"/>
                    </a:gs>
                    <a:gs pos="100000">
                      <a:srgbClr val="FFFF00"/>
                    </a:gs>
                  </a:gsLst>
                  <a:lin ang="189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150" name="Freeform 72"/>
                <p:cNvSpPr/>
                <p:nvPr/>
              </p:nvSpPr>
              <p:spPr>
                <a:xfrm>
                  <a:off x="2157" y="633"/>
                  <a:ext cx="384" cy="147"/>
                </a:xfrm>
                <a:custGeom>
                  <a:avLst/>
                  <a:gdLst>
                    <a:gd name="txL" fmla="*/ 0 w 384"/>
                    <a:gd name="txT" fmla="*/ 0 h 147"/>
                    <a:gd name="txR" fmla="*/ 384 w 384"/>
                    <a:gd name="txB" fmla="*/ 147 h 147"/>
                  </a:gdLst>
                  <a:ahLst/>
                  <a:cxnLst>
                    <a:cxn ang="0">
                      <a:pos x="102" y="0"/>
                    </a:cxn>
                    <a:cxn ang="0">
                      <a:pos x="150" y="15"/>
                    </a:cxn>
                    <a:cxn ang="0">
                      <a:pos x="126" y="36"/>
                    </a:cxn>
                    <a:cxn ang="0">
                      <a:pos x="225" y="63"/>
                    </a:cxn>
                    <a:cxn ang="0">
                      <a:pos x="270" y="33"/>
                    </a:cxn>
                    <a:cxn ang="0">
                      <a:pos x="384" y="69"/>
                    </a:cxn>
                    <a:cxn ang="0">
                      <a:pos x="267" y="147"/>
                    </a:cxn>
                    <a:cxn ang="0">
                      <a:pos x="162" y="111"/>
                    </a:cxn>
                    <a:cxn ang="0">
                      <a:pos x="192" y="90"/>
                    </a:cxn>
                    <a:cxn ang="0">
                      <a:pos x="102" y="63"/>
                    </a:cxn>
                    <a:cxn ang="0">
                      <a:pos x="51" y="108"/>
                    </a:cxn>
                    <a:cxn ang="0">
                      <a:pos x="0" y="90"/>
                    </a:cxn>
                    <a:cxn ang="0">
                      <a:pos x="102" y="0"/>
                    </a:cxn>
                  </a:cxnLst>
                  <a:rect l="txL" t="txT" r="txR" b="txB"/>
                  <a:pathLst>
                    <a:path w="384" h="147">
                      <a:moveTo>
                        <a:pt x="102" y="0"/>
                      </a:moveTo>
                      <a:lnTo>
                        <a:pt x="150" y="15"/>
                      </a:lnTo>
                      <a:lnTo>
                        <a:pt x="126" y="36"/>
                      </a:lnTo>
                      <a:lnTo>
                        <a:pt x="225" y="63"/>
                      </a:lnTo>
                      <a:lnTo>
                        <a:pt x="270" y="33"/>
                      </a:lnTo>
                      <a:lnTo>
                        <a:pt x="384" y="69"/>
                      </a:lnTo>
                      <a:lnTo>
                        <a:pt x="267" y="147"/>
                      </a:lnTo>
                      <a:lnTo>
                        <a:pt x="162" y="111"/>
                      </a:lnTo>
                      <a:lnTo>
                        <a:pt x="192" y="90"/>
                      </a:lnTo>
                      <a:lnTo>
                        <a:pt x="102" y="63"/>
                      </a:lnTo>
                      <a:lnTo>
                        <a:pt x="51" y="108"/>
                      </a:lnTo>
                      <a:lnTo>
                        <a:pt x="0" y="90"/>
                      </a:lnTo>
                      <a:lnTo>
                        <a:pt x="10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5E00"/>
                    </a:gs>
                    <a:gs pos="100000">
                      <a:srgbClr val="FFCC00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151" name="Freeform 73"/>
                <p:cNvSpPr/>
                <p:nvPr/>
              </p:nvSpPr>
              <p:spPr>
                <a:xfrm>
                  <a:off x="2319" y="750"/>
                  <a:ext cx="465" cy="690"/>
                </a:xfrm>
                <a:custGeom>
                  <a:avLst/>
                  <a:gdLst>
                    <a:gd name="txL" fmla="*/ 0 w 465"/>
                    <a:gd name="txT" fmla="*/ 0 h 690"/>
                    <a:gd name="txR" fmla="*/ 465 w 465"/>
                    <a:gd name="txB" fmla="*/ 690 h 690"/>
                  </a:gdLst>
                  <a:ahLst/>
                  <a:cxnLst>
                    <a:cxn ang="0">
                      <a:pos x="105" y="24"/>
                    </a:cxn>
                    <a:cxn ang="0">
                      <a:pos x="105" y="210"/>
                    </a:cxn>
                    <a:cxn ang="0">
                      <a:pos x="270" y="243"/>
                    </a:cxn>
                    <a:cxn ang="0">
                      <a:pos x="270" y="456"/>
                    </a:cxn>
                    <a:cxn ang="0">
                      <a:pos x="465" y="495"/>
                    </a:cxn>
                    <a:cxn ang="0">
                      <a:pos x="465" y="690"/>
                    </a:cxn>
                    <a:cxn ang="0">
                      <a:pos x="0" y="597"/>
                    </a:cxn>
                    <a:cxn ang="0">
                      <a:pos x="0" y="0"/>
                    </a:cxn>
                    <a:cxn ang="0">
                      <a:pos x="105" y="24"/>
                    </a:cxn>
                  </a:cxnLst>
                  <a:rect l="txL" t="txT" r="txR" b="txB"/>
                  <a:pathLst>
                    <a:path w="465" h="690">
                      <a:moveTo>
                        <a:pt x="105" y="24"/>
                      </a:moveTo>
                      <a:lnTo>
                        <a:pt x="105" y="210"/>
                      </a:lnTo>
                      <a:lnTo>
                        <a:pt x="270" y="243"/>
                      </a:lnTo>
                      <a:lnTo>
                        <a:pt x="270" y="456"/>
                      </a:lnTo>
                      <a:lnTo>
                        <a:pt x="465" y="495"/>
                      </a:lnTo>
                      <a:lnTo>
                        <a:pt x="465" y="690"/>
                      </a:lnTo>
                      <a:lnTo>
                        <a:pt x="0" y="597"/>
                      </a:lnTo>
                      <a:lnTo>
                        <a:pt x="0" y="0"/>
                      </a:lnTo>
                      <a:lnTo>
                        <a:pt x="105" y="2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7600"/>
                    </a:gs>
                    <a:gs pos="100000">
                      <a:srgbClr val="FFFF00"/>
                    </a:gs>
                  </a:gsLst>
                  <a:lin ang="189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152" name="Freeform 74"/>
                <p:cNvSpPr/>
                <p:nvPr/>
              </p:nvSpPr>
              <p:spPr>
                <a:xfrm>
                  <a:off x="2421" y="699"/>
                  <a:ext cx="120" cy="273"/>
                </a:xfrm>
                <a:custGeom>
                  <a:avLst/>
                  <a:gdLst>
                    <a:gd name="txL" fmla="*/ 0 w 120"/>
                    <a:gd name="txT" fmla="*/ 0 h 273"/>
                    <a:gd name="txR" fmla="*/ 120 w 120"/>
                    <a:gd name="txB" fmla="*/ 273 h 273"/>
                  </a:gdLst>
                  <a:ahLst/>
                  <a:cxnLst>
                    <a:cxn ang="0">
                      <a:pos x="120" y="0"/>
                    </a:cxn>
                    <a:cxn ang="0">
                      <a:pos x="0" y="75"/>
                    </a:cxn>
                    <a:cxn ang="0">
                      <a:pos x="3" y="273"/>
                    </a:cxn>
                    <a:cxn ang="0">
                      <a:pos x="120" y="186"/>
                    </a:cxn>
                    <a:cxn ang="0">
                      <a:pos x="120" y="0"/>
                    </a:cxn>
                  </a:cxnLst>
                  <a:rect l="txL" t="txT" r="txR" b="txB"/>
                  <a:pathLst>
                    <a:path w="120" h="273">
                      <a:moveTo>
                        <a:pt x="120" y="0"/>
                      </a:moveTo>
                      <a:lnTo>
                        <a:pt x="0" y="75"/>
                      </a:lnTo>
                      <a:lnTo>
                        <a:pt x="3" y="273"/>
                      </a:lnTo>
                      <a:lnTo>
                        <a:pt x="120" y="186"/>
                      </a:lnTo>
                      <a:lnTo>
                        <a:pt x="12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/>
                    </a:gs>
                    <a:gs pos="100000">
                      <a:srgbClr val="765E00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153" name="Freeform 75"/>
                <p:cNvSpPr/>
                <p:nvPr/>
              </p:nvSpPr>
              <p:spPr>
                <a:xfrm>
                  <a:off x="2424" y="879"/>
                  <a:ext cx="285" cy="126"/>
                </a:xfrm>
                <a:custGeom>
                  <a:avLst/>
                  <a:gdLst>
                    <a:gd name="txL" fmla="*/ 0 w 285"/>
                    <a:gd name="txT" fmla="*/ 0 h 126"/>
                    <a:gd name="txR" fmla="*/ 285 w 285"/>
                    <a:gd name="txB" fmla="*/ 126 h 126"/>
                  </a:gdLst>
                  <a:ahLst/>
                  <a:cxnLst>
                    <a:cxn ang="0">
                      <a:pos x="0" y="93"/>
                    </a:cxn>
                    <a:cxn ang="0">
                      <a:pos x="162" y="126"/>
                    </a:cxn>
                    <a:cxn ang="0">
                      <a:pos x="285" y="30"/>
                    </a:cxn>
                    <a:cxn ang="0">
                      <a:pos x="120" y="0"/>
                    </a:cxn>
                    <a:cxn ang="0">
                      <a:pos x="0" y="93"/>
                    </a:cxn>
                  </a:cxnLst>
                  <a:rect l="txL" t="txT" r="txR" b="txB"/>
                  <a:pathLst>
                    <a:path w="285" h="126">
                      <a:moveTo>
                        <a:pt x="0" y="93"/>
                      </a:moveTo>
                      <a:lnTo>
                        <a:pt x="162" y="126"/>
                      </a:lnTo>
                      <a:lnTo>
                        <a:pt x="285" y="30"/>
                      </a:lnTo>
                      <a:lnTo>
                        <a:pt x="120" y="0"/>
                      </a:lnTo>
                      <a:lnTo>
                        <a:pt x="0" y="9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5E00"/>
                    </a:gs>
                    <a:gs pos="100000">
                      <a:srgbClr val="FFCC00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154" name="Freeform 76"/>
                <p:cNvSpPr/>
                <p:nvPr/>
              </p:nvSpPr>
              <p:spPr>
                <a:xfrm>
                  <a:off x="2586" y="906"/>
                  <a:ext cx="120" cy="300"/>
                </a:xfrm>
                <a:custGeom>
                  <a:avLst/>
                  <a:gdLst>
                    <a:gd name="txL" fmla="*/ 0 w 120"/>
                    <a:gd name="txT" fmla="*/ 0 h 300"/>
                    <a:gd name="txR" fmla="*/ 120 w 120"/>
                    <a:gd name="txB" fmla="*/ 300 h 300"/>
                  </a:gdLst>
                  <a:ahLst/>
                  <a:cxnLst>
                    <a:cxn ang="0">
                      <a:pos x="0" y="96"/>
                    </a:cxn>
                    <a:cxn ang="0">
                      <a:pos x="0" y="300"/>
                    </a:cxn>
                    <a:cxn ang="0">
                      <a:pos x="117" y="231"/>
                    </a:cxn>
                    <a:cxn ang="0">
                      <a:pos x="120" y="0"/>
                    </a:cxn>
                    <a:cxn ang="0">
                      <a:pos x="0" y="96"/>
                    </a:cxn>
                  </a:cxnLst>
                  <a:rect l="txL" t="txT" r="txR" b="txB"/>
                  <a:pathLst>
                    <a:path w="120" h="300">
                      <a:moveTo>
                        <a:pt x="0" y="96"/>
                      </a:moveTo>
                      <a:lnTo>
                        <a:pt x="0" y="300"/>
                      </a:lnTo>
                      <a:lnTo>
                        <a:pt x="117" y="231"/>
                      </a:lnTo>
                      <a:lnTo>
                        <a:pt x="120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/>
                    </a:gs>
                    <a:gs pos="100000">
                      <a:srgbClr val="765E00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155" name="Freeform 77"/>
                <p:cNvSpPr/>
                <p:nvPr/>
              </p:nvSpPr>
              <p:spPr>
                <a:xfrm>
                  <a:off x="2583" y="1125"/>
                  <a:ext cx="309" cy="123"/>
                </a:xfrm>
                <a:custGeom>
                  <a:avLst/>
                  <a:gdLst>
                    <a:gd name="txL" fmla="*/ 0 w 309"/>
                    <a:gd name="txT" fmla="*/ 0 h 123"/>
                    <a:gd name="txR" fmla="*/ 309 w 309"/>
                    <a:gd name="txB" fmla="*/ 123 h 123"/>
                  </a:gdLst>
                  <a:ahLst/>
                  <a:cxnLst>
                    <a:cxn ang="0">
                      <a:pos x="0" y="78"/>
                    </a:cxn>
                    <a:cxn ang="0">
                      <a:pos x="198" y="123"/>
                    </a:cxn>
                    <a:cxn ang="0">
                      <a:pos x="309" y="45"/>
                    </a:cxn>
                    <a:cxn ang="0">
                      <a:pos x="120" y="0"/>
                    </a:cxn>
                    <a:cxn ang="0">
                      <a:pos x="0" y="78"/>
                    </a:cxn>
                  </a:cxnLst>
                  <a:rect l="txL" t="txT" r="txR" b="txB"/>
                  <a:pathLst>
                    <a:path w="309" h="123">
                      <a:moveTo>
                        <a:pt x="0" y="78"/>
                      </a:moveTo>
                      <a:lnTo>
                        <a:pt x="198" y="123"/>
                      </a:lnTo>
                      <a:lnTo>
                        <a:pt x="309" y="45"/>
                      </a:lnTo>
                      <a:lnTo>
                        <a:pt x="120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5E00"/>
                    </a:gs>
                    <a:gs pos="100000">
                      <a:srgbClr val="FFCC00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4121" name="Freeform 78"/>
              <p:cNvSpPr/>
              <p:nvPr/>
            </p:nvSpPr>
            <p:spPr>
              <a:xfrm rot="130244">
                <a:off x="1672" y="2483"/>
                <a:ext cx="31" cy="22"/>
              </a:xfrm>
              <a:custGeom>
                <a:avLst/>
                <a:gdLst>
                  <a:gd name="txL" fmla="*/ 0 w 52"/>
                  <a:gd name="txT" fmla="*/ 0 h 36"/>
                  <a:gd name="txR" fmla="*/ 52 w 52"/>
                  <a:gd name="txB" fmla="*/ 36 h 36"/>
                </a:gdLst>
                <a:ahLst/>
                <a:cxnLst>
                  <a:cxn ang="0">
                    <a:pos x="0" y="11"/>
                  </a:cxn>
                  <a:cxn ang="0">
                    <a:pos x="7" y="0"/>
                  </a:cxn>
                  <a:cxn ang="0">
                    <a:pos x="18" y="2"/>
                  </a:cxn>
                  <a:cxn ang="0">
                    <a:pos x="12" y="13"/>
                  </a:cxn>
                  <a:cxn ang="0">
                    <a:pos x="0" y="11"/>
                  </a:cxn>
                </a:cxnLst>
                <a:rect l="txL" t="txT" r="txR" b="txB"/>
                <a:pathLst>
                  <a:path w="52" h="36">
                    <a:moveTo>
                      <a:pt x="0" y="30"/>
                    </a:moveTo>
                    <a:lnTo>
                      <a:pt x="18" y="0"/>
                    </a:lnTo>
                    <a:lnTo>
                      <a:pt x="52" y="6"/>
                    </a:lnTo>
                    <a:lnTo>
                      <a:pt x="34" y="36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E4700"/>
                  </a:gs>
                  <a:gs pos="100000">
                    <a:srgbClr val="CC9900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22" name="Freeform 79"/>
              <p:cNvSpPr/>
              <p:nvPr/>
            </p:nvSpPr>
            <p:spPr>
              <a:xfrm rot="130244">
                <a:off x="1685" y="2488"/>
                <a:ext cx="24" cy="34"/>
              </a:xfrm>
              <a:custGeom>
                <a:avLst/>
                <a:gdLst>
                  <a:gd name="txL" fmla="*/ 0 w 42"/>
                  <a:gd name="txT" fmla="*/ 0 h 56"/>
                  <a:gd name="txR" fmla="*/ 42 w 42"/>
                  <a:gd name="txB" fmla="*/ 56 h 56"/>
                </a:gdLst>
                <a:ahLst/>
                <a:cxnLst>
                  <a:cxn ang="0">
                    <a:pos x="10" y="0"/>
                  </a:cxn>
                  <a:cxn ang="0">
                    <a:pos x="14" y="11"/>
                  </a:cxn>
                  <a:cxn ang="0">
                    <a:pos x="8" y="21"/>
                  </a:cxn>
                  <a:cxn ang="0">
                    <a:pos x="0" y="6"/>
                  </a:cxn>
                  <a:cxn ang="0">
                    <a:pos x="10" y="0"/>
                  </a:cxn>
                </a:cxnLst>
                <a:rect l="txL" t="txT" r="txR" b="txB"/>
                <a:pathLst>
                  <a:path w="42" h="56">
                    <a:moveTo>
                      <a:pt x="30" y="0"/>
                    </a:moveTo>
                    <a:lnTo>
                      <a:pt x="42" y="29"/>
                    </a:lnTo>
                    <a:lnTo>
                      <a:pt x="24" y="56"/>
                    </a:lnTo>
                    <a:lnTo>
                      <a:pt x="0" y="17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CC9900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23" name="Freeform 80"/>
              <p:cNvSpPr/>
              <p:nvPr/>
            </p:nvSpPr>
            <p:spPr>
              <a:xfrm rot="130244">
                <a:off x="1670" y="2500"/>
                <a:ext cx="159" cy="76"/>
              </a:xfrm>
              <a:custGeom>
                <a:avLst/>
                <a:gdLst>
                  <a:gd name="txL" fmla="*/ 0 w 259"/>
                  <a:gd name="txT" fmla="*/ 0 h 127"/>
                  <a:gd name="txR" fmla="*/ 259 w 259"/>
                  <a:gd name="txB" fmla="*/ 127 h 127"/>
                </a:gdLst>
                <a:ahLst/>
                <a:cxnLst>
                  <a:cxn ang="0">
                    <a:pos x="0" y="1"/>
                  </a:cxn>
                  <a:cxn ang="0">
                    <a:pos x="12" y="0"/>
                  </a:cxn>
                  <a:cxn ang="0">
                    <a:pos x="20" y="16"/>
                  </a:cxn>
                  <a:cxn ang="0">
                    <a:pos x="47" y="17"/>
                  </a:cxn>
                  <a:cxn ang="0">
                    <a:pos x="39" y="1"/>
                  </a:cxn>
                  <a:cxn ang="0">
                    <a:pos x="82" y="6"/>
                  </a:cxn>
                  <a:cxn ang="0">
                    <a:pos x="98" y="45"/>
                  </a:cxn>
                  <a:cxn ang="0">
                    <a:pos x="57" y="40"/>
                  </a:cxn>
                  <a:cxn ang="0">
                    <a:pos x="49" y="23"/>
                  </a:cxn>
                  <a:cxn ang="0">
                    <a:pos x="23" y="23"/>
                  </a:cxn>
                  <a:cxn ang="0">
                    <a:pos x="24" y="29"/>
                  </a:cxn>
                  <a:cxn ang="0">
                    <a:pos x="10" y="26"/>
                  </a:cxn>
                  <a:cxn ang="0">
                    <a:pos x="0" y="1"/>
                  </a:cxn>
                </a:cxnLst>
                <a:rect l="txL" t="txT" r="txR" b="txB"/>
                <a:pathLst>
                  <a:path w="259" h="127">
                    <a:moveTo>
                      <a:pt x="0" y="2"/>
                    </a:moveTo>
                    <a:lnTo>
                      <a:pt x="32" y="0"/>
                    </a:lnTo>
                    <a:lnTo>
                      <a:pt x="52" y="43"/>
                    </a:lnTo>
                    <a:lnTo>
                      <a:pt x="124" y="46"/>
                    </a:lnTo>
                    <a:lnTo>
                      <a:pt x="103" y="1"/>
                    </a:lnTo>
                    <a:lnTo>
                      <a:pt x="217" y="16"/>
                    </a:lnTo>
                    <a:lnTo>
                      <a:pt x="259" y="127"/>
                    </a:lnTo>
                    <a:lnTo>
                      <a:pt x="151" y="112"/>
                    </a:lnTo>
                    <a:lnTo>
                      <a:pt x="130" y="64"/>
                    </a:lnTo>
                    <a:lnTo>
                      <a:pt x="62" y="66"/>
                    </a:lnTo>
                    <a:lnTo>
                      <a:pt x="64" y="82"/>
                    </a:lnTo>
                    <a:lnTo>
                      <a:pt x="28" y="74"/>
                    </a:lnTo>
                    <a:lnTo>
                      <a:pt x="0" y="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C9900"/>
                  </a:gs>
                  <a:gs pos="100000">
                    <a:srgbClr val="5E4700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24" name="Freeform 81"/>
              <p:cNvSpPr/>
              <p:nvPr/>
            </p:nvSpPr>
            <p:spPr>
              <a:xfrm>
                <a:off x="2529" y="1974"/>
                <a:ext cx="163" cy="321"/>
              </a:xfrm>
              <a:custGeom>
                <a:avLst/>
                <a:gdLst>
                  <a:gd name="txL" fmla="*/ 0 w 163"/>
                  <a:gd name="txT" fmla="*/ 0 h 321"/>
                  <a:gd name="txR" fmla="*/ 163 w 163"/>
                  <a:gd name="txB" fmla="*/ 321 h 321"/>
                </a:gdLst>
                <a:ahLst/>
                <a:cxnLst>
                  <a:cxn ang="0">
                    <a:pos x="163" y="0"/>
                  </a:cxn>
                  <a:cxn ang="0">
                    <a:pos x="163" y="102"/>
                  </a:cxn>
                  <a:cxn ang="0">
                    <a:pos x="133" y="138"/>
                  </a:cxn>
                  <a:cxn ang="0">
                    <a:pos x="109" y="174"/>
                  </a:cxn>
                  <a:cxn ang="0">
                    <a:pos x="90" y="216"/>
                  </a:cxn>
                  <a:cxn ang="0">
                    <a:pos x="87" y="273"/>
                  </a:cxn>
                  <a:cxn ang="0">
                    <a:pos x="0" y="321"/>
                  </a:cxn>
                  <a:cxn ang="0">
                    <a:pos x="1" y="246"/>
                  </a:cxn>
                  <a:cxn ang="0">
                    <a:pos x="31" y="156"/>
                  </a:cxn>
                  <a:cxn ang="0">
                    <a:pos x="67" y="108"/>
                  </a:cxn>
                  <a:cxn ang="0">
                    <a:pos x="109" y="48"/>
                  </a:cxn>
                  <a:cxn ang="0">
                    <a:pos x="163" y="0"/>
                  </a:cxn>
                </a:cxnLst>
                <a:rect l="txL" t="txT" r="txR" b="txB"/>
                <a:pathLst>
                  <a:path w="163" h="321">
                    <a:moveTo>
                      <a:pt x="163" y="0"/>
                    </a:moveTo>
                    <a:lnTo>
                      <a:pt x="163" y="102"/>
                    </a:lnTo>
                    <a:lnTo>
                      <a:pt x="133" y="138"/>
                    </a:lnTo>
                    <a:lnTo>
                      <a:pt x="109" y="174"/>
                    </a:lnTo>
                    <a:lnTo>
                      <a:pt x="90" y="216"/>
                    </a:lnTo>
                    <a:lnTo>
                      <a:pt x="87" y="273"/>
                    </a:lnTo>
                    <a:lnTo>
                      <a:pt x="0" y="321"/>
                    </a:lnTo>
                    <a:lnTo>
                      <a:pt x="1" y="246"/>
                    </a:lnTo>
                    <a:lnTo>
                      <a:pt x="31" y="156"/>
                    </a:lnTo>
                    <a:lnTo>
                      <a:pt x="67" y="108"/>
                    </a:lnTo>
                    <a:lnTo>
                      <a:pt x="109" y="48"/>
                    </a:lnTo>
                    <a:lnTo>
                      <a:pt x="1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0C0C0"/>
                  </a:gs>
                  <a:gs pos="100000">
                    <a:srgbClr val="595959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25" name="Freeform 82"/>
              <p:cNvSpPr/>
              <p:nvPr/>
            </p:nvSpPr>
            <p:spPr>
              <a:xfrm>
                <a:off x="2692" y="1980"/>
                <a:ext cx="628" cy="232"/>
              </a:xfrm>
              <a:custGeom>
                <a:avLst/>
                <a:gdLst>
                  <a:gd name="txL" fmla="*/ 0 w 628"/>
                  <a:gd name="txT" fmla="*/ 0 h 232"/>
                  <a:gd name="txR" fmla="*/ 628 w 628"/>
                  <a:gd name="txB" fmla="*/ 232 h 232"/>
                </a:gdLst>
                <a:ahLst/>
                <a:cxnLst>
                  <a:cxn ang="0">
                    <a:pos x="0" y="0"/>
                  </a:cxn>
                  <a:cxn ang="0">
                    <a:pos x="628" y="156"/>
                  </a:cxn>
                  <a:cxn ang="0">
                    <a:pos x="628" y="232"/>
                  </a:cxn>
                  <a:cxn ang="0">
                    <a:pos x="624" y="228"/>
                  </a:cxn>
                  <a:cxn ang="0">
                    <a:pos x="0" y="92"/>
                  </a:cxn>
                  <a:cxn ang="0">
                    <a:pos x="0" y="0"/>
                  </a:cxn>
                </a:cxnLst>
                <a:rect l="txL" t="txT" r="txR" b="txB"/>
                <a:pathLst>
                  <a:path w="628" h="232">
                    <a:moveTo>
                      <a:pt x="0" y="0"/>
                    </a:moveTo>
                    <a:lnTo>
                      <a:pt x="628" y="156"/>
                    </a:lnTo>
                    <a:lnTo>
                      <a:pt x="628" y="232"/>
                    </a:lnTo>
                    <a:lnTo>
                      <a:pt x="624" y="228"/>
                    </a:lnTo>
                    <a:lnTo>
                      <a:pt x="0" y="9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95959"/>
                  </a:gs>
                  <a:gs pos="100000">
                    <a:srgbClr val="C0C0C0"/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26" name="Freeform 83"/>
              <p:cNvSpPr/>
              <p:nvPr/>
            </p:nvSpPr>
            <p:spPr>
              <a:xfrm>
                <a:off x="2532" y="2244"/>
                <a:ext cx="672" cy="208"/>
              </a:xfrm>
              <a:custGeom>
                <a:avLst/>
                <a:gdLst>
                  <a:gd name="txL" fmla="*/ 0 w 672"/>
                  <a:gd name="txT" fmla="*/ 0 h 208"/>
                  <a:gd name="txR" fmla="*/ 672 w 672"/>
                  <a:gd name="txB" fmla="*/ 208 h 208"/>
                </a:gdLst>
                <a:ahLst/>
                <a:cxnLst>
                  <a:cxn ang="0">
                    <a:pos x="84" y="0"/>
                  </a:cxn>
                  <a:cxn ang="0">
                    <a:pos x="672" y="168"/>
                  </a:cxn>
                  <a:cxn ang="0">
                    <a:pos x="616" y="208"/>
                  </a:cxn>
                  <a:cxn ang="0">
                    <a:pos x="0" y="48"/>
                  </a:cxn>
                  <a:cxn ang="0">
                    <a:pos x="84" y="0"/>
                  </a:cxn>
                </a:cxnLst>
                <a:rect l="txL" t="txT" r="txR" b="txB"/>
                <a:pathLst>
                  <a:path w="672" h="208">
                    <a:moveTo>
                      <a:pt x="84" y="0"/>
                    </a:moveTo>
                    <a:lnTo>
                      <a:pt x="672" y="168"/>
                    </a:lnTo>
                    <a:lnTo>
                      <a:pt x="616" y="208"/>
                    </a:lnTo>
                    <a:lnTo>
                      <a:pt x="0" y="48"/>
                    </a:lnTo>
                    <a:lnTo>
                      <a:pt x="8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95959"/>
                  </a:gs>
                  <a:gs pos="100000">
                    <a:srgbClr val="C0C0C0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27" name="Freeform 84"/>
              <p:cNvSpPr/>
              <p:nvPr/>
            </p:nvSpPr>
            <p:spPr>
              <a:xfrm>
                <a:off x="3177" y="2177"/>
                <a:ext cx="216" cy="356"/>
              </a:xfrm>
              <a:custGeom>
                <a:avLst/>
                <a:gdLst>
                  <a:gd name="txL" fmla="*/ 0 w 216"/>
                  <a:gd name="txT" fmla="*/ 0 h 356"/>
                  <a:gd name="txR" fmla="*/ 216 w 216"/>
                  <a:gd name="txB" fmla="*/ 356 h 356"/>
                </a:gdLst>
                <a:ahLst/>
                <a:cxnLst>
                  <a:cxn ang="0">
                    <a:pos x="135" y="39"/>
                  </a:cxn>
                  <a:cxn ang="0">
                    <a:pos x="199" y="11"/>
                  </a:cxn>
                  <a:cxn ang="0">
                    <a:pos x="215" y="107"/>
                  </a:cxn>
                  <a:cxn ang="0">
                    <a:pos x="195" y="219"/>
                  </a:cxn>
                  <a:cxn ang="0">
                    <a:pos x="91" y="343"/>
                  </a:cxn>
                  <a:cxn ang="0">
                    <a:pos x="3" y="295"/>
                  </a:cxn>
                  <a:cxn ang="0">
                    <a:pos x="75" y="259"/>
                  </a:cxn>
                  <a:cxn ang="0">
                    <a:pos x="126" y="223"/>
                  </a:cxn>
                  <a:cxn ang="0">
                    <a:pos x="147" y="160"/>
                  </a:cxn>
                  <a:cxn ang="0">
                    <a:pos x="147" y="143"/>
                  </a:cxn>
                  <a:cxn ang="0">
                    <a:pos x="156" y="97"/>
                  </a:cxn>
                  <a:cxn ang="0">
                    <a:pos x="135" y="39"/>
                  </a:cxn>
                </a:cxnLst>
                <a:rect l="txL" t="txT" r="txR" b="txB"/>
                <a:pathLst>
                  <a:path w="216" h="356">
                    <a:moveTo>
                      <a:pt x="135" y="39"/>
                    </a:moveTo>
                    <a:cubicBezTo>
                      <a:pt x="144" y="28"/>
                      <a:pt x="186" y="0"/>
                      <a:pt x="199" y="11"/>
                    </a:cubicBezTo>
                    <a:cubicBezTo>
                      <a:pt x="212" y="22"/>
                      <a:pt x="216" y="72"/>
                      <a:pt x="215" y="107"/>
                    </a:cubicBezTo>
                    <a:cubicBezTo>
                      <a:pt x="214" y="142"/>
                      <a:pt x="216" y="180"/>
                      <a:pt x="195" y="219"/>
                    </a:cubicBezTo>
                    <a:cubicBezTo>
                      <a:pt x="174" y="258"/>
                      <a:pt x="123" y="330"/>
                      <a:pt x="91" y="343"/>
                    </a:cubicBezTo>
                    <a:cubicBezTo>
                      <a:pt x="59" y="356"/>
                      <a:pt x="6" y="309"/>
                      <a:pt x="3" y="295"/>
                    </a:cubicBezTo>
                    <a:cubicBezTo>
                      <a:pt x="0" y="281"/>
                      <a:pt x="55" y="271"/>
                      <a:pt x="75" y="259"/>
                    </a:cubicBezTo>
                    <a:cubicBezTo>
                      <a:pt x="95" y="247"/>
                      <a:pt x="114" y="239"/>
                      <a:pt x="126" y="223"/>
                    </a:cubicBezTo>
                    <a:cubicBezTo>
                      <a:pt x="138" y="207"/>
                      <a:pt x="144" y="173"/>
                      <a:pt x="147" y="160"/>
                    </a:cubicBezTo>
                    <a:cubicBezTo>
                      <a:pt x="150" y="147"/>
                      <a:pt x="146" y="153"/>
                      <a:pt x="147" y="143"/>
                    </a:cubicBezTo>
                    <a:cubicBezTo>
                      <a:pt x="148" y="133"/>
                      <a:pt x="158" y="114"/>
                      <a:pt x="156" y="97"/>
                    </a:cubicBezTo>
                    <a:cubicBezTo>
                      <a:pt x="154" y="80"/>
                      <a:pt x="139" y="51"/>
                      <a:pt x="135" y="3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363636"/>
                  </a:gs>
                  <a:gs pos="100000">
                    <a:srgbClr val="B2B2B2"/>
                  </a:gs>
                </a:gsLst>
                <a:lin ang="0" scaled="1"/>
                <a:tileRect/>
              </a:gradFill>
              <a:ln w="317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28" name="Freeform 85"/>
              <p:cNvSpPr/>
              <p:nvPr/>
            </p:nvSpPr>
            <p:spPr>
              <a:xfrm>
                <a:off x="3154" y="2102"/>
                <a:ext cx="292" cy="466"/>
              </a:xfrm>
              <a:custGeom>
                <a:avLst/>
                <a:gdLst>
                  <a:gd name="txL" fmla="*/ 0 w 292"/>
                  <a:gd name="txT" fmla="*/ 0 h 466"/>
                  <a:gd name="txR" fmla="*/ 292 w 292"/>
                  <a:gd name="txB" fmla="*/ 466 h 466"/>
                </a:gdLst>
                <a:ahLst/>
                <a:cxnLst>
                  <a:cxn ang="0">
                    <a:pos x="168" y="28"/>
                  </a:cxn>
                  <a:cxn ang="0">
                    <a:pos x="167" y="103"/>
                  </a:cxn>
                  <a:cxn ang="0">
                    <a:pos x="204" y="104"/>
                  </a:cxn>
                  <a:cxn ang="0">
                    <a:pos x="228" y="128"/>
                  </a:cxn>
                  <a:cxn ang="0">
                    <a:pos x="230" y="166"/>
                  </a:cxn>
                  <a:cxn ang="0">
                    <a:pos x="228" y="212"/>
                  </a:cxn>
                  <a:cxn ang="0">
                    <a:pos x="216" y="256"/>
                  </a:cxn>
                  <a:cxn ang="0">
                    <a:pos x="200" y="304"/>
                  </a:cxn>
                  <a:cxn ang="0">
                    <a:pos x="176" y="340"/>
                  </a:cxn>
                  <a:cxn ang="0">
                    <a:pos x="136" y="376"/>
                  </a:cxn>
                  <a:cxn ang="0">
                    <a:pos x="100" y="384"/>
                  </a:cxn>
                  <a:cxn ang="0">
                    <a:pos x="74" y="370"/>
                  </a:cxn>
                  <a:cxn ang="0">
                    <a:pos x="56" y="332"/>
                  </a:cxn>
                  <a:cxn ang="0">
                    <a:pos x="56" y="300"/>
                  </a:cxn>
                  <a:cxn ang="0">
                    <a:pos x="0" y="332"/>
                  </a:cxn>
                  <a:cxn ang="0">
                    <a:pos x="8" y="376"/>
                  </a:cxn>
                  <a:cxn ang="0">
                    <a:pos x="16" y="404"/>
                  </a:cxn>
                  <a:cxn ang="0">
                    <a:pos x="28" y="436"/>
                  </a:cxn>
                  <a:cxn ang="0">
                    <a:pos x="80" y="466"/>
                  </a:cxn>
                  <a:cxn ang="0">
                    <a:pos x="122" y="457"/>
                  </a:cxn>
                  <a:cxn ang="0">
                    <a:pos x="152" y="440"/>
                  </a:cxn>
                  <a:cxn ang="0">
                    <a:pos x="204" y="384"/>
                  </a:cxn>
                  <a:cxn ang="0">
                    <a:pos x="252" y="300"/>
                  </a:cxn>
                  <a:cxn ang="0">
                    <a:pos x="278" y="226"/>
                  </a:cxn>
                  <a:cxn ang="0">
                    <a:pos x="292" y="152"/>
                  </a:cxn>
                  <a:cxn ang="0">
                    <a:pos x="292" y="92"/>
                  </a:cxn>
                  <a:cxn ang="0">
                    <a:pos x="284" y="56"/>
                  </a:cxn>
                  <a:cxn ang="0">
                    <a:pos x="264" y="16"/>
                  </a:cxn>
                  <a:cxn ang="0">
                    <a:pos x="236" y="0"/>
                  </a:cxn>
                  <a:cxn ang="0">
                    <a:pos x="200" y="4"/>
                  </a:cxn>
                  <a:cxn ang="0">
                    <a:pos x="168" y="28"/>
                  </a:cxn>
                </a:cxnLst>
                <a:rect l="txL" t="txT" r="txR" b="txB"/>
                <a:pathLst>
                  <a:path w="292" h="466">
                    <a:moveTo>
                      <a:pt x="168" y="28"/>
                    </a:moveTo>
                    <a:lnTo>
                      <a:pt x="167" y="103"/>
                    </a:lnTo>
                    <a:lnTo>
                      <a:pt x="204" y="104"/>
                    </a:lnTo>
                    <a:lnTo>
                      <a:pt x="228" y="128"/>
                    </a:lnTo>
                    <a:lnTo>
                      <a:pt x="230" y="166"/>
                    </a:lnTo>
                    <a:lnTo>
                      <a:pt x="228" y="212"/>
                    </a:lnTo>
                    <a:lnTo>
                      <a:pt x="216" y="256"/>
                    </a:lnTo>
                    <a:lnTo>
                      <a:pt x="200" y="304"/>
                    </a:lnTo>
                    <a:lnTo>
                      <a:pt x="176" y="340"/>
                    </a:lnTo>
                    <a:lnTo>
                      <a:pt x="136" y="376"/>
                    </a:lnTo>
                    <a:lnTo>
                      <a:pt x="100" y="384"/>
                    </a:lnTo>
                    <a:lnTo>
                      <a:pt x="74" y="370"/>
                    </a:lnTo>
                    <a:lnTo>
                      <a:pt x="56" y="332"/>
                    </a:lnTo>
                    <a:lnTo>
                      <a:pt x="56" y="300"/>
                    </a:lnTo>
                    <a:lnTo>
                      <a:pt x="0" y="332"/>
                    </a:lnTo>
                    <a:lnTo>
                      <a:pt x="8" y="376"/>
                    </a:lnTo>
                    <a:lnTo>
                      <a:pt x="16" y="404"/>
                    </a:lnTo>
                    <a:lnTo>
                      <a:pt x="28" y="436"/>
                    </a:lnTo>
                    <a:lnTo>
                      <a:pt x="80" y="466"/>
                    </a:lnTo>
                    <a:lnTo>
                      <a:pt x="122" y="457"/>
                    </a:lnTo>
                    <a:lnTo>
                      <a:pt x="152" y="440"/>
                    </a:lnTo>
                    <a:lnTo>
                      <a:pt x="204" y="384"/>
                    </a:lnTo>
                    <a:lnTo>
                      <a:pt x="252" y="300"/>
                    </a:lnTo>
                    <a:lnTo>
                      <a:pt x="278" y="226"/>
                    </a:lnTo>
                    <a:lnTo>
                      <a:pt x="292" y="152"/>
                    </a:lnTo>
                    <a:lnTo>
                      <a:pt x="292" y="92"/>
                    </a:lnTo>
                    <a:lnTo>
                      <a:pt x="284" y="56"/>
                    </a:lnTo>
                    <a:lnTo>
                      <a:pt x="264" y="16"/>
                    </a:lnTo>
                    <a:lnTo>
                      <a:pt x="236" y="0"/>
                    </a:lnTo>
                    <a:lnTo>
                      <a:pt x="200" y="4"/>
                    </a:lnTo>
                    <a:lnTo>
                      <a:pt x="168" y="28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29" name="Freeform 86"/>
              <p:cNvSpPr/>
              <p:nvPr/>
            </p:nvSpPr>
            <p:spPr>
              <a:xfrm>
                <a:off x="2924" y="2092"/>
                <a:ext cx="40" cy="220"/>
              </a:xfrm>
              <a:custGeom>
                <a:avLst/>
                <a:gdLst>
                  <a:gd name="txL" fmla="*/ 0 w 40"/>
                  <a:gd name="txT" fmla="*/ 0 h 220"/>
                  <a:gd name="txR" fmla="*/ 40 w 40"/>
                  <a:gd name="txB" fmla="*/ 220 h 220"/>
                </a:gdLst>
                <a:ahLst/>
                <a:cxnLst>
                  <a:cxn ang="0">
                    <a:pos x="36" y="0"/>
                  </a:cxn>
                  <a:cxn ang="0">
                    <a:pos x="40" y="64"/>
                  </a:cxn>
                  <a:cxn ang="0">
                    <a:pos x="32" y="132"/>
                  </a:cxn>
                  <a:cxn ang="0">
                    <a:pos x="8" y="220"/>
                  </a:cxn>
                  <a:cxn ang="0">
                    <a:pos x="0" y="188"/>
                  </a:cxn>
                  <a:cxn ang="0">
                    <a:pos x="16" y="96"/>
                  </a:cxn>
                  <a:cxn ang="0">
                    <a:pos x="12" y="12"/>
                  </a:cxn>
                  <a:cxn ang="0">
                    <a:pos x="36" y="0"/>
                  </a:cxn>
                </a:cxnLst>
                <a:rect l="txL" t="txT" r="txR" b="txB"/>
                <a:pathLst>
                  <a:path w="40" h="220">
                    <a:moveTo>
                      <a:pt x="36" y="0"/>
                    </a:moveTo>
                    <a:lnTo>
                      <a:pt x="40" y="64"/>
                    </a:lnTo>
                    <a:lnTo>
                      <a:pt x="32" y="132"/>
                    </a:lnTo>
                    <a:lnTo>
                      <a:pt x="8" y="220"/>
                    </a:lnTo>
                    <a:lnTo>
                      <a:pt x="0" y="188"/>
                    </a:lnTo>
                    <a:lnTo>
                      <a:pt x="16" y="96"/>
                    </a:lnTo>
                    <a:lnTo>
                      <a:pt x="12" y="12"/>
                    </a:lnTo>
                    <a:lnTo>
                      <a:pt x="3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525252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30" name="Freeform 87"/>
              <p:cNvSpPr/>
              <p:nvPr/>
            </p:nvSpPr>
            <p:spPr>
              <a:xfrm>
                <a:off x="2976" y="2108"/>
                <a:ext cx="72" cy="280"/>
              </a:xfrm>
              <a:custGeom>
                <a:avLst/>
                <a:gdLst>
                  <a:gd name="txL" fmla="*/ 0 w 72"/>
                  <a:gd name="txT" fmla="*/ 0 h 280"/>
                  <a:gd name="txR" fmla="*/ 72 w 72"/>
                  <a:gd name="txB" fmla="*/ 280 h 280"/>
                </a:gdLst>
                <a:ahLst/>
                <a:cxnLst>
                  <a:cxn ang="0">
                    <a:pos x="40" y="0"/>
                  </a:cxn>
                  <a:cxn ang="0">
                    <a:pos x="72" y="40"/>
                  </a:cxn>
                  <a:cxn ang="0">
                    <a:pos x="63" y="121"/>
                  </a:cxn>
                  <a:cxn ang="0">
                    <a:pos x="57" y="187"/>
                  </a:cxn>
                  <a:cxn ang="0">
                    <a:pos x="32" y="248"/>
                  </a:cxn>
                  <a:cxn ang="0">
                    <a:pos x="21" y="280"/>
                  </a:cxn>
                  <a:cxn ang="0">
                    <a:pos x="0" y="244"/>
                  </a:cxn>
                  <a:cxn ang="0">
                    <a:pos x="24" y="166"/>
                  </a:cxn>
                  <a:cxn ang="0">
                    <a:pos x="28" y="108"/>
                  </a:cxn>
                  <a:cxn ang="0">
                    <a:pos x="28" y="44"/>
                  </a:cxn>
                  <a:cxn ang="0">
                    <a:pos x="40" y="0"/>
                  </a:cxn>
                </a:cxnLst>
                <a:rect l="txL" t="txT" r="txR" b="txB"/>
                <a:pathLst>
                  <a:path w="72" h="280">
                    <a:moveTo>
                      <a:pt x="40" y="0"/>
                    </a:moveTo>
                    <a:lnTo>
                      <a:pt x="72" y="40"/>
                    </a:lnTo>
                    <a:lnTo>
                      <a:pt x="63" y="121"/>
                    </a:lnTo>
                    <a:lnTo>
                      <a:pt x="57" y="187"/>
                    </a:lnTo>
                    <a:lnTo>
                      <a:pt x="32" y="248"/>
                    </a:lnTo>
                    <a:lnTo>
                      <a:pt x="21" y="280"/>
                    </a:lnTo>
                    <a:lnTo>
                      <a:pt x="0" y="244"/>
                    </a:lnTo>
                    <a:lnTo>
                      <a:pt x="24" y="166"/>
                    </a:lnTo>
                    <a:lnTo>
                      <a:pt x="28" y="108"/>
                    </a:lnTo>
                    <a:lnTo>
                      <a:pt x="28" y="44"/>
                    </a:lnTo>
                    <a:lnTo>
                      <a:pt x="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25252"/>
                  </a:gs>
                  <a:gs pos="100000">
                    <a:srgbClr val="B2B2B2"/>
                  </a:gs>
                </a:gsLst>
                <a:lin ang="0" scaled="1"/>
                <a:tileRect/>
              </a:gradFill>
              <a:ln w="317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31" name="Freeform 88"/>
              <p:cNvSpPr/>
              <p:nvPr/>
            </p:nvSpPr>
            <p:spPr>
              <a:xfrm>
                <a:off x="2996" y="2120"/>
                <a:ext cx="88" cy="272"/>
              </a:xfrm>
              <a:custGeom>
                <a:avLst/>
                <a:gdLst>
                  <a:gd name="txL" fmla="*/ 0 w 88"/>
                  <a:gd name="txT" fmla="*/ 0 h 272"/>
                  <a:gd name="txR" fmla="*/ 88 w 88"/>
                  <a:gd name="txB" fmla="*/ 272 h 272"/>
                </a:gdLst>
                <a:ahLst/>
                <a:cxnLst>
                  <a:cxn ang="0">
                    <a:pos x="76" y="0"/>
                  </a:cxn>
                  <a:cxn ang="0">
                    <a:pos x="49" y="25"/>
                  </a:cxn>
                  <a:cxn ang="0">
                    <a:pos x="46" y="76"/>
                  </a:cxn>
                  <a:cxn ang="0">
                    <a:pos x="46" y="124"/>
                  </a:cxn>
                  <a:cxn ang="0">
                    <a:pos x="32" y="200"/>
                  </a:cxn>
                  <a:cxn ang="0">
                    <a:pos x="0" y="272"/>
                  </a:cxn>
                  <a:cxn ang="0">
                    <a:pos x="36" y="244"/>
                  </a:cxn>
                  <a:cxn ang="0">
                    <a:pos x="56" y="204"/>
                  </a:cxn>
                  <a:cxn ang="0">
                    <a:pos x="76" y="152"/>
                  </a:cxn>
                  <a:cxn ang="0">
                    <a:pos x="88" y="88"/>
                  </a:cxn>
                  <a:cxn ang="0">
                    <a:pos x="76" y="0"/>
                  </a:cxn>
                </a:cxnLst>
                <a:rect l="txL" t="txT" r="txR" b="txB"/>
                <a:pathLst>
                  <a:path w="88" h="272">
                    <a:moveTo>
                      <a:pt x="76" y="0"/>
                    </a:moveTo>
                    <a:lnTo>
                      <a:pt x="49" y="25"/>
                    </a:lnTo>
                    <a:lnTo>
                      <a:pt x="46" y="76"/>
                    </a:lnTo>
                    <a:lnTo>
                      <a:pt x="46" y="124"/>
                    </a:lnTo>
                    <a:lnTo>
                      <a:pt x="32" y="200"/>
                    </a:lnTo>
                    <a:lnTo>
                      <a:pt x="0" y="272"/>
                    </a:lnTo>
                    <a:lnTo>
                      <a:pt x="36" y="244"/>
                    </a:lnTo>
                    <a:lnTo>
                      <a:pt x="56" y="204"/>
                    </a:lnTo>
                    <a:lnTo>
                      <a:pt x="76" y="152"/>
                    </a:lnTo>
                    <a:lnTo>
                      <a:pt x="88" y="88"/>
                    </a:lnTo>
                    <a:lnTo>
                      <a:pt x="7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525252"/>
                  </a:gs>
                </a:gsLst>
                <a:lin ang="0" scaled="1"/>
                <a:tileRect/>
              </a:gradFill>
              <a:ln w="317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32" name="Freeform 89"/>
              <p:cNvSpPr/>
              <p:nvPr/>
            </p:nvSpPr>
            <p:spPr>
              <a:xfrm>
                <a:off x="3032" y="2124"/>
                <a:ext cx="80" cy="284"/>
              </a:xfrm>
              <a:custGeom>
                <a:avLst/>
                <a:gdLst>
                  <a:gd name="txL" fmla="*/ 0 w 80"/>
                  <a:gd name="txT" fmla="*/ 0 h 284"/>
                  <a:gd name="txR" fmla="*/ 80 w 80"/>
                  <a:gd name="txB" fmla="*/ 284 h 284"/>
                </a:gdLst>
                <a:ahLst/>
                <a:cxnLst>
                  <a:cxn ang="0">
                    <a:pos x="40" y="0"/>
                  </a:cxn>
                  <a:cxn ang="0">
                    <a:pos x="80" y="36"/>
                  </a:cxn>
                  <a:cxn ang="0">
                    <a:pos x="76" y="116"/>
                  </a:cxn>
                  <a:cxn ang="0">
                    <a:pos x="64" y="180"/>
                  </a:cxn>
                  <a:cxn ang="0">
                    <a:pos x="32" y="248"/>
                  </a:cxn>
                  <a:cxn ang="0">
                    <a:pos x="20" y="284"/>
                  </a:cxn>
                  <a:cxn ang="0">
                    <a:pos x="0" y="244"/>
                  </a:cxn>
                  <a:cxn ang="0">
                    <a:pos x="32" y="156"/>
                  </a:cxn>
                  <a:cxn ang="0">
                    <a:pos x="28" y="108"/>
                  </a:cxn>
                  <a:cxn ang="0">
                    <a:pos x="28" y="44"/>
                  </a:cxn>
                  <a:cxn ang="0">
                    <a:pos x="40" y="0"/>
                  </a:cxn>
                </a:cxnLst>
                <a:rect l="txL" t="txT" r="txR" b="txB"/>
                <a:pathLst>
                  <a:path w="80" h="284">
                    <a:moveTo>
                      <a:pt x="40" y="0"/>
                    </a:moveTo>
                    <a:lnTo>
                      <a:pt x="80" y="36"/>
                    </a:lnTo>
                    <a:lnTo>
                      <a:pt x="76" y="116"/>
                    </a:lnTo>
                    <a:lnTo>
                      <a:pt x="64" y="180"/>
                    </a:lnTo>
                    <a:lnTo>
                      <a:pt x="32" y="248"/>
                    </a:lnTo>
                    <a:lnTo>
                      <a:pt x="20" y="284"/>
                    </a:lnTo>
                    <a:lnTo>
                      <a:pt x="0" y="244"/>
                    </a:lnTo>
                    <a:lnTo>
                      <a:pt x="32" y="156"/>
                    </a:lnTo>
                    <a:lnTo>
                      <a:pt x="28" y="108"/>
                    </a:lnTo>
                    <a:lnTo>
                      <a:pt x="28" y="44"/>
                    </a:lnTo>
                    <a:lnTo>
                      <a:pt x="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25252"/>
                  </a:gs>
                  <a:gs pos="100000">
                    <a:srgbClr val="B2B2B2"/>
                  </a:gs>
                </a:gsLst>
                <a:lin ang="0" scaled="1"/>
                <a:tileRect/>
              </a:gradFill>
              <a:ln w="317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33" name="Freeform 90"/>
              <p:cNvSpPr/>
              <p:nvPr/>
            </p:nvSpPr>
            <p:spPr>
              <a:xfrm>
                <a:off x="3052" y="2136"/>
                <a:ext cx="88" cy="272"/>
              </a:xfrm>
              <a:custGeom>
                <a:avLst/>
                <a:gdLst>
                  <a:gd name="txL" fmla="*/ 0 w 88"/>
                  <a:gd name="txT" fmla="*/ 0 h 272"/>
                  <a:gd name="txR" fmla="*/ 88 w 88"/>
                  <a:gd name="txB" fmla="*/ 272 h 272"/>
                </a:gdLst>
                <a:ahLst/>
                <a:cxnLst>
                  <a:cxn ang="0">
                    <a:pos x="76" y="0"/>
                  </a:cxn>
                  <a:cxn ang="0">
                    <a:pos x="47" y="21"/>
                  </a:cxn>
                  <a:cxn ang="0">
                    <a:pos x="48" y="72"/>
                  </a:cxn>
                  <a:cxn ang="0">
                    <a:pos x="44" y="129"/>
                  </a:cxn>
                  <a:cxn ang="0">
                    <a:pos x="29" y="198"/>
                  </a:cxn>
                  <a:cxn ang="0">
                    <a:pos x="0" y="272"/>
                  </a:cxn>
                  <a:cxn ang="0">
                    <a:pos x="36" y="244"/>
                  </a:cxn>
                  <a:cxn ang="0">
                    <a:pos x="56" y="204"/>
                  </a:cxn>
                  <a:cxn ang="0">
                    <a:pos x="76" y="152"/>
                  </a:cxn>
                  <a:cxn ang="0">
                    <a:pos x="88" y="88"/>
                  </a:cxn>
                  <a:cxn ang="0">
                    <a:pos x="76" y="0"/>
                  </a:cxn>
                </a:cxnLst>
                <a:rect l="txL" t="txT" r="txR" b="txB"/>
                <a:pathLst>
                  <a:path w="88" h="272">
                    <a:moveTo>
                      <a:pt x="76" y="0"/>
                    </a:moveTo>
                    <a:lnTo>
                      <a:pt x="47" y="21"/>
                    </a:lnTo>
                    <a:lnTo>
                      <a:pt x="48" y="72"/>
                    </a:lnTo>
                    <a:lnTo>
                      <a:pt x="44" y="129"/>
                    </a:lnTo>
                    <a:lnTo>
                      <a:pt x="29" y="198"/>
                    </a:lnTo>
                    <a:lnTo>
                      <a:pt x="0" y="272"/>
                    </a:lnTo>
                    <a:lnTo>
                      <a:pt x="36" y="244"/>
                    </a:lnTo>
                    <a:lnTo>
                      <a:pt x="56" y="204"/>
                    </a:lnTo>
                    <a:lnTo>
                      <a:pt x="76" y="152"/>
                    </a:lnTo>
                    <a:lnTo>
                      <a:pt x="88" y="88"/>
                    </a:lnTo>
                    <a:lnTo>
                      <a:pt x="7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525252"/>
                  </a:gs>
                </a:gsLst>
                <a:lin ang="0" scaled="1"/>
                <a:tileRect/>
              </a:gradFill>
              <a:ln w="317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34" name="Freeform 91"/>
              <p:cNvSpPr/>
              <p:nvPr/>
            </p:nvSpPr>
            <p:spPr>
              <a:xfrm>
                <a:off x="3088" y="2136"/>
                <a:ext cx="80" cy="284"/>
              </a:xfrm>
              <a:custGeom>
                <a:avLst/>
                <a:gdLst>
                  <a:gd name="txL" fmla="*/ 0 w 80"/>
                  <a:gd name="txT" fmla="*/ 0 h 284"/>
                  <a:gd name="txR" fmla="*/ 80 w 80"/>
                  <a:gd name="txB" fmla="*/ 284 h 284"/>
                </a:gdLst>
                <a:ahLst/>
                <a:cxnLst>
                  <a:cxn ang="0">
                    <a:pos x="40" y="0"/>
                  </a:cxn>
                  <a:cxn ang="0">
                    <a:pos x="80" y="36"/>
                  </a:cxn>
                  <a:cxn ang="0">
                    <a:pos x="76" y="116"/>
                  </a:cxn>
                  <a:cxn ang="0">
                    <a:pos x="64" y="180"/>
                  </a:cxn>
                  <a:cxn ang="0">
                    <a:pos x="32" y="248"/>
                  </a:cxn>
                  <a:cxn ang="0">
                    <a:pos x="20" y="284"/>
                  </a:cxn>
                  <a:cxn ang="0">
                    <a:pos x="0" y="244"/>
                  </a:cxn>
                  <a:cxn ang="0">
                    <a:pos x="32" y="156"/>
                  </a:cxn>
                  <a:cxn ang="0">
                    <a:pos x="28" y="108"/>
                  </a:cxn>
                  <a:cxn ang="0">
                    <a:pos x="28" y="44"/>
                  </a:cxn>
                  <a:cxn ang="0">
                    <a:pos x="40" y="0"/>
                  </a:cxn>
                </a:cxnLst>
                <a:rect l="txL" t="txT" r="txR" b="txB"/>
                <a:pathLst>
                  <a:path w="80" h="284">
                    <a:moveTo>
                      <a:pt x="40" y="0"/>
                    </a:moveTo>
                    <a:lnTo>
                      <a:pt x="80" y="36"/>
                    </a:lnTo>
                    <a:lnTo>
                      <a:pt x="76" y="116"/>
                    </a:lnTo>
                    <a:lnTo>
                      <a:pt x="64" y="180"/>
                    </a:lnTo>
                    <a:lnTo>
                      <a:pt x="32" y="248"/>
                    </a:lnTo>
                    <a:lnTo>
                      <a:pt x="20" y="284"/>
                    </a:lnTo>
                    <a:lnTo>
                      <a:pt x="0" y="244"/>
                    </a:lnTo>
                    <a:lnTo>
                      <a:pt x="32" y="156"/>
                    </a:lnTo>
                    <a:lnTo>
                      <a:pt x="28" y="108"/>
                    </a:lnTo>
                    <a:lnTo>
                      <a:pt x="28" y="44"/>
                    </a:lnTo>
                    <a:lnTo>
                      <a:pt x="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25252"/>
                  </a:gs>
                  <a:gs pos="100000">
                    <a:srgbClr val="B2B2B2"/>
                  </a:gs>
                </a:gsLst>
                <a:lin ang="0" scaled="1"/>
                <a:tileRect/>
              </a:gradFill>
              <a:ln w="317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35" name="Freeform 92"/>
              <p:cNvSpPr/>
              <p:nvPr/>
            </p:nvSpPr>
            <p:spPr>
              <a:xfrm>
                <a:off x="3108" y="2148"/>
                <a:ext cx="88" cy="272"/>
              </a:xfrm>
              <a:custGeom>
                <a:avLst/>
                <a:gdLst>
                  <a:gd name="txL" fmla="*/ 0 w 88"/>
                  <a:gd name="txT" fmla="*/ 0 h 272"/>
                  <a:gd name="txR" fmla="*/ 88 w 88"/>
                  <a:gd name="txB" fmla="*/ 272 h 272"/>
                </a:gdLst>
                <a:ahLst/>
                <a:cxnLst>
                  <a:cxn ang="0">
                    <a:pos x="76" y="0"/>
                  </a:cxn>
                  <a:cxn ang="0">
                    <a:pos x="48" y="21"/>
                  </a:cxn>
                  <a:cxn ang="0">
                    <a:pos x="45" y="78"/>
                  </a:cxn>
                  <a:cxn ang="0">
                    <a:pos x="42" y="135"/>
                  </a:cxn>
                  <a:cxn ang="0">
                    <a:pos x="27" y="204"/>
                  </a:cxn>
                  <a:cxn ang="0">
                    <a:pos x="0" y="272"/>
                  </a:cxn>
                  <a:cxn ang="0">
                    <a:pos x="36" y="244"/>
                  </a:cxn>
                  <a:cxn ang="0">
                    <a:pos x="56" y="204"/>
                  </a:cxn>
                  <a:cxn ang="0">
                    <a:pos x="76" y="152"/>
                  </a:cxn>
                  <a:cxn ang="0">
                    <a:pos x="88" y="88"/>
                  </a:cxn>
                  <a:cxn ang="0">
                    <a:pos x="76" y="0"/>
                  </a:cxn>
                </a:cxnLst>
                <a:rect l="txL" t="txT" r="txR" b="txB"/>
                <a:pathLst>
                  <a:path w="88" h="272">
                    <a:moveTo>
                      <a:pt x="76" y="0"/>
                    </a:moveTo>
                    <a:lnTo>
                      <a:pt x="48" y="21"/>
                    </a:lnTo>
                    <a:lnTo>
                      <a:pt x="45" y="78"/>
                    </a:lnTo>
                    <a:lnTo>
                      <a:pt x="42" y="135"/>
                    </a:lnTo>
                    <a:lnTo>
                      <a:pt x="27" y="204"/>
                    </a:lnTo>
                    <a:lnTo>
                      <a:pt x="0" y="272"/>
                    </a:lnTo>
                    <a:lnTo>
                      <a:pt x="36" y="244"/>
                    </a:lnTo>
                    <a:lnTo>
                      <a:pt x="56" y="204"/>
                    </a:lnTo>
                    <a:lnTo>
                      <a:pt x="76" y="152"/>
                    </a:lnTo>
                    <a:lnTo>
                      <a:pt x="88" y="88"/>
                    </a:lnTo>
                    <a:lnTo>
                      <a:pt x="7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525252"/>
                  </a:gs>
                </a:gsLst>
                <a:lin ang="0" scaled="1"/>
                <a:tileRect/>
              </a:gradFill>
              <a:ln w="317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36" name="Freeform 93"/>
              <p:cNvSpPr/>
              <p:nvPr/>
            </p:nvSpPr>
            <p:spPr>
              <a:xfrm>
                <a:off x="3140" y="2148"/>
                <a:ext cx="70" cy="284"/>
              </a:xfrm>
              <a:custGeom>
                <a:avLst/>
                <a:gdLst>
                  <a:gd name="txL" fmla="*/ 0 w 70"/>
                  <a:gd name="txT" fmla="*/ 0 h 284"/>
                  <a:gd name="txR" fmla="*/ 70 w 70"/>
                  <a:gd name="txB" fmla="*/ 284 h 284"/>
                </a:gdLst>
                <a:ahLst/>
                <a:cxnLst>
                  <a:cxn ang="0">
                    <a:pos x="40" y="0"/>
                  </a:cxn>
                  <a:cxn ang="0">
                    <a:pos x="67" y="33"/>
                  </a:cxn>
                  <a:cxn ang="0">
                    <a:pos x="70" y="120"/>
                  </a:cxn>
                  <a:cxn ang="0">
                    <a:pos x="64" y="180"/>
                  </a:cxn>
                  <a:cxn ang="0">
                    <a:pos x="32" y="248"/>
                  </a:cxn>
                  <a:cxn ang="0">
                    <a:pos x="20" y="284"/>
                  </a:cxn>
                  <a:cxn ang="0">
                    <a:pos x="0" y="244"/>
                  </a:cxn>
                  <a:cxn ang="0">
                    <a:pos x="32" y="156"/>
                  </a:cxn>
                  <a:cxn ang="0">
                    <a:pos x="28" y="108"/>
                  </a:cxn>
                  <a:cxn ang="0">
                    <a:pos x="37" y="39"/>
                  </a:cxn>
                  <a:cxn ang="0">
                    <a:pos x="40" y="0"/>
                  </a:cxn>
                </a:cxnLst>
                <a:rect l="txL" t="txT" r="txR" b="txB"/>
                <a:pathLst>
                  <a:path w="70" h="284">
                    <a:moveTo>
                      <a:pt x="40" y="0"/>
                    </a:moveTo>
                    <a:lnTo>
                      <a:pt x="67" y="33"/>
                    </a:lnTo>
                    <a:lnTo>
                      <a:pt x="70" y="120"/>
                    </a:lnTo>
                    <a:lnTo>
                      <a:pt x="64" y="180"/>
                    </a:lnTo>
                    <a:lnTo>
                      <a:pt x="32" y="248"/>
                    </a:lnTo>
                    <a:lnTo>
                      <a:pt x="20" y="284"/>
                    </a:lnTo>
                    <a:lnTo>
                      <a:pt x="0" y="244"/>
                    </a:lnTo>
                    <a:lnTo>
                      <a:pt x="32" y="156"/>
                    </a:lnTo>
                    <a:lnTo>
                      <a:pt x="28" y="108"/>
                    </a:lnTo>
                    <a:lnTo>
                      <a:pt x="37" y="39"/>
                    </a:lnTo>
                    <a:lnTo>
                      <a:pt x="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25252"/>
                  </a:gs>
                  <a:gs pos="100000">
                    <a:srgbClr val="B2B2B2"/>
                  </a:gs>
                </a:gsLst>
                <a:lin ang="0" scaled="1"/>
                <a:tileRect/>
              </a:gradFill>
              <a:ln w="317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37" name="Freeform 94"/>
              <p:cNvSpPr/>
              <p:nvPr/>
            </p:nvSpPr>
            <p:spPr>
              <a:xfrm>
                <a:off x="3159" y="2160"/>
                <a:ext cx="89" cy="270"/>
              </a:xfrm>
              <a:custGeom>
                <a:avLst/>
                <a:gdLst>
                  <a:gd name="txL" fmla="*/ 0 w 89"/>
                  <a:gd name="txT" fmla="*/ 0 h 270"/>
                  <a:gd name="txR" fmla="*/ 89 w 89"/>
                  <a:gd name="txB" fmla="*/ 270 h 270"/>
                </a:gdLst>
                <a:ahLst/>
                <a:cxnLst>
                  <a:cxn ang="0">
                    <a:pos x="77" y="0"/>
                  </a:cxn>
                  <a:cxn ang="0">
                    <a:pos x="48" y="21"/>
                  </a:cxn>
                  <a:cxn ang="0">
                    <a:pos x="49" y="72"/>
                  </a:cxn>
                  <a:cxn ang="0">
                    <a:pos x="45" y="138"/>
                  </a:cxn>
                  <a:cxn ang="0">
                    <a:pos x="30" y="198"/>
                  </a:cxn>
                  <a:cxn ang="0">
                    <a:pos x="15" y="240"/>
                  </a:cxn>
                  <a:cxn ang="0">
                    <a:pos x="0" y="270"/>
                  </a:cxn>
                  <a:cxn ang="0">
                    <a:pos x="37" y="244"/>
                  </a:cxn>
                  <a:cxn ang="0">
                    <a:pos x="57" y="204"/>
                  </a:cxn>
                  <a:cxn ang="0">
                    <a:pos x="77" y="152"/>
                  </a:cxn>
                  <a:cxn ang="0">
                    <a:pos x="89" y="88"/>
                  </a:cxn>
                  <a:cxn ang="0">
                    <a:pos x="77" y="0"/>
                  </a:cxn>
                </a:cxnLst>
                <a:rect l="txL" t="txT" r="txR" b="txB"/>
                <a:pathLst>
                  <a:path w="89" h="270">
                    <a:moveTo>
                      <a:pt x="77" y="0"/>
                    </a:moveTo>
                    <a:lnTo>
                      <a:pt x="48" y="21"/>
                    </a:lnTo>
                    <a:lnTo>
                      <a:pt x="49" y="72"/>
                    </a:lnTo>
                    <a:lnTo>
                      <a:pt x="45" y="138"/>
                    </a:lnTo>
                    <a:lnTo>
                      <a:pt x="30" y="198"/>
                    </a:lnTo>
                    <a:lnTo>
                      <a:pt x="15" y="240"/>
                    </a:lnTo>
                    <a:lnTo>
                      <a:pt x="0" y="270"/>
                    </a:lnTo>
                    <a:lnTo>
                      <a:pt x="37" y="244"/>
                    </a:lnTo>
                    <a:lnTo>
                      <a:pt x="57" y="204"/>
                    </a:lnTo>
                    <a:lnTo>
                      <a:pt x="77" y="152"/>
                    </a:lnTo>
                    <a:lnTo>
                      <a:pt x="89" y="88"/>
                    </a:lnTo>
                    <a:lnTo>
                      <a:pt x="7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525252"/>
                  </a:gs>
                </a:gsLst>
                <a:lin ang="0" scaled="1"/>
                <a:tileRect/>
              </a:gradFill>
              <a:ln w="317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38" name="Freeform 95"/>
              <p:cNvSpPr/>
              <p:nvPr/>
            </p:nvSpPr>
            <p:spPr>
              <a:xfrm>
                <a:off x="3200" y="2160"/>
                <a:ext cx="80" cy="284"/>
              </a:xfrm>
              <a:custGeom>
                <a:avLst/>
                <a:gdLst>
                  <a:gd name="txL" fmla="*/ 0 w 80"/>
                  <a:gd name="txT" fmla="*/ 0 h 284"/>
                  <a:gd name="txR" fmla="*/ 80 w 80"/>
                  <a:gd name="txB" fmla="*/ 284 h 284"/>
                </a:gdLst>
                <a:ahLst/>
                <a:cxnLst>
                  <a:cxn ang="0">
                    <a:pos x="40" y="0"/>
                  </a:cxn>
                  <a:cxn ang="0">
                    <a:pos x="80" y="36"/>
                  </a:cxn>
                  <a:cxn ang="0">
                    <a:pos x="76" y="116"/>
                  </a:cxn>
                  <a:cxn ang="0">
                    <a:pos x="64" y="180"/>
                  </a:cxn>
                  <a:cxn ang="0">
                    <a:pos x="32" y="248"/>
                  </a:cxn>
                  <a:cxn ang="0">
                    <a:pos x="20" y="284"/>
                  </a:cxn>
                  <a:cxn ang="0">
                    <a:pos x="0" y="244"/>
                  </a:cxn>
                  <a:cxn ang="0">
                    <a:pos x="32" y="156"/>
                  </a:cxn>
                  <a:cxn ang="0">
                    <a:pos x="28" y="108"/>
                  </a:cxn>
                  <a:cxn ang="0">
                    <a:pos x="28" y="44"/>
                  </a:cxn>
                  <a:cxn ang="0">
                    <a:pos x="40" y="0"/>
                  </a:cxn>
                </a:cxnLst>
                <a:rect l="txL" t="txT" r="txR" b="txB"/>
                <a:pathLst>
                  <a:path w="80" h="284">
                    <a:moveTo>
                      <a:pt x="40" y="0"/>
                    </a:moveTo>
                    <a:lnTo>
                      <a:pt x="80" y="36"/>
                    </a:lnTo>
                    <a:lnTo>
                      <a:pt x="76" y="116"/>
                    </a:lnTo>
                    <a:lnTo>
                      <a:pt x="64" y="180"/>
                    </a:lnTo>
                    <a:lnTo>
                      <a:pt x="32" y="248"/>
                    </a:lnTo>
                    <a:lnTo>
                      <a:pt x="20" y="284"/>
                    </a:lnTo>
                    <a:lnTo>
                      <a:pt x="0" y="244"/>
                    </a:lnTo>
                    <a:lnTo>
                      <a:pt x="32" y="156"/>
                    </a:lnTo>
                    <a:lnTo>
                      <a:pt x="28" y="108"/>
                    </a:lnTo>
                    <a:lnTo>
                      <a:pt x="28" y="44"/>
                    </a:lnTo>
                    <a:lnTo>
                      <a:pt x="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25252"/>
                  </a:gs>
                  <a:gs pos="100000">
                    <a:srgbClr val="B2B2B2"/>
                  </a:gs>
                </a:gsLst>
                <a:lin ang="0" scaled="1"/>
                <a:tileRect/>
              </a:gradFill>
              <a:ln w="317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39" name="Freeform 96"/>
              <p:cNvSpPr/>
              <p:nvPr/>
            </p:nvSpPr>
            <p:spPr>
              <a:xfrm>
                <a:off x="3216" y="2172"/>
                <a:ext cx="92" cy="270"/>
              </a:xfrm>
              <a:custGeom>
                <a:avLst/>
                <a:gdLst>
                  <a:gd name="txL" fmla="*/ 0 w 92"/>
                  <a:gd name="txT" fmla="*/ 0 h 270"/>
                  <a:gd name="txR" fmla="*/ 92 w 92"/>
                  <a:gd name="txB" fmla="*/ 270 h 270"/>
                </a:gdLst>
                <a:ahLst/>
                <a:cxnLst>
                  <a:cxn ang="0">
                    <a:pos x="80" y="0"/>
                  </a:cxn>
                  <a:cxn ang="0">
                    <a:pos x="56" y="20"/>
                  </a:cxn>
                  <a:cxn ang="0">
                    <a:pos x="63" y="75"/>
                  </a:cxn>
                  <a:cxn ang="0">
                    <a:pos x="56" y="128"/>
                  </a:cxn>
                  <a:cxn ang="0">
                    <a:pos x="36" y="200"/>
                  </a:cxn>
                  <a:cxn ang="0">
                    <a:pos x="0" y="270"/>
                  </a:cxn>
                  <a:cxn ang="0">
                    <a:pos x="40" y="244"/>
                  </a:cxn>
                  <a:cxn ang="0">
                    <a:pos x="60" y="204"/>
                  </a:cxn>
                  <a:cxn ang="0">
                    <a:pos x="80" y="152"/>
                  </a:cxn>
                  <a:cxn ang="0">
                    <a:pos x="92" y="88"/>
                  </a:cxn>
                  <a:cxn ang="0">
                    <a:pos x="80" y="0"/>
                  </a:cxn>
                </a:cxnLst>
                <a:rect l="txL" t="txT" r="txR" b="txB"/>
                <a:pathLst>
                  <a:path w="92" h="270">
                    <a:moveTo>
                      <a:pt x="80" y="0"/>
                    </a:moveTo>
                    <a:lnTo>
                      <a:pt x="56" y="20"/>
                    </a:lnTo>
                    <a:lnTo>
                      <a:pt x="63" y="75"/>
                    </a:lnTo>
                    <a:lnTo>
                      <a:pt x="56" y="128"/>
                    </a:lnTo>
                    <a:lnTo>
                      <a:pt x="36" y="200"/>
                    </a:lnTo>
                    <a:lnTo>
                      <a:pt x="0" y="270"/>
                    </a:lnTo>
                    <a:lnTo>
                      <a:pt x="40" y="244"/>
                    </a:lnTo>
                    <a:lnTo>
                      <a:pt x="60" y="204"/>
                    </a:lnTo>
                    <a:lnTo>
                      <a:pt x="80" y="152"/>
                    </a:lnTo>
                    <a:lnTo>
                      <a:pt x="92" y="88"/>
                    </a:lnTo>
                    <a:lnTo>
                      <a:pt x="8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525252"/>
                  </a:gs>
                </a:gsLst>
                <a:lin ang="0" scaled="1"/>
                <a:tileRect/>
              </a:gradFill>
              <a:ln w="317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40" name="Freeform 97"/>
              <p:cNvSpPr/>
              <p:nvPr/>
            </p:nvSpPr>
            <p:spPr>
              <a:xfrm>
                <a:off x="3225" y="2180"/>
                <a:ext cx="114" cy="277"/>
              </a:xfrm>
              <a:custGeom>
                <a:avLst/>
                <a:gdLst>
                  <a:gd name="txL" fmla="*/ 0 w 114"/>
                  <a:gd name="txT" fmla="*/ 0 h 277"/>
                  <a:gd name="txR" fmla="*/ 114 w 114"/>
                  <a:gd name="txB" fmla="*/ 277 h 277"/>
                </a:gdLst>
                <a:ahLst/>
                <a:cxnLst>
                  <a:cxn ang="0">
                    <a:pos x="71" y="0"/>
                  </a:cxn>
                  <a:cxn ang="0">
                    <a:pos x="96" y="43"/>
                  </a:cxn>
                  <a:cxn ang="0">
                    <a:pos x="114" y="103"/>
                  </a:cxn>
                  <a:cxn ang="0">
                    <a:pos x="93" y="190"/>
                  </a:cxn>
                  <a:cxn ang="0">
                    <a:pos x="60" y="244"/>
                  </a:cxn>
                  <a:cxn ang="0">
                    <a:pos x="0" y="277"/>
                  </a:cxn>
                  <a:cxn ang="0">
                    <a:pos x="35" y="228"/>
                  </a:cxn>
                  <a:cxn ang="0">
                    <a:pos x="59" y="192"/>
                  </a:cxn>
                  <a:cxn ang="0">
                    <a:pos x="75" y="115"/>
                  </a:cxn>
                  <a:cxn ang="0">
                    <a:pos x="75" y="36"/>
                  </a:cxn>
                  <a:cxn ang="0">
                    <a:pos x="71" y="0"/>
                  </a:cxn>
                </a:cxnLst>
                <a:rect l="txL" t="txT" r="txR" b="txB"/>
                <a:pathLst>
                  <a:path w="114" h="277">
                    <a:moveTo>
                      <a:pt x="71" y="0"/>
                    </a:moveTo>
                    <a:lnTo>
                      <a:pt x="96" y="43"/>
                    </a:lnTo>
                    <a:lnTo>
                      <a:pt x="114" y="103"/>
                    </a:lnTo>
                    <a:lnTo>
                      <a:pt x="93" y="190"/>
                    </a:lnTo>
                    <a:lnTo>
                      <a:pt x="60" y="244"/>
                    </a:lnTo>
                    <a:lnTo>
                      <a:pt x="0" y="277"/>
                    </a:lnTo>
                    <a:lnTo>
                      <a:pt x="35" y="228"/>
                    </a:lnTo>
                    <a:lnTo>
                      <a:pt x="59" y="192"/>
                    </a:lnTo>
                    <a:lnTo>
                      <a:pt x="75" y="115"/>
                    </a:lnTo>
                    <a:lnTo>
                      <a:pt x="75" y="36"/>
                    </a:lnTo>
                    <a:lnTo>
                      <a:pt x="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2A2A2A"/>
                  </a:gs>
                  <a:gs pos="100000">
                    <a:srgbClr val="B2B2B2"/>
                  </a:gs>
                </a:gsLst>
                <a:lin ang="0" scaled="1"/>
                <a:tileRect/>
              </a:gradFill>
              <a:ln w="317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41" name="Freeform 98"/>
              <p:cNvSpPr/>
              <p:nvPr/>
            </p:nvSpPr>
            <p:spPr>
              <a:xfrm>
                <a:off x="2916" y="2088"/>
                <a:ext cx="80" cy="284"/>
              </a:xfrm>
              <a:custGeom>
                <a:avLst/>
                <a:gdLst>
                  <a:gd name="txL" fmla="*/ 0 w 80"/>
                  <a:gd name="txT" fmla="*/ 0 h 284"/>
                  <a:gd name="txR" fmla="*/ 80 w 80"/>
                  <a:gd name="txB" fmla="*/ 284 h 284"/>
                </a:gdLst>
                <a:ahLst/>
                <a:cxnLst>
                  <a:cxn ang="0">
                    <a:pos x="40" y="0"/>
                  </a:cxn>
                  <a:cxn ang="0">
                    <a:pos x="80" y="36"/>
                  </a:cxn>
                  <a:cxn ang="0">
                    <a:pos x="76" y="116"/>
                  </a:cxn>
                  <a:cxn ang="0">
                    <a:pos x="64" y="180"/>
                  </a:cxn>
                  <a:cxn ang="0">
                    <a:pos x="32" y="248"/>
                  </a:cxn>
                  <a:cxn ang="0">
                    <a:pos x="20" y="284"/>
                  </a:cxn>
                  <a:cxn ang="0">
                    <a:pos x="0" y="244"/>
                  </a:cxn>
                  <a:cxn ang="0">
                    <a:pos x="21" y="174"/>
                  </a:cxn>
                  <a:cxn ang="0">
                    <a:pos x="24" y="117"/>
                  </a:cxn>
                  <a:cxn ang="0">
                    <a:pos x="24" y="39"/>
                  </a:cxn>
                  <a:cxn ang="0">
                    <a:pos x="40" y="0"/>
                  </a:cxn>
                </a:cxnLst>
                <a:rect l="txL" t="txT" r="txR" b="txB"/>
                <a:pathLst>
                  <a:path w="80" h="284">
                    <a:moveTo>
                      <a:pt x="40" y="0"/>
                    </a:moveTo>
                    <a:lnTo>
                      <a:pt x="80" y="36"/>
                    </a:lnTo>
                    <a:lnTo>
                      <a:pt x="76" y="116"/>
                    </a:lnTo>
                    <a:lnTo>
                      <a:pt x="64" y="180"/>
                    </a:lnTo>
                    <a:lnTo>
                      <a:pt x="32" y="248"/>
                    </a:lnTo>
                    <a:lnTo>
                      <a:pt x="20" y="284"/>
                    </a:lnTo>
                    <a:lnTo>
                      <a:pt x="0" y="244"/>
                    </a:lnTo>
                    <a:lnTo>
                      <a:pt x="21" y="174"/>
                    </a:lnTo>
                    <a:lnTo>
                      <a:pt x="24" y="117"/>
                    </a:lnTo>
                    <a:lnTo>
                      <a:pt x="24" y="39"/>
                    </a:lnTo>
                    <a:lnTo>
                      <a:pt x="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25252"/>
                  </a:gs>
                  <a:gs pos="100000">
                    <a:srgbClr val="B2B2B2"/>
                  </a:gs>
                </a:gsLst>
                <a:lin ang="0" scaled="1"/>
                <a:tileRect/>
              </a:gradFill>
              <a:ln w="317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42" name="Freeform 99"/>
              <p:cNvSpPr/>
              <p:nvPr/>
            </p:nvSpPr>
            <p:spPr>
              <a:xfrm>
                <a:off x="2937" y="2100"/>
                <a:ext cx="81" cy="264"/>
              </a:xfrm>
              <a:custGeom>
                <a:avLst/>
                <a:gdLst>
                  <a:gd name="txL" fmla="*/ 0 w 81"/>
                  <a:gd name="txT" fmla="*/ 0 h 264"/>
                  <a:gd name="txR" fmla="*/ 81 w 81"/>
                  <a:gd name="txB" fmla="*/ 264 h 264"/>
                </a:gdLst>
                <a:ahLst/>
                <a:cxnLst>
                  <a:cxn ang="0">
                    <a:pos x="75" y="0"/>
                  </a:cxn>
                  <a:cxn ang="0">
                    <a:pos x="48" y="24"/>
                  </a:cxn>
                  <a:cxn ang="0">
                    <a:pos x="48" y="72"/>
                  </a:cxn>
                  <a:cxn ang="0">
                    <a:pos x="45" y="129"/>
                  </a:cxn>
                  <a:cxn ang="0">
                    <a:pos x="31" y="200"/>
                  </a:cxn>
                  <a:cxn ang="0">
                    <a:pos x="0" y="264"/>
                  </a:cxn>
                  <a:cxn ang="0">
                    <a:pos x="35" y="244"/>
                  </a:cxn>
                  <a:cxn ang="0">
                    <a:pos x="55" y="204"/>
                  </a:cxn>
                  <a:cxn ang="0">
                    <a:pos x="75" y="152"/>
                  </a:cxn>
                  <a:cxn ang="0">
                    <a:pos x="81" y="87"/>
                  </a:cxn>
                  <a:cxn ang="0">
                    <a:pos x="75" y="0"/>
                  </a:cxn>
                </a:cxnLst>
                <a:rect l="txL" t="txT" r="txR" b="txB"/>
                <a:pathLst>
                  <a:path w="81" h="264">
                    <a:moveTo>
                      <a:pt x="75" y="0"/>
                    </a:moveTo>
                    <a:lnTo>
                      <a:pt x="48" y="24"/>
                    </a:lnTo>
                    <a:lnTo>
                      <a:pt x="48" y="72"/>
                    </a:lnTo>
                    <a:lnTo>
                      <a:pt x="45" y="129"/>
                    </a:lnTo>
                    <a:lnTo>
                      <a:pt x="31" y="200"/>
                    </a:lnTo>
                    <a:lnTo>
                      <a:pt x="0" y="264"/>
                    </a:lnTo>
                    <a:lnTo>
                      <a:pt x="35" y="244"/>
                    </a:lnTo>
                    <a:lnTo>
                      <a:pt x="55" y="204"/>
                    </a:lnTo>
                    <a:lnTo>
                      <a:pt x="75" y="152"/>
                    </a:lnTo>
                    <a:lnTo>
                      <a:pt x="81" y="87"/>
                    </a:lnTo>
                    <a:lnTo>
                      <a:pt x="75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525252"/>
                  </a:gs>
                </a:gsLst>
                <a:lin ang="0" scaled="1"/>
                <a:tileRect/>
              </a:gradFill>
              <a:ln w="317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43" name="Freeform 100"/>
              <p:cNvSpPr/>
              <p:nvPr/>
            </p:nvSpPr>
            <p:spPr>
              <a:xfrm>
                <a:off x="2844" y="2076"/>
                <a:ext cx="92" cy="279"/>
              </a:xfrm>
              <a:custGeom>
                <a:avLst/>
                <a:gdLst>
                  <a:gd name="txL" fmla="*/ 0 w 92"/>
                  <a:gd name="txT" fmla="*/ 0 h 279"/>
                  <a:gd name="txR" fmla="*/ 92 w 92"/>
                  <a:gd name="txB" fmla="*/ 279 h 279"/>
                </a:gdLst>
                <a:ahLst/>
                <a:cxnLst>
                  <a:cxn ang="0">
                    <a:pos x="52" y="0"/>
                  </a:cxn>
                  <a:cxn ang="0">
                    <a:pos x="92" y="36"/>
                  </a:cxn>
                  <a:cxn ang="0">
                    <a:pos x="88" y="116"/>
                  </a:cxn>
                  <a:cxn ang="0">
                    <a:pos x="76" y="180"/>
                  </a:cxn>
                  <a:cxn ang="0">
                    <a:pos x="45" y="246"/>
                  </a:cxn>
                  <a:cxn ang="0">
                    <a:pos x="33" y="279"/>
                  </a:cxn>
                  <a:cxn ang="0">
                    <a:pos x="0" y="234"/>
                  </a:cxn>
                  <a:cxn ang="0">
                    <a:pos x="27" y="168"/>
                  </a:cxn>
                  <a:cxn ang="0">
                    <a:pos x="36" y="117"/>
                  </a:cxn>
                  <a:cxn ang="0">
                    <a:pos x="36" y="39"/>
                  </a:cxn>
                  <a:cxn ang="0">
                    <a:pos x="52" y="0"/>
                  </a:cxn>
                </a:cxnLst>
                <a:rect l="txL" t="txT" r="txR" b="txB"/>
                <a:pathLst>
                  <a:path w="92" h="279">
                    <a:moveTo>
                      <a:pt x="52" y="0"/>
                    </a:moveTo>
                    <a:lnTo>
                      <a:pt x="92" y="36"/>
                    </a:lnTo>
                    <a:lnTo>
                      <a:pt x="88" y="116"/>
                    </a:lnTo>
                    <a:lnTo>
                      <a:pt x="76" y="180"/>
                    </a:lnTo>
                    <a:lnTo>
                      <a:pt x="45" y="246"/>
                    </a:lnTo>
                    <a:lnTo>
                      <a:pt x="33" y="279"/>
                    </a:lnTo>
                    <a:lnTo>
                      <a:pt x="0" y="234"/>
                    </a:lnTo>
                    <a:lnTo>
                      <a:pt x="27" y="168"/>
                    </a:lnTo>
                    <a:lnTo>
                      <a:pt x="36" y="117"/>
                    </a:lnTo>
                    <a:lnTo>
                      <a:pt x="36" y="39"/>
                    </a:lnTo>
                    <a:lnTo>
                      <a:pt x="5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25252"/>
                  </a:gs>
                  <a:gs pos="100000">
                    <a:srgbClr val="B2B2B2"/>
                  </a:gs>
                </a:gsLst>
                <a:lin ang="0" scaled="1"/>
                <a:tileRect/>
              </a:gradFill>
              <a:ln w="317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44" name="Freeform 101"/>
              <p:cNvSpPr/>
              <p:nvPr/>
            </p:nvSpPr>
            <p:spPr>
              <a:xfrm>
                <a:off x="2877" y="2088"/>
                <a:ext cx="81" cy="264"/>
              </a:xfrm>
              <a:custGeom>
                <a:avLst/>
                <a:gdLst>
                  <a:gd name="txL" fmla="*/ 0 w 81"/>
                  <a:gd name="txT" fmla="*/ 0 h 264"/>
                  <a:gd name="txR" fmla="*/ 81 w 81"/>
                  <a:gd name="txB" fmla="*/ 264 h 264"/>
                </a:gdLst>
                <a:ahLst/>
                <a:cxnLst>
                  <a:cxn ang="0">
                    <a:pos x="75" y="0"/>
                  </a:cxn>
                  <a:cxn ang="0">
                    <a:pos x="48" y="24"/>
                  </a:cxn>
                  <a:cxn ang="0">
                    <a:pos x="48" y="72"/>
                  </a:cxn>
                  <a:cxn ang="0">
                    <a:pos x="45" y="129"/>
                  </a:cxn>
                  <a:cxn ang="0">
                    <a:pos x="31" y="200"/>
                  </a:cxn>
                  <a:cxn ang="0">
                    <a:pos x="0" y="264"/>
                  </a:cxn>
                  <a:cxn ang="0">
                    <a:pos x="35" y="244"/>
                  </a:cxn>
                  <a:cxn ang="0">
                    <a:pos x="55" y="204"/>
                  </a:cxn>
                  <a:cxn ang="0">
                    <a:pos x="75" y="152"/>
                  </a:cxn>
                  <a:cxn ang="0">
                    <a:pos x="81" y="81"/>
                  </a:cxn>
                  <a:cxn ang="0">
                    <a:pos x="75" y="0"/>
                  </a:cxn>
                </a:cxnLst>
                <a:rect l="txL" t="txT" r="txR" b="txB"/>
                <a:pathLst>
                  <a:path w="81" h="264">
                    <a:moveTo>
                      <a:pt x="75" y="0"/>
                    </a:moveTo>
                    <a:lnTo>
                      <a:pt x="48" y="24"/>
                    </a:lnTo>
                    <a:lnTo>
                      <a:pt x="48" y="72"/>
                    </a:lnTo>
                    <a:lnTo>
                      <a:pt x="45" y="129"/>
                    </a:lnTo>
                    <a:lnTo>
                      <a:pt x="31" y="200"/>
                    </a:lnTo>
                    <a:lnTo>
                      <a:pt x="0" y="264"/>
                    </a:lnTo>
                    <a:lnTo>
                      <a:pt x="35" y="244"/>
                    </a:lnTo>
                    <a:lnTo>
                      <a:pt x="55" y="204"/>
                    </a:lnTo>
                    <a:lnTo>
                      <a:pt x="75" y="152"/>
                    </a:lnTo>
                    <a:lnTo>
                      <a:pt x="81" y="81"/>
                    </a:lnTo>
                    <a:lnTo>
                      <a:pt x="75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525252"/>
                  </a:gs>
                </a:gsLst>
                <a:lin ang="0" scaled="1"/>
                <a:tileRect/>
              </a:gradFill>
              <a:ln w="317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4104" name="Group 102"/>
            <p:cNvGrpSpPr/>
            <p:nvPr/>
          </p:nvGrpSpPr>
          <p:grpSpPr>
            <a:xfrm>
              <a:off x="3030" y="2260"/>
              <a:ext cx="742" cy="222"/>
              <a:chOff x="3030" y="2260"/>
              <a:chExt cx="742" cy="222"/>
            </a:xfrm>
          </p:grpSpPr>
          <p:sp>
            <p:nvSpPr>
              <p:cNvPr id="44105" name="Freeform 103"/>
              <p:cNvSpPr/>
              <p:nvPr/>
            </p:nvSpPr>
            <p:spPr>
              <a:xfrm>
                <a:off x="3682" y="2382"/>
                <a:ext cx="90" cy="99"/>
              </a:xfrm>
              <a:custGeom>
                <a:avLst/>
                <a:gdLst>
                  <a:gd name="txL" fmla="*/ 0 w 90"/>
                  <a:gd name="txT" fmla="*/ 0 h 99"/>
                  <a:gd name="txR" fmla="*/ 90 w 90"/>
                  <a:gd name="txB" fmla="*/ 99 h 99"/>
                </a:gdLst>
                <a:ahLst/>
                <a:cxnLst>
                  <a:cxn ang="0">
                    <a:pos x="90" y="0"/>
                  </a:cxn>
                  <a:cxn ang="0">
                    <a:pos x="89" y="48"/>
                  </a:cxn>
                  <a:cxn ang="0">
                    <a:pos x="2" y="99"/>
                  </a:cxn>
                  <a:cxn ang="0">
                    <a:pos x="0" y="46"/>
                  </a:cxn>
                  <a:cxn ang="0">
                    <a:pos x="90" y="0"/>
                  </a:cxn>
                </a:cxnLst>
                <a:rect l="txL" t="txT" r="txR" b="txB"/>
                <a:pathLst>
                  <a:path w="90" h="99">
                    <a:moveTo>
                      <a:pt x="90" y="0"/>
                    </a:moveTo>
                    <a:lnTo>
                      <a:pt x="89" y="48"/>
                    </a:lnTo>
                    <a:lnTo>
                      <a:pt x="2" y="99"/>
                    </a:lnTo>
                    <a:lnTo>
                      <a:pt x="0" y="46"/>
                    </a:lnTo>
                    <a:lnTo>
                      <a:pt x="9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54545"/>
                  </a:gs>
                  <a:gs pos="50000">
                    <a:srgbClr val="969696"/>
                  </a:gs>
                  <a:gs pos="100000">
                    <a:srgbClr val="454545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06" name="Freeform 104"/>
              <p:cNvSpPr/>
              <p:nvPr/>
            </p:nvSpPr>
            <p:spPr>
              <a:xfrm>
                <a:off x="3040" y="2270"/>
                <a:ext cx="650" cy="212"/>
              </a:xfrm>
              <a:custGeom>
                <a:avLst/>
                <a:gdLst>
                  <a:gd name="txL" fmla="*/ 0 w 650"/>
                  <a:gd name="txT" fmla="*/ 0 h 212"/>
                  <a:gd name="txR" fmla="*/ 650 w 650"/>
                  <a:gd name="txB" fmla="*/ 212 h 212"/>
                </a:gdLst>
                <a:ahLst/>
                <a:cxnLst>
                  <a:cxn ang="0">
                    <a:pos x="2" y="74"/>
                  </a:cxn>
                  <a:cxn ang="0">
                    <a:pos x="0" y="94"/>
                  </a:cxn>
                  <a:cxn ang="0">
                    <a:pos x="58" y="82"/>
                  </a:cxn>
                  <a:cxn ang="0">
                    <a:pos x="120" y="56"/>
                  </a:cxn>
                  <a:cxn ang="0">
                    <a:pos x="158" y="49"/>
                  </a:cxn>
                  <a:cxn ang="0">
                    <a:pos x="194" y="55"/>
                  </a:cxn>
                  <a:cxn ang="0">
                    <a:pos x="252" y="72"/>
                  </a:cxn>
                  <a:cxn ang="0">
                    <a:pos x="462" y="132"/>
                  </a:cxn>
                  <a:cxn ang="0">
                    <a:pos x="502" y="148"/>
                  </a:cxn>
                  <a:cxn ang="0">
                    <a:pos x="534" y="170"/>
                  </a:cxn>
                  <a:cxn ang="0">
                    <a:pos x="544" y="182"/>
                  </a:cxn>
                  <a:cxn ang="0">
                    <a:pos x="644" y="212"/>
                  </a:cxn>
                  <a:cxn ang="0">
                    <a:pos x="650" y="158"/>
                  </a:cxn>
                  <a:cxn ang="0">
                    <a:pos x="546" y="132"/>
                  </a:cxn>
                  <a:cxn ang="0">
                    <a:pos x="546" y="102"/>
                  </a:cxn>
                  <a:cxn ang="0">
                    <a:pos x="186" y="0"/>
                  </a:cxn>
                  <a:cxn ang="0">
                    <a:pos x="2" y="74"/>
                  </a:cxn>
                </a:cxnLst>
                <a:rect l="txL" t="txT" r="txR" b="txB"/>
                <a:pathLst>
                  <a:path w="650" h="212">
                    <a:moveTo>
                      <a:pt x="2" y="74"/>
                    </a:moveTo>
                    <a:lnTo>
                      <a:pt x="0" y="94"/>
                    </a:lnTo>
                    <a:lnTo>
                      <a:pt x="58" y="82"/>
                    </a:lnTo>
                    <a:lnTo>
                      <a:pt x="120" y="56"/>
                    </a:lnTo>
                    <a:lnTo>
                      <a:pt x="158" y="49"/>
                    </a:lnTo>
                    <a:lnTo>
                      <a:pt x="194" y="55"/>
                    </a:lnTo>
                    <a:lnTo>
                      <a:pt x="252" y="72"/>
                    </a:lnTo>
                    <a:lnTo>
                      <a:pt x="462" y="132"/>
                    </a:lnTo>
                    <a:lnTo>
                      <a:pt x="502" y="148"/>
                    </a:lnTo>
                    <a:lnTo>
                      <a:pt x="534" y="170"/>
                    </a:lnTo>
                    <a:lnTo>
                      <a:pt x="544" y="182"/>
                    </a:lnTo>
                    <a:lnTo>
                      <a:pt x="644" y="212"/>
                    </a:lnTo>
                    <a:lnTo>
                      <a:pt x="650" y="158"/>
                    </a:lnTo>
                    <a:lnTo>
                      <a:pt x="546" y="132"/>
                    </a:lnTo>
                    <a:lnTo>
                      <a:pt x="546" y="102"/>
                    </a:lnTo>
                    <a:lnTo>
                      <a:pt x="186" y="0"/>
                    </a:lnTo>
                    <a:lnTo>
                      <a:pt x="2" y="7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525252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107" name="Freeform 105"/>
              <p:cNvSpPr/>
              <p:nvPr/>
            </p:nvSpPr>
            <p:spPr>
              <a:xfrm>
                <a:off x="3030" y="2260"/>
                <a:ext cx="738" cy="172"/>
              </a:xfrm>
              <a:custGeom>
                <a:avLst/>
                <a:gdLst>
                  <a:gd name="txL" fmla="*/ 0 w 738"/>
                  <a:gd name="txT" fmla="*/ 0 h 172"/>
                  <a:gd name="txR" fmla="*/ 738 w 738"/>
                  <a:gd name="txB" fmla="*/ 172 h 172"/>
                </a:gdLst>
                <a:ahLst/>
                <a:cxnLst>
                  <a:cxn ang="0">
                    <a:pos x="69" y="74"/>
                  </a:cxn>
                  <a:cxn ang="0">
                    <a:pos x="102" y="56"/>
                  </a:cxn>
                  <a:cxn ang="0">
                    <a:pos x="162" y="32"/>
                  </a:cxn>
                  <a:cxn ang="0">
                    <a:pos x="184" y="26"/>
                  </a:cxn>
                  <a:cxn ang="0">
                    <a:pos x="206" y="26"/>
                  </a:cxn>
                  <a:cxn ang="0">
                    <a:pos x="516" y="116"/>
                  </a:cxn>
                  <a:cxn ang="0">
                    <a:pos x="540" y="130"/>
                  </a:cxn>
                  <a:cxn ang="0">
                    <a:pos x="550" y="146"/>
                  </a:cxn>
                  <a:cxn ang="0">
                    <a:pos x="658" y="172"/>
                  </a:cxn>
                  <a:cxn ang="0">
                    <a:pos x="738" y="124"/>
                  </a:cxn>
                  <a:cxn ang="0">
                    <a:pos x="588" y="84"/>
                  </a:cxn>
                  <a:cxn ang="0">
                    <a:pos x="554" y="88"/>
                  </a:cxn>
                  <a:cxn ang="0">
                    <a:pos x="534" y="84"/>
                  </a:cxn>
                  <a:cxn ang="0">
                    <a:pos x="208" y="0"/>
                  </a:cxn>
                  <a:cxn ang="0">
                    <a:pos x="186" y="0"/>
                  </a:cxn>
                  <a:cxn ang="0">
                    <a:pos x="168" y="2"/>
                  </a:cxn>
                  <a:cxn ang="0">
                    <a:pos x="138" y="10"/>
                  </a:cxn>
                  <a:cxn ang="0">
                    <a:pos x="26" y="66"/>
                  </a:cxn>
                  <a:cxn ang="0">
                    <a:pos x="0" y="94"/>
                  </a:cxn>
                  <a:cxn ang="0">
                    <a:pos x="69" y="74"/>
                  </a:cxn>
                </a:cxnLst>
                <a:rect l="txL" t="txT" r="txR" b="txB"/>
                <a:pathLst>
                  <a:path w="738" h="172">
                    <a:moveTo>
                      <a:pt x="69" y="74"/>
                    </a:moveTo>
                    <a:lnTo>
                      <a:pt x="102" y="56"/>
                    </a:lnTo>
                    <a:lnTo>
                      <a:pt x="162" y="32"/>
                    </a:lnTo>
                    <a:lnTo>
                      <a:pt x="184" y="26"/>
                    </a:lnTo>
                    <a:lnTo>
                      <a:pt x="206" y="26"/>
                    </a:lnTo>
                    <a:lnTo>
                      <a:pt x="516" y="116"/>
                    </a:lnTo>
                    <a:lnTo>
                      <a:pt x="540" y="130"/>
                    </a:lnTo>
                    <a:lnTo>
                      <a:pt x="550" y="146"/>
                    </a:lnTo>
                    <a:lnTo>
                      <a:pt x="658" y="172"/>
                    </a:lnTo>
                    <a:lnTo>
                      <a:pt x="738" y="124"/>
                    </a:lnTo>
                    <a:lnTo>
                      <a:pt x="588" y="84"/>
                    </a:lnTo>
                    <a:lnTo>
                      <a:pt x="554" y="88"/>
                    </a:lnTo>
                    <a:lnTo>
                      <a:pt x="534" y="84"/>
                    </a:lnTo>
                    <a:lnTo>
                      <a:pt x="208" y="0"/>
                    </a:lnTo>
                    <a:lnTo>
                      <a:pt x="186" y="0"/>
                    </a:lnTo>
                    <a:lnTo>
                      <a:pt x="168" y="2"/>
                    </a:lnTo>
                    <a:lnTo>
                      <a:pt x="138" y="10"/>
                    </a:lnTo>
                    <a:lnTo>
                      <a:pt x="26" y="66"/>
                    </a:lnTo>
                    <a:lnTo>
                      <a:pt x="0" y="94"/>
                    </a:lnTo>
                    <a:lnTo>
                      <a:pt x="69" y="74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8538" name="Text Box 106"/>
          <p:cNvSpPr txBox="1"/>
          <p:nvPr/>
        </p:nvSpPr>
        <p:spPr>
          <a:xfrm>
            <a:off x="1779588" y="5661025"/>
            <a:ext cx="1854200" cy="617538"/>
          </a:xfrm>
          <a:prstGeom prst="rect">
            <a:avLst/>
          </a:prstGeom>
          <a:solidFill>
            <a:srgbClr val="FFFF00"/>
          </a:solidFill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zh-CN" altLang="en-US" sz="3200" b="1" dirty="0">
                <a:solidFill>
                  <a:srgbClr val="FF3300"/>
                </a:solidFill>
                <a:latin typeface="Arial" panose="020B0604020202020204" pitchFamily="34" charset="0"/>
                <a:ea typeface="ˎ̥"/>
              </a:rPr>
              <a:t>车外螺纹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539" name="Text Box 107"/>
          <p:cNvSpPr txBox="1"/>
          <p:nvPr/>
        </p:nvSpPr>
        <p:spPr>
          <a:xfrm>
            <a:off x="5646738" y="5661025"/>
            <a:ext cx="1854200" cy="617538"/>
          </a:xfrm>
          <a:prstGeom prst="rect">
            <a:avLst/>
          </a:prstGeom>
          <a:solidFill>
            <a:srgbClr val="FFFF00"/>
          </a:solidFill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zh-CN" altLang="en-US" sz="3200" b="1" dirty="0">
                <a:solidFill>
                  <a:srgbClr val="FF3300"/>
                </a:solidFill>
                <a:latin typeface="Arial" panose="020B0604020202020204" pitchFamily="34" charset="0"/>
                <a:ea typeface="ˎ̥"/>
              </a:rPr>
              <a:t>车内螺纹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6" name="Group 108"/>
          <p:cNvGrpSpPr/>
          <p:nvPr/>
        </p:nvGrpSpPr>
        <p:grpSpPr>
          <a:xfrm>
            <a:off x="3179763" y="2387600"/>
            <a:ext cx="1550987" cy="876300"/>
            <a:chOff x="1980" y="1396"/>
            <a:chExt cx="977" cy="552"/>
          </a:xfrm>
        </p:grpSpPr>
        <p:sp>
          <p:nvSpPr>
            <p:cNvPr id="44101" name="Line 109"/>
            <p:cNvSpPr/>
            <p:nvPr/>
          </p:nvSpPr>
          <p:spPr>
            <a:xfrm flipV="1">
              <a:off x="2214" y="1696"/>
              <a:ext cx="252" cy="252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triangle" w="sm" len="lg"/>
              <a:tailEnd type="none" w="med" len="med"/>
            </a:ln>
          </p:spPr>
        </p:sp>
        <p:sp>
          <p:nvSpPr>
            <p:cNvPr id="44102" name="Text Box 110" descr="编织物"/>
            <p:cNvSpPr txBox="1"/>
            <p:nvPr/>
          </p:nvSpPr>
          <p:spPr>
            <a:xfrm>
              <a:off x="1980" y="1396"/>
              <a:ext cx="977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zh-CN" altLang="en-US" sz="2800" b="1" dirty="0">
                  <a:latin typeface="Arial" panose="020B0604020202020204" pitchFamily="34" charset="0"/>
                  <a:ea typeface="ˎ̥"/>
                </a:rPr>
                <a:t>工件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111"/>
          <p:cNvGrpSpPr/>
          <p:nvPr/>
        </p:nvGrpSpPr>
        <p:grpSpPr>
          <a:xfrm>
            <a:off x="193675" y="4146550"/>
            <a:ext cx="1646238" cy="900113"/>
            <a:chOff x="561" y="2426"/>
            <a:chExt cx="1037" cy="567"/>
          </a:xfrm>
        </p:grpSpPr>
        <p:sp>
          <p:nvSpPr>
            <p:cNvPr id="44099" name="Line 112"/>
            <p:cNvSpPr/>
            <p:nvPr/>
          </p:nvSpPr>
          <p:spPr>
            <a:xfrm flipH="1">
              <a:off x="1154" y="2426"/>
              <a:ext cx="180" cy="3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triangle" w="sm" len="lg"/>
              <a:tailEnd type="none" w="med" len="med"/>
            </a:ln>
          </p:spPr>
        </p:sp>
        <p:sp>
          <p:nvSpPr>
            <p:cNvPr id="44100" name="Text Box 113" descr="编织物"/>
            <p:cNvSpPr txBox="1"/>
            <p:nvPr/>
          </p:nvSpPr>
          <p:spPr>
            <a:xfrm>
              <a:off x="561" y="2666"/>
              <a:ext cx="1037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zh-CN" altLang="en-US" sz="2800" b="1" dirty="0">
                  <a:latin typeface="Arial" panose="020B0604020202020204" pitchFamily="34" charset="0"/>
                  <a:ea typeface="ˎ̥"/>
                </a:rPr>
                <a:t>卡盘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8546" name="Freeform 114"/>
          <p:cNvSpPr/>
          <p:nvPr/>
        </p:nvSpPr>
        <p:spPr>
          <a:xfrm>
            <a:off x="3255963" y="4125913"/>
            <a:ext cx="647700" cy="204787"/>
          </a:xfrm>
          <a:custGeom>
            <a:avLst/>
            <a:gdLst>
              <a:gd name="txL" fmla="*/ 0 w 408"/>
              <a:gd name="txT" fmla="*/ 0 h 129"/>
              <a:gd name="txR" fmla="*/ 408 w 408"/>
              <a:gd name="txB" fmla="*/ 129 h 129"/>
            </a:gdLst>
            <a:ahLst/>
            <a:cxnLst>
              <a:cxn ang="0">
                <a:pos x="0" y="7559656"/>
              </a:cxn>
              <a:cxn ang="0">
                <a:pos x="173891573" y="166329877"/>
              </a:cxn>
              <a:cxn ang="0">
                <a:pos x="219254421" y="98285038"/>
              </a:cxn>
              <a:cxn ang="0">
                <a:pos x="945059502" y="325098514"/>
              </a:cxn>
              <a:cxn ang="0">
                <a:pos x="824091839" y="143647743"/>
              </a:cxn>
              <a:cxn ang="0">
                <a:pos x="1028223839" y="105846304"/>
              </a:cxn>
              <a:cxn ang="0">
                <a:pos x="272176893" y="60483599"/>
              </a:cxn>
              <a:cxn ang="0">
                <a:pos x="340221885" y="0"/>
              </a:cxn>
              <a:cxn ang="0">
                <a:pos x="0" y="7559656"/>
              </a:cxn>
            </a:cxnLst>
            <a:rect l="txL" t="txT" r="txR" b="txB"/>
            <a:pathLst>
              <a:path w="408" h="129">
                <a:moveTo>
                  <a:pt x="0" y="3"/>
                </a:moveTo>
                <a:lnTo>
                  <a:pt x="69" y="66"/>
                </a:lnTo>
                <a:lnTo>
                  <a:pt x="87" y="39"/>
                </a:lnTo>
                <a:lnTo>
                  <a:pt x="375" y="129"/>
                </a:lnTo>
                <a:lnTo>
                  <a:pt x="327" y="57"/>
                </a:lnTo>
                <a:lnTo>
                  <a:pt x="408" y="42"/>
                </a:lnTo>
                <a:lnTo>
                  <a:pt x="108" y="24"/>
                </a:lnTo>
                <a:lnTo>
                  <a:pt x="135" y="0"/>
                </a:lnTo>
                <a:lnTo>
                  <a:pt x="0" y="3"/>
                </a:lnTo>
                <a:close/>
              </a:path>
            </a:pathLst>
          </a:custGeom>
          <a:solidFill>
            <a:srgbClr val="FF3300"/>
          </a:solidFill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547" name="Freeform 115"/>
          <p:cNvSpPr/>
          <p:nvPr/>
        </p:nvSpPr>
        <p:spPr>
          <a:xfrm>
            <a:off x="6853238" y="3230563"/>
            <a:ext cx="538162" cy="300037"/>
          </a:xfrm>
          <a:custGeom>
            <a:avLst/>
            <a:gdLst>
              <a:gd name="txL" fmla="*/ 0 w 339"/>
              <a:gd name="txT" fmla="*/ 0 h 189"/>
              <a:gd name="txR" fmla="*/ 339 w 339"/>
              <a:gd name="txB" fmla="*/ 189 h 189"/>
            </a:gdLst>
            <a:ahLst/>
            <a:cxnLst>
              <a:cxn ang="0">
                <a:pos x="45362766" y="476307988"/>
              </a:cxn>
              <a:cxn ang="0">
                <a:pos x="294857207" y="347780970"/>
              </a:cxn>
              <a:cxn ang="0">
                <a:pos x="181451066" y="325098815"/>
              </a:cxn>
              <a:cxn ang="0">
                <a:pos x="279736289" y="241934618"/>
              </a:cxn>
              <a:cxn ang="0">
                <a:pos x="438506821" y="105846402"/>
              </a:cxn>
              <a:cxn ang="0">
                <a:pos x="506550158" y="105846402"/>
              </a:cxn>
              <a:cxn ang="0">
                <a:pos x="559474165" y="105846402"/>
              </a:cxn>
              <a:cxn ang="0">
                <a:pos x="619957837" y="143647876"/>
              </a:cxn>
              <a:cxn ang="0">
                <a:pos x="642638420" y="204131506"/>
              </a:cxn>
              <a:cxn ang="0">
                <a:pos x="710683345" y="181450939"/>
              </a:cxn>
              <a:cxn ang="0">
                <a:pos x="778726682" y="204131506"/>
              </a:cxn>
              <a:cxn ang="0">
                <a:pos x="854331470" y="249494278"/>
              </a:cxn>
              <a:cxn ang="0">
                <a:pos x="801408853" y="173889691"/>
              </a:cxn>
              <a:cxn ang="0">
                <a:pos x="733363928" y="98285129"/>
              </a:cxn>
              <a:cxn ang="0">
                <a:pos x="665320591" y="45362735"/>
              </a:cxn>
              <a:cxn ang="0">
                <a:pos x="574595083" y="15120914"/>
              </a:cxn>
              <a:cxn ang="0">
                <a:pos x="453627739" y="0"/>
              </a:cxn>
              <a:cxn ang="0">
                <a:pos x="317539377" y="37801487"/>
              </a:cxn>
              <a:cxn ang="0">
                <a:pos x="226813869" y="113406061"/>
              </a:cxn>
              <a:cxn ang="0">
                <a:pos x="143647977" y="204131506"/>
              </a:cxn>
              <a:cxn ang="0">
                <a:pos x="83164280" y="287297340"/>
              </a:cxn>
              <a:cxn ang="0">
                <a:pos x="0" y="249494278"/>
              </a:cxn>
              <a:cxn ang="0">
                <a:pos x="45362766" y="476307988"/>
              </a:cxn>
            </a:cxnLst>
            <a:rect l="txL" t="txT" r="txR" b="txB"/>
            <a:pathLst>
              <a:path w="339" h="189">
                <a:moveTo>
                  <a:pt x="18" y="189"/>
                </a:moveTo>
                <a:lnTo>
                  <a:pt x="117" y="138"/>
                </a:lnTo>
                <a:lnTo>
                  <a:pt x="72" y="129"/>
                </a:lnTo>
                <a:lnTo>
                  <a:pt x="111" y="96"/>
                </a:lnTo>
                <a:lnTo>
                  <a:pt x="174" y="42"/>
                </a:lnTo>
                <a:lnTo>
                  <a:pt x="201" y="42"/>
                </a:lnTo>
                <a:lnTo>
                  <a:pt x="222" y="42"/>
                </a:lnTo>
                <a:lnTo>
                  <a:pt x="246" y="57"/>
                </a:lnTo>
                <a:lnTo>
                  <a:pt x="255" y="81"/>
                </a:lnTo>
                <a:lnTo>
                  <a:pt x="282" y="72"/>
                </a:lnTo>
                <a:lnTo>
                  <a:pt x="309" y="81"/>
                </a:lnTo>
                <a:lnTo>
                  <a:pt x="339" y="99"/>
                </a:lnTo>
                <a:lnTo>
                  <a:pt x="318" y="69"/>
                </a:lnTo>
                <a:lnTo>
                  <a:pt x="291" y="39"/>
                </a:lnTo>
                <a:lnTo>
                  <a:pt x="264" y="18"/>
                </a:lnTo>
                <a:lnTo>
                  <a:pt x="228" y="6"/>
                </a:lnTo>
                <a:lnTo>
                  <a:pt x="180" y="0"/>
                </a:lnTo>
                <a:lnTo>
                  <a:pt x="126" y="15"/>
                </a:lnTo>
                <a:lnTo>
                  <a:pt x="90" y="45"/>
                </a:lnTo>
                <a:lnTo>
                  <a:pt x="57" y="81"/>
                </a:lnTo>
                <a:lnTo>
                  <a:pt x="33" y="114"/>
                </a:lnTo>
                <a:lnTo>
                  <a:pt x="0" y="99"/>
                </a:lnTo>
                <a:lnTo>
                  <a:pt x="18" y="189"/>
                </a:lnTo>
                <a:close/>
              </a:path>
            </a:pathLst>
          </a:custGeom>
          <a:solidFill>
            <a:srgbClr val="FF3300"/>
          </a:solidFill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548" name="Freeform 116"/>
          <p:cNvSpPr/>
          <p:nvPr/>
        </p:nvSpPr>
        <p:spPr>
          <a:xfrm>
            <a:off x="8123238" y="4610100"/>
            <a:ext cx="538162" cy="147638"/>
          </a:xfrm>
          <a:custGeom>
            <a:avLst/>
            <a:gdLst>
              <a:gd name="txL" fmla="*/ 0 w 339"/>
              <a:gd name="txT" fmla="*/ 0 h 93"/>
              <a:gd name="txR" fmla="*/ 339 w 339"/>
              <a:gd name="txB" fmla="*/ 93 h 93"/>
            </a:gdLst>
            <a:ahLst/>
            <a:cxnLst>
              <a:cxn ang="0">
                <a:pos x="0" y="37803266"/>
              </a:cxn>
              <a:cxn ang="0">
                <a:pos x="393143967" y="0"/>
              </a:cxn>
              <a:cxn ang="0">
                <a:pos x="317539377" y="60483960"/>
              </a:cxn>
              <a:cxn ang="0">
                <a:pos x="854331470" y="68045245"/>
              </a:cxn>
              <a:cxn ang="0">
                <a:pos x="725804263" y="136088903"/>
              </a:cxn>
              <a:cxn ang="0">
                <a:pos x="808968518" y="234376141"/>
              </a:cxn>
              <a:cxn ang="0">
                <a:pos x="257055705" y="90725927"/>
              </a:cxn>
              <a:cxn ang="0">
                <a:pos x="181451066" y="136088903"/>
              </a:cxn>
              <a:cxn ang="0">
                <a:pos x="0" y="37803266"/>
              </a:cxn>
            </a:cxnLst>
            <a:rect l="txL" t="txT" r="txR" b="txB"/>
            <a:pathLst>
              <a:path w="339" h="93">
                <a:moveTo>
                  <a:pt x="0" y="15"/>
                </a:moveTo>
                <a:lnTo>
                  <a:pt x="156" y="0"/>
                </a:lnTo>
                <a:lnTo>
                  <a:pt x="126" y="24"/>
                </a:lnTo>
                <a:lnTo>
                  <a:pt x="339" y="27"/>
                </a:lnTo>
                <a:lnTo>
                  <a:pt x="288" y="54"/>
                </a:lnTo>
                <a:lnTo>
                  <a:pt x="321" y="93"/>
                </a:lnTo>
                <a:lnTo>
                  <a:pt x="102" y="36"/>
                </a:lnTo>
                <a:lnTo>
                  <a:pt x="72" y="54"/>
                </a:lnTo>
                <a:lnTo>
                  <a:pt x="0" y="15"/>
                </a:lnTo>
                <a:close/>
              </a:path>
            </a:pathLst>
          </a:custGeom>
          <a:solidFill>
            <a:srgbClr val="FF3300"/>
          </a:solidFill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8" name="Group 117"/>
          <p:cNvGrpSpPr/>
          <p:nvPr/>
        </p:nvGrpSpPr>
        <p:grpSpPr>
          <a:xfrm>
            <a:off x="1858963" y="4625975"/>
            <a:ext cx="1646237" cy="881063"/>
            <a:chOff x="1407" y="2502"/>
            <a:chExt cx="1037" cy="555"/>
          </a:xfrm>
        </p:grpSpPr>
        <p:sp>
          <p:nvSpPr>
            <p:cNvPr id="44097" name="Line 118"/>
            <p:cNvSpPr/>
            <p:nvPr/>
          </p:nvSpPr>
          <p:spPr>
            <a:xfrm>
              <a:off x="1950" y="2502"/>
              <a:ext cx="0" cy="30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triangle" w="sm" len="lg"/>
              <a:tailEnd type="none" w="med" len="med"/>
            </a:ln>
          </p:spPr>
        </p:sp>
        <p:sp>
          <p:nvSpPr>
            <p:cNvPr id="44098" name="Text Box 119" descr="编织物"/>
            <p:cNvSpPr txBox="1"/>
            <p:nvPr/>
          </p:nvSpPr>
          <p:spPr>
            <a:xfrm>
              <a:off x="1407" y="2730"/>
              <a:ext cx="1037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zh-CN" altLang="en-US" sz="2800" b="1" dirty="0">
                  <a:latin typeface="Arial" panose="020B0604020202020204" pitchFamily="34" charset="0"/>
                  <a:ea typeface="ˎ̥"/>
                </a:rPr>
                <a:t>车刀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" name="Group 120"/>
          <p:cNvGrpSpPr/>
          <p:nvPr/>
        </p:nvGrpSpPr>
        <p:grpSpPr>
          <a:xfrm>
            <a:off x="638175" y="2322513"/>
            <a:ext cx="3717925" cy="2203450"/>
            <a:chOff x="379" y="1231"/>
            <a:chExt cx="2342" cy="1388"/>
          </a:xfrm>
        </p:grpSpPr>
        <p:sp>
          <p:nvSpPr>
            <p:cNvPr id="44055" name="Freeform 121"/>
            <p:cNvSpPr/>
            <p:nvPr/>
          </p:nvSpPr>
          <p:spPr>
            <a:xfrm>
              <a:off x="379" y="1231"/>
              <a:ext cx="953" cy="1160"/>
            </a:xfrm>
            <a:custGeom>
              <a:avLst/>
              <a:gdLst>
                <a:gd name="txL" fmla="*/ 0 w 1632"/>
                <a:gd name="txT" fmla="*/ 0 h 1986"/>
                <a:gd name="txR" fmla="*/ 1632 w 1632"/>
                <a:gd name="txB" fmla="*/ 1986 h 1986"/>
              </a:gdLst>
              <a:ahLst/>
              <a:cxnLst>
                <a:cxn ang="0">
                  <a:pos x="241" y="0"/>
                </a:cxn>
                <a:cxn ang="0">
                  <a:pos x="211" y="4"/>
                </a:cxn>
                <a:cxn ang="0">
                  <a:pos x="186" y="15"/>
                </a:cxn>
                <a:cxn ang="0">
                  <a:pos x="158" y="33"/>
                </a:cxn>
                <a:cxn ang="0">
                  <a:pos x="117" y="78"/>
                </a:cxn>
                <a:cxn ang="0">
                  <a:pos x="88" y="117"/>
                </a:cxn>
                <a:cxn ang="0">
                  <a:pos x="60" y="168"/>
                </a:cxn>
                <a:cxn ang="0">
                  <a:pos x="39" y="217"/>
                </a:cxn>
                <a:cxn ang="0">
                  <a:pos x="19" y="276"/>
                </a:cxn>
                <a:cxn ang="0">
                  <a:pos x="11" y="325"/>
                </a:cxn>
                <a:cxn ang="0">
                  <a:pos x="2" y="387"/>
                </a:cxn>
                <a:cxn ang="0">
                  <a:pos x="0" y="444"/>
                </a:cxn>
                <a:cxn ang="0">
                  <a:pos x="6" y="503"/>
                </a:cxn>
                <a:cxn ang="0">
                  <a:pos x="20" y="563"/>
                </a:cxn>
                <a:cxn ang="0">
                  <a:pos x="33" y="596"/>
                </a:cxn>
                <a:cxn ang="0">
                  <a:pos x="47" y="610"/>
                </a:cxn>
                <a:cxn ang="0">
                  <a:pos x="72" y="620"/>
                </a:cxn>
                <a:cxn ang="0">
                  <a:pos x="403" y="678"/>
                </a:cxn>
                <a:cxn ang="0">
                  <a:pos x="328" y="602"/>
                </a:cxn>
                <a:cxn ang="0">
                  <a:pos x="557" y="60"/>
                </a:cxn>
                <a:cxn ang="0">
                  <a:pos x="241" y="0"/>
                </a:cxn>
              </a:cxnLst>
              <a:rect l="txL" t="txT" r="txR" b="txB"/>
              <a:pathLst>
                <a:path w="1632" h="1986">
                  <a:moveTo>
                    <a:pt x="708" y="0"/>
                  </a:moveTo>
                  <a:lnTo>
                    <a:pt x="618" y="12"/>
                  </a:lnTo>
                  <a:lnTo>
                    <a:pt x="546" y="42"/>
                  </a:lnTo>
                  <a:lnTo>
                    <a:pt x="462" y="96"/>
                  </a:lnTo>
                  <a:lnTo>
                    <a:pt x="342" y="228"/>
                  </a:lnTo>
                  <a:lnTo>
                    <a:pt x="258" y="342"/>
                  </a:lnTo>
                  <a:lnTo>
                    <a:pt x="174" y="492"/>
                  </a:lnTo>
                  <a:lnTo>
                    <a:pt x="114" y="636"/>
                  </a:lnTo>
                  <a:lnTo>
                    <a:pt x="54" y="810"/>
                  </a:lnTo>
                  <a:lnTo>
                    <a:pt x="30" y="954"/>
                  </a:lnTo>
                  <a:lnTo>
                    <a:pt x="6" y="1134"/>
                  </a:lnTo>
                  <a:lnTo>
                    <a:pt x="0" y="1302"/>
                  </a:lnTo>
                  <a:lnTo>
                    <a:pt x="18" y="1476"/>
                  </a:lnTo>
                  <a:lnTo>
                    <a:pt x="60" y="1650"/>
                  </a:lnTo>
                  <a:lnTo>
                    <a:pt x="96" y="1746"/>
                  </a:lnTo>
                  <a:lnTo>
                    <a:pt x="138" y="1788"/>
                  </a:lnTo>
                  <a:lnTo>
                    <a:pt x="210" y="1818"/>
                  </a:lnTo>
                  <a:lnTo>
                    <a:pt x="1182" y="1986"/>
                  </a:lnTo>
                  <a:lnTo>
                    <a:pt x="960" y="1764"/>
                  </a:lnTo>
                  <a:lnTo>
                    <a:pt x="1632" y="174"/>
                  </a:lnTo>
                  <a:lnTo>
                    <a:pt x="708" y="0"/>
                  </a:lnTo>
                  <a:close/>
                </a:path>
              </a:pathLst>
            </a:custGeom>
            <a:gradFill rotWithShape="0">
              <a:gsLst>
                <a:gs pos="0">
                  <a:srgbClr val="184718"/>
                </a:gs>
                <a:gs pos="50000">
                  <a:srgbClr val="339933"/>
                </a:gs>
                <a:gs pos="100000">
                  <a:srgbClr val="184718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56" name="Oval 122"/>
            <p:cNvSpPr/>
            <p:nvPr/>
          </p:nvSpPr>
          <p:spPr>
            <a:xfrm rot="843327">
              <a:off x="899" y="1316"/>
              <a:ext cx="588" cy="109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3528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57" name="Freeform 123"/>
            <p:cNvSpPr/>
            <p:nvPr/>
          </p:nvSpPr>
          <p:spPr>
            <a:xfrm>
              <a:off x="1041" y="1662"/>
              <a:ext cx="947" cy="554"/>
            </a:xfrm>
            <a:custGeom>
              <a:avLst/>
              <a:gdLst>
                <a:gd name="txL" fmla="*/ 0 w 1620"/>
                <a:gd name="txT" fmla="*/ 0 h 948"/>
                <a:gd name="txR" fmla="*/ 1620 w 1620"/>
                <a:gd name="txB" fmla="*/ 948 h 948"/>
              </a:gdLst>
              <a:ahLst/>
              <a:cxnLst>
                <a:cxn ang="0">
                  <a:pos x="68" y="0"/>
                </a:cxn>
                <a:cxn ang="0">
                  <a:pos x="39" y="29"/>
                </a:cxn>
                <a:cxn ang="0">
                  <a:pos x="32" y="43"/>
                </a:cxn>
                <a:cxn ang="0">
                  <a:pos x="23" y="60"/>
                </a:cxn>
                <a:cxn ang="0">
                  <a:pos x="12" y="90"/>
                </a:cxn>
                <a:cxn ang="0">
                  <a:pos x="4" y="125"/>
                </a:cxn>
                <a:cxn ang="0">
                  <a:pos x="0" y="176"/>
                </a:cxn>
                <a:cxn ang="0">
                  <a:pos x="12" y="223"/>
                </a:cxn>
                <a:cxn ang="0">
                  <a:pos x="39" y="246"/>
                </a:cxn>
                <a:cxn ang="0">
                  <a:pos x="494" y="324"/>
                </a:cxn>
                <a:cxn ang="0">
                  <a:pos x="554" y="61"/>
                </a:cxn>
                <a:cxn ang="0">
                  <a:pos x="250" y="4"/>
                </a:cxn>
                <a:cxn ang="0">
                  <a:pos x="68" y="0"/>
                </a:cxn>
              </a:cxnLst>
              <a:rect l="txL" t="txT" r="txR" b="txB"/>
              <a:pathLst>
                <a:path w="1620" h="948">
                  <a:moveTo>
                    <a:pt x="198" y="0"/>
                  </a:moveTo>
                  <a:lnTo>
                    <a:pt x="114" y="84"/>
                  </a:lnTo>
                  <a:lnTo>
                    <a:pt x="93" y="126"/>
                  </a:lnTo>
                  <a:lnTo>
                    <a:pt x="66" y="174"/>
                  </a:lnTo>
                  <a:lnTo>
                    <a:pt x="36" y="264"/>
                  </a:lnTo>
                  <a:lnTo>
                    <a:pt x="12" y="366"/>
                  </a:lnTo>
                  <a:lnTo>
                    <a:pt x="0" y="516"/>
                  </a:lnTo>
                  <a:lnTo>
                    <a:pt x="36" y="654"/>
                  </a:lnTo>
                  <a:lnTo>
                    <a:pt x="114" y="720"/>
                  </a:lnTo>
                  <a:lnTo>
                    <a:pt x="1446" y="948"/>
                  </a:lnTo>
                  <a:lnTo>
                    <a:pt x="1620" y="180"/>
                  </a:lnTo>
                  <a:lnTo>
                    <a:pt x="732" y="12"/>
                  </a:lnTo>
                  <a:lnTo>
                    <a:pt x="198" y="0"/>
                  </a:lnTo>
                  <a:close/>
                </a:path>
              </a:pathLst>
            </a:custGeom>
            <a:gradFill rotWithShape="0">
              <a:gsLst>
                <a:gs pos="0">
                  <a:srgbClr val="454545"/>
                </a:gs>
                <a:gs pos="50000">
                  <a:srgbClr val="969696"/>
                </a:gs>
                <a:gs pos="100000">
                  <a:srgbClr val="454545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58" name="Freeform 124"/>
            <p:cNvSpPr/>
            <p:nvPr/>
          </p:nvSpPr>
          <p:spPr>
            <a:xfrm>
              <a:off x="1834" y="1767"/>
              <a:ext cx="213" cy="459"/>
            </a:xfrm>
            <a:custGeom>
              <a:avLst/>
              <a:gdLst>
                <a:gd name="txL" fmla="*/ 0 w 366"/>
                <a:gd name="txT" fmla="*/ 0 h 786"/>
                <a:gd name="txR" fmla="*/ 366 w 366"/>
                <a:gd name="txB" fmla="*/ 786 h 786"/>
              </a:gdLst>
              <a:ahLst/>
              <a:cxnLst>
                <a:cxn ang="0">
                  <a:pos x="124" y="27"/>
                </a:cxn>
                <a:cxn ang="0">
                  <a:pos x="90" y="0"/>
                </a:cxn>
                <a:cxn ang="0">
                  <a:pos x="71" y="11"/>
                </a:cxn>
                <a:cxn ang="0">
                  <a:pos x="45" y="41"/>
                </a:cxn>
                <a:cxn ang="0">
                  <a:pos x="22" y="80"/>
                </a:cxn>
                <a:cxn ang="0">
                  <a:pos x="6" y="119"/>
                </a:cxn>
                <a:cxn ang="0">
                  <a:pos x="0" y="155"/>
                </a:cxn>
                <a:cxn ang="0">
                  <a:pos x="0" y="200"/>
                </a:cxn>
                <a:cxn ang="0">
                  <a:pos x="12" y="244"/>
                </a:cxn>
                <a:cxn ang="0">
                  <a:pos x="26" y="268"/>
                </a:cxn>
                <a:cxn ang="0">
                  <a:pos x="67" y="253"/>
                </a:cxn>
                <a:cxn ang="0">
                  <a:pos x="124" y="27"/>
                </a:cxn>
              </a:cxnLst>
              <a:rect l="txL" t="txT" r="txR" b="txB"/>
              <a:pathLst>
                <a:path w="366" h="786">
                  <a:moveTo>
                    <a:pt x="366" y="78"/>
                  </a:moveTo>
                  <a:lnTo>
                    <a:pt x="264" y="0"/>
                  </a:lnTo>
                  <a:lnTo>
                    <a:pt x="210" y="30"/>
                  </a:lnTo>
                  <a:lnTo>
                    <a:pt x="132" y="120"/>
                  </a:lnTo>
                  <a:lnTo>
                    <a:pt x="66" y="234"/>
                  </a:lnTo>
                  <a:lnTo>
                    <a:pt x="18" y="348"/>
                  </a:lnTo>
                  <a:lnTo>
                    <a:pt x="0" y="456"/>
                  </a:lnTo>
                  <a:lnTo>
                    <a:pt x="0" y="588"/>
                  </a:lnTo>
                  <a:lnTo>
                    <a:pt x="36" y="714"/>
                  </a:lnTo>
                  <a:lnTo>
                    <a:pt x="78" y="786"/>
                  </a:lnTo>
                  <a:lnTo>
                    <a:pt x="198" y="744"/>
                  </a:lnTo>
                  <a:lnTo>
                    <a:pt x="366" y="78"/>
                  </a:lnTo>
                  <a:close/>
                </a:path>
              </a:pathLst>
            </a:custGeom>
            <a:gradFill rotWithShape="0">
              <a:gsLst>
                <a:gs pos="0">
                  <a:srgbClr val="3B3B3B"/>
                </a:gs>
                <a:gs pos="50000">
                  <a:srgbClr val="B2B2B2"/>
                </a:gs>
                <a:gs pos="100000">
                  <a:srgbClr val="3B3B3B"/>
                </a:gs>
              </a:gsLst>
              <a:lin ang="18900000" scaled="1"/>
              <a:tileRect/>
            </a:gradFill>
            <a:ln w="1905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59" name="Freeform 125"/>
            <p:cNvSpPr/>
            <p:nvPr/>
          </p:nvSpPr>
          <p:spPr>
            <a:xfrm>
              <a:off x="859" y="2349"/>
              <a:ext cx="41" cy="20"/>
            </a:xfrm>
            <a:custGeom>
              <a:avLst/>
              <a:gdLst>
                <a:gd name="txL" fmla="*/ 0 w 71"/>
                <a:gd name="txT" fmla="*/ 0 h 35"/>
                <a:gd name="txR" fmla="*/ 71 w 71"/>
                <a:gd name="txB" fmla="*/ 35 h 35"/>
              </a:gdLst>
              <a:ahLst/>
              <a:cxnLst>
                <a:cxn ang="0">
                  <a:pos x="14" y="11"/>
                </a:cxn>
                <a:cxn ang="0">
                  <a:pos x="22" y="2"/>
                </a:cxn>
                <a:cxn ang="0">
                  <a:pos x="1" y="2"/>
                </a:cxn>
                <a:cxn ang="0">
                  <a:pos x="14" y="11"/>
                </a:cxn>
              </a:cxnLst>
              <a:rect l="txL" t="txT" r="txR" b="txB"/>
              <a:pathLst>
                <a:path w="71" h="35">
                  <a:moveTo>
                    <a:pt x="41" y="35"/>
                  </a:moveTo>
                  <a:cubicBezTo>
                    <a:pt x="51" y="35"/>
                    <a:pt x="71" y="10"/>
                    <a:pt x="65" y="5"/>
                  </a:cubicBezTo>
                  <a:cubicBezTo>
                    <a:pt x="59" y="0"/>
                    <a:pt x="8" y="1"/>
                    <a:pt x="4" y="6"/>
                  </a:cubicBezTo>
                  <a:cubicBezTo>
                    <a:pt x="0" y="11"/>
                    <a:pt x="31" y="35"/>
                    <a:pt x="41" y="35"/>
                  </a:cubicBezTo>
                  <a:close/>
                </a:path>
              </a:pathLst>
            </a:custGeom>
            <a:solidFill>
              <a:srgbClr val="996600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60" name="Oval 126"/>
            <p:cNvSpPr/>
            <p:nvPr/>
          </p:nvSpPr>
          <p:spPr>
            <a:xfrm rot="1049515">
              <a:off x="593" y="1740"/>
              <a:ext cx="125" cy="92"/>
            </a:xfrm>
            <a:prstGeom prst="ellipse">
              <a:avLst/>
            </a:prstGeom>
            <a:gradFill rotWithShape="0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270000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61" name="Freeform 127"/>
            <p:cNvSpPr/>
            <p:nvPr/>
          </p:nvSpPr>
          <p:spPr>
            <a:xfrm>
              <a:off x="904" y="2013"/>
              <a:ext cx="399" cy="321"/>
            </a:xfrm>
            <a:custGeom>
              <a:avLst/>
              <a:gdLst>
                <a:gd name="txL" fmla="*/ 0 w 683"/>
                <a:gd name="txT" fmla="*/ 0 h 550"/>
                <a:gd name="txR" fmla="*/ 683 w 683"/>
                <a:gd name="txB" fmla="*/ 550 h 550"/>
              </a:gdLst>
              <a:ahLst/>
              <a:cxnLst>
                <a:cxn ang="0">
                  <a:pos x="0" y="181"/>
                </a:cxn>
                <a:cxn ang="0">
                  <a:pos x="38" y="187"/>
                </a:cxn>
                <a:cxn ang="0">
                  <a:pos x="70" y="131"/>
                </a:cxn>
                <a:cxn ang="0">
                  <a:pos x="119" y="141"/>
                </a:cxn>
                <a:cxn ang="0">
                  <a:pos x="157" y="72"/>
                </a:cxn>
                <a:cxn ang="0">
                  <a:pos x="209" y="83"/>
                </a:cxn>
                <a:cxn ang="0">
                  <a:pos x="233" y="29"/>
                </a:cxn>
                <a:cxn ang="0">
                  <a:pos x="87" y="0"/>
                </a:cxn>
                <a:cxn ang="0">
                  <a:pos x="0" y="181"/>
                </a:cxn>
              </a:cxnLst>
              <a:rect l="txL" t="txT" r="txR" b="txB"/>
              <a:pathLst>
                <a:path w="683" h="550">
                  <a:moveTo>
                    <a:pt x="0" y="531"/>
                  </a:moveTo>
                  <a:lnTo>
                    <a:pt x="111" y="550"/>
                  </a:lnTo>
                  <a:lnTo>
                    <a:pt x="204" y="384"/>
                  </a:lnTo>
                  <a:lnTo>
                    <a:pt x="348" y="414"/>
                  </a:lnTo>
                  <a:lnTo>
                    <a:pt x="459" y="213"/>
                  </a:lnTo>
                  <a:lnTo>
                    <a:pt x="612" y="243"/>
                  </a:lnTo>
                  <a:lnTo>
                    <a:pt x="683" y="84"/>
                  </a:lnTo>
                  <a:lnTo>
                    <a:pt x="255" y="0"/>
                  </a:lnTo>
                  <a:lnTo>
                    <a:pt x="0" y="531"/>
                  </a:lnTo>
                  <a:close/>
                </a:path>
              </a:pathLst>
            </a:custGeom>
            <a:gradFill rotWithShape="0">
              <a:gsLst>
                <a:gs pos="0">
                  <a:srgbClr val="767600"/>
                </a:gs>
                <a:gs pos="100000">
                  <a:srgbClr val="FFFF00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62" name="Freeform 128"/>
            <p:cNvSpPr/>
            <p:nvPr/>
          </p:nvSpPr>
          <p:spPr>
            <a:xfrm>
              <a:off x="968" y="2225"/>
              <a:ext cx="92" cy="172"/>
            </a:xfrm>
            <a:custGeom>
              <a:avLst/>
              <a:gdLst>
                <a:gd name="txL" fmla="*/ 0 w 158"/>
                <a:gd name="txT" fmla="*/ 0 h 294"/>
                <a:gd name="txR" fmla="*/ 158 w 158"/>
                <a:gd name="txB" fmla="*/ 294 h 294"/>
              </a:gdLst>
              <a:ahLst/>
              <a:cxnLst>
                <a:cxn ang="0">
                  <a:pos x="32" y="0"/>
                </a:cxn>
                <a:cxn ang="0">
                  <a:pos x="54" y="29"/>
                </a:cxn>
                <a:cxn ang="0">
                  <a:pos x="14" y="101"/>
                </a:cxn>
                <a:cxn ang="0">
                  <a:pos x="0" y="63"/>
                </a:cxn>
                <a:cxn ang="0">
                  <a:pos x="32" y="0"/>
                </a:cxn>
              </a:cxnLst>
              <a:rect l="txL" t="txT" r="txR" b="txB"/>
              <a:pathLst>
                <a:path w="158" h="294">
                  <a:moveTo>
                    <a:pt x="94" y="0"/>
                  </a:moveTo>
                  <a:lnTo>
                    <a:pt x="158" y="84"/>
                  </a:lnTo>
                  <a:lnTo>
                    <a:pt x="42" y="294"/>
                  </a:lnTo>
                  <a:lnTo>
                    <a:pt x="0" y="184"/>
                  </a:lnTo>
                  <a:lnTo>
                    <a:pt x="94" y="0"/>
                  </a:lnTo>
                  <a:close/>
                </a:path>
              </a:pathLst>
            </a:custGeom>
            <a:gradFill rotWithShape="0">
              <a:gsLst>
                <a:gs pos="0">
                  <a:srgbClr val="FFCC66"/>
                </a:gs>
                <a:gs pos="100000">
                  <a:srgbClr val="765E2F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63" name="Freeform 129"/>
            <p:cNvSpPr/>
            <p:nvPr/>
          </p:nvSpPr>
          <p:spPr>
            <a:xfrm>
              <a:off x="1020" y="2226"/>
              <a:ext cx="121" cy="71"/>
            </a:xfrm>
            <a:custGeom>
              <a:avLst/>
              <a:gdLst>
                <a:gd name="txL" fmla="*/ 0 w 207"/>
                <a:gd name="txT" fmla="*/ 0 h 120"/>
                <a:gd name="txR" fmla="*/ 207 w 207"/>
                <a:gd name="txB" fmla="*/ 120 h 120"/>
              </a:gdLst>
              <a:ahLst/>
              <a:cxnLst>
                <a:cxn ang="0">
                  <a:pos x="0" y="0"/>
                </a:cxn>
                <a:cxn ang="0">
                  <a:pos x="46" y="9"/>
                </a:cxn>
                <a:cxn ang="0">
                  <a:pos x="71" y="42"/>
                </a:cxn>
                <a:cxn ang="0">
                  <a:pos x="25" y="35"/>
                </a:cxn>
                <a:cxn ang="0">
                  <a:pos x="0" y="0"/>
                </a:cxn>
              </a:cxnLst>
              <a:rect l="txL" t="txT" r="txR" b="txB"/>
              <a:pathLst>
                <a:path w="207" h="120">
                  <a:moveTo>
                    <a:pt x="0" y="0"/>
                  </a:moveTo>
                  <a:lnTo>
                    <a:pt x="135" y="27"/>
                  </a:lnTo>
                  <a:lnTo>
                    <a:pt x="207" y="120"/>
                  </a:lnTo>
                  <a:lnTo>
                    <a:pt x="72" y="99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CC66"/>
                </a:gs>
                <a:gs pos="100000">
                  <a:srgbClr val="4E3E1F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64" name="Freeform 130"/>
            <p:cNvSpPr/>
            <p:nvPr/>
          </p:nvSpPr>
          <p:spPr>
            <a:xfrm>
              <a:off x="1097" y="2122"/>
              <a:ext cx="99" cy="172"/>
            </a:xfrm>
            <a:custGeom>
              <a:avLst/>
              <a:gdLst>
                <a:gd name="txL" fmla="*/ 0 w 169"/>
                <a:gd name="txT" fmla="*/ 0 h 293"/>
                <a:gd name="txR" fmla="*/ 169 w 169"/>
                <a:gd name="txB" fmla="*/ 293 h 293"/>
              </a:gdLst>
              <a:ahLst/>
              <a:cxnLst>
                <a:cxn ang="0">
                  <a:pos x="0" y="70"/>
                </a:cxn>
                <a:cxn ang="0">
                  <a:pos x="34" y="0"/>
                </a:cxn>
                <a:cxn ang="0">
                  <a:pos x="58" y="32"/>
                </a:cxn>
                <a:cxn ang="0">
                  <a:pos x="23" y="101"/>
                </a:cxn>
                <a:cxn ang="0">
                  <a:pos x="0" y="70"/>
                </a:cxn>
              </a:cxnLst>
              <a:rect l="txL" t="txT" r="txR" b="txB"/>
              <a:pathLst>
                <a:path w="169" h="293">
                  <a:moveTo>
                    <a:pt x="0" y="203"/>
                  </a:moveTo>
                  <a:lnTo>
                    <a:pt x="99" y="0"/>
                  </a:lnTo>
                  <a:lnTo>
                    <a:pt x="169" y="94"/>
                  </a:lnTo>
                  <a:lnTo>
                    <a:pt x="66" y="293"/>
                  </a:lnTo>
                  <a:lnTo>
                    <a:pt x="0" y="203"/>
                  </a:lnTo>
                  <a:close/>
                </a:path>
              </a:pathLst>
            </a:custGeom>
            <a:gradFill rotWithShape="0">
              <a:gsLst>
                <a:gs pos="0">
                  <a:srgbClr val="FFCC66"/>
                </a:gs>
                <a:gs pos="100000">
                  <a:srgbClr val="5A4824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65" name="Freeform 131"/>
            <p:cNvSpPr/>
            <p:nvPr/>
          </p:nvSpPr>
          <p:spPr>
            <a:xfrm>
              <a:off x="1155" y="2122"/>
              <a:ext cx="136" cy="75"/>
            </a:xfrm>
            <a:custGeom>
              <a:avLst/>
              <a:gdLst>
                <a:gd name="txL" fmla="*/ 0 w 233"/>
                <a:gd name="txT" fmla="*/ 0 h 128"/>
                <a:gd name="txR" fmla="*/ 233 w 233"/>
                <a:gd name="txB" fmla="*/ 128 h 128"/>
              </a:gdLst>
              <a:ahLst/>
              <a:cxnLst>
                <a:cxn ang="0">
                  <a:pos x="0" y="0"/>
                </a:cxn>
                <a:cxn ang="0">
                  <a:pos x="62" y="11"/>
                </a:cxn>
                <a:cxn ang="0">
                  <a:pos x="79" y="44"/>
                </a:cxn>
                <a:cxn ang="0">
                  <a:pos x="22" y="35"/>
                </a:cxn>
                <a:cxn ang="0">
                  <a:pos x="0" y="0"/>
                </a:cxn>
              </a:cxnLst>
              <a:rect l="txL" t="txT" r="txR" b="txB"/>
              <a:pathLst>
                <a:path w="233" h="128">
                  <a:moveTo>
                    <a:pt x="0" y="0"/>
                  </a:moveTo>
                  <a:lnTo>
                    <a:pt x="183" y="32"/>
                  </a:lnTo>
                  <a:lnTo>
                    <a:pt x="233" y="128"/>
                  </a:lnTo>
                  <a:lnTo>
                    <a:pt x="65" y="102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65E2F"/>
                </a:gs>
                <a:gs pos="100000">
                  <a:srgbClr val="FFCC66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66" name="Freeform 132"/>
            <p:cNvSpPr/>
            <p:nvPr/>
          </p:nvSpPr>
          <p:spPr>
            <a:xfrm>
              <a:off x="1261" y="2062"/>
              <a:ext cx="80" cy="134"/>
            </a:xfrm>
            <a:custGeom>
              <a:avLst/>
              <a:gdLst>
                <a:gd name="txL" fmla="*/ 0 w 136"/>
                <a:gd name="txT" fmla="*/ 0 h 230"/>
                <a:gd name="txR" fmla="*/ 136 w 136"/>
                <a:gd name="txB" fmla="*/ 230 h 230"/>
              </a:gdLst>
              <a:ahLst/>
              <a:cxnLst>
                <a:cxn ang="0">
                  <a:pos x="24" y="0"/>
                </a:cxn>
                <a:cxn ang="0">
                  <a:pos x="0" y="45"/>
                </a:cxn>
                <a:cxn ang="0">
                  <a:pos x="17" y="78"/>
                </a:cxn>
                <a:cxn ang="0">
                  <a:pos x="47" y="25"/>
                </a:cxn>
                <a:cxn ang="0">
                  <a:pos x="39" y="20"/>
                </a:cxn>
                <a:cxn ang="0">
                  <a:pos x="31" y="9"/>
                </a:cxn>
                <a:cxn ang="0">
                  <a:pos x="24" y="0"/>
                </a:cxn>
              </a:cxnLst>
              <a:rect l="txL" t="txT" r="txR" b="txB"/>
              <a:pathLst>
                <a:path w="136" h="230">
                  <a:moveTo>
                    <a:pt x="68" y="0"/>
                  </a:moveTo>
                  <a:lnTo>
                    <a:pt x="0" y="134"/>
                  </a:lnTo>
                  <a:lnTo>
                    <a:pt x="50" y="230"/>
                  </a:lnTo>
                  <a:lnTo>
                    <a:pt x="136" y="74"/>
                  </a:lnTo>
                  <a:lnTo>
                    <a:pt x="112" y="58"/>
                  </a:lnTo>
                  <a:lnTo>
                    <a:pt x="88" y="28"/>
                  </a:lnTo>
                  <a:lnTo>
                    <a:pt x="68" y="0"/>
                  </a:lnTo>
                  <a:close/>
                </a:path>
              </a:pathLst>
            </a:custGeom>
            <a:gradFill rotWithShape="0">
              <a:gsLst>
                <a:gs pos="0">
                  <a:srgbClr val="FFCC66"/>
                </a:gs>
                <a:gs pos="100000">
                  <a:srgbClr val="54432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67" name="Freeform 133"/>
            <p:cNvSpPr/>
            <p:nvPr/>
          </p:nvSpPr>
          <p:spPr>
            <a:xfrm>
              <a:off x="869" y="2329"/>
              <a:ext cx="53" cy="22"/>
            </a:xfrm>
            <a:custGeom>
              <a:avLst/>
              <a:gdLst>
                <a:gd name="txL" fmla="*/ 0 w 92"/>
                <a:gd name="txT" fmla="*/ 0 h 38"/>
                <a:gd name="txR" fmla="*/ 92 w 92"/>
                <a:gd name="txB" fmla="*/ 38 h 38"/>
              </a:gdLst>
              <a:ahLst/>
              <a:cxnLst>
                <a:cxn ang="0">
                  <a:pos x="0" y="13"/>
                </a:cxn>
                <a:cxn ang="0">
                  <a:pos x="3" y="0"/>
                </a:cxn>
                <a:cxn ang="0">
                  <a:pos x="31" y="2"/>
                </a:cxn>
                <a:cxn ang="0">
                  <a:pos x="29" y="12"/>
                </a:cxn>
                <a:cxn ang="0">
                  <a:pos x="0" y="13"/>
                </a:cxn>
              </a:cxnLst>
              <a:rect l="txL" t="txT" r="txR" b="txB"/>
              <a:pathLst>
                <a:path w="92" h="38">
                  <a:moveTo>
                    <a:pt x="0" y="38"/>
                  </a:moveTo>
                  <a:lnTo>
                    <a:pt x="8" y="0"/>
                  </a:lnTo>
                  <a:lnTo>
                    <a:pt x="92" y="7"/>
                  </a:lnTo>
                  <a:lnTo>
                    <a:pt x="89" y="34"/>
                  </a:lnTo>
                  <a:lnTo>
                    <a:pt x="0" y="38"/>
                  </a:lnTo>
                  <a:close/>
                </a:path>
              </a:pathLst>
            </a:custGeom>
            <a:gradFill rotWithShape="0">
              <a:gsLst>
                <a:gs pos="0">
                  <a:srgbClr val="5E4700"/>
                </a:gs>
                <a:gs pos="100000">
                  <a:srgbClr val="CC9900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44068" name="Group 134"/>
            <p:cNvGrpSpPr/>
            <p:nvPr/>
          </p:nvGrpSpPr>
          <p:grpSpPr>
            <a:xfrm>
              <a:off x="1040" y="1264"/>
              <a:ext cx="433" cy="472"/>
              <a:chOff x="2157" y="633"/>
              <a:chExt cx="741" cy="807"/>
            </a:xfrm>
          </p:grpSpPr>
          <p:sp>
            <p:nvSpPr>
              <p:cNvPr id="44086" name="Freeform 135"/>
              <p:cNvSpPr/>
              <p:nvPr/>
            </p:nvSpPr>
            <p:spPr>
              <a:xfrm>
                <a:off x="2253" y="645"/>
                <a:ext cx="54" cy="33"/>
              </a:xfrm>
              <a:custGeom>
                <a:avLst/>
                <a:gdLst>
                  <a:gd name="txL" fmla="*/ 0 w 54"/>
                  <a:gd name="txT" fmla="*/ 0 h 33"/>
                  <a:gd name="txR" fmla="*/ 54 w 54"/>
                  <a:gd name="txB" fmla="*/ 33 h 33"/>
                </a:gdLst>
                <a:ahLst/>
                <a:cxnLst>
                  <a:cxn ang="0">
                    <a:pos x="54" y="0"/>
                  </a:cxn>
                  <a:cxn ang="0">
                    <a:pos x="54" y="33"/>
                  </a:cxn>
                  <a:cxn ang="0">
                    <a:pos x="0" y="12"/>
                  </a:cxn>
                  <a:cxn ang="0">
                    <a:pos x="54" y="0"/>
                  </a:cxn>
                </a:cxnLst>
                <a:rect l="txL" t="txT" r="txR" b="txB"/>
                <a:pathLst>
                  <a:path w="54" h="33">
                    <a:moveTo>
                      <a:pt x="54" y="0"/>
                    </a:moveTo>
                    <a:lnTo>
                      <a:pt x="54" y="33"/>
                    </a:lnTo>
                    <a:lnTo>
                      <a:pt x="0" y="12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rgbClr val="CC9900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087" name="Freeform 136"/>
              <p:cNvSpPr/>
              <p:nvPr/>
            </p:nvSpPr>
            <p:spPr>
              <a:xfrm>
                <a:off x="2247" y="693"/>
                <a:ext cx="114" cy="117"/>
              </a:xfrm>
              <a:custGeom>
                <a:avLst/>
                <a:gdLst>
                  <a:gd name="txL" fmla="*/ 0 w 114"/>
                  <a:gd name="txT" fmla="*/ 0 h 117"/>
                  <a:gd name="txR" fmla="*/ 114 w 114"/>
                  <a:gd name="txB" fmla="*/ 117 h 117"/>
                </a:gdLst>
                <a:ahLst/>
                <a:cxnLst>
                  <a:cxn ang="0">
                    <a:pos x="0" y="0"/>
                  </a:cxn>
                  <a:cxn ang="0">
                    <a:pos x="3" y="84"/>
                  </a:cxn>
                  <a:cxn ang="0">
                    <a:pos x="114" y="117"/>
                  </a:cxn>
                  <a:cxn ang="0">
                    <a:pos x="111" y="33"/>
                  </a:cxn>
                  <a:cxn ang="0">
                    <a:pos x="0" y="0"/>
                  </a:cxn>
                </a:cxnLst>
                <a:rect l="txL" t="txT" r="txR" b="txB"/>
                <a:pathLst>
                  <a:path w="114" h="117">
                    <a:moveTo>
                      <a:pt x="0" y="0"/>
                    </a:moveTo>
                    <a:lnTo>
                      <a:pt x="3" y="84"/>
                    </a:lnTo>
                    <a:lnTo>
                      <a:pt x="114" y="117"/>
                    </a:lnTo>
                    <a:lnTo>
                      <a:pt x="111" y="33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5E00"/>
                  </a:gs>
                  <a:gs pos="50000">
                    <a:srgbClr val="FFCC00"/>
                  </a:gs>
                  <a:gs pos="100000">
                    <a:srgbClr val="765E00"/>
                  </a:gs>
                </a:gsLst>
                <a:lin ang="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088" name="Freeform 137"/>
              <p:cNvSpPr/>
              <p:nvPr/>
            </p:nvSpPr>
            <p:spPr>
              <a:xfrm>
                <a:off x="2196" y="696"/>
                <a:ext cx="54" cy="117"/>
              </a:xfrm>
              <a:custGeom>
                <a:avLst/>
                <a:gdLst>
                  <a:gd name="txL" fmla="*/ 0 w 54"/>
                  <a:gd name="txT" fmla="*/ 0 h 117"/>
                  <a:gd name="txR" fmla="*/ 54 w 54"/>
                  <a:gd name="txB" fmla="*/ 117 h 117"/>
                </a:gdLst>
                <a:ahLst/>
                <a:cxnLst>
                  <a:cxn ang="0">
                    <a:pos x="54" y="0"/>
                  </a:cxn>
                  <a:cxn ang="0">
                    <a:pos x="54" y="81"/>
                  </a:cxn>
                  <a:cxn ang="0">
                    <a:pos x="6" y="117"/>
                  </a:cxn>
                  <a:cxn ang="0">
                    <a:pos x="0" y="48"/>
                  </a:cxn>
                  <a:cxn ang="0">
                    <a:pos x="54" y="0"/>
                  </a:cxn>
                </a:cxnLst>
                <a:rect l="txL" t="txT" r="txR" b="txB"/>
                <a:pathLst>
                  <a:path w="54" h="117">
                    <a:moveTo>
                      <a:pt x="54" y="0"/>
                    </a:moveTo>
                    <a:lnTo>
                      <a:pt x="54" y="81"/>
                    </a:lnTo>
                    <a:lnTo>
                      <a:pt x="6" y="117"/>
                    </a:lnTo>
                    <a:lnTo>
                      <a:pt x="0" y="48"/>
                    </a:lnTo>
                    <a:lnTo>
                      <a:pt x="5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00"/>
                  </a:gs>
                  <a:gs pos="100000">
                    <a:srgbClr val="765E00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089" name="Freeform 138"/>
              <p:cNvSpPr/>
              <p:nvPr/>
            </p:nvSpPr>
            <p:spPr>
              <a:xfrm>
                <a:off x="2781" y="1164"/>
                <a:ext cx="117" cy="273"/>
              </a:xfrm>
              <a:custGeom>
                <a:avLst/>
                <a:gdLst>
                  <a:gd name="txL" fmla="*/ 0 w 117"/>
                  <a:gd name="txT" fmla="*/ 0 h 273"/>
                  <a:gd name="txR" fmla="*/ 117 w 117"/>
                  <a:gd name="txB" fmla="*/ 273 h 273"/>
                </a:gdLst>
                <a:ahLst/>
                <a:cxnLst>
                  <a:cxn ang="0">
                    <a:pos x="0" y="78"/>
                  </a:cxn>
                  <a:cxn ang="0">
                    <a:pos x="0" y="273"/>
                  </a:cxn>
                  <a:cxn ang="0">
                    <a:pos x="18" y="246"/>
                  </a:cxn>
                  <a:cxn ang="0">
                    <a:pos x="51" y="216"/>
                  </a:cxn>
                  <a:cxn ang="0">
                    <a:pos x="84" y="195"/>
                  </a:cxn>
                  <a:cxn ang="0">
                    <a:pos x="117" y="180"/>
                  </a:cxn>
                  <a:cxn ang="0">
                    <a:pos x="117" y="0"/>
                  </a:cxn>
                  <a:cxn ang="0">
                    <a:pos x="0" y="78"/>
                  </a:cxn>
                </a:cxnLst>
                <a:rect l="txL" t="txT" r="txR" b="txB"/>
                <a:pathLst>
                  <a:path w="117" h="273">
                    <a:moveTo>
                      <a:pt x="0" y="78"/>
                    </a:moveTo>
                    <a:lnTo>
                      <a:pt x="0" y="273"/>
                    </a:lnTo>
                    <a:lnTo>
                      <a:pt x="18" y="246"/>
                    </a:lnTo>
                    <a:lnTo>
                      <a:pt x="51" y="216"/>
                    </a:lnTo>
                    <a:lnTo>
                      <a:pt x="84" y="195"/>
                    </a:lnTo>
                    <a:lnTo>
                      <a:pt x="117" y="180"/>
                    </a:lnTo>
                    <a:lnTo>
                      <a:pt x="117" y="0"/>
                    </a:lnTo>
                    <a:lnTo>
                      <a:pt x="0" y="7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00"/>
                  </a:gs>
                  <a:gs pos="100000">
                    <a:srgbClr val="765E00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090" name="Freeform 139"/>
              <p:cNvSpPr/>
              <p:nvPr/>
            </p:nvSpPr>
            <p:spPr>
              <a:xfrm>
                <a:off x="2160" y="720"/>
                <a:ext cx="48" cy="96"/>
              </a:xfrm>
              <a:custGeom>
                <a:avLst/>
                <a:gdLst>
                  <a:gd name="txL" fmla="*/ 0 w 48"/>
                  <a:gd name="txT" fmla="*/ 0 h 96"/>
                  <a:gd name="txR" fmla="*/ 48 w 48"/>
                  <a:gd name="txB" fmla="*/ 96 h 96"/>
                </a:gdLst>
                <a:ahLst/>
                <a:cxnLst>
                  <a:cxn ang="0">
                    <a:pos x="0" y="0"/>
                  </a:cxn>
                  <a:cxn ang="0">
                    <a:pos x="48" y="12"/>
                  </a:cxn>
                  <a:cxn ang="0">
                    <a:pos x="48" y="96"/>
                  </a:cxn>
                  <a:cxn ang="0">
                    <a:pos x="0" y="81"/>
                  </a:cxn>
                  <a:cxn ang="0">
                    <a:pos x="0" y="0"/>
                  </a:cxn>
                </a:cxnLst>
                <a:rect l="txL" t="txT" r="txR" b="txB"/>
                <a:pathLst>
                  <a:path w="48" h="96">
                    <a:moveTo>
                      <a:pt x="0" y="0"/>
                    </a:moveTo>
                    <a:lnTo>
                      <a:pt x="48" y="12"/>
                    </a:lnTo>
                    <a:lnTo>
                      <a:pt x="48" y="96"/>
                    </a:lnTo>
                    <a:lnTo>
                      <a:pt x="0" y="81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7600"/>
                  </a:gs>
                  <a:gs pos="100000">
                    <a:srgbClr val="FFFF00"/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091" name="Freeform 140"/>
              <p:cNvSpPr/>
              <p:nvPr/>
            </p:nvSpPr>
            <p:spPr>
              <a:xfrm>
                <a:off x="2157" y="633"/>
                <a:ext cx="384" cy="147"/>
              </a:xfrm>
              <a:custGeom>
                <a:avLst/>
                <a:gdLst>
                  <a:gd name="txL" fmla="*/ 0 w 384"/>
                  <a:gd name="txT" fmla="*/ 0 h 147"/>
                  <a:gd name="txR" fmla="*/ 384 w 384"/>
                  <a:gd name="txB" fmla="*/ 147 h 147"/>
                </a:gdLst>
                <a:ahLst/>
                <a:cxnLst>
                  <a:cxn ang="0">
                    <a:pos x="102" y="0"/>
                  </a:cxn>
                  <a:cxn ang="0">
                    <a:pos x="150" y="15"/>
                  </a:cxn>
                  <a:cxn ang="0">
                    <a:pos x="126" y="36"/>
                  </a:cxn>
                  <a:cxn ang="0">
                    <a:pos x="225" y="63"/>
                  </a:cxn>
                  <a:cxn ang="0">
                    <a:pos x="270" y="33"/>
                  </a:cxn>
                  <a:cxn ang="0">
                    <a:pos x="384" y="69"/>
                  </a:cxn>
                  <a:cxn ang="0">
                    <a:pos x="267" y="147"/>
                  </a:cxn>
                  <a:cxn ang="0">
                    <a:pos x="162" y="111"/>
                  </a:cxn>
                  <a:cxn ang="0">
                    <a:pos x="192" y="90"/>
                  </a:cxn>
                  <a:cxn ang="0">
                    <a:pos x="102" y="63"/>
                  </a:cxn>
                  <a:cxn ang="0">
                    <a:pos x="51" y="108"/>
                  </a:cxn>
                  <a:cxn ang="0">
                    <a:pos x="0" y="90"/>
                  </a:cxn>
                  <a:cxn ang="0">
                    <a:pos x="102" y="0"/>
                  </a:cxn>
                </a:cxnLst>
                <a:rect l="txL" t="txT" r="txR" b="txB"/>
                <a:pathLst>
                  <a:path w="384" h="147">
                    <a:moveTo>
                      <a:pt x="102" y="0"/>
                    </a:moveTo>
                    <a:lnTo>
                      <a:pt x="150" y="15"/>
                    </a:lnTo>
                    <a:lnTo>
                      <a:pt x="126" y="36"/>
                    </a:lnTo>
                    <a:lnTo>
                      <a:pt x="225" y="63"/>
                    </a:lnTo>
                    <a:lnTo>
                      <a:pt x="270" y="33"/>
                    </a:lnTo>
                    <a:lnTo>
                      <a:pt x="384" y="69"/>
                    </a:lnTo>
                    <a:lnTo>
                      <a:pt x="267" y="147"/>
                    </a:lnTo>
                    <a:lnTo>
                      <a:pt x="162" y="111"/>
                    </a:lnTo>
                    <a:lnTo>
                      <a:pt x="192" y="90"/>
                    </a:lnTo>
                    <a:lnTo>
                      <a:pt x="102" y="63"/>
                    </a:lnTo>
                    <a:lnTo>
                      <a:pt x="51" y="108"/>
                    </a:lnTo>
                    <a:lnTo>
                      <a:pt x="0" y="90"/>
                    </a:lnTo>
                    <a:lnTo>
                      <a:pt x="1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5E00"/>
                  </a:gs>
                  <a:gs pos="100000">
                    <a:srgbClr val="FFCC00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092" name="Freeform 141"/>
              <p:cNvSpPr/>
              <p:nvPr/>
            </p:nvSpPr>
            <p:spPr>
              <a:xfrm>
                <a:off x="2319" y="750"/>
                <a:ext cx="465" cy="690"/>
              </a:xfrm>
              <a:custGeom>
                <a:avLst/>
                <a:gdLst>
                  <a:gd name="txL" fmla="*/ 0 w 465"/>
                  <a:gd name="txT" fmla="*/ 0 h 690"/>
                  <a:gd name="txR" fmla="*/ 465 w 465"/>
                  <a:gd name="txB" fmla="*/ 690 h 690"/>
                </a:gdLst>
                <a:ahLst/>
                <a:cxnLst>
                  <a:cxn ang="0">
                    <a:pos x="105" y="24"/>
                  </a:cxn>
                  <a:cxn ang="0">
                    <a:pos x="105" y="210"/>
                  </a:cxn>
                  <a:cxn ang="0">
                    <a:pos x="270" y="243"/>
                  </a:cxn>
                  <a:cxn ang="0">
                    <a:pos x="270" y="456"/>
                  </a:cxn>
                  <a:cxn ang="0">
                    <a:pos x="465" y="495"/>
                  </a:cxn>
                  <a:cxn ang="0">
                    <a:pos x="465" y="690"/>
                  </a:cxn>
                  <a:cxn ang="0">
                    <a:pos x="0" y="597"/>
                  </a:cxn>
                  <a:cxn ang="0">
                    <a:pos x="0" y="0"/>
                  </a:cxn>
                  <a:cxn ang="0">
                    <a:pos x="105" y="24"/>
                  </a:cxn>
                </a:cxnLst>
                <a:rect l="txL" t="txT" r="txR" b="txB"/>
                <a:pathLst>
                  <a:path w="465" h="690">
                    <a:moveTo>
                      <a:pt x="105" y="24"/>
                    </a:moveTo>
                    <a:lnTo>
                      <a:pt x="105" y="210"/>
                    </a:lnTo>
                    <a:lnTo>
                      <a:pt x="270" y="243"/>
                    </a:lnTo>
                    <a:lnTo>
                      <a:pt x="270" y="456"/>
                    </a:lnTo>
                    <a:lnTo>
                      <a:pt x="465" y="495"/>
                    </a:lnTo>
                    <a:lnTo>
                      <a:pt x="465" y="690"/>
                    </a:lnTo>
                    <a:lnTo>
                      <a:pt x="0" y="597"/>
                    </a:lnTo>
                    <a:lnTo>
                      <a:pt x="0" y="0"/>
                    </a:lnTo>
                    <a:lnTo>
                      <a:pt x="105" y="2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7600"/>
                  </a:gs>
                  <a:gs pos="100000">
                    <a:srgbClr val="FFFF00"/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093" name="Freeform 142"/>
              <p:cNvSpPr/>
              <p:nvPr/>
            </p:nvSpPr>
            <p:spPr>
              <a:xfrm>
                <a:off x="2421" y="699"/>
                <a:ext cx="120" cy="273"/>
              </a:xfrm>
              <a:custGeom>
                <a:avLst/>
                <a:gdLst>
                  <a:gd name="txL" fmla="*/ 0 w 120"/>
                  <a:gd name="txT" fmla="*/ 0 h 273"/>
                  <a:gd name="txR" fmla="*/ 120 w 120"/>
                  <a:gd name="txB" fmla="*/ 273 h 273"/>
                </a:gdLst>
                <a:ahLst/>
                <a:cxnLst>
                  <a:cxn ang="0">
                    <a:pos x="120" y="0"/>
                  </a:cxn>
                  <a:cxn ang="0">
                    <a:pos x="0" y="75"/>
                  </a:cxn>
                  <a:cxn ang="0">
                    <a:pos x="3" y="273"/>
                  </a:cxn>
                  <a:cxn ang="0">
                    <a:pos x="120" y="186"/>
                  </a:cxn>
                  <a:cxn ang="0">
                    <a:pos x="120" y="0"/>
                  </a:cxn>
                </a:cxnLst>
                <a:rect l="txL" t="txT" r="txR" b="txB"/>
                <a:pathLst>
                  <a:path w="120" h="273">
                    <a:moveTo>
                      <a:pt x="120" y="0"/>
                    </a:moveTo>
                    <a:lnTo>
                      <a:pt x="0" y="75"/>
                    </a:lnTo>
                    <a:lnTo>
                      <a:pt x="3" y="273"/>
                    </a:lnTo>
                    <a:lnTo>
                      <a:pt x="120" y="186"/>
                    </a:lnTo>
                    <a:lnTo>
                      <a:pt x="12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00"/>
                  </a:gs>
                  <a:gs pos="100000">
                    <a:srgbClr val="765E00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094" name="Freeform 143"/>
              <p:cNvSpPr/>
              <p:nvPr/>
            </p:nvSpPr>
            <p:spPr>
              <a:xfrm>
                <a:off x="2424" y="879"/>
                <a:ext cx="285" cy="126"/>
              </a:xfrm>
              <a:custGeom>
                <a:avLst/>
                <a:gdLst>
                  <a:gd name="txL" fmla="*/ 0 w 285"/>
                  <a:gd name="txT" fmla="*/ 0 h 126"/>
                  <a:gd name="txR" fmla="*/ 285 w 285"/>
                  <a:gd name="txB" fmla="*/ 126 h 126"/>
                </a:gdLst>
                <a:ahLst/>
                <a:cxnLst>
                  <a:cxn ang="0">
                    <a:pos x="0" y="93"/>
                  </a:cxn>
                  <a:cxn ang="0">
                    <a:pos x="162" y="126"/>
                  </a:cxn>
                  <a:cxn ang="0">
                    <a:pos x="285" y="30"/>
                  </a:cxn>
                  <a:cxn ang="0">
                    <a:pos x="120" y="0"/>
                  </a:cxn>
                  <a:cxn ang="0">
                    <a:pos x="0" y="93"/>
                  </a:cxn>
                </a:cxnLst>
                <a:rect l="txL" t="txT" r="txR" b="txB"/>
                <a:pathLst>
                  <a:path w="285" h="126">
                    <a:moveTo>
                      <a:pt x="0" y="93"/>
                    </a:moveTo>
                    <a:lnTo>
                      <a:pt x="162" y="126"/>
                    </a:lnTo>
                    <a:lnTo>
                      <a:pt x="285" y="30"/>
                    </a:lnTo>
                    <a:lnTo>
                      <a:pt x="120" y="0"/>
                    </a:lnTo>
                    <a:lnTo>
                      <a:pt x="0" y="9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5E00"/>
                  </a:gs>
                  <a:gs pos="100000">
                    <a:srgbClr val="FFCC00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095" name="Freeform 144"/>
              <p:cNvSpPr/>
              <p:nvPr/>
            </p:nvSpPr>
            <p:spPr>
              <a:xfrm>
                <a:off x="2586" y="906"/>
                <a:ext cx="120" cy="300"/>
              </a:xfrm>
              <a:custGeom>
                <a:avLst/>
                <a:gdLst>
                  <a:gd name="txL" fmla="*/ 0 w 120"/>
                  <a:gd name="txT" fmla="*/ 0 h 300"/>
                  <a:gd name="txR" fmla="*/ 120 w 120"/>
                  <a:gd name="txB" fmla="*/ 300 h 300"/>
                </a:gdLst>
                <a:ahLst/>
                <a:cxnLst>
                  <a:cxn ang="0">
                    <a:pos x="0" y="96"/>
                  </a:cxn>
                  <a:cxn ang="0">
                    <a:pos x="0" y="300"/>
                  </a:cxn>
                  <a:cxn ang="0">
                    <a:pos x="117" y="231"/>
                  </a:cxn>
                  <a:cxn ang="0">
                    <a:pos x="120" y="0"/>
                  </a:cxn>
                  <a:cxn ang="0">
                    <a:pos x="0" y="96"/>
                  </a:cxn>
                </a:cxnLst>
                <a:rect l="txL" t="txT" r="txR" b="txB"/>
                <a:pathLst>
                  <a:path w="120" h="300">
                    <a:moveTo>
                      <a:pt x="0" y="96"/>
                    </a:moveTo>
                    <a:lnTo>
                      <a:pt x="0" y="300"/>
                    </a:lnTo>
                    <a:lnTo>
                      <a:pt x="117" y="231"/>
                    </a:lnTo>
                    <a:lnTo>
                      <a:pt x="120" y="0"/>
                    </a:lnTo>
                    <a:lnTo>
                      <a:pt x="0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00"/>
                  </a:gs>
                  <a:gs pos="100000">
                    <a:srgbClr val="765E00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096" name="Freeform 145"/>
              <p:cNvSpPr/>
              <p:nvPr/>
            </p:nvSpPr>
            <p:spPr>
              <a:xfrm>
                <a:off x="2583" y="1125"/>
                <a:ext cx="309" cy="123"/>
              </a:xfrm>
              <a:custGeom>
                <a:avLst/>
                <a:gdLst>
                  <a:gd name="txL" fmla="*/ 0 w 309"/>
                  <a:gd name="txT" fmla="*/ 0 h 123"/>
                  <a:gd name="txR" fmla="*/ 309 w 309"/>
                  <a:gd name="txB" fmla="*/ 123 h 123"/>
                </a:gdLst>
                <a:ahLst/>
                <a:cxnLst>
                  <a:cxn ang="0">
                    <a:pos x="0" y="78"/>
                  </a:cxn>
                  <a:cxn ang="0">
                    <a:pos x="198" y="123"/>
                  </a:cxn>
                  <a:cxn ang="0">
                    <a:pos x="309" y="45"/>
                  </a:cxn>
                  <a:cxn ang="0">
                    <a:pos x="120" y="0"/>
                  </a:cxn>
                  <a:cxn ang="0">
                    <a:pos x="0" y="78"/>
                  </a:cxn>
                </a:cxnLst>
                <a:rect l="txL" t="txT" r="txR" b="txB"/>
                <a:pathLst>
                  <a:path w="309" h="123">
                    <a:moveTo>
                      <a:pt x="0" y="78"/>
                    </a:moveTo>
                    <a:lnTo>
                      <a:pt x="198" y="123"/>
                    </a:lnTo>
                    <a:lnTo>
                      <a:pt x="309" y="45"/>
                    </a:lnTo>
                    <a:lnTo>
                      <a:pt x="120" y="0"/>
                    </a:lnTo>
                    <a:lnTo>
                      <a:pt x="0" y="7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5E00"/>
                  </a:gs>
                  <a:gs pos="100000">
                    <a:srgbClr val="FFCC00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4069" name="Freeform 146"/>
            <p:cNvSpPr/>
            <p:nvPr/>
          </p:nvSpPr>
          <p:spPr>
            <a:xfrm>
              <a:off x="843" y="2308"/>
              <a:ext cx="30" cy="21"/>
            </a:xfrm>
            <a:custGeom>
              <a:avLst/>
              <a:gdLst>
                <a:gd name="txL" fmla="*/ 0 w 52"/>
                <a:gd name="txT" fmla="*/ 0 h 36"/>
                <a:gd name="txR" fmla="*/ 52 w 52"/>
                <a:gd name="txB" fmla="*/ 36 h 36"/>
              </a:gdLst>
              <a:ahLst/>
              <a:cxnLst>
                <a:cxn ang="0">
                  <a:pos x="0" y="10"/>
                </a:cxn>
                <a:cxn ang="0">
                  <a:pos x="6" y="0"/>
                </a:cxn>
                <a:cxn ang="0">
                  <a:pos x="17" y="2"/>
                </a:cxn>
                <a:cxn ang="0">
                  <a:pos x="12" y="12"/>
                </a:cxn>
                <a:cxn ang="0">
                  <a:pos x="0" y="10"/>
                </a:cxn>
              </a:cxnLst>
              <a:rect l="txL" t="txT" r="txR" b="txB"/>
              <a:pathLst>
                <a:path w="52" h="36">
                  <a:moveTo>
                    <a:pt x="0" y="30"/>
                  </a:moveTo>
                  <a:lnTo>
                    <a:pt x="18" y="0"/>
                  </a:lnTo>
                  <a:lnTo>
                    <a:pt x="52" y="6"/>
                  </a:lnTo>
                  <a:lnTo>
                    <a:pt x="34" y="36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rgbClr val="5E4700"/>
                </a:gs>
                <a:gs pos="100000">
                  <a:srgbClr val="CC9900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70" name="Freeform 147"/>
            <p:cNvSpPr/>
            <p:nvPr/>
          </p:nvSpPr>
          <p:spPr>
            <a:xfrm>
              <a:off x="856" y="2313"/>
              <a:ext cx="24" cy="33"/>
            </a:xfrm>
            <a:custGeom>
              <a:avLst/>
              <a:gdLst>
                <a:gd name="txL" fmla="*/ 0 w 42"/>
                <a:gd name="txT" fmla="*/ 0 h 56"/>
                <a:gd name="txR" fmla="*/ 42 w 42"/>
                <a:gd name="txB" fmla="*/ 56 h 56"/>
              </a:gdLst>
              <a:ahLst/>
              <a:cxnLst>
                <a:cxn ang="0">
                  <a:pos x="10" y="0"/>
                </a:cxn>
                <a:cxn ang="0">
                  <a:pos x="14" y="10"/>
                </a:cxn>
                <a:cxn ang="0">
                  <a:pos x="8" y="19"/>
                </a:cxn>
                <a:cxn ang="0">
                  <a:pos x="0" y="6"/>
                </a:cxn>
                <a:cxn ang="0">
                  <a:pos x="10" y="0"/>
                </a:cxn>
              </a:cxnLst>
              <a:rect l="txL" t="txT" r="txR" b="txB"/>
              <a:pathLst>
                <a:path w="42" h="56">
                  <a:moveTo>
                    <a:pt x="30" y="0"/>
                  </a:moveTo>
                  <a:lnTo>
                    <a:pt x="42" y="29"/>
                  </a:lnTo>
                  <a:lnTo>
                    <a:pt x="24" y="56"/>
                  </a:lnTo>
                  <a:lnTo>
                    <a:pt x="0" y="17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CC9900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71" name="Freeform 148"/>
            <p:cNvSpPr/>
            <p:nvPr/>
          </p:nvSpPr>
          <p:spPr>
            <a:xfrm>
              <a:off x="843" y="2322"/>
              <a:ext cx="151" cy="74"/>
            </a:xfrm>
            <a:custGeom>
              <a:avLst/>
              <a:gdLst>
                <a:gd name="txL" fmla="*/ 0 w 259"/>
                <a:gd name="txT" fmla="*/ 0 h 127"/>
                <a:gd name="txR" fmla="*/ 259 w 259"/>
                <a:gd name="txB" fmla="*/ 127 h 127"/>
              </a:gdLst>
              <a:ahLst/>
              <a:cxnLst>
                <a:cxn ang="0">
                  <a:pos x="0" y="1"/>
                </a:cxn>
                <a:cxn ang="0">
                  <a:pos x="11" y="0"/>
                </a:cxn>
                <a:cxn ang="0">
                  <a:pos x="17" y="15"/>
                </a:cxn>
                <a:cxn ang="0">
                  <a:pos x="42" y="16"/>
                </a:cxn>
                <a:cxn ang="0">
                  <a:pos x="35" y="1"/>
                </a:cxn>
                <a:cxn ang="0">
                  <a:pos x="74" y="5"/>
                </a:cxn>
                <a:cxn ang="0">
                  <a:pos x="88" y="43"/>
                </a:cxn>
                <a:cxn ang="0">
                  <a:pos x="51" y="38"/>
                </a:cxn>
                <a:cxn ang="0">
                  <a:pos x="44" y="22"/>
                </a:cxn>
                <a:cxn ang="0">
                  <a:pos x="21" y="22"/>
                </a:cxn>
                <a:cxn ang="0">
                  <a:pos x="22" y="28"/>
                </a:cxn>
                <a:cxn ang="0">
                  <a:pos x="9" y="25"/>
                </a:cxn>
                <a:cxn ang="0">
                  <a:pos x="0" y="1"/>
                </a:cxn>
              </a:cxnLst>
              <a:rect l="txL" t="txT" r="txR" b="txB"/>
              <a:pathLst>
                <a:path w="259" h="127">
                  <a:moveTo>
                    <a:pt x="0" y="2"/>
                  </a:moveTo>
                  <a:lnTo>
                    <a:pt x="32" y="0"/>
                  </a:lnTo>
                  <a:lnTo>
                    <a:pt x="52" y="43"/>
                  </a:lnTo>
                  <a:lnTo>
                    <a:pt x="124" y="46"/>
                  </a:lnTo>
                  <a:lnTo>
                    <a:pt x="103" y="1"/>
                  </a:lnTo>
                  <a:lnTo>
                    <a:pt x="217" y="16"/>
                  </a:lnTo>
                  <a:lnTo>
                    <a:pt x="259" y="127"/>
                  </a:lnTo>
                  <a:lnTo>
                    <a:pt x="151" y="112"/>
                  </a:lnTo>
                  <a:lnTo>
                    <a:pt x="130" y="64"/>
                  </a:lnTo>
                  <a:lnTo>
                    <a:pt x="62" y="66"/>
                  </a:lnTo>
                  <a:lnTo>
                    <a:pt x="64" y="82"/>
                  </a:lnTo>
                  <a:lnTo>
                    <a:pt x="28" y="74"/>
                  </a:lnTo>
                  <a:lnTo>
                    <a:pt x="0" y="2"/>
                  </a:lnTo>
                  <a:close/>
                </a:path>
              </a:pathLst>
            </a:custGeom>
            <a:gradFill rotWithShape="0">
              <a:gsLst>
                <a:gs pos="0">
                  <a:srgbClr val="CC9900"/>
                </a:gs>
                <a:gs pos="100000">
                  <a:srgbClr val="5E4700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72" name="Freeform 149"/>
            <p:cNvSpPr/>
            <p:nvPr/>
          </p:nvSpPr>
          <p:spPr>
            <a:xfrm>
              <a:off x="1914" y="1778"/>
              <a:ext cx="214" cy="459"/>
            </a:xfrm>
            <a:custGeom>
              <a:avLst/>
              <a:gdLst>
                <a:gd name="txL" fmla="*/ 0 w 366"/>
                <a:gd name="txT" fmla="*/ 0 h 786"/>
                <a:gd name="txR" fmla="*/ 366 w 366"/>
                <a:gd name="txB" fmla="*/ 786 h 786"/>
              </a:gdLst>
              <a:ahLst/>
              <a:cxnLst>
                <a:cxn ang="0">
                  <a:pos x="125" y="27"/>
                </a:cxn>
                <a:cxn ang="0">
                  <a:pos x="90" y="0"/>
                </a:cxn>
                <a:cxn ang="0">
                  <a:pos x="72" y="11"/>
                </a:cxn>
                <a:cxn ang="0">
                  <a:pos x="45" y="41"/>
                </a:cxn>
                <a:cxn ang="0">
                  <a:pos x="23" y="80"/>
                </a:cxn>
                <a:cxn ang="0">
                  <a:pos x="6" y="119"/>
                </a:cxn>
                <a:cxn ang="0">
                  <a:pos x="0" y="155"/>
                </a:cxn>
                <a:cxn ang="0">
                  <a:pos x="0" y="200"/>
                </a:cxn>
                <a:cxn ang="0">
                  <a:pos x="12" y="244"/>
                </a:cxn>
                <a:cxn ang="0">
                  <a:pos x="27" y="268"/>
                </a:cxn>
                <a:cxn ang="0">
                  <a:pos x="68" y="253"/>
                </a:cxn>
                <a:cxn ang="0">
                  <a:pos x="125" y="27"/>
                </a:cxn>
              </a:cxnLst>
              <a:rect l="txL" t="txT" r="txR" b="txB"/>
              <a:pathLst>
                <a:path w="366" h="786">
                  <a:moveTo>
                    <a:pt x="366" y="78"/>
                  </a:moveTo>
                  <a:lnTo>
                    <a:pt x="264" y="0"/>
                  </a:lnTo>
                  <a:lnTo>
                    <a:pt x="210" y="30"/>
                  </a:lnTo>
                  <a:lnTo>
                    <a:pt x="132" y="120"/>
                  </a:lnTo>
                  <a:lnTo>
                    <a:pt x="66" y="234"/>
                  </a:lnTo>
                  <a:lnTo>
                    <a:pt x="18" y="348"/>
                  </a:lnTo>
                  <a:lnTo>
                    <a:pt x="0" y="456"/>
                  </a:lnTo>
                  <a:lnTo>
                    <a:pt x="0" y="588"/>
                  </a:lnTo>
                  <a:lnTo>
                    <a:pt x="36" y="714"/>
                  </a:lnTo>
                  <a:lnTo>
                    <a:pt x="78" y="786"/>
                  </a:lnTo>
                  <a:lnTo>
                    <a:pt x="198" y="744"/>
                  </a:lnTo>
                  <a:lnTo>
                    <a:pt x="366" y="78"/>
                  </a:lnTo>
                  <a:close/>
                </a:path>
              </a:pathLst>
            </a:custGeom>
            <a:gradFill rotWithShape="0">
              <a:gsLst>
                <a:gs pos="0">
                  <a:srgbClr val="3B3B3B"/>
                </a:gs>
                <a:gs pos="50000">
                  <a:srgbClr val="B2B2B2"/>
                </a:gs>
                <a:gs pos="100000">
                  <a:srgbClr val="3B3B3B"/>
                </a:gs>
              </a:gsLst>
              <a:lin ang="18900000" scaled="1"/>
              <a:tileRect/>
            </a:gradFill>
            <a:ln w="1905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73" name="Freeform 150"/>
            <p:cNvSpPr/>
            <p:nvPr/>
          </p:nvSpPr>
          <p:spPr>
            <a:xfrm>
              <a:off x="1988" y="1795"/>
              <a:ext cx="214" cy="459"/>
            </a:xfrm>
            <a:custGeom>
              <a:avLst/>
              <a:gdLst>
                <a:gd name="txL" fmla="*/ 0 w 366"/>
                <a:gd name="txT" fmla="*/ 0 h 786"/>
                <a:gd name="txR" fmla="*/ 366 w 366"/>
                <a:gd name="txB" fmla="*/ 786 h 786"/>
              </a:gdLst>
              <a:ahLst/>
              <a:cxnLst>
                <a:cxn ang="0">
                  <a:pos x="125" y="27"/>
                </a:cxn>
                <a:cxn ang="0">
                  <a:pos x="90" y="0"/>
                </a:cxn>
                <a:cxn ang="0">
                  <a:pos x="72" y="11"/>
                </a:cxn>
                <a:cxn ang="0">
                  <a:pos x="45" y="41"/>
                </a:cxn>
                <a:cxn ang="0">
                  <a:pos x="23" y="80"/>
                </a:cxn>
                <a:cxn ang="0">
                  <a:pos x="6" y="119"/>
                </a:cxn>
                <a:cxn ang="0">
                  <a:pos x="0" y="155"/>
                </a:cxn>
                <a:cxn ang="0">
                  <a:pos x="0" y="200"/>
                </a:cxn>
                <a:cxn ang="0">
                  <a:pos x="12" y="244"/>
                </a:cxn>
                <a:cxn ang="0">
                  <a:pos x="27" y="268"/>
                </a:cxn>
                <a:cxn ang="0">
                  <a:pos x="68" y="253"/>
                </a:cxn>
                <a:cxn ang="0">
                  <a:pos x="125" y="27"/>
                </a:cxn>
              </a:cxnLst>
              <a:rect l="txL" t="txT" r="txR" b="txB"/>
              <a:pathLst>
                <a:path w="366" h="786">
                  <a:moveTo>
                    <a:pt x="366" y="78"/>
                  </a:moveTo>
                  <a:lnTo>
                    <a:pt x="264" y="0"/>
                  </a:lnTo>
                  <a:lnTo>
                    <a:pt x="210" y="30"/>
                  </a:lnTo>
                  <a:lnTo>
                    <a:pt x="132" y="120"/>
                  </a:lnTo>
                  <a:lnTo>
                    <a:pt x="66" y="234"/>
                  </a:lnTo>
                  <a:lnTo>
                    <a:pt x="18" y="348"/>
                  </a:lnTo>
                  <a:lnTo>
                    <a:pt x="0" y="456"/>
                  </a:lnTo>
                  <a:lnTo>
                    <a:pt x="0" y="588"/>
                  </a:lnTo>
                  <a:lnTo>
                    <a:pt x="36" y="714"/>
                  </a:lnTo>
                  <a:lnTo>
                    <a:pt x="78" y="786"/>
                  </a:lnTo>
                  <a:lnTo>
                    <a:pt x="198" y="744"/>
                  </a:lnTo>
                  <a:lnTo>
                    <a:pt x="366" y="78"/>
                  </a:lnTo>
                  <a:close/>
                </a:path>
              </a:pathLst>
            </a:custGeom>
            <a:gradFill rotWithShape="0">
              <a:gsLst>
                <a:gs pos="0">
                  <a:srgbClr val="3B3B3B"/>
                </a:gs>
                <a:gs pos="50000">
                  <a:srgbClr val="B2B2B2"/>
                </a:gs>
                <a:gs pos="100000">
                  <a:srgbClr val="3B3B3B"/>
                </a:gs>
              </a:gsLst>
              <a:lin ang="18900000" scaled="1"/>
              <a:tileRect/>
            </a:gradFill>
            <a:ln w="1905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74" name="Freeform 151"/>
            <p:cNvSpPr/>
            <p:nvPr/>
          </p:nvSpPr>
          <p:spPr>
            <a:xfrm>
              <a:off x="2054" y="1809"/>
              <a:ext cx="214" cy="459"/>
            </a:xfrm>
            <a:custGeom>
              <a:avLst/>
              <a:gdLst>
                <a:gd name="txL" fmla="*/ 0 w 366"/>
                <a:gd name="txT" fmla="*/ 0 h 786"/>
                <a:gd name="txR" fmla="*/ 366 w 366"/>
                <a:gd name="txB" fmla="*/ 786 h 786"/>
              </a:gdLst>
              <a:ahLst/>
              <a:cxnLst>
                <a:cxn ang="0">
                  <a:pos x="125" y="27"/>
                </a:cxn>
                <a:cxn ang="0">
                  <a:pos x="90" y="0"/>
                </a:cxn>
                <a:cxn ang="0">
                  <a:pos x="72" y="11"/>
                </a:cxn>
                <a:cxn ang="0">
                  <a:pos x="45" y="41"/>
                </a:cxn>
                <a:cxn ang="0">
                  <a:pos x="23" y="80"/>
                </a:cxn>
                <a:cxn ang="0">
                  <a:pos x="6" y="119"/>
                </a:cxn>
                <a:cxn ang="0">
                  <a:pos x="0" y="155"/>
                </a:cxn>
                <a:cxn ang="0">
                  <a:pos x="0" y="200"/>
                </a:cxn>
                <a:cxn ang="0">
                  <a:pos x="12" y="244"/>
                </a:cxn>
                <a:cxn ang="0">
                  <a:pos x="27" y="268"/>
                </a:cxn>
                <a:cxn ang="0">
                  <a:pos x="68" y="253"/>
                </a:cxn>
                <a:cxn ang="0">
                  <a:pos x="125" y="27"/>
                </a:cxn>
              </a:cxnLst>
              <a:rect l="txL" t="txT" r="txR" b="txB"/>
              <a:pathLst>
                <a:path w="366" h="786">
                  <a:moveTo>
                    <a:pt x="366" y="78"/>
                  </a:moveTo>
                  <a:lnTo>
                    <a:pt x="264" y="0"/>
                  </a:lnTo>
                  <a:lnTo>
                    <a:pt x="210" y="30"/>
                  </a:lnTo>
                  <a:lnTo>
                    <a:pt x="132" y="120"/>
                  </a:lnTo>
                  <a:lnTo>
                    <a:pt x="66" y="234"/>
                  </a:lnTo>
                  <a:lnTo>
                    <a:pt x="18" y="348"/>
                  </a:lnTo>
                  <a:lnTo>
                    <a:pt x="0" y="456"/>
                  </a:lnTo>
                  <a:lnTo>
                    <a:pt x="0" y="588"/>
                  </a:lnTo>
                  <a:lnTo>
                    <a:pt x="36" y="714"/>
                  </a:lnTo>
                  <a:lnTo>
                    <a:pt x="78" y="786"/>
                  </a:lnTo>
                  <a:lnTo>
                    <a:pt x="198" y="744"/>
                  </a:lnTo>
                  <a:lnTo>
                    <a:pt x="366" y="78"/>
                  </a:lnTo>
                  <a:close/>
                </a:path>
              </a:pathLst>
            </a:custGeom>
            <a:gradFill rotWithShape="0">
              <a:gsLst>
                <a:gs pos="0">
                  <a:srgbClr val="3B3B3B"/>
                </a:gs>
                <a:gs pos="50000">
                  <a:srgbClr val="B2B2B2"/>
                </a:gs>
                <a:gs pos="100000">
                  <a:srgbClr val="3B3B3B"/>
                </a:gs>
              </a:gsLst>
              <a:lin ang="18900000" scaled="1"/>
              <a:tileRect/>
            </a:gradFill>
            <a:ln w="1905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75" name="Freeform 152"/>
            <p:cNvSpPr/>
            <p:nvPr/>
          </p:nvSpPr>
          <p:spPr>
            <a:xfrm>
              <a:off x="2121" y="1820"/>
              <a:ext cx="214" cy="459"/>
            </a:xfrm>
            <a:custGeom>
              <a:avLst/>
              <a:gdLst>
                <a:gd name="txL" fmla="*/ 0 w 366"/>
                <a:gd name="txT" fmla="*/ 0 h 786"/>
                <a:gd name="txR" fmla="*/ 366 w 366"/>
                <a:gd name="txB" fmla="*/ 786 h 786"/>
              </a:gdLst>
              <a:ahLst/>
              <a:cxnLst>
                <a:cxn ang="0">
                  <a:pos x="125" y="27"/>
                </a:cxn>
                <a:cxn ang="0">
                  <a:pos x="90" y="0"/>
                </a:cxn>
                <a:cxn ang="0">
                  <a:pos x="72" y="11"/>
                </a:cxn>
                <a:cxn ang="0">
                  <a:pos x="45" y="41"/>
                </a:cxn>
                <a:cxn ang="0">
                  <a:pos x="23" y="80"/>
                </a:cxn>
                <a:cxn ang="0">
                  <a:pos x="6" y="119"/>
                </a:cxn>
                <a:cxn ang="0">
                  <a:pos x="0" y="155"/>
                </a:cxn>
                <a:cxn ang="0">
                  <a:pos x="0" y="200"/>
                </a:cxn>
                <a:cxn ang="0">
                  <a:pos x="12" y="244"/>
                </a:cxn>
                <a:cxn ang="0">
                  <a:pos x="27" y="268"/>
                </a:cxn>
                <a:cxn ang="0">
                  <a:pos x="68" y="253"/>
                </a:cxn>
                <a:cxn ang="0">
                  <a:pos x="125" y="27"/>
                </a:cxn>
              </a:cxnLst>
              <a:rect l="txL" t="txT" r="txR" b="txB"/>
              <a:pathLst>
                <a:path w="366" h="786">
                  <a:moveTo>
                    <a:pt x="366" y="78"/>
                  </a:moveTo>
                  <a:lnTo>
                    <a:pt x="264" y="0"/>
                  </a:lnTo>
                  <a:lnTo>
                    <a:pt x="210" y="30"/>
                  </a:lnTo>
                  <a:lnTo>
                    <a:pt x="132" y="120"/>
                  </a:lnTo>
                  <a:lnTo>
                    <a:pt x="66" y="234"/>
                  </a:lnTo>
                  <a:lnTo>
                    <a:pt x="18" y="348"/>
                  </a:lnTo>
                  <a:lnTo>
                    <a:pt x="0" y="456"/>
                  </a:lnTo>
                  <a:lnTo>
                    <a:pt x="0" y="588"/>
                  </a:lnTo>
                  <a:lnTo>
                    <a:pt x="36" y="714"/>
                  </a:lnTo>
                  <a:lnTo>
                    <a:pt x="78" y="786"/>
                  </a:lnTo>
                  <a:lnTo>
                    <a:pt x="198" y="744"/>
                  </a:lnTo>
                  <a:lnTo>
                    <a:pt x="366" y="78"/>
                  </a:lnTo>
                  <a:close/>
                </a:path>
              </a:pathLst>
            </a:custGeom>
            <a:gradFill rotWithShape="0">
              <a:gsLst>
                <a:gs pos="0">
                  <a:srgbClr val="3B3B3B"/>
                </a:gs>
                <a:gs pos="50000">
                  <a:srgbClr val="B2B2B2"/>
                </a:gs>
                <a:gs pos="100000">
                  <a:srgbClr val="3B3B3B"/>
                </a:gs>
              </a:gsLst>
              <a:lin ang="18900000" scaled="1"/>
              <a:tileRect/>
            </a:gradFill>
            <a:ln w="1905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76" name="Freeform 153"/>
            <p:cNvSpPr/>
            <p:nvPr/>
          </p:nvSpPr>
          <p:spPr>
            <a:xfrm>
              <a:off x="2202" y="1834"/>
              <a:ext cx="213" cy="459"/>
            </a:xfrm>
            <a:custGeom>
              <a:avLst/>
              <a:gdLst>
                <a:gd name="txL" fmla="*/ 0 w 366"/>
                <a:gd name="txT" fmla="*/ 0 h 786"/>
                <a:gd name="txR" fmla="*/ 366 w 366"/>
                <a:gd name="txB" fmla="*/ 786 h 786"/>
              </a:gdLst>
              <a:ahLst/>
              <a:cxnLst>
                <a:cxn ang="0">
                  <a:pos x="124" y="27"/>
                </a:cxn>
                <a:cxn ang="0">
                  <a:pos x="90" y="0"/>
                </a:cxn>
                <a:cxn ang="0">
                  <a:pos x="71" y="11"/>
                </a:cxn>
                <a:cxn ang="0">
                  <a:pos x="45" y="41"/>
                </a:cxn>
                <a:cxn ang="0">
                  <a:pos x="22" y="80"/>
                </a:cxn>
                <a:cxn ang="0">
                  <a:pos x="6" y="119"/>
                </a:cxn>
                <a:cxn ang="0">
                  <a:pos x="0" y="155"/>
                </a:cxn>
                <a:cxn ang="0">
                  <a:pos x="0" y="200"/>
                </a:cxn>
                <a:cxn ang="0">
                  <a:pos x="12" y="244"/>
                </a:cxn>
                <a:cxn ang="0">
                  <a:pos x="26" y="268"/>
                </a:cxn>
                <a:cxn ang="0">
                  <a:pos x="67" y="253"/>
                </a:cxn>
                <a:cxn ang="0">
                  <a:pos x="124" y="27"/>
                </a:cxn>
              </a:cxnLst>
              <a:rect l="txL" t="txT" r="txR" b="txB"/>
              <a:pathLst>
                <a:path w="366" h="786">
                  <a:moveTo>
                    <a:pt x="366" y="78"/>
                  </a:moveTo>
                  <a:lnTo>
                    <a:pt x="264" y="0"/>
                  </a:lnTo>
                  <a:lnTo>
                    <a:pt x="210" y="30"/>
                  </a:lnTo>
                  <a:lnTo>
                    <a:pt x="132" y="120"/>
                  </a:lnTo>
                  <a:lnTo>
                    <a:pt x="66" y="234"/>
                  </a:lnTo>
                  <a:lnTo>
                    <a:pt x="18" y="348"/>
                  </a:lnTo>
                  <a:lnTo>
                    <a:pt x="0" y="456"/>
                  </a:lnTo>
                  <a:lnTo>
                    <a:pt x="0" y="588"/>
                  </a:lnTo>
                  <a:lnTo>
                    <a:pt x="36" y="714"/>
                  </a:lnTo>
                  <a:lnTo>
                    <a:pt x="78" y="786"/>
                  </a:lnTo>
                  <a:lnTo>
                    <a:pt x="198" y="744"/>
                  </a:lnTo>
                  <a:lnTo>
                    <a:pt x="366" y="78"/>
                  </a:lnTo>
                  <a:close/>
                </a:path>
              </a:pathLst>
            </a:custGeom>
            <a:gradFill rotWithShape="0">
              <a:gsLst>
                <a:gs pos="0">
                  <a:srgbClr val="3B3B3B"/>
                </a:gs>
                <a:gs pos="50000">
                  <a:srgbClr val="B2B2B2"/>
                </a:gs>
                <a:gs pos="100000">
                  <a:srgbClr val="3B3B3B"/>
                </a:gs>
              </a:gsLst>
              <a:lin ang="18900000" scaled="1"/>
              <a:tileRect/>
            </a:gradFill>
            <a:ln w="1905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77" name="Freeform 154"/>
            <p:cNvSpPr/>
            <p:nvPr/>
          </p:nvSpPr>
          <p:spPr>
            <a:xfrm>
              <a:off x="2261" y="1848"/>
              <a:ext cx="214" cy="459"/>
            </a:xfrm>
            <a:custGeom>
              <a:avLst/>
              <a:gdLst>
                <a:gd name="txL" fmla="*/ 0 w 366"/>
                <a:gd name="txT" fmla="*/ 0 h 786"/>
                <a:gd name="txR" fmla="*/ 366 w 366"/>
                <a:gd name="txB" fmla="*/ 786 h 786"/>
              </a:gdLst>
              <a:ahLst/>
              <a:cxnLst>
                <a:cxn ang="0">
                  <a:pos x="125" y="27"/>
                </a:cxn>
                <a:cxn ang="0">
                  <a:pos x="90" y="0"/>
                </a:cxn>
                <a:cxn ang="0">
                  <a:pos x="72" y="11"/>
                </a:cxn>
                <a:cxn ang="0">
                  <a:pos x="45" y="41"/>
                </a:cxn>
                <a:cxn ang="0">
                  <a:pos x="23" y="80"/>
                </a:cxn>
                <a:cxn ang="0">
                  <a:pos x="6" y="119"/>
                </a:cxn>
                <a:cxn ang="0">
                  <a:pos x="0" y="155"/>
                </a:cxn>
                <a:cxn ang="0">
                  <a:pos x="0" y="200"/>
                </a:cxn>
                <a:cxn ang="0">
                  <a:pos x="12" y="244"/>
                </a:cxn>
                <a:cxn ang="0">
                  <a:pos x="27" y="268"/>
                </a:cxn>
                <a:cxn ang="0">
                  <a:pos x="68" y="253"/>
                </a:cxn>
                <a:cxn ang="0">
                  <a:pos x="125" y="27"/>
                </a:cxn>
              </a:cxnLst>
              <a:rect l="txL" t="txT" r="txR" b="txB"/>
              <a:pathLst>
                <a:path w="366" h="786">
                  <a:moveTo>
                    <a:pt x="366" y="78"/>
                  </a:moveTo>
                  <a:lnTo>
                    <a:pt x="264" y="0"/>
                  </a:lnTo>
                  <a:lnTo>
                    <a:pt x="210" y="30"/>
                  </a:lnTo>
                  <a:lnTo>
                    <a:pt x="132" y="120"/>
                  </a:lnTo>
                  <a:lnTo>
                    <a:pt x="66" y="234"/>
                  </a:lnTo>
                  <a:lnTo>
                    <a:pt x="18" y="348"/>
                  </a:lnTo>
                  <a:lnTo>
                    <a:pt x="0" y="456"/>
                  </a:lnTo>
                  <a:lnTo>
                    <a:pt x="0" y="588"/>
                  </a:lnTo>
                  <a:lnTo>
                    <a:pt x="36" y="714"/>
                  </a:lnTo>
                  <a:lnTo>
                    <a:pt x="78" y="786"/>
                  </a:lnTo>
                  <a:lnTo>
                    <a:pt x="198" y="744"/>
                  </a:lnTo>
                  <a:lnTo>
                    <a:pt x="366" y="78"/>
                  </a:lnTo>
                  <a:close/>
                </a:path>
              </a:pathLst>
            </a:custGeom>
            <a:gradFill rotWithShape="0">
              <a:gsLst>
                <a:gs pos="0">
                  <a:srgbClr val="595959"/>
                </a:gs>
                <a:gs pos="50000">
                  <a:srgbClr val="C0C0C0"/>
                </a:gs>
                <a:gs pos="100000">
                  <a:srgbClr val="595959"/>
                </a:gs>
              </a:gsLst>
              <a:lin ang="18900000" scaled="1"/>
              <a:tileRect/>
            </a:gradFill>
            <a:ln w="1905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78" name="Freeform 155"/>
            <p:cNvSpPr/>
            <p:nvPr/>
          </p:nvSpPr>
          <p:spPr>
            <a:xfrm>
              <a:off x="2338" y="1858"/>
              <a:ext cx="214" cy="460"/>
            </a:xfrm>
            <a:custGeom>
              <a:avLst/>
              <a:gdLst>
                <a:gd name="txL" fmla="*/ 0 w 366"/>
                <a:gd name="txT" fmla="*/ 0 h 786"/>
                <a:gd name="txR" fmla="*/ 366 w 366"/>
                <a:gd name="txB" fmla="*/ 786 h 786"/>
              </a:gdLst>
              <a:ahLst/>
              <a:cxnLst>
                <a:cxn ang="0">
                  <a:pos x="125" y="27"/>
                </a:cxn>
                <a:cxn ang="0">
                  <a:pos x="90" y="0"/>
                </a:cxn>
                <a:cxn ang="0">
                  <a:pos x="72" y="11"/>
                </a:cxn>
                <a:cxn ang="0">
                  <a:pos x="45" y="41"/>
                </a:cxn>
                <a:cxn ang="0">
                  <a:pos x="23" y="80"/>
                </a:cxn>
                <a:cxn ang="0">
                  <a:pos x="6" y="119"/>
                </a:cxn>
                <a:cxn ang="0">
                  <a:pos x="0" y="156"/>
                </a:cxn>
                <a:cxn ang="0">
                  <a:pos x="0" y="201"/>
                </a:cxn>
                <a:cxn ang="0">
                  <a:pos x="12" y="245"/>
                </a:cxn>
                <a:cxn ang="0">
                  <a:pos x="27" y="269"/>
                </a:cxn>
                <a:cxn ang="0">
                  <a:pos x="68" y="255"/>
                </a:cxn>
                <a:cxn ang="0">
                  <a:pos x="125" y="27"/>
                </a:cxn>
              </a:cxnLst>
              <a:rect l="txL" t="txT" r="txR" b="txB"/>
              <a:pathLst>
                <a:path w="366" h="786">
                  <a:moveTo>
                    <a:pt x="366" y="78"/>
                  </a:moveTo>
                  <a:lnTo>
                    <a:pt x="264" y="0"/>
                  </a:lnTo>
                  <a:lnTo>
                    <a:pt x="210" y="30"/>
                  </a:lnTo>
                  <a:lnTo>
                    <a:pt x="132" y="120"/>
                  </a:lnTo>
                  <a:lnTo>
                    <a:pt x="66" y="234"/>
                  </a:lnTo>
                  <a:lnTo>
                    <a:pt x="18" y="348"/>
                  </a:lnTo>
                  <a:lnTo>
                    <a:pt x="0" y="456"/>
                  </a:lnTo>
                  <a:lnTo>
                    <a:pt x="0" y="588"/>
                  </a:lnTo>
                  <a:lnTo>
                    <a:pt x="36" y="714"/>
                  </a:lnTo>
                  <a:lnTo>
                    <a:pt x="78" y="786"/>
                  </a:lnTo>
                  <a:lnTo>
                    <a:pt x="198" y="744"/>
                  </a:lnTo>
                  <a:lnTo>
                    <a:pt x="366" y="78"/>
                  </a:lnTo>
                  <a:close/>
                </a:path>
              </a:pathLst>
            </a:custGeom>
            <a:gradFill rotWithShape="0">
              <a:gsLst>
                <a:gs pos="0">
                  <a:srgbClr val="3B3B3B"/>
                </a:gs>
                <a:gs pos="50000">
                  <a:srgbClr val="B2B2B2"/>
                </a:gs>
                <a:gs pos="100000">
                  <a:srgbClr val="3B3B3B"/>
                </a:gs>
              </a:gsLst>
              <a:lin ang="18900000" scaled="1"/>
              <a:tileRect/>
            </a:gradFill>
            <a:ln w="1905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79" name="Freeform 156"/>
            <p:cNvSpPr/>
            <p:nvPr/>
          </p:nvSpPr>
          <p:spPr>
            <a:xfrm>
              <a:off x="2405" y="1872"/>
              <a:ext cx="214" cy="460"/>
            </a:xfrm>
            <a:custGeom>
              <a:avLst/>
              <a:gdLst>
                <a:gd name="txL" fmla="*/ 0 w 366"/>
                <a:gd name="txT" fmla="*/ 0 h 786"/>
                <a:gd name="txR" fmla="*/ 366 w 366"/>
                <a:gd name="txB" fmla="*/ 786 h 786"/>
              </a:gdLst>
              <a:ahLst/>
              <a:cxnLst>
                <a:cxn ang="0">
                  <a:pos x="125" y="27"/>
                </a:cxn>
                <a:cxn ang="0">
                  <a:pos x="90" y="0"/>
                </a:cxn>
                <a:cxn ang="0">
                  <a:pos x="72" y="11"/>
                </a:cxn>
                <a:cxn ang="0">
                  <a:pos x="45" y="41"/>
                </a:cxn>
                <a:cxn ang="0">
                  <a:pos x="23" y="80"/>
                </a:cxn>
                <a:cxn ang="0">
                  <a:pos x="6" y="119"/>
                </a:cxn>
                <a:cxn ang="0">
                  <a:pos x="0" y="156"/>
                </a:cxn>
                <a:cxn ang="0">
                  <a:pos x="0" y="201"/>
                </a:cxn>
                <a:cxn ang="0">
                  <a:pos x="12" y="245"/>
                </a:cxn>
                <a:cxn ang="0">
                  <a:pos x="27" y="269"/>
                </a:cxn>
                <a:cxn ang="0">
                  <a:pos x="68" y="255"/>
                </a:cxn>
                <a:cxn ang="0">
                  <a:pos x="125" y="27"/>
                </a:cxn>
              </a:cxnLst>
              <a:rect l="txL" t="txT" r="txR" b="txB"/>
              <a:pathLst>
                <a:path w="366" h="786">
                  <a:moveTo>
                    <a:pt x="366" y="78"/>
                  </a:moveTo>
                  <a:lnTo>
                    <a:pt x="264" y="0"/>
                  </a:lnTo>
                  <a:lnTo>
                    <a:pt x="210" y="30"/>
                  </a:lnTo>
                  <a:lnTo>
                    <a:pt x="132" y="120"/>
                  </a:lnTo>
                  <a:lnTo>
                    <a:pt x="66" y="234"/>
                  </a:lnTo>
                  <a:lnTo>
                    <a:pt x="18" y="348"/>
                  </a:lnTo>
                  <a:lnTo>
                    <a:pt x="0" y="456"/>
                  </a:lnTo>
                  <a:lnTo>
                    <a:pt x="0" y="588"/>
                  </a:lnTo>
                  <a:lnTo>
                    <a:pt x="36" y="714"/>
                  </a:lnTo>
                  <a:lnTo>
                    <a:pt x="78" y="786"/>
                  </a:lnTo>
                  <a:lnTo>
                    <a:pt x="198" y="744"/>
                  </a:lnTo>
                  <a:lnTo>
                    <a:pt x="366" y="78"/>
                  </a:lnTo>
                  <a:close/>
                </a:path>
              </a:pathLst>
            </a:custGeom>
            <a:gradFill rotWithShape="0">
              <a:gsLst>
                <a:gs pos="0">
                  <a:srgbClr val="3B3B3B"/>
                </a:gs>
                <a:gs pos="50000">
                  <a:srgbClr val="B2B2B2"/>
                </a:gs>
                <a:gs pos="100000">
                  <a:srgbClr val="3B3B3B"/>
                </a:gs>
              </a:gsLst>
              <a:lin ang="18900000" scaled="1"/>
              <a:tileRect/>
            </a:gradFill>
            <a:ln w="1905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80" name="Oval 157"/>
            <p:cNvSpPr/>
            <p:nvPr/>
          </p:nvSpPr>
          <p:spPr>
            <a:xfrm rot="737551">
              <a:off x="2474" y="1889"/>
              <a:ext cx="243" cy="450"/>
            </a:xfrm>
            <a:prstGeom prst="ellipse">
              <a:avLst/>
            </a:prstGeom>
            <a:gradFill rotWithShape="0">
              <a:gsLst>
                <a:gs pos="0">
                  <a:srgbClr val="585858"/>
                </a:gs>
                <a:gs pos="100000">
                  <a:srgbClr val="B2B2B2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81" name="Oval 158"/>
            <p:cNvSpPr/>
            <p:nvPr/>
          </p:nvSpPr>
          <p:spPr>
            <a:xfrm rot="-4561943">
              <a:off x="2425" y="2024"/>
              <a:ext cx="400" cy="192"/>
            </a:xfrm>
            <a:prstGeom prst="ellipse">
              <a:avLst/>
            </a:prstGeom>
            <a:solidFill>
              <a:srgbClr val="B2B2B2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82" name="Freeform 159"/>
            <p:cNvSpPr/>
            <p:nvPr/>
          </p:nvSpPr>
          <p:spPr>
            <a:xfrm>
              <a:off x="1388" y="2437"/>
              <a:ext cx="169" cy="182"/>
            </a:xfrm>
            <a:custGeom>
              <a:avLst/>
              <a:gdLst>
                <a:gd name="txL" fmla="*/ 0 w 288"/>
                <a:gd name="txT" fmla="*/ 0 h 312"/>
                <a:gd name="txR" fmla="*/ 288 w 288"/>
                <a:gd name="txB" fmla="*/ 312 h 312"/>
              </a:gdLst>
              <a:ahLst/>
              <a:cxnLst>
                <a:cxn ang="0">
                  <a:pos x="0" y="0"/>
                </a:cxn>
                <a:cxn ang="0">
                  <a:pos x="99" y="16"/>
                </a:cxn>
                <a:cxn ang="0">
                  <a:pos x="95" y="106"/>
                </a:cxn>
                <a:cxn ang="0">
                  <a:pos x="0" y="90"/>
                </a:cxn>
                <a:cxn ang="0">
                  <a:pos x="0" y="0"/>
                </a:cxn>
              </a:cxnLst>
              <a:rect l="txL" t="txT" r="txR" b="txB"/>
              <a:pathLst>
                <a:path w="288" h="312">
                  <a:moveTo>
                    <a:pt x="0" y="0"/>
                  </a:moveTo>
                  <a:lnTo>
                    <a:pt x="288" y="48"/>
                  </a:lnTo>
                  <a:lnTo>
                    <a:pt x="276" y="312"/>
                  </a:lnTo>
                  <a:lnTo>
                    <a:pt x="0" y="26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454545"/>
                </a:gs>
                <a:gs pos="100000">
                  <a:srgbClr val="969696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83" name="Freeform 160"/>
            <p:cNvSpPr/>
            <p:nvPr/>
          </p:nvSpPr>
          <p:spPr>
            <a:xfrm>
              <a:off x="1760" y="2083"/>
              <a:ext cx="301" cy="347"/>
            </a:xfrm>
            <a:custGeom>
              <a:avLst/>
              <a:gdLst>
                <a:gd name="txL" fmla="*/ 0 w 492"/>
                <a:gd name="txT" fmla="*/ 0 h 564"/>
                <a:gd name="txR" fmla="*/ 492 w 492"/>
                <a:gd name="txB" fmla="*/ 564 h 564"/>
              </a:gdLst>
              <a:ahLst/>
              <a:cxnLst>
                <a:cxn ang="0">
                  <a:pos x="171" y="127"/>
                </a:cxn>
                <a:cxn ang="0">
                  <a:pos x="29" y="213"/>
                </a:cxn>
                <a:cxn ang="0">
                  <a:pos x="0" y="118"/>
                </a:cxn>
                <a:cxn ang="0">
                  <a:pos x="184" y="0"/>
                </a:cxn>
                <a:cxn ang="0">
                  <a:pos x="171" y="127"/>
                </a:cxn>
              </a:cxnLst>
              <a:rect l="txL" t="txT" r="txR" b="txB"/>
              <a:pathLst>
                <a:path w="492" h="564">
                  <a:moveTo>
                    <a:pt x="456" y="336"/>
                  </a:moveTo>
                  <a:lnTo>
                    <a:pt x="78" y="564"/>
                  </a:lnTo>
                  <a:lnTo>
                    <a:pt x="0" y="312"/>
                  </a:lnTo>
                  <a:lnTo>
                    <a:pt x="492" y="0"/>
                  </a:lnTo>
                  <a:lnTo>
                    <a:pt x="456" y="336"/>
                  </a:lnTo>
                  <a:close/>
                </a:path>
              </a:pathLst>
            </a:custGeom>
            <a:gradFill rotWithShape="0">
              <a:gsLst>
                <a:gs pos="0">
                  <a:srgbClr val="7E7E7E"/>
                </a:gs>
                <a:gs pos="100000">
                  <a:srgbClr val="B2B2B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593" name="Freeform 161"/>
            <p:cNvSpPr/>
            <p:nvPr/>
          </p:nvSpPr>
          <p:spPr bwMode="auto">
            <a:xfrm>
              <a:off x="1385" y="2044"/>
              <a:ext cx="683" cy="421"/>
            </a:xfrm>
            <a:custGeom>
              <a:avLst/>
              <a:gdLst/>
              <a:ahLst/>
              <a:cxnLst>
                <a:cxn ang="0">
                  <a:pos x="0" y="672"/>
                </a:cxn>
                <a:cxn ang="0">
                  <a:pos x="294" y="720"/>
                </a:cxn>
                <a:cxn ang="0">
                  <a:pos x="726" y="438"/>
                </a:cxn>
                <a:cxn ang="0">
                  <a:pos x="756" y="336"/>
                </a:cxn>
                <a:cxn ang="0">
                  <a:pos x="1164" y="72"/>
                </a:cxn>
                <a:cxn ang="0">
                  <a:pos x="1170" y="0"/>
                </a:cxn>
                <a:cxn ang="0">
                  <a:pos x="1038" y="24"/>
                </a:cxn>
                <a:cxn ang="0">
                  <a:pos x="618" y="306"/>
                </a:cxn>
                <a:cxn ang="0">
                  <a:pos x="534" y="318"/>
                </a:cxn>
                <a:cxn ang="0">
                  <a:pos x="0" y="672"/>
                </a:cxn>
              </a:cxnLst>
              <a:rect l="0" t="0" r="r" b="b"/>
              <a:pathLst>
                <a:path w="1170" h="720">
                  <a:moveTo>
                    <a:pt x="0" y="672"/>
                  </a:moveTo>
                  <a:lnTo>
                    <a:pt x="294" y="720"/>
                  </a:lnTo>
                  <a:lnTo>
                    <a:pt x="726" y="438"/>
                  </a:lnTo>
                  <a:lnTo>
                    <a:pt x="756" y="336"/>
                  </a:lnTo>
                  <a:lnTo>
                    <a:pt x="1164" y="72"/>
                  </a:lnTo>
                  <a:lnTo>
                    <a:pt x="1170" y="0"/>
                  </a:lnTo>
                  <a:lnTo>
                    <a:pt x="1038" y="24"/>
                  </a:lnTo>
                  <a:lnTo>
                    <a:pt x="618" y="306"/>
                  </a:lnTo>
                  <a:lnTo>
                    <a:pt x="534" y="318"/>
                  </a:lnTo>
                  <a:lnTo>
                    <a:pt x="0" y="6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85" name="Freeform 162"/>
            <p:cNvSpPr/>
            <p:nvPr/>
          </p:nvSpPr>
          <p:spPr>
            <a:xfrm>
              <a:off x="1546" y="2290"/>
              <a:ext cx="270" cy="329"/>
            </a:xfrm>
            <a:custGeom>
              <a:avLst/>
              <a:gdLst>
                <a:gd name="txL" fmla="*/ 0 w 462"/>
                <a:gd name="txT" fmla="*/ 0 h 564"/>
                <a:gd name="txR" fmla="*/ 462 w 462"/>
                <a:gd name="txB" fmla="*/ 564 h 564"/>
              </a:gdLst>
              <a:ahLst/>
              <a:cxnLst>
                <a:cxn ang="0">
                  <a:pos x="0" y="103"/>
                </a:cxn>
                <a:cxn ang="0">
                  <a:pos x="158" y="0"/>
                </a:cxn>
                <a:cxn ang="0">
                  <a:pos x="158" y="90"/>
                </a:cxn>
                <a:cxn ang="0">
                  <a:pos x="2" y="192"/>
                </a:cxn>
                <a:cxn ang="0">
                  <a:pos x="0" y="103"/>
                </a:cxn>
              </a:cxnLst>
              <a:rect l="txL" t="txT" r="txR" b="txB"/>
              <a:pathLst>
                <a:path w="462" h="564">
                  <a:moveTo>
                    <a:pt x="0" y="303"/>
                  </a:moveTo>
                  <a:lnTo>
                    <a:pt x="462" y="0"/>
                  </a:lnTo>
                  <a:lnTo>
                    <a:pt x="462" y="264"/>
                  </a:lnTo>
                  <a:lnTo>
                    <a:pt x="6" y="564"/>
                  </a:lnTo>
                  <a:lnTo>
                    <a:pt x="0" y="303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Group 163"/>
          <p:cNvGrpSpPr/>
          <p:nvPr/>
        </p:nvGrpSpPr>
        <p:grpSpPr>
          <a:xfrm>
            <a:off x="2489200" y="2940050"/>
            <a:ext cx="433388" cy="342900"/>
            <a:chOff x="1734" y="1698"/>
            <a:chExt cx="273" cy="216"/>
          </a:xfrm>
        </p:grpSpPr>
        <p:sp>
          <p:nvSpPr>
            <p:cNvPr id="44053" name="Freeform 164"/>
            <p:cNvSpPr/>
            <p:nvPr/>
          </p:nvSpPr>
          <p:spPr>
            <a:xfrm>
              <a:off x="1734" y="1698"/>
              <a:ext cx="252" cy="216"/>
            </a:xfrm>
            <a:custGeom>
              <a:avLst/>
              <a:gdLst>
                <a:gd name="txL" fmla="*/ 0 w 252"/>
                <a:gd name="txT" fmla="*/ 0 h 216"/>
                <a:gd name="txR" fmla="*/ 252 w 252"/>
                <a:gd name="txB" fmla="*/ 216 h 216"/>
              </a:gdLst>
              <a:ahLst/>
              <a:cxnLst>
                <a:cxn ang="0">
                  <a:pos x="0" y="114"/>
                </a:cxn>
                <a:cxn ang="0">
                  <a:pos x="18" y="216"/>
                </a:cxn>
                <a:cxn ang="0">
                  <a:pos x="111" y="138"/>
                </a:cxn>
                <a:cxn ang="0">
                  <a:pos x="69" y="132"/>
                </a:cxn>
                <a:cxn ang="0">
                  <a:pos x="120" y="63"/>
                </a:cxn>
                <a:cxn ang="0">
                  <a:pos x="144" y="39"/>
                </a:cxn>
                <a:cxn ang="0">
                  <a:pos x="204" y="21"/>
                </a:cxn>
                <a:cxn ang="0">
                  <a:pos x="252" y="30"/>
                </a:cxn>
                <a:cxn ang="0">
                  <a:pos x="219" y="3"/>
                </a:cxn>
                <a:cxn ang="0">
                  <a:pos x="168" y="0"/>
                </a:cxn>
                <a:cxn ang="0">
                  <a:pos x="141" y="6"/>
                </a:cxn>
                <a:cxn ang="0">
                  <a:pos x="108" y="21"/>
                </a:cxn>
                <a:cxn ang="0">
                  <a:pos x="84" y="42"/>
                </a:cxn>
                <a:cxn ang="0">
                  <a:pos x="63" y="66"/>
                </a:cxn>
                <a:cxn ang="0">
                  <a:pos x="39" y="105"/>
                </a:cxn>
                <a:cxn ang="0">
                  <a:pos x="30" y="126"/>
                </a:cxn>
                <a:cxn ang="0">
                  <a:pos x="0" y="114"/>
                </a:cxn>
              </a:cxnLst>
              <a:rect l="txL" t="txT" r="txR" b="txB"/>
              <a:pathLst>
                <a:path w="252" h="216">
                  <a:moveTo>
                    <a:pt x="0" y="114"/>
                  </a:moveTo>
                  <a:lnTo>
                    <a:pt x="18" y="216"/>
                  </a:lnTo>
                  <a:lnTo>
                    <a:pt x="111" y="138"/>
                  </a:lnTo>
                  <a:lnTo>
                    <a:pt x="69" y="132"/>
                  </a:lnTo>
                  <a:lnTo>
                    <a:pt x="120" y="63"/>
                  </a:lnTo>
                  <a:lnTo>
                    <a:pt x="144" y="39"/>
                  </a:lnTo>
                  <a:lnTo>
                    <a:pt x="204" y="21"/>
                  </a:lnTo>
                  <a:lnTo>
                    <a:pt x="252" y="30"/>
                  </a:lnTo>
                  <a:lnTo>
                    <a:pt x="219" y="3"/>
                  </a:lnTo>
                  <a:lnTo>
                    <a:pt x="168" y="0"/>
                  </a:lnTo>
                  <a:lnTo>
                    <a:pt x="141" y="6"/>
                  </a:lnTo>
                  <a:lnTo>
                    <a:pt x="108" y="21"/>
                  </a:lnTo>
                  <a:lnTo>
                    <a:pt x="84" y="42"/>
                  </a:lnTo>
                  <a:lnTo>
                    <a:pt x="63" y="66"/>
                  </a:lnTo>
                  <a:lnTo>
                    <a:pt x="39" y="105"/>
                  </a:lnTo>
                  <a:lnTo>
                    <a:pt x="30" y="126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FF0000"/>
            </a:solidFill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54" name="Freeform 165"/>
            <p:cNvSpPr/>
            <p:nvPr/>
          </p:nvSpPr>
          <p:spPr>
            <a:xfrm>
              <a:off x="1902" y="1725"/>
              <a:ext cx="105" cy="51"/>
            </a:xfrm>
            <a:custGeom>
              <a:avLst/>
              <a:gdLst>
                <a:gd name="txL" fmla="*/ 0 w 105"/>
                <a:gd name="txT" fmla="*/ 0 h 51"/>
                <a:gd name="txR" fmla="*/ 105 w 105"/>
                <a:gd name="txB" fmla="*/ 51 h 51"/>
              </a:gdLst>
              <a:ahLst/>
              <a:cxnLst>
                <a:cxn ang="0">
                  <a:pos x="105" y="33"/>
                </a:cxn>
                <a:cxn ang="0">
                  <a:pos x="90" y="9"/>
                </a:cxn>
                <a:cxn ang="0">
                  <a:pos x="63" y="0"/>
                </a:cxn>
                <a:cxn ang="0">
                  <a:pos x="36" y="0"/>
                </a:cxn>
                <a:cxn ang="0">
                  <a:pos x="0" y="6"/>
                </a:cxn>
                <a:cxn ang="0">
                  <a:pos x="30" y="21"/>
                </a:cxn>
                <a:cxn ang="0">
                  <a:pos x="48" y="51"/>
                </a:cxn>
                <a:cxn ang="0">
                  <a:pos x="60" y="24"/>
                </a:cxn>
                <a:cxn ang="0">
                  <a:pos x="105" y="33"/>
                </a:cxn>
              </a:cxnLst>
              <a:rect l="txL" t="txT" r="txR" b="txB"/>
              <a:pathLst>
                <a:path w="105" h="51">
                  <a:moveTo>
                    <a:pt x="105" y="33"/>
                  </a:moveTo>
                  <a:lnTo>
                    <a:pt x="90" y="9"/>
                  </a:lnTo>
                  <a:lnTo>
                    <a:pt x="63" y="0"/>
                  </a:lnTo>
                  <a:lnTo>
                    <a:pt x="36" y="0"/>
                  </a:lnTo>
                  <a:lnTo>
                    <a:pt x="0" y="6"/>
                  </a:lnTo>
                  <a:lnTo>
                    <a:pt x="30" y="21"/>
                  </a:lnTo>
                  <a:lnTo>
                    <a:pt x="48" y="51"/>
                  </a:lnTo>
                  <a:lnTo>
                    <a:pt x="60" y="24"/>
                  </a:lnTo>
                  <a:lnTo>
                    <a:pt x="105" y="33"/>
                  </a:lnTo>
                  <a:close/>
                </a:path>
              </a:pathLst>
            </a:custGeom>
            <a:solidFill>
              <a:srgbClr val="FFCC66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9233" name="Rectangle 17"/>
          <p:cNvSpPr/>
          <p:nvPr/>
        </p:nvSpPr>
        <p:spPr>
          <a:xfrm>
            <a:off x="382905" y="1130300"/>
            <a:ext cx="24479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2</a:t>
            </a:r>
            <a:r>
              <a:rPr lang="zh-CN" altLang="en-US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．加工螺纹</a:t>
            </a:r>
            <a:endParaRPr lang="zh-CN" altLang="en-US" sz="20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343051" name="组合 343050"/>
          <p:cNvGrpSpPr/>
          <p:nvPr/>
        </p:nvGrpSpPr>
        <p:grpSpPr>
          <a:xfrm>
            <a:off x="333375" y="81216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529" name="Rectangle 33"/>
          <p:cNvSpPr>
            <a:spLocks noGrp="1" noChangeArrowheads="1"/>
          </p:cNvSpPr>
          <p:nvPr>
            <p:ph type="title"/>
          </p:nvPr>
        </p:nvSpPr>
        <p:spPr>
          <a:xfrm>
            <a:off x="847725" y="0"/>
            <a:ext cx="5976938" cy="6111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+mj-ea"/>
                <a:cs typeface="+mj-cs"/>
              </a:rPr>
              <a:t>一、螺纹及螺纹紧固件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anose="02010509060101010101" pitchFamily="49" charset="-122"/>
              <a:ea typeface="+mj-ea"/>
              <a:cs typeface="+mj-cs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8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8" grpId="0" bldLvl="0" animBg="1"/>
      <p:bldP spid="18539" grpId="0" bldLvl="0" animBg="1"/>
      <p:bldP spid="18546" grpId="0" bldLvl="0" animBg="1"/>
      <p:bldP spid="18547" grpId="0" bldLvl="0" animBg="1"/>
      <p:bldP spid="18548" grpId="0" bldLvl="0" animBg="1"/>
      <p:bldP spid="92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1"/>
          <p:cNvGrpSpPr/>
          <p:nvPr/>
        </p:nvGrpSpPr>
        <p:grpSpPr>
          <a:xfrm>
            <a:off x="3624263" y="1160463"/>
            <a:ext cx="3040062" cy="960437"/>
            <a:chOff x="1102" y="864"/>
            <a:chExt cx="1915" cy="605"/>
          </a:xfrm>
        </p:grpSpPr>
        <p:sp>
          <p:nvSpPr>
            <p:cNvPr id="45127" name="Text Box 92"/>
            <p:cNvSpPr txBox="1"/>
            <p:nvPr/>
          </p:nvSpPr>
          <p:spPr>
            <a:xfrm>
              <a:off x="1102" y="864"/>
              <a:ext cx="1915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rgbClr val="FF3300"/>
                  </a:solidFill>
                  <a:latin typeface="Arial" panose="020B0604020202020204" pitchFamily="34" charset="0"/>
                  <a:ea typeface="ˎ̥"/>
                </a:rPr>
                <a:t>倒角（圆锥面）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28" name="Line 93"/>
            <p:cNvSpPr/>
            <p:nvPr/>
          </p:nvSpPr>
          <p:spPr>
            <a:xfrm flipV="1">
              <a:off x="2509" y="1215"/>
              <a:ext cx="254" cy="254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triangle" w="sm" len="lg"/>
              <a:tailEnd type="none" w="med" len="med"/>
            </a:ln>
          </p:spPr>
        </p:sp>
        <p:sp>
          <p:nvSpPr>
            <p:cNvPr id="45129" name="Line 94"/>
            <p:cNvSpPr/>
            <p:nvPr/>
          </p:nvSpPr>
          <p:spPr>
            <a:xfrm flipH="1">
              <a:off x="1187" y="1215"/>
              <a:ext cx="1576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95"/>
          <p:cNvGrpSpPr/>
          <p:nvPr/>
        </p:nvGrpSpPr>
        <p:grpSpPr>
          <a:xfrm>
            <a:off x="4667250" y="3624263"/>
            <a:ext cx="3397250" cy="1082675"/>
            <a:chOff x="2509" y="2475"/>
            <a:chExt cx="2140" cy="682"/>
          </a:xfrm>
        </p:grpSpPr>
        <p:sp>
          <p:nvSpPr>
            <p:cNvPr id="45124" name="Text Box 96"/>
            <p:cNvSpPr txBox="1"/>
            <p:nvPr/>
          </p:nvSpPr>
          <p:spPr>
            <a:xfrm>
              <a:off x="2808" y="2475"/>
              <a:ext cx="1841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rgbClr val="FF3300"/>
                  </a:solidFill>
                  <a:latin typeface="Arial" panose="020B0604020202020204" pitchFamily="34" charset="0"/>
                  <a:ea typeface="ˎ̥"/>
                </a:rPr>
                <a:t>圆顶（球面）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25" name="Line 97"/>
            <p:cNvSpPr/>
            <p:nvPr/>
          </p:nvSpPr>
          <p:spPr>
            <a:xfrm flipV="1">
              <a:off x="2509" y="2815"/>
              <a:ext cx="342" cy="342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triangle" w="sm" len="lg"/>
              <a:tailEnd type="none" w="med" len="med"/>
            </a:ln>
          </p:spPr>
        </p:sp>
        <p:sp>
          <p:nvSpPr>
            <p:cNvPr id="45126" name="Line 98"/>
            <p:cNvSpPr/>
            <p:nvPr/>
          </p:nvSpPr>
          <p:spPr>
            <a:xfrm>
              <a:off x="2851" y="2815"/>
              <a:ext cx="1352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99"/>
          <p:cNvGrpSpPr/>
          <p:nvPr/>
        </p:nvGrpSpPr>
        <p:grpSpPr>
          <a:xfrm>
            <a:off x="2843213" y="2024063"/>
            <a:ext cx="3052762" cy="1492250"/>
            <a:chOff x="588" y="1399"/>
            <a:chExt cx="1923" cy="940"/>
          </a:xfrm>
        </p:grpSpPr>
        <p:sp>
          <p:nvSpPr>
            <p:cNvPr id="45096" name="Freeform 100"/>
            <p:cNvSpPr/>
            <p:nvPr/>
          </p:nvSpPr>
          <p:spPr>
            <a:xfrm>
              <a:off x="1821" y="1408"/>
              <a:ext cx="101" cy="919"/>
            </a:xfrm>
            <a:custGeom>
              <a:avLst/>
              <a:gdLst>
                <a:gd name="txL" fmla="*/ 0 w 229"/>
                <a:gd name="txT" fmla="*/ 0 h 2100"/>
                <a:gd name="txR" fmla="*/ 229 w 229"/>
                <a:gd name="txB" fmla="*/ 2100 h 2100"/>
              </a:gdLst>
              <a:ahLst/>
              <a:cxnLst>
                <a:cxn ang="0">
                  <a:pos x="23" y="0"/>
                </a:cxn>
                <a:cxn ang="0">
                  <a:pos x="0" y="31"/>
                </a:cxn>
                <a:cxn ang="0">
                  <a:pos x="23" y="381"/>
                </a:cxn>
                <a:cxn ang="0">
                  <a:pos x="45" y="402"/>
                </a:cxn>
                <a:cxn ang="0">
                  <a:pos x="23" y="0"/>
                </a:cxn>
              </a:cxnLst>
              <a:rect l="txL" t="txT" r="txR" b="txB"/>
              <a:pathLst>
                <a:path w="229" h="2100">
                  <a:moveTo>
                    <a:pt x="118" y="0"/>
                  </a:moveTo>
                  <a:lnTo>
                    <a:pt x="0" y="160"/>
                  </a:lnTo>
                  <a:lnTo>
                    <a:pt x="118" y="1989"/>
                  </a:lnTo>
                  <a:lnTo>
                    <a:pt x="229" y="2100"/>
                  </a:lnTo>
                  <a:lnTo>
                    <a:pt x="118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97" name="Freeform 101"/>
            <p:cNvSpPr/>
            <p:nvPr/>
          </p:nvSpPr>
          <p:spPr>
            <a:xfrm>
              <a:off x="2398" y="1404"/>
              <a:ext cx="95" cy="898"/>
            </a:xfrm>
            <a:custGeom>
              <a:avLst/>
              <a:gdLst>
                <a:gd name="txL" fmla="*/ 0 w 95"/>
                <a:gd name="txT" fmla="*/ 0 h 898"/>
                <a:gd name="txR" fmla="*/ 95 w 95"/>
                <a:gd name="txB" fmla="*/ 898 h 898"/>
              </a:gdLst>
              <a:ahLst/>
              <a:cxnLst>
                <a:cxn ang="0">
                  <a:pos x="48" y="0"/>
                </a:cxn>
                <a:cxn ang="0">
                  <a:pos x="0" y="62"/>
                </a:cxn>
                <a:cxn ang="0">
                  <a:pos x="45" y="866"/>
                </a:cxn>
                <a:cxn ang="0">
                  <a:pos x="82" y="898"/>
                </a:cxn>
                <a:cxn ang="0">
                  <a:pos x="95" y="885"/>
                </a:cxn>
                <a:cxn ang="0">
                  <a:pos x="58" y="3"/>
                </a:cxn>
                <a:cxn ang="0">
                  <a:pos x="48" y="0"/>
                </a:cxn>
              </a:cxnLst>
              <a:rect l="txL" t="txT" r="txR" b="txB"/>
              <a:pathLst>
                <a:path w="95" h="898">
                  <a:moveTo>
                    <a:pt x="48" y="0"/>
                  </a:moveTo>
                  <a:lnTo>
                    <a:pt x="0" y="62"/>
                  </a:lnTo>
                  <a:lnTo>
                    <a:pt x="45" y="866"/>
                  </a:lnTo>
                  <a:lnTo>
                    <a:pt x="82" y="898"/>
                  </a:lnTo>
                  <a:lnTo>
                    <a:pt x="95" y="885"/>
                  </a:lnTo>
                  <a:lnTo>
                    <a:pt x="58" y="3"/>
                  </a:lnTo>
                  <a:lnTo>
                    <a:pt x="48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98" name="Freeform 102"/>
            <p:cNvSpPr/>
            <p:nvPr/>
          </p:nvSpPr>
          <p:spPr>
            <a:xfrm>
              <a:off x="2060" y="1404"/>
              <a:ext cx="102" cy="919"/>
            </a:xfrm>
            <a:custGeom>
              <a:avLst/>
              <a:gdLst>
                <a:gd name="txL" fmla="*/ 0 w 234"/>
                <a:gd name="txT" fmla="*/ 0 h 2100"/>
                <a:gd name="txR" fmla="*/ 234 w 234"/>
                <a:gd name="txB" fmla="*/ 2100 h 2100"/>
              </a:gdLst>
              <a:ahLst/>
              <a:cxnLst>
                <a:cxn ang="0">
                  <a:pos x="3" y="0"/>
                </a:cxn>
                <a:cxn ang="0">
                  <a:pos x="0" y="40"/>
                </a:cxn>
                <a:cxn ang="0">
                  <a:pos x="17" y="386"/>
                </a:cxn>
                <a:cxn ang="0">
                  <a:pos x="25" y="402"/>
                </a:cxn>
                <a:cxn ang="0">
                  <a:pos x="44" y="375"/>
                </a:cxn>
                <a:cxn ang="0">
                  <a:pos x="27" y="28"/>
                </a:cxn>
                <a:cxn ang="0">
                  <a:pos x="3" y="0"/>
                </a:cxn>
              </a:cxnLst>
              <a:rect l="txL" t="txT" r="txR" b="txB"/>
              <a:pathLst>
                <a:path w="234" h="2100">
                  <a:moveTo>
                    <a:pt x="18" y="0"/>
                  </a:moveTo>
                  <a:lnTo>
                    <a:pt x="0" y="210"/>
                  </a:lnTo>
                  <a:lnTo>
                    <a:pt x="90" y="2016"/>
                  </a:lnTo>
                  <a:lnTo>
                    <a:pt x="132" y="2100"/>
                  </a:lnTo>
                  <a:lnTo>
                    <a:pt x="234" y="1956"/>
                  </a:lnTo>
                  <a:lnTo>
                    <a:pt x="143" y="143"/>
                  </a:lnTo>
                  <a:lnTo>
                    <a:pt x="18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99" name="Freeform 103"/>
            <p:cNvSpPr/>
            <p:nvPr/>
          </p:nvSpPr>
          <p:spPr>
            <a:xfrm>
              <a:off x="2165" y="1402"/>
              <a:ext cx="94" cy="928"/>
            </a:xfrm>
            <a:custGeom>
              <a:avLst/>
              <a:gdLst>
                <a:gd name="txL" fmla="*/ 0 w 216"/>
                <a:gd name="txT" fmla="*/ 0 h 2122"/>
                <a:gd name="txR" fmla="*/ 216 w 216"/>
                <a:gd name="txB" fmla="*/ 2122 h 2122"/>
              </a:gdLst>
              <a:ahLst/>
              <a:cxnLst>
                <a:cxn ang="0">
                  <a:pos x="0" y="0"/>
                </a:cxn>
                <a:cxn ang="0">
                  <a:pos x="16" y="390"/>
                </a:cxn>
                <a:cxn ang="0">
                  <a:pos x="19" y="406"/>
                </a:cxn>
                <a:cxn ang="0">
                  <a:pos x="41" y="379"/>
                </a:cxn>
                <a:cxn ang="0">
                  <a:pos x="24" y="28"/>
                </a:cxn>
                <a:cxn ang="0">
                  <a:pos x="0" y="0"/>
                </a:cxn>
              </a:cxnLst>
              <a:rect l="txL" t="txT" r="txR" b="txB"/>
              <a:pathLst>
                <a:path w="216" h="2122">
                  <a:moveTo>
                    <a:pt x="0" y="0"/>
                  </a:moveTo>
                  <a:lnTo>
                    <a:pt x="84" y="2040"/>
                  </a:lnTo>
                  <a:lnTo>
                    <a:pt x="102" y="2122"/>
                  </a:lnTo>
                  <a:lnTo>
                    <a:pt x="216" y="1980"/>
                  </a:lnTo>
                  <a:lnTo>
                    <a:pt x="126" y="14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00" name="Freeform 104"/>
            <p:cNvSpPr/>
            <p:nvPr/>
          </p:nvSpPr>
          <p:spPr>
            <a:xfrm>
              <a:off x="1633" y="1402"/>
              <a:ext cx="99" cy="926"/>
            </a:xfrm>
            <a:custGeom>
              <a:avLst/>
              <a:gdLst>
                <a:gd name="txL" fmla="*/ 0 w 228"/>
                <a:gd name="txT" fmla="*/ 0 h 2118"/>
                <a:gd name="txR" fmla="*/ 228 w 228"/>
                <a:gd name="txB" fmla="*/ 2118 h 2118"/>
              </a:gdLst>
              <a:ahLst/>
              <a:cxnLst>
                <a:cxn ang="0">
                  <a:pos x="23" y="0"/>
                </a:cxn>
                <a:cxn ang="0">
                  <a:pos x="0" y="30"/>
                </a:cxn>
                <a:cxn ang="0">
                  <a:pos x="20" y="381"/>
                </a:cxn>
                <a:cxn ang="0">
                  <a:pos x="43" y="405"/>
                </a:cxn>
                <a:cxn ang="0">
                  <a:pos x="33" y="35"/>
                </a:cxn>
                <a:cxn ang="0">
                  <a:pos x="23" y="0"/>
                </a:cxn>
              </a:cxnLst>
              <a:rect l="txL" t="txT" r="txR" b="txB"/>
              <a:pathLst>
                <a:path w="228" h="2118">
                  <a:moveTo>
                    <a:pt x="120" y="0"/>
                  </a:moveTo>
                  <a:lnTo>
                    <a:pt x="0" y="156"/>
                  </a:lnTo>
                  <a:lnTo>
                    <a:pt x="108" y="1992"/>
                  </a:lnTo>
                  <a:lnTo>
                    <a:pt x="228" y="2118"/>
                  </a:lnTo>
                  <a:lnTo>
                    <a:pt x="174" y="180"/>
                  </a:lnTo>
                  <a:lnTo>
                    <a:pt x="120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01" name="Freeform 105"/>
            <p:cNvSpPr/>
            <p:nvPr/>
          </p:nvSpPr>
          <p:spPr>
            <a:xfrm>
              <a:off x="1730" y="1410"/>
              <a:ext cx="105" cy="926"/>
            </a:xfrm>
            <a:custGeom>
              <a:avLst/>
              <a:gdLst>
                <a:gd name="txL" fmla="*/ 0 w 240"/>
                <a:gd name="txT" fmla="*/ 0 h 2118"/>
                <a:gd name="txR" fmla="*/ 240 w 240"/>
                <a:gd name="txB" fmla="*/ 2118 h 2118"/>
              </a:gdLst>
              <a:ahLst/>
              <a:cxnLst>
                <a:cxn ang="0">
                  <a:pos x="23" y="0"/>
                </a:cxn>
                <a:cxn ang="0">
                  <a:pos x="0" y="29"/>
                </a:cxn>
                <a:cxn ang="0">
                  <a:pos x="22" y="382"/>
                </a:cxn>
                <a:cxn ang="0">
                  <a:pos x="46" y="405"/>
                </a:cxn>
                <a:cxn ang="0">
                  <a:pos x="46" y="386"/>
                </a:cxn>
                <a:cxn ang="0">
                  <a:pos x="28" y="17"/>
                </a:cxn>
                <a:cxn ang="0">
                  <a:pos x="23" y="0"/>
                </a:cxn>
              </a:cxnLst>
              <a:rect l="txL" t="txT" r="txR" b="txB"/>
              <a:pathLst>
                <a:path w="240" h="2118">
                  <a:moveTo>
                    <a:pt x="120" y="0"/>
                  </a:moveTo>
                  <a:lnTo>
                    <a:pt x="0" y="150"/>
                  </a:lnTo>
                  <a:lnTo>
                    <a:pt x="114" y="1998"/>
                  </a:lnTo>
                  <a:lnTo>
                    <a:pt x="240" y="2118"/>
                  </a:lnTo>
                  <a:lnTo>
                    <a:pt x="240" y="2022"/>
                  </a:lnTo>
                  <a:lnTo>
                    <a:pt x="144" y="90"/>
                  </a:lnTo>
                  <a:lnTo>
                    <a:pt x="120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02" name="Freeform 106"/>
            <p:cNvSpPr/>
            <p:nvPr/>
          </p:nvSpPr>
          <p:spPr>
            <a:xfrm>
              <a:off x="1922" y="1407"/>
              <a:ext cx="96" cy="921"/>
            </a:xfrm>
            <a:custGeom>
              <a:avLst/>
              <a:gdLst>
                <a:gd name="txL" fmla="*/ 0 w 219"/>
                <a:gd name="txT" fmla="*/ 0 h 2106"/>
                <a:gd name="txR" fmla="*/ 219 w 219"/>
                <a:gd name="txB" fmla="*/ 2106 h 2106"/>
              </a:gdLst>
              <a:ahLst/>
              <a:cxnLst>
                <a:cxn ang="0">
                  <a:pos x="21" y="0"/>
                </a:cxn>
                <a:cxn ang="0">
                  <a:pos x="0" y="31"/>
                </a:cxn>
                <a:cxn ang="0">
                  <a:pos x="18" y="381"/>
                </a:cxn>
                <a:cxn ang="0">
                  <a:pos x="42" y="403"/>
                </a:cxn>
                <a:cxn ang="0">
                  <a:pos x="41" y="373"/>
                </a:cxn>
                <a:cxn ang="0">
                  <a:pos x="25" y="24"/>
                </a:cxn>
                <a:cxn ang="0">
                  <a:pos x="21" y="0"/>
                </a:cxn>
              </a:cxnLst>
              <a:rect l="txL" t="txT" r="txR" b="txB"/>
              <a:pathLst>
                <a:path w="219" h="2106">
                  <a:moveTo>
                    <a:pt x="111" y="0"/>
                  </a:moveTo>
                  <a:lnTo>
                    <a:pt x="0" y="159"/>
                  </a:lnTo>
                  <a:lnTo>
                    <a:pt x="93" y="1992"/>
                  </a:lnTo>
                  <a:lnTo>
                    <a:pt x="219" y="2106"/>
                  </a:lnTo>
                  <a:lnTo>
                    <a:pt x="213" y="1950"/>
                  </a:lnTo>
                  <a:lnTo>
                    <a:pt x="129" y="126"/>
                  </a:lnTo>
                  <a:lnTo>
                    <a:pt x="111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03" name="Freeform 107"/>
            <p:cNvSpPr/>
            <p:nvPr/>
          </p:nvSpPr>
          <p:spPr>
            <a:xfrm>
              <a:off x="2022" y="1407"/>
              <a:ext cx="96" cy="914"/>
            </a:xfrm>
            <a:custGeom>
              <a:avLst/>
              <a:gdLst>
                <a:gd name="txL" fmla="*/ 0 w 218"/>
                <a:gd name="txT" fmla="*/ 0 h 2088"/>
                <a:gd name="txR" fmla="*/ 218 w 218"/>
                <a:gd name="txB" fmla="*/ 2088 h 2088"/>
              </a:gdLst>
              <a:ahLst/>
              <a:cxnLst>
                <a:cxn ang="0">
                  <a:pos x="21" y="0"/>
                </a:cxn>
                <a:cxn ang="0">
                  <a:pos x="0" y="28"/>
                </a:cxn>
                <a:cxn ang="0">
                  <a:pos x="18" y="380"/>
                </a:cxn>
                <a:cxn ang="0">
                  <a:pos x="42" y="400"/>
                </a:cxn>
                <a:cxn ang="0">
                  <a:pos x="21" y="0"/>
                </a:cxn>
              </a:cxnLst>
              <a:rect l="txL" t="txT" r="txR" b="txB"/>
              <a:pathLst>
                <a:path w="218" h="2088">
                  <a:moveTo>
                    <a:pt x="110" y="0"/>
                  </a:moveTo>
                  <a:lnTo>
                    <a:pt x="0" y="144"/>
                  </a:lnTo>
                  <a:lnTo>
                    <a:pt x="92" y="1980"/>
                  </a:lnTo>
                  <a:lnTo>
                    <a:pt x="218" y="2088"/>
                  </a:lnTo>
                  <a:lnTo>
                    <a:pt x="110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04" name="Freeform 108"/>
            <p:cNvSpPr/>
            <p:nvPr/>
          </p:nvSpPr>
          <p:spPr>
            <a:xfrm>
              <a:off x="588" y="1409"/>
              <a:ext cx="809" cy="904"/>
            </a:xfrm>
            <a:custGeom>
              <a:avLst/>
              <a:gdLst>
                <a:gd name="txL" fmla="*/ 0 w 809"/>
                <a:gd name="txT" fmla="*/ 0 h 904"/>
                <a:gd name="txR" fmla="*/ 809 w 809"/>
                <a:gd name="txB" fmla="*/ 904 h 904"/>
              </a:gdLst>
              <a:ahLst/>
              <a:cxnLst>
                <a:cxn ang="0">
                  <a:pos x="44" y="433"/>
                </a:cxn>
                <a:cxn ang="0">
                  <a:pos x="19" y="297"/>
                </a:cxn>
                <a:cxn ang="0">
                  <a:pos x="0" y="228"/>
                </a:cxn>
                <a:cxn ang="0">
                  <a:pos x="0" y="122"/>
                </a:cxn>
                <a:cxn ang="0">
                  <a:pos x="19" y="58"/>
                </a:cxn>
                <a:cxn ang="0">
                  <a:pos x="60" y="1"/>
                </a:cxn>
                <a:cxn ang="0">
                  <a:pos x="743" y="0"/>
                </a:cxn>
                <a:cxn ang="0">
                  <a:pos x="762" y="34"/>
                </a:cxn>
                <a:cxn ang="0">
                  <a:pos x="809" y="904"/>
                </a:cxn>
                <a:cxn ang="0">
                  <a:pos x="757" y="904"/>
                </a:cxn>
                <a:cxn ang="0">
                  <a:pos x="108" y="901"/>
                </a:cxn>
                <a:cxn ang="0">
                  <a:pos x="60" y="871"/>
                </a:cxn>
                <a:cxn ang="0">
                  <a:pos x="19" y="831"/>
                </a:cxn>
                <a:cxn ang="0">
                  <a:pos x="5" y="709"/>
                </a:cxn>
                <a:cxn ang="0">
                  <a:pos x="29" y="559"/>
                </a:cxn>
                <a:cxn ang="0">
                  <a:pos x="44" y="433"/>
                </a:cxn>
              </a:cxnLst>
              <a:rect l="txL" t="txT" r="txR" b="txB"/>
              <a:pathLst>
                <a:path w="809" h="904">
                  <a:moveTo>
                    <a:pt x="44" y="433"/>
                  </a:moveTo>
                  <a:lnTo>
                    <a:pt x="19" y="297"/>
                  </a:lnTo>
                  <a:lnTo>
                    <a:pt x="0" y="228"/>
                  </a:lnTo>
                  <a:lnTo>
                    <a:pt x="0" y="122"/>
                  </a:lnTo>
                  <a:lnTo>
                    <a:pt x="19" y="58"/>
                  </a:lnTo>
                  <a:lnTo>
                    <a:pt x="60" y="1"/>
                  </a:lnTo>
                  <a:lnTo>
                    <a:pt x="743" y="0"/>
                  </a:lnTo>
                  <a:lnTo>
                    <a:pt x="762" y="34"/>
                  </a:lnTo>
                  <a:lnTo>
                    <a:pt x="809" y="904"/>
                  </a:lnTo>
                  <a:lnTo>
                    <a:pt x="757" y="904"/>
                  </a:lnTo>
                  <a:lnTo>
                    <a:pt x="108" y="901"/>
                  </a:lnTo>
                  <a:lnTo>
                    <a:pt x="60" y="871"/>
                  </a:lnTo>
                  <a:lnTo>
                    <a:pt x="19" y="831"/>
                  </a:lnTo>
                  <a:lnTo>
                    <a:pt x="5" y="709"/>
                  </a:lnTo>
                  <a:lnTo>
                    <a:pt x="29" y="559"/>
                  </a:lnTo>
                  <a:lnTo>
                    <a:pt x="44" y="433"/>
                  </a:lnTo>
                  <a:close/>
                </a:path>
              </a:pathLst>
            </a:custGeom>
            <a:gradFill rotWithShape="0">
              <a:gsLst>
                <a:gs pos="0">
                  <a:srgbClr val="454545"/>
                </a:gs>
                <a:gs pos="50000">
                  <a:srgbClr val="969696"/>
                </a:gs>
                <a:gs pos="100000">
                  <a:srgbClr val="454545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05" name="Line 109"/>
            <p:cNvSpPr/>
            <p:nvPr/>
          </p:nvSpPr>
          <p:spPr>
            <a:xfrm>
              <a:off x="2317" y="1491"/>
              <a:ext cx="24" cy="744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06" name="Freeform 110"/>
            <p:cNvSpPr/>
            <p:nvPr/>
          </p:nvSpPr>
          <p:spPr>
            <a:xfrm>
              <a:off x="2259" y="1407"/>
              <a:ext cx="89" cy="919"/>
            </a:xfrm>
            <a:custGeom>
              <a:avLst/>
              <a:gdLst>
                <a:gd name="txL" fmla="*/ 0 w 89"/>
                <a:gd name="txT" fmla="*/ 0 h 919"/>
                <a:gd name="txR" fmla="*/ 89 w 89"/>
                <a:gd name="txB" fmla="*/ 919 h 919"/>
              </a:gdLst>
              <a:ahLst/>
              <a:cxnLst>
                <a:cxn ang="0">
                  <a:pos x="8" y="0"/>
                </a:cxn>
                <a:cxn ang="0">
                  <a:pos x="0" y="0"/>
                </a:cxn>
                <a:cxn ang="0">
                  <a:pos x="31" y="898"/>
                </a:cxn>
                <a:cxn ang="0">
                  <a:pos x="47" y="919"/>
                </a:cxn>
                <a:cxn ang="0">
                  <a:pos x="89" y="864"/>
                </a:cxn>
                <a:cxn ang="0">
                  <a:pos x="59" y="67"/>
                </a:cxn>
                <a:cxn ang="0">
                  <a:pos x="8" y="0"/>
                </a:cxn>
              </a:cxnLst>
              <a:rect l="txL" t="txT" r="txR" b="txB"/>
              <a:pathLst>
                <a:path w="89" h="919">
                  <a:moveTo>
                    <a:pt x="8" y="0"/>
                  </a:moveTo>
                  <a:lnTo>
                    <a:pt x="0" y="0"/>
                  </a:lnTo>
                  <a:lnTo>
                    <a:pt x="31" y="898"/>
                  </a:lnTo>
                  <a:lnTo>
                    <a:pt x="47" y="919"/>
                  </a:lnTo>
                  <a:lnTo>
                    <a:pt x="89" y="864"/>
                  </a:lnTo>
                  <a:lnTo>
                    <a:pt x="59" y="67"/>
                  </a:lnTo>
                  <a:lnTo>
                    <a:pt x="8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07" name="Freeform 111"/>
            <p:cNvSpPr/>
            <p:nvPr/>
          </p:nvSpPr>
          <p:spPr>
            <a:xfrm>
              <a:off x="1971" y="1404"/>
              <a:ext cx="92" cy="927"/>
            </a:xfrm>
            <a:custGeom>
              <a:avLst/>
              <a:gdLst>
                <a:gd name="txL" fmla="*/ 0 w 210"/>
                <a:gd name="txT" fmla="*/ 0 h 2118"/>
                <a:gd name="txR" fmla="*/ 210 w 210"/>
                <a:gd name="txB" fmla="*/ 2118 h 2118"/>
              </a:gdLst>
              <a:ahLst/>
              <a:cxnLst>
                <a:cxn ang="0">
                  <a:pos x="0" y="0"/>
                </a:cxn>
                <a:cxn ang="0">
                  <a:pos x="20" y="406"/>
                </a:cxn>
                <a:cxn ang="0">
                  <a:pos x="40" y="379"/>
                </a:cxn>
                <a:cxn ang="0">
                  <a:pos x="23" y="29"/>
                </a:cxn>
                <a:cxn ang="0">
                  <a:pos x="0" y="0"/>
                </a:cxn>
              </a:cxnLst>
              <a:rect l="txL" t="txT" r="txR" b="txB"/>
              <a:pathLst>
                <a:path w="210" h="2118">
                  <a:moveTo>
                    <a:pt x="0" y="0"/>
                  </a:moveTo>
                  <a:lnTo>
                    <a:pt x="102" y="2118"/>
                  </a:lnTo>
                  <a:lnTo>
                    <a:pt x="210" y="1980"/>
                  </a:lnTo>
                  <a:lnTo>
                    <a:pt x="120" y="15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08" name="Freeform 112"/>
            <p:cNvSpPr/>
            <p:nvPr/>
          </p:nvSpPr>
          <p:spPr>
            <a:xfrm>
              <a:off x="2354" y="1410"/>
              <a:ext cx="91" cy="904"/>
            </a:xfrm>
            <a:custGeom>
              <a:avLst/>
              <a:gdLst>
                <a:gd name="txL" fmla="*/ 0 w 91"/>
                <a:gd name="txT" fmla="*/ 0 h 904"/>
                <a:gd name="txR" fmla="*/ 91 w 91"/>
                <a:gd name="txB" fmla="*/ 904 h 904"/>
              </a:gdLst>
              <a:ahLst/>
              <a:cxnLst>
                <a:cxn ang="0">
                  <a:pos x="0" y="0"/>
                </a:cxn>
                <a:cxn ang="0">
                  <a:pos x="36" y="904"/>
                </a:cxn>
                <a:cxn ang="0">
                  <a:pos x="91" y="855"/>
                </a:cxn>
                <a:cxn ang="0">
                  <a:pos x="55" y="57"/>
                </a:cxn>
                <a:cxn ang="0">
                  <a:pos x="0" y="0"/>
                </a:cxn>
              </a:cxnLst>
              <a:rect l="txL" t="txT" r="txR" b="txB"/>
              <a:pathLst>
                <a:path w="91" h="904">
                  <a:moveTo>
                    <a:pt x="0" y="0"/>
                  </a:moveTo>
                  <a:lnTo>
                    <a:pt x="36" y="904"/>
                  </a:lnTo>
                  <a:lnTo>
                    <a:pt x="91" y="855"/>
                  </a:lnTo>
                  <a:lnTo>
                    <a:pt x="55" y="57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09" name="Freeform 113"/>
            <p:cNvSpPr/>
            <p:nvPr/>
          </p:nvSpPr>
          <p:spPr>
            <a:xfrm>
              <a:off x="1871" y="1402"/>
              <a:ext cx="94" cy="929"/>
            </a:xfrm>
            <a:custGeom>
              <a:avLst/>
              <a:gdLst>
                <a:gd name="txL" fmla="*/ 0 w 214"/>
                <a:gd name="txT" fmla="*/ 0 h 2123"/>
                <a:gd name="txR" fmla="*/ 214 w 214"/>
                <a:gd name="txB" fmla="*/ 2123 h 2123"/>
              </a:gdLst>
              <a:ahLst/>
              <a:cxnLst>
                <a:cxn ang="0">
                  <a:pos x="0" y="0"/>
                </a:cxn>
                <a:cxn ang="0">
                  <a:pos x="22" y="407"/>
                </a:cxn>
                <a:cxn ang="0">
                  <a:pos x="41" y="381"/>
                </a:cxn>
                <a:cxn ang="0">
                  <a:pos x="24" y="30"/>
                </a:cxn>
                <a:cxn ang="0">
                  <a:pos x="0" y="0"/>
                </a:cxn>
              </a:cxnLst>
              <a:rect l="txL" t="txT" r="txR" b="txB"/>
              <a:pathLst>
                <a:path w="214" h="2123">
                  <a:moveTo>
                    <a:pt x="0" y="0"/>
                  </a:moveTo>
                  <a:lnTo>
                    <a:pt x="114" y="2123"/>
                  </a:lnTo>
                  <a:lnTo>
                    <a:pt x="214" y="1990"/>
                  </a:lnTo>
                  <a:lnTo>
                    <a:pt x="125" y="15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10" name="Freeform 114"/>
            <p:cNvSpPr/>
            <p:nvPr/>
          </p:nvSpPr>
          <p:spPr>
            <a:xfrm>
              <a:off x="1685" y="1407"/>
              <a:ext cx="95" cy="927"/>
            </a:xfrm>
            <a:custGeom>
              <a:avLst/>
              <a:gdLst>
                <a:gd name="txL" fmla="*/ 0 w 216"/>
                <a:gd name="txT" fmla="*/ 0 h 2118"/>
                <a:gd name="txR" fmla="*/ 216 w 216"/>
                <a:gd name="txB" fmla="*/ 2118 h 2118"/>
              </a:gdLst>
              <a:ahLst/>
              <a:cxnLst>
                <a:cxn ang="0">
                  <a:pos x="0" y="0"/>
                </a:cxn>
                <a:cxn ang="0">
                  <a:pos x="20" y="406"/>
                </a:cxn>
                <a:cxn ang="0">
                  <a:pos x="42" y="383"/>
                </a:cxn>
                <a:cxn ang="0">
                  <a:pos x="22" y="25"/>
                </a:cxn>
                <a:cxn ang="0">
                  <a:pos x="0" y="0"/>
                </a:cxn>
              </a:cxnLst>
              <a:rect l="txL" t="txT" r="txR" b="txB"/>
              <a:pathLst>
                <a:path w="216" h="2118">
                  <a:moveTo>
                    <a:pt x="0" y="0"/>
                  </a:moveTo>
                  <a:lnTo>
                    <a:pt x="102" y="2118"/>
                  </a:lnTo>
                  <a:lnTo>
                    <a:pt x="216" y="1998"/>
                  </a:lnTo>
                  <a:lnTo>
                    <a:pt x="114" y="132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11" name="Freeform 115"/>
            <p:cNvSpPr/>
            <p:nvPr/>
          </p:nvSpPr>
          <p:spPr>
            <a:xfrm>
              <a:off x="1782" y="1404"/>
              <a:ext cx="96" cy="935"/>
            </a:xfrm>
            <a:custGeom>
              <a:avLst/>
              <a:gdLst>
                <a:gd name="txL" fmla="*/ 0 w 220"/>
                <a:gd name="txT" fmla="*/ 0 h 2136"/>
                <a:gd name="txR" fmla="*/ 220 w 220"/>
                <a:gd name="txB" fmla="*/ 2136 h 2136"/>
              </a:gdLst>
              <a:ahLst/>
              <a:cxnLst>
                <a:cxn ang="0">
                  <a:pos x="0" y="0"/>
                </a:cxn>
                <a:cxn ang="0">
                  <a:pos x="22" y="409"/>
                </a:cxn>
                <a:cxn ang="0">
                  <a:pos x="42" y="384"/>
                </a:cxn>
                <a:cxn ang="0">
                  <a:pos x="23" y="29"/>
                </a:cxn>
                <a:cxn ang="0">
                  <a:pos x="0" y="0"/>
                </a:cxn>
              </a:cxnLst>
              <a:rect l="txL" t="txT" r="txR" b="txB"/>
              <a:pathLst>
                <a:path w="220" h="2136">
                  <a:moveTo>
                    <a:pt x="0" y="0"/>
                  </a:moveTo>
                  <a:lnTo>
                    <a:pt x="114" y="2136"/>
                  </a:lnTo>
                  <a:lnTo>
                    <a:pt x="220" y="2006"/>
                  </a:lnTo>
                  <a:lnTo>
                    <a:pt x="120" y="15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12" name="Freeform 116"/>
            <p:cNvSpPr/>
            <p:nvPr/>
          </p:nvSpPr>
          <p:spPr>
            <a:xfrm>
              <a:off x="1588" y="1402"/>
              <a:ext cx="95" cy="929"/>
            </a:xfrm>
            <a:custGeom>
              <a:avLst/>
              <a:gdLst>
                <a:gd name="txL" fmla="*/ 0 w 216"/>
                <a:gd name="txT" fmla="*/ 0 h 2124"/>
                <a:gd name="txR" fmla="*/ 216 w 216"/>
                <a:gd name="txB" fmla="*/ 2124 h 2124"/>
              </a:gdLst>
              <a:ahLst/>
              <a:cxnLst>
                <a:cxn ang="0">
                  <a:pos x="0" y="0"/>
                </a:cxn>
                <a:cxn ang="0">
                  <a:pos x="20" y="393"/>
                </a:cxn>
                <a:cxn ang="0">
                  <a:pos x="22" y="406"/>
                </a:cxn>
                <a:cxn ang="0">
                  <a:pos x="42" y="387"/>
                </a:cxn>
                <a:cxn ang="0">
                  <a:pos x="21" y="32"/>
                </a:cxn>
                <a:cxn ang="0">
                  <a:pos x="18" y="26"/>
                </a:cxn>
                <a:cxn ang="0">
                  <a:pos x="0" y="0"/>
                </a:cxn>
              </a:cxnLst>
              <a:rect l="txL" t="txT" r="txR" b="txB"/>
              <a:pathLst>
                <a:path w="216" h="2124">
                  <a:moveTo>
                    <a:pt x="0" y="0"/>
                  </a:moveTo>
                  <a:lnTo>
                    <a:pt x="102" y="2052"/>
                  </a:lnTo>
                  <a:lnTo>
                    <a:pt x="114" y="2124"/>
                  </a:lnTo>
                  <a:lnTo>
                    <a:pt x="216" y="2022"/>
                  </a:lnTo>
                  <a:lnTo>
                    <a:pt x="108" y="168"/>
                  </a:lnTo>
                  <a:lnTo>
                    <a:pt x="96" y="13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13" name="Freeform 117"/>
            <p:cNvSpPr/>
            <p:nvPr/>
          </p:nvSpPr>
          <p:spPr>
            <a:xfrm>
              <a:off x="1502" y="1402"/>
              <a:ext cx="95" cy="932"/>
            </a:xfrm>
            <a:custGeom>
              <a:avLst/>
              <a:gdLst>
                <a:gd name="txL" fmla="*/ 0 w 219"/>
                <a:gd name="txT" fmla="*/ 0 h 2130"/>
                <a:gd name="txR" fmla="*/ 219 w 219"/>
                <a:gd name="txB" fmla="*/ 2130 h 2130"/>
              </a:gdLst>
              <a:ahLst/>
              <a:cxnLst>
                <a:cxn ang="0">
                  <a:pos x="0" y="0"/>
                </a:cxn>
                <a:cxn ang="0">
                  <a:pos x="20" y="408"/>
                </a:cxn>
                <a:cxn ang="0">
                  <a:pos x="41" y="384"/>
                </a:cxn>
                <a:cxn ang="0">
                  <a:pos x="24" y="32"/>
                </a:cxn>
                <a:cxn ang="0">
                  <a:pos x="0" y="0"/>
                </a:cxn>
              </a:cxnLst>
              <a:rect l="txL" t="txT" r="txR" b="txB"/>
              <a:pathLst>
                <a:path w="219" h="2130">
                  <a:moveTo>
                    <a:pt x="0" y="0"/>
                  </a:moveTo>
                  <a:lnTo>
                    <a:pt x="108" y="2130"/>
                  </a:lnTo>
                  <a:lnTo>
                    <a:pt x="219" y="2004"/>
                  </a:lnTo>
                  <a:lnTo>
                    <a:pt x="130" y="17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14" name="Freeform 118"/>
            <p:cNvSpPr/>
            <p:nvPr/>
          </p:nvSpPr>
          <p:spPr>
            <a:xfrm>
              <a:off x="1420" y="1399"/>
              <a:ext cx="94" cy="931"/>
            </a:xfrm>
            <a:custGeom>
              <a:avLst/>
              <a:gdLst>
                <a:gd name="txL" fmla="*/ 0 w 94"/>
                <a:gd name="txT" fmla="*/ 0 h 931"/>
                <a:gd name="txR" fmla="*/ 94 w 94"/>
                <a:gd name="txB" fmla="*/ 931 h 931"/>
              </a:gdLst>
              <a:ahLst/>
              <a:cxnLst>
                <a:cxn ang="0">
                  <a:pos x="0" y="0"/>
                </a:cxn>
                <a:cxn ang="0">
                  <a:pos x="39" y="931"/>
                </a:cxn>
                <a:cxn ang="0">
                  <a:pos x="94" y="887"/>
                </a:cxn>
                <a:cxn ang="0">
                  <a:pos x="45" y="58"/>
                </a:cxn>
                <a:cxn ang="0">
                  <a:pos x="0" y="0"/>
                </a:cxn>
              </a:cxnLst>
              <a:rect l="txL" t="txT" r="txR" b="txB"/>
              <a:pathLst>
                <a:path w="94" h="931">
                  <a:moveTo>
                    <a:pt x="0" y="0"/>
                  </a:moveTo>
                  <a:lnTo>
                    <a:pt x="39" y="931"/>
                  </a:lnTo>
                  <a:lnTo>
                    <a:pt x="94" y="887"/>
                  </a:lnTo>
                  <a:lnTo>
                    <a:pt x="45" y="5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15" name="Freeform 119"/>
            <p:cNvSpPr/>
            <p:nvPr/>
          </p:nvSpPr>
          <p:spPr>
            <a:xfrm>
              <a:off x="1549" y="1402"/>
              <a:ext cx="94" cy="926"/>
            </a:xfrm>
            <a:custGeom>
              <a:avLst/>
              <a:gdLst>
                <a:gd name="txL" fmla="*/ 0 w 94"/>
                <a:gd name="txT" fmla="*/ 0 h 926"/>
                <a:gd name="txR" fmla="*/ 94 w 94"/>
                <a:gd name="txB" fmla="*/ 926 h 926"/>
              </a:gdLst>
              <a:ahLst/>
              <a:cxnLst>
                <a:cxn ang="0">
                  <a:pos x="45" y="0"/>
                </a:cxn>
                <a:cxn ang="0">
                  <a:pos x="0" y="70"/>
                </a:cxn>
                <a:cxn ang="0">
                  <a:pos x="44" y="879"/>
                </a:cxn>
                <a:cxn ang="0">
                  <a:pos x="94" y="926"/>
                </a:cxn>
                <a:cxn ang="0">
                  <a:pos x="45" y="0"/>
                </a:cxn>
              </a:cxnLst>
              <a:rect l="txL" t="txT" r="txR" b="txB"/>
              <a:pathLst>
                <a:path w="94" h="926">
                  <a:moveTo>
                    <a:pt x="45" y="0"/>
                  </a:moveTo>
                  <a:lnTo>
                    <a:pt x="0" y="70"/>
                  </a:lnTo>
                  <a:lnTo>
                    <a:pt x="44" y="879"/>
                  </a:lnTo>
                  <a:lnTo>
                    <a:pt x="94" y="926"/>
                  </a:lnTo>
                  <a:lnTo>
                    <a:pt x="45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16" name="Freeform 120"/>
            <p:cNvSpPr/>
            <p:nvPr/>
          </p:nvSpPr>
          <p:spPr>
            <a:xfrm>
              <a:off x="2215" y="1399"/>
              <a:ext cx="92" cy="932"/>
            </a:xfrm>
            <a:custGeom>
              <a:avLst/>
              <a:gdLst>
                <a:gd name="txL" fmla="*/ 0 w 210"/>
                <a:gd name="txT" fmla="*/ 0 h 2130"/>
                <a:gd name="txR" fmla="*/ 210 w 210"/>
                <a:gd name="txB" fmla="*/ 2130 h 2130"/>
              </a:gdLst>
              <a:ahLst/>
              <a:cxnLst>
                <a:cxn ang="0">
                  <a:pos x="20" y="0"/>
                </a:cxn>
                <a:cxn ang="0">
                  <a:pos x="0" y="26"/>
                </a:cxn>
                <a:cxn ang="0">
                  <a:pos x="15" y="380"/>
                </a:cxn>
                <a:cxn ang="0">
                  <a:pos x="40" y="408"/>
                </a:cxn>
                <a:cxn ang="0">
                  <a:pos x="40" y="403"/>
                </a:cxn>
                <a:cxn ang="0">
                  <a:pos x="20" y="0"/>
                </a:cxn>
              </a:cxnLst>
              <a:rect l="txL" t="txT" r="txR" b="txB"/>
              <a:pathLst>
                <a:path w="210" h="2130">
                  <a:moveTo>
                    <a:pt x="102" y="0"/>
                  </a:moveTo>
                  <a:lnTo>
                    <a:pt x="0" y="138"/>
                  </a:lnTo>
                  <a:lnTo>
                    <a:pt x="78" y="1986"/>
                  </a:lnTo>
                  <a:lnTo>
                    <a:pt x="210" y="2130"/>
                  </a:lnTo>
                  <a:lnTo>
                    <a:pt x="210" y="2106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17" name="Freeform 121"/>
            <p:cNvSpPr/>
            <p:nvPr/>
          </p:nvSpPr>
          <p:spPr>
            <a:xfrm>
              <a:off x="2314" y="1408"/>
              <a:ext cx="92" cy="915"/>
            </a:xfrm>
            <a:custGeom>
              <a:avLst/>
              <a:gdLst>
                <a:gd name="txL" fmla="*/ 0 w 92"/>
                <a:gd name="txT" fmla="*/ 0 h 915"/>
                <a:gd name="txR" fmla="*/ 92 w 92"/>
                <a:gd name="txB" fmla="*/ 915 h 915"/>
              </a:gdLst>
              <a:ahLst/>
              <a:cxnLst>
                <a:cxn ang="0">
                  <a:pos x="40" y="0"/>
                </a:cxn>
                <a:cxn ang="0">
                  <a:pos x="0" y="62"/>
                </a:cxn>
                <a:cxn ang="0">
                  <a:pos x="32" y="870"/>
                </a:cxn>
                <a:cxn ang="0">
                  <a:pos x="92" y="915"/>
                </a:cxn>
                <a:cxn ang="0">
                  <a:pos x="89" y="912"/>
                </a:cxn>
                <a:cxn ang="0">
                  <a:pos x="40" y="0"/>
                </a:cxn>
              </a:cxnLst>
              <a:rect l="txL" t="txT" r="txR" b="txB"/>
              <a:pathLst>
                <a:path w="92" h="915">
                  <a:moveTo>
                    <a:pt x="40" y="0"/>
                  </a:moveTo>
                  <a:lnTo>
                    <a:pt x="0" y="62"/>
                  </a:lnTo>
                  <a:lnTo>
                    <a:pt x="32" y="870"/>
                  </a:lnTo>
                  <a:lnTo>
                    <a:pt x="92" y="915"/>
                  </a:lnTo>
                  <a:lnTo>
                    <a:pt x="89" y="912"/>
                  </a:lnTo>
                  <a:lnTo>
                    <a:pt x="40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18" name="Freeform 122"/>
            <p:cNvSpPr/>
            <p:nvPr/>
          </p:nvSpPr>
          <p:spPr>
            <a:xfrm>
              <a:off x="2120" y="1402"/>
              <a:ext cx="92" cy="926"/>
            </a:xfrm>
            <a:custGeom>
              <a:avLst/>
              <a:gdLst>
                <a:gd name="txL" fmla="*/ 0 w 210"/>
                <a:gd name="txT" fmla="*/ 0 h 2118"/>
                <a:gd name="txR" fmla="*/ 210 w 210"/>
                <a:gd name="txB" fmla="*/ 2118 h 2118"/>
              </a:gdLst>
              <a:ahLst/>
              <a:cxnLst>
                <a:cxn ang="0">
                  <a:pos x="20" y="0"/>
                </a:cxn>
                <a:cxn ang="0">
                  <a:pos x="0" y="28"/>
                </a:cxn>
                <a:cxn ang="0">
                  <a:pos x="18" y="376"/>
                </a:cxn>
                <a:cxn ang="0">
                  <a:pos x="40" y="405"/>
                </a:cxn>
                <a:cxn ang="0">
                  <a:pos x="23" y="32"/>
                </a:cxn>
                <a:cxn ang="0">
                  <a:pos x="20" y="0"/>
                </a:cxn>
              </a:cxnLst>
              <a:rect l="txL" t="txT" r="txR" b="txB"/>
              <a:pathLst>
                <a:path w="210" h="2118">
                  <a:moveTo>
                    <a:pt x="102" y="0"/>
                  </a:moveTo>
                  <a:lnTo>
                    <a:pt x="0" y="144"/>
                  </a:lnTo>
                  <a:lnTo>
                    <a:pt x="96" y="1968"/>
                  </a:lnTo>
                  <a:lnTo>
                    <a:pt x="210" y="2118"/>
                  </a:lnTo>
                  <a:lnTo>
                    <a:pt x="120" y="168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19" name="Freeform 123"/>
            <p:cNvSpPr/>
            <p:nvPr/>
          </p:nvSpPr>
          <p:spPr>
            <a:xfrm>
              <a:off x="1460" y="1410"/>
              <a:ext cx="92" cy="921"/>
            </a:xfrm>
            <a:custGeom>
              <a:avLst/>
              <a:gdLst>
                <a:gd name="txL" fmla="*/ 0 w 92"/>
                <a:gd name="txT" fmla="*/ 0 h 921"/>
                <a:gd name="txR" fmla="*/ 92 w 92"/>
                <a:gd name="txB" fmla="*/ 921 h 921"/>
              </a:gdLst>
              <a:ahLst/>
              <a:cxnLst>
                <a:cxn ang="0">
                  <a:pos x="50" y="0"/>
                </a:cxn>
                <a:cxn ang="0">
                  <a:pos x="0" y="44"/>
                </a:cxn>
                <a:cxn ang="0">
                  <a:pos x="42" y="884"/>
                </a:cxn>
                <a:cxn ang="0">
                  <a:pos x="92" y="921"/>
                </a:cxn>
                <a:cxn ang="0">
                  <a:pos x="50" y="0"/>
                </a:cxn>
              </a:cxnLst>
              <a:rect l="txL" t="txT" r="txR" b="txB"/>
              <a:pathLst>
                <a:path w="92" h="921">
                  <a:moveTo>
                    <a:pt x="50" y="0"/>
                  </a:moveTo>
                  <a:lnTo>
                    <a:pt x="0" y="44"/>
                  </a:lnTo>
                  <a:lnTo>
                    <a:pt x="42" y="884"/>
                  </a:lnTo>
                  <a:lnTo>
                    <a:pt x="92" y="921"/>
                  </a:lnTo>
                  <a:lnTo>
                    <a:pt x="50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20" name="Freeform 124"/>
            <p:cNvSpPr/>
            <p:nvPr/>
          </p:nvSpPr>
          <p:spPr>
            <a:xfrm>
              <a:off x="2451" y="1402"/>
              <a:ext cx="60" cy="900"/>
            </a:xfrm>
            <a:custGeom>
              <a:avLst/>
              <a:gdLst>
                <a:gd name="txL" fmla="*/ 0 w 138"/>
                <a:gd name="txT" fmla="*/ 0 h 2058"/>
                <a:gd name="txR" fmla="*/ 138 w 138"/>
                <a:gd name="txB" fmla="*/ 2058 h 2058"/>
              </a:gdLst>
              <a:ahLst/>
              <a:cxnLst>
                <a:cxn ang="0">
                  <a:pos x="0" y="0"/>
                </a:cxn>
                <a:cxn ang="0">
                  <a:pos x="13" y="394"/>
                </a:cxn>
                <a:cxn ang="0">
                  <a:pos x="26" y="379"/>
                </a:cxn>
                <a:cxn ang="0">
                  <a:pos x="26" y="26"/>
                </a:cxn>
                <a:cxn ang="0">
                  <a:pos x="0" y="0"/>
                </a:cxn>
              </a:cxnLst>
              <a:rect l="txL" t="txT" r="txR" b="txB"/>
              <a:pathLst>
                <a:path w="138" h="2058">
                  <a:moveTo>
                    <a:pt x="0" y="0"/>
                  </a:moveTo>
                  <a:lnTo>
                    <a:pt x="72" y="2058"/>
                  </a:lnTo>
                  <a:lnTo>
                    <a:pt x="138" y="1980"/>
                  </a:lnTo>
                  <a:lnTo>
                    <a:pt x="137" y="13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21" name="Freeform 125"/>
            <p:cNvSpPr/>
            <p:nvPr/>
          </p:nvSpPr>
          <p:spPr>
            <a:xfrm>
              <a:off x="1376" y="1404"/>
              <a:ext cx="89" cy="924"/>
            </a:xfrm>
            <a:custGeom>
              <a:avLst/>
              <a:gdLst>
                <a:gd name="txL" fmla="*/ 0 w 204"/>
                <a:gd name="txT" fmla="*/ 0 h 2112"/>
                <a:gd name="txR" fmla="*/ 204 w 204"/>
                <a:gd name="txB" fmla="*/ 2112 h 2112"/>
              </a:gdLst>
              <a:ahLst/>
              <a:cxnLst>
                <a:cxn ang="0">
                  <a:pos x="21" y="0"/>
                </a:cxn>
                <a:cxn ang="0">
                  <a:pos x="10" y="2"/>
                </a:cxn>
                <a:cxn ang="0">
                  <a:pos x="3" y="15"/>
                </a:cxn>
                <a:cxn ang="0">
                  <a:pos x="0" y="16"/>
                </a:cxn>
                <a:cxn ang="0">
                  <a:pos x="23" y="395"/>
                </a:cxn>
                <a:cxn ang="0">
                  <a:pos x="39" y="404"/>
                </a:cxn>
                <a:cxn ang="0">
                  <a:pos x="21" y="0"/>
                </a:cxn>
              </a:cxnLst>
              <a:rect l="txL" t="txT" r="txR" b="txB"/>
              <a:pathLst>
                <a:path w="204" h="2112">
                  <a:moveTo>
                    <a:pt x="108" y="0"/>
                  </a:moveTo>
                  <a:lnTo>
                    <a:pt x="54" y="12"/>
                  </a:lnTo>
                  <a:lnTo>
                    <a:pt x="18" y="78"/>
                  </a:lnTo>
                  <a:lnTo>
                    <a:pt x="0" y="84"/>
                  </a:lnTo>
                  <a:lnTo>
                    <a:pt x="120" y="2064"/>
                  </a:lnTo>
                  <a:lnTo>
                    <a:pt x="204" y="2112"/>
                  </a:lnTo>
                  <a:lnTo>
                    <a:pt x="108" y="0"/>
                  </a:lnTo>
                  <a:close/>
                </a:path>
              </a:pathLst>
            </a:custGeom>
            <a:gradFill rotWithShape="0">
              <a:gsLst>
                <a:gs pos="0">
                  <a:srgbClr val="656565"/>
                </a:gs>
                <a:gs pos="100000">
                  <a:srgbClr val="B2B2B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22" name="Freeform 126"/>
            <p:cNvSpPr/>
            <p:nvPr/>
          </p:nvSpPr>
          <p:spPr>
            <a:xfrm>
              <a:off x="1335" y="1408"/>
              <a:ext cx="96" cy="905"/>
            </a:xfrm>
            <a:custGeom>
              <a:avLst/>
              <a:gdLst>
                <a:gd name="txL" fmla="*/ 0 w 220"/>
                <a:gd name="txT" fmla="*/ 0 h 2067"/>
                <a:gd name="txR" fmla="*/ 220 w 220"/>
                <a:gd name="txB" fmla="*/ 2067 h 2067"/>
              </a:gdLst>
              <a:ahLst/>
              <a:cxnLst>
                <a:cxn ang="0">
                  <a:pos x="0" y="0"/>
                </a:cxn>
                <a:cxn ang="0">
                  <a:pos x="22" y="395"/>
                </a:cxn>
                <a:cxn ang="0">
                  <a:pos x="35" y="396"/>
                </a:cxn>
                <a:cxn ang="0">
                  <a:pos x="42" y="394"/>
                </a:cxn>
                <a:cxn ang="0">
                  <a:pos x="18" y="14"/>
                </a:cxn>
                <a:cxn ang="0">
                  <a:pos x="10" y="12"/>
                </a:cxn>
                <a:cxn ang="0">
                  <a:pos x="0" y="0"/>
                </a:cxn>
              </a:cxnLst>
              <a:rect l="txL" t="txT" r="txR" b="txB"/>
              <a:pathLst>
                <a:path w="220" h="2067">
                  <a:moveTo>
                    <a:pt x="0" y="0"/>
                  </a:moveTo>
                  <a:lnTo>
                    <a:pt x="118" y="2061"/>
                  </a:lnTo>
                  <a:lnTo>
                    <a:pt x="184" y="2067"/>
                  </a:lnTo>
                  <a:lnTo>
                    <a:pt x="220" y="2055"/>
                  </a:lnTo>
                  <a:lnTo>
                    <a:pt x="94" y="75"/>
                  </a:lnTo>
                  <a:lnTo>
                    <a:pt x="52" y="63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23" name="Freeform 127"/>
            <p:cNvSpPr/>
            <p:nvPr/>
          </p:nvSpPr>
          <p:spPr>
            <a:xfrm>
              <a:off x="588" y="1878"/>
              <a:ext cx="145" cy="432"/>
            </a:xfrm>
            <a:custGeom>
              <a:avLst/>
              <a:gdLst>
                <a:gd name="txL" fmla="*/ 0 w 145"/>
                <a:gd name="txT" fmla="*/ 0 h 432"/>
                <a:gd name="txR" fmla="*/ 145 w 145"/>
                <a:gd name="txB" fmla="*/ 432 h 432"/>
              </a:gdLst>
              <a:ahLst/>
              <a:cxnLst>
                <a:cxn ang="0">
                  <a:pos x="45" y="0"/>
                </a:cxn>
                <a:cxn ang="0">
                  <a:pos x="123" y="144"/>
                </a:cxn>
                <a:cxn ang="0">
                  <a:pos x="145" y="244"/>
                </a:cxn>
                <a:cxn ang="0">
                  <a:pos x="145" y="344"/>
                </a:cxn>
                <a:cxn ang="0">
                  <a:pos x="126" y="420"/>
                </a:cxn>
                <a:cxn ang="0">
                  <a:pos x="78" y="432"/>
                </a:cxn>
                <a:cxn ang="0">
                  <a:pos x="36" y="390"/>
                </a:cxn>
                <a:cxn ang="0">
                  <a:pos x="0" y="300"/>
                </a:cxn>
                <a:cxn ang="0">
                  <a:pos x="0" y="216"/>
                </a:cxn>
                <a:cxn ang="0">
                  <a:pos x="23" y="122"/>
                </a:cxn>
                <a:cxn ang="0">
                  <a:pos x="45" y="0"/>
                </a:cxn>
              </a:cxnLst>
              <a:rect l="txL" t="txT" r="txR" b="txB"/>
              <a:pathLst>
                <a:path w="145" h="432">
                  <a:moveTo>
                    <a:pt x="45" y="0"/>
                  </a:moveTo>
                  <a:lnTo>
                    <a:pt x="123" y="144"/>
                  </a:lnTo>
                  <a:lnTo>
                    <a:pt x="145" y="244"/>
                  </a:lnTo>
                  <a:lnTo>
                    <a:pt x="145" y="344"/>
                  </a:lnTo>
                  <a:lnTo>
                    <a:pt x="126" y="420"/>
                  </a:lnTo>
                  <a:lnTo>
                    <a:pt x="78" y="432"/>
                  </a:lnTo>
                  <a:lnTo>
                    <a:pt x="36" y="390"/>
                  </a:lnTo>
                  <a:lnTo>
                    <a:pt x="0" y="300"/>
                  </a:lnTo>
                  <a:lnTo>
                    <a:pt x="0" y="216"/>
                  </a:lnTo>
                  <a:lnTo>
                    <a:pt x="23" y="12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69696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128"/>
          <p:cNvGrpSpPr/>
          <p:nvPr/>
        </p:nvGrpSpPr>
        <p:grpSpPr>
          <a:xfrm>
            <a:off x="2852738" y="4156075"/>
            <a:ext cx="3114675" cy="1581150"/>
            <a:chOff x="594" y="2742"/>
            <a:chExt cx="1962" cy="996"/>
          </a:xfrm>
        </p:grpSpPr>
        <p:sp>
          <p:nvSpPr>
            <p:cNvPr id="45068" name="Line 129"/>
            <p:cNvSpPr/>
            <p:nvPr/>
          </p:nvSpPr>
          <p:spPr>
            <a:xfrm>
              <a:off x="1187" y="2742"/>
              <a:ext cx="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9" name="Freeform 130"/>
            <p:cNvSpPr/>
            <p:nvPr/>
          </p:nvSpPr>
          <p:spPr>
            <a:xfrm>
              <a:off x="2409" y="2859"/>
              <a:ext cx="147" cy="834"/>
            </a:xfrm>
            <a:custGeom>
              <a:avLst/>
              <a:gdLst>
                <a:gd name="txL" fmla="*/ 0 w 147"/>
                <a:gd name="txT" fmla="*/ 0 h 834"/>
                <a:gd name="txR" fmla="*/ 147 w 147"/>
                <a:gd name="txB" fmla="*/ 834 h 834"/>
              </a:gdLst>
              <a:ahLst/>
              <a:cxnLst>
                <a:cxn ang="0">
                  <a:pos x="66" y="72"/>
                </a:cxn>
                <a:cxn ang="0">
                  <a:pos x="0" y="0"/>
                </a:cxn>
                <a:cxn ang="0">
                  <a:pos x="36" y="804"/>
                </a:cxn>
                <a:cxn ang="0">
                  <a:pos x="60" y="834"/>
                </a:cxn>
                <a:cxn ang="0">
                  <a:pos x="103" y="685"/>
                </a:cxn>
                <a:cxn ang="0">
                  <a:pos x="120" y="600"/>
                </a:cxn>
                <a:cxn ang="0">
                  <a:pos x="132" y="510"/>
                </a:cxn>
                <a:cxn ang="0">
                  <a:pos x="147" y="396"/>
                </a:cxn>
                <a:cxn ang="0">
                  <a:pos x="132" y="294"/>
                </a:cxn>
                <a:cxn ang="0">
                  <a:pos x="108" y="168"/>
                </a:cxn>
                <a:cxn ang="0">
                  <a:pos x="66" y="72"/>
                </a:cxn>
              </a:cxnLst>
              <a:rect l="txL" t="txT" r="txR" b="txB"/>
              <a:pathLst>
                <a:path w="147" h="834">
                  <a:moveTo>
                    <a:pt x="66" y="72"/>
                  </a:moveTo>
                  <a:lnTo>
                    <a:pt x="0" y="0"/>
                  </a:lnTo>
                  <a:lnTo>
                    <a:pt x="36" y="804"/>
                  </a:lnTo>
                  <a:lnTo>
                    <a:pt x="60" y="834"/>
                  </a:lnTo>
                  <a:lnTo>
                    <a:pt x="103" y="685"/>
                  </a:lnTo>
                  <a:lnTo>
                    <a:pt x="120" y="600"/>
                  </a:lnTo>
                  <a:lnTo>
                    <a:pt x="132" y="510"/>
                  </a:lnTo>
                  <a:lnTo>
                    <a:pt x="147" y="396"/>
                  </a:lnTo>
                  <a:lnTo>
                    <a:pt x="132" y="294"/>
                  </a:lnTo>
                  <a:lnTo>
                    <a:pt x="108" y="168"/>
                  </a:lnTo>
                  <a:lnTo>
                    <a:pt x="66" y="72"/>
                  </a:lnTo>
                  <a:close/>
                </a:path>
              </a:pathLst>
            </a:custGeom>
            <a:gradFill rotWithShape="0">
              <a:gsLst>
                <a:gs pos="0">
                  <a:srgbClr val="868686"/>
                </a:gs>
                <a:gs pos="100000">
                  <a:srgbClr val="B2B2B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70" name="Freeform 131"/>
            <p:cNvSpPr/>
            <p:nvPr/>
          </p:nvSpPr>
          <p:spPr>
            <a:xfrm>
              <a:off x="1459" y="2811"/>
              <a:ext cx="105" cy="919"/>
            </a:xfrm>
            <a:custGeom>
              <a:avLst/>
              <a:gdLst>
                <a:gd name="txL" fmla="*/ 0 w 105"/>
                <a:gd name="txT" fmla="*/ 0 h 919"/>
                <a:gd name="txR" fmla="*/ 105 w 105"/>
                <a:gd name="txB" fmla="*/ 919 h 919"/>
              </a:gdLst>
              <a:ahLst/>
              <a:cxnLst>
                <a:cxn ang="0">
                  <a:pos x="57" y="0"/>
                </a:cxn>
                <a:cxn ang="0">
                  <a:pos x="0" y="41"/>
                </a:cxn>
                <a:cxn ang="0">
                  <a:pos x="57" y="888"/>
                </a:cxn>
                <a:cxn ang="0">
                  <a:pos x="105" y="919"/>
                </a:cxn>
                <a:cxn ang="0">
                  <a:pos x="68" y="137"/>
                </a:cxn>
                <a:cxn ang="0">
                  <a:pos x="57" y="0"/>
                </a:cxn>
              </a:cxnLst>
              <a:rect l="txL" t="txT" r="txR" b="txB"/>
              <a:pathLst>
                <a:path w="105" h="919">
                  <a:moveTo>
                    <a:pt x="57" y="0"/>
                  </a:moveTo>
                  <a:lnTo>
                    <a:pt x="0" y="41"/>
                  </a:lnTo>
                  <a:lnTo>
                    <a:pt x="57" y="888"/>
                  </a:lnTo>
                  <a:lnTo>
                    <a:pt x="105" y="919"/>
                  </a:lnTo>
                  <a:lnTo>
                    <a:pt x="68" y="137"/>
                  </a:lnTo>
                  <a:lnTo>
                    <a:pt x="57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71" name="Freeform 132"/>
            <p:cNvSpPr/>
            <p:nvPr/>
          </p:nvSpPr>
          <p:spPr>
            <a:xfrm>
              <a:off x="1600" y="2801"/>
              <a:ext cx="95" cy="929"/>
            </a:xfrm>
            <a:custGeom>
              <a:avLst/>
              <a:gdLst>
                <a:gd name="txL" fmla="*/ 0 w 95"/>
                <a:gd name="txT" fmla="*/ 0 h 929"/>
                <a:gd name="txR" fmla="*/ 95 w 95"/>
                <a:gd name="txB" fmla="*/ 929 h 929"/>
              </a:gdLst>
              <a:ahLst/>
              <a:cxnLst>
                <a:cxn ang="0">
                  <a:pos x="0" y="0"/>
                </a:cxn>
                <a:cxn ang="0">
                  <a:pos x="45" y="898"/>
                </a:cxn>
                <a:cxn ang="0">
                  <a:pos x="50" y="929"/>
                </a:cxn>
                <a:cxn ang="0">
                  <a:pos x="95" y="884"/>
                </a:cxn>
                <a:cxn ang="0">
                  <a:pos x="59" y="71"/>
                </a:cxn>
                <a:cxn ang="0">
                  <a:pos x="42" y="60"/>
                </a:cxn>
                <a:cxn ang="0">
                  <a:pos x="0" y="0"/>
                </a:cxn>
              </a:cxnLst>
              <a:rect l="txL" t="txT" r="txR" b="txB"/>
              <a:pathLst>
                <a:path w="95" h="929">
                  <a:moveTo>
                    <a:pt x="0" y="0"/>
                  </a:moveTo>
                  <a:lnTo>
                    <a:pt x="45" y="898"/>
                  </a:lnTo>
                  <a:lnTo>
                    <a:pt x="50" y="929"/>
                  </a:lnTo>
                  <a:lnTo>
                    <a:pt x="95" y="884"/>
                  </a:lnTo>
                  <a:lnTo>
                    <a:pt x="59" y="71"/>
                  </a:lnTo>
                  <a:lnTo>
                    <a:pt x="42" y="6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72" name="Freeform 133"/>
            <p:cNvSpPr/>
            <p:nvPr/>
          </p:nvSpPr>
          <p:spPr>
            <a:xfrm>
              <a:off x="2132" y="2800"/>
              <a:ext cx="92" cy="927"/>
            </a:xfrm>
            <a:custGeom>
              <a:avLst/>
              <a:gdLst>
                <a:gd name="txL" fmla="*/ 0 w 92"/>
                <a:gd name="txT" fmla="*/ 0 h 927"/>
                <a:gd name="txR" fmla="*/ 92 w 92"/>
                <a:gd name="txB" fmla="*/ 927 h 927"/>
              </a:gdLst>
              <a:ahLst/>
              <a:cxnLst>
                <a:cxn ang="0">
                  <a:pos x="47" y="0"/>
                </a:cxn>
                <a:cxn ang="0">
                  <a:pos x="0" y="64"/>
                </a:cxn>
                <a:cxn ang="0">
                  <a:pos x="42" y="861"/>
                </a:cxn>
                <a:cxn ang="0">
                  <a:pos x="92" y="927"/>
                </a:cxn>
                <a:cxn ang="0">
                  <a:pos x="63" y="64"/>
                </a:cxn>
                <a:cxn ang="0">
                  <a:pos x="47" y="0"/>
                </a:cxn>
              </a:cxnLst>
              <a:rect l="txL" t="txT" r="txR" b="txB"/>
              <a:pathLst>
                <a:path w="92" h="927">
                  <a:moveTo>
                    <a:pt x="47" y="0"/>
                  </a:moveTo>
                  <a:lnTo>
                    <a:pt x="0" y="64"/>
                  </a:lnTo>
                  <a:lnTo>
                    <a:pt x="42" y="861"/>
                  </a:lnTo>
                  <a:lnTo>
                    <a:pt x="92" y="927"/>
                  </a:lnTo>
                  <a:lnTo>
                    <a:pt x="63" y="64"/>
                  </a:lnTo>
                  <a:lnTo>
                    <a:pt x="47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73" name="Freeform 134"/>
            <p:cNvSpPr/>
            <p:nvPr/>
          </p:nvSpPr>
          <p:spPr>
            <a:xfrm>
              <a:off x="1833" y="2807"/>
              <a:ext cx="101" cy="919"/>
            </a:xfrm>
            <a:custGeom>
              <a:avLst/>
              <a:gdLst>
                <a:gd name="txL" fmla="*/ 0 w 229"/>
                <a:gd name="txT" fmla="*/ 0 h 2100"/>
                <a:gd name="txR" fmla="*/ 229 w 229"/>
                <a:gd name="txB" fmla="*/ 2100 h 2100"/>
              </a:gdLst>
              <a:ahLst/>
              <a:cxnLst>
                <a:cxn ang="0">
                  <a:pos x="23" y="0"/>
                </a:cxn>
                <a:cxn ang="0">
                  <a:pos x="0" y="31"/>
                </a:cxn>
                <a:cxn ang="0">
                  <a:pos x="23" y="381"/>
                </a:cxn>
                <a:cxn ang="0">
                  <a:pos x="45" y="402"/>
                </a:cxn>
                <a:cxn ang="0">
                  <a:pos x="23" y="0"/>
                </a:cxn>
              </a:cxnLst>
              <a:rect l="txL" t="txT" r="txR" b="txB"/>
              <a:pathLst>
                <a:path w="229" h="2100">
                  <a:moveTo>
                    <a:pt x="118" y="0"/>
                  </a:moveTo>
                  <a:lnTo>
                    <a:pt x="0" y="160"/>
                  </a:lnTo>
                  <a:lnTo>
                    <a:pt x="118" y="1989"/>
                  </a:lnTo>
                  <a:lnTo>
                    <a:pt x="229" y="2100"/>
                  </a:lnTo>
                  <a:lnTo>
                    <a:pt x="118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74" name="Freeform 135"/>
            <p:cNvSpPr/>
            <p:nvPr/>
          </p:nvSpPr>
          <p:spPr>
            <a:xfrm>
              <a:off x="2072" y="2803"/>
              <a:ext cx="102" cy="919"/>
            </a:xfrm>
            <a:custGeom>
              <a:avLst/>
              <a:gdLst>
                <a:gd name="txL" fmla="*/ 0 w 234"/>
                <a:gd name="txT" fmla="*/ 0 h 2100"/>
                <a:gd name="txR" fmla="*/ 234 w 234"/>
                <a:gd name="txB" fmla="*/ 2100 h 2100"/>
              </a:gdLst>
              <a:ahLst/>
              <a:cxnLst>
                <a:cxn ang="0">
                  <a:pos x="3" y="0"/>
                </a:cxn>
                <a:cxn ang="0">
                  <a:pos x="0" y="40"/>
                </a:cxn>
                <a:cxn ang="0">
                  <a:pos x="17" y="386"/>
                </a:cxn>
                <a:cxn ang="0">
                  <a:pos x="25" y="402"/>
                </a:cxn>
                <a:cxn ang="0">
                  <a:pos x="44" y="375"/>
                </a:cxn>
                <a:cxn ang="0">
                  <a:pos x="27" y="28"/>
                </a:cxn>
                <a:cxn ang="0">
                  <a:pos x="3" y="0"/>
                </a:cxn>
              </a:cxnLst>
              <a:rect l="txL" t="txT" r="txR" b="txB"/>
              <a:pathLst>
                <a:path w="234" h="2100">
                  <a:moveTo>
                    <a:pt x="18" y="0"/>
                  </a:moveTo>
                  <a:lnTo>
                    <a:pt x="0" y="210"/>
                  </a:lnTo>
                  <a:lnTo>
                    <a:pt x="90" y="2016"/>
                  </a:lnTo>
                  <a:lnTo>
                    <a:pt x="132" y="2100"/>
                  </a:lnTo>
                  <a:lnTo>
                    <a:pt x="234" y="1956"/>
                  </a:lnTo>
                  <a:lnTo>
                    <a:pt x="143" y="143"/>
                  </a:lnTo>
                  <a:lnTo>
                    <a:pt x="18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75" name="Freeform 136"/>
            <p:cNvSpPr/>
            <p:nvPr/>
          </p:nvSpPr>
          <p:spPr>
            <a:xfrm>
              <a:off x="2177" y="2801"/>
              <a:ext cx="94" cy="928"/>
            </a:xfrm>
            <a:custGeom>
              <a:avLst/>
              <a:gdLst>
                <a:gd name="txL" fmla="*/ 0 w 216"/>
                <a:gd name="txT" fmla="*/ 0 h 2122"/>
                <a:gd name="txR" fmla="*/ 216 w 216"/>
                <a:gd name="txB" fmla="*/ 2122 h 2122"/>
              </a:gdLst>
              <a:ahLst/>
              <a:cxnLst>
                <a:cxn ang="0">
                  <a:pos x="0" y="0"/>
                </a:cxn>
                <a:cxn ang="0">
                  <a:pos x="16" y="390"/>
                </a:cxn>
                <a:cxn ang="0">
                  <a:pos x="19" y="406"/>
                </a:cxn>
                <a:cxn ang="0">
                  <a:pos x="41" y="379"/>
                </a:cxn>
                <a:cxn ang="0">
                  <a:pos x="24" y="28"/>
                </a:cxn>
                <a:cxn ang="0">
                  <a:pos x="0" y="0"/>
                </a:cxn>
              </a:cxnLst>
              <a:rect l="txL" t="txT" r="txR" b="txB"/>
              <a:pathLst>
                <a:path w="216" h="2122">
                  <a:moveTo>
                    <a:pt x="0" y="0"/>
                  </a:moveTo>
                  <a:lnTo>
                    <a:pt x="84" y="2040"/>
                  </a:lnTo>
                  <a:lnTo>
                    <a:pt x="102" y="2122"/>
                  </a:lnTo>
                  <a:lnTo>
                    <a:pt x="216" y="1980"/>
                  </a:lnTo>
                  <a:lnTo>
                    <a:pt x="126" y="14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76" name="Freeform 137"/>
            <p:cNvSpPr/>
            <p:nvPr/>
          </p:nvSpPr>
          <p:spPr>
            <a:xfrm>
              <a:off x="1645" y="2801"/>
              <a:ext cx="99" cy="926"/>
            </a:xfrm>
            <a:custGeom>
              <a:avLst/>
              <a:gdLst>
                <a:gd name="txL" fmla="*/ 0 w 228"/>
                <a:gd name="txT" fmla="*/ 0 h 2118"/>
                <a:gd name="txR" fmla="*/ 228 w 228"/>
                <a:gd name="txB" fmla="*/ 2118 h 2118"/>
              </a:gdLst>
              <a:ahLst/>
              <a:cxnLst>
                <a:cxn ang="0">
                  <a:pos x="23" y="0"/>
                </a:cxn>
                <a:cxn ang="0">
                  <a:pos x="0" y="30"/>
                </a:cxn>
                <a:cxn ang="0">
                  <a:pos x="20" y="381"/>
                </a:cxn>
                <a:cxn ang="0">
                  <a:pos x="43" y="405"/>
                </a:cxn>
                <a:cxn ang="0">
                  <a:pos x="33" y="35"/>
                </a:cxn>
                <a:cxn ang="0">
                  <a:pos x="23" y="0"/>
                </a:cxn>
              </a:cxnLst>
              <a:rect l="txL" t="txT" r="txR" b="txB"/>
              <a:pathLst>
                <a:path w="228" h="2118">
                  <a:moveTo>
                    <a:pt x="120" y="0"/>
                  </a:moveTo>
                  <a:lnTo>
                    <a:pt x="0" y="156"/>
                  </a:lnTo>
                  <a:lnTo>
                    <a:pt x="108" y="1992"/>
                  </a:lnTo>
                  <a:lnTo>
                    <a:pt x="228" y="2118"/>
                  </a:lnTo>
                  <a:lnTo>
                    <a:pt x="174" y="180"/>
                  </a:lnTo>
                  <a:lnTo>
                    <a:pt x="120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77" name="Freeform 138"/>
            <p:cNvSpPr/>
            <p:nvPr/>
          </p:nvSpPr>
          <p:spPr>
            <a:xfrm>
              <a:off x="1742" y="2809"/>
              <a:ext cx="105" cy="926"/>
            </a:xfrm>
            <a:custGeom>
              <a:avLst/>
              <a:gdLst>
                <a:gd name="txL" fmla="*/ 0 w 240"/>
                <a:gd name="txT" fmla="*/ 0 h 2118"/>
                <a:gd name="txR" fmla="*/ 240 w 240"/>
                <a:gd name="txB" fmla="*/ 2118 h 2118"/>
              </a:gdLst>
              <a:ahLst/>
              <a:cxnLst>
                <a:cxn ang="0">
                  <a:pos x="23" y="0"/>
                </a:cxn>
                <a:cxn ang="0">
                  <a:pos x="0" y="29"/>
                </a:cxn>
                <a:cxn ang="0">
                  <a:pos x="22" y="382"/>
                </a:cxn>
                <a:cxn ang="0">
                  <a:pos x="46" y="405"/>
                </a:cxn>
                <a:cxn ang="0">
                  <a:pos x="46" y="386"/>
                </a:cxn>
                <a:cxn ang="0">
                  <a:pos x="28" y="17"/>
                </a:cxn>
                <a:cxn ang="0">
                  <a:pos x="23" y="0"/>
                </a:cxn>
              </a:cxnLst>
              <a:rect l="txL" t="txT" r="txR" b="txB"/>
              <a:pathLst>
                <a:path w="240" h="2118">
                  <a:moveTo>
                    <a:pt x="120" y="0"/>
                  </a:moveTo>
                  <a:lnTo>
                    <a:pt x="0" y="150"/>
                  </a:lnTo>
                  <a:lnTo>
                    <a:pt x="114" y="1998"/>
                  </a:lnTo>
                  <a:lnTo>
                    <a:pt x="240" y="2118"/>
                  </a:lnTo>
                  <a:lnTo>
                    <a:pt x="240" y="2022"/>
                  </a:lnTo>
                  <a:lnTo>
                    <a:pt x="144" y="90"/>
                  </a:lnTo>
                  <a:lnTo>
                    <a:pt x="120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78" name="Freeform 139"/>
            <p:cNvSpPr/>
            <p:nvPr/>
          </p:nvSpPr>
          <p:spPr>
            <a:xfrm>
              <a:off x="1934" y="2806"/>
              <a:ext cx="96" cy="921"/>
            </a:xfrm>
            <a:custGeom>
              <a:avLst/>
              <a:gdLst>
                <a:gd name="txL" fmla="*/ 0 w 219"/>
                <a:gd name="txT" fmla="*/ 0 h 2106"/>
                <a:gd name="txR" fmla="*/ 219 w 219"/>
                <a:gd name="txB" fmla="*/ 2106 h 2106"/>
              </a:gdLst>
              <a:ahLst/>
              <a:cxnLst>
                <a:cxn ang="0">
                  <a:pos x="21" y="0"/>
                </a:cxn>
                <a:cxn ang="0">
                  <a:pos x="0" y="31"/>
                </a:cxn>
                <a:cxn ang="0">
                  <a:pos x="18" y="381"/>
                </a:cxn>
                <a:cxn ang="0">
                  <a:pos x="42" y="403"/>
                </a:cxn>
                <a:cxn ang="0">
                  <a:pos x="41" y="373"/>
                </a:cxn>
                <a:cxn ang="0">
                  <a:pos x="25" y="24"/>
                </a:cxn>
                <a:cxn ang="0">
                  <a:pos x="21" y="0"/>
                </a:cxn>
              </a:cxnLst>
              <a:rect l="txL" t="txT" r="txR" b="txB"/>
              <a:pathLst>
                <a:path w="219" h="2106">
                  <a:moveTo>
                    <a:pt x="111" y="0"/>
                  </a:moveTo>
                  <a:lnTo>
                    <a:pt x="0" y="159"/>
                  </a:lnTo>
                  <a:lnTo>
                    <a:pt x="93" y="1992"/>
                  </a:lnTo>
                  <a:lnTo>
                    <a:pt x="219" y="2106"/>
                  </a:lnTo>
                  <a:lnTo>
                    <a:pt x="213" y="1950"/>
                  </a:lnTo>
                  <a:lnTo>
                    <a:pt x="129" y="126"/>
                  </a:lnTo>
                  <a:lnTo>
                    <a:pt x="111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79" name="Freeform 140"/>
            <p:cNvSpPr/>
            <p:nvPr/>
          </p:nvSpPr>
          <p:spPr>
            <a:xfrm>
              <a:off x="2034" y="2806"/>
              <a:ext cx="96" cy="914"/>
            </a:xfrm>
            <a:custGeom>
              <a:avLst/>
              <a:gdLst>
                <a:gd name="txL" fmla="*/ 0 w 218"/>
                <a:gd name="txT" fmla="*/ 0 h 2088"/>
                <a:gd name="txR" fmla="*/ 218 w 218"/>
                <a:gd name="txB" fmla="*/ 2088 h 2088"/>
              </a:gdLst>
              <a:ahLst/>
              <a:cxnLst>
                <a:cxn ang="0">
                  <a:pos x="21" y="0"/>
                </a:cxn>
                <a:cxn ang="0">
                  <a:pos x="0" y="28"/>
                </a:cxn>
                <a:cxn ang="0">
                  <a:pos x="18" y="380"/>
                </a:cxn>
                <a:cxn ang="0">
                  <a:pos x="42" y="400"/>
                </a:cxn>
                <a:cxn ang="0">
                  <a:pos x="21" y="0"/>
                </a:cxn>
              </a:cxnLst>
              <a:rect l="txL" t="txT" r="txR" b="txB"/>
              <a:pathLst>
                <a:path w="218" h="2088">
                  <a:moveTo>
                    <a:pt x="110" y="0"/>
                  </a:moveTo>
                  <a:lnTo>
                    <a:pt x="0" y="144"/>
                  </a:lnTo>
                  <a:lnTo>
                    <a:pt x="92" y="1980"/>
                  </a:lnTo>
                  <a:lnTo>
                    <a:pt x="218" y="2088"/>
                  </a:lnTo>
                  <a:lnTo>
                    <a:pt x="110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80" name="Freeform 141"/>
            <p:cNvSpPr/>
            <p:nvPr/>
          </p:nvSpPr>
          <p:spPr>
            <a:xfrm>
              <a:off x="600" y="2808"/>
              <a:ext cx="809" cy="904"/>
            </a:xfrm>
            <a:custGeom>
              <a:avLst/>
              <a:gdLst>
                <a:gd name="txL" fmla="*/ 0 w 1851"/>
                <a:gd name="txT" fmla="*/ 0 h 2067"/>
                <a:gd name="txR" fmla="*/ 1851 w 1851"/>
                <a:gd name="txB" fmla="*/ 2067 h 2067"/>
              </a:gdLst>
              <a:ahLst/>
              <a:cxnLst>
                <a:cxn ang="0">
                  <a:pos x="19" y="189"/>
                </a:cxn>
                <a:cxn ang="0">
                  <a:pos x="8" y="130"/>
                </a:cxn>
                <a:cxn ang="0">
                  <a:pos x="0" y="100"/>
                </a:cxn>
                <a:cxn ang="0">
                  <a:pos x="0" y="53"/>
                </a:cxn>
                <a:cxn ang="0">
                  <a:pos x="8" y="25"/>
                </a:cxn>
                <a:cxn ang="0">
                  <a:pos x="21" y="0"/>
                </a:cxn>
                <a:cxn ang="0">
                  <a:pos x="325" y="0"/>
                </a:cxn>
                <a:cxn ang="0">
                  <a:pos x="333" y="15"/>
                </a:cxn>
                <a:cxn ang="0">
                  <a:pos x="354" y="395"/>
                </a:cxn>
                <a:cxn ang="0">
                  <a:pos x="331" y="395"/>
                </a:cxn>
                <a:cxn ang="0">
                  <a:pos x="28" y="395"/>
                </a:cxn>
                <a:cxn ang="0">
                  <a:pos x="8" y="363"/>
                </a:cxn>
                <a:cxn ang="0">
                  <a:pos x="2" y="310"/>
                </a:cxn>
                <a:cxn ang="0">
                  <a:pos x="13" y="244"/>
                </a:cxn>
                <a:cxn ang="0">
                  <a:pos x="19" y="189"/>
                </a:cxn>
              </a:cxnLst>
              <a:rect l="txL" t="txT" r="txR" b="txB"/>
              <a:pathLst>
                <a:path w="1851" h="2067">
                  <a:moveTo>
                    <a:pt x="100" y="989"/>
                  </a:moveTo>
                  <a:lnTo>
                    <a:pt x="44" y="678"/>
                  </a:lnTo>
                  <a:lnTo>
                    <a:pt x="0" y="522"/>
                  </a:lnTo>
                  <a:lnTo>
                    <a:pt x="0" y="278"/>
                  </a:lnTo>
                  <a:lnTo>
                    <a:pt x="44" y="133"/>
                  </a:lnTo>
                  <a:lnTo>
                    <a:pt x="111" y="0"/>
                  </a:lnTo>
                  <a:lnTo>
                    <a:pt x="1700" y="0"/>
                  </a:lnTo>
                  <a:lnTo>
                    <a:pt x="1744" y="78"/>
                  </a:lnTo>
                  <a:lnTo>
                    <a:pt x="1851" y="2066"/>
                  </a:lnTo>
                  <a:lnTo>
                    <a:pt x="1733" y="2067"/>
                  </a:lnTo>
                  <a:lnTo>
                    <a:pt x="144" y="2067"/>
                  </a:lnTo>
                  <a:lnTo>
                    <a:pt x="44" y="1900"/>
                  </a:lnTo>
                  <a:lnTo>
                    <a:pt x="11" y="1622"/>
                  </a:lnTo>
                  <a:lnTo>
                    <a:pt x="66" y="1278"/>
                  </a:lnTo>
                  <a:lnTo>
                    <a:pt x="100" y="989"/>
                  </a:lnTo>
                  <a:close/>
                </a:path>
              </a:pathLst>
            </a:custGeom>
            <a:gradFill rotWithShape="0">
              <a:gsLst>
                <a:gs pos="0">
                  <a:srgbClr val="454545"/>
                </a:gs>
                <a:gs pos="50000">
                  <a:srgbClr val="969696"/>
                </a:gs>
                <a:gs pos="100000">
                  <a:srgbClr val="454545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81" name="Line 142"/>
            <p:cNvSpPr/>
            <p:nvPr/>
          </p:nvSpPr>
          <p:spPr>
            <a:xfrm>
              <a:off x="2329" y="2890"/>
              <a:ext cx="24" cy="744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82" name="Freeform 143"/>
            <p:cNvSpPr/>
            <p:nvPr/>
          </p:nvSpPr>
          <p:spPr>
            <a:xfrm>
              <a:off x="2271" y="2806"/>
              <a:ext cx="89" cy="919"/>
            </a:xfrm>
            <a:custGeom>
              <a:avLst/>
              <a:gdLst>
                <a:gd name="txL" fmla="*/ 0 w 204"/>
                <a:gd name="txT" fmla="*/ 0 h 2100"/>
                <a:gd name="txR" fmla="*/ 204 w 204"/>
                <a:gd name="txB" fmla="*/ 2100 h 2100"/>
              </a:gdLst>
              <a:ahLst/>
              <a:cxnLst>
                <a:cxn ang="0">
                  <a:pos x="3" y="0"/>
                </a:cxn>
                <a:cxn ang="0">
                  <a:pos x="0" y="0"/>
                </a:cxn>
                <a:cxn ang="0">
                  <a:pos x="14" y="393"/>
                </a:cxn>
                <a:cxn ang="0">
                  <a:pos x="21" y="402"/>
                </a:cxn>
                <a:cxn ang="0">
                  <a:pos x="39" y="378"/>
                </a:cxn>
                <a:cxn ang="0">
                  <a:pos x="23" y="25"/>
                </a:cxn>
                <a:cxn ang="0">
                  <a:pos x="3" y="0"/>
                </a:cxn>
              </a:cxnLst>
              <a:rect l="txL" t="txT" r="txR" b="txB"/>
              <a:pathLst>
                <a:path w="204" h="2100">
                  <a:moveTo>
                    <a:pt x="18" y="0"/>
                  </a:moveTo>
                  <a:lnTo>
                    <a:pt x="0" y="0"/>
                  </a:lnTo>
                  <a:lnTo>
                    <a:pt x="72" y="2052"/>
                  </a:lnTo>
                  <a:lnTo>
                    <a:pt x="108" y="2100"/>
                  </a:lnTo>
                  <a:lnTo>
                    <a:pt x="204" y="1975"/>
                  </a:lnTo>
                  <a:lnTo>
                    <a:pt x="120" y="132"/>
                  </a:lnTo>
                  <a:lnTo>
                    <a:pt x="18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83" name="Freeform 144"/>
            <p:cNvSpPr/>
            <p:nvPr/>
          </p:nvSpPr>
          <p:spPr>
            <a:xfrm>
              <a:off x="1983" y="2803"/>
              <a:ext cx="92" cy="927"/>
            </a:xfrm>
            <a:custGeom>
              <a:avLst/>
              <a:gdLst>
                <a:gd name="txL" fmla="*/ 0 w 210"/>
                <a:gd name="txT" fmla="*/ 0 h 2118"/>
                <a:gd name="txR" fmla="*/ 210 w 210"/>
                <a:gd name="txB" fmla="*/ 2118 h 2118"/>
              </a:gdLst>
              <a:ahLst/>
              <a:cxnLst>
                <a:cxn ang="0">
                  <a:pos x="0" y="0"/>
                </a:cxn>
                <a:cxn ang="0">
                  <a:pos x="20" y="406"/>
                </a:cxn>
                <a:cxn ang="0">
                  <a:pos x="40" y="379"/>
                </a:cxn>
                <a:cxn ang="0">
                  <a:pos x="23" y="29"/>
                </a:cxn>
                <a:cxn ang="0">
                  <a:pos x="0" y="0"/>
                </a:cxn>
              </a:cxnLst>
              <a:rect l="txL" t="txT" r="txR" b="txB"/>
              <a:pathLst>
                <a:path w="210" h="2118">
                  <a:moveTo>
                    <a:pt x="0" y="0"/>
                  </a:moveTo>
                  <a:lnTo>
                    <a:pt x="102" y="2118"/>
                  </a:lnTo>
                  <a:lnTo>
                    <a:pt x="210" y="1980"/>
                  </a:lnTo>
                  <a:lnTo>
                    <a:pt x="120" y="15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84" name="Freeform 145"/>
            <p:cNvSpPr/>
            <p:nvPr/>
          </p:nvSpPr>
          <p:spPr>
            <a:xfrm>
              <a:off x="1883" y="2801"/>
              <a:ext cx="94" cy="929"/>
            </a:xfrm>
            <a:custGeom>
              <a:avLst/>
              <a:gdLst>
                <a:gd name="txL" fmla="*/ 0 w 214"/>
                <a:gd name="txT" fmla="*/ 0 h 2123"/>
                <a:gd name="txR" fmla="*/ 214 w 214"/>
                <a:gd name="txB" fmla="*/ 2123 h 2123"/>
              </a:gdLst>
              <a:ahLst/>
              <a:cxnLst>
                <a:cxn ang="0">
                  <a:pos x="0" y="0"/>
                </a:cxn>
                <a:cxn ang="0">
                  <a:pos x="22" y="407"/>
                </a:cxn>
                <a:cxn ang="0">
                  <a:pos x="41" y="381"/>
                </a:cxn>
                <a:cxn ang="0">
                  <a:pos x="24" y="30"/>
                </a:cxn>
                <a:cxn ang="0">
                  <a:pos x="0" y="0"/>
                </a:cxn>
              </a:cxnLst>
              <a:rect l="txL" t="txT" r="txR" b="txB"/>
              <a:pathLst>
                <a:path w="214" h="2123">
                  <a:moveTo>
                    <a:pt x="0" y="0"/>
                  </a:moveTo>
                  <a:lnTo>
                    <a:pt x="114" y="2123"/>
                  </a:lnTo>
                  <a:lnTo>
                    <a:pt x="214" y="1990"/>
                  </a:lnTo>
                  <a:lnTo>
                    <a:pt x="125" y="15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85" name="Freeform 146"/>
            <p:cNvSpPr/>
            <p:nvPr/>
          </p:nvSpPr>
          <p:spPr>
            <a:xfrm>
              <a:off x="1697" y="2806"/>
              <a:ext cx="95" cy="927"/>
            </a:xfrm>
            <a:custGeom>
              <a:avLst/>
              <a:gdLst>
                <a:gd name="txL" fmla="*/ 0 w 216"/>
                <a:gd name="txT" fmla="*/ 0 h 2118"/>
                <a:gd name="txR" fmla="*/ 216 w 216"/>
                <a:gd name="txB" fmla="*/ 2118 h 2118"/>
              </a:gdLst>
              <a:ahLst/>
              <a:cxnLst>
                <a:cxn ang="0">
                  <a:pos x="0" y="0"/>
                </a:cxn>
                <a:cxn ang="0">
                  <a:pos x="20" y="406"/>
                </a:cxn>
                <a:cxn ang="0">
                  <a:pos x="42" y="383"/>
                </a:cxn>
                <a:cxn ang="0">
                  <a:pos x="22" y="25"/>
                </a:cxn>
                <a:cxn ang="0">
                  <a:pos x="0" y="0"/>
                </a:cxn>
              </a:cxnLst>
              <a:rect l="txL" t="txT" r="txR" b="txB"/>
              <a:pathLst>
                <a:path w="216" h="2118">
                  <a:moveTo>
                    <a:pt x="0" y="0"/>
                  </a:moveTo>
                  <a:lnTo>
                    <a:pt x="102" y="2118"/>
                  </a:lnTo>
                  <a:lnTo>
                    <a:pt x="216" y="1998"/>
                  </a:lnTo>
                  <a:lnTo>
                    <a:pt x="114" y="132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86" name="Freeform 147"/>
            <p:cNvSpPr/>
            <p:nvPr/>
          </p:nvSpPr>
          <p:spPr>
            <a:xfrm>
              <a:off x="1794" y="2803"/>
              <a:ext cx="96" cy="935"/>
            </a:xfrm>
            <a:custGeom>
              <a:avLst/>
              <a:gdLst>
                <a:gd name="txL" fmla="*/ 0 w 220"/>
                <a:gd name="txT" fmla="*/ 0 h 2136"/>
                <a:gd name="txR" fmla="*/ 220 w 220"/>
                <a:gd name="txB" fmla="*/ 2136 h 2136"/>
              </a:gdLst>
              <a:ahLst/>
              <a:cxnLst>
                <a:cxn ang="0">
                  <a:pos x="0" y="0"/>
                </a:cxn>
                <a:cxn ang="0">
                  <a:pos x="22" y="409"/>
                </a:cxn>
                <a:cxn ang="0">
                  <a:pos x="42" y="384"/>
                </a:cxn>
                <a:cxn ang="0">
                  <a:pos x="23" y="29"/>
                </a:cxn>
                <a:cxn ang="0">
                  <a:pos x="0" y="0"/>
                </a:cxn>
              </a:cxnLst>
              <a:rect l="txL" t="txT" r="txR" b="txB"/>
              <a:pathLst>
                <a:path w="220" h="2136">
                  <a:moveTo>
                    <a:pt x="0" y="0"/>
                  </a:moveTo>
                  <a:lnTo>
                    <a:pt x="114" y="2136"/>
                  </a:lnTo>
                  <a:lnTo>
                    <a:pt x="220" y="2006"/>
                  </a:lnTo>
                  <a:lnTo>
                    <a:pt x="120" y="15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87" name="Freeform 148"/>
            <p:cNvSpPr/>
            <p:nvPr/>
          </p:nvSpPr>
          <p:spPr>
            <a:xfrm>
              <a:off x="1514" y="2801"/>
              <a:ext cx="95" cy="932"/>
            </a:xfrm>
            <a:custGeom>
              <a:avLst/>
              <a:gdLst>
                <a:gd name="txL" fmla="*/ 0 w 219"/>
                <a:gd name="txT" fmla="*/ 0 h 2130"/>
                <a:gd name="txR" fmla="*/ 219 w 219"/>
                <a:gd name="txB" fmla="*/ 2130 h 2130"/>
              </a:gdLst>
              <a:ahLst/>
              <a:cxnLst>
                <a:cxn ang="0">
                  <a:pos x="0" y="0"/>
                </a:cxn>
                <a:cxn ang="0">
                  <a:pos x="20" y="408"/>
                </a:cxn>
                <a:cxn ang="0">
                  <a:pos x="41" y="384"/>
                </a:cxn>
                <a:cxn ang="0">
                  <a:pos x="24" y="32"/>
                </a:cxn>
                <a:cxn ang="0">
                  <a:pos x="0" y="0"/>
                </a:cxn>
              </a:cxnLst>
              <a:rect l="txL" t="txT" r="txR" b="txB"/>
              <a:pathLst>
                <a:path w="219" h="2130">
                  <a:moveTo>
                    <a:pt x="0" y="0"/>
                  </a:moveTo>
                  <a:lnTo>
                    <a:pt x="108" y="2130"/>
                  </a:lnTo>
                  <a:lnTo>
                    <a:pt x="219" y="2004"/>
                  </a:lnTo>
                  <a:lnTo>
                    <a:pt x="130" y="17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88" name="Freeform 149"/>
            <p:cNvSpPr/>
            <p:nvPr/>
          </p:nvSpPr>
          <p:spPr>
            <a:xfrm>
              <a:off x="1432" y="2798"/>
              <a:ext cx="84" cy="931"/>
            </a:xfrm>
            <a:custGeom>
              <a:avLst/>
              <a:gdLst>
                <a:gd name="txL" fmla="*/ 0 w 192"/>
                <a:gd name="txT" fmla="*/ 0 h 2128"/>
                <a:gd name="txR" fmla="*/ 192 w 192"/>
                <a:gd name="txB" fmla="*/ 2128 h 2128"/>
              </a:gdLst>
              <a:ahLst/>
              <a:cxnLst>
                <a:cxn ang="0">
                  <a:pos x="0" y="0"/>
                </a:cxn>
                <a:cxn ang="0">
                  <a:pos x="17" y="407"/>
                </a:cxn>
                <a:cxn ang="0">
                  <a:pos x="37" y="392"/>
                </a:cxn>
                <a:cxn ang="0">
                  <a:pos x="20" y="25"/>
                </a:cxn>
                <a:cxn ang="0">
                  <a:pos x="0" y="0"/>
                </a:cxn>
              </a:cxnLst>
              <a:rect l="txL" t="txT" r="txR" b="txB"/>
              <a:pathLst>
                <a:path w="192" h="2128">
                  <a:moveTo>
                    <a:pt x="0" y="0"/>
                  </a:moveTo>
                  <a:lnTo>
                    <a:pt x="89" y="2128"/>
                  </a:lnTo>
                  <a:lnTo>
                    <a:pt x="192" y="2046"/>
                  </a:lnTo>
                  <a:lnTo>
                    <a:pt x="102" y="132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89" name="Freeform 150"/>
            <p:cNvSpPr/>
            <p:nvPr/>
          </p:nvSpPr>
          <p:spPr>
            <a:xfrm>
              <a:off x="1561" y="2803"/>
              <a:ext cx="94" cy="924"/>
            </a:xfrm>
            <a:custGeom>
              <a:avLst/>
              <a:gdLst>
                <a:gd name="txL" fmla="*/ 0 w 215"/>
                <a:gd name="txT" fmla="*/ 0 h 2112"/>
                <a:gd name="txR" fmla="*/ 215 w 215"/>
                <a:gd name="txB" fmla="*/ 2112 h 2112"/>
              </a:gdLst>
              <a:ahLst/>
              <a:cxnLst>
                <a:cxn ang="0">
                  <a:pos x="17" y="0"/>
                </a:cxn>
                <a:cxn ang="0">
                  <a:pos x="0" y="30"/>
                </a:cxn>
                <a:cxn ang="0">
                  <a:pos x="19" y="384"/>
                </a:cxn>
                <a:cxn ang="0">
                  <a:pos x="41" y="404"/>
                </a:cxn>
                <a:cxn ang="0">
                  <a:pos x="17" y="0"/>
                </a:cxn>
              </a:cxnLst>
              <a:rect l="txL" t="txT" r="txR" b="txB"/>
              <a:pathLst>
                <a:path w="215" h="2112">
                  <a:moveTo>
                    <a:pt x="89" y="0"/>
                  </a:moveTo>
                  <a:lnTo>
                    <a:pt x="0" y="155"/>
                  </a:lnTo>
                  <a:lnTo>
                    <a:pt x="101" y="2004"/>
                  </a:lnTo>
                  <a:lnTo>
                    <a:pt x="215" y="2112"/>
                  </a:lnTo>
                  <a:lnTo>
                    <a:pt x="89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90" name="Freeform 151"/>
            <p:cNvSpPr/>
            <p:nvPr/>
          </p:nvSpPr>
          <p:spPr>
            <a:xfrm>
              <a:off x="2227" y="2798"/>
              <a:ext cx="92" cy="932"/>
            </a:xfrm>
            <a:custGeom>
              <a:avLst/>
              <a:gdLst>
                <a:gd name="txL" fmla="*/ 0 w 210"/>
                <a:gd name="txT" fmla="*/ 0 h 2130"/>
                <a:gd name="txR" fmla="*/ 210 w 210"/>
                <a:gd name="txB" fmla="*/ 2130 h 2130"/>
              </a:gdLst>
              <a:ahLst/>
              <a:cxnLst>
                <a:cxn ang="0">
                  <a:pos x="20" y="0"/>
                </a:cxn>
                <a:cxn ang="0">
                  <a:pos x="0" y="26"/>
                </a:cxn>
                <a:cxn ang="0">
                  <a:pos x="15" y="380"/>
                </a:cxn>
                <a:cxn ang="0">
                  <a:pos x="40" y="408"/>
                </a:cxn>
                <a:cxn ang="0">
                  <a:pos x="40" y="403"/>
                </a:cxn>
                <a:cxn ang="0">
                  <a:pos x="20" y="0"/>
                </a:cxn>
              </a:cxnLst>
              <a:rect l="txL" t="txT" r="txR" b="txB"/>
              <a:pathLst>
                <a:path w="210" h="2130">
                  <a:moveTo>
                    <a:pt x="102" y="0"/>
                  </a:moveTo>
                  <a:lnTo>
                    <a:pt x="0" y="138"/>
                  </a:lnTo>
                  <a:lnTo>
                    <a:pt x="78" y="1986"/>
                  </a:lnTo>
                  <a:lnTo>
                    <a:pt x="210" y="2130"/>
                  </a:lnTo>
                  <a:lnTo>
                    <a:pt x="210" y="2106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91" name="Freeform 152"/>
            <p:cNvSpPr/>
            <p:nvPr/>
          </p:nvSpPr>
          <p:spPr>
            <a:xfrm>
              <a:off x="2324" y="2807"/>
              <a:ext cx="94" cy="915"/>
            </a:xfrm>
            <a:custGeom>
              <a:avLst/>
              <a:gdLst>
                <a:gd name="txL" fmla="*/ 0 w 216"/>
                <a:gd name="txT" fmla="*/ 0 h 2092"/>
                <a:gd name="txR" fmla="*/ 216 w 216"/>
                <a:gd name="txB" fmla="*/ 2092 h 2092"/>
              </a:gdLst>
              <a:ahLst/>
              <a:cxnLst>
                <a:cxn ang="0">
                  <a:pos x="18" y="0"/>
                </a:cxn>
                <a:cxn ang="0">
                  <a:pos x="0" y="26"/>
                </a:cxn>
                <a:cxn ang="0">
                  <a:pos x="16" y="378"/>
                </a:cxn>
                <a:cxn ang="0">
                  <a:pos x="41" y="400"/>
                </a:cxn>
                <a:cxn ang="0">
                  <a:pos x="40" y="399"/>
                </a:cxn>
                <a:cxn ang="0">
                  <a:pos x="18" y="0"/>
                </a:cxn>
              </a:cxnLst>
              <a:rect l="txL" t="txT" r="txR" b="txB"/>
              <a:pathLst>
                <a:path w="216" h="2092">
                  <a:moveTo>
                    <a:pt x="96" y="0"/>
                  </a:moveTo>
                  <a:lnTo>
                    <a:pt x="0" y="136"/>
                  </a:lnTo>
                  <a:lnTo>
                    <a:pt x="84" y="1978"/>
                  </a:lnTo>
                  <a:lnTo>
                    <a:pt x="216" y="2092"/>
                  </a:lnTo>
                  <a:lnTo>
                    <a:pt x="210" y="2086"/>
                  </a:lnTo>
                  <a:lnTo>
                    <a:pt x="96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92" name="Freeform 153"/>
            <p:cNvSpPr/>
            <p:nvPr/>
          </p:nvSpPr>
          <p:spPr>
            <a:xfrm>
              <a:off x="1388" y="2803"/>
              <a:ext cx="89" cy="924"/>
            </a:xfrm>
            <a:custGeom>
              <a:avLst/>
              <a:gdLst>
                <a:gd name="txL" fmla="*/ 0 w 204"/>
                <a:gd name="txT" fmla="*/ 0 h 2112"/>
                <a:gd name="txR" fmla="*/ 204 w 204"/>
                <a:gd name="txB" fmla="*/ 2112 h 2112"/>
              </a:gdLst>
              <a:ahLst/>
              <a:cxnLst>
                <a:cxn ang="0">
                  <a:pos x="21" y="0"/>
                </a:cxn>
                <a:cxn ang="0">
                  <a:pos x="10" y="2"/>
                </a:cxn>
                <a:cxn ang="0">
                  <a:pos x="3" y="15"/>
                </a:cxn>
                <a:cxn ang="0">
                  <a:pos x="0" y="16"/>
                </a:cxn>
                <a:cxn ang="0">
                  <a:pos x="23" y="395"/>
                </a:cxn>
                <a:cxn ang="0">
                  <a:pos x="39" y="404"/>
                </a:cxn>
                <a:cxn ang="0">
                  <a:pos x="21" y="0"/>
                </a:cxn>
              </a:cxnLst>
              <a:rect l="txL" t="txT" r="txR" b="txB"/>
              <a:pathLst>
                <a:path w="204" h="2112">
                  <a:moveTo>
                    <a:pt x="108" y="0"/>
                  </a:moveTo>
                  <a:lnTo>
                    <a:pt x="54" y="12"/>
                  </a:lnTo>
                  <a:lnTo>
                    <a:pt x="18" y="78"/>
                  </a:lnTo>
                  <a:lnTo>
                    <a:pt x="0" y="84"/>
                  </a:lnTo>
                  <a:lnTo>
                    <a:pt x="120" y="2064"/>
                  </a:lnTo>
                  <a:lnTo>
                    <a:pt x="204" y="2112"/>
                  </a:lnTo>
                  <a:lnTo>
                    <a:pt x="108" y="0"/>
                  </a:lnTo>
                  <a:close/>
                </a:path>
              </a:pathLst>
            </a:custGeom>
            <a:gradFill rotWithShape="0">
              <a:gsLst>
                <a:gs pos="0">
                  <a:srgbClr val="656565"/>
                </a:gs>
                <a:gs pos="100000">
                  <a:srgbClr val="B2B2B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93" name="Freeform 154"/>
            <p:cNvSpPr/>
            <p:nvPr/>
          </p:nvSpPr>
          <p:spPr>
            <a:xfrm>
              <a:off x="1347" y="2807"/>
              <a:ext cx="96" cy="905"/>
            </a:xfrm>
            <a:custGeom>
              <a:avLst/>
              <a:gdLst>
                <a:gd name="txL" fmla="*/ 0 w 220"/>
                <a:gd name="txT" fmla="*/ 0 h 2067"/>
                <a:gd name="txR" fmla="*/ 220 w 220"/>
                <a:gd name="txB" fmla="*/ 2067 h 2067"/>
              </a:gdLst>
              <a:ahLst/>
              <a:cxnLst>
                <a:cxn ang="0">
                  <a:pos x="0" y="0"/>
                </a:cxn>
                <a:cxn ang="0">
                  <a:pos x="22" y="395"/>
                </a:cxn>
                <a:cxn ang="0">
                  <a:pos x="35" y="396"/>
                </a:cxn>
                <a:cxn ang="0">
                  <a:pos x="42" y="394"/>
                </a:cxn>
                <a:cxn ang="0">
                  <a:pos x="18" y="14"/>
                </a:cxn>
                <a:cxn ang="0">
                  <a:pos x="10" y="12"/>
                </a:cxn>
                <a:cxn ang="0">
                  <a:pos x="0" y="0"/>
                </a:cxn>
              </a:cxnLst>
              <a:rect l="txL" t="txT" r="txR" b="txB"/>
              <a:pathLst>
                <a:path w="220" h="2067">
                  <a:moveTo>
                    <a:pt x="0" y="0"/>
                  </a:moveTo>
                  <a:lnTo>
                    <a:pt x="118" y="2061"/>
                  </a:lnTo>
                  <a:lnTo>
                    <a:pt x="184" y="2067"/>
                  </a:lnTo>
                  <a:lnTo>
                    <a:pt x="220" y="2055"/>
                  </a:lnTo>
                  <a:lnTo>
                    <a:pt x="94" y="75"/>
                  </a:lnTo>
                  <a:lnTo>
                    <a:pt x="52" y="63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94" name="Freeform 155"/>
            <p:cNvSpPr/>
            <p:nvPr/>
          </p:nvSpPr>
          <p:spPr>
            <a:xfrm>
              <a:off x="2366" y="2809"/>
              <a:ext cx="91" cy="913"/>
            </a:xfrm>
            <a:custGeom>
              <a:avLst/>
              <a:gdLst>
                <a:gd name="txL" fmla="*/ 0 w 210"/>
                <a:gd name="txT" fmla="*/ 0 h 2088"/>
                <a:gd name="txR" fmla="*/ 210 w 210"/>
                <a:gd name="txB" fmla="*/ 2088 h 2088"/>
              </a:gdLst>
              <a:ahLst/>
              <a:cxnLst>
                <a:cxn ang="0">
                  <a:pos x="0" y="0"/>
                </a:cxn>
                <a:cxn ang="0">
                  <a:pos x="21" y="399"/>
                </a:cxn>
                <a:cxn ang="0">
                  <a:pos x="39" y="374"/>
                </a:cxn>
                <a:cxn ang="0">
                  <a:pos x="24" y="25"/>
                </a:cxn>
                <a:cxn ang="0">
                  <a:pos x="0" y="0"/>
                </a:cxn>
              </a:cxnLst>
              <a:rect l="txL" t="txT" r="txR" b="txB"/>
              <a:pathLst>
                <a:path w="210" h="2088">
                  <a:moveTo>
                    <a:pt x="0" y="0"/>
                  </a:moveTo>
                  <a:lnTo>
                    <a:pt x="114" y="2088"/>
                  </a:lnTo>
                  <a:lnTo>
                    <a:pt x="210" y="1956"/>
                  </a:lnTo>
                  <a:lnTo>
                    <a:pt x="126" y="13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95" name="Freeform 156"/>
            <p:cNvSpPr/>
            <p:nvPr/>
          </p:nvSpPr>
          <p:spPr>
            <a:xfrm>
              <a:off x="594" y="3252"/>
              <a:ext cx="126" cy="462"/>
            </a:xfrm>
            <a:custGeom>
              <a:avLst/>
              <a:gdLst>
                <a:gd name="txL" fmla="*/ 0 w 126"/>
                <a:gd name="txT" fmla="*/ 0 h 462"/>
                <a:gd name="txR" fmla="*/ 126 w 126"/>
                <a:gd name="txB" fmla="*/ 462 h 462"/>
              </a:gdLst>
              <a:ahLst/>
              <a:cxnLst>
                <a:cxn ang="0">
                  <a:pos x="48" y="0"/>
                </a:cxn>
                <a:cxn ang="0">
                  <a:pos x="90" y="90"/>
                </a:cxn>
                <a:cxn ang="0">
                  <a:pos x="126" y="222"/>
                </a:cxn>
                <a:cxn ang="0">
                  <a:pos x="126" y="324"/>
                </a:cxn>
                <a:cxn ang="0">
                  <a:pos x="108" y="414"/>
                </a:cxn>
                <a:cxn ang="0">
                  <a:pos x="66" y="462"/>
                </a:cxn>
                <a:cxn ang="0">
                  <a:pos x="30" y="438"/>
                </a:cxn>
                <a:cxn ang="0">
                  <a:pos x="12" y="378"/>
                </a:cxn>
                <a:cxn ang="0">
                  <a:pos x="0" y="306"/>
                </a:cxn>
                <a:cxn ang="0">
                  <a:pos x="0" y="210"/>
                </a:cxn>
                <a:cxn ang="0">
                  <a:pos x="24" y="132"/>
                </a:cxn>
                <a:cxn ang="0">
                  <a:pos x="36" y="60"/>
                </a:cxn>
                <a:cxn ang="0">
                  <a:pos x="48" y="0"/>
                </a:cxn>
              </a:cxnLst>
              <a:rect l="txL" t="txT" r="txR" b="txB"/>
              <a:pathLst>
                <a:path w="126" h="462">
                  <a:moveTo>
                    <a:pt x="48" y="0"/>
                  </a:moveTo>
                  <a:lnTo>
                    <a:pt x="90" y="90"/>
                  </a:lnTo>
                  <a:lnTo>
                    <a:pt x="126" y="222"/>
                  </a:lnTo>
                  <a:lnTo>
                    <a:pt x="126" y="324"/>
                  </a:lnTo>
                  <a:lnTo>
                    <a:pt x="108" y="414"/>
                  </a:lnTo>
                  <a:lnTo>
                    <a:pt x="66" y="462"/>
                  </a:lnTo>
                  <a:lnTo>
                    <a:pt x="30" y="438"/>
                  </a:lnTo>
                  <a:lnTo>
                    <a:pt x="12" y="378"/>
                  </a:lnTo>
                  <a:lnTo>
                    <a:pt x="0" y="306"/>
                  </a:lnTo>
                  <a:lnTo>
                    <a:pt x="0" y="210"/>
                  </a:lnTo>
                  <a:lnTo>
                    <a:pt x="24" y="132"/>
                  </a:lnTo>
                  <a:lnTo>
                    <a:pt x="36" y="60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969696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9616" name="Text Box 160" descr="球体"/>
          <p:cNvSpPr txBox="1"/>
          <p:nvPr/>
        </p:nvSpPr>
        <p:spPr>
          <a:xfrm>
            <a:off x="0" y="800100"/>
            <a:ext cx="2547938" cy="641350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spAutoFit/>
          </a:bodyPr>
          <a:lstStyle/>
          <a:p>
            <a:pPr algn="ctr" eaLnBrk="0" hangingPunct="0"/>
            <a:r>
              <a:rPr lang="zh-CN" altLang="en-US" sz="3600" b="1" dirty="0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螺纹末端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343051" name="组合 343050"/>
          <p:cNvGrpSpPr/>
          <p:nvPr/>
        </p:nvGrpSpPr>
        <p:grpSpPr>
          <a:xfrm>
            <a:off x="333375" y="81216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529" name="Rectangle 33"/>
          <p:cNvSpPr>
            <a:spLocks noGrp="1" noChangeArrowheads="1"/>
          </p:cNvSpPr>
          <p:nvPr>
            <p:ph type="title"/>
          </p:nvPr>
        </p:nvSpPr>
        <p:spPr>
          <a:xfrm>
            <a:off x="847725" y="0"/>
            <a:ext cx="5976938" cy="6111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+mj-ea"/>
                <a:cs typeface="+mj-cs"/>
              </a:rPr>
              <a:t>（一）螺纹的基础知识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anose="02010509060101010101" pitchFamily="49" charset="-122"/>
              <a:ea typeface="+mj-ea"/>
              <a:cs typeface="+mj-cs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3" name="Rectangle 17"/>
          <p:cNvSpPr/>
          <p:nvPr/>
        </p:nvSpPr>
        <p:spPr>
          <a:xfrm>
            <a:off x="263525" y="215900"/>
            <a:ext cx="373316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1</a:t>
            </a:r>
            <a:r>
              <a:rPr lang="zh-CN" altLang="en-US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、螺纹的五要素</a:t>
            </a:r>
            <a:endParaRPr lang="zh-CN" altLang="en-US" sz="28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21521" name="Text Box 17"/>
          <p:cNvSpPr txBox="1"/>
          <p:nvPr/>
        </p:nvSpPr>
        <p:spPr>
          <a:xfrm>
            <a:off x="1512253" y="950436"/>
            <a:ext cx="150939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3200" b="1" dirty="0">
                <a:latin typeface="Times New Roman" panose="02020603050405020304" pitchFamily="18" charset="0"/>
              </a:rPr>
              <a:t>⑴ 牙型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8"/>
          <p:cNvGrpSpPr/>
          <p:nvPr/>
        </p:nvGrpSpPr>
        <p:grpSpPr>
          <a:xfrm>
            <a:off x="1385888" y="4814888"/>
            <a:ext cx="1939925" cy="1406525"/>
            <a:chOff x="873" y="2867"/>
            <a:chExt cx="1222" cy="886"/>
          </a:xfrm>
        </p:grpSpPr>
        <p:sp>
          <p:nvSpPr>
            <p:cNvPr id="47165" name="Text Box 19"/>
            <p:cNvSpPr txBox="1"/>
            <p:nvPr/>
          </p:nvSpPr>
          <p:spPr>
            <a:xfrm>
              <a:off x="1120" y="2867"/>
              <a:ext cx="7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三角形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7166" name="Group 20"/>
            <p:cNvGrpSpPr/>
            <p:nvPr/>
          </p:nvGrpSpPr>
          <p:grpSpPr>
            <a:xfrm>
              <a:off x="873" y="3185"/>
              <a:ext cx="1222" cy="568"/>
              <a:chOff x="873" y="3185"/>
              <a:chExt cx="1222" cy="568"/>
            </a:xfrm>
          </p:grpSpPr>
          <p:sp>
            <p:nvSpPr>
              <p:cNvPr id="47167" name="Line 21"/>
              <p:cNvSpPr/>
              <p:nvPr/>
            </p:nvSpPr>
            <p:spPr>
              <a:xfrm flipV="1">
                <a:off x="913" y="3185"/>
                <a:ext cx="236" cy="40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68" name="Line 22"/>
              <p:cNvSpPr/>
              <p:nvPr/>
            </p:nvSpPr>
            <p:spPr>
              <a:xfrm>
                <a:off x="1226" y="3187"/>
                <a:ext cx="234" cy="40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69" name="Line 23"/>
              <p:cNvSpPr/>
              <p:nvPr/>
            </p:nvSpPr>
            <p:spPr>
              <a:xfrm flipV="1">
                <a:off x="1528" y="3188"/>
                <a:ext cx="234" cy="40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70" name="Line 24"/>
              <p:cNvSpPr/>
              <p:nvPr/>
            </p:nvSpPr>
            <p:spPr>
              <a:xfrm>
                <a:off x="1840" y="3188"/>
                <a:ext cx="234" cy="40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71" name="Line 25"/>
              <p:cNvSpPr/>
              <p:nvPr/>
            </p:nvSpPr>
            <p:spPr>
              <a:xfrm>
                <a:off x="1142" y="3193"/>
                <a:ext cx="9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72" name="Line 26"/>
              <p:cNvSpPr/>
              <p:nvPr/>
            </p:nvSpPr>
            <p:spPr>
              <a:xfrm>
                <a:off x="1760" y="3193"/>
                <a:ext cx="8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73" name="Line 27"/>
              <p:cNvSpPr/>
              <p:nvPr/>
            </p:nvSpPr>
            <p:spPr>
              <a:xfrm>
                <a:off x="1468" y="3586"/>
                <a:ext cx="59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74" name="Line 28"/>
              <p:cNvSpPr/>
              <p:nvPr/>
            </p:nvSpPr>
            <p:spPr>
              <a:xfrm>
                <a:off x="2073" y="3587"/>
                <a:ext cx="2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75" name="Line 29"/>
              <p:cNvSpPr/>
              <p:nvPr/>
            </p:nvSpPr>
            <p:spPr>
              <a:xfrm flipH="1">
                <a:off x="879" y="3594"/>
                <a:ext cx="3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76" name="Line 30"/>
              <p:cNvSpPr/>
              <p:nvPr/>
            </p:nvSpPr>
            <p:spPr>
              <a:xfrm flipV="1">
                <a:off x="924" y="3346"/>
                <a:ext cx="392" cy="3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77" name="Line 31"/>
              <p:cNvSpPr/>
              <p:nvPr/>
            </p:nvSpPr>
            <p:spPr>
              <a:xfrm flipV="1">
                <a:off x="873" y="3252"/>
                <a:ext cx="392" cy="3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78" name="Line 32"/>
              <p:cNvSpPr/>
              <p:nvPr/>
            </p:nvSpPr>
            <p:spPr>
              <a:xfrm flipV="1">
                <a:off x="1098" y="3186"/>
                <a:ext cx="94" cy="9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79" name="Freeform 33"/>
              <p:cNvSpPr/>
              <p:nvPr/>
            </p:nvSpPr>
            <p:spPr>
              <a:xfrm>
                <a:off x="1054" y="3440"/>
                <a:ext cx="312" cy="313"/>
              </a:xfrm>
              <a:custGeom>
                <a:avLst/>
                <a:gdLst>
                  <a:gd name="txL" fmla="*/ 0 w 312"/>
                  <a:gd name="txT" fmla="*/ 0 h 313"/>
                  <a:gd name="txR" fmla="*/ 312 w 312"/>
                  <a:gd name="txB" fmla="*/ 313 h 313"/>
                </a:gdLst>
                <a:ahLst/>
                <a:cxnLst>
                  <a:cxn ang="0">
                    <a:pos x="0" y="313"/>
                  </a:cxn>
                  <a:cxn ang="0">
                    <a:pos x="312" y="0"/>
                  </a:cxn>
                </a:cxnLst>
                <a:rect l="txL" t="txT" r="txR" b="txB"/>
                <a:pathLst>
                  <a:path w="312" h="313">
                    <a:moveTo>
                      <a:pt x="0" y="313"/>
                    </a:moveTo>
                    <a:lnTo>
                      <a:pt x="312" y="0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7180" name="Freeform 34"/>
              <p:cNvSpPr/>
              <p:nvPr/>
            </p:nvSpPr>
            <p:spPr>
              <a:xfrm>
                <a:off x="1200" y="3528"/>
                <a:ext cx="217" cy="218"/>
              </a:xfrm>
              <a:custGeom>
                <a:avLst/>
                <a:gdLst>
                  <a:gd name="txL" fmla="*/ 0 w 217"/>
                  <a:gd name="txT" fmla="*/ 0 h 218"/>
                  <a:gd name="txR" fmla="*/ 217 w 217"/>
                  <a:gd name="txB" fmla="*/ 218 h 218"/>
                </a:gdLst>
                <a:ahLst/>
                <a:cxnLst>
                  <a:cxn ang="0">
                    <a:pos x="0" y="218"/>
                  </a:cxn>
                  <a:cxn ang="0">
                    <a:pos x="217" y="0"/>
                  </a:cxn>
                </a:cxnLst>
                <a:rect l="txL" t="txT" r="txR" b="txB"/>
                <a:pathLst>
                  <a:path w="217" h="218">
                    <a:moveTo>
                      <a:pt x="0" y="218"/>
                    </a:moveTo>
                    <a:lnTo>
                      <a:pt x="217" y="0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7181" name="Line 35"/>
              <p:cNvSpPr/>
              <p:nvPr/>
            </p:nvSpPr>
            <p:spPr>
              <a:xfrm flipV="1">
                <a:off x="1360" y="3586"/>
                <a:ext cx="152" cy="15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82" name="Freeform 36"/>
              <p:cNvSpPr/>
              <p:nvPr/>
            </p:nvSpPr>
            <p:spPr>
              <a:xfrm>
                <a:off x="1534" y="3229"/>
                <a:ext cx="335" cy="343"/>
              </a:xfrm>
              <a:custGeom>
                <a:avLst/>
                <a:gdLst>
                  <a:gd name="txL" fmla="*/ 0 w 335"/>
                  <a:gd name="txT" fmla="*/ 0 h 343"/>
                  <a:gd name="txR" fmla="*/ 335 w 335"/>
                  <a:gd name="txB" fmla="*/ 343 h 343"/>
                </a:gdLst>
                <a:ahLst/>
                <a:cxnLst>
                  <a:cxn ang="0">
                    <a:pos x="0" y="343"/>
                  </a:cxn>
                  <a:cxn ang="0">
                    <a:pos x="335" y="0"/>
                  </a:cxn>
                </a:cxnLst>
                <a:rect l="txL" t="txT" r="txR" b="txB"/>
                <a:pathLst>
                  <a:path w="335" h="343">
                    <a:moveTo>
                      <a:pt x="0" y="343"/>
                    </a:moveTo>
                    <a:lnTo>
                      <a:pt x="335" y="0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7183" name="Line 37"/>
              <p:cNvSpPr/>
              <p:nvPr/>
            </p:nvSpPr>
            <p:spPr>
              <a:xfrm flipV="1">
                <a:off x="1505" y="3331"/>
                <a:ext cx="407" cy="40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84" name="Line 38"/>
              <p:cNvSpPr/>
              <p:nvPr/>
            </p:nvSpPr>
            <p:spPr>
              <a:xfrm flipV="1">
                <a:off x="1658" y="3426"/>
                <a:ext cx="312" cy="31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85" name="Line 39"/>
              <p:cNvSpPr/>
              <p:nvPr/>
            </p:nvSpPr>
            <p:spPr>
              <a:xfrm flipV="1">
                <a:off x="1803" y="3519"/>
                <a:ext cx="219" cy="21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86" name="Freeform 40"/>
              <p:cNvSpPr/>
              <p:nvPr/>
            </p:nvSpPr>
            <p:spPr>
              <a:xfrm>
                <a:off x="1927" y="3594"/>
                <a:ext cx="159" cy="152"/>
              </a:xfrm>
              <a:custGeom>
                <a:avLst/>
                <a:gdLst>
                  <a:gd name="txL" fmla="*/ 0 w 159"/>
                  <a:gd name="txT" fmla="*/ 0 h 152"/>
                  <a:gd name="txR" fmla="*/ 159 w 159"/>
                  <a:gd name="txB" fmla="*/ 152 h 152"/>
                </a:gdLst>
                <a:ahLst/>
                <a:cxnLst>
                  <a:cxn ang="0">
                    <a:pos x="0" y="152"/>
                  </a:cxn>
                  <a:cxn ang="0">
                    <a:pos x="159" y="0"/>
                  </a:cxn>
                </a:cxnLst>
                <a:rect l="txL" t="txT" r="txR" b="txB"/>
                <a:pathLst>
                  <a:path w="159" h="152">
                    <a:moveTo>
                      <a:pt x="0" y="152"/>
                    </a:moveTo>
                    <a:lnTo>
                      <a:pt x="159" y="0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1545" name="Text Box 41"/>
          <p:cNvSpPr txBox="1"/>
          <p:nvPr/>
        </p:nvSpPr>
        <p:spPr>
          <a:xfrm>
            <a:off x="1368425" y="1449388"/>
            <a:ext cx="6888163" cy="10668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       在通过螺纹轴线的剖面上，螺纹的轮廓形状。</a:t>
            </a:r>
            <a:endParaRPr lang="zh-CN" altLang="en-US" sz="32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" name="Group 42"/>
          <p:cNvGrpSpPr/>
          <p:nvPr/>
        </p:nvGrpSpPr>
        <p:grpSpPr>
          <a:xfrm>
            <a:off x="4098925" y="4814888"/>
            <a:ext cx="1211263" cy="1408112"/>
            <a:chOff x="2582" y="2867"/>
            <a:chExt cx="763" cy="887"/>
          </a:xfrm>
        </p:grpSpPr>
        <p:grpSp>
          <p:nvGrpSpPr>
            <p:cNvPr id="47144" name="Group 43"/>
            <p:cNvGrpSpPr/>
            <p:nvPr/>
          </p:nvGrpSpPr>
          <p:grpSpPr>
            <a:xfrm>
              <a:off x="2582" y="3193"/>
              <a:ext cx="763" cy="561"/>
              <a:chOff x="2582" y="3193"/>
              <a:chExt cx="763" cy="561"/>
            </a:xfrm>
          </p:grpSpPr>
          <p:sp>
            <p:nvSpPr>
              <p:cNvPr id="47146" name="Line 44"/>
              <p:cNvSpPr/>
              <p:nvPr/>
            </p:nvSpPr>
            <p:spPr>
              <a:xfrm>
                <a:off x="2712" y="3200"/>
                <a:ext cx="13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47" name="Line 45"/>
              <p:cNvSpPr/>
              <p:nvPr/>
            </p:nvSpPr>
            <p:spPr>
              <a:xfrm flipV="1">
                <a:off x="2633" y="3200"/>
                <a:ext cx="79" cy="27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48" name="Line 46"/>
              <p:cNvSpPr/>
              <p:nvPr/>
            </p:nvSpPr>
            <p:spPr>
              <a:xfrm>
                <a:off x="2829" y="3200"/>
                <a:ext cx="77" cy="28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49" name="Line 47"/>
              <p:cNvSpPr/>
              <p:nvPr/>
            </p:nvSpPr>
            <p:spPr>
              <a:xfrm>
                <a:off x="2902" y="3485"/>
                <a:ext cx="11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50" name="Line 48"/>
              <p:cNvSpPr/>
              <p:nvPr/>
            </p:nvSpPr>
            <p:spPr>
              <a:xfrm flipV="1">
                <a:off x="3018" y="3197"/>
                <a:ext cx="79" cy="29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51" name="Line 49"/>
              <p:cNvSpPr/>
              <p:nvPr/>
            </p:nvSpPr>
            <p:spPr>
              <a:xfrm>
                <a:off x="3092" y="3210"/>
                <a:ext cx="11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52" name="Line 50"/>
              <p:cNvSpPr/>
              <p:nvPr/>
            </p:nvSpPr>
            <p:spPr>
              <a:xfrm>
                <a:off x="3202" y="3195"/>
                <a:ext cx="77" cy="28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53" name="Line 51"/>
              <p:cNvSpPr/>
              <p:nvPr/>
            </p:nvSpPr>
            <p:spPr>
              <a:xfrm>
                <a:off x="3272" y="3476"/>
                <a:ext cx="7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54" name="Line 52"/>
              <p:cNvSpPr/>
              <p:nvPr/>
            </p:nvSpPr>
            <p:spPr>
              <a:xfrm flipH="1">
                <a:off x="2596" y="3477"/>
                <a:ext cx="4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55" name="Freeform 53"/>
              <p:cNvSpPr/>
              <p:nvPr/>
            </p:nvSpPr>
            <p:spPr>
              <a:xfrm>
                <a:off x="2582" y="3368"/>
                <a:ext cx="298" cy="290"/>
              </a:xfrm>
              <a:custGeom>
                <a:avLst/>
                <a:gdLst>
                  <a:gd name="txL" fmla="*/ 0 w 298"/>
                  <a:gd name="txT" fmla="*/ 0 h 290"/>
                  <a:gd name="txR" fmla="*/ 298 w 298"/>
                  <a:gd name="txB" fmla="*/ 290 h 290"/>
                </a:gdLst>
                <a:ahLst/>
                <a:cxnLst>
                  <a:cxn ang="0">
                    <a:pos x="0" y="290"/>
                  </a:cxn>
                  <a:cxn ang="0">
                    <a:pos x="298" y="0"/>
                  </a:cxn>
                </a:cxnLst>
                <a:rect l="txL" t="txT" r="txR" b="txB"/>
                <a:pathLst>
                  <a:path w="298" h="290">
                    <a:moveTo>
                      <a:pt x="0" y="290"/>
                    </a:moveTo>
                    <a:lnTo>
                      <a:pt x="298" y="0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7156" name="Freeform 54"/>
              <p:cNvSpPr/>
              <p:nvPr/>
            </p:nvSpPr>
            <p:spPr>
              <a:xfrm>
                <a:off x="2596" y="3273"/>
                <a:ext cx="247" cy="247"/>
              </a:xfrm>
              <a:custGeom>
                <a:avLst/>
                <a:gdLst>
                  <a:gd name="txL" fmla="*/ 0 w 247"/>
                  <a:gd name="txT" fmla="*/ 0 h 247"/>
                  <a:gd name="txR" fmla="*/ 247 w 247"/>
                  <a:gd name="txB" fmla="*/ 247 h 247"/>
                </a:gdLst>
                <a:ahLst/>
                <a:cxnLst>
                  <a:cxn ang="0">
                    <a:pos x="0" y="247"/>
                  </a:cxn>
                  <a:cxn ang="0">
                    <a:pos x="247" y="0"/>
                  </a:cxn>
                </a:cxnLst>
                <a:rect l="txL" t="txT" r="txR" b="txB"/>
                <a:pathLst>
                  <a:path w="247" h="247">
                    <a:moveTo>
                      <a:pt x="0" y="247"/>
                    </a:moveTo>
                    <a:lnTo>
                      <a:pt x="247" y="0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7157" name="Line 55"/>
              <p:cNvSpPr/>
              <p:nvPr/>
            </p:nvSpPr>
            <p:spPr>
              <a:xfrm flipV="1">
                <a:off x="2691" y="3193"/>
                <a:ext cx="102" cy="10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58" name="Line 56"/>
              <p:cNvSpPr/>
              <p:nvPr/>
            </p:nvSpPr>
            <p:spPr>
              <a:xfrm flipV="1">
                <a:off x="2626" y="3477"/>
                <a:ext cx="276" cy="27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59" name="Line 57"/>
              <p:cNvSpPr/>
              <p:nvPr/>
            </p:nvSpPr>
            <p:spPr>
              <a:xfrm flipV="1">
                <a:off x="2771" y="3296"/>
                <a:ext cx="450" cy="45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60" name="Line 58"/>
              <p:cNvSpPr/>
              <p:nvPr/>
            </p:nvSpPr>
            <p:spPr>
              <a:xfrm flipV="1">
                <a:off x="3069" y="3202"/>
                <a:ext cx="116" cy="11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61" name="Freeform 59"/>
              <p:cNvSpPr/>
              <p:nvPr/>
            </p:nvSpPr>
            <p:spPr>
              <a:xfrm>
                <a:off x="2909" y="3404"/>
                <a:ext cx="349" cy="350"/>
              </a:xfrm>
              <a:custGeom>
                <a:avLst/>
                <a:gdLst>
                  <a:gd name="txL" fmla="*/ 0 w 349"/>
                  <a:gd name="txT" fmla="*/ 0 h 350"/>
                  <a:gd name="txR" fmla="*/ 349 w 349"/>
                  <a:gd name="txB" fmla="*/ 350 h 350"/>
                </a:gdLst>
                <a:ahLst/>
                <a:cxnLst>
                  <a:cxn ang="0">
                    <a:pos x="0" y="350"/>
                  </a:cxn>
                  <a:cxn ang="0">
                    <a:pos x="349" y="0"/>
                  </a:cxn>
                </a:cxnLst>
                <a:rect l="txL" t="txT" r="txR" b="txB"/>
                <a:pathLst>
                  <a:path w="349" h="350">
                    <a:moveTo>
                      <a:pt x="0" y="350"/>
                    </a:moveTo>
                    <a:lnTo>
                      <a:pt x="349" y="0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7162" name="Line 60"/>
              <p:cNvSpPr/>
              <p:nvPr/>
            </p:nvSpPr>
            <p:spPr>
              <a:xfrm flipV="1">
                <a:off x="3054" y="3477"/>
                <a:ext cx="276" cy="27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63" name="Line 61"/>
              <p:cNvSpPr/>
              <p:nvPr/>
            </p:nvSpPr>
            <p:spPr>
              <a:xfrm flipV="1">
                <a:off x="3192" y="3607"/>
                <a:ext cx="146" cy="14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64" name="Line 62"/>
              <p:cNvSpPr/>
              <p:nvPr/>
            </p:nvSpPr>
            <p:spPr>
              <a:xfrm flipV="1">
                <a:off x="3316" y="3724"/>
                <a:ext cx="29" cy="2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7145" name="Text Box 63"/>
            <p:cNvSpPr txBox="1"/>
            <p:nvPr/>
          </p:nvSpPr>
          <p:spPr>
            <a:xfrm>
              <a:off x="2697" y="2867"/>
              <a:ext cx="56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800" b="1" dirty="0">
                  <a:latin typeface="Times New Roman" panose="02020603050405020304" pitchFamily="18" charset="0"/>
                </a:rPr>
                <a:t>梯形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64"/>
          <p:cNvGrpSpPr/>
          <p:nvPr/>
        </p:nvGrpSpPr>
        <p:grpSpPr>
          <a:xfrm>
            <a:off x="6083300" y="4814888"/>
            <a:ext cx="1320800" cy="1417637"/>
            <a:chOff x="3832" y="2867"/>
            <a:chExt cx="832" cy="893"/>
          </a:xfrm>
        </p:grpSpPr>
        <p:grpSp>
          <p:nvGrpSpPr>
            <p:cNvPr id="47124" name="Group 65"/>
            <p:cNvGrpSpPr/>
            <p:nvPr/>
          </p:nvGrpSpPr>
          <p:grpSpPr>
            <a:xfrm>
              <a:off x="3832" y="3207"/>
              <a:ext cx="822" cy="553"/>
              <a:chOff x="3832" y="3207"/>
              <a:chExt cx="822" cy="553"/>
            </a:xfrm>
          </p:grpSpPr>
          <p:sp>
            <p:nvSpPr>
              <p:cNvPr id="47126" name="Line 66"/>
              <p:cNvSpPr/>
              <p:nvPr/>
            </p:nvSpPr>
            <p:spPr>
              <a:xfrm>
                <a:off x="4158" y="3207"/>
                <a:ext cx="15" cy="27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27" name="Line 67"/>
              <p:cNvSpPr/>
              <p:nvPr/>
            </p:nvSpPr>
            <p:spPr>
              <a:xfrm flipH="1">
                <a:off x="4045" y="3207"/>
                <a:ext cx="12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28" name="Line 68"/>
              <p:cNvSpPr/>
              <p:nvPr/>
            </p:nvSpPr>
            <p:spPr>
              <a:xfrm flipH="1">
                <a:off x="3893" y="3207"/>
                <a:ext cx="160" cy="27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29" name="Line 69"/>
              <p:cNvSpPr/>
              <p:nvPr/>
            </p:nvSpPr>
            <p:spPr>
              <a:xfrm>
                <a:off x="4566" y="3209"/>
                <a:ext cx="15" cy="27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30" name="Line 70"/>
              <p:cNvSpPr/>
              <p:nvPr/>
            </p:nvSpPr>
            <p:spPr>
              <a:xfrm flipH="1">
                <a:off x="4453" y="3209"/>
                <a:ext cx="12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31" name="Line 71"/>
              <p:cNvSpPr/>
              <p:nvPr/>
            </p:nvSpPr>
            <p:spPr>
              <a:xfrm flipH="1">
                <a:off x="4301" y="3209"/>
                <a:ext cx="160" cy="27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32" name="Line 72"/>
              <p:cNvSpPr/>
              <p:nvPr/>
            </p:nvSpPr>
            <p:spPr>
              <a:xfrm>
                <a:off x="4162" y="3477"/>
                <a:ext cx="153" cy="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33" name="Line 73"/>
              <p:cNvSpPr/>
              <p:nvPr/>
            </p:nvSpPr>
            <p:spPr>
              <a:xfrm>
                <a:off x="4583" y="3484"/>
                <a:ext cx="6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34" name="Line 74"/>
              <p:cNvSpPr/>
              <p:nvPr/>
            </p:nvSpPr>
            <p:spPr>
              <a:xfrm flipH="1">
                <a:off x="3834" y="3484"/>
                <a:ext cx="8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35" name="Freeform 75"/>
              <p:cNvSpPr/>
              <p:nvPr/>
            </p:nvSpPr>
            <p:spPr>
              <a:xfrm>
                <a:off x="3832" y="3353"/>
                <a:ext cx="342" cy="335"/>
              </a:xfrm>
              <a:custGeom>
                <a:avLst/>
                <a:gdLst>
                  <a:gd name="txL" fmla="*/ 0 w 342"/>
                  <a:gd name="txT" fmla="*/ 0 h 335"/>
                  <a:gd name="txR" fmla="*/ 342 w 342"/>
                  <a:gd name="txB" fmla="*/ 335 h 335"/>
                </a:gdLst>
                <a:ahLst/>
                <a:cxnLst>
                  <a:cxn ang="0">
                    <a:pos x="0" y="335"/>
                  </a:cxn>
                  <a:cxn ang="0">
                    <a:pos x="342" y="0"/>
                  </a:cxn>
                </a:cxnLst>
                <a:rect l="txL" t="txT" r="txR" b="txB"/>
                <a:pathLst>
                  <a:path w="342" h="335">
                    <a:moveTo>
                      <a:pt x="0" y="335"/>
                    </a:moveTo>
                    <a:lnTo>
                      <a:pt x="342" y="0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7136" name="Freeform 76"/>
              <p:cNvSpPr/>
              <p:nvPr/>
            </p:nvSpPr>
            <p:spPr>
              <a:xfrm>
                <a:off x="3840" y="3222"/>
                <a:ext cx="334" cy="336"/>
              </a:xfrm>
              <a:custGeom>
                <a:avLst/>
                <a:gdLst>
                  <a:gd name="txL" fmla="*/ 0 w 334"/>
                  <a:gd name="txT" fmla="*/ 0 h 336"/>
                  <a:gd name="txR" fmla="*/ 334 w 334"/>
                  <a:gd name="txB" fmla="*/ 336 h 336"/>
                </a:gdLst>
                <a:ahLst/>
                <a:cxnLst>
                  <a:cxn ang="0">
                    <a:pos x="0" y="336"/>
                  </a:cxn>
                  <a:cxn ang="0">
                    <a:pos x="334" y="0"/>
                  </a:cxn>
                </a:cxnLst>
                <a:rect l="txL" t="txT" r="txR" b="txB"/>
                <a:pathLst>
                  <a:path w="334" h="336">
                    <a:moveTo>
                      <a:pt x="0" y="336"/>
                    </a:moveTo>
                    <a:lnTo>
                      <a:pt x="334" y="0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7137" name="Freeform 77"/>
              <p:cNvSpPr/>
              <p:nvPr/>
            </p:nvSpPr>
            <p:spPr>
              <a:xfrm>
                <a:off x="3890" y="3478"/>
                <a:ext cx="284" cy="282"/>
              </a:xfrm>
              <a:custGeom>
                <a:avLst/>
                <a:gdLst>
                  <a:gd name="txL" fmla="*/ 0 w 284"/>
                  <a:gd name="txT" fmla="*/ 0 h 282"/>
                  <a:gd name="txR" fmla="*/ 284 w 284"/>
                  <a:gd name="txB" fmla="*/ 282 h 282"/>
                </a:gdLst>
                <a:ahLst/>
                <a:cxnLst>
                  <a:cxn ang="0">
                    <a:pos x="0" y="282"/>
                  </a:cxn>
                  <a:cxn ang="0">
                    <a:pos x="284" y="0"/>
                  </a:cxn>
                </a:cxnLst>
                <a:rect l="txL" t="txT" r="txR" b="txB"/>
                <a:pathLst>
                  <a:path w="284" h="282">
                    <a:moveTo>
                      <a:pt x="0" y="282"/>
                    </a:moveTo>
                    <a:lnTo>
                      <a:pt x="284" y="0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7138" name="Line 78"/>
              <p:cNvSpPr/>
              <p:nvPr/>
            </p:nvSpPr>
            <p:spPr>
              <a:xfrm flipV="1">
                <a:off x="4022" y="3208"/>
                <a:ext cx="545" cy="54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39" name="Line 79"/>
              <p:cNvSpPr/>
              <p:nvPr/>
            </p:nvSpPr>
            <p:spPr>
              <a:xfrm flipV="1">
                <a:off x="4145" y="3324"/>
                <a:ext cx="429" cy="42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40" name="Freeform 80"/>
              <p:cNvSpPr/>
              <p:nvPr/>
            </p:nvSpPr>
            <p:spPr>
              <a:xfrm>
                <a:off x="4261" y="3440"/>
                <a:ext cx="313" cy="320"/>
              </a:xfrm>
              <a:custGeom>
                <a:avLst/>
                <a:gdLst>
                  <a:gd name="txL" fmla="*/ 0 w 313"/>
                  <a:gd name="txT" fmla="*/ 0 h 320"/>
                  <a:gd name="txR" fmla="*/ 313 w 313"/>
                  <a:gd name="txB" fmla="*/ 320 h 320"/>
                </a:gdLst>
                <a:ahLst/>
                <a:cxnLst>
                  <a:cxn ang="0">
                    <a:pos x="0" y="320"/>
                  </a:cxn>
                  <a:cxn ang="0">
                    <a:pos x="313" y="0"/>
                  </a:cxn>
                </a:cxnLst>
                <a:rect l="txL" t="txT" r="txR" b="txB"/>
                <a:pathLst>
                  <a:path w="313" h="320">
                    <a:moveTo>
                      <a:pt x="0" y="320"/>
                    </a:moveTo>
                    <a:lnTo>
                      <a:pt x="313" y="0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7141" name="Line 81"/>
              <p:cNvSpPr/>
              <p:nvPr/>
            </p:nvSpPr>
            <p:spPr>
              <a:xfrm flipV="1">
                <a:off x="4385" y="3498"/>
                <a:ext cx="255" cy="25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42" name="Freeform 82"/>
              <p:cNvSpPr/>
              <p:nvPr/>
            </p:nvSpPr>
            <p:spPr>
              <a:xfrm>
                <a:off x="4509" y="3622"/>
                <a:ext cx="131" cy="131"/>
              </a:xfrm>
              <a:custGeom>
                <a:avLst/>
                <a:gdLst>
                  <a:gd name="txL" fmla="*/ 0 w 131"/>
                  <a:gd name="txT" fmla="*/ 0 h 131"/>
                  <a:gd name="txR" fmla="*/ 131 w 131"/>
                  <a:gd name="txB" fmla="*/ 131 h 131"/>
                </a:gdLst>
                <a:ahLst/>
                <a:cxnLst>
                  <a:cxn ang="0">
                    <a:pos x="0" y="131"/>
                  </a:cxn>
                  <a:cxn ang="0">
                    <a:pos x="131" y="0"/>
                  </a:cxn>
                </a:cxnLst>
                <a:rect l="txL" t="txT" r="txR" b="txB"/>
                <a:pathLst>
                  <a:path w="131" h="131">
                    <a:moveTo>
                      <a:pt x="0" y="131"/>
                    </a:moveTo>
                    <a:lnTo>
                      <a:pt x="131" y="0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7143" name="Line 83"/>
              <p:cNvSpPr/>
              <p:nvPr/>
            </p:nvSpPr>
            <p:spPr>
              <a:xfrm flipV="1">
                <a:off x="4625" y="3731"/>
                <a:ext cx="29" cy="2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7125" name="Text Box 84"/>
            <p:cNvSpPr txBox="1"/>
            <p:nvPr/>
          </p:nvSpPr>
          <p:spPr>
            <a:xfrm>
              <a:off x="3875" y="2867"/>
              <a:ext cx="7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800" b="1" dirty="0">
                  <a:latin typeface="Times New Roman" panose="02020603050405020304" pitchFamily="18" charset="0"/>
                </a:rPr>
                <a:t>锯齿形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1589" name="Text Box 85"/>
          <p:cNvSpPr txBox="1"/>
          <p:nvPr/>
        </p:nvSpPr>
        <p:spPr>
          <a:xfrm>
            <a:off x="1393825" y="4252913"/>
            <a:ext cx="2224088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常用的有：</a:t>
            </a:r>
            <a:endParaRPr lang="zh-CN" altLang="en-US" sz="32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" name="Group 86"/>
          <p:cNvGrpSpPr/>
          <p:nvPr/>
        </p:nvGrpSpPr>
        <p:grpSpPr>
          <a:xfrm>
            <a:off x="1724025" y="2290763"/>
            <a:ext cx="6346825" cy="2362200"/>
            <a:chOff x="1086" y="1251"/>
            <a:chExt cx="3998" cy="1488"/>
          </a:xfrm>
        </p:grpSpPr>
        <p:pic>
          <p:nvPicPr>
            <p:cNvPr id="47122" name="Picture 8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86" y="1482"/>
              <a:ext cx="1842" cy="99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7123" name="Picture 8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96" y="1251"/>
              <a:ext cx="1488" cy="1488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9" name="Group 89"/>
          <p:cNvGrpSpPr/>
          <p:nvPr/>
        </p:nvGrpSpPr>
        <p:grpSpPr>
          <a:xfrm>
            <a:off x="4348163" y="2014538"/>
            <a:ext cx="936625" cy="693737"/>
            <a:chOff x="3077" y="1142"/>
            <a:chExt cx="590" cy="437"/>
          </a:xfrm>
        </p:grpSpPr>
        <p:sp>
          <p:nvSpPr>
            <p:cNvPr id="47119" name="Line 90"/>
            <p:cNvSpPr/>
            <p:nvPr/>
          </p:nvSpPr>
          <p:spPr>
            <a:xfrm flipV="1">
              <a:off x="3077" y="1431"/>
              <a:ext cx="148" cy="148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triangle" w="sm" len="lg"/>
              <a:tailEnd type="none" w="med" len="med"/>
            </a:ln>
          </p:spPr>
        </p:sp>
        <p:sp>
          <p:nvSpPr>
            <p:cNvPr id="47120" name="Text Box 91"/>
            <p:cNvSpPr txBox="1"/>
            <p:nvPr/>
          </p:nvSpPr>
          <p:spPr>
            <a:xfrm>
              <a:off x="3099" y="1142"/>
              <a:ext cx="56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zh-CN" altLang="en-US" sz="28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牙型</a:t>
              </a:r>
              <a:endPara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21" name="Line 92"/>
            <p:cNvSpPr/>
            <p:nvPr/>
          </p:nvSpPr>
          <p:spPr>
            <a:xfrm>
              <a:off x="3221" y="1433"/>
              <a:ext cx="393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43051" name="组合 343050"/>
          <p:cNvGrpSpPr/>
          <p:nvPr/>
        </p:nvGrpSpPr>
        <p:grpSpPr>
          <a:xfrm>
            <a:off x="333375" y="81216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21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1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3" grpId="0"/>
      <p:bldP spid="21521" grpId="0" build="p"/>
      <p:bldP spid="21545" grpId="0"/>
      <p:bldP spid="2158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930275" y="3067050"/>
            <a:ext cx="3354388" cy="1908175"/>
            <a:chOff x="486" y="2238"/>
            <a:chExt cx="2113" cy="1202"/>
          </a:xfrm>
        </p:grpSpPr>
        <p:sp>
          <p:nvSpPr>
            <p:cNvPr id="48195" name="Freeform 15"/>
            <p:cNvSpPr/>
            <p:nvPr/>
          </p:nvSpPr>
          <p:spPr>
            <a:xfrm>
              <a:off x="2387" y="2238"/>
              <a:ext cx="144" cy="1198"/>
            </a:xfrm>
            <a:custGeom>
              <a:avLst/>
              <a:gdLst>
                <a:gd name="txL" fmla="*/ 0 w 144"/>
                <a:gd name="txT" fmla="*/ 0 h 1198"/>
                <a:gd name="txR" fmla="*/ 144 w 144"/>
                <a:gd name="txB" fmla="*/ 1198 h 1198"/>
              </a:gdLst>
              <a:ahLst/>
              <a:cxnLst>
                <a:cxn ang="0">
                  <a:pos x="144" y="134"/>
                </a:cxn>
                <a:cxn ang="0">
                  <a:pos x="91" y="0"/>
                </a:cxn>
                <a:cxn ang="0">
                  <a:pos x="0" y="1198"/>
                </a:cxn>
                <a:cxn ang="0">
                  <a:pos x="80" y="1074"/>
                </a:cxn>
                <a:cxn ang="0">
                  <a:pos x="144" y="134"/>
                </a:cxn>
              </a:cxnLst>
              <a:rect l="txL" t="txT" r="txR" b="txB"/>
              <a:pathLst>
                <a:path w="144" h="1198">
                  <a:moveTo>
                    <a:pt x="144" y="134"/>
                  </a:moveTo>
                  <a:lnTo>
                    <a:pt x="91" y="0"/>
                  </a:lnTo>
                  <a:lnTo>
                    <a:pt x="0" y="1198"/>
                  </a:lnTo>
                  <a:lnTo>
                    <a:pt x="80" y="1074"/>
                  </a:lnTo>
                  <a:lnTo>
                    <a:pt x="144" y="134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317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196" name="Freeform 16"/>
            <p:cNvSpPr/>
            <p:nvPr/>
          </p:nvSpPr>
          <p:spPr>
            <a:xfrm>
              <a:off x="2322" y="2244"/>
              <a:ext cx="164" cy="1192"/>
            </a:xfrm>
            <a:custGeom>
              <a:avLst/>
              <a:gdLst>
                <a:gd name="txL" fmla="*/ 0 w 164"/>
                <a:gd name="txT" fmla="*/ 0 h 1192"/>
                <a:gd name="txR" fmla="*/ 164 w 164"/>
                <a:gd name="txB" fmla="*/ 1192 h 1192"/>
              </a:gdLst>
              <a:ahLst/>
              <a:cxnLst>
                <a:cxn ang="0">
                  <a:pos x="76" y="1192"/>
                </a:cxn>
                <a:cxn ang="0">
                  <a:pos x="164" y="0"/>
                </a:cxn>
                <a:cxn ang="0">
                  <a:pos x="69" y="136"/>
                </a:cxn>
                <a:cxn ang="0">
                  <a:pos x="0" y="1072"/>
                </a:cxn>
                <a:cxn ang="0">
                  <a:pos x="76" y="1192"/>
                </a:cxn>
              </a:cxnLst>
              <a:rect l="txL" t="txT" r="txR" b="txB"/>
              <a:pathLst>
                <a:path w="164" h="1192">
                  <a:moveTo>
                    <a:pt x="76" y="1192"/>
                  </a:moveTo>
                  <a:lnTo>
                    <a:pt x="164" y="0"/>
                  </a:lnTo>
                  <a:lnTo>
                    <a:pt x="69" y="136"/>
                  </a:lnTo>
                  <a:lnTo>
                    <a:pt x="0" y="1072"/>
                  </a:lnTo>
                  <a:lnTo>
                    <a:pt x="76" y="1192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317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197" name="Freeform 17"/>
            <p:cNvSpPr/>
            <p:nvPr/>
          </p:nvSpPr>
          <p:spPr>
            <a:xfrm>
              <a:off x="2246" y="2256"/>
              <a:ext cx="152" cy="1184"/>
            </a:xfrm>
            <a:custGeom>
              <a:avLst/>
              <a:gdLst>
                <a:gd name="txL" fmla="*/ 0 w 152"/>
                <a:gd name="txT" fmla="*/ 0 h 1184"/>
                <a:gd name="txR" fmla="*/ 152 w 152"/>
                <a:gd name="txB" fmla="*/ 1184 h 1184"/>
              </a:gdLst>
              <a:ahLst/>
              <a:cxnLst>
                <a:cxn ang="0">
                  <a:pos x="76" y="0"/>
                </a:cxn>
                <a:cxn ang="0">
                  <a:pos x="152" y="120"/>
                </a:cxn>
                <a:cxn ang="0">
                  <a:pos x="76" y="1064"/>
                </a:cxn>
                <a:cxn ang="0">
                  <a:pos x="0" y="1184"/>
                </a:cxn>
                <a:cxn ang="0">
                  <a:pos x="76" y="0"/>
                </a:cxn>
              </a:cxnLst>
              <a:rect l="txL" t="txT" r="txR" b="txB"/>
              <a:pathLst>
                <a:path w="152" h="1184">
                  <a:moveTo>
                    <a:pt x="76" y="0"/>
                  </a:moveTo>
                  <a:lnTo>
                    <a:pt x="152" y="120"/>
                  </a:lnTo>
                  <a:lnTo>
                    <a:pt x="76" y="1064"/>
                  </a:lnTo>
                  <a:lnTo>
                    <a:pt x="0" y="1184"/>
                  </a:lnTo>
                  <a:lnTo>
                    <a:pt x="76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317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198" name="Freeform 18"/>
            <p:cNvSpPr/>
            <p:nvPr/>
          </p:nvSpPr>
          <p:spPr>
            <a:xfrm>
              <a:off x="2166" y="2256"/>
              <a:ext cx="160" cy="1184"/>
            </a:xfrm>
            <a:custGeom>
              <a:avLst/>
              <a:gdLst>
                <a:gd name="txL" fmla="*/ 0 w 160"/>
                <a:gd name="txT" fmla="*/ 0 h 1184"/>
                <a:gd name="txR" fmla="*/ 160 w 160"/>
                <a:gd name="txB" fmla="*/ 1184 h 1184"/>
              </a:gdLst>
              <a:ahLst/>
              <a:cxnLst>
                <a:cxn ang="0">
                  <a:pos x="84" y="1184"/>
                </a:cxn>
                <a:cxn ang="0">
                  <a:pos x="160" y="0"/>
                </a:cxn>
                <a:cxn ang="0">
                  <a:pos x="69" y="124"/>
                </a:cxn>
                <a:cxn ang="0">
                  <a:pos x="0" y="1060"/>
                </a:cxn>
                <a:cxn ang="0">
                  <a:pos x="84" y="1184"/>
                </a:cxn>
              </a:cxnLst>
              <a:rect l="txL" t="txT" r="txR" b="txB"/>
              <a:pathLst>
                <a:path w="160" h="1184">
                  <a:moveTo>
                    <a:pt x="84" y="1184"/>
                  </a:moveTo>
                  <a:lnTo>
                    <a:pt x="160" y="0"/>
                  </a:lnTo>
                  <a:lnTo>
                    <a:pt x="69" y="124"/>
                  </a:lnTo>
                  <a:lnTo>
                    <a:pt x="0" y="1060"/>
                  </a:lnTo>
                  <a:lnTo>
                    <a:pt x="84" y="1184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317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199" name="Freeform 19"/>
            <p:cNvSpPr/>
            <p:nvPr/>
          </p:nvSpPr>
          <p:spPr>
            <a:xfrm>
              <a:off x="2082" y="2256"/>
              <a:ext cx="160" cy="1176"/>
            </a:xfrm>
            <a:custGeom>
              <a:avLst/>
              <a:gdLst>
                <a:gd name="txL" fmla="*/ 0 w 160"/>
                <a:gd name="txT" fmla="*/ 0 h 1176"/>
                <a:gd name="txR" fmla="*/ 160 w 160"/>
                <a:gd name="txB" fmla="*/ 1176 h 1176"/>
              </a:gdLst>
              <a:ahLst/>
              <a:cxnLst>
                <a:cxn ang="0">
                  <a:pos x="84" y="0"/>
                </a:cxn>
                <a:cxn ang="0">
                  <a:pos x="160" y="120"/>
                </a:cxn>
                <a:cxn ang="0">
                  <a:pos x="84" y="1064"/>
                </a:cxn>
                <a:cxn ang="0">
                  <a:pos x="0" y="1176"/>
                </a:cxn>
                <a:cxn ang="0">
                  <a:pos x="84" y="0"/>
                </a:cxn>
              </a:cxnLst>
              <a:rect l="txL" t="txT" r="txR" b="txB"/>
              <a:pathLst>
                <a:path w="160" h="1176">
                  <a:moveTo>
                    <a:pt x="84" y="0"/>
                  </a:moveTo>
                  <a:lnTo>
                    <a:pt x="160" y="120"/>
                  </a:lnTo>
                  <a:lnTo>
                    <a:pt x="84" y="1064"/>
                  </a:lnTo>
                  <a:lnTo>
                    <a:pt x="0" y="1176"/>
                  </a:lnTo>
                  <a:lnTo>
                    <a:pt x="84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317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200" name="Freeform 20"/>
            <p:cNvSpPr/>
            <p:nvPr/>
          </p:nvSpPr>
          <p:spPr>
            <a:xfrm>
              <a:off x="2006" y="2256"/>
              <a:ext cx="164" cy="1180"/>
            </a:xfrm>
            <a:custGeom>
              <a:avLst/>
              <a:gdLst>
                <a:gd name="txL" fmla="*/ 0 w 164"/>
                <a:gd name="txT" fmla="*/ 0 h 1180"/>
                <a:gd name="txR" fmla="*/ 164 w 164"/>
                <a:gd name="txB" fmla="*/ 1180 h 1180"/>
              </a:gdLst>
              <a:ahLst/>
              <a:cxnLst>
                <a:cxn ang="0">
                  <a:pos x="80" y="1180"/>
                </a:cxn>
                <a:cxn ang="0">
                  <a:pos x="164" y="0"/>
                </a:cxn>
                <a:cxn ang="0">
                  <a:pos x="73" y="120"/>
                </a:cxn>
                <a:cxn ang="0">
                  <a:pos x="0" y="1060"/>
                </a:cxn>
                <a:cxn ang="0">
                  <a:pos x="80" y="1180"/>
                </a:cxn>
              </a:cxnLst>
              <a:rect l="txL" t="txT" r="txR" b="txB"/>
              <a:pathLst>
                <a:path w="164" h="1180">
                  <a:moveTo>
                    <a:pt x="80" y="1180"/>
                  </a:moveTo>
                  <a:lnTo>
                    <a:pt x="164" y="0"/>
                  </a:lnTo>
                  <a:lnTo>
                    <a:pt x="73" y="120"/>
                  </a:lnTo>
                  <a:lnTo>
                    <a:pt x="0" y="1060"/>
                  </a:lnTo>
                  <a:lnTo>
                    <a:pt x="80" y="118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317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201" name="Freeform 21"/>
            <p:cNvSpPr/>
            <p:nvPr/>
          </p:nvSpPr>
          <p:spPr>
            <a:xfrm>
              <a:off x="1930" y="2256"/>
              <a:ext cx="156" cy="1176"/>
            </a:xfrm>
            <a:custGeom>
              <a:avLst/>
              <a:gdLst>
                <a:gd name="txL" fmla="*/ 0 w 156"/>
                <a:gd name="txT" fmla="*/ 0 h 1176"/>
                <a:gd name="txR" fmla="*/ 156 w 156"/>
                <a:gd name="txB" fmla="*/ 1176 h 1176"/>
              </a:gdLst>
              <a:ahLst/>
              <a:cxnLst>
                <a:cxn ang="0">
                  <a:pos x="84" y="0"/>
                </a:cxn>
                <a:cxn ang="0">
                  <a:pos x="156" y="116"/>
                </a:cxn>
                <a:cxn ang="0">
                  <a:pos x="80" y="1064"/>
                </a:cxn>
                <a:cxn ang="0">
                  <a:pos x="0" y="1176"/>
                </a:cxn>
                <a:cxn ang="0">
                  <a:pos x="84" y="0"/>
                </a:cxn>
              </a:cxnLst>
              <a:rect l="txL" t="txT" r="txR" b="txB"/>
              <a:pathLst>
                <a:path w="156" h="1176">
                  <a:moveTo>
                    <a:pt x="84" y="0"/>
                  </a:moveTo>
                  <a:lnTo>
                    <a:pt x="156" y="116"/>
                  </a:lnTo>
                  <a:lnTo>
                    <a:pt x="80" y="1064"/>
                  </a:lnTo>
                  <a:lnTo>
                    <a:pt x="0" y="1176"/>
                  </a:lnTo>
                  <a:lnTo>
                    <a:pt x="84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317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202" name="Freeform 22"/>
            <p:cNvSpPr/>
            <p:nvPr/>
          </p:nvSpPr>
          <p:spPr>
            <a:xfrm>
              <a:off x="1854" y="2248"/>
              <a:ext cx="164" cy="1184"/>
            </a:xfrm>
            <a:custGeom>
              <a:avLst/>
              <a:gdLst>
                <a:gd name="txL" fmla="*/ 0 w 164"/>
                <a:gd name="txT" fmla="*/ 0 h 1184"/>
                <a:gd name="txR" fmla="*/ 164 w 164"/>
                <a:gd name="txB" fmla="*/ 1184 h 1184"/>
              </a:gdLst>
              <a:ahLst/>
              <a:cxnLst>
                <a:cxn ang="0">
                  <a:pos x="80" y="1184"/>
                </a:cxn>
                <a:cxn ang="0">
                  <a:pos x="164" y="0"/>
                </a:cxn>
                <a:cxn ang="0">
                  <a:pos x="69" y="136"/>
                </a:cxn>
                <a:cxn ang="0">
                  <a:pos x="0" y="1072"/>
                </a:cxn>
                <a:cxn ang="0">
                  <a:pos x="80" y="1184"/>
                </a:cxn>
              </a:cxnLst>
              <a:rect l="txL" t="txT" r="txR" b="txB"/>
              <a:pathLst>
                <a:path w="164" h="1184">
                  <a:moveTo>
                    <a:pt x="80" y="1184"/>
                  </a:moveTo>
                  <a:lnTo>
                    <a:pt x="164" y="0"/>
                  </a:lnTo>
                  <a:lnTo>
                    <a:pt x="69" y="136"/>
                  </a:lnTo>
                  <a:lnTo>
                    <a:pt x="0" y="1072"/>
                  </a:lnTo>
                  <a:lnTo>
                    <a:pt x="80" y="1184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317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203" name="Freeform 23"/>
            <p:cNvSpPr/>
            <p:nvPr/>
          </p:nvSpPr>
          <p:spPr>
            <a:xfrm>
              <a:off x="1774" y="2244"/>
              <a:ext cx="156" cy="1192"/>
            </a:xfrm>
            <a:custGeom>
              <a:avLst/>
              <a:gdLst>
                <a:gd name="txL" fmla="*/ 0 w 156"/>
                <a:gd name="txT" fmla="*/ 0 h 1192"/>
                <a:gd name="txR" fmla="*/ 156 w 156"/>
                <a:gd name="txB" fmla="*/ 1192 h 1192"/>
              </a:gdLst>
              <a:ahLst/>
              <a:cxnLst>
                <a:cxn ang="0">
                  <a:pos x="80" y="0"/>
                </a:cxn>
                <a:cxn ang="0">
                  <a:pos x="156" y="136"/>
                </a:cxn>
                <a:cxn ang="0">
                  <a:pos x="80" y="1080"/>
                </a:cxn>
                <a:cxn ang="0">
                  <a:pos x="0" y="1192"/>
                </a:cxn>
                <a:cxn ang="0">
                  <a:pos x="80" y="0"/>
                </a:cxn>
              </a:cxnLst>
              <a:rect l="txL" t="txT" r="txR" b="txB"/>
              <a:pathLst>
                <a:path w="156" h="1192">
                  <a:moveTo>
                    <a:pt x="80" y="0"/>
                  </a:moveTo>
                  <a:lnTo>
                    <a:pt x="156" y="136"/>
                  </a:lnTo>
                  <a:lnTo>
                    <a:pt x="80" y="1080"/>
                  </a:lnTo>
                  <a:lnTo>
                    <a:pt x="0" y="1192"/>
                  </a:lnTo>
                  <a:lnTo>
                    <a:pt x="80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317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204" name="Freeform 24"/>
            <p:cNvSpPr/>
            <p:nvPr/>
          </p:nvSpPr>
          <p:spPr>
            <a:xfrm>
              <a:off x="1698" y="2252"/>
              <a:ext cx="160" cy="1184"/>
            </a:xfrm>
            <a:custGeom>
              <a:avLst/>
              <a:gdLst>
                <a:gd name="txL" fmla="*/ 0 w 160"/>
                <a:gd name="txT" fmla="*/ 0 h 1184"/>
                <a:gd name="txR" fmla="*/ 160 w 160"/>
                <a:gd name="txB" fmla="*/ 1184 h 1184"/>
              </a:gdLst>
              <a:ahLst/>
              <a:cxnLst>
                <a:cxn ang="0">
                  <a:pos x="76" y="1184"/>
                </a:cxn>
                <a:cxn ang="0">
                  <a:pos x="160" y="0"/>
                </a:cxn>
                <a:cxn ang="0">
                  <a:pos x="69" y="132"/>
                </a:cxn>
                <a:cxn ang="0">
                  <a:pos x="0" y="1068"/>
                </a:cxn>
                <a:cxn ang="0">
                  <a:pos x="76" y="1184"/>
                </a:cxn>
              </a:cxnLst>
              <a:rect l="txL" t="txT" r="txR" b="txB"/>
              <a:pathLst>
                <a:path w="160" h="1184">
                  <a:moveTo>
                    <a:pt x="76" y="1184"/>
                  </a:moveTo>
                  <a:lnTo>
                    <a:pt x="160" y="0"/>
                  </a:lnTo>
                  <a:lnTo>
                    <a:pt x="69" y="132"/>
                  </a:lnTo>
                  <a:lnTo>
                    <a:pt x="0" y="1068"/>
                  </a:lnTo>
                  <a:lnTo>
                    <a:pt x="76" y="1184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317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205" name="Freeform 25"/>
            <p:cNvSpPr/>
            <p:nvPr/>
          </p:nvSpPr>
          <p:spPr>
            <a:xfrm>
              <a:off x="1622" y="2256"/>
              <a:ext cx="152" cy="1180"/>
            </a:xfrm>
            <a:custGeom>
              <a:avLst/>
              <a:gdLst>
                <a:gd name="txL" fmla="*/ 0 w 152"/>
                <a:gd name="txT" fmla="*/ 0 h 1180"/>
                <a:gd name="txR" fmla="*/ 152 w 152"/>
                <a:gd name="txB" fmla="*/ 1180 h 1180"/>
              </a:gdLst>
              <a:ahLst/>
              <a:cxnLst>
                <a:cxn ang="0">
                  <a:pos x="80" y="0"/>
                </a:cxn>
                <a:cxn ang="0">
                  <a:pos x="152" y="124"/>
                </a:cxn>
                <a:cxn ang="0">
                  <a:pos x="76" y="1068"/>
                </a:cxn>
                <a:cxn ang="0">
                  <a:pos x="0" y="1180"/>
                </a:cxn>
                <a:cxn ang="0">
                  <a:pos x="80" y="0"/>
                </a:cxn>
              </a:cxnLst>
              <a:rect l="txL" t="txT" r="txR" b="txB"/>
              <a:pathLst>
                <a:path w="152" h="1180">
                  <a:moveTo>
                    <a:pt x="80" y="0"/>
                  </a:moveTo>
                  <a:lnTo>
                    <a:pt x="152" y="124"/>
                  </a:lnTo>
                  <a:lnTo>
                    <a:pt x="76" y="1068"/>
                  </a:lnTo>
                  <a:lnTo>
                    <a:pt x="0" y="1180"/>
                  </a:lnTo>
                  <a:lnTo>
                    <a:pt x="80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317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206" name="Freeform 26"/>
            <p:cNvSpPr/>
            <p:nvPr/>
          </p:nvSpPr>
          <p:spPr>
            <a:xfrm>
              <a:off x="1558" y="2252"/>
              <a:ext cx="148" cy="1180"/>
            </a:xfrm>
            <a:custGeom>
              <a:avLst/>
              <a:gdLst>
                <a:gd name="txL" fmla="*/ 0 w 148"/>
                <a:gd name="txT" fmla="*/ 0 h 1180"/>
                <a:gd name="txR" fmla="*/ 148 w 148"/>
                <a:gd name="txB" fmla="*/ 1180 h 1180"/>
              </a:gdLst>
              <a:ahLst/>
              <a:cxnLst>
                <a:cxn ang="0">
                  <a:pos x="68" y="1180"/>
                </a:cxn>
                <a:cxn ang="0">
                  <a:pos x="148" y="0"/>
                </a:cxn>
                <a:cxn ang="0">
                  <a:pos x="72" y="100"/>
                </a:cxn>
                <a:cxn ang="0">
                  <a:pos x="0" y="1088"/>
                </a:cxn>
                <a:cxn ang="0">
                  <a:pos x="68" y="1180"/>
                </a:cxn>
              </a:cxnLst>
              <a:rect l="txL" t="txT" r="txR" b="txB"/>
              <a:pathLst>
                <a:path w="148" h="1180">
                  <a:moveTo>
                    <a:pt x="68" y="1180"/>
                  </a:moveTo>
                  <a:lnTo>
                    <a:pt x="148" y="0"/>
                  </a:lnTo>
                  <a:lnTo>
                    <a:pt x="72" y="100"/>
                  </a:lnTo>
                  <a:lnTo>
                    <a:pt x="0" y="1088"/>
                  </a:lnTo>
                  <a:lnTo>
                    <a:pt x="68" y="118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317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207" name="Freeform 27"/>
            <p:cNvSpPr/>
            <p:nvPr/>
          </p:nvSpPr>
          <p:spPr>
            <a:xfrm>
              <a:off x="1506" y="2248"/>
              <a:ext cx="132" cy="1184"/>
            </a:xfrm>
            <a:custGeom>
              <a:avLst/>
              <a:gdLst>
                <a:gd name="txL" fmla="*/ 0 w 132"/>
                <a:gd name="txT" fmla="*/ 0 h 1184"/>
                <a:gd name="txR" fmla="*/ 132 w 132"/>
                <a:gd name="txB" fmla="*/ 1184 h 1184"/>
              </a:gdLst>
              <a:ahLst/>
              <a:cxnLst>
                <a:cxn ang="0">
                  <a:pos x="76" y="0"/>
                </a:cxn>
                <a:cxn ang="0">
                  <a:pos x="132" y="108"/>
                </a:cxn>
                <a:cxn ang="0">
                  <a:pos x="52" y="1096"/>
                </a:cxn>
                <a:cxn ang="0">
                  <a:pos x="0" y="1184"/>
                </a:cxn>
                <a:cxn ang="0">
                  <a:pos x="76" y="0"/>
                </a:cxn>
              </a:cxnLst>
              <a:rect l="txL" t="txT" r="txR" b="txB"/>
              <a:pathLst>
                <a:path w="132" h="1184">
                  <a:moveTo>
                    <a:pt x="76" y="0"/>
                  </a:moveTo>
                  <a:lnTo>
                    <a:pt x="132" y="108"/>
                  </a:lnTo>
                  <a:lnTo>
                    <a:pt x="52" y="1096"/>
                  </a:lnTo>
                  <a:lnTo>
                    <a:pt x="0" y="1184"/>
                  </a:lnTo>
                  <a:lnTo>
                    <a:pt x="76" y="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317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208" name="Freeform 28"/>
            <p:cNvSpPr/>
            <p:nvPr/>
          </p:nvSpPr>
          <p:spPr>
            <a:xfrm>
              <a:off x="1438" y="2252"/>
              <a:ext cx="132" cy="1188"/>
            </a:xfrm>
            <a:custGeom>
              <a:avLst/>
              <a:gdLst>
                <a:gd name="txL" fmla="*/ 0 w 132"/>
                <a:gd name="txT" fmla="*/ 0 h 1188"/>
                <a:gd name="txR" fmla="*/ 132 w 132"/>
                <a:gd name="txB" fmla="*/ 1188 h 1188"/>
              </a:gdLst>
              <a:ahLst/>
              <a:cxnLst>
                <a:cxn ang="0">
                  <a:pos x="132" y="0"/>
                </a:cxn>
                <a:cxn ang="0">
                  <a:pos x="84" y="60"/>
                </a:cxn>
                <a:cxn ang="0">
                  <a:pos x="0" y="1120"/>
                </a:cxn>
                <a:cxn ang="0">
                  <a:pos x="40" y="1188"/>
                </a:cxn>
                <a:cxn ang="0">
                  <a:pos x="132" y="0"/>
                </a:cxn>
              </a:cxnLst>
              <a:rect l="txL" t="txT" r="txR" b="txB"/>
              <a:pathLst>
                <a:path w="132" h="1188">
                  <a:moveTo>
                    <a:pt x="132" y="0"/>
                  </a:moveTo>
                  <a:lnTo>
                    <a:pt x="84" y="60"/>
                  </a:lnTo>
                  <a:lnTo>
                    <a:pt x="0" y="1120"/>
                  </a:lnTo>
                  <a:lnTo>
                    <a:pt x="40" y="1188"/>
                  </a:lnTo>
                  <a:lnTo>
                    <a:pt x="132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317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209" name="Freeform 29"/>
            <p:cNvSpPr/>
            <p:nvPr/>
          </p:nvSpPr>
          <p:spPr>
            <a:xfrm>
              <a:off x="1478" y="2252"/>
              <a:ext cx="112" cy="1184"/>
            </a:xfrm>
            <a:custGeom>
              <a:avLst/>
              <a:gdLst>
                <a:gd name="txL" fmla="*/ 0 w 112"/>
                <a:gd name="txT" fmla="*/ 0 h 1184"/>
                <a:gd name="txR" fmla="*/ 112 w 112"/>
                <a:gd name="txB" fmla="*/ 1184 h 1184"/>
              </a:gdLst>
              <a:ahLst/>
              <a:cxnLst>
                <a:cxn ang="0">
                  <a:pos x="80" y="0"/>
                </a:cxn>
                <a:cxn ang="0">
                  <a:pos x="112" y="0"/>
                </a:cxn>
                <a:cxn ang="0">
                  <a:pos x="28" y="1184"/>
                </a:cxn>
                <a:cxn ang="0">
                  <a:pos x="0" y="1180"/>
                </a:cxn>
                <a:cxn ang="0">
                  <a:pos x="80" y="0"/>
                </a:cxn>
              </a:cxnLst>
              <a:rect l="txL" t="txT" r="txR" b="txB"/>
              <a:pathLst>
                <a:path w="112" h="1184">
                  <a:moveTo>
                    <a:pt x="80" y="0"/>
                  </a:moveTo>
                  <a:lnTo>
                    <a:pt x="112" y="0"/>
                  </a:lnTo>
                  <a:lnTo>
                    <a:pt x="28" y="1184"/>
                  </a:lnTo>
                  <a:lnTo>
                    <a:pt x="0" y="1180"/>
                  </a:lnTo>
                  <a:lnTo>
                    <a:pt x="80" y="0"/>
                  </a:lnTo>
                  <a:close/>
                </a:path>
              </a:pathLst>
            </a:custGeom>
            <a:gradFill rotWithShape="0">
              <a:gsLst>
                <a:gs pos="0">
                  <a:srgbClr val="8E8E8E"/>
                </a:gs>
                <a:gs pos="50000">
                  <a:srgbClr val="B2B2B2"/>
                </a:gs>
                <a:gs pos="100000">
                  <a:srgbClr val="8E8E8E"/>
                </a:gs>
              </a:gsLst>
              <a:lin ang="5400000" scaled="1"/>
              <a:tileRect/>
            </a:gradFill>
            <a:ln w="317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210" name="Freeform 30"/>
            <p:cNvSpPr/>
            <p:nvPr/>
          </p:nvSpPr>
          <p:spPr>
            <a:xfrm>
              <a:off x="1386" y="2256"/>
              <a:ext cx="140" cy="1176"/>
            </a:xfrm>
            <a:custGeom>
              <a:avLst/>
              <a:gdLst>
                <a:gd name="txL" fmla="*/ 0 w 140"/>
                <a:gd name="txT" fmla="*/ 0 h 1176"/>
                <a:gd name="txR" fmla="*/ 140 w 140"/>
                <a:gd name="txB" fmla="*/ 1176 h 1176"/>
              </a:gdLst>
              <a:ahLst/>
              <a:cxnLst>
                <a:cxn ang="0">
                  <a:pos x="140" y="60"/>
                </a:cxn>
                <a:cxn ang="0">
                  <a:pos x="92" y="0"/>
                </a:cxn>
                <a:cxn ang="0">
                  <a:pos x="0" y="1176"/>
                </a:cxn>
                <a:cxn ang="0">
                  <a:pos x="52" y="1124"/>
                </a:cxn>
                <a:cxn ang="0">
                  <a:pos x="140" y="60"/>
                </a:cxn>
              </a:cxnLst>
              <a:rect l="txL" t="txT" r="txR" b="txB"/>
              <a:pathLst>
                <a:path w="140" h="1176">
                  <a:moveTo>
                    <a:pt x="140" y="60"/>
                  </a:moveTo>
                  <a:lnTo>
                    <a:pt x="92" y="0"/>
                  </a:lnTo>
                  <a:lnTo>
                    <a:pt x="0" y="1176"/>
                  </a:lnTo>
                  <a:lnTo>
                    <a:pt x="52" y="1124"/>
                  </a:lnTo>
                  <a:lnTo>
                    <a:pt x="140" y="6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317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211" name="Freeform 31"/>
            <p:cNvSpPr/>
            <p:nvPr/>
          </p:nvSpPr>
          <p:spPr>
            <a:xfrm>
              <a:off x="1254" y="2256"/>
              <a:ext cx="160" cy="1180"/>
            </a:xfrm>
            <a:custGeom>
              <a:avLst/>
              <a:gdLst>
                <a:gd name="txL" fmla="*/ 0 w 160"/>
                <a:gd name="txT" fmla="*/ 0 h 1180"/>
                <a:gd name="txR" fmla="*/ 160 w 160"/>
                <a:gd name="txB" fmla="*/ 1180 h 1180"/>
              </a:gdLst>
              <a:ahLst/>
              <a:cxnLst>
                <a:cxn ang="0">
                  <a:pos x="76" y="1136"/>
                </a:cxn>
                <a:cxn ang="0">
                  <a:pos x="52" y="1176"/>
                </a:cxn>
                <a:cxn ang="0">
                  <a:pos x="0" y="1180"/>
                </a:cxn>
                <a:cxn ang="0">
                  <a:pos x="160" y="0"/>
                </a:cxn>
                <a:cxn ang="0">
                  <a:pos x="76" y="1136"/>
                </a:cxn>
              </a:cxnLst>
              <a:rect l="txL" t="txT" r="txR" b="txB"/>
              <a:pathLst>
                <a:path w="160" h="1180">
                  <a:moveTo>
                    <a:pt x="76" y="1136"/>
                  </a:moveTo>
                  <a:lnTo>
                    <a:pt x="52" y="1176"/>
                  </a:lnTo>
                  <a:lnTo>
                    <a:pt x="0" y="1180"/>
                  </a:lnTo>
                  <a:lnTo>
                    <a:pt x="160" y="0"/>
                  </a:lnTo>
                  <a:lnTo>
                    <a:pt x="76" y="1136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317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212" name="Freeform 32"/>
            <p:cNvSpPr/>
            <p:nvPr/>
          </p:nvSpPr>
          <p:spPr>
            <a:xfrm>
              <a:off x="1222" y="2668"/>
              <a:ext cx="136" cy="760"/>
            </a:xfrm>
            <a:custGeom>
              <a:avLst/>
              <a:gdLst>
                <a:gd name="txL" fmla="*/ 0 w 136"/>
                <a:gd name="txT" fmla="*/ 0 h 760"/>
                <a:gd name="txR" fmla="*/ 136 w 136"/>
                <a:gd name="txB" fmla="*/ 760 h 760"/>
              </a:gdLst>
              <a:ahLst/>
              <a:cxnLst>
                <a:cxn ang="0">
                  <a:pos x="40" y="760"/>
                </a:cxn>
                <a:cxn ang="0">
                  <a:pos x="0" y="732"/>
                </a:cxn>
                <a:cxn ang="0">
                  <a:pos x="136" y="0"/>
                </a:cxn>
                <a:cxn ang="0">
                  <a:pos x="40" y="760"/>
                </a:cxn>
              </a:cxnLst>
              <a:rect l="txL" t="txT" r="txR" b="txB"/>
              <a:pathLst>
                <a:path w="136" h="760">
                  <a:moveTo>
                    <a:pt x="40" y="760"/>
                  </a:moveTo>
                  <a:lnTo>
                    <a:pt x="0" y="732"/>
                  </a:lnTo>
                  <a:lnTo>
                    <a:pt x="136" y="0"/>
                  </a:lnTo>
                  <a:lnTo>
                    <a:pt x="40" y="760"/>
                  </a:lnTo>
                  <a:close/>
                </a:path>
              </a:pathLst>
            </a:custGeom>
            <a:gradFill rotWithShape="0">
              <a:gsLst>
                <a:gs pos="0">
                  <a:srgbClr val="696969"/>
                </a:gs>
                <a:gs pos="100000">
                  <a:srgbClr val="B2B2B2"/>
                </a:gs>
              </a:gsLst>
              <a:lin ang="0" scaled="1"/>
              <a:tileRect/>
            </a:gradFill>
            <a:ln w="317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213" name="Freeform 33"/>
            <p:cNvSpPr/>
            <p:nvPr/>
          </p:nvSpPr>
          <p:spPr>
            <a:xfrm>
              <a:off x="514" y="2252"/>
              <a:ext cx="916" cy="1176"/>
            </a:xfrm>
            <a:custGeom>
              <a:avLst/>
              <a:gdLst>
                <a:gd name="txL" fmla="*/ 0 w 916"/>
                <a:gd name="txT" fmla="*/ 0 h 1176"/>
                <a:gd name="txR" fmla="*/ 916 w 916"/>
                <a:gd name="txB" fmla="*/ 1176 h 1176"/>
              </a:gdLst>
              <a:ahLst/>
              <a:cxnLst>
                <a:cxn ang="0">
                  <a:pos x="916" y="4"/>
                </a:cxn>
                <a:cxn ang="0">
                  <a:pos x="56" y="0"/>
                </a:cxn>
                <a:cxn ang="0">
                  <a:pos x="36" y="64"/>
                </a:cxn>
                <a:cxn ang="0">
                  <a:pos x="0" y="256"/>
                </a:cxn>
                <a:cxn ang="0">
                  <a:pos x="16" y="520"/>
                </a:cxn>
                <a:cxn ang="0">
                  <a:pos x="88" y="668"/>
                </a:cxn>
                <a:cxn ang="0">
                  <a:pos x="140" y="864"/>
                </a:cxn>
                <a:cxn ang="0">
                  <a:pos x="132" y="1068"/>
                </a:cxn>
                <a:cxn ang="0">
                  <a:pos x="74" y="1168"/>
                </a:cxn>
                <a:cxn ang="0">
                  <a:pos x="132" y="1176"/>
                </a:cxn>
                <a:cxn ang="0">
                  <a:pos x="716" y="1176"/>
                </a:cxn>
                <a:cxn ang="0">
                  <a:pos x="816" y="624"/>
                </a:cxn>
                <a:cxn ang="0">
                  <a:pos x="916" y="4"/>
                </a:cxn>
              </a:cxnLst>
              <a:rect l="txL" t="txT" r="txR" b="txB"/>
              <a:pathLst>
                <a:path w="916" h="1176">
                  <a:moveTo>
                    <a:pt x="916" y="4"/>
                  </a:moveTo>
                  <a:lnTo>
                    <a:pt x="56" y="0"/>
                  </a:lnTo>
                  <a:lnTo>
                    <a:pt x="36" y="64"/>
                  </a:lnTo>
                  <a:lnTo>
                    <a:pt x="0" y="256"/>
                  </a:lnTo>
                  <a:lnTo>
                    <a:pt x="16" y="520"/>
                  </a:lnTo>
                  <a:lnTo>
                    <a:pt x="88" y="668"/>
                  </a:lnTo>
                  <a:lnTo>
                    <a:pt x="140" y="864"/>
                  </a:lnTo>
                  <a:lnTo>
                    <a:pt x="132" y="1068"/>
                  </a:lnTo>
                  <a:lnTo>
                    <a:pt x="74" y="1168"/>
                  </a:lnTo>
                  <a:lnTo>
                    <a:pt x="132" y="1176"/>
                  </a:lnTo>
                  <a:lnTo>
                    <a:pt x="716" y="1176"/>
                  </a:lnTo>
                  <a:lnTo>
                    <a:pt x="816" y="624"/>
                  </a:lnTo>
                  <a:lnTo>
                    <a:pt x="916" y="4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50000">
                  <a:srgbClr val="B2B2B2"/>
                </a:gs>
                <a:gs pos="100000">
                  <a:srgbClr val="525252"/>
                </a:gs>
              </a:gsLst>
              <a:lin ang="5400000" scaled="1"/>
              <a:tileRect/>
            </a:gradFill>
            <a:ln w="317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214" name="Freeform 34"/>
            <p:cNvSpPr/>
            <p:nvPr/>
          </p:nvSpPr>
          <p:spPr>
            <a:xfrm>
              <a:off x="2467" y="2336"/>
              <a:ext cx="132" cy="1052"/>
            </a:xfrm>
            <a:custGeom>
              <a:avLst/>
              <a:gdLst>
                <a:gd name="txL" fmla="*/ 0 w 132"/>
                <a:gd name="txT" fmla="*/ 0 h 1052"/>
                <a:gd name="txR" fmla="*/ 132 w 132"/>
                <a:gd name="txB" fmla="*/ 1052 h 1052"/>
              </a:gdLst>
              <a:ahLst/>
              <a:cxnLst>
                <a:cxn ang="0">
                  <a:pos x="0" y="976"/>
                </a:cxn>
                <a:cxn ang="0">
                  <a:pos x="52" y="1052"/>
                </a:cxn>
                <a:cxn ang="0">
                  <a:pos x="132" y="36"/>
                </a:cxn>
                <a:cxn ang="0">
                  <a:pos x="92" y="0"/>
                </a:cxn>
                <a:cxn ang="0">
                  <a:pos x="60" y="40"/>
                </a:cxn>
                <a:cxn ang="0">
                  <a:pos x="0" y="976"/>
                </a:cxn>
              </a:cxnLst>
              <a:rect l="txL" t="txT" r="txR" b="txB"/>
              <a:pathLst>
                <a:path w="132" h="1052">
                  <a:moveTo>
                    <a:pt x="0" y="976"/>
                  </a:moveTo>
                  <a:lnTo>
                    <a:pt x="52" y="1052"/>
                  </a:lnTo>
                  <a:lnTo>
                    <a:pt x="132" y="36"/>
                  </a:lnTo>
                  <a:lnTo>
                    <a:pt x="92" y="0"/>
                  </a:lnTo>
                  <a:lnTo>
                    <a:pt x="60" y="40"/>
                  </a:lnTo>
                  <a:lnTo>
                    <a:pt x="0" y="976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215" name="Freeform 35"/>
            <p:cNvSpPr/>
            <p:nvPr/>
          </p:nvSpPr>
          <p:spPr>
            <a:xfrm>
              <a:off x="2519" y="2372"/>
              <a:ext cx="80" cy="1020"/>
            </a:xfrm>
            <a:custGeom>
              <a:avLst/>
              <a:gdLst>
                <a:gd name="txL" fmla="*/ 0 w 80"/>
                <a:gd name="txT" fmla="*/ 0 h 1020"/>
                <a:gd name="txR" fmla="*/ 80 w 80"/>
                <a:gd name="txB" fmla="*/ 1020 h 1020"/>
              </a:gdLst>
              <a:ahLst/>
              <a:cxnLst>
                <a:cxn ang="0">
                  <a:pos x="0" y="1020"/>
                </a:cxn>
                <a:cxn ang="0">
                  <a:pos x="80" y="936"/>
                </a:cxn>
                <a:cxn ang="0">
                  <a:pos x="80" y="0"/>
                </a:cxn>
                <a:cxn ang="0">
                  <a:pos x="0" y="1020"/>
                </a:cxn>
              </a:cxnLst>
              <a:rect l="txL" t="txT" r="txR" b="txB"/>
              <a:pathLst>
                <a:path w="80" h="1020">
                  <a:moveTo>
                    <a:pt x="0" y="1020"/>
                  </a:moveTo>
                  <a:lnTo>
                    <a:pt x="80" y="936"/>
                  </a:lnTo>
                  <a:lnTo>
                    <a:pt x="80" y="0"/>
                  </a:lnTo>
                  <a:lnTo>
                    <a:pt x="0" y="1020"/>
                  </a:ln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216" name="Freeform 36"/>
            <p:cNvSpPr/>
            <p:nvPr/>
          </p:nvSpPr>
          <p:spPr>
            <a:xfrm>
              <a:off x="1346" y="2252"/>
              <a:ext cx="132" cy="1184"/>
            </a:xfrm>
            <a:custGeom>
              <a:avLst/>
              <a:gdLst>
                <a:gd name="txL" fmla="*/ 0 w 132"/>
                <a:gd name="txT" fmla="*/ 0 h 1184"/>
                <a:gd name="txR" fmla="*/ 132 w 132"/>
                <a:gd name="txB" fmla="*/ 1184 h 1184"/>
              </a:gdLst>
              <a:ahLst/>
              <a:cxnLst>
                <a:cxn ang="0">
                  <a:pos x="132" y="4"/>
                </a:cxn>
                <a:cxn ang="0">
                  <a:pos x="48" y="1184"/>
                </a:cxn>
                <a:cxn ang="0">
                  <a:pos x="0" y="1184"/>
                </a:cxn>
                <a:cxn ang="0">
                  <a:pos x="92" y="0"/>
                </a:cxn>
                <a:cxn ang="0">
                  <a:pos x="132" y="4"/>
                </a:cxn>
              </a:cxnLst>
              <a:rect l="txL" t="txT" r="txR" b="txB"/>
              <a:pathLst>
                <a:path w="132" h="1184">
                  <a:moveTo>
                    <a:pt x="132" y="4"/>
                  </a:moveTo>
                  <a:lnTo>
                    <a:pt x="48" y="1184"/>
                  </a:lnTo>
                  <a:lnTo>
                    <a:pt x="0" y="1184"/>
                  </a:lnTo>
                  <a:lnTo>
                    <a:pt x="92" y="0"/>
                  </a:lnTo>
                  <a:lnTo>
                    <a:pt x="132" y="4"/>
                  </a:lnTo>
                  <a:close/>
                </a:path>
              </a:pathLst>
            </a:custGeom>
            <a:gradFill rotWithShape="0">
              <a:gsLst>
                <a:gs pos="0">
                  <a:srgbClr val="797979"/>
                </a:gs>
                <a:gs pos="50000">
                  <a:srgbClr val="B2B2B2"/>
                </a:gs>
                <a:gs pos="100000">
                  <a:srgbClr val="797979"/>
                </a:gs>
              </a:gsLst>
              <a:lin ang="5400000" scaled="1"/>
              <a:tileRect/>
            </a:gradFill>
            <a:ln w="317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217" name="Freeform 37"/>
            <p:cNvSpPr/>
            <p:nvPr/>
          </p:nvSpPr>
          <p:spPr>
            <a:xfrm>
              <a:off x="1314" y="2252"/>
              <a:ext cx="128" cy="1188"/>
            </a:xfrm>
            <a:custGeom>
              <a:avLst/>
              <a:gdLst>
                <a:gd name="txL" fmla="*/ 0 w 128"/>
                <a:gd name="txT" fmla="*/ 0 h 1188"/>
                <a:gd name="txR" fmla="*/ 128 w 128"/>
                <a:gd name="txB" fmla="*/ 1188 h 1188"/>
              </a:gdLst>
              <a:ahLst/>
              <a:cxnLst>
                <a:cxn ang="0">
                  <a:pos x="128" y="28"/>
                </a:cxn>
                <a:cxn ang="0">
                  <a:pos x="100" y="0"/>
                </a:cxn>
                <a:cxn ang="0">
                  <a:pos x="0" y="1144"/>
                </a:cxn>
                <a:cxn ang="0">
                  <a:pos x="40" y="1188"/>
                </a:cxn>
                <a:cxn ang="0">
                  <a:pos x="128" y="28"/>
                </a:cxn>
              </a:cxnLst>
              <a:rect l="txL" t="txT" r="txR" b="txB"/>
              <a:pathLst>
                <a:path w="128" h="1188">
                  <a:moveTo>
                    <a:pt x="128" y="28"/>
                  </a:moveTo>
                  <a:lnTo>
                    <a:pt x="100" y="0"/>
                  </a:lnTo>
                  <a:lnTo>
                    <a:pt x="0" y="1144"/>
                  </a:lnTo>
                  <a:lnTo>
                    <a:pt x="40" y="1188"/>
                  </a:lnTo>
                  <a:lnTo>
                    <a:pt x="128" y="28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317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218" name="Freeform 38"/>
            <p:cNvSpPr/>
            <p:nvPr/>
          </p:nvSpPr>
          <p:spPr>
            <a:xfrm>
              <a:off x="486" y="2826"/>
              <a:ext cx="192" cy="600"/>
            </a:xfrm>
            <a:custGeom>
              <a:avLst/>
              <a:gdLst>
                <a:gd name="txL" fmla="*/ 0 w 192"/>
                <a:gd name="txT" fmla="*/ 0 h 600"/>
                <a:gd name="txR" fmla="*/ 192 w 192"/>
                <a:gd name="txB" fmla="*/ 600 h 600"/>
              </a:gdLst>
              <a:ahLst/>
              <a:cxnLst>
                <a:cxn ang="0">
                  <a:pos x="72" y="0"/>
                </a:cxn>
                <a:cxn ang="0">
                  <a:pos x="144" y="120"/>
                </a:cxn>
                <a:cxn ang="0">
                  <a:pos x="186" y="270"/>
                </a:cxn>
                <a:cxn ang="0">
                  <a:pos x="192" y="426"/>
                </a:cxn>
                <a:cxn ang="0">
                  <a:pos x="174" y="528"/>
                </a:cxn>
                <a:cxn ang="0">
                  <a:pos x="144" y="588"/>
                </a:cxn>
                <a:cxn ang="0">
                  <a:pos x="102" y="600"/>
                </a:cxn>
                <a:cxn ang="0">
                  <a:pos x="54" y="558"/>
                </a:cxn>
                <a:cxn ang="0">
                  <a:pos x="18" y="486"/>
                </a:cxn>
                <a:cxn ang="0">
                  <a:pos x="6" y="402"/>
                </a:cxn>
                <a:cxn ang="0">
                  <a:pos x="0" y="318"/>
                </a:cxn>
                <a:cxn ang="0">
                  <a:pos x="6" y="234"/>
                </a:cxn>
                <a:cxn ang="0">
                  <a:pos x="24" y="114"/>
                </a:cxn>
                <a:cxn ang="0">
                  <a:pos x="72" y="0"/>
                </a:cxn>
              </a:cxnLst>
              <a:rect l="txL" t="txT" r="txR" b="txB"/>
              <a:pathLst>
                <a:path w="192" h="600">
                  <a:moveTo>
                    <a:pt x="72" y="0"/>
                  </a:moveTo>
                  <a:lnTo>
                    <a:pt x="144" y="120"/>
                  </a:lnTo>
                  <a:lnTo>
                    <a:pt x="186" y="270"/>
                  </a:lnTo>
                  <a:lnTo>
                    <a:pt x="192" y="426"/>
                  </a:lnTo>
                  <a:lnTo>
                    <a:pt x="174" y="528"/>
                  </a:lnTo>
                  <a:lnTo>
                    <a:pt x="144" y="588"/>
                  </a:lnTo>
                  <a:lnTo>
                    <a:pt x="102" y="600"/>
                  </a:lnTo>
                  <a:lnTo>
                    <a:pt x="54" y="558"/>
                  </a:lnTo>
                  <a:lnTo>
                    <a:pt x="18" y="486"/>
                  </a:lnTo>
                  <a:lnTo>
                    <a:pt x="6" y="402"/>
                  </a:lnTo>
                  <a:lnTo>
                    <a:pt x="0" y="318"/>
                  </a:lnTo>
                  <a:lnTo>
                    <a:pt x="6" y="234"/>
                  </a:lnTo>
                  <a:lnTo>
                    <a:pt x="24" y="114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969696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39"/>
          <p:cNvGrpSpPr/>
          <p:nvPr/>
        </p:nvGrpSpPr>
        <p:grpSpPr>
          <a:xfrm flipH="1">
            <a:off x="6170613" y="2795588"/>
            <a:ext cx="2425700" cy="2413000"/>
            <a:chOff x="3882" y="2082"/>
            <a:chExt cx="1528" cy="1520"/>
          </a:xfrm>
        </p:grpSpPr>
        <p:sp>
          <p:nvSpPr>
            <p:cNvPr id="48155" name="Rectangle 40"/>
            <p:cNvSpPr/>
            <p:nvPr/>
          </p:nvSpPr>
          <p:spPr>
            <a:xfrm>
              <a:off x="3882" y="2082"/>
              <a:ext cx="1524" cy="1520"/>
            </a:xfrm>
            <a:prstGeom prst="rect">
              <a:avLst/>
            </a:prstGeom>
            <a:solidFill>
              <a:srgbClr val="CC00FF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48156" name="Group 41"/>
            <p:cNvGrpSpPr/>
            <p:nvPr/>
          </p:nvGrpSpPr>
          <p:grpSpPr>
            <a:xfrm>
              <a:off x="3882" y="2082"/>
              <a:ext cx="1528" cy="1520"/>
              <a:chOff x="3882" y="2082"/>
              <a:chExt cx="1528" cy="1520"/>
            </a:xfrm>
          </p:grpSpPr>
          <p:sp>
            <p:nvSpPr>
              <p:cNvPr id="48157" name="Line 42"/>
              <p:cNvSpPr/>
              <p:nvPr/>
            </p:nvSpPr>
            <p:spPr>
              <a:xfrm flipV="1">
                <a:off x="3887" y="2083"/>
                <a:ext cx="163" cy="163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58" name="Freeform 43"/>
              <p:cNvSpPr/>
              <p:nvPr/>
            </p:nvSpPr>
            <p:spPr>
              <a:xfrm>
                <a:off x="4040" y="2086"/>
                <a:ext cx="250" cy="250"/>
              </a:xfrm>
              <a:custGeom>
                <a:avLst/>
                <a:gdLst>
                  <a:gd name="txL" fmla="*/ 0 w 250"/>
                  <a:gd name="txT" fmla="*/ 0 h 250"/>
                  <a:gd name="txR" fmla="*/ 250 w 250"/>
                  <a:gd name="txB" fmla="*/ 250 h 250"/>
                </a:gdLst>
                <a:ahLst/>
                <a:cxnLst>
                  <a:cxn ang="0">
                    <a:pos x="0" y="250"/>
                  </a:cxn>
                  <a:cxn ang="0">
                    <a:pos x="250" y="0"/>
                  </a:cxn>
                </a:cxnLst>
                <a:rect l="txL" t="txT" r="txR" b="txB"/>
                <a:pathLst>
                  <a:path w="250" h="250">
                    <a:moveTo>
                      <a:pt x="0" y="250"/>
                    </a:moveTo>
                    <a:lnTo>
                      <a:pt x="250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8159" name="Freeform 44"/>
              <p:cNvSpPr/>
              <p:nvPr/>
            </p:nvSpPr>
            <p:spPr>
              <a:xfrm>
                <a:off x="4334" y="2082"/>
                <a:ext cx="196" cy="197"/>
              </a:xfrm>
              <a:custGeom>
                <a:avLst/>
                <a:gdLst>
                  <a:gd name="txL" fmla="*/ 0 w 196"/>
                  <a:gd name="txT" fmla="*/ 0 h 197"/>
                  <a:gd name="txR" fmla="*/ 196 w 196"/>
                  <a:gd name="txB" fmla="*/ 197 h 197"/>
                </a:gdLst>
                <a:ahLst/>
                <a:cxnLst>
                  <a:cxn ang="0">
                    <a:pos x="0" y="197"/>
                  </a:cxn>
                  <a:cxn ang="0">
                    <a:pos x="196" y="0"/>
                  </a:cxn>
                </a:cxnLst>
                <a:rect l="txL" t="txT" r="txR" b="txB"/>
                <a:pathLst>
                  <a:path w="196" h="197">
                    <a:moveTo>
                      <a:pt x="0" y="197"/>
                    </a:moveTo>
                    <a:lnTo>
                      <a:pt x="196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8160" name="Freeform 45"/>
              <p:cNvSpPr/>
              <p:nvPr/>
            </p:nvSpPr>
            <p:spPr>
              <a:xfrm>
                <a:off x="4527" y="2086"/>
                <a:ext cx="239" cy="239"/>
              </a:xfrm>
              <a:custGeom>
                <a:avLst/>
                <a:gdLst>
                  <a:gd name="txL" fmla="*/ 0 w 239"/>
                  <a:gd name="txT" fmla="*/ 0 h 239"/>
                  <a:gd name="txR" fmla="*/ 239 w 239"/>
                  <a:gd name="txB" fmla="*/ 239 h 239"/>
                </a:gdLst>
                <a:ahLst/>
                <a:cxnLst>
                  <a:cxn ang="0">
                    <a:pos x="0" y="239"/>
                  </a:cxn>
                  <a:cxn ang="0">
                    <a:pos x="239" y="0"/>
                  </a:cxn>
                </a:cxnLst>
                <a:rect l="txL" t="txT" r="txR" b="txB"/>
                <a:pathLst>
                  <a:path w="239" h="239">
                    <a:moveTo>
                      <a:pt x="0" y="239"/>
                    </a:moveTo>
                    <a:lnTo>
                      <a:pt x="239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8161" name="Freeform 46"/>
              <p:cNvSpPr/>
              <p:nvPr/>
            </p:nvSpPr>
            <p:spPr>
              <a:xfrm>
                <a:off x="4808" y="2086"/>
                <a:ext cx="190" cy="190"/>
              </a:xfrm>
              <a:custGeom>
                <a:avLst/>
                <a:gdLst>
                  <a:gd name="txL" fmla="*/ 0 w 190"/>
                  <a:gd name="txT" fmla="*/ 0 h 190"/>
                  <a:gd name="txR" fmla="*/ 190 w 190"/>
                  <a:gd name="txB" fmla="*/ 190 h 190"/>
                </a:gdLst>
                <a:ahLst/>
                <a:cxnLst>
                  <a:cxn ang="0">
                    <a:pos x="0" y="190"/>
                  </a:cxn>
                  <a:cxn ang="0">
                    <a:pos x="190" y="0"/>
                  </a:cxn>
                </a:cxnLst>
                <a:rect l="txL" t="txT" r="txR" b="txB"/>
                <a:pathLst>
                  <a:path w="190" h="190">
                    <a:moveTo>
                      <a:pt x="0" y="190"/>
                    </a:moveTo>
                    <a:lnTo>
                      <a:pt x="190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8162" name="Freeform 47"/>
              <p:cNvSpPr/>
              <p:nvPr/>
            </p:nvSpPr>
            <p:spPr>
              <a:xfrm>
                <a:off x="4994" y="2086"/>
                <a:ext cx="240" cy="238"/>
              </a:xfrm>
              <a:custGeom>
                <a:avLst/>
                <a:gdLst>
                  <a:gd name="txL" fmla="*/ 0 w 240"/>
                  <a:gd name="txT" fmla="*/ 0 h 238"/>
                  <a:gd name="txR" fmla="*/ 240 w 240"/>
                  <a:gd name="txB" fmla="*/ 238 h 238"/>
                </a:gdLst>
                <a:ahLst/>
                <a:cxnLst>
                  <a:cxn ang="0">
                    <a:pos x="0" y="238"/>
                  </a:cxn>
                  <a:cxn ang="0">
                    <a:pos x="240" y="0"/>
                  </a:cxn>
                </a:cxnLst>
                <a:rect l="txL" t="txT" r="txR" b="txB"/>
                <a:pathLst>
                  <a:path w="240" h="238">
                    <a:moveTo>
                      <a:pt x="0" y="238"/>
                    </a:moveTo>
                    <a:lnTo>
                      <a:pt x="240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8163" name="Freeform 48"/>
              <p:cNvSpPr/>
              <p:nvPr/>
            </p:nvSpPr>
            <p:spPr>
              <a:xfrm>
                <a:off x="5186" y="2142"/>
                <a:ext cx="220" cy="224"/>
              </a:xfrm>
              <a:custGeom>
                <a:avLst/>
                <a:gdLst>
                  <a:gd name="txL" fmla="*/ 0 w 220"/>
                  <a:gd name="txT" fmla="*/ 0 h 224"/>
                  <a:gd name="txR" fmla="*/ 220 w 220"/>
                  <a:gd name="txB" fmla="*/ 224 h 224"/>
                </a:gdLst>
                <a:ahLst/>
                <a:cxnLst>
                  <a:cxn ang="0">
                    <a:pos x="0" y="224"/>
                  </a:cxn>
                  <a:cxn ang="0">
                    <a:pos x="220" y="0"/>
                  </a:cxn>
                </a:cxnLst>
                <a:rect l="txL" t="txT" r="txR" b="txB"/>
                <a:pathLst>
                  <a:path w="220" h="224">
                    <a:moveTo>
                      <a:pt x="0" y="224"/>
                    </a:moveTo>
                    <a:lnTo>
                      <a:pt x="220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8164" name="Line 49"/>
              <p:cNvSpPr/>
              <p:nvPr/>
            </p:nvSpPr>
            <p:spPr>
              <a:xfrm>
                <a:off x="3882" y="3602"/>
                <a:ext cx="1528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48165" name="Group 50"/>
              <p:cNvGrpSpPr/>
              <p:nvPr/>
            </p:nvGrpSpPr>
            <p:grpSpPr>
              <a:xfrm>
                <a:off x="3882" y="2246"/>
                <a:ext cx="1528" cy="1206"/>
                <a:chOff x="3532" y="2100"/>
                <a:chExt cx="1528" cy="1206"/>
              </a:xfrm>
            </p:grpSpPr>
            <p:sp>
              <p:nvSpPr>
                <p:cNvPr id="48174" name="Freeform 51"/>
                <p:cNvSpPr/>
                <p:nvPr/>
              </p:nvSpPr>
              <p:spPr>
                <a:xfrm>
                  <a:off x="3537" y="2100"/>
                  <a:ext cx="183" cy="1192"/>
                </a:xfrm>
                <a:custGeom>
                  <a:avLst/>
                  <a:gdLst>
                    <a:gd name="txL" fmla="*/ 0 w 183"/>
                    <a:gd name="txT" fmla="*/ 0 h 1192"/>
                    <a:gd name="txR" fmla="*/ 183 w 183"/>
                    <a:gd name="txB" fmla="*/ 1192 h 1192"/>
                  </a:gdLst>
                  <a:ahLst/>
                  <a:cxnLst>
                    <a:cxn ang="0">
                      <a:pos x="107" y="0"/>
                    </a:cxn>
                    <a:cxn ang="0">
                      <a:pos x="183" y="128"/>
                    </a:cxn>
                    <a:cxn ang="0">
                      <a:pos x="95" y="1068"/>
                    </a:cxn>
                    <a:cxn ang="0">
                      <a:pos x="0" y="1192"/>
                    </a:cxn>
                    <a:cxn ang="0">
                      <a:pos x="107" y="0"/>
                    </a:cxn>
                  </a:cxnLst>
                  <a:rect l="txL" t="txT" r="txR" b="txB"/>
                  <a:pathLst>
                    <a:path w="183" h="1192">
                      <a:moveTo>
                        <a:pt x="107" y="0"/>
                      </a:moveTo>
                      <a:lnTo>
                        <a:pt x="183" y="128"/>
                      </a:lnTo>
                      <a:lnTo>
                        <a:pt x="95" y="1068"/>
                      </a:lnTo>
                      <a:lnTo>
                        <a:pt x="0" y="1192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25252"/>
                    </a:gs>
                    <a:gs pos="100000">
                      <a:srgbClr val="B2B2B2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75" name="Freeform 52"/>
                <p:cNvSpPr/>
                <p:nvPr/>
              </p:nvSpPr>
              <p:spPr>
                <a:xfrm>
                  <a:off x="3632" y="2108"/>
                  <a:ext cx="176" cy="1180"/>
                </a:xfrm>
                <a:custGeom>
                  <a:avLst/>
                  <a:gdLst>
                    <a:gd name="txL" fmla="*/ 0 w 176"/>
                    <a:gd name="txT" fmla="*/ 0 h 1180"/>
                    <a:gd name="txR" fmla="*/ 176 w 176"/>
                    <a:gd name="txB" fmla="*/ 1180 h 1180"/>
                  </a:gdLst>
                  <a:ahLst/>
                  <a:cxnLst>
                    <a:cxn ang="0">
                      <a:pos x="84" y="120"/>
                    </a:cxn>
                    <a:cxn ang="0">
                      <a:pos x="176" y="0"/>
                    </a:cxn>
                    <a:cxn ang="0">
                      <a:pos x="76" y="1180"/>
                    </a:cxn>
                    <a:cxn ang="0">
                      <a:pos x="0" y="1052"/>
                    </a:cxn>
                    <a:cxn ang="0">
                      <a:pos x="84" y="120"/>
                    </a:cxn>
                  </a:cxnLst>
                  <a:rect l="txL" t="txT" r="txR" b="txB"/>
                  <a:pathLst>
                    <a:path w="176" h="1180">
                      <a:moveTo>
                        <a:pt x="84" y="120"/>
                      </a:moveTo>
                      <a:lnTo>
                        <a:pt x="176" y="0"/>
                      </a:lnTo>
                      <a:lnTo>
                        <a:pt x="76" y="1180"/>
                      </a:lnTo>
                      <a:lnTo>
                        <a:pt x="0" y="1052"/>
                      </a:lnTo>
                      <a:lnTo>
                        <a:pt x="84" y="12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525252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76" name="Freeform 53"/>
                <p:cNvSpPr/>
                <p:nvPr/>
              </p:nvSpPr>
              <p:spPr>
                <a:xfrm>
                  <a:off x="3700" y="2104"/>
                  <a:ext cx="184" cy="1188"/>
                </a:xfrm>
                <a:custGeom>
                  <a:avLst/>
                  <a:gdLst>
                    <a:gd name="txL" fmla="*/ 0 w 184"/>
                    <a:gd name="txT" fmla="*/ 0 h 1188"/>
                    <a:gd name="txR" fmla="*/ 184 w 184"/>
                    <a:gd name="txB" fmla="*/ 1188 h 1188"/>
                  </a:gdLst>
                  <a:ahLst/>
                  <a:cxnLst>
                    <a:cxn ang="0">
                      <a:pos x="108" y="0"/>
                    </a:cxn>
                    <a:cxn ang="0">
                      <a:pos x="184" y="128"/>
                    </a:cxn>
                    <a:cxn ang="0">
                      <a:pos x="96" y="1068"/>
                    </a:cxn>
                    <a:cxn ang="0">
                      <a:pos x="0" y="1188"/>
                    </a:cxn>
                    <a:cxn ang="0">
                      <a:pos x="108" y="0"/>
                    </a:cxn>
                  </a:cxnLst>
                  <a:rect l="txL" t="txT" r="txR" b="txB"/>
                  <a:pathLst>
                    <a:path w="184" h="1188">
                      <a:moveTo>
                        <a:pt x="108" y="0"/>
                      </a:moveTo>
                      <a:lnTo>
                        <a:pt x="184" y="128"/>
                      </a:lnTo>
                      <a:lnTo>
                        <a:pt x="96" y="1068"/>
                      </a:lnTo>
                      <a:lnTo>
                        <a:pt x="0" y="118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25252"/>
                    </a:gs>
                    <a:gs pos="100000">
                      <a:srgbClr val="B2B2B2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77" name="Freeform 54"/>
                <p:cNvSpPr/>
                <p:nvPr/>
              </p:nvSpPr>
              <p:spPr>
                <a:xfrm>
                  <a:off x="3796" y="2112"/>
                  <a:ext cx="176" cy="1176"/>
                </a:xfrm>
                <a:custGeom>
                  <a:avLst/>
                  <a:gdLst>
                    <a:gd name="txL" fmla="*/ 0 w 176"/>
                    <a:gd name="txT" fmla="*/ 0 h 1176"/>
                    <a:gd name="txR" fmla="*/ 176 w 176"/>
                    <a:gd name="txB" fmla="*/ 1176 h 1176"/>
                  </a:gdLst>
                  <a:ahLst/>
                  <a:cxnLst>
                    <a:cxn ang="0">
                      <a:pos x="84" y="120"/>
                    </a:cxn>
                    <a:cxn ang="0">
                      <a:pos x="176" y="0"/>
                    </a:cxn>
                    <a:cxn ang="0">
                      <a:pos x="77" y="1176"/>
                    </a:cxn>
                    <a:cxn ang="0">
                      <a:pos x="0" y="1052"/>
                    </a:cxn>
                    <a:cxn ang="0">
                      <a:pos x="84" y="120"/>
                    </a:cxn>
                  </a:cxnLst>
                  <a:rect l="txL" t="txT" r="txR" b="txB"/>
                  <a:pathLst>
                    <a:path w="176" h="1176">
                      <a:moveTo>
                        <a:pt x="84" y="120"/>
                      </a:moveTo>
                      <a:lnTo>
                        <a:pt x="176" y="0"/>
                      </a:lnTo>
                      <a:lnTo>
                        <a:pt x="77" y="1176"/>
                      </a:lnTo>
                      <a:lnTo>
                        <a:pt x="0" y="1052"/>
                      </a:lnTo>
                      <a:lnTo>
                        <a:pt x="84" y="12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525252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78" name="Freeform 55"/>
                <p:cNvSpPr/>
                <p:nvPr/>
              </p:nvSpPr>
              <p:spPr>
                <a:xfrm>
                  <a:off x="3868" y="2100"/>
                  <a:ext cx="180" cy="1188"/>
                </a:xfrm>
                <a:custGeom>
                  <a:avLst/>
                  <a:gdLst>
                    <a:gd name="txL" fmla="*/ 0 w 180"/>
                    <a:gd name="txT" fmla="*/ 0 h 1188"/>
                    <a:gd name="txR" fmla="*/ 180 w 180"/>
                    <a:gd name="txB" fmla="*/ 1188 h 1188"/>
                  </a:gdLst>
                  <a:ahLst/>
                  <a:cxnLst>
                    <a:cxn ang="0">
                      <a:pos x="104" y="0"/>
                    </a:cxn>
                    <a:cxn ang="0">
                      <a:pos x="180" y="128"/>
                    </a:cxn>
                    <a:cxn ang="0">
                      <a:pos x="92" y="1068"/>
                    </a:cxn>
                    <a:cxn ang="0">
                      <a:pos x="0" y="1188"/>
                    </a:cxn>
                    <a:cxn ang="0">
                      <a:pos x="104" y="0"/>
                    </a:cxn>
                  </a:cxnLst>
                  <a:rect l="txL" t="txT" r="txR" b="txB"/>
                  <a:pathLst>
                    <a:path w="180" h="1188">
                      <a:moveTo>
                        <a:pt x="104" y="0"/>
                      </a:moveTo>
                      <a:lnTo>
                        <a:pt x="180" y="128"/>
                      </a:lnTo>
                      <a:lnTo>
                        <a:pt x="92" y="1068"/>
                      </a:lnTo>
                      <a:lnTo>
                        <a:pt x="0" y="1188"/>
                      </a:lnTo>
                      <a:lnTo>
                        <a:pt x="10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25252"/>
                    </a:gs>
                    <a:gs pos="100000">
                      <a:srgbClr val="B2B2B2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79" name="Freeform 56"/>
                <p:cNvSpPr/>
                <p:nvPr/>
              </p:nvSpPr>
              <p:spPr>
                <a:xfrm>
                  <a:off x="3960" y="2108"/>
                  <a:ext cx="176" cy="1176"/>
                </a:xfrm>
                <a:custGeom>
                  <a:avLst/>
                  <a:gdLst>
                    <a:gd name="txL" fmla="*/ 0 w 176"/>
                    <a:gd name="txT" fmla="*/ 0 h 1176"/>
                    <a:gd name="txR" fmla="*/ 176 w 176"/>
                    <a:gd name="txB" fmla="*/ 1176 h 1176"/>
                  </a:gdLst>
                  <a:ahLst/>
                  <a:cxnLst>
                    <a:cxn ang="0">
                      <a:pos x="84" y="120"/>
                    </a:cxn>
                    <a:cxn ang="0">
                      <a:pos x="176" y="0"/>
                    </a:cxn>
                    <a:cxn ang="0">
                      <a:pos x="77" y="1176"/>
                    </a:cxn>
                    <a:cxn ang="0">
                      <a:pos x="0" y="1052"/>
                    </a:cxn>
                    <a:cxn ang="0">
                      <a:pos x="84" y="120"/>
                    </a:cxn>
                  </a:cxnLst>
                  <a:rect l="txL" t="txT" r="txR" b="txB"/>
                  <a:pathLst>
                    <a:path w="176" h="1176">
                      <a:moveTo>
                        <a:pt x="84" y="120"/>
                      </a:moveTo>
                      <a:lnTo>
                        <a:pt x="176" y="0"/>
                      </a:lnTo>
                      <a:lnTo>
                        <a:pt x="77" y="1176"/>
                      </a:lnTo>
                      <a:lnTo>
                        <a:pt x="0" y="1052"/>
                      </a:lnTo>
                      <a:lnTo>
                        <a:pt x="84" y="12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525252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80" name="Freeform 57"/>
                <p:cNvSpPr/>
                <p:nvPr/>
              </p:nvSpPr>
              <p:spPr>
                <a:xfrm>
                  <a:off x="4032" y="2100"/>
                  <a:ext cx="180" cy="1184"/>
                </a:xfrm>
                <a:custGeom>
                  <a:avLst/>
                  <a:gdLst>
                    <a:gd name="txL" fmla="*/ 0 w 180"/>
                    <a:gd name="txT" fmla="*/ 0 h 1184"/>
                    <a:gd name="txR" fmla="*/ 180 w 180"/>
                    <a:gd name="txB" fmla="*/ 1184 h 1184"/>
                  </a:gdLst>
                  <a:ahLst/>
                  <a:cxnLst>
                    <a:cxn ang="0">
                      <a:pos x="104" y="0"/>
                    </a:cxn>
                    <a:cxn ang="0">
                      <a:pos x="180" y="128"/>
                    </a:cxn>
                    <a:cxn ang="0">
                      <a:pos x="92" y="1068"/>
                    </a:cxn>
                    <a:cxn ang="0">
                      <a:pos x="0" y="1184"/>
                    </a:cxn>
                    <a:cxn ang="0">
                      <a:pos x="104" y="0"/>
                    </a:cxn>
                  </a:cxnLst>
                  <a:rect l="txL" t="txT" r="txR" b="txB"/>
                  <a:pathLst>
                    <a:path w="180" h="1184">
                      <a:moveTo>
                        <a:pt x="104" y="0"/>
                      </a:moveTo>
                      <a:lnTo>
                        <a:pt x="180" y="128"/>
                      </a:lnTo>
                      <a:lnTo>
                        <a:pt x="92" y="1068"/>
                      </a:lnTo>
                      <a:lnTo>
                        <a:pt x="0" y="1184"/>
                      </a:lnTo>
                      <a:lnTo>
                        <a:pt x="10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25252"/>
                    </a:gs>
                    <a:gs pos="100000">
                      <a:srgbClr val="B2B2B2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81" name="Freeform 58"/>
                <p:cNvSpPr/>
                <p:nvPr/>
              </p:nvSpPr>
              <p:spPr>
                <a:xfrm>
                  <a:off x="4124" y="2108"/>
                  <a:ext cx="176" cy="1186"/>
                </a:xfrm>
                <a:custGeom>
                  <a:avLst/>
                  <a:gdLst>
                    <a:gd name="txL" fmla="*/ 0 w 176"/>
                    <a:gd name="txT" fmla="*/ 0 h 1186"/>
                    <a:gd name="txR" fmla="*/ 176 w 176"/>
                    <a:gd name="txB" fmla="*/ 1186 h 1186"/>
                  </a:gdLst>
                  <a:ahLst/>
                  <a:cxnLst>
                    <a:cxn ang="0">
                      <a:pos x="84" y="120"/>
                    </a:cxn>
                    <a:cxn ang="0">
                      <a:pos x="176" y="0"/>
                    </a:cxn>
                    <a:cxn ang="0">
                      <a:pos x="88" y="1186"/>
                    </a:cxn>
                    <a:cxn ang="0">
                      <a:pos x="0" y="1052"/>
                    </a:cxn>
                    <a:cxn ang="0">
                      <a:pos x="84" y="120"/>
                    </a:cxn>
                  </a:cxnLst>
                  <a:rect l="txL" t="txT" r="txR" b="txB"/>
                  <a:pathLst>
                    <a:path w="176" h="1186">
                      <a:moveTo>
                        <a:pt x="84" y="120"/>
                      </a:moveTo>
                      <a:lnTo>
                        <a:pt x="176" y="0"/>
                      </a:lnTo>
                      <a:lnTo>
                        <a:pt x="88" y="1186"/>
                      </a:lnTo>
                      <a:lnTo>
                        <a:pt x="0" y="1052"/>
                      </a:lnTo>
                      <a:lnTo>
                        <a:pt x="84" y="12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525252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82" name="Freeform 59"/>
                <p:cNvSpPr/>
                <p:nvPr/>
              </p:nvSpPr>
              <p:spPr>
                <a:xfrm>
                  <a:off x="4193" y="2100"/>
                  <a:ext cx="183" cy="1192"/>
                </a:xfrm>
                <a:custGeom>
                  <a:avLst/>
                  <a:gdLst>
                    <a:gd name="txL" fmla="*/ 0 w 183"/>
                    <a:gd name="txT" fmla="*/ 0 h 1192"/>
                    <a:gd name="txR" fmla="*/ 183 w 183"/>
                    <a:gd name="txB" fmla="*/ 1192 h 1192"/>
                  </a:gdLst>
                  <a:ahLst/>
                  <a:cxnLst>
                    <a:cxn ang="0">
                      <a:pos x="107" y="0"/>
                    </a:cxn>
                    <a:cxn ang="0">
                      <a:pos x="183" y="128"/>
                    </a:cxn>
                    <a:cxn ang="0">
                      <a:pos x="95" y="1068"/>
                    </a:cxn>
                    <a:cxn ang="0">
                      <a:pos x="0" y="1192"/>
                    </a:cxn>
                    <a:cxn ang="0">
                      <a:pos x="107" y="0"/>
                    </a:cxn>
                  </a:cxnLst>
                  <a:rect l="txL" t="txT" r="txR" b="txB"/>
                  <a:pathLst>
                    <a:path w="183" h="1192">
                      <a:moveTo>
                        <a:pt x="107" y="0"/>
                      </a:moveTo>
                      <a:lnTo>
                        <a:pt x="183" y="128"/>
                      </a:lnTo>
                      <a:lnTo>
                        <a:pt x="95" y="1068"/>
                      </a:lnTo>
                      <a:lnTo>
                        <a:pt x="0" y="1192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25252"/>
                    </a:gs>
                    <a:gs pos="100000">
                      <a:srgbClr val="B2B2B2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83" name="Freeform 60"/>
                <p:cNvSpPr/>
                <p:nvPr/>
              </p:nvSpPr>
              <p:spPr>
                <a:xfrm>
                  <a:off x="4288" y="2108"/>
                  <a:ext cx="176" cy="1198"/>
                </a:xfrm>
                <a:custGeom>
                  <a:avLst/>
                  <a:gdLst>
                    <a:gd name="txL" fmla="*/ 0 w 176"/>
                    <a:gd name="txT" fmla="*/ 0 h 1198"/>
                    <a:gd name="txR" fmla="*/ 176 w 176"/>
                    <a:gd name="txB" fmla="*/ 1198 h 1198"/>
                  </a:gdLst>
                  <a:ahLst/>
                  <a:cxnLst>
                    <a:cxn ang="0">
                      <a:pos x="84" y="120"/>
                    </a:cxn>
                    <a:cxn ang="0">
                      <a:pos x="176" y="0"/>
                    </a:cxn>
                    <a:cxn ang="0">
                      <a:pos x="80" y="1198"/>
                    </a:cxn>
                    <a:cxn ang="0">
                      <a:pos x="0" y="1052"/>
                    </a:cxn>
                    <a:cxn ang="0">
                      <a:pos x="84" y="120"/>
                    </a:cxn>
                  </a:cxnLst>
                  <a:rect l="txL" t="txT" r="txR" b="txB"/>
                  <a:pathLst>
                    <a:path w="176" h="1198">
                      <a:moveTo>
                        <a:pt x="84" y="120"/>
                      </a:moveTo>
                      <a:lnTo>
                        <a:pt x="176" y="0"/>
                      </a:lnTo>
                      <a:lnTo>
                        <a:pt x="80" y="1198"/>
                      </a:lnTo>
                      <a:lnTo>
                        <a:pt x="0" y="1052"/>
                      </a:lnTo>
                      <a:lnTo>
                        <a:pt x="84" y="12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525252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84" name="Freeform 61"/>
                <p:cNvSpPr/>
                <p:nvPr/>
              </p:nvSpPr>
              <p:spPr>
                <a:xfrm>
                  <a:off x="4357" y="2104"/>
                  <a:ext cx="183" cy="1192"/>
                </a:xfrm>
                <a:custGeom>
                  <a:avLst/>
                  <a:gdLst>
                    <a:gd name="txL" fmla="*/ 0 w 183"/>
                    <a:gd name="txT" fmla="*/ 0 h 1192"/>
                    <a:gd name="txR" fmla="*/ 183 w 183"/>
                    <a:gd name="txB" fmla="*/ 1192 h 1192"/>
                  </a:gdLst>
                  <a:ahLst/>
                  <a:cxnLst>
                    <a:cxn ang="0">
                      <a:pos x="107" y="0"/>
                    </a:cxn>
                    <a:cxn ang="0">
                      <a:pos x="183" y="128"/>
                    </a:cxn>
                    <a:cxn ang="0">
                      <a:pos x="95" y="1068"/>
                    </a:cxn>
                    <a:cxn ang="0">
                      <a:pos x="0" y="1192"/>
                    </a:cxn>
                    <a:cxn ang="0">
                      <a:pos x="107" y="0"/>
                    </a:cxn>
                  </a:cxnLst>
                  <a:rect l="txL" t="txT" r="txR" b="txB"/>
                  <a:pathLst>
                    <a:path w="183" h="1192">
                      <a:moveTo>
                        <a:pt x="107" y="0"/>
                      </a:moveTo>
                      <a:lnTo>
                        <a:pt x="183" y="128"/>
                      </a:lnTo>
                      <a:lnTo>
                        <a:pt x="95" y="1068"/>
                      </a:lnTo>
                      <a:lnTo>
                        <a:pt x="0" y="1192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25252"/>
                    </a:gs>
                    <a:gs pos="100000">
                      <a:srgbClr val="B2B2B2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85" name="Freeform 62"/>
                <p:cNvSpPr/>
                <p:nvPr/>
              </p:nvSpPr>
              <p:spPr>
                <a:xfrm>
                  <a:off x="4452" y="2112"/>
                  <a:ext cx="176" cy="1172"/>
                </a:xfrm>
                <a:custGeom>
                  <a:avLst/>
                  <a:gdLst>
                    <a:gd name="txL" fmla="*/ 0 w 176"/>
                    <a:gd name="txT" fmla="*/ 0 h 1172"/>
                    <a:gd name="txR" fmla="*/ 176 w 176"/>
                    <a:gd name="txB" fmla="*/ 1172 h 1172"/>
                  </a:gdLst>
                  <a:ahLst/>
                  <a:cxnLst>
                    <a:cxn ang="0">
                      <a:pos x="84" y="120"/>
                    </a:cxn>
                    <a:cxn ang="0">
                      <a:pos x="176" y="0"/>
                    </a:cxn>
                    <a:cxn ang="0">
                      <a:pos x="72" y="1172"/>
                    </a:cxn>
                    <a:cxn ang="0">
                      <a:pos x="0" y="1052"/>
                    </a:cxn>
                    <a:cxn ang="0">
                      <a:pos x="84" y="120"/>
                    </a:cxn>
                  </a:cxnLst>
                  <a:rect l="txL" t="txT" r="txR" b="txB"/>
                  <a:pathLst>
                    <a:path w="176" h="1172">
                      <a:moveTo>
                        <a:pt x="84" y="120"/>
                      </a:moveTo>
                      <a:lnTo>
                        <a:pt x="176" y="0"/>
                      </a:lnTo>
                      <a:lnTo>
                        <a:pt x="72" y="1172"/>
                      </a:lnTo>
                      <a:lnTo>
                        <a:pt x="0" y="1052"/>
                      </a:lnTo>
                      <a:lnTo>
                        <a:pt x="84" y="12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525252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86" name="Freeform 63"/>
                <p:cNvSpPr/>
                <p:nvPr/>
              </p:nvSpPr>
              <p:spPr>
                <a:xfrm>
                  <a:off x="4521" y="2104"/>
                  <a:ext cx="183" cy="1192"/>
                </a:xfrm>
                <a:custGeom>
                  <a:avLst/>
                  <a:gdLst>
                    <a:gd name="txL" fmla="*/ 0 w 183"/>
                    <a:gd name="txT" fmla="*/ 0 h 1192"/>
                    <a:gd name="txR" fmla="*/ 183 w 183"/>
                    <a:gd name="txB" fmla="*/ 1192 h 1192"/>
                  </a:gdLst>
                  <a:ahLst/>
                  <a:cxnLst>
                    <a:cxn ang="0">
                      <a:pos x="107" y="0"/>
                    </a:cxn>
                    <a:cxn ang="0">
                      <a:pos x="183" y="128"/>
                    </a:cxn>
                    <a:cxn ang="0">
                      <a:pos x="95" y="1068"/>
                    </a:cxn>
                    <a:cxn ang="0">
                      <a:pos x="0" y="1192"/>
                    </a:cxn>
                    <a:cxn ang="0">
                      <a:pos x="107" y="0"/>
                    </a:cxn>
                  </a:cxnLst>
                  <a:rect l="txL" t="txT" r="txR" b="txB"/>
                  <a:pathLst>
                    <a:path w="183" h="1192">
                      <a:moveTo>
                        <a:pt x="107" y="0"/>
                      </a:moveTo>
                      <a:lnTo>
                        <a:pt x="183" y="128"/>
                      </a:lnTo>
                      <a:lnTo>
                        <a:pt x="95" y="1068"/>
                      </a:lnTo>
                      <a:lnTo>
                        <a:pt x="0" y="1192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25252"/>
                    </a:gs>
                    <a:gs pos="100000">
                      <a:srgbClr val="B2B2B2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87" name="Freeform 64"/>
                <p:cNvSpPr/>
                <p:nvPr/>
              </p:nvSpPr>
              <p:spPr>
                <a:xfrm>
                  <a:off x="4616" y="2112"/>
                  <a:ext cx="176" cy="1180"/>
                </a:xfrm>
                <a:custGeom>
                  <a:avLst/>
                  <a:gdLst>
                    <a:gd name="txL" fmla="*/ 0 w 176"/>
                    <a:gd name="txT" fmla="*/ 0 h 1180"/>
                    <a:gd name="txR" fmla="*/ 176 w 176"/>
                    <a:gd name="txB" fmla="*/ 1180 h 1180"/>
                  </a:gdLst>
                  <a:ahLst/>
                  <a:cxnLst>
                    <a:cxn ang="0">
                      <a:pos x="84" y="120"/>
                    </a:cxn>
                    <a:cxn ang="0">
                      <a:pos x="176" y="0"/>
                    </a:cxn>
                    <a:cxn ang="0">
                      <a:pos x="72" y="1180"/>
                    </a:cxn>
                    <a:cxn ang="0">
                      <a:pos x="0" y="1052"/>
                    </a:cxn>
                    <a:cxn ang="0">
                      <a:pos x="84" y="120"/>
                    </a:cxn>
                  </a:cxnLst>
                  <a:rect l="txL" t="txT" r="txR" b="txB"/>
                  <a:pathLst>
                    <a:path w="176" h="1180">
                      <a:moveTo>
                        <a:pt x="84" y="120"/>
                      </a:moveTo>
                      <a:lnTo>
                        <a:pt x="176" y="0"/>
                      </a:lnTo>
                      <a:lnTo>
                        <a:pt x="72" y="1180"/>
                      </a:lnTo>
                      <a:lnTo>
                        <a:pt x="0" y="1052"/>
                      </a:lnTo>
                      <a:lnTo>
                        <a:pt x="84" y="12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525252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88" name="Freeform 65"/>
                <p:cNvSpPr/>
                <p:nvPr/>
              </p:nvSpPr>
              <p:spPr>
                <a:xfrm>
                  <a:off x="4685" y="2104"/>
                  <a:ext cx="183" cy="1192"/>
                </a:xfrm>
                <a:custGeom>
                  <a:avLst/>
                  <a:gdLst>
                    <a:gd name="txL" fmla="*/ 0 w 183"/>
                    <a:gd name="txT" fmla="*/ 0 h 1192"/>
                    <a:gd name="txR" fmla="*/ 183 w 183"/>
                    <a:gd name="txB" fmla="*/ 1192 h 1192"/>
                  </a:gdLst>
                  <a:ahLst/>
                  <a:cxnLst>
                    <a:cxn ang="0">
                      <a:pos x="107" y="0"/>
                    </a:cxn>
                    <a:cxn ang="0">
                      <a:pos x="183" y="128"/>
                    </a:cxn>
                    <a:cxn ang="0">
                      <a:pos x="95" y="1068"/>
                    </a:cxn>
                    <a:cxn ang="0">
                      <a:pos x="0" y="1192"/>
                    </a:cxn>
                    <a:cxn ang="0">
                      <a:pos x="107" y="0"/>
                    </a:cxn>
                  </a:cxnLst>
                  <a:rect l="txL" t="txT" r="txR" b="txB"/>
                  <a:pathLst>
                    <a:path w="183" h="1192">
                      <a:moveTo>
                        <a:pt x="107" y="0"/>
                      </a:moveTo>
                      <a:lnTo>
                        <a:pt x="183" y="128"/>
                      </a:lnTo>
                      <a:lnTo>
                        <a:pt x="95" y="1068"/>
                      </a:lnTo>
                      <a:lnTo>
                        <a:pt x="0" y="1192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25252"/>
                    </a:gs>
                    <a:gs pos="100000">
                      <a:srgbClr val="B2B2B2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89" name="Freeform 66"/>
                <p:cNvSpPr/>
                <p:nvPr/>
              </p:nvSpPr>
              <p:spPr>
                <a:xfrm>
                  <a:off x="4780" y="2104"/>
                  <a:ext cx="172" cy="1184"/>
                </a:xfrm>
                <a:custGeom>
                  <a:avLst/>
                  <a:gdLst>
                    <a:gd name="txL" fmla="*/ 0 w 172"/>
                    <a:gd name="txT" fmla="*/ 0 h 1184"/>
                    <a:gd name="txR" fmla="*/ 172 w 172"/>
                    <a:gd name="txB" fmla="*/ 1184 h 1184"/>
                  </a:gdLst>
                  <a:ahLst/>
                  <a:cxnLst>
                    <a:cxn ang="0">
                      <a:pos x="84" y="128"/>
                    </a:cxn>
                    <a:cxn ang="0">
                      <a:pos x="172" y="0"/>
                    </a:cxn>
                    <a:cxn ang="0">
                      <a:pos x="77" y="1184"/>
                    </a:cxn>
                    <a:cxn ang="0">
                      <a:pos x="0" y="1060"/>
                    </a:cxn>
                    <a:cxn ang="0">
                      <a:pos x="84" y="128"/>
                    </a:cxn>
                  </a:cxnLst>
                  <a:rect l="txL" t="txT" r="txR" b="txB"/>
                  <a:pathLst>
                    <a:path w="172" h="1184">
                      <a:moveTo>
                        <a:pt x="84" y="128"/>
                      </a:moveTo>
                      <a:lnTo>
                        <a:pt x="172" y="0"/>
                      </a:lnTo>
                      <a:lnTo>
                        <a:pt x="77" y="1184"/>
                      </a:lnTo>
                      <a:lnTo>
                        <a:pt x="0" y="1060"/>
                      </a:lnTo>
                      <a:lnTo>
                        <a:pt x="84" y="12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525252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90" name="Freeform 67"/>
                <p:cNvSpPr/>
                <p:nvPr/>
              </p:nvSpPr>
              <p:spPr>
                <a:xfrm>
                  <a:off x="4853" y="2104"/>
                  <a:ext cx="183" cy="1184"/>
                </a:xfrm>
                <a:custGeom>
                  <a:avLst/>
                  <a:gdLst>
                    <a:gd name="txL" fmla="*/ 0 w 183"/>
                    <a:gd name="txT" fmla="*/ 0 h 1184"/>
                    <a:gd name="txR" fmla="*/ 183 w 183"/>
                    <a:gd name="txB" fmla="*/ 1184 h 1184"/>
                  </a:gdLst>
                  <a:ahLst/>
                  <a:cxnLst>
                    <a:cxn ang="0">
                      <a:pos x="99" y="0"/>
                    </a:cxn>
                    <a:cxn ang="0">
                      <a:pos x="183" y="120"/>
                    </a:cxn>
                    <a:cxn ang="0">
                      <a:pos x="99" y="1060"/>
                    </a:cxn>
                    <a:cxn ang="0">
                      <a:pos x="0" y="1184"/>
                    </a:cxn>
                    <a:cxn ang="0">
                      <a:pos x="99" y="0"/>
                    </a:cxn>
                  </a:cxnLst>
                  <a:rect l="txL" t="txT" r="txR" b="txB"/>
                  <a:pathLst>
                    <a:path w="183" h="1184">
                      <a:moveTo>
                        <a:pt x="99" y="0"/>
                      </a:moveTo>
                      <a:lnTo>
                        <a:pt x="183" y="120"/>
                      </a:lnTo>
                      <a:lnTo>
                        <a:pt x="99" y="1060"/>
                      </a:lnTo>
                      <a:lnTo>
                        <a:pt x="0" y="1184"/>
                      </a:lnTo>
                      <a:lnTo>
                        <a:pt x="9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25252"/>
                    </a:gs>
                    <a:gs pos="100000">
                      <a:srgbClr val="B2B2B2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91" name="Freeform 68"/>
                <p:cNvSpPr/>
                <p:nvPr/>
              </p:nvSpPr>
              <p:spPr>
                <a:xfrm>
                  <a:off x="4944" y="2184"/>
                  <a:ext cx="116" cy="1108"/>
                </a:xfrm>
                <a:custGeom>
                  <a:avLst/>
                  <a:gdLst>
                    <a:gd name="txL" fmla="*/ 0 w 116"/>
                    <a:gd name="txT" fmla="*/ 0 h 1108"/>
                    <a:gd name="txR" fmla="*/ 116 w 116"/>
                    <a:gd name="txB" fmla="*/ 1108 h 1108"/>
                  </a:gdLst>
                  <a:ahLst/>
                  <a:cxnLst>
                    <a:cxn ang="0">
                      <a:pos x="88" y="52"/>
                    </a:cxn>
                    <a:cxn ang="0">
                      <a:pos x="116" y="0"/>
                    </a:cxn>
                    <a:cxn ang="0">
                      <a:pos x="81" y="1108"/>
                    </a:cxn>
                    <a:cxn ang="0">
                      <a:pos x="0" y="978"/>
                    </a:cxn>
                    <a:cxn ang="0">
                      <a:pos x="88" y="52"/>
                    </a:cxn>
                  </a:cxnLst>
                  <a:rect l="txL" t="txT" r="txR" b="txB"/>
                  <a:pathLst>
                    <a:path w="116" h="1108">
                      <a:moveTo>
                        <a:pt x="88" y="52"/>
                      </a:moveTo>
                      <a:lnTo>
                        <a:pt x="116" y="0"/>
                      </a:lnTo>
                      <a:lnTo>
                        <a:pt x="81" y="1108"/>
                      </a:lnTo>
                      <a:lnTo>
                        <a:pt x="0" y="978"/>
                      </a:lnTo>
                      <a:lnTo>
                        <a:pt x="88" y="5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525252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92" name="Freeform 69"/>
                <p:cNvSpPr/>
                <p:nvPr/>
              </p:nvSpPr>
              <p:spPr>
                <a:xfrm>
                  <a:off x="5016" y="2176"/>
                  <a:ext cx="44" cy="1108"/>
                </a:xfrm>
                <a:custGeom>
                  <a:avLst/>
                  <a:gdLst>
                    <a:gd name="txL" fmla="*/ 0 w 44"/>
                    <a:gd name="txT" fmla="*/ 0 h 1108"/>
                    <a:gd name="txR" fmla="*/ 44 w 44"/>
                    <a:gd name="txB" fmla="*/ 1108 h 1108"/>
                  </a:gdLst>
                  <a:ahLst/>
                  <a:cxnLst>
                    <a:cxn ang="0">
                      <a:pos x="0" y="1108"/>
                    </a:cxn>
                    <a:cxn ang="0">
                      <a:pos x="43" y="1044"/>
                    </a:cxn>
                    <a:cxn ang="0">
                      <a:pos x="44" y="0"/>
                    </a:cxn>
                    <a:cxn ang="0">
                      <a:pos x="0" y="1108"/>
                    </a:cxn>
                  </a:cxnLst>
                  <a:rect l="txL" t="txT" r="txR" b="txB"/>
                  <a:pathLst>
                    <a:path w="44" h="1108">
                      <a:moveTo>
                        <a:pt x="0" y="1108"/>
                      </a:moveTo>
                      <a:lnTo>
                        <a:pt x="43" y="1044"/>
                      </a:lnTo>
                      <a:lnTo>
                        <a:pt x="44" y="0"/>
                      </a:lnTo>
                      <a:lnTo>
                        <a:pt x="0" y="110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25252"/>
                    </a:gs>
                    <a:gs pos="100000">
                      <a:srgbClr val="B2B2B2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93" name="Freeform 70"/>
                <p:cNvSpPr/>
                <p:nvPr/>
              </p:nvSpPr>
              <p:spPr>
                <a:xfrm>
                  <a:off x="3532" y="2100"/>
                  <a:ext cx="112" cy="1176"/>
                </a:xfrm>
                <a:custGeom>
                  <a:avLst/>
                  <a:gdLst>
                    <a:gd name="txL" fmla="*/ 0 w 112"/>
                    <a:gd name="txT" fmla="*/ 0 h 1176"/>
                    <a:gd name="txR" fmla="*/ 112 w 112"/>
                    <a:gd name="txB" fmla="*/ 1176 h 1176"/>
                  </a:gdLst>
                  <a:ahLst/>
                  <a:cxnLst>
                    <a:cxn ang="0">
                      <a:pos x="112" y="0"/>
                    </a:cxn>
                    <a:cxn ang="0">
                      <a:pos x="36" y="132"/>
                    </a:cxn>
                    <a:cxn ang="0">
                      <a:pos x="0" y="580"/>
                    </a:cxn>
                    <a:cxn ang="0">
                      <a:pos x="8" y="1176"/>
                    </a:cxn>
                    <a:cxn ang="0">
                      <a:pos x="112" y="0"/>
                    </a:cxn>
                  </a:cxnLst>
                  <a:rect l="txL" t="txT" r="txR" b="txB"/>
                  <a:pathLst>
                    <a:path w="112" h="1176">
                      <a:moveTo>
                        <a:pt x="112" y="0"/>
                      </a:moveTo>
                      <a:lnTo>
                        <a:pt x="36" y="132"/>
                      </a:lnTo>
                      <a:lnTo>
                        <a:pt x="0" y="580"/>
                      </a:lnTo>
                      <a:lnTo>
                        <a:pt x="8" y="1176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525252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94" name="Freeform 71"/>
                <p:cNvSpPr/>
                <p:nvPr/>
              </p:nvSpPr>
              <p:spPr>
                <a:xfrm>
                  <a:off x="3532" y="2166"/>
                  <a:ext cx="44" cy="534"/>
                </a:xfrm>
                <a:custGeom>
                  <a:avLst/>
                  <a:gdLst>
                    <a:gd name="txL" fmla="*/ 0 w 44"/>
                    <a:gd name="txT" fmla="*/ 0 h 534"/>
                    <a:gd name="txR" fmla="*/ 44 w 44"/>
                    <a:gd name="txB" fmla="*/ 534 h 534"/>
                  </a:gdLst>
                  <a:ahLst/>
                  <a:cxnLst>
                    <a:cxn ang="0">
                      <a:pos x="44" y="62"/>
                    </a:cxn>
                    <a:cxn ang="0">
                      <a:pos x="0" y="0"/>
                    </a:cxn>
                    <a:cxn ang="0">
                      <a:pos x="0" y="534"/>
                    </a:cxn>
                    <a:cxn ang="0">
                      <a:pos x="44" y="62"/>
                    </a:cxn>
                  </a:cxnLst>
                  <a:rect l="txL" t="txT" r="txR" b="txB"/>
                  <a:pathLst>
                    <a:path w="44" h="534">
                      <a:moveTo>
                        <a:pt x="44" y="62"/>
                      </a:moveTo>
                      <a:lnTo>
                        <a:pt x="0" y="0"/>
                      </a:lnTo>
                      <a:lnTo>
                        <a:pt x="0" y="534"/>
                      </a:lnTo>
                      <a:lnTo>
                        <a:pt x="44" y="6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25252"/>
                    </a:gs>
                    <a:gs pos="100000">
                      <a:srgbClr val="B2B2B2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8166" name="Rectangle 72"/>
              <p:cNvSpPr/>
              <p:nvPr/>
            </p:nvSpPr>
            <p:spPr>
              <a:xfrm>
                <a:off x="3882" y="2082"/>
                <a:ext cx="1528" cy="1520"/>
              </a:xfrm>
              <a:prstGeom prst="rect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8167" name="Line 73"/>
              <p:cNvSpPr/>
              <p:nvPr/>
            </p:nvSpPr>
            <p:spPr>
              <a:xfrm flipV="1">
                <a:off x="3887" y="3387"/>
                <a:ext cx="159" cy="159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68" name="Line 74"/>
              <p:cNvSpPr/>
              <p:nvPr/>
            </p:nvSpPr>
            <p:spPr>
              <a:xfrm flipV="1">
                <a:off x="4062" y="3338"/>
                <a:ext cx="264" cy="264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69" name="Line 75"/>
              <p:cNvSpPr/>
              <p:nvPr/>
            </p:nvSpPr>
            <p:spPr>
              <a:xfrm flipV="1">
                <a:off x="4302" y="3385"/>
                <a:ext cx="217" cy="217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70" name="Line 76"/>
              <p:cNvSpPr/>
              <p:nvPr/>
            </p:nvSpPr>
            <p:spPr>
              <a:xfrm flipV="1">
                <a:off x="4543" y="3331"/>
                <a:ext cx="271" cy="271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71" name="Freeform 77"/>
              <p:cNvSpPr/>
              <p:nvPr/>
            </p:nvSpPr>
            <p:spPr>
              <a:xfrm>
                <a:off x="4766" y="3370"/>
                <a:ext cx="236" cy="232"/>
              </a:xfrm>
              <a:custGeom>
                <a:avLst/>
                <a:gdLst>
                  <a:gd name="txL" fmla="*/ 0 w 236"/>
                  <a:gd name="txT" fmla="*/ 0 h 232"/>
                  <a:gd name="txR" fmla="*/ 236 w 236"/>
                  <a:gd name="txB" fmla="*/ 232 h 232"/>
                </a:gdLst>
                <a:ahLst/>
                <a:cxnLst>
                  <a:cxn ang="0">
                    <a:pos x="0" y="232"/>
                  </a:cxn>
                  <a:cxn ang="0">
                    <a:pos x="236" y="0"/>
                  </a:cxn>
                </a:cxnLst>
                <a:rect l="txL" t="txT" r="txR" b="txB"/>
                <a:pathLst>
                  <a:path w="236" h="232">
                    <a:moveTo>
                      <a:pt x="0" y="232"/>
                    </a:moveTo>
                    <a:lnTo>
                      <a:pt x="236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8172" name="Line 78"/>
              <p:cNvSpPr/>
              <p:nvPr/>
            </p:nvSpPr>
            <p:spPr>
              <a:xfrm flipV="1">
                <a:off x="4998" y="3397"/>
                <a:ext cx="205" cy="205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73" name="Line 79"/>
              <p:cNvSpPr/>
              <p:nvPr/>
            </p:nvSpPr>
            <p:spPr>
              <a:xfrm flipV="1">
                <a:off x="5223" y="3419"/>
                <a:ext cx="183" cy="183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22608" name="Text Box 80"/>
          <p:cNvSpPr txBox="1"/>
          <p:nvPr/>
        </p:nvSpPr>
        <p:spPr>
          <a:xfrm>
            <a:off x="111125" y="757238"/>
            <a:ext cx="18669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ˎ̥"/>
              </a:rPr>
              <a:t>⑵ 公称直径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2609" name="Rectangle 81"/>
          <p:cNvSpPr/>
          <p:nvPr/>
        </p:nvSpPr>
        <p:spPr>
          <a:xfrm>
            <a:off x="930275" y="1249363"/>
            <a:ext cx="7519988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ˎ̥"/>
              </a:rPr>
              <a:t>大径</a:t>
            </a:r>
            <a:r>
              <a:rPr lang="zh-CN" altLang="en-US" sz="2000" b="1" dirty="0">
                <a:latin typeface="宋体" panose="02010600030101010101" pitchFamily="2" charset="-122"/>
                <a:ea typeface="ˎ̥"/>
              </a:rPr>
              <a:t>：与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ˎ̥"/>
              </a:rPr>
              <a:t>外螺纹牙顶</a:t>
            </a:r>
            <a:r>
              <a:rPr lang="zh-CN" altLang="en-US" sz="2000" b="1" dirty="0">
                <a:latin typeface="宋体" panose="02010600030101010101" pitchFamily="2" charset="-122"/>
                <a:ea typeface="ˎ̥"/>
              </a:rPr>
              <a:t>或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ˎ̥"/>
              </a:rPr>
              <a:t>内螺纹牙底</a:t>
            </a:r>
            <a:r>
              <a:rPr lang="zh-CN" altLang="en-US" sz="2000" b="1" dirty="0">
                <a:latin typeface="宋体" panose="02010600030101010101" pitchFamily="2" charset="-122"/>
                <a:ea typeface="ˎ̥"/>
              </a:rPr>
              <a:t>相切的</a:t>
            </a:r>
            <a:r>
              <a:rPr lang="zh-CN" altLang="en-US" b="1" dirty="0">
                <a:latin typeface="Arial" panose="020B0604020202020204" pitchFamily="34" charset="0"/>
              </a:rPr>
              <a:t>假想圆柱面的直径。</a:t>
            </a:r>
            <a:r>
              <a:rPr lang="en-US" altLang="zh-CN" b="1" dirty="0">
                <a:latin typeface="Arial" panose="020B0604020202020204" pitchFamily="34" charset="0"/>
              </a:rPr>
              <a:t>D</a:t>
            </a:r>
            <a:r>
              <a:rPr lang="zh-CN" altLang="en-US" b="1" dirty="0">
                <a:latin typeface="Arial" panose="020B0604020202020204" pitchFamily="34" charset="0"/>
              </a:rPr>
              <a:t>、</a:t>
            </a:r>
            <a:r>
              <a:rPr lang="en-US" altLang="zh-CN" b="1" dirty="0">
                <a:latin typeface="Arial" panose="020B0604020202020204" pitchFamily="34" charset="0"/>
              </a:rPr>
              <a:t>d</a:t>
            </a:r>
            <a:r>
              <a:rPr lang="en-US" altLang="zh-CN" sz="2000" b="1" dirty="0">
                <a:latin typeface="宋体" panose="02010600030101010101" pitchFamily="2" charset="-122"/>
                <a:ea typeface="ˎ̥"/>
              </a:rPr>
              <a:t> </a:t>
            </a:r>
            <a:endParaRPr lang="en-US" altLang="zh-CN" sz="2000" dirty="0">
              <a:latin typeface="Arial" panose="020B0604020202020204" pitchFamily="34" charset="0"/>
            </a:endParaRPr>
          </a:p>
        </p:txBody>
      </p:sp>
      <p:sp>
        <p:nvSpPr>
          <p:cNvPr id="22610" name="Rectangle 82"/>
          <p:cNvSpPr/>
          <p:nvPr/>
        </p:nvSpPr>
        <p:spPr>
          <a:xfrm>
            <a:off x="935038" y="1754188"/>
            <a:ext cx="7623175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ˎ̥"/>
              </a:rPr>
              <a:t>小径</a:t>
            </a:r>
            <a:r>
              <a:rPr lang="zh-CN" altLang="en-US" sz="2000" b="1" dirty="0">
                <a:latin typeface="宋体" panose="02010600030101010101" pitchFamily="2" charset="-122"/>
                <a:ea typeface="ˎ̥"/>
              </a:rPr>
              <a:t>：与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ˎ̥"/>
              </a:rPr>
              <a:t>外螺纹牙底</a:t>
            </a:r>
            <a:r>
              <a:rPr lang="zh-CN" altLang="en-US" sz="2000" b="1" dirty="0">
                <a:latin typeface="宋体" panose="02010600030101010101" pitchFamily="2" charset="-122"/>
                <a:ea typeface="ˎ̥"/>
              </a:rPr>
              <a:t>或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ˎ̥"/>
              </a:rPr>
              <a:t>内螺纹牙顶</a:t>
            </a:r>
            <a:r>
              <a:rPr lang="zh-CN" altLang="en-US" sz="2000" b="1" dirty="0">
                <a:latin typeface="宋体" panose="02010600030101010101" pitchFamily="2" charset="-122"/>
                <a:ea typeface="ˎ̥"/>
              </a:rPr>
              <a:t>相切的</a:t>
            </a:r>
            <a:r>
              <a:rPr lang="zh-CN" altLang="en-US" b="1" dirty="0">
                <a:latin typeface="Arial" panose="020B0604020202020204" pitchFamily="34" charset="0"/>
              </a:rPr>
              <a:t>假想圆柱面的直径。 </a:t>
            </a:r>
            <a:r>
              <a:rPr lang="en-US" altLang="zh-CN" b="1" dirty="0">
                <a:latin typeface="Arial" panose="020B0604020202020204" pitchFamily="34" charset="0"/>
              </a:rPr>
              <a:t>D</a:t>
            </a:r>
            <a:r>
              <a:rPr lang="en-US" altLang="zh-CN" b="1" baseline="-25000" dirty="0">
                <a:latin typeface="Arial" panose="020B0604020202020204" pitchFamily="34" charset="0"/>
              </a:rPr>
              <a:t>1</a:t>
            </a:r>
            <a:r>
              <a:rPr lang="zh-CN" altLang="en-US" b="1" dirty="0">
                <a:latin typeface="Arial" panose="020B0604020202020204" pitchFamily="34" charset="0"/>
              </a:rPr>
              <a:t>、</a:t>
            </a:r>
            <a:r>
              <a:rPr lang="en-US" altLang="zh-CN" b="1" dirty="0">
                <a:latin typeface="Arial" panose="020B0604020202020204" pitchFamily="34" charset="0"/>
              </a:rPr>
              <a:t>d</a:t>
            </a:r>
            <a:r>
              <a:rPr lang="en-US" altLang="zh-CN" b="1" baseline="-25000" dirty="0">
                <a:latin typeface="Arial" panose="020B0604020202020204" pitchFamily="34" charset="0"/>
              </a:rPr>
              <a:t>1</a:t>
            </a:r>
            <a:endParaRPr lang="en-US" altLang="zh-CN" sz="2000" baseline="-25000" dirty="0">
              <a:latin typeface="Arial" panose="020B0604020202020204" pitchFamily="34" charset="0"/>
            </a:endParaRPr>
          </a:p>
        </p:txBody>
      </p:sp>
      <p:grpSp>
        <p:nvGrpSpPr>
          <p:cNvPr id="6" name="Group 83"/>
          <p:cNvGrpSpPr/>
          <p:nvPr/>
        </p:nvGrpSpPr>
        <p:grpSpPr>
          <a:xfrm>
            <a:off x="1709738" y="2228850"/>
            <a:ext cx="1900237" cy="1063625"/>
            <a:chOff x="1500" y="1676"/>
            <a:chExt cx="712" cy="513"/>
          </a:xfrm>
        </p:grpSpPr>
        <p:sp>
          <p:nvSpPr>
            <p:cNvPr id="48153" name="Text Box 84"/>
            <p:cNvSpPr txBox="1"/>
            <p:nvPr/>
          </p:nvSpPr>
          <p:spPr>
            <a:xfrm>
              <a:off x="1500" y="1676"/>
              <a:ext cx="71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FF3300"/>
                  </a:solidFill>
                  <a:latin typeface="Arial" panose="020B0604020202020204" pitchFamily="34" charset="0"/>
                  <a:ea typeface="ˎ̥"/>
                </a:rPr>
                <a:t>牙底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154" name="Line 85"/>
            <p:cNvSpPr/>
            <p:nvPr/>
          </p:nvSpPr>
          <p:spPr>
            <a:xfrm flipH="1" flipV="1">
              <a:off x="2000" y="1921"/>
              <a:ext cx="72" cy="268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triangle" w="sm" len="lg"/>
              <a:tailEnd type="none" w="med" len="med"/>
            </a:ln>
          </p:spPr>
        </p:sp>
      </p:grpSp>
      <p:grpSp>
        <p:nvGrpSpPr>
          <p:cNvPr id="7" name="Group 86"/>
          <p:cNvGrpSpPr/>
          <p:nvPr/>
        </p:nvGrpSpPr>
        <p:grpSpPr>
          <a:xfrm>
            <a:off x="5395913" y="4937125"/>
            <a:ext cx="1619250" cy="846138"/>
            <a:chOff x="3205" y="3557"/>
            <a:chExt cx="1020" cy="533"/>
          </a:xfrm>
        </p:grpSpPr>
        <p:sp>
          <p:nvSpPr>
            <p:cNvPr id="48151" name="Text Box 87"/>
            <p:cNvSpPr txBox="1"/>
            <p:nvPr/>
          </p:nvSpPr>
          <p:spPr>
            <a:xfrm>
              <a:off x="3205" y="3763"/>
              <a:ext cx="96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FF3300"/>
                  </a:solidFill>
                  <a:latin typeface="Arial" panose="020B0604020202020204" pitchFamily="34" charset="0"/>
                  <a:ea typeface="ˎ̥"/>
                </a:rPr>
                <a:t>牙底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152" name="Line 88"/>
            <p:cNvSpPr/>
            <p:nvPr/>
          </p:nvSpPr>
          <p:spPr>
            <a:xfrm flipH="1">
              <a:off x="3920" y="3557"/>
              <a:ext cx="305" cy="305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triangle" w="sm" len="lg"/>
              <a:tailEnd type="none" w="med" len="med"/>
            </a:ln>
          </p:spPr>
        </p:sp>
      </p:grpSp>
      <p:grpSp>
        <p:nvGrpSpPr>
          <p:cNvPr id="8" name="Group 89"/>
          <p:cNvGrpSpPr/>
          <p:nvPr/>
        </p:nvGrpSpPr>
        <p:grpSpPr>
          <a:xfrm>
            <a:off x="7124700" y="2243138"/>
            <a:ext cx="923925" cy="1012825"/>
            <a:chOff x="4610" y="1662"/>
            <a:chExt cx="828" cy="460"/>
          </a:xfrm>
        </p:grpSpPr>
        <p:sp>
          <p:nvSpPr>
            <p:cNvPr id="48149" name="Text Box 90"/>
            <p:cNvSpPr txBox="1"/>
            <p:nvPr/>
          </p:nvSpPr>
          <p:spPr>
            <a:xfrm>
              <a:off x="4610" y="1662"/>
              <a:ext cx="828" cy="23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FF3300"/>
                  </a:solidFill>
                  <a:latin typeface="Arial" panose="020B0604020202020204" pitchFamily="34" charset="0"/>
                  <a:ea typeface="ˎ̥"/>
                </a:rPr>
                <a:t>牙顶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150" name="Line 91"/>
            <p:cNvSpPr/>
            <p:nvPr/>
          </p:nvSpPr>
          <p:spPr>
            <a:xfrm flipH="1">
              <a:off x="4713" y="1914"/>
              <a:ext cx="215" cy="208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sm" len="lg"/>
            </a:ln>
          </p:spPr>
        </p:sp>
      </p:grpSp>
      <p:grpSp>
        <p:nvGrpSpPr>
          <p:cNvPr id="9" name="Group 92"/>
          <p:cNvGrpSpPr/>
          <p:nvPr/>
        </p:nvGrpSpPr>
        <p:grpSpPr>
          <a:xfrm>
            <a:off x="1822450" y="4970463"/>
            <a:ext cx="1463675" cy="782637"/>
            <a:chOff x="1298" y="3558"/>
            <a:chExt cx="846" cy="422"/>
          </a:xfrm>
        </p:grpSpPr>
        <p:sp>
          <p:nvSpPr>
            <p:cNvPr id="48147" name="Text Box 93"/>
            <p:cNvSpPr txBox="1"/>
            <p:nvPr/>
          </p:nvSpPr>
          <p:spPr>
            <a:xfrm>
              <a:off x="1298" y="3700"/>
              <a:ext cx="846" cy="2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FF3300"/>
                  </a:solidFill>
                  <a:latin typeface="Arial" panose="020B0604020202020204" pitchFamily="34" charset="0"/>
                  <a:ea typeface="ˎ̥"/>
                </a:rPr>
                <a:t>牙顶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148" name="Line 94"/>
            <p:cNvSpPr/>
            <p:nvPr/>
          </p:nvSpPr>
          <p:spPr>
            <a:xfrm flipV="1">
              <a:off x="1788" y="3558"/>
              <a:ext cx="186" cy="186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sm" len="lg"/>
            </a:ln>
          </p:spPr>
        </p:sp>
      </p:grpSp>
      <p:pic>
        <p:nvPicPr>
          <p:cNvPr id="22623" name="Picture 95" descr="slide0007_image06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0" y="3211513"/>
            <a:ext cx="2459038" cy="1631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624" name="Picture 96" descr="slide0007_image0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4150" y="3067050"/>
            <a:ext cx="2343150" cy="19097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625" name="Rectangle 97"/>
          <p:cNvSpPr/>
          <p:nvPr/>
        </p:nvSpPr>
        <p:spPr>
          <a:xfrm>
            <a:off x="935038" y="6055361"/>
            <a:ext cx="475234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ˎ̥"/>
              </a:rPr>
              <a:t>公称直径：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ˎ̥"/>
              </a:rPr>
              <a:t>通常指螺纹大径的基本尺寸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。</a:t>
            </a:r>
            <a:endParaRPr lang="zh-CN" altLang="en-US" sz="20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343051" name="组合 343050"/>
          <p:cNvGrpSpPr/>
          <p:nvPr/>
        </p:nvGrpSpPr>
        <p:grpSpPr>
          <a:xfrm>
            <a:off x="327025" y="730250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33" name="Rectangle 17"/>
          <p:cNvSpPr/>
          <p:nvPr/>
        </p:nvSpPr>
        <p:spPr>
          <a:xfrm>
            <a:off x="263525" y="215900"/>
            <a:ext cx="373316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1</a:t>
            </a:r>
            <a:r>
              <a:rPr lang="zh-CN" altLang="en-US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、螺纹的五要素</a:t>
            </a:r>
            <a:endParaRPr lang="zh-CN" altLang="en-US" sz="28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2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2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2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2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2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08" grpId="0"/>
      <p:bldP spid="22609" grpId="0" bldLvl="0" animBg="1"/>
      <p:bldP spid="22610" grpId="0" bldLvl="0" animBg="1"/>
      <p:bldP spid="22625" grpId="0" bldLvl="0" animBg="1"/>
      <p:bldP spid="92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8" name="Text Box 91"/>
          <p:cNvSpPr txBox="1"/>
          <p:nvPr/>
        </p:nvSpPr>
        <p:spPr>
          <a:xfrm>
            <a:off x="4368800" y="5383213"/>
            <a:ext cx="1885950" cy="579437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 eaLnBrk="0" hangingPunct="0"/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ˎ̥"/>
              </a:rPr>
              <a:t> </a:t>
            </a:r>
            <a:r>
              <a:rPr lang="zh-CN" altLang="en-US" sz="3200" b="1" dirty="0">
                <a:solidFill>
                  <a:schemeClr val="accent2"/>
                </a:solidFill>
                <a:latin typeface="Arial" panose="020B0604020202020204" pitchFamily="34" charset="0"/>
                <a:ea typeface="ˎ̥"/>
              </a:rPr>
              <a:t>外螺纹</a:t>
            </a:r>
            <a:r>
              <a:rPr lang="zh-CN" altLang="en-US" sz="2400" dirty="0">
                <a:solidFill>
                  <a:schemeClr val="accent2"/>
                </a:solidFill>
                <a:latin typeface="Arial" panose="020B0604020202020204" pitchFamily="34" charset="0"/>
                <a:ea typeface="ˎ̥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9159" name="Text Box 92"/>
          <p:cNvSpPr txBox="1"/>
          <p:nvPr/>
        </p:nvSpPr>
        <p:spPr>
          <a:xfrm>
            <a:off x="1476375" y="5378450"/>
            <a:ext cx="1612900" cy="579438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 eaLnBrk="0" hangingPunct="0"/>
            <a:r>
              <a:rPr lang="zh-CN" altLang="en-US" sz="3200" b="1" dirty="0">
                <a:solidFill>
                  <a:schemeClr val="accent2"/>
                </a:solidFill>
                <a:latin typeface="Arial" panose="020B0604020202020204" pitchFamily="34" charset="0"/>
                <a:ea typeface="ˎ̥"/>
              </a:rPr>
              <a:t>内螺纹</a:t>
            </a:r>
            <a:r>
              <a:rPr lang="zh-CN" altLang="en-US" sz="2400" dirty="0">
                <a:solidFill>
                  <a:schemeClr val="accent2"/>
                </a:solidFill>
                <a:latin typeface="Arial" panose="020B0604020202020204" pitchFamily="34" charset="0"/>
                <a:ea typeface="ˎ̥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49160" name="Group 93"/>
          <p:cNvGrpSpPr/>
          <p:nvPr/>
        </p:nvGrpSpPr>
        <p:grpSpPr>
          <a:xfrm>
            <a:off x="3846513" y="3354388"/>
            <a:ext cx="3098800" cy="1206500"/>
            <a:chOff x="2608" y="2078"/>
            <a:chExt cx="1952" cy="760"/>
          </a:xfrm>
        </p:grpSpPr>
        <p:sp>
          <p:nvSpPr>
            <p:cNvPr id="49213" name="Line 94"/>
            <p:cNvSpPr/>
            <p:nvPr/>
          </p:nvSpPr>
          <p:spPr>
            <a:xfrm flipV="1">
              <a:off x="3290" y="2616"/>
              <a:ext cx="205" cy="205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14" name="Line 95"/>
            <p:cNvSpPr/>
            <p:nvPr/>
          </p:nvSpPr>
          <p:spPr>
            <a:xfrm flipV="1">
              <a:off x="3441" y="2717"/>
              <a:ext cx="121" cy="121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15" name="Freeform 96"/>
            <p:cNvSpPr/>
            <p:nvPr/>
          </p:nvSpPr>
          <p:spPr>
            <a:xfrm>
              <a:off x="3860" y="2078"/>
              <a:ext cx="332" cy="340"/>
            </a:xfrm>
            <a:custGeom>
              <a:avLst/>
              <a:gdLst>
                <a:gd name="txL" fmla="*/ 0 w 475"/>
                <a:gd name="txT" fmla="*/ 0 h 485"/>
                <a:gd name="txR" fmla="*/ 475 w 475"/>
                <a:gd name="txB" fmla="*/ 485 h 485"/>
              </a:gdLst>
              <a:ahLst/>
              <a:cxnLst>
                <a:cxn ang="0">
                  <a:pos x="0" y="238"/>
                </a:cxn>
                <a:cxn ang="0">
                  <a:pos x="232" y="0"/>
                </a:cxn>
              </a:cxnLst>
              <a:rect l="txL" t="txT" r="txR" b="txB"/>
              <a:pathLst>
                <a:path w="475" h="485">
                  <a:moveTo>
                    <a:pt x="0" y="485"/>
                  </a:moveTo>
                  <a:lnTo>
                    <a:pt x="475" y="0"/>
                  </a:lnTo>
                </a:path>
              </a:pathLst>
            </a:custGeom>
            <a:noFill/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9216" name="Freeform 97"/>
            <p:cNvSpPr/>
            <p:nvPr/>
          </p:nvSpPr>
          <p:spPr>
            <a:xfrm>
              <a:off x="3613" y="2196"/>
              <a:ext cx="638" cy="639"/>
            </a:xfrm>
            <a:custGeom>
              <a:avLst/>
              <a:gdLst>
                <a:gd name="txL" fmla="*/ 0 w 888"/>
                <a:gd name="txT" fmla="*/ 0 h 888"/>
                <a:gd name="txR" fmla="*/ 888 w 888"/>
                <a:gd name="txB" fmla="*/ 888 h 888"/>
              </a:gdLst>
              <a:ahLst/>
              <a:cxnLst>
                <a:cxn ang="0">
                  <a:pos x="0" y="460"/>
                </a:cxn>
                <a:cxn ang="0">
                  <a:pos x="458" y="0"/>
                </a:cxn>
              </a:cxnLst>
              <a:rect l="txL" t="txT" r="txR" b="txB"/>
              <a:pathLst>
                <a:path w="888" h="888">
                  <a:moveTo>
                    <a:pt x="0" y="888"/>
                  </a:moveTo>
                  <a:lnTo>
                    <a:pt x="888" y="0"/>
                  </a:lnTo>
                </a:path>
              </a:pathLst>
            </a:custGeom>
            <a:noFill/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9217" name="Freeform 98"/>
            <p:cNvSpPr/>
            <p:nvPr/>
          </p:nvSpPr>
          <p:spPr>
            <a:xfrm>
              <a:off x="3780" y="2297"/>
              <a:ext cx="538" cy="538"/>
            </a:xfrm>
            <a:custGeom>
              <a:avLst/>
              <a:gdLst>
                <a:gd name="txL" fmla="*/ 0 w 744"/>
                <a:gd name="txT" fmla="*/ 0 h 744"/>
                <a:gd name="txR" fmla="*/ 744 w 744"/>
                <a:gd name="txB" fmla="*/ 744 h 744"/>
              </a:gdLst>
              <a:ahLst/>
              <a:cxnLst>
                <a:cxn ang="0">
                  <a:pos x="0" y="389"/>
                </a:cxn>
                <a:cxn ang="0">
                  <a:pos x="389" y="0"/>
                </a:cxn>
              </a:cxnLst>
              <a:rect l="txL" t="txT" r="txR" b="txB"/>
              <a:pathLst>
                <a:path w="744" h="744">
                  <a:moveTo>
                    <a:pt x="0" y="744"/>
                  </a:moveTo>
                  <a:lnTo>
                    <a:pt x="744" y="0"/>
                  </a:lnTo>
                </a:path>
              </a:pathLst>
            </a:custGeom>
            <a:noFill/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9218" name="Freeform 99"/>
            <p:cNvSpPr/>
            <p:nvPr/>
          </p:nvSpPr>
          <p:spPr>
            <a:xfrm>
              <a:off x="3949" y="2405"/>
              <a:ext cx="426" cy="430"/>
            </a:xfrm>
            <a:custGeom>
              <a:avLst/>
              <a:gdLst>
                <a:gd name="txL" fmla="*/ 0 w 489"/>
                <a:gd name="txT" fmla="*/ 0 h 493"/>
                <a:gd name="txR" fmla="*/ 489 w 489"/>
                <a:gd name="txB" fmla="*/ 493 h 493"/>
              </a:gdLst>
              <a:ahLst/>
              <a:cxnLst>
                <a:cxn ang="0">
                  <a:pos x="0" y="375"/>
                </a:cxn>
                <a:cxn ang="0">
                  <a:pos x="371" y="0"/>
                </a:cxn>
              </a:cxnLst>
              <a:rect l="txL" t="txT" r="txR" b="txB"/>
              <a:pathLst>
                <a:path w="489" h="493">
                  <a:moveTo>
                    <a:pt x="0" y="493"/>
                  </a:moveTo>
                  <a:lnTo>
                    <a:pt x="489" y="0"/>
                  </a:lnTo>
                </a:path>
              </a:pathLst>
            </a:custGeom>
            <a:noFill/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9219" name="Line 100"/>
            <p:cNvSpPr/>
            <p:nvPr/>
          </p:nvSpPr>
          <p:spPr>
            <a:xfrm flipV="1">
              <a:off x="4112" y="2515"/>
              <a:ext cx="323" cy="323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20" name="Line 101"/>
            <p:cNvSpPr/>
            <p:nvPr/>
          </p:nvSpPr>
          <p:spPr>
            <a:xfrm flipV="1">
              <a:off x="4287" y="2616"/>
              <a:ext cx="216" cy="215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21" name="Freeform 102"/>
            <p:cNvSpPr/>
            <p:nvPr/>
          </p:nvSpPr>
          <p:spPr>
            <a:xfrm>
              <a:off x="4459" y="2726"/>
              <a:ext cx="101" cy="104"/>
            </a:xfrm>
            <a:custGeom>
              <a:avLst/>
              <a:gdLst>
                <a:gd name="txL" fmla="*/ 0 w 134"/>
                <a:gd name="txT" fmla="*/ 0 h 137"/>
                <a:gd name="txR" fmla="*/ 134 w 134"/>
                <a:gd name="txB" fmla="*/ 137 h 137"/>
              </a:gdLst>
              <a:ahLst/>
              <a:cxnLst>
                <a:cxn ang="0">
                  <a:pos x="0" y="79"/>
                </a:cxn>
                <a:cxn ang="0">
                  <a:pos x="76" y="0"/>
                </a:cxn>
              </a:cxnLst>
              <a:rect l="txL" t="txT" r="txR" b="txB"/>
              <a:pathLst>
                <a:path w="134" h="137">
                  <a:moveTo>
                    <a:pt x="0" y="137"/>
                  </a:moveTo>
                  <a:lnTo>
                    <a:pt x="134" y="0"/>
                  </a:lnTo>
                </a:path>
              </a:pathLst>
            </a:custGeom>
            <a:noFill/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9222" name="Line 103"/>
            <p:cNvSpPr/>
            <p:nvPr/>
          </p:nvSpPr>
          <p:spPr>
            <a:xfrm flipV="1">
              <a:off x="3112" y="2503"/>
              <a:ext cx="326" cy="328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23" name="Line 104"/>
            <p:cNvSpPr/>
            <p:nvPr/>
          </p:nvSpPr>
          <p:spPr>
            <a:xfrm flipV="1">
              <a:off x="2940" y="2403"/>
              <a:ext cx="432" cy="432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24" name="Line 105"/>
            <p:cNvSpPr/>
            <p:nvPr/>
          </p:nvSpPr>
          <p:spPr>
            <a:xfrm flipV="1">
              <a:off x="2783" y="2291"/>
              <a:ext cx="532" cy="533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25" name="Line 106"/>
            <p:cNvSpPr/>
            <p:nvPr/>
          </p:nvSpPr>
          <p:spPr>
            <a:xfrm flipV="1">
              <a:off x="2608" y="2178"/>
              <a:ext cx="652" cy="653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26" name="Line 107"/>
            <p:cNvSpPr/>
            <p:nvPr/>
          </p:nvSpPr>
          <p:spPr>
            <a:xfrm flipV="1">
              <a:off x="2837" y="2078"/>
              <a:ext cx="355" cy="355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9161" name="Freeform 108"/>
          <p:cNvSpPr/>
          <p:nvPr/>
        </p:nvSpPr>
        <p:spPr>
          <a:xfrm>
            <a:off x="3813175" y="3241675"/>
            <a:ext cx="3241675" cy="1195388"/>
          </a:xfrm>
          <a:custGeom>
            <a:avLst/>
            <a:gdLst>
              <a:gd name="txL" fmla="*/ 0 w 2042"/>
              <a:gd name="txT" fmla="*/ 0 h 753"/>
              <a:gd name="txR" fmla="*/ 2042 w 2042"/>
              <a:gd name="txB" fmla="*/ 753 h 753"/>
            </a:gdLst>
            <a:ahLst/>
            <a:cxnLst>
              <a:cxn ang="0">
                <a:pos x="0" y="1897679422"/>
              </a:cxn>
              <a:cxn ang="0">
                <a:pos x="88206266" y="1869956907"/>
              </a:cxn>
              <a:cxn ang="0">
                <a:pos x="161290011" y="1847276292"/>
              </a:cxn>
              <a:cxn ang="0">
                <a:pos x="1252518547" y="0"/>
              </a:cxn>
              <a:cxn ang="0">
                <a:pos x="1416327871" y="10080629"/>
              </a:cxn>
              <a:cxn ang="0">
                <a:pos x="2147483647" y="1869956907"/>
              </a:cxn>
              <a:cxn ang="0">
                <a:pos x="2147483647" y="1895158472"/>
              </a:cxn>
              <a:cxn ang="0">
                <a:pos x="2147483647" y="1857356918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2147483647" y="1834674716"/>
              </a:cxn>
              <a:cxn ang="0">
                <a:pos x="2147483647" y="1882558483"/>
              </a:cxn>
              <a:cxn ang="0">
                <a:pos x="2147483647" y="1882558483"/>
              </a:cxn>
            </a:cxnLst>
            <a:rect l="txL" t="txT" r="txR" b="txB"/>
            <a:pathLst>
              <a:path w="2042" h="753">
                <a:moveTo>
                  <a:pt x="0" y="753"/>
                </a:moveTo>
                <a:lnTo>
                  <a:pt x="35" y="742"/>
                </a:lnTo>
                <a:lnTo>
                  <a:pt x="64" y="733"/>
                </a:lnTo>
                <a:lnTo>
                  <a:pt x="497" y="0"/>
                </a:lnTo>
                <a:lnTo>
                  <a:pt x="562" y="4"/>
                </a:lnTo>
                <a:lnTo>
                  <a:pt x="981" y="742"/>
                </a:lnTo>
                <a:lnTo>
                  <a:pt x="1029" y="752"/>
                </a:lnTo>
                <a:lnTo>
                  <a:pt x="1072" y="737"/>
                </a:lnTo>
                <a:lnTo>
                  <a:pt x="1499" y="0"/>
                </a:lnTo>
                <a:lnTo>
                  <a:pt x="1559" y="0"/>
                </a:lnTo>
                <a:lnTo>
                  <a:pt x="1975" y="728"/>
                </a:lnTo>
                <a:lnTo>
                  <a:pt x="2008" y="747"/>
                </a:lnTo>
                <a:lnTo>
                  <a:pt x="2042" y="747"/>
                </a:lnTo>
              </a:path>
            </a:pathLst>
          </a:custGeom>
          <a:noFill/>
          <a:ln w="38100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9162" name="Line 109"/>
          <p:cNvSpPr/>
          <p:nvPr/>
        </p:nvSpPr>
        <p:spPr>
          <a:xfrm>
            <a:off x="414338" y="3236913"/>
            <a:ext cx="8045450" cy="0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63" name="Line 110"/>
          <p:cNvSpPr/>
          <p:nvPr/>
        </p:nvSpPr>
        <p:spPr>
          <a:xfrm>
            <a:off x="798513" y="4430713"/>
            <a:ext cx="6630987" cy="0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9164" name="Group 111"/>
          <p:cNvGrpSpPr/>
          <p:nvPr/>
        </p:nvGrpSpPr>
        <p:grpSpPr>
          <a:xfrm>
            <a:off x="460375" y="3259138"/>
            <a:ext cx="3444875" cy="1200150"/>
            <a:chOff x="475" y="2467"/>
            <a:chExt cx="2170" cy="756"/>
          </a:xfrm>
        </p:grpSpPr>
        <p:sp>
          <p:nvSpPr>
            <p:cNvPr id="49204" name="Line 112"/>
            <p:cNvSpPr/>
            <p:nvPr/>
          </p:nvSpPr>
          <p:spPr>
            <a:xfrm>
              <a:off x="536" y="2493"/>
              <a:ext cx="440" cy="73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05" name="Line 113"/>
            <p:cNvSpPr/>
            <p:nvPr/>
          </p:nvSpPr>
          <p:spPr>
            <a:xfrm flipV="1">
              <a:off x="1082" y="2493"/>
              <a:ext cx="434" cy="727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06" name="Line 114"/>
            <p:cNvSpPr/>
            <p:nvPr/>
          </p:nvSpPr>
          <p:spPr>
            <a:xfrm>
              <a:off x="1618" y="2484"/>
              <a:ext cx="450" cy="738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07" name="Line 115"/>
            <p:cNvSpPr/>
            <p:nvPr/>
          </p:nvSpPr>
          <p:spPr>
            <a:xfrm flipV="1">
              <a:off x="2160" y="2498"/>
              <a:ext cx="435" cy="723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08" name="Line 116"/>
            <p:cNvSpPr/>
            <p:nvPr/>
          </p:nvSpPr>
          <p:spPr>
            <a:xfrm>
              <a:off x="960" y="3216"/>
              <a:ext cx="125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09" name="Line 117"/>
            <p:cNvSpPr/>
            <p:nvPr/>
          </p:nvSpPr>
          <p:spPr>
            <a:xfrm>
              <a:off x="2054" y="3216"/>
              <a:ext cx="111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10" name="Freeform 118"/>
            <p:cNvSpPr/>
            <p:nvPr/>
          </p:nvSpPr>
          <p:spPr>
            <a:xfrm>
              <a:off x="1512" y="2467"/>
              <a:ext cx="120" cy="34"/>
            </a:xfrm>
            <a:custGeom>
              <a:avLst/>
              <a:gdLst>
                <a:gd name="txL" fmla="*/ 0 w 120"/>
                <a:gd name="txT" fmla="*/ 0 h 34"/>
                <a:gd name="txR" fmla="*/ 120 w 120"/>
                <a:gd name="txB" fmla="*/ 34 h 34"/>
              </a:gdLst>
              <a:ahLst/>
              <a:cxnLst>
                <a:cxn ang="0">
                  <a:pos x="0" y="29"/>
                </a:cxn>
                <a:cxn ang="0">
                  <a:pos x="43" y="5"/>
                </a:cxn>
                <a:cxn ang="0">
                  <a:pos x="82" y="5"/>
                </a:cxn>
                <a:cxn ang="0">
                  <a:pos x="120" y="34"/>
                </a:cxn>
              </a:cxnLst>
              <a:rect l="txL" t="txT" r="txR" b="txB"/>
              <a:pathLst>
                <a:path w="120" h="34">
                  <a:moveTo>
                    <a:pt x="0" y="29"/>
                  </a:moveTo>
                  <a:cubicBezTo>
                    <a:pt x="7" y="26"/>
                    <a:pt x="29" y="9"/>
                    <a:pt x="43" y="5"/>
                  </a:cubicBezTo>
                  <a:cubicBezTo>
                    <a:pt x="57" y="1"/>
                    <a:pt x="69" y="0"/>
                    <a:pt x="82" y="5"/>
                  </a:cubicBezTo>
                  <a:cubicBezTo>
                    <a:pt x="95" y="10"/>
                    <a:pt x="112" y="28"/>
                    <a:pt x="120" y="34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9211" name="Freeform 119"/>
            <p:cNvSpPr/>
            <p:nvPr/>
          </p:nvSpPr>
          <p:spPr>
            <a:xfrm>
              <a:off x="475" y="2467"/>
              <a:ext cx="63" cy="39"/>
            </a:xfrm>
            <a:custGeom>
              <a:avLst/>
              <a:gdLst>
                <a:gd name="txL" fmla="*/ 0 w 63"/>
                <a:gd name="txT" fmla="*/ 0 h 39"/>
                <a:gd name="txR" fmla="*/ 63 w 63"/>
                <a:gd name="txB" fmla="*/ 39 h 39"/>
              </a:gdLst>
              <a:ahLst/>
              <a:cxnLst>
                <a:cxn ang="0">
                  <a:pos x="63" y="39"/>
                </a:cxn>
                <a:cxn ang="0">
                  <a:pos x="43" y="15"/>
                </a:cxn>
                <a:cxn ang="0">
                  <a:pos x="0" y="0"/>
                </a:cxn>
              </a:cxnLst>
              <a:rect l="txL" t="txT" r="txR" b="txB"/>
              <a:pathLst>
                <a:path w="63" h="39">
                  <a:moveTo>
                    <a:pt x="63" y="39"/>
                  </a:moveTo>
                  <a:cubicBezTo>
                    <a:pt x="60" y="35"/>
                    <a:pt x="53" y="21"/>
                    <a:pt x="43" y="15"/>
                  </a:cubicBezTo>
                  <a:cubicBezTo>
                    <a:pt x="33" y="9"/>
                    <a:pt x="9" y="3"/>
                    <a:pt x="0" y="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9212" name="Freeform 120"/>
            <p:cNvSpPr/>
            <p:nvPr/>
          </p:nvSpPr>
          <p:spPr>
            <a:xfrm>
              <a:off x="2592" y="2467"/>
              <a:ext cx="53" cy="34"/>
            </a:xfrm>
            <a:custGeom>
              <a:avLst/>
              <a:gdLst>
                <a:gd name="txL" fmla="*/ 0 w 53"/>
                <a:gd name="txT" fmla="*/ 0 h 34"/>
                <a:gd name="txR" fmla="*/ 53 w 53"/>
                <a:gd name="txB" fmla="*/ 34 h 34"/>
              </a:gdLst>
              <a:ahLst/>
              <a:cxnLst>
                <a:cxn ang="0">
                  <a:pos x="0" y="34"/>
                </a:cxn>
                <a:cxn ang="0">
                  <a:pos x="24" y="10"/>
                </a:cxn>
                <a:cxn ang="0">
                  <a:pos x="53" y="0"/>
                </a:cxn>
              </a:cxnLst>
              <a:rect l="txL" t="txT" r="txR" b="txB"/>
              <a:pathLst>
                <a:path w="53" h="34">
                  <a:moveTo>
                    <a:pt x="0" y="34"/>
                  </a:moveTo>
                  <a:cubicBezTo>
                    <a:pt x="4" y="30"/>
                    <a:pt x="15" y="16"/>
                    <a:pt x="24" y="10"/>
                  </a:cubicBezTo>
                  <a:cubicBezTo>
                    <a:pt x="33" y="4"/>
                    <a:pt x="47" y="2"/>
                    <a:pt x="53" y="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9165" name="Group 121"/>
          <p:cNvGrpSpPr/>
          <p:nvPr/>
        </p:nvGrpSpPr>
        <p:grpSpPr>
          <a:xfrm>
            <a:off x="444500" y="2987675"/>
            <a:ext cx="3460750" cy="1357313"/>
            <a:chOff x="465" y="1847"/>
            <a:chExt cx="2180" cy="855"/>
          </a:xfrm>
        </p:grpSpPr>
        <p:sp>
          <p:nvSpPr>
            <p:cNvPr id="49190" name="Line 122"/>
            <p:cNvSpPr/>
            <p:nvPr/>
          </p:nvSpPr>
          <p:spPr>
            <a:xfrm>
              <a:off x="638" y="1866"/>
              <a:ext cx="610" cy="61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91" name="Line 123"/>
            <p:cNvSpPr/>
            <p:nvPr/>
          </p:nvSpPr>
          <p:spPr>
            <a:xfrm>
              <a:off x="816" y="1856"/>
              <a:ext cx="503" cy="503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92" name="Line 124"/>
            <p:cNvSpPr/>
            <p:nvPr/>
          </p:nvSpPr>
          <p:spPr>
            <a:xfrm>
              <a:off x="465" y="1885"/>
              <a:ext cx="711" cy="7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93" name="Line 125"/>
            <p:cNvSpPr/>
            <p:nvPr/>
          </p:nvSpPr>
          <p:spPr>
            <a:xfrm>
              <a:off x="686" y="2284"/>
              <a:ext cx="418" cy="418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94" name="Line 126"/>
            <p:cNvSpPr/>
            <p:nvPr/>
          </p:nvSpPr>
          <p:spPr>
            <a:xfrm>
              <a:off x="998" y="1847"/>
              <a:ext cx="394" cy="394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95" name="Line 127"/>
            <p:cNvSpPr/>
            <p:nvPr/>
          </p:nvSpPr>
          <p:spPr>
            <a:xfrm>
              <a:off x="1195" y="1847"/>
              <a:ext cx="269" cy="269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96" name="Line 128"/>
            <p:cNvSpPr/>
            <p:nvPr/>
          </p:nvSpPr>
          <p:spPr>
            <a:xfrm>
              <a:off x="1397" y="1847"/>
              <a:ext cx="158" cy="158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97" name="Line 129"/>
            <p:cNvSpPr/>
            <p:nvPr/>
          </p:nvSpPr>
          <p:spPr>
            <a:xfrm>
              <a:off x="1680" y="2135"/>
              <a:ext cx="533" cy="533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98" name="Line 130"/>
            <p:cNvSpPr/>
            <p:nvPr/>
          </p:nvSpPr>
          <p:spPr>
            <a:xfrm>
              <a:off x="1594" y="1852"/>
              <a:ext cx="695" cy="695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99" name="Line 131"/>
            <p:cNvSpPr/>
            <p:nvPr/>
          </p:nvSpPr>
          <p:spPr>
            <a:xfrm>
              <a:off x="1786" y="1852"/>
              <a:ext cx="576" cy="576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00" name="Line 132"/>
            <p:cNvSpPr/>
            <p:nvPr/>
          </p:nvSpPr>
          <p:spPr>
            <a:xfrm>
              <a:off x="1982" y="1852"/>
              <a:ext cx="452" cy="452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01" name="Line 133"/>
            <p:cNvSpPr/>
            <p:nvPr/>
          </p:nvSpPr>
          <p:spPr>
            <a:xfrm>
              <a:off x="2189" y="1847"/>
              <a:ext cx="326" cy="326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02" name="Line 134"/>
            <p:cNvSpPr/>
            <p:nvPr/>
          </p:nvSpPr>
          <p:spPr>
            <a:xfrm>
              <a:off x="2386" y="1852"/>
              <a:ext cx="196" cy="196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03" name="Line 135"/>
            <p:cNvSpPr/>
            <p:nvPr/>
          </p:nvSpPr>
          <p:spPr>
            <a:xfrm>
              <a:off x="2573" y="1847"/>
              <a:ext cx="72" cy="72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9166" name="Group 136"/>
          <p:cNvGrpSpPr/>
          <p:nvPr/>
        </p:nvGrpSpPr>
        <p:grpSpPr>
          <a:xfrm>
            <a:off x="323850" y="4430713"/>
            <a:ext cx="1343025" cy="927100"/>
            <a:chOff x="298" y="3244"/>
            <a:chExt cx="846" cy="584"/>
          </a:xfrm>
        </p:grpSpPr>
        <p:sp>
          <p:nvSpPr>
            <p:cNvPr id="49188" name="Text Box 137"/>
            <p:cNvSpPr txBox="1"/>
            <p:nvPr/>
          </p:nvSpPr>
          <p:spPr>
            <a:xfrm>
              <a:off x="298" y="3463"/>
              <a:ext cx="84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3200" b="1" dirty="0">
                  <a:latin typeface="Arial" panose="020B0604020202020204" pitchFamily="34" charset="0"/>
                  <a:ea typeface="ˎ̥"/>
                </a:rPr>
                <a:t>牙顶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9189" name="Line 138"/>
            <p:cNvSpPr/>
            <p:nvPr/>
          </p:nvSpPr>
          <p:spPr>
            <a:xfrm flipV="1">
              <a:off x="701" y="3244"/>
              <a:ext cx="273" cy="27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</p:grpSp>
      <p:grpSp>
        <p:nvGrpSpPr>
          <p:cNvPr id="49167" name="Group 139"/>
          <p:cNvGrpSpPr/>
          <p:nvPr/>
        </p:nvGrpSpPr>
        <p:grpSpPr>
          <a:xfrm>
            <a:off x="2163763" y="2200275"/>
            <a:ext cx="1130300" cy="992188"/>
            <a:chOff x="436" y="1802"/>
            <a:chExt cx="712" cy="625"/>
          </a:xfrm>
        </p:grpSpPr>
        <p:sp>
          <p:nvSpPr>
            <p:cNvPr id="49186" name="Text Box 140"/>
            <p:cNvSpPr txBox="1"/>
            <p:nvPr/>
          </p:nvSpPr>
          <p:spPr>
            <a:xfrm>
              <a:off x="436" y="1802"/>
              <a:ext cx="71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3200" b="1" dirty="0">
                  <a:latin typeface="Arial" panose="020B0604020202020204" pitchFamily="34" charset="0"/>
                  <a:ea typeface="ˎ̥"/>
                </a:rPr>
                <a:t>牙底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9187" name="Line 141"/>
            <p:cNvSpPr/>
            <p:nvPr/>
          </p:nvSpPr>
          <p:spPr>
            <a:xfrm flipV="1">
              <a:off x="493" y="2128"/>
              <a:ext cx="299" cy="2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triangle" w="sm" len="lg"/>
              <a:tailEnd type="none" w="med" len="med"/>
            </a:ln>
          </p:spPr>
        </p:sp>
      </p:grpSp>
      <p:grpSp>
        <p:nvGrpSpPr>
          <p:cNvPr id="49168" name="Group 142"/>
          <p:cNvGrpSpPr/>
          <p:nvPr/>
        </p:nvGrpSpPr>
        <p:grpSpPr>
          <a:xfrm>
            <a:off x="5327650" y="4430713"/>
            <a:ext cx="1538288" cy="793750"/>
            <a:chOff x="3593" y="3257"/>
            <a:chExt cx="969" cy="500"/>
          </a:xfrm>
        </p:grpSpPr>
        <p:sp>
          <p:nvSpPr>
            <p:cNvPr id="49184" name="Text Box 143"/>
            <p:cNvSpPr txBox="1"/>
            <p:nvPr/>
          </p:nvSpPr>
          <p:spPr>
            <a:xfrm>
              <a:off x="3593" y="3392"/>
              <a:ext cx="969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3200" b="1" dirty="0">
                  <a:latin typeface="Arial" panose="020B0604020202020204" pitchFamily="34" charset="0"/>
                  <a:ea typeface="ˎ̥"/>
                </a:rPr>
                <a:t>牙底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9185" name="Line 144"/>
            <p:cNvSpPr/>
            <p:nvPr/>
          </p:nvSpPr>
          <p:spPr>
            <a:xfrm flipH="1" flipV="1">
              <a:off x="3677" y="3257"/>
              <a:ext cx="382" cy="22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</p:grpSp>
      <p:grpSp>
        <p:nvGrpSpPr>
          <p:cNvPr id="49169" name="Group 145"/>
          <p:cNvGrpSpPr/>
          <p:nvPr/>
        </p:nvGrpSpPr>
        <p:grpSpPr>
          <a:xfrm>
            <a:off x="6029325" y="2413000"/>
            <a:ext cx="1273175" cy="844550"/>
            <a:chOff x="3983" y="1895"/>
            <a:chExt cx="802" cy="532"/>
          </a:xfrm>
        </p:grpSpPr>
        <p:sp>
          <p:nvSpPr>
            <p:cNvPr id="49182" name="Text Box 146"/>
            <p:cNvSpPr txBox="1"/>
            <p:nvPr/>
          </p:nvSpPr>
          <p:spPr>
            <a:xfrm>
              <a:off x="3983" y="1895"/>
              <a:ext cx="80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3200" b="1" dirty="0">
                  <a:latin typeface="Arial" panose="020B0604020202020204" pitchFamily="34" charset="0"/>
                  <a:ea typeface="ˎ̥"/>
                </a:rPr>
                <a:t>牙顶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9183" name="Line 147"/>
            <p:cNvSpPr/>
            <p:nvPr/>
          </p:nvSpPr>
          <p:spPr>
            <a:xfrm flipH="1">
              <a:off x="4137" y="2219"/>
              <a:ext cx="208" cy="20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</p:grpSp>
      <p:sp>
        <p:nvSpPr>
          <p:cNvPr id="49170" name="Line 148"/>
          <p:cNvSpPr/>
          <p:nvPr/>
        </p:nvSpPr>
        <p:spPr>
          <a:xfrm>
            <a:off x="8272463" y="3194050"/>
            <a:ext cx="0" cy="1998663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triangle" w="sm" len="lg"/>
            <a:tailEnd type="none" w="med" len="med"/>
          </a:ln>
        </p:spPr>
      </p:sp>
      <p:sp>
        <p:nvSpPr>
          <p:cNvPr id="49171" name="Text Box 149"/>
          <p:cNvSpPr txBox="1"/>
          <p:nvPr/>
        </p:nvSpPr>
        <p:spPr>
          <a:xfrm rot="-5400000">
            <a:off x="7278688" y="3949700"/>
            <a:ext cx="15700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b="1" dirty="0">
                <a:latin typeface="Arial" panose="020B0604020202020204" pitchFamily="34" charset="0"/>
                <a:ea typeface="ˎ̥"/>
              </a:rPr>
              <a:t>大径</a:t>
            </a:r>
            <a:r>
              <a:rPr lang="zh-CN" altLang="en-US" sz="2400" b="1" dirty="0">
                <a:latin typeface="Times New Roman" panose="02020603050405020304" pitchFamily="18" charset="0"/>
                <a:ea typeface="ˎ̥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ˎ̥"/>
              </a:rPr>
              <a:t>D</a:t>
            </a:r>
            <a:r>
              <a:rPr lang="zh-CN" altLang="en-US" sz="2400" b="1" dirty="0">
                <a:latin typeface="Arial" panose="020B0604020202020204" pitchFamily="34" charset="0"/>
                <a:ea typeface="ˎ̥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ˎ̥"/>
              </a:rPr>
              <a:t>d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49172" name="Text Box 150"/>
          <p:cNvSpPr txBox="1"/>
          <p:nvPr/>
        </p:nvSpPr>
        <p:spPr>
          <a:xfrm rot="-5400000">
            <a:off x="6175375" y="5038725"/>
            <a:ext cx="1797050" cy="4572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 eaLnBrk="0" hangingPunct="0"/>
            <a:r>
              <a:rPr lang="zh-CN" altLang="en-US" sz="2400" b="1" dirty="0">
                <a:latin typeface="Arial" panose="020B0604020202020204" pitchFamily="34" charset="0"/>
                <a:ea typeface="ˎ̥"/>
              </a:rPr>
              <a:t>小径</a:t>
            </a:r>
            <a:r>
              <a:rPr lang="en-US" altLang="zh-CN" sz="2400" b="1" dirty="0">
                <a:latin typeface="Times New Roman" panose="02020603050405020304" pitchFamily="18" charset="0"/>
                <a:ea typeface="ˎ̥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ˎ̥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  <a:ea typeface="ˎ̥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ˎ̥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ˎ̥"/>
              </a:rPr>
              <a:t>1</a:t>
            </a:r>
            <a:r>
              <a:rPr lang="en-US" altLang="zh-CN" sz="2400" dirty="0">
                <a:latin typeface="Arial" panose="020B0604020202020204" pitchFamily="34" charset="0"/>
                <a:ea typeface="ˎ̥"/>
              </a:rPr>
              <a:t> 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49173" name="Line 151"/>
          <p:cNvSpPr/>
          <p:nvPr/>
        </p:nvSpPr>
        <p:spPr>
          <a:xfrm>
            <a:off x="7323138" y="4419600"/>
            <a:ext cx="0" cy="1666875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triangle" w="sm" len="lg"/>
            <a:tailEnd type="none" w="med" len="med"/>
          </a:ln>
        </p:spPr>
      </p:sp>
      <p:sp>
        <p:nvSpPr>
          <p:cNvPr id="97432" name="Line 152"/>
          <p:cNvSpPr/>
          <p:nvPr/>
        </p:nvSpPr>
        <p:spPr>
          <a:xfrm>
            <a:off x="777875" y="3833813"/>
            <a:ext cx="7105650" cy="0"/>
          </a:xfrm>
          <a:prstGeom prst="line">
            <a:avLst/>
          </a:prstGeom>
          <a:ln w="19050" cap="flat" cmpd="sng">
            <a:solidFill>
              <a:srgbClr val="000000"/>
            </a:solidFill>
            <a:prstDash val="lgDashDot"/>
            <a:headEnd type="none" w="med" len="med"/>
            <a:tailEnd type="none" w="med" len="med"/>
          </a:ln>
        </p:spPr>
      </p:sp>
      <p:sp>
        <p:nvSpPr>
          <p:cNvPr id="97433" name="Line 153"/>
          <p:cNvSpPr/>
          <p:nvPr/>
        </p:nvSpPr>
        <p:spPr>
          <a:xfrm>
            <a:off x="7759700" y="3833813"/>
            <a:ext cx="0" cy="1874837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triangle" w="sm" len="lg"/>
            <a:tailEnd type="none" w="med" len="med"/>
          </a:ln>
        </p:spPr>
      </p:sp>
      <p:pic>
        <p:nvPicPr>
          <p:cNvPr id="97434" name="Picture 154" descr="文本框: 中径D2、d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0288" y="4360863"/>
            <a:ext cx="381000" cy="1438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7435" name="Text Box 155"/>
          <p:cNvSpPr txBox="1"/>
          <p:nvPr/>
        </p:nvSpPr>
        <p:spPr>
          <a:xfrm>
            <a:off x="468313" y="903288"/>
            <a:ext cx="20224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3300"/>
                </a:solidFill>
                <a:latin typeface="Arial" panose="020B0604020202020204" pitchFamily="34" charset="0"/>
                <a:ea typeface="ˎ̥"/>
              </a:rPr>
              <a:t>螺纹的中径：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97436" name="Rectangle 156"/>
          <p:cNvSpPr/>
          <p:nvPr/>
        </p:nvSpPr>
        <p:spPr>
          <a:xfrm>
            <a:off x="755650" y="1479550"/>
            <a:ext cx="7993063" cy="701675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ˎ̥"/>
              </a:rPr>
              <a:t>  一个假想圆柱的直径。该圆柱的母线通过牙型上</a:t>
            </a:r>
            <a:r>
              <a:rPr lang="zh-CN" altLang="en-US" sz="2000" b="1" dirty="0">
                <a:solidFill>
                  <a:srgbClr val="FF3300"/>
                </a:solidFill>
                <a:latin typeface="宋体" panose="02010600030101010101" pitchFamily="2" charset="-122"/>
                <a:ea typeface="ˎ̥"/>
              </a:rPr>
              <a:t>沟槽和凸起宽度相等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ˎ̥"/>
              </a:rPr>
              <a:t>的地方。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  <p:sp>
        <p:nvSpPr>
          <p:cNvPr id="97437" name="Line 157"/>
          <p:cNvSpPr/>
          <p:nvPr/>
        </p:nvSpPr>
        <p:spPr>
          <a:xfrm>
            <a:off x="4240213" y="3836988"/>
            <a:ext cx="792162" cy="0"/>
          </a:xfrm>
          <a:prstGeom prst="line">
            <a:avLst/>
          </a:prstGeom>
          <a:ln w="2540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7438" name="Line 158"/>
          <p:cNvSpPr/>
          <p:nvPr/>
        </p:nvSpPr>
        <p:spPr>
          <a:xfrm>
            <a:off x="5041900" y="3836988"/>
            <a:ext cx="792163" cy="0"/>
          </a:xfrm>
          <a:prstGeom prst="line">
            <a:avLst/>
          </a:prstGeom>
          <a:ln w="2540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43051" name="组合 343050"/>
          <p:cNvGrpSpPr/>
          <p:nvPr/>
        </p:nvGrpSpPr>
        <p:grpSpPr>
          <a:xfrm>
            <a:off x="333375" y="81216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33" name="Rectangle 17"/>
          <p:cNvSpPr/>
          <p:nvPr/>
        </p:nvSpPr>
        <p:spPr>
          <a:xfrm>
            <a:off x="263525" y="215900"/>
            <a:ext cx="373316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1</a:t>
            </a:r>
            <a:r>
              <a:rPr lang="zh-CN" altLang="en-US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、螺纹的五要素</a:t>
            </a:r>
            <a:endParaRPr lang="zh-CN" altLang="en-US" sz="28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7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9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9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435" grpId="0"/>
      <p:bldP spid="97436" grpId="0" bldLvl="0" animBg="1"/>
      <p:bldP spid="92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5003800" y="4508500"/>
            <a:ext cx="2209800" cy="1133475"/>
            <a:chOff x="3225" y="2492"/>
            <a:chExt cx="1392" cy="714"/>
          </a:xfrm>
        </p:grpSpPr>
        <p:pic>
          <p:nvPicPr>
            <p:cNvPr id="51234" name="Picture 8" descr="螺纹线数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225" y="2492"/>
              <a:ext cx="1392" cy="714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51235" name="Group 9"/>
            <p:cNvGrpSpPr/>
            <p:nvPr/>
          </p:nvGrpSpPr>
          <p:grpSpPr>
            <a:xfrm>
              <a:off x="4186" y="2563"/>
              <a:ext cx="377" cy="613"/>
              <a:chOff x="4186" y="2563"/>
              <a:chExt cx="377" cy="613"/>
            </a:xfrm>
          </p:grpSpPr>
          <p:sp>
            <p:nvSpPr>
              <p:cNvPr id="51242" name="Freeform 10"/>
              <p:cNvSpPr/>
              <p:nvPr/>
            </p:nvSpPr>
            <p:spPr>
              <a:xfrm>
                <a:off x="4219" y="2563"/>
                <a:ext cx="250" cy="591"/>
              </a:xfrm>
              <a:custGeom>
                <a:avLst/>
                <a:gdLst>
                  <a:gd name="txL" fmla="*/ 0 w 250"/>
                  <a:gd name="txT" fmla="*/ 0 h 591"/>
                  <a:gd name="txR" fmla="*/ 250 w 250"/>
                  <a:gd name="txB" fmla="*/ 591 h 591"/>
                </a:gdLst>
                <a:ahLst/>
                <a:cxnLst>
                  <a:cxn ang="0">
                    <a:pos x="0" y="0"/>
                  </a:cxn>
                  <a:cxn ang="0">
                    <a:pos x="72" y="0"/>
                  </a:cxn>
                  <a:cxn ang="0">
                    <a:pos x="96" y="58"/>
                  </a:cxn>
                  <a:cxn ang="0">
                    <a:pos x="120" y="125"/>
                  </a:cxn>
                  <a:cxn ang="0">
                    <a:pos x="135" y="173"/>
                  </a:cxn>
                  <a:cxn ang="0">
                    <a:pos x="144" y="235"/>
                  </a:cxn>
                  <a:cxn ang="0">
                    <a:pos x="163" y="303"/>
                  </a:cxn>
                  <a:cxn ang="0">
                    <a:pos x="183" y="375"/>
                  </a:cxn>
                  <a:cxn ang="0">
                    <a:pos x="202" y="432"/>
                  </a:cxn>
                  <a:cxn ang="0">
                    <a:pos x="216" y="475"/>
                  </a:cxn>
                  <a:cxn ang="0">
                    <a:pos x="235" y="533"/>
                  </a:cxn>
                  <a:cxn ang="0">
                    <a:pos x="250" y="571"/>
                  </a:cxn>
                  <a:cxn ang="0">
                    <a:pos x="202" y="591"/>
                  </a:cxn>
                  <a:cxn ang="0">
                    <a:pos x="173" y="547"/>
                  </a:cxn>
                  <a:cxn ang="0">
                    <a:pos x="159" y="495"/>
                  </a:cxn>
                  <a:cxn ang="0">
                    <a:pos x="135" y="418"/>
                  </a:cxn>
                  <a:cxn ang="0">
                    <a:pos x="111" y="317"/>
                  </a:cxn>
                  <a:cxn ang="0">
                    <a:pos x="96" y="240"/>
                  </a:cxn>
                  <a:cxn ang="0">
                    <a:pos x="67" y="139"/>
                  </a:cxn>
                  <a:cxn ang="0">
                    <a:pos x="39" y="67"/>
                  </a:cxn>
                  <a:cxn ang="0">
                    <a:pos x="0" y="0"/>
                  </a:cxn>
                </a:cxnLst>
                <a:rect l="txL" t="txT" r="txR" b="txB"/>
                <a:pathLst>
                  <a:path w="250" h="591">
                    <a:moveTo>
                      <a:pt x="0" y="0"/>
                    </a:moveTo>
                    <a:lnTo>
                      <a:pt x="72" y="0"/>
                    </a:lnTo>
                    <a:lnTo>
                      <a:pt x="96" y="58"/>
                    </a:lnTo>
                    <a:lnTo>
                      <a:pt x="120" y="125"/>
                    </a:lnTo>
                    <a:lnTo>
                      <a:pt x="135" y="173"/>
                    </a:lnTo>
                    <a:lnTo>
                      <a:pt x="144" y="235"/>
                    </a:lnTo>
                    <a:lnTo>
                      <a:pt x="163" y="303"/>
                    </a:lnTo>
                    <a:lnTo>
                      <a:pt x="183" y="375"/>
                    </a:lnTo>
                    <a:lnTo>
                      <a:pt x="202" y="432"/>
                    </a:lnTo>
                    <a:lnTo>
                      <a:pt x="216" y="475"/>
                    </a:lnTo>
                    <a:lnTo>
                      <a:pt x="235" y="533"/>
                    </a:lnTo>
                    <a:lnTo>
                      <a:pt x="250" y="571"/>
                    </a:lnTo>
                    <a:lnTo>
                      <a:pt x="202" y="591"/>
                    </a:lnTo>
                    <a:lnTo>
                      <a:pt x="173" y="547"/>
                    </a:lnTo>
                    <a:lnTo>
                      <a:pt x="159" y="495"/>
                    </a:lnTo>
                    <a:lnTo>
                      <a:pt x="135" y="418"/>
                    </a:lnTo>
                    <a:lnTo>
                      <a:pt x="111" y="317"/>
                    </a:lnTo>
                    <a:lnTo>
                      <a:pt x="96" y="240"/>
                    </a:lnTo>
                    <a:lnTo>
                      <a:pt x="67" y="139"/>
                    </a:lnTo>
                    <a:lnTo>
                      <a:pt x="39" y="67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50000">
                    <a:srgbClr val="FF3300"/>
                  </a:gs>
                  <a:gs pos="100000">
                    <a:srgbClr val="761800"/>
                  </a:gs>
                </a:gsLst>
                <a:lin ang="5400000" scaled="1"/>
                <a:tileRect/>
              </a:gradFill>
              <a:ln w="190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1243" name="Freeform 11"/>
              <p:cNvSpPr/>
              <p:nvPr/>
            </p:nvSpPr>
            <p:spPr>
              <a:xfrm>
                <a:off x="4186" y="2573"/>
                <a:ext cx="163" cy="398"/>
              </a:xfrm>
              <a:custGeom>
                <a:avLst/>
                <a:gdLst>
                  <a:gd name="txL" fmla="*/ 0 w 163"/>
                  <a:gd name="txT" fmla="*/ 0 h 398"/>
                  <a:gd name="txR" fmla="*/ 163 w 163"/>
                  <a:gd name="txB" fmla="*/ 398 h 398"/>
                </a:gdLst>
                <a:ahLst/>
                <a:cxnLst>
                  <a:cxn ang="0">
                    <a:pos x="0" y="101"/>
                  </a:cxn>
                  <a:cxn ang="0">
                    <a:pos x="9" y="57"/>
                  </a:cxn>
                  <a:cxn ang="0">
                    <a:pos x="19" y="24"/>
                  </a:cxn>
                  <a:cxn ang="0">
                    <a:pos x="33" y="0"/>
                  </a:cxn>
                  <a:cxn ang="0">
                    <a:pos x="57" y="24"/>
                  </a:cxn>
                  <a:cxn ang="0">
                    <a:pos x="76" y="67"/>
                  </a:cxn>
                  <a:cxn ang="0">
                    <a:pos x="100" y="139"/>
                  </a:cxn>
                  <a:cxn ang="0">
                    <a:pos x="120" y="221"/>
                  </a:cxn>
                  <a:cxn ang="0">
                    <a:pos x="139" y="283"/>
                  </a:cxn>
                  <a:cxn ang="0">
                    <a:pos x="148" y="355"/>
                  </a:cxn>
                  <a:cxn ang="0">
                    <a:pos x="163" y="398"/>
                  </a:cxn>
                  <a:cxn ang="0">
                    <a:pos x="144" y="336"/>
                  </a:cxn>
                  <a:cxn ang="0">
                    <a:pos x="115" y="264"/>
                  </a:cxn>
                  <a:cxn ang="0">
                    <a:pos x="72" y="177"/>
                  </a:cxn>
                  <a:cxn ang="0">
                    <a:pos x="43" y="129"/>
                  </a:cxn>
                  <a:cxn ang="0">
                    <a:pos x="0" y="101"/>
                  </a:cxn>
                </a:cxnLst>
                <a:rect l="txL" t="txT" r="txR" b="txB"/>
                <a:pathLst>
                  <a:path w="163" h="398">
                    <a:moveTo>
                      <a:pt x="0" y="101"/>
                    </a:moveTo>
                    <a:lnTo>
                      <a:pt x="9" y="57"/>
                    </a:lnTo>
                    <a:lnTo>
                      <a:pt x="19" y="24"/>
                    </a:lnTo>
                    <a:lnTo>
                      <a:pt x="33" y="0"/>
                    </a:lnTo>
                    <a:lnTo>
                      <a:pt x="57" y="24"/>
                    </a:lnTo>
                    <a:lnTo>
                      <a:pt x="76" y="67"/>
                    </a:lnTo>
                    <a:lnTo>
                      <a:pt x="100" y="139"/>
                    </a:lnTo>
                    <a:lnTo>
                      <a:pt x="120" y="221"/>
                    </a:lnTo>
                    <a:lnTo>
                      <a:pt x="139" y="283"/>
                    </a:lnTo>
                    <a:lnTo>
                      <a:pt x="148" y="355"/>
                    </a:lnTo>
                    <a:lnTo>
                      <a:pt x="163" y="398"/>
                    </a:lnTo>
                    <a:lnTo>
                      <a:pt x="144" y="336"/>
                    </a:lnTo>
                    <a:lnTo>
                      <a:pt x="115" y="264"/>
                    </a:lnTo>
                    <a:lnTo>
                      <a:pt x="72" y="177"/>
                    </a:lnTo>
                    <a:lnTo>
                      <a:pt x="43" y="129"/>
                    </a:lnTo>
                    <a:lnTo>
                      <a:pt x="0" y="1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100000">
                    <a:srgbClr val="FF3300"/>
                  </a:gs>
                </a:gsLst>
                <a:lin ang="0" scaled="1"/>
                <a:tileRect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1244" name="Freeform 12"/>
              <p:cNvSpPr/>
              <p:nvPr/>
            </p:nvSpPr>
            <p:spPr>
              <a:xfrm>
                <a:off x="4339" y="2698"/>
                <a:ext cx="173" cy="427"/>
              </a:xfrm>
              <a:custGeom>
                <a:avLst/>
                <a:gdLst>
                  <a:gd name="txL" fmla="*/ 0 w 173"/>
                  <a:gd name="txT" fmla="*/ 0 h 427"/>
                  <a:gd name="txR" fmla="*/ 173 w 173"/>
                  <a:gd name="txB" fmla="*/ 427 h 427"/>
                </a:gdLst>
                <a:ahLst/>
                <a:cxnLst>
                  <a:cxn ang="0">
                    <a:pos x="0" y="0"/>
                  </a:cxn>
                  <a:cxn ang="0">
                    <a:pos x="39" y="81"/>
                  </a:cxn>
                  <a:cxn ang="0">
                    <a:pos x="72" y="196"/>
                  </a:cxn>
                  <a:cxn ang="0">
                    <a:pos x="96" y="254"/>
                  </a:cxn>
                  <a:cxn ang="0">
                    <a:pos x="115" y="288"/>
                  </a:cxn>
                  <a:cxn ang="0">
                    <a:pos x="144" y="312"/>
                  </a:cxn>
                  <a:cxn ang="0">
                    <a:pos x="173" y="316"/>
                  </a:cxn>
                  <a:cxn ang="0">
                    <a:pos x="173" y="364"/>
                  </a:cxn>
                  <a:cxn ang="0">
                    <a:pos x="168" y="408"/>
                  </a:cxn>
                  <a:cxn ang="0">
                    <a:pos x="149" y="427"/>
                  </a:cxn>
                  <a:cxn ang="0">
                    <a:pos x="130" y="412"/>
                  </a:cxn>
                  <a:cxn ang="0">
                    <a:pos x="115" y="388"/>
                  </a:cxn>
                  <a:cxn ang="0">
                    <a:pos x="106" y="355"/>
                  </a:cxn>
                  <a:cxn ang="0">
                    <a:pos x="91" y="302"/>
                  </a:cxn>
                  <a:cxn ang="0">
                    <a:pos x="58" y="216"/>
                  </a:cxn>
                  <a:cxn ang="0">
                    <a:pos x="34" y="144"/>
                  </a:cxn>
                  <a:cxn ang="0">
                    <a:pos x="0" y="0"/>
                  </a:cxn>
                </a:cxnLst>
                <a:rect l="txL" t="txT" r="txR" b="txB"/>
                <a:pathLst>
                  <a:path w="173" h="427">
                    <a:moveTo>
                      <a:pt x="0" y="0"/>
                    </a:moveTo>
                    <a:lnTo>
                      <a:pt x="39" y="81"/>
                    </a:lnTo>
                    <a:lnTo>
                      <a:pt x="72" y="196"/>
                    </a:lnTo>
                    <a:lnTo>
                      <a:pt x="96" y="254"/>
                    </a:lnTo>
                    <a:lnTo>
                      <a:pt x="115" y="288"/>
                    </a:lnTo>
                    <a:lnTo>
                      <a:pt x="144" y="312"/>
                    </a:lnTo>
                    <a:lnTo>
                      <a:pt x="173" y="316"/>
                    </a:lnTo>
                    <a:lnTo>
                      <a:pt x="173" y="364"/>
                    </a:lnTo>
                    <a:lnTo>
                      <a:pt x="168" y="408"/>
                    </a:lnTo>
                    <a:lnTo>
                      <a:pt x="149" y="427"/>
                    </a:lnTo>
                    <a:lnTo>
                      <a:pt x="130" y="412"/>
                    </a:lnTo>
                    <a:lnTo>
                      <a:pt x="115" y="388"/>
                    </a:lnTo>
                    <a:lnTo>
                      <a:pt x="106" y="355"/>
                    </a:lnTo>
                    <a:lnTo>
                      <a:pt x="91" y="302"/>
                    </a:lnTo>
                    <a:lnTo>
                      <a:pt x="58" y="216"/>
                    </a:lnTo>
                    <a:lnTo>
                      <a:pt x="34" y="144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100000">
                    <a:srgbClr val="FF3300"/>
                  </a:gs>
                </a:gsLst>
                <a:lin ang="0" scaled="1"/>
                <a:tileRect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1245" name="Rectangle 13"/>
              <p:cNvSpPr/>
              <p:nvPr/>
            </p:nvSpPr>
            <p:spPr>
              <a:xfrm>
                <a:off x="4348" y="3128"/>
                <a:ext cx="215" cy="48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51236" name="Group 14"/>
            <p:cNvGrpSpPr/>
            <p:nvPr/>
          </p:nvGrpSpPr>
          <p:grpSpPr>
            <a:xfrm>
              <a:off x="3840" y="2564"/>
              <a:ext cx="377" cy="613"/>
              <a:chOff x="4186" y="2563"/>
              <a:chExt cx="377" cy="613"/>
            </a:xfrm>
          </p:grpSpPr>
          <p:sp>
            <p:nvSpPr>
              <p:cNvPr id="51238" name="Freeform 15"/>
              <p:cNvSpPr/>
              <p:nvPr/>
            </p:nvSpPr>
            <p:spPr>
              <a:xfrm>
                <a:off x="4219" y="2563"/>
                <a:ext cx="250" cy="591"/>
              </a:xfrm>
              <a:custGeom>
                <a:avLst/>
                <a:gdLst>
                  <a:gd name="txL" fmla="*/ 0 w 250"/>
                  <a:gd name="txT" fmla="*/ 0 h 591"/>
                  <a:gd name="txR" fmla="*/ 250 w 250"/>
                  <a:gd name="txB" fmla="*/ 591 h 591"/>
                </a:gdLst>
                <a:ahLst/>
                <a:cxnLst>
                  <a:cxn ang="0">
                    <a:pos x="0" y="0"/>
                  </a:cxn>
                  <a:cxn ang="0">
                    <a:pos x="72" y="0"/>
                  </a:cxn>
                  <a:cxn ang="0">
                    <a:pos x="96" y="58"/>
                  </a:cxn>
                  <a:cxn ang="0">
                    <a:pos x="120" y="125"/>
                  </a:cxn>
                  <a:cxn ang="0">
                    <a:pos x="135" y="173"/>
                  </a:cxn>
                  <a:cxn ang="0">
                    <a:pos x="144" y="235"/>
                  </a:cxn>
                  <a:cxn ang="0">
                    <a:pos x="163" y="303"/>
                  </a:cxn>
                  <a:cxn ang="0">
                    <a:pos x="183" y="375"/>
                  </a:cxn>
                  <a:cxn ang="0">
                    <a:pos x="202" y="432"/>
                  </a:cxn>
                  <a:cxn ang="0">
                    <a:pos x="216" y="475"/>
                  </a:cxn>
                  <a:cxn ang="0">
                    <a:pos x="235" y="533"/>
                  </a:cxn>
                  <a:cxn ang="0">
                    <a:pos x="250" y="571"/>
                  </a:cxn>
                  <a:cxn ang="0">
                    <a:pos x="202" y="591"/>
                  </a:cxn>
                  <a:cxn ang="0">
                    <a:pos x="173" y="547"/>
                  </a:cxn>
                  <a:cxn ang="0">
                    <a:pos x="159" y="495"/>
                  </a:cxn>
                  <a:cxn ang="0">
                    <a:pos x="135" y="418"/>
                  </a:cxn>
                  <a:cxn ang="0">
                    <a:pos x="111" y="317"/>
                  </a:cxn>
                  <a:cxn ang="0">
                    <a:pos x="96" y="240"/>
                  </a:cxn>
                  <a:cxn ang="0">
                    <a:pos x="67" y="139"/>
                  </a:cxn>
                  <a:cxn ang="0">
                    <a:pos x="39" y="67"/>
                  </a:cxn>
                  <a:cxn ang="0">
                    <a:pos x="0" y="0"/>
                  </a:cxn>
                </a:cxnLst>
                <a:rect l="txL" t="txT" r="txR" b="txB"/>
                <a:pathLst>
                  <a:path w="250" h="591">
                    <a:moveTo>
                      <a:pt x="0" y="0"/>
                    </a:moveTo>
                    <a:lnTo>
                      <a:pt x="72" y="0"/>
                    </a:lnTo>
                    <a:lnTo>
                      <a:pt x="96" y="58"/>
                    </a:lnTo>
                    <a:lnTo>
                      <a:pt x="120" y="125"/>
                    </a:lnTo>
                    <a:lnTo>
                      <a:pt x="135" y="173"/>
                    </a:lnTo>
                    <a:lnTo>
                      <a:pt x="144" y="235"/>
                    </a:lnTo>
                    <a:lnTo>
                      <a:pt x="163" y="303"/>
                    </a:lnTo>
                    <a:lnTo>
                      <a:pt x="183" y="375"/>
                    </a:lnTo>
                    <a:lnTo>
                      <a:pt x="202" y="432"/>
                    </a:lnTo>
                    <a:lnTo>
                      <a:pt x="216" y="475"/>
                    </a:lnTo>
                    <a:lnTo>
                      <a:pt x="235" y="533"/>
                    </a:lnTo>
                    <a:lnTo>
                      <a:pt x="250" y="571"/>
                    </a:lnTo>
                    <a:lnTo>
                      <a:pt x="202" y="591"/>
                    </a:lnTo>
                    <a:lnTo>
                      <a:pt x="173" y="547"/>
                    </a:lnTo>
                    <a:lnTo>
                      <a:pt x="159" y="495"/>
                    </a:lnTo>
                    <a:lnTo>
                      <a:pt x="135" y="418"/>
                    </a:lnTo>
                    <a:lnTo>
                      <a:pt x="111" y="317"/>
                    </a:lnTo>
                    <a:lnTo>
                      <a:pt x="96" y="240"/>
                    </a:lnTo>
                    <a:lnTo>
                      <a:pt x="67" y="139"/>
                    </a:lnTo>
                    <a:lnTo>
                      <a:pt x="39" y="67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50000">
                    <a:srgbClr val="FF3300"/>
                  </a:gs>
                  <a:gs pos="100000">
                    <a:srgbClr val="761800"/>
                  </a:gs>
                </a:gsLst>
                <a:lin ang="5400000" scaled="1"/>
                <a:tileRect/>
              </a:gradFill>
              <a:ln w="190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1239" name="Freeform 16"/>
              <p:cNvSpPr/>
              <p:nvPr/>
            </p:nvSpPr>
            <p:spPr>
              <a:xfrm>
                <a:off x="4186" y="2573"/>
                <a:ext cx="163" cy="398"/>
              </a:xfrm>
              <a:custGeom>
                <a:avLst/>
                <a:gdLst>
                  <a:gd name="txL" fmla="*/ 0 w 163"/>
                  <a:gd name="txT" fmla="*/ 0 h 398"/>
                  <a:gd name="txR" fmla="*/ 163 w 163"/>
                  <a:gd name="txB" fmla="*/ 398 h 398"/>
                </a:gdLst>
                <a:ahLst/>
                <a:cxnLst>
                  <a:cxn ang="0">
                    <a:pos x="0" y="101"/>
                  </a:cxn>
                  <a:cxn ang="0">
                    <a:pos x="9" y="57"/>
                  </a:cxn>
                  <a:cxn ang="0">
                    <a:pos x="19" y="24"/>
                  </a:cxn>
                  <a:cxn ang="0">
                    <a:pos x="33" y="0"/>
                  </a:cxn>
                  <a:cxn ang="0">
                    <a:pos x="57" y="24"/>
                  </a:cxn>
                  <a:cxn ang="0">
                    <a:pos x="76" y="67"/>
                  </a:cxn>
                  <a:cxn ang="0">
                    <a:pos x="100" y="139"/>
                  </a:cxn>
                  <a:cxn ang="0">
                    <a:pos x="120" y="221"/>
                  </a:cxn>
                  <a:cxn ang="0">
                    <a:pos x="139" y="283"/>
                  </a:cxn>
                  <a:cxn ang="0">
                    <a:pos x="148" y="355"/>
                  </a:cxn>
                  <a:cxn ang="0">
                    <a:pos x="163" y="398"/>
                  </a:cxn>
                  <a:cxn ang="0">
                    <a:pos x="144" y="336"/>
                  </a:cxn>
                  <a:cxn ang="0">
                    <a:pos x="115" y="264"/>
                  </a:cxn>
                  <a:cxn ang="0">
                    <a:pos x="72" y="177"/>
                  </a:cxn>
                  <a:cxn ang="0">
                    <a:pos x="43" y="129"/>
                  </a:cxn>
                  <a:cxn ang="0">
                    <a:pos x="0" y="101"/>
                  </a:cxn>
                </a:cxnLst>
                <a:rect l="txL" t="txT" r="txR" b="txB"/>
                <a:pathLst>
                  <a:path w="163" h="398">
                    <a:moveTo>
                      <a:pt x="0" y="101"/>
                    </a:moveTo>
                    <a:lnTo>
                      <a:pt x="9" y="57"/>
                    </a:lnTo>
                    <a:lnTo>
                      <a:pt x="19" y="24"/>
                    </a:lnTo>
                    <a:lnTo>
                      <a:pt x="33" y="0"/>
                    </a:lnTo>
                    <a:lnTo>
                      <a:pt x="57" y="24"/>
                    </a:lnTo>
                    <a:lnTo>
                      <a:pt x="76" y="67"/>
                    </a:lnTo>
                    <a:lnTo>
                      <a:pt x="100" y="139"/>
                    </a:lnTo>
                    <a:lnTo>
                      <a:pt x="120" y="221"/>
                    </a:lnTo>
                    <a:lnTo>
                      <a:pt x="139" y="283"/>
                    </a:lnTo>
                    <a:lnTo>
                      <a:pt x="148" y="355"/>
                    </a:lnTo>
                    <a:lnTo>
                      <a:pt x="163" y="398"/>
                    </a:lnTo>
                    <a:lnTo>
                      <a:pt x="144" y="336"/>
                    </a:lnTo>
                    <a:lnTo>
                      <a:pt x="115" y="264"/>
                    </a:lnTo>
                    <a:lnTo>
                      <a:pt x="72" y="177"/>
                    </a:lnTo>
                    <a:lnTo>
                      <a:pt x="43" y="129"/>
                    </a:lnTo>
                    <a:lnTo>
                      <a:pt x="0" y="1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100000">
                    <a:srgbClr val="FF3300"/>
                  </a:gs>
                </a:gsLst>
                <a:lin ang="0" scaled="1"/>
                <a:tileRect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1240" name="Freeform 17"/>
              <p:cNvSpPr/>
              <p:nvPr/>
            </p:nvSpPr>
            <p:spPr>
              <a:xfrm>
                <a:off x="4339" y="2698"/>
                <a:ext cx="183" cy="446"/>
              </a:xfrm>
              <a:custGeom>
                <a:avLst/>
                <a:gdLst>
                  <a:gd name="txL" fmla="*/ 0 w 183"/>
                  <a:gd name="txT" fmla="*/ 0 h 446"/>
                  <a:gd name="txR" fmla="*/ 183 w 183"/>
                  <a:gd name="txB" fmla="*/ 446 h 446"/>
                </a:gdLst>
                <a:ahLst/>
                <a:cxnLst>
                  <a:cxn ang="0">
                    <a:pos x="0" y="0"/>
                  </a:cxn>
                  <a:cxn ang="0">
                    <a:pos x="39" y="81"/>
                  </a:cxn>
                  <a:cxn ang="0">
                    <a:pos x="72" y="196"/>
                  </a:cxn>
                  <a:cxn ang="0">
                    <a:pos x="96" y="254"/>
                  </a:cxn>
                  <a:cxn ang="0">
                    <a:pos x="115" y="288"/>
                  </a:cxn>
                  <a:cxn ang="0">
                    <a:pos x="144" y="312"/>
                  </a:cxn>
                  <a:cxn ang="0">
                    <a:pos x="183" y="316"/>
                  </a:cxn>
                  <a:cxn ang="0">
                    <a:pos x="183" y="360"/>
                  </a:cxn>
                  <a:cxn ang="0">
                    <a:pos x="168" y="408"/>
                  </a:cxn>
                  <a:cxn ang="0">
                    <a:pos x="154" y="446"/>
                  </a:cxn>
                  <a:cxn ang="0">
                    <a:pos x="130" y="412"/>
                  </a:cxn>
                  <a:cxn ang="0">
                    <a:pos x="115" y="388"/>
                  </a:cxn>
                  <a:cxn ang="0">
                    <a:pos x="106" y="355"/>
                  </a:cxn>
                  <a:cxn ang="0">
                    <a:pos x="91" y="302"/>
                  </a:cxn>
                  <a:cxn ang="0">
                    <a:pos x="58" y="216"/>
                  </a:cxn>
                  <a:cxn ang="0">
                    <a:pos x="34" y="144"/>
                  </a:cxn>
                  <a:cxn ang="0">
                    <a:pos x="0" y="0"/>
                  </a:cxn>
                </a:cxnLst>
                <a:rect l="txL" t="txT" r="txR" b="txB"/>
                <a:pathLst>
                  <a:path w="183" h="446">
                    <a:moveTo>
                      <a:pt x="0" y="0"/>
                    </a:moveTo>
                    <a:lnTo>
                      <a:pt x="39" y="81"/>
                    </a:lnTo>
                    <a:lnTo>
                      <a:pt x="72" y="196"/>
                    </a:lnTo>
                    <a:lnTo>
                      <a:pt x="96" y="254"/>
                    </a:lnTo>
                    <a:lnTo>
                      <a:pt x="115" y="288"/>
                    </a:lnTo>
                    <a:lnTo>
                      <a:pt x="144" y="312"/>
                    </a:lnTo>
                    <a:lnTo>
                      <a:pt x="183" y="316"/>
                    </a:lnTo>
                    <a:lnTo>
                      <a:pt x="183" y="360"/>
                    </a:lnTo>
                    <a:lnTo>
                      <a:pt x="168" y="408"/>
                    </a:lnTo>
                    <a:lnTo>
                      <a:pt x="154" y="446"/>
                    </a:lnTo>
                    <a:lnTo>
                      <a:pt x="130" y="412"/>
                    </a:lnTo>
                    <a:lnTo>
                      <a:pt x="115" y="388"/>
                    </a:lnTo>
                    <a:lnTo>
                      <a:pt x="106" y="355"/>
                    </a:lnTo>
                    <a:lnTo>
                      <a:pt x="91" y="302"/>
                    </a:lnTo>
                    <a:lnTo>
                      <a:pt x="58" y="216"/>
                    </a:lnTo>
                    <a:lnTo>
                      <a:pt x="34" y="144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100000">
                    <a:srgbClr val="FF3300"/>
                  </a:gs>
                </a:gsLst>
                <a:lin ang="0" scaled="1"/>
                <a:tileRect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1241" name="Rectangle 18"/>
              <p:cNvSpPr/>
              <p:nvPr/>
            </p:nvSpPr>
            <p:spPr>
              <a:xfrm>
                <a:off x="4348" y="3128"/>
                <a:ext cx="215" cy="48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1237" name="Freeform 19"/>
            <p:cNvSpPr/>
            <p:nvPr/>
          </p:nvSpPr>
          <p:spPr>
            <a:xfrm>
              <a:off x="3691" y="2827"/>
              <a:ext cx="149" cy="298"/>
            </a:xfrm>
            <a:custGeom>
              <a:avLst/>
              <a:gdLst>
                <a:gd name="txL" fmla="*/ 0 w 149"/>
                <a:gd name="txT" fmla="*/ 0 h 298"/>
                <a:gd name="txR" fmla="*/ 149 w 149"/>
                <a:gd name="txB" fmla="*/ 298 h 298"/>
              </a:gdLst>
              <a:ahLst/>
              <a:cxnLst>
                <a:cxn ang="0">
                  <a:pos x="0" y="0"/>
                </a:cxn>
                <a:cxn ang="0">
                  <a:pos x="19" y="48"/>
                </a:cxn>
                <a:cxn ang="0">
                  <a:pos x="48" y="111"/>
                </a:cxn>
                <a:cxn ang="0">
                  <a:pos x="67" y="144"/>
                </a:cxn>
                <a:cxn ang="0">
                  <a:pos x="91" y="173"/>
                </a:cxn>
                <a:cxn ang="0">
                  <a:pos x="130" y="197"/>
                </a:cxn>
                <a:cxn ang="0">
                  <a:pos x="149" y="231"/>
                </a:cxn>
                <a:cxn ang="0">
                  <a:pos x="139" y="279"/>
                </a:cxn>
                <a:cxn ang="0">
                  <a:pos x="111" y="298"/>
                </a:cxn>
                <a:cxn ang="0">
                  <a:pos x="77" y="274"/>
                </a:cxn>
                <a:cxn ang="0">
                  <a:pos x="53" y="235"/>
                </a:cxn>
                <a:cxn ang="0">
                  <a:pos x="29" y="183"/>
                </a:cxn>
                <a:cxn ang="0">
                  <a:pos x="15" y="101"/>
                </a:cxn>
                <a:cxn ang="0">
                  <a:pos x="0" y="0"/>
                </a:cxn>
              </a:cxnLst>
              <a:rect l="txL" t="txT" r="txR" b="txB"/>
              <a:pathLst>
                <a:path w="149" h="298">
                  <a:moveTo>
                    <a:pt x="0" y="0"/>
                  </a:moveTo>
                  <a:lnTo>
                    <a:pt x="19" y="48"/>
                  </a:lnTo>
                  <a:lnTo>
                    <a:pt x="48" y="111"/>
                  </a:lnTo>
                  <a:lnTo>
                    <a:pt x="67" y="144"/>
                  </a:lnTo>
                  <a:lnTo>
                    <a:pt x="91" y="173"/>
                  </a:lnTo>
                  <a:lnTo>
                    <a:pt x="130" y="197"/>
                  </a:lnTo>
                  <a:lnTo>
                    <a:pt x="149" y="231"/>
                  </a:lnTo>
                  <a:lnTo>
                    <a:pt x="139" y="279"/>
                  </a:lnTo>
                  <a:lnTo>
                    <a:pt x="111" y="298"/>
                  </a:lnTo>
                  <a:lnTo>
                    <a:pt x="77" y="274"/>
                  </a:lnTo>
                  <a:lnTo>
                    <a:pt x="53" y="235"/>
                  </a:lnTo>
                  <a:lnTo>
                    <a:pt x="29" y="183"/>
                  </a:lnTo>
                  <a:lnTo>
                    <a:pt x="15" y="1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lin ang="5400000" scaled="1"/>
              <a:tileRect/>
            </a:gra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00372" name="Text Box 20"/>
          <p:cNvSpPr txBox="1"/>
          <p:nvPr/>
        </p:nvSpPr>
        <p:spPr>
          <a:xfrm>
            <a:off x="809625" y="1546225"/>
            <a:ext cx="7862888" cy="10668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</a:rPr>
              <a:t>        螺纹上相邻两牙在中径线上对应两点之间的轴向距离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3200" b="1" dirty="0">
                <a:latin typeface="Times New Roman" panose="02020603050405020304" pitchFamily="18" charset="0"/>
              </a:rPr>
              <a:t>称为螺距。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00373" name="Text Box 21"/>
          <p:cNvSpPr txBox="1"/>
          <p:nvPr/>
        </p:nvSpPr>
        <p:spPr>
          <a:xfrm>
            <a:off x="744538" y="2598738"/>
            <a:ext cx="7902575" cy="107632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</a:rPr>
              <a:t>         </a:t>
            </a:r>
            <a:r>
              <a:rPr lang="zh-CN" altLang="en-US" sz="32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同一条螺纹上</a:t>
            </a:r>
            <a:r>
              <a:rPr lang="zh-CN" altLang="en-US" sz="3200" b="1" dirty="0">
                <a:latin typeface="Times New Roman" panose="02020603050405020304" pitchFamily="18" charset="0"/>
              </a:rPr>
              <a:t>相邻两牙在中径线上对应两点之间的轴向距离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32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h</a:t>
            </a:r>
            <a:r>
              <a:rPr lang="zh-CN" altLang="en-US" sz="3200" b="1" dirty="0">
                <a:latin typeface="Times New Roman" panose="02020603050405020304" pitchFamily="18" charset="0"/>
              </a:rPr>
              <a:t>称为导程。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00374" name="Text Box 22"/>
          <p:cNvSpPr txBox="1"/>
          <p:nvPr/>
        </p:nvSpPr>
        <p:spPr>
          <a:xfrm>
            <a:off x="1071563" y="5871687"/>
            <a:ext cx="334010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单线螺纹：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P= </a:t>
            </a: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</a:rPr>
              <a:t>P</a:t>
            </a:r>
            <a:r>
              <a:rPr lang="en-US" altLang="zh-CN" sz="3200" b="1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h</a:t>
            </a:r>
            <a:endParaRPr lang="en-US" altLang="zh-CN" sz="3200" b="1" baseline="-25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00375" name="Text Box 23"/>
          <p:cNvSpPr txBox="1"/>
          <p:nvPr/>
        </p:nvSpPr>
        <p:spPr>
          <a:xfrm>
            <a:off x="4983798" y="5625307"/>
            <a:ext cx="3742690" cy="107632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双线螺距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多线螺纹：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P= </a:t>
            </a: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</a:rPr>
              <a:t>P</a:t>
            </a:r>
            <a:r>
              <a:rPr lang="en-US" altLang="zh-CN" sz="3200" b="1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h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/n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0376" name="Picture 24" descr="螺纹线数11"/>
          <p:cNvPicPr>
            <a:picLocks noChangeAspect="1"/>
          </p:cNvPicPr>
          <p:nvPr/>
        </p:nvPicPr>
        <p:blipFill>
          <a:blip r:embed="rId2">
            <a:lum contrast="12000"/>
          </a:blip>
          <a:stretch>
            <a:fillRect/>
          </a:stretch>
        </p:blipFill>
        <p:spPr>
          <a:xfrm>
            <a:off x="1403350" y="4652963"/>
            <a:ext cx="2076450" cy="10953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" name="Group 25"/>
          <p:cNvGrpSpPr/>
          <p:nvPr/>
        </p:nvGrpSpPr>
        <p:grpSpPr>
          <a:xfrm>
            <a:off x="1517650" y="3921125"/>
            <a:ext cx="1949450" cy="858838"/>
            <a:chOff x="714" y="2472"/>
            <a:chExt cx="1228" cy="541"/>
          </a:xfrm>
        </p:grpSpPr>
        <p:sp>
          <p:nvSpPr>
            <p:cNvPr id="51228" name="Text Box 26"/>
            <p:cNvSpPr txBox="1"/>
            <p:nvPr/>
          </p:nvSpPr>
          <p:spPr>
            <a:xfrm>
              <a:off x="714" y="2472"/>
              <a:ext cx="99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zh-CN" altLang="en-US" sz="2400" b="1" dirty="0">
                  <a:latin typeface="Times New Roman" panose="02020603050405020304" pitchFamily="18" charset="0"/>
                </a:rPr>
                <a:t>螺距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1229" name="Line 27"/>
            <p:cNvSpPr/>
            <p:nvPr/>
          </p:nvSpPr>
          <p:spPr>
            <a:xfrm>
              <a:off x="1057" y="2737"/>
              <a:ext cx="350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51230" name="Line 28"/>
            <p:cNvSpPr/>
            <p:nvPr/>
          </p:nvSpPr>
          <p:spPr>
            <a:xfrm flipV="1">
              <a:off x="1411" y="2705"/>
              <a:ext cx="0" cy="308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31" name="Line 29"/>
            <p:cNvSpPr/>
            <p:nvPr/>
          </p:nvSpPr>
          <p:spPr>
            <a:xfrm flipV="1">
              <a:off x="1567" y="2701"/>
              <a:ext cx="0" cy="312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32" name="Line 30"/>
            <p:cNvSpPr/>
            <p:nvPr/>
          </p:nvSpPr>
          <p:spPr>
            <a:xfrm>
              <a:off x="1396" y="2735"/>
              <a:ext cx="167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33" name="Line 31"/>
            <p:cNvSpPr/>
            <p:nvPr/>
          </p:nvSpPr>
          <p:spPr>
            <a:xfrm>
              <a:off x="1563" y="2735"/>
              <a:ext cx="379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triangle" w="sm" len="lg"/>
              <a:tailEnd type="none" w="med" len="med"/>
            </a:ln>
          </p:spPr>
        </p:sp>
      </p:grpSp>
      <p:sp>
        <p:nvSpPr>
          <p:cNvPr id="100384" name="Text Box 32"/>
          <p:cNvSpPr txBox="1"/>
          <p:nvPr/>
        </p:nvSpPr>
        <p:spPr>
          <a:xfrm>
            <a:off x="2509838" y="3932238"/>
            <a:ext cx="9731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</a:rPr>
              <a:t>=</a:t>
            </a:r>
            <a:r>
              <a:rPr lang="zh-CN" altLang="en-US" sz="2400" b="1" dirty="0">
                <a:latin typeface="Times New Roman" panose="02020603050405020304" pitchFamily="18" charset="0"/>
              </a:rPr>
              <a:t>导程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6" name="Group 33"/>
          <p:cNvGrpSpPr/>
          <p:nvPr/>
        </p:nvGrpSpPr>
        <p:grpSpPr>
          <a:xfrm>
            <a:off x="6062663" y="4003675"/>
            <a:ext cx="1233487" cy="765175"/>
            <a:chOff x="3018" y="2550"/>
            <a:chExt cx="777" cy="482"/>
          </a:xfrm>
        </p:grpSpPr>
        <p:sp>
          <p:nvSpPr>
            <p:cNvPr id="51222" name="Line 34"/>
            <p:cNvSpPr/>
            <p:nvPr/>
          </p:nvSpPr>
          <p:spPr>
            <a:xfrm>
              <a:off x="3332" y="2838"/>
              <a:ext cx="390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triangle" w="sm" len="lg"/>
              <a:tailEnd type="none" w="med" len="med"/>
            </a:ln>
          </p:spPr>
        </p:sp>
        <p:sp>
          <p:nvSpPr>
            <p:cNvPr id="51223" name="Text Box 35"/>
            <p:cNvSpPr txBox="1"/>
            <p:nvPr/>
          </p:nvSpPr>
          <p:spPr>
            <a:xfrm>
              <a:off x="3295" y="2550"/>
              <a:ext cx="5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zh-CN" altLang="en-US" sz="2400" b="1" dirty="0">
                  <a:latin typeface="Times New Roman" panose="02020603050405020304" pitchFamily="18" charset="0"/>
                </a:rPr>
                <a:t>螺距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1224" name="Line 36"/>
            <p:cNvSpPr/>
            <p:nvPr/>
          </p:nvSpPr>
          <p:spPr>
            <a:xfrm flipV="1">
              <a:off x="3163" y="2797"/>
              <a:ext cx="0" cy="235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5" name="Line 37"/>
            <p:cNvSpPr/>
            <p:nvPr/>
          </p:nvSpPr>
          <p:spPr>
            <a:xfrm flipV="1">
              <a:off x="3331" y="2802"/>
              <a:ext cx="0" cy="228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6" name="Line 38"/>
            <p:cNvSpPr/>
            <p:nvPr/>
          </p:nvSpPr>
          <p:spPr>
            <a:xfrm flipH="1">
              <a:off x="3163" y="2837"/>
              <a:ext cx="168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7" name="Line 39"/>
            <p:cNvSpPr/>
            <p:nvPr/>
          </p:nvSpPr>
          <p:spPr>
            <a:xfrm flipH="1">
              <a:off x="3018" y="2837"/>
              <a:ext cx="145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triangle" w="sm" len="lg"/>
              <a:tailEnd type="none" w="med" len="med"/>
            </a:ln>
          </p:spPr>
        </p:sp>
      </p:grpSp>
      <p:grpSp>
        <p:nvGrpSpPr>
          <p:cNvPr id="7" name="Group 40"/>
          <p:cNvGrpSpPr/>
          <p:nvPr/>
        </p:nvGrpSpPr>
        <p:grpSpPr>
          <a:xfrm>
            <a:off x="5857875" y="3711575"/>
            <a:ext cx="800100" cy="1046163"/>
            <a:chOff x="2889" y="2366"/>
            <a:chExt cx="504" cy="659"/>
          </a:xfrm>
        </p:grpSpPr>
        <p:sp>
          <p:nvSpPr>
            <p:cNvPr id="51218" name="Text Box 41"/>
            <p:cNvSpPr txBox="1"/>
            <p:nvPr/>
          </p:nvSpPr>
          <p:spPr>
            <a:xfrm>
              <a:off x="2889" y="2366"/>
              <a:ext cx="5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zh-CN" altLang="en-US" sz="2400" b="1" dirty="0">
                  <a:latin typeface="Times New Roman" panose="02020603050405020304" pitchFamily="18" charset="0"/>
                </a:rPr>
                <a:t>导程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1219" name="Line 42"/>
            <p:cNvSpPr/>
            <p:nvPr/>
          </p:nvSpPr>
          <p:spPr>
            <a:xfrm>
              <a:off x="2992" y="2646"/>
              <a:ext cx="347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triangle" w="sm" len="lg"/>
              <a:tailEnd type="triangle" w="sm" len="lg"/>
            </a:ln>
          </p:spPr>
        </p:sp>
        <p:sp>
          <p:nvSpPr>
            <p:cNvPr id="51220" name="Line 43"/>
            <p:cNvSpPr/>
            <p:nvPr/>
          </p:nvSpPr>
          <p:spPr>
            <a:xfrm flipV="1">
              <a:off x="2998" y="2607"/>
              <a:ext cx="0" cy="418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1" name="Line 44"/>
            <p:cNvSpPr/>
            <p:nvPr/>
          </p:nvSpPr>
          <p:spPr>
            <a:xfrm flipV="1">
              <a:off x="3331" y="2611"/>
              <a:ext cx="0" cy="204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00397" name="Rectangle 45"/>
          <p:cNvSpPr/>
          <p:nvPr/>
        </p:nvSpPr>
        <p:spPr>
          <a:xfrm>
            <a:off x="539750" y="822325"/>
            <a:ext cx="7772400" cy="6096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0" hangingPunct="0"/>
            <a:r>
              <a:rPr lang="zh-CN" altLang="en-US" sz="3600" b="1" dirty="0">
                <a:latin typeface="Arial" panose="020B0604020202020204" pitchFamily="34" charset="0"/>
              </a:rPr>
              <a:t>（</a:t>
            </a:r>
            <a:r>
              <a:rPr lang="en-US" altLang="zh-CN" sz="3600" b="1" dirty="0">
                <a:latin typeface="Arial" panose="020B0604020202020204" pitchFamily="34" charset="0"/>
              </a:rPr>
              <a:t>3</a:t>
            </a:r>
            <a:r>
              <a:rPr lang="zh-CN" altLang="en-US" sz="3600" b="1" dirty="0">
                <a:latin typeface="Arial" panose="020B0604020202020204" pitchFamily="34" charset="0"/>
              </a:rPr>
              <a:t>） 螺距和导程</a:t>
            </a:r>
            <a:endParaRPr lang="zh-CN" altLang="en-US" sz="4400" dirty="0">
              <a:latin typeface="Arial" panose="020B0604020202020204" pitchFamily="34" charset="0"/>
            </a:endParaRPr>
          </a:p>
        </p:txBody>
      </p:sp>
      <p:grpSp>
        <p:nvGrpSpPr>
          <p:cNvPr id="343051" name="组合 343050"/>
          <p:cNvGrpSpPr/>
          <p:nvPr/>
        </p:nvGrpSpPr>
        <p:grpSpPr>
          <a:xfrm>
            <a:off x="333375" y="81216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33" name="Rectangle 17"/>
          <p:cNvSpPr/>
          <p:nvPr/>
        </p:nvSpPr>
        <p:spPr>
          <a:xfrm>
            <a:off x="263525" y="215900"/>
            <a:ext cx="373316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1</a:t>
            </a:r>
            <a:r>
              <a:rPr lang="zh-CN" altLang="en-US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、螺纹的五要素</a:t>
            </a:r>
            <a:endParaRPr lang="zh-CN" altLang="en-US" sz="28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75"/>
                                        <p:tgtEl>
                                          <p:spTgt spid="100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75"/>
                                        <p:tgtEl>
                                          <p:spTgt spid="100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00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0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5" fill="hold"/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5" fill="hold"/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75" fill="hold"/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75" fill="hold"/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72" grpId="0"/>
      <p:bldP spid="100373" grpId="0"/>
      <p:bldP spid="100374" grpId="0"/>
      <p:bldP spid="100375" grpId="0"/>
      <p:bldP spid="100384" grpId="0"/>
      <p:bldP spid="100397" grpId="0"/>
      <p:bldP spid="92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5"/>
          <p:cNvGrpSpPr/>
          <p:nvPr/>
        </p:nvGrpSpPr>
        <p:grpSpPr>
          <a:xfrm>
            <a:off x="6502400" y="1009650"/>
            <a:ext cx="1703388" cy="3368675"/>
            <a:chOff x="4596" y="420"/>
            <a:chExt cx="582" cy="1149"/>
          </a:xfrm>
        </p:grpSpPr>
        <p:sp>
          <p:nvSpPr>
            <p:cNvPr id="50216" name="Freeform 76"/>
            <p:cNvSpPr/>
            <p:nvPr/>
          </p:nvSpPr>
          <p:spPr>
            <a:xfrm>
              <a:off x="4596" y="482"/>
              <a:ext cx="582" cy="1001"/>
            </a:xfrm>
            <a:custGeom>
              <a:avLst/>
              <a:gdLst>
                <a:gd name="txL" fmla="*/ 0 w 582"/>
                <a:gd name="txT" fmla="*/ 0 h 1001"/>
                <a:gd name="txR" fmla="*/ 582 w 582"/>
                <a:gd name="txB" fmla="*/ 1001 h 1001"/>
              </a:gdLst>
              <a:ahLst/>
              <a:cxnLst>
                <a:cxn ang="0">
                  <a:pos x="0" y="1001"/>
                </a:cxn>
                <a:cxn ang="0">
                  <a:pos x="0" y="0"/>
                </a:cxn>
                <a:cxn ang="0">
                  <a:pos x="582" y="0"/>
                </a:cxn>
                <a:cxn ang="0">
                  <a:pos x="582" y="1001"/>
                </a:cxn>
                <a:cxn ang="0">
                  <a:pos x="0" y="1001"/>
                </a:cxn>
              </a:cxnLst>
              <a:rect l="txL" t="txT" r="txR" b="txB"/>
              <a:pathLst>
                <a:path w="582" h="1001">
                  <a:moveTo>
                    <a:pt x="0" y="1001"/>
                  </a:moveTo>
                  <a:lnTo>
                    <a:pt x="0" y="0"/>
                  </a:lnTo>
                  <a:lnTo>
                    <a:pt x="582" y="0"/>
                  </a:lnTo>
                  <a:lnTo>
                    <a:pt x="582" y="1001"/>
                  </a:lnTo>
                  <a:lnTo>
                    <a:pt x="0" y="1001"/>
                  </a:lnTo>
                  <a:close/>
                </a:path>
              </a:pathLst>
            </a:custGeom>
            <a:solidFill>
              <a:srgbClr val="00FF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0217" name="Line 77"/>
            <p:cNvSpPr/>
            <p:nvPr/>
          </p:nvSpPr>
          <p:spPr>
            <a:xfrm>
              <a:off x="4886" y="420"/>
              <a:ext cx="0" cy="114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lgDashDot"/>
              <a:headEnd type="none" w="med" len="med"/>
              <a:tailEnd type="none" w="med" len="med"/>
            </a:ln>
          </p:spPr>
        </p:sp>
      </p:grpSp>
      <p:sp>
        <p:nvSpPr>
          <p:cNvPr id="98382" name="Freeform 78"/>
          <p:cNvSpPr/>
          <p:nvPr/>
        </p:nvSpPr>
        <p:spPr>
          <a:xfrm>
            <a:off x="6519863" y="3141663"/>
            <a:ext cx="1682750" cy="981075"/>
          </a:xfrm>
          <a:custGeom>
            <a:avLst/>
            <a:gdLst>
              <a:gd name="txL" fmla="*/ 0 w 1060"/>
              <a:gd name="txT" fmla="*/ 0 h 618"/>
              <a:gd name="txR" fmla="*/ 1060 w 1060"/>
              <a:gd name="txB" fmla="*/ 618 h 618"/>
            </a:gdLst>
            <a:ahLst/>
            <a:cxnLst>
              <a:cxn ang="0">
                <a:pos x="0" y="1557456344"/>
              </a:cxn>
              <a:cxn ang="0">
                <a:pos x="241934988" y="1194553987"/>
              </a:cxn>
              <a:cxn ang="0">
                <a:pos x="511590888" y="1023183430"/>
              </a:cxn>
              <a:cxn ang="0">
                <a:pos x="884574039" y="854332234"/>
              </a:cxn>
              <a:cxn ang="0">
                <a:pos x="1358363196" y="718245240"/>
              </a:cxn>
              <a:cxn ang="0">
                <a:pos x="1728827185" y="650200254"/>
              </a:cxn>
              <a:cxn ang="0">
                <a:pos x="2101810138" y="551913405"/>
              </a:cxn>
              <a:cxn ang="0">
                <a:pos x="2147483647" y="413305561"/>
              </a:cxn>
              <a:cxn ang="0">
                <a:pos x="2147483647" y="244454365"/>
              </a:cxn>
              <a:cxn ang="0">
                <a:pos x="2147483647" y="0"/>
              </a:cxn>
            </a:cxnLst>
            <a:rect l="txL" t="txT" r="txR" b="txB"/>
            <a:pathLst>
              <a:path w="1060" h="618">
                <a:moveTo>
                  <a:pt x="0" y="618"/>
                </a:moveTo>
                <a:cubicBezTo>
                  <a:pt x="17" y="594"/>
                  <a:pt x="63" y="509"/>
                  <a:pt x="96" y="474"/>
                </a:cubicBezTo>
                <a:cubicBezTo>
                  <a:pt x="129" y="439"/>
                  <a:pt x="161" y="428"/>
                  <a:pt x="203" y="406"/>
                </a:cubicBezTo>
                <a:cubicBezTo>
                  <a:pt x="245" y="383"/>
                  <a:pt x="295" y="359"/>
                  <a:pt x="351" y="339"/>
                </a:cubicBezTo>
                <a:cubicBezTo>
                  <a:pt x="406" y="319"/>
                  <a:pt x="483" y="298"/>
                  <a:pt x="539" y="285"/>
                </a:cubicBezTo>
                <a:cubicBezTo>
                  <a:pt x="594" y="273"/>
                  <a:pt x="637" y="269"/>
                  <a:pt x="686" y="258"/>
                </a:cubicBezTo>
                <a:cubicBezTo>
                  <a:pt x="736" y="247"/>
                  <a:pt x="790" y="234"/>
                  <a:pt x="834" y="219"/>
                </a:cubicBezTo>
                <a:cubicBezTo>
                  <a:pt x="878" y="204"/>
                  <a:pt x="923" y="184"/>
                  <a:pt x="954" y="164"/>
                </a:cubicBezTo>
                <a:cubicBezTo>
                  <a:pt x="985" y="143"/>
                  <a:pt x="1004" y="124"/>
                  <a:pt x="1022" y="97"/>
                </a:cubicBezTo>
                <a:cubicBezTo>
                  <a:pt x="1040" y="70"/>
                  <a:pt x="1052" y="20"/>
                  <a:pt x="1060" y="0"/>
                </a:cubicBez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8383" name="Freeform 79"/>
          <p:cNvSpPr/>
          <p:nvPr/>
        </p:nvSpPr>
        <p:spPr>
          <a:xfrm>
            <a:off x="6523038" y="2208213"/>
            <a:ext cx="1692275" cy="933450"/>
          </a:xfrm>
          <a:custGeom>
            <a:avLst/>
            <a:gdLst>
              <a:gd name="txL" fmla="*/ 0 w 578"/>
              <a:gd name="txT" fmla="*/ 0 h 318"/>
              <a:gd name="txR" fmla="*/ 578 w 578"/>
              <a:gd name="txB" fmla="*/ 318 h 318"/>
            </a:gdLst>
            <a:ahLst/>
            <a:cxnLst>
              <a:cxn ang="0">
                <a:pos x="2147483647" y="2147483647"/>
              </a:cxn>
              <a:cxn ang="0">
                <a:pos x="2147483647" y="2102411123"/>
              </a:cxn>
              <a:cxn ang="0">
                <a:pos x="2147483647" y="1818070034"/>
              </a:cxn>
              <a:cxn ang="0">
                <a:pos x="2147483647" y="1697437812"/>
              </a:cxn>
              <a:cxn ang="0">
                <a:pos x="2147483647" y="1568193196"/>
              </a:cxn>
              <a:cxn ang="0">
                <a:pos x="2147483647" y="1378629168"/>
              </a:cxn>
              <a:cxn ang="0">
                <a:pos x="1937288812" y="1257999882"/>
              </a:cxn>
              <a:cxn ang="0">
                <a:pos x="1500113686" y="1128752331"/>
              </a:cxn>
              <a:cxn ang="0">
                <a:pos x="814347346" y="878875494"/>
              </a:cxn>
              <a:cxn ang="0">
                <a:pos x="248591671" y="568685298"/>
              </a:cxn>
              <a:cxn ang="0">
                <a:pos x="0" y="0"/>
              </a:cxn>
            </a:cxnLst>
            <a:rect l="txL" t="txT" r="txR" b="txB"/>
            <a:pathLst>
              <a:path w="578" h="318">
                <a:moveTo>
                  <a:pt x="578" y="318"/>
                </a:moveTo>
                <a:cubicBezTo>
                  <a:pt x="574" y="306"/>
                  <a:pt x="567" y="262"/>
                  <a:pt x="554" y="244"/>
                </a:cubicBezTo>
                <a:cubicBezTo>
                  <a:pt x="541" y="226"/>
                  <a:pt x="522" y="219"/>
                  <a:pt x="502" y="211"/>
                </a:cubicBezTo>
                <a:cubicBezTo>
                  <a:pt x="482" y="203"/>
                  <a:pt x="458" y="202"/>
                  <a:pt x="436" y="197"/>
                </a:cubicBezTo>
                <a:cubicBezTo>
                  <a:pt x="414" y="192"/>
                  <a:pt x="396" y="188"/>
                  <a:pt x="371" y="182"/>
                </a:cubicBezTo>
                <a:cubicBezTo>
                  <a:pt x="346" y="176"/>
                  <a:pt x="308" y="166"/>
                  <a:pt x="284" y="160"/>
                </a:cubicBezTo>
                <a:cubicBezTo>
                  <a:pt x="260" y="154"/>
                  <a:pt x="244" y="151"/>
                  <a:pt x="226" y="146"/>
                </a:cubicBezTo>
                <a:cubicBezTo>
                  <a:pt x="208" y="141"/>
                  <a:pt x="197" y="138"/>
                  <a:pt x="175" y="131"/>
                </a:cubicBezTo>
                <a:cubicBezTo>
                  <a:pt x="153" y="124"/>
                  <a:pt x="119" y="113"/>
                  <a:pt x="95" y="102"/>
                </a:cubicBezTo>
                <a:cubicBezTo>
                  <a:pt x="71" y="91"/>
                  <a:pt x="45" y="83"/>
                  <a:pt x="29" y="66"/>
                </a:cubicBezTo>
                <a:cubicBezTo>
                  <a:pt x="13" y="49"/>
                  <a:pt x="6" y="14"/>
                  <a:pt x="0" y="0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8384" name="Freeform 80"/>
          <p:cNvSpPr/>
          <p:nvPr/>
        </p:nvSpPr>
        <p:spPr>
          <a:xfrm>
            <a:off x="6502400" y="1185863"/>
            <a:ext cx="1662113" cy="1017587"/>
          </a:xfrm>
          <a:custGeom>
            <a:avLst/>
            <a:gdLst>
              <a:gd name="txL" fmla="*/ 0 w 568"/>
              <a:gd name="txT" fmla="*/ 0 h 347"/>
              <a:gd name="txR" fmla="*/ 568 w 568"/>
              <a:gd name="txB" fmla="*/ 347 h 347"/>
            </a:gdLst>
            <a:ahLst/>
            <a:cxnLst>
              <a:cxn ang="0">
                <a:pos x="0" y="2147483647"/>
              </a:cxn>
              <a:cxn ang="0">
                <a:pos x="445273626" y="2147483647"/>
              </a:cxn>
              <a:cxn ang="0">
                <a:pos x="941926421" y="1995133302"/>
              </a:cxn>
              <a:cxn ang="0">
                <a:pos x="1626962854" y="1685543564"/>
              </a:cxn>
              <a:cxn ang="0">
                <a:pos x="2147483647" y="1436152359"/>
              </a:cxn>
              <a:cxn ang="0">
                <a:pos x="2147483647" y="1307156390"/>
              </a:cxn>
              <a:cxn ang="0">
                <a:pos x="2147483647" y="1126562620"/>
              </a:cxn>
              <a:cxn ang="0">
                <a:pos x="2147483647" y="868570682"/>
              </a:cxn>
              <a:cxn ang="0">
                <a:pos x="2147483647" y="558980760"/>
              </a:cxn>
              <a:cxn ang="0">
                <a:pos x="2147483647" y="0"/>
              </a:cxn>
            </a:cxnLst>
            <a:rect l="txL" t="txT" r="txR" b="txB"/>
            <a:pathLst>
              <a:path w="568" h="347">
                <a:moveTo>
                  <a:pt x="0" y="347"/>
                </a:moveTo>
                <a:cubicBezTo>
                  <a:pt x="9" y="334"/>
                  <a:pt x="34" y="288"/>
                  <a:pt x="52" y="269"/>
                </a:cubicBezTo>
                <a:cubicBezTo>
                  <a:pt x="70" y="250"/>
                  <a:pt x="87" y="244"/>
                  <a:pt x="110" y="232"/>
                </a:cubicBezTo>
                <a:cubicBezTo>
                  <a:pt x="133" y="220"/>
                  <a:pt x="160" y="207"/>
                  <a:pt x="190" y="196"/>
                </a:cubicBezTo>
                <a:cubicBezTo>
                  <a:pt x="220" y="185"/>
                  <a:pt x="262" y="174"/>
                  <a:pt x="292" y="167"/>
                </a:cubicBezTo>
                <a:cubicBezTo>
                  <a:pt x="322" y="160"/>
                  <a:pt x="345" y="158"/>
                  <a:pt x="372" y="152"/>
                </a:cubicBezTo>
                <a:cubicBezTo>
                  <a:pt x="399" y="146"/>
                  <a:pt x="428" y="139"/>
                  <a:pt x="452" y="131"/>
                </a:cubicBezTo>
                <a:cubicBezTo>
                  <a:pt x="476" y="123"/>
                  <a:pt x="500" y="112"/>
                  <a:pt x="517" y="101"/>
                </a:cubicBezTo>
                <a:cubicBezTo>
                  <a:pt x="534" y="90"/>
                  <a:pt x="546" y="82"/>
                  <a:pt x="554" y="65"/>
                </a:cubicBezTo>
                <a:cubicBezTo>
                  <a:pt x="562" y="48"/>
                  <a:pt x="565" y="14"/>
                  <a:pt x="568" y="0"/>
                </a:cubicBez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8385" name="Freeform 81"/>
          <p:cNvSpPr/>
          <p:nvPr/>
        </p:nvSpPr>
        <p:spPr>
          <a:xfrm>
            <a:off x="6516688" y="2633663"/>
            <a:ext cx="1697037" cy="1004887"/>
          </a:xfrm>
          <a:custGeom>
            <a:avLst/>
            <a:gdLst>
              <a:gd name="txL" fmla="*/ 0 w 1069"/>
              <a:gd name="txT" fmla="*/ 0 h 633"/>
              <a:gd name="txR" fmla="*/ 1069 w 1069"/>
              <a:gd name="txB" fmla="*/ 633 h 633"/>
            </a:gdLst>
            <a:ahLst/>
            <a:cxnLst>
              <a:cxn ang="0">
                <a:pos x="0" y="1595257100"/>
              </a:cxn>
              <a:cxn ang="0">
                <a:pos x="146169002" y="1320561105"/>
              </a:cxn>
              <a:cxn ang="0">
                <a:pos x="569555083" y="1025702291"/>
              </a:cxn>
              <a:cxn ang="0">
                <a:pos x="897175348" y="889613974"/>
              </a:cxn>
              <a:cxn ang="0">
                <a:pos x="1370964367" y="753525458"/>
              </a:cxn>
              <a:cxn ang="0">
                <a:pos x="1743947608" y="685482093"/>
              </a:cxn>
              <a:cxn ang="0">
                <a:pos x="2114409505" y="587195292"/>
              </a:cxn>
              <a:cxn ang="0">
                <a:pos x="2147483647" y="448587615"/>
              </a:cxn>
              <a:cxn ang="0">
                <a:pos x="2147483647" y="279736402"/>
              </a:cxn>
              <a:cxn ang="0">
                <a:pos x="2147483647" y="0"/>
              </a:cxn>
            </a:cxnLst>
            <a:rect l="txL" t="txT" r="txR" b="txB"/>
            <a:pathLst>
              <a:path w="1069" h="633">
                <a:moveTo>
                  <a:pt x="0" y="633"/>
                </a:moveTo>
                <a:cubicBezTo>
                  <a:pt x="10" y="615"/>
                  <a:pt x="20" y="562"/>
                  <a:pt x="58" y="524"/>
                </a:cubicBezTo>
                <a:cubicBezTo>
                  <a:pt x="96" y="486"/>
                  <a:pt x="176" y="435"/>
                  <a:pt x="226" y="407"/>
                </a:cubicBezTo>
                <a:cubicBezTo>
                  <a:pt x="276" y="379"/>
                  <a:pt x="303" y="371"/>
                  <a:pt x="356" y="353"/>
                </a:cubicBezTo>
                <a:cubicBezTo>
                  <a:pt x="409" y="335"/>
                  <a:pt x="489" y="312"/>
                  <a:pt x="544" y="299"/>
                </a:cubicBezTo>
                <a:cubicBezTo>
                  <a:pt x="600" y="287"/>
                  <a:pt x="642" y="283"/>
                  <a:pt x="692" y="272"/>
                </a:cubicBezTo>
                <a:cubicBezTo>
                  <a:pt x="741" y="261"/>
                  <a:pt x="795" y="248"/>
                  <a:pt x="839" y="233"/>
                </a:cubicBezTo>
                <a:cubicBezTo>
                  <a:pt x="883" y="218"/>
                  <a:pt x="928" y="198"/>
                  <a:pt x="959" y="178"/>
                </a:cubicBezTo>
                <a:cubicBezTo>
                  <a:pt x="990" y="157"/>
                  <a:pt x="1009" y="141"/>
                  <a:pt x="1027" y="111"/>
                </a:cubicBezTo>
                <a:cubicBezTo>
                  <a:pt x="1045" y="81"/>
                  <a:pt x="1060" y="23"/>
                  <a:pt x="1069" y="0"/>
                </a:cubicBezTo>
              </a:path>
            </a:pathLst>
          </a:custGeom>
          <a:noFill/>
          <a:ln w="38100" cap="flat" cmpd="sng">
            <a:solidFill>
              <a:srgbClr val="CC66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8386" name="Freeform 82"/>
          <p:cNvSpPr/>
          <p:nvPr/>
        </p:nvSpPr>
        <p:spPr>
          <a:xfrm>
            <a:off x="6496050" y="1701800"/>
            <a:ext cx="1692275" cy="931863"/>
          </a:xfrm>
          <a:custGeom>
            <a:avLst/>
            <a:gdLst>
              <a:gd name="txL" fmla="*/ 0 w 1066"/>
              <a:gd name="txT" fmla="*/ 0 h 587"/>
              <a:gd name="txR" fmla="*/ 1066 w 1066"/>
              <a:gd name="txB" fmla="*/ 587 h 587"/>
            </a:gdLst>
            <a:ahLst/>
            <a:cxnLst>
              <a:cxn ang="0">
                <a:pos x="2147483647" y="1479333088"/>
              </a:cxn>
              <a:cxn ang="0">
                <a:pos x="2147483647" y="1222277119"/>
              </a:cxn>
              <a:cxn ang="0">
                <a:pos x="2147483647" y="1020664595"/>
              </a:cxn>
              <a:cxn ang="0">
                <a:pos x="2066527972" y="929938959"/>
              </a:cxn>
              <a:cxn ang="0">
                <a:pos x="1723786879" y="846772999"/>
              </a:cxn>
              <a:cxn ang="0">
                <a:pos x="1320561667" y="743447176"/>
              </a:cxn>
              <a:cxn ang="0">
                <a:pos x="1050904278" y="680442468"/>
              </a:cxn>
              <a:cxn ang="0">
                <a:pos x="814009501" y="609878085"/>
              </a:cxn>
              <a:cxn ang="0">
                <a:pos x="441026546" y="473789631"/>
              </a:cxn>
              <a:cxn ang="0">
                <a:pos x="133567476" y="307459199"/>
              </a:cxn>
              <a:cxn ang="0">
                <a:pos x="0" y="0"/>
              </a:cxn>
            </a:cxnLst>
            <a:rect l="txL" t="txT" r="txR" b="txB"/>
            <a:pathLst>
              <a:path w="1066" h="587">
                <a:moveTo>
                  <a:pt x="1066" y="587"/>
                </a:moveTo>
                <a:cubicBezTo>
                  <a:pt x="1062" y="570"/>
                  <a:pt x="1059" y="515"/>
                  <a:pt x="1039" y="485"/>
                </a:cubicBezTo>
                <a:cubicBezTo>
                  <a:pt x="1019" y="455"/>
                  <a:pt x="980" y="424"/>
                  <a:pt x="944" y="405"/>
                </a:cubicBezTo>
                <a:cubicBezTo>
                  <a:pt x="908" y="386"/>
                  <a:pt x="863" y="380"/>
                  <a:pt x="820" y="369"/>
                </a:cubicBezTo>
                <a:cubicBezTo>
                  <a:pt x="777" y="358"/>
                  <a:pt x="733" y="348"/>
                  <a:pt x="684" y="336"/>
                </a:cubicBezTo>
                <a:cubicBezTo>
                  <a:pt x="635" y="324"/>
                  <a:pt x="568" y="306"/>
                  <a:pt x="524" y="295"/>
                </a:cubicBezTo>
                <a:cubicBezTo>
                  <a:pt x="480" y="284"/>
                  <a:pt x="450" y="279"/>
                  <a:pt x="417" y="270"/>
                </a:cubicBezTo>
                <a:cubicBezTo>
                  <a:pt x="384" y="260"/>
                  <a:pt x="363" y="255"/>
                  <a:pt x="323" y="242"/>
                </a:cubicBezTo>
                <a:cubicBezTo>
                  <a:pt x="282" y="229"/>
                  <a:pt x="219" y="209"/>
                  <a:pt x="175" y="188"/>
                </a:cubicBezTo>
                <a:cubicBezTo>
                  <a:pt x="131" y="168"/>
                  <a:pt x="83" y="153"/>
                  <a:pt x="53" y="122"/>
                </a:cubicBezTo>
                <a:cubicBezTo>
                  <a:pt x="24" y="90"/>
                  <a:pt x="11" y="26"/>
                  <a:pt x="0" y="0"/>
                </a:cubicBezTo>
              </a:path>
            </a:pathLst>
          </a:custGeom>
          <a:noFill/>
          <a:ln w="19050" cap="flat" cmpd="sng">
            <a:solidFill>
              <a:srgbClr val="CC66FF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8387" name="Freeform 83"/>
          <p:cNvSpPr/>
          <p:nvPr/>
        </p:nvSpPr>
        <p:spPr>
          <a:xfrm>
            <a:off x="6516688" y="1185863"/>
            <a:ext cx="814387" cy="477837"/>
          </a:xfrm>
          <a:custGeom>
            <a:avLst/>
            <a:gdLst>
              <a:gd name="txL" fmla="*/ 0 w 513"/>
              <a:gd name="txT" fmla="*/ 0 h 301"/>
              <a:gd name="txR" fmla="*/ 513 w 513"/>
              <a:gd name="txB" fmla="*/ 301 h 301"/>
            </a:gdLst>
            <a:ahLst/>
            <a:cxnLst>
              <a:cxn ang="0">
                <a:pos x="0" y="758565335"/>
              </a:cxn>
              <a:cxn ang="0">
                <a:pos x="166330181" y="446066413"/>
              </a:cxn>
              <a:cxn ang="0">
                <a:pos x="483869671" y="236894443"/>
              </a:cxn>
              <a:cxn ang="0">
                <a:pos x="856852588" y="133567343"/>
              </a:cxn>
              <a:cxn ang="0">
                <a:pos x="1292838350" y="0"/>
              </a:cxn>
            </a:cxnLst>
            <a:rect l="txL" t="txT" r="txR" b="txB"/>
            <a:pathLst>
              <a:path w="513" h="301">
                <a:moveTo>
                  <a:pt x="0" y="301"/>
                </a:moveTo>
                <a:cubicBezTo>
                  <a:pt x="10" y="279"/>
                  <a:pt x="34" y="211"/>
                  <a:pt x="66" y="177"/>
                </a:cubicBezTo>
                <a:cubicBezTo>
                  <a:pt x="98" y="143"/>
                  <a:pt x="146" y="115"/>
                  <a:pt x="192" y="94"/>
                </a:cubicBezTo>
                <a:cubicBezTo>
                  <a:pt x="238" y="73"/>
                  <a:pt x="286" y="68"/>
                  <a:pt x="340" y="53"/>
                </a:cubicBezTo>
                <a:cubicBezTo>
                  <a:pt x="393" y="39"/>
                  <a:pt x="478" y="11"/>
                  <a:pt x="513" y="0"/>
                </a:cubicBezTo>
              </a:path>
            </a:pathLst>
          </a:custGeom>
          <a:noFill/>
          <a:ln w="38100" cap="flat" cmpd="sng">
            <a:solidFill>
              <a:srgbClr val="CC66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8388" name="Freeform 84"/>
          <p:cNvSpPr/>
          <p:nvPr/>
        </p:nvSpPr>
        <p:spPr>
          <a:xfrm>
            <a:off x="6516688" y="2155825"/>
            <a:ext cx="1674812" cy="1031875"/>
          </a:xfrm>
          <a:custGeom>
            <a:avLst/>
            <a:gdLst>
              <a:gd name="txL" fmla="*/ 0 w 1055"/>
              <a:gd name="txT" fmla="*/ 0 h 650"/>
              <a:gd name="txR" fmla="*/ 1055 w 1055"/>
              <a:gd name="txB" fmla="*/ 650 h 650"/>
            </a:gdLst>
            <a:ahLst/>
            <a:cxnLst>
              <a:cxn ang="0">
                <a:pos x="0" y="1638101344"/>
              </a:cxn>
              <a:cxn ang="0">
                <a:pos x="183970522" y="1307961793"/>
              </a:cxn>
              <a:cxn ang="0">
                <a:pos x="531751969" y="1050904365"/>
              </a:cxn>
              <a:cxn ang="0">
                <a:pos x="902215647" y="912296617"/>
              </a:cxn>
              <a:cxn ang="0">
                <a:pos x="1376004662" y="776208032"/>
              </a:cxn>
              <a:cxn ang="0">
                <a:pos x="1746466952" y="708164632"/>
              </a:cxn>
              <a:cxn ang="0">
                <a:pos x="2119449793" y="609877782"/>
              </a:cxn>
              <a:cxn ang="0">
                <a:pos x="2147483647" y="471268446"/>
              </a:cxn>
              <a:cxn ang="0">
                <a:pos x="2147483647" y="302418736"/>
              </a:cxn>
              <a:cxn ang="0">
                <a:pos x="2147483647" y="0"/>
              </a:cxn>
            </a:cxnLst>
            <a:rect l="txL" t="txT" r="txR" b="txB"/>
            <a:pathLst>
              <a:path w="1055" h="650">
                <a:moveTo>
                  <a:pt x="0" y="650"/>
                </a:moveTo>
                <a:cubicBezTo>
                  <a:pt x="12" y="628"/>
                  <a:pt x="38" y="558"/>
                  <a:pt x="73" y="519"/>
                </a:cubicBezTo>
                <a:cubicBezTo>
                  <a:pt x="108" y="480"/>
                  <a:pt x="164" y="443"/>
                  <a:pt x="211" y="417"/>
                </a:cubicBezTo>
                <a:cubicBezTo>
                  <a:pt x="258" y="391"/>
                  <a:pt x="302" y="380"/>
                  <a:pt x="358" y="362"/>
                </a:cubicBezTo>
                <a:cubicBezTo>
                  <a:pt x="414" y="344"/>
                  <a:pt x="490" y="321"/>
                  <a:pt x="546" y="308"/>
                </a:cubicBezTo>
                <a:cubicBezTo>
                  <a:pt x="601" y="296"/>
                  <a:pt x="644" y="292"/>
                  <a:pt x="693" y="281"/>
                </a:cubicBezTo>
                <a:cubicBezTo>
                  <a:pt x="743" y="270"/>
                  <a:pt x="797" y="257"/>
                  <a:pt x="841" y="242"/>
                </a:cubicBezTo>
                <a:cubicBezTo>
                  <a:pt x="885" y="227"/>
                  <a:pt x="930" y="207"/>
                  <a:pt x="961" y="187"/>
                </a:cubicBezTo>
                <a:cubicBezTo>
                  <a:pt x="992" y="166"/>
                  <a:pt x="1014" y="151"/>
                  <a:pt x="1029" y="120"/>
                </a:cubicBezTo>
                <a:cubicBezTo>
                  <a:pt x="1044" y="89"/>
                  <a:pt x="1049" y="26"/>
                  <a:pt x="1055" y="0"/>
                </a:cubicBezTo>
              </a:path>
            </a:pathLst>
          </a:custGeom>
          <a:noFill/>
          <a:ln w="38100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8389" name="Freeform 85"/>
          <p:cNvSpPr/>
          <p:nvPr/>
        </p:nvSpPr>
        <p:spPr>
          <a:xfrm>
            <a:off x="6502400" y="1230313"/>
            <a:ext cx="1695450" cy="917575"/>
          </a:xfrm>
          <a:custGeom>
            <a:avLst/>
            <a:gdLst>
              <a:gd name="txL" fmla="*/ 0 w 579"/>
              <a:gd name="txT" fmla="*/ 0 h 313"/>
              <a:gd name="txR" fmla="*/ 579 w 579"/>
              <a:gd name="txB" fmla="*/ 313 h 313"/>
            </a:gdLst>
            <a:ahLst/>
            <a:cxnLst>
              <a:cxn ang="0">
                <a:pos x="2147483647" y="2147483647"/>
              </a:cxn>
              <a:cxn ang="0">
                <a:pos x="2147483647" y="2053960788"/>
              </a:cxn>
              <a:cxn ang="0">
                <a:pos x="2147483647" y="1770359866"/>
              </a:cxn>
              <a:cxn ang="0">
                <a:pos x="2147483647" y="1650043258"/>
              </a:cxn>
              <a:cxn ang="0">
                <a:pos x="2147483647" y="1521133915"/>
              </a:cxn>
              <a:cxn ang="0">
                <a:pos x="2147483647" y="1332066634"/>
              </a:cxn>
              <a:cxn ang="0">
                <a:pos x="1946429220" y="1211752957"/>
              </a:cxn>
              <a:cxn ang="0">
                <a:pos x="1431955163" y="1057061012"/>
              </a:cxn>
              <a:cxn ang="0">
                <a:pos x="934629229" y="807835427"/>
              </a:cxn>
              <a:cxn ang="0">
                <a:pos x="308686063" y="429697750"/>
              </a:cxn>
              <a:cxn ang="0">
                <a:pos x="0" y="0"/>
              </a:cxn>
            </a:cxnLst>
            <a:rect l="txL" t="txT" r="txR" b="txB"/>
            <a:pathLst>
              <a:path w="579" h="313">
                <a:moveTo>
                  <a:pt x="579" y="313"/>
                </a:moveTo>
                <a:cubicBezTo>
                  <a:pt x="575" y="301"/>
                  <a:pt x="568" y="257"/>
                  <a:pt x="555" y="239"/>
                </a:cubicBezTo>
                <a:cubicBezTo>
                  <a:pt x="542" y="221"/>
                  <a:pt x="523" y="214"/>
                  <a:pt x="503" y="206"/>
                </a:cubicBezTo>
                <a:cubicBezTo>
                  <a:pt x="483" y="198"/>
                  <a:pt x="459" y="197"/>
                  <a:pt x="437" y="192"/>
                </a:cubicBezTo>
                <a:cubicBezTo>
                  <a:pt x="415" y="187"/>
                  <a:pt x="397" y="183"/>
                  <a:pt x="372" y="177"/>
                </a:cubicBezTo>
                <a:cubicBezTo>
                  <a:pt x="347" y="171"/>
                  <a:pt x="309" y="161"/>
                  <a:pt x="285" y="155"/>
                </a:cubicBezTo>
                <a:cubicBezTo>
                  <a:pt x="261" y="149"/>
                  <a:pt x="247" y="146"/>
                  <a:pt x="227" y="141"/>
                </a:cubicBezTo>
                <a:cubicBezTo>
                  <a:pt x="207" y="136"/>
                  <a:pt x="187" y="131"/>
                  <a:pt x="167" y="123"/>
                </a:cubicBezTo>
                <a:cubicBezTo>
                  <a:pt x="147" y="115"/>
                  <a:pt x="131" y="106"/>
                  <a:pt x="109" y="94"/>
                </a:cubicBezTo>
                <a:cubicBezTo>
                  <a:pt x="87" y="82"/>
                  <a:pt x="54" y="66"/>
                  <a:pt x="36" y="50"/>
                </a:cubicBezTo>
                <a:cubicBezTo>
                  <a:pt x="18" y="34"/>
                  <a:pt x="8" y="11"/>
                  <a:pt x="0" y="0"/>
                </a:cubicBezTo>
              </a:path>
            </a:pathLst>
          </a:custGeom>
          <a:noFill/>
          <a:ln w="19050" cap="flat" cmpd="sng">
            <a:solidFill>
              <a:srgbClr val="FF3300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8390" name="Freeform 86"/>
          <p:cNvSpPr/>
          <p:nvPr/>
        </p:nvSpPr>
        <p:spPr>
          <a:xfrm>
            <a:off x="6516688" y="3671888"/>
            <a:ext cx="857250" cy="433387"/>
          </a:xfrm>
          <a:custGeom>
            <a:avLst/>
            <a:gdLst>
              <a:gd name="txL" fmla="*/ 0 w 540"/>
              <a:gd name="txT" fmla="*/ 0 h 273"/>
              <a:gd name="txR" fmla="*/ 540 w 540"/>
              <a:gd name="txB" fmla="*/ 273 h 273"/>
            </a:gdLst>
            <a:ahLst/>
            <a:cxnLst>
              <a:cxn ang="0">
                <a:pos x="0" y="0"/>
              </a:cxn>
              <a:cxn ang="0">
                <a:pos x="80644988" y="181451009"/>
              </a:cxn>
              <a:cxn ang="0">
                <a:pos x="246975300" y="317539278"/>
              </a:cxn>
              <a:cxn ang="0">
                <a:pos x="451107169" y="488909728"/>
              </a:cxn>
              <a:cxn ang="0">
                <a:pos x="688001750" y="554433686"/>
              </a:cxn>
              <a:cxn ang="0">
                <a:pos x="919856218" y="622477002"/>
              </a:cxn>
              <a:cxn ang="0">
                <a:pos x="1123989576" y="655239774"/>
              </a:cxn>
              <a:cxn ang="0">
                <a:pos x="1360884157" y="688000960"/>
              </a:cxn>
            </a:cxnLst>
            <a:rect l="txL" t="txT" r="txR" b="txB"/>
            <a:pathLst>
              <a:path w="540" h="273">
                <a:moveTo>
                  <a:pt x="0" y="0"/>
                </a:moveTo>
                <a:cubicBezTo>
                  <a:pt x="6" y="12"/>
                  <a:pt x="16" y="51"/>
                  <a:pt x="32" y="72"/>
                </a:cubicBezTo>
                <a:cubicBezTo>
                  <a:pt x="48" y="93"/>
                  <a:pt x="74" y="105"/>
                  <a:pt x="98" y="126"/>
                </a:cubicBezTo>
                <a:cubicBezTo>
                  <a:pt x="122" y="146"/>
                  <a:pt x="150" y="179"/>
                  <a:pt x="179" y="194"/>
                </a:cubicBezTo>
                <a:cubicBezTo>
                  <a:pt x="208" y="208"/>
                  <a:pt x="242" y="210"/>
                  <a:pt x="273" y="220"/>
                </a:cubicBezTo>
                <a:cubicBezTo>
                  <a:pt x="304" y="229"/>
                  <a:pt x="336" y="240"/>
                  <a:pt x="365" y="247"/>
                </a:cubicBezTo>
                <a:cubicBezTo>
                  <a:pt x="394" y="255"/>
                  <a:pt x="417" y="256"/>
                  <a:pt x="446" y="260"/>
                </a:cubicBezTo>
                <a:cubicBezTo>
                  <a:pt x="476" y="264"/>
                  <a:pt x="522" y="271"/>
                  <a:pt x="540" y="273"/>
                </a:cubicBezTo>
              </a:path>
            </a:pathLst>
          </a:custGeom>
          <a:noFill/>
          <a:ln w="19050" cap="flat" cmpd="sng">
            <a:solidFill>
              <a:srgbClr val="CC66FF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8391" name="Freeform 87"/>
          <p:cNvSpPr/>
          <p:nvPr/>
        </p:nvSpPr>
        <p:spPr>
          <a:xfrm>
            <a:off x="6521450" y="1628775"/>
            <a:ext cx="1681163" cy="1036638"/>
          </a:xfrm>
          <a:custGeom>
            <a:avLst/>
            <a:gdLst>
              <a:gd name="txL" fmla="*/ 0 w 1059"/>
              <a:gd name="txT" fmla="*/ 0 h 653"/>
              <a:gd name="txR" fmla="*/ 1059 w 1059"/>
              <a:gd name="txB" fmla="*/ 653 h 653"/>
            </a:gdLst>
            <a:ahLst/>
            <a:cxnLst>
              <a:cxn ang="0">
                <a:pos x="0" y="1645663400"/>
              </a:cxn>
              <a:cxn ang="0">
                <a:pos x="194052843" y="1320562415"/>
              </a:cxn>
              <a:cxn ang="0">
                <a:pos x="511592627" y="1111390217"/>
              </a:cxn>
              <a:cxn ang="0">
                <a:pos x="884575890" y="942538937"/>
              </a:cxn>
              <a:cxn ang="0">
                <a:pos x="1358365187" y="808971236"/>
              </a:cxn>
              <a:cxn ang="0">
                <a:pos x="1728827698" y="738406854"/>
              </a:cxn>
              <a:cxn ang="0">
                <a:pos x="2101810762" y="642640906"/>
              </a:cxn>
              <a:cxn ang="0">
                <a:pos x="2147483647" y="501512140"/>
              </a:cxn>
              <a:cxn ang="0">
                <a:pos x="2147483647" y="330141398"/>
              </a:cxn>
              <a:cxn ang="0">
                <a:pos x="2147483647" y="0"/>
              </a:cxn>
            </a:cxnLst>
            <a:rect l="txL" t="txT" r="txR" b="txB"/>
            <a:pathLst>
              <a:path w="1059" h="653">
                <a:moveTo>
                  <a:pt x="0" y="653"/>
                </a:moveTo>
                <a:cubicBezTo>
                  <a:pt x="13" y="632"/>
                  <a:pt x="43" y="559"/>
                  <a:pt x="77" y="524"/>
                </a:cubicBezTo>
                <a:cubicBezTo>
                  <a:pt x="111" y="489"/>
                  <a:pt x="157" y="466"/>
                  <a:pt x="203" y="441"/>
                </a:cubicBezTo>
                <a:cubicBezTo>
                  <a:pt x="249" y="416"/>
                  <a:pt x="295" y="395"/>
                  <a:pt x="351" y="374"/>
                </a:cubicBezTo>
                <a:cubicBezTo>
                  <a:pt x="406" y="354"/>
                  <a:pt x="483" y="334"/>
                  <a:pt x="539" y="321"/>
                </a:cubicBezTo>
                <a:cubicBezTo>
                  <a:pt x="594" y="308"/>
                  <a:pt x="637" y="304"/>
                  <a:pt x="686" y="293"/>
                </a:cubicBezTo>
                <a:cubicBezTo>
                  <a:pt x="736" y="282"/>
                  <a:pt x="790" y="269"/>
                  <a:pt x="834" y="255"/>
                </a:cubicBezTo>
                <a:cubicBezTo>
                  <a:pt x="878" y="240"/>
                  <a:pt x="922" y="220"/>
                  <a:pt x="954" y="199"/>
                </a:cubicBezTo>
                <a:cubicBezTo>
                  <a:pt x="986" y="178"/>
                  <a:pt x="1013" y="164"/>
                  <a:pt x="1030" y="131"/>
                </a:cubicBezTo>
                <a:cubicBezTo>
                  <a:pt x="1047" y="98"/>
                  <a:pt x="1053" y="27"/>
                  <a:pt x="1059" y="0"/>
                </a:cubicBezTo>
              </a:path>
            </a:pathLst>
          </a:custGeom>
          <a:noFill/>
          <a:ln w="38100" cap="flat" cmpd="sng">
            <a:solidFill>
              <a:srgbClr val="9966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8392" name="Freeform 88"/>
          <p:cNvSpPr/>
          <p:nvPr/>
        </p:nvSpPr>
        <p:spPr>
          <a:xfrm>
            <a:off x="6510338" y="2665413"/>
            <a:ext cx="1692275" cy="933450"/>
          </a:xfrm>
          <a:custGeom>
            <a:avLst/>
            <a:gdLst>
              <a:gd name="txL" fmla="*/ 0 w 578"/>
              <a:gd name="txT" fmla="*/ 0 h 318"/>
              <a:gd name="txR" fmla="*/ 578 w 578"/>
              <a:gd name="txB" fmla="*/ 318 h 318"/>
            </a:gdLst>
            <a:ahLst/>
            <a:cxnLst>
              <a:cxn ang="0">
                <a:pos x="2147483647" y="2147483647"/>
              </a:cxn>
              <a:cxn ang="0">
                <a:pos x="2147483647" y="2102411123"/>
              </a:cxn>
              <a:cxn ang="0">
                <a:pos x="2147483647" y="1818070034"/>
              </a:cxn>
              <a:cxn ang="0">
                <a:pos x="2147483647" y="1697437812"/>
              </a:cxn>
              <a:cxn ang="0">
                <a:pos x="2147483647" y="1568193196"/>
              </a:cxn>
              <a:cxn ang="0">
                <a:pos x="2147483647" y="1378629168"/>
              </a:cxn>
              <a:cxn ang="0">
                <a:pos x="1937288812" y="1257999882"/>
              </a:cxn>
              <a:cxn ang="0">
                <a:pos x="1500113686" y="1128752331"/>
              </a:cxn>
              <a:cxn ang="0">
                <a:pos x="814347346" y="878875494"/>
              </a:cxn>
              <a:cxn ang="0">
                <a:pos x="248591671" y="568685298"/>
              </a:cxn>
              <a:cxn ang="0">
                <a:pos x="0" y="0"/>
              </a:cxn>
            </a:cxnLst>
            <a:rect l="txL" t="txT" r="txR" b="txB"/>
            <a:pathLst>
              <a:path w="578" h="318">
                <a:moveTo>
                  <a:pt x="578" y="318"/>
                </a:moveTo>
                <a:cubicBezTo>
                  <a:pt x="574" y="306"/>
                  <a:pt x="567" y="262"/>
                  <a:pt x="554" y="244"/>
                </a:cubicBezTo>
                <a:cubicBezTo>
                  <a:pt x="541" y="226"/>
                  <a:pt x="522" y="219"/>
                  <a:pt x="502" y="211"/>
                </a:cubicBezTo>
                <a:cubicBezTo>
                  <a:pt x="482" y="203"/>
                  <a:pt x="458" y="202"/>
                  <a:pt x="436" y="197"/>
                </a:cubicBezTo>
                <a:cubicBezTo>
                  <a:pt x="414" y="192"/>
                  <a:pt x="396" y="188"/>
                  <a:pt x="371" y="182"/>
                </a:cubicBezTo>
                <a:cubicBezTo>
                  <a:pt x="346" y="176"/>
                  <a:pt x="308" y="166"/>
                  <a:pt x="284" y="160"/>
                </a:cubicBezTo>
                <a:cubicBezTo>
                  <a:pt x="260" y="154"/>
                  <a:pt x="244" y="151"/>
                  <a:pt x="226" y="146"/>
                </a:cubicBezTo>
                <a:cubicBezTo>
                  <a:pt x="208" y="141"/>
                  <a:pt x="197" y="138"/>
                  <a:pt x="175" y="131"/>
                </a:cubicBezTo>
                <a:cubicBezTo>
                  <a:pt x="153" y="124"/>
                  <a:pt x="119" y="113"/>
                  <a:pt x="95" y="102"/>
                </a:cubicBezTo>
                <a:cubicBezTo>
                  <a:pt x="71" y="91"/>
                  <a:pt x="45" y="83"/>
                  <a:pt x="29" y="66"/>
                </a:cubicBezTo>
                <a:cubicBezTo>
                  <a:pt x="13" y="49"/>
                  <a:pt x="6" y="14"/>
                  <a:pt x="0" y="0"/>
                </a:cubicBezTo>
              </a:path>
            </a:pathLst>
          </a:custGeom>
          <a:noFill/>
          <a:ln w="19050" cap="flat" cmpd="sng">
            <a:solidFill>
              <a:srgbClr val="996633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8393" name="Freeform 89"/>
          <p:cNvSpPr/>
          <p:nvPr/>
        </p:nvSpPr>
        <p:spPr>
          <a:xfrm>
            <a:off x="7354888" y="3636963"/>
            <a:ext cx="828675" cy="492125"/>
          </a:xfrm>
          <a:custGeom>
            <a:avLst/>
            <a:gdLst>
              <a:gd name="txL" fmla="*/ 0 w 283"/>
              <a:gd name="txT" fmla="*/ 0 h 168"/>
              <a:gd name="txR" fmla="*/ 283 w 283"/>
              <a:gd name="txB" fmla="*/ 168 h 168"/>
            </a:gdLst>
            <a:ahLst/>
            <a:cxnLst>
              <a:cxn ang="0">
                <a:pos x="2147483647" y="0"/>
              </a:cxn>
              <a:cxn ang="0">
                <a:pos x="2147483647" y="506273593"/>
              </a:cxn>
              <a:cxn ang="0">
                <a:pos x="1740571791" y="943898703"/>
              </a:cxn>
              <a:cxn ang="0">
                <a:pos x="1243264153" y="1192743962"/>
              </a:cxn>
              <a:cxn ang="0">
                <a:pos x="617345223" y="1312875146"/>
              </a:cxn>
              <a:cxn ang="0">
                <a:pos x="0" y="1441589221"/>
              </a:cxn>
            </a:cxnLst>
            <a:rect l="txL" t="txT" r="txR" b="txB"/>
            <a:pathLst>
              <a:path w="283" h="168">
                <a:moveTo>
                  <a:pt x="283" y="0"/>
                </a:moveTo>
                <a:cubicBezTo>
                  <a:pt x="279" y="20"/>
                  <a:pt x="275" y="41"/>
                  <a:pt x="262" y="59"/>
                </a:cubicBezTo>
                <a:cubicBezTo>
                  <a:pt x="249" y="77"/>
                  <a:pt x="222" y="97"/>
                  <a:pt x="203" y="110"/>
                </a:cubicBezTo>
                <a:cubicBezTo>
                  <a:pt x="184" y="123"/>
                  <a:pt x="167" y="132"/>
                  <a:pt x="145" y="139"/>
                </a:cubicBezTo>
                <a:cubicBezTo>
                  <a:pt x="123" y="146"/>
                  <a:pt x="96" y="148"/>
                  <a:pt x="72" y="153"/>
                </a:cubicBezTo>
                <a:cubicBezTo>
                  <a:pt x="48" y="158"/>
                  <a:pt x="23" y="165"/>
                  <a:pt x="0" y="168"/>
                </a:cubicBezTo>
              </a:path>
            </a:pathLst>
          </a:custGeom>
          <a:noFill/>
          <a:ln w="19050" cap="flat" cmpd="sng">
            <a:solidFill>
              <a:srgbClr val="996633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8394" name="Freeform 90"/>
          <p:cNvSpPr/>
          <p:nvPr/>
        </p:nvSpPr>
        <p:spPr>
          <a:xfrm>
            <a:off x="7354888" y="1185863"/>
            <a:ext cx="828675" cy="468312"/>
          </a:xfrm>
          <a:custGeom>
            <a:avLst/>
            <a:gdLst>
              <a:gd name="txL" fmla="*/ 0 w 283"/>
              <a:gd name="txT" fmla="*/ 0 h 160"/>
              <a:gd name="txR" fmla="*/ 283 w 283"/>
              <a:gd name="txB" fmla="*/ 160 h 160"/>
            </a:gdLst>
            <a:ahLst/>
            <a:cxnLst>
              <a:cxn ang="0">
                <a:pos x="2147483647" y="1370725651"/>
              </a:cxn>
              <a:cxn ang="0">
                <a:pos x="2117835439" y="745333081"/>
              </a:cxn>
              <a:cxn ang="0">
                <a:pos x="1620531095" y="436917551"/>
              </a:cxn>
              <a:cxn ang="0">
                <a:pos x="1123226385" y="248445367"/>
              </a:cxn>
              <a:cxn ang="0">
                <a:pos x="617345223" y="128504810"/>
              </a:cxn>
              <a:cxn ang="0">
                <a:pos x="0" y="0"/>
              </a:cxn>
            </a:cxnLst>
            <a:rect l="txL" t="txT" r="txR" b="txB"/>
            <a:pathLst>
              <a:path w="283" h="160">
                <a:moveTo>
                  <a:pt x="283" y="160"/>
                </a:moveTo>
                <a:cubicBezTo>
                  <a:pt x="277" y="148"/>
                  <a:pt x="263" y="105"/>
                  <a:pt x="247" y="87"/>
                </a:cubicBezTo>
                <a:cubicBezTo>
                  <a:pt x="231" y="69"/>
                  <a:pt x="208" y="61"/>
                  <a:pt x="189" y="51"/>
                </a:cubicBezTo>
                <a:cubicBezTo>
                  <a:pt x="170" y="41"/>
                  <a:pt x="150" y="35"/>
                  <a:pt x="131" y="29"/>
                </a:cubicBezTo>
                <a:cubicBezTo>
                  <a:pt x="112" y="23"/>
                  <a:pt x="94" y="20"/>
                  <a:pt x="72" y="15"/>
                </a:cubicBezTo>
                <a:cubicBezTo>
                  <a:pt x="50" y="10"/>
                  <a:pt x="15" y="3"/>
                  <a:pt x="0" y="0"/>
                </a:cubicBezTo>
              </a:path>
            </a:pathLst>
          </a:custGeom>
          <a:noFill/>
          <a:ln w="19050" cap="flat" cmpd="sng">
            <a:solidFill>
              <a:srgbClr val="996633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8395" name="Freeform 91"/>
          <p:cNvSpPr/>
          <p:nvPr/>
        </p:nvSpPr>
        <p:spPr>
          <a:xfrm>
            <a:off x="6516688" y="3176588"/>
            <a:ext cx="1684337" cy="893762"/>
          </a:xfrm>
          <a:custGeom>
            <a:avLst/>
            <a:gdLst>
              <a:gd name="txL" fmla="*/ 0 w 1061"/>
              <a:gd name="txT" fmla="*/ 0 h 563"/>
              <a:gd name="txR" fmla="*/ 1061 w 1061"/>
              <a:gd name="txB" fmla="*/ 563 h 563"/>
            </a:gdLst>
            <a:ahLst/>
            <a:cxnLst>
              <a:cxn ang="0">
                <a:pos x="2147483647" y="1418846163"/>
              </a:cxn>
              <a:cxn ang="0">
                <a:pos x="2147483647" y="1073585893"/>
              </a:cxn>
              <a:cxn ang="0">
                <a:pos x="2147483647" y="919855721"/>
              </a:cxn>
              <a:cxn ang="0">
                <a:pos x="2013603319" y="856852671"/>
              </a:cxn>
              <a:cxn ang="0">
                <a:pos x="1711184798" y="786288168"/>
              </a:cxn>
              <a:cxn ang="0">
                <a:pos x="1307959707" y="682961070"/>
              </a:cxn>
              <a:cxn ang="0">
                <a:pos x="1038303986" y="617437073"/>
              </a:cxn>
              <a:cxn ang="0">
                <a:pos x="758565862" y="534272793"/>
              </a:cxn>
              <a:cxn ang="0">
                <a:pos x="458668289" y="420865080"/>
              </a:cxn>
              <a:cxn ang="0">
                <a:pos x="146169001" y="219252681"/>
              </a:cxn>
              <a:cxn ang="0">
                <a:pos x="0" y="0"/>
              </a:cxn>
            </a:cxnLst>
            <a:rect l="txL" t="txT" r="txR" b="txB"/>
            <a:pathLst>
              <a:path w="1061" h="563">
                <a:moveTo>
                  <a:pt x="1061" y="563"/>
                </a:moveTo>
                <a:cubicBezTo>
                  <a:pt x="1054" y="541"/>
                  <a:pt x="1041" y="460"/>
                  <a:pt x="1017" y="426"/>
                </a:cubicBezTo>
                <a:cubicBezTo>
                  <a:pt x="993" y="393"/>
                  <a:pt x="958" y="380"/>
                  <a:pt x="921" y="365"/>
                </a:cubicBezTo>
                <a:cubicBezTo>
                  <a:pt x="884" y="351"/>
                  <a:pt x="840" y="349"/>
                  <a:pt x="799" y="340"/>
                </a:cubicBezTo>
                <a:cubicBezTo>
                  <a:pt x="758" y="330"/>
                  <a:pt x="725" y="323"/>
                  <a:pt x="679" y="312"/>
                </a:cubicBezTo>
                <a:cubicBezTo>
                  <a:pt x="633" y="301"/>
                  <a:pt x="563" y="282"/>
                  <a:pt x="519" y="271"/>
                </a:cubicBezTo>
                <a:cubicBezTo>
                  <a:pt x="474" y="260"/>
                  <a:pt x="449" y="255"/>
                  <a:pt x="412" y="245"/>
                </a:cubicBezTo>
                <a:cubicBezTo>
                  <a:pt x="375" y="236"/>
                  <a:pt x="339" y="225"/>
                  <a:pt x="301" y="212"/>
                </a:cubicBezTo>
                <a:cubicBezTo>
                  <a:pt x="263" y="199"/>
                  <a:pt x="222" y="188"/>
                  <a:pt x="182" y="167"/>
                </a:cubicBezTo>
                <a:cubicBezTo>
                  <a:pt x="142" y="146"/>
                  <a:pt x="88" y="115"/>
                  <a:pt x="58" y="87"/>
                </a:cubicBezTo>
                <a:cubicBezTo>
                  <a:pt x="28" y="59"/>
                  <a:pt x="12" y="18"/>
                  <a:pt x="0" y="0"/>
                </a:cubicBezTo>
              </a:path>
            </a:pathLst>
          </a:custGeom>
          <a:noFill/>
          <a:ln w="19050" cap="flat" cmpd="sng">
            <a:solidFill>
              <a:srgbClr val="FF3300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8396" name="Text Box 92"/>
          <p:cNvSpPr txBox="1"/>
          <p:nvPr/>
        </p:nvSpPr>
        <p:spPr>
          <a:xfrm>
            <a:off x="974725" y="1692275"/>
            <a:ext cx="5040313" cy="2528888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</a:rPr>
              <a:t>        沿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一条螺旋线</a:t>
            </a:r>
            <a:r>
              <a:rPr lang="zh-CN" altLang="en-US" sz="3200" b="1" dirty="0">
                <a:latin typeface="Times New Roman" panose="02020603050405020304" pitchFamily="18" charset="0"/>
              </a:rPr>
              <a:t>形成的螺纹叫做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单线螺纹</a:t>
            </a:r>
            <a:r>
              <a:rPr lang="zh-CN" altLang="en-US" sz="3200" b="1" dirty="0">
                <a:latin typeface="Times New Roman" panose="02020603050405020304" pitchFamily="18" charset="0"/>
              </a:rPr>
              <a:t>；沿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两条或两条以上</a:t>
            </a:r>
            <a:r>
              <a:rPr lang="zh-CN" altLang="en-US" sz="3200" b="1" dirty="0">
                <a:latin typeface="Times New Roman" panose="02020603050405020304" pitchFamily="18" charset="0"/>
              </a:rPr>
              <a:t>在轴向等距分布的螺旋线所形成的螺纹叫做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多线螺纹</a:t>
            </a:r>
            <a:r>
              <a:rPr lang="zh-CN" altLang="en-US" sz="3200" b="1" dirty="0">
                <a:latin typeface="Times New Roman" panose="02020603050405020304" pitchFamily="18" charset="0"/>
              </a:rPr>
              <a:t>。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pic>
        <p:nvPicPr>
          <p:cNvPr id="98397" name="Picture 93" descr="螺纹线数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2100" y="4692650"/>
            <a:ext cx="2076450" cy="1095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8398" name="Text Box 94"/>
          <p:cNvSpPr txBox="1"/>
          <p:nvPr/>
        </p:nvSpPr>
        <p:spPr>
          <a:xfrm>
            <a:off x="1641475" y="5802313"/>
            <a:ext cx="181610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333399"/>
                </a:solidFill>
                <a:latin typeface="Times New Roman" panose="02020603050405020304" pitchFamily="18" charset="0"/>
              </a:rPr>
              <a:t>单线螺纹</a:t>
            </a:r>
            <a:endParaRPr lang="zh-CN" altLang="en-US" sz="3200" b="1" dirty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98399" name="Text Box 95"/>
          <p:cNvSpPr txBox="1"/>
          <p:nvPr/>
        </p:nvSpPr>
        <p:spPr>
          <a:xfrm>
            <a:off x="5472113" y="5740400"/>
            <a:ext cx="18161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333399"/>
                </a:solidFill>
                <a:latin typeface="Times New Roman" panose="02020603050405020304" pitchFamily="18" charset="0"/>
              </a:rPr>
              <a:t>双线螺纹</a:t>
            </a:r>
            <a:endParaRPr lang="zh-CN" altLang="en-US" sz="3200" b="1" dirty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" name="Group 96"/>
          <p:cNvGrpSpPr/>
          <p:nvPr/>
        </p:nvGrpSpPr>
        <p:grpSpPr>
          <a:xfrm>
            <a:off x="5299075" y="4649788"/>
            <a:ext cx="2209800" cy="1133475"/>
            <a:chOff x="3225" y="2492"/>
            <a:chExt cx="1392" cy="714"/>
          </a:xfrm>
        </p:grpSpPr>
        <p:pic>
          <p:nvPicPr>
            <p:cNvPr id="50204" name="Picture 97" descr="螺纹线数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25" y="2492"/>
              <a:ext cx="1392" cy="714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50205" name="Group 98"/>
            <p:cNvGrpSpPr/>
            <p:nvPr/>
          </p:nvGrpSpPr>
          <p:grpSpPr>
            <a:xfrm>
              <a:off x="4186" y="2563"/>
              <a:ext cx="377" cy="613"/>
              <a:chOff x="4186" y="2563"/>
              <a:chExt cx="377" cy="613"/>
            </a:xfrm>
          </p:grpSpPr>
          <p:sp>
            <p:nvSpPr>
              <p:cNvPr id="50212" name="Freeform 99"/>
              <p:cNvSpPr/>
              <p:nvPr/>
            </p:nvSpPr>
            <p:spPr>
              <a:xfrm>
                <a:off x="4219" y="2563"/>
                <a:ext cx="250" cy="591"/>
              </a:xfrm>
              <a:custGeom>
                <a:avLst/>
                <a:gdLst>
                  <a:gd name="txL" fmla="*/ 0 w 250"/>
                  <a:gd name="txT" fmla="*/ 0 h 591"/>
                  <a:gd name="txR" fmla="*/ 250 w 250"/>
                  <a:gd name="txB" fmla="*/ 591 h 591"/>
                </a:gdLst>
                <a:ahLst/>
                <a:cxnLst>
                  <a:cxn ang="0">
                    <a:pos x="0" y="0"/>
                  </a:cxn>
                  <a:cxn ang="0">
                    <a:pos x="72" y="0"/>
                  </a:cxn>
                  <a:cxn ang="0">
                    <a:pos x="96" y="58"/>
                  </a:cxn>
                  <a:cxn ang="0">
                    <a:pos x="120" y="125"/>
                  </a:cxn>
                  <a:cxn ang="0">
                    <a:pos x="135" y="173"/>
                  </a:cxn>
                  <a:cxn ang="0">
                    <a:pos x="144" y="235"/>
                  </a:cxn>
                  <a:cxn ang="0">
                    <a:pos x="163" y="303"/>
                  </a:cxn>
                  <a:cxn ang="0">
                    <a:pos x="183" y="375"/>
                  </a:cxn>
                  <a:cxn ang="0">
                    <a:pos x="202" y="432"/>
                  </a:cxn>
                  <a:cxn ang="0">
                    <a:pos x="216" y="475"/>
                  </a:cxn>
                  <a:cxn ang="0">
                    <a:pos x="235" y="533"/>
                  </a:cxn>
                  <a:cxn ang="0">
                    <a:pos x="250" y="571"/>
                  </a:cxn>
                  <a:cxn ang="0">
                    <a:pos x="202" y="591"/>
                  </a:cxn>
                  <a:cxn ang="0">
                    <a:pos x="173" y="547"/>
                  </a:cxn>
                  <a:cxn ang="0">
                    <a:pos x="159" y="495"/>
                  </a:cxn>
                  <a:cxn ang="0">
                    <a:pos x="135" y="418"/>
                  </a:cxn>
                  <a:cxn ang="0">
                    <a:pos x="111" y="317"/>
                  </a:cxn>
                  <a:cxn ang="0">
                    <a:pos x="96" y="240"/>
                  </a:cxn>
                  <a:cxn ang="0">
                    <a:pos x="67" y="139"/>
                  </a:cxn>
                  <a:cxn ang="0">
                    <a:pos x="39" y="67"/>
                  </a:cxn>
                  <a:cxn ang="0">
                    <a:pos x="0" y="0"/>
                  </a:cxn>
                </a:cxnLst>
                <a:rect l="txL" t="txT" r="txR" b="txB"/>
                <a:pathLst>
                  <a:path w="250" h="591">
                    <a:moveTo>
                      <a:pt x="0" y="0"/>
                    </a:moveTo>
                    <a:lnTo>
                      <a:pt x="72" y="0"/>
                    </a:lnTo>
                    <a:lnTo>
                      <a:pt x="96" y="58"/>
                    </a:lnTo>
                    <a:lnTo>
                      <a:pt x="120" y="125"/>
                    </a:lnTo>
                    <a:lnTo>
                      <a:pt x="135" y="173"/>
                    </a:lnTo>
                    <a:lnTo>
                      <a:pt x="144" y="235"/>
                    </a:lnTo>
                    <a:lnTo>
                      <a:pt x="163" y="303"/>
                    </a:lnTo>
                    <a:lnTo>
                      <a:pt x="183" y="375"/>
                    </a:lnTo>
                    <a:lnTo>
                      <a:pt x="202" y="432"/>
                    </a:lnTo>
                    <a:lnTo>
                      <a:pt x="216" y="475"/>
                    </a:lnTo>
                    <a:lnTo>
                      <a:pt x="235" y="533"/>
                    </a:lnTo>
                    <a:lnTo>
                      <a:pt x="250" y="571"/>
                    </a:lnTo>
                    <a:lnTo>
                      <a:pt x="202" y="591"/>
                    </a:lnTo>
                    <a:lnTo>
                      <a:pt x="173" y="547"/>
                    </a:lnTo>
                    <a:lnTo>
                      <a:pt x="159" y="495"/>
                    </a:lnTo>
                    <a:lnTo>
                      <a:pt x="135" y="418"/>
                    </a:lnTo>
                    <a:lnTo>
                      <a:pt x="111" y="317"/>
                    </a:lnTo>
                    <a:lnTo>
                      <a:pt x="96" y="240"/>
                    </a:lnTo>
                    <a:lnTo>
                      <a:pt x="67" y="139"/>
                    </a:lnTo>
                    <a:lnTo>
                      <a:pt x="39" y="67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50000">
                    <a:srgbClr val="FF3300"/>
                  </a:gs>
                  <a:gs pos="100000">
                    <a:srgbClr val="761800"/>
                  </a:gs>
                </a:gsLst>
                <a:lin ang="5400000" scaled="1"/>
                <a:tileRect/>
              </a:gradFill>
              <a:ln w="190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0213" name="Freeform 100"/>
              <p:cNvSpPr/>
              <p:nvPr/>
            </p:nvSpPr>
            <p:spPr>
              <a:xfrm>
                <a:off x="4186" y="2573"/>
                <a:ext cx="163" cy="398"/>
              </a:xfrm>
              <a:custGeom>
                <a:avLst/>
                <a:gdLst>
                  <a:gd name="txL" fmla="*/ 0 w 163"/>
                  <a:gd name="txT" fmla="*/ 0 h 398"/>
                  <a:gd name="txR" fmla="*/ 163 w 163"/>
                  <a:gd name="txB" fmla="*/ 398 h 398"/>
                </a:gdLst>
                <a:ahLst/>
                <a:cxnLst>
                  <a:cxn ang="0">
                    <a:pos x="0" y="101"/>
                  </a:cxn>
                  <a:cxn ang="0">
                    <a:pos x="9" y="57"/>
                  </a:cxn>
                  <a:cxn ang="0">
                    <a:pos x="19" y="24"/>
                  </a:cxn>
                  <a:cxn ang="0">
                    <a:pos x="33" y="0"/>
                  </a:cxn>
                  <a:cxn ang="0">
                    <a:pos x="57" y="24"/>
                  </a:cxn>
                  <a:cxn ang="0">
                    <a:pos x="76" y="67"/>
                  </a:cxn>
                  <a:cxn ang="0">
                    <a:pos x="100" y="139"/>
                  </a:cxn>
                  <a:cxn ang="0">
                    <a:pos x="120" y="221"/>
                  </a:cxn>
                  <a:cxn ang="0">
                    <a:pos x="139" y="283"/>
                  </a:cxn>
                  <a:cxn ang="0">
                    <a:pos x="148" y="355"/>
                  </a:cxn>
                  <a:cxn ang="0">
                    <a:pos x="163" y="398"/>
                  </a:cxn>
                  <a:cxn ang="0">
                    <a:pos x="144" y="336"/>
                  </a:cxn>
                  <a:cxn ang="0">
                    <a:pos x="115" y="264"/>
                  </a:cxn>
                  <a:cxn ang="0">
                    <a:pos x="72" y="177"/>
                  </a:cxn>
                  <a:cxn ang="0">
                    <a:pos x="43" y="129"/>
                  </a:cxn>
                  <a:cxn ang="0">
                    <a:pos x="0" y="101"/>
                  </a:cxn>
                </a:cxnLst>
                <a:rect l="txL" t="txT" r="txR" b="txB"/>
                <a:pathLst>
                  <a:path w="163" h="398">
                    <a:moveTo>
                      <a:pt x="0" y="101"/>
                    </a:moveTo>
                    <a:lnTo>
                      <a:pt x="9" y="57"/>
                    </a:lnTo>
                    <a:lnTo>
                      <a:pt x="19" y="24"/>
                    </a:lnTo>
                    <a:lnTo>
                      <a:pt x="33" y="0"/>
                    </a:lnTo>
                    <a:lnTo>
                      <a:pt x="57" y="24"/>
                    </a:lnTo>
                    <a:lnTo>
                      <a:pt x="76" y="67"/>
                    </a:lnTo>
                    <a:lnTo>
                      <a:pt x="100" y="139"/>
                    </a:lnTo>
                    <a:lnTo>
                      <a:pt x="120" y="221"/>
                    </a:lnTo>
                    <a:lnTo>
                      <a:pt x="139" y="283"/>
                    </a:lnTo>
                    <a:lnTo>
                      <a:pt x="148" y="355"/>
                    </a:lnTo>
                    <a:lnTo>
                      <a:pt x="163" y="398"/>
                    </a:lnTo>
                    <a:lnTo>
                      <a:pt x="144" y="336"/>
                    </a:lnTo>
                    <a:lnTo>
                      <a:pt x="115" y="264"/>
                    </a:lnTo>
                    <a:lnTo>
                      <a:pt x="72" y="177"/>
                    </a:lnTo>
                    <a:lnTo>
                      <a:pt x="43" y="129"/>
                    </a:lnTo>
                    <a:lnTo>
                      <a:pt x="0" y="1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100000">
                    <a:srgbClr val="FF3300"/>
                  </a:gs>
                </a:gsLst>
                <a:lin ang="0" scaled="1"/>
                <a:tileRect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0214" name="Freeform 101"/>
              <p:cNvSpPr/>
              <p:nvPr/>
            </p:nvSpPr>
            <p:spPr>
              <a:xfrm>
                <a:off x="4339" y="2698"/>
                <a:ext cx="173" cy="427"/>
              </a:xfrm>
              <a:custGeom>
                <a:avLst/>
                <a:gdLst>
                  <a:gd name="txL" fmla="*/ 0 w 173"/>
                  <a:gd name="txT" fmla="*/ 0 h 427"/>
                  <a:gd name="txR" fmla="*/ 173 w 173"/>
                  <a:gd name="txB" fmla="*/ 427 h 427"/>
                </a:gdLst>
                <a:ahLst/>
                <a:cxnLst>
                  <a:cxn ang="0">
                    <a:pos x="0" y="0"/>
                  </a:cxn>
                  <a:cxn ang="0">
                    <a:pos x="39" y="81"/>
                  </a:cxn>
                  <a:cxn ang="0">
                    <a:pos x="72" y="196"/>
                  </a:cxn>
                  <a:cxn ang="0">
                    <a:pos x="96" y="254"/>
                  </a:cxn>
                  <a:cxn ang="0">
                    <a:pos x="115" y="288"/>
                  </a:cxn>
                  <a:cxn ang="0">
                    <a:pos x="144" y="312"/>
                  </a:cxn>
                  <a:cxn ang="0">
                    <a:pos x="173" y="316"/>
                  </a:cxn>
                  <a:cxn ang="0">
                    <a:pos x="173" y="364"/>
                  </a:cxn>
                  <a:cxn ang="0">
                    <a:pos x="168" y="408"/>
                  </a:cxn>
                  <a:cxn ang="0">
                    <a:pos x="149" y="427"/>
                  </a:cxn>
                  <a:cxn ang="0">
                    <a:pos x="130" y="412"/>
                  </a:cxn>
                  <a:cxn ang="0">
                    <a:pos x="115" y="388"/>
                  </a:cxn>
                  <a:cxn ang="0">
                    <a:pos x="106" y="355"/>
                  </a:cxn>
                  <a:cxn ang="0">
                    <a:pos x="91" y="302"/>
                  </a:cxn>
                  <a:cxn ang="0">
                    <a:pos x="58" y="216"/>
                  </a:cxn>
                  <a:cxn ang="0">
                    <a:pos x="34" y="144"/>
                  </a:cxn>
                  <a:cxn ang="0">
                    <a:pos x="0" y="0"/>
                  </a:cxn>
                </a:cxnLst>
                <a:rect l="txL" t="txT" r="txR" b="txB"/>
                <a:pathLst>
                  <a:path w="173" h="427">
                    <a:moveTo>
                      <a:pt x="0" y="0"/>
                    </a:moveTo>
                    <a:lnTo>
                      <a:pt x="39" y="81"/>
                    </a:lnTo>
                    <a:lnTo>
                      <a:pt x="72" y="196"/>
                    </a:lnTo>
                    <a:lnTo>
                      <a:pt x="96" y="254"/>
                    </a:lnTo>
                    <a:lnTo>
                      <a:pt x="115" y="288"/>
                    </a:lnTo>
                    <a:lnTo>
                      <a:pt x="144" y="312"/>
                    </a:lnTo>
                    <a:lnTo>
                      <a:pt x="173" y="316"/>
                    </a:lnTo>
                    <a:lnTo>
                      <a:pt x="173" y="364"/>
                    </a:lnTo>
                    <a:lnTo>
                      <a:pt x="168" y="408"/>
                    </a:lnTo>
                    <a:lnTo>
                      <a:pt x="149" y="427"/>
                    </a:lnTo>
                    <a:lnTo>
                      <a:pt x="130" y="412"/>
                    </a:lnTo>
                    <a:lnTo>
                      <a:pt x="115" y="388"/>
                    </a:lnTo>
                    <a:lnTo>
                      <a:pt x="106" y="355"/>
                    </a:lnTo>
                    <a:lnTo>
                      <a:pt x="91" y="302"/>
                    </a:lnTo>
                    <a:lnTo>
                      <a:pt x="58" y="216"/>
                    </a:lnTo>
                    <a:lnTo>
                      <a:pt x="34" y="144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100000">
                    <a:srgbClr val="FF3300"/>
                  </a:gs>
                </a:gsLst>
                <a:lin ang="0" scaled="1"/>
                <a:tileRect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0215" name="Rectangle 102"/>
              <p:cNvSpPr/>
              <p:nvPr/>
            </p:nvSpPr>
            <p:spPr>
              <a:xfrm>
                <a:off x="4348" y="3128"/>
                <a:ext cx="215" cy="48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50206" name="Group 103"/>
            <p:cNvGrpSpPr/>
            <p:nvPr/>
          </p:nvGrpSpPr>
          <p:grpSpPr>
            <a:xfrm>
              <a:off x="3840" y="2564"/>
              <a:ext cx="377" cy="613"/>
              <a:chOff x="4186" y="2563"/>
              <a:chExt cx="377" cy="613"/>
            </a:xfrm>
          </p:grpSpPr>
          <p:sp>
            <p:nvSpPr>
              <p:cNvPr id="50208" name="Freeform 104"/>
              <p:cNvSpPr/>
              <p:nvPr/>
            </p:nvSpPr>
            <p:spPr>
              <a:xfrm>
                <a:off x="4219" y="2563"/>
                <a:ext cx="250" cy="591"/>
              </a:xfrm>
              <a:custGeom>
                <a:avLst/>
                <a:gdLst>
                  <a:gd name="txL" fmla="*/ 0 w 250"/>
                  <a:gd name="txT" fmla="*/ 0 h 591"/>
                  <a:gd name="txR" fmla="*/ 250 w 250"/>
                  <a:gd name="txB" fmla="*/ 591 h 591"/>
                </a:gdLst>
                <a:ahLst/>
                <a:cxnLst>
                  <a:cxn ang="0">
                    <a:pos x="0" y="0"/>
                  </a:cxn>
                  <a:cxn ang="0">
                    <a:pos x="72" y="0"/>
                  </a:cxn>
                  <a:cxn ang="0">
                    <a:pos x="96" y="58"/>
                  </a:cxn>
                  <a:cxn ang="0">
                    <a:pos x="120" y="125"/>
                  </a:cxn>
                  <a:cxn ang="0">
                    <a:pos x="135" y="173"/>
                  </a:cxn>
                  <a:cxn ang="0">
                    <a:pos x="144" y="235"/>
                  </a:cxn>
                  <a:cxn ang="0">
                    <a:pos x="163" y="303"/>
                  </a:cxn>
                  <a:cxn ang="0">
                    <a:pos x="183" y="375"/>
                  </a:cxn>
                  <a:cxn ang="0">
                    <a:pos x="202" y="432"/>
                  </a:cxn>
                  <a:cxn ang="0">
                    <a:pos x="216" y="475"/>
                  </a:cxn>
                  <a:cxn ang="0">
                    <a:pos x="235" y="533"/>
                  </a:cxn>
                  <a:cxn ang="0">
                    <a:pos x="250" y="571"/>
                  </a:cxn>
                  <a:cxn ang="0">
                    <a:pos x="202" y="591"/>
                  </a:cxn>
                  <a:cxn ang="0">
                    <a:pos x="173" y="547"/>
                  </a:cxn>
                  <a:cxn ang="0">
                    <a:pos x="159" y="495"/>
                  </a:cxn>
                  <a:cxn ang="0">
                    <a:pos x="135" y="418"/>
                  </a:cxn>
                  <a:cxn ang="0">
                    <a:pos x="111" y="317"/>
                  </a:cxn>
                  <a:cxn ang="0">
                    <a:pos x="96" y="240"/>
                  </a:cxn>
                  <a:cxn ang="0">
                    <a:pos x="67" y="139"/>
                  </a:cxn>
                  <a:cxn ang="0">
                    <a:pos x="39" y="67"/>
                  </a:cxn>
                  <a:cxn ang="0">
                    <a:pos x="0" y="0"/>
                  </a:cxn>
                </a:cxnLst>
                <a:rect l="txL" t="txT" r="txR" b="txB"/>
                <a:pathLst>
                  <a:path w="250" h="591">
                    <a:moveTo>
                      <a:pt x="0" y="0"/>
                    </a:moveTo>
                    <a:lnTo>
                      <a:pt x="72" y="0"/>
                    </a:lnTo>
                    <a:lnTo>
                      <a:pt x="96" y="58"/>
                    </a:lnTo>
                    <a:lnTo>
                      <a:pt x="120" y="125"/>
                    </a:lnTo>
                    <a:lnTo>
                      <a:pt x="135" y="173"/>
                    </a:lnTo>
                    <a:lnTo>
                      <a:pt x="144" y="235"/>
                    </a:lnTo>
                    <a:lnTo>
                      <a:pt x="163" y="303"/>
                    </a:lnTo>
                    <a:lnTo>
                      <a:pt x="183" y="375"/>
                    </a:lnTo>
                    <a:lnTo>
                      <a:pt x="202" y="432"/>
                    </a:lnTo>
                    <a:lnTo>
                      <a:pt x="216" y="475"/>
                    </a:lnTo>
                    <a:lnTo>
                      <a:pt x="235" y="533"/>
                    </a:lnTo>
                    <a:lnTo>
                      <a:pt x="250" y="571"/>
                    </a:lnTo>
                    <a:lnTo>
                      <a:pt x="202" y="591"/>
                    </a:lnTo>
                    <a:lnTo>
                      <a:pt x="173" y="547"/>
                    </a:lnTo>
                    <a:lnTo>
                      <a:pt x="159" y="495"/>
                    </a:lnTo>
                    <a:lnTo>
                      <a:pt x="135" y="418"/>
                    </a:lnTo>
                    <a:lnTo>
                      <a:pt x="111" y="317"/>
                    </a:lnTo>
                    <a:lnTo>
                      <a:pt x="96" y="240"/>
                    </a:lnTo>
                    <a:lnTo>
                      <a:pt x="67" y="139"/>
                    </a:lnTo>
                    <a:lnTo>
                      <a:pt x="39" y="67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50000">
                    <a:srgbClr val="FF3300"/>
                  </a:gs>
                  <a:gs pos="100000">
                    <a:srgbClr val="761800"/>
                  </a:gs>
                </a:gsLst>
                <a:lin ang="5400000" scaled="1"/>
                <a:tileRect/>
              </a:gradFill>
              <a:ln w="190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0209" name="Freeform 105"/>
              <p:cNvSpPr/>
              <p:nvPr/>
            </p:nvSpPr>
            <p:spPr>
              <a:xfrm>
                <a:off x="4186" y="2573"/>
                <a:ext cx="163" cy="398"/>
              </a:xfrm>
              <a:custGeom>
                <a:avLst/>
                <a:gdLst>
                  <a:gd name="txL" fmla="*/ 0 w 163"/>
                  <a:gd name="txT" fmla="*/ 0 h 398"/>
                  <a:gd name="txR" fmla="*/ 163 w 163"/>
                  <a:gd name="txB" fmla="*/ 398 h 398"/>
                </a:gdLst>
                <a:ahLst/>
                <a:cxnLst>
                  <a:cxn ang="0">
                    <a:pos x="0" y="101"/>
                  </a:cxn>
                  <a:cxn ang="0">
                    <a:pos x="9" y="57"/>
                  </a:cxn>
                  <a:cxn ang="0">
                    <a:pos x="19" y="24"/>
                  </a:cxn>
                  <a:cxn ang="0">
                    <a:pos x="33" y="0"/>
                  </a:cxn>
                  <a:cxn ang="0">
                    <a:pos x="57" y="24"/>
                  </a:cxn>
                  <a:cxn ang="0">
                    <a:pos x="76" y="67"/>
                  </a:cxn>
                  <a:cxn ang="0">
                    <a:pos x="100" y="139"/>
                  </a:cxn>
                  <a:cxn ang="0">
                    <a:pos x="120" y="221"/>
                  </a:cxn>
                  <a:cxn ang="0">
                    <a:pos x="139" y="283"/>
                  </a:cxn>
                  <a:cxn ang="0">
                    <a:pos x="148" y="355"/>
                  </a:cxn>
                  <a:cxn ang="0">
                    <a:pos x="163" y="398"/>
                  </a:cxn>
                  <a:cxn ang="0">
                    <a:pos x="144" y="336"/>
                  </a:cxn>
                  <a:cxn ang="0">
                    <a:pos x="115" y="264"/>
                  </a:cxn>
                  <a:cxn ang="0">
                    <a:pos x="72" y="177"/>
                  </a:cxn>
                  <a:cxn ang="0">
                    <a:pos x="43" y="129"/>
                  </a:cxn>
                  <a:cxn ang="0">
                    <a:pos x="0" y="101"/>
                  </a:cxn>
                </a:cxnLst>
                <a:rect l="txL" t="txT" r="txR" b="txB"/>
                <a:pathLst>
                  <a:path w="163" h="398">
                    <a:moveTo>
                      <a:pt x="0" y="101"/>
                    </a:moveTo>
                    <a:lnTo>
                      <a:pt x="9" y="57"/>
                    </a:lnTo>
                    <a:lnTo>
                      <a:pt x="19" y="24"/>
                    </a:lnTo>
                    <a:lnTo>
                      <a:pt x="33" y="0"/>
                    </a:lnTo>
                    <a:lnTo>
                      <a:pt x="57" y="24"/>
                    </a:lnTo>
                    <a:lnTo>
                      <a:pt x="76" y="67"/>
                    </a:lnTo>
                    <a:lnTo>
                      <a:pt x="100" y="139"/>
                    </a:lnTo>
                    <a:lnTo>
                      <a:pt x="120" y="221"/>
                    </a:lnTo>
                    <a:lnTo>
                      <a:pt x="139" y="283"/>
                    </a:lnTo>
                    <a:lnTo>
                      <a:pt x="148" y="355"/>
                    </a:lnTo>
                    <a:lnTo>
                      <a:pt x="163" y="398"/>
                    </a:lnTo>
                    <a:lnTo>
                      <a:pt x="144" y="336"/>
                    </a:lnTo>
                    <a:lnTo>
                      <a:pt x="115" y="264"/>
                    </a:lnTo>
                    <a:lnTo>
                      <a:pt x="72" y="177"/>
                    </a:lnTo>
                    <a:lnTo>
                      <a:pt x="43" y="129"/>
                    </a:lnTo>
                    <a:lnTo>
                      <a:pt x="0" y="1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100000">
                    <a:srgbClr val="FF3300"/>
                  </a:gs>
                </a:gsLst>
                <a:lin ang="0" scaled="1"/>
                <a:tileRect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0210" name="Freeform 106"/>
              <p:cNvSpPr/>
              <p:nvPr/>
            </p:nvSpPr>
            <p:spPr>
              <a:xfrm>
                <a:off x="4339" y="2698"/>
                <a:ext cx="183" cy="446"/>
              </a:xfrm>
              <a:custGeom>
                <a:avLst/>
                <a:gdLst>
                  <a:gd name="txL" fmla="*/ 0 w 183"/>
                  <a:gd name="txT" fmla="*/ 0 h 446"/>
                  <a:gd name="txR" fmla="*/ 183 w 183"/>
                  <a:gd name="txB" fmla="*/ 446 h 446"/>
                </a:gdLst>
                <a:ahLst/>
                <a:cxnLst>
                  <a:cxn ang="0">
                    <a:pos x="0" y="0"/>
                  </a:cxn>
                  <a:cxn ang="0">
                    <a:pos x="39" y="81"/>
                  </a:cxn>
                  <a:cxn ang="0">
                    <a:pos x="72" y="196"/>
                  </a:cxn>
                  <a:cxn ang="0">
                    <a:pos x="96" y="254"/>
                  </a:cxn>
                  <a:cxn ang="0">
                    <a:pos x="115" y="288"/>
                  </a:cxn>
                  <a:cxn ang="0">
                    <a:pos x="144" y="312"/>
                  </a:cxn>
                  <a:cxn ang="0">
                    <a:pos x="183" y="316"/>
                  </a:cxn>
                  <a:cxn ang="0">
                    <a:pos x="183" y="360"/>
                  </a:cxn>
                  <a:cxn ang="0">
                    <a:pos x="168" y="408"/>
                  </a:cxn>
                  <a:cxn ang="0">
                    <a:pos x="154" y="446"/>
                  </a:cxn>
                  <a:cxn ang="0">
                    <a:pos x="130" y="412"/>
                  </a:cxn>
                  <a:cxn ang="0">
                    <a:pos x="115" y="388"/>
                  </a:cxn>
                  <a:cxn ang="0">
                    <a:pos x="106" y="355"/>
                  </a:cxn>
                  <a:cxn ang="0">
                    <a:pos x="91" y="302"/>
                  </a:cxn>
                  <a:cxn ang="0">
                    <a:pos x="58" y="216"/>
                  </a:cxn>
                  <a:cxn ang="0">
                    <a:pos x="34" y="144"/>
                  </a:cxn>
                  <a:cxn ang="0">
                    <a:pos x="0" y="0"/>
                  </a:cxn>
                </a:cxnLst>
                <a:rect l="txL" t="txT" r="txR" b="txB"/>
                <a:pathLst>
                  <a:path w="183" h="446">
                    <a:moveTo>
                      <a:pt x="0" y="0"/>
                    </a:moveTo>
                    <a:lnTo>
                      <a:pt x="39" y="81"/>
                    </a:lnTo>
                    <a:lnTo>
                      <a:pt x="72" y="196"/>
                    </a:lnTo>
                    <a:lnTo>
                      <a:pt x="96" y="254"/>
                    </a:lnTo>
                    <a:lnTo>
                      <a:pt x="115" y="288"/>
                    </a:lnTo>
                    <a:lnTo>
                      <a:pt x="144" y="312"/>
                    </a:lnTo>
                    <a:lnTo>
                      <a:pt x="183" y="316"/>
                    </a:lnTo>
                    <a:lnTo>
                      <a:pt x="183" y="360"/>
                    </a:lnTo>
                    <a:lnTo>
                      <a:pt x="168" y="408"/>
                    </a:lnTo>
                    <a:lnTo>
                      <a:pt x="154" y="446"/>
                    </a:lnTo>
                    <a:lnTo>
                      <a:pt x="130" y="412"/>
                    </a:lnTo>
                    <a:lnTo>
                      <a:pt x="115" y="388"/>
                    </a:lnTo>
                    <a:lnTo>
                      <a:pt x="106" y="355"/>
                    </a:lnTo>
                    <a:lnTo>
                      <a:pt x="91" y="302"/>
                    </a:lnTo>
                    <a:lnTo>
                      <a:pt x="58" y="216"/>
                    </a:lnTo>
                    <a:lnTo>
                      <a:pt x="34" y="144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100000">
                    <a:srgbClr val="FF3300"/>
                  </a:gs>
                </a:gsLst>
                <a:lin ang="0" scaled="1"/>
                <a:tileRect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0211" name="Rectangle 107"/>
              <p:cNvSpPr/>
              <p:nvPr/>
            </p:nvSpPr>
            <p:spPr>
              <a:xfrm>
                <a:off x="4348" y="3128"/>
                <a:ext cx="215" cy="48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0207" name="Freeform 108"/>
            <p:cNvSpPr/>
            <p:nvPr/>
          </p:nvSpPr>
          <p:spPr>
            <a:xfrm>
              <a:off x="3691" y="2827"/>
              <a:ext cx="149" cy="298"/>
            </a:xfrm>
            <a:custGeom>
              <a:avLst/>
              <a:gdLst>
                <a:gd name="txL" fmla="*/ 0 w 149"/>
                <a:gd name="txT" fmla="*/ 0 h 298"/>
                <a:gd name="txR" fmla="*/ 149 w 149"/>
                <a:gd name="txB" fmla="*/ 298 h 298"/>
              </a:gdLst>
              <a:ahLst/>
              <a:cxnLst>
                <a:cxn ang="0">
                  <a:pos x="0" y="0"/>
                </a:cxn>
                <a:cxn ang="0">
                  <a:pos x="19" y="48"/>
                </a:cxn>
                <a:cxn ang="0">
                  <a:pos x="48" y="111"/>
                </a:cxn>
                <a:cxn ang="0">
                  <a:pos x="67" y="144"/>
                </a:cxn>
                <a:cxn ang="0">
                  <a:pos x="91" y="173"/>
                </a:cxn>
                <a:cxn ang="0">
                  <a:pos x="130" y="197"/>
                </a:cxn>
                <a:cxn ang="0">
                  <a:pos x="149" y="231"/>
                </a:cxn>
                <a:cxn ang="0">
                  <a:pos x="139" y="279"/>
                </a:cxn>
                <a:cxn ang="0">
                  <a:pos x="111" y="298"/>
                </a:cxn>
                <a:cxn ang="0">
                  <a:pos x="77" y="274"/>
                </a:cxn>
                <a:cxn ang="0">
                  <a:pos x="53" y="235"/>
                </a:cxn>
                <a:cxn ang="0">
                  <a:pos x="29" y="183"/>
                </a:cxn>
                <a:cxn ang="0">
                  <a:pos x="15" y="101"/>
                </a:cxn>
                <a:cxn ang="0">
                  <a:pos x="0" y="0"/>
                </a:cxn>
              </a:cxnLst>
              <a:rect l="txL" t="txT" r="txR" b="txB"/>
              <a:pathLst>
                <a:path w="149" h="298">
                  <a:moveTo>
                    <a:pt x="0" y="0"/>
                  </a:moveTo>
                  <a:lnTo>
                    <a:pt x="19" y="48"/>
                  </a:lnTo>
                  <a:lnTo>
                    <a:pt x="48" y="111"/>
                  </a:lnTo>
                  <a:lnTo>
                    <a:pt x="67" y="144"/>
                  </a:lnTo>
                  <a:lnTo>
                    <a:pt x="91" y="173"/>
                  </a:lnTo>
                  <a:lnTo>
                    <a:pt x="130" y="197"/>
                  </a:lnTo>
                  <a:lnTo>
                    <a:pt x="149" y="231"/>
                  </a:lnTo>
                  <a:lnTo>
                    <a:pt x="139" y="279"/>
                  </a:lnTo>
                  <a:lnTo>
                    <a:pt x="111" y="298"/>
                  </a:lnTo>
                  <a:lnTo>
                    <a:pt x="77" y="274"/>
                  </a:lnTo>
                  <a:lnTo>
                    <a:pt x="53" y="235"/>
                  </a:lnTo>
                  <a:lnTo>
                    <a:pt x="29" y="183"/>
                  </a:lnTo>
                  <a:lnTo>
                    <a:pt x="15" y="1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lin ang="5400000" scaled="1"/>
              <a:tileRect/>
            </a:gra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98413" name="Rectangle 109"/>
          <p:cNvSpPr/>
          <p:nvPr/>
        </p:nvSpPr>
        <p:spPr>
          <a:xfrm>
            <a:off x="712788" y="693738"/>
            <a:ext cx="49530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0" hangingPunct="0"/>
            <a:r>
              <a:rPr lang="zh-CN" altLang="en-US" sz="3600" b="1" dirty="0">
                <a:latin typeface="Arial" panose="020B0604020202020204" pitchFamily="34" charset="0"/>
              </a:rPr>
              <a:t>（</a:t>
            </a:r>
            <a:r>
              <a:rPr lang="en-US" altLang="zh-CN" sz="3600" b="1" dirty="0">
                <a:latin typeface="Arial" panose="020B0604020202020204" pitchFamily="34" charset="0"/>
              </a:rPr>
              <a:t>4</a:t>
            </a:r>
            <a:r>
              <a:rPr lang="zh-CN" altLang="en-US" sz="3600" b="1" dirty="0">
                <a:latin typeface="Arial" panose="020B0604020202020204" pitchFamily="34" charset="0"/>
              </a:rPr>
              <a:t>） 线数</a:t>
            </a: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</a:rPr>
              <a:t>n</a:t>
            </a:r>
            <a:endParaRPr lang="en-US" altLang="zh-CN" sz="4400" dirty="0">
              <a:latin typeface="Arial" panose="020B0604020202020204" pitchFamily="34" charset="0"/>
            </a:endParaRPr>
          </a:p>
        </p:txBody>
      </p:sp>
      <p:grpSp>
        <p:nvGrpSpPr>
          <p:cNvPr id="343051" name="组合 343050"/>
          <p:cNvGrpSpPr/>
          <p:nvPr/>
        </p:nvGrpSpPr>
        <p:grpSpPr>
          <a:xfrm>
            <a:off x="333375" y="81216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33" name="Rectangle 17"/>
          <p:cNvSpPr/>
          <p:nvPr/>
        </p:nvSpPr>
        <p:spPr>
          <a:xfrm>
            <a:off x="263525" y="215900"/>
            <a:ext cx="373316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1</a:t>
            </a:r>
            <a:r>
              <a:rPr lang="zh-CN" altLang="en-US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、螺纹的五要素</a:t>
            </a:r>
            <a:endParaRPr lang="zh-CN" altLang="en-US" sz="28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8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8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8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8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8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98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8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98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9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98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98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98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500"/>
                            </p:stCondLst>
                            <p:childTnLst>
                              <p:par>
                                <p:cTn id="6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98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000"/>
                            </p:stCondLst>
                            <p:childTnLst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98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5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98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8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8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98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98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98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10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82" grpId="0" bldLvl="0" animBg="1"/>
      <p:bldP spid="98383" grpId="0" bldLvl="0" animBg="1"/>
      <p:bldP spid="98384" grpId="0" bldLvl="0" animBg="1"/>
      <p:bldP spid="98385" grpId="0" bldLvl="0" animBg="1"/>
      <p:bldP spid="98386" grpId="0" bldLvl="0" animBg="1"/>
      <p:bldP spid="98387" grpId="0" bldLvl="0" animBg="1"/>
      <p:bldP spid="98388" grpId="0" bldLvl="0" animBg="1"/>
      <p:bldP spid="98389" grpId="0" bldLvl="0" animBg="1"/>
      <p:bldP spid="98390" grpId="0" bldLvl="0" animBg="1"/>
      <p:bldP spid="98391" grpId="0" bldLvl="0" animBg="1"/>
      <p:bldP spid="98392" grpId="0" bldLvl="0" animBg="1"/>
      <p:bldP spid="98393" grpId="0" bldLvl="0" animBg="1"/>
      <p:bldP spid="98394" grpId="0" bldLvl="0" animBg="1"/>
      <p:bldP spid="98395" grpId="0" bldLvl="0" animBg="1"/>
      <p:bldP spid="98396" grpId="0"/>
      <p:bldP spid="98398" grpId="0"/>
      <p:bldP spid="98399" grpId="0"/>
      <p:bldP spid="98413" grpId="0"/>
      <p:bldP spid="92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83" name="Text Box 7"/>
          <p:cNvSpPr txBox="1"/>
          <p:nvPr/>
        </p:nvSpPr>
        <p:spPr>
          <a:xfrm>
            <a:off x="741363" y="1660525"/>
            <a:ext cx="2085975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右旋</a:t>
            </a:r>
            <a:r>
              <a:rPr lang="en-US" altLang="zh-CN" sz="3200" b="1" dirty="0">
                <a:latin typeface="Times New Roman" panose="02020603050405020304" pitchFamily="18" charset="0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</a:rPr>
              <a:t>常用</a:t>
            </a:r>
            <a:r>
              <a:rPr lang="en-US" altLang="zh-CN" sz="3200" b="1" dirty="0">
                <a:latin typeface="Times New Roman" panose="02020603050405020304" pitchFamily="18" charset="0"/>
              </a:rPr>
              <a:t>)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01384" name="Text Box 8"/>
          <p:cNvSpPr txBox="1"/>
          <p:nvPr/>
        </p:nvSpPr>
        <p:spPr>
          <a:xfrm>
            <a:off x="3063875" y="1679575"/>
            <a:ext cx="1322388" cy="579438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左旋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52233" name="Text Box 9"/>
          <p:cNvSpPr txBox="1"/>
          <p:nvPr/>
        </p:nvSpPr>
        <p:spPr>
          <a:xfrm>
            <a:off x="777875" y="5354638"/>
            <a:ext cx="7648575" cy="1077912"/>
          </a:xfrm>
          <a:prstGeom prst="rect">
            <a:avLst/>
          </a:prstGeom>
          <a:noFill/>
          <a:ln w="57150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注意</a:t>
            </a:r>
            <a:r>
              <a:rPr lang="zh-CN" altLang="en-US" sz="3200" b="1" dirty="0">
                <a:latin typeface="Times New Roman" panose="02020603050405020304" pitchFamily="18" charset="0"/>
              </a:rPr>
              <a:t>：只有上述各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要素完全相同</a:t>
            </a:r>
            <a:r>
              <a:rPr lang="zh-CN" altLang="en-US" sz="3200" b="1" dirty="0">
                <a:latin typeface="Times New Roman" panose="02020603050405020304" pitchFamily="18" charset="0"/>
              </a:rPr>
              <a:t>的内、外</a:t>
            </a:r>
            <a:endParaRPr lang="zh-CN" altLang="en-US" sz="3200" b="1" dirty="0">
              <a:latin typeface="Times New Roman" panose="02020603050405020304" pitchFamily="18" charset="0"/>
            </a:endParaRPr>
          </a:p>
          <a:p>
            <a:r>
              <a:rPr lang="zh-CN" altLang="en-US" sz="3200" b="1" dirty="0">
                <a:latin typeface="Times New Roman" panose="02020603050405020304" pitchFamily="18" charset="0"/>
              </a:rPr>
              <a:t>            螺纹 才能旋合在一起。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01386" name="Text Box 10"/>
          <p:cNvSpPr txBox="1"/>
          <p:nvPr/>
        </p:nvSpPr>
        <p:spPr>
          <a:xfrm>
            <a:off x="2735263" y="4581525"/>
            <a:ext cx="10033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zh-CN" altLang="en-US" sz="3200" b="1" dirty="0">
                <a:latin typeface="Times New Roman" panose="02020603050405020304" pitchFamily="18" charset="0"/>
              </a:rPr>
              <a:t>右旋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101387" name="Text Box 11"/>
          <p:cNvSpPr txBox="1"/>
          <p:nvPr/>
        </p:nvSpPr>
        <p:spPr>
          <a:xfrm>
            <a:off x="1150938" y="4508500"/>
            <a:ext cx="10033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zh-CN" altLang="en-US" sz="3200" b="1" dirty="0">
                <a:latin typeface="Times New Roman" panose="02020603050405020304" pitchFamily="18" charset="0"/>
              </a:rPr>
              <a:t>左旋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101394" name="Rectangle 18"/>
          <p:cNvSpPr/>
          <p:nvPr/>
        </p:nvSpPr>
        <p:spPr>
          <a:xfrm>
            <a:off x="685800" y="86995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0" hangingPunct="0"/>
            <a:r>
              <a:rPr lang="zh-CN" altLang="en-US" sz="3600" b="1" dirty="0">
                <a:latin typeface="Arial" panose="020B0604020202020204" pitchFamily="34" charset="0"/>
              </a:rPr>
              <a:t>⑸ 旋向</a:t>
            </a:r>
            <a:endParaRPr lang="zh-CN" altLang="en-US" sz="4400" dirty="0">
              <a:latin typeface="Arial" panose="020B0604020202020204" pitchFamily="34" charset="0"/>
            </a:endParaRPr>
          </a:p>
        </p:txBody>
      </p:sp>
      <p:pic>
        <p:nvPicPr>
          <p:cNvPr id="101395" name="Picture 19" descr="6-28a"/>
          <p:cNvPicPr>
            <a:picLocks noChangeAspect="1"/>
          </p:cNvPicPr>
          <p:nvPr/>
        </p:nvPicPr>
        <p:blipFill>
          <a:blip r:embed="rId1"/>
          <a:srcRect r="70854"/>
          <a:stretch>
            <a:fillRect/>
          </a:stretch>
        </p:blipFill>
        <p:spPr>
          <a:xfrm>
            <a:off x="6780213" y="1808163"/>
            <a:ext cx="2220912" cy="12715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396" name="Picture 20" descr="6-28a"/>
          <p:cNvPicPr>
            <a:picLocks noChangeAspect="1"/>
          </p:cNvPicPr>
          <p:nvPr/>
        </p:nvPicPr>
        <p:blipFill>
          <a:blip r:embed="rId1"/>
          <a:srcRect l="61292" r="18875"/>
          <a:stretch>
            <a:fillRect/>
          </a:stretch>
        </p:blipFill>
        <p:spPr>
          <a:xfrm>
            <a:off x="7092950" y="3259138"/>
            <a:ext cx="1511300" cy="12715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397" name="Picture 21"/>
          <p:cNvPicPr>
            <a:picLocks noChangeAspect="1"/>
          </p:cNvPicPr>
          <p:nvPr/>
        </p:nvPicPr>
        <p:blipFill>
          <a:blip r:embed="rId2"/>
          <a:srcRect l="1805" t="46402" r="72322" b="27773"/>
          <a:stretch>
            <a:fillRect/>
          </a:stretch>
        </p:blipFill>
        <p:spPr>
          <a:xfrm>
            <a:off x="900113" y="2492375"/>
            <a:ext cx="3203575" cy="1922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33" name="Rectangle 17"/>
          <p:cNvSpPr/>
          <p:nvPr/>
        </p:nvSpPr>
        <p:spPr>
          <a:xfrm>
            <a:off x="263525" y="215900"/>
            <a:ext cx="373316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1</a:t>
            </a:r>
            <a:r>
              <a:rPr lang="zh-CN" altLang="en-US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、螺纹的五要素</a:t>
            </a:r>
            <a:endParaRPr lang="zh-CN" altLang="en-US" sz="28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343051" name="组合 343050"/>
          <p:cNvGrpSpPr/>
          <p:nvPr/>
        </p:nvGrpSpPr>
        <p:grpSpPr>
          <a:xfrm>
            <a:off x="333375" y="81216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01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01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0" fill="hold"/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0" fill="hold"/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0" fill="hold"/>
                                        <p:tgtEl>
                                          <p:spTgt spid="101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0" fill="hold"/>
                                        <p:tgtEl>
                                          <p:spTgt spid="101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01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3" grpId="0" build="p"/>
      <p:bldP spid="101384" grpId="0" build="p"/>
      <p:bldP spid="52233" grpId="0" bldLvl="0" animBg="1"/>
      <p:bldP spid="101386" grpId="0"/>
      <p:bldP spid="101387" grpId="0"/>
      <p:bldP spid="101394" grpId="0"/>
      <p:bldP spid="92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2" name="Rectangle 22"/>
          <p:cNvSpPr/>
          <p:nvPr/>
        </p:nvSpPr>
        <p:spPr>
          <a:xfrm>
            <a:off x="3419158" y="6090603"/>
            <a:ext cx="2881312" cy="39878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b="1" dirty="0">
                <a:solidFill>
                  <a:srgbClr val="660066"/>
                </a:solidFill>
                <a:latin typeface="Arial" panose="020B0604020202020204" pitchFamily="34" charset="0"/>
              </a:rPr>
              <a:t>外</a:t>
            </a:r>
            <a:r>
              <a:rPr lang="zh-CN" altLang="en-US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螺纹的规定画法</a:t>
            </a:r>
            <a:r>
              <a:rPr lang="en-US" altLang="zh-CN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endParaRPr lang="en-US" altLang="zh-CN" sz="20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pic>
        <p:nvPicPr>
          <p:cNvPr id="108553" name="Picture 9" descr="外螺纹画法1"/>
          <p:cNvPicPr>
            <a:picLocks noChangeAspect="1"/>
          </p:cNvPicPr>
          <p:nvPr/>
        </p:nvPicPr>
        <p:blipFill>
          <a:blip r:embed="rId1">
            <a:lum contrast="6000"/>
          </a:blip>
          <a:stretch>
            <a:fillRect/>
          </a:stretch>
        </p:blipFill>
        <p:spPr>
          <a:xfrm>
            <a:off x="1057275" y="1274763"/>
            <a:ext cx="2362200" cy="1095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8554" name="Line 10"/>
          <p:cNvSpPr/>
          <p:nvPr/>
        </p:nvSpPr>
        <p:spPr>
          <a:xfrm>
            <a:off x="6910388" y="1795463"/>
            <a:ext cx="1143000" cy="1587"/>
          </a:xfrm>
          <a:prstGeom prst="line">
            <a:avLst/>
          </a:prstGeom>
          <a:ln w="9525" cap="flat" cmpd="sng">
            <a:solidFill>
              <a:schemeClr val="tx1"/>
            </a:solidFill>
            <a:prstDash val="lgDashDot"/>
            <a:headEnd type="none" w="med" len="med"/>
            <a:tailEnd type="none" w="med" len="med"/>
          </a:ln>
        </p:spPr>
      </p:sp>
      <p:sp>
        <p:nvSpPr>
          <p:cNvPr id="108555" name="Line 11"/>
          <p:cNvSpPr/>
          <p:nvPr/>
        </p:nvSpPr>
        <p:spPr>
          <a:xfrm>
            <a:off x="7486650" y="1266825"/>
            <a:ext cx="1588" cy="1143000"/>
          </a:xfrm>
          <a:prstGeom prst="line">
            <a:avLst/>
          </a:prstGeom>
          <a:ln w="9525" cap="flat" cmpd="sng">
            <a:solidFill>
              <a:schemeClr val="tx1"/>
            </a:solidFill>
            <a:prstDash val="lgDashDot"/>
            <a:headEnd type="none" w="med" len="med"/>
            <a:tailEnd type="none" w="med" len="med"/>
          </a:ln>
        </p:spPr>
      </p:sp>
      <p:sp>
        <p:nvSpPr>
          <p:cNvPr id="108556" name="Freeform 12"/>
          <p:cNvSpPr/>
          <p:nvPr/>
        </p:nvSpPr>
        <p:spPr>
          <a:xfrm>
            <a:off x="5737225" y="1322388"/>
            <a:ext cx="1588" cy="922337"/>
          </a:xfrm>
          <a:custGeom>
            <a:avLst/>
            <a:gdLst>
              <a:gd name="txL" fmla="*/ 0 w 1"/>
              <a:gd name="txT" fmla="*/ 0 h 581"/>
              <a:gd name="txR" fmla="*/ 1 w 1"/>
              <a:gd name="txB" fmla="*/ 581 h 581"/>
            </a:gdLst>
            <a:ahLst/>
            <a:cxnLst>
              <a:cxn ang="0">
                <a:pos x="0" y="0"/>
              </a:cxn>
              <a:cxn ang="0">
                <a:pos x="0" y="1464208975"/>
              </a:cxn>
            </a:cxnLst>
            <a:rect l="txL" t="txT" r="txR" b="txB"/>
            <a:pathLst>
              <a:path w="1" h="581">
                <a:moveTo>
                  <a:pt x="0" y="0"/>
                </a:moveTo>
                <a:lnTo>
                  <a:pt x="0" y="581"/>
                </a:lnTo>
              </a:path>
            </a:pathLst>
          </a:cu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8557" name="Line 13"/>
          <p:cNvSpPr/>
          <p:nvPr/>
        </p:nvSpPr>
        <p:spPr>
          <a:xfrm>
            <a:off x="4152900" y="1776413"/>
            <a:ext cx="2119313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lgDashDot"/>
            <a:headEnd type="none" w="med" len="med"/>
            <a:tailEnd type="none" w="med" len="med"/>
          </a:ln>
        </p:spPr>
      </p:sp>
      <p:sp>
        <p:nvSpPr>
          <p:cNvPr id="108558" name="Line 14"/>
          <p:cNvSpPr/>
          <p:nvPr/>
        </p:nvSpPr>
        <p:spPr>
          <a:xfrm flipH="1">
            <a:off x="1258888" y="1322388"/>
            <a:ext cx="6254750" cy="19050"/>
          </a:xfrm>
          <a:prstGeom prst="line">
            <a:avLst/>
          </a:prstGeom>
          <a:ln w="127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8559" name="Line 15"/>
          <p:cNvSpPr/>
          <p:nvPr/>
        </p:nvSpPr>
        <p:spPr>
          <a:xfrm>
            <a:off x="2241550" y="1390650"/>
            <a:ext cx="5249863" cy="0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" name="Group 16"/>
          <p:cNvGrpSpPr/>
          <p:nvPr/>
        </p:nvGrpSpPr>
        <p:grpSpPr>
          <a:xfrm>
            <a:off x="4098925" y="2216150"/>
            <a:ext cx="1893888" cy="1152525"/>
            <a:chOff x="2582" y="1410"/>
            <a:chExt cx="1193" cy="726"/>
          </a:xfrm>
        </p:grpSpPr>
        <p:sp>
          <p:nvSpPr>
            <p:cNvPr id="55370" name="Text Box 17"/>
            <p:cNvSpPr txBox="1"/>
            <p:nvPr/>
          </p:nvSpPr>
          <p:spPr>
            <a:xfrm>
              <a:off x="2582" y="1618"/>
              <a:ext cx="1193" cy="51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>
              <a:spAutoFit/>
            </a:bodyPr>
            <a:lstStyle/>
            <a:p>
              <a:pPr eaLnBrk="0" hangingPunct="0"/>
              <a:r>
                <a:rPr lang="zh-CN" altLang="en-US" sz="24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螺纹终止线画粗实线</a:t>
              </a:r>
              <a:endPara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71" name="Line 18"/>
            <p:cNvSpPr/>
            <p:nvPr/>
          </p:nvSpPr>
          <p:spPr>
            <a:xfrm>
              <a:off x="3612" y="1410"/>
              <a:ext cx="0" cy="711"/>
            </a:xfrm>
            <a:prstGeom prst="line">
              <a:avLst/>
            </a:prstGeom>
            <a:ln w="12700" cap="flat" cmpd="sng">
              <a:solidFill>
                <a:srgbClr val="FF6600"/>
              </a:solidFill>
              <a:prstDash val="solid"/>
              <a:headEnd type="triangle" w="sm" len="lg"/>
              <a:tailEnd type="none" w="med" len="med"/>
            </a:ln>
          </p:spPr>
        </p:sp>
        <p:sp>
          <p:nvSpPr>
            <p:cNvPr id="55372" name="Line 19"/>
            <p:cNvSpPr/>
            <p:nvPr/>
          </p:nvSpPr>
          <p:spPr>
            <a:xfrm>
              <a:off x="2619" y="2115"/>
              <a:ext cx="996" cy="0"/>
            </a:xfrm>
            <a:prstGeom prst="line">
              <a:avLst/>
            </a:prstGeom>
            <a:ln w="12700" cap="flat" cmpd="sng">
              <a:solidFill>
                <a:srgbClr val="FF66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08564" name="Oval 20"/>
          <p:cNvSpPr/>
          <p:nvPr/>
        </p:nvSpPr>
        <p:spPr>
          <a:xfrm>
            <a:off x="6972300" y="1319213"/>
            <a:ext cx="1012825" cy="952500"/>
          </a:xfrm>
          <a:prstGeom prst="ellipse">
            <a:avLst/>
          </a:prstGeom>
          <a:noFill/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3" name="Group 21"/>
          <p:cNvGrpSpPr/>
          <p:nvPr/>
        </p:nvGrpSpPr>
        <p:grpSpPr>
          <a:xfrm>
            <a:off x="7059613" y="1384300"/>
            <a:ext cx="862012" cy="812800"/>
            <a:chOff x="4447" y="1145"/>
            <a:chExt cx="543" cy="512"/>
          </a:xfrm>
        </p:grpSpPr>
        <p:sp>
          <p:nvSpPr>
            <p:cNvPr id="55368" name="Oval 22"/>
            <p:cNvSpPr/>
            <p:nvPr/>
          </p:nvSpPr>
          <p:spPr>
            <a:xfrm>
              <a:off x="4447" y="1145"/>
              <a:ext cx="543" cy="512"/>
            </a:xfrm>
            <a:prstGeom prst="ellipse">
              <a:avLst/>
            </a:prstGeom>
            <a:noFill/>
            <a:ln w="127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5369" name="Freeform 23"/>
            <p:cNvSpPr/>
            <p:nvPr/>
          </p:nvSpPr>
          <p:spPr>
            <a:xfrm>
              <a:off x="4452" y="1404"/>
              <a:ext cx="253" cy="240"/>
            </a:xfrm>
            <a:custGeom>
              <a:avLst/>
              <a:gdLst>
                <a:gd name="txL" fmla="*/ 0 w 253"/>
                <a:gd name="txT" fmla="*/ 0 h 240"/>
                <a:gd name="txR" fmla="*/ 253 w 253"/>
                <a:gd name="txB" fmla="*/ 240 h 240"/>
              </a:gdLst>
              <a:ahLst/>
              <a:cxnLst>
                <a:cxn ang="0">
                  <a:pos x="0" y="0"/>
                </a:cxn>
                <a:cxn ang="0">
                  <a:pos x="12" y="96"/>
                </a:cxn>
                <a:cxn ang="0">
                  <a:pos x="60" y="168"/>
                </a:cxn>
                <a:cxn ang="0">
                  <a:pos x="144" y="228"/>
                </a:cxn>
                <a:cxn ang="0">
                  <a:pos x="253" y="240"/>
                </a:cxn>
              </a:cxnLst>
              <a:rect l="txL" t="txT" r="txR" b="txB"/>
              <a:pathLst>
                <a:path w="253" h="240">
                  <a:moveTo>
                    <a:pt x="0" y="0"/>
                  </a:moveTo>
                  <a:cubicBezTo>
                    <a:pt x="0" y="34"/>
                    <a:pt x="2" y="68"/>
                    <a:pt x="12" y="96"/>
                  </a:cubicBezTo>
                  <a:cubicBezTo>
                    <a:pt x="22" y="124"/>
                    <a:pt x="38" y="146"/>
                    <a:pt x="60" y="168"/>
                  </a:cubicBezTo>
                  <a:cubicBezTo>
                    <a:pt x="82" y="190"/>
                    <a:pt x="112" y="216"/>
                    <a:pt x="144" y="228"/>
                  </a:cubicBezTo>
                  <a:cubicBezTo>
                    <a:pt x="176" y="240"/>
                    <a:pt x="230" y="238"/>
                    <a:pt x="253" y="240"/>
                  </a:cubicBezTo>
                </a:path>
              </a:pathLst>
            </a:custGeom>
            <a:noFill/>
            <a:ln w="381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24"/>
          <p:cNvGrpSpPr/>
          <p:nvPr/>
        </p:nvGrpSpPr>
        <p:grpSpPr>
          <a:xfrm>
            <a:off x="4271963" y="1389063"/>
            <a:ext cx="1465262" cy="776287"/>
            <a:chOff x="2691" y="1148"/>
            <a:chExt cx="923" cy="489"/>
          </a:xfrm>
        </p:grpSpPr>
        <p:sp>
          <p:nvSpPr>
            <p:cNvPr id="55366" name="Line 25"/>
            <p:cNvSpPr/>
            <p:nvPr/>
          </p:nvSpPr>
          <p:spPr>
            <a:xfrm>
              <a:off x="2704" y="1636"/>
              <a:ext cx="910" cy="1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67" name="Line 26"/>
            <p:cNvSpPr/>
            <p:nvPr/>
          </p:nvSpPr>
          <p:spPr>
            <a:xfrm>
              <a:off x="2691" y="1148"/>
              <a:ext cx="923" cy="1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27"/>
          <p:cNvGrpSpPr/>
          <p:nvPr/>
        </p:nvGrpSpPr>
        <p:grpSpPr>
          <a:xfrm>
            <a:off x="2095500" y="741363"/>
            <a:ext cx="2495550" cy="581025"/>
            <a:chOff x="1320" y="467"/>
            <a:chExt cx="1572" cy="366"/>
          </a:xfrm>
        </p:grpSpPr>
        <p:sp>
          <p:nvSpPr>
            <p:cNvPr id="55363" name="Text Box 28"/>
            <p:cNvSpPr txBox="1"/>
            <p:nvPr/>
          </p:nvSpPr>
          <p:spPr>
            <a:xfrm>
              <a:off x="1320" y="467"/>
              <a:ext cx="155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zh-CN" altLang="en-US" sz="24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 大径线画粗实线 </a:t>
              </a:r>
              <a:endPara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64" name="Line 29"/>
            <p:cNvSpPr/>
            <p:nvPr/>
          </p:nvSpPr>
          <p:spPr>
            <a:xfrm>
              <a:off x="1411" y="727"/>
              <a:ext cx="1381" cy="0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65" name="Line 30"/>
            <p:cNvSpPr/>
            <p:nvPr/>
          </p:nvSpPr>
          <p:spPr>
            <a:xfrm>
              <a:off x="2783" y="724"/>
              <a:ext cx="109" cy="109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sm" len="lg"/>
              <a:tailEnd type="triangle" w="sm" len="lg"/>
            </a:ln>
          </p:spPr>
        </p:sp>
      </p:grpSp>
      <p:grpSp>
        <p:nvGrpSpPr>
          <p:cNvPr id="6" name="Group 31"/>
          <p:cNvGrpSpPr/>
          <p:nvPr/>
        </p:nvGrpSpPr>
        <p:grpSpPr>
          <a:xfrm>
            <a:off x="1647825" y="2163763"/>
            <a:ext cx="3046413" cy="1289050"/>
            <a:chOff x="1038" y="1363"/>
            <a:chExt cx="1919" cy="812"/>
          </a:xfrm>
        </p:grpSpPr>
        <p:sp>
          <p:nvSpPr>
            <p:cNvPr id="55359" name="Text Box 32"/>
            <p:cNvSpPr txBox="1"/>
            <p:nvPr/>
          </p:nvSpPr>
          <p:spPr>
            <a:xfrm>
              <a:off x="1038" y="1428"/>
              <a:ext cx="1629" cy="51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>
              <a:spAutoFit/>
            </a:bodyPr>
            <a:lstStyle/>
            <a:p>
              <a:pPr eaLnBrk="0" hangingPunct="0"/>
              <a:r>
                <a:rPr lang="zh-CN" altLang="en-US" sz="24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小径线画细实线且画到倒角内</a:t>
              </a:r>
              <a:endPara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60" name="Text Box 33"/>
            <p:cNvSpPr txBox="1"/>
            <p:nvPr/>
          </p:nvSpPr>
          <p:spPr>
            <a:xfrm>
              <a:off x="1150" y="1887"/>
              <a:ext cx="114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小径≈</a:t>
              </a:r>
              <a:r>
                <a:rPr lang="en-US" altLang="zh-CN" sz="24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0.85d</a:t>
              </a:r>
              <a:endPara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61" name="Line 34"/>
            <p:cNvSpPr/>
            <p:nvPr/>
          </p:nvSpPr>
          <p:spPr>
            <a:xfrm flipH="1">
              <a:off x="1102" y="1929"/>
              <a:ext cx="1280" cy="0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62" name="Line 35"/>
            <p:cNvSpPr/>
            <p:nvPr/>
          </p:nvSpPr>
          <p:spPr>
            <a:xfrm flipH="1">
              <a:off x="2382" y="1363"/>
              <a:ext cx="575" cy="575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triangle" w="sm" len="lg"/>
              <a:tailEnd type="none" w="med" len="med"/>
            </a:ln>
          </p:spPr>
        </p:sp>
      </p:grpSp>
      <p:grpSp>
        <p:nvGrpSpPr>
          <p:cNvPr id="7" name="Group 36"/>
          <p:cNvGrpSpPr/>
          <p:nvPr/>
        </p:nvGrpSpPr>
        <p:grpSpPr>
          <a:xfrm>
            <a:off x="5527675" y="766763"/>
            <a:ext cx="1979613" cy="641350"/>
            <a:chOff x="3482" y="483"/>
            <a:chExt cx="1247" cy="404"/>
          </a:xfrm>
        </p:grpSpPr>
        <p:sp>
          <p:nvSpPr>
            <p:cNvPr id="55356" name="Text Box 37"/>
            <p:cNvSpPr txBox="1"/>
            <p:nvPr/>
          </p:nvSpPr>
          <p:spPr>
            <a:xfrm>
              <a:off x="3482" y="483"/>
              <a:ext cx="1081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zh-CN" altLang="en-US" sz="2400" b="1" dirty="0">
                  <a:solidFill>
                    <a:srgbClr val="33CC33"/>
                  </a:solidFill>
                  <a:latin typeface="Times New Roman" panose="02020603050405020304" pitchFamily="18" charset="0"/>
                </a:rPr>
                <a:t>倒角圆不画</a:t>
              </a:r>
              <a:endParaRPr lang="zh-CN" altLang="en-US" sz="2400" b="1" dirty="0">
                <a:solidFill>
                  <a:srgbClr val="33CC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57" name="Line 38"/>
            <p:cNvSpPr/>
            <p:nvPr/>
          </p:nvSpPr>
          <p:spPr>
            <a:xfrm>
              <a:off x="3535" y="742"/>
              <a:ext cx="1056" cy="0"/>
            </a:xfrm>
            <a:prstGeom prst="line">
              <a:avLst/>
            </a:prstGeom>
            <a:ln w="127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58" name="Line 39"/>
            <p:cNvSpPr/>
            <p:nvPr/>
          </p:nvSpPr>
          <p:spPr>
            <a:xfrm>
              <a:off x="4590" y="748"/>
              <a:ext cx="139" cy="139"/>
            </a:xfrm>
            <a:prstGeom prst="line">
              <a:avLst/>
            </a:prstGeom>
            <a:ln w="12700" cap="flat" cmpd="sng">
              <a:solidFill>
                <a:srgbClr val="00FF00"/>
              </a:solidFill>
              <a:prstDash val="solid"/>
              <a:headEnd type="none" w="med" len="med"/>
              <a:tailEnd type="triangle" w="sm" len="lg"/>
            </a:ln>
          </p:spPr>
        </p:sp>
      </p:grpSp>
      <p:grpSp>
        <p:nvGrpSpPr>
          <p:cNvPr id="8" name="Group 40"/>
          <p:cNvGrpSpPr/>
          <p:nvPr/>
        </p:nvGrpSpPr>
        <p:grpSpPr>
          <a:xfrm>
            <a:off x="6003925" y="2060575"/>
            <a:ext cx="2608263" cy="862013"/>
            <a:chOff x="3782" y="1319"/>
            <a:chExt cx="1643" cy="543"/>
          </a:xfrm>
        </p:grpSpPr>
        <p:sp>
          <p:nvSpPr>
            <p:cNvPr id="55353" name="Text Box 41"/>
            <p:cNvSpPr txBox="1"/>
            <p:nvPr/>
          </p:nvSpPr>
          <p:spPr>
            <a:xfrm>
              <a:off x="3782" y="1574"/>
              <a:ext cx="152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小径圆约画</a:t>
              </a:r>
              <a:r>
                <a:rPr lang="en-US" altLang="zh-CN" sz="24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3/4</a:t>
              </a:r>
              <a:r>
                <a:rPr lang="zh-CN" altLang="en-US" sz="24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圈</a:t>
              </a:r>
              <a:endPara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54" name="Line 42"/>
            <p:cNvSpPr/>
            <p:nvPr/>
          </p:nvSpPr>
          <p:spPr>
            <a:xfrm>
              <a:off x="4916" y="1319"/>
              <a:ext cx="509" cy="509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triangle" w="sm" len="lg"/>
              <a:tailEnd type="none" w="sm" len="lg"/>
            </a:ln>
          </p:spPr>
        </p:sp>
        <p:sp>
          <p:nvSpPr>
            <p:cNvPr id="55355" name="Line 43"/>
            <p:cNvSpPr/>
            <p:nvPr/>
          </p:nvSpPr>
          <p:spPr>
            <a:xfrm flipH="1">
              <a:off x="3898" y="1829"/>
              <a:ext cx="1520" cy="0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" name="Group 65"/>
          <p:cNvGrpSpPr/>
          <p:nvPr/>
        </p:nvGrpSpPr>
        <p:grpSpPr>
          <a:xfrm>
            <a:off x="4362450" y="1319213"/>
            <a:ext cx="1828800" cy="915987"/>
            <a:chOff x="2748" y="831"/>
            <a:chExt cx="1152" cy="577"/>
          </a:xfrm>
        </p:grpSpPr>
        <p:sp>
          <p:nvSpPr>
            <p:cNvPr id="55349" name="Line 66"/>
            <p:cNvSpPr/>
            <p:nvPr/>
          </p:nvSpPr>
          <p:spPr>
            <a:xfrm>
              <a:off x="2748" y="831"/>
              <a:ext cx="1" cy="56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5350" name="Group 67"/>
            <p:cNvGrpSpPr/>
            <p:nvPr/>
          </p:nvGrpSpPr>
          <p:grpSpPr>
            <a:xfrm>
              <a:off x="2748" y="831"/>
              <a:ext cx="1152" cy="577"/>
              <a:chOff x="2748" y="831"/>
              <a:chExt cx="1152" cy="577"/>
            </a:xfrm>
          </p:grpSpPr>
          <p:sp>
            <p:nvSpPr>
              <p:cNvPr id="55351" name="Line 68"/>
              <p:cNvSpPr/>
              <p:nvPr/>
            </p:nvSpPr>
            <p:spPr>
              <a:xfrm>
                <a:off x="2748" y="831"/>
                <a:ext cx="1152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52" name="Line 69"/>
              <p:cNvSpPr/>
              <p:nvPr/>
            </p:nvSpPr>
            <p:spPr>
              <a:xfrm>
                <a:off x="2748" y="1407"/>
                <a:ext cx="1152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1" name="Group 70"/>
          <p:cNvGrpSpPr/>
          <p:nvPr/>
        </p:nvGrpSpPr>
        <p:grpSpPr>
          <a:xfrm>
            <a:off x="6035675" y="1319213"/>
            <a:ext cx="238125" cy="919162"/>
            <a:chOff x="3802" y="831"/>
            <a:chExt cx="150" cy="579"/>
          </a:xfrm>
        </p:grpSpPr>
        <p:sp>
          <p:nvSpPr>
            <p:cNvPr id="55346" name="Freeform 71"/>
            <p:cNvSpPr/>
            <p:nvPr/>
          </p:nvSpPr>
          <p:spPr>
            <a:xfrm>
              <a:off x="3804" y="831"/>
              <a:ext cx="148" cy="579"/>
            </a:xfrm>
            <a:custGeom>
              <a:avLst/>
              <a:gdLst>
                <a:gd name="txL" fmla="*/ 0 w 148"/>
                <a:gd name="txT" fmla="*/ 0 h 579"/>
                <a:gd name="txR" fmla="*/ 148 w 148"/>
                <a:gd name="txB" fmla="*/ 579 h 579"/>
              </a:gdLst>
              <a:ahLst/>
              <a:cxnLst>
                <a:cxn ang="0">
                  <a:pos x="68" y="0"/>
                </a:cxn>
                <a:cxn ang="0">
                  <a:pos x="97" y="13"/>
                </a:cxn>
                <a:cxn ang="0">
                  <a:pos x="129" y="51"/>
                </a:cxn>
                <a:cxn ang="0">
                  <a:pos x="145" y="102"/>
                </a:cxn>
                <a:cxn ang="0">
                  <a:pos x="142" y="141"/>
                </a:cxn>
                <a:cxn ang="0">
                  <a:pos x="110" y="227"/>
                </a:cxn>
                <a:cxn ang="0">
                  <a:pos x="68" y="288"/>
                </a:cxn>
                <a:cxn ang="0">
                  <a:pos x="42" y="330"/>
                </a:cxn>
                <a:cxn ang="0">
                  <a:pos x="20" y="384"/>
                </a:cxn>
                <a:cxn ang="0">
                  <a:pos x="4" y="426"/>
                </a:cxn>
                <a:cxn ang="0">
                  <a:pos x="1" y="474"/>
                </a:cxn>
                <a:cxn ang="0">
                  <a:pos x="10" y="509"/>
                </a:cxn>
                <a:cxn ang="0">
                  <a:pos x="20" y="528"/>
                </a:cxn>
                <a:cxn ang="0">
                  <a:pos x="36" y="550"/>
                </a:cxn>
                <a:cxn ang="0">
                  <a:pos x="68" y="576"/>
                </a:cxn>
                <a:cxn ang="0">
                  <a:pos x="108" y="566"/>
                </a:cxn>
                <a:cxn ang="0">
                  <a:pos x="122" y="542"/>
                </a:cxn>
                <a:cxn ang="0">
                  <a:pos x="127" y="514"/>
                </a:cxn>
                <a:cxn ang="0">
                  <a:pos x="132" y="475"/>
                </a:cxn>
                <a:cxn ang="0">
                  <a:pos x="132" y="437"/>
                </a:cxn>
                <a:cxn ang="0">
                  <a:pos x="127" y="394"/>
                </a:cxn>
                <a:cxn ang="0">
                  <a:pos x="118" y="365"/>
                </a:cxn>
                <a:cxn ang="0">
                  <a:pos x="98" y="336"/>
                </a:cxn>
                <a:cxn ang="0">
                  <a:pos x="68" y="288"/>
                </a:cxn>
              </a:cxnLst>
              <a:rect l="txL" t="txT" r="txR" b="txB"/>
              <a:pathLst>
                <a:path w="148" h="579">
                  <a:moveTo>
                    <a:pt x="68" y="0"/>
                  </a:moveTo>
                  <a:cubicBezTo>
                    <a:pt x="73" y="2"/>
                    <a:pt x="87" y="4"/>
                    <a:pt x="97" y="13"/>
                  </a:cubicBezTo>
                  <a:cubicBezTo>
                    <a:pt x="107" y="22"/>
                    <a:pt x="121" y="36"/>
                    <a:pt x="129" y="51"/>
                  </a:cubicBezTo>
                  <a:cubicBezTo>
                    <a:pt x="137" y="66"/>
                    <a:pt x="143" y="87"/>
                    <a:pt x="145" y="102"/>
                  </a:cubicBezTo>
                  <a:cubicBezTo>
                    <a:pt x="147" y="117"/>
                    <a:pt x="148" y="120"/>
                    <a:pt x="142" y="141"/>
                  </a:cubicBezTo>
                  <a:cubicBezTo>
                    <a:pt x="136" y="162"/>
                    <a:pt x="122" y="202"/>
                    <a:pt x="110" y="227"/>
                  </a:cubicBezTo>
                  <a:cubicBezTo>
                    <a:pt x="98" y="252"/>
                    <a:pt x="79" y="271"/>
                    <a:pt x="68" y="288"/>
                  </a:cubicBezTo>
                  <a:cubicBezTo>
                    <a:pt x="57" y="305"/>
                    <a:pt x="50" y="314"/>
                    <a:pt x="42" y="330"/>
                  </a:cubicBezTo>
                  <a:cubicBezTo>
                    <a:pt x="34" y="346"/>
                    <a:pt x="26" y="368"/>
                    <a:pt x="20" y="384"/>
                  </a:cubicBezTo>
                  <a:cubicBezTo>
                    <a:pt x="14" y="400"/>
                    <a:pt x="7" y="411"/>
                    <a:pt x="4" y="426"/>
                  </a:cubicBezTo>
                  <a:cubicBezTo>
                    <a:pt x="1" y="441"/>
                    <a:pt x="0" y="460"/>
                    <a:pt x="1" y="474"/>
                  </a:cubicBezTo>
                  <a:cubicBezTo>
                    <a:pt x="2" y="488"/>
                    <a:pt x="7" y="500"/>
                    <a:pt x="10" y="509"/>
                  </a:cubicBezTo>
                  <a:cubicBezTo>
                    <a:pt x="13" y="518"/>
                    <a:pt x="16" y="521"/>
                    <a:pt x="20" y="528"/>
                  </a:cubicBezTo>
                  <a:cubicBezTo>
                    <a:pt x="24" y="535"/>
                    <a:pt x="28" y="542"/>
                    <a:pt x="36" y="550"/>
                  </a:cubicBezTo>
                  <a:cubicBezTo>
                    <a:pt x="44" y="558"/>
                    <a:pt x="56" y="573"/>
                    <a:pt x="68" y="576"/>
                  </a:cubicBezTo>
                  <a:cubicBezTo>
                    <a:pt x="80" y="579"/>
                    <a:pt x="99" y="572"/>
                    <a:pt x="108" y="566"/>
                  </a:cubicBezTo>
                  <a:cubicBezTo>
                    <a:pt x="117" y="560"/>
                    <a:pt x="119" y="551"/>
                    <a:pt x="122" y="542"/>
                  </a:cubicBezTo>
                  <a:cubicBezTo>
                    <a:pt x="125" y="533"/>
                    <a:pt x="125" y="525"/>
                    <a:pt x="127" y="514"/>
                  </a:cubicBezTo>
                  <a:cubicBezTo>
                    <a:pt x="129" y="503"/>
                    <a:pt x="131" y="488"/>
                    <a:pt x="132" y="475"/>
                  </a:cubicBezTo>
                  <a:cubicBezTo>
                    <a:pt x="133" y="462"/>
                    <a:pt x="133" y="450"/>
                    <a:pt x="132" y="437"/>
                  </a:cubicBezTo>
                  <a:cubicBezTo>
                    <a:pt x="131" y="424"/>
                    <a:pt x="129" y="406"/>
                    <a:pt x="127" y="394"/>
                  </a:cubicBezTo>
                  <a:cubicBezTo>
                    <a:pt x="125" y="382"/>
                    <a:pt x="123" y="375"/>
                    <a:pt x="118" y="365"/>
                  </a:cubicBezTo>
                  <a:cubicBezTo>
                    <a:pt x="113" y="355"/>
                    <a:pt x="106" y="349"/>
                    <a:pt x="98" y="336"/>
                  </a:cubicBezTo>
                  <a:cubicBezTo>
                    <a:pt x="90" y="323"/>
                    <a:pt x="74" y="298"/>
                    <a:pt x="68" y="28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5347" name="Line 72"/>
            <p:cNvSpPr/>
            <p:nvPr/>
          </p:nvSpPr>
          <p:spPr>
            <a:xfrm flipV="1">
              <a:off x="3840" y="1263"/>
              <a:ext cx="108" cy="10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8" name="Line 73"/>
            <p:cNvSpPr/>
            <p:nvPr/>
          </p:nvSpPr>
          <p:spPr>
            <a:xfrm flipV="1">
              <a:off x="3802" y="1193"/>
              <a:ext cx="121" cy="12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" name="Group 74"/>
          <p:cNvGrpSpPr/>
          <p:nvPr/>
        </p:nvGrpSpPr>
        <p:grpSpPr>
          <a:xfrm>
            <a:off x="4257675" y="1309688"/>
            <a:ext cx="112713" cy="925512"/>
            <a:chOff x="2682" y="825"/>
            <a:chExt cx="71" cy="583"/>
          </a:xfrm>
        </p:grpSpPr>
        <p:sp>
          <p:nvSpPr>
            <p:cNvPr id="55343" name="Freeform 75"/>
            <p:cNvSpPr/>
            <p:nvPr/>
          </p:nvSpPr>
          <p:spPr>
            <a:xfrm>
              <a:off x="2682" y="825"/>
              <a:ext cx="71" cy="71"/>
            </a:xfrm>
            <a:custGeom>
              <a:avLst/>
              <a:gdLst>
                <a:gd name="txL" fmla="*/ 0 w 58"/>
                <a:gd name="txT" fmla="*/ 0 h 58"/>
                <a:gd name="txR" fmla="*/ 58 w 58"/>
                <a:gd name="txB" fmla="*/ 58 h 58"/>
              </a:gdLst>
              <a:ahLst/>
              <a:cxnLst>
                <a:cxn ang="0">
                  <a:pos x="87" y="0"/>
                </a:cxn>
                <a:cxn ang="0">
                  <a:pos x="0" y="87"/>
                </a:cxn>
              </a:cxnLst>
              <a:rect l="txL" t="txT" r="txR" b="txB"/>
              <a:pathLst>
                <a:path w="58" h="58">
                  <a:moveTo>
                    <a:pt x="58" y="0"/>
                  </a:moveTo>
                  <a:lnTo>
                    <a:pt x="0" y="58"/>
                  </a:lnTo>
                </a:path>
              </a:pathLst>
            </a:custGeom>
            <a:noFill/>
            <a:ln w="38100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5344" name="Freeform 76"/>
            <p:cNvSpPr/>
            <p:nvPr/>
          </p:nvSpPr>
          <p:spPr>
            <a:xfrm>
              <a:off x="2691" y="869"/>
              <a:ext cx="1" cy="494"/>
            </a:xfrm>
            <a:custGeom>
              <a:avLst/>
              <a:gdLst>
                <a:gd name="txL" fmla="*/ 0 w 1"/>
                <a:gd name="txT" fmla="*/ 0 h 494"/>
                <a:gd name="txR" fmla="*/ 1 w 1"/>
                <a:gd name="txB" fmla="*/ 494 h 494"/>
              </a:gdLst>
              <a:ahLst/>
              <a:cxnLst>
                <a:cxn ang="0">
                  <a:pos x="0" y="0"/>
                </a:cxn>
                <a:cxn ang="0">
                  <a:pos x="0" y="494"/>
                </a:cxn>
              </a:cxnLst>
              <a:rect l="txL" t="txT" r="txR" b="txB"/>
              <a:pathLst>
                <a:path w="1" h="494">
                  <a:moveTo>
                    <a:pt x="0" y="0"/>
                  </a:moveTo>
                  <a:lnTo>
                    <a:pt x="0" y="494"/>
                  </a:lnTo>
                </a:path>
              </a:pathLst>
            </a:custGeom>
            <a:noFill/>
            <a:ln w="38100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5345" name="Freeform 77"/>
            <p:cNvSpPr/>
            <p:nvPr/>
          </p:nvSpPr>
          <p:spPr>
            <a:xfrm>
              <a:off x="2690" y="1347"/>
              <a:ext cx="61" cy="61"/>
            </a:xfrm>
            <a:custGeom>
              <a:avLst/>
              <a:gdLst>
                <a:gd name="txL" fmla="*/ 0 w 75"/>
                <a:gd name="txT" fmla="*/ 0 h 75"/>
                <a:gd name="txR" fmla="*/ 75 w 75"/>
                <a:gd name="txB" fmla="*/ 75 h 75"/>
              </a:gdLst>
              <a:ahLst/>
              <a:cxnLst>
                <a:cxn ang="0">
                  <a:pos x="50" y="50"/>
                </a:cxn>
                <a:cxn ang="0">
                  <a:pos x="0" y="0"/>
                </a:cxn>
              </a:cxnLst>
              <a:rect l="txL" t="txT" r="txR" b="txB"/>
              <a:pathLst>
                <a:path w="75" h="75">
                  <a:moveTo>
                    <a:pt x="75" y="75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08622" name="Line 78"/>
          <p:cNvSpPr/>
          <p:nvPr/>
        </p:nvSpPr>
        <p:spPr>
          <a:xfrm>
            <a:off x="4256088" y="1412875"/>
            <a:ext cx="3240087" cy="0"/>
          </a:xfrm>
          <a:prstGeom prst="line">
            <a:avLst/>
          </a:prstGeom>
          <a:ln w="9525" cap="flat" cmpd="sng">
            <a:solidFill>
              <a:srgbClr val="00FF00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108623" name="Oval 79"/>
          <p:cNvSpPr>
            <a:spLocks noChangeAspect="1"/>
          </p:cNvSpPr>
          <p:nvPr/>
        </p:nvSpPr>
        <p:spPr>
          <a:xfrm>
            <a:off x="7083425" y="1408113"/>
            <a:ext cx="819150" cy="773112"/>
          </a:xfrm>
          <a:prstGeom prst="ellipse">
            <a:avLst/>
          </a:prstGeom>
          <a:noFill/>
          <a:ln w="1905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Group 175"/>
          <p:cNvGrpSpPr/>
          <p:nvPr/>
        </p:nvGrpSpPr>
        <p:grpSpPr>
          <a:xfrm>
            <a:off x="3348038" y="1412875"/>
            <a:ext cx="898525" cy="657225"/>
            <a:chOff x="877" y="109"/>
            <a:chExt cx="566" cy="414"/>
          </a:xfrm>
        </p:grpSpPr>
        <p:sp>
          <p:nvSpPr>
            <p:cNvPr id="55340" name="Text Box 176"/>
            <p:cNvSpPr txBox="1"/>
            <p:nvPr/>
          </p:nvSpPr>
          <p:spPr>
            <a:xfrm>
              <a:off x="877" y="109"/>
              <a:ext cx="50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zh-CN" altLang="en-US" sz="24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倒角</a:t>
              </a:r>
              <a:endPara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41" name="Line 177"/>
            <p:cNvSpPr/>
            <p:nvPr/>
          </p:nvSpPr>
          <p:spPr>
            <a:xfrm flipV="1">
              <a:off x="959" y="378"/>
              <a:ext cx="340" cy="0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2" name="Line 178"/>
            <p:cNvSpPr/>
            <p:nvPr/>
          </p:nvSpPr>
          <p:spPr>
            <a:xfrm>
              <a:off x="1304" y="384"/>
              <a:ext cx="139" cy="139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triangle" w="sm" len="lg"/>
            </a:ln>
          </p:spPr>
        </p:sp>
      </p:grpSp>
      <p:sp>
        <p:nvSpPr>
          <p:cNvPr id="108723" name="Line 179"/>
          <p:cNvSpPr/>
          <p:nvPr/>
        </p:nvSpPr>
        <p:spPr>
          <a:xfrm flipV="1">
            <a:off x="3203575" y="3978275"/>
            <a:ext cx="884238" cy="0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8724" name="Line 180"/>
          <p:cNvSpPr/>
          <p:nvPr/>
        </p:nvSpPr>
        <p:spPr>
          <a:xfrm flipH="1">
            <a:off x="3070225" y="3975100"/>
            <a:ext cx="142875" cy="0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8725" name="Line 181"/>
          <p:cNvSpPr/>
          <p:nvPr/>
        </p:nvSpPr>
        <p:spPr>
          <a:xfrm>
            <a:off x="3232150" y="5768975"/>
            <a:ext cx="865188" cy="0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8726" name="Line 182"/>
          <p:cNvSpPr/>
          <p:nvPr/>
        </p:nvSpPr>
        <p:spPr>
          <a:xfrm flipH="1">
            <a:off x="3089275" y="5768975"/>
            <a:ext cx="142875" cy="0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4" name="Group 183"/>
          <p:cNvGrpSpPr/>
          <p:nvPr/>
        </p:nvGrpSpPr>
        <p:grpSpPr>
          <a:xfrm>
            <a:off x="2951163" y="3789363"/>
            <a:ext cx="1223962" cy="2208212"/>
            <a:chOff x="4513" y="1956"/>
            <a:chExt cx="771" cy="1391"/>
          </a:xfrm>
        </p:grpSpPr>
        <p:grpSp>
          <p:nvGrpSpPr>
            <p:cNvPr id="55330" name="Group 184"/>
            <p:cNvGrpSpPr/>
            <p:nvPr/>
          </p:nvGrpSpPr>
          <p:grpSpPr>
            <a:xfrm>
              <a:off x="4513" y="1979"/>
              <a:ext cx="771" cy="1313"/>
              <a:chOff x="4513" y="1979"/>
              <a:chExt cx="771" cy="1313"/>
            </a:xfrm>
          </p:grpSpPr>
          <p:grpSp>
            <p:nvGrpSpPr>
              <p:cNvPr id="55332" name="Group 185"/>
              <p:cNvGrpSpPr>
                <a:grpSpLocks noChangeAspect="1"/>
              </p:cNvGrpSpPr>
              <p:nvPr/>
            </p:nvGrpSpPr>
            <p:grpSpPr>
              <a:xfrm>
                <a:off x="4513" y="1979"/>
                <a:ext cx="161" cy="1313"/>
                <a:chOff x="4558" y="2115"/>
                <a:chExt cx="71" cy="583"/>
              </a:xfrm>
            </p:grpSpPr>
            <p:grpSp>
              <p:nvGrpSpPr>
                <p:cNvPr id="55335" name="Group 186"/>
                <p:cNvGrpSpPr>
                  <a:grpSpLocks noChangeAspect="1"/>
                </p:cNvGrpSpPr>
                <p:nvPr/>
              </p:nvGrpSpPr>
              <p:grpSpPr>
                <a:xfrm>
                  <a:off x="4558" y="2115"/>
                  <a:ext cx="71" cy="583"/>
                  <a:chOff x="2682" y="825"/>
                  <a:chExt cx="71" cy="583"/>
                </a:xfrm>
              </p:grpSpPr>
              <p:sp>
                <p:nvSpPr>
                  <p:cNvPr id="55337" name="Freeform 187"/>
                  <p:cNvSpPr>
                    <a:spLocks noChangeAspect="1"/>
                  </p:cNvSpPr>
                  <p:nvPr/>
                </p:nvSpPr>
                <p:spPr>
                  <a:xfrm>
                    <a:off x="2682" y="825"/>
                    <a:ext cx="71" cy="71"/>
                  </a:xfrm>
                  <a:custGeom>
                    <a:avLst/>
                    <a:gdLst>
                      <a:gd name="txL" fmla="*/ 0 w 58"/>
                      <a:gd name="txT" fmla="*/ 0 h 58"/>
                      <a:gd name="txR" fmla="*/ 58 w 58"/>
                      <a:gd name="txB" fmla="*/ 58 h 58"/>
                    </a:gdLst>
                    <a:ahLst/>
                    <a:cxnLst>
                      <a:cxn ang="0">
                        <a:pos x="87" y="0"/>
                      </a:cxn>
                      <a:cxn ang="0">
                        <a:pos x="0" y="87"/>
                      </a:cxn>
                    </a:cxnLst>
                    <a:rect l="txL" t="txT" r="txR" b="txB"/>
                    <a:pathLst>
                      <a:path w="58" h="58">
                        <a:moveTo>
                          <a:pt x="58" y="0"/>
                        </a:moveTo>
                        <a:lnTo>
                          <a:pt x="0" y="58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55338" name="Freeform 188"/>
                  <p:cNvSpPr>
                    <a:spLocks noChangeAspect="1"/>
                  </p:cNvSpPr>
                  <p:nvPr/>
                </p:nvSpPr>
                <p:spPr>
                  <a:xfrm>
                    <a:off x="2691" y="869"/>
                    <a:ext cx="1" cy="494"/>
                  </a:xfrm>
                  <a:custGeom>
                    <a:avLst/>
                    <a:gdLst>
                      <a:gd name="txL" fmla="*/ 0 w 1"/>
                      <a:gd name="txT" fmla="*/ 0 h 494"/>
                      <a:gd name="txR" fmla="*/ 1 w 1"/>
                      <a:gd name="txB" fmla="*/ 494 h 494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494"/>
                      </a:cxn>
                    </a:cxnLst>
                    <a:rect l="txL" t="txT" r="txR" b="txB"/>
                    <a:pathLst>
                      <a:path w="1" h="494">
                        <a:moveTo>
                          <a:pt x="0" y="0"/>
                        </a:moveTo>
                        <a:lnTo>
                          <a:pt x="0" y="494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55339" name="Freeform 189"/>
                  <p:cNvSpPr>
                    <a:spLocks noChangeAspect="1"/>
                  </p:cNvSpPr>
                  <p:nvPr/>
                </p:nvSpPr>
                <p:spPr>
                  <a:xfrm>
                    <a:off x="2690" y="1347"/>
                    <a:ext cx="61" cy="61"/>
                  </a:xfrm>
                  <a:custGeom>
                    <a:avLst/>
                    <a:gdLst>
                      <a:gd name="txL" fmla="*/ 0 w 75"/>
                      <a:gd name="txT" fmla="*/ 0 h 75"/>
                      <a:gd name="txR" fmla="*/ 75 w 75"/>
                      <a:gd name="txB" fmla="*/ 75 h 75"/>
                    </a:gdLst>
                    <a:ahLst/>
                    <a:cxnLst>
                      <a:cxn ang="0">
                        <a:pos x="50" y="50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75" h="75">
                        <a:moveTo>
                          <a:pt x="75" y="75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55336" name="Line 190"/>
                <p:cNvSpPr>
                  <a:spLocks noChangeAspect="1"/>
                </p:cNvSpPr>
                <p:nvPr/>
              </p:nvSpPr>
              <p:spPr>
                <a:xfrm>
                  <a:off x="4628" y="2115"/>
                  <a:ext cx="0" cy="567"/>
                </a:xfrm>
                <a:prstGeom prst="line">
                  <a:avLst/>
                </a:prstGeom>
                <a:ln w="38100" cap="flat" cmpd="sng">
                  <a:solidFill>
                    <a:srgbClr val="00FF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5333" name="Line 191"/>
              <p:cNvSpPr/>
              <p:nvPr/>
            </p:nvSpPr>
            <p:spPr>
              <a:xfrm>
                <a:off x="4649" y="1979"/>
                <a:ext cx="63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34" name="Line 192"/>
              <p:cNvSpPr/>
              <p:nvPr/>
            </p:nvSpPr>
            <p:spPr>
              <a:xfrm>
                <a:off x="4682" y="3276"/>
                <a:ext cx="59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5331" name="Freeform 193"/>
            <p:cNvSpPr/>
            <p:nvPr/>
          </p:nvSpPr>
          <p:spPr>
            <a:xfrm>
              <a:off x="5232" y="1956"/>
              <a:ext cx="52" cy="1391"/>
            </a:xfrm>
            <a:custGeom>
              <a:avLst/>
              <a:gdLst>
                <a:gd name="txL" fmla="*/ 0 w 52"/>
                <a:gd name="txT" fmla="*/ 0 h 1391"/>
                <a:gd name="txR" fmla="*/ 52 w 52"/>
                <a:gd name="txB" fmla="*/ 1391 h 1391"/>
              </a:gdLst>
              <a:ahLst/>
              <a:cxnLst>
                <a:cxn ang="0">
                  <a:pos x="52" y="23"/>
                </a:cxn>
                <a:cxn ang="0">
                  <a:pos x="7" y="113"/>
                </a:cxn>
                <a:cxn ang="0">
                  <a:pos x="7" y="703"/>
                </a:cxn>
                <a:cxn ang="0">
                  <a:pos x="7" y="1247"/>
                </a:cxn>
                <a:cxn ang="0">
                  <a:pos x="52" y="1338"/>
                </a:cxn>
              </a:cxnLst>
              <a:rect l="txL" t="txT" r="txR" b="txB"/>
              <a:pathLst>
                <a:path w="52" h="1391">
                  <a:moveTo>
                    <a:pt x="52" y="23"/>
                  </a:moveTo>
                  <a:cubicBezTo>
                    <a:pt x="33" y="11"/>
                    <a:pt x="14" y="0"/>
                    <a:pt x="7" y="113"/>
                  </a:cubicBezTo>
                  <a:cubicBezTo>
                    <a:pt x="0" y="226"/>
                    <a:pt x="7" y="514"/>
                    <a:pt x="7" y="703"/>
                  </a:cubicBezTo>
                  <a:cubicBezTo>
                    <a:pt x="7" y="892"/>
                    <a:pt x="0" y="1141"/>
                    <a:pt x="7" y="1247"/>
                  </a:cubicBezTo>
                  <a:cubicBezTo>
                    <a:pt x="14" y="1353"/>
                    <a:pt x="22" y="1391"/>
                    <a:pt x="52" y="1338"/>
                  </a:cubicBezTo>
                </a:path>
              </a:pathLst>
            </a:custGeom>
            <a:noFill/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9233" name="Rectangle 17"/>
          <p:cNvSpPr/>
          <p:nvPr/>
        </p:nvSpPr>
        <p:spPr>
          <a:xfrm>
            <a:off x="263525" y="215900"/>
            <a:ext cx="373316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2</a:t>
            </a:r>
            <a:r>
              <a:rPr lang="zh-CN" altLang="en-US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、螺纹的规定画法</a:t>
            </a:r>
            <a:endParaRPr lang="zh-CN" altLang="en-US" sz="28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343051" name="组合 343050"/>
          <p:cNvGrpSpPr/>
          <p:nvPr/>
        </p:nvGrpSpPr>
        <p:grpSpPr>
          <a:xfrm>
            <a:off x="263525" y="70929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108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08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108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8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8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108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10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0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9" dur="500"/>
                                        <p:tgtEl>
                                          <p:spTgt spid="1086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08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08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2000"/>
                                        <p:tgtEl>
                                          <p:spTgt spid="108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5" dur="3000"/>
                                        <p:tgtEl>
                                          <p:spTgt spid="108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2000"/>
                                        <p:tgtEl>
                                          <p:spTgt spid="108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5" dur="3000"/>
                                        <p:tgtEl>
                                          <p:spTgt spid="10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10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2" grpId="0"/>
      <p:bldP spid="108556" grpId="0" bldLvl="0" animBg="1"/>
      <p:bldP spid="108564" grpId="0" bldLvl="0" animBg="1"/>
      <p:bldP spid="108623" grpId="0" bldLvl="0" animBg="1"/>
      <p:bldP spid="108623" grpId="1" bldLvl="0" animBg="1"/>
      <p:bldP spid="923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2" name="Rectangle 22"/>
          <p:cNvSpPr/>
          <p:nvPr/>
        </p:nvSpPr>
        <p:spPr>
          <a:xfrm>
            <a:off x="222250" y="5938203"/>
            <a:ext cx="2881313" cy="39878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b="1" dirty="0">
                <a:solidFill>
                  <a:srgbClr val="660066"/>
                </a:solidFill>
                <a:latin typeface="Arial" panose="020B0604020202020204" pitchFamily="34" charset="0"/>
              </a:rPr>
              <a:t>内</a:t>
            </a:r>
            <a:r>
              <a:rPr lang="zh-CN" altLang="en-US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螺纹的规定画法</a:t>
            </a:r>
            <a:r>
              <a:rPr lang="en-US" altLang="zh-CN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endParaRPr lang="en-US" altLang="zh-CN" sz="20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731838" y="1365250"/>
            <a:ext cx="3400425" cy="1662113"/>
            <a:chOff x="348" y="747"/>
            <a:chExt cx="2142" cy="1047"/>
          </a:xfrm>
        </p:grpSpPr>
        <p:pic>
          <p:nvPicPr>
            <p:cNvPr id="56474" name="Picture 8" descr="内螺纹画法1"/>
            <p:cNvPicPr>
              <a:picLocks noChangeAspect="1"/>
            </p:cNvPicPr>
            <p:nvPr/>
          </p:nvPicPr>
          <p:blipFill>
            <a:blip r:embed="rId1">
              <a:lum contrast="6000"/>
            </a:blip>
            <a:stretch>
              <a:fillRect/>
            </a:stretch>
          </p:blipFill>
          <p:spPr>
            <a:xfrm>
              <a:off x="348" y="747"/>
              <a:ext cx="2142" cy="104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6475" name="Line 9"/>
            <p:cNvSpPr/>
            <p:nvPr/>
          </p:nvSpPr>
          <p:spPr>
            <a:xfrm>
              <a:off x="1585" y="1055"/>
              <a:ext cx="71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8794" name="Line 10"/>
          <p:cNvSpPr/>
          <p:nvPr/>
        </p:nvSpPr>
        <p:spPr>
          <a:xfrm>
            <a:off x="4405313" y="2217738"/>
            <a:ext cx="208915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lgDashDot"/>
            <a:headEnd type="none" w="med" len="med"/>
            <a:tailEnd type="none" w="med" len="med"/>
          </a:ln>
        </p:spPr>
      </p:sp>
      <p:sp>
        <p:nvSpPr>
          <p:cNvPr id="118795" name="Oval 11"/>
          <p:cNvSpPr/>
          <p:nvPr/>
        </p:nvSpPr>
        <p:spPr>
          <a:xfrm>
            <a:off x="6826250" y="1527175"/>
            <a:ext cx="1439863" cy="1392238"/>
          </a:xfrm>
          <a:prstGeom prst="ellipse">
            <a:avLst/>
          </a:prstGeom>
          <a:noFill/>
          <a:ln w="381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8796" name="Oval 12"/>
          <p:cNvSpPr/>
          <p:nvPr/>
        </p:nvSpPr>
        <p:spPr>
          <a:xfrm>
            <a:off x="7170738" y="1836738"/>
            <a:ext cx="762000" cy="762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8797" name="Line 13"/>
          <p:cNvSpPr/>
          <p:nvPr/>
        </p:nvSpPr>
        <p:spPr>
          <a:xfrm>
            <a:off x="6704013" y="2217738"/>
            <a:ext cx="1711325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lgDashDot"/>
            <a:headEnd type="none" w="med" len="med"/>
            <a:tailEnd type="none" w="med" len="med"/>
          </a:ln>
        </p:spPr>
      </p:sp>
      <p:sp>
        <p:nvSpPr>
          <p:cNvPr id="118798" name="Line 14"/>
          <p:cNvSpPr/>
          <p:nvPr/>
        </p:nvSpPr>
        <p:spPr>
          <a:xfrm>
            <a:off x="7551738" y="1411288"/>
            <a:ext cx="0" cy="1524000"/>
          </a:xfrm>
          <a:prstGeom prst="line">
            <a:avLst/>
          </a:prstGeom>
          <a:ln w="9525" cap="flat" cmpd="sng">
            <a:solidFill>
              <a:srgbClr val="000000"/>
            </a:solidFill>
            <a:prstDash val="lgDashDot"/>
            <a:headEnd type="none" w="med" len="med"/>
            <a:tailEnd type="none" w="med" len="med"/>
          </a:ln>
        </p:spPr>
      </p:sp>
      <p:sp>
        <p:nvSpPr>
          <p:cNvPr id="118799" name="Line 15"/>
          <p:cNvSpPr/>
          <p:nvPr/>
        </p:nvSpPr>
        <p:spPr>
          <a:xfrm>
            <a:off x="5776913" y="1771650"/>
            <a:ext cx="0" cy="91440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8800" name="Line 16"/>
          <p:cNvSpPr/>
          <p:nvPr/>
        </p:nvSpPr>
        <p:spPr>
          <a:xfrm>
            <a:off x="2211388" y="1758950"/>
            <a:ext cx="5605462" cy="0"/>
          </a:xfrm>
          <a:prstGeom prst="line">
            <a:avLst/>
          </a:prstGeom>
          <a:ln w="635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8801" name="Line 17"/>
          <p:cNvSpPr/>
          <p:nvPr/>
        </p:nvSpPr>
        <p:spPr>
          <a:xfrm>
            <a:off x="2547938" y="1846263"/>
            <a:ext cx="5367337" cy="0"/>
          </a:xfrm>
          <a:prstGeom prst="line">
            <a:avLst/>
          </a:prstGeom>
          <a:ln w="127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" name="Group 18"/>
          <p:cNvGrpSpPr/>
          <p:nvPr/>
        </p:nvGrpSpPr>
        <p:grpSpPr>
          <a:xfrm>
            <a:off x="7092950" y="1757363"/>
            <a:ext cx="927100" cy="925512"/>
            <a:chOff x="4530" y="1161"/>
            <a:chExt cx="576" cy="576"/>
          </a:xfrm>
        </p:grpSpPr>
        <p:sp>
          <p:nvSpPr>
            <p:cNvPr id="56472" name="Oval 19"/>
            <p:cNvSpPr/>
            <p:nvPr/>
          </p:nvSpPr>
          <p:spPr>
            <a:xfrm>
              <a:off x="4530" y="1161"/>
              <a:ext cx="576" cy="576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473" name="Freeform 20"/>
            <p:cNvSpPr/>
            <p:nvPr/>
          </p:nvSpPr>
          <p:spPr>
            <a:xfrm>
              <a:off x="4536" y="1455"/>
              <a:ext cx="264" cy="282"/>
            </a:xfrm>
            <a:custGeom>
              <a:avLst/>
              <a:gdLst>
                <a:gd name="txL" fmla="*/ 0 w 264"/>
                <a:gd name="txT" fmla="*/ 0 h 282"/>
                <a:gd name="txR" fmla="*/ 264 w 264"/>
                <a:gd name="txB" fmla="*/ 282 h 282"/>
              </a:gdLst>
              <a:ahLst/>
              <a:cxnLst>
                <a:cxn ang="0">
                  <a:pos x="0" y="0"/>
                </a:cxn>
                <a:cxn ang="0">
                  <a:pos x="6" y="60"/>
                </a:cxn>
                <a:cxn ang="0">
                  <a:pos x="30" y="120"/>
                </a:cxn>
                <a:cxn ang="0">
                  <a:pos x="60" y="174"/>
                </a:cxn>
                <a:cxn ang="0">
                  <a:pos x="102" y="216"/>
                </a:cxn>
                <a:cxn ang="0">
                  <a:pos x="162" y="258"/>
                </a:cxn>
                <a:cxn ang="0">
                  <a:pos x="264" y="282"/>
                </a:cxn>
              </a:cxnLst>
              <a:rect l="txL" t="txT" r="txR" b="txB"/>
              <a:pathLst>
                <a:path w="264" h="282">
                  <a:moveTo>
                    <a:pt x="0" y="0"/>
                  </a:moveTo>
                  <a:cubicBezTo>
                    <a:pt x="0" y="20"/>
                    <a:pt x="1" y="40"/>
                    <a:pt x="6" y="60"/>
                  </a:cubicBezTo>
                  <a:cubicBezTo>
                    <a:pt x="11" y="80"/>
                    <a:pt x="21" y="101"/>
                    <a:pt x="30" y="120"/>
                  </a:cubicBezTo>
                  <a:cubicBezTo>
                    <a:pt x="39" y="139"/>
                    <a:pt x="48" y="158"/>
                    <a:pt x="60" y="174"/>
                  </a:cubicBezTo>
                  <a:cubicBezTo>
                    <a:pt x="72" y="190"/>
                    <a:pt x="85" y="202"/>
                    <a:pt x="102" y="216"/>
                  </a:cubicBezTo>
                  <a:cubicBezTo>
                    <a:pt x="119" y="230"/>
                    <a:pt x="135" y="247"/>
                    <a:pt x="162" y="258"/>
                  </a:cubicBezTo>
                  <a:cubicBezTo>
                    <a:pt x="189" y="269"/>
                    <a:pt x="242" y="279"/>
                    <a:pt x="264" y="282"/>
                  </a:cubicBezTo>
                </a:path>
              </a:pathLst>
            </a:custGeom>
            <a:noFill/>
            <a:ln w="381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21"/>
          <p:cNvGrpSpPr/>
          <p:nvPr/>
        </p:nvGrpSpPr>
        <p:grpSpPr>
          <a:xfrm>
            <a:off x="5564188" y="2660650"/>
            <a:ext cx="1990725" cy="798513"/>
            <a:chOff x="3567" y="1737"/>
            <a:chExt cx="1254" cy="503"/>
          </a:xfrm>
        </p:grpSpPr>
        <p:sp>
          <p:nvSpPr>
            <p:cNvPr id="56469" name="Text Box 22"/>
            <p:cNvSpPr txBox="1"/>
            <p:nvPr/>
          </p:nvSpPr>
          <p:spPr>
            <a:xfrm>
              <a:off x="3567" y="1952"/>
              <a:ext cx="12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zh-CN" altLang="en-US" sz="24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螺纹终止线</a:t>
              </a:r>
              <a:endPara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470" name="Line 23"/>
            <p:cNvSpPr/>
            <p:nvPr/>
          </p:nvSpPr>
          <p:spPr>
            <a:xfrm>
              <a:off x="3702" y="1737"/>
              <a:ext cx="0" cy="480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triangle" w="sm" len="lg"/>
              <a:tailEnd type="none" w="med" len="med"/>
            </a:ln>
          </p:spPr>
        </p:sp>
        <p:sp>
          <p:nvSpPr>
            <p:cNvPr id="56471" name="Line 24"/>
            <p:cNvSpPr/>
            <p:nvPr/>
          </p:nvSpPr>
          <p:spPr>
            <a:xfrm>
              <a:off x="3702" y="2217"/>
              <a:ext cx="924" cy="0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25"/>
          <p:cNvGrpSpPr/>
          <p:nvPr/>
        </p:nvGrpSpPr>
        <p:grpSpPr>
          <a:xfrm>
            <a:off x="4535488" y="1736725"/>
            <a:ext cx="107950" cy="971550"/>
            <a:chOff x="2744" y="981"/>
            <a:chExt cx="68" cy="612"/>
          </a:xfrm>
        </p:grpSpPr>
        <p:sp>
          <p:nvSpPr>
            <p:cNvPr id="56466" name="Line 26"/>
            <p:cNvSpPr/>
            <p:nvPr/>
          </p:nvSpPr>
          <p:spPr>
            <a:xfrm>
              <a:off x="2807" y="1048"/>
              <a:ext cx="0" cy="48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67" name="Line 27"/>
            <p:cNvSpPr/>
            <p:nvPr/>
          </p:nvSpPr>
          <p:spPr>
            <a:xfrm flipH="1">
              <a:off x="2744" y="1525"/>
              <a:ext cx="68" cy="68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68" name="Line 28"/>
            <p:cNvSpPr>
              <a:spLocks noChangeAspect="1"/>
            </p:cNvSpPr>
            <p:nvPr/>
          </p:nvSpPr>
          <p:spPr>
            <a:xfrm flipH="1" flipV="1">
              <a:off x="2744" y="981"/>
              <a:ext cx="68" cy="68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29"/>
          <p:cNvGrpSpPr/>
          <p:nvPr/>
        </p:nvGrpSpPr>
        <p:grpSpPr>
          <a:xfrm>
            <a:off x="4633913" y="1835150"/>
            <a:ext cx="1765300" cy="763588"/>
            <a:chOff x="2806" y="1043"/>
            <a:chExt cx="1112" cy="481"/>
          </a:xfrm>
        </p:grpSpPr>
        <p:sp>
          <p:nvSpPr>
            <p:cNvPr id="56464" name="Line 30"/>
            <p:cNvSpPr/>
            <p:nvPr/>
          </p:nvSpPr>
          <p:spPr>
            <a:xfrm>
              <a:off x="2806" y="1524"/>
              <a:ext cx="1100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65" name="Line 31"/>
            <p:cNvSpPr/>
            <p:nvPr/>
          </p:nvSpPr>
          <p:spPr>
            <a:xfrm>
              <a:off x="2812" y="1043"/>
              <a:ext cx="110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" name="Group 32"/>
          <p:cNvGrpSpPr/>
          <p:nvPr/>
        </p:nvGrpSpPr>
        <p:grpSpPr>
          <a:xfrm>
            <a:off x="4557713" y="1765300"/>
            <a:ext cx="1228725" cy="911225"/>
            <a:chOff x="2933" y="1166"/>
            <a:chExt cx="774" cy="574"/>
          </a:xfrm>
        </p:grpSpPr>
        <p:sp>
          <p:nvSpPr>
            <p:cNvPr id="56462" name="Line 33"/>
            <p:cNvSpPr/>
            <p:nvPr/>
          </p:nvSpPr>
          <p:spPr>
            <a:xfrm>
              <a:off x="2933" y="1740"/>
              <a:ext cx="762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63" name="Line 34"/>
            <p:cNvSpPr/>
            <p:nvPr/>
          </p:nvSpPr>
          <p:spPr>
            <a:xfrm>
              <a:off x="2939" y="1166"/>
              <a:ext cx="768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" name="Group 35"/>
          <p:cNvGrpSpPr/>
          <p:nvPr/>
        </p:nvGrpSpPr>
        <p:grpSpPr>
          <a:xfrm>
            <a:off x="2871788" y="922338"/>
            <a:ext cx="2687637" cy="850900"/>
            <a:chOff x="1841" y="628"/>
            <a:chExt cx="1693" cy="536"/>
          </a:xfrm>
        </p:grpSpPr>
        <p:sp>
          <p:nvSpPr>
            <p:cNvPr id="56459" name="Text Box 36"/>
            <p:cNvSpPr txBox="1"/>
            <p:nvPr/>
          </p:nvSpPr>
          <p:spPr>
            <a:xfrm>
              <a:off x="1841" y="628"/>
              <a:ext cx="157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zh-CN" altLang="en-US" sz="24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 大径线画细实线 </a:t>
              </a:r>
              <a:endPara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460" name="Line 37"/>
            <p:cNvSpPr/>
            <p:nvPr/>
          </p:nvSpPr>
          <p:spPr>
            <a:xfrm flipH="1">
              <a:off x="1950" y="888"/>
              <a:ext cx="1302" cy="0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61" name="Line 38"/>
            <p:cNvSpPr/>
            <p:nvPr/>
          </p:nvSpPr>
          <p:spPr>
            <a:xfrm flipH="1" flipV="1">
              <a:off x="3250" y="880"/>
              <a:ext cx="284" cy="284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triangle" w="sm" len="lg"/>
              <a:tailEnd type="none" w="med" len="med"/>
            </a:ln>
          </p:spPr>
        </p:sp>
      </p:grpSp>
      <p:grpSp>
        <p:nvGrpSpPr>
          <p:cNvPr id="9" name="Group 39"/>
          <p:cNvGrpSpPr/>
          <p:nvPr/>
        </p:nvGrpSpPr>
        <p:grpSpPr>
          <a:xfrm>
            <a:off x="3024188" y="2592388"/>
            <a:ext cx="2581275" cy="879475"/>
            <a:chOff x="1792" y="1687"/>
            <a:chExt cx="1626" cy="554"/>
          </a:xfrm>
        </p:grpSpPr>
        <p:sp>
          <p:nvSpPr>
            <p:cNvPr id="56456" name="Text Box 40"/>
            <p:cNvSpPr txBox="1"/>
            <p:nvPr/>
          </p:nvSpPr>
          <p:spPr>
            <a:xfrm>
              <a:off x="1792" y="1953"/>
              <a:ext cx="162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zh-CN" altLang="en-US" sz="24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小径线画粗实线 </a:t>
              </a:r>
              <a:endPara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457" name="Line 41"/>
            <p:cNvSpPr/>
            <p:nvPr/>
          </p:nvSpPr>
          <p:spPr>
            <a:xfrm flipH="1">
              <a:off x="1939" y="2217"/>
              <a:ext cx="1437" cy="0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58" name="Line 42"/>
            <p:cNvSpPr/>
            <p:nvPr/>
          </p:nvSpPr>
          <p:spPr>
            <a:xfrm>
              <a:off x="3076" y="1687"/>
              <a:ext cx="305" cy="528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triangle" w="sm" len="lg"/>
              <a:tailEnd type="none" w="med" len="med"/>
            </a:ln>
          </p:spPr>
        </p:sp>
      </p:grpSp>
      <p:grpSp>
        <p:nvGrpSpPr>
          <p:cNvPr id="10" name="Group 43"/>
          <p:cNvGrpSpPr/>
          <p:nvPr/>
        </p:nvGrpSpPr>
        <p:grpSpPr>
          <a:xfrm>
            <a:off x="6376988" y="841375"/>
            <a:ext cx="1716087" cy="900113"/>
            <a:chOff x="4121" y="590"/>
            <a:chExt cx="1081" cy="567"/>
          </a:xfrm>
        </p:grpSpPr>
        <p:sp>
          <p:nvSpPr>
            <p:cNvPr id="56453" name="Text Box 44"/>
            <p:cNvSpPr txBox="1"/>
            <p:nvPr/>
          </p:nvSpPr>
          <p:spPr>
            <a:xfrm>
              <a:off x="4121" y="590"/>
              <a:ext cx="1081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zh-CN" altLang="en-US" sz="24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倒角圆不画</a:t>
              </a:r>
              <a:endPara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454" name="Line 45"/>
            <p:cNvSpPr/>
            <p:nvPr/>
          </p:nvSpPr>
          <p:spPr>
            <a:xfrm>
              <a:off x="4160" y="852"/>
              <a:ext cx="1019" cy="0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55" name="Line 46"/>
            <p:cNvSpPr/>
            <p:nvPr/>
          </p:nvSpPr>
          <p:spPr>
            <a:xfrm flipV="1">
              <a:off x="4864" y="844"/>
              <a:ext cx="313" cy="313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triangle" w="sm" len="lg"/>
              <a:tailEnd type="none" w="med" len="med"/>
            </a:ln>
          </p:spPr>
        </p:sp>
      </p:grpSp>
      <p:grpSp>
        <p:nvGrpSpPr>
          <p:cNvPr id="11" name="Group 47"/>
          <p:cNvGrpSpPr/>
          <p:nvPr/>
        </p:nvGrpSpPr>
        <p:grpSpPr>
          <a:xfrm>
            <a:off x="6067425" y="2501900"/>
            <a:ext cx="2540000" cy="1331913"/>
            <a:chOff x="3709" y="1731"/>
            <a:chExt cx="1600" cy="747"/>
          </a:xfrm>
        </p:grpSpPr>
        <p:sp>
          <p:nvSpPr>
            <p:cNvPr id="56450" name="Text Box 48"/>
            <p:cNvSpPr txBox="1"/>
            <p:nvPr/>
          </p:nvSpPr>
          <p:spPr>
            <a:xfrm>
              <a:off x="3709" y="2222"/>
              <a:ext cx="1525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大径圆约画</a:t>
              </a:r>
              <a:r>
                <a:rPr lang="en-US" altLang="zh-CN" sz="24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3/4</a:t>
              </a:r>
              <a:r>
                <a:rPr lang="zh-CN" altLang="en-US" sz="24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圈</a:t>
              </a:r>
              <a:endPara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451" name="Line 49"/>
            <p:cNvSpPr/>
            <p:nvPr/>
          </p:nvSpPr>
          <p:spPr>
            <a:xfrm>
              <a:off x="4887" y="1731"/>
              <a:ext cx="422" cy="730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triangle" w="sm" len="lg"/>
              <a:tailEnd type="none" w="med" len="med"/>
            </a:ln>
          </p:spPr>
        </p:sp>
        <p:sp>
          <p:nvSpPr>
            <p:cNvPr id="56452" name="Line 50"/>
            <p:cNvSpPr/>
            <p:nvPr/>
          </p:nvSpPr>
          <p:spPr>
            <a:xfrm flipH="1">
              <a:off x="3731" y="2459"/>
              <a:ext cx="1571" cy="0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" name="Group 51"/>
          <p:cNvGrpSpPr/>
          <p:nvPr/>
        </p:nvGrpSpPr>
        <p:grpSpPr>
          <a:xfrm>
            <a:off x="2584450" y="5200650"/>
            <a:ext cx="4394200" cy="1311275"/>
            <a:chOff x="1515" y="3163"/>
            <a:chExt cx="2768" cy="826"/>
          </a:xfrm>
        </p:grpSpPr>
        <p:sp>
          <p:nvSpPr>
            <p:cNvPr id="56445" name="Text Box 52"/>
            <p:cNvSpPr txBox="1"/>
            <p:nvPr/>
          </p:nvSpPr>
          <p:spPr>
            <a:xfrm>
              <a:off x="2233" y="3476"/>
              <a:ext cx="16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剖面线画到小径线</a:t>
              </a:r>
              <a:endPara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446" name="Line 53"/>
            <p:cNvSpPr/>
            <p:nvPr/>
          </p:nvSpPr>
          <p:spPr>
            <a:xfrm>
              <a:off x="1515" y="3165"/>
              <a:ext cx="596" cy="596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triangle" w="sm" len="lg"/>
              <a:tailEnd type="none" w="med" len="med"/>
            </a:ln>
          </p:spPr>
        </p:sp>
        <p:sp>
          <p:nvSpPr>
            <p:cNvPr id="56447" name="Line 54"/>
            <p:cNvSpPr/>
            <p:nvPr/>
          </p:nvSpPr>
          <p:spPr>
            <a:xfrm flipH="1">
              <a:off x="3932" y="3163"/>
              <a:ext cx="351" cy="596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triangle" w="sm" len="lg"/>
              <a:tailEnd type="none" w="sm" len="lg"/>
            </a:ln>
          </p:spPr>
        </p:sp>
        <p:sp>
          <p:nvSpPr>
            <p:cNvPr id="56448" name="Line 55"/>
            <p:cNvSpPr/>
            <p:nvPr/>
          </p:nvSpPr>
          <p:spPr>
            <a:xfrm>
              <a:off x="2098" y="3753"/>
              <a:ext cx="1837" cy="0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49" name="Text Box 56"/>
            <p:cNvSpPr txBox="1"/>
            <p:nvPr/>
          </p:nvSpPr>
          <p:spPr>
            <a:xfrm>
              <a:off x="2414" y="3698"/>
              <a:ext cx="1286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 b="1" dirty="0">
                  <a:latin typeface="Times New Roman" panose="02020603050405020304" pitchFamily="18" charset="0"/>
                </a:rPr>
                <a:t>即粗实线位置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18841" name="Text Box 57"/>
          <p:cNvSpPr txBox="1"/>
          <p:nvPr/>
        </p:nvSpPr>
        <p:spPr>
          <a:xfrm>
            <a:off x="6153150" y="3775075"/>
            <a:ext cx="930275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</a:rPr>
              <a:t>－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13" name="Group 58"/>
          <p:cNvGrpSpPr/>
          <p:nvPr/>
        </p:nvGrpSpPr>
        <p:grpSpPr>
          <a:xfrm>
            <a:off x="2222500" y="3748088"/>
            <a:ext cx="2860675" cy="2290762"/>
            <a:chOff x="1287" y="2248"/>
            <a:chExt cx="1802" cy="1443"/>
          </a:xfrm>
        </p:grpSpPr>
        <p:sp>
          <p:nvSpPr>
            <p:cNvPr id="56398" name="Line 59"/>
            <p:cNvSpPr/>
            <p:nvPr/>
          </p:nvSpPr>
          <p:spPr>
            <a:xfrm>
              <a:off x="2060" y="2354"/>
              <a:ext cx="0" cy="11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99" name="Line 60"/>
            <p:cNvSpPr/>
            <p:nvPr/>
          </p:nvSpPr>
          <p:spPr>
            <a:xfrm>
              <a:off x="2060" y="3471"/>
              <a:ext cx="0" cy="11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00" name="Text Box 61"/>
            <p:cNvSpPr txBox="1"/>
            <p:nvPr/>
          </p:nvSpPr>
          <p:spPr>
            <a:xfrm>
              <a:off x="1875" y="2248"/>
              <a:ext cx="255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latin typeface="Times New Roman" panose="02020603050405020304" pitchFamily="18" charset="0"/>
                </a:rPr>
                <a:t>A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6401" name="Text Box 62"/>
            <p:cNvSpPr txBox="1"/>
            <p:nvPr/>
          </p:nvSpPr>
          <p:spPr>
            <a:xfrm>
              <a:off x="1875" y="3403"/>
              <a:ext cx="255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latin typeface="Times New Roman" panose="02020603050405020304" pitchFamily="18" charset="0"/>
                </a:rPr>
                <a:t>A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6402" name="Line 63"/>
            <p:cNvSpPr/>
            <p:nvPr/>
          </p:nvSpPr>
          <p:spPr>
            <a:xfrm>
              <a:off x="2056" y="2350"/>
              <a:ext cx="188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56403" name="Line 64"/>
            <p:cNvSpPr/>
            <p:nvPr/>
          </p:nvSpPr>
          <p:spPr>
            <a:xfrm>
              <a:off x="2056" y="3578"/>
              <a:ext cx="17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56404" name="Freeform 65"/>
            <p:cNvSpPr/>
            <p:nvPr/>
          </p:nvSpPr>
          <p:spPr>
            <a:xfrm>
              <a:off x="1287" y="2972"/>
              <a:ext cx="1802" cy="2"/>
            </a:xfrm>
            <a:custGeom>
              <a:avLst/>
              <a:gdLst>
                <a:gd name="txL" fmla="*/ 0 w 1891"/>
                <a:gd name="txT" fmla="*/ 0 h 2"/>
                <a:gd name="txR" fmla="*/ 1891 w 1891"/>
                <a:gd name="txB" fmla="*/ 2 h 2"/>
              </a:gdLst>
              <a:ahLst/>
              <a:cxnLst>
                <a:cxn ang="0">
                  <a:pos x="1717" y="0"/>
                </a:cxn>
                <a:cxn ang="0">
                  <a:pos x="0" y="2"/>
                </a:cxn>
              </a:cxnLst>
              <a:rect l="txL" t="txT" r="txR" b="txB"/>
              <a:pathLst>
                <a:path w="1891" h="2">
                  <a:moveTo>
                    <a:pt x="1891" y="0"/>
                  </a:moveTo>
                  <a:lnTo>
                    <a:pt x="0" y="2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405" name="Line 66"/>
            <p:cNvSpPr/>
            <p:nvPr/>
          </p:nvSpPr>
          <p:spPr>
            <a:xfrm>
              <a:off x="2447" y="2689"/>
              <a:ext cx="0" cy="55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06" name="Freeform 67"/>
            <p:cNvSpPr/>
            <p:nvPr/>
          </p:nvSpPr>
          <p:spPr>
            <a:xfrm>
              <a:off x="1396" y="2501"/>
              <a:ext cx="132" cy="139"/>
            </a:xfrm>
            <a:custGeom>
              <a:avLst/>
              <a:gdLst>
                <a:gd name="txL" fmla="*/ 0 w 139"/>
                <a:gd name="txT" fmla="*/ 0 h 139"/>
                <a:gd name="txR" fmla="*/ 139 w 139"/>
                <a:gd name="txB" fmla="*/ 139 h 139"/>
              </a:gdLst>
              <a:ahLst/>
              <a:cxnLst>
                <a:cxn ang="0">
                  <a:pos x="0" y="139"/>
                </a:cxn>
                <a:cxn ang="0">
                  <a:pos x="125" y="0"/>
                </a:cxn>
              </a:cxnLst>
              <a:rect l="txL" t="txT" r="txR" b="txB"/>
              <a:pathLst>
                <a:path w="139" h="139">
                  <a:moveTo>
                    <a:pt x="0" y="139"/>
                  </a:moveTo>
                  <a:lnTo>
                    <a:pt x="139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407" name="Freeform 68"/>
            <p:cNvSpPr/>
            <p:nvPr/>
          </p:nvSpPr>
          <p:spPr>
            <a:xfrm>
              <a:off x="1418" y="2502"/>
              <a:ext cx="247" cy="262"/>
            </a:xfrm>
            <a:custGeom>
              <a:avLst/>
              <a:gdLst>
                <a:gd name="txL" fmla="*/ 0 w 260"/>
                <a:gd name="txT" fmla="*/ 0 h 262"/>
                <a:gd name="txR" fmla="*/ 260 w 260"/>
                <a:gd name="txB" fmla="*/ 262 h 262"/>
              </a:gdLst>
              <a:ahLst/>
              <a:cxnLst>
                <a:cxn ang="0">
                  <a:pos x="0" y="262"/>
                </a:cxn>
                <a:cxn ang="0">
                  <a:pos x="235" y="0"/>
                </a:cxn>
              </a:cxnLst>
              <a:rect l="txL" t="txT" r="txR" b="txB"/>
              <a:pathLst>
                <a:path w="260" h="262">
                  <a:moveTo>
                    <a:pt x="0" y="262"/>
                  </a:moveTo>
                  <a:lnTo>
                    <a:pt x="26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408" name="Freeform 69"/>
            <p:cNvSpPr/>
            <p:nvPr/>
          </p:nvSpPr>
          <p:spPr>
            <a:xfrm>
              <a:off x="1558" y="2502"/>
              <a:ext cx="247" cy="263"/>
            </a:xfrm>
            <a:custGeom>
              <a:avLst/>
              <a:gdLst>
                <a:gd name="txL" fmla="*/ 0 w 259"/>
                <a:gd name="txT" fmla="*/ 0 h 263"/>
                <a:gd name="txR" fmla="*/ 259 w 259"/>
                <a:gd name="txB" fmla="*/ 263 h 263"/>
              </a:gdLst>
              <a:ahLst/>
              <a:cxnLst>
                <a:cxn ang="0">
                  <a:pos x="0" y="263"/>
                </a:cxn>
                <a:cxn ang="0">
                  <a:pos x="236" y="0"/>
                </a:cxn>
              </a:cxnLst>
              <a:rect l="txL" t="txT" r="txR" b="txB"/>
              <a:pathLst>
                <a:path w="259" h="263">
                  <a:moveTo>
                    <a:pt x="0" y="263"/>
                  </a:moveTo>
                  <a:lnTo>
                    <a:pt x="259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409" name="Freeform 70"/>
            <p:cNvSpPr/>
            <p:nvPr/>
          </p:nvSpPr>
          <p:spPr>
            <a:xfrm>
              <a:off x="1708" y="2502"/>
              <a:ext cx="241" cy="262"/>
            </a:xfrm>
            <a:custGeom>
              <a:avLst/>
              <a:gdLst>
                <a:gd name="txL" fmla="*/ 0 w 253"/>
                <a:gd name="txT" fmla="*/ 0 h 262"/>
                <a:gd name="txR" fmla="*/ 253 w 253"/>
                <a:gd name="txB" fmla="*/ 262 h 262"/>
              </a:gdLst>
              <a:ahLst/>
              <a:cxnLst>
                <a:cxn ang="0">
                  <a:pos x="0" y="262"/>
                </a:cxn>
                <a:cxn ang="0">
                  <a:pos x="230" y="0"/>
                </a:cxn>
              </a:cxnLst>
              <a:rect l="txL" t="txT" r="txR" b="txB"/>
              <a:pathLst>
                <a:path w="253" h="262">
                  <a:moveTo>
                    <a:pt x="0" y="262"/>
                  </a:moveTo>
                  <a:lnTo>
                    <a:pt x="253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410" name="Freeform 71"/>
            <p:cNvSpPr/>
            <p:nvPr/>
          </p:nvSpPr>
          <p:spPr>
            <a:xfrm>
              <a:off x="1842" y="2502"/>
              <a:ext cx="247" cy="263"/>
            </a:xfrm>
            <a:custGeom>
              <a:avLst/>
              <a:gdLst>
                <a:gd name="txL" fmla="*/ 0 w 259"/>
                <a:gd name="txT" fmla="*/ 0 h 263"/>
                <a:gd name="txR" fmla="*/ 259 w 259"/>
                <a:gd name="txB" fmla="*/ 263 h 263"/>
              </a:gdLst>
              <a:ahLst/>
              <a:cxnLst>
                <a:cxn ang="0">
                  <a:pos x="0" y="263"/>
                </a:cxn>
                <a:cxn ang="0">
                  <a:pos x="236" y="0"/>
                </a:cxn>
              </a:cxnLst>
              <a:rect l="txL" t="txT" r="txR" b="txB"/>
              <a:pathLst>
                <a:path w="259" h="263">
                  <a:moveTo>
                    <a:pt x="0" y="263"/>
                  </a:moveTo>
                  <a:lnTo>
                    <a:pt x="259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411" name="Freeform 72"/>
            <p:cNvSpPr/>
            <p:nvPr/>
          </p:nvSpPr>
          <p:spPr>
            <a:xfrm>
              <a:off x="1992" y="2502"/>
              <a:ext cx="242" cy="262"/>
            </a:xfrm>
            <a:custGeom>
              <a:avLst/>
              <a:gdLst>
                <a:gd name="txL" fmla="*/ 0 w 254"/>
                <a:gd name="txT" fmla="*/ 0 h 262"/>
                <a:gd name="txR" fmla="*/ 254 w 254"/>
                <a:gd name="txB" fmla="*/ 262 h 262"/>
              </a:gdLst>
              <a:ahLst/>
              <a:cxnLst>
                <a:cxn ang="0">
                  <a:pos x="0" y="262"/>
                </a:cxn>
                <a:cxn ang="0">
                  <a:pos x="231" y="0"/>
                </a:cxn>
              </a:cxnLst>
              <a:rect l="txL" t="txT" r="txR" b="txB"/>
              <a:pathLst>
                <a:path w="254" h="262">
                  <a:moveTo>
                    <a:pt x="0" y="262"/>
                  </a:moveTo>
                  <a:lnTo>
                    <a:pt x="254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412" name="Freeform 73"/>
            <p:cNvSpPr/>
            <p:nvPr/>
          </p:nvSpPr>
          <p:spPr>
            <a:xfrm>
              <a:off x="2127" y="2502"/>
              <a:ext cx="252" cy="263"/>
            </a:xfrm>
            <a:custGeom>
              <a:avLst/>
              <a:gdLst>
                <a:gd name="txL" fmla="*/ 0 w 265"/>
                <a:gd name="txT" fmla="*/ 0 h 263"/>
                <a:gd name="txR" fmla="*/ 265 w 265"/>
                <a:gd name="txB" fmla="*/ 263 h 263"/>
              </a:gdLst>
              <a:ahLst/>
              <a:cxnLst>
                <a:cxn ang="0">
                  <a:pos x="0" y="263"/>
                </a:cxn>
                <a:cxn ang="0">
                  <a:pos x="240" y="0"/>
                </a:cxn>
              </a:cxnLst>
              <a:rect l="txL" t="txT" r="txR" b="txB"/>
              <a:pathLst>
                <a:path w="265" h="263">
                  <a:moveTo>
                    <a:pt x="0" y="263"/>
                  </a:moveTo>
                  <a:lnTo>
                    <a:pt x="265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413" name="Freeform 74"/>
            <p:cNvSpPr/>
            <p:nvPr/>
          </p:nvSpPr>
          <p:spPr>
            <a:xfrm>
              <a:off x="2276" y="2502"/>
              <a:ext cx="242" cy="262"/>
            </a:xfrm>
            <a:custGeom>
              <a:avLst/>
              <a:gdLst>
                <a:gd name="txL" fmla="*/ 0 w 254"/>
                <a:gd name="txT" fmla="*/ 0 h 262"/>
                <a:gd name="txR" fmla="*/ 254 w 254"/>
                <a:gd name="txB" fmla="*/ 262 h 262"/>
              </a:gdLst>
              <a:ahLst/>
              <a:cxnLst>
                <a:cxn ang="0">
                  <a:pos x="0" y="262"/>
                </a:cxn>
                <a:cxn ang="0">
                  <a:pos x="231" y="0"/>
                </a:cxn>
              </a:cxnLst>
              <a:rect l="txL" t="txT" r="txR" b="txB"/>
              <a:pathLst>
                <a:path w="254" h="262">
                  <a:moveTo>
                    <a:pt x="0" y="262"/>
                  </a:moveTo>
                  <a:lnTo>
                    <a:pt x="254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414" name="Freeform 75"/>
            <p:cNvSpPr/>
            <p:nvPr/>
          </p:nvSpPr>
          <p:spPr>
            <a:xfrm>
              <a:off x="2415" y="2500"/>
              <a:ext cx="247" cy="264"/>
            </a:xfrm>
            <a:custGeom>
              <a:avLst/>
              <a:gdLst>
                <a:gd name="txL" fmla="*/ 0 w 260"/>
                <a:gd name="txT" fmla="*/ 0 h 264"/>
                <a:gd name="txR" fmla="*/ 260 w 260"/>
                <a:gd name="txB" fmla="*/ 264 h 264"/>
              </a:gdLst>
              <a:ahLst/>
              <a:cxnLst>
                <a:cxn ang="0">
                  <a:pos x="0" y="264"/>
                </a:cxn>
                <a:cxn ang="0">
                  <a:pos x="235" y="0"/>
                </a:cxn>
              </a:cxnLst>
              <a:rect l="txL" t="txT" r="txR" b="txB"/>
              <a:pathLst>
                <a:path w="260" h="264">
                  <a:moveTo>
                    <a:pt x="0" y="264"/>
                  </a:moveTo>
                  <a:lnTo>
                    <a:pt x="26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415" name="Freeform 76"/>
            <p:cNvSpPr/>
            <p:nvPr/>
          </p:nvSpPr>
          <p:spPr>
            <a:xfrm>
              <a:off x="2558" y="2509"/>
              <a:ext cx="244" cy="256"/>
            </a:xfrm>
            <a:custGeom>
              <a:avLst/>
              <a:gdLst>
                <a:gd name="txL" fmla="*/ 0 w 257"/>
                <a:gd name="txT" fmla="*/ 0 h 256"/>
                <a:gd name="txR" fmla="*/ 257 w 257"/>
                <a:gd name="txB" fmla="*/ 256 h 256"/>
              </a:gdLst>
              <a:ahLst/>
              <a:cxnLst>
                <a:cxn ang="0">
                  <a:pos x="0" y="256"/>
                </a:cxn>
                <a:cxn ang="0">
                  <a:pos x="232" y="0"/>
                </a:cxn>
              </a:cxnLst>
              <a:rect l="txL" t="txT" r="txR" b="txB"/>
              <a:pathLst>
                <a:path w="257" h="256">
                  <a:moveTo>
                    <a:pt x="0" y="256"/>
                  </a:moveTo>
                  <a:lnTo>
                    <a:pt x="257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416" name="Freeform 77"/>
            <p:cNvSpPr/>
            <p:nvPr/>
          </p:nvSpPr>
          <p:spPr>
            <a:xfrm>
              <a:off x="2699" y="2502"/>
              <a:ext cx="249" cy="262"/>
            </a:xfrm>
            <a:custGeom>
              <a:avLst/>
              <a:gdLst>
                <a:gd name="txL" fmla="*/ 0 w 262"/>
                <a:gd name="txT" fmla="*/ 0 h 262"/>
                <a:gd name="txR" fmla="*/ 262 w 262"/>
                <a:gd name="txB" fmla="*/ 262 h 262"/>
              </a:gdLst>
              <a:ahLst/>
              <a:cxnLst>
                <a:cxn ang="0">
                  <a:pos x="0" y="262"/>
                </a:cxn>
                <a:cxn ang="0">
                  <a:pos x="237" y="0"/>
                </a:cxn>
              </a:cxnLst>
              <a:rect l="txL" t="txT" r="txR" b="txB"/>
              <a:pathLst>
                <a:path w="262" h="262">
                  <a:moveTo>
                    <a:pt x="0" y="262"/>
                  </a:moveTo>
                  <a:lnTo>
                    <a:pt x="262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417" name="Freeform 78"/>
            <p:cNvSpPr/>
            <p:nvPr/>
          </p:nvSpPr>
          <p:spPr>
            <a:xfrm>
              <a:off x="2821" y="2601"/>
              <a:ext cx="162" cy="163"/>
            </a:xfrm>
            <a:custGeom>
              <a:avLst/>
              <a:gdLst>
                <a:gd name="txL" fmla="*/ 0 w 170"/>
                <a:gd name="txT" fmla="*/ 0 h 163"/>
                <a:gd name="txR" fmla="*/ 170 w 170"/>
                <a:gd name="txB" fmla="*/ 163 h 163"/>
              </a:gdLst>
              <a:ahLst/>
              <a:cxnLst>
                <a:cxn ang="0">
                  <a:pos x="0" y="163"/>
                </a:cxn>
                <a:cxn ang="0">
                  <a:pos x="154" y="0"/>
                </a:cxn>
              </a:cxnLst>
              <a:rect l="txL" t="txT" r="txR" b="txB"/>
              <a:pathLst>
                <a:path w="170" h="163">
                  <a:moveTo>
                    <a:pt x="0" y="163"/>
                  </a:moveTo>
                  <a:lnTo>
                    <a:pt x="17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418" name="Freeform 79"/>
            <p:cNvSpPr/>
            <p:nvPr/>
          </p:nvSpPr>
          <p:spPr>
            <a:xfrm>
              <a:off x="1402" y="3167"/>
              <a:ext cx="199" cy="208"/>
            </a:xfrm>
            <a:custGeom>
              <a:avLst/>
              <a:gdLst>
                <a:gd name="txL" fmla="*/ 0 w 208"/>
                <a:gd name="txT" fmla="*/ 0 h 208"/>
                <a:gd name="txR" fmla="*/ 208 w 208"/>
                <a:gd name="txB" fmla="*/ 208 h 208"/>
              </a:gdLst>
              <a:ahLst/>
              <a:cxnLst>
                <a:cxn ang="0">
                  <a:pos x="0" y="208"/>
                </a:cxn>
                <a:cxn ang="0">
                  <a:pos x="190" y="0"/>
                </a:cxn>
              </a:cxnLst>
              <a:rect l="txL" t="txT" r="txR" b="txB"/>
              <a:pathLst>
                <a:path w="208" h="208">
                  <a:moveTo>
                    <a:pt x="0" y="208"/>
                  </a:moveTo>
                  <a:lnTo>
                    <a:pt x="208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419" name="Line 80"/>
            <p:cNvSpPr/>
            <p:nvPr/>
          </p:nvSpPr>
          <p:spPr>
            <a:xfrm flipV="1">
              <a:off x="1486" y="3173"/>
              <a:ext cx="249" cy="26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0" name="Line 81"/>
            <p:cNvSpPr/>
            <p:nvPr/>
          </p:nvSpPr>
          <p:spPr>
            <a:xfrm flipV="1">
              <a:off x="1628" y="3173"/>
              <a:ext cx="250" cy="26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1" name="Line 82"/>
            <p:cNvSpPr/>
            <p:nvPr/>
          </p:nvSpPr>
          <p:spPr>
            <a:xfrm flipV="1">
              <a:off x="1771" y="3173"/>
              <a:ext cx="249" cy="26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2" name="Line 83"/>
            <p:cNvSpPr/>
            <p:nvPr/>
          </p:nvSpPr>
          <p:spPr>
            <a:xfrm flipV="1">
              <a:off x="1913" y="3173"/>
              <a:ext cx="249" cy="26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3" name="Freeform 84"/>
            <p:cNvSpPr/>
            <p:nvPr/>
          </p:nvSpPr>
          <p:spPr>
            <a:xfrm>
              <a:off x="2053" y="3173"/>
              <a:ext cx="251" cy="263"/>
            </a:xfrm>
            <a:custGeom>
              <a:avLst/>
              <a:gdLst>
                <a:gd name="txL" fmla="*/ 0 w 263"/>
                <a:gd name="txT" fmla="*/ 0 h 263"/>
                <a:gd name="txR" fmla="*/ 263 w 263"/>
                <a:gd name="txB" fmla="*/ 263 h 263"/>
              </a:gdLst>
              <a:ahLst/>
              <a:cxnLst>
                <a:cxn ang="0">
                  <a:pos x="0" y="263"/>
                </a:cxn>
                <a:cxn ang="0">
                  <a:pos x="240" y="0"/>
                </a:cxn>
              </a:cxnLst>
              <a:rect l="txL" t="txT" r="txR" b="txB"/>
              <a:pathLst>
                <a:path w="263" h="263">
                  <a:moveTo>
                    <a:pt x="0" y="263"/>
                  </a:moveTo>
                  <a:lnTo>
                    <a:pt x="263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424" name="Freeform 85"/>
            <p:cNvSpPr/>
            <p:nvPr/>
          </p:nvSpPr>
          <p:spPr>
            <a:xfrm>
              <a:off x="2199" y="3173"/>
              <a:ext cx="248" cy="260"/>
            </a:xfrm>
            <a:custGeom>
              <a:avLst/>
              <a:gdLst>
                <a:gd name="txL" fmla="*/ 0 w 260"/>
                <a:gd name="txT" fmla="*/ 0 h 260"/>
                <a:gd name="txR" fmla="*/ 260 w 260"/>
                <a:gd name="txB" fmla="*/ 260 h 260"/>
              </a:gdLst>
              <a:ahLst/>
              <a:cxnLst>
                <a:cxn ang="0">
                  <a:pos x="0" y="260"/>
                </a:cxn>
                <a:cxn ang="0">
                  <a:pos x="237" y="0"/>
                </a:cxn>
              </a:cxnLst>
              <a:rect l="txL" t="txT" r="txR" b="txB"/>
              <a:pathLst>
                <a:path w="260" h="260">
                  <a:moveTo>
                    <a:pt x="0" y="260"/>
                  </a:moveTo>
                  <a:lnTo>
                    <a:pt x="26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425" name="Freeform 86"/>
            <p:cNvSpPr/>
            <p:nvPr/>
          </p:nvSpPr>
          <p:spPr>
            <a:xfrm>
              <a:off x="2339" y="3167"/>
              <a:ext cx="256" cy="268"/>
            </a:xfrm>
            <a:custGeom>
              <a:avLst/>
              <a:gdLst>
                <a:gd name="txL" fmla="*/ 0 w 345"/>
                <a:gd name="txT" fmla="*/ 0 h 345"/>
                <a:gd name="txR" fmla="*/ 345 w 345"/>
                <a:gd name="txB" fmla="*/ 345 h 345"/>
              </a:gdLst>
              <a:ahLst/>
              <a:cxnLst>
                <a:cxn ang="0">
                  <a:pos x="0" y="208"/>
                </a:cxn>
                <a:cxn ang="0">
                  <a:pos x="190" y="0"/>
                </a:cxn>
              </a:cxnLst>
              <a:rect l="txL" t="txT" r="txR" b="txB"/>
              <a:pathLst>
                <a:path w="345" h="345">
                  <a:moveTo>
                    <a:pt x="0" y="345"/>
                  </a:moveTo>
                  <a:lnTo>
                    <a:pt x="345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426" name="Freeform 87"/>
            <p:cNvSpPr/>
            <p:nvPr/>
          </p:nvSpPr>
          <p:spPr>
            <a:xfrm>
              <a:off x="2489" y="3166"/>
              <a:ext cx="255" cy="268"/>
            </a:xfrm>
            <a:custGeom>
              <a:avLst/>
              <a:gdLst>
                <a:gd name="txL" fmla="*/ 0 w 345"/>
                <a:gd name="txT" fmla="*/ 0 h 345"/>
                <a:gd name="txR" fmla="*/ 345 w 345"/>
                <a:gd name="txB" fmla="*/ 345 h 345"/>
              </a:gdLst>
              <a:ahLst/>
              <a:cxnLst>
                <a:cxn ang="0">
                  <a:pos x="0" y="208"/>
                </a:cxn>
                <a:cxn ang="0">
                  <a:pos x="188" y="0"/>
                </a:cxn>
              </a:cxnLst>
              <a:rect l="txL" t="txT" r="txR" b="txB"/>
              <a:pathLst>
                <a:path w="345" h="345">
                  <a:moveTo>
                    <a:pt x="0" y="345"/>
                  </a:moveTo>
                  <a:lnTo>
                    <a:pt x="345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427" name="Freeform 88"/>
            <p:cNvSpPr/>
            <p:nvPr/>
          </p:nvSpPr>
          <p:spPr>
            <a:xfrm>
              <a:off x="2643" y="3178"/>
              <a:ext cx="235" cy="248"/>
            </a:xfrm>
            <a:custGeom>
              <a:avLst/>
              <a:gdLst>
                <a:gd name="txL" fmla="*/ 0 w 246"/>
                <a:gd name="txT" fmla="*/ 0 h 248"/>
                <a:gd name="txR" fmla="*/ 246 w 246"/>
                <a:gd name="txB" fmla="*/ 248 h 248"/>
              </a:gdLst>
              <a:ahLst/>
              <a:cxnLst>
                <a:cxn ang="0">
                  <a:pos x="0" y="248"/>
                </a:cxn>
                <a:cxn ang="0">
                  <a:pos x="224" y="0"/>
                </a:cxn>
              </a:cxnLst>
              <a:rect l="txL" t="txT" r="txR" b="txB"/>
              <a:pathLst>
                <a:path w="246" h="248">
                  <a:moveTo>
                    <a:pt x="0" y="248"/>
                  </a:moveTo>
                  <a:lnTo>
                    <a:pt x="246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428" name="Freeform 89"/>
            <p:cNvSpPr/>
            <p:nvPr/>
          </p:nvSpPr>
          <p:spPr>
            <a:xfrm>
              <a:off x="2768" y="3220"/>
              <a:ext cx="205" cy="220"/>
            </a:xfrm>
            <a:custGeom>
              <a:avLst/>
              <a:gdLst>
                <a:gd name="txL" fmla="*/ 0 w 215"/>
                <a:gd name="txT" fmla="*/ 0 h 220"/>
                <a:gd name="txR" fmla="*/ 215 w 215"/>
                <a:gd name="txB" fmla="*/ 220 h 220"/>
              </a:gdLst>
              <a:ahLst/>
              <a:cxnLst>
                <a:cxn ang="0">
                  <a:pos x="0" y="220"/>
                </a:cxn>
                <a:cxn ang="0">
                  <a:pos x="195" y="0"/>
                </a:cxn>
              </a:cxnLst>
              <a:rect l="txL" t="txT" r="txR" b="txB"/>
              <a:pathLst>
                <a:path w="215" h="220">
                  <a:moveTo>
                    <a:pt x="0" y="220"/>
                  </a:moveTo>
                  <a:lnTo>
                    <a:pt x="215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429" name="Freeform 90"/>
            <p:cNvSpPr/>
            <p:nvPr/>
          </p:nvSpPr>
          <p:spPr>
            <a:xfrm>
              <a:off x="2913" y="3364"/>
              <a:ext cx="65" cy="69"/>
            </a:xfrm>
            <a:custGeom>
              <a:avLst/>
              <a:gdLst>
                <a:gd name="txL" fmla="*/ 0 w 68"/>
                <a:gd name="txT" fmla="*/ 0 h 69"/>
                <a:gd name="txR" fmla="*/ 68 w 68"/>
                <a:gd name="txB" fmla="*/ 69 h 69"/>
              </a:gdLst>
              <a:ahLst/>
              <a:cxnLst>
                <a:cxn ang="0">
                  <a:pos x="0" y="69"/>
                </a:cxn>
                <a:cxn ang="0">
                  <a:pos x="62" y="0"/>
                </a:cxn>
              </a:cxnLst>
              <a:rect l="txL" t="txT" r="txR" b="txB"/>
              <a:pathLst>
                <a:path w="68" h="69">
                  <a:moveTo>
                    <a:pt x="0" y="69"/>
                  </a:moveTo>
                  <a:lnTo>
                    <a:pt x="68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430" name="Line 91"/>
            <p:cNvSpPr/>
            <p:nvPr/>
          </p:nvSpPr>
          <p:spPr>
            <a:xfrm flipH="1">
              <a:off x="1408" y="2689"/>
              <a:ext cx="1049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31" name="Line 92"/>
            <p:cNvSpPr/>
            <p:nvPr/>
          </p:nvSpPr>
          <p:spPr>
            <a:xfrm flipH="1">
              <a:off x="1408" y="3248"/>
              <a:ext cx="1049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32" name="Line 93"/>
            <p:cNvSpPr/>
            <p:nvPr/>
          </p:nvSpPr>
          <p:spPr>
            <a:xfrm flipH="1">
              <a:off x="1453" y="2764"/>
              <a:ext cx="153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33" name="Line 94"/>
            <p:cNvSpPr/>
            <p:nvPr/>
          </p:nvSpPr>
          <p:spPr>
            <a:xfrm flipH="1">
              <a:off x="1453" y="3173"/>
              <a:ext cx="153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34" name="Line 95"/>
            <p:cNvSpPr/>
            <p:nvPr/>
          </p:nvSpPr>
          <p:spPr>
            <a:xfrm flipV="1">
              <a:off x="1403" y="3173"/>
              <a:ext cx="50" cy="7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35" name="Line 96"/>
            <p:cNvSpPr/>
            <p:nvPr/>
          </p:nvSpPr>
          <p:spPr>
            <a:xfrm flipV="1">
              <a:off x="1453" y="2764"/>
              <a:ext cx="0" cy="40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36" name="Line 97"/>
            <p:cNvSpPr/>
            <p:nvPr/>
          </p:nvSpPr>
          <p:spPr>
            <a:xfrm>
              <a:off x="1403" y="2689"/>
              <a:ext cx="50" cy="7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37" name="Line 98"/>
            <p:cNvSpPr/>
            <p:nvPr/>
          </p:nvSpPr>
          <p:spPr>
            <a:xfrm flipH="1">
              <a:off x="1404" y="2503"/>
              <a:ext cx="158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38" name="Line 99"/>
            <p:cNvSpPr/>
            <p:nvPr/>
          </p:nvSpPr>
          <p:spPr>
            <a:xfrm flipH="1">
              <a:off x="1404" y="3434"/>
              <a:ext cx="157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39" name="Line 100"/>
            <p:cNvSpPr/>
            <p:nvPr/>
          </p:nvSpPr>
          <p:spPr>
            <a:xfrm>
              <a:off x="1404" y="2498"/>
              <a:ext cx="0" cy="95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40" name="Line 101"/>
            <p:cNvSpPr/>
            <p:nvPr/>
          </p:nvSpPr>
          <p:spPr>
            <a:xfrm>
              <a:off x="2982" y="2467"/>
              <a:ext cx="0" cy="37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41" name="Line 102"/>
            <p:cNvSpPr/>
            <p:nvPr/>
          </p:nvSpPr>
          <p:spPr>
            <a:xfrm>
              <a:off x="2977" y="2940"/>
              <a:ext cx="0" cy="53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42" name="Line 103"/>
            <p:cNvSpPr/>
            <p:nvPr/>
          </p:nvSpPr>
          <p:spPr>
            <a:xfrm>
              <a:off x="2982" y="2831"/>
              <a:ext cx="59" cy="36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43" name="Line 104"/>
            <p:cNvSpPr/>
            <p:nvPr/>
          </p:nvSpPr>
          <p:spPr>
            <a:xfrm>
              <a:off x="2924" y="2907"/>
              <a:ext cx="59" cy="36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44" name="Freeform 105"/>
            <p:cNvSpPr/>
            <p:nvPr/>
          </p:nvSpPr>
          <p:spPr>
            <a:xfrm>
              <a:off x="2923" y="2860"/>
              <a:ext cx="109" cy="43"/>
            </a:xfrm>
            <a:custGeom>
              <a:avLst/>
              <a:gdLst>
                <a:gd name="txL" fmla="*/ 0 w 115"/>
                <a:gd name="txT" fmla="*/ 0 h 43"/>
                <a:gd name="txR" fmla="*/ 115 w 115"/>
                <a:gd name="txB" fmla="*/ 43 h 43"/>
              </a:gdLst>
              <a:ahLst/>
              <a:cxnLst>
                <a:cxn ang="0">
                  <a:pos x="103" y="0"/>
                </a:cxn>
                <a:cxn ang="0">
                  <a:pos x="0" y="43"/>
                </a:cxn>
              </a:cxnLst>
              <a:rect l="txL" t="txT" r="txR" b="txB"/>
              <a:pathLst>
                <a:path w="115" h="43">
                  <a:moveTo>
                    <a:pt x="115" y="0"/>
                  </a:moveTo>
                  <a:lnTo>
                    <a:pt x="0" y="43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18890" name="Oval 106"/>
          <p:cNvSpPr/>
          <p:nvPr/>
        </p:nvSpPr>
        <p:spPr>
          <a:xfrm>
            <a:off x="6284913" y="4567238"/>
            <a:ext cx="677862" cy="649287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8891" name="Oval 107"/>
          <p:cNvSpPr/>
          <p:nvPr/>
        </p:nvSpPr>
        <p:spPr>
          <a:xfrm>
            <a:off x="6173788" y="4448175"/>
            <a:ext cx="903287" cy="882650"/>
          </a:xfrm>
          <a:prstGeom prst="ellipse">
            <a:avLst/>
          </a:prstGeom>
          <a:noFill/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8892" name="Freeform 108"/>
          <p:cNvSpPr/>
          <p:nvPr/>
        </p:nvSpPr>
        <p:spPr>
          <a:xfrm>
            <a:off x="6107113" y="4921250"/>
            <a:ext cx="592137" cy="482600"/>
          </a:xfrm>
          <a:custGeom>
            <a:avLst/>
            <a:gdLst>
              <a:gd name="txL" fmla="*/ 0 w 504"/>
              <a:gd name="txT" fmla="*/ 0 h 368"/>
              <a:gd name="txR" fmla="*/ 504 w 504"/>
              <a:gd name="txB" fmla="*/ 368 h 368"/>
            </a:gdLst>
            <a:ahLst/>
            <a:cxnLst>
              <a:cxn ang="0">
                <a:pos x="11042652" y="41275411"/>
              </a:cxn>
              <a:cxn ang="0">
                <a:pos x="143554454" y="41275411"/>
              </a:cxn>
              <a:cxn ang="0">
                <a:pos x="143554454" y="206377084"/>
              </a:cxn>
              <a:cxn ang="0">
                <a:pos x="342322218" y="454028257"/>
              </a:cxn>
              <a:cxn ang="0">
                <a:pos x="474833987" y="454028257"/>
              </a:cxn>
              <a:cxn ang="0">
                <a:pos x="673601788" y="454028257"/>
              </a:cxn>
              <a:cxn ang="0">
                <a:pos x="607345757" y="619129859"/>
              </a:cxn>
              <a:cxn ang="0">
                <a:pos x="342322218" y="536579058"/>
              </a:cxn>
              <a:cxn ang="0">
                <a:pos x="209810375" y="371477456"/>
              </a:cxn>
              <a:cxn ang="0">
                <a:pos x="77298569" y="288926574"/>
              </a:cxn>
              <a:cxn ang="0">
                <a:pos x="11042652" y="41275411"/>
              </a:cxn>
            </a:cxnLst>
            <a:rect l="txL" t="txT" r="txR" b="txB"/>
            <a:pathLst>
              <a:path w="504" h="368">
                <a:moveTo>
                  <a:pt x="8" y="24"/>
                </a:moveTo>
                <a:cubicBezTo>
                  <a:pt x="16" y="0"/>
                  <a:pt x="88" y="8"/>
                  <a:pt x="104" y="24"/>
                </a:cubicBezTo>
                <a:cubicBezTo>
                  <a:pt x="120" y="40"/>
                  <a:pt x="80" y="80"/>
                  <a:pt x="104" y="120"/>
                </a:cubicBezTo>
                <a:cubicBezTo>
                  <a:pt x="128" y="160"/>
                  <a:pt x="208" y="240"/>
                  <a:pt x="248" y="264"/>
                </a:cubicBezTo>
                <a:cubicBezTo>
                  <a:pt x="288" y="288"/>
                  <a:pt x="304" y="264"/>
                  <a:pt x="344" y="264"/>
                </a:cubicBezTo>
                <a:cubicBezTo>
                  <a:pt x="384" y="264"/>
                  <a:pt x="472" y="248"/>
                  <a:pt x="488" y="264"/>
                </a:cubicBezTo>
                <a:cubicBezTo>
                  <a:pt x="504" y="280"/>
                  <a:pt x="480" y="352"/>
                  <a:pt x="440" y="360"/>
                </a:cubicBezTo>
                <a:cubicBezTo>
                  <a:pt x="400" y="368"/>
                  <a:pt x="296" y="336"/>
                  <a:pt x="248" y="312"/>
                </a:cubicBezTo>
                <a:cubicBezTo>
                  <a:pt x="200" y="288"/>
                  <a:pt x="184" y="240"/>
                  <a:pt x="152" y="216"/>
                </a:cubicBezTo>
                <a:cubicBezTo>
                  <a:pt x="120" y="192"/>
                  <a:pt x="80" y="192"/>
                  <a:pt x="56" y="168"/>
                </a:cubicBezTo>
                <a:cubicBezTo>
                  <a:pt x="32" y="144"/>
                  <a:pt x="0" y="48"/>
                  <a:pt x="8" y="24"/>
                </a:cubicBezTo>
                <a:close/>
              </a:path>
            </a:pathLst>
          </a:custGeom>
          <a:solidFill>
            <a:schemeClr val="bg1"/>
          </a:solidFill>
          <a:ln w="127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8893" name="Oval 109"/>
          <p:cNvSpPr/>
          <p:nvPr/>
        </p:nvSpPr>
        <p:spPr>
          <a:xfrm>
            <a:off x="5851525" y="4152900"/>
            <a:ext cx="1527175" cy="1477963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4" name="Group 110"/>
          <p:cNvGrpSpPr/>
          <p:nvPr/>
        </p:nvGrpSpPr>
        <p:grpSpPr>
          <a:xfrm>
            <a:off x="5749925" y="4094163"/>
            <a:ext cx="1765300" cy="1654175"/>
            <a:chOff x="3509" y="2466"/>
            <a:chExt cx="1112" cy="1042"/>
          </a:xfrm>
        </p:grpSpPr>
        <p:sp>
          <p:nvSpPr>
            <p:cNvPr id="56396" name="Freeform 111"/>
            <p:cNvSpPr/>
            <p:nvPr/>
          </p:nvSpPr>
          <p:spPr>
            <a:xfrm>
              <a:off x="3509" y="2980"/>
              <a:ext cx="1112" cy="1"/>
            </a:xfrm>
            <a:custGeom>
              <a:avLst/>
              <a:gdLst>
                <a:gd name="txL" fmla="*/ 0 w 1501"/>
                <a:gd name="txT" fmla="*/ 0 h 1"/>
                <a:gd name="txR" fmla="*/ 1501 w 150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824" y="0"/>
                </a:cxn>
              </a:cxnLst>
              <a:rect l="txL" t="txT" r="txR" b="txB"/>
              <a:pathLst>
                <a:path w="1501" h="1">
                  <a:moveTo>
                    <a:pt x="0" y="0"/>
                  </a:moveTo>
                  <a:lnTo>
                    <a:pt x="1501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397" name="Line 112"/>
            <p:cNvSpPr/>
            <p:nvPr/>
          </p:nvSpPr>
          <p:spPr>
            <a:xfrm>
              <a:off x="4060" y="2466"/>
              <a:ext cx="0" cy="104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</p:grpSp>
      <p:grpSp>
        <p:nvGrpSpPr>
          <p:cNvPr id="15" name="Group 113"/>
          <p:cNvGrpSpPr/>
          <p:nvPr/>
        </p:nvGrpSpPr>
        <p:grpSpPr>
          <a:xfrm>
            <a:off x="5818188" y="4141788"/>
            <a:ext cx="1530350" cy="1477962"/>
            <a:chOff x="3570" y="2506"/>
            <a:chExt cx="964" cy="931"/>
          </a:xfrm>
        </p:grpSpPr>
        <p:sp>
          <p:nvSpPr>
            <p:cNvPr id="56379" name="Freeform 114"/>
            <p:cNvSpPr/>
            <p:nvPr/>
          </p:nvSpPr>
          <p:spPr>
            <a:xfrm>
              <a:off x="4246" y="3115"/>
              <a:ext cx="270" cy="284"/>
            </a:xfrm>
            <a:custGeom>
              <a:avLst/>
              <a:gdLst>
                <a:gd name="txL" fmla="*/ 0 w 283"/>
                <a:gd name="txT" fmla="*/ 0 h 284"/>
                <a:gd name="txR" fmla="*/ 283 w 283"/>
                <a:gd name="txB" fmla="*/ 284 h 284"/>
              </a:gdLst>
              <a:ahLst/>
              <a:cxnLst>
                <a:cxn ang="0">
                  <a:pos x="0" y="284"/>
                </a:cxn>
                <a:cxn ang="0">
                  <a:pos x="258" y="0"/>
                </a:cxn>
              </a:cxnLst>
              <a:rect l="txL" t="txT" r="txR" b="txB"/>
              <a:pathLst>
                <a:path w="283" h="284">
                  <a:moveTo>
                    <a:pt x="0" y="284"/>
                  </a:moveTo>
                  <a:lnTo>
                    <a:pt x="283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56380" name="Group 115"/>
            <p:cNvGrpSpPr/>
            <p:nvPr/>
          </p:nvGrpSpPr>
          <p:grpSpPr>
            <a:xfrm>
              <a:off x="3570" y="2506"/>
              <a:ext cx="964" cy="931"/>
              <a:chOff x="3570" y="2506"/>
              <a:chExt cx="964" cy="931"/>
            </a:xfrm>
          </p:grpSpPr>
          <p:sp>
            <p:nvSpPr>
              <p:cNvPr id="56381" name="Freeform 116"/>
              <p:cNvSpPr/>
              <p:nvPr/>
            </p:nvSpPr>
            <p:spPr>
              <a:xfrm>
                <a:off x="3756" y="3136"/>
                <a:ext cx="189" cy="195"/>
              </a:xfrm>
              <a:custGeom>
                <a:avLst/>
                <a:gdLst>
                  <a:gd name="txL" fmla="*/ 0 w 199"/>
                  <a:gd name="txT" fmla="*/ 0 h 195"/>
                  <a:gd name="txR" fmla="*/ 199 w 199"/>
                  <a:gd name="txB" fmla="*/ 195 h 195"/>
                </a:gdLst>
                <a:ahLst/>
                <a:cxnLst>
                  <a:cxn ang="0">
                    <a:pos x="0" y="195"/>
                  </a:cxn>
                  <a:cxn ang="0">
                    <a:pos x="180" y="0"/>
                  </a:cxn>
                </a:cxnLst>
                <a:rect l="txL" t="txT" r="txR" b="txB"/>
                <a:pathLst>
                  <a:path w="199" h="195">
                    <a:moveTo>
                      <a:pt x="0" y="195"/>
                    </a:moveTo>
                    <a:lnTo>
                      <a:pt x="199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56382" name="Group 117"/>
              <p:cNvGrpSpPr/>
              <p:nvPr/>
            </p:nvGrpSpPr>
            <p:grpSpPr>
              <a:xfrm>
                <a:off x="3570" y="2506"/>
                <a:ext cx="964" cy="931"/>
                <a:chOff x="3570" y="2506"/>
                <a:chExt cx="964" cy="931"/>
              </a:xfrm>
            </p:grpSpPr>
            <p:sp>
              <p:nvSpPr>
                <p:cNvPr id="56383" name="Freeform 118"/>
                <p:cNvSpPr/>
                <p:nvPr/>
              </p:nvSpPr>
              <p:spPr>
                <a:xfrm>
                  <a:off x="4145" y="2592"/>
                  <a:ext cx="181" cy="187"/>
                </a:xfrm>
                <a:custGeom>
                  <a:avLst/>
                  <a:gdLst>
                    <a:gd name="txL" fmla="*/ 0 w 190"/>
                    <a:gd name="txT" fmla="*/ 0 h 187"/>
                    <a:gd name="txR" fmla="*/ 190 w 190"/>
                    <a:gd name="txB" fmla="*/ 187 h 187"/>
                  </a:gdLst>
                  <a:ahLst/>
                  <a:cxnLst>
                    <a:cxn ang="0">
                      <a:pos x="0" y="187"/>
                    </a:cxn>
                    <a:cxn ang="0">
                      <a:pos x="172" y="0"/>
                    </a:cxn>
                  </a:cxnLst>
                  <a:rect l="txL" t="txT" r="txR" b="txB"/>
                  <a:pathLst>
                    <a:path w="190" h="187">
                      <a:moveTo>
                        <a:pt x="0" y="187"/>
                      </a:moveTo>
                      <a:lnTo>
                        <a:pt x="190" y="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6384" name="Freeform 119"/>
                <p:cNvSpPr/>
                <p:nvPr/>
              </p:nvSpPr>
              <p:spPr>
                <a:xfrm>
                  <a:off x="3959" y="2838"/>
                  <a:ext cx="555" cy="584"/>
                </a:xfrm>
                <a:custGeom>
                  <a:avLst/>
                  <a:gdLst>
                    <a:gd name="txL" fmla="*/ 0 w 583"/>
                    <a:gd name="txT" fmla="*/ 0 h 584"/>
                    <a:gd name="txR" fmla="*/ 583 w 583"/>
                    <a:gd name="txB" fmla="*/ 584 h 584"/>
                  </a:gdLst>
                  <a:ahLst/>
                  <a:cxnLst>
                    <a:cxn ang="0">
                      <a:pos x="0" y="584"/>
                    </a:cxn>
                    <a:cxn ang="0">
                      <a:pos x="528" y="0"/>
                    </a:cxn>
                  </a:cxnLst>
                  <a:rect l="txL" t="txT" r="txR" b="txB"/>
                  <a:pathLst>
                    <a:path w="583" h="584">
                      <a:moveTo>
                        <a:pt x="0" y="584"/>
                      </a:moveTo>
                      <a:lnTo>
                        <a:pt x="583" y="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6385" name="Group 120"/>
                <p:cNvGrpSpPr/>
                <p:nvPr/>
              </p:nvGrpSpPr>
              <p:grpSpPr>
                <a:xfrm>
                  <a:off x="3570" y="2506"/>
                  <a:ext cx="964" cy="931"/>
                  <a:chOff x="3570" y="2506"/>
                  <a:chExt cx="964" cy="931"/>
                </a:xfrm>
              </p:grpSpPr>
              <p:sp>
                <p:nvSpPr>
                  <p:cNvPr id="56386" name="Freeform 121"/>
                  <p:cNvSpPr/>
                  <p:nvPr/>
                </p:nvSpPr>
                <p:spPr>
                  <a:xfrm>
                    <a:off x="3578" y="2514"/>
                    <a:ext cx="555" cy="582"/>
                  </a:xfrm>
                  <a:custGeom>
                    <a:avLst/>
                    <a:gdLst>
                      <a:gd name="txL" fmla="*/ 0 w 582"/>
                      <a:gd name="txT" fmla="*/ 0 h 582"/>
                      <a:gd name="txR" fmla="*/ 582 w 582"/>
                      <a:gd name="txB" fmla="*/ 582 h 582"/>
                    </a:gdLst>
                    <a:ahLst/>
                    <a:cxnLst>
                      <a:cxn ang="0">
                        <a:pos x="0" y="582"/>
                      </a:cxn>
                      <a:cxn ang="0">
                        <a:pos x="529" y="0"/>
                      </a:cxn>
                    </a:cxnLst>
                    <a:rect l="txL" t="txT" r="txR" b="txB"/>
                    <a:pathLst>
                      <a:path w="582" h="582">
                        <a:moveTo>
                          <a:pt x="0" y="582"/>
                        </a:moveTo>
                        <a:lnTo>
                          <a:pt x="582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56387" name="Freeform 122"/>
                  <p:cNvSpPr/>
                  <p:nvPr/>
                </p:nvSpPr>
                <p:spPr>
                  <a:xfrm>
                    <a:off x="3570" y="2506"/>
                    <a:ext cx="448" cy="471"/>
                  </a:xfrm>
                  <a:custGeom>
                    <a:avLst/>
                    <a:gdLst>
                      <a:gd name="txL" fmla="*/ 0 w 470"/>
                      <a:gd name="txT" fmla="*/ 0 h 471"/>
                      <a:gd name="txR" fmla="*/ 470 w 470"/>
                      <a:gd name="txB" fmla="*/ 471 h 471"/>
                    </a:gdLst>
                    <a:ahLst/>
                    <a:cxnLst>
                      <a:cxn ang="0">
                        <a:pos x="0" y="471"/>
                      </a:cxn>
                      <a:cxn ang="0">
                        <a:pos x="427" y="0"/>
                      </a:cxn>
                    </a:cxnLst>
                    <a:rect l="txL" t="txT" r="txR" b="txB"/>
                    <a:pathLst>
                      <a:path w="470" h="471">
                        <a:moveTo>
                          <a:pt x="0" y="471"/>
                        </a:moveTo>
                        <a:lnTo>
                          <a:pt x="470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56388" name="Freeform 123"/>
                  <p:cNvSpPr/>
                  <p:nvPr/>
                </p:nvSpPr>
                <p:spPr>
                  <a:xfrm>
                    <a:off x="3635" y="2945"/>
                    <a:ext cx="210" cy="221"/>
                  </a:xfrm>
                  <a:custGeom>
                    <a:avLst/>
                    <a:gdLst>
                      <a:gd name="txL" fmla="*/ 0 w 285"/>
                      <a:gd name="txT" fmla="*/ 0 h 285"/>
                      <a:gd name="txR" fmla="*/ 285 w 285"/>
                      <a:gd name="txB" fmla="*/ 285 h 285"/>
                    </a:gdLst>
                    <a:ahLst/>
                    <a:cxnLst>
                      <a:cxn ang="0">
                        <a:pos x="0" y="171"/>
                      </a:cxn>
                      <a:cxn ang="0">
                        <a:pos x="155" y="0"/>
                      </a:cxn>
                    </a:cxnLst>
                    <a:rect l="txL" t="txT" r="txR" b="txB"/>
                    <a:pathLst>
                      <a:path w="285" h="285">
                        <a:moveTo>
                          <a:pt x="0" y="285"/>
                        </a:moveTo>
                        <a:lnTo>
                          <a:pt x="285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56389" name="Freeform 124"/>
                  <p:cNvSpPr/>
                  <p:nvPr/>
                </p:nvSpPr>
                <p:spPr>
                  <a:xfrm>
                    <a:off x="4017" y="2534"/>
                    <a:ext cx="220" cy="230"/>
                  </a:xfrm>
                  <a:custGeom>
                    <a:avLst/>
                    <a:gdLst>
                      <a:gd name="txL" fmla="*/ 0 w 231"/>
                      <a:gd name="txT" fmla="*/ 0 h 230"/>
                      <a:gd name="txR" fmla="*/ 231 w 231"/>
                      <a:gd name="txB" fmla="*/ 230 h 230"/>
                    </a:gdLst>
                    <a:ahLst/>
                    <a:cxnLst>
                      <a:cxn ang="0">
                        <a:pos x="0" y="230"/>
                      </a:cxn>
                      <a:cxn ang="0">
                        <a:pos x="210" y="0"/>
                      </a:cxn>
                    </a:cxnLst>
                    <a:rect l="txL" t="txT" r="txR" b="txB"/>
                    <a:pathLst>
                      <a:path w="231" h="230">
                        <a:moveTo>
                          <a:pt x="0" y="230"/>
                        </a:moveTo>
                        <a:lnTo>
                          <a:pt x="231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56390" name="Line 125"/>
                  <p:cNvSpPr/>
                  <p:nvPr/>
                </p:nvSpPr>
                <p:spPr>
                  <a:xfrm flipV="1">
                    <a:off x="3683" y="3062"/>
                    <a:ext cx="191" cy="201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6391" name="Line 126"/>
                  <p:cNvSpPr/>
                  <p:nvPr/>
                </p:nvSpPr>
                <p:spPr>
                  <a:xfrm flipV="1">
                    <a:off x="4230" y="2652"/>
                    <a:ext cx="178" cy="186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6392" name="Freeform 127"/>
                  <p:cNvSpPr/>
                  <p:nvPr/>
                </p:nvSpPr>
                <p:spPr>
                  <a:xfrm>
                    <a:off x="3845" y="3178"/>
                    <a:ext cx="201" cy="209"/>
                  </a:xfrm>
                  <a:custGeom>
                    <a:avLst/>
                    <a:gdLst>
                      <a:gd name="txL" fmla="*/ 0 w 271"/>
                      <a:gd name="txT" fmla="*/ 0 h 270"/>
                      <a:gd name="txR" fmla="*/ 271 w 271"/>
                      <a:gd name="txB" fmla="*/ 270 h 270"/>
                    </a:gdLst>
                    <a:ahLst/>
                    <a:cxnLst>
                      <a:cxn ang="0">
                        <a:pos x="0" y="162"/>
                      </a:cxn>
                      <a:cxn ang="0">
                        <a:pos x="149" y="0"/>
                      </a:cxn>
                    </a:cxnLst>
                    <a:rect l="txL" t="txT" r="txR" b="txB"/>
                    <a:pathLst>
                      <a:path w="271" h="270">
                        <a:moveTo>
                          <a:pt x="0" y="270"/>
                        </a:moveTo>
                        <a:lnTo>
                          <a:pt x="271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56393" name="Freeform 128"/>
                  <p:cNvSpPr/>
                  <p:nvPr/>
                </p:nvSpPr>
                <p:spPr>
                  <a:xfrm>
                    <a:off x="4274" y="2731"/>
                    <a:ext cx="196" cy="207"/>
                  </a:xfrm>
                  <a:custGeom>
                    <a:avLst/>
                    <a:gdLst>
                      <a:gd name="txL" fmla="*/ 0 w 206"/>
                      <a:gd name="txT" fmla="*/ 0 h 207"/>
                      <a:gd name="txR" fmla="*/ 206 w 206"/>
                      <a:gd name="txB" fmla="*/ 207 h 207"/>
                    </a:gdLst>
                    <a:ahLst/>
                    <a:cxnLst>
                      <a:cxn ang="0">
                        <a:pos x="0" y="207"/>
                      </a:cxn>
                      <a:cxn ang="0">
                        <a:pos x="186" y="0"/>
                      </a:cxn>
                    </a:cxnLst>
                    <a:rect l="txL" t="txT" r="txR" b="txB"/>
                    <a:pathLst>
                      <a:path w="206" h="207">
                        <a:moveTo>
                          <a:pt x="0" y="207"/>
                        </a:moveTo>
                        <a:lnTo>
                          <a:pt x="206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56394" name="Freeform 129"/>
                  <p:cNvSpPr/>
                  <p:nvPr/>
                </p:nvSpPr>
                <p:spPr>
                  <a:xfrm>
                    <a:off x="4082" y="2962"/>
                    <a:ext cx="452" cy="475"/>
                  </a:xfrm>
                  <a:custGeom>
                    <a:avLst/>
                    <a:gdLst>
                      <a:gd name="txL" fmla="*/ 0 w 475"/>
                      <a:gd name="txT" fmla="*/ 0 h 475"/>
                      <a:gd name="txR" fmla="*/ 475 w 475"/>
                      <a:gd name="txB" fmla="*/ 475 h 475"/>
                    </a:gdLst>
                    <a:ahLst/>
                    <a:cxnLst>
                      <a:cxn ang="0">
                        <a:pos x="0" y="475"/>
                      </a:cxn>
                      <a:cxn ang="0">
                        <a:pos x="430" y="0"/>
                      </a:cxn>
                    </a:cxnLst>
                    <a:rect l="txL" t="txT" r="txR" b="txB"/>
                    <a:pathLst>
                      <a:path w="475" h="475">
                        <a:moveTo>
                          <a:pt x="0" y="475"/>
                        </a:moveTo>
                        <a:lnTo>
                          <a:pt x="475" y="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56395" name="Line 130"/>
                  <p:cNvSpPr/>
                  <p:nvPr/>
                </p:nvSpPr>
                <p:spPr>
                  <a:xfrm flipV="1">
                    <a:off x="3612" y="2554"/>
                    <a:ext cx="232" cy="244"/>
                  </a:xfrm>
                  <a:prstGeom prst="line">
                    <a:avLst/>
                  </a:prstGeom>
                  <a:ln w="1270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</p:grpSp>
      </p:grpSp>
      <p:grpSp>
        <p:nvGrpSpPr>
          <p:cNvPr id="19" name="Group 131"/>
          <p:cNvGrpSpPr/>
          <p:nvPr/>
        </p:nvGrpSpPr>
        <p:grpSpPr>
          <a:xfrm>
            <a:off x="4557713" y="1608138"/>
            <a:ext cx="1831975" cy="1219200"/>
            <a:chOff x="2758" y="900"/>
            <a:chExt cx="1154" cy="768"/>
          </a:xfrm>
        </p:grpSpPr>
        <p:sp>
          <p:nvSpPr>
            <p:cNvPr id="56362" name="Line 132"/>
            <p:cNvSpPr/>
            <p:nvPr/>
          </p:nvSpPr>
          <p:spPr>
            <a:xfrm flipV="1">
              <a:off x="2806" y="900"/>
              <a:ext cx="144" cy="1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63" name="Line 133"/>
            <p:cNvSpPr/>
            <p:nvPr/>
          </p:nvSpPr>
          <p:spPr>
            <a:xfrm flipV="1">
              <a:off x="2950" y="900"/>
              <a:ext cx="144" cy="1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64" name="Line 134"/>
            <p:cNvSpPr/>
            <p:nvPr/>
          </p:nvSpPr>
          <p:spPr>
            <a:xfrm flipV="1">
              <a:off x="3094" y="900"/>
              <a:ext cx="144" cy="1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65" name="Line 135"/>
            <p:cNvSpPr/>
            <p:nvPr/>
          </p:nvSpPr>
          <p:spPr>
            <a:xfrm flipV="1">
              <a:off x="3238" y="900"/>
              <a:ext cx="144" cy="1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66" name="Line 136"/>
            <p:cNvSpPr/>
            <p:nvPr/>
          </p:nvSpPr>
          <p:spPr>
            <a:xfrm flipV="1">
              <a:off x="2758" y="1524"/>
              <a:ext cx="96" cy="96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67" name="Line 137"/>
            <p:cNvSpPr/>
            <p:nvPr/>
          </p:nvSpPr>
          <p:spPr>
            <a:xfrm flipV="1">
              <a:off x="2854" y="1524"/>
              <a:ext cx="144" cy="1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68" name="Line 138"/>
            <p:cNvSpPr/>
            <p:nvPr/>
          </p:nvSpPr>
          <p:spPr>
            <a:xfrm flipV="1">
              <a:off x="2998" y="1524"/>
              <a:ext cx="144" cy="1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69" name="Line 139"/>
            <p:cNvSpPr/>
            <p:nvPr/>
          </p:nvSpPr>
          <p:spPr>
            <a:xfrm flipV="1">
              <a:off x="3142" y="1524"/>
              <a:ext cx="144" cy="1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70" name="Line 140"/>
            <p:cNvSpPr/>
            <p:nvPr/>
          </p:nvSpPr>
          <p:spPr>
            <a:xfrm flipV="1">
              <a:off x="3286" y="1524"/>
              <a:ext cx="144" cy="1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71" name="Line 141"/>
            <p:cNvSpPr/>
            <p:nvPr/>
          </p:nvSpPr>
          <p:spPr>
            <a:xfrm flipV="1">
              <a:off x="3430" y="1524"/>
              <a:ext cx="144" cy="1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72" name="Line 142"/>
            <p:cNvSpPr/>
            <p:nvPr/>
          </p:nvSpPr>
          <p:spPr>
            <a:xfrm flipV="1">
              <a:off x="3382" y="900"/>
              <a:ext cx="144" cy="1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73" name="Line 143"/>
            <p:cNvSpPr/>
            <p:nvPr/>
          </p:nvSpPr>
          <p:spPr>
            <a:xfrm flipV="1">
              <a:off x="3526" y="900"/>
              <a:ext cx="144" cy="1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74" name="Line 144"/>
            <p:cNvSpPr/>
            <p:nvPr/>
          </p:nvSpPr>
          <p:spPr>
            <a:xfrm flipV="1">
              <a:off x="3670" y="900"/>
              <a:ext cx="144" cy="1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75" name="Line 145"/>
            <p:cNvSpPr/>
            <p:nvPr/>
          </p:nvSpPr>
          <p:spPr>
            <a:xfrm flipV="1">
              <a:off x="3814" y="948"/>
              <a:ext cx="96" cy="96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76" name="Line 146"/>
            <p:cNvSpPr/>
            <p:nvPr/>
          </p:nvSpPr>
          <p:spPr>
            <a:xfrm flipV="1">
              <a:off x="3574" y="1524"/>
              <a:ext cx="144" cy="1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77" name="Line 147"/>
            <p:cNvSpPr/>
            <p:nvPr/>
          </p:nvSpPr>
          <p:spPr>
            <a:xfrm flipV="1">
              <a:off x="3718" y="1524"/>
              <a:ext cx="144" cy="1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78" name="Line 148"/>
            <p:cNvSpPr/>
            <p:nvPr/>
          </p:nvSpPr>
          <p:spPr>
            <a:xfrm flipV="1">
              <a:off x="3874" y="1618"/>
              <a:ext cx="38" cy="3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0" name="Group 149"/>
          <p:cNvGrpSpPr/>
          <p:nvPr/>
        </p:nvGrpSpPr>
        <p:grpSpPr>
          <a:xfrm>
            <a:off x="4545013" y="1592263"/>
            <a:ext cx="1898650" cy="1247775"/>
            <a:chOff x="2750" y="890"/>
            <a:chExt cx="1196" cy="786"/>
          </a:xfrm>
        </p:grpSpPr>
        <p:sp>
          <p:nvSpPr>
            <p:cNvPr id="56358" name="Freeform 150"/>
            <p:cNvSpPr/>
            <p:nvPr/>
          </p:nvSpPr>
          <p:spPr>
            <a:xfrm>
              <a:off x="2750" y="900"/>
              <a:ext cx="1162" cy="2"/>
            </a:xfrm>
            <a:custGeom>
              <a:avLst/>
              <a:gdLst>
                <a:gd name="txL" fmla="*/ 0 w 1162"/>
                <a:gd name="txT" fmla="*/ 0 h 2"/>
                <a:gd name="txR" fmla="*/ 1162 w 1162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1162" y="2"/>
                </a:cxn>
              </a:cxnLst>
              <a:rect l="txL" t="txT" r="txR" b="txB"/>
              <a:pathLst>
                <a:path w="1162" h="2">
                  <a:moveTo>
                    <a:pt x="0" y="0"/>
                  </a:moveTo>
                  <a:lnTo>
                    <a:pt x="1162" y="2"/>
                  </a:lnTo>
                </a:path>
              </a:pathLst>
            </a:custGeom>
            <a:noFill/>
            <a:ln w="38100" cap="flat" cmpd="sng">
              <a:solidFill>
                <a:srgbClr val="99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359" name="Freeform 151"/>
            <p:cNvSpPr/>
            <p:nvPr/>
          </p:nvSpPr>
          <p:spPr>
            <a:xfrm>
              <a:off x="2753" y="1661"/>
              <a:ext cx="1159" cy="1"/>
            </a:xfrm>
            <a:custGeom>
              <a:avLst/>
              <a:gdLst>
                <a:gd name="txL" fmla="*/ 0 w 1159"/>
                <a:gd name="txT" fmla="*/ 0 h 1"/>
                <a:gd name="txR" fmla="*/ 1159 w 1159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159" y="0"/>
                </a:cxn>
              </a:cxnLst>
              <a:rect l="txL" t="txT" r="txR" b="txB"/>
              <a:pathLst>
                <a:path w="1159" h="1">
                  <a:moveTo>
                    <a:pt x="0" y="0"/>
                  </a:moveTo>
                  <a:lnTo>
                    <a:pt x="1159" y="0"/>
                  </a:lnTo>
                </a:path>
              </a:pathLst>
            </a:custGeom>
            <a:noFill/>
            <a:ln w="38100" cap="flat" cmpd="sng">
              <a:solidFill>
                <a:srgbClr val="99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360" name="Line 152"/>
            <p:cNvSpPr/>
            <p:nvPr/>
          </p:nvSpPr>
          <p:spPr>
            <a:xfrm>
              <a:off x="2758" y="892"/>
              <a:ext cx="0" cy="784"/>
            </a:xfrm>
            <a:prstGeom prst="line">
              <a:avLst/>
            </a:prstGeom>
            <a:ln w="381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61" name="Freeform 153"/>
            <p:cNvSpPr/>
            <p:nvPr/>
          </p:nvSpPr>
          <p:spPr>
            <a:xfrm>
              <a:off x="3787" y="890"/>
              <a:ext cx="159" cy="771"/>
            </a:xfrm>
            <a:custGeom>
              <a:avLst/>
              <a:gdLst>
                <a:gd name="txL" fmla="*/ 0 w 159"/>
                <a:gd name="txT" fmla="*/ 0 h 771"/>
                <a:gd name="txR" fmla="*/ 159 w 159"/>
                <a:gd name="txB" fmla="*/ 771 h 771"/>
              </a:gdLst>
              <a:ahLst/>
              <a:cxnLst>
                <a:cxn ang="0">
                  <a:pos x="136" y="0"/>
                </a:cxn>
                <a:cxn ang="0">
                  <a:pos x="136" y="136"/>
                </a:cxn>
                <a:cxn ang="0">
                  <a:pos x="0" y="408"/>
                </a:cxn>
                <a:cxn ang="0">
                  <a:pos x="136" y="635"/>
                </a:cxn>
                <a:cxn ang="0">
                  <a:pos x="91" y="771"/>
                </a:cxn>
              </a:cxnLst>
              <a:rect l="txL" t="txT" r="txR" b="txB"/>
              <a:pathLst>
                <a:path w="159" h="771">
                  <a:moveTo>
                    <a:pt x="136" y="0"/>
                  </a:moveTo>
                  <a:cubicBezTo>
                    <a:pt x="147" y="34"/>
                    <a:pt x="159" y="68"/>
                    <a:pt x="136" y="136"/>
                  </a:cubicBezTo>
                  <a:cubicBezTo>
                    <a:pt x="113" y="204"/>
                    <a:pt x="0" y="325"/>
                    <a:pt x="0" y="408"/>
                  </a:cubicBezTo>
                  <a:cubicBezTo>
                    <a:pt x="0" y="491"/>
                    <a:pt x="121" y="575"/>
                    <a:pt x="136" y="635"/>
                  </a:cubicBezTo>
                  <a:cubicBezTo>
                    <a:pt x="151" y="695"/>
                    <a:pt x="76" y="764"/>
                    <a:pt x="91" y="771"/>
                  </a:cubicBezTo>
                </a:path>
              </a:pathLst>
            </a:custGeom>
            <a:noFill/>
            <a:ln w="12700" cap="flat" cmpd="sng">
              <a:solidFill>
                <a:srgbClr val="99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18938" name="Line 154"/>
          <p:cNvSpPr/>
          <p:nvPr/>
        </p:nvSpPr>
        <p:spPr>
          <a:xfrm>
            <a:off x="4535488" y="1736725"/>
            <a:ext cx="3024187" cy="0"/>
          </a:xfrm>
          <a:prstGeom prst="line">
            <a:avLst/>
          </a:prstGeom>
          <a:ln w="9525" cap="flat" cmpd="sng">
            <a:solidFill>
              <a:srgbClr val="00FF00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118939" name="Oval 155"/>
          <p:cNvSpPr>
            <a:spLocks noChangeAspect="1"/>
          </p:cNvSpPr>
          <p:nvPr/>
        </p:nvSpPr>
        <p:spPr>
          <a:xfrm>
            <a:off x="7069138" y="1733550"/>
            <a:ext cx="971550" cy="971550"/>
          </a:xfrm>
          <a:prstGeom prst="ellipse">
            <a:avLst/>
          </a:prstGeom>
          <a:noFill/>
          <a:ln w="1905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" name="Rectangle 17"/>
          <p:cNvSpPr/>
          <p:nvPr/>
        </p:nvSpPr>
        <p:spPr>
          <a:xfrm>
            <a:off x="263525" y="215900"/>
            <a:ext cx="373316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2</a:t>
            </a:r>
            <a:r>
              <a:rPr lang="zh-CN" altLang="en-US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、螺纹的规定画法</a:t>
            </a:r>
            <a:endParaRPr lang="zh-CN" altLang="en-US" sz="28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263525" y="709295"/>
            <a:ext cx="8351838" cy="28575"/>
            <a:chOff x="172" y="1025"/>
            <a:chExt cx="5261" cy="28"/>
          </a:xfrm>
        </p:grpSpPr>
        <p:sp>
          <p:nvSpPr>
            <p:cNvPr id="18" name="矩形 17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87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87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187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88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118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18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" dur="500"/>
                                        <p:tgtEl>
                                          <p:spTgt spid="1189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87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187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188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18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18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18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18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18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18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18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18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18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118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2" grpId="0"/>
      <p:bldP spid="118795" grpId="0" bldLvl="0" animBg="1"/>
      <p:bldP spid="118796" grpId="0" bldLvl="0" animBg="1"/>
      <p:bldP spid="118841" grpId="0"/>
      <p:bldP spid="118890" grpId="0" bldLvl="0" animBg="1"/>
      <p:bldP spid="118891" grpId="0" bldLvl="0" animBg="1"/>
      <p:bldP spid="118892" grpId="0" bldLvl="0" animBg="1"/>
      <p:bldP spid="118893" grpId="0" bldLvl="0" animBg="1"/>
      <p:bldP spid="118939" grpId="0" bldLvl="0" animBg="1"/>
      <p:bldP spid="118939" grpId="1" bldLvl="0" animBg="1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2" name="Rectangle 22"/>
          <p:cNvSpPr/>
          <p:nvPr/>
        </p:nvSpPr>
        <p:spPr>
          <a:xfrm>
            <a:off x="4130675" y="6160136"/>
            <a:ext cx="4535488" cy="39878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b="1" dirty="0">
                <a:solidFill>
                  <a:srgbClr val="660066"/>
                </a:solidFill>
                <a:latin typeface="Arial" panose="020B0604020202020204" pitchFamily="34" charset="0"/>
              </a:rPr>
              <a:t>不穿通孔内螺纹</a:t>
            </a:r>
            <a:r>
              <a:rPr lang="zh-CN" altLang="en-US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螺纹的规定画法</a:t>
            </a:r>
            <a:r>
              <a:rPr lang="en-US" altLang="zh-CN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endParaRPr lang="en-US" altLang="zh-CN" sz="20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2008188" y="5048250"/>
            <a:ext cx="2209800" cy="1554163"/>
            <a:chOff x="1152" y="2199"/>
            <a:chExt cx="1392" cy="979"/>
          </a:xfrm>
        </p:grpSpPr>
        <p:grpSp>
          <p:nvGrpSpPr>
            <p:cNvPr id="57731" name="Group 9"/>
            <p:cNvGrpSpPr/>
            <p:nvPr/>
          </p:nvGrpSpPr>
          <p:grpSpPr>
            <a:xfrm>
              <a:off x="1152" y="2199"/>
              <a:ext cx="1392" cy="979"/>
              <a:chOff x="1152" y="2736"/>
              <a:chExt cx="1392" cy="979"/>
            </a:xfrm>
          </p:grpSpPr>
          <p:sp>
            <p:nvSpPr>
              <p:cNvPr id="57733" name="Line 10"/>
              <p:cNvSpPr/>
              <p:nvPr/>
            </p:nvSpPr>
            <p:spPr>
              <a:xfrm flipH="1">
                <a:off x="1152" y="2880"/>
                <a:ext cx="720" cy="416"/>
              </a:xfrm>
              <a:prstGeom prst="line">
                <a:avLst/>
              </a:prstGeom>
              <a:ln w="9525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734" name="Line 11"/>
              <p:cNvSpPr/>
              <p:nvPr/>
            </p:nvSpPr>
            <p:spPr>
              <a:xfrm>
                <a:off x="1536" y="2736"/>
                <a:ext cx="1008" cy="582"/>
              </a:xfrm>
              <a:prstGeom prst="line">
                <a:avLst/>
              </a:prstGeom>
              <a:ln w="9525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735" name="Arc 12"/>
              <p:cNvSpPr/>
              <p:nvPr/>
            </p:nvSpPr>
            <p:spPr>
              <a:xfrm rot="8476323">
                <a:off x="1355" y="2837"/>
                <a:ext cx="992" cy="878"/>
              </a:xfrm>
              <a:custGeom>
                <a:avLst/>
                <a:gdLst>
                  <a:gd name="txL" fmla="*/ 0 w 26573"/>
                  <a:gd name="txT" fmla="*/ 0 h 21600"/>
                  <a:gd name="txR" fmla="*/ 26573 w 26573"/>
                  <a:gd name="txB" fmla="*/ 21600 h 21600"/>
                </a:gdLst>
                <a:ahLst/>
                <a:cxnLst>
                  <a:cxn ang="0">
                    <a:pos x="0" y="0"/>
                  </a:cxn>
                  <a:cxn ang="0">
                    <a:pos x="1" y="1"/>
                  </a:cxn>
                  <a:cxn ang="0">
                    <a:pos x="0" y="1"/>
                  </a:cxn>
                </a:cxnLst>
                <a:rect l="txL" t="txT" r="txR" b="txB"/>
                <a:pathLst>
                  <a:path w="26573" h="21600" fill="none">
                    <a:moveTo>
                      <a:pt x="0" y="580"/>
                    </a:moveTo>
                    <a:cubicBezTo>
                      <a:pt x="1629" y="194"/>
                      <a:pt x="3298" y="-1"/>
                      <a:pt x="4973" y="0"/>
                    </a:cubicBezTo>
                    <a:cubicBezTo>
                      <a:pt x="16902" y="0"/>
                      <a:pt x="26573" y="9670"/>
                      <a:pt x="26573" y="21600"/>
                    </a:cubicBezTo>
                  </a:path>
                  <a:path w="26573" h="21600" stroke="0">
                    <a:moveTo>
                      <a:pt x="0" y="580"/>
                    </a:moveTo>
                    <a:cubicBezTo>
                      <a:pt x="1629" y="194"/>
                      <a:pt x="3298" y="-1"/>
                      <a:pt x="4973" y="0"/>
                    </a:cubicBezTo>
                    <a:cubicBezTo>
                      <a:pt x="16902" y="0"/>
                      <a:pt x="26573" y="9670"/>
                      <a:pt x="26573" y="21600"/>
                    </a:cubicBezTo>
                    <a:lnTo>
                      <a:pt x="4973" y="216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triangle" w="sm" len="lg"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7732" name="Text Box 13"/>
            <p:cNvSpPr txBox="1"/>
            <p:nvPr/>
          </p:nvSpPr>
          <p:spPr>
            <a:xfrm>
              <a:off x="1659" y="2775"/>
              <a:ext cx="5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120°</a:t>
              </a:r>
              <a:endPara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4"/>
          <p:cNvGrpSpPr/>
          <p:nvPr/>
        </p:nvGrpSpPr>
        <p:grpSpPr>
          <a:xfrm>
            <a:off x="5656263" y="3287713"/>
            <a:ext cx="1076325" cy="1455737"/>
            <a:chOff x="3450" y="2011"/>
            <a:chExt cx="678" cy="917"/>
          </a:xfrm>
        </p:grpSpPr>
        <p:sp>
          <p:nvSpPr>
            <p:cNvPr id="57728" name="Line 15"/>
            <p:cNvSpPr/>
            <p:nvPr/>
          </p:nvSpPr>
          <p:spPr>
            <a:xfrm>
              <a:off x="3456" y="2928"/>
              <a:ext cx="67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729" name="Line 16"/>
            <p:cNvSpPr/>
            <p:nvPr/>
          </p:nvSpPr>
          <p:spPr>
            <a:xfrm flipV="1">
              <a:off x="4128" y="2016"/>
              <a:ext cx="0" cy="91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730" name="Freeform 17"/>
            <p:cNvSpPr/>
            <p:nvPr/>
          </p:nvSpPr>
          <p:spPr>
            <a:xfrm>
              <a:off x="3450" y="2011"/>
              <a:ext cx="1" cy="915"/>
            </a:xfrm>
            <a:custGeom>
              <a:avLst/>
              <a:gdLst>
                <a:gd name="txL" fmla="*/ 0 w 1"/>
                <a:gd name="txT" fmla="*/ 0 h 915"/>
                <a:gd name="txR" fmla="*/ 1 w 1"/>
                <a:gd name="txB" fmla="*/ 915 h 915"/>
              </a:gdLst>
              <a:ahLst/>
              <a:cxnLst>
                <a:cxn ang="0">
                  <a:pos x="0" y="915"/>
                </a:cxn>
                <a:cxn ang="0">
                  <a:pos x="0" y="0"/>
                </a:cxn>
              </a:cxnLst>
              <a:rect l="txL" t="txT" r="txR" b="txB"/>
              <a:pathLst>
                <a:path w="1" h="915">
                  <a:moveTo>
                    <a:pt x="0" y="915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18"/>
          <p:cNvGrpSpPr/>
          <p:nvPr/>
        </p:nvGrpSpPr>
        <p:grpSpPr>
          <a:xfrm>
            <a:off x="4827588" y="3067050"/>
            <a:ext cx="2762250" cy="2744788"/>
            <a:chOff x="960" y="1872"/>
            <a:chExt cx="1740" cy="1729"/>
          </a:xfrm>
        </p:grpSpPr>
        <p:grpSp>
          <p:nvGrpSpPr>
            <p:cNvPr id="57689" name="Group 19"/>
            <p:cNvGrpSpPr/>
            <p:nvPr/>
          </p:nvGrpSpPr>
          <p:grpSpPr>
            <a:xfrm>
              <a:off x="960" y="2016"/>
              <a:ext cx="1740" cy="1585"/>
              <a:chOff x="960" y="2016"/>
              <a:chExt cx="1740" cy="1585"/>
            </a:xfrm>
          </p:grpSpPr>
          <p:sp>
            <p:nvSpPr>
              <p:cNvPr id="57726" name="Line 20"/>
              <p:cNvSpPr/>
              <p:nvPr/>
            </p:nvSpPr>
            <p:spPr>
              <a:xfrm>
                <a:off x="1008" y="2016"/>
                <a:ext cx="168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727" name="Freeform 21"/>
              <p:cNvSpPr/>
              <p:nvPr/>
            </p:nvSpPr>
            <p:spPr>
              <a:xfrm>
                <a:off x="960" y="3600"/>
                <a:ext cx="1740" cy="1"/>
              </a:xfrm>
              <a:custGeom>
                <a:avLst/>
                <a:gdLst>
                  <a:gd name="txL" fmla="*/ 0 w 1740"/>
                  <a:gd name="txT" fmla="*/ 0 h 1"/>
                  <a:gd name="txR" fmla="*/ 1740 w 1740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740" y="1"/>
                  </a:cxn>
                </a:cxnLst>
                <a:rect l="txL" t="txT" r="txR" b="txB"/>
                <a:pathLst>
                  <a:path w="1740" h="1">
                    <a:moveTo>
                      <a:pt x="0" y="0"/>
                    </a:moveTo>
                    <a:lnTo>
                      <a:pt x="1740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57690" name="Group 22"/>
            <p:cNvGrpSpPr/>
            <p:nvPr/>
          </p:nvGrpSpPr>
          <p:grpSpPr>
            <a:xfrm>
              <a:off x="1530" y="1872"/>
              <a:ext cx="585" cy="1680"/>
              <a:chOff x="1530" y="1872"/>
              <a:chExt cx="585" cy="1680"/>
            </a:xfrm>
          </p:grpSpPr>
          <p:sp>
            <p:nvSpPr>
              <p:cNvPr id="57720" name="Freeform 23"/>
              <p:cNvSpPr/>
              <p:nvPr/>
            </p:nvSpPr>
            <p:spPr>
              <a:xfrm>
                <a:off x="1530" y="3121"/>
                <a:ext cx="585" cy="1"/>
              </a:xfrm>
              <a:custGeom>
                <a:avLst/>
                <a:gdLst>
                  <a:gd name="txL" fmla="*/ 0 w 585"/>
                  <a:gd name="txT" fmla="*/ 0 h 1"/>
                  <a:gd name="txR" fmla="*/ 585 w 58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585" y="0"/>
                  </a:cxn>
                </a:cxnLst>
                <a:rect l="txL" t="txT" r="txR" b="txB"/>
                <a:pathLst>
                  <a:path w="585" h="1">
                    <a:moveTo>
                      <a:pt x="0" y="0"/>
                    </a:moveTo>
                    <a:lnTo>
                      <a:pt x="58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721" name="Line 24"/>
              <p:cNvSpPr/>
              <p:nvPr/>
            </p:nvSpPr>
            <p:spPr>
              <a:xfrm>
                <a:off x="1824" y="1872"/>
                <a:ext cx="0" cy="168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lgDashDot"/>
                <a:headEnd type="none" w="med" len="med"/>
                <a:tailEnd type="none" w="med" len="med"/>
              </a:ln>
            </p:spPr>
          </p:sp>
          <p:sp>
            <p:nvSpPr>
              <p:cNvPr id="57722" name="Freeform 25"/>
              <p:cNvSpPr/>
              <p:nvPr/>
            </p:nvSpPr>
            <p:spPr>
              <a:xfrm>
                <a:off x="1530" y="2026"/>
                <a:ext cx="1" cy="1110"/>
              </a:xfrm>
              <a:custGeom>
                <a:avLst/>
                <a:gdLst>
                  <a:gd name="txL" fmla="*/ 0 w 1"/>
                  <a:gd name="txT" fmla="*/ 0 h 1110"/>
                  <a:gd name="txR" fmla="*/ 1 w 1"/>
                  <a:gd name="txB" fmla="*/ 1110 h 1110"/>
                </a:gdLst>
                <a:ahLst/>
                <a:cxnLst>
                  <a:cxn ang="0">
                    <a:pos x="0" y="0"/>
                  </a:cxn>
                  <a:cxn ang="0">
                    <a:pos x="0" y="1110"/>
                  </a:cxn>
                </a:cxnLst>
                <a:rect l="txL" t="txT" r="txR" b="txB"/>
                <a:pathLst>
                  <a:path w="1" h="1110">
                    <a:moveTo>
                      <a:pt x="0" y="0"/>
                    </a:moveTo>
                    <a:lnTo>
                      <a:pt x="0" y="111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723" name="Freeform 26"/>
              <p:cNvSpPr/>
              <p:nvPr/>
            </p:nvSpPr>
            <p:spPr>
              <a:xfrm>
                <a:off x="2112" y="2016"/>
                <a:ext cx="3" cy="1120"/>
              </a:xfrm>
              <a:custGeom>
                <a:avLst/>
                <a:gdLst>
                  <a:gd name="txL" fmla="*/ 0 w 3"/>
                  <a:gd name="txT" fmla="*/ 0 h 1120"/>
                  <a:gd name="txR" fmla="*/ 3 w 3"/>
                  <a:gd name="txB" fmla="*/ 1120 h 1120"/>
                </a:gdLst>
                <a:ahLst/>
                <a:cxnLst>
                  <a:cxn ang="0">
                    <a:pos x="0" y="0"/>
                  </a:cxn>
                  <a:cxn ang="0">
                    <a:pos x="3" y="1120"/>
                  </a:cxn>
                </a:cxnLst>
                <a:rect l="txL" t="txT" r="txR" b="txB"/>
                <a:pathLst>
                  <a:path w="3" h="1120">
                    <a:moveTo>
                      <a:pt x="0" y="0"/>
                    </a:moveTo>
                    <a:lnTo>
                      <a:pt x="3" y="11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724" name="Line 27"/>
              <p:cNvSpPr/>
              <p:nvPr/>
            </p:nvSpPr>
            <p:spPr>
              <a:xfrm>
                <a:off x="1536" y="3120"/>
                <a:ext cx="288" cy="16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725" name="Line 28"/>
              <p:cNvSpPr/>
              <p:nvPr/>
            </p:nvSpPr>
            <p:spPr>
              <a:xfrm flipH="1">
                <a:off x="1824" y="3120"/>
                <a:ext cx="288" cy="16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7691" name="Group 29"/>
            <p:cNvGrpSpPr/>
            <p:nvPr/>
          </p:nvGrpSpPr>
          <p:grpSpPr>
            <a:xfrm>
              <a:off x="960" y="2011"/>
              <a:ext cx="1728" cy="1590"/>
              <a:chOff x="960" y="2011"/>
              <a:chExt cx="1728" cy="1590"/>
            </a:xfrm>
          </p:grpSpPr>
          <p:sp>
            <p:nvSpPr>
              <p:cNvPr id="57692" name="Freeform 30"/>
              <p:cNvSpPr/>
              <p:nvPr/>
            </p:nvSpPr>
            <p:spPr>
              <a:xfrm>
                <a:off x="960" y="2190"/>
                <a:ext cx="570" cy="570"/>
              </a:xfrm>
              <a:custGeom>
                <a:avLst/>
                <a:gdLst>
                  <a:gd name="txL" fmla="*/ 0 w 570"/>
                  <a:gd name="txT" fmla="*/ 0 h 570"/>
                  <a:gd name="txR" fmla="*/ 570 w 570"/>
                  <a:gd name="txB" fmla="*/ 570 h 570"/>
                </a:gdLst>
                <a:ahLst/>
                <a:cxnLst>
                  <a:cxn ang="0">
                    <a:pos x="0" y="570"/>
                  </a:cxn>
                  <a:cxn ang="0">
                    <a:pos x="570" y="0"/>
                  </a:cxn>
                </a:cxnLst>
                <a:rect l="txL" t="txT" r="txR" b="txB"/>
                <a:pathLst>
                  <a:path w="570" h="570">
                    <a:moveTo>
                      <a:pt x="0" y="570"/>
                    </a:moveTo>
                    <a:lnTo>
                      <a:pt x="570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693" name="Freeform 31"/>
              <p:cNvSpPr/>
              <p:nvPr/>
            </p:nvSpPr>
            <p:spPr>
              <a:xfrm>
                <a:off x="975" y="2336"/>
                <a:ext cx="561" cy="559"/>
              </a:xfrm>
              <a:custGeom>
                <a:avLst/>
                <a:gdLst>
                  <a:gd name="txL" fmla="*/ 0 w 561"/>
                  <a:gd name="txT" fmla="*/ 0 h 559"/>
                  <a:gd name="txR" fmla="*/ 561 w 561"/>
                  <a:gd name="txB" fmla="*/ 559 h 559"/>
                </a:gdLst>
                <a:ahLst/>
                <a:cxnLst>
                  <a:cxn ang="0">
                    <a:pos x="0" y="559"/>
                  </a:cxn>
                  <a:cxn ang="0">
                    <a:pos x="561" y="0"/>
                  </a:cxn>
                </a:cxnLst>
                <a:rect l="txL" t="txT" r="txR" b="txB"/>
                <a:pathLst>
                  <a:path w="561" h="559">
                    <a:moveTo>
                      <a:pt x="0" y="559"/>
                    </a:moveTo>
                    <a:lnTo>
                      <a:pt x="561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694" name="Freeform 32"/>
              <p:cNvSpPr/>
              <p:nvPr/>
            </p:nvSpPr>
            <p:spPr>
              <a:xfrm>
                <a:off x="960" y="2490"/>
                <a:ext cx="570" cy="570"/>
              </a:xfrm>
              <a:custGeom>
                <a:avLst/>
                <a:gdLst>
                  <a:gd name="txL" fmla="*/ 0 w 570"/>
                  <a:gd name="txT" fmla="*/ 0 h 570"/>
                  <a:gd name="txR" fmla="*/ 570 w 570"/>
                  <a:gd name="txB" fmla="*/ 570 h 570"/>
                </a:gdLst>
                <a:ahLst/>
                <a:cxnLst>
                  <a:cxn ang="0">
                    <a:pos x="0" y="570"/>
                  </a:cxn>
                  <a:cxn ang="0">
                    <a:pos x="570" y="0"/>
                  </a:cxn>
                </a:cxnLst>
                <a:rect l="txL" t="txT" r="txR" b="txB"/>
                <a:pathLst>
                  <a:path w="570" h="570">
                    <a:moveTo>
                      <a:pt x="0" y="570"/>
                    </a:moveTo>
                    <a:lnTo>
                      <a:pt x="570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695" name="Freeform 33"/>
              <p:cNvSpPr/>
              <p:nvPr/>
            </p:nvSpPr>
            <p:spPr>
              <a:xfrm>
                <a:off x="960" y="2630"/>
                <a:ext cx="570" cy="570"/>
              </a:xfrm>
              <a:custGeom>
                <a:avLst/>
                <a:gdLst>
                  <a:gd name="txL" fmla="*/ 0 w 570"/>
                  <a:gd name="txT" fmla="*/ 0 h 570"/>
                  <a:gd name="txR" fmla="*/ 570 w 570"/>
                  <a:gd name="txB" fmla="*/ 570 h 570"/>
                </a:gdLst>
                <a:ahLst/>
                <a:cxnLst>
                  <a:cxn ang="0">
                    <a:pos x="0" y="570"/>
                  </a:cxn>
                  <a:cxn ang="0">
                    <a:pos x="570" y="0"/>
                  </a:cxn>
                </a:cxnLst>
                <a:rect l="txL" t="txT" r="txR" b="txB"/>
                <a:pathLst>
                  <a:path w="570" h="570">
                    <a:moveTo>
                      <a:pt x="0" y="570"/>
                    </a:moveTo>
                    <a:lnTo>
                      <a:pt x="570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696" name="Freeform 34"/>
              <p:cNvSpPr/>
              <p:nvPr/>
            </p:nvSpPr>
            <p:spPr>
              <a:xfrm>
                <a:off x="960" y="2774"/>
                <a:ext cx="570" cy="570"/>
              </a:xfrm>
              <a:custGeom>
                <a:avLst/>
                <a:gdLst>
                  <a:gd name="txL" fmla="*/ 0 w 570"/>
                  <a:gd name="txT" fmla="*/ 0 h 570"/>
                  <a:gd name="txR" fmla="*/ 570 w 570"/>
                  <a:gd name="txB" fmla="*/ 570 h 570"/>
                </a:gdLst>
                <a:ahLst/>
                <a:cxnLst>
                  <a:cxn ang="0">
                    <a:pos x="0" y="570"/>
                  </a:cxn>
                  <a:cxn ang="0">
                    <a:pos x="570" y="0"/>
                  </a:cxn>
                </a:cxnLst>
                <a:rect l="txL" t="txT" r="txR" b="txB"/>
                <a:pathLst>
                  <a:path w="570" h="570">
                    <a:moveTo>
                      <a:pt x="0" y="570"/>
                    </a:moveTo>
                    <a:lnTo>
                      <a:pt x="570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697" name="Freeform 35"/>
              <p:cNvSpPr/>
              <p:nvPr/>
            </p:nvSpPr>
            <p:spPr>
              <a:xfrm>
                <a:off x="960" y="2918"/>
                <a:ext cx="570" cy="570"/>
              </a:xfrm>
              <a:custGeom>
                <a:avLst/>
                <a:gdLst>
                  <a:gd name="txL" fmla="*/ 0 w 570"/>
                  <a:gd name="txT" fmla="*/ 0 h 570"/>
                  <a:gd name="txR" fmla="*/ 570 w 570"/>
                  <a:gd name="txB" fmla="*/ 570 h 570"/>
                </a:gdLst>
                <a:ahLst/>
                <a:cxnLst>
                  <a:cxn ang="0">
                    <a:pos x="0" y="570"/>
                  </a:cxn>
                  <a:cxn ang="0">
                    <a:pos x="570" y="0"/>
                  </a:cxn>
                </a:cxnLst>
                <a:rect l="txL" t="txT" r="txR" b="txB"/>
                <a:pathLst>
                  <a:path w="570" h="570">
                    <a:moveTo>
                      <a:pt x="0" y="570"/>
                    </a:moveTo>
                    <a:lnTo>
                      <a:pt x="570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698" name="Freeform 36"/>
              <p:cNvSpPr/>
              <p:nvPr/>
            </p:nvSpPr>
            <p:spPr>
              <a:xfrm>
                <a:off x="1005" y="3062"/>
                <a:ext cx="525" cy="523"/>
              </a:xfrm>
              <a:custGeom>
                <a:avLst/>
                <a:gdLst>
                  <a:gd name="txL" fmla="*/ 0 w 525"/>
                  <a:gd name="txT" fmla="*/ 0 h 523"/>
                  <a:gd name="txR" fmla="*/ 525 w 525"/>
                  <a:gd name="txB" fmla="*/ 523 h 523"/>
                </a:gdLst>
                <a:ahLst/>
                <a:cxnLst>
                  <a:cxn ang="0">
                    <a:pos x="0" y="523"/>
                  </a:cxn>
                  <a:cxn ang="0">
                    <a:pos x="525" y="0"/>
                  </a:cxn>
                </a:cxnLst>
                <a:rect l="txL" t="txT" r="txR" b="txB"/>
                <a:pathLst>
                  <a:path w="525" h="523">
                    <a:moveTo>
                      <a:pt x="0" y="523"/>
                    </a:moveTo>
                    <a:lnTo>
                      <a:pt x="525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699" name="Freeform 37"/>
              <p:cNvSpPr/>
              <p:nvPr/>
            </p:nvSpPr>
            <p:spPr>
              <a:xfrm>
                <a:off x="960" y="2048"/>
                <a:ext cx="570" cy="570"/>
              </a:xfrm>
              <a:custGeom>
                <a:avLst/>
                <a:gdLst>
                  <a:gd name="txL" fmla="*/ 0 w 570"/>
                  <a:gd name="txT" fmla="*/ 0 h 570"/>
                  <a:gd name="txR" fmla="*/ 570 w 570"/>
                  <a:gd name="txB" fmla="*/ 570 h 570"/>
                </a:gdLst>
                <a:ahLst/>
                <a:cxnLst>
                  <a:cxn ang="0">
                    <a:pos x="0" y="570"/>
                  </a:cxn>
                  <a:cxn ang="0">
                    <a:pos x="570" y="0"/>
                  </a:cxn>
                </a:cxnLst>
                <a:rect l="txL" t="txT" r="txR" b="txB"/>
                <a:pathLst>
                  <a:path w="570" h="570">
                    <a:moveTo>
                      <a:pt x="0" y="570"/>
                    </a:moveTo>
                    <a:lnTo>
                      <a:pt x="570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700" name="Freeform 38"/>
              <p:cNvSpPr/>
              <p:nvPr/>
            </p:nvSpPr>
            <p:spPr>
              <a:xfrm>
                <a:off x="2112" y="2142"/>
                <a:ext cx="570" cy="570"/>
              </a:xfrm>
              <a:custGeom>
                <a:avLst/>
                <a:gdLst>
                  <a:gd name="txL" fmla="*/ 0 w 570"/>
                  <a:gd name="txT" fmla="*/ 0 h 570"/>
                  <a:gd name="txR" fmla="*/ 570 w 570"/>
                  <a:gd name="txB" fmla="*/ 570 h 570"/>
                </a:gdLst>
                <a:ahLst/>
                <a:cxnLst>
                  <a:cxn ang="0">
                    <a:pos x="0" y="570"/>
                  </a:cxn>
                  <a:cxn ang="0">
                    <a:pos x="570" y="0"/>
                  </a:cxn>
                </a:cxnLst>
                <a:rect l="txL" t="txT" r="txR" b="txB"/>
                <a:pathLst>
                  <a:path w="570" h="570">
                    <a:moveTo>
                      <a:pt x="0" y="570"/>
                    </a:moveTo>
                    <a:lnTo>
                      <a:pt x="570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701" name="Freeform 39"/>
              <p:cNvSpPr/>
              <p:nvPr/>
            </p:nvSpPr>
            <p:spPr>
              <a:xfrm>
                <a:off x="2115" y="2288"/>
                <a:ext cx="573" cy="577"/>
              </a:xfrm>
              <a:custGeom>
                <a:avLst/>
                <a:gdLst>
                  <a:gd name="txL" fmla="*/ 0 w 573"/>
                  <a:gd name="txT" fmla="*/ 0 h 577"/>
                  <a:gd name="txR" fmla="*/ 573 w 573"/>
                  <a:gd name="txB" fmla="*/ 577 h 577"/>
                </a:gdLst>
                <a:ahLst/>
                <a:cxnLst>
                  <a:cxn ang="0">
                    <a:pos x="0" y="577"/>
                  </a:cxn>
                  <a:cxn ang="0">
                    <a:pos x="573" y="0"/>
                  </a:cxn>
                </a:cxnLst>
                <a:rect l="txL" t="txT" r="txR" b="txB"/>
                <a:pathLst>
                  <a:path w="573" h="577">
                    <a:moveTo>
                      <a:pt x="0" y="577"/>
                    </a:moveTo>
                    <a:lnTo>
                      <a:pt x="573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702" name="Freeform 40"/>
              <p:cNvSpPr/>
              <p:nvPr/>
            </p:nvSpPr>
            <p:spPr>
              <a:xfrm>
                <a:off x="1680" y="2595"/>
                <a:ext cx="990" cy="990"/>
              </a:xfrm>
              <a:custGeom>
                <a:avLst/>
                <a:gdLst>
                  <a:gd name="txL" fmla="*/ 0 w 990"/>
                  <a:gd name="txT" fmla="*/ 0 h 990"/>
                  <a:gd name="txR" fmla="*/ 990 w 990"/>
                  <a:gd name="txB" fmla="*/ 990 h 990"/>
                </a:gdLst>
                <a:ahLst/>
                <a:cxnLst>
                  <a:cxn ang="0">
                    <a:pos x="0" y="990"/>
                  </a:cxn>
                  <a:cxn ang="0">
                    <a:pos x="990" y="0"/>
                  </a:cxn>
                </a:cxnLst>
                <a:rect l="txL" t="txT" r="txR" b="txB"/>
                <a:pathLst>
                  <a:path w="990" h="990">
                    <a:moveTo>
                      <a:pt x="0" y="990"/>
                    </a:moveTo>
                    <a:lnTo>
                      <a:pt x="990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703" name="Freeform 41"/>
              <p:cNvSpPr/>
              <p:nvPr/>
            </p:nvSpPr>
            <p:spPr>
              <a:xfrm>
                <a:off x="2112" y="2432"/>
                <a:ext cx="570" cy="570"/>
              </a:xfrm>
              <a:custGeom>
                <a:avLst/>
                <a:gdLst>
                  <a:gd name="txL" fmla="*/ 0 w 570"/>
                  <a:gd name="txT" fmla="*/ 0 h 570"/>
                  <a:gd name="txR" fmla="*/ 570 w 570"/>
                  <a:gd name="txB" fmla="*/ 570 h 570"/>
                </a:gdLst>
                <a:ahLst/>
                <a:cxnLst>
                  <a:cxn ang="0">
                    <a:pos x="0" y="570"/>
                  </a:cxn>
                  <a:cxn ang="0">
                    <a:pos x="570" y="0"/>
                  </a:cxn>
                </a:cxnLst>
                <a:rect l="txL" t="txT" r="txR" b="txB"/>
                <a:pathLst>
                  <a:path w="570" h="570">
                    <a:moveTo>
                      <a:pt x="0" y="570"/>
                    </a:moveTo>
                    <a:lnTo>
                      <a:pt x="570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704" name="Freeform 42"/>
              <p:cNvSpPr/>
              <p:nvPr/>
            </p:nvSpPr>
            <p:spPr>
              <a:xfrm>
                <a:off x="1830" y="2726"/>
                <a:ext cx="852" cy="859"/>
              </a:xfrm>
              <a:custGeom>
                <a:avLst/>
                <a:gdLst>
                  <a:gd name="txL" fmla="*/ 0 w 852"/>
                  <a:gd name="txT" fmla="*/ 0 h 859"/>
                  <a:gd name="txR" fmla="*/ 852 w 852"/>
                  <a:gd name="txB" fmla="*/ 859 h 859"/>
                </a:gdLst>
                <a:ahLst/>
                <a:cxnLst>
                  <a:cxn ang="0">
                    <a:pos x="0" y="859"/>
                  </a:cxn>
                  <a:cxn ang="0">
                    <a:pos x="852" y="0"/>
                  </a:cxn>
                </a:cxnLst>
                <a:rect l="txL" t="txT" r="txR" b="txB"/>
                <a:pathLst>
                  <a:path w="852" h="859">
                    <a:moveTo>
                      <a:pt x="0" y="859"/>
                    </a:moveTo>
                    <a:lnTo>
                      <a:pt x="852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705" name="Freeform 43"/>
              <p:cNvSpPr/>
              <p:nvPr/>
            </p:nvSpPr>
            <p:spPr>
              <a:xfrm>
                <a:off x="1950" y="2870"/>
                <a:ext cx="732" cy="730"/>
              </a:xfrm>
              <a:custGeom>
                <a:avLst/>
                <a:gdLst>
                  <a:gd name="txL" fmla="*/ 0 w 732"/>
                  <a:gd name="txT" fmla="*/ 0 h 730"/>
                  <a:gd name="txR" fmla="*/ 732 w 732"/>
                  <a:gd name="txB" fmla="*/ 730 h 730"/>
                </a:gdLst>
                <a:ahLst/>
                <a:cxnLst>
                  <a:cxn ang="0">
                    <a:pos x="0" y="730"/>
                  </a:cxn>
                  <a:cxn ang="0">
                    <a:pos x="732" y="0"/>
                  </a:cxn>
                </a:cxnLst>
                <a:rect l="txL" t="txT" r="txR" b="txB"/>
                <a:pathLst>
                  <a:path w="732" h="730">
                    <a:moveTo>
                      <a:pt x="0" y="730"/>
                    </a:moveTo>
                    <a:lnTo>
                      <a:pt x="732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706" name="Freeform 44"/>
              <p:cNvSpPr/>
              <p:nvPr/>
            </p:nvSpPr>
            <p:spPr>
              <a:xfrm>
                <a:off x="2115" y="2026"/>
                <a:ext cx="540" cy="540"/>
              </a:xfrm>
              <a:custGeom>
                <a:avLst/>
                <a:gdLst>
                  <a:gd name="txL" fmla="*/ 0 w 540"/>
                  <a:gd name="txT" fmla="*/ 0 h 540"/>
                  <a:gd name="txR" fmla="*/ 540 w 540"/>
                  <a:gd name="txB" fmla="*/ 540 h 540"/>
                </a:gdLst>
                <a:ahLst/>
                <a:cxnLst>
                  <a:cxn ang="0">
                    <a:pos x="0" y="540"/>
                  </a:cxn>
                  <a:cxn ang="0">
                    <a:pos x="540" y="0"/>
                  </a:cxn>
                </a:cxnLst>
                <a:rect l="txL" t="txT" r="txR" b="txB"/>
                <a:pathLst>
                  <a:path w="540" h="540">
                    <a:moveTo>
                      <a:pt x="0" y="540"/>
                    </a:moveTo>
                    <a:lnTo>
                      <a:pt x="540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707" name="Freeform 45"/>
              <p:cNvSpPr/>
              <p:nvPr/>
            </p:nvSpPr>
            <p:spPr>
              <a:xfrm>
                <a:off x="1152" y="3135"/>
                <a:ext cx="453" cy="449"/>
              </a:xfrm>
              <a:custGeom>
                <a:avLst/>
                <a:gdLst>
                  <a:gd name="txL" fmla="*/ 0 w 453"/>
                  <a:gd name="txT" fmla="*/ 0 h 449"/>
                  <a:gd name="txR" fmla="*/ 453 w 453"/>
                  <a:gd name="txB" fmla="*/ 449 h 449"/>
                </a:gdLst>
                <a:ahLst/>
                <a:cxnLst>
                  <a:cxn ang="0">
                    <a:pos x="0" y="449"/>
                  </a:cxn>
                  <a:cxn ang="0">
                    <a:pos x="453" y="0"/>
                  </a:cxn>
                </a:cxnLst>
                <a:rect l="txL" t="txT" r="txR" b="txB"/>
                <a:pathLst>
                  <a:path w="453" h="449">
                    <a:moveTo>
                      <a:pt x="0" y="449"/>
                    </a:moveTo>
                    <a:lnTo>
                      <a:pt x="453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708" name="Freeform 46"/>
              <p:cNvSpPr/>
              <p:nvPr/>
            </p:nvSpPr>
            <p:spPr>
              <a:xfrm>
                <a:off x="1335" y="3211"/>
                <a:ext cx="375" cy="374"/>
              </a:xfrm>
              <a:custGeom>
                <a:avLst/>
                <a:gdLst>
                  <a:gd name="txL" fmla="*/ 0 w 375"/>
                  <a:gd name="txT" fmla="*/ 0 h 374"/>
                  <a:gd name="txR" fmla="*/ 375 w 375"/>
                  <a:gd name="txB" fmla="*/ 374 h 374"/>
                </a:gdLst>
                <a:ahLst/>
                <a:cxnLst>
                  <a:cxn ang="0">
                    <a:pos x="0" y="374"/>
                  </a:cxn>
                  <a:cxn ang="0">
                    <a:pos x="375" y="0"/>
                  </a:cxn>
                </a:cxnLst>
                <a:rect l="txL" t="txT" r="txR" b="txB"/>
                <a:pathLst>
                  <a:path w="375" h="374">
                    <a:moveTo>
                      <a:pt x="0" y="374"/>
                    </a:moveTo>
                    <a:lnTo>
                      <a:pt x="375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709" name="Freeform 47"/>
              <p:cNvSpPr/>
              <p:nvPr/>
            </p:nvSpPr>
            <p:spPr>
              <a:xfrm>
                <a:off x="1500" y="3286"/>
                <a:ext cx="315" cy="315"/>
              </a:xfrm>
              <a:custGeom>
                <a:avLst/>
                <a:gdLst>
                  <a:gd name="txL" fmla="*/ 0 w 315"/>
                  <a:gd name="txT" fmla="*/ 0 h 315"/>
                  <a:gd name="txR" fmla="*/ 315 w 315"/>
                  <a:gd name="txB" fmla="*/ 315 h 315"/>
                </a:gdLst>
                <a:ahLst/>
                <a:cxnLst>
                  <a:cxn ang="0">
                    <a:pos x="0" y="315"/>
                  </a:cxn>
                  <a:cxn ang="0">
                    <a:pos x="315" y="0"/>
                  </a:cxn>
                </a:cxnLst>
                <a:rect l="txL" t="txT" r="txR" b="txB"/>
                <a:pathLst>
                  <a:path w="315" h="315">
                    <a:moveTo>
                      <a:pt x="0" y="315"/>
                    </a:moveTo>
                    <a:lnTo>
                      <a:pt x="315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710" name="Freeform 48"/>
              <p:cNvSpPr/>
              <p:nvPr/>
            </p:nvSpPr>
            <p:spPr>
              <a:xfrm>
                <a:off x="960" y="2011"/>
                <a:ext cx="465" cy="469"/>
              </a:xfrm>
              <a:custGeom>
                <a:avLst/>
                <a:gdLst>
                  <a:gd name="txL" fmla="*/ 0 w 465"/>
                  <a:gd name="txT" fmla="*/ 0 h 469"/>
                  <a:gd name="txR" fmla="*/ 465 w 465"/>
                  <a:gd name="txB" fmla="*/ 469 h 469"/>
                </a:gdLst>
                <a:ahLst/>
                <a:cxnLst>
                  <a:cxn ang="0">
                    <a:pos x="0" y="469"/>
                  </a:cxn>
                  <a:cxn ang="0">
                    <a:pos x="465" y="0"/>
                  </a:cxn>
                </a:cxnLst>
                <a:rect l="txL" t="txT" r="txR" b="txB"/>
                <a:pathLst>
                  <a:path w="465" h="469">
                    <a:moveTo>
                      <a:pt x="0" y="469"/>
                    </a:moveTo>
                    <a:lnTo>
                      <a:pt x="465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711" name="Freeform 49"/>
              <p:cNvSpPr/>
              <p:nvPr/>
            </p:nvSpPr>
            <p:spPr>
              <a:xfrm>
                <a:off x="990" y="2011"/>
                <a:ext cx="285" cy="285"/>
              </a:xfrm>
              <a:custGeom>
                <a:avLst/>
                <a:gdLst>
                  <a:gd name="txL" fmla="*/ 0 w 285"/>
                  <a:gd name="txT" fmla="*/ 0 h 285"/>
                  <a:gd name="txR" fmla="*/ 285 w 285"/>
                  <a:gd name="txB" fmla="*/ 285 h 285"/>
                </a:gdLst>
                <a:ahLst/>
                <a:cxnLst>
                  <a:cxn ang="0">
                    <a:pos x="0" y="285"/>
                  </a:cxn>
                  <a:cxn ang="0">
                    <a:pos x="285" y="0"/>
                  </a:cxn>
                </a:cxnLst>
                <a:rect l="txL" t="txT" r="txR" b="txB"/>
                <a:pathLst>
                  <a:path w="285" h="285">
                    <a:moveTo>
                      <a:pt x="0" y="285"/>
                    </a:moveTo>
                    <a:lnTo>
                      <a:pt x="285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712" name="Freeform 50"/>
              <p:cNvSpPr/>
              <p:nvPr/>
            </p:nvSpPr>
            <p:spPr>
              <a:xfrm>
                <a:off x="969" y="2025"/>
                <a:ext cx="135" cy="135"/>
              </a:xfrm>
              <a:custGeom>
                <a:avLst/>
                <a:gdLst>
                  <a:gd name="txL" fmla="*/ 0 w 135"/>
                  <a:gd name="txT" fmla="*/ 0 h 135"/>
                  <a:gd name="txR" fmla="*/ 135 w 135"/>
                  <a:gd name="txB" fmla="*/ 135 h 135"/>
                </a:gdLst>
                <a:ahLst/>
                <a:cxnLst>
                  <a:cxn ang="0">
                    <a:pos x="0" y="135"/>
                  </a:cxn>
                  <a:cxn ang="0">
                    <a:pos x="135" y="0"/>
                  </a:cxn>
                </a:cxnLst>
                <a:rect l="txL" t="txT" r="txR" b="txB"/>
                <a:pathLst>
                  <a:path w="135" h="135">
                    <a:moveTo>
                      <a:pt x="0" y="135"/>
                    </a:moveTo>
                    <a:lnTo>
                      <a:pt x="135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713" name="Freeform 51"/>
              <p:cNvSpPr/>
              <p:nvPr/>
            </p:nvSpPr>
            <p:spPr>
              <a:xfrm>
                <a:off x="2112" y="3015"/>
                <a:ext cx="573" cy="569"/>
              </a:xfrm>
              <a:custGeom>
                <a:avLst/>
                <a:gdLst>
                  <a:gd name="txL" fmla="*/ 0 w 573"/>
                  <a:gd name="txT" fmla="*/ 0 h 569"/>
                  <a:gd name="txR" fmla="*/ 573 w 573"/>
                  <a:gd name="txB" fmla="*/ 569 h 569"/>
                </a:gdLst>
                <a:ahLst/>
                <a:cxnLst>
                  <a:cxn ang="0">
                    <a:pos x="0" y="569"/>
                  </a:cxn>
                  <a:cxn ang="0">
                    <a:pos x="573" y="0"/>
                  </a:cxn>
                </a:cxnLst>
                <a:rect l="txL" t="txT" r="txR" b="txB"/>
                <a:pathLst>
                  <a:path w="573" h="569">
                    <a:moveTo>
                      <a:pt x="0" y="569"/>
                    </a:moveTo>
                    <a:lnTo>
                      <a:pt x="573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714" name="Freeform 52"/>
              <p:cNvSpPr/>
              <p:nvPr/>
            </p:nvSpPr>
            <p:spPr>
              <a:xfrm>
                <a:off x="2280" y="3180"/>
                <a:ext cx="405" cy="405"/>
              </a:xfrm>
              <a:custGeom>
                <a:avLst/>
                <a:gdLst>
                  <a:gd name="txL" fmla="*/ 0 w 405"/>
                  <a:gd name="txT" fmla="*/ 0 h 405"/>
                  <a:gd name="txR" fmla="*/ 405 w 405"/>
                  <a:gd name="txB" fmla="*/ 405 h 405"/>
                </a:gdLst>
                <a:ahLst/>
                <a:cxnLst>
                  <a:cxn ang="0">
                    <a:pos x="0" y="405"/>
                  </a:cxn>
                  <a:cxn ang="0">
                    <a:pos x="405" y="0"/>
                  </a:cxn>
                </a:cxnLst>
                <a:rect l="txL" t="txT" r="txR" b="txB"/>
                <a:pathLst>
                  <a:path w="405" h="405">
                    <a:moveTo>
                      <a:pt x="0" y="405"/>
                    </a:moveTo>
                    <a:lnTo>
                      <a:pt x="405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715" name="Line 53"/>
              <p:cNvSpPr/>
              <p:nvPr/>
            </p:nvSpPr>
            <p:spPr>
              <a:xfrm flipV="1">
                <a:off x="2448" y="3344"/>
                <a:ext cx="240" cy="24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716" name="Line 54"/>
              <p:cNvSpPr/>
              <p:nvPr/>
            </p:nvSpPr>
            <p:spPr>
              <a:xfrm flipV="1">
                <a:off x="2592" y="3488"/>
                <a:ext cx="96" cy="96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717" name="Freeform 55"/>
              <p:cNvSpPr/>
              <p:nvPr/>
            </p:nvSpPr>
            <p:spPr>
              <a:xfrm>
                <a:off x="2112" y="2011"/>
                <a:ext cx="423" cy="421"/>
              </a:xfrm>
              <a:custGeom>
                <a:avLst/>
                <a:gdLst>
                  <a:gd name="txL" fmla="*/ 0 w 423"/>
                  <a:gd name="txT" fmla="*/ 0 h 421"/>
                  <a:gd name="txR" fmla="*/ 423 w 423"/>
                  <a:gd name="txB" fmla="*/ 421 h 421"/>
                </a:gdLst>
                <a:ahLst/>
                <a:cxnLst>
                  <a:cxn ang="0">
                    <a:pos x="0" y="421"/>
                  </a:cxn>
                  <a:cxn ang="0">
                    <a:pos x="423" y="0"/>
                  </a:cxn>
                </a:cxnLst>
                <a:rect l="txL" t="txT" r="txR" b="txB"/>
                <a:pathLst>
                  <a:path w="423" h="421">
                    <a:moveTo>
                      <a:pt x="0" y="421"/>
                    </a:moveTo>
                    <a:lnTo>
                      <a:pt x="423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718" name="Freeform 56"/>
              <p:cNvSpPr/>
              <p:nvPr/>
            </p:nvSpPr>
            <p:spPr>
              <a:xfrm>
                <a:off x="2115" y="2011"/>
                <a:ext cx="270" cy="270"/>
              </a:xfrm>
              <a:custGeom>
                <a:avLst/>
                <a:gdLst>
                  <a:gd name="txL" fmla="*/ 0 w 270"/>
                  <a:gd name="txT" fmla="*/ 0 h 270"/>
                  <a:gd name="txR" fmla="*/ 270 w 270"/>
                  <a:gd name="txB" fmla="*/ 270 h 270"/>
                </a:gdLst>
                <a:ahLst/>
                <a:cxnLst>
                  <a:cxn ang="0">
                    <a:pos x="0" y="270"/>
                  </a:cxn>
                  <a:cxn ang="0">
                    <a:pos x="270" y="0"/>
                  </a:cxn>
                </a:cxnLst>
                <a:rect l="txL" t="txT" r="txR" b="txB"/>
                <a:pathLst>
                  <a:path w="270" h="270">
                    <a:moveTo>
                      <a:pt x="0" y="270"/>
                    </a:moveTo>
                    <a:lnTo>
                      <a:pt x="270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719" name="Freeform 57"/>
              <p:cNvSpPr/>
              <p:nvPr/>
            </p:nvSpPr>
            <p:spPr>
              <a:xfrm>
                <a:off x="2115" y="2011"/>
                <a:ext cx="120" cy="120"/>
              </a:xfrm>
              <a:custGeom>
                <a:avLst/>
                <a:gdLst>
                  <a:gd name="txL" fmla="*/ 0 w 120"/>
                  <a:gd name="txT" fmla="*/ 0 h 120"/>
                  <a:gd name="txR" fmla="*/ 120 w 120"/>
                  <a:gd name="txB" fmla="*/ 120 h 120"/>
                </a:gdLst>
                <a:ahLst/>
                <a:cxnLst>
                  <a:cxn ang="0">
                    <a:pos x="0" y="120"/>
                  </a:cxn>
                  <a:cxn ang="0">
                    <a:pos x="120" y="0"/>
                  </a:cxn>
                </a:cxnLst>
                <a:rect l="txL" t="txT" r="txR" b="txB"/>
                <a:pathLst>
                  <a:path w="120" h="120">
                    <a:moveTo>
                      <a:pt x="0" y="120"/>
                    </a:moveTo>
                    <a:lnTo>
                      <a:pt x="120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9" name="Group 58"/>
          <p:cNvGrpSpPr/>
          <p:nvPr/>
        </p:nvGrpSpPr>
        <p:grpSpPr>
          <a:xfrm>
            <a:off x="6656388" y="3919538"/>
            <a:ext cx="1454150" cy="1425575"/>
            <a:chOff x="4080" y="1488"/>
            <a:chExt cx="916" cy="898"/>
          </a:xfrm>
        </p:grpSpPr>
        <p:sp>
          <p:nvSpPr>
            <p:cNvPr id="57683" name="Text Box 59"/>
            <p:cNvSpPr txBox="1"/>
            <p:nvPr/>
          </p:nvSpPr>
          <p:spPr>
            <a:xfrm rot="-5400000">
              <a:off x="4600" y="1591"/>
              <a:ext cx="49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0.5D</a:t>
              </a:r>
              <a:endPara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684" name="Freeform 60"/>
            <p:cNvSpPr/>
            <p:nvPr/>
          </p:nvSpPr>
          <p:spPr>
            <a:xfrm>
              <a:off x="4140" y="1996"/>
              <a:ext cx="856" cy="1"/>
            </a:xfrm>
            <a:custGeom>
              <a:avLst/>
              <a:gdLst>
                <a:gd name="txL" fmla="*/ 0 w 856"/>
                <a:gd name="txT" fmla="*/ 0 h 1"/>
                <a:gd name="txR" fmla="*/ 856 w 856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856" y="0"/>
                </a:cxn>
              </a:cxnLst>
              <a:rect l="txL" t="txT" r="txR" b="txB"/>
              <a:pathLst>
                <a:path w="856" h="1">
                  <a:moveTo>
                    <a:pt x="0" y="0"/>
                  </a:moveTo>
                  <a:lnTo>
                    <a:pt x="856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685" name="Freeform 61"/>
            <p:cNvSpPr/>
            <p:nvPr/>
          </p:nvSpPr>
          <p:spPr>
            <a:xfrm>
              <a:off x="4080" y="2191"/>
              <a:ext cx="916" cy="1"/>
            </a:xfrm>
            <a:custGeom>
              <a:avLst/>
              <a:gdLst>
                <a:gd name="txL" fmla="*/ 0 w 916"/>
                <a:gd name="txT" fmla="*/ 0 h 1"/>
                <a:gd name="txR" fmla="*/ 916 w 916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916" y="0"/>
                </a:cxn>
              </a:cxnLst>
              <a:rect l="txL" t="txT" r="txR" b="txB"/>
              <a:pathLst>
                <a:path w="916" h="1">
                  <a:moveTo>
                    <a:pt x="0" y="0"/>
                  </a:moveTo>
                  <a:lnTo>
                    <a:pt x="916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686" name="Freeform 62"/>
            <p:cNvSpPr/>
            <p:nvPr/>
          </p:nvSpPr>
          <p:spPr>
            <a:xfrm>
              <a:off x="4936" y="2176"/>
              <a:ext cx="5" cy="210"/>
            </a:xfrm>
            <a:custGeom>
              <a:avLst/>
              <a:gdLst>
                <a:gd name="txL" fmla="*/ 0 w 5"/>
                <a:gd name="txT" fmla="*/ 0 h 210"/>
                <a:gd name="txR" fmla="*/ 5 w 5"/>
                <a:gd name="txB" fmla="*/ 210 h 210"/>
              </a:gdLst>
              <a:ahLst/>
              <a:cxnLst>
                <a:cxn ang="0">
                  <a:pos x="5" y="0"/>
                </a:cxn>
                <a:cxn ang="0">
                  <a:pos x="0" y="210"/>
                </a:cxn>
              </a:cxnLst>
              <a:rect l="txL" t="txT" r="txR" b="txB"/>
              <a:pathLst>
                <a:path w="5" h="210">
                  <a:moveTo>
                    <a:pt x="5" y="0"/>
                  </a:moveTo>
                  <a:lnTo>
                    <a:pt x="0" y="21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triangle" w="sm" len="lg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687" name="Freeform 63"/>
            <p:cNvSpPr/>
            <p:nvPr/>
          </p:nvSpPr>
          <p:spPr>
            <a:xfrm>
              <a:off x="4936" y="1981"/>
              <a:ext cx="7" cy="227"/>
            </a:xfrm>
            <a:custGeom>
              <a:avLst/>
              <a:gdLst>
                <a:gd name="txL" fmla="*/ 0 w 7"/>
                <a:gd name="txT" fmla="*/ 0 h 227"/>
                <a:gd name="txR" fmla="*/ 7 w 7"/>
                <a:gd name="txB" fmla="*/ 227 h 227"/>
              </a:gdLst>
              <a:ahLst/>
              <a:cxnLst>
                <a:cxn ang="0">
                  <a:pos x="7" y="227"/>
                </a:cxn>
                <a:cxn ang="0">
                  <a:pos x="0" y="0"/>
                </a:cxn>
              </a:cxnLst>
              <a:rect l="txL" t="txT" r="txR" b="txB"/>
              <a:pathLst>
                <a:path w="7" h="227">
                  <a:moveTo>
                    <a:pt x="7" y="227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688" name="Line 64"/>
            <p:cNvSpPr/>
            <p:nvPr/>
          </p:nvSpPr>
          <p:spPr>
            <a:xfrm flipV="1">
              <a:off x="4943" y="1536"/>
              <a:ext cx="0" cy="48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triangle" w="sm" len="lg"/>
              <a:tailEnd type="none" w="med" len="med"/>
            </a:ln>
          </p:spPr>
        </p:sp>
      </p:grpSp>
      <p:grpSp>
        <p:nvGrpSpPr>
          <p:cNvPr id="10" name="Group 65"/>
          <p:cNvGrpSpPr/>
          <p:nvPr/>
        </p:nvGrpSpPr>
        <p:grpSpPr>
          <a:xfrm>
            <a:off x="1703388" y="3295650"/>
            <a:ext cx="2762250" cy="2516188"/>
            <a:chOff x="960" y="2016"/>
            <a:chExt cx="1740" cy="1585"/>
          </a:xfrm>
        </p:grpSpPr>
        <p:sp>
          <p:nvSpPr>
            <p:cNvPr id="57681" name="Line 66"/>
            <p:cNvSpPr/>
            <p:nvPr/>
          </p:nvSpPr>
          <p:spPr>
            <a:xfrm>
              <a:off x="1008" y="2016"/>
              <a:ext cx="168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682" name="Freeform 67"/>
            <p:cNvSpPr/>
            <p:nvPr/>
          </p:nvSpPr>
          <p:spPr>
            <a:xfrm>
              <a:off x="960" y="3600"/>
              <a:ext cx="1740" cy="1"/>
            </a:xfrm>
            <a:custGeom>
              <a:avLst/>
              <a:gdLst>
                <a:gd name="txL" fmla="*/ 0 w 1740"/>
                <a:gd name="txT" fmla="*/ 0 h 1"/>
                <a:gd name="txR" fmla="*/ 1740 w 1740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740" y="1"/>
                </a:cxn>
              </a:cxnLst>
              <a:rect l="txL" t="txT" r="txR" b="txB"/>
              <a:pathLst>
                <a:path w="1740" h="1">
                  <a:moveTo>
                    <a:pt x="0" y="0"/>
                  </a:moveTo>
                  <a:lnTo>
                    <a:pt x="1740" y="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15780" name="AutoShape 68"/>
          <p:cNvSpPr/>
          <p:nvPr/>
        </p:nvSpPr>
        <p:spPr>
          <a:xfrm>
            <a:off x="3316288" y="2262188"/>
            <a:ext cx="3048000" cy="1066800"/>
          </a:xfrm>
          <a:prstGeom prst="wedgeEllipseCallout">
            <a:avLst>
              <a:gd name="adj1" fmla="val -46407"/>
              <a:gd name="adj2" fmla="val 254167"/>
            </a:avLst>
          </a:prstGeom>
          <a:solidFill>
            <a:srgbClr val="66FF33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2400" b="1" dirty="0">
                <a:latin typeface="Times New Roman" panose="02020603050405020304" pitchFamily="18" charset="0"/>
              </a:rPr>
              <a:t>容易出错的地方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11" name="Group 69"/>
          <p:cNvGrpSpPr/>
          <p:nvPr/>
        </p:nvGrpSpPr>
        <p:grpSpPr>
          <a:xfrm>
            <a:off x="5646738" y="754063"/>
            <a:ext cx="1074737" cy="3989387"/>
            <a:chOff x="3457" y="362"/>
            <a:chExt cx="677" cy="2513"/>
          </a:xfrm>
        </p:grpSpPr>
        <p:sp>
          <p:nvSpPr>
            <p:cNvPr id="57436" name="Freeform 70"/>
            <p:cNvSpPr/>
            <p:nvPr/>
          </p:nvSpPr>
          <p:spPr>
            <a:xfrm>
              <a:off x="3457" y="833"/>
              <a:ext cx="297" cy="2038"/>
            </a:xfrm>
            <a:custGeom>
              <a:avLst/>
              <a:gdLst>
                <a:gd name="txL" fmla="*/ 0 w 297"/>
                <a:gd name="txT" fmla="*/ 0 h 2038"/>
                <a:gd name="txR" fmla="*/ 297 w 297"/>
                <a:gd name="txB" fmla="*/ 2038 h 2038"/>
              </a:gdLst>
              <a:ahLst/>
              <a:cxnLst>
                <a:cxn ang="0">
                  <a:pos x="47" y="281"/>
                </a:cxn>
                <a:cxn ang="0">
                  <a:pos x="65" y="288"/>
                </a:cxn>
                <a:cxn ang="0">
                  <a:pos x="0" y="333"/>
                </a:cxn>
                <a:cxn ang="0">
                  <a:pos x="60" y="377"/>
                </a:cxn>
                <a:cxn ang="0">
                  <a:pos x="5" y="427"/>
                </a:cxn>
                <a:cxn ang="0">
                  <a:pos x="60" y="473"/>
                </a:cxn>
                <a:cxn ang="0">
                  <a:pos x="3" y="518"/>
                </a:cxn>
                <a:cxn ang="0">
                  <a:pos x="60" y="561"/>
                </a:cxn>
                <a:cxn ang="0">
                  <a:pos x="5" y="609"/>
                </a:cxn>
                <a:cxn ang="0">
                  <a:pos x="60" y="653"/>
                </a:cxn>
                <a:cxn ang="0">
                  <a:pos x="6" y="698"/>
                </a:cxn>
                <a:cxn ang="0">
                  <a:pos x="60" y="746"/>
                </a:cxn>
                <a:cxn ang="0">
                  <a:pos x="3" y="792"/>
                </a:cxn>
                <a:cxn ang="0">
                  <a:pos x="58" y="837"/>
                </a:cxn>
                <a:cxn ang="0">
                  <a:pos x="6" y="883"/>
                </a:cxn>
                <a:cxn ang="0">
                  <a:pos x="60" y="931"/>
                </a:cxn>
                <a:cxn ang="0">
                  <a:pos x="0" y="979"/>
                </a:cxn>
                <a:cxn ang="0">
                  <a:pos x="63" y="1025"/>
                </a:cxn>
                <a:cxn ang="0">
                  <a:pos x="3" y="1075"/>
                </a:cxn>
                <a:cxn ang="0">
                  <a:pos x="58" y="1121"/>
                </a:cxn>
                <a:cxn ang="0">
                  <a:pos x="6" y="1165"/>
                </a:cxn>
                <a:cxn ang="0">
                  <a:pos x="60" y="1214"/>
                </a:cxn>
                <a:cxn ang="0">
                  <a:pos x="6" y="1254"/>
                </a:cxn>
                <a:cxn ang="0">
                  <a:pos x="56" y="1303"/>
                </a:cxn>
                <a:cxn ang="0">
                  <a:pos x="0" y="1349"/>
                </a:cxn>
                <a:cxn ang="0">
                  <a:pos x="72" y="1397"/>
                </a:cxn>
                <a:cxn ang="0">
                  <a:pos x="6" y="1446"/>
                </a:cxn>
                <a:cxn ang="0">
                  <a:pos x="70" y="1490"/>
                </a:cxn>
                <a:cxn ang="0">
                  <a:pos x="8" y="1536"/>
                </a:cxn>
                <a:cxn ang="0">
                  <a:pos x="60" y="1581"/>
                </a:cxn>
                <a:cxn ang="0">
                  <a:pos x="6" y="1619"/>
                </a:cxn>
                <a:cxn ang="0">
                  <a:pos x="58" y="1670"/>
                </a:cxn>
                <a:cxn ang="0">
                  <a:pos x="3" y="1714"/>
                </a:cxn>
                <a:cxn ang="0">
                  <a:pos x="63" y="1769"/>
                </a:cxn>
                <a:cxn ang="0">
                  <a:pos x="3" y="1819"/>
                </a:cxn>
                <a:cxn ang="0">
                  <a:pos x="46" y="1860"/>
                </a:cxn>
                <a:cxn ang="0">
                  <a:pos x="13" y="1901"/>
                </a:cxn>
                <a:cxn ang="0">
                  <a:pos x="44" y="1929"/>
                </a:cxn>
                <a:cxn ang="0">
                  <a:pos x="27" y="1958"/>
                </a:cxn>
                <a:cxn ang="0">
                  <a:pos x="44" y="1987"/>
                </a:cxn>
                <a:cxn ang="0">
                  <a:pos x="34" y="2011"/>
                </a:cxn>
                <a:cxn ang="0">
                  <a:pos x="56" y="2035"/>
                </a:cxn>
                <a:cxn ang="0">
                  <a:pos x="238" y="2038"/>
                </a:cxn>
                <a:cxn ang="0">
                  <a:pos x="256" y="1990"/>
                </a:cxn>
                <a:cxn ang="0">
                  <a:pos x="245" y="1953"/>
                </a:cxn>
                <a:cxn ang="0">
                  <a:pos x="249" y="1914"/>
                </a:cxn>
                <a:cxn ang="0">
                  <a:pos x="255" y="1886"/>
                </a:cxn>
                <a:cxn ang="0">
                  <a:pos x="249" y="1830"/>
                </a:cxn>
                <a:cxn ang="0">
                  <a:pos x="269" y="1788"/>
                </a:cxn>
                <a:cxn ang="0">
                  <a:pos x="248" y="1737"/>
                </a:cxn>
                <a:cxn ang="0">
                  <a:pos x="259" y="1693"/>
                </a:cxn>
                <a:cxn ang="0">
                  <a:pos x="297" y="239"/>
                </a:cxn>
                <a:cxn ang="0">
                  <a:pos x="271" y="165"/>
                </a:cxn>
                <a:cxn ang="0">
                  <a:pos x="262" y="98"/>
                </a:cxn>
                <a:cxn ang="0">
                  <a:pos x="224" y="31"/>
                </a:cxn>
                <a:cxn ang="0">
                  <a:pos x="170" y="0"/>
                </a:cxn>
                <a:cxn ang="0">
                  <a:pos x="117" y="25"/>
                </a:cxn>
                <a:cxn ang="0">
                  <a:pos x="85" y="73"/>
                </a:cxn>
                <a:cxn ang="0">
                  <a:pos x="69" y="169"/>
                </a:cxn>
                <a:cxn ang="0">
                  <a:pos x="47" y="281"/>
                </a:cxn>
              </a:cxnLst>
              <a:rect l="txL" t="txT" r="txR" b="txB"/>
              <a:pathLst>
                <a:path w="297" h="2038">
                  <a:moveTo>
                    <a:pt x="47" y="281"/>
                  </a:moveTo>
                  <a:lnTo>
                    <a:pt x="65" y="288"/>
                  </a:lnTo>
                  <a:lnTo>
                    <a:pt x="0" y="333"/>
                  </a:lnTo>
                  <a:lnTo>
                    <a:pt x="60" y="377"/>
                  </a:lnTo>
                  <a:lnTo>
                    <a:pt x="5" y="427"/>
                  </a:lnTo>
                  <a:lnTo>
                    <a:pt x="60" y="473"/>
                  </a:lnTo>
                  <a:lnTo>
                    <a:pt x="3" y="518"/>
                  </a:lnTo>
                  <a:lnTo>
                    <a:pt x="60" y="561"/>
                  </a:lnTo>
                  <a:lnTo>
                    <a:pt x="5" y="609"/>
                  </a:lnTo>
                  <a:lnTo>
                    <a:pt x="60" y="653"/>
                  </a:lnTo>
                  <a:lnTo>
                    <a:pt x="6" y="698"/>
                  </a:lnTo>
                  <a:lnTo>
                    <a:pt x="60" y="746"/>
                  </a:lnTo>
                  <a:lnTo>
                    <a:pt x="3" y="792"/>
                  </a:lnTo>
                  <a:lnTo>
                    <a:pt x="58" y="837"/>
                  </a:lnTo>
                  <a:lnTo>
                    <a:pt x="6" y="883"/>
                  </a:lnTo>
                  <a:lnTo>
                    <a:pt x="60" y="931"/>
                  </a:lnTo>
                  <a:lnTo>
                    <a:pt x="0" y="979"/>
                  </a:lnTo>
                  <a:lnTo>
                    <a:pt x="63" y="1025"/>
                  </a:lnTo>
                  <a:lnTo>
                    <a:pt x="3" y="1075"/>
                  </a:lnTo>
                  <a:lnTo>
                    <a:pt x="58" y="1121"/>
                  </a:lnTo>
                  <a:lnTo>
                    <a:pt x="6" y="1165"/>
                  </a:lnTo>
                  <a:lnTo>
                    <a:pt x="60" y="1214"/>
                  </a:lnTo>
                  <a:lnTo>
                    <a:pt x="6" y="1254"/>
                  </a:lnTo>
                  <a:lnTo>
                    <a:pt x="56" y="1303"/>
                  </a:lnTo>
                  <a:lnTo>
                    <a:pt x="0" y="1349"/>
                  </a:lnTo>
                  <a:lnTo>
                    <a:pt x="72" y="1397"/>
                  </a:lnTo>
                  <a:lnTo>
                    <a:pt x="6" y="1446"/>
                  </a:lnTo>
                  <a:lnTo>
                    <a:pt x="70" y="1490"/>
                  </a:lnTo>
                  <a:lnTo>
                    <a:pt x="8" y="1536"/>
                  </a:lnTo>
                  <a:lnTo>
                    <a:pt x="60" y="1581"/>
                  </a:lnTo>
                  <a:lnTo>
                    <a:pt x="6" y="1619"/>
                  </a:lnTo>
                  <a:lnTo>
                    <a:pt x="58" y="1670"/>
                  </a:lnTo>
                  <a:lnTo>
                    <a:pt x="3" y="1714"/>
                  </a:lnTo>
                  <a:lnTo>
                    <a:pt x="63" y="1769"/>
                  </a:lnTo>
                  <a:lnTo>
                    <a:pt x="3" y="1819"/>
                  </a:lnTo>
                  <a:lnTo>
                    <a:pt x="46" y="1860"/>
                  </a:lnTo>
                  <a:lnTo>
                    <a:pt x="13" y="1901"/>
                  </a:lnTo>
                  <a:lnTo>
                    <a:pt x="44" y="1929"/>
                  </a:lnTo>
                  <a:lnTo>
                    <a:pt x="27" y="1958"/>
                  </a:lnTo>
                  <a:lnTo>
                    <a:pt x="44" y="1987"/>
                  </a:lnTo>
                  <a:lnTo>
                    <a:pt x="34" y="2011"/>
                  </a:lnTo>
                  <a:lnTo>
                    <a:pt x="56" y="2035"/>
                  </a:lnTo>
                  <a:lnTo>
                    <a:pt x="238" y="2038"/>
                  </a:lnTo>
                  <a:lnTo>
                    <a:pt x="256" y="1990"/>
                  </a:lnTo>
                  <a:lnTo>
                    <a:pt x="245" y="1953"/>
                  </a:lnTo>
                  <a:lnTo>
                    <a:pt x="249" y="1914"/>
                  </a:lnTo>
                  <a:lnTo>
                    <a:pt x="255" y="1886"/>
                  </a:lnTo>
                  <a:lnTo>
                    <a:pt x="249" y="1830"/>
                  </a:lnTo>
                  <a:lnTo>
                    <a:pt x="269" y="1788"/>
                  </a:lnTo>
                  <a:lnTo>
                    <a:pt x="248" y="1737"/>
                  </a:lnTo>
                  <a:lnTo>
                    <a:pt x="259" y="1693"/>
                  </a:lnTo>
                  <a:lnTo>
                    <a:pt x="297" y="239"/>
                  </a:lnTo>
                  <a:lnTo>
                    <a:pt x="271" y="165"/>
                  </a:lnTo>
                  <a:lnTo>
                    <a:pt x="262" y="98"/>
                  </a:lnTo>
                  <a:lnTo>
                    <a:pt x="224" y="31"/>
                  </a:lnTo>
                  <a:lnTo>
                    <a:pt x="170" y="0"/>
                  </a:lnTo>
                  <a:lnTo>
                    <a:pt x="117" y="25"/>
                  </a:lnTo>
                  <a:lnTo>
                    <a:pt x="85" y="73"/>
                  </a:lnTo>
                  <a:lnTo>
                    <a:pt x="69" y="169"/>
                  </a:lnTo>
                  <a:lnTo>
                    <a:pt x="47" y="281"/>
                  </a:lnTo>
                  <a:close/>
                </a:path>
              </a:pathLst>
            </a:custGeom>
            <a:gradFill rotWithShape="0">
              <a:gsLst>
                <a:gs pos="0">
                  <a:srgbClr val="C0C0C0"/>
                </a:gs>
                <a:gs pos="100000">
                  <a:srgbClr val="595959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37" name="Freeform 71"/>
            <p:cNvSpPr/>
            <p:nvPr/>
          </p:nvSpPr>
          <p:spPr>
            <a:xfrm>
              <a:off x="3639" y="2718"/>
              <a:ext cx="330" cy="86"/>
            </a:xfrm>
            <a:custGeom>
              <a:avLst/>
              <a:gdLst>
                <a:gd name="txL" fmla="*/ 0 w 330"/>
                <a:gd name="txT" fmla="*/ 0 h 86"/>
                <a:gd name="txR" fmla="*/ 330 w 330"/>
                <a:gd name="txB" fmla="*/ 86 h 86"/>
              </a:gdLst>
              <a:ahLst/>
              <a:cxnLst>
                <a:cxn ang="0">
                  <a:pos x="65" y="0"/>
                </a:cxn>
                <a:cxn ang="0">
                  <a:pos x="273" y="12"/>
                </a:cxn>
                <a:cxn ang="0">
                  <a:pos x="330" y="50"/>
                </a:cxn>
                <a:cxn ang="0">
                  <a:pos x="290" y="86"/>
                </a:cxn>
                <a:cxn ang="0">
                  <a:pos x="68" y="77"/>
                </a:cxn>
                <a:cxn ang="0">
                  <a:pos x="0" y="40"/>
                </a:cxn>
                <a:cxn ang="0">
                  <a:pos x="65" y="0"/>
                </a:cxn>
              </a:cxnLst>
              <a:rect l="txL" t="txT" r="txR" b="txB"/>
              <a:pathLst>
                <a:path w="330" h="86">
                  <a:moveTo>
                    <a:pt x="65" y="0"/>
                  </a:moveTo>
                  <a:lnTo>
                    <a:pt x="273" y="12"/>
                  </a:lnTo>
                  <a:lnTo>
                    <a:pt x="330" y="50"/>
                  </a:lnTo>
                  <a:lnTo>
                    <a:pt x="290" y="86"/>
                  </a:lnTo>
                  <a:lnTo>
                    <a:pt x="68" y="77"/>
                  </a:lnTo>
                  <a:lnTo>
                    <a:pt x="0" y="40"/>
                  </a:lnTo>
                  <a:lnTo>
                    <a:pt x="65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50000">
                  <a:srgbClr val="B2B2B2"/>
                </a:gs>
                <a:gs pos="100000">
                  <a:srgbClr val="525252"/>
                </a:gs>
              </a:gsLst>
              <a:lin ang="5400000" scaled="1"/>
              <a:tileRect/>
            </a:gradFill>
            <a:ln w="12700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38" name="Freeform 72"/>
            <p:cNvSpPr/>
            <p:nvPr/>
          </p:nvSpPr>
          <p:spPr>
            <a:xfrm>
              <a:off x="3625" y="2627"/>
              <a:ext cx="360" cy="113"/>
            </a:xfrm>
            <a:custGeom>
              <a:avLst/>
              <a:gdLst>
                <a:gd name="txL" fmla="*/ 0 w 322"/>
                <a:gd name="txT" fmla="*/ 0 h 113"/>
                <a:gd name="txR" fmla="*/ 322 w 322"/>
                <a:gd name="txB" fmla="*/ 113 h 113"/>
              </a:gdLst>
              <a:ahLst/>
              <a:cxnLst>
                <a:cxn ang="0">
                  <a:pos x="89" y="0"/>
                </a:cxn>
                <a:cxn ang="0">
                  <a:pos x="306" y="24"/>
                </a:cxn>
                <a:cxn ang="0">
                  <a:pos x="402" y="68"/>
                </a:cxn>
                <a:cxn ang="0">
                  <a:pos x="301" y="113"/>
                </a:cxn>
                <a:cxn ang="0">
                  <a:pos x="100" y="96"/>
                </a:cxn>
                <a:cxn ang="0">
                  <a:pos x="0" y="44"/>
                </a:cxn>
                <a:cxn ang="0">
                  <a:pos x="89" y="0"/>
                </a:cxn>
              </a:cxnLst>
              <a:rect l="txL" t="txT" r="txR" b="txB"/>
              <a:pathLst>
                <a:path w="322" h="113">
                  <a:moveTo>
                    <a:pt x="72" y="0"/>
                  </a:moveTo>
                  <a:lnTo>
                    <a:pt x="245" y="24"/>
                  </a:lnTo>
                  <a:lnTo>
                    <a:pt x="322" y="68"/>
                  </a:lnTo>
                  <a:lnTo>
                    <a:pt x="241" y="113"/>
                  </a:lnTo>
                  <a:lnTo>
                    <a:pt x="80" y="96"/>
                  </a:lnTo>
                  <a:lnTo>
                    <a:pt x="0" y="44"/>
                  </a:lnTo>
                  <a:lnTo>
                    <a:pt x="72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50000">
                  <a:srgbClr val="B2B2B2"/>
                </a:gs>
                <a:gs pos="100000">
                  <a:srgbClr val="525252"/>
                </a:gs>
              </a:gsLst>
              <a:lin ang="5400000" scaled="1"/>
              <a:tileRect/>
            </a:gradFill>
            <a:ln w="12700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39" name="Freeform 73"/>
            <p:cNvSpPr/>
            <p:nvPr/>
          </p:nvSpPr>
          <p:spPr>
            <a:xfrm>
              <a:off x="3622" y="2531"/>
              <a:ext cx="359" cy="115"/>
            </a:xfrm>
            <a:custGeom>
              <a:avLst/>
              <a:gdLst>
                <a:gd name="txL" fmla="*/ 0 w 322"/>
                <a:gd name="txT" fmla="*/ 0 h 115"/>
                <a:gd name="txR" fmla="*/ 322 w 322"/>
                <a:gd name="txB" fmla="*/ 115 h 115"/>
              </a:gdLst>
              <a:ahLst/>
              <a:cxnLst>
                <a:cxn ang="0">
                  <a:pos x="89" y="0"/>
                </a:cxn>
                <a:cxn ang="0">
                  <a:pos x="300" y="14"/>
                </a:cxn>
                <a:cxn ang="0">
                  <a:pos x="400" y="68"/>
                </a:cxn>
                <a:cxn ang="0">
                  <a:pos x="312" y="115"/>
                </a:cxn>
                <a:cxn ang="0">
                  <a:pos x="99" y="96"/>
                </a:cxn>
                <a:cxn ang="0">
                  <a:pos x="0" y="44"/>
                </a:cxn>
                <a:cxn ang="0">
                  <a:pos x="89" y="0"/>
                </a:cxn>
              </a:cxnLst>
              <a:rect l="txL" t="txT" r="txR" b="txB"/>
              <a:pathLst>
                <a:path w="322" h="115">
                  <a:moveTo>
                    <a:pt x="72" y="0"/>
                  </a:moveTo>
                  <a:lnTo>
                    <a:pt x="241" y="14"/>
                  </a:lnTo>
                  <a:lnTo>
                    <a:pt x="322" y="68"/>
                  </a:lnTo>
                  <a:lnTo>
                    <a:pt x="251" y="115"/>
                  </a:lnTo>
                  <a:lnTo>
                    <a:pt x="80" y="96"/>
                  </a:lnTo>
                  <a:lnTo>
                    <a:pt x="0" y="44"/>
                  </a:lnTo>
                  <a:lnTo>
                    <a:pt x="72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50000">
                  <a:srgbClr val="B2B2B2"/>
                </a:gs>
                <a:gs pos="100000">
                  <a:srgbClr val="525252"/>
                </a:gs>
              </a:gsLst>
              <a:lin ang="5400000" scaled="1"/>
              <a:tileRect/>
            </a:gradFill>
            <a:ln w="12700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40" name="Freeform 74"/>
            <p:cNvSpPr/>
            <p:nvPr/>
          </p:nvSpPr>
          <p:spPr>
            <a:xfrm>
              <a:off x="3626" y="2164"/>
              <a:ext cx="362" cy="105"/>
            </a:xfrm>
            <a:custGeom>
              <a:avLst/>
              <a:gdLst>
                <a:gd name="txL" fmla="*/ 0 w 362"/>
                <a:gd name="txT" fmla="*/ 0 h 105"/>
                <a:gd name="txR" fmla="*/ 362 w 362"/>
                <a:gd name="txB" fmla="*/ 105 h 105"/>
              </a:gdLst>
              <a:ahLst/>
              <a:cxnLst>
                <a:cxn ang="0">
                  <a:pos x="82" y="0"/>
                </a:cxn>
                <a:cxn ang="0">
                  <a:pos x="268" y="16"/>
                </a:cxn>
                <a:cxn ang="0">
                  <a:pos x="362" y="68"/>
                </a:cxn>
                <a:cxn ang="0">
                  <a:pos x="272" y="105"/>
                </a:cxn>
                <a:cxn ang="0">
                  <a:pos x="99" y="89"/>
                </a:cxn>
                <a:cxn ang="0">
                  <a:pos x="0" y="38"/>
                </a:cxn>
                <a:cxn ang="0">
                  <a:pos x="82" y="0"/>
                </a:cxn>
              </a:cxnLst>
              <a:rect l="txL" t="txT" r="txR" b="txB"/>
              <a:pathLst>
                <a:path w="362" h="105">
                  <a:moveTo>
                    <a:pt x="82" y="0"/>
                  </a:moveTo>
                  <a:lnTo>
                    <a:pt x="268" y="16"/>
                  </a:lnTo>
                  <a:lnTo>
                    <a:pt x="362" y="68"/>
                  </a:lnTo>
                  <a:lnTo>
                    <a:pt x="272" y="105"/>
                  </a:lnTo>
                  <a:lnTo>
                    <a:pt x="99" y="89"/>
                  </a:lnTo>
                  <a:lnTo>
                    <a:pt x="0" y="38"/>
                  </a:lnTo>
                  <a:lnTo>
                    <a:pt x="82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50000">
                  <a:srgbClr val="B2B2B2"/>
                </a:gs>
                <a:gs pos="100000">
                  <a:srgbClr val="525252"/>
                </a:gs>
              </a:gsLst>
              <a:lin ang="5400000" scaled="1"/>
              <a:tileRect/>
            </a:gradFill>
            <a:ln w="12700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41" name="Freeform 75"/>
            <p:cNvSpPr/>
            <p:nvPr/>
          </p:nvSpPr>
          <p:spPr>
            <a:xfrm>
              <a:off x="3628" y="2255"/>
              <a:ext cx="360" cy="113"/>
            </a:xfrm>
            <a:custGeom>
              <a:avLst/>
              <a:gdLst>
                <a:gd name="txL" fmla="*/ 0 w 322"/>
                <a:gd name="txT" fmla="*/ 0 h 113"/>
                <a:gd name="txR" fmla="*/ 322 w 322"/>
                <a:gd name="txB" fmla="*/ 113 h 113"/>
              </a:gdLst>
              <a:ahLst/>
              <a:cxnLst>
                <a:cxn ang="0">
                  <a:pos x="89" y="0"/>
                </a:cxn>
                <a:cxn ang="0">
                  <a:pos x="303" y="16"/>
                </a:cxn>
                <a:cxn ang="0">
                  <a:pos x="402" y="68"/>
                </a:cxn>
                <a:cxn ang="0">
                  <a:pos x="301" y="113"/>
                </a:cxn>
                <a:cxn ang="0">
                  <a:pos x="100" y="96"/>
                </a:cxn>
                <a:cxn ang="0">
                  <a:pos x="0" y="44"/>
                </a:cxn>
                <a:cxn ang="0">
                  <a:pos x="89" y="0"/>
                </a:cxn>
              </a:cxnLst>
              <a:rect l="txL" t="txT" r="txR" b="txB"/>
              <a:pathLst>
                <a:path w="322" h="113">
                  <a:moveTo>
                    <a:pt x="72" y="0"/>
                  </a:moveTo>
                  <a:lnTo>
                    <a:pt x="242" y="16"/>
                  </a:lnTo>
                  <a:lnTo>
                    <a:pt x="322" y="68"/>
                  </a:lnTo>
                  <a:lnTo>
                    <a:pt x="241" y="113"/>
                  </a:lnTo>
                  <a:lnTo>
                    <a:pt x="80" y="96"/>
                  </a:lnTo>
                  <a:lnTo>
                    <a:pt x="0" y="44"/>
                  </a:lnTo>
                  <a:lnTo>
                    <a:pt x="72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50000">
                  <a:srgbClr val="B2B2B2"/>
                </a:gs>
                <a:gs pos="100000">
                  <a:srgbClr val="525252"/>
                </a:gs>
              </a:gsLst>
              <a:lin ang="5400000" scaled="1"/>
              <a:tileRect/>
            </a:gradFill>
            <a:ln w="12700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42" name="Freeform 76"/>
            <p:cNvSpPr/>
            <p:nvPr/>
          </p:nvSpPr>
          <p:spPr>
            <a:xfrm>
              <a:off x="3633" y="2342"/>
              <a:ext cx="359" cy="113"/>
            </a:xfrm>
            <a:custGeom>
              <a:avLst/>
              <a:gdLst>
                <a:gd name="txL" fmla="*/ 0 w 322"/>
                <a:gd name="txT" fmla="*/ 0 h 113"/>
                <a:gd name="txR" fmla="*/ 322 w 322"/>
                <a:gd name="txB" fmla="*/ 113 h 113"/>
              </a:gdLst>
              <a:ahLst/>
              <a:cxnLst>
                <a:cxn ang="0">
                  <a:pos x="89" y="0"/>
                </a:cxn>
                <a:cxn ang="0">
                  <a:pos x="304" y="24"/>
                </a:cxn>
                <a:cxn ang="0">
                  <a:pos x="400" y="68"/>
                </a:cxn>
                <a:cxn ang="0">
                  <a:pos x="300" y="113"/>
                </a:cxn>
                <a:cxn ang="0">
                  <a:pos x="99" y="96"/>
                </a:cxn>
                <a:cxn ang="0">
                  <a:pos x="0" y="44"/>
                </a:cxn>
                <a:cxn ang="0">
                  <a:pos x="89" y="0"/>
                </a:cxn>
              </a:cxnLst>
              <a:rect l="txL" t="txT" r="txR" b="txB"/>
              <a:pathLst>
                <a:path w="322" h="113">
                  <a:moveTo>
                    <a:pt x="72" y="0"/>
                  </a:moveTo>
                  <a:lnTo>
                    <a:pt x="245" y="24"/>
                  </a:lnTo>
                  <a:lnTo>
                    <a:pt x="322" y="68"/>
                  </a:lnTo>
                  <a:lnTo>
                    <a:pt x="241" y="113"/>
                  </a:lnTo>
                  <a:lnTo>
                    <a:pt x="80" y="96"/>
                  </a:lnTo>
                  <a:lnTo>
                    <a:pt x="0" y="44"/>
                  </a:lnTo>
                  <a:lnTo>
                    <a:pt x="72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50000">
                  <a:srgbClr val="B2B2B2"/>
                </a:gs>
                <a:gs pos="100000">
                  <a:srgbClr val="525252"/>
                </a:gs>
              </a:gsLst>
              <a:lin ang="5400000" scaled="1"/>
              <a:tileRect/>
            </a:gradFill>
            <a:ln w="12700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43" name="Freeform 77"/>
            <p:cNvSpPr/>
            <p:nvPr/>
          </p:nvSpPr>
          <p:spPr>
            <a:xfrm>
              <a:off x="3633" y="2433"/>
              <a:ext cx="359" cy="113"/>
            </a:xfrm>
            <a:custGeom>
              <a:avLst/>
              <a:gdLst>
                <a:gd name="txL" fmla="*/ 0 w 322"/>
                <a:gd name="txT" fmla="*/ 0 h 113"/>
                <a:gd name="txR" fmla="*/ 322 w 322"/>
                <a:gd name="txB" fmla="*/ 113 h 113"/>
              </a:gdLst>
              <a:ahLst/>
              <a:cxnLst>
                <a:cxn ang="0">
                  <a:pos x="89" y="0"/>
                </a:cxn>
                <a:cxn ang="0">
                  <a:pos x="304" y="24"/>
                </a:cxn>
                <a:cxn ang="0">
                  <a:pos x="400" y="68"/>
                </a:cxn>
                <a:cxn ang="0">
                  <a:pos x="300" y="113"/>
                </a:cxn>
                <a:cxn ang="0">
                  <a:pos x="99" y="96"/>
                </a:cxn>
                <a:cxn ang="0">
                  <a:pos x="0" y="44"/>
                </a:cxn>
                <a:cxn ang="0">
                  <a:pos x="89" y="0"/>
                </a:cxn>
              </a:cxnLst>
              <a:rect l="txL" t="txT" r="txR" b="txB"/>
              <a:pathLst>
                <a:path w="322" h="113">
                  <a:moveTo>
                    <a:pt x="72" y="0"/>
                  </a:moveTo>
                  <a:lnTo>
                    <a:pt x="245" y="24"/>
                  </a:lnTo>
                  <a:lnTo>
                    <a:pt x="322" y="68"/>
                  </a:lnTo>
                  <a:lnTo>
                    <a:pt x="241" y="113"/>
                  </a:lnTo>
                  <a:lnTo>
                    <a:pt x="80" y="96"/>
                  </a:lnTo>
                  <a:lnTo>
                    <a:pt x="0" y="44"/>
                  </a:lnTo>
                  <a:lnTo>
                    <a:pt x="72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50000">
                  <a:srgbClr val="B2B2B2"/>
                </a:gs>
                <a:gs pos="100000">
                  <a:srgbClr val="525252"/>
                </a:gs>
              </a:gsLst>
              <a:lin ang="5400000" scaled="1"/>
              <a:tileRect/>
            </a:gradFill>
            <a:ln w="12700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44" name="Freeform 78"/>
            <p:cNvSpPr/>
            <p:nvPr/>
          </p:nvSpPr>
          <p:spPr>
            <a:xfrm>
              <a:off x="3629" y="2064"/>
              <a:ext cx="361" cy="110"/>
            </a:xfrm>
            <a:custGeom>
              <a:avLst/>
              <a:gdLst>
                <a:gd name="txL" fmla="*/ 0 w 361"/>
                <a:gd name="txT" fmla="*/ 0 h 110"/>
                <a:gd name="txR" fmla="*/ 361 w 361"/>
                <a:gd name="txB" fmla="*/ 110 h 110"/>
              </a:gdLst>
              <a:ahLst/>
              <a:cxnLst>
                <a:cxn ang="0">
                  <a:pos x="90" y="0"/>
                </a:cxn>
                <a:cxn ang="0">
                  <a:pos x="275" y="20"/>
                </a:cxn>
                <a:cxn ang="0">
                  <a:pos x="361" y="64"/>
                </a:cxn>
                <a:cxn ang="0">
                  <a:pos x="265" y="110"/>
                </a:cxn>
                <a:cxn ang="0">
                  <a:pos x="93" y="99"/>
                </a:cxn>
                <a:cxn ang="0">
                  <a:pos x="0" y="51"/>
                </a:cxn>
                <a:cxn ang="0">
                  <a:pos x="90" y="0"/>
                </a:cxn>
              </a:cxnLst>
              <a:rect l="txL" t="txT" r="txR" b="txB"/>
              <a:pathLst>
                <a:path w="361" h="110">
                  <a:moveTo>
                    <a:pt x="90" y="0"/>
                  </a:moveTo>
                  <a:lnTo>
                    <a:pt x="275" y="20"/>
                  </a:lnTo>
                  <a:lnTo>
                    <a:pt x="361" y="64"/>
                  </a:lnTo>
                  <a:lnTo>
                    <a:pt x="265" y="110"/>
                  </a:lnTo>
                  <a:lnTo>
                    <a:pt x="93" y="99"/>
                  </a:lnTo>
                  <a:lnTo>
                    <a:pt x="0" y="51"/>
                  </a:lnTo>
                  <a:lnTo>
                    <a:pt x="90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50000">
                  <a:srgbClr val="B2B2B2"/>
                </a:gs>
                <a:gs pos="100000">
                  <a:srgbClr val="525252"/>
                </a:gs>
              </a:gsLst>
              <a:lin ang="5400000" scaled="1"/>
              <a:tileRect/>
            </a:gradFill>
            <a:ln w="12700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45" name="Freeform 79"/>
            <p:cNvSpPr/>
            <p:nvPr/>
          </p:nvSpPr>
          <p:spPr>
            <a:xfrm>
              <a:off x="3626" y="1789"/>
              <a:ext cx="360" cy="115"/>
            </a:xfrm>
            <a:custGeom>
              <a:avLst/>
              <a:gdLst>
                <a:gd name="txL" fmla="*/ 0 w 322"/>
                <a:gd name="txT" fmla="*/ 0 h 115"/>
                <a:gd name="txR" fmla="*/ 322 w 322"/>
                <a:gd name="txB" fmla="*/ 115 h 115"/>
              </a:gdLst>
              <a:ahLst/>
              <a:cxnLst>
                <a:cxn ang="0">
                  <a:pos x="93" y="0"/>
                </a:cxn>
                <a:cxn ang="0">
                  <a:pos x="309" y="17"/>
                </a:cxn>
                <a:cxn ang="0">
                  <a:pos x="402" y="70"/>
                </a:cxn>
                <a:cxn ang="0">
                  <a:pos x="301" y="115"/>
                </a:cxn>
                <a:cxn ang="0">
                  <a:pos x="100" y="98"/>
                </a:cxn>
                <a:cxn ang="0">
                  <a:pos x="0" y="36"/>
                </a:cxn>
                <a:cxn ang="0">
                  <a:pos x="93" y="0"/>
                </a:cxn>
              </a:cxnLst>
              <a:rect l="txL" t="txT" r="txR" b="txB"/>
              <a:pathLst>
                <a:path w="322" h="115">
                  <a:moveTo>
                    <a:pt x="74" y="0"/>
                  </a:moveTo>
                  <a:lnTo>
                    <a:pt x="247" y="17"/>
                  </a:lnTo>
                  <a:lnTo>
                    <a:pt x="322" y="70"/>
                  </a:lnTo>
                  <a:lnTo>
                    <a:pt x="241" y="115"/>
                  </a:lnTo>
                  <a:lnTo>
                    <a:pt x="80" y="98"/>
                  </a:lnTo>
                  <a:lnTo>
                    <a:pt x="0" y="36"/>
                  </a:lnTo>
                  <a:lnTo>
                    <a:pt x="74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50000">
                  <a:srgbClr val="B2B2B2"/>
                </a:gs>
                <a:gs pos="100000">
                  <a:srgbClr val="525252"/>
                </a:gs>
              </a:gsLst>
              <a:lin ang="5400000" scaled="1"/>
              <a:tileRect/>
            </a:gradFill>
            <a:ln w="12700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46" name="Freeform 80"/>
            <p:cNvSpPr/>
            <p:nvPr/>
          </p:nvSpPr>
          <p:spPr>
            <a:xfrm>
              <a:off x="3626" y="1882"/>
              <a:ext cx="360" cy="113"/>
            </a:xfrm>
            <a:custGeom>
              <a:avLst/>
              <a:gdLst>
                <a:gd name="txL" fmla="*/ 0 w 322"/>
                <a:gd name="txT" fmla="*/ 0 h 113"/>
                <a:gd name="txR" fmla="*/ 322 w 322"/>
                <a:gd name="txB" fmla="*/ 113 h 113"/>
              </a:gdLst>
              <a:ahLst/>
              <a:cxnLst>
                <a:cxn ang="0">
                  <a:pos x="89" y="0"/>
                </a:cxn>
                <a:cxn ang="0">
                  <a:pos x="306" y="24"/>
                </a:cxn>
                <a:cxn ang="0">
                  <a:pos x="402" y="68"/>
                </a:cxn>
                <a:cxn ang="0">
                  <a:pos x="301" y="113"/>
                </a:cxn>
                <a:cxn ang="0">
                  <a:pos x="100" y="96"/>
                </a:cxn>
                <a:cxn ang="0">
                  <a:pos x="0" y="44"/>
                </a:cxn>
                <a:cxn ang="0">
                  <a:pos x="89" y="0"/>
                </a:cxn>
              </a:cxnLst>
              <a:rect l="txL" t="txT" r="txR" b="txB"/>
              <a:pathLst>
                <a:path w="322" h="113">
                  <a:moveTo>
                    <a:pt x="72" y="0"/>
                  </a:moveTo>
                  <a:lnTo>
                    <a:pt x="245" y="24"/>
                  </a:lnTo>
                  <a:lnTo>
                    <a:pt x="322" y="68"/>
                  </a:lnTo>
                  <a:lnTo>
                    <a:pt x="241" y="113"/>
                  </a:lnTo>
                  <a:lnTo>
                    <a:pt x="80" y="96"/>
                  </a:lnTo>
                  <a:lnTo>
                    <a:pt x="0" y="44"/>
                  </a:lnTo>
                  <a:lnTo>
                    <a:pt x="72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50000">
                  <a:srgbClr val="B2B2B2"/>
                </a:gs>
                <a:gs pos="100000">
                  <a:srgbClr val="525252"/>
                </a:gs>
              </a:gsLst>
              <a:lin ang="5400000" scaled="1"/>
              <a:tileRect/>
            </a:gradFill>
            <a:ln w="12700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47" name="Freeform 81"/>
            <p:cNvSpPr/>
            <p:nvPr/>
          </p:nvSpPr>
          <p:spPr>
            <a:xfrm>
              <a:off x="3626" y="1969"/>
              <a:ext cx="364" cy="113"/>
            </a:xfrm>
            <a:custGeom>
              <a:avLst/>
              <a:gdLst>
                <a:gd name="txL" fmla="*/ 0 w 326"/>
                <a:gd name="txT" fmla="*/ 0 h 113"/>
                <a:gd name="txR" fmla="*/ 326 w 326"/>
                <a:gd name="txB" fmla="*/ 113 h 113"/>
              </a:gdLst>
              <a:ahLst/>
              <a:cxnLst>
                <a:cxn ang="0">
                  <a:pos x="95" y="0"/>
                </a:cxn>
                <a:cxn ang="0">
                  <a:pos x="310" y="24"/>
                </a:cxn>
                <a:cxn ang="0">
                  <a:pos x="406" y="68"/>
                </a:cxn>
                <a:cxn ang="0">
                  <a:pos x="306" y="113"/>
                </a:cxn>
                <a:cxn ang="0">
                  <a:pos x="105" y="96"/>
                </a:cxn>
                <a:cxn ang="0">
                  <a:pos x="0" y="48"/>
                </a:cxn>
                <a:cxn ang="0">
                  <a:pos x="95" y="0"/>
                </a:cxn>
              </a:cxnLst>
              <a:rect l="txL" t="txT" r="txR" b="txB"/>
              <a:pathLst>
                <a:path w="326" h="113">
                  <a:moveTo>
                    <a:pt x="76" y="0"/>
                  </a:moveTo>
                  <a:lnTo>
                    <a:pt x="249" y="24"/>
                  </a:lnTo>
                  <a:lnTo>
                    <a:pt x="326" y="68"/>
                  </a:lnTo>
                  <a:lnTo>
                    <a:pt x="245" y="113"/>
                  </a:lnTo>
                  <a:lnTo>
                    <a:pt x="84" y="96"/>
                  </a:lnTo>
                  <a:lnTo>
                    <a:pt x="0" y="48"/>
                  </a:lnTo>
                  <a:lnTo>
                    <a:pt x="76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50000">
                  <a:srgbClr val="B2B2B2"/>
                </a:gs>
                <a:gs pos="100000">
                  <a:srgbClr val="525252"/>
                </a:gs>
              </a:gsLst>
              <a:lin ang="5400000" scaled="1"/>
              <a:tileRect/>
            </a:gradFill>
            <a:ln w="127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48" name="Freeform 82"/>
            <p:cNvSpPr/>
            <p:nvPr/>
          </p:nvSpPr>
          <p:spPr>
            <a:xfrm>
              <a:off x="3631" y="1420"/>
              <a:ext cx="359" cy="113"/>
            </a:xfrm>
            <a:custGeom>
              <a:avLst/>
              <a:gdLst>
                <a:gd name="txL" fmla="*/ 0 w 322"/>
                <a:gd name="txT" fmla="*/ 0 h 113"/>
                <a:gd name="txR" fmla="*/ 322 w 322"/>
                <a:gd name="txB" fmla="*/ 113 h 113"/>
              </a:gdLst>
              <a:ahLst/>
              <a:cxnLst>
                <a:cxn ang="0">
                  <a:pos x="89" y="0"/>
                </a:cxn>
                <a:cxn ang="0">
                  <a:pos x="299" y="19"/>
                </a:cxn>
                <a:cxn ang="0">
                  <a:pos x="400" y="68"/>
                </a:cxn>
                <a:cxn ang="0">
                  <a:pos x="300" y="113"/>
                </a:cxn>
                <a:cxn ang="0">
                  <a:pos x="99" y="96"/>
                </a:cxn>
                <a:cxn ang="0">
                  <a:pos x="0" y="44"/>
                </a:cxn>
                <a:cxn ang="0">
                  <a:pos x="89" y="0"/>
                </a:cxn>
              </a:cxnLst>
              <a:rect l="txL" t="txT" r="txR" b="txB"/>
              <a:pathLst>
                <a:path w="322" h="113">
                  <a:moveTo>
                    <a:pt x="72" y="0"/>
                  </a:moveTo>
                  <a:lnTo>
                    <a:pt x="240" y="19"/>
                  </a:lnTo>
                  <a:lnTo>
                    <a:pt x="322" y="68"/>
                  </a:lnTo>
                  <a:lnTo>
                    <a:pt x="241" y="113"/>
                  </a:lnTo>
                  <a:lnTo>
                    <a:pt x="80" y="96"/>
                  </a:lnTo>
                  <a:lnTo>
                    <a:pt x="0" y="44"/>
                  </a:lnTo>
                  <a:lnTo>
                    <a:pt x="72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50000">
                  <a:srgbClr val="B2B2B2"/>
                </a:gs>
                <a:gs pos="100000">
                  <a:srgbClr val="525252"/>
                </a:gs>
              </a:gsLst>
              <a:lin ang="5400000" scaled="1"/>
              <a:tileRect/>
            </a:gradFill>
            <a:ln w="12700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49" name="Freeform 83"/>
            <p:cNvSpPr/>
            <p:nvPr/>
          </p:nvSpPr>
          <p:spPr>
            <a:xfrm>
              <a:off x="3631" y="1511"/>
              <a:ext cx="359" cy="113"/>
            </a:xfrm>
            <a:custGeom>
              <a:avLst/>
              <a:gdLst>
                <a:gd name="txL" fmla="*/ 0 w 322"/>
                <a:gd name="txT" fmla="*/ 0 h 113"/>
                <a:gd name="txR" fmla="*/ 322 w 322"/>
                <a:gd name="txB" fmla="*/ 113 h 113"/>
              </a:gdLst>
              <a:ahLst/>
              <a:cxnLst>
                <a:cxn ang="0">
                  <a:pos x="89" y="0"/>
                </a:cxn>
                <a:cxn ang="0">
                  <a:pos x="304" y="24"/>
                </a:cxn>
                <a:cxn ang="0">
                  <a:pos x="400" y="68"/>
                </a:cxn>
                <a:cxn ang="0">
                  <a:pos x="300" y="113"/>
                </a:cxn>
                <a:cxn ang="0">
                  <a:pos x="99" y="96"/>
                </a:cxn>
                <a:cxn ang="0">
                  <a:pos x="0" y="44"/>
                </a:cxn>
                <a:cxn ang="0">
                  <a:pos x="89" y="0"/>
                </a:cxn>
              </a:cxnLst>
              <a:rect l="txL" t="txT" r="txR" b="txB"/>
              <a:pathLst>
                <a:path w="322" h="113">
                  <a:moveTo>
                    <a:pt x="72" y="0"/>
                  </a:moveTo>
                  <a:lnTo>
                    <a:pt x="245" y="24"/>
                  </a:lnTo>
                  <a:lnTo>
                    <a:pt x="322" y="68"/>
                  </a:lnTo>
                  <a:lnTo>
                    <a:pt x="241" y="113"/>
                  </a:lnTo>
                  <a:lnTo>
                    <a:pt x="80" y="96"/>
                  </a:lnTo>
                  <a:lnTo>
                    <a:pt x="0" y="44"/>
                  </a:lnTo>
                  <a:lnTo>
                    <a:pt x="72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50000">
                  <a:srgbClr val="B2B2B2"/>
                </a:gs>
                <a:gs pos="100000">
                  <a:srgbClr val="525252"/>
                </a:gs>
              </a:gsLst>
              <a:lin ang="5400000" scaled="1"/>
              <a:tileRect/>
            </a:gradFill>
            <a:ln w="12700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50" name="Freeform 84"/>
            <p:cNvSpPr/>
            <p:nvPr/>
          </p:nvSpPr>
          <p:spPr>
            <a:xfrm>
              <a:off x="3635" y="1598"/>
              <a:ext cx="360" cy="113"/>
            </a:xfrm>
            <a:custGeom>
              <a:avLst/>
              <a:gdLst>
                <a:gd name="txL" fmla="*/ 0 w 322"/>
                <a:gd name="txT" fmla="*/ 0 h 113"/>
                <a:gd name="txR" fmla="*/ 322 w 322"/>
                <a:gd name="txB" fmla="*/ 113 h 113"/>
              </a:gdLst>
              <a:ahLst/>
              <a:cxnLst>
                <a:cxn ang="0">
                  <a:pos x="89" y="0"/>
                </a:cxn>
                <a:cxn ang="0">
                  <a:pos x="306" y="24"/>
                </a:cxn>
                <a:cxn ang="0">
                  <a:pos x="402" y="68"/>
                </a:cxn>
                <a:cxn ang="0">
                  <a:pos x="301" y="113"/>
                </a:cxn>
                <a:cxn ang="0">
                  <a:pos x="100" y="96"/>
                </a:cxn>
                <a:cxn ang="0">
                  <a:pos x="0" y="44"/>
                </a:cxn>
                <a:cxn ang="0">
                  <a:pos x="89" y="0"/>
                </a:cxn>
              </a:cxnLst>
              <a:rect l="txL" t="txT" r="txR" b="txB"/>
              <a:pathLst>
                <a:path w="322" h="113">
                  <a:moveTo>
                    <a:pt x="72" y="0"/>
                  </a:moveTo>
                  <a:lnTo>
                    <a:pt x="245" y="24"/>
                  </a:lnTo>
                  <a:lnTo>
                    <a:pt x="322" y="68"/>
                  </a:lnTo>
                  <a:lnTo>
                    <a:pt x="241" y="113"/>
                  </a:lnTo>
                  <a:lnTo>
                    <a:pt x="80" y="96"/>
                  </a:lnTo>
                  <a:lnTo>
                    <a:pt x="0" y="44"/>
                  </a:lnTo>
                  <a:lnTo>
                    <a:pt x="72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50000">
                  <a:srgbClr val="B2B2B2"/>
                </a:gs>
                <a:gs pos="100000">
                  <a:srgbClr val="525252"/>
                </a:gs>
              </a:gsLst>
              <a:lin ang="5400000" scaled="1"/>
              <a:tileRect/>
            </a:gradFill>
            <a:ln w="12700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51" name="Freeform 85"/>
            <p:cNvSpPr/>
            <p:nvPr/>
          </p:nvSpPr>
          <p:spPr>
            <a:xfrm>
              <a:off x="3635" y="1689"/>
              <a:ext cx="360" cy="113"/>
            </a:xfrm>
            <a:custGeom>
              <a:avLst/>
              <a:gdLst>
                <a:gd name="txL" fmla="*/ 0 w 322"/>
                <a:gd name="txT" fmla="*/ 0 h 113"/>
                <a:gd name="txR" fmla="*/ 322 w 322"/>
                <a:gd name="txB" fmla="*/ 113 h 113"/>
              </a:gdLst>
              <a:ahLst/>
              <a:cxnLst>
                <a:cxn ang="0">
                  <a:pos x="89" y="0"/>
                </a:cxn>
                <a:cxn ang="0">
                  <a:pos x="306" y="24"/>
                </a:cxn>
                <a:cxn ang="0">
                  <a:pos x="402" y="68"/>
                </a:cxn>
                <a:cxn ang="0">
                  <a:pos x="301" y="113"/>
                </a:cxn>
                <a:cxn ang="0">
                  <a:pos x="100" y="96"/>
                </a:cxn>
                <a:cxn ang="0">
                  <a:pos x="0" y="44"/>
                </a:cxn>
                <a:cxn ang="0">
                  <a:pos x="89" y="0"/>
                </a:cxn>
              </a:cxnLst>
              <a:rect l="txL" t="txT" r="txR" b="txB"/>
              <a:pathLst>
                <a:path w="322" h="113">
                  <a:moveTo>
                    <a:pt x="72" y="0"/>
                  </a:moveTo>
                  <a:lnTo>
                    <a:pt x="245" y="24"/>
                  </a:lnTo>
                  <a:lnTo>
                    <a:pt x="322" y="68"/>
                  </a:lnTo>
                  <a:lnTo>
                    <a:pt x="241" y="113"/>
                  </a:lnTo>
                  <a:lnTo>
                    <a:pt x="80" y="96"/>
                  </a:lnTo>
                  <a:lnTo>
                    <a:pt x="0" y="44"/>
                  </a:lnTo>
                  <a:lnTo>
                    <a:pt x="72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50000">
                  <a:srgbClr val="B2B2B2"/>
                </a:gs>
                <a:gs pos="100000">
                  <a:srgbClr val="525252"/>
                </a:gs>
              </a:gsLst>
              <a:lin ang="5400000" scaled="1"/>
              <a:tileRect/>
            </a:gradFill>
            <a:ln w="12700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52" name="Freeform 86"/>
            <p:cNvSpPr/>
            <p:nvPr/>
          </p:nvSpPr>
          <p:spPr>
            <a:xfrm>
              <a:off x="3625" y="1326"/>
              <a:ext cx="360" cy="117"/>
            </a:xfrm>
            <a:custGeom>
              <a:avLst/>
              <a:gdLst>
                <a:gd name="txL" fmla="*/ 0 w 322"/>
                <a:gd name="txT" fmla="*/ 0 h 117"/>
                <a:gd name="txR" fmla="*/ 322 w 322"/>
                <a:gd name="txB" fmla="*/ 117 h 117"/>
              </a:gdLst>
              <a:ahLst/>
              <a:cxnLst>
                <a:cxn ang="0">
                  <a:pos x="89" y="0"/>
                </a:cxn>
                <a:cxn ang="0">
                  <a:pos x="306" y="24"/>
                </a:cxn>
                <a:cxn ang="0">
                  <a:pos x="402" y="68"/>
                </a:cxn>
                <a:cxn ang="0">
                  <a:pos x="304" y="117"/>
                </a:cxn>
                <a:cxn ang="0">
                  <a:pos x="100" y="96"/>
                </a:cxn>
                <a:cxn ang="0">
                  <a:pos x="0" y="44"/>
                </a:cxn>
                <a:cxn ang="0">
                  <a:pos x="89" y="0"/>
                </a:cxn>
              </a:cxnLst>
              <a:rect l="txL" t="txT" r="txR" b="txB"/>
              <a:pathLst>
                <a:path w="322" h="117">
                  <a:moveTo>
                    <a:pt x="72" y="0"/>
                  </a:moveTo>
                  <a:lnTo>
                    <a:pt x="245" y="24"/>
                  </a:lnTo>
                  <a:lnTo>
                    <a:pt x="322" y="68"/>
                  </a:lnTo>
                  <a:lnTo>
                    <a:pt x="243" y="117"/>
                  </a:lnTo>
                  <a:lnTo>
                    <a:pt x="80" y="96"/>
                  </a:lnTo>
                  <a:lnTo>
                    <a:pt x="0" y="44"/>
                  </a:lnTo>
                  <a:lnTo>
                    <a:pt x="72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50000">
                  <a:srgbClr val="B2B2B2"/>
                </a:gs>
                <a:gs pos="100000">
                  <a:srgbClr val="525252"/>
                </a:gs>
              </a:gsLst>
              <a:lin ang="5400000" scaled="1"/>
              <a:tileRect/>
            </a:gradFill>
            <a:ln w="12700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53" name="Freeform 87"/>
            <p:cNvSpPr/>
            <p:nvPr/>
          </p:nvSpPr>
          <p:spPr>
            <a:xfrm>
              <a:off x="3632" y="1239"/>
              <a:ext cx="359" cy="111"/>
            </a:xfrm>
            <a:custGeom>
              <a:avLst/>
              <a:gdLst>
                <a:gd name="txL" fmla="*/ 0 w 322"/>
                <a:gd name="txT" fmla="*/ 0 h 111"/>
                <a:gd name="txR" fmla="*/ 322 w 322"/>
                <a:gd name="txB" fmla="*/ 111 h 111"/>
              </a:gdLst>
              <a:ahLst/>
              <a:cxnLst>
                <a:cxn ang="0">
                  <a:pos x="89" y="0"/>
                </a:cxn>
                <a:cxn ang="0">
                  <a:pos x="294" y="15"/>
                </a:cxn>
                <a:cxn ang="0">
                  <a:pos x="400" y="68"/>
                </a:cxn>
                <a:cxn ang="0">
                  <a:pos x="299" y="111"/>
                </a:cxn>
                <a:cxn ang="0">
                  <a:pos x="96" y="92"/>
                </a:cxn>
                <a:cxn ang="0">
                  <a:pos x="0" y="44"/>
                </a:cxn>
                <a:cxn ang="0">
                  <a:pos x="89" y="0"/>
                </a:cxn>
              </a:cxnLst>
              <a:rect l="txL" t="txT" r="txR" b="txB"/>
              <a:pathLst>
                <a:path w="322" h="111">
                  <a:moveTo>
                    <a:pt x="72" y="0"/>
                  </a:moveTo>
                  <a:lnTo>
                    <a:pt x="237" y="15"/>
                  </a:lnTo>
                  <a:lnTo>
                    <a:pt x="322" y="68"/>
                  </a:lnTo>
                  <a:lnTo>
                    <a:pt x="240" y="111"/>
                  </a:lnTo>
                  <a:lnTo>
                    <a:pt x="77" y="92"/>
                  </a:lnTo>
                  <a:lnTo>
                    <a:pt x="0" y="44"/>
                  </a:lnTo>
                  <a:lnTo>
                    <a:pt x="72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50000">
                  <a:srgbClr val="B2B2B2"/>
                </a:gs>
                <a:gs pos="100000">
                  <a:srgbClr val="525252"/>
                </a:gs>
              </a:gsLst>
              <a:lin ang="5400000" scaled="1"/>
              <a:tileRect/>
            </a:gradFill>
            <a:ln w="12700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54" name="Freeform 88"/>
            <p:cNvSpPr/>
            <p:nvPr/>
          </p:nvSpPr>
          <p:spPr>
            <a:xfrm>
              <a:off x="3631" y="1143"/>
              <a:ext cx="359" cy="111"/>
            </a:xfrm>
            <a:custGeom>
              <a:avLst/>
              <a:gdLst>
                <a:gd name="txL" fmla="*/ 0 w 359"/>
                <a:gd name="txT" fmla="*/ 0 h 111"/>
                <a:gd name="txR" fmla="*/ 359 w 359"/>
                <a:gd name="txB" fmla="*/ 111 h 111"/>
              </a:gdLst>
              <a:ahLst/>
              <a:cxnLst>
                <a:cxn ang="0">
                  <a:pos x="80" y="0"/>
                </a:cxn>
                <a:cxn ang="0">
                  <a:pos x="273" y="24"/>
                </a:cxn>
                <a:cxn ang="0">
                  <a:pos x="359" y="68"/>
                </a:cxn>
                <a:cxn ang="0">
                  <a:pos x="263" y="111"/>
                </a:cxn>
                <a:cxn ang="0">
                  <a:pos x="81" y="100"/>
                </a:cxn>
                <a:cxn ang="0">
                  <a:pos x="0" y="44"/>
                </a:cxn>
                <a:cxn ang="0">
                  <a:pos x="80" y="0"/>
                </a:cxn>
              </a:cxnLst>
              <a:rect l="txL" t="txT" r="txR" b="txB"/>
              <a:pathLst>
                <a:path w="359" h="111">
                  <a:moveTo>
                    <a:pt x="80" y="0"/>
                  </a:moveTo>
                  <a:lnTo>
                    <a:pt x="273" y="24"/>
                  </a:lnTo>
                  <a:lnTo>
                    <a:pt x="359" y="68"/>
                  </a:lnTo>
                  <a:lnTo>
                    <a:pt x="263" y="111"/>
                  </a:lnTo>
                  <a:lnTo>
                    <a:pt x="81" y="100"/>
                  </a:lnTo>
                  <a:lnTo>
                    <a:pt x="0" y="44"/>
                  </a:lnTo>
                  <a:lnTo>
                    <a:pt x="80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50000">
                  <a:srgbClr val="B2B2B2"/>
                </a:gs>
                <a:gs pos="100000">
                  <a:srgbClr val="525252"/>
                </a:gs>
              </a:gsLst>
              <a:lin ang="5400000" scaled="1"/>
              <a:tileRect/>
            </a:gradFill>
            <a:ln w="12700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55" name="Freeform 89"/>
            <p:cNvSpPr/>
            <p:nvPr/>
          </p:nvSpPr>
          <p:spPr>
            <a:xfrm>
              <a:off x="3634" y="1079"/>
              <a:ext cx="362" cy="88"/>
            </a:xfrm>
            <a:custGeom>
              <a:avLst/>
              <a:gdLst>
                <a:gd name="txL" fmla="*/ 0 w 362"/>
                <a:gd name="txT" fmla="*/ 0 h 88"/>
                <a:gd name="txR" fmla="*/ 362 w 362"/>
                <a:gd name="txB" fmla="*/ 88 h 88"/>
              </a:gdLst>
              <a:ahLst/>
              <a:cxnLst>
                <a:cxn ang="0">
                  <a:pos x="0" y="24"/>
                </a:cxn>
                <a:cxn ang="0">
                  <a:pos x="83" y="0"/>
                </a:cxn>
                <a:cxn ang="0">
                  <a:pos x="263" y="6"/>
                </a:cxn>
                <a:cxn ang="0">
                  <a:pos x="362" y="45"/>
                </a:cxn>
                <a:cxn ang="0">
                  <a:pos x="257" y="88"/>
                </a:cxn>
                <a:cxn ang="0">
                  <a:pos x="73" y="69"/>
                </a:cxn>
                <a:cxn ang="0">
                  <a:pos x="0" y="24"/>
                </a:cxn>
              </a:cxnLst>
              <a:rect l="txL" t="txT" r="txR" b="txB"/>
              <a:pathLst>
                <a:path w="362" h="88">
                  <a:moveTo>
                    <a:pt x="0" y="24"/>
                  </a:moveTo>
                  <a:lnTo>
                    <a:pt x="83" y="0"/>
                  </a:lnTo>
                  <a:lnTo>
                    <a:pt x="263" y="6"/>
                  </a:lnTo>
                  <a:lnTo>
                    <a:pt x="362" y="45"/>
                  </a:lnTo>
                  <a:lnTo>
                    <a:pt x="257" y="88"/>
                  </a:lnTo>
                  <a:lnTo>
                    <a:pt x="73" y="69"/>
                  </a:lnTo>
                  <a:lnTo>
                    <a:pt x="0" y="24"/>
                  </a:lnTo>
                  <a:close/>
                </a:path>
              </a:pathLst>
            </a:custGeom>
            <a:gradFill rotWithShape="0">
              <a:gsLst>
                <a:gs pos="0">
                  <a:srgbClr val="595959"/>
                </a:gs>
                <a:gs pos="50000">
                  <a:srgbClr val="C0C0C0"/>
                </a:gs>
                <a:gs pos="100000">
                  <a:srgbClr val="595959"/>
                </a:gs>
              </a:gsLst>
              <a:lin ang="5400000" scaled="1"/>
              <a:tileRect/>
            </a:gradFill>
            <a:ln w="12700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15802" name="Freeform 90"/>
            <p:cNvSpPr/>
            <p:nvPr/>
          </p:nvSpPr>
          <p:spPr bwMode="auto">
            <a:xfrm>
              <a:off x="3669" y="2845"/>
              <a:ext cx="283" cy="26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24"/>
                </a:cxn>
                <a:cxn ang="0">
                  <a:pos x="254" y="26"/>
                </a:cxn>
                <a:cxn ang="0">
                  <a:pos x="240" y="0"/>
                </a:cxn>
                <a:cxn ang="0">
                  <a:pos x="19" y="0"/>
                </a:cxn>
              </a:cxnLst>
              <a:rect l="0" t="0" r="r" b="b"/>
              <a:pathLst>
                <a:path w="254" h="26">
                  <a:moveTo>
                    <a:pt x="19" y="0"/>
                  </a:moveTo>
                  <a:lnTo>
                    <a:pt x="0" y="24"/>
                  </a:lnTo>
                  <a:lnTo>
                    <a:pt x="254" y="26"/>
                  </a:lnTo>
                  <a:lnTo>
                    <a:pt x="240" y="0"/>
                  </a:lnTo>
                  <a:lnTo>
                    <a:pt x="1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46275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127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5803" name="Freeform 91"/>
            <p:cNvSpPr/>
            <p:nvPr/>
          </p:nvSpPr>
          <p:spPr bwMode="auto">
            <a:xfrm>
              <a:off x="3655" y="2795"/>
              <a:ext cx="314" cy="50"/>
            </a:xfrm>
            <a:custGeom>
              <a:avLst/>
              <a:gdLst/>
              <a:ahLst/>
              <a:cxnLst>
                <a:cxn ang="0">
                  <a:pos x="43" y="0"/>
                </a:cxn>
                <a:cxn ang="0">
                  <a:pos x="0" y="26"/>
                </a:cxn>
                <a:cxn ang="0">
                  <a:pos x="38" y="48"/>
                </a:cxn>
                <a:cxn ang="0">
                  <a:pos x="252" y="50"/>
                </a:cxn>
                <a:cxn ang="0">
                  <a:pos x="281" y="28"/>
                </a:cxn>
                <a:cxn ang="0">
                  <a:pos x="247" y="2"/>
                </a:cxn>
                <a:cxn ang="0">
                  <a:pos x="43" y="0"/>
                </a:cxn>
              </a:cxnLst>
              <a:rect l="0" t="0" r="r" b="b"/>
              <a:pathLst>
                <a:path w="281" h="50">
                  <a:moveTo>
                    <a:pt x="43" y="0"/>
                  </a:moveTo>
                  <a:lnTo>
                    <a:pt x="0" y="26"/>
                  </a:lnTo>
                  <a:lnTo>
                    <a:pt x="38" y="48"/>
                  </a:lnTo>
                  <a:lnTo>
                    <a:pt x="252" y="50"/>
                  </a:lnTo>
                  <a:lnTo>
                    <a:pt x="281" y="28"/>
                  </a:lnTo>
                  <a:lnTo>
                    <a:pt x="247" y="2"/>
                  </a:lnTo>
                  <a:lnTo>
                    <a:pt x="43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46275"/>
                    <a:invGamma/>
                  </a:schemeClr>
                </a:gs>
                <a:gs pos="50000">
                  <a:schemeClr val="bg2"/>
                </a:gs>
                <a:gs pos="100000">
                  <a:schemeClr val="bg2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127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458" name="Freeform 92"/>
            <p:cNvSpPr/>
            <p:nvPr/>
          </p:nvSpPr>
          <p:spPr>
            <a:xfrm>
              <a:off x="3891" y="854"/>
              <a:ext cx="243" cy="2021"/>
            </a:xfrm>
            <a:custGeom>
              <a:avLst/>
              <a:gdLst>
                <a:gd name="txL" fmla="*/ 0 w 243"/>
                <a:gd name="txT" fmla="*/ 0 h 2021"/>
                <a:gd name="txR" fmla="*/ 243 w 243"/>
                <a:gd name="txB" fmla="*/ 2021 h 2021"/>
              </a:gdLst>
              <a:ahLst/>
              <a:cxnLst>
                <a:cxn ang="0">
                  <a:pos x="8" y="165"/>
                </a:cxn>
                <a:cxn ang="0">
                  <a:pos x="40" y="59"/>
                </a:cxn>
                <a:cxn ang="0">
                  <a:pos x="96" y="0"/>
                </a:cxn>
                <a:cxn ang="0">
                  <a:pos x="173" y="80"/>
                </a:cxn>
                <a:cxn ang="0">
                  <a:pos x="192" y="173"/>
                </a:cxn>
                <a:cxn ang="0">
                  <a:pos x="199" y="237"/>
                </a:cxn>
                <a:cxn ang="0">
                  <a:pos x="190" y="327"/>
                </a:cxn>
                <a:cxn ang="0">
                  <a:pos x="183" y="418"/>
                </a:cxn>
                <a:cxn ang="0">
                  <a:pos x="188" y="512"/>
                </a:cxn>
                <a:cxn ang="0">
                  <a:pos x="183" y="603"/>
                </a:cxn>
                <a:cxn ang="0">
                  <a:pos x="188" y="694"/>
                </a:cxn>
                <a:cxn ang="0">
                  <a:pos x="186" y="785"/>
                </a:cxn>
                <a:cxn ang="0">
                  <a:pos x="186" y="881"/>
                </a:cxn>
                <a:cxn ang="0">
                  <a:pos x="188" y="968"/>
                </a:cxn>
                <a:cxn ang="0">
                  <a:pos x="186" y="1066"/>
                </a:cxn>
                <a:cxn ang="0">
                  <a:pos x="188" y="1157"/>
                </a:cxn>
                <a:cxn ang="0">
                  <a:pos x="193" y="1251"/>
                </a:cxn>
                <a:cxn ang="0">
                  <a:pos x="188" y="1337"/>
                </a:cxn>
                <a:cxn ang="0">
                  <a:pos x="190" y="1438"/>
                </a:cxn>
                <a:cxn ang="0">
                  <a:pos x="188" y="1527"/>
                </a:cxn>
                <a:cxn ang="0">
                  <a:pos x="193" y="1623"/>
                </a:cxn>
                <a:cxn ang="0">
                  <a:pos x="186" y="1712"/>
                </a:cxn>
                <a:cxn ang="0">
                  <a:pos x="186" y="1808"/>
                </a:cxn>
                <a:cxn ang="0">
                  <a:pos x="183" y="1892"/>
                </a:cxn>
                <a:cxn ang="0">
                  <a:pos x="186" y="1961"/>
                </a:cxn>
                <a:cxn ang="0">
                  <a:pos x="186" y="2021"/>
                </a:cxn>
                <a:cxn ang="0">
                  <a:pos x="46" y="1993"/>
                </a:cxn>
                <a:cxn ang="0">
                  <a:pos x="46" y="1945"/>
                </a:cxn>
                <a:cxn ang="0">
                  <a:pos x="8" y="1878"/>
                </a:cxn>
                <a:cxn ang="0">
                  <a:pos x="6" y="1799"/>
                </a:cxn>
                <a:cxn ang="0">
                  <a:pos x="6" y="1698"/>
                </a:cxn>
                <a:cxn ang="0">
                  <a:pos x="13" y="1602"/>
                </a:cxn>
                <a:cxn ang="0">
                  <a:pos x="8" y="1513"/>
                </a:cxn>
                <a:cxn ang="0">
                  <a:pos x="8" y="1420"/>
                </a:cxn>
                <a:cxn ang="0">
                  <a:pos x="0" y="1321"/>
                </a:cxn>
                <a:cxn ang="0">
                  <a:pos x="19" y="1235"/>
                </a:cxn>
                <a:cxn ang="0">
                  <a:pos x="11" y="1144"/>
                </a:cxn>
                <a:cxn ang="0">
                  <a:pos x="8" y="1050"/>
                </a:cxn>
                <a:cxn ang="0">
                  <a:pos x="8" y="952"/>
                </a:cxn>
                <a:cxn ang="0">
                  <a:pos x="13" y="861"/>
                </a:cxn>
                <a:cxn ang="0">
                  <a:pos x="8" y="769"/>
                </a:cxn>
                <a:cxn ang="0">
                  <a:pos x="17" y="676"/>
                </a:cxn>
                <a:cxn ang="0">
                  <a:pos x="8" y="589"/>
                </a:cxn>
                <a:cxn ang="0">
                  <a:pos x="13" y="496"/>
                </a:cxn>
                <a:cxn ang="0">
                  <a:pos x="8" y="405"/>
                </a:cxn>
                <a:cxn ang="0">
                  <a:pos x="13" y="313"/>
                </a:cxn>
                <a:cxn ang="0">
                  <a:pos x="78" y="265"/>
                </a:cxn>
              </a:cxnLst>
              <a:rect l="txL" t="txT" r="txR" b="txB"/>
              <a:pathLst>
                <a:path w="243" h="2021">
                  <a:moveTo>
                    <a:pt x="6" y="234"/>
                  </a:moveTo>
                  <a:lnTo>
                    <a:pt x="8" y="165"/>
                  </a:lnTo>
                  <a:lnTo>
                    <a:pt x="25" y="107"/>
                  </a:lnTo>
                  <a:lnTo>
                    <a:pt x="40" y="59"/>
                  </a:lnTo>
                  <a:lnTo>
                    <a:pt x="61" y="16"/>
                  </a:lnTo>
                  <a:lnTo>
                    <a:pt x="96" y="0"/>
                  </a:lnTo>
                  <a:lnTo>
                    <a:pt x="151" y="29"/>
                  </a:lnTo>
                  <a:lnTo>
                    <a:pt x="173" y="80"/>
                  </a:lnTo>
                  <a:lnTo>
                    <a:pt x="183" y="132"/>
                  </a:lnTo>
                  <a:lnTo>
                    <a:pt x="192" y="173"/>
                  </a:lnTo>
                  <a:lnTo>
                    <a:pt x="195" y="202"/>
                  </a:lnTo>
                  <a:lnTo>
                    <a:pt x="199" y="237"/>
                  </a:lnTo>
                  <a:lnTo>
                    <a:pt x="208" y="304"/>
                  </a:lnTo>
                  <a:lnTo>
                    <a:pt x="190" y="327"/>
                  </a:lnTo>
                  <a:lnTo>
                    <a:pt x="241" y="370"/>
                  </a:lnTo>
                  <a:lnTo>
                    <a:pt x="183" y="418"/>
                  </a:lnTo>
                  <a:lnTo>
                    <a:pt x="236" y="464"/>
                  </a:lnTo>
                  <a:lnTo>
                    <a:pt x="188" y="512"/>
                  </a:lnTo>
                  <a:lnTo>
                    <a:pt x="236" y="555"/>
                  </a:lnTo>
                  <a:lnTo>
                    <a:pt x="183" y="603"/>
                  </a:lnTo>
                  <a:lnTo>
                    <a:pt x="238" y="648"/>
                  </a:lnTo>
                  <a:lnTo>
                    <a:pt x="188" y="694"/>
                  </a:lnTo>
                  <a:lnTo>
                    <a:pt x="236" y="735"/>
                  </a:lnTo>
                  <a:lnTo>
                    <a:pt x="186" y="785"/>
                  </a:lnTo>
                  <a:lnTo>
                    <a:pt x="241" y="833"/>
                  </a:lnTo>
                  <a:lnTo>
                    <a:pt x="186" y="881"/>
                  </a:lnTo>
                  <a:lnTo>
                    <a:pt x="234" y="920"/>
                  </a:lnTo>
                  <a:lnTo>
                    <a:pt x="188" y="968"/>
                  </a:lnTo>
                  <a:lnTo>
                    <a:pt x="241" y="1018"/>
                  </a:lnTo>
                  <a:lnTo>
                    <a:pt x="186" y="1066"/>
                  </a:lnTo>
                  <a:lnTo>
                    <a:pt x="241" y="1109"/>
                  </a:lnTo>
                  <a:lnTo>
                    <a:pt x="188" y="1157"/>
                  </a:lnTo>
                  <a:lnTo>
                    <a:pt x="241" y="1205"/>
                  </a:lnTo>
                  <a:lnTo>
                    <a:pt x="193" y="1251"/>
                  </a:lnTo>
                  <a:lnTo>
                    <a:pt x="234" y="1294"/>
                  </a:lnTo>
                  <a:lnTo>
                    <a:pt x="188" y="1337"/>
                  </a:lnTo>
                  <a:lnTo>
                    <a:pt x="243" y="1392"/>
                  </a:lnTo>
                  <a:lnTo>
                    <a:pt x="190" y="1438"/>
                  </a:lnTo>
                  <a:lnTo>
                    <a:pt x="238" y="1479"/>
                  </a:lnTo>
                  <a:lnTo>
                    <a:pt x="188" y="1527"/>
                  </a:lnTo>
                  <a:lnTo>
                    <a:pt x="238" y="1575"/>
                  </a:lnTo>
                  <a:lnTo>
                    <a:pt x="193" y="1623"/>
                  </a:lnTo>
                  <a:lnTo>
                    <a:pt x="231" y="1666"/>
                  </a:lnTo>
                  <a:lnTo>
                    <a:pt x="186" y="1712"/>
                  </a:lnTo>
                  <a:lnTo>
                    <a:pt x="238" y="1762"/>
                  </a:lnTo>
                  <a:lnTo>
                    <a:pt x="186" y="1808"/>
                  </a:lnTo>
                  <a:lnTo>
                    <a:pt x="226" y="1848"/>
                  </a:lnTo>
                  <a:lnTo>
                    <a:pt x="183" y="1892"/>
                  </a:lnTo>
                  <a:lnTo>
                    <a:pt x="219" y="1928"/>
                  </a:lnTo>
                  <a:lnTo>
                    <a:pt x="186" y="1961"/>
                  </a:lnTo>
                  <a:lnTo>
                    <a:pt x="207" y="1997"/>
                  </a:lnTo>
                  <a:lnTo>
                    <a:pt x="186" y="2021"/>
                  </a:lnTo>
                  <a:lnTo>
                    <a:pt x="57" y="2017"/>
                  </a:lnTo>
                  <a:lnTo>
                    <a:pt x="46" y="1993"/>
                  </a:lnTo>
                  <a:lnTo>
                    <a:pt x="73" y="1969"/>
                  </a:lnTo>
                  <a:lnTo>
                    <a:pt x="46" y="1945"/>
                  </a:lnTo>
                  <a:lnTo>
                    <a:pt x="73" y="1917"/>
                  </a:lnTo>
                  <a:lnTo>
                    <a:pt x="8" y="1878"/>
                  </a:lnTo>
                  <a:lnTo>
                    <a:pt x="73" y="1845"/>
                  </a:lnTo>
                  <a:lnTo>
                    <a:pt x="6" y="1799"/>
                  </a:lnTo>
                  <a:lnTo>
                    <a:pt x="88" y="1753"/>
                  </a:lnTo>
                  <a:lnTo>
                    <a:pt x="6" y="1698"/>
                  </a:lnTo>
                  <a:lnTo>
                    <a:pt x="84" y="1653"/>
                  </a:lnTo>
                  <a:lnTo>
                    <a:pt x="13" y="1602"/>
                  </a:lnTo>
                  <a:lnTo>
                    <a:pt x="88" y="1564"/>
                  </a:lnTo>
                  <a:lnTo>
                    <a:pt x="8" y="1513"/>
                  </a:lnTo>
                  <a:lnTo>
                    <a:pt x="84" y="1470"/>
                  </a:lnTo>
                  <a:lnTo>
                    <a:pt x="8" y="1420"/>
                  </a:lnTo>
                  <a:lnTo>
                    <a:pt x="84" y="1374"/>
                  </a:lnTo>
                  <a:lnTo>
                    <a:pt x="0" y="1321"/>
                  </a:lnTo>
                  <a:lnTo>
                    <a:pt x="88" y="1283"/>
                  </a:lnTo>
                  <a:lnTo>
                    <a:pt x="19" y="1235"/>
                  </a:lnTo>
                  <a:lnTo>
                    <a:pt x="84" y="1192"/>
                  </a:lnTo>
                  <a:lnTo>
                    <a:pt x="11" y="1144"/>
                  </a:lnTo>
                  <a:lnTo>
                    <a:pt x="88" y="1096"/>
                  </a:lnTo>
                  <a:lnTo>
                    <a:pt x="8" y="1050"/>
                  </a:lnTo>
                  <a:lnTo>
                    <a:pt x="84" y="1005"/>
                  </a:lnTo>
                  <a:lnTo>
                    <a:pt x="8" y="952"/>
                  </a:lnTo>
                  <a:lnTo>
                    <a:pt x="94" y="904"/>
                  </a:lnTo>
                  <a:lnTo>
                    <a:pt x="13" y="861"/>
                  </a:lnTo>
                  <a:lnTo>
                    <a:pt x="88" y="822"/>
                  </a:lnTo>
                  <a:lnTo>
                    <a:pt x="8" y="769"/>
                  </a:lnTo>
                  <a:lnTo>
                    <a:pt x="78" y="726"/>
                  </a:lnTo>
                  <a:lnTo>
                    <a:pt x="17" y="676"/>
                  </a:lnTo>
                  <a:lnTo>
                    <a:pt x="88" y="635"/>
                  </a:lnTo>
                  <a:lnTo>
                    <a:pt x="8" y="589"/>
                  </a:lnTo>
                  <a:lnTo>
                    <a:pt x="78" y="534"/>
                  </a:lnTo>
                  <a:lnTo>
                    <a:pt x="13" y="496"/>
                  </a:lnTo>
                  <a:lnTo>
                    <a:pt x="94" y="448"/>
                  </a:lnTo>
                  <a:lnTo>
                    <a:pt x="8" y="405"/>
                  </a:lnTo>
                  <a:lnTo>
                    <a:pt x="84" y="352"/>
                  </a:lnTo>
                  <a:lnTo>
                    <a:pt x="13" y="313"/>
                  </a:lnTo>
                  <a:lnTo>
                    <a:pt x="88" y="265"/>
                  </a:lnTo>
                  <a:lnTo>
                    <a:pt x="78" y="265"/>
                  </a:lnTo>
                  <a:lnTo>
                    <a:pt x="11" y="237"/>
                  </a:lnTo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59" name="Freeform 93"/>
            <p:cNvSpPr/>
            <p:nvPr/>
          </p:nvSpPr>
          <p:spPr>
            <a:xfrm>
              <a:off x="3584" y="363"/>
              <a:ext cx="225" cy="299"/>
            </a:xfrm>
            <a:custGeom>
              <a:avLst/>
              <a:gdLst>
                <a:gd name="txL" fmla="*/ 0 w 225"/>
                <a:gd name="txT" fmla="*/ 0 h 299"/>
                <a:gd name="txR" fmla="*/ 225 w 225"/>
                <a:gd name="txB" fmla="*/ 299 h 299"/>
              </a:gdLst>
              <a:ahLst/>
              <a:cxnLst>
                <a:cxn ang="0">
                  <a:pos x="0" y="299"/>
                </a:cxn>
                <a:cxn ang="0">
                  <a:pos x="0" y="34"/>
                </a:cxn>
                <a:cxn ang="0">
                  <a:pos x="67" y="11"/>
                </a:cxn>
                <a:cxn ang="0">
                  <a:pos x="141" y="5"/>
                </a:cxn>
                <a:cxn ang="0">
                  <a:pos x="225" y="0"/>
                </a:cxn>
                <a:cxn ang="0">
                  <a:pos x="218" y="147"/>
                </a:cxn>
                <a:cxn ang="0">
                  <a:pos x="216" y="298"/>
                </a:cxn>
                <a:cxn ang="0">
                  <a:pos x="0" y="299"/>
                </a:cxn>
              </a:cxnLst>
              <a:rect l="txL" t="txT" r="txR" b="txB"/>
              <a:pathLst>
                <a:path w="225" h="299">
                  <a:moveTo>
                    <a:pt x="0" y="299"/>
                  </a:moveTo>
                  <a:lnTo>
                    <a:pt x="0" y="34"/>
                  </a:lnTo>
                  <a:lnTo>
                    <a:pt x="67" y="11"/>
                  </a:lnTo>
                  <a:lnTo>
                    <a:pt x="141" y="5"/>
                  </a:lnTo>
                  <a:lnTo>
                    <a:pt x="225" y="0"/>
                  </a:lnTo>
                  <a:lnTo>
                    <a:pt x="218" y="147"/>
                  </a:lnTo>
                  <a:lnTo>
                    <a:pt x="216" y="298"/>
                  </a:lnTo>
                  <a:lnTo>
                    <a:pt x="0" y="299"/>
                  </a:lnTo>
                  <a:close/>
                </a:path>
              </a:pathLst>
            </a:custGeom>
            <a:gradFill rotWithShape="0">
              <a:gsLst>
                <a:gs pos="0">
                  <a:srgbClr val="C0C0C0"/>
                </a:gs>
                <a:gs pos="100000">
                  <a:srgbClr val="595959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60" name="Freeform 94"/>
            <p:cNvSpPr/>
            <p:nvPr/>
          </p:nvSpPr>
          <p:spPr>
            <a:xfrm>
              <a:off x="3799" y="363"/>
              <a:ext cx="223" cy="300"/>
            </a:xfrm>
            <a:custGeom>
              <a:avLst/>
              <a:gdLst>
                <a:gd name="txL" fmla="*/ 0 w 223"/>
                <a:gd name="txT" fmla="*/ 0 h 300"/>
                <a:gd name="txR" fmla="*/ 223 w 223"/>
                <a:gd name="txB" fmla="*/ 300 h 300"/>
              </a:gdLst>
              <a:ahLst/>
              <a:cxnLst>
                <a:cxn ang="0">
                  <a:pos x="0" y="300"/>
                </a:cxn>
                <a:cxn ang="0">
                  <a:pos x="0" y="0"/>
                </a:cxn>
                <a:cxn ang="0">
                  <a:pos x="105" y="2"/>
                </a:cxn>
                <a:cxn ang="0">
                  <a:pos x="220" y="37"/>
                </a:cxn>
                <a:cxn ang="0">
                  <a:pos x="223" y="296"/>
                </a:cxn>
                <a:cxn ang="0">
                  <a:pos x="0" y="300"/>
                </a:cxn>
              </a:cxnLst>
              <a:rect l="txL" t="txT" r="txR" b="txB"/>
              <a:pathLst>
                <a:path w="223" h="300">
                  <a:moveTo>
                    <a:pt x="0" y="300"/>
                  </a:moveTo>
                  <a:lnTo>
                    <a:pt x="0" y="0"/>
                  </a:lnTo>
                  <a:lnTo>
                    <a:pt x="105" y="2"/>
                  </a:lnTo>
                  <a:lnTo>
                    <a:pt x="220" y="37"/>
                  </a:lnTo>
                  <a:lnTo>
                    <a:pt x="223" y="296"/>
                  </a:lnTo>
                  <a:lnTo>
                    <a:pt x="0" y="300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666666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61" name="Freeform 95"/>
            <p:cNvSpPr/>
            <p:nvPr/>
          </p:nvSpPr>
          <p:spPr>
            <a:xfrm>
              <a:off x="3507" y="659"/>
              <a:ext cx="592" cy="496"/>
            </a:xfrm>
            <a:custGeom>
              <a:avLst/>
              <a:gdLst>
                <a:gd name="txL" fmla="*/ 0 w 592"/>
                <a:gd name="txT" fmla="*/ 0 h 496"/>
                <a:gd name="txR" fmla="*/ 592 w 592"/>
                <a:gd name="txB" fmla="*/ 496 h 496"/>
              </a:gdLst>
              <a:ahLst/>
              <a:cxnLst>
                <a:cxn ang="0">
                  <a:pos x="10" y="371"/>
                </a:cxn>
                <a:cxn ang="0">
                  <a:pos x="0" y="464"/>
                </a:cxn>
                <a:cxn ang="0">
                  <a:pos x="3" y="0"/>
                </a:cxn>
                <a:cxn ang="0">
                  <a:pos x="592" y="3"/>
                </a:cxn>
                <a:cxn ang="0">
                  <a:pos x="589" y="231"/>
                </a:cxn>
                <a:cxn ang="0">
                  <a:pos x="586" y="496"/>
                </a:cxn>
                <a:cxn ang="0">
                  <a:pos x="583" y="426"/>
                </a:cxn>
                <a:cxn ang="0">
                  <a:pos x="576" y="394"/>
                </a:cxn>
                <a:cxn ang="0">
                  <a:pos x="573" y="355"/>
                </a:cxn>
                <a:cxn ang="0">
                  <a:pos x="570" y="323"/>
                </a:cxn>
                <a:cxn ang="0">
                  <a:pos x="547" y="256"/>
                </a:cxn>
                <a:cxn ang="0">
                  <a:pos x="560" y="288"/>
                </a:cxn>
                <a:cxn ang="0">
                  <a:pos x="519" y="218"/>
                </a:cxn>
                <a:cxn ang="0">
                  <a:pos x="484" y="201"/>
                </a:cxn>
                <a:cxn ang="0">
                  <a:pos x="446" y="232"/>
                </a:cxn>
                <a:cxn ang="0">
                  <a:pos x="417" y="288"/>
                </a:cxn>
                <a:cxn ang="0">
                  <a:pos x="398" y="360"/>
                </a:cxn>
                <a:cxn ang="0">
                  <a:pos x="392" y="427"/>
                </a:cxn>
                <a:cxn ang="0">
                  <a:pos x="215" y="422"/>
                </a:cxn>
                <a:cxn ang="0">
                  <a:pos x="211" y="355"/>
                </a:cxn>
                <a:cxn ang="0">
                  <a:pos x="195" y="288"/>
                </a:cxn>
                <a:cxn ang="0">
                  <a:pos x="169" y="219"/>
                </a:cxn>
                <a:cxn ang="0">
                  <a:pos x="135" y="189"/>
                </a:cxn>
                <a:cxn ang="0">
                  <a:pos x="99" y="189"/>
                </a:cxn>
                <a:cxn ang="0">
                  <a:pos x="64" y="208"/>
                </a:cxn>
                <a:cxn ang="0">
                  <a:pos x="45" y="240"/>
                </a:cxn>
                <a:cxn ang="0">
                  <a:pos x="29" y="285"/>
                </a:cxn>
                <a:cxn ang="0">
                  <a:pos x="23" y="333"/>
                </a:cxn>
                <a:cxn ang="0">
                  <a:pos x="10" y="371"/>
                </a:cxn>
              </a:cxnLst>
              <a:rect l="txL" t="txT" r="txR" b="txB"/>
              <a:pathLst>
                <a:path w="592" h="496">
                  <a:moveTo>
                    <a:pt x="10" y="371"/>
                  </a:moveTo>
                  <a:lnTo>
                    <a:pt x="0" y="464"/>
                  </a:lnTo>
                  <a:lnTo>
                    <a:pt x="3" y="0"/>
                  </a:lnTo>
                  <a:lnTo>
                    <a:pt x="592" y="3"/>
                  </a:lnTo>
                  <a:lnTo>
                    <a:pt x="589" y="231"/>
                  </a:lnTo>
                  <a:lnTo>
                    <a:pt x="586" y="496"/>
                  </a:lnTo>
                  <a:lnTo>
                    <a:pt x="583" y="426"/>
                  </a:lnTo>
                  <a:lnTo>
                    <a:pt x="576" y="394"/>
                  </a:lnTo>
                  <a:lnTo>
                    <a:pt x="573" y="355"/>
                  </a:lnTo>
                  <a:lnTo>
                    <a:pt x="570" y="323"/>
                  </a:lnTo>
                  <a:lnTo>
                    <a:pt x="547" y="256"/>
                  </a:lnTo>
                  <a:lnTo>
                    <a:pt x="560" y="288"/>
                  </a:lnTo>
                  <a:lnTo>
                    <a:pt x="519" y="218"/>
                  </a:lnTo>
                  <a:lnTo>
                    <a:pt x="484" y="201"/>
                  </a:lnTo>
                  <a:lnTo>
                    <a:pt x="446" y="232"/>
                  </a:lnTo>
                  <a:lnTo>
                    <a:pt x="417" y="288"/>
                  </a:lnTo>
                  <a:lnTo>
                    <a:pt x="398" y="360"/>
                  </a:lnTo>
                  <a:lnTo>
                    <a:pt x="392" y="427"/>
                  </a:lnTo>
                  <a:lnTo>
                    <a:pt x="215" y="422"/>
                  </a:lnTo>
                  <a:lnTo>
                    <a:pt x="211" y="355"/>
                  </a:lnTo>
                  <a:lnTo>
                    <a:pt x="195" y="288"/>
                  </a:lnTo>
                  <a:lnTo>
                    <a:pt x="169" y="219"/>
                  </a:lnTo>
                  <a:lnTo>
                    <a:pt x="135" y="189"/>
                  </a:lnTo>
                  <a:lnTo>
                    <a:pt x="99" y="189"/>
                  </a:lnTo>
                  <a:lnTo>
                    <a:pt x="64" y="208"/>
                  </a:lnTo>
                  <a:lnTo>
                    <a:pt x="45" y="240"/>
                  </a:lnTo>
                  <a:lnTo>
                    <a:pt x="29" y="285"/>
                  </a:lnTo>
                  <a:lnTo>
                    <a:pt x="23" y="333"/>
                  </a:lnTo>
                  <a:lnTo>
                    <a:pt x="10" y="371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666666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62" name="Freeform 96"/>
            <p:cNvSpPr/>
            <p:nvPr/>
          </p:nvSpPr>
          <p:spPr>
            <a:xfrm>
              <a:off x="3510" y="661"/>
              <a:ext cx="586" cy="1"/>
            </a:xfrm>
            <a:custGeom>
              <a:avLst/>
              <a:gdLst>
                <a:gd name="txL" fmla="*/ 0 w 586"/>
                <a:gd name="txT" fmla="*/ 0 h 1"/>
                <a:gd name="txR" fmla="*/ 586 w 586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586" y="0"/>
                </a:cxn>
              </a:cxnLst>
              <a:rect l="txL" t="txT" r="txR" b="txB"/>
              <a:pathLst>
                <a:path w="586" h="1">
                  <a:moveTo>
                    <a:pt x="0" y="1"/>
                  </a:moveTo>
                  <a:lnTo>
                    <a:pt x="586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63" name="Freeform 97"/>
            <p:cNvSpPr/>
            <p:nvPr/>
          </p:nvSpPr>
          <p:spPr>
            <a:xfrm>
              <a:off x="3802" y="362"/>
              <a:ext cx="1" cy="300"/>
            </a:xfrm>
            <a:custGeom>
              <a:avLst/>
              <a:gdLst>
                <a:gd name="txL" fmla="*/ 0 w 1"/>
                <a:gd name="txT" fmla="*/ 0 h 300"/>
                <a:gd name="txR" fmla="*/ 1 w 1"/>
                <a:gd name="txB" fmla="*/ 300 h 300"/>
              </a:gdLst>
              <a:ahLst/>
              <a:cxnLst>
                <a:cxn ang="0">
                  <a:pos x="0" y="0"/>
                </a:cxn>
                <a:cxn ang="0">
                  <a:pos x="0" y="300"/>
                </a:cxn>
              </a:cxnLst>
              <a:rect l="txL" t="txT" r="txR" b="txB"/>
              <a:pathLst>
                <a:path w="1" h="300">
                  <a:moveTo>
                    <a:pt x="0" y="0"/>
                  </a:moveTo>
                  <a:lnTo>
                    <a:pt x="0" y="30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64" name="Line 98"/>
            <p:cNvSpPr/>
            <p:nvPr/>
          </p:nvSpPr>
          <p:spPr>
            <a:xfrm>
              <a:off x="3506" y="2871"/>
              <a:ext cx="574" cy="0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65" name="Freeform 99"/>
            <p:cNvSpPr/>
            <p:nvPr/>
          </p:nvSpPr>
          <p:spPr>
            <a:xfrm>
              <a:off x="4020" y="400"/>
              <a:ext cx="1" cy="263"/>
            </a:xfrm>
            <a:custGeom>
              <a:avLst/>
              <a:gdLst>
                <a:gd name="txL" fmla="*/ 0 w 1"/>
                <a:gd name="txT" fmla="*/ 0 h 263"/>
                <a:gd name="txR" fmla="*/ 1 w 1"/>
                <a:gd name="txB" fmla="*/ 263 h 263"/>
              </a:gdLst>
              <a:ahLst/>
              <a:cxnLst>
                <a:cxn ang="0">
                  <a:pos x="0" y="263"/>
                </a:cxn>
                <a:cxn ang="0">
                  <a:pos x="0" y="0"/>
                </a:cxn>
              </a:cxnLst>
              <a:rect l="txL" t="txT" r="txR" b="txB"/>
              <a:pathLst>
                <a:path w="1" h="263">
                  <a:moveTo>
                    <a:pt x="0" y="263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66" name="Freeform 100"/>
            <p:cNvSpPr/>
            <p:nvPr/>
          </p:nvSpPr>
          <p:spPr>
            <a:xfrm>
              <a:off x="3587" y="397"/>
              <a:ext cx="1" cy="264"/>
            </a:xfrm>
            <a:custGeom>
              <a:avLst/>
              <a:gdLst>
                <a:gd name="txL" fmla="*/ 0 w 1"/>
                <a:gd name="txT" fmla="*/ 0 h 264"/>
                <a:gd name="txR" fmla="*/ 1 w 1"/>
                <a:gd name="txB" fmla="*/ 264 h 264"/>
              </a:gdLst>
              <a:ahLst/>
              <a:cxnLst>
                <a:cxn ang="0">
                  <a:pos x="0" y="264"/>
                </a:cxn>
                <a:cxn ang="0">
                  <a:pos x="0" y="0"/>
                </a:cxn>
              </a:cxnLst>
              <a:rect l="txL" t="txT" r="txR" b="txB"/>
              <a:pathLst>
                <a:path w="1" h="264">
                  <a:moveTo>
                    <a:pt x="0" y="264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67" name="Freeform 101"/>
            <p:cNvSpPr/>
            <p:nvPr/>
          </p:nvSpPr>
          <p:spPr>
            <a:xfrm>
              <a:off x="3587" y="362"/>
              <a:ext cx="432" cy="41"/>
            </a:xfrm>
            <a:custGeom>
              <a:avLst/>
              <a:gdLst>
                <a:gd name="txL" fmla="*/ 0 w 432"/>
                <a:gd name="txT" fmla="*/ 0 h 41"/>
                <a:gd name="txR" fmla="*/ 432 w 432"/>
                <a:gd name="txB" fmla="*/ 41 h 41"/>
              </a:gdLst>
              <a:ahLst/>
              <a:cxnLst>
                <a:cxn ang="0">
                  <a:pos x="0" y="35"/>
                </a:cxn>
                <a:cxn ang="0">
                  <a:pos x="74" y="16"/>
                </a:cxn>
                <a:cxn ang="0">
                  <a:pos x="147" y="3"/>
                </a:cxn>
                <a:cxn ang="0">
                  <a:pos x="219" y="1"/>
                </a:cxn>
                <a:cxn ang="0">
                  <a:pos x="298" y="6"/>
                </a:cxn>
                <a:cxn ang="0">
                  <a:pos x="365" y="16"/>
                </a:cxn>
                <a:cxn ang="0">
                  <a:pos x="432" y="41"/>
                </a:cxn>
              </a:cxnLst>
              <a:rect l="txL" t="txT" r="txR" b="txB"/>
              <a:pathLst>
                <a:path w="432" h="41">
                  <a:moveTo>
                    <a:pt x="0" y="35"/>
                  </a:moveTo>
                  <a:cubicBezTo>
                    <a:pt x="12" y="32"/>
                    <a:pt x="50" y="21"/>
                    <a:pt x="74" y="16"/>
                  </a:cubicBezTo>
                  <a:cubicBezTo>
                    <a:pt x="98" y="11"/>
                    <a:pt x="123" y="6"/>
                    <a:pt x="147" y="3"/>
                  </a:cubicBezTo>
                  <a:cubicBezTo>
                    <a:pt x="171" y="0"/>
                    <a:pt x="194" y="1"/>
                    <a:pt x="219" y="1"/>
                  </a:cubicBezTo>
                  <a:cubicBezTo>
                    <a:pt x="244" y="1"/>
                    <a:pt x="274" y="4"/>
                    <a:pt x="298" y="6"/>
                  </a:cubicBezTo>
                  <a:cubicBezTo>
                    <a:pt x="322" y="8"/>
                    <a:pt x="343" y="10"/>
                    <a:pt x="365" y="16"/>
                  </a:cubicBezTo>
                  <a:cubicBezTo>
                    <a:pt x="387" y="22"/>
                    <a:pt x="418" y="36"/>
                    <a:pt x="432" y="41"/>
                  </a:cubicBez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68" name="Freeform 102"/>
            <p:cNvSpPr/>
            <p:nvPr/>
          </p:nvSpPr>
          <p:spPr>
            <a:xfrm>
              <a:off x="4096" y="656"/>
              <a:ext cx="1" cy="508"/>
            </a:xfrm>
            <a:custGeom>
              <a:avLst/>
              <a:gdLst>
                <a:gd name="txL" fmla="*/ 0 w 1"/>
                <a:gd name="txT" fmla="*/ 0 h 508"/>
                <a:gd name="txR" fmla="*/ 1 w 1"/>
                <a:gd name="txB" fmla="*/ 508 h 508"/>
              </a:gdLst>
              <a:ahLst/>
              <a:cxnLst>
                <a:cxn ang="0">
                  <a:pos x="0" y="0"/>
                </a:cxn>
                <a:cxn ang="0">
                  <a:pos x="1" y="508"/>
                </a:cxn>
              </a:cxnLst>
              <a:rect l="txL" t="txT" r="txR" b="txB"/>
              <a:pathLst>
                <a:path w="1" h="508">
                  <a:moveTo>
                    <a:pt x="0" y="0"/>
                  </a:moveTo>
                  <a:lnTo>
                    <a:pt x="1" y="508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69" name="Freeform 103"/>
            <p:cNvSpPr/>
            <p:nvPr/>
          </p:nvSpPr>
          <p:spPr>
            <a:xfrm>
              <a:off x="3512" y="837"/>
              <a:ext cx="215" cy="254"/>
            </a:xfrm>
            <a:custGeom>
              <a:avLst/>
              <a:gdLst>
                <a:gd name="txL" fmla="*/ 0 w 215"/>
                <a:gd name="txT" fmla="*/ 0 h 254"/>
                <a:gd name="txR" fmla="*/ 215 w 215"/>
                <a:gd name="txB" fmla="*/ 254 h 254"/>
              </a:gdLst>
              <a:ahLst/>
              <a:cxnLst>
                <a:cxn ang="0">
                  <a:pos x="8" y="187"/>
                </a:cxn>
                <a:cxn ang="0">
                  <a:pos x="2" y="235"/>
                </a:cxn>
                <a:cxn ang="0">
                  <a:pos x="21" y="136"/>
                </a:cxn>
                <a:cxn ang="0">
                  <a:pos x="34" y="82"/>
                </a:cxn>
                <a:cxn ang="0">
                  <a:pos x="56" y="37"/>
                </a:cxn>
                <a:cxn ang="0">
                  <a:pos x="107" y="2"/>
                </a:cxn>
                <a:cxn ang="0">
                  <a:pos x="149" y="24"/>
                </a:cxn>
                <a:cxn ang="0">
                  <a:pos x="178" y="69"/>
                </a:cxn>
                <a:cxn ang="0">
                  <a:pos x="200" y="136"/>
                </a:cxn>
                <a:cxn ang="0">
                  <a:pos x="213" y="197"/>
                </a:cxn>
                <a:cxn ang="0">
                  <a:pos x="210" y="254"/>
                </a:cxn>
              </a:cxnLst>
              <a:rect l="txL" t="txT" r="txR" b="txB"/>
              <a:pathLst>
                <a:path w="215" h="254">
                  <a:moveTo>
                    <a:pt x="8" y="187"/>
                  </a:moveTo>
                  <a:cubicBezTo>
                    <a:pt x="8" y="195"/>
                    <a:pt x="0" y="243"/>
                    <a:pt x="2" y="235"/>
                  </a:cubicBezTo>
                  <a:cubicBezTo>
                    <a:pt x="4" y="227"/>
                    <a:pt x="16" y="161"/>
                    <a:pt x="21" y="136"/>
                  </a:cubicBezTo>
                  <a:cubicBezTo>
                    <a:pt x="26" y="111"/>
                    <a:pt x="28" y="98"/>
                    <a:pt x="34" y="82"/>
                  </a:cubicBezTo>
                  <a:cubicBezTo>
                    <a:pt x="40" y="66"/>
                    <a:pt x="44" y="50"/>
                    <a:pt x="56" y="37"/>
                  </a:cubicBezTo>
                  <a:cubicBezTo>
                    <a:pt x="68" y="24"/>
                    <a:pt x="92" y="4"/>
                    <a:pt x="107" y="2"/>
                  </a:cubicBezTo>
                  <a:cubicBezTo>
                    <a:pt x="122" y="0"/>
                    <a:pt x="137" y="13"/>
                    <a:pt x="149" y="24"/>
                  </a:cubicBezTo>
                  <a:cubicBezTo>
                    <a:pt x="161" y="35"/>
                    <a:pt x="170" y="50"/>
                    <a:pt x="178" y="69"/>
                  </a:cubicBezTo>
                  <a:cubicBezTo>
                    <a:pt x="186" y="88"/>
                    <a:pt x="194" y="115"/>
                    <a:pt x="200" y="136"/>
                  </a:cubicBezTo>
                  <a:cubicBezTo>
                    <a:pt x="206" y="157"/>
                    <a:pt x="211" y="177"/>
                    <a:pt x="213" y="197"/>
                  </a:cubicBezTo>
                  <a:cubicBezTo>
                    <a:pt x="215" y="217"/>
                    <a:pt x="211" y="242"/>
                    <a:pt x="210" y="254"/>
                  </a:cubicBez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70" name="Freeform 104"/>
            <p:cNvSpPr/>
            <p:nvPr/>
          </p:nvSpPr>
          <p:spPr>
            <a:xfrm>
              <a:off x="3898" y="857"/>
              <a:ext cx="195" cy="241"/>
            </a:xfrm>
            <a:custGeom>
              <a:avLst/>
              <a:gdLst>
                <a:gd name="txL" fmla="*/ 0 w 195"/>
                <a:gd name="txT" fmla="*/ 0 h 241"/>
                <a:gd name="txR" fmla="*/ 195 w 195"/>
                <a:gd name="txB" fmla="*/ 241 h 241"/>
              </a:gdLst>
              <a:ahLst/>
              <a:cxnLst>
                <a:cxn ang="0">
                  <a:pos x="195" y="241"/>
                </a:cxn>
                <a:cxn ang="0">
                  <a:pos x="185" y="186"/>
                </a:cxn>
                <a:cxn ang="0">
                  <a:pos x="179" y="138"/>
                </a:cxn>
                <a:cxn ang="0">
                  <a:pos x="166" y="77"/>
                </a:cxn>
                <a:cxn ang="0">
                  <a:pos x="137" y="29"/>
                </a:cxn>
                <a:cxn ang="0">
                  <a:pos x="96" y="1"/>
                </a:cxn>
                <a:cxn ang="0">
                  <a:pos x="48" y="33"/>
                </a:cxn>
                <a:cxn ang="0">
                  <a:pos x="19" y="87"/>
                </a:cxn>
                <a:cxn ang="0">
                  <a:pos x="3" y="169"/>
                </a:cxn>
                <a:cxn ang="0">
                  <a:pos x="0" y="229"/>
                </a:cxn>
              </a:cxnLst>
              <a:rect l="txL" t="txT" r="txR" b="txB"/>
              <a:pathLst>
                <a:path w="195" h="241">
                  <a:moveTo>
                    <a:pt x="195" y="241"/>
                  </a:moveTo>
                  <a:cubicBezTo>
                    <a:pt x="193" y="232"/>
                    <a:pt x="188" y="203"/>
                    <a:pt x="185" y="186"/>
                  </a:cubicBezTo>
                  <a:cubicBezTo>
                    <a:pt x="182" y="169"/>
                    <a:pt x="182" y="156"/>
                    <a:pt x="179" y="138"/>
                  </a:cubicBezTo>
                  <a:cubicBezTo>
                    <a:pt x="176" y="120"/>
                    <a:pt x="173" y="95"/>
                    <a:pt x="166" y="77"/>
                  </a:cubicBezTo>
                  <a:cubicBezTo>
                    <a:pt x="159" y="59"/>
                    <a:pt x="149" y="42"/>
                    <a:pt x="137" y="29"/>
                  </a:cubicBezTo>
                  <a:cubicBezTo>
                    <a:pt x="125" y="16"/>
                    <a:pt x="111" y="0"/>
                    <a:pt x="96" y="1"/>
                  </a:cubicBezTo>
                  <a:cubicBezTo>
                    <a:pt x="81" y="2"/>
                    <a:pt x="61" y="19"/>
                    <a:pt x="48" y="33"/>
                  </a:cubicBezTo>
                  <a:cubicBezTo>
                    <a:pt x="35" y="47"/>
                    <a:pt x="26" y="64"/>
                    <a:pt x="19" y="87"/>
                  </a:cubicBezTo>
                  <a:cubicBezTo>
                    <a:pt x="12" y="110"/>
                    <a:pt x="7" y="145"/>
                    <a:pt x="3" y="169"/>
                  </a:cubicBezTo>
                  <a:cubicBezTo>
                    <a:pt x="0" y="193"/>
                    <a:pt x="1" y="217"/>
                    <a:pt x="0" y="229"/>
                  </a:cubicBez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71" name="Freeform 105"/>
            <p:cNvSpPr/>
            <p:nvPr/>
          </p:nvSpPr>
          <p:spPr>
            <a:xfrm>
              <a:off x="3509" y="659"/>
              <a:ext cx="1" cy="457"/>
            </a:xfrm>
            <a:custGeom>
              <a:avLst/>
              <a:gdLst>
                <a:gd name="txL" fmla="*/ 0 w 1"/>
                <a:gd name="txT" fmla="*/ 0 h 457"/>
                <a:gd name="txR" fmla="*/ 1 w 1"/>
                <a:gd name="txB" fmla="*/ 457 h 457"/>
              </a:gdLst>
              <a:ahLst/>
              <a:cxnLst>
                <a:cxn ang="0">
                  <a:pos x="1" y="0"/>
                </a:cxn>
                <a:cxn ang="0">
                  <a:pos x="0" y="457"/>
                </a:cxn>
              </a:cxnLst>
              <a:rect l="txL" t="txT" r="txR" b="txB"/>
              <a:pathLst>
                <a:path w="1" h="457">
                  <a:moveTo>
                    <a:pt x="1" y="0"/>
                  </a:moveTo>
                  <a:lnTo>
                    <a:pt x="0" y="457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72" name="Line 106"/>
            <p:cNvSpPr/>
            <p:nvPr/>
          </p:nvSpPr>
          <p:spPr>
            <a:xfrm>
              <a:off x="3462" y="2651"/>
              <a:ext cx="60" cy="48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7473" name="Group 107"/>
            <p:cNvGrpSpPr/>
            <p:nvPr/>
          </p:nvGrpSpPr>
          <p:grpSpPr>
            <a:xfrm>
              <a:off x="3461" y="1122"/>
              <a:ext cx="68" cy="1675"/>
              <a:chOff x="3474" y="1119"/>
              <a:chExt cx="92" cy="1677"/>
            </a:xfrm>
          </p:grpSpPr>
          <p:sp>
            <p:nvSpPr>
              <p:cNvPr id="57645" name="Line 108"/>
              <p:cNvSpPr/>
              <p:nvPr/>
            </p:nvSpPr>
            <p:spPr>
              <a:xfrm flipH="1">
                <a:off x="3480" y="1119"/>
                <a:ext cx="84" cy="4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46" name="Line 109"/>
              <p:cNvSpPr/>
              <p:nvPr/>
            </p:nvSpPr>
            <p:spPr>
              <a:xfrm>
                <a:off x="3480" y="1162"/>
                <a:ext cx="86" cy="50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47" name="Line 110"/>
              <p:cNvSpPr/>
              <p:nvPr/>
            </p:nvSpPr>
            <p:spPr>
              <a:xfrm flipH="1">
                <a:off x="3477" y="1210"/>
                <a:ext cx="84" cy="4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48" name="Line 111"/>
              <p:cNvSpPr/>
              <p:nvPr/>
            </p:nvSpPr>
            <p:spPr>
              <a:xfrm>
                <a:off x="3475" y="1253"/>
                <a:ext cx="86" cy="50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49" name="Line 112"/>
              <p:cNvSpPr/>
              <p:nvPr/>
            </p:nvSpPr>
            <p:spPr>
              <a:xfrm flipH="1">
                <a:off x="3482" y="1302"/>
                <a:ext cx="84" cy="4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50" name="Line 113"/>
              <p:cNvSpPr/>
              <p:nvPr/>
            </p:nvSpPr>
            <p:spPr>
              <a:xfrm>
                <a:off x="3480" y="1345"/>
                <a:ext cx="86" cy="50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51" name="Line 114"/>
              <p:cNvSpPr/>
              <p:nvPr/>
            </p:nvSpPr>
            <p:spPr>
              <a:xfrm flipH="1">
                <a:off x="3477" y="1393"/>
                <a:ext cx="84" cy="4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52" name="Line 115"/>
              <p:cNvSpPr/>
              <p:nvPr/>
            </p:nvSpPr>
            <p:spPr>
              <a:xfrm>
                <a:off x="3475" y="1436"/>
                <a:ext cx="86" cy="50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53" name="Line 116"/>
              <p:cNvSpPr/>
              <p:nvPr/>
            </p:nvSpPr>
            <p:spPr>
              <a:xfrm flipH="1">
                <a:off x="3482" y="1484"/>
                <a:ext cx="84" cy="4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54" name="Line 117"/>
              <p:cNvSpPr/>
              <p:nvPr/>
            </p:nvSpPr>
            <p:spPr>
              <a:xfrm>
                <a:off x="3480" y="1527"/>
                <a:ext cx="86" cy="50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55" name="Line 118"/>
              <p:cNvSpPr/>
              <p:nvPr/>
            </p:nvSpPr>
            <p:spPr>
              <a:xfrm flipH="1">
                <a:off x="3477" y="1575"/>
                <a:ext cx="84" cy="4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56" name="Line 119"/>
              <p:cNvSpPr/>
              <p:nvPr/>
            </p:nvSpPr>
            <p:spPr>
              <a:xfrm>
                <a:off x="3475" y="1618"/>
                <a:ext cx="86" cy="50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57" name="Line 120"/>
              <p:cNvSpPr/>
              <p:nvPr/>
            </p:nvSpPr>
            <p:spPr>
              <a:xfrm flipH="1">
                <a:off x="3482" y="1665"/>
                <a:ext cx="84" cy="4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58" name="Line 121"/>
              <p:cNvSpPr/>
              <p:nvPr/>
            </p:nvSpPr>
            <p:spPr>
              <a:xfrm>
                <a:off x="3480" y="1712"/>
                <a:ext cx="86" cy="50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59" name="Line 122"/>
              <p:cNvSpPr/>
              <p:nvPr/>
            </p:nvSpPr>
            <p:spPr>
              <a:xfrm flipH="1">
                <a:off x="3477" y="1760"/>
                <a:ext cx="84" cy="4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60" name="Line 123"/>
              <p:cNvSpPr/>
              <p:nvPr/>
            </p:nvSpPr>
            <p:spPr>
              <a:xfrm>
                <a:off x="3477" y="1805"/>
                <a:ext cx="86" cy="50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61" name="Line 124"/>
              <p:cNvSpPr/>
              <p:nvPr/>
            </p:nvSpPr>
            <p:spPr>
              <a:xfrm flipH="1">
                <a:off x="3482" y="1856"/>
                <a:ext cx="84" cy="4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62" name="Line 125"/>
              <p:cNvSpPr/>
              <p:nvPr/>
            </p:nvSpPr>
            <p:spPr>
              <a:xfrm>
                <a:off x="3480" y="1901"/>
                <a:ext cx="86" cy="50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63" name="Line 126"/>
              <p:cNvSpPr/>
              <p:nvPr/>
            </p:nvSpPr>
            <p:spPr>
              <a:xfrm flipH="1">
                <a:off x="3477" y="1949"/>
                <a:ext cx="84" cy="4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64" name="Line 127"/>
              <p:cNvSpPr/>
              <p:nvPr/>
            </p:nvSpPr>
            <p:spPr>
              <a:xfrm>
                <a:off x="3475" y="1992"/>
                <a:ext cx="86" cy="50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65" name="Line 128"/>
              <p:cNvSpPr/>
              <p:nvPr/>
            </p:nvSpPr>
            <p:spPr>
              <a:xfrm flipH="1">
                <a:off x="3482" y="2041"/>
                <a:ext cx="84" cy="4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66" name="Line 129"/>
              <p:cNvSpPr/>
              <p:nvPr/>
            </p:nvSpPr>
            <p:spPr>
              <a:xfrm>
                <a:off x="3480" y="2084"/>
                <a:ext cx="86" cy="50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67" name="Line 130"/>
              <p:cNvSpPr/>
              <p:nvPr/>
            </p:nvSpPr>
            <p:spPr>
              <a:xfrm flipH="1">
                <a:off x="3477" y="2132"/>
                <a:ext cx="84" cy="4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68" name="Line 131"/>
              <p:cNvSpPr/>
              <p:nvPr/>
            </p:nvSpPr>
            <p:spPr>
              <a:xfrm>
                <a:off x="3477" y="2175"/>
                <a:ext cx="86" cy="50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69" name="Line 132"/>
              <p:cNvSpPr/>
              <p:nvPr/>
            </p:nvSpPr>
            <p:spPr>
              <a:xfrm flipH="1">
                <a:off x="3482" y="2226"/>
                <a:ext cx="84" cy="4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70" name="Line 133"/>
              <p:cNvSpPr/>
              <p:nvPr/>
            </p:nvSpPr>
            <p:spPr>
              <a:xfrm>
                <a:off x="3480" y="2271"/>
                <a:ext cx="86" cy="50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71" name="Line 134"/>
              <p:cNvSpPr/>
              <p:nvPr/>
            </p:nvSpPr>
            <p:spPr>
              <a:xfrm flipH="1">
                <a:off x="3477" y="2319"/>
                <a:ext cx="84" cy="4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72" name="Line 135"/>
              <p:cNvSpPr/>
              <p:nvPr/>
            </p:nvSpPr>
            <p:spPr>
              <a:xfrm>
                <a:off x="3475" y="2362"/>
                <a:ext cx="86" cy="50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73" name="Line 136"/>
              <p:cNvSpPr/>
              <p:nvPr/>
            </p:nvSpPr>
            <p:spPr>
              <a:xfrm flipH="1">
                <a:off x="3482" y="2409"/>
                <a:ext cx="84" cy="4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74" name="Line 137"/>
              <p:cNvSpPr/>
              <p:nvPr/>
            </p:nvSpPr>
            <p:spPr>
              <a:xfrm>
                <a:off x="3480" y="2454"/>
                <a:ext cx="86" cy="50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75" name="Line 138"/>
              <p:cNvSpPr/>
              <p:nvPr/>
            </p:nvSpPr>
            <p:spPr>
              <a:xfrm flipH="1">
                <a:off x="3477" y="2502"/>
                <a:ext cx="84" cy="4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76" name="Line 139"/>
              <p:cNvSpPr/>
              <p:nvPr/>
            </p:nvSpPr>
            <p:spPr>
              <a:xfrm>
                <a:off x="3477" y="2547"/>
                <a:ext cx="86" cy="50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77" name="Line 140"/>
              <p:cNvSpPr/>
              <p:nvPr/>
            </p:nvSpPr>
            <p:spPr>
              <a:xfrm flipH="1">
                <a:off x="3474" y="2598"/>
                <a:ext cx="92" cy="53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78" name="Line 141"/>
              <p:cNvSpPr/>
              <p:nvPr/>
            </p:nvSpPr>
            <p:spPr>
              <a:xfrm flipH="1">
                <a:off x="3490" y="2693"/>
                <a:ext cx="67" cy="39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79" name="Line 142"/>
              <p:cNvSpPr/>
              <p:nvPr/>
            </p:nvSpPr>
            <p:spPr>
              <a:xfrm>
                <a:off x="3495" y="2731"/>
                <a:ext cx="58" cy="34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80" name="Freeform 143"/>
              <p:cNvSpPr/>
              <p:nvPr/>
            </p:nvSpPr>
            <p:spPr>
              <a:xfrm>
                <a:off x="3509" y="2765"/>
                <a:ext cx="38" cy="31"/>
              </a:xfrm>
              <a:custGeom>
                <a:avLst/>
                <a:gdLst>
                  <a:gd name="txL" fmla="*/ 0 w 38"/>
                  <a:gd name="txT" fmla="*/ 0 h 31"/>
                  <a:gd name="txR" fmla="*/ 38 w 38"/>
                  <a:gd name="txB" fmla="*/ 31 h 31"/>
                </a:gdLst>
                <a:ahLst/>
                <a:cxnLst>
                  <a:cxn ang="0">
                    <a:pos x="38" y="0"/>
                  </a:cxn>
                  <a:cxn ang="0">
                    <a:pos x="0" y="31"/>
                  </a:cxn>
                </a:cxnLst>
                <a:rect l="txL" t="txT" r="txR" b="txB"/>
                <a:pathLst>
                  <a:path w="38" h="31">
                    <a:moveTo>
                      <a:pt x="38" y="0"/>
                    </a:moveTo>
                    <a:lnTo>
                      <a:pt x="0" y="31"/>
                    </a:lnTo>
                  </a:path>
                </a:pathLst>
              </a:custGeom>
              <a:noFill/>
              <a:ln w="190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7474" name="Line 144"/>
            <p:cNvSpPr/>
            <p:nvPr/>
          </p:nvSpPr>
          <p:spPr>
            <a:xfrm>
              <a:off x="3483" y="2794"/>
              <a:ext cx="28" cy="22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75" name="Line 145"/>
            <p:cNvSpPr/>
            <p:nvPr/>
          </p:nvSpPr>
          <p:spPr>
            <a:xfrm flipH="1">
              <a:off x="3494" y="2814"/>
              <a:ext cx="21" cy="29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76" name="Freeform 146"/>
            <p:cNvSpPr/>
            <p:nvPr/>
          </p:nvSpPr>
          <p:spPr>
            <a:xfrm>
              <a:off x="3494" y="2843"/>
              <a:ext cx="11" cy="28"/>
            </a:xfrm>
            <a:custGeom>
              <a:avLst/>
              <a:gdLst>
                <a:gd name="txL" fmla="*/ 0 w 15"/>
                <a:gd name="txT" fmla="*/ 0 h 28"/>
                <a:gd name="txR" fmla="*/ 15 w 15"/>
                <a:gd name="txB" fmla="*/ 28 h 28"/>
              </a:gdLst>
              <a:ahLst/>
              <a:cxnLst>
                <a:cxn ang="0">
                  <a:pos x="0" y="0"/>
                </a:cxn>
                <a:cxn ang="0">
                  <a:pos x="8" y="28"/>
                </a:cxn>
              </a:cxnLst>
              <a:rect l="txL" t="txT" r="txR" b="txB"/>
              <a:pathLst>
                <a:path w="15" h="28">
                  <a:moveTo>
                    <a:pt x="0" y="0"/>
                  </a:moveTo>
                  <a:lnTo>
                    <a:pt x="15" y="28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77" name="Freeform 147"/>
            <p:cNvSpPr/>
            <p:nvPr/>
          </p:nvSpPr>
          <p:spPr>
            <a:xfrm>
              <a:off x="3507" y="1110"/>
              <a:ext cx="19" cy="20"/>
            </a:xfrm>
            <a:custGeom>
              <a:avLst/>
              <a:gdLst>
                <a:gd name="txL" fmla="*/ 0 w 19"/>
                <a:gd name="txT" fmla="*/ 0 h 20"/>
                <a:gd name="txR" fmla="*/ 19 w 19"/>
                <a:gd name="txB" fmla="*/ 20 h 20"/>
              </a:gdLst>
              <a:ahLst/>
              <a:cxnLst>
                <a:cxn ang="0">
                  <a:pos x="19" y="20"/>
                </a:cxn>
                <a:cxn ang="0">
                  <a:pos x="0" y="0"/>
                </a:cxn>
              </a:cxnLst>
              <a:rect l="txL" t="txT" r="txR" b="txB"/>
              <a:pathLst>
                <a:path w="19" h="20">
                  <a:moveTo>
                    <a:pt x="19" y="2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57478" name="Group 148"/>
            <p:cNvGrpSpPr/>
            <p:nvPr/>
          </p:nvGrpSpPr>
          <p:grpSpPr>
            <a:xfrm>
              <a:off x="3617" y="1100"/>
              <a:ext cx="109" cy="1767"/>
              <a:chOff x="3626" y="1099"/>
              <a:chExt cx="97" cy="1767"/>
            </a:xfrm>
          </p:grpSpPr>
          <p:sp>
            <p:nvSpPr>
              <p:cNvPr id="57604" name="Line 149"/>
              <p:cNvSpPr/>
              <p:nvPr/>
            </p:nvSpPr>
            <p:spPr>
              <a:xfrm>
                <a:off x="3628" y="2674"/>
                <a:ext cx="82" cy="4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57605" name="Group 150"/>
              <p:cNvGrpSpPr/>
              <p:nvPr/>
            </p:nvGrpSpPr>
            <p:grpSpPr>
              <a:xfrm>
                <a:off x="3626" y="1143"/>
                <a:ext cx="97" cy="1679"/>
                <a:chOff x="3626" y="1143"/>
                <a:chExt cx="97" cy="1679"/>
              </a:xfrm>
            </p:grpSpPr>
            <p:sp>
              <p:nvSpPr>
                <p:cNvPr id="57609" name="Line 151"/>
                <p:cNvSpPr/>
                <p:nvPr/>
              </p:nvSpPr>
              <p:spPr>
                <a:xfrm flipH="1">
                  <a:off x="3635" y="1143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10" name="Line 152"/>
                <p:cNvSpPr/>
                <p:nvPr/>
              </p:nvSpPr>
              <p:spPr>
                <a:xfrm>
                  <a:off x="3633" y="1186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11" name="Line 153"/>
                <p:cNvSpPr/>
                <p:nvPr/>
              </p:nvSpPr>
              <p:spPr>
                <a:xfrm flipH="1">
                  <a:off x="3630" y="1234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12" name="Line 154"/>
                <p:cNvSpPr/>
                <p:nvPr/>
              </p:nvSpPr>
              <p:spPr>
                <a:xfrm>
                  <a:off x="3628" y="1277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13" name="Line 155"/>
                <p:cNvSpPr/>
                <p:nvPr/>
              </p:nvSpPr>
              <p:spPr>
                <a:xfrm flipH="1">
                  <a:off x="3635" y="1326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14" name="Line 156"/>
                <p:cNvSpPr/>
                <p:nvPr/>
              </p:nvSpPr>
              <p:spPr>
                <a:xfrm>
                  <a:off x="3633" y="1369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15" name="Line 157"/>
                <p:cNvSpPr/>
                <p:nvPr/>
              </p:nvSpPr>
              <p:spPr>
                <a:xfrm flipH="1">
                  <a:off x="3630" y="1417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16" name="Line 158"/>
                <p:cNvSpPr/>
                <p:nvPr/>
              </p:nvSpPr>
              <p:spPr>
                <a:xfrm>
                  <a:off x="3628" y="1462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17" name="Line 159"/>
                <p:cNvSpPr/>
                <p:nvPr/>
              </p:nvSpPr>
              <p:spPr>
                <a:xfrm flipH="1">
                  <a:off x="3635" y="1509"/>
                  <a:ext cx="77" cy="45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18" name="Line 160"/>
                <p:cNvSpPr/>
                <p:nvPr/>
              </p:nvSpPr>
              <p:spPr>
                <a:xfrm>
                  <a:off x="3633" y="1551"/>
                  <a:ext cx="86" cy="57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19" name="Line 161"/>
                <p:cNvSpPr/>
                <p:nvPr/>
              </p:nvSpPr>
              <p:spPr>
                <a:xfrm flipH="1">
                  <a:off x="3630" y="1599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20" name="Line 162"/>
                <p:cNvSpPr/>
                <p:nvPr/>
              </p:nvSpPr>
              <p:spPr>
                <a:xfrm>
                  <a:off x="3628" y="1642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21" name="Line 163"/>
                <p:cNvSpPr/>
                <p:nvPr/>
              </p:nvSpPr>
              <p:spPr>
                <a:xfrm flipH="1">
                  <a:off x="3631" y="1691"/>
                  <a:ext cx="88" cy="43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22" name="Line 164"/>
                <p:cNvSpPr/>
                <p:nvPr/>
              </p:nvSpPr>
              <p:spPr>
                <a:xfrm>
                  <a:off x="3633" y="1734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23" name="Line 165"/>
                <p:cNvSpPr/>
                <p:nvPr/>
              </p:nvSpPr>
              <p:spPr>
                <a:xfrm flipH="1">
                  <a:off x="3630" y="1782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24" name="Line 166"/>
                <p:cNvSpPr/>
                <p:nvPr/>
              </p:nvSpPr>
              <p:spPr>
                <a:xfrm>
                  <a:off x="3626" y="1829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25" name="Line 167"/>
                <p:cNvSpPr/>
                <p:nvPr/>
              </p:nvSpPr>
              <p:spPr>
                <a:xfrm flipH="1">
                  <a:off x="3631" y="1876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26" name="Line 168"/>
                <p:cNvSpPr/>
                <p:nvPr/>
              </p:nvSpPr>
              <p:spPr>
                <a:xfrm>
                  <a:off x="3633" y="1925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27" name="Line 169"/>
                <p:cNvSpPr/>
                <p:nvPr/>
              </p:nvSpPr>
              <p:spPr>
                <a:xfrm flipH="1">
                  <a:off x="3630" y="1973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28" name="Line 170"/>
                <p:cNvSpPr/>
                <p:nvPr/>
              </p:nvSpPr>
              <p:spPr>
                <a:xfrm>
                  <a:off x="3628" y="2016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29" name="Line 171"/>
                <p:cNvSpPr/>
                <p:nvPr/>
              </p:nvSpPr>
              <p:spPr>
                <a:xfrm flipH="1">
                  <a:off x="3635" y="2065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30" name="Line 172"/>
                <p:cNvSpPr/>
                <p:nvPr/>
              </p:nvSpPr>
              <p:spPr>
                <a:xfrm>
                  <a:off x="3633" y="2110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31" name="Line 173"/>
                <p:cNvSpPr/>
                <p:nvPr/>
              </p:nvSpPr>
              <p:spPr>
                <a:xfrm flipH="1">
                  <a:off x="3630" y="2163"/>
                  <a:ext cx="81" cy="41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32" name="Line 174"/>
                <p:cNvSpPr/>
                <p:nvPr/>
              </p:nvSpPr>
              <p:spPr>
                <a:xfrm>
                  <a:off x="3628" y="2199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33" name="Line 175"/>
                <p:cNvSpPr/>
                <p:nvPr/>
              </p:nvSpPr>
              <p:spPr>
                <a:xfrm flipH="1">
                  <a:off x="3635" y="2250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34" name="Line 176"/>
                <p:cNvSpPr/>
                <p:nvPr/>
              </p:nvSpPr>
              <p:spPr>
                <a:xfrm>
                  <a:off x="3631" y="2293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35" name="Line 177"/>
                <p:cNvSpPr/>
                <p:nvPr/>
              </p:nvSpPr>
              <p:spPr>
                <a:xfrm flipH="1">
                  <a:off x="3632" y="2341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36" name="Line 178"/>
                <p:cNvSpPr/>
                <p:nvPr/>
              </p:nvSpPr>
              <p:spPr>
                <a:xfrm>
                  <a:off x="3628" y="2384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37" name="Line 179"/>
                <p:cNvSpPr/>
                <p:nvPr/>
              </p:nvSpPr>
              <p:spPr>
                <a:xfrm flipH="1">
                  <a:off x="3635" y="2431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38" name="Line 180"/>
                <p:cNvSpPr/>
                <p:nvPr/>
              </p:nvSpPr>
              <p:spPr>
                <a:xfrm>
                  <a:off x="3633" y="2478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39" name="Line 181"/>
                <p:cNvSpPr/>
                <p:nvPr/>
              </p:nvSpPr>
              <p:spPr>
                <a:xfrm flipH="1">
                  <a:off x="3630" y="2526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40" name="Line 182"/>
                <p:cNvSpPr/>
                <p:nvPr/>
              </p:nvSpPr>
              <p:spPr>
                <a:xfrm>
                  <a:off x="3632" y="2573"/>
                  <a:ext cx="91" cy="57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41" name="Line 183"/>
                <p:cNvSpPr/>
                <p:nvPr/>
              </p:nvSpPr>
              <p:spPr>
                <a:xfrm flipH="1">
                  <a:off x="3627" y="2626"/>
                  <a:ext cx="92" cy="53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42" name="Line 184"/>
                <p:cNvSpPr/>
                <p:nvPr/>
              </p:nvSpPr>
              <p:spPr>
                <a:xfrm flipH="1">
                  <a:off x="3643" y="2717"/>
                  <a:ext cx="67" cy="39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43" name="Line 185"/>
                <p:cNvSpPr/>
                <p:nvPr/>
              </p:nvSpPr>
              <p:spPr>
                <a:xfrm>
                  <a:off x="3648" y="2755"/>
                  <a:ext cx="58" cy="34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44" name="Freeform 186"/>
                <p:cNvSpPr/>
                <p:nvPr/>
              </p:nvSpPr>
              <p:spPr>
                <a:xfrm>
                  <a:off x="3663" y="2791"/>
                  <a:ext cx="40" cy="31"/>
                </a:xfrm>
                <a:custGeom>
                  <a:avLst/>
                  <a:gdLst>
                    <a:gd name="txL" fmla="*/ 0 w 40"/>
                    <a:gd name="txT" fmla="*/ 0 h 31"/>
                    <a:gd name="txR" fmla="*/ 40 w 40"/>
                    <a:gd name="txB" fmla="*/ 31 h 31"/>
                  </a:gdLst>
                  <a:ahLst/>
                  <a:cxnLst>
                    <a:cxn ang="0">
                      <a:pos x="40" y="0"/>
                    </a:cxn>
                    <a:cxn ang="0">
                      <a:pos x="0" y="31"/>
                    </a:cxn>
                  </a:cxnLst>
                  <a:rect l="txL" t="txT" r="txR" b="txB"/>
                  <a:pathLst>
                    <a:path w="40" h="31">
                      <a:moveTo>
                        <a:pt x="40" y="0"/>
                      </a:moveTo>
                      <a:lnTo>
                        <a:pt x="0" y="31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57606" name="Line 187"/>
              <p:cNvSpPr/>
              <p:nvPr/>
            </p:nvSpPr>
            <p:spPr>
              <a:xfrm>
                <a:off x="3657" y="2817"/>
                <a:ext cx="38" cy="22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07" name="Line 188"/>
              <p:cNvSpPr/>
              <p:nvPr/>
            </p:nvSpPr>
            <p:spPr>
              <a:xfrm flipH="1">
                <a:off x="3671" y="2837"/>
                <a:ext cx="29" cy="29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608" name="Line 189"/>
              <p:cNvSpPr/>
              <p:nvPr/>
            </p:nvSpPr>
            <p:spPr>
              <a:xfrm flipH="1" flipV="1">
                <a:off x="3635" y="1099"/>
                <a:ext cx="75" cy="43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7479" name="Group 190"/>
            <p:cNvGrpSpPr/>
            <p:nvPr/>
          </p:nvGrpSpPr>
          <p:grpSpPr>
            <a:xfrm>
              <a:off x="3887" y="1120"/>
              <a:ext cx="104" cy="1746"/>
              <a:chOff x="3868" y="1119"/>
              <a:chExt cx="93" cy="1746"/>
            </a:xfrm>
          </p:grpSpPr>
          <p:grpSp>
            <p:nvGrpSpPr>
              <p:cNvPr id="57563" name="Group 191"/>
              <p:cNvGrpSpPr/>
              <p:nvPr/>
            </p:nvGrpSpPr>
            <p:grpSpPr>
              <a:xfrm>
                <a:off x="3868" y="1119"/>
                <a:ext cx="93" cy="1684"/>
                <a:chOff x="3868" y="1119"/>
                <a:chExt cx="93" cy="1684"/>
              </a:xfrm>
            </p:grpSpPr>
            <p:sp>
              <p:nvSpPr>
                <p:cNvPr id="57567" name="Line 192"/>
                <p:cNvSpPr/>
                <p:nvPr/>
              </p:nvSpPr>
              <p:spPr>
                <a:xfrm>
                  <a:off x="3873" y="2650"/>
                  <a:ext cx="72" cy="42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68" name="Line 193"/>
                <p:cNvSpPr/>
                <p:nvPr/>
              </p:nvSpPr>
              <p:spPr>
                <a:xfrm flipH="1">
                  <a:off x="3875" y="1119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69" name="Line 194"/>
                <p:cNvSpPr/>
                <p:nvPr/>
              </p:nvSpPr>
              <p:spPr>
                <a:xfrm>
                  <a:off x="3873" y="1162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70" name="Line 195"/>
                <p:cNvSpPr/>
                <p:nvPr/>
              </p:nvSpPr>
              <p:spPr>
                <a:xfrm flipH="1">
                  <a:off x="3870" y="1210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71" name="Line 196"/>
                <p:cNvSpPr/>
                <p:nvPr/>
              </p:nvSpPr>
              <p:spPr>
                <a:xfrm>
                  <a:off x="3868" y="1253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72" name="Line 197"/>
                <p:cNvSpPr/>
                <p:nvPr/>
              </p:nvSpPr>
              <p:spPr>
                <a:xfrm flipH="1">
                  <a:off x="3875" y="1302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73" name="Line 198"/>
                <p:cNvSpPr/>
                <p:nvPr/>
              </p:nvSpPr>
              <p:spPr>
                <a:xfrm>
                  <a:off x="3873" y="1345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74" name="Line 199"/>
                <p:cNvSpPr/>
                <p:nvPr/>
              </p:nvSpPr>
              <p:spPr>
                <a:xfrm flipH="1">
                  <a:off x="3870" y="1393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75" name="Line 200"/>
                <p:cNvSpPr/>
                <p:nvPr/>
              </p:nvSpPr>
              <p:spPr>
                <a:xfrm>
                  <a:off x="3868" y="1436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76" name="Line 201"/>
                <p:cNvSpPr/>
                <p:nvPr/>
              </p:nvSpPr>
              <p:spPr>
                <a:xfrm flipH="1">
                  <a:off x="3875" y="1484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77" name="Line 202"/>
                <p:cNvSpPr/>
                <p:nvPr/>
              </p:nvSpPr>
              <p:spPr>
                <a:xfrm>
                  <a:off x="3873" y="1527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78" name="Line 203"/>
                <p:cNvSpPr/>
                <p:nvPr/>
              </p:nvSpPr>
              <p:spPr>
                <a:xfrm flipH="1">
                  <a:off x="3870" y="1575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79" name="Line 204"/>
                <p:cNvSpPr/>
                <p:nvPr/>
              </p:nvSpPr>
              <p:spPr>
                <a:xfrm>
                  <a:off x="3868" y="1618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80" name="Line 205"/>
                <p:cNvSpPr/>
                <p:nvPr/>
              </p:nvSpPr>
              <p:spPr>
                <a:xfrm flipH="1">
                  <a:off x="3875" y="1667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81" name="Line 206"/>
                <p:cNvSpPr/>
                <p:nvPr/>
              </p:nvSpPr>
              <p:spPr>
                <a:xfrm>
                  <a:off x="3873" y="1710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82" name="Line 207"/>
                <p:cNvSpPr/>
                <p:nvPr/>
              </p:nvSpPr>
              <p:spPr>
                <a:xfrm flipH="1">
                  <a:off x="3870" y="1758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83" name="Line 208"/>
                <p:cNvSpPr/>
                <p:nvPr/>
              </p:nvSpPr>
              <p:spPr>
                <a:xfrm>
                  <a:off x="3868" y="1801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84" name="Line 209"/>
                <p:cNvSpPr/>
                <p:nvPr/>
              </p:nvSpPr>
              <p:spPr>
                <a:xfrm flipH="1">
                  <a:off x="3875" y="1858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85" name="Line 210"/>
                <p:cNvSpPr/>
                <p:nvPr/>
              </p:nvSpPr>
              <p:spPr>
                <a:xfrm>
                  <a:off x="3873" y="1901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86" name="Line 211"/>
                <p:cNvSpPr/>
                <p:nvPr/>
              </p:nvSpPr>
              <p:spPr>
                <a:xfrm flipH="1">
                  <a:off x="3870" y="1949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87" name="Line 212"/>
                <p:cNvSpPr/>
                <p:nvPr/>
              </p:nvSpPr>
              <p:spPr>
                <a:xfrm>
                  <a:off x="3868" y="1992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88" name="Line 213"/>
                <p:cNvSpPr/>
                <p:nvPr/>
              </p:nvSpPr>
              <p:spPr>
                <a:xfrm flipH="1">
                  <a:off x="3875" y="2041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89" name="Line 214"/>
                <p:cNvSpPr/>
                <p:nvPr/>
              </p:nvSpPr>
              <p:spPr>
                <a:xfrm>
                  <a:off x="3873" y="2084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90" name="Line 215"/>
                <p:cNvSpPr/>
                <p:nvPr/>
              </p:nvSpPr>
              <p:spPr>
                <a:xfrm flipH="1">
                  <a:off x="3870" y="2132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91" name="Line 216"/>
                <p:cNvSpPr/>
                <p:nvPr/>
              </p:nvSpPr>
              <p:spPr>
                <a:xfrm>
                  <a:off x="3868" y="2175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92" name="Line 217"/>
                <p:cNvSpPr/>
                <p:nvPr/>
              </p:nvSpPr>
              <p:spPr>
                <a:xfrm flipH="1">
                  <a:off x="3875" y="2228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93" name="Line 218"/>
                <p:cNvSpPr/>
                <p:nvPr/>
              </p:nvSpPr>
              <p:spPr>
                <a:xfrm>
                  <a:off x="3873" y="2271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94" name="Line 219"/>
                <p:cNvSpPr/>
                <p:nvPr/>
              </p:nvSpPr>
              <p:spPr>
                <a:xfrm flipH="1">
                  <a:off x="3870" y="2319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95" name="Line 220"/>
                <p:cNvSpPr/>
                <p:nvPr/>
              </p:nvSpPr>
              <p:spPr>
                <a:xfrm>
                  <a:off x="3868" y="2362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96" name="Line 221"/>
                <p:cNvSpPr/>
                <p:nvPr/>
              </p:nvSpPr>
              <p:spPr>
                <a:xfrm flipH="1">
                  <a:off x="3875" y="2411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97" name="Line 222"/>
                <p:cNvSpPr/>
                <p:nvPr/>
              </p:nvSpPr>
              <p:spPr>
                <a:xfrm>
                  <a:off x="3873" y="2454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98" name="Line 223"/>
                <p:cNvSpPr/>
                <p:nvPr/>
              </p:nvSpPr>
              <p:spPr>
                <a:xfrm flipH="1">
                  <a:off x="3870" y="2502"/>
                  <a:ext cx="84" cy="48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599" name="Line 224"/>
                <p:cNvSpPr/>
                <p:nvPr/>
              </p:nvSpPr>
              <p:spPr>
                <a:xfrm>
                  <a:off x="3868" y="2545"/>
                  <a:ext cx="86" cy="50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00" name="Line 225"/>
                <p:cNvSpPr/>
                <p:nvPr/>
              </p:nvSpPr>
              <p:spPr>
                <a:xfrm flipH="1">
                  <a:off x="3869" y="2598"/>
                  <a:ext cx="92" cy="53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01" name="Line 226"/>
                <p:cNvSpPr/>
                <p:nvPr/>
              </p:nvSpPr>
              <p:spPr>
                <a:xfrm flipH="1">
                  <a:off x="3873" y="2693"/>
                  <a:ext cx="67" cy="39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02" name="Line 227"/>
                <p:cNvSpPr/>
                <p:nvPr/>
              </p:nvSpPr>
              <p:spPr>
                <a:xfrm>
                  <a:off x="3878" y="2731"/>
                  <a:ext cx="58" cy="34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603" name="Line 228"/>
                <p:cNvSpPr/>
                <p:nvPr/>
              </p:nvSpPr>
              <p:spPr>
                <a:xfrm flipH="1">
                  <a:off x="3902" y="2770"/>
                  <a:ext cx="33" cy="33"/>
                </a:xfrm>
                <a:prstGeom prst="line">
                  <a:avLst/>
                </a:prstGeom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7564" name="Line 229"/>
              <p:cNvSpPr/>
              <p:nvPr/>
            </p:nvSpPr>
            <p:spPr>
              <a:xfrm>
                <a:off x="3907" y="2798"/>
                <a:ext cx="39" cy="23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65" name="Line 230"/>
              <p:cNvSpPr/>
              <p:nvPr/>
            </p:nvSpPr>
            <p:spPr>
              <a:xfrm flipH="1">
                <a:off x="3907" y="2822"/>
                <a:ext cx="39" cy="23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66" name="Line 231"/>
              <p:cNvSpPr/>
              <p:nvPr/>
            </p:nvSpPr>
            <p:spPr>
              <a:xfrm>
                <a:off x="3912" y="2846"/>
                <a:ext cx="19" cy="19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7480" name="Line 232"/>
            <p:cNvSpPr/>
            <p:nvPr/>
          </p:nvSpPr>
          <p:spPr>
            <a:xfrm flipH="1" flipV="1">
              <a:off x="3883" y="1086"/>
              <a:ext cx="102" cy="33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81" name="Line 233"/>
            <p:cNvSpPr/>
            <p:nvPr/>
          </p:nvSpPr>
          <p:spPr>
            <a:xfrm>
              <a:off x="3717" y="1235"/>
              <a:ext cx="193" cy="19"/>
            </a:xfrm>
            <a:prstGeom prst="line">
              <a:avLst/>
            </a:prstGeom>
            <a:ln w="127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82" name="Line 234"/>
            <p:cNvSpPr/>
            <p:nvPr/>
          </p:nvSpPr>
          <p:spPr>
            <a:xfrm>
              <a:off x="3712" y="1331"/>
              <a:ext cx="193" cy="19"/>
            </a:xfrm>
            <a:prstGeom prst="line">
              <a:avLst/>
            </a:prstGeom>
            <a:ln w="127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83" name="Line 235"/>
            <p:cNvSpPr/>
            <p:nvPr/>
          </p:nvSpPr>
          <p:spPr>
            <a:xfrm>
              <a:off x="3708" y="1422"/>
              <a:ext cx="193" cy="19"/>
            </a:xfrm>
            <a:prstGeom prst="line">
              <a:avLst/>
            </a:prstGeom>
            <a:ln w="127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84" name="Line 236"/>
            <p:cNvSpPr/>
            <p:nvPr/>
          </p:nvSpPr>
          <p:spPr>
            <a:xfrm flipV="1">
              <a:off x="3636" y="1081"/>
              <a:ext cx="88" cy="19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7485" name="Group 237"/>
            <p:cNvGrpSpPr/>
            <p:nvPr/>
          </p:nvGrpSpPr>
          <p:grpSpPr>
            <a:xfrm>
              <a:off x="3620" y="1078"/>
              <a:ext cx="370" cy="1767"/>
              <a:chOff x="3628" y="1077"/>
              <a:chExt cx="332" cy="1767"/>
            </a:xfrm>
          </p:grpSpPr>
          <p:sp>
            <p:nvSpPr>
              <p:cNvPr id="57525" name="Line 238"/>
              <p:cNvSpPr/>
              <p:nvPr/>
            </p:nvSpPr>
            <p:spPr>
              <a:xfrm>
                <a:off x="3715" y="1147"/>
                <a:ext cx="163" cy="19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26" name="Line 239"/>
              <p:cNvSpPr/>
              <p:nvPr/>
            </p:nvSpPr>
            <p:spPr>
              <a:xfrm>
                <a:off x="3647" y="1187"/>
                <a:ext cx="313" cy="2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27" name="Line 240"/>
              <p:cNvSpPr/>
              <p:nvPr/>
            </p:nvSpPr>
            <p:spPr>
              <a:xfrm>
                <a:off x="3638" y="1099"/>
                <a:ext cx="322" cy="24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28" name="Line 241"/>
              <p:cNvSpPr/>
              <p:nvPr/>
            </p:nvSpPr>
            <p:spPr>
              <a:xfrm>
                <a:off x="3638" y="1279"/>
                <a:ext cx="313" cy="2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29" name="Line 242"/>
              <p:cNvSpPr/>
              <p:nvPr/>
            </p:nvSpPr>
            <p:spPr>
              <a:xfrm>
                <a:off x="3637" y="1369"/>
                <a:ext cx="313" cy="2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30" name="Line 243"/>
              <p:cNvSpPr/>
              <p:nvPr/>
            </p:nvSpPr>
            <p:spPr>
              <a:xfrm>
                <a:off x="3628" y="1460"/>
                <a:ext cx="313" cy="2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31" name="Line 244"/>
              <p:cNvSpPr/>
              <p:nvPr/>
            </p:nvSpPr>
            <p:spPr>
              <a:xfrm>
                <a:off x="3637" y="1551"/>
                <a:ext cx="313" cy="2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32" name="Line 245"/>
              <p:cNvSpPr/>
              <p:nvPr/>
            </p:nvSpPr>
            <p:spPr>
              <a:xfrm>
                <a:off x="3638" y="1642"/>
                <a:ext cx="313" cy="2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33" name="Line 246"/>
              <p:cNvSpPr/>
              <p:nvPr/>
            </p:nvSpPr>
            <p:spPr>
              <a:xfrm>
                <a:off x="3639" y="1733"/>
                <a:ext cx="313" cy="2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34" name="Line 247"/>
              <p:cNvSpPr/>
              <p:nvPr/>
            </p:nvSpPr>
            <p:spPr>
              <a:xfrm>
                <a:off x="3640" y="1829"/>
                <a:ext cx="313" cy="2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35" name="Line 248"/>
              <p:cNvSpPr/>
              <p:nvPr/>
            </p:nvSpPr>
            <p:spPr>
              <a:xfrm>
                <a:off x="3631" y="1920"/>
                <a:ext cx="313" cy="2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36" name="Line 249"/>
              <p:cNvSpPr/>
              <p:nvPr/>
            </p:nvSpPr>
            <p:spPr>
              <a:xfrm>
                <a:off x="3637" y="2016"/>
                <a:ext cx="313" cy="2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37" name="Line 250"/>
              <p:cNvSpPr/>
              <p:nvPr/>
            </p:nvSpPr>
            <p:spPr>
              <a:xfrm>
                <a:off x="3638" y="2107"/>
                <a:ext cx="313" cy="2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38" name="Line 251"/>
              <p:cNvSpPr/>
              <p:nvPr/>
            </p:nvSpPr>
            <p:spPr>
              <a:xfrm>
                <a:off x="3639" y="2198"/>
                <a:ext cx="313" cy="2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39" name="Line 252"/>
              <p:cNvSpPr/>
              <p:nvPr/>
            </p:nvSpPr>
            <p:spPr>
              <a:xfrm>
                <a:off x="3640" y="2294"/>
                <a:ext cx="313" cy="2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40" name="Line 253"/>
              <p:cNvSpPr/>
              <p:nvPr/>
            </p:nvSpPr>
            <p:spPr>
              <a:xfrm>
                <a:off x="3636" y="2385"/>
                <a:ext cx="313" cy="2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41" name="Line 254"/>
              <p:cNvSpPr/>
              <p:nvPr/>
            </p:nvSpPr>
            <p:spPr>
              <a:xfrm>
                <a:off x="3637" y="2473"/>
                <a:ext cx="313" cy="31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42" name="Line 255"/>
              <p:cNvSpPr/>
              <p:nvPr/>
            </p:nvSpPr>
            <p:spPr>
              <a:xfrm>
                <a:off x="3638" y="2567"/>
                <a:ext cx="314" cy="3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43" name="Line 256"/>
              <p:cNvSpPr/>
              <p:nvPr/>
            </p:nvSpPr>
            <p:spPr>
              <a:xfrm>
                <a:off x="3636" y="2673"/>
                <a:ext cx="311" cy="1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44" name="Line 257"/>
              <p:cNvSpPr/>
              <p:nvPr/>
            </p:nvSpPr>
            <p:spPr>
              <a:xfrm>
                <a:off x="3648" y="2750"/>
                <a:ext cx="288" cy="20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45" name="Line 258"/>
              <p:cNvSpPr/>
              <p:nvPr/>
            </p:nvSpPr>
            <p:spPr>
              <a:xfrm>
                <a:off x="3667" y="2822"/>
                <a:ext cx="274" cy="0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46" name="Line 259"/>
              <p:cNvSpPr/>
              <p:nvPr/>
            </p:nvSpPr>
            <p:spPr>
              <a:xfrm>
                <a:off x="3701" y="2789"/>
                <a:ext cx="211" cy="9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47" name="Line 260"/>
              <p:cNvSpPr/>
              <p:nvPr/>
            </p:nvSpPr>
            <p:spPr>
              <a:xfrm>
                <a:off x="3696" y="2844"/>
                <a:ext cx="214" cy="0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48" name="Line 261"/>
              <p:cNvSpPr/>
              <p:nvPr/>
            </p:nvSpPr>
            <p:spPr>
              <a:xfrm>
                <a:off x="3710" y="2717"/>
                <a:ext cx="173" cy="9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49" name="Line 262"/>
              <p:cNvSpPr/>
              <p:nvPr/>
            </p:nvSpPr>
            <p:spPr>
              <a:xfrm>
                <a:off x="3715" y="2628"/>
                <a:ext cx="156" cy="15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50" name="Line 263"/>
              <p:cNvSpPr/>
              <p:nvPr/>
            </p:nvSpPr>
            <p:spPr>
              <a:xfrm>
                <a:off x="3717" y="2527"/>
                <a:ext cx="152" cy="17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51" name="Line 264"/>
              <p:cNvSpPr/>
              <p:nvPr/>
            </p:nvSpPr>
            <p:spPr>
              <a:xfrm>
                <a:off x="3708" y="1512"/>
                <a:ext cx="173" cy="19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52" name="Line 265"/>
              <p:cNvSpPr/>
              <p:nvPr/>
            </p:nvSpPr>
            <p:spPr>
              <a:xfrm>
                <a:off x="3704" y="1603"/>
                <a:ext cx="173" cy="19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53" name="Line 266"/>
              <p:cNvSpPr/>
              <p:nvPr/>
            </p:nvSpPr>
            <p:spPr>
              <a:xfrm>
                <a:off x="3715" y="1694"/>
                <a:ext cx="173" cy="19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54" name="Line 267"/>
              <p:cNvSpPr/>
              <p:nvPr/>
            </p:nvSpPr>
            <p:spPr>
              <a:xfrm>
                <a:off x="3711" y="1785"/>
                <a:ext cx="173" cy="19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55" name="Line 268"/>
              <p:cNvSpPr/>
              <p:nvPr/>
            </p:nvSpPr>
            <p:spPr>
              <a:xfrm>
                <a:off x="3707" y="1881"/>
                <a:ext cx="173" cy="19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56" name="Line 269"/>
              <p:cNvSpPr/>
              <p:nvPr/>
            </p:nvSpPr>
            <p:spPr>
              <a:xfrm>
                <a:off x="3703" y="1972"/>
                <a:ext cx="173" cy="19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57" name="Line 270"/>
              <p:cNvSpPr/>
              <p:nvPr/>
            </p:nvSpPr>
            <p:spPr>
              <a:xfrm>
                <a:off x="3708" y="2066"/>
                <a:ext cx="173" cy="19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58" name="Line 271"/>
              <p:cNvSpPr/>
              <p:nvPr/>
            </p:nvSpPr>
            <p:spPr>
              <a:xfrm>
                <a:off x="3714" y="2160"/>
                <a:ext cx="169" cy="18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59" name="Line 272"/>
              <p:cNvSpPr/>
              <p:nvPr/>
            </p:nvSpPr>
            <p:spPr>
              <a:xfrm>
                <a:off x="3706" y="2250"/>
                <a:ext cx="173" cy="19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60" name="Line 273"/>
              <p:cNvSpPr/>
              <p:nvPr/>
            </p:nvSpPr>
            <p:spPr>
              <a:xfrm>
                <a:off x="3707" y="2346"/>
                <a:ext cx="173" cy="19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61" name="Line 274"/>
              <p:cNvSpPr/>
              <p:nvPr/>
            </p:nvSpPr>
            <p:spPr>
              <a:xfrm>
                <a:off x="3713" y="2437"/>
                <a:ext cx="173" cy="19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562" name="Line 275"/>
              <p:cNvSpPr/>
              <p:nvPr/>
            </p:nvSpPr>
            <p:spPr>
              <a:xfrm>
                <a:off x="3723" y="1077"/>
                <a:ext cx="151" cy="13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7486" name="Line 276"/>
            <p:cNvSpPr/>
            <p:nvPr/>
          </p:nvSpPr>
          <p:spPr>
            <a:xfrm>
              <a:off x="4070" y="2665"/>
              <a:ext cx="47" cy="42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87" name="Freeform 277"/>
            <p:cNvSpPr/>
            <p:nvPr/>
          </p:nvSpPr>
          <p:spPr>
            <a:xfrm>
              <a:off x="4071" y="1155"/>
              <a:ext cx="25" cy="27"/>
            </a:xfrm>
            <a:custGeom>
              <a:avLst/>
              <a:gdLst>
                <a:gd name="txL" fmla="*/ 0 w 25"/>
                <a:gd name="txT" fmla="*/ 0 h 27"/>
                <a:gd name="txR" fmla="*/ 25 w 25"/>
                <a:gd name="txB" fmla="*/ 27 h 27"/>
              </a:gdLst>
              <a:ahLst/>
              <a:cxnLst>
                <a:cxn ang="0">
                  <a:pos x="25" y="0"/>
                </a:cxn>
                <a:cxn ang="0">
                  <a:pos x="0" y="27"/>
                </a:cxn>
              </a:cxnLst>
              <a:rect l="txL" t="txT" r="txR" b="txB"/>
              <a:pathLst>
                <a:path w="25" h="27">
                  <a:moveTo>
                    <a:pt x="25" y="0"/>
                  </a:moveTo>
                  <a:lnTo>
                    <a:pt x="0" y="27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88" name="Line 278"/>
            <p:cNvSpPr/>
            <p:nvPr/>
          </p:nvSpPr>
          <p:spPr>
            <a:xfrm>
              <a:off x="4070" y="1177"/>
              <a:ext cx="56" cy="50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89" name="Line 279"/>
            <p:cNvSpPr/>
            <p:nvPr/>
          </p:nvSpPr>
          <p:spPr>
            <a:xfrm flipH="1">
              <a:off x="4068" y="1225"/>
              <a:ext cx="55" cy="48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90" name="Line 280"/>
            <p:cNvSpPr/>
            <p:nvPr/>
          </p:nvSpPr>
          <p:spPr>
            <a:xfrm>
              <a:off x="4067" y="1268"/>
              <a:ext cx="56" cy="50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91" name="Line 281"/>
            <p:cNvSpPr/>
            <p:nvPr/>
          </p:nvSpPr>
          <p:spPr>
            <a:xfrm flipH="1">
              <a:off x="4071" y="1317"/>
              <a:ext cx="55" cy="48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92" name="Line 282"/>
            <p:cNvSpPr/>
            <p:nvPr/>
          </p:nvSpPr>
          <p:spPr>
            <a:xfrm>
              <a:off x="4070" y="1360"/>
              <a:ext cx="56" cy="50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93" name="Line 283"/>
            <p:cNvSpPr/>
            <p:nvPr/>
          </p:nvSpPr>
          <p:spPr>
            <a:xfrm flipH="1">
              <a:off x="4068" y="1408"/>
              <a:ext cx="55" cy="48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94" name="Line 284"/>
            <p:cNvSpPr/>
            <p:nvPr/>
          </p:nvSpPr>
          <p:spPr>
            <a:xfrm>
              <a:off x="4067" y="1451"/>
              <a:ext cx="56" cy="50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95" name="Line 285"/>
            <p:cNvSpPr/>
            <p:nvPr/>
          </p:nvSpPr>
          <p:spPr>
            <a:xfrm flipH="1">
              <a:off x="4071" y="1499"/>
              <a:ext cx="55" cy="48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96" name="Line 286"/>
            <p:cNvSpPr/>
            <p:nvPr/>
          </p:nvSpPr>
          <p:spPr>
            <a:xfrm>
              <a:off x="4070" y="1542"/>
              <a:ext cx="56" cy="50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97" name="Line 287"/>
            <p:cNvSpPr/>
            <p:nvPr/>
          </p:nvSpPr>
          <p:spPr>
            <a:xfrm flipH="1">
              <a:off x="4068" y="1590"/>
              <a:ext cx="55" cy="48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98" name="Line 288"/>
            <p:cNvSpPr/>
            <p:nvPr/>
          </p:nvSpPr>
          <p:spPr>
            <a:xfrm>
              <a:off x="4067" y="1633"/>
              <a:ext cx="56" cy="50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99" name="Line 289"/>
            <p:cNvSpPr/>
            <p:nvPr/>
          </p:nvSpPr>
          <p:spPr>
            <a:xfrm flipH="1">
              <a:off x="4071" y="1682"/>
              <a:ext cx="55" cy="48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500" name="Line 290"/>
            <p:cNvSpPr/>
            <p:nvPr/>
          </p:nvSpPr>
          <p:spPr>
            <a:xfrm>
              <a:off x="4070" y="1725"/>
              <a:ext cx="56" cy="50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501" name="Line 291"/>
            <p:cNvSpPr/>
            <p:nvPr/>
          </p:nvSpPr>
          <p:spPr>
            <a:xfrm flipH="1">
              <a:off x="4068" y="1773"/>
              <a:ext cx="55" cy="48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502" name="Line 292"/>
            <p:cNvSpPr/>
            <p:nvPr/>
          </p:nvSpPr>
          <p:spPr>
            <a:xfrm>
              <a:off x="4069" y="1820"/>
              <a:ext cx="56" cy="50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503" name="Line 293"/>
            <p:cNvSpPr/>
            <p:nvPr/>
          </p:nvSpPr>
          <p:spPr>
            <a:xfrm flipH="1">
              <a:off x="4071" y="1871"/>
              <a:ext cx="55" cy="48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504" name="Line 294"/>
            <p:cNvSpPr/>
            <p:nvPr/>
          </p:nvSpPr>
          <p:spPr>
            <a:xfrm>
              <a:off x="4070" y="1916"/>
              <a:ext cx="56" cy="50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505" name="Line 295"/>
            <p:cNvSpPr/>
            <p:nvPr/>
          </p:nvSpPr>
          <p:spPr>
            <a:xfrm flipH="1">
              <a:off x="4068" y="1964"/>
              <a:ext cx="55" cy="48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506" name="Line 296"/>
            <p:cNvSpPr/>
            <p:nvPr/>
          </p:nvSpPr>
          <p:spPr>
            <a:xfrm>
              <a:off x="4067" y="2007"/>
              <a:ext cx="56" cy="50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507" name="Line 297"/>
            <p:cNvSpPr/>
            <p:nvPr/>
          </p:nvSpPr>
          <p:spPr>
            <a:xfrm flipH="1">
              <a:off x="4071" y="2056"/>
              <a:ext cx="55" cy="48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508" name="Line 298"/>
            <p:cNvSpPr/>
            <p:nvPr/>
          </p:nvSpPr>
          <p:spPr>
            <a:xfrm>
              <a:off x="4070" y="2099"/>
              <a:ext cx="56" cy="50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509" name="Line 299"/>
            <p:cNvSpPr/>
            <p:nvPr/>
          </p:nvSpPr>
          <p:spPr>
            <a:xfrm flipH="1">
              <a:off x="4068" y="2147"/>
              <a:ext cx="55" cy="48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510" name="Line 300"/>
            <p:cNvSpPr/>
            <p:nvPr/>
          </p:nvSpPr>
          <p:spPr>
            <a:xfrm>
              <a:off x="4067" y="2190"/>
              <a:ext cx="56" cy="50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511" name="Line 301"/>
            <p:cNvSpPr/>
            <p:nvPr/>
          </p:nvSpPr>
          <p:spPr>
            <a:xfrm flipH="1">
              <a:off x="4071" y="2241"/>
              <a:ext cx="55" cy="48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512" name="Line 302"/>
            <p:cNvSpPr/>
            <p:nvPr/>
          </p:nvSpPr>
          <p:spPr>
            <a:xfrm>
              <a:off x="4070" y="2286"/>
              <a:ext cx="56" cy="50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513" name="Line 303"/>
            <p:cNvSpPr/>
            <p:nvPr/>
          </p:nvSpPr>
          <p:spPr>
            <a:xfrm flipH="1">
              <a:off x="4068" y="2334"/>
              <a:ext cx="55" cy="48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514" name="Line 304"/>
            <p:cNvSpPr/>
            <p:nvPr/>
          </p:nvSpPr>
          <p:spPr>
            <a:xfrm>
              <a:off x="4067" y="2377"/>
              <a:ext cx="56" cy="50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515" name="Line 305"/>
            <p:cNvSpPr/>
            <p:nvPr/>
          </p:nvSpPr>
          <p:spPr>
            <a:xfrm flipH="1">
              <a:off x="4071" y="2426"/>
              <a:ext cx="55" cy="48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516" name="Line 306"/>
            <p:cNvSpPr/>
            <p:nvPr/>
          </p:nvSpPr>
          <p:spPr>
            <a:xfrm>
              <a:off x="4070" y="2469"/>
              <a:ext cx="56" cy="50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517" name="Line 307"/>
            <p:cNvSpPr/>
            <p:nvPr/>
          </p:nvSpPr>
          <p:spPr>
            <a:xfrm flipH="1">
              <a:off x="4068" y="2517"/>
              <a:ext cx="55" cy="48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518" name="Line 308"/>
            <p:cNvSpPr/>
            <p:nvPr/>
          </p:nvSpPr>
          <p:spPr>
            <a:xfrm>
              <a:off x="4067" y="2562"/>
              <a:ext cx="56" cy="50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519" name="Line 309"/>
            <p:cNvSpPr/>
            <p:nvPr/>
          </p:nvSpPr>
          <p:spPr>
            <a:xfrm flipH="1">
              <a:off x="4065" y="2611"/>
              <a:ext cx="60" cy="53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520" name="Line 310"/>
            <p:cNvSpPr/>
            <p:nvPr/>
          </p:nvSpPr>
          <p:spPr>
            <a:xfrm flipH="1">
              <a:off x="4070" y="2708"/>
              <a:ext cx="44" cy="39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521" name="Line 311"/>
            <p:cNvSpPr/>
            <p:nvPr/>
          </p:nvSpPr>
          <p:spPr>
            <a:xfrm>
              <a:off x="4071" y="2746"/>
              <a:ext cx="37" cy="34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522" name="Line 312"/>
            <p:cNvSpPr/>
            <p:nvPr/>
          </p:nvSpPr>
          <p:spPr>
            <a:xfrm flipH="1">
              <a:off x="4072" y="2780"/>
              <a:ext cx="35" cy="31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523" name="Line 313"/>
            <p:cNvSpPr/>
            <p:nvPr/>
          </p:nvSpPr>
          <p:spPr>
            <a:xfrm>
              <a:off x="4070" y="2805"/>
              <a:ext cx="24" cy="36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524" name="Line 314"/>
            <p:cNvSpPr/>
            <p:nvPr/>
          </p:nvSpPr>
          <p:spPr>
            <a:xfrm flipH="1">
              <a:off x="4081" y="2843"/>
              <a:ext cx="19" cy="28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6027" name="Text Box 315"/>
          <p:cNvSpPr txBox="1"/>
          <p:nvPr/>
        </p:nvSpPr>
        <p:spPr>
          <a:xfrm>
            <a:off x="1481138" y="1760538"/>
            <a:ext cx="733425" cy="996950"/>
          </a:xfrm>
          <a:prstGeom prst="rect">
            <a:avLst/>
          </a:prstGeom>
          <a:noFill/>
          <a:ln w="12700">
            <a:noFill/>
          </a:ln>
        </p:spPr>
        <p:txBody>
          <a:bodyPr vert="eaVert" wrap="none" anchor="ctr">
            <a:spAutoFit/>
          </a:bodyPr>
          <a:lstStyle/>
          <a:p>
            <a:pPr algn="ctr" eaLnBrk="0" hangingPunct="0"/>
            <a:r>
              <a:rPr lang="zh-CN" altLang="en-US" sz="3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钻孔</a:t>
            </a:r>
            <a:endParaRPr lang="zh-CN" altLang="en-US" sz="36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6028" name="Text Box 316"/>
          <p:cNvSpPr txBox="1"/>
          <p:nvPr/>
        </p:nvSpPr>
        <p:spPr>
          <a:xfrm>
            <a:off x="6938963" y="1754188"/>
            <a:ext cx="733425" cy="1012825"/>
          </a:xfrm>
          <a:prstGeom prst="rect">
            <a:avLst/>
          </a:prstGeom>
          <a:noFill/>
          <a:ln w="12700">
            <a:noFill/>
          </a:ln>
        </p:spPr>
        <p:txBody>
          <a:bodyPr vert="eaVert" wrap="none" anchor="ctr">
            <a:spAutoFit/>
          </a:bodyPr>
          <a:lstStyle/>
          <a:p>
            <a:pPr algn="ctr" eaLnBrk="0" hangingPunct="0"/>
            <a:r>
              <a:rPr lang="zh-CN" altLang="en-US" sz="3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攻丝</a:t>
            </a:r>
            <a:endParaRPr lang="zh-CN" altLang="en-US" sz="36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8" name="Group 317"/>
          <p:cNvGrpSpPr/>
          <p:nvPr/>
        </p:nvGrpSpPr>
        <p:grpSpPr>
          <a:xfrm>
            <a:off x="1703388" y="3249613"/>
            <a:ext cx="2760662" cy="2563812"/>
            <a:chOff x="960" y="1934"/>
            <a:chExt cx="1739" cy="1615"/>
          </a:xfrm>
        </p:grpSpPr>
        <p:sp>
          <p:nvSpPr>
            <p:cNvPr id="57415" name="Line 318"/>
            <p:cNvSpPr/>
            <p:nvPr/>
          </p:nvSpPr>
          <p:spPr>
            <a:xfrm flipV="1">
              <a:off x="960" y="1964"/>
              <a:ext cx="1033" cy="103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16" name="Line 319"/>
            <p:cNvSpPr/>
            <p:nvPr/>
          </p:nvSpPr>
          <p:spPr>
            <a:xfrm flipV="1">
              <a:off x="960" y="1957"/>
              <a:ext cx="1185" cy="118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17" name="Line 320"/>
            <p:cNvSpPr/>
            <p:nvPr/>
          </p:nvSpPr>
          <p:spPr>
            <a:xfrm flipV="1">
              <a:off x="973" y="1955"/>
              <a:ext cx="1319" cy="131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18" name="Line 321"/>
            <p:cNvSpPr/>
            <p:nvPr/>
          </p:nvSpPr>
          <p:spPr>
            <a:xfrm flipV="1">
              <a:off x="973" y="1934"/>
              <a:ext cx="1492" cy="14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19" name="Freeform 322"/>
            <p:cNvSpPr/>
            <p:nvPr/>
          </p:nvSpPr>
          <p:spPr>
            <a:xfrm>
              <a:off x="960" y="1956"/>
              <a:ext cx="751" cy="751"/>
            </a:xfrm>
            <a:custGeom>
              <a:avLst/>
              <a:gdLst>
                <a:gd name="txL" fmla="*/ 0 w 570"/>
                <a:gd name="txT" fmla="*/ 0 h 570"/>
                <a:gd name="txR" fmla="*/ 570 w 570"/>
                <a:gd name="txB" fmla="*/ 570 h 570"/>
              </a:gdLst>
              <a:ahLst/>
              <a:cxnLst>
                <a:cxn ang="0">
                  <a:pos x="0" y="989"/>
                </a:cxn>
                <a:cxn ang="0">
                  <a:pos x="989" y="0"/>
                </a:cxn>
              </a:cxnLst>
              <a:rect l="txL" t="txT" r="txR" b="txB"/>
              <a:pathLst>
                <a:path w="570" h="570">
                  <a:moveTo>
                    <a:pt x="0" y="570"/>
                  </a:moveTo>
                  <a:lnTo>
                    <a:pt x="57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20" name="Freeform 323"/>
            <p:cNvSpPr/>
            <p:nvPr/>
          </p:nvSpPr>
          <p:spPr>
            <a:xfrm>
              <a:off x="975" y="1956"/>
              <a:ext cx="889" cy="886"/>
            </a:xfrm>
            <a:custGeom>
              <a:avLst/>
              <a:gdLst>
                <a:gd name="txL" fmla="*/ 0 w 561"/>
                <a:gd name="txT" fmla="*/ 0 h 559"/>
                <a:gd name="txR" fmla="*/ 561 w 561"/>
                <a:gd name="txB" fmla="*/ 559 h 559"/>
              </a:gdLst>
              <a:ahLst/>
              <a:cxnLst>
                <a:cxn ang="0">
                  <a:pos x="0" y="1404"/>
                </a:cxn>
                <a:cxn ang="0">
                  <a:pos x="1409" y="0"/>
                </a:cxn>
              </a:cxnLst>
              <a:rect l="txL" t="txT" r="txR" b="txB"/>
              <a:pathLst>
                <a:path w="561" h="559">
                  <a:moveTo>
                    <a:pt x="0" y="559"/>
                  </a:moveTo>
                  <a:lnTo>
                    <a:pt x="561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21" name="Freeform 324"/>
            <p:cNvSpPr/>
            <p:nvPr/>
          </p:nvSpPr>
          <p:spPr>
            <a:xfrm>
              <a:off x="1019" y="1955"/>
              <a:ext cx="1583" cy="1577"/>
            </a:xfrm>
            <a:custGeom>
              <a:avLst/>
              <a:gdLst>
                <a:gd name="txL" fmla="*/ 0 w 525"/>
                <a:gd name="txT" fmla="*/ 0 h 523"/>
                <a:gd name="txR" fmla="*/ 525 w 525"/>
                <a:gd name="txB" fmla="*/ 523 h 523"/>
              </a:gdLst>
              <a:ahLst/>
              <a:cxnLst>
                <a:cxn ang="0">
                  <a:pos x="0" y="4755"/>
                </a:cxn>
                <a:cxn ang="0">
                  <a:pos x="4773" y="0"/>
                </a:cxn>
              </a:cxnLst>
              <a:rect l="txL" t="txT" r="txR" b="txB"/>
              <a:pathLst>
                <a:path w="525" h="523">
                  <a:moveTo>
                    <a:pt x="0" y="523"/>
                  </a:moveTo>
                  <a:lnTo>
                    <a:pt x="525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22" name="Freeform 325"/>
            <p:cNvSpPr/>
            <p:nvPr/>
          </p:nvSpPr>
          <p:spPr>
            <a:xfrm>
              <a:off x="960" y="1958"/>
              <a:ext cx="607" cy="607"/>
            </a:xfrm>
            <a:custGeom>
              <a:avLst/>
              <a:gdLst>
                <a:gd name="txL" fmla="*/ 0 w 570"/>
                <a:gd name="txT" fmla="*/ 0 h 570"/>
                <a:gd name="txR" fmla="*/ 570 w 570"/>
                <a:gd name="txB" fmla="*/ 570 h 570"/>
              </a:gdLst>
              <a:ahLst/>
              <a:cxnLst>
                <a:cxn ang="0">
                  <a:pos x="0" y="646"/>
                </a:cxn>
                <a:cxn ang="0">
                  <a:pos x="646" y="0"/>
                </a:cxn>
              </a:cxnLst>
              <a:rect l="txL" t="txT" r="txR" b="txB"/>
              <a:pathLst>
                <a:path w="570" h="570">
                  <a:moveTo>
                    <a:pt x="0" y="570"/>
                  </a:moveTo>
                  <a:lnTo>
                    <a:pt x="57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23" name="Freeform 326"/>
            <p:cNvSpPr/>
            <p:nvPr/>
          </p:nvSpPr>
          <p:spPr>
            <a:xfrm>
              <a:off x="1680" y="2513"/>
              <a:ext cx="1019" cy="1019"/>
            </a:xfrm>
            <a:custGeom>
              <a:avLst/>
              <a:gdLst>
                <a:gd name="txL" fmla="*/ 0 w 990"/>
                <a:gd name="txT" fmla="*/ 0 h 990"/>
                <a:gd name="txR" fmla="*/ 990 w 990"/>
                <a:gd name="txB" fmla="*/ 990 h 990"/>
              </a:gdLst>
              <a:ahLst/>
              <a:cxnLst>
                <a:cxn ang="0">
                  <a:pos x="0" y="1049"/>
                </a:cxn>
                <a:cxn ang="0">
                  <a:pos x="1049" y="0"/>
                </a:cxn>
              </a:cxnLst>
              <a:rect l="txL" t="txT" r="txR" b="txB"/>
              <a:pathLst>
                <a:path w="990" h="990">
                  <a:moveTo>
                    <a:pt x="0" y="990"/>
                  </a:moveTo>
                  <a:lnTo>
                    <a:pt x="99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24" name="Freeform 327"/>
            <p:cNvSpPr/>
            <p:nvPr/>
          </p:nvSpPr>
          <p:spPr>
            <a:xfrm>
              <a:off x="1830" y="2673"/>
              <a:ext cx="852" cy="859"/>
            </a:xfrm>
            <a:custGeom>
              <a:avLst/>
              <a:gdLst>
                <a:gd name="txL" fmla="*/ 0 w 852"/>
                <a:gd name="txT" fmla="*/ 0 h 859"/>
                <a:gd name="txR" fmla="*/ 852 w 852"/>
                <a:gd name="txB" fmla="*/ 859 h 859"/>
              </a:gdLst>
              <a:ahLst/>
              <a:cxnLst>
                <a:cxn ang="0">
                  <a:pos x="0" y="859"/>
                </a:cxn>
                <a:cxn ang="0">
                  <a:pos x="852" y="0"/>
                </a:cxn>
              </a:cxnLst>
              <a:rect l="txL" t="txT" r="txR" b="txB"/>
              <a:pathLst>
                <a:path w="852" h="859">
                  <a:moveTo>
                    <a:pt x="0" y="859"/>
                  </a:moveTo>
                  <a:lnTo>
                    <a:pt x="852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25" name="Freeform 328"/>
            <p:cNvSpPr/>
            <p:nvPr/>
          </p:nvSpPr>
          <p:spPr>
            <a:xfrm>
              <a:off x="1950" y="2817"/>
              <a:ext cx="732" cy="730"/>
            </a:xfrm>
            <a:custGeom>
              <a:avLst/>
              <a:gdLst>
                <a:gd name="txL" fmla="*/ 0 w 732"/>
                <a:gd name="txT" fmla="*/ 0 h 730"/>
                <a:gd name="txR" fmla="*/ 732 w 732"/>
                <a:gd name="txB" fmla="*/ 730 h 730"/>
              </a:gdLst>
              <a:ahLst/>
              <a:cxnLst>
                <a:cxn ang="0">
                  <a:pos x="0" y="730"/>
                </a:cxn>
                <a:cxn ang="0">
                  <a:pos x="732" y="0"/>
                </a:cxn>
              </a:cxnLst>
              <a:rect l="txL" t="txT" r="txR" b="txB"/>
              <a:pathLst>
                <a:path w="732" h="730">
                  <a:moveTo>
                    <a:pt x="0" y="730"/>
                  </a:moveTo>
                  <a:lnTo>
                    <a:pt x="732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26" name="Freeform 329"/>
            <p:cNvSpPr/>
            <p:nvPr/>
          </p:nvSpPr>
          <p:spPr>
            <a:xfrm>
              <a:off x="960" y="1958"/>
              <a:ext cx="465" cy="469"/>
            </a:xfrm>
            <a:custGeom>
              <a:avLst/>
              <a:gdLst>
                <a:gd name="txL" fmla="*/ 0 w 465"/>
                <a:gd name="txT" fmla="*/ 0 h 469"/>
                <a:gd name="txR" fmla="*/ 465 w 465"/>
                <a:gd name="txB" fmla="*/ 469 h 469"/>
              </a:gdLst>
              <a:ahLst/>
              <a:cxnLst>
                <a:cxn ang="0">
                  <a:pos x="0" y="469"/>
                </a:cxn>
                <a:cxn ang="0">
                  <a:pos x="465" y="0"/>
                </a:cxn>
              </a:cxnLst>
              <a:rect l="txL" t="txT" r="txR" b="txB"/>
              <a:pathLst>
                <a:path w="465" h="469">
                  <a:moveTo>
                    <a:pt x="0" y="469"/>
                  </a:moveTo>
                  <a:lnTo>
                    <a:pt x="465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27" name="Freeform 330"/>
            <p:cNvSpPr/>
            <p:nvPr/>
          </p:nvSpPr>
          <p:spPr>
            <a:xfrm>
              <a:off x="990" y="1958"/>
              <a:ext cx="285" cy="285"/>
            </a:xfrm>
            <a:custGeom>
              <a:avLst/>
              <a:gdLst>
                <a:gd name="txL" fmla="*/ 0 w 285"/>
                <a:gd name="txT" fmla="*/ 0 h 285"/>
                <a:gd name="txR" fmla="*/ 285 w 285"/>
                <a:gd name="txB" fmla="*/ 285 h 285"/>
              </a:gdLst>
              <a:ahLst/>
              <a:cxnLst>
                <a:cxn ang="0">
                  <a:pos x="0" y="285"/>
                </a:cxn>
                <a:cxn ang="0">
                  <a:pos x="285" y="0"/>
                </a:cxn>
              </a:cxnLst>
              <a:rect l="txL" t="txT" r="txR" b="txB"/>
              <a:pathLst>
                <a:path w="285" h="285">
                  <a:moveTo>
                    <a:pt x="0" y="285"/>
                  </a:moveTo>
                  <a:lnTo>
                    <a:pt x="285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28" name="Freeform 331"/>
            <p:cNvSpPr/>
            <p:nvPr/>
          </p:nvSpPr>
          <p:spPr>
            <a:xfrm>
              <a:off x="969" y="1972"/>
              <a:ext cx="135" cy="135"/>
            </a:xfrm>
            <a:custGeom>
              <a:avLst/>
              <a:gdLst>
                <a:gd name="txL" fmla="*/ 0 w 135"/>
                <a:gd name="txT" fmla="*/ 0 h 135"/>
                <a:gd name="txR" fmla="*/ 135 w 135"/>
                <a:gd name="txB" fmla="*/ 135 h 135"/>
              </a:gdLst>
              <a:ahLst/>
              <a:cxnLst>
                <a:cxn ang="0">
                  <a:pos x="0" y="135"/>
                </a:cxn>
                <a:cxn ang="0">
                  <a:pos x="135" y="0"/>
                </a:cxn>
              </a:cxnLst>
              <a:rect l="txL" t="txT" r="txR" b="txB"/>
              <a:pathLst>
                <a:path w="135" h="135">
                  <a:moveTo>
                    <a:pt x="0" y="135"/>
                  </a:moveTo>
                  <a:lnTo>
                    <a:pt x="135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29" name="Freeform 332"/>
            <p:cNvSpPr/>
            <p:nvPr/>
          </p:nvSpPr>
          <p:spPr>
            <a:xfrm>
              <a:off x="2280" y="3127"/>
              <a:ext cx="405" cy="405"/>
            </a:xfrm>
            <a:custGeom>
              <a:avLst/>
              <a:gdLst>
                <a:gd name="txL" fmla="*/ 0 w 405"/>
                <a:gd name="txT" fmla="*/ 0 h 405"/>
                <a:gd name="txR" fmla="*/ 405 w 405"/>
                <a:gd name="txB" fmla="*/ 405 h 405"/>
              </a:gdLst>
              <a:ahLst/>
              <a:cxnLst>
                <a:cxn ang="0">
                  <a:pos x="0" y="405"/>
                </a:cxn>
                <a:cxn ang="0">
                  <a:pos x="405" y="0"/>
                </a:cxn>
              </a:cxnLst>
              <a:rect l="txL" t="txT" r="txR" b="txB"/>
              <a:pathLst>
                <a:path w="405" h="405">
                  <a:moveTo>
                    <a:pt x="0" y="405"/>
                  </a:moveTo>
                  <a:lnTo>
                    <a:pt x="405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30" name="Line 333"/>
            <p:cNvSpPr/>
            <p:nvPr/>
          </p:nvSpPr>
          <p:spPr>
            <a:xfrm flipV="1">
              <a:off x="2440" y="3291"/>
              <a:ext cx="248" cy="24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31" name="Line 334"/>
            <p:cNvSpPr/>
            <p:nvPr/>
          </p:nvSpPr>
          <p:spPr>
            <a:xfrm flipV="1">
              <a:off x="1171" y="2029"/>
              <a:ext cx="1520" cy="152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32" name="Line 335"/>
            <p:cNvSpPr/>
            <p:nvPr/>
          </p:nvSpPr>
          <p:spPr>
            <a:xfrm flipV="1">
              <a:off x="1345" y="2197"/>
              <a:ext cx="1345" cy="134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33" name="Line 336"/>
            <p:cNvSpPr/>
            <p:nvPr/>
          </p:nvSpPr>
          <p:spPr>
            <a:xfrm flipV="1">
              <a:off x="1506" y="2371"/>
              <a:ext cx="1178" cy="117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34" name="Line 337"/>
            <p:cNvSpPr/>
            <p:nvPr/>
          </p:nvSpPr>
          <p:spPr>
            <a:xfrm flipV="1">
              <a:off x="2123" y="2982"/>
              <a:ext cx="560" cy="5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35" name="Line 338"/>
            <p:cNvSpPr/>
            <p:nvPr/>
          </p:nvSpPr>
          <p:spPr>
            <a:xfrm flipV="1">
              <a:off x="2596" y="3448"/>
              <a:ext cx="94" cy="9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9" name="Group 339"/>
          <p:cNvGrpSpPr/>
          <p:nvPr/>
        </p:nvGrpSpPr>
        <p:grpSpPr>
          <a:xfrm>
            <a:off x="2603500" y="3297238"/>
            <a:ext cx="946150" cy="2003425"/>
            <a:chOff x="1527" y="1964"/>
            <a:chExt cx="596" cy="1262"/>
          </a:xfrm>
        </p:grpSpPr>
        <p:sp>
          <p:nvSpPr>
            <p:cNvPr id="57413" name="Freeform 340"/>
            <p:cNvSpPr/>
            <p:nvPr/>
          </p:nvSpPr>
          <p:spPr>
            <a:xfrm>
              <a:off x="1534" y="1964"/>
              <a:ext cx="582" cy="1262"/>
            </a:xfrm>
            <a:custGeom>
              <a:avLst/>
              <a:gdLst>
                <a:gd name="txL" fmla="*/ 0 w 582"/>
                <a:gd name="txT" fmla="*/ 0 h 1262"/>
                <a:gd name="txR" fmla="*/ 582 w 582"/>
                <a:gd name="txB" fmla="*/ 1262 h 1262"/>
              </a:gdLst>
              <a:ahLst/>
              <a:cxnLst>
                <a:cxn ang="0">
                  <a:pos x="0" y="0"/>
                </a:cxn>
                <a:cxn ang="0">
                  <a:pos x="0" y="1098"/>
                </a:cxn>
                <a:cxn ang="0">
                  <a:pos x="284" y="1262"/>
                </a:cxn>
                <a:cxn ang="0">
                  <a:pos x="582" y="1113"/>
                </a:cxn>
                <a:cxn ang="0">
                  <a:pos x="582" y="0"/>
                </a:cxn>
                <a:cxn ang="0">
                  <a:pos x="0" y="0"/>
                </a:cxn>
              </a:cxnLst>
              <a:rect l="txL" t="txT" r="txR" b="txB"/>
              <a:pathLst>
                <a:path w="582" h="1262">
                  <a:moveTo>
                    <a:pt x="0" y="0"/>
                  </a:moveTo>
                  <a:lnTo>
                    <a:pt x="0" y="1098"/>
                  </a:lnTo>
                  <a:lnTo>
                    <a:pt x="284" y="1262"/>
                  </a:lnTo>
                  <a:lnTo>
                    <a:pt x="582" y="1113"/>
                  </a:lnTo>
                  <a:lnTo>
                    <a:pt x="5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14" name="Line 341"/>
            <p:cNvSpPr/>
            <p:nvPr/>
          </p:nvSpPr>
          <p:spPr>
            <a:xfrm>
              <a:off x="1527" y="3069"/>
              <a:ext cx="5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6054" name="Line 342"/>
          <p:cNvSpPr/>
          <p:nvPr/>
        </p:nvSpPr>
        <p:spPr>
          <a:xfrm>
            <a:off x="3074988" y="3067050"/>
            <a:ext cx="0" cy="2667000"/>
          </a:xfrm>
          <a:prstGeom prst="line">
            <a:avLst/>
          </a:prstGeom>
          <a:ln w="12700" cap="flat" cmpd="sng">
            <a:solidFill>
              <a:schemeClr val="tx1"/>
            </a:solidFill>
            <a:prstDash val="lgDashDot"/>
            <a:headEnd type="none" w="med" len="med"/>
            <a:tailEnd type="none" w="med" len="med"/>
          </a:ln>
        </p:spPr>
      </p:sp>
      <p:grpSp>
        <p:nvGrpSpPr>
          <p:cNvPr id="20" name="Group 343"/>
          <p:cNvGrpSpPr/>
          <p:nvPr/>
        </p:nvGrpSpPr>
        <p:grpSpPr>
          <a:xfrm>
            <a:off x="4156075" y="879475"/>
            <a:ext cx="946150" cy="4367213"/>
            <a:chOff x="1527" y="586"/>
            <a:chExt cx="596" cy="2751"/>
          </a:xfrm>
        </p:grpSpPr>
        <p:sp>
          <p:nvSpPr>
            <p:cNvPr id="57389" name="Freeform 344"/>
            <p:cNvSpPr/>
            <p:nvPr/>
          </p:nvSpPr>
          <p:spPr>
            <a:xfrm>
              <a:off x="1547" y="1597"/>
              <a:ext cx="552" cy="1596"/>
            </a:xfrm>
            <a:custGeom>
              <a:avLst/>
              <a:gdLst>
                <a:gd name="txL" fmla="*/ 0 w 552"/>
                <a:gd name="txT" fmla="*/ 0 h 1596"/>
                <a:gd name="txR" fmla="*/ 552 w 552"/>
                <a:gd name="txB" fmla="*/ 1596 h 1596"/>
              </a:gdLst>
              <a:ahLst/>
              <a:cxnLst>
                <a:cxn ang="0">
                  <a:pos x="470" y="0"/>
                </a:cxn>
                <a:cxn ang="0">
                  <a:pos x="525" y="137"/>
                </a:cxn>
                <a:cxn ang="0">
                  <a:pos x="547" y="291"/>
                </a:cxn>
                <a:cxn ang="0">
                  <a:pos x="496" y="474"/>
                </a:cxn>
                <a:cxn ang="0">
                  <a:pos x="387" y="638"/>
                </a:cxn>
                <a:cxn ang="0">
                  <a:pos x="297" y="819"/>
                </a:cxn>
                <a:cxn ang="0">
                  <a:pos x="230" y="972"/>
                </a:cxn>
                <a:cxn ang="0">
                  <a:pos x="155" y="1166"/>
                </a:cxn>
                <a:cxn ang="0">
                  <a:pos x="85" y="1338"/>
                </a:cxn>
                <a:cxn ang="0">
                  <a:pos x="0" y="1596"/>
                </a:cxn>
              </a:cxnLst>
              <a:rect l="txL" t="txT" r="txR" b="txB"/>
              <a:pathLst>
                <a:path w="552" h="1596">
                  <a:moveTo>
                    <a:pt x="470" y="0"/>
                  </a:moveTo>
                  <a:cubicBezTo>
                    <a:pt x="479" y="23"/>
                    <a:pt x="512" y="89"/>
                    <a:pt x="525" y="137"/>
                  </a:cubicBezTo>
                  <a:cubicBezTo>
                    <a:pt x="538" y="185"/>
                    <a:pt x="552" y="235"/>
                    <a:pt x="547" y="291"/>
                  </a:cubicBezTo>
                  <a:cubicBezTo>
                    <a:pt x="542" y="347"/>
                    <a:pt x="523" y="416"/>
                    <a:pt x="496" y="474"/>
                  </a:cubicBezTo>
                  <a:cubicBezTo>
                    <a:pt x="469" y="532"/>
                    <a:pt x="420" y="581"/>
                    <a:pt x="387" y="638"/>
                  </a:cubicBezTo>
                  <a:cubicBezTo>
                    <a:pt x="354" y="695"/>
                    <a:pt x="323" y="763"/>
                    <a:pt x="297" y="819"/>
                  </a:cubicBezTo>
                  <a:cubicBezTo>
                    <a:pt x="271" y="875"/>
                    <a:pt x="254" y="914"/>
                    <a:pt x="230" y="972"/>
                  </a:cubicBezTo>
                  <a:cubicBezTo>
                    <a:pt x="206" y="1030"/>
                    <a:pt x="179" y="1105"/>
                    <a:pt x="155" y="1166"/>
                  </a:cubicBezTo>
                  <a:cubicBezTo>
                    <a:pt x="131" y="1227"/>
                    <a:pt x="111" y="1266"/>
                    <a:pt x="85" y="1338"/>
                  </a:cubicBezTo>
                  <a:cubicBezTo>
                    <a:pt x="59" y="1410"/>
                    <a:pt x="18" y="1542"/>
                    <a:pt x="0" y="1596"/>
                  </a:cubicBezTo>
                </a:path>
              </a:pathLst>
            </a:custGeom>
            <a:noFill/>
            <a:ln w="1270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390" name="Freeform 345"/>
            <p:cNvSpPr/>
            <p:nvPr/>
          </p:nvSpPr>
          <p:spPr>
            <a:xfrm>
              <a:off x="1604" y="592"/>
              <a:ext cx="413" cy="220"/>
            </a:xfrm>
            <a:custGeom>
              <a:avLst/>
              <a:gdLst>
                <a:gd name="txL" fmla="*/ 0 w 413"/>
                <a:gd name="txT" fmla="*/ 0 h 220"/>
                <a:gd name="txR" fmla="*/ 413 w 413"/>
                <a:gd name="txB" fmla="*/ 220 h 220"/>
              </a:gdLst>
              <a:ahLst/>
              <a:cxnLst>
                <a:cxn ang="0">
                  <a:pos x="0" y="220"/>
                </a:cxn>
                <a:cxn ang="0">
                  <a:pos x="0" y="57"/>
                </a:cxn>
                <a:cxn ang="0">
                  <a:pos x="77" y="38"/>
                </a:cxn>
                <a:cxn ang="0">
                  <a:pos x="173" y="38"/>
                </a:cxn>
                <a:cxn ang="0">
                  <a:pos x="269" y="19"/>
                </a:cxn>
                <a:cxn ang="0">
                  <a:pos x="327" y="0"/>
                </a:cxn>
                <a:cxn ang="0">
                  <a:pos x="413" y="48"/>
                </a:cxn>
                <a:cxn ang="0">
                  <a:pos x="413" y="220"/>
                </a:cxn>
                <a:cxn ang="0">
                  <a:pos x="0" y="220"/>
                </a:cxn>
              </a:cxnLst>
              <a:rect l="txL" t="txT" r="txR" b="txB"/>
              <a:pathLst>
                <a:path w="413" h="220">
                  <a:moveTo>
                    <a:pt x="0" y="220"/>
                  </a:moveTo>
                  <a:lnTo>
                    <a:pt x="0" y="57"/>
                  </a:lnTo>
                  <a:lnTo>
                    <a:pt x="77" y="38"/>
                  </a:lnTo>
                  <a:lnTo>
                    <a:pt x="173" y="38"/>
                  </a:lnTo>
                  <a:lnTo>
                    <a:pt x="269" y="19"/>
                  </a:lnTo>
                  <a:lnTo>
                    <a:pt x="327" y="0"/>
                  </a:lnTo>
                  <a:lnTo>
                    <a:pt x="413" y="48"/>
                  </a:lnTo>
                  <a:lnTo>
                    <a:pt x="413" y="220"/>
                  </a:lnTo>
                  <a:lnTo>
                    <a:pt x="0" y="220"/>
                  </a:lnTo>
                  <a:close/>
                </a:path>
              </a:pathLst>
            </a:custGeom>
            <a:gradFill rotWithShape="0">
              <a:gsLst>
                <a:gs pos="0">
                  <a:srgbClr val="666666"/>
                </a:gs>
                <a:gs pos="50000">
                  <a:srgbClr val="DDDDDD"/>
                </a:gs>
                <a:gs pos="100000">
                  <a:srgbClr val="666666"/>
                </a:gs>
              </a:gsLst>
              <a:lin ang="0" scaled="1"/>
              <a:tileRect/>
            </a:gradFill>
            <a:ln w="1270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391" name="Freeform 346"/>
            <p:cNvSpPr/>
            <p:nvPr/>
          </p:nvSpPr>
          <p:spPr>
            <a:xfrm>
              <a:off x="1556" y="3164"/>
              <a:ext cx="298" cy="173"/>
            </a:xfrm>
            <a:custGeom>
              <a:avLst/>
              <a:gdLst>
                <a:gd name="txL" fmla="*/ 0 w 298"/>
                <a:gd name="txT" fmla="*/ 0 h 173"/>
                <a:gd name="txR" fmla="*/ 298 w 298"/>
                <a:gd name="txB" fmla="*/ 173 h 173"/>
              </a:gdLst>
              <a:ahLst/>
              <a:cxnLst>
                <a:cxn ang="0">
                  <a:pos x="0" y="10"/>
                </a:cxn>
                <a:cxn ang="0">
                  <a:pos x="298" y="0"/>
                </a:cxn>
                <a:cxn ang="0">
                  <a:pos x="250" y="173"/>
                </a:cxn>
                <a:cxn ang="0">
                  <a:pos x="0" y="10"/>
                </a:cxn>
              </a:cxnLst>
              <a:rect l="txL" t="txT" r="txR" b="txB"/>
              <a:pathLst>
                <a:path w="298" h="173">
                  <a:moveTo>
                    <a:pt x="0" y="10"/>
                  </a:moveTo>
                  <a:lnTo>
                    <a:pt x="298" y="0"/>
                  </a:lnTo>
                  <a:lnTo>
                    <a:pt x="250" y="173"/>
                  </a:lnTo>
                  <a:lnTo>
                    <a:pt x="0" y="1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5400000" scaled="1"/>
              <a:tileRect/>
            </a:gradFill>
            <a:ln w="1270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392" name="Freeform 347"/>
            <p:cNvSpPr/>
            <p:nvPr/>
          </p:nvSpPr>
          <p:spPr>
            <a:xfrm>
              <a:off x="1835" y="2723"/>
              <a:ext cx="288" cy="605"/>
            </a:xfrm>
            <a:custGeom>
              <a:avLst/>
              <a:gdLst>
                <a:gd name="txL" fmla="*/ 0 w 288"/>
                <a:gd name="txT" fmla="*/ 0 h 605"/>
                <a:gd name="txR" fmla="*/ 288 w 288"/>
                <a:gd name="txB" fmla="*/ 605 h 605"/>
              </a:gdLst>
              <a:ahLst/>
              <a:cxnLst>
                <a:cxn ang="0">
                  <a:pos x="201" y="0"/>
                </a:cxn>
                <a:cxn ang="0">
                  <a:pos x="249" y="125"/>
                </a:cxn>
                <a:cxn ang="0">
                  <a:pos x="259" y="230"/>
                </a:cxn>
                <a:cxn ang="0">
                  <a:pos x="278" y="355"/>
                </a:cxn>
                <a:cxn ang="0">
                  <a:pos x="288" y="461"/>
                </a:cxn>
                <a:cxn ang="0">
                  <a:pos x="0" y="605"/>
                </a:cxn>
                <a:cxn ang="0">
                  <a:pos x="9" y="518"/>
                </a:cxn>
                <a:cxn ang="0">
                  <a:pos x="38" y="345"/>
                </a:cxn>
                <a:cxn ang="0">
                  <a:pos x="76" y="230"/>
                </a:cxn>
                <a:cxn ang="0">
                  <a:pos x="134" y="115"/>
                </a:cxn>
                <a:cxn ang="0">
                  <a:pos x="201" y="0"/>
                </a:cxn>
              </a:cxnLst>
              <a:rect l="txL" t="txT" r="txR" b="txB"/>
              <a:pathLst>
                <a:path w="288" h="605">
                  <a:moveTo>
                    <a:pt x="201" y="0"/>
                  </a:moveTo>
                  <a:lnTo>
                    <a:pt x="249" y="125"/>
                  </a:lnTo>
                  <a:lnTo>
                    <a:pt x="259" y="230"/>
                  </a:lnTo>
                  <a:lnTo>
                    <a:pt x="278" y="355"/>
                  </a:lnTo>
                  <a:lnTo>
                    <a:pt x="288" y="461"/>
                  </a:lnTo>
                  <a:lnTo>
                    <a:pt x="0" y="605"/>
                  </a:lnTo>
                  <a:lnTo>
                    <a:pt x="9" y="518"/>
                  </a:lnTo>
                  <a:lnTo>
                    <a:pt x="38" y="345"/>
                  </a:lnTo>
                  <a:lnTo>
                    <a:pt x="76" y="230"/>
                  </a:lnTo>
                  <a:lnTo>
                    <a:pt x="134" y="115"/>
                  </a:lnTo>
                  <a:lnTo>
                    <a:pt x="201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1270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393" name="Freeform 348"/>
            <p:cNvSpPr/>
            <p:nvPr/>
          </p:nvSpPr>
          <p:spPr>
            <a:xfrm>
              <a:off x="1537" y="1609"/>
              <a:ext cx="557" cy="1306"/>
            </a:xfrm>
            <a:custGeom>
              <a:avLst/>
              <a:gdLst>
                <a:gd name="txL" fmla="*/ 0 w 557"/>
                <a:gd name="txT" fmla="*/ 0 h 1306"/>
                <a:gd name="txR" fmla="*/ 557 w 557"/>
                <a:gd name="txB" fmla="*/ 1306 h 1306"/>
              </a:gdLst>
              <a:ahLst/>
              <a:cxnLst>
                <a:cxn ang="0">
                  <a:pos x="480" y="0"/>
                </a:cxn>
                <a:cxn ang="0">
                  <a:pos x="528" y="115"/>
                </a:cxn>
                <a:cxn ang="0">
                  <a:pos x="557" y="231"/>
                </a:cxn>
                <a:cxn ang="0">
                  <a:pos x="547" y="365"/>
                </a:cxn>
                <a:cxn ang="0">
                  <a:pos x="490" y="547"/>
                </a:cxn>
                <a:cxn ang="0">
                  <a:pos x="442" y="643"/>
                </a:cxn>
                <a:cxn ang="0">
                  <a:pos x="374" y="749"/>
                </a:cxn>
                <a:cxn ang="0">
                  <a:pos x="288" y="835"/>
                </a:cxn>
                <a:cxn ang="0">
                  <a:pos x="221" y="1018"/>
                </a:cxn>
                <a:cxn ang="0">
                  <a:pos x="125" y="1239"/>
                </a:cxn>
                <a:cxn ang="0">
                  <a:pos x="86" y="1306"/>
                </a:cxn>
                <a:cxn ang="0">
                  <a:pos x="10" y="1123"/>
                </a:cxn>
                <a:cxn ang="0">
                  <a:pos x="0" y="903"/>
                </a:cxn>
                <a:cxn ang="0">
                  <a:pos x="48" y="682"/>
                </a:cxn>
                <a:cxn ang="0">
                  <a:pos x="115" y="509"/>
                </a:cxn>
                <a:cxn ang="0">
                  <a:pos x="202" y="413"/>
                </a:cxn>
                <a:cxn ang="0">
                  <a:pos x="307" y="269"/>
                </a:cxn>
                <a:cxn ang="0">
                  <a:pos x="422" y="77"/>
                </a:cxn>
                <a:cxn ang="0">
                  <a:pos x="480" y="0"/>
                </a:cxn>
              </a:cxnLst>
              <a:rect l="txL" t="txT" r="txR" b="txB"/>
              <a:pathLst>
                <a:path w="557" h="1306">
                  <a:moveTo>
                    <a:pt x="480" y="0"/>
                  </a:moveTo>
                  <a:lnTo>
                    <a:pt x="528" y="115"/>
                  </a:lnTo>
                  <a:lnTo>
                    <a:pt x="557" y="231"/>
                  </a:lnTo>
                  <a:lnTo>
                    <a:pt x="547" y="365"/>
                  </a:lnTo>
                  <a:lnTo>
                    <a:pt x="490" y="547"/>
                  </a:lnTo>
                  <a:lnTo>
                    <a:pt x="442" y="643"/>
                  </a:lnTo>
                  <a:lnTo>
                    <a:pt x="374" y="749"/>
                  </a:lnTo>
                  <a:lnTo>
                    <a:pt x="288" y="835"/>
                  </a:lnTo>
                  <a:lnTo>
                    <a:pt x="221" y="1018"/>
                  </a:lnTo>
                  <a:lnTo>
                    <a:pt x="125" y="1239"/>
                  </a:lnTo>
                  <a:lnTo>
                    <a:pt x="86" y="1306"/>
                  </a:lnTo>
                  <a:lnTo>
                    <a:pt x="10" y="1123"/>
                  </a:lnTo>
                  <a:lnTo>
                    <a:pt x="0" y="903"/>
                  </a:lnTo>
                  <a:lnTo>
                    <a:pt x="48" y="682"/>
                  </a:lnTo>
                  <a:lnTo>
                    <a:pt x="115" y="509"/>
                  </a:lnTo>
                  <a:lnTo>
                    <a:pt x="202" y="413"/>
                  </a:lnTo>
                  <a:lnTo>
                    <a:pt x="307" y="269"/>
                  </a:lnTo>
                  <a:lnTo>
                    <a:pt x="422" y="77"/>
                  </a:lnTo>
                  <a:lnTo>
                    <a:pt x="480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5000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1270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394" name="Freeform 349"/>
            <p:cNvSpPr/>
            <p:nvPr/>
          </p:nvSpPr>
          <p:spPr>
            <a:xfrm>
              <a:off x="1527" y="823"/>
              <a:ext cx="567" cy="1746"/>
            </a:xfrm>
            <a:custGeom>
              <a:avLst/>
              <a:gdLst>
                <a:gd name="txL" fmla="*/ 0 w 567"/>
                <a:gd name="txT" fmla="*/ 0 h 1746"/>
                <a:gd name="txR" fmla="*/ 567 w 567"/>
                <a:gd name="txB" fmla="*/ 1746 h 1746"/>
              </a:gdLst>
              <a:ahLst/>
              <a:cxnLst>
                <a:cxn ang="0">
                  <a:pos x="9" y="439"/>
                </a:cxn>
                <a:cxn ang="0">
                  <a:pos x="9" y="0"/>
                </a:cxn>
                <a:cxn ang="0">
                  <a:pos x="567" y="1"/>
                </a:cxn>
                <a:cxn ang="0">
                  <a:pos x="567" y="517"/>
                </a:cxn>
                <a:cxn ang="0">
                  <a:pos x="509" y="729"/>
                </a:cxn>
                <a:cxn ang="0">
                  <a:pos x="384" y="959"/>
                </a:cxn>
                <a:cxn ang="0">
                  <a:pos x="212" y="1228"/>
                </a:cxn>
                <a:cxn ang="0">
                  <a:pos x="106" y="1391"/>
                </a:cxn>
                <a:cxn ang="0">
                  <a:pos x="10" y="1689"/>
                </a:cxn>
                <a:cxn ang="0">
                  <a:pos x="0" y="1746"/>
                </a:cxn>
                <a:cxn ang="0">
                  <a:pos x="10" y="1084"/>
                </a:cxn>
                <a:cxn ang="0">
                  <a:pos x="135" y="825"/>
                </a:cxn>
                <a:cxn ang="0">
                  <a:pos x="308" y="517"/>
                </a:cxn>
                <a:cxn ang="0">
                  <a:pos x="393" y="260"/>
                </a:cxn>
                <a:cxn ang="0">
                  <a:pos x="366" y="137"/>
                </a:cxn>
                <a:cxn ang="0">
                  <a:pos x="283" y="96"/>
                </a:cxn>
                <a:cxn ang="0">
                  <a:pos x="174" y="123"/>
                </a:cxn>
                <a:cxn ang="0">
                  <a:pos x="125" y="249"/>
                </a:cxn>
                <a:cxn ang="0">
                  <a:pos x="68" y="335"/>
                </a:cxn>
                <a:cxn ang="0">
                  <a:pos x="9" y="439"/>
                </a:cxn>
              </a:cxnLst>
              <a:rect l="txL" t="txT" r="txR" b="txB"/>
              <a:pathLst>
                <a:path w="567" h="1746">
                  <a:moveTo>
                    <a:pt x="9" y="439"/>
                  </a:moveTo>
                  <a:lnTo>
                    <a:pt x="9" y="0"/>
                  </a:lnTo>
                  <a:lnTo>
                    <a:pt x="567" y="1"/>
                  </a:lnTo>
                  <a:lnTo>
                    <a:pt x="567" y="517"/>
                  </a:lnTo>
                  <a:lnTo>
                    <a:pt x="509" y="729"/>
                  </a:lnTo>
                  <a:lnTo>
                    <a:pt x="384" y="959"/>
                  </a:lnTo>
                  <a:lnTo>
                    <a:pt x="212" y="1228"/>
                  </a:lnTo>
                  <a:lnTo>
                    <a:pt x="106" y="1391"/>
                  </a:lnTo>
                  <a:lnTo>
                    <a:pt x="10" y="1689"/>
                  </a:lnTo>
                  <a:lnTo>
                    <a:pt x="0" y="1746"/>
                  </a:lnTo>
                  <a:lnTo>
                    <a:pt x="10" y="1084"/>
                  </a:lnTo>
                  <a:lnTo>
                    <a:pt x="135" y="825"/>
                  </a:lnTo>
                  <a:lnTo>
                    <a:pt x="308" y="517"/>
                  </a:lnTo>
                  <a:lnTo>
                    <a:pt x="393" y="260"/>
                  </a:lnTo>
                  <a:lnTo>
                    <a:pt x="366" y="137"/>
                  </a:lnTo>
                  <a:lnTo>
                    <a:pt x="283" y="96"/>
                  </a:lnTo>
                  <a:lnTo>
                    <a:pt x="174" y="123"/>
                  </a:lnTo>
                  <a:lnTo>
                    <a:pt x="125" y="249"/>
                  </a:lnTo>
                  <a:lnTo>
                    <a:pt x="68" y="335"/>
                  </a:lnTo>
                  <a:lnTo>
                    <a:pt x="9" y="439"/>
                  </a:lnTo>
                  <a:close/>
                </a:path>
              </a:pathLst>
            </a:custGeom>
            <a:gradFill rotWithShape="0">
              <a:gsLst>
                <a:gs pos="0">
                  <a:srgbClr val="666666"/>
                </a:gs>
                <a:gs pos="50000">
                  <a:srgbClr val="DDDDDD"/>
                </a:gs>
                <a:gs pos="100000">
                  <a:srgbClr val="666666"/>
                </a:gs>
              </a:gsLst>
              <a:lin ang="0" scaled="1"/>
              <a:tileRect/>
            </a:gradFill>
            <a:ln w="1270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395" name="Freeform 350"/>
            <p:cNvSpPr/>
            <p:nvPr/>
          </p:nvSpPr>
          <p:spPr>
            <a:xfrm>
              <a:off x="1566" y="1878"/>
              <a:ext cx="528" cy="1296"/>
            </a:xfrm>
            <a:custGeom>
              <a:avLst/>
              <a:gdLst>
                <a:gd name="txL" fmla="*/ 0 w 528"/>
                <a:gd name="txT" fmla="*/ 0 h 1296"/>
                <a:gd name="txR" fmla="*/ 528 w 528"/>
                <a:gd name="txB" fmla="*/ 1296 h 1296"/>
              </a:gdLst>
              <a:ahLst/>
              <a:cxnLst>
                <a:cxn ang="0">
                  <a:pos x="528" y="0"/>
                </a:cxn>
                <a:cxn ang="0">
                  <a:pos x="461" y="173"/>
                </a:cxn>
                <a:cxn ang="0">
                  <a:pos x="384" y="288"/>
                </a:cxn>
                <a:cxn ang="0">
                  <a:pos x="326" y="413"/>
                </a:cxn>
                <a:cxn ang="0">
                  <a:pos x="249" y="605"/>
                </a:cxn>
                <a:cxn ang="0">
                  <a:pos x="144" y="854"/>
                </a:cxn>
                <a:cxn ang="0">
                  <a:pos x="66" y="1016"/>
                </a:cxn>
                <a:cxn ang="0">
                  <a:pos x="39" y="1153"/>
                </a:cxn>
                <a:cxn ang="0">
                  <a:pos x="0" y="1286"/>
                </a:cxn>
                <a:cxn ang="0">
                  <a:pos x="288" y="1296"/>
                </a:cxn>
                <a:cxn ang="0">
                  <a:pos x="345" y="1114"/>
                </a:cxn>
                <a:cxn ang="0">
                  <a:pos x="441" y="922"/>
                </a:cxn>
                <a:cxn ang="0">
                  <a:pos x="528" y="720"/>
                </a:cxn>
                <a:cxn ang="0">
                  <a:pos x="528" y="0"/>
                </a:cxn>
              </a:cxnLst>
              <a:rect l="txL" t="txT" r="txR" b="txB"/>
              <a:pathLst>
                <a:path w="528" h="1296">
                  <a:moveTo>
                    <a:pt x="528" y="0"/>
                  </a:moveTo>
                  <a:lnTo>
                    <a:pt x="461" y="173"/>
                  </a:lnTo>
                  <a:lnTo>
                    <a:pt x="384" y="288"/>
                  </a:lnTo>
                  <a:lnTo>
                    <a:pt x="326" y="413"/>
                  </a:lnTo>
                  <a:lnTo>
                    <a:pt x="249" y="605"/>
                  </a:lnTo>
                  <a:lnTo>
                    <a:pt x="144" y="854"/>
                  </a:lnTo>
                  <a:lnTo>
                    <a:pt x="66" y="1016"/>
                  </a:lnTo>
                  <a:lnTo>
                    <a:pt x="39" y="1153"/>
                  </a:lnTo>
                  <a:lnTo>
                    <a:pt x="0" y="1286"/>
                  </a:lnTo>
                  <a:lnTo>
                    <a:pt x="288" y="1296"/>
                  </a:lnTo>
                  <a:lnTo>
                    <a:pt x="345" y="1114"/>
                  </a:lnTo>
                  <a:lnTo>
                    <a:pt x="441" y="922"/>
                  </a:lnTo>
                  <a:lnTo>
                    <a:pt x="528" y="720"/>
                  </a:lnTo>
                  <a:lnTo>
                    <a:pt x="528" y="0"/>
                  </a:lnTo>
                  <a:close/>
                </a:path>
              </a:pathLst>
            </a:custGeom>
            <a:gradFill rotWithShape="0">
              <a:gsLst>
                <a:gs pos="0">
                  <a:srgbClr val="666666"/>
                </a:gs>
                <a:gs pos="50000">
                  <a:srgbClr val="DDDDDD"/>
                </a:gs>
                <a:gs pos="100000">
                  <a:srgbClr val="666666"/>
                </a:gs>
              </a:gsLst>
              <a:lin ang="0" scaled="1"/>
              <a:tileRect/>
            </a:gradFill>
            <a:ln w="1270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396" name="Line 351"/>
            <p:cNvSpPr/>
            <p:nvPr/>
          </p:nvSpPr>
          <p:spPr>
            <a:xfrm>
              <a:off x="1561" y="3178"/>
              <a:ext cx="293" cy="0"/>
            </a:xfrm>
            <a:prstGeom prst="line">
              <a:avLst/>
            </a:prstGeom>
            <a:ln w="12700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97" name="Freeform 352"/>
            <p:cNvSpPr/>
            <p:nvPr/>
          </p:nvSpPr>
          <p:spPr>
            <a:xfrm>
              <a:off x="2094" y="1897"/>
              <a:ext cx="1" cy="714"/>
            </a:xfrm>
            <a:custGeom>
              <a:avLst/>
              <a:gdLst>
                <a:gd name="txL" fmla="*/ 0 w 1"/>
                <a:gd name="txT" fmla="*/ 0 h 714"/>
                <a:gd name="txR" fmla="*/ 1 w 1"/>
                <a:gd name="txB" fmla="*/ 714 h 714"/>
              </a:gdLst>
              <a:ahLst/>
              <a:cxnLst>
                <a:cxn ang="0">
                  <a:pos x="0" y="0"/>
                </a:cxn>
                <a:cxn ang="0">
                  <a:pos x="0" y="714"/>
                </a:cxn>
              </a:cxnLst>
              <a:rect l="txL" t="txT" r="txR" b="txB"/>
              <a:pathLst>
                <a:path w="1" h="714">
                  <a:moveTo>
                    <a:pt x="0" y="0"/>
                  </a:moveTo>
                  <a:lnTo>
                    <a:pt x="0" y="714"/>
                  </a:lnTo>
                </a:path>
              </a:pathLst>
            </a:custGeom>
            <a:noFill/>
            <a:ln w="1270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398" name="Freeform 353"/>
            <p:cNvSpPr/>
            <p:nvPr/>
          </p:nvSpPr>
          <p:spPr>
            <a:xfrm>
              <a:off x="1537" y="1926"/>
              <a:ext cx="1" cy="643"/>
            </a:xfrm>
            <a:custGeom>
              <a:avLst/>
              <a:gdLst>
                <a:gd name="txL" fmla="*/ 0 w 1"/>
                <a:gd name="txT" fmla="*/ 0 h 643"/>
                <a:gd name="txR" fmla="*/ 1 w 1"/>
                <a:gd name="txB" fmla="*/ 643 h 643"/>
              </a:gdLst>
              <a:ahLst/>
              <a:cxnLst>
                <a:cxn ang="0">
                  <a:pos x="0" y="0"/>
                </a:cxn>
                <a:cxn ang="0">
                  <a:pos x="0" y="315"/>
                </a:cxn>
                <a:cxn ang="0">
                  <a:pos x="1" y="643"/>
                </a:cxn>
              </a:cxnLst>
              <a:rect l="txL" t="txT" r="txR" b="txB"/>
              <a:pathLst>
                <a:path w="1" h="643">
                  <a:moveTo>
                    <a:pt x="0" y="0"/>
                  </a:moveTo>
                  <a:lnTo>
                    <a:pt x="0" y="315"/>
                  </a:lnTo>
                  <a:lnTo>
                    <a:pt x="1" y="643"/>
                  </a:lnTo>
                </a:path>
              </a:pathLst>
            </a:custGeom>
            <a:noFill/>
            <a:ln w="1270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399" name="Line 354"/>
            <p:cNvSpPr/>
            <p:nvPr/>
          </p:nvSpPr>
          <p:spPr>
            <a:xfrm>
              <a:off x="1547" y="3182"/>
              <a:ext cx="275" cy="155"/>
            </a:xfrm>
            <a:prstGeom prst="line">
              <a:avLst/>
            </a:prstGeom>
            <a:ln w="12700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00" name="Line 355"/>
            <p:cNvSpPr/>
            <p:nvPr/>
          </p:nvSpPr>
          <p:spPr>
            <a:xfrm flipV="1">
              <a:off x="1825" y="3173"/>
              <a:ext cx="284" cy="164"/>
            </a:xfrm>
            <a:prstGeom prst="line">
              <a:avLst/>
            </a:prstGeom>
            <a:ln w="12700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01" name="Freeform 356"/>
            <p:cNvSpPr/>
            <p:nvPr/>
          </p:nvSpPr>
          <p:spPr>
            <a:xfrm>
              <a:off x="1825" y="2598"/>
              <a:ext cx="269" cy="739"/>
            </a:xfrm>
            <a:custGeom>
              <a:avLst/>
              <a:gdLst>
                <a:gd name="txL" fmla="*/ 0 w 269"/>
                <a:gd name="txT" fmla="*/ 0 h 739"/>
                <a:gd name="txR" fmla="*/ 269 w 269"/>
                <a:gd name="txB" fmla="*/ 739 h 739"/>
              </a:gdLst>
              <a:ahLst/>
              <a:cxnLst>
                <a:cxn ang="0">
                  <a:pos x="269" y="0"/>
                </a:cxn>
                <a:cxn ang="0">
                  <a:pos x="134" y="317"/>
                </a:cxn>
                <a:cxn ang="0">
                  <a:pos x="58" y="490"/>
                </a:cxn>
                <a:cxn ang="0">
                  <a:pos x="0" y="739"/>
                </a:cxn>
              </a:cxnLst>
              <a:rect l="txL" t="txT" r="txR" b="txB"/>
              <a:pathLst>
                <a:path w="269" h="739">
                  <a:moveTo>
                    <a:pt x="269" y="0"/>
                  </a:moveTo>
                  <a:cubicBezTo>
                    <a:pt x="246" y="53"/>
                    <a:pt x="169" y="235"/>
                    <a:pt x="134" y="317"/>
                  </a:cubicBezTo>
                  <a:cubicBezTo>
                    <a:pt x="99" y="399"/>
                    <a:pt x="80" y="420"/>
                    <a:pt x="58" y="490"/>
                  </a:cubicBezTo>
                  <a:cubicBezTo>
                    <a:pt x="36" y="560"/>
                    <a:pt x="12" y="687"/>
                    <a:pt x="0" y="739"/>
                  </a:cubicBezTo>
                </a:path>
              </a:pathLst>
            </a:custGeom>
            <a:noFill/>
            <a:ln w="1270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02" name="Line 357"/>
            <p:cNvSpPr/>
            <p:nvPr/>
          </p:nvSpPr>
          <p:spPr>
            <a:xfrm>
              <a:off x="2099" y="1995"/>
              <a:ext cx="0" cy="0"/>
            </a:xfrm>
            <a:prstGeom prst="line">
              <a:avLst/>
            </a:prstGeom>
            <a:ln w="12700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03" name="Freeform 358"/>
            <p:cNvSpPr/>
            <p:nvPr/>
          </p:nvSpPr>
          <p:spPr>
            <a:xfrm>
              <a:off x="1535" y="1321"/>
              <a:ext cx="559" cy="1592"/>
            </a:xfrm>
            <a:custGeom>
              <a:avLst/>
              <a:gdLst>
                <a:gd name="txL" fmla="*/ 0 w 559"/>
                <a:gd name="txT" fmla="*/ 0 h 1592"/>
                <a:gd name="txR" fmla="*/ 559 w 559"/>
                <a:gd name="txB" fmla="*/ 1592 h 1592"/>
              </a:gdLst>
              <a:ahLst/>
              <a:cxnLst>
                <a:cxn ang="0">
                  <a:pos x="559" y="0"/>
                </a:cxn>
                <a:cxn ang="0">
                  <a:pos x="509" y="221"/>
                </a:cxn>
                <a:cxn ang="0">
                  <a:pos x="441" y="344"/>
                </a:cxn>
                <a:cxn ang="0">
                  <a:pos x="345" y="523"/>
                </a:cxn>
                <a:cxn ang="0">
                  <a:pos x="252" y="663"/>
                </a:cxn>
                <a:cxn ang="0">
                  <a:pos x="139" y="838"/>
                </a:cxn>
                <a:cxn ang="0">
                  <a:pos x="69" y="979"/>
                </a:cxn>
                <a:cxn ang="0">
                  <a:pos x="31" y="1104"/>
                </a:cxn>
                <a:cxn ang="0">
                  <a:pos x="2" y="1304"/>
                </a:cxn>
                <a:cxn ang="0">
                  <a:pos x="43" y="1469"/>
                </a:cxn>
                <a:cxn ang="0">
                  <a:pos x="112" y="1592"/>
                </a:cxn>
              </a:cxnLst>
              <a:rect l="txL" t="txT" r="txR" b="txB"/>
              <a:pathLst>
                <a:path w="559" h="1592">
                  <a:moveTo>
                    <a:pt x="559" y="0"/>
                  </a:moveTo>
                  <a:cubicBezTo>
                    <a:pt x="549" y="37"/>
                    <a:pt x="529" y="164"/>
                    <a:pt x="509" y="221"/>
                  </a:cubicBezTo>
                  <a:cubicBezTo>
                    <a:pt x="489" y="278"/>
                    <a:pt x="468" y="294"/>
                    <a:pt x="441" y="344"/>
                  </a:cubicBezTo>
                  <a:cubicBezTo>
                    <a:pt x="414" y="394"/>
                    <a:pt x="377" y="470"/>
                    <a:pt x="345" y="523"/>
                  </a:cubicBezTo>
                  <a:cubicBezTo>
                    <a:pt x="313" y="576"/>
                    <a:pt x="286" y="611"/>
                    <a:pt x="252" y="663"/>
                  </a:cubicBezTo>
                  <a:cubicBezTo>
                    <a:pt x="218" y="715"/>
                    <a:pt x="169" y="785"/>
                    <a:pt x="139" y="838"/>
                  </a:cubicBezTo>
                  <a:cubicBezTo>
                    <a:pt x="109" y="891"/>
                    <a:pt x="87" y="935"/>
                    <a:pt x="69" y="979"/>
                  </a:cubicBezTo>
                  <a:cubicBezTo>
                    <a:pt x="51" y="1023"/>
                    <a:pt x="42" y="1050"/>
                    <a:pt x="31" y="1104"/>
                  </a:cubicBezTo>
                  <a:cubicBezTo>
                    <a:pt x="20" y="1158"/>
                    <a:pt x="0" y="1243"/>
                    <a:pt x="2" y="1304"/>
                  </a:cubicBezTo>
                  <a:cubicBezTo>
                    <a:pt x="4" y="1365"/>
                    <a:pt x="25" y="1421"/>
                    <a:pt x="43" y="1469"/>
                  </a:cubicBezTo>
                  <a:cubicBezTo>
                    <a:pt x="61" y="1517"/>
                    <a:pt x="98" y="1567"/>
                    <a:pt x="112" y="1592"/>
                  </a:cubicBezTo>
                </a:path>
              </a:pathLst>
            </a:custGeom>
            <a:noFill/>
            <a:ln w="1270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04" name="Freeform 359"/>
            <p:cNvSpPr/>
            <p:nvPr/>
          </p:nvSpPr>
          <p:spPr>
            <a:xfrm>
              <a:off x="1537" y="916"/>
              <a:ext cx="387" cy="1016"/>
            </a:xfrm>
            <a:custGeom>
              <a:avLst/>
              <a:gdLst>
                <a:gd name="txL" fmla="*/ 0 w 387"/>
                <a:gd name="txT" fmla="*/ 0 h 1016"/>
                <a:gd name="txR" fmla="*/ 387 w 387"/>
                <a:gd name="txB" fmla="*/ 1016 h 1016"/>
              </a:gdLst>
              <a:ahLst/>
              <a:cxnLst>
                <a:cxn ang="0">
                  <a:pos x="0" y="1016"/>
                </a:cxn>
                <a:cxn ang="0">
                  <a:pos x="77" y="828"/>
                </a:cxn>
                <a:cxn ang="0">
                  <a:pos x="211" y="568"/>
                </a:cxn>
                <a:cxn ang="0">
                  <a:pos x="336" y="357"/>
                </a:cxn>
                <a:cxn ang="0">
                  <a:pos x="384" y="165"/>
                </a:cxn>
                <a:cxn ang="0">
                  <a:pos x="355" y="40"/>
                </a:cxn>
                <a:cxn ang="0">
                  <a:pos x="288" y="2"/>
                </a:cxn>
                <a:cxn ang="0">
                  <a:pos x="163" y="50"/>
                </a:cxn>
                <a:cxn ang="0">
                  <a:pos x="67" y="194"/>
                </a:cxn>
                <a:cxn ang="0">
                  <a:pos x="10" y="376"/>
                </a:cxn>
                <a:cxn ang="0">
                  <a:pos x="38" y="578"/>
                </a:cxn>
                <a:cxn ang="0">
                  <a:pos x="67" y="703"/>
                </a:cxn>
                <a:cxn ang="0">
                  <a:pos x="96" y="770"/>
                </a:cxn>
              </a:cxnLst>
              <a:rect l="txL" t="txT" r="txR" b="txB"/>
              <a:pathLst>
                <a:path w="387" h="1016">
                  <a:moveTo>
                    <a:pt x="0" y="1016"/>
                  </a:moveTo>
                  <a:cubicBezTo>
                    <a:pt x="13" y="985"/>
                    <a:pt x="42" y="903"/>
                    <a:pt x="77" y="828"/>
                  </a:cubicBezTo>
                  <a:cubicBezTo>
                    <a:pt x="112" y="753"/>
                    <a:pt x="168" y="646"/>
                    <a:pt x="211" y="568"/>
                  </a:cubicBezTo>
                  <a:cubicBezTo>
                    <a:pt x="254" y="490"/>
                    <a:pt x="307" y="424"/>
                    <a:pt x="336" y="357"/>
                  </a:cubicBezTo>
                  <a:cubicBezTo>
                    <a:pt x="365" y="290"/>
                    <a:pt x="381" y="218"/>
                    <a:pt x="384" y="165"/>
                  </a:cubicBezTo>
                  <a:cubicBezTo>
                    <a:pt x="387" y="112"/>
                    <a:pt x="371" y="67"/>
                    <a:pt x="355" y="40"/>
                  </a:cubicBezTo>
                  <a:cubicBezTo>
                    <a:pt x="339" y="13"/>
                    <a:pt x="320" y="0"/>
                    <a:pt x="288" y="2"/>
                  </a:cubicBezTo>
                  <a:cubicBezTo>
                    <a:pt x="256" y="4"/>
                    <a:pt x="200" y="18"/>
                    <a:pt x="163" y="50"/>
                  </a:cubicBezTo>
                  <a:cubicBezTo>
                    <a:pt x="126" y="82"/>
                    <a:pt x="93" y="140"/>
                    <a:pt x="67" y="194"/>
                  </a:cubicBezTo>
                  <a:cubicBezTo>
                    <a:pt x="41" y="248"/>
                    <a:pt x="15" y="312"/>
                    <a:pt x="10" y="376"/>
                  </a:cubicBezTo>
                  <a:cubicBezTo>
                    <a:pt x="5" y="440"/>
                    <a:pt x="29" y="524"/>
                    <a:pt x="38" y="578"/>
                  </a:cubicBezTo>
                  <a:cubicBezTo>
                    <a:pt x="47" y="632"/>
                    <a:pt x="57" y="671"/>
                    <a:pt x="67" y="703"/>
                  </a:cubicBezTo>
                  <a:cubicBezTo>
                    <a:pt x="77" y="735"/>
                    <a:pt x="90" y="756"/>
                    <a:pt x="96" y="770"/>
                  </a:cubicBezTo>
                </a:path>
              </a:pathLst>
            </a:custGeom>
            <a:noFill/>
            <a:ln w="1270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05" name="Line 360"/>
            <p:cNvSpPr/>
            <p:nvPr/>
          </p:nvSpPr>
          <p:spPr>
            <a:xfrm flipV="1">
              <a:off x="1537" y="812"/>
              <a:ext cx="0" cy="490"/>
            </a:xfrm>
            <a:prstGeom prst="line">
              <a:avLst/>
            </a:prstGeom>
            <a:ln w="12700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06" name="Line 361"/>
            <p:cNvSpPr/>
            <p:nvPr/>
          </p:nvSpPr>
          <p:spPr>
            <a:xfrm>
              <a:off x="1537" y="822"/>
              <a:ext cx="566" cy="0"/>
            </a:xfrm>
            <a:prstGeom prst="line">
              <a:avLst/>
            </a:prstGeom>
            <a:ln w="12700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07" name="Line 362"/>
            <p:cNvSpPr/>
            <p:nvPr/>
          </p:nvSpPr>
          <p:spPr>
            <a:xfrm>
              <a:off x="2094" y="822"/>
              <a:ext cx="0" cy="518"/>
            </a:xfrm>
            <a:prstGeom prst="line">
              <a:avLst/>
            </a:prstGeom>
            <a:ln w="12700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08" name="Line 363"/>
            <p:cNvSpPr/>
            <p:nvPr/>
          </p:nvSpPr>
          <p:spPr>
            <a:xfrm flipV="1">
              <a:off x="1604" y="650"/>
              <a:ext cx="0" cy="172"/>
            </a:xfrm>
            <a:prstGeom prst="line">
              <a:avLst/>
            </a:prstGeom>
            <a:ln w="12700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09" name="Line 364"/>
            <p:cNvSpPr/>
            <p:nvPr/>
          </p:nvSpPr>
          <p:spPr>
            <a:xfrm flipV="1">
              <a:off x="2027" y="640"/>
              <a:ext cx="0" cy="182"/>
            </a:xfrm>
            <a:prstGeom prst="line">
              <a:avLst/>
            </a:prstGeom>
            <a:ln w="12700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10" name="Freeform 365"/>
            <p:cNvSpPr/>
            <p:nvPr/>
          </p:nvSpPr>
          <p:spPr>
            <a:xfrm>
              <a:off x="2046" y="2732"/>
              <a:ext cx="67" cy="452"/>
            </a:xfrm>
            <a:custGeom>
              <a:avLst/>
              <a:gdLst>
                <a:gd name="txL" fmla="*/ 0 w 67"/>
                <a:gd name="txT" fmla="*/ 0 h 452"/>
                <a:gd name="txR" fmla="*/ 67 w 67"/>
                <a:gd name="txB" fmla="*/ 452 h 452"/>
              </a:gdLst>
              <a:ahLst/>
              <a:cxnLst>
                <a:cxn ang="0">
                  <a:pos x="0" y="0"/>
                </a:cxn>
                <a:cxn ang="0">
                  <a:pos x="48" y="154"/>
                </a:cxn>
                <a:cxn ang="0">
                  <a:pos x="57" y="298"/>
                </a:cxn>
                <a:cxn ang="0">
                  <a:pos x="67" y="452"/>
                </a:cxn>
              </a:cxnLst>
              <a:rect l="txL" t="txT" r="txR" b="txB"/>
              <a:pathLst>
                <a:path w="67" h="452">
                  <a:moveTo>
                    <a:pt x="0" y="0"/>
                  </a:moveTo>
                  <a:cubicBezTo>
                    <a:pt x="6" y="26"/>
                    <a:pt x="39" y="104"/>
                    <a:pt x="48" y="154"/>
                  </a:cubicBezTo>
                  <a:cubicBezTo>
                    <a:pt x="57" y="204"/>
                    <a:pt x="54" y="248"/>
                    <a:pt x="57" y="298"/>
                  </a:cubicBezTo>
                  <a:cubicBezTo>
                    <a:pt x="60" y="348"/>
                    <a:pt x="65" y="420"/>
                    <a:pt x="67" y="452"/>
                  </a:cubicBezTo>
                </a:path>
              </a:pathLst>
            </a:custGeom>
            <a:noFill/>
            <a:ln w="1270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11" name="Freeform 366"/>
            <p:cNvSpPr/>
            <p:nvPr/>
          </p:nvSpPr>
          <p:spPr>
            <a:xfrm>
              <a:off x="1595" y="586"/>
              <a:ext cx="441" cy="95"/>
            </a:xfrm>
            <a:custGeom>
              <a:avLst/>
              <a:gdLst>
                <a:gd name="txL" fmla="*/ 0 w 441"/>
                <a:gd name="txT" fmla="*/ 0 h 95"/>
                <a:gd name="txR" fmla="*/ 441 w 441"/>
                <a:gd name="txB" fmla="*/ 95 h 95"/>
              </a:gdLst>
              <a:ahLst/>
              <a:cxnLst>
                <a:cxn ang="0">
                  <a:pos x="0" y="63"/>
                </a:cxn>
                <a:cxn ang="0">
                  <a:pos x="153" y="44"/>
                </a:cxn>
                <a:cxn ang="0">
                  <a:pos x="288" y="92"/>
                </a:cxn>
                <a:cxn ang="0">
                  <a:pos x="432" y="63"/>
                </a:cxn>
                <a:cxn ang="0">
                  <a:pos x="345" y="6"/>
                </a:cxn>
                <a:cxn ang="0">
                  <a:pos x="278" y="25"/>
                </a:cxn>
                <a:cxn ang="0">
                  <a:pos x="192" y="54"/>
                </a:cxn>
              </a:cxnLst>
              <a:rect l="txL" t="txT" r="txR" b="txB"/>
              <a:pathLst>
                <a:path w="441" h="95">
                  <a:moveTo>
                    <a:pt x="0" y="63"/>
                  </a:moveTo>
                  <a:cubicBezTo>
                    <a:pt x="52" y="51"/>
                    <a:pt x="105" y="39"/>
                    <a:pt x="153" y="44"/>
                  </a:cubicBezTo>
                  <a:cubicBezTo>
                    <a:pt x="201" y="49"/>
                    <a:pt x="242" y="89"/>
                    <a:pt x="288" y="92"/>
                  </a:cubicBezTo>
                  <a:cubicBezTo>
                    <a:pt x="334" y="95"/>
                    <a:pt x="423" y="77"/>
                    <a:pt x="432" y="63"/>
                  </a:cubicBezTo>
                  <a:cubicBezTo>
                    <a:pt x="441" y="49"/>
                    <a:pt x="371" y="12"/>
                    <a:pt x="345" y="6"/>
                  </a:cubicBezTo>
                  <a:cubicBezTo>
                    <a:pt x="319" y="0"/>
                    <a:pt x="303" y="17"/>
                    <a:pt x="278" y="25"/>
                  </a:cubicBezTo>
                  <a:cubicBezTo>
                    <a:pt x="253" y="33"/>
                    <a:pt x="206" y="48"/>
                    <a:pt x="192" y="54"/>
                  </a:cubicBezTo>
                </a:path>
              </a:pathLst>
            </a:custGeom>
            <a:noFill/>
            <a:ln w="1270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12" name="Freeform 367"/>
            <p:cNvSpPr/>
            <p:nvPr/>
          </p:nvSpPr>
          <p:spPr>
            <a:xfrm>
              <a:off x="1547" y="919"/>
              <a:ext cx="373" cy="767"/>
            </a:xfrm>
            <a:custGeom>
              <a:avLst/>
              <a:gdLst>
                <a:gd name="txL" fmla="*/ 0 w 373"/>
                <a:gd name="txT" fmla="*/ 0 h 767"/>
                <a:gd name="txR" fmla="*/ 373 w 373"/>
                <a:gd name="txB" fmla="*/ 767 h 767"/>
              </a:gdLst>
              <a:ahLst/>
              <a:cxnLst>
                <a:cxn ang="0">
                  <a:pos x="86" y="767"/>
                </a:cxn>
                <a:cxn ang="0">
                  <a:pos x="28" y="594"/>
                </a:cxn>
                <a:cxn ang="0">
                  <a:pos x="0" y="431"/>
                </a:cxn>
                <a:cxn ang="0">
                  <a:pos x="9" y="287"/>
                </a:cxn>
                <a:cxn ang="0">
                  <a:pos x="48" y="191"/>
                </a:cxn>
                <a:cxn ang="0">
                  <a:pos x="96" y="95"/>
                </a:cxn>
                <a:cxn ang="0">
                  <a:pos x="163" y="28"/>
                </a:cxn>
                <a:cxn ang="0">
                  <a:pos x="277" y="0"/>
                </a:cxn>
                <a:cxn ang="0">
                  <a:pos x="373" y="82"/>
                </a:cxn>
                <a:cxn ang="0">
                  <a:pos x="359" y="82"/>
                </a:cxn>
                <a:cxn ang="0">
                  <a:pos x="373" y="233"/>
                </a:cxn>
                <a:cxn ang="0">
                  <a:pos x="332" y="356"/>
                </a:cxn>
                <a:cxn ang="0">
                  <a:pos x="277" y="452"/>
                </a:cxn>
                <a:cxn ang="0">
                  <a:pos x="220" y="537"/>
                </a:cxn>
                <a:cxn ang="0">
                  <a:pos x="153" y="652"/>
                </a:cxn>
                <a:cxn ang="0">
                  <a:pos x="86" y="767"/>
                </a:cxn>
              </a:cxnLst>
              <a:rect l="txL" t="txT" r="txR" b="txB"/>
              <a:pathLst>
                <a:path w="373" h="767">
                  <a:moveTo>
                    <a:pt x="86" y="767"/>
                  </a:moveTo>
                  <a:lnTo>
                    <a:pt x="28" y="594"/>
                  </a:lnTo>
                  <a:lnTo>
                    <a:pt x="0" y="431"/>
                  </a:lnTo>
                  <a:lnTo>
                    <a:pt x="9" y="287"/>
                  </a:lnTo>
                  <a:lnTo>
                    <a:pt x="48" y="191"/>
                  </a:lnTo>
                  <a:lnTo>
                    <a:pt x="96" y="95"/>
                  </a:lnTo>
                  <a:lnTo>
                    <a:pt x="163" y="28"/>
                  </a:lnTo>
                  <a:lnTo>
                    <a:pt x="277" y="0"/>
                  </a:lnTo>
                  <a:lnTo>
                    <a:pt x="373" y="82"/>
                  </a:lnTo>
                  <a:lnTo>
                    <a:pt x="359" y="82"/>
                  </a:lnTo>
                  <a:lnTo>
                    <a:pt x="373" y="233"/>
                  </a:lnTo>
                  <a:lnTo>
                    <a:pt x="332" y="356"/>
                  </a:lnTo>
                  <a:lnTo>
                    <a:pt x="277" y="452"/>
                  </a:lnTo>
                  <a:lnTo>
                    <a:pt x="220" y="537"/>
                  </a:lnTo>
                  <a:lnTo>
                    <a:pt x="153" y="652"/>
                  </a:lnTo>
                  <a:lnTo>
                    <a:pt x="86" y="767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5000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12700" cap="flat" cmpd="sng">
              <a:solidFill>
                <a:srgbClr val="B2B2B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368"/>
          <p:cNvGrpSpPr/>
          <p:nvPr/>
        </p:nvGrpSpPr>
        <p:grpSpPr>
          <a:xfrm>
            <a:off x="2597150" y="912813"/>
            <a:ext cx="946150" cy="4367212"/>
            <a:chOff x="1527" y="586"/>
            <a:chExt cx="596" cy="2751"/>
          </a:xfrm>
        </p:grpSpPr>
        <p:sp>
          <p:nvSpPr>
            <p:cNvPr id="57365" name="Freeform 369"/>
            <p:cNvSpPr/>
            <p:nvPr/>
          </p:nvSpPr>
          <p:spPr>
            <a:xfrm>
              <a:off x="1547" y="1597"/>
              <a:ext cx="552" cy="1596"/>
            </a:xfrm>
            <a:custGeom>
              <a:avLst/>
              <a:gdLst>
                <a:gd name="txL" fmla="*/ 0 w 552"/>
                <a:gd name="txT" fmla="*/ 0 h 1596"/>
                <a:gd name="txR" fmla="*/ 552 w 552"/>
                <a:gd name="txB" fmla="*/ 1596 h 1596"/>
              </a:gdLst>
              <a:ahLst/>
              <a:cxnLst>
                <a:cxn ang="0">
                  <a:pos x="470" y="0"/>
                </a:cxn>
                <a:cxn ang="0">
                  <a:pos x="525" y="137"/>
                </a:cxn>
                <a:cxn ang="0">
                  <a:pos x="547" y="291"/>
                </a:cxn>
                <a:cxn ang="0">
                  <a:pos x="496" y="474"/>
                </a:cxn>
                <a:cxn ang="0">
                  <a:pos x="387" y="638"/>
                </a:cxn>
                <a:cxn ang="0">
                  <a:pos x="297" y="819"/>
                </a:cxn>
                <a:cxn ang="0">
                  <a:pos x="230" y="972"/>
                </a:cxn>
                <a:cxn ang="0">
                  <a:pos x="155" y="1166"/>
                </a:cxn>
                <a:cxn ang="0">
                  <a:pos x="85" y="1338"/>
                </a:cxn>
                <a:cxn ang="0">
                  <a:pos x="0" y="1596"/>
                </a:cxn>
              </a:cxnLst>
              <a:rect l="txL" t="txT" r="txR" b="txB"/>
              <a:pathLst>
                <a:path w="552" h="1596">
                  <a:moveTo>
                    <a:pt x="470" y="0"/>
                  </a:moveTo>
                  <a:cubicBezTo>
                    <a:pt x="479" y="23"/>
                    <a:pt x="512" y="89"/>
                    <a:pt x="525" y="137"/>
                  </a:cubicBezTo>
                  <a:cubicBezTo>
                    <a:pt x="538" y="185"/>
                    <a:pt x="552" y="235"/>
                    <a:pt x="547" y="291"/>
                  </a:cubicBezTo>
                  <a:cubicBezTo>
                    <a:pt x="542" y="347"/>
                    <a:pt x="523" y="416"/>
                    <a:pt x="496" y="474"/>
                  </a:cubicBezTo>
                  <a:cubicBezTo>
                    <a:pt x="469" y="532"/>
                    <a:pt x="420" y="581"/>
                    <a:pt x="387" y="638"/>
                  </a:cubicBezTo>
                  <a:cubicBezTo>
                    <a:pt x="354" y="695"/>
                    <a:pt x="323" y="763"/>
                    <a:pt x="297" y="819"/>
                  </a:cubicBezTo>
                  <a:cubicBezTo>
                    <a:pt x="271" y="875"/>
                    <a:pt x="254" y="914"/>
                    <a:pt x="230" y="972"/>
                  </a:cubicBezTo>
                  <a:cubicBezTo>
                    <a:pt x="206" y="1030"/>
                    <a:pt x="179" y="1105"/>
                    <a:pt x="155" y="1166"/>
                  </a:cubicBezTo>
                  <a:cubicBezTo>
                    <a:pt x="131" y="1227"/>
                    <a:pt x="111" y="1266"/>
                    <a:pt x="85" y="1338"/>
                  </a:cubicBezTo>
                  <a:cubicBezTo>
                    <a:pt x="59" y="1410"/>
                    <a:pt x="18" y="1542"/>
                    <a:pt x="0" y="1596"/>
                  </a:cubicBezTo>
                </a:path>
              </a:pathLst>
            </a:custGeom>
            <a:noFill/>
            <a:ln w="1270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366" name="Freeform 370"/>
            <p:cNvSpPr/>
            <p:nvPr/>
          </p:nvSpPr>
          <p:spPr>
            <a:xfrm>
              <a:off x="1604" y="592"/>
              <a:ext cx="413" cy="220"/>
            </a:xfrm>
            <a:custGeom>
              <a:avLst/>
              <a:gdLst>
                <a:gd name="txL" fmla="*/ 0 w 413"/>
                <a:gd name="txT" fmla="*/ 0 h 220"/>
                <a:gd name="txR" fmla="*/ 413 w 413"/>
                <a:gd name="txB" fmla="*/ 220 h 220"/>
              </a:gdLst>
              <a:ahLst/>
              <a:cxnLst>
                <a:cxn ang="0">
                  <a:pos x="0" y="220"/>
                </a:cxn>
                <a:cxn ang="0">
                  <a:pos x="0" y="57"/>
                </a:cxn>
                <a:cxn ang="0">
                  <a:pos x="77" y="38"/>
                </a:cxn>
                <a:cxn ang="0">
                  <a:pos x="173" y="38"/>
                </a:cxn>
                <a:cxn ang="0">
                  <a:pos x="269" y="19"/>
                </a:cxn>
                <a:cxn ang="0">
                  <a:pos x="327" y="0"/>
                </a:cxn>
                <a:cxn ang="0">
                  <a:pos x="413" y="48"/>
                </a:cxn>
                <a:cxn ang="0">
                  <a:pos x="413" y="220"/>
                </a:cxn>
                <a:cxn ang="0">
                  <a:pos x="0" y="220"/>
                </a:cxn>
              </a:cxnLst>
              <a:rect l="txL" t="txT" r="txR" b="txB"/>
              <a:pathLst>
                <a:path w="413" h="220">
                  <a:moveTo>
                    <a:pt x="0" y="220"/>
                  </a:moveTo>
                  <a:lnTo>
                    <a:pt x="0" y="57"/>
                  </a:lnTo>
                  <a:lnTo>
                    <a:pt x="77" y="38"/>
                  </a:lnTo>
                  <a:lnTo>
                    <a:pt x="173" y="38"/>
                  </a:lnTo>
                  <a:lnTo>
                    <a:pt x="269" y="19"/>
                  </a:lnTo>
                  <a:lnTo>
                    <a:pt x="327" y="0"/>
                  </a:lnTo>
                  <a:lnTo>
                    <a:pt x="413" y="48"/>
                  </a:lnTo>
                  <a:lnTo>
                    <a:pt x="413" y="220"/>
                  </a:lnTo>
                  <a:lnTo>
                    <a:pt x="0" y="220"/>
                  </a:lnTo>
                  <a:close/>
                </a:path>
              </a:pathLst>
            </a:custGeom>
            <a:gradFill rotWithShape="0">
              <a:gsLst>
                <a:gs pos="0">
                  <a:srgbClr val="666666"/>
                </a:gs>
                <a:gs pos="50000">
                  <a:srgbClr val="DDDDDD"/>
                </a:gs>
                <a:gs pos="100000">
                  <a:srgbClr val="666666"/>
                </a:gs>
              </a:gsLst>
              <a:lin ang="0" scaled="1"/>
              <a:tileRect/>
            </a:gradFill>
            <a:ln w="1270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367" name="Freeform 371"/>
            <p:cNvSpPr/>
            <p:nvPr/>
          </p:nvSpPr>
          <p:spPr>
            <a:xfrm>
              <a:off x="1556" y="3164"/>
              <a:ext cx="298" cy="173"/>
            </a:xfrm>
            <a:custGeom>
              <a:avLst/>
              <a:gdLst>
                <a:gd name="txL" fmla="*/ 0 w 298"/>
                <a:gd name="txT" fmla="*/ 0 h 173"/>
                <a:gd name="txR" fmla="*/ 298 w 298"/>
                <a:gd name="txB" fmla="*/ 173 h 173"/>
              </a:gdLst>
              <a:ahLst/>
              <a:cxnLst>
                <a:cxn ang="0">
                  <a:pos x="0" y="10"/>
                </a:cxn>
                <a:cxn ang="0">
                  <a:pos x="298" y="0"/>
                </a:cxn>
                <a:cxn ang="0">
                  <a:pos x="250" y="173"/>
                </a:cxn>
                <a:cxn ang="0">
                  <a:pos x="0" y="10"/>
                </a:cxn>
              </a:cxnLst>
              <a:rect l="txL" t="txT" r="txR" b="txB"/>
              <a:pathLst>
                <a:path w="298" h="173">
                  <a:moveTo>
                    <a:pt x="0" y="10"/>
                  </a:moveTo>
                  <a:lnTo>
                    <a:pt x="298" y="0"/>
                  </a:lnTo>
                  <a:lnTo>
                    <a:pt x="250" y="173"/>
                  </a:lnTo>
                  <a:lnTo>
                    <a:pt x="0" y="1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5400000" scaled="1"/>
              <a:tileRect/>
            </a:gradFill>
            <a:ln w="1270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368" name="Freeform 372"/>
            <p:cNvSpPr/>
            <p:nvPr/>
          </p:nvSpPr>
          <p:spPr>
            <a:xfrm>
              <a:off x="1835" y="2723"/>
              <a:ext cx="288" cy="605"/>
            </a:xfrm>
            <a:custGeom>
              <a:avLst/>
              <a:gdLst>
                <a:gd name="txL" fmla="*/ 0 w 288"/>
                <a:gd name="txT" fmla="*/ 0 h 605"/>
                <a:gd name="txR" fmla="*/ 288 w 288"/>
                <a:gd name="txB" fmla="*/ 605 h 605"/>
              </a:gdLst>
              <a:ahLst/>
              <a:cxnLst>
                <a:cxn ang="0">
                  <a:pos x="201" y="0"/>
                </a:cxn>
                <a:cxn ang="0">
                  <a:pos x="249" y="125"/>
                </a:cxn>
                <a:cxn ang="0">
                  <a:pos x="259" y="230"/>
                </a:cxn>
                <a:cxn ang="0">
                  <a:pos x="278" y="355"/>
                </a:cxn>
                <a:cxn ang="0">
                  <a:pos x="288" y="461"/>
                </a:cxn>
                <a:cxn ang="0">
                  <a:pos x="0" y="605"/>
                </a:cxn>
                <a:cxn ang="0">
                  <a:pos x="9" y="518"/>
                </a:cxn>
                <a:cxn ang="0">
                  <a:pos x="38" y="345"/>
                </a:cxn>
                <a:cxn ang="0">
                  <a:pos x="76" y="230"/>
                </a:cxn>
                <a:cxn ang="0">
                  <a:pos x="134" y="115"/>
                </a:cxn>
                <a:cxn ang="0">
                  <a:pos x="201" y="0"/>
                </a:cxn>
              </a:cxnLst>
              <a:rect l="txL" t="txT" r="txR" b="txB"/>
              <a:pathLst>
                <a:path w="288" h="605">
                  <a:moveTo>
                    <a:pt x="201" y="0"/>
                  </a:moveTo>
                  <a:lnTo>
                    <a:pt x="249" y="125"/>
                  </a:lnTo>
                  <a:lnTo>
                    <a:pt x="259" y="230"/>
                  </a:lnTo>
                  <a:lnTo>
                    <a:pt x="278" y="355"/>
                  </a:lnTo>
                  <a:lnTo>
                    <a:pt x="288" y="461"/>
                  </a:lnTo>
                  <a:lnTo>
                    <a:pt x="0" y="605"/>
                  </a:lnTo>
                  <a:lnTo>
                    <a:pt x="9" y="518"/>
                  </a:lnTo>
                  <a:lnTo>
                    <a:pt x="38" y="345"/>
                  </a:lnTo>
                  <a:lnTo>
                    <a:pt x="76" y="230"/>
                  </a:lnTo>
                  <a:lnTo>
                    <a:pt x="134" y="115"/>
                  </a:lnTo>
                  <a:lnTo>
                    <a:pt x="201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100000">
                  <a:srgbClr val="B2B2B2"/>
                </a:gs>
              </a:gsLst>
              <a:lin ang="0" scaled="1"/>
              <a:tileRect/>
            </a:gradFill>
            <a:ln w="1270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369" name="Freeform 373"/>
            <p:cNvSpPr/>
            <p:nvPr/>
          </p:nvSpPr>
          <p:spPr>
            <a:xfrm>
              <a:off x="1537" y="1609"/>
              <a:ext cx="557" cy="1306"/>
            </a:xfrm>
            <a:custGeom>
              <a:avLst/>
              <a:gdLst>
                <a:gd name="txL" fmla="*/ 0 w 557"/>
                <a:gd name="txT" fmla="*/ 0 h 1306"/>
                <a:gd name="txR" fmla="*/ 557 w 557"/>
                <a:gd name="txB" fmla="*/ 1306 h 1306"/>
              </a:gdLst>
              <a:ahLst/>
              <a:cxnLst>
                <a:cxn ang="0">
                  <a:pos x="480" y="0"/>
                </a:cxn>
                <a:cxn ang="0">
                  <a:pos x="528" y="115"/>
                </a:cxn>
                <a:cxn ang="0">
                  <a:pos x="557" y="231"/>
                </a:cxn>
                <a:cxn ang="0">
                  <a:pos x="547" y="365"/>
                </a:cxn>
                <a:cxn ang="0">
                  <a:pos x="490" y="547"/>
                </a:cxn>
                <a:cxn ang="0">
                  <a:pos x="442" y="643"/>
                </a:cxn>
                <a:cxn ang="0">
                  <a:pos x="374" y="749"/>
                </a:cxn>
                <a:cxn ang="0">
                  <a:pos x="288" y="835"/>
                </a:cxn>
                <a:cxn ang="0">
                  <a:pos x="221" y="1018"/>
                </a:cxn>
                <a:cxn ang="0">
                  <a:pos x="125" y="1239"/>
                </a:cxn>
                <a:cxn ang="0">
                  <a:pos x="86" y="1306"/>
                </a:cxn>
                <a:cxn ang="0">
                  <a:pos x="10" y="1123"/>
                </a:cxn>
                <a:cxn ang="0">
                  <a:pos x="0" y="903"/>
                </a:cxn>
                <a:cxn ang="0">
                  <a:pos x="48" y="682"/>
                </a:cxn>
                <a:cxn ang="0">
                  <a:pos x="115" y="509"/>
                </a:cxn>
                <a:cxn ang="0">
                  <a:pos x="202" y="413"/>
                </a:cxn>
                <a:cxn ang="0">
                  <a:pos x="307" y="269"/>
                </a:cxn>
                <a:cxn ang="0">
                  <a:pos x="422" y="77"/>
                </a:cxn>
                <a:cxn ang="0">
                  <a:pos x="480" y="0"/>
                </a:cxn>
              </a:cxnLst>
              <a:rect l="txL" t="txT" r="txR" b="txB"/>
              <a:pathLst>
                <a:path w="557" h="1306">
                  <a:moveTo>
                    <a:pt x="480" y="0"/>
                  </a:moveTo>
                  <a:lnTo>
                    <a:pt x="528" y="115"/>
                  </a:lnTo>
                  <a:lnTo>
                    <a:pt x="557" y="231"/>
                  </a:lnTo>
                  <a:lnTo>
                    <a:pt x="547" y="365"/>
                  </a:lnTo>
                  <a:lnTo>
                    <a:pt x="490" y="547"/>
                  </a:lnTo>
                  <a:lnTo>
                    <a:pt x="442" y="643"/>
                  </a:lnTo>
                  <a:lnTo>
                    <a:pt x="374" y="749"/>
                  </a:lnTo>
                  <a:lnTo>
                    <a:pt x="288" y="835"/>
                  </a:lnTo>
                  <a:lnTo>
                    <a:pt x="221" y="1018"/>
                  </a:lnTo>
                  <a:lnTo>
                    <a:pt x="125" y="1239"/>
                  </a:lnTo>
                  <a:lnTo>
                    <a:pt x="86" y="1306"/>
                  </a:lnTo>
                  <a:lnTo>
                    <a:pt x="10" y="1123"/>
                  </a:lnTo>
                  <a:lnTo>
                    <a:pt x="0" y="903"/>
                  </a:lnTo>
                  <a:lnTo>
                    <a:pt x="48" y="682"/>
                  </a:lnTo>
                  <a:lnTo>
                    <a:pt x="115" y="509"/>
                  </a:lnTo>
                  <a:lnTo>
                    <a:pt x="202" y="413"/>
                  </a:lnTo>
                  <a:lnTo>
                    <a:pt x="307" y="269"/>
                  </a:lnTo>
                  <a:lnTo>
                    <a:pt x="422" y="77"/>
                  </a:lnTo>
                  <a:lnTo>
                    <a:pt x="480" y="0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5000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1270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370" name="Freeform 374"/>
            <p:cNvSpPr/>
            <p:nvPr/>
          </p:nvSpPr>
          <p:spPr>
            <a:xfrm>
              <a:off x="1527" y="823"/>
              <a:ext cx="567" cy="1746"/>
            </a:xfrm>
            <a:custGeom>
              <a:avLst/>
              <a:gdLst>
                <a:gd name="txL" fmla="*/ 0 w 567"/>
                <a:gd name="txT" fmla="*/ 0 h 1746"/>
                <a:gd name="txR" fmla="*/ 567 w 567"/>
                <a:gd name="txB" fmla="*/ 1746 h 1746"/>
              </a:gdLst>
              <a:ahLst/>
              <a:cxnLst>
                <a:cxn ang="0">
                  <a:pos x="9" y="439"/>
                </a:cxn>
                <a:cxn ang="0">
                  <a:pos x="9" y="0"/>
                </a:cxn>
                <a:cxn ang="0">
                  <a:pos x="567" y="1"/>
                </a:cxn>
                <a:cxn ang="0">
                  <a:pos x="567" y="517"/>
                </a:cxn>
                <a:cxn ang="0">
                  <a:pos x="509" y="729"/>
                </a:cxn>
                <a:cxn ang="0">
                  <a:pos x="384" y="959"/>
                </a:cxn>
                <a:cxn ang="0">
                  <a:pos x="212" y="1228"/>
                </a:cxn>
                <a:cxn ang="0">
                  <a:pos x="106" y="1391"/>
                </a:cxn>
                <a:cxn ang="0">
                  <a:pos x="10" y="1689"/>
                </a:cxn>
                <a:cxn ang="0">
                  <a:pos x="0" y="1746"/>
                </a:cxn>
                <a:cxn ang="0">
                  <a:pos x="10" y="1084"/>
                </a:cxn>
                <a:cxn ang="0">
                  <a:pos x="135" y="825"/>
                </a:cxn>
                <a:cxn ang="0">
                  <a:pos x="308" y="517"/>
                </a:cxn>
                <a:cxn ang="0">
                  <a:pos x="393" y="260"/>
                </a:cxn>
                <a:cxn ang="0">
                  <a:pos x="366" y="137"/>
                </a:cxn>
                <a:cxn ang="0">
                  <a:pos x="283" y="96"/>
                </a:cxn>
                <a:cxn ang="0">
                  <a:pos x="174" y="123"/>
                </a:cxn>
                <a:cxn ang="0">
                  <a:pos x="125" y="249"/>
                </a:cxn>
                <a:cxn ang="0">
                  <a:pos x="68" y="335"/>
                </a:cxn>
                <a:cxn ang="0">
                  <a:pos x="9" y="439"/>
                </a:cxn>
              </a:cxnLst>
              <a:rect l="txL" t="txT" r="txR" b="txB"/>
              <a:pathLst>
                <a:path w="567" h="1746">
                  <a:moveTo>
                    <a:pt x="9" y="439"/>
                  </a:moveTo>
                  <a:lnTo>
                    <a:pt x="9" y="0"/>
                  </a:lnTo>
                  <a:lnTo>
                    <a:pt x="567" y="1"/>
                  </a:lnTo>
                  <a:lnTo>
                    <a:pt x="567" y="517"/>
                  </a:lnTo>
                  <a:lnTo>
                    <a:pt x="509" y="729"/>
                  </a:lnTo>
                  <a:lnTo>
                    <a:pt x="384" y="959"/>
                  </a:lnTo>
                  <a:lnTo>
                    <a:pt x="212" y="1228"/>
                  </a:lnTo>
                  <a:lnTo>
                    <a:pt x="106" y="1391"/>
                  </a:lnTo>
                  <a:lnTo>
                    <a:pt x="10" y="1689"/>
                  </a:lnTo>
                  <a:lnTo>
                    <a:pt x="0" y="1746"/>
                  </a:lnTo>
                  <a:lnTo>
                    <a:pt x="10" y="1084"/>
                  </a:lnTo>
                  <a:lnTo>
                    <a:pt x="135" y="825"/>
                  </a:lnTo>
                  <a:lnTo>
                    <a:pt x="308" y="517"/>
                  </a:lnTo>
                  <a:lnTo>
                    <a:pt x="393" y="260"/>
                  </a:lnTo>
                  <a:lnTo>
                    <a:pt x="366" y="137"/>
                  </a:lnTo>
                  <a:lnTo>
                    <a:pt x="283" y="96"/>
                  </a:lnTo>
                  <a:lnTo>
                    <a:pt x="174" y="123"/>
                  </a:lnTo>
                  <a:lnTo>
                    <a:pt x="125" y="249"/>
                  </a:lnTo>
                  <a:lnTo>
                    <a:pt x="68" y="335"/>
                  </a:lnTo>
                  <a:lnTo>
                    <a:pt x="9" y="439"/>
                  </a:lnTo>
                  <a:close/>
                </a:path>
              </a:pathLst>
            </a:custGeom>
            <a:gradFill rotWithShape="0">
              <a:gsLst>
                <a:gs pos="0">
                  <a:srgbClr val="666666"/>
                </a:gs>
                <a:gs pos="50000">
                  <a:srgbClr val="DDDDDD"/>
                </a:gs>
                <a:gs pos="100000">
                  <a:srgbClr val="666666"/>
                </a:gs>
              </a:gsLst>
              <a:lin ang="0" scaled="1"/>
              <a:tileRect/>
            </a:gradFill>
            <a:ln w="1270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371" name="Freeform 375"/>
            <p:cNvSpPr/>
            <p:nvPr/>
          </p:nvSpPr>
          <p:spPr>
            <a:xfrm>
              <a:off x="1566" y="1878"/>
              <a:ext cx="528" cy="1296"/>
            </a:xfrm>
            <a:custGeom>
              <a:avLst/>
              <a:gdLst>
                <a:gd name="txL" fmla="*/ 0 w 528"/>
                <a:gd name="txT" fmla="*/ 0 h 1296"/>
                <a:gd name="txR" fmla="*/ 528 w 528"/>
                <a:gd name="txB" fmla="*/ 1296 h 1296"/>
              </a:gdLst>
              <a:ahLst/>
              <a:cxnLst>
                <a:cxn ang="0">
                  <a:pos x="528" y="0"/>
                </a:cxn>
                <a:cxn ang="0">
                  <a:pos x="461" y="173"/>
                </a:cxn>
                <a:cxn ang="0">
                  <a:pos x="384" y="288"/>
                </a:cxn>
                <a:cxn ang="0">
                  <a:pos x="326" y="413"/>
                </a:cxn>
                <a:cxn ang="0">
                  <a:pos x="249" y="605"/>
                </a:cxn>
                <a:cxn ang="0">
                  <a:pos x="144" y="854"/>
                </a:cxn>
                <a:cxn ang="0">
                  <a:pos x="66" y="1016"/>
                </a:cxn>
                <a:cxn ang="0">
                  <a:pos x="39" y="1153"/>
                </a:cxn>
                <a:cxn ang="0">
                  <a:pos x="0" y="1286"/>
                </a:cxn>
                <a:cxn ang="0">
                  <a:pos x="288" y="1296"/>
                </a:cxn>
                <a:cxn ang="0">
                  <a:pos x="345" y="1114"/>
                </a:cxn>
                <a:cxn ang="0">
                  <a:pos x="441" y="922"/>
                </a:cxn>
                <a:cxn ang="0">
                  <a:pos x="528" y="720"/>
                </a:cxn>
                <a:cxn ang="0">
                  <a:pos x="528" y="0"/>
                </a:cxn>
              </a:cxnLst>
              <a:rect l="txL" t="txT" r="txR" b="txB"/>
              <a:pathLst>
                <a:path w="528" h="1296">
                  <a:moveTo>
                    <a:pt x="528" y="0"/>
                  </a:moveTo>
                  <a:lnTo>
                    <a:pt x="461" y="173"/>
                  </a:lnTo>
                  <a:lnTo>
                    <a:pt x="384" y="288"/>
                  </a:lnTo>
                  <a:lnTo>
                    <a:pt x="326" y="413"/>
                  </a:lnTo>
                  <a:lnTo>
                    <a:pt x="249" y="605"/>
                  </a:lnTo>
                  <a:lnTo>
                    <a:pt x="144" y="854"/>
                  </a:lnTo>
                  <a:lnTo>
                    <a:pt x="66" y="1016"/>
                  </a:lnTo>
                  <a:lnTo>
                    <a:pt x="39" y="1153"/>
                  </a:lnTo>
                  <a:lnTo>
                    <a:pt x="0" y="1286"/>
                  </a:lnTo>
                  <a:lnTo>
                    <a:pt x="288" y="1296"/>
                  </a:lnTo>
                  <a:lnTo>
                    <a:pt x="345" y="1114"/>
                  </a:lnTo>
                  <a:lnTo>
                    <a:pt x="441" y="922"/>
                  </a:lnTo>
                  <a:lnTo>
                    <a:pt x="528" y="720"/>
                  </a:lnTo>
                  <a:lnTo>
                    <a:pt x="528" y="0"/>
                  </a:lnTo>
                  <a:close/>
                </a:path>
              </a:pathLst>
            </a:custGeom>
            <a:gradFill rotWithShape="0">
              <a:gsLst>
                <a:gs pos="0">
                  <a:srgbClr val="666666"/>
                </a:gs>
                <a:gs pos="50000">
                  <a:srgbClr val="DDDDDD"/>
                </a:gs>
                <a:gs pos="100000">
                  <a:srgbClr val="666666"/>
                </a:gs>
              </a:gsLst>
              <a:lin ang="0" scaled="1"/>
              <a:tileRect/>
            </a:gradFill>
            <a:ln w="1270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372" name="Line 376"/>
            <p:cNvSpPr/>
            <p:nvPr/>
          </p:nvSpPr>
          <p:spPr>
            <a:xfrm>
              <a:off x="1561" y="3178"/>
              <a:ext cx="293" cy="0"/>
            </a:xfrm>
            <a:prstGeom prst="line">
              <a:avLst/>
            </a:prstGeom>
            <a:ln w="12700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73" name="Freeform 377"/>
            <p:cNvSpPr/>
            <p:nvPr/>
          </p:nvSpPr>
          <p:spPr>
            <a:xfrm>
              <a:off x="2094" y="1897"/>
              <a:ext cx="1" cy="714"/>
            </a:xfrm>
            <a:custGeom>
              <a:avLst/>
              <a:gdLst>
                <a:gd name="txL" fmla="*/ 0 w 1"/>
                <a:gd name="txT" fmla="*/ 0 h 714"/>
                <a:gd name="txR" fmla="*/ 1 w 1"/>
                <a:gd name="txB" fmla="*/ 714 h 714"/>
              </a:gdLst>
              <a:ahLst/>
              <a:cxnLst>
                <a:cxn ang="0">
                  <a:pos x="0" y="0"/>
                </a:cxn>
                <a:cxn ang="0">
                  <a:pos x="0" y="714"/>
                </a:cxn>
              </a:cxnLst>
              <a:rect l="txL" t="txT" r="txR" b="txB"/>
              <a:pathLst>
                <a:path w="1" h="714">
                  <a:moveTo>
                    <a:pt x="0" y="0"/>
                  </a:moveTo>
                  <a:lnTo>
                    <a:pt x="0" y="714"/>
                  </a:lnTo>
                </a:path>
              </a:pathLst>
            </a:custGeom>
            <a:noFill/>
            <a:ln w="1270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374" name="Freeform 378"/>
            <p:cNvSpPr/>
            <p:nvPr/>
          </p:nvSpPr>
          <p:spPr>
            <a:xfrm>
              <a:off x="1537" y="1926"/>
              <a:ext cx="1" cy="643"/>
            </a:xfrm>
            <a:custGeom>
              <a:avLst/>
              <a:gdLst>
                <a:gd name="txL" fmla="*/ 0 w 1"/>
                <a:gd name="txT" fmla="*/ 0 h 643"/>
                <a:gd name="txR" fmla="*/ 1 w 1"/>
                <a:gd name="txB" fmla="*/ 643 h 643"/>
              </a:gdLst>
              <a:ahLst/>
              <a:cxnLst>
                <a:cxn ang="0">
                  <a:pos x="0" y="0"/>
                </a:cxn>
                <a:cxn ang="0">
                  <a:pos x="0" y="315"/>
                </a:cxn>
                <a:cxn ang="0">
                  <a:pos x="1" y="643"/>
                </a:cxn>
              </a:cxnLst>
              <a:rect l="txL" t="txT" r="txR" b="txB"/>
              <a:pathLst>
                <a:path w="1" h="643">
                  <a:moveTo>
                    <a:pt x="0" y="0"/>
                  </a:moveTo>
                  <a:lnTo>
                    <a:pt x="0" y="315"/>
                  </a:lnTo>
                  <a:lnTo>
                    <a:pt x="1" y="643"/>
                  </a:lnTo>
                </a:path>
              </a:pathLst>
            </a:custGeom>
            <a:noFill/>
            <a:ln w="1270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375" name="Line 379"/>
            <p:cNvSpPr/>
            <p:nvPr/>
          </p:nvSpPr>
          <p:spPr>
            <a:xfrm>
              <a:off x="1547" y="3182"/>
              <a:ext cx="275" cy="155"/>
            </a:xfrm>
            <a:prstGeom prst="line">
              <a:avLst/>
            </a:prstGeom>
            <a:ln w="12700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76" name="Line 380"/>
            <p:cNvSpPr/>
            <p:nvPr/>
          </p:nvSpPr>
          <p:spPr>
            <a:xfrm flipV="1">
              <a:off x="1825" y="3173"/>
              <a:ext cx="284" cy="164"/>
            </a:xfrm>
            <a:prstGeom prst="line">
              <a:avLst/>
            </a:prstGeom>
            <a:ln w="12700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77" name="Freeform 381"/>
            <p:cNvSpPr/>
            <p:nvPr/>
          </p:nvSpPr>
          <p:spPr>
            <a:xfrm>
              <a:off x="1825" y="2598"/>
              <a:ext cx="269" cy="739"/>
            </a:xfrm>
            <a:custGeom>
              <a:avLst/>
              <a:gdLst>
                <a:gd name="txL" fmla="*/ 0 w 269"/>
                <a:gd name="txT" fmla="*/ 0 h 739"/>
                <a:gd name="txR" fmla="*/ 269 w 269"/>
                <a:gd name="txB" fmla="*/ 739 h 739"/>
              </a:gdLst>
              <a:ahLst/>
              <a:cxnLst>
                <a:cxn ang="0">
                  <a:pos x="269" y="0"/>
                </a:cxn>
                <a:cxn ang="0">
                  <a:pos x="134" y="317"/>
                </a:cxn>
                <a:cxn ang="0">
                  <a:pos x="58" y="490"/>
                </a:cxn>
                <a:cxn ang="0">
                  <a:pos x="0" y="739"/>
                </a:cxn>
              </a:cxnLst>
              <a:rect l="txL" t="txT" r="txR" b="txB"/>
              <a:pathLst>
                <a:path w="269" h="739">
                  <a:moveTo>
                    <a:pt x="269" y="0"/>
                  </a:moveTo>
                  <a:cubicBezTo>
                    <a:pt x="246" y="53"/>
                    <a:pt x="169" y="235"/>
                    <a:pt x="134" y="317"/>
                  </a:cubicBezTo>
                  <a:cubicBezTo>
                    <a:pt x="99" y="399"/>
                    <a:pt x="80" y="420"/>
                    <a:pt x="58" y="490"/>
                  </a:cubicBezTo>
                  <a:cubicBezTo>
                    <a:pt x="36" y="560"/>
                    <a:pt x="12" y="687"/>
                    <a:pt x="0" y="739"/>
                  </a:cubicBezTo>
                </a:path>
              </a:pathLst>
            </a:custGeom>
            <a:noFill/>
            <a:ln w="1270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378" name="Line 382"/>
            <p:cNvSpPr/>
            <p:nvPr/>
          </p:nvSpPr>
          <p:spPr>
            <a:xfrm>
              <a:off x="2099" y="1995"/>
              <a:ext cx="0" cy="0"/>
            </a:xfrm>
            <a:prstGeom prst="line">
              <a:avLst/>
            </a:prstGeom>
            <a:ln w="12700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79" name="Freeform 383"/>
            <p:cNvSpPr/>
            <p:nvPr/>
          </p:nvSpPr>
          <p:spPr>
            <a:xfrm>
              <a:off x="1535" y="1321"/>
              <a:ext cx="559" cy="1592"/>
            </a:xfrm>
            <a:custGeom>
              <a:avLst/>
              <a:gdLst>
                <a:gd name="txL" fmla="*/ 0 w 559"/>
                <a:gd name="txT" fmla="*/ 0 h 1592"/>
                <a:gd name="txR" fmla="*/ 559 w 559"/>
                <a:gd name="txB" fmla="*/ 1592 h 1592"/>
              </a:gdLst>
              <a:ahLst/>
              <a:cxnLst>
                <a:cxn ang="0">
                  <a:pos x="559" y="0"/>
                </a:cxn>
                <a:cxn ang="0">
                  <a:pos x="509" y="221"/>
                </a:cxn>
                <a:cxn ang="0">
                  <a:pos x="441" y="344"/>
                </a:cxn>
                <a:cxn ang="0">
                  <a:pos x="345" y="523"/>
                </a:cxn>
                <a:cxn ang="0">
                  <a:pos x="252" y="663"/>
                </a:cxn>
                <a:cxn ang="0">
                  <a:pos x="139" y="838"/>
                </a:cxn>
                <a:cxn ang="0">
                  <a:pos x="69" y="979"/>
                </a:cxn>
                <a:cxn ang="0">
                  <a:pos x="31" y="1104"/>
                </a:cxn>
                <a:cxn ang="0">
                  <a:pos x="2" y="1304"/>
                </a:cxn>
                <a:cxn ang="0">
                  <a:pos x="43" y="1469"/>
                </a:cxn>
                <a:cxn ang="0">
                  <a:pos x="112" y="1592"/>
                </a:cxn>
              </a:cxnLst>
              <a:rect l="txL" t="txT" r="txR" b="txB"/>
              <a:pathLst>
                <a:path w="559" h="1592">
                  <a:moveTo>
                    <a:pt x="559" y="0"/>
                  </a:moveTo>
                  <a:cubicBezTo>
                    <a:pt x="549" y="37"/>
                    <a:pt x="529" y="164"/>
                    <a:pt x="509" y="221"/>
                  </a:cubicBezTo>
                  <a:cubicBezTo>
                    <a:pt x="489" y="278"/>
                    <a:pt x="468" y="294"/>
                    <a:pt x="441" y="344"/>
                  </a:cubicBezTo>
                  <a:cubicBezTo>
                    <a:pt x="414" y="394"/>
                    <a:pt x="377" y="470"/>
                    <a:pt x="345" y="523"/>
                  </a:cubicBezTo>
                  <a:cubicBezTo>
                    <a:pt x="313" y="576"/>
                    <a:pt x="286" y="611"/>
                    <a:pt x="252" y="663"/>
                  </a:cubicBezTo>
                  <a:cubicBezTo>
                    <a:pt x="218" y="715"/>
                    <a:pt x="169" y="785"/>
                    <a:pt x="139" y="838"/>
                  </a:cubicBezTo>
                  <a:cubicBezTo>
                    <a:pt x="109" y="891"/>
                    <a:pt x="87" y="935"/>
                    <a:pt x="69" y="979"/>
                  </a:cubicBezTo>
                  <a:cubicBezTo>
                    <a:pt x="51" y="1023"/>
                    <a:pt x="42" y="1050"/>
                    <a:pt x="31" y="1104"/>
                  </a:cubicBezTo>
                  <a:cubicBezTo>
                    <a:pt x="20" y="1158"/>
                    <a:pt x="0" y="1243"/>
                    <a:pt x="2" y="1304"/>
                  </a:cubicBezTo>
                  <a:cubicBezTo>
                    <a:pt x="4" y="1365"/>
                    <a:pt x="25" y="1421"/>
                    <a:pt x="43" y="1469"/>
                  </a:cubicBezTo>
                  <a:cubicBezTo>
                    <a:pt x="61" y="1517"/>
                    <a:pt x="98" y="1567"/>
                    <a:pt x="112" y="1592"/>
                  </a:cubicBezTo>
                </a:path>
              </a:pathLst>
            </a:custGeom>
            <a:noFill/>
            <a:ln w="1270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380" name="Freeform 384"/>
            <p:cNvSpPr/>
            <p:nvPr/>
          </p:nvSpPr>
          <p:spPr>
            <a:xfrm>
              <a:off x="1537" y="916"/>
              <a:ext cx="387" cy="1016"/>
            </a:xfrm>
            <a:custGeom>
              <a:avLst/>
              <a:gdLst>
                <a:gd name="txL" fmla="*/ 0 w 387"/>
                <a:gd name="txT" fmla="*/ 0 h 1016"/>
                <a:gd name="txR" fmla="*/ 387 w 387"/>
                <a:gd name="txB" fmla="*/ 1016 h 1016"/>
              </a:gdLst>
              <a:ahLst/>
              <a:cxnLst>
                <a:cxn ang="0">
                  <a:pos x="0" y="1016"/>
                </a:cxn>
                <a:cxn ang="0">
                  <a:pos x="77" y="828"/>
                </a:cxn>
                <a:cxn ang="0">
                  <a:pos x="211" y="568"/>
                </a:cxn>
                <a:cxn ang="0">
                  <a:pos x="336" y="357"/>
                </a:cxn>
                <a:cxn ang="0">
                  <a:pos x="384" y="165"/>
                </a:cxn>
                <a:cxn ang="0">
                  <a:pos x="355" y="40"/>
                </a:cxn>
                <a:cxn ang="0">
                  <a:pos x="288" y="2"/>
                </a:cxn>
                <a:cxn ang="0">
                  <a:pos x="163" y="50"/>
                </a:cxn>
                <a:cxn ang="0">
                  <a:pos x="67" y="194"/>
                </a:cxn>
                <a:cxn ang="0">
                  <a:pos x="10" y="376"/>
                </a:cxn>
                <a:cxn ang="0">
                  <a:pos x="38" y="578"/>
                </a:cxn>
                <a:cxn ang="0">
                  <a:pos x="67" y="703"/>
                </a:cxn>
                <a:cxn ang="0">
                  <a:pos x="96" y="770"/>
                </a:cxn>
              </a:cxnLst>
              <a:rect l="txL" t="txT" r="txR" b="txB"/>
              <a:pathLst>
                <a:path w="387" h="1016">
                  <a:moveTo>
                    <a:pt x="0" y="1016"/>
                  </a:moveTo>
                  <a:cubicBezTo>
                    <a:pt x="13" y="985"/>
                    <a:pt x="42" y="903"/>
                    <a:pt x="77" y="828"/>
                  </a:cubicBezTo>
                  <a:cubicBezTo>
                    <a:pt x="112" y="753"/>
                    <a:pt x="168" y="646"/>
                    <a:pt x="211" y="568"/>
                  </a:cubicBezTo>
                  <a:cubicBezTo>
                    <a:pt x="254" y="490"/>
                    <a:pt x="307" y="424"/>
                    <a:pt x="336" y="357"/>
                  </a:cubicBezTo>
                  <a:cubicBezTo>
                    <a:pt x="365" y="290"/>
                    <a:pt x="381" y="218"/>
                    <a:pt x="384" y="165"/>
                  </a:cubicBezTo>
                  <a:cubicBezTo>
                    <a:pt x="387" y="112"/>
                    <a:pt x="371" y="67"/>
                    <a:pt x="355" y="40"/>
                  </a:cubicBezTo>
                  <a:cubicBezTo>
                    <a:pt x="339" y="13"/>
                    <a:pt x="320" y="0"/>
                    <a:pt x="288" y="2"/>
                  </a:cubicBezTo>
                  <a:cubicBezTo>
                    <a:pt x="256" y="4"/>
                    <a:pt x="200" y="18"/>
                    <a:pt x="163" y="50"/>
                  </a:cubicBezTo>
                  <a:cubicBezTo>
                    <a:pt x="126" y="82"/>
                    <a:pt x="93" y="140"/>
                    <a:pt x="67" y="194"/>
                  </a:cubicBezTo>
                  <a:cubicBezTo>
                    <a:pt x="41" y="248"/>
                    <a:pt x="15" y="312"/>
                    <a:pt x="10" y="376"/>
                  </a:cubicBezTo>
                  <a:cubicBezTo>
                    <a:pt x="5" y="440"/>
                    <a:pt x="29" y="524"/>
                    <a:pt x="38" y="578"/>
                  </a:cubicBezTo>
                  <a:cubicBezTo>
                    <a:pt x="47" y="632"/>
                    <a:pt x="57" y="671"/>
                    <a:pt x="67" y="703"/>
                  </a:cubicBezTo>
                  <a:cubicBezTo>
                    <a:pt x="77" y="735"/>
                    <a:pt x="90" y="756"/>
                    <a:pt x="96" y="770"/>
                  </a:cubicBezTo>
                </a:path>
              </a:pathLst>
            </a:custGeom>
            <a:noFill/>
            <a:ln w="1270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381" name="Line 385"/>
            <p:cNvSpPr/>
            <p:nvPr/>
          </p:nvSpPr>
          <p:spPr>
            <a:xfrm flipV="1">
              <a:off x="1537" y="812"/>
              <a:ext cx="0" cy="490"/>
            </a:xfrm>
            <a:prstGeom prst="line">
              <a:avLst/>
            </a:prstGeom>
            <a:ln w="12700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82" name="Line 386"/>
            <p:cNvSpPr/>
            <p:nvPr/>
          </p:nvSpPr>
          <p:spPr>
            <a:xfrm>
              <a:off x="1537" y="822"/>
              <a:ext cx="566" cy="0"/>
            </a:xfrm>
            <a:prstGeom prst="line">
              <a:avLst/>
            </a:prstGeom>
            <a:ln w="12700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83" name="Line 387"/>
            <p:cNvSpPr/>
            <p:nvPr/>
          </p:nvSpPr>
          <p:spPr>
            <a:xfrm>
              <a:off x="2094" y="822"/>
              <a:ext cx="0" cy="518"/>
            </a:xfrm>
            <a:prstGeom prst="line">
              <a:avLst/>
            </a:prstGeom>
            <a:ln w="12700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84" name="Line 388"/>
            <p:cNvSpPr/>
            <p:nvPr/>
          </p:nvSpPr>
          <p:spPr>
            <a:xfrm flipV="1">
              <a:off x="1604" y="650"/>
              <a:ext cx="0" cy="172"/>
            </a:xfrm>
            <a:prstGeom prst="line">
              <a:avLst/>
            </a:prstGeom>
            <a:ln w="12700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85" name="Line 389"/>
            <p:cNvSpPr/>
            <p:nvPr/>
          </p:nvSpPr>
          <p:spPr>
            <a:xfrm flipV="1">
              <a:off x="2027" y="640"/>
              <a:ext cx="0" cy="182"/>
            </a:xfrm>
            <a:prstGeom prst="line">
              <a:avLst/>
            </a:prstGeom>
            <a:ln w="12700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86" name="Freeform 390"/>
            <p:cNvSpPr/>
            <p:nvPr/>
          </p:nvSpPr>
          <p:spPr>
            <a:xfrm>
              <a:off x="2046" y="2732"/>
              <a:ext cx="67" cy="452"/>
            </a:xfrm>
            <a:custGeom>
              <a:avLst/>
              <a:gdLst>
                <a:gd name="txL" fmla="*/ 0 w 67"/>
                <a:gd name="txT" fmla="*/ 0 h 452"/>
                <a:gd name="txR" fmla="*/ 67 w 67"/>
                <a:gd name="txB" fmla="*/ 452 h 452"/>
              </a:gdLst>
              <a:ahLst/>
              <a:cxnLst>
                <a:cxn ang="0">
                  <a:pos x="0" y="0"/>
                </a:cxn>
                <a:cxn ang="0">
                  <a:pos x="48" y="154"/>
                </a:cxn>
                <a:cxn ang="0">
                  <a:pos x="57" y="298"/>
                </a:cxn>
                <a:cxn ang="0">
                  <a:pos x="67" y="452"/>
                </a:cxn>
              </a:cxnLst>
              <a:rect l="txL" t="txT" r="txR" b="txB"/>
              <a:pathLst>
                <a:path w="67" h="452">
                  <a:moveTo>
                    <a:pt x="0" y="0"/>
                  </a:moveTo>
                  <a:cubicBezTo>
                    <a:pt x="6" y="26"/>
                    <a:pt x="39" y="104"/>
                    <a:pt x="48" y="154"/>
                  </a:cubicBezTo>
                  <a:cubicBezTo>
                    <a:pt x="57" y="204"/>
                    <a:pt x="54" y="248"/>
                    <a:pt x="57" y="298"/>
                  </a:cubicBezTo>
                  <a:cubicBezTo>
                    <a:pt x="60" y="348"/>
                    <a:pt x="65" y="420"/>
                    <a:pt x="67" y="452"/>
                  </a:cubicBezTo>
                </a:path>
              </a:pathLst>
            </a:custGeom>
            <a:noFill/>
            <a:ln w="1270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387" name="Freeform 391"/>
            <p:cNvSpPr/>
            <p:nvPr/>
          </p:nvSpPr>
          <p:spPr>
            <a:xfrm>
              <a:off x="1595" y="586"/>
              <a:ext cx="441" cy="95"/>
            </a:xfrm>
            <a:custGeom>
              <a:avLst/>
              <a:gdLst>
                <a:gd name="txL" fmla="*/ 0 w 441"/>
                <a:gd name="txT" fmla="*/ 0 h 95"/>
                <a:gd name="txR" fmla="*/ 441 w 441"/>
                <a:gd name="txB" fmla="*/ 95 h 95"/>
              </a:gdLst>
              <a:ahLst/>
              <a:cxnLst>
                <a:cxn ang="0">
                  <a:pos x="0" y="63"/>
                </a:cxn>
                <a:cxn ang="0">
                  <a:pos x="153" y="44"/>
                </a:cxn>
                <a:cxn ang="0">
                  <a:pos x="288" y="92"/>
                </a:cxn>
                <a:cxn ang="0">
                  <a:pos x="432" y="63"/>
                </a:cxn>
                <a:cxn ang="0">
                  <a:pos x="345" y="6"/>
                </a:cxn>
                <a:cxn ang="0">
                  <a:pos x="278" y="25"/>
                </a:cxn>
                <a:cxn ang="0">
                  <a:pos x="192" y="54"/>
                </a:cxn>
              </a:cxnLst>
              <a:rect l="txL" t="txT" r="txR" b="txB"/>
              <a:pathLst>
                <a:path w="441" h="95">
                  <a:moveTo>
                    <a:pt x="0" y="63"/>
                  </a:moveTo>
                  <a:cubicBezTo>
                    <a:pt x="52" y="51"/>
                    <a:pt x="105" y="39"/>
                    <a:pt x="153" y="44"/>
                  </a:cubicBezTo>
                  <a:cubicBezTo>
                    <a:pt x="201" y="49"/>
                    <a:pt x="242" y="89"/>
                    <a:pt x="288" y="92"/>
                  </a:cubicBezTo>
                  <a:cubicBezTo>
                    <a:pt x="334" y="95"/>
                    <a:pt x="423" y="77"/>
                    <a:pt x="432" y="63"/>
                  </a:cubicBezTo>
                  <a:cubicBezTo>
                    <a:pt x="441" y="49"/>
                    <a:pt x="371" y="12"/>
                    <a:pt x="345" y="6"/>
                  </a:cubicBezTo>
                  <a:cubicBezTo>
                    <a:pt x="319" y="0"/>
                    <a:pt x="303" y="17"/>
                    <a:pt x="278" y="25"/>
                  </a:cubicBezTo>
                  <a:cubicBezTo>
                    <a:pt x="253" y="33"/>
                    <a:pt x="206" y="48"/>
                    <a:pt x="192" y="54"/>
                  </a:cubicBezTo>
                </a:path>
              </a:pathLst>
            </a:custGeom>
            <a:noFill/>
            <a:ln w="12700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388" name="Freeform 392"/>
            <p:cNvSpPr/>
            <p:nvPr/>
          </p:nvSpPr>
          <p:spPr>
            <a:xfrm>
              <a:off x="1547" y="919"/>
              <a:ext cx="373" cy="767"/>
            </a:xfrm>
            <a:custGeom>
              <a:avLst/>
              <a:gdLst>
                <a:gd name="txL" fmla="*/ 0 w 373"/>
                <a:gd name="txT" fmla="*/ 0 h 767"/>
                <a:gd name="txR" fmla="*/ 373 w 373"/>
                <a:gd name="txB" fmla="*/ 767 h 767"/>
              </a:gdLst>
              <a:ahLst/>
              <a:cxnLst>
                <a:cxn ang="0">
                  <a:pos x="86" y="767"/>
                </a:cxn>
                <a:cxn ang="0">
                  <a:pos x="28" y="594"/>
                </a:cxn>
                <a:cxn ang="0">
                  <a:pos x="0" y="431"/>
                </a:cxn>
                <a:cxn ang="0">
                  <a:pos x="9" y="287"/>
                </a:cxn>
                <a:cxn ang="0">
                  <a:pos x="48" y="191"/>
                </a:cxn>
                <a:cxn ang="0">
                  <a:pos x="96" y="95"/>
                </a:cxn>
                <a:cxn ang="0">
                  <a:pos x="163" y="28"/>
                </a:cxn>
                <a:cxn ang="0">
                  <a:pos x="277" y="0"/>
                </a:cxn>
                <a:cxn ang="0">
                  <a:pos x="373" y="82"/>
                </a:cxn>
                <a:cxn ang="0">
                  <a:pos x="359" y="82"/>
                </a:cxn>
                <a:cxn ang="0">
                  <a:pos x="373" y="233"/>
                </a:cxn>
                <a:cxn ang="0">
                  <a:pos x="332" y="356"/>
                </a:cxn>
                <a:cxn ang="0">
                  <a:pos x="277" y="452"/>
                </a:cxn>
                <a:cxn ang="0">
                  <a:pos x="220" y="537"/>
                </a:cxn>
                <a:cxn ang="0">
                  <a:pos x="153" y="652"/>
                </a:cxn>
                <a:cxn ang="0">
                  <a:pos x="86" y="767"/>
                </a:cxn>
              </a:cxnLst>
              <a:rect l="txL" t="txT" r="txR" b="txB"/>
              <a:pathLst>
                <a:path w="373" h="767">
                  <a:moveTo>
                    <a:pt x="86" y="767"/>
                  </a:moveTo>
                  <a:lnTo>
                    <a:pt x="28" y="594"/>
                  </a:lnTo>
                  <a:lnTo>
                    <a:pt x="0" y="431"/>
                  </a:lnTo>
                  <a:lnTo>
                    <a:pt x="9" y="287"/>
                  </a:lnTo>
                  <a:lnTo>
                    <a:pt x="48" y="191"/>
                  </a:lnTo>
                  <a:lnTo>
                    <a:pt x="96" y="95"/>
                  </a:lnTo>
                  <a:lnTo>
                    <a:pt x="163" y="28"/>
                  </a:lnTo>
                  <a:lnTo>
                    <a:pt x="277" y="0"/>
                  </a:lnTo>
                  <a:lnTo>
                    <a:pt x="373" y="82"/>
                  </a:lnTo>
                  <a:lnTo>
                    <a:pt x="359" y="82"/>
                  </a:lnTo>
                  <a:lnTo>
                    <a:pt x="373" y="233"/>
                  </a:lnTo>
                  <a:lnTo>
                    <a:pt x="332" y="356"/>
                  </a:lnTo>
                  <a:lnTo>
                    <a:pt x="277" y="452"/>
                  </a:lnTo>
                  <a:lnTo>
                    <a:pt x="220" y="537"/>
                  </a:lnTo>
                  <a:lnTo>
                    <a:pt x="153" y="652"/>
                  </a:lnTo>
                  <a:lnTo>
                    <a:pt x="86" y="767"/>
                  </a:lnTo>
                  <a:close/>
                </a:path>
              </a:pathLst>
            </a:custGeom>
            <a:gradFill rotWithShape="0">
              <a:gsLst>
                <a:gs pos="0">
                  <a:srgbClr val="525252"/>
                </a:gs>
                <a:gs pos="50000">
                  <a:srgbClr val="B2B2B2"/>
                </a:gs>
                <a:gs pos="100000">
                  <a:srgbClr val="525252"/>
                </a:gs>
              </a:gsLst>
              <a:lin ang="0" scaled="1"/>
              <a:tileRect/>
            </a:gradFill>
            <a:ln w="12700" cap="flat" cmpd="sng">
              <a:solidFill>
                <a:srgbClr val="B2B2B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9233" name="Rectangle 17"/>
          <p:cNvSpPr/>
          <p:nvPr/>
        </p:nvSpPr>
        <p:spPr>
          <a:xfrm>
            <a:off x="263525" y="215900"/>
            <a:ext cx="373316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2</a:t>
            </a:r>
            <a:r>
              <a:rPr lang="zh-CN" altLang="en-US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、螺纹的规定画法</a:t>
            </a:r>
            <a:endParaRPr lang="zh-CN" altLang="en-US" sz="28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343051" name="组合 343050"/>
          <p:cNvGrpSpPr/>
          <p:nvPr/>
        </p:nvGrpSpPr>
        <p:grpSpPr>
          <a:xfrm>
            <a:off x="263525" y="70929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6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6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6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6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15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15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157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157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10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2" grpId="0"/>
      <p:bldP spid="115780" grpId="0" bldLvl="0" animBg="1"/>
      <p:bldP spid="116027" grpId="0"/>
      <p:bldP spid="116028" grpId="0"/>
      <p:bldP spid="92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48" name="Rectangle 12"/>
          <p:cNvSpPr/>
          <p:nvPr/>
        </p:nvSpPr>
        <p:spPr>
          <a:xfrm>
            <a:off x="3683000" y="2009775"/>
            <a:ext cx="1358900" cy="1512888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2" name="Group 13"/>
          <p:cNvGrpSpPr/>
          <p:nvPr/>
        </p:nvGrpSpPr>
        <p:grpSpPr>
          <a:xfrm>
            <a:off x="3835400" y="1649413"/>
            <a:ext cx="1066800" cy="2722562"/>
            <a:chOff x="1440" y="2221"/>
            <a:chExt cx="672" cy="1715"/>
          </a:xfrm>
        </p:grpSpPr>
        <p:sp>
          <p:nvSpPr>
            <p:cNvPr id="58426" name="Rectangle 14"/>
            <p:cNvSpPr/>
            <p:nvPr/>
          </p:nvSpPr>
          <p:spPr>
            <a:xfrm>
              <a:off x="1440" y="2352"/>
              <a:ext cx="672" cy="1326"/>
            </a:xfrm>
            <a:prstGeom prst="rect">
              <a:avLst/>
            </a:prstGeom>
            <a:noFill/>
            <a:ln w="57150" cap="flat" cmpd="sng">
              <a:solidFill>
                <a:srgbClr val="00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8427" name="Line 15"/>
            <p:cNvSpPr/>
            <p:nvPr/>
          </p:nvSpPr>
          <p:spPr>
            <a:xfrm>
              <a:off x="1776" y="2221"/>
              <a:ext cx="0" cy="1715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lgDashDot"/>
              <a:headEnd type="none" w="med" len="med"/>
              <a:tailEnd type="none" w="med" len="med"/>
            </a:ln>
          </p:spPr>
        </p:sp>
      </p:grpSp>
      <p:sp>
        <p:nvSpPr>
          <p:cNvPr id="116752" name="Line 16"/>
          <p:cNvSpPr/>
          <p:nvPr/>
        </p:nvSpPr>
        <p:spPr>
          <a:xfrm>
            <a:off x="3683000" y="2009775"/>
            <a:ext cx="1358900" cy="0"/>
          </a:xfrm>
          <a:prstGeom prst="line">
            <a:avLst/>
          </a:prstGeom>
          <a:ln w="5715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" name="Group 17"/>
          <p:cNvGrpSpPr/>
          <p:nvPr/>
        </p:nvGrpSpPr>
        <p:grpSpPr>
          <a:xfrm>
            <a:off x="3835400" y="3962400"/>
            <a:ext cx="1066800" cy="333375"/>
            <a:chOff x="1440" y="3678"/>
            <a:chExt cx="672" cy="210"/>
          </a:xfrm>
        </p:grpSpPr>
        <p:sp>
          <p:nvSpPr>
            <p:cNvPr id="58424" name="Line 18"/>
            <p:cNvSpPr/>
            <p:nvPr/>
          </p:nvSpPr>
          <p:spPr>
            <a:xfrm flipH="1">
              <a:off x="1776" y="3678"/>
              <a:ext cx="336" cy="210"/>
            </a:xfrm>
            <a:prstGeom prst="line">
              <a:avLst/>
            </a:prstGeom>
            <a:ln w="571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25" name="Line 19"/>
            <p:cNvSpPr/>
            <p:nvPr/>
          </p:nvSpPr>
          <p:spPr>
            <a:xfrm flipH="1" flipV="1">
              <a:off x="1440" y="3678"/>
              <a:ext cx="336" cy="210"/>
            </a:xfrm>
            <a:prstGeom prst="line">
              <a:avLst/>
            </a:prstGeom>
            <a:ln w="571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6756" name="Line 20"/>
          <p:cNvSpPr/>
          <p:nvPr/>
        </p:nvSpPr>
        <p:spPr>
          <a:xfrm>
            <a:off x="3683000" y="3522663"/>
            <a:ext cx="1358900" cy="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57" name="Line 21"/>
          <p:cNvSpPr/>
          <p:nvPr/>
        </p:nvSpPr>
        <p:spPr>
          <a:xfrm>
            <a:off x="3835400" y="1857375"/>
            <a:ext cx="0" cy="228600"/>
          </a:xfrm>
          <a:prstGeom prst="line">
            <a:avLst/>
          </a:prstGeom>
          <a:ln w="5715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58" name="Line 22"/>
          <p:cNvSpPr/>
          <p:nvPr/>
        </p:nvSpPr>
        <p:spPr>
          <a:xfrm>
            <a:off x="4902200" y="1857375"/>
            <a:ext cx="0" cy="228600"/>
          </a:xfrm>
          <a:prstGeom prst="line">
            <a:avLst/>
          </a:prstGeom>
          <a:ln w="5715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59" name="Line 23"/>
          <p:cNvSpPr/>
          <p:nvPr/>
        </p:nvSpPr>
        <p:spPr>
          <a:xfrm>
            <a:off x="3302000" y="1857375"/>
            <a:ext cx="2133600" cy="0"/>
          </a:xfrm>
          <a:prstGeom prst="line">
            <a:avLst/>
          </a:prstGeom>
          <a:ln w="5715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" name="Group 24"/>
          <p:cNvGrpSpPr/>
          <p:nvPr/>
        </p:nvGrpSpPr>
        <p:grpSpPr>
          <a:xfrm>
            <a:off x="3530600" y="1857375"/>
            <a:ext cx="1676400" cy="228600"/>
            <a:chOff x="1248" y="2352"/>
            <a:chExt cx="1056" cy="144"/>
          </a:xfrm>
        </p:grpSpPr>
        <p:grpSp>
          <p:nvGrpSpPr>
            <p:cNvPr id="58420" name="Group 25"/>
            <p:cNvGrpSpPr/>
            <p:nvPr/>
          </p:nvGrpSpPr>
          <p:grpSpPr>
            <a:xfrm>
              <a:off x="1248" y="2352"/>
              <a:ext cx="1056" cy="144"/>
              <a:chOff x="1248" y="2352"/>
              <a:chExt cx="1056" cy="144"/>
            </a:xfrm>
          </p:grpSpPr>
          <p:sp>
            <p:nvSpPr>
              <p:cNvPr id="58422" name="Line 26"/>
              <p:cNvSpPr/>
              <p:nvPr/>
            </p:nvSpPr>
            <p:spPr>
              <a:xfrm flipV="1">
                <a:off x="2112" y="2352"/>
                <a:ext cx="192" cy="144"/>
              </a:xfrm>
              <a:prstGeom prst="line">
                <a:avLst/>
              </a:prstGeom>
              <a:ln w="57150" cap="flat" cmpd="sng">
                <a:solidFill>
                  <a:srgbClr val="00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23" name="Line 27"/>
              <p:cNvSpPr/>
              <p:nvPr/>
            </p:nvSpPr>
            <p:spPr>
              <a:xfrm flipH="1" flipV="1">
                <a:off x="1248" y="2352"/>
                <a:ext cx="183" cy="144"/>
              </a:xfrm>
              <a:prstGeom prst="line">
                <a:avLst/>
              </a:prstGeom>
              <a:ln w="57150" cap="flat" cmpd="sng">
                <a:solidFill>
                  <a:srgbClr val="00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8421" name="Line 28"/>
            <p:cNvSpPr/>
            <p:nvPr/>
          </p:nvSpPr>
          <p:spPr>
            <a:xfrm>
              <a:off x="1431" y="2496"/>
              <a:ext cx="681" cy="0"/>
            </a:xfrm>
            <a:prstGeom prst="line">
              <a:avLst/>
            </a:prstGeom>
            <a:ln w="571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29"/>
          <p:cNvGrpSpPr/>
          <p:nvPr/>
        </p:nvGrpSpPr>
        <p:grpSpPr>
          <a:xfrm>
            <a:off x="3287713" y="1857375"/>
            <a:ext cx="2147887" cy="2819400"/>
            <a:chOff x="1095" y="2352"/>
            <a:chExt cx="1353" cy="1776"/>
          </a:xfrm>
        </p:grpSpPr>
        <p:sp>
          <p:nvSpPr>
            <p:cNvPr id="58402" name="Line 30"/>
            <p:cNvSpPr/>
            <p:nvPr/>
          </p:nvSpPr>
          <p:spPr>
            <a:xfrm flipH="1">
              <a:off x="2112" y="2352"/>
              <a:ext cx="336" cy="336"/>
            </a:xfrm>
            <a:prstGeom prst="line">
              <a:avLst/>
            </a:prstGeom>
            <a:ln w="28575" cap="flat" cmpd="sng">
              <a:solidFill>
                <a:srgbClr val="9900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03" name="Line 31"/>
            <p:cNvSpPr/>
            <p:nvPr/>
          </p:nvSpPr>
          <p:spPr>
            <a:xfrm flipH="1">
              <a:off x="2112" y="2592"/>
              <a:ext cx="336" cy="336"/>
            </a:xfrm>
            <a:prstGeom prst="line">
              <a:avLst/>
            </a:prstGeom>
            <a:ln w="28575" cap="flat" cmpd="sng">
              <a:solidFill>
                <a:srgbClr val="9900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04" name="Line 32"/>
            <p:cNvSpPr/>
            <p:nvPr/>
          </p:nvSpPr>
          <p:spPr>
            <a:xfrm flipH="1">
              <a:off x="2112" y="2807"/>
              <a:ext cx="336" cy="336"/>
            </a:xfrm>
            <a:prstGeom prst="line">
              <a:avLst/>
            </a:prstGeom>
            <a:ln w="28575" cap="flat" cmpd="sng">
              <a:solidFill>
                <a:srgbClr val="9900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05" name="Line 33"/>
            <p:cNvSpPr/>
            <p:nvPr/>
          </p:nvSpPr>
          <p:spPr>
            <a:xfrm flipH="1">
              <a:off x="2112" y="3024"/>
              <a:ext cx="336" cy="336"/>
            </a:xfrm>
            <a:prstGeom prst="line">
              <a:avLst/>
            </a:prstGeom>
            <a:ln w="28575" cap="flat" cmpd="sng">
              <a:solidFill>
                <a:srgbClr val="9900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06" name="Line 34"/>
            <p:cNvSpPr/>
            <p:nvPr/>
          </p:nvSpPr>
          <p:spPr>
            <a:xfrm flipH="1">
              <a:off x="2112" y="3247"/>
              <a:ext cx="336" cy="336"/>
            </a:xfrm>
            <a:prstGeom prst="line">
              <a:avLst/>
            </a:prstGeom>
            <a:ln w="28575" cap="flat" cmpd="sng">
              <a:solidFill>
                <a:srgbClr val="9900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07" name="Line 35"/>
            <p:cNvSpPr/>
            <p:nvPr/>
          </p:nvSpPr>
          <p:spPr>
            <a:xfrm flipH="1">
              <a:off x="1776" y="3456"/>
              <a:ext cx="672" cy="672"/>
            </a:xfrm>
            <a:prstGeom prst="line">
              <a:avLst/>
            </a:prstGeom>
            <a:ln w="28575" cap="flat" cmpd="sng">
              <a:solidFill>
                <a:srgbClr val="9900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08" name="Line 36"/>
            <p:cNvSpPr/>
            <p:nvPr/>
          </p:nvSpPr>
          <p:spPr>
            <a:xfrm flipH="1">
              <a:off x="2064" y="3696"/>
              <a:ext cx="384" cy="384"/>
            </a:xfrm>
            <a:prstGeom prst="line">
              <a:avLst/>
            </a:prstGeom>
            <a:ln w="28575" cap="flat" cmpd="sng">
              <a:solidFill>
                <a:srgbClr val="9900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09" name="Line 37"/>
            <p:cNvSpPr/>
            <p:nvPr/>
          </p:nvSpPr>
          <p:spPr>
            <a:xfrm flipH="1">
              <a:off x="1104" y="2352"/>
              <a:ext cx="144" cy="144"/>
            </a:xfrm>
            <a:prstGeom prst="line">
              <a:avLst/>
            </a:prstGeom>
            <a:ln w="28575" cap="flat" cmpd="sng">
              <a:solidFill>
                <a:srgbClr val="9900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10" name="Line 38"/>
            <p:cNvSpPr/>
            <p:nvPr/>
          </p:nvSpPr>
          <p:spPr>
            <a:xfrm flipH="1">
              <a:off x="1104" y="2448"/>
              <a:ext cx="255" cy="240"/>
            </a:xfrm>
            <a:prstGeom prst="line">
              <a:avLst/>
            </a:prstGeom>
            <a:ln w="28575" cap="flat" cmpd="sng">
              <a:solidFill>
                <a:srgbClr val="9900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11" name="Line 39"/>
            <p:cNvSpPr/>
            <p:nvPr/>
          </p:nvSpPr>
          <p:spPr>
            <a:xfrm flipH="1">
              <a:off x="1095" y="2603"/>
              <a:ext cx="336" cy="336"/>
            </a:xfrm>
            <a:prstGeom prst="line">
              <a:avLst/>
            </a:prstGeom>
            <a:ln w="28575" cap="flat" cmpd="sng">
              <a:solidFill>
                <a:srgbClr val="9900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12" name="Line 40"/>
            <p:cNvSpPr/>
            <p:nvPr/>
          </p:nvSpPr>
          <p:spPr>
            <a:xfrm flipH="1">
              <a:off x="1104" y="2807"/>
              <a:ext cx="336" cy="336"/>
            </a:xfrm>
            <a:prstGeom prst="line">
              <a:avLst/>
            </a:prstGeom>
            <a:ln w="28575" cap="flat" cmpd="sng">
              <a:solidFill>
                <a:srgbClr val="9900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13" name="Line 41"/>
            <p:cNvSpPr/>
            <p:nvPr/>
          </p:nvSpPr>
          <p:spPr>
            <a:xfrm flipH="1">
              <a:off x="1095" y="3024"/>
              <a:ext cx="336" cy="336"/>
            </a:xfrm>
            <a:prstGeom prst="line">
              <a:avLst/>
            </a:prstGeom>
            <a:ln w="28575" cap="flat" cmpd="sng">
              <a:solidFill>
                <a:srgbClr val="9900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14" name="Line 42"/>
            <p:cNvSpPr/>
            <p:nvPr/>
          </p:nvSpPr>
          <p:spPr>
            <a:xfrm flipH="1">
              <a:off x="1104" y="3216"/>
              <a:ext cx="336" cy="336"/>
            </a:xfrm>
            <a:prstGeom prst="line">
              <a:avLst/>
            </a:prstGeom>
            <a:ln w="28575" cap="flat" cmpd="sng">
              <a:solidFill>
                <a:srgbClr val="9900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15" name="Line 43"/>
            <p:cNvSpPr/>
            <p:nvPr/>
          </p:nvSpPr>
          <p:spPr>
            <a:xfrm flipH="1">
              <a:off x="1095" y="3408"/>
              <a:ext cx="336" cy="336"/>
            </a:xfrm>
            <a:prstGeom prst="line">
              <a:avLst/>
            </a:prstGeom>
            <a:ln w="28575" cap="flat" cmpd="sng">
              <a:solidFill>
                <a:srgbClr val="9900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16" name="Line 44"/>
            <p:cNvSpPr/>
            <p:nvPr/>
          </p:nvSpPr>
          <p:spPr>
            <a:xfrm flipH="1">
              <a:off x="1095" y="3583"/>
              <a:ext cx="336" cy="336"/>
            </a:xfrm>
            <a:prstGeom prst="line">
              <a:avLst/>
            </a:prstGeom>
            <a:ln w="28575" cap="flat" cmpd="sng">
              <a:solidFill>
                <a:srgbClr val="9900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17" name="Line 45"/>
            <p:cNvSpPr/>
            <p:nvPr/>
          </p:nvSpPr>
          <p:spPr>
            <a:xfrm flipH="1">
              <a:off x="1104" y="3744"/>
              <a:ext cx="384" cy="384"/>
            </a:xfrm>
            <a:prstGeom prst="line">
              <a:avLst/>
            </a:prstGeom>
            <a:ln w="28575" cap="flat" cmpd="sng">
              <a:solidFill>
                <a:srgbClr val="9900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18" name="Line 46"/>
            <p:cNvSpPr/>
            <p:nvPr/>
          </p:nvSpPr>
          <p:spPr>
            <a:xfrm flipH="1">
              <a:off x="1344" y="3840"/>
              <a:ext cx="290" cy="288"/>
            </a:xfrm>
            <a:prstGeom prst="line">
              <a:avLst/>
            </a:prstGeom>
            <a:ln w="28575" cap="flat" cmpd="sng">
              <a:solidFill>
                <a:srgbClr val="9900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19" name="Line 47"/>
            <p:cNvSpPr/>
            <p:nvPr/>
          </p:nvSpPr>
          <p:spPr>
            <a:xfrm flipH="1">
              <a:off x="1584" y="3840"/>
              <a:ext cx="288" cy="288"/>
            </a:xfrm>
            <a:prstGeom prst="line">
              <a:avLst/>
            </a:prstGeom>
            <a:ln w="28575" cap="flat" cmpd="sng">
              <a:solidFill>
                <a:srgbClr val="990099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6784" name="Oval 48"/>
          <p:cNvSpPr/>
          <p:nvPr/>
        </p:nvSpPr>
        <p:spPr>
          <a:xfrm>
            <a:off x="3683000" y="4832350"/>
            <a:ext cx="1358900" cy="1312863"/>
          </a:xfrm>
          <a:prstGeom prst="ellipse">
            <a:avLst/>
          </a:prstGeom>
          <a:noFill/>
          <a:ln w="28575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7" name="Group 49"/>
          <p:cNvGrpSpPr/>
          <p:nvPr/>
        </p:nvGrpSpPr>
        <p:grpSpPr>
          <a:xfrm>
            <a:off x="3530600" y="4676775"/>
            <a:ext cx="1676400" cy="1679575"/>
            <a:chOff x="4552" y="1534"/>
            <a:chExt cx="1056" cy="1058"/>
          </a:xfrm>
        </p:grpSpPr>
        <p:sp>
          <p:nvSpPr>
            <p:cNvPr id="58399" name="Line 50"/>
            <p:cNvSpPr/>
            <p:nvPr/>
          </p:nvSpPr>
          <p:spPr>
            <a:xfrm>
              <a:off x="4552" y="2054"/>
              <a:ext cx="1056" cy="1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58400" name="Line 51"/>
            <p:cNvSpPr/>
            <p:nvPr/>
          </p:nvSpPr>
          <p:spPr>
            <a:xfrm>
              <a:off x="5080" y="1534"/>
              <a:ext cx="0" cy="1058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58401" name="Oval 52"/>
            <p:cNvSpPr/>
            <p:nvPr/>
          </p:nvSpPr>
          <p:spPr>
            <a:xfrm>
              <a:off x="4744" y="1737"/>
              <a:ext cx="663" cy="615"/>
            </a:xfrm>
            <a:prstGeom prst="ellipse">
              <a:avLst/>
            </a:prstGeom>
            <a:noFill/>
            <a:ln w="571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16789" name="Arc 53"/>
          <p:cNvSpPr/>
          <p:nvPr/>
        </p:nvSpPr>
        <p:spPr>
          <a:xfrm rot="-5779480" flipH="1">
            <a:off x="3779838" y="5541963"/>
            <a:ext cx="552450" cy="650875"/>
          </a:xfrm>
          <a:custGeom>
            <a:avLst/>
            <a:gdLst>
              <a:gd name="txL" fmla="*/ 0 w 21084"/>
              <a:gd name="txT" fmla="*/ 0 h 21582"/>
              <a:gd name="txR" fmla="*/ 21084 w 21084"/>
              <a:gd name="txB" fmla="*/ 21582 h 21582"/>
            </a:gdLst>
            <a:ahLst/>
            <a:cxnLst>
              <a:cxn ang="0">
                <a:pos x="15848613" y="0"/>
              </a:cxn>
              <a:cxn ang="0">
                <a:pos x="379291319" y="463228734"/>
              </a:cxn>
              <a:cxn ang="0">
                <a:pos x="0" y="591982993"/>
              </a:cxn>
            </a:cxnLst>
            <a:rect l="txL" t="txT" r="txR" b="txB"/>
            <a:pathLst>
              <a:path w="21084" h="21582" fill="none">
                <a:moveTo>
                  <a:pt x="881" y="-1"/>
                </a:moveTo>
                <a:cubicBezTo>
                  <a:pt x="10664" y="399"/>
                  <a:pt x="18955" y="7330"/>
                  <a:pt x="21083" y="16888"/>
                </a:cubicBezTo>
              </a:path>
              <a:path w="21084" h="21582" stroke="0">
                <a:moveTo>
                  <a:pt x="881" y="-1"/>
                </a:moveTo>
                <a:cubicBezTo>
                  <a:pt x="10664" y="399"/>
                  <a:pt x="18955" y="7330"/>
                  <a:pt x="21083" y="16888"/>
                </a:cubicBezTo>
                <a:lnTo>
                  <a:pt x="0" y="21582"/>
                </a:lnTo>
                <a:close/>
              </a:path>
            </a:pathLst>
          </a:custGeom>
          <a:noFill/>
          <a:ln w="762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6790" name="AutoShape 54"/>
          <p:cNvSpPr/>
          <p:nvPr/>
        </p:nvSpPr>
        <p:spPr>
          <a:xfrm>
            <a:off x="2667000" y="788988"/>
            <a:ext cx="3505200" cy="860425"/>
          </a:xfrm>
          <a:prstGeom prst="wedgeRectCallout">
            <a:avLst>
              <a:gd name="adj1" fmla="val -20106"/>
              <a:gd name="adj2" fmla="val 82287"/>
            </a:avLst>
          </a:prstGeom>
          <a:noFill/>
          <a:ln w="3175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zh-CN" altLang="en-US" sz="3200" b="1" dirty="0">
                <a:solidFill>
                  <a:srgbClr val="990099"/>
                </a:solidFill>
                <a:latin typeface="Times New Roman" panose="02020603050405020304" pitchFamily="18" charset="0"/>
              </a:rPr>
              <a:t>表达螺纹大径的细</a:t>
            </a:r>
            <a:endParaRPr lang="zh-CN" altLang="en-US" sz="3200" b="1" dirty="0">
              <a:solidFill>
                <a:srgbClr val="990099"/>
              </a:solidFill>
              <a:latin typeface="Times New Roman" panose="02020603050405020304" pitchFamily="18" charset="0"/>
            </a:endParaRPr>
          </a:p>
          <a:p>
            <a:pPr algn="ctr" eaLnBrk="0" hangingPunct="0"/>
            <a:r>
              <a:rPr lang="zh-CN" altLang="en-US" sz="3200" b="1" dirty="0">
                <a:solidFill>
                  <a:srgbClr val="990099"/>
                </a:solidFill>
                <a:latin typeface="Times New Roman" panose="02020603050405020304" pitchFamily="18" charset="0"/>
              </a:rPr>
              <a:t>实线不画入倒角</a:t>
            </a:r>
            <a:endParaRPr lang="zh-CN" altLang="en-US" sz="3200" b="1" dirty="0">
              <a:solidFill>
                <a:srgbClr val="99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6791" name="AutoShape 55"/>
          <p:cNvSpPr/>
          <p:nvPr/>
        </p:nvSpPr>
        <p:spPr>
          <a:xfrm>
            <a:off x="6619875" y="1524000"/>
            <a:ext cx="2195513" cy="1055688"/>
          </a:xfrm>
          <a:prstGeom prst="wedgeRectCallout">
            <a:avLst>
              <a:gd name="adj1" fmla="val -115944"/>
              <a:gd name="adj2" fmla="val 22481"/>
            </a:avLst>
          </a:prstGeom>
          <a:noFill/>
          <a:ln w="3175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zh-CN" altLang="en-US" sz="3600" b="1" dirty="0">
                <a:solidFill>
                  <a:srgbClr val="990099"/>
                </a:solidFill>
                <a:latin typeface="Times New Roman" panose="02020603050405020304" pitchFamily="18" charset="0"/>
              </a:rPr>
              <a:t>大径画</a:t>
            </a:r>
            <a:endParaRPr lang="zh-CN" altLang="en-US" sz="3600" b="1" dirty="0">
              <a:solidFill>
                <a:srgbClr val="990099"/>
              </a:solidFill>
              <a:latin typeface="Times New Roman" panose="02020603050405020304" pitchFamily="18" charset="0"/>
            </a:endParaRPr>
          </a:p>
          <a:p>
            <a:pPr algn="ctr" eaLnBrk="0" hangingPunct="0"/>
            <a:r>
              <a:rPr lang="zh-CN" altLang="en-US" sz="3600" b="1" dirty="0">
                <a:solidFill>
                  <a:srgbClr val="990099"/>
                </a:solidFill>
                <a:latin typeface="Times New Roman" panose="02020603050405020304" pitchFamily="18" charset="0"/>
              </a:rPr>
              <a:t>细实线</a:t>
            </a:r>
            <a:endParaRPr lang="zh-CN" altLang="en-US" sz="3600" b="1" dirty="0">
              <a:solidFill>
                <a:srgbClr val="99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6792" name="AutoShape 56"/>
          <p:cNvSpPr/>
          <p:nvPr/>
        </p:nvSpPr>
        <p:spPr>
          <a:xfrm>
            <a:off x="6584950" y="2895600"/>
            <a:ext cx="2211388" cy="1095375"/>
          </a:xfrm>
          <a:prstGeom prst="wedgeRectCallout">
            <a:avLst>
              <a:gd name="adj1" fmla="val -121287"/>
              <a:gd name="adj2" fmla="val -26088"/>
            </a:avLst>
          </a:prstGeom>
          <a:noFill/>
          <a:ln w="3175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zh-CN" altLang="en-US" sz="3600" b="1" dirty="0">
                <a:solidFill>
                  <a:srgbClr val="990099"/>
                </a:solidFill>
                <a:latin typeface="Times New Roman" panose="02020603050405020304" pitchFamily="18" charset="0"/>
              </a:rPr>
              <a:t>小径画</a:t>
            </a:r>
            <a:endParaRPr lang="zh-CN" altLang="en-US" sz="3600" b="1" dirty="0">
              <a:solidFill>
                <a:srgbClr val="990099"/>
              </a:solidFill>
              <a:latin typeface="Times New Roman" panose="02020603050405020304" pitchFamily="18" charset="0"/>
            </a:endParaRPr>
          </a:p>
          <a:p>
            <a:pPr algn="ctr" eaLnBrk="0" hangingPunct="0"/>
            <a:r>
              <a:rPr lang="zh-CN" altLang="en-US" sz="3600" b="1" dirty="0">
                <a:solidFill>
                  <a:srgbClr val="990099"/>
                </a:solidFill>
                <a:latin typeface="Times New Roman" panose="02020603050405020304" pitchFamily="18" charset="0"/>
              </a:rPr>
              <a:t>粗实线</a:t>
            </a:r>
            <a:endParaRPr lang="zh-CN" altLang="en-US" sz="3600" b="1" dirty="0">
              <a:solidFill>
                <a:srgbClr val="99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6793" name="AutoShape 57"/>
          <p:cNvSpPr/>
          <p:nvPr/>
        </p:nvSpPr>
        <p:spPr>
          <a:xfrm>
            <a:off x="6515100" y="4381500"/>
            <a:ext cx="2628900" cy="1130300"/>
          </a:xfrm>
          <a:prstGeom prst="wedgeRectCallout">
            <a:avLst>
              <a:gd name="adj1" fmla="val -115940"/>
              <a:gd name="adj2" fmla="val -124718"/>
            </a:avLst>
          </a:prstGeom>
          <a:noFill/>
          <a:ln w="3175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zh-CN" altLang="en-US" sz="3600" b="1" dirty="0">
                <a:solidFill>
                  <a:srgbClr val="990099"/>
                </a:solidFill>
                <a:latin typeface="Times New Roman" panose="02020603050405020304" pitchFamily="18" charset="0"/>
              </a:rPr>
              <a:t>螺纹终止线</a:t>
            </a:r>
            <a:endParaRPr lang="zh-CN" altLang="en-US" sz="3600" b="1" dirty="0">
              <a:solidFill>
                <a:srgbClr val="990099"/>
              </a:solidFill>
              <a:latin typeface="Times New Roman" panose="02020603050405020304" pitchFamily="18" charset="0"/>
            </a:endParaRPr>
          </a:p>
          <a:p>
            <a:pPr algn="ctr" eaLnBrk="0" hangingPunct="0"/>
            <a:r>
              <a:rPr lang="zh-CN" altLang="en-US" sz="3600" b="1" dirty="0">
                <a:solidFill>
                  <a:srgbClr val="990099"/>
                </a:solidFill>
                <a:latin typeface="Times New Roman" panose="02020603050405020304" pitchFamily="18" charset="0"/>
              </a:rPr>
              <a:t>画粗实线</a:t>
            </a:r>
            <a:endParaRPr lang="zh-CN" altLang="en-US" sz="3600" b="1" dirty="0">
              <a:solidFill>
                <a:srgbClr val="99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6794" name="AutoShape 58"/>
          <p:cNvSpPr/>
          <p:nvPr/>
        </p:nvSpPr>
        <p:spPr>
          <a:xfrm>
            <a:off x="690563" y="4371975"/>
            <a:ext cx="2281237" cy="1131888"/>
          </a:xfrm>
          <a:prstGeom prst="wedgeRectCallout">
            <a:avLst>
              <a:gd name="adj1" fmla="val 87579"/>
              <a:gd name="adj2" fmla="val 63745"/>
            </a:avLst>
          </a:prstGeom>
          <a:noFill/>
          <a:ln w="3175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3600" b="1" dirty="0">
                <a:solidFill>
                  <a:srgbClr val="990099"/>
                </a:solidFill>
                <a:latin typeface="Times New Roman" panose="02020603050405020304" pitchFamily="18" charset="0"/>
              </a:rPr>
              <a:t>小径画</a:t>
            </a:r>
            <a:endParaRPr lang="zh-CN" altLang="en-US" sz="3600" b="1" dirty="0">
              <a:solidFill>
                <a:srgbClr val="990099"/>
              </a:solidFill>
              <a:latin typeface="Times New Roman" panose="02020603050405020304" pitchFamily="18" charset="0"/>
            </a:endParaRPr>
          </a:p>
          <a:p>
            <a:pPr algn="ctr" eaLnBrk="0" hangingPunct="0">
              <a:lnSpc>
                <a:spcPct val="40000"/>
              </a:lnSpc>
              <a:spcBef>
                <a:spcPct val="50000"/>
              </a:spcBef>
            </a:pPr>
            <a:r>
              <a:rPr lang="zh-CN" altLang="en-US" sz="3600" b="1" dirty="0">
                <a:solidFill>
                  <a:srgbClr val="990099"/>
                </a:solidFill>
                <a:latin typeface="Times New Roman" panose="02020603050405020304" pitchFamily="18" charset="0"/>
              </a:rPr>
              <a:t>粗实圆</a:t>
            </a:r>
            <a:endParaRPr lang="zh-CN" altLang="en-US" sz="3600" b="1" dirty="0">
              <a:solidFill>
                <a:srgbClr val="99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6795" name="AutoShape 59"/>
          <p:cNvSpPr/>
          <p:nvPr/>
        </p:nvSpPr>
        <p:spPr>
          <a:xfrm>
            <a:off x="685800" y="2579688"/>
            <a:ext cx="2519363" cy="1030287"/>
          </a:xfrm>
          <a:prstGeom prst="wedgeRectCallout">
            <a:avLst>
              <a:gd name="adj1" fmla="val 75014"/>
              <a:gd name="adj2" fmla="val 182356"/>
            </a:avLst>
          </a:prstGeom>
          <a:noFill/>
          <a:ln w="3175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zh-CN" altLang="en-US" sz="3600" b="1" dirty="0">
                <a:solidFill>
                  <a:srgbClr val="990099"/>
                </a:solidFill>
                <a:latin typeface="Times New Roman" panose="02020603050405020304" pitchFamily="18" charset="0"/>
              </a:rPr>
              <a:t>大径画</a:t>
            </a:r>
            <a:r>
              <a:rPr lang="en-US" altLang="zh-CN" sz="3600" b="1" dirty="0">
                <a:solidFill>
                  <a:srgbClr val="990099"/>
                </a:solidFill>
                <a:latin typeface="Times New Roman" panose="02020603050405020304" pitchFamily="18" charset="0"/>
              </a:rPr>
              <a:t>3/4</a:t>
            </a:r>
            <a:endParaRPr lang="en-US" altLang="zh-CN" sz="3600" b="1" dirty="0">
              <a:solidFill>
                <a:srgbClr val="990099"/>
              </a:solidFill>
              <a:latin typeface="Times New Roman" panose="02020603050405020304" pitchFamily="18" charset="0"/>
            </a:endParaRPr>
          </a:p>
          <a:p>
            <a:pPr algn="ctr" eaLnBrk="0" hangingPunct="0"/>
            <a:r>
              <a:rPr lang="zh-CN" altLang="en-US" sz="3600" b="1" dirty="0">
                <a:solidFill>
                  <a:srgbClr val="990099"/>
                </a:solidFill>
                <a:latin typeface="Times New Roman" panose="02020603050405020304" pitchFamily="18" charset="0"/>
              </a:rPr>
              <a:t>细实圆</a:t>
            </a:r>
            <a:endParaRPr lang="zh-CN" altLang="en-US" sz="3600" b="1" dirty="0">
              <a:solidFill>
                <a:srgbClr val="99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6796" name="AutoShape 60"/>
          <p:cNvSpPr/>
          <p:nvPr/>
        </p:nvSpPr>
        <p:spPr>
          <a:xfrm>
            <a:off x="5472113" y="5661025"/>
            <a:ext cx="2547937" cy="882650"/>
          </a:xfrm>
          <a:prstGeom prst="wedgeRectCallout">
            <a:avLst>
              <a:gd name="adj1" fmla="val -59597"/>
              <a:gd name="adj2" fmla="val -66366"/>
            </a:avLst>
          </a:prstGeom>
          <a:noFill/>
          <a:ln w="3175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zh-CN" altLang="en-US" sz="3600" b="1" dirty="0">
                <a:solidFill>
                  <a:srgbClr val="990099"/>
                </a:solidFill>
                <a:latin typeface="Times New Roman" panose="02020603050405020304" pitchFamily="18" charset="0"/>
              </a:rPr>
              <a:t>不画倒角圆</a:t>
            </a:r>
            <a:endParaRPr lang="zh-CN" altLang="en-US" sz="3600" b="1" dirty="0">
              <a:solidFill>
                <a:srgbClr val="99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6797" name="AutoShape 61"/>
          <p:cNvSpPr/>
          <p:nvPr/>
        </p:nvSpPr>
        <p:spPr>
          <a:xfrm>
            <a:off x="179388" y="1119188"/>
            <a:ext cx="2057400" cy="1182687"/>
          </a:xfrm>
          <a:prstGeom prst="wedgeRectCallout">
            <a:avLst>
              <a:gd name="adj1" fmla="val 112731"/>
              <a:gd name="adj2" fmla="val 55102"/>
            </a:avLst>
          </a:prstGeom>
          <a:noFill/>
          <a:ln w="3175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zh-CN" altLang="en-US" sz="3200" b="1" dirty="0">
                <a:solidFill>
                  <a:srgbClr val="990099"/>
                </a:solidFill>
                <a:latin typeface="Times New Roman" panose="02020603050405020304" pitchFamily="18" charset="0"/>
              </a:rPr>
              <a:t>剖面符号画</a:t>
            </a:r>
            <a:endParaRPr lang="zh-CN" altLang="en-US" sz="3200" b="1" dirty="0">
              <a:solidFill>
                <a:srgbClr val="990099"/>
              </a:solidFill>
              <a:latin typeface="Times New Roman" panose="02020603050405020304" pitchFamily="18" charset="0"/>
            </a:endParaRPr>
          </a:p>
          <a:p>
            <a:pPr algn="ctr" eaLnBrk="0" hangingPunct="0"/>
            <a:r>
              <a:rPr lang="zh-CN" altLang="en-US" sz="3200" b="1" dirty="0">
                <a:solidFill>
                  <a:srgbClr val="990099"/>
                </a:solidFill>
                <a:latin typeface="Times New Roman" panose="02020603050405020304" pitchFamily="18" charset="0"/>
              </a:rPr>
              <a:t>到粗实线</a:t>
            </a:r>
            <a:endParaRPr lang="zh-CN" altLang="en-US" sz="3200" b="1" dirty="0">
              <a:solidFill>
                <a:srgbClr val="99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6798" name="Line 62"/>
          <p:cNvSpPr/>
          <p:nvPr/>
        </p:nvSpPr>
        <p:spPr>
          <a:xfrm>
            <a:off x="3381375" y="4724400"/>
            <a:ext cx="2133600" cy="0"/>
          </a:xfrm>
          <a:prstGeom prst="line">
            <a:avLst/>
          </a:prstGeom>
          <a:ln w="5715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6799" name="Line 63"/>
          <p:cNvSpPr/>
          <p:nvPr/>
        </p:nvSpPr>
        <p:spPr>
          <a:xfrm>
            <a:off x="5148263" y="1844675"/>
            <a:ext cx="0" cy="3671888"/>
          </a:xfrm>
          <a:prstGeom prst="line">
            <a:avLst/>
          </a:prstGeom>
          <a:ln w="12700" cap="flat" cmpd="sng">
            <a:solidFill>
              <a:srgbClr val="00FF00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116800" name="Oval 64"/>
          <p:cNvSpPr/>
          <p:nvPr/>
        </p:nvSpPr>
        <p:spPr>
          <a:xfrm>
            <a:off x="3559175" y="4711700"/>
            <a:ext cx="1582738" cy="1582738"/>
          </a:xfrm>
          <a:prstGeom prst="ellipse">
            <a:avLst/>
          </a:prstGeom>
          <a:noFill/>
          <a:ln w="1905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62" name="Rectangle 22"/>
          <p:cNvSpPr/>
          <p:nvPr/>
        </p:nvSpPr>
        <p:spPr>
          <a:xfrm>
            <a:off x="179705" y="6091556"/>
            <a:ext cx="4535488" cy="39878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b="1" dirty="0">
                <a:solidFill>
                  <a:srgbClr val="660066"/>
                </a:solidFill>
                <a:latin typeface="Arial" panose="020B0604020202020204" pitchFamily="34" charset="0"/>
              </a:rPr>
              <a:t>不穿通孔内螺纹</a:t>
            </a:r>
            <a:r>
              <a:rPr lang="zh-CN" altLang="en-US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螺纹的规定画法</a:t>
            </a:r>
            <a:r>
              <a:rPr lang="en-US" altLang="zh-CN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endParaRPr lang="en-US" altLang="zh-CN" sz="20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9233" name="Rectangle 17"/>
          <p:cNvSpPr/>
          <p:nvPr/>
        </p:nvSpPr>
        <p:spPr>
          <a:xfrm>
            <a:off x="263525" y="215900"/>
            <a:ext cx="373316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2</a:t>
            </a:r>
            <a:r>
              <a:rPr lang="zh-CN" altLang="en-US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、螺纹的规定画法</a:t>
            </a:r>
            <a:endParaRPr lang="zh-CN" altLang="en-US" sz="28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343051" name="组合 343050"/>
          <p:cNvGrpSpPr/>
          <p:nvPr/>
        </p:nvGrpSpPr>
        <p:grpSpPr>
          <a:xfrm>
            <a:off x="263525" y="70929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67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67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167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167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167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167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167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167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167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167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167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167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167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167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167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167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1167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2000"/>
                                        <p:tgtEl>
                                          <p:spTgt spid="116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3000"/>
                                        <p:tgtEl>
                                          <p:spTgt spid="116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7" dur="500"/>
                                        <p:tgtEl>
                                          <p:spTgt spid="1168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10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8" grpId="0" bldLvl="0" animBg="1"/>
      <p:bldP spid="116784" grpId="0" bldLvl="0" animBg="1"/>
      <p:bldP spid="116789" grpId="0" bldLvl="0" animBg="1"/>
      <p:bldP spid="116790" grpId="0" bldLvl="0" animBg="1"/>
      <p:bldP spid="116791" grpId="0" bldLvl="0" animBg="1"/>
      <p:bldP spid="116792" grpId="0" bldLvl="0" animBg="1"/>
      <p:bldP spid="116793" grpId="0" bldLvl="0" animBg="1"/>
      <p:bldP spid="116794" grpId="0" bldLvl="0" animBg="1"/>
      <p:bldP spid="116795" grpId="0" bldLvl="0" animBg="1"/>
      <p:bldP spid="116796" grpId="0" bldLvl="0" animBg="1"/>
      <p:bldP spid="116797" grpId="0" bldLvl="0" animBg="1"/>
      <p:bldP spid="116800" grpId="0" bldLvl="0" animBg="1"/>
      <p:bldP spid="116800" grpId="1" bldLvl="0" animBg="1"/>
      <p:bldP spid="10262" grpId="0"/>
      <p:bldP spid="923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2" name="Rectangle 22"/>
          <p:cNvSpPr/>
          <p:nvPr/>
        </p:nvSpPr>
        <p:spPr>
          <a:xfrm>
            <a:off x="2369185" y="5951856"/>
            <a:ext cx="4178300" cy="39878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螺纹局部结构的画法与标注</a:t>
            </a:r>
            <a:endParaRPr lang="en-US" altLang="zh-CN" sz="20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1419225" y="2208213"/>
            <a:ext cx="2066925" cy="931862"/>
            <a:chOff x="781" y="1278"/>
            <a:chExt cx="1302" cy="587"/>
          </a:xfrm>
        </p:grpSpPr>
        <p:sp>
          <p:nvSpPr>
            <p:cNvPr id="59520" name="Line 9"/>
            <p:cNvSpPr/>
            <p:nvPr/>
          </p:nvSpPr>
          <p:spPr>
            <a:xfrm>
              <a:off x="865" y="1281"/>
              <a:ext cx="1149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21" name="Line 10"/>
            <p:cNvSpPr/>
            <p:nvPr/>
          </p:nvSpPr>
          <p:spPr>
            <a:xfrm>
              <a:off x="877" y="1281"/>
              <a:ext cx="1" cy="5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22" name="Line 11"/>
            <p:cNvSpPr/>
            <p:nvPr/>
          </p:nvSpPr>
          <p:spPr>
            <a:xfrm>
              <a:off x="877" y="1857"/>
              <a:ext cx="1152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23" name="Freeform 12"/>
            <p:cNvSpPr/>
            <p:nvPr/>
          </p:nvSpPr>
          <p:spPr>
            <a:xfrm>
              <a:off x="1738" y="1283"/>
              <a:ext cx="1" cy="582"/>
            </a:xfrm>
            <a:custGeom>
              <a:avLst/>
              <a:gdLst>
                <a:gd name="txL" fmla="*/ 0 w 1"/>
                <a:gd name="txT" fmla="*/ 0 h 582"/>
                <a:gd name="txR" fmla="*/ 1 w 1"/>
                <a:gd name="txB" fmla="*/ 582 h 582"/>
              </a:gdLst>
              <a:ahLst/>
              <a:cxnLst>
                <a:cxn ang="0">
                  <a:pos x="0" y="0"/>
                </a:cxn>
                <a:cxn ang="0">
                  <a:pos x="0" y="582"/>
                </a:cxn>
              </a:cxnLst>
              <a:rect l="txL" t="txT" r="txR" b="txB"/>
              <a:pathLst>
                <a:path w="1" h="582">
                  <a:moveTo>
                    <a:pt x="0" y="0"/>
                  </a:moveTo>
                  <a:lnTo>
                    <a:pt x="0" y="58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9524" name="Line 13"/>
            <p:cNvSpPr/>
            <p:nvPr/>
          </p:nvSpPr>
          <p:spPr>
            <a:xfrm>
              <a:off x="811" y="1791"/>
              <a:ext cx="66" cy="6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25" name="Freeform 14"/>
            <p:cNvSpPr/>
            <p:nvPr/>
          </p:nvSpPr>
          <p:spPr>
            <a:xfrm>
              <a:off x="1933" y="1281"/>
              <a:ext cx="150" cy="580"/>
            </a:xfrm>
            <a:custGeom>
              <a:avLst/>
              <a:gdLst>
                <a:gd name="txL" fmla="*/ 0 w 150"/>
                <a:gd name="txT" fmla="*/ 0 h 580"/>
                <a:gd name="txR" fmla="*/ 150 w 150"/>
                <a:gd name="txB" fmla="*/ 580 h 580"/>
              </a:gdLst>
              <a:ahLst/>
              <a:cxnLst>
                <a:cxn ang="0">
                  <a:pos x="68" y="0"/>
                </a:cxn>
                <a:cxn ang="0">
                  <a:pos x="97" y="13"/>
                </a:cxn>
                <a:cxn ang="0">
                  <a:pos x="129" y="51"/>
                </a:cxn>
                <a:cxn ang="0">
                  <a:pos x="134" y="96"/>
                </a:cxn>
                <a:cxn ang="0">
                  <a:pos x="139" y="144"/>
                </a:cxn>
                <a:cxn ang="0">
                  <a:pos x="110" y="227"/>
                </a:cxn>
                <a:cxn ang="0">
                  <a:pos x="68" y="288"/>
                </a:cxn>
                <a:cxn ang="0">
                  <a:pos x="42" y="330"/>
                </a:cxn>
                <a:cxn ang="0">
                  <a:pos x="20" y="384"/>
                </a:cxn>
                <a:cxn ang="0">
                  <a:pos x="4" y="426"/>
                </a:cxn>
                <a:cxn ang="0">
                  <a:pos x="1" y="474"/>
                </a:cxn>
                <a:cxn ang="0">
                  <a:pos x="10" y="509"/>
                </a:cxn>
                <a:cxn ang="0">
                  <a:pos x="20" y="528"/>
                </a:cxn>
                <a:cxn ang="0">
                  <a:pos x="36" y="550"/>
                </a:cxn>
                <a:cxn ang="0">
                  <a:pos x="68" y="576"/>
                </a:cxn>
                <a:cxn ang="0">
                  <a:pos x="97" y="573"/>
                </a:cxn>
                <a:cxn ang="0">
                  <a:pos x="116" y="563"/>
                </a:cxn>
                <a:cxn ang="0">
                  <a:pos x="145" y="512"/>
                </a:cxn>
                <a:cxn ang="0">
                  <a:pos x="148" y="470"/>
                </a:cxn>
                <a:cxn ang="0">
                  <a:pos x="145" y="432"/>
                </a:cxn>
                <a:cxn ang="0">
                  <a:pos x="126" y="355"/>
                </a:cxn>
                <a:cxn ang="0">
                  <a:pos x="119" y="349"/>
                </a:cxn>
                <a:cxn ang="0">
                  <a:pos x="68" y="288"/>
                </a:cxn>
              </a:cxnLst>
              <a:rect l="txL" t="txT" r="txR" b="txB"/>
              <a:pathLst>
                <a:path w="150" h="580">
                  <a:moveTo>
                    <a:pt x="68" y="0"/>
                  </a:moveTo>
                  <a:cubicBezTo>
                    <a:pt x="73" y="2"/>
                    <a:pt x="87" y="4"/>
                    <a:pt x="97" y="13"/>
                  </a:cubicBezTo>
                  <a:cubicBezTo>
                    <a:pt x="107" y="22"/>
                    <a:pt x="123" y="37"/>
                    <a:pt x="129" y="51"/>
                  </a:cubicBezTo>
                  <a:cubicBezTo>
                    <a:pt x="135" y="65"/>
                    <a:pt x="132" y="81"/>
                    <a:pt x="134" y="96"/>
                  </a:cubicBezTo>
                  <a:cubicBezTo>
                    <a:pt x="136" y="111"/>
                    <a:pt x="143" y="122"/>
                    <a:pt x="139" y="144"/>
                  </a:cubicBezTo>
                  <a:cubicBezTo>
                    <a:pt x="135" y="166"/>
                    <a:pt x="122" y="203"/>
                    <a:pt x="110" y="227"/>
                  </a:cubicBezTo>
                  <a:cubicBezTo>
                    <a:pt x="98" y="251"/>
                    <a:pt x="79" y="271"/>
                    <a:pt x="68" y="288"/>
                  </a:cubicBezTo>
                  <a:cubicBezTo>
                    <a:pt x="57" y="305"/>
                    <a:pt x="50" y="314"/>
                    <a:pt x="42" y="330"/>
                  </a:cubicBezTo>
                  <a:cubicBezTo>
                    <a:pt x="34" y="346"/>
                    <a:pt x="26" y="368"/>
                    <a:pt x="20" y="384"/>
                  </a:cubicBezTo>
                  <a:cubicBezTo>
                    <a:pt x="14" y="400"/>
                    <a:pt x="7" y="411"/>
                    <a:pt x="4" y="426"/>
                  </a:cubicBezTo>
                  <a:cubicBezTo>
                    <a:pt x="1" y="441"/>
                    <a:pt x="0" y="460"/>
                    <a:pt x="1" y="474"/>
                  </a:cubicBezTo>
                  <a:cubicBezTo>
                    <a:pt x="2" y="488"/>
                    <a:pt x="7" y="500"/>
                    <a:pt x="10" y="509"/>
                  </a:cubicBezTo>
                  <a:cubicBezTo>
                    <a:pt x="13" y="518"/>
                    <a:pt x="16" y="521"/>
                    <a:pt x="20" y="528"/>
                  </a:cubicBezTo>
                  <a:cubicBezTo>
                    <a:pt x="24" y="535"/>
                    <a:pt x="28" y="542"/>
                    <a:pt x="36" y="550"/>
                  </a:cubicBezTo>
                  <a:cubicBezTo>
                    <a:pt x="44" y="558"/>
                    <a:pt x="58" y="572"/>
                    <a:pt x="68" y="576"/>
                  </a:cubicBezTo>
                  <a:cubicBezTo>
                    <a:pt x="78" y="580"/>
                    <a:pt x="89" y="575"/>
                    <a:pt x="97" y="573"/>
                  </a:cubicBezTo>
                  <a:cubicBezTo>
                    <a:pt x="105" y="571"/>
                    <a:pt x="108" y="573"/>
                    <a:pt x="116" y="563"/>
                  </a:cubicBezTo>
                  <a:cubicBezTo>
                    <a:pt x="124" y="553"/>
                    <a:pt x="140" y="527"/>
                    <a:pt x="145" y="512"/>
                  </a:cubicBezTo>
                  <a:cubicBezTo>
                    <a:pt x="150" y="497"/>
                    <a:pt x="148" y="483"/>
                    <a:pt x="148" y="470"/>
                  </a:cubicBezTo>
                  <a:cubicBezTo>
                    <a:pt x="148" y="457"/>
                    <a:pt x="149" y="451"/>
                    <a:pt x="145" y="432"/>
                  </a:cubicBezTo>
                  <a:cubicBezTo>
                    <a:pt x="141" y="413"/>
                    <a:pt x="130" y="369"/>
                    <a:pt x="126" y="355"/>
                  </a:cubicBezTo>
                  <a:cubicBezTo>
                    <a:pt x="122" y="341"/>
                    <a:pt x="129" y="360"/>
                    <a:pt x="119" y="349"/>
                  </a:cubicBezTo>
                  <a:cubicBezTo>
                    <a:pt x="109" y="338"/>
                    <a:pt x="79" y="301"/>
                    <a:pt x="68" y="288"/>
                  </a:cubicBez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9526" name="Line 15"/>
            <p:cNvSpPr/>
            <p:nvPr/>
          </p:nvSpPr>
          <p:spPr>
            <a:xfrm>
              <a:off x="781" y="1569"/>
              <a:ext cx="1296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59527" name="Line 16"/>
            <p:cNvSpPr/>
            <p:nvPr/>
          </p:nvSpPr>
          <p:spPr>
            <a:xfrm flipV="1">
              <a:off x="1933" y="1617"/>
              <a:ext cx="96" cy="96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28" name="Line 17"/>
            <p:cNvSpPr/>
            <p:nvPr/>
          </p:nvSpPr>
          <p:spPr>
            <a:xfrm flipV="1">
              <a:off x="1981" y="1761"/>
              <a:ext cx="96" cy="96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29" name="Line 18"/>
            <p:cNvSpPr/>
            <p:nvPr/>
          </p:nvSpPr>
          <p:spPr>
            <a:xfrm flipV="1">
              <a:off x="1948" y="1665"/>
              <a:ext cx="129" cy="129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30" name="Freeform 19"/>
            <p:cNvSpPr/>
            <p:nvPr/>
          </p:nvSpPr>
          <p:spPr>
            <a:xfrm>
              <a:off x="808" y="1333"/>
              <a:ext cx="938" cy="1"/>
            </a:xfrm>
            <a:custGeom>
              <a:avLst/>
              <a:gdLst>
                <a:gd name="txL" fmla="*/ 0 w 938"/>
                <a:gd name="txT" fmla="*/ 0 h 1"/>
                <a:gd name="txR" fmla="*/ 938 w 93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938" y="1"/>
                </a:cxn>
              </a:cxnLst>
              <a:rect l="txL" t="txT" r="txR" b="txB"/>
              <a:pathLst>
                <a:path w="938" h="1">
                  <a:moveTo>
                    <a:pt x="0" y="0"/>
                  </a:moveTo>
                  <a:lnTo>
                    <a:pt x="938" y="1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9531" name="Line 20"/>
            <p:cNvSpPr/>
            <p:nvPr/>
          </p:nvSpPr>
          <p:spPr>
            <a:xfrm>
              <a:off x="830" y="1806"/>
              <a:ext cx="918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32" name="Line 21"/>
            <p:cNvSpPr/>
            <p:nvPr/>
          </p:nvSpPr>
          <p:spPr>
            <a:xfrm>
              <a:off x="816" y="1325"/>
              <a:ext cx="0" cy="486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33" name="Freeform 22"/>
            <p:cNvSpPr/>
            <p:nvPr/>
          </p:nvSpPr>
          <p:spPr>
            <a:xfrm>
              <a:off x="814" y="1278"/>
              <a:ext cx="56" cy="60"/>
            </a:xfrm>
            <a:custGeom>
              <a:avLst/>
              <a:gdLst>
                <a:gd name="txL" fmla="*/ 0 w 56"/>
                <a:gd name="txT" fmla="*/ 0 h 60"/>
                <a:gd name="txR" fmla="*/ 56 w 56"/>
                <a:gd name="txB" fmla="*/ 60 h 60"/>
              </a:gdLst>
              <a:ahLst/>
              <a:cxnLst>
                <a:cxn ang="0">
                  <a:pos x="56" y="0"/>
                </a:cxn>
                <a:cxn ang="0">
                  <a:pos x="0" y="60"/>
                </a:cxn>
              </a:cxnLst>
              <a:rect l="txL" t="txT" r="txR" b="txB"/>
              <a:pathLst>
                <a:path w="56" h="60">
                  <a:moveTo>
                    <a:pt x="56" y="0"/>
                  </a:moveTo>
                  <a:lnTo>
                    <a:pt x="0" y="6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23"/>
          <p:cNvGrpSpPr/>
          <p:nvPr/>
        </p:nvGrpSpPr>
        <p:grpSpPr>
          <a:xfrm>
            <a:off x="1530350" y="1573213"/>
            <a:ext cx="1458913" cy="661987"/>
            <a:chOff x="851" y="878"/>
            <a:chExt cx="919" cy="417"/>
          </a:xfrm>
        </p:grpSpPr>
        <p:sp>
          <p:nvSpPr>
            <p:cNvPr id="59517" name="Text Box 24"/>
            <p:cNvSpPr txBox="1"/>
            <p:nvPr/>
          </p:nvSpPr>
          <p:spPr>
            <a:xfrm>
              <a:off x="961" y="878"/>
              <a:ext cx="80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FF3300"/>
                  </a:solidFill>
                  <a:latin typeface="ISOCP" panose="00000400000000000000" pitchFamily="2" charset="0"/>
                </a:rPr>
                <a:t>2×45°</a:t>
              </a:r>
              <a:endPara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518" name="Line 25"/>
            <p:cNvSpPr/>
            <p:nvPr/>
          </p:nvSpPr>
          <p:spPr>
            <a:xfrm>
              <a:off x="1030" y="1113"/>
              <a:ext cx="500" cy="0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19" name="Freeform 26"/>
            <p:cNvSpPr/>
            <p:nvPr/>
          </p:nvSpPr>
          <p:spPr>
            <a:xfrm>
              <a:off x="851" y="1113"/>
              <a:ext cx="182" cy="182"/>
            </a:xfrm>
            <a:custGeom>
              <a:avLst/>
              <a:gdLst>
                <a:gd name="txL" fmla="*/ 0 w 182"/>
                <a:gd name="txT" fmla="*/ 0 h 182"/>
                <a:gd name="txR" fmla="*/ 182 w 182"/>
                <a:gd name="txB" fmla="*/ 182 h 182"/>
              </a:gdLst>
              <a:ahLst/>
              <a:cxnLst>
                <a:cxn ang="0">
                  <a:pos x="0" y="182"/>
                </a:cxn>
                <a:cxn ang="0">
                  <a:pos x="182" y="0"/>
                </a:cxn>
              </a:cxnLst>
              <a:rect l="txL" t="txT" r="txR" b="txB"/>
              <a:pathLst>
                <a:path w="182" h="182">
                  <a:moveTo>
                    <a:pt x="0" y="182"/>
                  </a:moveTo>
                  <a:lnTo>
                    <a:pt x="182" y="0"/>
                  </a:lnTo>
                </a:path>
              </a:pathLst>
            </a:custGeom>
            <a:noFill/>
            <a:ln w="127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27"/>
          <p:cNvGrpSpPr/>
          <p:nvPr/>
        </p:nvGrpSpPr>
        <p:grpSpPr>
          <a:xfrm>
            <a:off x="1300163" y="4705350"/>
            <a:ext cx="2103437" cy="804863"/>
            <a:chOff x="589" y="2929"/>
            <a:chExt cx="1325" cy="507"/>
          </a:xfrm>
        </p:grpSpPr>
        <p:sp>
          <p:nvSpPr>
            <p:cNvPr id="59498" name="Line 28"/>
            <p:cNvSpPr/>
            <p:nvPr/>
          </p:nvSpPr>
          <p:spPr>
            <a:xfrm>
              <a:off x="589" y="3180"/>
              <a:ext cx="1325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59499" name="Line 29"/>
            <p:cNvSpPr/>
            <p:nvPr/>
          </p:nvSpPr>
          <p:spPr>
            <a:xfrm>
              <a:off x="708" y="2941"/>
              <a:ext cx="480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00" name="Line 30"/>
            <p:cNvSpPr/>
            <p:nvPr/>
          </p:nvSpPr>
          <p:spPr>
            <a:xfrm>
              <a:off x="708" y="3421"/>
              <a:ext cx="480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01" name="Line 31"/>
            <p:cNvSpPr/>
            <p:nvPr/>
          </p:nvSpPr>
          <p:spPr>
            <a:xfrm flipH="1">
              <a:off x="660" y="2935"/>
              <a:ext cx="54" cy="54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02" name="Line 32"/>
            <p:cNvSpPr/>
            <p:nvPr/>
          </p:nvSpPr>
          <p:spPr>
            <a:xfrm>
              <a:off x="708" y="2941"/>
              <a:ext cx="0" cy="48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03" name="Freeform 33"/>
            <p:cNvSpPr/>
            <p:nvPr/>
          </p:nvSpPr>
          <p:spPr>
            <a:xfrm>
              <a:off x="655" y="3361"/>
              <a:ext cx="60" cy="60"/>
            </a:xfrm>
            <a:custGeom>
              <a:avLst/>
              <a:gdLst>
                <a:gd name="txL" fmla="*/ 0 w 60"/>
                <a:gd name="txT" fmla="*/ 0 h 60"/>
                <a:gd name="txR" fmla="*/ 60 w 60"/>
                <a:gd name="txB" fmla="*/ 60 h 60"/>
              </a:gdLst>
              <a:ahLst/>
              <a:cxnLst>
                <a:cxn ang="0">
                  <a:pos x="60" y="60"/>
                </a:cxn>
                <a:cxn ang="0">
                  <a:pos x="0" y="0"/>
                </a:cxn>
              </a:cxnLst>
              <a:rect l="txL" t="txT" r="txR" b="txB"/>
              <a:pathLst>
                <a:path w="60" h="60">
                  <a:moveTo>
                    <a:pt x="60" y="6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9504" name="Line 34"/>
            <p:cNvSpPr/>
            <p:nvPr/>
          </p:nvSpPr>
          <p:spPr>
            <a:xfrm>
              <a:off x="660" y="2989"/>
              <a:ext cx="0" cy="384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05" name="Line 35"/>
            <p:cNvSpPr/>
            <p:nvPr/>
          </p:nvSpPr>
          <p:spPr>
            <a:xfrm>
              <a:off x="1188" y="2929"/>
              <a:ext cx="0" cy="507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06" name="Line 36"/>
            <p:cNvSpPr/>
            <p:nvPr/>
          </p:nvSpPr>
          <p:spPr>
            <a:xfrm>
              <a:off x="660" y="2980"/>
              <a:ext cx="528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07" name="Line 37"/>
            <p:cNvSpPr/>
            <p:nvPr/>
          </p:nvSpPr>
          <p:spPr>
            <a:xfrm>
              <a:off x="666" y="3373"/>
              <a:ext cx="528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08" name="Line 38"/>
            <p:cNvSpPr/>
            <p:nvPr/>
          </p:nvSpPr>
          <p:spPr>
            <a:xfrm>
              <a:off x="1188" y="3037"/>
              <a:ext cx="144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09" name="Line 39"/>
            <p:cNvSpPr/>
            <p:nvPr/>
          </p:nvSpPr>
          <p:spPr>
            <a:xfrm>
              <a:off x="1188" y="3325"/>
              <a:ext cx="144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10" name="Line 40"/>
            <p:cNvSpPr/>
            <p:nvPr/>
          </p:nvSpPr>
          <p:spPr>
            <a:xfrm>
              <a:off x="1332" y="2935"/>
              <a:ext cx="0" cy="498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11" name="Line 41"/>
            <p:cNvSpPr/>
            <p:nvPr/>
          </p:nvSpPr>
          <p:spPr>
            <a:xfrm>
              <a:off x="1332" y="2941"/>
              <a:ext cx="432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12" name="Line 42"/>
            <p:cNvSpPr/>
            <p:nvPr/>
          </p:nvSpPr>
          <p:spPr>
            <a:xfrm>
              <a:off x="1332" y="3421"/>
              <a:ext cx="432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13" name="Freeform 43"/>
            <p:cNvSpPr/>
            <p:nvPr/>
          </p:nvSpPr>
          <p:spPr>
            <a:xfrm>
              <a:off x="1712" y="2941"/>
              <a:ext cx="143" cy="482"/>
            </a:xfrm>
            <a:custGeom>
              <a:avLst/>
              <a:gdLst>
                <a:gd name="txL" fmla="*/ 0 w 143"/>
                <a:gd name="txT" fmla="*/ 0 h 482"/>
                <a:gd name="txR" fmla="*/ 143 w 143"/>
                <a:gd name="txB" fmla="*/ 482 h 482"/>
              </a:gdLst>
              <a:ahLst/>
              <a:cxnLst>
                <a:cxn ang="0">
                  <a:pos x="52" y="0"/>
                </a:cxn>
                <a:cxn ang="0">
                  <a:pos x="95" y="29"/>
                </a:cxn>
                <a:cxn ang="0">
                  <a:pos x="110" y="53"/>
                </a:cxn>
                <a:cxn ang="0">
                  <a:pos x="124" y="86"/>
                </a:cxn>
                <a:cxn ang="0">
                  <a:pos x="126" y="126"/>
                </a:cxn>
                <a:cxn ang="0">
                  <a:pos x="126" y="180"/>
                </a:cxn>
                <a:cxn ang="0">
                  <a:pos x="55" y="266"/>
                </a:cxn>
                <a:cxn ang="0">
                  <a:pos x="28" y="306"/>
                </a:cxn>
                <a:cxn ang="0">
                  <a:pos x="4" y="354"/>
                </a:cxn>
                <a:cxn ang="0">
                  <a:pos x="6" y="415"/>
                </a:cxn>
                <a:cxn ang="0">
                  <a:pos x="14" y="451"/>
                </a:cxn>
                <a:cxn ang="0">
                  <a:pos x="52" y="480"/>
                </a:cxn>
                <a:cxn ang="0">
                  <a:pos x="84" y="463"/>
                </a:cxn>
                <a:cxn ang="0">
                  <a:pos x="123" y="437"/>
                </a:cxn>
                <a:cxn ang="0">
                  <a:pos x="135" y="361"/>
                </a:cxn>
                <a:cxn ang="0">
                  <a:pos x="137" y="298"/>
                </a:cxn>
                <a:cxn ang="0">
                  <a:pos x="99" y="235"/>
                </a:cxn>
              </a:cxnLst>
              <a:rect l="txL" t="txT" r="txR" b="txB"/>
              <a:pathLst>
                <a:path w="143" h="482">
                  <a:moveTo>
                    <a:pt x="52" y="0"/>
                  </a:moveTo>
                  <a:cubicBezTo>
                    <a:pt x="59" y="5"/>
                    <a:pt x="85" y="20"/>
                    <a:pt x="95" y="29"/>
                  </a:cubicBezTo>
                  <a:cubicBezTo>
                    <a:pt x="105" y="38"/>
                    <a:pt x="105" y="44"/>
                    <a:pt x="110" y="53"/>
                  </a:cubicBezTo>
                  <a:cubicBezTo>
                    <a:pt x="115" y="62"/>
                    <a:pt x="121" y="74"/>
                    <a:pt x="124" y="86"/>
                  </a:cubicBezTo>
                  <a:cubicBezTo>
                    <a:pt x="127" y="98"/>
                    <a:pt x="126" y="110"/>
                    <a:pt x="126" y="126"/>
                  </a:cubicBezTo>
                  <a:cubicBezTo>
                    <a:pt x="126" y="142"/>
                    <a:pt x="138" y="157"/>
                    <a:pt x="126" y="180"/>
                  </a:cubicBezTo>
                  <a:cubicBezTo>
                    <a:pt x="114" y="203"/>
                    <a:pt x="71" y="245"/>
                    <a:pt x="55" y="266"/>
                  </a:cubicBezTo>
                  <a:cubicBezTo>
                    <a:pt x="39" y="287"/>
                    <a:pt x="36" y="291"/>
                    <a:pt x="28" y="306"/>
                  </a:cubicBezTo>
                  <a:cubicBezTo>
                    <a:pt x="20" y="321"/>
                    <a:pt x="8" y="336"/>
                    <a:pt x="4" y="354"/>
                  </a:cubicBezTo>
                  <a:cubicBezTo>
                    <a:pt x="0" y="372"/>
                    <a:pt x="4" y="399"/>
                    <a:pt x="6" y="415"/>
                  </a:cubicBezTo>
                  <a:cubicBezTo>
                    <a:pt x="8" y="431"/>
                    <a:pt x="6" y="440"/>
                    <a:pt x="14" y="451"/>
                  </a:cubicBezTo>
                  <a:cubicBezTo>
                    <a:pt x="22" y="462"/>
                    <a:pt x="40" y="478"/>
                    <a:pt x="52" y="480"/>
                  </a:cubicBezTo>
                  <a:cubicBezTo>
                    <a:pt x="64" y="482"/>
                    <a:pt x="72" y="470"/>
                    <a:pt x="84" y="463"/>
                  </a:cubicBezTo>
                  <a:cubicBezTo>
                    <a:pt x="96" y="456"/>
                    <a:pt x="115" y="454"/>
                    <a:pt x="123" y="437"/>
                  </a:cubicBezTo>
                  <a:cubicBezTo>
                    <a:pt x="131" y="420"/>
                    <a:pt x="133" y="384"/>
                    <a:pt x="135" y="361"/>
                  </a:cubicBezTo>
                  <a:cubicBezTo>
                    <a:pt x="137" y="338"/>
                    <a:pt x="143" y="319"/>
                    <a:pt x="137" y="298"/>
                  </a:cubicBezTo>
                  <a:cubicBezTo>
                    <a:pt x="131" y="277"/>
                    <a:pt x="107" y="248"/>
                    <a:pt x="99" y="235"/>
                  </a:cubicBez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9514" name="Line 44"/>
            <p:cNvSpPr/>
            <p:nvPr/>
          </p:nvSpPr>
          <p:spPr>
            <a:xfrm flipV="1">
              <a:off x="1716" y="3210"/>
              <a:ext cx="115" cy="115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15" name="Freeform 45"/>
            <p:cNvSpPr/>
            <p:nvPr/>
          </p:nvSpPr>
          <p:spPr>
            <a:xfrm>
              <a:off x="1740" y="3280"/>
              <a:ext cx="114" cy="117"/>
            </a:xfrm>
            <a:custGeom>
              <a:avLst/>
              <a:gdLst>
                <a:gd name="txL" fmla="*/ 0 w 114"/>
                <a:gd name="txT" fmla="*/ 0 h 117"/>
                <a:gd name="txR" fmla="*/ 114 w 114"/>
                <a:gd name="txB" fmla="*/ 117 h 117"/>
              </a:gdLst>
              <a:ahLst/>
              <a:cxnLst>
                <a:cxn ang="0">
                  <a:pos x="0" y="117"/>
                </a:cxn>
                <a:cxn ang="0">
                  <a:pos x="114" y="0"/>
                </a:cxn>
              </a:cxnLst>
              <a:rect l="txL" t="txT" r="txR" b="txB"/>
              <a:pathLst>
                <a:path w="114" h="117">
                  <a:moveTo>
                    <a:pt x="0" y="117"/>
                  </a:moveTo>
                  <a:lnTo>
                    <a:pt x="114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9516" name="Line 46"/>
            <p:cNvSpPr/>
            <p:nvPr/>
          </p:nvSpPr>
          <p:spPr>
            <a:xfrm>
              <a:off x="1368" y="3179"/>
              <a:ext cx="194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47"/>
          <p:cNvGrpSpPr/>
          <p:nvPr/>
        </p:nvGrpSpPr>
        <p:grpSpPr>
          <a:xfrm>
            <a:off x="2452688" y="4856163"/>
            <a:ext cx="484187" cy="517525"/>
            <a:chOff x="1315" y="2594"/>
            <a:chExt cx="305" cy="326"/>
          </a:xfrm>
        </p:grpSpPr>
        <p:sp>
          <p:nvSpPr>
            <p:cNvPr id="59494" name="Line 48"/>
            <p:cNvSpPr/>
            <p:nvPr/>
          </p:nvSpPr>
          <p:spPr>
            <a:xfrm>
              <a:off x="1332" y="2608"/>
              <a:ext cx="288" cy="0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95" name="Line 49"/>
            <p:cNvSpPr/>
            <p:nvPr/>
          </p:nvSpPr>
          <p:spPr>
            <a:xfrm>
              <a:off x="1332" y="2896"/>
              <a:ext cx="288" cy="0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96" name="Rectangle 50"/>
            <p:cNvSpPr/>
            <p:nvPr/>
          </p:nvSpPr>
          <p:spPr>
            <a:xfrm rot="-3867502">
              <a:off x="1304" y="2621"/>
              <a:ext cx="31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zh-CN" sz="24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φ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497" name="Line 51"/>
            <p:cNvSpPr/>
            <p:nvPr/>
          </p:nvSpPr>
          <p:spPr>
            <a:xfrm>
              <a:off x="1572" y="2594"/>
              <a:ext cx="0" cy="317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triangle" w="sm" len="lg"/>
              <a:tailEnd type="triangle" w="sm" len="lg"/>
            </a:ln>
          </p:spPr>
        </p:sp>
      </p:grpSp>
      <p:sp>
        <p:nvSpPr>
          <p:cNvPr id="119860" name="Text Box 52"/>
          <p:cNvSpPr txBox="1"/>
          <p:nvPr/>
        </p:nvSpPr>
        <p:spPr>
          <a:xfrm>
            <a:off x="882650" y="1023938"/>
            <a:ext cx="1514475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</a:rPr>
              <a:t>⑴ 倒角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19861" name="Text Box 53"/>
          <p:cNvSpPr txBox="1"/>
          <p:nvPr/>
        </p:nvSpPr>
        <p:spPr>
          <a:xfrm>
            <a:off x="966788" y="3516313"/>
            <a:ext cx="192405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⑵ 退刀槽</a:t>
            </a:r>
            <a:endParaRPr lang="zh-CN" altLang="en-US" sz="32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" name="Group 54"/>
          <p:cNvGrpSpPr/>
          <p:nvPr/>
        </p:nvGrpSpPr>
        <p:grpSpPr>
          <a:xfrm>
            <a:off x="5913438" y="1906588"/>
            <a:ext cx="2574925" cy="1485900"/>
            <a:chOff x="3612" y="1088"/>
            <a:chExt cx="1622" cy="936"/>
          </a:xfrm>
        </p:grpSpPr>
        <p:grpSp>
          <p:nvGrpSpPr>
            <p:cNvPr id="59463" name="Group 55"/>
            <p:cNvGrpSpPr/>
            <p:nvPr/>
          </p:nvGrpSpPr>
          <p:grpSpPr>
            <a:xfrm>
              <a:off x="3705" y="1088"/>
              <a:ext cx="1474" cy="936"/>
              <a:chOff x="3705" y="1062"/>
              <a:chExt cx="1474" cy="936"/>
            </a:xfrm>
          </p:grpSpPr>
          <p:sp>
            <p:nvSpPr>
              <p:cNvPr id="59465" name="Line 56"/>
              <p:cNvSpPr/>
              <p:nvPr/>
            </p:nvSpPr>
            <p:spPr>
              <a:xfrm>
                <a:off x="3705" y="1075"/>
                <a:ext cx="0" cy="914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66" name="Line 57"/>
              <p:cNvSpPr/>
              <p:nvPr/>
            </p:nvSpPr>
            <p:spPr>
              <a:xfrm>
                <a:off x="3715" y="1257"/>
                <a:ext cx="957" cy="0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67" name="Line 58"/>
              <p:cNvSpPr/>
              <p:nvPr/>
            </p:nvSpPr>
            <p:spPr>
              <a:xfrm>
                <a:off x="3717" y="1790"/>
                <a:ext cx="957" cy="0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68" name="Line 59"/>
              <p:cNvSpPr/>
              <p:nvPr/>
            </p:nvSpPr>
            <p:spPr>
              <a:xfrm flipV="1">
                <a:off x="4674" y="1253"/>
                <a:ext cx="0" cy="54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69" name="Line 60"/>
              <p:cNvSpPr/>
              <p:nvPr/>
            </p:nvSpPr>
            <p:spPr>
              <a:xfrm>
                <a:off x="3777" y="1306"/>
                <a:ext cx="1143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70" name="Line 61"/>
              <p:cNvSpPr/>
              <p:nvPr/>
            </p:nvSpPr>
            <p:spPr>
              <a:xfrm>
                <a:off x="3776" y="1742"/>
                <a:ext cx="1145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71" name="Line 62"/>
              <p:cNvSpPr/>
              <p:nvPr/>
            </p:nvSpPr>
            <p:spPr>
              <a:xfrm>
                <a:off x="4914" y="1300"/>
                <a:ext cx="0" cy="436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72" name="Line 63"/>
              <p:cNvSpPr/>
              <p:nvPr/>
            </p:nvSpPr>
            <p:spPr>
              <a:xfrm flipV="1">
                <a:off x="4915" y="1516"/>
                <a:ext cx="115" cy="226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73" name="Line 64"/>
              <p:cNvSpPr/>
              <p:nvPr/>
            </p:nvSpPr>
            <p:spPr>
              <a:xfrm>
                <a:off x="4922" y="1306"/>
                <a:ext cx="108" cy="22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74" name="Line 65"/>
              <p:cNvSpPr/>
              <p:nvPr/>
            </p:nvSpPr>
            <p:spPr>
              <a:xfrm flipH="1">
                <a:off x="3772" y="1299"/>
                <a:ext cx="0" cy="448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75" name="Freeform 66"/>
              <p:cNvSpPr/>
              <p:nvPr/>
            </p:nvSpPr>
            <p:spPr>
              <a:xfrm>
                <a:off x="3840" y="1086"/>
                <a:ext cx="216" cy="220"/>
              </a:xfrm>
              <a:custGeom>
                <a:avLst/>
                <a:gdLst>
                  <a:gd name="txL" fmla="*/ 0 w 267"/>
                  <a:gd name="txT" fmla="*/ 0 h 268"/>
                  <a:gd name="txR" fmla="*/ 267 w 267"/>
                  <a:gd name="txB" fmla="*/ 268 h 268"/>
                </a:gdLst>
                <a:ahLst/>
                <a:cxnLst>
                  <a:cxn ang="0">
                    <a:pos x="0" y="0"/>
                  </a:cxn>
                  <a:cxn ang="0">
                    <a:pos x="175" y="181"/>
                  </a:cxn>
                </a:cxnLst>
                <a:rect l="txL" t="txT" r="txR" b="txB"/>
                <a:pathLst>
                  <a:path w="267" h="268">
                    <a:moveTo>
                      <a:pt x="0" y="0"/>
                    </a:moveTo>
                    <a:lnTo>
                      <a:pt x="267" y="268"/>
                    </a:lnTo>
                  </a:path>
                </a:pathLst>
              </a:custGeom>
              <a:noFill/>
              <a:ln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9476" name="Freeform 67"/>
              <p:cNvSpPr/>
              <p:nvPr/>
            </p:nvSpPr>
            <p:spPr>
              <a:xfrm>
                <a:off x="4054" y="1075"/>
                <a:ext cx="220" cy="221"/>
              </a:xfrm>
              <a:custGeom>
                <a:avLst/>
                <a:gdLst>
                  <a:gd name="txL" fmla="*/ 0 w 268"/>
                  <a:gd name="txT" fmla="*/ 0 h 265"/>
                  <a:gd name="txR" fmla="*/ 268 w 268"/>
                  <a:gd name="txB" fmla="*/ 265 h 265"/>
                </a:gdLst>
                <a:ahLst/>
                <a:cxnLst>
                  <a:cxn ang="0">
                    <a:pos x="0" y="0"/>
                  </a:cxn>
                  <a:cxn ang="0">
                    <a:pos x="181" y="184"/>
                  </a:cxn>
                </a:cxnLst>
                <a:rect l="txL" t="txT" r="txR" b="txB"/>
                <a:pathLst>
                  <a:path w="268" h="265">
                    <a:moveTo>
                      <a:pt x="0" y="0"/>
                    </a:moveTo>
                    <a:lnTo>
                      <a:pt x="268" y="265"/>
                    </a:lnTo>
                  </a:path>
                </a:pathLst>
              </a:custGeom>
              <a:noFill/>
              <a:ln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9477" name="Freeform 68"/>
              <p:cNvSpPr/>
              <p:nvPr/>
            </p:nvSpPr>
            <p:spPr>
              <a:xfrm>
                <a:off x="4253" y="1062"/>
                <a:ext cx="254" cy="254"/>
              </a:xfrm>
              <a:custGeom>
                <a:avLst/>
                <a:gdLst>
                  <a:gd name="txL" fmla="*/ 0 w 278"/>
                  <a:gd name="txT" fmla="*/ 0 h 278"/>
                  <a:gd name="txR" fmla="*/ 278 w 278"/>
                  <a:gd name="txB" fmla="*/ 278 h 278"/>
                </a:gdLst>
                <a:ahLst/>
                <a:cxnLst>
                  <a:cxn ang="0">
                    <a:pos x="0" y="0"/>
                  </a:cxn>
                  <a:cxn ang="0">
                    <a:pos x="232" y="232"/>
                  </a:cxn>
                </a:cxnLst>
                <a:rect l="txL" t="txT" r="txR" b="txB"/>
                <a:pathLst>
                  <a:path w="278" h="278">
                    <a:moveTo>
                      <a:pt x="0" y="0"/>
                    </a:moveTo>
                    <a:lnTo>
                      <a:pt x="278" y="278"/>
                    </a:lnTo>
                  </a:path>
                </a:pathLst>
              </a:custGeom>
              <a:noFill/>
              <a:ln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9478" name="Freeform 69"/>
              <p:cNvSpPr/>
              <p:nvPr/>
            </p:nvSpPr>
            <p:spPr>
              <a:xfrm>
                <a:off x="4474" y="1070"/>
                <a:ext cx="197" cy="196"/>
              </a:xfrm>
              <a:custGeom>
                <a:avLst/>
                <a:gdLst>
                  <a:gd name="txL" fmla="*/ 0 w 269"/>
                  <a:gd name="txT" fmla="*/ 0 h 267"/>
                  <a:gd name="txR" fmla="*/ 269 w 269"/>
                  <a:gd name="txB" fmla="*/ 267 h 267"/>
                </a:gdLst>
                <a:ahLst/>
                <a:cxnLst>
                  <a:cxn ang="0">
                    <a:pos x="0" y="0"/>
                  </a:cxn>
                  <a:cxn ang="0">
                    <a:pos x="144" y="144"/>
                  </a:cxn>
                </a:cxnLst>
                <a:rect l="txL" t="txT" r="txR" b="txB"/>
                <a:pathLst>
                  <a:path w="269" h="267">
                    <a:moveTo>
                      <a:pt x="0" y="0"/>
                    </a:moveTo>
                    <a:lnTo>
                      <a:pt x="269" y="267"/>
                    </a:lnTo>
                  </a:path>
                </a:pathLst>
              </a:custGeom>
              <a:noFill/>
              <a:ln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9479" name="Freeform 70"/>
              <p:cNvSpPr/>
              <p:nvPr/>
            </p:nvSpPr>
            <p:spPr>
              <a:xfrm>
                <a:off x="4683" y="1070"/>
                <a:ext cx="258" cy="258"/>
              </a:xfrm>
              <a:custGeom>
                <a:avLst/>
                <a:gdLst>
                  <a:gd name="txL" fmla="*/ 0 w 288"/>
                  <a:gd name="txT" fmla="*/ 0 h 288"/>
                  <a:gd name="txR" fmla="*/ 288 w 288"/>
                  <a:gd name="txB" fmla="*/ 288 h 288"/>
                </a:gdLst>
                <a:ahLst/>
                <a:cxnLst>
                  <a:cxn ang="0">
                    <a:pos x="0" y="0"/>
                  </a:cxn>
                  <a:cxn ang="0">
                    <a:pos x="231" y="231"/>
                  </a:cxn>
                </a:cxnLst>
                <a:rect l="txL" t="txT" r="txR" b="txB"/>
                <a:pathLst>
                  <a:path w="288" h="288">
                    <a:moveTo>
                      <a:pt x="0" y="0"/>
                    </a:moveTo>
                    <a:lnTo>
                      <a:pt x="288" y="288"/>
                    </a:lnTo>
                  </a:path>
                </a:pathLst>
              </a:custGeom>
              <a:noFill/>
              <a:ln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9480" name="Line 71"/>
              <p:cNvSpPr/>
              <p:nvPr/>
            </p:nvSpPr>
            <p:spPr>
              <a:xfrm>
                <a:off x="5132" y="1087"/>
                <a:ext cx="36" cy="36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81" name="Line 72"/>
              <p:cNvSpPr/>
              <p:nvPr/>
            </p:nvSpPr>
            <p:spPr>
              <a:xfrm>
                <a:off x="4917" y="1302"/>
                <a:ext cx="262" cy="262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82" name="Line 73"/>
              <p:cNvSpPr/>
              <p:nvPr/>
            </p:nvSpPr>
            <p:spPr>
              <a:xfrm>
                <a:off x="4988" y="1585"/>
                <a:ext cx="182" cy="182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83" name="Line 74"/>
              <p:cNvSpPr/>
              <p:nvPr/>
            </p:nvSpPr>
            <p:spPr>
              <a:xfrm>
                <a:off x="4921" y="1729"/>
                <a:ext cx="244" cy="244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84" name="Line 75"/>
              <p:cNvSpPr/>
              <p:nvPr/>
            </p:nvSpPr>
            <p:spPr>
              <a:xfrm>
                <a:off x="4743" y="1753"/>
                <a:ext cx="226" cy="226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85" name="Line 76"/>
              <p:cNvSpPr/>
              <p:nvPr/>
            </p:nvSpPr>
            <p:spPr>
              <a:xfrm>
                <a:off x="4514" y="1746"/>
                <a:ext cx="252" cy="252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86" name="Line 77"/>
              <p:cNvSpPr/>
              <p:nvPr/>
            </p:nvSpPr>
            <p:spPr>
              <a:xfrm>
                <a:off x="4286" y="1739"/>
                <a:ext cx="251" cy="251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87" name="Line 78"/>
              <p:cNvSpPr/>
              <p:nvPr/>
            </p:nvSpPr>
            <p:spPr>
              <a:xfrm>
                <a:off x="4072" y="1744"/>
                <a:ext cx="241" cy="241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88" name="Line 79"/>
              <p:cNvSpPr/>
              <p:nvPr/>
            </p:nvSpPr>
            <p:spPr>
              <a:xfrm>
                <a:off x="3863" y="1747"/>
                <a:ext cx="238" cy="238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89" name="Line 80"/>
              <p:cNvSpPr/>
              <p:nvPr/>
            </p:nvSpPr>
            <p:spPr>
              <a:xfrm>
                <a:off x="3706" y="1812"/>
                <a:ext cx="164" cy="164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90" name="Line 81"/>
              <p:cNvSpPr/>
              <p:nvPr/>
            </p:nvSpPr>
            <p:spPr>
              <a:xfrm>
                <a:off x="5171" y="1069"/>
                <a:ext cx="0" cy="914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91" name="Freeform 82"/>
              <p:cNvSpPr/>
              <p:nvPr/>
            </p:nvSpPr>
            <p:spPr>
              <a:xfrm>
                <a:off x="4912" y="1078"/>
                <a:ext cx="263" cy="262"/>
              </a:xfrm>
              <a:custGeom>
                <a:avLst/>
                <a:gdLst>
                  <a:gd name="txL" fmla="*/ 0 w 442"/>
                  <a:gd name="txT" fmla="*/ 0 h 441"/>
                  <a:gd name="txR" fmla="*/ 442 w 442"/>
                  <a:gd name="txB" fmla="*/ 441 h 441"/>
                </a:gdLst>
                <a:ahLst/>
                <a:cxnLst>
                  <a:cxn ang="0">
                    <a:pos x="0" y="0"/>
                  </a:cxn>
                  <a:cxn ang="0">
                    <a:pos x="156" y="156"/>
                  </a:cxn>
                </a:cxnLst>
                <a:rect l="txL" t="txT" r="txR" b="txB"/>
                <a:pathLst>
                  <a:path w="442" h="441">
                    <a:moveTo>
                      <a:pt x="0" y="0"/>
                    </a:moveTo>
                    <a:lnTo>
                      <a:pt x="442" y="441"/>
                    </a:lnTo>
                  </a:path>
                </a:pathLst>
              </a:custGeom>
              <a:noFill/>
              <a:ln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9492" name="Line 83"/>
              <p:cNvSpPr/>
              <p:nvPr/>
            </p:nvSpPr>
            <p:spPr>
              <a:xfrm flipH="1" flipV="1">
                <a:off x="3709" y="1243"/>
                <a:ext cx="62" cy="6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93" name="Line 84"/>
              <p:cNvSpPr/>
              <p:nvPr/>
            </p:nvSpPr>
            <p:spPr>
              <a:xfrm flipH="1">
                <a:off x="3708" y="1737"/>
                <a:ext cx="67" cy="67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9464" name="Line 85"/>
            <p:cNvSpPr/>
            <p:nvPr/>
          </p:nvSpPr>
          <p:spPr>
            <a:xfrm flipH="1">
              <a:off x="3612" y="1547"/>
              <a:ext cx="1622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lgDashDot"/>
              <a:headEnd type="none" w="med" len="med"/>
              <a:tailEnd type="none" w="med" len="med"/>
            </a:ln>
          </p:spPr>
        </p:sp>
      </p:grpSp>
      <p:grpSp>
        <p:nvGrpSpPr>
          <p:cNvPr id="8" name="Group 86"/>
          <p:cNvGrpSpPr/>
          <p:nvPr/>
        </p:nvGrpSpPr>
        <p:grpSpPr>
          <a:xfrm>
            <a:off x="5676900" y="1449388"/>
            <a:ext cx="990600" cy="766762"/>
            <a:chOff x="3463" y="774"/>
            <a:chExt cx="624" cy="483"/>
          </a:xfrm>
        </p:grpSpPr>
        <p:sp>
          <p:nvSpPr>
            <p:cNvPr id="59460" name="Text Box 87"/>
            <p:cNvSpPr txBox="1"/>
            <p:nvPr/>
          </p:nvSpPr>
          <p:spPr>
            <a:xfrm>
              <a:off x="3660" y="774"/>
              <a:ext cx="36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FF3300"/>
                  </a:solidFill>
                  <a:latin typeface="ISOCP" panose="00000400000000000000" pitchFamily="2" charset="0"/>
                </a:rPr>
                <a:t>C2</a:t>
              </a:r>
              <a:endPara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61" name="Line 88"/>
            <p:cNvSpPr/>
            <p:nvPr/>
          </p:nvSpPr>
          <p:spPr>
            <a:xfrm flipH="1" flipV="1">
              <a:off x="3463" y="998"/>
              <a:ext cx="259" cy="259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62" name="Line 89"/>
            <p:cNvSpPr/>
            <p:nvPr/>
          </p:nvSpPr>
          <p:spPr>
            <a:xfrm>
              <a:off x="3463" y="998"/>
              <a:ext cx="624" cy="0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" name="Group 90"/>
          <p:cNvGrpSpPr/>
          <p:nvPr/>
        </p:nvGrpSpPr>
        <p:grpSpPr>
          <a:xfrm>
            <a:off x="3735388" y="2200275"/>
            <a:ext cx="2066925" cy="927100"/>
            <a:chOff x="2240" y="1273"/>
            <a:chExt cx="1302" cy="584"/>
          </a:xfrm>
        </p:grpSpPr>
        <p:sp>
          <p:nvSpPr>
            <p:cNvPr id="59446" name="Line 91"/>
            <p:cNvSpPr/>
            <p:nvPr/>
          </p:nvSpPr>
          <p:spPr>
            <a:xfrm>
              <a:off x="2324" y="1273"/>
              <a:ext cx="1149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47" name="Line 92"/>
            <p:cNvSpPr/>
            <p:nvPr/>
          </p:nvSpPr>
          <p:spPr>
            <a:xfrm>
              <a:off x="2336" y="1273"/>
              <a:ext cx="1" cy="5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48" name="Line 93"/>
            <p:cNvSpPr/>
            <p:nvPr/>
          </p:nvSpPr>
          <p:spPr>
            <a:xfrm>
              <a:off x="2336" y="1849"/>
              <a:ext cx="1152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49" name="Freeform 94"/>
            <p:cNvSpPr/>
            <p:nvPr/>
          </p:nvSpPr>
          <p:spPr>
            <a:xfrm>
              <a:off x="3197" y="1275"/>
              <a:ext cx="1" cy="582"/>
            </a:xfrm>
            <a:custGeom>
              <a:avLst/>
              <a:gdLst>
                <a:gd name="txL" fmla="*/ 0 w 1"/>
                <a:gd name="txT" fmla="*/ 0 h 582"/>
                <a:gd name="txR" fmla="*/ 1 w 1"/>
                <a:gd name="txB" fmla="*/ 582 h 582"/>
              </a:gdLst>
              <a:ahLst/>
              <a:cxnLst>
                <a:cxn ang="0">
                  <a:pos x="0" y="0"/>
                </a:cxn>
                <a:cxn ang="0">
                  <a:pos x="0" y="582"/>
                </a:cxn>
              </a:cxnLst>
              <a:rect l="txL" t="txT" r="txR" b="txB"/>
              <a:pathLst>
                <a:path w="1" h="582">
                  <a:moveTo>
                    <a:pt x="0" y="0"/>
                  </a:moveTo>
                  <a:lnTo>
                    <a:pt x="0" y="58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9450" name="Line 95"/>
            <p:cNvSpPr/>
            <p:nvPr/>
          </p:nvSpPr>
          <p:spPr>
            <a:xfrm>
              <a:off x="2277" y="1783"/>
              <a:ext cx="66" cy="6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51" name="Freeform 96"/>
            <p:cNvSpPr/>
            <p:nvPr/>
          </p:nvSpPr>
          <p:spPr>
            <a:xfrm>
              <a:off x="3392" y="1273"/>
              <a:ext cx="150" cy="580"/>
            </a:xfrm>
            <a:custGeom>
              <a:avLst/>
              <a:gdLst>
                <a:gd name="txL" fmla="*/ 0 w 150"/>
                <a:gd name="txT" fmla="*/ 0 h 580"/>
                <a:gd name="txR" fmla="*/ 150 w 150"/>
                <a:gd name="txB" fmla="*/ 580 h 580"/>
              </a:gdLst>
              <a:ahLst/>
              <a:cxnLst>
                <a:cxn ang="0">
                  <a:pos x="68" y="0"/>
                </a:cxn>
                <a:cxn ang="0">
                  <a:pos x="97" y="13"/>
                </a:cxn>
                <a:cxn ang="0">
                  <a:pos x="129" y="51"/>
                </a:cxn>
                <a:cxn ang="0">
                  <a:pos x="134" y="96"/>
                </a:cxn>
                <a:cxn ang="0">
                  <a:pos x="139" y="144"/>
                </a:cxn>
                <a:cxn ang="0">
                  <a:pos x="110" y="227"/>
                </a:cxn>
                <a:cxn ang="0">
                  <a:pos x="68" y="288"/>
                </a:cxn>
                <a:cxn ang="0">
                  <a:pos x="42" y="330"/>
                </a:cxn>
                <a:cxn ang="0">
                  <a:pos x="20" y="384"/>
                </a:cxn>
                <a:cxn ang="0">
                  <a:pos x="4" y="426"/>
                </a:cxn>
                <a:cxn ang="0">
                  <a:pos x="1" y="474"/>
                </a:cxn>
                <a:cxn ang="0">
                  <a:pos x="10" y="509"/>
                </a:cxn>
                <a:cxn ang="0">
                  <a:pos x="20" y="528"/>
                </a:cxn>
                <a:cxn ang="0">
                  <a:pos x="36" y="550"/>
                </a:cxn>
                <a:cxn ang="0">
                  <a:pos x="68" y="576"/>
                </a:cxn>
                <a:cxn ang="0">
                  <a:pos x="97" y="573"/>
                </a:cxn>
                <a:cxn ang="0">
                  <a:pos x="116" y="563"/>
                </a:cxn>
                <a:cxn ang="0">
                  <a:pos x="145" y="512"/>
                </a:cxn>
                <a:cxn ang="0">
                  <a:pos x="148" y="470"/>
                </a:cxn>
                <a:cxn ang="0">
                  <a:pos x="142" y="411"/>
                </a:cxn>
                <a:cxn ang="0">
                  <a:pos x="126" y="355"/>
                </a:cxn>
                <a:cxn ang="0">
                  <a:pos x="119" y="349"/>
                </a:cxn>
                <a:cxn ang="0">
                  <a:pos x="68" y="288"/>
                </a:cxn>
              </a:cxnLst>
              <a:rect l="txL" t="txT" r="txR" b="txB"/>
              <a:pathLst>
                <a:path w="150" h="580">
                  <a:moveTo>
                    <a:pt x="68" y="0"/>
                  </a:moveTo>
                  <a:cubicBezTo>
                    <a:pt x="73" y="2"/>
                    <a:pt x="87" y="4"/>
                    <a:pt x="97" y="13"/>
                  </a:cubicBezTo>
                  <a:cubicBezTo>
                    <a:pt x="107" y="22"/>
                    <a:pt x="123" y="37"/>
                    <a:pt x="129" y="51"/>
                  </a:cubicBezTo>
                  <a:cubicBezTo>
                    <a:pt x="135" y="65"/>
                    <a:pt x="132" y="81"/>
                    <a:pt x="134" y="96"/>
                  </a:cubicBezTo>
                  <a:cubicBezTo>
                    <a:pt x="136" y="111"/>
                    <a:pt x="143" y="122"/>
                    <a:pt x="139" y="144"/>
                  </a:cubicBezTo>
                  <a:cubicBezTo>
                    <a:pt x="135" y="166"/>
                    <a:pt x="122" y="203"/>
                    <a:pt x="110" y="227"/>
                  </a:cubicBezTo>
                  <a:cubicBezTo>
                    <a:pt x="98" y="251"/>
                    <a:pt x="79" y="271"/>
                    <a:pt x="68" y="288"/>
                  </a:cubicBezTo>
                  <a:cubicBezTo>
                    <a:pt x="57" y="305"/>
                    <a:pt x="50" y="314"/>
                    <a:pt x="42" y="330"/>
                  </a:cubicBezTo>
                  <a:cubicBezTo>
                    <a:pt x="34" y="346"/>
                    <a:pt x="26" y="368"/>
                    <a:pt x="20" y="384"/>
                  </a:cubicBezTo>
                  <a:cubicBezTo>
                    <a:pt x="14" y="400"/>
                    <a:pt x="7" y="411"/>
                    <a:pt x="4" y="426"/>
                  </a:cubicBezTo>
                  <a:cubicBezTo>
                    <a:pt x="1" y="441"/>
                    <a:pt x="0" y="460"/>
                    <a:pt x="1" y="474"/>
                  </a:cubicBezTo>
                  <a:cubicBezTo>
                    <a:pt x="2" y="488"/>
                    <a:pt x="7" y="500"/>
                    <a:pt x="10" y="509"/>
                  </a:cubicBezTo>
                  <a:cubicBezTo>
                    <a:pt x="13" y="518"/>
                    <a:pt x="16" y="521"/>
                    <a:pt x="20" y="528"/>
                  </a:cubicBezTo>
                  <a:cubicBezTo>
                    <a:pt x="24" y="535"/>
                    <a:pt x="28" y="542"/>
                    <a:pt x="36" y="550"/>
                  </a:cubicBezTo>
                  <a:cubicBezTo>
                    <a:pt x="44" y="558"/>
                    <a:pt x="58" y="572"/>
                    <a:pt x="68" y="576"/>
                  </a:cubicBezTo>
                  <a:cubicBezTo>
                    <a:pt x="78" y="580"/>
                    <a:pt x="89" y="575"/>
                    <a:pt x="97" y="573"/>
                  </a:cubicBezTo>
                  <a:cubicBezTo>
                    <a:pt x="105" y="571"/>
                    <a:pt x="108" y="573"/>
                    <a:pt x="116" y="563"/>
                  </a:cubicBezTo>
                  <a:cubicBezTo>
                    <a:pt x="124" y="553"/>
                    <a:pt x="140" y="527"/>
                    <a:pt x="145" y="512"/>
                  </a:cubicBezTo>
                  <a:cubicBezTo>
                    <a:pt x="150" y="497"/>
                    <a:pt x="148" y="487"/>
                    <a:pt x="148" y="470"/>
                  </a:cubicBezTo>
                  <a:cubicBezTo>
                    <a:pt x="148" y="453"/>
                    <a:pt x="146" y="430"/>
                    <a:pt x="142" y="411"/>
                  </a:cubicBezTo>
                  <a:cubicBezTo>
                    <a:pt x="138" y="392"/>
                    <a:pt x="130" y="365"/>
                    <a:pt x="126" y="355"/>
                  </a:cubicBezTo>
                  <a:cubicBezTo>
                    <a:pt x="122" y="345"/>
                    <a:pt x="129" y="360"/>
                    <a:pt x="119" y="349"/>
                  </a:cubicBezTo>
                  <a:cubicBezTo>
                    <a:pt x="109" y="338"/>
                    <a:pt x="79" y="301"/>
                    <a:pt x="68" y="288"/>
                  </a:cubicBez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9452" name="Line 97"/>
            <p:cNvSpPr/>
            <p:nvPr/>
          </p:nvSpPr>
          <p:spPr>
            <a:xfrm>
              <a:off x="2240" y="1561"/>
              <a:ext cx="1296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59453" name="Line 98"/>
            <p:cNvSpPr/>
            <p:nvPr/>
          </p:nvSpPr>
          <p:spPr>
            <a:xfrm flipV="1">
              <a:off x="3392" y="1609"/>
              <a:ext cx="96" cy="96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54" name="Line 99"/>
            <p:cNvSpPr/>
            <p:nvPr/>
          </p:nvSpPr>
          <p:spPr>
            <a:xfrm flipV="1">
              <a:off x="3440" y="1753"/>
              <a:ext cx="96" cy="96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55" name="Line 100"/>
            <p:cNvSpPr/>
            <p:nvPr/>
          </p:nvSpPr>
          <p:spPr>
            <a:xfrm flipV="1">
              <a:off x="3407" y="1657"/>
              <a:ext cx="129" cy="129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56" name="Freeform 101"/>
            <p:cNvSpPr/>
            <p:nvPr/>
          </p:nvSpPr>
          <p:spPr>
            <a:xfrm>
              <a:off x="2267" y="1325"/>
              <a:ext cx="938" cy="1"/>
            </a:xfrm>
            <a:custGeom>
              <a:avLst/>
              <a:gdLst>
                <a:gd name="txL" fmla="*/ 0 w 938"/>
                <a:gd name="txT" fmla="*/ 0 h 1"/>
                <a:gd name="txR" fmla="*/ 938 w 93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938" y="1"/>
                </a:cxn>
              </a:cxnLst>
              <a:rect l="txL" t="txT" r="txR" b="txB"/>
              <a:pathLst>
                <a:path w="938" h="1">
                  <a:moveTo>
                    <a:pt x="0" y="0"/>
                  </a:moveTo>
                  <a:lnTo>
                    <a:pt x="938" y="1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9457" name="Line 102"/>
            <p:cNvSpPr/>
            <p:nvPr/>
          </p:nvSpPr>
          <p:spPr>
            <a:xfrm>
              <a:off x="2289" y="1798"/>
              <a:ext cx="918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58" name="Line 103"/>
            <p:cNvSpPr/>
            <p:nvPr/>
          </p:nvSpPr>
          <p:spPr>
            <a:xfrm>
              <a:off x="2275" y="1317"/>
              <a:ext cx="0" cy="486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59" name="Freeform 104"/>
            <p:cNvSpPr/>
            <p:nvPr/>
          </p:nvSpPr>
          <p:spPr>
            <a:xfrm>
              <a:off x="2283" y="1273"/>
              <a:ext cx="51" cy="51"/>
            </a:xfrm>
            <a:custGeom>
              <a:avLst/>
              <a:gdLst>
                <a:gd name="txL" fmla="*/ 0 w 51"/>
                <a:gd name="txT" fmla="*/ 0 h 51"/>
                <a:gd name="txR" fmla="*/ 51 w 51"/>
                <a:gd name="txB" fmla="*/ 51 h 51"/>
              </a:gdLst>
              <a:ahLst/>
              <a:cxnLst>
                <a:cxn ang="0">
                  <a:pos x="51" y="0"/>
                </a:cxn>
                <a:cxn ang="0">
                  <a:pos x="0" y="51"/>
                </a:cxn>
              </a:cxnLst>
              <a:rect l="txL" t="txT" r="txR" b="txB"/>
              <a:pathLst>
                <a:path w="51" h="51">
                  <a:moveTo>
                    <a:pt x="51" y="0"/>
                  </a:moveTo>
                  <a:lnTo>
                    <a:pt x="0" y="51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Group 105"/>
          <p:cNvGrpSpPr/>
          <p:nvPr/>
        </p:nvGrpSpPr>
        <p:grpSpPr>
          <a:xfrm>
            <a:off x="3481388" y="1560513"/>
            <a:ext cx="1746250" cy="727075"/>
            <a:chOff x="2080" y="844"/>
            <a:chExt cx="1100" cy="458"/>
          </a:xfrm>
        </p:grpSpPr>
        <p:sp>
          <p:nvSpPr>
            <p:cNvPr id="59440" name="Text Box 106"/>
            <p:cNvSpPr txBox="1"/>
            <p:nvPr/>
          </p:nvSpPr>
          <p:spPr>
            <a:xfrm>
              <a:off x="2371" y="844"/>
              <a:ext cx="80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FF3300"/>
                  </a:solidFill>
                  <a:latin typeface="ISOCP" panose="00000400000000000000" pitchFamily="2" charset="0"/>
                </a:rPr>
                <a:t>2×45°</a:t>
              </a:r>
              <a:endPara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41" name="Line 107"/>
            <p:cNvSpPr/>
            <p:nvPr/>
          </p:nvSpPr>
          <p:spPr>
            <a:xfrm>
              <a:off x="2344" y="1079"/>
              <a:ext cx="594" cy="0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triangle" w="sm" len="lg"/>
              <a:tailEnd type="none" w="med" len="med"/>
            </a:ln>
          </p:spPr>
        </p:sp>
        <p:sp>
          <p:nvSpPr>
            <p:cNvPr id="59442" name="Line 108"/>
            <p:cNvSpPr/>
            <p:nvPr/>
          </p:nvSpPr>
          <p:spPr>
            <a:xfrm flipV="1">
              <a:off x="2334" y="1019"/>
              <a:ext cx="0" cy="261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43" name="Line 109"/>
            <p:cNvSpPr/>
            <p:nvPr/>
          </p:nvSpPr>
          <p:spPr>
            <a:xfrm flipV="1">
              <a:off x="2269" y="1019"/>
              <a:ext cx="0" cy="283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44" name="Line 110"/>
            <p:cNvSpPr/>
            <p:nvPr/>
          </p:nvSpPr>
          <p:spPr>
            <a:xfrm flipH="1">
              <a:off x="2269" y="1076"/>
              <a:ext cx="80" cy="0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45" name="Line 111"/>
            <p:cNvSpPr/>
            <p:nvPr/>
          </p:nvSpPr>
          <p:spPr>
            <a:xfrm flipH="1">
              <a:off x="2080" y="1076"/>
              <a:ext cx="196" cy="0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triangle" w="sm" len="lg"/>
              <a:tailEnd type="none" w="med" len="med"/>
            </a:ln>
          </p:spPr>
        </p:sp>
      </p:grpSp>
      <p:grpSp>
        <p:nvGrpSpPr>
          <p:cNvPr id="11" name="Group 112"/>
          <p:cNvGrpSpPr/>
          <p:nvPr/>
        </p:nvGrpSpPr>
        <p:grpSpPr>
          <a:xfrm>
            <a:off x="1870075" y="4092575"/>
            <a:ext cx="919163" cy="631825"/>
            <a:chOff x="948" y="2114"/>
            <a:chExt cx="579" cy="398"/>
          </a:xfrm>
        </p:grpSpPr>
        <p:sp>
          <p:nvSpPr>
            <p:cNvPr id="59434" name="Line 113"/>
            <p:cNvSpPr/>
            <p:nvPr/>
          </p:nvSpPr>
          <p:spPr>
            <a:xfrm flipV="1">
              <a:off x="1188" y="2351"/>
              <a:ext cx="0" cy="161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35" name="Line 114"/>
            <p:cNvSpPr/>
            <p:nvPr/>
          </p:nvSpPr>
          <p:spPr>
            <a:xfrm flipV="1">
              <a:off x="1332" y="2339"/>
              <a:ext cx="0" cy="173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36" name="Line 115"/>
            <p:cNvSpPr/>
            <p:nvPr/>
          </p:nvSpPr>
          <p:spPr>
            <a:xfrm>
              <a:off x="948" y="2378"/>
              <a:ext cx="234" cy="0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59437" name="Text Box 116"/>
            <p:cNvSpPr txBox="1"/>
            <p:nvPr/>
          </p:nvSpPr>
          <p:spPr>
            <a:xfrm>
              <a:off x="1160" y="2114"/>
              <a:ext cx="22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38" name="Line 117"/>
            <p:cNvSpPr/>
            <p:nvPr/>
          </p:nvSpPr>
          <p:spPr>
            <a:xfrm>
              <a:off x="1331" y="2378"/>
              <a:ext cx="196" cy="0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triangle" w="sm" len="lg"/>
              <a:tailEnd type="none" w="med" len="med"/>
            </a:ln>
          </p:spPr>
        </p:sp>
        <p:sp>
          <p:nvSpPr>
            <p:cNvPr id="59439" name="Line 118"/>
            <p:cNvSpPr/>
            <p:nvPr/>
          </p:nvSpPr>
          <p:spPr>
            <a:xfrm>
              <a:off x="1185" y="2378"/>
              <a:ext cx="146" cy="0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" name="Group 119"/>
          <p:cNvGrpSpPr/>
          <p:nvPr/>
        </p:nvGrpSpPr>
        <p:grpSpPr>
          <a:xfrm>
            <a:off x="3608388" y="4010025"/>
            <a:ext cx="2028825" cy="682625"/>
            <a:chOff x="2758" y="2400"/>
            <a:chExt cx="1278" cy="430"/>
          </a:xfrm>
        </p:grpSpPr>
        <p:sp>
          <p:nvSpPr>
            <p:cNvPr id="59431" name="Line 120"/>
            <p:cNvSpPr/>
            <p:nvPr/>
          </p:nvSpPr>
          <p:spPr>
            <a:xfrm flipH="1" flipV="1">
              <a:off x="3772" y="2647"/>
              <a:ext cx="193" cy="183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triangle" w="sm" len="lg"/>
              <a:tailEnd type="none" w="med" len="med"/>
            </a:ln>
          </p:spPr>
        </p:sp>
        <p:sp>
          <p:nvSpPr>
            <p:cNvPr id="59432" name="Text Box 121"/>
            <p:cNvSpPr txBox="1"/>
            <p:nvPr/>
          </p:nvSpPr>
          <p:spPr>
            <a:xfrm>
              <a:off x="2758" y="2400"/>
              <a:ext cx="127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与轴线成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30°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433" name="Line 122"/>
            <p:cNvSpPr/>
            <p:nvPr/>
          </p:nvSpPr>
          <p:spPr>
            <a:xfrm flipH="1">
              <a:off x="2829" y="2655"/>
              <a:ext cx="943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3" name="Group 123"/>
          <p:cNvGrpSpPr/>
          <p:nvPr/>
        </p:nvGrpSpPr>
        <p:grpSpPr>
          <a:xfrm>
            <a:off x="5391150" y="4616450"/>
            <a:ext cx="249238" cy="1008063"/>
            <a:chOff x="2718" y="1050"/>
            <a:chExt cx="195" cy="870"/>
          </a:xfrm>
        </p:grpSpPr>
        <p:sp>
          <p:nvSpPr>
            <p:cNvPr id="59429" name="Freeform 124"/>
            <p:cNvSpPr/>
            <p:nvPr/>
          </p:nvSpPr>
          <p:spPr>
            <a:xfrm>
              <a:off x="2718" y="1050"/>
              <a:ext cx="192" cy="103"/>
            </a:xfrm>
            <a:custGeom>
              <a:avLst/>
              <a:gdLst>
                <a:gd name="txL" fmla="*/ 0 w 192"/>
                <a:gd name="txT" fmla="*/ 0 h 103"/>
                <a:gd name="txR" fmla="*/ 192 w 192"/>
                <a:gd name="txB" fmla="*/ 103 h 103"/>
              </a:gdLst>
              <a:ahLst/>
              <a:cxnLst>
                <a:cxn ang="0">
                  <a:pos x="0" y="103"/>
                </a:cxn>
                <a:cxn ang="0">
                  <a:pos x="192" y="0"/>
                </a:cxn>
              </a:cxnLst>
              <a:rect l="txL" t="txT" r="txR" b="txB"/>
              <a:pathLst>
                <a:path w="192" h="103">
                  <a:moveTo>
                    <a:pt x="0" y="103"/>
                  </a:moveTo>
                  <a:lnTo>
                    <a:pt x="192" y="0"/>
                  </a:lnTo>
                </a:path>
              </a:pathLst>
            </a:custGeom>
            <a:noFill/>
            <a:ln w="9525" cap="flat" cmpd="sng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9430" name="Freeform 125"/>
            <p:cNvSpPr/>
            <p:nvPr/>
          </p:nvSpPr>
          <p:spPr>
            <a:xfrm>
              <a:off x="2718" y="1824"/>
              <a:ext cx="195" cy="96"/>
            </a:xfrm>
            <a:custGeom>
              <a:avLst/>
              <a:gdLst>
                <a:gd name="txL" fmla="*/ 0 w 195"/>
                <a:gd name="txT" fmla="*/ 0 h 96"/>
                <a:gd name="txR" fmla="*/ 195 w 195"/>
                <a:gd name="txB" fmla="*/ 96 h 96"/>
              </a:gdLst>
              <a:ahLst/>
              <a:cxnLst>
                <a:cxn ang="0">
                  <a:pos x="0" y="0"/>
                </a:cxn>
                <a:cxn ang="0">
                  <a:pos x="195" y="96"/>
                </a:cxn>
              </a:cxnLst>
              <a:rect l="txL" t="txT" r="txR" b="txB"/>
              <a:pathLst>
                <a:path w="195" h="96">
                  <a:moveTo>
                    <a:pt x="0" y="0"/>
                  </a:moveTo>
                  <a:lnTo>
                    <a:pt x="195" y="96"/>
                  </a:lnTo>
                </a:path>
              </a:pathLst>
            </a:custGeom>
            <a:noFill/>
            <a:ln w="9525" cap="flat" cmpd="sng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4" name="Group 126"/>
          <p:cNvGrpSpPr/>
          <p:nvPr/>
        </p:nvGrpSpPr>
        <p:grpSpPr>
          <a:xfrm>
            <a:off x="3632200" y="4619625"/>
            <a:ext cx="3000375" cy="1019175"/>
            <a:chOff x="2773" y="2784"/>
            <a:chExt cx="1890" cy="642"/>
          </a:xfrm>
        </p:grpSpPr>
        <p:sp>
          <p:nvSpPr>
            <p:cNvPr id="59414" name="Line 127"/>
            <p:cNvSpPr/>
            <p:nvPr/>
          </p:nvSpPr>
          <p:spPr>
            <a:xfrm flipH="1">
              <a:off x="2965" y="2786"/>
              <a:ext cx="151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15" name="Line 128"/>
            <p:cNvSpPr/>
            <p:nvPr/>
          </p:nvSpPr>
          <p:spPr>
            <a:xfrm flipH="1">
              <a:off x="2965" y="3417"/>
              <a:ext cx="151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16" name="Line 129"/>
            <p:cNvSpPr/>
            <p:nvPr/>
          </p:nvSpPr>
          <p:spPr>
            <a:xfrm>
              <a:off x="2965" y="2786"/>
              <a:ext cx="0" cy="63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17" name="Line 130"/>
            <p:cNvSpPr/>
            <p:nvPr/>
          </p:nvSpPr>
          <p:spPr>
            <a:xfrm flipH="1">
              <a:off x="2773" y="3101"/>
              <a:ext cx="189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59418" name="Freeform 131"/>
            <p:cNvSpPr/>
            <p:nvPr/>
          </p:nvSpPr>
          <p:spPr>
            <a:xfrm>
              <a:off x="2894" y="2786"/>
              <a:ext cx="79" cy="80"/>
            </a:xfrm>
            <a:custGeom>
              <a:avLst/>
              <a:gdLst>
                <a:gd name="txL" fmla="*/ 0 w 79"/>
                <a:gd name="txT" fmla="*/ 0 h 80"/>
                <a:gd name="txR" fmla="*/ 79 w 79"/>
                <a:gd name="txB" fmla="*/ 80 h 80"/>
              </a:gdLst>
              <a:ahLst/>
              <a:cxnLst>
                <a:cxn ang="0">
                  <a:pos x="79" y="0"/>
                </a:cxn>
                <a:cxn ang="0">
                  <a:pos x="0" y="80"/>
                </a:cxn>
              </a:cxnLst>
              <a:rect l="txL" t="txT" r="txR" b="txB"/>
              <a:pathLst>
                <a:path w="79" h="80">
                  <a:moveTo>
                    <a:pt x="79" y="0"/>
                  </a:moveTo>
                  <a:lnTo>
                    <a:pt x="0" y="8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9419" name="Freeform 132"/>
            <p:cNvSpPr/>
            <p:nvPr/>
          </p:nvSpPr>
          <p:spPr>
            <a:xfrm>
              <a:off x="2895" y="2863"/>
              <a:ext cx="1" cy="497"/>
            </a:xfrm>
            <a:custGeom>
              <a:avLst/>
              <a:gdLst>
                <a:gd name="txL" fmla="*/ 0 w 1"/>
                <a:gd name="txT" fmla="*/ 0 h 681"/>
                <a:gd name="txR" fmla="*/ 1 w 1"/>
                <a:gd name="txB" fmla="*/ 681 h 681"/>
              </a:gdLst>
              <a:ahLst/>
              <a:cxnLst>
                <a:cxn ang="0">
                  <a:pos x="0" y="0"/>
                </a:cxn>
                <a:cxn ang="0">
                  <a:pos x="0" y="363"/>
                </a:cxn>
              </a:cxnLst>
              <a:rect l="txL" t="txT" r="txR" b="txB"/>
              <a:pathLst>
                <a:path w="1" h="681">
                  <a:moveTo>
                    <a:pt x="0" y="0"/>
                  </a:moveTo>
                  <a:lnTo>
                    <a:pt x="0" y="68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9420" name="Line 133"/>
            <p:cNvSpPr/>
            <p:nvPr/>
          </p:nvSpPr>
          <p:spPr>
            <a:xfrm>
              <a:off x="3876" y="2796"/>
              <a:ext cx="0" cy="6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21" name="Line 134"/>
            <p:cNvSpPr/>
            <p:nvPr/>
          </p:nvSpPr>
          <p:spPr>
            <a:xfrm flipH="1">
              <a:off x="2888" y="2856"/>
              <a:ext cx="98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22" name="Line 135"/>
            <p:cNvSpPr/>
            <p:nvPr/>
          </p:nvSpPr>
          <p:spPr>
            <a:xfrm flipH="1">
              <a:off x="2888" y="3346"/>
              <a:ext cx="97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23" name="Freeform 136"/>
            <p:cNvSpPr/>
            <p:nvPr/>
          </p:nvSpPr>
          <p:spPr>
            <a:xfrm>
              <a:off x="2903" y="3347"/>
              <a:ext cx="71" cy="71"/>
            </a:xfrm>
            <a:custGeom>
              <a:avLst/>
              <a:gdLst>
                <a:gd name="txL" fmla="*/ 0 w 71"/>
                <a:gd name="txT" fmla="*/ 0 h 71"/>
                <a:gd name="txR" fmla="*/ 71 w 71"/>
                <a:gd name="txB" fmla="*/ 71 h 71"/>
              </a:gdLst>
              <a:ahLst/>
              <a:cxnLst>
                <a:cxn ang="0">
                  <a:pos x="71" y="71"/>
                </a:cxn>
                <a:cxn ang="0">
                  <a:pos x="0" y="0"/>
                </a:cxn>
              </a:cxnLst>
              <a:rect l="txL" t="txT" r="txR" b="txB"/>
              <a:pathLst>
                <a:path w="71" h="71">
                  <a:moveTo>
                    <a:pt x="71" y="7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59424" name="Group 137"/>
            <p:cNvGrpSpPr/>
            <p:nvPr/>
          </p:nvGrpSpPr>
          <p:grpSpPr>
            <a:xfrm>
              <a:off x="4405" y="2784"/>
              <a:ext cx="131" cy="629"/>
              <a:chOff x="4419" y="2784"/>
              <a:chExt cx="131" cy="629"/>
            </a:xfrm>
          </p:grpSpPr>
          <p:sp>
            <p:nvSpPr>
              <p:cNvPr id="59425" name="Freeform 138"/>
              <p:cNvSpPr/>
              <p:nvPr/>
            </p:nvSpPr>
            <p:spPr>
              <a:xfrm>
                <a:off x="4419" y="2784"/>
                <a:ext cx="131" cy="629"/>
              </a:xfrm>
              <a:custGeom>
                <a:avLst/>
                <a:gdLst>
                  <a:gd name="txL" fmla="*/ 0 w 163"/>
                  <a:gd name="txT" fmla="*/ 0 h 855"/>
                  <a:gd name="txR" fmla="*/ 163 w 163"/>
                  <a:gd name="txB" fmla="*/ 855 h 855"/>
                </a:gdLst>
                <a:ahLst/>
                <a:cxnLst>
                  <a:cxn ang="0">
                    <a:pos x="55" y="0"/>
                  </a:cxn>
                  <a:cxn ang="0">
                    <a:pos x="85" y="54"/>
                  </a:cxn>
                  <a:cxn ang="0">
                    <a:pos x="98" y="102"/>
                  </a:cxn>
                  <a:cxn ang="0">
                    <a:pos x="98" y="157"/>
                  </a:cxn>
                  <a:cxn ang="0">
                    <a:pos x="57" y="234"/>
                  </a:cxn>
                  <a:cxn ang="0">
                    <a:pos x="28" y="285"/>
                  </a:cxn>
                  <a:cxn ang="0">
                    <a:pos x="7" y="345"/>
                  </a:cxn>
                  <a:cxn ang="0">
                    <a:pos x="2" y="400"/>
                  </a:cxn>
                  <a:cxn ang="0">
                    <a:pos x="7" y="438"/>
                  </a:cxn>
                  <a:cxn ang="0">
                    <a:pos x="44" y="462"/>
                  </a:cxn>
                  <a:cxn ang="0">
                    <a:pos x="81" y="435"/>
                  </a:cxn>
                  <a:cxn ang="0">
                    <a:pos x="98" y="376"/>
                  </a:cxn>
                  <a:cxn ang="0">
                    <a:pos x="94" y="334"/>
                  </a:cxn>
                  <a:cxn ang="0">
                    <a:pos x="85" y="289"/>
                  </a:cxn>
                  <a:cxn ang="0">
                    <a:pos x="61" y="241"/>
                  </a:cxn>
                </a:cxnLst>
                <a:rect l="txL" t="txT" r="txR" b="txB"/>
                <a:pathLst>
                  <a:path w="163" h="855">
                    <a:moveTo>
                      <a:pt x="84" y="0"/>
                    </a:moveTo>
                    <a:cubicBezTo>
                      <a:pt x="92" y="16"/>
                      <a:pt x="121" y="68"/>
                      <a:pt x="132" y="99"/>
                    </a:cubicBezTo>
                    <a:cubicBezTo>
                      <a:pt x="143" y="130"/>
                      <a:pt x="149" y="157"/>
                      <a:pt x="152" y="189"/>
                    </a:cubicBezTo>
                    <a:cubicBezTo>
                      <a:pt x="155" y="221"/>
                      <a:pt x="163" y="251"/>
                      <a:pt x="152" y="291"/>
                    </a:cubicBezTo>
                    <a:cubicBezTo>
                      <a:pt x="141" y="331"/>
                      <a:pt x="106" y="393"/>
                      <a:pt x="88" y="432"/>
                    </a:cubicBezTo>
                    <a:cubicBezTo>
                      <a:pt x="70" y="471"/>
                      <a:pt x="56" y="494"/>
                      <a:pt x="43" y="528"/>
                    </a:cubicBezTo>
                    <a:cubicBezTo>
                      <a:pt x="30" y="562"/>
                      <a:pt x="17" y="602"/>
                      <a:pt x="11" y="637"/>
                    </a:cubicBezTo>
                    <a:cubicBezTo>
                      <a:pt x="5" y="672"/>
                      <a:pt x="4" y="710"/>
                      <a:pt x="4" y="739"/>
                    </a:cubicBezTo>
                    <a:cubicBezTo>
                      <a:pt x="4" y="768"/>
                      <a:pt x="0" y="790"/>
                      <a:pt x="11" y="809"/>
                    </a:cubicBezTo>
                    <a:cubicBezTo>
                      <a:pt x="22" y="828"/>
                      <a:pt x="49" y="855"/>
                      <a:pt x="68" y="854"/>
                    </a:cubicBezTo>
                    <a:cubicBezTo>
                      <a:pt x="87" y="853"/>
                      <a:pt x="112" y="830"/>
                      <a:pt x="126" y="803"/>
                    </a:cubicBezTo>
                    <a:cubicBezTo>
                      <a:pt x="140" y="776"/>
                      <a:pt x="149" y="725"/>
                      <a:pt x="152" y="694"/>
                    </a:cubicBezTo>
                    <a:cubicBezTo>
                      <a:pt x="155" y="663"/>
                      <a:pt x="148" y="644"/>
                      <a:pt x="145" y="617"/>
                    </a:cubicBezTo>
                    <a:cubicBezTo>
                      <a:pt x="142" y="590"/>
                      <a:pt x="140" y="563"/>
                      <a:pt x="132" y="534"/>
                    </a:cubicBezTo>
                    <a:cubicBezTo>
                      <a:pt x="124" y="505"/>
                      <a:pt x="102" y="464"/>
                      <a:pt x="94" y="445"/>
                    </a:cubicBez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9426" name="Line 139"/>
              <p:cNvSpPr/>
              <p:nvPr/>
            </p:nvSpPr>
            <p:spPr>
              <a:xfrm flipV="1">
                <a:off x="4448" y="3319"/>
                <a:ext cx="92" cy="84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27" name="Freeform 140"/>
              <p:cNvSpPr/>
              <p:nvPr/>
            </p:nvSpPr>
            <p:spPr>
              <a:xfrm>
                <a:off x="4421" y="3235"/>
                <a:ext cx="115" cy="118"/>
              </a:xfrm>
              <a:custGeom>
                <a:avLst/>
                <a:gdLst>
                  <a:gd name="txL" fmla="*/ 0 w 115"/>
                  <a:gd name="txT" fmla="*/ 0 h 118"/>
                  <a:gd name="txR" fmla="*/ 115 w 115"/>
                  <a:gd name="txB" fmla="*/ 118 h 118"/>
                </a:gdLst>
                <a:ahLst/>
                <a:cxnLst>
                  <a:cxn ang="0">
                    <a:pos x="0" y="118"/>
                  </a:cxn>
                  <a:cxn ang="0">
                    <a:pos x="115" y="0"/>
                  </a:cxn>
                </a:cxnLst>
                <a:rect l="txL" t="txT" r="txR" b="txB"/>
                <a:pathLst>
                  <a:path w="115" h="118">
                    <a:moveTo>
                      <a:pt x="0" y="118"/>
                    </a:moveTo>
                    <a:lnTo>
                      <a:pt x="115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9428" name="Freeform 141"/>
              <p:cNvSpPr/>
              <p:nvPr/>
            </p:nvSpPr>
            <p:spPr>
              <a:xfrm>
                <a:off x="4429" y="3164"/>
                <a:ext cx="91" cy="94"/>
              </a:xfrm>
              <a:custGeom>
                <a:avLst/>
                <a:gdLst>
                  <a:gd name="txL" fmla="*/ 0 w 91"/>
                  <a:gd name="txT" fmla="*/ 0 h 94"/>
                  <a:gd name="txR" fmla="*/ 91 w 91"/>
                  <a:gd name="txB" fmla="*/ 94 h 94"/>
                </a:gdLst>
                <a:ahLst/>
                <a:cxnLst>
                  <a:cxn ang="0">
                    <a:pos x="0" y="94"/>
                  </a:cxn>
                  <a:cxn ang="0">
                    <a:pos x="91" y="0"/>
                  </a:cxn>
                </a:cxnLst>
                <a:rect l="txL" t="txT" r="txR" b="txB"/>
                <a:pathLst>
                  <a:path w="91" h="94">
                    <a:moveTo>
                      <a:pt x="0" y="94"/>
                    </a:moveTo>
                    <a:lnTo>
                      <a:pt x="91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19950" name="Text Box 142"/>
          <p:cNvSpPr txBox="1"/>
          <p:nvPr/>
        </p:nvSpPr>
        <p:spPr>
          <a:xfrm>
            <a:off x="6673850" y="4075113"/>
            <a:ext cx="2484438" cy="1878012"/>
          </a:xfrm>
          <a:prstGeom prst="rect">
            <a:avLst/>
          </a:prstGeom>
          <a:noFill/>
          <a:ln w="12700">
            <a:noFill/>
          </a:ln>
        </p:spPr>
        <p:txBody>
          <a:bodyPr anchor="ctr">
            <a:spAutoFit/>
          </a:bodyPr>
          <a:lstStyle/>
          <a:p>
            <a:pPr eaLnBrk="0" hangingPunct="0"/>
            <a:r>
              <a:rPr lang="zh-CN" altLang="en-US" sz="32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 螺尾</a:t>
            </a:r>
            <a:endParaRPr lang="zh-CN" altLang="en-US" sz="32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eaLnBrk="0" hangingPunct="0"/>
            <a:r>
              <a:rPr lang="zh-CN" altLang="en-US" sz="2800" b="1" dirty="0">
                <a:latin typeface="Times New Roman" panose="02020603050405020304" pitchFamily="18" charset="0"/>
              </a:rPr>
              <a:t>只在有要求时才画，不需标注。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9233" name="Rectangle 17"/>
          <p:cNvSpPr/>
          <p:nvPr/>
        </p:nvSpPr>
        <p:spPr>
          <a:xfrm>
            <a:off x="263525" y="215900"/>
            <a:ext cx="373316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2</a:t>
            </a:r>
            <a:r>
              <a:rPr lang="zh-CN" altLang="en-US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、螺纹的规定画法</a:t>
            </a:r>
            <a:endParaRPr lang="zh-CN" altLang="en-US" sz="28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343051" name="组合 343050"/>
          <p:cNvGrpSpPr/>
          <p:nvPr/>
        </p:nvGrpSpPr>
        <p:grpSpPr>
          <a:xfrm>
            <a:off x="263525" y="70929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9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19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9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19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10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2" grpId="0"/>
      <p:bldP spid="119860" grpId="0"/>
      <p:bldP spid="119861" grpId="0"/>
      <p:bldP spid="119950" grpId="0"/>
      <p:bldP spid="923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2" name="Rectangle 22"/>
          <p:cNvSpPr/>
          <p:nvPr/>
        </p:nvSpPr>
        <p:spPr>
          <a:xfrm>
            <a:off x="2655888" y="6370956"/>
            <a:ext cx="4178300" cy="39878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螺纹的连接画法</a:t>
            </a:r>
            <a:endParaRPr lang="en-US" altLang="zh-CN" sz="20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25959" name="Text Box 7"/>
          <p:cNvSpPr txBox="1"/>
          <p:nvPr/>
        </p:nvSpPr>
        <p:spPr>
          <a:xfrm>
            <a:off x="6724650" y="1192213"/>
            <a:ext cx="950913" cy="457200"/>
          </a:xfrm>
          <a:prstGeom prst="rect">
            <a:avLst/>
          </a:prstGeom>
          <a:noFill/>
          <a:ln w="12700">
            <a:noFill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</a:rPr>
              <a:t>－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2001838" y="1609725"/>
            <a:ext cx="3519487" cy="1909763"/>
            <a:chOff x="1261" y="1207"/>
            <a:chExt cx="2217" cy="1203"/>
          </a:xfrm>
        </p:grpSpPr>
        <p:sp>
          <p:nvSpPr>
            <p:cNvPr id="60509" name="Freeform 9"/>
            <p:cNvSpPr/>
            <p:nvPr/>
          </p:nvSpPr>
          <p:spPr>
            <a:xfrm>
              <a:off x="1367" y="1216"/>
              <a:ext cx="306" cy="297"/>
            </a:xfrm>
            <a:custGeom>
              <a:avLst/>
              <a:gdLst>
                <a:gd name="txL" fmla="*/ 0 w 306"/>
                <a:gd name="txT" fmla="*/ 0 h 297"/>
                <a:gd name="txR" fmla="*/ 306 w 306"/>
                <a:gd name="txB" fmla="*/ 297 h 297"/>
              </a:gdLst>
              <a:ahLst/>
              <a:cxnLst>
                <a:cxn ang="0">
                  <a:pos x="0" y="297"/>
                </a:cxn>
                <a:cxn ang="0">
                  <a:pos x="306" y="0"/>
                </a:cxn>
              </a:cxnLst>
              <a:rect l="txL" t="txT" r="txR" b="txB"/>
              <a:pathLst>
                <a:path w="306" h="297">
                  <a:moveTo>
                    <a:pt x="0" y="297"/>
                  </a:moveTo>
                  <a:lnTo>
                    <a:pt x="306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10" name="Rectangle 10"/>
            <p:cNvSpPr/>
            <p:nvPr/>
          </p:nvSpPr>
          <p:spPr>
            <a:xfrm>
              <a:off x="1378" y="1213"/>
              <a:ext cx="2031" cy="1196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11" name="Freeform 11"/>
            <p:cNvSpPr/>
            <p:nvPr/>
          </p:nvSpPr>
          <p:spPr>
            <a:xfrm>
              <a:off x="1376" y="1510"/>
              <a:ext cx="1757" cy="0"/>
            </a:xfrm>
            <a:custGeom>
              <a:avLst/>
              <a:gdLst>
                <a:gd name="txL" fmla="*/ 0 w 2242"/>
                <a:gd name="txT" fmla="*/ 0 h 1"/>
                <a:gd name="txR" fmla="*/ 2242 w 2242"/>
                <a:gd name="txB" fmla="*/ 0 h 1"/>
              </a:gdLst>
              <a:ahLst/>
              <a:cxnLst>
                <a:cxn ang="0">
                  <a:pos x="1377" y="0"/>
                </a:cxn>
                <a:cxn ang="0">
                  <a:pos x="0" y="0"/>
                </a:cxn>
              </a:cxnLst>
              <a:rect l="txL" t="txT" r="txR" b="txB"/>
              <a:pathLst>
                <a:path w="2242" h="1">
                  <a:moveTo>
                    <a:pt x="2242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12" name="Freeform 12"/>
            <p:cNvSpPr/>
            <p:nvPr/>
          </p:nvSpPr>
          <p:spPr>
            <a:xfrm>
              <a:off x="1376" y="2188"/>
              <a:ext cx="1514" cy="1"/>
            </a:xfrm>
            <a:custGeom>
              <a:avLst/>
              <a:gdLst>
                <a:gd name="txL" fmla="*/ 0 w 1932"/>
                <a:gd name="txT" fmla="*/ 0 h 1"/>
                <a:gd name="txR" fmla="*/ 1932 w 1932"/>
                <a:gd name="txB" fmla="*/ 1 h 1"/>
              </a:gdLst>
              <a:ahLst/>
              <a:cxnLst>
                <a:cxn ang="0">
                  <a:pos x="1186" y="0"/>
                </a:cxn>
                <a:cxn ang="0">
                  <a:pos x="0" y="0"/>
                </a:cxn>
              </a:cxnLst>
              <a:rect l="txL" t="txT" r="txR" b="txB"/>
              <a:pathLst>
                <a:path w="1932" h="1">
                  <a:moveTo>
                    <a:pt x="1932" y="0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13" name="Freeform 13"/>
            <p:cNvSpPr/>
            <p:nvPr/>
          </p:nvSpPr>
          <p:spPr>
            <a:xfrm>
              <a:off x="1261" y="1820"/>
              <a:ext cx="2217" cy="5"/>
            </a:xfrm>
            <a:custGeom>
              <a:avLst/>
              <a:gdLst>
                <a:gd name="txL" fmla="*/ 0 w 2829"/>
                <a:gd name="txT" fmla="*/ 0 h 6"/>
                <a:gd name="txR" fmla="*/ 2829 w 2829"/>
                <a:gd name="txB" fmla="*/ 6 h 6"/>
              </a:gdLst>
              <a:ahLst/>
              <a:cxnLst>
                <a:cxn ang="0">
                  <a:pos x="1737" y="4"/>
                </a:cxn>
                <a:cxn ang="0">
                  <a:pos x="0" y="0"/>
                </a:cxn>
              </a:cxnLst>
              <a:rect l="txL" t="txT" r="txR" b="txB"/>
              <a:pathLst>
                <a:path w="2829" h="6">
                  <a:moveTo>
                    <a:pt x="2829" y="6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14" name="Freeform 14"/>
            <p:cNvSpPr/>
            <p:nvPr/>
          </p:nvSpPr>
          <p:spPr>
            <a:xfrm>
              <a:off x="1370" y="2118"/>
              <a:ext cx="1761" cy="1"/>
            </a:xfrm>
            <a:custGeom>
              <a:avLst/>
              <a:gdLst>
                <a:gd name="txL" fmla="*/ 0 w 2247"/>
                <a:gd name="txT" fmla="*/ 0 h 1"/>
                <a:gd name="txR" fmla="*/ 2247 w 2247"/>
                <a:gd name="txB" fmla="*/ 1 h 1"/>
              </a:gdLst>
              <a:ahLst/>
              <a:cxnLst>
                <a:cxn ang="0">
                  <a:pos x="1380" y="0"/>
                </a:cxn>
                <a:cxn ang="0">
                  <a:pos x="0" y="0"/>
                </a:cxn>
              </a:cxnLst>
              <a:rect l="txL" t="txT" r="txR" b="txB"/>
              <a:pathLst>
                <a:path w="2247" h="1">
                  <a:moveTo>
                    <a:pt x="2247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15" name="Freeform 15"/>
            <p:cNvSpPr/>
            <p:nvPr/>
          </p:nvSpPr>
          <p:spPr>
            <a:xfrm>
              <a:off x="1376" y="1440"/>
              <a:ext cx="1505" cy="0"/>
            </a:xfrm>
            <a:custGeom>
              <a:avLst/>
              <a:gdLst>
                <a:gd name="txL" fmla="*/ 0 w 1920"/>
                <a:gd name="txT" fmla="*/ 0 h 1"/>
                <a:gd name="txR" fmla="*/ 1920 w 1920"/>
                <a:gd name="txB" fmla="*/ 0 h 1"/>
              </a:gdLst>
              <a:ahLst/>
              <a:cxnLst>
                <a:cxn ang="0">
                  <a:pos x="1180" y="0"/>
                </a:cxn>
                <a:cxn ang="0">
                  <a:pos x="0" y="0"/>
                </a:cxn>
              </a:cxnLst>
              <a:rect l="txL" t="txT" r="txR" b="txB"/>
              <a:pathLst>
                <a:path w="1920" h="1">
                  <a:moveTo>
                    <a:pt x="1920" y="0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16" name="Freeform 16"/>
            <p:cNvSpPr/>
            <p:nvPr/>
          </p:nvSpPr>
          <p:spPr>
            <a:xfrm>
              <a:off x="2881" y="1437"/>
              <a:ext cx="2" cy="751"/>
            </a:xfrm>
            <a:custGeom>
              <a:avLst/>
              <a:gdLst>
                <a:gd name="txL" fmla="*/ 0 w 3"/>
                <a:gd name="txT" fmla="*/ 0 h 964"/>
                <a:gd name="txR" fmla="*/ 3 w 3"/>
                <a:gd name="txB" fmla="*/ 964 h 964"/>
              </a:gdLst>
              <a:ahLst/>
              <a:cxnLst>
                <a:cxn ang="0">
                  <a:pos x="1" y="0"/>
                </a:cxn>
                <a:cxn ang="0">
                  <a:pos x="0" y="585"/>
                </a:cxn>
              </a:cxnLst>
              <a:rect l="txL" t="txT" r="txR" b="txB"/>
              <a:pathLst>
                <a:path w="3" h="964">
                  <a:moveTo>
                    <a:pt x="3" y="0"/>
                  </a:moveTo>
                  <a:lnTo>
                    <a:pt x="0" y="96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17" name="Freeform 17"/>
            <p:cNvSpPr/>
            <p:nvPr/>
          </p:nvSpPr>
          <p:spPr>
            <a:xfrm>
              <a:off x="3130" y="1512"/>
              <a:ext cx="160" cy="313"/>
            </a:xfrm>
            <a:custGeom>
              <a:avLst/>
              <a:gdLst>
                <a:gd name="txL" fmla="*/ 0 w 204"/>
                <a:gd name="txT" fmla="*/ 0 h 402"/>
                <a:gd name="txR" fmla="*/ 204 w 204"/>
                <a:gd name="txB" fmla="*/ 402 h 402"/>
              </a:gdLst>
              <a:ahLst/>
              <a:cxnLst>
                <a:cxn ang="0">
                  <a:pos x="0" y="0"/>
                </a:cxn>
                <a:cxn ang="0">
                  <a:pos x="125" y="244"/>
                </a:cxn>
              </a:cxnLst>
              <a:rect l="txL" t="txT" r="txR" b="txB"/>
              <a:pathLst>
                <a:path w="204" h="402">
                  <a:moveTo>
                    <a:pt x="0" y="0"/>
                  </a:moveTo>
                  <a:lnTo>
                    <a:pt x="204" y="40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18" name="Freeform 18"/>
            <p:cNvSpPr/>
            <p:nvPr/>
          </p:nvSpPr>
          <p:spPr>
            <a:xfrm>
              <a:off x="3130" y="1813"/>
              <a:ext cx="160" cy="297"/>
            </a:xfrm>
            <a:custGeom>
              <a:avLst/>
              <a:gdLst>
                <a:gd name="txL" fmla="*/ 0 w 204"/>
                <a:gd name="txT" fmla="*/ 0 h 381"/>
                <a:gd name="txR" fmla="*/ 204 w 204"/>
                <a:gd name="txB" fmla="*/ 381 h 381"/>
              </a:gdLst>
              <a:ahLst/>
              <a:cxnLst>
                <a:cxn ang="0">
                  <a:pos x="0" y="232"/>
                </a:cxn>
                <a:cxn ang="0">
                  <a:pos x="125" y="0"/>
                </a:cxn>
              </a:cxnLst>
              <a:rect l="txL" t="txT" r="txR" b="txB"/>
              <a:pathLst>
                <a:path w="204" h="381">
                  <a:moveTo>
                    <a:pt x="0" y="381"/>
                  </a:moveTo>
                  <a:lnTo>
                    <a:pt x="204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19" name="Freeform 19"/>
            <p:cNvSpPr/>
            <p:nvPr/>
          </p:nvSpPr>
          <p:spPr>
            <a:xfrm>
              <a:off x="3127" y="1510"/>
              <a:ext cx="1" cy="614"/>
            </a:xfrm>
            <a:custGeom>
              <a:avLst/>
              <a:gdLst>
                <a:gd name="txL" fmla="*/ 0 w 1"/>
                <a:gd name="txT" fmla="*/ 0 h 614"/>
                <a:gd name="txR" fmla="*/ 1 w 1"/>
                <a:gd name="txB" fmla="*/ 614 h 614"/>
              </a:gdLst>
              <a:ahLst/>
              <a:cxnLst>
                <a:cxn ang="0">
                  <a:pos x="1" y="0"/>
                </a:cxn>
                <a:cxn ang="0">
                  <a:pos x="0" y="614"/>
                </a:cxn>
              </a:cxnLst>
              <a:rect l="txL" t="txT" r="txR" b="txB"/>
              <a:pathLst>
                <a:path w="1" h="614">
                  <a:moveTo>
                    <a:pt x="1" y="0"/>
                  </a:moveTo>
                  <a:lnTo>
                    <a:pt x="0" y="61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20" name="Freeform 20"/>
            <p:cNvSpPr/>
            <p:nvPr/>
          </p:nvSpPr>
          <p:spPr>
            <a:xfrm>
              <a:off x="1513" y="1207"/>
              <a:ext cx="312" cy="306"/>
            </a:xfrm>
            <a:custGeom>
              <a:avLst/>
              <a:gdLst>
                <a:gd name="txL" fmla="*/ 0 w 312"/>
                <a:gd name="txT" fmla="*/ 0 h 306"/>
                <a:gd name="txR" fmla="*/ 312 w 312"/>
                <a:gd name="txB" fmla="*/ 306 h 306"/>
              </a:gdLst>
              <a:ahLst/>
              <a:cxnLst>
                <a:cxn ang="0">
                  <a:pos x="0" y="306"/>
                </a:cxn>
                <a:cxn ang="0">
                  <a:pos x="312" y="0"/>
                </a:cxn>
              </a:cxnLst>
              <a:rect l="txL" t="txT" r="txR" b="txB"/>
              <a:pathLst>
                <a:path w="312" h="306">
                  <a:moveTo>
                    <a:pt x="0" y="306"/>
                  </a:moveTo>
                  <a:lnTo>
                    <a:pt x="312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21" name="Freeform 21"/>
            <p:cNvSpPr/>
            <p:nvPr/>
          </p:nvSpPr>
          <p:spPr>
            <a:xfrm>
              <a:off x="1672" y="1215"/>
              <a:ext cx="299" cy="298"/>
            </a:xfrm>
            <a:custGeom>
              <a:avLst/>
              <a:gdLst>
                <a:gd name="txL" fmla="*/ 0 w 299"/>
                <a:gd name="txT" fmla="*/ 0 h 298"/>
                <a:gd name="txR" fmla="*/ 299 w 299"/>
                <a:gd name="txB" fmla="*/ 298 h 298"/>
              </a:gdLst>
              <a:ahLst/>
              <a:cxnLst>
                <a:cxn ang="0">
                  <a:pos x="0" y="298"/>
                </a:cxn>
                <a:cxn ang="0">
                  <a:pos x="299" y="0"/>
                </a:cxn>
              </a:cxnLst>
              <a:rect l="txL" t="txT" r="txR" b="txB"/>
              <a:pathLst>
                <a:path w="299" h="298">
                  <a:moveTo>
                    <a:pt x="0" y="298"/>
                  </a:moveTo>
                  <a:lnTo>
                    <a:pt x="299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22" name="Line 22"/>
            <p:cNvSpPr/>
            <p:nvPr/>
          </p:nvSpPr>
          <p:spPr>
            <a:xfrm flipV="1">
              <a:off x="1823" y="1213"/>
              <a:ext cx="301" cy="29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23" name="Freeform 23"/>
            <p:cNvSpPr/>
            <p:nvPr/>
          </p:nvSpPr>
          <p:spPr>
            <a:xfrm>
              <a:off x="1978" y="1214"/>
              <a:ext cx="296" cy="299"/>
            </a:xfrm>
            <a:custGeom>
              <a:avLst/>
              <a:gdLst>
                <a:gd name="txL" fmla="*/ 0 w 296"/>
                <a:gd name="txT" fmla="*/ 0 h 299"/>
                <a:gd name="txR" fmla="*/ 296 w 296"/>
                <a:gd name="txB" fmla="*/ 299 h 299"/>
              </a:gdLst>
              <a:ahLst/>
              <a:cxnLst>
                <a:cxn ang="0">
                  <a:pos x="0" y="299"/>
                </a:cxn>
                <a:cxn ang="0">
                  <a:pos x="296" y="0"/>
                </a:cxn>
              </a:cxnLst>
              <a:rect l="txL" t="txT" r="txR" b="txB"/>
              <a:pathLst>
                <a:path w="296" h="299">
                  <a:moveTo>
                    <a:pt x="0" y="299"/>
                  </a:moveTo>
                  <a:lnTo>
                    <a:pt x="296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24" name="Freeform 24"/>
            <p:cNvSpPr/>
            <p:nvPr/>
          </p:nvSpPr>
          <p:spPr>
            <a:xfrm>
              <a:off x="2123" y="1215"/>
              <a:ext cx="306" cy="298"/>
            </a:xfrm>
            <a:custGeom>
              <a:avLst/>
              <a:gdLst>
                <a:gd name="txL" fmla="*/ 0 w 306"/>
                <a:gd name="txT" fmla="*/ 0 h 298"/>
                <a:gd name="txR" fmla="*/ 306 w 306"/>
                <a:gd name="txB" fmla="*/ 298 h 298"/>
              </a:gdLst>
              <a:ahLst/>
              <a:cxnLst>
                <a:cxn ang="0">
                  <a:pos x="0" y="298"/>
                </a:cxn>
                <a:cxn ang="0">
                  <a:pos x="306" y="0"/>
                </a:cxn>
              </a:cxnLst>
              <a:rect l="txL" t="txT" r="txR" b="txB"/>
              <a:pathLst>
                <a:path w="306" h="298">
                  <a:moveTo>
                    <a:pt x="0" y="298"/>
                  </a:moveTo>
                  <a:lnTo>
                    <a:pt x="306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25" name="Line 25"/>
            <p:cNvSpPr/>
            <p:nvPr/>
          </p:nvSpPr>
          <p:spPr>
            <a:xfrm flipV="1">
              <a:off x="2274" y="1213"/>
              <a:ext cx="301" cy="29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26" name="Freeform 26"/>
            <p:cNvSpPr/>
            <p:nvPr/>
          </p:nvSpPr>
          <p:spPr>
            <a:xfrm>
              <a:off x="2422" y="1214"/>
              <a:ext cx="304" cy="299"/>
            </a:xfrm>
            <a:custGeom>
              <a:avLst/>
              <a:gdLst>
                <a:gd name="txL" fmla="*/ 0 w 304"/>
                <a:gd name="txT" fmla="*/ 0 h 299"/>
                <a:gd name="txR" fmla="*/ 304 w 304"/>
                <a:gd name="txB" fmla="*/ 299 h 299"/>
              </a:gdLst>
              <a:ahLst/>
              <a:cxnLst>
                <a:cxn ang="0">
                  <a:pos x="0" y="299"/>
                </a:cxn>
                <a:cxn ang="0">
                  <a:pos x="304" y="0"/>
                </a:cxn>
              </a:cxnLst>
              <a:rect l="txL" t="txT" r="txR" b="txB"/>
              <a:pathLst>
                <a:path w="304" h="299">
                  <a:moveTo>
                    <a:pt x="0" y="299"/>
                  </a:moveTo>
                  <a:lnTo>
                    <a:pt x="304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27" name="Freeform 27"/>
            <p:cNvSpPr/>
            <p:nvPr/>
          </p:nvSpPr>
          <p:spPr>
            <a:xfrm>
              <a:off x="2575" y="1207"/>
              <a:ext cx="312" cy="306"/>
            </a:xfrm>
            <a:custGeom>
              <a:avLst/>
              <a:gdLst>
                <a:gd name="txL" fmla="*/ 0 w 312"/>
                <a:gd name="txT" fmla="*/ 0 h 306"/>
                <a:gd name="txR" fmla="*/ 312 w 312"/>
                <a:gd name="txB" fmla="*/ 306 h 306"/>
              </a:gdLst>
              <a:ahLst/>
              <a:cxnLst>
                <a:cxn ang="0">
                  <a:pos x="0" y="306"/>
                </a:cxn>
                <a:cxn ang="0">
                  <a:pos x="312" y="0"/>
                </a:cxn>
              </a:cxnLst>
              <a:rect l="txL" t="txT" r="txR" b="txB"/>
              <a:pathLst>
                <a:path w="312" h="306">
                  <a:moveTo>
                    <a:pt x="0" y="306"/>
                  </a:moveTo>
                  <a:lnTo>
                    <a:pt x="312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28" name="Line 28"/>
            <p:cNvSpPr/>
            <p:nvPr/>
          </p:nvSpPr>
          <p:spPr>
            <a:xfrm flipV="1">
              <a:off x="2726" y="1213"/>
              <a:ext cx="301" cy="29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29" name="Freeform 29"/>
            <p:cNvSpPr/>
            <p:nvPr/>
          </p:nvSpPr>
          <p:spPr>
            <a:xfrm>
              <a:off x="2880" y="1214"/>
              <a:ext cx="297" cy="299"/>
            </a:xfrm>
            <a:custGeom>
              <a:avLst/>
              <a:gdLst>
                <a:gd name="txL" fmla="*/ 0 w 297"/>
                <a:gd name="txT" fmla="*/ 0 h 299"/>
                <a:gd name="txR" fmla="*/ 297 w 297"/>
                <a:gd name="txB" fmla="*/ 299 h 299"/>
              </a:gdLst>
              <a:ahLst/>
              <a:cxnLst>
                <a:cxn ang="0">
                  <a:pos x="0" y="299"/>
                </a:cxn>
                <a:cxn ang="0">
                  <a:pos x="297" y="0"/>
                </a:cxn>
              </a:cxnLst>
              <a:rect l="txL" t="txT" r="txR" b="txB"/>
              <a:pathLst>
                <a:path w="297" h="299">
                  <a:moveTo>
                    <a:pt x="0" y="299"/>
                  </a:moveTo>
                  <a:lnTo>
                    <a:pt x="297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30" name="Freeform 30"/>
            <p:cNvSpPr/>
            <p:nvPr/>
          </p:nvSpPr>
          <p:spPr>
            <a:xfrm>
              <a:off x="3025" y="1215"/>
              <a:ext cx="306" cy="298"/>
            </a:xfrm>
            <a:custGeom>
              <a:avLst/>
              <a:gdLst>
                <a:gd name="txL" fmla="*/ 0 w 306"/>
                <a:gd name="txT" fmla="*/ 0 h 298"/>
                <a:gd name="txR" fmla="*/ 306 w 306"/>
                <a:gd name="txB" fmla="*/ 298 h 298"/>
              </a:gdLst>
              <a:ahLst/>
              <a:cxnLst>
                <a:cxn ang="0">
                  <a:pos x="0" y="298"/>
                </a:cxn>
                <a:cxn ang="0">
                  <a:pos x="306" y="0"/>
                </a:cxn>
              </a:cxnLst>
              <a:rect l="txL" t="txT" r="txR" b="txB"/>
              <a:pathLst>
                <a:path w="306" h="298">
                  <a:moveTo>
                    <a:pt x="0" y="298"/>
                  </a:moveTo>
                  <a:lnTo>
                    <a:pt x="306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31" name="Freeform 31"/>
            <p:cNvSpPr/>
            <p:nvPr/>
          </p:nvSpPr>
          <p:spPr>
            <a:xfrm>
              <a:off x="3152" y="1288"/>
              <a:ext cx="258" cy="257"/>
            </a:xfrm>
            <a:custGeom>
              <a:avLst/>
              <a:gdLst>
                <a:gd name="txL" fmla="*/ 0 w 330"/>
                <a:gd name="txT" fmla="*/ 0 h 330"/>
                <a:gd name="txR" fmla="*/ 330 w 330"/>
                <a:gd name="txB" fmla="*/ 330 h 330"/>
              </a:gdLst>
              <a:ahLst/>
              <a:cxnLst>
                <a:cxn ang="0">
                  <a:pos x="0" y="200"/>
                </a:cxn>
                <a:cxn ang="0">
                  <a:pos x="202" y="0"/>
                </a:cxn>
              </a:cxnLst>
              <a:rect l="txL" t="txT" r="txR" b="txB"/>
              <a:pathLst>
                <a:path w="330" h="330">
                  <a:moveTo>
                    <a:pt x="0" y="330"/>
                  </a:moveTo>
                  <a:lnTo>
                    <a:pt x="33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32" name="Line 32"/>
            <p:cNvSpPr/>
            <p:nvPr/>
          </p:nvSpPr>
          <p:spPr>
            <a:xfrm flipV="1">
              <a:off x="1371" y="2110"/>
              <a:ext cx="301" cy="29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33" name="Line 33"/>
            <p:cNvSpPr/>
            <p:nvPr/>
          </p:nvSpPr>
          <p:spPr>
            <a:xfrm flipV="1">
              <a:off x="1522" y="2110"/>
              <a:ext cx="301" cy="29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34" name="Line 34"/>
            <p:cNvSpPr/>
            <p:nvPr/>
          </p:nvSpPr>
          <p:spPr>
            <a:xfrm flipV="1">
              <a:off x="1672" y="2110"/>
              <a:ext cx="301" cy="29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35" name="Freeform 35"/>
            <p:cNvSpPr/>
            <p:nvPr/>
          </p:nvSpPr>
          <p:spPr>
            <a:xfrm>
              <a:off x="1823" y="2117"/>
              <a:ext cx="300" cy="293"/>
            </a:xfrm>
            <a:custGeom>
              <a:avLst/>
              <a:gdLst>
                <a:gd name="txL" fmla="*/ 0 w 300"/>
                <a:gd name="txT" fmla="*/ 0 h 293"/>
                <a:gd name="txR" fmla="*/ 300 w 300"/>
                <a:gd name="txB" fmla="*/ 293 h 293"/>
              </a:gdLst>
              <a:ahLst/>
              <a:cxnLst>
                <a:cxn ang="0">
                  <a:pos x="0" y="293"/>
                </a:cxn>
                <a:cxn ang="0">
                  <a:pos x="300" y="0"/>
                </a:cxn>
              </a:cxnLst>
              <a:rect l="txL" t="txT" r="txR" b="txB"/>
              <a:pathLst>
                <a:path w="300" h="293">
                  <a:moveTo>
                    <a:pt x="0" y="293"/>
                  </a:moveTo>
                  <a:lnTo>
                    <a:pt x="30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36" name="Line 36"/>
            <p:cNvSpPr/>
            <p:nvPr/>
          </p:nvSpPr>
          <p:spPr>
            <a:xfrm flipV="1">
              <a:off x="1973" y="2110"/>
              <a:ext cx="301" cy="29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37" name="Line 37"/>
            <p:cNvSpPr/>
            <p:nvPr/>
          </p:nvSpPr>
          <p:spPr>
            <a:xfrm flipV="1">
              <a:off x="2124" y="2110"/>
              <a:ext cx="301" cy="29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38" name="Freeform 38"/>
            <p:cNvSpPr/>
            <p:nvPr/>
          </p:nvSpPr>
          <p:spPr>
            <a:xfrm>
              <a:off x="2274" y="2117"/>
              <a:ext cx="300" cy="293"/>
            </a:xfrm>
            <a:custGeom>
              <a:avLst/>
              <a:gdLst>
                <a:gd name="txL" fmla="*/ 0 w 300"/>
                <a:gd name="txT" fmla="*/ 0 h 293"/>
                <a:gd name="txR" fmla="*/ 300 w 300"/>
                <a:gd name="txB" fmla="*/ 293 h 293"/>
              </a:gdLst>
              <a:ahLst/>
              <a:cxnLst>
                <a:cxn ang="0">
                  <a:pos x="0" y="293"/>
                </a:cxn>
                <a:cxn ang="0">
                  <a:pos x="300" y="0"/>
                </a:cxn>
              </a:cxnLst>
              <a:rect l="txL" t="txT" r="txR" b="txB"/>
              <a:pathLst>
                <a:path w="300" h="293">
                  <a:moveTo>
                    <a:pt x="0" y="293"/>
                  </a:moveTo>
                  <a:lnTo>
                    <a:pt x="30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39" name="Line 39"/>
            <p:cNvSpPr/>
            <p:nvPr/>
          </p:nvSpPr>
          <p:spPr>
            <a:xfrm flipV="1">
              <a:off x="2425" y="2110"/>
              <a:ext cx="301" cy="29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40" name="Line 40"/>
            <p:cNvSpPr/>
            <p:nvPr/>
          </p:nvSpPr>
          <p:spPr>
            <a:xfrm flipV="1">
              <a:off x="2575" y="2110"/>
              <a:ext cx="301" cy="29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41" name="Freeform 41"/>
            <p:cNvSpPr/>
            <p:nvPr/>
          </p:nvSpPr>
          <p:spPr>
            <a:xfrm>
              <a:off x="2726" y="2117"/>
              <a:ext cx="299" cy="293"/>
            </a:xfrm>
            <a:custGeom>
              <a:avLst/>
              <a:gdLst>
                <a:gd name="txL" fmla="*/ 0 w 299"/>
                <a:gd name="txT" fmla="*/ 0 h 293"/>
                <a:gd name="txR" fmla="*/ 299 w 299"/>
                <a:gd name="txB" fmla="*/ 293 h 293"/>
              </a:gdLst>
              <a:ahLst/>
              <a:cxnLst>
                <a:cxn ang="0">
                  <a:pos x="0" y="293"/>
                </a:cxn>
                <a:cxn ang="0">
                  <a:pos x="299" y="0"/>
                </a:cxn>
              </a:cxnLst>
              <a:rect l="txL" t="txT" r="txR" b="txB"/>
              <a:pathLst>
                <a:path w="299" h="293">
                  <a:moveTo>
                    <a:pt x="0" y="293"/>
                  </a:moveTo>
                  <a:lnTo>
                    <a:pt x="299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42" name="Freeform 42"/>
            <p:cNvSpPr/>
            <p:nvPr/>
          </p:nvSpPr>
          <p:spPr>
            <a:xfrm>
              <a:off x="2881" y="1872"/>
              <a:ext cx="541" cy="538"/>
            </a:xfrm>
            <a:custGeom>
              <a:avLst/>
              <a:gdLst>
                <a:gd name="txL" fmla="*/ 0 w 690"/>
                <a:gd name="txT" fmla="*/ 0 h 691"/>
                <a:gd name="txR" fmla="*/ 690 w 690"/>
                <a:gd name="txB" fmla="*/ 691 h 691"/>
              </a:gdLst>
              <a:ahLst/>
              <a:cxnLst>
                <a:cxn ang="0">
                  <a:pos x="0" y="419"/>
                </a:cxn>
                <a:cxn ang="0">
                  <a:pos x="424" y="0"/>
                </a:cxn>
              </a:cxnLst>
              <a:rect l="txL" t="txT" r="txR" b="txB"/>
              <a:pathLst>
                <a:path w="690" h="691">
                  <a:moveTo>
                    <a:pt x="0" y="691"/>
                  </a:moveTo>
                  <a:lnTo>
                    <a:pt x="69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43" name="Line 43"/>
            <p:cNvSpPr/>
            <p:nvPr/>
          </p:nvSpPr>
          <p:spPr>
            <a:xfrm flipV="1">
              <a:off x="3027" y="2035"/>
              <a:ext cx="376" cy="37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44" name="Freeform 44"/>
            <p:cNvSpPr/>
            <p:nvPr/>
          </p:nvSpPr>
          <p:spPr>
            <a:xfrm>
              <a:off x="3177" y="2182"/>
              <a:ext cx="234" cy="227"/>
            </a:xfrm>
            <a:custGeom>
              <a:avLst/>
              <a:gdLst>
                <a:gd name="txL" fmla="*/ 0 w 234"/>
                <a:gd name="txT" fmla="*/ 0 h 227"/>
                <a:gd name="txR" fmla="*/ 234 w 234"/>
                <a:gd name="txB" fmla="*/ 227 h 227"/>
              </a:gdLst>
              <a:ahLst/>
              <a:cxnLst>
                <a:cxn ang="0">
                  <a:pos x="0" y="227"/>
                </a:cxn>
                <a:cxn ang="0">
                  <a:pos x="234" y="0"/>
                </a:cxn>
              </a:cxnLst>
              <a:rect l="txL" t="txT" r="txR" b="txB"/>
              <a:pathLst>
                <a:path w="234" h="227">
                  <a:moveTo>
                    <a:pt x="0" y="227"/>
                  </a:moveTo>
                  <a:lnTo>
                    <a:pt x="234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45" name="Line 45"/>
            <p:cNvSpPr/>
            <p:nvPr/>
          </p:nvSpPr>
          <p:spPr>
            <a:xfrm flipV="1">
              <a:off x="3328" y="2334"/>
              <a:ext cx="75" cy="7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46" name="Line 46"/>
            <p:cNvSpPr/>
            <p:nvPr/>
          </p:nvSpPr>
          <p:spPr>
            <a:xfrm flipH="1">
              <a:off x="3253" y="1736"/>
              <a:ext cx="150" cy="15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47" name="Freeform 47"/>
            <p:cNvSpPr/>
            <p:nvPr/>
          </p:nvSpPr>
          <p:spPr>
            <a:xfrm>
              <a:off x="3246" y="1591"/>
              <a:ext cx="164" cy="164"/>
            </a:xfrm>
            <a:custGeom>
              <a:avLst/>
              <a:gdLst>
                <a:gd name="txL" fmla="*/ 0 w 210"/>
                <a:gd name="txT" fmla="*/ 0 h 210"/>
                <a:gd name="txR" fmla="*/ 210 w 210"/>
                <a:gd name="txB" fmla="*/ 210 h 210"/>
              </a:gdLst>
              <a:ahLst/>
              <a:cxnLst>
                <a:cxn ang="0">
                  <a:pos x="128" y="0"/>
                </a:cxn>
                <a:cxn ang="0">
                  <a:pos x="0" y="128"/>
                </a:cxn>
              </a:cxnLst>
              <a:rect l="txL" t="txT" r="txR" b="txB"/>
              <a:pathLst>
                <a:path w="210" h="210">
                  <a:moveTo>
                    <a:pt x="210" y="0"/>
                  </a:moveTo>
                  <a:lnTo>
                    <a:pt x="0" y="21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48" name="Freeform 48"/>
            <p:cNvSpPr/>
            <p:nvPr/>
          </p:nvSpPr>
          <p:spPr>
            <a:xfrm>
              <a:off x="3199" y="1440"/>
              <a:ext cx="211" cy="210"/>
            </a:xfrm>
            <a:custGeom>
              <a:avLst/>
              <a:gdLst>
                <a:gd name="txL" fmla="*/ 0 w 270"/>
                <a:gd name="txT" fmla="*/ 0 h 270"/>
                <a:gd name="txR" fmla="*/ 270 w 270"/>
                <a:gd name="txB" fmla="*/ 270 h 270"/>
              </a:gdLst>
              <a:ahLst/>
              <a:cxnLst>
                <a:cxn ang="0">
                  <a:pos x="165" y="0"/>
                </a:cxn>
                <a:cxn ang="0">
                  <a:pos x="0" y="163"/>
                </a:cxn>
              </a:cxnLst>
              <a:rect l="txL" t="txT" r="txR" b="txB"/>
              <a:pathLst>
                <a:path w="270" h="270">
                  <a:moveTo>
                    <a:pt x="270" y="0"/>
                  </a:moveTo>
                  <a:lnTo>
                    <a:pt x="0" y="27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49" name="Line 49"/>
            <p:cNvSpPr/>
            <p:nvPr/>
          </p:nvSpPr>
          <p:spPr>
            <a:xfrm flipV="1">
              <a:off x="1371" y="2110"/>
              <a:ext cx="151" cy="15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50" name="Line 50"/>
            <p:cNvSpPr/>
            <p:nvPr/>
          </p:nvSpPr>
          <p:spPr>
            <a:xfrm flipV="1">
              <a:off x="1374" y="1221"/>
              <a:ext cx="139" cy="13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51"/>
          <p:cNvGrpSpPr/>
          <p:nvPr/>
        </p:nvGrpSpPr>
        <p:grpSpPr>
          <a:xfrm>
            <a:off x="3035300" y="1057275"/>
            <a:ext cx="585788" cy="2943225"/>
            <a:chOff x="1912" y="586"/>
            <a:chExt cx="369" cy="1854"/>
          </a:xfrm>
        </p:grpSpPr>
        <p:sp>
          <p:nvSpPr>
            <p:cNvPr id="60503" name="Freeform 52"/>
            <p:cNvSpPr/>
            <p:nvPr/>
          </p:nvSpPr>
          <p:spPr>
            <a:xfrm>
              <a:off x="2134" y="2180"/>
              <a:ext cx="1" cy="163"/>
            </a:xfrm>
            <a:custGeom>
              <a:avLst/>
              <a:gdLst>
                <a:gd name="txL" fmla="*/ 0 w 1"/>
                <a:gd name="txT" fmla="*/ 0 h 163"/>
                <a:gd name="txR" fmla="*/ 1 w 1"/>
                <a:gd name="txB" fmla="*/ 163 h 163"/>
              </a:gdLst>
              <a:ahLst/>
              <a:cxnLst>
                <a:cxn ang="0">
                  <a:pos x="0" y="0"/>
                </a:cxn>
                <a:cxn ang="0">
                  <a:pos x="0" y="163"/>
                </a:cxn>
              </a:cxnLst>
              <a:rect l="txL" t="txT" r="txR" b="txB"/>
              <a:pathLst>
                <a:path w="1" h="163">
                  <a:moveTo>
                    <a:pt x="0" y="0"/>
                  </a:moveTo>
                  <a:lnTo>
                    <a:pt x="0" y="16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04" name="Text Box 53"/>
            <p:cNvSpPr txBox="1"/>
            <p:nvPr/>
          </p:nvSpPr>
          <p:spPr>
            <a:xfrm>
              <a:off x="1912" y="586"/>
              <a:ext cx="255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latin typeface="Times New Roman" panose="02020603050405020304" pitchFamily="18" charset="0"/>
                </a:rPr>
                <a:t>A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0505" name="Text Box 54"/>
            <p:cNvSpPr txBox="1"/>
            <p:nvPr/>
          </p:nvSpPr>
          <p:spPr>
            <a:xfrm>
              <a:off x="1917" y="2152"/>
              <a:ext cx="255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latin typeface="Times New Roman" panose="02020603050405020304" pitchFamily="18" charset="0"/>
                </a:rPr>
                <a:t>A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0506" name="Freeform 55"/>
            <p:cNvSpPr/>
            <p:nvPr/>
          </p:nvSpPr>
          <p:spPr>
            <a:xfrm>
              <a:off x="2126" y="703"/>
              <a:ext cx="1" cy="163"/>
            </a:xfrm>
            <a:custGeom>
              <a:avLst/>
              <a:gdLst>
                <a:gd name="txL" fmla="*/ 0 w 1"/>
                <a:gd name="txT" fmla="*/ 0 h 163"/>
                <a:gd name="txR" fmla="*/ 1 w 1"/>
                <a:gd name="txB" fmla="*/ 163 h 163"/>
              </a:gdLst>
              <a:ahLst/>
              <a:cxnLst>
                <a:cxn ang="0">
                  <a:pos x="0" y="0"/>
                </a:cxn>
                <a:cxn ang="0">
                  <a:pos x="0" y="163"/>
                </a:cxn>
              </a:cxnLst>
              <a:rect l="txL" t="txT" r="txR" b="txB"/>
              <a:pathLst>
                <a:path w="1" h="163">
                  <a:moveTo>
                    <a:pt x="0" y="0"/>
                  </a:moveTo>
                  <a:lnTo>
                    <a:pt x="0" y="16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07" name="Line 56"/>
            <p:cNvSpPr/>
            <p:nvPr/>
          </p:nvSpPr>
          <p:spPr>
            <a:xfrm>
              <a:off x="2115" y="707"/>
              <a:ext cx="139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0508" name="Line 57"/>
            <p:cNvSpPr/>
            <p:nvPr/>
          </p:nvSpPr>
          <p:spPr>
            <a:xfrm>
              <a:off x="2128" y="2336"/>
              <a:ext cx="15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</p:grpSp>
      <p:grpSp>
        <p:nvGrpSpPr>
          <p:cNvPr id="4" name="Group 58"/>
          <p:cNvGrpSpPr/>
          <p:nvPr/>
        </p:nvGrpSpPr>
        <p:grpSpPr>
          <a:xfrm>
            <a:off x="2171700" y="2933700"/>
            <a:ext cx="1995488" cy="1346200"/>
            <a:chOff x="1368" y="1560"/>
            <a:chExt cx="1257" cy="848"/>
          </a:xfrm>
        </p:grpSpPr>
        <p:sp>
          <p:nvSpPr>
            <p:cNvPr id="60499" name="Freeform 59"/>
            <p:cNvSpPr/>
            <p:nvPr/>
          </p:nvSpPr>
          <p:spPr>
            <a:xfrm>
              <a:off x="1370" y="1868"/>
              <a:ext cx="1" cy="540"/>
            </a:xfrm>
            <a:custGeom>
              <a:avLst/>
              <a:gdLst>
                <a:gd name="txL" fmla="*/ 0 w 1"/>
                <a:gd name="txT" fmla="*/ 0 h 540"/>
                <a:gd name="txR" fmla="*/ 1 w 1"/>
                <a:gd name="txB" fmla="*/ 540 h 540"/>
              </a:gdLst>
              <a:ahLst/>
              <a:cxnLst>
                <a:cxn ang="0">
                  <a:pos x="0" y="0"/>
                </a:cxn>
                <a:cxn ang="0">
                  <a:pos x="0" y="540"/>
                </a:cxn>
              </a:cxnLst>
              <a:rect l="txL" t="txT" r="txR" b="txB"/>
              <a:pathLst>
                <a:path w="1" h="540">
                  <a:moveTo>
                    <a:pt x="0" y="0"/>
                  </a:moveTo>
                  <a:lnTo>
                    <a:pt x="0" y="54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00" name="Line 60"/>
            <p:cNvSpPr/>
            <p:nvPr/>
          </p:nvSpPr>
          <p:spPr>
            <a:xfrm>
              <a:off x="2615" y="1560"/>
              <a:ext cx="0" cy="832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01" name="Freeform 61"/>
            <p:cNvSpPr/>
            <p:nvPr/>
          </p:nvSpPr>
          <p:spPr>
            <a:xfrm>
              <a:off x="1368" y="2352"/>
              <a:ext cx="1257" cy="2"/>
            </a:xfrm>
            <a:custGeom>
              <a:avLst/>
              <a:gdLst>
                <a:gd name="txL" fmla="*/ 0 w 1257"/>
                <a:gd name="txT" fmla="*/ 0 h 2"/>
                <a:gd name="txR" fmla="*/ 1257 w 1257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1257" y="0"/>
                </a:cxn>
              </a:cxnLst>
              <a:rect l="txL" t="txT" r="txR" b="txB"/>
              <a:pathLst>
                <a:path w="1257" h="2">
                  <a:moveTo>
                    <a:pt x="0" y="2"/>
                  </a:moveTo>
                  <a:lnTo>
                    <a:pt x="1257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502" name="Text Box 62"/>
            <p:cNvSpPr txBox="1"/>
            <p:nvPr/>
          </p:nvSpPr>
          <p:spPr>
            <a:xfrm>
              <a:off x="1558" y="2092"/>
              <a:ext cx="8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旋入深度</a:t>
              </a:r>
              <a:endPara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63"/>
          <p:cNvGrpSpPr/>
          <p:nvPr/>
        </p:nvGrpSpPr>
        <p:grpSpPr>
          <a:xfrm>
            <a:off x="650875" y="1985963"/>
            <a:ext cx="3749675" cy="1187450"/>
            <a:chOff x="410" y="1171"/>
            <a:chExt cx="2362" cy="748"/>
          </a:xfrm>
        </p:grpSpPr>
        <p:grpSp>
          <p:nvGrpSpPr>
            <p:cNvPr id="60486" name="Group 64"/>
            <p:cNvGrpSpPr/>
            <p:nvPr/>
          </p:nvGrpSpPr>
          <p:grpSpPr>
            <a:xfrm>
              <a:off x="410" y="1171"/>
              <a:ext cx="2362" cy="748"/>
              <a:chOff x="410" y="1171"/>
              <a:chExt cx="2362" cy="748"/>
            </a:xfrm>
          </p:grpSpPr>
          <p:grpSp>
            <p:nvGrpSpPr>
              <p:cNvPr id="60489" name="Group 65"/>
              <p:cNvGrpSpPr/>
              <p:nvPr/>
            </p:nvGrpSpPr>
            <p:grpSpPr>
              <a:xfrm>
                <a:off x="487" y="1171"/>
                <a:ext cx="2132" cy="748"/>
                <a:chOff x="487" y="1171"/>
                <a:chExt cx="2132" cy="748"/>
              </a:xfrm>
            </p:grpSpPr>
            <p:grpSp>
              <p:nvGrpSpPr>
                <p:cNvPr id="60491" name="Group 66"/>
                <p:cNvGrpSpPr/>
                <p:nvPr/>
              </p:nvGrpSpPr>
              <p:grpSpPr>
                <a:xfrm>
                  <a:off x="589" y="1171"/>
                  <a:ext cx="2030" cy="748"/>
                  <a:chOff x="288" y="912"/>
                  <a:chExt cx="2592" cy="960"/>
                </a:xfrm>
              </p:grpSpPr>
              <p:sp>
                <p:nvSpPr>
                  <p:cNvPr id="60497" name="Rectangle 67"/>
                  <p:cNvSpPr/>
                  <p:nvPr/>
                </p:nvSpPr>
                <p:spPr>
                  <a:xfrm>
                    <a:off x="288" y="912"/>
                    <a:ext cx="2496" cy="960"/>
                  </a:xfrm>
                  <a:prstGeom prst="rect">
                    <a:avLst/>
                  </a:prstGeom>
                  <a:solidFill>
                    <a:srgbClr val="C0C0C0"/>
                  </a:solidFill>
                  <a:ln w="38100" cap="flat" cmpd="sng">
                    <a:solidFill>
                      <a:srgbClr val="FF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60498" name="Freeform 68"/>
                  <p:cNvSpPr/>
                  <p:nvPr/>
                </p:nvSpPr>
                <p:spPr>
                  <a:xfrm>
                    <a:off x="2784" y="912"/>
                    <a:ext cx="96" cy="960"/>
                  </a:xfrm>
                  <a:custGeom>
                    <a:avLst/>
                    <a:gdLst>
                      <a:gd name="txL" fmla="*/ 0 w 96"/>
                      <a:gd name="txT" fmla="*/ 0 h 960"/>
                      <a:gd name="txR" fmla="*/ 96 w 96"/>
                      <a:gd name="txB" fmla="*/ 960 h 960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960"/>
                      </a:cxn>
                      <a:cxn ang="0">
                        <a:pos x="96" y="864"/>
                      </a:cxn>
                      <a:cxn ang="0">
                        <a:pos x="96" y="96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96" h="960">
                        <a:moveTo>
                          <a:pt x="0" y="0"/>
                        </a:moveTo>
                        <a:lnTo>
                          <a:pt x="0" y="960"/>
                        </a:lnTo>
                        <a:lnTo>
                          <a:pt x="96" y="864"/>
                        </a:lnTo>
                        <a:lnTo>
                          <a:pt x="96" y="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3810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60492" name="Line 69"/>
                <p:cNvSpPr/>
                <p:nvPr/>
              </p:nvSpPr>
              <p:spPr>
                <a:xfrm>
                  <a:off x="1002" y="1171"/>
                  <a:ext cx="0" cy="748"/>
                </a:xfrm>
                <a:prstGeom prst="line">
                  <a:avLst/>
                </a:prstGeom>
                <a:ln w="38100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493" name="Line 70"/>
                <p:cNvSpPr/>
                <p:nvPr/>
              </p:nvSpPr>
              <p:spPr>
                <a:xfrm flipH="1">
                  <a:off x="1002" y="1246"/>
                  <a:ext cx="1617" cy="0"/>
                </a:xfrm>
                <a:prstGeom prst="line">
                  <a:avLst/>
                </a:prstGeom>
                <a:ln w="12700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494" name="Line 71"/>
                <p:cNvSpPr/>
                <p:nvPr/>
              </p:nvSpPr>
              <p:spPr>
                <a:xfrm flipH="1">
                  <a:off x="1002" y="1844"/>
                  <a:ext cx="1617" cy="0"/>
                </a:xfrm>
                <a:prstGeom prst="line">
                  <a:avLst/>
                </a:prstGeom>
                <a:ln w="12700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495" name="Freeform 72"/>
                <p:cNvSpPr/>
                <p:nvPr/>
              </p:nvSpPr>
              <p:spPr>
                <a:xfrm>
                  <a:off x="493" y="1171"/>
                  <a:ext cx="152" cy="728"/>
                </a:xfrm>
                <a:custGeom>
                  <a:avLst/>
                  <a:gdLst>
                    <a:gd name="txL" fmla="*/ 0 w 194"/>
                    <a:gd name="txT" fmla="*/ 0 h 934"/>
                    <a:gd name="txR" fmla="*/ 194 w 194"/>
                    <a:gd name="txB" fmla="*/ 934 h 934"/>
                  </a:gdLst>
                  <a:ahLst/>
                  <a:cxnLst>
                    <a:cxn ang="0">
                      <a:pos x="75" y="0"/>
                    </a:cxn>
                    <a:cxn ang="0">
                      <a:pos x="27" y="111"/>
                    </a:cxn>
                    <a:cxn ang="0">
                      <a:pos x="16" y="204"/>
                    </a:cxn>
                    <a:cxn ang="0">
                      <a:pos x="36" y="293"/>
                    </a:cxn>
                    <a:cxn ang="0">
                      <a:pos x="0" y="441"/>
                    </a:cxn>
                    <a:cxn ang="0">
                      <a:pos x="32" y="534"/>
                    </a:cxn>
                    <a:cxn ang="0">
                      <a:pos x="73" y="567"/>
                    </a:cxn>
                    <a:cxn ang="0">
                      <a:pos x="119" y="558"/>
                    </a:cxn>
                    <a:cxn ang="0">
                      <a:pos x="104" y="58"/>
                    </a:cxn>
                    <a:cxn ang="0">
                      <a:pos x="75" y="0"/>
                    </a:cxn>
                  </a:cxnLst>
                  <a:rect l="txL" t="txT" r="txR" b="txB"/>
                  <a:pathLst>
                    <a:path w="194" h="934">
                      <a:moveTo>
                        <a:pt x="122" y="0"/>
                      </a:moveTo>
                      <a:lnTo>
                        <a:pt x="44" y="183"/>
                      </a:lnTo>
                      <a:lnTo>
                        <a:pt x="26" y="336"/>
                      </a:lnTo>
                      <a:lnTo>
                        <a:pt x="59" y="483"/>
                      </a:lnTo>
                      <a:lnTo>
                        <a:pt x="0" y="726"/>
                      </a:lnTo>
                      <a:lnTo>
                        <a:pt x="52" y="879"/>
                      </a:lnTo>
                      <a:lnTo>
                        <a:pt x="119" y="934"/>
                      </a:lnTo>
                      <a:lnTo>
                        <a:pt x="194" y="919"/>
                      </a:lnTo>
                      <a:lnTo>
                        <a:pt x="170" y="96"/>
                      </a:lnTo>
                      <a:lnTo>
                        <a:pt x="122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2700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0496" name="Freeform 73"/>
                <p:cNvSpPr/>
                <p:nvPr/>
              </p:nvSpPr>
              <p:spPr>
                <a:xfrm>
                  <a:off x="487" y="1171"/>
                  <a:ext cx="144" cy="747"/>
                </a:xfrm>
                <a:custGeom>
                  <a:avLst/>
                  <a:gdLst>
                    <a:gd name="txL" fmla="*/ 0 w 184"/>
                    <a:gd name="txT" fmla="*/ 0 h 959"/>
                    <a:gd name="txR" fmla="*/ 184 w 184"/>
                    <a:gd name="txB" fmla="*/ 959 h 959"/>
                  </a:gdLst>
                  <a:ahLst/>
                  <a:cxnLst>
                    <a:cxn ang="0">
                      <a:pos x="80" y="0"/>
                    </a:cxn>
                    <a:cxn ang="0">
                      <a:pos x="21" y="117"/>
                    </a:cxn>
                    <a:cxn ang="0">
                      <a:pos x="21" y="204"/>
                    </a:cxn>
                    <a:cxn ang="0">
                      <a:pos x="50" y="291"/>
                    </a:cxn>
                    <a:cxn ang="0">
                      <a:pos x="88" y="386"/>
                    </a:cxn>
                    <a:cxn ang="0">
                      <a:pos x="111" y="475"/>
                    </a:cxn>
                    <a:cxn ang="0">
                      <a:pos x="99" y="545"/>
                    </a:cxn>
                    <a:cxn ang="0">
                      <a:pos x="80" y="580"/>
                    </a:cxn>
                    <a:cxn ang="0">
                      <a:pos x="32" y="534"/>
                    </a:cxn>
                    <a:cxn ang="0">
                      <a:pos x="17" y="479"/>
                    </a:cxn>
                    <a:cxn ang="0">
                      <a:pos x="5" y="417"/>
                    </a:cxn>
                    <a:cxn ang="0">
                      <a:pos x="49" y="289"/>
                    </a:cxn>
                  </a:cxnLst>
                  <a:rect l="txL" t="txT" r="txR" b="txB"/>
                  <a:pathLst>
                    <a:path w="184" h="959">
                      <a:moveTo>
                        <a:pt x="130" y="0"/>
                      </a:moveTo>
                      <a:cubicBezTo>
                        <a:pt x="90" y="68"/>
                        <a:pt x="50" y="136"/>
                        <a:pt x="34" y="192"/>
                      </a:cubicBezTo>
                      <a:cubicBezTo>
                        <a:pt x="18" y="248"/>
                        <a:pt x="26" y="288"/>
                        <a:pt x="34" y="336"/>
                      </a:cubicBezTo>
                      <a:cubicBezTo>
                        <a:pt x="42" y="384"/>
                        <a:pt x="64" y="430"/>
                        <a:pt x="82" y="480"/>
                      </a:cubicBezTo>
                      <a:cubicBezTo>
                        <a:pt x="100" y="530"/>
                        <a:pt x="127" y="586"/>
                        <a:pt x="143" y="636"/>
                      </a:cubicBezTo>
                      <a:cubicBezTo>
                        <a:pt x="159" y="686"/>
                        <a:pt x="178" y="739"/>
                        <a:pt x="181" y="783"/>
                      </a:cubicBezTo>
                      <a:cubicBezTo>
                        <a:pt x="184" y="827"/>
                        <a:pt x="170" y="870"/>
                        <a:pt x="162" y="899"/>
                      </a:cubicBezTo>
                      <a:cubicBezTo>
                        <a:pt x="154" y="928"/>
                        <a:pt x="148" y="959"/>
                        <a:pt x="130" y="956"/>
                      </a:cubicBezTo>
                      <a:cubicBezTo>
                        <a:pt x="112" y="953"/>
                        <a:pt x="70" y="907"/>
                        <a:pt x="53" y="879"/>
                      </a:cubicBezTo>
                      <a:cubicBezTo>
                        <a:pt x="36" y="851"/>
                        <a:pt x="35" y="822"/>
                        <a:pt x="28" y="790"/>
                      </a:cubicBezTo>
                      <a:cubicBezTo>
                        <a:pt x="21" y="758"/>
                        <a:pt x="0" y="739"/>
                        <a:pt x="8" y="687"/>
                      </a:cubicBezTo>
                      <a:cubicBezTo>
                        <a:pt x="16" y="635"/>
                        <a:pt x="64" y="520"/>
                        <a:pt x="79" y="476"/>
                      </a:cubicBezTo>
                    </a:path>
                  </a:pathLst>
                </a:custGeom>
                <a:solidFill>
                  <a:srgbClr val="C0C0C0"/>
                </a:solidFill>
                <a:ln w="12700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60490" name="Freeform 74"/>
              <p:cNvSpPr/>
              <p:nvPr/>
            </p:nvSpPr>
            <p:spPr>
              <a:xfrm>
                <a:off x="410" y="1547"/>
                <a:ext cx="2362" cy="1"/>
              </a:xfrm>
              <a:custGeom>
                <a:avLst/>
                <a:gdLst>
                  <a:gd name="txL" fmla="*/ 0 w 3015"/>
                  <a:gd name="txT" fmla="*/ 0 h 1"/>
                  <a:gd name="txR" fmla="*/ 3015 w 3015"/>
                  <a:gd name="txB" fmla="*/ 1 h 1"/>
                </a:gdLst>
                <a:ahLst/>
                <a:cxnLst>
                  <a:cxn ang="0">
                    <a:pos x="185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3015" h="1">
                    <a:moveTo>
                      <a:pt x="3015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B2B2B2"/>
              </a:solidFill>
              <a:ln w="12700" cap="flat" cmpd="sng">
                <a:solidFill>
                  <a:srgbClr val="FF0000"/>
                </a:solidFill>
                <a:prstDash val="lgDashDot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0487" name="Line 75"/>
            <p:cNvSpPr/>
            <p:nvPr/>
          </p:nvSpPr>
          <p:spPr>
            <a:xfrm>
              <a:off x="524" y="1607"/>
              <a:ext cx="85" cy="84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88" name="Line 76"/>
            <p:cNvSpPr/>
            <p:nvPr/>
          </p:nvSpPr>
          <p:spPr>
            <a:xfrm>
              <a:off x="499" y="1716"/>
              <a:ext cx="119" cy="12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6029" name="Text Box 77"/>
          <p:cNvSpPr txBox="1"/>
          <p:nvPr/>
        </p:nvSpPr>
        <p:spPr>
          <a:xfrm>
            <a:off x="755650" y="4905375"/>
            <a:ext cx="2224088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画图要点：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6030" name="Text Box 78"/>
          <p:cNvSpPr txBox="1"/>
          <p:nvPr/>
        </p:nvSpPr>
        <p:spPr>
          <a:xfrm>
            <a:off x="747713" y="5473700"/>
            <a:ext cx="7150100" cy="420688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sym typeface="Monotype Sorts" pitchFamily="2" charset="2"/>
              </a:rPr>
              <a:t>a. 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大径线和大径线对齐；小径线和小径线对齐。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6031" name="Text Box 79"/>
          <p:cNvSpPr txBox="1"/>
          <p:nvPr/>
        </p:nvSpPr>
        <p:spPr>
          <a:xfrm>
            <a:off x="755650" y="5949950"/>
            <a:ext cx="7548563" cy="420688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sym typeface="Monotype Sorts" pitchFamily="2" charset="2"/>
              </a:rPr>
              <a:t>b. 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旋合部分按外螺纹画；其余部分按各自的规定画。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6032" name="AutoShape 80"/>
          <p:cNvSpPr/>
          <p:nvPr/>
        </p:nvSpPr>
        <p:spPr>
          <a:xfrm>
            <a:off x="477838" y="3759200"/>
            <a:ext cx="1417637" cy="609600"/>
          </a:xfrm>
          <a:prstGeom prst="wedgeRectCallout">
            <a:avLst>
              <a:gd name="adj1" fmla="val 17861"/>
              <a:gd name="adj2" fmla="val -145315"/>
            </a:avLst>
          </a:prstGeom>
          <a:solidFill>
            <a:srgbClr val="FF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2400" b="1" dirty="0">
                <a:latin typeface="Times New Roman" panose="02020603050405020304" pitchFamily="18" charset="0"/>
              </a:rPr>
              <a:t>按不剖画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26033" name="AutoShape 81"/>
          <p:cNvSpPr/>
          <p:nvPr/>
        </p:nvSpPr>
        <p:spPr>
          <a:xfrm>
            <a:off x="4443413" y="3922713"/>
            <a:ext cx="4437062" cy="911225"/>
          </a:xfrm>
          <a:prstGeom prst="wedgeEllipseCallout">
            <a:avLst>
              <a:gd name="adj1" fmla="val 14616"/>
              <a:gd name="adj2" fmla="val -89894"/>
            </a:avLst>
          </a:prstGeom>
          <a:solidFill>
            <a:srgbClr val="99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2400" b="1" dirty="0">
                <a:latin typeface="Times New Roman" panose="02020603050405020304" pitchFamily="18" charset="0"/>
              </a:rPr>
              <a:t>内、外螺纹剖面线方向相反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10" name="Group 85"/>
          <p:cNvGrpSpPr/>
          <p:nvPr/>
        </p:nvGrpSpPr>
        <p:grpSpPr>
          <a:xfrm>
            <a:off x="6045200" y="1558925"/>
            <a:ext cx="2284413" cy="2060575"/>
            <a:chOff x="2784" y="576"/>
            <a:chExt cx="1861" cy="1666"/>
          </a:xfrm>
        </p:grpSpPr>
        <p:sp>
          <p:nvSpPr>
            <p:cNvPr id="60481" name="Oval 86"/>
            <p:cNvSpPr/>
            <p:nvPr/>
          </p:nvSpPr>
          <p:spPr>
            <a:xfrm>
              <a:off x="2880" y="624"/>
              <a:ext cx="1680" cy="153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482" name="Freeform 87"/>
            <p:cNvSpPr/>
            <p:nvPr/>
          </p:nvSpPr>
          <p:spPr>
            <a:xfrm>
              <a:off x="2784" y="1410"/>
              <a:ext cx="1861" cy="1"/>
            </a:xfrm>
            <a:custGeom>
              <a:avLst/>
              <a:gdLst>
                <a:gd name="txL" fmla="*/ 0 w 1861"/>
                <a:gd name="txT" fmla="*/ 0 h 1"/>
                <a:gd name="txR" fmla="*/ 1861 w 186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861" y="0"/>
                </a:cxn>
              </a:cxnLst>
              <a:rect l="txL" t="txT" r="txR" b="txB"/>
              <a:pathLst>
                <a:path w="1861" h="1">
                  <a:moveTo>
                    <a:pt x="0" y="0"/>
                  </a:moveTo>
                  <a:lnTo>
                    <a:pt x="1861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483" name="Freeform 88"/>
            <p:cNvSpPr/>
            <p:nvPr/>
          </p:nvSpPr>
          <p:spPr>
            <a:xfrm>
              <a:off x="3720" y="576"/>
              <a:ext cx="1" cy="1666"/>
            </a:xfrm>
            <a:custGeom>
              <a:avLst/>
              <a:gdLst>
                <a:gd name="txL" fmla="*/ 0 w 1"/>
                <a:gd name="txT" fmla="*/ 0 h 1666"/>
                <a:gd name="txR" fmla="*/ 1 w 1"/>
                <a:gd name="txB" fmla="*/ 1666 h 1666"/>
              </a:gdLst>
              <a:ahLst/>
              <a:cxnLst>
                <a:cxn ang="0">
                  <a:pos x="0" y="0"/>
                </a:cxn>
                <a:cxn ang="0">
                  <a:pos x="0" y="1666"/>
                </a:cxn>
              </a:cxnLst>
              <a:rect l="txL" t="txT" r="txR" b="txB"/>
              <a:pathLst>
                <a:path w="1" h="1666">
                  <a:moveTo>
                    <a:pt x="0" y="0"/>
                  </a:moveTo>
                  <a:lnTo>
                    <a:pt x="0" y="1666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Group 89"/>
          <p:cNvGrpSpPr/>
          <p:nvPr/>
        </p:nvGrpSpPr>
        <p:grpSpPr>
          <a:xfrm>
            <a:off x="6162675" y="1609725"/>
            <a:ext cx="2057400" cy="1928813"/>
            <a:chOff x="3882" y="1207"/>
            <a:chExt cx="1296" cy="1215"/>
          </a:xfrm>
        </p:grpSpPr>
        <p:sp>
          <p:nvSpPr>
            <p:cNvPr id="60463" name="Freeform 90"/>
            <p:cNvSpPr/>
            <p:nvPr/>
          </p:nvSpPr>
          <p:spPr>
            <a:xfrm>
              <a:off x="3882" y="1207"/>
              <a:ext cx="605" cy="605"/>
            </a:xfrm>
            <a:custGeom>
              <a:avLst/>
              <a:gdLst>
                <a:gd name="txL" fmla="*/ 0 w 605"/>
                <a:gd name="txT" fmla="*/ 0 h 605"/>
                <a:gd name="txR" fmla="*/ 605 w 605"/>
                <a:gd name="txB" fmla="*/ 605 h 605"/>
              </a:gdLst>
              <a:ahLst/>
              <a:cxnLst>
                <a:cxn ang="0">
                  <a:pos x="0" y="605"/>
                </a:cxn>
                <a:cxn ang="0">
                  <a:pos x="605" y="0"/>
                </a:cxn>
              </a:cxnLst>
              <a:rect l="txL" t="txT" r="txR" b="txB"/>
              <a:pathLst>
                <a:path w="605" h="605">
                  <a:moveTo>
                    <a:pt x="0" y="605"/>
                  </a:moveTo>
                  <a:lnTo>
                    <a:pt x="605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464" name="Freeform 91"/>
            <p:cNvSpPr/>
            <p:nvPr/>
          </p:nvSpPr>
          <p:spPr>
            <a:xfrm>
              <a:off x="3894" y="1240"/>
              <a:ext cx="406" cy="409"/>
            </a:xfrm>
            <a:custGeom>
              <a:avLst/>
              <a:gdLst>
                <a:gd name="txL" fmla="*/ 0 w 525"/>
                <a:gd name="txT" fmla="*/ 0 h 525"/>
                <a:gd name="txR" fmla="*/ 525 w 525"/>
                <a:gd name="txB" fmla="*/ 525 h 525"/>
              </a:gdLst>
              <a:ahLst/>
              <a:cxnLst>
                <a:cxn ang="0">
                  <a:pos x="0" y="319"/>
                </a:cxn>
                <a:cxn ang="0">
                  <a:pos x="314" y="0"/>
                </a:cxn>
              </a:cxnLst>
              <a:rect l="txL" t="txT" r="txR" b="txB"/>
              <a:pathLst>
                <a:path w="525" h="525">
                  <a:moveTo>
                    <a:pt x="0" y="525"/>
                  </a:moveTo>
                  <a:lnTo>
                    <a:pt x="525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465" name="Freeform 92"/>
            <p:cNvSpPr/>
            <p:nvPr/>
          </p:nvSpPr>
          <p:spPr>
            <a:xfrm>
              <a:off x="3894" y="1684"/>
              <a:ext cx="266" cy="258"/>
            </a:xfrm>
            <a:custGeom>
              <a:avLst/>
              <a:gdLst>
                <a:gd name="txL" fmla="*/ 0 w 345"/>
                <a:gd name="txT" fmla="*/ 0 h 330"/>
                <a:gd name="txR" fmla="*/ 345 w 345"/>
                <a:gd name="txB" fmla="*/ 330 h 330"/>
              </a:gdLst>
              <a:ahLst/>
              <a:cxnLst>
                <a:cxn ang="0">
                  <a:pos x="0" y="202"/>
                </a:cxn>
                <a:cxn ang="0">
                  <a:pos x="205" y="0"/>
                </a:cxn>
              </a:cxnLst>
              <a:rect l="txL" t="txT" r="txR" b="txB"/>
              <a:pathLst>
                <a:path w="345" h="330">
                  <a:moveTo>
                    <a:pt x="0" y="330"/>
                  </a:moveTo>
                  <a:lnTo>
                    <a:pt x="345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466" name="Freeform 93"/>
            <p:cNvSpPr/>
            <p:nvPr/>
          </p:nvSpPr>
          <p:spPr>
            <a:xfrm>
              <a:off x="4363" y="1222"/>
              <a:ext cx="255" cy="247"/>
            </a:xfrm>
            <a:custGeom>
              <a:avLst/>
              <a:gdLst>
                <a:gd name="txL" fmla="*/ 0 w 255"/>
                <a:gd name="txT" fmla="*/ 0 h 247"/>
                <a:gd name="txR" fmla="*/ 255 w 255"/>
                <a:gd name="txB" fmla="*/ 247 h 247"/>
              </a:gdLst>
              <a:ahLst/>
              <a:cxnLst>
                <a:cxn ang="0">
                  <a:pos x="0" y="247"/>
                </a:cxn>
                <a:cxn ang="0">
                  <a:pos x="7" y="247"/>
                </a:cxn>
                <a:cxn ang="0">
                  <a:pos x="255" y="0"/>
                </a:cxn>
              </a:cxnLst>
              <a:rect l="txL" t="txT" r="txR" b="txB"/>
              <a:pathLst>
                <a:path w="255" h="247">
                  <a:moveTo>
                    <a:pt x="0" y="247"/>
                  </a:moveTo>
                  <a:lnTo>
                    <a:pt x="7" y="247"/>
                  </a:lnTo>
                  <a:lnTo>
                    <a:pt x="255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467" name="Freeform 94"/>
            <p:cNvSpPr/>
            <p:nvPr/>
          </p:nvSpPr>
          <p:spPr>
            <a:xfrm>
              <a:off x="3998" y="1978"/>
              <a:ext cx="191" cy="187"/>
            </a:xfrm>
            <a:custGeom>
              <a:avLst/>
              <a:gdLst>
                <a:gd name="txL" fmla="*/ 0 w 191"/>
                <a:gd name="txT" fmla="*/ 0 h 187"/>
                <a:gd name="txR" fmla="*/ 191 w 191"/>
                <a:gd name="txB" fmla="*/ 187 h 187"/>
              </a:gdLst>
              <a:ahLst/>
              <a:cxnLst>
                <a:cxn ang="0">
                  <a:pos x="0" y="187"/>
                </a:cxn>
                <a:cxn ang="0">
                  <a:pos x="191" y="0"/>
                </a:cxn>
              </a:cxnLst>
              <a:rect l="txL" t="txT" r="txR" b="txB"/>
              <a:pathLst>
                <a:path w="191" h="187">
                  <a:moveTo>
                    <a:pt x="0" y="187"/>
                  </a:moveTo>
                  <a:lnTo>
                    <a:pt x="191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468" name="Freeform 95"/>
            <p:cNvSpPr/>
            <p:nvPr/>
          </p:nvSpPr>
          <p:spPr>
            <a:xfrm>
              <a:off x="3940" y="1860"/>
              <a:ext cx="197" cy="199"/>
            </a:xfrm>
            <a:custGeom>
              <a:avLst/>
              <a:gdLst>
                <a:gd name="txL" fmla="*/ 0 w 255"/>
                <a:gd name="txT" fmla="*/ 0 h 255"/>
                <a:gd name="txR" fmla="*/ 255 w 255"/>
                <a:gd name="txB" fmla="*/ 255 h 255"/>
              </a:gdLst>
              <a:ahLst/>
              <a:cxnLst>
                <a:cxn ang="0">
                  <a:pos x="0" y="155"/>
                </a:cxn>
                <a:cxn ang="0">
                  <a:pos x="152" y="0"/>
                </a:cxn>
              </a:cxnLst>
              <a:rect l="txL" t="txT" r="txR" b="txB"/>
              <a:pathLst>
                <a:path w="255" h="255">
                  <a:moveTo>
                    <a:pt x="0" y="255"/>
                  </a:moveTo>
                  <a:lnTo>
                    <a:pt x="255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469" name="Freeform 96"/>
            <p:cNvSpPr/>
            <p:nvPr/>
          </p:nvSpPr>
          <p:spPr>
            <a:xfrm>
              <a:off x="4087" y="2087"/>
              <a:ext cx="160" cy="153"/>
            </a:xfrm>
            <a:custGeom>
              <a:avLst/>
              <a:gdLst>
                <a:gd name="txL" fmla="*/ 0 w 160"/>
                <a:gd name="txT" fmla="*/ 0 h 153"/>
                <a:gd name="txR" fmla="*/ 160 w 160"/>
                <a:gd name="txB" fmla="*/ 153 h 153"/>
              </a:gdLst>
              <a:ahLst/>
              <a:cxnLst>
                <a:cxn ang="0">
                  <a:pos x="0" y="153"/>
                </a:cxn>
                <a:cxn ang="0">
                  <a:pos x="160" y="0"/>
                </a:cxn>
              </a:cxnLst>
              <a:rect l="txL" t="txT" r="txR" b="txB"/>
              <a:pathLst>
                <a:path w="160" h="153">
                  <a:moveTo>
                    <a:pt x="0" y="153"/>
                  </a:moveTo>
                  <a:lnTo>
                    <a:pt x="16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470" name="Freeform 97"/>
            <p:cNvSpPr/>
            <p:nvPr/>
          </p:nvSpPr>
          <p:spPr>
            <a:xfrm>
              <a:off x="4160" y="2141"/>
              <a:ext cx="174" cy="176"/>
            </a:xfrm>
            <a:custGeom>
              <a:avLst/>
              <a:gdLst>
                <a:gd name="txL" fmla="*/ 0 w 225"/>
                <a:gd name="txT" fmla="*/ 0 h 225"/>
                <a:gd name="txR" fmla="*/ 225 w 225"/>
                <a:gd name="txB" fmla="*/ 225 h 225"/>
              </a:gdLst>
              <a:ahLst/>
              <a:cxnLst>
                <a:cxn ang="0">
                  <a:pos x="0" y="138"/>
                </a:cxn>
                <a:cxn ang="0">
                  <a:pos x="135" y="0"/>
                </a:cxn>
              </a:cxnLst>
              <a:rect l="txL" t="txT" r="txR" b="txB"/>
              <a:pathLst>
                <a:path w="225" h="225">
                  <a:moveTo>
                    <a:pt x="0" y="225"/>
                  </a:moveTo>
                  <a:lnTo>
                    <a:pt x="225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471" name="Freeform 98"/>
            <p:cNvSpPr/>
            <p:nvPr/>
          </p:nvSpPr>
          <p:spPr>
            <a:xfrm>
              <a:off x="4276" y="2175"/>
              <a:ext cx="189" cy="189"/>
            </a:xfrm>
            <a:custGeom>
              <a:avLst/>
              <a:gdLst>
                <a:gd name="txL" fmla="*/ 0 w 189"/>
                <a:gd name="txT" fmla="*/ 0 h 189"/>
                <a:gd name="txR" fmla="*/ 189 w 189"/>
                <a:gd name="txB" fmla="*/ 189 h 189"/>
              </a:gdLst>
              <a:ahLst/>
              <a:cxnLst>
                <a:cxn ang="0">
                  <a:pos x="0" y="189"/>
                </a:cxn>
                <a:cxn ang="0">
                  <a:pos x="189" y="0"/>
                </a:cxn>
              </a:cxnLst>
              <a:rect l="txL" t="txT" r="txR" b="txB"/>
              <a:pathLst>
                <a:path w="189" h="189">
                  <a:moveTo>
                    <a:pt x="0" y="189"/>
                  </a:moveTo>
                  <a:lnTo>
                    <a:pt x="189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472" name="Line 99"/>
            <p:cNvSpPr/>
            <p:nvPr/>
          </p:nvSpPr>
          <p:spPr>
            <a:xfrm flipV="1">
              <a:off x="4402" y="2148"/>
              <a:ext cx="260" cy="26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73" name="Freeform 100"/>
            <p:cNvSpPr/>
            <p:nvPr/>
          </p:nvSpPr>
          <p:spPr>
            <a:xfrm>
              <a:off x="4543" y="1789"/>
              <a:ext cx="635" cy="633"/>
            </a:xfrm>
            <a:custGeom>
              <a:avLst/>
              <a:gdLst>
                <a:gd name="txL" fmla="*/ 0 w 635"/>
                <a:gd name="txT" fmla="*/ 0 h 633"/>
                <a:gd name="txR" fmla="*/ 635 w 635"/>
                <a:gd name="txB" fmla="*/ 633 h 633"/>
              </a:gdLst>
              <a:ahLst/>
              <a:cxnLst>
                <a:cxn ang="0">
                  <a:pos x="0" y="633"/>
                </a:cxn>
                <a:cxn ang="0">
                  <a:pos x="635" y="0"/>
                </a:cxn>
              </a:cxnLst>
              <a:rect l="txL" t="txT" r="txR" b="txB"/>
              <a:pathLst>
                <a:path w="635" h="633">
                  <a:moveTo>
                    <a:pt x="0" y="633"/>
                  </a:moveTo>
                  <a:lnTo>
                    <a:pt x="635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474" name="Freeform 101"/>
            <p:cNvSpPr/>
            <p:nvPr/>
          </p:nvSpPr>
          <p:spPr>
            <a:xfrm>
              <a:off x="4741" y="1942"/>
              <a:ext cx="429" cy="433"/>
            </a:xfrm>
            <a:custGeom>
              <a:avLst/>
              <a:gdLst>
                <a:gd name="txL" fmla="*/ 0 w 555"/>
                <a:gd name="txT" fmla="*/ 0 h 556"/>
                <a:gd name="txR" fmla="*/ 555 w 555"/>
                <a:gd name="txB" fmla="*/ 556 h 556"/>
              </a:gdLst>
              <a:ahLst/>
              <a:cxnLst>
                <a:cxn ang="0">
                  <a:pos x="0" y="337"/>
                </a:cxn>
                <a:cxn ang="0">
                  <a:pos x="332" y="0"/>
                </a:cxn>
              </a:cxnLst>
              <a:rect l="txL" t="txT" r="txR" b="txB"/>
              <a:pathLst>
                <a:path w="555" h="556">
                  <a:moveTo>
                    <a:pt x="0" y="556"/>
                  </a:moveTo>
                  <a:lnTo>
                    <a:pt x="555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475" name="Freeform 102"/>
            <p:cNvSpPr/>
            <p:nvPr/>
          </p:nvSpPr>
          <p:spPr>
            <a:xfrm>
              <a:off x="4922" y="1649"/>
              <a:ext cx="236" cy="237"/>
            </a:xfrm>
            <a:custGeom>
              <a:avLst/>
              <a:gdLst>
                <a:gd name="txL" fmla="*/ 0 w 306"/>
                <a:gd name="txT" fmla="*/ 0 h 303"/>
                <a:gd name="txR" fmla="*/ 306 w 306"/>
                <a:gd name="txB" fmla="*/ 303 h 303"/>
              </a:gdLst>
              <a:ahLst/>
              <a:cxnLst>
                <a:cxn ang="0">
                  <a:pos x="0" y="185"/>
                </a:cxn>
                <a:cxn ang="0">
                  <a:pos x="182" y="0"/>
                </a:cxn>
              </a:cxnLst>
              <a:rect l="txL" t="txT" r="txR" b="txB"/>
              <a:pathLst>
                <a:path w="306" h="303">
                  <a:moveTo>
                    <a:pt x="0" y="303"/>
                  </a:moveTo>
                  <a:lnTo>
                    <a:pt x="306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476" name="Freeform 103"/>
            <p:cNvSpPr/>
            <p:nvPr/>
          </p:nvSpPr>
          <p:spPr>
            <a:xfrm>
              <a:off x="4923" y="1550"/>
              <a:ext cx="184" cy="181"/>
            </a:xfrm>
            <a:custGeom>
              <a:avLst/>
              <a:gdLst>
                <a:gd name="txL" fmla="*/ 0 w 184"/>
                <a:gd name="txT" fmla="*/ 0 h 181"/>
                <a:gd name="txR" fmla="*/ 184 w 184"/>
                <a:gd name="txB" fmla="*/ 181 h 181"/>
              </a:gdLst>
              <a:ahLst/>
              <a:cxnLst>
                <a:cxn ang="0">
                  <a:pos x="0" y="181"/>
                </a:cxn>
                <a:cxn ang="0">
                  <a:pos x="184" y="0"/>
                </a:cxn>
              </a:cxnLst>
              <a:rect l="txL" t="txT" r="txR" b="txB"/>
              <a:pathLst>
                <a:path w="184" h="181">
                  <a:moveTo>
                    <a:pt x="0" y="181"/>
                  </a:moveTo>
                  <a:lnTo>
                    <a:pt x="184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477" name="Freeform 104"/>
            <p:cNvSpPr/>
            <p:nvPr/>
          </p:nvSpPr>
          <p:spPr>
            <a:xfrm>
              <a:off x="4868" y="1451"/>
              <a:ext cx="174" cy="175"/>
            </a:xfrm>
            <a:custGeom>
              <a:avLst/>
              <a:gdLst>
                <a:gd name="txL" fmla="*/ 0 w 225"/>
                <a:gd name="txT" fmla="*/ 0 h 225"/>
                <a:gd name="txR" fmla="*/ 225 w 225"/>
                <a:gd name="txB" fmla="*/ 225 h 225"/>
              </a:gdLst>
              <a:ahLst/>
              <a:cxnLst>
                <a:cxn ang="0">
                  <a:pos x="0" y="136"/>
                </a:cxn>
                <a:cxn ang="0">
                  <a:pos x="135" y="0"/>
                </a:cxn>
              </a:cxnLst>
              <a:rect l="txL" t="txT" r="txR" b="txB"/>
              <a:pathLst>
                <a:path w="225" h="225">
                  <a:moveTo>
                    <a:pt x="0" y="225"/>
                  </a:moveTo>
                  <a:lnTo>
                    <a:pt x="225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478" name="Line 105"/>
            <p:cNvSpPr/>
            <p:nvPr/>
          </p:nvSpPr>
          <p:spPr>
            <a:xfrm flipV="1">
              <a:off x="4550" y="1249"/>
              <a:ext cx="186" cy="18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79" name="Freeform 106"/>
            <p:cNvSpPr/>
            <p:nvPr/>
          </p:nvSpPr>
          <p:spPr>
            <a:xfrm>
              <a:off x="4683" y="1295"/>
              <a:ext cx="175" cy="174"/>
            </a:xfrm>
            <a:custGeom>
              <a:avLst/>
              <a:gdLst>
                <a:gd name="txL" fmla="*/ 0 w 175"/>
                <a:gd name="txT" fmla="*/ 0 h 174"/>
                <a:gd name="txR" fmla="*/ 175 w 175"/>
                <a:gd name="txB" fmla="*/ 174 h 174"/>
              </a:gdLst>
              <a:ahLst/>
              <a:cxnLst>
                <a:cxn ang="0">
                  <a:pos x="0" y="174"/>
                </a:cxn>
                <a:cxn ang="0">
                  <a:pos x="175" y="0"/>
                </a:cxn>
              </a:cxnLst>
              <a:rect l="txL" t="txT" r="txR" b="txB"/>
              <a:pathLst>
                <a:path w="175" h="174">
                  <a:moveTo>
                    <a:pt x="0" y="174"/>
                  </a:moveTo>
                  <a:lnTo>
                    <a:pt x="175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480" name="Freeform 107"/>
            <p:cNvSpPr/>
            <p:nvPr/>
          </p:nvSpPr>
          <p:spPr>
            <a:xfrm>
              <a:off x="4799" y="1362"/>
              <a:ext cx="160" cy="159"/>
            </a:xfrm>
            <a:custGeom>
              <a:avLst/>
              <a:gdLst>
                <a:gd name="txL" fmla="*/ 0 w 207"/>
                <a:gd name="txT" fmla="*/ 0 h 204"/>
                <a:gd name="txR" fmla="*/ 207 w 207"/>
                <a:gd name="txB" fmla="*/ 204 h 204"/>
              </a:gdLst>
              <a:ahLst/>
              <a:cxnLst>
                <a:cxn ang="0">
                  <a:pos x="0" y="124"/>
                </a:cxn>
                <a:cxn ang="0">
                  <a:pos x="124" y="0"/>
                </a:cxn>
              </a:cxnLst>
              <a:rect l="txL" t="txT" r="txR" b="txB"/>
              <a:pathLst>
                <a:path w="207" h="204">
                  <a:moveTo>
                    <a:pt x="0" y="204"/>
                  </a:moveTo>
                  <a:lnTo>
                    <a:pt x="207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2" name="Group 108"/>
          <p:cNvGrpSpPr/>
          <p:nvPr/>
        </p:nvGrpSpPr>
        <p:grpSpPr>
          <a:xfrm>
            <a:off x="6575425" y="1974850"/>
            <a:ext cx="1236663" cy="1187450"/>
            <a:chOff x="4142" y="956"/>
            <a:chExt cx="779" cy="748"/>
          </a:xfrm>
        </p:grpSpPr>
        <p:sp>
          <p:nvSpPr>
            <p:cNvPr id="60461" name="Oval 109"/>
            <p:cNvSpPr/>
            <p:nvPr/>
          </p:nvSpPr>
          <p:spPr>
            <a:xfrm>
              <a:off x="4142" y="956"/>
              <a:ext cx="779" cy="748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462" name="Arc 110"/>
            <p:cNvSpPr/>
            <p:nvPr/>
          </p:nvSpPr>
          <p:spPr>
            <a:xfrm>
              <a:off x="4211" y="1027"/>
              <a:ext cx="640" cy="603"/>
            </a:xfrm>
            <a:custGeom>
              <a:avLst/>
              <a:gdLst>
                <a:gd name="txL" fmla="*/ 0 w 43200"/>
                <a:gd name="txT" fmla="*/ 0 h 43200"/>
                <a:gd name="txR" fmla="*/ 43200 w 43200"/>
                <a:gd name="txB" fmla="*/ 43200 h 432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3200" h="43200" fill="none">
                  <a:moveTo>
                    <a:pt x="155" y="24188"/>
                  </a:moveTo>
                  <a:cubicBezTo>
                    <a:pt x="51" y="23329"/>
                    <a:pt x="0" y="22465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21416" y="43200"/>
                    <a:pt x="21233" y="43197"/>
                    <a:pt x="21050" y="43192"/>
                  </a:cubicBezTo>
                </a:path>
                <a:path w="43200" h="43200" stroke="0">
                  <a:moveTo>
                    <a:pt x="155" y="24188"/>
                  </a:moveTo>
                  <a:cubicBezTo>
                    <a:pt x="51" y="23329"/>
                    <a:pt x="0" y="22465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21416" y="43200"/>
                    <a:pt x="21233" y="43197"/>
                    <a:pt x="21050" y="43192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3" name="Group 111"/>
          <p:cNvGrpSpPr/>
          <p:nvPr/>
        </p:nvGrpSpPr>
        <p:grpSpPr>
          <a:xfrm>
            <a:off x="6580188" y="1978025"/>
            <a:ext cx="1222375" cy="1189038"/>
            <a:chOff x="4145" y="958"/>
            <a:chExt cx="770" cy="749"/>
          </a:xfrm>
        </p:grpSpPr>
        <p:sp>
          <p:nvSpPr>
            <p:cNvPr id="60454" name="Freeform 112"/>
            <p:cNvSpPr/>
            <p:nvPr/>
          </p:nvSpPr>
          <p:spPr>
            <a:xfrm>
              <a:off x="4247" y="1075"/>
              <a:ext cx="545" cy="539"/>
            </a:xfrm>
            <a:custGeom>
              <a:avLst/>
              <a:gdLst>
                <a:gd name="txL" fmla="*/ 0 w 545"/>
                <a:gd name="txT" fmla="*/ 0 h 539"/>
                <a:gd name="txR" fmla="*/ 545 w 545"/>
                <a:gd name="txB" fmla="*/ 539 h 539"/>
              </a:gdLst>
              <a:ahLst/>
              <a:cxnLst>
                <a:cxn ang="0">
                  <a:pos x="0" y="0"/>
                </a:cxn>
                <a:cxn ang="0">
                  <a:pos x="545" y="539"/>
                </a:cxn>
              </a:cxnLst>
              <a:rect l="txL" t="txT" r="txR" b="txB"/>
              <a:pathLst>
                <a:path w="545" h="539">
                  <a:moveTo>
                    <a:pt x="0" y="0"/>
                  </a:moveTo>
                  <a:lnTo>
                    <a:pt x="545" y="539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455" name="Freeform 113"/>
            <p:cNvSpPr/>
            <p:nvPr/>
          </p:nvSpPr>
          <p:spPr>
            <a:xfrm>
              <a:off x="4179" y="1143"/>
              <a:ext cx="515" cy="517"/>
            </a:xfrm>
            <a:custGeom>
              <a:avLst/>
              <a:gdLst>
                <a:gd name="txL" fmla="*/ 0 w 666"/>
                <a:gd name="txT" fmla="*/ 0 h 664"/>
                <a:gd name="txR" fmla="*/ 666 w 666"/>
                <a:gd name="txB" fmla="*/ 664 h 664"/>
              </a:gdLst>
              <a:ahLst/>
              <a:cxnLst>
                <a:cxn ang="0">
                  <a:pos x="0" y="0"/>
                </a:cxn>
                <a:cxn ang="0">
                  <a:pos x="398" y="403"/>
                </a:cxn>
              </a:cxnLst>
              <a:rect l="txL" t="txT" r="txR" b="txB"/>
              <a:pathLst>
                <a:path w="666" h="664">
                  <a:moveTo>
                    <a:pt x="0" y="0"/>
                  </a:moveTo>
                  <a:lnTo>
                    <a:pt x="666" y="664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456" name="Freeform 114"/>
            <p:cNvSpPr/>
            <p:nvPr/>
          </p:nvSpPr>
          <p:spPr>
            <a:xfrm>
              <a:off x="4149" y="1262"/>
              <a:ext cx="441" cy="445"/>
            </a:xfrm>
            <a:custGeom>
              <a:avLst/>
              <a:gdLst>
                <a:gd name="txL" fmla="*/ 0 w 570"/>
                <a:gd name="txT" fmla="*/ 0 h 571"/>
                <a:gd name="txR" fmla="*/ 570 w 570"/>
                <a:gd name="txB" fmla="*/ 571 h 571"/>
              </a:gdLst>
              <a:ahLst/>
              <a:cxnLst>
                <a:cxn ang="0">
                  <a:pos x="0" y="0"/>
                </a:cxn>
                <a:cxn ang="0">
                  <a:pos x="341" y="347"/>
                </a:cxn>
              </a:cxnLst>
              <a:rect l="txL" t="txT" r="txR" b="txB"/>
              <a:pathLst>
                <a:path w="570" h="571">
                  <a:moveTo>
                    <a:pt x="0" y="0"/>
                  </a:moveTo>
                  <a:lnTo>
                    <a:pt x="570" y="571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457" name="Freeform 115"/>
            <p:cNvSpPr/>
            <p:nvPr/>
          </p:nvSpPr>
          <p:spPr>
            <a:xfrm>
              <a:off x="4145" y="1395"/>
              <a:ext cx="298" cy="299"/>
            </a:xfrm>
            <a:custGeom>
              <a:avLst/>
              <a:gdLst>
                <a:gd name="txL" fmla="*/ 0 w 298"/>
                <a:gd name="txT" fmla="*/ 0 h 299"/>
                <a:gd name="txR" fmla="*/ 298 w 298"/>
                <a:gd name="txB" fmla="*/ 299 h 299"/>
              </a:gdLst>
              <a:ahLst/>
              <a:cxnLst>
                <a:cxn ang="0">
                  <a:pos x="0" y="0"/>
                </a:cxn>
                <a:cxn ang="0">
                  <a:pos x="298" y="299"/>
                </a:cxn>
              </a:cxnLst>
              <a:rect l="txL" t="txT" r="txR" b="txB"/>
              <a:pathLst>
                <a:path w="298" h="299">
                  <a:moveTo>
                    <a:pt x="0" y="0"/>
                  </a:moveTo>
                  <a:lnTo>
                    <a:pt x="298" y="299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458" name="Freeform 116"/>
            <p:cNvSpPr/>
            <p:nvPr/>
          </p:nvSpPr>
          <p:spPr>
            <a:xfrm>
              <a:off x="4341" y="1017"/>
              <a:ext cx="524" cy="524"/>
            </a:xfrm>
            <a:custGeom>
              <a:avLst/>
              <a:gdLst>
                <a:gd name="txL" fmla="*/ 0 w 524"/>
                <a:gd name="txT" fmla="*/ 0 h 524"/>
                <a:gd name="txR" fmla="*/ 524 w 524"/>
                <a:gd name="txB" fmla="*/ 524 h 524"/>
              </a:gdLst>
              <a:ahLst/>
              <a:cxnLst>
                <a:cxn ang="0">
                  <a:pos x="0" y="0"/>
                </a:cxn>
                <a:cxn ang="0">
                  <a:pos x="524" y="524"/>
                </a:cxn>
              </a:cxnLst>
              <a:rect l="txL" t="txT" r="txR" b="txB"/>
              <a:pathLst>
                <a:path w="524" h="524">
                  <a:moveTo>
                    <a:pt x="0" y="0"/>
                  </a:moveTo>
                  <a:lnTo>
                    <a:pt x="524" y="524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459" name="Freeform 117"/>
            <p:cNvSpPr/>
            <p:nvPr/>
          </p:nvSpPr>
          <p:spPr>
            <a:xfrm>
              <a:off x="4439" y="958"/>
              <a:ext cx="464" cy="468"/>
            </a:xfrm>
            <a:custGeom>
              <a:avLst/>
              <a:gdLst>
                <a:gd name="txL" fmla="*/ 0 w 600"/>
                <a:gd name="txT" fmla="*/ 0 h 600"/>
                <a:gd name="txR" fmla="*/ 600 w 600"/>
                <a:gd name="txB" fmla="*/ 600 h 600"/>
              </a:gdLst>
              <a:ahLst/>
              <a:cxnLst>
                <a:cxn ang="0">
                  <a:pos x="0" y="0"/>
                </a:cxn>
                <a:cxn ang="0">
                  <a:pos x="359" y="365"/>
                </a:cxn>
              </a:cxnLst>
              <a:rect l="txL" t="txT" r="txR" b="txB"/>
              <a:pathLst>
                <a:path w="600" h="600">
                  <a:moveTo>
                    <a:pt x="0" y="0"/>
                  </a:moveTo>
                  <a:lnTo>
                    <a:pt x="600" y="60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460" name="Freeform 118"/>
            <p:cNvSpPr/>
            <p:nvPr/>
          </p:nvSpPr>
          <p:spPr>
            <a:xfrm>
              <a:off x="4578" y="970"/>
              <a:ext cx="337" cy="339"/>
            </a:xfrm>
            <a:custGeom>
              <a:avLst/>
              <a:gdLst>
                <a:gd name="txL" fmla="*/ 0 w 435"/>
                <a:gd name="txT" fmla="*/ 0 h 435"/>
                <a:gd name="txR" fmla="*/ 435 w 435"/>
                <a:gd name="txB" fmla="*/ 435 h 435"/>
              </a:gdLst>
              <a:ahLst/>
              <a:cxnLst>
                <a:cxn ang="0">
                  <a:pos x="0" y="0"/>
                </a:cxn>
                <a:cxn ang="0">
                  <a:pos x="261" y="264"/>
                </a:cxn>
              </a:cxnLst>
              <a:rect l="txL" t="txT" r="txR" b="txB"/>
              <a:pathLst>
                <a:path w="435" h="435">
                  <a:moveTo>
                    <a:pt x="0" y="0"/>
                  </a:moveTo>
                  <a:lnTo>
                    <a:pt x="435" y="435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26071" name="Line 119"/>
          <p:cNvSpPr/>
          <p:nvPr/>
        </p:nvSpPr>
        <p:spPr>
          <a:xfrm>
            <a:off x="2195513" y="2014538"/>
            <a:ext cx="0" cy="115093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4" name="Group 120"/>
          <p:cNvGrpSpPr/>
          <p:nvPr/>
        </p:nvGrpSpPr>
        <p:grpSpPr>
          <a:xfrm>
            <a:off x="2184400" y="1979613"/>
            <a:ext cx="1971675" cy="1193800"/>
            <a:chOff x="1376" y="959"/>
            <a:chExt cx="1242" cy="752"/>
          </a:xfrm>
        </p:grpSpPr>
        <p:sp>
          <p:nvSpPr>
            <p:cNvPr id="60449" name="Line 121"/>
            <p:cNvSpPr/>
            <p:nvPr/>
          </p:nvSpPr>
          <p:spPr>
            <a:xfrm flipV="1">
              <a:off x="1383" y="959"/>
              <a:ext cx="1146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50" name="Line 122"/>
            <p:cNvSpPr/>
            <p:nvPr/>
          </p:nvSpPr>
          <p:spPr>
            <a:xfrm flipV="1">
              <a:off x="1388" y="1706"/>
              <a:ext cx="1146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51" name="Freeform 123"/>
            <p:cNvSpPr/>
            <p:nvPr/>
          </p:nvSpPr>
          <p:spPr>
            <a:xfrm>
              <a:off x="2543" y="963"/>
              <a:ext cx="75" cy="748"/>
            </a:xfrm>
            <a:custGeom>
              <a:avLst/>
              <a:gdLst>
                <a:gd name="txL" fmla="*/ 0 w 96"/>
                <a:gd name="txT" fmla="*/ 0 h 960"/>
                <a:gd name="txR" fmla="*/ 96 w 96"/>
                <a:gd name="txB" fmla="*/ 960 h 960"/>
              </a:gdLst>
              <a:ahLst/>
              <a:cxnLst>
                <a:cxn ang="0">
                  <a:pos x="0" y="0"/>
                </a:cxn>
                <a:cxn ang="0">
                  <a:pos x="0" y="583"/>
                </a:cxn>
                <a:cxn ang="0">
                  <a:pos x="59" y="524"/>
                </a:cxn>
                <a:cxn ang="0">
                  <a:pos x="59" y="58"/>
                </a:cxn>
                <a:cxn ang="0">
                  <a:pos x="0" y="0"/>
                </a:cxn>
              </a:cxnLst>
              <a:rect l="txL" t="txT" r="txR" b="txB"/>
              <a:pathLst>
                <a:path w="96" h="960">
                  <a:moveTo>
                    <a:pt x="0" y="0"/>
                  </a:moveTo>
                  <a:lnTo>
                    <a:pt x="0" y="960"/>
                  </a:lnTo>
                  <a:lnTo>
                    <a:pt x="96" y="864"/>
                  </a:lnTo>
                  <a:lnTo>
                    <a:pt x="96" y="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 w="38100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0452" name="Line 124"/>
            <p:cNvSpPr/>
            <p:nvPr/>
          </p:nvSpPr>
          <p:spPr>
            <a:xfrm>
              <a:off x="1383" y="1038"/>
              <a:ext cx="1225" cy="0"/>
            </a:xfrm>
            <a:prstGeom prst="line">
              <a:avLst/>
            </a:prstGeom>
            <a:ln w="127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53" name="Line 125"/>
            <p:cNvSpPr/>
            <p:nvPr/>
          </p:nvSpPr>
          <p:spPr>
            <a:xfrm>
              <a:off x="1376" y="1638"/>
              <a:ext cx="1225" cy="0"/>
            </a:xfrm>
            <a:prstGeom prst="line">
              <a:avLst/>
            </a:prstGeom>
            <a:ln w="127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6078" name="AutoShape 126"/>
          <p:cNvSpPr/>
          <p:nvPr/>
        </p:nvSpPr>
        <p:spPr>
          <a:xfrm>
            <a:off x="215900" y="873125"/>
            <a:ext cx="1733550" cy="920750"/>
          </a:xfrm>
          <a:prstGeom prst="wedgeRectCallout">
            <a:avLst>
              <a:gd name="adj1" fmla="val 183333"/>
              <a:gd name="adj2" fmla="val 46380"/>
            </a:avLst>
          </a:prstGeom>
          <a:noFill/>
          <a:ln w="3175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zh-CN" altLang="en-US" sz="2400" b="1" dirty="0">
                <a:solidFill>
                  <a:srgbClr val="990099"/>
                </a:solidFill>
                <a:latin typeface="Times New Roman" panose="02020603050405020304" pitchFamily="18" charset="0"/>
              </a:rPr>
              <a:t>剖面线画</a:t>
            </a:r>
            <a:endParaRPr lang="zh-CN" altLang="en-US" sz="2400" b="1" dirty="0">
              <a:solidFill>
                <a:srgbClr val="990099"/>
              </a:solidFill>
              <a:latin typeface="Times New Roman" panose="02020603050405020304" pitchFamily="18" charset="0"/>
            </a:endParaRPr>
          </a:p>
          <a:p>
            <a:pPr algn="ctr" eaLnBrk="0" hangingPunct="0"/>
            <a:r>
              <a:rPr lang="zh-CN" altLang="en-US" sz="2400" b="1" dirty="0">
                <a:solidFill>
                  <a:srgbClr val="990099"/>
                </a:solidFill>
                <a:latin typeface="Times New Roman" panose="02020603050405020304" pitchFamily="18" charset="0"/>
              </a:rPr>
              <a:t>到粗实线</a:t>
            </a:r>
            <a:endParaRPr lang="zh-CN" altLang="en-US" sz="2400" b="1" dirty="0">
              <a:solidFill>
                <a:srgbClr val="99009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5" name="Group 127"/>
          <p:cNvGrpSpPr/>
          <p:nvPr/>
        </p:nvGrpSpPr>
        <p:grpSpPr>
          <a:xfrm>
            <a:off x="4140200" y="1177925"/>
            <a:ext cx="935038" cy="982663"/>
            <a:chOff x="2608" y="454"/>
            <a:chExt cx="589" cy="619"/>
          </a:xfrm>
        </p:grpSpPr>
        <p:sp>
          <p:nvSpPr>
            <p:cNvPr id="60442" name="Line 128"/>
            <p:cNvSpPr/>
            <p:nvPr/>
          </p:nvSpPr>
          <p:spPr>
            <a:xfrm>
              <a:off x="2620" y="458"/>
              <a:ext cx="0" cy="5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43" name="Line 129"/>
            <p:cNvSpPr/>
            <p:nvPr/>
          </p:nvSpPr>
          <p:spPr>
            <a:xfrm>
              <a:off x="2882" y="480"/>
              <a:ext cx="0" cy="5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44" name="Line 130"/>
            <p:cNvSpPr/>
            <p:nvPr/>
          </p:nvSpPr>
          <p:spPr>
            <a:xfrm>
              <a:off x="3120" y="484"/>
              <a:ext cx="0" cy="5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45" name="Line 131"/>
            <p:cNvSpPr/>
            <p:nvPr/>
          </p:nvSpPr>
          <p:spPr>
            <a:xfrm flipV="1">
              <a:off x="2608" y="581"/>
              <a:ext cx="2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sm" len="lg"/>
              <a:tailEnd type="triangle" w="sm" len="lg"/>
            </a:ln>
          </p:spPr>
        </p:sp>
        <p:sp>
          <p:nvSpPr>
            <p:cNvPr id="60446" name="Line 132"/>
            <p:cNvSpPr/>
            <p:nvPr/>
          </p:nvSpPr>
          <p:spPr>
            <a:xfrm flipV="1">
              <a:off x="2876" y="573"/>
              <a:ext cx="2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sm" len="lg"/>
              <a:tailEnd type="triangle" w="sm" len="lg"/>
            </a:ln>
          </p:spPr>
        </p:sp>
        <p:sp>
          <p:nvSpPr>
            <p:cNvPr id="60447" name="Text Box 133"/>
            <p:cNvSpPr txBox="1"/>
            <p:nvPr/>
          </p:nvSpPr>
          <p:spPr>
            <a:xfrm>
              <a:off x="2635" y="454"/>
              <a:ext cx="318" cy="1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800" dirty="0">
                  <a:latin typeface="Arial" panose="020B0604020202020204" pitchFamily="34" charset="0"/>
                </a:rPr>
                <a:t>0.5d</a:t>
              </a:r>
              <a:endParaRPr lang="en-US" altLang="zh-CN" sz="800" dirty="0">
                <a:latin typeface="Arial" panose="020B0604020202020204" pitchFamily="34" charset="0"/>
              </a:endParaRPr>
            </a:p>
          </p:txBody>
        </p:sp>
        <p:sp>
          <p:nvSpPr>
            <p:cNvPr id="60448" name="Text Box 134"/>
            <p:cNvSpPr txBox="1"/>
            <p:nvPr/>
          </p:nvSpPr>
          <p:spPr>
            <a:xfrm>
              <a:off x="2879" y="460"/>
              <a:ext cx="318" cy="1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800" dirty="0">
                  <a:latin typeface="Arial" panose="020B0604020202020204" pitchFamily="34" charset="0"/>
                </a:rPr>
                <a:t>0.5d</a:t>
              </a:r>
              <a:endParaRPr lang="en-US" altLang="zh-CN" sz="800" dirty="0">
                <a:latin typeface="Arial" panose="020B0604020202020204" pitchFamily="34" charset="0"/>
              </a:endParaRPr>
            </a:p>
          </p:txBody>
        </p:sp>
      </p:grpSp>
      <p:sp>
        <p:nvSpPr>
          <p:cNvPr id="9233" name="Rectangle 17"/>
          <p:cNvSpPr/>
          <p:nvPr/>
        </p:nvSpPr>
        <p:spPr>
          <a:xfrm>
            <a:off x="263525" y="215900"/>
            <a:ext cx="373316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2</a:t>
            </a:r>
            <a:r>
              <a:rPr lang="zh-CN" altLang="en-US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、螺纹的规定画法</a:t>
            </a:r>
            <a:endParaRPr lang="zh-CN" altLang="en-US" sz="28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343051" name="组合 343050"/>
          <p:cNvGrpSpPr/>
          <p:nvPr/>
        </p:nvGrpSpPr>
        <p:grpSpPr>
          <a:xfrm>
            <a:off x="263525" y="70929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6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6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3000"/>
                                        <p:tgtEl>
                                          <p:spTgt spid="12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" dur="500"/>
                                        <p:tgtEl>
                                          <p:spTgt spid="1260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75"/>
                                        <p:tgtEl>
                                          <p:spTgt spid="126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75"/>
                                        <p:tgtEl>
                                          <p:spTgt spid="1260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75"/>
                                        <p:tgtEl>
                                          <p:spTgt spid="1260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259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259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26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26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260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10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2" grpId="0"/>
      <p:bldP spid="125959" grpId="0"/>
      <p:bldP spid="126029" grpId="0" build="p"/>
      <p:bldP spid="126030" grpId="0"/>
      <p:bldP spid="126031" grpId="0"/>
      <p:bldP spid="126032" grpId="0" bldLvl="0" animBg="1"/>
      <p:bldP spid="126033" grpId="0" bldLvl="0" animBg="1"/>
      <p:bldP spid="126078" grpId="0" bldLvl="0" animBg="1"/>
      <p:bldP spid="92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2" name="Rectangle 22"/>
          <p:cNvSpPr/>
          <p:nvPr/>
        </p:nvSpPr>
        <p:spPr>
          <a:xfrm>
            <a:off x="2992438" y="6232525"/>
            <a:ext cx="2592387" cy="39687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螺纹的画法小结</a:t>
            </a:r>
            <a:endParaRPr lang="en-US" altLang="zh-CN" sz="20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20974" name="Text Box 142"/>
          <p:cNvSpPr txBox="1"/>
          <p:nvPr/>
        </p:nvSpPr>
        <p:spPr>
          <a:xfrm>
            <a:off x="611188" y="765175"/>
            <a:ext cx="7956550" cy="519113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sym typeface="Monotype Sorts" pitchFamily="2" charset="2"/>
              </a:rPr>
              <a:t>a.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外螺纹的大径，内螺纹的小径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用粗实线表示</a:t>
            </a:r>
            <a:r>
              <a:rPr lang="zh-CN" altLang="en-US" sz="2800" b="1" dirty="0">
                <a:latin typeface="Times New Roman" panose="02020603050405020304" pitchFamily="18" charset="0"/>
              </a:rPr>
              <a:t> 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20975" name="Text Box 143"/>
          <p:cNvSpPr txBox="1"/>
          <p:nvPr/>
        </p:nvSpPr>
        <p:spPr>
          <a:xfrm>
            <a:off x="611188" y="1341438"/>
            <a:ext cx="8532812" cy="519112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sym typeface="Monotype Sorts" pitchFamily="2" charset="2"/>
              </a:rPr>
              <a:t>b.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外螺纹的小径线，内螺纹的大径线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用细实线表示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20976" name="Text Box 144"/>
          <p:cNvSpPr txBox="1"/>
          <p:nvPr/>
        </p:nvSpPr>
        <p:spPr>
          <a:xfrm>
            <a:off x="541338" y="2097088"/>
            <a:ext cx="8208962" cy="519112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sym typeface="Monotype Sorts" pitchFamily="2" charset="2"/>
              </a:rPr>
              <a:t>c.</a:t>
            </a:r>
            <a:r>
              <a:rPr lang="zh-CN" altLang="en-US" sz="2800" b="1" dirty="0">
                <a:latin typeface="Times New Roman" panose="02020603050405020304" pitchFamily="18" charset="0"/>
              </a:rPr>
              <a:t>在投影为圆的视图上，细实线 圆只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画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3/4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圈。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20977" name="Text Box 145"/>
          <p:cNvSpPr txBox="1"/>
          <p:nvPr/>
        </p:nvSpPr>
        <p:spPr>
          <a:xfrm>
            <a:off x="179388" y="2862263"/>
            <a:ext cx="9324975" cy="519112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sym typeface="Monotype Sorts" pitchFamily="2" charset="2"/>
              </a:rPr>
              <a:t>d.</a:t>
            </a:r>
            <a:r>
              <a:rPr lang="zh-CN" altLang="en-US" sz="2800" b="1" dirty="0">
                <a:latin typeface="Arial" panose="020B0604020202020204" pitchFamily="34" charset="0"/>
              </a:rPr>
              <a:t>不管是内螺纹还是外螺纹，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螺纹终止线用粗实线</a:t>
            </a:r>
            <a:r>
              <a:rPr lang="zh-CN" altLang="en-US" sz="2800" b="1" dirty="0">
                <a:latin typeface="Times New Roman" panose="02020603050405020304" pitchFamily="18" charset="0"/>
              </a:rPr>
              <a:t>表示。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20978" name="Text Box 146"/>
          <p:cNvSpPr txBox="1"/>
          <p:nvPr/>
        </p:nvSpPr>
        <p:spPr>
          <a:xfrm>
            <a:off x="719138" y="4630738"/>
            <a:ext cx="7997825" cy="9461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sym typeface="Monotype Sorts" pitchFamily="2" charset="2"/>
              </a:rPr>
              <a:t>f.</a:t>
            </a:r>
            <a:r>
              <a:rPr lang="zh-CN" altLang="en-US" sz="2800" b="1" dirty="0">
                <a:latin typeface="Times New Roman" panose="02020603050405020304" pitchFamily="18" charset="0"/>
              </a:rPr>
              <a:t>当需要表示螺纹收尾时，螺尾部分的牙底线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与轴线成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30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，一般省略不画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20979" name="Text Box 147"/>
          <p:cNvSpPr txBox="1"/>
          <p:nvPr/>
        </p:nvSpPr>
        <p:spPr>
          <a:xfrm>
            <a:off x="647700" y="3536950"/>
            <a:ext cx="8001000" cy="9461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sym typeface="Monotype Sorts" pitchFamily="2" charset="2"/>
              </a:rPr>
              <a:t>e.</a:t>
            </a:r>
            <a:r>
              <a:rPr lang="zh-CN" altLang="en-US" sz="2800" b="1" dirty="0">
                <a:latin typeface="Times New Roman" panose="02020603050405020304" pitchFamily="18" charset="0"/>
              </a:rPr>
              <a:t>不管是内螺纹还是外螺纹，其剖视图或断面图上的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剖面线都必须画到粗实线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20981" name="Text Box 149"/>
          <p:cNvSpPr txBox="1"/>
          <p:nvPr/>
        </p:nvSpPr>
        <p:spPr>
          <a:xfrm>
            <a:off x="722313" y="5591175"/>
            <a:ext cx="7615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sym typeface="Monotype Sorts" pitchFamily="2" charset="2"/>
              </a:rPr>
              <a:t>d.</a:t>
            </a:r>
            <a:r>
              <a:rPr lang="zh-CN" altLang="en-US" sz="2800" b="1" dirty="0">
                <a:latin typeface="Arial" panose="020B0604020202020204" pitchFamily="34" charset="0"/>
              </a:rPr>
              <a:t>不管是内螺纹还是外螺纹，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倒角圆省略不画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9233" name="Rectangle 17"/>
          <p:cNvSpPr/>
          <p:nvPr/>
        </p:nvSpPr>
        <p:spPr>
          <a:xfrm>
            <a:off x="263525" y="215900"/>
            <a:ext cx="373316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2</a:t>
            </a:r>
            <a:r>
              <a:rPr lang="zh-CN" altLang="en-US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、螺纹的规定画法</a:t>
            </a:r>
            <a:endParaRPr lang="zh-CN" altLang="en-US" sz="28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343051" name="组合 343050"/>
          <p:cNvGrpSpPr/>
          <p:nvPr/>
        </p:nvGrpSpPr>
        <p:grpSpPr>
          <a:xfrm>
            <a:off x="263525" y="70929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209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209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209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1209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209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209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1209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75"/>
                                        <p:tgtEl>
                                          <p:spTgt spid="120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2" grpId="0"/>
      <p:bldP spid="120974" grpId="0"/>
      <p:bldP spid="120975" grpId="0"/>
      <p:bldP spid="120976" grpId="0"/>
      <p:bldP spid="120977" grpId="0" build="p"/>
      <p:bldP spid="120978" grpId="0"/>
      <p:bldP spid="120978" grpId="1"/>
      <p:bldP spid="120979" grpId="0"/>
      <p:bldP spid="120981" grpId="0" build="p"/>
      <p:bldP spid="923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31" name="Picture 7"/>
          <p:cNvPicPr>
            <a:picLocks noChangeAspect="1"/>
          </p:cNvPicPr>
          <p:nvPr/>
        </p:nvPicPr>
        <p:blipFill>
          <a:blip r:embed="rId1"/>
          <a:srcRect l="24960" t="16486" r="21785" b="14970"/>
          <a:stretch>
            <a:fillRect/>
          </a:stretch>
        </p:blipFill>
        <p:spPr>
          <a:xfrm>
            <a:off x="935038" y="981075"/>
            <a:ext cx="7129462" cy="55165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Rectangle 22"/>
          <p:cNvSpPr/>
          <p:nvPr/>
        </p:nvSpPr>
        <p:spPr>
          <a:xfrm>
            <a:off x="263525" y="153353"/>
            <a:ext cx="44596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2800" b="1" dirty="0">
                <a:solidFill>
                  <a:srgbClr val="660066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800" b="1" dirty="0">
                <a:solidFill>
                  <a:srgbClr val="660066"/>
                </a:solidFill>
                <a:latin typeface="Arial" panose="020B0604020202020204" pitchFamily="34" charset="0"/>
              </a:rPr>
              <a:t>．</a:t>
            </a:r>
            <a:r>
              <a:rPr lang="zh-CN" altLang="en-US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螺纹的种类和标注</a:t>
            </a:r>
            <a:r>
              <a:rPr lang="en-US" altLang="zh-CN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endParaRPr lang="en-US" altLang="zh-CN" sz="20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33375" y="812165"/>
            <a:ext cx="8351838" cy="28575"/>
            <a:chOff x="172" y="1025"/>
            <a:chExt cx="5261" cy="28"/>
          </a:xfrm>
        </p:grpSpPr>
        <p:sp>
          <p:nvSpPr>
            <p:cNvPr id="4" name="矩形 3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2" name="Rectangle 22"/>
          <p:cNvSpPr/>
          <p:nvPr/>
        </p:nvSpPr>
        <p:spPr>
          <a:xfrm>
            <a:off x="263525" y="153353"/>
            <a:ext cx="44596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2800" b="1" dirty="0">
                <a:solidFill>
                  <a:srgbClr val="660066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800" b="1" dirty="0">
                <a:solidFill>
                  <a:srgbClr val="660066"/>
                </a:solidFill>
                <a:latin typeface="Arial" panose="020B0604020202020204" pitchFamily="34" charset="0"/>
              </a:rPr>
              <a:t>．</a:t>
            </a:r>
            <a:r>
              <a:rPr lang="zh-CN" altLang="en-US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螺纹的种类和标注</a:t>
            </a:r>
            <a:r>
              <a:rPr lang="en-US" altLang="zh-CN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endParaRPr lang="en-US" altLang="zh-CN" sz="20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pic>
        <p:nvPicPr>
          <p:cNvPr id="107528" name="Picture 8"/>
          <p:cNvPicPr>
            <a:picLocks noChangeAspect="1"/>
          </p:cNvPicPr>
          <p:nvPr/>
        </p:nvPicPr>
        <p:blipFill>
          <a:blip r:embed="rId1"/>
          <a:srcRect l="24960" t="21254" r="21547" b="20396"/>
          <a:stretch>
            <a:fillRect/>
          </a:stretch>
        </p:blipFill>
        <p:spPr>
          <a:xfrm>
            <a:off x="250825" y="873125"/>
            <a:ext cx="8559800" cy="56134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43051" name="组合 343050"/>
          <p:cNvGrpSpPr/>
          <p:nvPr/>
        </p:nvGrpSpPr>
        <p:grpSpPr>
          <a:xfrm>
            <a:off x="333375" y="81216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7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7" name="Text Box 7"/>
          <p:cNvSpPr txBox="1"/>
          <p:nvPr/>
        </p:nvSpPr>
        <p:spPr>
          <a:xfrm>
            <a:off x="436880" y="996633"/>
            <a:ext cx="4940300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zh-CN" altLang="en-US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普通螺纹</a:t>
            </a:r>
            <a:r>
              <a:rPr lang="zh-CN" altLang="en-US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  <a:sym typeface="+mn-ea"/>
              </a:rPr>
              <a:t>的</a:t>
            </a:r>
            <a:r>
              <a:rPr lang="zh-CN" altLang="en-US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完整标注由三部分组成</a:t>
            </a:r>
            <a:endParaRPr lang="zh-CN" altLang="en-US" sz="20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22888" name="Text Box 8"/>
          <p:cNvSpPr txBox="1"/>
          <p:nvPr/>
        </p:nvSpPr>
        <p:spPr>
          <a:xfrm>
            <a:off x="576263" y="2631123"/>
            <a:ext cx="1828800" cy="592137"/>
          </a:xfrm>
          <a:prstGeom prst="rect">
            <a:avLst/>
          </a:prstGeom>
          <a:noFill/>
          <a:ln w="127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</a:rPr>
              <a:t>特征代号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22889" name="Text Box 9"/>
          <p:cNvSpPr txBox="1"/>
          <p:nvPr/>
        </p:nvSpPr>
        <p:spPr>
          <a:xfrm>
            <a:off x="2513013" y="2631123"/>
            <a:ext cx="1828800" cy="592137"/>
          </a:xfrm>
          <a:prstGeom prst="rect">
            <a:avLst/>
          </a:prstGeom>
          <a:noFill/>
          <a:ln w="127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</a:rPr>
              <a:t>公称直径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22890" name="Text Box 10"/>
          <p:cNvSpPr txBox="1"/>
          <p:nvPr/>
        </p:nvSpPr>
        <p:spPr>
          <a:xfrm>
            <a:off x="4208463" y="2631123"/>
            <a:ext cx="593725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3200" b="1" dirty="0">
                <a:latin typeface="Times New Roman" panose="02020603050405020304" pitchFamily="18" charset="0"/>
              </a:rPr>
              <a:t>×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22891" name="Text Box 11"/>
          <p:cNvSpPr txBox="1"/>
          <p:nvPr/>
        </p:nvSpPr>
        <p:spPr>
          <a:xfrm>
            <a:off x="4675188" y="2631123"/>
            <a:ext cx="2447925" cy="592137"/>
          </a:xfrm>
          <a:prstGeom prst="rect">
            <a:avLst/>
          </a:prstGeom>
          <a:noFill/>
          <a:ln w="127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</a:rPr>
              <a:t>导程</a:t>
            </a:r>
            <a:r>
              <a:rPr lang="en-US" altLang="zh-CN" sz="3200" b="1" dirty="0">
                <a:latin typeface="Times New Roman" panose="02020603050405020304" pitchFamily="18" charset="0"/>
              </a:rPr>
              <a:t>( P</a:t>
            </a:r>
            <a:r>
              <a:rPr lang="zh-CN" altLang="en-US" sz="3200" b="1" dirty="0">
                <a:latin typeface="Times New Roman" panose="02020603050405020304" pitchFamily="18" charset="0"/>
              </a:rPr>
              <a:t>螺距</a:t>
            </a:r>
            <a:r>
              <a:rPr lang="en-US" altLang="zh-CN" sz="3200" b="1" dirty="0">
                <a:latin typeface="Times New Roman" panose="02020603050405020304" pitchFamily="18" charset="0"/>
              </a:rPr>
              <a:t>)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22892" name="Text Box 12"/>
          <p:cNvSpPr txBox="1"/>
          <p:nvPr/>
        </p:nvSpPr>
        <p:spPr>
          <a:xfrm>
            <a:off x="7196138" y="2631123"/>
            <a:ext cx="1012825" cy="592137"/>
          </a:xfrm>
          <a:prstGeom prst="rect">
            <a:avLst/>
          </a:prstGeom>
          <a:noFill/>
          <a:ln w="127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</a:rPr>
              <a:t>旋向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22893" name="Text Box 13"/>
          <p:cNvSpPr txBox="1"/>
          <p:nvPr/>
        </p:nvSpPr>
        <p:spPr>
          <a:xfrm>
            <a:off x="1006475" y="3401060"/>
            <a:ext cx="2236788" cy="592138"/>
          </a:xfrm>
          <a:prstGeom prst="rect">
            <a:avLst/>
          </a:prstGeom>
          <a:noFill/>
          <a:ln w="127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</a:rPr>
              <a:t>公差带代号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22894" name="Text Box 14"/>
          <p:cNvSpPr txBox="1"/>
          <p:nvPr/>
        </p:nvSpPr>
        <p:spPr>
          <a:xfrm>
            <a:off x="3168650" y="3412173"/>
            <a:ext cx="593725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3200" b="1" dirty="0">
                <a:latin typeface="Times New Roman" panose="02020603050405020304" pitchFamily="18" charset="0"/>
              </a:rPr>
              <a:t>－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22895" name="Text Box 15"/>
          <p:cNvSpPr txBox="1"/>
          <p:nvPr/>
        </p:nvSpPr>
        <p:spPr>
          <a:xfrm>
            <a:off x="3671888" y="3386773"/>
            <a:ext cx="2644775" cy="592137"/>
          </a:xfrm>
          <a:prstGeom prst="rect">
            <a:avLst/>
          </a:prstGeom>
          <a:noFill/>
          <a:ln w="127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</a:rPr>
              <a:t>旋合长度代号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22896" name="Text Box 16"/>
          <p:cNvSpPr txBox="1"/>
          <p:nvPr/>
        </p:nvSpPr>
        <p:spPr>
          <a:xfrm>
            <a:off x="611505" y="5636261"/>
            <a:ext cx="4492625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000" b="1" dirty="0">
                <a:latin typeface="Arial" panose="020B0604020202020204" pitchFamily="34" charset="0"/>
              </a:rPr>
              <a:t>b.</a:t>
            </a:r>
            <a:r>
              <a:rPr lang="zh-CN" altLang="en-US" sz="2000" b="1" dirty="0">
                <a:latin typeface="Arial" panose="020B0604020202020204" pitchFamily="34" charset="0"/>
              </a:rPr>
              <a:t>粗牙螺纹不标注螺距；细牙标螺距。</a:t>
            </a:r>
            <a:endParaRPr lang="zh-CN" altLang="en-US" sz="2000" b="1" dirty="0">
              <a:latin typeface="Arial" panose="020B0604020202020204" pitchFamily="34" charset="0"/>
            </a:endParaRPr>
          </a:p>
        </p:txBody>
      </p:sp>
      <p:sp>
        <p:nvSpPr>
          <p:cNvPr id="122897" name="Text Box 17"/>
          <p:cNvSpPr txBox="1"/>
          <p:nvPr/>
        </p:nvSpPr>
        <p:spPr>
          <a:xfrm>
            <a:off x="493078" y="6368098"/>
            <a:ext cx="429260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</a:rPr>
              <a:t>d.</a:t>
            </a:r>
            <a:r>
              <a:rPr lang="zh-CN" altLang="en-US" sz="2000" b="1" dirty="0">
                <a:latin typeface="Arial" panose="020B0604020202020204" pitchFamily="34" charset="0"/>
              </a:rPr>
              <a:t>旋合长度为中等时，</a:t>
            </a:r>
            <a:r>
              <a:rPr lang="zh-CN" altLang="en-US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“</a:t>
            </a:r>
            <a:r>
              <a:rPr lang="en-US" altLang="zh-CN" sz="20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 sz="2000" b="1" dirty="0">
                <a:latin typeface="Arial" panose="020B0604020202020204" pitchFamily="34" charset="0"/>
              </a:rPr>
              <a:t>可省略。</a:t>
            </a:r>
            <a:endParaRPr lang="zh-CN" altLang="en-US" sz="2000" b="1" dirty="0">
              <a:latin typeface="Arial" panose="020B0604020202020204" pitchFamily="34" charset="0"/>
            </a:endParaRPr>
          </a:p>
        </p:txBody>
      </p:sp>
      <p:sp>
        <p:nvSpPr>
          <p:cNvPr id="122898" name="Text Box 18"/>
          <p:cNvSpPr txBox="1"/>
          <p:nvPr/>
        </p:nvSpPr>
        <p:spPr>
          <a:xfrm>
            <a:off x="611188" y="5237163"/>
            <a:ext cx="4505325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</a:rPr>
              <a:t>a.</a:t>
            </a:r>
            <a:r>
              <a:rPr lang="zh-CN" altLang="en-US" sz="2000" b="1" dirty="0">
                <a:latin typeface="Arial" panose="020B0604020202020204" pitchFamily="34" charset="0"/>
              </a:rPr>
              <a:t>单线螺纹</a:t>
            </a:r>
            <a:r>
              <a:rPr lang="en-US" altLang="zh-CN" sz="20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×</a:t>
            </a:r>
            <a:r>
              <a:rPr lang="zh-CN" altLang="en-US" sz="2000" b="1" dirty="0">
                <a:solidFill>
                  <a:srgbClr val="FF3300"/>
                </a:solidFill>
                <a:latin typeface="Arial" panose="020B0604020202020204" pitchFamily="34" charset="0"/>
              </a:rPr>
              <a:t>导程</a:t>
            </a:r>
            <a:r>
              <a:rPr lang="en-US" altLang="zh-CN" sz="2000" b="1" dirty="0">
                <a:solidFill>
                  <a:srgbClr val="FF3300"/>
                </a:solidFill>
                <a:latin typeface="Arial" panose="020B0604020202020204" pitchFamily="34" charset="0"/>
              </a:rPr>
              <a:t>( P</a:t>
            </a:r>
            <a:r>
              <a:rPr lang="zh-CN" altLang="en-US" sz="2000" b="1" dirty="0">
                <a:solidFill>
                  <a:srgbClr val="FF3300"/>
                </a:solidFill>
                <a:latin typeface="Arial" panose="020B0604020202020204" pitchFamily="34" charset="0"/>
              </a:rPr>
              <a:t>螺距</a:t>
            </a:r>
            <a:r>
              <a:rPr lang="en-US" altLang="zh-CN" sz="2000" b="1" dirty="0">
                <a:solidFill>
                  <a:srgbClr val="FF3300"/>
                </a:solidFill>
                <a:latin typeface="Arial" panose="020B0604020202020204" pitchFamily="34" charset="0"/>
              </a:rPr>
              <a:t>)</a:t>
            </a:r>
            <a:r>
              <a:rPr lang="zh-CN" altLang="en-US" sz="2000" b="1" dirty="0">
                <a:latin typeface="Arial" panose="020B0604020202020204" pitchFamily="34" charset="0"/>
              </a:rPr>
              <a:t>改为</a:t>
            </a:r>
            <a:r>
              <a:rPr lang="en-US" altLang="zh-CN" sz="2000" b="1" dirty="0">
                <a:solidFill>
                  <a:srgbClr val="FF3300"/>
                </a:solidFill>
                <a:latin typeface="Arial" panose="020B0604020202020204" pitchFamily="34" charset="0"/>
              </a:rPr>
              <a:t>×</a:t>
            </a:r>
            <a:r>
              <a:rPr lang="zh-CN" altLang="en-US" sz="2000" b="1" dirty="0">
                <a:solidFill>
                  <a:srgbClr val="FF3300"/>
                </a:solidFill>
                <a:latin typeface="Arial" panose="020B0604020202020204" pitchFamily="34" charset="0"/>
              </a:rPr>
              <a:t>螺距</a:t>
            </a:r>
            <a:r>
              <a:rPr lang="en-US" altLang="zh-CN" sz="2000" b="1" dirty="0">
                <a:latin typeface="宋体" panose="02010600030101010101" pitchFamily="2" charset="-122"/>
              </a:rPr>
              <a:t>;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22899" name="Text Box 19"/>
          <p:cNvSpPr txBox="1"/>
          <p:nvPr/>
        </p:nvSpPr>
        <p:spPr>
          <a:xfrm>
            <a:off x="521018" y="5969318"/>
            <a:ext cx="416433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</a:rPr>
              <a:t>c.</a:t>
            </a:r>
            <a:r>
              <a:rPr lang="zh-CN" altLang="en-US" sz="2000" b="1" dirty="0">
                <a:latin typeface="Arial" panose="020B0604020202020204" pitchFamily="34" charset="0"/>
              </a:rPr>
              <a:t>右旋螺纹不标，左旋时则标注</a:t>
            </a:r>
            <a:r>
              <a:rPr lang="en-US" altLang="zh-CN" sz="20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LH</a:t>
            </a: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;</a:t>
            </a:r>
            <a:endParaRPr lang="en-US" altLang="zh-CN" sz="20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20"/>
          <p:cNvGrpSpPr/>
          <p:nvPr/>
        </p:nvGrpSpPr>
        <p:grpSpPr>
          <a:xfrm>
            <a:off x="7205663" y="3210243"/>
            <a:ext cx="993775" cy="1158875"/>
            <a:chOff x="4877" y="1142"/>
            <a:chExt cx="626" cy="730"/>
          </a:xfrm>
        </p:grpSpPr>
        <p:sp>
          <p:nvSpPr>
            <p:cNvPr id="62493" name="Text Box 21"/>
            <p:cNvSpPr txBox="1"/>
            <p:nvPr/>
          </p:nvSpPr>
          <p:spPr>
            <a:xfrm>
              <a:off x="4877" y="1346"/>
              <a:ext cx="626" cy="526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400" b="1" dirty="0">
                  <a:latin typeface="Times New Roman" panose="02020603050405020304" pitchFamily="18" charset="0"/>
                </a:rPr>
                <a:t>右旋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sz="2400" b="1" dirty="0">
                  <a:latin typeface="Times New Roman" panose="02020603050405020304" pitchFamily="18" charset="0"/>
                </a:rPr>
                <a:t>左旋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2494" name="Line 22"/>
            <p:cNvSpPr/>
            <p:nvPr/>
          </p:nvSpPr>
          <p:spPr>
            <a:xfrm>
              <a:off x="5190" y="1142"/>
              <a:ext cx="0" cy="207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triangle" w="sm" len="lg"/>
              <a:tailEnd type="none" w="med" len="med"/>
            </a:ln>
          </p:spPr>
        </p:sp>
      </p:grpSp>
      <p:grpSp>
        <p:nvGrpSpPr>
          <p:cNvPr id="3" name="Group 23"/>
          <p:cNvGrpSpPr/>
          <p:nvPr/>
        </p:nvGrpSpPr>
        <p:grpSpPr>
          <a:xfrm>
            <a:off x="3687763" y="3963035"/>
            <a:ext cx="2678112" cy="1165225"/>
            <a:chOff x="2323" y="1622"/>
            <a:chExt cx="1687" cy="734"/>
          </a:xfrm>
        </p:grpSpPr>
        <p:sp>
          <p:nvSpPr>
            <p:cNvPr id="62491" name="Text Box 24"/>
            <p:cNvSpPr txBox="1"/>
            <p:nvPr/>
          </p:nvSpPr>
          <p:spPr>
            <a:xfrm>
              <a:off x="2323" y="1830"/>
              <a:ext cx="1687" cy="526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400" b="1" dirty="0">
                  <a:latin typeface="Times New Roman" panose="02020603050405020304" pitchFamily="18" charset="0"/>
                </a:rPr>
                <a:t>长：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L     </a:t>
              </a:r>
              <a:r>
                <a:rPr lang="zh-CN" altLang="zh-CN" sz="2400" b="1" dirty="0">
                  <a:latin typeface="Times New Roman" panose="02020603050405020304" pitchFamily="18" charset="0"/>
                </a:rPr>
                <a:t>中等：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N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sz="2400" b="1" dirty="0">
                  <a:latin typeface="Times New Roman" panose="02020603050405020304" pitchFamily="18" charset="0"/>
                </a:rPr>
                <a:t>短：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S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2492" name="Line 25"/>
            <p:cNvSpPr/>
            <p:nvPr/>
          </p:nvSpPr>
          <p:spPr>
            <a:xfrm flipV="1">
              <a:off x="3166" y="1622"/>
              <a:ext cx="0" cy="208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none" w="med" len="med"/>
              <a:tailEnd type="triangle" w="sm" len="lg"/>
            </a:ln>
          </p:spPr>
        </p:sp>
      </p:grpSp>
      <p:grpSp>
        <p:nvGrpSpPr>
          <p:cNvPr id="4" name="Group 26"/>
          <p:cNvGrpSpPr/>
          <p:nvPr/>
        </p:nvGrpSpPr>
        <p:grpSpPr>
          <a:xfrm>
            <a:off x="1298575" y="3963035"/>
            <a:ext cx="1728788" cy="1117600"/>
            <a:chOff x="818" y="1635"/>
            <a:chExt cx="1089" cy="704"/>
          </a:xfrm>
        </p:grpSpPr>
        <p:sp>
          <p:nvSpPr>
            <p:cNvPr id="62489" name="Text Box 27"/>
            <p:cNvSpPr txBox="1"/>
            <p:nvPr/>
          </p:nvSpPr>
          <p:spPr>
            <a:xfrm>
              <a:off x="818" y="1813"/>
              <a:ext cx="1089" cy="526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 b="1" dirty="0">
                  <a:latin typeface="Times New Roman" panose="02020603050405020304" pitchFamily="18" charset="0"/>
                </a:rPr>
                <a:t>中径和顶径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sz="2400" b="1" dirty="0">
                  <a:latin typeface="Times New Roman" panose="02020603050405020304" pitchFamily="18" charset="0"/>
                </a:rPr>
                <a:t>公差带代号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2490" name="Line 28"/>
            <p:cNvSpPr/>
            <p:nvPr/>
          </p:nvSpPr>
          <p:spPr>
            <a:xfrm>
              <a:off x="1375" y="1635"/>
              <a:ext cx="0" cy="195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triangle" w="sm" len="lg"/>
              <a:tailEnd type="none" w="med" len="med"/>
            </a:ln>
          </p:spPr>
        </p:sp>
      </p:grpSp>
      <p:sp>
        <p:nvSpPr>
          <p:cNvPr id="122909" name="Text Box 29"/>
          <p:cNvSpPr txBox="1"/>
          <p:nvPr/>
        </p:nvSpPr>
        <p:spPr>
          <a:xfrm>
            <a:off x="436563" y="3399473"/>
            <a:ext cx="593725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3200" b="1" dirty="0">
                <a:latin typeface="Times New Roman" panose="02020603050405020304" pitchFamily="18" charset="0"/>
              </a:rPr>
              <a:t>－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0262" name="Rectangle 22"/>
          <p:cNvSpPr/>
          <p:nvPr/>
        </p:nvSpPr>
        <p:spPr>
          <a:xfrm>
            <a:off x="263525" y="153353"/>
            <a:ext cx="44596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2800" b="1" dirty="0">
                <a:solidFill>
                  <a:srgbClr val="660066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800" b="1" dirty="0">
                <a:solidFill>
                  <a:srgbClr val="660066"/>
                </a:solidFill>
                <a:latin typeface="Arial" panose="020B0604020202020204" pitchFamily="34" charset="0"/>
              </a:rPr>
              <a:t>．</a:t>
            </a:r>
            <a:r>
              <a:rPr lang="zh-CN" altLang="en-US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螺纹的种类和标注</a:t>
            </a:r>
            <a:r>
              <a:rPr lang="en-US" altLang="zh-CN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endParaRPr lang="en-US" altLang="zh-CN" sz="20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343051" name="组合 343050"/>
          <p:cNvGrpSpPr/>
          <p:nvPr/>
        </p:nvGrpSpPr>
        <p:grpSpPr>
          <a:xfrm>
            <a:off x="333375" y="81216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 Box 8"/>
          <p:cNvSpPr txBox="1"/>
          <p:nvPr/>
        </p:nvSpPr>
        <p:spPr>
          <a:xfrm>
            <a:off x="703263" y="1614329"/>
            <a:ext cx="1816100" cy="583565"/>
          </a:xfrm>
          <a:prstGeom prst="rect">
            <a:avLst/>
          </a:prstGeom>
          <a:noFill/>
          <a:ln w="127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</a:rPr>
              <a:t>螺纹代号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6" name="Text Box 9"/>
          <p:cNvSpPr txBox="1"/>
          <p:nvPr/>
        </p:nvSpPr>
        <p:spPr>
          <a:xfrm>
            <a:off x="2855278" y="1614329"/>
            <a:ext cx="2224405" cy="583565"/>
          </a:xfrm>
          <a:prstGeom prst="rect">
            <a:avLst/>
          </a:prstGeom>
          <a:noFill/>
          <a:ln w="127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>
            <a:spAutoFit/>
          </a:bodyPr>
          <a:lstStyle/>
          <a:p>
            <a:pPr algn="l"/>
            <a:r>
              <a:rPr lang="zh-CN" altLang="en-US" sz="3200" b="1" dirty="0">
                <a:latin typeface="Times New Roman" panose="02020603050405020304" pitchFamily="18" charset="0"/>
                <a:sym typeface="+mn-ea"/>
              </a:rPr>
              <a:t>公差带代号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7" name="Text Box 10"/>
          <p:cNvSpPr txBox="1"/>
          <p:nvPr/>
        </p:nvSpPr>
        <p:spPr>
          <a:xfrm>
            <a:off x="5047298" y="1607979"/>
            <a:ext cx="31813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3200" b="1" dirty="0">
                <a:latin typeface="Times New Roman" panose="02020603050405020304" pitchFamily="18" charset="0"/>
              </a:rPr>
              <a:t>-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8" name="Text Box 11"/>
          <p:cNvSpPr txBox="1"/>
          <p:nvPr/>
        </p:nvSpPr>
        <p:spPr>
          <a:xfrm>
            <a:off x="5376228" y="1614329"/>
            <a:ext cx="2632710" cy="583565"/>
          </a:xfrm>
          <a:prstGeom prst="rect">
            <a:avLst/>
          </a:prstGeom>
          <a:noFill/>
          <a:ln w="127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</a:rPr>
              <a:t>旋合长度代号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3" name="Text Box 10"/>
          <p:cNvSpPr txBox="1"/>
          <p:nvPr/>
        </p:nvSpPr>
        <p:spPr>
          <a:xfrm>
            <a:off x="2519363" y="1591469"/>
            <a:ext cx="31813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3200" b="1" dirty="0">
                <a:latin typeface="Times New Roman" panose="02020603050405020304" pitchFamily="18" charset="0"/>
              </a:rPr>
              <a:t>-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93395" y="2263140"/>
            <a:ext cx="13322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具体格式：</a:t>
            </a:r>
            <a:endParaRPr lang="zh-CN" altLang="en-US" b="1" dirty="0">
              <a:latin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75"/>
                                        <p:tgtEl>
                                          <p:spTgt spid="1228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8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8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8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8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9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28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28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28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28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2" dur="500"/>
                                        <p:tgtEl>
                                          <p:spTgt spid="1228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7" dur="500"/>
                                        <p:tgtEl>
                                          <p:spTgt spid="1228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2" dur="500"/>
                                        <p:tgtEl>
                                          <p:spTgt spid="1228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7" dur="500"/>
                                        <p:tgtEl>
                                          <p:spTgt spid="1228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0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7" grpId="0"/>
      <p:bldP spid="122888" grpId="0" bldLvl="0" animBg="1"/>
      <p:bldP spid="122889" grpId="0" bldLvl="0" animBg="1"/>
      <p:bldP spid="122890" grpId="0"/>
      <p:bldP spid="122891" grpId="0" bldLvl="0" animBg="1"/>
      <p:bldP spid="122892" grpId="0" bldLvl="0" animBg="1"/>
      <p:bldP spid="122893" grpId="0" bldLvl="0" animBg="1"/>
      <p:bldP spid="122894" grpId="0"/>
      <p:bldP spid="122895" grpId="0" bldLvl="0" animBg="1"/>
      <p:bldP spid="122896" grpId="0"/>
      <p:bldP spid="122897" grpId="0"/>
      <p:bldP spid="122898" grpId="0"/>
      <p:bldP spid="122899" grpId="0"/>
      <p:bldP spid="122909" grpId="0"/>
      <p:bldP spid="10262" grpId="0"/>
      <p:bldP spid="5" grpId="0" bldLvl="0" animBg="1"/>
      <p:bldP spid="6" grpId="0" bldLvl="0" animBg="1"/>
      <p:bldP spid="7" grpId="0"/>
      <p:bldP spid="8" grpId="0" bldLvl="0" animBg="1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2" name="Rectangle 22"/>
          <p:cNvSpPr/>
          <p:nvPr/>
        </p:nvSpPr>
        <p:spPr>
          <a:xfrm>
            <a:off x="4305935" y="165736"/>
            <a:ext cx="4178300" cy="39878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普通螺纹标注示例</a:t>
            </a:r>
            <a:endParaRPr lang="en-US" altLang="zh-CN" sz="20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63495" name="Rectangle 7"/>
          <p:cNvSpPr/>
          <p:nvPr/>
        </p:nvSpPr>
        <p:spPr>
          <a:xfrm>
            <a:off x="390525" y="166688"/>
            <a:ext cx="3475038" cy="654050"/>
          </a:xfrm>
          <a:prstGeom prst="rect">
            <a:avLst/>
          </a:prstGeom>
          <a:noFill/>
          <a:ln w="76200">
            <a:noFill/>
          </a:ln>
        </p:spPr>
        <p:txBody>
          <a:bodyPr/>
          <a:lstStyle/>
          <a:p>
            <a:pPr eaLnBrk="0" hangingPunct="0"/>
            <a:endParaRPr lang="zh-CN" altLang="en-US" sz="3600" dirty="0">
              <a:latin typeface="Arial" panose="020B0604020202020204" pitchFamily="34" charset="0"/>
            </a:endParaRPr>
          </a:p>
        </p:txBody>
      </p:sp>
      <p:sp>
        <p:nvSpPr>
          <p:cNvPr id="123912" name="Text Box 8"/>
          <p:cNvSpPr txBox="1"/>
          <p:nvPr/>
        </p:nvSpPr>
        <p:spPr>
          <a:xfrm>
            <a:off x="2278063" y="801688"/>
            <a:ext cx="4783137" cy="579437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 eaLnBrk="0" hangingPunct="0"/>
            <a:r>
              <a:rPr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M 20 ×2 -5g6g - s - LH</a:t>
            </a:r>
            <a:endParaRPr lang="en-US" altLang="zh-CN" sz="32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9"/>
          <p:cNvGrpSpPr/>
          <p:nvPr/>
        </p:nvGrpSpPr>
        <p:grpSpPr>
          <a:xfrm>
            <a:off x="987425" y="1296988"/>
            <a:ext cx="2241550" cy="619125"/>
            <a:chOff x="622" y="817"/>
            <a:chExt cx="1412" cy="390"/>
          </a:xfrm>
        </p:grpSpPr>
        <p:sp>
          <p:nvSpPr>
            <p:cNvPr id="63539" name="Text Box 10"/>
            <p:cNvSpPr txBox="1"/>
            <p:nvPr/>
          </p:nvSpPr>
          <p:spPr>
            <a:xfrm>
              <a:off x="622" y="910"/>
              <a:ext cx="1412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eaLnBrk="0" hangingPunct="0"/>
              <a:r>
                <a:rPr lang="zh-CN" altLang="en-US" sz="2400" b="1" dirty="0">
                  <a:latin typeface="Times New Roman" panose="02020603050405020304" pitchFamily="18" charset="0"/>
                </a:rPr>
                <a:t>普通螺纹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3540" name="Freeform 11"/>
            <p:cNvSpPr/>
            <p:nvPr/>
          </p:nvSpPr>
          <p:spPr>
            <a:xfrm>
              <a:off x="843" y="1202"/>
              <a:ext cx="1005" cy="5"/>
            </a:xfrm>
            <a:custGeom>
              <a:avLst/>
              <a:gdLst>
                <a:gd name="txL" fmla="*/ 0 w 1005"/>
                <a:gd name="txT" fmla="*/ 0 h 5"/>
                <a:gd name="txR" fmla="*/ 1005 w 1005"/>
                <a:gd name="txB" fmla="*/ 5 h 5"/>
              </a:gdLst>
              <a:ahLst/>
              <a:cxnLst>
                <a:cxn ang="0">
                  <a:pos x="0" y="5"/>
                </a:cxn>
                <a:cxn ang="0">
                  <a:pos x="1005" y="0"/>
                </a:cxn>
              </a:cxnLst>
              <a:rect l="txL" t="txT" r="txR" b="txB"/>
              <a:pathLst>
                <a:path w="1005" h="5">
                  <a:moveTo>
                    <a:pt x="0" y="5"/>
                  </a:moveTo>
                  <a:lnTo>
                    <a:pt x="1005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3541" name="Line 12"/>
            <p:cNvSpPr/>
            <p:nvPr/>
          </p:nvSpPr>
          <p:spPr>
            <a:xfrm flipV="1">
              <a:off x="1848" y="817"/>
              <a:ext cx="0" cy="38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13"/>
          <p:cNvGrpSpPr/>
          <p:nvPr/>
        </p:nvGrpSpPr>
        <p:grpSpPr>
          <a:xfrm>
            <a:off x="738188" y="1296988"/>
            <a:ext cx="2684462" cy="1093787"/>
            <a:chOff x="713" y="817"/>
            <a:chExt cx="1443" cy="689"/>
          </a:xfrm>
        </p:grpSpPr>
        <p:sp>
          <p:nvSpPr>
            <p:cNvPr id="63536" name="Text Box 14"/>
            <p:cNvSpPr txBox="1"/>
            <p:nvPr/>
          </p:nvSpPr>
          <p:spPr>
            <a:xfrm>
              <a:off x="713" y="1215"/>
              <a:ext cx="1443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eaLnBrk="0" hangingPunct="0"/>
              <a:r>
                <a:rPr lang="zh-CN" altLang="en-US" sz="2400" b="1" dirty="0">
                  <a:latin typeface="Times New Roman" panose="02020603050405020304" pitchFamily="18" charset="0"/>
                </a:rPr>
                <a:t>公称直径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d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＝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20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3537" name="Line 15"/>
            <p:cNvSpPr/>
            <p:nvPr/>
          </p:nvSpPr>
          <p:spPr>
            <a:xfrm>
              <a:off x="843" y="1494"/>
              <a:ext cx="129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38" name="Line 16"/>
            <p:cNvSpPr/>
            <p:nvPr/>
          </p:nvSpPr>
          <p:spPr>
            <a:xfrm flipV="1">
              <a:off x="2136" y="817"/>
              <a:ext cx="0" cy="67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17"/>
          <p:cNvGrpSpPr/>
          <p:nvPr/>
        </p:nvGrpSpPr>
        <p:grpSpPr>
          <a:xfrm>
            <a:off x="1104900" y="1296988"/>
            <a:ext cx="3124200" cy="1562100"/>
            <a:chOff x="696" y="817"/>
            <a:chExt cx="1968" cy="984"/>
          </a:xfrm>
        </p:grpSpPr>
        <p:sp>
          <p:nvSpPr>
            <p:cNvPr id="63533" name="Text Box 18"/>
            <p:cNvSpPr txBox="1"/>
            <p:nvPr/>
          </p:nvSpPr>
          <p:spPr>
            <a:xfrm>
              <a:off x="696" y="1505"/>
              <a:ext cx="1739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eaLnBrk="0" hangingPunct="0"/>
              <a:r>
                <a:rPr lang="zh-CN" altLang="en-US" sz="2400" b="1" dirty="0">
                  <a:latin typeface="Times New Roman" panose="02020603050405020304" pitchFamily="18" charset="0"/>
                </a:rPr>
                <a:t>螺距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P2 (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细牙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)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3534" name="Line 19"/>
            <p:cNvSpPr/>
            <p:nvPr/>
          </p:nvSpPr>
          <p:spPr>
            <a:xfrm>
              <a:off x="2664" y="817"/>
              <a:ext cx="0" cy="98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35" name="Line 20"/>
            <p:cNvSpPr/>
            <p:nvPr/>
          </p:nvSpPr>
          <p:spPr>
            <a:xfrm flipH="1">
              <a:off x="843" y="1801"/>
              <a:ext cx="1808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21"/>
          <p:cNvGrpSpPr/>
          <p:nvPr/>
        </p:nvGrpSpPr>
        <p:grpSpPr>
          <a:xfrm>
            <a:off x="5713413" y="1312863"/>
            <a:ext cx="2374900" cy="609600"/>
            <a:chOff x="4056" y="817"/>
            <a:chExt cx="1496" cy="384"/>
          </a:xfrm>
        </p:grpSpPr>
        <p:sp>
          <p:nvSpPr>
            <p:cNvPr id="63530" name="Text Box 22"/>
            <p:cNvSpPr txBox="1"/>
            <p:nvPr/>
          </p:nvSpPr>
          <p:spPr>
            <a:xfrm>
              <a:off x="4142" y="890"/>
              <a:ext cx="141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eaLnBrk="0" hangingPunct="0"/>
              <a:r>
                <a:rPr lang="zh-CN" altLang="en-US" sz="2400" b="1" dirty="0">
                  <a:latin typeface="Times New Roman" panose="02020603050405020304" pitchFamily="18" charset="0"/>
                </a:rPr>
                <a:t>短旋合长度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3531" name="Line 23"/>
            <p:cNvSpPr/>
            <p:nvPr/>
          </p:nvSpPr>
          <p:spPr>
            <a:xfrm>
              <a:off x="4056" y="817"/>
              <a:ext cx="0" cy="38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32" name="Line 24"/>
            <p:cNvSpPr/>
            <p:nvPr/>
          </p:nvSpPr>
          <p:spPr>
            <a:xfrm>
              <a:off x="4056" y="1201"/>
              <a:ext cx="114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25"/>
          <p:cNvGrpSpPr/>
          <p:nvPr/>
        </p:nvGrpSpPr>
        <p:grpSpPr>
          <a:xfrm>
            <a:off x="5111750" y="1304925"/>
            <a:ext cx="2803525" cy="1074738"/>
            <a:chOff x="3672" y="817"/>
            <a:chExt cx="1766" cy="677"/>
          </a:xfrm>
        </p:grpSpPr>
        <p:sp>
          <p:nvSpPr>
            <p:cNvPr id="63527" name="Text Box 26"/>
            <p:cNvSpPr txBox="1"/>
            <p:nvPr/>
          </p:nvSpPr>
          <p:spPr>
            <a:xfrm>
              <a:off x="3769" y="1195"/>
              <a:ext cx="1669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eaLnBrk="0" hangingPunct="0"/>
              <a:r>
                <a:rPr lang="zh-CN" altLang="en-US" sz="2400" b="1" dirty="0">
                  <a:latin typeface="Times New Roman" panose="02020603050405020304" pitchFamily="18" charset="0"/>
                </a:rPr>
                <a:t>顶径公差带代号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3528" name="Line 27"/>
            <p:cNvSpPr/>
            <p:nvPr/>
          </p:nvSpPr>
          <p:spPr>
            <a:xfrm>
              <a:off x="3672" y="817"/>
              <a:ext cx="0" cy="67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29" name="Line 28"/>
            <p:cNvSpPr/>
            <p:nvPr/>
          </p:nvSpPr>
          <p:spPr>
            <a:xfrm>
              <a:off x="3672" y="1494"/>
              <a:ext cx="1507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" name="Group 55"/>
          <p:cNvGrpSpPr/>
          <p:nvPr/>
        </p:nvGrpSpPr>
        <p:grpSpPr>
          <a:xfrm>
            <a:off x="6877050" y="800100"/>
            <a:ext cx="2132013" cy="461963"/>
            <a:chOff x="4218" y="524"/>
            <a:chExt cx="1343" cy="291"/>
          </a:xfrm>
        </p:grpSpPr>
        <p:sp>
          <p:nvSpPr>
            <p:cNvPr id="63525" name="Text Box 30"/>
            <p:cNvSpPr txBox="1"/>
            <p:nvPr/>
          </p:nvSpPr>
          <p:spPr>
            <a:xfrm>
              <a:off x="4876" y="524"/>
              <a:ext cx="685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eaLnBrk="0" hangingPunct="0"/>
              <a:r>
                <a:rPr lang="zh-CN" altLang="en-US" sz="2400" b="1" dirty="0">
                  <a:latin typeface="Times New Roman" panose="02020603050405020304" pitchFamily="18" charset="0"/>
                </a:rPr>
                <a:t>左旋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3526" name="Line 31"/>
            <p:cNvSpPr/>
            <p:nvPr/>
          </p:nvSpPr>
          <p:spPr>
            <a:xfrm>
              <a:off x="4218" y="709"/>
              <a:ext cx="726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" name="Group 32"/>
          <p:cNvGrpSpPr/>
          <p:nvPr/>
        </p:nvGrpSpPr>
        <p:grpSpPr>
          <a:xfrm>
            <a:off x="4572000" y="1320800"/>
            <a:ext cx="3249613" cy="1562100"/>
            <a:chOff x="3336" y="817"/>
            <a:chExt cx="2047" cy="984"/>
          </a:xfrm>
        </p:grpSpPr>
        <p:sp>
          <p:nvSpPr>
            <p:cNvPr id="63522" name="Text Box 33"/>
            <p:cNvSpPr txBox="1"/>
            <p:nvPr/>
          </p:nvSpPr>
          <p:spPr>
            <a:xfrm>
              <a:off x="3585" y="1485"/>
              <a:ext cx="1798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eaLnBrk="0" hangingPunct="0"/>
              <a:r>
                <a:rPr lang="zh-CN" altLang="en-US" sz="2400" b="1" dirty="0">
                  <a:latin typeface="Times New Roman" panose="02020603050405020304" pitchFamily="18" charset="0"/>
                </a:rPr>
                <a:t>中径公差带代号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3523" name="Line 34"/>
            <p:cNvSpPr/>
            <p:nvPr/>
          </p:nvSpPr>
          <p:spPr>
            <a:xfrm>
              <a:off x="3336" y="817"/>
              <a:ext cx="0" cy="98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24" name="Line 35"/>
            <p:cNvSpPr/>
            <p:nvPr/>
          </p:nvSpPr>
          <p:spPr>
            <a:xfrm>
              <a:off x="3336" y="1801"/>
              <a:ext cx="187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3940" name="Text Box 36"/>
          <p:cNvSpPr txBox="1"/>
          <p:nvPr/>
        </p:nvSpPr>
        <p:spPr>
          <a:xfrm>
            <a:off x="823913" y="779463"/>
            <a:ext cx="1206500" cy="579437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endParaRPr lang="zh-CN" altLang="en-US" sz="32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941" name="Text Box 37"/>
          <p:cNvSpPr txBox="1"/>
          <p:nvPr/>
        </p:nvSpPr>
        <p:spPr>
          <a:xfrm>
            <a:off x="885825" y="3241675"/>
            <a:ext cx="1206500" cy="579438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endParaRPr lang="zh-CN" altLang="en-US" sz="32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942" name="Text Box 38"/>
          <p:cNvSpPr txBox="1"/>
          <p:nvPr/>
        </p:nvSpPr>
        <p:spPr>
          <a:xfrm>
            <a:off x="2185988" y="3179763"/>
            <a:ext cx="1901825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en-US" altLang="zh-CN" sz="3200" b="1" dirty="0">
                <a:solidFill>
                  <a:srgbClr val="CC0099"/>
                </a:solidFill>
                <a:latin typeface="Times New Roman" panose="02020603050405020304" pitchFamily="18" charset="0"/>
              </a:rPr>
              <a:t>M40</a:t>
            </a:r>
            <a:r>
              <a:rPr lang="zh-CN" altLang="en-US" sz="3200" b="1" dirty="0">
                <a:solidFill>
                  <a:srgbClr val="CC0099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sz="3200" b="1" dirty="0">
                <a:solidFill>
                  <a:srgbClr val="CC0099"/>
                </a:solidFill>
                <a:latin typeface="Times New Roman" panose="02020603050405020304" pitchFamily="18" charset="0"/>
              </a:rPr>
              <a:t>7H</a:t>
            </a:r>
            <a:endParaRPr lang="en-US" altLang="zh-CN" sz="3200" b="1" dirty="0">
              <a:solidFill>
                <a:srgbClr val="CC009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9" name="Group 39"/>
          <p:cNvGrpSpPr/>
          <p:nvPr/>
        </p:nvGrpSpPr>
        <p:grpSpPr>
          <a:xfrm>
            <a:off x="576263" y="3652838"/>
            <a:ext cx="2241550" cy="666750"/>
            <a:chOff x="363" y="2555"/>
            <a:chExt cx="1412" cy="420"/>
          </a:xfrm>
        </p:grpSpPr>
        <p:sp>
          <p:nvSpPr>
            <p:cNvPr id="63519" name="Text Box 40"/>
            <p:cNvSpPr txBox="1"/>
            <p:nvPr/>
          </p:nvSpPr>
          <p:spPr>
            <a:xfrm>
              <a:off x="363" y="2648"/>
              <a:ext cx="14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zh-CN" altLang="en-US" sz="28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普通螺纹</a:t>
              </a:r>
              <a:endPara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520" name="Freeform 41"/>
            <p:cNvSpPr/>
            <p:nvPr/>
          </p:nvSpPr>
          <p:spPr>
            <a:xfrm>
              <a:off x="584" y="2940"/>
              <a:ext cx="1005" cy="5"/>
            </a:xfrm>
            <a:custGeom>
              <a:avLst/>
              <a:gdLst>
                <a:gd name="txL" fmla="*/ 0 w 1005"/>
                <a:gd name="txT" fmla="*/ 0 h 5"/>
                <a:gd name="txR" fmla="*/ 1005 w 1005"/>
                <a:gd name="txB" fmla="*/ 5 h 5"/>
              </a:gdLst>
              <a:ahLst/>
              <a:cxnLst>
                <a:cxn ang="0">
                  <a:pos x="0" y="5"/>
                </a:cxn>
                <a:cxn ang="0">
                  <a:pos x="1005" y="0"/>
                </a:cxn>
              </a:cxnLst>
              <a:rect l="txL" t="txT" r="txR" b="txB"/>
              <a:pathLst>
                <a:path w="1005" h="5">
                  <a:moveTo>
                    <a:pt x="0" y="5"/>
                  </a:moveTo>
                  <a:lnTo>
                    <a:pt x="1005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3521" name="Line 42"/>
            <p:cNvSpPr/>
            <p:nvPr/>
          </p:nvSpPr>
          <p:spPr>
            <a:xfrm flipV="1">
              <a:off x="1589" y="2555"/>
              <a:ext cx="0" cy="38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" name="Group 43"/>
          <p:cNvGrpSpPr/>
          <p:nvPr/>
        </p:nvGrpSpPr>
        <p:grpSpPr>
          <a:xfrm>
            <a:off x="0" y="3687763"/>
            <a:ext cx="3024188" cy="1150937"/>
            <a:chOff x="0" y="2577"/>
            <a:chExt cx="1905" cy="725"/>
          </a:xfrm>
        </p:grpSpPr>
        <p:sp>
          <p:nvSpPr>
            <p:cNvPr id="63516" name="Text Box 44"/>
            <p:cNvSpPr txBox="1"/>
            <p:nvPr/>
          </p:nvSpPr>
          <p:spPr>
            <a:xfrm>
              <a:off x="0" y="2975"/>
              <a:ext cx="190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zh-CN" altLang="en-US" sz="28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公称直径</a:t>
              </a:r>
              <a:r>
                <a:rPr lang="en-US" altLang="zh-CN" sz="28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D</a:t>
              </a:r>
              <a:r>
                <a:rPr lang="zh-CN" altLang="en-US" sz="28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＝</a:t>
              </a:r>
              <a:r>
                <a:rPr lang="en-US" altLang="zh-CN" sz="28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40</a:t>
              </a:r>
              <a:endPara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517" name="Line 45"/>
            <p:cNvSpPr/>
            <p:nvPr/>
          </p:nvSpPr>
          <p:spPr>
            <a:xfrm>
              <a:off x="566" y="3254"/>
              <a:ext cx="129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18" name="Line 46"/>
            <p:cNvSpPr/>
            <p:nvPr/>
          </p:nvSpPr>
          <p:spPr>
            <a:xfrm flipV="1">
              <a:off x="1859" y="2577"/>
              <a:ext cx="0" cy="67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1" name="Group 47"/>
          <p:cNvGrpSpPr/>
          <p:nvPr/>
        </p:nvGrpSpPr>
        <p:grpSpPr>
          <a:xfrm>
            <a:off x="3779838" y="3673475"/>
            <a:ext cx="2078037" cy="1608138"/>
            <a:chOff x="3336" y="2577"/>
            <a:chExt cx="1309" cy="1013"/>
          </a:xfrm>
        </p:grpSpPr>
        <p:sp>
          <p:nvSpPr>
            <p:cNvPr id="63513" name="Line 48"/>
            <p:cNvSpPr/>
            <p:nvPr/>
          </p:nvSpPr>
          <p:spPr>
            <a:xfrm>
              <a:off x="3336" y="2577"/>
              <a:ext cx="0" cy="101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14" name="Text Box 49"/>
            <p:cNvSpPr txBox="1"/>
            <p:nvPr/>
          </p:nvSpPr>
          <p:spPr>
            <a:xfrm>
              <a:off x="3336" y="2991"/>
              <a:ext cx="1272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中径、顶径公差带代号</a:t>
              </a:r>
              <a:endParaRPr lang="zh-CN" altLang="en-US" sz="2800" b="1" dirty="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515" name="Line 50"/>
            <p:cNvSpPr/>
            <p:nvPr/>
          </p:nvSpPr>
          <p:spPr>
            <a:xfrm>
              <a:off x="3336" y="3590"/>
              <a:ext cx="1309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3956" name="Text Box 52"/>
          <p:cNvSpPr txBox="1"/>
          <p:nvPr/>
        </p:nvSpPr>
        <p:spPr>
          <a:xfrm>
            <a:off x="900113" y="5257800"/>
            <a:ext cx="223202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粗牙还是细牙？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957" name="Text Box 53"/>
          <p:cNvSpPr txBox="1"/>
          <p:nvPr/>
        </p:nvSpPr>
        <p:spPr>
          <a:xfrm>
            <a:off x="876300" y="5603875"/>
            <a:ext cx="223202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左旋还是右旋？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958" name="Text Box 54"/>
          <p:cNvSpPr txBox="1"/>
          <p:nvPr/>
        </p:nvSpPr>
        <p:spPr>
          <a:xfrm>
            <a:off x="847725" y="5978525"/>
            <a:ext cx="25209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旋合长度代号是什么？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" name="Rectangle 22"/>
          <p:cNvSpPr/>
          <p:nvPr/>
        </p:nvSpPr>
        <p:spPr>
          <a:xfrm>
            <a:off x="263525" y="153353"/>
            <a:ext cx="44596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2800" b="1" dirty="0">
                <a:solidFill>
                  <a:srgbClr val="660066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800" b="1" dirty="0">
                <a:solidFill>
                  <a:srgbClr val="660066"/>
                </a:solidFill>
                <a:latin typeface="Arial" panose="020B0604020202020204" pitchFamily="34" charset="0"/>
              </a:rPr>
              <a:t>．</a:t>
            </a:r>
            <a:r>
              <a:rPr lang="zh-CN" altLang="en-US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螺纹的种类和标注</a:t>
            </a:r>
            <a:r>
              <a:rPr lang="en-US" altLang="zh-CN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endParaRPr lang="en-US" altLang="zh-CN" sz="20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343051" name="组合 343050"/>
          <p:cNvGrpSpPr/>
          <p:nvPr/>
        </p:nvGrpSpPr>
        <p:grpSpPr>
          <a:xfrm>
            <a:off x="333375" y="81216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3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3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239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3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3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239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23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23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23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2" grpId="0"/>
      <p:bldP spid="123912" grpId="0"/>
      <p:bldP spid="123940" grpId="0"/>
      <p:bldP spid="123941" grpId="0"/>
      <p:bldP spid="123942" grpId="0"/>
      <p:bldP spid="123956" grpId="0"/>
      <p:bldP spid="123957" grpId="0"/>
      <p:bldP spid="123958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2" name="Rectangle 22"/>
          <p:cNvSpPr/>
          <p:nvPr/>
        </p:nvSpPr>
        <p:spPr>
          <a:xfrm>
            <a:off x="4205605" y="278448"/>
            <a:ext cx="5076825" cy="39878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梯形螺纹和锯齿形螺纹标注示例</a:t>
            </a:r>
            <a:endParaRPr lang="en-US" altLang="zh-CN" sz="20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27004" name="Text Box 28"/>
          <p:cNvSpPr txBox="1"/>
          <p:nvPr/>
        </p:nvSpPr>
        <p:spPr>
          <a:xfrm>
            <a:off x="885825" y="833438"/>
            <a:ext cx="1206500" cy="579437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endParaRPr lang="zh-CN" altLang="en-US" sz="32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7005" name="Text Box 29"/>
          <p:cNvSpPr txBox="1"/>
          <p:nvPr/>
        </p:nvSpPr>
        <p:spPr>
          <a:xfrm>
            <a:off x="2185988" y="839788"/>
            <a:ext cx="418465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en-US" altLang="zh-CN" sz="3200" b="1" dirty="0">
                <a:solidFill>
                  <a:srgbClr val="CC0099"/>
                </a:solidFill>
                <a:latin typeface="Times New Roman" panose="02020603050405020304" pitchFamily="18" charset="0"/>
              </a:rPr>
              <a:t>Tr40×14(P7)</a:t>
            </a:r>
            <a:r>
              <a:rPr lang="zh-CN" altLang="en-US" sz="3200" b="1" dirty="0">
                <a:solidFill>
                  <a:srgbClr val="CC0099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sz="3200" b="1" dirty="0">
                <a:solidFill>
                  <a:srgbClr val="CC0099"/>
                </a:solidFill>
                <a:latin typeface="Times New Roman" panose="02020603050405020304" pitchFamily="18" charset="0"/>
              </a:rPr>
              <a:t>7H</a:t>
            </a:r>
            <a:r>
              <a:rPr lang="zh-CN" altLang="en-US" sz="3200" b="1" dirty="0">
                <a:solidFill>
                  <a:srgbClr val="CC0099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sz="3200" b="1" dirty="0">
                <a:solidFill>
                  <a:srgbClr val="CC0099"/>
                </a:solidFill>
                <a:latin typeface="Times New Roman" panose="02020603050405020304" pitchFamily="18" charset="0"/>
              </a:rPr>
              <a:t>L</a:t>
            </a:r>
            <a:endParaRPr lang="en-US" altLang="zh-CN" sz="3200" b="1" dirty="0">
              <a:solidFill>
                <a:srgbClr val="CC009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30"/>
          <p:cNvGrpSpPr/>
          <p:nvPr/>
        </p:nvGrpSpPr>
        <p:grpSpPr>
          <a:xfrm>
            <a:off x="576263" y="1312863"/>
            <a:ext cx="2241550" cy="666750"/>
            <a:chOff x="363" y="2555"/>
            <a:chExt cx="1412" cy="420"/>
          </a:xfrm>
        </p:grpSpPr>
        <p:sp>
          <p:nvSpPr>
            <p:cNvPr id="65585" name="Text Box 31"/>
            <p:cNvSpPr txBox="1"/>
            <p:nvPr/>
          </p:nvSpPr>
          <p:spPr>
            <a:xfrm>
              <a:off x="363" y="2648"/>
              <a:ext cx="14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zh-CN" altLang="en-US" sz="28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梯形螺纹</a:t>
              </a:r>
              <a:endPara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586" name="Freeform 32"/>
            <p:cNvSpPr/>
            <p:nvPr/>
          </p:nvSpPr>
          <p:spPr>
            <a:xfrm>
              <a:off x="584" y="2940"/>
              <a:ext cx="1005" cy="5"/>
            </a:xfrm>
            <a:custGeom>
              <a:avLst/>
              <a:gdLst>
                <a:gd name="txL" fmla="*/ 0 w 1005"/>
                <a:gd name="txT" fmla="*/ 0 h 5"/>
                <a:gd name="txR" fmla="*/ 1005 w 1005"/>
                <a:gd name="txB" fmla="*/ 5 h 5"/>
              </a:gdLst>
              <a:ahLst/>
              <a:cxnLst>
                <a:cxn ang="0">
                  <a:pos x="0" y="5"/>
                </a:cxn>
                <a:cxn ang="0">
                  <a:pos x="1005" y="0"/>
                </a:cxn>
              </a:cxnLst>
              <a:rect l="txL" t="txT" r="txR" b="txB"/>
              <a:pathLst>
                <a:path w="1005" h="5">
                  <a:moveTo>
                    <a:pt x="0" y="5"/>
                  </a:moveTo>
                  <a:lnTo>
                    <a:pt x="1005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5587" name="Line 33"/>
            <p:cNvSpPr/>
            <p:nvPr/>
          </p:nvSpPr>
          <p:spPr>
            <a:xfrm flipV="1">
              <a:off x="1589" y="2555"/>
              <a:ext cx="0" cy="38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34"/>
          <p:cNvGrpSpPr/>
          <p:nvPr/>
        </p:nvGrpSpPr>
        <p:grpSpPr>
          <a:xfrm>
            <a:off x="179388" y="1347788"/>
            <a:ext cx="2844800" cy="1150937"/>
            <a:chOff x="317" y="2577"/>
            <a:chExt cx="1588" cy="725"/>
          </a:xfrm>
        </p:grpSpPr>
        <p:sp>
          <p:nvSpPr>
            <p:cNvPr id="65582" name="Text Box 35"/>
            <p:cNvSpPr txBox="1"/>
            <p:nvPr/>
          </p:nvSpPr>
          <p:spPr>
            <a:xfrm>
              <a:off x="317" y="2975"/>
              <a:ext cx="15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zh-CN" altLang="en-US" sz="28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公称直径</a:t>
              </a:r>
              <a:r>
                <a:rPr lang="en-US" altLang="zh-CN" sz="28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D</a:t>
              </a:r>
              <a:r>
                <a:rPr lang="zh-CN" altLang="en-US" sz="28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＝</a:t>
              </a:r>
              <a:r>
                <a:rPr lang="en-US" altLang="zh-CN" sz="28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40</a:t>
              </a:r>
              <a:endPara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583" name="Line 36"/>
            <p:cNvSpPr/>
            <p:nvPr/>
          </p:nvSpPr>
          <p:spPr>
            <a:xfrm>
              <a:off x="566" y="3254"/>
              <a:ext cx="129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84" name="Line 37"/>
            <p:cNvSpPr/>
            <p:nvPr/>
          </p:nvSpPr>
          <p:spPr>
            <a:xfrm flipV="1">
              <a:off x="1859" y="2577"/>
              <a:ext cx="0" cy="67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38"/>
          <p:cNvGrpSpPr/>
          <p:nvPr/>
        </p:nvGrpSpPr>
        <p:grpSpPr>
          <a:xfrm>
            <a:off x="792163" y="1365250"/>
            <a:ext cx="3482975" cy="1593850"/>
            <a:chOff x="501" y="2606"/>
            <a:chExt cx="2194" cy="1004"/>
          </a:xfrm>
        </p:grpSpPr>
        <p:sp>
          <p:nvSpPr>
            <p:cNvPr id="65579" name="Text Box 39"/>
            <p:cNvSpPr txBox="1"/>
            <p:nvPr/>
          </p:nvSpPr>
          <p:spPr>
            <a:xfrm>
              <a:off x="501" y="3322"/>
              <a:ext cx="21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zh-CN" altLang="en-US" sz="24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螺距为</a:t>
              </a:r>
              <a:r>
                <a:rPr lang="en-US" altLang="zh-CN" sz="24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7</a:t>
              </a:r>
              <a:r>
                <a:rPr lang="zh-CN" altLang="en-US" sz="24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导程</a:t>
              </a:r>
              <a:r>
                <a:rPr lang="en-US" altLang="zh-CN" sz="24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14</a:t>
              </a:r>
              <a:r>
                <a:rPr lang="zh-CN" altLang="en-US" sz="24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线数是？</a:t>
              </a:r>
              <a:endPara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580" name="Line 40"/>
            <p:cNvSpPr/>
            <p:nvPr/>
          </p:nvSpPr>
          <p:spPr>
            <a:xfrm>
              <a:off x="2651" y="2606"/>
              <a:ext cx="0" cy="98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81" name="Line 41"/>
            <p:cNvSpPr/>
            <p:nvPr/>
          </p:nvSpPr>
          <p:spPr>
            <a:xfrm flipH="1">
              <a:off x="584" y="3590"/>
              <a:ext cx="2067" cy="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42"/>
          <p:cNvGrpSpPr/>
          <p:nvPr/>
        </p:nvGrpSpPr>
        <p:grpSpPr>
          <a:xfrm>
            <a:off x="5295900" y="1347788"/>
            <a:ext cx="2078038" cy="1608137"/>
            <a:chOff x="3336" y="2577"/>
            <a:chExt cx="1309" cy="1013"/>
          </a:xfrm>
        </p:grpSpPr>
        <p:sp>
          <p:nvSpPr>
            <p:cNvPr id="65576" name="Line 43"/>
            <p:cNvSpPr/>
            <p:nvPr/>
          </p:nvSpPr>
          <p:spPr>
            <a:xfrm>
              <a:off x="3336" y="2577"/>
              <a:ext cx="0" cy="101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77" name="Text Box 44"/>
            <p:cNvSpPr txBox="1"/>
            <p:nvPr/>
          </p:nvSpPr>
          <p:spPr>
            <a:xfrm>
              <a:off x="3336" y="2991"/>
              <a:ext cx="1272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中径公差带代号</a:t>
              </a:r>
              <a:endParaRPr lang="zh-CN" altLang="en-US" sz="2800" b="1" dirty="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578" name="Line 45"/>
            <p:cNvSpPr/>
            <p:nvPr/>
          </p:nvSpPr>
          <p:spPr>
            <a:xfrm>
              <a:off x="3336" y="3590"/>
              <a:ext cx="1309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46"/>
          <p:cNvGrpSpPr/>
          <p:nvPr/>
        </p:nvGrpSpPr>
        <p:grpSpPr>
          <a:xfrm>
            <a:off x="5829300" y="1344613"/>
            <a:ext cx="2797175" cy="635000"/>
            <a:chOff x="3672" y="2575"/>
            <a:chExt cx="1762" cy="400"/>
          </a:xfrm>
        </p:grpSpPr>
        <p:sp>
          <p:nvSpPr>
            <p:cNvPr id="65573" name="Text Box 47"/>
            <p:cNvSpPr txBox="1"/>
            <p:nvPr/>
          </p:nvSpPr>
          <p:spPr>
            <a:xfrm>
              <a:off x="3672" y="2648"/>
              <a:ext cx="176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zh-CN" altLang="en-US" sz="28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长旋合长度</a:t>
              </a:r>
              <a:endPara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574" name="Line 48"/>
            <p:cNvSpPr/>
            <p:nvPr/>
          </p:nvSpPr>
          <p:spPr>
            <a:xfrm>
              <a:off x="3938" y="2575"/>
              <a:ext cx="0" cy="38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75" name="Line 49"/>
            <p:cNvSpPr/>
            <p:nvPr/>
          </p:nvSpPr>
          <p:spPr>
            <a:xfrm>
              <a:off x="3938" y="2959"/>
              <a:ext cx="114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7026" name="Text Box 50"/>
          <p:cNvSpPr txBox="1"/>
          <p:nvPr/>
        </p:nvSpPr>
        <p:spPr>
          <a:xfrm>
            <a:off x="3482975" y="2947988"/>
            <a:ext cx="2684463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左旋还是右旋？</a:t>
            </a:r>
            <a:endParaRPr lang="zh-CN" altLang="en-US" sz="2800" b="1" dirty="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7028" name="Text Box 52"/>
          <p:cNvSpPr txBox="1"/>
          <p:nvPr/>
        </p:nvSpPr>
        <p:spPr>
          <a:xfrm>
            <a:off x="1101725" y="3357563"/>
            <a:ext cx="1206500" cy="579437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endParaRPr lang="zh-CN" altLang="en-US" sz="32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7029" name="Text Box 53"/>
          <p:cNvSpPr txBox="1"/>
          <p:nvPr/>
        </p:nvSpPr>
        <p:spPr>
          <a:xfrm>
            <a:off x="2401888" y="3648075"/>
            <a:ext cx="3033712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en-US" altLang="zh-CN" sz="3200" b="1" dirty="0">
                <a:solidFill>
                  <a:srgbClr val="CC0099"/>
                </a:solidFill>
                <a:latin typeface="Times New Roman" panose="02020603050405020304" pitchFamily="18" charset="0"/>
              </a:rPr>
              <a:t>Tr40×7LH</a:t>
            </a:r>
            <a:r>
              <a:rPr lang="zh-CN" altLang="en-US" sz="3200" b="1" dirty="0">
                <a:solidFill>
                  <a:srgbClr val="CC0099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sz="3200" b="1" dirty="0">
                <a:solidFill>
                  <a:srgbClr val="CC0099"/>
                </a:solidFill>
                <a:latin typeface="Times New Roman" panose="02020603050405020304" pitchFamily="18" charset="0"/>
              </a:rPr>
              <a:t>8e</a:t>
            </a:r>
            <a:endParaRPr lang="en-US" altLang="zh-CN" sz="3200" b="1" dirty="0">
              <a:solidFill>
                <a:srgbClr val="CC009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" name="Group 54"/>
          <p:cNvGrpSpPr/>
          <p:nvPr/>
        </p:nvGrpSpPr>
        <p:grpSpPr>
          <a:xfrm>
            <a:off x="792163" y="4121150"/>
            <a:ext cx="2241550" cy="666750"/>
            <a:chOff x="363" y="2555"/>
            <a:chExt cx="1412" cy="420"/>
          </a:xfrm>
        </p:grpSpPr>
        <p:sp>
          <p:nvSpPr>
            <p:cNvPr id="65570" name="Text Box 55"/>
            <p:cNvSpPr txBox="1"/>
            <p:nvPr/>
          </p:nvSpPr>
          <p:spPr>
            <a:xfrm>
              <a:off x="363" y="2648"/>
              <a:ext cx="14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zh-CN" altLang="en-US" sz="28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梯形螺纹</a:t>
              </a:r>
              <a:endPara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571" name="Freeform 56"/>
            <p:cNvSpPr/>
            <p:nvPr/>
          </p:nvSpPr>
          <p:spPr>
            <a:xfrm>
              <a:off x="584" y="2940"/>
              <a:ext cx="1005" cy="5"/>
            </a:xfrm>
            <a:custGeom>
              <a:avLst/>
              <a:gdLst>
                <a:gd name="txL" fmla="*/ 0 w 1005"/>
                <a:gd name="txT" fmla="*/ 0 h 5"/>
                <a:gd name="txR" fmla="*/ 1005 w 1005"/>
                <a:gd name="txB" fmla="*/ 5 h 5"/>
              </a:gdLst>
              <a:ahLst/>
              <a:cxnLst>
                <a:cxn ang="0">
                  <a:pos x="0" y="5"/>
                </a:cxn>
                <a:cxn ang="0">
                  <a:pos x="1005" y="0"/>
                </a:cxn>
              </a:cxnLst>
              <a:rect l="txL" t="txT" r="txR" b="txB"/>
              <a:pathLst>
                <a:path w="1005" h="5">
                  <a:moveTo>
                    <a:pt x="0" y="5"/>
                  </a:moveTo>
                  <a:lnTo>
                    <a:pt x="1005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5572" name="Line 57"/>
            <p:cNvSpPr/>
            <p:nvPr/>
          </p:nvSpPr>
          <p:spPr>
            <a:xfrm flipV="1">
              <a:off x="1589" y="2555"/>
              <a:ext cx="0" cy="38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" name="Group 58"/>
          <p:cNvGrpSpPr/>
          <p:nvPr/>
        </p:nvGrpSpPr>
        <p:grpSpPr>
          <a:xfrm>
            <a:off x="395288" y="4156075"/>
            <a:ext cx="2844800" cy="1150938"/>
            <a:chOff x="317" y="2577"/>
            <a:chExt cx="1588" cy="725"/>
          </a:xfrm>
        </p:grpSpPr>
        <p:sp>
          <p:nvSpPr>
            <p:cNvPr id="65567" name="Text Box 59"/>
            <p:cNvSpPr txBox="1"/>
            <p:nvPr/>
          </p:nvSpPr>
          <p:spPr>
            <a:xfrm>
              <a:off x="317" y="2975"/>
              <a:ext cx="15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zh-CN" altLang="en-US" sz="28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公称直径</a:t>
              </a:r>
              <a:r>
                <a:rPr lang="en-US" altLang="zh-CN" sz="28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D</a:t>
              </a:r>
              <a:r>
                <a:rPr lang="zh-CN" altLang="en-US" sz="28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＝</a:t>
              </a:r>
              <a:r>
                <a:rPr lang="en-US" altLang="zh-CN" sz="28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40</a:t>
              </a:r>
              <a:endPara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568" name="Line 60"/>
            <p:cNvSpPr/>
            <p:nvPr/>
          </p:nvSpPr>
          <p:spPr>
            <a:xfrm>
              <a:off x="566" y="3254"/>
              <a:ext cx="129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69" name="Line 61"/>
            <p:cNvSpPr/>
            <p:nvPr/>
          </p:nvSpPr>
          <p:spPr>
            <a:xfrm flipV="1">
              <a:off x="1859" y="2577"/>
              <a:ext cx="0" cy="67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" name="Group 62"/>
          <p:cNvGrpSpPr/>
          <p:nvPr/>
        </p:nvGrpSpPr>
        <p:grpSpPr>
          <a:xfrm>
            <a:off x="458788" y="4202113"/>
            <a:ext cx="3482975" cy="1574800"/>
            <a:chOff x="501" y="2606"/>
            <a:chExt cx="2194" cy="992"/>
          </a:xfrm>
        </p:grpSpPr>
        <p:sp>
          <p:nvSpPr>
            <p:cNvPr id="65564" name="Text Box 63"/>
            <p:cNvSpPr txBox="1"/>
            <p:nvPr/>
          </p:nvSpPr>
          <p:spPr>
            <a:xfrm>
              <a:off x="501" y="3341"/>
              <a:ext cx="219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zh-CN" altLang="en-US" sz="20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螺距为</a:t>
              </a:r>
              <a:r>
                <a:rPr lang="en-US" altLang="zh-CN" sz="20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7</a:t>
              </a:r>
              <a:r>
                <a:rPr lang="zh-CN" altLang="en-US" sz="20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，单线还是多线？</a:t>
              </a:r>
              <a:endParaRPr lang="zh-CN" altLang="en-US" sz="2000" dirty="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565" name="Line 64"/>
            <p:cNvSpPr/>
            <p:nvPr/>
          </p:nvSpPr>
          <p:spPr>
            <a:xfrm>
              <a:off x="2651" y="2606"/>
              <a:ext cx="0" cy="98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66" name="Line 65"/>
            <p:cNvSpPr/>
            <p:nvPr/>
          </p:nvSpPr>
          <p:spPr>
            <a:xfrm flipH="1">
              <a:off x="584" y="3590"/>
              <a:ext cx="2067" cy="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" name="Group 66"/>
          <p:cNvGrpSpPr/>
          <p:nvPr/>
        </p:nvGrpSpPr>
        <p:grpSpPr>
          <a:xfrm>
            <a:off x="5226050" y="4156075"/>
            <a:ext cx="2078038" cy="1608138"/>
            <a:chOff x="3336" y="2577"/>
            <a:chExt cx="1309" cy="1013"/>
          </a:xfrm>
        </p:grpSpPr>
        <p:sp>
          <p:nvSpPr>
            <p:cNvPr id="65561" name="Line 67"/>
            <p:cNvSpPr/>
            <p:nvPr/>
          </p:nvSpPr>
          <p:spPr>
            <a:xfrm>
              <a:off x="3336" y="2577"/>
              <a:ext cx="0" cy="101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62" name="Text Box 68"/>
            <p:cNvSpPr txBox="1"/>
            <p:nvPr/>
          </p:nvSpPr>
          <p:spPr>
            <a:xfrm>
              <a:off x="3336" y="2991"/>
              <a:ext cx="1272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中径公差带代号</a:t>
              </a:r>
              <a:endParaRPr lang="zh-CN" altLang="en-US" sz="2800" b="1" dirty="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563" name="Line 69"/>
            <p:cNvSpPr/>
            <p:nvPr/>
          </p:nvSpPr>
          <p:spPr>
            <a:xfrm>
              <a:off x="3336" y="3590"/>
              <a:ext cx="1309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7046" name="Text Box 70"/>
          <p:cNvSpPr txBox="1"/>
          <p:nvPr/>
        </p:nvSpPr>
        <p:spPr>
          <a:xfrm>
            <a:off x="4275138" y="5756275"/>
            <a:ext cx="9017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左旋</a:t>
            </a:r>
            <a:endParaRPr lang="zh-CN" altLang="en-US" sz="2800" b="1" dirty="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1" name="Group 71"/>
          <p:cNvGrpSpPr/>
          <p:nvPr/>
        </p:nvGrpSpPr>
        <p:grpSpPr>
          <a:xfrm>
            <a:off x="4211638" y="4116388"/>
            <a:ext cx="1176337" cy="2159000"/>
            <a:chOff x="2653" y="2750"/>
            <a:chExt cx="741" cy="1360"/>
          </a:xfrm>
        </p:grpSpPr>
        <p:sp>
          <p:nvSpPr>
            <p:cNvPr id="65559" name="Line 72"/>
            <p:cNvSpPr/>
            <p:nvPr/>
          </p:nvSpPr>
          <p:spPr>
            <a:xfrm>
              <a:off x="2653" y="2750"/>
              <a:ext cx="0" cy="13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60" name="Line 73"/>
            <p:cNvSpPr/>
            <p:nvPr/>
          </p:nvSpPr>
          <p:spPr>
            <a:xfrm>
              <a:off x="2669" y="4110"/>
              <a:ext cx="72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" name="Rectangle 22"/>
          <p:cNvSpPr/>
          <p:nvPr/>
        </p:nvSpPr>
        <p:spPr>
          <a:xfrm>
            <a:off x="292735" y="155258"/>
            <a:ext cx="44596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2800" b="1" dirty="0">
                <a:solidFill>
                  <a:srgbClr val="660066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800" b="1" dirty="0">
                <a:solidFill>
                  <a:srgbClr val="660066"/>
                </a:solidFill>
                <a:latin typeface="Arial" panose="020B0604020202020204" pitchFamily="34" charset="0"/>
              </a:rPr>
              <a:t>．</a:t>
            </a:r>
            <a:r>
              <a:rPr lang="zh-CN" altLang="en-US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螺纹的种类和标注</a:t>
            </a:r>
            <a:r>
              <a:rPr lang="en-US" altLang="zh-CN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endParaRPr lang="en-US" altLang="zh-CN" sz="20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343051" name="组合 343050"/>
          <p:cNvGrpSpPr/>
          <p:nvPr/>
        </p:nvGrpSpPr>
        <p:grpSpPr>
          <a:xfrm>
            <a:off x="333375" y="81216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7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7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70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70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7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7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70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270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2" grpId="0"/>
      <p:bldP spid="127004" grpId="0"/>
      <p:bldP spid="127005" grpId="0"/>
      <p:bldP spid="127026" grpId="0"/>
      <p:bldP spid="127028" grpId="0"/>
      <p:bldP spid="127029" grpId="0"/>
      <p:bldP spid="127046" grpId="0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2" name="Rectangle 22"/>
          <p:cNvSpPr/>
          <p:nvPr/>
        </p:nvSpPr>
        <p:spPr>
          <a:xfrm>
            <a:off x="4392930" y="173673"/>
            <a:ext cx="5076825" cy="39878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管螺纹标注</a:t>
            </a:r>
            <a:endParaRPr lang="en-US" altLang="zh-CN" sz="20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28053" name="Text Box 53"/>
          <p:cNvSpPr txBox="1"/>
          <p:nvPr/>
        </p:nvSpPr>
        <p:spPr>
          <a:xfrm>
            <a:off x="539750" y="944563"/>
            <a:ext cx="1828800" cy="592137"/>
          </a:xfrm>
          <a:prstGeom prst="rect">
            <a:avLst/>
          </a:prstGeom>
          <a:noFill/>
          <a:ln w="127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</a:rPr>
              <a:t>特征代号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28054" name="Text Box 54"/>
          <p:cNvSpPr txBox="1"/>
          <p:nvPr/>
        </p:nvSpPr>
        <p:spPr>
          <a:xfrm>
            <a:off x="2476500" y="944563"/>
            <a:ext cx="1828800" cy="592137"/>
          </a:xfrm>
          <a:prstGeom prst="rect">
            <a:avLst/>
          </a:prstGeom>
          <a:noFill/>
          <a:ln w="127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</a:rPr>
              <a:t>尺寸代号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28055" name="Text Box 55"/>
          <p:cNvSpPr txBox="1"/>
          <p:nvPr/>
        </p:nvSpPr>
        <p:spPr>
          <a:xfrm>
            <a:off x="4606925" y="949325"/>
            <a:ext cx="1012825" cy="592138"/>
          </a:xfrm>
          <a:prstGeom prst="rect">
            <a:avLst/>
          </a:prstGeom>
          <a:noFill/>
          <a:ln w="127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</a:rPr>
              <a:t>旋向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28056" name="Text Box 56"/>
          <p:cNvSpPr txBox="1"/>
          <p:nvPr/>
        </p:nvSpPr>
        <p:spPr>
          <a:xfrm>
            <a:off x="358775" y="3541713"/>
            <a:ext cx="6245225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en-US" altLang="zh-CN" sz="3000" b="1" dirty="0">
                <a:latin typeface="Times New Roman" panose="02020603050405020304" pitchFamily="18" charset="0"/>
              </a:rPr>
              <a:t>b.</a:t>
            </a:r>
            <a:r>
              <a:rPr lang="zh-CN" altLang="en-US" sz="3000" b="1" dirty="0">
                <a:latin typeface="Times New Roman" panose="02020603050405020304" pitchFamily="18" charset="0"/>
              </a:rPr>
              <a:t>右旋螺纹不标，左旋时则标注</a:t>
            </a:r>
            <a:r>
              <a:rPr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LH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;</a:t>
            </a:r>
            <a:endParaRPr lang="en-US" altLang="zh-CN" sz="32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57"/>
          <p:cNvGrpSpPr/>
          <p:nvPr/>
        </p:nvGrpSpPr>
        <p:grpSpPr>
          <a:xfrm>
            <a:off x="4703763" y="1577975"/>
            <a:ext cx="993775" cy="1277938"/>
            <a:chOff x="4877" y="1142"/>
            <a:chExt cx="626" cy="805"/>
          </a:xfrm>
        </p:grpSpPr>
        <p:sp>
          <p:nvSpPr>
            <p:cNvPr id="66592" name="Text Box 58"/>
            <p:cNvSpPr txBox="1"/>
            <p:nvPr/>
          </p:nvSpPr>
          <p:spPr>
            <a:xfrm>
              <a:off x="4877" y="1346"/>
              <a:ext cx="626" cy="601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800" b="1" dirty="0">
                  <a:latin typeface="Times New Roman" panose="02020603050405020304" pitchFamily="18" charset="0"/>
                </a:rPr>
                <a:t>右旋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sz="2800" b="1" dirty="0">
                  <a:latin typeface="Times New Roman" panose="02020603050405020304" pitchFamily="18" charset="0"/>
                </a:rPr>
                <a:t>左旋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6593" name="Line 59"/>
            <p:cNvSpPr/>
            <p:nvPr/>
          </p:nvSpPr>
          <p:spPr>
            <a:xfrm>
              <a:off x="5190" y="1142"/>
              <a:ext cx="0" cy="207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triangle" w="sm" len="lg"/>
              <a:tailEnd type="none" w="med" len="med"/>
            </a:ln>
          </p:spPr>
        </p:sp>
      </p:grpSp>
      <p:sp>
        <p:nvSpPr>
          <p:cNvPr id="128061" name="Text Box 61"/>
          <p:cNvSpPr txBox="1"/>
          <p:nvPr/>
        </p:nvSpPr>
        <p:spPr>
          <a:xfrm>
            <a:off x="287338" y="2722563"/>
            <a:ext cx="8424862" cy="5842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3000" b="1" dirty="0">
                <a:latin typeface="Times New Roman" panose="02020603050405020304" pitchFamily="18" charset="0"/>
              </a:rPr>
              <a:t>a.</a:t>
            </a:r>
            <a:r>
              <a:rPr lang="zh-CN" altLang="en-US" sz="3000" b="1" dirty="0">
                <a:latin typeface="Times New Roman" panose="02020603050405020304" pitchFamily="18" charset="0"/>
              </a:rPr>
              <a:t>尺寸代号表示具有管螺纹管子内径的大约值</a:t>
            </a:r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。</a:t>
            </a:r>
            <a:endParaRPr lang="zh-CN" altLang="en-US" sz="3200" b="1" dirty="0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  <p:sp>
        <p:nvSpPr>
          <p:cNvPr id="128062" name="Text Box 62"/>
          <p:cNvSpPr txBox="1"/>
          <p:nvPr/>
        </p:nvSpPr>
        <p:spPr>
          <a:xfrm>
            <a:off x="354013" y="4119563"/>
            <a:ext cx="8261350" cy="554037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en-US" altLang="zh-CN" sz="3000" b="1" dirty="0">
                <a:latin typeface="Times New Roman" panose="02020603050405020304" pitchFamily="18" charset="0"/>
              </a:rPr>
              <a:t>c.</a:t>
            </a:r>
            <a:r>
              <a:rPr lang="zh-CN" altLang="en-US" sz="3000" b="1" dirty="0">
                <a:latin typeface="Times New Roman" panose="02020603050405020304" pitchFamily="18" charset="0"/>
              </a:rPr>
              <a:t>只有外管旋螺纹标注公差等级，有</a:t>
            </a:r>
            <a:r>
              <a:rPr lang="en-US" altLang="zh-CN" sz="3000" b="1" dirty="0">
                <a:latin typeface="Times New Roman" panose="02020603050405020304" pitchFamily="18" charset="0"/>
              </a:rPr>
              <a:t>2</a:t>
            </a:r>
            <a:r>
              <a:rPr lang="zh-CN" altLang="en-US" sz="3000" b="1" dirty="0">
                <a:latin typeface="Times New Roman" panose="02020603050405020304" pitchFamily="18" charset="0"/>
              </a:rPr>
              <a:t>种，</a:t>
            </a:r>
            <a:r>
              <a:rPr lang="en-US" altLang="zh-CN" sz="3000" b="1" dirty="0">
                <a:latin typeface="Times New Roman" panose="02020603050405020304" pitchFamily="18" charset="0"/>
              </a:rPr>
              <a:t>A</a:t>
            </a:r>
            <a:r>
              <a:rPr lang="zh-CN" altLang="en-US" sz="3000" b="1" dirty="0">
                <a:latin typeface="Times New Roman" panose="02020603050405020304" pitchFamily="18" charset="0"/>
              </a:rPr>
              <a:t>，</a:t>
            </a:r>
            <a:r>
              <a:rPr lang="en-US" altLang="zh-CN" sz="3000" b="1" dirty="0">
                <a:latin typeface="Times New Roman" panose="02020603050405020304" pitchFamily="18" charset="0"/>
              </a:rPr>
              <a:t>B;</a:t>
            </a:r>
            <a:endParaRPr lang="en-US" altLang="zh-CN" sz="3000" b="1" dirty="0">
              <a:latin typeface="Times New Roman" panose="02020603050405020304" pitchFamily="18" charset="0"/>
            </a:endParaRPr>
          </a:p>
        </p:txBody>
      </p:sp>
      <p:sp>
        <p:nvSpPr>
          <p:cNvPr id="128063" name="Text Box 63"/>
          <p:cNvSpPr txBox="1"/>
          <p:nvPr/>
        </p:nvSpPr>
        <p:spPr>
          <a:xfrm>
            <a:off x="849313" y="4549775"/>
            <a:ext cx="1206500" cy="579438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例：</a:t>
            </a:r>
            <a:endParaRPr lang="zh-CN" altLang="en-US" sz="32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8064" name="Text Box 64"/>
          <p:cNvSpPr txBox="1"/>
          <p:nvPr/>
        </p:nvSpPr>
        <p:spPr>
          <a:xfrm>
            <a:off x="2149475" y="4840288"/>
            <a:ext cx="1312863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en-US" altLang="zh-CN" sz="3200" b="1" dirty="0">
                <a:solidFill>
                  <a:srgbClr val="CC0099"/>
                </a:solidFill>
                <a:latin typeface="Times New Roman" panose="02020603050405020304" pitchFamily="18" charset="0"/>
              </a:rPr>
              <a:t>G3/4A</a:t>
            </a:r>
            <a:endParaRPr lang="en-US" altLang="zh-CN" sz="3200" b="1" dirty="0">
              <a:solidFill>
                <a:srgbClr val="CC009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" name="Group 65"/>
          <p:cNvGrpSpPr/>
          <p:nvPr/>
        </p:nvGrpSpPr>
        <p:grpSpPr>
          <a:xfrm>
            <a:off x="-36512" y="5313363"/>
            <a:ext cx="2817812" cy="619125"/>
            <a:chOff x="363" y="2555"/>
            <a:chExt cx="1412" cy="390"/>
          </a:xfrm>
        </p:grpSpPr>
        <p:sp>
          <p:nvSpPr>
            <p:cNvPr id="66589" name="Text Box 66"/>
            <p:cNvSpPr txBox="1"/>
            <p:nvPr/>
          </p:nvSpPr>
          <p:spPr>
            <a:xfrm>
              <a:off x="363" y="2705"/>
              <a:ext cx="141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zh-CN" altLang="en-US" sz="16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非螺纹密封的外管螺纹</a:t>
              </a:r>
              <a:endParaRPr lang="zh-CN" altLang="en-US" sz="1600" dirty="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6590" name="Freeform 67"/>
            <p:cNvSpPr/>
            <p:nvPr/>
          </p:nvSpPr>
          <p:spPr>
            <a:xfrm>
              <a:off x="584" y="2940"/>
              <a:ext cx="1005" cy="5"/>
            </a:xfrm>
            <a:custGeom>
              <a:avLst/>
              <a:gdLst>
                <a:gd name="txL" fmla="*/ 0 w 1005"/>
                <a:gd name="txT" fmla="*/ 0 h 5"/>
                <a:gd name="txR" fmla="*/ 1005 w 1005"/>
                <a:gd name="txB" fmla="*/ 5 h 5"/>
              </a:gdLst>
              <a:ahLst/>
              <a:cxnLst>
                <a:cxn ang="0">
                  <a:pos x="0" y="5"/>
                </a:cxn>
                <a:cxn ang="0">
                  <a:pos x="1005" y="0"/>
                </a:cxn>
              </a:cxnLst>
              <a:rect l="txL" t="txT" r="txR" b="txB"/>
              <a:pathLst>
                <a:path w="1005" h="5">
                  <a:moveTo>
                    <a:pt x="0" y="5"/>
                  </a:moveTo>
                  <a:lnTo>
                    <a:pt x="1005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6591" name="Line 68"/>
            <p:cNvSpPr/>
            <p:nvPr/>
          </p:nvSpPr>
          <p:spPr>
            <a:xfrm flipV="1">
              <a:off x="1589" y="2555"/>
              <a:ext cx="0" cy="38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69"/>
          <p:cNvGrpSpPr/>
          <p:nvPr/>
        </p:nvGrpSpPr>
        <p:grpSpPr>
          <a:xfrm>
            <a:off x="574675" y="5270500"/>
            <a:ext cx="2279650" cy="1079500"/>
            <a:chOff x="385" y="3521"/>
            <a:chExt cx="1436" cy="680"/>
          </a:xfrm>
        </p:grpSpPr>
        <p:sp>
          <p:nvSpPr>
            <p:cNvPr id="66586" name="Text Box 70"/>
            <p:cNvSpPr txBox="1"/>
            <p:nvPr/>
          </p:nvSpPr>
          <p:spPr>
            <a:xfrm>
              <a:off x="385" y="3941"/>
              <a:ext cx="1361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zh-CN" altLang="en-US" sz="1600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尺寸代号</a:t>
              </a:r>
              <a:endParaRPr lang="zh-CN" altLang="en-US" sz="1600" dirty="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6587" name="Line 71"/>
            <p:cNvSpPr/>
            <p:nvPr/>
          </p:nvSpPr>
          <p:spPr>
            <a:xfrm>
              <a:off x="1809" y="3521"/>
              <a:ext cx="0" cy="68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88" name="Line 72"/>
            <p:cNvSpPr/>
            <p:nvPr/>
          </p:nvSpPr>
          <p:spPr>
            <a:xfrm>
              <a:off x="512" y="4201"/>
              <a:ext cx="1309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8073" name="Text Box 73"/>
          <p:cNvSpPr txBox="1"/>
          <p:nvPr/>
        </p:nvSpPr>
        <p:spPr>
          <a:xfrm>
            <a:off x="4076700" y="5486400"/>
            <a:ext cx="268446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左旋还是右旋？</a:t>
            </a:r>
            <a:endParaRPr lang="zh-CN" altLang="en-US" sz="2800" b="1" dirty="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" name="Group 74"/>
          <p:cNvGrpSpPr/>
          <p:nvPr/>
        </p:nvGrpSpPr>
        <p:grpSpPr>
          <a:xfrm>
            <a:off x="3228975" y="5341938"/>
            <a:ext cx="1163638" cy="863600"/>
            <a:chOff x="2057" y="3566"/>
            <a:chExt cx="733" cy="544"/>
          </a:xfrm>
        </p:grpSpPr>
        <p:sp>
          <p:nvSpPr>
            <p:cNvPr id="66583" name="Line 75"/>
            <p:cNvSpPr/>
            <p:nvPr/>
          </p:nvSpPr>
          <p:spPr>
            <a:xfrm>
              <a:off x="2064" y="3566"/>
              <a:ext cx="0" cy="54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84" name="Text Box 76"/>
            <p:cNvSpPr txBox="1"/>
            <p:nvPr/>
          </p:nvSpPr>
          <p:spPr>
            <a:xfrm>
              <a:off x="2064" y="3884"/>
              <a:ext cx="72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eaLnBrk="0" hangingPunct="0"/>
              <a:r>
                <a:rPr lang="zh-CN" altLang="en-US" sz="16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精度等级</a:t>
              </a:r>
              <a:endParaRPr lang="zh-CN" altLang="en-US" sz="1600" b="1" dirty="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6585" name="Line 77"/>
            <p:cNvSpPr/>
            <p:nvPr/>
          </p:nvSpPr>
          <p:spPr>
            <a:xfrm>
              <a:off x="2057" y="4110"/>
              <a:ext cx="687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78"/>
          <p:cNvGrpSpPr/>
          <p:nvPr/>
        </p:nvGrpSpPr>
        <p:grpSpPr>
          <a:xfrm>
            <a:off x="685800" y="1539875"/>
            <a:ext cx="1511300" cy="1277938"/>
            <a:chOff x="455" y="1171"/>
            <a:chExt cx="952" cy="805"/>
          </a:xfrm>
        </p:grpSpPr>
        <p:sp>
          <p:nvSpPr>
            <p:cNvPr id="66581" name="Text Box 79"/>
            <p:cNvSpPr txBox="1"/>
            <p:nvPr/>
          </p:nvSpPr>
          <p:spPr>
            <a:xfrm>
              <a:off x="455" y="1375"/>
              <a:ext cx="952" cy="601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2800" b="1" dirty="0">
                  <a:latin typeface="Times New Roman" panose="02020603050405020304" pitchFamily="18" charset="0"/>
                </a:rPr>
                <a:t>G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、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R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、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Rc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、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Rp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6582" name="Line 80"/>
            <p:cNvSpPr/>
            <p:nvPr/>
          </p:nvSpPr>
          <p:spPr>
            <a:xfrm>
              <a:off x="936" y="1171"/>
              <a:ext cx="0" cy="207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triangle" w="sm" len="lg"/>
              <a:tailEnd type="none" w="med" len="med"/>
            </a:ln>
          </p:spPr>
        </p:sp>
      </p:grpSp>
      <p:sp>
        <p:nvSpPr>
          <p:cNvPr id="7" name="Rectangle 22"/>
          <p:cNvSpPr/>
          <p:nvPr/>
        </p:nvSpPr>
        <p:spPr>
          <a:xfrm>
            <a:off x="263525" y="153353"/>
            <a:ext cx="44596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2800" b="1" dirty="0">
                <a:solidFill>
                  <a:srgbClr val="660066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800" b="1" dirty="0">
                <a:solidFill>
                  <a:srgbClr val="660066"/>
                </a:solidFill>
                <a:latin typeface="Arial" panose="020B0604020202020204" pitchFamily="34" charset="0"/>
              </a:rPr>
              <a:t>．</a:t>
            </a:r>
            <a:r>
              <a:rPr lang="zh-CN" altLang="en-US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螺纹的种类和标注</a:t>
            </a:r>
            <a:r>
              <a:rPr lang="en-US" altLang="zh-CN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endParaRPr lang="en-US" altLang="zh-CN" sz="20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343051" name="组合 343050"/>
          <p:cNvGrpSpPr/>
          <p:nvPr/>
        </p:nvGrpSpPr>
        <p:grpSpPr>
          <a:xfrm>
            <a:off x="333375" y="81216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80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80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80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280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280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280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8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8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80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280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2" grpId="0"/>
      <p:bldP spid="128053" grpId="0" bldLvl="0" animBg="1"/>
      <p:bldP spid="128054" grpId="0" bldLvl="0" animBg="1"/>
      <p:bldP spid="128055" grpId="0" bldLvl="0" animBg="1"/>
      <p:bldP spid="128056" grpId="0"/>
      <p:bldP spid="128061" grpId="0"/>
      <p:bldP spid="128062" grpId="0"/>
      <p:bldP spid="128063" grpId="0"/>
      <p:bldP spid="128064" grpId="0"/>
      <p:bldP spid="128073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2" name="Rectangle 22"/>
          <p:cNvSpPr/>
          <p:nvPr/>
        </p:nvSpPr>
        <p:spPr>
          <a:xfrm>
            <a:off x="3145155" y="6368733"/>
            <a:ext cx="1908175" cy="39687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螺纹标注方法</a:t>
            </a:r>
            <a:endParaRPr lang="en-US" altLang="zh-CN" sz="20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29058" name="Text Box 34"/>
          <p:cNvSpPr txBox="1"/>
          <p:nvPr/>
        </p:nvSpPr>
        <p:spPr>
          <a:xfrm>
            <a:off x="592138" y="968375"/>
            <a:ext cx="2671762" cy="4572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 eaLnBrk="0" hangingPunct="0"/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M20×2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592" name="Rectangle 35"/>
          <p:cNvSpPr/>
          <p:nvPr/>
        </p:nvSpPr>
        <p:spPr>
          <a:xfrm>
            <a:off x="468313" y="441325"/>
            <a:ext cx="2787650" cy="590550"/>
          </a:xfrm>
          <a:prstGeom prst="rect">
            <a:avLst/>
          </a:prstGeom>
          <a:noFill/>
          <a:ln w="76200">
            <a:noFill/>
          </a:ln>
        </p:spPr>
        <p:txBody>
          <a:bodyPr/>
          <a:lstStyle/>
          <a:p>
            <a:pPr eaLnBrk="0" hangingPunct="0"/>
            <a:endParaRPr lang="zh-CN" altLang="en-US" sz="3600" dirty="0">
              <a:latin typeface="Arial" panose="020B0604020202020204" pitchFamily="34" charset="0"/>
            </a:endParaRPr>
          </a:p>
        </p:txBody>
      </p:sp>
      <p:sp>
        <p:nvSpPr>
          <p:cNvPr id="129060" name="Line 36"/>
          <p:cNvSpPr/>
          <p:nvPr/>
        </p:nvSpPr>
        <p:spPr>
          <a:xfrm flipH="1" flipV="1">
            <a:off x="1181100" y="1739900"/>
            <a:ext cx="685800" cy="1588"/>
          </a:xfrm>
          <a:prstGeom prst="line">
            <a:avLst/>
          </a:prstGeom>
          <a:ln w="127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9061" name="Line 37"/>
          <p:cNvSpPr/>
          <p:nvPr/>
        </p:nvSpPr>
        <p:spPr>
          <a:xfrm flipH="1">
            <a:off x="1216025" y="2655888"/>
            <a:ext cx="650875" cy="4762"/>
          </a:xfrm>
          <a:prstGeom prst="line">
            <a:avLst/>
          </a:prstGeom>
          <a:ln w="127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9062" name="Line 38"/>
          <p:cNvSpPr/>
          <p:nvPr/>
        </p:nvSpPr>
        <p:spPr>
          <a:xfrm flipV="1">
            <a:off x="1333500" y="1341438"/>
            <a:ext cx="6350" cy="400050"/>
          </a:xfrm>
          <a:prstGeom prst="line">
            <a:avLst/>
          </a:prstGeom>
          <a:ln w="127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9063" name="Line 39"/>
          <p:cNvSpPr/>
          <p:nvPr/>
        </p:nvSpPr>
        <p:spPr>
          <a:xfrm flipV="1">
            <a:off x="1333500" y="1358900"/>
            <a:ext cx="1150938" cy="1588"/>
          </a:xfrm>
          <a:prstGeom prst="line">
            <a:avLst/>
          </a:prstGeom>
          <a:ln w="127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9064" name="Line 40"/>
          <p:cNvSpPr/>
          <p:nvPr/>
        </p:nvSpPr>
        <p:spPr>
          <a:xfrm flipH="1">
            <a:off x="4986338" y="1593850"/>
            <a:ext cx="685800" cy="0"/>
          </a:xfrm>
          <a:prstGeom prst="line">
            <a:avLst/>
          </a:prstGeom>
          <a:ln w="127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9065" name="Line 41"/>
          <p:cNvSpPr/>
          <p:nvPr/>
        </p:nvSpPr>
        <p:spPr>
          <a:xfrm flipH="1">
            <a:off x="5000625" y="2492375"/>
            <a:ext cx="685800" cy="0"/>
          </a:xfrm>
          <a:prstGeom prst="line">
            <a:avLst/>
          </a:prstGeom>
          <a:ln w="127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9066" name="Text Box 42"/>
          <p:cNvSpPr txBox="1"/>
          <p:nvPr/>
        </p:nvSpPr>
        <p:spPr>
          <a:xfrm>
            <a:off x="5095875" y="808038"/>
            <a:ext cx="1509713" cy="4572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eaLnBrk="0" hangingPunct="0"/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M20-7H</a:t>
            </a:r>
            <a:endParaRPr lang="en-US" altLang="zh-CN" sz="2400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9067" name="Line 43"/>
          <p:cNvSpPr/>
          <p:nvPr/>
        </p:nvSpPr>
        <p:spPr>
          <a:xfrm flipH="1" flipV="1">
            <a:off x="1423988" y="3762375"/>
            <a:ext cx="381000" cy="381000"/>
          </a:xfrm>
          <a:prstGeom prst="line">
            <a:avLst/>
          </a:prstGeom>
          <a:ln w="127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9068" name="Line 44"/>
          <p:cNvSpPr/>
          <p:nvPr/>
        </p:nvSpPr>
        <p:spPr>
          <a:xfrm>
            <a:off x="1423988" y="3762375"/>
            <a:ext cx="914400" cy="0"/>
          </a:xfrm>
          <a:prstGeom prst="line">
            <a:avLst/>
          </a:prstGeom>
          <a:ln w="127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9069" name="Text Box 45"/>
          <p:cNvSpPr txBox="1"/>
          <p:nvPr/>
        </p:nvSpPr>
        <p:spPr>
          <a:xfrm>
            <a:off x="1444625" y="3352800"/>
            <a:ext cx="652463" cy="4572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 eaLnBrk="0" hangingPunct="0"/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G1</a:t>
            </a:r>
            <a:endParaRPr lang="en-US" altLang="zh-CN" sz="2400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46"/>
          <p:cNvGrpSpPr/>
          <p:nvPr/>
        </p:nvGrpSpPr>
        <p:grpSpPr>
          <a:xfrm>
            <a:off x="1714500" y="1733550"/>
            <a:ext cx="2089150" cy="1568450"/>
            <a:chOff x="1080" y="1096"/>
            <a:chExt cx="1316" cy="988"/>
          </a:xfrm>
        </p:grpSpPr>
        <p:sp>
          <p:nvSpPr>
            <p:cNvPr id="67734" name="Line 47"/>
            <p:cNvSpPr/>
            <p:nvPr/>
          </p:nvSpPr>
          <p:spPr>
            <a:xfrm>
              <a:off x="1176" y="1101"/>
              <a:ext cx="1152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735" name="Line 48"/>
            <p:cNvSpPr/>
            <p:nvPr/>
          </p:nvSpPr>
          <p:spPr>
            <a:xfrm>
              <a:off x="1176" y="1101"/>
              <a:ext cx="1" cy="5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736" name="Line 49"/>
            <p:cNvSpPr/>
            <p:nvPr/>
          </p:nvSpPr>
          <p:spPr>
            <a:xfrm>
              <a:off x="1176" y="1677"/>
              <a:ext cx="1152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737" name="Line 50"/>
            <p:cNvSpPr/>
            <p:nvPr/>
          </p:nvSpPr>
          <p:spPr>
            <a:xfrm>
              <a:off x="2040" y="1101"/>
              <a:ext cx="1" cy="5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738" name="Line 51"/>
            <p:cNvSpPr/>
            <p:nvPr/>
          </p:nvSpPr>
          <p:spPr>
            <a:xfrm flipH="1">
              <a:off x="1110" y="1096"/>
              <a:ext cx="71" cy="7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739" name="Line 52"/>
            <p:cNvSpPr/>
            <p:nvPr/>
          </p:nvSpPr>
          <p:spPr>
            <a:xfrm>
              <a:off x="1116" y="1617"/>
              <a:ext cx="60" cy="6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740" name="Line 53"/>
            <p:cNvSpPr/>
            <p:nvPr/>
          </p:nvSpPr>
          <p:spPr>
            <a:xfrm>
              <a:off x="1110" y="1617"/>
              <a:ext cx="930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741" name="Freeform 54"/>
            <p:cNvSpPr/>
            <p:nvPr/>
          </p:nvSpPr>
          <p:spPr>
            <a:xfrm>
              <a:off x="2232" y="1108"/>
              <a:ext cx="164" cy="573"/>
            </a:xfrm>
            <a:custGeom>
              <a:avLst/>
              <a:gdLst>
                <a:gd name="txL" fmla="*/ 0 w 150"/>
                <a:gd name="txT" fmla="*/ 0 h 580"/>
                <a:gd name="txR" fmla="*/ 150 w 150"/>
                <a:gd name="txB" fmla="*/ 580 h 580"/>
              </a:gdLst>
              <a:ahLst/>
              <a:cxnLst>
                <a:cxn ang="0">
                  <a:pos x="81" y="0"/>
                </a:cxn>
                <a:cxn ang="0">
                  <a:pos x="116" y="13"/>
                </a:cxn>
                <a:cxn ang="0">
                  <a:pos x="154" y="49"/>
                </a:cxn>
                <a:cxn ang="0">
                  <a:pos x="174" y="100"/>
                </a:cxn>
                <a:cxn ang="0">
                  <a:pos x="169" y="137"/>
                </a:cxn>
                <a:cxn ang="0">
                  <a:pos x="131" y="221"/>
                </a:cxn>
                <a:cxn ang="0">
                  <a:pos x="81" y="282"/>
                </a:cxn>
                <a:cxn ang="0">
                  <a:pos x="50" y="322"/>
                </a:cxn>
                <a:cxn ang="0">
                  <a:pos x="24" y="374"/>
                </a:cxn>
                <a:cxn ang="0">
                  <a:pos x="4" y="416"/>
                </a:cxn>
                <a:cxn ang="0">
                  <a:pos x="1" y="462"/>
                </a:cxn>
                <a:cxn ang="0">
                  <a:pos x="12" y="497"/>
                </a:cxn>
                <a:cxn ang="0">
                  <a:pos x="24" y="516"/>
                </a:cxn>
                <a:cxn ang="0">
                  <a:pos x="43" y="536"/>
                </a:cxn>
                <a:cxn ang="0">
                  <a:pos x="81" y="562"/>
                </a:cxn>
                <a:cxn ang="0">
                  <a:pos x="116" y="559"/>
                </a:cxn>
                <a:cxn ang="0">
                  <a:pos x="139" y="549"/>
                </a:cxn>
                <a:cxn ang="0">
                  <a:pos x="174" y="500"/>
                </a:cxn>
                <a:cxn ang="0">
                  <a:pos x="177" y="458"/>
                </a:cxn>
                <a:cxn ang="0">
                  <a:pos x="174" y="422"/>
                </a:cxn>
                <a:cxn ang="0">
                  <a:pos x="151" y="347"/>
                </a:cxn>
                <a:cxn ang="0">
                  <a:pos x="142" y="341"/>
                </a:cxn>
                <a:cxn ang="0">
                  <a:pos x="81" y="282"/>
                </a:cxn>
              </a:cxnLst>
              <a:rect l="txL" t="txT" r="txR" b="txB"/>
              <a:pathLst>
                <a:path w="150" h="580">
                  <a:moveTo>
                    <a:pt x="68" y="0"/>
                  </a:moveTo>
                  <a:cubicBezTo>
                    <a:pt x="73" y="2"/>
                    <a:pt x="87" y="4"/>
                    <a:pt x="97" y="13"/>
                  </a:cubicBezTo>
                  <a:cubicBezTo>
                    <a:pt x="107" y="22"/>
                    <a:pt x="121" y="36"/>
                    <a:pt x="129" y="51"/>
                  </a:cubicBezTo>
                  <a:cubicBezTo>
                    <a:pt x="137" y="66"/>
                    <a:pt x="143" y="87"/>
                    <a:pt x="145" y="102"/>
                  </a:cubicBezTo>
                  <a:cubicBezTo>
                    <a:pt x="147" y="117"/>
                    <a:pt x="148" y="120"/>
                    <a:pt x="142" y="141"/>
                  </a:cubicBezTo>
                  <a:cubicBezTo>
                    <a:pt x="136" y="162"/>
                    <a:pt x="122" y="202"/>
                    <a:pt x="110" y="227"/>
                  </a:cubicBezTo>
                  <a:cubicBezTo>
                    <a:pt x="98" y="252"/>
                    <a:pt x="79" y="271"/>
                    <a:pt x="68" y="288"/>
                  </a:cubicBezTo>
                  <a:cubicBezTo>
                    <a:pt x="57" y="305"/>
                    <a:pt x="50" y="314"/>
                    <a:pt x="42" y="330"/>
                  </a:cubicBezTo>
                  <a:cubicBezTo>
                    <a:pt x="34" y="346"/>
                    <a:pt x="26" y="368"/>
                    <a:pt x="20" y="384"/>
                  </a:cubicBezTo>
                  <a:cubicBezTo>
                    <a:pt x="14" y="400"/>
                    <a:pt x="7" y="411"/>
                    <a:pt x="4" y="426"/>
                  </a:cubicBezTo>
                  <a:cubicBezTo>
                    <a:pt x="1" y="441"/>
                    <a:pt x="0" y="460"/>
                    <a:pt x="1" y="474"/>
                  </a:cubicBezTo>
                  <a:cubicBezTo>
                    <a:pt x="2" y="488"/>
                    <a:pt x="7" y="500"/>
                    <a:pt x="10" y="509"/>
                  </a:cubicBezTo>
                  <a:cubicBezTo>
                    <a:pt x="13" y="518"/>
                    <a:pt x="16" y="521"/>
                    <a:pt x="20" y="528"/>
                  </a:cubicBezTo>
                  <a:cubicBezTo>
                    <a:pt x="24" y="535"/>
                    <a:pt x="28" y="542"/>
                    <a:pt x="36" y="550"/>
                  </a:cubicBezTo>
                  <a:cubicBezTo>
                    <a:pt x="44" y="558"/>
                    <a:pt x="58" y="572"/>
                    <a:pt x="68" y="576"/>
                  </a:cubicBezTo>
                  <a:cubicBezTo>
                    <a:pt x="78" y="580"/>
                    <a:pt x="89" y="575"/>
                    <a:pt x="97" y="573"/>
                  </a:cubicBezTo>
                  <a:cubicBezTo>
                    <a:pt x="105" y="571"/>
                    <a:pt x="108" y="573"/>
                    <a:pt x="116" y="563"/>
                  </a:cubicBezTo>
                  <a:cubicBezTo>
                    <a:pt x="124" y="553"/>
                    <a:pt x="140" y="527"/>
                    <a:pt x="145" y="512"/>
                  </a:cubicBezTo>
                  <a:cubicBezTo>
                    <a:pt x="150" y="497"/>
                    <a:pt x="148" y="483"/>
                    <a:pt x="148" y="470"/>
                  </a:cubicBezTo>
                  <a:cubicBezTo>
                    <a:pt x="148" y="457"/>
                    <a:pt x="149" y="451"/>
                    <a:pt x="145" y="432"/>
                  </a:cubicBezTo>
                  <a:cubicBezTo>
                    <a:pt x="141" y="413"/>
                    <a:pt x="130" y="369"/>
                    <a:pt x="126" y="355"/>
                  </a:cubicBezTo>
                  <a:cubicBezTo>
                    <a:pt x="122" y="341"/>
                    <a:pt x="129" y="360"/>
                    <a:pt x="119" y="349"/>
                  </a:cubicBezTo>
                  <a:cubicBezTo>
                    <a:pt x="109" y="338"/>
                    <a:pt x="79" y="301"/>
                    <a:pt x="68" y="28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7742" name="Line 55"/>
            <p:cNvSpPr/>
            <p:nvPr/>
          </p:nvSpPr>
          <p:spPr>
            <a:xfrm>
              <a:off x="1080" y="1389"/>
              <a:ext cx="1296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67743" name="Line 56"/>
            <p:cNvSpPr/>
            <p:nvPr/>
          </p:nvSpPr>
          <p:spPr>
            <a:xfrm flipV="1">
              <a:off x="2232" y="1455"/>
              <a:ext cx="126" cy="12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744" name="Line 57"/>
            <p:cNvSpPr/>
            <p:nvPr/>
          </p:nvSpPr>
          <p:spPr>
            <a:xfrm flipV="1">
              <a:off x="2280" y="1563"/>
              <a:ext cx="114" cy="11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745" name="Text Box 58"/>
            <p:cNvSpPr txBox="1"/>
            <p:nvPr/>
          </p:nvSpPr>
          <p:spPr>
            <a:xfrm>
              <a:off x="1216" y="1719"/>
              <a:ext cx="88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zh-CN" altLang="en-US" sz="3200" b="1" dirty="0">
                  <a:latin typeface="Times New Roman" panose="02020603050405020304" pitchFamily="18" charset="0"/>
                </a:rPr>
                <a:t>外螺纹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67746" name="Line 59"/>
            <p:cNvSpPr/>
            <p:nvPr/>
          </p:nvSpPr>
          <p:spPr>
            <a:xfrm>
              <a:off x="1124" y="1146"/>
              <a:ext cx="918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747" name="Line 60"/>
            <p:cNvSpPr/>
            <p:nvPr/>
          </p:nvSpPr>
          <p:spPr>
            <a:xfrm>
              <a:off x="1115" y="1163"/>
              <a:ext cx="0" cy="464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9085" name="Line 61"/>
          <p:cNvSpPr/>
          <p:nvPr/>
        </p:nvSpPr>
        <p:spPr>
          <a:xfrm>
            <a:off x="1333500" y="1698625"/>
            <a:ext cx="6350" cy="995363"/>
          </a:xfrm>
          <a:prstGeom prst="line">
            <a:avLst/>
          </a:prstGeom>
          <a:ln w="12700" cap="flat" cmpd="sng">
            <a:solidFill>
              <a:srgbClr val="FF3300"/>
            </a:solidFill>
            <a:prstDash val="solid"/>
            <a:headEnd type="triangle" w="sm" len="lg"/>
            <a:tailEnd type="triangle" w="sm" len="lg"/>
          </a:ln>
        </p:spPr>
      </p:sp>
      <p:sp>
        <p:nvSpPr>
          <p:cNvPr id="129086" name="Line 62"/>
          <p:cNvSpPr/>
          <p:nvPr/>
        </p:nvSpPr>
        <p:spPr>
          <a:xfrm flipH="1">
            <a:off x="5130800" y="1566863"/>
            <a:ext cx="0" cy="963612"/>
          </a:xfrm>
          <a:prstGeom prst="line">
            <a:avLst/>
          </a:prstGeom>
          <a:ln w="12700" cap="flat" cmpd="sng">
            <a:solidFill>
              <a:srgbClr val="FF3300"/>
            </a:solidFill>
            <a:prstDash val="solid"/>
            <a:headEnd type="triangle" w="sm" len="lg"/>
            <a:tailEnd type="triangle" w="sm" len="lg"/>
          </a:ln>
        </p:spPr>
      </p:sp>
      <p:sp>
        <p:nvSpPr>
          <p:cNvPr id="129087" name="Line 63"/>
          <p:cNvSpPr/>
          <p:nvPr/>
        </p:nvSpPr>
        <p:spPr>
          <a:xfrm>
            <a:off x="5130800" y="1201738"/>
            <a:ext cx="0" cy="411162"/>
          </a:xfrm>
          <a:prstGeom prst="line">
            <a:avLst/>
          </a:prstGeom>
          <a:ln w="127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607" name="Text Box 64"/>
          <p:cNvSpPr txBox="1"/>
          <p:nvPr/>
        </p:nvSpPr>
        <p:spPr>
          <a:xfrm>
            <a:off x="5360988" y="4121150"/>
            <a:ext cx="3095625" cy="1611313"/>
          </a:xfrm>
          <a:prstGeom prst="rect">
            <a:avLst/>
          </a:prstGeom>
          <a:noFill/>
          <a:ln w="57150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zh-CN" altLang="en-US" sz="32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记住：</a:t>
            </a:r>
            <a:endParaRPr lang="zh-CN" altLang="en-US" sz="32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ctr" eaLnBrk="0" hangingPunct="0"/>
            <a:r>
              <a:rPr lang="zh-CN" altLang="en-US" sz="32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尺寸界线应</a:t>
            </a:r>
            <a:endParaRPr lang="zh-CN" altLang="en-US" sz="32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ctr" eaLnBrk="0" hangingPunct="0"/>
            <a:r>
              <a:rPr lang="zh-CN" altLang="en-US" sz="32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从大径引出！</a:t>
            </a:r>
            <a:endParaRPr lang="zh-CN" altLang="en-US" sz="32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1" name="Group 120"/>
          <p:cNvGrpSpPr/>
          <p:nvPr/>
        </p:nvGrpSpPr>
        <p:grpSpPr>
          <a:xfrm>
            <a:off x="814388" y="4046538"/>
            <a:ext cx="2286000" cy="2322512"/>
            <a:chOff x="3146" y="728"/>
            <a:chExt cx="1440" cy="1463"/>
          </a:xfrm>
        </p:grpSpPr>
        <p:sp>
          <p:nvSpPr>
            <p:cNvPr id="67649" name="Line 121"/>
            <p:cNvSpPr/>
            <p:nvPr/>
          </p:nvSpPr>
          <p:spPr>
            <a:xfrm>
              <a:off x="3146" y="1269"/>
              <a:ext cx="144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67650" name="Line 122"/>
            <p:cNvSpPr/>
            <p:nvPr/>
          </p:nvSpPr>
          <p:spPr>
            <a:xfrm>
              <a:off x="3290" y="789"/>
              <a:ext cx="1152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51" name="Line 123"/>
            <p:cNvSpPr/>
            <p:nvPr/>
          </p:nvSpPr>
          <p:spPr>
            <a:xfrm>
              <a:off x="3290" y="1749"/>
              <a:ext cx="1152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52" name="Freeform 124"/>
            <p:cNvSpPr/>
            <p:nvPr/>
          </p:nvSpPr>
          <p:spPr>
            <a:xfrm>
              <a:off x="3243" y="783"/>
              <a:ext cx="49" cy="54"/>
            </a:xfrm>
            <a:custGeom>
              <a:avLst/>
              <a:gdLst>
                <a:gd name="txL" fmla="*/ 0 w 49"/>
                <a:gd name="txT" fmla="*/ 0 h 54"/>
                <a:gd name="txR" fmla="*/ 49 w 49"/>
                <a:gd name="txB" fmla="*/ 54 h 54"/>
              </a:gdLst>
              <a:ahLst/>
              <a:cxnLst>
                <a:cxn ang="0">
                  <a:pos x="49" y="0"/>
                </a:cxn>
                <a:cxn ang="0">
                  <a:pos x="0" y="54"/>
                </a:cxn>
              </a:cxnLst>
              <a:rect l="txL" t="txT" r="txR" b="txB"/>
              <a:pathLst>
                <a:path w="49" h="54">
                  <a:moveTo>
                    <a:pt x="49" y="0"/>
                  </a:moveTo>
                  <a:lnTo>
                    <a:pt x="0" y="54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7653" name="Line 125"/>
            <p:cNvSpPr/>
            <p:nvPr/>
          </p:nvSpPr>
          <p:spPr>
            <a:xfrm>
              <a:off x="3242" y="837"/>
              <a:ext cx="0" cy="88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54" name="Line 126"/>
            <p:cNvSpPr/>
            <p:nvPr/>
          </p:nvSpPr>
          <p:spPr>
            <a:xfrm flipH="1" flipV="1">
              <a:off x="3234" y="1700"/>
              <a:ext cx="56" cy="56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55" name="Freeform 127"/>
            <p:cNvSpPr/>
            <p:nvPr/>
          </p:nvSpPr>
          <p:spPr>
            <a:xfrm>
              <a:off x="3242" y="849"/>
              <a:ext cx="916" cy="2"/>
            </a:xfrm>
            <a:custGeom>
              <a:avLst/>
              <a:gdLst>
                <a:gd name="txL" fmla="*/ 0 w 916"/>
                <a:gd name="txT" fmla="*/ 0 h 2"/>
                <a:gd name="txR" fmla="*/ 916 w 91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16" y="0"/>
                </a:cxn>
              </a:cxnLst>
              <a:rect l="txL" t="txT" r="txR" b="txB"/>
              <a:pathLst>
                <a:path w="916" h="2">
                  <a:moveTo>
                    <a:pt x="0" y="2"/>
                  </a:moveTo>
                  <a:lnTo>
                    <a:pt x="916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7656" name="Line 128"/>
            <p:cNvSpPr/>
            <p:nvPr/>
          </p:nvSpPr>
          <p:spPr>
            <a:xfrm flipV="1">
              <a:off x="3264" y="1693"/>
              <a:ext cx="898" cy="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57" name="Line 129"/>
            <p:cNvSpPr/>
            <p:nvPr/>
          </p:nvSpPr>
          <p:spPr>
            <a:xfrm>
              <a:off x="4154" y="1701"/>
              <a:ext cx="0" cy="48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58" name="Line 130"/>
            <p:cNvSpPr/>
            <p:nvPr/>
          </p:nvSpPr>
          <p:spPr>
            <a:xfrm flipV="1">
              <a:off x="4154" y="789"/>
              <a:ext cx="0" cy="6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59" name="Line 131"/>
            <p:cNvSpPr/>
            <p:nvPr/>
          </p:nvSpPr>
          <p:spPr>
            <a:xfrm>
              <a:off x="3242" y="981"/>
              <a:ext cx="1205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60" name="Line 132"/>
            <p:cNvSpPr/>
            <p:nvPr/>
          </p:nvSpPr>
          <p:spPr>
            <a:xfrm>
              <a:off x="3242" y="1557"/>
              <a:ext cx="1198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61" name="Line 133"/>
            <p:cNvSpPr/>
            <p:nvPr/>
          </p:nvSpPr>
          <p:spPr>
            <a:xfrm flipV="1">
              <a:off x="3434" y="1557"/>
              <a:ext cx="192" cy="19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62" name="Line 134"/>
            <p:cNvSpPr/>
            <p:nvPr/>
          </p:nvSpPr>
          <p:spPr>
            <a:xfrm flipV="1">
              <a:off x="3242" y="1557"/>
              <a:ext cx="144" cy="14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63" name="Line 135"/>
            <p:cNvSpPr/>
            <p:nvPr/>
          </p:nvSpPr>
          <p:spPr>
            <a:xfrm flipV="1">
              <a:off x="3674" y="1557"/>
              <a:ext cx="192" cy="19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64" name="Line 136"/>
            <p:cNvSpPr/>
            <p:nvPr/>
          </p:nvSpPr>
          <p:spPr>
            <a:xfrm flipV="1">
              <a:off x="3914" y="1557"/>
              <a:ext cx="192" cy="19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65" name="Line 137"/>
            <p:cNvSpPr/>
            <p:nvPr/>
          </p:nvSpPr>
          <p:spPr>
            <a:xfrm flipV="1">
              <a:off x="4159" y="1566"/>
              <a:ext cx="186" cy="18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66" name="Freeform 138"/>
            <p:cNvSpPr/>
            <p:nvPr/>
          </p:nvSpPr>
          <p:spPr>
            <a:xfrm>
              <a:off x="4394" y="1702"/>
              <a:ext cx="56" cy="47"/>
            </a:xfrm>
            <a:custGeom>
              <a:avLst/>
              <a:gdLst>
                <a:gd name="txL" fmla="*/ 0 w 56"/>
                <a:gd name="txT" fmla="*/ 0 h 47"/>
                <a:gd name="txR" fmla="*/ 56 w 56"/>
                <a:gd name="txB" fmla="*/ 47 h 47"/>
              </a:gdLst>
              <a:ahLst/>
              <a:cxnLst>
                <a:cxn ang="0">
                  <a:pos x="0" y="47"/>
                </a:cxn>
                <a:cxn ang="0">
                  <a:pos x="56" y="0"/>
                </a:cxn>
              </a:cxnLst>
              <a:rect l="txL" t="txT" r="txR" b="txB"/>
              <a:pathLst>
                <a:path w="56" h="47">
                  <a:moveTo>
                    <a:pt x="0" y="47"/>
                  </a:moveTo>
                  <a:lnTo>
                    <a:pt x="56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7667" name="Line 139"/>
            <p:cNvSpPr/>
            <p:nvPr/>
          </p:nvSpPr>
          <p:spPr>
            <a:xfrm flipV="1">
              <a:off x="4154" y="789"/>
              <a:ext cx="192" cy="19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68" name="Line 140"/>
            <p:cNvSpPr/>
            <p:nvPr/>
          </p:nvSpPr>
          <p:spPr>
            <a:xfrm flipV="1">
              <a:off x="3914" y="789"/>
              <a:ext cx="192" cy="19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69" name="Line 141"/>
            <p:cNvSpPr/>
            <p:nvPr/>
          </p:nvSpPr>
          <p:spPr>
            <a:xfrm flipV="1">
              <a:off x="3674" y="789"/>
              <a:ext cx="192" cy="19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70" name="Line 142"/>
            <p:cNvSpPr/>
            <p:nvPr/>
          </p:nvSpPr>
          <p:spPr>
            <a:xfrm flipV="1">
              <a:off x="3434" y="789"/>
              <a:ext cx="192" cy="19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71" name="Line 143"/>
            <p:cNvSpPr/>
            <p:nvPr/>
          </p:nvSpPr>
          <p:spPr>
            <a:xfrm flipV="1">
              <a:off x="3242" y="789"/>
              <a:ext cx="144" cy="14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72" name="Line 144"/>
            <p:cNvSpPr/>
            <p:nvPr/>
          </p:nvSpPr>
          <p:spPr>
            <a:xfrm flipV="1">
              <a:off x="4394" y="936"/>
              <a:ext cx="45" cy="4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73" name="Text Box 145"/>
            <p:cNvSpPr txBox="1"/>
            <p:nvPr/>
          </p:nvSpPr>
          <p:spPr>
            <a:xfrm>
              <a:off x="3428" y="1826"/>
              <a:ext cx="88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zh-CN" altLang="en-US" sz="3200" b="1" dirty="0">
                  <a:latin typeface="Times New Roman" panose="02020603050405020304" pitchFamily="18" charset="0"/>
                </a:rPr>
                <a:t>管螺纹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67674" name="Group 146"/>
            <p:cNvGrpSpPr/>
            <p:nvPr/>
          </p:nvGrpSpPr>
          <p:grpSpPr>
            <a:xfrm>
              <a:off x="4356" y="728"/>
              <a:ext cx="175" cy="1103"/>
              <a:chOff x="4443" y="713"/>
              <a:chExt cx="175" cy="1103"/>
            </a:xfrm>
          </p:grpSpPr>
          <p:sp>
            <p:nvSpPr>
              <p:cNvPr id="67675" name="Line 147"/>
              <p:cNvSpPr/>
              <p:nvPr/>
            </p:nvSpPr>
            <p:spPr>
              <a:xfrm>
                <a:off x="4530" y="713"/>
                <a:ext cx="0" cy="37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7676" name="Line 148"/>
              <p:cNvSpPr/>
              <p:nvPr/>
            </p:nvSpPr>
            <p:spPr>
              <a:xfrm>
                <a:off x="4530" y="1084"/>
                <a:ext cx="88" cy="5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7677" name="Line 149"/>
              <p:cNvSpPr/>
              <p:nvPr/>
            </p:nvSpPr>
            <p:spPr>
              <a:xfrm>
                <a:off x="4530" y="1184"/>
                <a:ext cx="0" cy="63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7678" name="Line 150"/>
              <p:cNvSpPr/>
              <p:nvPr/>
            </p:nvSpPr>
            <p:spPr>
              <a:xfrm>
                <a:off x="4445" y="1144"/>
                <a:ext cx="88" cy="5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7679" name="Line 151"/>
              <p:cNvSpPr/>
              <p:nvPr/>
            </p:nvSpPr>
            <p:spPr>
              <a:xfrm flipV="1">
                <a:off x="4443" y="1135"/>
                <a:ext cx="175" cy="7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29176" name="Text Box 152"/>
          <p:cNvSpPr txBox="1"/>
          <p:nvPr/>
        </p:nvSpPr>
        <p:spPr>
          <a:xfrm>
            <a:off x="3144838" y="4085590"/>
            <a:ext cx="2184400" cy="1938020"/>
          </a:xfrm>
          <a:prstGeom prst="rect">
            <a:avLst/>
          </a:prstGeom>
          <a:noFill/>
          <a:ln w="12700">
            <a:noFill/>
          </a:ln>
        </p:spPr>
        <p:txBody>
          <a:bodyPr anchor="ctr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注：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0" hangingPunct="0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右面的数字不是管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sym typeface="CommercialPi BT" panose="05020102010206080802" pitchFamily="18" charset="2"/>
              </a:rPr>
              <a:t>螺纹的大径，而是它的公称直径。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sym typeface="CommercialPi BT" panose="05020102010206080802" pitchFamily="18" charset="2"/>
            </a:endParaRPr>
          </a:p>
        </p:txBody>
      </p:sp>
      <p:grpSp>
        <p:nvGrpSpPr>
          <p:cNvPr id="23" name="Group 153"/>
          <p:cNvGrpSpPr/>
          <p:nvPr/>
        </p:nvGrpSpPr>
        <p:grpSpPr>
          <a:xfrm>
            <a:off x="5519738" y="1333500"/>
            <a:ext cx="2286000" cy="1976438"/>
            <a:chOff x="1077" y="2107"/>
            <a:chExt cx="1440" cy="1245"/>
          </a:xfrm>
        </p:grpSpPr>
        <p:sp>
          <p:nvSpPr>
            <p:cNvPr id="67614" name="Line 154"/>
            <p:cNvSpPr/>
            <p:nvPr/>
          </p:nvSpPr>
          <p:spPr>
            <a:xfrm>
              <a:off x="1077" y="2559"/>
              <a:ext cx="144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67615" name="Line 155"/>
            <p:cNvSpPr/>
            <p:nvPr/>
          </p:nvSpPr>
          <p:spPr>
            <a:xfrm>
              <a:off x="1221" y="2943"/>
              <a:ext cx="1127" cy="5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16" name="Line 156"/>
            <p:cNvSpPr/>
            <p:nvPr/>
          </p:nvSpPr>
          <p:spPr>
            <a:xfrm flipH="1">
              <a:off x="1173" y="2170"/>
              <a:ext cx="60" cy="6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17" name="Freeform 157"/>
            <p:cNvSpPr/>
            <p:nvPr/>
          </p:nvSpPr>
          <p:spPr>
            <a:xfrm>
              <a:off x="1169" y="2232"/>
              <a:ext cx="2" cy="668"/>
            </a:xfrm>
            <a:custGeom>
              <a:avLst/>
              <a:gdLst>
                <a:gd name="txL" fmla="*/ 0 w 2"/>
                <a:gd name="txT" fmla="*/ 0 h 668"/>
                <a:gd name="txR" fmla="*/ 2 w 2"/>
                <a:gd name="txB" fmla="*/ 668 h 668"/>
              </a:gdLst>
              <a:ahLst/>
              <a:cxnLst>
                <a:cxn ang="0">
                  <a:pos x="2" y="0"/>
                </a:cxn>
                <a:cxn ang="0">
                  <a:pos x="0" y="668"/>
                </a:cxn>
              </a:cxnLst>
              <a:rect l="txL" t="txT" r="txR" b="txB"/>
              <a:pathLst>
                <a:path w="2" h="668">
                  <a:moveTo>
                    <a:pt x="2" y="0"/>
                  </a:moveTo>
                  <a:lnTo>
                    <a:pt x="0" y="668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7618" name="Freeform 158"/>
            <p:cNvSpPr/>
            <p:nvPr/>
          </p:nvSpPr>
          <p:spPr>
            <a:xfrm>
              <a:off x="1171" y="2890"/>
              <a:ext cx="56" cy="59"/>
            </a:xfrm>
            <a:custGeom>
              <a:avLst/>
              <a:gdLst>
                <a:gd name="txL" fmla="*/ 0 w 56"/>
                <a:gd name="txT" fmla="*/ 0 h 59"/>
                <a:gd name="txR" fmla="*/ 56 w 56"/>
                <a:gd name="txB" fmla="*/ 59 h 59"/>
              </a:gdLst>
              <a:ahLst/>
              <a:cxnLst>
                <a:cxn ang="0">
                  <a:pos x="0" y="0"/>
                </a:cxn>
                <a:cxn ang="0">
                  <a:pos x="56" y="59"/>
                </a:cxn>
              </a:cxnLst>
              <a:rect l="txL" t="txT" r="txR" b="txB"/>
              <a:pathLst>
                <a:path w="56" h="59">
                  <a:moveTo>
                    <a:pt x="0" y="0"/>
                  </a:moveTo>
                  <a:lnTo>
                    <a:pt x="56" y="59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7619" name="Line 159"/>
            <p:cNvSpPr/>
            <p:nvPr/>
          </p:nvSpPr>
          <p:spPr>
            <a:xfrm flipV="1">
              <a:off x="1221" y="2175"/>
              <a:ext cx="144" cy="1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20" name="Line 160"/>
            <p:cNvSpPr/>
            <p:nvPr/>
          </p:nvSpPr>
          <p:spPr>
            <a:xfrm flipV="1">
              <a:off x="1365" y="2175"/>
              <a:ext cx="144" cy="1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21" name="Line 161"/>
            <p:cNvSpPr/>
            <p:nvPr/>
          </p:nvSpPr>
          <p:spPr>
            <a:xfrm flipV="1">
              <a:off x="1509" y="2175"/>
              <a:ext cx="144" cy="1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22" name="Line 162"/>
            <p:cNvSpPr/>
            <p:nvPr/>
          </p:nvSpPr>
          <p:spPr>
            <a:xfrm flipV="1">
              <a:off x="1653" y="2175"/>
              <a:ext cx="144" cy="1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23" name="Line 163"/>
            <p:cNvSpPr/>
            <p:nvPr/>
          </p:nvSpPr>
          <p:spPr>
            <a:xfrm flipV="1">
              <a:off x="1173" y="2799"/>
              <a:ext cx="96" cy="96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24" name="Line 164"/>
            <p:cNvSpPr/>
            <p:nvPr/>
          </p:nvSpPr>
          <p:spPr>
            <a:xfrm flipV="1">
              <a:off x="1269" y="2799"/>
              <a:ext cx="144" cy="1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25" name="Line 165"/>
            <p:cNvSpPr/>
            <p:nvPr/>
          </p:nvSpPr>
          <p:spPr>
            <a:xfrm flipV="1">
              <a:off x="1413" y="2799"/>
              <a:ext cx="144" cy="1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26" name="Line 166"/>
            <p:cNvSpPr/>
            <p:nvPr/>
          </p:nvSpPr>
          <p:spPr>
            <a:xfrm flipV="1">
              <a:off x="1557" y="2799"/>
              <a:ext cx="144" cy="1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27" name="Line 167"/>
            <p:cNvSpPr/>
            <p:nvPr/>
          </p:nvSpPr>
          <p:spPr>
            <a:xfrm flipV="1">
              <a:off x="1701" y="2799"/>
              <a:ext cx="144" cy="1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28" name="Line 168"/>
            <p:cNvSpPr/>
            <p:nvPr/>
          </p:nvSpPr>
          <p:spPr>
            <a:xfrm flipV="1">
              <a:off x="1845" y="2799"/>
              <a:ext cx="144" cy="1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29" name="Line 169"/>
            <p:cNvSpPr/>
            <p:nvPr/>
          </p:nvSpPr>
          <p:spPr>
            <a:xfrm>
              <a:off x="1173" y="2319"/>
              <a:ext cx="1174" cy="1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30" name="Line 170"/>
            <p:cNvSpPr/>
            <p:nvPr/>
          </p:nvSpPr>
          <p:spPr>
            <a:xfrm>
              <a:off x="1173" y="2799"/>
              <a:ext cx="1185" cy="1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31" name="Line 171"/>
            <p:cNvSpPr/>
            <p:nvPr/>
          </p:nvSpPr>
          <p:spPr>
            <a:xfrm>
              <a:off x="1182" y="2837"/>
              <a:ext cx="768" cy="1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32" name="Line 172"/>
            <p:cNvSpPr/>
            <p:nvPr/>
          </p:nvSpPr>
          <p:spPr>
            <a:xfrm flipV="1">
              <a:off x="1797" y="2175"/>
              <a:ext cx="144" cy="1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33" name="Line 173"/>
            <p:cNvSpPr/>
            <p:nvPr/>
          </p:nvSpPr>
          <p:spPr>
            <a:xfrm flipV="1">
              <a:off x="1941" y="2175"/>
              <a:ext cx="144" cy="1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34" name="Line 174"/>
            <p:cNvSpPr/>
            <p:nvPr/>
          </p:nvSpPr>
          <p:spPr>
            <a:xfrm flipV="1">
              <a:off x="2085" y="2175"/>
              <a:ext cx="144" cy="1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35" name="Line 175"/>
            <p:cNvSpPr/>
            <p:nvPr/>
          </p:nvSpPr>
          <p:spPr>
            <a:xfrm flipV="1">
              <a:off x="2229" y="2204"/>
              <a:ext cx="115" cy="115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36" name="Line 176"/>
            <p:cNvSpPr/>
            <p:nvPr/>
          </p:nvSpPr>
          <p:spPr>
            <a:xfrm flipV="1">
              <a:off x="1989" y="2799"/>
              <a:ext cx="144" cy="1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37" name="Line 177"/>
            <p:cNvSpPr/>
            <p:nvPr/>
          </p:nvSpPr>
          <p:spPr>
            <a:xfrm flipV="1">
              <a:off x="2133" y="2795"/>
              <a:ext cx="153" cy="155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38" name="Line 178"/>
            <p:cNvSpPr/>
            <p:nvPr/>
          </p:nvSpPr>
          <p:spPr>
            <a:xfrm>
              <a:off x="1173" y="2271"/>
              <a:ext cx="768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39" name="Text Box 179"/>
            <p:cNvSpPr txBox="1"/>
            <p:nvPr/>
          </p:nvSpPr>
          <p:spPr>
            <a:xfrm>
              <a:off x="1152" y="2987"/>
              <a:ext cx="108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zh-CN" altLang="en-US" sz="3200" b="1" dirty="0">
                  <a:latin typeface="Times New Roman" panose="02020603050405020304" pitchFamily="18" charset="0"/>
                </a:rPr>
                <a:t>内螺纹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67640" name="Line 180"/>
            <p:cNvSpPr/>
            <p:nvPr/>
          </p:nvSpPr>
          <p:spPr>
            <a:xfrm>
              <a:off x="1937" y="2271"/>
              <a:ext cx="0" cy="567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41" name="Line 181"/>
            <p:cNvSpPr/>
            <p:nvPr/>
          </p:nvSpPr>
          <p:spPr>
            <a:xfrm>
              <a:off x="1222" y="2171"/>
              <a:ext cx="1127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67642" name="Group 182"/>
            <p:cNvGrpSpPr/>
            <p:nvPr/>
          </p:nvGrpSpPr>
          <p:grpSpPr>
            <a:xfrm>
              <a:off x="2277" y="2107"/>
              <a:ext cx="147" cy="911"/>
              <a:chOff x="2282" y="2117"/>
              <a:chExt cx="147" cy="911"/>
            </a:xfrm>
          </p:grpSpPr>
          <p:sp>
            <p:nvSpPr>
              <p:cNvPr id="67644" name="Line 183"/>
              <p:cNvSpPr/>
              <p:nvPr/>
            </p:nvSpPr>
            <p:spPr>
              <a:xfrm>
                <a:off x="2356" y="2117"/>
                <a:ext cx="0" cy="327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7645" name="Line 184"/>
              <p:cNvSpPr/>
              <p:nvPr/>
            </p:nvSpPr>
            <p:spPr>
              <a:xfrm>
                <a:off x="2356" y="2437"/>
                <a:ext cx="73" cy="4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7646" name="Line 185"/>
              <p:cNvSpPr/>
              <p:nvPr/>
            </p:nvSpPr>
            <p:spPr>
              <a:xfrm>
                <a:off x="2356" y="2512"/>
                <a:ext cx="0" cy="516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7647" name="Line 186"/>
              <p:cNvSpPr/>
              <p:nvPr/>
            </p:nvSpPr>
            <p:spPr>
              <a:xfrm>
                <a:off x="2282" y="2475"/>
                <a:ext cx="73" cy="4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7648" name="Line 187"/>
              <p:cNvSpPr/>
              <p:nvPr/>
            </p:nvSpPr>
            <p:spPr>
              <a:xfrm flipV="1">
                <a:off x="2291" y="2473"/>
                <a:ext cx="131" cy="7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67643" name="Line 188"/>
            <p:cNvSpPr/>
            <p:nvPr/>
          </p:nvSpPr>
          <p:spPr>
            <a:xfrm flipV="1">
              <a:off x="2290" y="2885"/>
              <a:ext cx="57" cy="5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9213" name="Line 189"/>
          <p:cNvSpPr/>
          <p:nvPr/>
        </p:nvSpPr>
        <p:spPr>
          <a:xfrm>
            <a:off x="5129213" y="1201738"/>
            <a:ext cx="1235075" cy="0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129215" name="Picture 191" descr="slide0023_image2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4416425"/>
            <a:ext cx="581025" cy="1008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Rectangle 22"/>
          <p:cNvSpPr/>
          <p:nvPr/>
        </p:nvSpPr>
        <p:spPr>
          <a:xfrm>
            <a:off x="292735" y="155258"/>
            <a:ext cx="44596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2800" b="1" dirty="0">
                <a:solidFill>
                  <a:srgbClr val="660066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800" b="1" dirty="0">
                <a:solidFill>
                  <a:srgbClr val="660066"/>
                </a:solidFill>
                <a:latin typeface="Arial" panose="020B0604020202020204" pitchFamily="34" charset="0"/>
              </a:rPr>
              <a:t>．</a:t>
            </a:r>
            <a:r>
              <a:rPr lang="zh-CN" altLang="en-US" sz="28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螺纹的种类和标注</a:t>
            </a:r>
            <a:r>
              <a:rPr lang="en-US" altLang="zh-CN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endParaRPr lang="en-US" altLang="zh-CN" sz="20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343051" name="组合 343050"/>
          <p:cNvGrpSpPr/>
          <p:nvPr/>
        </p:nvGrpSpPr>
        <p:grpSpPr>
          <a:xfrm>
            <a:off x="333375" y="81216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29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29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29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29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9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129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29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29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29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29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29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29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29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29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7" dur="500"/>
                                        <p:tgtEl>
                                          <p:spTgt spid="129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29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7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7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2" grpId="0"/>
      <p:bldP spid="129058" grpId="0"/>
      <p:bldP spid="129066" grpId="0"/>
      <p:bldP spid="129069" grpId="0"/>
      <p:bldP spid="67607" grpId="0" bldLvl="0" animBg="1"/>
      <p:bldP spid="129176" grpId="0"/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91" name="Rectangle 47"/>
          <p:cNvSpPr/>
          <p:nvPr/>
        </p:nvSpPr>
        <p:spPr>
          <a:xfrm>
            <a:off x="457200" y="5546725"/>
            <a:ext cx="8153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535305" algn="just"/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平垫圈               弹簧垫圈          圆螺母用止动垫圈              圆螺母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34192" name="Picture 48" descr="6-28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088" y="1233488"/>
            <a:ext cx="7620000" cy="12715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4193" name="Picture 49" descr="6-28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00363"/>
            <a:ext cx="7620000" cy="11382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4194" name="Picture 50" descr="6-28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548188"/>
            <a:ext cx="7620000" cy="10144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4195" name="Text Box 51"/>
          <p:cNvSpPr txBox="1"/>
          <p:nvPr/>
        </p:nvSpPr>
        <p:spPr>
          <a:xfrm>
            <a:off x="914400" y="2498725"/>
            <a:ext cx="1676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六角头螺栓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196" name="Text Box 52"/>
          <p:cNvSpPr txBox="1"/>
          <p:nvPr/>
        </p:nvSpPr>
        <p:spPr>
          <a:xfrm>
            <a:off x="3276600" y="2498725"/>
            <a:ext cx="1752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双头螺柱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197" name="Text Box 53"/>
          <p:cNvSpPr txBox="1"/>
          <p:nvPr/>
        </p:nvSpPr>
        <p:spPr>
          <a:xfrm>
            <a:off x="5638800" y="2498725"/>
            <a:ext cx="1219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六角螺母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198" name="Text Box 54"/>
          <p:cNvSpPr txBox="1"/>
          <p:nvPr/>
        </p:nvSpPr>
        <p:spPr>
          <a:xfrm>
            <a:off x="7239000" y="2498725"/>
            <a:ext cx="1905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六角开槽螺母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199" name="Text Box 55"/>
          <p:cNvSpPr txBox="1"/>
          <p:nvPr/>
        </p:nvSpPr>
        <p:spPr>
          <a:xfrm>
            <a:off x="533400" y="4022725"/>
            <a:ext cx="2743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内六角圆柱头螺钉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200" name="Text Box 56"/>
          <p:cNvSpPr txBox="1"/>
          <p:nvPr/>
        </p:nvSpPr>
        <p:spPr>
          <a:xfrm>
            <a:off x="3048000" y="4022725"/>
            <a:ext cx="2209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开槽圆柱头螺钉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201" name="Text Box 57"/>
          <p:cNvSpPr txBox="1"/>
          <p:nvPr/>
        </p:nvSpPr>
        <p:spPr>
          <a:xfrm>
            <a:off x="5181600" y="4022725"/>
            <a:ext cx="2286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开槽沉头螺钉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202" name="Text Box 58"/>
          <p:cNvSpPr txBox="1"/>
          <p:nvPr/>
        </p:nvSpPr>
        <p:spPr>
          <a:xfrm>
            <a:off x="7162800" y="4098925"/>
            <a:ext cx="1524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紧定螺钉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27" name="Text Box 60"/>
          <p:cNvSpPr txBox="1"/>
          <p:nvPr/>
        </p:nvSpPr>
        <p:spPr>
          <a:xfrm>
            <a:off x="3276283" y="6010911"/>
            <a:ext cx="3200400" cy="39878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螺纹紧固件的种类</a:t>
            </a:r>
            <a:endParaRPr lang="zh-CN" altLang="en-US" sz="20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2" name="Rectangle 22"/>
          <p:cNvSpPr/>
          <p:nvPr/>
        </p:nvSpPr>
        <p:spPr>
          <a:xfrm>
            <a:off x="292735" y="155258"/>
            <a:ext cx="44596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(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二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螺纹紧固件及其连接</a:t>
            </a:r>
            <a:endParaRPr lang="zh-CN" altLang="en-US" sz="2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343051" name="组合 343050"/>
          <p:cNvGrpSpPr/>
          <p:nvPr/>
        </p:nvGrpSpPr>
        <p:grpSpPr>
          <a:xfrm>
            <a:off x="333375" y="81216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4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4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4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34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3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4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34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34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4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34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91" grpId="0"/>
      <p:bldP spid="134195" grpId="0"/>
      <p:bldP spid="134196" grpId="0"/>
      <p:bldP spid="134197" grpId="0"/>
      <p:bldP spid="134198" grpId="0"/>
      <p:bldP spid="134199" grpId="0"/>
      <p:bldP spid="134200" grpId="0"/>
      <p:bldP spid="134201" grpId="0"/>
      <p:bldP spid="134202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2" name="Rectangle 8"/>
          <p:cNvSpPr/>
          <p:nvPr/>
        </p:nvSpPr>
        <p:spPr>
          <a:xfrm>
            <a:off x="2324100" y="39560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3314" name="Object 10"/>
          <p:cNvGraphicFramePr/>
          <p:nvPr/>
        </p:nvGraphicFramePr>
        <p:xfrm>
          <a:off x="4567238" y="3424238"/>
          <a:ext cx="9525" cy="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9525" imgH="9525" progId="CorelDRAW.Graphic.9">
                  <p:embed/>
                </p:oleObj>
              </mc:Choice>
              <mc:Fallback>
                <p:oleObj name="" r:id="rId1" imgW="9525" imgH="9525" progId="CorelDRAW.Graphic.9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67238" y="3424238"/>
                        <a:ext cx="9525" cy="9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11"/>
          <p:cNvGraphicFramePr/>
          <p:nvPr/>
        </p:nvGraphicFramePr>
        <p:xfrm>
          <a:off x="4567238" y="3424238"/>
          <a:ext cx="9525" cy="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9525" imgH="9525" progId="CorelDRAW.Graphic.9">
                  <p:embed/>
                </p:oleObj>
              </mc:Choice>
              <mc:Fallback>
                <p:oleObj name="" r:id="rId3" imgW="9525" imgH="9525" progId="CorelDRAW.Graphic.9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67238" y="3424238"/>
                        <a:ext cx="9525" cy="9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12"/>
          <p:cNvGraphicFramePr/>
          <p:nvPr/>
        </p:nvGraphicFramePr>
        <p:xfrm>
          <a:off x="4567238" y="3424238"/>
          <a:ext cx="9525" cy="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9525" imgH="9525" progId="CorelDRAW.Graphic.9">
                  <p:embed/>
                </p:oleObj>
              </mc:Choice>
              <mc:Fallback>
                <p:oleObj name="" r:id="rId5" imgW="9525" imgH="9525" progId="CorelDRAW.Graphic.9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67238" y="3424238"/>
                        <a:ext cx="9525" cy="9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205" name="Text Box 13"/>
          <p:cNvSpPr txBox="1"/>
          <p:nvPr/>
        </p:nvSpPr>
        <p:spPr>
          <a:xfrm>
            <a:off x="1752600" y="1143000"/>
            <a:ext cx="5638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表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1 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常用螺纹紧固件的图例及标记（一）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pic>
        <p:nvPicPr>
          <p:cNvPr id="136206" name="Picture 14" descr="lit6-8d-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773238"/>
            <a:ext cx="9144000" cy="33305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43051" name="组合 343050"/>
          <p:cNvGrpSpPr/>
          <p:nvPr/>
        </p:nvGrpSpPr>
        <p:grpSpPr>
          <a:xfrm>
            <a:off x="333375" y="81216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8627" name="Text Box 60"/>
          <p:cNvSpPr txBox="1"/>
          <p:nvPr/>
        </p:nvSpPr>
        <p:spPr>
          <a:xfrm>
            <a:off x="333375" y="132080"/>
            <a:ext cx="430466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1. </a:t>
            </a:r>
            <a:r>
              <a:rPr lang="zh-CN" altLang="en-US" sz="24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螺纹紧固件的标记</a:t>
            </a:r>
            <a:endParaRPr lang="zh-CN" altLang="en-US" sz="24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6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6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0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6" name="Rectangle 7"/>
          <p:cNvSpPr/>
          <p:nvPr/>
        </p:nvSpPr>
        <p:spPr>
          <a:xfrm>
            <a:off x="2324100" y="39560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4338" name="Object 8"/>
          <p:cNvGraphicFramePr/>
          <p:nvPr/>
        </p:nvGraphicFramePr>
        <p:xfrm>
          <a:off x="4567238" y="3424238"/>
          <a:ext cx="9525" cy="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9525" imgH="9525" progId="CorelDRAW.Graphic.9">
                  <p:embed/>
                </p:oleObj>
              </mc:Choice>
              <mc:Fallback>
                <p:oleObj name="" r:id="rId1" imgW="9525" imgH="9525" progId="CorelDRAW.Graphic.9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67238" y="3424238"/>
                        <a:ext cx="9525" cy="9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9"/>
          <p:cNvGraphicFramePr/>
          <p:nvPr/>
        </p:nvGraphicFramePr>
        <p:xfrm>
          <a:off x="4567238" y="3424238"/>
          <a:ext cx="9525" cy="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9525" imgH="9525" progId="CorelDRAW.Graphic.9">
                  <p:embed/>
                </p:oleObj>
              </mc:Choice>
              <mc:Fallback>
                <p:oleObj name="" r:id="rId3" imgW="9525" imgH="9525" progId="CorelDRAW.Graphic.9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67238" y="3424238"/>
                        <a:ext cx="9525" cy="9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10"/>
          <p:cNvGraphicFramePr/>
          <p:nvPr/>
        </p:nvGraphicFramePr>
        <p:xfrm>
          <a:off x="4567238" y="3424238"/>
          <a:ext cx="9525" cy="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9525" imgH="9525" progId="CorelDRAW.Graphic.9">
                  <p:embed/>
                </p:oleObj>
              </mc:Choice>
              <mc:Fallback>
                <p:oleObj name="" r:id="rId5" imgW="9525" imgH="9525" progId="CorelDRAW.Graphic.9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67238" y="3424238"/>
                        <a:ext cx="9525" cy="9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29" name="Text Box 13"/>
          <p:cNvSpPr txBox="1"/>
          <p:nvPr/>
        </p:nvSpPr>
        <p:spPr>
          <a:xfrm>
            <a:off x="2114550" y="936625"/>
            <a:ext cx="5715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表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2 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常用螺纹紧固件的图例及标记（二）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pic>
        <p:nvPicPr>
          <p:cNvPr id="137230" name="Picture 14" descr="lit6-8d-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517968"/>
            <a:ext cx="9144000" cy="4875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43051" name="组合 343050"/>
          <p:cNvGrpSpPr/>
          <p:nvPr/>
        </p:nvGrpSpPr>
        <p:grpSpPr>
          <a:xfrm>
            <a:off x="333375" y="81216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 Box 60"/>
          <p:cNvSpPr txBox="1"/>
          <p:nvPr/>
        </p:nvSpPr>
        <p:spPr>
          <a:xfrm>
            <a:off x="333375" y="132081"/>
            <a:ext cx="430466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1. </a:t>
            </a:r>
            <a:r>
              <a:rPr lang="zh-CN" altLang="en-US" sz="24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螺纹紧固件的标记</a:t>
            </a:r>
            <a:endParaRPr lang="zh-CN" altLang="en-US" sz="24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7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5" name="Rectangle 7"/>
          <p:cNvSpPr/>
          <p:nvPr/>
        </p:nvSpPr>
        <p:spPr>
          <a:xfrm>
            <a:off x="2324100" y="39560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9458" name="Object 8"/>
          <p:cNvGraphicFramePr/>
          <p:nvPr/>
        </p:nvGraphicFramePr>
        <p:xfrm>
          <a:off x="4567238" y="3630613"/>
          <a:ext cx="9525" cy="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9525" imgH="9525" progId="CorelDRAW.Graphic.9">
                  <p:embed/>
                </p:oleObj>
              </mc:Choice>
              <mc:Fallback>
                <p:oleObj name="" r:id="rId1" imgW="9525" imgH="9525" progId="CorelDRAW.Graphic.9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67238" y="3630613"/>
                        <a:ext cx="9525" cy="9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9"/>
          <p:cNvGraphicFramePr/>
          <p:nvPr/>
        </p:nvGraphicFramePr>
        <p:xfrm>
          <a:off x="4567238" y="3630613"/>
          <a:ext cx="9525" cy="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9525" imgH="9525" progId="CorelDRAW.Graphic.9">
                  <p:embed/>
                </p:oleObj>
              </mc:Choice>
              <mc:Fallback>
                <p:oleObj name="" r:id="rId3" imgW="9525" imgH="9525" progId="CorelDRAW.Graphic.9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67238" y="3630613"/>
                        <a:ext cx="9525" cy="9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10"/>
          <p:cNvGraphicFramePr/>
          <p:nvPr/>
        </p:nvGraphicFramePr>
        <p:xfrm>
          <a:off x="4567238" y="3630613"/>
          <a:ext cx="9525" cy="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9525" imgH="9525" progId="CorelDRAW.Graphic.9">
                  <p:embed/>
                </p:oleObj>
              </mc:Choice>
              <mc:Fallback>
                <p:oleObj name="" r:id="rId5" imgW="9525" imgH="9525" progId="CorelDRAW.Graphic.9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67238" y="3630613"/>
                        <a:ext cx="9525" cy="9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2"/>
          <p:cNvGrpSpPr/>
          <p:nvPr/>
        </p:nvGrpSpPr>
        <p:grpSpPr>
          <a:xfrm>
            <a:off x="769938" y="2997200"/>
            <a:ext cx="2454275" cy="1073150"/>
            <a:chOff x="336" y="1683"/>
            <a:chExt cx="1950" cy="861"/>
          </a:xfrm>
        </p:grpSpPr>
        <p:sp>
          <p:nvSpPr>
            <p:cNvPr id="19574" name="Line 13"/>
            <p:cNvSpPr/>
            <p:nvPr/>
          </p:nvSpPr>
          <p:spPr>
            <a:xfrm>
              <a:off x="336" y="1700"/>
              <a:ext cx="1950" cy="0"/>
            </a:xfrm>
            <a:prstGeom prst="line">
              <a:avLst/>
            </a:prstGeom>
            <a:ln w="38100" cap="flat" cmpd="sng">
              <a:solidFill>
                <a:srgbClr val="9900CC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9575" name="Group 14"/>
            <p:cNvGrpSpPr/>
            <p:nvPr/>
          </p:nvGrpSpPr>
          <p:grpSpPr>
            <a:xfrm>
              <a:off x="336" y="1683"/>
              <a:ext cx="1950" cy="843"/>
              <a:chOff x="990" y="1605"/>
              <a:chExt cx="1950" cy="843"/>
            </a:xfrm>
          </p:grpSpPr>
          <p:sp>
            <p:nvSpPr>
              <p:cNvPr id="19579" name="Freeform 15"/>
              <p:cNvSpPr/>
              <p:nvPr/>
            </p:nvSpPr>
            <p:spPr>
              <a:xfrm>
                <a:off x="1005" y="1605"/>
                <a:ext cx="165" cy="166"/>
              </a:xfrm>
              <a:custGeom>
                <a:avLst/>
                <a:gdLst>
                  <a:gd name="txL" fmla="*/ 0 w 165"/>
                  <a:gd name="txT" fmla="*/ 0 h 166"/>
                  <a:gd name="txR" fmla="*/ 165 w 165"/>
                  <a:gd name="txB" fmla="*/ 166 h 166"/>
                </a:gdLst>
                <a:ahLst/>
                <a:cxnLst>
                  <a:cxn ang="0">
                    <a:pos x="0" y="166"/>
                  </a:cxn>
                  <a:cxn ang="0">
                    <a:pos x="165" y="0"/>
                  </a:cxn>
                </a:cxnLst>
                <a:rect l="txL" t="txT" r="txR" b="txB"/>
                <a:pathLst>
                  <a:path w="165" h="166">
                    <a:moveTo>
                      <a:pt x="0" y="166"/>
                    </a:moveTo>
                    <a:lnTo>
                      <a:pt x="165" y="0"/>
                    </a:lnTo>
                  </a:path>
                </a:pathLst>
              </a:custGeom>
              <a:noFill/>
              <a:ln w="12700" cap="flat" cmpd="sng">
                <a:solidFill>
                  <a:srgbClr val="9900CC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9580" name="Freeform 16"/>
              <p:cNvSpPr/>
              <p:nvPr/>
            </p:nvSpPr>
            <p:spPr>
              <a:xfrm>
                <a:off x="990" y="1605"/>
                <a:ext cx="375" cy="376"/>
              </a:xfrm>
              <a:custGeom>
                <a:avLst/>
                <a:gdLst>
                  <a:gd name="txL" fmla="*/ 0 w 375"/>
                  <a:gd name="txT" fmla="*/ 0 h 376"/>
                  <a:gd name="txR" fmla="*/ 375 w 375"/>
                  <a:gd name="txB" fmla="*/ 376 h 376"/>
                </a:gdLst>
                <a:ahLst/>
                <a:cxnLst>
                  <a:cxn ang="0">
                    <a:pos x="0" y="376"/>
                  </a:cxn>
                  <a:cxn ang="0">
                    <a:pos x="375" y="0"/>
                  </a:cxn>
                </a:cxnLst>
                <a:rect l="txL" t="txT" r="txR" b="txB"/>
                <a:pathLst>
                  <a:path w="375" h="376">
                    <a:moveTo>
                      <a:pt x="0" y="376"/>
                    </a:moveTo>
                    <a:lnTo>
                      <a:pt x="375" y="0"/>
                    </a:lnTo>
                  </a:path>
                </a:pathLst>
              </a:custGeom>
              <a:noFill/>
              <a:ln w="12700" cap="flat" cmpd="sng">
                <a:solidFill>
                  <a:srgbClr val="9900CC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9581" name="Freeform 17"/>
              <p:cNvSpPr/>
              <p:nvPr/>
            </p:nvSpPr>
            <p:spPr>
              <a:xfrm>
                <a:off x="1005" y="1605"/>
                <a:ext cx="555" cy="556"/>
              </a:xfrm>
              <a:custGeom>
                <a:avLst/>
                <a:gdLst>
                  <a:gd name="txL" fmla="*/ 0 w 555"/>
                  <a:gd name="txT" fmla="*/ 0 h 556"/>
                  <a:gd name="txR" fmla="*/ 555 w 555"/>
                  <a:gd name="txB" fmla="*/ 556 h 556"/>
                </a:gdLst>
                <a:ahLst/>
                <a:cxnLst>
                  <a:cxn ang="0">
                    <a:pos x="0" y="556"/>
                  </a:cxn>
                  <a:cxn ang="0">
                    <a:pos x="555" y="0"/>
                  </a:cxn>
                </a:cxnLst>
                <a:rect l="txL" t="txT" r="txR" b="txB"/>
                <a:pathLst>
                  <a:path w="555" h="556">
                    <a:moveTo>
                      <a:pt x="0" y="556"/>
                    </a:moveTo>
                    <a:lnTo>
                      <a:pt x="555" y="0"/>
                    </a:lnTo>
                  </a:path>
                </a:pathLst>
              </a:custGeom>
              <a:noFill/>
              <a:ln w="12700" cap="flat" cmpd="sng">
                <a:solidFill>
                  <a:srgbClr val="9900CC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9582" name="Line 18"/>
              <p:cNvSpPr/>
              <p:nvPr/>
            </p:nvSpPr>
            <p:spPr>
              <a:xfrm flipV="1">
                <a:off x="1008" y="1776"/>
                <a:ext cx="576" cy="576"/>
              </a:xfrm>
              <a:prstGeom prst="line">
                <a:avLst/>
              </a:prstGeom>
              <a:ln w="12700" cap="flat" cmpd="sng">
                <a:solidFill>
                  <a:srgbClr val="99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83" name="Line 19"/>
              <p:cNvSpPr/>
              <p:nvPr/>
            </p:nvSpPr>
            <p:spPr>
              <a:xfrm flipV="1">
                <a:off x="1104" y="1968"/>
                <a:ext cx="480" cy="480"/>
              </a:xfrm>
              <a:prstGeom prst="line">
                <a:avLst/>
              </a:prstGeom>
              <a:ln w="12700" cap="flat" cmpd="sng">
                <a:solidFill>
                  <a:srgbClr val="99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84" name="Line 20"/>
              <p:cNvSpPr/>
              <p:nvPr/>
            </p:nvSpPr>
            <p:spPr>
              <a:xfrm flipV="1">
                <a:off x="1296" y="2160"/>
                <a:ext cx="288" cy="288"/>
              </a:xfrm>
              <a:prstGeom prst="line">
                <a:avLst/>
              </a:prstGeom>
              <a:ln w="12700" cap="flat" cmpd="sng">
                <a:solidFill>
                  <a:srgbClr val="99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85" name="Line 21"/>
              <p:cNvSpPr/>
              <p:nvPr/>
            </p:nvSpPr>
            <p:spPr>
              <a:xfrm flipV="1">
                <a:off x="1488" y="2352"/>
                <a:ext cx="96" cy="96"/>
              </a:xfrm>
              <a:prstGeom prst="line">
                <a:avLst/>
              </a:prstGeom>
              <a:ln w="12700" cap="flat" cmpd="sng">
                <a:solidFill>
                  <a:srgbClr val="99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86" name="Freeform 22"/>
              <p:cNvSpPr/>
              <p:nvPr/>
            </p:nvSpPr>
            <p:spPr>
              <a:xfrm>
                <a:off x="2385" y="1605"/>
                <a:ext cx="195" cy="196"/>
              </a:xfrm>
              <a:custGeom>
                <a:avLst/>
                <a:gdLst>
                  <a:gd name="txL" fmla="*/ 0 w 195"/>
                  <a:gd name="txT" fmla="*/ 0 h 196"/>
                  <a:gd name="txR" fmla="*/ 195 w 195"/>
                  <a:gd name="txB" fmla="*/ 196 h 196"/>
                </a:gdLst>
                <a:ahLst/>
                <a:cxnLst>
                  <a:cxn ang="0">
                    <a:pos x="0" y="196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96">
                    <a:moveTo>
                      <a:pt x="0" y="196"/>
                    </a:moveTo>
                    <a:lnTo>
                      <a:pt x="195" y="0"/>
                    </a:lnTo>
                  </a:path>
                </a:pathLst>
              </a:custGeom>
              <a:noFill/>
              <a:ln w="12700" cap="flat" cmpd="sng">
                <a:solidFill>
                  <a:srgbClr val="9900CC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9587" name="Freeform 23"/>
              <p:cNvSpPr/>
              <p:nvPr/>
            </p:nvSpPr>
            <p:spPr>
              <a:xfrm>
                <a:off x="2400" y="1620"/>
                <a:ext cx="345" cy="346"/>
              </a:xfrm>
              <a:custGeom>
                <a:avLst/>
                <a:gdLst>
                  <a:gd name="txL" fmla="*/ 0 w 345"/>
                  <a:gd name="txT" fmla="*/ 0 h 346"/>
                  <a:gd name="txR" fmla="*/ 345 w 345"/>
                  <a:gd name="txB" fmla="*/ 346 h 346"/>
                </a:gdLst>
                <a:ahLst/>
                <a:cxnLst>
                  <a:cxn ang="0">
                    <a:pos x="0" y="346"/>
                  </a:cxn>
                  <a:cxn ang="0">
                    <a:pos x="345" y="0"/>
                  </a:cxn>
                </a:cxnLst>
                <a:rect l="txL" t="txT" r="txR" b="txB"/>
                <a:pathLst>
                  <a:path w="345" h="346">
                    <a:moveTo>
                      <a:pt x="0" y="346"/>
                    </a:moveTo>
                    <a:lnTo>
                      <a:pt x="345" y="0"/>
                    </a:lnTo>
                  </a:path>
                </a:pathLst>
              </a:custGeom>
              <a:noFill/>
              <a:ln w="12700" cap="flat" cmpd="sng">
                <a:solidFill>
                  <a:srgbClr val="9900CC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9588" name="Freeform 24"/>
              <p:cNvSpPr/>
              <p:nvPr/>
            </p:nvSpPr>
            <p:spPr>
              <a:xfrm>
                <a:off x="2385" y="1620"/>
                <a:ext cx="540" cy="541"/>
              </a:xfrm>
              <a:custGeom>
                <a:avLst/>
                <a:gdLst>
                  <a:gd name="txL" fmla="*/ 0 w 540"/>
                  <a:gd name="txT" fmla="*/ 0 h 541"/>
                  <a:gd name="txR" fmla="*/ 540 w 540"/>
                  <a:gd name="txB" fmla="*/ 541 h 541"/>
                </a:gdLst>
                <a:ahLst/>
                <a:cxnLst>
                  <a:cxn ang="0">
                    <a:pos x="0" y="541"/>
                  </a:cxn>
                  <a:cxn ang="0">
                    <a:pos x="540" y="0"/>
                  </a:cxn>
                </a:cxnLst>
                <a:rect l="txL" t="txT" r="txR" b="txB"/>
                <a:pathLst>
                  <a:path w="540" h="541">
                    <a:moveTo>
                      <a:pt x="0" y="541"/>
                    </a:moveTo>
                    <a:lnTo>
                      <a:pt x="540" y="0"/>
                    </a:lnTo>
                  </a:path>
                </a:pathLst>
              </a:custGeom>
              <a:noFill/>
              <a:ln w="12700" cap="flat" cmpd="sng">
                <a:solidFill>
                  <a:srgbClr val="9900CC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9589" name="Freeform 25"/>
              <p:cNvSpPr/>
              <p:nvPr/>
            </p:nvSpPr>
            <p:spPr>
              <a:xfrm>
                <a:off x="2400" y="1786"/>
                <a:ext cx="540" cy="545"/>
              </a:xfrm>
              <a:custGeom>
                <a:avLst/>
                <a:gdLst>
                  <a:gd name="txL" fmla="*/ 0 w 540"/>
                  <a:gd name="txT" fmla="*/ 0 h 545"/>
                  <a:gd name="txR" fmla="*/ 540 w 540"/>
                  <a:gd name="txB" fmla="*/ 545 h 545"/>
                </a:gdLst>
                <a:ahLst/>
                <a:cxnLst>
                  <a:cxn ang="0">
                    <a:pos x="0" y="545"/>
                  </a:cxn>
                  <a:cxn ang="0">
                    <a:pos x="540" y="0"/>
                  </a:cxn>
                </a:cxnLst>
                <a:rect l="txL" t="txT" r="txR" b="txB"/>
                <a:pathLst>
                  <a:path w="540" h="545">
                    <a:moveTo>
                      <a:pt x="0" y="545"/>
                    </a:moveTo>
                    <a:lnTo>
                      <a:pt x="540" y="0"/>
                    </a:lnTo>
                  </a:path>
                </a:pathLst>
              </a:custGeom>
              <a:noFill/>
              <a:ln w="12700" cap="flat" cmpd="sng">
                <a:solidFill>
                  <a:srgbClr val="9900CC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9590" name="Freeform 26"/>
              <p:cNvSpPr/>
              <p:nvPr/>
            </p:nvSpPr>
            <p:spPr>
              <a:xfrm>
                <a:off x="2475" y="1981"/>
                <a:ext cx="465" cy="465"/>
              </a:xfrm>
              <a:custGeom>
                <a:avLst/>
                <a:gdLst>
                  <a:gd name="txL" fmla="*/ 0 w 465"/>
                  <a:gd name="txT" fmla="*/ 0 h 465"/>
                  <a:gd name="txR" fmla="*/ 465 w 465"/>
                  <a:gd name="txB" fmla="*/ 465 h 465"/>
                </a:gdLst>
                <a:ahLst/>
                <a:cxnLst>
                  <a:cxn ang="0">
                    <a:pos x="0" y="465"/>
                  </a:cxn>
                  <a:cxn ang="0">
                    <a:pos x="465" y="0"/>
                  </a:cxn>
                </a:cxnLst>
                <a:rect l="txL" t="txT" r="txR" b="txB"/>
                <a:pathLst>
                  <a:path w="465" h="465">
                    <a:moveTo>
                      <a:pt x="0" y="465"/>
                    </a:moveTo>
                    <a:lnTo>
                      <a:pt x="465" y="0"/>
                    </a:lnTo>
                  </a:path>
                </a:pathLst>
              </a:custGeom>
              <a:noFill/>
              <a:ln w="12700" cap="flat" cmpd="sng">
                <a:solidFill>
                  <a:srgbClr val="9900CC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9591" name="Freeform 27"/>
              <p:cNvSpPr/>
              <p:nvPr/>
            </p:nvSpPr>
            <p:spPr>
              <a:xfrm>
                <a:off x="2670" y="2176"/>
                <a:ext cx="270" cy="270"/>
              </a:xfrm>
              <a:custGeom>
                <a:avLst/>
                <a:gdLst>
                  <a:gd name="txL" fmla="*/ 0 w 270"/>
                  <a:gd name="txT" fmla="*/ 0 h 270"/>
                  <a:gd name="txR" fmla="*/ 270 w 270"/>
                  <a:gd name="txB" fmla="*/ 270 h 270"/>
                </a:gdLst>
                <a:ahLst/>
                <a:cxnLst>
                  <a:cxn ang="0">
                    <a:pos x="0" y="270"/>
                  </a:cxn>
                  <a:cxn ang="0">
                    <a:pos x="270" y="0"/>
                  </a:cxn>
                </a:cxnLst>
                <a:rect l="txL" t="txT" r="txR" b="txB"/>
                <a:pathLst>
                  <a:path w="270" h="270">
                    <a:moveTo>
                      <a:pt x="0" y="270"/>
                    </a:moveTo>
                    <a:lnTo>
                      <a:pt x="270" y="0"/>
                    </a:lnTo>
                  </a:path>
                </a:pathLst>
              </a:custGeom>
              <a:noFill/>
              <a:ln w="12700" cap="flat" cmpd="sng">
                <a:solidFill>
                  <a:srgbClr val="9900CC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9592" name="Line 28"/>
              <p:cNvSpPr/>
              <p:nvPr/>
            </p:nvSpPr>
            <p:spPr>
              <a:xfrm flipV="1">
                <a:off x="2832" y="2352"/>
                <a:ext cx="96" cy="96"/>
              </a:xfrm>
              <a:prstGeom prst="line">
                <a:avLst/>
              </a:prstGeom>
              <a:ln w="12700" cap="flat" cmpd="sng">
                <a:solidFill>
                  <a:srgbClr val="9900CC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9576" name="Line 29"/>
            <p:cNvSpPr/>
            <p:nvPr/>
          </p:nvSpPr>
          <p:spPr>
            <a:xfrm>
              <a:off x="366" y="2539"/>
              <a:ext cx="1905" cy="0"/>
            </a:xfrm>
            <a:prstGeom prst="line">
              <a:avLst/>
            </a:prstGeom>
            <a:ln w="38100" cap="flat" cmpd="sng">
              <a:solidFill>
                <a:srgbClr val="99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77" name="Freeform 30"/>
            <p:cNvSpPr/>
            <p:nvPr/>
          </p:nvSpPr>
          <p:spPr>
            <a:xfrm>
              <a:off x="930" y="1695"/>
              <a:ext cx="1" cy="841"/>
            </a:xfrm>
            <a:custGeom>
              <a:avLst/>
              <a:gdLst>
                <a:gd name="txL" fmla="*/ 0 w 1"/>
                <a:gd name="txT" fmla="*/ 0 h 841"/>
                <a:gd name="txR" fmla="*/ 1 w 1"/>
                <a:gd name="txB" fmla="*/ 841 h 841"/>
              </a:gdLst>
              <a:ahLst/>
              <a:cxnLst>
                <a:cxn ang="0">
                  <a:pos x="0" y="841"/>
                </a:cxn>
                <a:cxn ang="0">
                  <a:pos x="0" y="0"/>
                </a:cxn>
              </a:cxnLst>
              <a:rect l="txL" t="txT" r="txR" b="txB"/>
              <a:pathLst>
                <a:path w="1" h="841">
                  <a:moveTo>
                    <a:pt x="0" y="84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9578" name="Line 31"/>
            <p:cNvSpPr/>
            <p:nvPr/>
          </p:nvSpPr>
          <p:spPr>
            <a:xfrm>
              <a:off x="1739" y="1700"/>
              <a:ext cx="0" cy="844"/>
            </a:xfrm>
            <a:prstGeom prst="line">
              <a:avLst/>
            </a:prstGeom>
            <a:ln w="38100" cap="flat" cmpd="sng">
              <a:solidFill>
                <a:srgbClr val="9900CC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32"/>
          <p:cNvGrpSpPr/>
          <p:nvPr/>
        </p:nvGrpSpPr>
        <p:grpSpPr>
          <a:xfrm>
            <a:off x="769938" y="4049713"/>
            <a:ext cx="2509837" cy="1152525"/>
            <a:chOff x="738" y="2359"/>
            <a:chExt cx="1681" cy="779"/>
          </a:xfrm>
        </p:grpSpPr>
        <p:grpSp>
          <p:nvGrpSpPr>
            <p:cNvPr id="19554" name="Group 33"/>
            <p:cNvGrpSpPr/>
            <p:nvPr/>
          </p:nvGrpSpPr>
          <p:grpSpPr>
            <a:xfrm>
              <a:off x="753" y="2359"/>
              <a:ext cx="1641" cy="769"/>
              <a:chOff x="354" y="2526"/>
              <a:chExt cx="1947" cy="913"/>
            </a:xfrm>
          </p:grpSpPr>
          <p:sp>
            <p:nvSpPr>
              <p:cNvPr id="19559" name="Freeform 34"/>
              <p:cNvSpPr/>
              <p:nvPr/>
            </p:nvSpPr>
            <p:spPr>
              <a:xfrm>
                <a:off x="831" y="2539"/>
                <a:ext cx="105" cy="105"/>
              </a:xfrm>
              <a:custGeom>
                <a:avLst/>
                <a:gdLst>
                  <a:gd name="txL" fmla="*/ 0 w 105"/>
                  <a:gd name="txT" fmla="*/ 0 h 105"/>
                  <a:gd name="txR" fmla="*/ 105 w 105"/>
                  <a:gd name="txB" fmla="*/ 105 h 105"/>
                </a:gdLst>
                <a:ahLst/>
                <a:cxnLst>
                  <a:cxn ang="0">
                    <a:pos x="0" y="0"/>
                  </a:cxn>
                  <a:cxn ang="0">
                    <a:pos x="105" y="105"/>
                  </a:cxn>
                </a:cxnLst>
                <a:rect l="txL" t="txT" r="txR" b="txB"/>
                <a:pathLst>
                  <a:path w="105" h="105">
                    <a:moveTo>
                      <a:pt x="0" y="0"/>
                    </a:moveTo>
                    <a:lnTo>
                      <a:pt x="105" y="105"/>
                    </a:lnTo>
                  </a:path>
                </a:pathLst>
              </a:custGeom>
              <a:noFill/>
              <a:ln w="12700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9560" name="Line 35"/>
              <p:cNvSpPr/>
              <p:nvPr/>
            </p:nvSpPr>
            <p:spPr>
              <a:xfrm>
                <a:off x="642" y="2526"/>
                <a:ext cx="288" cy="288"/>
              </a:xfrm>
              <a:prstGeom prst="line">
                <a:avLst/>
              </a:prstGeom>
              <a:ln w="12700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61" name="Freeform 36"/>
              <p:cNvSpPr/>
              <p:nvPr/>
            </p:nvSpPr>
            <p:spPr>
              <a:xfrm>
                <a:off x="471" y="2539"/>
                <a:ext cx="465" cy="465"/>
              </a:xfrm>
              <a:custGeom>
                <a:avLst/>
                <a:gdLst>
                  <a:gd name="txL" fmla="*/ 0 w 465"/>
                  <a:gd name="txT" fmla="*/ 0 h 465"/>
                  <a:gd name="txR" fmla="*/ 465 w 465"/>
                  <a:gd name="txB" fmla="*/ 465 h 465"/>
                </a:gdLst>
                <a:ahLst/>
                <a:cxnLst>
                  <a:cxn ang="0">
                    <a:pos x="0" y="0"/>
                  </a:cxn>
                  <a:cxn ang="0">
                    <a:pos x="465" y="465"/>
                  </a:cxn>
                </a:cxnLst>
                <a:rect l="txL" t="txT" r="txR" b="txB"/>
                <a:pathLst>
                  <a:path w="465" h="465">
                    <a:moveTo>
                      <a:pt x="0" y="0"/>
                    </a:moveTo>
                    <a:lnTo>
                      <a:pt x="465" y="465"/>
                    </a:lnTo>
                  </a:path>
                </a:pathLst>
              </a:custGeom>
              <a:noFill/>
              <a:ln w="12700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9562" name="Line 37"/>
              <p:cNvSpPr/>
              <p:nvPr/>
            </p:nvSpPr>
            <p:spPr>
              <a:xfrm>
                <a:off x="354" y="2622"/>
                <a:ext cx="576" cy="576"/>
              </a:xfrm>
              <a:prstGeom prst="line">
                <a:avLst/>
              </a:prstGeom>
              <a:ln w="12700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63" name="Line 38"/>
              <p:cNvSpPr/>
              <p:nvPr/>
            </p:nvSpPr>
            <p:spPr>
              <a:xfrm>
                <a:off x="354" y="2814"/>
                <a:ext cx="576" cy="576"/>
              </a:xfrm>
              <a:prstGeom prst="line">
                <a:avLst/>
              </a:prstGeom>
              <a:ln w="12700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64" name="Freeform 39"/>
              <p:cNvSpPr/>
              <p:nvPr/>
            </p:nvSpPr>
            <p:spPr>
              <a:xfrm>
                <a:off x="366" y="3019"/>
                <a:ext cx="420" cy="420"/>
              </a:xfrm>
              <a:custGeom>
                <a:avLst/>
                <a:gdLst>
                  <a:gd name="txL" fmla="*/ 0 w 420"/>
                  <a:gd name="txT" fmla="*/ 0 h 420"/>
                  <a:gd name="txR" fmla="*/ 420 w 420"/>
                  <a:gd name="txB" fmla="*/ 420 h 420"/>
                </a:gdLst>
                <a:ahLst/>
                <a:cxnLst>
                  <a:cxn ang="0">
                    <a:pos x="0" y="0"/>
                  </a:cxn>
                  <a:cxn ang="0">
                    <a:pos x="420" y="420"/>
                  </a:cxn>
                </a:cxnLst>
                <a:rect l="txL" t="txT" r="txR" b="txB"/>
                <a:pathLst>
                  <a:path w="420" h="420">
                    <a:moveTo>
                      <a:pt x="0" y="0"/>
                    </a:moveTo>
                    <a:lnTo>
                      <a:pt x="420" y="420"/>
                    </a:lnTo>
                  </a:path>
                </a:pathLst>
              </a:custGeom>
              <a:noFill/>
              <a:ln w="12700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9565" name="Freeform 40"/>
              <p:cNvSpPr/>
              <p:nvPr/>
            </p:nvSpPr>
            <p:spPr>
              <a:xfrm>
                <a:off x="381" y="3214"/>
                <a:ext cx="225" cy="225"/>
              </a:xfrm>
              <a:custGeom>
                <a:avLst/>
                <a:gdLst>
                  <a:gd name="txL" fmla="*/ 0 w 225"/>
                  <a:gd name="txT" fmla="*/ 0 h 225"/>
                  <a:gd name="txR" fmla="*/ 225 w 225"/>
                  <a:gd name="txB" fmla="*/ 225 h 225"/>
                </a:gdLst>
                <a:ahLst/>
                <a:cxnLst>
                  <a:cxn ang="0">
                    <a:pos x="0" y="0"/>
                  </a:cxn>
                  <a:cxn ang="0">
                    <a:pos x="225" y="225"/>
                  </a:cxn>
                </a:cxnLst>
                <a:rect l="txL" t="txT" r="txR" b="txB"/>
                <a:pathLst>
                  <a:path w="225" h="225">
                    <a:moveTo>
                      <a:pt x="0" y="0"/>
                    </a:moveTo>
                    <a:lnTo>
                      <a:pt x="225" y="225"/>
                    </a:lnTo>
                  </a:path>
                </a:pathLst>
              </a:custGeom>
              <a:noFill/>
              <a:ln w="12700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9566" name="Freeform 41"/>
              <p:cNvSpPr/>
              <p:nvPr/>
            </p:nvSpPr>
            <p:spPr>
              <a:xfrm>
                <a:off x="381" y="3379"/>
                <a:ext cx="60" cy="60"/>
              </a:xfrm>
              <a:custGeom>
                <a:avLst/>
                <a:gdLst>
                  <a:gd name="txL" fmla="*/ 0 w 60"/>
                  <a:gd name="txT" fmla="*/ 0 h 60"/>
                  <a:gd name="txR" fmla="*/ 60 w 60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60" y="60"/>
                  </a:cxn>
                </a:cxnLst>
                <a:rect l="txL" t="txT" r="txR" b="txB"/>
                <a:pathLst>
                  <a:path w="60" h="60">
                    <a:moveTo>
                      <a:pt x="0" y="0"/>
                    </a:moveTo>
                    <a:lnTo>
                      <a:pt x="60" y="60"/>
                    </a:lnTo>
                  </a:path>
                </a:pathLst>
              </a:custGeom>
              <a:noFill/>
              <a:ln w="12700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9567" name="Line 42"/>
              <p:cNvSpPr/>
              <p:nvPr/>
            </p:nvSpPr>
            <p:spPr>
              <a:xfrm>
                <a:off x="1746" y="3294"/>
                <a:ext cx="144" cy="144"/>
              </a:xfrm>
              <a:prstGeom prst="line">
                <a:avLst/>
              </a:prstGeom>
              <a:ln w="12700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68" name="Freeform 43"/>
              <p:cNvSpPr/>
              <p:nvPr/>
            </p:nvSpPr>
            <p:spPr>
              <a:xfrm>
                <a:off x="1731" y="3094"/>
                <a:ext cx="345" cy="345"/>
              </a:xfrm>
              <a:custGeom>
                <a:avLst/>
                <a:gdLst>
                  <a:gd name="txL" fmla="*/ 0 w 345"/>
                  <a:gd name="txT" fmla="*/ 0 h 345"/>
                  <a:gd name="txR" fmla="*/ 345 w 345"/>
                  <a:gd name="txB" fmla="*/ 345 h 345"/>
                </a:gdLst>
                <a:ahLst/>
                <a:cxnLst>
                  <a:cxn ang="0">
                    <a:pos x="0" y="0"/>
                  </a:cxn>
                  <a:cxn ang="0">
                    <a:pos x="345" y="345"/>
                  </a:cxn>
                </a:cxnLst>
                <a:rect l="txL" t="txT" r="txR" b="txB"/>
                <a:pathLst>
                  <a:path w="345" h="345">
                    <a:moveTo>
                      <a:pt x="0" y="0"/>
                    </a:moveTo>
                    <a:lnTo>
                      <a:pt x="345" y="345"/>
                    </a:lnTo>
                  </a:path>
                </a:pathLst>
              </a:custGeom>
              <a:noFill/>
              <a:ln w="12700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9569" name="Freeform 44"/>
              <p:cNvSpPr/>
              <p:nvPr/>
            </p:nvSpPr>
            <p:spPr>
              <a:xfrm>
                <a:off x="1746" y="2910"/>
                <a:ext cx="525" cy="529"/>
              </a:xfrm>
              <a:custGeom>
                <a:avLst/>
                <a:gdLst>
                  <a:gd name="txL" fmla="*/ 0 w 525"/>
                  <a:gd name="txT" fmla="*/ 0 h 529"/>
                  <a:gd name="txR" fmla="*/ 525 w 525"/>
                  <a:gd name="txB" fmla="*/ 529 h 529"/>
                </a:gdLst>
                <a:ahLst/>
                <a:cxnLst>
                  <a:cxn ang="0">
                    <a:pos x="0" y="0"/>
                  </a:cxn>
                  <a:cxn ang="0">
                    <a:pos x="525" y="529"/>
                  </a:cxn>
                </a:cxnLst>
                <a:rect l="txL" t="txT" r="txR" b="txB"/>
                <a:pathLst>
                  <a:path w="525" h="529">
                    <a:moveTo>
                      <a:pt x="0" y="0"/>
                    </a:moveTo>
                    <a:lnTo>
                      <a:pt x="525" y="529"/>
                    </a:lnTo>
                  </a:path>
                </a:pathLst>
              </a:custGeom>
              <a:noFill/>
              <a:ln w="12700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9570" name="Line 45"/>
              <p:cNvSpPr/>
              <p:nvPr/>
            </p:nvSpPr>
            <p:spPr>
              <a:xfrm>
                <a:off x="1746" y="2718"/>
                <a:ext cx="528" cy="528"/>
              </a:xfrm>
              <a:prstGeom prst="line">
                <a:avLst/>
              </a:prstGeom>
              <a:ln w="12700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71" name="Line 46"/>
              <p:cNvSpPr/>
              <p:nvPr/>
            </p:nvSpPr>
            <p:spPr>
              <a:xfrm>
                <a:off x="1746" y="2526"/>
                <a:ext cx="528" cy="528"/>
              </a:xfrm>
              <a:prstGeom prst="line">
                <a:avLst/>
              </a:prstGeom>
              <a:ln w="12700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72" name="Freeform 47"/>
              <p:cNvSpPr/>
              <p:nvPr/>
            </p:nvSpPr>
            <p:spPr>
              <a:xfrm>
                <a:off x="1956" y="2539"/>
                <a:ext cx="330" cy="330"/>
              </a:xfrm>
              <a:custGeom>
                <a:avLst/>
                <a:gdLst>
                  <a:gd name="txL" fmla="*/ 0 w 330"/>
                  <a:gd name="txT" fmla="*/ 0 h 330"/>
                  <a:gd name="txR" fmla="*/ 330 w 330"/>
                  <a:gd name="txB" fmla="*/ 330 h 330"/>
                </a:gdLst>
                <a:ahLst/>
                <a:cxnLst>
                  <a:cxn ang="0">
                    <a:pos x="0" y="0"/>
                  </a:cxn>
                  <a:cxn ang="0">
                    <a:pos x="330" y="330"/>
                  </a:cxn>
                </a:cxnLst>
                <a:rect l="txL" t="txT" r="txR" b="txB"/>
                <a:pathLst>
                  <a:path w="330" h="330">
                    <a:moveTo>
                      <a:pt x="0" y="0"/>
                    </a:moveTo>
                    <a:lnTo>
                      <a:pt x="330" y="330"/>
                    </a:lnTo>
                  </a:path>
                </a:pathLst>
              </a:custGeom>
              <a:noFill/>
              <a:ln w="12700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9573" name="Freeform 48"/>
              <p:cNvSpPr/>
              <p:nvPr/>
            </p:nvSpPr>
            <p:spPr>
              <a:xfrm>
                <a:off x="2151" y="2539"/>
                <a:ext cx="150" cy="150"/>
              </a:xfrm>
              <a:custGeom>
                <a:avLst/>
                <a:gdLst>
                  <a:gd name="txL" fmla="*/ 0 w 150"/>
                  <a:gd name="txT" fmla="*/ 0 h 150"/>
                  <a:gd name="txR" fmla="*/ 150 w 150"/>
                  <a:gd name="txB" fmla="*/ 150 h 150"/>
                </a:gdLst>
                <a:ahLst/>
                <a:cxnLst>
                  <a:cxn ang="0">
                    <a:pos x="0" y="0"/>
                  </a:cxn>
                  <a:cxn ang="0">
                    <a:pos x="150" y="150"/>
                  </a:cxn>
                </a:cxnLst>
                <a:rect l="txL" t="txT" r="txR" b="txB"/>
                <a:pathLst>
                  <a:path w="150" h="150">
                    <a:moveTo>
                      <a:pt x="0" y="0"/>
                    </a:moveTo>
                    <a:lnTo>
                      <a:pt x="150" y="150"/>
                    </a:lnTo>
                  </a:path>
                </a:pathLst>
              </a:custGeom>
              <a:noFill/>
              <a:ln w="12700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555" name="Freeform 49"/>
            <p:cNvSpPr/>
            <p:nvPr/>
          </p:nvSpPr>
          <p:spPr>
            <a:xfrm>
              <a:off x="768" y="3120"/>
              <a:ext cx="1651" cy="5"/>
            </a:xfrm>
            <a:custGeom>
              <a:avLst/>
              <a:gdLst>
                <a:gd name="txL" fmla="*/ 0 w 1651"/>
                <a:gd name="txT" fmla="*/ 0 h 5"/>
                <a:gd name="txR" fmla="*/ 1651 w 1651"/>
                <a:gd name="txB" fmla="*/ 5 h 5"/>
              </a:gdLst>
              <a:ahLst/>
              <a:cxnLst>
                <a:cxn ang="0">
                  <a:pos x="0" y="5"/>
                </a:cxn>
                <a:cxn ang="0">
                  <a:pos x="1651" y="0"/>
                </a:cxn>
              </a:cxnLst>
              <a:rect l="txL" t="txT" r="txR" b="txB"/>
              <a:pathLst>
                <a:path w="1651" h="5">
                  <a:moveTo>
                    <a:pt x="0" y="5"/>
                  </a:moveTo>
                  <a:lnTo>
                    <a:pt x="1651" y="0"/>
                  </a:lnTo>
                </a:path>
              </a:pathLst>
            </a:custGeom>
            <a:noFill/>
            <a:ln w="38100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9556" name="Freeform 50"/>
            <p:cNvSpPr/>
            <p:nvPr/>
          </p:nvSpPr>
          <p:spPr>
            <a:xfrm>
              <a:off x="1239" y="2367"/>
              <a:ext cx="1" cy="771"/>
            </a:xfrm>
            <a:custGeom>
              <a:avLst/>
              <a:gdLst>
                <a:gd name="txL" fmla="*/ 0 w 1"/>
                <a:gd name="txT" fmla="*/ 0 h 915"/>
                <a:gd name="txR" fmla="*/ 1 w 1"/>
                <a:gd name="txB" fmla="*/ 915 h 915"/>
              </a:gdLst>
              <a:ahLst/>
              <a:cxnLst>
                <a:cxn ang="0">
                  <a:pos x="0" y="0"/>
                </a:cxn>
                <a:cxn ang="0">
                  <a:pos x="0" y="650"/>
                </a:cxn>
              </a:cxnLst>
              <a:rect l="txL" t="txT" r="txR" b="txB"/>
              <a:pathLst>
                <a:path w="1" h="915">
                  <a:moveTo>
                    <a:pt x="0" y="0"/>
                  </a:moveTo>
                  <a:lnTo>
                    <a:pt x="0" y="915"/>
                  </a:lnTo>
                </a:path>
              </a:pathLst>
            </a:custGeom>
            <a:noFill/>
            <a:ln w="38100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9557" name="Line 51"/>
            <p:cNvSpPr/>
            <p:nvPr/>
          </p:nvSpPr>
          <p:spPr>
            <a:xfrm>
              <a:off x="738" y="2370"/>
              <a:ext cx="1644" cy="0"/>
            </a:xfrm>
            <a:prstGeom prst="line">
              <a:avLst/>
            </a:prstGeom>
            <a:ln w="38100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58" name="Line 52"/>
            <p:cNvSpPr/>
            <p:nvPr/>
          </p:nvSpPr>
          <p:spPr>
            <a:xfrm>
              <a:off x="1921" y="2370"/>
              <a:ext cx="0" cy="755"/>
            </a:xfrm>
            <a:prstGeom prst="line">
              <a:avLst/>
            </a:prstGeom>
            <a:ln w="38100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42389" name="Freeform 53"/>
          <p:cNvSpPr/>
          <p:nvPr/>
        </p:nvSpPr>
        <p:spPr>
          <a:xfrm>
            <a:off x="2038350" y="2903538"/>
            <a:ext cx="0" cy="2341562"/>
          </a:xfrm>
          <a:custGeom>
            <a:avLst/>
            <a:gdLst>
              <a:gd name="txL" fmla="*/ 0 w 1"/>
              <a:gd name="txT" fmla="*/ 0 h 1879"/>
              <a:gd name="txR" fmla="*/ 0 w 1"/>
              <a:gd name="txB" fmla="*/ 1879 h 1879"/>
            </a:gdLst>
            <a:ahLst/>
            <a:cxnLst>
              <a:cxn ang="0">
                <a:pos x="0" y="0"/>
              </a:cxn>
              <a:cxn ang="0">
                <a:pos x="0" y="2147483647"/>
              </a:cxn>
            </a:cxnLst>
            <a:rect l="txL" t="txT" r="txR" b="txB"/>
            <a:pathLst>
              <a:path w="1" h="1879">
                <a:moveTo>
                  <a:pt x="0" y="0"/>
                </a:moveTo>
                <a:lnTo>
                  <a:pt x="1" y="1879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lgDashDot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42390" name="Text Box 54"/>
          <p:cNvSpPr txBox="1"/>
          <p:nvPr/>
        </p:nvSpPr>
        <p:spPr>
          <a:xfrm>
            <a:off x="3598863" y="5680393"/>
            <a:ext cx="3781425" cy="39687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(1)  </a:t>
            </a:r>
            <a:r>
              <a:rPr lang="zh-CN" altLang="en-US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  <a:hlinkClick r:id="rId7" action="ppaction://hlinksldjump"/>
              </a:rPr>
              <a:t>螺栓联接装配图</a:t>
            </a:r>
            <a:r>
              <a:rPr lang="zh-CN" altLang="en-US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的画法</a:t>
            </a:r>
            <a:endParaRPr lang="zh-CN" altLang="en-US" sz="20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42391" name="Text Box 55"/>
          <p:cNvSpPr txBox="1"/>
          <p:nvPr/>
        </p:nvSpPr>
        <p:spPr>
          <a:xfrm>
            <a:off x="4067175" y="4643438"/>
            <a:ext cx="4910138" cy="9461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sym typeface="Monotype Sorts" pitchFamily="2" charset="2"/>
              </a:rPr>
              <a:t>d. </a:t>
            </a:r>
            <a:r>
              <a:rPr lang="zh-CN" altLang="en-US" sz="2800" b="1" dirty="0">
                <a:solidFill>
                  <a:srgbClr val="333399"/>
                </a:solidFill>
                <a:latin typeface="Times New Roman" panose="02020603050405020304" pitchFamily="18" charset="0"/>
                <a:sym typeface="Monotype Sorts" pitchFamily="2" charset="2"/>
              </a:rPr>
              <a:t>螺栓、垫圈、螺母沿轴线剖切按不剖画</a:t>
            </a:r>
            <a:endParaRPr lang="zh-CN" altLang="en-US" sz="2800" b="1" dirty="0">
              <a:solidFill>
                <a:srgbClr val="333399"/>
              </a:solidFill>
              <a:latin typeface="Times New Roman" panose="02020603050405020304" pitchFamily="18" charset="0"/>
              <a:sym typeface="Monotype Sorts" pitchFamily="2" charset="2"/>
            </a:endParaRPr>
          </a:p>
        </p:txBody>
      </p:sp>
      <p:sp>
        <p:nvSpPr>
          <p:cNvPr id="142392" name="Text Box 56"/>
          <p:cNvSpPr txBox="1"/>
          <p:nvPr/>
        </p:nvSpPr>
        <p:spPr>
          <a:xfrm>
            <a:off x="4062413" y="3662363"/>
            <a:ext cx="45783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sym typeface="Monotype Sorts" pitchFamily="2" charset="2"/>
              </a:rPr>
              <a:t>b.  </a:t>
            </a:r>
            <a:r>
              <a:rPr lang="zh-CN" altLang="en-US" sz="2800" b="1" dirty="0">
                <a:solidFill>
                  <a:srgbClr val="333399"/>
                </a:solidFill>
                <a:latin typeface="Times New Roman" panose="02020603050405020304" pitchFamily="18" charset="0"/>
                <a:sym typeface="Monotype Sorts" pitchFamily="2" charset="2"/>
              </a:rPr>
              <a:t>两块板的剖面线方向相反</a:t>
            </a:r>
            <a:endParaRPr lang="zh-CN" altLang="en-US" sz="2800" b="1" dirty="0">
              <a:solidFill>
                <a:srgbClr val="333399"/>
              </a:solidFill>
              <a:latin typeface="Times New Roman" panose="02020603050405020304" pitchFamily="18" charset="0"/>
              <a:sym typeface="Monotype Sorts" pitchFamily="2" charset="2"/>
            </a:endParaRPr>
          </a:p>
        </p:txBody>
      </p:sp>
      <p:sp>
        <p:nvSpPr>
          <p:cNvPr id="142393" name="Text Box 57"/>
          <p:cNvSpPr txBox="1"/>
          <p:nvPr/>
        </p:nvSpPr>
        <p:spPr>
          <a:xfrm>
            <a:off x="4075113" y="3201988"/>
            <a:ext cx="397510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sym typeface="Monotype Sorts" pitchFamily="2" charset="2"/>
              </a:rPr>
              <a:t>a.  </a:t>
            </a:r>
            <a:r>
              <a:rPr lang="zh-CN" altLang="en-US" sz="2800" b="1" dirty="0">
                <a:solidFill>
                  <a:srgbClr val="333399"/>
                </a:solidFill>
                <a:latin typeface="Times New Roman" panose="02020603050405020304" pitchFamily="18" charset="0"/>
                <a:sym typeface="Monotype Sorts" pitchFamily="2" charset="2"/>
              </a:rPr>
              <a:t>被连接件的孔径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sym typeface="Monotype Sorts" pitchFamily="2" charset="2"/>
              </a:rPr>
              <a:t>=1.1d</a:t>
            </a:r>
            <a:endParaRPr lang="en-US" altLang="zh-CN" sz="2800" b="1" dirty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73" name="Rectangle 58"/>
          <p:cNvSpPr/>
          <p:nvPr/>
        </p:nvSpPr>
        <p:spPr>
          <a:xfrm>
            <a:off x="179705" y="301625"/>
            <a:ext cx="41052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2. </a:t>
            </a:r>
            <a:r>
              <a:rPr lang="zh-CN" altLang="en-US" sz="24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螺纹紧固件装配图的画法</a:t>
            </a:r>
            <a:endParaRPr lang="zh-CN" altLang="en-US" sz="24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7" name="Group 59"/>
          <p:cNvGrpSpPr/>
          <p:nvPr/>
        </p:nvGrpSpPr>
        <p:grpSpPr>
          <a:xfrm>
            <a:off x="1150938" y="1703388"/>
            <a:ext cx="1746250" cy="4281487"/>
            <a:chOff x="725" y="943"/>
            <a:chExt cx="1100" cy="2697"/>
          </a:xfrm>
        </p:grpSpPr>
        <p:grpSp>
          <p:nvGrpSpPr>
            <p:cNvPr id="19519" name="Group 60"/>
            <p:cNvGrpSpPr/>
            <p:nvPr/>
          </p:nvGrpSpPr>
          <p:grpSpPr>
            <a:xfrm>
              <a:off x="749" y="943"/>
              <a:ext cx="1072" cy="2697"/>
              <a:chOff x="664" y="645"/>
              <a:chExt cx="1352" cy="3435"/>
            </a:xfrm>
          </p:grpSpPr>
          <p:grpSp>
            <p:nvGrpSpPr>
              <p:cNvPr id="19543" name="Group 61"/>
              <p:cNvGrpSpPr/>
              <p:nvPr/>
            </p:nvGrpSpPr>
            <p:grpSpPr>
              <a:xfrm>
                <a:off x="664" y="3436"/>
                <a:ext cx="1352" cy="482"/>
                <a:chOff x="664" y="3436"/>
                <a:chExt cx="1352" cy="482"/>
              </a:xfrm>
            </p:grpSpPr>
            <p:sp>
              <p:nvSpPr>
                <p:cNvPr id="19551" name="Rectangle 62"/>
                <p:cNvSpPr/>
                <p:nvPr/>
              </p:nvSpPr>
              <p:spPr>
                <a:xfrm rot="10800000">
                  <a:off x="664" y="3436"/>
                  <a:ext cx="1352" cy="482"/>
                </a:xfrm>
                <a:prstGeom prst="rect">
                  <a:avLst/>
                </a:prstGeom>
                <a:solidFill>
                  <a:srgbClr val="DDDDDD"/>
                </a:solidFill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552" name="Line 63"/>
                <p:cNvSpPr/>
                <p:nvPr/>
              </p:nvSpPr>
              <p:spPr>
                <a:xfrm>
                  <a:off x="1692" y="3436"/>
                  <a:ext cx="0" cy="482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553" name="Line 64"/>
                <p:cNvSpPr/>
                <p:nvPr/>
              </p:nvSpPr>
              <p:spPr>
                <a:xfrm>
                  <a:off x="973" y="3436"/>
                  <a:ext cx="0" cy="482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9544" name="Group 65"/>
              <p:cNvGrpSpPr/>
              <p:nvPr/>
            </p:nvGrpSpPr>
            <p:grpSpPr>
              <a:xfrm>
                <a:off x="972" y="645"/>
                <a:ext cx="720" cy="3435"/>
                <a:chOff x="1644" y="567"/>
                <a:chExt cx="720" cy="3435"/>
              </a:xfrm>
            </p:grpSpPr>
            <p:sp>
              <p:nvSpPr>
                <p:cNvPr id="19545" name="Freeform 66"/>
                <p:cNvSpPr/>
                <p:nvPr/>
              </p:nvSpPr>
              <p:spPr>
                <a:xfrm rot="-5400000">
                  <a:off x="1956" y="454"/>
                  <a:ext cx="96" cy="720"/>
                </a:xfrm>
                <a:custGeom>
                  <a:avLst/>
                  <a:gdLst>
                    <a:gd name="txL" fmla="*/ 0 w 96"/>
                    <a:gd name="txT" fmla="*/ 0 h 720"/>
                    <a:gd name="txR" fmla="*/ 96 w 96"/>
                    <a:gd name="txB" fmla="*/ 720 h 720"/>
                  </a:gdLst>
                  <a:ahLst/>
                  <a:cxnLst>
                    <a:cxn ang="0">
                      <a:pos x="0" y="0"/>
                    </a:cxn>
                    <a:cxn ang="0">
                      <a:pos x="0" y="720"/>
                    </a:cxn>
                    <a:cxn ang="0">
                      <a:pos x="96" y="624"/>
                    </a:cxn>
                    <a:cxn ang="0">
                      <a:pos x="96" y="96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96" h="720">
                      <a:moveTo>
                        <a:pt x="0" y="0"/>
                      </a:moveTo>
                      <a:lnTo>
                        <a:pt x="0" y="720"/>
                      </a:lnTo>
                      <a:lnTo>
                        <a:pt x="96" y="624"/>
                      </a:lnTo>
                      <a:lnTo>
                        <a:pt x="96" y="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DDDDD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546" name="Rectangle 67"/>
                <p:cNvSpPr/>
                <p:nvPr/>
              </p:nvSpPr>
              <p:spPr>
                <a:xfrm rot="-5400000">
                  <a:off x="756" y="1750"/>
                  <a:ext cx="2496" cy="719"/>
                </a:xfrm>
                <a:prstGeom prst="rect">
                  <a:avLst/>
                </a:prstGeom>
                <a:solidFill>
                  <a:srgbClr val="DDDDDD"/>
                </a:solidFill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547" name="Line 68"/>
                <p:cNvSpPr/>
                <p:nvPr/>
              </p:nvSpPr>
              <p:spPr>
                <a:xfrm rot="-5400000">
                  <a:off x="2004" y="2230"/>
                  <a:ext cx="0" cy="72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548" name="Line 69"/>
                <p:cNvSpPr/>
                <p:nvPr/>
              </p:nvSpPr>
              <p:spPr>
                <a:xfrm rot="-5400000">
                  <a:off x="801" y="1699"/>
                  <a:ext cx="1782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549" name="Line 70"/>
                <p:cNvSpPr/>
                <p:nvPr/>
              </p:nvSpPr>
              <p:spPr>
                <a:xfrm rot="-5400000">
                  <a:off x="1425" y="1699"/>
                  <a:ext cx="1782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550" name="Freeform 71"/>
                <p:cNvSpPr/>
                <p:nvPr/>
              </p:nvSpPr>
              <p:spPr>
                <a:xfrm rot="-5400000">
                  <a:off x="290" y="2284"/>
                  <a:ext cx="3435" cy="1"/>
                </a:xfrm>
                <a:custGeom>
                  <a:avLst/>
                  <a:gdLst>
                    <a:gd name="txL" fmla="*/ 0 w 3435"/>
                    <a:gd name="txT" fmla="*/ 0 h 1"/>
                    <a:gd name="txR" fmla="*/ 3435 w 3435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3435" y="0"/>
                    </a:cxn>
                  </a:cxnLst>
                  <a:rect l="txL" t="txT" r="txR" b="txB"/>
                  <a:pathLst>
                    <a:path w="3435" h="1">
                      <a:moveTo>
                        <a:pt x="0" y="0"/>
                      </a:moveTo>
                      <a:lnTo>
                        <a:pt x="3435" y="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lgDashDot"/>
                  <a:round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9520" name="Group 72"/>
            <p:cNvGrpSpPr/>
            <p:nvPr/>
          </p:nvGrpSpPr>
          <p:grpSpPr>
            <a:xfrm rot="10800000">
              <a:off x="725" y="3135"/>
              <a:ext cx="1100" cy="417"/>
              <a:chOff x="1499" y="823"/>
              <a:chExt cx="1100" cy="487"/>
            </a:xfrm>
          </p:grpSpPr>
          <p:sp>
            <p:nvSpPr>
              <p:cNvPr id="19521" name="Freeform 73"/>
              <p:cNvSpPr/>
              <p:nvPr/>
            </p:nvSpPr>
            <p:spPr>
              <a:xfrm>
                <a:off x="2045" y="837"/>
                <a:ext cx="273" cy="86"/>
              </a:xfrm>
              <a:custGeom>
                <a:avLst/>
                <a:gdLst>
                  <a:gd name="txL" fmla="*/ 0 w 249"/>
                  <a:gd name="txT" fmla="*/ 0 h 77"/>
                  <a:gd name="txR" fmla="*/ 249 w 249"/>
                  <a:gd name="txB" fmla="*/ 77 h 77"/>
                </a:gdLst>
                <a:ahLst/>
                <a:cxnLst>
                  <a:cxn ang="0">
                    <a:pos x="0" y="49"/>
                  </a:cxn>
                  <a:cxn ang="0">
                    <a:pos x="0" y="49"/>
                  </a:cxn>
                  <a:cxn ang="0">
                    <a:pos x="77" y="49"/>
                  </a:cxn>
                  <a:cxn ang="0">
                    <a:pos x="146" y="56"/>
                  </a:cxn>
                  <a:cxn ang="0">
                    <a:pos x="223" y="73"/>
                  </a:cxn>
                  <a:cxn ang="0">
                    <a:pos x="292" y="96"/>
                  </a:cxn>
                  <a:cxn ang="0">
                    <a:pos x="299" y="49"/>
                  </a:cxn>
                  <a:cxn ang="0">
                    <a:pos x="231" y="32"/>
                  </a:cxn>
                  <a:cxn ang="0">
                    <a:pos x="153" y="9"/>
                  </a:cxn>
                  <a:cxn ang="0">
                    <a:pos x="77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49"/>
                  </a:cxn>
                </a:cxnLst>
                <a:rect l="txL" t="txT" r="txR" b="txB"/>
                <a:pathLst>
                  <a:path w="249" h="77">
                    <a:moveTo>
                      <a:pt x="0" y="39"/>
                    </a:moveTo>
                    <a:lnTo>
                      <a:pt x="0" y="39"/>
                    </a:lnTo>
                    <a:lnTo>
                      <a:pt x="64" y="39"/>
                    </a:lnTo>
                    <a:lnTo>
                      <a:pt x="121" y="45"/>
                    </a:lnTo>
                    <a:lnTo>
                      <a:pt x="185" y="58"/>
                    </a:lnTo>
                    <a:lnTo>
                      <a:pt x="243" y="77"/>
                    </a:lnTo>
                    <a:lnTo>
                      <a:pt x="249" y="39"/>
                    </a:lnTo>
                    <a:lnTo>
                      <a:pt x="192" y="26"/>
                    </a:lnTo>
                    <a:lnTo>
                      <a:pt x="128" y="7"/>
                    </a:lnTo>
                    <a:lnTo>
                      <a:pt x="64" y="0"/>
                    </a:lnTo>
                    <a:lnTo>
                      <a:pt x="0" y="0"/>
                    </a:lnTo>
                    <a:lnTo>
                      <a:pt x="0" y="39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9522" name="Freeform 74"/>
              <p:cNvSpPr/>
              <p:nvPr/>
            </p:nvSpPr>
            <p:spPr>
              <a:xfrm>
                <a:off x="1779" y="837"/>
                <a:ext cx="266" cy="86"/>
              </a:xfrm>
              <a:custGeom>
                <a:avLst/>
                <a:gdLst>
                  <a:gd name="txL" fmla="*/ 0 w 243"/>
                  <a:gd name="txT" fmla="*/ 0 h 77"/>
                  <a:gd name="txR" fmla="*/ 243 w 243"/>
                  <a:gd name="txB" fmla="*/ 77 h 77"/>
                </a:gdLst>
                <a:ahLst/>
                <a:cxnLst>
                  <a:cxn ang="0">
                    <a:pos x="14" y="96"/>
                  </a:cxn>
                  <a:cxn ang="0">
                    <a:pos x="84" y="73"/>
                  </a:cxn>
                  <a:cxn ang="0">
                    <a:pos x="153" y="56"/>
                  </a:cxn>
                  <a:cxn ang="0">
                    <a:pos x="222" y="49"/>
                  </a:cxn>
                  <a:cxn ang="0">
                    <a:pos x="291" y="49"/>
                  </a:cxn>
                  <a:cxn ang="0">
                    <a:pos x="291" y="0"/>
                  </a:cxn>
                  <a:cxn ang="0">
                    <a:pos x="222" y="0"/>
                  </a:cxn>
                  <a:cxn ang="0">
                    <a:pos x="144" y="9"/>
                  </a:cxn>
                  <a:cxn ang="0">
                    <a:pos x="68" y="25"/>
                  </a:cxn>
                  <a:cxn ang="0">
                    <a:pos x="0" y="49"/>
                  </a:cxn>
                  <a:cxn ang="0">
                    <a:pos x="14" y="96"/>
                  </a:cxn>
                </a:cxnLst>
                <a:rect l="txL" t="txT" r="txR" b="txB"/>
                <a:pathLst>
                  <a:path w="243" h="77">
                    <a:moveTo>
                      <a:pt x="12" y="77"/>
                    </a:moveTo>
                    <a:lnTo>
                      <a:pt x="70" y="58"/>
                    </a:lnTo>
                    <a:lnTo>
                      <a:pt x="128" y="45"/>
                    </a:lnTo>
                    <a:lnTo>
                      <a:pt x="185" y="39"/>
                    </a:lnTo>
                    <a:lnTo>
                      <a:pt x="243" y="39"/>
                    </a:lnTo>
                    <a:lnTo>
                      <a:pt x="243" y="0"/>
                    </a:lnTo>
                    <a:lnTo>
                      <a:pt x="185" y="0"/>
                    </a:lnTo>
                    <a:lnTo>
                      <a:pt x="121" y="7"/>
                    </a:lnTo>
                    <a:lnTo>
                      <a:pt x="57" y="20"/>
                    </a:lnTo>
                    <a:lnTo>
                      <a:pt x="0" y="39"/>
                    </a:lnTo>
                    <a:lnTo>
                      <a:pt x="12" y="77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9523" name="Freeform 75"/>
              <p:cNvSpPr/>
              <p:nvPr/>
            </p:nvSpPr>
            <p:spPr>
              <a:xfrm>
                <a:off x="1509" y="824"/>
                <a:ext cx="132" cy="101"/>
              </a:xfrm>
              <a:custGeom>
                <a:avLst/>
                <a:gdLst>
                  <a:gd name="txL" fmla="*/ 0 w 121"/>
                  <a:gd name="txT" fmla="*/ 0 h 90"/>
                  <a:gd name="txR" fmla="*/ 121 w 121"/>
                  <a:gd name="txB" fmla="*/ 90 h 90"/>
                </a:gdLst>
                <a:ahLst/>
                <a:cxnLst>
                  <a:cxn ang="0">
                    <a:pos x="121" y="0"/>
                  </a:cxn>
                  <a:cxn ang="0">
                    <a:pos x="0" y="73"/>
                  </a:cxn>
                  <a:cxn ang="0">
                    <a:pos x="23" y="113"/>
                  </a:cxn>
                  <a:cxn ang="0">
                    <a:pos x="144" y="40"/>
                  </a:cxn>
                  <a:cxn ang="0">
                    <a:pos x="121" y="0"/>
                  </a:cxn>
                </a:cxnLst>
                <a:rect l="txL" t="txT" r="txR" b="txB"/>
                <a:pathLst>
                  <a:path w="121" h="90">
                    <a:moveTo>
                      <a:pt x="102" y="0"/>
                    </a:moveTo>
                    <a:lnTo>
                      <a:pt x="0" y="58"/>
                    </a:lnTo>
                    <a:lnTo>
                      <a:pt x="19" y="90"/>
                    </a:lnTo>
                    <a:lnTo>
                      <a:pt x="121" y="32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19524" name="Group 76"/>
              <p:cNvGrpSpPr/>
              <p:nvPr/>
            </p:nvGrpSpPr>
            <p:grpSpPr>
              <a:xfrm>
                <a:off x="1519" y="824"/>
                <a:ext cx="1059" cy="486"/>
                <a:chOff x="1519" y="824"/>
                <a:chExt cx="1059" cy="486"/>
              </a:xfrm>
            </p:grpSpPr>
            <p:sp>
              <p:nvSpPr>
                <p:cNvPr id="19537" name="Rectangle 77"/>
                <p:cNvSpPr/>
                <p:nvPr/>
              </p:nvSpPr>
              <p:spPr>
                <a:xfrm>
                  <a:off x="1519" y="1267"/>
                  <a:ext cx="70" cy="43"/>
                </a:xfrm>
                <a:prstGeom prst="rect">
                  <a:avLst/>
                </a:prstGeom>
                <a:solidFill>
                  <a:srgbClr val="1F1A17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538" name="Rectangle 78"/>
                <p:cNvSpPr/>
                <p:nvPr/>
              </p:nvSpPr>
              <p:spPr>
                <a:xfrm>
                  <a:off x="2514" y="1267"/>
                  <a:ext cx="64" cy="43"/>
                </a:xfrm>
                <a:prstGeom prst="rect">
                  <a:avLst/>
                </a:prstGeom>
                <a:solidFill>
                  <a:srgbClr val="1F1A17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9539" name="Group 79"/>
                <p:cNvGrpSpPr/>
                <p:nvPr/>
              </p:nvGrpSpPr>
              <p:grpSpPr>
                <a:xfrm>
                  <a:off x="1583" y="824"/>
                  <a:ext cx="931" cy="486"/>
                  <a:chOff x="1583" y="824"/>
                  <a:chExt cx="931" cy="486"/>
                </a:xfrm>
              </p:grpSpPr>
              <p:sp>
                <p:nvSpPr>
                  <p:cNvPr id="19540" name="Rectangle 80"/>
                  <p:cNvSpPr/>
                  <p:nvPr/>
                </p:nvSpPr>
                <p:spPr>
                  <a:xfrm>
                    <a:off x="1631" y="824"/>
                    <a:ext cx="842" cy="42"/>
                  </a:xfrm>
                  <a:prstGeom prst="rect">
                    <a:avLst/>
                  </a:prstGeom>
                  <a:solidFill>
                    <a:srgbClr val="1F1A17"/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9541" name="Rectangle 81"/>
                  <p:cNvSpPr/>
                  <p:nvPr/>
                </p:nvSpPr>
                <p:spPr>
                  <a:xfrm>
                    <a:off x="2052" y="1267"/>
                    <a:ext cx="462" cy="43"/>
                  </a:xfrm>
                  <a:prstGeom prst="rect">
                    <a:avLst/>
                  </a:prstGeom>
                  <a:solidFill>
                    <a:srgbClr val="1F1A17"/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9542" name="Rectangle 82"/>
                  <p:cNvSpPr/>
                  <p:nvPr/>
                </p:nvSpPr>
                <p:spPr>
                  <a:xfrm>
                    <a:off x="1583" y="1267"/>
                    <a:ext cx="462" cy="43"/>
                  </a:xfrm>
                  <a:prstGeom prst="rect">
                    <a:avLst/>
                  </a:prstGeom>
                  <a:solidFill>
                    <a:srgbClr val="1F1A17"/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19525" name="Group 83"/>
              <p:cNvGrpSpPr/>
              <p:nvPr/>
            </p:nvGrpSpPr>
            <p:grpSpPr>
              <a:xfrm>
                <a:off x="1505" y="845"/>
                <a:ext cx="281" cy="99"/>
                <a:chOff x="1505" y="845"/>
                <a:chExt cx="281" cy="99"/>
              </a:xfrm>
            </p:grpSpPr>
            <p:sp>
              <p:nvSpPr>
                <p:cNvPr id="19535" name="Freeform 84"/>
                <p:cNvSpPr/>
                <p:nvPr/>
              </p:nvSpPr>
              <p:spPr>
                <a:xfrm>
                  <a:off x="1660" y="845"/>
                  <a:ext cx="126" cy="78"/>
                </a:xfrm>
                <a:custGeom>
                  <a:avLst/>
                  <a:gdLst>
                    <a:gd name="txL" fmla="*/ 0 w 115"/>
                    <a:gd name="txT" fmla="*/ 0 h 70"/>
                    <a:gd name="txR" fmla="*/ 115 w 115"/>
                    <a:gd name="txB" fmla="*/ 70 h 70"/>
                  </a:gdLst>
                  <a:ahLst/>
                  <a:cxnLst>
                    <a:cxn ang="0">
                      <a:pos x="0" y="47"/>
                    </a:cxn>
                    <a:cxn ang="0">
                      <a:pos x="0" y="47"/>
                    </a:cxn>
                    <a:cxn ang="0">
                      <a:pos x="31" y="47"/>
                    </a:cxn>
                    <a:cxn ang="0">
                      <a:pos x="61" y="56"/>
                    </a:cxn>
                    <a:cxn ang="0">
                      <a:pos x="84" y="71"/>
                    </a:cxn>
                    <a:cxn ang="0">
                      <a:pos x="107" y="87"/>
                    </a:cxn>
                    <a:cxn ang="0">
                      <a:pos x="138" y="47"/>
                    </a:cxn>
                    <a:cxn ang="0">
                      <a:pos x="107" y="31"/>
                    </a:cxn>
                    <a:cxn ang="0">
                      <a:pos x="77" y="8"/>
                    </a:cxn>
                    <a:cxn ang="0">
                      <a:pos x="38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47"/>
                    </a:cxn>
                  </a:cxnLst>
                  <a:rect l="txL" t="txT" r="txR" b="txB"/>
                  <a:pathLst>
                    <a:path w="115" h="70">
                      <a:moveTo>
                        <a:pt x="0" y="38"/>
                      </a:moveTo>
                      <a:lnTo>
                        <a:pt x="0" y="38"/>
                      </a:lnTo>
                      <a:lnTo>
                        <a:pt x="26" y="38"/>
                      </a:lnTo>
                      <a:lnTo>
                        <a:pt x="51" y="45"/>
                      </a:lnTo>
                      <a:lnTo>
                        <a:pt x="70" y="57"/>
                      </a:lnTo>
                      <a:lnTo>
                        <a:pt x="89" y="70"/>
                      </a:lnTo>
                      <a:lnTo>
                        <a:pt x="115" y="38"/>
                      </a:lnTo>
                      <a:lnTo>
                        <a:pt x="89" y="25"/>
                      </a:lnTo>
                      <a:lnTo>
                        <a:pt x="64" y="6"/>
                      </a:lnTo>
                      <a:lnTo>
                        <a:pt x="32" y="0"/>
                      </a:lnTo>
                      <a:lnTo>
                        <a:pt x="0" y="0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1F1A17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536" name="Freeform 85"/>
                <p:cNvSpPr/>
                <p:nvPr/>
              </p:nvSpPr>
              <p:spPr>
                <a:xfrm>
                  <a:off x="1505" y="845"/>
                  <a:ext cx="155" cy="99"/>
                </a:xfrm>
                <a:custGeom>
                  <a:avLst/>
                  <a:gdLst>
                    <a:gd name="txL" fmla="*/ 0 w 141"/>
                    <a:gd name="txT" fmla="*/ 0 h 89"/>
                    <a:gd name="txR" fmla="*/ 141 w 141"/>
                    <a:gd name="txB" fmla="*/ 89 h 89"/>
                  </a:gdLst>
                  <a:ahLst/>
                  <a:cxnLst>
                    <a:cxn ang="0">
                      <a:pos x="32" y="110"/>
                    </a:cxn>
                    <a:cxn ang="0">
                      <a:pos x="62" y="79"/>
                    </a:cxn>
                    <a:cxn ang="0">
                      <a:pos x="93" y="63"/>
                    </a:cxn>
                    <a:cxn ang="0">
                      <a:pos x="132" y="47"/>
                    </a:cxn>
                    <a:cxn ang="0">
                      <a:pos x="170" y="47"/>
                    </a:cxn>
                    <a:cxn ang="0">
                      <a:pos x="170" y="0"/>
                    </a:cxn>
                    <a:cxn ang="0">
                      <a:pos x="124" y="0"/>
                    </a:cxn>
                    <a:cxn ang="0">
                      <a:pos x="77" y="16"/>
                    </a:cxn>
                    <a:cxn ang="0">
                      <a:pos x="38" y="47"/>
                    </a:cxn>
                    <a:cxn ang="0">
                      <a:pos x="0" y="79"/>
                    </a:cxn>
                    <a:cxn ang="0">
                      <a:pos x="32" y="110"/>
                    </a:cxn>
                  </a:cxnLst>
                  <a:rect l="txL" t="txT" r="txR" b="txB"/>
                  <a:pathLst>
                    <a:path w="141" h="89">
                      <a:moveTo>
                        <a:pt x="26" y="89"/>
                      </a:moveTo>
                      <a:lnTo>
                        <a:pt x="51" y="64"/>
                      </a:lnTo>
                      <a:lnTo>
                        <a:pt x="77" y="51"/>
                      </a:lnTo>
                      <a:lnTo>
                        <a:pt x="109" y="38"/>
                      </a:lnTo>
                      <a:lnTo>
                        <a:pt x="141" y="38"/>
                      </a:lnTo>
                      <a:lnTo>
                        <a:pt x="141" y="0"/>
                      </a:lnTo>
                      <a:lnTo>
                        <a:pt x="103" y="0"/>
                      </a:lnTo>
                      <a:lnTo>
                        <a:pt x="64" y="13"/>
                      </a:lnTo>
                      <a:lnTo>
                        <a:pt x="32" y="38"/>
                      </a:lnTo>
                      <a:lnTo>
                        <a:pt x="0" y="64"/>
                      </a:lnTo>
                      <a:lnTo>
                        <a:pt x="26" y="89"/>
                      </a:lnTo>
                      <a:close/>
                    </a:path>
                  </a:pathLst>
                </a:custGeom>
                <a:solidFill>
                  <a:srgbClr val="1F1A17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9526" name="Group 86"/>
              <p:cNvGrpSpPr/>
              <p:nvPr/>
            </p:nvGrpSpPr>
            <p:grpSpPr>
              <a:xfrm>
                <a:off x="1499" y="902"/>
                <a:ext cx="1100" cy="387"/>
                <a:chOff x="1499" y="902"/>
                <a:chExt cx="1100" cy="387"/>
              </a:xfrm>
            </p:grpSpPr>
            <p:sp>
              <p:nvSpPr>
                <p:cNvPr id="19531" name="Rectangle 87"/>
                <p:cNvSpPr/>
                <p:nvPr/>
              </p:nvSpPr>
              <p:spPr>
                <a:xfrm>
                  <a:off x="2557" y="902"/>
                  <a:ext cx="42" cy="387"/>
                </a:xfrm>
                <a:prstGeom prst="rect">
                  <a:avLst/>
                </a:prstGeom>
                <a:solidFill>
                  <a:srgbClr val="1F1A17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532" name="Rectangle 88"/>
                <p:cNvSpPr/>
                <p:nvPr/>
              </p:nvSpPr>
              <p:spPr>
                <a:xfrm>
                  <a:off x="2297" y="902"/>
                  <a:ext cx="35" cy="387"/>
                </a:xfrm>
                <a:prstGeom prst="rect">
                  <a:avLst/>
                </a:prstGeom>
                <a:solidFill>
                  <a:srgbClr val="1F1A17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533" name="Rectangle 89"/>
                <p:cNvSpPr/>
                <p:nvPr/>
              </p:nvSpPr>
              <p:spPr>
                <a:xfrm>
                  <a:off x="1499" y="916"/>
                  <a:ext cx="41" cy="373"/>
                </a:xfrm>
                <a:prstGeom prst="rect">
                  <a:avLst/>
                </a:prstGeom>
                <a:solidFill>
                  <a:srgbClr val="1F1A17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534" name="Rectangle 90"/>
                <p:cNvSpPr/>
                <p:nvPr/>
              </p:nvSpPr>
              <p:spPr>
                <a:xfrm>
                  <a:off x="1751" y="902"/>
                  <a:ext cx="41" cy="387"/>
                </a:xfrm>
                <a:prstGeom prst="rect">
                  <a:avLst/>
                </a:prstGeom>
                <a:solidFill>
                  <a:srgbClr val="1F1A17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9527" name="Group 91"/>
              <p:cNvGrpSpPr/>
              <p:nvPr/>
            </p:nvGrpSpPr>
            <p:grpSpPr>
              <a:xfrm>
                <a:off x="2310" y="837"/>
                <a:ext cx="282" cy="87"/>
                <a:chOff x="2310" y="837"/>
                <a:chExt cx="282" cy="87"/>
              </a:xfrm>
            </p:grpSpPr>
            <p:sp>
              <p:nvSpPr>
                <p:cNvPr id="19529" name="Freeform 92"/>
                <p:cNvSpPr/>
                <p:nvPr/>
              </p:nvSpPr>
              <p:spPr>
                <a:xfrm>
                  <a:off x="2444" y="837"/>
                  <a:ext cx="148" cy="86"/>
                </a:xfrm>
                <a:custGeom>
                  <a:avLst/>
                  <a:gdLst>
                    <a:gd name="txL" fmla="*/ 0 w 135"/>
                    <a:gd name="txT" fmla="*/ 0 h 77"/>
                    <a:gd name="txR" fmla="*/ 135 w 135"/>
                    <a:gd name="txB" fmla="*/ 77 h 77"/>
                  </a:gdLst>
                  <a:ahLst/>
                  <a:cxnLst>
                    <a:cxn ang="0">
                      <a:pos x="0" y="49"/>
                    </a:cxn>
                    <a:cxn ang="0">
                      <a:pos x="0" y="49"/>
                    </a:cxn>
                    <a:cxn ang="0">
                      <a:pos x="38" y="49"/>
                    </a:cxn>
                    <a:cxn ang="0">
                      <a:pos x="70" y="56"/>
                    </a:cxn>
                    <a:cxn ang="0">
                      <a:pos x="100" y="73"/>
                    </a:cxn>
                    <a:cxn ang="0">
                      <a:pos x="130" y="96"/>
                    </a:cxn>
                    <a:cxn ang="0">
                      <a:pos x="162" y="65"/>
                    </a:cxn>
                    <a:cxn ang="0">
                      <a:pos x="130" y="32"/>
                    </a:cxn>
                    <a:cxn ang="0">
                      <a:pos x="86" y="17"/>
                    </a:cxn>
                    <a:cxn ang="0">
                      <a:pos x="47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49"/>
                    </a:cxn>
                  </a:cxnLst>
                  <a:rect l="txL" t="txT" r="txR" b="txB"/>
                  <a:pathLst>
                    <a:path w="135" h="77">
                      <a:moveTo>
                        <a:pt x="0" y="39"/>
                      </a:moveTo>
                      <a:lnTo>
                        <a:pt x="0" y="39"/>
                      </a:lnTo>
                      <a:lnTo>
                        <a:pt x="32" y="39"/>
                      </a:lnTo>
                      <a:lnTo>
                        <a:pt x="58" y="45"/>
                      </a:lnTo>
                      <a:lnTo>
                        <a:pt x="83" y="58"/>
                      </a:lnTo>
                      <a:lnTo>
                        <a:pt x="109" y="77"/>
                      </a:lnTo>
                      <a:lnTo>
                        <a:pt x="135" y="52"/>
                      </a:lnTo>
                      <a:lnTo>
                        <a:pt x="109" y="26"/>
                      </a:lnTo>
                      <a:lnTo>
                        <a:pt x="71" y="13"/>
                      </a:lnTo>
                      <a:lnTo>
                        <a:pt x="39" y="0"/>
                      </a:lnTo>
                      <a:lnTo>
                        <a:pt x="0" y="0"/>
                      </a:lnTo>
                      <a:lnTo>
                        <a:pt x="0" y="39"/>
                      </a:lnTo>
                      <a:close/>
                    </a:path>
                  </a:pathLst>
                </a:custGeom>
                <a:solidFill>
                  <a:srgbClr val="1F1A17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530" name="Freeform 93"/>
                <p:cNvSpPr/>
                <p:nvPr/>
              </p:nvSpPr>
              <p:spPr>
                <a:xfrm>
                  <a:off x="2310" y="845"/>
                  <a:ext cx="140" cy="79"/>
                </a:xfrm>
                <a:custGeom>
                  <a:avLst/>
                  <a:gdLst>
                    <a:gd name="txL" fmla="*/ 0 w 128"/>
                    <a:gd name="txT" fmla="*/ 0 h 71"/>
                    <a:gd name="txR" fmla="*/ 128 w 128"/>
                    <a:gd name="txB" fmla="*/ 71 h 71"/>
                  </a:gdLst>
                  <a:ahLst/>
                  <a:cxnLst>
                    <a:cxn ang="0">
                      <a:pos x="24" y="88"/>
                    </a:cxn>
                    <a:cxn ang="0">
                      <a:pos x="54" y="72"/>
                    </a:cxn>
                    <a:cxn ang="0">
                      <a:pos x="85" y="56"/>
                    </a:cxn>
                    <a:cxn ang="0">
                      <a:pos x="115" y="48"/>
                    </a:cxn>
                    <a:cxn ang="0">
                      <a:pos x="153" y="48"/>
                    </a:cxn>
                    <a:cxn ang="0">
                      <a:pos x="153" y="0"/>
                    </a:cxn>
                    <a:cxn ang="0">
                      <a:pos x="107" y="0"/>
                    </a:cxn>
                    <a:cxn ang="0">
                      <a:pos x="69" y="16"/>
                    </a:cxn>
                    <a:cxn ang="0">
                      <a:pos x="31" y="32"/>
                    </a:cxn>
                    <a:cxn ang="0">
                      <a:pos x="0" y="56"/>
                    </a:cxn>
                    <a:cxn ang="0">
                      <a:pos x="24" y="88"/>
                    </a:cxn>
                  </a:cxnLst>
                  <a:rect l="txL" t="txT" r="txR" b="txB"/>
                  <a:pathLst>
                    <a:path w="128" h="71">
                      <a:moveTo>
                        <a:pt x="20" y="71"/>
                      </a:moveTo>
                      <a:lnTo>
                        <a:pt x="45" y="58"/>
                      </a:lnTo>
                      <a:lnTo>
                        <a:pt x="71" y="45"/>
                      </a:lnTo>
                      <a:lnTo>
                        <a:pt x="96" y="39"/>
                      </a:lnTo>
                      <a:lnTo>
                        <a:pt x="128" y="39"/>
                      </a:lnTo>
                      <a:lnTo>
                        <a:pt x="128" y="0"/>
                      </a:lnTo>
                      <a:lnTo>
                        <a:pt x="90" y="0"/>
                      </a:lnTo>
                      <a:lnTo>
                        <a:pt x="58" y="13"/>
                      </a:lnTo>
                      <a:lnTo>
                        <a:pt x="26" y="26"/>
                      </a:lnTo>
                      <a:lnTo>
                        <a:pt x="0" y="45"/>
                      </a:lnTo>
                      <a:lnTo>
                        <a:pt x="20" y="71"/>
                      </a:lnTo>
                      <a:close/>
                    </a:path>
                  </a:pathLst>
                </a:custGeom>
                <a:solidFill>
                  <a:srgbClr val="1F1A17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9528" name="Freeform 94"/>
              <p:cNvSpPr/>
              <p:nvPr/>
            </p:nvSpPr>
            <p:spPr>
              <a:xfrm>
                <a:off x="2476" y="823"/>
                <a:ext cx="119" cy="86"/>
              </a:xfrm>
              <a:custGeom>
                <a:avLst/>
                <a:gdLst>
                  <a:gd name="txL" fmla="*/ 0 w 109"/>
                  <a:gd name="txT" fmla="*/ 0 h 77"/>
                  <a:gd name="txR" fmla="*/ 109 w 109"/>
                  <a:gd name="txB" fmla="*/ 77 h 77"/>
                </a:gdLst>
                <a:ahLst/>
                <a:cxnLst>
                  <a:cxn ang="0">
                    <a:pos x="0" y="40"/>
                  </a:cxn>
                  <a:cxn ang="0">
                    <a:pos x="115" y="96"/>
                  </a:cxn>
                  <a:cxn ang="0">
                    <a:pos x="130" y="56"/>
                  </a:cxn>
                  <a:cxn ang="0">
                    <a:pos x="15" y="0"/>
                  </a:cxn>
                  <a:cxn ang="0">
                    <a:pos x="0" y="40"/>
                  </a:cxn>
                </a:cxnLst>
                <a:rect l="txL" t="txT" r="txR" b="txB"/>
                <a:pathLst>
                  <a:path w="109" h="77">
                    <a:moveTo>
                      <a:pt x="0" y="32"/>
                    </a:moveTo>
                    <a:lnTo>
                      <a:pt x="96" y="77"/>
                    </a:lnTo>
                    <a:lnTo>
                      <a:pt x="109" y="45"/>
                    </a:lnTo>
                    <a:lnTo>
                      <a:pt x="13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6" name="Group 95"/>
          <p:cNvGrpSpPr/>
          <p:nvPr/>
        </p:nvGrpSpPr>
        <p:grpSpPr>
          <a:xfrm>
            <a:off x="1163638" y="2122488"/>
            <a:ext cx="1746250" cy="719137"/>
            <a:chOff x="733" y="1207"/>
            <a:chExt cx="1100" cy="453"/>
          </a:xfrm>
        </p:grpSpPr>
        <p:sp>
          <p:nvSpPr>
            <p:cNvPr id="19498" name="Freeform 96"/>
            <p:cNvSpPr/>
            <p:nvPr/>
          </p:nvSpPr>
          <p:spPr>
            <a:xfrm>
              <a:off x="1279" y="1220"/>
              <a:ext cx="273" cy="80"/>
            </a:xfrm>
            <a:custGeom>
              <a:avLst/>
              <a:gdLst>
                <a:gd name="txL" fmla="*/ 0 w 249"/>
                <a:gd name="txT" fmla="*/ 0 h 77"/>
                <a:gd name="txR" fmla="*/ 249 w 249"/>
                <a:gd name="txB" fmla="*/ 77 h 77"/>
              </a:gdLst>
              <a:ahLst/>
              <a:cxnLst>
                <a:cxn ang="0">
                  <a:pos x="0" y="43"/>
                </a:cxn>
                <a:cxn ang="0">
                  <a:pos x="0" y="43"/>
                </a:cxn>
                <a:cxn ang="0">
                  <a:pos x="77" y="43"/>
                </a:cxn>
                <a:cxn ang="0">
                  <a:pos x="146" y="49"/>
                </a:cxn>
                <a:cxn ang="0">
                  <a:pos x="223" y="62"/>
                </a:cxn>
                <a:cxn ang="0">
                  <a:pos x="292" y="83"/>
                </a:cxn>
                <a:cxn ang="0">
                  <a:pos x="299" y="43"/>
                </a:cxn>
                <a:cxn ang="0">
                  <a:pos x="231" y="28"/>
                </a:cxn>
                <a:cxn ang="0">
                  <a:pos x="153" y="7"/>
                </a:cxn>
                <a:cxn ang="0">
                  <a:pos x="7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43"/>
                </a:cxn>
              </a:cxnLst>
              <a:rect l="txL" t="txT" r="txR" b="txB"/>
              <a:pathLst>
                <a:path w="249" h="77">
                  <a:moveTo>
                    <a:pt x="0" y="39"/>
                  </a:moveTo>
                  <a:lnTo>
                    <a:pt x="0" y="39"/>
                  </a:lnTo>
                  <a:lnTo>
                    <a:pt x="64" y="39"/>
                  </a:lnTo>
                  <a:lnTo>
                    <a:pt x="121" y="45"/>
                  </a:lnTo>
                  <a:lnTo>
                    <a:pt x="185" y="58"/>
                  </a:lnTo>
                  <a:lnTo>
                    <a:pt x="243" y="77"/>
                  </a:lnTo>
                  <a:lnTo>
                    <a:pt x="249" y="39"/>
                  </a:lnTo>
                  <a:lnTo>
                    <a:pt x="192" y="26"/>
                  </a:lnTo>
                  <a:lnTo>
                    <a:pt x="128" y="7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9499" name="Freeform 97"/>
            <p:cNvSpPr/>
            <p:nvPr/>
          </p:nvSpPr>
          <p:spPr>
            <a:xfrm>
              <a:off x="1013" y="1220"/>
              <a:ext cx="266" cy="80"/>
            </a:xfrm>
            <a:custGeom>
              <a:avLst/>
              <a:gdLst>
                <a:gd name="txL" fmla="*/ 0 w 243"/>
                <a:gd name="txT" fmla="*/ 0 h 77"/>
                <a:gd name="txR" fmla="*/ 243 w 243"/>
                <a:gd name="txB" fmla="*/ 77 h 77"/>
              </a:gdLst>
              <a:ahLst/>
              <a:cxnLst>
                <a:cxn ang="0">
                  <a:pos x="14" y="83"/>
                </a:cxn>
                <a:cxn ang="0">
                  <a:pos x="84" y="62"/>
                </a:cxn>
                <a:cxn ang="0">
                  <a:pos x="153" y="49"/>
                </a:cxn>
                <a:cxn ang="0">
                  <a:pos x="222" y="43"/>
                </a:cxn>
                <a:cxn ang="0">
                  <a:pos x="291" y="43"/>
                </a:cxn>
                <a:cxn ang="0">
                  <a:pos x="291" y="0"/>
                </a:cxn>
                <a:cxn ang="0">
                  <a:pos x="222" y="0"/>
                </a:cxn>
                <a:cxn ang="0">
                  <a:pos x="144" y="7"/>
                </a:cxn>
                <a:cxn ang="0">
                  <a:pos x="68" y="22"/>
                </a:cxn>
                <a:cxn ang="0">
                  <a:pos x="0" y="43"/>
                </a:cxn>
                <a:cxn ang="0">
                  <a:pos x="14" y="83"/>
                </a:cxn>
              </a:cxnLst>
              <a:rect l="txL" t="txT" r="txR" b="txB"/>
              <a:pathLst>
                <a:path w="243" h="77">
                  <a:moveTo>
                    <a:pt x="12" y="77"/>
                  </a:moveTo>
                  <a:lnTo>
                    <a:pt x="70" y="58"/>
                  </a:lnTo>
                  <a:lnTo>
                    <a:pt x="128" y="45"/>
                  </a:lnTo>
                  <a:lnTo>
                    <a:pt x="185" y="39"/>
                  </a:lnTo>
                  <a:lnTo>
                    <a:pt x="243" y="39"/>
                  </a:lnTo>
                  <a:lnTo>
                    <a:pt x="243" y="0"/>
                  </a:lnTo>
                  <a:lnTo>
                    <a:pt x="185" y="0"/>
                  </a:lnTo>
                  <a:lnTo>
                    <a:pt x="121" y="7"/>
                  </a:lnTo>
                  <a:lnTo>
                    <a:pt x="57" y="20"/>
                  </a:lnTo>
                  <a:lnTo>
                    <a:pt x="0" y="39"/>
                  </a:lnTo>
                  <a:lnTo>
                    <a:pt x="12" y="77"/>
                  </a:lnTo>
                  <a:close/>
                </a:path>
              </a:pathLst>
            </a:cu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9500" name="Freeform 98"/>
            <p:cNvSpPr/>
            <p:nvPr/>
          </p:nvSpPr>
          <p:spPr>
            <a:xfrm>
              <a:off x="743" y="1208"/>
              <a:ext cx="132" cy="94"/>
            </a:xfrm>
            <a:custGeom>
              <a:avLst/>
              <a:gdLst>
                <a:gd name="txL" fmla="*/ 0 w 121"/>
                <a:gd name="txT" fmla="*/ 0 h 90"/>
                <a:gd name="txR" fmla="*/ 121 w 121"/>
                <a:gd name="txB" fmla="*/ 90 h 90"/>
              </a:gdLst>
              <a:ahLst/>
              <a:cxnLst>
                <a:cxn ang="0">
                  <a:pos x="121" y="0"/>
                </a:cxn>
                <a:cxn ang="0">
                  <a:pos x="0" y="64"/>
                </a:cxn>
                <a:cxn ang="0">
                  <a:pos x="23" y="98"/>
                </a:cxn>
                <a:cxn ang="0">
                  <a:pos x="144" y="34"/>
                </a:cxn>
                <a:cxn ang="0">
                  <a:pos x="121" y="0"/>
                </a:cxn>
              </a:cxnLst>
              <a:rect l="txL" t="txT" r="txR" b="txB"/>
              <a:pathLst>
                <a:path w="121" h="90">
                  <a:moveTo>
                    <a:pt x="102" y="0"/>
                  </a:moveTo>
                  <a:lnTo>
                    <a:pt x="0" y="58"/>
                  </a:lnTo>
                  <a:lnTo>
                    <a:pt x="19" y="90"/>
                  </a:lnTo>
                  <a:lnTo>
                    <a:pt x="121" y="32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19501" name="Group 99"/>
            <p:cNvGrpSpPr/>
            <p:nvPr/>
          </p:nvGrpSpPr>
          <p:grpSpPr>
            <a:xfrm>
              <a:off x="753" y="1208"/>
              <a:ext cx="1059" cy="452"/>
              <a:chOff x="1519" y="824"/>
              <a:chExt cx="1059" cy="486"/>
            </a:xfrm>
          </p:grpSpPr>
          <p:sp>
            <p:nvSpPr>
              <p:cNvPr id="19513" name="Rectangle 100"/>
              <p:cNvSpPr/>
              <p:nvPr/>
            </p:nvSpPr>
            <p:spPr>
              <a:xfrm>
                <a:off x="1519" y="1267"/>
                <a:ext cx="70" cy="43"/>
              </a:xfrm>
              <a:prstGeom prst="rect">
                <a:avLst/>
              </a:prstGeom>
              <a:solidFill>
                <a:srgbClr val="FF0000"/>
              </a:solidFill>
              <a:ln w="12700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9514" name="Rectangle 101"/>
              <p:cNvSpPr/>
              <p:nvPr/>
            </p:nvSpPr>
            <p:spPr>
              <a:xfrm>
                <a:off x="2514" y="1267"/>
                <a:ext cx="64" cy="43"/>
              </a:xfrm>
              <a:prstGeom prst="rect">
                <a:avLst/>
              </a:prstGeom>
              <a:solidFill>
                <a:srgbClr val="FF0000"/>
              </a:solidFill>
              <a:ln w="12700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19515" name="Group 102"/>
              <p:cNvGrpSpPr/>
              <p:nvPr/>
            </p:nvGrpSpPr>
            <p:grpSpPr>
              <a:xfrm>
                <a:off x="1583" y="824"/>
                <a:ext cx="931" cy="486"/>
                <a:chOff x="1583" y="824"/>
                <a:chExt cx="931" cy="486"/>
              </a:xfrm>
            </p:grpSpPr>
            <p:sp>
              <p:nvSpPr>
                <p:cNvPr id="19516" name="Rectangle 103"/>
                <p:cNvSpPr/>
                <p:nvPr/>
              </p:nvSpPr>
              <p:spPr>
                <a:xfrm>
                  <a:off x="1631" y="824"/>
                  <a:ext cx="842" cy="42"/>
                </a:xfrm>
                <a:prstGeom prst="rect">
                  <a:avLst/>
                </a:prstGeom>
                <a:solidFill>
                  <a:srgbClr val="FF0000"/>
                </a:solidFill>
                <a:ln w="12700" cap="flat" cmpd="sng">
                  <a:solidFill>
                    <a:srgbClr val="FF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517" name="Rectangle 104"/>
                <p:cNvSpPr/>
                <p:nvPr/>
              </p:nvSpPr>
              <p:spPr>
                <a:xfrm>
                  <a:off x="2052" y="1267"/>
                  <a:ext cx="462" cy="43"/>
                </a:xfrm>
                <a:prstGeom prst="rect">
                  <a:avLst/>
                </a:prstGeom>
                <a:solidFill>
                  <a:srgbClr val="FF0000"/>
                </a:solidFill>
                <a:ln w="12700" cap="flat" cmpd="sng">
                  <a:solidFill>
                    <a:srgbClr val="FF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518" name="Rectangle 105"/>
                <p:cNvSpPr/>
                <p:nvPr/>
              </p:nvSpPr>
              <p:spPr>
                <a:xfrm>
                  <a:off x="1583" y="1267"/>
                  <a:ext cx="462" cy="43"/>
                </a:xfrm>
                <a:prstGeom prst="rect">
                  <a:avLst/>
                </a:prstGeom>
                <a:solidFill>
                  <a:srgbClr val="FF0000"/>
                </a:solidFill>
                <a:ln w="12700" cap="flat" cmpd="sng">
                  <a:solidFill>
                    <a:srgbClr val="FF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9502" name="Group 106"/>
            <p:cNvGrpSpPr/>
            <p:nvPr/>
          </p:nvGrpSpPr>
          <p:grpSpPr>
            <a:xfrm>
              <a:off x="739" y="1227"/>
              <a:ext cx="281" cy="93"/>
              <a:chOff x="1505" y="845"/>
              <a:chExt cx="281" cy="99"/>
            </a:xfrm>
          </p:grpSpPr>
          <p:sp>
            <p:nvSpPr>
              <p:cNvPr id="19511" name="Freeform 107"/>
              <p:cNvSpPr/>
              <p:nvPr/>
            </p:nvSpPr>
            <p:spPr>
              <a:xfrm>
                <a:off x="1660" y="845"/>
                <a:ext cx="126" cy="78"/>
              </a:xfrm>
              <a:custGeom>
                <a:avLst/>
                <a:gdLst>
                  <a:gd name="txL" fmla="*/ 0 w 115"/>
                  <a:gd name="txT" fmla="*/ 0 h 70"/>
                  <a:gd name="txR" fmla="*/ 115 w 115"/>
                  <a:gd name="txB" fmla="*/ 70 h 70"/>
                </a:gdLst>
                <a:ahLst/>
                <a:cxnLst>
                  <a:cxn ang="0">
                    <a:pos x="0" y="47"/>
                  </a:cxn>
                  <a:cxn ang="0">
                    <a:pos x="0" y="47"/>
                  </a:cxn>
                  <a:cxn ang="0">
                    <a:pos x="31" y="47"/>
                  </a:cxn>
                  <a:cxn ang="0">
                    <a:pos x="61" y="56"/>
                  </a:cxn>
                  <a:cxn ang="0">
                    <a:pos x="84" y="71"/>
                  </a:cxn>
                  <a:cxn ang="0">
                    <a:pos x="107" y="87"/>
                  </a:cxn>
                  <a:cxn ang="0">
                    <a:pos x="138" y="47"/>
                  </a:cxn>
                  <a:cxn ang="0">
                    <a:pos x="107" y="31"/>
                  </a:cxn>
                  <a:cxn ang="0">
                    <a:pos x="77" y="8"/>
                  </a:cxn>
                  <a:cxn ang="0">
                    <a:pos x="38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47"/>
                  </a:cxn>
                </a:cxnLst>
                <a:rect l="txL" t="txT" r="txR" b="txB"/>
                <a:pathLst>
                  <a:path w="115" h="70">
                    <a:moveTo>
                      <a:pt x="0" y="38"/>
                    </a:moveTo>
                    <a:lnTo>
                      <a:pt x="0" y="38"/>
                    </a:lnTo>
                    <a:lnTo>
                      <a:pt x="26" y="38"/>
                    </a:lnTo>
                    <a:lnTo>
                      <a:pt x="51" y="45"/>
                    </a:lnTo>
                    <a:lnTo>
                      <a:pt x="70" y="57"/>
                    </a:lnTo>
                    <a:lnTo>
                      <a:pt x="89" y="70"/>
                    </a:lnTo>
                    <a:lnTo>
                      <a:pt x="115" y="38"/>
                    </a:lnTo>
                    <a:lnTo>
                      <a:pt x="89" y="25"/>
                    </a:lnTo>
                    <a:lnTo>
                      <a:pt x="64" y="6"/>
                    </a:lnTo>
                    <a:lnTo>
                      <a:pt x="32" y="0"/>
                    </a:lnTo>
                    <a:lnTo>
                      <a:pt x="0" y="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0000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9512" name="Freeform 108"/>
              <p:cNvSpPr/>
              <p:nvPr/>
            </p:nvSpPr>
            <p:spPr>
              <a:xfrm>
                <a:off x="1505" y="845"/>
                <a:ext cx="155" cy="99"/>
              </a:xfrm>
              <a:custGeom>
                <a:avLst/>
                <a:gdLst>
                  <a:gd name="txL" fmla="*/ 0 w 141"/>
                  <a:gd name="txT" fmla="*/ 0 h 89"/>
                  <a:gd name="txR" fmla="*/ 141 w 141"/>
                  <a:gd name="txB" fmla="*/ 89 h 89"/>
                </a:gdLst>
                <a:ahLst/>
                <a:cxnLst>
                  <a:cxn ang="0">
                    <a:pos x="32" y="110"/>
                  </a:cxn>
                  <a:cxn ang="0">
                    <a:pos x="62" y="79"/>
                  </a:cxn>
                  <a:cxn ang="0">
                    <a:pos x="93" y="63"/>
                  </a:cxn>
                  <a:cxn ang="0">
                    <a:pos x="132" y="47"/>
                  </a:cxn>
                  <a:cxn ang="0">
                    <a:pos x="170" y="47"/>
                  </a:cxn>
                  <a:cxn ang="0">
                    <a:pos x="170" y="0"/>
                  </a:cxn>
                  <a:cxn ang="0">
                    <a:pos x="124" y="0"/>
                  </a:cxn>
                  <a:cxn ang="0">
                    <a:pos x="77" y="16"/>
                  </a:cxn>
                  <a:cxn ang="0">
                    <a:pos x="38" y="47"/>
                  </a:cxn>
                  <a:cxn ang="0">
                    <a:pos x="0" y="79"/>
                  </a:cxn>
                  <a:cxn ang="0">
                    <a:pos x="32" y="110"/>
                  </a:cxn>
                </a:cxnLst>
                <a:rect l="txL" t="txT" r="txR" b="txB"/>
                <a:pathLst>
                  <a:path w="141" h="89">
                    <a:moveTo>
                      <a:pt x="26" y="89"/>
                    </a:moveTo>
                    <a:lnTo>
                      <a:pt x="51" y="64"/>
                    </a:lnTo>
                    <a:lnTo>
                      <a:pt x="77" y="51"/>
                    </a:lnTo>
                    <a:lnTo>
                      <a:pt x="109" y="38"/>
                    </a:lnTo>
                    <a:lnTo>
                      <a:pt x="141" y="38"/>
                    </a:lnTo>
                    <a:lnTo>
                      <a:pt x="141" y="0"/>
                    </a:lnTo>
                    <a:lnTo>
                      <a:pt x="103" y="0"/>
                    </a:lnTo>
                    <a:lnTo>
                      <a:pt x="64" y="13"/>
                    </a:lnTo>
                    <a:lnTo>
                      <a:pt x="32" y="38"/>
                    </a:lnTo>
                    <a:lnTo>
                      <a:pt x="0" y="64"/>
                    </a:lnTo>
                    <a:lnTo>
                      <a:pt x="26" y="89"/>
                    </a:lnTo>
                    <a:close/>
                  </a:path>
                </a:pathLst>
              </a:custGeom>
              <a:solidFill>
                <a:srgbClr val="FF0000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503" name="Rectangle 109"/>
            <p:cNvSpPr/>
            <p:nvPr/>
          </p:nvSpPr>
          <p:spPr>
            <a:xfrm>
              <a:off x="1791" y="1280"/>
              <a:ext cx="42" cy="360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9504" name="Rectangle 110"/>
            <p:cNvSpPr/>
            <p:nvPr/>
          </p:nvSpPr>
          <p:spPr>
            <a:xfrm>
              <a:off x="1543" y="1280"/>
              <a:ext cx="35" cy="360"/>
            </a:xfrm>
            <a:prstGeom prst="rect">
              <a:avLst/>
            </a:prstGeom>
            <a:solidFill>
              <a:srgbClr val="FF0000"/>
            </a:solidFill>
            <a:ln w="63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9505" name="Rectangle 111"/>
            <p:cNvSpPr/>
            <p:nvPr/>
          </p:nvSpPr>
          <p:spPr>
            <a:xfrm>
              <a:off x="733" y="1293"/>
              <a:ext cx="41" cy="347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9506" name="Rectangle 112"/>
            <p:cNvSpPr/>
            <p:nvPr/>
          </p:nvSpPr>
          <p:spPr>
            <a:xfrm>
              <a:off x="973" y="1280"/>
              <a:ext cx="41" cy="360"/>
            </a:xfrm>
            <a:prstGeom prst="rect">
              <a:avLst/>
            </a:prstGeom>
            <a:solidFill>
              <a:srgbClr val="FF0000"/>
            </a:solidFill>
            <a:ln w="31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19507" name="Group 113"/>
            <p:cNvGrpSpPr/>
            <p:nvPr/>
          </p:nvGrpSpPr>
          <p:grpSpPr>
            <a:xfrm>
              <a:off x="1544" y="1220"/>
              <a:ext cx="282" cy="81"/>
              <a:chOff x="2310" y="837"/>
              <a:chExt cx="282" cy="87"/>
            </a:xfrm>
          </p:grpSpPr>
          <p:sp>
            <p:nvSpPr>
              <p:cNvPr id="19509" name="Freeform 114"/>
              <p:cNvSpPr/>
              <p:nvPr/>
            </p:nvSpPr>
            <p:spPr>
              <a:xfrm>
                <a:off x="2444" y="837"/>
                <a:ext cx="148" cy="86"/>
              </a:xfrm>
              <a:custGeom>
                <a:avLst/>
                <a:gdLst>
                  <a:gd name="txL" fmla="*/ 0 w 135"/>
                  <a:gd name="txT" fmla="*/ 0 h 77"/>
                  <a:gd name="txR" fmla="*/ 135 w 135"/>
                  <a:gd name="txB" fmla="*/ 77 h 77"/>
                </a:gdLst>
                <a:ahLst/>
                <a:cxnLst>
                  <a:cxn ang="0">
                    <a:pos x="0" y="49"/>
                  </a:cxn>
                  <a:cxn ang="0">
                    <a:pos x="0" y="49"/>
                  </a:cxn>
                  <a:cxn ang="0">
                    <a:pos x="38" y="49"/>
                  </a:cxn>
                  <a:cxn ang="0">
                    <a:pos x="70" y="56"/>
                  </a:cxn>
                  <a:cxn ang="0">
                    <a:pos x="100" y="73"/>
                  </a:cxn>
                  <a:cxn ang="0">
                    <a:pos x="130" y="96"/>
                  </a:cxn>
                  <a:cxn ang="0">
                    <a:pos x="162" y="65"/>
                  </a:cxn>
                  <a:cxn ang="0">
                    <a:pos x="130" y="32"/>
                  </a:cxn>
                  <a:cxn ang="0">
                    <a:pos x="86" y="17"/>
                  </a:cxn>
                  <a:cxn ang="0">
                    <a:pos x="47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49"/>
                  </a:cxn>
                </a:cxnLst>
                <a:rect l="txL" t="txT" r="txR" b="txB"/>
                <a:pathLst>
                  <a:path w="135" h="77">
                    <a:moveTo>
                      <a:pt x="0" y="39"/>
                    </a:moveTo>
                    <a:lnTo>
                      <a:pt x="0" y="39"/>
                    </a:lnTo>
                    <a:lnTo>
                      <a:pt x="32" y="39"/>
                    </a:lnTo>
                    <a:lnTo>
                      <a:pt x="58" y="45"/>
                    </a:lnTo>
                    <a:lnTo>
                      <a:pt x="83" y="58"/>
                    </a:lnTo>
                    <a:lnTo>
                      <a:pt x="109" y="77"/>
                    </a:lnTo>
                    <a:lnTo>
                      <a:pt x="135" y="52"/>
                    </a:lnTo>
                    <a:lnTo>
                      <a:pt x="109" y="26"/>
                    </a:lnTo>
                    <a:lnTo>
                      <a:pt x="71" y="13"/>
                    </a:lnTo>
                    <a:lnTo>
                      <a:pt x="39" y="0"/>
                    </a:lnTo>
                    <a:lnTo>
                      <a:pt x="0" y="0"/>
                    </a:lnTo>
                    <a:lnTo>
                      <a:pt x="0" y="39"/>
                    </a:lnTo>
                    <a:close/>
                  </a:path>
                </a:pathLst>
              </a:custGeom>
              <a:solidFill>
                <a:srgbClr val="FF0000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9510" name="Freeform 115"/>
              <p:cNvSpPr/>
              <p:nvPr/>
            </p:nvSpPr>
            <p:spPr>
              <a:xfrm>
                <a:off x="2310" y="845"/>
                <a:ext cx="140" cy="79"/>
              </a:xfrm>
              <a:custGeom>
                <a:avLst/>
                <a:gdLst>
                  <a:gd name="txL" fmla="*/ 0 w 128"/>
                  <a:gd name="txT" fmla="*/ 0 h 71"/>
                  <a:gd name="txR" fmla="*/ 128 w 128"/>
                  <a:gd name="txB" fmla="*/ 71 h 71"/>
                </a:gdLst>
                <a:ahLst/>
                <a:cxnLst>
                  <a:cxn ang="0">
                    <a:pos x="24" y="88"/>
                  </a:cxn>
                  <a:cxn ang="0">
                    <a:pos x="54" y="72"/>
                  </a:cxn>
                  <a:cxn ang="0">
                    <a:pos x="85" y="56"/>
                  </a:cxn>
                  <a:cxn ang="0">
                    <a:pos x="115" y="48"/>
                  </a:cxn>
                  <a:cxn ang="0">
                    <a:pos x="153" y="48"/>
                  </a:cxn>
                  <a:cxn ang="0">
                    <a:pos x="153" y="0"/>
                  </a:cxn>
                  <a:cxn ang="0">
                    <a:pos x="107" y="0"/>
                  </a:cxn>
                  <a:cxn ang="0">
                    <a:pos x="69" y="16"/>
                  </a:cxn>
                  <a:cxn ang="0">
                    <a:pos x="31" y="32"/>
                  </a:cxn>
                  <a:cxn ang="0">
                    <a:pos x="0" y="56"/>
                  </a:cxn>
                  <a:cxn ang="0">
                    <a:pos x="24" y="88"/>
                  </a:cxn>
                </a:cxnLst>
                <a:rect l="txL" t="txT" r="txR" b="txB"/>
                <a:pathLst>
                  <a:path w="128" h="71">
                    <a:moveTo>
                      <a:pt x="20" y="71"/>
                    </a:moveTo>
                    <a:lnTo>
                      <a:pt x="45" y="58"/>
                    </a:lnTo>
                    <a:lnTo>
                      <a:pt x="71" y="45"/>
                    </a:lnTo>
                    <a:lnTo>
                      <a:pt x="96" y="39"/>
                    </a:lnTo>
                    <a:lnTo>
                      <a:pt x="128" y="39"/>
                    </a:lnTo>
                    <a:lnTo>
                      <a:pt x="128" y="0"/>
                    </a:lnTo>
                    <a:lnTo>
                      <a:pt x="90" y="0"/>
                    </a:lnTo>
                    <a:lnTo>
                      <a:pt x="58" y="13"/>
                    </a:lnTo>
                    <a:lnTo>
                      <a:pt x="26" y="26"/>
                    </a:lnTo>
                    <a:lnTo>
                      <a:pt x="0" y="45"/>
                    </a:lnTo>
                    <a:lnTo>
                      <a:pt x="20" y="71"/>
                    </a:lnTo>
                    <a:close/>
                  </a:path>
                </a:pathLst>
              </a:custGeom>
              <a:solidFill>
                <a:srgbClr val="FF0000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508" name="Freeform 116"/>
            <p:cNvSpPr/>
            <p:nvPr/>
          </p:nvSpPr>
          <p:spPr>
            <a:xfrm>
              <a:off x="1710" y="1207"/>
              <a:ext cx="119" cy="80"/>
            </a:xfrm>
            <a:custGeom>
              <a:avLst/>
              <a:gdLst>
                <a:gd name="txL" fmla="*/ 0 w 109"/>
                <a:gd name="txT" fmla="*/ 0 h 77"/>
                <a:gd name="txR" fmla="*/ 109 w 109"/>
                <a:gd name="txB" fmla="*/ 77 h 77"/>
              </a:gdLst>
              <a:ahLst/>
              <a:cxnLst>
                <a:cxn ang="0">
                  <a:pos x="0" y="34"/>
                </a:cxn>
                <a:cxn ang="0">
                  <a:pos x="115" y="83"/>
                </a:cxn>
                <a:cxn ang="0">
                  <a:pos x="130" y="49"/>
                </a:cxn>
                <a:cxn ang="0">
                  <a:pos x="15" y="0"/>
                </a:cxn>
                <a:cxn ang="0">
                  <a:pos x="0" y="34"/>
                </a:cxn>
              </a:cxnLst>
              <a:rect l="txL" t="txT" r="txR" b="txB"/>
              <a:pathLst>
                <a:path w="109" h="77">
                  <a:moveTo>
                    <a:pt x="0" y="32"/>
                  </a:moveTo>
                  <a:lnTo>
                    <a:pt x="96" y="77"/>
                  </a:lnTo>
                  <a:lnTo>
                    <a:pt x="109" y="45"/>
                  </a:lnTo>
                  <a:lnTo>
                    <a:pt x="13" y="0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42453" name="Rectangle 117"/>
          <p:cNvSpPr/>
          <p:nvPr/>
        </p:nvSpPr>
        <p:spPr>
          <a:xfrm>
            <a:off x="1079500" y="2862263"/>
            <a:ext cx="1905000" cy="149225"/>
          </a:xfrm>
          <a:prstGeom prst="rect">
            <a:avLst/>
          </a:prstGeom>
          <a:solidFill>
            <a:srgbClr val="CC9900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42454" name="Oval 118"/>
          <p:cNvSpPr/>
          <p:nvPr/>
        </p:nvSpPr>
        <p:spPr>
          <a:xfrm>
            <a:off x="2286000" y="3883025"/>
            <a:ext cx="447675" cy="385763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42455" name="Line 119"/>
          <p:cNvSpPr/>
          <p:nvPr/>
        </p:nvSpPr>
        <p:spPr>
          <a:xfrm>
            <a:off x="1547813" y="4067175"/>
            <a:ext cx="1008062" cy="0"/>
          </a:xfrm>
          <a:prstGeom prst="line">
            <a:avLst/>
          </a:prstGeom>
          <a:ln w="38100" cap="flat" cmpd="sng">
            <a:solidFill>
              <a:srgbClr val="008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2456" name="Line 120"/>
          <p:cNvSpPr/>
          <p:nvPr/>
        </p:nvSpPr>
        <p:spPr>
          <a:xfrm>
            <a:off x="1476375" y="3011488"/>
            <a:ext cx="1079500" cy="0"/>
          </a:xfrm>
          <a:prstGeom prst="line">
            <a:avLst/>
          </a:prstGeom>
          <a:ln w="38100" cap="flat" cmpd="sng">
            <a:solidFill>
              <a:srgbClr val="9900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2457" name="Text Box 121"/>
          <p:cNvSpPr txBox="1"/>
          <p:nvPr/>
        </p:nvSpPr>
        <p:spPr>
          <a:xfrm>
            <a:off x="4067175" y="4140200"/>
            <a:ext cx="45370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sym typeface="Monotype Sorts" pitchFamily="2" charset="2"/>
              </a:rPr>
              <a:t>c.  </a:t>
            </a:r>
            <a:r>
              <a:rPr lang="zh-CN" altLang="en-US" sz="2800" b="1" dirty="0">
                <a:solidFill>
                  <a:srgbClr val="333399"/>
                </a:solidFill>
                <a:latin typeface="Times New Roman" panose="02020603050405020304" pitchFamily="18" charset="0"/>
                <a:sym typeface="Monotype Sorts" pitchFamily="2" charset="2"/>
              </a:rPr>
              <a:t>两块板的接触面画一条线</a:t>
            </a:r>
            <a:endParaRPr lang="zh-CN" altLang="en-US" sz="2800" b="1" dirty="0">
              <a:solidFill>
                <a:srgbClr val="333399"/>
              </a:solidFill>
              <a:latin typeface="Times New Roman" panose="02020603050405020304" pitchFamily="18" charset="0"/>
              <a:sym typeface="Monotype Sorts" pitchFamily="2" charset="2"/>
            </a:endParaRPr>
          </a:p>
        </p:txBody>
      </p:sp>
      <p:sp>
        <p:nvSpPr>
          <p:cNvPr id="142458" name="Line 122"/>
          <p:cNvSpPr/>
          <p:nvPr/>
        </p:nvSpPr>
        <p:spPr>
          <a:xfrm>
            <a:off x="755650" y="4067175"/>
            <a:ext cx="2447925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1" name="Group 123"/>
          <p:cNvGrpSpPr/>
          <p:nvPr/>
        </p:nvGrpSpPr>
        <p:grpSpPr>
          <a:xfrm>
            <a:off x="1581150" y="2843213"/>
            <a:ext cx="889000" cy="149225"/>
            <a:chOff x="996" y="1661"/>
            <a:chExt cx="560" cy="94"/>
          </a:xfrm>
        </p:grpSpPr>
        <p:sp>
          <p:nvSpPr>
            <p:cNvPr id="19494" name="Line 124"/>
            <p:cNvSpPr/>
            <p:nvPr/>
          </p:nvSpPr>
          <p:spPr>
            <a:xfrm>
              <a:off x="996" y="1661"/>
              <a:ext cx="0" cy="9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5" name="Line 125"/>
            <p:cNvSpPr/>
            <p:nvPr/>
          </p:nvSpPr>
          <p:spPr>
            <a:xfrm>
              <a:off x="1035" y="1661"/>
              <a:ext cx="0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6" name="Line 126"/>
            <p:cNvSpPr/>
            <p:nvPr/>
          </p:nvSpPr>
          <p:spPr>
            <a:xfrm>
              <a:off x="1525" y="1664"/>
              <a:ext cx="0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7" name="Line 127"/>
            <p:cNvSpPr/>
            <p:nvPr/>
          </p:nvSpPr>
          <p:spPr>
            <a:xfrm>
              <a:off x="1556" y="1661"/>
              <a:ext cx="0" cy="9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42464" name="Line 128"/>
          <p:cNvSpPr/>
          <p:nvPr/>
        </p:nvSpPr>
        <p:spPr>
          <a:xfrm>
            <a:off x="1638300" y="2262188"/>
            <a:ext cx="0" cy="504825"/>
          </a:xfrm>
          <a:prstGeom prst="line">
            <a:avLst/>
          </a:prstGeom>
          <a:ln w="158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2465" name="Line 129"/>
          <p:cNvSpPr/>
          <p:nvPr/>
        </p:nvSpPr>
        <p:spPr>
          <a:xfrm>
            <a:off x="2420938" y="2257425"/>
            <a:ext cx="0" cy="504825"/>
          </a:xfrm>
          <a:prstGeom prst="line">
            <a:avLst/>
          </a:prstGeom>
          <a:ln w="158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2" name="Group 130"/>
          <p:cNvGrpSpPr/>
          <p:nvPr/>
        </p:nvGrpSpPr>
        <p:grpSpPr>
          <a:xfrm>
            <a:off x="1509713" y="3438525"/>
            <a:ext cx="1017587" cy="1323975"/>
            <a:chOff x="951" y="2036"/>
            <a:chExt cx="641" cy="834"/>
          </a:xfrm>
        </p:grpSpPr>
        <p:grpSp>
          <p:nvGrpSpPr>
            <p:cNvPr id="19488" name="Group 131"/>
            <p:cNvGrpSpPr/>
            <p:nvPr/>
          </p:nvGrpSpPr>
          <p:grpSpPr>
            <a:xfrm>
              <a:off x="951" y="2036"/>
              <a:ext cx="635" cy="154"/>
              <a:chOff x="951" y="2036"/>
              <a:chExt cx="635" cy="154"/>
            </a:xfrm>
          </p:grpSpPr>
          <p:sp>
            <p:nvSpPr>
              <p:cNvPr id="19492" name="Line 132"/>
              <p:cNvSpPr/>
              <p:nvPr/>
            </p:nvSpPr>
            <p:spPr>
              <a:xfrm>
                <a:off x="951" y="2160"/>
                <a:ext cx="635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triangle" w="sm" len="lg"/>
                <a:tailEnd type="triangle" w="sm" len="lg"/>
              </a:ln>
            </p:spPr>
          </p:sp>
          <p:sp>
            <p:nvSpPr>
              <p:cNvPr id="19493" name="Text Box 133"/>
              <p:cNvSpPr txBox="1"/>
              <p:nvPr/>
            </p:nvSpPr>
            <p:spPr>
              <a:xfrm>
                <a:off x="1156" y="2036"/>
                <a:ext cx="318" cy="1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000" dirty="0">
                    <a:latin typeface="Arial" panose="020B0604020202020204" pitchFamily="34" charset="0"/>
                  </a:rPr>
                  <a:t>  </a:t>
                </a:r>
                <a:r>
                  <a:rPr lang="en-US" altLang="zh-CN" sz="1000" dirty="0">
                    <a:solidFill>
                      <a:srgbClr val="FF3399"/>
                    </a:solidFill>
                    <a:latin typeface="Arial" panose="020B0604020202020204" pitchFamily="34" charset="0"/>
                  </a:rPr>
                  <a:t>1.1d</a:t>
                </a:r>
                <a:endParaRPr lang="en-US" altLang="zh-CN" sz="1000" dirty="0">
                  <a:solidFill>
                    <a:srgbClr val="FF3399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9489" name="Group 134"/>
            <p:cNvGrpSpPr/>
            <p:nvPr/>
          </p:nvGrpSpPr>
          <p:grpSpPr>
            <a:xfrm>
              <a:off x="957" y="2716"/>
              <a:ext cx="635" cy="154"/>
              <a:chOff x="951" y="2036"/>
              <a:chExt cx="635" cy="154"/>
            </a:xfrm>
          </p:grpSpPr>
          <p:sp>
            <p:nvSpPr>
              <p:cNvPr id="19490" name="Line 135"/>
              <p:cNvSpPr/>
              <p:nvPr/>
            </p:nvSpPr>
            <p:spPr>
              <a:xfrm>
                <a:off x="951" y="2160"/>
                <a:ext cx="635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triangle" w="sm" len="lg"/>
                <a:tailEnd type="triangle" w="sm" len="lg"/>
              </a:ln>
            </p:spPr>
          </p:sp>
          <p:sp>
            <p:nvSpPr>
              <p:cNvPr id="19491" name="Text Box 136"/>
              <p:cNvSpPr txBox="1"/>
              <p:nvPr/>
            </p:nvSpPr>
            <p:spPr>
              <a:xfrm>
                <a:off x="1156" y="2036"/>
                <a:ext cx="318" cy="1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000" dirty="0">
                    <a:latin typeface="Arial" panose="020B0604020202020204" pitchFamily="34" charset="0"/>
                  </a:rPr>
                  <a:t>  </a:t>
                </a:r>
                <a:r>
                  <a:rPr lang="en-US" altLang="zh-CN" sz="1000" dirty="0">
                    <a:solidFill>
                      <a:srgbClr val="FF3399"/>
                    </a:solidFill>
                    <a:latin typeface="Arial" panose="020B0604020202020204" pitchFamily="34" charset="0"/>
                  </a:rPr>
                  <a:t>1.1d</a:t>
                </a:r>
                <a:endParaRPr lang="en-US" altLang="zh-CN" sz="1000" dirty="0">
                  <a:solidFill>
                    <a:srgbClr val="FF3399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42473" name="Line 137"/>
          <p:cNvSpPr/>
          <p:nvPr/>
        </p:nvSpPr>
        <p:spPr>
          <a:xfrm flipH="1">
            <a:off x="2484438" y="4067175"/>
            <a:ext cx="719137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142475" name="Picture 139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9639" t="22343" r="28819" b="13933"/>
          <a:stretch>
            <a:fillRect/>
          </a:stretch>
        </p:blipFill>
        <p:spPr>
          <a:xfrm>
            <a:off x="6948488" y="908050"/>
            <a:ext cx="1903412" cy="234156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43051" name="组合 343050"/>
          <p:cNvGrpSpPr/>
          <p:nvPr/>
        </p:nvGrpSpPr>
        <p:grpSpPr>
          <a:xfrm>
            <a:off x="333375" y="81216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75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75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75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vertical)">
                                      <p:cBhvr>
                                        <p:cTn id="46" dur="5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75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" dur="3000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3000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7" dur="3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3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0"/>
                                        <p:tgtEl>
                                          <p:spTgt spid="142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0" fill="hold"/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0" fill="hold"/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5" dur="500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89" grpId="0" bldLvl="0" animBg="1"/>
      <p:bldP spid="142390" grpId="0"/>
      <p:bldP spid="142391" grpId="0"/>
      <p:bldP spid="142392" grpId="0"/>
      <p:bldP spid="142393" grpId="0"/>
      <p:bldP spid="142453" grpId="0" bldLvl="0" animBg="1"/>
      <p:bldP spid="142454" grpId="0" bldLvl="0" animBg="1"/>
      <p:bldP spid="14245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7" name="Rectangle 7"/>
          <p:cNvSpPr/>
          <p:nvPr/>
        </p:nvSpPr>
        <p:spPr>
          <a:xfrm>
            <a:off x="2324100" y="39560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2530" name="Object 8"/>
          <p:cNvGraphicFramePr/>
          <p:nvPr/>
        </p:nvGraphicFramePr>
        <p:xfrm>
          <a:off x="4567238" y="3424238"/>
          <a:ext cx="9525" cy="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9525" imgH="9525" progId="CorelDRAW.Graphic.9">
                  <p:embed/>
                </p:oleObj>
              </mc:Choice>
              <mc:Fallback>
                <p:oleObj name="" r:id="rId1" imgW="9525" imgH="9525" progId="CorelDRAW.Graphic.9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67238" y="3424238"/>
                        <a:ext cx="9525" cy="9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9"/>
          <p:cNvGraphicFramePr/>
          <p:nvPr/>
        </p:nvGraphicFramePr>
        <p:xfrm>
          <a:off x="4567238" y="3424238"/>
          <a:ext cx="9525" cy="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9525" imgH="9525" progId="CorelDRAW.Graphic.9">
                  <p:embed/>
                </p:oleObj>
              </mc:Choice>
              <mc:Fallback>
                <p:oleObj name="" r:id="rId3" imgW="9525" imgH="9525" progId="CorelDRAW.Graphic.9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67238" y="3424238"/>
                        <a:ext cx="9525" cy="9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10"/>
          <p:cNvGraphicFramePr/>
          <p:nvPr/>
        </p:nvGraphicFramePr>
        <p:xfrm>
          <a:off x="4567238" y="3424238"/>
          <a:ext cx="9525" cy="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9525" imgH="9525" progId="CorelDRAW.Graphic.9">
                  <p:embed/>
                </p:oleObj>
              </mc:Choice>
              <mc:Fallback>
                <p:oleObj name="" r:id="rId5" imgW="9525" imgH="9525" progId="CorelDRAW.Graphic.9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67238" y="3424238"/>
                        <a:ext cx="9525" cy="9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1"/>
          <p:cNvGrpSpPr/>
          <p:nvPr/>
        </p:nvGrpSpPr>
        <p:grpSpPr>
          <a:xfrm>
            <a:off x="1500188" y="2262188"/>
            <a:ext cx="2989262" cy="660400"/>
            <a:chOff x="945" y="1425"/>
            <a:chExt cx="1883" cy="416"/>
          </a:xfrm>
        </p:grpSpPr>
        <p:sp>
          <p:nvSpPr>
            <p:cNvPr id="22690" name="Line 12"/>
            <p:cNvSpPr/>
            <p:nvPr/>
          </p:nvSpPr>
          <p:spPr>
            <a:xfrm>
              <a:off x="1563" y="1435"/>
              <a:ext cx="0" cy="405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91" name="Line 13"/>
            <p:cNvSpPr/>
            <p:nvPr/>
          </p:nvSpPr>
          <p:spPr>
            <a:xfrm>
              <a:off x="2136" y="1435"/>
              <a:ext cx="0" cy="406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2692" name="Group 14"/>
            <p:cNvGrpSpPr/>
            <p:nvPr/>
          </p:nvGrpSpPr>
          <p:grpSpPr>
            <a:xfrm>
              <a:off x="945" y="1425"/>
              <a:ext cx="1883" cy="415"/>
              <a:chOff x="945" y="1425"/>
              <a:chExt cx="1883" cy="415"/>
            </a:xfrm>
          </p:grpSpPr>
          <p:sp>
            <p:nvSpPr>
              <p:cNvPr id="22693" name="Line 15"/>
              <p:cNvSpPr/>
              <p:nvPr/>
            </p:nvSpPr>
            <p:spPr>
              <a:xfrm>
                <a:off x="974" y="1425"/>
                <a:ext cx="1854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694" name="Line 16"/>
              <p:cNvSpPr/>
              <p:nvPr/>
            </p:nvSpPr>
            <p:spPr>
              <a:xfrm flipV="1">
                <a:off x="2136" y="1436"/>
                <a:ext cx="118" cy="118"/>
              </a:xfrm>
              <a:prstGeom prst="line">
                <a:avLst/>
              </a:prstGeom>
              <a:ln w="9525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695" name="Line 17"/>
              <p:cNvSpPr/>
              <p:nvPr/>
            </p:nvSpPr>
            <p:spPr>
              <a:xfrm flipV="1">
                <a:off x="2145" y="1429"/>
                <a:ext cx="397" cy="397"/>
              </a:xfrm>
              <a:prstGeom prst="line">
                <a:avLst/>
              </a:prstGeom>
              <a:ln w="9525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696" name="Line 18"/>
              <p:cNvSpPr/>
              <p:nvPr/>
            </p:nvSpPr>
            <p:spPr>
              <a:xfrm flipV="1">
                <a:off x="2145" y="1436"/>
                <a:ext cx="254" cy="254"/>
              </a:xfrm>
              <a:prstGeom prst="line">
                <a:avLst/>
              </a:prstGeom>
              <a:ln w="9525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697" name="Line 19"/>
              <p:cNvSpPr/>
              <p:nvPr/>
            </p:nvSpPr>
            <p:spPr>
              <a:xfrm flipV="1">
                <a:off x="2281" y="1435"/>
                <a:ext cx="391" cy="391"/>
              </a:xfrm>
              <a:prstGeom prst="line">
                <a:avLst/>
              </a:prstGeom>
              <a:ln w="9525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698" name="Line 20"/>
              <p:cNvSpPr/>
              <p:nvPr/>
            </p:nvSpPr>
            <p:spPr>
              <a:xfrm flipV="1">
                <a:off x="2418" y="1436"/>
                <a:ext cx="390" cy="390"/>
              </a:xfrm>
              <a:prstGeom prst="line">
                <a:avLst/>
              </a:prstGeom>
              <a:ln w="9525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699" name="Line 21"/>
              <p:cNvSpPr/>
              <p:nvPr/>
            </p:nvSpPr>
            <p:spPr>
              <a:xfrm flipV="1">
                <a:off x="2554" y="1612"/>
                <a:ext cx="214" cy="214"/>
              </a:xfrm>
              <a:prstGeom prst="line">
                <a:avLst/>
              </a:prstGeom>
              <a:ln w="9525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700" name="Line 22"/>
              <p:cNvSpPr/>
              <p:nvPr/>
            </p:nvSpPr>
            <p:spPr>
              <a:xfrm flipV="1">
                <a:off x="2700" y="1744"/>
                <a:ext cx="73" cy="73"/>
              </a:xfrm>
              <a:prstGeom prst="line">
                <a:avLst/>
              </a:prstGeom>
              <a:ln w="9525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701" name="Line 23"/>
              <p:cNvSpPr/>
              <p:nvPr/>
            </p:nvSpPr>
            <p:spPr>
              <a:xfrm flipV="1">
                <a:off x="1481" y="1745"/>
                <a:ext cx="72" cy="72"/>
              </a:xfrm>
              <a:prstGeom prst="line">
                <a:avLst/>
              </a:prstGeom>
              <a:ln w="9525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702" name="Line 24"/>
              <p:cNvSpPr/>
              <p:nvPr/>
            </p:nvSpPr>
            <p:spPr>
              <a:xfrm flipV="1">
                <a:off x="1208" y="1481"/>
                <a:ext cx="345" cy="345"/>
              </a:xfrm>
              <a:prstGeom prst="line">
                <a:avLst/>
              </a:prstGeom>
              <a:ln w="9525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703" name="Line 25"/>
              <p:cNvSpPr/>
              <p:nvPr/>
            </p:nvSpPr>
            <p:spPr>
              <a:xfrm flipV="1">
                <a:off x="1354" y="1617"/>
                <a:ext cx="209" cy="209"/>
              </a:xfrm>
              <a:prstGeom prst="line">
                <a:avLst/>
              </a:prstGeom>
              <a:ln w="9525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704" name="Line 26"/>
              <p:cNvSpPr/>
              <p:nvPr/>
            </p:nvSpPr>
            <p:spPr>
              <a:xfrm flipV="1">
                <a:off x="1063" y="1425"/>
                <a:ext cx="401" cy="401"/>
              </a:xfrm>
              <a:prstGeom prst="line">
                <a:avLst/>
              </a:prstGeom>
              <a:ln w="9525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705" name="Line 27"/>
              <p:cNvSpPr/>
              <p:nvPr/>
            </p:nvSpPr>
            <p:spPr>
              <a:xfrm flipV="1">
                <a:off x="954" y="1428"/>
                <a:ext cx="370" cy="370"/>
              </a:xfrm>
              <a:prstGeom prst="line">
                <a:avLst/>
              </a:prstGeom>
              <a:ln w="9525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706" name="Line 28"/>
              <p:cNvSpPr/>
              <p:nvPr/>
            </p:nvSpPr>
            <p:spPr>
              <a:xfrm flipV="1">
                <a:off x="945" y="1435"/>
                <a:ext cx="228" cy="228"/>
              </a:xfrm>
              <a:prstGeom prst="line">
                <a:avLst/>
              </a:prstGeom>
              <a:ln w="9525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707" name="Line 29"/>
              <p:cNvSpPr/>
              <p:nvPr/>
            </p:nvSpPr>
            <p:spPr>
              <a:xfrm flipV="1">
                <a:off x="945" y="1426"/>
                <a:ext cx="91" cy="91"/>
              </a:xfrm>
              <a:prstGeom prst="line">
                <a:avLst/>
              </a:prstGeom>
              <a:ln w="9525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708" name="Line 30"/>
              <p:cNvSpPr/>
              <p:nvPr/>
            </p:nvSpPr>
            <p:spPr>
              <a:xfrm>
                <a:off x="960" y="1840"/>
                <a:ext cx="1811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22539" name="Rectangle 32"/>
          <p:cNvSpPr/>
          <p:nvPr/>
        </p:nvSpPr>
        <p:spPr>
          <a:xfrm>
            <a:off x="838200" y="228600"/>
            <a:ext cx="6750050" cy="709613"/>
          </a:xfrm>
          <a:prstGeom prst="rect">
            <a:avLst/>
          </a:prstGeom>
          <a:noFill/>
          <a:ln w="76200">
            <a:noFill/>
          </a:ln>
        </p:spPr>
        <p:txBody>
          <a:bodyPr/>
          <a:lstStyle/>
          <a:p>
            <a:pPr eaLnBrk="0" hangingPunct="0"/>
            <a:endParaRPr lang="zh-CN" altLang="en-US" sz="3600" dirty="0">
              <a:latin typeface="Arial" panose="020B0604020202020204" pitchFamily="34" charset="0"/>
            </a:endParaRPr>
          </a:p>
        </p:txBody>
      </p:sp>
      <p:sp>
        <p:nvSpPr>
          <p:cNvPr id="145441" name="Line 33"/>
          <p:cNvSpPr/>
          <p:nvPr/>
        </p:nvSpPr>
        <p:spPr>
          <a:xfrm>
            <a:off x="2935288" y="2041525"/>
            <a:ext cx="0" cy="2784475"/>
          </a:xfrm>
          <a:prstGeom prst="line">
            <a:avLst/>
          </a:prstGeom>
          <a:ln w="12700" cap="flat" cmpd="sng">
            <a:solidFill>
              <a:srgbClr val="000000"/>
            </a:solidFill>
            <a:prstDash val="lgDashDot"/>
            <a:headEnd type="none" w="med" len="med"/>
            <a:tailEnd type="none" w="med" len="med"/>
          </a:ln>
        </p:spPr>
      </p:sp>
      <p:grpSp>
        <p:nvGrpSpPr>
          <p:cNvPr id="6" name="Group 34"/>
          <p:cNvGrpSpPr/>
          <p:nvPr/>
        </p:nvGrpSpPr>
        <p:grpSpPr>
          <a:xfrm>
            <a:off x="865188" y="1246188"/>
            <a:ext cx="1820862" cy="1708150"/>
            <a:chOff x="545" y="785"/>
            <a:chExt cx="1147" cy="1076"/>
          </a:xfrm>
        </p:grpSpPr>
        <p:sp>
          <p:nvSpPr>
            <p:cNvPr id="22686" name="Line 35"/>
            <p:cNvSpPr/>
            <p:nvPr/>
          </p:nvSpPr>
          <p:spPr>
            <a:xfrm flipH="1">
              <a:off x="726" y="1840"/>
              <a:ext cx="277" cy="0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87" name="Line 36"/>
            <p:cNvSpPr/>
            <p:nvPr/>
          </p:nvSpPr>
          <p:spPr>
            <a:xfrm flipH="1">
              <a:off x="726" y="794"/>
              <a:ext cx="966" cy="0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88" name="Line 37"/>
            <p:cNvSpPr/>
            <p:nvPr/>
          </p:nvSpPr>
          <p:spPr>
            <a:xfrm>
              <a:off x="785" y="785"/>
              <a:ext cx="0" cy="1076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triangle" w="sm" len="lg"/>
              <a:tailEnd type="triangle" w="sm" len="lg"/>
            </a:ln>
          </p:spPr>
        </p:sp>
        <p:sp>
          <p:nvSpPr>
            <p:cNvPr id="22689" name="Text Box 38"/>
            <p:cNvSpPr txBox="1"/>
            <p:nvPr/>
          </p:nvSpPr>
          <p:spPr>
            <a:xfrm rot="-5400000">
              <a:off x="554" y="1145"/>
              <a:ext cx="27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en-US" altLang="zh-CN" sz="24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L</a:t>
              </a:r>
              <a:endPara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45447" name="Text Box 39"/>
          <p:cNvSpPr txBox="1"/>
          <p:nvPr/>
        </p:nvSpPr>
        <p:spPr>
          <a:xfrm>
            <a:off x="1168400" y="5734050"/>
            <a:ext cx="4660900" cy="598488"/>
          </a:xfrm>
          <a:prstGeom prst="rect">
            <a:avLst/>
          </a:prstGeom>
          <a:gradFill rotWithShape="0">
            <a:gsLst>
              <a:gs pos="0">
                <a:srgbClr val="00CCFF"/>
              </a:gs>
              <a:gs pos="50000">
                <a:srgbClr val="F9FEFF"/>
              </a:gs>
              <a:gs pos="100000">
                <a:srgbClr val="00CCFF"/>
              </a:gs>
            </a:gsLst>
            <a:lin ang="5400000" scaled="1"/>
            <a:tileRect/>
          </a:gradFill>
          <a:ln w="1905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pPr algn="ctr" eaLnBrk="0" hangingPunct="0"/>
            <a:r>
              <a:rPr lang="en-US" altLang="zh-CN" sz="3200" b="1" dirty="0">
                <a:latin typeface="Times New Roman" panose="02020603050405020304" pitchFamily="18" charset="0"/>
              </a:rPr>
              <a:t>L</a:t>
            </a:r>
            <a:r>
              <a:rPr lang="zh-CN" altLang="en-US" sz="3200" b="1" baseline="-25000" dirty="0">
                <a:latin typeface="Times New Roman" panose="02020603050405020304" pitchFamily="18" charset="0"/>
              </a:rPr>
              <a:t>计</a:t>
            </a:r>
            <a:r>
              <a:rPr lang="en-US" altLang="zh-CN" sz="3200" b="1" dirty="0">
                <a:latin typeface="Times New Roman" panose="02020603050405020304" pitchFamily="18" charset="0"/>
              </a:rPr>
              <a:t>= </a:t>
            </a:r>
            <a:r>
              <a:rPr lang="en-US" altLang="zh-CN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3200" b="1" dirty="0">
                <a:latin typeface="Times New Roman" panose="02020603050405020304" pitchFamily="18" charset="0"/>
              </a:rPr>
              <a:t> +0.25d+0.8d+0.3d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45448" name="AutoShape 40"/>
          <p:cNvSpPr>
            <a:spLocks noChangeArrowheads="1"/>
          </p:cNvSpPr>
          <p:nvPr/>
        </p:nvSpPr>
        <p:spPr bwMode="auto">
          <a:xfrm>
            <a:off x="361950" y="5689600"/>
            <a:ext cx="600075" cy="590550"/>
          </a:xfrm>
          <a:prstGeom prst="star5">
            <a:avLst/>
          </a:prstGeom>
          <a:gradFill rotWithShape="0">
            <a:gsLst>
              <a:gs pos="0">
                <a:srgbClr val="FF6600"/>
              </a:gs>
              <a:gs pos="100000">
                <a:srgbClr val="FF6600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44" name="Line 41"/>
          <p:cNvSpPr/>
          <p:nvPr/>
        </p:nvSpPr>
        <p:spPr>
          <a:xfrm>
            <a:off x="1893888" y="2933700"/>
            <a:ext cx="725487" cy="71120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45" name="Line 42"/>
          <p:cNvSpPr/>
          <p:nvPr/>
        </p:nvSpPr>
        <p:spPr>
          <a:xfrm>
            <a:off x="2127250" y="2930525"/>
            <a:ext cx="474663" cy="466725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46" name="Line 43"/>
          <p:cNvSpPr/>
          <p:nvPr/>
        </p:nvSpPr>
        <p:spPr>
          <a:xfrm>
            <a:off x="2338388" y="2922588"/>
            <a:ext cx="250825" cy="246062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47" name="Line 44"/>
          <p:cNvSpPr/>
          <p:nvPr/>
        </p:nvSpPr>
        <p:spPr>
          <a:xfrm>
            <a:off x="3252788" y="3227388"/>
            <a:ext cx="1189037" cy="1166812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48" name="Line 45"/>
          <p:cNvSpPr/>
          <p:nvPr/>
        </p:nvSpPr>
        <p:spPr>
          <a:xfrm>
            <a:off x="3265488" y="2995613"/>
            <a:ext cx="1176337" cy="1154112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49" name="Line 46"/>
          <p:cNvSpPr/>
          <p:nvPr/>
        </p:nvSpPr>
        <p:spPr>
          <a:xfrm>
            <a:off x="3249613" y="3457575"/>
            <a:ext cx="1162050" cy="1139825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50" name="Line 47"/>
          <p:cNvSpPr/>
          <p:nvPr/>
        </p:nvSpPr>
        <p:spPr>
          <a:xfrm>
            <a:off x="3265488" y="2936875"/>
            <a:ext cx="0" cy="1271588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51" name="Line 48"/>
          <p:cNvSpPr/>
          <p:nvPr/>
        </p:nvSpPr>
        <p:spPr>
          <a:xfrm>
            <a:off x="2603500" y="2935288"/>
            <a:ext cx="0" cy="1287462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52" name="Line 49"/>
          <p:cNvSpPr/>
          <p:nvPr/>
        </p:nvSpPr>
        <p:spPr>
          <a:xfrm>
            <a:off x="1546225" y="5114925"/>
            <a:ext cx="292735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53" name="Line 50"/>
          <p:cNvSpPr/>
          <p:nvPr/>
        </p:nvSpPr>
        <p:spPr>
          <a:xfrm>
            <a:off x="1647825" y="2922588"/>
            <a:ext cx="955675" cy="938212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54" name="Line 51"/>
          <p:cNvSpPr/>
          <p:nvPr/>
        </p:nvSpPr>
        <p:spPr>
          <a:xfrm>
            <a:off x="1528763" y="3082925"/>
            <a:ext cx="1060450" cy="1039813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55" name="Line 52"/>
          <p:cNvSpPr/>
          <p:nvPr/>
        </p:nvSpPr>
        <p:spPr>
          <a:xfrm>
            <a:off x="3435350" y="2930525"/>
            <a:ext cx="1022350" cy="1001713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56" name="Line 53"/>
          <p:cNvSpPr/>
          <p:nvPr/>
        </p:nvSpPr>
        <p:spPr>
          <a:xfrm>
            <a:off x="3683000" y="2943225"/>
            <a:ext cx="774700" cy="758825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57" name="Line 54"/>
          <p:cNvSpPr/>
          <p:nvPr/>
        </p:nvSpPr>
        <p:spPr>
          <a:xfrm>
            <a:off x="3881438" y="2919413"/>
            <a:ext cx="574675" cy="563562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58" name="Line 55"/>
          <p:cNvSpPr/>
          <p:nvPr/>
        </p:nvSpPr>
        <p:spPr>
          <a:xfrm>
            <a:off x="4089400" y="2922588"/>
            <a:ext cx="396875" cy="388937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59" name="Line 56"/>
          <p:cNvSpPr/>
          <p:nvPr/>
        </p:nvSpPr>
        <p:spPr>
          <a:xfrm>
            <a:off x="4310063" y="2922588"/>
            <a:ext cx="161925" cy="15875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60" name="Line 57"/>
          <p:cNvSpPr/>
          <p:nvPr/>
        </p:nvSpPr>
        <p:spPr>
          <a:xfrm>
            <a:off x="2544763" y="2936875"/>
            <a:ext cx="0" cy="1263650"/>
          </a:xfrm>
          <a:prstGeom prst="line">
            <a:avLst/>
          </a:prstGeom>
          <a:ln w="127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61" name="Line 58"/>
          <p:cNvSpPr/>
          <p:nvPr/>
        </p:nvSpPr>
        <p:spPr>
          <a:xfrm>
            <a:off x="3324225" y="2925763"/>
            <a:ext cx="0" cy="1296987"/>
          </a:xfrm>
          <a:prstGeom prst="line">
            <a:avLst/>
          </a:prstGeom>
          <a:ln w="127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62" name="Line 59"/>
          <p:cNvSpPr/>
          <p:nvPr/>
        </p:nvSpPr>
        <p:spPr>
          <a:xfrm>
            <a:off x="2541588" y="4208463"/>
            <a:ext cx="782637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63" name="Line 60"/>
          <p:cNvSpPr/>
          <p:nvPr/>
        </p:nvSpPr>
        <p:spPr>
          <a:xfrm flipH="1">
            <a:off x="2932113" y="4613275"/>
            <a:ext cx="342900" cy="163513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64" name="Line 61"/>
          <p:cNvSpPr/>
          <p:nvPr/>
        </p:nvSpPr>
        <p:spPr>
          <a:xfrm>
            <a:off x="2603500" y="4618038"/>
            <a:ext cx="342900" cy="174625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65" name="Line 62"/>
          <p:cNvSpPr/>
          <p:nvPr/>
        </p:nvSpPr>
        <p:spPr>
          <a:xfrm>
            <a:off x="3279775" y="3717925"/>
            <a:ext cx="1147763" cy="1150938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66" name="Line 63"/>
          <p:cNvSpPr/>
          <p:nvPr/>
        </p:nvSpPr>
        <p:spPr>
          <a:xfrm>
            <a:off x="3271838" y="3954463"/>
            <a:ext cx="1155700" cy="113030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67" name="Line 64"/>
          <p:cNvSpPr/>
          <p:nvPr/>
        </p:nvSpPr>
        <p:spPr>
          <a:xfrm>
            <a:off x="3251200" y="4178300"/>
            <a:ext cx="889000" cy="906463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68" name="Line 65"/>
          <p:cNvSpPr/>
          <p:nvPr/>
        </p:nvSpPr>
        <p:spPr>
          <a:xfrm>
            <a:off x="3260725" y="4427538"/>
            <a:ext cx="663575" cy="657225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69" name="Line 66"/>
          <p:cNvSpPr/>
          <p:nvPr/>
        </p:nvSpPr>
        <p:spPr>
          <a:xfrm>
            <a:off x="1549400" y="3351213"/>
            <a:ext cx="1025525" cy="1023937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70" name="Line 67"/>
          <p:cNvSpPr/>
          <p:nvPr/>
        </p:nvSpPr>
        <p:spPr>
          <a:xfrm>
            <a:off x="1514475" y="3600450"/>
            <a:ext cx="1544638" cy="1484313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71" name="Line 68"/>
          <p:cNvSpPr/>
          <p:nvPr/>
        </p:nvSpPr>
        <p:spPr>
          <a:xfrm>
            <a:off x="1500188" y="3862388"/>
            <a:ext cx="1271587" cy="1222375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72" name="Line 69"/>
          <p:cNvSpPr/>
          <p:nvPr/>
        </p:nvSpPr>
        <p:spPr>
          <a:xfrm>
            <a:off x="1500188" y="4137025"/>
            <a:ext cx="984250" cy="947738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73" name="Line 70"/>
          <p:cNvSpPr/>
          <p:nvPr/>
        </p:nvSpPr>
        <p:spPr>
          <a:xfrm>
            <a:off x="1544638" y="4452938"/>
            <a:ext cx="650875" cy="631825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74" name="Line 71"/>
          <p:cNvSpPr/>
          <p:nvPr/>
        </p:nvSpPr>
        <p:spPr>
          <a:xfrm>
            <a:off x="3216275" y="4637088"/>
            <a:ext cx="492125" cy="447675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75" name="Line 72"/>
          <p:cNvSpPr/>
          <p:nvPr/>
        </p:nvSpPr>
        <p:spPr>
          <a:xfrm>
            <a:off x="1497013" y="2930525"/>
            <a:ext cx="2941637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5481" name="Text Box 73" descr="对角砖形"/>
          <p:cNvSpPr txBox="1"/>
          <p:nvPr/>
        </p:nvSpPr>
        <p:spPr>
          <a:xfrm>
            <a:off x="5972175" y="4343400"/>
            <a:ext cx="3033713" cy="1554163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eaLnBrk="0" hangingPunct="0"/>
            <a:r>
              <a:rPr lang="zh-CN" altLang="en-US" sz="3200" dirty="0">
                <a:solidFill>
                  <a:schemeClr val="accent2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bm</a:t>
            </a:r>
            <a:r>
              <a:rPr lang="zh-CN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同螺钉,</a:t>
            </a:r>
            <a:endParaRPr lang="zh-CN" altLang="zh-CN" sz="32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0" hangingPunct="0"/>
            <a:r>
              <a:rPr lang="zh-CN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由被联接件的材料决定。</a:t>
            </a:r>
            <a:endParaRPr lang="zh-CN" altLang="en-US" sz="3200" b="1" baseline="-250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77" name="Line 75"/>
          <p:cNvSpPr/>
          <p:nvPr/>
        </p:nvSpPr>
        <p:spPr>
          <a:xfrm>
            <a:off x="2608263" y="4130675"/>
            <a:ext cx="0" cy="50323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78" name="Line 76"/>
          <p:cNvSpPr/>
          <p:nvPr/>
        </p:nvSpPr>
        <p:spPr>
          <a:xfrm>
            <a:off x="3270250" y="4140200"/>
            <a:ext cx="0" cy="50323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79" name="Line 77"/>
          <p:cNvSpPr/>
          <p:nvPr/>
        </p:nvSpPr>
        <p:spPr>
          <a:xfrm>
            <a:off x="2627313" y="4624388"/>
            <a:ext cx="6477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80" name="Line 78"/>
          <p:cNvSpPr/>
          <p:nvPr/>
        </p:nvSpPr>
        <p:spPr>
          <a:xfrm>
            <a:off x="1522413" y="4719638"/>
            <a:ext cx="395287" cy="36830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81" name="Line 79"/>
          <p:cNvSpPr/>
          <p:nvPr/>
        </p:nvSpPr>
        <p:spPr>
          <a:xfrm>
            <a:off x="3017838" y="4740275"/>
            <a:ext cx="360362" cy="360363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82" name="Line 80"/>
          <p:cNvSpPr/>
          <p:nvPr/>
        </p:nvSpPr>
        <p:spPr>
          <a:xfrm>
            <a:off x="1514475" y="4891088"/>
            <a:ext cx="215900" cy="21590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83" name="Text Box 81"/>
          <p:cNvSpPr txBox="1"/>
          <p:nvPr/>
        </p:nvSpPr>
        <p:spPr>
          <a:xfrm>
            <a:off x="1331913" y="2924175"/>
            <a:ext cx="3384550" cy="22336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lstStyle/>
          <a:p>
            <a:pPr>
              <a:spcBef>
                <a:spcPct val="50000"/>
              </a:spcBef>
            </a:pPr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7" name="Group 82"/>
          <p:cNvGrpSpPr/>
          <p:nvPr/>
        </p:nvGrpSpPr>
        <p:grpSpPr>
          <a:xfrm>
            <a:off x="1489075" y="2041525"/>
            <a:ext cx="2989263" cy="3259138"/>
            <a:chOff x="1079" y="1422"/>
            <a:chExt cx="1883" cy="2053"/>
          </a:xfrm>
        </p:grpSpPr>
        <p:sp>
          <p:nvSpPr>
            <p:cNvPr id="22647" name="Line 83"/>
            <p:cNvSpPr/>
            <p:nvPr/>
          </p:nvSpPr>
          <p:spPr>
            <a:xfrm flipH="1">
              <a:off x="1973" y="1422"/>
              <a:ext cx="12" cy="2053"/>
            </a:xfrm>
            <a:prstGeom prst="line">
              <a:avLst/>
            </a:prstGeom>
            <a:ln w="12700" cap="flat" cmpd="sng">
              <a:solidFill>
                <a:srgbClr val="00FF00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2648" name="Line 84"/>
            <p:cNvSpPr/>
            <p:nvPr/>
          </p:nvSpPr>
          <p:spPr>
            <a:xfrm>
              <a:off x="1329" y="1984"/>
              <a:ext cx="457" cy="448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49" name="Line 85"/>
            <p:cNvSpPr/>
            <p:nvPr/>
          </p:nvSpPr>
          <p:spPr>
            <a:xfrm>
              <a:off x="1476" y="1982"/>
              <a:ext cx="299" cy="294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50" name="Line 86"/>
            <p:cNvSpPr/>
            <p:nvPr/>
          </p:nvSpPr>
          <p:spPr>
            <a:xfrm>
              <a:off x="1609" y="1977"/>
              <a:ext cx="158" cy="155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51" name="Line 87"/>
            <p:cNvSpPr/>
            <p:nvPr/>
          </p:nvSpPr>
          <p:spPr>
            <a:xfrm>
              <a:off x="2185" y="2169"/>
              <a:ext cx="749" cy="735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52" name="Line 88"/>
            <p:cNvSpPr/>
            <p:nvPr/>
          </p:nvSpPr>
          <p:spPr>
            <a:xfrm>
              <a:off x="2193" y="2023"/>
              <a:ext cx="741" cy="727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53" name="Line 89"/>
            <p:cNvSpPr/>
            <p:nvPr/>
          </p:nvSpPr>
          <p:spPr>
            <a:xfrm>
              <a:off x="2183" y="2314"/>
              <a:ext cx="732" cy="718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54" name="Line 90"/>
            <p:cNvSpPr/>
            <p:nvPr/>
          </p:nvSpPr>
          <p:spPr>
            <a:xfrm>
              <a:off x="2193" y="1986"/>
              <a:ext cx="0" cy="801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55" name="Line 91"/>
            <p:cNvSpPr/>
            <p:nvPr/>
          </p:nvSpPr>
          <p:spPr>
            <a:xfrm>
              <a:off x="1776" y="1985"/>
              <a:ext cx="0" cy="811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56" name="Line 92"/>
            <p:cNvSpPr/>
            <p:nvPr/>
          </p:nvSpPr>
          <p:spPr>
            <a:xfrm>
              <a:off x="1110" y="3358"/>
              <a:ext cx="1844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57" name="Line 93"/>
            <p:cNvSpPr/>
            <p:nvPr/>
          </p:nvSpPr>
          <p:spPr>
            <a:xfrm>
              <a:off x="1174" y="1977"/>
              <a:ext cx="602" cy="591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58" name="Line 94"/>
            <p:cNvSpPr/>
            <p:nvPr/>
          </p:nvSpPr>
          <p:spPr>
            <a:xfrm>
              <a:off x="1099" y="2078"/>
              <a:ext cx="668" cy="655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59" name="Line 95"/>
            <p:cNvSpPr/>
            <p:nvPr/>
          </p:nvSpPr>
          <p:spPr>
            <a:xfrm>
              <a:off x="2300" y="1982"/>
              <a:ext cx="644" cy="631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60" name="Line 96"/>
            <p:cNvSpPr/>
            <p:nvPr/>
          </p:nvSpPr>
          <p:spPr>
            <a:xfrm>
              <a:off x="2456" y="1990"/>
              <a:ext cx="488" cy="478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61" name="Line 97"/>
            <p:cNvSpPr/>
            <p:nvPr/>
          </p:nvSpPr>
          <p:spPr>
            <a:xfrm>
              <a:off x="2581" y="1975"/>
              <a:ext cx="362" cy="355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62" name="Line 98"/>
            <p:cNvSpPr/>
            <p:nvPr/>
          </p:nvSpPr>
          <p:spPr>
            <a:xfrm>
              <a:off x="2712" y="1977"/>
              <a:ext cx="250" cy="245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63" name="Line 99"/>
            <p:cNvSpPr/>
            <p:nvPr/>
          </p:nvSpPr>
          <p:spPr>
            <a:xfrm>
              <a:off x="2851" y="1977"/>
              <a:ext cx="102" cy="10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64" name="Line 100"/>
            <p:cNvSpPr/>
            <p:nvPr/>
          </p:nvSpPr>
          <p:spPr>
            <a:xfrm>
              <a:off x="1739" y="1986"/>
              <a:ext cx="0" cy="796"/>
            </a:xfrm>
            <a:prstGeom prst="line">
              <a:avLst/>
            </a:prstGeom>
            <a:ln w="127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65" name="Line 101"/>
            <p:cNvSpPr/>
            <p:nvPr/>
          </p:nvSpPr>
          <p:spPr>
            <a:xfrm>
              <a:off x="2230" y="1979"/>
              <a:ext cx="0" cy="817"/>
            </a:xfrm>
            <a:prstGeom prst="line">
              <a:avLst/>
            </a:prstGeom>
            <a:ln w="127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66" name="Line 102"/>
            <p:cNvSpPr/>
            <p:nvPr/>
          </p:nvSpPr>
          <p:spPr>
            <a:xfrm>
              <a:off x="1737" y="2787"/>
              <a:ext cx="493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67" name="Line 103"/>
            <p:cNvSpPr/>
            <p:nvPr/>
          </p:nvSpPr>
          <p:spPr>
            <a:xfrm flipH="1">
              <a:off x="1983" y="3042"/>
              <a:ext cx="216" cy="103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68" name="Line 104"/>
            <p:cNvSpPr/>
            <p:nvPr/>
          </p:nvSpPr>
          <p:spPr>
            <a:xfrm>
              <a:off x="1776" y="3045"/>
              <a:ext cx="216" cy="11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69" name="Line 105"/>
            <p:cNvSpPr/>
            <p:nvPr/>
          </p:nvSpPr>
          <p:spPr>
            <a:xfrm>
              <a:off x="2202" y="2478"/>
              <a:ext cx="723" cy="725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70" name="Line 106"/>
            <p:cNvSpPr/>
            <p:nvPr/>
          </p:nvSpPr>
          <p:spPr>
            <a:xfrm>
              <a:off x="2197" y="2627"/>
              <a:ext cx="728" cy="712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71" name="Line 107"/>
            <p:cNvSpPr/>
            <p:nvPr/>
          </p:nvSpPr>
          <p:spPr>
            <a:xfrm>
              <a:off x="2184" y="2768"/>
              <a:ext cx="560" cy="571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72" name="Line 108"/>
            <p:cNvSpPr/>
            <p:nvPr/>
          </p:nvSpPr>
          <p:spPr>
            <a:xfrm>
              <a:off x="2190" y="2925"/>
              <a:ext cx="418" cy="414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73" name="Line 109"/>
            <p:cNvSpPr/>
            <p:nvPr/>
          </p:nvSpPr>
          <p:spPr>
            <a:xfrm>
              <a:off x="1112" y="2247"/>
              <a:ext cx="646" cy="645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74" name="Line 110"/>
            <p:cNvSpPr/>
            <p:nvPr/>
          </p:nvSpPr>
          <p:spPr>
            <a:xfrm>
              <a:off x="1090" y="2404"/>
              <a:ext cx="973" cy="935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75" name="Line 111"/>
            <p:cNvSpPr/>
            <p:nvPr/>
          </p:nvSpPr>
          <p:spPr>
            <a:xfrm>
              <a:off x="1081" y="2569"/>
              <a:ext cx="801" cy="77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76" name="Line 112"/>
            <p:cNvSpPr/>
            <p:nvPr/>
          </p:nvSpPr>
          <p:spPr>
            <a:xfrm>
              <a:off x="1081" y="2742"/>
              <a:ext cx="620" cy="597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77" name="Line 113"/>
            <p:cNvSpPr/>
            <p:nvPr/>
          </p:nvSpPr>
          <p:spPr>
            <a:xfrm>
              <a:off x="1109" y="2941"/>
              <a:ext cx="410" cy="398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78" name="Line 114"/>
            <p:cNvSpPr/>
            <p:nvPr/>
          </p:nvSpPr>
          <p:spPr>
            <a:xfrm>
              <a:off x="2162" y="3057"/>
              <a:ext cx="310" cy="282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79" name="Line 115"/>
            <p:cNvSpPr/>
            <p:nvPr/>
          </p:nvSpPr>
          <p:spPr>
            <a:xfrm>
              <a:off x="1079" y="1982"/>
              <a:ext cx="1853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80" name="Line 116"/>
            <p:cNvSpPr/>
            <p:nvPr/>
          </p:nvSpPr>
          <p:spPr>
            <a:xfrm>
              <a:off x="1779" y="2738"/>
              <a:ext cx="0" cy="317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81" name="Line 117"/>
            <p:cNvSpPr/>
            <p:nvPr/>
          </p:nvSpPr>
          <p:spPr>
            <a:xfrm>
              <a:off x="2196" y="2744"/>
              <a:ext cx="0" cy="317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82" name="Line 118"/>
            <p:cNvSpPr/>
            <p:nvPr/>
          </p:nvSpPr>
          <p:spPr>
            <a:xfrm>
              <a:off x="1791" y="3049"/>
              <a:ext cx="408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83" name="Line 119"/>
            <p:cNvSpPr/>
            <p:nvPr/>
          </p:nvSpPr>
          <p:spPr>
            <a:xfrm>
              <a:off x="1095" y="3109"/>
              <a:ext cx="249" cy="232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84" name="Line 120"/>
            <p:cNvSpPr/>
            <p:nvPr/>
          </p:nvSpPr>
          <p:spPr>
            <a:xfrm>
              <a:off x="2037" y="3122"/>
              <a:ext cx="227" cy="227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85" name="Line 121"/>
            <p:cNvSpPr/>
            <p:nvPr/>
          </p:nvSpPr>
          <p:spPr>
            <a:xfrm>
              <a:off x="1090" y="3217"/>
              <a:ext cx="136" cy="136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" name="Group 122"/>
          <p:cNvGrpSpPr/>
          <p:nvPr/>
        </p:nvGrpSpPr>
        <p:grpSpPr>
          <a:xfrm>
            <a:off x="2551113" y="1187450"/>
            <a:ext cx="782637" cy="2784475"/>
            <a:chOff x="3197" y="1000"/>
            <a:chExt cx="493" cy="1754"/>
          </a:xfrm>
        </p:grpSpPr>
        <p:grpSp>
          <p:nvGrpSpPr>
            <p:cNvPr id="22636" name="Group 123"/>
            <p:cNvGrpSpPr/>
            <p:nvPr/>
          </p:nvGrpSpPr>
          <p:grpSpPr>
            <a:xfrm>
              <a:off x="3197" y="1057"/>
              <a:ext cx="481" cy="1534"/>
              <a:chOff x="1610" y="782"/>
              <a:chExt cx="481" cy="1534"/>
            </a:xfrm>
          </p:grpSpPr>
          <p:sp>
            <p:nvSpPr>
              <p:cNvPr id="22645" name="Rectangle 124"/>
              <p:cNvSpPr/>
              <p:nvPr/>
            </p:nvSpPr>
            <p:spPr>
              <a:xfrm>
                <a:off x="1610" y="843"/>
                <a:ext cx="481" cy="1473"/>
              </a:xfrm>
              <a:prstGeom prst="rect">
                <a:avLst/>
              </a:prstGeom>
              <a:gradFill rotWithShape="0">
                <a:gsLst>
                  <a:gs pos="0">
                    <a:srgbClr val="33CCCC"/>
                  </a:gs>
                  <a:gs pos="50000">
                    <a:srgbClr val="C6F1F1"/>
                  </a:gs>
                  <a:gs pos="100000">
                    <a:srgbClr val="33CCCC"/>
                  </a:gs>
                </a:gsLst>
                <a:lin ang="0" scaled="1"/>
                <a:tileRect/>
              </a:gradFill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46" name="Freeform 125"/>
              <p:cNvSpPr/>
              <p:nvPr/>
            </p:nvSpPr>
            <p:spPr>
              <a:xfrm>
                <a:off x="1611" y="782"/>
                <a:ext cx="480" cy="69"/>
              </a:xfrm>
              <a:custGeom>
                <a:avLst/>
                <a:gdLst>
                  <a:gd name="txL" fmla="*/ 0 w 480"/>
                  <a:gd name="txT" fmla="*/ 0 h 69"/>
                  <a:gd name="txR" fmla="*/ 480 w 480"/>
                  <a:gd name="txB" fmla="*/ 69 h 69"/>
                </a:gdLst>
                <a:ahLst/>
                <a:cxnLst>
                  <a:cxn ang="0">
                    <a:pos x="0" y="69"/>
                  </a:cxn>
                  <a:cxn ang="0">
                    <a:pos x="480" y="69"/>
                  </a:cxn>
                  <a:cxn ang="0">
                    <a:pos x="411" y="0"/>
                  </a:cxn>
                  <a:cxn ang="0">
                    <a:pos x="66" y="0"/>
                  </a:cxn>
                  <a:cxn ang="0">
                    <a:pos x="0" y="69"/>
                  </a:cxn>
                </a:cxnLst>
                <a:rect l="txL" t="txT" r="txR" b="txB"/>
                <a:pathLst>
                  <a:path w="480" h="69">
                    <a:moveTo>
                      <a:pt x="0" y="69"/>
                    </a:moveTo>
                    <a:lnTo>
                      <a:pt x="480" y="69"/>
                    </a:lnTo>
                    <a:lnTo>
                      <a:pt x="411" y="0"/>
                    </a:lnTo>
                    <a:lnTo>
                      <a:pt x="66" y="0"/>
                    </a:lnTo>
                    <a:lnTo>
                      <a:pt x="0" y="69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BCEEEE"/>
                  </a:gs>
                  <a:gs pos="100000">
                    <a:srgbClr val="33CCCC"/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637" name="Line 126"/>
            <p:cNvSpPr/>
            <p:nvPr/>
          </p:nvSpPr>
          <p:spPr>
            <a:xfrm>
              <a:off x="3203" y="2104"/>
              <a:ext cx="469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38" name="Line 127"/>
            <p:cNvSpPr/>
            <p:nvPr/>
          </p:nvSpPr>
          <p:spPr>
            <a:xfrm>
              <a:off x="3199" y="1979"/>
              <a:ext cx="491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39" name="Line 128"/>
            <p:cNvSpPr/>
            <p:nvPr/>
          </p:nvSpPr>
          <p:spPr>
            <a:xfrm>
              <a:off x="3641" y="1092"/>
              <a:ext cx="0" cy="891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40" name="Line 129"/>
            <p:cNvSpPr/>
            <p:nvPr/>
          </p:nvSpPr>
          <p:spPr>
            <a:xfrm>
              <a:off x="3232" y="1092"/>
              <a:ext cx="0" cy="882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41" name="Freeform 130"/>
            <p:cNvSpPr/>
            <p:nvPr/>
          </p:nvSpPr>
          <p:spPr>
            <a:xfrm>
              <a:off x="3205" y="2593"/>
              <a:ext cx="469" cy="60"/>
            </a:xfrm>
            <a:custGeom>
              <a:avLst/>
              <a:gdLst>
                <a:gd name="txL" fmla="*/ 0 w 483"/>
                <a:gd name="txT" fmla="*/ 0 h 60"/>
                <a:gd name="txR" fmla="*/ 483 w 483"/>
                <a:gd name="txB" fmla="*/ 60 h 60"/>
              </a:gdLst>
              <a:ahLst/>
              <a:cxnLst>
                <a:cxn ang="0">
                  <a:pos x="53" y="60"/>
                </a:cxn>
                <a:cxn ang="0">
                  <a:pos x="399" y="60"/>
                </a:cxn>
                <a:cxn ang="0">
                  <a:pos x="455" y="0"/>
                </a:cxn>
                <a:cxn ang="0">
                  <a:pos x="0" y="0"/>
                </a:cxn>
                <a:cxn ang="0">
                  <a:pos x="53" y="60"/>
                </a:cxn>
              </a:cxnLst>
              <a:rect l="txL" t="txT" r="txR" b="txB"/>
              <a:pathLst>
                <a:path w="483" h="60">
                  <a:moveTo>
                    <a:pt x="57" y="60"/>
                  </a:moveTo>
                  <a:lnTo>
                    <a:pt x="423" y="60"/>
                  </a:lnTo>
                  <a:lnTo>
                    <a:pt x="483" y="0"/>
                  </a:lnTo>
                  <a:lnTo>
                    <a:pt x="0" y="0"/>
                  </a:lnTo>
                  <a:lnTo>
                    <a:pt x="57" y="60"/>
                  </a:lnTo>
                  <a:close/>
                </a:path>
              </a:pathLst>
            </a:custGeom>
            <a:gradFill rotWithShape="0">
              <a:gsLst>
                <a:gs pos="0">
                  <a:srgbClr val="33CCCC"/>
                </a:gs>
                <a:gs pos="100000">
                  <a:srgbClr val="9DE6E6"/>
                </a:gs>
              </a:gsLst>
              <a:lin ang="5400000" scaled="1"/>
              <a:tileRect/>
            </a:gradFill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642" name="Line 131"/>
            <p:cNvSpPr/>
            <p:nvPr/>
          </p:nvSpPr>
          <p:spPr>
            <a:xfrm>
              <a:off x="3442" y="1000"/>
              <a:ext cx="0" cy="175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2643" name="Line 132"/>
            <p:cNvSpPr/>
            <p:nvPr/>
          </p:nvSpPr>
          <p:spPr>
            <a:xfrm>
              <a:off x="3640" y="2111"/>
              <a:ext cx="0" cy="53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44" name="Line 133"/>
            <p:cNvSpPr/>
            <p:nvPr/>
          </p:nvSpPr>
          <p:spPr>
            <a:xfrm>
              <a:off x="3234" y="2105"/>
              <a:ext cx="0" cy="53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45542" name="Oval 134"/>
          <p:cNvSpPr/>
          <p:nvPr/>
        </p:nvSpPr>
        <p:spPr>
          <a:xfrm>
            <a:off x="3048000" y="2781300"/>
            <a:ext cx="520700" cy="482600"/>
          </a:xfrm>
          <a:prstGeom prst="ellipse">
            <a:avLst/>
          </a:prstGeom>
          <a:noFill/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45543" name="Line 135"/>
          <p:cNvSpPr/>
          <p:nvPr/>
        </p:nvSpPr>
        <p:spPr>
          <a:xfrm>
            <a:off x="2546350" y="2924175"/>
            <a:ext cx="792163" cy="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5544" name="Line 136"/>
          <p:cNvSpPr/>
          <p:nvPr/>
        </p:nvSpPr>
        <p:spPr>
          <a:xfrm>
            <a:off x="3348038" y="2924175"/>
            <a:ext cx="1008062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5545" name="Line 137"/>
          <p:cNvSpPr/>
          <p:nvPr/>
        </p:nvSpPr>
        <p:spPr>
          <a:xfrm>
            <a:off x="2484438" y="2276475"/>
            <a:ext cx="8636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9" name="Group 138"/>
          <p:cNvGrpSpPr/>
          <p:nvPr/>
        </p:nvGrpSpPr>
        <p:grpSpPr>
          <a:xfrm>
            <a:off x="2386013" y="1960563"/>
            <a:ext cx="1109662" cy="354012"/>
            <a:chOff x="1521" y="1235"/>
            <a:chExt cx="699" cy="223"/>
          </a:xfrm>
        </p:grpSpPr>
        <p:grpSp>
          <p:nvGrpSpPr>
            <p:cNvPr id="22631" name="Group 139"/>
            <p:cNvGrpSpPr/>
            <p:nvPr/>
          </p:nvGrpSpPr>
          <p:grpSpPr>
            <a:xfrm>
              <a:off x="1521" y="1235"/>
              <a:ext cx="699" cy="223"/>
              <a:chOff x="1307" y="1309"/>
              <a:chExt cx="1081" cy="153"/>
            </a:xfrm>
          </p:grpSpPr>
          <p:sp>
            <p:nvSpPr>
              <p:cNvPr id="22634" name="Rectangle 140"/>
              <p:cNvSpPr/>
              <p:nvPr/>
            </p:nvSpPr>
            <p:spPr>
              <a:xfrm>
                <a:off x="1307" y="1352"/>
                <a:ext cx="1081" cy="73"/>
              </a:xfrm>
              <a:prstGeom prst="rect">
                <a:avLst/>
              </a:prstGeom>
              <a:gradFill rotWithShape="0">
                <a:gsLst>
                  <a:gs pos="0">
                    <a:srgbClr val="CC9900"/>
                  </a:gs>
                  <a:gs pos="50000">
                    <a:srgbClr val="F3E8C5"/>
                  </a:gs>
                  <a:gs pos="100000">
                    <a:srgbClr val="CC9900"/>
                  </a:gs>
                </a:gsLst>
                <a:lin ang="0" scaled="1"/>
                <a:tileRect/>
              </a:gradFill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2635" name="Line 141"/>
              <p:cNvSpPr/>
              <p:nvPr/>
            </p:nvSpPr>
            <p:spPr>
              <a:xfrm>
                <a:off x="1847" y="1309"/>
                <a:ext cx="0" cy="153"/>
              </a:xfrm>
              <a:prstGeom prst="line">
                <a:avLst/>
              </a:prstGeom>
              <a:ln w="12700" cap="flat" cmpd="sng">
                <a:solidFill>
                  <a:schemeClr val="tx2"/>
                </a:solidFill>
                <a:prstDash val="lgDashDot"/>
                <a:headEnd type="none" w="med" len="med"/>
                <a:tailEnd type="none" w="med" len="med"/>
              </a:ln>
            </p:spPr>
          </p:sp>
        </p:grpSp>
        <p:sp>
          <p:nvSpPr>
            <p:cNvPr id="22632" name="Line 142"/>
            <p:cNvSpPr/>
            <p:nvPr/>
          </p:nvSpPr>
          <p:spPr>
            <a:xfrm>
              <a:off x="1817" y="1308"/>
              <a:ext cx="48" cy="96"/>
            </a:xfrm>
            <a:prstGeom prst="line">
              <a:avLst/>
            </a:prstGeom>
            <a:ln w="254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33" name="Line 143"/>
            <p:cNvSpPr/>
            <p:nvPr/>
          </p:nvSpPr>
          <p:spPr>
            <a:xfrm>
              <a:off x="1881" y="1300"/>
              <a:ext cx="48" cy="96"/>
            </a:xfrm>
            <a:prstGeom prst="line">
              <a:avLst/>
            </a:prstGeom>
            <a:ln w="254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" name="Group 144"/>
          <p:cNvGrpSpPr/>
          <p:nvPr/>
        </p:nvGrpSpPr>
        <p:grpSpPr>
          <a:xfrm>
            <a:off x="2555875" y="2065338"/>
            <a:ext cx="758825" cy="149225"/>
            <a:chOff x="1610" y="1301"/>
            <a:chExt cx="478" cy="94"/>
          </a:xfrm>
        </p:grpSpPr>
        <p:sp>
          <p:nvSpPr>
            <p:cNvPr id="22627" name="Line 145"/>
            <p:cNvSpPr/>
            <p:nvPr/>
          </p:nvSpPr>
          <p:spPr>
            <a:xfrm>
              <a:off x="1610" y="1304"/>
              <a:ext cx="0" cy="9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28" name="Line 146"/>
            <p:cNvSpPr/>
            <p:nvPr/>
          </p:nvSpPr>
          <p:spPr>
            <a:xfrm>
              <a:off x="1640" y="1304"/>
              <a:ext cx="0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29" name="Line 147"/>
            <p:cNvSpPr/>
            <p:nvPr/>
          </p:nvSpPr>
          <p:spPr>
            <a:xfrm>
              <a:off x="2049" y="1301"/>
              <a:ext cx="0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30" name="Line 148"/>
            <p:cNvSpPr/>
            <p:nvPr/>
          </p:nvSpPr>
          <p:spPr>
            <a:xfrm>
              <a:off x="2088" y="1301"/>
              <a:ext cx="0" cy="9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1" name="Group 149"/>
          <p:cNvGrpSpPr/>
          <p:nvPr/>
        </p:nvGrpSpPr>
        <p:grpSpPr>
          <a:xfrm>
            <a:off x="2165350" y="1449388"/>
            <a:ext cx="1541463" cy="611187"/>
            <a:chOff x="1499" y="823"/>
            <a:chExt cx="1100" cy="487"/>
          </a:xfrm>
        </p:grpSpPr>
        <p:sp>
          <p:nvSpPr>
            <p:cNvPr id="22605" name="Freeform 150"/>
            <p:cNvSpPr/>
            <p:nvPr/>
          </p:nvSpPr>
          <p:spPr>
            <a:xfrm>
              <a:off x="2045" y="837"/>
              <a:ext cx="273" cy="86"/>
            </a:xfrm>
            <a:custGeom>
              <a:avLst/>
              <a:gdLst>
                <a:gd name="txL" fmla="*/ 0 w 249"/>
                <a:gd name="txT" fmla="*/ 0 h 77"/>
                <a:gd name="txR" fmla="*/ 249 w 249"/>
                <a:gd name="txB" fmla="*/ 77 h 77"/>
              </a:gdLst>
              <a:ahLst/>
              <a:cxnLst>
                <a:cxn ang="0">
                  <a:pos x="0" y="49"/>
                </a:cxn>
                <a:cxn ang="0">
                  <a:pos x="0" y="49"/>
                </a:cxn>
                <a:cxn ang="0">
                  <a:pos x="77" y="49"/>
                </a:cxn>
                <a:cxn ang="0">
                  <a:pos x="146" y="56"/>
                </a:cxn>
                <a:cxn ang="0">
                  <a:pos x="223" y="73"/>
                </a:cxn>
                <a:cxn ang="0">
                  <a:pos x="292" y="96"/>
                </a:cxn>
                <a:cxn ang="0">
                  <a:pos x="299" y="49"/>
                </a:cxn>
                <a:cxn ang="0">
                  <a:pos x="231" y="32"/>
                </a:cxn>
                <a:cxn ang="0">
                  <a:pos x="153" y="9"/>
                </a:cxn>
                <a:cxn ang="0">
                  <a:pos x="7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49"/>
                </a:cxn>
              </a:cxnLst>
              <a:rect l="txL" t="txT" r="txR" b="txB"/>
              <a:pathLst>
                <a:path w="249" h="77">
                  <a:moveTo>
                    <a:pt x="0" y="39"/>
                  </a:moveTo>
                  <a:lnTo>
                    <a:pt x="0" y="39"/>
                  </a:lnTo>
                  <a:lnTo>
                    <a:pt x="64" y="39"/>
                  </a:lnTo>
                  <a:lnTo>
                    <a:pt x="121" y="45"/>
                  </a:lnTo>
                  <a:lnTo>
                    <a:pt x="185" y="58"/>
                  </a:lnTo>
                  <a:lnTo>
                    <a:pt x="243" y="77"/>
                  </a:lnTo>
                  <a:lnTo>
                    <a:pt x="249" y="39"/>
                  </a:lnTo>
                  <a:lnTo>
                    <a:pt x="192" y="26"/>
                  </a:lnTo>
                  <a:lnTo>
                    <a:pt x="128" y="7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606" name="Freeform 151"/>
            <p:cNvSpPr/>
            <p:nvPr/>
          </p:nvSpPr>
          <p:spPr>
            <a:xfrm>
              <a:off x="1779" y="837"/>
              <a:ext cx="266" cy="86"/>
            </a:xfrm>
            <a:custGeom>
              <a:avLst/>
              <a:gdLst>
                <a:gd name="txL" fmla="*/ 0 w 243"/>
                <a:gd name="txT" fmla="*/ 0 h 77"/>
                <a:gd name="txR" fmla="*/ 243 w 243"/>
                <a:gd name="txB" fmla="*/ 77 h 77"/>
              </a:gdLst>
              <a:ahLst/>
              <a:cxnLst>
                <a:cxn ang="0">
                  <a:pos x="14" y="96"/>
                </a:cxn>
                <a:cxn ang="0">
                  <a:pos x="84" y="73"/>
                </a:cxn>
                <a:cxn ang="0">
                  <a:pos x="153" y="56"/>
                </a:cxn>
                <a:cxn ang="0">
                  <a:pos x="222" y="49"/>
                </a:cxn>
                <a:cxn ang="0">
                  <a:pos x="291" y="49"/>
                </a:cxn>
                <a:cxn ang="0">
                  <a:pos x="291" y="0"/>
                </a:cxn>
                <a:cxn ang="0">
                  <a:pos x="222" y="0"/>
                </a:cxn>
                <a:cxn ang="0">
                  <a:pos x="144" y="9"/>
                </a:cxn>
                <a:cxn ang="0">
                  <a:pos x="68" y="25"/>
                </a:cxn>
                <a:cxn ang="0">
                  <a:pos x="0" y="49"/>
                </a:cxn>
                <a:cxn ang="0">
                  <a:pos x="14" y="96"/>
                </a:cxn>
              </a:cxnLst>
              <a:rect l="txL" t="txT" r="txR" b="txB"/>
              <a:pathLst>
                <a:path w="243" h="77">
                  <a:moveTo>
                    <a:pt x="12" y="77"/>
                  </a:moveTo>
                  <a:lnTo>
                    <a:pt x="70" y="58"/>
                  </a:lnTo>
                  <a:lnTo>
                    <a:pt x="128" y="45"/>
                  </a:lnTo>
                  <a:lnTo>
                    <a:pt x="185" y="39"/>
                  </a:lnTo>
                  <a:lnTo>
                    <a:pt x="243" y="39"/>
                  </a:lnTo>
                  <a:lnTo>
                    <a:pt x="243" y="0"/>
                  </a:lnTo>
                  <a:lnTo>
                    <a:pt x="185" y="0"/>
                  </a:lnTo>
                  <a:lnTo>
                    <a:pt x="121" y="7"/>
                  </a:lnTo>
                  <a:lnTo>
                    <a:pt x="57" y="20"/>
                  </a:lnTo>
                  <a:lnTo>
                    <a:pt x="0" y="39"/>
                  </a:lnTo>
                  <a:lnTo>
                    <a:pt x="12" y="77"/>
                  </a:lnTo>
                  <a:close/>
                </a:path>
              </a:pathLst>
            </a:cu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607" name="Freeform 152"/>
            <p:cNvSpPr/>
            <p:nvPr/>
          </p:nvSpPr>
          <p:spPr>
            <a:xfrm>
              <a:off x="1509" y="824"/>
              <a:ext cx="132" cy="101"/>
            </a:xfrm>
            <a:custGeom>
              <a:avLst/>
              <a:gdLst>
                <a:gd name="txL" fmla="*/ 0 w 121"/>
                <a:gd name="txT" fmla="*/ 0 h 90"/>
                <a:gd name="txR" fmla="*/ 121 w 121"/>
                <a:gd name="txB" fmla="*/ 90 h 90"/>
              </a:gdLst>
              <a:ahLst/>
              <a:cxnLst>
                <a:cxn ang="0">
                  <a:pos x="121" y="0"/>
                </a:cxn>
                <a:cxn ang="0">
                  <a:pos x="0" y="73"/>
                </a:cxn>
                <a:cxn ang="0">
                  <a:pos x="23" y="113"/>
                </a:cxn>
                <a:cxn ang="0">
                  <a:pos x="144" y="40"/>
                </a:cxn>
                <a:cxn ang="0">
                  <a:pos x="121" y="0"/>
                </a:cxn>
              </a:cxnLst>
              <a:rect l="txL" t="txT" r="txR" b="txB"/>
              <a:pathLst>
                <a:path w="121" h="90">
                  <a:moveTo>
                    <a:pt x="102" y="0"/>
                  </a:moveTo>
                  <a:lnTo>
                    <a:pt x="0" y="58"/>
                  </a:lnTo>
                  <a:lnTo>
                    <a:pt x="19" y="90"/>
                  </a:lnTo>
                  <a:lnTo>
                    <a:pt x="121" y="32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2608" name="Group 153"/>
            <p:cNvGrpSpPr/>
            <p:nvPr/>
          </p:nvGrpSpPr>
          <p:grpSpPr>
            <a:xfrm>
              <a:off x="1519" y="824"/>
              <a:ext cx="1059" cy="486"/>
              <a:chOff x="1519" y="824"/>
              <a:chExt cx="1059" cy="486"/>
            </a:xfrm>
          </p:grpSpPr>
          <p:sp>
            <p:nvSpPr>
              <p:cNvPr id="22621" name="Rectangle 154"/>
              <p:cNvSpPr/>
              <p:nvPr/>
            </p:nvSpPr>
            <p:spPr>
              <a:xfrm>
                <a:off x="1519" y="1267"/>
                <a:ext cx="70" cy="43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2622" name="Rectangle 155"/>
              <p:cNvSpPr/>
              <p:nvPr/>
            </p:nvSpPr>
            <p:spPr>
              <a:xfrm>
                <a:off x="2514" y="1267"/>
                <a:ext cx="64" cy="43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2623" name="Group 156"/>
              <p:cNvGrpSpPr/>
              <p:nvPr/>
            </p:nvGrpSpPr>
            <p:grpSpPr>
              <a:xfrm>
                <a:off x="1583" y="824"/>
                <a:ext cx="931" cy="486"/>
                <a:chOff x="1583" y="824"/>
                <a:chExt cx="931" cy="486"/>
              </a:xfrm>
            </p:grpSpPr>
            <p:sp>
              <p:nvSpPr>
                <p:cNvPr id="22624" name="Rectangle 157"/>
                <p:cNvSpPr/>
                <p:nvPr/>
              </p:nvSpPr>
              <p:spPr>
                <a:xfrm>
                  <a:off x="1631" y="824"/>
                  <a:ext cx="842" cy="42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>
                  <a:solidFill>
                    <a:srgbClr val="FF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25" name="Rectangle 158"/>
                <p:cNvSpPr/>
                <p:nvPr/>
              </p:nvSpPr>
              <p:spPr>
                <a:xfrm>
                  <a:off x="2052" y="1267"/>
                  <a:ext cx="462" cy="43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>
                  <a:solidFill>
                    <a:srgbClr val="FF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26" name="Rectangle 159"/>
                <p:cNvSpPr/>
                <p:nvPr/>
              </p:nvSpPr>
              <p:spPr>
                <a:xfrm>
                  <a:off x="1583" y="1267"/>
                  <a:ext cx="462" cy="43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>
                  <a:solidFill>
                    <a:srgbClr val="FF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2609" name="Group 160"/>
            <p:cNvGrpSpPr/>
            <p:nvPr/>
          </p:nvGrpSpPr>
          <p:grpSpPr>
            <a:xfrm>
              <a:off x="1505" y="845"/>
              <a:ext cx="281" cy="99"/>
              <a:chOff x="1505" y="845"/>
              <a:chExt cx="281" cy="99"/>
            </a:xfrm>
          </p:grpSpPr>
          <p:sp>
            <p:nvSpPr>
              <p:cNvPr id="22619" name="Freeform 161"/>
              <p:cNvSpPr/>
              <p:nvPr/>
            </p:nvSpPr>
            <p:spPr>
              <a:xfrm>
                <a:off x="1660" y="845"/>
                <a:ext cx="126" cy="78"/>
              </a:xfrm>
              <a:custGeom>
                <a:avLst/>
                <a:gdLst>
                  <a:gd name="txL" fmla="*/ 0 w 115"/>
                  <a:gd name="txT" fmla="*/ 0 h 70"/>
                  <a:gd name="txR" fmla="*/ 115 w 115"/>
                  <a:gd name="txB" fmla="*/ 70 h 70"/>
                </a:gdLst>
                <a:ahLst/>
                <a:cxnLst>
                  <a:cxn ang="0">
                    <a:pos x="0" y="47"/>
                  </a:cxn>
                  <a:cxn ang="0">
                    <a:pos x="0" y="47"/>
                  </a:cxn>
                  <a:cxn ang="0">
                    <a:pos x="31" y="47"/>
                  </a:cxn>
                  <a:cxn ang="0">
                    <a:pos x="61" y="56"/>
                  </a:cxn>
                  <a:cxn ang="0">
                    <a:pos x="84" y="71"/>
                  </a:cxn>
                  <a:cxn ang="0">
                    <a:pos x="107" y="87"/>
                  </a:cxn>
                  <a:cxn ang="0">
                    <a:pos x="138" y="47"/>
                  </a:cxn>
                  <a:cxn ang="0">
                    <a:pos x="107" y="31"/>
                  </a:cxn>
                  <a:cxn ang="0">
                    <a:pos x="77" y="8"/>
                  </a:cxn>
                  <a:cxn ang="0">
                    <a:pos x="38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47"/>
                  </a:cxn>
                </a:cxnLst>
                <a:rect l="txL" t="txT" r="txR" b="txB"/>
                <a:pathLst>
                  <a:path w="115" h="70">
                    <a:moveTo>
                      <a:pt x="0" y="38"/>
                    </a:moveTo>
                    <a:lnTo>
                      <a:pt x="0" y="38"/>
                    </a:lnTo>
                    <a:lnTo>
                      <a:pt x="26" y="38"/>
                    </a:lnTo>
                    <a:lnTo>
                      <a:pt x="51" y="45"/>
                    </a:lnTo>
                    <a:lnTo>
                      <a:pt x="70" y="57"/>
                    </a:lnTo>
                    <a:lnTo>
                      <a:pt x="89" y="70"/>
                    </a:lnTo>
                    <a:lnTo>
                      <a:pt x="115" y="38"/>
                    </a:lnTo>
                    <a:lnTo>
                      <a:pt x="89" y="25"/>
                    </a:lnTo>
                    <a:lnTo>
                      <a:pt x="64" y="6"/>
                    </a:lnTo>
                    <a:lnTo>
                      <a:pt x="32" y="0"/>
                    </a:lnTo>
                    <a:lnTo>
                      <a:pt x="0" y="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0000"/>
              </a:solidFill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2620" name="Freeform 162"/>
              <p:cNvSpPr/>
              <p:nvPr/>
            </p:nvSpPr>
            <p:spPr>
              <a:xfrm>
                <a:off x="1505" y="845"/>
                <a:ext cx="155" cy="99"/>
              </a:xfrm>
              <a:custGeom>
                <a:avLst/>
                <a:gdLst>
                  <a:gd name="txL" fmla="*/ 0 w 141"/>
                  <a:gd name="txT" fmla="*/ 0 h 89"/>
                  <a:gd name="txR" fmla="*/ 141 w 141"/>
                  <a:gd name="txB" fmla="*/ 89 h 89"/>
                </a:gdLst>
                <a:ahLst/>
                <a:cxnLst>
                  <a:cxn ang="0">
                    <a:pos x="32" y="110"/>
                  </a:cxn>
                  <a:cxn ang="0">
                    <a:pos x="62" y="79"/>
                  </a:cxn>
                  <a:cxn ang="0">
                    <a:pos x="93" y="63"/>
                  </a:cxn>
                  <a:cxn ang="0">
                    <a:pos x="132" y="47"/>
                  </a:cxn>
                  <a:cxn ang="0">
                    <a:pos x="170" y="47"/>
                  </a:cxn>
                  <a:cxn ang="0">
                    <a:pos x="170" y="0"/>
                  </a:cxn>
                  <a:cxn ang="0">
                    <a:pos x="124" y="0"/>
                  </a:cxn>
                  <a:cxn ang="0">
                    <a:pos x="77" y="16"/>
                  </a:cxn>
                  <a:cxn ang="0">
                    <a:pos x="38" y="47"/>
                  </a:cxn>
                  <a:cxn ang="0">
                    <a:pos x="0" y="79"/>
                  </a:cxn>
                  <a:cxn ang="0">
                    <a:pos x="32" y="110"/>
                  </a:cxn>
                </a:cxnLst>
                <a:rect l="txL" t="txT" r="txR" b="txB"/>
                <a:pathLst>
                  <a:path w="141" h="89">
                    <a:moveTo>
                      <a:pt x="26" y="89"/>
                    </a:moveTo>
                    <a:lnTo>
                      <a:pt x="51" y="64"/>
                    </a:lnTo>
                    <a:lnTo>
                      <a:pt x="77" y="51"/>
                    </a:lnTo>
                    <a:lnTo>
                      <a:pt x="109" y="38"/>
                    </a:lnTo>
                    <a:lnTo>
                      <a:pt x="141" y="38"/>
                    </a:lnTo>
                    <a:lnTo>
                      <a:pt x="141" y="0"/>
                    </a:lnTo>
                    <a:lnTo>
                      <a:pt x="103" y="0"/>
                    </a:lnTo>
                    <a:lnTo>
                      <a:pt x="64" y="13"/>
                    </a:lnTo>
                    <a:lnTo>
                      <a:pt x="32" y="38"/>
                    </a:lnTo>
                    <a:lnTo>
                      <a:pt x="0" y="64"/>
                    </a:lnTo>
                    <a:lnTo>
                      <a:pt x="26" y="89"/>
                    </a:lnTo>
                    <a:close/>
                  </a:path>
                </a:pathLst>
              </a:custGeom>
              <a:solidFill>
                <a:srgbClr val="FF0000"/>
              </a:solidFill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2610" name="Group 163"/>
            <p:cNvGrpSpPr/>
            <p:nvPr/>
          </p:nvGrpSpPr>
          <p:grpSpPr>
            <a:xfrm>
              <a:off x="1499" y="902"/>
              <a:ext cx="1100" cy="387"/>
              <a:chOff x="1499" y="902"/>
              <a:chExt cx="1100" cy="387"/>
            </a:xfrm>
          </p:grpSpPr>
          <p:sp>
            <p:nvSpPr>
              <p:cNvPr id="22615" name="Rectangle 164"/>
              <p:cNvSpPr/>
              <p:nvPr/>
            </p:nvSpPr>
            <p:spPr>
              <a:xfrm>
                <a:off x="2557" y="902"/>
                <a:ext cx="42" cy="387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2616" name="Rectangle 165"/>
              <p:cNvSpPr/>
              <p:nvPr/>
            </p:nvSpPr>
            <p:spPr>
              <a:xfrm>
                <a:off x="2297" y="902"/>
                <a:ext cx="35" cy="387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2617" name="Rectangle 166"/>
              <p:cNvSpPr/>
              <p:nvPr/>
            </p:nvSpPr>
            <p:spPr>
              <a:xfrm>
                <a:off x="1499" y="916"/>
                <a:ext cx="41" cy="373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2618" name="Rectangle 167"/>
              <p:cNvSpPr/>
              <p:nvPr/>
            </p:nvSpPr>
            <p:spPr>
              <a:xfrm>
                <a:off x="1751" y="902"/>
                <a:ext cx="41" cy="387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2611" name="Group 168"/>
            <p:cNvGrpSpPr/>
            <p:nvPr/>
          </p:nvGrpSpPr>
          <p:grpSpPr>
            <a:xfrm>
              <a:off x="2310" y="837"/>
              <a:ext cx="282" cy="87"/>
              <a:chOff x="2310" y="837"/>
              <a:chExt cx="282" cy="87"/>
            </a:xfrm>
          </p:grpSpPr>
          <p:sp>
            <p:nvSpPr>
              <p:cNvPr id="22613" name="Freeform 169"/>
              <p:cNvSpPr/>
              <p:nvPr/>
            </p:nvSpPr>
            <p:spPr>
              <a:xfrm>
                <a:off x="2444" y="837"/>
                <a:ext cx="148" cy="86"/>
              </a:xfrm>
              <a:custGeom>
                <a:avLst/>
                <a:gdLst>
                  <a:gd name="txL" fmla="*/ 0 w 135"/>
                  <a:gd name="txT" fmla="*/ 0 h 77"/>
                  <a:gd name="txR" fmla="*/ 135 w 135"/>
                  <a:gd name="txB" fmla="*/ 77 h 77"/>
                </a:gdLst>
                <a:ahLst/>
                <a:cxnLst>
                  <a:cxn ang="0">
                    <a:pos x="0" y="49"/>
                  </a:cxn>
                  <a:cxn ang="0">
                    <a:pos x="0" y="49"/>
                  </a:cxn>
                  <a:cxn ang="0">
                    <a:pos x="38" y="49"/>
                  </a:cxn>
                  <a:cxn ang="0">
                    <a:pos x="70" y="56"/>
                  </a:cxn>
                  <a:cxn ang="0">
                    <a:pos x="100" y="73"/>
                  </a:cxn>
                  <a:cxn ang="0">
                    <a:pos x="130" y="96"/>
                  </a:cxn>
                  <a:cxn ang="0">
                    <a:pos x="162" y="65"/>
                  </a:cxn>
                  <a:cxn ang="0">
                    <a:pos x="130" y="32"/>
                  </a:cxn>
                  <a:cxn ang="0">
                    <a:pos x="86" y="17"/>
                  </a:cxn>
                  <a:cxn ang="0">
                    <a:pos x="47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49"/>
                  </a:cxn>
                </a:cxnLst>
                <a:rect l="txL" t="txT" r="txR" b="txB"/>
                <a:pathLst>
                  <a:path w="135" h="77">
                    <a:moveTo>
                      <a:pt x="0" y="39"/>
                    </a:moveTo>
                    <a:lnTo>
                      <a:pt x="0" y="39"/>
                    </a:lnTo>
                    <a:lnTo>
                      <a:pt x="32" y="39"/>
                    </a:lnTo>
                    <a:lnTo>
                      <a:pt x="58" y="45"/>
                    </a:lnTo>
                    <a:lnTo>
                      <a:pt x="83" y="58"/>
                    </a:lnTo>
                    <a:lnTo>
                      <a:pt x="109" y="77"/>
                    </a:lnTo>
                    <a:lnTo>
                      <a:pt x="135" y="52"/>
                    </a:lnTo>
                    <a:lnTo>
                      <a:pt x="109" y="26"/>
                    </a:lnTo>
                    <a:lnTo>
                      <a:pt x="71" y="13"/>
                    </a:lnTo>
                    <a:lnTo>
                      <a:pt x="39" y="0"/>
                    </a:lnTo>
                    <a:lnTo>
                      <a:pt x="0" y="0"/>
                    </a:lnTo>
                    <a:lnTo>
                      <a:pt x="0" y="39"/>
                    </a:lnTo>
                    <a:close/>
                  </a:path>
                </a:pathLst>
              </a:custGeom>
              <a:solidFill>
                <a:srgbClr val="FF0000"/>
              </a:solidFill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2614" name="Freeform 170"/>
              <p:cNvSpPr/>
              <p:nvPr/>
            </p:nvSpPr>
            <p:spPr>
              <a:xfrm>
                <a:off x="2310" y="845"/>
                <a:ext cx="140" cy="79"/>
              </a:xfrm>
              <a:custGeom>
                <a:avLst/>
                <a:gdLst>
                  <a:gd name="txL" fmla="*/ 0 w 128"/>
                  <a:gd name="txT" fmla="*/ 0 h 71"/>
                  <a:gd name="txR" fmla="*/ 128 w 128"/>
                  <a:gd name="txB" fmla="*/ 71 h 71"/>
                </a:gdLst>
                <a:ahLst/>
                <a:cxnLst>
                  <a:cxn ang="0">
                    <a:pos x="24" y="88"/>
                  </a:cxn>
                  <a:cxn ang="0">
                    <a:pos x="54" y="72"/>
                  </a:cxn>
                  <a:cxn ang="0">
                    <a:pos x="85" y="56"/>
                  </a:cxn>
                  <a:cxn ang="0">
                    <a:pos x="115" y="48"/>
                  </a:cxn>
                  <a:cxn ang="0">
                    <a:pos x="153" y="48"/>
                  </a:cxn>
                  <a:cxn ang="0">
                    <a:pos x="153" y="0"/>
                  </a:cxn>
                  <a:cxn ang="0">
                    <a:pos x="107" y="0"/>
                  </a:cxn>
                  <a:cxn ang="0">
                    <a:pos x="69" y="16"/>
                  </a:cxn>
                  <a:cxn ang="0">
                    <a:pos x="31" y="32"/>
                  </a:cxn>
                  <a:cxn ang="0">
                    <a:pos x="0" y="56"/>
                  </a:cxn>
                  <a:cxn ang="0">
                    <a:pos x="24" y="88"/>
                  </a:cxn>
                </a:cxnLst>
                <a:rect l="txL" t="txT" r="txR" b="txB"/>
                <a:pathLst>
                  <a:path w="128" h="71">
                    <a:moveTo>
                      <a:pt x="20" y="71"/>
                    </a:moveTo>
                    <a:lnTo>
                      <a:pt x="45" y="58"/>
                    </a:lnTo>
                    <a:lnTo>
                      <a:pt x="71" y="45"/>
                    </a:lnTo>
                    <a:lnTo>
                      <a:pt x="96" y="39"/>
                    </a:lnTo>
                    <a:lnTo>
                      <a:pt x="128" y="39"/>
                    </a:lnTo>
                    <a:lnTo>
                      <a:pt x="128" y="0"/>
                    </a:lnTo>
                    <a:lnTo>
                      <a:pt x="90" y="0"/>
                    </a:lnTo>
                    <a:lnTo>
                      <a:pt x="58" y="13"/>
                    </a:lnTo>
                    <a:lnTo>
                      <a:pt x="26" y="26"/>
                    </a:lnTo>
                    <a:lnTo>
                      <a:pt x="0" y="45"/>
                    </a:lnTo>
                    <a:lnTo>
                      <a:pt x="20" y="71"/>
                    </a:lnTo>
                    <a:close/>
                  </a:path>
                </a:pathLst>
              </a:custGeom>
              <a:solidFill>
                <a:srgbClr val="FF0000"/>
              </a:solidFill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612" name="Freeform 171"/>
            <p:cNvSpPr/>
            <p:nvPr/>
          </p:nvSpPr>
          <p:spPr>
            <a:xfrm>
              <a:off x="2476" y="823"/>
              <a:ext cx="119" cy="86"/>
            </a:xfrm>
            <a:custGeom>
              <a:avLst/>
              <a:gdLst>
                <a:gd name="txL" fmla="*/ 0 w 109"/>
                <a:gd name="txT" fmla="*/ 0 h 77"/>
                <a:gd name="txR" fmla="*/ 109 w 109"/>
                <a:gd name="txB" fmla="*/ 77 h 77"/>
              </a:gdLst>
              <a:ahLst/>
              <a:cxnLst>
                <a:cxn ang="0">
                  <a:pos x="0" y="40"/>
                </a:cxn>
                <a:cxn ang="0">
                  <a:pos x="115" y="96"/>
                </a:cxn>
                <a:cxn ang="0">
                  <a:pos x="130" y="56"/>
                </a:cxn>
                <a:cxn ang="0">
                  <a:pos x="15" y="0"/>
                </a:cxn>
                <a:cxn ang="0">
                  <a:pos x="0" y="40"/>
                </a:cxn>
              </a:cxnLst>
              <a:rect l="txL" t="txT" r="txR" b="txB"/>
              <a:pathLst>
                <a:path w="109" h="77">
                  <a:moveTo>
                    <a:pt x="0" y="32"/>
                  </a:moveTo>
                  <a:lnTo>
                    <a:pt x="96" y="77"/>
                  </a:lnTo>
                  <a:lnTo>
                    <a:pt x="109" y="45"/>
                  </a:lnTo>
                  <a:lnTo>
                    <a:pt x="13" y="0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45580" name="Line 172"/>
          <p:cNvSpPr/>
          <p:nvPr/>
        </p:nvSpPr>
        <p:spPr>
          <a:xfrm>
            <a:off x="2603500" y="1571625"/>
            <a:ext cx="0" cy="431800"/>
          </a:xfrm>
          <a:prstGeom prst="line">
            <a:avLst/>
          </a:prstGeom>
          <a:ln w="1905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5581" name="Line 173"/>
          <p:cNvSpPr/>
          <p:nvPr/>
        </p:nvSpPr>
        <p:spPr>
          <a:xfrm>
            <a:off x="3257550" y="1566863"/>
            <a:ext cx="0" cy="431800"/>
          </a:xfrm>
          <a:prstGeom prst="line">
            <a:avLst/>
          </a:prstGeom>
          <a:ln w="1905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7" name="Group 174"/>
          <p:cNvGrpSpPr/>
          <p:nvPr/>
        </p:nvGrpSpPr>
        <p:grpSpPr>
          <a:xfrm>
            <a:off x="3206750" y="2247900"/>
            <a:ext cx="1900238" cy="1584325"/>
            <a:chOff x="2008" y="1416"/>
            <a:chExt cx="1197" cy="998"/>
          </a:xfrm>
        </p:grpSpPr>
        <p:sp>
          <p:nvSpPr>
            <p:cNvPr id="22598" name="Text Box 175"/>
            <p:cNvSpPr txBox="1"/>
            <p:nvPr/>
          </p:nvSpPr>
          <p:spPr>
            <a:xfrm rot="-5400000">
              <a:off x="2894" y="1500"/>
              <a:ext cx="21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zh-CN" altLang="en-US" sz="2400" b="1" dirty="0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</a:t>
              </a:r>
              <a:endPara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2599" name="Line 176"/>
            <p:cNvSpPr/>
            <p:nvPr/>
          </p:nvSpPr>
          <p:spPr>
            <a:xfrm>
              <a:off x="3134" y="1416"/>
              <a:ext cx="0" cy="436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triangle" w="sm" len="lg"/>
              <a:tailEnd type="triangle" w="sm" len="lg"/>
            </a:ln>
          </p:spPr>
        </p:sp>
        <p:sp>
          <p:nvSpPr>
            <p:cNvPr id="22600" name="Line 177"/>
            <p:cNvSpPr/>
            <p:nvPr/>
          </p:nvSpPr>
          <p:spPr>
            <a:xfrm>
              <a:off x="2781" y="1833"/>
              <a:ext cx="418" cy="0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01" name="Line 178"/>
            <p:cNvSpPr/>
            <p:nvPr/>
          </p:nvSpPr>
          <p:spPr>
            <a:xfrm>
              <a:off x="2008" y="2390"/>
              <a:ext cx="1191" cy="0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02" name="Line 179"/>
            <p:cNvSpPr/>
            <p:nvPr/>
          </p:nvSpPr>
          <p:spPr>
            <a:xfrm>
              <a:off x="3134" y="1821"/>
              <a:ext cx="0" cy="593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triangle" w="sm" len="lg"/>
              <a:tailEnd type="triangle" w="sm" len="lg"/>
            </a:ln>
          </p:spPr>
        </p:sp>
        <p:sp>
          <p:nvSpPr>
            <p:cNvPr id="22603" name="Text Box 180"/>
            <p:cNvSpPr txBox="1"/>
            <p:nvPr/>
          </p:nvSpPr>
          <p:spPr>
            <a:xfrm rot="-5400000">
              <a:off x="2762" y="1974"/>
              <a:ext cx="43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en-US" altLang="zh-CN" sz="24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2400" b="1" baseline="-250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m</a:t>
              </a:r>
              <a:endPara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604" name="Line 181"/>
            <p:cNvSpPr/>
            <p:nvPr/>
          </p:nvSpPr>
          <p:spPr>
            <a:xfrm>
              <a:off x="2796" y="1426"/>
              <a:ext cx="409" cy="0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2596" name="Text Box 182"/>
          <p:cNvSpPr txBox="1"/>
          <p:nvPr/>
        </p:nvSpPr>
        <p:spPr>
          <a:xfrm>
            <a:off x="2248853" y="6394450"/>
            <a:ext cx="4267200" cy="39687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(2) </a:t>
            </a:r>
            <a:r>
              <a:rPr lang="zh-CN" altLang="en-US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双头螺柱连接的装配图画法</a:t>
            </a:r>
            <a:endParaRPr lang="en-US" altLang="zh-CN" sz="20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pic>
        <p:nvPicPr>
          <p:cNvPr id="145591" name="Picture 183"/>
          <p:cNvPicPr>
            <a:picLocks noChangeAspect="1"/>
          </p:cNvPicPr>
          <p:nvPr/>
        </p:nvPicPr>
        <p:blipFill>
          <a:blip r:embed="rId7"/>
          <a:srcRect l="38785" t="22491" r="28053" b="12340"/>
          <a:stretch>
            <a:fillRect/>
          </a:stretch>
        </p:blipFill>
        <p:spPr>
          <a:xfrm>
            <a:off x="6021388" y="908050"/>
            <a:ext cx="2787650" cy="33131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73" name="Rectangle 58"/>
          <p:cNvSpPr/>
          <p:nvPr/>
        </p:nvSpPr>
        <p:spPr>
          <a:xfrm>
            <a:off x="179705" y="301625"/>
            <a:ext cx="41052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2. </a:t>
            </a:r>
            <a:r>
              <a:rPr lang="zh-CN" altLang="en-US" sz="24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螺纹紧固件装配图的画法</a:t>
            </a:r>
            <a:endParaRPr lang="zh-CN" altLang="en-US" sz="24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343051" name="组合 343050"/>
          <p:cNvGrpSpPr/>
          <p:nvPr/>
        </p:nvGrpSpPr>
        <p:grpSpPr>
          <a:xfrm>
            <a:off x="333375" y="81216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5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5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4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14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1455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" dur="500"/>
                                        <p:tgtEl>
                                          <p:spTgt spid="1455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0"/>
                                        <p:tgtEl>
                                          <p:spTgt spid="14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2000"/>
                                        <p:tgtEl>
                                          <p:spTgt spid="145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2000"/>
                                        <p:tgtEl>
                                          <p:spTgt spid="145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2000"/>
                                        <p:tgtEl>
                                          <p:spTgt spid="145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45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0" fill="hold"/>
                                        <p:tgtEl>
                                          <p:spTgt spid="145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0" fill="hold"/>
                                        <p:tgtEl>
                                          <p:spTgt spid="145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45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45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5" dur="500"/>
                                        <p:tgtEl>
                                          <p:spTgt spid="145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0" dur="500"/>
                                        <p:tgtEl>
                                          <p:spTgt spid="145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47" grpId="0" bldLvl="0" animBg="1"/>
      <p:bldP spid="145448" grpId="0" bldLvl="0" animBg="1"/>
      <p:bldP spid="145481" grpId="0"/>
      <p:bldP spid="145542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8" name="Rectangle 6"/>
          <p:cNvSpPr/>
          <p:nvPr/>
        </p:nvSpPr>
        <p:spPr>
          <a:xfrm>
            <a:off x="2324100" y="39560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9639" name="Rectangle 11"/>
          <p:cNvSpPr/>
          <p:nvPr/>
        </p:nvSpPr>
        <p:spPr>
          <a:xfrm>
            <a:off x="3795713" y="6448108"/>
            <a:ext cx="4284662" cy="39687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圆柱头螺钉连接装配图的比例画法 </a:t>
            </a:r>
            <a:endParaRPr lang="zh-CN" altLang="en-US" sz="20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49573" name="Line 69"/>
          <p:cNvSpPr/>
          <p:nvPr/>
        </p:nvSpPr>
        <p:spPr>
          <a:xfrm>
            <a:off x="2466975" y="2386013"/>
            <a:ext cx="0" cy="2667000"/>
          </a:xfrm>
          <a:prstGeom prst="line">
            <a:avLst/>
          </a:prstGeom>
          <a:ln w="12700" cap="flat" cmpd="sng">
            <a:solidFill>
              <a:srgbClr val="9933FF"/>
            </a:solidFill>
            <a:prstDash val="lgDashDot"/>
            <a:headEnd type="none" w="med" len="med"/>
            <a:tailEnd type="none" w="med" len="med"/>
          </a:ln>
        </p:spPr>
      </p:sp>
      <p:grpSp>
        <p:nvGrpSpPr>
          <p:cNvPr id="2" name="Group 70"/>
          <p:cNvGrpSpPr/>
          <p:nvPr/>
        </p:nvGrpSpPr>
        <p:grpSpPr>
          <a:xfrm>
            <a:off x="1138238" y="1181100"/>
            <a:ext cx="2719387" cy="1227138"/>
            <a:chOff x="699" y="684"/>
            <a:chExt cx="1713" cy="773"/>
          </a:xfrm>
        </p:grpSpPr>
        <p:sp>
          <p:nvSpPr>
            <p:cNvPr id="69766" name="Line 71"/>
            <p:cNvSpPr/>
            <p:nvPr/>
          </p:nvSpPr>
          <p:spPr>
            <a:xfrm flipV="1">
              <a:off x="1137" y="849"/>
              <a:ext cx="0" cy="511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9767" name="Freeform 72"/>
            <p:cNvSpPr/>
            <p:nvPr/>
          </p:nvSpPr>
          <p:spPr>
            <a:xfrm>
              <a:off x="1929" y="1044"/>
              <a:ext cx="321" cy="312"/>
            </a:xfrm>
            <a:custGeom>
              <a:avLst/>
              <a:gdLst>
                <a:gd name="txL" fmla="*/ 0 w 321"/>
                <a:gd name="txT" fmla="*/ 0 h 312"/>
                <a:gd name="txR" fmla="*/ 321 w 321"/>
                <a:gd name="txB" fmla="*/ 312 h 312"/>
              </a:gdLst>
              <a:ahLst/>
              <a:cxnLst>
                <a:cxn ang="0">
                  <a:pos x="0" y="0"/>
                </a:cxn>
                <a:cxn ang="0">
                  <a:pos x="321" y="312"/>
                </a:cxn>
              </a:cxnLst>
              <a:rect l="txL" t="txT" r="txR" b="txB"/>
              <a:pathLst>
                <a:path w="321" h="312">
                  <a:moveTo>
                    <a:pt x="0" y="0"/>
                  </a:moveTo>
                  <a:lnTo>
                    <a:pt x="321" y="312"/>
                  </a:lnTo>
                </a:path>
              </a:pathLst>
            </a:custGeom>
            <a:noFill/>
            <a:ln w="127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9768" name="Line 73"/>
            <p:cNvSpPr/>
            <p:nvPr/>
          </p:nvSpPr>
          <p:spPr>
            <a:xfrm>
              <a:off x="717" y="1360"/>
              <a:ext cx="1650" cy="0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9769" name="Line 74"/>
            <p:cNvSpPr/>
            <p:nvPr/>
          </p:nvSpPr>
          <p:spPr>
            <a:xfrm>
              <a:off x="720" y="849"/>
              <a:ext cx="1692" cy="0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9770" name="Line 75"/>
            <p:cNvSpPr/>
            <p:nvPr/>
          </p:nvSpPr>
          <p:spPr>
            <a:xfrm flipV="1">
              <a:off x="1535" y="684"/>
              <a:ext cx="0" cy="773"/>
            </a:xfrm>
            <a:prstGeom prst="line">
              <a:avLst/>
            </a:prstGeom>
            <a:ln w="12700" cap="flat" cmpd="sng">
              <a:solidFill>
                <a:srgbClr val="CC0000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69771" name="Freeform 76"/>
            <p:cNvSpPr/>
            <p:nvPr/>
          </p:nvSpPr>
          <p:spPr>
            <a:xfrm>
              <a:off x="1929" y="849"/>
              <a:ext cx="1" cy="526"/>
            </a:xfrm>
            <a:custGeom>
              <a:avLst/>
              <a:gdLst>
                <a:gd name="txL" fmla="*/ 0 w 1"/>
                <a:gd name="txT" fmla="*/ 0 h 526"/>
                <a:gd name="txR" fmla="*/ 1 w 1"/>
                <a:gd name="txB" fmla="*/ 526 h 526"/>
              </a:gdLst>
              <a:ahLst/>
              <a:cxnLst>
                <a:cxn ang="0">
                  <a:pos x="0" y="526"/>
                </a:cxn>
                <a:cxn ang="0">
                  <a:pos x="0" y="0"/>
                </a:cxn>
              </a:cxnLst>
              <a:rect l="txL" t="txT" r="txR" b="txB"/>
              <a:pathLst>
                <a:path w="1" h="526">
                  <a:moveTo>
                    <a:pt x="0" y="526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9772" name="Freeform 77"/>
            <p:cNvSpPr/>
            <p:nvPr/>
          </p:nvSpPr>
          <p:spPr>
            <a:xfrm>
              <a:off x="999" y="849"/>
              <a:ext cx="135" cy="135"/>
            </a:xfrm>
            <a:custGeom>
              <a:avLst/>
              <a:gdLst>
                <a:gd name="txL" fmla="*/ 0 w 135"/>
                <a:gd name="txT" fmla="*/ 0 h 135"/>
                <a:gd name="txR" fmla="*/ 135 w 135"/>
                <a:gd name="txB" fmla="*/ 135 h 135"/>
              </a:gdLst>
              <a:ahLst/>
              <a:cxnLst>
                <a:cxn ang="0">
                  <a:pos x="0" y="0"/>
                </a:cxn>
                <a:cxn ang="0">
                  <a:pos x="135" y="135"/>
                </a:cxn>
              </a:cxnLst>
              <a:rect l="txL" t="txT" r="txR" b="txB"/>
              <a:pathLst>
                <a:path w="135" h="135">
                  <a:moveTo>
                    <a:pt x="0" y="0"/>
                  </a:moveTo>
                  <a:lnTo>
                    <a:pt x="135" y="135"/>
                  </a:lnTo>
                </a:path>
              </a:pathLst>
            </a:custGeom>
            <a:noFill/>
            <a:ln w="127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9773" name="Freeform 78"/>
            <p:cNvSpPr/>
            <p:nvPr/>
          </p:nvSpPr>
          <p:spPr>
            <a:xfrm>
              <a:off x="816" y="849"/>
              <a:ext cx="318" cy="316"/>
            </a:xfrm>
            <a:custGeom>
              <a:avLst/>
              <a:gdLst>
                <a:gd name="txL" fmla="*/ 0 w 318"/>
                <a:gd name="txT" fmla="*/ 0 h 316"/>
                <a:gd name="txR" fmla="*/ 318 w 318"/>
                <a:gd name="txB" fmla="*/ 316 h 316"/>
              </a:gdLst>
              <a:ahLst/>
              <a:cxnLst>
                <a:cxn ang="0">
                  <a:pos x="0" y="0"/>
                </a:cxn>
                <a:cxn ang="0">
                  <a:pos x="318" y="316"/>
                </a:cxn>
              </a:cxnLst>
              <a:rect l="txL" t="txT" r="txR" b="txB"/>
              <a:pathLst>
                <a:path w="318" h="316">
                  <a:moveTo>
                    <a:pt x="0" y="0"/>
                  </a:moveTo>
                  <a:lnTo>
                    <a:pt x="318" y="316"/>
                  </a:lnTo>
                </a:path>
              </a:pathLst>
            </a:custGeom>
            <a:noFill/>
            <a:ln w="127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9774" name="Freeform 79"/>
            <p:cNvSpPr/>
            <p:nvPr/>
          </p:nvSpPr>
          <p:spPr>
            <a:xfrm>
              <a:off x="714" y="924"/>
              <a:ext cx="420" cy="421"/>
            </a:xfrm>
            <a:custGeom>
              <a:avLst/>
              <a:gdLst>
                <a:gd name="txL" fmla="*/ 0 w 420"/>
                <a:gd name="txT" fmla="*/ 0 h 421"/>
                <a:gd name="txR" fmla="*/ 420 w 420"/>
                <a:gd name="txB" fmla="*/ 421 h 421"/>
              </a:gdLst>
              <a:ahLst/>
              <a:cxnLst>
                <a:cxn ang="0">
                  <a:pos x="0" y="0"/>
                </a:cxn>
                <a:cxn ang="0">
                  <a:pos x="420" y="421"/>
                </a:cxn>
              </a:cxnLst>
              <a:rect l="txL" t="txT" r="txR" b="txB"/>
              <a:pathLst>
                <a:path w="420" h="421">
                  <a:moveTo>
                    <a:pt x="0" y="0"/>
                  </a:moveTo>
                  <a:lnTo>
                    <a:pt x="420" y="421"/>
                  </a:lnTo>
                </a:path>
              </a:pathLst>
            </a:custGeom>
            <a:noFill/>
            <a:ln w="127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9775" name="Line 80"/>
            <p:cNvSpPr/>
            <p:nvPr/>
          </p:nvSpPr>
          <p:spPr>
            <a:xfrm>
              <a:off x="729" y="1120"/>
              <a:ext cx="240" cy="240"/>
            </a:xfrm>
            <a:prstGeom prst="line">
              <a:avLst/>
            </a:prstGeom>
            <a:ln w="12700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9776" name="Line 81"/>
            <p:cNvSpPr/>
            <p:nvPr/>
          </p:nvSpPr>
          <p:spPr>
            <a:xfrm>
              <a:off x="1929" y="864"/>
              <a:ext cx="438" cy="438"/>
            </a:xfrm>
            <a:prstGeom prst="line">
              <a:avLst/>
            </a:prstGeom>
            <a:ln w="12700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9777" name="Freeform 82"/>
            <p:cNvSpPr/>
            <p:nvPr/>
          </p:nvSpPr>
          <p:spPr>
            <a:xfrm>
              <a:off x="2094" y="849"/>
              <a:ext cx="300" cy="301"/>
            </a:xfrm>
            <a:custGeom>
              <a:avLst/>
              <a:gdLst>
                <a:gd name="txL" fmla="*/ 0 w 300"/>
                <a:gd name="txT" fmla="*/ 0 h 301"/>
                <a:gd name="txR" fmla="*/ 300 w 300"/>
                <a:gd name="txB" fmla="*/ 301 h 301"/>
              </a:gdLst>
              <a:ahLst/>
              <a:cxnLst>
                <a:cxn ang="0">
                  <a:pos x="0" y="0"/>
                </a:cxn>
                <a:cxn ang="0">
                  <a:pos x="300" y="301"/>
                </a:cxn>
              </a:cxnLst>
              <a:rect l="txL" t="txT" r="txR" b="txB"/>
              <a:pathLst>
                <a:path w="300" h="301">
                  <a:moveTo>
                    <a:pt x="0" y="0"/>
                  </a:moveTo>
                  <a:lnTo>
                    <a:pt x="300" y="301"/>
                  </a:lnTo>
                </a:path>
              </a:pathLst>
            </a:custGeom>
            <a:noFill/>
            <a:ln w="127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9778" name="Line 83"/>
            <p:cNvSpPr/>
            <p:nvPr/>
          </p:nvSpPr>
          <p:spPr>
            <a:xfrm>
              <a:off x="2247" y="849"/>
              <a:ext cx="135" cy="135"/>
            </a:xfrm>
            <a:prstGeom prst="line">
              <a:avLst/>
            </a:prstGeom>
            <a:ln w="12700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9779" name="Line 84"/>
            <p:cNvSpPr/>
            <p:nvPr/>
          </p:nvSpPr>
          <p:spPr>
            <a:xfrm flipH="1" flipV="1">
              <a:off x="699" y="1258"/>
              <a:ext cx="87" cy="87"/>
            </a:xfrm>
            <a:prstGeom prst="line">
              <a:avLst/>
            </a:prstGeom>
            <a:ln w="12700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9780" name="Freeform 85"/>
            <p:cNvSpPr/>
            <p:nvPr/>
          </p:nvSpPr>
          <p:spPr>
            <a:xfrm>
              <a:off x="1929" y="1221"/>
              <a:ext cx="156" cy="150"/>
            </a:xfrm>
            <a:custGeom>
              <a:avLst/>
              <a:gdLst>
                <a:gd name="txL" fmla="*/ 0 w 156"/>
                <a:gd name="txT" fmla="*/ 0 h 150"/>
                <a:gd name="txR" fmla="*/ 156 w 156"/>
                <a:gd name="txB" fmla="*/ 150 h 150"/>
              </a:gdLst>
              <a:ahLst/>
              <a:cxnLst>
                <a:cxn ang="0">
                  <a:pos x="0" y="0"/>
                </a:cxn>
                <a:cxn ang="0">
                  <a:pos x="156" y="150"/>
                </a:cxn>
              </a:cxnLst>
              <a:rect l="txL" t="txT" r="txR" b="txB"/>
              <a:pathLst>
                <a:path w="156" h="150">
                  <a:moveTo>
                    <a:pt x="0" y="0"/>
                  </a:moveTo>
                  <a:lnTo>
                    <a:pt x="156" y="150"/>
                  </a:lnTo>
                </a:path>
              </a:pathLst>
            </a:custGeom>
            <a:noFill/>
            <a:ln w="127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49590" name="Text Box 86"/>
          <p:cNvSpPr txBox="1"/>
          <p:nvPr/>
        </p:nvSpPr>
        <p:spPr>
          <a:xfrm>
            <a:off x="5967413" y="5418138"/>
            <a:ext cx="684212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</a:rPr>
              <a:t>bm: 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49591" name="Text Box 87"/>
          <p:cNvSpPr txBox="1"/>
          <p:nvPr/>
        </p:nvSpPr>
        <p:spPr>
          <a:xfrm>
            <a:off x="5903913" y="5718175"/>
            <a:ext cx="2713037" cy="39687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</a:rPr>
              <a:t>钢：  </a:t>
            </a:r>
            <a:r>
              <a:rPr lang="en-US" altLang="zh-CN" sz="2000" b="1" dirty="0">
                <a:latin typeface="Times New Roman" panose="02020603050405020304" pitchFamily="18" charset="0"/>
              </a:rPr>
              <a:t>bm=d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49592" name="Text Box 88"/>
          <p:cNvSpPr txBox="1"/>
          <p:nvPr/>
        </p:nvSpPr>
        <p:spPr>
          <a:xfrm>
            <a:off x="5918200" y="6076950"/>
            <a:ext cx="2640013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</a:rPr>
              <a:t>铸铁</a:t>
            </a:r>
            <a:r>
              <a:rPr lang="en-US" altLang="zh-CN" sz="2000" b="1" dirty="0">
                <a:latin typeface="Times New Roman" panose="02020603050405020304" pitchFamily="18" charset="0"/>
              </a:rPr>
              <a:t>: bm=1.25d</a:t>
            </a:r>
            <a:r>
              <a:rPr lang="zh-CN" altLang="zh-CN" sz="2000" b="1" dirty="0">
                <a:latin typeface="Times New Roman" panose="02020603050405020304" pitchFamily="18" charset="0"/>
              </a:rPr>
              <a:t>或</a:t>
            </a:r>
            <a:r>
              <a:rPr lang="en-US" altLang="zh-CN" sz="2000" b="1" dirty="0">
                <a:latin typeface="Times New Roman" panose="02020603050405020304" pitchFamily="18" charset="0"/>
              </a:rPr>
              <a:t>1.5d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49593" name="Text Box 89"/>
          <p:cNvSpPr txBox="1"/>
          <p:nvPr/>
        </p:nvSpPr>
        <p:spPr>
          <a:xfrm>
            <a:off x="7343775" y="5718175"/>
            <a:ext cx="1604963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</a:rPr>
              <a:t>铝</a:t>
            </a:r>
            <a:r>
              <a:rPr lang="en-US" altLang="zh-CN" sz="2000" b="1" dirty="0">
                <a:latin typeface="Times New Roman" panose="02020603050405020304" pitchFamily="18" charset="0"/>
              </a:rPr>
              <a:t>:     bm=2d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49594" name="Text Box 90"/>
          <p:cNvSpPr txBox="1"/>
          <p:nvPr/>
        </p:nvSpPr>
        <p:spPr>
          <a:xfrm>
            <a:off x="4427538" y="5600700"/>
            <a:ext cx="1462087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000" b="1" dirty="0">
                <a:latin typeface="Times New Roman" panose="02020603050405020304" pitchFamily="18" charset="0"/>
              </a:rPr>
              <a:t>螺钉长度：</a:t>
            </a:r>
            <a:endParaRPr lang="zh-CN" altLang="en-US" sz="2000" b="1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计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=bm+δ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" name="Group 92"/>
          <p:cNvGrpSpPr/>
          <p:nvPr/>
        </p:nvGrpSpPr>
        <p:grpSpPr>
          <a:xfrm>
            <a:off x="1081088" y="2243138"/>
            <a:ext cx="2762250" cy="2540000"/>
            <a:chOff x="672" y="1353"/>
            <a:chExt cx="1740" cy="1600"/>
          </a:xfrm>
        </p:grpSpPr>
        <p:grpSp>
          <p:nvGrpSpPr>
            <p:cNvPr id="69724" name="Group 93"/>
            <p:cNvGrpSpPr/>
            <p:nvPr/>
          </p:nvGrpSpPr>
          <p:grpSpPr>
            <a:xfrm>
              <a:off x="672" y="1359"/>
              <a:ext cx="1740" cy="1585"/>
              <a:chOff x="960" y="2016"/>
              <a:chExt cx="1740" cy="1585"/>
            </a:xfrm>
          </p:grpSpPr>
          <p:sp>
            <p:nvSpPr>
              <p:cNvPr id="69764" name="Line 94"/>
              <p:cNvSpPr/>
              <p:nvPr/>
            </p:nvSpPr>
            <p:spPr>
              <a:xfrm>
                <a:off x="1008" y="2016"/>
                <a:ext cx="1680" cy="0"/>
              </a:xfrm>
              <a:prstGeom prst="line">
                <a:avLst/>
              </a:prstGeom>
              <a:ln w="38100" cap="flat" cmpd="sng">
                <a:solidFill>
                  <a:srgbClr val="99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9765" name="Freeform 95"/>
              <p:cNvSpPr/>
              <p:nvPr/>
            </p:nvSpPr>
            <p:spPr>
              <a:xfrm>
                <a:off x="960" y="3600"/>
                <a:ext cx="1740" cy="1"/>
              </a:xfrm>
              <a:custGeom>
                <a:avLst/>
                <a:gdLst>
                  <a:gd name="txL" fmla="*/ 0 w 1740"/>
                  <a:gd name="txT" fmla="*/ 0 h 1"/>
                  <a:gd name="txR" fmla="*/ 1740 w 1740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740" y="1"/>
                  </a:cxn>
                </a:cxnLst>
                <a:rect l="txL" t="txT" r="txR" b="txB"/>
                <a:pathLst>
                  <a:path w="1740" h="1">
                    <a:moveTo>
                      <a:pt x="0" y="0"/>
                    </a:moveTo>
                    <a:lnTo>
                      <a:pt x="1740" y="1"/>
                    </a:lnTo>
                  </a:path>
                </a:pathLst>
              </a:custGeom>
              <a:noFill/>
              <a:ln w="381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9725" name="Group 96"/>
            <p:cNvGrpSpPr/>
            <p:nvPr/>
          </p:nvGrpSpPr>
          <p:grpSpPr>
            <a:xfrm>
              <a:off x="672" y="1353"/>
              <a:ext cx="1728" cy="1600"/>
              <a:chOff x="672" y="1353"/>
              <a:chExt cx="1728" cy="1600"/>
            </a:xfrm>
          </p:grpSpPr>
          <p:sp>
            <p:nvSpPr>
              <p:cNvPr id="69726" name="Freeform 97"/>
              <p:cNvSpPr/>
              <p:nvPr/>
            </p:nvSpPr>
            <p:spPr>
              <a:xfrm>
                <a:off x="1242" y="2692"/>
                <a:ext cx="585" cy="1"/>
              </a:xfrm>
              <a:custGeom>
                <a:avLst/>
                <a:gdLst>
                  <a:gd name="txL" fmla="*/ 0 w 585"/>
                  <a:gd name="txT" fmla="*/ 0 h 1"/>
                  <a:gd name="txR" fmla="*/ 585 w 58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585" y="0"/>
                  </a:cxn>
                </a:cxnLst>
                <a:rect l="txL" t="txT" r="txR" b="txB"/>
                <a:pathLst>
                  <a:path w="585" h="1">
                    <a:moveTo>
                      <a:pt x="0" y="0"/>
                    </a:moveTo>
                    <a:lnTo>
                      <a:pt x="585" y="0"/>
                    </a:lnTo>
                  </a:path>
                </a:pathLst>
              </a:custGeom>
              <a:noFill/>
              <a:ln w="381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27" name="Freeform 98"/>
              <p:cNvSpPr/>
              <p:nvPr/>
            </p:nvSpPr>
            <p:spPr>
              <a:xfrm>
                <a:off x="1242" y="1353"/>
                <a:ext cx="1" cy="1347"/>
              </a:xfrm>
              <a:custGeom>
                <a:avLst/>
                <a:gdLst>
                  <a:gd name="txL" fmla="*/ 0 w 1"/>
                  <a:gd name="txT" fmla="*/ 0 h 1110"/>
                  <a:gd name="txR" fmla="*/ 1 w 1"/>
                  <a:gd name="txB" fmla="*/ 1110 h 1110"/>
                </a:gdLst>
                <a:ahLst/>
                <a:cxnLst>
                  <a:cxn ang="0">
                    <a:pos x="0" y="0"/>
                  </a:cxn>
                  <a:cxn ang="0">
                    <a:pos x="0" y="1635"/>
                  </a:cxn>
                </a:cxnLst>
                <a:rect l="txL" t="txT" r="txR" b="txB"/>
                <a:pathLst>
                  <a:path w="1" h="1110">
                    <a:moveTo>
                      <a:pt x="0" y="0"/>
                    </a:moveTo>
                    <a:lnTo>
                      <a:pt x="0" y="1110"/>
                    </a:lnTo>
                  </a:path>
                </a:pathLst>
              </a:custGeom>
              <a:noFill/>
              <a:ln w="381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28" name="Freeform 99"/>
              <p:cNvSpPr/>
              <p:nvPr/>
            </p:nvSpPr>
            <p:spPr>
              <a:xfrm>
                <a:off x="1824" y="1359"/>
                <a:ext cx="3" cy="1347"/>
              </a:xfrm>
              <a:custGeom>
                <a:avLst/>
                <a:gdLst>
                  <a:gd name="txL" fmla="*/ 0 w 3"/>
                  <a:gd name="txT" fmla="*/ 0 h 1120"/>
                  <a:gd name="txR" fmla="*/ 3 w 3"/>
                  <a:gd name="txB" fmla="*/ 1120 h 1120"/>
                </a:gdLst>
                <a:ahLst/>
                <a:cxnLst>
                  <a:cxn ang="0">
                    <a:pos x="0" y="0"/>
                  </a:cxn>
                  <a:cxn ang="0">
                    <a:pos x="3" y="1620"/>
                  </a:cxn>
                </a:cxnLst>
                <a:rect l="txL" t="txT" r="txR" b="txB"/>
                <a:pathLst>
                  <a:path w="3" h="1120">
                    <a:moveTo>
                      <a:pt x="0" y="0"/>
                    </a:moveTo>
                    <a:lnTo>
                      <a:pt x="3" y="1120"/>
                    </a:lnTo>
                  </a:path>
                </a:pathLst>
              </a:custGeom>
              <a:noFill/>
              <a:ln w="381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29" name="Line 100"/>
              <p:cNvSpPr/>
              <p:nvPr/>
            </p:nvSpPr>
            <p:spPr>
              <a:xfrm>
                <a:off x="1248" y="2691"/>
                <a:ext cx="288" cy="166"/>
              </a:xfrm>
              <a:prstGeom prst="line">
                <a:avLst/>
              </a:prstGeom>
              <a:ln w="38100" cap="flat" cmpd="sng">
                <a:solidFill>
                  <a:srgbClr val="99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9730" name="Line 101"/>
              <p:cNvSpPr/>
              <p:nvPr/>
            </p:nvSpPr>
            <p:spPr>
              <a:xfrm flipH="1">
                <a:off x="1536" y="2691"/>
                <a:ext cx="288" cy="166"/>
              </a:xfrm>
              <a:prstGeom prst="line">
                <a:avLst/>
              </a:prstGeom>
              <a:ln w="38100" cap="flat" cmpd="sng">
                <a:solidFill>
                  <a:srgbClr val="99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9731" name="Freeform 102"/>
              <p:cNvSpPr/>
              <p:nvPr/>
            </p:nvSpPr>
            <p:spPr>
              <a:xfrm>
                <a:off x="672" y="1533"/>
                <a:ext cx="570" cy="570"/>
              </a:xfrm>
              <a:custGeom>
                <a:avLst/>
                <a:gdLst>
                  <a:gd name="txL" fmla="*/ 0 w 570"/>
                  <a:gd name="txT" fmla="*/ 0 h 570"/>
                  <a:gd name="txR" fmla="*/ 570 w 570"/>
                  <a:gd name="txB" fmla="*/ 570 h 570"/>
                </a:gdLst>
                <a:ahLst/>
                <a:cxnLst>
                  <a:cxn ang="0">
                    <a:pos x="0" y="570"/>
                  </a:cxn>
                  <a:cxn ang="0">
                    <a:pos x="570" y="0"/>
                  </a:cxn>
                </a:cxnLst>
                <a:rect l="txL" t="txT" r="txR" b="txB"/>
                <a:pathLst>
                  <a:path w="570" h="570">
                    <a:moveTo>
                      <a:pt x="0" y="570"/>
                    </a:moveTo>
                    <a:lnTo>
                      <a:pt x="570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32" name="Freeform 103"/>
              <p:cNvSpPr/>
              <p:nvPr/>
            </p:nvSpPr>
            <p:spPr>
              <a:xfrm>
                <a:off x="687" y="1679"/>
                <a:ext cx="561" cy="559"/>
              </a:xfrm>
              <a:custGeom>
                <a:avLst/>
                <a:gdLst>
                  <a:gd name="txL" fmla="*/ 0 w 561"/>
                  <a:gd name="txT" fmla="*/ 0 h 559"/>
                  <a:gd name="txR" fmla="*/ 561 w 561"/>
                  <a:gd name="txB" fmla="*/ 559 h 559"/>
                </a:gdLst>
                <a:ahLst/>
                <a:cxnLst>
                  <a:cxn ang="0">
                    <a:pos x="0" y="559"/>
                  </a:cxn>
                  <a:cxn ang="0">
                    <a:pos x="561" y="0"/>
                  </a:cxn>
                </a:cxnLst>
                <a:rect l="txL" t="txT" r="txR" b="txB"/>
                <a:pathLst>
                  <a:path w="561" h="559">
                    <a:moveTo>
                      <a:pt x="0" y="559"/>
                    </a:moveTo>
                    <a:lnTo>
                      <a:pt x="561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33" name="Freeform 104"/>
              <p:cNvSpPr/>
              <p:nvPr/>
            </p:nvSpPr>
            <p:spPr>
              <a:xfrm>
                <a:off x="672" y="1833"/>
                <a:ext cx="570" cy="570"/>
              </a:xfrm>
              <a:custGeom>
                <a:avLst/>
                <a:gdLst>
                  <a:gd name="txL" fmla="*/ 0 w 570"/>
                  <a:gd name="txT" fmla="*/ 0 h 570"/>
                  <a:gd name="txR" fmla="*/ 570 w 570"/>
                  <a:gd name="txB" fmla="*/ 570 h 570"/>
                </a:gdLst>
                <a:ahLst/>
                <a:cxnLst>
                  <a:cxn ang="0">
                    <a:pos x="0" y="570"/>
                  </a:cxn>
                  <a:cxn ang="0">
                    <a:pos x="570" y="0"/>
                  </a:cxn>
                </a:cxnLst>
                <a:rect l="txL" t="txT" r="txR" b="txB"/>
                <a:pathLst>
                  <a:path w="570" h="570">
                    <a:moveTo>
                      <a:pt x="0" y="570"/>
                    </a:moveTo>
                    <a:lnTo>
                      <a:pt x="570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34" name="Freeform 105"/>
              <p:cNvSpPr/>
              <p:nvPr/>
            </p:nvSpPr>
            <p:spPr>
              <a:xfrm>
                <a:off x="672" y="1973"/>
                <a:ext cx="570" cy="570"/>
              </a:xfrm>
              <a:custGeom>
                <a:avLst/>
                <a:gdLst>
                  <a:gd name="txL" fmla="*/ 0 w 570"/>
                  <a:gd name="txT" fmla="*/ 0 h 570"/>
                  <a:gd name="txR" fmla="*/ 570 w 570"/>
                  <a:gd name="txB" fmla="*/ 570 h 570"/>
                </a:gdLst>
                <a:ahLst/>
                <a:cxnLst>
                  <a:cxn ang="0">
                    <a:pos x="0" y="570"/>
                  </a:cxn>
                  <a:cxn ang="0">
                    <a:pos x="570" y="0"/>
                  </a:cxn>
                </a:cxnLst>
                <a:rect l="txL" t="txT" r="txR" b="txB"/>
                <a:pathLst>
                  <a:path w="570" h="570">
                    <a:moveTo>
                      <a:pt x="0" y="570"/>
                    </a:moveTo>
                    <a:lnTo>
                      <a:pt x="570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35" name="Freeform 106"/>
              <p:cNvSpPr/>
              <p:nvPr/>
            </p:nvSpPr>
            <p:spPr>
              <a:xfrm>
                <a:off x="672" y="2117"/>
                <a:ext cx="570" cy="570"/>
              </a:xfrm>
              <a:custGeom>
                <a:avLst/>
                <a:gdLst>
                  <a:gd name="txL" fmla="*/ 0 w 570"/>
                  <a:gd name="txT" fmla="*/ 0 h 570"/>
                  <a:gd name="txR" fmla="*/ 570 w 570"/>
                  <a:gd name="txB" fmla="*/ 570 h 570"/>
                </a:gdLst>
                <a:ahLst/>
                <a:cxnLst>
                  <a:cxn ang="0">
                    <a:pos x="0" y="570"/>
                  </a:cxn>
                  <a:cxn ang="0">
                    <a:pos x="570" y="0"/>
                  </a:cxn>
                </a:cxnLst>
                <a:rect l="txL" t="txT" r="txR" b="txB"/>
                <a:pathLst>
                  <a:path w="570" h="570">
                    <a:moveTo>
                      <a:pt x="0" y="570"/>
                    </a:moveTo>
                    <a:lnTo>
                      <a:pt x="570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36" name="Freeform 107"/>
              <p:cNvSpPr/>
              <p:nvPr/>
            </p:nvSpPr>
            <p:spPr>
              <a:xfrm>
                <a:off x="672" y="2261"/>
                <a:ext cx="570" cy="570"/>
              </a:xfrm>
              <a:custGeom>
                <a:avLst/>
                <a:gdLst>
                  <a:gd name="txL" fmla="*/ 0 w 570"/>
                  <a:gd name="txT" fmla="*/ 0 h 570"/>
                  <a:gd name="txR" fmla="*/ 570 w 570"/>
                  <a:gd name="txB" fmla="*/ 570 h 570"/>
                </a:gdLst>
                <a:ahLst/>
                <a:cxnLst>
                  <a:cxn ang="0">
                    <a:pos x="0" y="570"/>
                  </a:cxn>
                  <a:cxn ang="0">
                    <a:pos x="570" y="0"/>
                  </a:cxn>
                </a:cxnLst>
                <a:rect l="txL" t="txT" r="txR" b="txB"/>
                <a:pathLst>
                  <a:path w="570" h="570">
                    <a:moveTo>
                      <a:pt x="0" y="570"/>
                    </a:moveTo>
                    <a:lnTo>
                      <a:pt x="570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37" name="Freeform 108"/>
              <p:cNvSpPr/>
              <p:nvPr/>
            </p:nvSpPr>
            <p:spPr>
              <a:xfrm>
                <a:off x="717" y="2405"/>
                <a:ext cx="525" cy="523"/>
              </a:xfrm>
              <a:custGeom>
                <a:avLst/>
                <a:gdLst>
                  <a:gd name="txL" fmla="*/ 0 w 525"/>
                  <a:gd name="txT" fmla="*/ 0 h 523"/>
                  <a:gd name="txR" fmla="*/ 525 w 525"/>
                  <a:gd name="txB" fmla="*/ 523 h 523"/>
                </a:gdLst>
                <a:ahLst/>
                <a:cxnLst>
                  <a:cxn ang="0">
                    <a:pos x="0" y="523"/>
                  </a:cxn>
                  <a:cxn ang="0">
                    <a:pos x="525" y="0"/>
                  </a:cxn>
                </a:cxnLst>
                <a:rect l="txL" t="txT" r="txR" b="txB"/>
                <a:pathLst>
                  <a:path w="525" h="523">
                    <a:moveTo>
                      <a:pt x="0" y="523"/>
                    </a:moveTo>
                    <a:lnTo>
                      <a:pt x="525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38" name="Freeform 109"/>
              <p:cNvSpPr/>
              <p:nvPr/>
            </p:nvSpPr>
            <p:spPr>
              <a:xfrm>
                <a:off x="672" y="1391"/>
                <a:ext cx="570" cy="570"/>
              </a:xfrm>
              <a:custGeom>
                <a:avLst/>
                <a:gdLst>
                  <a:gd name="txL" fmla="*/ 0 w 570"/>
                  <a:gd name="txT" fmla="*/ 0 h 570"/>
                  <a:gd name="txR" fmla="*/ 570 w 570"/>
                  <a:gd name="txB" fmla="*/ 570 h 570"/>
                </a:gdLst>
                <a:ahLst/>
                <a:cxnLst>
                  <a:cxn ang="0">
                    <a:pos x="0" y="570"/>
                  </a:cxn>
                  <a:cxn ang="0">
                    <a:pos x="570" y="0"/>
                  </a:cxn>
                </a:cxnLst>
                <a:rect l="txL" t="txT" r="txR" b="txB"/>
                <a:pathLst>
                  <a:path w="570" h="570">
                    <a:moveTo>
                      <a:pt x="0" y="570"/>
                    </a:moveTo>
                    <a:lnTo>
                      <a:pt x="570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39" name="Freeform 110"/>
              <p:cNvSpPr/>
              <p:nvPr/>
            </p:nvSpPr>
            <p:spPr>
              <a:xfrm>
                <a:off x="1824" y="1485"/>
                <a:ext cx="570" cy="570"/>
              </a:xfrm>
              <a:custGeom>
                <a:avLst/>
                <a:gdLst>
                  <a:gd name="txL" fmla="*/ 0 w 570"/>
                  <a:gd name="txT" fmla="*/ 0 h 570"/>
                  <a:gd name="txR" fmla="*/ 570 w 570"/>
                  <a:gd name="txB" fmla="*/ 570 h 570"/>
                </a:gdLst>
                <a:ahLst/>
                <a:cxnLst>
                  <a:cxn ang="0">
                    <a:pos x="0" y="570"/>
                  </a:cxn>
                  <a:cxn ang="0">
                    <a:pos x="570" y="0"/>
                  </a:cxn>
                </a:cxnLst>
                <a:rect l="txL" t="txT" r="txR" b="txB"/>
                <a:pathLst>
                  <a:path w="570" h="570">
                    <a:moveTo>
                      <a:pt x="0" y="570"/>
                    </a:moveTo>
                    <a:lnTo>
                      <a:pt x="570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40" name="Freeform 111"/>
              <p:cNvSpPr/>
              <p:nvPr/>
            </p:nvSpPr>
            <p:spPr>
              <a:xfrm>
                <a:off x="1827" y="1631"/>
                <a:ext cx="573" cy="577"/>
              </a:xfrm>
              <a:custGeom>
                <a:avLst/>
                <a:gdLst>
                  <a:gd name="txL" fmla="*/ 0 w 573"/>
                  <a:gd name="txT" fmla="*/ 0 h 577"/>
                  <a:gd name="txR" fmla="*/ 573 w 573"/>
                  <a:gd name="txB" fmla="*/ 577 h 577"/>
                </a:gdLst>
                <a:ahLst/>
                <a:cxnLst>
                  <a:cxn ang="0">
                    <a:pos x="0" y="577"/>
                  </a:cxn>
                  <a:cxn ang="0">
                    <a:pos x="573" y="0"/>
                  </a:cxn>
                </a:cxnLst>
                <a:rect l="txL" t="txT" r="txR" b="txB"/>
                <a:pathLst>
                  <a:path w="573" h="577">
                    <a:moveTo>
                      <a:pt x="0" y="577"/>
                    </a:moveTo>
                    <a:lnTo>
                      <a:pt x="573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41" name="Freeform 112"/>
              <p:cNvSpPr/>
              <p:nvPr/>
            </p:nvSpPr>
            <p:spPr>
              <a:xfrm>
                <a:off x="1837" y="1938"/>
                <a:ext cx="545" cy="540"/>
              </a:xfrm>
              <a:custGeom>
                <a:avLst/>
                <a:gdLst>
                  <a:gd name="txL" fmla="*/ 0 w 990"/>
                  <a:gd name="txT" fmla="*/ 0 h 990"/>
                  <a:gd name="txR" fmla="*/ 990 w 990"/>
                  <a:gd name="txB" fmla="*/ 990 h 990"/>
                </a:gdLst>
                <a:ahLst/>
                <a:cxnLst>
                  <a:cxn ang="0">
                    <a:pos x="0" y="295"/>
                  </a:cxn>
                  <a:cxn ang="0">
                    <a:pos x="300" y="0"/>
                  </a:cxn>
                </a:cxnLst>
                <a:rect l="txL" t="txT" r="txR" b="txB"/>
                <a:pathLst>
                  <a:path w="990" h="990">
                    <a:moveTo>
                      <a:pt x="0" y="990"/>
                    </a:moveTo>
                    <a:lnTo>
                      <a:pt x="990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42" name="Freeform 113"/>
              <p:cNvSpPr/>
              <p:nvPr/>
            </p:nvSpPr>
            <p:spPr>
              <a:xfrm>
                <a:off x="1824" y="1775"/>
                <a:ext cx="570" cy="570"/>
              </a:xfrm>
              <a:custGeom>
                <a:avLst/>
                <a:gdLst>
                  <a:gd name="txL" fmla="*/ 0 w 570"/>
                  <a:gd name="txT" fmla="*/ 0 h 570"/>
                  <a:gd name="txR" fmla="*/ 570 w 570"/>
                  <a:gd name="txB" fmla="*/ 570 h 570"/>
                </a:gdLst>
                <a:ahLst/>
                <a:cxnLst>
                  <a:cxn ang="0">
                    <a:pos x="0" y="570"/>
                  </a:cxn>
                  <a:cxn ang="0">
                    <a:pos x="570" y="0"/>
                  </a:cxn>
                </a:cxnLst>
                <a:rect l="txL" t="txT" r="txR" b="txB"/>
                <a:pathLst>
                  <a:path w="570" h="570">
                    <a:moveTo>
                      <a:pt x="0" y="570"/>
                    </a:moveTo>
                    <a:lnTo>
                      <a:pt x="570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43" name="Freeform 114"/>
              <p:cNvSpPr/>
              <p:nvPr/>
            </p:nvSpPr>
            <p:spPr>
              <a:xfrm>
                <a:off x="1837" y="2069"/>
                <a:ext cx="557" cy="545"/>
              </a:xfrm>
              <a:custGeom>
                <a:avLst/>
                <a:gdLst>
                  <a:gd name="txL" fmla="*/ 0 w 852"/>
                  <a:gd name="txT" fmla="*/ 0 h 859"/>
                  <a:gd name="txR" fmla="*/ 852 w 852"/>
                  <a:gd name="txB" fmla="*/ 859 h 859"/>
                </a:gdLst>
                <a:ahLst/>
                <a:cxnLst>
                  <a:cxn ang="0">
                    <a:pos x="0" y="346"/>
                  </a:cxn>
                  <a:cxn ang="0">
                    <a:pos x="364" y="0"/>
                  </a:cxn>
                </a:cxnLst>
                <a:rect l="txL" t="txT" r="txR" b="txB"/>
                <a:pathLst>
                  <a:path w="852" h="859">
                    <a:moveTo>
                      <a:pt x="0" y="859"/>
                    </a:moveTo>
                    <a:lnTo>
                      <a:pt x="852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44" name="Freeform 115"/>
              <p:cNvSpPr/>
              <p:nvPr/>
            </p:nvSpPr>
            <p:spPr>
              <a:xfrm>
                <a:off x="1662" y="2213"/>
                <a:ext cx="732" cy="730"/>
              </a:xfrm>
              <a:custGeom>
                <a:avLst/>
                <a:gdLst>
                  <a:gd name="txL" fmla="*/ 0 w 732"/>
                  <a:gd name="txT" fmla="*/ 0 h 730"/>
                  <a:gd name="txR" fmla="*/ 732 w 732"/>
                  <a:gd name="txB" fmla="*/ 730 h 730"/>
                </a:gdLst>
                <a:ahLst/>
                <a:cxnLst>
                  <a:cxn ang="0">
                    <a:pos x="0" y="730"/>
                  </a:cxn>
                  <a:cxn ang="0">
                    <a:pos x="732" y="0"/>
                  </a:cxn>
                </a:cxnLst>
                <a:rect l="txL" t="txT" r="txR" b="txB"/>
                <a:pathLst>
                  <a:path w="732" h="730">
                    <a:moveTo>
                      <a:pt x="0" y="730"/>
                    </a:moveTo>
                    <a:lnTo>
                      <a:pt x="732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45" name="Freeform 116"/>
              <p:cNvSpPr/>
              <p:nvPr/>
            </p:nvSpPr>
            <p:spPr>
              <a:xfrm>
                <a:off x="1827" y="1369"/>
                <a:ext cx="540" cy="540"/>
              </a:xfrm>
              <a:custGeom>
                <a:avLst/>
                <a:gdLst>
                  <a:gd name="txL" fmla="*/ 0 w 540"/>
                  <a:gd name="txT" fmla="*/ 0 h 540"/>
                  <a:gd name="txR" fmla="*/ 540 w 540"/>
                  <a:gd name="txB" fmla="*/ 540 h 540"/>
                </a:gdLst>
                <a:ahLst/>
                <a:cxnLst>
                  <a:cxn ang="0">
                    <a:pos x="0" y="540"/>
                  </a:cxn>
                  <a:cxn ang="0">
                    <a:pos x="540" y="0"/>
                  </a:cxn>
                </a:cxnLst>
                <a:rect l="txL" t="txT" r="txR" b="txB"/>
                <a:pathLst>
                  <a:path w="540" h="540">
                    <a:moveTo>
                      <a:pt x="0" y="540"/>
                    </a:moveTo>
                    <a:lnTo>
                      <a:pt x="540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46" name="Freeform 117"/>
              <p:cNvSpPr/>
              <p:nvPr/>
            </p:nvSpPr>
            <p:spPr>
              <a:xfrm>
                <a:off x="864" y="2568"/>
                <a:ext cx="383" cy="359"/>
              </a:xfrm>
              <a:custGeom>
                <a:avLst/>
                <a:gdLst>
                  <a:gd name="txL" fmla="*/ 0 w 453"/>
                  <a:gd name="txT" fmla="*/ 0 h 449"/>
                  <a:gd name="txR" fmla="*/ 453 w 453"/>
                  <a:gd name="txB" fmla="*/ 449 h 449"/>
                </a:gdLst>
                <a:ahLst/>
                <a:cxnLst>
                  <a:cxn ang="0">
                    <a:pos x="0" y="287"/>
                  </a:cxn>
                  <a:cxn ang="0">
                    <a:pos x="324" y="0"/>
                  </a:cxn>
                </a:cxnLst>
                <a:rect l="txL" t="txT" r="txR" b="txB"/>
                <a:pathLst>
                  <a:path w="453" h="449">
                    <a:moveTo>
                      <a:pt x="0" y="449"/>
                    </a:moveTo>
                    <a:lnTo>
                      <a:pt x="453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47" name="Freeform 118"/>
              <p:cNvSpPr>
                <a:spLocks noChangeAspect="1"/>
              </p:cNvSpPr>
              <p:nvPr/>
            </p:nvSpPr>
            <p:spPr>
              <a:xfrm>
                <a:off x="1032" y="2713"/>
                <a:ext cx="222" cy="222"/>
              </a:xfrm>
              <a:custGeom>
                <a:avLst/>
                <a:gdLst>
                  <a:gd name="txL" fmla="*/ 0 w 375"/>
                  <a:gd name="txT" fmla="*/ 0 h 374"/>
                  <a:gd name="txR" fmla="*/ 375 w 375"/>
                  <a:gd name="txB" fmla="*/ 374 h 374"/>
                </a:gdLst>
                <a:ahLst/>
                <a:cxnLst>
                  <a:cxn ang="0">
                    <a:pos x="0" y="132"/>
                  </a:cxn>
                  <a:cxn ang="0">
                    <a:pos x="131" y="0"/>
                  </a:cxn>
                </a:cxnLst>
                <a:rect l="txL" t="txT" r="txR" b="txB"/>
                <a:pathLst>
                  <a:path w="375" h="374">
                    <a:moveTo>
                      <a:pt x="0" y="374"/>
                    </a:moveTo>
                    <a:lnTo>
                      <a:pt x="375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48" name="Freeform 119"/>
              <p:cNvSpPr/>
              <p:nvPr/>
            </p:nvSpPr>
            <p:spPr>
              <a:xfrm>
                <a:off x="1206" y="2768"/>
                <a:ext cx="171" cy="170"/>
              </a:xfrm>
              <a:custGeom>
                <a:avLst/>
                <a:gdLst>
                  <a:gd name="txL" fmla="*/ 0 w 315"/>
                  <a:gd name="txT" fmla="*/ 0 h 315"/>
                  <a:gd name="txR" fmla="*/ 315 w 315"/>
                  <a:gd name="txB" fmla="*/ 315 h 315"/>
                </a:gdLst>
                <a:ahLst/>
                <a:cxnLst>
                  <a:cxn ang="0">
                    <a:pos x="0" y="92"/>
                  </a:cxn>
                  <a:cxn ang="0">
                    <a:pos x="93" y="0"/>
                  </a:cxn>
                </a:cxnLst>
                <a:rect l="txL" t="txT" r="txR" b="txB"/>
                <a:pathLst>
                  <a:path w="315" h="315">
                    <a:moveTo>
                      <a:pt x="0" y="315"/>
                    </a:moveTo>
                    <a:lnTo>
                      <a:pt x="315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49" name="Freeform 120"/>
              <p:cNvSpPr/>
              <p:nvPr/>
            </p:nvSpPr>
            <p:spPr>
              <a:xfrm>
                <a:off x="672" y="1354"/>
                <a:ext cx="465" cy="469"/>
              </a:xfrm>
              <a:custGeom>
                <a:avLst/>
                <a:gdLst>
                  <a:gd name="txL" fmla="*/ 0 w 465"/>
                  <a:gd name="txT" fmla="*/ 0 h 469"/>
                  <a:gd name="txR" fmla="*/ 465 w 465"/>
                  <a:gd name="txB" fmla="*/ 469 h 469"/>
                </a:gdLst>
                <a:ahLst/>
                <a:cxnLst>
                  <a:cxn ang="0">
                    <a:pos x="0" y="469"/>
                  </a:cxn>
                  <a:cxn ang="0">
                    <a:pos x="465" y="0"/>
                  </a:cxn>
                </a:cxnLst>
                <a:rect l="txL" t="txT" r="txR" b="txB"/>
                <a:pathLst>
                  <a:path w="465" h="469">
                    <a:moveTo>
                      <a:pt x="0" y="469"/>
                    </a:moveTo>
                    <a:lnTo>
                      <a:pt x="465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50" name="Freeform 121"/>
              <p:cNvSpPr/>
              <p:nvPr/>
            </p:nvSpPr>
            <p:spPr>
              <a:xfrm>
                <a:off x="702" y="1354"/>
                <a:ext cx="285" cy="285"/>
              </a:xfrm>
              <a:custGeom>
                <a:avLst/>
                <a:gdLst>
                  <a:gd name="txL" fmla="*/ 0 w 285"/>
                  <a:gd name="txT" fmla="*/ 0 h 285"/>
                  <a:gd name="txR" fmla="*/ 285 w 285"/>
                  <a:gd name="txB" fmla="*/ 285 h 285"/>
                </a:gdLst>
                <a:ahLst/>
                <a:cxnLst>
                  <a:cxn ang="0">
                    <a:pos x="0" y="285"/>
                  </a:cxn>
                  <a:cxn ang="0">
                    <a:pos x="285" y="0"/>
                  </a:cxn>
                </a:cxnLst>
                <a:rect l="txL" t="txT" r="txR" b="txB"/>
                <a:pathLst>
                  <a:path w="285" h="285">
                    <a:moveTo>
                      <a:pt x="0" y="285"/>
                    </a:moveTo>
                    <a:lnTo>
                      <a:pt x="285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51" name="Freeform 122"/>
              <p:cNvSpPr/>
              <p:nvPr/>
            </p:nvSpPr>
            <p:spPr>
              <a:xfrm>
                <a:off x="681" y="1368"/>
                <a:ext cx="135" cy="135"/>
              </a:xfrm>
              <a:custGeom>
                <a:avLst/>
                <a:gdLst>
                  <a:gd name="txL" fmla="*/ 0 w 135"/>
                  <a:gd name="txT" fmla="*/ 0 h 135"/>
                  <a:gd name="txR" fmla="*/ 135 w 135"/>
                  <a:gd name="txB" fmla="*/ 135 h 135"/>
                </a:gdLst>
                <a:ahLst/>
                <a:cxnLst>
                  <a:cxn ang="0">
                    <a:pos x="0" y="135"/>
                  </a:cxn>
                  <a:cxn ang="0">
                    <a:pos x="135" y="0"/>
                  </a:cxn>
                </a:cxnLst>
                <a:rect l="txL" t="txT" r="txR" b="txB"/>
                <a:pathLst>
                  <a:path w="135" h="135">
                    <a:moveTo>
                      <a:pt x="0" y="135"/>
                    </a:moveTo>
                    <a:lnTo>
                      <a:pt x="135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52" name="Freeform 123"/>
              <p:cNvSpPr/>
              <p:nvPr/>
            </p:nvSpPr>
            <p:spPr>
              <a:xfrm>
                <a:off x="1824" y="2358"/>
                <a:ext cx="573" cy="569"/>
              </a:xfrm>
              <a:custGeom>
                <a:avLst/>
                <a:gdLst>
                  <a:gd name="txL" fmla="*/ 0 w 573"/>
                  <a:gd name="txT" fmla="*/ 0 h 569"/>
                  <a:gd name="txR" fmla="*/ 573 w 573"/>
                  <a:gd name="txB" fmla="*/ 569 h 569"/>
                </a:gdLst>
                <a:ahLst/>
                <a:cxnLst>
                  <a:cxn ang="0">
                    <a:pos x="0" y="569"/>
                  </a:cxn>
                  <a:cxn ang="0">
                    <a:pos x="573" y="0"/>
                  </a:cxn>
                </a:cxnLst>
                <a:rect l="txL" t="txT" r="txR" b="txB"/>
                <a:pathLst>
                  <a:path w="573" h="569">
                    <a:moveTo>
                      <a:pt x="0" y="569"/>
                    </a:moveTo>
                    <a:lnTo>
                      <a:pt x="573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53" name="Freeform 124"/>
              <p:cNvSpPr/>
              <p:nvPr/>
            </p:nvSpPr>
            <p:spPr>
              <a:xfrm>
                <a:off x="1992" y="2523"/>
                <a:ext cx="405" cy="405"/>
              </a:xfrm>
              <a:custGeom>
                <a:avLst/>
                <a:gdLst>
                  <a:gd name="txL" fmla="*/ 0 w 405"/>
                  <a:gd name="txT" fmla="*/ 0 h 405"/>
                  <a:gd name="txR" fmla="*/ 405 w 405"/>
                  <a:gd name="txB" fmla="*/ 405 h 405"/>
                </a:gdLst>
                <a:ahLst/>
                <a:cxnLst>
                  <a:cxn ang="0">
                    <a:pos x="0" y="405"/>
                  </a:cxn>
                  <a:cxn ang="0">
                    <a:pos x="405" y="0"/>
                  </a:cxn>
                </a:cxnLst>
                <a:rect l="txL" t="txT" r="txR" b="txB"/>
                <a:pathLst>
                  <a:path w="405" h="405">
                    <a:moveTo>
                      <a:pt x="0" y="405"/>
                    </a:moveTo>
                    <a:lnTo>
                      <a:pt x="405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54" name="Line 125"/>
              <p:cNvSpPr/>
              <p:nvPr/>
            </p:nvSpPr>
            <p:spPr>
              <a:xfrm flipV="1">
                <a:off x="2160" y="2687"/>
                <a:ext cx="240" cy="240"/>
              </a:xfrm>
              <a:prstGeom prst="line">
                <a:avLst/>
              </a:prstGeom>
              <a:ln w="12700" cap="flat" cmpd="sng">
                <a:solidFill>
                  <a:srgbClr val="99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9755" name="Line 126"/>
              <p:cNvSpPr/>
              <p:nvPr/>
            </p:nvSpPr>
            <p:spPr>
              <a:xfrm flipV="1">
                <a:off x="2304" y="2831"/>
                <a:ext cx="96" cy="96"/>
              </a:xfrm>
              <a:prstGeom prst="line">
                <a:avLst/>
              </a:prstGeom>
              <a:ln w="12700" cap="flat" cmpd="sng">
                <a:solidFill>
                  <a:srgbClr val="99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9756" name="Freeform 127"/>
              <p:cNvSpPr/>
              <p:nvPr/>
            </p:nvSpPr>
            <p:spPr>
              <a:xfrm>
                <a:off x="1824" y="1354"/>
                <a:ext cx="423" cy="421"/>
              </a:xfrm>
              <a:custGeom>
                <a:avLst/>
                <a:gdLst>
                  <a:gd name="txL" fmla="*/ 0 w 423"/>
                  <a:gd name="txT" fmla="*/ 0 h 421"/>
                  <a:gd name="txR" fmla="*/ 423 w 423"/>
                  <a:gd name="txB" fmla="*/ 421 h 421"/>
                </a:gdLst>
                <a:ahLst/>
                <a:cxnLst>
                  <a:cxn ang="0">
                    <a:pos x="0" y="421"/>
                  </a:cxn>
                  <a:cxn ang="0">
                    <a:pos x="423" y="0"/>
                  </a:cxn>
                </a:cxnLst>
                <a:rect l="txL" t="txT" r="txR" b="txB"/>
                <a:pathLst>
                  <a:path w="423" h="421">
                    <a:moveTo>
                      <a:pt x="0" y="421"/>
                    </a:moveTo>
                    <a:lnTo>
                      <a:pt x="423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57" name="Freeform 128"/>
              <p:cNvSpPr/>
              <p:nvPr/>
            </p:nvSpPr>
            <p:spPr>
              <a:xfrm>
                <a:off x="1827" y="1354"/>
                <a:ext cx="270" cy="270"/>
              </a:xfrm>
              <a:custGeom>
                <a:avLst/>
                <a:gdLst>
                  <a:gd name="txL" fmla="*/ 0 w 270"/>
                  <a:gd name="txT" fmla="*/ 0 h 270"/>
                  <a:gd name="txR" fmla="*/ 270 w 270"/>
                  <a:gd name="txB" fmla="*/ 270 h 270"/>
                </a:gdLst>
                <a:ahLst/>
                <a:cxnLst>
                  <a:cxn ang="0">
                    <a:pos x="0" y="270"/>
                  </a:cxn>
                  <a:cxn ang="0">
                    <a:pos x="270" y="0"/>
                  </a:cxn>
                </a:cxnLst>
                <a:rect l="txL" t="txT" r="txR" b="txB"/>
                <a:pathLst>
                  <a:path w="270" h="270">
                    <a:moveTo>
                      <a:pt x="0" y="270"/>
                    </a:moveTo>
                    <a:lnTo>
                      <a:pt x="270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58" name="Freeform 129"/>
              <p:cNvSpPr/>
              <p:nvPr/>
            </p:nvSpPr>
            <p:spPr>
              <a:xfrm>
                <a:off x="1827" y="1354"/>
                <a:ext cx="120" cy="120"/>
              </a:xfrm>
              <a:custGeom>
                <a:avLst/>
                <a:gdLst>
                  <a:gd name="txL" fmla="*/ 0 w 120"/>
                  <a:gd name="txT" fmla="*/ 0 h 120"/>
                  <a:gd name="txR" fmla="*/ 120 w 120"/>
                  <a:gd name="txB" fmla="*/ 120 h 120"/>
                </a:gdLst>
                <a:ahLst/>
                <a:cxnLst>
                  <a:cxn ang="0">
                    <a:pos x="0" y="120"/>
                  </a:cxn>
                  <a:cxn ang="0">
                    <a:pos x="120" y="0"/>
                  </a:cxn>
                </a:cxnLst>
                <a:rect l="txL" t="txT" r="txR" b="txB"/>
                <a:pathLst>
                  <a:path w="120" h="120">
                    <a:moveTo>
                      <a:pt x="0" y="120"/>
                    </a:moveTo>
                    <a:lnTo>
                      <a:pt x="120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59" name="Line 130"/>
              <p:cNvSpPr/>
              <p:nvPr/>
            </p:nvSpPr>
            <p:spPr>
              <a:xfrm>
                <a:off x="1200" y="2460"/>
                <a:ext cx="672" cy="0"/>
              </a:xfrm>
              <a:prstGeom prst="line">
                <a:avLst/>
              </a:prstGeom>
              <a:ln w="38100" cap="flat" cmpd="sng">
                <a:solidFill>
                  <a:srgbClr val="99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9760" name="Line 131"/>
              <p:cNvSpPr/>
              <p:nvPr/>
            </p:nvSpPr>
            <p:spPr>
              <a:xfrm flipV="1">
                <a:off x="1872" y="1359"/>
                <a:ext cx="0" cy="1111"/>
              </a:xfrm>
              <a:prstGeom prst="line">
                <a:avLst/>
              </a:prstGeom>
              <a:ln w="12700" cap="flat" cmpd="sng">
                <a:solidFill>
                  <a:srgbClr val="99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9761" name="Freeform 132"/>
              <p:cNvSpPr/>
              <p:nvPr/>
            </p:nvSpPr>
            <p:spPr>
              <a:xfrm>
                <a:off x="1197" y="1354"/>
                <a:ext cx="1" cy="1111"/>
              </a:xfrm>
              <a:custGeom>
                <a:avLst/>
                <a:gdLst>
                  <a:gd name="txL" fmla="*/ 0 w 1"/>
                  <a:gd name="txT" fmla="*/ 0 h 915"/>
                  <a:gd name="txR" fmla="*/ 1 w 1"/>
                  <a:gd name="txB" fmla="*/ 915 h 915"/>
                </a:gdLst>
                <a:ahLst/>
                <a:cxnLst>
                  <a:cxn ang="0">
                    <a:pos x="0" y="1349"/>
                  </a:cxn>
                  <a:cxn ang="0">
                    <a:pos x="0" y="0"/>
                  </a:cxn>
                </a:cxnLst>
                <a:rect l="txL" t="txT" r="txR" b="txB"/>
                <a:pathLst>
                  <a:path w="1" h="915">
                    <a:moveTo>
                      <a:pt x="0" y="915"/>
                    </a:moveTo>
                    <a:lnTo>
                      <a:pt x="0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62" name="Freeform 133"/>
              <p:cNvSpPr>
                <a:spLocks noChangeAspect="1"/>
              </p:cNvSpPr>
              <p:nvPr/>
            </p:nvSpPr>
            <p:spPr>
              <a:xfrm>
                <a:off x="1338" y="2822"/>
                <a:ext cx="120" cy="119"/>
              </a:xfrm>
              <a:custGeom>
                <a:avLst/>
                <a:gdLst>
                  <a:gd name="txL" fmla="*/ 0 w 315"/>
                  <a:gd name="txT" fmla="*/ 0 h 315"/>
                  <a:gd name="txR" fmla="*/ 315 w 315"/>
                  <a:gd name="txB" fmla="*/ 315 h 315"/>
                </a:gdLst>
                <a:ahLst/>
                <a:cxnLst>
                  <a:cxn ang="0">
                    <a:pos x="0" y="45"/>
                  </a:cxn>
                  <a:cxn ang="0">
                    <a:pos x="46" y="0"/>
                  </a:cxn>
                </a:cxnLst>
                <a:rect l="txL" t="txT" r="txR" b="txB"/>
                <a:pathLst>
                  <a:path w="315" h="315">
                    <a:moveTo>
                      <a:pt x="0" y="315"/>
                    </a:moveTo>
                    <a:lnTo>
                      <a:pt x="315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63" name="Freeform 134"/>
              <p:cNvSpPr/>
              <p:nvPr/>
            </p:nvSpPr>
            <p:spPr>
              <a:xfrm>
                <a:off x="1492" y="2783"/>
                <a:ext cx="171" cy="170"/>
              </a:xfrm>
              <a:custGeom>
                <a:avLst/>
                <a:gdLst>
                  <a:gd name="txL" fmla="*/ 0 w 315"/>
                  <a:gd name="txT" fmla="*/ 0 h 315"/>
                  <a:gd name="txR" fmla="*/ 315 w 315"/>
                  <a:gd name="txB" fmla="*/ 315 h 315"/>
                </a:gdLst>
                <a:ahLst/>
                <a:cxnLst>
                  <a:cxn ang="0">
                    <a:pos x="0" y="92"/>
                  </a:cxn>
                  <a:cxn ang="0">
                    <a:pos x="93" y="0"/>
                  </a:cxn>
                </a:cxnLst>
                <a:rect l="txL" t="txT" r="txR" b="txB"/>
                <a:pathLst>
                  <a:path w="315" h="315">
                    <a:moveTo>
                      <a:pt x="0" y="315"/>
                    </a:moveTo>
                    <a:lnTo>
                      <a:pt x="315" y="0"/>
                    </a:lnTo>
                  </a:path>
                </a:pathLst>
              </a:custGeom>
              <a:noFill/>
              <a:ln w="12700" cap="flat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6" name="Group 135"/>
          <p:cNvGrpSpPr/>
          <p:nvPr/>
        </p:nvGrpSpPr>
        <p:grpSpPr>
          <a:xfrm>
            <a:off x="1692275" y="812800"/>
            <a:ext cx="1574800" cy="5065713"/>
            <a:chOff x="1066" y="572"/>
            <a:chExt cx="992" cy="3191"/>
          </a:xfrm>
        </p:grpSpPr>
        <p:sp>
          <p:nvSpPr>
            <p:cNvPr id="69720" name="Line 136"/>
            <p:cNvSpPr/>
            <p:nvPr/>
          </p:nvSpPr>
          <p:spPr>
            <a:xfrm>
              <a:off x="1066" y="799"/>
              <a:ext cx="0" cy="294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9721" name="Line 137"/>
            <p:cNvSpPr/>
            <p:nvPr/>
          </p:nvSpPr>
          <p:spPr>
            <a:xfrm>
              <a:off x="2058" y="799"/>
              <a:ext cx="0" cy="285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9722" name="Line 138"/>
            <p:cNvSpPr/>
            <p:nvPr/>
          </p:nvSpPr>
          <p:spPr>
            <a:xfrm>
              <a:off x="1504" y="572"/>
              <a:ext cx="0" cy="299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9723" name="Line 139"/>
            <p:cNvSpPr/>
            <p:nvPr/>
          </p:nvSpPr>
          <p:spPr>
            <a:xfrm>
              <a:off x="1595" y="588"/>
              <a:ext cx="0" cy="31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" name="Group 140"/>
          <p:cNvGrpSpPr/>
          <p:nvPr/>
        </p:nvGrpSpPr>
        <p:grpSpPr>
          <a:xfrm rot="-2700000">
            <a:off x="1708150" y="4902200"/>
            <a:ext cx="1547813" cy="1547813"/>
            <a:chOff x="1064" y="3106"/>
            <a:chExt cx="975" cy="975"/>
          </a:xfrm>
        </p:grpSpPr>
        <p:sp>
          <p:nvSpPr>
            <p:cNvPr id="69717" name="Oval 141"/>
            <p:cNvSpPr/>
            <p:nvPr/>
          </p:nvSpPr>
          <p:spPr>
            <a:xfrm rot="-780000">
              <a:off x="1064" y="3106"/>
              <a:ext cx="975" cy="975"/>
            </a:xfrm>
            <a:prstGeom prst="ellipse">
              <a:avLst/>
            </a:prstGeom>
            <a:solidFill>
              <a:srgbClr val="99FF99"/>
            </a:solidFill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9718" name="Freeform 142"/>
            <p:cNvSpPr/>
            <p:nvPr/>
          </p:nvSpPr>
          <p:spPr>
            <a:xfrm rot="-780000">
              <a:off x="1175" y="3366"/>
              <a:ext cx="825" cy="522"/>
            </a:xfrm>
            <a:custGeom>
              <a:avLst/>
              <a:gdLst>
                <a:gd name="txL" fmla="*/ 0 w 825"/>
                <a:gd name="txT" fmla="*/ 0 h 480"/>
                <a:gd name="txR" fmla="*/ 825 w 825"/>
                <a:gd name="txB" fmla="*/ 480 h 480"/>
              </a:gdLst>
              <a:ahLst/>
              <a:cxnLst>
                <a:cxn ang="0">
                  <a:pos x="0" y="568"/>
                </a:cxn>
                <a:cxn ang="0">
                  <a:pos x="825" y="0"/>
                </a:cxn>
              </a:cxnLst>
              <a:rect l="txL" t="txT" r="txR" b="txB"/>
              <a:pathLst>
                <a:path w="825" h="480">
                  <a:moveTo>
                    <a:pt x="0" y="480"/>
                  </a:moveTo>
                  <a:lnTo>
                    <a:pt x="825" y="0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9719" name="Freeform 143"/>
            <p:cNvSpPr>
              <a:spLocks noChangeAspect="1"/>
            </p:cNvSpPr>
            <p:nvPr/>
          </p:nvSpPr>
          <p:spPr>
            <a:xfrm rot="-780000">
              <a:off x="1078" y="3286"/>
              <a:ext cx="839" cy="513"/>
            </a:xfrm>
            <a:custGeom>
              <a:avLst/>
              <a:gdLst>
                <a:gd name="txL" fmla="*/ 0 w 855"/>
                <a:gd name="txT" fmla="*/ 0 h 480"/>
                <a:gd name="txR" fmla="*/ 855 w 855"/>
                <a:gd name="txB" fmla="*/ 480 h 480"/>
              </a:gdLst>
              <a:ahLst/>
              <a:cxnLst>
                <a:cxn ang="0">
                  <a:pos x="0" y="548"/>
                </a:cxn>
                <a:cxn ang="0">
                  <a:pos x="823" y="0"/>
                </a:cxn>
              </a:cxnLst>
              <a:rect l="txL" t="txT" r="txR" b="txB"/>
              <a:pathLst>
                <a:path w="855" h="480">
                  <a:moveTo>
                    <a:pt x="0" y="480"/>
                  </a:moveTo>
                  <a:lnTo>
                    <a:pt x="855" y="0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144"/>
          <p:cNvGrpSpPr/>
          <p:nvPr/>
        </p:nvGrpSpPr>
        <p:grpSpPr>
          <a:xfrm>
            <a:off x="1701800" y="4894263"/>
            <a:ext cx="1584325" cy="1547812"/>
            <a:chOff x="1064" y="3106"/>
            <a:chExt cx="975" cy="975"/>
          </a:xfrm>
        </p:grpSpPr>
        <p:sp>
          <p:nvSpPr>
            <p:cNvPr id="69714" name="Oval 145"/>
            <p:cNvSpPr/>
            <p:nvPr/>
          </p:nvSpPr>
          <p:spPr>
            <a:xfrm rot="-780000">
              <a:off x="1064" y="3106"/>
              <a:ext cx="975" cy="975"/>
            </a:xfrm>
            <a:prstGeom prst="ellipse">
              <a:avLst/>
            </a:prstGeom>
            <a:solidFill>
              <a:srgbClr val="99FF99"/>
            </a:solidFill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9715" name="Freeform 146"/>
            <p:cNvSpPr/>
            <p:nvPr/>
          </p:nvSpPr>
          <p:spPr>
            <a:xfrm rot="-780000">
              <a:off x="1175" y="3366"/>
              <a:ext cx="825" cy="522"/>
            </a:xfrm>
            <a:custGeom>
              <a:avLst/>
              <a:gdLst>
                <a:gd name="txL" fmla="*/ 0 w 825"/>
                <a:gd name="txT" fmla="*/ 0 h 480"/>
                <a:gd name="txR" fmla="*/ 825 w 825"/>
                <a:gd name="txB" fmla="*/ 480 h 480"/>
              </a:gdLst>
              <a:ahLst/>
              <a:cxnLst>
                <a:cxn ang="0">
                  <a:pos x="0" y="568"/>
                </a:cxn>
                <a:cxn ang="0">
                  <a:pos x="825" y="0"/>
                </a:cxn>
              </a:cxnLst>
              <a:rect l="txL" t="txT" r="txR" b="txB"/>
              <a:pathLst>
                <a:path w="825" h="480">
                  <a:moveTo>
                    <a:pt x="0" y="480"/>
                  </a:moveTo>
                  <a:lnTo>
                    <a:pt x="825" y="0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9716" name="Freeform 147"/>
            <p:cNvSpPr>
              <a:spLocks noChangeAspect="1"/>
            </p:cNvSpPr>
            <p:nvPr/>
          </p:nvSpPr>
          <p:spPr>
            <a:xfrm rot="-780000">
              <a:off x="1078" y="3286"/>
              <a:ext cx="839" cy="513"/>
            </a:xfrm>
            <a:custGeom>
              <a:avLst/>
              <a:gdLst>
                <a:gd name="txL" fmla="*/ 0 w 855"/>
                <a:gd name="txT" fmla="*/ 0 h 480"/>
                <a:gd name="txR" fmla="*/ 855 w 855"/>
                <a:gd name="txB" fmla="*/ 480 h 480"/>
              </a:gdLst>
              <a:ahLst/>
              <a:cxnLst>
                <a:cxn ang="0">
                  <a:pos x="0" y="548"/>
                </a:cxn>
                <a:cxn ang="0">
                  <a:pos x="823" y="0"/>
                </a:cxn>
              </a:cxnLst>
              <a:rect l="txL" t="txT" r="txR" b="txB"/>
              <a:pathLst>
                <a:path w="855" h="480">
                  <a:moveTo>
                    <a:pt x="0" y="480"/>
                  </a:moveTo>
                  <a:lnTo>
                    <a:pt x="855" y="0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" name="Group 148"/>
          <p:cNvGrpSpPr/>
          <p:nvPr/>
        </p:nvGrpSpPr>
        <p:grpSpPr>
          <a:xfrm>
            <a:off x="1117600" y="4819650"/>
            <a:ext cx="2644775" cy="1752600"/>
            <a:chOff x="712" y="3054"/>
            <a:chExt cx="1666" cy="1104"/>
          </a:xfrm>
        </p:grpSpPr>
        <p:sp>
          <p:nvSpPr>
            <p:cNvPr id="69707" name="Freeform 149"/>
            <p:cNvSpPr/>
            <p:nvPr/>
          </p:nvSpPr>
          <p:spPr>
            <a:xfrm>
              <a:off x="1560" y="3078"/>
              <a:ext cx="1" cy="1080"/>
            </a:xfrm>
            <a:custGeom>
              <a:avLst/>
              <a:gdLst>
                <a:gd name="txL" fmla="*/ 0 w 1"/>
                <a:gd name="txT" fmla="*/ 0 h 1080"/>
                <a:gd name="txR" fmla="*/ 1 w 1"/>
                <a:gd name="txB" fmla="*/ 1080 h 1080"/>
              </a:gdLst>
              <a:ahLst/>
              <a:cxnLst>
                <a:cxn ang="0">
                  <a:pos x="0" y="0"/>
                </a:cxn>
                <a:cxn ang="0">
                  <a:pos x="0" y="1080"/>
                </a:cxn>
              </a:cxnLst>
              <a:rect l="txL" t="txT" r="txR" b="txB"/>
              <a:pathLst>
                <a:path w="1" h="1080">
                  <a:moveTo>
                    <a:pt x="0" y="0"/>
                  </a:moveTo>
                  <a:lnTo>
                    <a:pt x="0" y="1080"/>
                  </a:lnTo>
                </a:path>
              </a:pathLst>
            </a:custGeom>
            <a:noFill/>
            <a:ln w="12700" cap="flat" cmpd="sng">
              <a:solidFill>
                <a:srgbClr val="CC0000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9708" name="Freeform 150"/>
            <p:cNvSpPr/>
            <p:nvPr/>
          </p:nvSpPr>
          <p:spPr>
            <a:xfrm>
              <a:off x="930" y="3601"/>
              <a:ext cx="1260" cy="1"/>
            </a:xfrm>
            <a:custGeom>
              <a:avLst/>
              <a:gdLst>
                <a:gd name="txL" fmla="*/ 0 w 1260"/>
                <a:gd name="txT" fmla="*/ 0 h 1"/>
                <a:gd name="txR" fmla="*/ 1260 w 1260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260" y="0"/>
                </a:cxn>
              </a:cxnLst>
              <a:rect l="txL" t="txT" r="txR" b="txB"/>
              <a:pathLst>
                <a:path w="1260" h="1">
                  <a:moveTo>
                    <a:pt x="0" y="0"/>
                  </a:moveTo>
                  <a:lnTo>
                    <a:pt x="1260" y="0"/>
                  </a:lnTo>
                </a:path>
              </a:pathLst>
            </a:custGeom>
            <a:noFill/>
            <a:ln w="12700" cap="flat" cmpd="sng">
              <a:solidFill>
                <a:srgbClr val="CC0000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69709" name="Group 151"/>
            <p:cNvGrpSpPr/>
            <p:nvPr/>
          </p:nvGrpSpPr>
          <p:grpSpPr>
            <a:xfrm>
              <a:off x="712" y="3054"/>
              <a:ext cx="1666" cy="1104"/>
              <a:chOff x="712" y="3054"/>
              <a:chExt cx="1666" cy="1104"/>
            </a:xfrm>
          </p:grpSpPr>
          <p:sp>
            <p:nvSpPr>
              <p:cNvPr id="69710" name="Line 152"/>
              <p:cNvSpPr/>
              <p:nvPr/>
            </p:nvSpPr>
            <p:spPr>
              <a:xfrm>
                <a:off x="768" y="3054"/>
                <a:ext cx="1584" cy="0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9711" name="Line 153"/>
              <p:cNvSpPr/>
              <p:nvPr/>
            </p:nvSpPr>
            <p:spPr>
              <a:xfrm>
                <a:off x="720" y="4158"/>
                <a:ext cx="1632" cy="0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9712" name="Freeform 154"/>
              <p:cNvSpPr/>
              <p:nvPr/>
            </p:nvSpPr>
            <p:spPr>
              <a:xfrm>
                <a:off x="2301" y="3054"/>
                <a:ext cx="77" cy="1102"/>
              </a:xfrm>
              <a:custGeom>
                <a:avLst/>
                <a:gdLst>
                  <a:gd name="txL" fmla="*/ 0 w 77"/>
                  <a:gd name="txT" fmla="*/ 0 h 1102"/>
                  <a:gd name="txR" fmla="*/ 77 w 77"/>
                  <a:gd name="txB" fmla="*/ 1102 h 1102"/>
                </a:gdLst>
                <a:ahLst/>
                <a:cxnLst>
                  <a:cxn ang="0">
                    <a:pos x="51" y="0"/>
                  </a:cxn>
                  <a:cxn ang="0">
                    <a:pos x="3" y="240"/>
                  </a:cxn>
                  <a:cxn ang="0">
                    <a:pos x="51" y="480"/>
                  </a:cxn>
                  <a:cxn ang="0">
                    <a:pos x="3" y="720"/>
                  </a:cxn>
                  <a:cxn ang="0">
                    <a:pos x="69" y="892"/>
                  </a:cxn>
                  <a:cxn ang="0">
                    <a:pos x="54" y="1102"/>
                  </a:cxn>
                </a:cxnLst>
                <a:rect l="txL" t="txT" r="txR" b="txB"/>
                <a:pathLst>
                  <a:path w="77" h="1102">
                    <a:moveTo>
                      <a:pt x="51" y="0"/>
                    </a:moveTo>
                    <a:cubicBezTo>
                      <a:pt x="27" y="80"/>
                      <a:pt x="3" y="160"/>
                      <a:pt x="3" y="240"/>
                    </a:cubicBezTo>
                    <a:cubicBezTo>
                      <a:pt x="3" y="320"/>
                      <a:pt x="51" y="400"/>
                      <a:pt x="51" y="480"/>
                    </a:cubicBezTo>
                    <a:cubicBezTo>
                      <a:pt x="51" y="560"/>
                      <a:pt x="0" y="651"/>
                      <a:pt x="3" y="720"/>
                    </a:cubicBezTo>
                    <a:cubicBezTo>
                      <a:pt x="6" y="789"/>
                      <a:pt x="61" y="828"/>
                      <a:pt x="69" y="892"/>
                    </a:cubicBezTo>
                    <a:cubicBezTo>
                      <a:pt x="77" y="956"/>
                      <a:pt x="57" y="1058"/>
                      <a:pt x="54" y="1102"/>
                    </a:cubicBezTo>
                  </a:path>
                </a:pathLst>
              </a:custGeom>
              <a:noFill/>
              <a:ln w="12700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713" name="Freeform 155"/>
              <p:cNvSpPr/>
              <p:nvPr/>
            </p:nvSpPr>
            <p:spPr>
              <a:xfrm>
                <a:off x="712" y="3054"/>
                <a:ext cx="104" cy="1104"/>
              </a:xfrm>
              <a:custGeom>
                <a:avLst/>
                <a:gdLst>
                  <a:gd name="txL" fmla="*/ 0 w 104"/>
                  <a:gd name="txT" fmla="*/ 0 h 1104"/>
                  <a:gd name="txR" fmla="*/ 104 w 104"/>
                  <a:gd name="txB" fmla="*/ 1104 h 1104"/>
                </a:gdLst>
                <a:ahLst/>
                <a:cxnLst>
                  <a:cxn ang="0">
                    <a:pos x="56" y="0"/>
                  </a:cxn>
                  <a:cxn ang="0">
                    <a:pos x="8" y="192"/>
                  </a:cxn>
                  <a:cxn ang="0">
                    <a:pos x="104" y="432"/>
                  </a:cxn>
                  <a:cxn ang="0">
                    <a:pos x="8" y="672"/>
                  </a:cxn>
                  <a:cxn ang="0">
                    <a:pos x="104" y="912"/>
                  </a:cxn>
                  <a:cxn ang="0">
                    <a:pos x="8" y="1104"/>
                  </a:cxn>
                </a:cxnLst>
                <a:rect l="txL" t="txT" r="txR" b="txB"/>
                <a:pathLst>
                  <a:path w="104" h="1104">
                    <a:moveTo>
                      <a:pt x="56" y="0"/>
                    </a:moveTo>
                    <a:cubicBezTo>
                      <a:pt x="28" y="60"/>
                      <a:pt x="0" y="120"/>
                      <a:pt x="8" y="192"/>
                    </a:cubicBezTo>
                    <a:cubicBezTo>
                      <a:pt x="16" y="264"/>
                      <a:pt x="104" y="352"/>
                      <a:pt x="104" y="432"/>
                    </a:cubicBezTo>
                    <a:cubicBezTo>
                      <a:pt x="104" y="512"/>
                      <a:pt x="8" y="592"/>
                      <a:pt x="8" y="672"/>
                    </a:cubicBezTo>
                    <a:cubicBezTo>
                      <a:pt x="8" y="752"/>
                      <a:pt x="104" y="840"/>
                      <a:pt x="104" y="912"/>
                    </a:cubicBezTo>
                    <a:cubicBezTo>
                      <a:pt x="104" y="984"/>
                      <a:pt x="56" y="1044"/>
                      <a:pt x="8" y="1104"/>
                    </a:cubicBezTo>
                  </a:path>
                </a:pathLst>
              </a:custGeom>
              <a:noFill/>
              <a:ln w="12700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1" name="Group 156"/>
          <p:cNvGrpSpPr/>
          <p:nvPr/>
        </p:nvGrpSpPr>
        <p:grpSpPr>
          <a:xfrm>
            <a:off x="2700338" y="1427163"/>
            <a:ext cx="2014537" cy="3481387"/>
            <a:chOff x="1701" y="839"/>
            <a:chExt cx="1269" cy="2193"/>
          </a:xfrm>
        </p:grpSpPr>
        <p:sp>
          <p:nvSpPr>
            <p:cNvPr id="69689" name="Freeform 157"/>
            <p:cNvSpPr/>
            <p:nvPr/>
          </p:nvSpPr>
          <p:spPr>
            <a:xfrm>
              <a:off x="2177" y="1369"/>
              <a:ext cx="405" cy="1"/>
            </a:xfrm>
            <a:custGeom>
              <a:avLst/>
              <a:gdLst>
                <a:gd name="txL" fmla="*/ 0 w 405"/>
                <a:gd name="txT" fmla="*/ 0 h 1"/>
                <a:gd name="txR" fmla="*/ 405 w 405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05" y="0"/>
                </a:cxn>
              </a:cxnLst>
              <a:rect l="txL" t="txT" r="txR" b="txB"/>
              <a:pathLst>
                <a:path w="405" h="1">
                  <a:moveTo>
                    <a:pt x="0" y="0"/>
                  </a:moveTo>
                  <a:lnTo>
                    <a:pt x="405" y="0"/>
                  </a:lnTo>
                </a:path>
              </a:pathLst>
            </a:cu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9690" name="Freeform 158"/>
            <p:cNvSpPr/>
            <p:nvPr/>
          </p:nvSpPr>
          <p:spPr>
            <a:xfrm>
              <a:off x="2202" y="842"/>
              <a:ext cx="768" cy="6"/>
            </a:xfrm>
            <a:custGeom>
              <a:avLst/>
              <a:gdLst>
                <a:gd name="txL" fmla="*/ 0 w 768"/>
                <a:gd name="txT" fmla="*/ 0 h 6"/>
                <a:gd name="txR" fmla="*/ 768 w 768"/>
                <a:gd name="txB" fmla="*/ 6 h 6"/>
              </a:gdLst>
              <a:ahLst/>
              <a:cxnLst>
                <a:cxn ang="0">
                  <a:pos x="0" y="6"/>
                </a:cxn>
                <a:cxn ang="0">
                  <a:pos x="768" y="0"/>
                </a:cxn>
              </a:cxnLst>
              <a:rect l="txL" t="txT" r="txR" b="txB"/>
              <a:pathLst>
                <a:path w="768" h="6">
                  <a:moveTo>
                    <a:pt x="0" y="6"/>
                  </a:moveTo>
                  <a:lnTo>
                    <a:pt x="768" y="0"/>
                  </a:lnTo>
                </a:path>
              </a:pathLst>
            </a:cu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69691" name="Group 159"/>
            <p:cNvGrpSpPr/>
            <p:nvPr/>
          </p:nvGrpSpPr>
          <p:grpSpPr>
            <a:xfrm>
              <a:off x="1701" y="839"/>
              <a:ext cx="1239" cy="2193"/>
              <a:chOff x="1701" y="839"/>
              <a:chExt cx="1239" cy="2193"/>
            </a:xfrm>
          </p:grpSpPr>
          <p:grpSp>
            <p:nvGrpSpPr>
              <p:cNvPr id="69692" name="Group 160"/>
              <p:cNvGrpSpPr/>
              <p:nvPr/>
            </p:nvGrpSpPr>
            <p:grpSpPr>
              <a:xfrm>
                <a:off x="2297" y="839"/>
                <a:ext cx="288" cy="555"/>
                <a:chOff x="2445" y="825"/>
                <a:chExt cx="288" cy="555"/>
              </a:xfrm>
            </p:grpSpPr>
            <p:sp>
              <p:nvSpPr>
                <p:cNvPr id="69705" name="Text Box 161"/>
                <p:cNvSpPr txBox="1"/>
                <p:nvPr/>
              </p:nvSpPr>
              <p:spPr>
                <a:xfrm rot="-5400000">
                  <a:off x="2434" y="996"/>
                  <a:ext cx="310" cy="288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chemeClr val="accent2"/>
                      </a:solidFill>
                      <a:latin typeface="Times New Roman" panose="02020603050405020304" pitchFamily="18" charset="0"/>
                    </a:rPr>
                    <a:t>δ</a:t>
                  </a:r>
                  <a:endParaRPr lang="en-US" altLang="zh-CN" sz="2400" b="1" dirty="0">
                    <a:solidFill>
                      <a:schemeClr val="accent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9706" name="Freeform 162"/>
                <p:cNvSpPr/>
                <p:nvPr/>
              </p:nvSpPr>
              <p:spPr>
                <a:xfrm>
                  <a:off x="2685" y="825"/>
                  <a:ext cx="1" cy="555"/>
                </a:xfrm>
                <a:custGeom>
                  <a:avLst/>
                  <a:gdLst>
                    <a:gd name="txL" fmla="*/ 0 w 1"/>
                    <a:gd name="txT" fmla="*/ 0 h 555"/>
                    <a:gd name="txR" fmla="*/ 1 w 1"/>
                    <a:gd name="txB" fmla="*/ 555 h 555"/>
                  </a:gdLst>
                  <a:ahLst/>
                  <a:cxnLst>
                    <a:cxn ang="0">
                      <a:pos x="0" y="0"/>
                    </a:cxn>
                    <a:cxn ang="0">
                      <a:pos x="0" y="555"/>
                    </a:cxn>
                  </a:cxnLst>
                  <a:rect l="txL" t="txT" r="txR" b="txB"/>
                  <a:pathLst>
                    <a:path w="1" h="555">
                      <a:moveTo>
                        <a:pt x="0" y="0"/>
                      </a:moveTo>
                      <a:lnTo>
                        <a:pt x="0" y="555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accent2"/>
                  </a:solidFill>
                  <a:prstDash val="solid"/>
                  <a:round/>
                  <a:headEnd type="triangle" w="sm" len="lg"/>
                  <a:tailEnd type="triangle" w="sm" len="lg"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69693" name="Freeform 163"/>
              <p:cNvSpPr/>
              <p:nvPr/>
            </p:nvSpPr>
            <p:spPr>
              <a:xfrm flipH="1">
                <a:off x="2472" y="1358"/>
                <a:ext cx="65" cy="870"/>
              </a:xfrm>
              <a:custGeom>
                <a:avLst/>
                <a:gdLst>
                  <a:gd name="txL" fmla="*/ 0 w 1"/>
                  <a:gd name="txT" fmla="*/ 0 h 766"/>
                  <a:gd name="txR" fmla="*/ 1 w 1"/>
                  <a:gd name="txB" fmla="*/ 766 h 766"/>
                </a:gdLst>
                <a:ahLst/>
                <a:cxnLst>
                  <a:cxn ang="0">
                    <a:pos x="0" y="0"/>
                  </a:cxn>
                  <a:cxn ang="0">
                    <a:pos x="0" y="988"/>
                  </a:cxn>
                </a:cxnLst>
                <a:rect l="txL" t="txT" r="txR" b="txB"/>
                <a:pathLst>
                  <a:path w="1" h="766">
                    <a:moveTo>
                      <a:pt x="0" y="0"/>
                    </a:moveTo>
                    <a:lnTo>
                      <a:pt x="0" y="766"/>
                    </a:lnTo>
                  </a:path>
                </a:pathLst>
              </a:custGeom>
              <a:noFill/>
              <a:ln w="12700" cap="flat" cmpd="sng">
                <a:solidFill>
                  <a:schemeClr val="accent2"/>
                </a:solidFill>
                <a:prstDash val="solid"/>
                <a:round/>
                <a:headEnd type="triangle" w="sm" len="lg"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694" name="Text Box 164"/>
              <p:cNvSpPr txBox="1"/>
              <p:nvPr/>
            </p:nvSpPr>
            <p:spPr>
              <a:xfrm rot="-5400000">
                <a:off x="2252" y="1569"/>
                <a:ext cx="383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>
                <a:sp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bm</a:t>
                </a:r>
                <a:endParaRPr lang="en-US" altLang="zh-CN" sz="2400" b="1" dirty="0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9695" name="Freeform 165"/>
              <p:cNvSpPr/>
              <p:nvPr/>
            </p:nvSpPr>
            <p:spPr>
              <a:xfrm>
                <a:off x="1710" y="2221"/>
                <a:ext cx="1230" cy="1"/>
              </a:xfrm>
              <a:custGeom>
                <a:avLst/>
                <a:gdLst>
                  <a:gd name="txL" fmla="*/ 0 w 1230"/>
                  <a:gd name="txT" fmla="*/ 0 h 1"/>
                  <a:gd name="txR" fmla="*/ 1230 w 1230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230" y="0"/>
                  </a:cxn>
                </a:cxnLst>
                <a:rect l="txL" t="txT" r="txR" b="txB"/>
                <a:pathLst>
                  <a:path w="1230" h="1">
                    <a:moveTo>
                      <a:pt x="0" y="0"/>
                    </a:moveTo>
                    <a:lnTo>
                      <a:pt x="1230" y="0"/>
                    </a:lnTo>
                  </a:path>
                </a:pathLst>
              </a:custGeom>
              <a:noFill/>
              <a:ln w="127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696" name="Freeform 166"/>
              <p:cNvSpPr/>
              <p:nvPr/>
            </p:nvSpPr>
            <p:spPr>
              <a:xfrm>
                <a:off x="2871" y="845"/>
                <a:ext cx="46" cy="1379"/>
              </a:xfrm>
              <a:custGeom>
                <a:avLst/>
                <a:gdLst>
                  <a:gd name="txL" fmla="*/ 0 w 1"/>
                  <a:gd name="txT" fmla="*/ 0 h 1291"/>
                  <a:gd name="txR" fmla="*/ 1 w 1"/>
                  <a:gd name="txB" fmla="*/ 1291 h 1291"/>
                </a:gdLst>
                <a:ahLst/>
                <a:cxnLst>
                  <a:cxn ang="0">
                    <a:pos x="0" y="0"/>
                  </a:cxn>
                  <a:cxn ang="0">
                    <a:pos x="0" y="1473"/>
                  </a:cxn>
                </a:cxnLst>
                <a:rect l="txL" t="txT" r="txR" b="txB"/>
                <a:pathLst>
                  <a:path w="1" h="1291">
                    <a:moveTo>
                      <a:pt x="0" y="0"/>
                    </a:moveTo>
                    <a:lnTo>
                      <a:pt x="0" y="1291"/>
                    </a:lnTo>
                  </a:path>
                </a:pathLst>
              </a:custGeom>
              <a:noFill/>
              <a:ln w="12700" cap="flat" cmpd="sng">
                <a:solidFill>
                  <a:schemeClr val="accent2"/>
                </a:solidFill>
                <a:prstDash val="solid"/>
                <a:round/>
                <a:headEnd type="triangle" w="sm" len="lg"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697" name="Text Box 167"/>
              <p:cNvSpPr txBox="1"/>
              <p:nvPr/>
            </p:nvSpPr>
            <p:spPr>
              <a:xfrm rot="-5400000">
                <a:off x="2592" y="1423"/>
                <a:ext cx="372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L</a:t>
                </a:r>
                <a:r>
                  <a:rPr lang="zh-CN" altLang="en-US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计</a:t>
                </a:r>
                <a:endParaRPr lang="zh-CN" alt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9698" name="Text Box 168"/>
              <p:cNvSpPr txBox="1"/>
              <p:nvPr/>
            </p:nvSpPr>
            <p:spPr>
              <a:xfrm rot="-5400000">
                <a:off x="2307" y="2475"/>
                <a:ext cx="318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0.5d</a:t>
                </a:r>
                <a:endParaRPr lang="en-US" altLang="zh-CN" sz="1400" b="1" dirty="0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9699" name="Line 169"/>
              <p:cNvSpPr/>
              <p:nvPr/>
            </p:nvSpPr>
            <p:spPr>
              <a:xfrm>
                <a:off x="1701" y="2456"/>
                <a:ext cx="887" cy="0"/>
              </a:xfrm>
              <a:prstGeom prst="line">
                <a:avLst/>
              </a:prstGeom>
              <a:ln w="9525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9700" name="Line 170"/>
              <p:cNvSpPr/>
              <p:nvPr/>
            </p:nvSpPr>
            <p:spPr>
              <a:xfrm>
                <a:off x="2537" y="2689"/>
                <a:ext cx="0" cy="343"/>
              </a:xfrm>
              <a:prstGeom prst="line">
                <a:avLst/>
              </a:prstGeom>
              <a:ln w="9525" cap="flat" cmpd="sng">
                <a:solidFill>
                  <a:schemeClr val="accent2"/>
                </a:solidFill>
                <a:prstDash val="solid"/>
                <a:headEnd type="triangle" w="sm" len="lg"/>
                <a:tailEnd type="none" w="med" len="med"/>
              </a:ln>
            </p:spPr>
          </p:sp>
          <p:sp>
            <p:nvSpPr>
              <p:cNvPr id="69701" name="Line 171"/>
              <p:cNvSpPr/>
              <p:nvPr/>
            </p:nvSpPr>
            <p:spPr>
              <a:xfrm flipH="1">
                <a:off x="2539" y="2093"/>
                <a:ext cx="0" cy="596"/>
              </a:xfrm>
              <a:prstGeom prst="line">
                <a:avLst/>
              </a:prstGeom>
              <a:ln w="9525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9702" name="Line 172"/>
              <p:cNvSpPr/>
              <p:nvPr/>
            </p:nvSpPr>
            <p:spPr>
              <a:xfrm>
                <a:off x="1779" y="2694"/>
                <a:ext cx="887" cy="0"/>
              </a:xfrm>
              <a:prstGeom prst="line">
                <a:avLst/>
              </a:prstGeom>
              <a:ln w="9525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9703" name="Text Box 173"/>
              <p:cNvSpPr txBox="1"/>
              <p:nvPr/>
            </p:nvSpPr>
            <p:spPr>
              <a:xfrm rot="-5400000">
                <a:off x="2308" y="2252"/>
                <a:ext cx="318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0.5d</a:t>
                </a:r>
                <a:endParaRPr lang="en-US" altLang="zh-CN" sz="1400" b="1" dirty="0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9704" name="Oval 174"/>
              <p:cNvSpPr/>
              <p:nvPr/>
            </p:nvSpPr>
            <p:spPr>
              <a:xfrm>
                <a:off x="2527" y="2442"/>
                <a:ext cx="23" cy="23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4" name="Group 175"/>
          <p:cNvGrpSpPr/>
          <p:nvPr/>
        </p:nvGrpSpPr>
        <p:grpSpPr>
          <a:xfrm>
            <a:off x="1692275" y="715963"/>
            <a:ext cx="1576388" cy="2947987"/>
            <a:chOff x="1072" y="398"/>
            <a:chExt cx="993" cy="1857"/>
          </a:xfrm>
        </p:grpSpPr>
        <p:grpSp>
          <p:nvGrpSpPr>
            <p:cNvPr id="69671" name="Group 176"/>
            <p:cNvGrpSpPr/>
            <p:nvPr/>
          </p:nvGrpSpPr>
          <p:grpSpPr>
            <a:xfrm>
              <a:off x="1072" y="440"/>
              <a:ext cx="993" cy="418"/>
              <a:chOff x="1066" y="469"/>
              <a:chExt cx="993" cy="418"/>
            </a:xfrm>
          </p:grpSpPr>
          <p:sp>
            <p:nvSpPr>
              <p:cNvPr id="69686" name="Rectangle 177"/>
              <p:cNvSpPr/>
              <p:nvPr/>
            </p:nvSpPr>
            <p:spPr>
              <a:xfrm>
                <a:off x="1066" y="482"/>
                <a:ext cx="993" cy="405"/>
              </a:xfrm>
              <a:prstGeom prst="rect">
                <a:avLst/>
              </a:prstGeom>
              <a:solidFill>
                <a:srgbClr val="99FF99"/>
              </a:solidFill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687" name="Rectangle 178"/>
              <p:cNvSpPr/>
              <p:nvPr/>
            </p:nvSpPr>
            <p:spPr>
              <a:xfrm>
                <a:off x="1493" y="482"/>
                <a:ext cx="96" cy="192"/>
              </a:xfrm>
              <a:prstGeom prst="rect">
                <a:avLst/>
              </a:prstGeom>
              <a:solidFill>
                <a:schemeClr val="tx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688" name="Text Box 179"/>
              <p:cNvSpPr txBox="1"/>
              <p:nvPr/>
            </p:nvSpPr>
            <p:spPr>
              <a:xfrm>
                <a:off x="1506" y="469"/>
                <a:ext cx="68" cy="18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/>
              <a:p>
                <a:pPr>
                  <a:spcBef>
                    <a:spcPct val="50000"/>
                  </a:spcBef>
                </a:pP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9672" name="Group 180"/>
            <p:cNvGrpSpPr/>
            <p:nvPr/>
          </p:nvGrpSpPr>
          <p:grpSpPr>
            <a:xfrm>
              <a:off x="1208" y="861"/>
              <a:ext cx="683" cy="1362"/>
              <a:chOff x="984" y="941"/>
              <a:chExt cx="683" cy="1362"/>
            </a:xfrm>
          </p:grpSpPr>
          <p:grpSp>
            <p:nvGrpSpPr>
              <p:cNvPr id="69677" name="Group 181"/>
              <p:cNvGrpSpPr/>
              <p:nvPr/>
            </p:nvGrpSpPr>
            <p:grpSpPr>
              <a:xfrm>
                <a:off x="984" y="941"/>
                <a:ext cx="682" cy="1362"/>
                <a:chOff x="995" y="945"/>
                <a:chExt cx="682" cy="1362"/>
              </a:xfrm>
            </p:grpSpPr>
            <p:sp>
              <p:nvSpPr>
                <p:cNvPr id="69679" name="Rectangle 182"/>
                <p:cNvSpPr/>
                <p:nvPr/>
              </p:nvSpPr>
              <p:spPr>
                <a:xfrm>
                  <a:off x="995" y="945"/>
                  <a:ext cx="678" cy="1260"/>
                </a:xfrm>
                <a:prstGeom prst="rect">
                  <a:avLst/>
                </a:prstGeom>
                <a:solidFill>
                  <a:srgbClr val="99FF99"/>
                </a:solidFill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9680" name="Line 183"/>
                <p:cNvSpPr/>
                <p:nvPr/>
              </p:nvSpPr>
              <p:spPr>
                <a:xfrm flipV="1">
                  <a:off x="1037" y="1140"/>
                  <a:ext cx="0" cy="1088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9681" name="Freeform 184"/>
                <p:cNvSpPr/>
                <p:nvPr/>
              </p:nvSpPr>
              <p:spPr>
                <a:xfrm>
                  <a:off x="1619" y="1149"/>
                  <a:ext cx="1" cy="1088"/>
                </a:xfrm>
                <a:custGeom>
                  <a:avLst/>
                  <a:gdLst>
                    <a:gd name="txL" fmla="*/ 0 w 1"/>
                    <a:gd name="txT" fmla="*/ 0 h 1081"/>
                    <a:gd name="txR" fmla="*/ 1 w 1"/>
                    <a:gd name="txB" fmla="*/ 1081 h 1081"/>
                  </a:gdLst>
                  <a:ahLst/>
                  <a:cxnLst>
                    <a:cxn ang="0">
                      <a:pos x="0" y="1095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1" h="1081">
                      <a:moveTo>
                        <a:pt x="0" y="1081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99FF99"/>
                </a:solidFill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69682" name="Group 185"/>
                <p:cNvGrpSpPr/>
                <p:nvPr/>
              </p:nvGrpSpPr>
              <p:grpSpPr>
                <a:xfrm>
                  <a:off x="997" y="2217"/>
                  <a:ext cx="680" cy="90"/>
                  <a:chOff x="1202" y="2115"/>
                  <a:chExt cx="680" cy="90"/>
                </a:xfrm>
              </p:grpSpPr>
              <p:sp>
                <p:nvSpPr>
                  <p:cNvPr id="69683" name="Line 186"/>
                  <p:cNvSpPr/>
                  <p:nvPr/>
                </p:nvSpPr>
                <p:spPr>
                  <a:xfrm>
                    <a:off x="1337" y="2205"/>
                    <a:ext cx="409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9684" name="Line 187"/>
                  <p:cNvSpPr/>
                  <p:nvPr/>
                </p:nvSpPr>
                <p:spPr>
                  <a:xfrm>
                    <a:off x="1202" y="2115"/>
                    <a:ext cx="136" cy="9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9685" name="Line 188"/>
                  <p:cNvSpPr/>
                  <p:nvPr/>
                </p:nvSpPr>
                <p:spPr>
                  <a:xfrm flipH="1">
                    <a:off x="1746" y="2115"/>
                    <a:ext cx="136" cy="9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69678" name="Line 189"/>
              <p:cNvSpPr/>
              <p:nvPr/>
            </p:nvSpPr>
            <p:spPr>
              <a:xfrm>
                <a:off x="989" y="1140"/>
                <a:ext cx="67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69673" name="Freeform 190"/>
            <p:cNvSpPr/>
            <p:nvPr/>
          </p:nvSpPr>
          <p:spPr>
            <a:xfrm>
              <a:off x="1552" y="398"/>
              <a:ext cx="3" cy="1857"/>
            </a:xfrm>
            <a:custGeom>
              <a:avLst/>
              <a:gdLst>
                <a:gd name="txL" fmla="*/ 0 w 3"/>
                <a:gd name="txT" fmla="*/ 0 h 1857"/>
                <a:gd name="txR" fmla="*/ 3 w 3"/>
                <a:gd name="txB" fmla="*/ 1857 h 1857"/>
              </a:gdLst>
              <a:ahLst/>
              <a:cxnLst>
                <a:cxn ang="0">
                  <a:pos x="3" y="1857"/>
                </a:cxn>
                <a:cxn ang="0">
                  <a:pos x="0" y="0"/>
                </a:cxn>
              </a:cxnLst>
              <a:rect l="txL" t="txT" r="txR" b="txB"/>
              <a:pathLst>
                <a:path w="3" h="1857">
                  <a:moveTo>
                    <a:pt x="3" y="1857"/>
                  </a:moveTo>
                  <a:lnTo>
                    <a:pt x="0" y="0"/>
                  </a:lnTo>
                </a:path>
              </a:pathLst>
            </a:custGeom>
            <a:solidFill>
              <a:srgbClr val="99FF99"/>
            </a:solidFill>
            <a:ln w="127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9674" name="Freeform 191"/>
            <p:cNvSpPr/>
            <p:nvPr/>
          </p:nvSpPr>
          <p:spPr>
            <a:xfrm>
              <a:off x="1205" y="2130"/>
              <a:ext cx="681" cy="90"/>
            </a:xfrm>
            <a:custGeom>
              <a:avLst/>
              <a:gdLst>
                <a:gd name="txL" fmla="*/ 0 w 681"/>
                <a:gd name="txT" fmla="*/ 0 h 90"/>
                <a:gd name="txR" fmla="*/ 681 w 681"/>
                <a:gd name="txB" fmla="*/ 90 h 90"/>
              </a:gdLst>
              <a:ahLst/>
              <a:cxnLst>
                <a:cxn ang="0">
                  <a:pos x="0" y="0"/>
                </a:cxn>
                <a:cxn ang="0">
                  <a:pos x="681" y="0"/>
                </a:cxn>
                <a:cxn ang="0">
                  <a:pos x="545" y="90"/>
                </a:cxn>
                <a:cxn ang="0">
                  <a:pos x="137" y="90"/>
                </a:cxn>
                <a:cxn ang="0">
                  <a:pos x="0" y="0"/>
                </a:cxn>
              </a:cxnLst>
              <a:rect l="txL" t="txT" r="txR" b="txB"/>
              <a:pathLst>
                <a:path w="681" h="90">
                  <a:moveTo>
                    <a:pt x="0" y="0"/>
                  </a:moveTo>
                  <a:lnTo>
                    <a:pt x="681" y="0"/>
                  </a:lnTo>
                  <a:lnTo>
                    <a:pt x="545" y="90"/>
                  </a:lnTo>
                  <a:lnTo>
                    <a:pt x="137" y="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FF99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9675" name="Line 192"/>
            <p:cNvSpPr/>
            <p:nvPr/>
          </p:nvSpPr>
          <p:spPr>
            <a:xfrm>
              <a:off x="1251" y="2123"/>
              <a:ext cx="0" cy="4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9676" name="Line 193"/>
            <p:cNvSpPr/>
            <p:nvPr/>
          </p:nvSpPr>
          <p:spPr>
            <a:xfrm>
              <a:off x="1833" y="2119"/>
              <a:ext cx="0" cy="4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49698" name="Line 194"/>
          <p:cNvSpPr/>
          <p:nvPr/>
        </p:nvSpPr>
        <p:spPr>
          <a:xfrm>
            <a:off x="1917700" y="2247900"/>
            <a:ext cx="1079500" cy="0"/>
          </a:xfrm>
          <a:prstGeom prst="line">
            <a:avLst/>
          </a:prstGeom>
          <a:ln w="38100" cap="flat" cmpd="sng">
            <a:solidFill>
              <a:srgbClr val="99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9699" name="Text Box 195"/>
          <p:cNvSpPr txBox="1"/>
          <p:nvPr/>
        </p:nvSpPr>
        <p:spPr>
          <a:xfrm>
            <a:off x="4962525" y="3619500"/>
            <a:ext cx="3503613" cy="39687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2000" b="1" dirty="0">
                <a:solidFill>
                  <a:srgbClr val="333399"/>
                </a:solidFill>
                <a:latin typeface="Times New Roman" panose="02020603050405020304" pitchFamily="18" charset="0"/>
                <a:sym typeface="Monotype Sorts" pitchFamily="2" charset="2"/>
              </a:rPr>
              <a:t>b.  </a:t>
            </a:r>
            <a:r>
              <a:rPr lang="zh-CN" altLang="en-US" sz="2000" b="1" dirty="0">
                <a:solidFill>
                  <a:srgbClr val="333399"/>
                </a:solidFill>
                <a:latin typeface="Times New Roman" panose="02020603050405020304" pitchFamily="18" charset="0"/>
                <a:sym typeface="Monotype Sorts" pitchFamily="2" charset="2"/>
              </a:rPr>
              <a:t>两块板的剖面线方向相反</a:t>
            </a:r>
            <a:endParaRPr lang="zh-CN" altLang="en-US" sz="2000" b="1" dirty="0">
              <a:solidFill>
                <a:srgbClr val="333399"/>
              </a:solidFill>
              <a:latin typeface="Times New Roman" panose="02020603050405020304" pitchFamily="18" charset="0"/>
              <a:sym typeface="Monotype Sorts" pitchFamily="2" charset="2"/>
            </a:endParaRPr>
          </a:p>
        </p:txBody>
      </p:sp>
      <p:sp>
        <p:nvSpPr>
          <p:cNvPr id="149700" name="Text Box 196"/>
          <p:cNvSpPr txBox="1"/>
          <p:nvPr/>
        </p:nvSpPr>
        <p:spPr>
          <a:xfrm>
            <a:off x="4945063" y="3263900"/>
            <a:ext cx="3509962" cy="39687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2000" b="1" dirty="0">
                <a:solidFill>
                  <a:srgbClr val="333399"/>
                </a:solidFill>
                <a:latin typeface="Times New Roman" panose="02020603050405020304" pitchFamily="18" charset="0"/>
                <a:sym typeface="Monotype Sorts" pitchFamily="2" charset="2"/>
              </a:rPr>
              <a:t>a.  </a:t>
            </a:r>
            <a:r>
              <a:rPr lang="zh-CN" altLang="en-US" sz="2000" b="1" dirty="0">
                <a:solidFill>
                  <a:srgbClr val="333399"/>
                </a:solidFill>
                <a:latin typeface="Times New Roman" panose="02020603050405020304" pitchFamily="18" charset="0"/>
                <a:sym typeface="Monotype Sorts" pitchFamily="2" charset="2"/>
              </a:rPr>
              <a:t>被连接件的孔径</a:t>
            </a:r>
            <a:r>
              <a:rPr lang="en-US" altLang="zh-CN" sz="2000" b="1" dirty="0">
                <a:solidFill>
                  <a:srgbClr val="333399"/>
                </a:solidFill>
                <a:latin typeface="Times New Roman" panose="02020603050405020304" pitchFamily="18" charset="0"/>
                <a:sym typeface="Monotype Sorts" pitchFamily="2" charset="2"/>
              </a:rPr>
              <a:t>=1.1d</a:t>
            </a:r>
            <a:endParaRPr lang="en-US" altLang="zh-CN" sz="2000" b="1" dirty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9" name="Group 197"/>
          <p:cNvGrpSpPr/>
          <p:nvPr/>
        </p:nvGrpSpPr>
        <p:grpSpPr>
          <a:xfrm>
            <a:off x="1763713" y="1795463"/>
            <a:ext cx="1295400" cy="244475"/>
            <a:chOff x="951" y="2036"/>
            <a:chExt cx="635" cy="174"/>
          </a:xfrm>
        </p:grpSpPr>
        <p:sp>
          <p:nvSpPr>
            <p:cNvPr id="69669" name="Line 198"/>
            <p:cNvSpPr/>
            <p:nvPr/>
          </p:nvSpPr>
          <p:spPr>
            <a:xfrm>
              <a:off x="951" y="2160"/>
              <a:ext cx="63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sm" len="lg"/>
              <a:tailEnd type="triangle" w="sm" len="lg"/>
            </a:ln>
          </p:spPr>
        </p:sp>
        <p:sp>
          <p:nvSpPr>
            <p:cNvPr id="69670" name="Text Box 199"/>
            <p:cNvSpPr txBox="1"/>
            <p:nvPr/>
          </p:nvSpPr>
          <p:spPr>
            <a:xfrm>
              <a:off x="1156" y="2036"/>
              <a:ext cx="318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000" dirty="0">
                  <a:latin typeface="Arial" panose="020B0604020202020204" pitchFamily="34" charset="0"/>
                </a:rPr>
                <a:t>      </a:t>
              </a:r>
              <a:r>
                <a:rPr lang="en-US" altLang="zh-CN" sz="1000" dirty="0">
                  <a:solidFill>
                    <a:srgbClr val="FF3399"/>
                  </a:solidFill>
                  <a:latin typeface="Arial" panose="020B0604020202020204" pitchFamily="34" charset="0"/>
                </a:rPr>
                <a:t>1.1d</a:t>
              </a:r>
              <a:endParaRPr lang="en-US" altLang="zh-CN" sz="1000" dirty="0">
                <a:solidFill>
                  <a:srgbClr val="FF3399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49704" name="Text Box 200"/>
          <p:cNvSpPr txBox="1"/>
          <p:nvPr/>
        </p:nvSpPr>
        <p:spPr>
          <a:xfrm>
            <a:off x="4960938" y="3943350"/>
            <a:ext cx="4141787" cy="6413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sym typeface="Monotype Sorts" pitchFamily="2" charset="2"/>
              </a:rPr>
              <a:t>c. 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大径线和大径线对齐；小径线和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小径线对齐。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9705" name="Text Box 201"/>
          <p:cNvSpPr txBox="1"/>
          <p:nvPr/>
        </p:nvSpPr>
        <p:spPr>
          <a:xfrm>
            <a:off x="4862513" y="4543425"/>
            <a:ext cx="4240212" cy="6413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sym typeface="Monotype Sorts" pitchFamily="2" charset="2"/>
              </a:rPr>
              <a:t>d. 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sym typeface="Monotype Sorts" pitchFamily="2" charset="2"/>
              </a:rPr>
              <a:t>旋合部分按外螺纹画；其余部分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sym typeface="Monotype Sorts" pitchFamily="2" charset="2"/>
            </a:endParaRPr>
          </a:p>
          <a:p>
            <a:pPr>
              <a:lnSpc>
                <a:spcPct val="9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sym typeface="Monotype Sorts" pitchFamily="2" charset="2"/>
              </a:rPr>
              <a:t>按各自的规定画。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sym typeface="Monotype Sorts" pitchFamily="2" charset="2"/>
            </a:endParaRPr>
          </a:p>
        </p:txBody>
      </p:sp>
      <p:sp>
        <p:nvSpPr>
          <p:cNvPr id="149706" name="Text Box 202"/>
          <p:cNvSpPr txBox="1"/>
          <p:nvPr/>
        </p:nvSpPr>
        <p:spPr>
          <a:xfrm>
            <a:off x="4859338" y="5221288"/>
            <a:ext cx="4284662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sym typeface="Monotype Sorts" pitchFamily="2" charset="2"/>
              </a:rPr>
              <a:t>d. 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sym typeface="Monotype Sorts" pitchFamily="2" charset="2"/>
              </a:rPr>
              <a:t>螺钉头部开槽画成与水平为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sym typeface="Monotype Sorts" pitchFamily="2" charset="2"/>
              </a:rPr>
              <a:t>45°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sym typeface="Monotype Sorts" pitchFamily="2" charset="2"/>
              </a:rPr>
              <a:t>。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sym typeface="Monotype Sorts" pitchFamily="2" charset="2"/>
            </a:endParaRPr>
          </a:p>
        </p:txBody>
      </p:sp>
      <p:sp>
        <p:nvSpPr>
          <p:cNvPr id="149707" name="AutoShape 203"/>
          <p:cNvSpPr/>
          <p:nvPr/>
        </p:nvSpPr>
        <p:spPr>
          <a:xfrm>
            <a:off x="4067175" y="944563"/>
            <a:ext cx="3060700" cy="901700"/>
          </a:xfrm>
          <a:prstGeom prst="wedgeRoundRectCallout">
            <a:avLst>
              <a:gd name="adj1" fmla="val -91079"/>
              <a:gd name="adj2" fmla="val 36796"/>
              <a:gd name="adj3" fmla="val 16667"/>
            </a:avLst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/>
          <a:lstStyle/>
          <a:p>
            <a:pPr algn="ctr"/>
            <a:r>
              <a:rPr lang="zh-CN" altLang="en-US" sz="1600" b="1" dirty="0">
                <a:latin typeface="Arial" panose="020B0604020202020204" pitchFamily="34" charset="0"/>
              </a:rPr>
              <a:t>表示螺钉还有拧紧余地，以保证联接紧固。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螺纹终止线高出螺孔端面</a:t>
            </a:r>
            <a:endParaRPr lang="zh-CN" altLang="en-US" sz="16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9708" name="AutoShape 204"/>
          <p:cNvSpPr/>
          <p:nvPr/>
        </p:nvSpPr>
        <p:spPr>
          <a:xfrm>
            <a:off x="4398963" y="1997075"/>
            <a:ext cx="2314575" cy="449263"/>
          </a:xfrm>
          <a:prstGeom prst="wedgeRoundRectCallout">
            <a:avLst>
              <a:gd name="adj1" fmla="val -103292"/>
              <a:gd name="adj2" fmla="val 6185"/>
              <a:gd name="adj3" fmla="val 16667"/>
            </a:avLst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螺孔端面</a:t>
            </a:r>
            <a:endParaRPr lang="zh-CN" altLang="en-US" sz="16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0" name="Group 276"/>
          <p:cNvGrpSpPr/>
          <p:nvPr/>
        </p:nvGrpSpPr>
        <p:grpSpPr>
          <a:xfrm>
            <a:off x="371475" y="1776413"/>
            <a:ext cx="1944688" cy="1873250"/>
            <a:chOff x="234" y="1059"/>
            <a:chExt cx="1225" cy="1180"/>
          </a:xfrm>
        </p:grpSpPr>
        <p:sp>
          <p:nvSpPr>
            <p:cNvPr id="69665" name="Line 277"/>
            <p:cNvSpPr/>
            <p:nvPr/>
          </p:nvSpPr>
          <p:spPr>
            <a:xfrm flipH="1">
              <a:off x="325" y="2229"/>
              <a:ext cx="113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9666" name="Line 278"/>
            <p:cNvSpPr/>
            <p:nvPr/>
          </p:nvSpPr>
          <p:spPr>
            <a:xfrm flipH="1">
              <a:off x="365" y="1063"/>
              <a:ext cx="1043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9667" name="Line 279"/>
            <p:cNvSpPr/>
            <p:nvPr/>
          </p:nvSpPr>
          <p:spPr>
            <a:xfrm>
              <a:off x="472" y="1059"/>
              <a:ext cx="0" cy="118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triangle" w="sm" len="lg"/>
              <a:tailEnd type="triangle" w="sm" len="lg"/>
            </a:ln>
          </p:spPr>
        </p:sp>
        <p:sp>
          <p:nvSpPr>
            <p:cNvPr id="69668" name="Text Box 280"/>
            <p:cNvSpPr txBox="1"/>
            <p:nvPr/>
          </p:nvSpPr>
          <p:spPr>
            <a:xfrm rot="10800000">
              <a:off x="234" y="1426"/>
              <a:ext cx="289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2d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</p:grpSp>
      <p:pic>
        <p:nvPicPr>
          <p:cNvPr id="149786" name="Picture 28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6603" t="21492" r="25310" b="12747"/>
          <a:stretch>
            <a:fillRect/>
          </a:stretch>
        </p:blipFill>
        <p:spPr>
          <a:xfrm>
            <a:off x="7092950" y="1089025"/>
            <a:ext cx="1911350" cy="20526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73" name="Rectangle 58"/>
          <p:cNvSpPr/>
          <p:nvPr/>
        </p:nvSpPr>
        <p:spPr>
          <a:xfrm>
            <a:off x="171450" y="120650"/>
            <a:ext cx="41052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2. </a:t>
            </a:r>
            <a:r>
              <a:rPr lang="zh-CN" altLang="en-US" sz="24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螺纹紧固件装配图的画法</a:t>
            </a:r>
            <a:endParaRPr lang="zh-CN" altLang="en-US" sz="24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343051" name="组合 343050"/>
          <p:cNvGrpSpPr/>
          <p:nvPr/>
        </p:nvGrpSpPr>
        <p:grpSpPr>
          <a:xfrm>
            <a:off x="299085" y="68770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9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4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75"/>
                                        <p:tgtEl>
                                          <p:spTgt spid="14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75"/>
                                        <p:tgtEl>
                                          <p:spTgt spid="14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1" dur="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3000"/>
                                        <p:tgtEl>
                                          <p:spTgt spid="14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" dur="2000"/>
                                        <p:tgtEl>
                                          <p:spTgt spid="149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2000"/>
                                        <p:tgtEl>
                                          <p:spTgt spid="149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75"/>
                                        <p:tgtEl>
                                          <p:spTgt spid="1497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75"/>
                                        <p:tgtEl>
                                          <p:spTgt spid="1497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75"/>
                                        <p:tgtEl>
                                          <p:spTgt spid="1497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89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8"/>
                                            </p:cond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0"/>
                            </p:stCondLst>
                            <p:childTnLst>
                              <p:par>
                                <p:cTn id="9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75"/>
                                        <p:tgtEl>
                                          <p:spTgt spid="149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75"/>
                                        <p:tgtEl>
                                          <p:spTgt spid="1495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75" fill="hold"/>
                                        <p:tgtEl>
                                          <p:spTgt spid="149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" fill="hold"/>
                                        <p:tgtEl>
                                          <p:spTgt spid="149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75"/>
                                        <p:tgtEl>
                                          <p:spTgt spid="149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75"/>
                                        <p:tgtEl>
                                          <p:spTgt spid="149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75"/>
                                        <p:tgtEl>
                                          <p:spTgt spid="149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3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49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49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49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49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90" grpId="0"/>
      <p:bldP spid="149591" grpId="0" build="p"/>
      <p:bldP spid="149592" grpId="0" build="p"/>
      <p:bldP spid="149593" grpId="0" build="p"/>
      <p:bldP spid="149594" grpId="0" build="p"/>
      <p:bldP spid="149699" grpId="0"/>
      <p:bldP spid="149700" grpId="0"/>
      <p:bldP spid="149704" grpId="0"/>
      <p:bldP spid="149705" grpId="0"/>
      <p:bldP spid="149706" grpId="0"/>
      <p:bldP spid="149707" grpId="0" bldLvl="0" animBg="1"/>
      <p:bldP spid="149708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文本框 29698"/>
          <p:cNvSpPr txBox="1"/>
          <p:nvPr/>
        </p:nvSpPr>
        <p:spPr>
          <a:xfrm>
            <a:off x="2987675" y="5734050"/>
            <a:ext cx="3455988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紧定螺钉连接画法</a:t>
            </a:r>
            <a:endParaRPr lang="zh-CN" altLang="en-US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9699" name="图片 29699" descr="图6－18"/>
          <p:cNvPicPr>
            <a:picLocks noChangeAspect="1"/>
          </p:cNvPicPr>
          <p:nvPr/>
        </p:nvPicPr>
        <p:blipFill>
          <a:blip r:embed="rId1">
            <a:clrChange>
              <a:clrFrom>
                <a:srgbClr val="F0F5F9"/>
              </a:clrFrom>
              <a:clrTo>
                <a:srgbClr val="F0F5F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39975" y="1268413"/>
            <a:ext cx="3863975" cy="432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73" name="Rectangle 58"/>
          <p:cNvSpPr/>
          <p:nvPr/>
        </p:nvSpPr>
        <p:spPr>
          <a:xfrm>
            <a:off x="171450" y="120650"/>
            <a:ext cx="41052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2. </a:t>
            </a:r>
            <a:r>
              <a:rPr lang="zh-CN" altLang="en-US" sz="24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螺纹紧固件装配图的画法</a:t>
            </a:r>
            <a:endParaRPr lang="zh-CN" altLang="en-US" sz="24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343051" name="组合 343050"/>
          <p:cNvGrpSpPr/>
          <p:nvPr/>
        </p:nvGrpSpPr>
        <p:grpSpPr>
          <a:xfrm>
            <a:off x="299085" y="68770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29" name="Rectangle 33"/>
          <p:cNvSpPr>
            <a:spLocks noGrp="1" noChangeArrowheads="1"/>
          </p:cNvSpPr>
          <p:nvPr>
            <p:ph type="title"/>
          </p:nvPr>
        </p:nvSpPr>
        <p:spPr>
          <a:xfrm>
            <a:off x="2825433" y="5629275"/>
            <a:ext cx="5976938" cy="6111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+mj-ea"/>
                <a:cs typeface="+mj-cs"/>
              </a:rPr>
              <a:t>常用键的型式和标记</a:t>
            </a:r>
            <a:r>
              <a: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zh-CN" altLang="en-US" sz="40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3888" name="Text Box 48"/>
          <p:cNvSpPr txBox="1"/>
          <p:nvPr/>
        </p:nvSpPr>
        <p:spPr>
          <a:xfrm>
            <a:off x="827088" y="979011"/>
            <a:ext cx="3133725" cy="58356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 eaLnBrk="0" hangingPunct="0"/>
            <a:r>
              <a:rPr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一</a:t>
            </a:r>
            <a:r>
              <a:rPr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sz="32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键的功用</a:t>
            </a:r>
            <a:endParaRPr lang="zh-CN" altLang="en-US" sz="32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90" name="Text Box 50"/>
          <p:cNvSpPr txBox="1"/>
          <p:nvPr/>
        </p:nvSpPr>
        <p:spPr>
          <a:xfrm>
            <a:off x="250825" y="1773238"/>
            <a:ext cx="6635750" cy="100647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eaLnBrk="0" hangingPunct="0"/>
            <a:r>
              <a:rPr lang="zh-CN" altLang="en-US" sz="3000" b="1" dirty="0">
                <a:latin typeface="Times New Roman" panose="02020603050405020304" pitchFamily="18" charset="0"/>
              </a:rPr>
              <a:t>用键将轴与轴上的传动件</a:t>
            </a:r>
            <a:r>
              <a:rPr lang="en-US" altLang="zh-CN" sz="3000" b="1" dirty="0">
                <a:latin typeface="Times New Roman" panose="02020603050405020304" pitchFamily="18" charset="0"/>
              </a:rPr>
              <a:t>(</a:t>
            </a:r>
            <a:r>
              <a:rPr lang="zh-CN" altLang="en-US" sz="3000" b="1" dirty="0">
                <a:latin typeface="Times New Roman" panose="02020603050405020304" pitchFamily="18" charset="0"/>
              </a:rPr>
              <a:t>如齿轮、皮带轮等</a:t>
            </a:r>
            <a:r>
              <a:rPr lang="en-US" altLang="zh-CN" sz="3000" b="1" dirty="0">
                <a:latin typeface="Times New Roman" panose="02020603050405020304" pitchFamily="18" charset="0"/>
              </a:rPr>
              <a:t>)</a:t>
            </a:r>
            <a:r>
              <a:rPr lang="zh-CN" altLang="en-US" sz="3000" b="1" dirty="0">
                <a:latin typeface="Times New Roman" panose="02020603050405020304" pitchFamily="18" charset="0"/>
              </a:rPr>
              <a:t>联接在一起</a:t>
            </a:r>
            <a:r>
              <a:rPr lang="en-US" altLang="zh-CN" sz="3000" b="1" dirty="0">
                <a:latin typeface="Times New Roman" panose="02020603050405020304" pitchFamily="18" charset="0"/>
              </a:rPr>
              <a:t>, </a:t>
            </a:r>
            <a:r>
              <a:rPr lang="zh-CN" altLang="en-US" sz="3000" b="1" dirty="0">
                <a:latin typeface="Times New Roman" panose="02020603050405020304" pitchFamily="18" charset="0"/>
              </a:rPr>
              <a:t>以传递扭矩。</a:t>
            </a:r>
            <a:endParaRPr lang="zh-CN" altLang="en-US" sz="3000" b="1" dirty="0">
              <a:latin typeface="Times New Roman" panose="02020603050405020304" pitchFamily="18" charset="0"/>
            </a:endParaRPr>
          </a:p>
        </p:txBody>
      </p:sp>
      <p:pic>
        <p:nvPicPr>
          <p:cNvPr id="73737" name="Picture 51" descr="8-32jian"/>
          <p:cNvPicPr>
            <a:picLocks noChangeAspect="1"/>
          </p:cNvPicPr>
          <p:nvPr/>
        </p:nvPicPr>
        <p:blipFill>
          <a:blip r:embed="rId1"/>
          <a:srcRect l="14655" t="20482" r="33333" b="10242"/>
          <a:stretch>
            <a:fillRect/>
          </a:stretch>
        </p:blipFill>
        <p:spPr>
          <a:xfrm>
            <a:off x="1365250" y="3141663"/>
            <a:ext cx="4349750" cy="27622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" name="Group 52"/>
          <p:cNvGrpSpPr/>
          <p:nvPr/>
        </p:nvGrpSpPr>
        <p:grpSpPr>
          <a:xfrm>
            <a:off x="1150938" y="3597275"/>
            <a:ext cx="627062" cy="1360488"/>
            <a:chOff x="1217" y="2327"/>
            <a:chExt cx="395" cy="857"/>
          </a:xfrm>
        </p:grpSpPr>
        <p:sp>
          <p:nvSpPr>
            <p:cNvPr id="73748" name="Line 53"/>
            <p:cNvSpPr/>
            <p:nvPr/>
          </p:nvSpPr>
          <p:spPr>
            <a:xfrm>
              <a:off x="1541" y="2645"/>
              <a:ext cx="71" cy="539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73749" name="Line 54"/>
            <p:cNvSpPr/>
            <p:nvPr/>
          </p:nvSpPr>
          <p:spPr>
            <a:xfrm flipH="1">
              <a:off x="1218" y="2645"/>
              <a:ext cx="32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3750" name="Text Box 55"/>
            <p:cNvSpPr txBox="1"/>
            <p:nvPr/>
          </p:nvSpPr>
          <p:spPr>
            <a:xfrm>
              <a:off x="1217" y="2327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zh-CN" altLang="en-US" sz="2800" b="1" dirty="0">
                  <a:solidFill>
                    <a:srgbClr val="FF3300"/>
                  </a:solidFill>
                  <a:latin typeface="Arial" panose="020B0604020202020204" pitchFamily="34" charset="0"/>
                  <a:ea typeface="ˎ̥"/>
                </a:rPr>
                <a:t>轴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56"/>
          <p:cNvGrpSpPr/>
          <p:nvPr/>
        </p:nvGrpSpPr>
        <p:grpSpPr>
          <a:xfrm>
            <a:off x="2286000" y="3598863"/>
            <a:ext cx="539750" cy="776287"/>
            <a:chOff x="1944" y="2496"/>
            <a:chExt cx="340" cy="489"/>
          </a:xfrm>
        </p:grpSpPr>
        <p:sp>
          <p:nvSpPr>
            <p:cNvPr id="73745" name="Text Box 57"/>
            <p:cNvSpPr txBox="1"/>
            <p:nvPr/>
          </p:nvSpPr>
          <p:spPr>
            <a:xfrm>
              <a:off x="1944" y="2496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zh-CN" altLang="en-US" sz="2800" b="1" dirty="0">
                  <a:solidFill>
                    <a:srgbClr val="FF3300"/>
                  </a:solidFill>
                  <a:latin typeface="Arial" panose="020B0604020202020204" pitchFamily="34" charset="0"/>
                  <a:ea typeface="ˎ̥"/>
                </a:rPr>
                <a:t>键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3746" name="Line 58"/>
            <p:cNvSpPr/>
            <p:nvPr/>
          </p:nvSpPr>
          <p:spPr>
            <a:xfrm flipH="1">
              <a:off x="2110" y="2790"/>
              <a:ext cx="117" cy="195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73747" name="Line 59"/>
            <p:cNvSpPr/>
            <p:nvPr/>
          </p:nvSpPr>
          <p:spPr>
            <a:xfrm flipH="1">
              <a:off x="1956" y="2796"/>
              <a:ext cx="276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60"/>
          <p:cNvGrpSpPr/>
          <p:nvPr/>
        </p:nvGrpSpPr>
        <p:grpSpPr>
          <a:xfrm>
            <a:off x="5346700" y="3579813"/>
            <a:ext cx="1812925" cy="814387"/>
            <a:chOff x="3872" y="2484"/>
            <a:chExt cx="1142" cy="513"/>
          </a:xfrm>
        </p:grpSpPr>
        <p:sp>
          <p:nvSpPr>
            <p:cNvPr id="73742" name="Line 61"/>
            <p:cNvSpPr/>
            <p:nvPr/>
          </p:nvSpPr>
          <p:spPr>
            <a:xfrm>
              <a:off x="4267" y="2790"/>
              <a:ext cx="713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3743" name="Text Box 62"/>
            <p:cNvSpPr txBox="1"/>
            <p:nvPr/>
          </p:nvSpPr>
          <p:spPr>
            <a:xfrm>
              <a:off x="4223" y="2484"/>
              <a:ext cx="7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zh-CN" altLang="en-US" sz="2800" b="1" dirty="0">
                  <a:solidFill>
                    <a:srgbClr val="FF3300"/>
                  </a:solidFill>
                  <a:latin typeface="Arial" panose="020B0604020202020204" pitchFamily="34" charset="0"/>
                  <a:ea typeface="ˎ̥"/>
                </a:rPr>
                <a:t>皮带轮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3744" name="Line 63"/>
            <p:cNvSpPr/>
            <p:nvPr/>
          </p:nvSpPr>
          <p:spPr>
            <a:xfrm flipV="1">
              <a:off x="3872" y="2792"/>
              <a:ext cx="407" cy="205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triangle" w="sm" len="lg"/>
              <a:tailEnd type="none" w="med" len="med"/>
            </a:ln>
          </p:spPr>
        </p:sp>
      </p:grpSp>
      <p:pic>
        <p:nvPicPr>
          <p:cNvPr id="163904" name="Picture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325" y="1019175"/>
            <a:ext cx="2079625" cy="2286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Rectangle 33"/>
          <p:cNvSpPr>
            <a:spLocks noGrp="1" noChangeArrowheads="1"/>
          </p:cNvSpPr>
          <p:nvPr/>
        </p:nvSpPr>
        <p:spPr>
          <a:xfrm>
            <a:off x="847725" y="0"/>
            <a:ext cx="5976938" cy="611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+mj-ea"/>
                <a:cs typeface="+mj-cs"/>
              </a:rPr>
              <a:t>二、键 与 销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anose="02010509060101010101" pitchFamily="49" charset="-122"/>
              <a:ea typeface="+mj-ea"/>
              <a:cs typeface="+mj-cs"/>
            </a:endParaRPr>
          </a:p>
        </p:txBody>
      </p:sp>
      <p:grpSp>
        <p:nvGrpSpPr>
          <p:cNvPr id="343051" name="组合 343050"/>
          <p:cNvGrpSpPr/>
          <p:nvPr/>
        </p:nvGrpSpPr>
        <p:grpSpPr>
          <a:xfrm>
            <a:off x="333375" y="81216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63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63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3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8" grpId="0"/>
      <p:bldP spid="16389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7" name="Rectangle 6"/>
          <p:cNvSpPr/>
          <p:nvPr/>
        </p:nvSpPr>
        <p:spPr>
          <a:xfrm>
            <a:off x="2324100" y="39560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1803" name="Text Box 11"/>
          <p:cNvSpPr txBox="1"/>
          <p:nvPr/>
        </p:nvSpPr>
        <p:spPr>
          <a:xfrm>
            <a:off x="900113" y="4508500"/>
            <a:ext cx="709612" cy="492125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50000">
                <a:srgbClr val="FFFFFF"/>
              </a:gs>
              <a:gs pos="100000">
                <a:srgbClr val="FFFFCC"/>
              </a:gs>
            </a:gsLst>
            <a:lin ang="5400000" scaled="1"/>
            <a:tileRect/>
          </a:gradFill>
          <a:ln w="349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b="1" dirty="0">
                <a:latin typeface="ItalicT" panose="00000400000000000000" pitchFamily="2" charset="0"/>
                <a:ea typeface="楷体_GB2312" pitchFamily="49" charset="-122"/>
              </a:rPr>
              <a:t>型</a:t>
            </a:r>
            <a:endParaRPr lang="zh-CN" altLang="en-US" sz="2400" b="1" dirty="0">
              <a:latin typeface="ItalicT" panose="00000400000000000000" pitchFamily="2" charset="0"/>
              <a:ea typeface="楷体_GB2312" pitchFamily="49" charset="-122"/>
            </a:endParaRPr>
          </a:p>
        </p:txBody>
      </p:sp>
      <p:sp>
        <p:nvSpPr>
          <p:cNvPr id="161804" name="Text Box 12"/>
          <p:cNvSpPr txBox="1"/>
          <p:nvPr/>
        </p:nvSpPr>
        <p:spPr>
          <a:xfrm>
            <a:off x="2119313" y="5257800"/>
            <a:ext cx="1444625" cy="492125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50000">
                <a:srgbClr val="FFFFFF"/>
              </a:gs>
              <a:gs pos="100000">
                <a:srgbClr val="FFFFCC"/>
              </a:gs>
            </a:gsLst>
            <a:lin ang="5400000" scaled="1"/>
            <a:tileRect/>
          </a:gradFill>
          <a:ln w="349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普通平键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1805" name="Text Box 13"/>
          <p:cNvSpPr txBox="1"/>
          <p:nvPr/>
        </p:nvSpPr>
        <p:spPr>
          <a:xfrm>
            <a:off x="5167313" y="4524375"/>
            <a:ext cx="1138237" cy="492125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50000">
                <a:srgbClr val="FFFFFF"/>
              </a:gs>
              <a:gs pos="100000">
                <a:srgbClr val="FFFFCC"/>
              </a:gs>
            </a:gsLst>
            <a:lin ang="5400000" scaled="1"/>
            <a:tileRect/>
          </a:gradFill>
          <a:ln w="349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半圆键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1806" name="Text Box 14"/>
          <p:cNvSpPr txBox="1"/>
          <p:nvPr/>
        </p:nvSpPr>
        <p:spPr>
          <a:xfrm>
            <a:off x="6919913" y="4524375"/>
            <a:ext cx="1444625" cy="492125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50000">
                <a:srgbClr val="FFFFFF"/>
              </a:gs>
              <a:gs pos="100000">
                <a:srgbClr val="FFFFCC"/>
              </a:gs>
            </a:gsLst>
            <a:lin ang="5400000" scaled="1"/>
            <a:tileRect/>
          </a:gradFill>
          <a:ln w="349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钩头楔键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1807" name="Text Box 15"/>
          <p:cNvSpPr txBox="1"/>
          <p:nvPr/>
        </p:nvSpPr>
        <p:spPr>
          <a:xfrm>
            <a:off x="1447800" y="1524000"/>
            <a:ext cx="63246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普通平键、半圆键和钩头楔键。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普通平键分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ItalicT" panose="00000400000000000000" pitchFamily="2" charset="0"/>
                <a:ea typeface="楷体_GB2312" pitchFamily="49" charset="-122"/>
              </a:rPr>
              <a:t>型、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ItalicT" panose="00000400000000000000" pitchFamily="2" charset="0"/>
                <a:ea typeface="楷体_GB2312" pitchFamily="49" charset="-122"/>
              </a:rPr>
              <a:t>型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型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1808" name="Text Box 16"/>
          <p:cNvSpPr txBox="1"/>
          <p:nvPr/>
        </p:nvSpPr>
        <p:spPr>
          <a:xfrm>
            <a:off x="2347913" y="4508500"/>
            <a:ext cx="696912" cy="492125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50000">
                <a:srgbClr val="FFFFFF"/>
              </a:gs>
              <a:gs pos="100000">
                <a:srgbClr val="FFFFCC"/>
              </a:gs>
            </a:gsLst>
            <a:lin ang="5400000" scaled="1"/>
            <a:tileRect/>
          </a:gradFill>
          <a:ln w="349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400" b="1" dirty="0">
                <a:latin typeface="ItalicT" panose="00000400000000000000" pitchFamily="2" charset="0"/>
                <a:ea typeface="楷体_GB2312" pitchFamily="49" charset="-122"/>
              </a:rPr>
              <a:t>型</a:t>
            </a:r>
            <a:endParaRPr lang="zh-CN" altLang="en-US" sz="2400" b="1" dirty="0">
              <a:latin typeface="ItalicT" panose="00000400000000000000" pitchFamily="2" charset="0"/>
              <a:ea typeface="楷体_GB2312" pitchFamily="49" charset="-122"/>
            </a:endParaRPr>
          </a:p>
        </p:txBody>
      </p:sp>
      <p:sp>
        <p:nvSpPr>
          <p:cNvPr id="161809" name="Text Box 17"/>
          <p:cNvSpPr txBox="1"/>
          <p:nvPr/>
        </p:nvSpPr>
        <p:spPr>
          <a:xfrm>
            <a:off x="3795713" y="4508500"/>
            <a:ext cx="709612" cy="492125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50000">
                <a:srgbClr val="FFFFFF"/>
              </a:gs>
              <a:gs pos="100000">
                <a:srgbClr val="FFFFCC"/>
              </a:gs>
            </a:gsLst>
            <a:lin ang="5400000" scaled="1"/>
            <a:tileRect/>
          </a:gradFill>
          <a:ln w="349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zh-CN" altLang="en-US" sz="2400" b="1" dirty="0">
                <a:latin typeface="ItalicT" panose="00000400000000000000" pitchFamily="2" charset="0"/>
                <a:ea typeface="楷体_GB2312" pitchFamily="49" charset="-122"/>
              </a:rPr>
              <a:t>型</a:t>
            </a:r>
            <a:endParaRPr lang="zh-CN" altLang="en-US" sz="2400" b="1" dirty="0">
              <a:latin typeface="ItalicT" panose="00000400000000000000" pitchFamily="2" charset="0"/>
              <a:ea typeface="楷体_GB2312" pitchFamily="49" charset="-122"/>
            </a:endParaRPr>
          </a:p>
        </p:txBody>
      </p:sp>
      <p:sp>
        <p:nvSpPr>
          <p:cNvPr id="74766" name="Rectangle 18"/>
          <p:cNvSpPr/>
          <p:nvPr/>
        </p:nvSpPr>
        <p:spPr>
          <a:xfrm>
            <a:off x="3796030" y="5314950"/>
            <a:ext cx="324485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常用键的型式有</a:t>
            </a:r>
            <a:r>
              <a:rPr lang="en-US" altLang="zh-CN" sz="32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32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61811" name="Picture 19"/>
          <p:cNvPicPr>
            <a:picLocks noChangeAspect="1"/>
          </p:cNvPicPr>
          <p:nvPr/>
        </p:nvPicPr>
        <p:blipFill>
          <a:blip r:embed="rId1"/>
          <a:srcRect l="58466" r="28476"/>
          <a:stretch>
            <a:fillRect/>
          </a:stretch>
        </p:blipFill>
        <p:spPr>
          <a:xfrm>
            <a:off x="5435600" y="2743200"/>
            <a:ext cx="1081088" cy="157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1812" name="Picture 20"/>
          <p:cNvPicPr>
            <a:picLocks noChangeAspect="1"/>
          </p:cNvPicPr>
          <p:nvPr/>
        </p:nvPicPr>
        <p:blipFill>
          <a:blip r:embed="rId1"/>
          <a:srcRect l="72388"/>
          <a:stretch>
            <a:fillRect/>
          </a:stretch>
        </p:blipFill>
        <p:spPr>
          <a:xfrm>
            <a:off x="6588125" y="2743200"/>
            <a:ext cx="2286000" cy="157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4769" name="Picture 21"/>
          <p:cNvPicPr>
            <a:picLocks noChangeAspect="1"/>
          </p:cNvPicPr>
          <p:nvPr/>
        </p:nvPicPr>
        <p:blipFill>
          <a:blip r:embed="rId1"/>
          <a:srcRect r="41273"/>
          <a:stretch>
            <a:fillRect/>
          </a:stretch>
        </p:blipFill>
        <p:spPr>
          <a:xfrm>
            <a:off x="681990" y="2467610"/>
            <a:ext cx="4126230" cy="192278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" name="组合 2"/>
          <p:cNvGrpSpPr/>
          <p:nvPr/>
        </p:nvGrpSpPr>
        <p:grpSpPr>
          <a:xfrm>
            <a:off x="333375" y="812165"/>
            <a:ext cx="8351838" cy="28575"/>
            <a:chOff x="172" y="1025"/>
            <a:chExt cx="5261" cy="28"/>
          </a:xfrm>
        </p:grpSpPr>
        <p:sp>
          <p:nvSpPr>
            <p:cNvPr id="4" name="矩形 3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" name="Rectangle 33"/>
          <p:cNvSpPr>
            <a:spLocks noGrp="1" noChangeArrowheads="1"/>
          </p:cNvSpPr>
          <p:nvPr/>
        </p:nvSpPr>
        <p:spPr>
          <a:xfrm>
            <a:off x="847725" y="0"/>
            <a:ext cx="5976938" cy="611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+mj-ea"/>
                <a:cs typeface="+mj-cs"/>
              </a:rPr>
              <a:t>(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+mj-ea"/>
                <a:cs typeface="+mj-cs"/>
              </a:rPr>
              <a:t>一）键 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anose="02010509060101010101" pitchFamily="49" charset="-122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1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18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1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47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47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1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1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1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1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1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61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1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803" grpId="0" bldLvl="0" animBg="1"/>
      <p:bldP spid="161804" grpId="0" bldLvl="0" animBg="1"/>
      <p:bldP spid="161805" grpId="0" bldLvl="0" animBg="1"/>
      <p:bldP spid="161806" grpId="0" bldLvl="0" animBg="1"/>
      <p:bldP spid="161807" grpId="0" advAuto="1000" build="p"/>
      <p:bldP spid="161808" grpId="0" bldLvl="0" animBg="1"/>
      <p:bldP spid="161809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5" name="Rectangle 6"/>
          <p:cNvSpPr/>
          <p:nvPr/>
        </p:nvSpPr>
        <p:spPr>
          <a:xfrm>
            <a:off x="2324100" y="39560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1120775" y="1560513"/>
            <a:ext cx="971550" cy="1993900"/>
            <a:chOff x="1672" y="470"/>
            <a:chExt cx="612" cy="1256"/>
          </a:xfrm>
        </p:grpSpPr>
        <p:grpSp>
          <p:nvGrpSpPr>
            <p:cNvPr id="77062" name="Group 9"/>
            <p:cNvGrpSpPr/>
            <p:nvPr/>
          </p:nvGrpSpPr>
          <p:grpSpPr>
            <a:xfrm>
              <a:off x="1672" y="470"/>
              <a:ext cx="612" cy="1256"/>
              <a:chOff x="1672" y="2364"/>
              <a:chExt cx="612" cy="1256"/>
            </a:xfrm>
          </p:grpSpPr>
          <p:grpSp>
            <p:nvGrpSpPr>
              <p:cNvPr id="77064" name="Group 10"/>
              <p:cNvGrpSpPr/>
              <p:nvPr/>
            </p:nvGrpSpPr>
            <p:grpSpPr>
              <a:xfrm>
                <a:off x="1672" y="2364"/>
                <a:ext cx="612" cy="1256"/>
                <a:chOff x="1672" y="2364"/>
                <a:chExt cx="612" cy="1256"/>
              </a:xfrm>
            </p:grpSpPr>
            <p:sp>
              <p:nvSpPr>
                <p:cNvPr id="77066" name="Freeform 11"/>
                <p:cNvSpPr/>
                <p:nvPr/>
              </p:nvSpPr>
              <p:spPr>
                <a:xfrm>
                  <a:off x="2282" y="3315"/>
                  <a:ext cx="1" cy="305"/>
                </a:xfrm>
                <a:custGeom>
                  <a:avLst/>
                  <a:gdLst>
                    <a:gd name="txL" fmla="*/ 0 w 1"/>
                    <a:gd name="txT" fmla="*/ 0 h 1799"/>
                    <a:gd name="txR" fmla="*/ 1 w 1"/>
                    <a:gd name="txB" fmla="*/ 1799 h 1799"/>
                  </a:gdLst>
                  <a:ahLst/>
                  <a:cxnLst>
                    <a:cxn ang="0">
                      <a:pos x="0" y="52"/>
                    </a:cxn>
                    <a:cxn ang="0">
                      <a:pos x="0" y="0"/>
                    </a:cxn>
                    <a:cxn ang="0">
                      <a:pos x="1" y="0"/>
                    </a:cxn>
                  </a:cxnLst>
                  <a:rect l="txL" t="txT" r="txR" b="txB"/>
                  <a:pathLst>
                    <a:path w="1" h="1799">
                      <a:moveTo>
                        <a:pt x="0" y="1799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7067" name="Freeform 12"/>
                <p:cNvSpPr/>
                <p:nvPr/>
              </p:nvSpPr>
              <p:spPr>
                <a:xfrm>
                  <a:off x="1672" y="2364"/>
                  <a:ext cx="2" cy="342"/>
                </a:xfrm>
                <a:custGeom>
                  <a:avLst/>
                  <a:gdLst>
                    <a:gd name="txL" fmla="*/ 0 w 2"/>
                    <a:gd name="txT" fmla="*/ 0 h 342"/>
                    <a:gd name="txR" fmla="*/ 2 w 2"/>
                    <a:gd name="txB" fmla="*/ 342 h 342"/>
                  </a:gdLst>
                  <a:ahLst/>
                  <a:cxnLst>
                    <a:cxn ang="0">
                      <a:pos x="0" y="0"/>
                    </a:cxn>
                    <a:cxn ang="0">
                      <a:pos x="1" y="342"/>
                    </a:cxn>
                    <a:cxn ang="0">
                      <a:pos x="2" y="342"/>
                    </a:cxn>
                  </a:cxnLst>
                  <a:rect l="txL" t="txT" r="txR" b="txB"/>
                  <a:pathLst>
                    <a:path w="2" h="342">
                      <a:moveTo>
                        <a:pt x="0" y="0"/>
                      </a:moveTo>
                      <a:lnTo>
                        <a:pt x="1" y="342"/>
                      </a:lnTo>
                      <a:lnTo>
                        <a:pt x="2" y="342"/>
                      </a:lnTo>
                    </a:path>
                  </a:pathLst>
                </a:cu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7068" name="Freeform 13"/>
                <p:cNvSpPr/>
                <p:nvPr/>
              </p:nvSpPr>
              <p:spPr>
                <a:xfrm>
                  <a:off x="1673" y="2592"/>
                  <a:ext cx="609" cy="2"/>
                </a:xfrm>
                <a:custGeom>
                  <a:avLst/>
                  <a:gdLst>
                    <a:gd name="txL" fmla="*/ 0 w 3594"/>
                    <a:gd name="txT" fmla="*/ 0 h 2"/>
                    <a:gd name="txR" fmla="*/ 3594 w 3594"/>
                    <a:gd name="txB" fmla="*/ 2 h 2"/>
                  </a:gdLst>
                  <a:ahLst/>
                  <a:cxnLst>
                    <a:cxn ang="0">
                      <a:pos x="103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3594" h="2">
                      <a:moveTo>
                        <a:pt x="3594" y="0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7069" name="Freeform 14"/>
                <p:cNvSpPr/>
                <p:nvPr/>
              </p:nvSpPr>
              <p:spPr>
                <a:xfrm>
                  <a:off x="1673" y="3315"/>
                  <a:ext cx="1" cy="305"/>
                </a:xfrm>
                <a:custGeom>
                  <a:avLst/>
                  <a:gdLst>
                    <a:gd name="txL" fmla="*/ 0 w 1"/>
                    <a:gd name="txT" fmla="*/ 0 h 1799"/>
                    <a:gd name="txR" fmla="*/ 1 w 1"/>
                    <a:gd name="txB" fmla="*/ 1799 h 1799"/>
                  </a:gdLst>
                  <a:ahLst/>
                  <a:cxnLst>
                    <a:cxn ang="0">
                      <a:pos x="0" y="0"/>
                    </a:cxn>
                    <a:cxn ang="0">
                      <a:pos x="0" y="52"/>
                    </a:cxn>
                    <a:cxn ang="0">
                      <a:pos x="1" y="52"/>
                    </a:cxn>
                  </a:cxnLst>
                  <a:rect l="txL" t="txT" r="txR" b="txB"/>
                  <a:pathLst>
                    <a:path w="1" h="1799">
                      <a:moveTo>
                        <a:pt x="0" y="0"/>
                      </a:moveTo>
                      <a:lnTo>
                        <a:pt x="0" y="1799"/>
                      </a:lnTo>
                      <a:lnTo>
                        <a:pt x="1" y="1799"/>
                      </a:lnTo>
                    </a:path>
                  </a:pathLst>
                </a:cu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7070" name="Freeform 15"/>
                <p:cNvSpPr/>
                <p:nvPr/>
              </p:nvSpPr>
              <p:spPr>
                <a:xfrm>
                  <a:off x="2282" y="2364"/>
                  <a:ext cx="2" cy="342"/>
                </a:xfrm>
                <a:custGeom>
                  <a:avLst/>
                  <a:gdLst>
                    <a:gd name="txL" fmla="*/ 0 w 2"/>
                    <a:gd name="txT" fmla="*/ 0 h 342"/>
                    <a:gd name="txR" fmla="*/ 2 w 2"/>
                    <a:gd name="txB" fmla="*/ 342 h 342"/>
                  </a:gdLst>
                  <a:ahLst/>
                  <a:cxnLst>
                    <a:cxn ang="0">
                      <a:pos x="0" y="342"/>
                    </a:cxn>
                    <a:cxn ang="0">
                      <a:pos x="2" y="0"/>
                    </a:cxn>
                    <a:cxn ang="0">
                      <a:pos x="1" y="37"/>
                    </a:cxn>
                  </a:cxnLst>
                  <a:rect l="txL" t="txT" r="txR" b="txB"/>
                  <a:pathLst>
                    <a:path w="2" h="342">
                      <a:moveTo>
                        <a:pt x="0" y="342"/>
                      </a:moveTo>
                      <a:lnTo>
                        <a:pt x="2" y="0"/>
                      </a:lnTo>
                      <a:lnTo>
                        <a:pt x="1" y="37"/>
                      </a:lnTo>
                    </a:path>
                  </a:pathLst>
                </a:cu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7071" name="Freeform 16"/>
                <p:cNvSpPr/>
                <p:nvPr/>
              </p:nvSpPr>
              <p:spPr>
                <a:xfrm>
                  <a:off x="1673" y="2373"/>
                  <a:ext cx="35" cy="35"/>
                </a:xfrm>
                <a:custGeom>
                  <a:avLst/>
                  <a:gdLst>
                    <a:gd name="txL" fmla="*/ 0 w 214"/>
                    <a:gd name="txT" fmla="*/ 0 h 212"/>
                    <a:gd name="txR" fmla="*/ 214 w 214"/>
                    <a:gd name="txB" fmla="*/ 212 h 212"/>
                  </a:gdLst>
                  <a:ahLst/>
                  <a:cxnLst>
                    <a:cxn ang="0">
                      <a:pos x="0" y="6"/>
                    </a:cxn>
                    <a:cxn ang="0">
                      <a:pos x="6" y="0"/>
                    </a:cxn>
                    <a:cxn ang="0">
                      <a:pos x="6" y="0"/>
                    </a:cxn>
                  </a:cxnLst>
                  <a:rect l="txL" t="txT" r="txR" b="txB"/>
                  <a:pathLst>
                    <a:path w="214" h="212">
                      <a:moveTo>
                        <a:pt x="0" y="212"/>
                      </a:moveTo>
                      <a:lnTo>
                        <a:pt x="213" y="0"/>
                      </a:lnTo>
                      <a:lnTo>
                        <a:pt x="214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7072" name="Freeform 17"/>
                <p:cNvSpPr/>
                <p:nvPr/>
              </p:nvSpPr>
              <p:spPr>
                <a:xfrm>
                  <a:off x="1673" y="2373"/>
                  <a:ext cx="172" cy="172"/>
                </a:xfrm>
                <a:custGeom>
                  <a:avLst/>
                  <a:gdLst>
                    <a:gd name="txL" fmla="*/ 0 w 1021"/>
                    <a:gd name="txT" fmla="*/ 0 h 1020"/>
                    <a:gd name="txR" fmla="*/ 1021 w 1021"/>
                    <a:gd name="txB" fmla="*/ 1020 h 1020"/>
                  </a:gdLst>
                  <a:ahLst/>
                  <a:cxnLst>
                    <a:cxn ang="0">
                      <a:pos x="0" y="29"/>
                    </a:cxn>
                    <a:cxn ang="0">
                      <a:pos x="29" y="0"/>
                    </a:cxn>
                    <a:cxn ang="0">
                      <a:pos x="29" y="0"/>
                    </a:cxn>
                  </a:cxnLst>
                  <a:rect l="txL" t="txT" r="txR" b="txB"/>
                  <a:pathLst>
                    <a:path w="1021" h="1020">
                      <a:moveTo>
                        <a:pt x="0" y="1020"/>
                      </a:moveTo>
                      <a:lnTo>
                        <a:pt x="1019" y="0"/>
                      </a:lnTo>
                      <a:lnTo>
                        <a:pt x="1021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7073" name="Freeform 18"/>
                <p:cNvSpPr/>
                <p:nvPr/>
              </p:nvSpPr>
              <p:spPr>
                <a:xfrm>
                  <a:off x="1762" y="2373"/>
                  <a:ext cx="220" cy="219"/>
                </a:xfrm>
                <a:custGeom>
                  <a:avLst/>
                  <a:gdLst>
                    <a:gd name="txL" fmla="*/ 0 w 1295"/>
                    <a:gd name="txT" fmla="*/ 0 h 1295"/>
                    <a:gd name="txR" fmla="*/ 1295 w 1295"/>
                    <a:gd name="txB" fmla="*/ 1295 h 1295"/>
                  </a:gdLst>
                  <a:ahLst/>
                  <a:cxnLst>
                    <a:cxn ang="0">
                      <a:pos x="0" y="37"/>
                    </a:cxn>
                    <a:cxn ang="0">
                      <a:pos x="37" y="0"/>
                    </a:cxn>
                    <a:cxn ang="0">
                      <a:pos x="37" y="0"/>
                    </a:cxn>
                  </a:cxnLst>
                  <a:rect l="txL" t="txT" r="txR" b="txB"/>
                  <a:pathLst>
                    <a:path w="1295" h="1295">
                      <a:moveTo>
                        <a:pt x="0" y="1295"/>
                      </a:moveTo>
                      <a:lnTo>
                        <a:pt x="1294" y="0"/>
                      </a:lnTo>
                      <a:lnTo>
                        <a:pt x="1295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7074" name="Freeform 19"/>
                <p:cNvSpPr/>
                <p:nvPr/>
              </p:nvSpPr>
              <p:spPr>
                <a:xfrm>
                  <a:off x="1899" y="2373"/>
                  <a:ext cx="220" cy="219"/>
                </a:xfrm>
                <a:custGeom>
                  <a:avLst/>
                  <a:gdLst>
                    <a:gd name="txL" fmla="*/ 0 w 1295"/>
                    <a:gd name="txT" fmla="*/ 0 h 1295"/>
                    <a:gd name="txR" fmla="*/ 1295 w 1295"/>
                    <a:gd name="txB" fmla="*/ 1295 h 1295"/>
                  </a:gdLst>
                  <a:ahLst/>
                  <a:cxnLst>
                    <a:cxn ang="0">
                      <a:pos x="0" y="37"/>
                    </a:cxn>
                    <a:cxn ang="0">
                      <a:pos x="37" y="0"/>
                    </a:cxn>
                    <a:cxn ang="0">
                      <a:pos x="37" y="0"/>
                    </a:cxn>
                  </a:cxnLst>
                  <a:rect l="txL" t="txT" r="txR" b="txB"/>
                  <a:pathLst>
                    <a:path w="1295" h="1295">
                      <a:moveTo>
                        <a:pt x="0" y="1295"/>
                      </a:moveTo>
                      <a:lnTo>
                        <a:pt x="1294" y="0"/>
                      </a:lnTo>
                      <a:lnTo>
                        <a:pt x="1295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7075" name="Freeform 20"/>
                <p:cNvSpPr/>
                <p:nvPr/>
              </p:nvSpPr>
              <p:spPr>
                <a:xfrm>
                  <a:off x="2036" y="2373"/>
                  <a:ext cx="220" cy="219"/>
                </a:xfrm>
                <a:custGeom>
                  <a:avLst/>
                  <a:gdLst>
                    <a:gd name="txL" fmla="*/ 0 w 1294"/>
                    <a:gd name="txT" fmla="*/ 0 h 1295"/>
                    <a:gd name="txR" fmla="*/ 1294 w 1294"/>
                    <a:gd name="txB" fmla="*/ 1295 h 1295"/>
                  </a:gdLst>
                  <a:ahLst/>
                  <a:cxnLst>
                    <a:cxn ang="0">
                      <a:pos x="0" y="37"/>
                    </a:cxn>
                    <a:cxn ang="0">
                      <a:pos x="37" y="0"/>
                    </a:cxn>
                    <a:cxn ang="0">
                      <a:pos x="37" y="0"/>
                    </a:cxn>
                  </a:cxnLst>
                  <a:rect l="txL" t="txT" r="txR" b="txB"/>
                  <a:pathLst>
                    <a:path w="1294" h="1295">
                      <a:moveTo>
                        <a:pt x="0" y="1295"/>
                      </a:moveTo>
                      <a:lnTo>
                        <a:pt x="1293" y="0"/>
                      </a:lnTo>
                      <a:lnTo>
                        <a:pt x="1294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7076" name="Freeform 21"/>
                <p:cNvSpPr/>
                <p:nvPr/>
              </p:nvSpPr>
              <p:spPr>
                <a:xfrm>
                  <a:off x="2173" y="2483"/>
                  <a:ext cx="109" cy="109"/>
                </a:xfrm>
                <a:custGeom>
                  <a:avLst/>
                  <a:gdLst>
                    <a:gd name="txL" fmla="*/ 0 w 641"/>
                    <a:gd name="txT" fmla="*/ 0 h 642"/>
                    <a:gd name="txR" fmla="*/ 641 w 641"/>
                    <a:gd name="txB" fmla="*/ 642 h 642"/>
                  </a:gdLst>
                  <a:ahLst/>
                  <a:cxnLst>
                    <a:cxn ang="0">
                      <a:pos x="0" y="19"/>
                    </a:cxn>
                    <a:cxn ang="0">
                      <a:pos x="19" y="0"/>
                    </a:cxn>
                    <a:cxn ang="0">
                      <a:pos x="19" y="0"/>
                    </a:cxn>
                  </a:cxnLst>
                  <a:rect l="txL" t="txT" r="txR" b="txB"/>
                  <a:pathLst>
                    <a:path w="641" h="642">
                      <a:moveTo>
                        <a:pt x="0" y="642"/>
                      </a:moveTo>
                      <a:lnTo>
                        <a:pt x="640" y="0"/>
                      </a:lnTo>
                      <a:lnTo>
                        <a:pt x="641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7077" name="Freeform 22"/>
                <p:cNvSpPr/>
                <p:nvPr/>
              </p:nvSpPr>
              <p:spPr>
                <a:xfrm>
                  <a:off x="1673" y="3315"/>
                  <a:ext cx="80" cy="80"/>
                </a:xfrm>
                <a:custGeom>
                  <a:avLst/>
                  <a:gdLst>
                    <a:gd name="txL" fmla="*/ 0 w 470"/>
                    <a:gd name="txT" fmla="*/ 0 h 471"/>
                    <a:gd name="txR" fmla="*/ 470 w 470"/>
                    <a:gd name="txB" fmla="*/ 471 h 471"/>
                  </a:gdLst>
                  <a:ahLst/>
                  <a:cxnLst>
                    <a:cxn ang="0">
                      <a:pos x="0" y="14"/>
                    </a:cxn>
                    <a:cxn ang="0">
                      <a:pos x="14" y="0"/>
                    </a:cxn>
                    <a:cxn ang="0">
                      <a:pos x="14" y="0"/>
                    </a:cxn>
                  </a:cxnLst>
                  <a:rect l="txL" t="txT" r="txR" b="txB"/>
                  <a:pathLst>
                    <a:path w="470" h="471">
                      <a:moveTo>
                        <a:pt x="0" y="471"/>
                      </a:moveTo>
                      <a:lnTo>
                        <a:pt x="469" y="0"/>
                      </a:lnTo>
                      <a:lnTo>
                        <a:pt x="470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7078" name="Freeform 23"/>
                <p:cNvSpPr/>
                <p:nvPr/>
              </p:nvSpPr>
              <p:spPr>
                <a:xfrm>
                  <a:off x="1673" y="3315"/>
                  <a:ext cx="215" cy="217"/>
                </a:xfrm>
                <a:custGeom>
                  <a:avLst/>
                  <a:gdLst>
                    <a:gd name="txL" fmla="*/ 0 w 1277"/>
                    <a:gd name="txT" fmla="*/ 0 h 1279"/>
                    <a:gd name="txR" fmla="*/ 1277 w 1277"/>
                    <a:gd name="txB" fmla="*/ 1279 h 1279"/>
                  </a:gdLst>
                  <a:ahLst/>
                  <a:cxnLst>
                    <a:cxn ang="0">
                      <a:pos x="0" y="37"/>
                    </a:cxn>
                    <a:cxn ang="0">
                      <a:pos x="36" y="0"/>
                    </a:cxn>
                    <a:cxn ang="0">
                      <a:pos x="36" y="0"/>
                    </a:cxn>
                  </a:cxnLst>
                  <a:rect l="txL" t="txT" r="txR" b="txB"/>
                  <a:pathLst>
                    <a:path w="1277" h="1279">
                      <a:moveTo>
                        <a:pt x="0" y="1279"/>
                      </a:moveTo>
                      <a:lnTo>
                        <a:pt x="1276" y="0"/>
                      </a:lnTo>
                      <a:lnTo>
                        <a:pt x="1277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7079" name="Freeform 24"/>
                <p:cNvSpPr/>
                <p:nvPr/>
              </p:nvSpPr>
              <p:spPr>
                <a:xfrm>
                  <a:off x="1721" y="3315"/>
                  <a:ext cx="304" cy="305"/>
                </a:xfrm>
                <a:custGeom>
                  <a:avLst/>
                  <a:gdLst>
                    <a:gd name="txL" fmla="*/ 0 w 1797"/>
                    <a:gd name="txT" fmla="*/ 0 h 1799"/>
                    <a:gd name="txR" fmla="*/ 1797 w 1797"/>
                    <a:gd name="txB" fmla="*/ 1799 h 1799"/>
                  </a:gdLst>
                  <a:ahLst/>
                  <a:cxnLst>
                    <a:cxn ang="0">
                      <a:pos x="0" y="52"/>
                    </a:cxn>
                    <a:cxn ang="0">
                      <a:pos x="51" y="0"/>
                    </a:cxn>
                    <a:cxn ang="0">
                      <a:pos x="51" y="0"/>
                    </a:cxn>
                  </a:cxnLst>
                  <a:rect l="txL" t="txT" r="txR" b="txB"/>
                  <a:pathLst>
                    <a:path w="1797" h="1799">
                      <a:moveTo>
                        <a:pt x="0" y="1799"/>
                      </a:moveTo>
                      <a:lnTo>
                        <a:pt x="1796" y="0"/>
                      </a:lnTo>
                      <a:lnTo>
                        <a:pt x="1797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7080" name="Freeform 25"/>
                <p:cNvSpPr/>
                <p:nvPr/>
              </p:nvSpPr>
              <p:spPr>
                <a:xfrm>
                  <a:off x="1857" y="3315"/>
                  <a:ext cx="305" cy="305"/>
                </a:xfrm>
                <a:custGeom>
                  <a:avLst/>
                  <a:gdLst>
                    <a:gd name="txL" fmla="*/ 0 w 1798"/>
                    <a:gd name="txT" fmla="*/ 0 h 1799"/>
                    <a:gd name="txR" fmla="*/ 1798 w 1798"/>
                    <a:gd name="txB" fmla="*/ 1799 h 1799"/>
                  </a:gdLst>
                  <a:ahLst/>
                  <a:cxnLst>
                    <a:cxn ang="0">
                      <a:pos x="0" y="52"/>
                    </a:cxn>
                    <a:cxn ang="0">
                      <a:pos x="52" y="0"/>
                    </a:cxn>
                    <a:cxn ang="0">
                      <a:pos x="52" y="0"/>
                    </a:cxn>
                  </a:cxnLst>
                  <a:rect l="txL" t="txT" r="txR" b="txB"/>
                  <a:pathLst>
                    <a:path w="1798" h="1799">
                      <a:moveTo>
                        <a:pt x="0" y="1799"/>
                      </a:moveTo>
                      <a:lnTo>
                        <a:pt x="1797" y="0"/>
                      </a:lnTo>
                      <a:lnTo>
                        <a:pt x="1798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7081" name="Freeform 26"/>
                <p:cNvSpPr/>
                <p:nvPr/>
              </p:nvSpPr>
              <p:spPr>
                <a:xfrm>
                  <a:off x="1994" y="3332"/>
                  <a:ext cx="288" cy="288"/>
                </a:xfrm>
                <a:custGeom>
                  <a:avLst/>
                  <a:gdLst>
                    <a:gd name="txL" fmla="*/ 0 w 1695"/>
                    <a:gd name="txT" fmla="*/ 0 h 1695"/>
                    <a:gd name="txR" fmla="*/ 1695 w 1695"/>
                    <a:gd name="txB" fmla="*/ 1695 h 1695"/>
                  </a:gdLst>
                  <a:ahLst/>
                  <a:cxnLst>
                    <a:cxn ang="0">
                      <a:pos x="0" y="49"/>
                    </a:cxn>
                    <a:cxn ang="0">
                      <a:pos x="49" y="0"/>
                    </a:cxn>
                    <a:cxn ang="0">
                      <a:pos x="49" y="0"/>
                    </a:cxn>
                  </a:cxnLst>
                  <a:rect l="txL" t="txT" r="txR" b="txB"/>
                  <a:pathLst>
                    <a:path w="1695" h="1695">
                      <a:moveTo>
                        <a:pt x="0" y="1695"/>
                      </a:moveTo>
                      <a:lnTo>
                        <a:pt x="1694" y="0"/>
                      </a:lnTo>
                      <a:lnTo>
                        <a:pt x="1695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7082" name="Freeform 27"/>
                <p:cNvSpPr/>
                <p:nvPr/>
              </p:nvSpPr>
              <p:spPr>
                <a:xfrm>
                  <a:off x="2131" y="3469"/>
                  <a:ext cx="151" cy="151"/>
                </a:xfrm>
                <a:custGeom>
                  <a:avLst/>
                  <a:gdLst>
                    <a:gd name="txL" fmla="*/ 0 w 888"/>
                    <a:gd name="txT" fmla="*/ 0 h 888"/>
                    <a:gd name="txR" fmla="*/ 888 w 888"/>
                    <a:gd name="txB" fmla="*/ 888 h 888"/>
                  </a:gdLst>
                  <a:ahLst/>
                  <a:cxnLst>
                    <a:cxn ang="0">
                      <a:pos x="0" y="26"/>
                    </a:cxn>
                    <a:cxn ang="0">
                      <a:pos x="26" y="0"/>
                    </a:cxn>
                    <a:cxn ang="0">
                      <a:pos x="26" y="0"/>
                    </a:cxn>
                  </a:cxnLst>
                  <a:rect l="txL" t="txT" r="txR" b="txB"/>
                  <a:pathLst>
                    <a:path w="888" h="888">
                      <a:moveTo>
                        <a:pt x="0" y="888"/>
                      </a:moveTo>
                      <a:lnTo>
                        <a:pt x="887" y="0"/>
                      </a:lnTo>
                      <a:lnTo>
                        <a:pt x="888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7083" name="Freeform 28"/>
                <p:cNvSpPr/>
                <p:nvPr/>
              </p:nvSpPr>
              <p:spPr>
                <a:xfrm>
                  <a:off x="2268" y="3606"/>
                  <a:ext cx="14" cy="14"/>
                </a:xfrm>
                <a:custGeom>
                  <a:avLst/>
                  <a:gdLst>
                    <a:gd name="txL" fmla="*/ 0 w 81"/>
                    <a:gd name="txT" fmla="*/ 0 h 80"/>
                    <a:gd name="txR" fmla="*/ 81 w 81"/>
                    <a:gd name="txB" fmla="*/ 80 h 80"/>
                  </a:gdLst>
                  <a:ahLst/>
                  <a:cxnLst>
                    <a:cxn ang="0">
                      <a:pos x="0" y="2"/>
                    </a:cxn>
                    <a:cxn ang="0">
                      <a:pos x="2" y="0"/>
                    </a:cxn>
                    <a:cxn ang="0">
                      <a:pos x="2" y="0"/>
                    </a:cxn>
                  </a:cxnLst>
                  <a:rect l="txL" t="txT" r="txR" b="txB"/>
                  <a:pathLst>
                    <a:path w="81" h="80">
                      <a:moveTo>
                        <a:pt x="0" y="80"/>
                      </a:moveTo>
                      <a:lnTo>
                        <a:pt x="80" y="0"/>
                      </a:lnTo>
                      <a:lnTo>
                        <a:pt x="81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7084" name="Freeform 29"/>
                <p:cNvSpPr/>
                <p:nvPr/>
              </p:nvSpPr>
              <p:spPr>
                <a:xfrm>
                  <a:off x="1673" y="2706"/>
                  <a:ext cx="1" cy="609"/>
                </a:xfrm>
                <a:custGeom>
                  <a:avLst/>
                  <a:gdLst>
                    <a:gd name="txL" fmla="*/ 0 w 1"/>
                    <a:gd name="txT" fmla="*/ 0 h 3596"/>
                    <a:gd name="txR" fmla="*/ 1 w 1"/>
                    <a:gd name="txB" fmla="*/ 3596 h 3596"/>
                  </a:gdLst>
                  <a:ahLst/>
                  <a:cxnLst>
                    <a:cxn ang="0">
                      <a:pos x="0" y="0"/>
                    </a:cxn>
                    <a:cxn ang="0">
                      <a:pos x="0" y="103"/>
                    </a:cxn>
                    <a:cxn ang="0">
                      <a:pos x="1" y="103"/>
                    </a:cxn>
                  </a:cxnLst>
                  <a:rect l="txL" t="txT" r="txR" b="txB"/>
                  <a:pathLst>
                    <a:path w="1" h="3596">
                      <a:moveTo>
                        <a:pt x="0" y="0"/>
                      </a:moveTo>
                      <a:lnTo>
                        <a:pt x="0" y="3596"/>
                      </a:lnTo>
                      <a:lnTo>
                        <a:pt x="1" y="3596"/>
                      </a:lnTo>
                    </a:path>
                  </a:pathLst>
                </a:cu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7085" name="Freeform 30"/>
                <p:cNvSpPr/>
                <p:nvPr/>
              </p:nvSpPr>
              <p:spPr>
                <a:xfrm>
                  <a:off x="2282" y="2706"/>
                  <a:ext cx="1" cy="609"/>
                </a:xfrm>
                <a:custGeom>
                  <a:avLst/>
                  <a:gdLst>
                    <a:gd name="txL" fmla="*/ 0 w 1"/>
                    <a:gd name="txT" fmla="*/ 0 h 3596"/>
                    <a:gd name="txR" fmla="*/ 1 w 1"/>
                    <a:gd name="txB" fmla="*/ 3596 h 3596"/>
                  </a:gdLst>
                  <a:ahLst/>
                  <a:cxnLst>
                    <a:cxn ang="0">
                      <a:pos x="0" y="0"/>
                    </a:cxn>
                    <a:cxn ang="0">
                      <a:pos x="0" y="103"/>
                    </a:cxn>
                    <a:cxn ang="0">
                      <a:pos x="1" y="103"/>
                    </a:cxn>
                  </a:cxnLst>
                  <a:rect l="txL" t="txT" r="txR" b="txB"/>
                  <a:pathLst>
                    <a:path w="1" h="3596">
                      <a:moveTo>
                        <a:pt x="0" y="0"/>
                      </a:moveTo>
                      <a:lnTo>
                        <a:pt x="0" y="3596"/>
                      </a:lnTo>
                      <a:lnTo>
                        <a:pt x="1" y="3596"/>
                      </a:lnTo>
                    </a:path>
                  </a:pathLst>
                </a:cu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77065" name="Line 31"/>
              <p:cNvSpPr/>
              <p:nvPr/>
            </p:nvSpPr>
            <p:spPr>
              <a:xfrm>
                <a:off x="1672" y="3315"/>
                <a:ext cx="612" cy="1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77063" name="Line 32"/>
            <p:cNvSpPr/>
            <p:nvPr/>
          </p:nvSpPr>
          <p:spPr>
            <a:xfrm>
              <a:off x="1672" y="840"/>
              <a:ext cx="610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pic>
        <p:nvPicPr>
          <p:cNvPr id="76807" name="Picture 33" descr="第十五章 标准件与常用件"/>
          <p:cNvPicPr>
            <a:picLocks noChangeAspect="1"/>
          </p:cNvPicPr>
          <p:nvPr/>
        </p:nvPicPr>
        <p:blipFill>
          <a:blip r:embed="rId1"/>
          <a:srcRect t="46863" b="13243"/>
          <a:stretch>
            <a:fillRect/>
          </a:stretch>
        </p:blipFill>
        <p:spPr>
          <a:xfrm>
            <a:off x="0" y="3686175"/>
            <a:ext cx="9142413" cy="273526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" name="Group 35"/>
          <p:cNvGrpSpPr/>
          <p:nvPr/>
        </p:nvGrpSpPr>
        <p:grpSpPr>
          <a:xfrm>
            <a:off x="533400" y="2103438"/>
            <a:ext cx="2349500" cy="968375"/>
            <a:chOff x="1302" y="812"/>
            <a:chExt cx="1480" cy="610"/>
          </a:xfrm>
        </p:grpSpPr>
        <p:grpSp>
          <p:nvGrpSpPr>
            <p:cNvPr id="77019" name="Group 36"/>
            <p:cNvGrpSpPr/>
            <p:nvPr/>
          </p:nvGrpSpPr>
          <p:grpSpPr>
            <a:xfrm>
              <a:off x="1673" y="812"/>
              <a:ext cx="610" cy="609"/>
              <a:chOff x="1673" y="2706"/>
              <a:chExt cx="610" cy="609"/>
            </a:xfrm>
          </p:grpSpPr>
          <p:sp>
            <p:nvSpPr>
              <p:cNvPr id="77060" name="Freeform 37"/>
              <p:cNvSpPr/>
              <p:nvPr/>
            </p:nvSpPr>
            <p:spPr>
              <a:xfrm>
                <a:off x="1673" y="2706"/>
                <a:ext cx="1" cy="609"/>
              </a:xfrm>
              <a:custGeom>
                <a:avLst/>
                <a:gdLst>
                  <a:gd name="txL" fmla="*/ 0 w 1"/>
                  <a:gd name="txT" fmla="*/ 0 h 3596"/>
                  <a:gd name="txR" fmla="*/ 1 w 1"/>
                  <a:gd name="txB" fmla="*/ 3596 h 3596"/>
                </a:gdLst>
                <a:ahLst/>
                <a:cxnLst>
                  <a:cxn ang="0">
                    <a:pos x="0" y="0"/>
                  </a:cxn>
                  <a:cxn ang="0">
                    <a:pos x="0" y="103"/>
                  </a:cxn>
                  <a:cxn ang="0">
                    <a:pos x="1" y="103"/>
                  </a:cxn>
                </a:cxnLst>
                <a:rect l="txL" t="txT" r="txR" b="txB"/>
                <a:pathLst>
                  <a:path w="1" h="3596">
                    <a:moveTo>
                      <a:pt x="0" y="0"/>
                    </a:moveTo>
                    <a:lnTo>
                      <a:pt x="0" y="3596"/>
                    </a:lnTo>
                    <a:lnTo>
                      <a:pt x="1" y="3596"/>
                    </a:lnTo>
                  </a:path>
                </a:pathLst>
              </a:custGeom>
              <a:solidFill>
                <a:schemeClr val="bg1"/>
              </a:solidFill>
              <a:ln w="76200" cap="flat" cmpd="sng">
                <a:solidFill>
                  <a:srgbClr val="FFFFF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61" name="Freeform 38"/>
              <p:cNvSpPr/>
              <p:nvPr/>
            </p:nvSpPr>
            <p:spPr>
              <a:xfrm>
                <a:off x="2282" y="2706"/>
                <a:ext cx="1" cy="609"/>
              </a:xfrm>
              <a:custGeom>
                <a:avLst/>
                <a:gdLst>
                  <a:gd name="txL" fmla="*/ 0 w 1"/>
                  <a:gd name="txT" fmla="*/ 0 h 3596"/>
                  <a:gd name="txR" fmla="*/ 1 w 1"/>
                  <a:gd name="txB" fmla="*/ 3596 h 3596"/>
                </a:gdLst>
                <a:ahLst/>
                <a:cxnLst>
                  <a:cxn ang="0">
                    <a:pos x="0" y="0"/>
                  </a:cxn>
                  <a:cxn ang="0">
                    <a:pos x="0" y="103"/>
                  </a:cxn>
                  <a:cxn ang="0">
                    <a:pos x="1" y="103"/>
                  </a:cxn>
                </a:cxnLst>
                <a:rect l="txL" t="txT" r="txR" b="txB"/>
                <a:pathLst>
                  <a:path w="1" h="3596">
                    <a:moveTo>
                      <a:pt x="0" y="0"/>
                    </a:moveTo>
                    <a:lnTo>
                      <a:pt x="0" y="3596"/>
                    </a:lnTo>
                    <a:lnTo>
                      <a:pt x="1" y="3596"/>
                    </a:lnTo>
                  </a:path>
                </a:pathLst>
              </a:custGeom>
              <a:solidFill>
                <a:schemeClr val="bg1"/>
              </a:solidFill>
              <a:ln w="76200" cap="flat" cmpd="sng">
                <a:solidFill>
                  <a:srgbClr val="FFFFF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77020" name="Group 39"/>
            <p:cNvGrpSpPr/>
            <p:nvPr/>
          </p:nvGrpSpPr>
          <p:grpSpPr>
            <a:xfrm>
              <a:off x="1302" y="812"/>
              <a:ext cx="1480" cy="610"/>
              <a:chOff x="1302" y="2706"/>
              <a:chExt cx="1480" cy="610"/>
            </a:xfrm>
          </p:grpSpPr>
          <p:grpSp>
            <p:nvGrpSpPr>
              <p:cNvPr id="77021" name="Group 40"/>
              <p:cNvGrpSpPr/>
              <p:nvPr/>
            </p:nvGrpSpPr>
            <p:grpSpPr>
              <a:xfrm>
                <a:off x="1438" y="2706"/>
                <a:ext cx="1220" cy="1"/>
                <a:chOff x="1438" y="2706"/>
                <a:chExt cx="1220" cy="1"/>
              </a:xfrm>
            </p:grpSpPr>
            <p:sp>
              <p:nvSpPr>
                <p:cNvPr id="77057" name="Freeform 41"/>
                <p:cNvSpPr/>
                <p:nvPr/>
              </p:nvSpPr>
              <p:spPr>
                <a:xfrm>
                  <a:off x="2252" y="2706"/>
                  <a:ext cx="406" cy="1"/>
                </a:xfrm>
                <a:custGeom>
                  <a:avLst/>
                  <a:gdLst>
                    <a:gd name="txL" fmla="*/ 0 w 2391"/>
                    <a:gd name="txT" fmla="*/ 0 h 1"/>
                    <a:gd name="txR" fmla="*/ 2391 w 2391"/>
                    <a:gd name="txB" fmla="*/ 1 h 1"/>
                  </a:gdLst>
                  <a:ahLst/>
                  <a:cxnLst>
                    <a:cxn ang="0">
                      <a:pos x="69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391" h="1">
                      <a:moveTo>
                        <a:pt x="2391" y="0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7058" name="Freeform 42"/>
                <p:cNvSpPr/>
                <p:nvPr/>
              </p:nvSpPr>
              <p:spPr>
                <a:xfrm>
                  <a:off x="1438" y="2706"/>
                  <a:ext cx="265" cy="1"/>
                </a:xfrm>
                <a:custGeom>
                  <a:avLst/>
                  <a:gdLst>
                    <a:gd name="txL" fmla="*/ 0 w 1562"/>
                    <a:gd name="txT" fmla="*/ 0 h 1"/>
                    <a:gd name="txR" fmla="*/ 1562 w 1562"/>
                    <a:gd name="txB" fmla="*/ 1 h 1"/>
                  </a:gdLst>
                  <a:ahLst/>
                  <a:cxnLst>
                    <a:cxn ang="0">
                      <a:pos x="45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1562" h="1">
                      <a:moveTo>
                        <a:pt x="1562" y="0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7059" name="Freeform 43"/>
                <p:cNvSpPr/>
                <p:nvPr/>
              </p:nvSpPr>
              <p:spPr>
                <a:xfrm>
                  <a:off x="1703" y="2706"/>
                  <a:ext cx="549" cy="1"/>
                </a:xfrm>
                <a:custGeom>
                  <a:avLst/>
                  <a:gdLst>
                    <a:gd name="txL" fmla="*/ 0 w 3236"/>
                    <a:gd name="txT" fmla="*/ 0 h 1"/>
                    <a:gd name="txR" fmla="*/ 3236 w 3236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93" y="0"/>
                    </a:cxn>
                    <a:cxn ang="0">
                      <a:pos x="93" y="0"/>
                    </a:cxn>
                  </a:cxnLst>
                  <a:rect l="txL" t="txT" r="txR" b="txB"/>
                  <a:pathLst>
                    <a:path w="3236" h="1">
                      <a:moveTo>
                        <a:pt x="0" y="0"/>
                      </a:moveTo>
                      <a:lnTo>
                        <a:pt x="3235" y="0"/>
                      </a:lnTo>
                      <a:lnTo>
                        <a:pt x="3236" y="0"/>
                      </a:lnTo>
                    </a:path>
                  </a:pathLst>
                </a:custGeom>
                <a:noFill/>
                <a:ln w="38100" cap="flat" cmpd="sng">
                  <a:solidFill>
                    <a:srgbClr val="3366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77022" name="Freeform 44"/>
              <p:cNvSpPr/>
              <p:nvPr/>
            </p:nvSpPr>
            <p:spPr>
              <a:xfrm>
                <a:off x="1438" y="3315"/>
                <a:ext cx="1220" cy="1"/>
              </a:xfrm>
              <a:custGeom>
                <a:avLst/>
                <a:gdLst>
                  <a:gd name="txL" fmla="*/ 0 w 7189"/>
                  <a:gd name="txT" fmla="*/ 0 h 1"/>
                  <a:gd name="txR" fmla="*/ 7189 w 7189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207" y="0"/>
                  </a:cxn>
                  <a:cxn ang="0">
                    <a:pos x="207" y="0"/>
                  </a:cxn>
                </a:cxnLst>
                <a:rect l="txL" t="txT" r="txR" b="txB"/>
                <a:pathLst>
                  <a:path w="7189" h="1">
                    <a:moveTo>
                      <a:pt x="0" y="0"/>
                    </a:moveTo>
                    <a:lnTo>
                      <a:pt x="7188" y="0"/>
                    </a:lnTo>
                    <a:lnTo>
                      <a:pt x="7189" y="0"/>
                    </a:lnTo>
                  </a:path>
                </a:pathLst>
              </a:custGeom>
              <a:noFill/>
              <a:ln w="381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77023" name="Group 45"/>
              <p:cNvGrpSpPr/>
              <p:nvPr/>
            </p:nvGrpSpPr>
            <p:grpSpPr>
              <a:xfrm>
                <a:off x="1642" y="2706"/>
                <a:ext cx="671" cy="107"/>
                <a:chOff x="1642" y="2706"/>
                <a:chExt cx="671" cy="107"/>
              </a:xfrm>
            </p:grpSpPr>
            <p:sp>
              <p:nvSpPr>
                <p:cNvPr id="77054" name="Freeform 46"/>
                <p:cNvSpPr/>
                <p:nvPr/>
              </p:nvSpPr>
              <p:spPr>
                <a:xfrm>
                  <a:off x="1642" y="2812"/>
                  <a:ext cx="670" cy="1"/>
                </a:xfrm>
                <a:custGeom>
                  <a:avLst/>
                  <a:gdLst>
                    <a:gd name="txL" fmla="*/ 0 w 3954"/>
                    <a:gd name="txT" fmla="*/ 0 h 1"/>
                    <a:gd name="txR" fmla="*/ 3954 w 3954"/>
                    <a:gd name="txB" fmla="*/ 1 h 1"/>
                  </a:gdLst>
                  <a:ahLst/>
                  <a:cxnLst>
                    <a:cxn ang="0">
                      <a:pos x="114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3954" h="1">
                      <a:moveTo>
                        <a:pt x="3954" y="0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7055" name="Freeform 47"/>
                <p:cNvSpPr/>
                <p:nvPr/>
              </p:nvSpPr>
              <p:spPr>
                <a:xfrm>
                  <a:off x="1642" y="2706"/>
                  <a:ext cx="1" cy="106"/>
                </a:xfrm>
                <a:custGeom>
                  <a:avLst/>
                  <a:gdLst>
                    <a:gd name="txL" fmla="*/ 0 w 1"/>
                    <a:gd name="txT" fmla="*/ 0 h 629"/>
                    <a:gd name="txR" fmla="*/ 1 w 1"/>
                    <a:gd name="txB" fmla="*/ 629 h 629"/>
                  </a:gdLst>
                  <a:ahLst/>
                  <a:cxnLst>
                    <a:cxn ang="0">
                      <a:pos x="0" y="0"/>
                    </a:cxn>
                    <a:cxn ang="0">
                      <a:pos x="0" y="18"/>
                    </a:cxn>
                    <a:cxn ang="0">
                      <a:pos x="1" y="18"/>
                    </a:cxn>
                  </a:cxnLst>
                  <a:rect l="txL" t="txT" r="txR" b="txB"/>
                  <a:pathLst>
                    <a:path w="1" h="629">
                      <a:moveTo>
                        <a:pt x="0" y="0"/>
                      </a:moveTo>
                      <a:lnTo>
                        <a:pt x="0" y="629"/>
                      </a:lnTo>
                      <a:lnTo>
                        <a:pt x="1" y="629"/>
                      </a:lnTo>
                    </a:path>
                  </a:pathLst>
                </a:custGeom>
                <a:noFill/>
                <a:ln w="381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7056" name="Freeform 48"/>
                <p:cNvSpPr/>
                <p:nvPr/>
              </p:nvSpPr>
              <p:spPr>
                <a:xfrm>
                  <a:off x="2312" y="2706"/>
                  <a:ext cx="1" cy="106"/>
                </a:xfrm>
                <a:custGeom>
                  <a:avLst/>
                  <a:gdLst>
                    <a:gd name="txL" fmla="*/ 0 w 1"/>
                    <a:gd name="txT" fmla="*/ 0 h 629"/>
                    <a:gd name="txR" fmla="*/ 1 w 1"/>
                    <a:gd name="txB" fmla="*/ 629 h 629"/>
                  </a:gdLst>
                  <a:ahLst/>
                  <a:cxnLst>
                    <a:cxn ang="0">
                      <a:pos x="0" y="18"/>
                    </a:cxn>
                    <a:cxn ang="0">
                      <a:pos x="0" y="0"/>
                    </a:cxn>
                    <a:cxn ang="0">
                      <a:pos x="1" y="0"/>
                    </a:cxn>
                  </a:cxnLst>
                  <a:rect l="txL" t="txT" r="txR" b="txB"/>
                  <a:pathLst>
                    <a:path w="1" h="629">
                      <a:moveTo>
                        <a:pt x="0" y="629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77024" name="Freeform 49"/>
              <p:cNvSpPr/>
              <p:nvPr/>
            </p:nvSpPr>
            <p:spPr>
              <a:xfrm>
                <a:off x="1302" y="3010"/>
                <a:ext cx="217" cy="1"/>
              </a:xfrm>
              <a:custGeom>
                <a:avLst/>
                <a:gdLst>
                  <a:gd name="txL" fmla="*/ 0 w 1285"/>
                  <a:gd name="txT" fmla="*/ 0 h 1"/>
                  <a:gd name="txR" fmla="*/ 1285 w 128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7" y="0"/>
                  </a:cxn>
                  <a:cxn ang="0">
                    <a:pos x="37" y="0"/>
                  </a:cxn>
                </a:cxnLst>
                <a:rect l="txL" t="txT" r="txR" b="txB"/>
                <a:pathLst>
                  <a:path w="1285" h="1">
                    <a:moveTo>
                      <a:pt x="0" y="0"/>
                    </a:moveTo>
                    <a:lnTo>
                      <a:pt x="1284" y="0"/>
                    </a:lnTo>
                    <a:lnTo>
                      <a:pt x="1285" y="0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25" name="Freeform 50"/>
              <p:cNvSpPr/>
              <p:nvPr/>
            </p:nvSpPr>
            <p:spPr>
              <a:xfrm>
                <a:off x="1559" y="3010"/>
                <a:ext cx="38" cy="1"/>
              </a:xfrm>
              <a:custGeom>
                <a:avLst/>
                <a:gdLst>
                  <a:gd name="txL" fmla="*/ 0 w 229"/>
                  <a:gd name="txT" fmla="*/ 0 h 1"/>
                  <a:gd name="txR" fmla="*/ 229 w 229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rect l="txL" t="txT" r="txR" b="txB"/>
                <a:pathLst>
                  <a:path w="229" h="1">
                    <a:moveTo>
                      <a:pt x="0" y="0"/>
                    </a:moveTo>
                    <a:lnTo>
                      <a:pt x="228" y="0"/>
                    </a:lnTo>
                    <a:lnTo>
                      <a:pt x="229" y="0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26" name="Freeform 51"/>
              <p:cNvSpPr/>
              <p:nvPr/>
            </p:nvSpPr>
            <p:spPr>
              <a:xfrm>
                <a:off x="1636" y="3010"/>
                <a:ext cx="192" cy="1"/>
              </a:xfrm>
              <a:custGeom>
                <a:avLst/>
                <a:gdLst>
                  <a:gd name="txL" fmla="*/ 0 w 1142"/>
                  <a:gd name="txT" fmla="*/ 0 h 1"/>
                  <a:gd name="txR" fmla="*/ 1142 w 114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2" y="0"/>
                  </a:cxn>
                  <a:cxn ang="0">
                    <a:pos x="32" y="0"/>
                  </a:cxn>
                </a:cxnLst>
                <a:rect l="txL" t="txT" r="txR" b="txB"/>
                <a:pathLst>
                  <a:path w="1142" h="1">
                    <a:moveTo>
                      <a:pt x="0" y="0"/>
                    </a:moveTo>
                    <a:lnTo>
                      <a:pt x="1141" y="0"/>
                    </a:lnTo>
                    <a:lnTo>
                      <a:pt x="1142" y="0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27" name="Freeform 52"/>
              <p:cNvSpPr/>
              <p:nvPr/>
            </p:nvSpPr>
            <p:spPr>
              <a:xfrm>
                <a:off x="1868" y="3010"/>
                <a:ext cx="38" cy="1"/>
              </a:xfrm>
              <a:custGeom>
                <a:avLst/>
                <a:gdLst>
                  <a:gd name="txL" fmla="*/ 0 w 229"/>
                  <a:gd name="txT" fmla="*/ 0 h 1"/>
                  <a:gd name="txR" fmla="*/ 229 w 229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rect l="txL" t="txT" r="txR" b="txB"/>
                <a:pathLst>
                  <a:path w="229" h="1">
                    <a:moveTo>
                      <a:pt x="0" y="0"/>
                    </a:moveTo>
                    <a:lnTo>
                      <a:pt x="228" y="0"/>
                    </a:lnTo>
                    <a:lnTo>
                      <a:pt x="229" y="0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28" name="Freeform 53"/>
              <p:cNvSpPr/>
              <p:nvPr/>
            </p:nvSpPr>
            <p:spPr>
              <a:xfrm>
                <a:off x="1945" y="3010"/>
                <a:ext cx="194" cy="1"/>
              </a:xfrm>
              <a:custGeom>
                <a:avLst/>
                <a:gdLst>
                  <a:gd name="txL" fmla="*/ 0 w 1142"/>
                  <a:gd name="txT" fmla="*/ 0 h 1"/>
                  <a:gd name="txR" fmla="*/ 1142 w 114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3" y="0"/>
                  </a:cxn>
                  <a:cxn ang="0">
                    <a:pos x="33" y="0"/>
                  </a:cxn>
                </a:cxnLst>
                <a:rect l="txL" t="txT" r="txR" b="txB"/>
                <a:pathLst>
                  <a:path w="1142" h="1">
                    <a:moveTo>
                      <a:pt x="0" y="0"/>
                    </a:moveTo>
                    <a:lnTo>
                      <a:pt x="1141" y="0"/>
                    </a:lnTo>
                    <a:lnTo>
                      <a:pt x="1142" y="0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29" name="Freeform 54"/>
              <p:cNvSpPr/>
              <p:nvPr/>
            </p:nvSpPr>
            <p:spPr>
              <a:xfrm>
                <a:off x="2177" y="3010"/>
                <a:ext cx="39" cy="1"/>
              </a:xfrm>
              <a:custGeom>
                <a:avLst/>
                <a:gdLst>
                  <a:gd name="txL" fmla="*/ 0 w 229"/>
                  <a:gd name="txT" fmla="*/ 0 h 1"/>
                  <a:gd name="txR" fmla="*/ 229 w 229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7" y="0"/>
                  </a:cxn>
                  <a:cxn ang="0">
                    <a:pos x="7" y="0"/>
                  </a:cxn>
                </a:cxnLst>
                <a:rect l="txL" t="txT" r="txR" b="txB"/>
                <a:pathLst>
                  <a:path w="229" h="1">
                    <a:moveTo>
                      <a:pt x="0" y="0"/>
                    </a:moveTo>
                    <a:lnTo>
                      <a:pt x="228" y="0"/>
                    </a:lnTo>
                    <a:lnTo>
                      <a:pt x="229" y="0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30" name="Freeform 55"/>
              <p:cNvSpPr/>
              <p:nvPr/>
            </p:nvSpPr>
            <p:spPr>
              <a:xfrm>
                <a:off x="2254" y="3010"/>
                <a:ext cx="194" cy="1"/>
              </a:xfrm>
              <a:custGeom>
                <a:avLst/>
                <a:gdLst>
                  <a:gd name="txL" fmla="*/ 0 w 1143"/>
                  <a:gd name="txT" fmla="*/ 0 h 1"/>
                  <a:gd name="txR" fmla="*/ 1143 w 1143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3" y="0"/>
                  </a:cxn>
                  <a:cxn ang="0">
                    <a:pos x="33" y="0"/>
                  </a:cxn>
                </a:cxnLst>
                <a:rect l="txL" t="txT" r="txR" b="txB"/>
                <a:pathLst>
                  <a:path w="1143" h="1">
                    <a:moveTo>
                      <a:pt x="0" y="0"/>
                    </a:moveTo>
                    <a:lnTo>
                      <a:pt x="1142" y="0"/>
                    </a:lnTo>
                    <a:lnTo>
                      <a:pt x="1143" y="0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31" name="Freeform 56"/>
              <p:cNvSpPr/>
              <p:nvPr/>
            </p:nvSpPr>
            <p:spPr>
              <a:xfrm>
                <a:off x="2486" y="3010"/>
                <a:ext cx="40" cy="1"/>
              </a:xfrm>
              <a:custGeom>
                <a:avLst/>
                <a:gdLst>
                  <a:gd name="txL" fmla="*/ 0 w 230"/>
                  <a:gd name="txT" fmla="*/ 0 h 1"/>
                  <a:gd name="txR" fmla="*/ 230 w 230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7" y="0"/>
                  </a:cxn>
                  <a:cxn ang="0">
                    <a:pos x="7" y="0"/>
                  </a:cxn>
                </a:cxnLst>
                <a:rect l="txL" t="txT" r="txR" b="txB"/>
                <a:pathLst>
                  <a:path w="230" h="1">
                    <a:moveTo>
                      <a:pt x="0" y="0"/>
                    </a:moveTo>
                    <a:lnTo>
                      <a:pt x="229" y="0"/>
                    </a:lnTo>
                    <a:lnTo>
                      <a:pt x="230" y="0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32" name="Freeform 57"/>
              <p:cNvSpPr/>
              <p:nvPr/>
            </p:nvSpPr>
            <p:spPr>
              <a:xfrm>
                <a:off x="2564" y="3010"/>
                <a:ext cx="218" cy="1"/>
              </a:xfrm>
              <a:custGeom>
                <a:avLst/>
                <a:gdLst>
                  <a:gd name="txL" fmla="*/ 0 w 1285"/>
                  <a:gd name="txT" fmla="*/ 0 h 1"/>
                  <a:gd name="txR" fmla="*/ 1285 w 128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7" y="0"/>
                  </a:cxn>
                  <a:cxn ang="0">
                    <a:pos x="37" y="0"/>
                  </a:cxn>
                </a:cxnLst>
                <a:rect l="txL" t="txT" r="txR" b="txB"/>
                <a:pathLst>
                  <a:path w="1285" h="1">
                    <a:moveTo>
                      <a:pt x="0" y="0"/>
                    </a:moveTo>
                    <a:lnTo>
                      <a:pt x="1284" y="0"/>
                    </a:lnTo>
                    <a:lnTo>
                      <a:pt x="1285" y="0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33" name="Freeform 58"/>
              <p:cNvSpPr/>
              <p:nvPr/>
            </p:nvSpPr>
            <p:spPr>
              <a:xfrm>
                <a:off x="1521" y="2706"/>
                <a:ext cx="1116" cy="249"/>
              </a:xfrm>
              <a:custGeom>
                <a:avLst/>
                <a:gdLst>
                  <a:gd name="txL" fmla="*/ 0 w 6585"/>
                  <a:gd name="txT" fmla="*/ 0 h 1475"/>
                  <a:gd name="txR" fmla="*/ 6585 w 6585"/>
                  <a:gd name="txB" fmla="*/ 1475 h 1475"/>
                </a:gdLst>
                <a:ahLst/>
                <a:cxnLst>
                  <a:cxn ang="0">
                    <a:pos x="0" y="0"/>
                  </a:cxn>
                  <a:cxn ang="0">
                    <a:pos x="1" y="14"/>
                  </a:cxn>
                  <a:cxn ang="0">
                    <a:pos x="7" y="26"/>
                  </a:cxn>
                  <a:cxn ang="0">
                    <a:pos x="16" y="35"/>
                  </a:cxn>
                  <a:cxn ang="0">
                    <a:pos x="28" y="40"/>
                  </a:cxn>
                  <a:cxn ang="0">
                    <a:pos x="42" y="42"/>
                  </a:cxn>
                  <a:cxn ang="0">
                    <a:pos x="57" y="42"/>
                  </a:cxn>
                  <a:cxn ang="0">
                    <a:pos x="88" y="41"/>
                  </a:cxn>
                  <a:cxn ang="0">
                    <a:pos x="117" y="41"/>
                  </a:cxn>
                  <a:cxn ang="0">
                    <a:pos x="131" y="39"/>
                  </a:cxn>
                  <a:cxn ang="0">
                    <a:pos x="146" y="36"/>
                  </a:cxn>
                  <a:cxn ang="0">
                    <a:pos x="159" y="30"/>
                  </a:cxn>
                  <a:cxn ang="0">
                    <a:pos x="172" y="23"/>
                  </a:cxn>
                  <a:cxn ang="0">
                    <a:pos x="182" y="12"/>
                  </a:cxn>
                  <a:cxn ang="0">
                    <a:pos x="189" y="0"/>
                  </a:cxn>
                  <a:cxn ang="0">
                    <a:pos x="189" y="0"/>
                  </a:cxn>
                </a:cxnLst>
                <a:rect l="txL" t="txT" r="txR" b="txB"/>
                <a:pathLst>
                  <a:path w="6585" h="1475">
                    <a:moveTo>
                      <a:pt x="0" y="0"/>
                    </a:moveTo>
                    <a:lnTo>
                      <a:pt x="46" y="480"/>
                    </a:lnTo>
                    <a:lnTo>
                      <a:pt x="236" y="903"/>
                    </a:lnTo>
                    <a:lnTo>
                      <a:pt x="549" y="1215"/>
                    </a:lnTo>
                    <a:lnTo>
                      <a:pt x="963" y="1393"/>
                    </a:lnTo>
                    <a:lnTo>
                      <a:pt x="1450" y="1467"/>
                    </a:lnTo>
                    <a:lnTo>
                      <a:pt x="1981" y="1475"/>
                    </a:lnTo>
                    <a:lnTo>
                      <a:pt x="3065" y="1441"/>
                    </a:lnTo>
                    <a:lnTo>
                      <a:pt x="4077" y="1430"/>
                    </a:lnTo>
                    <a:lnTo>
                      <a:pt x="4572" y="1379"/>
                    </a:lnTo>
                    <a:lnTo>
                      <a:pt x="5070" y="1263"/>
                    </a:lnTo>
                    <a:lnTo>
                      <a:pt x="5550" y="1069"/>
                    </a:lnTo>
                    <a:lnTo>
                      <a:pt x="5978" y="793"/>
                    </a:lnTo>
                    <a:lnTo>
                      <a:pt x="6319" y="430"/>
                    </a:lnTo>
                    <a:lnTo>
                      <a:pt x="6584" y="0"/>
                    </a:lnTo>
                    <a:lnTo>
                      <a:pt x="6585" y="0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34" name="Freeform 59"/>
              <p:cNvSpPr/>
              <p:nvPr/>
            </p:nvSpPr>
            <p:spPr>
              <a:xfrm>
                <a:off x="1374" y="2706"/>
                <a:ext cx="128" cy="304"/>
              </a:xfrm>
              <a:custGeom>
                <a:avLst/>
                <a:gdLst>
                  <a:gd name="txL" fmla="*/ 0 w 755"/>
                  <a:gd name="txT" fmla="*/ 0 h 1794"/>
                  <a:gd name="txR" fmla="*/ 755 w 755"/>
                  <a:gd name="txB" fmla="*/ 1794 h 1794"/>
                </a:gdLst>
                <a:ahLst/>
                <a:cxnLst>
                  <a:cxn ang="0">
                    <a:pos x="11" y="52"/>
                  </a:cxn>
                  <a:cxn ang="0">
                    <a:pos x="13" y="51"/>
                  </a:cxn>
                  <a:cxn ang="0">
                    <a:pos x="15" y="50"/>
                  </a:cxn>
                  <a:cxn ang="0">
                    <a:pos x="17" y="47"/>
                  </a:cxn>
                  <a:cxn ang="0">
                    <a:pos x="18" y="44"/>
                  </a:cxn>
                  <a:cxn ang="0">
                    <a:pos x="20" y="41"/>
                  </a:cxn>
                  <a:cxn ang="0">
                    <a:pos x="21" y="36"/>
                  </a:cxn>
                  <a:cxn ang="0">
                    <a:pos x="21" y="32"/>
                  </a:cxn>
                  <a:cxn ang="0">
                    <a:pos x="22" y="27"/>
                  </a:cxn>
                  <a:cxn ang="0">
                    <a:pos x="22" y="22"/>
                  </a:cxn>
                  <a:cxn ang="0">
                    <a:pos x="21" y="17"/>
                  </a:cxn>
                  <a:cxn ang="0">
                    <a:pos x="20" y="13"/>
                  </a:cxn>
                  <a:cxn ang="0">
                    <a:pos x="19" y="9"/>
                  </a:cxn>
                  <a:cxn ang="0">
                    <a:pos x="18" y="5"/>
                  </a:cxn>
                  <a:cxn ang="0">
                    <a:pos x="16" y="3"/>
                  </a:cxn>
                  <a:cxn ang="0">
                    <a:pos x="14" y="1"/>
                  </a:cxn>
                  <a:cxn ang="0">
                    <a:pos x="12" y="0"/>
                  </a:cxn>
                  <a:cxn ang="0">
                    <a:pos x="10" y="0"/>
                  </a:cxn>
                  <a:cxn ang="0">
                    <a:pos x="8" y="1"/>
                  </a:cxn>
                  <a:cxn ang="0">
                    <a:pos x="6" y="3"/>
                  </a:cxn>
                  <a:cxn ang="0">
                    <a:pos x="4" y="5"/>
                  </a:cxn>
                  <a:cxn ang="0">
                    <a:pos x="3" y="9"/>
                  </a:cxn>
                  <a:cxn ang="0">
                    <a:pos x="1" y="13"/>
                  </a:cxn>
                  <a:cxn ang="0">
                    <a:pos x="1" y="17"/>
                  </a:cxn>
                  <a:cxn ang="0">
                    <a:pos x="0" y="22"/>
                  </a:cxn>
                  <a:cxn ang="0">
                    <a:pos x="0" y="27"/>
                  </a:cxn>
                  <a:cxn ang="0">
                    <a:pos x="0" y="32"/>
                  </a:cxn>
                  <a:cxn ang="0">
                    <a:pos x="1" y="36"/>
                  </a:cxn>
                  <a:cxn ang="0">
                    <a:pos x="2" y="41"/>
                  </a:cxn>
                  <a:cxn ang="0">
                    <a:pos x="3" y="44"/>
                  </a:cxn>
                  <a:cxn ang="0">
                    <a:pos x="5" y="47"/>
                  </a:cxn>
                  <a:cxn ang="0">
                    <a:pos x="7" y="50"/>
                  </a:cxn>
                  <a:cxn ang="0">
                    <a:pos x="9" y="51"/>
                  </a:cxn>
                  <a:cxn ang="0">
                    <a:pos x="11" y="52"/>
                  </a:cxn>
                  <a:cxn ang="0">
                    <a:pos x="11" y="52"/>
                  </a:cxn>
                </a:cxnLst>
                <a:rect l="txL" t="txT" r="txR" b="txB"/>
                <a:pathLst>
                  <a:path w="755" h="1794">
                    <a:moveTo>
                      <a:pt x="378" y="1794"/>
                    </a:moveTo>
                    <a:lnTo>
                      <a:pt x="449" y="1778"/>
                    </a:lnTo>
                    <a:lnTo>
                      <a:pt x="518" y="1730"/>
                    </a:lnTo>
                    <a:lnTo>
                      <a:pt x="582" y="1652"/>
                    </a:lnTo>
                    <a:lnTo>
                      <a:pt x="639" y="1546"/>
                    </a:lnTo>
                    <a:lnTo>
                      <a:pt x="686" y="1417"/>
                    </a:lnTo>
                    <a:lnTo>
                      <a:pt x="721" y="1269"/>
                    </a:lnTo>
                    <a:lnTo>
                      <a:pt x="745" y="1107"/>
                    </a:lnTo>
                    <a:lnTo>
                      <a:pt x="755" y="938"/>
                    </a:lnTo>
                    <a:lnTo>
                      <a:pt x="752" y="767"/>
                    </a:lnTo>
                    <a:lnTo>
                      <a:pt x="735" y="601"/>
                    </a:lnTo>
                    <a:lnTo>
                      <a:pt x="705" y="445"/>
                    </a:lnTo>
                    <a:lnTo>
                      <a:pt x="663" y="306"/>
                    </a:lnTo>
                    <a:lnTo>
                      <a:pt x="612" y="188"/>
                    </a:lnTo>
                    <a:lnTo>
                      <a:pt x="551" y="96"/>
                    </a:lnTo>
                    <a:lnTo>
                      <a:pt x="484" y="32"/>
                    </a:lnTo>
                    <a:lnTo>
                      <a:pt x="413" y="0"/>
                    </a:lnTo>
                    <a:lnTo>
                      <a:pt x="341" y="0"/>
                    </a:lnTo>
                    <a:lnTo>
                      <a:pt x="271" y="32"/>
                    </a:lnTo>
                    <a:lnTo>
                      <a:pt x="205" y="96"/>
                    </a:lnTo>
                    <a:lnTo>
                      <a:pt x="144" y="188"/>
                    </a:lnTo>
                    <a:lnTo>
                      <a:pt x="92" y="306"/>
                    </a:lnTo>
                    <a:lnTo>
                      <a:pt x="50" y="445"/>
                    </a:lnTo>
                    <a:lnTo>
                      <a:pt x="21" y="601"/>
                    </a:lnTo>
                    <a:lnTo>
                      <a:pt x="3" y="767"/>
                    </a:lnTo>
                    <a:lnTo>
                      <a:pt x="0" y="938"/>
                    </a:lnTo>
                    <a:lnTo>
                      <a:pt x="10" y="1107"/>
                    </a:lnTo>
                    <a:lnTo>
                      <a:pt x="33" y="1269"/>
                    </a:lnTo>
                    <a:lnTo>
                      <a:pt x="70" y="1417"/>
                    </a:lnTo>
                    <a:lnTo>
                      <a:pt x="117" y="1546"/>
                    </a:lnTo>
                    <a:lnTo>
                      <a:pt x="173" y="1652"/>
                    </a:lnTo>
                    <a:lnTo>
                      <a:pt x="237" y="1730"/>
                    </a:lnTo>
                    <a:lnTo>
                      <a:pt x="306" y="1778"/>
                    </a:lnTo>
                    <a:lnTo>
                      <a:pt x="378" y="1794"/>
                    </a:lnTo>
                    <a:lnTo>
                      <a:pt x="379" y="1794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35" name="Freeform 60"/>
              <p:cNvSpPr/>
              <p:nvPr/>
            </p:nvSpPr>
            <p:spPr>
              <a:xfrm>
                <a:off x="1374" y="3010"/>
                <a:ext cx="64" cy="305"/>
              </a:xfrm>
              <a:custGeom>
                <a:avLst/>
                <a:gdLst>
                  <a:gd name="txL" fmla="*/ 0 w 378"/>
                  <a:gd name="txT" fmla="*/ 0 h 1798"/>
                  <a:gd name="txR" fmla="*/ 378 w 378"/>
                  <a:gd name="txB" fmla="*/ 1798 h 1798"/>
                </a:gdLst>
                <a:ahLst/>
                <a:cxnLst>
                  <a:cxn ang="0">
                    <a:pos x="11" y="0"/>
                  </a:cxn>
                  <a:cxn ang="0">
                    <a:pos x="9" y="1"/>
                  </a:cxn>
                  <a:cxn ang="0">
                    <a:pos x="7" y="2"/>
                  </a:cxn>
                  <a:cxn ang="0">
                    <a:pos x="5" y="4"/>
                  </a:cxn>
                  <a:cxn ang="0">
                    <a:pos x="4" y="7"/>
                  </a:cxn>
                  <a:cxn ang="0">
                    <a:pos x="2" y="10"/>
                  </a:cxn>
                  <a:cxn ang="0">
                    <a:pos x="1" y="14"/>
                  </a:cxn>
                  <a:cxn ang="0">
                    <a:pos x="0" y="19"/>
                  </a:cxn>
                  <a:cxn ang="0">
                    <a:pos x="0" y="23"/>
                  </a:cxn>
                  <a:cxn ang="0">
                    <a:pos x="0" y="28"/>
                  </a:cxn>
                  <a:cxn ang="0">
                    <a:pos x="0" y="33"/>
                  </a:cxn>
                  <a:cxn ang="0">
                    <a:pos x="1" y="37"/>
                  </a:cxn>
                  <a:cxn ang="0">
                    <a:pos x="2" y="42"/>
                  </a:cxn>
                  <a:cxn ang="0">
                    <a:pos x="4" y="45"/>
                  </a:cxn>
                  <a:cxn ang="0">
                    <a:pos x="5" y="48"/>
                  </a:cxn>
                  <a:cxn ang="0">
                    <a:pos x="7" y="50"/>
                  </a:cxn>
                  <a:cxn ang="0">
                    <a:pos x="9" y="51"/>
                  </a:cxn>
                  <a:cxn ang="0">
                    <a:pos x="11" y="52"/>
                  </a:cxn>
                  <a:cxn ang="0">
                    <a:pos x="11" y="52"/>
                  </a:cxn>
                </a:cxnLst>
                <a:rect l="txL" t="txT" r="txR" b="txB"/>
                <a:pathLst>
                  <a:path w="378" h="1798">
                    <a:moveTo>
                      <a:pt x="377" y="0"/>
                    </a:moveTo>
                    <a:lnTo>
                      <a:pt x="307" y="15"/>
                    </a:lnTo>
                    <a:lnTo>
                      <a:pt x="240" y="61"/>
                    </a:lnTo>
                    <a:lnTo>
                      <a:pt x="178" y="135"/>
                    </a:lnTo>
                    <a:lnTo>
                      <a:pt x="122" y="235"/>
                    </a:lnTo>
                    <a:lnTo>
                      <a:pt x="75" y="357"/>
                    </a:lnTo>
                    <a:lnTo>
                      <a:pt x="39" y="498"/>
                    </a:lnTo>
                    <a:lnTo>
                      <a:pt x="14" y="654"/>
                    </a:lnTo>
                    <a:lnTo>
                      <a:pt x="0" y="816"/>
                    </a:lnTo>
                    <a:lnTo>
                      <a:pt x="0" y="982"/>
                    </a:lnTo>
                    <a:lnTo>
                      <a:pt x="14" y="1145"/>
                    </a:lnTo>
                    <a:lnTo>
                      <a:pt x="39" y="1301"/>
                    </a:lnTo>
                    <a:lnTo>
                      <a:pt x="75" y="1442"/>
                    </a:lnTo>
                    <a:lnTo>
                      <a:pt x="122" y="1564"/>
                    </a:lnTo>
                    <a:lnTo>
                      <a:pt x="178" y="1664"/>
                    </a:lnTo>
                    <a:lnTo>
                      <a:pt x="240" y="1738"/>
                    </a:lnTo>
                    <a:lnTo>
                      <a:pt x="307" y="1784"/>
                    </a:lnTo>
                    <a:lnTo>
                      <a:pt x="377" y="1798"/>
                    </a:lnTo>
                    <a:lnTo>
                      <a:pt x="378" y="1798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36" name="Freeform 61"/>
              <p:cNvSpPr/>
              <p:nvPr/>
            </p:nvSpPr>
            <p:spPr>
              <a:xfrm>
                <a:off x="2657" y="2706"/>
                <a:ext cx="64" cy="304"/>
              </a:xfrm>
              <a:custGeom>
                <a:avLst/>
                <a:gdLst>
                  <a:gd name="txL" fmla="*/ 0 w 377"/>
                  <a:gd name="txT" fmla="*/ 0 h 1798"/>
                  <a:gd name="txR" fmla="*/ 377 w 377"/>
                  <a:gd name="txB" fmla="*/ 1798 h 1798"/>
                </a:gdLst>
                <a:ahLst/>
                <a:cxnLst>
                  <a:cxn ang="0">
                    <a:pos x="0" y="0"/>
                  </a:cxn>
                  <a:cxn ang="0">
                    <a:pos x="2" y="1"/>
                  </a:cxn>
                  <a:cxn ang="0">
                    <a:pos x="4" y="2"/>
                  </a:cxn>
                  <a:cxn ang="0">
                    <a:pos x="6" y="4"/>
                  </a:cxn>
                  <a:cxn ang="0">
                    <a:pos x="7" y="7"/>
                  </a:cxn>
                  <a:cxn ang="0">
                    <a:pos x="9" y="10"/>
                  </a:cxn>
                  <a:cxn ang="0">
                    <a:pos x="10" y="14"/>
                  </a:cxn>
                  <a:cxn ang="0">
                    <a:pos x="11" y="19"/>
                  </a:cxn>
                  <a:cxn ang="0">
                    <a:pos x="11" y="23"/>
                  </a:cxn>
                  <a:cxn ang="0">
                    <a:pos x="11" y="28"/>
                  </a:cxn>
                  <a:cxn ang="0">
                    <a:pos x="11" y="33"/>
                  </a:cxn>
                  <a:cxn ang="0">
                    <a:pos x="10" y="37"/>
                  </a:cxn>
                  <a:cxn ang="0">
                    <a:pos x="9" y="41"/>
                  </a:cxn>
                  <a:cxn ang="0">
                    <a:pos x="7" y="45"/>
                  </a:cxn>
                  <a:cxn ang="0">
                    <a:pos x="6" y="48"/>
                  </a:cxn>
                  <a:cxn ang="0">
                    <a:pos x="4" y="50"/>
                  </a:cxn>
                  <a:cxn ang="0">
                    <a:pos x="2" y="51"/>
                  </a:cxn>
                  <a:cxn ang="0">
                    <a:pos x="0" y="51"/>
                  </a:cxn>
                  <a:cxn ang="0">
                    <a:pos x="0" y="51"/>
                  </a:cxn>
                </a:cxnLst>
                <a:rect l="txL" t="txT" r="txR" b="txB"/>
                <a:pathLst>
                  <a:path w="377" h="1798">
                    <a:moveTo>
                      <a:pt x="0" y="0"/>
                    </a:moveTo>
                    <a:lnTo>
                      <a:pt x="70" y="15"/>
                    </a:lnTo>
                    <a:lnTo>
                      <a:pt x="137" y="60"/>
                    </a:lnTo>
                    <a:lnTo>
                      <a:pt x="199" y="134"/>
                    </a:lnTo>
                    <a:lnTo>
                      <a:pt x="255" y="234"/>
                    </a:lnTo>
                    <a:lnTo>
                      <a:pt x="302" y="357"/>
                    </a:lnTo>
                    <a:lnTo>
                      <a:pt x="338" y="498"/>
                    </a:lnTo>
                    <a:lnTo>
                      <a:pt x="363" y="653"/>
                    </a:lnTo>
                    <a:lnTo>
                      <a:pt x="377" y="816"/>
                    </a:lnTo>
                    <a:lnTo>
                      <a:pt x="377" y="981"/>
                    </a:lnTo>
                    <a:lnTo>
                      <a:pt x="363" y="1145"/>
                    </a:lnTo>
                    <a:lnTo>
                      <a:pt x="338" y="1300"/>
                    </a:lnTo>
                    <a:lnTo>
                      <a:pt x="302" y="1441"/>
                    </a:lnTo>
                    <a:lnTo>
                      <a:pt x="255" y="1564"/>
                    </a:lnTo>
                    <a:lnTo>
                      <a:pt x="199" y="1664"/>
                    </a:lnTo>
                    <a:lnTo>
                      <a:pt x="137" y="1738"/>
                    </a:lnTo>
                    <a:lnTo>
                      <a:pt x="70" y="1783"/>
                    </a:lnTo>
                    <a:lnTo>
                      <a:pt x="0" y="1798"/>
                    </a:lnTo>
                    <a:lnTo>
                      <a:pt x="1" y="1798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37" name="Freeform 62"/>
              <p:cNvSpPr/>
              <p:nvPr/>
            </p:nvSpPr>
            <p:spPr>
              <a:xfrm>
                <a:off x="2592" y="3011"/>
                <a:ext cx="129" cy="304"/>
              </a:xfrm>
              <a:custGeom>
                <a:avLst/>
                <a:gdLst>
                  <a:gd name="txL" fmla="*/ 0 w 756"/>
                  <a:gd name="txT" fmla="*/ 0 h 1793"/>
                  <a:gd name="txR" fmla="*/ 756 w 756"/>
                  <a:gd name="txB" fmla="*/ 1793 h 1793"/>
                </a:gdLst>
                <a:ahLst/>
                <a:cxnLst>
                  <a:cxn ang="0">
                    <a:pos x="11" y="52"/>
                  </a:cxn>
                  <a:cxn ang="0">
                    <a:pos x="9" y="51"/>
                  </a:cxn>
                  <a:cxn ang="0">
                    <a:pos x="7" y="50"/>
                  </a:cxn>
                  <a:cxn ang="0">
                    <a:pos x="5" y="47"/>
                  </a:cxn>
                  <a:cxn ang="0">
                    <a:pos x="3" y="44"/>
                  </a:cxn>
                  <a:cxn ang="0">
                    <a:pos x="2" y="41"/>
                  </a:cxn>
                  <a:cxn ang="0">
                    <a:pos x="1" y="36"/>
                  </a:cxn>
                  <a:cxn ang="0">
                    <a:pos x="0" y="32"/>
                  </a:cxn>
                  <a:cxn ang="0">
                    <a:pos x="0" y="27"/>
                  </a:cxn>
                  <a:cxn ang="0">
                    <a:pos x="0" y="22"/>
                  </a:cxn>
                  <a:cxn ang="0">
                    <a:pos x="1" y="17"/>
                  </a:cxn>
                  <a:cxn ang="0">
                    <a:pos x="2" y="13"/>
                  </a:cxn>
                  <a:cxn ang="0">
                    <a:pos x="3" y="9"/>
                  </a:cxn>
                  <a:cxn ang="0">
                    <a:pos x="4" y="5"/>
                  </a:cxn>
                  <a:cxn ang="0">
                    <a:pos x="6" y="3"/>
                  </a:cxn>
                  <a:cxn ang="0">
                    <a:pos x="8" y="1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4" y="1"/>
                  </a:cxn>
                  <a:cxn ang="0">
                    <a:pos x="16" y="3"/>
                  </a:cxn>
                  <a:cxn ang="0">
                    <a:pos x="18" y="5"/>
                  </a:cxn>
                  <a:cxn ang="0">
                    <a:pos x="19" y="9"/>
                  </a:cxn>
                  <a:cxn ang="0">
                    <a:pos x="20" y="13"/>
                  </a:cxn>
                  <a:cxn ang="0">
                    <a:pos x="21" y="17"/>
                  </a:cxn>
                  <a:cxn ang="0">
                    <a:pos x="22" y="22"/>
                  </a:cxn>
                  <a:cxn ang="0">
                    <a:pos x="22" y="27"/>
                  </a:cxn>
                  <a:cxn ang="0">
                    <a:pos x="22" y="32"/>
                  </a:cxn>
                  <a:cxn ang="0">
                    <a:pos x="21" y="36"/>
                  </a:cxn>
                  <a:cxn ang="0">
                    <a:pos x="20" y="41"/>
                  </a:cxn>
                  <a:cxn ang="0">
                    <a:pos x="19" y="44"/>
                  </a:cxn>
                  <a:cxn ang="0">
                    <a:pos x="17" y="47"/>
                  </a:cxn>
                  <a:cxn ang="0">
                    <a:pos x="15" y="50"/>
                  </a:cxn>
                  <a:cxn ang="0">
                    <a:pos x="13" y="51"/>
                  </a:cxn>
                  <a:cxn ang="0">
                    <a:pos x="11" y="52"/>
                  </a:cxn>
                  <a:cxn ang="0">
                    <a:pos x="11" y="52"/>
                  </a:cxn>
                </a:cxnLst>
                <a:rect l="txL" t="txT" r="txR" b="txB"/>
                <a:pathLst>
                  <a:path w="756" h="1793">
                    <a:moveTo>
                      <a:pt x="378" y="1793"/>
                    </a:moveTo>
                    <a:lnTo>
                      <a:pt x="307" y="1778"/>
                    </a:lnTo>
                    <a:lnTo>
                      <a:pt x="237" y="1730"/>
                    </a:lnTo>
                    <a:lnTo>
                      <a:pt x="173" y="1651"/>
                    </a:lnTo>
                    <a:lnTo>
                      <a:pt x="117" y="1545"/>
                    </a:lnTo>
                    <a:lnTo>
                      <a:pt x="70" y="1416"/>
                    </a:lnTo>
                    <a:lnTo>
                      <a:pt x="35" y="1269"/>
                    </a:lnTo>
                    <a:lnTo>
                      <a:pt x="11" y="1107"/>
                    </a:lnTo>
                    <a:lnTo>
                      <a:pt x="0" y="938"/>
                    </a:lnTo>
                    <a:lnTo>
                      <a:pt x="4" y="767"/>
                    </a:lnTo>
                    <a:lnTo>
                      <a:pt x="21" y="601"/>
                    </a:lnTo>
                    <a:lnTo>
                      <a:pt x="50" y="445"/>
                    </a:lnTo>
                    <a:lnTo>
                      <a:pt x="92" y="305"/>
                    </a:lnTo>
                    <a:lnTo>
                      <a:pt x="144" y="187"/>
                    </a:lnTo>
                    <a:lnTo>
                      <a:pt x="205" y="96"/>
                    </a:lnTo>
                    <a:lnTo>
                      <a:pt x="272" y="32"/>
                    </a:lnTo>
                    <a:lnTo>
                      <a:pt x="343" y="0"/>
                    </a:lnTo>
                    <a:lnTo>
                      <a:pt x="414" y="0"/>
                    </a:lnTo>
                    <a:lnTo>
                      <a:pt x="484" y="32"/>
                    </a:lnTo>
                    <a:lnTo>
                      <a:pt x="551" y="96"/>
                    </a:lnTo>
                    <a:lnTo>
                      <a:pt x="612" y="187"/>
                    </a:lnTo>
                    <a:lnTo>
                      <a:pt x="664" y="305"/>
                    </a:lnTo>
                    <a:lnTo>
                      <a:pt x="706" y="445"/>
                    </a:lnTo>
                    <a:lnTo>
                      <a:pt x="735" y="601"/>
                    </a:lnTo>
                    <a:lnTo>
                      <a:pt x="752" y="767"/>
                    </a:lnTo>
                    <a:lnTo>
                      <a:pt x="756" y="938"/>
                    </a:lnTo>
                    <a:lnTo>
                      <a:pt x="745" y="1107"/>
                    </a:lnTo>
                    <a:lnTo>
                      <a:pt x="721" y="1269"/>
                    </a:lnTo>
                    <a:lnTo>
                      <a:pt x="686" y="1416"/>
                    </a:lnTo>
                    <a:lnTo>
                      <a:pt x="639" y="1545"/>
                    </a:lnTo>
                    <a:lnTo>
                      <a:pt x="583" y="1651"/>
                    </a:lnTo>
                    <a:lnTo>
                      <a:pt x="519" y="1730"/>
                    </a:lnTo>
                    <a:lnTo>
                      <a:pt x="450" y="1778"/>
                    </a:lnTo>
                    <a:lnTo>
                      <a:pt x="378" y="1793"/>
                    </a:lnTo>
                    <a:lnTo>
                      <a:pt x="379" y="1793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38" name="Freeform 63"/>
              <p:cNvSpPr/>
              <p:nvPr/>
            </p:nvSpPr>
            <p:spPr>
              <a:xfrm>
                <a:off x="1392" y="2965"/>
                <a:ext cx="46" cy="45"/>
              </a:xfrm>
              <a:custGeom>
                <a:avLst/>
                <a:gdLst>
                  <a:gd name="txL" fmla="*/ 0 w 267"/>
                  <a:gd name="txT" fmla="*/ 0 h 267"/>
                  <a:gd name="txR" fmla="*/ 267 w 267"/>
                  <a:gd name="txB" fmla="*/ 267 h 267"/>
                </a:gdLst>
                <a:ahLst/>
                <a:cxnLst>
                  <a:cxn ang="0">
                    <a:pos x="8" y="8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67" h="267">
                    <a:moveTo>
                      <a:pt x="267" y="26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39" name="Freeform 64"/>
              <p:cNvSpPr/>
              <p:nvPr/>
            </p:nvSpPr>
            <p:spPr>
              <a:xfrm>
                <a:off x="1377" y="2813"/>
                <a:ext cx="118" cy="117"/>
              </a:xfrm>
              <a:custGeom>
                <a:avLst/>
                <a:gdLst>
                  <a:gd name="txL" fmla="*/ 0 w 694"/>
                  <a:gd name="txT" fmla="*/ 0 h 694"/>
                  <a:gd name="txR" fmla="*/ 694 w 694"/>
                  <a:gd name="txB" fmla="*/ 694 h 694"/>
                </a:gdLst>
                <a:ahLst/>
                <a:cxnLst>
                  <a:cxn ang="0">
                    <a:pos x="20" y="2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694" h="694">
                    <a:moveTo>
                      <a:pt x="694" y="69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40" name="Freeform 65"/>
              <p:cNvSpPr/>
              <p:nvPr/>
            </p:nvSpPr>
            <p:spPr>
              <a:xfrm>
                <a:off x="1416" y="2714"/>
                <a:ext cx="80" cy="81"/>
              </a:xfrm>
              <a:custGeom>
                <a:avLst/>
                <a:gdLst>
                  <a:gd name="txL" fmla="*/ 0 w 475"/>
                  <a:gd name="txT" fmla="*/ 0 h 475"/>
                  <a:gd name="txR" fmla="*/ 475 w 475"/>
                  <a:gd name="txB" fmla="*/ 475 h 475"/>
                </a:gdLst>
                <a:ahLst/>
                <a:cxnLst>
                  <a:cxn ang="0">
                    <a:pos x="13" y="14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475" h="475">
                    <a:moveTo>
                      <a:pt x="475" y="47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41" name="Freeform 66"/>
              <p:cNvSpPr/>
              <p:nvPr/>
            </p:nvSpPr>
            <p:spPr>
              <a:xfrm>
                <a:off x="2596" y="3210"/>
                <a:ext cx="89" cy="90"/>
              </a:xfrm>
              <a:custGeom>
                <a:avLst/>
                <a:gdLst>
                  <a:gd name="txL" fmla="*/ 0 w 523"/>
                  <a:gd name="txT" fmla="*/ 0 h 524"/>
                  <a:gd name="txR" fmla="*/ 523 w 523"/>
                  <a:gd name="txB" fmla="*/ 524 h 524"/>
                </a:gdLst>
                <a:ahLst/>
                <a:cxnLst>
                  <a:cxn ang="0">
                    <a:pos x="15" y="15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523" h="524">
                    <a:moveTo>
                      <a:pt x="523" y="52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42" name="Freeform 67"/>
              <p:cNvSpPr/>
              <p:nvPr/>
            </p:nvSpPr>
            <p:spPr>
              <a:xfrm>
                <a:off x="2603" y="3080"/>
                <a:ext cx="117" cy="117"/>
              </a:xfrm>
              <a:custGeom>
                <a:avLst/>
                <a:gdLst>
                  <a:gd name="txL" fmla="*/ 0 w 686"/>
                  <a:gd name="txT" fmla="*/ 0 h 687"/>
                  <a:gd name="txR" fmla="*/ 686 w 686"/>
                  <a:gd name="txB" fmla="*/ 687 h 687"/>
                </a:gdLst>
                <a:ahLst/>
                <a:cxnLst>
                  <a:cxn ang="0">
                    <a:pos x="20" y="2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686" h="687">
                    <a:moveTo>
                      <a:pt x="686" y="68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43" name="Freeform 68"/>
              <p:cNvSpPr/>
              <p:nvPr/>
            </p:nvSpPr>
            <p:spPr>
              <a:xfrm>
                <a:off x="2676" y="3018"/>
                <a:ext cx="11" cy="10"/>
              </a:xfrm>
              <a:custGeom>
                <a:avLst/>
                <a:gdLst>
                  <a:gd name="txL" fmla="*/ 0 w 66"/>
                  <a:gd name="txT" fmla="*/ 0 h 66"/>
                  <a:gd name="txR" fmla="*/ 66 w 66"/>
                  <a:gd name="txB" fmla="*/ 66 h 66"/>
                </a:gdLst>
                <a:ahLst/>
                <a:cxnLst>
                  <a:cxn ang="0">
                    <a:pos x="2" y="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66" h="66">
                    <a:moveTo>
                      <a:pt x="66" y="6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44" name="Freeform 69"/>
              <p:cNvSpPr/>
              <p:nvPr/>
            </p:nvSpPr>
            <p:spPr>
              <a:xfrm>
                <a:off x="1537" y="2813"/>
                <a:ext cx="121" cy="119"/>
              </a:xfrm>
              <a:custGeom>
                <a:avLst/>
                <a:gdLst>
                  <a:gd name="txL" fmla="*/ 0 w 708"/>
                  <a:gd name="txT" fmla="*/ 0 h 707"/>
                  <a:gd name="txR" fmla="*/ 708 w 708"/>
                  <a:gd name="txB" fmla="*/ 707 h 707"/>
                </a:gdLst>
                <a:ahLst/>
                <a:cxnLst>
                  <a:cxn ang="0">
                    <a:pos x="21" y="2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708" h="707">
                    <a:moveTo>
                      <a:pt x="708" y="70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45" name="Freeform 70"/>
              <p:cNvSpPr/>
              <p:nvPr/>
            </p:nvSpPr>
            <p:spPr>
              <a:xfrm>
                <a:off x="1673" y="2812"/>
                <a:ext cx="143" cy="143"/>
              </a:xfrm>
              <a:custGeom>
                <a:avLst/>
                <a:gdLst>
                  <a:gd name="txL" fmla="*/ 0 w 848"/>
                  <a:gd name="txT" fmla="*/ 0 h 848"/>
                  <a:gd name="txR" fmla="*/ 848 w 848"/>
                  <a:gd name="txB" fmla="*/ 848 h 848"/>
                </a:gdLst>
                <a:ahLst/>
                <a:cxnLst>
                  <a:cxn ang="0">
                    <a:pos x="24" y="24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848" h="848">
                    <a:moveTo>
                      <a:pt x="848" y="84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46" name="Freeform 71"/>
              <p:cNvSpPr/>
              <p:nvPr/>
            </p:nvSpPr>
            <p:spPr>
              <a:xfrm>
                <a:off x="1567" y="2706"/>
                <a:ext cx="74" cy="74"/>
              </a:xfrm>
              <a:custGeom>
                <a:avLst/>
                <a:gdLst>
                  <a:gd name="txL" fmla="*/ 0 w 444"/>
                  <a:gd name="txT" fmla="*/ 0 h 444"/>
                  <a:gd name="txR" fmla="*/ 444 w 444"/>
                  <a:gd name="txB" fmla="*/ 444 h 444"/>
                </a:gdLst>
                <a:ahLst/>
                <a:cxnLst>
                  <a:cxn ang="0">
                    <a:pos x="12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444" h="444">
                    <a:moveTo>
                      <a:pt x="444" y="44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47" name="Freeform 72"/>
              <p:cNvSpPr/>
              <p:nvPr/>
            </p:nvSpPr>
            <p:spPr>
              <a:xfrm>
                <a:off x="1810" y="2812"/>
                <a:ext cx="139" cy="139"/>
              </a:xfrm>
              <a:custGeom>
                <a:avLst/>
                <a:gdLst>
                  <a:gd name="txL" fmla="*/ 0 w 824"/>
                  <a:gd name="txT" fmla="*/ 0 h 825"/>
                  <a:gd name="txR" fmla="*/ 824 w 824"/>
                  <a:gd name="txB" fmla="*/ 825 h 825"/>
                </a:gdLst>
                <a:ahLst/>
                <a:cxnLst>
                  <a:cxn ang="0">
                    <a:pos x="23" y="2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824" h="825">
                    <a:moveTo>
                      <a:pt x="824" y="82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48" name="Freeform 73"/>
              <p:cNvSpPr/>
              <p:nvPr/>
            </p:nvSpPr>
            <p:spPr>
              <a:xfrm>
                <a:off x="1947" y="2812"/>
                <a:ext cx="137" cy="138"/>
              </a:xfrm>
              <a:custGeom>
                <a:avLst/>
                <a:gdLst>
                  <a:gd name="txL" fmla="*/ 0 w 811"/>
                  <a:gd name="txT" fmla="*/ 0 h 812"/>
                  <a:gd name="txR" fmla="*/ 811 w 811"/>
                  <a:gd name="txB" fmla="*/ 812 h 812"/>
                </a:gdLst>
                <a:ahLst/>
                <a:cxnLst>
                  <a:cxn ang="0">
                    <a:pos x="23" y="2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811" h="812">
                    <a:moveTo>
                      <a:pt x="811" y="81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49" name="Freeform 74"/>
              <p:cNvSpPr/>
              <p:nvPr/>
            </p:nvSpPr>
            <p:spPr>
              <a:xfrm>
                <a:off x="2084" y="2812"/>
                <a:ext cx="135" cy="135"/>
              </a:xfrm>
              <a:custGeom>
                <a:avLst/>
                <a:gdLst>
                  <a:gd name="txL" fmla="*/ 0 w 799"/>
                  <a:gd name="txT" fmla="*/ 0 h 799"/>
                  <a:gd name="txR" fmla="*/ 799 w 799"/>
                  <a:gd name="txB" fmla="*/ 799 h 799"/>
                </a:gdLst>
                <a:ahLst/>
                <a:cxnLst>
                  <a:cxn ang="0">
                    <a:pos x="23" y="2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799" h="799">
                    <a:moveTo>
                      <a:pt x="799" y="79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50" name="Freeform 75"/>
              <p:cNvSpPr/>
              <p:nvPr/>
            </p:nvSpPr>
            <p:spPr>
              <a:xfrm>
                <a:off x="2221" y="2812"/>
                <a:ext cx="118" cy="119"/>
              </a:xfrm>
              <a:custGeom>
                <a:avLst/>
                <a:gdLst>
                  <a:gd name="txL" fmla="*/ 0 w 700"/>
                  <a:gd name="txT" fmla="*/ 0 h 701"/>
                  <a:gd name="txR" fmla="*/ 700 w 700"/>
                  <a:gd name="txB" fmla="*/ 701 h 701"/>
                </a:gdLst>
                <a:ahLst/>
                <a:cxnLst>
                  <a:cxn ang="0">
                    <a:pos x="20" y="2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700" h="701">
                    <a:moveTo>
                      <a:pt x="700" y="70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51" name="Freeform 76"/>
              <p:cNvSpPr/>
              <p:nvPr/>
            </p:nvSpPr>
            <p:spPr>
              <a:xfrm>
                <a:off x="2312" y="2767"/>
                <a:ext cx="130" cy="129"/>
              </a:xfrm>
              <a:custGeom>
                <a:avLst/>
                <a:gdLst>
                  <a:gd name="txL" fmla="*/ 0 w 763"/>
                  <a:gd name="txT" fmla="*/ 0 h 762"/>
                  <a:gd name="txR" fmla="*/ 763 w 763"/>
                  <a:gd name="txB" fmla="*/ 762 h 762"/>
                </a:gdLst>
                <a:ahLst/>
                <a:cxnLst>
                  <a:cxn ang="0">
                    <a:pos x="22" y="2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763" h="762">
                    <a:moveTo>
                      <a:pt x="763" y="76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52" name="Freeform 77"/>
              <p:cNvSpPr/>
              <p:nvPr/>
            </p:nvSpPr>
            <p:spPr>
              <a:xfrm>
                <a:off x="2387" y="2706"/>
                <a:ext cx="140" cy="139"/>
              </a:xfrm>
              <a:custGeom>
                <a:avLst/>
                <a:gdLst>
                  <a:gd name="txL" fmla="*/ 0 w 826"/>
                  <a:gd name="txT" fmla="*/ 0 h 826"/>
                  <a:gd name="txR" fmla="*/ 826 w 826"/>
                  <a:gd name="txB" fmla="*/ 826 h 826"/>
                </a:gdLst>
                <a:ahLst/>
                <a:cxnLst>
                  <a:cxn ang="0">
                    <a:pos x="24" y="2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826" h="826">
                    <a:moveTo>
                      <a:pt x="826" y="826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053" name="Freeform 78"/>
              <p:cNvSpPr/>
              <p:nvPr/>
            </p:nvSpPr>
            <p:spPr>
              <a:xfrm>
                <a:off x="2524" y="2706"/>
                <a:ext cx="71" cy="69"/>
              </a:xfrm>
              <a:custGeom>
                <a:avLst/>
                <a:gdLst>
                  <a:gd name="txL" fmla="*/ 0 w 415"/>
                  <a:gd name="txT" fmla="*/ 0 h 414"/>
                  <a:gd name="txR" fmla="*/ 415 w 415"/>
                  <a:gd name="txB" fmla="*/ 414 h 414"/>
                </a:gdLst>
                <a:ahLst/>
                <a:cxnLst>
                  <a:cxn ang="0">
                    <a:pos x="12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415" h="414">
                    <a:moveTo>
                      <a:pt x="415" y="41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79"/>
          <p:cNvGrpSpPr/>
          <p:nvPr/>
        </p:nvGrpSpPr>
        <p:grpSpPr>
          <a:xfrm>
            <a:off x="1076325" y="1993900"/>
            <a:ext cx="1060450" cy="273050"/>
            <a:chOff x="1707" y="2641"/>
            <a:chExt cx="550" cy="172"/>
          </a:xfrm>
        </p:grpSpPr>
        <p:sp>
          <p:nvSpPr>
            <p:cNvPr id="77014" name="Rectangle 80"/>
            <p:cNvSpPr/>
            <p:nvPr/>
          </p:nvSpPr>
          <p:spPr>
            <a:xfrm>
              <a:off x="1707" y="2641"/>
              <a:ext cx="549" cy="158"/>
            </a:xfrm>
            <a:prstGeom prst="rect">
              <a:avLst/>
            </a:prstGeom>
            <a:solidFill>
              <a:srgbClr val="FFFFE1"/>
            </a:solidFill>
            <a:ln w="76200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7015" name="Freeform 81"/>
            <p:cNvSpPr/>
            <p:nvPr/>
          </p:nvSpPr>
          <p:spPr>
            <a:xfrm>
              <a:off x="1707" y="2641"/>
              <a:ext cx="549" cy="1"/>
            </a:xfrm>
            <a:custGeom>
              <a:avLst/>
              <a:gdLst>
                <a:gd name="txL" fmla="*/ 0 w 3235"/>
                <a:gd name="txT" fmla="*/ 0 h 1"/>
                <a:gd name="txR" fmla="*/ 3235 w 3235"/>
                <a:gd name="txB" fmla="*/ 1 h 1"/>
              </a:gdLst>
              <a:ahLst/>
              <a:cxnLst>
                <a:cxn ang="0">
                  <a:pos x="93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235" h="1">
                  <a:moveTo>
                    <a:pt x="3235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7016" name="Freeform 82"/>
            <p:cNvSpPr/>
            <p:nvPr/>
          </p:nvSpPr>
          <p:spPr>
            <a:xfrm>
              <a:off x="1707" y="2641"/>
              <a:ext cx="1" cy="171"/>
            </a:xfrm>
            <a:custGeom>
              <a:avLst/>
              <a:gdLst>
                <a:gd name="txL" fmla="*/ 0 w 1"/>
                <a:gd name="txT" fmla="*/ 0 h 1007"/>
                <a:gd name="txR" fmla="*/ 1 w 1"/>
                <a:gd name="txB" fmla="*/ 1007 h 1007"/>
              </a:gdLst>
              <a:ahLst/>
              <a:cxnLst>
                <a:cxn ang="0">
                  <a:pos x="0" y="0"/>
                </a:cxn>
                <a:cxn ang="0">
                  <a:pos x="0" y="29"/>
                </a:cxn>
                <a:cxn ang="0">
                  <a:pos x="1" y="29"/>
                </a:cxn>
              </a:cxnLst>
              <a:rect l="txL" t="txT" r="txR" b="txB"/>
              <a:pathLst>
                <a:path w="1" h="1007">
                  <a:moveTo>
                    <a:pt x="0" y="0"/>
                  </a:moveTo>
                  <a:lnTo>
                    <a:pt x="0" y="1007"/>
                  </a:lnTo>
                  <a:lnTo>
                    <a:pt x="1" y="1007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7017" name="Freeform 83"/>
            <p:cNvSpPr/>
            <p:nvPr/>
          </p:nvSpPr>
          <p:spPr>
            <a:xfrm>
              <a:off x="2256" y="2641"/>
              <a:ext cx="1" cy="171"/>
            </a:xfrm>
            <a:custGeom>
              <a:avLst/>
              <a:gdLst>
                <a:gd name="txL" fmla="*/ 0 w 1"/>
                <a:gd name="txT" fmla="*/ 0 h 1007"/>
                <a:gd name="txR" fmla="*/ 1 w 1"/>
                <a:gd name="txB" fmla="*/ 1007 h 1007"/>
              </a:gdLst>
              <a:ahLst/>
              <a:cxnLst>
                <a:cxn ang="0">
                  <a:pos x="0" y="29"/>
                </a:cxn>
                <a:cxn ang="0">
                  <a:pos x="0" y="0"/>
                </a:cxn>
                <a:cxn ang="0">
                  <a:pos x="1" y="0"/>
                </a:cxn>
              </a:cxnLst>
              <a:rect l="txL" t="txT" r="txR" b="txB"/>
              <a:pathLst>
                <a:path w="1" h="1007">
                  <a:moveTo>
                    <a:pt x="0" y="100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7018" name="Freeform 84"/>
            <p:cNvSpPr/>
            <p:nvPr/>
          </p:nvSpPr>
          <p:spPr>
            <a:xfrm>
              <a:off x="1707" y="2812"/>
              <a:ext cx="549" cy="1"/>
            </a:xfrm>
            <a:custGeom>
              <a:avLst/>
              <a:gdLst>
                <a:gd name="txL" fmla="*/ 0 w 3236"/>
                <a:gd name="txT" fmla="*/ 0 h 1"/>
                <a:gd name="txR" fmla="*/ 3236 w 3236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93" y="0"/>
                </a:cxn>
                <a:cxn ang="0">
                  <a:pos x="93" y="0"/>
                </a:cxn>
              </a:cxnLst>
              <a:rect l="txL" t="txT" r="txR" b="txB"/>
              <a:pathLst>
                <a:path w="3236" h="1">
                  <a:moveTo>
                    <a:pt x="0" y="0"/>
                  </a:moveTo>
                  <a:lnTo>
                    <a:pt x="3235" y="0"/>
                  </a:lnTo>
                  <a:lnTo>
                    <a:pt x="3236" y="0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Group 85"/>
          <p:cNvGrpSpPr/>
          <p:nvPr/>
        </p:nvGrpSpPr>
        <p:grpSpPr>
          <a:xfrm>
            <a:off x="7810500" y="4005263"/>
            <a:ext cx="1133475" cy="1687512"/>
            <a:chOff x="4944" y="2094"/>
            <a:chExt cx="714" cy="1063"/>
          </a:xfrm>
        </p:grpSpPr>
        <p:sp>
          <p:nvSpPr>
            <p:cNvPr id="76998" name="Freeform 86"/>
            <p:cNvSpPr/>
            <p:nvPr/>
          </p:nvSpPr>
          <p:spPr>
            <a:xfrm>
              <a:off x="4944" y="2238"/>
              <a:ext cx="2" cy="203"/>
            </a:xfrm>
            <a:custGeom>
              <a:avLst/>
              <a:gdLst>
                <a:gd name="txL" fmla="*/ 0 w 1"/>
                <a:gd name="txT" fmla="*/ 0 h 1206"/>
                <a:gd name="txR" fmla="*/ 1 w 1"/>
                <a:gd name="txB" fmla="*/ 1206 h 1206"/>
              </a:gdLst>
              <a:ahLst/>
              <a:cxnLst>
                <a:cxn ang="0">
                  <a:pos x="0" y="34"/>
                </a:cxn>
                <a:cxn ang="0">
                  <a:pos x="0" y="0"/>
                </a:cxn>
                <a:cxn ang="0">
                  <a:pos x="4" y="0"/>
                </a:cxn>
              </a:cxnLst>
              <a:rect l="txL" t="txT" r="txR" b="txB"/>
              <a:pathLst>
                <a:path w="1" h="1206">
                  <a:moveTo>
                    <a:pt x="0" y="120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 cap="flat" cmpd="sng">
              <a:solidFill>
                <a:srgbClr val="CC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99" name="Freeform 87"/>
            <p:cNvSpPr/>
            <p:nvPr/>
          </p:nvSpPr>
          <p:spPr>
            <a:xfrm>
              <a:off x="5128" y="2238"/>
              <a:ext cx="1" cy="203"/>
            </a:xfrm>
            <a:custGeom>
              <a:avLst/>
              <a:gdLst>
                <a:gd name="txL" fmla="*/ 0 w 2"/>
                <a:gd name="txT" fmla="*/ 0 h 1206"/>
                <a:gd name="txR" fmla="*/ 2 w 2"/>
                <a:gd name="txB" fmla="*/ 1206 h 1206"/>
              </a:gdLst>
              <a:ahLst/>
              <a:cxnLst>
                <a:cxn ang="0">
                  <a:pos x="0" y="34"/>
                </a:cxn>
                <a:cxn ang="0">
                  <a:pos x="0" y="0"/>
                </a:cxn>
                <a:cxn ang="0">
                  <a:pos x="1" y="0"/>
                </a:cxn>
              </a:cxnLst>
              <a:rect l="txL" t="txT" r="txR" b="txB"/>
              <a:pathLst>
                <a:path w="2" h="1206">
                  <a:moveTo>
                    <a:pt x="0" y="1206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 cap="flat" cmpd="sng">
              <a:solidFill>
                <a:srgbClr val="CC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7000" name="Freeform 88"/>
            <p:cNvSpPr/>
            <p:nvPr/>
          </p:nvSpPr>
          <p:spPr>
            <a:xfrm>
              <a:off x="5006" y="2276"/>
              <a:ext cx="61" cy="1"/>
            </a:xfrm>
            <a:custGeom>
              <a:avLst/>
              <a:gdLst>
                <a:gd name="txL" fmla="*/ 0 w 360"/>
                <a:gd name="txT" fmla="*/ 0 h 1"/>
                <a:gd name="txR" fmla="*/ 360 w 360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0" y="0"/>
                </a:cxn>
                <a:cxn ang="0">
                  <a:pos x="10" y="0"/>
                </a:cxn>
              </a:cxnLst>
              <a:rect l="txL" t="txT" r="txR" b="txB"/>
              <a:pathLst>
                <a:path w="360" h="1">
                  <a:moveTo>
                    <a:pt x="0" y="0"/>
                  </a:moveTo>
                  <a:lnTo>
                    <a:pt x="359" y="0"/>
                  </a:lnTo>
                  <a:lnTo>
                    <a:pt x="360" y="0"/>
                  </a:lnTo>
                </a:path>
              </a:pathLst>
            </a:custGeom>
            <a:noFill/>
            <a:ln w="12700" cap="flat" cmpd="sng">
              <a:solidFill>
                <a:srgbClr val="CC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7001" name="Freeform 89"/>
            <p:cNvSpPr/>
            <p:nvPr/>
          </p:nvSpPr>
          <p:spPr>
            <a:xfrm>
              <a:off x="4944" y="2265"/>
              <a:ext cx="62" cy="21"/>
            </a:xfrm>
            <a:custGeom>
              <a:avLst/>
              <a:gdLst>
                <a:gd name="txL" fmla="*/ 0 w 359"/>
                <a:gd name="txT" fmla="*/ 0 h 120"/>
                <a:gd name="txR" fmla="*/ 359 w 359"/>
                <a:gd name="txB" fmla="*/ 120 h 120"/>
              </a:gdLst>
              <a:ahLst/>
              <a:cxnLst>
                <a:cxn ang="0">
                  <a:pos x="11" y="0"/>
                </a:cxn>
                <a:cxn ang="0">
                  <a:pos x="11" y="4"/>
                </a:cxn>
                <a:cxn ang="0">
                  <a:pos x="0" y="2"/>
                </a:cxn>
                <a:cxn ang="0">
                  <a:pos x="11" y="0"/>
                </a:cxn>
              </a:cxnLst>
              <a:rect l="txL" t="txT" r="txR" b="txB"/>
              <a:pathLst>
                <a:path w="359" h="120">
                  <a:moveTo>
                    <a:pt x="359" y="0"/>
                  </a:moveTo>
                  <a:lnTo>
                    <a:pt x="359" y="120"/>
                  </a:lnTo>
                  <a:lnTo>
                    <a:pt x="0" y="60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rgbClr val="CC66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7002" name="Freeform 90"/>
            <p:cNvSpPr/>
            <p:nvPr/>
          </p:nvSpPr>
          <p:spPr>
            <a:xfrm>
              <a:off x="4944" y="2265"/>
              <a:ext cx="62" cy="21"/>
            </a:xfrm>
            <a:custGeom>
              <a:avLst/>
              <a:gdLst>
                <a:gd name="txL" fmla="*/ 0 w 359"/>
                <a:gd name="txT" fmla="*/ 0 h 120"/>
                <a:gd name="txR" fmla="*/ 359 w 359"/>
                <a:gd name="txB" fmla="*/ 120 h 120"/>
              </a:gdLst>
              <a:ahLst/>
              <a:cxnLst>
                <a:cxn ang="0">
                  <a:pos x="11" y="0"/>
                </a:cxn>
                <a:cxn ang="0">
                  <a:pos x="11" y="4"/>
                </a:cxn>
                <a:cxn ang="0">
                  <a:pos x="0" y="2"/>
                </a:cxn>
                <a:cxn ang="0">
                  <a:pos x="11" y="0"/>
                </a:cxn>
              </a:cxnLst>
              <a:rect l="txL" t="txT" r="txR" b="txB"/>
              <a:pathLst>
                <a:path w="359" h="120">
                  <a:moveTo>
                    <a:pt x="359" y="0"/>
                  </a:moveTo>
                  <a:lnTo>
                    <a:pt x="359" y="120"/>
                  </a:lnTo>
                  <a:lnTo>
                    <a:pt x="0" y="60"/>
                  </a:lnTo>
                  <a:lnTo>
                    <a:pt x="359" y="0"/>
                  </a:lnTo>
                </a:path>
              </a:pathLst>
            </a:custGeom>
            <a:noFill/>
            <a:ln w="12700" cap="flat" cmpd="sng">
              <a:solidFill>
                <a:srgbClr val="CC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7003" name="Freeform 91"/>
            <p:cNvSpPr/>
            <p:nvPr/>
          </p:nvSpPr>
          <p:spPr>
            <a:xfrm>
              <a:off x="5067" y="2265"/>
              <a:ext cx="61" cy="21"/>
            </a:xfrm>
            <a:custGeom>
              <a:avLst/>
              <a:gdLst>
                <a:gd name="txL" fmla="*/ 0 w 360"/>
                <a:gd name="txT" fmla="*/ 0 h 120"/>
                <a:gd name="txR" fmla="*/ 360 w 360"/>
                <a:gd name="txB" fmla="*/ 120 h 120"/>
              </a:gdLst>
              <a:ahLst/>
              <a:cxnLst>
                <a:cxn ang="0">
                  <a:pos x="0" y="0"/>
                </a:cxn>
                <a:cxn ang="0">
                  <a:pos x="0" y="4"/>
                </a:cxn>
                <a:cxn ang="0">
                  <a:pos x="10" y="2"/>
                </a:cxn>
                <a:cxn ang="0">
                  <a:pos x="0" y="0"/>
                </a:cxn>
              </a:cxnLst>
              <a:rect l="txL" t="txT" r="txR" b="txB"/>
              <a:pathLst>
                <a:path w="360" h="120">
                  <a:moveTo>
                    <a:pt x="0" y="0"/>
                  </a:moveTo>
                  <a:lnTo>
                    <a:pt x="0" y="120"/>
                  </a:lnTo>
                  <a:lnTo>
                    <a:pt x="360" y="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66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7004" name="Freeform 92"/>
            <p:cNvSpPr/>
            <p:nvPr/>
          </p:nvSpPr>
          <p:spPr>
            <a:xfrm>
              <a:off x="5067" y="2265"/>
              <a:ext cx="61" cy="21"/>
            </a:xfrm>
            <a:custGeom>
              <a:avLst/>
              <a:gdLst>
                <a:gd name="txL" fmla="*/ 0 w 360"/>
                <a:gd name="txT" fmla="*/ 0 h 120"/>
                <a:gd name="txR" fmla="*/ 360 w 360"/>
                <a:gd name="txB" fmla="*/ 120 h 120"/>
              </a:gdLst>
              <a:ahLst/>
              <a:cxnLst>
                <a:cxn ang="0">
                  <a:pos x="0" y="0"/>
                </a:cxn>
                <a:cxn ang="0">
                  <a:pos x="0" y="4"/>
                </a:cxn>
                <a:cxn ang="0">
                  <a:pos x="10" y="2"/>
                </a:cxn>
                <a:cxn ang="0">
                  <a:pos x="0" y="0"/>
                </a:cxn>
              </a:cxnLst>
              <a:rect l="txL" t="txT" r="txR" b="txB"/>
              <a:pathLst>
                <a:path w="360" h="120">
                  <a:moveTo>
                    <a:pt x="0" y="0"/>
                  </a:moveTo>
                  <a:lnTo>
                    <a:pt x="0" y="120"/>
                  </a:lnTo>
                  <a:lnTo>
                    <a:pt x="360" y="60"/>
                  </a:ln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CC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7005" name="Freeform 93"/>
            <p:cNvSpPr/>
            <p:nvPr/>
          </p:nvSpPr>
          <p:spPr>
            <a:xfrm>
              <a:off x="5056" y="2460"/>
              <a:ext cx="602" cy="2"/>
            </a:xfrm>
            <a:custGeom>
              <a:avLst/>
              <a:gdLst>
                <a:gd name="txL" fmla="*/ 0 w 3551"/>
                <a:gd name="txT" fmla="*/ 0 h 2"/>
                <a:gd name="txR" fmla="*/ 3551 w 3551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102" y="0"/>
                </a:cxn>
                <a:cxn ang="0">
                  <a:pos x="102" y="0"/>
                </a:cxn>
              </a:cxnLst>
              <a:rect l="txL" t="txT" r="txR" b="txB"/>
              <a:pathLst>
                <a:path w="3551" h="2">
                  <a:moveTo>
                    <a:pt x="0" y="0"/>
                  </a:moveTo>
                  <a:lnTo>
                    <a:pt x="3550" y="0"/>
                  </a:lnTo>
                  <a:lnTo>
                    <a:pt x="3551" y="0"/>
                  </a:lnTo>
                </a:path>
              </a:pathLst>
            </a:custGeom>
            <a:noFill/>
            <a:ln w="1270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7006" name="Freeform 94"/>
            <p:cNvSpPr/>
            <p:nvPr/>
          </p:nvSpPr>
          <p:spPr>
            <a:xfrm>
              <a:off x="5056" y="3156"/>
              <a:ext cx="602" cy="1"/>
            </a:xfrm>
            <a:custGeom>
              <a:avLst/>
              <a:gdLst>
                <a:gd name="txL" fmla="*/ 0 w 3551"/>
                <a:gd name="txT" fmla="*/ 0 h 1"/>
                <a:gd name="txR" fmla="*/ 3551 w 355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02" y="0"/>
                </a:cxn>
                <a:cxn ang="0">
                  <a:pos x="102" y="0"/>
                </a:cxn>
              </a:cxnLst>
              <a:rect l="txL" t="txT" r="txR" b="txB"/>
              <a:pathLst>
                <a:path w="3551" h="1">
                  <a:moveTo>
                    <a:pt x="0" y="0"/>
                  </a:moveTo>
                  <a:lnTo>
                    <a:pt x="3550" y="0"/>
                  </a:lnTo>
                  <a:lnTo>
                    <a:pt x="3551" y="0"/>
                  </a:lnTo>
                </a:path>
              </a:pathLst>
            </a:custGeom>
            <a:noFill/>
            <a:ln w="1270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7007" name="Freeform 95"/>
            <p:cNvSpPr/>
            <p:nvPr/>
          </p:nvSpPr>
          <p:spPr>
            <a:xfrm>
              <a:off x="5619" y="2521"/>
              <a:ext cx="1" cy="574"/>
            </a:xfrm>
            <a:custGeom>
              <a:avLst/>
              <a:gdLst>
                <a:gd name="txL" fmla="*/ 0 w 1"/>
                <a:gd name="txT" fmla="*/ 0 h 3382"/>
                <a:gd name="txR" fmla="*/ 1 w 1"/>
                <a:gd name="txB" fmla="*/ 3382 h 3382"/>
              </a:gdLst>
              <a:ahLst/>
              <a:cxnLst>
                <a:cxn ang="0">
                  <a:pos x="0" y="0"/>
                </a:cxn>
                <a:cxn ang="0">
                  <a:pos x="0" y="97"/>
                </a:cxn>
                <a:cxn ang="0">
                  <a:pos x="1" y="97"/>
                </a:cxn>
              </a:cxnLst>
              <a:rect l="txL" t="txT" r="txR" b="txB"/>
              <a:pathLst>
                <a:path w="1" h="3382">
                  <a:moveTo>
                    <a:pt x="0" y="0"/>
                  </a:moveTo>
                  <a:lnTo>
                    <a:pt x="0" y="3382"/>
                  </a:lnTo>
                  <a:lnTo>
                    <a:pt x="1" y="3382"/>
                  </a:lnTo>
                </a:path>
              </a:pathLst>
            </a:custGeom>
            <a:noFill/>
            <a:ln w="1270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7008" name="Freeform 96"/>
            <p:cNvSpPr/>
            <p:nvPr/>
          </p:nvSpPr>
          <p:spPr>
            <a:xfrm>
              <a:off x="5609" y="2460"/>
              <a:ext cx="21" cy="61"/>
            </a:xfrm>
            <a:custGeom>
              <a:avLst/>
              <a:gdLst>
                <a:gd name="txL" fmla="*/ 0 w 120"/>
                <a:gd name="txT" fmla="*/ 0 h 360"/>
                <a:gd name="txR" fmla="*/ 120 w 120"/>
                <a:gd name="txB" fmla="*/ 360 h 360"/>
              </a:gdLst>
              <a:ahLst/>
              <a:cxnLst>
                <a:cxn ang="0">
                  <a:pos x="0" y="10"/>
                </a:cxn>
                <a:cxn ang="0">
                  <a:pos x="4" y="10"/>
                </a:cxn>
                <a:cxn ang="0">
                  <a:pos x="2" y="0"/>
                </a:cxn>
                <a:cxn ang="0">
                  <a:pos x="0" y="10"/>
                </a:cxn>
              </a:cxnLst>
              <a:rect l="txL" t="txT" r="txR" b="txB"/>
              <a:pathLst>
                <a:path w="120" h="360">
                  <a:moveTo>
                    <a:pt x="0" y="360"/>
                  </a:moveTo>
                  <a:lnTo>
                    <a:pt x="120" y="360"/>
                  </a:lnTo>
                  <a:lnTo>
                    <a:pt x="60" y="0"/>
                  </a:lnTo>
                  <a:lnTo>
                    <a:pt x="0" y="360"/>
                  </a:lnTo>
                  <a:close/>
                </a:path>
              </a:pathLst>
            </a:custGeom>
            <a:solidFill>
              <a:srgbClr val="CC00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7009" name="Freeform 97"/>
            <p:cNvSpPr/>
            <p:nvPr/>
          </p:nvSpPr>
          <p:spPr>
            <a:xfrm>
              <a:off x="5609" y="2460"/>
              <a:ext cx="21" cy="61"/>
            </a:xfrm>
            <a:custGeom>
              <a:avLst/>
              <a:gdLst>
                <a:gd name="txL" fmla="*/ 0 w 120"/>
                <a:gd name="txT" fmla="*/ 0 h 360"/>
                <a:gd name="txR" fmla="*/ 120 w 120"/>
                <a:gd name="txB" fmla="*/ 360 h 360"/>
              </a:gdLst>
              <a:ahLst/>
              <a:cxnLst>
                <a:cxn ang="0">
                  <a:pos x="0" y="10"/>
                </a:cxn>
                <a:cxn ang="0">
                  <a:pos x="4" y="10"/>
                </a:cxn>
                <a:cxn ang="0">
                  <a:pos x="2" y="0"/>
                </a:cxn>
                <a:cxn ang="0">
                  <a:pos x="0" y="10"/>
                </a:cxn>
              </a:cxnLst>
              <a:rect l="txL" t="txT" r="txR" b="txB"/>
              <a:pathLst>
                <a:path w="120" h="360">
                  <a:moveTo>
                    <a:pt x="0" y="360"/>
                  </a:moveTo>
                  <a:lnTo>
                    <a:pt x="120" y="360"/>
                  </a:lnTo>
                  <a:lnTo>
                    <a:pt x="60" y="0"/>
                  </a:lnTo>
                  <a:lnTo>
                    <a:pt x="0" y="360"/>
                  </a:lnTo>
                </a:path>
              </a:pathLst>
            </a:custGeom>
            <a:noFill/>
            <a:ln w="1270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7010" name="Freeform 98"/>
            <p:cNvSpPr/>
            <p:nvPr/>
          </p:nvSpPr>
          <p:spPr>
            <a:xfrm>
              <a:off x="5609" y="3095"/>
              <a:ext cx="21" cy="61"/>
            </a:xfrm>
            <a:custGeom>
              <a:avLst/>
              <a:gdLst>
                <a:gd name="txL" fmla="*/ 0 w 120"/>
                <a:gd name="txT" fmla="*/ 0 h 359"/>
                <a:gd name="txR" fmla="*/ 120 w 120"/>
                <a:gd name="txB" fmla="*/ 359 h 359"/>
              </a:gdLst>
              <a:ahLst/>
              <a:cxnLst>
                <a:cxn ang="0">
                  <a:pos x="0" y="0"/>
                </a:cxn>
                <a:cxn ang="0">
                  <a:pos x="4" y="0"/>
                </a:cxn>
                <a:cxn ang="0">
                  <a:pos x="2" y="10"/>
                </a:cxn>
                <a:cxn ang="0">
                  <a:pos x="0" y="0"/>
                </a:cxn>
              </a:cxnLst>
              <a:rect l="txL" t="txT" r="txR" b="txB"/>
              <a:pathLst>
                <a:path w="120" h="359">
                  <a:moveTo>
                    <a:pt x="0" y="0"/>
                  </a:moveTo>
                  <a:lnTo>
                    <a:pt x="120" y="0"/>
                  </a:lnTo>
                  <a:lnTo>
                    <a:pt x="60" y="3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7011" name="Freeform 99"/>
            <p:cNvSpPr/>
            <p:nvPr/>
          </p:nvSpPr>
          <p:spPr>
            <a:xfrm>
              <a:off x="5609" y="3095"/>
              <a:ext cx="21" cy="61"/>
            </a:xfrm>
            <a:custGeom>
              <a:avLst/>
              <a:gdLst>
                <a:gd name="txL" fmla="*/ 0 w 120"/>
                <a:gd name="txT" fmla="*/ 0 h 359"/>
                <a:gd name="txR" fmla="*/ 120 w 120"/>
                <a:gd name="txB" fmla="*/ 359 h 359"/>
              </a:gdLst>
              <a:ahLst/>
              <a:cxnLst>
                <a:cxn ang="0">
                  <a:pos x="0" y="0"/>
                </a:cxn>
                <a:cxn ang="0">
                  <a:pos x="4" y="0"/>
                </a:cxn>
                <a:cxn ang="0">
                  <a:pos x="2" y="10"/>
                </a:cxn>
                <a:cxn ang="0">
                  <a:pos x="0" y="0"/>
                </a:cxn>
              </a:cxnLst>
              <a:rect l="txL" t="txT" r="txR" b="txB"/>
              <a:pathLst>
                <a:path w="120" h="359">
                  <a:moveTo>
                    <a:pt x="0" y="0"/>
                  </a:moveTo>
                  <a:lnTo>
                    <a:pt x="120" y="0"/>
                  </a:lnTo>
                  <a:lnTo>
                    <a:pt x="60" y="359"/>
                  </a:ln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7012" name="Text Box 100"/>
            <p:cNvSpPr txBox="1"/>
            <p:nvPr/>
          </p:nvSpPr>
          <p:spPr>
            <a:xfrm rot="-5400000">
              <a:off x="5328" y="2711"/>
              <a:ext cx="461" cy="192"/>
            </a:xfrm>
            <a:prstGeom prst="rect">
              <a:avLst/>
            </a:prstGeom>
            <a:noFill/>
            <a:ln w="76200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CC66FF"/>
                  </a:solidFill>
                  <a:latin typeface="Times New Roman" panose="02020603050405020304" pitchFamily="18" charset="0"/>
                </a:rPr>
                <a:t>d+</a:t>
              </a:r>
              <a:r>
                <a:rPr lang="en-US" altLang="zh-CN" sz="1400" dirty="0">
                  <a:solidFill>
                    <a:srgbClr val="CC66FF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aseline="-25000" dirty="0">
                  <a:solidFill>
                    <a:srgbClr val="CC66FF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400" baseline="-25000" dirty="0">
                <a:solidFill>
                  <a:srgbClr val="CC66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013" name="Text Box 101"/>
            <p:cNvSpPr txBox="1"/>
            <p:nvPr/>
          </p:nvSpPr>
          <p:spPr>
            <a:xfrm>
              <a:off x="4976" y="2094"/>
              <a:ext cx="154" cy="192"/>
            </a:xfrm>
            <a:prstGeom prst="rect">
              <a:avLst/>
            </a:prstGeom>
            <a:noFill/>
            <a:ln w="76200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CC66FF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1400" i="1" dirty="0">
                <a:solidFill>
                  <a:srgbClr val="CC66FF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2" name="Group 102"/>
          <p:cNvGrpSpPr/>
          <p:nvPr/>
        </p:nvGrpSpPr>
        <p:grpSpPr>
          <a:xfrm>
            <a:off x="198438" y="4621213"/>
            <a:ext cx="1528762" cy="1338262"/>
            <a:chOff x="133" y="2482"/>
            <a:chExt cx="788" cy="843"/>
          </a:xfrm>
        </p:grpSpPr>
        <p:sp>
          <p:nvSpPr>
            <p:cNvPr id="76974" name="Freeform 103"/>
            <p:cNvSpPr/>
            <p:nvPr/>
          </p:nvSpPr>
          <p:spPr>
            <a:xfrm>
              <a:off x="615" y="2957"/>
              <a:ext cx="290" cy="1"/>
            </a:xfrm>
            <a:custGeom>
              <a:avLst/>
              <a:gdLst>
                <a:gd name="txL" fmla="*/ 0 w 1712"/>
                <a:gd name="txT" fmla="*/ 0 h 1"/>
                <a:gd name="txR" fmla="*/ 1712 w 171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9" y="0"/>
                </a:cxn>
                <a:cxn ang="0">
                  <a:pos x="49" y="0"/>
                </a:cxn>
              </a:cxnLst>
              <a:rect l="txL" t="txT" r="txR" b="txB"/>
              <a:pathLst>
                <a:path w="1712" h="1">
                  <a:moveTo>
                    <a:pt x="0" y="0"/>
                  </a:moveTo>
                  <a:lnTo>
                    <a:pt x="1711" y="0"/>
                  </a:lnTo>
                  <a:lnTo>
                    <a:pt x="1712" y="0"/>
                  </a:lnTo>
                </a:path>
              </a:pathLst>
            </a:custGeom>
            <a:noFill/>
            <a:ln w="1270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75" name="Freeform 104"/>
            <p:cNvSpPr/>
            <p:nvPr/>
          </p:nvSpPr>
          <p:spPr>
            <a:xfrm>
              <a:off x="615" y="3130"/>
              <a:ext cx="290" cy="2"/>
            </a:xfrm>
            <a:custGeom>
              <a:avLst/>
              <a:gdLst>
                <a:gd name="txL" fmla="*/ 0 w 1712"/>
                <a:gd name="txT" fmla="*/ 0 h 2"/>
                <a:gd name="txR" fmla="*/ 1712 w 1712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49" y="0"/>
                </a:cxn>
                <a:cxn ang="0">
                  <a:pos x="49" y="0"/>
                </a:cxn>
              </a:cxnLst>
              <a:rect l="txL" t="txT" r="txR" b="txB"/>
              <a:pathLst>
                <a:path w="1712" h="2">
                  <a:moveTo>
                    <a:pt x="0" y="0"/>
                  </a:moveTo>
                  <a:lnTo>
                    <a:pt x="1711" y="0"/>
                  </a:lnTo>
                  <a:lnTo>
                    <a:pt x="1712" y="0"/>
                  </a:lnTo>
                </a:path>
              </a:pathLst>
            </a:custGeom>
            <a:noFill/>
            <a:ln w="1270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76" name="Freeform 105"/>
            <p:cNvSpPr/>
            <p:nvPr/>
          </p:nvSpPr>
          <p:spPr>
            <a:xfrm>
              <a:off x="866" y="3018"/>
              <a:ext cx="1" cy="51"/>
            </a:xfrm>
            <a:custGeom>
              <a:avLst/>
              <a:gdLst>
                <a:gd name="txL" fmla="*/ 0 w 1"/>
                <a:gd name="txT" fmla="*/ 0 h 300"/>
                <a:gd name="txR" fmla="*/ 1 w 1"/>
                <a:gd name="txB" fmla="*/ 300 h 300"/>
              </a:gdLst>
              <a:ahLst/>
              <a:cxnLst>
                <a:cxn ang="0">
                  <a:pos x="0" y="0"/>
                </a:cxn>
                <a:cxn ang="0">
                  <a:pos x="0" y="9"/>
                </a:cxn>
                <a:cxn ang="0">
                  <a:pos x="1" y="9"/>
                </a:cxn>
              </a:cxnLst>
              <a:rect l="txL" t="txT" r="txR" b="txB"/>
              <a:pathLst>
                <a:path w="1" h="300">
                  <a:moveTo>
                    <a:pt x="0" y="0"/>
                  </a:moveTo>
                  <a:lnTo>
                    <a:pt x="0" y="300"/>
                  </a:lnTo>
                  <a:lnTo>
                    <a:pt x="1" y="300"/>
                  </a:lnTo>
                </a:path>
              </a:pathLst>
            </a:custGeom>
            <a:noFill/>
            <a:ln w="1270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77" name="Freeform 106"/>
            <p:cNvSpPr/>
            <p:nvPr/>
          </p:nvSpPr>
          <p:spPr>
            <a:xfrm>
              <a:off x="856" y="2957"/>
              <a:ext cx="20" cy="61"/>
            </a:xfrm>
            <a:custGeom>
              <a:avLst/>
              <a:gdLst>
                <a:gd name="txL" fmla="*/ 0 w 120"/>
                <a:gd name="txT" fmla="*/ 0 h 360"/>
                <a:gd name="txR" fmla="*/ 120 w 120"/>
                <a:gd name="txB" fmla="*/ 360 h 360"/>
              </a:gdLst>
              <a:ahLst/>
              <a:cxnLst>
                <a:cxn ang="0">
                  <a:pos x="0" y="10"/>
                </a:cxn>
                <a:cxn ang="0">
                  <a:pos x="3" y="10"/>
                </a:cxn>
                <a:cxn ang="0">
                  <a:pos x="2" y="0"/>
                </a:cxn>
                <a:cxn ang="0">
                  <a:pos x="0" y="10"/>
                </a:cxn>
              </a:cxnLst>
              <a:rect l="txL" t="txT" r="txR" b="txB"/>
              <a:pathLst>
                <a:path w="120" h="360">
                  <a:moveTo>
                    <a:pt x="0" y="360"/>
                  </a:moveTo>
                  <a:lnTo>
                    <a:pt x="120" y="360"/>
                  </a:lnTo>
                  <a:lnTo>
                    <a:pt x="60" y="0"/>
                  </a:lnTo>
                  <a:lnTo>
                    <a:pt x="0" y="360"/>
                  </a:lnTo>
                  <a:close/>
                </a:path>
              </a:pathLst>
            </a:custGeom>
            <a:solidFill>
              <a:srgbClr val="CC00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78" name="Freeform 107"/>
            <p:cNvSpPr/>
            <p:nvPr/>
          </p:nvSpPr>
          <p:spPr>
            <a:xfrm>
              <a:off x="856" y="2957"/>
              <a:ext cx="20" cy="61"/>
            </a:xfrm>
            <a:custGeom>
              <a:avLst/>
              <a:gdLst>
                <a:gd name="txL" fmla="*/ 0 w 120"/>
                <a:gd name="txT" fmla="*/ 0 h 360"/>
                <a:gd name="txR" fmla="*/ 120 w 120"/>
                <a:gd name="txB" fmla="*/ 360 h 360"/>
              </a:gdLst>
              <a:ahLst/>
              <a:cxnLst>
                <a:cxn ang="0">
                  <a:pos x="0" y="10"/>
                </a:cxn>
                <a:cxn ang="0">
                  <a:pos x="3" y="10"/>
                </a:cxn>
                <a:cxn ang="0">
                  <a:pos x="2" y="0"/>
                </a:cxn>
                <a:cxn ang="0">
                  <a:pos x="0" y="10"/>
                </a:cxn>
              </a:cxnLst>
              <a:rect l="txL" t="txT" r="txR" b="txB"/>
              <a:pathLst>
                <a:path w="120" h="360">
                  <a:moveTo>
                    <a:pt x="0" y="360"/>
                  </a:moveTo>
                  <a:lnTo>
                    <a:pt x="120" y="360"/>
                  </a:lnTo>
                  <a:lnTo>
                    <a:pt x="60" y="0"/>
                  </a:lnTo>
                  <a:lnTo>
                    <a:pt x="0" y="360"/>
                  </a:lnTo>
                </a:path>
              </a:pathLst>
            </a:custGeom>
            <a:noFill/>
            <a:ln w="1270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79" name="Freeform 108"/>
            <p:cNvSpPr/>
            <p:nvPr/>
          </p:nvSpPr>
          <p:spPr>
            <a:xfrm>
              <a:off x="856" y="3069"/>
              <a:ext cx="20" cy="61"/>
            </a:xfrm>
            <a:custGeom>
              <a:avLst/>
              <a:gdLst>
                <a:gd name="txL" fmla="*/ 0 w 120"/>
                <a:gd name="txT" fmla="*/ 0 h 360"/>
                <a:gd name="txR" fmla="*/ 120 w 120"/>
                <a:gd name="txB" fmla="*/ 360 h 360"/>
              </a:gdLst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2" y="10"/>
                </a:cxn>
                <a:cxn ang="0">
                  <a:pos x="0" y="0"/>
                </a:cxn>
              </a:cxnLst>
              <a:rect l="txL" t="txT" r="txR" b="txB"/>
              <a:pathLst>
                <a:path w="120" h="360">
                  <a:moveTo>
                    <a:pt x="0" y="0"/>
                  </a:moveTo>
                  <a:lnTo>
                    <a:pt x="120" y="0"/>
                  </a:lnTo>
                  <a:lnTo>
                    <a:pt x="60" y="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80" name="Freeform 109"/>
            <p:cNvSpPr/>
            <p:nvPr/>
          </p:nvSpPr>
          <p:spPr>
            <a:xfrm>
              <a:off x="856" y="3069"/>
              <a:ext cx="20" cy="61"/>
            </a:xfrm>
            <a:custGeom>
              <a:avLst/>
              <a:gdLst>
                <a:gd name="txL" fmla="*/ 0 w 120"/>
                <a:gd name="txT" fmla="*/ 0 h 360"/>
                <a:gd name="txR" fmla="*/ 120 w 120"/>
                <a:gd name="txB" fmla="*/ 360 h 360"/>
              </a:gdLst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2" y="10"/>
                </a:cxn>
                <a:cxn ang="0">
                  <a:pos x="0" y="0"/>
                </a:cxn>
              </a:cxnLst>
              <a:rect l="txL" t="txT" r="txR" b="txB"/>
              <a:pathLst>
                <a:path w="120" h="360">
                  <a:moveTo>
                    <a:pt x="0" y="0"/>
                  </a:moveTo>
                  <a:lnTo>
                    <a:pt x="120" y="0"/>
                  </a:lnTo>
                  <a:lnTo>
                    <a:pt x="60" y="360"/>
                  </a:ln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81" name="Freeform 110"/>
            <p:cNvSpPr/>
            <p:nvPr/>
          </p:nvSpPr>
          <p:spPr>
            <a:xfrm>
              <a:off x="133" y="3062"/>
              <a:ext cx="1" cy="250"/>
            </a:xfrm>
            <a:custGeom>
              <a:avLst/>
              <a:gdLst>
                <a:gd name="txL" fmla="*/ 0 w 1"/>
                <a:gd name="txT" fmla="*/ 0 h 1471"/>
                <a:gd name="txR" fmla="*/ 1 w 1"/>
                <a:gd name="txB" fmla="*/ 1471 h 1471"/>
              </a:gdLst>
              <a:ahLst/>
              <a:cxnLst>
                <a:cxn ang="0">
                  <a:pos x="0" y="0"/>
                </a:cxn>
                <a:cxn ang="0">
                  <a:pos x="0" y="42"/>
                </a:cxn>
                <a:cxn ang="0">
                  <a:pos x="1" y="42"/>
                </a:cxn>
              </a:cxnLst>
              <a:rect l="txL" t="txT" r="txR" b="txB"/>
              <a:pathLst>
                <a:path w="1" h="1471">
                  <a:moveTo>
                    <a:pt x="0" y="0"/>
                  </a:moveTo>
                  <a:lnTo>
                    <a:pt x="0" y="1471"/>
                  </a:lnTo>
                  <a:lnTo>
                    <a:pt x="1" y="1471"/>
                  </a:lnTo>
                </a:path>
              </a:pathLst>
            </a:custGeom>
            <a:noFill/>
            <a:ln w="12700" cap="flat" cmpd="sng">
              <a:solidFill>
                <a:srgbClr val="CC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82" name="Freeform 111"/>
            <p:cNvSpPr/>
            <p:nvPr/>
          </p:nvSpPr>
          <p:spPr>
            <a:xfrm>
              <a:off x="681" y="3062"/>
              <a:ext cx="1" cy="250"/>
            </a:xfrm>
            <a:custGeom>
              <a:avLst/>
              <a:gdLst>
                <a:gd name="txL" fmla="*/ 0 w 1"/>
                <a:gd name="txT" fmla="*/ 0 h 1471"/>
                <a:gd name="txR" fmla="*/ 1 w 1"/>
                <a:gd name="txB" fmla="*/ 1471 h 1471"/>
              </a:gdLst>
              <a:ahLst/>
              <a:cxnLst>
                <a:cxn ang="0">
                  <a:pos x="0" y="0"/>
                </a:cxn>
                <a:cxn ang="0">
                  <a:pos x="0" y="42"/>
                </a:cxn>
                <a:cxn ang="0">
                  <a:pos x="1" y="42"/>
                </a:cxn>
              </a:cxnLst>
              <a:rect l="txL" t="txT" r="txR" b="txB"/>
              <a:pathLst>
                <a:path w="1" h="1471">
                  <a:moveTo>
                    <a:pt x="0" y="0"/>
                  </a:moveTo>
                  <a:lnTo>
                    <a:pt x="0" y="1471"/>
                  </a:lnTo>
                  <a:lnTo>
                    <a:pt x="1" y="1471"/>
                  </a:lnTo>
                </a:path>
              </a:pathLst>
            </a:custGeom>
            <a:noFill/>
            <a:ln w="12700" cap="flat" cmpd="sng">
              <a:solidFill>
                <a:srgbClr val="CC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83" name="Freeform 112"/>
            <p:cNvSpPr/>
            <p:nvPr/>
          </p:nvSpPr>
          <p:spPr>
            <a:xfrm>
              <a:off x="194" y="3274"/>
              <a:ext cx="426" cy="1"/>
            </a:xfrm>
            <a:custGeom>
              <a:avLst/>
              <a:gdLst>
                <a:gd name="txL" fmla="*/ 0 w 2518"/>
                <a:gd name="txT" fmla="*/ 0 h 1"/>
                <a:gd name="txR" fmla="*/ 2518 w 251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72" y="0"/>
                </a:cxn>
                <a:cxn ang="0">
                  <a:pos x="72" y="0"/>
                </a:cxn>
              </a:cxnLst>
              <a:rect l="txL" t="txT" r="txR" b="txB"/>
              <a:pathLst>
                <a:path w="2518" h="1">
                  <a:moveTo>
                    <a:pt x="0" y="0"/>
                  </a:moveTo>
                  <a:lnTo>
                    <a:pt x="2517" y="0"/>
                  </a:lnTo>
                  <a:lnTo>
                    <a:pt x="2518" y="0"/>
                  </a:lnTo>
                </a:path>
              </a:pathLst>
            </a:custGeom>
            <a:noFill/>
            <a:ln w="12700" cap="flat" cmpd="sng">
              <a:solidFill>
                <a:srgbClr val="CC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84" name="Freeform 113"/>
            <p:cNvSpPr/>
            <p:nvPr/>
          </p:nvSpPr>
          <p:spPr>
            <a:xfrm>
              <a:off x="133" y="3264"/>
              <a:ext cx="61" cy="21"/>
            </a:xfrm>
            <a:custGeom>
              <a:avLst/>
              <a:gdLst>
                <a:gd name="txL" fmla="*/ 0 w 359"/>
                <a:gd name="txT" fmla="*/ 0 h 120"/>
                <a:gd name="txR" fmla="*/ 359 w 359"/>
                <a:gd name="txB" fmla="*/ 120 h 120"/>
              </a:gdLst>
              <a:ahLst/>
              <a:cxnLst>
                <a:cxn ang="0">
                  <a:pos x="10" y="0"/>
                </a:cxn>
                <a:cxn ang="0">
                  <a:pos x="10" y="4"/>
                </a:cxn>
                <a:cxn ang="0">
                  <a:pos x="0" y="2"/>
                </a:cxn>
                <a:cxn ang="0">
                  <a:pos x="10" y="0"/>
                </a:cxn>
              </a:cxnLst>
              <a:rect l="txL" t="txT" r="txR" b="txB"/>
              <a:pathLst>
                <a:path w="359" h="120">
                  <a:moveTo>
                    <a:pt x="359" y="0"/>
                  </a:moveTo>
                  <a:lnTo>
                    <a:pt x="359" y="120"/>
                  </a:lnTo>
                  <a:lnTo>
                    <a:pt x="0" y="6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rgbClr val="CC66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85" name="Freeform 114"/>
            <p:cNvSpPr/>
            <p:nvPr/>
          </p:nvSpPr>
          <p:spPr>
            <a:xfrm>
              <a:off x="133" y="3264"/>
              <a:ext cx="61" cy="21"/>
            </a:xfrm>
            <a:custGeom>
              <a:avLst/>
              <a:gdLst>
                <a:gd name="txL" fmla="*/ 0 w 359"/>
                <a:gd name="txT" fmla="*/ 0 h 120"/>
                <a:gd name="txR" fmla="*/ 359 w 359"/>
                <a:gd name="txB" fmla="*/ 120 h 120"/>
              </a:gdLst>
              <a:ahLst/>
              <a:cxnLst>
                <a:cxn ang="0">
                  <a:pos x="10" y="0"/>
                </a:cxn>
                <a:cxn ang="0">
                  <a:pos x="10" y="4"/>
                </a:cxn>
                <a:cxn ang="0">
                  <a:pos x="0" y="2"/>
                </a:cxn>
                <a:cxn ang="0">
                  <a:pos x="10" y="0"/>
                </a:cxn>
              </a:cxnLst>
              <a:rect l="txL" t="txT" r="txR" b="txB"/>
              <a:pathLst>
                <a:path w="359" h="120">
                  <a:moveTo>
                    <a:pt x="359" y="0"/>
                  </a:moveTo>
                  <a:lnTo>
                    <a:pt x="359" y="120"/>
                  </a:lnTo>
                  <a:lnTo>
                    <a:pt x="0" y="61"/>
                  </a:lnTo>
                  <a:lnTo>
                    <a:pt x="359" y="0"/>
                  </a:lnTo>
                </a:path>
              </a:pathLst>
            </a:custGeom>
            <a:noFill/>
            <a:ln w="12700" cap="flat" cmpd="sng">
              <a:solidFill>
                <a:srgbClr val="CC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86" name="Freeform 115"/>
            <p:cNvSpPr/>
            <p:nvPr/>
          </p:nvSpPr>
          <p:spPr>
            <a:xfrm>
              <a:off x="620" y="3264"/>
              <a:ext cx="61" cy="21"/>
            </a:xfrm>
            <a:custGeom>
              <a:avLst/>
              <a:gdLst>
                <a:gd name="txL" fmla="*/ 0 w 359"/>
                <a:gd name="txT" fmla="*/ 0 h 120"/>
                <a:gd name="txR" fmla="*/ 359 w 359"/>
                <a:gd name="txB" fmla="*/ 120 h 120"/>
              </a:gdLst>
              <a:ahLst/>
              <a:cxnLst>
                <a:cxn ang="0">
                  <a:pos x="0" y="0"/>
                </a:cxn>
                <a:cxn ang="0">
                  <a:pos x="0" y="4"/>
                </a:cxn>
                <a:cxn ang="0">
                  <a:pos x="10" y="2"/>
                </a:cxn>
                <a:cxn ang="0">
                  <a:pos x="0" y="0"/>
                </a:cxn>
              </a:cxnLst>
              <a:rect l="txL" t="txT" r="txR" b="txB"/>
              <a:pathLst>
                <a:path w="359" h="120">
                  <a:moveTo>
                    <a:pt x="0" y="0"/>
                  </a:moveTo>
                  <a:lnTo>
                    <a:pt x="0" y="120"/>
                  </a:lnTo>
                  <a:lnTo>
                    <a:pt x="359" y="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66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87" name="Freeform 116"/>
            <p:cNvSpPr/>
            <p:nvPr/>
          </p:nvSpPr>
          <p:spPr>
            <a:xfrm>
              <a:off x="620" y="3264"/>
              <a:ext cx="61" cy="21"/>
            </a:xfrm>
            <a:custGeom>
              <a:avLst/>
              <a:gdLst>
                <a:gd name="txL" fmla="*/ 0 w 359"/>
                <a:gd name="txT" fmla="*/ 0 h 120"/>
                <a:gd name="txR" fmla="*/ 359 w 359"/>
                <a:gd name="txB" fmla="*/ 120 h 120"/>
              </a:gdLst>
              <a:ahLst/>
              <a:cxnLst>
                <a:cxn ang="0">
                  <a:pos x="0" y="0"/>
                </a:cxn>
                <a:cxn ang="0">
                  <a:pos x="0" y="4"/>
                </a:cxn>
                <a:cxn ang="0">
                  <a:pos x="10" y="2"/>
                </a:cxn>
                <a:cxn ang="0">
                  <a:pos x="0" y="0"/>
                </a:cxn>
              </a:cxnLst>
              <a:rect l="txL" t="txT" r="txR" b="txB"/>
              <a:pathLst>
                <a:path w="359" h="120">
                  <a:moveTo>
                    <a:pt x="0" y="0"/>
                  </a:moveTo>
                  <a:lnTo>
                    <a:pt x="0" y="120"/>
                  </a:lnTo>
                  <a:lnTo>
                    <a:pt x="359" y="61"/>
                  </a:ln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CC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88" name="Freeform 117"/>
            <p:cNvSpPr/>
            <p:nvPr/>
          </p:nvSpPr>
          <p:spPr>
            <a:xfrm>
              <a:off x="700" y="2482"/>
              <a:ext cx="221" cy="1"/>
            </a:xfrm>
            <a:custGeom>
              <a:avLst/>
              <a:gdLst>
                <a:gd name="txL" fmla="*/ 0 w 1303"/>
                <a:gd name="txT" fmla="*/ 0 h 1"/>
                <a:gd name="txR" fmla="*/ 1303 w 1303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7" y="0"/>
                </a:cxn>
                <a:cxn ang="0">
                  <a:pos x="37" y="0"/>
                </a:cxn>
              </a:cxnLst>
              <a:rect l="txL" t="txT" r="txR" b="txB"/>
              <a:pathLst>
                <a:path w="1303" h="1">
                  <a:moveTo>
                    <a:pt x="0" y="0"/>
                  </a:moveTo>
                  <a:lnTo>
                    <a:pt x="1302" y="0"/>
                  </a:lnTo>
                  <a:lnTo>
                    <a:pt x="1303" y="0"/>
                  </a:lnTo>
                </a:path>
              </a:pathLst>
            </a:custGeom>
            <a:noFill/>
            <a:ln w="1270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89" name="Freeform 118"/>
            <p:cNvSpPr/>
            <p:nvPr/>
          </p:nvSpPr>
          <p:spPr>
            <a:xfrm>
              <a:off x="700" y="2653"/>
              <a:ext cx="221" cy="1"/>
            </a:xfrm>
            <a:custGeom>
              <a:avLst/>
              <a:gdLst>
                <a:gd name="txL" fmla="*/ 0 w 1303"/>
                <a:gd name="txT" fmla="*/ 0 h 1"/>
                <a:gd name="txR" fmla="*/ 1303 w 1303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7" y="0"/>
                </a:cxn>
                <a:cxn ang="0">
                  <a:pos x="37" y="0"/>
                </a:cxn>
              </a:cxnLst>
              <a:rect l="txL" t="txT" r="txR" b="txB"/>
              <a:pathLst>
                <a:path w="1303" h="1">
                  <a:moveTo>
                    <a:pt x="0" y="0"/>
                  </a:moveTo>
                  <a:lnTo>
                    <a:pt x="1302" y="0"/>
                  </a:lnTo>
                  <a:lnTo>
                    <a:pt x="1303" y="0"/>
                  </a:lnTo>
                </a:path>
              </a:pathLst>
            </a:custGeom>
            <a:noFill/>
            <a:ln w="1270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90" name="Freeform 119"/>
            <p:cNvSpPr/>
            <p:nvPr/>
          </p:nvSpPr>
          <p:spPr>
            <a:xfrm>
              <a:off x="883" y="2543"/>
              <a:ext cx="1" cy="49"/>
            </a:xfrm>
            <a:custGeom>
              <a:avLst/>
              <a:gdLst>
                <a:gd name="txL" fmla="*/ 0 w 1"/>
                <a:gd name="txT" fmla="*/ 0 h 288"/>
                <a:gd name="txR" fmla="*/ 1 w 1"/>
                <a:gd name="txB" fmla="*/ 288 h 288"/>
              </a:gdLst>
              <a:ahLst/>
              <a:cxnLst>
                <a:cxn ang="0">
                  <a:pos x="0" y="0"/>
                </a:cxn>
                <a:cxn ang="0">
                  <a:pos x="0" y="8"/>
                </a:cxn>
                <a:cxn ang="0">
                  <a:pos x="1" y="8"/>
                </a:cxn>
              </a:cxnLst>
              <a:rect l="txL" t="txT" r="txR" b="txB"/>
              <a:pathLst>
                <a:path w="1" h="288">
                  <a:moveTo>
                    <a:pt x="0" y="0"/>
                  </a:moveTo>
                  <a:lnTo>
                    <a:pt x="0" y="288"/>
                  </a:lnTo>
                  <a:lnTo>
                    <a:pt x="1" y="288"/>
                  </a:lnTo>
                </a:path>
              </a:pathLst>
            </a:custGeom>
            <a:noFill/>
            <a:ln w="1270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91" name="Freeform 120"/>
            <p:cNvSpPr/>
            <p:nvPr/>
          </p:nvSpPr>
          <p:spPr>
            <a:xfrm>
              <a:off x="874" y="2482"/>
              <a:ext cx="20" cy="61"/>
            </a:xfrm>
            <a:custGeom>
              <a:avLst/>
              <a:gdLst>
                <a:gd name="txL" fmla="*/ 0 w 120"/>
                <a:gd name="txT" fmla="*/ 0 h 360"/>
                <a:gd name="txR" fmla="*/ 120 w 120"/>
                <a:gd name="txB" fmla="*/ 360 h 360"/>
              </a:gdLst>
              <a:ahLst/>
              <a:cxnLst>
                <a:cxn ang="0">
                  <a:pos x="0" y="10"/>
                </a:cxn>
                <a:cxn ang="0">
                  <a:pos x="3" y="10"/>
                </a:cxn>
                <a:cxn ang="0">
                  <a:pos x="2" y="0"/>
                </a:cxn>
                <a:cxn ang="0">
                  <a:pos x="0" y="10"/>
                </a:cxn>
              </a:cxnLst>
              <a:rect l="txL" t="txT" r="txR" b="txB"/>
              <a:pathLst>
                <a:path w="120" h="360">
                  <a:moveTo>
                    <a:pt x="0" y="360"/>
                  </a:moveTo>
                  <a:lnTo>
                    <a:pt x="120" y="360"/>
                  </a:lnTo>
                  <a:lnTo>
                    <a:pt x="61" y="0"/>
                  </a:lnTo>
                  <a:lnTo>
                    <a:pt x="0" y="360"/>
                  </a:lnTo>
                  <a:close/>
                </a:path>
              </a:pathLst>
            </a:custGeom>
            <a:solidFill>
              <a:srgbClr val="CC00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92" name="Freeform 121"/>
            <p:cNvSpPr/>
            <p:nvPr/>
          </p:nvSpPr>
          <p:spPr>
            <a:xfrm>
              <a:off x="874" y="2482"/>
              <a:ext cx="20" cy="61"/>
            </a:xfrm>
            <a:custGeom>
              <a:avLst/>
              <a:gdLst>
                <a:gd name="txL" fmla="*/ 0 w 120"/>
                <a:gd name="txT" fmla="*/ 0 h 360"/>
                <a:gd name="txR" fmla="*/ 120 w 120"/>
                <a:gd name="txB" fmla="*/ 360 h 360"/>
              </a:gdLst>
              <a:ahLst/>
              <a:cxnLst>
                <a:cxn ang="0">
                  <a:pos x="0" y="10"/>
                </a:cxn>
                <a:cxn ang="0">
                  <a:pos x="3" y="10"/>
                </a:cxn>
                <a:cxn ang="0">
                  <a:pos x="2" y="0"/>
                </a:cxn>
                <a:cxn ang="0">
                  <a:pos x="0" y="10"/>
                </a:cxn>
              </a:cxnLst>
              <a:rect l="txL" t="txT" r="txR" b="txB"/>
              <a:pathLst>
                <a:path w="120" h="360">
                  <a:moveTo>
                    <a:pt x="0" y="360"/>
                  </a:moveTo>
                  <a:lnTo>
                    <a:pt x="120" y="360"/>
                  </a:lnTo>
                  <a:lnTo>
                    <a:pt x="61" y="0"/>
                  </a:lnTo>
                  <a:lnTo>
                    <a:pt x="0" y="360"/>
                  </a:lnTo>
                </a:path>
              </a:pathLst>
            </a:custGeom>
            <a:noFill/>
            <a:ln w="1270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93" name="Freeform 122"/>
            <p:cNvSpPr/>
            <p:nvPr/>
          </p:nvSpPr>
          <p:spPr>
            <a:xfrm>
              <a:off x="874" y="2592"/>
              <a:ext cx="20" cy="61"/>
            </a:xfrm>
            <a:custGeom>
              <a:avLst/>
              <a:gdLst>
                <a:gd name="txL" fmla="*/ 0 w 120"/>
                <a:gd name="txT" fmla="*/ 0 h 359"/>
                <a:gd name="txR" fmla="*/ 120 w 120"/>
                <a:gd name="txB" fmla="*/ 359 h 359"/>
              </a:gdLst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2" y="10"/>
                </a:cxn>
                <a:cxn ang="0">
                  <a:pos x="0" y="0"/>
                </a:cxn>
              </a:cxnLst>
              <a:rect l="txL" t="txT" r="txR" b="txB"/>
              <a:pathLst>
                <a:path w="120" h="359">
                  <a:moveTo>
                    <a:pt x="0" y="0"/>
                  </a:moveTo>
                  <a:lnTo>
                    <a:pt x="120" y="0"/>
                  </a:lnTo>
                  <a:lnTo>
                    <a:pt x="61" y="3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94" name="Freeform 123"/>
            <p:cNvSpPr/>
            <p:nvPr/>
          </p:nvSpPr>
          <p:spPr>
            <a:xfrm>
              <a:off x="874" y="2592"/>
              <a:ext cx="20" cy="61"/>
            </a:xfrm>
            <a:custGeom>
              <a:avLst/>
              <a:gdLst>
                <a:gd name="txL" fmla="*/ 0 w 120"/>
                <a:gd name="txT" fmla="*/ 0 h 359"/>
                <a:gd name="txR" fmla="*/ 120 w 120"/>
                <a:gd name="txB" fmla="*/ 359 h 359"/>
              </a:gdLst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2" y="10"/>
                </a:cxn>
                <a:cxn ang="0">
                  <a:pos x="0" y="0"/>
                </a:cxn>
              </a:cxnLst>
              <a:rect l="txL" t="txT" r="txR" b="txB"/>
              <a:pathLst>
                <a:path w="120" h="359">
                  <a:moveTo>
                    <a:pt x="0" y="0"/>
                  </a:moveTo>
                  <a:lnTo>
                    <a:pt x="120" y="0"/>
                  </a:lnTo>
                  <a:lnTo>
                    <a:pt x="61" y="359"/>
                  </a:ln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95" name="Text Box 124"/>
            <p:cNvSpPr txBox="1"/>
            <p:nvPr/>
          </p:nvSpPr>
          <p:spPr>
            <a:xfrm rot="-5400000">
              <a:off x="732" y="2499"/>
              <a:ext cx="116" cy="157"/>
            </a:xfrm>
            <a:prstGeom prst="rect">
              <a:avLst/>
            </a:prstGeom>
            <a:noFill/>
            <a:ln w="76200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CC66FF"/>
                  </a:solidFill>
                  <a:latin typeface="Times New Roman" panose="02020603050405020304" pitchFamily="18" charset="0"/>
                </a:rPr>
                <a:t>h</a:t>
              </a:r>
              <a:endParaRPr lang="en-US" altLang="zh-CN" sz="1400" i="1" dirty="0">
                <a:solidFill>
                  <a:srgbClr val="CC66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996" name="Text Box 125"/>
            <p:cNvSpPr txBox="1"/>
            <p:nvPr/>
          </p:nvSpPr>
          <p:spPr>
            <a:xfrm>
              <a:off x="242" y="3133"/>
              <a:ext cx="309" cy="192"/>
            </a:xfrm>
            <a:prstGeom prst="rect">
              <a:avLst/>
            </a:prstGeom>
            <a:noFill/>
            <a:ln w="76200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CC66FF"/>
                  </a:solidFill>
                  <a:latin typeface="Times New Roman" panose="02020603050405020304" pitchFamily="18" charset="0"/>
                </a:rPr>
                <a:t>L</a:t>
              </a:r>
              <a:endParaRPr lang="en-US" altLang="zh-CN" sz="1400" i="1" dirty="0">
                <a:solidFill>
                  <a:srgbClr val="CC66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997" name="Text Box 126"/>
            <p:cNvSpPr txBox="1"/>
            <p:nvPr/>
          </p:nvSpPr>
          <p:spPr>
            <a:xfrm rot="-5400000">
              <a:off x="660" y="2972"/>
              <a:ext cx="261" cy="157"/>
            </a:xfrm>
            <a:prstGeom prst="rect">
              <a:avLst/>
            </a:prstGeom>
            <a:noFill/>
            <a:ln w="76200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CC66FF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1400" i="1" dirty="0">
                <a:solidFill>
                  <a:srgbClr val="CC66FF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" name="Group 127"/>
          <p:cNvGrpSpPr/>
          <p:nvPr/>
        </p:nvGrpSpPr>
        <p:grpSpPr>
          <a:xfrm>
            <a:off x="2297113" y="3660775"/>
            <a:ext cx="3294062" cy="2032000"/>
            <a:chOff x="1471" y="1877"/>
            <a:chExt cx="2075" cy="1280"/>
          </a:xfrm>
        </p:grpSpPr>
        <p:sp>
          <p:nvSpPr>
            <p:cNvPr id="76937" name="Freeform 128"/>
            <p:cNvSpPr/>
            <p:nvPr/>
          </p:nvSpPr>
          <p:spPr>
            <a:xfrm>
              <a:off x="3409" y="2386"/>
              <a:ext cx="12" cy="88"/>
            </a:xfrm>
            <a:custGeom>
              <a:avLst/>
              <a:gdLst>
                <a:gd name="txL" fmla="*/ 0 w 70"/>
                <a:gd name="txT" fmla="*/ 0 h 522"/>
                <a:gd name="txR" fmla="*/ 70 w 70"/>
                <a:gd name="txB" fmla="*/ 522 h 522"/>
              </a:gdLst>
              <a:ahLst/>
              <a:cxnLst>
                <a:cxn ang="0">
                  <a:pos x="0" y="0"/>
                </a:cxn>
                <a:cxn ang="0">
                  <a:pos x="2" y="15"/>
                </a:cxn>
                <a:cxn ang="0">
                  <a:pos x="2" y="15"/>
                </a:cxn>
              </a:cxnLst>
              <a:rect l="txL" t="txT" r="txR" b="txB"/>
              <a:pathLst>
                <a:path w="70" h="522">
                  <a:moveTo>
                    <a:pt x="0" y="0"/>
                  </a:moveTo>
                  <a:lnTo>
                    <a:pt x="69" y="522"/>
                  </a:lnTo>
                  <a:lnTo>
                    <a:pt x="70" y="522"/>
                  </a:lnTo>
                </a:path>
              </a:pathLst>
            </a:custGeom>
            <a:noFill/>
            <a:ln w="12700" cap="flat" cmpd="sng">
              <a:solidFill>
                <a:srgbClr val="CC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76938" name="Group 129"/>
            <p:cNvGrpSpPr/>
            <p:nvPr/>
          </p:nvGrpSpPr>
          <p:grpSpPr>
            <a:xfrm>
              <a:off x="1471" y="1877"/>
              <a:ext cx="2075" cy="1280"/>
              <a:chOff x="1471" y="1877"/>
              <a:chExt cx="2075" cy="1280"/>
            </a:xfrm>
          </p:grpSpPr>
          <p:grpSp>
            <p:nvGrpSpPr>
              <p:cNvPr id="76939" name="Group 130"/>
              <p:cNvGrpSpPr/>
              <p:nvPr/>
            </p:nvGrpSpPr>
            <p:grpSpPr>
              <a:xfrm>
                <a:off x="1471" y="1877"/>
                <a:ext cx="671" cy="388"/>
                <a:chOff x="1471" y="1877"/>
                <a:chExt cx="671" cy="388"/>
              </a:xfrm>
            </p:grpSpPr>
            <p:sp>
              <p:nvSpPr>
                <p:cNvPr id="76966" name="Freeform 131"/>
                <p:cNvSpPr/>
                <p:nvPr/>
              </p:nvSpPr>
              <p:spPr>
                <a:xfrm>
                  <a:off x="1471" y="2013"/>
                  <a:ext cx="1" cy="252"/>
                </a:xfrm>
                <a:custGeom>
                  <a:avLst/>
                  <a:gdLst>
                    <a:gd name="txL" fmla="*/ 0 w 1"/>
                    <a:gd name="txT" fmla="*/ 0 h 1488"/>
                    <a:gd name="txR" fmla="*/ 1 w 1"/>
                    <a:gd name="txB" fmla="*/ 1488 h 1488"/>
                  </a:gdLst>
                  <a:ahLst/>
                  <a:cxnLst>
                    <a:cxn ang="0">
                      <a:pos x="0" y="43"/>
                    </a:cxn>
                    <a:cxn ang="0">
                      <a:pos x="0" y="0"/>
                    </a:cxn>
                    <a:cxn ang="0">
                      <a:pos x="1" y="0"/>
                    </a:cxn>
                  </a:cxnLst>
                  <a:rect l="txL" t="txT" r="txR" b="txB"/>
                  <a:pathLst>
                    <a:path w="1" h="1488">
                      <a:moveTo>
                        <a:pt x="0" y="1488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CC66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67" name="Freeform 132"/>
                <p:cNvSpPr/>
                <p:nvPr/>
              </p:nvSpPr>
              <p:spPr>
                <a:xfrm>
                  <a:off x="2141" y="2013"/>
                  <a:ext cx="1" cy="252"/>
                </a:xfrm>
                <a:custGeom>
                  <a:avLst/>
                  <a:gdLst>
                    <a:gd name="txL" fmla="*/ 0 w 1"/>
                    <a:gd name="txT" fmla="*/ 0 h 1488"/>
                    <a:gd name="txR" fmla="*/ 1 w 1"/>
                    <a:gd name="txB" fmla="*/ 1488 h 1488"/>
                  </a:gdLst>
                  <a:ahLst/>
                  <a:cxnLst>
                    <a:cxn ang="0">
                      <a:pos x="0" y="43"/>
                    </a:cxn>
                    <a:cxn ang="0">
                      <a:pos x="0" y="0"/>
                    </a:cxn>
                    <a:cxn ang="0">
                      <a:pos x="1" y="0"/>
                    </a:cxn>
                  </a:cxnLst>
                  <a:rect l="txL" t="txT" r="txR" b="txB"/>
                  <a:pathLst>
                    <a:path w="1" h="1488">
                      <a:moveTo>
                        <a:pt x="0" y="1488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CC66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68" name="Freeform 133"/>
                <p:cNvSpPr/>
                <p:nvPr/>
              </p:nvSpPr>
              <p:spPr>
                <a:xfrm>
                  <a:off x="1532" y="2051"/>
                  <a:ext cx="548" cy="1"/>
                </a:xfrm>
                <a:custGeom>
                  <a:avLst/>
                  <a:gdLst>
                    <a:gd name="txL" fmla="*/ 0 w 3236"/>
                    <a:gd name="txT" fmla="*/ 0 h 1"/>
                    <a:gd name="txR" fmla="*/ 3236 w 3236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93" y="0"/>
                    </a:cxn>
                    <a:cxn ang="0">
                      <a:pos x="93" y="0"/>
                    </a:cxn>
                  </a:cxnLst>
                  <a:rect l="txL" t="txT" r="txR" b="txB"/>
                  <a:pathLst>
                    <a:path w="3236" h="1">
                      <a:moveTo>
                        <a:pt x="0" y="0"/>
                      </a:moveTo>
                      <a:lnTo>
                        <a:pt x="3235" y="0"/>
                      </a:lnTo>
                      <a:lnTo>
                        <a:pt x="3236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CC66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69" name="Freeform 134"/>
                <p:cNvSpPr/>
                <p:nvPr/>
              </p:nvSpPr>
              <p:spPr>
                <a:xfrm>
                  <a:off x="1471" y="2040"/>
                  <a:ext cx="61" cy="20"/>
                </a:xfrm>
                <a:custGeom>
                  <a:avLst/>
                  <a:gdLst>
                    <a:gd name="txL" fmla="*/ 0 w 359"/>
                    <a:gd name="txT" fmla="*/ 0 h 120"/>
                    <a:gd name="txR" fmla="*/ 359 w 359"/>
                    <a:gd name="txB" fmla="*/ 120 h 120"/>
                  </a:gdLst>
                  <a:ahLst/>
                  <a:cxnLst>
                    <a:cxn ang="0">
                      <a:pos x="10" y="0"/>
                    </a:cxn>
                    <a:cxn ang="0">
                      <a:pos x="10" y="3"/>
                    </a:cxn>
                    <a:cxn ang="0">
                      <a:pos x="0" y="2"/>
                    </a:cxn>
                    <a:cxn ang="0">
                      <a:pos x="10" y="0"/>
                    </a:cxn>
                  </a:cxnLst>
                  <a:rect l="txL" t="txT" r="txR" b="txB"/>
                  <a:pathLst>
                    <a:path w="359" h="120">
                      <a:moveTo>
                        <a:pt x="359" y="0"/>
                      </a:moveTo>
                      <a:lnTo>
                        <a:pt x="359" y="120"/>
                      </a:lnTo>
                      <a:lnTo>
                        <a:pt x="0" y="61"/>
                      </a:lnTo>
                      <a:lnTo>
                        <a:pt x="359" y="0"/>
                      </a:lnTo>
                      <a:close/>
                    </a:path>
                  </a:pathLst>
                </a:custGeom>
                <a:solidFill>
                  <a:srgbClr val="CC66FF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70" name="Freeform 135"/>
                <p:cNvSpPr/>
                <p:nvPr/>
              </p:nvSpPr>
              <p:spPr>
                <a:xfrm>
                  <a:off x="1471" y="2040"/>
                  <a:ext cx="61" cy="20"/>
                </a:xfrm>
                <a:custGeom>
                  <a:avLst/>
                  <a:gdLst>
                    <a:gd name="txL" fmla="*/ 0 w 359"/>
                    <a:gd name="txT" fmla="*/ 0 h 120"/>
                    <a:gd name="txR" fmla="*/ 359 w 359"/>
                    <a:gd name="txB" fmla="*/ 120 h 120"/>
                  </a:gdLst>
                  <a:ahLst/>
                  <a:cxnLst>
                    <a:cxn ang="0">
                      <a:pos x="10" y="0"/>
                    </a:cxn>
                    <a:cxn ang="0">
                      <a:pos x="10" y="3"/>
                    </a:cxn>
                    <a:cxn ang="0">
                      <a:pos x="0" y="2"/>
                    </a:cxn>
                    <a:cxn ang="0">
                      <a:pos x="10" y="0"/>
                    </a:cxn>
                  </a:cxnLst>
                  <a:rect l="txL" t="txT" r="txR" b="txB"/>
                  <a:pathLst>
                    <a:path w="359" h="120">
                      <a:moveTo>
                        <a:pt x="359" y="0"/>
                      </a:moveTo>
                      <a:lnTo>
                        <a:pt x="359" y="120"/>
                      </a:lnTo>
                      <a:lnTo>
                        <a:pt x="0" y="61"/>
                      </a:lnTo>
                      <a:lnTo>
                        <a:pt x="359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CC66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71" name="Freeform 136"/>
                <p:cNvSpPr/>
                <p:nvPr/>
              </p:nvSpPr>
              <p:spPr>
                <a:xfrm>
                  <a:off x="2080" y="2040"/>
                  <a:ext cx="61" cy="20"/>
                </a:xfrm>
                <a:custGeom>
                  <a:avLst/>
                  <a:gdLst>
                    <a:gd name="txL" fmla="*/ 0 w 360"/>
                    <a:gd name="txT" fmla="*/ 0 h 120"/>
                    <a:gd name="txR" fmla="*/ 360 w 360"/>
                    <a:gd name="txB" fmla="*/ 120 h 120"/>
                  </a:gdLst>
                  <a:ahLst/>
                  <a:cxnLst>
                    <a:cxn ang="0">
                      <a:pos x="0" y="0"/>
                    </a:cxn>
                    <a:cxn ang="0">
                      <a:pos x="0" y="3"/>
                    </a:cxn>
                    <a:cxn ang="0">
                      <a:pos x="10" y="2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360" h="120">
                      <a:moveTo>
                        <a:pt x="0" y="0"/>
                      </a:moveTo>
                      <a:lnTo>
                        <a:pt x="0" y="120"/>
                      </a:lnTo>
                      <a:lnTo>
                        <a:pt x="360" y="6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66FF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72" name="Freeform 137"/>
                <p:cNvSpPr/>
                <p:nvPr/>
              </p:nvSpPr>
              <p:spPr>
                <a:xfrm>
                  <a:off x="2080" y="2040"/>
                  <a:ext cx="61" cy="20"/>
                </a:xfrm>
                <a:custGeom>
                  <a:avLst/>
                  <a:gdLst>
                    <a:gd name="txL" fmla="*/ 0 w 360"/>
                    <a:gd name="txT" fmla="*/ 0 h 120"/>
                    <a:gd name="txR" fmla="*/ 360 w 360"/>
                    <a:gd name="txB" fmla="*/ 120 h 120"/>
                  </a:gdLst>
                  <a:ahLst/>
                  <a:cxnLst>
                    <a:cxn ang="0">
                      <a:pos x="0" y="0"/>
                    </a:cxn>
                    <a:cxn ang="0">
                      <a:pos x="0" y="3"/>
                    </a:cxn>
                    <a:cxn ang="0">
                      <a:pos x="10" y="2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360" h="120">
                      <a:moveTo>
                        <a:pt x="0" y="0"/>
                      </a:moveTo>
                      <a:lnTo>
                        <a:pt x="0" y="120"/>
                      </a:lnTo>
                      <a:lnTo>
                        <a:pt x="360" y="6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CC66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73" name="Text Box 138"/>
                <p:cNvSpPr txBox="1"/>
                <p:nvPr/>
              </p:nvSpPr>
              <p:spPr>
                <a:xfrm>
                  <a:off x="1643" y="1877"/>
                  <a:ext cx="351" cy="288"/>
                </a:xfrm>
                <a:prstGeom prst="rect">
                  <a:avLst/>
                </a:prstGeom>
                <a:noFill/>
                <a:ln w="76200">
                  <a:noFill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endParaRPr lang="zh-CN" altLang="en-US" sz="24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6940" name="Group 139"/>
              <p:cNvGrpSpPr/>
              <p:nvPr/>
            </p:nvGrpSpPr>
            <p:grpSpPr>
              <a:xfrm>
                <a:off x="2891" y="2235"/>
                <a:ext cx="309" cy="307"/>
                <a:chOff x="2891" y="2235"/>
                <a:chExt cx="309" cy="307"/>
              </a:xfrm>
            </p:grpSpPr>
            <p:sp>
              <p:nvSpPr>
                <p:cNvPr id="76958" name="Freeform 140"/>
                <p:cNvSpPr/>
                <p:nvPr/>
              </p:nvSpPr>
              <p:spPr>
                <a:xfrm>
                  <a:off x="2944" y="2357"/>
                  <a:ext cx="1" cy="185"/>
                </a:xfrm>
                <a:custGeom>
                  <a:avLst/>
                  <a:gdLst>
                    <a:gd name="txL" fmla="*/ 0 w 1"/>
                    <a:gd name="txT" fmla="*/ 0 h 1089"/>
                    <a:gd name="txR" fmla="*/ 1 w 1"/>
                    <a:gd name="txB" fmla="*/ 1089 h 1089"/>
                  </a:gdLst>
                  <a:ahLst/>
                  <a:cxnLst>
                    <a:cxn ang="0">
                      <a:pos x="0" y="31"/>
                    </a:cxn>
                    <a:cxn ang="0">
                      <a:pos x="0" y="0"/>
                    </a:cxn>
                    <a:cxn ang="0">
                      <a:pos x="1" y="0"/>
                    </a:cxn>
                  </a:cxnLst>
                  <a:rect l="txL" t="txT" r="txR" b="txB"/>
                  <a:pathLst>
                    <a:path w="1" h="1089">
                      <a:moveTo>
                        <a:pt x="0" y="1089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CC66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59" name="Freeform 141"/>
                <p:cNvSpPr/>
                <p:nvPr/>
              </p:nvSpPr>
              <p:spPr>
                <a:xfrm>
                  <a:off x="3125" y="2357"/>
                  <a:ext cx="2" cy="185"/>
                </a:xfrm>
                <a:custGeom>
                  <a:avLst/>
                  <a:gdLst>
                    <a:gd name="txL" fmla="*/ 0 w 1"/>
                    <a:gd name="txT" fmla="*/ 0 h 1089"/>
                    <a:gd name="txR" fmla="*/ 1 w 1"/>
                    <a:gd name="txB" fmla="*/ 1089 h 1089"/>
                  </a:gdLst>
                  <a:ahLst/>
                  <a:cxnLst>
                    <a:cxn ang="0">
                      <a:pos x="0" y="31"/>
                    </a:cxn>
                    <a:cxn ang="0">
                      <a:pos x="0" y="0"/>
                    </a:cxn>
                    <a:cxn ang="0">
                      <a:pos x="4" y="0"/>
                    </a:cxn>
                  </a:cxnLst>
                  <a:rect l="txL" t="txT" r="txR" b="txB"/>
                  <a:pathLst>
                    <a:path w="1" h="1089">
                      <a:moveTo>
                        <a:pt x="0" y="1089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CC66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60" name="Freeform 142"/>
                <p:cNvSpPr/>
                <p:nvPr/>
              </p:nvSpPr>
              <p:spPr>
                <a:xfrm>
                  <a:off x="3005" y="2395"/>
                  <a:ext cx="61" cy="2"/>
                </a:xfrm>
                <a:custGeom>
                  <a:avLst/>
                  <a:gdLst>
                    <a:gd name="txL" fmla="*/ 0 w 361"/>
                    <a:gd name="txT" fmla="*/ 0 h 2"/>
                    <a:gd name="txR" fmla="*/ 361 w 361"/>
                    <a:gd name="txB" fmla="*/ 2 h 2"/>
                  </a:gdLst>
                  <a:ahLst/>
                  <a:cxnLst>
                    <a:cxn ang="0">
                      <a:pos x="0" y="0"/>
                    </a:cxn>
                    <a:cxn ang="0">
                      <a:pos x="10" y="0"/>
                    </a:cxn>
                    <a:cxn ang="0">
                      <a:pos x="10" y="0"/>
                    </a:cxn>
                  </a:cxnLst>
                  <a:rect l="txL" t="txT" r="txR" b="txB"/>
                  <a:pathLst>
                    <a:path w="361" h="2">
                      <a:moveTo>
                        <a:pt x="0" y="0"/>
                      </a:moveTo>
                      <a:lnTo>
                        <a:pt x="360" y="0"/>
                      </a:lnTo>
                      <a:lnTo>
                        <a:pt x="361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CC66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61" name="Freeform 143"/>
                <p:cNvSpPr/>
                <p:nvPr/>
              </p:nvSpPr>
              <p:spPr>
                <a:xfrm>
                  <a:off x="2944" y="2384"/>
                  <a:ext cx="61" cy="21"/>
                </a:xfrm>
                <a:custGeom>
                  <a:avLst/>
                  <a:gdLst>
                    <a:gd name="txL" fmla="*/ 0 w 359"/>
                    <a:gd name="txT" fmla="*/ 0 h 120"/>
                    <a:gd name="txR" fmla="*/ 359 w 359"/>
                    <a:gd name="txB" fmla="*/ 120 h 120"/>
                  </a:gdLst>
                  <a:ahLst/>
                  <a:cxnLst>
                    <a:cxn ang="0">
                      <a:pos x="10" y="0"/>
                    </a:cxn>
                    <a:cxn ang="0">
                      <a:pos x="10" y="4"/>
                    </a:cxn>
                    <a:cxn ang="0">
                      <a:pos x="0" y="2"/>
                    </a:cxn>
                    <a:cxn ang="0">
                      <a:pos x="10" y="0"/>
                    </a:cxn>
                  </a:cxnLst>
                  <a:rect l="txL" t="txT" r="txR" b="txB"/>
                  <a:pathLst>
                    <a:path w="359" h="120">
                      <a:moveTo>
                        <a:pt x="359" y="0"/>
                      </a:moveTo>
                      <a:lnTo>
                        <a:pt x="359" y="120"/>
                      </a:lnTo>
                      <a:lnTo>
                        <a:pt x="0" y="61"/>
                      </a:lnTo>
                      <a:lnTo>
                        <a:pt x="359" y="0"/>
                      </a:lnTo>
                      <a:close/>
                    </a:path>
                  </a:pathLst>
                </a:custGeom>
                <a:solidFill>
                  <a:srgbClr val="CC66FF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62" name="Freeform 144"/>
                <p:cNvSpPr/>
                <p:nvPr/>
              </p:nvSpPr>
              <p:spPr>
                <a:xfrm>
                  <a:off x="2944" y="2384"/>
                  <a:ext cx="61" cy="21"/>
                </a:xfrm>
                <a:custGeom>
                  <a:avLst/>
                  <a:gdLst>
                    <a:gd name="txL" fmla="*/ 0 w 359"/>
                    <a:gd name="txT" fmla="*/ 0 h 120"/>
                    <a:gd name="txR" fmla="*/ 359 w 359"/>
                    <a:gd name="txB" fmla="*/ 120 h 120"/>
                  </a:gdLst>
                  <a:ahLst/>
                  <a:cxnLst>
                    <a:cxn ang="0">
                      <a:pos x="10" y="0"/>
                    </a:cxn>
                    <a:cxn ang="0">
                      <a:pos x="10" y="4"/>
                    </a:cxn>
                    <a:cxn ang="0">
                      <a:pos x="0" y="2"/>
                    </a:cxn>
                    <a:cxn ang="0">
                      <a:pos x="10" y="0"/>
                    </a:cxn>
                  </a:cxnLst>
                  <a:rect l="txL" t="txT" r="txR" b="txB"/>
                  <a:pathLst>
                    <a:path w="359" h="120">
                      <a:moveTo>
                        <a:pt x="359" y="0"/>
                      </a:moveTo>
                      <a:lnTo>
                        <a:pt x="359" y="120"/>
                      </a:lnTo>
                      <a:lnTo>
                        <a:pt x="0" y="61"/>
                      </a:lnTo>
                      <a:lnTo>
                        <a:pt x="359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CC66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63" name="Freeform 145"/>
                <p:cNvSpPr/>
                <p:nvPr/>
              </p:nvSpPr>
              <p:spPr>
                <a:xfrm>
                  <a:off x="3066" y="2384"/>
                  <a:ext cx="59" cy="21"/>
                </a:xfrm>
                <a:custGeom>
                  <a:avLst/>
                  <a:gdLst>
                    <a:gd name="txL" fmla="*/ 0 w 359"/>
                    <a:gd name="txT" fmla="*/ 0 h 120"/>
                    <a:gd name="txR" fmla="*/ 359 w 359"/>
                    <a:gd name="txB" fmla="*/ 120 h 120"/>
                  </a:gdLst>
                  <a:ahLst/>
                  <a:cxnLst>
                    <a:cxn ang="0">
                      <a:pos x="0" y="0"/>
                    </a:cxn>
                    <a:cxn ang="0">
                      <a:pos x="0" y="4"/>
                    </a:cxn>
                    <a:cxn ang="0">
                      <a:pos x="10" y="2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359" h="120">
                      <a:moveTo>
                        <a:pt x="0" y="0"/>
                      </a:moveTo>
                      <a:lnTo>
                        <a:pt x="0" y="120"/>
                      </a:lnTo>
                      <a:lnTo>
                        <a:pt x="359" y="6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66FF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64" name="Freeform 146"/>
                <p:cNvSpPr/>
                <p:nvPr/>
              </p:nvSpPr>
              <p:spPr>
                <a:xfrm>
                  <a:off x="3066" y="2384"/>
                  <a:ext cx="59" cy="21"/>
                </a:xfrm>
                <a:custGeom>
                  <a:avLst/>
                  <a:gdLst>
                    <a:gd name="txL" fmla="*/ 0 w 359"/>
                    <a:gd name="txT" fmla="*/ 0 h 120"/>
                    <a:gd name="txR" fmla="*/ 359 w 359"/>
                    <a:gd name="txB" fmla="*/ 120 h 120"/>
                  </a:gdLst>
                  <a:ahLst/>
                  <a:cxnLst>
                    <a:cxn ang="0">
                      <a:pos x="0" y="0"/>
                    </a:cxn>
                    <a:cxn ang="0">
                      <a:pos x="0" y="4"/>
                    </a:cxn>
                    <a:cxn ang="0">
                      <a:pos x="10" y="2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359" h="120">
                      <a:moveTo>
                        <a:pt x="0" y="0"/>
                      </a:moveTo>
                      <a:lnTo>
                        <a:pt x="0" y="120"/>
                      </a:lnTo>
                      <a:lnTo>
                        <a:pt x="359" y="6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CC66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65" name="Text Box 147"/>
                <p:cNvSpPr txBox="1"/>
                <p:nvPr/>
              </p:nvSpPr>
              <p:spPr>
                <a:xfrm>
                  <a:off x="2891" y="2235"/>
                  <a:ext cx="309" cy="192"/>
                </a:xfrm>
                <a:prstGeom prst="rect">
                  <a:avLst/>
                </a:prstGeom>
                <a:noFill/>
                <a:ln w="76200">
                  <a:noFill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1400" i="1" dirty="0">
                      <a:solidFill>
                        <a:srgbClr val="CC66FF"/>
                      </a:solidFill>
                      <a:latin typeface="宋体" panose="02010600030101010101" pitchFamily="2" charset="-122"/>
                    </a:rPr>
                    <a:t>b</a:t>
                  </a:r>
                  <a:endParaRPr lang="en-US" altLang="zh-CN" sz="1400" i="1" dirty="0">
                    <a:solidFill>
                      <a:srgbClr val="CC66FF"/>
                    </a:solidFill>
                    <a:latin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6941" name="Group 148"/>
              <p:cNvGrpSpPr/>
              <p:nvPr/>
            </p:nvGrpSpPr>
            <p:grpSpPr>
              <a:xfrm>
                <a:off x="2724" y="2371"/>
                <a:ext cx="822" cy="786"/>
                <a:chOff x="2724" y="2371"/>
                <a:chExt cx="822" cy="786"/>
              </a:xfrm>
            </p:grpSpPr>
            <p:sp>
              <p:nvSpPr>
                <p:cNvPr id="76942" name="Freeform 149"/>
                <p:cNvSpPr/>
                <p:nvPr/>
              </p:nvSpPr>
              <p:spPr>
                <a:xfrm>
                  <a:off x="3486" y="2653"/>
                  <a:ext cx="21" cy="61"/>
                </a:xfrm>
                <a:custGeom>
                  <a:avLst/>
                  <a:gdLst>
                    <a:gd name="txL" fmla="*/ 0 w 120"/>
                    <a:gd name="txT" fmla="*/ 0 h 360"/>
                    <a:gd name="txR" fmla="*/ 120 w 120"/>
                    <a:gd name="txB" fmla="*/ 360 h 360"/>
                  </a:gdLst>
                  <a:ahLst/>
                  <a:cxnLst>
                    <a:cxn ang="0">
                      <a:pos x="0" y="10"/>
                    </a:cxn>
                    <a:cxn ang="0">
                      <a:pos x="4" y="10"/>
                    </a:cxn>
                    <a:cxn ang="0">
                      <a:pos x="2" y="0"/>
                    </a:cxn>
                    <a:cxn ang="0">
                      <a:pos x="0" y="10"/>
                    </a:cxn>
                  </a:cxnLst>
                  <a:rect l="txL" t="txT" r="txR" b="txB"/>
                  <a:pathLst>
                    <a:path w="120" h="360">
                      <a:moveTo>
                        <a:pt x="0" y="360"/>
                      </a:moveTo>
                      <a:lnTo>
                        <a:pt x="120" y="360"/>
                      </a:lnTo>
                      <a:lnTo>
                        <a:pt x="60" y="0"/>
                      </a:lnTo>
                      <a:lnTo>
                        <a:pt x="0" y="360"/>
                      </a:lnTo>
                    </a:path>
                  </a:pathLst>
                </a:custGeom>
                <a:solidFill>
                  <a:srgbClr val="CC66FF"/>
                </a:solidFill>
                <a:ln w="12700" cap="flat" cmpd="sng">
                  <a:solidFill>
                    <a:srgbClr val="CC66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43" name="Freeform 150"/>
                <p:cNvSpPr/>
                <p:nvPr/>
              </p:nvSpPr>
              <p:spPr>
                <a:xfrm>
                  <a:off x="3054" y="2653"/>
                  <a:ext cx="481" cy="1"/>
                </a:xfrm>
                <a:custGeom>
                  <a:avLst/>
                  <a:gdLst>
                    <a:gd name="txL" fmla="*/ 0 w 2839"/>
                    <a:gd name="txT" fmla="*/ 0 h 1"/>
                    <a:gd name="txR" fmla="*/ 2839 w 2839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81" y="0"/>
                    </a:cxn>
                    <a:cxn ang="0">
                      <a:pos x="81" y="0"/>
                    </a:cxn>
                  </a:cxnLst>
                  <a:rect l="txL" t="txT" r="txR" b="txB"/>
                  <a:pathLst>
                    <a:path w="2839" h="1">
                      <a:moveTo>
                        <a:pt x="0" y="0"/>
                      </a:moveTo>
                      <a:lnTo>
                        <a:pt x="2838" y="0"/>
                      </a:lnTo>
                      <a:lnTo>
                        <a:pt x="2839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CC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44" name="Freeform 151"/>
                <p:cNvSpPr/>
                <p:nvPr/>
              </p:nvSpPr>
              <p:spPr>
                <a:xfrm>
                  <a:off x="3070" y="3156"/>
                  <a:ext cx="465" cy="1"/>
                </a:xfrm>
                <a:custGeom>
                  <a:avLst/>
                  <a:gdLst>
                    <a:gd name="txL" fmla="*/ 0 w 2744"/>
                    <a:gd name="txT" fmla="*/ 0 h 1"/>
                    <a:gd name="txR" fmla="*/ 2744 w 2744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79" y="0"/>
                    </a:cxn>
                    <a:cxn ang="0">
                      <a:pos x="79" y="0"/>
                    </a:cxn>
                  </a:cxnLst>
                  <a:rect l="txL" t="txT" r="txR" b="txB"/>
                  <a:pathLst>
                    <a:path w="2744" h="1">
                      <a:moveTo>
                        <a:pt x="0" y="0"/>
                      </a:moveTo>
                      <a:lnTo>
                        <a:pt x="2743" y="0"/>
                      </a:lnTo>
                      <a:lnTo>
                        <a:pt x="2744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CC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45" name="Freeform 152"/>
                <p:cNvSpPr/>
                <p:nvPr/>
              </p:nvSpPr>
              <p:spPr>
                <a:xfrm>
                  <a:off x="3497" y="2714"/>
                  <a:ext cx="1" cy="381"/>
                </a:xfrm>
                <a:custGeom>
                  <a:avLst/>
                  <a:gdLst>
                    <a:gd name="txL" fmla="*/ 0 w 1"/>
                    <a:gd name="txT" fmla="*/ 0 h 2246"/>
                    <a:gd name="txR" fmla="*/ 1 w 1"/>
                    <a:gd name="txB" fmla="*/ 2246 h 2246"/>
                  </a:gdLst>
                  <a:ahLst/>
                  <a:cxnLst>
                    <a:cxn ang="0">
                      <a:pos x="0" y="0"/>
                    </a:cxn>
                    <a:cxn ang="0">
                      <a:pos x="0" y="65"/>
                    </a:cxn>
                    <a:cxn ang="0">
                      <a:pos x="1" y="65"/>
                    </a:cxn>
                  </a:cxnLst>
                  <a:rect l="txL" t="txT" r="txR" b="txB"/>
                  <a:pathLst>
                    <a:path w="1" h="2246">
                      <a:moveTo>
                        <a:pt x="0" y="0"/>
                      </a:moveTo>
                      <a:lnTo>
                        <a:pt x="0" y="2246"/>
                      </a:lnTo>
                      <a:lnTo>
                        <a:pt x="1" y="2246"/>
                      </a:lnTo>
                    </a:path>
                  </a:pathLst>
                </a:custGeom>
                <a:noFill/>
                <a:ln w="12700" cap="flat" cmpd="sng">
                  <a:solidFill>
                    <a:srgbClr val="CC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46" name="Freeform 153"/>
                <p:cNvSpPr/>
                <p:nvPr/>
              </p:nvSpPr>
              <p:spPr>
                <a:xfrm>
                  <a:off x="3486" y="2653"/>
                  <a:ext cx="21" cy="61"/>
                </a:xfrm>
                <a:custGeom>
                  <a:avLst/>
                  <a:gdLst>
                    <a:gd name="txL" fmla="*/ 0 w 120"/>
                    <a:gd name="txT" fmla="*/ 0 h 360"/>
                    <a:gd name="txR" fmla="*/ 120 w 120"/>
                    <a:gd name="txB" fmla="*/ 360 h 360"/>
                  </a:gdLst>
                  <a:ahLst/>
                  <a:cxnLst>
                    <a:cxn ang="0">
                      <a:pos x="0" y="10"/>
                    </a:cxn>
                    <a:cxn ang="0">
                      <a:pos x="4" y="10"/>
                    </a:cxn>
                    <a:cxn ang="0">
                      <a:pos x="2" y="0"/>
                    </a:cxn>
                    <a:cxn ang="0">
                      <a:pos x="0" y="10"/>
                    </a:cxn>
                  </a:cxnLst>
                  <a:rect l="txL" t="txT" r="txR" b="txB"/>
                  <a:pathLst>
                    <a:path w="120" h="360">
                      <a:moveTo>
                        <a:pt x="0" y="360"/>
                      </a:moveTo>
                      <a:lnTo>
                        <a:pt x="120" y="360"/>
                      </a:lnTo>
                      <a:lnTo>
                        <a:pt x="60" y="0"/>
                      </a:lnTo>
                      <a:lnTo>
                        <a:pt x="0" y="360"/>
                      </a:lnTo>
                      <a:close/>
                    </a:path>
                  </a:pathLst>
                </a:custGeom>
                <a:solidFill>
                  <a:srgbClr val="CC66FF"/>
                </a:solidFill>
                <a:ln w="12700" cap="flat" cmpd="sng">
                  <a:solidFill>
                    <a:srgbClr val="CC66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47" name="Freeform 154"/>
                <p:cNvSpPr/>
                <p:nvPr/>
              </p:nvSpPr>
              <p:spPr>
                <a:xfrm>
                  <a:off x="3486" y="3095"/>
                  <a:ext cx="21" cy="61"/>
                </a:xfrm>
                <a:custGeom>
                  <a:avLst/>
                  <a:gdLst>
                    <a:gd name="txL" fmla="*/ 0 w 120"/>
                    <a:gd name="txT" fmla="*/ 0 h 360"/>
                    <a:gd name="txR" fmla="*/ 120 w 120"/>
                    <a:gd name="txB" fmla="*/ 360 h 360"/>
                  </a:gdLst>
                  <a:ahLst/>
                  <a:cxnLst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2" y="1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120" h="360">
                      <a:moveTo>
                        <a:pt x="0" y="0"/>
                      </a:moveTo>
                      <a:lnTo>
                        <a:pt x="120" y="0"/>
                      </a:lnTo>
                      <a:lnTo>
                        <a:pt x="60" y="36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00FF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48" name="Freeform 155"/>
                <p:cNvSpPr/>
                <p:nvPr/>
              </p:nvSpPr>
              <p:spPr>
                <a:xfrm>
                  <a:off x="3486" y="3095"/>
                  <a:ext cx="21" cy="61"/>
                </a:xfrm>
                <a:custGeom>
                  <a:avLst/>
                  <a:gdLst>
                    <a:gd name="txL" fmla="*/ 0 w 120"/>
                    <a:gd name="txT" fmla="*/ 0 h 360"/>
                    <a:gd name="txR" fmla="*/ 120 w 120"/>
                    <a:gd name="txB" fmla="*/ 360 h 360"/>
                  </a:gdLst>
                  <a:ahLst/>
                  <a:cxnLst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2" y="1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120" h="360">
                      <a:moveTo>
                        <a:pt x="0" y="0"/>
                      </a:moveTo>
                      <a:lnTo>
                        <a:pt x="120" y="0"/>
                      </a:lnTo>
                      <a:lnTo>
                        <a:pt x="60" y="36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CC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49" name="Freeform 156"/>
                <p:cNvSpPr/>
                <p:nvPr/>
              </p:nvSpPr>
              <p:spPr>
                <a:xfrm>
                  <a:off x="3302" y="2371"/>
                  <a:ext cx="244" cy="230"/>
                </a:xfrm>
                <a:custGeom>
                  <a:avLst/>
                  <a:gdLst>
                    <a:gd name="txL" fmla="*/ 0 w 1442"/>
                    <a:gd name="txT" fmla="*/ 0 h 1353"/>
                    <a:gd name="txR" fmla="*/ 1442 w 1442"/>
                    <a:gd name="txB" fmla="*/ 1353 h 1353"/>
                  </a:gdLst>
                  <a:ahLst/>
                  <a:cxnLst>
                    <a:cxn ang="0">
                      <a:pos x="41" y="0"/>
                    </a:cxn>
                    <a:cxn ang="0">
                      <a:pos x="0" y="39"/>
                    </a:cxn>
                    <a:cxn ang="0">
                      <a:pos x="0" y="39"/>
                    </a:cxn>
                  </a:cxnLst>
                  <a:rect l="txL" t="txT" r="txR" b="txB"/>
                  <a:pathLst>
                    <a:path w="1442" h="1353">
                      <a:moveTo>
                        <a:pt x="1442" y="0"/>
                      </a:moveTo>
                      <a:lnTo>
                        <a:pt x="0" y="1353"/>
                      </a:lnTo>
                      <a:lnTo>
                        <a:pt x="1" y="1353"/>
                      </a:lnTo>
                    </a:path>
                  </a:pathLst>
                </a:custGeom>
                <a:noFill/>
                <a:ln w="12700" cap="flat" cmpd="sng">
                  <a:solidFill>
                    <a:srgbClr val="CC66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50" name="Freeform 157"/>
                <p:cNvSpPr/>
                <p:nvPr/>
              </p:nvSpPr>
              <p:spPr>
                <a:xfrm>
                  <a:off x="2724" y="3102"/>
                  <a:ext cx="45" cy="42"/>
                </a:xfrm>
                <a:custGeom>
                  <a:avLst/>
                  <a:gdLst>
                    <a:gd name="txL" fmla="*/ 0 w 263"/>
                    <a:gd name="txT" fmla="*/ 0 h 247"/>
                    <a:gd name="txR" fmla="*/ 263 w 263"/>
                    <a:gd name="txB" fmla="*/ 247 h 247"/>
                  </a:gdLst>
                  <a:ahLst/>
                  <a:cxnLst>
                    <a:cxn ang="0">
                      <a:pos x="8" y="0"/>
                    </a:cxn>
                    <a:cxn ang="0">
                      <a:pos x="0" y="7"/>
                    </a:cxn>
                    <a:cxn ang="0">
                      <a:pos x="0" y="7"/>
                    </a:cxn>
                  </a:cxnLst>
                  <a:rect l="txL" t="txT" r="txR" b="txB"/>
                  <a:pathLst>
                    <a:path w="263" h="247">
                      <a:moveTo>
                        <a:pt x="263" y="0"/>
                      </a:moveTo>
                      <a:lnTo>
                        <a:pt x="0" y="247"/>
                      </a:lnTo>
                      <a:lnTo>
                        <a:pt x="1" y="247"/>
                      </a:lnTo>
                    </a:path>
                  </a:pathLst>
                </a:custGeom>
                <a:noFill/>
                <a:ln w="12700" cap="flat" cmpd="sng">
                  <a:solidFill>
                    <a:srgbClr val="CC66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51" name="Freeform 158"/>
                <p:cNvSpPr/>
                <p:nvPr/>
              </p:nvSpPr>
              <p:spPr>
                <a:xfrm>
                  <a:off x="3393" y="2401"/>
                  <a:ext cx="43" cy="57"/>
                </a:xfrm>
                <a:custGeom>
                  <a:avLst/>
                  <a:gdLst>
                    <a:gd name="txL" fmla="*/ 0 w 255"/>
                    <a:gd name="txT" fmla="*/ 0 h 337"/>
                    <a:gd name="txR" fmla="*/ 255 w 255"/>
                    <a:gd name="txB" fmla="*/ 337 h 337"/>
                  </a:gdLst>
                  <a:ahLst/>
                  <a:cxnLst>
                    <a:cxn ang="0">
                      <a:pos x="1" y="2"/>
                    </a:cxn>
                    <a:cxn ang="0">
                      <a:pos x="0" y="3"/>
                    </a:cxn>
                    <a:cxn ang="0">
                      <a:pos x="0" y="5"/>
                    </a:cxn>
                    <a:cxn ang="0">
                      <a:pos x="1" y="7"/>
                    </a:cxn>
                    <a:cxn ang="0">
                      <a:pos x="1" y="8"/>
                    </a:cxn>
                    <a:cxn ang="0">
                      <a:pos x="2" y="9"/>
                    </a:cxn>
                    <a:cxn ang="0">
                      <a:pos x="4" y="10"/>
                    </a:cxn>
                    <a:cxn ang="0">
                      <a:pos x="5" y="9"/>
                    </a:cxn>
                    <a:cxn ang="0">
                      <a:pos x="6" y="8"/>
                    </a:cxn>
                    <a:cxn ang="0">
                      <a:pos x="7" y="7"/>
                    </a:cxn>
                    <a:cxn ang="0">
                      <a:pos x="7" y="5"/>
                    </a:cxn>
                    <a:cxn ang="0">
                      <a:pos x="7" y="3"/>
                    </a:cxn>
                    <a:cxn ang="0">
                      <a:pos x="6" y="2"/>
                    </a:cxn>
                    <a:cxn ang="0">
                      <a:pos x="5" y="0"/>
                    </a:cxn>
                    <a:cxn ang="0">
                      <a:pos x="3" y="0"/>
                    </a:cxn>
                    <a:cxn ang="0">
                      <a:pos x="2" y="0"/>
                    </a:cxn>
                    <a:cxn ang="0">
                      <a:pos x="1" y="2"/>
                    </a:cxn>
                    <a:cxn ang="0">
                      <a:pos x="1" y="2"/>
                    </a:cxn>
                  </a:cxnLst>
                  <a:rect l="txL" t="txT" r="txR" b="txB"/>
                  <a:pathLst>
                    <a:path w="255" h="337">
                      <a:moveTo>
                        <a:pt x="30" y="55"/>
                      </a:moveTo>
                      <a:lnTo>
                        <a:pt x="9" y="103"/>
                      </a:lnTo>
                      <a:lnTo>
                        <a:pt x="0" y="172"/>
                      </a:lnTo>
                      <a:lnTo>
                        <a:pt x="16" y="245"/>
                      </a:lnTo>
                      <a:lnTo>
                        <a:pt x="37" y="284"/>
                      </a:lnTo>
                      <a:lnTo>
                        <a:pt x="84" y="328"/>
                      </a:lnTo>
                      <a:lnTo>
                        <a:pt x="136" y="337"/>
                      </a:lnTo>
                      <a:lnTo>
                        <a:pt x="177" y="328"/>
                      </a:lnTo>
                      <a:lnTo>
                        <a:pt x="223" y="284"/>
                      </a:lnTo>
                      <a:lnTo>
                        <a:pt x="244" y="235"/>
                      </a:lnTo>
                      <a:lnTo>
                        <a:pt x="255" y="166"/>
                      </a:lnTo>
                      <a:lnTo>
                        <a:pt x="239" y="93"/>
                      </a:lnTo>
                      <a:lnTo>
                        <a:pt x="218" y="55"/>
                      </a:lnTo>
                      <a:lnTo>
                        <a:pt x="171" y="11"/>
                      </a:lnTo>
                      <a:lnTo>
                        <a:pt x="119" y="0"/>
                      </a:lnTo>
                      <a:lnTo>
                        <a:pt x="77" y="11"/>
                      </a:lnTo>
                      <a:lnTo>
                        <a:pt x="30" y="55"/>
                      </a:lnTo>
                      <a:lnTo>
                        <a:pt x="31" y="55"/>
                      </a:lnTo>
                    </a:path>
                  </a:pathLst>
                </a:custGeom>
                <a:noFill/>
                <a:ln w="12700" cap="flat" cmpd="sng">
                  <a:solidFill>
                    <a:srgbClr val="CC66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52" name="Freeform 159"/>
                <p:cNvSpPr/>
                <p:nvPr/>
              </p:nvSpPr>
              <p:spPr>
                <a:xfrm>
                  <a:off x="2812" y="2642"/>
                  <a:ext cx="445" cy="418"/>
                </a:xfrm>
                <a:custGeom>
                  <a:avLst/>
                  <a:gdLst>
                    <a:gd name="txL" fmla="*/ 0 w 2621"/>
                    <a:gd name="txT" fmla="*/ 0 h 2462"/>
                    <a:gd name="txR" fmla="*/ 2621 w 2621"/>
                    <a:gd name="txB" fmla="*/ 2462 h 2462"/>
                  </a:gdLst>
                  <a:ahLst/>
                  <a:cxnLst>
                    <a:cxn ang="0">
                      <a:pos x="0" y="71"/>
                    </a:cxn>
                    <a:cxn ang="0">
                      <a:pos x="76" y="0"/>
                    </a:cxn>
                    <a:cxn ang="0">
                      <a:pos x="76" y="0"/>
                    </a:cxn>
                  </a:cxnLst>
                  <a:rect l="txL" t="txT" r="txR" b="txB"/>
                  <a:pathLst>
                    <a:path w="2621" h="2462">
                      <a:moveTo>
                        <a:pt x="0" y="2462"/>
                      </a:moveTo>
                      <a:lnTo>
                        <a:pt x="2620" y="0"/>
                      </a:lnTo>
                      <a:lnTo>
                        <a:pt x="2621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CC66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53" name="Freeform 160"/>
                <p:cNvSpPr/>
                <p:nvPr/>
              </p:nvSpPr>
              <p:spPr>
                <a:xfrm>
                  <a:off x="2761" y="3060"/>
                  <a:ext cx="51" cy="49"/>
                </a:xfrm>
                <a:custGeom>
                  <a:avLst/>
                  <a:gdLst>
                    <a:gd name="txL" fmla="*/ 0 w 304"/>
                    <a:gd name="txT" fmla="*/ 0 h 290"/>
                    <a:gd name="txR" fmla="*/ 304 w 304"/>
                    <a:gd name="txB" fmla="*/ 290 h 290"/>
                  </a:gdLst>
                  <a:ahLst/>
                  <a:cxnLst>
                    <a:cxn ang="0">
                      <a:pos x="0" y="6"/>
                    </a:cxn>
                    <a:cxn ang="0">
                      <a:pos x="2" y="8"/>
                    </a:cxn>
                    <a:cxn ang="0">
                      <a:pos x="9" y="0"/>
                    </a:cxn>
                    <a:cxn ang="0">
                      <a:pos x="0" y="6"/>
                    </a:cxn>
                  </a:cxnLst>
                  <a:rect l="txL" t="txT" r="txR" b="txB"/>
                  <a:pathLst>
                    <a:path w="304" h="290">
                      <a:moveTo>
                        <a:pt x="0" y="202"/>
                      </a:moveTo>
                      <a:lnTo>
                        <a:pt x="82" y="290"/>
                      </a:lnTo>
                      <a:lnTo>
                        <a:pt x="304" y="0"/>
                      </a:lnTo>
                      <a:lnTo>
                        <a:pt x="0" y="202"/>
                      </a:lnTo>
                      <a:close/>
                    </a:path>
                  </a:pathLst>
                </a:custGeom>
                <a:solidFill>
                  <a:srgbClr val="CC66FF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54" name="Freeform 161"/>
                <p:cNvSpPr/>
                <p:nvPr/>
              </p:nvSpPr>
              <p:spPr>
                <a:xfrm>
                  <a:off x="2761" y="3060"/>
                  <a:ext cx="51" cy="49"/>
                </a:xfrm>
                <a:custGeom>
                  <a:avLst/>
                  <a:gdLst>
                    <a:gd name="txL" fmla="*/ 0 w 304"/>
                    <a:gd name="txT" fmla="*/ 0 h 290"/>
                    <a:gd name="txR" fmla="*/ 304 w 304"/>
                    <a:gd name="txB" fmla="*/ 290 h 290"/>
                  </a:gdLst>
                  <a:ahLst/>
                  <a:cxnLst>
                    <a:cxn ang="0">
                      <a:pos x="0" y="6"/>
                    </a:cxn>
                    <a:cxn ang="0">
                      <a:pos x="2" y="8"/>
                    </a:cxn>
                    <a:cxn ang="0">
                      <a:pos x="9" y="0"/>
                    </a:cxn>
                    <a:cxn ang="0">
                      <a:pos x="0" y="6"/>
                    </a:cxn>
                  </a:cxnLst>
                  <a:rect l="txL" t="txT" r="txR" b="txB"/>
                  <a:pathLst>
                    <a:path w="304" h="290">
                      <a:moveTo>
                        <a:pt x="0" y="202"/>
                      </a:moveTo>
                      <a:lnTo>
                        <a:pt x="82" y="290"/>
                      </a:lnTo>
                      <a:lnTo>
                        <a:pt x="304" y="0"/>
                      </a:lnTo>
                      <a:lnTo>
                        <a:pt x="0" y="202"/>
                      </a:lnTo>
                    </a:path>
                  </a:pathLst>
                </a:custGeom>
                <a:noFill/>
                <a:ln w="12700" cap="flat" cmpd="sng">
                  <a:solidFill>
                    <a:srgbClr val="CC66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55" name="Freeform 162"/>
                <p:cNvSpPr/>
                <p:nvPr/>
              </p:nvSpPr>
              <p:spPr>
                <a:xfrm>
                  <a:off x="3257" y="2593"/>
                  <a:ext cx="52" cy="49"/>
                </a:xfrm>
                <a:custGeom>
                  <a:avLst/>
                  <a:gdLst>
                    <a:gd name="txL" fmla="*/ 0 w 304"/>
                    <a:gd name="txT" fmla="*/ 0 h 289"/>
                    <a:gd name="txR" fmla="*/ 304 w 304"/>
                    <a:gd name="txB" fmla="*/ 289 h 289"/>
                  </a:gdLst>
                  <a:ahLst/>
                  <a:cxnLst>
                    <a:cxn ang="0">
                      <a:pos x="7" y="0"/>
                    </a:cxn>
                    <a:cxn ang="0">
                      <a:pos x="9" y="3"/>
                    </a:cxn>
                    <a:cxn ang="0">
                      <a:pos x="0" y="8"/>
                    </a:cxn>
                    <a:cxn ang="0">
                      <a:pos x="7" y="0"/>
                    </a:cxn>
                  </a:cxnLst>
                  <a:rect l="txL" t="txT" r="txR" b="txB"/>
                  <a:pathLst>
                    <a:path w="304" h="289">
                      <a:moveTo>
                        <a:pt x="222" y="0"/>
                      </a:moveTo>
                      <a:lnTo>
                        <a:pt x="304" y="87"/>
                      </a:lnTo>
                      <a:lnTo>
                        <a:pt x="0" y="289"/>
                      </a:lnTo>
                      <a:lnTo>
                        <a:pt x="222" y="0"/>
                      </a:lnTo>
                      <a:close/>
                    </a:path>
                  </a:pathLst>
                </a:custGeom>
                <a:solidFill>
                  <a:srgbClr val="CC66FF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56" name="Freeform 163"/>
                <p:cNvSpPr/>
                <p:nvPr/>
              </p:nvSpPr>
              <p:spPr>
                <a:xfrm>
                  <a:off x="3257" y="2593"/>
                  <a:ext cx="52" cy="49"/>
                </a:xfrm>
                <a:custGeom>
                  <a:avLst/>
                  <a:gdLst>
                    <a:gd name="txL" fmla="*/ 0 w 304"/>
                    <a:gd name="txT" fmla="*/ 0 h 289"/>
                    <a:gd name="txR" fmla="*/ 304 w 304"/>
                    <a:gd name="txB" fmla="*/ 289 h 289"/>
                  </a:gdLst>
                  <a:ahLst/>
                  <a:cxnLst>
                    <a:cxn ang="0">
                      <a:pos x="7" y="0"/>
                    </a:cxn>
                    <a:cxn ang="0">
                      <a:pos x="9" y="3"/>
                    </a:cxn>
                    <a:cxn ang="0">
                      <a:pos x="0" y="8"/>
                    </a:cxn>
                    <a:cxn ang="0">
                      <a:pos x="7" y="0"/>
                    </a:cxn>
                  </a:cxnLst>
                  <a:rect l="txL" t="txT" r="txR" b="txB"/>
                  <a:pathLst>
                    <a:path w="304" h="289">
                      <a:moveTo>
                        <a:pt x="222" y="0"/>
                      </a:moveTo>
                      <a:lnTo>
                        <a:pt x="304" y="87"/>
                      </a:lnTo>
                      <a:lnTo>
                        <a:pt x="0" y="289"/>
                      </a:lnTo>
                      <a:lnTo>
                        <a:pt x="222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CC66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957" name="Text Box 164"/>
                <p:cNvSpPr txBox="1"/>
                <p:nvPr/>
              </p:nvSpPr>
              <p:spPr>
                <a:xfrm rot="-5400000">
                  <a:off x="3205" y="2817"/>
                  <a:ext cx="461" cy="192"/>
                </a:xfrm>
                <a:prstGeom prst="rect">
                  <a:avLst/>
                </a:prstGeom>
                <a:noFill/>
                <a:ln w="76200">
                  <a:noFill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1400" i="1" dirty="0">
                      <a:solidFill>
                        <a:srgbClr val="CC66FF"/>
                      </a:solidFill>
                      <a:latin typeface="Times New Roman" panose="02020603050405020304" pitchFamily="18" charset="0"/>
                    </a:rPr>
                    <a:t>d-t</a:t>
                  </a:r>
                  <a:endParaRPr lang="en-US" altLang="zh-CN" sz="1400" i="1" dirty="0">
                    <a:solidFill>
                      <a:srgbClr val="CC66FF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</p:grpSp>
      </p:grpSp>
      <p:sp>
        <p:nvSpPr>
          <p:cNvPr id="166053" name="Text Box 165"/>
          <p:cNvSpPr txBox="1"/>
          <p:nvPr/>
        </p:nvSpPr>
        <p:spPr>
          <a:xfrm>
            <a:off x="4271963" y="806450"/>
            <a:ext cx="5076825" cy="4572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sym typeface="Monotype Sorts" pitchFamily="2" charset="2"/>
              </a:rPr>
              <a:t>                                          注意：</a:t>
            </a:r>
            <a:endParaRPr lang="zh-CN" altLang="en-US" sz="1200" b="1" dirty="0">
              <a:solidFill>
                <a:srgbClr val="FF0000"/>
              </a:solidFill>
              <a:latin typeface="Times New Roman" panose="02020603050405020304" pitchFamily="18" charset="0"/>
              <a:sym typeface="Monotype Sorts" pitchFamily="2" charset="2"/>
            </a:endParaRPr>
          </a:p>
          <a:p>
            <a:r>
              <a:rPr lang="en-US" altLang="zh-CN" sz="1200" b="1" i="1" dirty="0">
                <a:solidFill>
                  <a:srgbClr val="FF0000"/>
                </a:solidFill>
                <a:latin typeface="Times New Roman" panose="02020603050405020304" pitchFamily="18" charset="0"/>
                <a:sym typeface="Monotype Sorts" pitchFamily="2" charset="2"/>
              </a:rPr>
              <a:t>a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sym typeface="Monotype Sorts" pitchFamily="2" charset="2"/>
              </a:rPr>
              <a:t>.  </a:t>
            </a:r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sym typeface="Monotype Sorts" pitchFamily="2" charset="2"/>
              </a:rPr>
              <a:t>剖切平面通过轴线剖切，按不剖处理。为表达轴上键槽，采用局剖。</a:t>
            </a:r>
            <a:endParaRPr lang="zh-CN" altLang="en-US" sz="1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6054" name="Text Box 166"/>
          <p:cNvSpPr txBox="1"/>
          <p:nvPr/>
        </p:nvSpPr>
        <p:spPr>
          <a:xfrm>
            <a:off x="4251325" y="1270000"/>
            <a:ext cx="4427538" cy="274638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1200" b="1" i="1" dirty="0">
                <a:solidFill>
                  <a:srgbClr val="FF0000"/>
                </a:solidFill>
                <a:latin typeface="Times New Roman" panose="02020603050405020304" pitchFamily="18" charset="0"/>
                <a:sym typeface="Monotype Sorts" pitchFamily="2" charset="2"/>
              </a:rPr>
              <a:t>b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sym typeface="Monotype Sorts" pitchFamily="2" charset="2"/>
              </a:rPr>
              <a:t>.  </a:t>
            </a:r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sym typeface="Monotype Sorts" pitchFamily="2" charset="2"/>
              </a:rPr>
              <a:t>剖切平面通过键的纵向对称平面时，按不剖处理。</a:t>
            </a:r>
            <a:endParaRPr lang="zh-CN" altLang="en-US" sz="1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6055" name="Text Box 167"/>
          <p:cNvSpPr txBox="1"/>
          <p:nvPr/>
        </p:nvSpPr>
        <p:spPr>
          <a:xfrm>
            <a:off x="4279900" y="1500188"/>
            <a:ext cx="4572000" cy="274637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1200" b="1" i="1" dirty="0">
                <a:solidFill>
                  <a:srgbClr val="FF0000"/>
                </a:solidFill>
                <a:latin typeface="Times New Roman" panose="02020603050405020304" pitchFamily="18" charset="0"/>
                <a:sym typeface="Monotype Sorts" pitchFamily="2" charset="2"/>
              </a:rPr>
              <a:t>c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sym typeface="Monotype Sorts" pitchFamily="2" charset="2"/>
              </a:rPr>
              <a:t>.  </a:t>
            </a:r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sym typeface="Monotype Sorts" pitchFamily="2" charset="2"/>
              </a:rPr>
              <a:t>键的下底面和左右端面均与轴上键槽接触，接触面画一条线。</a:t>
            </a:r>
            <a:endParaRPr lang="zh-CN" altLang="en-US" sz="1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6056" name="Line 168"/>
          <p:cNvSpPr/>
          <p:nvPr/>
        </p:nvSpPr>
        <p:spPr>
          <a:xfrm>
            <a:off x="1052513" y="2257425"/>
            <a:ext cx="1081087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8" name="Group 169"/>
          <p:cNvGrpSpPr/>
          <p:nvPr/>
        </p:nvGrpSpPr>
        <p:grpSpPr>
          <a:xfrm>
            <a:off x="1071563" y="2089150"/>
            <a:ext cx="1062037" cy="163513"/>
            <a:chOff x="675" y="896"/>
            <a:chExt cx="669" cy="142"/>
          </a:xfrm>
        </p:grpSpPr>
        <p:sp>
          <p:nvSpPr>
            <p:cNvPr id="76935" name="Line 170"/>
            <p:cNvSpPr/>
            <p:nvPr/>
          </p:nvSpPr>
          <p:spPr>
            <a:xfrm>
              <a:off x="675" y="896"/>
              <a:ext cx="0" cy="13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936" name="Line 171"/>
            <p:cNvSpPr/>
            <p:nvPr/>
          </p:nvSpPr>
          <p:spPr>
            <a:xfrm>
              <a:off x="1344" y="902"/>
              <a:ext cx="0" cy="13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66060" name="Text Box 172"/>
          <p:cNvSpPr txBox="1"/>
          <p:nvPr/>
        </p:nvSpPr>
        <p:spPr>
          <a:xfrm>
            <a:off x="4614863" y="1757363"/>
            <a:ext cx="4500562" cy="4572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1200" b="1" i="1" dirty="0">
                <a:solidFill>
                  <a:srgbClr val="FF0000"/>
                </a:solidFill>
                <a:latin typeface="Times New Roman" panose="02020603050405020304" pitchFamily="18" charset="0"/>
                <a:sym typeface="Monotype Sorts" pitchFamily="2" charset="2"/>
              </a:rPr>
              <a:t>d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sym typeface="Monotype Sorts" pitchFamily="2" charset="2"/>
              </a:rPr>
              <a:t>.  </a:t>
            </a:r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sym typeface="Monotype Sorts" pitchFamily="2" charset="2"/>
              </a:rPr>
              <a:t>轮毂上孔的直径和轴的直径一样大，所以轴和轮毂的接触部分画一条线。键的上底面和轮毂上键槽上底面不接触，画两条线。</a:t>
            </a:r>
            <a:endParaRPr lang="zh-CN" altLang="en-US" sz="1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6061" name="Line 173"/>
          <p:cNvSpPr/>
          <p:nvPr/>
        </p:nvSpPr>
        <p:spPr>
          <a:xfrm>
            <a:off x="1125538" y="3068638"/>
            <a:ext cx="935037" cy="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6062" name="Line 174"/>
          <p:cNvSpPr/>
          <p:nvPr/>
        </p:nvSpPr>
        <p:spPr>
          <a:xfrm flipH="1">
            <a:off x="2484438" y="5700713"/>
            <a:ext cx="3600450" cy="0"/>
          </a:xfrm>
          <a:prstGeom prst="line">
            <a:avLst/>
          </a:prstGeom>
          <a:ln w="1905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6063" name="Line 175"/>
          <p:cNvSpPr/>
          <p:nvPr/>
        </p:nvSpPr>
        <p:spPr>
          <a:xfrm flipH="1" flipV="1">
            <a:off x="179388" y="4586288"/>
            <a:ext cx="6048375" cy="0"/>
          </a:xfrm>
          <a:prstGeom prst="line">
            <a:avLst/>
          </a:prstGeom>
          <a:ln w="1905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6064" name="Line 176"/>
          <p:cNvSpPr/>
          <p:nvPr/>
        </p:nvSpPr>
        <p:spPr>
          <a:xfrm>
            <a:off x="1154113" y="2162175"/>
            <a:ext cx="8636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9" name="Group 177"/>
          <p:cNvGrpSpPr/>
          <p:nvPr/>
        </p:nvGrpSpPr>
        <p:grpSpPr>
          <a:xfrm>
            <a:off x="1116013" y="2324100"/>
            <a:ext cx="960437" cy="720725"/>
            <a:chOff x="703" y="1083"/>
            <a:chExt cx="605" cy="454"/>
          </a:xfrm>
        </p:grpSpPr>
        <p:sp>
          <p:nvSpPr>
            <p:cNvPr id="76933" name="Line 178"/>
            <p:cNvSpPr/>
            <p:nvPr/>
          </p:nvSpPr>
          <p:spPr>
            <a:xfrm>
              <a:off x="1308" y="1083"/>
              <a:ext cx="0" cy="45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934" name="Line 179"/>
            <p:cNvSpPr/>
            <p:nvPr/>
          </p:nvSpPr>
          <p:spPr>
            <a:xfrm>
              <a:off x="703" y="1083"/>
              <a:ext cx="0" cy="45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66068" name="Line 180"/>
          <p:cNvSpPr/>
          <p:nvPr/>
        </p:nvSpPr>
        <p:spPr>
          <a:xfrm>
            <a:off x="2051050" y="2252663"/>
            <a:ext cx="2016125" cy="0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0" name="Group 181"/>
          <p:cNvGrpSpPr/>
          <p:nvPr/>
        </p:nvGrpSpPr>
        <p:grpSpPr>
          <a:xfrm>
            <a:off x="3389313" y="1874838"/>
            <a:ext cx="1270000" cy="1304925"/>
            <a:chOff x="2135" y="800"/>
            <a:chExt cx="800" cy="822"/>
          </a:xfrm>
        </p:grpSpPr>
        <p:sp>
          <p:nvSpPr>
            <p:cNvPr id="76903" name="Freeform 182"/>
            <p:cNvSpPr/>
            <p:nvPr/>
          </p:nvSpPr>
          <p:spPr>
            <a:xfrm>
              <a:off x="2135" y="1248"/>
              <a:ext cx="187" cy="1"/>
            </a:xfrm>
            <a:custGeom>
              <a:avLst/>
              <a:gdLst>
                <a:gd name="txL" fmla="*/ 0 w 1107"/>
                <a:gd name="txT" fmla="*/ 0 h 1"/>
                <a:gd name="txR" fmla="*/ 1107 w 110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" y="0"/>
                </a:cxn>
                <a:cxn ang="0">
                  <a:pos x="32" y="0"/>
                </a:cxn>
              </a:cxnLst>
              <a:rect l="txL" t="txT" r="txR" b="txB"/>
              <a:pathLst>
                <a:path w="1107" h="1">
                  <a:moveTo>
                    <a:pt x="0" y="0"/>
                  </a:moveTo>
                  <a:lnTo>
                    <a:pt x="1106" y="0"/>
                  </a:lnTo>
                  <a:lnTo>
                    <a:pt x="1107" y="0"/>
                  </a:lnTo>
                </a:path>
              </a:pathLst>
            </a:custGeom>
            <a:noFill/>
            <a:ln w="1270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04" name="Freeform 183"/>
            <p:cNvSpPr/>
            <p:nvPr/>
          </p:nvSpPr>
          <p:spPr>
            <a:xfrm>
              <a:off x="2361" y="1248"/>
              <a:ext cx="38" cy="1"/>
            </a:xfrm>
            <a:custGeom>
              <a:avLst/>
              <a:gdLst>
                <a:gd name="txL" fmla="*/ 0 w 228"/>
                <a:gd name="txT" fmla="*/ 0 h 1"/>
                <a:gd name="txR" fmla="*/ 228 w 22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6" y="0"/>
                </a:cxn>
              </a:cxnLst>
              <a:rect l="txL" t="txT" r="txR" b="txB"/>
              <a:pathLst>
                <a:path w="228" h="1">
                  <a:moveTo>
                    <a:pt x="0" y="0"/>
                  </a:moveTo>
                  <a:lnTo>
                    <a:pt x="227" y="0"/>
                  </a:lnTo>
                  <a:lnTo>
                    <a:pt x="228" y="0"/>
                  </a:lnTo>
                </a:path>
              </a:pathLst>
            </a:custGeom>
            <a:noFill/>
            <a:ln w="1270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05" name="Freeform 184"/>
            <p:cNvSpPr/>
            <p:nvPr/>
          </p:nvSpPr>
          <p:spPr>
            <a:xfrm>
              <a:off x="2439" y="1248"/>
              <a:ext cx="192" cy="1"/>
            </a:xfrm>
            <a:custGeom>
              <a:avLst/>
              <a:gdLst>
                <a:gd name="txL" fmla="*/ 0 w 1142"/>
                <a:gd name="txT" fmla="*/ 0 h 1"/>
                <a:gd name="txR" fmla="*/ 1142 w 114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" y="0"/>
                </a:cxn>
                <a:cxn ang="0">
                  <a:pos x="32" y="0"/>
                </a:cxn>
              </a:cxnLst>
              <a:rect l="txL" t="txT" r="txR" b="txB"/>
              <a:pathLst>
                <a:path w="1142" h="1">
                  <a:moveTo>
                    <a:pt x="0" y="0"/>
                  </a:moveTo>
                  <a:lnTo>
                    <a:pt x="1141" y="0"/>
                  </a:lnTo>
                  <a:lnTo>
                    <a:pt x="1142" y="0"/>
                  </a:lnTo>
                </a:path>
              </a:pathLst>
            </a:custGeom>
            <a:noFill/>
            <a:ln w="1270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06" name="Freeform 185"/>
            <p:cNvSpPr/>
            <p:nvPr/>
          </p:nvSpPr>
          <p:spPr>
            <a:xfrm>
              <a:off x="2671" y="1248"/>
              <a:ext cx="38" cy="1"/>
            </a:xfrm>
            <a:custGeom>
              <a:avLst/>
              <a:gdLst>
                <a:gd name="txL" fmla="*/ 0 w 230"/>
                <a:gd name="txT" fmla="*/ 0 h 1"/>
                <a:gd name="txR" fmla="*/ 230 w 230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6" y="0"/>
                </a:cxn>
              </a:cxnLst>
              <a:rect l="txL" t="txT" r="txR" b="txB"/>
              <a:pathLst>
                <a:path w="230" h="1">
                  <a:moveTo>
                    <a:pt x="0" y="0"/>
                  </a:moveTo>
                  <a:lnTo>
                    <a:pt x="229" y="0"/>
                  </a:lnTo>
                  <a:lnTo>
                    <a:pt x="230" y="0"/>
                  </a:lnTo>
                </a:path>
              </a:pathLst>
            </a:custGeom>
            <a:noFill/>
            <a:ln w="1270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07" name="Freeform 186"/>
            <p:cNvSpPr/>
            <p:nvPr/>
          </p:nvSpPr>
          <p:spPr>
            <a:xfrm>
              <a:off x="2748" y="1248"/>
              <a:ext cx="187" cy="1"/>
            </a:xfrm>
            <a:custGeom>
              <a:avLst/>
              <a:gdLst>
                <a:gd name="txL" fmla="*/ 0 w 1108"/>
                <a:gd name="txT" fmla="*/ 0 h 1"/>
                <a:gd name="txR" fmla="*/ 1108 w 110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" y="0"/>
                </a:cxn>
                <a:cxn ang="0">
                  <a:pos x="32" y="0"/>
                </a:cxn>
              </a:cxnLst>
              <a:rect l="txL" t="txT" r="txR" b="txB"/>
              <a:pathLst>
                <a:path w="1108" h="1">
                  <a:moveTo>
                    <a:pt x="0" y="0"/>
                  </a:moveTo>
                  <a:lnTo>
                    <a:pt x="1107" y="0"/>
                  </a:lnTo>
                  <a:lnTo>
                    <a:pt x="1108" y="0"/>
                  </a:lnTo>
                </a:path>
              </a:pathLst>
            </a:custGeom>
            <a:noFill/>
            <a:ln w="1270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08" name="Freeform 187"/>
            <p:cNvSpPr/>
            <p:nvPr/>
          </p:nvSpPr>
          <p:spPr>
            <a:xfrm>
              <a:off x="2538" y="1424"/>
              <a:ext cx="1" cy="198"/>
            </a:xfrm>
            <a:custGeom>
              <a:avLst/>
              <a:gdLst>
                <a:gd name="txL" fmla="*/ 0 w 2"/>
                <a:gd name="txT" fmla="*/ 0 h 1167"/>
                <a:gd name="txR" fmla="*/ 2 w 2"/>
                <a:gd name="txB" fmla="*/ 1167 h 1167"/>
              </a:gdLst>
              <a:ahLst/>
              <a:cxnLst>
                <a:cxn ang="0">
                  <a:pos x="0" y="34"/>
                </a:cxn>
                <a:cxn ang="0">
                  <a:pos x="0" y="0"/>
                </a:cxn>
                <a:cxn ang="0">
                  <a:pos x="1" y="0"/>
                </a:cxn>
              </a:cxnLst>
              <a:rect l="txL" t="txT" r="txR" b="txB"/>
              <a:pathLst>
                <a:path w="2" h="1167">
                  <a:moveTo>
                    <a:pt x="0" y="1167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09" name="Freeform 188"/>
            <p:cNvSpPr/>
            <p:nvPr/>
          </p:nvSpPr>
          <p:spPr>
            <a:xfrm>
              <a:off x="2538" y="1345"/>
              <a:ext cx="1" cy="40"/>
            </a:xfrm>
            <a:custGeom>
              <a:avLst/>
              <a:gdLst>
                <a:gd name="txL" fmla="*/ 0 w 2"/>
                <a:gd name="txT" fmla="*/ 0 h 229"/>
                <a:gd name="txR" fmla="*/ 2 w 2"/>
                <a:gd name="txB" fmla="*/ 229 h 229"/>
              </a:gdLst>
              <a:ahLst/>
              <a:cxnLst>
                <a:cxn ang="0">
                  <a:pos x="0" y="7"/>
                </a:cxn>
                <a:cxn ang="0">
                  <a:pos x="0" y="0"/>
                </a:cxn>
                <a:cxn ang="0">
                  <a:pos x="1" y="0"/>
                </a:cxn>
              </a:cxnLst>
              <a:rect l="txL" t="txT" r="txR" b="txB"/>
              <a:pathLst>
                <a:path w="2" h="229">
                  <a:moveTo>
                    <a:pt x="0" y="229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10" name="Freeform 189"/>
            <p:cNvSpPr/>
            <p:nvPr/>
          </p:nvSpPr>
          <p:spPr>
            <a:xfrm>
              <a:off x="2538" y="1114"/>
              <a:ext cx="1" cy="193"/>
            </a:xfrm>
            <a:custGeom>
              <a:avLst/>
              <a:gdLst>
                <a:gd name="txL" fmla="*/ 0 w 2"/>
                <a:gd name="txT" fmla="*/ 0 h 1142"/>
                <a:gd name="txR" fmla="*/ 2 w 2"/>
                <a:gd name="txB" fmla="*/ 1142 h 1142"/>
              </a:gdLst>
              <a:ahLst/>
              <a:cxnLst>
                <a:cxn ang="0">
                  <a:pos x="0" y="33"/>
                </a:cxn>
                <a:cxn ang="0">
                  <a:pos x="0" y="0"/>
                </a:cxn>
                <a:cxn ang="0">
                  <a:pos x="1" y="0"/>
                </a:cxn>
              </a:cxnLst>
              <a:rect l="txL" t="txT" r="txR" b="txB"/>
              <a:pathLst>
                <a:path w="2" h="1142">
                  <a:moveTo>
                    <a:pt x="0" y="1142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11" name="Freeform 190"/>
            <p:cNvSpPr/>
            <p:nvPr/>
          </p:nvSpPr>
          <p:spPr>
            <a:xfrm>
              <a:off x="2538" y="800"/>
              <a:ext cx="1" cy="197"/>
            </a:xfrm>
            <a:custGeom>
              <a:avLst/>
              <a:gdLst>
                <a:gd name="txL" fmla="*/ 0 w 2"/>
                <a:gd name="txT" fmla="*/ 0 h 1168"/>
                <a:gd name="txR" fmla="*/ 2 w 2"/>
                <a:gd name="txB" fmla="*/ 1168 h 1168"/>
              </a:gdLst>
              <a:ahLst/>
              <a:cxnLst>
                <a:cxn ang="0">
                  <a:pos x="0" y="33"/>
                </a:cxn>
                <a:cxn ang="0">
                  <a:pos x="0" y="0"/>
                </a:cxn>
                <a:cxn ang="0">
                  <a:pos x="1" y="0"/>
                </a:cxn>
              </a:cxnLst>
              <a:rect l="txL" t="txT" r="txR" b="txB"/>
              <a:pathLst>
                <a:path w="2" h="1168">
                  <a:moveTo>
                    <a:pt x="0" y="1168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12" name="Freeform 191"/>
            <p:cNvSpPr/>
            <p:nvPr/>
          </p:nvSpPr>
          <p:spPr>
            <a:xfrm>
              <a:off x="2842" y="1248"/>
              <a:ext cx="27" cy="28"/>
            </a:xfrm>
            <a:custGeom>
              <a:avLst/>
              <a:gdLst>
                <a:gd name="txL" fmla="*/ 0 w 162"/>
                <a:gd name="txT" fmla="*/ 0 h 161"/>
                <a:gd name="txR" fmla="*/ 162 w 162"/>
                <a:gd name="txB" fmla="*/ 161 h 161"/>
              </a:gdLst>
              <a:ahLst/>
              <a:cxnLst>
                <a:cxn ang="0">
                  <a:pos x="0" y="5"/>
                </a:cxn>
                <a:cxn ang="0">
                  <a:pos x="4" y="0"/>
                </a:cxn>
                <a:cxn ang="0">
                  <a:pos x="4" y="0"/>
                </a:cxn>
              </a:cxnLst>
              <a:rect l="txL" t="txT" r="txR" b="txB"/>
              <a:pathLst>
                <a:path w="162" h="161">
                  <a:moveTo>
                    <a:pt x="0" y="161"/>
                  </a:moveTo>
                  <a:lnTo>
                    <a:pt x="161" y="0"/>
                  </a:lnTo>
                  <a:lnTo>
                    <a:pt x="162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13" name="Line 192"/>
            <p:cNvSpPr/>
            <p:nvPr/>
          </p:nvSpPr>
          <p:spPr>
            <a:xfrm>
              <a:off x="2538" y="1553"/>
              <a:ext cx="1" cy="1"/>
            </a:xfrm>
            <a:prstGeom prst="line">
              <a:avLst/>
            </a:prstGeom>
            <a:ln w="12700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914" name="Line 193"/>
            <p:cNvSpPr/>
            <p:nvPr/>
          </p:nvSpPr>
          <p:spPr>
            <a:xfrm>
              <a:off x="2538" y="1553"/>
              <a:ext cx="1" cy="1"/>
            </a:xfrm>
            <a:prstGeom prst="line">
              <a:avLst/>
            </a:prstGeom>
            <a:ln w="12700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915" name="Freeform 194"/>
            <p:cNvSpPr/>
            <p:nvPr/>
          </p:nvSpPr>
          <p:spPr>
            <a:xfrm>
              <a:off x="2260" y="1371"/>
              <a:ext cx="156" cy="156"/>
            </a:xfrm>
            <a:custGeom>
              <a:avLst/>
              <a:gdLst>
                <a:gd name="txL" fmla="*/ 0 w 916"/>
                <a:gd name="txT" fmla="*/ 0 h 917"/>
                <a:gd name="txR" fmla="*/ 916 w 916"/>
                <a:gd name="txB" fmla="*/ 917 h 917"/>
              </a:gdLst>
              <a:ahLst/>
              <a:cxnLst>
                <a:cxn ang="0">
                  <a:pos x="27" y="27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916" h="917">
                  <a:moveTo>
                    <a:pt x="916" y="91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16" name="Freeform 195"/>
            <p:cNvSpPr/>
            <p:nvPr/>
          </p:nvSpPr>
          <p:spPr>
            <a:xfrm>
              <a:off x="2538" y="1513"/>
              <a:ext cx="38" cy="37"/>
            </a:xfrm>
            <a:custGeom>
              <a:avLst/>
              <a:gdLst>
                <a:gd name="txL" fmla="*/ 0 w 221"/>
                <a:gd name="txT" fmla="*/ 0 h 220"/>
                <a:gd name="txR" fmla="*/ 221 w 221"/>
                <a:gd name="txB" fmla="*/ 220 h 220"/>
              </a:gdLst>
              <a:ahLst/>
              <a:cxnLst>
                <a:cxn ang="0">
                  <a:pos x="7" y="6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21" h="220">
                  <a:moveTo>
                    <a:pt x="221" y="22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17" name="Freeform 196"/>
            <p:cNvSpPr/>
            <p:nvPr/>
          </p:nvSpPr>
          <p:spPr>
            <a:xfrm>
              <a:off x="2237" y="1211"/>
              <a:ext cx="36" cy="37"/>
            </a:xfrm>
            <a:custGeom>
              <a:avLst/>
              <a:gdLst>
                <a:gd name="txL" fmla="*/ 0 w 219"/>
                <a:gd name="txT" fmla="*/ 0 h 220"/>
                <a:gd name="txR" fmla="*/ 219 w 219"/>
                <a:gd name="txB" fmla="*/ 220 h 220"/>
              </a:gdLst>
              <a:ahLst/>
              <a:cxnLst>
                <a:cxn ang="0">
                  <a:pos x="6" y="6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9" h="220">
                  <a:moveTo>
                    <a:pt x="219" y="22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18" name="Freeform 197"/>
            <p:cNvSpPr/>
            <p:nvPr/>
          </p:nvSpPr>
          <p:spPr>
            <a:xfrm>
              <a:off x="2273" y="1248"/>
              <a:ext cx="265" cy="265"/>
            </a:xfrm>
            <a:custGeom>
              <a:avLst/>
              <a:gdLst>
                <a:gd name="txL" fmla="*/ 0 w 1563"/>
                <a:gd name="txT" fmla="*/ 0 h 1565"/>
                <a:gd name="txR" fmla="*/ 1563 w 1563"/>
                <a:gd name="txB" fmla="*/ 1565 h 1565"/>
              </a:gdLst>
              <a:ahLst/>
              <a:cxnLst>
                <a:cxn ang="0">
                  <a:pos x="45" y="45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563" h="1565">
                  <a:moveTo>
                    <a:pt x="1563" y="156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19" name="Freeform 198"/>
            <p:cNvSpPr/>
            <p:nvPr/>
          </p:nvSpPr>
          <p:spPr>
            <a:xfrm>
              <a:off x="2538" y="1376"/>
              <a:ext cx="142" cy="141"/>
            </a:xfrm>
            <a:custGeom>
              <a:avLst/>
              <a:gdLst>
                <a:gd name="txL" fmla="*/ 0 w 835"/>
                <a:gd name="txT" fmla="*/ 0 h 836"/>
                <a:gd name="txR" fmla="*/ 835 w 835"/>
                <a:gd name="txB" fmla="*/ 836 h 836"/>
              </a:gdLst>
              <a:ahLst/>
              <a:cxnLst>
                <a:cxn ang="0">
                  <a:pos x="24" y="24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835" h="836">
                  <a:moveTo>
                    <a:pt x="835" y="836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20" name="Freeform 199"/>
            <p:cNvSpPr/>
            <p:nvPr/>
          </p:nvSpPr>
          <p:spPr>
            <a:xfrm>
              <a:off x="2269" y="1107"/>
              <a:ext cx="141" cy="141"/>
            </a:xfrm>
            <a:custGeom>
              <a:avLst/>
              <a:gdLst>
                <a:gd name="txL" fmla="*/ 0 w 835"/>
                <a:gd name="txT" fmla="*/ 0 h 835"/>
                <a:gd name="txR" fmla="*/ 835 w 835"/>
                <a:gd name="txB" fmla="*/ 835 h 835"/>
              </a:gdLst>
              <a:ahLst/>
              <a:cxnLst>
                <a:cxn ang="0">
                  <a:pos x="24" y="24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835" h="835">
                  <a:moveTo>
                    <a:pt x="835" y="83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21" name="Freeform 200"/>
            <p:cNvSpPr/>
            <p:nvPr/>
          </p:nvSpPr>
          <p:spPr>
            <a:xfrm>
              <a:off x="2410" y="1248"/>
              <a:ext cx="128" cy="128"/>
            </a:xfrm>
            <a:custGeom>
              <a:avLst/>
              <a:gdLst>
                <a:gd name="txL" fmla="*/ 0 w 755"/>
                <a:gd name="txT" fmla="*/ 0 h 757"/>
                <a:gd name="txR" fmla="*/ 755 w 755"/>
                <a:gd name="txB" fmla="*/ 757 h 757"/>
              </a:gdLst>
              <a:ahLst/>
              <a:cxnLst>
                <a:cxn ang="0">
                  <a:pos x="22" y="22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55" h="757">
                  <a:moveTo>
                    <a:pt x="755" y="75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22" name="Freeform 201"/>
            <p:cNvSpPr/>
            <p:nvPr/>
          </p:nvSpPr>
          <p:spPr>
            <a:xfrm>
              <a:off x="2547" y="1248"/>
              <a:ext cx="211" cy="211"/>
            </a:xfrm>
            <a:custGeom>
              <a:avLst/>
              <a:gdLst>
                <a:gd name="txL" fmla="*/ 0 w 1245"/>
                <a:gd name="txT" fmla="*/ 0 h 1246"/>
                <a:gd name="txR" fmla="*/ 1245 w 1245"/>
                <a:gd name="txB" fmla="*/ 1246 h 1246"/>
              </a:gdLst>
              <a:ahLst/>
              <a:cxnLst>
                <a:cxn ang="0">
                  <a:pos x="36" y="36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245" h="1246">
                  <a:moveTo>
                    <a:pt x="1245" y="124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23" name="Freeform 202"/>
            <p:cNvSpPr/>
            <p:nvPr/>
          </p:nvSpPr>
          <p:spPr>
            <a:xfrm>
              <a:off x="2328" y="1028"/>
              <a:ext cx="210" cy="211"/>
            </a:xfrm>
            <a:custGeom>
              <a:avLst/>
              <a:gdLst>
                <a:gd name="txL" fmla="*/ 0 w 1245"/>
                <a:gd name="txT" fmla="*/ 0 h 1246"/>
                <a:gd name="txR" fmla="*/ 1245 w 1245"/>
                <a:gd name="txB" fmla="*/ 1246 h 1246"/>
              </a:gdLst>
              <a:ahLst/>
              <a:cxnLst>
                <a:cxn ang="0">
                  <a:pos x="35" y="36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245" h="1246">
                  <a:moveTo>
                    <a:pt x="1245" y="124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24" name="Freeform 203"/>
            <p:cNvSpPr/>
            <p:nvPr/>
          </p:nvSpPr>
          <p:spPr>
            <a:xfrm>
              <a:off x="2538" y="1239"/>
              <a:ext cx="9" cy="9"/>
            </a:xfrm>
            <a:custGeom>
              <a:avLst/>
              <a:gdLst>
                <a:gd name="txL" fmla="*/ 0 w 52"/>
                <a:gd name="txT" fmla="*/ 0 h 51"/>
                <a:gd name="txR" fmla="*/ 52 w 52"/>
                <a:gd name="txB" fmla="*/ 51 h 51"/>
              </a:gdLst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52" h="51">
                  <a:moveTo>
                    <a:pt x="52" y="51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25" name="Freeform 204"/>
            <p:cNvSpPr/>
            <p:nvPr/>
          </p:nvSpPr>
          <p:spPr>
            <a:xfrm>
              <a:off x="2684" y="1248"/>
              <a:ext cx="131" cy="130"/>
            </a:xfrm>
            <a:custGeom>
              <a:avLst/>
              <a:gdLst>
                <a:gd name="txL" fmla="*/ 0 w 768"/>
                <a:gd name="txT" fmla="*/ 0 h 768"/>
                <a:gd name="txR" fmla="*/ 768 w 768"/>
                <a:gd name="txB" fmla="*/ 768 h 768"/>
              </a:gdLst>
              <a:ahLst/>
              <a:cxnLst>
                <a:cxn ang="0">
                  <a:pos x="22" y="22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68" h="768">
                  <a:moveTo>
                    <a:pt x="768" y="76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26" name="Freeform 205"/>
            <p:cNvSpPr/>
            <p:nvPr/>
          </p:nvSpPr>
          <p:spPr>
            <a:xfrm>
              <a:off x="2486" y="1050"/>
              <a:ext cx="198" cy="198"/>
            </a:xfrm>
            <a:custGeom>
              <a:avLst/>
              <a:gdLst>
                <a:gd name="txL" fmla="*/ 0 w 1168"/>
                <a:gd name="txT" fmla="*/ 0 h 1169"/>
                <a:gd name="txR" fmla="*/ 1168 w 1168"/>
                <a:gd name="txB" fmla="*/ 1169 h 1169"/>
              </a:gdLst>
              <a:ahLst/>
              <a:cxnLst>
                <a:cxn ang="0">
                  <a:pos x="34" y="34"/>
                </a:cxn>
                <a:cxn ang="0">
                  <a:pos x="9" y="9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68" h="1169">
                  <a:moveTo>
                    <a:pt x="1168" y="1169"/>
                  </a:moveTo>
                  <a:lnTo>
                    <a:pt x="310" y="311"/>
                  </a:ln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27" name="Freeform 206"/>
            <p:cNvSpPr/>
            <p:nvPr/>
          </p:nvSpPr>
          <p:spPr>
            <a:xfrm>
              <a:off x="2623" y="1050"/>
              <a:ext cx="220" cy="219"/>
            </a:xfrm>
            <a:custGeom>
              <a:avLst/>
              <a:gdLst>
                <a:gd name="txL" fmla="*/ 0 w 1297"/>
                <a:gd name="txT" fmla="*/ 0 h 1298"/>
                <a:gd name="txR" fmla="*/ 1297 w 1297"/>
                <a:gd name="txB" fmla="*/ 1298 h 1298"/>
              </a:gdLst>
              <a:ahLst/>
              <a:cxnLst>
                <a:cxn ang="0">
                  <a:pos x="37" y="37"/>
                </a:cxn>
                <a:cxn ang="0">
                  <a:pos x="34" y="33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297" h="1298">
                  <a:moveTo>
                    <a:pt x="1297" y="1298"/>
                  </a:moveTo>
                  <a:lnTo>
                    <a:pt x="1168" y="1169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28" name="Freeform 207"/>
            <p:cNvSpPr/>
            <p:nvPr/>
          </p:nvSpPr>
          <p:spPr>
            <a:xfrm>
              <a:off x="2698" y="989"/>
              <a:ext cx="100" cy="100"/>
            </a:xfrm>
            <a:custGeom>
              <a:avLst/>
              <a:gdLst>
                <a:gd name="txL" fmla="*/ 0 w 594"/>
                <a:gd name="txT" fmla="*/ 0 h 593"/>
                <a:gd name="txR" fmla="*/ 594 w 594"/>
                <a:gd name="txB" fmla="*/ 593 h 593"/>
              </a:gdLst>
              <a:ahLst/>
              <a:cxnLst>
                <a:cxn ang="0">
                  <a:pos x="17" y="17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594" h="593">
                  <a:moveTo>
                    <a:pt x="594" y="59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29" name="Freeform 208"/>
            <p:cNvSpPr/>
            <p:nvPr/>
          </p:nvSpPr>
          <p:spPr>
            <a:xfrm>
              <a:off x="2234" y="957"/>
              <a:ext cx="609" cy="596"/>
            </a:xfrm>
            <a:custGeom>
              <a:avLst/>
              <a:gdLst>
                <a:gd name="txL" fmla="*/ 0 w 3594"/>
                <a:gd name="txT" fmla="*/ 0 h 3514"/>
                <a:gd name="txR" fmla="*/ 3594 w 3594"/>
                <a:gd name="txB" fmla="*/ 3514 h 3514"/>
              </a:gdLst>
              <a:ahLst/>
              <a:cxnLst>
                <a:cxn ang="0">
                  <a:pos x="36" y="0"/>
                </a:cxn>
                <a:cxn ang="0">
                  <a:pos x="22" y="7"/>
                </a:cxn>
                <a:cxn ang="0">
                  <a:pos x="10" y="19"/>
                </a:cxn>
                <a:cxn ang="0">
                  <a:pos x="3" y="33"/>
                </a:cxn>
                <a:cxn ang="0">
                  <a:pos x="0" y="49"/>
                </a:cxn>
                <a:cxn ang="0">
                  <a:pos x="3" y="65"/>
                </a:cxn>
                <a:cxn ang="0">
                  <a:pos x="10" y="80"/>
                </a:cxn>
                <a:cxn ang="0">
                  <a:pos x="21" y="91"/>
                </a:cxn>
                <a:cxn ang="0">
                  <a:pos x="36" y="99"/>
                </a:cxn>
                <a:cxn ang="0">
                  <a:pos x="52" y="101"/>
                </a:cxn>
                <a:cxn ang="0">
                  <a:pos x="68" y="99"/>
                </a:cxn>
                <a:cxn ang="0">
                  <a:pos x="82" y="91"/>
                </a:cxn>
                <a:cxn ang="0">
                  <a:pos x="94" y="80"/>
                </a:cxn>
                <a:cxn ang="0">
                  <a:pos x="101" y="65"/>
                </a:cxn>
                <a:cxn ang="0">
                  <a:pos x="103" y="49"/>
                </a:cxn>
                <a:cxn ang="0">
                  <a:pos x="101" y="33"/>
                </a:cxn>
                <a:cxn ang="0">
                  <a:pos x="93" y="19"/>
                </a:cxn>
                <a:cxn ang="0">
                  <a:pos x="82" y="7"/>
                </a:cxn>
                <a:cxn ang="0">
                  <a:pos x="67" y="0"/>
                </a:cxn>
                <a:cxn ang="0">
                  <a:pos x="67" y="0"/>
                </a:cxn>
              </a:cxnLst>
              <a:rect l="txL" t="txT" r="txR" b="txB"/>
              <a:pathLst>
                <a:path w="3594" h="3514">
                  <a:moveTo>
                    <a:pt x="1258" y="0"/>
                  </a:moveTo>
                  <a:lnTo>
                    <a:pt x="753" y="252"/>
                  </a:lnTo>
                  <a:lnTo>
                    <a:pt x="351" y="648"/>
                  </a:lnTo>
                  <a:lnTo>
                    <a:pt x="91" y="1150"/>
                  </a:lnTo>
                  <a:lnTo>
                    <a:pt x="0" y="1707"/>
                  </a:lnTo>
                  <a:lnTo>
                    <a:pt x="86" y="2264"/>
                  </a:lnTo>
                  <a:lnTo>
                    <a:pt x="339" y="2768"/>
                  </a:lnTo>
                  <a:lnTo>
                    <a:pt x="737" y="3169"/>
                  </a:lnTo>
                  <a:lnTo>
                    <a:pt x="1240" y="3426"/>
                  </a:lnTo>
                  <a:lnTo>
                    <a:pt x="1796" y="3514"/>
                  </a:lnTo>
                  <a:lnTo>
                    <a:pt x="2354" y="3426"/>
                  </a:lnTo>
                  <a:lnTo>
                    <a:pt x="2856" y="3169"/>
                  </a:lnTo>
                  <a:lnTo>
                    <a:pt x="3255" y="2768"/>
                  </a:lnTo>
                  <a:lnTo>
                    <a:pt x="3508" y="2264"/>
                  </a:lnTo>
                  <a:lnTo>
                    <a:pt x="3594" y="1707"/>
                  </a:lnTo>
                  <a:lnTo>
                    <a:pt x="3503" y="1150"/>
                  </a:lnTo>
                  <a:lnTo>
                    <a:pt x="3243" y="648"/>
                  </a:lnTo>
                  <a:lnTo>
                    <a:pt x="2841" y="252"/>
                  </a:lnTo>
                  <a:lnTo>
                    <a:pt x="2336" y="0"/>
                  </a:lnTo>
                  <a:lnTo>
                    <a:pt x="2337" y="0"/>
                  </a:lnTo>
                </a:path>
              </a:pathLst>
            </a:custGeom>
            <a:noFill/>
            <a:ln w="38100" cap="flat" cmpd="sng">
              <a:solidFill>
                <a:srgbClr val="33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930" name="Line 209"/>
            <p:cNvSpPr/>
            <p:nvPr/>
          </p:nvSpPr>
          <p:spPr>
            <a:xfrm>
              <a:off x="2447" y="954"/>
              <a:ext cx="0" cy="91"/>
            </a:xfrm>
            <a:prstGeom prst="line">
              <a:avLst/>
            </a:prstGeom>
            <a:ln w="38100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931" name="Line 210"/>
            <p:cNvSpPr/>
            <p:nvPr/>
          </p:nvSpPr>
          <p:spPr>
            <a:xfrm>
              <a:off x="2617" y="951"/>
              <a:ext cx="0" cy="91"/>
            </a:xfrm>
            <a:prstGeom prst="line">
              <a:avLst/>
            </a:prstGeom>
            <a:ln w="38100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932" name="Line 211"/>
            <p:cNvSpPr/>
            <p:nvPr/>
          </p:nvSpPr>
          <p:spPr>
            <a:xfrm>
              <a:off x="2435" y="1032"/>
              <a:ext cx="182" cy="0"/>
            </a:xfrm>
            <a:prstGeom prst="line">
              <a:avLst/>
            </a:prstGeom>
            <a:ln w="38100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1" name="Group 212"/>
          <p:cNvGrpSpPr/>
          <p:nvPr/>
        </p:nvGrpSpPr>
        <p:grpSpPr>
          <a:xfrm>
            <a:off x="1609725" y="1154113"/>
            <a:ext cx="298450" cy="2808287"/>
            <a:chOff x="1014" y="346"/>
            <a:chExt cx="188" cy="1769"/>
          </a:xfrm>
        </p:grpSpPr>
        <p:sp>
          <p:nvSpPr>
            <p:cNvPr id="76899" name="Line 213"/>
            <p:cNvSpPr/>
            <p:nvPr/>
          </p:nvSpPr>
          <p:spPr>
            <a:xfrm>
              <a:off x="1020" y="346"/>
              <a:ext cx="0" cy="13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900" name="Line 214"/>
            <p:cNvSpPr/>
            <p:nvPr/>
          </p:nvSpPr>
          <p:spPr>
            <a:xfrm>
              <a:off x="1017" y="1979"/>
              <a:ext cx="0" cy="13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901" name="Line 215"/>
            <p:cNvSpPr/>
            <p:nvPr/>
          </p:nvSpPr>
          <p:spPr>
            <a:xfrm>
              <a:off x="1020" y="346"/>
              <a:ext cx="18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76902" name="Line 216"/>
            <p:cNvSpPr/>
            <p:nvPr/>
          </p:nvSpPr>
          <p:spPr>
            <a:xfrm>
              <a:off x="1014" y="2106"/>
              <a:ext cx="18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</p:grpSp>
      <p:grpSp>
        <p:nvGrpSpPr>
          <p:cNvPr id="22" name="Group 217"/>
          <p:cNvGrpSpPr/>
          <p:nvPr/>
        </p:nvGrpSpPr>
        <p:grpSpPr>
          <a:xfrm>
            <a:off x="1474788" y="793750"/>
            <a:ext cx="288925" cy="3606800"/>
            <a:chOff x="929" y="119"/>
            <a:chExt cx="182" cy="2272"/>
          </a:xfrm>
        </p:grpSpPr>
        <p:sp>
          <p:nvSpPr>
            <p:cNvPr id="76897" name="Text Box 218"/>
            <p:cNvSpPr txBox="1"/>
            <p:nvPr/>
          </p:nvSpPr>
          <p:spPr>
            <a:xfrm>
              <a:off x="930" y="119"/>
              <a:ext cx="181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A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76898" name="Text Box 219"/>
            <p:cNvSpPr txBox="1"/>
            <p:nvPr/>
          </p:nvSpPr>
          <p:spPr>
            <a:xfrm>
              <a:off x="929" y="2160"/>
              <a:ext cx="181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A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</p:grpSp>
      <p:sp>
        <p:nvSpPr>
          <p:cNvPr id="166108" name="Text Box 220"/>
          <p:cNvSpPr txBox="1"/>
          <p:nvPr/>
        </p:nvSpPr>
        <p:spPr>
          <a:xfrm>
            <a:off x="3708400" y="873125"/>
            <a:ext cx="6477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</a:rPr>
              <a:t>A-A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166109" name="Text Box 221"/>
          <p:cNvSpPr txBox="1"/>
          <p:nvPr/>
        </p:nvSpPr>
        <p:spPr>
          <a:xfrm>
            <a:off x="4859338" y="2181225"/>
            <a:ext cx="3887787" cy="274638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1200" b="1" i="1" dirty="0">
                <a:solidFill>
                  <a:srgbClr val="FF0000"/>
                </a:solidFill>
                <a:latin typeface="Times New Roman" panose="02020603050405020304" pitchFamily="18" charset="0"/>
                <a:sym typeface="Monotype Sorts" pitchFamily="2" charset="2"/>
              </a:rPr>
              <a:t>e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sym typeface="Monotype Sorts" pitchFamily="2" charset="2"/>
              </a:rPr>
              <a:t>. </a:t>
            </a:r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sym typeface="Monotype Sorts" pitchFamily="2" charset="2"/>
              </a:rPr>
              <a:t>轴的主左视图剖面符号方向、间隔必须一致。</a:t>
            </a:r>
            <a:endParaRPr lang="zh-CN" altLang="en-US" sz="1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6110" name="Line 222"/>
          <p:cNvSpPr/>
          <p:nvPr/>
        </p:nvSpPr>
        <p:spPr>
          <a:xfrm>
            <a:off x="2133600" y="1998663"/>
            <a:ext cx="1871663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3" name="Group 223"/>
          <p:cNvGrpSpPr/>
          <p:nvPr/>
        </p:nvGrpSpPr>
        <p:grpSpPr>
          <a:xfrm>
            <a:off x="3870325" y="1974850"/>
            <a:ext cx="293688" cy="319088"/>
            <a:chOff x="4142" y="920"/>
            <a:chExt cx="185" cy="201"/>
          </a:xfrm>
        </p:grpSpPr>
        <p:sp>
          <p:nvSpPr>
            <p:cNvPr id="76871" name="Freeform 224"/>
            <p:cNvSpPr/>
            <p:nvPr/>
          </p:nvSpPr>
          <p:spPr>
            <a:xfrm>
              <a:off x="4234" y="1081"/>
              <a:ext cx="1" cy="40"/>
            </a:xfrm>
            <a:custGeom>
              <a:avLst/>
              <a:gdLst>
                <a:gd name="txL" fmla="*/ 0 w 2"/>
                <a:gd name="txT" fmla="*/ 0 h 229"/>
                <a:gd name="txR" fmla="*/ 2 w 2"/>
                <a:gd name="txB" fmla="*/ 229 h 229"/>
              </a:gdLst>
              <a:ahLst/>
              <a:cxnLst>
                <a:cxn ang="0">
                  <a:pos x="0" y="7"/>
                </a:cxn>
                <a:cxn ang="0">
                  <a:pos x="0" y="0"/>
                </a:cxn>
                <a:cxn ang="0">
                  <a:pos x="1" y="0"/>
                </a:cxn>
              </a:cxnLst>
              <a:rect l="txL" t="txT" r="txR" b="txB"/>
              <a:pathLst>
                <a:path w="2" h="229">
                  <a:moveTo>
                    <a:pt x="0" y="229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72" name="Freeform 225"/>
            <p:cNvSpPr/>
            <p:nvPr/>
          </p:nvSpPr>
          <p:spPr>
            <a:xfrm>
              <a:off x="4143" y="924"/>
              <a:ext cx="183" cy="1"/>
            </a:xfrm>
            <a:custGeom>
              <a:avLst/>
              <a:gdLst>
                <a:gd name="txL" fmla="*/ 0 w 1079"/>
                <a:gd name="txT" fmla="*/ 0 h 1"/>
                <a:gd name="txR" fmla="*/ 1079 w 1079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1" y="0"/>
                </a:cxn>
                <a:cxn ang="0">
                  <a:pos x="31" y="0"/>
                </a:cxn>
              </a:cxnLst>
              <a:rect l="txL" t="txT" r="txR" b="txB"/>
              <a:pathLst>
                <a:path w="1079" h="1">
                  <a:moveTo>
                    <a:pt x="0" y="0"/>
                  </a:moveTo>
                  <a:lnTo>
                    <a:pt x="1078" y="0"/>
                  </a:lnTo>
                  <a:lnTo>
                    <a:pt x="1079" y="0"/>
                  </a:lnTo>
                </a:path>
              </a:pathLst>
            </a:custGeom>
            <a:noFill/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73" name="Freeform 226"/>
            <p:cNvSpPr/>
            <p:nvPr/>
          </p:nvSpPr>
          <p:spPr>
            <a:xfrm>
              <a:off x="4143" y="924"/>
              <a:ext cx="11" cy="11"/>
            </a:xfrm>
            <a:custGeom>
              <a:avLst/>
              <a:gdLst>
                <a:gd name="txL" fmla="*/ 0 w 65"/>
                <a:gd name="txT" fmla="*/ 0 h 63"/>
                <a:gd name="txR" fmla="*/ 65 w 65"/>
                <a:gd name="txB" fmla="*/ 63 h 63"/>
              </a:gdLst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txL" t="txT" r="txR" b="txB"/>
              <a:pathLst>
                <a:path w="65" h="63">
                  <a:moveTo>
                    <a:pt x="0" y="63"/>
                  </a:moveTo>
                  <a:lnTo>
                    <a:pt x="64" y="0"/>
                  </a:lnTo>
                  <a:lnTo>
                    <a:pt x="65" y="0"/>
                  </a:lnTo>
                </a:path>
              </a:pathLst>
            </a:custGeom>
            <a:noFill/>
            <a:ln w="127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74" name="Freeform 227"/>
            <p:cNvSpPr/>
            <p:nvPr/>
          </p:nvSpPr>
          <p:spPr>
            <a:xfrm>
              <a:off x="4143" y="924"/>
              <a:ext cx="38" cy="39"/>
            </a:xfrm>
            <a:custGeom>
              <a:avLst/>
              <a:gdLst>
                <a:gd name="txL" fmla="*/ 0 w 225"/>
                <a:gd name="txT" fmla="*/ 0 h 225"/>
                <a:gd name="txR" fmla="*/ 225 w 225"/>
                <a:gd name="txB" fmla="*/ 225 h 225"/>
              </a:gdLst>
              <a:ahLst/>
              <a:cxnLst>
                <a:cxn ang="0">
                  <a:pos x="0" y="7"/>
                </a:cxn>
                <a:cxn ang="0">
                  <a:pos x="6" y="0"/>
                </a:cxn>
                <a:cxn ang="0">
                  <a:pos x="6" y="0"/>
                </a:cxn>
              </a:cxnLst>
              <a:rect l="txL" t="txT" r="txR" b="txB"/>
              <a:pathLst>
                <a:path w="225" h="225">
                  <a:moveTo>
                    <a:pt x="0" y="225"/>
                  </a:moveTo>
                  <a:lnTo>
                    <a:pt x="224" y="0"/>
                  </a:lnTo>
                  <a:lnTo>
                    <a:pt x="225" y="0"/>
                  </a:lnTo>
                </a:path>
              </a:pathLst>
            </a:custGeom>
            <a:noFill/>
            <a:ln w="127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75" name="Freeform 228"/>
            <p:cNvSpPr/>
            <p:nvPr/>
          </p:nvSpPr>
          <p:spPr>
            <a:xfrm>
              <a:off x="4143" y="924"/>
              <a:ext cx="66" cy="66"/>
            </a:xfrm>
            <a:custGeom>
              <a:avLst/>
              <a:gdLst>
                <a:gd name="txL" fmla="*/ 0 w 387"/>
                <a:gd name="txT" fmla="*/ 0 h 387"/>
                <a:gd name="txR" fmla="*/ 387 w 387"/>
                <a:gd name="txB" fmla="*/ 387 h 387"/>
              </a:gdLst>
              <a:ahLst/>
              <a:cxnLst>
                <a:cxn ang="0">
                  <a:pos x="0" y="11"/>
                </a:cxn>
                <a:cxn ang="0">
                  <a:pos x="11" y="0"/>
                </a:cxn>
                <a:cxn ang="0">
                  <a:pos x="11" y="0"/>
                </a:cxn>
              </a:cxnLst>
              <a:rect l="txL" t="txT" r="txR" b="txB"/>
              <a:pathLst>
                <a:path w="387" h="387">
                  <a:moveTo>
                    <a:pt x="0" y="387"/>
                  </a:moveTo>
                  <a:lnTo>
                    <a:pt x="386" y="0"/>
                  </a:lnTo>
                  <a:lnTo>
                    <a:pt x="387" y="0"/>
                  </a:lnTo>
                </a:path>
              </a:pathLst>
            </a:custGeom>
            <a:noFill/>
            <a:ln w="127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76" name="Freeform 229"/>
            <p:cNvSpPr/>
            <p:nvPr/>
          </p:nvSpPr>
          <p:spPr>
            <a:xfrm>
              <a:off x="4143" y="924"/>
              <a:ext cx="94" cy="93"/>
            </a:xfrm>
            <a:custGeom>
              <a:avLst/>
              <a:gdLst>
                <a:gd name="txL" fmla="*/ 0 w 549"/>
                <a:gd name="txT" fmla="*/ 0 h 548"/>
                <a:gd name="txR" fmla="*/ 549 w 549"/>
                <a:gd name="txB" fmla="*/ 548 h 548"/>
              </a:gdLst>
              <a:ahLst/>
              <a:cxnLst>
                <a:cxn ang="0">
                  <a:pos x="0" y="16"/>
                </a:cxn>
                <a:cxn ang="0">
                  <a:pos x="16" y="0"/>
                </a:cxn>
                <a:cxn ang="0">
                  <a:pos x="16" y="0"/>
                </a:cxn>
                <a:cxn ang="0">
                  <a:pos x="16" y="0"/>
                </a:cxn>
              </a:cxnLst>
              <a:rect l="txL" t="txT" r="txR" b="txB"/>
              <a:pathLst>
                <a:path w="549" h="548">
                  <a:moveTo>
                    <a:pt x="0" y="548"/>
                  </a:moveTo>
                  <a:lnTo>
                    <a:pt x="538" y="8"/>
                  </a:lnTo>
                  <a:lnTo>
                    <a:pt x="548" y="0"/>
                  </a:lnTo>
                  <a:lnTo>
                    <a:pt x="549" y="0"/>
                  </a:lnTo>
                </a:path>
              </a:pathLst>
            </a:custGeom>
            <a:noFill/>
            <a:ln w="127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77" name="Freeform 230"/>
            <p:cNvSpPr/>
            <p:nvPr/>
          </p:nvSpPr>
          <p:spPr>
            <a:xfrm>
              <a:off x="4143" y="924"/>
              <a:ext cx="121" cy="120"/>
            </a:xfrm>
            <a:custGeom>
              <a:avLst/>
              <a:gdLst>
                <a:gd name="txL" fmla="*/ 0 w 710"/>
                <a:gd name="txT" fmla="*/ 0 h 709"/>
                <a:gd name="txR" fmla="*/ 710 w 710"/>
                <a:gd name="txB" fmla="*/ 709 h 709"/>
              </a:gdLst>
              <a:ahLst/>
              <a:cxnLst>
                <a:cxn ang="0">
                  <a:pos x="0" y="20"/>
                </a:cxn>
                <a:cxn ang="0">
                  <a:pos x="16" y="5"/>
                </a:cxn>
                <a:cxn ang="0">
                  <a:pos x="21" y="0"/>
                </a:cxn>
                <a:cxn ang="0">
                  <a:pos x="21" y="0"/>
                </a:cxn>
              </a:cxnLst>
              <a:rect l="txL" t="txT" r="txR" b="txB"/>
              <a:pathLst>
                <a:path w="710" h="709">
                  <a:moveTo>
                    <a:pt x="0" y="709"/>
                  </a:moveTo>
                  <a:lnTo>
                    <a:pt x="538" y="170"/>
                  </a:lnTo>
                  <a:lnTo>
                    <a:pt x="709" y="0"/>
                  </a:lnTo>
                  <a:lnTo>
                    <a:pt x="710" y="0"/>
                  </a:lnTo>
                </a:path>
              </a:pathLst>
            </a:custGeom>
            <a:noFill/>
            <a:ln w="127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78" name="Freeform 231"/>
            <p:cNvSpPr/>
            <p:nvPr/>
          </p:nvSpPr>
          <p:spPr>
            <a:xfrm>
              <a:off x="4143" y="924"/>
              <a:ext cx="148" cy="148"/>
            </a:xfrm>
            <a:custGeom>
              <a:avLst/>
              <a:gdLst>
                <a:gd name="txL" fmla="*/ 0 w 871"/>
                <a:gd name="txT" fmla="*/ 0 h 871"/>
                <a:gd name="txR" fmla="*/ 871 w 871"/>
                <a:gd name="txB" fmla="*/ 871 h 871"/>
              </a:gdLst>
              <a:ahLst/>
              <a:cxnLst>
                <a:cxn ang="0">
                  <a:pos x="0" y="25"/>
                </a:cxn>
                <a:cxn ang="0">
                  <a:pos x="15" y="10"/>
                </a:cxn>
                <a:cxn ang="0">
                  <a:pos x="25" y="0"/>
                </a:cxn>
                <a:cxn ang="0">
                  <a:pos x="25" y="0"/>
                </a:cxn>
              </a:cxnLst>
              <a:rect l="txL" t="txT" r="txR" b="txB"/>
              <a:pathLst>
                <a:path w="871" h="871">
                  <a:moveTo>
                    <a:pt x="0" y="871"/>
                  </a:moveTo>
                  <a:lnTo>
                    <a:pt x="538" y="332"/>
                  </a:lnTo>
                  <a:lnTo>
                    <a:pt x="870" y="0"/>
                  </a:lnTo>
                  <a:lnTo>
                    <a:pt x="871" y="0"/>
                  </a:lnTo>
                </a:path>
              </a:pathLst>
            </a:custGeom>
            <a:noFill/>
            <a:ln w="127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79" name="Freeform 232"/>
            <p:cNvSpPr/>
            <p:nvPr/>
          </p:nvSpPr>
          <p:spPr>
            <a:xfrm>
              <a:off x="4147" y="924"/>
              <a:ext cx="171" cy="171"/>
            </a:xfrm>
            <a:custGeom>
              <a:avLst/>
              <a:gdLst>
                <a:gd name="txL" fmla="*/ 0 w 1007"/>
                <a:gd name="txT" fmla="*/ 0 h 1007"/>
                <a:gd name="txR" fmla="*/ 1007 w 1007"/>
                <a:gd name="txB" fmla="*/ 1007 h 1007"/>
              </a:gdLst>
              <a:ahLst/>
              <a:cxnLst>
                <a:cxn ang="0">
                  <a:pos x="0" y="29"/>
                </a:cxn>
                <a:cxn ang="0">
                  <a:pos x="15" y="14"/>
                </a:cxn>
                <a:cxn ang="0">
                  <a:pos x="29" y="0"/>
                </a:cxn>
                <a:cxn ang="0">
                  <a:pos x="29" y="0"/>
                </a:cxn>
              </a:cxnLst>
              <a:rect l="txL" t="txT" r="txR" b="txB"/>
              <a:pathLst>
                <a:path w="1007" h="1007">
                  <a:moveTo>
                    <a:pt x="0" y="1007"/>
                  </a:moveTo>
                  <a:lnTo>
                    <a:pt x="513" y="493"/>
                  </a:lnTo>
                  <a:lnTo>
                    <a:pt x="1006" y="0"/>
                  </a:lnTo>
                  <a:lnTo>
                    <a:pt x="1007" y="0"/>
                  </a:lnTo>
                </a:path>
              </a:pathLst>
            </a:custGeom>
            <a:noFill/>
            <a:ln w="127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80" name="Freeform 233"/>
            <p:cNvSpPr/>
            <p:nvPr/>
          </p:nvSpPr>
          <p:spPr>
            <a:xfrm>
              <a:off x="4174" y="944"/>
              <a:ext cx="152" cy="151"/>
            </a:xfrm>
            <a:custGeom>
              <a:avLst/>
              <a:gdLst>
                <a:gd name="txL" fmla="*/ 0 w 892"/>
                <a:gd name="txT" fmla="*/ 0 h 892"/>
                <a:gd name="txR" fmla="*/ 892 w 892"/>
                <a:gd name="txB" fmla="*/ 892 h 892"/>
              </a:gdLst>
              <a:ahLst/>
              <a:cxnLst>
                <a:cxn ang="0">
                  <a:pos x="0" y="26"/>
                </a:cxn>
                <a:cxn ang="0">
                  <a:pos x="10" y="15"/>
                </a:cxn>
                <a:cxn ang="0">
                  <a:pos x="26" y="0"/>
                </a:cxn>
                <a:cxn ang="0">
                  <a:pos x="26" y="0"/>
                </a:cxn>
              </a:cxnLst>
              <a:rect l="txL" t="txT" r="txR" b="txB"/>
              <a:pathLst>
                <a:path w="892" h="892">
                  <a:moveTo>
                    <a:pt x="0" y="892"/>
                  </a:moveTo>
                  <a:lnTo>
                    <a:pt x="351" y="539"/>
                  </a:lnTo>
                  <a:lnTo>
                    <a:pt x="891" y="0"/>
                  </a:lnTo>
                  <a:lnTo>
                    <a:pt x="892" y="0"/>
                  </a:lnTo>
                </a:path>
              </a:pathLst>
            </a:custGeom>
            <a:noFill/>
            <a:ln w="127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81" name="Freeform 234"/>
            <p:cNvSpPr/>
            <p:nvPr/>
          </p:nvSpPr>
          <p:spPr>
            <a:xfrm>
              <a:off x="4203" y="971"/>
              <a:ext cx="123" cy="124"/>
            </a:xfrm>
            <a:custGeom>
              <a:avLst/>
              <a:gdLst>
                <a:gd name="txL" fmla="*/ 0 w 732"/>
                <a:gd name="txT" fmla="*/ 0 h 731"/>
                <a:gd name="txR" fmla="*/ 732 w 732"/>
                <a:gd name="txB" fmla="*/ 731 h 731"/>
              </a:gdLst>
              <a:ahLst/>
              <a:cxnLst>
                <a:cxn ang="0">
                  <a:pos x="0" y="21"/>
                </a:cxn>
                <a:cxn ang="0">
                  <a:pos x="5" y="16"/>
                </a:cxn>
                <a:cxn ang="0">
                  <a:pos x="21" y="0"/>
                </a:cxn>
                <a:cxn ang="0">
                  <a:pos x="21" y="0"/>
                </a:cxn>
              </a:cxnLst>
              <a:rect l="txL" t="txT" r="txR" b="txB"/>
              <a:pathLst>
                <a:path w="732" h="731">
                  <a:moveTo>
                    <a:pt x="0" y="731"/>
                  </a:moveTo>
                  <a:lnTo>
                    <a:pt x="191" y="540"/>
                  </a:lnTo>
                  <a:lnTo>
                    <a:pt x="731" y="0"/>
                  </a:lnTo>
                  <a:lnTo>
                    <a:pt x="732" y="0"/>
                  </a:lnTo>
                </a:path>
              </a:pathLst>
            </a:custGeom>
            <a:noFill/>
            <a:ln w="127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82" name="Freeform 235"/>
            <p:cNvSpPr/>
            <p:nvPr/>
          </p:nvSpPr>
          <p:spPr>
            <a:xfrm>
              <a:off x="4230" y="998"/>
              <a:ext cx="96" cy="97"/>
            </a:xfrm>
            <a:custGeom>
              <a:avLst/>
              <a:gdLst>
                <a:gd name="txL" fmla="*/ 0 w 570"/>
                <a:gd name="txT" fmla="*/ 0 h 569"/>
                <a:gd name="txR" fmla="*/ 570 w 570"/>
                <a:gd name="txB" fmla="*/ 569 h 569"/>
              </a:gdLst>
              <a:ahLst/>
              <a:cxnLst>
                <a:cxn ang="0">
                  <a:pos x="0" y="17"/>
                </a:cxn>
                <a:cxn ang="0">
                  <a:pos x="1" y="16"/>
                </a:cxn>
                <a:cxn ang="0">
                  <a:pos x="16" y="0"/>
                </a:cxn>
                <a:cxn ang="0">
                  <a:pos x="16" y="0"/>
                </a:cxn>
              </a:cxnLst>
              <a:rect l="txL" t="txT" r="txR" b="txB"/>
              <a:pathLst>
                <a:path w="570" h="569">
                  <a:moveTo>
                    <a:pt x="0" y="569"/>
                  </a:moveTo>
                  <a:lnTo>
                    <a:pt x="29" y="540"/>
                  </a:lnTo>
                  <a:lnTo>
                    <a:pt x="569" y="0"/>
                  </a:lnTo>
                  <a:lnTo>
                    <a:pt x="570" y="0"/>
                  </a:lnTo>
                </a:path>
              </a:pathLst>
            </a:custGeom>
            <a:noFill/>
            <a:ln w="127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83" name="Freeform 236"/>
            <p:cNvSpPr/>
            <p:nvPr/>
          </p:nvSpPr>
          <p:spPr>
            <a:xfrm>
              <a:off x="4257" y="1025"/>
              <a:ext cx="69" cy="70"/>
            </a:xfrm>
            <a:custGeom>
              <a:avLst/>
              <a:gdLst>
                <a:gd name="txL" fmla="*/ 0 w 408"/>
                <a:gd name="txT" fmla="*/ 0 h 407"/>
                <a:gd name="txR" fmla="*/ 408 w 408"/>
                <a:gd name="txB" fmla="*/ 407 h 407"/>
              </a:gdLst>
              <a:ahLst/>
              <a:cxnLst>
                <a:cxn ang="0">
                  <a:pos x="0" y="12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408" h="407">
                  <a:moveTo>
                    <a:pt x="0" y="407"/>
                  </a:moveTo>
                  <a:lnTo>
                    <a:pt x="407" y="0"/>
                  </a:lnTo>
                  <a:lnTo>
                    <a:pt x="408" y="0"/>
                  </a:lnTo>
                </a:path>
              </a:pathLst>
            </a:custGeom>
            <a:noFill/>
            <a:ln w="127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84" name="Freeform 237"/>
            <p:cNvSpPr/>
            <p:nvPr/>
          </p:nvSpPr>
          <p:spPr>
            <a:xfrm>
              <a:off x="4284" y="1053"/>
              <a:ext cx="42" cy="42"/>
            </a:xfrm>
            <a:custGeom>
              <a:avLst/>
              <a:gdLst>
                <a:gd name="txL" fmla="*/ 0 w 247"/>
                <a:gd name="txT" fmla="*/ 0 h 247"/>
                <a:gd name="txR" fmla="*/ 247 w 247"/>
                <a:gd name="txB" fmla="*/ 247 h 247"/>
              </a:gdLst>
              <a:ahLst/>
              <a:cxnLst>
                <a:cxn ang="0">
                  <a:pos x="0" y="7"/>
                </a:cxn>
                <a:cxn ang="0">
                  <a:pos x="7" y="0"/>
                </a:cxn>
                <a:cxn ang="0">
                  <a:pos x="7" y="0"/>
                </a:cxn>
              </a:cxnLst>
              <a:rect l="txL" t="txT" r="txR" b="txB"/>
              <a:pathLst>
                <a:path w="247" h="247">
                  <a:moveTo>
                    <a:pt x="0" y="247"/>
                  </a:moveTo>
                  <a:lnTo>
                    <a:pt x="246" y="0"/>
                  </a:lnTo>
                  <a:lnTo>
                    <a:pt x="247" y="0"/>
                  </a:lnTo>
                </a:path>
              </a:pathLst>
            </a:custGeom>
            <a:noFill/>
            <a:ln w="127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85" name="Freeform 238"/>
            <p:cNvSpPr/>
            <p:nvPr/>
          </p:nvSpPr>
          <p:spPr>
            <a:xfrm>
              <a:off x="4311" y="1081"/>
              <a:ext cx="15" cy="14"/>
            </a:xfrm>
            <a:custGeom>
              <a:avLst/>
              <a:gdLst>
                <a:gd name="txL" fmla="*/ 0 w 85"/>
                <a:gd name="txT" fmla="*/ 0 h 85"/>
                <a:gd name="txR" fmla="*/ 85 w 85"/>
                <a:gd name="txB" fmla="*/ 85 h 85"/>
              </a:gdLst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txL" t="txT" r="txR" b="txB"/>
              <a:pathLst>
                <a:path w="85" h="85">
                  <a:moveTo>
                    <a:pt x="0" y="85"/>
                  </a:moveTo>
                  <a:lnTo>
                    <a:pt x="84" y="0"/>
                  </a:lnTo>
                  <a:lnTo>
                    <a:pt x="85" y="0"/>
                  </a:lnTo>
                </a:path>
              </a:pathLst>
            </a:custGeom>
            <a:noFill/>
            <a:ln w="127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86" name="Freeform 239"/>
            <p:cNvSpPr/>
            <p:nvPr/>
          </p:nvSpPr>
          <p:spPr>
            <a:xfrm>
              <a:off x="4234" y="925"/>
              <a:ext cx="1" cy="170"/>
            </a:xfrm>
            <a:custGeom>
              <a:avLst/>
              <a:gdLst>
                <a:gd name="txL" fmla="*/ 0 w 2"/>
                <a:gd name="txT" fmla="*/ 0 h 999"/>
                <a:gd name="txR" fmla="*/ 2 w 2"/>
                <a:gd name="txB" fmla="*/ 999 h 999"/>
              </a:gdLst>
              <a:ahLst/>
              <a:cxnLst>
                <a:cxn ang="0">
                  <a:pos x="0" y="29"/>
                </a:cxn>
                <a:cxn ang="0">
                  <a:pos x="0" y="0"/>
                </a:cxn>
                <a:cxn ang="0">
                  <a:pos x="1" y="0"/>
                </a:cxn>
              </a:cxnLst>
              <a:rect l="txL" t="txT" r="txR" b="txB"/>
              <a:pathLst>
                <a:path w="2" h="999">
                  <a:moveTo>
                    <a:pt x="0" y="999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87" name="Line 240"/>
            <p:cNvSpPr/>
            <p:nvPr/>
          </p:nvSpPr>
          <p:spPr>
            <a:xfrm>
              <a:off x="4142" y="923"/>
              <a:ext cx="2" cy="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88" name="Line 241"/>
            <p:cNvSpPr/>
            <p:nvPr/>
          </p:nvSpPr>
          <p:spPr>
            <a:xfrm>
              <a:off x="4143" y="1095"/>
              <a:ext cx="1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89" name="Line 242"/>
            <p:cNvSpPr/>
            <p:nvPr/>
          </p:nvSpPr>
          <p:spPr>
            <a:xfrm>
              <a:off x="4234" y="989"/>
              <a:ext cx="1" cy="1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90" name="Line 243"/>
            <p:cNvSpPr/>
            <p:nvPr/>
          </p:nvSpPr>
          <p:spPr>
            <a:xfrm>
              <a:off x="4230" y="1095"/>
              <a:ext cx="1" cy="1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91" name="Line 244"/>
            <p:cNvSpPr/>
            <p:nvPr/>
          </p:nvSpPr>
          <p:spPr>
            <a:xfrm>
              <a:off x="4234" y="989"/>
              <a:ext cx="1" cy="1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92" name="Line 245"/>
            <p:cNvSpPr/>
            <p:nvPr/>
          </p:nvSpPr>
          <p:spPr>
            <a:xfrm>
              <a:off x="4234" y="925"/>
              <a:ext cx="1" cy="1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93" name="Line 246"/>
            <p:cNvSpPr/>
            <p:nvPr/>
          </p:nvSpPr>
          <p:spPr>
            <a:xfrm>
              <a:off x="4326" y="1095"/>
              <a:ext cx="1" cy="1"/>
            </a:xfrm>
            <a:prstGeom prst="line">
              <a:avLst/>
            </a:prstGeom>
            <a:ln w="127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94" name="Line 247"/>
            <p:cNvSpPr/>
            <p:nvPr/>
          </p:nvSpPr>
          <p:spPr>
            <a:xfrm>
              <a:off x="4144" y="920"/>
              <a:ext cx="1" cy="176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95" name="Line 248"/>
            <p:cNvSpPr/>
            <p:nvPr/>
          </p:nvSpPr>
          <p:spPr>
            <a:xfrm>
              <a:off x="4142" y="1096"/>
              <a:ext cx="184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96" name="Line 249"/>
            <p:cNvSpPr/>
            <p:nvPr/>
          </p:nvSpPr>
          <p:spPr>
            <a:xfrm flipV="1">
              <a:off x="4326" y="925"/>
              <a:ext cx="0" cy="171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66138" name="Text Box 250"/>
          <p:cNvSpPr txBox="1"/>
          <p:nvPr/>
        </p:nvSpPr>
        <p:spPr>
          <a:xfrm>
            <a:off x="4751388" y="2428875"/>
            <a:ext cx="4392612" cy="4572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sym typeface="Monotype Sorts" pitchFamily="2" charset="2"/>
              </a:rPr>
              <a:t>f. </a:t>
            </a:r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sym typeface="Monotype Sorts" pitchFamily="2" charset="2"/>
              </a:rPr>
              <a:t>键横向剖切按剖处理，剖面符号间隔密些。键的下底面、左右侧面都和轴上键槽接触，接触面画一条线。</a:t>
            </a:r>
            <a:endParaRPr lang="zh-CN" altLang="en-US" sz="1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4" name="Group 251"/>
          <p:cNvGrpSpPr/>
          <p:nvPr/>
        </p:nvGrpSpPr>
        <p:grpSpPr>
          <a:xfrm>
            <a:off x="3870325" y="2089150"/>
            <a:ext cx="292100" cy="169863"/>
            <a:chOff x="2438" y="935"/>
            <a:chExt cx="184" cy="107"/>
          </a:xfrm>
        </p:grpSpPr>
        <p:sp>
          <p:nvSpPr>
            <p:cNvPr id="76868" name="Line 252"/>
            <p:cNvSpPr/>
            <p:nvPr/>
          </p:nvSpPr>
          <p:spPr>
            <a:xfrm>
              <a:off x="2438" y="1038"/>
              <a:ext cx="18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69" name="Line 253"/>
            <p:cNvSpPr/>
            <p:nvPr/>
          </p:nvSpPr>
          <p:spPr>
            <a:xfrm>
              <a:off x="2438" y="935"/>
              <a:ext cx="0" cy="9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70" name="Line 254"/>
            <p:cNvSpPr/>
            <p:nvPr/>
          </p:nvSpPr>
          <p:spPr>
            <a:xfrm>
              <a:off x="2622" y="951"/>
              <a:ext cx="0" cy="9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5" name="Group 255"/>
          <p:cNvGrpSpPr/>
          <p:nvPr/>
        </p:nvGrpSpPr>
        <p:grpSpPr>
          <a:xfrm>
            <a:off x="3540125" y="1925638"/>
            <a:ext cx="966788" cy="1144587"/>
            <a:chOff x="2234" y="832"/>
            <a:chExt cx="609" cy="721"/>
          </a:xfrm>
        </p:grpSpPr>
        <p:sp>
          <p:nvSpPr>
            <p:cNvPr id="76864" name="Freeform 256"/>
            <p:cNvSpPr/>
            <p:nvPr/>
          </p:nvSpPr>
          <p:spPr>
            <a:xfrm>
              <a:off x="2447" y="832"/>
              <a:ext cx="183" cy="2"/>
            </a:xfrm>
            <a:custGeom>
              <a:avLst/>
              <a:gdLst>
                <a:gd name="txL" fmla="*/ 0 w 1079"/>
                <a:gd name="txT" fmla="*/ 0 h 2"/>
                <a:gd name="txR" fmla="*/ 1079 w 1079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31" y="0"/>
                </a:cxn>
                <a:cxn ang="0">
                  <a:pos x="31" y="0"/>
                </a:cxn>
              </a:cxnLst>
              <a:rect l="txL" t="txT" r="txR" b="txB"/>
              <a:pathLst>
                <a:path w="1079" h="2">
                  <a:moveTo>
                    <a:pt x="0" y="0"/>
                  </a:moveTo>
                  <a:lnTo>
                    <a:pt x="1078" y="0"/>
                  </a:lnTo>
                  <a:lnTo>
                    <a:pt x="1079" y="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65" name="Freeform 257"/>
            <p:cNvSpPr/>
            <p:nvPr/>
          </p:nvSpPr>
          <p:spPr>
            <a:xfrm flipH="1">
              <a:off x="2449" y="834"/>
              <a:ext cx="1" cy="125"/>
            </a:xfrm>
            <a:custGeom>
              <a:avLst/>
              <a:gdLst>
                <a:gd name="txL" fmla="*/ 0 w 2"/>
                <a:gd name="txT" fmla="*/ 0 h 222"/>
                <a:gd name="txR" fmla="*/ 2 w 2"/>
                <a:gd name="txB" fmla="*/ 222 h 222"/>
              </a:gdLst>
              <a:ahLst/>
              <a:cxnLst>
                <a:cxn ang="0">
                  <a:pos x="0" y="70"/>
                </a:cxn>
                <a:cxn ang="0">
                  <a:pos x="1" y="0"/>
                </a:cxn>
                <a:cxn ang="0">
                  <a:pos x="1" y="10"/>
                </a:cxn>
              </a:cxnLst>
              <a:rect l="txL" t="txT" r="txR" b="txB"/>
              <a:pathLst>
                <a:path w="2" h="222">
                  <a:moveTo>
                    <a:pt x="0" y="222"/>
                  </a:moveTo>
                  <a:lnTo>
                    <a:pt x="1" y="0"/>
                  </a:lnTo>
                  <a:lnTo>
                    <a:pt x="2" y="3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66" name="Freeform 258"/>
            <p:cNvSpPr/>
            <p:nvPr/>
          </p:nvSpPr>
          <p:spPr>
            <a:xfrm>
              <a:off x="2234" y="957"/>
              <a:ext cx="609" cy="596"/>
            </a:xfrm>
            <a:custGeom>
              <a:avLst/>
              <a:gdLst>
                <a:gd name="txL" fmla="*/ 0 w 3594"/>
                <a:gd name="txT" fmla="*/ 0 h 3514"/>
                <a:gd name="txR" fmla="*/ 3594 w 3594"/>
                <a:gd name="txB" fmla="*/ 3514 h 3514"/>
              </a:gdLst>
              <a:ahLst/>
              <a:cxnLst>
                <a:cxn ang="0">
                  <a:pos x="36" y="0"/>
                </a:cxn>
                <a:cxn ang="0">
                  <a:pos x="22" y="7"/>
                </a:cxn>
                <a:cxn ang="0">
                  <a:pos x="10" y="19"/>
                </a:cxn>
                <a:cxn ang="0">
                  <a:pos x="3" y="33"/>
                </a:cxn>
                <a:cxn ang="0">
                  <a:pos x="0" y="49"/>
                </a:cxn>
                <a:cxn ang="0">
                  <a:pos x="3" y="65"/>
                </a:cxn>
                <a:cxn ang="0">
                  <a:pos x="10" y="80"/>
                </a:cxn>
                <a:cxn ang="0">
                  <a:pos x="21" y="91"/>
                </a:cxn>
                <a:cxn ang="0">
                  <a:pos x="36" y="99"/>
                </a:cxn>
                <a:cxn ang="0">
                  <a:pos x="52" y="101"/>
                </a:cxn>
                <a:cxn ang="0">
                  <a:pos x="68" y="99"/>
                </a:cxn>
                <a:cxn ang="0">
                  <a:pos x="82" y="91"/>
                </a:cxn>
                <a:cxn ang="0">
                  <a:pos x="94" y="80"/>
                </a:cxn>
                <a:cxn ang="0">
                  <a:pos x="101" y="65"/>
                </a:cxn>
                <a:cxn ang="0">
                  <a:pos x="103" y="49"/>
                </a:cxn>
                <a:cxn ang="0">
                  <a:pos x="101" y="33"/>
                </a:cxn>
                <a:cxn ang="0">
                  <a:pos x="93" y="19"/>
                </a:cxn>
                <a:cxn ang="0">
                  <a:pos x="82" y="7"/>
                </a:cxn>
                <a:cxn ang="0">
                  <a:pos x="67" y="0"/>
                </a:cxn>
                <a:cxn ang="0">
                  <a:pos x="67" y="0"/>
                </a:cxn>
              </a:cxnLst>
              <a:rect l="txL" t="txT" r="txR" b="txB"/>
              <a:pathLst>
                <a:path w="3594" h="3514">
                  <a:moveTo>
                    <a:pt x="1258" y="0"/>
                  </a:moveTo>
                  <a:lnTo>
                    <a:pt x="753" y="252"/>
                  </a:lnTo>
                  <a:lnTo>
                    <a:pt x="351" y="648"/>
                  </a:lnTo>
                  <a:lnTo>
                    <a:pt x="91" y="1150"/>
                  </a:lnTo>
                  <a:lnTo>
                    <a:pt x="0" y="1707"/>
                  </a:lnTo>
                  <a:lnTo>
                    <a:pt x="86" y="2264"/>
                  </a:lnTo>
                  <a:lnTo>
                    <a:pt x="339" y="2768"/>
                  </a:lnTo>
                  <a:lnTo>
                    <a:pt x="737" y="3169"/>
                  </a:lnTo>
                  <a:lnTo>
                    <a:pt x="1240" y="3426"/>
                  </a:lnTo>
                  <a:lnTo>
                    <a:pt x="1796" y="3514"/>
                  </a:lnTo>
                  <a:lnTo>
                    <a:pt x="2354" y="3426"/>
                  </a:lnTo>
                  <a:lnTo>
                    <a:pt x="2856" y="3169"/>
                  </a:lnTo>
                  <a:lnTo>
                    <a:pt x="3255" y="2768"/>
                  </a:lnTo>
                  <a:lnTo>
                    <a:pt x="3508" y="2264"/>
                  </a:lnTo>
                  <a:lnTo>
                    <a:pt x="3594" y="1707"/>
                  </a:lnTo>
                  <a:lnTo>
                    <a:pt x="3503" y="1150"/>
                  </a:lnTo>
                  <a:lnTo>
                    <a:pt x="3243" y="648"/>
                  </a:lnTo>
                  <a:lnTo>
                    <a:pt x="2841" y="252"/>
                  </a:lnTo>
                  <a:lnTo>
                    <a:pt x="2336" y="0"/>
                  </a:lnTo>
                  <a:lnTo>
                    <a:pt x="2337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67" name="Freeform 259"/>
            <p:cNvSpPr/>
            <p:nvPr/>
          </p:nvSpPr>
          <p:spPr>
            <a:xfrm flipH="1">
              <a:off x="2618" y="833"/>
              <a:ext cx="1" cy="125"/>
            </a:xfrm>
            <a:custGeom>
              <a:avLst/>
              <a:gdLst>
                <a:gd name="txL" fmla="*/ 0 w 2"/>
                <a:gd name="txT" fmla="*/ 0 h 222"/>
                <a:gd name="txR" fmla="*/ 2 w 2"/>
                <a:gd name="txB" fmla="*/ 222 h 222"/>
              </a:gdLst>
              <a:ahLst/>
              <a:cxnLst>
                <a:cxn ang="0">
                  <a:pos x="0" y="70"/>
                </a:cxn>
                <a:cxn ang="0">
                  <a:pos x="1" y="0"/>
                </a:cxn>
                <a:cxn ang="0">
                  <a:pos x="1" y="10"/>
                </a:cxn>
              </a:cxnLst>
              <a:rect l="txL" t="txT" r="txR" b="txB"/>
              <a:pathLst>
                <a:path w="2" h="222">
                  <a:moveTo>
                    <a:pt x="0" y="222"/>
                  </a:moveTo>
                  <a:lnTo>
                    <a:pt x="1" y="0"/>
                  </a:lnTo>
                  <a:lnTo>
                    <a:pt x="2" y="3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66148" name="Line 260"/>
          <p:cNvSpPr/>
          <p:nvPr/>
        </p:nvSpPr>
        <p:spPr>
          <a:xfrm>
            <a:off x="2032000" y="1917700"/>
            <a:ext cx="20891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6" name="Group 261"/>
          <p:cNvGrpSpPr/>
          <p:nvPr/>
        </p:nvGrpSpPr>
        <p:grpSpPr>
          <a:xfrm>
            <a:off x="3309938" y="1863725"/>
            <a:ext cx="1443037" cy="1444625"/>
            <a:chOff x="2085" y="793"/>
            <a:chExt cx="909" cy="910"/>
          </a:xfrm>
        </p:grpSpPr>
        <p:sp>
          <p:nvSpPr>
            <p:cNvPr id="76845" name="Freeform 262"/>
            <p:cNvSpPr/>
            <p:nvPr/>
          </p:nvSpPr>
          <p:spPr>
            <a:xfrm>
              <a:off x="2151" y="860"/>
              <a:ext cx="148" cy="149"/>
            </a:xfrm>
            <a:custGeom>
              <a:avLst/>
              <a:gdLst>
                <a:gd name="txL" fmla="*/ 0 w 877"/>
                <a:gd name="txT" fmla="*/ 0 h 878"/>
                <a:gd name="txR" fmla="*/ 877 w 877"/>
                <a:gd name="txB" fmla="*/ 878 h 878"/>
              </a:gdLst>
              <a:ahLst/>
              <a:cxnLst>
                <a:cxn ang="0">
                  <a:pos x="0" y="25"/>
                </a:cxn>
                <a:cxn ang="0">
                  <a:pos x="25" y="0"/>
                </a:cxn>
                <a:cxn ang="0">
                  <a:pos x="25" y="0"/>
                </a:cxn>
              </a:cxnLst>
              <a:rect l="txL" t="txT" r="txR" b="txB"/>
              <a:pathLst>
                <a:path w="877" h="878">
                  <a:moveTo>
                    <a:pt x="0" y="878"/>
                  </a:moveTo>
                  <a:lnTo>
                    <a:pt x="876" y="0"/>
                  </a:lnTo>
                  <a:lnTo>
                    <a:pt x="877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46" name="Freeform 263"/>
            <p:cNvSpPr/>
            <p:nvPr/>
          </p:nvSpPr>
          <p:spPr>
            <a:xfrm>
              <a:off x="2085" y="793"/>
              <a:ext cx="418" cy="419"/>
            </a:xfrm>
            <a:custGeom>
              <a:avLst/>
              <a:gdLst>
                <a:gd name="txL" fmla="*/ 0 w 2468"/>
                <a:gd name="txT" fmla="*/ 0 h 2468"/>
                <a:gd name="txR" fmla="*/ 2468 w 2468"/>
                <a:gd name="txB" fmla="*/ 2468 h 2468"/>
              </a:gdLst>
              <a:ahLst/>
              <a:cxnLst>
                <a:cxn ang="0">
                  <a:pos x="0" y="71"/>
                </a:cxn>
                <a:cxn ang="0">
                  <a:pos x="71" y="0"/>
                </a:cxn>
                <a:cxn ang="0">
                  <a:pos x="71" y="0"/>
                </a:cxn>
              </a:cxnLst>
              <a:rect l="txL" t="txT" r="txR" b="txB"/>
              <a:pathLst>
                <a:path w="2468" h="2468">
                  <a:moveTo>
                    <a:pt x="0" y="2468"/>
                  </a:moveTo>
                  <a:lnTo>
                    <a:pt x="2467" y="0"/>
                  </a:lnTo>
                  <a:lnTo>
                    <a:pt x="2468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47" name="Freeform 264"/>
            <p:cNvSpPr/>
            <p:nvPr/>
          </p:nvSpPr>
          <p:spPr>
            <a:xfrm>
              <a:off x="2093" y="1195"/>
              <a:ext cx="145" cy="146"/>
            </a:xfrm>
            <a:custGeom>
              <a:avLst/>
              <a:gdLst>
                <a:gd name="txL" fmla="*/ 0 w 862"/>
                <a:gd name="txT" fmla="*/ 0 h 862"/>
                <a:gd name="txR" fmla="*/ 862 w 862"/>
                <a:gd name="txB" fmla="*/ 862 h 862"/>
              </a:gdLst>
              <a:ahLst/>
              <a:cxnLst>
                <a:cxn ang="0">
                  <a:pos x="0" y="25"/>
                </a:cxn>
                <a:cxn ang="0">
                  <a:pos x="24" y="0"/>
                </a:cxn>
                <a:cxn ang="0">
                  <a:pos x="24" y="0"/>
                </a:cxn>
              </a:cxnLst>
              <a:rect l="txL" t="txT" r="txR" b="txB"/>
              <a:pathLst>
                <a:path w="862" h="862">
                  <a:moveTo>
                    <a:pt x="0" y="862"/>
                  </a:moveTo>
                  <a:lnTo>
                    <a:pt x="861" y="0"/>
                  </a:lnTo>
                  <a:lnTo>
                    <a:pt x="862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48" name="Freeform 265"/>
            <p:cNvSpPr/>
            <p:nvPr/>
          </p:nvSpPr>
          <p:spPr>
            <a:xfrm>
              <a:off x="2595" y="801"/>
              <a:ext cx="36" cy="29"/>
            </a:xfrm>
            <a:custGeom>
              <a:avLst/>
              <a:gdLst>
                <a:gd name="txL" fmla="*/ 0 w 36"/>
                <a:gd name="txT" fmla="*/ 0 h 29"/>
                <a:gd name="txR" fmla="*/ 36 w 36"/>
                <a:gd name="txB" fmla="*/ 29 h 29"/>
              </a:gdLst>
              <a:ahLst/>
              <a:cxnLst>
                <a:cxn ang="0">
                  <a:pos x="0" y="29"/>
                </a:cxn>
                <a:cxn ang="0">
                  <a:pos x="36" y="0"/>
                </a:cxn>
                <a:cxn ang="0">
                  <a:pos x="36" y="0"/>
                </a:cxn>
              </a:cxnLst>
              <a:rect l="txL" t="txT" r="txR" b="txB"/>
              <a:pathLst>
                <a:path w="36" h="29">
                  <a:moveTo>
                    <a:pt x="0" y="29"/>
                  </a:moveTo>
                  <a:lnTo>
                    <a:pt x="36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49" name="Freeform 266"/>
            <p:cNvSpPr/>
            <p:nvPr/>
          </p:nvSpPr>
          <p:spPr>
            <a:xfrm>
              <a:off x="2127" y="1326"/>
              <a:ext cx="117" cy="117"/>
            </a:xfrm>
            <a:custGeom>
              <a:avLst/>
              <a:gdLst>
                <a:gd name="txL" fmla="*/ 0 w 692"/>
                <a:gd name="txT" fmla="*/ 0 h 691"/>
                <a:gd name="txR" fmla="*/ 692 w 692"/>
                <a:gd name="txB" fmla="*/ 691 h 691"/>
              </a:gdLst>
              <a:ahLst/>
              <a:cxnLst>
                <a:cxn ang="0">
                  <a:pos x="0" y="20"/>
                </a:cxn>
                <a:cxn ang="0">
                  <a:pos x="20" y="0"/>
                </a:cxn>
                <a:cxn ang="0">
                  <a:pos x="20" y="0"/>
                </a:cxn>
              </a:cxnLst>
              <a:rect l="txL" t="txT" r="txR" b="txB"/>
              <a:pathLst>
                <a:path w="692" h="691">
                  <a:moveTo>
                    <a:pt x="0" y="691"/>
                  </a:moveTo>
                  <a:lnTo>
                    <a:pt x="691" y="0"/>
                  </a:lnTo>
                  <a:lnTo>
                    <a:pt x="692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50" name="Freeform 267"/>
            <p:cNvSpPr/>
            <p:nvPr/>
          </p:nvSpPr>
          <p:spPr>
            <a:xfrm>
              <a:off x="2630" y="837"/>
              <a:ext cx="103" cy="103"/>
            </a:xfrm>
            <a:custGeom>
              <a:avLst/>
              <a:gdLst>
                <a:gd name="txL" fmla="*/ 0 w 613"/>
                <a:gd name="txT" fmla="*/ 0 h 613"/>
                <a:gd name="txR" fmla="*/ 613 w 613"/>
                <a:gd name="txB" fmla="*/ 613 h 613"/>
              </a:gdLst>
              <a:ahLst/>
              <a:cxnLst>
                <a:cxn ang="0">
                  <a:pos x="0" y="17"/>
                </a:cxn>
                <a:cxn ang="0">
                  <a:pos x="17" y="0"/>
                </a:cxn>
                <a:cxn ang="0">
                  <a:pos x="17" y="0"/>
                </a:cxn>
              </a:cxnLst>
              <a:rect l="txL" t="txT" r="txR" b="txB"/>
              <a:pathLst>
                <a:path w="613" h="613">
                  <a:moveTo>
                    <a:pt x="0" y="613"/>
                  </a:moveTo>
                  <a:lnTo>
                    <a:pt x="612" y="0"/>
                  </a:lnTo>
                  <a:lnTo>
                    <a:pt x="613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51" name="Freeform 268"/>
            <p:cNvSpPr/>
            <p:nvPr/>
          </p:nvSpPr>
          <p:spPr>
            <a:xfrm>
              <a:off x="2178" y="1420"/>
              <a:ext cx="109" cy="108"/>
            </a:xfrm>
            <a:custGeom>
              <a:avLst/>
              <a:gdLst>
                <a:gd name="txL" fmla="*/ 0 w 637"/>
                <a:gd name="txT" fmla="*/ 0 h 637"/>
                <a:gd name="txR" fmla="*/ 637 w 637"/>
                <a:gd name="txB" fmla="*/ 637 h 637"/>
              </a:gdLst>
              <a:ahLst/>
              <a:cxnLst>
                <a:cxn ang="0">
                  <a:pos x="0" y="18"/>
                </a:cxn>
                <a:cxn ang="0">
                  <a:pos x="19" y="0"/>
                </a:cxn>
                <a:cxn ang="0">
                  <a:pos x="19" y="0"/>
                </a:cxn>
              </a:cxnLst>
              <a:rect l="txL" t="txT" r="txR" b="txB"/>
              <a:pathLst>
                <a:path w="637" h="637">
                  <a:moveTo>
                    <a:pt x="0" y="637"/>
                  </a:moveTo>
                  <a:lnTo>
                    <a:pt x="636" y="0"/>
                  </a:lnTo>
                  <a:lnTo>
                    <a:pt x="637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52" name="Freeform 269"/>
            <p:cNvSpPr/>
            <p:nvPr/>
          </p:nvSpPr>
          <p:spPr>
            <a:xfrm>
              <a:off x="2710" y="888"/>
              <a:ext cx="109" cy="109"/>
            </a:xfrm>
            <a:custGeom>
              <a:avLst/>
              <a:gdLst>
                <a:gd name="txL" fmla="*/ 0 w 638"/>
                <a:gd name="txT" fmla="*/ 0 h 638"/>
                <a:gd name="txR" fmla="*/ 638 w 638"/>
                <a:gd name="txB" fmla="*/ 638 h 638"/>
              </a:gdLst>
              <a:ahLst/>
              <a:cxnLst>
                <a:cxn ang="0">
                  <a:pos x="0" y="19"/>
                </a:cxn>
                <a:cxn ang="0">
                  <a:pos x="19" y="0"/>
                </a:cxn>
                <a:cxn ang="0">
                  <a:pos x="19" y="0"/>
                </a:cxn>
              </a:cxnLst>
              <a:rect l="txL" t="txT" r="txR" b="txB"/>
              <a:pathLst>
                <a:path w="638" h="638">
                  <a:moveTo>
                    <a:pt x="0" y="638"/>
                  </a:moveTo>
                  <a:lnTo>
                    <a:pt x="637" y="0"/>
                  </a:lnTo>
                  <a:lnTo>
                    <a:pt x="638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53" name="Freeform 270"/>
            <p:cNvSpPr/>
            <p:nvPr/>
          </p:nvSpPr>
          <p:spPr>
            <a:xfrm>
              <a:off x="2246" y="1490"/>
              <a:ext cx="107" cy="107"/>
            </a:xfrm>
            <a:custGeom>
              <a:avLst/>
              <a:gdLst>
                <a:gd name="txL" fmla="*/ 0 w 634"/>
                <a:gd name="txT" fmla="*/ 0 h 634"/>
                <a:gd name="txR" fmla="*/ 634 w 634"/>
                <a:gd name="txB" fmla="*/ 634 h 634"/>
              </a:gdLst>
              <a:ahLst/>
              <a:cxnLst>
                <a:cxn ang="0">
                  <a:pos x="0" y="18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634" h="634">
                  <a:moveTo>
                    <a:pt x="0" y="634"/>
                  </a:moveTo>
                  <a:lnTo>
                    <a:pt x="633" y="0"/>
                  </a:lnTo>
                  <a:lnTo>
                    <a:pt x="634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54" name="Freeform 271"/>
            <p:cNvSpPr/>
            <p:nvPr/>
          </p:nvSpPr>
          <p:spPr>
            <a:xfrm>
              <a:off x="2781" y="956"/>
              <a:ext cx="107" cy="107"/>
            </a:xfrm>
            <a:custGeom>
              <a:avLst/>
              <a:gdLst>
                <a:gd name="txL" fmla="*/ 0 w 634"/>
                <a:gd name="txT" fmla="*/ 0 h 633"/>
                <a:gd name="txR" fmla="*/ 634 w 634"/>
                <a:gd name="txB" fmla="*/ 633 h 633"/>
              </a:gdLst>
              <a:ahLst/>
              <a:cxnLst>
                <a:cxn ang="0">
                  <a:pos x="0" y="18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634" h="633">
                  <a:moveTo>
                    <a:pt x="0" y="633"/>
                  </a:moveTo>
                  <a:lnTo>
                    <a:pt x="633" y="0"/>
                  </a:lnTo>
                  <a:lnTo>
                    <a:pt x="634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55" name="Freeform 272"/>
            <p:cNvSpPr/>
            <p:nvPr/>
          </p:nvSpPr>
          <p:spPr>
            <a:xfrm>
              <a:off x="2328" y="1538"/>
              <a:ext cx="115" cy="115"/>
            </a:xfrm>
            <a:custGeom>
              <a:avLst/>
              <a:gdLst>
                <a:gd name="txL" fmla="*/ 0 w 678"/>
                <a:gd name="txT" fmla="*/ 0 h 677"/>
                <a:gd name="txR" fmla="*/ 678 w 678"/>
                <a:gd name="txB" fmla="*/ 677 h 677"/>
              </a:gdLst>
              <a:ahLst/>
              <a:cxnLst>
                <a:cxn ang="0">
                  <a:pos x="0" y="20"/>
                </a:cxn>
                <a:cxn ang="0">
                  <a:pos x="20" y="0"/>
                </a:cxn>
                <a:cxn ang="0">
                  <a:pos x="20" y="0"/>
                </a:cxn>
              </a:cxnLst>
              <a:rect l="txL" t="txT" r="txR" b="txB"/>
              <a:pathLst>
                <a:path w="678" h="677">
                  <a:moveTo>
                    <a:pt x="0" y="677"/>
                  </a:moveTo>
                  <a:lnTo>
                    <a:pt x="677" y="0"/>
                  </a:lnTo>
                  <a:lnTo>
                    <a:pt x="678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56" name="Freeform 273"/>
            <p:cNvSpPr/>
            <p:nvPr/>
          </p:nvSpPr>
          <p:spPr>
            <a:xfrm>
              <a:off x="2828" y="1037"/>
              <a:ext cx="115" cy="116"/>
            </a:xfrm>
            <a:custGeom>
              <a:avLst/>
              <a:gdLst>
                <a:gd name="txL" fmla="*/ 0 w 677"/>
                <a:gd name="txT" fmla="*/ 0 h 678"/>
                <a:gd name="txR" fmla="*/ 677 w 677"/>
                <a:gd name="txB" fmla="*/ 678 h 678"/>
              </a:gdLst>
              <a:ahLst/>
              <a:cxnLst>
                <a:cxn ang="0">
                  <a:pos x="0" y="20"/>
                </a:cxn>
                <a:cxn ang="0">
                  <a:pos x="20" y="0"/>
                </a:cxn>
                <a:cxn ang="0">
                  <a:pos x="20" y="0"/>
                </a:cxn>
              </a:cxnLst>
              <a:rect l="txL" t="txT" r="txR" b="txB"/>
              <a:pathLst>
                <a:path w="677" h="678">
                  <a:moveTo>
                    <a:pt x="0" y="678"/>
                  </a:moveTo>
                  <a:lnTo>
                    <a:pt x="676" y="0"/>
                  </a:lnTo>
                  <a:lnTo>
                    <a:pt x="677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57" name="Freeform 274"/>
            <p:cNvSpPr/>
            <p:nvPr/>
          </p:nvSpPr>
          <p:spPr>
            <a:xfrm>
              <a:off x="2428" y="1551"/>
              <a:ext cx="138" cy="139"/>
            </a:xfrm>
            <a:custGeom>
              <a:avLst/>
              <a:gdLst>
                <a:gd name="txL" fmla="*/ 0 w 817"/>
                <a:gd name="txT" fmla="*/ 0 h 817"/>
                <a:gd name="txR" fmla="*/ 817 w 817"/>
                <a:gd name="txB" fmla="*/ 817 h 817"/>
              </a:gdLst>
              <a:ahLst/>
              <a:cxnLst>
                <a:cxn ang="0">
                  <a:pos x="0" y="24"/>
                </a:cxn>
                <a:cxn ang="0">
                  <a:pos x="23" y="0"/>
                </a:cxn>
                <a:cxn ang="0">
                  <a:pos x="23" y="0"/>
                </a:cxn>
              </a:cxnLst>
              <a:rect l="txL" t="txT" r="txR" b="txB"/>
              <a:pathLst>
                <a:path w="817" h="817">
                  <a:moveTo>
                    <a:pt x="0" y="817"/>
                  </a:moveTo>
                  <a:lnTo>
                    <a:pt x="816" y="0"/>
                  </a:lnTo>
                  <a:lnTo>
                    <a:pt x="817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58" name="Freeform 275"/>
            <p:cNvSpPr/>
            <p:nvPr/>
          </p:nvSpPr>
          <p:spPr>
            <a:xfrm>
              <a:off x="2869" y="1136"/>
              <a:ext cx="111" cy="112"/>
            </a:xfrm>
            <a:custGeom>
              <a:avLst/>
              <a:gdLst>
                <a:gd name="txL" fmla="*/ 0 w 657"/>
                <a:gd name="txT" fmla="*/ 0 h 656"/>
                <a:gd name="txR" fmla="*/ 657 w 657"/>
                <a:gd name="txB" fmla="*/ 656 h 656"/>
              </a:gdLst>
              <a:ahLst/>
              <a:cxnLst>
                <a:cxn ang="0">
                  <a:pos x="0" y="19"/>
                </a:cxn>
                <a:cxn ang="0">
                  <a:pos x="19" y="0"/>
                </a:cxn>
                <a:cxn ang="0">
                  <a:pos x="19" y="0"/>
                </a:cxn>
              </a:cxnLst>
              <a:rect l="txL" t="txT" r="txR" b="txB"/>
              <a:pathLst>
                <a:path w="657" h="656">
                  <a:moveTo>
                    <a:pt x="0" y="656"/>
                  </a:moveTo>
                  <a:lnTo>
                    <a:pt x="656" y="0"/>
                  </a:lnTo>
                  <a:lnTo>
                    <a:pt x="657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59" name="Freeform 276"/>
            <p:cNvSpPr/>
            <p:nvPr/>
          </p:nvSpPr>
          <p:spPr>
            <a:xfrm>
              <a:off x="2842" y="1248"/>
              <a:ext cx="27" cy="28"/>
            </a:xfrm>
            <a:custGeom>
              <a:avLst/>
              <a:gdLst>
                <a:gd name="txL" fmla="*/ 0 w 162"/>
                <a:gd name="txT" fmla="*/ 0 h 161"/>
                <a:gd name="txR" fmla="*/ 162 w 162"/>
                <a:gd name="txB" fmla="*/ 161 h 161"/>
              </a:gdLst>
              <a:ahLst/>
              <a:cxnLst>
                <a:cxn ang="0">
                  <a:pos x="0" y="5"/>
                </a:cxn>
                <a:cxn ang="0">
                  <a:pos x="4" y="0"/>
                </a:cxn>
                <a:cxn ang="0">
                  <a:pos x="4" y="0"/>
                </a:cxn>
              </a:cxnLst>
              <a:rect l="txL" t="txT" r="txR" b="txB"/>
              <a:pathLst>
                <a:path w="162" h="161">
                  <a:moveTo>
                    <a:pt x="0" y="161"/>
                  </a:moveTo>
                  <a:lnTo>
                    <a:pt x="161" y="0"/>
                  </a:lnTo>
                  <a:lnTo>
                    <a:pt x="162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60" name="Freeform 277"/>
            <p:cNvSpPr/>
            <p:nvPr/>
          </p:nvSpPr>
          <p:spPr>
            <a:xfrm>
              <a:off x="2550" y="1260"/>
              <a:ext cx="444" cy="443"/>
            </a:xfrm>
            <a:custGeom>
              <a:avLst/>
              <a:gdLst>
                <a:gd name="txL" fmla="*/ 0 w 2616"/>
                <a:gd name="txT" fmla="*/ 0 h 2617"/>
                <a:gd name="txR" fmla="*/ 2616 w 2616"/>
                <a:gd name="txB" fmla="*/ 2617 h 2617"/>
              </a:gdLst>
              <a:ahLst/>
              <a:cxnLst>
                <a:cxn ang="0">
                  <a:pos x="0" y="75"/>
                </a:cxn>
                <a:cxn ang="0">
                  <a:pos x="75" y="0"/>
                </a:cxn>
                <a:cxn ang="0">
                  <a:pos x="75" y="0"/>
                </a:cxn>
              </a:cxnLst>
              <a:rect l="txL" t="txT" r="txR" b="txB"/>
              <a:pathLst>
                <a:path w="2616" h="2617">
                  <a:moveTo>
                    <a:pt x="0" y="2617"/>
                  </a:moveTo>
                  <a:lnTo>
                    <a:pt x="2615" y="0"/>
                  </a:lnTo>
                  <a:lnTo>
                    <a:pt x="2616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61" name="Freeform 278"/>
            <p:cNvSpPr/>
            <p:nvPr/>
          </p:nvSpPr>
          <p:spPr>
            <a:xfrm>
              <a:off x="2729" y="1439"/>
              <a:ext cx="224" cy="223"/>
            </a:xfrm>
            <a:custGeom>
              <a:avLst/>
              <a:gdLst>
                <a:gd name="txL" fmla="*/ 0 w 1318"/>
                <a:gd name="txT" fmla="*/ 0 h 1318"/>
                <a:gd name="txR" fmla="*/ 1318 w 1318"/>
                <a:gd name="txB" fmla="*/ 1318 h 1318"/>
              </a:gdLst>
              <a:ahLst/>
              <a:cxnLst>
                <a:cxn ang="0">
                  <a:pos x="0" y="38"/>
                </a:cxn>
                <a:cxn ang="0">
                  <a:pos x="38" y="0"/>
                </a:cxn>
                <a:cxn ang="0">
                  <a:pos x="38" y="0"/>
                </a:cxn>
              </a:cxnLst>
              <a:rect l="txL" t="txT" r="txR" b="txB"/>
              <a:pathLst>
                <a:path w="1318" h="1318">
                  <a:moveTo>
                    <a:pt x="0" y="1318"/>
                  </a:moveTo>
                  <a:lnTo>
                    <a:pt x="1317" y="0"/>
                  </a:lnTo>
                  <a:lnTo>
                    <a:pt x="1318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62" name="Line 279"/>
            <p:cNvSpPr/>
            <p:nvPr/>
          </p:nvSpPr>
          <p:spPr>
            <a:xfrm>
              <a:off x="2538" y="1553"/>
              <a:ext cx="1" cy="1"/>
            </a:xfrm>
            <a:prstGeom prst="line">
              <a:avLst/>
            </a:prstGeom>
            <a:ln w="12700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63" name="Line 280"/>
            <p:cNvSpPr/>
            <p:nvPr/>
          </p:nvSpPr>
          <p:spPr>
            <a:xfrm>
              <a:off x="2538" y="1553"/>
              <a:ext cx="1" cy="1"/>
            </a:xfrm>
            <a:prstGeom prst="line">
              <a:avLst/>
            </a:prstGeom>
            <a:ln w="12700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66169" name="Text Box 281"/>
          <p:cNvSpPr txBox="1"/>
          <p:nvPr/>
        </p:nvSpPr>
        <p:spPr>
          <a:xfrm>
            <a:off x="4751388" y="2876550"/>
            <a:ext cx="4559300" cy="4572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sym typeface="Monotype Sorts" pitchFamily="2" charset="2"/>
              </a:rPr>
              <a:t>g. </a:t>
            </a:r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sym typeface="Monotype Sorts" pitchFamily="2" charset="2"/>
              </a:rPr>
              <a:t>键上底面和轮毂上键槽上底面不接触，画两条线。左右侧面接触，画一条线。</a:t>
            </a:r>
            <a:endParaRPr lang="zh-CN" altLang="en-US" sz="1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6170" name="Text Box 282"/>
          <p:cNvSpPr txBox="1"/>
          <p:nvPr/>
        </p:nvSpPr>
        <p:spPr>
          <a:xfrm>
            <a:off x="4716463" y="3357563"/>
            <a:ext cx="4013200" cy="274637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1200" b="1" i="1" dirty="0">
                <a:solidFill>
                  <a:srgbClr val="FF0000"/>
                </a:solidFill>
                <a:latin typeface="Times New Roman" panose="02020603050405020304" pitchFamily="18" charset="0"/>
                <a:sym typeface="Monotype Sorts" pitchFamily="2" charset="2"/>
              </a:rPr>
              <a:t>h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sym typeface="Monotype Sorts" pitchFamily="2" charset="2"/>
              </a:rPr>
              <a:t>.</a:t>
            </a:r>
            <a:r>
              <a:rPr lang="zh-CN" altLang="en-US" sz="1200" b="1" dirty="0">
                <a:solidFill>
                  <a:srgbClr val="FF0000"/>
                </a:solidFill>
                <a:latin typeface="Arial" panose="020B0604020202020204" pitchFamily="34" charset="0"/>
                <a:sym typeface="Monotype Sorts" pitchFamily="2" charset="2"/>
              </a:rPr>
              <a:t>轮毂的主左视图剖面符号方向、间隔必须一致。</a:t>
            </a:r>
            <a:r>
              <a:rPr lang="zh-CN" altLang="en-US" sz="1200" dirty="0">
                <a:latin typeface="Arial" panose="020B0604020202020204" pitchFamily="34" charset="0"/>
                <a:sym typeface="Monotype Sorts" pitchFamily="2" charset="2"/>
              </a:rPr>
              <a:t> </a:t>
            </a:r>
            <a:endParaRPr lang="zh-CN" altLang="en-US" sz="1200" b="1" dirty="0">
              <a:solidFill>
                <a:srgbClr val="FF0000"/>
              </a:solidFill>
              <a:latin typeface="Times New Roman" panose="02020603050405020304" pitchFamily="18" charset="0"/>
              <a:sym typeface="Monotype Sorts" pitchFamily="2" charset="2"/>
            </a:endParaRPr>
          </a:p>
        </p:txBody>
      </p:sp>
      <p:grpSp>
        <p:nvGrpSpPr>
          <p:cNvPr id="27" name="Group 283"/>
          <p:cNvGrpSpPr/>
          <p:nvPr/>
        </p:nvGrpSpPr>
        <p:grpSpPr>
          <a:xfrm>
            <a:off x="1074738" y="1927225"/>
            <a:ext cx="1049337" cy="73025"/>
            <a:chOff x="677" y="833"/>
            <a:chExt cx="661" cy="46"/>
          </a:xfrm>
        </p:grpSpPr>
        <p:sp>
          <p:nvSpPr>
            <p:cNvPr id="76843" name="Line 284"/>
            <p:cNvSpPr/>
            <p:nvPr/>
          </p:nvSpPr>
          <p:spPr>
            <a:xfrm flipH="1">
              <a:off x="703" y="833"/>
              <a:ext cx="635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44" name="Line 285"/>
            <p:cNvSpPr/>
            <p:nvPr/>
          </p:nvSpPr>
          <p:spPr>
            <a:xfrm flipH="1">
              <a:off x="677" y="879"/>
              <a:ext cx="635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6841" name="Text Box 286"/>
          <p:cNvSpPr txBox="1"/>
          <p:nvPr/>
        </p:nvSpPr>
        <p:spPr>
          <a:xfrm>
            <a:off x="3376613" y="6420803"/>
            <a:ext cx="2519362" cy="39878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</a:rPr>
              <a:t>普通平键连接的画法</a:t>
            </a:r>
            <a:endParaRPr lang="zh-CN" altLang="en-US" sz="2000" b="1" dirty="0">
              <a:solidFill>
                <a:srgbClr val="66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3" name="Rectangle 33"/>
          <p:cNvSpPr>
            <a:spLocks noGrp="1" noChangeArrowheads="1"/>
          </p:cNvSpPr>
          <p:nvPr/>
        </p:nvSpPr>
        <p:spPr>
          <a:xfrm>
            <a:off x="847725" y="0"/>
            <a:ext cx="5976938" cy="611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+mj-ea"/>
                <a:cs typeface="+mj-cs"/>
              </a:rPr>
              <a:t>(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+mj-ea"/>
                <a:cs typeface="+mj-cs"/>
              </a:rPr>
              <a:t>一）键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+mj-ea"/>
                <a:cs typeface="+mj-cs"/>
              </a:rPr>
              <a:t> 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anose="02010509060101010101" pitchFamily="49" charset="-122"/>
              <a:ea typeface="+mj-ea"/>
              <a:cs typeface="+mj-cs"/>
            </a:endParaRPr>
          </a:p>
        </p:txBody>
      </p:sp>
      <p:grpSp>
        <p:nvGrpSpPr>
          <p:cNvPr id="343051" name="组合 343050"/>
          <p:cNvGrpSpPr/>
          <p:nvPr/>
        </p:nvGrpSpPr>
        <p:grpSpPr>
          <a:xfrm>
            <a:off x="333375" y="81216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6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6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16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2" dur="500"/>
                                        <p:tgtEl>
                                          <p:spTgt spid="1660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2000"/>
                                        <p:tgtEl>
                                          <p:spTgt spid="166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000"/>
                                        <p:tgtEl>
                                          <p:spTgt spid="166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2000"/>
                                        <p:tgtEl>
                                          <p:spTgt spid="166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8" dur="500"/>
                                        <p:tgtEl>
                                          <p:spTgt spid="1660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2000"/>
                                        <p:tgtEl>
                                          <p:spTgt spid="166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2000"/>
                                        <p:tgtEl>
                                          <p:spTgt spid="166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3" dur="500"/>
                                        <p:tgtEl>
                                          <p:spTgt spid="1660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166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2000"/>
                                        <p:tgtEl>
                                          <p:spTgt spid="166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2000"/>
                                        <p:tgtEl>
                                          <p:spTgt spid="166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2000"/>
                                        <p:tgtEl>
                                          <p:spTgt spid="166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2000"/>
                                        <p:tgtEl>
                                          <p:spTgt spid="166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2000"/>
                                        <p:tgtEl>
                                          <p:spTgt spid="16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3" dur="2000"/>
                                        <p:tgtEl>
                                          <p:spTgt spid="166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8" dur="2000"/>
                                        <p:tgtEl>
                                          <p:spTgt spid="166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053" grpId="0"/>
      <p:bldP spid="166054" grpId="0"/>
      <p:bldP spid="166055" grpId="0"/>
      <p:bldP spid="166060" grpId="0"/>
      <p:bldP spid="166108" grpId="0"/>
      <p:bldP spid="166109" grpId="0"/>
      <p:bldP spid="166138" grpId="0"/>
      <p:bldP spid="166169" grpId="0"/>
      <p:bldP spid="16617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8" name="Rectangle 6"/>
          <p:cNvSpPr/>
          <p:nvPr/>
        </p:nvSpPr>
        <p:spPr>
          <a:xfrm>
            <a:off x="2324100" y="39560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6529" name="Rectangle 33"/>
          <p:cNvSpPr>
            <a:spLocks noChangeArrowheads="1"/>
          </p:cNvSpPr>
          <p:nvPr/>
        </p:nvSpPr>
        <p:spPr bwMode="auto">
          <a:xfrm>
            <a:off x="1360488" y="5352415"/>
            <a:ext cx="5976938" cy="611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宋体" panose="02010600030101010101" pitchFamily="2" charset="-122"/>
                <a:cs typeface="+mn-cs"/>
              </a:rPr>
              <a:t>   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宋体" panose="02010600030101010101" pitchFamily="2" charset="-122"/>
                <a:cs typeface="+mn-cs"/>
              </a:rPr>
              <a:t>常用销的型式和标记</a:t>
            </a: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880" name="Rectangle 8"/>
          <p:cNvSpPr/>
          <p:nvPr/>
        </p:nvSpPr>
        <p:spPr>
          <a:xfrm>
            <a:off x="368300" y="1493838"/>
            <a:ext cx="4916488" cy="503237"/>
          </a:xfrm>
          <a:prstGeom prst="rect">
            <a:avLst/>
          </a:prstGeom>
          <a:noFill/>
          <a:ln w="9525">
            <a:noFill/>
          </a:ln>
        </p:spPr>
        <p:txBody>
          <a:bodyPr lIns="88900" tIns="38100" rIns="88900" bIns="38100" anchor="ctr"/>
          <a:lstStyle/>
          <a:p>
            <a:pPr eaLnBrk="0" hangingPunct="0">
              <a:buSzPct val="100000"/>
              <a:buFont typeface="Times New Roman" panose="02020603050405020304" pitchFamily="18" charset="0"/>
            </a:pPr>
            <a:r>
              <a:rPr lang="zh-CN" altLang="en-GB" sz="2400" b="1" dirty="0">
                <a:solidFill>
                  <a:srgbClr val="800000"/>
                </a:solidFill>
                <a:latin typeface="楷体_GB2312" pitchFamily="49" charset="-122"/>
                <a:ea typeface="楷体_GB2312" pitchFamily="49" charset="-122"/>
              </a:rPr>
              <a:t>（二）</a:t>
            </a:r>
            <a:r>
              <a:rPr lang="en-GB" altLang="zh-CN" sz="2400" b="1" dirty="0">
                <a:solidFill>
                  <a:srgbClr val="800000"/>
                </a:solidFill>
                <a:latin typeface="楷体_GB2312" pitchFamily="49" charset="-122"/>
                <a:ea typeface="楷体_GB2312" pitchFamily="49" charset="-122"/>
              </a:rPr>
              <a:t> 销的功用、种类及标记</a:t>
            </a:r>
            <a:endParaRPr lang="en-GB" altLang="zh-CN" sz="2400" b="1" dirty="0">
              <a:solidFill>
                <a:srgbClr val="8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9993" name="Rectangle 9"/>
          <p:cNvSpPr/>
          <p:nvPr/>
        </p:nvSpPr>
        <p:spPr>
          <a:xfrm>
            <a:off x="430213" y="1973263"/>
            <a:ext cx="2790825" cy="458787"/>
          </a:xfrm>
          <a:prstGeom prst="rect">
            <a:avLst/>
          </a:prstGeom>
          <a:noFill/>
          <a:ln w="9525">
            <a:noFill/>
          </a:ln>
        </p:spPr>
        <p:txBody>
          <a:bodyPr lIns="88900" tIns="38100" rIns="88900" bIns="38100" anchor="ctr"/>
          <a:lstStyle/>
          <a:p>
            <a:pPr algn="ctr" eaLnBrk="0" hangingPunct="0">
              <a:buSzPct val="100000"/>
              <a:buFont typeface="Times New Roman" panose="02020603050405020304" pitchFamily="18" charset="0"/>
            </a:pPr>
            <a:r>
              <a:rPr lang="en-GB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(1)、销的用途</a:t>
            </a:r>
            <a:endParaRPr lang="en-GB" altLang="zh-CN" sz="2400" b="1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9994" name="Rectangle 10"/>
          <p:cNvSpPr/>
          <p:nvPr/>
        </p:nvSpPr>
        <p:spPr>
          <a:xfrm>
            <a:off x="466725" y="2446338"/>
            <a:ext cx="8569325" cy="822325"/>
          </a:xfrm>
          <a:prstGeom prst="rect">
            <a:avLst/>
          </a:prstGeom>
          <a:noFill/>
          <a:ln w="9525">
            <a:noFill/>
          </a:ln>
        </p:spPr>
        <p:txBody>
          <a:bodyPr lIns="88900" tIns="38100" rIns="88900" bIns="38100" anchor="ctr"/>
          <a:lstStyle/>
          <a:p>
            <a:pPr eaLnBrk="0" hangingPunct="0">
              <a:buSzPct val="100000"/>
              <a:buFont typeface="Times New Roman" panose="02020603050405020304" pitchFamily="18" charset="0"/>
            </a:pPr>
            <a:r>
              <a:rPr lang="en-GB" altLang="zh-CN" sz="2400" b="1" dirty="0">
                <a:latin typeface="楷体_GB2312" pitchFamily="49" charset="-122"/>
                <a:ea typeface="楷体_GB2312" pitchFamily="49" charset="-122"/>
              </a:rPr>
              <a:t>    销主要用于零件之间的定位，也可用于零件之间的联接，但只能传递不大的扭矩。</a:t>
            </a:r>
            <a:endParaRPr lang="en-GB" altLang="zh-CN" sz="24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9995" name="Rectangle 11"/>
          <p:cNvSpPr/>
          <p:nvPr/>
        </p:nvSpPr>
        <p:spPr>
          <a:xfrm>
            <a:off x="336550" y="3754438"/>
            <a:ext cx="2320925" cy="457200"/>
          </a:xfrm>
          <a:prstGeom prst="rect">
            <a:avLst/>
          </a:prstGeom>
          <a:noFill/>
          <a:ln w="9525">
            <a:noFill/>
          </a:ln>
        </p:spPr>
        <p:txBody>
          <a:bodyPr lIns="88900" tIns="38100" rIns="88900" bIns="38100" anchor="ctr"/>
          <a:lstStyle/>
          <a:p>
            <a:pPr algn="ctr" eaLnBrk="0" hangingPunct="0">
              <a:buSzPct val="100000"/>
              <a:buFont typeface="Times New Roman" panose="02020603050405020304" pitchFamily="18" charset="0"/>
            </a:pPr>
            <a:r>
              <a:rPr lang="en-GB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(2)、销的分类</a:t>
            </a:r>
            <a:endParaRPr lang="en-GB" altLang="zh-CN" sz="2400" b="1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9996" name="Rectangle 12"/>
          <p:cNvSpPr/>
          <p:nvPr/>
        </p:nvSpPr>
        <p:spPr>
          <a:xfrm>
            <a:off x="2771775" y="3294063"/>
            <a:ext cx="1098550" cy="457200"/>
          </a:xfrm>
          <a:prstGeom prst="rect">
            <a:avLst/>
          </a:prstGeom>
          <a:noFill/>
          <a:ln w="9525">
            <a:noFill/>
          </a:ln>
        </p:spPr>
        <p:txBody>
          <a:bodyPr lIns="88900" tIns="38100" rIns="88900" bIns="38100" anchor="ctr"/>
          <a:lstStyle/>
          <a:p>
            <a:pPr algn="ctr" eaLnBrk="0" hangingPunct="0">
              <a:buSzPct val="100000"/>
              <a:buFont typeface="Times New Roman" panose="02020603050405020304" pitchFamily="18" charset="0"/>
            </a:pPr>
            <a:r>
              <a:rPr lang="en-GB" altLang="zh-CN" sz="2400" b="1" dirty="0">
                <a:latin typeface="楷体_GB2312" pitchFamily="49" charset="-122"/>
                <a:ea typeface="楷体_GB2312" pitchFamily="49" charset="-122"/>
              </a:rPr>
              <a:t>圆柱销</a:t>
            </a:r>
            <a:endParaRPr lang="en-GB" altLang="zh-CN" sz="24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9997" name="Rectangle 13"/>
          <p:cNvSpPr/>
          <p:nvPr/>
        </p:nvSpPr>
        <p:spPr>
          <a:xfrm>
            <a:off x="2767013" y="3975100"/>
            <a:ext cx="1098550" cy="457200"/>
          </a:xfrm>
          <a:prstGeom prst="rect">
            <a:avLst/>
          </a:prstGeom>
          <a:noFill/>
          <a:ln w="9525">
            <a:noFill/>
          </a:ln>
        </p:spPr>
        <p:txBody>
          <a:bodyPr lIns="88900" tIns="38100" rIns="88900" bIns="38100" anchor="ctr"/>
          <a:lstStyle/>
          <a:p>
            <a:pPr algn="ctr" eaLnBrk="0" hangingPunct="0">
              <a:buSzPct val="100000"/>
              <a:buFont typeface="Times New Roman" panose="02020603050405020304" pitchFamily="18" charset="0"/>
            </a:pPr>
            <a:r>
              <a:rPr lang="en-GB" altLang="zh-CN" sz="2400" b="1" dirty="0">
                <a:latin typeface="楷体_GB2312" pitchFamily="49" charset="-122"/>
                <a:ea typeface="楷体_GB2312" pitchFamily="49" charset="-122"/>
              </a:rPr>
              <a:t>圆锥销</a:t>
            </a:r>
            <a:endParaRPr lang="en-GB" altLang="zh-CN" sz="2400" b="1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4527550" y="3917950"/>
            <a:ext cx="2335213" cy="503238"/>
            <a:chOff x="2852" y="2190"/>
            <a:chExt cx="1471" cy="317"/>
          </a:xfrm>
        </p:grpSpPr>
        <p:grpSp>
          <p:nvGrpSpPr>
            <p:cNvPr id="79921" name="Group 16"/>
            <p:cNvGrpSpPr/>
            <p:nvPr/>
          </p:nvGrpSpPr>
          <p:grpSpPr>
            <a:xfrm>
              <a:off x="2852" y="2190"/>
              <a:ext cx="1471" cy="307"/>
              <a:chOff x="2852" y="2190"/>
              <a:chExt cx="1471" cy="307"/>
            </a:xfrm>
          </p:grpSpPr>
          <p:sp>
            <p:nvSpPr>
              <p:cNvPr id="79924" name="Freeform 17"/>
              <p:cNvSpPr/>
              <p:nvPr/>
            </p:nvSpPr>
            <p:spPr>
              <a:xfrm>
                <a:off x="2866" y="2195"/>
                <a:ext cx="128" cy="302"/>
              </a:xfrm>
              <a:custGeom>
                <a:avLst/>
                <a:gdLst>
                  <a:gd name="txL" fmla="*/ 0 w 96"/>
                  <a:gd name="txT" fmla="*/ 0 h 302"/>
                  <a:gd name="txR" fmla="*/ 96 w 96"/>
                  <a:gd name="txB" fmla="*/ 302 h 302"/>
                </a:gdLst>
                <a:ahLst/>
                <a:cxnLst>
                  <a:cxn ang="0">
                    <a:pos x="171" y="0"/>
                  </a:cxn>
                  <a:cxn ang="0">
                    <a:pos x="171" y="302"/>
                  </a:cxn>
                  <a:cxn ang="0">
                    <a:pos x="76" y="269"/>
                  </a:cxn>
                  <a:cxn ang="0">
                    <a:pos x="52" y="216"/>
                  </a:cxn>
                  <a:cxn ang="0">
                    <a:pos x="33" y="168"/>
                  </a:cxn>
                  <a:cxn ang="0">
                    <a:pos x="33" y="101"/>
                  </a:cxn>
                  <a:cxn ang="0">
                    <a:pos x="95" y="29"/>
                  </a:cxn>
                  <a:cxn ang="0">
                    <a:pos x="171" y="0"/>
                  </a:cxn>
                </a:cxnLst>
                <a:rect l="txL" t="txT" r="txR" b="txB"/>
                <a:pathLst>
                  <a:path w="96" h="302">
                    <a:moveTo>
                      <a:pt x="96" y="0"/>
                    </a:moveTo>
                    <a:cubicBezTo>
                      <a:pt x="96" y="0"/>
                      <a:pt x="96" y="302"/>
                      <a:pt x="96" y="302"/>
                    </a:cubicBezTo>
                    <a:cubicBezTo>
                      <a:pt x="96" y="302"/>
                      <a:pt x="43" y="269"/>
                      <a:pt x="43" y="269"/>
                    </a:cubicBezTo>
                    <a:cubicBezTo>
                      <a:pt x="43" y="269"/>
                      <a:pt x="29" y="216"/>
                      <a:pt x="29" y="216"/>
                    </a:cubicBezTo>
                    <a:cubicBezTo>
                      <a:pt x="0" y="145"/>
                      <a:pt x="19" y="186"/>
                      <a:pt x="19" y="168"/>
                    </a:cubicBezTo>
                    <a:cubicBezTo>
                      <a:pt x="19" y="168"/>
                      <a:pt x="19" y="101"/>
                      <a:pt x="19" y="101"/>
                    </a:cubicBezTo>
                    <a:cubicBezTo>
                      <a:pt x="19" y="101"/>
                      <a:pt x="53" y="29"/>
                      <a:pt x="53" y="29"/>
                    </a:cubicBezTo>
                    <a:cubicBezTo>
                      <a:pt x="53" y="29"/>
                      <a:pt x="96" y="0"/>
                      <a:pt x="96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9925" name="Arc 18"/>
              <p:cNvSpPr/>
              <p:nvPr/>
            </p:nvSpPr>
            <p:spPr>
              <a:xfrm rot="-5400000">
                <a:off x="3976" y="2200"/>
                <a:ext cx="217" cy="301"/>
              </a:xfrm>
              <a:custGeom>
                <a:avLst/>
                <a:gdLst>
                  <a:gd name="txL" fmla="*/ 0 w 26559"/>
                  <a:gd name="txT" fmla="*/ 0 h 21600"/>
                  <a:gd name="txR" fmla="*/ 26559 w 26559"/>
                  <a:gd name="txB" fmla="*/ 21600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6559" h="21600" fill="none">
                    <a:moveTo>
                      <a:pt x="26575" y="17655"/>
                    </a:moveTo>
                    <a:cubicBezTo>
                      <a:pt x="22796" y="20567"/>
                      <a:pt x="18160" y="22146"/>
                      <a:pt x="13389" y="22147"/>
                    </a:cubicBezTo>
                    <a:cubicBezTo>
                      <a:pt x="8536" y="22147"/>
                      <a:pt x="3825" y="20512"/>
                      <a:pt x="14" y="17508"/>
                    </a:cubicBezTo>
                  </a:path>
                  <a:path w="26559" h="21600" stroke="0">
                    <a:moveTo>
                      <a:pt x="26575" y="17655"/>
                    </a:moveTo>
                    <a:cubicBezTo>
                      <a:pt x="22796" y="20567"/>
                      <a:pt x="18160" y="22146"/>
                      <a:pt x="13389" y="22147"/>
                    </a:cubicBezTo>
                    <a:cubicBezTo>
                      <a:pt x="8536" y="22147"/>
                      <a:pt x="3825" y="20512"/>
                      <a:pt x="14" y="17508"/>
                    </a:cubicBezTo>
                    <a:lnTo>
                      <a:pt x="13389" y="547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9926" name="Freeform 19"/>
              <p:cNvSpPr/>
              <p:nvPr/>
            </p:nvSpPr>
            <p:spPr>
              <a:xfrm>
                <a:off x="2994" y="2190"/>
                <a:ext cx="1172" cy="307"/>
              </a:xfrm>
              <a:custGeom>
                <a:avLst/>
                <a:gdLst>
                  <a:gd name="txL" fmla="*/ 0 w 878"/>
                  <a:gd name="txT" fmla="*/ 0 h 307"/>
                  <a:gd name="txR" fmla="*/ 878 w 878"/>
                  <a:gd name="txB" fmla="*/ 307 h 307"/>
                </a:gdLst>
                <a:ahLst/>
                <a:cxnLst>
                  <a:cxn ang="0">
                    <a:pos x="0" y="0"/>
                  </a:cxn>
                  <a:cxn ang="0">
                    <a:pos x="0" y="307"/>
                  </a:cxn>
                  <a:cxn ang="0">
                    <a:pos x="1555" y="259"/>
                  </a:cxn>
                  <a:cxn ang="0">
                    <a:pos x="1564" y="52"/>
                  </a:cxn>
                  <a:cxn ang="0">
                    <a:pos x="0" y="0"/>
                  </a:cxn>
                </a:cxnLst>
                <a:rect l="txL" t="txT" r="txR" b="txB"/>
                <a:pathLst>
                  <a:path w="878" h="307">
                    <a:moveTo>
                      <a:pt x="0" y="0"/>
                    </a:moveTo>
                    <a:cubicBezTo>
                      <a:pt x="0" y="0"/>
                      <a:pt x="0" y="307"/>
                      <a:pt x="0" y="307"/>
                    </a:cubicBezTo>
                    <a:cubicBezTo>
                      <a:pt x="0" y="307"/>
                      <a:pt x="873" y="259"/>
                      <a:pt x="873" y="259"/>
                    </a:cubicBezTo>
                    <a:cubicBezTo>
                      <a:pt x="873" y="259"/>
                      <a:pt x="878" y="52"/>
                      <a:pt x="878" y="52"/>
                    </a:cubicBezTo>
                    <a:cubicBezTo>
                      <a:pt x="878" y="52"/>
                      <a:pt x="0" y="0"/>
                      <a:pt x="0" y="0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pic>
            <p:nvPicPr>
              <p:cNvPr id="79927" name="Picture 20" descr="315062877132"/>
              <p:cNvPicPr>
                <a:picLocks noChangeAspect="1"/>
              </p:cNvPicPr>
              <p:nvPr/>
            </p:nvPicPr>
            <p:blipFill>
              <a:blip r:embed="rId1"/>
              <a:srcRect r="41089" b="-48000"/>
              <a:stretch>
                <a:fillRect/>
              </a:stretch>
            </p:blipFill>
            <p:spPr>
              <a:xfrm>
                <a:off x="2852" y="2336"/>
                <a:ext cx="1471" cy="37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79922" name="Freeform 21"/>
            <p:cNvSpPr/>
            <p:nvPr/>
          </p:nvSpPr>
          <p:spPr>
            <a:xfrm>
              <a:off x="4166" y="2238"/>
              <a:ext cx="64" cy="216"/>
            </a:xfrm>
            <a:custGeom>
              <a:avLst/>
              <a:gdLst>
                <a:gd name="txL" fmla="*/ 0 w 48"/>
                <a:gd name="txT" fmla="*/ 0 h 216"/>
                <a:gd name="txR" fmla="*/ 48 w 48"/>
                <a:gd name="txB" fmla="*/ 216 h 216"/>
              </a:gdLst>
              <a:ahLst/>
              <a:cxnLst>
                <a:cxn ang="0">
                  <a:pos x="0" y="216"/>
                </a:cxn>
                <a:cxn ang="0">
                  <a:pos x="0" y="0"/>
                </a:cxn>
                <a:cxn ang="0">
                  <a:pos x="43" y="24"/>
                </a:cxn>
                <a:cxn ang="0">
                  <a:pos x="79" y="58"/>
                </a:cxn>
                <a:cxn ang="0">
                  <a:pos x="85" y="96"/>
                </a:cxn>
                <a:cxn ang="0">
                  <a:pos x="85" y="144"/>
                </a:cxn>
                <a:cxn ang="0">
                  <a:pos x="60" y="182"/>
                </a:cxn>
                <a:cxn ang="0">
                  <a:pos x="0" y="216"/>
                </a:cxn>
              </a:cxnLst>
              <a:rect l="txL" t="txT" r="txR" b="txB"/>
              <a:pathLst>
                <a:path w="48" h="216">
                  <a:moveTo>
                    <a:pt x="0" y="216"/>
                  </a:moveTo>
                  <a:cubicBezTo>
                    <a:pt x="0" y="216"/>
                    <a:pt x="0" y="0"/>
                    <a:pt x="0" y="0"/>
                  </a:cubicBezTo>
                  <a:cubicBezTo>
                    <a:pt x="0" y="0"/>
                    <a:pt x="24" y="24"/>
                    <a:pt x="24" y="24"/>
                  </a:cubicBezTo>
                  <a:cubicBezTo>
                    <a:pt x="24" y="24"/>
                    <a:pt x="44" y="58"/>
                    <a:pt x="44" y="58"/>
                  </a:cubicBezTo>
                  <a:cubicBezTo>
                    <a:pt x="44" y="58"/>
                    <a:pt x="48" y="96"/>
                    <a:pt x="48" y="96"/>
                  </a:cubicBezTo>
                  <a:cubicBezTo>
                    <a:pt x="48" y="96"/>
                    <a:pt x="48" y="144"/>
                    <a:pt x="48" y="144"/>
                  </a:cubicBezTo>
                  <a:cubicBezTo>
                    <a:pt x="48" y="144"/>
                    <a:pt x="34" y="182"/>
                    <a:pt x="34" y="182"/>
                  </a:cubicBezTo>
                  <a:cubicBezTo>
                    <a:pt x="34" y="182"/>
                    <a:pt x="0" y="216"/>
                    <a:pt x="0" y="216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9923" name="Arc 22"/>
            <p:cNvSpPr/>
            <p:nvPr/>
          </p:nvSpPr>
          <p:spPr>
            <a:xfrm rot="10800000">
              <a:off x="2896" y="2192"/>
              <a:ext cx="206" cy="315"/>
            </a:xfrm>
            <a:custGeom>
              <a:avLst/>
              <a:gdLst>
                <a:gd name="txL" fmla="*/ 0 w 21600"/>
                <a:gd name="txT" fmla="*/ 0 h 36943"/>
                <a:gd name="txR" fmla="*/ 21600 w 21600"/>
                <a:gd name="txB" fmla="*/ 36943 h 3694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36943" fill="none">
                  <a:moveTo>
                    <a:pt x="11720" y="938"/>
                  </a:moveTo>
                  <a:cubicBezTo>
                    <a:pt x="17907" y="4911"/>
                    <a:pt x="21649" y="11759"/>
                    <a:pt x="21649" y="19113"/>
                  </a:cubicBezTo>
                  <a:cubicBezTo>
                    <a:pt x="21649" y="26875"/>
                    <a:pt x="17484" y="34039"/>
                    <a:pt x="10740" y="37881"/>
                  </a:cubicBezTo>
                </a:path>
                <a:path w="21600" h="36943" stroke="0">
                  <a:moveTo>
                    <a:pt x="11720" y="938"/>
                  </a:moveTo>
                  <a:cubicBezTo>
                    <a:pt x="17907" y="4911"/>
                    <a:pt x="21649" y="11759"/>
                    <a:pt x="21649" y="19113"/>
                  </a:cubicBezTo>
                  <a:cubicBezTo>
                    <a:pt x="21649" y="26875"/>
                    <a:pt x="17484" y="34039"/>
                    <a:pt x="10740" y="37881"/>
                  </a:cubicBezTo>
                  <a:lnTo>
                    <a:pt x="49" y="19113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70007" name="AutoShape 23"/>
          <p:cNvSpPr/>
          <p:nvPr/>
        </p:nvSpPr>
        <p:spPr>
          <a:xfrm>
            <a:off x="2627313" y="3521075"/>
            <a:ext cx="161925" cy="1357313"/>
          </a:xfrm>
          <a:prstGeom prst="leftBrace">
            <a:avLst>
              <a:gd name="adj1" fmla="val 69852"/>
              <a:gd name="adj2" fmla="val 50000"/>
            </a:avLst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0008" name="Rectangle 24"/>
          <p:cNvSpPr/>
          <p:nvPr/>
        </p:nvSpPr>
        <p:spPr>
          <a:xfrm>
            <a:off x="2771775" y="4637088"/>
            <a:ext cx="1250950" cy="457200"/>
          </a:xfrm>
          <a:prstGeom prst="rect">
            <a:avLst/>
          </a:prstGeom>
          <a:noFill/>
          <a:ln w="9525">
            <a:noFill/>
          </a:ln>
        </p:spPr>
        <p:txBody>
          <a:bodyPr lIns="88900" tIns="38100" rIns="88900" bIns="38100" anchor="ctr"/>
          <a:lstStyle/>
          <a:p>
            <a:pPr eaLnBrk="0" hangingPunct="0">
              <a:buSzPct val="100000"/>
              <a:buFont typeface="Times New Roman" panose="02020603050405020304" pitchFamily="18" charset="0"/>
            </a:pPr>
            <a:r>
              <a:rPr lang="en-GB" altLang="zh-CN" sz="2400" b="1" dirty="0">
                <a:latin typeface="楷体_GB2312" pitchFamily="49" charset="-122"/>
                <a:ea typeface="楷体_GB2312" pitchFamily="49" charset="-122"/>
              </a:rPr>
              <a:t>开口销</a:t>
            </a:r>
            <a:r>
              <a:rPr lang="en-GB" altLang="zh-CN" sz="2400" dirty="0">
                <a:latin typeface="楷体_GB2312" pitchFamily="49" charset="-122"/>
                <a:ea typeface="楷体_GB2312" pitchFamily="49" charset="-122"/>
              </a:rPr>
              <a:t> </a:t>
            </a:r>
            <a:endParaRPr lang="en-GB" altLang="zh-CN" sz="2400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4" name="Group 25"/>
          <p:cNvGrpSpPr/>
          <p:nvPr/>
        </p:nvGrpSpPr>
        <p:grpSpPr>
          <a:xfrm>
            <a:off x="4427538" y="4494213"/>
            <a:ext cx="2397125" cy="671512"/>
            <a:chOff x="2789" y="2553"/>
            <a:chExt cx="1510" cy="423"/>
          </a:xfrm>
        </p:grpSpPr>
        <p:sp>
          <p:nvSpPr>
            <p:cNvPr id="79895" name="Rectangle 26"/>
            <p:cNvSpPr/>
            <p:nvPr/>
          </p:nvSpPr>
          <p:spPr>
            <a:xfrm>
              <a:off x="2789" y="2553"/>
              <a:ext cx="1510" cy="42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9896" name="Line 27"/>
            <p:cNvSpPr/>
            <p:nvPr/>
          </p:nvSpPr>
          <p:spPr>
            <a:xfrm flipH="1">
              <a:off x="3130" y="2865"/>
              <a:ext cx="1162" cy="1"/>
            </a:xfrm>
            <a:prstGeom prst="line">
              <a:avLst/>
            </a:prstGeom>
            <a:ln w="26988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9897" name="Line 28"/>
            <p:cNvSpPr/>
            <p:nvPr/>
          </p:nvSpPr>
          <p:spPr>
            <a:xfrm flipV="1">
              <a:off x="4292" y="2777"/>
              <a:ext cx="1" cy="88"/>
            </a:xfrm>
            <a:prstGeom prst="line">
              <a:avLst/>
            </a:prstGeom>
            <a:ln w="26988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9898" name="Line 29"/>
            <p:cNvSpPr/>
            <p:nvPr/>
          </p:nvSpPr>
          <p:spPr>
            <a:xfrm flipH="1">
              <a:off x="3120" y="2777"/>
              <a:ext cx="1172" cy="1"/>
            </a:xfrm>
            <a:prstGeom prst="line">
              <a:avLst/>
            </a:prstGeom>
            <a:ln w="26988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9899" name="Line 30"/>
            <p:cNvSpPr/>
            <p:nvPr/>
          </p:nvSpPr>
          <p:spPr>
            <a:xfrm flipV="1">
              <a:off x="4097" y="2675"/>
              <a:ext cx="1" cy="102"/>
            </a:xfrm>
            <a:prstGeom prst="line">
              <a:avLst/>
            </a:prstGeom>
            <a:ln w="26988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9900" name="Line 31"/>
            <p:cNvSpPr/>
            <p:nvPr/>
          </p:nvSpPr>
          <p:spPr>
            <a:xfrm flipH="1">
              <a:off x="3124" y="2675"/>
              <a:ext cx="973" cy="1"/>
            </a:xfrm>
            <a:prstGeom prst="line">
              <a:avLst/>
            </a:prstGeom>
            <a:ln w="26988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9901" name="Freeform 32"/>
            <p:cNvSpPr/>
            <p:nvPr/>
          </p:nvSpPr>
          <p:spPr>
            <a:xfrm>
              <a:off x="2842" y="2631"/>
              <a:ext cx="227" cy="283"/>
            </a:xfrm>
            <a:custGeom>
              <a:avLst/>
              <a:gdLst>
                <a:gd name="txL" fmla="*/ 0 w 1357"/>
                <a:gd name="txT" fmla="*/ 0 h 1699"/>
                <a:gd name="txR" fmla="*/ 1357 w 1357"/>
                <a:gd name="txB" fmla="*/ 1699 h 1699"/>
              </a:gdLst>
              <a:ahLst/>
              <a:cxnLst>
                <a:cxn ang="0">
                  <a:pos x="37" y="4"/>
                </a:cxn>
                <a:cxn ang="0">
                  <a:pos x="36" y="3"/>
                </a:cxn>
                <a:cxn ang="0">
                  <a:pos x="34" y="2"/>
                </a:cxn>
                <a:cxn ang="0">
                  <a:pos x="33" y="2"/>
                </a:cxn>
                <a:cxn ang="0">
                  <a:pos x="31" y="1"/>
                </a:cxn>
                <a:cxn ang="0">
                  <a:pos x="30" y="1"/>
                </a:cxn>
                <a:cxn ang="0">
                  <a:pos x="28" y="0"/>
                </a:cxn>
                <a:cxn ang="0">
                  <a:pos x="26" y="0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0"/>
                </a:cxn>
                <a:cxn ang="0">
                  <a:pos x="18" y="1"/>
                </a:cxn>
                <a:cxn ang="0">
                  <a:pos x="17" y="1"/>
                </a:cxn>
                <a:cxn ang="0">
                  <a:pos x="15" y="2"/>
                </a:cxn>
                <a:cxn ang="0">
                  <a:pos x="13" y="2"/>
                </a:cxn>
                <a:cxn ang="0">
                  <a:pos x="12" y="3"/>
                </a:cxn>
                <a:cxn ang="0">
                  <a:pos x="11" y="4"/>
                </a:cxn>
                <a:cxn ang="0">
                  <a:pos x="9" y="5"/>
                </a:cxn>
                <a:cxn ang="0">
                  <a:pos x="8" y="6"/>
                </a:cxn>
                <a:cxn ang="0">
                  <a:pos x="7" y="7"/>
                </a:cxn>
                <a:cxn ang="0">
                  <a:pos x="6" y="8"/>
                </a:cxn>
                <a:cxn ang="0">
                  <a:pos x="5" y="10"/>
                </a:cxn>
                <a:cxn ang="0">
                  <a:pos x="4" y="11"/>
                </a:cxn>
                <a:cxn ang="0">
                  <a:pos x="3" y="13"/>
                </a:cxn>
                <a:cxn ang="0">
                  <a:pos x="2" y="14"/>
                </a:cxn>
                <a:cxn ang="0">
                  <a:pos x="1" y="16"/>
                </a:cxn>
                <a:cxn ang="0">
                  <a:pos x="1" y="17"/>
                </a:cxn>
                <a:cxn ang="0">
                  <a:pos x="1" y="19"/>
                </a:cxn>
                <a:cxn ang="0">
                  <a:pos x="0" y="21"/>
                </a:cxn>
                <a:cxn ang="0">
                  <a:pos x="0" y="22"/>
                </a:cxn>
                <a:cxn ang="0">
                  <a:pos x="0" y="24"/>
                </a:cxn>
                <a:cxn ang="0">
                  <a:pos x="0" y="26"/>
                </a:cxn>
                <a:cxn ang="0">
                  <a:pos x="0" y="27"/>
                </a:cxn>
                <a:cxn ang="0">
                  <a:pos x="1" y="29"/>
                </a:cxn>
                <a:cxn ang="0">
                  <a:pos x="1" y="30"/>
                </a:cxn>
                <a:cxn ang="0">
                  <a:pos x="2" y="32"/>
                </a:cxn>
                <a:cxn ang="0">
                  <a:pos x="2" y="34"/>
                </a:cxn>
                <a:cxn ang="0">
                  <a:pos x="3" y="35"/>
                </a:cxn>
                <a:cxn ang="0">
                  <a:pos x="4" y="37"/>
                </a:cxn>
                <a:cxn ang="0">
                  <a:pos x="5" y="38"/>
                </a:cxn>
                <a:cxn ang="0">
                  <a:pos x="6" y="39"/>
                </a:cxn>
                <a:cxn ang="0">
                  <a:pos x="7" y="40"/>
                </a:cxn>
                <a:cxn ang="0">
                  <a:pos x="8" y="41"/>
                </a:cxn>
                <a:cxn ang="0">
                  <a:pos x="10" y="43"/>
                </a:cxn>
                <a:cxn ang="0">
                  <a:pos x="11" y="43"/>
                </a:cxn>
                <a:cxn ang="0">
                  <a:pos x="13" y="44"/>
                </a:cxn>
                <a:cxn ang="0">
                  <a:pos x="14" y="45"/>
                </a:cxn>
                <a:cxn ang="0">
                  <a:pos x="16" y="46"/>
                </a:cxn>
                <a:cxn ang="0">
                  <a:pos x="17" y="46"/>
                </a:cxn>
                <a:cxn ang="0">
                  <a:pos x="19" y="47"/>
                </a:cxn>
                <a:cxn ang="0">
                  <a:pos x="20" y="47"/>
                </a:cxn>
                <a:cxn ang="0">
                  <a:pos x="22" y="47"/>
                </a:cxn>
                <a:cxn ang="0">
                  <a:pos x="24" y="47"/>
                </a:cxn>
                <a:cxn ang="0">
                  <a:pos x="26" y="47"/>
                </a:cxn>
                <a:cxn ang="0">
                  <a:pos x="27" y="47"/>
                </a:cxn>
                <a:cxn ang="0">
                  <a:pos x="29" y="47"/>
                </a:cxn>
                <a:cxn ang="0">
                  <a:pos x="30" y="46"/>
                </a:cxn>
                <a:cxn ang="0">
                  <a:pos x="32" y="46"/>
                </a:cxn>
                <a:cxn ang="0">
                  <a:pos x="34" y="45"/>
                </a:cxn>
                <a:cxn ang="0">
                  <a:pos x="35" y="44"/>
                </a:cxn>
                <a:cxn ang="0">
                  <a:pos x="37" y="43"/>
                </a:cxn>
                <a:cxn ang="0">
                  <a:pos x="38" y="42"/>
                </a:cxn>
              </a:cxnLst>
              <a:rect l="txL" t="txT" r="txR" b="txB"/>
              <a:pathLst>
                <a:path w="1357" h="1699">
                  <a:moveTo>
                    <a:pt x="1336" y="155"/>
                  </a:moveTo>
                  <a:cubicBezTo>
                    <a:pt x="1336" y="155"/>
                    <a:pt x="1285" y="122"/>
                    <a:pt x="1285" y="122"/>
                  </a:cubicBezTo>
                  <a:cubicBezTo>
                    <a:pt x="1285" y="122"/>
                    <a:pt x="1233" y="92"/>
                    <a:pt x="1233" y="92"/>
                  </a:cubicBezTo>
                  <a:cubicBezTo>
                    <a:pt x="1233" y="92"/>
                    <a:pt x="1178" y="67"/>
                    <a:pt x="1178" y="67"/>
                  </a:cubicBezTo>
                  <a:cubicBezTo>
                    <a:pt x="1178" y="67"/>
                    <a:pt x="1122" y="46"/>
                    <a:pt x="1122" y="46"/>
                  </a:cubicBezTo>
                  <a:cubicBezTo>
                    <a:pt x="1122" y="46"/>
                    <a:pt x="1064" y="28"/>
                    <a:pt x="1064" y="28"/>
                  </a:cubicBezTo>
                  <a:cubicBezTo>
                    <a:pt x="1064" y="28"/>
                    <a:pt x="1006" y="15"/>
                    <a:pt x="1006" y="15"/>
                  </a:cubicBezTo>
                  <a:cubicBezTo>
                    <a:pt x="1006" y="15"/>
                    <a:pt x="946" y="5"/>
                    <a:pt x="946" y="5"/>
                  </a:cubicBezTo>
                  <a:cubicBezTo>
                    <a:pt x="946" y="5"/>
                    <a:pt x="886" y="1"/>
                    <a:pt x="886" y="1"/>
                  </a:cubicBezTo>
                  <a:cubicBezTo>
                    <a:pt x="886" y="1"/>
                    <a:pt x="827" y="0"/>
                    <a:pt x="827" y="0"/>
                  </a:cubicBezTo>
                  <a:cubicBezTo>
                    <a:pt x="827" y="0"/>
                    <a:pt x="766" y="4"/>
                    <a:pt x="766" y="4"/>
                  </a:cubicBezTo>
                  <a:cubicBezTo>
                    <a:pt x="766" y="4"/>
                    <a:pt x="706" y="12"/>
                    <a:pt x="706" y="12"/>
                  </a:cubicBezTo>
                  <a:cubicBezTo>
                    <a:pt x="706" y="12"/>
                    <a:pt x="648" y="24"/>
                    <a:pt x="648" y="24"/>
                  </a:cubicBezTo>
                  <a:cubicBezTo>
                    <a:pt x="648" y="24"/>
                    <a:pt x="590" y="40"/>
                    <a:pt x="590" y="40"/>
                  </a:cubicBezTo>
                  <a:cubicBezTo>
                    <a:pt x="590" y="40"/>
                    <a:pt x="534" y="61"/>
                    <a:pt x="534" y="61"/>
                  </a:cubicBezTo>
                  <a:cubicBezTo>
                    <a:pt x="534" y="61"/>
                    <a:pt x="478" y="86"/>
                    <a:pt x="478" y="86"/>
                  </a:cubicBezTo>
                  <a:cubicBezTo>
                    <a:pt x="478" y="86"/>
                    <a:pt x="426" y="113"/>
                    <a:pt x="426" y="113"/>
                  </a:cubicBezTo>
                  <a:cubicBezTo>
                    <a:pt x="426" y="113"/>
                    <a:pt x="374" y="145"/>
                    <a:pt x="374" y="145"/>
                  </a:cubicBezTo>
                  <a:cubicBezTo>
                    <a:pt x="374" y="145"/>
                    <a:pt x="326" y="180"/>
                    <a:pt x="326" y="180"/>
                  </a:cubicBezTo>
                  <a:cubicBezTo>
                    <a:pt x="326" y="180"/>
                    <a:pt x="280" y="219"/>
                    <a:pt x="280" y="219"/>
                  </a:cubicBezTo>
                  <a:cubicBezTo>
                    <a:pt x="280" y="219"/>
                    <a:pt x="236" y="262"/>
                    <a:pt x="236" y="262"/>
                  </a:cubicBezTo>
                  <a:cubicBezTo>
                    <a:pt x="236" y="262"/>
                    <a:pt x="196" y="306"/>
                    <a:pt x="196" y="306"/>
                  </a:cubicBezTo>
                  <a:cubicBezTo>
                    <a:pt x="196" y="306"/>
                    <a:pt x="159" y="354"/>
                    <a:pt x="159" y="354"/>
                  </a:cubicBezTo>
                  <a:cubicBezTo>
                    <a:pt x="159" y="354"/>
                    <a:pt x="126" y="404"/>
                    <a:pt x="126" y="404"/>
                  </a:cubicBezTo>
                  <a:cubicBezTo>
                    <a:pt x="126" y="404"/>
                    <a:pt x="97" y="456"/>
                    <a:pt x="97" y="456"/>
                  </a:cubicBezTo>
                  <a:cubicBezTo>
                    <a:pt x="97" y="456"/>
                    <a:pt x="71" y="511"/>
                    <a:pt x="71" y="511"/>
                  </a:cubicBezTo>
                  <a:cubicBezTo>
                    <a:pt x="71" y="511"/>
                    <a:pt x="48" y="567"/>
                    <a:pt x="48" y="567"/>
                  </a:cubicBezTo>
                  <a:cubicBezTo>
                    <a:pt x="48" y="567"/>
                    <a:pt x="31" y="624"/>
                    <a:pt x="31" y="624"/>
                  </a:cubicBezTo>
                  <a:cubicBezTo>
                    <a:pt x="31" y="624"/>
                    <a:pt x="16" y="683"/>
                    <a:pt x="16" y="683"/>
                  </a:cubicBezTo>
                  <a:cubicBezTo>
                    <a:pt x="16" y="683"/>
                    <a:pt x="7" y="742"/>
                    <a:pt x="7" y="742"/>
                  </a:cubicBezTo>
                  <a:cubicBezTo>
                    <a:pt x="7" y="742"/>
                    <a:pt x="2" y="802"/>
                    <a:pt x="2" y="802"/>
                  </a:cubicBezTo>
                  <a:cubicBezTo>
                    <a:pt x="2" y="802"/>
                    <a:pt x="0" y="863"/>
                    <a:pt x="0" y="863"/>
                  </a:cubicBezTo>
                  <a:cubicBezTo>
                    <a:pt x="0" y="863"/>
                    <a:pt x="3" y="922"/>
                    <a:pt x="3" y="922"/>
                  </a:cubicBezTo>
                  <a:cubicBezTo>
                    <a:pt x="3" y="922"/>
                    <a:pt x="10" y="983"/>
                    <a:pt x="10" y="983"/>
                  </a:cubicBezTo>
                  <a:cubicBezTo>
                    <a:pt x="10" y="983"/>
                    <a:pt x="22" y="1042"/>
                    <a:pt x="22" y="1042"/>
                  </a:cubicBezTo>
                  <a:cubicBezTo>
                    <a:pt x="22" y="1042"/>
                    <a:pt x="38" y="1099"/>
                    <a:pt x="38" y="1099"/>
                  </a:cubicBezTo>
                  <a:cubicBezTo>
                    <a:pt x="38" y="1099"/>
                    <a:pt x="57" y="1157"/>
                    <a:pt x="57" y="1157"/>
                  </a:cubicBezTo>
                  <a:cubicBezTo>
                    <a:pt x="57" y="1157"/>
                    <a:pt x="81" y="1213"/>
                    <a:pt x="81" y="1213"/>
                  </a:cubicBezTo>
                  <a:cubicBezTo>
                    <a:pt x="81" y="1213"/>
                    <a:pt x="109" y="1266"/>
                    <a:pt x="109" y="1266"/>
                  </a:cubicBezTo>
                  <a:cubicBezTo>
                    <a:pt x="109" y="1266"/>
                    <a:pt x="140" y="1318"/>
                    <a:pt x="140" y="1318"/>
                  </a:cubicBezTo>
                  <a:cubicBezTo>
                    <a:pt x="140" y="1318"/>
                    <a:pt x="175" y="1366"/>
                    <a:pt x="175" y="1366"/>
                  </a:cubicBezTo>
                  <a:cubicBezTo>
                    <a:pt x="175" y="1366"/>
                    <a:pt x="214" y="1412"/>
                    <a:pt x="214" y="1412"/>
                  </a:cubicBezTo>
                  <a:cubicBezTo>
                    <a:pt x="214" y="1412"/>
                    <a:pt x="255" y="1457"/>
                    <a:pt x="255" y="1457"/>
                  </a:cubicBezTo>
                  <a:cubicBezTo>
                    <a:pt x="255" y="1457"/>
                    <a:pt x="299" y="1497"/>
                    <a:pt x="299" y="1497"/>
                  </a:cubicBezTo>
                  <a:cubicBezTo>
                    <a:pt x="299" y="1497"/>
                    <a:pt x="346" y="1535"/>
                    <a:pt x="346" y="1535"/>
                  </a:cubicBezTo>
                  <a:cubicBezTo>
                    <a:pt x="346" y="1535"/>
                    <a:pt x="396" y="1569"/>
                    <a:pt x="396" y="1569"/>
                  </a:cubicBezTo>
                  <a:cubicBezTo>
                    <a:pt x="396" y="1569"/>
                    <a:pt x="448" y="1599"/>
                    <a:pt x="448" y="1599"/>
                  </a:cubicBezTo>
                  <a:cubicBezTo>
                    <a:pt x="448" y="1599"/>
                    <a:pt x="502" y="1625"/>
                    <a:pt x="502" y="1625"/>
                  </a:cubicBezTo>
                  <a:cubicBezTo>
                    <a:pt x="502" y="1625"/>
                    <a:pt x="557" y="1648"/>
                    <a:pt x="557" y="1648"/>
                  </a:cubicBezTo>
                  <a:cubicBezTo>
                    <a:pt x="557" y="1648"/>
                    <a:pt x="615" y="1667"/>
                    <a:pt x="615" y="1667"/>
                  </a:cubicBezTo>
                  <a:cubicBezTo>
                    <a:pt x="615" y="1667"/>
                    <a:pt x="673" y="1681"/>
                    <a:pt x="673" y="1681"/>
                  </a:cubicBezTo>
                  <a:cubicBezTo>
                    <a:pt x="673" y="1681"/>
                    <a:pt x="732" y="1691"/>
                    <a:pt x="732" y="1691"/>
                  </a:cubicBezTo>
                  <a:cubicBezTo>
                    <a:pt x="732" y="1691"/>
                    <a:pt x="793" y="1697"/>
                    <a:pt x="793" y="1697"/>
                  </a:cubicBezTo>
                  <a:cubicBezTo>
                    <a:pt x="793" y="1697"/>
                    <a:pt x="852" y="1699"/>
                    <a:pt x="852" y="1699"/>
                  </a:cubicBezTo>
                  <a:cubicBezTo>
                    <a:pt x="852" y="1699"/>
                    <a:pt x="913" y="1696"/>
                    <a:pt x="913" y="1696"/>
                  </a:cubicBezTo>
                  <a:cubicBezTo>
                    <a:pt x="913" y="1696"/>
                    <a:pt x="973" y="1690"/>
                    <a:pt x="973" y="1690"/>
                  </a:cubicBezTo>
                  <a:cubicBezTo>
                    <a:pt x="973" y="1690"/>
                    <a:pt x="1031" y="1679"/>
                    <a:pt x="1031" y="1679"/>
                  </a:cubicBezTo>
                  <a:cubicBezTo>
                    <a:pt x="1031" y="1679"/>
                    <a:pt x="1090" y="1664"/>
                    <a:pt x="1090" y="1664"/>
                  </a:cubicBezTo>
                  <a:cubicBezTo>
                    <a:pt x="1090" y="1664"/>
                    <a:pt x="1146" y="1645"/>
                    <a:pt x="1146" y="1645"/>
                  </a:cubicBezTo>
                  <a:cubicBezTo>
                    <a:pt x="1146" y="1645"/>
                    <a:pt x="1202" y="1621"/>
                    <a:pt x="1202" y="1621"/>
                  </a:cubicBezTo>
                  <a:cubicBezTo>
                    <a:pt x="1202" y="1621"/>
                    <a:pt x="1256" y="1594"/>
                    <a:pt x="1256" y="1594"/>
                  </a:cubicBezTo>
                  <a:cubicBezTo>
                    <a:pt x="1256" y="1594"/>
                    <a:pt x="1308" y="1564"/>
                    <a:pt x="1308" y="1564"/>
                  </a:cubicBezTo>
                  <a:cubicBezTo>
                    <a:pt x="1308" y="1564"/>
                    <a:pt x="1357" y="1530"/>
                    <a:pt x="1357" y="1530"/>
                  </a:cubicBezTo>
                </a:path>
              </a:pathLst>
            </a:custGeom>
            <a:noFill/>
            <a:ln w="269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9902" name="Freeform 33"/>
            <p:cNvSpPr/>
            <p:nvPr/>
          </p:nvSpPr>
          <p:spPr>
            <a:xfrm>
              <a:off x="2913" y="2702"/>
              <a:ext cx="129" cy="141"/>
            </a:xfrm>
            <a:custGeom>
              <a:avLst/>
              <a:gdLst>
                <a:gd name="txL" fmla="*/ 0 w 773"/>
                <a:gd name="txT" fmla="*/ 0 h 849"/>
                <a:gd name="txR" fmla="*/ 773 w 773"/>
                <a:gd name="txB" fmla="*/ 849 h 849"/>
              </a:gdLst>
              <a:ahLst/>
              <a:cxnLst>
                <a:cxn ang="0">
                  <a:pos x="22" y="5"/>
                </a:cxn>
                <a:cxn ang="0">
                  <a:pos x="21" y="4"/>
                </a:cxn>
                <a:cxn ang="0">
                  <a:pos x="20" y="3"/>
                </a:cxn>
                <a:cxn ang="0">
                  <a:pos x="19" y="2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6" y="1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5" y="2"/>
                </a:cxn>
                <a:cxn ang="0">
                  <a:pos x="4" y="3"/>
                </a:cxn>
                <a:cxn ang="0">
                  <a:pos x="3" y="3"/>
                </a:cxn>
                <a:cxn ang="0">
                  <a:pos x="3" y="4"/>
                </a:cxn>
                <a:cxn ang="0">
                  <a:pos x="2" y="5"/>
                </a:cxn>
                <a:cxn ang="0">
                  <a:pos x="1" y="6"/>
                </a:cxn>
                <a:cxn ang="0">
                  <a:pos x="1" y="7"/>
                </a:cxn>
                <a:cxn ang="0">
                  <a:pos x="1" y="8"/>
                </a:cxn>
                <a:cxn ang="0">
                  <a:pos x="0" y="10"/>
                </a:cxn>
                <a:cxn ang="0">
                  <a:pos x="0" y="11"/>
                </a:cxn>
                <a:cxn ang="0">
                  <a:pos x="0" y="12"/>
                </a:cxn>
                <a:cxn ang="0">
                  <a:pos x="0" y="13"/>
                </a:cxn>
                <a:cxn ang="0">
                  <a:pos x="0" y="14"/>
                </a:cxn>
                <a:cxn ang="0">
                  <a:pos x="1" y="15"/>
                </a:cxn>
                <a:cxn ang="0">
                  <a:pos x="1" y="16"/>
                </a:cxn>
                <a:cxn ang="0">
                  <a:pos x="2" y="17"/>
                </a:cxn>
                <a:cxn ang="0">
                  <a:pos x="2" y="18"/>
                </a:cxn>
                <a:cxn ang="0">
                  <a:pos x="3" y="19"/>
                </a:cxn>
                <a:cxn ang="0">
                  <a:pos x="4" y="20"/>
                </a:cxn>
                <a:cxn ang="0">
                  <a:pos x="5" y="21"/>
                </a:cxn>
                <a:cxn ang="0">
                  <a:pos x="6" y="22"/>
                </a:cxn>
                <a:cxn ang="0">
                  <a:pos x="7" y="22"/>
                </a:cxn>
                <a:cxn ang="0">
                  <a:pos x="8" y="23"/>
                </a:cxn>
                <a:cxn ang="0">
                  <a:pos x="9" y="23"/>
                </a:cxn>
                <a:cxn ang="0">
                  <a:pos x="10" y="23"/>
                </a:cxn>
                <a:cxn ang="0">
                  <a:pos x="11" y="23"/>
                </a:cxn>
                <a:cxn ang="0">
                  <a:pos x="12" y="23"/>
                </a:cxn>
                <a:cxn ang="0">
                  <a:pos x="13" y="23"/>
                </a:cxn>
                <a:cxn ang="0">
                  <a:pos x="14" y="23"/>
                </a:cxn>
                <a:cxn ang="0">
                  <a:pos x="16" y="23"/>
                </a:cxn>
                <a:cxn ang="0">
                  <a:pos x="17" y="22"/>
                </a:cxn>
                <a:cxn ang="0">
                  <a:pos x="18" y="22"/>
                </a:cxn>
                <a:cxn ang="0">
                  <a:pos x="19" y="21"/>
                </a:cxn>
                <a:cxn ang="0">
                  <a:pos x="20" y="21"/>
                </a:cxn>
                <a:cxn ang="0">
                  <a:pos x="20" y="20"/>
                </a:cxn>
                <a:cxn ang="0">
                  <a:pos x="21" y="19"/>
                </a:cxn>
              </a:cxnLst>
              <a:rect l="txL" t="txT" r="txR" b="txB"/>
              <a:pathLst>
                <a:path w="773" h="849">
                  <a:moveTo>
                    <a:pt x="773" y="185"/>
                  </a:moveTo>
                  <a:cubicBezTo>
                    <a:pt x="773" y="185"/>
                    <a:pt x="748" y="151"/>
                    <a:pt x="748" y="151"/>
                  </a:cubicBezTo>
                  <a:cubicBezTo>
                    <a:pt x="748" y="151"/>
                    <a:pt x="719" y="121"/>
                    <a:pt x="719" y="121"/>
                  </a:cubicBezTo>
                  <a:cubicBezTo>
                    <a:pt x="719" y="121"/>
                    <a:pt x="689" y="93"/>
                    <a:pt x="689" y="93"/>
                  </a:cubicBezTo>
                  <a:cubicBezTo>
                    <a:pt x="689" y="93"/>
                    <a:pt x="655" y="68"/>
                    <a:pt x="655" y="68"/>
                  </a:cubicBezTo>
                  <a:cubicBezTo>
                    <a:pt x="655" y="68"/>
                    <a:pt x="619" y="48"/>
                    <a:pt x="619" y="48"/>
                  </a:cubicBezTo>
                  <a:cubicBezTo>
                    <a:pt x="619" y="48"/>
                    <a:pt x="581" y="30"/>
                    <a:pt x="581" y="30"/>
                  </a:cubicBezTo>
                  <a:cubicBezTo>
                    <a:pt x="581" y="30"/>
                    <a:pt x="540" y="17"/>
                    <a:pt x="540" y="17"/>
                  </a:cubicBezTo>
                  <a:cubicBezTo>
                    <a:pt x="540" y="17"/>
                    <a:pt x="500" y="6"/>
                    <a:pt x="500" y="6"/>
                  </a:cubicBezTo>
                  <a:cubicBezTo>
                    <a:pt x="500" y="6"/>
                    <a:pt x="459" y="1"/>
                    <a:pt x="459" y="1"/>
                  </a:cubicBezTo>
                  <a:cubicBezTo>
                    <a:pt x="459" y="1"/>
                    <a:pt x="417" y="0"/>
                    <a:pt x="417" y="0"/>
                  </a:cubicBezTo>
                  <a:cubicBezTo>
                    <a:pt x="417" y="0"/>
                    <a:pt x="376" y="2"/>
                    <a:pt x="376" y="2"/>
                  </a:cubicBezTo>
                  <a:cubicBezTo>
                    <a:pt x="376" y="2"/>
                    <a:pt x="335" y="10"/>
                    <a:pt x="335" y="10"/>
                  </a:cubicBezTo>
                  <a:cubicBezTo>
                    <a:pt x="335" y="10"/>
                    <a:pt x="295" y="20"/>
                    <a:pt x="295" y="20"/>
                  </a:cubicBezTo>
                  <a:cubicBezTo>
                    <a:pt x="295" y="20"/>
                    <a:pt x="256" y="34"/>
                    <a:pt x="256" y="34"/>
                  </a:cubicBezTo>
                  <a:cubicBezTo>
                    <a:pt x="256" y="34"/>
                    <a:pt x="218" y="53"/>
                    <a:pt x="218" y="53"/>
                  </a:cubicBezTo>
                  <a:cubicBezTo>
                    <a:pt x="218" y="53"/>
                    <a:pt x="183" y="75"/>
                    <a:pt x="183" y="75"/>
                  </a:cubicBezTo>
                  <a:cubicBezTo>
                    <a:pt x="183" y="75"/>
                    <a:pt x="150" y="100"/>
                    <a:pt x="150" y="100"/>
                  </a:cubicBezTo>
                  <a:cubicBezTo>
                    <a:pt x="150" y="100"/>
                    <a:pt x="119" y="129"/>
                    <a:pt x="119" y="129"/>
                  </a:cubicBezTo>
                  <a:cubicBezTo>
                    <a:pt x="119" y="129"/>
                    <a:pt x="91" y="161"/>
                    <a:pt x="91" y="161"/>
                  </a:cubicBezTo>
                  <a:cubicBezTo>
                    <a:pt x="91" y="161"/>
                    <a:pt x="67" y="195"/>
                    <a:pt x="67" y="195"/>
                  </a:cubicBezTo>
                  <a:cubicBezTo>
                    <a:pt x="67" y="195"/>
                    <a:pt x="46" y="231"/>
                    <a:pt x="46" y="231"/>
                  </a:cubicBezTo>
                  <a:cubicBezTo>
                    <a:pt x="46" y="231"/>
                    <a:pt x="29" y="269"/>
                    <a:pt x="29" y="269"/>
                  </a:cubicBezTo>
                  <a:cubicBezTo>
                    <a:pt x="29" y="269"/>
                    <a:pt x="15" y="308"/>
                    <a:pt x="15" y="308"/>
                  </a:cubicBezTo>
                  <a:cubicBezTo>
                    <a:pt x="15" y="308"/>
                    <a:pt x="6" y="349"/>
                    <a:pt x="6" y="349"/>
                  </a:cubicBezTo>
                  <a:cubicBezTo>
                    <a:pt x="6" y="349"/>
                    <a:pt x="1" y="390"/>
                    <a:pt x="1" y="390"/>
                  </a:cubicBezTo>
                  <a:cubicBezTo>
                    <a:pt x="1" y="390"/>
                    <a:pt x="0" y="432"/>
                    <a:pt x="0" y="432"/>
                  </a:cubicBezTo>
                  <a:cubicBezTo>
                    <a:pt x="0" y="432"/>
                    <a:pt x="2" y="474"/>
                    <a:pt x="2" y="474"/>
                  </a:cubicBezTo>
                  <a:cubicBezTo>
                    <a:pt x="2" y="474"/>
                    <a:pt x="9" y="515"/>
                    <a:pt x="9" y="515"/>
                  </a:cubicBezTo>
                  <a:cubicBezTo>
                    <a:pt x="9" y="515"/>
                    <a:pt x="20" y="555"/>
                    <a:pt x="20" y="555"/>
                  </a:cubicBezTo>
                  <a:cubicBezTo>
                    <a:pt x="20" y="555"/>
                    <a:pt x="35" y="594"/>
                    <a:pt x="35" y="594"/>
                  </a:cubicBezTo>
                  <a:cubicBezTo>
                    <a:pt x="35" y="594"/>
                    <a:pt x="53" y="632"/>
                    <a:pt x="53" y="632"/>
                  </a:cubicBezTo>
                  <a:cubicBezTo>
                    <a:pt x="53" y="632"/>
                    <a:pt x="76" y="667"/>
                    <a:pt x="76" y="667"/>
                  </a:cubicBezTo>
                  <a:cubicBezTo>
                    <a:pt x="76" y="667"/>
                    <a:pt x="100" y="700"/>
                    <a:pt x="100" y="700"/>
                  </a:cubicBezTo>
                  <a:cubicBezTo>
                    <a:pt x="100" y="700"/>
                    <a:pt x="129" y="731"/>
                    <a:pt x="129" y="731"/>
                  </a:cubicBezTo>
                  <a:cubicBezTo>
                    <a:pt x="129" y="731"/>
                    <a:pt x="161" y="758"/>
                    <a:pt x="161" y="758"/>
                  </a:cubicBezTo>
                  <a:cubicBezTo>
                    <a:pt x="161" y="758"/>
                    <a:pt x="195" y="783"/>
                    <a:pt x="195" y="783"/>
                  </a:cubicBezTo>
                  <a:cubicBezTo>
                    <a:pt x="195" y="783"/>
                    <a:pt x="231" y="803"/>
                    <a:pt x="231" y="803"/>
                  </a:cubicBezTo>
                  <a:cubicBezTo>
                    <a:pt x="231" y="803"/>
                    <a:pt x="269" y="821"/>
                    <a:pt x="269" y="821"/>
                  </a:cubicBezTo>
                  <a:cubicBezTo>
                    <a:pt x="269" y="821"/>
                    <a:pt x="308" y="834"/>
                    <a:pt x="308" y="834"/>
                  </a:cubicBezTo>
                  <a:cubicBezTo>
                    <a:pt x="308" y="834"/>
                    <a:pt x="349" y="843"/>
                    <a:pt x="349" y="843"/>
                  </a:cubicBezTo>
                  <a:cubicBezTo>
                    <a:pt x="349" y="843"/>
                    <a:pt x="390" y="848"/>
                    <a:pt x="390" y="848"/>
                  </a:cubicBezTo>
                  <a:cubicBezTo>
                    <a:pt x="390" y="848"/>
                    <a:pt x="433" y="849"/>
                    <a:pt x="433" y="849"/>
                  </a:cubicBezTo>
                  <a:cubicBezTo>
                    <a:pt x="433" y="849"/>
                    <a:pt x="474" y="846"/>
                    <a:pt x="474" y="846"/>
                  </a:cubicBezTo>
                  <a:cubicBezTo>
                    <a:pt x="474" y="846"/>
                    <a:pt x="515" y="839"/>
                    <a:pt x="515" y="839"/>
                  </a:cubicBezTo>
                  <a:cubicBezTo>
                    <a:pt x="515" y="839"/>
                    <a:pt x="555" y="829"/>
                    <a:pt x="555" y="829"/>
                  </a:cubicBezTo>
                  <a:cubicBezTo>
                    <a:pt x="555" y="829"/>
                    <a:pt x="594" y="813"/>
                    <a:pt x="594" y="813"/>
                  </a:cubicBezTo>
                  <a:cubicBezTo>
                    <a:pt x="594" y="813"/>
                    <a:pt x="631" y="795"/>
                    <a:pt x="631" y="795"/>
                  </a:cubicBezTo>
                  <a:cubicBezTo>
                    <a:pt x="631" y="795"/>
                    <a:pt x="667" y="772"/>
                    <a:pt x="667" y="772"/>
                  </a:cubicBezTo>
                  <a:cubicBezTo>
                    <a:pt x="667" y="772"/>
                    <a:pt x="700" y="746"/>
                    <a:pt x="700" y="746"/>
                  </a:cubicBezTo>
                  <a:cubicBezTo>
                    <a:pt x="700" y="746"/>
                    <a:pt x="730" y="718"/>
                    <a:pt x="730" y="718"/>
                  </a:cubicBezTo>
                  <a:cubicBezTo>
                    <a:pt x="730" y="718"/>
                    <a:pt x="757" y="687"/>
                    <a:pt x="757" y="687"/>
                  </a:cubicBezTo>
                </a:path>
              </a:pathLst>
            </a:custGeom>
            <a:noFill/>
            <a:ln w="269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9903" name="Line 34"/>
            <p:cNvSpPr/>
            <p:nvPr/>
          </p:nvSpPr>
          <p:spPr>
            <a:xfrm flipH="1">
              <a:off x="3124" y="2772"/>
              <a:ext cx="81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9904" name="Line 35"/>
            <p:cNvSpPr/>
            <p:nvPr/>
          </p:nvSpPr>
          <p:spPr>
            <a:xfrm flipH="1">
              <a:off x="3098" y="2772"/>
              <a:ext cx="13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9905" name="Line 36"/>
            <p:cNvSpPr/>
            <p:nvPr/>
          </p:nvSpPr>
          <p:spPr>
            <a:xfrm flipH="1">
              <a:off x="3020" y="2772"/>
              <a:ext cx="65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9906" name="Line 37"/>
            <p:cNvSpPr/>
            <p:nvPr/>
          </p:nvSpPr>
          <p:spPr>
            <a:xfrm flipH="1">
              <a:off x="2994" y="2772"/>
              <a:ext cx="13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9907" name="Line 38"/>
            <p:cNvSpPr/>
            <p:nvPr/>
          </p:nvSpPr>
          <p:spPr>
            <a:xfrm flipH="1">
              <a:off x="2916" y="2772"/>
              <a:ext cx="65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9908" name="Line 39"/>
            <p:cNvSpPr/>
            <p:nvPr/>
          </p:nvSpPr>
          <p:spPr>
            <a:xfrm flipH="1">
              <a:off x="2890" y="2772"/>
              <a:ext cx="13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9909" name="Line 40"/>
            <p:cNvSpPr/>
            <p:nvPr/>
          </p:nvSpPr>
          <p:spPr>
            <a:xfrm flipH="1">
              <a:off x="2796" y="2772"/>
              <a:ext cx="81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9910" name="Line 41"/>
            <p:cNvSpPr/>
            <p:nvPr/>
          </p:nvSpPr>
          <p:spPr>
            <a:xfrm flipV="1">
              <a:off x="2984" y="2888"/>
              <a:ext cx="1" cy="8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9911" name="Line 42"/>
            <p:cNvSpPr/>
            <p:nvPr/>
          </p:nvSpPr>
          <p:spPr>
            <a:xfrm flipV="1">
              <a:off x="2984" y="2862"/>
              <a:ext cx="1" cy="1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9912" name="Line 43"/>
            <p:cNvSpPr/>
            <p:nvPr/>
          </p:nvSpPr>
          <p:spPr>
            <a:xfrm flipV="1">
              <a:off x="2984" y="2784"/>
              <a:ext cx="1" cy="6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9913" name="Line 44"/>
            <p:cNvSpPr/>
            <p:nvPr/>
          </p:nvSpPr>
          <p:spPr>
            <a:xfrm flipV="1">
              <a:off x="2984" y="2758"/>
              <a:ext cx="1" cy="1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9914" name="Line 45"/>
            <p:cNvSpPr/>
            <p:nvPr/>
          </p:nvSpPr>
          <p:spPr>
            <a:xfrm flipV="1">
              <a:off x="2984" y="2680"/>
              <a:ext cx="1" cy="6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9915" name="Line 46"/>
            <p:cNvSpPr/>
            <p:nvPr/>
          </p:nvSpPr>
          <p:spPr>
            <a:xfrm flipV="1">
              <a:off x="2984" y="2654"/>
              <a:ext cx="1" cy="1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9916" name="Line 47"/>
            <p:cNvSpPr/>
            <p:nvPr/>
          </p:nvSpPr>
          <p:spPr>
            <a:xfrm flipV="1">
              <a:off x="2984" y="2560"/>
              <a:ext cx="1" cy="8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9917" name="Freeform 48"/>
            <p:cNvSpPr/>
            <p:nvPr/>
          </p:nvSpPr>
          <p:spPr>
            <a:xfrm>
              <a:off x="3069" y="2865"/>
              <a:ext cx="61" cy="21"/>
            </a:xfrm>
            <a:custGeom>
              <a:avLst/>
              <a:gdLst>
                <a:gd name="txL" fmla="*/ 0 w 367"/>
                <a:gd name="txT" fmla="*/ 0 h 123"/>
                <a:gd name="txR" fmla="*/ 367 w 367"/>
                <a:gd name="txB" fmla="*/ 123 h 123"/>
              </a:gdLst>
              <a:ahLst/>
              <a:cxnLst>
                <a:cxn ang="0">
                  <a:pos x="10" y="0"/>
                </a:cxn>
                <a:cxn ang="0">
                  <a:pos x="9" y="0"/>
                </a:cxn>
                <a:cxn ang="0">
                  <a:pos x="7" y="0"/>
                </a:cxn>
                <a:cxn ang="0">
                  <a:pos x="6" y="1"/>
                </a:cxn>
                <a:cxn ang="0">
                  <a:pos x="5" y="1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4"/>
                </a:cxn>
              </a:cxnLst>
              <a:rect l="txL" t="txT" r="txR" b="txB"/>
              <a:pathLst>
                <a:path w="367" h="123">
                  <a:moveTo>
                    <a:pt x="367" y="0"/>
                  </a:moveTo>
                  <a:cubicBezTo>
                    <a:pt x="367" y="0"/>
                    <a:pt x="319" y="1"/>
                    <a:pt x="319" y="1"/>
                  </a:cubicBezTo>
                  <a:cubicBezTo>
                    <a:pt x="319" y="1"/>
                    <a:pt x="270" y="7"/>
                    <a:pt x="270" y="7"/>
                  </a:cubicBezTo>
                  <a:cubicBezTo>
                    <a:pt x="270" y="7"/>
                    <a:pt x="221" y="18"/>
                    <a:pt x="221" y="18"/>
                  </a:cubicBezTo>
                  <a:cubicBezTo>
                    <a:pt x="221" y="18"/>
                    <a:pt x="174" y="31"/>
                    <a:pt x="174" y="31"/>
                  </a:cubicBezTo>
                  <a:cubicBezTo>
                    <a:pt x="174" y="31"/>
                    <a:pt x="128" y="49"/>
                    <a:pt x="128" y="49"/>
                  </a:cubicBezTo>
                  <a:cubicBezTo>
                    <a:pt x="128" y="49"/>
                    <a:pt x="84" y="70"/>
                    <a:pt x="84" y="70"/>
                  </a:cubicBezTo>
                  <a:cubicBezTo>
                    <a:pt x="84" y="70"/>
                    <a:pt x="40" y="95"/>
                    <a:pt x="40" y="95"/>
                  </a:cubicBezTo>
                  <a:cubicBezTo>
                    <a:pt x="40" y="95"/>
                    <a:pt x="0" y="123"/>
                    <a:pt x="0" y="123"/>
                  </a:cubicBezTo>
                </a:path>
              </a:pathLst>
            </a:custGeom>
            <a:noFill/>
            <a:ln w="269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9918" name="Freeform 49"/>
            <p:cNvSpPr/>
            <p:nvPr/>
          </p:nvSpPr>
          <p:spPr>
            <a:xfrm>
              <a:off x="3065" y="2657"/>
              <a:ext cx="59" cy="18"/>
            </a:xfrm>
            <a:custGeom>
              <a:avLst/>
              <a:gdLst>
                <a:gd name="txL" fmla="*/ 0 w 352"/>
                <a:gd name="txT" fmla="*/ 0 h 111"/>
                <a:gd name="txR" fmla="*/ 352 w 352"/>
                <a:gd name="txB" fmla="*/ 111 h 111"/>
              </a:gdLst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3" y="1"/>
                </a:cxn>
                <a:cxn ang="0">
                  <a:pos x="4" y="2"/>
                </a:cxn>
                <a:cxn ang="0">
                  <a:pos x="5" y="2"/>
                </a:cxn>
                <a:cxn ang="0">
                  <a:pos x="7" y="3"/>
                </a:cxn>
                <a:cxn ang="0">
                  <a:pos x="8" y="3"/>
                </a:cxn>
                <a:cxn ang="0">
                  <a:pos x="10" y="3"/>
                </a:cxn>
              </a:cxnLst>
              <a:rect l="txL" t="txT" r="txR" b="txB"/>
              <a:pathLst>
                <a:path w="352" h="111">
                  <a:moveTo>
                    <a:pt x="0" y="0"/>
                  </a:moveTo>
                  <a:cubicBezTo>
                    <a:pt x="0" y="0"/>
                    <a:pt x="45" y="28"/>
                    <a:pt x="45" y="28"/>
                  </a:cubicBezTo>
                  <a:cubicBezTo>
                    <a:pt x="45" y="28"/>
                    <a:pt x="92" y="53"/>
                    <a:pt x="92" y="53"/>
                  </a:cubicBezTo>
                  <a:cubicBezTo>
                    <a:pt x="92" y="53"/>
                    <a:pt x="143" y="74"/>
                    <a:pt x="143" y="74"/>
                  </a:cubicBezTo>
                  <a:cubicBezTo>
                    <a:pt x="143" y="74"/>
                    <a:pt x="193" y="90"/>
                    <a:pt x="193" y="90"/>
                  </a:cubicBezTo>
                  <a:cubicBezTo>
                    <a:pt x="193" y="90"/>
                    <a:pt x="245" y="102"/>
                    <a:pt x="245" y="102"/>
                  </a:cubicBezTo>
                  <a:cubicBezTo>
                    <a:pt x="245" y="102"/>
                    <a:pt x="299" y="109"/>
                    <a:pt x="299" y="109"/>
                  </a:cubicBezTo>
                  <a:cubicBezTo>
                    <a:pt x="299" y="109"/>
                    <a:pt x="352" y="111"/>
                    <a:pt x="352" y="111"/>
                  </a:cubicBezTo>
                </a:path>
              </a:pathLst>
            </a:custGeom>
            <a:noFill/>
            <a:ln w="269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9919" name="Freeform 50"/>
            <p:cNvSpPr/>
            <p:nvPr/>
          </p:nvSpPr>
          <p:spPr>
            <a:xfrm>
              <a:off x="3042" y="2732"/>
              <a:ext cx="84" cy="45"/>
            </a:xfrm>
            <a:custGeom>
              <a:avLst/>
              <a:gdLst>
                <a:gd name="txL" fmla="*/ 0 w 506"/>
                <a:gd name="txT" fmla="*/ 0 h 266"/>
                <a:gd name="txR" fmla="*/ 506 w 506"/>
                <a:gd name="txB" fmla="*/ 266 h 266"/>
              </a:gdLst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2" y="2"/>
                </a:cxn>
                <a:cxn ang="0">
                  <a:pos x="3" y="3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6" y="6"/>
                </a:cxn>
                <a:cxn ang="0">
                  <a:pos x="7" y="6"/>
                </a:cxn>
                <a:cxn ang="0">
                  <a:pos x="9" y="7"/>
                </a:cxn>
                <a:cxn ang="0">
                  <a:pos x="10" y="7"/>
                </a:cxn>
                <a:cxn ang="0">
                  <a:pos x="11" y="7"/>
                </a:cxn>
                <a:cxn ang="0">
                  <a:pos x="13" y="8"/>
                </a:cxn>
                <a:cxn ang="0">
                  <a:pos x="14" y="8"/>
                </a:cxn>
              </a:cxnLst>
              <a:rect l="txL" t="txT" r="txR" b="txB"/>
              <a:pathLst>
                <a:path w="506" h="266">
                  <a:moveTo>
                    <a:pt x="0" y="0"/>
                  </a:moveTo>
                  <a:cubicBezTo>
                    <a:pt x="0" y="0"/>
                    <a:pt x="30" y="39"/>
                    <a:pt x="30" y="39"/>
                  </a:cubicBezTo>
                  <a:cubicBezTo>
                    <a:pt x="30" y="39"/>
                    <a:pt x="63" y="77"/>
                    <a:pt x="63" y="77"/>
                  </a:cubicBezTo>
                  <a:cubicBezTo>
                    <a:pt x="63" y="77"/>
                    <a:pt x="99" y="111"/>
                    <a:pt x="99" y="111"/>
                  </a:cubicBezTo>
                  <a:cubicBezTo>
                    <a:pt x="99" y="111"/>
                    <a:pt x="137" y="143"/>
                    <a:pt x="137" y="143"/>
                  </a:cubicBezTo>
                  <a:cubicBezTo>
                    <a:pt x="137" y="143"/>
                    <a:pt x="177" y="170"/>
                    <a:pt x="177" y="170"/>
                  </a:cubicBezTo>
                  <a:cubicBezTo>
                    <a:pt x="177" y="170"/>
                    <a:pt x="220" y="195"/>
                    <a:pt x="220" y="195"/>
                  </a:cubicBezTo>
                  <a:cubicBezTo>
                    <a:pt x="220" y="195"/>
                    <a:pt x="265" y="217"/>
                    <a:pt x="265" y="217"/>
                  </a:cubicBezTo>
                  <a:cubicBezTo>
                    <a:pt x="265" y="217"/>
                    <a:pt x="312" y="234"/>
                    <a:pt x="312" y="234"/>
                  </a:cubicBezTo>
                  <a:cubicBezTo>
                    <a:pt x="312" y="234"/>
                    <a:pt x="359" y="249"/>
                    <a:pt x="359" y="249"/>
                  </a:cubicBezTo>
                  <a:cubicBezTo>
                    <a:pt x="359" y="249"/>
                    <a:pt x="407" y="258"/>
                    <a:pt x="407" y="258"/>
                  </a:cubicBezTo>
                  <a:cubicBezTo>
                    <a:pt x="407" y="258"/>
                    <a:pt x="457" y="264"/>
                    <a:pt x="457" y="264"/>
                  </a:cubicBezTo>
                  <a:cubicBezTo>
                    <a:pt x="457" y="264"/>
                    <a:pt x="506" y="266"/>
                    <a:pt x="506" y="266"/>
                  </a:cubicBezTo>
                </a:path>
              </a:pathLst>
            </a:custGeom>
            <a:noFill/>
            <a:ln w="269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9920" name="Freeform 51"/>
            <p:cNvSpPr/>
            <p:nvPr/>
          </p:nvSpPr>
          <p:spPr>
            <a:xfrm>
              <a:off x="3040" y="2777"/>
              <a:ext cx="80" cy="39"/>
            </a:xfrm>
            <a:custGeom>
              <a:avLst/>
              <a:gdLst>
                <a:gd name="txL" fmla="*/ 0 w 483"/>
                <a:gd name="txT" fmla="*/ 0 h 236"/>
                <a:gd name="txR" fmla="*/ 483 w 483"/>
                <a:gd name="txB" fmla="*/ 236 h 236"/>
              </a:gdLst>
              <a:ahLst/>
              <a:cxnLst>
                <a:cxn ang="0">
                  <a:pos x="13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2"/>
                </a:cxn>
                <a:cxn ang="0">
                  <a:pos x="4" y="3"/>
                </a:cxn>
                <a:cxn ang="0">
                  <a:pos x="3" y="3"/>
                </a:cxn>
                <a:cxn ang="0">
                  <a:pos x="2" y="4"/>
                </a:cxn>
                <a:cxn ang="0">
                  <a:pos x="1" y="5"/>
                </a:cxn>
                <a:cxn ang="0">
                  <a:pos x="0" y="6"/>
                </a:cxn>
              </a:cxnLst>
              <a:rect l="txL" t="txT" r="txR" b="txB"/>
              <a:pathLst>
                <a:path w="483" h="236">
                  <a:moveTo>
                    <a:pt x="483" y="0"/>
                  </a:moveTo>
                  <a:cubicBezTo>
                    <a:pt x="483" y="0"/>
                    <a:pt x="432" y="2"/>
                    <a:pt x="432" y="2"/>
                  </a:cubicBezTo>
                  <a:cubicBezTo>
                    <a:pt x="432" y="2"/>
                    <a:pt x="382" y="8"/>
                    <a:pt x="382" y="8"/>
                  </a:cubicBezTo>
                  <a:cubicBezTo>
                    <a:pt x="382" y="8"/>
                    <a:pt x="333" y="19"/>
                    <a:pt x="333" y="19"/>
                  </a:cubicBezTo>
                  <a:cubicBezTo>
                    <a:pt x="333" y="19"/>
                    <a:pt x="284" y="33"/>
                    <a:pt x="284" y="33"/>
                  </a:cubicBezTo>
                  <a:cubicBezTo>
                    <a:pt x="284" y="33"/>
                    <a:pt x="237" y="52"/>
                    <a:pt x="237" y="52"/>
                  </a:cubicBezTo>
                  <a:cubicBezTo>
                    <a:pt x="237" y="52"/>
                    <a:pt x="192" y="73"/>
                    <a:pt x="192" y="73"/>
                  </a:cubicBezTo>
                  <a:cubicBezTo>
                    <a:pt x="192" y="73"/>
                    <a:pt x="149" y="100"/>
                    <a:pt x="149" y="100"/>
                  </a:cubicBezTo>
                  <a:cubicBezTo>
                    <a:pt x="149" y="100"/>
                    <a:pt x="107" y="129"/>
                    <a:pt x="107" y="129"/>
                  </a:cubicBezTo>
                  <a:cubicBezTo>
                    <a:pt x="107" y="129"/>
                    <a:pt x="68" y="162"/>
                    <a:pt x="68" y="162"/>
                  </a:cubicBezTo>
                  <a:cubicBezTo>
                    <a:pt x="68" y="162"/>
                    <a:pt x="33" y="197"/>
                    <a:pt x="33" y="197"/>
                  </a:cubicBezTo>
                  <a:cubicBezTo>
                    <a:pt x="33" y="197"/>
                    <a:pt x="0" y="236"/>
                    <a:pt x="0" y="236"/>
                  </a:cubicBezTo>
                </a:path>
              </a:pathLst>
            </a:custGeom>
            <a:noFill/>
            <a:ln w="269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53"/>
          <p:cNvGrpSpPr/>
          <p:nvPr/>
        </p:nvGrpSpPr>
        <p:grpSpPr>
          <a:xfrm>
            <a:off x="4514850" y="3328988"/>
            <a:ext cx="2335213" cy="411162"/>
            <a:chOff x="2844" y="1819"/>
            <a:chExt cx="1471" cy="259"/>
          </a:xfrm>
        </p:grpSpPr>
        <p:sp>
          <p:nvSpPr>
            <p:cNvPr id="79891" name="Rectangle 54"/>
            <p:cNvSpPr/>
            <p:nvPr/>
          </p:nvSpPr>
          <p:spPr>
            <a:xfrm>
              <a:off x="2969" y="1819"/>
              <a:ext cx="1178" cy="258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9892" name="Freeform 55"/>
            <p:cNvSpPr/>
            <p:nvPr/>
          </p:nvSpPr>
          <p:spPr>
            <a:xfrm>
              <a:off x="2897" y="1819"/>
              <a:ext cx="72" cy="259"/>
            </a:xfrm>
            <a:custGeom>
              <a:avLst/>
              <a:gdLst>
                <a:gd name="txL" fmla="*/ 0 w 57"/>
                <a:gd name="txT" fmla="*/ 0 h 259"/>
                <a:gd name="txR" fmla="*/ 57 w 57"/>
                <a:gd name="txB" fmla="*/ 259 h 259"/>
              </a:gdLst>
              <a:ahLst/>
              <a:cxnLst>
                <a:cxn ang="0">
                  <a:pos x="91" y="0"/>
                </a:cxn>
                <a:cxn ang="0">
                  <a:pos x="91" y="259"/>
                </a:cxn>
                <a:cxn ang="0">
                  <a:pos x="0" y="182"/>
                </a:cxn>
                <a:cxn ang="0">
                  <a:pos x="0" y="76"/>
                </a:cxn>
                <a:cxn ang="0">
                  <a:pos x="91" y="0"/>
                </a:cxn>
              </a:cxnLst>
              <a:rect l="txL" t="txT" r="txR" b="txB"/>
              <a:pathLst>
                <a:path w="57" h="259">
                  <a:moveTo>
                    <a:pt x="57" y="0"/>
                  </a:moveTo>
                  <a:cubicBezTo>
                    <a:pt x="57" y="0"/>
                    <a:pt x="57" y="259"/>
                    <a:pt x="57" y="259"/>
                  </a:cubicBezTo>
                  <a:cubicBezTo>
                    <a:pt x="57" y="259"/>
                    <a:pt x="0" y="182"/>
                    <a:pt x="0" y="182"/>
                  </a:cubicBezTo>
                  <a:cubicBezTo>
                    <a:pt x="0" y="182"/>
                    <a:pt x="0" y="76"/>
                    <a:pt x="0" y="76"/>
                  </a:cubicBezTo>
                  <a:cubicBezTo>
                    <a:pt x="0" y="76"/>
                    <a:pt x="57" y="0"/>
                    <a:pt x="57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9893" name="Freeform 56"/>
            <p:cNvSpPr/>
            <p:nvPr/>
          </p:nvSpPr>
          <p:spPr>
            <a:xfrm>
              <a:off x="4146" y="1819"/>
              <a:ext cx="73" cy="259"/>
            </a:xfrm>
            <a:custGeom>
              <a:avLst/>
              <a:gdLst>
                <a:gd name="txL" fmla="*/ 0 w 58"/>
                <a:gd name="txT" fmla="*/ 0 h 259"/>
                <a:gd name="txR" fmla="*/ 58 w 58"/>
                <a:gd name="txB" fmla="*/ 259 h 259"/>
              </a:gdLst>
              <a:ahLst/>
              <a:cxnLst>
                <a:cxn ang="0">
                  <a:pos x="0" y="0"/>
                </a:cxn>
                <a:cxn ang="0">
                  <a:pos x="0" y="259"/>
                </a:cxn>
                <a:cxn ang="0">
                  <a:pos x="92" y="172"/>
                </a:cxn>
                <a:cxn ang="0">
                  <a:pos x="92" y="57"/>
                </a:cxn>
                <a:cxn ang="0">
                  <a:pos x="0" y="0"/>
                </a:cxn>
              </a:cxnLst>
              <a:rect l="txL" t="txT" r="txR" b="txB"/>
              <a:pathLst>
                <a:path w="58" h="259">
                  <a:moveTo>
                    <a:pt x="0" y="0"/>
                  </a:moveTo>
                  <a:cubicBezTo>
                    <a:pt x="0" y="0"/>
                    <a:pt x="0" y="259"/>
                    <a:pt x="0" y="259"/>
                  </a:cubicBezTo>
                  <a:cubicBezTo>
                    <a:pt x="0" y="259"/>
                    <a:pt x="58" y="172"/>
                    <a:pt x="58" y="172"/>
                  </a:cubicBezTo>
                  <a:cubicBezTo>
                    <a:pt x="58" y="172"/>
                    <a:pt x="58" y="57"/>
                    <a:pt x="58" y="57"/>
                  </a:cubicBezTo>
                  <a:cubicBezTo>
                    <a:pt x="58" y="57"/>
                    <a:pt x="0" y="0"/>
                    <a:pt x="0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pic>
          <p:nvPicPr>
            <p:cNvPr id="79894" name="Picture 57" descr="315062877132"/>
            <p:cNvPicPr>
              <a:picLocks noChangeAspect="1"/>
            </p:cNvPicPr>
            <p:nvPr/>
          </p:nvPicPr>
          <p:blipFill>
            <a:blip r:embed="rId1"/>
            <a:srcRect r="41089" b="-48000"/>
            <a:stretch>
              <a:fillRect/>
            </a:stretch>
          </p:blipFill>
          <p:spPr>
            <a:xfrm>
              <a:off x="2844" y="1926"/>
              <a:ext cx="1471" cy="37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" name="Rectangle 33"/>
          <p:cNvSpPr>
            <a:spLocks noGrp="1" noChangeArrowheads="1"/>
          </p:cNvSpPr>
          <p:nvPr/>
        </p:nvSpPr>
        <p:spPr>
          <a:xfrm>
            <a:off x="847725" y="0"/>
            <a:ext cx="5976938" cy="611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+mj-ea"/>
                <a:cs typeface="+mj-cs"/>
              </a:rPr>
              <a:t>二、键 与 销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anose="02010509060101010101" pitchFamily="49" charset="-122"/>
              <a:ea typeface="+mj-ea"/>
              <a:cs typeface="+mj-cs"/>
            </a:endParaRPr>
          </a:p>
        </p:txBody>
      </p:sp>
      <p:grpSp>
        <p:nvGrpSpPr>
          <p:cNvPr id="343051" name="组合 343050"/>
          <p:cNvGrpSpPr/>
          <p:nvPr/>
        </p:nvGrpSpPr>
        <p:grpSpPr>
          <a:xfrm>
            <a:off x="333375" y="81216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69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69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69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0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69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169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93" grpId="0"/>
      <p:bldP spid="169994" grpId="0"/>
      <p:bldP spid="169995" grpId="0"/>
      <p:bldP spid="169996" grpId="0"/>
      <p:bldP spid="169997" grpId="0"/>
      <p:bldP spid="170007" grpId="0" bldLvl="0" animBg="1"/>
      <p:bldP spid="17000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1" name="Rectangle 6"/>
          <p:cNvSpPr/>
          <p:nvPr/>
        </p:nvSpPr>
        <p:spPr>
          <a:xfrm>
            <a:off x="2324100" y="39560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6529" name="Rectangle 33"/>
          <p:cNvSpPr>
            <a:spLocks noChangeArrowheads="1"/>
          </p:cNvSpPr>
          <p:nvPr/>
        </p:nvSpPr>
        <p:spPr bwMode="auto">
          <a:xfrm>
            <a:off x="756603" y="6094730"/>
            <a:ext cx="7164388" cy="611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宋体" panose="02010600030101010101" pitchFamily="2" charset="-122"/>
                <a:cs typeface="+mn-cs"/>
              </a:rPr>
              <a:t>           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宋体" panose="02010600030101010101" pitchFamily="2" charset="-122"/>
                <a:cs typeface="+mn-cs"/>
              </a:rPr>
              <a:t>销连接画法</a:t>
            </a: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anose="02010509060101010101" pitchFamily="49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1066" name="Rectangle 58"/>
          <p:cNvSpPr/>
          <p:nvPr/>
        </p:nvSpPr>
        <p:spPr>
          <a:xfrm>
            <a:off x="1425575" y="5637213"/>
            <a:ext cx="1978025" cy="457200"/>
          </a:xfrm>
          <a:prstGeom prst="rect">
            <a:avLst/>
          </a:prstGeom>
          <a:noFill/>
          <a:ln w="9525">
            <a:noFill/>
          </a:ln>
        </p:spPr>
        <p:txBody>
          <a:bodyPr lIns="88900" tIns="38100" rIns="88900" bIns="38100" anchor="ctr"/>
          <a:lstStyle/>
          <a:p>
            <a:pPr algn="ctr" eaLnBrk="0" hangingPunct="0">
              <a:buSzPct val="100000"/>
              <a:buFont typeface="Times New Roman" panose="02020603050405020304" pitchFamily="18" charset="0"/>
            </a:pPr>
            <a:r>
              <a:rPr lang="en-GB" altLang="zh-CN" sz="24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圆柱销</a:t>
            </a:r>
            <a:r>
              <a:rPr lang="en-GB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联接</a:t>
            </a:r>
            <a:endParaRPr lang="en-GB" altLang="zh-CN" sz="24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71067" name="Rectangle 59"/>
          <p:cNvSpPr/>
          <p:nvPr/>
        </p:nvSpPr>
        <p:spPr>
          <a:xfrm>
            <a:off x="4937125" y="5672138"/>
            <a:ext cx="1955800" cy="457200"/>
          </a:xfrm>
          <a:prstGeom prst="rect">
            <a:avLst/>
          </a:prstGeom>
          <a:noFill/>
          <a:ln w="9525">
            <a:noFill/>
          </a:ln>
        </p:spPr>
        <p:txBody>
          <a:bodyPr lIns="88900" tIns="38100" rIns="88900" bIns="38100" anchor="ctr"/>
          <a:lstStyle/>
          <a:p>
            <a:pPr algn="ctr" eaLnBrk="0" hangingPunct="0">
              <a:buSzPct val="100000"/>
              <a:buFont typeface="Times New Roman" panose="02020603050405020304" pitchFamily="18" charset="0"/>
            </a:pPr>
            <a:r>
              <a:rPr lang="en-GB" altLang="zh-CN" sz="24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圆锥销</a:t>
            </a:r>
            <a:r>
              <a:rPr lang="en-GB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联接</a:t>
            </a:r>
            <a:endParaRPr lang="en-GB" altLang="zh-CN" sz="24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0909" name="Line 63"/>
          <p:cNvSpPr/>
          <p:nvPr/>
        </p:nvSpPr>
        <p:spPr>
          <a:xfrm>
            <a:off x="2268538" y="3854450"/>
            <a:ext cx="0" cy="582613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0910" name="Line 64"/>
          <p:cNvSpPr/>
          <p:nvPr/>
        </p:nvSpPr>
        <p:spPr>
          <a:xfrm>
            <a:off x="2268538" y="4581525"/>
            <a:ext cx="0" cy="14287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0911" name="Line 65"/>
          <p:cNvSpPr/>
          <p:nvPr/>
        </p:nvSpPr>
        <p:spPr>
          <a:xfrm>
            <a:off x="2268538" y="4868863"/>
            <a:ext cx="0" cy="582612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0912" name="Line 66"/>
          <p:cNvSpPr/>
          <p:nvPr/>
        </p:nvSpPr>
        <p:spPr>
          <a:xfrm flipV="1">
            <a:off x="1871663" y="4618038"/>
            <a:ext cx="23812" cy="23812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" name="Group 67"/>
          <p:cNvGrpSpPr/>
          <p:nvPr/>
        </p:nvGrpSpPr>
        <p:grpSpPr>
          <a:xfrm>
            <a:off x="1270000" y="4019550"/>
            <a:ext cx="1995488" cy="622300"/>
            <a:chOff x="800" y="2408"/>
            <a:chExt cx="1257" cy="392"/>
          </a:xfrm>
        </p:grpSpPr>
        <p:grpSp>
          <p:nvGrpSpPr>
            <p:cNvPr id="80994" name="Group 68"/>
            <p:cNvGrpSpPr/>
            <p:nvPr/>
          </p:nvGrpSpPr>
          <p:grpSpPr>
            <a:xfrm>
              <a:off x="800" y="2408"/>
              <a:ext cx="1257" cy="392"/>
              <a:chOff x="800" y="2408"/>
              <a:chExt cx="1257" cy="392"/>
            </a:xfrm>
          </p:grpSpPr>
          <p:sp>
            <p:nvSpPr>
              <p:cNvPr id="80996" name="Line 69"/>
              <p:cNvSpPr/>
              <p:nvPr/>
            </p:nvSpPr>
            <p:spPr>
              <a:xfrm flipH="1" flipV="1">
                <a:off x="1194" y="2408"/>
                <a:ext cx="0" cy="387"/>
              </a:xfrm>
              <a:prstGeom prst="line">
                <a:avLst/>
              </a:prstGeom>
              <a:ln w="27051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97" name="Line 70"/>
              <p:cNvSpPr/>
              <p:nvPr/>
            </p:nvSpPr>
            <p:spPr>
              <a:xfrm flipV="1">
                <a:off x="1652" y="2408"/>
                <a:ext cx="0" cy="387"/>
              </a:xfrm>
              <a:prstGeom prst="line">
                <a:avLst/>
              </a:prstGeom>
              <a:ln w="27051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80998" name="Group 71"/>
              <p:cNvGrpSpPr/>
              <p:nvPr/>
            </p:nvGrpSpPr>
            <p:grpSpPr>
              <a:xfrm>
                <a:off x="800" y="2408"/>
                <a:ext cx="1257" cy="392"/>
                <a:chOff x="800" y="2408"/>
                <a:chExt cx="1257" cy="392"/>
              </a:xfrm>
            </p:grpSpPr>
            <p:sp>
              <p:nvSpPr>
                <p:cNvPr id="80999" name="Line 72"/>
                <p:cNvSpPr/>
                <p:nvPr/>
              </p:nvSpPr>
              <p:spPr>
                <a:xfrm flipV="1">
                  <a:off x="800" y="2408"/>
                  <a:ext cx="138" cy="138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81000" name="Line 73"/>
                <p:cNvSpPr/>
                <p:nvPr/>
              </p:nvSpPr>
              <p:spPr>
                <a:xfrm flipV="1">
                  <a:off x="800" y="2408"/>
                  <a:ext cx="349" cy="349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81001" name="Line 74"/>
                <p:cNvSpPr/>
                <p:nvPr/>
              </p:nvSpPr>
              <p:spPr>
                <a:xfrm flipV="1">
                  <a:off x="968" y="2574"/>
                  <a:ext cx="226" cy="226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81002" name="Line 75"/>
                <p:cNvSpPr/>
                <p:nvPr/>
              </p:nvSpPr>
              <p:spPr>
                <a:xfrm flipV="1">
                  <a:off x="1665" y="2408"/>
                  <a:ext cx="117" cy="118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81003" name="Line 76"/>
                <p:cNvSpPr/>
                <p:nvPr/>
              </p:nvSpPr>
              <p:spPr>
                <a:xfrm flipV="1">
                  <a:off x="1665" y="2408"/>
                  <a:ext cx="329" cy="329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81004" name="Line 77"/>
                <p:cNvSpPr/>
                <p:nvPr/>
              </p:nvSpPr>
              <p:spPr>
                <a:xfrm flipV="1">
                  <a:off x="1813" y="2556"/>
                  <a:ext cx="244" cy="244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81005" name="Line 78"/>
                <p:cNvSpPr/>
                <p:nvPr/>
              </p:nvSpPr>
              <p:spPr>
                <a:xfrm>
                  <a:off x="800" y="2408"/>
                  <a:ext cx="1257" cy="0"/>
                </a:xfrm>
                <a:prstGeom prst="line">
                  <a:avLst/>
                </a:prstGeom>
                <a:ln w="26988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81006" name="Line 79"/>
                <p:cNvSpPr/>
                <p:nvPr/>
              </p:nvSpPr>
              <p:spPr>
                <a:xfrm>
                  <a:off x="800" y="2800"/>
                  <a:ext cx="394" cy="0"/>
                </a:xfrm>
                <a:prstGeom prst="line">
                  <a:avLst/>
                </a:prstGeom>
                <a:ln w="26988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81007" name="Line 80"/>
                <p:cNvSpPr/>
                <p:nvPr/>
              </p:nvSpPr>
              <p:spPr>
                <a:xfrm>
                  <a:off x="1665" y="2800"/>
                  <a:ext cx="392" cy="0"/>
                </a:xfrm>
                <a:prstGeom prst="line">
                  <a:avLst/>
                </a:prstGeom>
                <a:ln w="26988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80995" name="Line 81"/>
            <p:cNvSpPr/>
            <p:nvPr/>
          </p:nvSpPr>
          <p:spPr>
            <a:xfrm>
              <a:off x="1156" y="2795"/>
              <a:ext cx="590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82"/>
          <p:cNvGrpSpPr/>
          <p:nvPr/>
        </p:nvGrpSpPr>
        <p:grpSpPr>
          <a:xfrm>
            <a:off x="1227138" y="4633913"/>
            <a:ext cx="2006600" cy="647700"/>
            <a:chOff x="773" y="2795"/>
            <a:chExt cx="1264" cy="408"/>
          </a:xfrm>
        </p:grpSpPr>
        <p:grpSp>
          <p:nvGrpSpPr>
            <p:cNvPr id="80980" name="Group 83"/>
            <p:cNvGrpSpPr/>
            <p:nvPr/>
          </p:nvGrpSpPr>
          <p:grpSpPr>
            <a:xfrm>
              <a:off x="1196" y="2795"/>
              <a:ext cx="459" cy="408"/>
              <a:chOff x="1196" y="2795"/>
              <a:chExt cx="459" cy="408"/>
            </a:xfrm>
          </p:grpSpPr>
          <p:sp>
            <p:nvSpPr>
              <p:cNvPr id="80992" name="Line 84"/>
              <p:cNvSpPr/>
              <p:nvPr/>
            </p:nvSpPr>
            <p:spPr>
              <a:xfrm>
                <a:off x="1196" y="2795"/>
                <a:ext cx="0" cy="408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93" name="Line 85"/>
              <p:cNvSpPr/>
              <p:nvPr/>
            </p:nvSpPr>
            <p:spPr>
              <a:xfrm>
                <a:off x="1655" y="2795"/>
                <a:ext cx="0" cy="408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80981" name="Group 86"/>
            <p:cNvGrpSpPr/>
            <p:nvPr/>
          </p:nvGrpSpPr>
          <p:grpSpPr>
            <a:xfrm>
              <a:off x="773" y="2795"/>
              <a:ext cx="1264" cy="398"/>
              <a:chOff x="793" y="2795"/>
              <a:chExt cx="1264" cy="398"/>
            </a:xfrm>
          </p:grpSpPr>
          <p:sp>
            <p:nvSpPr>
              <p:cNvPr id="80982" name="Line 87"/>
              <p:cNvSpPr/>
              <p:nvPr/>
            </p:nvSpPr>
            <p:spPr>
              <a:xfrm flipH="1" flipV="1">
                <a:off x="800" y="3139"/>
                <a:ext cx="53" cy="54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83" name="Line 88"/>
              <p:cNvSpPr/>
              <p:nvPr/>
            </p:nvSpPr>
            <p:spPr>
              <a:xfrm flipH="1" flipV="1">
                <a:off x="800" y="2928"/>
                <a:ext cx="264" cy="265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84" name="Line 89"/>
              <p:cNvSpPr/>
              <p:nvPr/>
            </p:nvSpPr>
            <p:spPr>
              <a:xfrm flipH="1" flipV="1">
                <a:off x="883" y="2800"/>
                <a:ext cx="311" cy="311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85" name="Line 90"/>
              <p:cNvSpPr/>
              <p:nvPr/>
            </p:nvSpPr>
            <p:spPr>
              <a:xfrm flipH="1" flipV="1">
                <a:off x="1094" y="2800"/>
                <a:ext cx="100" cy="100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86" name="Line 91"/>
              <p:cNvSpPr/>
              <p:nvPr/>
            </p:nvSpPr>
            <p:spPr>
              <a:xfrm flipH="1" flipV="1">
                <a:off x="1665" y="3159"/>
                <a:ext cx="33" cy="34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87" name="Line 92"/>
              <p:cNvSpPr/>
              <p:nvPr/>
            </p:nvSpPr>
            <p:spPr>
              <a:xfrm flipH="1" flipV="1">
                <a:off x="1665" y="2948"/>
                <a:ext cx="244" cy="245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88" name="Line 93"/>
              <p:cNvSpPr/>
              <p:nvPr/>
            </p:nvSpPr>
            <p:spPr>
              <a:xfrm flipH="1" flipV="1">
                <a:off x="1728" y="2800"/>
                <a:ext cx="329" cy="329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89" name="Line 94"/>
              <p:cNvSpPr/>
              <p:nvPr/>
            </p:nvSpPr>
            <p:spPr>
              <a:xfrm flipH="1" flipV="1">
                <a:off x="1939" y="2800"/>
                <a:ext cx="118" cy="117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90" name="Line 95"/>
              <p:cNvSpPr/>
              <p:nvPr/>
            </p:nvSpPr>
            <p:spPr>
              <a:xfrm>
                <a:off x="800" y="3193"/>
                <a:ext cx="1257" cy="0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91" name="Line 96"/>
              <p:cNvSpPr/>
              <p:nvPr/>
            </p:nvSpPr>
            <p:spPr>
              <a:xfrm>
                <a:off x="793" y="2795"/>
                <a:ext cx="1225" cy="0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8" name="Group 97"/>
          <p:cNvGrpSpPr/>
          <p:nvPr/>
        </p:nvGrpSpPr>
        <p:grpSpPr>
          <a:xfrm>
            <a:off x="1879600" y="4029075"/>
            <a:ext cx="747713" cy="1246188"/>
            <a:chOff x="1194" y="2408"/>
            <a:chExt cx="471" cy="785"/>
          </a:xfrm>
        </p:grpSpPr>
        <p:sp>
          <p:nvSpPr>
            <p:cNvPr id="80970" name="Line 98"/>
            <p:cNvSpPr/>
            <p:nvPr/>
          </p:nvSpPr>
          <p:spPr>
            <a:xfrm flipH="1">
              <a:off x="1194" y="3130"/>
              <a:ext cx="471" cy="0"/>
            </a:xfrm>
            <a:prstGeom prst="line">
              <a:avLst/>
            </a:prstGeom>
            <a:ln w="26988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71" name="Line 99"/>
            <p:cNvSpPr/>
            <p:nvPr/>
          </p:nvSpPr>
          <p:spPr>
            <a:xfrm flipH="1">
              <a:off x="1602" y="3130"/>
              <a:ext cx="63" cy="63"/>
            </a:xfrm>
            <a:prstGeom prst="line">
              <a:avLst/>
            </a:prstGeom>
            <a:ln w="26988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72" name="Line 100"/>
            <p:cNvSpPr/>
            <p:nvPr/>
          </p:nvSpPr>
          <p:spPr>
            <a:xfrm>
              <a:off x="1194" y="3130"/>
              <a:ext cx="63" cy="63"/>
            </a:xfrm>
            <a:prstGeom prst="line">
              <a:avLst/>
            </a:prstGeom>
            <a:ln w="26988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73" name="Line 101"/>
            <p:cNvSpPr/>
            <p:nvPr/>
          </p:nvSpPr>
          <p:spPr>
            <a:xfrm>
              <a:off x="1194" y="2470"/>
              <a:ext cx="471" cy="0"/>
            </a:xfrm>
            <a:prstGeom prst="line">
              <a:avLst/>
            </a:prstGeom>
            <a:ln w="26988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74" name="Line 102"/>
            <p:cNvSpPr/>
            <p:nvPr/>
          </p:nvSpPr>
          <p:spPr>
            <a:xfrm flipV="1">
              <a:off x="1194" y="2408"/>
              <a:ext cx="63" cy="62"/>
            </a:xfrm>
            <a:prstGeom prst="line">
              <a:avLst/>
            </a:prstGeom>
            <a:ln w="26988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75" name="Line 103"/>
            <p:cNvSpPr/>
            <p:nvPr/>
          </p:nvSpPr>
          <p:spPr>
            <a:xfrm>
              <a:off x="1602" y="2408"/>
              <a:ext cx="63" cy="62"/>
            </a:xfrm>
            <a:prstGeom prst="line">
              <a:avLst/>
            </a:prstGeom>
            <a:ln w="26988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76" name="Line 104"/>
            <p:cNvSpPr/>
            <p:nvPr/>
          </p:nvSpPr>
          <p:spPr>
            <a:xfrm>
              <a:off x="1202" y="2454"/>
              <a:ext cx="0" cy="6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77" name="Line 105"/>
            <p:cNvSpPr/>
            <p:nvPr/>
          </p:nvSpPr>
          <p:spPr>
            <a:xfrm>
              <a:off x="1655" y="2460"/>
              <a:ext cx="0" cy="6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78" name="Line 106"/>
            <p:cNvSpPr/>
            <p:nvPr/>
          </p:nvSpPr>
          <p:spPr>
            <a:xfrm>
              <a:off x="1250" y="2408"/>
              <a:ext cx="36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79" name="Line 107"/>
            <p:cNvSpPr/>
            <p:nvPr/>
          </p:nvSpPr>
          <p:spPr>
            <a:xfrm>
              <a:off x="1246" y="3188"/>
              <a:ext cx="36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71116" name="Line 108"/>
          <p:cNvSpPr/>
          <p:nvPr/>
        </p:nvSpPr>
        <p:spPr>
          <a:xfrm>
            <a:off x="1908175" y="4633913"/>
            <a:ext cx="719138" cy="0"/>
          </a:xfrm>
          <a:prstGeom prst="line">
            <a:avLst/>
          </a:prstGeom>
          <a:ln w="3175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1117" name="Line 109"/>
          <p:cNvSpPr/>
          <p:nvPr/>
        </p:nvSpPr>
        <p:spPr>
          <a:xfrm>
            <a:off x="1908175" y="4633913"/>
            <a:ext cx="719138" cy="0"/>
          </a:xfrm>
          <a:prstGeom prst="line">
            <a:avLst/>
          </a:prstGeom>
          <a:ln w="3175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0918" name="Line 110"/>
          <p:cNvSpPr/>
          <p:nvPr/>
        </p:nvSpPr>
        <p:spPr>
          <a:xfrm>
            <a:off x="5889625" y="4011613"/>
            <a:ext cx="0" cy="668337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0919" name="Line 111"/>
          <p:cNvSpPr/>
          <p:nvPr/>
        </p:nvSpPr>
        <p:spPr>
          <a:xfrm>
            <a:off x="5889625" y="4822825"/>
            <a:ext cx="0" cy="144463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0920" name="Line 112"/>
          <p:cNvSpPr/>
          <p:nvPr/>
        </p:nvSpPr>
        <p:spPr>
          <a:xfrm>
            <a:off x="5889625" y="5111750"/>
            <a:ext cx="0" cy="668338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9" name="Group 113"/>
          <p:cNvGrpSpPr/>
          <p:nvPr/>
        </p:nvGrpSpPr>
        <p:grpSpPr>
          <a:xfrm>
            <a:off x="4889500" y="4217988"/>
            <a:ext cx="1995488" cy="647700"/>
            <a:chOff x="3080" y="2533"/>
            <a:chExt cx="1257" cy="408"/>
          </a:xfrm>
        </p:grpSpPr>
        <p:sp>
          <p:nvSpPr>
            <p:cNvPr id="80954" name="Line 114"/>
            <p:cNvSpPr/>
            <p:nvPr/>
          </p:nvSpPr>
          <p:spPr>
            <a:xfrm flipV="1">
              <a:off x="3080" y="2543"/>
              <a:ext cx="76" cy="75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55" name="Line 115"/>
            <p:cNvSpPr/>
            <p:nvPr/>
          </p:nvSpPr>
          <p:spPr>
            <a:xfrm flipV="1">
              <a:off x="3080" y="2543"/>
              <a:ext cx="287" cy="287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56" name="Line 116"/>
            <p:cNvSpPr/>
            <p:nvPr/>
          </p:nvSpPr>
          <p:spPr>
            <a:xfrm flipV="1">
              <a:off x="3186" y="2639"/>
              <a:ext cx="296" cy="296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57" name="Line 117"/>
            <p:cNvSpPr/>
            <p:nvPr/>
          </p:nvSpPr>
          <p:spPr>
            <a:xfrm flipV="1">
              <a:off x="3397" y="2835"/>
              <a:ext cx="100" cy="10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58" name="Line 118"/>
            <p:cNvSpPr/>
            <p:nvPr/>
          </p:nvSpPr>
          <p:spPr>
            <a:xfrm flipV="1">
              <a:off x="3940" y="2543"/>
              <a:ext cx="60" cy="6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59" name="Line 119"/>
            <p:cNvSpPr/>
            <p:nvPr/>
          </p:nvSpPr>
          <p:spPr>
            <a:xfrm flipV="1">
              <a:off x="3922" y="2543"/>
              <a:ext cx="289" cy="289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60" name="Line 120"/>
            <p:cNvSpPr/>
            <p:nvPr/>
          </p:nvSpPr>
          <p:spPr>
            <a:xfrm flipV="1">
              <a:off x="4031" y="2629"/>
              <a:ext cx="306" cy="306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61" name="Line 121"/>
            <p:cNvSpPr/>
            <p:nvPr/>
          </p:nvSpPr>
          <p:spPr>
            <a:xfrm flipV="1">
              <a:off x="4242" y="2840"/>
              <a:ext cx="95" cy="95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62" name="Line 122"/>
            <p:cNvSpPr>
              <a:spLocks noChangeAspect="1"/>
            </p:cNvSpPr>
            <p:nvPr/>
          </p:nvSpPr>
          <p:spPr>
            <a:xfrm flipV="1">
              <a:off x="3923" y="2536"/>
              <a:ext cx="23" cy="404"/>
            </a:xfrm>
            <a:prstGeom prst="line">
              <a:avLst/>
            </a:prstGeom>
            <a:ln w="27051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63" name="Line 123"/>
            <p:cNvSpPr/>
            <p:nvPr/>
          </p:nvSpPr>
          <p:spPr>
            <a:xfrm flipH="1" flipV="1">
              <a:off x="3470" y="2533"/>
              <a:ext cx="45" cy="408"/>
            </a:xfrm>
            <a:prstGeom prst="line">
              <a:avLst/>
            </a:prstGeom>
            <a:ln w="26988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64" name="Line 124"/>
            <p:cNvSpPr/>
            <p:nvPr/>
          </p:nvSpPr>
          <p:spPr>
            <a:xfrm>
              <a:off x="3080" y="2935"/>
              <a:ext cx="425" cy="0"/>
            </a:xfrm>
            <a:prstGeom prst="line">
              <a:avLst/>
            </a:prstGeom>
            <a:ln w="26988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65" name="Line 125"/>
            <p:cNvSpPr/>
            <p:nvPr/>
          </p:nvSpPr>
          <p:spPr>
            <a:xfrm>
              <a:off x="3080" y="2543"/>
              <a:ext cx="394" cy="0"/>
            </a:xfrm>
            <a:prstGeom prst="line">
              <a:avLst/>
            </a:prstGeom>
            <a:ln w="26988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66" name="Line 126"/>
            <p:cNvSpPr/>
            <p:nvPr/>
          </p:nvSpPr>
          <p:spPr>
            <a:xfrm>
              <a:off x="3914" y="2935"/>
              <a:ext cx="423" cy="0"/>
            </a:xfrm>
            <a:prstGeom prst="line">
              <a:avLst/>
            </a:prstGeom>
            <a:ln w="26988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67" name="Line 127"/>
            <p:cNvSpPr/>
            <p:nvPr/>
          </p:nvSpPr>
          <p:spPr>
            <a:xfrm>
              <a:off x="3945" y="2543"/>
              <a:ext cx="392" cy="0"/>
            </a:xfrm>
            <a:prstGeom prst="line">
              <a:avLst/>
            </a:prstGeom>
            <a:ln w="26988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68" name="Line 128"/>
            <p:cNvSpPr/>
            <p:nvPr/>
          </p:nvSpPr>
          <p:spPr>
            <a:xfrm>
              <a:off x="3470" y="2541"/>
              <a:ext cx="499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69" name="Line 129"/>
            <p:cNvSpPr/>
            <p:nvPr/>
          </p:nvSpPr>
          <p:spPr>
            <a:xfrm>
              <a:off x="3515" y="2933"/>
              <a:ext cx="408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" name="Group 130"/>
          <p:cNvGrpSpPr/>
          <p:nvPr/>
        </p:nvGrpSpPr>
        <p:grpSpPr>
          <a:xfrm>
            <a:off x="4859338" y="4846638"/>
            <a:ext cx="2025650" cy="650875"/>
            <a:chOff x="3061" y="2929"/>
            <a:chExt cx="1276" cy="410"/>
          </a:xfrm>
        </p:grpSpPr>
        <p:sp>
          <p:nvSpPr>
            <p:cNvPr id="80941" name="Line 131"/>
            <p:cNvSpPr/>
            <p:nvPr/>
          </p:nvSpPr>
          <p:spPr>
            <a:xfrm>
              <a:off x="3080" y="3328"/>
              <a:ext cx="1257" cy="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80942" name="Group 132"/>
            <p:cNvGrpSpPr/>
            <p:nvPr/>
          </p:nvGrpSpPr>
          <p:grpSpPr>
            <a:xfrm>
              <a:off x="3061" y="2929"/>
              <a:ext cx="1276" cy="410"/>
              <a:chOff x="3061" y="2929"/>
              <a:chExt cx="1276" cy="410"/>
            </a:xfrm>
          </p:grpSpPr>
          <p:sp>
            <p:nvSpPr>
              <p:cNvPr id="80943" name="Line 133"/>
              <p:cNvSpPr/>
              <p:nvPr/>
            </p:nvSpPr>
            <p:spPr>
              <a:xfrm flipH="1" flipV="1">
                <a:off x="3080" y="3212"/>
                <a:ext cx="116" cy="116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44" name="Line 134"/>
              <p:cNvSpPr/>
              <p:nvPr/>
            </p:nvSpPr>
            <p:spPr>
              <a:xfrm flipH="1" flipV="1">
                <a:off x="3080" y="3001"/>
                <a:ext cx="327" cy="327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45" name="Line 135"/>
              <p:cNvSpPr/>
              <p:nvPr/>
            </p:nvSpPr>
            <p:spPr>
              <a:xfrm flipH="1" flipV="1">
                <a:off x="3226" y="2935"/>
                <a:ext cx="302" cy="303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46" name="Line 136"/>
              <p:cNvSpPr/>
              <p:nvPr/>
            </p:nvSpPr>
            <p:spPr>
              <a:xfrm flipH="1" flipV="1">
                <a:off x="3437" y="2935"/>
                <a:ext cx="73" cy="73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47" name="Line 137"/>
              <p:cNvSpPr/>
              <p:nvPr/>
            </p:nvSpPr>
            <p:spPr>
              <a:xfrm flipH="1" flipV="1">
                <a:off x="3895" y="3183"/>
                <a:ext cx="145" cy="145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48" name="Line 138"/>
              <p:cNvSpPr/>
              <p:nvPr/>
            </p:nvSpPr>
            <p:spPr>
              <a:xfrm flipH="1" flipV="1">
                <a:off x="3910" y="2986"/>
                <a:ext cx="341" cy="342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49" name="Line 139"/>
              <p:cNvSpPr/>
              <p:nvPr/>
            </p:nvSpPr>
            <p:spPr>
              <a:xfrm flipH="1" flipV="1">
                <a:off x="4071" y="2935"/>
                <a:ext cx="266" cy="267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50" name="Line 140"/>
              <p:cNvSpPr/>
              <p:nvPr/>
            </p:nvSpPr>
            <p:spPr>
              <a:xfrm flipH="1" flipV="1">
                <a:off x="4282" y="2935"/>
                <a:ext cx="55" cy="55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51" name="Line 141"/>
              <p:cNvSpPr/>
              <p:nvPr/>
            </p:nvSpPr>
            <p:spPr>
              <a:xfrm>
                <a:off x="3513" y="2929"/>
                <a:ext cx="34" cy="408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52" name="Line 142"/>
              <p:cNvSpPr/>
              <p:nvPr/>
            </p:nvSpPr>
            <p:spPr>
              <a:xfrm flipH="1">
                <a:off x="3878" y="2931"/>
                <a:ext cx="45" cy="408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53" name="Line 143"/>
              <p:cNvSpPr/>
              <p:nvPr/>
            </p:nvSpPr>
            <p:spPr>
              <a:xfrm>
                <a:off x="3061" y="2931"/>
                <a:ext cx="1271" cy="0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2" name="Group 144"/>
          <p:cNvGrpSpPr/>
          <p:nvPr/>
        </p:nvGrpSpPr>
        <p:grpSpPr>
          <a:xfrm>
            <a:off x="5508625" y="4065588"/>
            <a:ext cx="760413" cy="1490662"/>
            <a:chOff x="3470" y="2437"/>
            <a:chExt cx="479" cy="939"/>
          </a:xfrm>
        </p:grpSpPr>
        <p:grpSp>
          <p:nvGrpSpPr>
            <p:cNvPr id="80930" name="Group 145"/>
            <p:cNvGrpSpPr/>
            <p:nvPr/>
          </p:nvGrpSpPr>
          <p:grpSpPr>
            <a:xfrm>
              <a:off x="3470" y="2437"/>
              <a:ext cx="479" cy="939"/>
              <a:chOff x="3470" y="2437"/>
              <a:chExt cx="479" cy="939"/>
            </a:xfrm>
          </p:grpSpPr>
          <p:sp>
            <p:nvSpPr>
              <p:cNvPr id="80932" name="Line 146"/>
              <p:cNvSpPr/>
              <p:nvPr/>
            </p:nvSpPr>
            <p:spPr>
              <a:xfrm flipV="1">
                <a:off x="3884" y="2486"/>
                <a:ext cx="65" cy="842"/>
              </a:xfrm>
              <a:prstGeom prst="line">
                <a:avLst/>
              </a:prstGeom>
              <a:ln w="26988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33" name="Line 147"/>
              <p:cNvSpPr/>
              <p:nvPr/>
            </p:nvSpPr>
            <p:spPr>
              <a:xfrm flipH="1" flipV="1">
                <a:off x="3470" y="2486"/>
                <a:ext cx="65" cy="842"/>
              </a:xfrm>
              <a:prstGeom prst="line">
                <a:avLst/>
              </a:prstGeom>
              <a:ln w="26988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34" name="Line 148"/>
              <p:cNvSpPr/>
              <p:nvPr/>
            </p:nvSpPr>
            <p:spPr>
              <a:xfrm>
                <a:off x="3583" y="3376"/>
                <a:ext cx="253" cy="0"/>
              </a:xfrm>
              <a:prstGeom prst="line">
                <a:avLst/>
              </a:prstGeom>
              <a:ln w="26988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35" name="Line 149"/>
              <p:cNvSpPr/>
              <p:nvPr/>
            </p:nvSpPr>
            <p:spPr>
              <a:xfrm>
                <a:off x="3535" y="3328"/>
                <a:ext cx="48" cy="48"/>
              </a:xfrm>
              <a:prstGeom prst="line">
                <a:avLst/>
              </a:prstGeom>
              <a:ln w="26988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36" name="Line 150"/>
              <p:cNvSpPr/>
              <p:nvPr/>
            </p:nvSpPr>
            <p:spPr>
              <a:xfrm flipH="1">
                <a:off x="3836" y="3328"/>
                <a:ext cx="48" cy="48"/>
              </a:xfrm>
              <a:prstGeom prst="line">
                <a:avLst/>
              </a:prstGeom>
              <a:ln w="26988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37" name="Line 151"/>
              <p:cNvSpPr/>
              <p:nvPr/>
            </p:nvSpPr>
            <p:spPr>
              <a:xfrm>
                <a:off x="3470" y="2486"/>
                <a:ext cx="479" cy="0"/>
              </a:xfrm>
              <a:prstGeom prst="line">
                <a:avLst/>
              </a:prstGeom>
              <a:ln w="26988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38" name="Line 152"/>
              <p:cNvSpPr/>
              <p:nvPr/>
            </p:nvSpPr>
            <p:spPr>
              <a:xfrm flipH="1">
                <a:off x="3470" y="2437"/>
                <a:ext cx="49" cy="49"/>
              </a:xfrm>
              <a:prstGeom prst="line">
                <a:avLst/>
              </a:prstGeom>
              <a:ln w="26988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39" name="Line 153"/>
              <p:cNvSpPr/>
              <p:nvPr/>
            </p:nvSpPr>
            <p:spPr>
              <a:xfrm>
                <a:off x="3900" y="2437"/>
                <a:ext cx="49" cy="49"/>
              </a:xfrm>
              <a:prstGeom prst="line">
                <a:avLst/>
              </a:prstGeom>
              <a:ln w="26988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40" name="Line 154"/>
              <p:cNvSpPr/>
              <p:nvPr/>
            </p:nvSpPr>
            <p:spPr>
              <a:xfrm>
                <a:off x="3519" y="2437"/>
                <a:ext cx="381" cy="0"/>
              </a:xfrm>
              <a:prstGeom prst="line">
                <a:avLst/>
              </a:prstGeom>
              <a:ln w="26988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80931" name="Line 155"/>
            <p:cNvSpPr/>
            <p:nvPr/>
          </p:nvSpPr>
          <p:spPr>
            <a:xfrm>
              <a:off x="3533" y="3327"/>
              <a:ext cx="3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71164" name="Line 156"/>
          <p:cNvSpPr/>
          <p:nvPr/>
        </p:nvSpPr>
        <p:spPr>
          <a:xfrm>
            <a:off x="5537200" y="4230688"/>
            <a:ext cx="719138" cy="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1165" name="Line 157"/>
          <p:cNvSpPr/>
          <p:nvPr/>
        </p:nvSpPr>
        <p:spPr>
          <a:xfrm>
            <a:off x="5600700" y="4849813"/>
            <a:ext cx="576263" cy="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1166" name="Line 158"/>
          <p:cNvSpPr/>
          <p:nvPr/>
        </p:nvSpPr>
        <p:spPr>
          <a:xfrm>
            <a:off x="5670550" y="5478463"/>
            <a:ext cx="433388" cy="0"/>
          </a:xfrm>
          <a:prstGeom prst="line">
            <a:avLst/>
          </a:prstGeom>
          <a:ln w="28575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" name="Rectangle 33"/>
          <p:cNvSpPr>
            <a:spLocks noGrp="1" noChangeArrowheads="1"/>
          </p:cNvSpPr>
          <p:nvPr/>
        </p:nvSpPr>
        <p:spPr>
          <a:xfrm>
            <a:off x="847725" y="0"/>
            <a:ext cx="5976938" cy="611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+mj-ea"/>
                <a:cs typeface="+mj-cs"/>
              </a:rPr>
              <a:t>(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+mj-ea"/>
                <a:cs typeface="+mj-cs"/>
              </a:rPr>
              <a:t>二）销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+mj-ea"/>
                <a:cs typeface="+mj-cs"/>
              </a:rPr>
              <a:t> 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anose="02010509060101010101" pitchFamily="49" charset="-122"/>
              <a:ea typeface="+mj-ea"/>
              <a:cs typeface="+mj-cs"/>
            </a:endParaRPr>
          </a:p>
        </p:txBody>
      </p:sp>
      <p:grpSp>
        <p:nvGrpSpPr>
          <p:cNvPr id="343051" name="组合 343050"/>
          <p:cNvGrpSpPr/>
          <p:nvPr/>
        </p:nvGrpSpPr>
        <p:grpSpPr>
          <a:xfrm>
            <a:off x="333375" y="81216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2089" name="Text Box 57"/>
          <p:cNvSpPr txBox="1"/>
          <p:nvPr/>
        </p:nvSpPr>
        <p:spPr>
          <a:xfrm>
            <a:off x="333375" y="852805"/>
            <a:ext cx="8352155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    由于用销连接的两个零件上的销孔通常需一起加工，因此，在图样中标注销孔尺寸时一般要注写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2000" b="1" dirty="0">
                <a:solidFill>
                  <a:srgbClr val="3A38F9"/>
                </a:solidFill>
                <a:latin typeface="Times New Roman" panose="02020603050405020304" pitchFamily="18" charset="0"/>
                <a:ea typeface="楷体_GB2312" pitchFamily="49" charset="-122"/>
              </a:rPr>
              <a:t>装时</a:t>
            </a:r>
            <a:r>
              <a:rPr lang="zh-CN" altLang="en-US" sz="20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配作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”或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“</a:t>
            </a:r>
            <a:r>
              <a:rPr lang="zh-CN" altLang="en-US" sz="2000" b="1" dirty="0">
                <a:solidFill>
                  <a:srgbClr val="3A38F9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与××件</a:t>
            </a:r>
            <a:r>
              <a:rPr lang="zh-CN" altLang="en-US" sz="20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配作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”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72090" name="Picture 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3905" y="1483043"/>
            <a:ext cx="5076825" cy="19843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" name="Group 59"/>
          <p:cNvGrpSpPr/>
          <p:nvPr/>
        </p:nvGrpSpPr>
        <p:grpSpPr>
          <a:xfrm>
            <a:off x="2207260" y="3192463"/>
            <a:ext cx="2133600" cy="763587"/>
            <a:chOff x="3648" y="2256"/>
            <a:chExt cx="1344" cy="481"/>
          </a:xfrm>
        </p:grpSpPr>
        <p:sp>
          <p:nvSpPr>
            <p:cNvPr id="81934" name="Text Box 60"/>
            <p:cNvSpPr txBox="1"/>
            <p:nvPr/>
          </p:nvSpPr>
          <p:spPr>
            <a:xfrm>
              <a:off x="3648" y="2486"/>
              <a:ext cx="134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eaLnBrk="0" hangingPunct="0"/>
              <a:r>
                <a:rPr lang="zh-CN" altLang="en-US" sz="2000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销孔配钻</a:t>
              </a:r>
              <a:endParaRPr lang="zh-CN" altLang="en-US" sz="2000" b="1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1935" name="Line 61"/>
            <p:cNvSpPr/>
            <p:nvPr/>
          </p:nvSpPr>
          <p:spPr>
            <a:xfrm flipV="1">
              <a:off x="3936" y="2256"/>
              <a:ext cx="288" cy="240"/>
            </a:xfrm>
            <a:prstGeom prst="line">
              <a:avLst/>
            </a:prstGeom>
            <a:ln w="9525" cap="flat" cmpd="sng">
              <a:solidFill>
                <a:srgbClr val="8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" name="Group 62"/>
          <p:cNvGrpSpPr/>
          <p:nvPr/>
        </p:nvGrpSpPr>
        <p:grpSpPr>
          <a:xfrm>
            <a:off x="5125720" y="3192463"/>
            <a:ext cx="2133600" cy="763587"/>
            <a:chOff x="3648" y="2256"/>
            <a:chExt cx="1344" cy="481"/>
          </a:xfrm>
        </p:grpSpPr>
        <p:sp>
          <p:nvSpPr>
            <p:cNvPr id="81932" name="Text Box 63"/>
            <p:cNvSpPr txBox="1"/>
            <p:nvPr/>
          </p:nvSpPr>
          <p:spPr>
            <a:xfrm>
              <a:off x="3648" y="2486"/>
              <a:ext cx="134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eaLnBrk="0" hangingPunct="0"/>
              <a:r>
                <a:rPr lang="zh-CN" altLang="en-US" sz="2000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锥销孔配钻</a:t>
              </a:r>
              <a:endParaRPr lang="zh-CN" altLang="en-US" sz="2000" b="1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1933" name="Line 64"/>
            <p:cNvSpPr/>
            <p:nvPr/>
          </p:nvSpPr>
          <p:spPr>
            <a:xfrm flipV="1">
              <a:off x="3936" y="2256"/>
              <a:ext cx="288" cy="240"/>
            </a:xfrm>
            <a:prstGeom prst="line">
              <a:avLst/>
            </a:prstGeom>
            <a:ln w="9525" cap="flat" cmpd="sng">
              <a:solidFill>
                <a:srgbClr val="800000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71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71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1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500"/>
                                        <p:tgtEl>
                                          <p:spTgt spid="17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171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171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171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1" dur="500"/>
                                        <p:tgtEl>
                                          <p:spTgt spid="1711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2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7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66" grpId="0"/>
      <p:bldP spid="171067" grpId="0"/>
      <p:bldP spid="172089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8" name="Rectangle 6"/>
          <p:cNvSpPr/>
          <p:nvPr/>
        </p:nvSpPr>
        <p:spPr>
          <a:xfrm>
            <a:off x="2324100" y="39560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Rectangle 33"/>
          <p:cNvSpPr>
            <a:spLocks noGrp="1" noChangeArrowheads="1"/>
          </p:cNvSpPr>
          <p:nvPr/>
        </p:nvSpPr>
        <p:spPr>
          <a:xfrm>
            <a:off x="847725" y="0"/>
            <a:ext cx="5976938" cy="611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+mj-ea"/>
                <a:cs typeface="+mj-cs"/>
              </a:rPr>
              <a:t>三、弹簧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anose="02010509060101010101" pitchFamily="49" charset="-122"/>
              <a:ea typeface="+mj-ea"/>
              <a:cs typeface="+mj-cs"/>
            </a:endParaRPr>
          </a:p>
        </p:txBody>
      </p:sp>
      <p:grpSp>
        <p:nvGrpSpPr>
          <p:cNvPr id="343051" name="组合 343050"/>
          <p:cNvGrpSpPr/>
          <p:nvPr/>
        </p:nvGrpSpPr>
        <p:grpSpPr>
          <a:xfrm>
            <a:off x="333375" y="81216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2523" name="Rectangle 11"/>
          <p:cNvSpPr/>
          <p:nvPr/>
        </p:nvSpPr>
        <p:spPr>
          <a:xfrm>
            <a:off x="3759200" y="3033713"/>
            <a:ext cx="1695450" cy="457200"/>
          </a:xfrm>
          <a:prstGeom prst="rect">
            <a:avLst/>
          </a:prstGeom>
          <a:noFill/>
          <a:ln w="9525">
            <a:noFill/>
          </a:ln>
        </p:spPr>
        <p:txBody>
          <a:bodyPr lIns="88900" tIns="38100" rIns="88900" bIns="38100"/>
          <a:lstStyle/>
          <a:p>
            <a:pPr eaLnBrk="0" hangingPunct="0">
              <a:spcBef>
                <a:spcPct val="50000"/>
              </a:spcBef>
              <a:buSzPct val="100000"/>
              <a:buFont typeface="Times New Roman" panose="02020603050405020304" pitchFamily="18" charset="0"/>
            </a:pPr>
            <a:r>
              <a:rPr lang="en-GB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螺旋弹簧</a:t>
            </a:r>
            <a:endParaRPr lang="en-GB" altLang="zh-CN" sz="24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2524" name="Rectangle 12"/>
          <p:cNvSpPr/>
          <p:nvPr/>
        </p:nvSpPr>
        <p:spPr>
          <a:xfrm>
            <a:off x="1419225" y="3046413"/>
            <a:ext cx="2881313" cy="457200"/>
          </a:xfrm>
          <a:prstGeom prst="rect">
            <a:avLst/>
          </a:prstGeom>
          <a:noFill/>
          <a:ln w="9525">
            <a:noFill/>
          </a:ln>
        </p:spPr>
        <p:txBody>
          <a:bodyPr lIns="88900" tIns="38100" rIns="88900" bIns="38100"/>
          <a:lstStyle/>
          <a:p>
            <a:pPr eaLnBrk="0" hangingPunct="0">
              <a:spcBef>
                <a:spcPct val="50000"/>
              </a:spcBef>
              <a:buSzPct val="100000"/>
              <a:buFont typeface="Times New Roman" panose="02020603050405020304" pitchFamily="18" charset="0"/>
            </a:pPr>
            <a:r>
              <a:rPr lang="zh-CN" altLang="en-GB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常见的弹簧的有：</a:t>
            </a:r>
            <a:endParaRPr lang="zh-CN" altLang="en-GB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2525" name="Rectangle 13"/>
          <p:cNvSpPr/>
          <p:nvPr/>
        </p:nvSpPr>
        <p:spPr>
          <a:xfrm>
            <a:off x="3823018" y="3746183"/>
            <a:ext cx="1809750" cy="457200"/>
          </a:xfrm>
          <a:prstGeom prst="rect">
            <a:avLst/>
          </a:prstGeom>
          <a:noFill/>
          <a:ln w="9525">
            <a:noFill/>
          </a:ln>
        </p:spPr>
        <p:txBody>
          <a:bodyPr lIns="88900" tIns="38100" rIns="88900" bIns="38100"/>
          <a:lstStyle/>
          <a:p>
            <a:pPr eaLnBrk="0" hangingPunct="0">
              <a:spcBef>
                <a:spcPct val="50000"/>
              </a:spcBef>
              <a:buSzPct val="100000"/>
              <a:buFont typeface="Times New Roman" panose="02020603050405020304" pitchFamily="18" charset="0"/>
            </a:pPr>
            <a:r>
              <a:rPr lang="en-GB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涡卷弹簧</a:t>
            </a:r>
            <a:endParaRPr lang="en-GB" altLang="zh-CN" sz="24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2528" name="AutoShape 16"/>
          <p:cNvSpPr/>
          <p:nvPr/>
        </p:nvSpPr>
        <p:spPr>
          <a:xfrm>
            <a:off x="5200650" y="2832100"/>
            <a:ext cx="209550" cy="914400"/>
          </a:xfrm>
          <a:prstGeom prst="leftBrace">
            <a:avLst>
              <a:gd name="adj1" fmla="val 36363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2529" name="Rectangle 17"/>
          <p:cNvSpPr/>
          <p:nvPr/>
        </p:nvSpPr>
        <p:spPr>
          <a:xfrm>
            <a:off x="5410200" y="2546350"/>
            <a:ext cx="1600200" cy="457200"/>
          </a:xfrm>
          <a:prstGeom prst="rect">
            <a:avLst/>
          </a:prstGeom>
          <a:noFill/>
          <a:ln w="9525">
            <a:noFill/>
          </a:ln>
        </p:spPr>
        <p:txBody>
          <a:bodyPr lIns="88900" tIns="38100" rIns="88900" bIns="38100"/>
          <a:lstStyle/>
          <a:p>
            <a:pPr eaLnBrk="0" hangingPunct="0">
              <a:spcBef>
                <a:spcPct val="50000"/>
              </a:spcBef>
              <a:buSzPct val="100000"/>
              <a:buFont typeface="Times New Roman" panose="02020603050405020304" pitchFamily="18" charset="0"/>
            </a:pPr>
            <a:r>
              <a:rPr lang="en-GB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压力弹簧</a:t>
            </a:r>
            <a:endParaRPr lang="en-GB" altLang="zh-CN" sz="24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2530" name="Rectangle 18"/>
          <p:cNvSpPr/>
          <p:nvPr/>
        </p:nvSpPr>
        <p:spPr>
          <a:xfrm>
            <a:off x="5448300" y="3003550"/>
            <a:ext cx="1466850" cy="457200"/>
          </a:xfrm>
          <a:prstGeom prst="rect">
            <a:avLst/>
          </a:prstGeom>
          <a:noFill/>
          <a:ln w="9525">
            <a:noFill/>
          </a:ln>
        </p:spPr>
        <p:txBody>
          <a:bodyPr lIns="88900" tIns="38100" rIns="88900" bIns="38100"/>
          <a:lstStyle/>
          <a:p>
            <a:pPr eaLnBrk="0" hangingPunct="0">
              <a:spcBef>
                <a:spcPct val="50000"/>
              </a:spcBef>
              <a:buSzPct val="100000"/>
              <a:buFont typeface="Times New Roman" panose="02020603050405020304" pitchFamily="18" charset="0"/>
            </a:pPr>
            <a:r>
              <a:rPr lang="en-GB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拉力弹簧</a:t>
            </a:r>
            <a:endParaRPr lang="en-GB" altLang="zh-CN" sz="24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2531" name="Rectangle 19"/>
          <p:cNvSpPr/>
          <p:nvPr/>
        </p:nvSpPr>
        <p:spPr>
          <a:xfrm>
            <a:off x="5467350" y="3422650"/>
            <a:ext cx="1733550" cy="457200"/>
          </a:xfrm>
          <a:prstGeom prst="rect">
            <a:avLst/>
          </a:prstGeom>
          <a:noFill/>
          <a:ln w="9525">
            <a:noFill/>
          </a:ln>
        </p:spPr>
        <p:txBody>
          <a:bodyPr lIns="88900" tIns="38100" rIns="88900" bIns="38100"/>
          <a:lstStyle/>
          <a:p>
            <a:pPr eaLnBrk="0" hangingPunct="0">
              <a:spcBef>
                <a:spcPct val="50000"/>
              </a:spcBef>
              <a:buSzPct val="100000"/>
            </a:pPr>
            <a:r>
              <a:rPr lang="en-GB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扭力弹簧</a:t>
            </a:r>
            <a:endParaRPr lang="en-GB" altLang="zh-CN" sz="24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2538" name="Rectangle 26"/>
          <p:cNvSpPr/>
          <p:nvPr/>
        </p:nvSpPr>
        <p:spPr>
          <a:xfrm>
            <a:off x="3059113" y="944563"/>
            <a:ext cx="3336925" cy="458787"/>
          </a:xfrm>
          <a:prstGeom prst="rect">
            <a:avLst/>
          </a:prstGeom>
          <a:noFill/>
          <a:ln w="9525">
            <a:noFill/>
          </a:ln>
        </p:spPr>
        <p:txBody>
          <a:bodyPr lIns="88900" tIns="38100" rIns="88900" bIns="38100"/>
          <a:lstStyle/>
          <a:p>
            <a:pPr eaLnBrk="0" hangingPunct="0">
              <a:buSzPct val="100000"/>
              <a:buFont typeface="Times New Roman" panose="02020603050405020304" pitchFamily="18" charset="0"/>
            </a:pPr>
            <a:r>
              <a:rPr lang="en-GB" altLang="zh-CN" sz="2400" b="1" dirty="0">
                <a:solidFill>
                  <a:srgbClr val="800000"/>
                </a:solidFill>
                <a:latin typeface="楷体_GB2312" pitchFamily="49" charset="-122"/>
                <a:ea typeface="楷体_GB2312" pitchFamily="49" charset="-122"/>
              </a:rPr>
              <a:t>弹簧的作用和种类:</a:t>
            </a:r>
            <a:r>
              <a:rPr lang="en-GB" altLang="zh-CN" sz="2400" dirty="0">
                <a:solidFill>
                  <a:srgbClr val="800000"/>
                </a:solidFill>
                <a:latin typeface="楷体_GB2312" pitchFamily="49" charset="-122"/>
                <a:ea typeface="楷体_GB2312" pitchFamily="49" charset="-122"/>
              </a:rPr>
              <a:t>     </a:t>
            </a:r>
            <a:endParaRPr lang="en-GB" altLang="zh-CN" sz="2400" dirty="0">
              <a:solidFill>
                <a:srgbClr val="8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2539" name="Rectangle 27"/>
          <p:cNvSpPr/>
          <p:nvPr/>
        </p:nvSpPr>
        <p:spPr>
          <a:xfrm>
            <a:off x="593725" y="1700213"/>
            <a:ext cx="7416800" cy="822325"/>
          </a:xfrm>
          <a:prstGeom prst="rect">
            <a:avLst/>
          </a:prstGeom>
          <a:noFill/>
          <a:ln w="9525">
            <a:noFill/>
          </a:ln>
        </p:spPr>
        <p:txBody>
          <a:bodyPr lIns="88900" tIns="38100" rIns="88900" bIns="38100"/>
          <a:lstStyle/>
          <a:p>
            <a:pPr algn="just" eaLnBrk="0" hangingPunct="0">
              <a:buSzPct val="100000"/>
              <a:buFont typeface="Times New Roman" panose="02020603050405020304" pitchFamily="18" charset="0"/>
            </a:pPr>
            <a:r>
              <a:rPr lang="en-GB" altLang="zh-CN" sz="2400" dirty="0"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en-GB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弹簧的用途很广，它可以用来减震、夹紧、测力、储能等。其特点是外力去除后能立即恢复原状。</a:t>
            </a:r>
            <a:endParaRPr lang="en-GB" altLang="zh-CN" sz="24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192543" name="Picture 3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4633" t="50243" r="58661" b="38123"/>
          <a:stretch>
            <a:fillRect/>
          </a:stretch>
        </p:blipFill>
        <p:spPr>
          <a:xfrm>
            <a:off x="698500" y="4634230"/>
            <a:ext cx="1008063" cy="10731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  <p:pic>
        <p:nvPicPr>
          <p:cNvPr id="192544" name="Picture 3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1571" t="49847" r="52916" b="35713"/>
          <a:stretch>
            <a:fillRect/>
          </a:stretch>
        </p:blipFill>
        <p:spPr>
          <a:xfrm>
            <a:off x="2078355" y="4616450"/>
            <a:ext cx="828675" cy="13319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  <p:pic>
        <p:nvPicPr>
          <p:cNvPr id="192545" name="Picture 3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239" t="49847" r="42619" b="35713"/>
          <a:stretch>
            <a:fillRect/>
          </a:stretch>
        </p:blipFill>
        <p:spPr>
          <a:xfrm>
            <a:off x="3337560" y="4634230"/>
            <a:ext cx="1223963" cy="13319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  <p:pic>
        <p:nvPicPr>
          <p:cNvPr id="192546" name="Picture 3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8585" t="48280" r="32555" b="38123"/>
          <a:stretch>
            <a:fillRect/>
          </a:stretch>
        </p:blipFill>
        <p:spPr>
          <a:xfrm>
            <a:off x="4922838" y="4655185"/>
            <a:ext cx="1331912" cy="12541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  <p:sp>
        <p:nvSpPr>
          <p:cNvPr id="19" name="Rectangle 13"/>
          <p:cNvSpPr/>
          <p:nvPr/>
        </p:nvSpPr>
        <p:spPr>
          <a:xfrm>
            <a:off x="3880168" y="4231958"/>
            <a:ext cx="1809750" cy="457200"/>
          </a:xfrm>
          <a:prstGeom prst="rect">
            <a:avLst/>
          </a:prstGeom>
          <a:noFill/>
          <a:ln w="9525">
            <a:noFill/>
          </a:ln>
        </p:spPr>
        <p:txBody>
          <a:bodyPr lIns="88900" tIns="38100" rIns="88900" bIns="38100"/>
          <a:lstStyle/>
          <a:p>
            <a:pPr eaLnBrk="0" hangingPunct="0">
              <a:spcBef>
                <a:spcPct val="50000"/>
              </a:spcBef>
              <a:buSzPct val="100000"/>
              <a:buFont typeface="Times New Roman" panose="02020603050405020304" pitchFamily="18" charset="0"/>
            </a:pPr>
            <a:r>
              <a:rPr lang="zh-CN" altLang="en-GB" sz="2400" b="1" dirty="0">
                <a:latin typeface="Times New Roman" panose="02020603050405020304" pitchFamily="18" charset="0"/>
                <a:ea typeface="楷体_GB2312" pitchFamily="49" charset="-122"/>
              </a:rPr>
              <a:t>板</a:t>
            </a:r>
            <a:r>
              <a:rPr lang="en-GB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弹簧</a:t>
            </a:r>
            <a:endParaRPr lang="en-GB" altLang="zh-CN" sz="24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150" y="4655185"/>
            <a:ext cx="1569085" cy="117665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2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92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2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92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9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9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9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9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9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92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9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23" grpId="0"/>
      <p:bldP spid="192524" grpId="0"/>
      <p:bldP spid="192525" grpId="0"/>
      <p:bldP spid="192528" grpId="0" bldLvl="0" animBg="1"/>
      <p:bldP spid="192529" grpId="0"/>
      <p:bldP spid="192530" grpId="0"/>
      <p:bldP spid="192531" grpId="0"/>
      <p:bldP spid="192538" grpId="0"/>
      <p:bldP spid="1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882015"/>
            <a:ext cx="8229600" cy="535940"/>
          </a:xfrm>
        </p:spPr>
        <p:txBody>
          <a:bodyPr/>
          <a:lstStyle/>
          <a:p>
            <a:r>
              <a:rPr lang="en-GB" altLang="zh-CN" sz="2000" b="1" dirty="0">
                <a:solidFill>
                  <a:srgbClr val="660066"/>
                </a:solidFill>
                <a:latin typeface="Times New Roman" panose="02020603050405020304" pitchFamily="18" charset="0"/>
                <a:ea typeface="仿宋_GB2312" pitchFamily="49" charset="-122"/>
                <a:sym typeface="+mn-ea"/>
              </a:rPr>
              <a:t>在装配图中螺旋弹簧的画法</a:t>
            </a:r>
            <a:endParaRPr lang="zh-CN" altLang="en-US" sz="2000"/>
          </a:p>
        </p:txBody>
      </p:sp>
      <p:pic>
        <p:nvPicPr>
          <p:cNvPr id="197641" name="Picture 9" descr="9833044866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1228725"/>
            <a:ext cx="1528763" cy="38242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7642" name="Picture 10" descr="2959491775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475" y="1687513"/>
            <a:ext cx="2635250" cy="3000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7643" name="Picture 11" descr="6497828128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363" y="1597025"/>
            <a:ext cx="1677987" cy="3162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7644" name="AutoShape 12"/>
          <p:cNvSpPr/>
          <p:nvPr/>
        </p:nvSpPr>
        <p:spPr>
          <a:xfrm>
            <a:off x="227013" y="5191125"/>
            <a:ext cx="3194050" cy="1512888"/>
          </a:xfrm>
          <a:prstGeom prst="wedgeRoundRectCallout">
            <a:avLst>
              <a:gd name="adj1" fmla="val -8074"/>
              <a:gd name="adj2" fmla="val -141185"/>
              <a:gd name="adj3" fmla="val 16667"/>
            </a:avLst>
          </a:prstGeom>
          <a:noFill/>
          <a:ln w="9525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88900" tIns="38100" rIns="88900" bIns="38100"/>
          <a:lstStyle/>
          <a:p>
            <a:pPr algn="ctr" eaLnBrk="0" hangingPunct="0">
              <a:buSzPct val="100000"/>
              <a:buFont typeface="Times New Roman" panose="02020603050405020304" pitchFamily="18" charset="0"/>
            </a:pPr>
            <a:r>
              <a:rPr lang="en-GB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被弹簧挡住的结构一般不画出，可见部分应从弹簧的外廓线或从弹簧钢丝剖面的中心线画起</a:t>
            </a:r>
            <a:endParaRPr lang="en-GB" altLang="zh-CN" sz="20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7645" name="AutoShape 13"/>
          <p:cNvSpPr/>
          <p:nvPr/>
        </p:nvSpPr>
        <p:spPr>
          <a:xfrm>
            <a:off x="3563938" y="5191125"/>
            <a:ext cx="2665412" cy="1441450"/>
          </a:xfrm>
          <a:prstGeom prst="wedgeRoundRectCallout">
            <a:avLst>
              <a:gd name="adj1" fmla="val 14264"/>
              <a:gd name="adj2" fmla="val -170727"/>
              <a:gd name="adj3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88900" tIns="38100" rIns="88900" bIns="38100"/>
          <a:lstStyle/>
          <a:p>
            <a:pPr algn="ctr" eaLnBrk="0" hangingPunct="0">
              <a:buSzPct val="100000"/>
              <a:buFont typeface="Times New Roman" panose="02020603050405020304" pitchFamily="18" charset="0"/>
            </a:pPr>
            <a:r>
              <a:rPr lang="en-GB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当弹簧被剖切时，剖面直径或厚度等于或小于2mm时，也可用涂黑表示</a:t>
            </a:r>
            <a:endParaRPr lang="en-GB" altLang="zh-CN" sz="20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7646" name="AutoShape 14"/>
          <p:cNvSpPr/>
          <p:nvPr/>
        </p:nvSpPr>
        <p:spPr>
          <a:xfrm>
            <a:off x="6300788" y="5262563"/>
            <a:ext cx="2700337" cy="1370012"/>
          </a:xfrm>
          <a:prstGeom prst="wedgeRoundRectCallout">
            <a:avLst>
              <a:gd name="adj1" fmla="val 8495"/>
              <a:gd name="adj2" fmla="val -211130"/>
              <a:gd name="adj3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88900" tIns="38100" rIns="88900" bIns="38100"/>
          <a:lstStyle/>
          <a:p>
            <a:pPr algn="ctr" eaLnBrk="0" hangingPunct="0">
              <a:buSzPct val="100000"/>
              <a:buFont typeface="Times New Roman" panose="02020603050405020304" pitchFamily="18" charset="0"/>
            </a:pPr>
            <a:r>
              <a:rPr lang="en-GB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当弹簧被剖切时，剖面直径或厚度等于或小于2mm时，也允许用示意画法</a:t>
            </a:r>
            <a:r>
              <a:rPr lang="en-GB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GB" altLang="zh-CN" sz="24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7647" name="Line 15"/>
          <p:cNvSpPr/>
          <p:nvPr/>
        </p:nvSpPr>
        <p:spPr>
          <a:xfrm flipV="1">
            <a:off x="1371600" y="3527425"/>
            <a:ext cx="342900" cy="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7648" name="Line 16"/>
          <p:cNvSpPr/>
          <p:nvPr/>
        </p:nvSpPr>
        <p:spPr>
          <a:xfrm>
            <a:off x="1390650" y="3803650"/>
            <a:ext cx="238125" cy="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7649" name="Line 17"/>
          <p:cNvSpPr/>
          <p:nvPr/>
        </p:nvSpPr>
        <p:spPr>
          <a:xfrm flipV="1">
            <a:off x="1363663" y="3673475"/>
            <a:ext cx="342900" cy="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" name="Group 18"/>
          <p:cNvGrpSpPr/>
          <p:nvPr/>
        </p:nvGrpSpPr>
        <p:grpSpPr>
          <a:xfrm>
            <a:off x="1870075" y="2982913"/>
            <a:ext cx="163513" cy="165100"/>
            <a:chOff x="1178" y="1541"/>
            <a:chExt cx="103" cy="104"/>
          </a:xfrm>
        </p:grpSpPr>
        <p:sp>
          <p:nvSpPr>
            <p:cNvPr id="105489" name="Line 19"/>
            <p:cNvSpPr/>
            <p:nvPr/>
          </p:nvSpPr>
          <p:spPr>
            <a:xfrm>
              <a:off x="1179" y="1541"/>
              <a:ext cx="102" cy="25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490" name="Line 20"/>
            <p:cNvSpPr/>
            <p:nvPr/>
          </p:nvSpPr>
          <p:spPr>
            <a:xfrm>
              <a:off x="1178" y="1620"/>
              <a:ext cx="102" cy="25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" name="Rectangle 33"/>
          <p:cNvSpPr>
            <a:spLocks noGrp="1" noChangeArrowheads="1"/>
          </p:cNvSpPr>
          <p:nvPr/>
        </p:nvSpPr>
        <p:spPr>
          <a:xfrm>
            <a:off x="847725" y="0"/>
            <a:ext cx="5976938" cy="611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+mj-ea"/>
                <a:cs typeface="+mj-cs"/>
              </a:rPr>
              <a:t>三、弹簧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anose="02010509060101010101" pitchFamily="49" charset="-122"/>
              <a:ea typeface="+mj-ea"/>
              <a:cs typeface="+mj-cs"/>
            </a:endParaRPr>
          </a:p>
        </p:txBody>
      </p:sp>
      <p:grpSp>
        <p:nvGrpSpPr>
          <p:cNvPr id="343051" name="组合 343050"/>
          <p:cNvGrpSpPr/>
          <p:nvPr/>
        </p:nvGrpSpPr>
        <p:grpSpPr>
          <a:xfrm>
            <a:off x="333375" y="812165"/>
            <a:ext cx="8351838" cy="28575"/>
            <a:chOff x="172" y="1025"/>
            <a:chExt cx="5261" cy="28"/>
          </a:xfrm>
        </p:grpSpPr>
        <p:sp>
          <p:nvSpPr>
            <p:cNvPr id="343052" name="矩形 343051"/>
            <p:cNvSpPr/>
            <p:nvPr/>
          </p:nvSpPr>
          <p:spPr>
            <a:xfrm>
              <a:off x="172" y="1025"/>
              <a:ext cx="2860" cy="28"/>
            </a:xfrm>
            <a:prstGeom prst="rect">
              <a:avLst/>
            </a:prstGeom>
            <a:gradFill rotWithShape="1">
              <a:gsLst>
                <a:gs pos="0">
                  <a:srgbClr val="FF00FF"/>
                </a:gs>
                <a:gs pos="100000">
                  <a:srgbClr val="00FF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53" name="矩形 343052"/>
            <p:cNvSpPr/>
            <p:nvPr/>
          </p:nvSpPr>
          <p:spPr>
            <a:xfrm>
              <a:off x="2240" y="1026"/>
              <a:ext cx="3193" cy="27"/>
            </a:xfrm>
            <a:prstGeom prst="rect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FF00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7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7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197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1976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197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1976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197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1976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7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7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7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7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44" grpId="0" bldLvl="0" animBg="1"/>
      <p:bldP spid="197645" grpId="0" bldLvl="0" animBg="1"/>
      <p:bldP spid="197646" grpId="0" bldLvl="0" animBg="1"/>
    </p:bldLst>
  </p:timing>
</p:sld>
</file>

<file path=ppt/tags/tag1.xml><?xml version="1.0" encoding="utf-8"?>
<p:tagLst xmlns:p="http://schemas.openxmlformats.org/presentationml/2006/main">
  <p:tag name="KSO_WM_SLIDE_MODEL_TYPE" val="cover"/>
</p:tagLst>
</file>

<file path=ppt/tags/tag2.xml><?xml version="1.0" encoding="utf-8"?>
<p:tagLst xmlns:p="http://schemas.openxmlformats.org/presentationml/2006/main">
  <p:tag name="KSO_WPP_MARK_KEY" val="4d89ea28-c654-4133-8cf9-86c833641f8f"/>
  <p:tag name="COMMONDATA" val="eyJoZGlkIjoiZWJmODlmNzRmZmM0YzE5OTAwYmIxZmJjZWFhMTdhMjI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3794</Words>
  <Application>WPS 演示</Application>
  <PresentationFormat>全屏显示(4:3)</PresentationFormat>
  <Paragraphs>736</Paragraphs>
  <Slides>39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13</vt:i4>
      </vt:variant>
      <vt:variant>
        <vt:lpstr>幻灯片标题</vt:lpstr>
      </vt:variant>
      <vt:variant>
        <vt:i4>39</vt:i4>
      </vt:variant>
    </vt:vector>
  </HeadingPairs>
  <TitlesOfParts>
    <vt:vector size="75" baseType="lpstr">
      <vt:lpstr>Arial</vt:lpstr>
      <vt:lpstr>宋体</vt:lpstr>
      <vt:lpstr>Wingdings</vt:lpstr>
      <vt:lpstr>Calibri</vt:lpstr>
      <vt:lpstr>黑体</vt:lpstr>
      <vt:lpstr>Times New Roman</vt:lpstr>
      <vt:lpstr>Arial Black</vt:lpstr>
      <vt:lpstr>楷体_GB2312</vt:lpstr>
      <vt:lpstr>新宋体</vt:lpstr>
      <vt:lpstr>隶书</vt:lpstr>
      <vt:lpstr>ˎ̥</vt:lpstr>
      <vt:lpstr>AMGDT</vt:lpstr>
      <vt:lpstr>仿宋_GB2312</vt:lpstr>
      <vt:lpstr>仿宋</vt:lpstr>
      <vt:lpstr>微软雅黑</vt:lpstr>
      <vt:lpstr>Arial Unicode MS</vt:lpstr>
      <vt:lpstr>ISOCP</vt:lpstr>
      <vt:lpstr>Monotype Sorts</vt:lpstr>
      <vt:lpstr>CommercialPi BT</vt:lpstr>
      <vt:lpstr>Symbol</vt:lpstr>
      <vt:lpstr>ItalicT</vt:lpstr>
      <vt:lpstr>Wingdings</vt:lpstr>
      <vt:lpstr>Office 主题</vt:lpstr>
      <vt:lpstr>StaticDib</vt:lpstr>
      <vt:lpstr>CorelDRAW.Graphic.9</vt:lpstr>
      <vt:lpstr>CorelDRAW.Graphic.9</vt:lpstr>
      <vt:lpstr>CorelDRAW.Graphic.9</vt:lpstr>
      <vt:lpstr>CorelDRAW.Graphic.9</vt:lpstr>
      <vt:lpstr>CorelDRAW.Graphic.9</vt:lpstr>
      <vt:lpstr>CorelDRAW.Graphic.9</vt:lpstr>
      <vt:lpstr>CorelDRAW.Graphic.9</vt:lpstr>
      <vt:lpstr>CorelDRAW.Graphic.9</vt:lpstr>
      <vt:lpstr>CorelDRAW.Graphic.9</vt:lpstr>
      <vt:lpstr>CorelDRAW.Graphic.9</vt:lpstr>
      <vt:lpstr>CorelDRAW.Graphic.9</vt:lpstr>
      <vt:lpstr>CorelDRAW.Graphic.9</vt:lpstr>
      <vt:lpstr>标准件和常用件 </vt:lpstr>
      <vt:lpstr>PowerPoint 演示文稿</vt:lpstr>
      <vt:lpstr>一、螺纹及螺纹紧固件</vt:lpstr>
      <vt:lpstr>一、螺纹及螺纹紧固件</vt:lpstr>
      <vt:lpstr>（一）螺纹的基础知识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常用键的型式和标记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在装配图中螺旋弹簧的画法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第2单元     正投影法基础</dc:title>
  <dc:creator>Administrator</dc:creator>
  <cp:lastModifiedBy>Chen Yu</cp:lastModifiedBy>
  <cp:revision>69</cp:revision>
  <dcterms:created xsi:type="dcterms:W3CDTF">2019-03-05T10:30:00Z</dcterms:created>
  <dcterms:modified xsi:type="dcterms:W3CDTF">2022-12-01T02:53:57Z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674C181919A64B4F8D558E7067BEDA58</vt:lpwstr>
  </property>
</Properties>
</file>