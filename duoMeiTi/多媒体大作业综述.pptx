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31.svg" ContentType="image/svg+xml"/>
  <Override PartName="/ppt/media/image33.svg" ContentType="image/svg+xml"/>
  <Override PartName="/ppt/media/image35.svg" ContentType="image/svg+xml"/>
  <Override PartName="/ppt/media/image3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0"/>
  </p:notesMasterIdLst>
  <p:sldIdLst>
    <p:sldId id="257" r:id="rId4"/>
    <p:sldId id="258" r:id="rId5"/>
    <p:sldId id="259" r:id="rId6"/>
    <p:sldId id="260" r:id="rId7"/>
    <p:sldId id="261" r:id="rId8"/>
    <p:sldId id="262" r:id="rId9"/>
    <p:sldId id="263" r:id="rId11"/>
    <p:sldId id="264" r:id="rId12"/>
    <p:sldId id="265" r:id="rId13"/>
    <p:sldId id="266" r:id="rId14"/>
    <p:sldId id="267" r:id="rId15"/>
    <p:sldId id="302" r:id="rId16"/>
    <p:sldId id="268" r:id="rId17"/>
    <p:sldId id="301" r:id="rId18"/>
    <p:sldId id="309" r:id="rId19"/>
    <p:sldId id="310" r:id="rId20"/>
    <p:sldId id="303" r:id="rId21"/>
    <p:sldId id="304" r:id="rId22"/>
    <p:sldId id="269" r:id="rId23"/>
    <p:sldId id="305" r:id="rId24"/>
    <p:sldId id="306" r:id="rId25"/>
    <p:sldId id="270" r:id="rId26"/>
    <p:sldId id="307" r:id="rId27"/>
    <p:sldId id="271" r:id="rId28"/>
    <p:sldId id="272" r:id="rId29"/>
    <p:sldId id="275" r:id="rId30"/>
    <p:sldId id="276" r:id="rId31"/>
    <p:sldId id="277" r:id="rId32"/>
    <p:sldId id="279" r:id="rId33"/>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384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28"/>
        <p:guide pos="3845"/>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8" Type="http://schemas.openxmlformats.org/officeDocument/2006/relationships/tags" Target="tags/tag337.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image" Target="../media/image2.png"/><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image" Target="NULL" TargetMode="External"/><Relationship Id="rId3" Type="http://schemas.openxmlformats.org/officeDocument/2006/relationships/image" Target="../media/image1.png"/><Relationship Id="rId2" Type="http://schemas.openxmlformats.org/officeDocument/2006/relationships/tags" Target="../tags/tag63.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image" Target="NULL" TargetMode="External"/><Relationship Id="rId3" Type="http://schemas.openxmlformats.org/officeDocument/2006/relationships/image" Target="../media/image3.png"/><Relationship Id="rId2" Type="http://schemas.openxmlformats.org/officeDocument/2006/relationships/tags" Target="../tags/tag77.xml"/><Relationship Id="rId10" Type="http://schemas.openxmlformats.org/officeDocument/2006/relationships/tags" Target="../tags/tag8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image" Target="NULL" TargetMode="External"/><Relationship Id="rId3" Type="http://schemas.openxmlformats.org/officeDocument/2006/relationships/image" Target="../media/image3.png"/><Relationship Id="rId2" Type="http://schemas.openxmlformats.org/officeDocument/2006/relationships/tags" Target="../tags/tag84.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97.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image" Target="../media/image2.png"/><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image" Target="NULL" TargetMode="External"/><Relationship Id="rId3" Type="http://schemas.openxmlformats.org/officeDocument/2006/relationships/image" Target="../media/image1.png"/><Relationship Id="rId2" Type="http://schemas.openxmlformats.org/officeDocument/2006/relationships/tags" Target="../tags/tag122.xml"/><Relationship Id="rId13" Type="http://schemas.openxmlformats.org/officeDocument/2006/relationships/tags" Target="../tags/tag130.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8" name="图片 7" descr="C:/Users/ADMIN/AppData/Local/Temp/fig2wpp/@png2x_bg-2583&amp;3791.png"/>
          <p:cNvPicPr>
            <a:picLocks noChangeAspect="1"/>
          </p:cNvPicPr>
          <p:nvPr userDrawn="1">
            <p:custDataLst>
              <p:tags r:id="rId2"/>
            </p:custDataLst>
          </p:nvPr>
        </p:nvPicPr>
        <p:blipFill>
          <a:blip r:embed="rId3" r:link="rId4"/>
          <a:stretch>
            <a:fillRect/>
          </a:stretch>
        </p:blipFill>
        <p:spPr>
          <a:xfrm>
            <a:off x="0" y="0"/>
            <a:ext cx="12192000" cy="6858000"/>
          </a:xfrm>
          <a:prstGeom prst="rect">
            <a:avLst/>
          </a:prstGeom>
        </p:spPr>
      </p:pic>
      <p:sp>
        <p:nvSpPr>
          <p:cNvPr id="9" name="矩形 8"/>
          <p:cNvSpPr/>
          <p:nvPr userDrawn="1">
            <p:custDataLst>
              <p:tags r:id="rId5"/>
            </p:custDataLst>
          </p:nvPr>
        </p:nvSpPr>
        <p:spPr>
          <a:xfrm>
            <a:off x="318" y="1562100"/>
            <a:ext cx="12191365" cy="3238500"/>
          </a:xfrm>
          <a:prstGeom prst="rect">
            <a:avLst/>
          </a:prstGeom>
          <a:gradFill>
            <a:gsLst>
              <a:gs pos="0">
                <a:schemeClr val="accent1">
                  <a:lumMod val="75000"/>
                  <a:alpha val="100000"/>
                </a:schemeClr>
              </a:gs>
              <a:gs pos="100000">
                <a:schemeClr val="accent1">
                  <a:lumMod val="5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Freeform 10"/>
          <p:cNvSpPr/>
          <p:nvPr userDrawn="1">
            <p:custDataLst>
              <p:tags r:id="rId6"/>
            </p:custDataLst>
          </p:nvPr>
        </p:nvSpPr>
        <p:spPr bwMode="auto">
          <a:xfrm>
            <a:off x="625287" y="2461446"/>
            <a:ext cx="10941426" cy="1439808"/>
          </a:xfrm>
          <a:custGeom>
            <a:avLst/>
            <a:gdLst>
              <a:gd name="T0" fmla="*/ 12960 w 23822"/>
              <a:gd name="T1" fmla="*/ 1770 h 3115"/>
              <a:gd name="T2" fmla="*/ 3135 w 23822"/>
              <a:gd name="T3" fmla="*/ 682 h 3115"/>
              <a:gd name="T4" fmla="*/ 4187 w 23822"/>
              <a:gd name="T5" fmla="*/ 2207 h 3115"/>
              <a:gd name="T6" fmla="*/ 3518 w 23822"/>
              <a:gd name="T7" fmla="*/ 682 h 3115"/>
              <a:gd name="T8" fmla="*/ 18941 w 23822"/>
              <a:gd name="T9" fmla="*/ 873 h 3115"/>
              <a:gd name="T10" fmla="*/ 19478 w 23822"/>
              <a:gd name="T11" fmla="*/ 2487 h 3115"/>
              <a:gd name="T12" fmla="*/ 20012 w 23822"/>
              <a:gd name="T13" fmla="*/ 873 h 3115"/>
              <a:gd name="T14" fmla="*/ 21929 w 23822"/>
              <a:gd name="T15" fmla="*/ 53 h 3115"/>
              <a:gd name="T16" fmla="*/ 23152 w 23822"/>
              <a:gd name="T17" fmla="*/ 53 h 3115"/>
              <a:gd name="T18" fmla="*/ 23240 w 23822"/>
              <a:gd name="T19" fmla="*/ 3061 h 3115"/>
              <a:gd name="T20" fmla="*/ 21983 w 23822"/>
              <a:gd name="T21" fmla="*/ 3061 h 3115"/>
              <a:gd name="T22" fmla="*/ 16972 w 23822"/>
              <a:gd name="T23" fmla="*/ 53 h 3115"/>
              <a:gd name="T24" fmla="*/ 16972 w 23822"/>
              <a:gd name="T25" fmla="*/ 3061 h 3115"/>
              <a:gd name="T26" fmla="*/ 16616 w 23822"/>
              <a:gd name="T27" fmla="*/ 53 h 3115"/>
              <a:gd name="T28" fmla="*/ 15777 w 23822"/>
              <a:gd name="T29" fmla="*/ 3061 h 3115"/>
              <a:gd name="T30" fmla="*/ 14263 w 23822"/>
              <a:gd name="T31" fmla="*/ 682 h 3115"/>
              <a:gd name="T32" fmla="*/ 12994 w 23822"/>
              <a:gd name="T33" fmla="*/ 53 h 3115"/>
              <a:gd name="T34" fmla="*/ 13182 w 23822"/>
              <a:gd name="T35" fmla="*/ 2398 h 3115"/>
              <a:gd name="T36" fmla="*/ 11178 w 23822"/>
              <a:gd name="T37" fmla="*/ 3061 h 3115"/>
              <a:gd name="T38" fmla="*/ 6207 w 23822"/>
              <a:gd name="T39" fmla="*/ 53 h 3115"/>
              <a:gd name="T40" fmla="*/ 6763 w 23822"/>
              <a:gd name="T41" fmla="*/ 2487 h 3115"/>
              <a:gd name="T42" fmla="*/ 7318 w 23822"/>
              <a:gd name="T43" fmla="*/ 53 h 3115"/>
              <a:gd name="T44" fmla="*/ 7839 w 23822"/>
              <a:gd name="T45" fmla="*/ 2533 h 3115"/>
              <a:gd name="T46" fmla="*/ 6111 w 23822"/>
              <a:gd name="T47" fmla="*/ 2966 h 3115"/>
              <a:gd name="T48" fmla="*/ 5536 w 23822"/>
              <a:gd name="T49" fmla="*/ 53 h 3115"/>
              <a:gd name="T50" fmla="*/ 4396 w 23822"/>
              <a:gd name="T51" fmla="*/ 231 h 3115"/>
              <a:gd name="T52" fmla="*/ 4925 w 23822"/>
              <a:gd name="T53" fmla="*/ 2368 h 3115"/>
              <a:gd name="T54" fmla="*/ 2464 w 23822"/>
              <a:gd name="T55" fmla="*/ 3061 h 3115"/>
              <a:gd name="T56" fmla="*/ 2024 w 23822"/>
              <a:gd name="T57" fmla="*/ 53 h 3115"/>
              <a:gd name="T58" fmla="*/ 671 w 23822"/>
              <a:gd name="T59" fmla="*/ 1230 h 3115"/>
              <a:gd name="T60" fmla="*/ 671 w 23822"/>
              <a:gd name="T61" fmla="*/ 1839 h 3115"/>
              <a:gd name="T62" fmla="*/ 2070 w 23822"/>
              <a:gd name="T63" fmla="*/ 3061 h 3115"/>
              <a:gd name="T64" fmla="*/ 19478 w 23822"/>
              <a:gd name="T65" fmla="*/ 0 h 3115"/>
              <a:gd name="T66" fmla="*/ 20892 w 23822"/>
              <a:gd name="T67" fmla="*/ 1559 h 3115"/>
              <a:gd name="T68" fmla="*/ 19478 w 23822"/>
              <a:gd name="T69" fmla="*/ 3115 h 3115"/>
              <a:gd name="T70" fmla="*/ 18060 w 23822"/>
              <a:gd name="T71" fmla="*/ 1559 h 3115"/>
              <a:gd name="T72" fmla="*/ 19478 w 23822"/>
              <a:gd name="T73" fmla="*/ 0 h 3115"/>
              <a:gd name="T74" fmla="*/ 11010 w 23822"/>
              <a:gd name="T75" fmla="*/ 743 h 3115"/>
              <a:gd name="T76" fmla="*/ 9841 w 23822"/>
              <a:gd name="T77" fmla="*/ 628 h 3115"/>
              <a:gd name="T78" fmla="*/ 9102 w 23822"/>
              <a:gd name="T79" fmla="*/ 1544 h 3115"/>
              <a:gd name="T80" fmla="*/ 9841 w 23822"/>
              <a:gd name="T81" fmla="*/ 2487 h 3115"/>
              <a:gd name="T82" fmla="*/ 11018 w 23822"/>
              <a:gd name="T83" fmla="*/ 2372 h 3115"/>
              <a:gd name="T84" fmla="*/ 9102 w 23822"/>
              <a:gd name="T85" fmla="*/ 2920 h 3115"/>
              <a:gd name="T86" fmla="*/ 8596 w 23822"/>
              <a:gd name="T87" fmla="*/ 733 h 3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22" h="3115">
                <a:moveTo>
                  <a:pt x="12642" y="935"/>
                </a:moveTo>
                <a:lnTo>
                  <a:pt x="12347" y="1770"/>
                </a:lnTo>
                <a:lnTo>
                  <a:pt x="12960" y="1770"/>
                </a:lnTo>
                <a:lnTo>
                  <a:pt x="12665" y="935"/>
                </a:lnTo>
                <a:lnTo>
                  <a:pt x="12642" y="935"/>
                </a:lnTo>
                <a:close/>
                <a:moveTo>
                  <a:pt x="3135" y="682"/>
                </a:moveTo>
                <a:lnTo>
                  <a:pt x="3135" y="2433"/>
                </a:lnTo>
                <a:lnTo>
                  <a:pt x="3488" y="2433"/>
                </a:lnTo>
                <a:cubicBezTo>
                  <a:pt x="3792" y="2433"/>
                  <a:pt x="4025" y="2358"/>
                  <a:pt x="4187" y="2207"/>
                </a:cubicBezTo>
                <a:cubicBezTo>
                  <a:pt x="4349" y="2056"/>
                  <a:pt x="4430" y="1840"/>
                  <a:pt x="4430" y="1559"/>
                </a:cubicBezTo>
                <a:cubicBezTo>
                  <a:pt x="4430" y="1276"/>
                  <a:pt x="4352" y="1059"/>
                  <a:pt x="4195" y="908"/>
                </a:cubicBezTo>
                <a:cubicBezTo>
                  <a:pt x="4037" y="757"/>
                  <a:pt x="3812" y="682"/>
                  <a:pt x="3518" y="682"/>
                </a:cubicBezTo>
                <a:lnTo>
                  <a:pt x="3135" y="682"/>
                </a:lnTo>
                <a:close/>
                <a:moveTo>
                  <a:pt x="19478" y="628"/>
                </a:moveTo>
                <a:cubicBezTo>
                  <a:pt x="19251" y="628"/>
                  <a:pt x="19072" y="710"/>
                  <a:pt x="18941" y="873"/>
                </a:cubicBezTo>
                <a:cubicBezTo>
                  <a:pt x="18811" y="1037"/>
                  <a:pt x="18746" y="1265"/>
                  <a:pt x="18746" y="1559"/>
                </a:cubicBezTo>
                <a:cubicBezTo>
                  <a:pt x="18746" y="1853"/>
                  <a:pt x="18811" y="2081"/>
                  <a:pt x="18941" y="2243"/>
                </a:cubicBezTo>
                <a:cubicBezTo>
                  <a:pt x="19072" y="2405"/>
                  <a:pt x="19251" y="2487"/>
                  <a:pt x="19478" y="2487"/>
                </a:cubicBezTo>
                <a:cubicBezTo>
                  <a:pt x="19703" y="2487"/>
                  <a:pt x="19880" y="2405"/>
                  <a:pt x="20011" y="2243"/>
                </a:cubicBezTo>
                <a:cubicBezTo>
                  <a:pt x="20141" y="2081"/>
                  <a:pt x="20206" y="1853"/>
                  <a:pt x="20206" y="1559"/>
                </a:cubicBezTo>
                <a:cubicBezTo>
                  <a:pt x="20206" y="1265"/>
                  <a:pt x="20141" y="1037"/>
                  <a:pt x="20012" y="873"/>
                </a:cubicBezTo>
                <a:cubicBezTo>
                  <a:pt x="19883" y="710"/>
                  <a:pt x="19705" y="628"/>
                  <a:pt x="19478" y="628"/>
                </a:cubicBezTo>
                <a:close/>
                <a:moveTo>
                  <a:pt x="21312" y="53"/>
                </a:moveTo>
                <a:lnTo>
                  <a:pt x="21929" y="53"/>
                </a:lnTo>
                <a:lnTo>
                  <a:pt x="23129" y="1827"/>
                </a:lnTo>
                <a:lnTo>
                  <a:pt x="23152" y="1827"/>
                </a:lnTo>
                <a:lnTo>
                  <a:pt x="23152" y="53"/>
                </a:lnTo>
                <a:lnTo>
                  <a:pt x="23822" y="53"/>
                </a:lnTo>
                <a:lnTo>
                  <a:pt x="23822" y="3061"/>
                </a:lnTo>
                <a:lnTo>
                  <a:pt x="23240" y="3061"/>
                </a:lnTo>
                <a:lnTo>
                  <a:pt x="22006" y="1287"/>
                </a:lnTo>
                <a:lnTo>
                  <a:pt x="21983" y="1287"/>
                </a:lnTo>
                <a:lnTo>
                  <a:pt x="21983" y="3061"/>
                </a:lnTo>
                <a:lnTo>
                  <a:pt x="21312" y="3061"/>
                </a:lnTo>
                <a:lnTo>
                  <a:pt x="21312" y="53"/>
                </a:lnTo>
                <a:close/>
                <a:moveTo>
                  <a:pt x="16972" y="53"/>
                </a:moveTo>
                <a:lnTo>
                  <a:pt x="17643" y="53"/>
                </a:lnTo>
                <a:lnTo>
                  <a:pt x="17643" y="3061"/>
                </a:lnTo>
                <a:lnTo>
                  <a:pt x="16972" y="3061"/>
                </a:lnTo>
                <a:lnTo>
                  <a:pt x="16972" y="53"/>
                </a:lnTo>
                <a:close/>
                <a:moveTo>
                  <a:pt x="14263" y="53"/>
                </a:moveTo>
                <a:lnTo>
                  <a:pt x="16616" y="53"/>
                </a:lnTo>
                <a:lnTo>
                  <a:pt x="16616" y="682"/>
                </a:lnTo>
                <a:lnTo>
                  <a:pt x="15777" y="682"/>
                </a:lnTo>
                <a:lnTo>
                  <a:pt x="15777" y="3061"/>
                </a:lnTo>
                <a:lnTo>
                  <a:pt x="15106" y="3061"/>
                </a:lnTo>
                <a:lnTo>
                  <a:pt x="15106" y="682"/>
                </a:lnTo>
                <a:lnTo>
                  <a:pt x="14263" y="682"/>
                </a:lnTo>
                <a:lnTo>
                  <a:pt x="14263" y="53"/>
                </a:lnTo>
                <a:close/>
                <a:moveTo>
                  <a:pt x="12308" y="53"/>
                </a:moveTo>
                <a:lnTo>
                  <a:pt x="12994" y="53"/>
                </a:lnTo>
                <a:lnTo>
                  <a:pt x="14129" y="3061"/>
                </a:lnTo>
                <a:lnTo>
                  <a:pt x="13416" y="3061"/>
                </a:lnTo>
                <a:lnTo>
                  <a:pt x="13182" y="2398"/>
                </a:lnTo>
                <a:lnTo>
                  <a:pt x="12121" y="2398"/>
                </a:lnTo>
                <a:lnTo>
                  <a:pt x="11887" y="3061"/>
                </a:lnTo>
                <a:lnTo>
                  <a:pt x="11178" y="3061"/>
                </a:lnTo>
                <a:lnTo>
                  <a:pt x="12308" y="53"/>
                </a:lnTo>
                <a:close/>
                <a:moveTo>
                  <a:pt x="5536" y="53"/>
                </a:moveTo>
                <a:lnTo>
                  <a:pt x="6207" y="53"/>
                </a:lnTo>
                <a:lnTo>
                  <a:pt x="6207" y="1824"/>
                </a:lnTo>
                <a:cubicBezTo>
                  <a:pt x="6207" y="2028"/>
                  <a:pt x="6257" y="2190"/>
                  <a:pt x="6356" y="2308"/>
                </a:cubicBezTo>
                <a:cubicBezTo>
                  <a:pt x="6456" y="2427"/>
                  <a:pt x="6591" y="2487"/>
                  <a:pt x="6763" y="2487"/>
                </a:cubicBezTo>
                <a:cubicBezTo>
                  <a:pt x="6934" y="2487"/>
                  <a:pt x="7069" y="2428"/>
                  <a:pt x="7169" y="2312"/>
                </a:cubicBezTo>
                <a:cubicBezTo>
                  <a:pt x="7268" y="2196"/>
                  <a:pt x="7318" y="2038"/>
                  <a:pt x="7318" y="1839"/>
                </a:cubicBezTo>
                <a:lnTo>
                  <a:pt x="7318" y="53"/>
                </a:lnTo>
                <a:lnTo>
                  <a:pt x="7989" y="53"/>
                </a:lnTo>
                <a:lnTo>
                  <a:pt x="7989" y="1866"/>
                </a:lnTo>
                <a:cubicBezTo>
                  <a:pt x="7989" y="2121"/>
                  <a:pt x="7939" y="2344"/>
                  <a:pt x="7839" y="2533"/>
                </a:cubicBezTo>
                <a:cubicBezTo>
                  <a:pt x="7740" y="2722"/>
                  <a:pt x="7597" y="2866"/>
                  <a:pt x="7412" y="2966"/>
                </a:cubicBezTo>
                <a:cubicBezTo>
                  <a:pt x="7227" y="3065"/>
                  <a:pt x="7010" y="3115"/>
                  <a:pt x="6763" y="3115"/>
                </a:cubicBezTo>
                <a:cubicBezTo>
                  <a:pt x="6512" y="3115"/>
                  <a:pt x="6295" y="3065"/>
                  <a:pt x="6111" y="2966"/>
                </a:cubicBezTo>
                <a:cubicBezTo>
                  <a:pt x="5927" y="2866"/>
                  <a:pt x="5785" y="2722"/>
                  <a:pt x="5686" y="2534"/>
                </a:cubicBezTo>
                <a:cubicBezTo>
                  <a:pt x="5586" y="2347"/>
                  <a:pt x="5536" y="2124"/>
                  <a:pt x="5536" y="1866"/>
                </a:cubicBezTo>
                <a:lnTo>
                  <a:pt x="5536" y="53"/>
                </a:lnTo>
                <a:close/>
                <a:moveTo>
                  <a:pt x="2464" y="53"/>
                </a:moveTo>
                <a:lnTo>
                  <a:pt x="3549" y="53"/>
                </a:lnTo>
                <a:cubicBezTo>
                  <a:pt x="3878" y="53"/>
                  <a:pt x="4161" y="113"/>
                  <a:pt x="4396" y="231"/>
                </a:cubicBezTo>
                <a:cubicBezTo>
                  <a:pt x="4631" y="350"/>
                  <a:pt x="4810" y="523"/>
                  <a:pt x="4932" y="749"/>
                </a:cubicBezTo>
                <a:cubicBezTo>
                  <a:pt x="5055" y="975"/>
                  <a:pt x="5116" y="1245"/>
                  <a:pt x="5116" y="1559"/>
                </a:cubicBezTo>
                <a:cubicBezTo>
                  <a:pt x="5116" y="1873"/>
                  <a:pt x="5052" y="2143"/>
                  <a:pt x="4925" y="2368"/>
                </a:cubicBezTo>
                <a:cubicBezTo>
                  <a:pt x="4797" y="2593"/>
                  <a:pt x="4611" y="2764"/>
                  <a:pt x="4367" y="2883"/>
                </a:cubicBezTo>
                <a:cubicBezTo>
                  <a:pt x="4123" y="3002"/>
                  <a:pt x="3829" y="3061"/>
                  <a:pt x="3484" y="3061"/>
                </a:cubicBezTo>
                <a:lnTo>
                  <a:pt x="2464" y="3061"/>
                </a:lnTo>
                <a:lnTo>
                  <a:pt x="2464" y="53"/>
                </a:lnTo>
                <a:close/>
                <a:moveTo>
                  <a:pt x="0" y="53"/>
                </a:moveTo>
                <a:lnTo>
                  <a:pt x="2024" y="53"/>
                </a:lnTo>
                <a:lnTo>
                  <a:pt x="2024" y="663"/>
                </a:lnTo>
                <a:lnTo>
                  <a:pt x="671" y="663"/>
                </a:lnTo>
                <a:lnTo>
                  <a:pt x="671" y="1230"/>
                </a:lnTo>
                <a:lnTo>
                  <a:pt x="1951" y="1230"/>
                </a:lnTo>
                <a:lnTo>
                  <a:pt x="1951" y="1839"/>
                </a:lnTo>
                <a:lnTo>
                  <a:pt x="671" y="1839"/>
                </a:lnTo>
                <a:lnTo>
                  <a:pt x="671" y="2452"/>
                </a:lnTo>
                <a:lnTo>
                  <a:pt x="2070" y="2452"/>
                </a:lnTo>
                <a:lnTo>
                  <a:pt x="2070" y="3061"/>
                </a:lnTo>
                <a:lnTo>
                  <a:pt x="0" y="3061"/>
                </a:lnTo>
                <a:lnTo>
                  <a:pt x="0" y="53"/>
                </a:lnTo>
                <a:close/>
                <a:moveTo>
                  <a:pt x="19478" y="0"/>
                </a:moveTo>
                <a:cubicBezTo>
                  <a:pt x="19767" y="0"/>
                  <a:pt x="20017" y="62"/>
                  <a:pt x="20229" y="185"/>
                </a:cubicBezTo>
                <a:cubicBezTo>
                  <a:pt x="20441" y="309"/>
                  <a:pt x="20605" y="488"/>
                  <a:pt x="20719" y="722"/>
                </a:cubicBezTo>
                <a:cubicBezTo>
                  <a:pt x="20834" y="956"/>
                  <a:pt x="20892" y="1235"/>
                  <a:pt x="20892" y="1559"/>
                </a:cubicBezTo>
                <a:cubicBezTo>
                  <a:pt x="20892" y="1881"/>
                  <a:pt x="20834" y="2159"/>
                  <a:pt x="20719" y="2393"/>
                </a:cubicBezTo>
                <a:cubicBezTo>
                  <a:pt x="20605" y="2626"/>
                  <a:pt x="20441" y="2805"/>
                  <a:pt x="20229" y="2929"/>
                </a:cubicBezTo>
                <a:cubicBezTo>
                  <a:pt x="20017" y="3053"/>
                  <a:pt x="19767" y="3115"/>
                  <a:pt x="19478" y="3115"/>
                </a:cubicBezTo>
                <a:cubicBezTo>
                  <a:pt x="19187" y="3115"/>
                  <a:pt x="18935" y="3053"/>
                  <a:pt x="18723" y="2929"/>
                </a:cubicBezTo>
                <a:cubicBezTo>
                  <a:pt x="18511" y="2805"/>
                  <a:pt x="18347" y="2626"/>
                  <a:pt x="18233" y="2393"/>
                </a:cubicBezTo>
                <a:cubicBezTo>
                  <a:pt x="18118" y="2159"/>
                  <a:pt x="18060" y="1881"/>
                  <a:pt x="18060" y="1559"/>
                </a:cubicBezTo>
                <a:cubicBezTo>
                  <a:pt x="18060" y="1235"/>
                  <a:pt x="18118" y="956"/>
                  <a:pt x="18233" y="722"/>
                </a:cubicBezTo>
                <a:cubicBezTo>
                  <a:pt x="18347" y="488"/>
                  <a:pt x="18511" y="309"/>
                  <a:pt x="18723" y="185"/>
                </a:cubicBezTo>
                <a:cubicBezTo>
                  <a:pt x="18935" y="62"/>
                  <a:pt x="19187" y="0"/>
                  <a:pt x="19478" y="0"/>
                </a:cubicBezTo>
                <a:close/>
                <a:moveTo>
                  <a:pt x="9880" y="0"/>
                </a:moveTo>
                <a:cubicBezTo>
                  <a:pt x="10145" y="0"/>
                  <a:pt x="10373" y="65"/>
                  <a:pt x="10562" y="197"/>
                </a:cubicBezTo>
                <a:cubicBezTo>
                  <a:pt x="10751" y="329"/>
                  <a:pt x="10900" y="511"/>
                  <a:pt x="11010" y="743"/>
                </a:cubicBezTo>
                <a:lnTo>
                  <a:pt x="10416" y="1007"/>
                </a:lnTo>
                <a:cubicBezTo>
                  <a:pt x="10363" y="882"/>
                  <a:pt x="10285" y="788"/>
                  <a:pt x="10184" y="724"/>
                </a:cubicBezTo>
                <a:cubicBezTo>
                  <a:pt x="10083" y="660"/>
                  <a:pt x="9969" y="628"/>
                  <a:pt x="9841" y="628"/>
                </a:cubicBezTo>
                <a:cubicBezTo>
                  <a:pt x="9696" y="628"/>
                  <a:pt x="9567" y="666"/>
                  <a:pt x="9456" y="741"/>
                </a:cubicBezTo>
                <a:cubicBezTo>
                  <a:pt x="9345" y="816"/>
                  <a:pt x="9258" y="923"/>
                  <a:pt x="9196" y="1061"/>
                </a:cubicBezTo>
                <a:cubicBezTo>
                  <a:pt x="9133" y="1199"/>
                  <a:pt x="9102" y="1360"/>
                  <a:pt x="9102" y="1544"/>
                </a:cubicBezTo>
                <a:cubicBezTo>
                  <a:pt x="9102" y="1733"/>
                  <a:pt x="9133" y="1898"/>
                  <a:pt x="9196" y="2040"/>
                </a:cubicBezTo>
                <a:cubicBezTo>
                  <a:pt x="9258" y="2182"/>
                  <a:pt x="9345" y="2292"/>
                  <a:pt x="9456" y="2370"/>
                </a:cubicBezTo>
                <a:cubicBezTo>
                  <a:pt x="9567" y="2448"/>
                  <a:pt x="9696" y="2487"/>
                  <a:pt x="9841" y="2487"/>
                </a:cubicBezTo>
                <a:cubicBezTo>
                  <a:pt x="9964" y="2487"/>
                  <a:pt x="10075" y="2454"/>
                  <a:pt x="10173" y="2389"/>
                </a:cubicBezTo>
                <a:cubicBezTo>
                  <a:pt x="10271" y="2324"/>
                  <a:pt x="10355" y="2230"/>
                  <a:pt x="10424" y="2107"/>
                </a:cubicBezTo>
                <a:lnTo>
                  <a:pt x="11018" y="2372"/>
                </a:lnTo>
                <a:cubicBezTo>
                  <a:pt x="10905" y="2609"/>
                  <a:pt x="10748" y="2792"/>
                  <a:pt x="10545" y="2922"/>
                </a:cubicBezTo>
                <a:cubicBezTo>
                  <a:pt x="10341" y="3051"/>
                  <a:pt x="10108" y="3115"/>
                  <a:pt x="9845" y="3115"/>
                </a:cubicBezTo>
                <a:cubicBezTo>
                  <a:pt x="9567" y="3115"/>
                  <a:pt x="9319" y="3050"/>
                  <a:pt x="9102" y="2920"/>
                </a:cubicBezTo>
                <a:cubicBezTo>
                  <a:pt x="8885" y="2789"/>
                  <a:pt x="8715" y="2605"/>
                  <a:pt x="8594" y="2366"/>
                </a:cubicBezTo>
                <a:cubicBezTo>
                  <a:pt x="8473" y="2127"/>
                  <a:pt x="8412" y="1853"/>
                  <a:pt x="8412" y="1544"/>
                </a:cubicBezTo>
                <a:cubicBezTo>
                  <a:pt x="8412" y="1237"/>
                  <a:pt x="8473" y="967"/>
                  <a:pt x="8596" y="733"/>
                </a:cubicBezTo>
                <a:cubicBezTo>
                  <a:pt x="8719" y="500"/>
                  <a:pt x="8891" y="319"/>
                  <a:pt x="9113" y="191"/>
                </a:cubicBezTo>
                <a:cubicBezTo>
                  <a:pt x="9336" y="63"/>
                  <a:pt x="9591" y="0"/>
                  <a:pt x="9880"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pic>
        <p:nvPicPr>
          <p:cNvPr id="15" name="图片 14" descr="C:/Users/ADMIN/AppData/Local/Temp/fig2wpp/@png2x-2574&amp;2537.png"/>
          <p:cNvPicPr>
            <a:picLocks noChangeAspect="1"/>
          </p:cNvPicPr>
          <p:nvPr userDrawn="1">
            <p:custDataLst>
              <p:tags r:id="rId7"/>
            </p:custDataLst>
          </p:nvPr>
        </p:nvPicPr>
        <p:blipFill>
          <a:blip r:embed="rId8" r:link="rId4"/>
          <a:srcRect b="11680"/>
          <a:stretch>
            <a:fillRect/>
          </a:stretch>
        </p:blipFill>
        <p:spPr>
          <a:xfrm>
            <a:off x="4352925" y="673100"/>
            <a:ext cx="3486150" cy="1574800"/>
          </a:xfrm>
          <a:prstGeom prst="rect">
            <a:avLst/>
          </a:prstGeom>
          <a:effectLst>
            <a:outerShdw blurRad="279400" dist="50800" dir="2640000" algn="t" rotWithShape="0">
              <a:schemeClr val="accent1">
                <a:lumMod val="50000"/>
                <a:alpha val="56000"/>
              </a:schemeClr>
            </a:outerShdw>
          </a:effectLst>
        </p:spPr>
      </p:pic>
      <p:sp>
        <p:nvSpPr>
          <p:cNvPr id="2" name="标题 1"/>
          <p:cNvSpPr>
            <a:spLocks noGrp="1"/>
          </p:cNvSpPr>
          <p:nvPr>
            <p:ph type="ctrTitle"/>
            <p:custDataLst>
              <p:tags r:id="rId9"/>
            </p:custDataLst>
          </p:nvPr>
        </p:nvSpPr>
        <p:spPr>
          <a:xfrm>
            <a:off x="838200" y="2145664"/>
            <a:ext cx="10515600" cy="1540715"/>
          </a:xfrm>
        </p:spPr>
        <p:txBody>
          <a:bodyPr wrap="square" anchor="b">
            <a:normAutofit/>
          </a:bodyPr>
          <a:lstStyle>
            <a:lvl1pPr algn="ctr">
              <a:lnSpc>
                <a:spcPct val="100000"/>
              </a:lnSpc>
              <a:defRPr sz="6200">
                <a:solidFill>
                  <a:schemeClr val="lt1">
                    <a:lumMod val="100000"/>
                  </a:schemeClr>
                </a:solidFill>
                <a:latin typeface="+mj-ea"/>
                <a:ea typeface="+mj-ea"/>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10"/>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normAutofit/>
          </a:bodyPr>
          <a:lstStyle/>
          <a:p>
            <a:endParaRPr lang="zh-CN" altLang="en-US" dirty="0"/>
          </a:p>
        </p:txBody>
      </p:sp>
      <p:sp>
        <p:nvSpPr>
          <p:cNvPr id="6" name="灯片编号占位符 5"/>
          <p:cNvSpPr>
            <a:spLocks noGrp="1"/>
          </p:cNvSpPr>
          <p:nvPr>
            <p:ph type="sldNum" sz="quarter" idx="12"/>
            <p:custDataLst>
              <p:tags r:id="rId12"/>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3"/>
            </p:custDataLst>
          </p:nvPr>
        </p:nvSpPr>
        <p:spPr>
          <a:xfrm>
            <a:off x="838200" y="4314825"/>
            <a:ext cx="10515600" cy="485776"/>
          </a:xfrm>
        </p:spPr>
        <p:txBody>
          <a:bodyPr wrap="square" anchor="t">
            <a:normAutofit/>
          </a:bodyPr>
          <a:lstStyle>
            <a:lvl1pPr marL="0" indent="0" algn="ctr">
              <a:lnSpc>
                <a:spcPct val="100000"/>
              </a:lnSpc>
              <a:buNone/>
              <a:defRPr sz="1800">
                <a:solidFill>
                  <a:schemeClr val="lt1">
                    <a:lumMod val="100000"/>
                  </a:schemeClr>
                </a:solidFill>
              </a:defRPr>
            </a:lvl1pPr>
          </a:lstStyle>
          <a:p>
            <a:pPr lvl="0"/>
            <a:r>
              <a:rPr lang="zh-CN" altLang="en-US" dirty="0"/>
              <a:t>署名</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pic>
        <p:nvPicPr>
          <p:cNvPr id="6" name="图片 5" descr="C:/Users/ADMIN/AppData/Local/Temp/fig2wpp/@png2x_bg-2558&amp;1200.png"/>
          <p:cNvPicPr>
            <a:picLocks noChangeAspect="1"/>
          </p:cNvPicPr>
          <p:nvPr userDrawn="1">
            <p:custDataLst>
              <p:tags r:id="rId2"/>
            </p:custDataLst>
          </p:nvPr>
        </p:nvPicPr>
        <p:blipFill>
          <a:blip r:embed="rId3" r:link="rId4"/>
          <a:stretch>
            <a:fillRect/>
          </a:stretch>
        </p:blipFill>
        <p:spPr>
          <a:xfrm>
            <a:off x="0" y="0"/>
            <a:ext cx="12192000" cy="6858000"/>
          </a:xfrm>
          <a:prstGeom prst="rect">
            <a:avLst/>
          </a:prstGeom>
        </p:spPr>
      </p:pic>
      <p:sp>
        <p:nvSpPr>
          <p:cNvPr id="4" name="矩形 3"/>
          <p:cNvSpPr/>
          <p:nvPr userDrawn="1">
            <p:custDataLst>
              <p:tags r:id="rId5"/>
            </p:custDataLst>
          </p:nvPr>
        </p:nvSpPr>
        <p:spPr>
          <a:xfrm>
            <a:off x="318" y="0"/>
            <a:ext cx="12191365" cy="2590165"/>
          </a:xfrm>
          <a:prstGeom prst="rect">
            <a:avLst/>
          </a:prstGeom>
          <a:gradFill>
            <a:gsLst>
              <a:gs pos="0">
                <a:schemeClr val="accent1">
                  <a:lumMod val="75000"/>
                  <a:alpha val="100000"/>
                </a:schemeClr>
              </a:gs>
              <a:gs pos="100000">
                <a:schemeClr val="accent1">
                  <a:lumMod val="50000"/>
                  <a:alpha val="10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11" name="Freeform 14"/>
          <p:cNvSpPr/>
          <p:nvPr userDrawn="1">
            <p:custDataLst>
              <p:tags r:id="rId6"/>
            </p:custDataLst>
          </p:nvPr>
        </p:nvSpPr>
        <p:spPr bwMode="auto">
          <a:xfrm>
            <a:off x="1067228" y="583261"/>
            <a:ext cx="10057544" cy="1423642"/>
          </a:xfrm>
          <a:custGeom>
            <a:avLst/>
            <a:gdLst>
              <a:gd name="T0" fmla="*/ 4307 w 26397"/>
              <a:gd name="T1" fmla="*/ 1872 h 3739"/>
              <a:gd name="T2" fmla="*/ 5825 w 26397"/>
              <a:gd name="T3" fmla="*/ 2693 h 3739"/>
              <a:gd name="T4" fmla="*/ 5186 w 26397"/>
              <a:gd name="T5" fmla="*/ 754 h 3739"/>
              <a:gd name="T6" fmla="*/ 23302 w 26397"/>
              <a:gd name="T7" fmla="*/ 818 h 3739"/>
              <a:gd name="T8" fmla="*/ 21490 w 26397"/>
              <a:gd name="T9" fmla="*/ 3675 h 3739"/>
              <a:gd name="T10" fmla="*/ 20478 w 26397"/>
              <a:gd name="T11" fmla="*/ 64 h 3739"/>
              <a:gd name="T12" fmla="*/ 19218 w 26397"/>
              <a:gd name="T13" fmla="*/ 2194 h 3739"/>
              <a:gd name="T14" fmla="*/ 20050 w 26397"/>
              <a:gd name="T15" fmla="*/ 64 h 3739"/>
              <a:gd name="T16" fmla="*/ 17870 w 26397"/>
              <a:gd name="T17" fmla="*/ 1545 h 3739"/>
              <a:gd name="T18" fmla="*/ 17037 w 26397"/>
              <a:gd name="T19" fmla="*/ 3675 h 3739"/>
              <a:gd name="T20" fmla="*/ 16510 w 26397"/>
              <a:gd name="T21" fmla="*/ 64 h 3739"/>
              <a:gd name="T22" fmla="*/ 14886 w 26397"/>
              <a:gd name="T23" fmla="*/ 1476 h 3739"/>
              <a:gd name="T24" fmla="*/ 14886 w 26397"/>
              <a:gd name="T25" fmla="*/ 2208 h 3739"/>
              <a:gd name="T26" fmla="*/ 16565 w 26397"/>
              <a:gd name="T27" fmla="*/ 3675 h 3739"/>
              <a:gd name="T28" fmla="*/ 10830 w 26397"/>
              <a:gd name="T29" fmla="*/ 64 h 3739"/>
              <a:gd name="T30" fmla="*/ 12647 w 26397"/>
              <a:gd name="T31" fmla="*/ 818 h 3739"/>
              <a:gd name="T32" fmla="*/ 11842 w 26397"/>
              <a:gd name="T33" fmla="*/ 818 h 3739"/>
              <a:gd name="T34" fmla="*/ 7389 w 26397"/>
              <a:gd name="T35" fmla="*/ 64 h 3739"/>
              <a:gd name="T36" fmla="*/ 9597 w 26397"/>
              <a:gd name="T37" fmla="*/ 2194 h 3739"/>
              <a:gd name="T38" fmla="*/ 10402 w 26397"/>
              <a:gd name="T39" fmla="*/ 3675 h 3739"/>
              <a:gd name="T40" fmla="*/ 8194 w 26397"/>
              <a:gd name="T41" fmla="*/ 1545 h 3739"/>
              <a:gd name="T42" fmla="*/ 7389 w 26397"/>
              <a:gd name="T43" fmla="*/ 64 h 3739"/>
              <a:gd name="T44" fmla="*/ 25707 w 26397"/>
              <a:gd name="T45" fmla="*/ 1177 h 3739"/>
              <a:gd name="T46" fmla="*/ 24619 w 26397"/>
              <a:gd name="T47" fmla="*/ 828 h 3739"/>
              <a:gd name="T48" fmla="*/ 24737 w 26397"/>
              <a:gd name="T49" fmla="*/ 1389 h 3739"/>
              <a:gd name="T50" fmla="*/ 26199 w 26397"/>
              <a:gd name="T51" fmla="*/ 2042 h 3739"/>
              <a:gd name="T52" fmla="*/ 25698 w 26397"/>
              <a:gd name="T53" fmla="*/ 3597 h 3739"/>
              <a:gd name="T54" fmla="*/ 23513 w 26397"/>
              <a:gd name="T55" fmla="*/ 2847 h 3739"/>
              <a:gd name="T56" fmla="*/ 24967 w 26397"/>
              <a:gd name="T57" fmla="*/ 3008 h 3739"/>
              <a:gd name="T58" fmla="*/ 25500 w 26397"/>
              <a:gd name="T59" fmla="*/ 2479 h 3739"/>
              <a:gd name="T60" fmla="*/ 24251 w 26397"/>
              <a:gd name="T61" fmla="*/ 1996 h 3739"/>
              <a:gd name="T62" fmla="*/ 23819 w 26397"/>
              <a:gd name="T63" fmla="*/ 531 h 3739"/>
              <a:gd name="T64" fmla="*/ 5186 w 26397"/>
              <a:gd name="T65" fmla="*/ 0 h 3739"/>
              <a:gd name="T66" fmla="*/ 6883 w 26397"/>
              <a:gd name="T67" fmla="*/ 1872 h 3739"/>
              <a:gd name="T68" fmla="*/ 5186 w 26397"/>
              <a:gd name="T69" fmla="*/ 3739 h 3739"/>
              <a:gd name="T70" fmla="*/ 3484 w 26397"/>
              <a:gd name="T71" fmla="*/ 1872 h 3739"/>
              <a:gd name="T72" fmla="*/ 5186 w 26397"/>
              <a:gd name="T73" fmla="*/ 0 h 3739"/>
              <a:gd name="T74" fmla="*/ 3119 w 26397"/>
              <a:gd name="T75" fmla="*/ 892 h 3739"/>
              <a:gd name="T76" fmla="*/ 1716 w 26397"/>
              <a:gd name="T77" fmla="*/ 754 h 3739"/>
              <a:gd name="T78" fmla="*/ 828 w 26397"/>
              <a:gd name="T79" fmla="*/ 1853 h 3739"/>
              <a:gd name="T80" fmla="*/ 1716 w 26397"/>
              <a:gd name="T81" fmla="*/ 2985 h 3739"/>
              <a:gd name="T82" fmla="*/ 3128 w 26397"/>
              <a:gd name="T83" fmla="*/ 2847 h 3739"/>
              <a:gd name="T84" fmla="*/ 828 w 26397"/>
              <a:gd name="T85" fmla="*/ 3505 h 3739"/>
              <a:gd name="T86" fmla="*/ 221 w 26397"/>
              <a:gd name="T87" fmla="*/ 881 h 3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6397" h="3739">
                <a:moveTo>
                  <a:pt x="5186" y="754"/>
                </a:moveTo>
                <a:cubicBezTo>
                  <a:pt x="4913" y="754"/>
                  <a:pt x="4698" y="852"/>
                  <a:pt x="4542" y="1048"/>
                </a:cubicBezTo>
                <a:cubicBezTo>
                  <a:pt x="4386" y="1245"/>
                  <a:pt x="4307" y="1519"/>
                  <a:pt x="4307" y="1872"/>
                </a:cubicBezTo>
                <a:cubicBezTo>
                  <a:pt x="4307" y="2224"/>
                  <a:pt x="4386" y="2498"/>
                  <a:pt x="4542" y="2693"/>
                </a:cubicBezTo>
                <a:cubicBezTo>
                  <a:pt x="4698" y="2888"/>
                  <a:pt x="4913" y="2985"/>
                  <a:pt x="5186" y="2985"/>
                </a:cubicBezTo>
                <a:cubicBezTo>
                  <a:pt x="5456" y="2985"/>
                  <a:pt x="5669" y="2888"/>
                  <a:pt x="5825" y="2693"/>
                </a:cubicBezTo>
                <a:cubicBezTo>
                  <a:pt x="5982" y="2498"/>
                  <a:pt x="6060" y="2224"/>
                  <a:pt x="6060" y="1872"/>
                </a:cubicBezTo>
                <a:cubicBezTo>
                  <a:pt x="6060" y="1519"/>
                  <a:pt x="5983" y="1245"/>
                  <a:pt x="5828" y="1048"/>
                </a:cubicBezTo>
                <a:cubicBezTo>
                  <a:pt x="5673" y="852"/>
                  <a:pt x="5459" y="754"/>
                  <a:pt x="5186" y="754"/>
                </a:cubicBezTo>
                <a:close/>
                <a:moveTo>
                  <a:pt x="20478" y="64"/>
                </a:moveTo>
                <a:lnTo>
                  <a:pt x="23302" y="64"/>
                </a:lnTo>
                <a:lnTo>
                  <a:pt x="23302" y="818"/>
                </a:lnTo>
                <a:lnTo>
                  <a:pt x="22295" y="818"/>
                </a:lnTo>
                <a:lnTo>
                  <a:pt x="22295" y="3675"/>
                </a:lnTo>
                <a:lnTo>
                  <a:pt x="21490" y="3675"/>
                </a:lnTo>
                <a:lnTo>
                  <a:pt x="21490" y="818"/>
                </a:lnTo>
                <a:lnTo>
                  <a:pt x="20478" y="818"/>
                </a:lnTo>
                <a:lnTo>
                  <a:pt x="20478" y="64"/>
                </a:lnTo>
                <a:close/>
                <a:moveTo>
                  <a:pt x="17037" y="64"/>
                </a:moveTo>
                <a:lnTo>
                  <a:pt x="17778" y="64"/>
                </a:lnTo>
                <a:lnTo>
                  <a:pt x="19218" y="2194"/>
                </a:lnTo>
                <a:lnTo>
                  <a:pt x="19245" y="2194"/>
                </a:lnTo>
                <a:lnTo>
                  <a:pt x="19245" y="64"/>
                </a:lnTo>
                <a:lnTo>
                  <a:pt x="20050" y="64"/>
                </a:lnTo>
                <a:lnTo>
                  <a:pt x="20050" y="3675"/>
                </a:lnTo>
                <a:lnTo>
                  <a:pt x="19351" y="3675"/>
                </a:lnTo>
                <a:lnTo>
                  <a:pt x="17870" y="1545"/>
                </a:lnTo>
                <a:lnTo>
                  <a:pt x="17842" y="1545"/>
                </a:lnTo>
                <a:lnTo>
                  <a:pt x="17842" y="3675"/>
                </a:lnTo>
                <a:lnTo>
                  <a:pt x="17037" y="3675"/>
                </a:lnTo>
                <a:lnTo>
                  <a:pt x="17037" y="64"/>
                </a:lnTo>
                <a:close/>
                <a:moveTo>
                  <a:pt x="14081" y="64"/>
                </a:moveTo>
                <a:lnTo>
                  <a:pt x="16510" y="64"/>
                </a:lnTo>
                <a:lnTo>
                  <a:pt x="16510" y="795"/>
                </a:lnTo>
                <a:lnTo>
                  <a:pt x="14886" y="795"/>
                </a:lnTo>
                <a:lnTo>
                  <a:pt x="14886" y="1476"/>
                </a:lnTo>
                <a:lnTo>
                  <a:pt x="16423" y="1476"/>
                </a:lnTo>
                <a:lnTo>
                  <a:pt x="16423" y="2208"/>
                </a:lnTo>
                <a:lnTo>
                  <a:pt x="14886" y="2208"/>
                </a:lnTo>
                <a:lnTo>
                  <a:pt x="14886" y="2944"/>
                </a:lnTo>
                <a:lnTo>
                  <a:pt x="16565" y="2944"/>
                </a:lnTo>
                <a:lnTo>
                  <a:pt x="16565" y="3675"/>
                </a:lnTo>
                <a:lnTo>
                  <a:pt x="14081" y="3675"/>
                </a:lnTo>
                <a:lnTo>
                  <a:pt x="14081" y="64"/>
                </a:lnTo>
                <a:close/>
                <a:moveTo>
                  <a:pt x="10830" y="64"/>
                </a:moveTo>
                <a:lnTo>
                  <a:pt x="13654" y="64"/>
                </a:lnTo>
                <a:lnTo>
                  <a:pt x="13654" y="818"/>
                </a:lnTo>
                <a:lnTo>
                  <a:pt x="12647" y="818"/>
                </a:lnTo>
                <a:lnTo>
                  <a:pt x="12647" y="3675"/>
                </a:lnTo>
                <a:lnTo>
                  <a:pt x="11842" y="3675"/>
                </a:lnTo>
                <a:lnTo>
                  <a:pt x="11842" y="818"/>
                </a:lnTo>
                <a:lnTo>
                  <a:pt x="10830" y="818"/>
                </a:lnTo>
                <a:lnTo>
                  <a:pt x="10830" y="64"/>
                </a:lnTo>
                <a:close/>
                <a:moveTo>
                  <a:pt x="7389" y="64"/>
                </a:moveTo>
                <a:lnTo>
                  <a:pt x="8130" y="64"/>
                </a:lnTo>
                <a:lnTo>
                  <a:pt x="9570" y="2194"/>
                </a:lnTo>
                <a:lnTo>
                  <a:pt x="9597" y="2194"/>
                </a:lnTo>
                <a:lnTo>
                  <a:pt x="9597" y="64"/>
                </a:lnTo>
                <a:lnTo>
                  <a:pt x="10402" y="64"/>
                </a:lnTo>
                <a:lnTo>
                  <a:pt x="10402" y="3675"/>
                </a:lnTo>
                <a:lnTo>
                  <a:pt x="9703" y="3675"/>
                </a:lnTo>
                <a:lnTo>
                  <a:pt x="8222" y="1545"/>
                </a:lnTo>
                <a:lnTo>
                  <a:pt x="8194" y="1545"/>
                </a:lnTo>
                <a:lnTo>
                  <a:pt x="8194" y="3675"/>
                </a:lnTo>
                <a:lnTo>
                  <a:pt x="7389" y="3675"/>
                </a:lnTo>
                <a:lnTo>
                  <a:pt x="7389" y="64"/>
                </a:lnTo>
                <a:close/>
                <a:moveTo>
                  <a:pt x="25013" y="0"/>
                </a:moveTo>
                <a:cubicBezTo>
                  <a:pt x="25657" y="0"/>
                  <a:pt x="26118" y="283"/>
                  <a:pt x="26397" y="851"/>
                </a:cubicBezTo>
                <a:lnTo>
                  <a:pt x="25707" y="1177"/>
                </a:lnTo>
                <a:cubicBezTo>
                  <a:pt x="25628" y="1018"/>
                  <a:pt x="25530" y="903"/>
                  <a:pt x="25415" y="832"/>
                </a:cubicBezTo>
                <a:cubicBezTo>
                  <a:pt x="25300" y="762"/>
                  <a:pt x="25163" y="726"/>
                  <a:pt x="25003" y="726"/>
                </a:cubicBezTo>
                <a:cubicBezTo>
                  <a:pt x="24853" y="726"/>
                  <a:pt x="24725" y="760"/>
                  <a:pt x="24619" y="828"/>
                </a:cubicBezTo>
                <a:cubicBezTo>
                  <a:pt x="24514" y="895"/>
                  <a:pt x="24461" y="979"/>
                  <a:pt x="24461" y="1081"/>
                </a:cubicBezTo>
                <a:cubicBezTo>
                  <a:pt x="24461" y="1151"/>
                  <a:pt x="24482" y="1210"/>
                  <a:pt x="24525" y="1258"/>
                </a:cubicBezTo>
                <a:cubicBezTo>
                  <a:pt x="24568" y="1305"/>
                  <a:pt x="24639" y="1349"/>
                  <a:pt x="24737" y="1389"/>
                </a:cubicBezTo>
                <a:cubicBezTo>
                  <a:pt x="24835" y="1429"/>
                  <a:pt x="24977" y="1473"/>
                  <a:pt x="25164" y="1522"/>
                </a:cubicBezTo>
                <a:cubicBezTo>
                  <a:pt x="25407" y="1587"/>
                  <a:pt x="25609" y="1653"/>
                  <a:pt x="25772" y="1720"/>
                </a:cubicBezTo>
                <a:cubicBezTo>
                  <a:pt x="25934" y="1787"/>
                  <a:pt x="26077" y="1895"/>
                  <a:pt x="26199" y="2042"/>
                </a:cubicBezTo>
                <a:cubicBezTo>
                  <a:pt x="26322" y="2189"/>
                  <a:pt x="26383" y="2382"/>
                  <a:pt x="26383" y="2622"/>
                </a:cubicBezTo>
                <a:cubicBezTo>
                  <a:pt x="26383" y="2842"/>
                  <a:pt x="26323" y="3037"/>
                  <a:pt x="26202" y="3206"/>
                </a:cubicBezTo>
                <a:cubicBezTo>
                  <a:pt x="26081" y="3374"/>
                  <a:pt x="25913" y="3505"/>
                  <a:pt x="25698" y="3597"/>
                </a:cubicBezTo>
                <a:cubicBezTo>
                  <a:pt x="25483" y="3689"/>
                  <a:pt x="25238" y="3735"/>
                  <a:pt x="24962" y="3735"/>
                </a:cubicBezTo>
                <a:cubicBezTo>
                  <a:pt x="24625" y="3735"/>
                  <a:pt x="24330" y="3654"/>
                  <a:pt x="24079" y="3491"/>
                </a:cubicBezTo>
                <a:cubicBezTo>
                  <a:pt x="23827" y="3328"/>
                  <a:pt x="23639" y="3114"/>
                  <a:pt x="23513" y="2847"/>
                </a:cubicBezTo>
                <a:lnTo>
                  <a:pt x="24212" y="2525"/>
                </a:lnTo>
                <a:cubicBezTo>
                  <a:pt x="24277" y="2684"/>
                  <a:pt x="24375" y="2805"/>
                  <a:pt x="24507" y="2886"/>
                </a:cubicBezTo>
                <a:cubicBezTo>
                  <a:pt x="24639" y="2967"/>
                  <a:pt x="24792" y="3008"/>
                  <a:pt x="24967" y="3008"/>
                </a:cubicBezTo>
                <a:cubicBezTo>
                  <a:pt x="25148" y="3008"/>
                  <a:pt x="25292" y="2977"/>
                  <a:pt x="25399" y="2914"/>
                </a:cubicBezTo>
                <a:cubicBezTo>
                  <a:pt x="25506" y="2851"/>
                  <a:pt x="25560" y="2767"/>
                  <a:pt x="25560" y="2663"/>
                </a:cubicBezTo>
                <a:cubicBezTo>
                  <a:pt x="25560" y="2589"/>
                  <a:pt x="25540" y="2528"/>
                  <a:pt x="25500" y="2479"/>
                </a:cubicBezTo>
                <a:cubicBezTo>
                  <a:pt x="25460" y="2430"/>
                  <a:pt x="25391" y="2384"/>
                  <a:pt x="25293" y="2341"/>
                </a:cubicBezTo>
                <a:cubicBezTo>
                  <a:pt x="25195" y="2298"/>
                  <a:pt x="25053" y="2251"/>
                  <a:pt x="24865" y="2198"/>
                </a:cubicBezTo>
                <a:cubicBezTo>
                  <a:pt x="24617" y="2131"/>
                  <a:pt x="24412" y="2063"/>
                  <a:pt x="24251" y="1996"/>
                </a:cubicBezTo>
                <a:cubicBezTo>
                  <a:pt x="24090" y="1929"/>
                  <a:pt x="23948" y="1822"/>
                  <a:pt x="23824" y="1676"/>
                </a:cubicBezTo>
                <a:cubicBezTo>
                  <a:pt x="23699" y="1531"/>
                  <a:pt x="23637" y="1338"/>
                  <a:pt x="23637" y="1099"/>
                </a:cubicBezTo>
                <a:cubicBezTo>
                  <a:pt x="23637" y="887"/>
                  <a:pt x="23698" y="698"/>
                  <a:pt x="23819" y="531"/>
                </a:cubicBezTo>
                <a:cubicBezTo>
                  <a:pt x="23940" y="364"/>
                  <a:pt x="24106" y="233"/>
                  <a:pt x="24316" y="140"/>
                </a:cubicBezTo>
                <a:cubicBezTo>
                  <a:pt x="24526" y="46"/>
                  <a:pt x="24758" y="0"/>
                  <a:pt x="25013" y="0"/>
                </a:cubicBezTo>
                <a:close/>
                <a:moveTo>
                  <a:pt x="5186" y="0"/>
                </a:moveTo>
                <a:cubicBezTo>
                  <a:pt x="5533" y="0"/>
                  <a:pt x="5833" y="74"/>
                  <a:pt x="6088" y="223"/>
                </a:cubicBezTo>
                <a:cubicBezTo>
                  <a:pt x="6342" y="371"/>
                  <a:pt x="6538" y="586"/>
                  <a:pt x="6676" y="867"/>
                </a:cubicBezTo>
                <a:cubicBezTo>
                  <a:pt x="6814" y="1147"/>
                  <a:pt x="6883" y="1482"/>
                  <a:pt x="6883" y="1872"/>
                </a:cubicBezTo>
                <a:cubicBezTo>
                  <a:pt x="6883" y="2258"/>
                  <a:pt x="6814" y="2592"/>
                  <a:pt x="6676" y="2872"/>
                </a:cubicBezTo>
                <a:cubicBezTo>
                  <a:pt x="6538" y="3153"/>
                  <a:pt x="6342" y="3368"/>
                  <a:pt x="6088" y="3516"/>
                </a:cubicBezTo>
                <a:cubicBezTo>
                  <a:pt x="5833" y="3665"/>
                  <a:pt x="5533" y="3739"/>
                  <a:pt x="5186" y="3739"/>
                </a:cubicBezTo>
                <a:cubicBezTo>
                  <a:pt x="4836" y="3739"/>
                  <a:pt x="4534" y="3665"/>
                  <a:pt x="4280" y="3516"/>
                </a:cubicBezTo>
                <a:cubicBezTo>
                  <a:pt x="4025" y="3368"/>
                  <a:pt x="3829" y="3153"/>
                  <a:pt x="3691" y="2872"/>
                </a:cubicBezTo>
                <a:cubicBezTo>
                  <a:pt x="3553" y="2592"/>
                  <a:pt x="3484" y="2258"/>
                  <a:pt x="3484" y="1872"/>
                </a:cubicBezTo>
                <a:cubicBezTo>
                  <a:pt x="3484" y="1482"/>
                  <a:pt x="3553" y="1147"/>
                  <a:pt x="3691" y="867"/>
                </a:cubicBezTo>
                <a:cubicBezTo>
                  <a:pt x="3829" y="586"/>
                  <a:pt x="4025" y="371"/>
                  <a:pt x="4280" y="223"/>
                </a:cubicBezTo>
                <a:cubicBezTo>
                  <a:pt x="4534" y="74"/>
                  <a:pt x="4836" y="0"/>
                  <a:pt x="5186" y="0"/>
                </a:cubicBezTo>
                <a:close/>
                <a:moveTo>
                  <a:pt x="1762" y="0"/>
                </a:moveTo>
                <a:cubicBezTo>
                  <a:pt x="2081" y="0"/>
                  <a:pt x="2354" y="79"/>
                  <a:pt x="2581" y="237"/>
                </a:cubicBezTo>
                <a:cubicBezTo>
                  <a:pt x="2808" y="394"/>
                  <a:pt x="2987" y="613"/>
                  <a:pt x="3119" y="892"/>
                </a:cubicBezTo>
                <a:lnTo>
                  <a:pt x="2406" y="1209"/>
                </a:lnTo>
                <a:cubicBezTo>
                  <a:pt x="2341" y="1059"/>
                  <a:pt x="2249" y="946"/>
                  <a:pt x="2128" y="869"/>
                </a:cubicBezTo>
                <a:cubicBezTo>
                  <a:pt x="2006" y="792"/>
                  <a:pt x="1869" y="754"/>
                  <a:pt x="1716" y="754"/>
                </a:cubicBezTo>
                <a:cubicBezTo>
                  <a:pt x="1541" y="754"/>
                  <a:pt x="1387" y="799"/>
                  <a:pt x="1254" y="890"/>
                </a:cubicBezTo>
                <a:cubicBezTo>
                  <a:pt x="1120" y="980"/>
                  <a:pt x="1016" y="1108"/>
                  <a:pt x="941" y="1274"/>
                </a:cubicBezTo>
                <a:cubicBezTo>
                  <a:pt x="866" y="1439"/>
                  <a:pt x="828" y="1633"/>
                  <a:pt x="828" y="1853"/>
                </a:cubicBezTo>
                <a:cubicBezTo>
                  <a:pt x="828" y="2080"/>
                  <a:pt x="866" y="2279"/>
                  <a:pt x="941" y="2449"/>
                </a:cubicBezTo>
                <a:cubicBezTo>
                  <a:pt x="1016" y="2619"/>
                  <a:pt x="1120" y="2751"/>
                  <a:pt x="1254" y="2845"/>
                </a:cubicBezTo>
                <a:cubicBezTo>
                  <a:pt x="1387" y="2938"/>
                  <a:pt x="1541" y="2985"/>
                  <a:pt x="1716" y="2985"/>
                </a:cubicBezTo>
                <a:cubicBezTo>
                  <a:pt x="1863" y="2985"/>
                  <a:pt x="1996" y="2946"/>
                  <a:pt x="2114" y="2868"/>
                </a:cubicBezTo>
                <a:cubicBezTo>
                  <a:pt x="2232" y="2790"/>
                  <a:pt x="2332" y="2677"/>
                  <a:pt x="2415" y="2530"/>
                </a:cubicBezTo>
                <a:lnTo>
                  <a:pt x="3128" y="2847"/>
                </a:lnTo>
                <a:cubicBezTo>
                  <a:pt x="2993" y="3132"/>
                  <a:pt x="2804" y="3352"/>
                  <a:pt x="2560" y="3507"/>
                </a:cubicBezTo>
                <a:cubicBezTo>
                  <a:pt x="2316" y="3662"/>
                  <a:pt x="2036" y="3739"/>
                  <a:pt x="1720" y="3739"/>
                </a:cubicBezTo>
                <a:cubicBezTo>
                  <a:pt x="1386" y="3739"/>
                  <a:pt x="1089" y="3661"/>
                  <a:pt x="828" y="3505"/>
                </a:cubicBezTo>
                <a:cubicBezTo>
                  <a:pt x="567" y="3348"/>
                  <a:pt x="364" y="3127"/>
                  <a:pt x="219" y="2840"/>
                </a:cubicBezTo>
                <a:cubicBezTo>
                  <a:pt x="73" y="2553"/>
                  <a:pt x="0" y="2224"/>
                  <a:pt x="0" y="1853"/>
                </a:cubicBezTo>
                <a:cubicBezTo>
                  <a:pt x="0" y="1485"/>
                  <a:pt x="74" y="1161"/>
                  <a:pt x="221" y="881"/>
                </a:cubicBezTo>
                <a:cubicBezTo>
                  <a:pt x="368" y="600"/>
                  <a:pt x="575" y="383"/>
                  <a:pt x="842" y="230"/>
                </a:cubicBezTo>
                <a:cubicBezTo>
                  <a:pt x="1109" y="76"/>
                  <a:pt x="1415" y="0"/>
                  <a:pt x="1762"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p>
            <a:pPr lvl="0"/>
            <a:endParaRPr lang="zh-CN" altLang="en-US"/>
          </a:p>
        </p:txBody>
      </p:sp>
      <p:sp>
        <p:nvSpPr>
          <p:cNvPr id="2" name="标题 1"/>
          <p:cNvSpPr>
            <a:spLocks noGrp="1"/>
          </p:cNvSpPr>
          <p:nvPr>
            <p:ph type="title" hasCustomPrompt="1"/>
            <p:custDataLst>
              <p:tags r:id="rId7"/>
            </p:custDataLst>
          </p:nvPr>
        </p:nvSpPr>
        <p:spPr>
          <a:xfrm>
            <a:off x="978853" y="678421"/>
            <a:ext cx="10252709" cy="1194589"/>
          </a:xfrm>
        </p:spPr>
        <p:txBody>
          <a:bodyPr wrap="square" anchor="ctr">
            <a:normAutofit/>
          </a:bodyPr>
          <a:lstStyle>
            <a:lvl1pPr algn="ctr">
              <a:defRPr sz="6000">
                <a:solidFill>
                  <a:schemeClr val="lt1">
                    <a:lumMod val="100000"/>
                  </a:schemeClr>
                </a:solidFill>
                <a:latin typeface="+mj-ea"/>
                <a:ea typeface="+mj-ea"/>
              </a:defRPr>
            </a:lvl1pPr>
          </a:lstStyle>
          <a:p>
            <a:r>
              <a:rPr lang="zh-CN" altLang="en-US" dirty="0"/>
              <a:t>标题</a:t>
            </a:r>
            <a:endParaRPr lang="zh-CN" altLang="en-US" dirty="0"/>
          </a:p>
        </p:txBody>
      </p:sp>
      <p:sp>
        <p:nvSpPr>
          <p:cNvPr id="7" name="日期占位符 3"/>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9"/>
            </p:custDataLst>
          </p:nvPr>
        </p:nvSpPr>
        <p:spPr/>
        <p:txBody>
          <a:bodyPr/>
          <a:lstStyle/>
          <a:p>
            <a:endParaRPr lang="zh-CN" altLang="en-US"/>
          </a:p>
        </p:txBody>
      </p:sp>
      <p:sp>
        <p:nvSpPr>
          <p:cNvPr id="9" name="灯片编号占位符 5"/>
          <p:cNvSpPr>
            <a:spLocks noGrp="1"/>
          </p:cNvSpPr>
          <p:nvPr>
            <p:ph type="sldNum" sz="quarter" idx="12"/>
            <p:custDataLst>
              <p:tags r:id="rId10"/>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9" name="图片 8" descr="C:/Users/ADMIN/AppData/Local/Temp/fig2wpp/@png2x_bg-2558&amp;1227.png"/>
          <p:cNvPicPr>
            <a:picLocks noChangeAspect="1"/>
          </p:cNvPicPr>
          <p:nvPr userDrawn="1">
            <p:custDataLst>
              <p:tags r:id="rId2"/>
            </p:custDataLst>
          </p:nvPr>
        </p:nvPicPr>
        <p:blipFill>
          <a:blip r:embed="rId3" r:link="rId4"/>
          <a:stretch>
            <a:fillRect/>
          </a:stretch>
        </p:blipFill>
        <p:spPr>
          <a:xfrm>
            <a:off x="0" y="0"/>
            <a:ext cx="12192000" cy="6858000"/>
          </a:xfrm>
          <a:prstGeom prst="rect">
            <a:avLst/>
          </a:prstGeom>
        </p:spPr>
      </p:pic>
      <p:sp>
        <p:nvSpPr>
          <p:cNvPr id="10" name="矩形 9"/>
          <p:cNvSpPr/>
          <p:nvPr userDrawn="1">
            <p:custDataLst>
              <p:tags r:id="rId5"/>
            </p:custDataLst>
          </p:nvPr>
        </p:nvSpPr>
        <p:spPr>
          <a:xfrm>
            <a:off x="0" y="2540"/>
            <a:ext cx="2819400" cy="6852920"/>
          </a:xfrm>
          <a:prstGeom prst="rect">
            <a:avLst/>
          </a:prstGeom>
          <a:gradFill>
            <a:gsLst>
              <a:gs pos="0">
                <a:schemeClr val="accent1">
                  <a:lumMod val="75000"/>
                  <a:alpha val="100000"/>
                </a:schemeClr>
              </a:gs>
              <a:gs pos="100000">
                <a:schemeClr val="accent1">
                  <a:lumMod val="50000"/>
                  <a:alpha val="100000"/>
                </a:schemeClr>
              </a:gs>
            </a:gsLst>
            <a:lin ang="54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7" name="Freeform 19"/>
          <p:cNvSpPr/>
          <p:nvPr userDrawn="1">
            <p:custDataLst>
              <p:tags r:id="rId6"/>
            </p:custDataLst>
          </p:nvPr>
        </p:nvSpPr>
        <p:spPr bwMode="auto">
          <a:xfrm>
            <a:off x="894252" y="777558"/>
            <a:ext cx="1030896" cy="5302884"/>
          </a:xfrm>
          <a:custGeom>
            <a:avLst/>
            <a:gdLst>
              <a:gd name="T0" fmla="*/ 1873 w 4338"/>
              <a:gd name="T1" fmla="*/ 5116 h 22329"/>
              <a:gd name="T2" fmla="*/ 3036 w 4338"/>
              <a:gd name="T3" fmla="*/ 5559 h 22329"/>
              <a:gd name="T4" fmla="*/ 3415 w 4338"/>
              <a:gd name="T5" fmla="*/ 8926 h 22329"/>
              <a:gd name="T6" fmla="*/ 2369 w 4338"/>
              <a:gd name="T7" fmla="*/ 9353 h 22329"/>
              <a:gd name="T8" fmla="*/ 3285 w 4338"/>
              <a:gd name="T9" fmla="*/ 9996 h 22329"/>
              <a:gd name="T10" fmla="*/ 3415 w 4338"/>
              <a:gd name="T11" fmla="*/ 8926 h 22329"/>
              <a:gd name="T12" fmla="*/ 2225 w 4338"/>
              <a:gd name="T13" fmla="*/ 934 h 22329"/>
              <a:gd name="T14" fmla="*/ 2380 w 4338"/>
              <a:gd name="T15" fmla="*/ 2047 h 22329"/>
              <a:gd name="T16" fmla="*/ 3261 w 4338"/>
              <a:gd name="T17" fmla="*/ 2047 h 22329"/>
              <a:gd name="T18" fmla="*/ 3415 w 4338"/>
              <a:gd name="T19" fmla="*/ 934 h 22329"/>
              <a:gd name="T20" fmla="*/ 3135 w 4338"/>
              <a:gd name="T21" fmla="*/ 17937 h 22329"/>
              <a:gd name="T22" fmla="*/ 1201 w 4338"/>
              <a:gd name="T23" fmla="*/ 17937 h 22329"/>
              <a:gd name="T24" fmla="*/ 1201 w 4338"/>
              <a:gd name="T25" fmla="*/ 18863 h 22329"/>
              <a:gd name="T26" fmla="*/ 3135 w 4338"/>
              <a:gd name="T27" fmla="*/ 18863 h 22329"/>
              <a:gd name="T28" fmla="*/ 4264 w 4338"/>
              <a:gd name="T29" fmla="*/ 21545 h 22329"/>
              <a:gd name="T30" fmla="*/ 75 w 4338"/>
              <a:gd name="T31" fmla="*/ 22329 h 22329"/>
              <a:gd name="T32" fmla="*/ 3218 w 4338"/>
              <a:gd name="T33" fmla="*/ 21395 h 22329"/>
              <a:gd name="T34" fmla="*/ 3703 w 4338"/>
              <a:gd name="T35" fmla="*/ 20456 h 22329"/>
              <a:gd name="T36" fmla="*/ 4264 w 4338"/>
              <a:gd name="T37" fmla="*/ 11576 h 22329"/>
              <a:gd name="T38" fmla="*/ 3389 w 4338"/>
              <a:gd name="T39" fmla="*/ 14853 h 22329"/>
              <a:gd name="T40" fmla="*/ 75 w 4338"/>
              <a:gd name="T41" fmla="*/ 13684 h 22329"/>
              <a:gd name="T42" fmla="*/ 3389 w 4338"/>
              <a:gd name="T43" fmla="*/ 12750 h 22329"/>
              <a:gd name="T44" fmla="*/ 4264 w 4338"/>
              <a:gd name="T45" fmla="*/ 11576 h 22329"/>
              <a:gd name="T46" fmla="*/ 4264 w 4338"/>
              <a:gd name="T47" fmla="*/ 9486 h 22329"/>
              <a:gd name="T48" fmla="*/ 2892 w 4338"/>
              <a:gd name="T49" fmla="*/ 11173 h 22329"/>
              <a:gd name="T50" fmla="*/ 1686 w 4338"/>
              <a:gd name="T51" fmla="*/ 10442 h 22329"/>
              <a:gd name="T52" fmla="*/ 75 w 4338"/>
              <a:gd name="T53" fmla="*/ 10292 h 22329"/>
              <a:gd name="T54" fmla="*/ 1516 w 4338"/>
              <a:gd name="T55" fmla="*/ 8926 h 22329"/>
              <a:gd name="T56" fmla="*/ 75 w 4338"/>
              <a:gd name="T57" fmla="*/ 7992 h 22329"/>
              <a:gd name="T58" fmla="*/ 4264 w 4338"/>
              <a:gd name="T59" fmla="*/ 5062 h 22329"/>
              <a:gd name="T60" fmla="*/ 75 w 4338"/>
              <a:gd name="T61" fmla="*/ 7597 h 22329"/>
              <a:gd name="T62" fmla="*/ 998 w 4338"/>
              <a:gd name="T63" fmla="*/ 6279 h 22329"/>
              <a:gd name="T64" fmla="*/ 75 w 4338"/>
              <a:gd name="T65" fmla="*/ 4475 h 22329"/>
              <a:gd name="T66" fmla="*/ 4264 w 4338"/>
              <a:gd name="T67" fmla="*/ 5062 h 22329"/>
              <a:gd name="T68" fmla="*/ 4264 w 4338"/>
              <a:gd name="T69" fmla="*/ 1553 h 22329"/>
              <a:gd name="T70" fmla="*/ 3591 w 4338"/>
              <a:gd name="T71" fmla="*/ 3026 h 22329"/>
              <a:gd name="T72" fmla="*/ 1758 w 4338"/>
              <a:gd name="T73" fmla="*/ 2794 h 22329"/>
              <a:gd name="T74" fmla="*/ 1377 w 4338"/>
              <a:gd name="T75" fmla="*/ 934 h 22329"/>
              <a:gd name="T76" fmla="*/ 75 w 4338"/>
              <a:gd name="T77" fmla="*/ 0 h 22329"/>
              <a:gd name="T78" fmla="*/ 4338 w 4338"/>
              <a:gd name="T79" fmla="*/ 18398 h 22329"/>
              <a:gd name="T80" fmla="*/ 2167 w 4338"/>
              <a:gd name="T81" fmla="*/ 19978 h 22329"/>
              <a:gd name="T82" fmla="*/ 0 w 4338"/>
              <a:gd name="T83" fmla="*/ 18398 h 22329"/>
              <a:gd name="T84" fmla="*/ 2167 w 4338"/>
              <a:gd name="T85" fmla="*/ 16819 h 22329"/>
              <a:gd name="T86" fmla="*/ 4338 w 4338"/>
              <a:gd name="T87" fmla="*/ 18398 h 22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38" h="22329">
                <a:moveTo>
                  <a:pt x="3036" y="5527"/>
                </a:moveTo>
                <a:lnTo>
                  <a:pt x="1873" y="5116"/>
                </a:lnTo>
                <a:lnTo>
                  <a:pt x="1873" y="5969"/>
                </a:lnTo>
                <a:lnTo>
                  <a:pt x="3036" y="5559"/>
                </a:lnTo>
                <a:lnTo>
                  <a:pt x="3036" y="5527"/>
                </a:lnTo>
                <a:close/>
                <a:moveTo>
                  <a:pt x="3415" y="8926"/>
                </a:moveTo>
                <a:lnTo>
                  <a:pt x="2369" y="8926"/>
                </a:lnTo>
                <a:lnTo>
                  <a:pt x="2369" y="9353"/>
                </a:lnTo>
                <a:cubicBezTo>
                  <a:pt x="2369" y="9929"/>
                  <a:pt x="2544" y="10217"/>
                  <a:pt x="2892" y="10217"/>
                </a:cubicBezTo>
                <a:cubicBezTo>
                  <a:pt x="3067" y="10217"/>
                  <a:pt x="3197" y="10144"/>
                  <a:pt x="3285" y="9996"/>
                </a:cubicBezTo>
                <a:cubicBezTo>
                  <a:pt x="3372" y="9848"/>
                  <a:pt x="3415" y="9634"/>
                  <a:pt x="3415" y="9353"/>
                </a:cubicBezTo>
                <a:lnTo>
                  <a:pt x="3415" y="8926"/>
                </a:lnTo>
                <a:close/>
                <a:moveTo>
                  <a:pt x="3415" y="934"/>
                </a:moveTo>
                <a:lnTo>
                  <a:pt x="2225" y="934"/>
                </a:lnTo>
                <a:lnTo>
                  <a:pt x="2225" y="1414"/>
                </a:lnTo>
                <a:cubicBezTo>
                  <a:pt x="2225" y="1685"/>
                  <a:pt x="2277" y="1895"/>
                  <a:pt x="2380" y="2047"/>
                </a:cubicBezTo>
                <a:cubicBezTo>
                  <a:pt x="2483" y="2198"/>
                  <a:pt x="2629" y="2273"/>
                  <a:pt x="2818" y="2273"/>
                </a:cubicBezTo>
                <a:cubicBezTo>
                  <a:pt x="3010" y="2273"/>
                  <a:pt x="3157" y="2198"/>
                  <a:pt x="3261" y="2047"/>
                </a:cubicBezTo>
                <a:cubicBezTo>
                  <a:pt x="3364" y="1895"/>
                  <a:pt x="3415" y="1685"/>
                  <a:pt x="3415" y="1414"/>
                </a:cubicBezTo>
                <a:lnTo>
                  <a:pt x="3415" y="934"/>
                </a:lnTo>
                <a:close/>
                <a:moveTo>
                  <a:pt x="3463" y="18398"/>
                </a:moveTo>
                <a:cubicBezTo>
                  <a:pt x="3463" y="18199"/>
                  <a:pt x="3354" y="18045"/>
                  <a:pt x="3135" y="17937"/>
                </a:cubicBezTo>
                <a:cubicBezTo>
                  <a:pt x="2916" y="17828"/>
                  <a:pt x="2594" y="17774"/>
                  <a:pt x="2167" y="17774"/>
                </a:cubicBezTo>
                <a:cubicBezTo>
                  <a:pt x="1740" y="17774"/>
                  <a:pt x="1418" y="17828"/>
                  <a:pt x="1201" y="17937"/>
                </a:cubicBezTo>
                <a:cubicBezTo>
                  <a:pt x="984" y="18045"/>
                  <a:pt x="875" y="18199"/>
                  <a:pt x="875" y="18398"/>
                </a:cubicBezTo>
                <a:cubicBezTo>
                  <a:pt x="875" y="18601"/>
                  <a:pt x="984" y="18756"/>
                  <a:pt x="1201" y="18863"/>
                </a:cubicBezTo>
                <a:cubicBezTo>
                  <a:pt x="1418" y="18969"/>
                  <a:pt x="1740" y="19023"/>
                  <a:pt x="2167" y="19023"/>
                </a:cubicBezTo>
                <a:cubicBezTo>
                  <a:pt x="2594" y="19023"/>
                  <a:pt x="2916" y="18969"/>
                  <a:pt x="3135" y="18863"/>
                </a:cubicBezTo>
                <a:cubicBezTo>
                  <a:pt x="3354" y="18756"/>
                  <a:pt x="3463" y="18601"/>
                  <a:pt x="3463" y="18398"/>
                </a:cubicBezTo>
                <a:close/>
                <a:moveTo>
                  <a:pt x="4264" y="21545"/>
                </a:moveTo>
                <a:lnTo>
                  <a:pt x="4264" y="22329"/>
                </a:lnTo>
                <a:lnTo>
                  <a:pt x="75" y="22329"/>
                </a:lnTo>
                <a:lnTo>
                  <a:pt x="75" y="21395"/>
                </a:lnTo>
                <a:lnTo>
                  <a:pt x="3218" y="21395"/>
                </a:lnTo>
                <a:lnTo>
                  <a:pt x="2732" y="20456"/>
                </a:lnTo>
                <a:lnTo>
                  <a:pt x="3703" y="20456"/>
                </a:lnTo>
                <a:lnTo>
                  <a:pt x="4264" y="21545"/>
                </a:lnTo>
                <a:close/>
                <a:moveTo>
                  <a:pt x="4264" y="11576"/>
                </a:moveTo>
                <a:lnTo>
                  <a:pt x="4264" y="14853"/>
                </a:lnTo>
                <a:lnTo>
                  <a:pt x="3389" y="14853"/>
                </a:lnTo>
                <a:lnTo>
                  <a:pt x="3389" y="13684"/>
                </a:lnTo>
                <a:lnTo>
                  <a:pt x="75" y="13684"/>
                </a:lnTo>
                <a:lnTo>
                  <a:pt x="75" y="12750"/>
                </a:lnTo>
                <a:lnTo>
                  <a:pt x="3389" y="12750"/>
                </a:lnTo>
                <a:lnTo>
                  <a:pt x="3389" y="11576"/>
                </a:lnTo>
                <a:lnTo>
                  <a:pt x="4264" y="11576"/>
                </a:lnTo>
                <a:close/>
                <a:moveTo>
                  <a:pt x="4264" y="7992"/>
                </a:moveTo>
                <a:lnTo>
                  <a:pt x="4264" y="9486"/>
                </a:lnTo>
                <a:cubicBezTo>
                  <a:pt x="4264" y="10020"/>
                  <a:pt x="4143" y="10434"/>
                  <a:pt x="3901" y="10730"/>
                </a:cubicBezTo>
                <a:cubicBezTo>
                  <a:pt x="3659" y="11025"/>
                  <a:pt x="3323" y="11173"/>
                  <a:pt x="2892" y="11173"/>
                </a:cubicBezTo>
                <a:cubicBezTo>
                  <a:pt x="2608" y="11173"/>
                  <a:pt x="2363" y="11109"/>
                  <a:pt x="2159" y="10983"/>
                </a:cubicBezTo>
                <a:cubicBezTo>
                  <a:pt x="1954" y="10857"/>
                  <a:pt x="1797" y="10676"/>
                  <a:pt x="1686" y="10442"/>
                </a:cubicBezTo>
                <a:lnTo>
                  <a:pt x="75" y="11386"/>
                </a:lnTo>
                <a:lnTo>
                  <a:pt x="75" y="10292"/>
                </a:lnTo>
                <a:lnTo>
                  <a:pt x="1516" y="9524"/>
                </a:lnTo>
                <a:lnTo>
                  <a:pt x="1516" y="8926"/>
                </a:lnTo>
                <a:lnTo>
                  <a:pt x="75" y="8926"/>
                </a:lnTo>
                <a:lnTo>
                  <a:pt x="75" y="7992"/>
                </a:lnTo>
                <a:lnTo>
                  <a:pt x="4264" y="7992"/>
                </a:lnTo>
                <a:close/>
                <a:moveTo>
                  <a:pt x="4264" y="5062"/>
                </a:moveTo>
                <a:lnTo>
                  <a:pt x="4264" y="6017"/>
                </a:lnTo>
                <a:lnTo>
                  <a:pt x="75" y="7597"/>
                </a:lnTo>
                <a:lnTo>
                  <a:pt x="75" y="6604"/>
                </a:lnTo>
                <a:lnTo>
                  <a:pt x="998" y="6279"/>
                </a:lnTo>
                <a:lnTo>
                  <a:pt x="998" y="4801"/>
                </a:lnTo>
                <a:lnTo>
                  <a:pt x="75" y="4475"/>
                </a:lnTo>
                <a:lnTo>
                  <a:pt x="75" y="3488"/>
                </a:lnTo>
                <a:lnTo>
                  <a:pt x="4264" y="5062"/>
                </a:lnTo>
                <a:close/>
                <a:moveTo>
                  <a:pt x="4264" y="0"/>
                </a:moveTo>
                <a:lnTo>
                  <a:pt x="4264" y="1553"/>
                </a:lnTo>
                <a:cubicBezTo>
                  <a:pt x="4264" y="1898"/>
                  <a:pt x="4206" y="2196"/>
                  <a:pt x="4090" y="2447"/>
                </a:cubicBezTo>
                <a:cubicBezTo>
                  <a:pt x="3975" y="2698"/>
                  <a:pt x="3808" y="2891"/>
                  <a:pt x="3591" y="3026"/>
                </a:cubicBezTo>
                <a:cubicBezTo>
                  <a:pt x="3374" y="3161"/>
                  <a:pt x="3116" y="3229"/>
                  <a:pt x="2818" y="3229"/>
                </a:cubicBezTo>
                <a:cubicBezTo>
                  <a:pt x="2366" y="3229"/>
                  <a:pt x="2013" y="3084"/>
                  <a:pt x="1758" y="2794"/>
                </a:cubicBezTo>
                <a:cubicBezTo>
                  <a:pt x="1504" y="2504"/>
                  <a:pt x="1377" y="2108"/>
                  <a:pt x="1377" y="1606"/>
                </a:cubicBezTo>
                <a:lnTo>
                  <a:pt x="1377" y="934"/>
                </a:lnTo>
                <a:lnTo>
                  <a:pt x="75" y="934"/>
                </a:lnTo>
                <a:lnTo>
                  <a:pt x="75" y="0"/>
                </a:lnTo>
                <a:lnTo>
                  <a:pt x="4264" y="0"/>
                </a:lnTo>
                <a:close/>
                <a:moveTo>
                  <a:pt x="4338" y="18398"/>
                </a:moveTo>
                <a:cubicBezTo>
                  <a:pt x="4338" y="18907"/>
                  <a:pt x="4154" y="19297"/>
                  <a:pt x="3786" y="19570"/>
                </a:cubicBezTo>
                <a:cubicBezTo>
                  <a:pt x="3418" y="19842"/>
                  <a:pt x="2878" y="19978"/>
                  <a:pt x="2167" y="19978"/>
                </a:cubicBezTo>
                <a:cubicBezTo>
                  <a:pt x="1455" y="19978"/>
                  <a:pt x="916" y="19843"/>
                  <a:pt x="550" y="19572"/>
                </a:cubicBezTo>
                <a:cubicBezTo>
                  <a:pt x="183" y="19302"/>
                  <a:pt x="0" y="18911"/>
                  <a:pt x="0" y="18398"/>
                </a:cubicBezTo>
                <a:cubicBezTo>
                  <a:pt x="0" y="17890"/>
                  <a:pt x="184" y="17499"/>
                  <a:pt x="552" y="17227"/>
                </a:cubicBezTo>
                <a:cubicBezTo>
                  <a:pt x="921" y="16955"/>
                  <a:pt x="1459" y="16819"/>
                  <a:pt x="2167" y="16819"/>
                </a:cubicBezTo>
                <a:cubicBezTo>
                  <a:pt x="2878" y="16819"/>
                  <a:pt x="3418" y="16955"/>
                  <a:pt x="3786" y="17227"/>
                </a:cubicBezTo>
                <a:cubicBezTo>
                  <a:pt x="4154" y="17499"/>
                  <a:pt x="4338" y="17890"/>
                  <a:pt x="4338" y="18398"/>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p>
            <a:pPr lvl="0"/>
            <a:endParaRPr lang="zh-CN" altLang="en-US"/>
          </a:p>
        </p:txBody>
      </p:sp>
      <p:sp>
        <p:nvSpPr>
          <p:cNvPr id="2" name="标题 1"/>
          <p:cNvSpPr>
            <a:spLocks noGrp="1"/>
          </p:cNvSpPr>
          <p:nvPr>
            <p:ph type="title"/>
            <p:custDataLst>
              <p:tags r:id="rId7"/>
            </p:custDataLst>
          </p:nvPr>
        </p:nvSpPr>
        <p:spPr>
          <a:xfrm>
            <a:off x="4038600" y="777558"/>
            <a:ext cx="7810500" cy="5302884"/>
          </a:xfrm>
        </p:spPr>
        <p:txBody>
          <a:bodyPr wrap="square" anchor="ctr">
            <a:normAutofit/>
          </a:bodyPr>
          <a:lstStyle>
            <a:lvl1pPr algn="l">
              <a:defRPr sz="5000">
                <a:latin typeface="+mj-ea"/>
                <a:ea typeface="+mj-ea"/>
              </a:defRPr>
            </a:lvl1pPr>
          </a:lstStyle>
          <a:p>
            <a:r>
              <a:rPr lang="zh-CN" altLang="en-US" dirty="0"/>
              <a:t>单击此处编辑母版标题样式</a:t>
            </a:r>
            <a:endParaRPr lang="zh-CN" altLang="en-US" dirty="0"/>
          </a:p>
        </p:txBody>
      </p:sp>
      <p:sp>
        <p:nvSpPr>
          <p:cNvPr id="8" name="节编号 3"/>
          <p:cNvSpPr>
            <a:spLocks noGrp="1"/>
          </p:cNvSpPr>
          <p:nvPr>
            <p:ph type="body" sz="quarter" idx="13" hasCustomPrompt="1"/>
            <p:custDataLst>
              <p:tags r:id="rId8"/>
            </p:custDataLst>
          </p:nvPr>
        </p:nvSpPr>
        <p:spPr>
          <a:xfrm>
            <a:off x="571501" y="780098"/>
            <a:ext cx="2031999" cy="5302884"/>
          </a:xfrm>
        </p:spPr>
        <p:txBody>
          <a:bodyPr vert="eaVert" wrap="none" anchor="ctr">
            <a:normAutofit/>
          </a:bodyPr>
          <a:lstStyle>
            <a:lvl1pPr marL="0" indent="0" algn="ctr">
              <a:buNone/>
              <a:defRPr sz="6000" b="1">
                <a:solidFill>
                  <a:schemeClr val="lt1">
                    <a:lumMod val="100000"/>
                  </a:schemeClr>
                </a:solidFill>
                <a:latin typeface="+mj-ea"/>
                <a:ea typeface="+mj-ea"/>
              </a:defRPr>
            </a:lvl1pPr>
          </a:lstStyle>
          <a:p>
            <a:pPr lvl="0"/>
            <a:r>
              <a:rPr lang="zh-CN" altLang="en-US" dirty="0"/>
              <a:t>节编号</a:t>
            </a:r>
            <a:endParaRPr lang="zh-CN" altLang="en-US" dirty="0"/>
          </a:p>
        </p:txBody>
      </p:sp>
      <p:sp>
        <p:nvSpPr>
          <p:cNvPr id="4" name="日期占位符 4"/>
          <p:cNvSpPr>
            <a:spLocks noGrp="1"/>
          </p:cNvSpPr>
          <p:nvPr>
            <p:ph type="dt" sz="half" idx="10"/>
            <p:custDataLst>
              <p:tags r:id="rId9"/>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10"/>
            </p:custDataLst>
          </p:nvPr>
        </p:nvSpPr>
        <p:spPr/>
        <p:txBody>
          <a:bodyPr/>
          <a:lstStyle/>
          <a:p>
            <a:endParaRPr lang="zh-CN" altLang="en-US"/>
          </a:p>
        </p:txBody>
      </p:sp>
      <p:sp>
        <p:nvSpPr>
          <p:cNvPr id="6" name="灯片编号占位符 6"/>
          <p:cNvSpPr>
            <a:spLocks noGrp="1"/>
          </p:cNvSpPr>
          <p:nvPr>
            <p:ph type="sldNum" sz="quarter" idx="12"/>
            <p:custDataLst>
              <p:tags r:id="rId11"/>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9596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custDataLst>
              <p:tags r:id="rId4"/>
            </p:custDataLst>
          </p:nvPr>
        </p:nvSpPr>
        <p:spPr>
          <a:xfrm>
            <a:off x="695960" y="1875099"/>
            <a:ext cx="5323840" cy="4300276"/>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p:custDataLst>
              <p:tags r:id="rId5"/>
            </p:custDataLst>
          </p:nvPr>
        </p:nvSpPr>
        <p:spPr>
          <a:xfrm>
            <a:off x="6172200" y="1301750"/>
            <a:ext cx="5323840" cy="411303"/>
          </a:xfrm>
        </p:spPr>
        <p:txBody>
          <a:bodyPr wrap="square"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custDataLst>
              <p:tags r:id="rId6"/>
            </p:custDataLst>
          </p:nvPr>
        </p:nvSpPr>
        <p:spPr>
          <a:xfrm>
            <a:off x="6172200" y="1875099"/>
            <a:ext cx="5323840" cy="4300276"/>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9788" y="360000"/>
            <a:ext cx="10515600" cy="864000"/>
          </a:xfrm>
        </p:spPr>
        <p:txBody>
          <a:bodyPr wrap="square">
            <a:normAutofit/>
          </a:bodyPr>
          <a:lstStyle>
            <a:lvl1pPr>
              <a:defRPr>
                <a:latin typeface="+mj-ea"/>
                <a:ea typeface="+mj-ea"/>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8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5"/>
            </p:custDataLst>
          </p:nvPr>
        </p:nvSpPr>
        <p:spPr/>
        <p:txBody>
          <a:bodyPr/>
          <a:lstStyle/>
          <a:p>
            <a:endParaRPr lang="zh-CN" alt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8" name="图片 7" descr="C:/Users/ADMIN/AppData/Local/Temp/fig2wpp/@png2x_bg-2603&amp;1175.png"/>
          <p:cNvPicPr>
            <a:picLocks noChangeAspect="1"/>
          </p:cNvPicPr>
          <p:nvPr userDrawn="1">
            <p:custDataLst>
              <p:tags r:id="rId2"/>
            </p:custDataLst>
          </p:nvPr>
        </p:nvPicPr>
        <p:blipFill>
          <a:blip r:embed="rId3" r:link="rId4"/>
          <a:stretch>
            <a:fillRect/>
          </a:stretch>
        </p:blipFill>
        <p:spPr>
          <a:xfrm>
            <a:off x="0" y="0"/>
            <a:ext cx="12192000" cy="6858000"/>
          </a:xfrm>
          <a:prstGeom prst="rect">
            <a:avLst/>
          </a:prstGeom>
        </p:spPr>
      </p:pic>
      <p:sp>
        <p:nvSpPr>
          <p:cNvPr id="11" name="矩形 10"/>
          <p:cNvSpPr/>
          <p:nvPr userDrawn="1">
            <p:custDataLst>
              <p:tags r:id="rId5"/>
            </p:custDataLst>
          </p:nvPr>
        </p:nvSpPr>
        <p:spPr>
          <a:xfrm>
            <a:off x="0" y="1562100"/>
            <a:ext cx="12191365" cy="3238500"/>
          </a:xfrm>
          <a:prstGeom prst="rect">
            <a:avLst/>
          </a:prstGeom>
          <a:gradFill>
            <a:gsLst>
              <a:gs pos="0">
                <a:schemeClr val="accent1">
                  <a:lumMod val="75000"/>
                  <a:alpha val="100000"/>
                </a:schemeClr>
              </a:gs>
              <a:gs pos="100000">
                <a:schemeClr val="accent1">
                  <a:lumMod val="50000"/>
                  <a:alpha val="100000"/>
                </a:schemeClr>
              </a:gs>
            </a:gsLst>
            <a:lin ang="10800000" scaled="0"/>
          </a:gradFill>
          <a:ln w="25400">
            <a:noFill/>
          </a:ln>
          <a:effectLst>
            <a:outerShdw blurRad="254000" dist="50800" dir="5399997" algn="ctr" rotWithShape="0">
              <a:schemeClr val="accent1">
                <a:alpha val="3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dirty="0"/>
          </a:p>
        </p:txBody>
      </p:sp>
      <p:sp>
        <p:nvSpPr>
          <p:cNvPr id="3" name="Freeform 10"/>
          <p:cNvSpPr/>
          <p:nvPr userDrawn="1">
            <p:custDataLst>
              <p:tags r:id="rId6"/>
            </p:custDataLst>
          </p:nvPr>
        </p:nvSpPr>
        <p:spPr bwMode="auto">
          <a:xfrm>
            <a:off x="625287" y="2461446"/>
            <a:ext cx="10941426" cy="1439808"/>
          </a:xfrm>
          <a:custGeom>
            <a:avLst/>
            <a:gdLst>
              <a:gd name="T0" fmla="*/ 12960 w 23822"/>
              <a:gd name="T1" fmla="*/ 1770 h 3115"/>
              <a:gd name="T2" fmla="*/ 3135 w 23822"/>
              <a:gd name="T3" fmla="*/ 682 h 3115"/>
              <a:gd name="T4" fmla="*/ 4187 w 23822"/>
              <a:gd name="T5" fmla="*/ 2207 h 3115"/>
              <a:gd name="T6" fmla="*/ 3518 w 23822"/>
              <a:gd name="T7" fmla="*/ 682 h 3115"/>
              <a:gd name="T8" fmla="*/ 18941 w 23822"/>
              <a:gd name="T9" fmla="*/ 873 h 3115"/>
              <a:gd name="T10" fmla="*/ 19478 w 23822"/>
              <a:gd name="T11" fmla="*/ 2487 h 3115"/>
              <a:gd name="T12" fmla="*/ 20012 w 23822"/>
              <a:gd name="T13" fmla="*/ 873 h 3115"/>
              <a:gd name="T14" fmla="*/ 21929 w 23822"/>
              <a:gd name="T15" fmla="*/ 53 h 3115"/>
              <a:gd name="T16" fmla="*/ 23152 w 23822"/>
              <a:gd name="T17" fmla="*/ 53 h 3115"/>
              <a:gd name="T18" fmla="*/ 23240 w 23822"/>
              <a:gd name="T19" fmla="*/ 3061 h 3115"/>
              <a:gd name="T20" fmla="*/ 21983 w 23822"/>
              <a:gd name="T21" fmla="*/ 3061 h 3115"/>
              <a:gd name="T22" fmla="*/ 16972 w 23822"/>
              <a:gd name="T23" fmla="*/ 53 h 3115"/>
              <a:gd name="T24" fmla="*/ 16972 w 23822"/>
              <a:gd name="T25" fmla="*/ 3061 h 3115"/>
              <a:gd name="T26" fmla="*/ 16616 w 23822"/>
              <a:gd name="T27" fmla="*/ 53 h 3115"/>
              <a:gd name="T28" fmla="*/ 15777 w 23822"/>
              <a:gd name="T29" fmla="*/ 3061 h 3115"/>
              <a:gd name="T30" fmla="*/ 14263 w 23822"/>
              <a:gd name="T31" fmla="*/ 682 h 3115"/>
              <a:gd name="T32" fmla="*/ 12994 w 23822"/>
              <a:gd name="T33" fmla="*/ 53 h 3115"/>
              <a:gd name="T34" fmla="*/ 13182 w 23822"/>
              <a:gd name="T35" fmla="*/ 2398 h 3115"/>
              <a:gd name="T36" fmla="*/ 11178 w 23822"/>
              <a:gd name="T37" fmla="*/ 3061 h 3115"/>
              <a:gd name="T38" fmla="*/ 6207 w 23822"/>
              <a:gd name="T39" fmla="*/ 53 h 3115"/>
              <a:gd name="T40" fmla="*/ 6763 w 23822"/>
              <a:gd name="T41" fmla="*/ 2487 h 3115"/>
              <a:gd name="T42" fmla="*/ 7318 w 23822"/>
              <a:gd name="T43" fmla="*/ 53 h 3115"/>
              <a:gd name="T44" fmla="*/ 7839 w 23822"/>
              <a:gd name="T45" fmla="*/ 2533 h 3115"/>
              <a:gd name="T46" fmla="*/ 6111 w 23822"/>
              <a:gd name="T47" fmla="*/ 2966 h 3115"/>
              <a:gd name="T48" fmla="*/ 5536 w 23822"/>
              <a:gd name="T49" fmla="*/ 53 h 3115"/>
              <a:gd name="T50" fmla="*/ 4396 w 23822"/>
              <a:gd name="T51" fmla="*/ 231 h 3115"/>
              <a:gd name="T52" fmla="*/ 4925 w 23822"/>
              <a:gd name="T53" fmla="*/ 2368 h 3115"/>
              <a:gd name="T54" fmla="*/ 2464 w 23822"/>
              <a:gd name="T55" fmla="*/ 3061 h 3115"/>
              <a:gd name="T56" fmla="*/ 2024 w 23822"/>
              <a:gd name="T57" fmla="*/ 53 h 3115"/>
              <a:gd name="T58" fmla="*/ 671 w 23822"/>
              <a:gd name="T59" fmla="*/ 1230 h 3115"/>
              <a:gd name="T60" fmla="*/ 671 w 23822"/>
              <a:gd name="T61" fmla="*/ 1839 h 3115"/>
              <a:gd name="T62" fmla="*/ 2070 w 23822"/>
              <a:gd name="T63" fmla="*/ 3061 h 3115"/>
              <a:gd name="T64" fmla="*/ 19478 w 23822"/>
              <a:gd name="T65" fmla="*/ 0 h 3115"/>
              <a:gd name="T66" fmla="*/ 20892 w 23822"/>
              <a:gd name="T67" fmla="*/ 1559 h 3115"/>
              <a:gd name="T68" fmla="*/ 19478 w 23822"/>
              <a:gd name="T69" fmla="*/ 3115 h 3115"/>
              <a:gd name="T70" fmla="*/ 18060 w 23822"/>
              <a:gd name="T71" fmla="*/ 1559 h 3115"/>
              <a:gd name="T72" fmla="*/ 19478 w 23822"/>
              <a:gd name="T73" fmla="*/ 0 h 3115"/>
              <a:gd name="T74" fmla="*/ 11010 w 23822"/>
              <a:gd name="T75" fmla="*/ 743 h 3115"/>
              <a:gd name="T76" fmla="*/ 9841 w 23822"/>
              <a:gd name="T77" fmla="*/ 628 h 3115"/>
              <a:gd name="T78" fmla="*/ 9102 w 23822"/>
              <a:gd name="T79" fmla="*/ 1544 h 3115"/>
              <a:gd name="T80" fmla="*/ 9841 w 23822"/>
              <a:gd name="T81" fmla="*/ 2487 h 3115"/>
              <a:gd name="T82" fmla="*/ 11018 w 23822"/>
              <a:gd name="T83" fmla="*/ 2372 h 3115"/>
              <a:gd name="T84" fmla="*/ 9102 w 23822"/>
              <a:gd name="T85" fmla="*/ 2920 h 3115"/>
              <a:gd name="T86" fmla="*/ 8596 w 23822"/>
              <a:gd name="T87" fmla="*/ 733 h 3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822" h="3115">
                <a:moveTo>
                  <a:pt x="12642" y="935"/>
                </a:moveTo>
                <a:lnTo>
                  <a:pt x="12347" y="1770"/>
                </a:lnTo>
                <a:lnTo>
                  <a:pt x="12960" y="1770"/>
                </a:lnTo>
                <a:lnTo>
                  <a:pt x="12665" y="935"/>
                </a:lnTo>
                <a:lnTo>
                  <a:pt x="12642" y="935"/>
                </a:lnTo>
                <a:close/>
                <a:moveTo>
                  <a:pt x="3135" y="682"/>
                </a:moveTo>
                <a:lnTo>
                  <a:pt x="3135" y="2433"/>
                </a:lnTo>
                <a:lnTo>
                  <a:pt x="3488" y="2433"/>
                </a:lnTo>
                <a:cubicBezTo>
                  <a:pt x="3792" y="2433"/>
                  <a:pt x="4025" y="2358"/>
                  <a:pt x="4187" y="2207"/>
                </a:cubicBezTo>
                <a:cubicBezTo>
                  <a:pt x="4349" y="2056"/>
                  <a:pt x="4430" y="1840"/>
                  <a:pt x="4430" y="1559"/>
                </a:cubicBezTo>
                <a:cubicBezTo>
                  <a:pt x="4430" y="1276"/>
                  <a:pt x="4352" y="1059"/>
                  <a:pt x="4195" y="908"/>
                </a:cubicBezTo>
                <a:cubicBezTo>
                  <a:pt x="4037" y="757"/>
                  <a:pt x="3812" y="682"/>
                  <a:pt x="3518" y="682"/>
                </a:cubicBezTo>
                <a:lnTo>
                  <a:pt x="3135" y="682"/>
                </a:lnTo>
                <a:close/>
                <a:moveTo>
                  <a:pt x="19478" y="628"/>
                </a:moveTo>
                <a:cubicBezTo>
                  <a:pt x="19251" y="628"/>
                  <a:pt x="19072" y="710"/>
                  <a:pt x="18941" y="873"/>
                </a:cubicBezTo>
                <a:cubicBezTo>
                  <a:pt x="18811" y="1037"/>
                  <a:pt x="18746" y="1265"/>
                  <a:pt x="18746" y="1559"/>
                </a:cubicBezTo>
                <a:cubicBezTo>
                  <a:pt x="18746" y="1853"/>
                  <a:pt x="18811" y="2081"/>
                  <a:pt x="18941" y="2243"/>
                </a:cubicBezTo>
                <a:cubicBezTo>
                  <a:pt x="19072" y="2405"/>
                  <a:pt x="19251" y="2487"/>
                  <a:pt x="19478" y="2487"/>
                </a:cubicBezTo>
                <a:cubicBezTo>
                  <a:pt x="19703" y="2487"/>
                  <a:pt x="19880" y="2405"/>
                  <a:pt x="20011" y="2243"/>
                </a:cubicBezTo>
                <a:cubicBezTo>
                  <a:pt x="20141" y="2081"/>
                  <a:pt x="20206" y="1853"/>
                  <a:pt x="20206" y="1559"/>
                </a:cubicBezTo>
                <a:cubicBezTo>
                  <a:pt x="20206" y="1265"/>
                  <a:pt x="20141" y="1037"/>
                  <a:pt x="20012" y="873"/>
                </a:cubicBezTo>
                <a:cubicBezTo>
                  <a:pt x="19883" y="710"/>
                  <a:pt x="19705" y="628"/>
                  <a:pt x="19478" y="628"/>
                </a:cubicBezTo>
                <a:close/>
                <a:moveTo>
                  <a:pt x="21312" y="53"/>
                </a:moveTo>
                <a:lnTo>
                  <a:pt x="21929" y="53"/>
                </a:lnTo>
                <a:lnTo>
                  <a:pt x="23129" y="1827"/>
                </a:lnTo>
                <a:lnTo>
                  <a:pt x="23152" y="1827"/>
                </a:lnTo>
                <a:lnTo>
                  <a:pt x="23152" y="53"/>
                </a:lnTo>
                <a:lnTo>
                  <a:pt x="23822" y="53"/>
                </a:lnTo>
                <a:lnTo>
                  <a:pt x="23822" y="3061"/>
                </a:lnTo>
                <a:lnTo>
                  <a:pt x="23240" y="3061"/>
                </a:lnTo>
                <a:lnTo>
                  <a:pt x="22006" y="1287"/>
                </a:lnTo>
                <a:lnTo>
                  <a:pt x="21983" y="1287"/>
                </a:lnTo>
                <a:lnTo>
                  <a:pt x="21983" y="3061"/>
                </a:lnTo>
                <a:lnTo>
                  <a:pt x="21312" y="3061"/>
                </a:lnTo>
                <a:lnTo>
                  <a:pt x="21312" y="53"/>
                </a:lnTo>
                <a:close/>
                <a:moveTo>
                  <a:pt x="16972" y="53"/>
                </a:moveTo>
                <a:lnTo>
                  <a:pt x="17643" y="53"/>
                </a:lnTo>
                <a:lnTo>
                  <a:pt x="17643" y="3061"/>
                </a:lnTo>
                <a:lnTo>
                  <a:pt x="16972" y="3061"/>
                </a:lnTo>
                <a:lnTo>
                  <a:pt x="16972" y="53"/>
                </a:lnTo>
                <a:close/>
                <a:moveTo>
                  <a:pt x="14263" y="53"/>
                </a:moveTo>
                <a:lnTo>
                  <a:pt x="16616" y="53"/>
                </a:lnTo>
                <a:lnTo>
                  <a:pt x="16616" y="682"/>
                </a:lnTo>
                <a:lnTo>
                  <a:pt x="15777" y="682"/>
                </a:lnTo>
                <a:lnTo>
                  <a:pt x="15777" y="3061"/>
                </a:lnTo>
                <a:lnTo>
                  <a:pt x="15106" y="3061"/>
                </a:lnTo>
                <a:lnTo>
                  <a:pt x="15106" y="682"/>
                </a:lnTo>
                <a:lnTo>
                  <a:pt x="14263" y="682"/>
                </a:lnTo>
                <a:lnTo>
                  <a:pt x="14263" y="53"/>
                </a:lnTo>
                <a:close/>
                <a:moveTo>
                  <a:pt x="12308" y="53"/>
                </a:moveTo>
                <a:lnTo>
                  <a:pt x="12994" y="53"/>
                </a:lnTo>
                <a:lnTo>
                  <a:pt x="14129" y="3061"/>
                </a:lnTo>
                <a:lnTo>
                  <a:pt x="13416" y="3061"/>
                </a:lnTo>
                <a:lnTo>
                  <a:pt x="13182" y="2398"/>
                </a:lnTo>
                <a:lnTo>
                  <a:pt x="12121" y="2398"/>
                </a:lnTo>
                <a:lnTo>
                  <a:pt x="11887" y="3061"/>
                </a:lnTo>
                <a:lnTo>
                  <a:pt x="11178" y="3061"/>
                </a:lnTo>
                <a:lnTo>
                  <a:pt x="12308" y="53"/>
                </a:lnTo>
                <a:close/>
                <a:moveTo>
                  <a:pt x="5536" y="53"/>
                </a:moveTo>
                <a:lnTo>
                  <a:pt x="6207" y="53"/>
                </a:lnTo>
                <a:lnTo>
                  <a:pt x="6207" y="1824"/>
                </a:lnTo>
                <a:cubicBezTo>
                  <a:pt x="6207" y="2028"/>
                  <a:pt x="6257" y="2190"/>
                  <a:pt x="6356" y="2308"/>
                </a:cubicBezTo>
                <a:cubicBezTo>
                  <a:pt x="6456" y="2427"/>
                  <a:pt x="6591" y="2487"/>
                  <a:pt x="6763" y="2487"/>
                </a:cubicBezTo>
                <a:cubicBezTo>
                  <a:pt x="6934" y="2487"/>
                  <a:pt x="7069" y="2428"/>
                  <a:pt x="7169" y="2312"/>
                </a:cubicBezTo>
                <a:cubicBezTo>
                  <a:pt x="7268" y="2196"/>
                  <a:pt x="7318" y="2038"/>
                  <a:pt x="7318" y="1839"/>
                </a:cubicBezTo>
                <a:lnTo>
                  <a:pt x="7318" y="53"/>
                </a:lnTo>
                <a:lnTo>
                  <a:pt x="7989" y="53"/>
                </a:lnTo>
                <a:lnTo>
                  <a:pt x="7989" y="1866"/>
                </a:lnTo>
                <a:cubicBezTo>
                  <a:pt x="7989" y="2121"/>
                  <a:pt x="7939" y="2344"/>
                  <a:pt x="7839" y="2533"/>
                </a:cubicBezTo>
                <a:cubicBezTo>
                  <a:pt x="7740" y="2722"/>
                  <a:pt x="7597" y="2866"/>
                  <a:pt x="7412" y="2966"/>
                </a:cubicBezTo>
                <a:cubicBezTo>
                  <a:pt x="7227" y="3065"/>
                  <a:pt x="7010" y="3115"/>
                  <a:pt x="6763" y="3115"/>
                </a:cubicBezTo>
                <a:cubicBezTo>
                  <a:pt x="6512" y="3115"/>
                  <a:pt x="6295" y="3065"/>
                  <a:pt x="6111" y="2966"/>
                </a:cubicBezTo>
                <a:cubicBezTo>
                  <a:pt x="5927" y="2866"/>
                  <a:pt x="5785" y="2722"/>
                  <a:pt x="5686" y="2534"/>
                </a:cubicBezTo>
                <a:cubicBezTo>
                  <a:pt x="5586" y="2347"/>
                  <a:pt x="5536" y="2124"/>
                  <a:pt x="5536" y="1866"/>
                </a:cubicBezTo>
                <a:lnTo>
                  <a:pt x="5536" y="53"/>
                </a:lnTo>
                <a:close/>
                <a:moveTo>
                  <a:pt x="2464" y="53"/>
                </a:moveTo>
                <a:lnTo>
                  <a:pt x="3549" y="53"/>
                </a:lnTo>
                <a:cubicBezTo>
                  <a:pt x="3878" y="53"/>
                  <a:pt x="4161" y="113"/>
                  <a:pt x="4396" y="231"/>
                </a:cubicBezTo>
                <a:cubicBezTo>
                  <a:pt x="4631" y="350"/>
                  <a:pt x="4810" y="523"/>
                  <a:pt x="4932" y="749"/>
                </a:cubicBezTo>
                <a:cubicBezTo>
                  <a:pt x="5055" y="975"/>
                  <a:pt x="5116" y="1245"/>
                  <a:pt x="5116" y="1559"/>
                </a:cubicBezTo>
                <a:cubicBezTo>
                  <a:pt x="5116" y="1873"/>
                  <a:pt x="5052" y="2143"/>
                  <a:pt x="4925" y="2368"/>
                </a:cubicBezTo>
                <a:cubicBezTo>
                  <a:pt x="4797" y="2593"/>
                  <a:pt x="4611" y="2764"/>
                  <a:pt x="4367" y="2883"/>
                </a:cubicBezTo>
                <a:cubicBezTo>
                  <a:pt x="4123" y="3002"/>
                  <a:pt x="3829" y="3061"/>
                  <a:pt x="3484" y="3061"/>
                </a:cubicBezTo>
                <a:lnTo>
                  <a:pt x="2464" y="3061"/>
                </a:lnTo>
                <a:lnTo>
                  <a:pt x="2464" y="53"/>
                </a:lnTo>
                <a:close/>
                <a:moveTo>
                  <a:pt x="0" y="53"/>
                </a:moveTo>
                <a:lnTo>
                  <a:pt x="2024" y="53"/>
                </a:lnTo>
                <a:lnTo>
                  <a:pt x="2024" y="663"/>
                </a:lnTo>
                <a:lnTo>
                  <a:pt x="671" y="663"/>
                </a:lnTo>
                <a:lnTo>
                  <a:pt x="671" y="1230"/>
                </a:lnTo>
                <a:lnTo>
                  <a:pt x="1951" y="1230"/>
                </a:lnTo>
                <a:lnTo>
                  <a:pt x="1951" y="1839"/>
                </a:lnTo>
                <a:lnTo>
                  <a:pt x="671" y="1839"/>
                </a:lnTo>
                <a:lnTo>
                  <a:pt x="671" y="2452"/>
                </a:lnTo>
                <a:lnTo>
                  <a:pt x="2070" y="2452"/>
                </a:lnTo>
                <a:lnTo>
                  <a:pt x="2070" y="3061"/>
                </a:lnTo>
                <a:lnTo>
                  <a:pt x="0" y="3061"/>
                </a:lnTo>
                <a:lnTo>
                  <a:pt x="0" y="53"/>
                </a:lnTo>
                <a:close/>
                <a:moveTo>
                  <a:pt x="19478" y="0"/>
                </a:moveTo>
                <a:cubicBezTo>
                  <a:pt x="19767" y="0"/>
                  <a:pt x="20017" y="62"/>
                  <a:pt x="20229" y="185"/>
                </a:cubicBezTo>
                <a:cubicBezTo>
                  <a:pt x="20441" y="309"/>
                  <a:pt x="20605" y="488"/>
                  <a:pt x="20719" y="722"/>
                </a:cubicBezTo>
                <a:cubicBezTo>
                  <a:pt x="20834" y="956"/>
                  <a:pt x="20892" y="1235"/>
                  <a:pt x="20892" y="1559"/>
                </a:cubicBezTo>
                <a:cubicBezTo>
                  <a:pt x="20892" y="1881"/>
                  <a:pt x="20834" y="2159"/>
                  <a:pt x="20719" y="2393"/>
                </a:cubicBezTo>
                <a:cubicBezTo>
                  <a:pt x="20605" y="2626"/>
                  <a:pt x="20441" y="2805"/>
                  <a:pt x="20229" y="2929"/>
                </a:cubicBezTo>
                <a:cubicBezTo>
                  <a:pt x="20017" y="3053"/>
                  <a:pt x="19767" y="3115"/>
                  <a:pt x="19478" y="3115"/>
                </a:cubicBezTo>
                <a:cubicBezTo>
                  <a:pt x="19187" y="3115"/>
                  <a:pt x="18935" y="3053"/>
                  <a:pt x="18723" y="2929"/>
                </a:cubicBezTo>
                <a:cubicBezTo>
                  <a:pt x="18511" y="2805"/>
                  <a:pt x="18347" y="2626"/>
                  <a:pt x="18233" y="2393"/>
                </a:cubicBezTo>
                <a:cubicBezTo>
                  <a:pt x="18118" y="2159"/>
                  <a:pt x="18060" y="1881"/>
                  <a:pt x="18060" y="1559"/>
                </a:cubicBezTo>
                <a:cubicBezTo>
                  <a:pt x="18060" y="1235"/>
                  <a:pt x="18118" y="956"/>
                  <a:pt x="18233" y="722"/>
                </a:cubicBezTo>
                <a:cubicBezTo>
                  <a:pt x="18347" y="488"/>
                  <a:pt x="18511" y="309"/>
                  <a:pt x="18723" y="185"/>
                </a:cubicBezTo>
                <a:cubicBezTo>
                  <a:pt x="18935" y="62"/>
                  <a:pt x="19187" y="0"/>
                  <a:pt x="19478" y="0"/>
                </a:cubicBezTo>
                <a:close/>
                <a:moveTo>
                  <a:pt x="9880" y="0"/>
                </a:moveTo>
                <a:cubicBezTo>
                  <a:pt x="10145" y="0"/>
                  <a:pt x="10373" y="65"/>
                  <a:pt x="10562" y="197"/>
                </a:cubicBezTo>
                <a:cubicBezTo>
                  <a:pt x="10751" y="329"/>
                  <a:pt x="10900" y="511"/>
                  <a:pt x="11010" y="743"/>
                </a:cubicBezTo>
                <a:lnTo>
                  <a:pt x="10416" y="1007"/>
                </a:lnTo>
                <a:cubicBezTo>
                  <a:pt x="10363" y="882"/>
                  <a:pt x="10285" y="788"/>
                  <a:pt x="10184" y="724"/>
                </a:cubicBezTo>
                <a:cubicBezTo>
                  <a:pt x="10083" y="660"/>
                  <a:pt x="9969" y="628"/>
                  <a:pt x="9841" y="628"/>
                </a:cubicBezTo>
                <a:cubicBezTo>
                  <a:pt x="9696" y="628"/>
                  <a:pt x="9567" y="666"/>
                  <a:pt x="9456" y="741"/>
                </a:cubicBezTo>
                <a:cubicBezTo>
                  <a:pt x="9345" y="816"/>
                  <a:pt x="9258" y="923"/>
                  <a:pt x="9196" y="1061"/>
                </a:cubicBezTo>
                <a:cubicBezTo>
                  <a:pt x="9133" y="1199"/>
                  <a:pt x="9102" y="1360"/>
                  <a:pt x="9102" y="1544"/>
                </a:cubicBezTo>
                <a:cubicBezTo>
                  <a:pt x="9102" y="1733"/>
                  <a:pt x="9133" y="1898"/>
                  <a:pt x="9196" y="2040"/>
                </a:cubicBezTo>
                <a:cubicBezTo>
                  <a:pt x="9258" y="2182"/>
                  <a:pt x="9345" y="2292"/>
                  <a:pt x="9456" y="2370"/>
                </a:cubicBezTo>
                <a:cubicBezTo>
                  <a:pt x="9567" y="2448"/>
                  <a:pt x="9696" y="2487"/>
                  <a:pt x="9841" y="2487"/>
                </a:cubicBezTo>
                <a:cubicBezTo>
                  <a:pt x="9964" y="2487"/>
                  <a:pt x="10075" y="2454"/>
                  <a:pt x="10173" y="2389"/>
                </a:cubicBezTo>
                <a:cubicBezTo>
                  <a:pt x="10271" y="2324"/>
                  <a:pt x="10355" y="2230"/>
                  <a:pt x="10424" y="2107"/>
                </a:cubicBezTo>
                <a:lnTo>
                  <a:pt x="11018" y="2372"/>
                </a:lnTo>
                <a:cubicBezTo>
                  <a:pt x="10905" y="2609"/>
                  <a:pt x="10748" y="2792"/>
                  <a:pt x="10545" y="2922"/>
                </a:cubicBezTo>
                <a:cubicBezTo>
                  <a:pt x="10341" y="3051"/>
                  <a:pt x="10108" y="3115"/>
                  <a:pt x="9845" y="3115"/>
                </a:cubicBezTo>
                <a:cubicBezTo>
                  <a:pt x="9567" y="3115"/>
                  <a:pt x="9319" y="3050"/>
                  <a:pt x="9102" y="2920"/>
                </a:cubicBezTo>
                <a:cubicBezTo>
                  <a:pt x="8885" y="2789"/>
                  <a:pt x="8715" y="2605"/>
                  <a:pt x="8594" y="2366"/>
                </a:cubicBezTo>
                <a:cubicBezTo>
                  <a:pt x="8473" y="2127"/>
                  <a:pt x="8412" y="1853"/>
                  <a:pt x="8412" y="1544"/>
                </a:cubicBezTo>
                <a:cubicBezTo>
                  <a:pt x="8412" y="1237"/>
                  <a:pt x="8473" y="967"/>
                  <a:pt x="8596" y="733"/>
                </a:cubicBezTo>
                <a:cubicBezTo>
                  <a:pt x="8719" y="500"/>
                  <a:pt x="8891" y="319"/>
                  <a:pt x="9113" y="191"/>
                </a:cubicBezTo>
                <a:cubicBezTo>
                  <a:pt x="9336" y="63"/>
                  <a:pt x="9591" y="0"/>
                  <a:pt x="9880" y="0"/>
                </a:cubicBezTo>
                <a:close/>
              </a:path>
            </a:pathLst>
          </a:custGeom>
          <a:noFill/>
          <a:ln w="19050" cap="flat">
            <a:gradFill>
              <a:gsLst>
                <a:gs pos="0">
                  <a:srgbClr val="FFFFFF">
                    <a:alpha val="11765"/>
                  </a:srgbClr>
                </a:gs>
                <a:gs pos="100000">
                  <a:srgbClr val="FFFFFF">
                    <a:alpha val="0"/>
                  </a:srgbClr>
                </a:gs>
              </a:gsLst>
              <a:lin ang="5400000" scaled="1"/>
            </a:gradFill>
            <a:prstDash val="solid"/>
            <a:round/>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pic>
        <p:nvPicPr>
          <p:cNvPr id="15" name="图片 14" descr="C:/Users/ADMIN/AppData/Local/Temp/fig2wpp/@png2x-2574&amp;2537.png"/>
          <p:cNvPicPr>
            <a:picLocks noChangeAspect="1"/>
          </p:cNvPicPr>
          <p:nvPr userDrawn="1">
            <p:custDataLst>
              <p:tags r:id="rId7"/>
            </p:custDataLst>
          </p:nvPr>
        </p:nvPicPr>
        <p:blipFill>
          <a:blip r:embed="rId8" r:link="rId4"/>
          <a:srcRect b="11680"/>
          <a:stretch>
            <a:fillRect/>
          </a:stretch>
        </p:blipFill>
        <p:spPr>
          <a:xfrm>
            <a:off x="4352925" y="673100"/>
            <a:ext cx="3486150" cy="1574800"/>
          </a:xfrm>
          <a:prstGeom prst="rect">
            <a:avLst/>
          </a:prstGeom>
          <a:effectLst>
            <a:outerShdw blurRad="279400" dist="50800" dir="2640000" algn="t" rotWithShape="0">
              <a:schemeClr val="accent1">
                <a:lumMod val="50000"/>
                <a:alpha val="56000"/>
              </a:schemeClr>
            </a:outerShdw>
          </a:effectLst>
        </p:spPr>
      </p:pic>
      <p:sp>
        <p:nvSpPr>
          <p:cNvPr id="2" name="标题 1"/>
          <p:cNvSpPr>
            <a:spLocks noGrp="1"/>
          </p:cNvSpPr>
          <p:nvPr>
            <p:ph type="ctrTitle"/>
            <p:custDataLst>
              <p:tags r:id="rId9"/>
            </p:custDataLst>
          </p:nvPr>
        </p:nvSpPr>
        <p:spPr>
          <a:xfrm>
            <a:off x="838200" y="2075440"/>
            <a:ext cx="10515000" cy="1630880"/>
          </a:xfrm>
        </p:spPr>
        <p:txBody>
          <a:bodyPr wrap="square" anchor="b">
            <a:normAutofit/>
          </a:bodyPr>
          <a:lstStyle>
            <a:lvl1pPr algn="ctr">
              <a:lnSpc>
                <a:spcPct val="100000"/>
              </a:lnSpc>
              <a:defRPr sz="6200">
                <a:solidFill>
                  <a:schemeClr val="lt1">
                    <a:lumMod val="100000"/>
                  </a:schemeClr>
                </a:solidFill>
                <a:latin typeface="+mj-ea"/>
                <a:ea typeface="+mj-ea"/>
              </a:defRPr>
            </a:lvl1pPr>
          </a:lstStyle>
          <a:p>
            <a:r>
              <a:rPr lang="zh-CN" altLang="en-US" dirty="0"/>
              <a:t>单击此处编辑母版标题样式</a:t>
            </a:r>
            <a:endParaRPr lang="zh-CN" altLang="en-US" dirty="0"/>
          </a:p>
        </p:txBody>
      </p:sp>
      <p:sp>
        <p:nvSpPr>
          <p:cNvPr id="4" name="日期占位符 3"/>
          <p:cNvSpPr>
            <a:spLocks noGrp="1"/>
          </p:cNvSpPr>
          <p:nvPr>
            <p:ph type="dt" sz="half" idx="10"/>
            <p:custDataLst>
              <p:tags r:id="rId10"/>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11"/>
            </p:custDataLst>
          </p:nvPr>
        </p:nvSpPr>
        <p:spPr/>
        <p:txBody>
          <a:bodyPr/>
          <a:lstStyle/>
          <a:p>
            <a:endParaRPr lang="zh-CN" altLang="en-US"/>
          </a:p>
        </p:txBody>
      </p:sp>
      <p:sp>
        <p:nvSpPr>
          <p:cNvPr id="6" name="灯片编号占位符 5"/>
          <p:cNvSpPr>
            <a:spLocks noGrp="1"/>
          </p:cNvSpPr>
          <p:nvPr>
            <p:ph type="sldNum" sz="quarter" idx="12"/>
            <p:custDataLst>
              <p:tags r:id="rId12"/>
            </p:custDataLst>
          </p:nvPr>
        </p:nvSpPr>
        <p:spPr>
          <a:xfrm>
            <a:off x="8610600" y="6356350"/>
            <a:ext cx="2743200" cy="365125"/>
          </a:xfrm>
        </p:spPr>
        <p:txBody>
          <a:bodyPr wrap="square">
            <a:normAutofit/>
          </a:bodyPr>
          <a:lstStyle/>
          <a:p>
            <a:fld id="{BE5F26B5-172A-4DC2-B0B7-181CFC56B87C}" type="slidenum">
              <a:rPr lang="zh-CN" altLang="en-US" smtClean="0"/>
            </a:fld>
            <a:endParaRPr lang="zh-CN" altLang="en-US"/>
          </a:p>
        </p:txBody>
      </p:sp>
      <p:sp>
        <p:nvSpPr>
          <p:cNvPr id="24" name="署名占位符 10"/>
          <p:cNvSpPr>
            <a:spLocks noGrp="1"/>
          </p:cNvSpPr>
          <p:nvPr>
            <p:ph type="body" sz="quarter" idx="17" hasCustomPrompt="1"/>
            <p:custDataLst>
              <p:tags r:id="rId13"/>
            </p:custDataLst>
          </p:nvPr>
        </p:nvSpPr>
        <p:spPr>
          <a:xfrm>
            <a:off x="838200" y="4312253"/>
            <a:ext cx="10515000" cy="488348"/>
          </a:xfrm>
        </p:spPr>
        <p:txBody>
          <a:bodyPr wrap="square" anchor="t">
            <a:normAutofit/>
          </a:bodyPr>
          <a:lstStyle>
            <a:lvl1pPr marL="0" indent="0" algn="ctr">
              <a:lnSpc>
                <a:spcPct val="100000"/>
              </a:lnSpc>
              <a:buNone/>
              <a:defRPr sz="1800">
                <a:solidFill>
                  <a:schemeClr val="lt1">
                    <a:lumMod val="100000"/>
                  </a:schemeClr>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137.xml"/><Relationship Id="rId2" Type="http://schemas.openxmlformats.org/officeDocument/2006/relationships/slideLayout" Target="../slideLayouts/slideLayout13.xml"/><Relationship Id="rId19" Type="http://schemas.openxmlformats.org/officeDocument/2006/relationships/tags" Target="../tags/tag136.xml"/><Relationship Id="rId18" Type="http://schemas.openxmlformats.org/officeDocument/2006/relationships/tags" Target="../tags/tag135.xml"/><Relationship Id="rId17" Type="http://schemas.openxmlformats.org/officeDocument/2006/relationships/tags" Target="../tags/tag134.xml"/><Relationship Id="rId16" Type="http://schemas.openxmlformats.org/officeDocument/2006/relationships/tags" Target="../tags/tag133.xml"/><Relationship Id="rId15" Type="http://schemas.openxmlformats.org/officeDocument/2006/relationships/tags" Target="../tags/tag132.xml"/><Relationship Id="rId14" Type="http://schemas.openxmlformats.org/officeDocument/2006/relationships/image" Target="NULL" TargetMode="External"/><Relationship Id="rId13" Type="http://schemas.openxmlformats.org/officeDocument/2006/relationships/image" Target="../media/image4.png"/><Relationship Id="rId12" Type="http://schemas.openxmlformats.org/officeDocument/2006/relationships/tags" Target="../tags/tag13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图片 8" descr="C:/Users/ADMIN/AppData/Local/Temp/fig2wpp/@png2x_bg-2558&amp;1235.png"/>
          <p:cNvPicPr>
            <a:picLocks noChangeAspect="1"/>
          </p:cNvPicPr>
          <p:nvPr userDrawn="1">
            <p:custDataLst>
              <p:tags r:id="rId12"/>
            </p:custDataLst>
          </p:nvPr>
        </p:nvPicPr>
        <p:blipFill>
          <a:blip r:embed="rId13" r:link="rId14"/>
          <a:stretch>
            <a:fillRect/>
          </a:stretch>
        </p:blipFill>
        <p:spPr>
          <a:xfrm>
            <a:off x="0" y="0"/>
            <a:ext cx="12192000" cy="6858000"/>
          </a:xfrm>
          <a:prstGeom prst="rect">
            <a:avLst/>
          </a:prstGeom>
        </p:spPr>
      </p:pic>
      <p:sp>
        <p:nvSpPr>
          <p:cNvPr id="2" name="标题占位符 1"/>
          <p:cNvSpPr>
            <a:spLocks noGrp="1"/>
          </p:cNvSpPr>
          <p:nvPr>
            <p:ph type="title"/>
            <p:custDataLst>
              <p:tags r:id="rId15"/>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6"/>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7"/>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8"/>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9"/>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20"/>
            </p:custDataLst>
          </p:nvPr>
        </p:nvSpPr>
        <p:spPr>
          <a:xfrm>
            <a:off x="0" y="0"/>
            <a:ext cx="0" cy="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2.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3" Type="http://schemas.openxmlformats.org/officeDocument/2006/relationships/slideLayout" Target="../slideLayouts/slideLayout14.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4.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image" Target="../media/image5.jpeg"/><Relationship Id="rId12" Type="http://schemas.openxmlformats.org/officeDocument/2006/relationships/slideLayout" Target="../slideLayouts/slideLayout18.xml"/><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tags" Target="../tags/tag156.xml"/></Relationships>
</file>

<file path=ppt/slides/_rels/slide5.xml.rels><?xml version="1.0" encoding="UTF-8" standalone="yes"?>
<Relationships xmlns="http://schemas.openxmlformats.org/package/2006/relationships"><Relationship Id="rId9" Type="http://schemas.openxmlformats.org/officeDocument/2006/relationships/image" Target="../media/image6.jpeg"/><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8" Type="http://schemas.openxmlformats.org/officeDocument/2006/relationships/slideLayout" Target="../slideLayouts/slideLayout18.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image" Target="../media/image8.jpeg"/><Relationship Id="rId12" Type="http://schemas.openxmlformats.org/officeDocument/2006/relationships/tags" Target="../tags/tag175.xml"/><Relationship Id="rId11" Type="http://schemas.openxmlformats.org/officeDocument/2006/relationships/image" Target="../media/image7.jpeg"/><Relationship Id="rId10" Type="http://schemas.openxmlformats.org/officeDocument/2006/relationships/tags" Target="../tags/tag174.xml"/><Relationship Id="rId1" Type="http://schemas.openxmlformats.org/officeDocument/2006/relationships/tags" Target="../tags/tag166.xml"/></Relationships>
</file>

<file path=ppt/slides/_rels/slide6.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image" Target="../media/image9.jpeg"/><Relationship Id="rId14" Type="http://schemas.openxmlformats.org/officeDocument/2006/relationships/notesSlide" Target="../notesSlides/notesSlide1.xml"/><Relationship Id="rId13" Type="http://schemas.openxmlformats.org/officeDocument/2006/relationships/slideLayout" Target="../slideLayouts/slideLayout18.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8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s>
</file>

<file path=ppt/slides/_rels/slide8.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image" Target="../media/image10.jpeg"/><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4" Type="http://schemas.openxmlformats.org/officeDocument/2006/relationships/notesSlide" Target="../notesSlides/notesSlide2.xml"/><Relationship Id="rId23" Type="http://schemas.openxmlformats.org/officeDocument/2006/relationships/slideLayout" Target="../slideLayouts/slideLayout18.xml"/><Relationship Id="rId22" Type="http://schemas.openxmlformats.org/officeDocument/2006/relationships/tags" Target="../tags/tag211.xml"/><Relationship Id="rId21" Type="http://schemas.openxmlformats.org/officeDocument/2006/relationships/image" Target="../media/image13.jpeg"/><Relationship Id="rId20" Type="http://schemas.openxmlformats.org/officeDocument/2006/relationships/tags" Target="../tags/tag210.xml"/><Relationship Id="rId2" Type="http://schemas.openxmlformats.org/officeDocument/2006/relationships/tags" Target="../tags/tag195.xml"/><Relationship Id="rId19" Type="http://schemas.openxmlformats.org/officeDocument/2006/relationships/tags" Target="../tags/tag209.xml"/><Relationship Id="rId18" Type="http://schemas.openxmlformats.org/officeDocument/2006/relationships/tags" Target="../tags/tag208.xml"/><Relationship Id="rId17" Type="http://schemas.openxmlformats.org/officeDocument/2006/relationships/tags" Target="../tags/tag207.xml"/><Relationship Id="rId16" Type="http://schemas.openxmlformats.org/officeDocument/2006/relationships/image" Target="../media/image12.jpeg"/><Relationship Id="rId15" Type="http://schemas.openxmlformats.org/officeDocument/2006/relationships/tags" Target="../tags/tag206.xml"/><Relationship Id="rId14" Type="http://schemas.openxmlformats.org/officeDocument/2006/relationships/tags" Target="../tags/tag205.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image" Target="../media/image11.jpeg"/><Relationship Id="rId10" Type="http://schemas.openxmlformats.org/officeDocument/2006/relationships/tags" Target="../tags/tag202.xml"/><Relationship Id="rId1" Type="http://schemas.openxmlformats.org/officeDocument/2006/relationships/tags" Target="../tags/tag194.xml"/></Relationships>
</file>

<file path=ppt/slides/_rels/slide9.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image" Target="../media/image14.jpeg"/><Relationship Id="rId2" Type="http://schemas.openxmlformats.org/officeDocument/2006/relationships/tags" Target="../tags/tag213.xml"/><Relationship Id="rId14" Type="http://schemas.openxmlformats.org/officeDocument/2006/relationships/notesSlide" Target="../notesSlides/notesSlide3.xml"/><Relationship Id="rId13" Type="http://schemas.openxmlformats.org/officeDocument/2006/relationships/slideLayout" Target="../slideLayouts/slideLayout18.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2.xml"/></Relationships>
</file>

<file path=ppt/slides/_rels/slide10.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9" Type="http://schemas.openxmlformats.org/officeDocument/2006/relationships/slideLayout" Target="../slideLayouts/slideLayout18.xml"/><Relationship Id="rId18" Type="http://schemas.openxmlformats.org/officeDocument/2006/relationships/tags" Target="../tags/tag240.xml"/><Relationship Id="rId17" Type="http://schemas.openxmlformats.org/officeDocument/2006/relationships/tags" Target="../tags/tag239.xml"/><Relationship Id="rId16" Type="http://schemas.openxmlformats.org/officeDocument/2006/relationships/tags" Target="../tags/tag238.xml"/><Relationship Id="rId15" Type="http://schemas.openxmlformats.org/officeDocument/2006/relationships/tags" Target="../tags/tag237.xml"/><Relationship Id="rId14" Type="http://schemas.openxmlformats.org/officeDocument/2006/relationships/tags" Target="../tags/tag236.xml"/><Relationship Id="rId13" Type="http://schemas.openxmlformats.org/officeDocument/2006/relationships/tags" Target="../tags/tag235.xml"/><Relationship Id="rId12" Type="http://schemas.openxmlformats.org/officeDocument/2006/relationships/tags" Target="../tags/tag234.xml"/><Relationship Id="rId11" Type="http://schemas.openxmlformats.org/officeDocument/2006/relationships/tags" Target="../tags/tag233.xml"/><Relationship Id="rId10" Type="http://schemas.openxmlformats.org/officeDocument/2006/relationships/tags" Target="../tags/tag232.xml"/><Relationship Id="rId1" Type="http://schemas.openxmlformats.org/officeDocument/2006/relationships/tags" Target="../tags/tag22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4.xml"/></Relationships>
</file>

<file path=ppt/slides/_rels/slide13.xml.rels><?xml version="1.0" encoding="UTF-8" standalone="yes"?>
<Relationships xmlns="http://schemas.openxmlformats.org/package/2006/relationships"><Relationship Id="rId9" Type="http://schemas.openxmlformats.org/officeDocument/2006/relationships/tags" Target="../tags/tag253.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9" Type="http://schemas.openxmlformats.org/officeDocument/2006/relationships/notesSlide" Target="../notesSlides/notesSlide4.xml"/><Relationship Id="rId18" Type="http://schemas.openxmlformats.org/officeDocument/2006/relationships/slideLayout" Target="../slideLayouts/slideLayout18.xml"/><Relationship Id="rId17" Type="http://schemas.openxmlformats.org/officeDocument/2006/relationships/tags" Target="../tags/tag261.xml"/><Relationship Id="rId16" Type="http://schemas.openxmlformats.org/officeDocument/2006/relationships/tags" Target="../tags/tag260.xml"/><Relationship Id="rId15" Type="http://schemas.openxmlformats.org/officeDocument/2006/relationships/tags" Target="../tags/tag259.xml"/><Relationship Id="rId14" Type="http://schemas.openxmlformats.org/officeDocument/2006/relationships/tags" Target="../tags/tag258.xml"/><Relationship Id="rId13" Type="http://schemas.openxmlformats.org/officeDocument/2006/relationships/tags" Target="../tags/tag257.xml"/><Relationship Id="rId12" Type="http://schemas.openxmlformats.org/officeDocument/2006/relationships/tags" Target="../tags/tag256.xml"/><Relationship Id="rId11" Type="http://schemas.openxmlformats.org/officeDocument/2006/relationships/tags" Target="../tags/tag255.xml"/><Relationship Id="rId10" Type="http://schemas.openxmlformats.org/officeDocument/2006/relationships/tags" Target="../tags/tag254.xml"/><Relationship Id="rId1" Type="http://schemas.openxmlformats.org/officeDocument/2006/relationships/tags" Target="../tags/tag24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2.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3.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4.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5.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266.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8.xml"/><Relationship Id="rId4" Type="http://schemas.openxmlformats.org/officeDocument/2006/relationships/tags" Target="../tags/tag268.xml"/><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tags" Target="../tags/tag267.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69.xml"/><Relationship Id="rId1"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270.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8.xml"/><Relationship Id="rId2" Type="http://schemas.openxmlformats.org/officeDocument/2006/relationships/tags" Target="../tags/tag271.xml"/><Relationship Id="rId1" Type="http://schemas.openxmlformats.org/officeDocument/2006/relationships/image" Target="../media/image23.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272.xml"/><Relationship Id="rId2" Type="http://schemas.openxmlformats.org/officeDocument/2006/relationships/image" Target="../media/image25.png"/><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5.xml.rels><?xml version="1.0" encoding="UTF-8" standalone="yes"?>
<Relationships xmlns="http://schemas.openxmlformats.org/package/2006/relationships"><Relationship Id="rId9" Type="http://schemas.openxmlformats.org/officeDocument/2006/relationships/image" Target="../media/image29.jpeg"/><Relationship Id="rId8" Type="http://schemas.openxmlformats.org/officeDocument/2006/relationships/tags" Target="../tags/tag280.xml"/><Relationship Id="rId7" Type="http://schemas.openxmlformats.org/officeDocument/2006/relationships/image" Target="../media/image28.jpeg"/><Relationship Id="rId6" Type="http://schemas.openxmlformats.org/officeDocument/2006/relationships/tags" Target="../tags/tag279.xml"/><Relationship Id="rId5" Type="http://schemas.openxmlformats.org/officeDocument/2006/relationships/image" Target="../media/image27.jpeg"/><Relationship Id="rId4" Type="http://schemas.openxmlformats.org/officeDocument/2006/relationships/tags" Target="../tags/tag278.xml"/><Relationship Id="rId3" Type="http://schemas.openxmlformats.org/officeDocument/2006/relationships/image" Target="../media/image26.jpeg"/><Relationship Id="rId24" Type="http://schemas.openxmlformats.org/officeDocument/2006/relationships/notesSlide" Target="../notesSlides/notesSlide7.xml"/><Relationship Id="rId23" Type="http://schemas.openxmlformats.org/officeDocument/2006/relationships/slideLayout" Target="../slideLayouts/slideLayout18.xml"/><Relationship Id="rId22" Type="http://schemas.openxmlformats.org/officeDocument/2006/relationships/tags" Target="../tags/tag293.xml"/><Relationship Id="rId21" Type="http://schemas.openxmlformats.org/officeDocument/2006/relationships/tags" Target="../tags/tag292.xml"/><Relationship Id="rId20" Type="http://schemas.openxmlformats.org/officeDocument/2006/relationships/tags" Target="../tags/tag291.xml"/><Relationship Id="rId2" Type="http://schemas.openxmlformats.org/officeDocument/2006/relationships/tags" Target="../tags/tag277.xml"/><Relationship Id="rId19" Type="http://schemas.openxmlformats.org/officeDocument/2006/relationships/tags" Target="../tags/tag290.xml"/><Relationship Id="rId18" Type="http://schemas.openxmlformats.org/officeDocument/2006/relationships/tags" Target="../tags/tag289.xml"/><Relationship Id="rId17" Type="http://schemas.openxmlformats.org/officeDocument/2006/relationships/tags" Target="../tags/tag288.xml"/><Relationship Id="rId16" Type="http://schemas.openxmlformats.org/officeDocument/2006/relationships/tags" Target="../tags/tag287.xml"/><Relationship Id="rId15" Type="http://schemas.openxmlformats.org/officeDocument/2006/relationships/tags" Target="../tags/tag286.xml"/><Relationship Id="rId14" Type="http://schemas.openxmlformats.org/officeDocument/2006/relationships/tags" Target="../tags/tag285.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tags" Target="../tags/tag276.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tags" Target="../tags/tag296.xml"/><Relationship Id="rId2" Type="http://schemas.openxmlformats.org/officeDocument/2006/relationships/tags" Target="../tags/tag295.xml"/><Relationship Id="rId1" Type="http://schemas.openxmlformats.org/officeDocument/2006/relationships/tags" Target="../tags/tag294.xml"/></Relationships>
</file>

<file path=ppt/slides/_rels/slide27.xml.rels><?xml version="1.0" encoding="UTF-8" standalone="yes"?>
<Relationships xmlns="http://schemas.openxmlformats.org/package/2006/relationships"><Relationship Id="rId9" Type="http://schemas.openxmlformats.org/officeDocument/2006/relationships/tags" Target="../tags/tag305.xml"/><Relationship Id="rId8" Type="http://schemas.openxmlformats.org/officeDocument/2006/relationships/tags" Target="../tags/tag304.xml"/><Relationship Id="rId7" Type="http://schemas.openxmlformats.org/officeDocument/2006/relationships/tags" Target="../tags/tag303.xml"/><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2" Type="http://schemas.openxmlformats.org/officeDocument/2006/relationships/slideLayout" Target="../slideLayouts/slideLayout18.xml"/><Relationship Id="rId31" Type="http://schemas.openxmlformats.org/officeDocument/2006/relationships/tags" Target="../tags/tag319.xml"/><Relationship Id="rId30" Type="http://schemas.openxmlformats.org/officeDocument/2006/relationships/tags" Target="../tags/tag318.xml"/><Relationship Id="rId3" Type="http://schemas.openxmlformats.org/officeDocument/2006/relationships/tags" Target="../tags/tag299.xml"/><Relationship Id="rId29" Type="http://schemas.openxmlformats.org/officeDocument/2006/relationships/tags" Target="../tags/tag317.xml"/><Relationship Id="rId28" Type="http://schemas.openxmlformats.org/officeDocument/2006/relationships/image" Target="../media/image37.svg"/><Relationship Id="rId27" Type="http://schemas.openxmlformats.org/officeDocument/2006/relationships/image" Target="../media/image36.png"/><Relationship Id="rId26" Type="http://schemas.openxmlformats.org/officeDocument/2006/relationships/tags" Target="../tags/tag316.xml"/><Relationship Id="rId25" Type="http://schemas.openxmlformats.org/officeDocument/2006/relationships/image" Target="../media/image35.svg"/><Relationship Id="rId24" Type="http://schemas.openxmlformats.org/officeDocument/2006/relationships/image" Target="../media/image34.png"/><Relationship Id="rId23" Type="http://schemas.openxmlformats.org/officeDocument/2006/relationships/tags" Target="../tags/tag315.xml"/><Relationship Id="rId22" Type="http://schemas.openxmlformats.org/officeDocument/2006/relationships/image" Target="../media/image33.svg"/><Relationship Id="rId21" Type="http://schemas.openxmlformats.org/officeDocument/2006/relationships/image" Target="../media/image32.png"/><Relationship Id="rId20" Type="http://schemas.openxmlformats.org/officeDocument/2006/relationships/tags" Target="../tags/tag314.xml"/><Relationship Id="rId2" Type="http://schemas.openxmlformats.org/officeDocument/2006/relationships/tags" Target="../tags/tag298.xml"/><Relationship Id="rId19" Type="http://schemas.openxmlformats.org/officeDocument/2006/relationships/tags" Target="../tags/tag313.xml"/><Relationship Id="rId18" Type="http://schemas.openxmlformats.org/officeDocument/2006/relationships/image" Target="../media/image31.svg"/><Relationship Id="rId17" Type="http://schemas.openxmlformats.org/officeDocument/2006/relationships/image" Target="../media/image30.png"/><Relationship Id="rId16" Type="http://schemas.openxmlformats.org/officeDocument/2006/relationships/tags" Target="../tags/tag312.xml"/><Relationship Id="rId15" Type="http://schemas.openxmlformats.org/officeDocument/2006/relationships/tags" Target="../tags/tag311.xml"/><Relationship Id="rId14" Type="http://schemas.openxmlformats.org/officeDocument/2006/relationships/tags" Target="../tags/tag310.xml"/><Relationship Id="rId13" Type="http://schemas.openxmlformats.org/officeDocument/2006/relationships/tags" Target="../tags/tag309.xml"/><Relationship Id="rId12" Type="http://schemas.openxmlformats.org/officeDocument/2006/relationships/tags" Target="../tags/tag308.xml"/><Relationship Id="rId11" Type="http://schemas.openxmlformats.org/officeDocument/2006/relationships/tags" Target="../tags/tag307.xml"/><Relationship Id="rId10" Type="http://schemas.openxmlformats.org/officeDocument/2006/relationships/tags" Target="../tags/tag306.xml"/><Relationship Id="rId1" Type="http://schemas.openxmlformats.org/officeDocument/2006/relationships/tags" Target="../tags/tag297.xml"/></Relationships>
</file>

<file path=ppt/slides/_rels/slide28.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tags" Target="../tags/tag325.xml"/><Relationship Id="rId7" Type="http://schemas.openxmlformats.org/officeDocument/2006/relationships/image" Target="../media/image39.jpeg"/><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image" Target="../media/image38.jpeg"/><Relationship Id="rId20" Type="http://schemas.openxmlformats.org/officeDocument/2006/relationships/notesSlide" Target="../notesSlides/notesSlide8.xml"/><Relationship Id="rId2" Type="http://schemas.openxmlformats.org/officeDocument/2006/relationships/tags" Target="../tags/tag321.xml"/><Relationship Id="rId19" Type="http://schemas.openxmlformats.org/officeDocument/2006/relationships/slideLayout" Target="../slideLayouts/slideLayout18.xml"/><Relationship Id="rId18" Type="http://schemas.openxmlformats.org/officeDocument/2006/relationships/tags" Target="../tags/tag333.xml"/><Relationship Id="rId17" Type="http://schemas.openxmlformats.org/officeDocument/2006/relationships/tags" Target="../tags/tag332.xml"/><Relationship Id="rId16" Type="http://schemas.openxmlformats.org/officeDocument/2006/relationships/tags" Target="../tags/tag331.xml"/><Relationship Id="rId15" Type="http://schemas.openxmlformats.org/officeDocument/2006/relationships/image" Target="../media/image41.jpeg"/><Relationship Id="rId14" Type="http://schemas.openxmlformats.org/officeDocument/2006/relationships/tags" Target="../tags/tag330.xml"/><Relationship Id="rId13" Type="http://schemas.openxmlformats.org/officeDocument/2006/relationships/tags" Target="../tags/tag329.xml"/><Relationship Id="rId12" Type="http://schemas.openxmlformats.org/officeDocument/2006/relationships/tags" Target="../tags/tag328.xml"/><Relationship Id="rId11" Type="http://schemas.openxmlformats.org/officeDocument/2006/relationships/image" Target="../media/image40.jpeg"/><Relationship Id="rId10" Type="http://schemas.openxmlformats.org/officeDocument/2006/relationships/tags" Target="../tags/tag327.xml"/><Relationship Id="rId1" Type="http://schemas.openxmlformats.org/officeDocument/2006/relationships/tags" Target="../tags/tag320.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2.xml"/><Relationship Id="rId3" Type="http://schemas.openxmlformats.org/officeDocument/2006/relationships/tags" Target="../tags/tag336.xml"/><Relationship Id="rId2" Type="http://schemas.openxmlformats.org/officeDocument/2006/relationships/tags" Target="../tags/tag335.xml"/><Relationship Id="rId1" Type="http://schemas.openxmlformats.org/officeDocument/2006/relationships/tags" Target="../tags/tag3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normAutofit/>
          </a:bodyPr>
          <a:lstStyle/>
          <a:p>
            <a:r>
              <a:rPr lang="zh-CN" altLang="en-US" dirty="0"/>
              <a:t>人脸伪造视频Deepfake检测</a:t>
            </a:r>
            <a:endParaRPr lang="zh-CN" altLang="en-US" dirty="0"/>
          </a:p>
        </p:txBody>
      </p:sp>
      <p:sp>
        <p:nvSpPr>
          <p:cNvPr id="10" name="署名"/>
          <p:cNvSpPr>
            <a:spLocks noGrp="1"/>
          </p:cNvSpPr>
          <p:nvPr>
            <p:ph type="body" sz="quarter" idx="17"/>
            <p:custDataLst>
              <p:tags r:id="rId2"/>
            </p:custDataLst>
          </p:nvPr>
        </p:nvSpPr>
        <p:spPr/>
        <p:txBody>
          <a:bodyPr/>
          <a:lstStyle/>
          <a:p>
            <a:r>
              <a:rPr lang="zh-CN" altLang="en-US"/>
              <a:t>汇报人: 陈安康</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目录</a:t>
            </a:r>
            <a:endParaRPr lang="zh-CN" altLang="en-US"/>
          </a:p>
        </p:txBody>
      </p:sp>
      <p:sp>
        <p:nvSpPr>
          <p:cNvPr id="36" name="序号"/>
          <p:cNvSpPr txBox="1"/>
          <p:nvPr>
            <p:custDataLst>
              <p:tags r:id="rId2"/>
            </p:custDataLst>
          </p:nvPr>
        </p:nvSpPr>
        <p:spPr>
          <a:xfrm>
            <a:off x="1430223" y="3245399"/>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rmAutofit/>
          </a:bodyPr>
          <a:lstStyle/>
          <a:p>
            <a:pPr lvl="0" algn="ctr">
              <a:buClrTx/>
              <a:buSzTx/>
              <a:buFontTx/>
            </a:pPr>
            <a:r>
              <a:rPr lang="en-US" sz="2600" dirty="0">
                <a:solidFill>
                  <a:schemeClr val="lt1">
                    <a:lumMod val="100000"/>
                  </a:schemeClr>
                </a:solidFill>
                <a:latin typeface="+mj-lt"/>
                <a:ea typeface="+mj-ea"/>
                <a:sym typeface="+mn-ea"/>
              </a:rPr>
              <a:t>01</a:t>
            </a:r>
            <a:endParaRPr lang="en-US" sz="2600" dirty="0">
              <a:solidFill>
                <a:schemeClr val="lt1">
                  <a:lumMod val="100000"/>
                </a:schemeClr>
              </a:solidFill>
              <a:latin typeface="+mj-lt"/>
              <a:ea typeface="+mj-ea"/>
              <a:sym typeface="+mn-ea"/>
            </a:endParaRPr>
          </a:p>
        </p:txBody>
      </p:sp>
      <p:sp>
        <p:nvSpPr>
          <p:cNvPr id="37" name="项标题"/>
          <p:cNvSpPr txBox="1"/>
          <p:nvPr>
            <p:custDataLst>
              <p:tags r:id="rId3"/>
            </p:custDataLst>
          </p:nvPr>
        </p:nvSpPr>
        <p:spPr>
          <a:xfrm>
            <a:off x="2447643" y="3337199"/>
            <a:ext cx="3540202" cy="504000"/>
          </a:xfrm>
          <a:prstGeom prst="rect">
            <a:avLst/>
          </a:prstGeom>
          <a:noFill/>
        </p:spPr>
        <p:txBody>
          <a:bodyPr wrap="square" lIns="0" tIns="0" rIns="0" bIns="0" rtlCol="0" anchor="ctr">
            <a:noAutofit/>
          </a:bodyPr>
          <a:lstStyle/>
          <a:p>
            <a:pPr>
              <a:lnSpc>
                <a:spcPct val="100000"/>
              </a:lnSpc>
            </a:pPr>
            <a:r>
              <a:rPr lang="zh-CN" altLang="en-US" sz="2100" b="1" spc="300" dirty="0">
                <a:solidFill>
                  <a:schemeClr val="tx2"/>
                </a:solidFill>
                <a:latin typeface="+mj-ea"/>
                <a:ea typeface="+mj-ea"/>
              </a:rPr>
              <a:t>Deepfake技术概述</a:t>
            </a:r>
            <a:endParaRPr lang="zh-CN" altLang="en-US" sz="2100" b="1" spc="300" dirty="0">
              <a:solidFill>
                <a:schemeClr val="tx2"/>
              </a:solidFill>
              <a:latin typeface="+mj-ea"/>
              <a:ea typeface="+mj-ea"/>
            </a:endParaRPr>
          </a:p>
        </p:txBody>
      </p:sp>
      <p:sp>
        <p:nvSpPr>
          <p:cNvPr id="39" name="序号"/>
          <p:cNvSpPr txBox="1"/>
          <p:nvPr>
            <p:custDataLst>
              <p:tags r:id="rId4"/>
            </p:custDataLst>
          </p:nvPr>
        </p:nvSpPr>
        <p:spPr>
          <a:xfrm>
            <a:off x="1430223" y="4368968"/>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rmAutofit/>
          </a:bodyPr>
          <a:lstStyle/>
          <a:p>
            <a:pPr lvl="0" algn="ctr">
              <a:buClrTx/>
              <a:buSzTx/>
              <a:buFontTx/>
            </a:pPr>
            <a:r>
              <a:rPr lang="en-US" sz="2600" dirty="0">
                <a:solidFill>
                  <a:schemeClr val="lt1">
                    <a:lumMod val="100000"/>
                  </a:schemeClr>
                </a:solidFill>
                <a:latin typeface="+mj-lt"/>
                <a:ea typeface="+mj-ea"/>
                <a:sym typeface="+mn-ea"/>
              </a:rPr>
              <a:t>03</a:t>
            </a:r>
            <a:endParaRPr lang="en-US" sz="2600" dirty="0">
              <a:solidFill>
                <a:schemeClr val="lt1">
                  <a:lumMod val="100000"/>
                </a:schemeClr>
              </a:solidFill>
              <a:latin typeface="+mj-lt"/>
              <a:ea typeface="+mj-ea"/>
              <a:sym typeface="+mn-ea"/>
            </a:endParaRPr>
          </a:p>
        </p:txBody>
      </p:sp>
      <p:sp>
        <p:nvSpPr>
          <p:cNvPr id="40" name="项标题"/>
          <p:cNvSpPr txBox="1"/>
          <p:nvPr>
            <p:custDataLst>
              <p:tags r:id="rId5"/>
            </p:custDataLst>
          </p:nvPr>
        </p:nvSpPr>
        <p:spPr>
          <a:xfrm>
            <a:off x="2447643" y="4460768"/>
            <a:ext cx="3540202" cy="504000"/>
          </a:xfrm>
          <a:prstGeom prst="rect">
            <a:avLst/>
          </a:prstGeom>
          <a:noFill/>
        </p:spPr>
        <p:txBody>
          <a:bodyPr wrap="square" lIns="0" tIns="0" rIns="0" bIns="0" rtlCol="0" anchor="ctr">
            <a:noAutofit/>
          </a:bodyPr>
          <a:lstStyle/>
          <a:p>
            <a:pPr>
              <a:lnSpc>
                <a:spcPct val="100000"/>
              </a:lnSpc>
            </a:pPr>
            <a:r>
              <a:rPr lang="zh-CN" altLang="en-US" sz="2100" b="1" spc="300" dirty="0">
                <a:solidFill>
                  <a:schemeClr val="tx2"/>
                </a:solidFill>
                <a:latin typeface="+mj-ea"/>
                <a:ea typeface="+mj-ea"/>
              </a:rPr>
              <a:t>主流Deepfake检测方法</a:t>
            </a:r>
            <a:endParaRPr lang="zh-CN" altLang="en-US" sz="2100" b="1" spc="300" dirty="0">
              <a:solidFill>
                <a:schemeClr val="tx2"/>
              </a:solidFill>
              <a:latin typeface="+mj-ea"/>
              <a:ea typeface="+mj-ea"/>
            </a:endParaRPr>
          </a:p>
        </p:txBody>
      </p:sp>
      <p:sp>
        <p:nvSpPr>
          <p:cNvPr id="42" name="序号"/>
          <p:cNvSpPr txBox="1"/>
          <p:nvPr>
            <p:custDataLst>
              <p:tags r:id="rId6"/>
            </p:custDataLst>
          </p:nvPr>
        </p:nvSpPr>
        <p:spPr>
          <a:xfrm>
            <a:off x="6562661" y="3245399"/>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rmAutofit/>
          </a:bodyPr>
          <a:lstStyle/>
          <a:p>
            <a:pPr lvl="0" algn="ctr">
              <a:buClrTx/>
              <a:buSzTx/>
              <a:buFontTx/>
            </a:pPr>
            <a:r>
              <a:rPr lang="en-US" sz="2600" dirty="0">
                <a:solidFill>
                  <a:schemeClr val="lt1">
                    <a:lumMod val="100000"/>
                  </a:schemeClr>
                </a:solidFill>
                <a:latin typeface="+mj-lt"/>
                <a:ea typeface="+mj-ea"/>
                <a:sym typeface="+mn-ea"/>
              </a:rPr>
              <a:t>02</a:t>
            </a:r>
            <a:endParaRPr lang="en-US" sz="2600" dirty="0">
              <a:solidFill>
                <a:schemeClr val="lt1">
                  <a:lumMod val="100000"/>
                </a:schemeClr>
              </a:solidFill>
              <a:latin typeface="+mj-lt"/>
              <a:ea typeface="+mj-ea"/>
              <a:sym typeface="+mn-ea"/>
            </a:endParaRPr>
          </a:p>
        </p:txBody>
      </p:sp>
      <p:sp>
        <p:nvSpPr>
          <p:cNvPr id="43" name="项标题"/>
          <p:cNvSpPr txBox="1"/>
          <p:nvPr>
            <p:custDataLst>
              <p:tags r:id="rId7"/>
            </p:custDataLst>
          </p:nvPr>
        </p:nvSpPr>
        <p:spPr>
          <a:xfrm>
            <a:off x="7580081" y="3337199"/>
            <a:ext cx="3540202" cy="504000"/>
          </a:xfrm>
          <a:prstGeom prst="rect">
            <a:avLst/>
          </a:prstGeom>
          <a:noFill/>
        </p:spPr>
        <p:txBody>
          <a:bodyPr wrap="square" lIns="0" tIns="0" rIns="0" bIns="0" rtlCol="0" anchor="ctr">
            <a:noAutofit/>
          </a:bodyPr>
          <a:lstStyle/>
          <a:p>
            <a:pPr>
              <a:lnSpc>
                <a:spcPct val="100000"/>
              </a:lnSpc>
            </a:pPr>
            <a:r>
              <a:rPr lang="zh-CN" altLang="en-US" sz="2100" b="1" spc="300" dirty="0">
                <a:solidFill>
                  <a:schemeClr val="tx2"/>
                </a:solidFill>
                <a:latin typeface="+mj-ea"/>
                <a:ea typeface="+mj-ea"/>
              </a:rPr>
              <a:t>Deepfake检测评价指标</a:t>
            </a:r>
            <a:endParaRPr lang="zh-CN" altLang="en-US" sz="2100" b="1" spc="300" dirty="0">
              <a:solidFill>
                <a:schemeClr val="tx2"/>
              </a:solidFill>
              <a:latin typeface="+mj-ea"/>
              <a:ea typeface="+mj-ea"/>
            </a:endParaRPr>
          </a:p>
        </p:txBody>
      </p:sp>
      <p:sp>
        <p:nvSpPr>
          <p:cNvPr id="45" name="序号"/>
          <p:cNvSpPr txBox="1"/>
          <p:nvPr>
            <p:custDataLst>
              <p:tags r:id="rId8"/>
            </p:custDataLst>
          </p:nvPr>
        </p:nvSpPr>
        <p:spPr>
          <a:xfrm>
            <a:off x="6562661" y="4368968"/>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rmAutofit/>
          </a:bodyPr>
          <a:lstStyle/>
          <a:p>
            <a:pPr lvl="0" algn="ctr">
              <a:buClrTx/>
              <a:buSzTx/>
              <a:buFontTx/>
            </a:pPr>
            <a:r>
              <a:rPr lang="en-US" sz="2600" dirty="0">
                <a:solidFill>
                  <a:schemeClr val="lt1">
                    <a:lumMod val="100000"/>
                  </a:schemeClr>
                </a:solidFill>
                <a:latin typeface="+mj-lt"/>
                <a:ea typeface="+mj-ea"/>
                <a:sym typeface="+mn-ea"/>
              </a:rPr>
              <a:t>04</a:t>
            </a:r>
            <a:endParaRPr lang="en-US" sz="2600" dirty="0">
              <a:solidFill>
                <a:schemeClr val="lt1">
                  <a:lumMod val="100000"/>
                </a:schemeClr>
              </a:solidFill>
              <a:latin typeface="+mj-lt"/>
              <a:ea typeface="+mj-ea"/>
              <a:sym typeface="+mn-ea"/>
            </a:endParaRPr>
          </a:p>
        </p:txBody>
      </p:sp>
      <p:sp>
        <p:nvSpPr>
          <p:cNvPr id="46" name="项标题"/>
          <p:cNvSpPr txBox="1"/>
          <p:nvPr>
            <p:custDataLst>
              <p:tags r:id="rId9"/>
            </p:custDataLst>
          </p:nvPr>
        </p:nvSpPr>
        <p:spPr>
          <a:xfrm>
            <a:off x="7580081" y="4460768"/>
            <a:ext cx="3540202" cy="504000"/>
          </a:xfrm>
          <a:prstGeom prst="rect">
            <a:avLst/>
          </a:prstGeom>
          <a:noFill/>
        </p:spPr>
        <p:txBody>
          <a:bodyPr wrap="square" lIns="0" tIns="0" rIns="0" bIns="0" rtlCol="0" anchor="ctr">
            <a:noAutofit/>
          </a:bodyPr>
          <a:lstStyle/>
          <a:p>
            <a:pPr>
              <a:lnSpc>
                <a:spcPct val="100000"/>
              </a:lnSpc>
            </a:pPr>
            <a:r>
              <a:rPr lang="zh-CN" altLang="en-US" sz="2100" b="1" spc="300" dirty="0">
                <a:solidFill>
                  <a:schemeClr val="tx2"/>
                </a:solidFill>
                <a:latin typeface="+mj-ea"/>
                <a:ea typeface="+mj-ea"/>
              </a:rPr>
              <a:t>Deepfake检测技术挑战</a:t>
            </a:r>
            <a:endParaRPr lang="zh-CN" altLang="en-US" sz="2100" b="1" spc="300" dirty="0">
              <a:solidFill>
                <a:schemeClr val="tx2"/>
              </a:solidFill>
              <a:latin typeface="+mj-ea"/>
              <a:ea typeface="+mj-ea"/>
            </a:endParaRPr>
          </a:p>
        </p:txBody>
      </p:sp>
      <p:sp>
        <p:nvSpPr>
          <p:cNvPr id="3" name="序号"/>
          <p:cNvSpPr txBox="1"/>
          <p:nvPr>
            <p:custDataLst>
              <p:tags r:id="rId10"/>
            </p:custDataLst>
          </p:nvPr>
        </p:nvSpPr>
        <p:spPr>
          <a:xfrm>
            <a:off x="1430223" y="5492537"/>
            <a:ext cx="687600" cy="687600"/>
          </a:xfrm>
          <a:prstGeom prst="ellipse">
            <a:avLst/>
          </a:prstGeom>
          <a:gradFill>
            <a:gsLst>
              <a:gs pos="0">
                <a:schemeClr val="accent1">
                  <a:lumMod val="75000"/>
                  <a:alpha val="100000"/>
                </a:schemeClr>
              </a:gs>
              <a:gs pos="100000">
                <a:schemeClr val="accent1">
                  <a:lumMod val="50000"/>
                  <a:alpha val="100000"/>
                </a:schemeClr>
              </a:gs>
            </a:gsLst>
            <a:lin ang="7936421" scaled="0"/>
          </a:gradFill>
          <a:effectLst>
            <a:outerShdw blurRad="254000" dist="50800" dir="5400000" algn="ctr" rotWithShape="0">
              <a:schemeClr val="accent1">
                <a:alpha val="30000"/>
              </a:schemeClr>
            </a:outerShdw>
          </a:effectLst>
        </p:spPr>
        <p:txBody>
          <a:bodyPr wrap="none" lIns="0" tIns="53975" rIns="0" bIns="0" rtlCol="0" anchor="ctr" anchorCtr="0">
            <a:normAutofit/>
          </a:bodyPr>
          <a:lstStyle/>
          <a:p>
            <a:pPr lvl="0" algn="ctr">
              <a:buClrTx/>
              <a:buSzTx/>
              <a:buFontTx/>
            </a:pPr>
            <a:r>
              <a:rPr lang="en-US" sz="2600" dirty="0">
                <a:solidFill>
                  <a:schemeClr val="lt1">
                    <a:lumMod val="100000"/>
                  </a:schemeClr>
                </a:solidFill>
                <a:latin typeface="+mj-lt"/>
                <a:ea typeface="+mj-ea"/>
                <a:sym typeface="+mn-ea"/>
              </a:rPr>
              <a:t>05</a:t>
            </a:r>
            <a:endParaRPr lang="en-US" sz="2600" dirty="0">
              <a:solidFill>
                <a:schemeClr val="lt1">
                  <a:lumMod val="100000"/>
                </a:schemeClr>
              </a:solidFill>
              <a:latin typeface="+mj-lt"/>
              <a:ea typeface="+mj-ea"/>
              <a:sym typeface="+mn-ea"/>
            </a:endParaRPr>
          </a:p>
        </p:txBody>
      </p:sp>
      <p:sp>
        <p:nvSpPr>
          <p:cNvPr id="5" name="项标题"/>
          <p:cNvSpPr txBox="1"/>
          <p:nvPr>
            <p:custDataLst>
              <p:tags r:id="rId11"/>
            </p:custDataLst>
          </p:nvPr>
        </p:nvSpPr>
        <p:spPr>
          <a:xfrm>
            <a:off x="2447643" y="5584337"/>
            <a:ext cx="3540202" cy="504000"/>
          </a:xfrm>
          <a:prstGeom prst="rect">
            <a:avLst/>
          </a:prstGeom>
          <a:noFill/>
        </p:spPr>
        <p:txBody>
          <a:bodyPr wrap="square" lIns="0" tIns="0" rIns="0" bIns="0" rtlCol="0" anchor="ctr">
            <a:noAutofit/>
          </a:bodyPr>
          <a:lstStyle/>
          <a:p>
            <a:pPr>
              <a:lnSpc>
                <a:spcPct val="100000"/>
              </a:lnSpc>
            </a:pPr>
            <a:r>
              <a:rPr lang="zh-CN" altLang="en-US" sz="2100" b="1" spc="300" dirty="0">
                <a:solidFill>
                  <a:schemeClr val="tx2"/>
                </a:solidFill>
                <a:latin typeface="+mj-ea"/>
                <a:ea typeface="+mj-ea"/>
              </a:rPr>
              <a:t>未来发展趋势展望</a:t>
            </a:r>
            <a:endParaRPr lang="zh-CN" altLang="en-US" sz="2100" b="1" spc="300" dirty="0">
              <a:solidFill>
                <a:schemeClr val="tx2"/>
              </a:solidFill>
              <a:latin typeface="+mj-ea"/>
              <a:ea typeface="+mj-ea"/>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Deepfake技术概述</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ONE</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descr="/data/temp/d3857c1f-41be-11f0-a09a-d26541248f02.jpgd3857c1f-41be-11f0-a09a-d26541248f02"/>
          <p:cNvPicPr>
            <a:picLocks noChangeAspect="1"/>
          </p:cNvPicPr>
          <p:nvPr>
            <p:custDataLst>
              <p:tags r:id="rId1"/>
            </p:custDataLst>
          </p:nvPr>
        </p:nvPicPr>
        <p:blipFill>
          <a:blip r:embed="rId2"/>
          <a:srcRect t="41" b="41"/>
          <a:stretch>
            <a:fillRect/>
          </a:stretch>
        </p:blipFill>
        <p:spPr>
          <a:xfrm>
            <a:off x="0" y="0"/>
            <a:ext cx="12192000" cy="3429000"/>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15" name="矩形: 圆角 14"/>
          <p:cNvSpPr/>
          <p:nvPr>
            <p:custDataLst>
              <p:tags r:id="rId3"/>
            </p:custDataLst>
          </p:nvPr>
        </p:nvSpPr>
        <p:spPr>
          <a:xfrm>
            <a:off x="530225" y="815975"/>
            <a:ext cx="11129010" cy="5513070"/>
          </a:xfrm>
          <a:prstGeom prst="roundRect">
            <a:avLst>
              <a:gd name="adj" fmla="val 9236"/>
            </a:avLst>
          </a:prstGeom>
          <a:solidFill>
            <a:schemeClr val="lt1">
              <a:lumMod val="100000"/>
            </a:schemeClr>
          </a:solidFill>
          <a:ln w="3175" cap="flat" cmpd="sng" algn="ctr">
            <a:solidFill>
              <a:schemeClr val="accent1">
                <a:lumMod val="100000"/>
                <a:alpha val="20000"/>
              </a:schemeClr>
            </a:solidFill>
            <a:prstDash val="solid"/>
            <a:round/>
            <a:headEnd type="none" w="med" len="med"/>
            <a:tailEnd type="none" w="med" len="med"/>
          </a:ln>
          <a:effectLst>
            <a:outerShdw blurRad="508000" dist="76200" dir="5399999" algn="bl" rotWithShape="0">
              <a:schemeClr val="accent1">
                <a:alpha val="20000"/>
              </a:schemeClr>
            </a:outerShdw>
          </a:effectLst>
        </p:spPr>
        <p:txBody>
          <a:bodyPr rtlCol="0" anchor="ctr"/>
          <a:lstStyle/>
          <a:p>
            <a:pPr algn="ctr"/>
            <a:endParaRPr kumimoji="1" lang="zh-CN" altLang="en-US" sz="3200">
              <a:latin typeface="+mj-ea"/>
              <a:ea typeface="+mj-ea"/>
              <a:sym typeface="微软雅黑" panose="020B0503020204020204" charset="-122"/>
            </a:endParaRPr>
          </a:p>
        </p:txBody>
      </p:sp>
      <p:sp>
        <p:nvSpPr>
          <p:cNvPr id="17" name="标题 16"/>
          <p:cNvSpPr>
            <a:spLocks noGrp="1"/>
          </p:cNvSpPr>
          <p:nvPr>
            <p:ph type="title"/>
            <p:custDataLst>
              <p:tags r:id="rId4"/>
            </p:custDataLst>
          </p:nvPr>
        </p:nvSpPr>
        <p:spPr>
          <a:xfrm>
            <a:off x="1344930" y="1120140"/>
            <a:ext cx="9474200" cy="720090"/>
          </a:xfrm>
        </p:spPr>
        <p:txBody>
          <a:bodyPr anchor="ctr" anchorCtr="0"/>
          <a:lstStyle/>
          <a:p>
            <a:r>
              <a:rPr lang="zh-CN" altLang="en-US">
                <a:solidFill>
                  <a:srgbClr val="000000"/>
                </a:solidFill>
              </a:rPr>
              <a:t>人工智能与Deepfake</a:t>
            </a:r>
            <a:endParaRPr lang="zh-CN" altLang="en-US">
              <a:solidFill>
                <a:srgbClr val="000000"/>
              </a:solidFill>
            </a:endParaRPr>
          </a:p>
        </p:txBody>
      </p:sp>
      <p:sp>
        <p:nvSpPr>
          <p:cNvPr id="4" name="矩形 3"/>
          <p:cNvSpPr/>
          <p:nvPr>
            <p:custDataLst>
              <p:tags r:id="rId5"/>
            </p:custDataLst>
          </p:nvPr>
        </p:nvSpPr>
        <p:spPr>
          <a:xfrm>
            <a:off x="1280160" y="2422525"/>
            <a:ext cx="2811145"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600" dirty="0">
                <a:solidFill>
                  <a:srgbClr val="000000"/>
                </a:solidFill>
                <a:latin typeface="+mn-ea"/>
                <a:cs typeface="+mn-ea"/>
                <a:sym typeface="+mn-ea"/>
              </a:rPr>
              <a:t>自动编码器是一种神经网络，通过学习数据的压缩表示（编码），然后解码这些表示来重建数据。这一技术为人脸交换奠定了基础。</a:t>
            </a:r>
            <a:endParaRPr lang="zh-CN" altLang="en-US" sz="1600" dirty="0">
              <a:solidFill>
                <a:srgbClr val="000000"/>
              </a:solidFill>
              <a:latin typeface="+mn-ea"/>
              <a:cs typeface="+mn-ea"/>
              <a:sym typeface="+mn-ea"/>
            </a:endParaRPr>
          </a:p>
        </p:txBody>
      </p:sp>
      <p:sp>
        <p:nvSpPr>
          <p:cNvPr id="6" name="矩形 5"/>
          <p:cNvSpPr/>
          <p:nvPr>
            <p:custDataLst>
              <p:tags r:id="rId6"/>
            </p:custDataLst>
          </p:nvPr>
        </p:nvSpPr>
        <p:spPr>
          <a:xfrm>
            <a:off x="1280160" y="1962786"/>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chemeClr val="accent1"/>
                </a:solidFill>
                <a:latin typeface="+mn-ea"/>
                <a:cs typeface="+mn-ea"/>
                <a:sym typeface="+mn-ea"/>
              </a:rPr>
              <a:t>生成模型的演进</a:t>
            </a:r>
            <a:endParaRPr lang="zh-CN" altLang="en-US" sz="2000" b="1" dirty="0">
              <a:solidFill>
                <a:schemeClr val="accent1"/>
              </a:solidFill>
              <a:latin typeface="+mn-ea"/>
              <a:cs typeface="+mn-ea"/>
              <a:sym typeface="+mn-ea"/>
            </a:endParaRPr>
          </a:p>
        </p:txBody>
      </p:sp>
      <p:sp>
        <p:nvSpPr>
          <p:cNvPr id="9" name="矩形 8"/>
          <p:cNvSpPr/>
          <p:nvPr>
            <p:custDataLst>
              <p:tags r:id="rId7"/>
            </p:custDataLst>
          </p:nvPr>
        </p:nvSpPr>
        <p:spPr>
          <a:xfrm>
            <a:off x="8106410" y="2422525"/>
            <a:ext cx="2982595"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600">
                <a:solidFill>
                  <a:srgbClr val="000000"/>
                </a:solidFill>
                <a:latin typeface="+mn-ea"/>
                <a:cs typeface="+mn-ea"/>
                <a:sym typeface="+mn-ea"/>
              </a:rPr>
              <a:t>在</a:t>
            </a:r>
            <a:r>
              <a:rPr lang="en-US" altLang="zh-CN" sz="1600">
                <a:solidFill>
                  <a:srgbClr val="000000"/>
                </a:solidFill>
                <a:latin typeface="+mn-ea"/>
                <a:cs typeface="+mn-ea"/>
                <a:sym typeface="+mn-ea"/>
              </a:rPr>
              <a:t>2022</a:t>
            </a:r>
            <a:r>
              <a:rPr lang="zh-CN" altLang="en-US" sz="1600">
                <a:solidFill>
                  <a:srgbClr val="000000"/>
                </a:solidFill>
                <a:latin typeface="+mn-ea"/>
                <a:cs typeface="+mn-ea"/>
                <a:sym typeface="+mn-ea"/>
              </a:rPr>
              <a:t>年后，扩散模型（如</a:t>
            </a:r>
            <a:r>
              <a:rPr lang="en-US" altLang="zh-CN" sz="1600">
                <a:solidFill>
                  <a:srgbClr val="000000"/>
                </a:solidFill>
                <a:latin typeface="+mn-ea"/>
                <a:cs typeface="+mn-ea"/>
                <a:sym typeface="+mn-ea"/>
              </a:rPr>
              <a:t>Stable Diffusion</a:t>
            </a:r>
            <a:r>
              <a:rPr lang="zh-CN" altLang="en-US" sz="1600">
                <a:solidFill>
                  <a:srgbClr val="000000"/>
                </a:solidFill>
                <a:latin typeface="+mn-ea"/>
                <a:cs typeface="+mn-ea"/>
                <a:sym typeface="+mn-ea"/>
              </a:rPr>
              <a:t>、</a:t>
            </a:r>
            <a:r>
              <a:rPr lang="en-US" altLang="zh-CN" sz="1600">
                <a:solidFill>
                  <a:srgbClr val="000000"/>
                </a:solidFill>
                <a:latin typeface="+mn-ea"/>
                <a:cs typeface="+mn-ea"/>
                <a:sym typeface="+mn-ea"/>
              </a:rPr>
              <a:t>DALL-E 2</a:t>
            </a:r>
            <a:r>
              <a:rPr lang="zh-CN" altLang="en-US" sz="1600">
                <a:solidFill>
                  <a:srgbClr val="000000"/>
                </a:solidFill>
                <a:latin typeface="+mn-ea"/>
                <a:cs typeface="+mn-ea"/>
                <a:sym typeface="+mn-ea"/>
              </a:rPr>
              <a:t>、</a:t>
            </a:r>
            <a:r>
              <a:rPr lang="en-US" altLang="zh-CN" sz="1600">
                <a:solidFill>
                  <a:srgbClr val="000000"/>
                </a:solidFill>
                <a:latin typeface="+mn-ea"/>
                <a:cs typeface="+mn-ea"/>
                <a:sym typeface="+mn-ea"/>
              </a:rPr>
              <a:t>Midjourney</a:t>
            </a:r>
            <a:r>
              <a:rPr lang="zh-CN" altLang="en-US" sz="1600">
                <a:solidFill>
                  <a:srgbClr val="000000"/>
                </a:solidFill>
                <a:latin typeface="+mn-ea"/>
                <a:cs typeface="+mn-ea"/>
                <a:sym typeface="+mn-ea"/>
              </a:rPr>
              <a:t>）成为了新的主流生成技术。这些模型在生成图像和视频的真实感、多样性和可控性方面取得了显著突破，使得</a:t>
            </a:r>
            <a:r>
              <a:rPr lang="en-US" altLang="zh-CN" sz="1600">
                <a:solidFill>
                  <a:srgbClr val="000000"/>
                </a:solidFill>
                <a:latin typeface="+mn-ea"/>
                <a:cs typeface="+mn-ea"/>
                <a:sym typeface="+mn-ea"/>
              </a:rPr>
              <a:t>Deepfake</a:t>
            </a:r>
            <a:r>
              <a:rPr lang="zh-CN" altLang="en-US" sz="1600">
                <a:solidFill>
                  <a:srgbClr val="000000"/>
                </a:solidFill>
                <a:latin typeface="+mn-ea"/>
                <a:cs typeface="+mn-ea"/>
                <a:sym typeface="+mn-ea"/>
              </a:rPr>
              <a:t>的生成质量达到了前所未有的水平，也对检测技术提出了新的挑战。</a:t>
            </a:r>
            <a:endParaRPr lang="zh-CN" altLang="en-US" sz="1600">
              <a:solidFill>
                <a:srgbClr val="000000"/>
              </a:solidFill>
              <a:latin typeface="+mn-ea"/>
              <a:cs typeface="+mn-ea"/>
              <a:sym typeface="+mn-ea"/>
            </a:endParaRPr>
          </a:p>
        </p:txBody>
      </p:sp>
      <p:sp>
        <p:nvSpPr>
          <p:cNvPr id="10" name="矩形 9"/>
          <p:cNvSpPr/>
          <p:nvPr>
            <p:custDataLst>
              <p:tags r:id="rId8"/>
            </p:custDataLst>
          </p:nvPr>
        </p:nvSpPr>
        <p:spPr>
          <a:xfrm>
            <a:off x="8106410" y="1962786"/>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对抗性网络的应用</a:t>
            </a:r>
            <a:endParaRPr lang="zh-CN" altLang="en-US" sz="2000" b="1">
              <a:solidFill>
                <a:schemeClr val="accent1"/>
              </a:solidFill>
              <a:latin typeface="+mn-ea"/>
              <a:cs typeface="+mn-ea"/>
              <a:sym typeface="+mn-ea"/>
            </a:endParaRPr>
          </a:p>
        </p:txBody>
      </p:sp>
      <p:sp>
        <p:nvSpPr>
          <p:cNvPr id="11" name="矩形 10"/>
          <p:cNvSpPr/>
          <p:nvPr>
            <p:custDataLst>
              <p:tags r:id="rId9"/>
            </p:custDataLst>
          </p:nvPr>
        </p:nvSpPr>
        <p:spPr>
          <a:xfrm>
            <a:off x="4693285" y="2422525"/>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sz="1600">
                <a:solidFill>
                  <a:srgbClr val="000000"/>
                </a:solidFill>
                <a:latin typeface="+mn-ea"/>
                <a:cs typeface="+mn-ea"/>
                <a:sym typeface="+mn-ea"/>
              </a:rPr>
              <a:t>生成对抗网络（</a:t>
            </a:r>
            <a:r>
              <a:rPr lang="en-US" altLang="zh-CN" sz="1600">
                <a:solidFill>
                  <a:srgbClr val="000000"/>
                </a:solidFill>
                <a:latin typeface="+mn-ea"/>
                <a:cs typeface="+mn-ea"/>
                <a:sym typeface="+mn-ea"/>
              </a:rPr>
              <a:t>GANs</a:t>
            </a:r>
            <a:r>
              <a:rPr lang="zh-CN" altLang="en-US" sz="1600">
                <a:solidFill>
                  <a:srgbClr val="000000"/>
                </a:solidFill>
                <a:latin typeface="+mn-ea"/>
                <a:cs typeface="+mn-ea"/>
                <a:sym typeface="+mn-ea"/>
              </a:rPr>
              <a:t>）的出现</a:t>
            </a:r>
            <a:r>
              <a:rPr lang="en-US" altLang="zh-CN" sz="1600">
                <a:solidFill>
                  <a:srgbClr val="000000"/>
                </a:solidFill>
                <a:latin typeface="+mn-ea"/>
                <a:cs typeface="+mn-ea"/>
                <a:sym typeface="+mn-ea"/>
              </a:rPr>
              <a:t> (2014)</a:t>
            </a:r>
            <a:r>
              <a:rPr lang="zh-CN" altLang="en-US" sz="1600">
                <a:solidFill>
                  <a:srgbClr val="000000"/>
                </a:solidFill>
                <a:latin typeface="+mn-ea"/>
                <a:cs typeface="+mn-ea"/>
                <a:sym typeface="+mn-ea"/>
              </a:rPr>
              <a:t>：由</a:t>
            </a:r>
            <a:r>
              <a:rPr lang="en-US" altLang="zh-CN" sz="1600">
                <a:solidFill>
                  <a:srgbClr val="000000"/>
                </a:solidFill>
                <a:latin typeface="+mn-ea"/>
                <a:cs typeface="+mn-ea"/>
                <a:sym typeface="+mn-ea"/>
              </a:rPr>
              <a:t>Ian Goodfellow</a:t>
            </a:r>
            <a:r>
              <a:rPr lang="zh-CN" altLang="en-US" sz="1600">
                <a:solidFill>
                  <a:srgbClr val="000000"/>
                </a:solidFill>
                <a:latin typeface="+mn-ea"/>
                <a:cs typeface="+mn-ea"/>
                <a:sym typeface="+mn-ea"/>
              </a:rPr>
              <a:t>在</a:t>
            </a:r>
            <a:r>
              <a:rPr lang="en-US" altLang="zh-CN" sz="1600">
                <a:solidFill>
                  <a:srgbClr val="000000"/>
                </a:solidFill>
                <a:latin typeface="+mn-ea"/>
                <a:cs typeface="+mn-ea"/>
                <a:sym typeface="+mn-ea"/>
              </a:rPr>
              <a:t>2014</a:t>
            </a:r>
            <a:r>
              <a:rPr lang="zh-CN" altLang="en-US" sz="1600">
                <a:solidFill>
                  <a:srgbClr val="000000"/>
                </a:solidFill>
                <a:latin typeface="+mn-ea"/>
                <a:cs typeface="+mn-ea"/>
                <a:sym typeface="+mn-ea"/>
              </a:rPr>
              <a:t>年提出的生成对抗网络（</a:t>
            </a:r>
            <a:r>
              <a:rPr lang="en-US" altLang="zh-CN" sz="1600">
                <a:solidFill>
                  <a:srgbClr val="000000"/>
                </a:solidFill>
                <a:latin typeface="+mn-ea"/>
                <a:cs typeface="+mn-ea"/>
                <a:sym typeface="+mn-ea"/>
              </a:rPr>
              <a:t>GANs</a:t>
            </a:r>
            <a:r>
              <a:rPr lang="zh-CN" altLang="en-US" sz="1600">
                <a:solidFill>
                  <a:srgbClr val="000000"/>
                </a:solidFill>
                <a:latin typeface="+mn-ea"/>
                <a:cs typeface="+mn-ea"/>
                <a:sym typeface="+mn-ea"/>
              </a:rPr>
              <a:t>）是</a:t>
            </a:r>
            <a:r>
              <a:rPr lang="en-US" altLang="zh-CN" sz="1600">
                <a:solidFill>
                  <a:srgbClr val="000000"/>
                </a:solidFill>
                <a:latin typeface="+mn-ea"/>
                <a:cs typeface="+mn-ea"/>
                <a:sym typeface="+mn-ea"/>
              </a:rPr>
              <a:t>Deepfake</a:t>
            </a:r>
            <a:r>
              <a:rPr lang="zh-CN" altLang="en-US" sz="1600">
                <a:solidFill>
                  <a:srgbClr val="000000"/>
                </a:solidFill>
                <a:latin typeface="+mn-ea"/>
                <a:cs typeface="+mn-ea"/>
                <a:sym typeface="+mn-ea"/>
              </a:rPr>
              <a:t>技术的里程碑。</a:t>
            </a:r>
            <a:r>
              <a:rPr lang="en-US" altLang="zh-CN" sz="1600">
                <a:solidFill>
                  <a:srgbClr val="000000"/>
                </a:solidFill>
                <a:latin typeface="+mn-ea"/>
                <a:cs typeface="+mn-ea"/>
                <a:sym typeface="+mn-ea"/>
              </a:rPr>
              <a:t>GANs</a:t>
            </a:r>
            <a:r>
              <a:rPr lang="zh-CN" altLang="en-US" sz="1600">
                <a:solidFill>
                  <a:srgbClr val="000000"/>
                </a:solidFill>
                <a:latin typeface="+mn-ea"/>
                <a:cs typeface="+mn-ea"/>
                <a:sym typeface="+mn-ea"/>
              </a:rPr>
              <a:t>由两个神经网络组成：一个</a:t>
            </a:r>
            <a:r>
              <a:rPr lang="en-US" altLang="zh-CN" sz="1600">
                <a:solidFill>
                  <a:srgbClr val="000000"/>
                </a:solidFill>
                <a:latin typeface="+mn-ea"/>
                <a:cs typeface="+mn-ea"/>
                <a:sym typeface="+mn-ea"/>
              </a:rPr>
              <a:t>“</a:t>
            </a:r>
            <a:r>
              <a:rPr lang="zh-CN" altLang="en-US" sz="1600">
                <a:solidFill>
                  <a:srgbClr val="000000"/>
                </a:solidFill>
                <a:latin typeface="+mn-ea"/>
                <a:cs typeface="+mn-ea"/>
                <a:sym typeface="+mn-ea"/>
              </a:rPr>
              <a:t>生成器</a:t>
            </a:r>
            <a:r>
              <a:rPr lang="en-US" altLang="zh-CN" sz="1600">
                <a:solidFill>
                  <a:srgbClr val="000000"/>
                </a:solidFill>
                <a:latin typeface="+mn-ea"/>
                <a:cs typeface="+mn-ea"/>
                <a:sym typeface="+mn-ea"/>
              </a:rPr>
              <a:t>”</a:t>
            </a:r>
            <a:r>
              <a:rPr lang="zh-CN" altLang="en-US" sz="1600">
                <a:solidFill>
                  <a:srgbClr val="000000"/>
                </a:solidFill>
                <a:latin typeface="+mn-ea"/>
                <a:cs typeface="+mn-ea"/>
                <a:sym typeface="+mn-ea"/>
              </a:rPr>
              <a:t>负责创建虚假图像</a:t>
            </a:r>
            <a:r>
              <a:rPr lang="en-US" altLang="zh-CN" sz="1600">
                <a:solidFill>
                  <a:srgbClr val="000000"/>
                </a:solidFill>
                <a:latin typeface="+mn-ea"/>
                <a:cs typeface="+mn-ea"/>
                <a:sym typeface="+mn-ea"/>
              </a:rPr>
              <a:t>/</a:t>
            </a:r>
            <a:r>
              <a:rPr lang="zh-CN" altLang="en-US" sz="1600">
                <a:solidFill>
                  <a:srgbClr val="000000"/>
                </a:solidFill>
                <a:latin typeface="+mn-ea"/>
                <a:cs typeface="+mn-ea"/>
                <a:sym typeface="+mn-ea"/>
              </a:rPr>
              <a:t>视频，一个</a:t>
            </a:r>
            <a:r>
              <a:rPr lang="en-US" altLang="zh-CN" sz="1600">
                <a:solidFill>
                  <a:srgbClr val="000000"/>
                </a:solidFill>
                <a:latin typeface="+mn-ea"/>
                <a:cs typeface="+mn-ea"/>
                <a:sym typeface="+mn-ea"/>
              </a:rPr>
              <a:t>“</a:t>
            </a:r>
            <a:r>
              <a:rPr lang="zh-CN" altLang="en-US" sz="1600">
                <a:solidFill>
                  <a:srgbClr val="000000"/>
                </a:solidFill>
                <a:latin typeface="+mn-ea"/>
                <a:cs typeface="+mn-ea"/>
                <a:sym typeface="+mn-ea"/>
              </a:rPr>
              <a:t>鉴别器</a:t>
            </a:r>
            <a:r>
              <a:rPr lang="en-US" altLang="zh-CN" sz="1600">
                <a:solidFill>
                  <a:srgbClr val="000000"/>
                </a:solidFill>
                <a:latin typeface="+mn-ea"/>
                <a:cs typeface="+mn-ea"/>
                <a:sym typeface="+mn-ea"/>
              </a:rPr>
              <a:t>”</a:t>
            </a:r>
            <a:r>
              <a:rPr lang="zh-CN" altLang="en-US" sz="1600">
                <a:solidFill>
                  <a:srgbClr val="000000"/>
                </a:solidFill>
                <a:latin typeface="+mn-ea"/>
                <a:cs typeface="+mn-ea"/>
                <a:sym typeface="+mn-ea"/>
              </a:rPr>
              <a:t>负责评估这些虚假内容的真实性。</a:t>
            </a:r>
            <a:endParaRPr lang="zh-CN" altLang="en-US" sz="1600">
              <a:solidFill>
                <a:srgbClr val="000000"/>
              </a:solidFill>
              <a:latin typeface="+mn-ea"/>
              <a:cs typeface="+mn-ea"/>
              <a:sym typeface="+mn-ea"/>
            </a:endParaRPr>
          </a:p>
        </p:txBody>
      </p:sp>
      <p:sp>
        <p:nvSpPr>
          <p:cNvPr id="14" name="矩形 13"/>
          <p:cNvSpPr/>
          <p:nvPr>
            <p:custDataLst>
              <p:tags r:id="rId10"/>
            </p:custDataLst>
          </p:nvPr>
        </p:nvSpPr>
        <p:spPr>
          <a:xfrm>
            <a:off x="4693285" y="1962786"/>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数据驱动的合成技术</a:t>
            </a:r>
            <a:endParaRPr lang="zh-CN" altLang="en-US" sz="2000" b="1">
              <a:solidFill>
                <a:schemeClr val="accent1"/>
              </a:solidFill>
              <a:latin typeface="+mn-ea"/>
              <a:cs typeface="+mn-ea"/>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社会威胁分析</a:t>
            </a:r>
            <a:endParaRPr lang="zh-CN" altLang="en-US"/>
          </a:p>
        </p:txBody>
      </p:sp>
      <p:sp>
        <p:nvSpPr>
          <p:cNvPr id="7" name="矩形 6"/>
          <p:cNvSpPr/>
          <p:nvPr>
            <p:custDataLst>
              <p:tags r:id="rId2"/>
            </p:custDataLst>
          </p:nvPr>
        </p:nvSpPr>
        <p:spPr>
          <a:xfrm>
            <a:off x="696000" y="2324989"/>
            <a:ext cx="3287233" cy="841490"/>
          </a:xfrm>
          <a:prstGeom prst="rect">
            <a:avLst/>
          </a:prstGeom>
          <a:noFill/>
        </p:spPr>
        <p:txBody>
          <a:bodyPr wrap="square" lIns="0" tIns="0" rIns="0" bIns="0" rtlCol="0" anchor="t" anchorCtr="0">
            <a:noAutofit/>
          </a:bodyPr>
          <a:p>
            <a:pPr algn="r">
              <a:lnSpc>
                <a:spcPct val="150000"/>
              </a:lnSpc>
              <a:spcBef>
                <a:spcPct val="0"/>
              </a:spcBef>
              <a:spcAft>
                <a:spcPct val="0"/>
              </a:spcAft>
            </a:pPr>
            <a:r>
              <a:rPr lang="zh-CN" altLang="en-US" dirty="0">
                <a:ln>
                  <a:noFill/>
                  <a:prstDash val="sysDot"/>
                </a:ln>
                <a:solidFill>
                  <a:schemeClr val="tx1">
                    <a:lumMod val="85000"/>
                    <a:lumOff val="15000"/>
                  </a:schemeClr>
                </a:solidFill>
                <a:latin typeface="+mn-ea"/>
                <a:cs typeface="+mn-ea"/>
              </a:rPr>
              <a:t>Deepfake技术可被用于制造虚假政治声明，影响选举结果，损害民主过程。</a:t>
            </a:r>
            <a:endParaRPr lang="zh-CN" altLang="en-US" dirty="0">
              <a:ln>
                <a:noFill/>
                <a:prstDash val="sysDot"/>
              </a:ln>
              <a:solidFill>
                <a:schemeClr val="tx1">
                  <a:lumMod val="85000"/>
                  <a:lumOff val="15000"/>
                </a:schemeClr>
              </a:solidFill>
              <a:latin typeface="+mn-ea"/>
              <a:cs typeface="+mn-ea"/>
            </a:endParaRPr>
          </a:p>
        </p:txBody>
      </p:sp>
      <p:sp>
        <p:nvSpPr>
          <p:cNvPr id="8" name="矩形 7"/>
          <p:cNvSpPr/>
          <p:nvPr>
            <p:custDataLst>
              <p:tags r:id="rId3"/>
            </p:custDataLst>
          </p:nvPr>
        </p:nvSpPr>
        <p:spPr>
          <a:xfrm>
            <a:off x="696000" y="1668365"/>
            <a:ext cx="3287233" cy="608529"/>
          </a:xfrm>
          <a:prstGeom prst="rect">
            <a:avLst/>
          </a:prstGeom>
          <a:noFill/>
        </p:spPr>
        <p:txBody>
          <a:bodyPr wrap="square" lIns="0" tIns="0" rIns="0" bIns="0" rtlCol="0" anchor="b">
            <a:noAutofit/>
          </a:bodyPr>
          <a:p>
            <a:pPr algn="r">
              <a:spcBef>
                <a:spcPct val="0"/>
              </a:spcBef>
              <a:spcAft>
                <a:spcPct val="0"/>
              </a:spcAft>
              <a:buClr>
                <a:schemeClr val="accent1"/>
              </a:buClr>
              <a:buSzPct val="70000"/>
            </a:pPr>
            <a:r>
              <a:rPr lang="zh-CN" altLang="en-US" sz="2400" b="1">
                <a:solidFill>
                  <a:schemeClr val="accent1"/>
                </a:solidFill>
                <a:latin typeface="+mn-ea"/>
                <a:cs typeface="+mn-ea"/>
              </a:rPr>
              <a:t>政治领域的影响</a:t>
            </a:r>
            <a:endParaRPr lang="zh-CN" altLang="en-US" sz="2400" b="1">
              <a:solidFill>
                <a:schemeClr val="accent1"/>
              </a:solidFill>
              <a:latin typeface="+mn-ea"/>
              <a:cs typeface="+mn-ea"/>
            </a:endParaRPr>
          </a:p>
        </p:txBody>
      </p:sp>
      <p:sp>
        <p:nvSpPr>
          <p:cNvPr id="9" name="矩形 8"/>
          <p:cNvSpPr/>
          <p:nvPr>
            <p:custDataLst>
              <p:tags r:id="rId4"/>
            </p:custDataLst>
          </p:nvPr>
        </p:nvSpPr>
        <p:spPr>
          <a:xfrm>
            <a:off x="696000" y="4625713"/>
            <a:ext cx="3287233" cy="841490"/>
          </a:xfrm>
          <a:prstGeom prst="rect">
            <a:avLst/>
          </a:prstGeom>
          <a:noFill/>
        </p:spPr>
        <p:txBody>
          <a:bodyPr wrap="square" lIns="0" tIns="0" rIns="0" bIns="0" rtlCol="0" anchor="t" anchorCtr="0">
            <a:noAutofit/>
          </a:bodyPr>
          <a:p>
            <a:pPr algn="r">
              <a:lnSpc>
                <a:spcPct val="150000"/>
              </a:lnSpc>
              <a:spcBef>
                <a:spcPct val="0"/>
              </a:spcBef>
              <a:spcAft>
                <a:spcPct val="0"/>
              </a:spcAft>
            </a:pPr>
            <a:r>
              <a:rPr lang="zh-CN" altLang="en-US" dirty="0">
                <a:ln>
                  <a:noFill/>
                  <a:prstDash val="sysDot"/>
                </a:ln>
                <a:solidFill>
                  <a:schemeClr val="tx1">
                    <a:lumMod val="85000"/>
                    <a:lumOff val="15000"/>
                  </a:schemeClr>
                </a:solidFill>
                <a:latin typeface="+mn-ea"/>
                <a:cs typeface="+mn-ea"/>
              </a:rPr>
              <a:t>Deepfake技术可用来模仿企业高管或公众人物，进行金融诈骗，给投资者带来巨大损失。</a:t>
            </a:r>
            <a:endParaRPr lang="zh-CN" altLang="en-US" dirty="0">
              <a:ln>
                <a:noFill/>
                <a:prstDash val="sysDot"/>
              </a:ln>
              <a:solidFill>
                <a:schemeClr val="tx1">
                  <a:lumMod val="85000"/>
                  <a:lumOff val="15000"/>
                </a:schemeClr>
              </a:solidFill>
              <a:latin typeface="+mn-ea"/>
              <a:cs typeface="+mn-ea"/>
            </a:endParaRPr>
          </a:p>
        </p:txBody>
      </p:sp>
      <p:sp>
        <p:nvSpPr>
          <p:cNvPr id="10" name="矩形 9"/>
          <p:cNvSpPr/>
          <p:nvPr>
            <p:custDataLst>
              <p:tags r:id="rId5"/>
            </p:custDataLst>
          </p:nvPr>
        </p:nvSpPr>
        <p:spPr>
          <a:xfrm>
            <a:off x="696000" y="3960198"/>
            <a:ext cx="3287233" cy="608529"/>
          </a:xfrm>
          <a:prstGeom prst="rect">
            <a:avLst/>
          </a:prstGeom>
          <a:noFill/>
        </p:spPr>
        <p:txBody>
          <a:bodyPr wrap="square" lIns="0" tIns="0" rIns="0" bIns="0" rtlCol="0" anchor="b">
            <a:noAutofit/>
          </a:bodyPr>
          <a:p>
            <a:pPr algn="r">
              <a:spcBef>
                <a:spcPct val="0"/>
              </a:spcBef>
              <a:spcAft>
                <a:spcPct val="0"/>
              </a:spcAft>
              <a:buClr>
                <a:schemeClr val="accent1"/>
              </a:buClr>
              <a:buSzPct val="70000"/>
            </a:pPr>
            <a:r>
              <a:rPr lang="zh-CN" altLang="en-US" sz="2400" b="1">
                <a:solidFill>
                  <a:schemeClr val="accent1"/>
                </a:solidFill>
                <a:latin typeface="+mn-ea"/>
                <a:cs typeface="+mn-ea"/>
              </a:rPr>
              <a:t>金融诈骗的增加</a:t>
            </a:r>
            <a:endParaRPr lang="zh-CN" altLang="en-US" sz="2400" b="1">
              <a:solidFill>
                <a:schemeClr val="accent1"/>
              </a:solidFill>
              <a:latin typeface="+mn-ea"/>
              <a:cs typeface="+mn-ea"/>
            </a:endParaRPr>
          </a:p>
        </p:txBody>
      </p:sp>
      <p:sp>
        <p:nvSpPr>
          <p:cNvPr id="11" name="矩形 10"/>
          <p:cNvSpPr/>
          <p:nvPr>
            <p:custDataLst>
              <p:tags r:id="rId6"/>
            </p:custDataLst>
          </p:nvPr>
        </p:nvSpPr>
        <p:spPr>
          <a:xfrm>
            <a:off x="8209072" y="3449632"/>
            <a:ext cx="3287234" cy="841490"/>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利用Deepfake技术，不法分子可以创建个人的虚假视频，侵犯隐私权，甚至进行敲诈勒索。</a:t>
            </a:r>
            <a:endParaRPr lang="zh-CN" altLang="en-US">
              <a:ln>
                <a:noFill/>
                <a:prstDash val="sysDot"/>
              </a:ln>
              <a:solidFill>
                <a:schemeClr val="tx1">
                  <a:lumMod val="85000"/>
                  <a:lumOff val="15000"/>
                </a:schemeClr>
              </a:solidFill>
              <a:latin typeface="+mn-ea"/>
              <a:cs typeface="+mn-ea"/>
            </a:endParaRPr>
          </a:p>
        </p:txBody>
      </p:sp>
      <p:sp>
        <p:nvSpPr>
          <p:cNvPr id="12" name="矩形 11"/>
          <p:cNvSpPr/>
          <p:nvPr>
            <p:custDataLst>
              <p:tags r:id="rId7"/>
            </p:custDataLst>
          </p:nvPr>
        </p:nvSpPr>
        <p:spPr>
          <a:xfrm>
            <a:off x="8209072" y="2782213"/>
            <a:ext cx="3287234" cy="608529"/>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400" b="1">
                <a:solidFill>
                  <a:schemeClr val="accent1"/>
                </a:solidFill>
                <a:latin typeface="+mn-ea"/>
                <a:cs typeface="+mn-ea"/>
              </a:rPr>
              <a:t>个人隐私的侵犯</a:t>
            </a:r>
            <a:endParaRPr lang="zh-CN" altLang="en-US" sz="2400" b="1">
              <a:solidFill>
                <a:schemeClr val="accent1"/>
              </a:solidFill>
              <a:latin typeface="+mn-ea"/>
              <a:cs typeface="+mn-ea"/>
            </a:endParaRPr>
          </a:p>
        </p:txBody>
      </p:sp>
      <p:pic>
        <p:nvPicPr>
          <p:cNvPr id="25" name="图片 24" descr="/data/temp/d0afd873-41be-11f0-bc96-5e5e25f797a5.jpg@base@tag=imgScale&amp;m=1&amp;w=450&amp;h=450&amp;q=95d0afd873-41be-11f0-bc96-5e5e25f797a5"/>
          <p:cNvPicPr>
            <a:picLocks noChangeAspect="1"/>
          </p:cNvPicPr>
          <p:nvPr>
            <p:custDataLst>
              <p:tags r:id="rId8"/>
            </p:custDataLst>
          </p:nvPr>
        </p:nvPicPr>
        <p:blipFill rotWithShape="1">
          <a:blip r:embed="rId9"/>
          <a:srcRect l="9826" r="11913"/>
          <a:stretch>
            <a:fillRect/>
          </a:stretch>
        </p:blipFill>
        <p:spPr>
          <a:xfrm>
            <a:off x="4318226" y="1769335"/>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6" name="图片 25" descr="/data/temp/d0afd915-41be-11f0-bc96-5e5e25f797a5.jpg@base@tag=imgScale&amp;m=1&amp;w=450&amp;h=450&amp;q=95d0afd915-41be-11f0-bc96-5e5e25f797a5"/>
          <p:cNvPicPr>
            <a:picLocks noChangeAspect="1"/>
          </p:cNvPicPr>
          <p:nvPr>
            <p:custDataLst>
              <p:tags r:id="rId10"/>
            </p:custDataLst>
          </p:nvPr>
        </p:nvPicPr>
        <p:blipFill rotWithShape="1">
          <a:blip r:embed="rId11"/>
          <a:srcRect l="16667" r="16667"/>
          <a:stretch>
            <a:fillRect/>
          </a:stretch>
        </p:blipFill>
        <p:spPr>
          <a:xfrm>
            <a:off x="6278572" y="2882548"/>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pic>
        <p:nvPicPr>
          <p:cNvPr id="27" name="图片 26" descr="/data/temp/d0afda41-41be-11f0-bc96-5e5e25f797a5.jpg@base@tag=imgScale&amp;m=1&amp;w=450&amp;h=450&amp;q=95d0afda41-41be-11f0-bc96-5e5e25f797a5"/>
          <p:cNvPicPr>
            <a:picLocks noChangeAspect="1"/>
          </p:cNvPicPr>
          <p:nvPr>
            <p:custDataLst>
              <p:tags r:id="rId12"/>
            </p:custDataLst>
          </p:nvPr>
        </p:nvPicPr>
        <p:blipFill>
          <a:blip r:embed="rId13"/>
          <a:srcRect l="14511" r="14511"/>
          <a:stretch>
            <a:fillRect/>
          </a:stretch>
        </p:blipFill>
        <p:spPr>
          <a:xfrm>
            <a:off x="4323307" y="3928447"/>
            <a:ext cx="1620083" cy="1620083"/>
          </a:xfrm>
          <a:custGeom>
            <a:avLst/>
            <a:gdLst>
              <a:gd name="connsiteX0" fmla="*/ 548158 w 1620000"/>
              <a:gd name="connsiteY0" fmla="*/ 0 h 1620000"/>
              <a:gd name="connsiteX1" fmla="*/ 1071874 w 1620000"/>
              <a:gd name="connsiteY1" fmla="*/ 0 h 1620000"/>
              <a:gd name="connsiteX2" fmla="*/ 1197614 w 1620000"/>
              <a:gd name="connsiteY2" fmla="*/ 52097 h 1620000"/>
              <a:gd name="connsiteX3" fmla="*/ 1567938 w 1620000"/>
              <a:gd name="connsiteY3" fmla="*/ 422420 h 1620000"/>
              <a:gd name="connsiteX4" fmla="*/ 1620000 w 1620000"/>
              <a:gd name="connsiteY4" fmla="*/ 548158 h 1620000"/>
              <a:gd name="connsiteX5" fmla="*/ 1620000 w 1620000"/>
              <a:gd name="connsiteY5" fmla="*/ 1071874 h 1620000"/>
              <a:gd name="connsiteX6" fmla="*/ 1567904 w 1620000"/>
              <a:gd name="connsiteY6" fmla="*/ 1197615 h 1620000"/>
              <a:gd name="connsiteX7" fmla="*/ 1197580 w 1620000"/>
              <a:gd name="connsiteY7" fmla="*/ 1567938 h 1620000"/>
              <a:gd name="connsiteX8" fmla="*/ 1071842 w 1620000"/>
              <a:gd name="connsiteY8" fmla="*/ 1620000 h 1620000"/>
              <a:gd name="connsiteX9" fmla="*/ 548125 w 1620000"/>
              <a:gd name="connsiteY9" fmla="*/ 1620000 h 1620000"/>
              <a:gd name="connsiteX10" fmla="*/ 422385 w 1620000"/>
              <a:gd name="connsiteY10" fmla="*/ 1567903 h 1620000"/>
              <a:gd name="connsiteX11" fmla="*/ 52062 w 1620000"/>
              <a:gd name="connsiteY11" fmla="*/ 1197580 h 1620000"/>
              <a:gd name="connsiteX12" fmla="*/ 0 w 1620000"/>
              <a:gd name="connsiteY12" fmla="*/ 1071842 h 1620000"/>
              <a:gd name="connsiteX13" fmla="*/ 0 w 1620000"/>
              <a:gd name="connsiteY13" fmla="*/ 548126 h 1620000"/>
              <a:gd name="connsiteX14" fmla="*/ 52097 w 1620000"/>
              <a:gd name="connsiteY14" fmla="*/ 422385 h 1620000"/>
              <a:gd name="connsiteX15" fmla="*/ 422420 w 1620000"/>
              <a:gd name="connsiteY15" fmla="*/ 52062 h 1620000"/>
              <a:gd name="connsiteX16" fmla="*/ 548158 w 1620000"/>
              <a:gd name="connsiteY16" fmla="*/ 0 h 16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20000" h="1620000">
                <a:moveTo>
                  <a:pt x="548158" y="0"/>
                </a:moveTo>
                <a:cubicBezTo>
                  <a:pt x="595961" y="0"/>
                  <a:pt x="1024071" y="0"/>
                  <a:pt x="1071874" y="0"/>
                </a:cubicBezTo>
                <a:cubicBezTo>
                  <a:pt x="1119677" y="0"/>
                  <a:pt x="1163812" y="18295"/>
                  <a:pt x="1197614" y="52097"/>
                </a:cubicBezTo>
                <a:cubicBezTo>
                  <a:pt x="1231416" y="85899"/>
                  <a:pt x="1534136" y="388618"/>
                  <a:pt x="1567938" y="422420"/>
                </a:cubicBezTo>
                <a:cubicBezTo>
                  <a:pt x="1601740" y="456222"/>
                  <a:pt x="1620000" y="500355"/>
                  <a:pt x="1620000" y="548158"/>
                </a:cubicBezTo>
                <a:cubicBezTo>
                  <a:pt x="1620000" y="595961"/>
                  <a:pt x="1620000" y="1024071"/>
                  <a:pt x="1620000" y="1071874"/>
                </a:cubicBezTo>
                <a:cubicBezTo>
                  <a:pt x="1620000" y="1119678"/>
                  <a:pt x="1601706" y="1163813"/>
                  <a:pt x="1567904" y="1197615"/>
                </a:cubicBezTo>
                <a:cubicBezTo>
                  <a:pt x="1534102" y="1231417"/>
                  <a:pt x="1231382" y="1534136"/>
                  <a:pt x="1197580" y="1567938"/>
                </a:cubicBezTo>
                <a:cubicBezTo>
                  <a:pt x="1163778" y="1601740"/>
                  <a:pt x="1119645" y="1620000"/>
                  <a:pt x="1071842" y="1620000"/>
                </a:cubicBezTo>
                <a:cubicBezTo>
                  <a:pt x="1024038" y="1620000"/>
                  <a:pt x="595929" y="1620000"/>
                  <a:pt x="548125" y="1620000"/>
                </a:cubicBezTo>
                <a:cubicBezTo>
                  <a:pt x="500322" y="1620000"/>
                  <a:pt x="456188" y="1601705"/>
                  <a:pt x="422385" y="1567903"/>
                </a:cubicBezTo>
                <a:cubicBezTo>
                  <a:pt x="388583" y="1534101"/>
                  <a:pt x="85864" y="1231382"/>
                  <a:pt x="52062" y="1197580"/>
                </a:cubicBezTo>
                <a:cubicBezTo>
                  <a:pt x="18260" y="1163778"/>
                  <a:pt x="0" y="1119646"/>
                  <a:pt x="0" y="1071842"/>
                </a:cubicBezTo>
                <a:cubicBezTo>
                  <a:pt x="0" y="1024039"/>
                  <a:pt x="0" y="595929"/>
                  <a:pt x="0" y="548126"/>
                </a:cubicBezTo>
                <a:cubicBezTo>
                  <a:pt x="0" y="500323"/>
                  <a:pt x="18295" y="456187"/>
                  <a:pt x="52097" y="422385"/>
                </a:cubicBezTo>
                <a:cubicBezTo>
                  <a:pt x="85899" y="388583"/>
                  <a:pt x="388618" y="85864"/>
                  <a:pt x="422420" y="52062"/>
                </a:cubicBezTo>
                <a:cubicBezTo>
                  <a:pt x="456222" y="18260"/>
                  <a:pt x="500355" y="0"/>
                  <a:pt x="548158" y="0"/>
                </a:cubicBezTo>
                <a:close/>
              </a:path>
            </a:pathLst>
          </a:custGeom>
          <a:ln w="6350" cap="flat" cmpd="sng" algn="ctr">
            <a:solidFill>
              <a:schemeClr val="tx1">
                <a:lumMod val="40000"/>
                <a:lumOff val="60000"/>
                <a:alpha val="20000"/>
              </a:schemeClr>
            </a:solidFill>
            <a:prstDash val="solid"/>
            <a:round/>
            <a:headEnd type="none" w="med" len="med"/>
            <a:tailEnd type="none" w="med" len="med"/>
          </a:ln>
        </p:spPr>
      </p:pic>
      <p:sp>
        <p:nvSpPr>
          <p:cNvPr id="2" name="八边形 1"/>
          <p:cNvSpPr/>
          <p:nvPr>
            <p:custDataLst>
              <p:tags r:id="rId14"/>
            </p:custDataLst>
          </p:nvPr>
        </p:nvSpPr>
        <p:spPr>
          <a:xfrm>
            <a:off x="4318226" y="2882548"/>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altLang="zh-CN" sz="1600" b="1">
                <a:latin typeface="+mn-ea"/>
                <a:cs typeface="+mn-ea"/>
                <a:sym typeface="+mn-ea"/>
              </a:rPr>
              <a:t>01</a:t>
            </a:r>
            <a:endParaRPr lang="zh-CN" altLang="en-US" sz="1600" b="1" dirty="0">
              <a:latin typeface="+mn-ea"/>
              <a:cs typeface="+mn-ea"/>
              <a:sym typeface="+mn-ea"/>
            </a:endParaRPr>
          </a:p>
        </p:txBody>
      </p:sp>
      <p:sp>
        <p:nvSpPr>
          <p:cNvPr id="18" name="八边形 17"/>
          <p:cNvSpPr/>
          <p:nvPr>
            <p:custDataLst>
              <p:tags r:id="rId15"/>
            </p:custDataLst>
          </p:nvPr>
        </p:nvSpPr>
        <p:spPr>
          <a:xfrm>
            <a:off x="7391785" y="3996395"/>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altLang="zh-CN" sz="1600" b="1">
                <a:latin typeface="+mn-ea"/>
                <a:cs typeface="+mn-ea"/>
                <a:sym typeface="+mn-ea"/>
              </a:rPr>
              <a:t>02</a:t>
            </a:r>
            <a:endParaRPr lang="zh-CN" altLang="en-US" sz="1600" b="1" dirty="0">
              <a:latin typeface="+mn-ea"/>
              <a:cs typeface="+mn-ea"/>
              <a:sym typeface="+mn-ea"/>
            </a:endParaRPr>
          </a:p>
        </p:txBody>
      </p:sp>
      <p:sp>
        <p:nvSpPr>
          <p:cNvPr id="19" name="八边形 18"/>
          <p:cNvSpPr/>
          <p:nvPr>
            <p:custDataLst>
              <p:tags r:id="rId16"/>
            </p:custDataLst>
          </p:nvPr>
        </p:nvSpPr>
        <p:spPr>
          <a:xfrm>
            <a:off x="4318226" y="5041659"/>
            <a:ext cx="506392" cy="506392"/>
          </a:xfrm>
          <a:prstGeom prst="oct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rmAutofit/>
          </a:bodyPr>
          <a:p>
            <a:pPr algn="ctr">
              <a:spcBef>
                <a:spcPct val="0"/>
              </a:spcBef>
              <a:spcAft>
                <a:spcPct val="0"/>
              </a:spcAft>
            </a:pPr>
            <a:r>
              <a:rPr lang="en-US" altLang="zh-CN" sz="1600" b="1">
                <a:latin typeface="+mn-ea"/>
                <a:cs typeface="+mn-ea"/>
                <a:sym typeface="+mn-ea"/>
              </a:rPr>
              <a:t>03</a:t>
            </a:r>
            <a:endParaRPr lang="zh-CN" altLang="en-US" sz="1600" b="1" dirty="0">
              <a:latin typeface="+mn-ea"/>
              <a:cs typeface="+mn-ea"/>
              <a:sym typeface="+mn-ea"/>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data/temp/d4690b56-41be-11f0-a2b5-865c6815da94.jpgd4690b56-41be-11f0-a2b5-865c6815da94"/>
          <p:cNvPicPr>
            <a:picLocks noChangeAspect="1"/>
          </p:cNvPicPr>
          <p:nvPr>
            <p:custDataLst>
              <p:tags r:id="rId1"/>
            </p:custDataLst>
          </p:nvPr>
        </p:nvPicPr>
        <p:blipFill rotWithShape="1">
          <a:blip r:embed="rId2"/>
          <a:srcRect l="921" r="921"/>
          <a:stretch>
            <a:fillRect/>
          </a:stretch>
        </p:blipFill>
        <p:spPr>
          <a:xfrm>
            <a:off x="696595" y="1411605"/>
            <a:ext cx="10800080" cy="2993390"/>
          </a:xfrm>
          <a:prstGeom prst="rect">
            <a:avLst/>
          </a:prstGeom>
          <a:solidFill>
            <a:schemeClr val="accent1"/>
          </a:solidFill>
          <a:ln w="9525" cap="flat" cmpd="sng" algn="ctr">
            <a:solidFill>
              <a:schemeClr val="dk1">
                <a:lumMod val="40000"/>
                <a:lumOff val="60000"/>
                <a:alpha val="50000"/>
              </a:schemeClr>
            </a:solidFill>
            <a:prstDash val="solid"/>
            <a:round/>
            <a:headEnd type="none" w="med" len="med"/>
            <a:tailEnd type="none" w="med" len="med"/>
          </a:ln>
        </p:spPr>
      </p:pic>
      <p:sp>
        <p:nvSpPr>
          <p:cNvPr id="3" name="矩形 2"/>
          <p:cNvSpPr/>
          <p:nvPr>
            <p:custDataLst>
              <p:tags r:id="rId3"/>
            </p:custDataLst>
          </p:nvPr>
        </p:nvSpPr>
        <p:spPr>
          <a:xfrm>
            <a:off x="10301605" y="4163098"/>
            <a:ext cx="1195070" cy="73596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标题 3"/>
          <p:cNvSpPr>
            <a:spLocks noGrp="1"/>
          </p:cNvSpPr>
          <p:nvPr>
            <p:custDataLst>
              <p:tags r:id="rId4"/>
            </p:custDataLst>
          </p:nvPr>
        </p:nvSpPr>
        <p:spPr>
          <a:xfrm rot="10800000">
            <a:off x="10639743" y="4330738"/>
            <a:ext cx="531495" cy="400685"/>
          </a:xfrm>
          <a:custGeom>
            <a:avLst/>
            <a:gdLst/>
            <a:ahLst/>
            <a:cxnLst>
              <a:cxn ang="3">
                <a:pos x="hc" y="t"/>
              </a:cxn>
              <a:cxn ang="cd2">
                <a:pos x="l" y="vc"/>
              </a:cxn>
              <a:cxn ang="cd4">
                <a:pos x="hc" y="b"/>
              </a:cxn>
              <a:cxn ang="0">
                <a:pos x="r" y="vc"/>
              </a:cxn>
            </a:cxnLst>
            <a:rect l="l" t="t" r="r" b="b"/>
            <a:pathLst>
              <a:path w="1351" h="986">
                <a:moveTo>
                  <a:pt x="1262" y="0"/>
                </a:moveTo>
                <a:lnTo>
                  <a:pt x="1351" y="188"/>
                </a:lnTo>
                <a:cubicBezTo>
                  <a:pt x="1260" y="218"/>
                  <a:pt x="1195" y="260"/>
                  <a:pt x="1155" y="314"/>
                </a:cubicBezTo>
                <a:cubicBezTo>
                  <a:pt x="1116" y="369"/>
                  <a:pt x="1095" y="440"/>
                  <a:pt x="1093" y="530"/>
                </a:cubicBezTo>
                <a:lnTo>
                  <a:pt x="1314" y="530"/>
                </a:lnTo>
                <a:lnTo>
                  <a:pt x="1314" y="986"/>
                </a:lnTo>
                <a:lnTo>
                  <a:pt x="858" y="986"/>
                </a:lnTo>
                <a:lnTo>
                  <a:pt x="858" y="660"/>
                </a:lnTo>
                <a:cubicBezTo>
                  <a:pt x="858" y="528"/>
                  <a:pt x="870" y="424"/>
                  <a:pt x="893" y="348"/>
                </a:cubicBezTo>
                <a:cubicBezTo>
                  <a:pt x="916" y="272"/>
                  <a:pt x="959" y="203"/>
                  <a:pt x="1022" y="143"/>
                </a:cubicBezTo>
                <a:cubicBezTo>
                  <a:pt x="1084" y="82"/>
                  <a:pt x="1164" y="35"/>
                  <a:pt x="1262" y="0"/>
                </a:cubicBezTo>
                <a:close/>
                <a:moveTo>
                  <a:pt x="404" y="0"/>
                </a:moveTo>
                <a:lnTo>
                  <a:pt x="493" y="188"/>
                </a:lnTo>
                <a:cubicBezTo>
                  <a:pt x="402" y="218"/>
                  <a:pt x="337" y="260"/>
                  <a:pt x="297" y="314"/>
                </a:cubicBezTo>
                <a:cubicBezTo>
                  <a:pt x="258" y="369"/>
                  <a:pt x="237" y="440"/>
                  <a:pt x="235" y="530"/>
                </a:cubicBezTo>
                <a:lnTo>
                  <a:pt x="456" y="530"/>
                </a:lnTo>
                <a:lnTo>
                  <a:pt x="456" y="986"/>
                </a:lnTo>
                <a:lnTo>
                  <a:pt x="0" y="986"/>
                </a:lnTo>
                <a:lnTo>
                  <a:pt x="0" y="660"/>
                </a:lnTo>
                <a:cubicBezTo>
                  <a:pt x="0" y="528"/>
                  <a:pt x="12" y="424"/>
                  <a:pt x="35" y="348"/>
                </a:cubicBezTo>
                <a:cubicBezTo>
                  <a:pt x="58" y="272"/>
                  <a:pt x="101" y="203"/>
                  <a:pt x="164" y="143"/>
                </a:cubicBezTo>
                <a:cubicBezTo>
                  <a:pt x="226" y="82"/>
                  <a:pt x="306" y="35"/>
                  <a:pt x="404" y="0"/>
                </a:cubicBezTo>
                <a:close/>
              </a:path>
            </a:pathLst>
          </a:custGeom>
          <a:solidFill>
            <a:schemeClr val="lt1">
              <a:lumMod val="95000"/>
            </a:schemeClr>
          </a:solidFill>
          <a:effectLst/>
        </p:spPr>
        <p:txBody>
          <a:bodyPr vert="horz" wrap="square" lIns="90000" tIns="46800" rIns="90000" bIns="4680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a:lstStyle>
          <a:p>
            <a:endParaRPr lang="en-US" altLang="zh-CN" sz="16600">
              <a:solidFill>
                <a:schemeClr val="bg1">
                  <a:lumMod val="95000"/>
                </a:schemeClr>
              </a:solidFill>
              <a:sym typeface="+mn-ea"/>
            </a:endParaRPr>
          </a:p>
        </p:txBody>
      </p:sp>
      <p:sp>
        <p:nvSpPr>
          <p:cNvPr id="7" name="标题 6"/>
          <p:cNvSpPr>
            <a:spLocks noGrp="1"/>
          </p:cNvSpPr>
          <p:nvPr>
            <p:ph type="title"/>
            <p:custDataLst>
              <p:tags r:id="rId5"/>
            </p:custDataLst>
          </p:nvPr>
        </p:nvSpPr>
        <p:spPr/>
        <p:txBody>
          <a:bodyPr/>
          <a:lstStyle/>
          <a:p>
            <a:r>
              <a:rPr lang="zh-CN"/>
              <a:t>检测技术重要性</a:t>
            </a:r>
            <a:endParaRPr lang="zh-CN"/>
          </a:p>
        </p:txBody>
      </p:sp>
      <p:sp>
        <p:nvSpPr>
          <p:cNvPr id="5" name="矩形 4"/>
          <p:cNvSpPr/>
          <p:nvPr>
            <p:custDataLst>
              <p:tags r:id="rId6"/>
            </p:custDataLst>
          </p:nvPr>
        </p:nvSpPr>
        <p:spPr>
          <a:xfrm>
            <a:off x="695960" y="5215573"/>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dirty="0">
                <a:solidFill>
                  <a:srgbClr val="000000"/>
                </a:solidFill>
                <a:latin typeface="+mn-ea"/>
                <a:cs typeface="+mn-ea"/>
                <a:sym typeface="+mn-ea"/>
              </a:rPr>
              <a:t>Deepfake技术可被用于制作虚假视频，侵犯个人隐私，检测技术能有效防止此类事件发生。</a:t>
            </a:r>
            <a:endParaRPr lang="zh-CN" altLang="en-US" dirty="0">
              <a:solidFill>
                <a:srgbClr val="000000"/>
              </a:solidFill>
              <a:latin typeface="+mn-ea"/>
              <a:cs typeface="+mn-ea"/>
              <a:sym typeface="+mn-ea"/>
            </a:endParaRPr>
          </a:p>
        </p:txBody>
      </p:sp>
      <p:sp>
        <p:nvSpPr>
          <p:cNvPr id="6" name="矩形 5"/>
          <p:cNvSpPr/>
          <p:nvPr>
            <p:custDataLst>
              <p:tags r:id="rId7"/>
            </p:custDataLst>
          </p:nvPr>
        </p:nvSpPr>
        <p:spPr>
          <a:xfrm>
            <a:off x="695960" y="4755833"/>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dirty="0">
                <a:solidFill>
                  <a:schemeClr val="accent1"/>
                </a:solidFill>
                <a:latin typeface="+mn-ea"/>
                <a:cs typeface="+mn-ea"/>
                <a:sym typeface="+mn-ea"/>
              </a:rPr>
              <a:t>保护个人隐私</a:t>
            </a:r>
            <a:endParaRPr lang="zh-CN" altLang="en-US" sz="2000" b="1" dirty="0">
              <a:solidFill>
                <a:schemeClr val="accent1"/>
              </a:solidFill>
              <a:latin typeface="+mn-ea"/>
              <a:cs typeface="+mn-ea"/>
              <a:sym typeface="+mn-ea"/>
            </a:endParaRPr>
          </a:p>
        </p:txBody>
      </p:sp>
      <p:sp>
        <p:nvSpPr>
          <p:cNvPr id="8" name="矩形 7"/>
          <p:cNvSpPr/>
          <p:nvPr>
            <p:custDataLst>
              <p:tags r:id="rId8"/>
            </p:custDataLst>
          </p:nvPr>
        </p:nvSpPr>
        <p:spPr>
          <a:xfrm>
            <a:off x="7522210" y="5215573"/>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a:solidFill>
                  <a:srgbClr val="000000"/>
                </a:solidFill>
                <a:latin typeface="+mn-ea"/>
                <a:cs typeface="+mn-ea"/>
                <a:sym typeface="+mn-ea"/>
              </a:rPr>
              <a:t>利用Deepfake技术进行诈骗或诽谤等犯罪行为日益增多，检测技术是打击这些犯罪的关键工具。</a:t>
            </a:r>
            <a:endParaRPr lang="zh-CN" altLang="en-US">
              <a:solidFill>
                <a:srgbClr val="000000"/>
              </a:solidFill>
              <a:latin typeface="+mn-ea"/>
              <a:cs typeface="+mn-ea"/>
              <a:sym typeface="+mn-ea"/>
            </a:endParaRPr>
          </a:p>
        </p:txBody>
      </p:sp>
      <p:sp>
        <p:nvSpPr>
          <p:cNvPr id="9" name="矩形 8"/>
          <p:cNvSpPr/>
          <p:nvPr>
            <p:custDataLst>
              <p:tags r:id="rId9"/>
            </p:custDataLst>
          </p:nvPr>
        </p:nvSpPr>
        <p:spPr>
          <a:xfrm>
            <a:off x="7522210" y="4755833"/>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打击网络犯罪</a:t>
            </a:r>
            <a:endParaRPr lang="zh-CN" altLang="en-US" sz="2000" b="1">
              <a:solidFill>
                <a:schemeClr val="accent1"/>
              </a:solidFill>
              <a:latin typeface="+mn-ea"/>
              <a:cs typeface="+mn-ea"/>
              <a:sym typeface="+mn-ea"/>
            </a:endParaRPr>
          </a:p>
        </p:txBody>
      </p:sp>
      <p:sp>
        <p:nvSpPr>
          <p:cNvPr id="14" name="矩形 13"/>
          <p:cNvSpPr/>
          <p:nvPr>
            <p:custDataLst>
              <p:tags r:id="rId10"/>
            </p:custDataLst>
          </p:nvPr>
        </p:nvSpPr>
        <p:spPr>
          <a:xfrm>
            <a:off x="4109085" y="5215573"/>
            <a:ext cx="2647950" cy="1218565"/>
          </a:xfrm>
          <a:prstGeom prst="rect">
            <a:avLst/>
          </a:prstGeom>
          <a:noFill/>
        </p:spPr>
        <p:txBody>
          <a:bodyPr wrap="square" lIns="0" tIns="0" rIns="0" bIns="0" rtlCol="0" anchor="t">
            <a:noAutofit/>
          </a:bodyPr>
          <a:p>
            <a:pPr>
              <a:lnSpc>
                <a:spcPct val="150000"/>
              </a:lnSpc>
              <a:spcBef>
                <a:spcPct val="0"/>
              </a:spcBef>
              <a:spcAft>
                <a:spcPct val="0"/>
              </a:spcAft>
            </a:pPr>
            <a:r>
              <a:rPr lang="zh-CN" altLang="en-US">
                <a:solidFill>
                  <a:srgbClr val="000000"/>
                </a:solidFill>
                <a:latin typeface="+mn-ea"/>
                <a:cs typeface="+mn-ea"/>
                <a:sym typeface="+mn-ea"/>
              </a:rPr>
              <a:t>检测技术对于防止虚假信息传播、维护网络空间的安全具有重要作用，如防止政治操纵。</a:t>
            </a:r>
            <a:endParaRPr lang="zh-CN" altLang="en-US">
              <a:solidFill>
                <a:srgbClr val="000000"/>
              </a:solidFill>
              <a:latin typeface="+mn-ea"/>
              <a:cs typeface="+mn-ea"/>
              <a:sym typeface="+mn-ea"/>
            </a:endParaRPr>
          </a:p>
        </p:txBody>
      </p:sp>
      <p:sp>
        <p:nvSpPr>
          <p:cNvPr id="15" name="矩形 14"/>
          <p:cNvSpPr/>
          <p:nvPr>
            <p:custDataLst>
              <p:tags r:id="rId11"/>
            </p:custDataLst>
          </p:nvPr>
        </p:nvSpPr>
        <p:spPr>
          <a:xfrm>
            <a:off x="4109085" y="4755833"/>
            <a:ext cx="2647950" cy="349250"/>
          </a:xfrm>
          <a:prstGeom prst="rect">
            <a:avLst/>
          </a:prstGeom>
          <a:noFill/>
        </p:spPr>
        <p:txBody>
          <a:bodyPr wrap="square" lIns="0" tIns="0" rIns="0" bIns="0" rtlCol="0" anchor="b" anchorCtr="0">
            <a:noAutofit/>
          </a:bodyPr>
          <a:p>
            <a:pPr>
              <a:spcBef>
                <a:spcPct val="0"/>
              </a:spcBef>
              <a:spcAft>
                <a:spcPct val="0"/>
              </a:spcAft>
            </a:pPr>
            <a:r>
              <a:rPr lang="zh-CN" altLang="en-US" sz="2000" b="1">
                <a:solidFill>
                  <a:schemeClr val="accent1"/>
                </a:solidFill>
                <a:latin typeface="+mn-ea"/>
                <a:cs typeface="+mn-ea"/>
                <a:sym typeface="+mn-ea"/>
              </a:rPr>
              <a:t>维护信息安全</a:t>
            </a:r>
            <a:endParaRPr lang="zh-CN" altLang="en-US" sz="2000" b="1">
              <a:solidFill>
                <a:schemeClr val="accent1"/>
              </a:solidFill>
              <a:latin typeface="+mn-ea"/>
              <a:cs typeface="+mn-ea"/>
              <a:sym typeface="+mn-ea"/>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Deepfake检测评价指标</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TWO</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a:xfrm>
            <a:off x="73065" y="70"/>
            <a:ext cx="10800000" cy="792000"/>
          </a:xfrm>
        </p:spPr>
        <p:txBody>
          <a:bodyPr lIns="0" tIns="0" rIns="0" bIns="0">
            <a:noAutofit/>
          </a:bodyPr>
          <a:lstStyle/>
          <a:p>
            <a:r>
              <a:rPr lang="zh-CN" altLang="en-US" dirty="0">
                <a:sym typeface="+mn-ea"/>
              </a:rPr>
              <a:t>评价指标概述</a:t>
            </a:r>
            <a:endParaRPr lang="zh-CN" altLang="en-US" dirty="0">
              <a:sym typeface="+mn-ea"/>
            </a:endParaRPr>
          </a:p>
        </p:txBody>
      </p:sp>
      <p:sp>
        <p:nvSpPr>
          <p:cNvPr id="5" name="矩形: 圆角 2"/>
          <p:cNvSpPr/>
          <p:nvPr>
            <p:custDataLst>
              <p:tags r:id="rId2"/>
            </p:custDataLst>
          </p:nvPr>
        </p:nvSpPr>
        <p:spPr>
          <a:xfrm>
            <a:off x="682942" y="1792487"/>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 name="矩形 8"/>
          <p:cNvSpPr/>
          <p:nvPr>
            <p:custDataLst>
              <p:tags r:id="rId3"/>
            </p:custDataLst>
          </p:nvPr>
        </p:nvSpPr>
        <p:spPr>
          <a:xfrm>
            <a:off x="754740" y="3695431"/>
            <a:ext cx="2239692" cy="1618932"/>
          </a:xfrm>
          <a:prstGeom prst="rect">
            <a:avLst/>
          </a:prstGeom>
        </p:spPr>
        <p:txBody>
          <a:bodyPr wrap="square" lIns="0" tIns="0" rIns="0" bIns="0">
            <a:noAutofit/>
          </a:bodyPr>
          <a:p>
            <a:pPr algn="ctr">
              <a:lnSpc>
                <a:spcPct val="150000"/>
              </a:lnSpc>
              <a:spcBef>
                <a:spcPct val="0"/>
              </a:spcBef>
              <a:spcAft>
                <a:spcPct val="0"/>
              </a:spcAft>
            </a:pPr>
            <a:r>
              <a:rPr lang="zh-CN" altLang="en-US">
                <a:solidFill>
                  <a:schemeClr val="tx1">
                    <a:lumMod val="85000"/>
                    <a:lumOff val="15000"/>
                  </a:schemeClr>
                </a:solidFill>
                <a:latin typeface="+mn-ea"/>
                <a:cs typeface="+mn-ea"/>
              </a:rPr>
              <a:t>准确率是最直观的评价指标，表示模型正确预测的样本数占总样本数的比例。对于分类任务而言，它衡量模型对所有类别样本的整体分类能力。</a:t>
            </a:r>
            <a:endParaRPr lang="zh-CN" altLang="en-US">
              <a:solidFill>
                <a:schemeClr val="tx1">
                  <a:lumMod val="85000"/>
                  <a:lumOff val="15000"/>
                </a:schemeClr>
              </a:solidFill>
              <a:latin typeface="+mn-ea"/>
              <a:cs typeface="+mn-ea"/>
            </a:endParaRPr>
          </a:p>
        </p:txBody>
      </p:sp>
      <p:sp>
        <p:nvSpPr>
          <p:cNvPr id="10" name="矩形 9"/>
          <p:cNvSpPr/>
          <p:nvPr>
            <p:custDataLst>
              <p:tags r:id="rId4"/>
            </p:custDataLst>
          </p:nvPr>
        </p:nvSpPr>
        <p:spPr>
          <a:xfrm>
            <a:off x="754740" y="2743006"/>
            <a:ext cx="2239693" cy="822463"/>
          </a:xfrm>
          <a:prstGeom prst="rect">
            <a:avLst/>
          </a:prstGeom>
          <a:noFill/>
        </p:spPr>
        <p:txBody>
          <a:bodyPr wrap="square" lIns="0" tIns="0" rIns="0" bIns="0" rtlCol="0" anchor="ctr">
            <a:noAutofit/>
          </a:bodyPr>
          <a:p>
            <a:pPr algn="ctr">
              <a:spcBef>
                <a:spcPct val="0"/>
              </a:spcBef>
              <a:spcAft>
                <a:spcPct val="0"/>
              </a:spcAft>
            </a:pPr>
            <a:r>
              <a:rPr kumimoji="1" lang="zh-CN" altLang="en-US" b="1" dirty="0">
                <a:solidFill>
                  <a:srgbClr val="FFFFFF"/>
                </a:solidFill>
                <a:latin typeface="+mn-ea"/>
                <a:cs typeface="+mn-ea"/>
              </a:rPr>
              <a:t>准确率</a:t>
            </a:r>
            <a:endParaRPr kumimoji="1" lang="zh-CN" altLang="en-US" b="1" dirty="0">
              <a:solidFill>
                <a:srgbClr val="FFFFFF"/>
              </a:solidFill>
              <a:latin typeface="+mn-ea"/>
              <a:cs typeface="+mn-ea"/>
            </a:endParaRPr>
          </a:p>
        </p:txBody>
      </p:sp>
      <p:pic>
        <p:nvPicPr>
          <p:cNvPr id="18" name="图片 17" descr="/data/temp/d0debeae-41be-11f0-a344-b2aeea40587e.jpg@base@tag=imgScale&amp;m=1&amp;w=514&amp;h=514&amp;q=95d0debeae-41be-11f0-a344-b2aeea40587e"/>
          <p:cNvPicPr>
            <a:picLocks noChangeAspect="1"/>
          </p:cNvPicPr>
          <p:nvPr>
            <p:custDataLst>
              <p:tags r:id="rId5"/>
            </p:custDataLst>
          </p:nvPr>
        </p:nvPicPr>
        <p:blipFill rotWithShape="1">
          <a:blip r:embed="rId6"/>
          <a:srcRect l="34"/>
          <a:stretch>
            <a:fillRect/>
          </a:stretch>
        </p:blipFill>
        <p:spPr>
          <a:xfrm>
            <a:off x="948528" y="832437"/>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
        <p:nvSpPr>
          <p:cNvPr id="23" name="矩形: 圆角 1"/>
          <p:cNvSpPr/>
          <p:nvPr>
            <p:custDataLst>
              <p:tags r:id="rId7"/>
            </p:custDataLst>
          </p:nvPr>
        </p:nvSpPr>
        <p:spPr>
          <a:xfrm>
            <a:off x="3488752" y="1792487"/>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4" name="矩形 23"/>
          <p:cNvSpPr/>
          <p:nvPr>
            <p:custDataLst>
              <p:tags r:id="rId8"/>
            </p:custDataLst>
          </p:nvPr>
        </p:nvSpPr>
        <p:spPr>
          <a:xfrm>
            <a:off x="3560549" y="3695431"/>
            <a:ext cx="2239692" cy="1618932"/>
          </a:xfrm>
          <a:prstGeom prst="rect">
            <a:avLst/>
          </a:prstGeom>
        </p:spPr>
        <p:txBody>
          <a:bodyPr wrap="square" lIns="0" tIns="0" rIns="0" bIns="0">
            <a:noAutofit/>
          </a:bodyPr>
          <a:p>
            <a:pPr algn="ctr">
              <a:lnSpc>
                <a:spcPct val="150000"/>
              </a:lnSpc>
              <a:spcBef>
                <a:spcPct val="0"/>
              </a:spcBef>
              <a:spcAft>
                <a:spcPct val="0"/>
              </a:spcAft>
            </a:pPr>
            <a:r>
              <a:rPr lang="zh-CN" altLang="en-US" dirty="0">
                <a:solidFill>
                  <a:schemeClr val="tx1">
                    <a:lumMod val="85000"/>
                    <a:lumOff val="15000"/>
                  </a:schemeClr>
                </a:solidFill>
                <a:latin typeface="+mn-ea"/>
                <a:cs typeface="+mn-ea"/>
              </a:rPr>
              <a:t>精确率</a:t>
            </a:r>
            <a:r>
              <a:rPr lang="en-US" altLang="zh-CN" dirty="0">
                <a:solidFill>
                  <a:schemeClr val="tx1">
                    <a:lumMod val="85000"/>
                    <a:lumOff val="15000"/>
                  </a:schemeClr>
                </a:solidFill>
                <a:latin typeface="+mn-ea"/>
                <a:cs typeface="+mn-ea"/>
              </a:rPr>
              <a:t>(Precision)</a:t>
            </a:r>
            <a:r>
              <a:rPr lang="zh-CN" altLang="en-US" dirty="0">
                <a:solidFill>
                  <a:schemeClr val="tx1">
                    <a:lumMod val="85000"/>
                    <a:lumOff val="15000"/>
                  </a:schemeClr>
                </a:solidFill>
                <a:latin typeface="+mn-ea"/>
                <a:cs typeface="+mn-ea"/>
              </a:rPr>
              <a:t>关注模型预测为伪造视频的样本中，有多少是真正的伪造视频，反映了模型的查准能力，即</a:t>
            </a:r>
            <a:r>
              <a:rPr lang="en-US" altLang="zh-CN" dirty="0">
                <a:solidFill>
                  <a:schemeClr val="tx1">
                    <a:lumMod val="85000"/>
                    <a:lumOff val="15000"/>
                  </a:schemeClr>
                </a:solidFill>
                <a:latin typeface="+mn-ea"/>
                <a:cs typeface="+mn-ea"/>
              </a:rPr>
              <a:t>“</a:t>
            </a:r>
            <a:r>
              <a:rPr lang="zh-CN" altLang="en-US" dirty="0">
                <a:solidFill>
                  <a:schemeClr val="tx1">
                    <a:lumMod val="85000"/>
                    <a:lumOff val="15000"/>
                  </a:schemeClr>
                </a:solidFill>
                <a:latin typeface="+mn-ea"/>
                <a:cs typeface="+mn-ea"/>
              </a:rPr>
              <a:t>宁可不报，不能错报</a:t>
            </a:r>
            <a:r>
              <a:rPr lang="en-US" altLang="zh-CN" dirty="0">
                <a:solidFill>
                  <a:schemeClr val="tx1">
                    <a:lumMod val="85000"/>
                    <a:lumOff val="15000"/>
                  </a:schemeClr>
                </a:solidFill>
                <a:latin typeface="+mn-ea"/>
                <a:cs typeface="+mn-ea"/>
              </a:rPr>
              <a:t>”</a:t>
            </a:r>
            <a:r>
              <a:rPr lang="zh-CN" altLang="en-US" dirty="0">
                <a:solidFill>
                  <a:schemeClr val="tx1">
                    <a:lumMod val="85000"/>
                    <a:lumOff val="15000"/>
                  </a:schemeClr>
                </a:solidFill>
                <a:latin typeface="+mn-ea"/>
                <a:cs typeface="+mn-ea"/>
              </a:rPr>
              <a:t>。</a:t>
            </a:r>
            <a:endParaRPr lang="zh-CN" altLang="en-US" dirty="0">
              <a:solidFill>
                <a:schemeClr val="tx1">
                  <a:lumMod val="85000"/>
                  <a:lumOff val="15000"/>
                </a:schemeClr>
              </a:solidFill>
              <a:latin typeface="+mn-ea"/>
              <a:cs typeface="+mn-ea"/>
            </a:endParaRPr>
          </a:p>
        </p:txBody>
      </p:sp>
      <p:sp>
        <p:nvSpPr>
          <p:cNvPr id="25" name="矩形 24"/>
          <p:cNvSpPr/>
          <p:nvPr>
            <p:custDataLst>
              <p:tags r:id="rId9"/>
            </p:custDataLst>
          </p:nvPr>
        </p:nvSpPr>
        <p:spPr>
          <a:xfrm>
            <a:off x="3560549" y="2743006"/>
            <a:ext cx="2239693" cy="822463"/>
          </a:xfrm>
          <a:prstGeom prst="rect">
            <a:avLst/>
          </a:prstGeom>
          <a:noFill/>
        </p:spPr>
        <p:txBody>
          <a:bodyPr wrap="square" lIns="0" tIns="0" rIns="0" bIns="0" rtlCol="0" anchor="ctr">
            <a:noAutofit/>
          </a:bodyPr>
          <a:p>
            <a:pPr algn="ctr">
              <a:spcBef>
                <a:spcPct val="0"/>
              </a:spcBef>
              <a:spcAft>
                <a:spcPct val="0"/>
              </a:spcAft>
            </a:pPr>
            <a:r>
              <a:rPr kumimoji="1" lang="zh-CN" altLang="en-US" b="1" dirty="0">
                <a:solidFill>
                  <a:srgbClr val="FFFFFF"/>
                </a:solidFill>
                <a:latin typeface="+mn-ea"/>
                <a:cs typeface="+mn-ea"/>
              </a:rPr>
              <a:t>精确率</a:t>
            </a:r>
            <a:r>
              <a:rPr kumimoji="1" lang="en-US" altLang="zh-CN" b="1" dirty="0">
                <a:solidFill>
                  <a:srgbClr val="FFFFFF"/>
                </a:solidFill>
                <a:latin typeface="+mn-ea"/>
                <a:cs typeface="+mn-ea"/>
              </a:rPr>
              <a:t>(Precision)</a:t>
            </a:r>
            <a:endParaRPr kumimoji="1" lang="en-US" altLang="zh-CN" b="1" dirty="0">
              <a:solidFill>
                <a:srgbClr val="FFFFFF"/>
              </a:solidFill>
              <a:latin typeface="+mn-ea"/>
              <a:cs typeface="+mn-ea"/>
            </a:endParaRPr>
          </a:p>
        </p:txBody>
      </p:sp>
      <p:pic>
        <p:nvPicPr>
          <p:cNvPr id="26" name="图片 25" descr="/data/temp/d0debedf-41be-11f0-a344-b2aeea40587e.jpg@base@tag=imgScale&amp;m=1&amp;w=514&amp;h=514&amp;q=95d0debedf-41be-11f0-a344-b2aeea40587e"/>
          <p:cNvPicPr>
            <a:picLocks noChangeAspect="1"/>
          </p:cNvPicPr>
          <p:nvPr>
            <p:custDataLst>
              <p:tags r:id="rId10"/>
            </p:custDataLst>
          </p:nvPr>
        </p:nvPicPr>
        <p:blipFill>
          <a:blip r:embed="rId11"/>
          <a:srcRect t="12687" b="12687"/>
          <a:stretch>
            <a:fillRect/>
          </a:stretch>
        </p:blipFill>
        <p:spPr>
          <a:xfrm>
            <a:off x="3754974" y="832437"/>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
        <p:nvSpPr>
          <p:cNvPr id="27" name="矩形: 圆角 3"/>
          <p:cNvSpPr/>
          <p:nvPr>
            <p:custDataLst>
              <p:tags r:id="rId12"/>
            </p:custDataLst>
          </p:nvPr>
        </p:nvSpPr>
        <p:spPr>
          <a:xfrm>
            <a:off x="6294562" y="1793122"/>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矩形 27"/>
          <p:cNvSpPr/>
          <p:nvPr>
            <p:custDataLst>
              <p:tags r:id="rId13"/>
            </p:custDataLst>
          </p:nvPr>
        </p:nvSpPr>
        <p:spPr>
          <a:xfrm>
            <a:off x="6366359" y="3696066"/>
            <a:ext cx="2239692" cy="1617026"/>
          </a:xfrm>
          <a:prstGeom prst="rect">
            <a:avLst/>
          </a:prstGeom>
        </p:spPr>
        <p:txBody>
          <a:bodyPr wrap="square" lIns="0" tIns="0" rIns="0" bIns="0">
            <a:noAutofit/>
          </a:bodyPr>
          <a:p>
            <a:pPr algn="ctr">
              <a:lnSpc>
                <a:spcPct val="150000"/>
              </a:lnSpc>
              <a:spcBef>
                <a:spcPct val="0"/>
              </a:spcBef>
              <a:spcAft>
                <a:spcPct val="0"/>
              </a:spcAft>
            </a:pPr>
            <a:r>
              <a:rPr lang="zh-CN" altLang="en-US">
                <a:solidFill>
                  <a:schemeClr val="tx1">
                    <a:lumMod val="85000"/>
                    <a:lumOff val="15000"/>
                  </a:schemeClr>
                </a:solidFill>
                <a:latin typeface="+mn-ea"/>
                <a:cs typeface="+mn-ea"/>
              </a:rPr>
              <a:t>召回率</a:t>
            </a:r>
            <a:r>
              <a:rPr lang="en-US" altLang="zh-CN">
                <a:solidFill>
                  <a:schemeClr val="tx1">
                    <a:lumMod val="85000"/>
                    <a:lumOff val="15000"/>
                  </a:schemeClr>
                </a:solidFill>
                <a:latin typeface="+mn-ea"/>
                <a:cs typeface="+mn-ea"/>
              </a:rPr>
              <a:t>(Recall) (</a:t>
            </a:r>
            <a:r>
              <a:rPr lang="zh-CN" altLang="en-US">
                <a:solidFill>
                  <a:schemeClr val="tx1">
                    <a:lumMod val="85000"/>
                    <a:lumOff val="15000"/>
                  </a:schemeClr>
                </a:solidFill>
                <a:latin typeface="+mn-ea"/>
                <a:cs typeface="+mn-ea"/>
              </a:rPr>
              <a:t>又称查全率或敏感度</a:t>
            </a:r>
            <a:r>
              <a:rPr lang="en-US" altLang="zh-CN">
                <a:solidFill>
                  <a:schemeClr val="tx1">
                    <a:lumMod val="85000"/>
                    <a:lumOff val="15000"/>
                  </a:schemeClr>
                </a:solidFill>
                <a:latin typeface="+mn-ea"/>
                <a:cs typeface="+mn-ea"/>
              </a:rPr>
              <a:t>)</a:t>
            </a:r>
            <a:r>
              <a:rPr lang="zh-CN" altLang="en-US">
                <a:solidFill>
                  <a:schemeClr val="tx1">
                    <a:lumMod val="85000"/>
                    <a:lumOff val="15000"/>
                  </a:schemeClr>
                </a:solidFill>
                <a:latin typeface="+mn-ea"/>
                <a:cs typeface="+mn-ea"/>
              </a:rPr>
              <a:t>关注所有真正的伪造视频中，有多少被模型成功识别，反映了模型的查全能力，即</a:t>
            </a:r>
            <a:r>
              <a:rPr lang="en-US" altLang="zh-CN">
                <a:solidFill>
                  <a:schemeClr val="tx1">
                    <a:lumMod val="85000"/>
                    <a:lumOff val="15000"/>
                  </a:schemeClr>
                </a:solidFill>
                <a:latin typeface="+mn-ea"/>
                <a:cs typeface="+mn-ea"/>
              </a:rPr>
              <a:t>“</a:t>
            </a:r>
            <a:r>
              <a:rPr lang="zh-CN" altLang="en-US">
                <a:solidFill>
                  <a:schemeClr val="tx1">
                    <a:lumMod val="85000"/>
                    <a:lumOff val="15000"/>
                  </a:schemeClr>
                </a:solidFill>
                <a:latin typeface="+mn-ea"/>
                <a:cs typeface="+mn-ea"/>
              </a:rPr>
              <a:t>宁可多报，不能漏报</a:t>
            </a:r>
            <a:r>
              <a:rPr lang="en-US" altLang="zh-CN">
                <a:solidFill>
                  <a:schemeClr val="tx1">
                    <a:lumMod val="85000"/>
                    <a:lumOff val="15000"/>
                  </a:schemeClr>
                </a:solidFill>
                <a:latin typeface="+mn-ea"/>
                <a:cs typeface="+mn-ea"/>
              </a:rPr>
              <a:t>”</a:t>
            </a:r>
            <a:r>
              <a:rPr lang="zh-CN" altLang="en-US">
                <a:solidFill>
                  <a:schemeClr val="tx1">
                    <a:lumMod val="85000"/>
                    <a:lumOff val="15000"/>
                  </a:schemeClr>
                </a:solidFill>
                <a:latin typeface="+mn-ea"/>
                <a:cs typeface="+mn-ea"/>
              </a:rPr>
              <a:t>。</a:t>
            </a:r>
            <a:endParaRPr lang="zh-CN" altLang="en-US">
              <a:solidFill>
                <a:schemeClr val="tx1">
                  <a:lumMod val="85000"/>
                  <a:lumOff val="15000"/>
                </a:schemeClr>
              </a:solidFill>
              <a:latin typeface="+mn-ea"/>
              <a:cs typeface="+mn-ea"/>
            </a:endParaRPr>
          </a:p>
        </p:txBody>
      </p:sp>
      <p:sp>
        <p:nvSpPr>
          <p:cNvPr id="29" name="矩形 28"/>
          <p:cNvSpPr/>
          <p:nvPr>
            <p:custDataLst>
              <p:tags r:id="rId14"/>
            </p:custDataLst>
          </p:nvPr>
        </p:nvSpPr>
        <p:spPr>
          <a:xfrm>
            <a:off x="6366359" y="2743641"/>
            <a:ext cx="2239692" cy="822463"/>
          </a:xfrm>
          <a:prstGeom prst="rect">
            <a:avLst/>
          </a:prstGeom>
          <a:noFill/>
        </p:spPr>
        <p:txBody>
          <a:bodyPr wrap="square" lIns="0" tIns="0" rIns="0" bIns="0" rtlCol="0" anchor="ctr">
            <a:noAutofit/>
          </a:bodyPr>
          <a:p>
            <a:pPr algn="ctr">
              <a:spcBef>
                <a:spcPct val="0"/>
              </a:spcBef>
              <a:spcAft>
                <a:spcPct val="0"/>
              </a:spcAft>
            </a:pPr>
            <a:r>
              <a:rPr kumimoji="1" lang="zh-CN" altLang="en-US" b="1" dirty="0">
                <a:solidFill>
                  <a:srgbClr val="FFFFFF"/>
                </a:solidFill>
                <a:latin typeface="+mn-ea"/>
                <a:cs typeface="+mn-ea"/>
              </a:rPr>
              <a:t>召回率</a:t>
            </a:r>
            <a:r>
              <a:rPr kumimoji="1" lang="en-US" altLang="zh-CN" b="1" dirty="0">
                <a:solidFill>
                  <a:srgbClr val="FFFFFF"/>
                </a:solidFill>
                <a:latin typeface="+mn-ea"/>
                <a:cs typeface="+mn-ea"/>
              </a:rPr>
              <a:t>(Recall)</a:t>
            </a:r>
            <a:endParaRPr kumimoji="1" lang="en-US" altLang="zh-CN" b="1" dirty="0">
              <a:solidFill>
                <a:srgbClr val="FFFFFF"/>
              </a:solidFill>
              <a:latin typeface="+mn-ea"/>
              <a:cs typeface="+mn-ea"/>
            </a:endParaRPr>
          </a:p>
        </p:txBody>
      </p:sp>
      <p:pic>
        <p:nvPicPr>
          <p:cNvPr id="30" name="图片 29" descr="/data/temp/d0debe61-41be-11f0-a344-b2aeea40587e.jpg@base@tag=imgScale&amp;m=1&amp;w=514&amp;h=514&amp;q=95d0debe61-41be-11f0-a344-b2aeea40587e"/>
          <p:cNvPicPr>
            <a:picLocks noChangeAspect="1"/>
          </p:cNvPicPr>
          <p:nvPr>
            <p:custDataLst>
              <p:tags r:id="rId15"/>
            </p:custDataLst>
          </p:nvPr>
        </p:nvPicPr>
        <p:blipFill>
          <a:blip r:embed="rId16"/>
          <a:srcRect l="2839" r="3568"/>
          <a:stretch>
            <a:fillRect/>
          </a:stretch>
        </p:blipFill>
        <p:spPr>
          <a:xfrm>
            <a:off x="6560148" y="833073"/>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
        <p:nvSpPr>
          <p:cNvPr id="31" name="矩形: 圆角 3"/>
          <p:cNvSpPr/>
          <p:nvPr>
            <p:custDataLst>
              <p:tags r:id="rId17"/>
            </p:custDataLst>
          </p:nvPr>
        </p:nvSpPr>
        <p:spPr>
          <a:xfrm>
            <a:off x="9100372" y="1793122"/>
            <a:ext cx="2383286" cy="1773328"/>
          </a:xfrm>
          <a:prstGeom prst="roundRect">
            <a:avLst>
              <a:gd name="adj" fmla="val 576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2" name="矩形 31"/>
          <p:cNvSpPr/>
          <p:nvPr>
            <p:custDataLst>
              <p:tags r:id="rId18"/>
            </p:custDataLst>
          </p:nvPr>
        </p:nvSpPr>
        <p:spPr>
          <a:xfrm>
            <a:off x="9172169" y="3696066"/>
            <a:ext cx="2239692" cy="1617026"/>
          </a:xfrm>
          <a:prstGeom prst="rect">
            <a:avLst/>
          </a:prstGeom>
        </p:spPr>
        <p:txBody>
          <a:bodyPr wrap="square" lIns="0" tIns="0" rIns="0" bIns="0">
            <a:noAutofit/>
          </a:bodyPr>
          <a:p>
            <a:pPr algn="ctr">
              <a:lnSpc>
                <a:spcPct val="150000"/>
              </a:lnSpc>
              <a:spcBef>
                <a:spcPct val="0"/>
              </a:spcBef>
              <a:spcAft>
                <a:spcPct val="0"/>
              </a:spcAft>
            </a:pPr>
            <a:r>
              <a:rPr lang="zh-CN" altLang="en-US" sz="1600">
                <a:solidFill>
                  <a:schemeClr val="tx1">
                    <a:lumMod val="85000"/>
                    <a:lumOff val="15000"/>
                  </a:schemeClr>
                </a:solidFill>
                <a:latin typeface="+mn-ea"/>
                <a:cs typeface="+mn-ea"/>
              </a:rPr>
              <a:t>曲线下面积</a:t>
            </a:r>
            <a:r>
              <a:rPr lang="en-US" altLang="zh-CN" sz="1600">
                <a:solidFill>
                  <a:schemeClr val="tx1">
                    <a:lumMod val="85000"/>
                    <a:lumOff val="15000"/>
                  </a:schemeClr>
                </a:solidFill>
                <a:latin typeface="+mn-ea"/>
                <a:cs typeface="+mn-ea"/>
              </a:rPr>
              <a:t>(Area UnderCurve, AUC)</a:t>
            </a:r>
            <a:r>
              <a:rPr lang="zh-CN" altLang="en-US" sz="1600">
                <a:solidFill>
                  <a:schemeClr val="tx1">
                    <a:lumMod val="85000"/>
                    <a:lumOff val="15000"/>
                  </a:schemeClr>
                </a:solidFill>
                <a:latin typeface="+mn-ea"/>
                <a:cs typeface="+mn-ea"/>
              </a:rPr>
              <a:t>是对</a:t>
            </a:r>
            <a:r>
              <a:rPr lang="en-US" altLang="zh-CN" sz="1600">
                <a:solidFill>
                  <a:schemeClr val="tx1">
                    <a:lumMod val="85000"/>
                    <a:lumOff val="15000"/>
                  </a:schemeClr>
                </a:solidFill>
                <a:latin typeface="+mn-ea"/>
                <a:cs typeface="+mn-ea"/>
              </a:rPr>
              <a:t>ROC</a:t>
            </a:r>
            <a:r>
              <a:rPr lang="zh-CN" altLang="en-US" sz="1600">
                <a:solidFill>
                  <a:schemeClr val="tx1">
                    <a:lumMod val="85000"/>
                    <a:lumOff val="15000"/>
                  </a:schemeClr>
                </a:solidFill>
                <a:latin typeface="+mn-ea"/>
                <a:cs typeface="+mn-ea"/>
              </a:rPr>
              <a:t>曲线的定量衡量，其值介于</a:t>
            </a:r>
            <a:r>
              <a:rPr lang="en-US" altLang="zh-CN" sz="1600">
                <a:solidFill>
                  <a:schemeClr val="tx1">
                    <a:lumMod val="85000"/>
                    <a:lumOff val="15000"/>
                  </a:schemeClr>
                </a:solidFill>
                <a:latin typeface="+mn-ea"/>
                <a:cs typeface="+mn-ea"/>
              </a:rPr>
              <a:t>0</a:t>
            </a:r>
            <a:r>
              <a:rPr lang="zh-CN" altLang="en-US" sz="1600">
                <a:solidFill>
                  <a:schemeClr val="tx1">
                    <a:lumMod val="85000"/>
                    <a:lumOff val="15000"/>
                  </a:schemeClr>
                </a:solidFill>
                <a:latin typeface="+mn-ea"/>
                <a:cs typeface="+mn-ea"/>
              </a:rPr>
              <a:t>到</a:t>
            </a:r>
            <a:r>
              <a:rPr lang="en-US" altLang="zh-CN" sz="1600">
                <a:solidFill>
                  <a:schemeClr val="tx1">
                    <a:lumMod val="85000"/>
                    <a:lumOff val="15000"/>
                  </a:schemeClr>
                </a:solidFill>
                <a:latin typeface="+mn-ea"/>
                <a:cs typeface="+mn-ea"/>
              </a:rPr>
              <a:t>1</a:t>
            </a:r>
            <a:r>
              <a:rPr lang="zh-CN" altLang="en-US" sz="1600">
                <a:solidFill>
                  <a:schemeClr val="tx1">
                    <a:lumMod val="85000"/>
                    <a:lumOff val="15000"/>
                  </a:schemeClr>
                </a:solidFill>
                <a:latin typeface="+mn-ea"/>
                <a:cs typeface="+mn-ea"/>
              </a:rPr>
              <a:t>之间。</a:t>
            </a:r>
            <a:r>
              <a:rPr lang="en-US" altLang="zh-CN" sz="1600">
                <a:solidFill>
                  <a:schemeClr val="tx1">
                    <a:lumMod val="85000"/>
                    <a:lumOff val="15000"/>
                  </a:schemeClr>
                </a:solidFill>
                <a:latin typeface="+mn-ea"/>
                <a:cs typeface="+mn-ea"/>
              </a:rPr>
              <a:t>AUC</a:t>
            </a:r>
            <a:r>
              <a:rPr lang="zh-CN" altLang="en-US" sz="1600">
                <a:solidFill>
                  <a:schemeClr val="tx1">
                    <a:lumMod val="85000"/>
                    <a:lumOff val="15000"/>
                  </a:schemeClr>
                </a:solidFill>
                <a:latin typeface="+mn-ea"/>
                <a:cs typeface="+mn-ea"/>
              </a:rPr>
              <a:t>值越高，表示模型分类性能越好。</a:t>
            </a:r>
            <a:r>
              <a:rPr lang="en-US" altLang="zh-CN" sz="1600">
                <a:solidFill>
                  <a:schemeClr val="tx1">
                    <a:lumMod val="85000"/>
                    <a:lumOff val="15000"/>
                  </a:schemeClr>
                </a:solidFill>
                <a:latin typeface="+mn-ea"/>
                <a:cs typeface="+mn-ea"/>
              </a:rPr>
              <a:t>AUC</a:t>
            </a:r>
            <a:r>
              <a:rPr lang="zh-CN" altLang="en-US" sz="1600">
                <a:solidFill>
                  <a:schemeClr val="tx1">
                    <a:lumMod val="85000"/>
                    <a:lumOff val="15000"/>
                  </a:schemeClr>
                </a:solidFill>
                <a:latin typeface="+mn-ea"/>
                <a:cs typeface="+mn-ea"/>
              </a:rPr>
              <a:t>对数据集类别不平衡不敏感，因此在深度伪造检测中被广泛采用</a:t>
            </a:r>
            <a:endParaRPr lang="zh-CN" altLang="en-US" sz="1600">
              <a:solidFill>
                <a:schemeClr val="tx1">
                  <a:lumMod val="85000"/>
                  <a:lumOff val="15000"/>
                </a:schemeClr>
              </a:solidFill>
              <a:latin typeface="+mn-ea"/>
              <a:cs typeface="+mn-ea"/>
            </a:endParaRPr>
          </a:p>
        </p:txBody>
      </p:sp>
      <p:sp>
        <p:nvSpPr>
          <p:cNvPr id="33" name="矩形 32"/>
          <p:cNvSpPr/>
          <p:nvPr>
            <p:custDataLst>
              <p:tags r:id="rId19"/>
            </p:custDataLst>
          </p:nvPr>
        </p:nvSpPr>
        <p:spPr>
          <a:xfrm>
            <a:off x="9172169" y="2743641"/>
            <a:ext cx="2239693" cy="822463"/>
          </a:xfrm>
          <a:prstGeom prst="rect">
            <a:avLst/>
          </a:prstGeom>
          <a:noFill/>
        </p:spPr>
        <p:txBody>
          <a:bodyPr wrap="square" lIns="0" tIns="0" rIns="0" bIns="0" rtlCol="0" anchor="ctr">
            <a:noAutofit/>
          </a:bodyPr>
          <a:p>
            <a:pPr algn="ctr">
              <a:spcBef>
                <a:spcPct val="0"/>
              </a:spcBef>
              <a:spcAft>
                <a:spcPct val="0"/>
              </a:spcAft>
            </a:pPr>
            <a:r>
              <a:rPr kumimoji="1" lang="zh-CN" altLang="en-US" b="1" dirty="0">
                <a:solidFill>
                  <a:srgbClr val="FFFFFF"/>
                </a:solidFill>
                <a:latin typeface="+mn-ea"/>
                <a:cs typeface="+mn-ea"/>
              </a:rPr>
              <a:t>处理时间</a:t>
            </a:r>
            <a:endParaRPr kumimoji="1" lang="zh-CN" altLang="en-US" b="1" dirty="0">
              <a:solidFill>
                <a:srgbClr val="FFFFFF"/>
              </a:solidFill>
              <a:latin typeface="+mn-ea"/>
              <a:cs typeface="+mn-ea"/>
            </a:endParaRPr>
          </a:p>
        </p:txBody>
      </p:sp>
      <p:pic>
        <p:nvPicPr>
          <p:cNvPr id="34" name="图片 33" descr="/data/temp/d0debfb5-41be-11f0-a344-b2aeea40587e.jpg@base@tag=imgScale&amp;m=1&amp;w=514&amp;h=514&amp;q=95d0debfb5-41be-11f0-a344-b2aeea40587e"/>
          <p:cNvPicPr>
            <a:picLocks noChangeAspect="1"/>
          </p:cNvPicPr>
          <p:nvPr>
            <p:custDataLst>
              <p:tags r:id="rId20"/>
            </p:custDataLst>
          </p:nvPr>
        </p:nvPicPr>
        <p:blipFill>
          <a:blip r:embed="rId21"/>
          <a:srcRect l="16678" r="16678"/>
          <a:stretch>
            <a:fillRect/>
          </a:stretch>
        </p:blipFill>
        <p:spPr>
          <a:xfrm>
            <a:off x="9365958" y="833073"/>
            <a:ext cx="1851479" cy="1852114"/>
          </a:xfrm>
          <a:custGeom>
            <a:avLst/>
            <a:gdLst>
              <a:gd name="connsiteX0" fmla="*/ 128742 w 2232000"/>
              <a:gd name="connsiteY0" fmla="*/ 0 h 2232000"/>
              <a:gd name="connsiteX1" fmla="*/ 2103258 w 2232000"/>
              <a:gd name="connsiteY1" fmla="*/ 0 h 2232000"/>
              <a:gd name="connsiteX2" fmla="*/ 2232000 w 2232000"/>
              <a:gd name="connsiteY2" fmla="*/ 128742 h 2232000"/>
              <a:gd name="connsiteX3" fmla="*/ 2232000 w 2232000"/>
              <a:gd name="connsiteY3" fmla="*/ 2103258 h 2232000"/>
              <a:gd name="connsiteX4" fmla="*/ 2103258 w 2232000"/>
              <a:gd name="connsiteY4" fmla="*/ 2232000 h 2232000"/>
              <a:gd name="connsiteX5" fmla="*/ 128742 w 2232000"/>
              <a:gd name="connsiteY5" fmla="*/ 2232000 h 2232000"/>
              <a:gd name="connsiteX6" fmla="*/ 0 w 2232000"/>
              <a:gd name="connsiteY6" fmla="*/ 2103258 h 2232000"/>
              <a:gd name="connsiteX7" fmla="*/ 0 w 2232000"/>
              <a:gd name="connsiteY7" fmla="*/ 128742 h 2232000"/>
              <a:gd name="connsiteX8" fmla="*/ 128742 w 2232000"/>
              <a:gd name="connsiteY8" fmla="*/ 0 h 22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32000" h="2232000">
                <a:moveTo>
                  <a:pt x="128742" y="0"/>
                </a:moveTo>
                <a:lnTo>
                  <a:pt x="2103258" y="0"/>
                </a:lnTo>
                <a:cubicBezTo>
                  <a:pt x="2174360" y="0"/>
                  <a:pt x="2232000" y="57640"/>
                  <a:pt x="2232000" y="128742"/>
                </a:cubicBezTo>
                <a:lnTo>
                  <a:pt x="2232000" y="2103258"/>
                </a:lnTo>
                <a:cubicBezTo>
                  <a:pt x="2232000" y="2174360"/>
                  <a:pt x="2174360" y="2232000"/>
                  <a:pt x="2103258" y="2232000"/>
                </a:cubicBezTo>
                <a:lnTo>
                  <a:pt x="128742" y="2232000"/>
                </a:lnTo>
                <a:cubicBezTo>
                  <a:pt x="57640" y="2232000"/>
                  <a:pt x="0" y="2174360"/>
                  <a:pt x="0" y="2103258"/>
                </a:cubicBezTo>
                <a:lnTo>
                  <a:pt x="0" y="128742"/>
                </a:lnTo>
                <a:cubicBezTo>
                  <a:pt x="0" y="57640"/>
                  <a:pt x="57640" y="0"/>
                  <a:pt x="128742" y="0"/>
                </a:cubicBezTo>
                <a:close/>
              </a:path>
            </a:pathLst>
          </a:custGeom>
          <a:ln>
            <a:solidFill>
              <a:schemeClr val="accent1"/>
            </a:solidFill>
          </a:ln>
        </p:spPr>
      </p:pic>
    </p:spTree>
    <p:custDataLst>
      <p:tags r:id="rId2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任意多边形: 形状 17"/>
          <p:cNvSpPr/>
          <p:nvPr>
            <p:custDataLst>
              <p:tags r:id="rId1"/>
            </p:custDataLst>
          </p:nvPr>
        </p:nvSpPr>
        <p:spPr>
          <a:xfrm rot="21342100">
            <a:off x="7469116" y="1289275"/>
            <a:ext cx="3626875" cy="4563048"/>
          </a:xfrm>
          <a:custGeom>
            <a:avLst/>
            <a:gdLst>
              <a:gd name="connsiteX0" fmla="*/ 51465 w 3626875"/>
              <a:gd name="connsiteY0" fmla="*/ 0 h 4563048"/>
              <a:gd name="connsiteX1" fmla="*/ 3575410 w 3626875"/>
              <a:gd name="connsiteY1" fmla="*/ 0 h 4563048"/>
              <a:gd name="connsiteX2" fmla="*/ 3626875 w 3626875"/>
              <a:gd name="connsiteY2" fmla="*/ 51465 h 4563048"/>
              <a:gd name="connsiteX3" fmla="*/ 3626875 w 3626875"/>
              <a:gd name="connsiteY3" fmla="*/ 4511583 h 4563048"/>
              <a:gd name="connsiteX4" fmla="*/ 3575410 w 3626875"/>
              <a:gd name="connsiteY4" fmla="*/ 4563048 h 4563048"/>
              <a:gd name="connsiteX5" fmla="*/ 51465 w 3626875"/>
              <a:gd name="connsiteY5" fmla="*/ 4563048 h 4563048"/>
              <a:gd name="connsiteX6" fmla="*/ 0 w 3626875"/>
              <a:gd name="connsiteY6" fmla="*/ 4511583 h 4563048"/>
              <a:gd name="connsiteX7" fmla="*/ 0 w 3626875"/>
              <a:gd name="connsiteY7" fmla="*/ 51465 h 4563048"/>
              <a:gd name="connsiteX8" fmla="*/ 51465 w 3626875"/>
              <a:gd name="connsiteY8" fmla="*/ 0 h 4563048"/>
              <a:gd name="connsiteX9" fmla="*/ 273025 w 3626875"/>
              <a:gd name="connsiteY9" fmla="*/ 339208 h 4563048"/>
              <a:gd name="connsiteX10" fmla="*/ 273025 w 3626875"/>
              <a:gd name="connsiteY10" fmla="*/ 3588875 h 4563048"/>
              <a:gd name="connsiteX11" fmla="*/ 3353850 w 3626875"/>
              <a:gd name="connsiteY11" fmla="*/ 3588875 h 4563048"/>
              <a:gd name="connsiteX12" fmla="*/ 3353850 w 3626875"/>
              <a:gd name="connsiteY12" fmla="*/ 339208 h 4563048"/>
              <a:gd name="connsiteX13" fmla="*/ 273025 w 3626875"/>
              <a:gd name="connsiteY13" fmla="*/ 339208 h 456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6875" h="4563048">
                <a:moveTo>
                  <a:pt x="51465" y="0"/>
                </a:moveTo>
                <a:lnTo>
                  <a:pt x="3575410" y="0"/>
                </a:lnTo>
                <a:cubicBezTo>
                  <a:pt x="3603833" y="0"/>
                  <a:pt x="3626875" y="23042"/>
                  <a:pt x="3626875" y="51465"/>
                </a:cubicBezTo>
                <a:lnTo>
                  <a:pt x="3626875" y="4511583"/>
                </a:lnTo>
                <a:cubicBezTo>
                  <a:pt x="3626875" y="4540006"/>
                  <a:pt x="3603833" y="4563048"/>
                  <a:pt x="3575410" y="4563048"/>
                </a:cubicBezTo>
                <a:lnTo>
                  <a:pt x="51465" y="4563048"/>
                </a:lnTo>
                <a:cubicBezTo>
                  <a:pt x="23042" y="4563048"/>
                  <a:pt x="0" y="4540006"/>
                  <a:pt x="0" y="4511583"/>
                </a:cubicBezTo>
                <a:lnTo>
                  <a:pt x="0" y="51465"/>
                </a:lnTo>
                <a:cubicBezTo>
                  <a:pt x="0" y="23042"/>
                  <a:pt x="23042" y="0"/>
                  <a:pt x="51465" y="0"/>
                </a:cubicBezTo>
                <a:close/>
                <a:moveTo>
                  <a:pt x="273025" y="339208"/>
                </a:moveTo>
                <a:lnTo>
                  <a:pt x="273025" y="3588875"/>
                </a:lnTo>
                <a:lnTo>
                  <a:pt x="3353850" y="3588875"/>
                </a:lnTo>
                <a:lnTo>
                  <a:pt x="3353850" y="339208"/>
                </a:lnTo>
                <a:lnTo>
                  <a:pt x="273025" y="339208"/>
                </a:lnTo>
                <a:close/>
              </a:path>
            </a:pathLst>
          </a:custGeom>
          <a:solidFill>
            <a:schemeClr val="lt1">
              <a:lumMod val="100000"/>
            </a:schemeClr>
          </a:solidFill>
          <a:ln>
            <a:noFill/>
          </a:ln>
          <a:effectLst>
            <a:outerShdw blurRad="1524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descr="/data/temp/d087e8cb-41be-11f0-a09a-d26541248f02.jpg@base@tag=imgScale&amp;m=1&amp;w=964&amp;h=1226&amp;q=95d087e8cb-41be-11f0-a09a-d26541248f02"/>
          <p:cNvPicPr>
            <a:picLocks noChangeAspect="1"/>
          </p:cNvPicPr>
          <p:nvPr>
            <p:custDataLst>
              <p:tags r:id="rId2"/>
            </p:custDataLst>
          </p:nvPr>
        </p:nvPicPr>
        <p:blipFill>
          <a:blip r:embed="rId3"/>
          <a:srcRect l="10710" r="10628"/>
          <a:stretch>
            <a:fillRect/>
          </a:stretch>
        </p:blipFill>
        <p:spPr>
          <a:xfrm rot="157750">
            <a:off x="7545194" y="1431901"/>
            <a:ext cx="3474720" cy="4417255"/>
          </a:xfrm>
          <a:custGeom>
            <a:avLst/>
            <a:gdLst>
              <a:gd name="connsiteX0" fmla="*/ 0 w 3474720"/>
              <a:gd name="connsiteY0" fmla="*/ 0 h 4417255"/>
              <a:gd name="connsiteX1" fmla="*/ 3474720 w 3474720"/>
              <a:gd name="connsiteY1" fmla="*/ 0 h 4417255"/>
              <a:gd name="connsiteX2" fmla="*/ 3474720 w 3474720"/>
              <a:gd name="connsiteY2" fmla="*/ 4417255 h 4417255"/>
              <a:gd name="connsiteX3" fmla="*/ 0 w 3474720"/>
              <a:gd name="connsiteY3" fmla="*/ 4417255 h 4417255"/>
            </a:gdLst>
            <a:ahLst/>
            <a:cxnLst>
              <a:cxn ang="0">
                <a:pos x="connsiteX0" y="connsiteY0"/>
              </a:cxn>
              <a:cxn ang="0">
                <a:pos x="connsiteX1" y="connsiteY1"/>
              </a:cxn>
              <a:cxn ang="0">
                <a:pos x="connsiteX2" y="connsiteY2"/>
              </a:cxn>
              <a:cxn ang="0">
                <a:pos x="connsiteX3" y="connsiteY3"/>
              </a:cxn>
            </a:cxnLst>
            <a:rect l="l" t="t" r="r" b="b"/>
            <a:pathLst>
              <a:path w="3474720" h="4417255">
                <a:moveTo>
                  <a:pt x="0" y="0"/>
                </a:moveTo>
                <a:lnTo>
                  <a:pt x="3474720" y="0"/>
                </a:lnTo>
                <a:lnTo>
                  <a:pt x="3474720" y="4417255"/>
                </a:lnTo>
                <a:lnTo>
                  <a:pt x="0" y="4417255"/>
                </a:lnTo>
                <a:close/>
              </a:path>
            </a:pathLst>
          </a:custGeom>
          <a:ln w="9525" cap="flat" cmpd="sng" algn="ctr">
            <a:solidFill>
              <a:schemeClr val="dk1">
                <a:lumMod val="40000"/>
                <a:lumOff val="60000"/>
                <a:alpha val="50000"/>
              </a:schemeClr>
            </a:solidFill>
            <a:prstDash val="solid"/>
            <a:round/>
            <a:headEnd type="none" w="med" len="med"/>
            <a:tailEnd type="none" w="med" len="med"/>
          </a:ln>
        </p:spPr>
      </p:pic>
      <p:sp>
        <p:nvSpPr>
          <p:cNvPr id="6" name="标题 5"/>
          <p:cNvSpPr>
            <a:spLocks noGrp="1"/>
          </p:cNvSpPr>
          <p:nvPr>
            <p:ph type="title"/>
            <p:custDataLst>
              <p:tags r:id="rId4"/>
            </p:custDataLst>
          </p:nvPr>
        </p:nvSpPr>
        <p:spPr>
          <a:xfrm>
            <a:off x="1116013" y="130885"/>
            <a:ext cx="4989512" cy="1223570"/>
          </a:xfrm>
        </p:spPr>
        <p:txBody>
          <a:bodyPr lIns="0" tIns="0" rIns="0" bIns="0" anchor="b" anchorCtr="0">
            <a:normAutofit/>
          </a:bodyPr>
          <a:lstStyle/>
          <a:p>
            <a:pPr algn="l"/>
            <a:r>
              <a:rPr lang="zh-CN" altLang="en-US" dirty="0"/>
              <a:t>指标应用分析</a:t>
            </a:r>
            <a:endParaRPr lang="zh-CN" altLang="en-US" dirty="0"/>
          </a:p>
        </p:txBody>
      </p:sp>
      <p:sp>
        <p:nvSpPr>
          <p:cNvPr id="7" name="任意多边形: 形状 6"/>
          <p:cNvSpPr/>
          <p:nvPr>
            <p:custDataLst>
              <p:tags r:id="rId5"/>
            </p:custDataLst>
          </p:nvPr>
        </p:nvSpPr>
        <p:spPr>
          <a:xfrm rot="157750">
            <a:off x="7469117" y="1359003"/>
            <a:ext cx="3626875" cy="4563048"/>
          </a:xfrm>
          <a:custGeom>
            <a:avLst/>
            <a:gdLst>
              <a:gd name="connsiteX0" fmla="*/ 51465 w 3626875"/>
              <a:gd name="connsiteY0" fmla="*/ 0 h 4563048"/>
              <a:gd name="connsiteX1" fmla="*/ 3575410 w 3626875"/>
              <a:gd name="connsiteY1" fmla="*/ 0 h 4563048"/>
              <a:gd name="connsiteX2" fmla="*/ 3626875 w 3626875"/>
              <a:gd name="connsiteY2" fmla="*/ 51465 h 4563048"/>
              <a:gd name="connsiteX3" fmla="*/ 3626875 w 3626875"/>
              <a:gd name="connsiteY3" fmla="*/ 4511583 h 4563048"/>
              <a:gd name="connsiteX4" fmla="*/ 3575410 w 3626875"/>
              <a:gd name="connsiteY4" fmla="*/ 4563048 h 4563048"/>
              <a:gd name="connsiteX5" fmla="*/ 51465 w 3626875"/>
              <a:gd name="connsiteY5" fmla="*/ 4563048 h 4563048"/>
              <a:gd name="connsiteX6" fmla="*/ 0 w 3626875"/>
              <a:gd name="connsiteY6" fmla="*/ 4511583 h 4563048"/>
              <a:gd name="connsiteX7" fmla="*/ 0 w 3626875"/>
              <a:gd name="connsiteY7" fmla="*/ 51465 h 4563048"/>
              <a:gd name="connsiteX8" fmla="*/ 51465 w 3626875"/>
              <a:gd name="connsiteY8" fmla="*/ 0 h 4563048"/>
              <a:gd name="connsiteX9" fmla="*/ 273025 w 3626875"/>
              <a:gd name="connsiteY9" fmla="*/ 339208 h 4563048"/>
              <a:gd name="connsiteX10" fmla="*/ 273025 w 3626875"/>
              <a:gd name="connsiteY10" fmla="*/ 3588875 h 4563048"/>
              <a:gd name="connsiteX11" fmla="*/ 3353850 w 3626875"/>
              <a:gd name="connsiteY11" fmla="*/ 3588875 h 4563048"/>
              <a:gd name="connsiteX12" fmla="*/ 3353850 w 3626875"/>
              <a:gd name="connsiteY12" fmla="*/ 339208 h 4563048"/>
              <a:gd name="connsiteX13" fmla="*/ 273025 w 3626875"/>
              <a:gd name="connsiteY13" fmla="*/ 339208 h 4563048"/>
              <a:gd name="connsiteX0-1" fmla="*/ 51465 w 3626875"/>
              <a:gd name="connsiteY0-2" fmla="*/ 0 h 4563048"/>
              <a:gd name="connsiteX1-3" fmla="*/ 3575410 w 3626875"/>
              <a:gd name="connsiteY1-4" fmla="*/ 0 h 4563048"/>
              <a:gd name="connsiteX2-5" fmla="*/ 3626875 w 3626875"/>
              <a:gd name="connsiteY2-6" fmla="*/ 51465 h 4563048"/>
              <a:gd name="connsiteX3-7" fmla="*/ 3626875 w 3626875"/>
              <a:gd name="connsiteY3-8" fmla="*/ 4511583 h 4563048"/>
              <a:gd name="connsiteX4-9" fmla="*/ 3575410 w 3626875"/>
              <a:gd name="connsiteY4-10" fmla="*/ 4563048 h 4563048"/>
              <a:gd name="connsiteX5-11" fmla="*/ 51465 w 3626875"/>
              <a:gd name="connsiteY5-12" fmla="*/ 4563048 h 4563048"/>
              <a:gd name="connsiteX6-13" fmla="*/ 0 w 3626875"/>
              <a:gd name="connsiteY6-14" fmla="*/ 4511583 h 4563048"/>
              <a:gd name="connsiteX7-15" fmla="*/ 0 w 3626875"/>
              <a:gd name="connsiteY7-16" fmla="*/ 51465 h 4563048"/>
              <a:gd name="connsiteX8-17" fmla="*/ 51465 w 3626875"/>
              <a:gd name="connsiteY8-18" fmla="*/ 0 h 4563048"/>
              <a:gd name="connsiteX9-19" fmla="*/ 273025 w 3626875"/>
              <a:gd name="connsiteY9-20" fmla="*/ 339208 h 4563048"/>
              <a:gd name="connsiteX10-21" fmla="*/ 273240 w 3626875"/>
              <a:gd name="connsiteY10-22" fmla="*/ 4053589 h 4563048"/>
              <a:gd name="connsiteX11-23" fmla="*/ 3353850 w 3626875"/>
              <a:gd name="connsiteY11-24" fmla="*/ 3588875 h 4563048"/>
              <a:gd name="connsiteX12-25" fmla="*/ 3353850 w 3626875"/>
              <a:gd name="connsiteY12-26" fmla="*/ 339208 h 4563048"/>
              <a:gd name="connsiteX13-27" fmla="*/ 273025 w 3626875"/>
              <a:gd name="connsiteY13-28" fmla="*/ 339208 h 4563048"/>
              <a:gd name="connsiteX0-29" fmla="*/ 51465 w 3626875"/>
              <a:gd name="connsiteY0-30" fmla="*/ 0 h 4563048"/>
              <a:gd name="connsiteX1-31" fmla="*/ 3575410 w 3626875"/>
              <a:gd name="connsiteY1-32" fmla="*/ 0 h 4563048"/>
              <a:gd name="connsiteX2-33" fmla="*/ 3626875 w 3626875"/>
              <a:gd name="connsiteY2-34" fmla="*/ 51465 h 4563048"/>
              <a:gd name="connsiteX3-35" fmla="*/ 3626875 w 3626875"/>
              <a:gd name="connsiteY3-36" fmla="*/ 4511583 h 4563048"/>
              <a:gd name="connsiteX4-37" fmla="*/ 3575410 w 3626875"/>
              <a:gd name="connsiteY4-38" fmla="*/ 4563048 h 4563048"/>
              <a:gd name="connsiteX5-39" fmla="*/ 51465 w 3626875"/>
              <a:gd name="connsiteY5-40" fmla="*/ 4563048 h 4563048"/>
              <a:gd name="connsiteX6-41" fmla="*/ 0 w 3626875"/>
              <a:gd name="connsiteY6-42" fmla="*/ 4511583 h 4563048"/>
              <a:gd name="connsiteX7-43" fmla="*/ 0 w 3626875"/>
              <a:gd name="connsiteY7-44" fmla="*/ 51465 h 4563048"/>
              <a:gd name="connsiteX8-45" fmla="*/ 51465 w 3626875"/>
              <a:gd name="connsiteY8-46" fmla="*/ 0 h 4563048"/>
              <a:gd name="connsiteX9-47" fmla="*/ 273025 w 3626875"/>
              <a:gd name="connsiteY9-48" fmla="*/ 339208 h 4563048"/>
              <a:gd name="connsiteX10-49" fmla="*/ 274782 w 3626875"/>
              <a:gd name="connsiteY10-50" fmla="*/ 3933816 h 4563048"/>
              <a:gd name="connsiteX11-51" fmla="*/ 3353850 w 3626875"/>
              <a:gd name="connsiteY11-52" fmla="*/ 3588875 h 4563048"/>
              <a:gd name="connsiteX12-53" fmla="*/ 3353850 w 3626875"/>
              <a:gd name="connsiteY12-54" fmla="*/ 339208 h 4563048"/>
              <a:gd name="connsiteX13-55" fmla="*/ 273025 w 3626875"/>
              <a:gd name="connsiteY13-56" fmla="*/ 339208 h 4563048"/>
              <a:gd name="connsiteX0-57" fmla="*/ 51465 w 3626875"/>
              <a:gd name="connsiteY0-58" fmla="*/ 0 h 4563048"/>
              <a:gd name="connsiteX1-59" fmla="*/ 3575410 w 3626875"/>
              <a:gd name="connsiteY1-60" fmla="*/ 0 h 4563048"/>
              <a:gd name="connsiteX2-61" fmla="*/ 3626875 w 3626875"/>
              <a:gd name="connsiteY2-62" fmla="*/ 51465 h 4563048"/>
              <a:gd name="connsiteX3-63" fmla="*/ 3626875 w 3626875"/>
              <a:gd name="connsiteY3-64" fmla="*/ 4511583 h 4563048"/>
              <a:gd name="connsiteX4-65" fmla="*/ 3575410 w 3626875"/>
              <a:gd name="connsiteY4-66" fmla="*/ 4563048 h 4563048"/>
              <a:gd name="connsiteX5-67" fmla="*/ 51465 w 3626875"/>
              <a:gd name="connsiteY5-68" fmla="*/ 4563048 h 4563048"/>
              <a:gd name="connsiteX6-69" fmla="*/ 0 w 3626875"/>
              <a:gd name="connsiteY6-70" fmla="*/ 4511583 h 4563048"/>
              <a:gd name="connsiteX7-71" fmla="*/ 0 w 3626875"/>
              <a:gd name="connsiteY7-72" fmla="*/ 51465 h 4563048"/>
              <a:gd name="connsiteX8-73" fmla="*/ 51465 w 3626875"/>
              <a:gd name="connsiteY8-74" fmla="*/ 0 h 4563048"/>
              <a:gd name="connsiteX9-75" fmla="*/ 273025 w 3626875"/>
              <a:gd name="connsiteY9-76" fmla="*/ 339208 h 4563048"/>
              <a:gd name="connsiteX10-77" fmla="*/ 274782 w 3626875"/>
              <a:gd name="connsiteY10-78" fmla="*/ 3933816 h 4563048"/>
              <a:gd name="connsiteX11-79" fmla="*/ 3356577 w 3626875"/>
              <a:gd name="connsiteY11-80" fmla="*/ 3954896 h 4563048"/>
              <a:gd name="connsiteX12-81" fmla="*/ 3353850 w 3626875"/>
              <a:gd name="connsiteY12-82" fmla="*/ 339208 h 4563048"/>
              <a:gd name="connsiteX13-83" fmla="*/ 273025 w 3626875"/>
              <a:gd name="connsiteY13-84" fmla="*/ 339208 h 4563048"/>
              <a:gd name="connsiteX0-85" fmla="*/ 51465 w 3626875"/>
              <a:gd name="connsiteY0-86" fmla="*/ 0 h 4563048"/>
              <a:gd name="connsiteX1-87" fmla="*/ 3575410 w 3626875"/>
              <a:gd name="connsiteY1-88" fmla="*/ 0 h 4563048"/>
              <a:gd name="connsiteX2-89" fmla="*/ 3626875 w 3626875"/>
              <a:gd name="connsiteY2-90" fmla="*/ 51465 h 4563048"/>
              <a:gd name="connsiteX3-91" fmla="*/ 3626875 w 3626875"/>
              <a:gd name="connsiteY3-92" fmla="*/ 4511583 h 4563048"/>
              <a:gd name="connsiteX4-93" fmla="*/ 3575410 w 3626875"/>
              <a:gd name="connsiteY4-94" fmla="*/ 4563048 h 4563048"/>
              <a:gd name="connsiteX5-95" fmla="*/ 51465 w 3626875"/>
              <a:gd name="connsiteY5-96" fmla="*/ 4563048 h 4563048"/>
              <a:gd name="connsiteX6-97" fmla="*/ 0 w 3626875"/>
              <a:gd name="connsiteY6-98" fmla="*/ 4511583 h 4563048"/>
              <a:gd name="connsiteX7-99" fmla="*/ 0 w 3626875"/>
              <a:gd name="connsiteY7-100" fmla="*/ 51465 h 4563048"/>
              <a:gd name="connsiteX8-101" fmla="*/ 51465 w 3626875"/>
              <a:gd name="connsiteY8-102" fmla="*/ 0 h 4563048"/>
              <a:gd name="connsiteX9-103" fmla="*/ 275535 w 3626875"/>
              <a:gd name="connsiteY9-104" fmla="*/ 240515 h 4563048"/>
              <a:gd name="connsiteX10-105" fmla="*/ 274782 w 3626875"/>
              <a:gd name="connsiteY10-106" fmla="*/ 3933816 h 4563048"/>
              <a:gd name="connsiteX11-107" fmla="*/ 3356577 w 3626875"/>
              <a:gd name="connsiteY11-108" fmla="*/ 3954896 h 4563048"/>
              <a:gd name="connsiteX12-109" fmla="*/ 3353850 w 3626875"/>
              <a:gd name="connsiteY12-110" fmla="*/ 339208 h 4563048"/>
              <a:gd name="connsiteX13-111" fmla="*/ 275535 w 3626875"/>
              <a:gd name="connsiteY13-112" fmla="*/ 240515 h 4563048"/>
              <a:gd name="connsiteX0-113" fmla="*/ 51465 w 3626875"/>
              <a:gd name="connsiteY0-114" fmla="*/ 0 h 4563048"/>
              <a:gd name="connsiteX1-115" fmla="*/ 3575410 w 3626875"/>
              <a:gd name="connsiteY1-116" fmla="*/ 0 h 4563048"/>
              <a:gd name="connsiteX2-117" fmla="*/ 3626875 w 3626875"/>
              <a:gd name="connsiteY2-118" fmla="*/ 51465 h 4563048"/>
              <a:gd name="connsiteX3-119" fmla="*/ 3626875 w 3626875"/>
              <a:gd name="connsiteY3-120" fmla="*/ 4511583 h 4563048"/>
              <a:gd name="connsiteX4-121" fmla="*/ 3575410 w 3626875"/>
              <a:gd name="connsiteY4-122" fmla="*/ 4563048 h 4563048"/>
              <a:gd name="connsiteX5-123" fmla="*/ 51465 w 3626875"/>
              <a:gd name="connsiteY5-124" fmla="*/ 4563048 h 4563048"/>
              <a:gd name="connsiteX6-125" fmla="*/ 0 w 3626875"/>
              <a:gd name="connsiteY6-126" fmla="*/ 4511583 h 4563048"/>
              <a:gd name="connsiteX7-127" fmla="*/ 0 w 3626875"/>
              <a:gd name="connsiteY7-128" fmla="*/ 51465 h 4563048"/>
              <a:gd name="connsiteX8-129" fmla="*/ 51465 w 3626875"/>
              <a:gd name="connsiteY8-130" fmla="*/ 0 h 4563048"/>
              <a:gd name="connsiteX9-131" fmla="*/ 275535 w 3626875"/>
              <a:gd name="connsiteY9-132" fmla="*/ 240515 h 4563048"/>
              <a:gd name="connsiteX10-133" fmla="*/ 274782 w 3626875"/>
              <a:gd name="connsiteY10-134" fmla="*/ 3933816 h 4563048"/>
              <a:gd name="connsiteX11-135" fmla="*/ 3356577 w 3626875"/>
              <a:gd name="connsiteY11-136" fmla="*/ 3954896 h 4563048"/>
              <a:gd name="connsiteX12-137" fmla="*/ 3349333 w 3626875"/>
              <a:gd name="connsiteY12-138" fmla="*/ 240838 h 4563048"/>
              <a:gd name="connsiteX13-139" fmla="*/ 275535 w 3626875"/>
              <a:gd name="connsiteY13-140" fmla="*/ 240515 h 4563048"/>
              <a:gd name="connsiteX0-141" fmla="*/ 51465 w 3626875"/>
              <a:gd name="connsiteY0-142" fmla="*/ 0 h 4563048"/>
              <a:gd name="connsiteX1-143" fmla="*/ 3575410 w 3626875"/>
              <a:gd name="connsiteY1-144" fmla="*/ 0 h 4563048"/>
              <a:gd name="connsiteX2-145" fmla="*/ 3626875 w 3626875"/>
              <a:gd name="connsiteY2-146" fmla="*/ 51465 h 4563048"/>
              <a:gd name="connsiteX3-147" fmla="*/ 3626875 w 3626875"/>
              <a:gd name="connsiteY3-148" fmla="*/ 4511583 h 4563048"/>
              <a:gd name="connsiteX4-149" fmla="*/ 3575410 w 3626875"/>
              <a:gd name="connsiteY4-150" fmla="*/ 4563048 h 4563048"/>
              <a:gd name="connsiteX5-151" fmla="*/ 51465 w 3626875"/>
              <a:gd name="connsiteY5-152" fmla="*/ 4563048 h 4563048"/>
              <a:gd name="connsiteX6-153" fmla="*/ 0 w 3626875"/>
              <a:gd name="connsiteY6-154" fmla="*/ 4511583 h 4563048"/>
              <a:gd name="connsiteX7-155" fmla="*/ 0 w 3626875"/>
              <a:gd name="connsiteY7-156" fmla="*/ 51465 h 4563048"/>
              <a:gd name="connsiteX8-157" fmla="*/ 51465 w 3626875"/>
              <a:gd name="connsiteY8-158" fmla="*/ 0 h 4563048"/>
              <a:gd name="connsiteX9-159" fmla="*/ 275535 w 3626875"/>
              <a:gd name="connsiteY9-160" fmla="*/ 240515 h 4563048"/>
              <a:gd name="connsiteX10-161" fmla="*/ 274782 w 3626875"/>
              <a:gd name="connsiteY10-162" fmla="*/ 3933816 h 4563048"/>
              <a:gd name="connsiteX11-163" fmla="*/ 3356577 w 3626875"/>
              <a:gd name="connsiteY11-164" fmla="*/ 3954896 h 4563048"/>
              <a:gd name="connsiteX12-165" fmla="*/ 3351269 w 3626875"/>
              <a:gd name="connsiteY12-166" fmla="*/ 282996 h 4563048"/>
              <a:gd name="connsiteX13-167" fmla="*/ 275535 w 3626875"/>
              <a:gd name="connsiteY13-168" fmla="*/ 240515 h 4563048"/>
              <a:gd name="connsiteX0-169" fmla="*/ 51465 w 3626875"/>
              <a:gd name="connsiteY0-170" fmla="*/ 0 h 4563048"/>
              <a:gd name="connsiteX1-171" fmla="*/ 3575410 w 3626875"/>
              <a:gd name="connsiteY1-172" fmla="*/ 0 h 4563048"/>
              <a:gd name="connsiteX2-173" fmla="*/ 3626875 w 3626875"/>
              <a:gd name="connsiteY2-174" fmla="*/ 51465 h 4563048"/>
              <a:gd name="connsiteX3-175" fmla="*/ 3626875 w 3626875"/>
              <a:gd name="connsiteY3-176" fmla="*/ 4511583 h 4563048"/>
              <a:gd name="connsiteX4-177" fmla="*/ 3575410 w 3626875"/>
              <a:gd name="connsiteY4-178" fmla="*/ 4563048 h 4563048"/>
              <a:gd name="connsiteX5-179" fmla="*/ 51465 w 3626875"/>
              <a:gd name="connsiteY5-180" fmla="*/ 4563048 h 4563048"/>
              <a:gd name="connsiteX6-181" fmla="*/ 0 w 3626875"/>
              <a:gd name="connsiteY6-182" fmla="*/ 4511583 h 4563048"/>
              <a:gd name="connsiteX7-183" fmla="*/ 0 w 3626875"/>
              <a:gd name="connsiteY7-184" fmla="*/ 51465 h 4563048"/>
              <a:gd name="connsiteX8-185" fmla="*/ 51465 w 3626875"/>
              <a:gd name="connsiteY8-186" fmla="*/ 0 h 4563048"/>
              <a:gd name="connsiteX9-187" fmla="*/ 275535 w 3626875"/>
              <a:gd name="connsiteY9-188" fmla="*/ 240515 h 4563048"/>
              <a:gd name="connsiteX10-189" fmla="*/ 279550 w 3626875"/>
              <a:gd name="connsiteY10-190" fmla="*/ 3884310 h 4563048"/>
              <a:gd name="connsiteX11-191" fmla="*/ 3356577 w 3626875"/>
              <a:gd name="connsiteY11-192" fmla="*/ 3954896 h 4563048"/>
              <a:gd name="connsiteX12-193" fmla="*/ 3351269 w 3626875"/>
              <a:gd name="connsiteY12-194" fmla="*/ 282996 h 4563048"/>
              <a:gd name="connsiteX13-195" fmla="*/ 275535 w 3626875"/>
              <a:gd name="connsiteY13-196" fmla="*/ 240515 h 4563048"/>
              <a:gd name="connsiteX0-197" fmla="*/ 51465 w 3626875"/>
              <a:gd name="connsiteY0-198" fmla="*/ 0 h 4563048"/>
              <a:gd name="connsiteX1-199" fmla="*/ 3575410 w 3626875"/>
              <a:gd name="connsiteY1-200" fmla="*/ 0 h 4563048"/>
              <a:gd name="connsiteX2-201" fmla="*/ 3626875 w 3626875"/>
              <a:gd name="connsiteY2-202" fmla="*/ 51465 h 4563048"/>
              <a:gd name="connsiteX3-203" fmla="*/ 3626875 w 3626875"/>
              <a:gd name="connsiteY3-204" fmla="*/ 4511583 h 4563048"/>
              <a:gd name="connsiteX4-205" fmla="*/ 3575410 w 3626875"/>
              <a:gd name="connsiteY4-206" fmla="*/ 4563048 h 4563048"/>
              <a:gd name="connsiteX5-207" fmla="*/ 51465 w 3626875"/>
              <a:gd name="connsiteY5-208" fmla="*/ 4563048 h 4563048"/>
              <a:gd name="connsiteX6-209" fmla="*/ 0 w 3626875"/>
              <a:gd name="connsiteY6-210" fmla="*/ 4511583 h 4563048"/>
              <a:gd name="connsiteX7-211" fmla="*/ 0 w 3626875"/>
              <a:gd name="connsiteY7-212" fmla="*/ 51465 h 4563048"/>
              <a:gd name="connsiteX8-213" fmla="*/ 51465 w 3626875"/>
              <a:gd name="connsiteY8-214" fmla="*/ 0 h 4563048"/>
              <a:gd name="connsiteX9-215" fmla="*/ 275535 w 3626875"/>
              <a:gd name="connsiteY9-216" fmla="*/ 240515 h 4563048"/>
              <a:gd name="connsiteX10-217" fmla="*/ 279550 w 3626875"/>
              <a:gd name="connsiteY10-218" fmla="*/ 3884310 h 4563048"/>
              <a:gd name="connsiteX11-219" fmla="*/ 3353996 w 3626875"/>
              <a:gd name="connsiteY11-220" fmla="*/ 3898684 h 4563048"/>
              <a:gd name="connsiteX12-221" fmla="*/ 3351269 w 3626875"/>
              <a:gd name="connsiteY12-222" fmla="*/ 282996 h 4563048"/>
              <a:gd name="connsiteX13-223" fmla="*/ 275535 w 3626875"/>
              <a:gd name="connsiteY13-224" fmla="*/ 240515 h 456304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3626875" h="4563048">
                <a:moveTo>
                  <a:pt x="51465" y="0"/>
                </a:moveTo>
                <a:lnTo>
                  <a:pt x="3575410" y="0"/>
                </a:lnTo>
                <a:cubicBezTo>
                  <a:pt x="3603833" y="0"/>
                  <a:pt x="3626875" y="23042"/>
                  <a:pt x="3626875" y="51465"/>
                </a:cubicBezTo>
                <a:lnTo>
                  <a:pt x="3626875" y="4511583"/>
                </a:lnTo>
                <a:cubicBezTo>
                  <a:pt x="3626875" y="4540006"/>
                  <a:pt x="3603833" y="4563048"/>
                  <a:pt x="3575410" y="4563048"/>
                </a:cubicBezTo>
                <a:lnTo>
                  <a:pt x="51465" y="4563048"/>
                </a:lnTo>
                <a:cubicBezTo>
                  <a:pt x="23042" y="4563048"/>
                  <a:pt x="0" y="4540006"/>
                  <a:pt x="0" y="4511583"/>
                </a:cubicBezTo>
                <a:lnTo>
                  <a:pt x="0" y="51465"/>
                </a:lnTo>
                <a:cubicBezTo>
                  <a:pt x="0" y="23042"/>
                  <a:pt x="23042" y="0"/>
                  <a:pt x="51465" y="0"/>
                </a:cubicBezTo>
                <a:close/>
                <a:moveTo>
                  <a:pt x="275535" y="240515"/>
                </a:moveTo>
                <a:cubicBezTo>
                  <a:pt x="275607" y="1478642"/>
                  <a:pt x="279478" y="2646183"/>
                  <a:pt x="279550" y="3884310"/>
                </a:cubicBezTo>
                <a:lnTo>
                  <a:pt x="3353996" y="3898684"/>
                </a:lnTo>
                <a:cubicBezTo>
                  <a:pt x="3351581" y="2660665"/>
                  <a:pt x="3353684" y="1521015"/>
                  <a:pt x="3351269" y="282996"/>
                </a:cubicBezTo>
                <a:lnTo>
                  <a:pt x="275535" y="240515"/>
                </a:lnTo>
                <a:close/>
              </a:path>
            </a:pathLst>
          </a:custGeom>
          <a:solidFill>
            <a:schemeClr val="lt1">
              <a:lumMod val="100000"/>
            </a:schemeClr>
          </a:solidFill>
          <a:ln>
            <a:noFill/>
          </a:ln>
          <a:effectLst>
            <a:outerShdw blurRad="152400" dist="38100" dir="2700000" algn="tl" rotWithShape="0">
              <a:prstClr val="black">
                <a:alpha val="24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custDataLst>
              <p:tags r:id="rId6"/>
            </p:custDataLst>
          </p:nvPr>
        </p:nvSpPr>
        <p:spPr>
          <a:xfrm>
            <a:off x="1116326" y="2798034"/>
            <a:ext cx="2754227" cy="935429"/>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通过比较真实视频与Deepfake视频的差异，准确率指标帮助评估检测算法的性能。</a:t>
            </a:r>
            <a:endParaRPr lang="zh-CN" altLang="en-US">
              <a:ln>
                <a:noFill/>
                <a:prstDash val="sysDot"/>
              </a:ln>
              <a:solidFill>
                <a:schemeClr val="tx1">
                  <a:lumMod val="85000"/>
                  <a:lumOff val="15000"/>
                </a:schemeClr>
              </a:solidFill>
              <a:latin typeface="+mn-ea"/>
              <a:cs typeface="+mn-ea"/>
            </a:endParaRPr>
          </a:p>
        </p:txBody>
      </p:sp>
      <p:sp>
        <p:nvSpPr>
          <p:cNvPr id="9" name="矩形 8"/>
          <p:cNvSpPr/>
          <p:nvPr>
            <p:custDataLst>
              <p:tags r:id="rId7"/>
            </p:custDataLst>
          </p:nvPr>
        </p:nvSpPr>
        <p:spPr>
          <a:xfrm>
            <a:off x="1116326" y="1904903"/>
            <a:ext cx="2754227" cy="824804"/>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000" b="1">
                <a:solidFill>
                  <a:schemeClr val="accent1"/>
                </a:solidFill>
                <a:latin typeface="+mn-ea"/>
                <a:cs typeface="+mn-ea"/>
              </a:rPr>
              <a:t>检测准确率</a:t>
            </a:r>
            <a:endParaRPr lang="zh-CN" altLang="en-US" sz="2000" b="1">
              <a:solidFill>
                <a:schemeClr val="accent1"/>
              </a:solidFill>
              <a:latin typeface="+mn-ea"/>
              <a:cs typeface="+mn-ea"/>
            </a:endParaRPr>
          </a:p>
        </p:txBody>
      </p:sp>
      <p:sp>
        <p:nvSpPr>
          <p:cNvPr id="10" name="矩形 9"/>
          <p:cNvSpPr/>
          <p:nvPr>
            <p:custDataLst>
              <p:tags r:id="rId8"/>
            </p:custDataLst>
          </p:nvPr>
        </p:nvSpPr>
        <p:spPr>
          <a:xfrm>
            <a:off x="5000389" y="2798034"/>
            <a:ext cx="2754227" cy="935429"/>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误报率衡量在没有Deepfake的情况下，检测系统错误地标记为伪造的视频数量。</a:t>
            </a:r>
            <a:endParaRPr lang="zh-CN" altLang="en-US">
              <a:ln>
                <a:noFill/>
                <a:prstDash val="sysDot"/>
              </a:ln>
              <a:solidFill>
                <a:schemeClr val="tx1">
                  <a:lumMod val="85000"/>
                  <a:lumOff val="15000"/>
                </a:schemeClr>
              </a:solidFill>
              <a:latin typeface="+mn-ea"/>
              <a:cs typeface="+mn-ea"/>
            </a:endParaRPr>
          </a:p>
        </p:txBody>
      </p:sp>
      <p:sp>
        <p:nvSpPr>
          <p:cNvPr id="11" name="矩形 10"/>
          <p:cNvSpPr/>
          <p:nvPr>
            <p:custDataLst>
              <p:tags r:id="rId9"/>
            </p:custDataLst>
          </p:nvPr>
        </p:nvSpPr>
        <p:spPr>
          <a:xfrm>
            <a:off x="5000389" y="1904903"/>
            <a:ext cx="2754227" cy="824804"/>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000" b="1">
                <a:solidFill>
                  <a:schemeClr val="accent1"/>
                </a:solidFill>
                <a:latin typeface="+mn-ea"/>
                <a:cs typeface="+mn-ea"/>
              </a:rPr>
              <a:t>误报率</a:t>
            </a:r>
            <a:endParaRPr lang="zh-CN" altLang="en-US" sz="2000" b="1">
              <a:solidFill>
                <a:schemeClr val="accent1"/>
              </a:solidFill>
              <a:latin typeface="+mn-ea"/>
              <a:cs typeface="+mn-ea"/>
            </a:endParaRPr>
          </a:p>
        </p:txBody>
      </p:sp>
      <p:sp>
        <p:nvSpPr>
          <p:cNvPr id="20" name="矩形 19"/>
          <p:cNvSpPr/>
          <p:nvPr>
            <p:custDataLst>
              <p:tags r:id="rId10"/>
            </p:custDataLst>
          </p:nvPr>
        </p:nvSpPr>
        <p:spPr>
          <a:xfrm>
            <a:off x="5000389" y="4897461"/>
            <a:ext cx="2754227" cy="935429"/>
          </a:xfrm>
          <a:prstGeom prst="rect">
            <a:avLst/>
          </a:prstGeom>
          <a:noFill/>
        </p:spPr>
        <p:txBody>
          <a:bodyPr wrap="square" lIns="0" tIns="0" rIns="0" bIns="0" rtlCol="0" anchor="t" anchorCtr="0">
            <a:noAutofit/>
          </a:bodyPr>
          <a:p>
            <a:pPr>
              <a:lnSpc>
                <a:spcPct val="150000"/>
              </a:lnSpc>
              <a:spcBef>
                <a:spcPct val="0"/>
              </a:spcBef>
              <a:spcAft>
                <a:spcPct val="0"/>
              </a:spcAft>
            </a:pPr>
            <a:r>
              <a:rPr lang="zh-CN" altLang="en-US">
                <a:ln>
                  <a:noFill/>
                  <a:prstDash val="sysDot"/>
                </a:ln>
                <a:solidFill>
                  <a:schemeClr val="tx1">
                    <a:lumMod val="85000"/>
                    <a:lumOff val="15000"/>
                  </a:schemeClr>
                </a:solidFill>
                <a:latin typeface="+mn-ea"/>
                <a:cs typeface="+mn-ea"/>
              </a:rPr>
              <a:t>通过在不同质量的视频上测试，鲁棒性指标评估检测算法在各种条件下的有效性。</a:t>
            </a:r>
            <a:endParaRPr lang="zh-CN" altLang="en-US">
              <a:ln>
                <a:noFill/>
                <a:prstDash val="sysDot"/>
              </a:ln>
              <a:solidFill>
                <a:schemeClr val="tx1">
                  <a:lumMod val="85000"/>
                  <a:lumOff val="15000"/>
                </a:schemeClr>
              </a:solidFill>
              <a:latin typeface="+mn-ea"/>
              <a:cs typeface="+mn-ea"/>
            </a:endParaRPr>
          </a:p>
        </p:txBody>
      </p:sp>
      <p:sp>
        <p:nvSpPr>
          <p:cNvPr id="21" name="矩形 20"/>
          <p:cNvSpPr/>
          <p:nvPr>
            <p:custDataLst>
              <p:tags r:id="rId11"/>
            </p:custDataLst>
          </p:nvPr>
        </p:nvSpPr>
        <p:spPr>
          <a:xfrm>
            <a:off x="5000389" y="4004330"/>
            <a:ext cx="2754227" cy="824804"/>
          </a:xfrm>
          <a:prstGeom prst="rect">
            <a:avLst/>
          </a:prstGeom>
          <a:noFill/>
        </p:spPr>
        <p:txBody>
          <a:bodyPr wrap="square" lIns="0" tIns="0" rIns="0" bIns="0" rtlCol="0" anchor="b">
            <a:noAutofit/>
          </a:bodyPr>
          <a:p>
            <a:pPr>
              <a:spcBef>
                <a:spcPct val="0"/>
              </a:spcBef>
              <a:spcAft>
                <a:spcPct val="0"/>
              </a:spcAft>
              <a:buClr>
                <a:schemeClr val="accent1"/>
              </a:buClr>
              <a:buSzPct val="70000"/>
            </a:pPr>
            <a:r>
              <a:rPr lang="zh-CN" altLang="en-US" sz="2000" b="1">
                <a:solidFill>
                  <a:schemeClr val="accent1"/>
                </a:solidFill>
                <a:latin typeface="+mn-ea"/>
                <a:cs typeface="+mn-ea"/>
              </a:rPr>
              <a:t>鲁棒性测试</a:t>
            </a:r>
            <a:endParaRPr lang="zh-CN" altLang="en-US" sz="2000" b="1">
              <a:solidFill>
                <a:schemeClr val="accent1"/>
              </a:solidFill>
              <a:latin typeface="+mn-ea"/>
              <a:cs typeface="+mn-ea"/>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a:t>指标优化方向</a:t>
            </a:r>
            <a:endParaRPr lang="zh-CN" altLang="en-US"/>
          </a:p>
        </p:txBody>
      </p:sp>
      <p:sp>
        <p:nvSpPr>
          <p:cNvPr id="8" name="矩形 7"/>
          <p:cNvSpPr/>
          <p:nvPr>
            <p:custDataLst>
              <p:tags r:id="rId2"/>
            </p:custDataLst>
          </p:nvPr>
        </p:nvSpPr>
        <p:spPr>
          <a:xfrm>
            <a:off x="901061" y="3515649"/>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sz="1600" kern="0">
                <a:ln>
                  <a:noFill/>
                  <a:prstDash val="sysDot"/>
                </a:ln>
                <a:solidFill>
                  <a:schemeClr val="tx1">
                    <a:lumMod val="85000"/>
                    <a:lumOff val="15000"/>
                  </a:schemeClr>
                </a:solidFill>
                <a:latin typeface="+mn-ea"/>
                <a:cs typeface="+mn-ea"/>
              </a:rPr>
              <a:t>优化算法以减少检测时间，实现快速响应，适用于实时监控和大规模数据处理。</a:t>
            </a:r>
            <a:endParaRPr lang="zh-CN" altLang="en-US" sz="1600" kern="0">
              <a:ln>
                <a:noFill/>
                <a:prstDash val="sysDot"/>
              </a:ln>
              <a:solidFill>
                <a:schemeClr val="tx1">
                  <a:lumMod val="85000"/>
                  <a:lumOff val="15000"/>
                </a:schemeClr>
              </a:solidFill>
              <a:latin typeface="+mn-ea"/>
              <a:cs typeface="+mn-ea"/>
            </a:endParaRPr>
          </a:p>
        </p:txBody>
      </p:sp>
      <p:sp>
        <p:nvSpPr>
          <p:cNvPr id="9" name="矩形 8"/>
          <p:cNvSpPr/>
          <p:nvPr>
            <p:custDataLst>
              <p:tags r:id="rId3"/>
            </p:custDataLst>
          </p:nvPr>
        </p:nvSpPr>
        <p:spPr>
          <a:xfrm>
            <a:off x="899156" y="2859073"/>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提高检测速度</a:t>
            </a:r>
            <a:endParaRPr lang="zh-CN" altLang="en-US" sz="1700" b="1" kern="0">
              <a:solidFill>
                <a:schemeClr val="accent1"/>
              </a:solidFill>
              <a:latin typeface="+mn-ea"/>
              <a:cs typeface="+mn-ea"/>
            </a:endParaRPr>
          </a:p>
        </p:txBody>
      </p:sp>
      <p:sp>
        <p:nvSpPr>
          <p:cNvPr id="13" name="矩形 12"/>
          <p:cNvSpPr/>
          <p:nvPr>
            <p:custDataLst>
              <p:tags r:id="rId4"/>
            </p:custDataLst>
          </p:nvPr>
        </p:nvSpPr>
        <p:spPr>
          <a:xfrm>
            <a:off x="901061"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01</a:t>
            </a:r>
            <a:endParaRPr lang="zh-CN" altLang="en-US" sz="7200" b="1" kern="0">
              <a:solidFill>
                <a:schemeClr val="accent1"/>
              </a:solidFill>
              <a:latin typeface="+mn-ea"/>
              <a:cs typeface="+mn-ea"/>
            </a:endParaRPr>
          </a:p>
        </p:txBody>
      </p:sp>
      <p:sp>
        <p:nvSpPr>
          <p:cNvPr id="16" name="矩形 15"/>
          <p:cNvSpPr/>
          <p:nvPr>
            <p:custDataLst>
              <p:tags r:id="rId5"/>
            </p:custDataLst>
          </p:nvPr>
        </p:nvSpPr>
        <p:spPr>
          <a:xfrm>
            <a:off x="3707069" y="3584229"/>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kern="0">
                <a:ln>
                  <a:noFill/>
                  <a:prstDash val="sysDot"/>
                </a:ln>
                <a:solidFill>
                  <a:schemeClr val="tx1">
                    <a:lumMod val="85000"/>
                    <a:lumOff val="15000"/>
                  </a:schemeClr>
                </a:solidFill>
                <a:latin typeface="+mn-ea"/>
                <a:cs typeface="+mn-ea"/>
              </a:rPr>
              <a:t>通过多样化的训练数据集，提升模型对未知Deepfake视频的识别能力，减少误报和漏报。</a:t>
            </a:r>
            <a:endParaRPr lang="zh-CN" altLang="en-US" kern="0">
              <a:ln>
                <a:noFill/>
                <a:prstDash val="sysDot"/>
              </a:ln>
              <a:solidFill>
                <a:schemeClr val="tx1">
                  <a:lumMod val="85000"/>
                  <a:lumOff val="15000"/>
                </a:schemeClr>
              </a:solidFill>
              <a:latin typeface="+mn-ea"/>
              <a:cs typeface="+mn-ea"/>
            </a:endParaRPr>
          </a:p>
        </p:txBody>
      </p:sp>
      <p:sp>
        <p:nvSpPr>
          <p:cNvPr id="17" name="矩形 16"/>
          <p:cNvSpPr/>
          <p:nvPr>
            <p:custDataLst>
              <p:tags r:id="rId6"/>
            </p:custDataLst>
          </p:nvPr>
        </p:nvSpPr>
        <p:spPr>
          <a:xfrm>
            <a:off x="3706434" y="292447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增强泛化能力</a:t>
            </a:r>
            <a:endParaRPr lang="zh-CN" altLang="en-US" sz="1700" b="1" kern="0">
              <a:solidFill>
                <a:schemeClr val="accent1"/>
              </a:solidFill>
              <a:latin typeface="+mn-ea"/>
              <a:cs typeface="+mn-ea"/>
            </a:endParaRPr>
          </a:p>
        </p:txBody>
      </p:sp>
      <p:sp>
        <p:nvSpPr>
          <p:cNvPr id="18" name="矩形 17"/>
          <p:cNvSpPr/>
          <p:nvPr>
            <p:custDataLst>
              <p:tags r:id="rId7"/>
            </p:custDataLst>
          </p:nvPr>
        </p:nvSpPr>
        <p:spPr>
          <a:xfrm>
            <a:off x="3707704"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dirty="0">
                <a:solidFill>
                  <a:schemeClr val="accent1"/>
                </a:solidFill>
                <a:latin typeface="+mn-ea"/>
                <a:cs typeface="+mn-ea"/>
              </a:rPr>
              <a:t>02</a:t>
            </a:r>
            <a:endParaRPr lang="zh-CN" altLang="en-US" sz="7200" b="1" kern="0" dirty="0">
              <a:solidFill>
                <a:schemeClr val="accent1"/>
              </a:solidFill>
              <a:latin typeface="+mn-ea"/>
              <a:cs typeface="+mn-ea"/>
            </a:endParaRPr>
          </a:p>
        </p:txBody>
      </p:sp>
      <p:sp>
        <p:nvSpPr>
          <p:cNvPr id="20" name="矩形 19"/>
          <p:cNvSpPr/>
          <p:nvPr>
            <p:custDataLst>
              <p:tags r:id="rId8"/>
            </p:custDataLst>
          </p:nvPr>
        </p:nvSpPr>
        <p:spPr>
          <a:xfrm>
            <a:off x="6513712" y="373726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kern="0">
                <a:ln>
                  <a:noFill/>
                  <a:prstDash val="sysDot"/>
                </a:ln>
                <a:solidFill>
                  <a:schemeClr val="tx1">
                    <a:lumMod val="85000"/>
                    <a:lumOff val="15000"/>
                  </a:schemeClr>
                </a:solidFill>
                <a:latin typeface="+mn-ea"/>
                <a:cs typeface="+mn-ea"/>
              </a:rPr>
              <a:t>改进检测算法，减少对真实人脸视频的错误判断，提高检测的准确性。</a:t>
            </a:r>
            <a:endParaRPr lang="zh-CN" altLang="en-US" kern="0">
              <a:ln>
                <a:noFill/>
                <a:prstDash val="sysDot"/>
              </a:ln>
              <a:solidFill>
                <a:schemeClr val="tx1">
                  <a:lumMod val="85000"/>
                  <a:lumOff val="15000"/>
                </a:schemeClr>
              </a:solidFill>
              <a:latin typeface="+mn-ea"/>
              <a:cs typeface="+mn-ea"/>
            </a:endParaRPr>
          </a:p>
        </p:txBody>
      </p:sp>
      <p:sp>
        <p:nvSpPr>
          <p:cNvPr id="21" name="矩形 20"/>
          <p:cNvSpPr/>
          <p:nvPr>
            <p:custDataLst>
              <p:tags r:id="rId9"/>
            </p:custDataLst>
          </p:nvPr>
        </p:nvSpPr>
        <p:spPr>
          <a:xfrm>
            <a:off x="6513077" y="292447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降低误报率</a:t>
            </a:r>
            <a:endParaRPr lang="zh-CN" altLang="en-US" sz="1700" b="1" kern="0">
              <a:solidFill>
                <a:schemeClr val="accent1"/>
              </a:solidFill>
              <a:latin typeface="+mn-ea"/>
              <a:cs typeface="+mn-ea"/>
            </a:endParaRPr>
          </a:p>
        </p:txBody>
      </p:sp>
      <p:sp>
        <p:nvSpPr>
          <p:cNvPr id="22" name="矩形 21"/>
          <p:cNvSpPr/>
          <p:nvPr>
            <p:custDataLst>
              <p:tags r:id="rId10"/>
            </p:custDataLst>
          </p:nvPr>
        </p:nvSpPr>
        <p:spPr>
          <a:xfrm>
            <a:off x="6513712"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dirty="0">
                <a:solidFill>
                  <a:schemeClr val="accent1"/>
                </a:solidFill>
                <a:latin typeface="+mn-ea"/>
                <a:cs typeface="+mn-ea"/>
              </a:rPr>
              <a:t>03</a:t>
            </a:r>
            <a:endParaRPr lang="zh-CN" altLang="en-US" sz="7200" b="1" kern="0" dirty="0">
              <a:solidFill>
                <a:schemeClr val="accent1"/>
              </a:solidFill>
              <a:latin typeface="+mn-ea"/>
              <a:cs typeface="+mn-ea"/>
            </a:endParaRPr>
          </a:p>
        </p:txBody>
      </p:sp>
      <p:sp>
        <p:nvSpPr>
          <p:cNvPr id="24" name="矩形 23"/>
          <p:cNvSpPr/>
          <p:nvPr>
            <p:custDataLst>
              <p:tags r:id="rId11"/>
            </p:custDataLst>
          </p:nvPr>
        </p:nvSpPr>
        <p:spPr>
          <a:xfrm>
            <a:off x="9336864" y="3737264"/>
            <a:ext cx="2159956" cy="1132297"/>
          </a:xfrm>
          <a:prstGeom prst="rect">
            <a:avLst/>
          </a:prstGeom>
          <a:ln>
            <a:noFill/>
            <a:prstDash val="sysDash"/>
          </a:ln>
        </p:spPr>
        <p:txBody>
          <a:bodyPr vert="horz" wrap="square" lIns="0" tIns="0" rIns="0" bIns="0" rtlCol="0">
            <a:noAutofit/>
          </a:bodyPr>
          <a:p>
            <a:pPr>
              <a:lnSpc>
                <a:spcPct val="150000"/>
              </a:lnSpc>
              <a:spcBef>
                <a:spcPct val="0"/>
              </a:spcBef>
              <a:spcAft>
                <a:spcPct val="0"/>
              </a:spcAft>
            </a:pPr>
            <a:r>
              <a:rPr lang="zh-CN" altLang="en-US" kern="0">
                <a:ln>
                  <a:noFill/>
                  <a:prstDash val="sysDot"/>
                </a:ln>
                <a:solidFill>
                  <a:schemeClr val="tx1">
                    <a:lumMod val="85000"/>
                    <a:lumOff val="15000"/>
                  </a:schemeClr>
                </a:solidFill>
                <a:latin typeface="+mn-ea"/>
                <a:cs typeface="+mn-ea"/>
              </a:rPr>
              <a:t>采用更先进的特征提取技术，提高对Deepfake篡改痕迹的识别精度，确保检测结果的可靠性。</a:t>
            </a:r>
            <a:endParaRPr lang="zh-CN" altLang="en-US" kern="0">
              <a:ln>
                <a:noFill/>
                <a:prstDash val="sysDot"/>
              </a:ln>
              <a:solidFill>
                <a:schemeClr val="tx1">
                  <a:lumMod val="85000"/>
                  <a:lumOff val="15000"/>
                </a:schemeClr>
              </a:solidFill>
              <a:latin typeface="+mn-ea"/>
              <a:cs typeface="+mn-ea"/>
            </a:endParaRPr>
          </a:p>
        </p:txBody>
      </p:sp>
      <p:sp>
        <p:nvSpPr>
          <p:cNvPr id="25" name="矩形 24"/>
          <p:cNvSpPr/>
          <p:nvPr>
            <p:custDataLst>
              <p:tags r:id="rId12"/>
            </p:custDataLst>
          </p:nvPr>
        </p:nvSpPr>
        <p:spPr>
          <a:xfrm>
            <a:off x="9319084" y="2924478"/>
            <a:ext cx="2159956" cy="591101"/>
          </a:xfrm>
          <a:prstGeom prst="rect">
            <a:avLst/>
          </a:prstGeom>
          <a:noFill/>
        </p:spPr>
        <p:txBody>
          <a:bodyPr wrap="square" lIns="0" tIns="0" rIns="0" bIns="0" rtlCol="0" anchor="b">
            <a:noAutofit/>
          </a:bodyPr>
          <a:p>
            <a:pPr>
              <a:spcBef>
                <a:spcPct val="0"/>
              </a:spcBef>
              <a:spcAft>
                <a:spcPct val="0"/>
              </a:spcAft>
            </a:pPr>
            <a:r>
              <a:rPr lang="zh-CN" altLang="en-US" sz="1700" b="1" kern="0">
                <a:solidFill>
                  <a:schemeClr val="accent1"/>
                </a:solidFill>
                <a:latin typeface="+mn-ea"/>
                <a:cs typeface="+mn-ea"/>
              </a:rPr>
              <a:t>提升检测精度</a:t>
            </a:r>
            <a:endParaRPr lang="zh-CN" altLang="en-US" sz="1700" b="1" kern="0">
              <a:solidFill>
                <a:schemeClr val="accent1"/>
              </a:solidFill>
              <a:latin typeface="+mn-ea"/>
              <a:cs typeface="+mn-ea"/>
            </a:endParaRPr>
          </a:p>
        </p:txBody>
      </p:sp>
      <p:sp>
        <p:nvSpPr>
          <p:cNvPr id="26" name="矩形 25"/>
          <p:cNvSpPr/>
          <p:nvPr>
            <p:custDataLst>
              <p:tags r:id="rId13"/>
            </p:custDataLst>
          </p:nvPr>
        </p:nvSpPr>
        <p:spPr>
          <a:xfrm>
            <a:off x="9336864" y="1801824"/>
            <a:ext cx="1325181" cy="991613"/>
          </a:xfrm>
          <a:prstGeom prst="rect">
            <a:avLst/>
          </a:prstGeom>
          <a:noFill/>
        </p:spPr>
        <p:txBody>
          <a:bodyPr wrap="none" lIns="0" tIns="0" rIns="0" bIns="0" rtlCol="0" anchor="ctr">
            <a:normAutofit fontScale="80000"/>
          </a:bodyPr>
          <a:p>
            <a:pPr>
              <a:spcBef>
                <a:spcPct val="0"/>
              </a:spcBef>
              <a:spcAft>
                <a:spcPct val="0"/>
              </a:spcAft>
            </a:pPr>
            <a:r>
              <a:rPr lang="en-US" altLang="zh-CN" sz="7200" b="1" kern="0">
                <a:solidFill>
                  <a:schemeClr val="accent1"/>
                </a:solidFill>
                <a:latin typeface="+mn-ea"/>
                <a:cs typeface="+mn-ea"/>
              </a:rPr>
              <a:t>04</a:t>
            </a:r>
            <a:endParaRPr lang="zh-CN" altLang="en-US" sz="7200" b="1" kern="0">
              <a:solidFill>
                <a:schemeClr val="accent1"/>
              </a:solidFill>
              <a:latin typeface="+mn-ea"/>
              <a:cs typeface="+mn-ea"/>
            </a:endParaRPr>
          </a:p>
        </p:txBody>
      </p:sp>
      <p:cxnSp>
        <p:nvCxnSpPr>
          <p:cNvPr id="35" name="直接连接符 34"/>
          <p:cNvCxnSpPr/>
          <p:nvPr>
            <p:custDataLst>
              <p:tags r:id="rId14"/>
            </p:custDataLst>
          </p:nvPr>
        </p:nvCxnSpPr>
        <p:spPr>
          <a:xfrm>
            <a:off x="695960"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15"/>
            </p:custDataLst>
          </p:nvPr>
        </p:nvCxnSpPr>
        <p:spPr>
          <a:xfrm>
            <a:off x="3501968"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6"/>
            </p:custDataLst>
          </p:nvPr>
        </p:nvCxnSpPr>
        <p:spPr>
          <a:xfrm>
            <a:off x="6307976"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17"/>
            </p:custDataLst>
          </p:nvPr>
        </p:nvCxnSpPr>
        <p:spPr>
          <a:xfrm>
            <a:off x="9131763" y="1801824"/>
            <a:ext cx="0" cy="4427087"/>
          </a:xfrm>
          <a:prstGeom prst="line">
            <a:avLst/>
          </a:prstGeom>
          <a:ln w="19050">
            <a:solidFill>
              <a:schemeClr val="tx1">
                <a:lumMod val="40000"/>
                <a:lumOff val="60000"/>
                <a:alpha val="30000"/>
              </a:schemeClr>
            </a:solidFill>
          </a:ln>
          <a:effectLst/>
        </p:spPr>
        <p:style>
          <a:lnRef idx="1">
            <a:schemeClr val="accent1"/>
          </a:lnRef>
          <a:fillRef idx="0">
            <a:schemeClr val="accent1"/>
          </a:fillRef>
          <a:effectRef idx="0">
            <a:schemeClr val="accent1"/>
          </a:effectRef>
          <a:fontRef idx="minor">
            <a:schemeClr val="tx1"/>
          </a:fontRef>
        </p:style>
      </p:cxnSp>
    </p:spTree>
    <p:custDataLst>
      <p:tags r:id="rId18"/>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主流Deepfake检测方法</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THREE</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II. Deepfake检测方法：三大主流方向：A. 基于时空域分析的方法</a:t>
            </a:r>
            <a:endParaRPr lang="zh-CN" altLang="en-US"/>
          </a:p>
        </p:txBody>
      </p:sp>
      <p:sp>
        <p:nvSpPr>
          <p:cNvPr id="3" name="内容占位符 2"/>
          <p:cNvSpPr>
            <a:spLocks noGrp="1"/>
          </p:cNvSpPr>
          <p:nvPr>
            <p:ph idx="1"/>
          </p:nvPr>
        </p:nvSpPr>
        <p:spPr/>
        <p:txBody>
          <a:bodyPr>
            <a:normAutofit fontScale="90000" lnSpcReduction="10000"/>
          </a:bodyPr>
          <a:p>
            <a:r>
              <a:rPr lang="zh-CN" altLang="en-US"/>
              <a:t>由于</a:t>
            </a:r>
            <a:r>
              <a:rPr lang="en-US" altLang="zh-CN"/>
              <a:t>Deepfake</a:t>
            </a:r>
            <a:r>
              <a:rPr lang="zh-CN" altLang="en-US"/>
              <a:t>生成的人脸图像是单帧生成的，在帧之间就会不具有时间相关性。因此就留下了检测的线索。这类方法关注视频帧内部或帧间的时空一致性、伪影或特定模式。</a:t>
            </a:r>
            <a:endParaRPr lang="zh-CN" altLang="en-US"/>
          </a:p>
          <a:p>
            <a:r>
              <a:rPr lang="zh-CN" altLang="en-US"/>
              <a:t>近年来，伪造人脸视频检测方法逐渐从单一的空间域或时间域分析，发展为融合多维度特征的综合建模策略。其中，基于时空信息的不一致性建模已成为主流方向之一。这类方法通过捕捉真实人脸视频在时空维度上的自然关联性和规律性，识别伪造视频因合成缺陷导致的帧内（空间）或帧间（时间）时空不一致性或异常。</a:t>
            </a:r>
            <a:endParaRPr lang="zh-CN" altLang="en-US"/>
          </a:p>
          <a:p>
            <a:r>
              <a:rPr lang="zh-CN" altLang="en-US"/>
              <a:t>相较于早期仅关注静态图像的空间特征或视频帧间的时间变化，最新研究普遍倾向于联合建模空间与时间维度，以捕捉深度伪造视频中潜在的细微时空不一致性。此外，除传统时空特征融合外，近年研究亦引入频率域分析，通过提取图像或视频的频率特征，进一步提升模型对伪造痕迹的感知和检测准确率</a:t>
            </a:r>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a:xfrm>
            <a:off x="696000" y="394405"/>
            <a:ext cx="10800000" cy="792000"/>
          </a:xfrm>
        </p:spPr>
        <p:txBody>
          <a:bodyPr/>
          <a:lstStyle/>
          <a:p>
            <a:r>
              <a:rPr lang="zh-CN" altLang="en-US" dirty="0"/>
              <a:t>时空域分析方法</a:t>
            </a:r>
            <a:endParaRPr lang="zh-CN" altLang="en-US" dirty="0"/>
          </a:p>
        </p:txBody>
      </p:sp>
      <p:sp>
        <p:nvSpPr>
          <p:cNvPr id="5" name="圆角矩形 3"/>
          <p:cNvSpPr/>
          <p:nvPr>
            <p:custDataLst>
              <p:tags r:id="rId2"/>
            </p:custDataLst>
          </p:nvPr>
        </p:nvSpPr>
        <p:spPr>
          <a:xfrm>
            <a:off x="1085553" y="1632317"/>
            <a:ext cx="3227814" cy="4282568"/>
          </a:xfrm>
          <a:prstGeom prst="roundRect">
            <a:avLst>
              <a:gd name="adj" fmla="val 5500"/>
            </a:avLst>
          </a:prstGeom>
          <a:gradFill flip="none" rotWithShape="1">
            <a:gsLst>
              <a:gs pos="0">
                <a:schemeClr val="accent1"/>
              </a:gs>
              <a:gs pos="100000">
                <a:schemeClr val="accent1">
                  <a:lumMod val="90000"/>
                </a:schemeClr>
              </a:gs>
            </a:gsLst>
            <a:lin ang="21594000" scaled="0"/>
            <a:tileRect/>
          </a:gra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000">
              <a:latin typeface="+mn-ea"/>
            </a:endParaRPr>
          </a:p>
        </p:txBody>
      </p:sp>
      <p:sp>
        <p:nvSpPr>
          <p:cNvPr id="6" name="矩形 5"/>
          <p:cNvSpPr/>
          <p:nvPr>
            <p:custDataLst>
              <p:tags r:id="rId3"/>
            </p:custDataLst>
          </p:nvPr>
        </p:nvSpPr>
        <p:spPr>
          <a:xfrm>
            <a:off x="1518630" y="3929781"/>
            <a:ext cx="2361155" cy="1780979"/>
          </a:xfrm>
          <a:prstGeom prst="rect">
            <a:avLst/>
          </a:prstGeom>
        </p:spPr>
        <p:txBody>
          <a:bodyPr wrap="square" lIns="0" tIns="0" rIns="0" bIns="0">
            <a:noAutofit/>
          </a:bodyPr>
          <a:p>
            <a:pPr algn="just">
              <a:lnSpc>
                <a:spcPct val="140000"/>
              </a:lnSpc>
              <a:spcBef>
                <a:spcPct val="0"/>
              </a:spcBef>
              <a:spcAft>
                <a:spcPct val="0"/>
              </a:spcAft>
            </a:pPr>
            <a:r>
              <a:rPr lang="zh-CN" altLang="en-US" sz="1000" dirty="0">
                <a:solidFill>
                  <a:schemeClr val="lt1">
                    <a:lumMod val="100000"/>
                  </a:schemeClr>
                </a:solidFill>
                <a:latin typeface="+mn-ea"/>
                <a:cs typeface="+mn-ea"/>
              </a:rPr>
              <a:t>以往时空域研究常采用</a:t>
            </a:r>
            <a:r>
              <a:rPr lang="en-US" altLang="zh-CN" sz="1000" dirty="0">
                <a:solidFill>
                  <a:schemeClr val="lt1">
                    <a:lumMod val="100000"/>
                  </a:schemeClr>
                </a:solidFill>
                <a:latin typeface="+mn-ea"/>
                <a:cs typeface="+mn-ea"/>
              </a:rPr>
              <a:t>CNN</a:t>
            </a:r>
            <a:r>
              <a:rPr lang="zh-CN" altLang="en-US" sz="1000" dirty="0">
                <a:solidFill>
                  <a:schemeClr val="lt1">
                    <a:lumMod val="100000"/>
                  </a:schemeClr>
                </a:solidFill>
                <a:latin typeface="+mn-ea"/>
                <a:cs typeface="+mn-ea"/>
              </a:rPr>
              <a:t>进行空间特征提取（如</a:t>
            </a:r>
            <a:r>
              <a:rPr lang="en-US" altLang="zh-CN" sz="1000" dirty="0">
                <a:solidFill>
                  <a:schemeClr val="lt1">
                    <a:lumMod val="100000"/>
                  </a:schemeClr>
                </a:solidFill>
                <a:latin typeface="+mn-ea"/>
                <a:cs typeface="+mn-ea"/>
              </a:rPr>
              <a:t>Xception</a:t>
            </a:r>
            <a:r>
              <a:rPr lang="zh-CN" altLang="en-US" sz="1000" dirty="0">
                <a:solidFill>
                  <a:schemeClr val="lt1">
                    <a:lumMod val="100000"/>
                  </a:schemeClr>
                </a:solidFill>
                <a:latin typeface="+mn-ea"/>
                <a:cs typeface="+mn-ea"/>
              </a:rPr>
              <a:t>、</a:t>
            </a:r>
            <a:r>
              <a:rPr lang="en-US" altLang="zh-CN" sz="1000" dirty="0">
                <a:solidFill>
                  <a:schemeClr val="lt1">
                    <a:lumMod val="100000"/>
                  </a:schemeClr>
                </a:solidFill>
                <a:latin typeface="+mn-ea"/>
                <a:cs typeface="+mn-ea"/>
              </a:rPr>
              <a:t>ResNet</a:t>
            </a:r>
            <a:r>
              <a:rPr lang="zh-CN" altLang="en-US" sz="1000" dirty="0">
                <a:solidFill>
                  <a:schemeClr val="lt1">
                    <a:lumMod val="100000"/>
                  </a:schemeClr>
                </a:solidFill>
                <a:latin typeface="+mn-ea"/>
                <a:cs typeface="+mn-ea"/>
              </a:rPr>
              <a:t>、</a:t>
            </a:r>
            <a:r>
              <a:rPr lang="en-US" altLang="zh-CN" sz="1000" dirty="0">
                <a:solidFill>
                  <a:schemeClr val="lt1">
                    <a:lumMod val="100000"/>
                  </a:schemeClr>
                </a:solidFill>
                <a:latin typeface="+mn-ea"/>
                <a:cs typeface="+mn-ea"/>
              </a:rPr>
              <a:t>InceptionNet</a:t>
            </a:r>
            <a:r>
              <a:rPr lang="zh-CN" altLang="en-US" sz="1000" dirty="0">
                <a:solidFill>
                  <a:schemeClr val="lt1">
                    <a:lumMod val="100000"/>
                  </a:schemeClr>
                </a:solidFill>
                <a:latin typeface="+mn-ea"/>
                <a:cs typeface="+mn-ea"/>
              </a:rPr>
              <a:t>），</a:t>
            </a:r>
            <a:r>
              <a:rPr lang="en-US" altLang="zh-CN" sz="1000" dirty="0">
                <a:solidFill>
                  <a:schemeClr val="lt1">
                    <a:lumMod val="100000"/>
                  </a:schemeClr>
                </a:solidFill>
                <a:latin typeface="+mn-ea"/>
                <a:cs typeface="+mn-ea"/>
              </a:rPr>
              <a:t>RNN</a:t>
            </a:r>
            <a:r>
              <a:rPr lang="zh-CN" altLang="en-US" sz="1000" dirty="0">
                <a:solidFill>
                  <a:schemeClr val="lt1">
                    <a:lumMod val="100000"/>
                  </a:schemeClr>
                </a:solidFill>
                <a:latin typeface="+mn-ea"/>
                <a:cs typeface="+mn-ea"/>
              </a:rPr>
              <a:t>进行时间特征提取（如</a:t>
            </a:r>
            <a:r>
              <a:rPr lang="en-US" altLang="zh-CN" sz="1000" dirty="0">
                <a:solidFill>
                  <a:schemeClr val="lt1">
                    <a:lumMod val="100000"/>
                  </a:schemeClr>
                </a:solidFill>
                <a:latin typeface="+mn-ea"/>
                <a:cs typeface="+mn-ea"/>
              </a:rPr>
              <a:t>LSTM</a:t>
            </a:r>
            <a:r>
              <a:rPr lang="zh-CN" altLang="en-US" sz="1000" dirty="0">
                <a:solidFill>
                  <a:schemeClr val="lt1">
                    <a:lumMod val="100000"/>
                  </a:schemeClr>
                </a:solidFill>
                <a:latin typeface="+mn-ea"/>
                <a:cs typeface="+mn-ea"/>
              </a:rPr>
              <a:t>），形成</a:t>
            </a:r>
            <a:r>
              <a:rPr lang="en-US" altLang="zh-CN" sz="1000" dirty="0">
                <a:solidFill>
                  <a:schemeClr val="lt1">
                    <a:lumMod val="100000"/>
                  </a:schemeClr>
                </a:solidFill>
                <a:latin typeface="+mn-ea"/>
                <a:cs typeface="+mn-ea"/>
              </a:rPr>
              <a:t>“CNN+RNN”</a:t>
            </a:r>
            <a:r>
              <a:rPr lang="zh-CN" altLang="en-US" sz="1000" dirty="0">
                <a:solidFill>
                  <a:schemeClr val="lt1">
                    <a:lumMod val="100000"/>
                  </a:schemeClr>
                </a:solidFill>
                <a:latin typeface="+mn-ea"/>
                <a:cs typeface="+mn-ea"/>
              </a:rPr>
              <a:t>架构。随着深度学习技术发展，研究者们逐渐引入更先进的神经网络架构，如</a:t>
            </a:r>
            <a:r>
              <a:rPr lang="en-US" altLang="zh-CN" sz="1000" dirty="0">
                <a:solidFill>
                  <a:schemeClr val="lt1">
                    <a:lumMod val="100000"/>
                  </a:schemeClr>
                </a:solidFill>
                <a:latin typeface="+mn-ea"/>
                <a:cs typeface="+mn-ea"/>
              </a:rPr>
              <a:t>Transformer</a:t>
            </a:r>
            <a:r>
              <a:rPr lang="zh-CN" altLang="en-US" sz="1000" dirty="0">
                <a:solidFill>
                  <a:schemeClr val="lt1">
                    <a:lumMod val="100000"/>
                  </a:schemeClr>
                </a:solidFill>
                <a:latin typeface="+mn-ea"/>
                <a:cs typeface="+mn-ea"/>
              </a:rPr>
              <a:t>等，以实现时空特征的更深层次挖掘</a:t>
            </a:r>
            <a:r>
              <a:rPr lang="zh-CN" altLang="en-US" sz="1600" dirty="0">
                <a:solidFill>
                  <a:schemeClr val="lt1">
                    <a:lumMod val="100000"/>
                  </a:schemeClr>
                </a:solidFill>
                <a:latin typeface="+mn-ea"/>
                <a:cs typeface="+mn-ea"/>
              </a:rPr>
              <a:t>。</a:t>
            </a:r>
            <a:endParaRPr lang="zh-CN" altLang="en-US" sz="1600" dirty="0">
              <a:solidFill>
                <a:schemeClr val="lt1">
                  <a:lumMod val="100000"/>
                </a:schemeClr>
              </a:solidFill>
              <a:latin typeface="+mn-ea"/>
              <a:cs typeface="+mn-ea"/>
            </a:endParaRPr>
          </a:p>
        </p:txBody>
      </p:sp>
      <p:sp>
        <p:nvSpPr>
          <p:cNvPr id="10" name="矩形 9"/>
          <p:cNvSpPr/>
          <p:nvPr>
            <p:custDataLst>
              <p:tags r:id="rId4"/>
            </p:custDataLst>
          </p:nvPr>
        </p:nvSpPr>
        <p:spPr>
          <a:xfrm>
            <a:off x="1518630" y="3016638"/>
            <a:ext cx="2361155" cy="803921"/>
          </a:xfrm>
          <a:prstGeom prst="rect">
            <a:avLst/>
          </a:prstGeom>
          <a:noFill/>
        </p:spPr>
        <p:txBody>
          <a:bodyPr wrap="square" lIns="0" tIns="0" rIns="0" bIns="0" rtlCol="0" anchor="b" anchorCtr="0">
            <a:noAutofit/>
          </a:bodyPr>
          <a:p>
            <a:pPr algn="just">
              <a:spcBef>
                <a:spcPct val="0"/>
              </a:spcBef>
              <a:spcAft>
                <a:spcPct val="0"/>
              </a:spcAft>
            </a:pPr>
            <a:r>
              <a:rPr lang="zh-CN" altLang="en-US" sz="2000" b="1" dirty="0">
                <a:solidFill>
                  <a:schemeClr val="lt1">
                    <a:lumMod val="100000"/>
                  </a:schemeClr>
                </a:solidFill>
                <a:latin typeface="+mn-ea"/>
                <a:cs typeface="+mn-ea"/>
              </a:rPr>
              <a:t>深度学习驱动的时空特征学习</a:t>
            </a:r>
            <a:endParaRPr lang="zh-CN" altLang="en-US" sz="2000" b="1" dirty="0">
              <a:solidFill>
                <a:schemeClr val="lt1">
                  <a:lumMod val="100000"/>
                </a:schemeClr>
              </a:solidFill>
              <a:latin typeface="+mn-ea"/>
              <a:cs typeface="+mn-ea"/>
            </a:endParaRPr>
          </a:p>
        </p:txBody>
      </p:sp>
      <p:cxnSp>
        <p:nvCxnSpPr>
          <p:cNvPr id="12" name="直接连接符 5"/>
          <p:cNvCxnSpPr/>
          <p:nvPr>
            <p:custDataLst>
              <p:tags r:id="rId5"/>
            </p:custDataLst>
          </p:nvPr>
        </p:nvCxnSpPr>
        <p:spPr>
          <a:xfrm>
            <a:off x="1518630" y="2937897"/>
            <a:ext cx="261781" cy="1"/>
          </a:xfrm>
          <a:prstGeom prst="line">
            <a:avLst/>
          </a:prstGeom>
          <a:ln w="28575">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矩形 20"/>
          <p:cNvSpPr/>
          <p:nvPr>
            <p:custDataLst>
              <p:tags r:id="rId6"/>
            </p:custDataLst>
          </p:nvPr>
        </p:nvSpPr>
        <p:spPr>
          <a:xfrm>
            <a:off x="3115679" y="1949822"/>
            <a:ext cx="816016" cy="620564"/>
          </a:xfrm>
          <a:prstGeom prst="rect">
            <a:avLst/>
          </a:prstGeom>
          <a:noFill/>
        </p:spPr>
        <p:txBody>
          <a:bodyPr wrap="none" lIns="0" tIns="0" rIns="0" bIns="0">
            <a:noAutofit/>
          </a:bodyPr>
          <a:p>
            <a:pPr algn="r">
              <a:spcBef>
                <a:spcPct val="0"/>
              </a:spcBef>
              <a:spcAft>
                <a:spcPct val="0"/>
              </a:spcAft>
            </a:pPr>
            <a:r>
              <a:rPr lang="en-US" altLang="zh-CN" sz="3600" b="1">
                <a:solidFill>
                  <a:schemeClr val="lt1">
                    <a:lumMod val="100000"/>
                  </a:schemeClr>
                </a:solidFill>
                <a:latin typeface="+mn-ea"/>
                <a:cs typeface="+mn-ea"/>
              </a:rPr>
              <a:t>01</a:t>
            </a:r>
            <a:endParaRPr lang="zh-CN" altLang="en-US" sz="3600" b="1">
              <a:solidFill>
                <a:schemeClr val="lt1">
                  <a:lumMod val="100000"/>
                </a:schemeClr>
              </a:solidFill>
              <a:latin typeface="+mn-ea"/>
              <a:cs typeface="+mn-ea"/>
            </a:endParaRPr>
          </a:p>
        </p:txBody>
      </p:sp>
      <p:sp>
        <p:nvSpPr>
          <p:cNvPr id="22" name="圆角矩形 9"/>
          <p:cNvSpPr/>
          <p:nvPr>
            <p:custDataLst>
              <p:tags r:id="rId7"/>
            </p:custDataLst>
          </p:nvPr>
        </p:nvSpPr>
        <p:spPr>
          <a:xfrm>
            <a:off x="4863860" y="1960617"/>
            <a:ext cx="2736663" cy="3625092"/>
          </a:xfrm>
          <a:prstGeom prst="roundRect">
            <a:avLst>
              <a:gd name="adj" fmla="val 5500"/>
            </a:avLst>
          </a:prstGeom>
          <a:solidFill>
            <a:srgbClr val="FFFFFF"/>
          </a:soli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3" name="矩形 22"/>
          <p:cNvSpPr/>
          <p:nvPr>
            <p:custDataLst>
              <p:tags r:id="rId8"/>
            </p:custDataLst>
          </p:nvPr>
        </p:nvSpPr>
        <p:spPr>
          <a:xfrm>
            <a:off x="6424713" y="2208906"/>
            <a:ext cx="816016" cy="543020"/>
          </a:xfrm>
          <a:prstGeom prst="rect">
            <a:avLst/>
          </a:prstGeom>
          <a:noFill/>
        </p:spPr>
        <p:txBody>
          <a:bodyPr wrap="none" lIns="0" tIns="0" rIns="0" bIns="0">
            <a:noAutofit/>
          </a:bodyPr>
          <a:p>
            <a:pPr algn="r">
              <a:spcBef>
                <a:spcPct val="0"/>
              </a:spcBef>
              <a:spcAft>
                <a:spcPct val="0"/>
              </a:spcAft>
            </a:pPr>
            <a:r>
              <a:rPr lang="en-US" altLang="zh-CN" sz="2800" dirty="0">
                <a:solidFill>
                  <a:srgbClr val="BFBFBF"/>
                </a:solidFill>
                <a:latin typeface="+mn-ea"/>
                <a:cs typeface="+mn-ea"/>
              </a:rPr>
              <a:t>02</a:t>
            </a:r>
            <a:endParaRPr lang="zh-CN" altLang="en-US" sz="2800" dirty="0">
              <a:solidFill>
                <a:srgbClr val="BFBFBF"/>
              </a:solidFill>
              <a:latin typeface="+mn-ea"/>
              <a:cs typeface="+mn-ea"/>
            </a:endParaRPr>
          </a:p>
        </p:txBody>
      </p:sp>
      <p:cxnSp>
        <p:nvCxnSpPr>
          <p:cNvPr id="24" name="直接连接符 23"/>
          <p:cNvCxnSpPr/>
          <p:nvPr>
            <p:custDataLst>
              <p:tags r:id="rId9"/>
            </p:custDataLst>
          </p:nvPr>
        </p:nvCxnSpPr>
        <p:spPr>
          <a:xfrm>
            <a:off x="5220100" y="2744854"/>
            <a:ext cx="261781" cy="1"/>
          </a:xfrm>
          <a:prstGeom prst="line">
            <a:avLst/>
          </a:prstGeom>
          <a:ln w="28575">
            <a:solidFill>
              <a:srgbClr val="BFBFBF"/>
            </a:solidFill>
          </a:ln>
        </p:spPr>
        <p:style>
          <a:lnRef idx="1">
            <a:schemeClr val="accent1"/>
          </a:lnRef>
          <a:fillRef idx="0">
            <a:schemeClr val="accent1"/>
          </a:fillRef>
          <a:effectRef idx="0">
            <a:schemeClr val="accent1"/>
          </a:effectRef>
          <a:fontRef idx="minor">
            <a:schemeClr val="tx1"/>
          </a:fontRef>
        </p:style>
      </p:cxnSp>
      <p:sp>
        <p:nvSpPr>
          <p:cNvPr id="25" name="矩形 24"/>
          <p:cNvSpPr/>
          <p:nvPr>
            <p:custDataLst>
              <p:tags r:id="rId10"/>
            </p:custDataLst>
          </p:nvPr>
        </p:nvSpPr>
        <p:spPr>
          <a:xfrm>
            <a:off x="5220100" y="3546871"/>
            <a:ext cx="2024412" cy="1885137"/>
          </a:xfrm>
          <a:prstGeom prst="rect">
            <a:avLst/>
          </a:prstGeom>
        </p:spPr>
        <p:txBody>
          <a:bodyPr wrap="square" lIns="0" tIns="0" rIns="0" bIns="0">
            <a:noAutofit/>
          </a:bodyPr>
          <a:p>
            <a:pPr algn="just">
              <a:lnSpc>
                <a:spcPct val="130000"/>
              </a:lnSpc>
              <a:spcBef>
                <a:spcPct val="0"/>
              </a:spcBef>
              <a:spcAft>
                <a:spcPct val="0"/>
              </a:spcAft>
            </a:pPr>
            <a:r>
              <a:rPr lang="zh-CN" altLang="en-US" sz="1200" dirty="0">
                <a:solidFill>
                  <a:schemeClr val="dk1">
                    <a:lumMod val="80000"/>
                    <a:lumOff val="20000"/>
                  </a:schemeClr>
                </a:solidFill>
                <a:latin typeface="+mn-ea"/>
                <a:cs typeface="+mn-ea"/>
              </a:rPr>
              <a:t>近年来，随着人脸伪造检测研究深入，时空域特征分析逐步与其它维度信息（尤其是频率域）有机融合，通过多维度信息互补，显著提升模型对复杂伪造模式的泛化能力和鲁棒性</a:t>
            </a:r>
            <a:endParaRPr lang="zh-CN" altLang="en-US" sz="1200" dirty="0">
              <a:solidFill>
                <a:schemeClr val="dk1">
                  <a:lumMod val="80000"/>
                  <a:lumOff val="20000"/>
                </a:schemeClr>
              </a:solidFill>
              <a:latin typeface="+mn-ea"/>
              <a:cs typeface="+mn-ea"/>
            </a:endParaRPr>
          </a:p>
        </p:txBody>
      </p:sp>
      <p:sp>
        <p:nvSpPr>
          <p:cNvPr id="26" name="矩形 25"/>
          <p:cNvSpPr/>
          <p:nvPr>
            <p:custDataLst>
              <p:tags r:id="rId11"/>
            </p:custDataLst>
          </p:nvPr>
        </p:nvSpPr>
        <p:spPr>
          <a:xfrm>
            <a:off x="5220100" y="2954407"/>
            <a:ext cx="2024412" cy="512195"/>
          </a:xfrm>
          <a:prstGeom prst="rect">
            <a:avLst/>
          </a:prstGeom>
          <a:noFill/>
        </p:spPr>
        <p:txBody>
          <a:bodyPr wrap="square" lIns="0" tIns="0" rIns="0" bIns="0" rtlCol="0" anchor="b" anchorCtr="0">
            <a:noAutofit/>
          </a:bodyPr>
          <a:p>
            <a:pPr algn="just">
              <a:spcBef>
                <a:spcPct val="0"/>
              </a:spcBef>
              <a:spcAft>
                <a:spcPct val="0"/>
              </a:spcAft>
            </a:pPr>
            <a:r>
              <a:rPr lang="zh-CN" altLang="en-US" sz="2000" b="1" dirty="0">
                <a:solidFill>
                  <a:schemeClr val="accent1"/>
                </a:solidFill>
                <a:latin typeface="+mn-ea"/>
                <a:cs typeface="+mn-ea"/>
              </a:rPr>
              <a:t>融合频率域等信息以增强时空分析</a:t>
            </a:r>
            <a:endParaRPr lang="zh-CN" altLang="en-US" sz="2000" b="1" dirty="0">
              <a:solidFill>
                <a:schemeClr val="accent1"/>
              </a:solidFill>
              <a:latin typeface="+mn-ea"/>
              <a:cs typeface="+mn-ea"/>
            </a:endParaRPr>
          </a:p>
        </p:txBody>
      </p:sp>
      <p:sp>
        <p:nvSpPr>
          <p:cNvPr id="27" name="圆角矩形 9"/>
          <p:cNvSpPr/>
          <p:nvPr>
            <p:custDataLst>
              <p:tags r:id="rId12"/>
            </p:custDataLst>
          </p:nvPr>
        </p:nvSpPr>
        <p:spPr>
          <a:xfrm>
            <a:off x="8151304" y="1960617"/>
            <a:ext cx="2736663" cy="3625092"/>
          </a:xfrm>
          <a:prstGeom prst="roundRect">
            <a:avLst>
              <a:gd name="adj" fmla="val 5500"/>
            </a:avLst>
          </a:prstGeom>
          <a:solidFill>
            <a:srgbClr val="FFFFFF"/>
          </a:solidFill>
          <a:ln w="3175" cap="flat" cmpd="sng" algn="ctr">
            <a:solidFill>
              <a:schemeClr val="tx1">
                <a:lumMod val="100000"/>
                <a:alpha val="15000"/>
              </a:schemeClr>
            </a:solidFill>
            <a:prstDash val="solid"/>
            <a:miter lim="800000"/>
            <a:headEnd type="none" w="med" len="med"/>
            <a:tailEnd type="none" w="med" len="med"/>
          </a:ln>
          <a:effectLst>
            <a:outerShdw blurRad="190500" dist="38100" dir="2700000" algn="tl" rotWithShape="0">
              <a:schemeClr val="tx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mn-ea"/>
            </a:endParaRPr>
          </a:p>
        </p:txBody>
      </p:sp>
      <p:sp>
        <p:nvSpPr>
          <p:cNvPr id="28" name="矩形 27"/>
          <p:cNvSpPr/>
          <p:nvPr>
            <p:custDataLst>
              <p:tags r:id="rId13"/>
            </p:custDataLst>
          </p:nvPr>
        </p:nvSpPr>
        <p:spPr>
          <a:xfrm>
            <a:off x="9715332" y="2208906"/>
            <a:ext cx="816016" cy="543020"/>
          </a:xfrm>
          <a:prstGeom prst="rect">
            <a:avLst/>
          </a:prstGeom>
          <a:noFill/>
        </p:spPr>
        <p:txBody>
          <a:bodyPr wrap="none" lIns="0" tIns="0" rIns="0" bIns="0">
            <a:noAutofit/>
          </a:bodyPr>
          <a:p>
            <a:pPr algn="r">
              <a:spcBef>
                <a:spcPct val="0"/>
              </a:spcBef>
              <a:spcAft>
                <a:spcPct val="0"/>
              </a:spcAft>
            </a:pPr>
            <a:r>
              <a:rPr lang="en-US" altLang="zh-CN" sz="2800">
                <a:solidFill>
                  <a:srgbClr val="BFBFBF"/>
                </a:solidFill>
                <a:latin typeface="+mn-ea"/>
                <a:cs typeface="+mn-ea"/>
              </a:rPr>
              <a:t>03</a:t>
            </a:r>
            <a:endParaRPr lang="zh-CN" altLang="en-US" sz="2800">
              <a:solidFill>
                <a:srgbClr val="BFBFBF"/>
              </a:solidFill>
              <a:latin typeface="+mn-ea"/>
              <a:cs typeface="+mn-ea"/>
            </a:endParaRPr>
          </a:p>
        </p:txBody>
      </p:sp>
      <p:cxnSp>
        <p:nvCxnSpPr>
          <p:cNvPr id="30" name="直接连接符 29"/>
          <p:cNvCxnSpPr/>
          <p:nvPr>
            <p:custDataLst>
              <p:tags r:id="rId14"/>
            </p:custDataLst>
          </p:nvPr>
        </p:nvCxnSpPr>
        <p:spPr>
          <a:xfrm>
            <a:off x="8506909" y="2744854"/>
            <a:ext cx="261781" cy="1"/>
          </a:xfrm>
          <a:prstGeom prst="line">
            <a:avLst/>
          </a:prstGeom>
          <a:ln w="28575">
            <a:solidFill>
              <a:srgbClr val="BFBFBF"/>
            </a:solidFill>
          </a:ln>
        </p:spPr>
        <p:style>
          <a:lnRef idx="1">
            <a:schemeClr val="accent1"/>
          </a:lnRef>
          <a:fillRef idx="0">
            <a:schemeClr val="accent1"/>
          </a:fillRef>
          <a:effectRef idx="0">
            <a:schemeClr val="accent1"/>
          </a:effectRef>
          <a:fontRef idx="minor">
            <a:schemeClr val="tx1"/>
          </a:fontRef>
        </p:style>
      </p:cxnSp>
      <p:sp>
        <p:nvSpPr>
          <p:cNvPr id="31" name="矩形 30"/>
          <p:cNvSpPr/>
          <p:nvPr>
            <p:custDataLst>
              <p:tags r:id="rId15"/>
            </p:custDataLst>
          </p:nvPr>
        </p:nvSpPr>
        <p:spPr>
          <a:xfrm>
            <a:off x="8506909" y="3546871"/>
            <a:ext cx="2024412" cy="1885137"/>
          </a:xfrm>
          <a:prstGeom prst="rect">
            <a:avLst/>
          </a:prstGeom>
        </p:spPr>
        <p:txBody>
          <a:bodyPr wrap="square" lIns="0" tIns="0" rIns="0" bIns="0">
            <a:noAutofit/>
          </a:bodyPr>
          <a:p>
            <a:pPr algn="just">
              <a:lnSpc>
                <a:spcPct val="130000"/>
              </a:lnSpc>
              <a:spcBef>
                <a:spcPct val="0"/>
              </a:spcBef>
              <a:spcAft>
                <a:spcPct val="0"/>
              </a:spcAft>
            </a:pPr>
            <a:r>
              <a:rPr lang="zh-CN" altLang="en-US" sz="1600" dirty="0">
                <a:solidFill>
                  <a:schemeClr val="dk1">
                    <a:lumMod val="80000"/>
                    <a:lumOff val="20000"/>
                  </a:schemeClr>
                </a:solidFill>
                <a:latin typeface="+mn-ea"/>
                <a:cs typeface="+mn-ea"/>
              </a:rPr>
              <a:t>除多维度信息互补外，亦有研究引入对其他维度潜在干扰信息的考虑，通过去噪机制，显著提升模型对复杂伪造模式的判别能力</a:t>
            </a:r>
            <a:endParaRPr lang="zh-CN" altLang="en-US" sz="1600" dirty="0">
              <a:solidFill>
                <a:schemeClr val="dk1">
                  <a:lumMod val="80000"/>
                  <a:lumOff val="20000"/>
                </a:schemeClr>
              </a:solidFill>
              <a:latin typeface="+mn-ea"/>
              <a:cs typeface="+mn-ea"/>
            </a:endParaRPr>
          </a:p>
        </p:txBody>
      </p:sp>
      <p:sp>
        <p:nvSpPr>
          <p:cNvPr id="32" name="矩形 31"/>
          <p:cNvSpPr/>
          <p:nvPr>
            <p:custDataLst>
              <p:tags r:id="rId16"/>
            </p:custDataLst>
          </p:nvPr>
        </p:nvSpPr>
        <p:spPr>
          <a:xfrm>
            <a:off x="8506909" y="2954407"/>
            <a:ext cx="2024412" cy="512195"/>
          </a:xfrm>
          <a:prstGeom prst="rect">
            <a:avLst/>
          </a:prstGeom>
          <a:noFill/>
        </p:spPr>
        <p:txBody>
          <a:bodyPr wrap="square" lIns="0" tIns="0" rIns="0" bIns="0" rtlCol="0" anchor="b" anchorCtr="0">
            <a:noAutofit/>
          </a:bodyPr>
          <a:p>
            <a:pPr algn="just">
              <a:spcBef>
                <a:spcPct val="0"/>
              </a:spcBef>
              <a:spcAft>
                <a:spcPct val="0"/>
              </a:spcAft>
            </a:pPr>
            <a:r>
              <a:rPr lang="zh-CN" altLang="en-US" sz="2000" b="1" dirty="0">
                <a:solidFill>
                  <a:schemeClr val="accent1"/>
                </a:solidFill>
                <a:latin typeface="+mn-ea"/>
                <a:cs typeface="+mn-ea"/>
              </a:rPr>
              <a:t>考虑干扰因素的时空分析</a:t>
            </a:r>
            <a:endParaRPr lang="zh-CN" altLang="en-US" sz="2000" b="1" dirty="0">
              <a:solidFill>
                <a:schemeClr val="accent1"/>
              </a:solidFill>
              <a:latin typeface="+mn-ea"/>
              <a:cs typeface="+mn-ea"/>
            </a:endParaRPr>
          </a:p>
        </p:txBody>
      </p:sp>
    </p:spTree>
    <p:custDataLst>
      <p:tags r:id="rId17"/>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normAutofit fontScale="90000"/>
          </a:bodyPr>
          <a:p>
            <a:r>
              <a:rPr lang="zh-CN" altLang="en-US"/>
              <a:t>II. Deepfake检测方法：三大主流方向：A. 基于时空域分析的方法</a:t>
            </a:r>
            <a:endParaRPr lang="zh-CN" altLang="en-US"/>
          </a:p>
        </p:txBody>
      </p:sp>
      <p:sp>
        <p:nvSpPr>
          <p:cNvPr id="4" name="内容占位符 3"/>
          <p:cNvSpPr>
            <a:spLocks noGrp="1"/>
          </p:cNvSpPr>
          <p:nvPr>
            <p:ph idx="1"/>
          </p:nvPr>
        </p:nvSpPr>
        <p:spPr>
          <a:xfrm>
            <a:off x="695960" y="1080135"/>
            <a:ext cx="4518025" cy="4873625"/>
          </a:xfrm>
        </p:spPr>
        <p:txBody>
          <a:bodyPr/>
          <a:p>
            <a:pPr marL="228600" lvl="0">
              <a:buNone/>
            </a:pPr>
            <a:r>
              <a:rPr lang="zh-CN" altLang="en-US"/>
              <a:t>主要进展</a:t>
            </a:r>
            <a:endParaRPr lang="zh-CN" altLang="en-US"/>
          </a:p>
          <a:p>
            <a:pPr marL="228600" lvl="0"/>
            <a:r>
              <a:rPr lang="zh-CN" altLang="en-US"/>
              <a:t>深度学习驱动的时空特征学习</a:t>
            </a:r>
            <a:endParaRPr lang="zh-CN" altLang="en-US"/>
          </a:p>
          <a:p>
            <a:pPr marL="685800" lvl="1"/>
            <a:r>
              <a:rPr lang="zh-CN" altLang="en-US"/>
              <a:t>ConTrans-Detect与MSVT等模型利用CNN+Transformer架构,高效提取多尺度时空特征,在DFDC与FF++数据集上表现卓越。</a:t>
            </a:r>
            <a:endParaRPr lang="zh-CN" altLang="en-US"/>
          </a:p>
          <a:p>
            <a:pPr marL="228600" lvl="0"/>
            <a:endParaRPr lang="zh-CN" altLang="en-US"/>
          </a:p>
        </p:txBody>
      </p:sp>
      <p:pic>
        <p:nvPicPr>
          <p:cNvPr id="5" name="图片 4"/>
          <p:cNvPicPr>
            <a:picLocks noChangeAspect="1"/>
          </p:cNvPicPr>
          <p:nvPr/>
        </p:nvPicPr>
        <p:blipFill>
          <a:blip r:embed="rId1"/>
          <a:stretch>
            <a:fillRect/>
          </a:stretch>
        </p:blipFill>
        <p:spPr>
          <a:xfrm>
            <a:off x="5502275" y="1697990"/>
            <a:ext cx="6329045" cy="4335780"/>
          </a:xfrm>
          <a:prstGeom prst="rect">
            <a:avLst/>
          </a:prstGeom>
        </p:spPr>
      </p:pic>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II. Deepfake检测方法：三大主流方向：A. 基于时空域分析的方法</a:t>
            </a:r>
            <a:endParaRPr lang="zh-CN" altLang="en-US"/>
          </a:p>
        </p:txBody>
      </p:sp>
      <p:sp>
        <p:nvSpPr>
          <p:cNvPr id="4" name="内容占位符 3"/>
          <p:cNvSpPr>
            <a:spLocks noGrp="1"/>
          </p:cNvSpPr>
          <p:nvPr>
            <p:ph idx="1"/>
          </p:nvPr>
        </p:nvSpPr>
        <p:spPr>
          <a:xfrm>
            <a:off x="695960" y="1301750"/>
            <a:ext cx="3681730" cy="4873625"/>
          </a:xfrm>
        </p:spPr>
        <p:txBody>
          <a:bodyPr/>
          <a:p>
            <a:pPr marL="228600" lvl="0">
              <a:buNone/>
            </a:pPr>
            <a:r>
              <a:rPr lang="zh-CN" altLang="en-US"/>
              <a:t>主要进展</a:t>
            </a:r>
            <a:endParaRPr lang="zh-CN" altLang="en-US"/>
          </a:p>
          <a:p>
            <a:pPr marL="228600" lvl="0"/>
            <a:r>
              <a:rPr lang="zh-CN" altLang="en-US"/>
              <a:t>融合频率域信息增强检测</a:t>
            </a:r>
            <a:endParaRPr lang="zh-CN" altLang="en-US"/>
          </a:p>
          <a:p>
            <a:pPr marL="685800" lvl="1"/>
            <a:r>
              <a:rPr lang="zh-CN" altLang="en-US"/>
              <a:t>DeepStream-X利用频率分析挖掘单帧内细微异常变化，通过密集光流运动估计捕捉跨帧间运动不一致性，形成时空</a:t>
            </a:r>
            <a:r>
              <a:rPr lang="en-US" altLang="zh-CN"/>
              <a:t>-</a:t>
            </a:r>
            <a:r>
              <a:rPr lang="zh-CN" altLang="en-US"/>
              <a:t>频率特征互补表征</a:t>
            </a:r>
            <a:br>
              <a:rPr lang="zh-CN" altLang="en-US"/>
            </a:br>
            <a:r>
              <a:rPr lang="en-US" altLang="zh-CN"/>
              <a:t>HFRI</a:t>
            </a:r>
            <a:r>
              <a:rPr lang="zh-CN" altLang="en-US"/>
              <a:t>（高频区域图像）：提取高频区域特征。</a:t>
            </a:r>
            <a:br>
              <a:rPr lang="zh-CN" altLang="en-US"/>
            </a:br>
            <a:r>
              <a:rPr lang="en-US" altLang="zh-CN"/>
              <a:t>Farneback</a:t>
            </a:r>
            <a:r>
              <a:rPr lang="zh-CN" altLang="en-US"/>
              <a:t>算法估计光流</a:t>
            </a:r>
            <a:endParaRPr lang="zh-CN" altLang="en-US"/>
          </a:p>
          <a:p>
            <a:pPr marL="0" lvl="0" indent="0">
              <a:buNone/>
            </a:pPr>
            <a:endParaRPr lang="zh-CN" altLang="en-US"/>
          </a:p>
        </p:txBody>
      </p:sp>
      <p:pic>
        <p:nvPicPr>
          <p:cNvPr id="5" name="图片 4"/>
          <p:cNvPicPr>
            <a:picLocks noChangeAspect="1"/>
          </p:cNvPicPr>
          <p:nvPr/>
        </p:nvPicPr>
        <p:blipFill>
          <a:blip r:embed="rId1"/>
          <a:stretch>
            <a:fillRect/>
          </a:stretch>
        </p:blipFill>
        <p:spPr>
          <a:xfrm>
            <a:off x="4645660" y="1435735"/>
            <a:ext cx="7426960" cy="4415155"/>
          </a:xfrm>
          <a:prstGeom prst="rect">
            <a:avLst/>
          </a:prstGeom>
        </p:spPr>
      </p:pic>
      <p:sp>
        <p:nvSpPr>
          <p:cNvPr id="6" name="文本框 5"/>
          <p:cNvSpPr txBox="1"/>
          <p:nvPr/>
        </p:nvSpPr>
        <p:spPr>
          <a:xfrm>
            <a:off x="4330700" y="5935980"/>
            <a:ext cx="7741920" cy="829945"/>
          </a:xfrm>
          <a:prstGeom prst="rect">
            <a:avLst/>
          </a:prstGeom>
          <a:noFill/>
        </p:spPr>
        <p:txBody>
          <a:bodyPr wrap="square" rtlCol="0">
            <a:spAutoFit/>
          </a:bodyPr>
          <a:p>
            <a:pPr algn="l"/>
            <a:r>
              <a:rPr lang="zh-CN" altLang="en-US" sz="1600" dirty="0"/>
              <a:t>光流（</a:t>
            </a:r>
            <a:r>
              <a:rPr lang="en-US" altLang="zh-CN" sz="1600" dirty="0"/>
              <a:t>Optical Flow</a:t>
            </a:r>
            <a:r>
              <a:rPr lang="zh-CN" altLang="en-US" sz="1600" dirty="0"/>
              <a:t>）是计算机视觉中的一个重要概念，用于描述图像序列中物体表面点的移动。它表示在连续的两帧或多帧图像中，像素点的位置变化。光流通常用于分析物体的运动，特别是在视频处理和运动估计中。</a:t>
            </a:r>
            <a:endParaRPr lang="zh-CN" altLang="en-US" sz="1600" dirty="0"/>
          </a:p>
        </p:txBody>
      </p:sp>
    </p:spTree>
    <p:custDataLst>
      <p:tags r:id="rId2"/>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II. Deepfake检测方法：三大主流方向：A. 基于时空域分析的方法</a:t>
            </a:r>
            <a:endParaRPr lang="zh-CN" altLang="en-US"/>
          </a:p>
        </p:txBody>
      </p:sp>
      <p:sp>
        <p:nvSpPr>
          <p:cNvPr id="4" name="内容占位符 3"/>
          <p:cNvSpPr>
            <a:spLocks noGrp="1"/>
          </p:cNvSpPr>
          <p:nvPr>
            <p:ph idx="1"/>
          </p:nvPr>
        </p:nvSpPr>
        <p:spPr>
          <a:xfrm>
            <a:off x="695960" y="1301750"/>
            <a:ext cx="3820160" cy="4873625"/>
          </a:xfrm>
        </p:spPr>
        <p:txBody>
          <a:bodyPr>
            <a:normAutofit fontScale="70000"/>
          </a:bodyPr>
          <a:p>
            <a:pPr marL="228600" lvl="0">
              <a:buNone/>
            </a:pPr>
            <a:r>
              <a:rPr lang="zh-CN" altLang="en-US"/>
              <a:t>主要进展</a:t>
            </a:r>
            <a:endParaRPr lang="zh-CN" altLang="en-US"/>
          </a:p>
          <a:p>
            <a:pPr marL="228600" lvl="0"/>
            <a:r>
              <a:rPr lang="zh-CN" altLang="en-US"/>
              <a:t>考虑干扰因素的时空分析</a:t>
            </a:r>
            <a:endParaRPr lang="zh-CN" altLang="en-US"/>
          </a:p>
          <a:p>
            <a:pPr marL="685800" lvl="1"/>
            <a:r>
              <a:rPr lang="en-US" altLang="zh-CN"/>
              <a:t>Yin </a:t>
            </a:r>
            <a:r>
              <a:rPr lang="zh-CN" altLang="en-US"/>
              <a:t>等人（</a:t>
            </a:r>
            <a:r>
              <a:rPr lang="en-US" altLang="zh-CN"/>
              <a:t>2023</a:t>
            </a:r>
            <a:r>
              <a:rPr lang="zh-CN" altLang="en-US"/>
              <a:t>）考虑面部运动带来的干扰</a:t>
            </a:r>
            <a:r>
              <a:rPr lang="zh-CN" altLang="en-US"/>
              <a:t>引入去噪机制和动态差异学习,区分伪造与自然面部运动差异,消除干扰,精准建模时空不一致性,提升复杂伪造模式判别能力。</a:t>
            </a:r>
            <a:endParaRPr lang="zh-CN" altLang="en-US"/>
          </a:p>
          <a:p>
            <a:pPr marL="685800" lvl="1"/>
            <a:r>
              <a:rPr lang="zh-CN" altLang="en-US"/>
              <a:t>模型包含动态细粒度差异捕捉模块（</a:t>
            </a:r>
            <a:r>
              <a:rPr lang="en-US" altLang="zh-CN"/>
              <a:t>DFDC</a:t>
            </a:r>
            <a:r>
              <a:rPr lang="zh-CN" altLang="en-US"/>
              <a:t>）与多尺度时空聚合模块（</a:t>
            </a:r>
            <a:r>
              <a:rPr lang="en-US" altLang="zh-CN"/>
              <a:t>MSA</a:t>
            </a:r>
            <a:r>
              <a:rPr lang="zh-CN" altLang="en-US"/>
              <a:t>），前者通过自注意力机制与去噪操作，消除面部运动导致的干扰差异并生成长距离差异注意力图；后者则通过聚合多方向、多尺度的时间信息强化时空不一致性表征</a:t>
            </a:r>
            <a:endParaRPr lang="zh-CN" altLang="en-US"/>
          </a:p>
        </p:txBody>
      </p:sp>
      <p:pic>
        <p:nvPicPr>
          <p:cNvPr id="3" name="图片 2"/>
          <p:cNvPicPr>
            <a:picLocks noChangeAspect="1"/>
          </p:cNvPicPr>
          <p:nvPr/>
        </p:nvPicPr>
        <p:blipFill>
          <a:blip r:embed="rId1"/>
          <a:stretch>
            <a:fillRect/>
          </a:stretch>
        </p:blipFill>
        <p:spPr>
          <a:xfrm>
            <a:off x="4716780" y="1301750"/>
            <a:ext cx="7475220" cy="5280660"/>
          </a:xfrm>
          <a:prstGeom prst="rect">
            <a:avLst/>
          </a:prstGeom>
        </p:spPr>
      </p:pic>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II. Deepfake检测方法：三大主流方向：A. 基于时空域分析的方法</a:t>
            </a:r>
            <a:endParaRPr lang="zh-CN" altLang="en-US"/>
          </a:p>
        </p:txBody>
      </p:sp>
      <p:pic>
        <p:nvPicPr>
          <p:cNvPr id="3" name="图片 2"/>
          <p:cNvPicPr>
            <a:picLocks noChangeAspect="1"/>
          </p:cNvPicPr>
          <p:nvPr/>
        </p:nvPicPr>
        <p:blipFill>
          <a:blip r:embed="rId1"/>
          <a:stretch>
            <a:fillRect/>
          </a:stretch>
        </p:blipFill>
        <p:spPr>
          <a:xfrm>
            <a:off x="408940" y="1609725"/>
            <a:ext cx="11374120" cy="4346575"/>
          </a:xfrm>
          <a:prstGeom prst="rect">
            <a:avLst/>
          </a:prstGeom>
        </p:spPr>
      </p:pic>
    </p:spTree>
    <p:custDataLst>
      <p:tags r:id="rId2"/>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1"/>
          <p:cNvSpPr>
            <a:spLocks noGrp="1"/>
          </p:cNvSpPr>
          <p:nvPr/>
        </p:nvSpPr>
        <p:spPr>
          <a:xfrm>
            <a:off x="822960" y="343490"/>
            <a:ext cx="10800000" cy="720000"/>
          </a:xfrm>
          <a:prstGeom prst="rect">
            <a:avLst/>
          </a:prstGeom>
        </p:spPr>
        <p:txBody>
          <a:bodyPr vert="horz" wrap="square" lIns="0" tIns="0" rIns="0" bIns="0" rtlCol="0" anchor="b">
            <a:normAutofit fontScale="70000"/>
          </a:bodyPr>
          <a:lstStyle>
            <a:lvl1pPr algn="l" defTabSz="914400" rtl="0" eaLnBrk="1" latinLnBrk="0" hangingPunct="1">
              <a:lnSpc>
                <a:spcPct val="100000"/>
              </a:lnSpc>
              <a:spcBef>
                <a:spcPct val="0"/>
              </a:spcBef>
              <a:buNone/>
              <a:defRPr sz="3200" b="1" kern="1200">
                <a:solidFill>
                  <a:schemeClr val="accent1"/>
                </a:solidFill>
                <a:latin typeface="+mj-ea"/>
                <a:ea typeface="+mj-ea"/>
                <a:cs typeface="+mj-ea"/>
                <a:sym typeface="+mj-ea"/>
              </a:defRPr>
            </a:lvl1pPr>
          </a:lstStyle>
          <a:p>
            <a:r>
              <a:rPr lang="zh-CN" altLang="en-US">
                <a:solidFill>
                  <a:schemeClr val="tx1"/>
                </a:solidFill>
              </a:rPr>
              <a:t>II. Deepfake检测方法：三大主流方向：B. 基于内在特征和一致性线索的方法</a:t>
            </a:r>
            <a:endParaRPr lang="zh-CN" altLang="en-US">
              <a:solidFill>
                <a:schemeClr val="tx1"/>
              </a:solidFill>
            </a:endParaRPr>
          </a:p>
        </p:txBody>
      </p:sp>
      <p:sp>
        <p:nvSpPr>
          <p:cNvPr id="4" name="内容占位符 3"/>
          <p:cNvSpPr>
            <a:spLocks noGrp="1"/>
          </p:cNvSpPr>
          <p:nvPr>
            <p:ph idx="1"/>
          </p:nvPr>
        </p:nvSpPr>
        <p:spPr/>
        <p:txBody>
          <a:bodyPr/>
          <a:p>
            <a:pPr marL="228600" lvl="0"/>
            <a:r>
              <a:rPr lang="zh-CN" altLang="en-US"/>
              <a:t>利用Deepfake技术的内在一致性</a:t>
            </a:r>
            <a:endParaRPr lang="zh-CN" altLang="en-US"/>
          </a:p>
          <a:p>
            <a:pPr marL="685800" lvl="1"/>
            <a:r>
              <a:rPr lang="zh-CN" altLang="en-US"/>
              <a:t>核心思想：利用Deepfake技术难以精确复制的生理信号、物理光影及图像结构等内在一致性。</a:t>
            </a:r>
            <a:endParaRPr lang="zh-CN" altLang="en-US"/>
          </a:p>
          <a:p>
            <a:pPr marL="228600" lvl="0"/>
            <a:r>
              <a:rPr lang="zh-CN" altLang="en-US"/>
              <a:t>基于生理信号的方法进展</a:t>
            </a:r>
            <a:endParaRPr lang="zh-CN" altLang="en-US"/>
          </a:p>
          <a:p>
            <a:pPr marL="685800" lvl="1"/>
            <a:r>
              <a:rPr lang="zh-CN" altLang="en-US"/>
              <a:t>主要进展：基于生理信号的方法，真实人脸的器官的微表情</a:t>
            </a:r>
            <a:r>
              <a:rPr lang="en-US" altLang="zh-CN"/>
              <a:t>/</a:t>
            </a:r>
            <a:r>
              <a:rPr lang="zh-CN" altLang="en-US"/>
              <a:t>微动作、眼球的动作规律、固有的心率、呼吸等微弱规律信号在伪造视频中难以完美复制。</a:t>
            </a:r>
            <a:endParaRPr lang="zh-CN" altLang="en-US"/>
          </a:p>
          <a:p>
            <a:pPr marL="228600" lvl="0"/>
            <a:r>
              <a:rPr lang="zh-CN" altLang="en-US"/>
              <a:t>基于物理光影与图像结构的方法进展</a:t>
            </a:r>
            <a:endParaRPr lang="zh-CN" altLang="en-US"/>
          </a:p>
          <a:p>
            <a:pPr marL="685800" lvl="1"/>
            <a:r>
              <a:rPr lang="zh-CN" altLang="en-US"/>
              <a:t>基于物理光影与图像结构一致性特征：伪造视频在光照、反射、面部边缘等细节上存在不一致。</a:t>
            </a:r>
            <a:endParaRPr lang="zh-CN"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标题 21"/>
          <p:cNvSpPr>
            <a:spLocks noGrp="1"/>
          </p:cNvSpPr>
          <p:nvPr>
            <p:ph type="title"/>
            <p:custDataLst>
              <p:tags r:id="rId1"/>
            </p:custDataLst>
          </p:nvPr>
        </p:nvSpPr>
        <p:spPr/>
        <p:txBody>
          <a:bodyPr/>
          <a:lstStyle/>
          <a:p>
            <a:r>
              <a:rPr lang="zh-CN" altLang="en-US"/>
              <a:t>内在特征与一致性线索</a:t>
            </a:r>
            <a:endParaRPr lang="zh-CN" altLang="en-US"/>
          </a:p>
        </p:txBody>
      </p:sp>
      <p:sp>
        <p:nvSpPr>
          <p:cNvPr id="5" name="文本框 4"/>
          <p:cNvSpPr txBox="1"/>
          <p:nvPr/>
        </p:nvSpPr>
        <p:spPr>
          <a:xfrm>
            <a:off x="695960" y="1597660"/>
            <a:ext cx="6096000" cy="368300"/>
          </a:xfrm>
          <a:prstGeom prst="rect">
            <a:avLst/>
          </a:prstGeom>
          <a:noFill/>
        </p:spPr>
        <p:txBody>
          <a:bodyPr wrap="square" rtlCol="0" anchor="t">
            <a:spAutoFit/>
          </a:bodyPr>
          <a:p>
            <a:pPr algn="l"/>
            <a:r>
              <a:rPr lang="zh-CN" altLang="en-US">
                <a:sym typeface="+mn-ea"/>
              </a:rPr>
              <a:t>基于生理信号的方法进展</a:t>
            </a:r>
            <a:endParaRPr lang="zh-CN" altLang="en-US" dirty="0">
              <a:sym typeface="+mn-ea"/>
            </a:endParaRPr>
          </a:p>
        </p:txBody>
      </p:sp>
      <p:sp>
        <p:nvSpPr>
          <p:cNvPr id="6" name="文本框 5"/>
          <p:cNvSpPr txBox="1"/>
          <p:nvPr/>
        </p:nvSpPr>
        <p:spPr>
          <a:xfrm>
            <a:off x="769620" y="2136775"/>
            <a:ext cx="3674745" cy="2584450"/>
          </a:xfrm>
          <a:prstGeom prst="rect">
            <a:avLst/>
          </a:prstGeom>
          <a:noFill/>
        </p:spPr>
        <p:txBody>
          <a:bodyPr wrap="square" rtlCol="0">
            <a:spAutoFit/>
          </a:bodyPr>
          <a:p>
            <a:pPr algn="l"/>
            <a:r>
              <a:rPr lang="zh-CN" altLang="en-US" dirty="0"/>
              <a:t>目前，光电容积脉搏波描记术（</a:t>
            </a:r>
            <a:r>
              <a:rPr lang="en-US" altLang="zh-CN" dirty="0"/>
              <a:t>PPG</a:t>
            </a:r>
            <a:r>
              <a:rPr lang="zh-CN" altLang="en-US" dirty="0"/>
              <a:t>）成为提取生物特征的主流手段。</a:t>
            </a:r>
            <a:endParaRPr lang="zh-CN" altLang="en-US" dirty="0"/>
          </a:p>
          <a:p>
            <a:pPr algn="l"/>
            <a:r>
              <a:rPr lang="zh-CN" altLang="en-US" dirty="0"/>
              <a:t>在伪造视频检测中，该技术利用视频本身记录的环境光在人脸皮肤上产生的微弱颜色和亮度波动。通过信号处理技术，可从这些像素变化中提取远程</a:t>
            </a:r>
            <a:r>
              <a:rPr lang="en-US" altLang="zh-CN" dirty="0"/>
              <a:t>PPG</a:t>
            </a:r>
            <a:r>
              <a:rPr lang="zh-CN" altLang="en-US" dirty="0"/>
              <a:t>（</a:t>
            </a:r>
            <a:r>
              <a:rPr lang="en-US" altLang="zh-CN" dirty="0"/>
              <a:t>rPPG</a:t>
            </a:r>
            <a:r>
              <a:rPr lang="zh-CN" altLang="en-US" dirty="0"/>
              <a:t>）类生理信号。</a:t>
            </a:r>
            <a:endParaRPr lang="zh-CN" altLang="en-US" dirty="0"/>
          </a:p>
        </p:txBody>
      </p:sp>
      <p:sp>
        <p:nvSpPr>
          <p:cNvPr id="7" name="文本框 6"/>
          <p:cNvSpPr txBox="1"/>
          <p:nvPr/>
        </p:nvSpPr>
        <p:spPr>
          <a:xfrm>
            <a:off x="4945380" y="360045"/>
            <a:ext cx="4923155" cy="368300"/>
          </a:xfrm>
          <a:prstGeom prst="rect">
            <a:avLst/>
          </a:prstGeom>
          <a:noFill/>
        </p:spPr>
        <p:txBody>
          <a:bodyPr wrap="square" rtlCol="0">
            <a:spAutoFit/>
          </a:bodyPr>
          <a:p>
            <a:pPr algn="l"/>
            <a:r>
              <a:rPr lang="zh-CN" altLang="en-US" dirty="0"/>
              <a:t>成果展示</a:t>
            </a:r>
            <a:endParaRPr lang="zh-CN" altLang="en-US" dirty="0"/>
          </a:p>
        </p:txBody>
      </p:sp>
      <p:sp>
        <p:nvSpPr>
          <p:cNvPr id="8" name="文本框 7"/>
          <p:cNvSpPr txBox="1"/>
          <p:nvPr/>
        </p:nvSpPr>
        <p:spPr>
          <a:xfrm>
            <a:off x="4841240" y="756285"/>
            <a:ext cx="6677660" cy="1476375"/>
          </a:xfrm>
          <a:prstGeom prst="rect">
            <a:avLst/>
          </a:prstGeom>
          <a:noFill/>
        </p:spPr>
        <p:txBody>
          <a:bodyPr wrap="square" rtlCol="0">
            <a:spAutoFit/>
          </a:bodyPr>
          <a:p>
            <a:pPr algn="l"/>
            <a:r>
              <a:rPr lang="en-US" altLang="zh-CN" dirty="0"/>
              <a:t>Aybars Ciftci</a:t>
            </a:r>
            <a:r>
              <a:rPr lang="zh-CN" altLang="en-US" dirty="0"/>
              <a:t>等人（</a:t>
            </a:r>
            <a:r>
              <a:rPr lang="en-US" altLang="zh-CN" dirty="0"/>
              <a:t>2020</a:t>
            </a:r>
            <a:r>
              <a:rPr lang="zh-CN" altLang="en-US" dirty="0"/>
              <a:t>）基于绿色通道</a:t>
            </a:r>
            <a:r>
              <a:rPr lang="en-US" altLang="zh-CN" dirty="0"/>
              <a:t>PPG</a:t>
            </a:r>
            <a:r>
              <a:rPr lang="zh-CN" altLang="en-US" dirty="0"/>
              <a:t>（</a:t>
            </a:r>
            <a:r>
              <a:rPr lang="en-US" altLang="zh-CN" dirty="0"/>
              <a:t>G-PPG</a:t>
            </a:r>
            <a:r>
              <a:rPr lang="zh-CN" altLang="en-US" dirty="0"/>
              <a:t>或</a:t>
            </a:r>
            <a:r>
              <a:rPr lang="en-US" altLang="zh-CN" dirty="0"/>
              <a:t>G*</a:t>
            </a:r>
            <a:r>
              <a:rPr lang="zh-CN" altLang="en-US" dirty="0"/>
              <a:t>）和基于色度的</a:t>
            </a:r>
            <a:r>
              <a:rPr lang="en-US" altLang="zh-CN" dirty="0"/>
              <a:t>PPG</a:t>
            </a:r>
            <a:r>
              <a:rPr lang="zh-CN" altLang="en-US" dirty="0"/>
              <a:t>（</a:t>
            </a:r>
            <a:r>
              <a:rPr lang="en-US" altLang="zh-CN" dirty="0"/>
              <a:t>C-PPG</a:t>
            </a:r>
            <a:r>
              <a:rPr lang="zh-CN" altLang="en-US" dirty="0"/>
              <a:t>或</a:t>
            </a:r>
            <a:r>
              <a:rPr lang="en-US" altLang="zh-CN" dirty="0"/>
              <a:t>C*</a:t>
            </a:r>
            <a:r>
              <a:rPr lang="zh-CN" altLang="en-US" dirty="0"/>
              <a:t>），提出</a:t>
            </a:r>
            <a:r>
              <a:rPr lang="en-US" altLang="zh-CN" dirty="0"/>
              <a:t>FakeCatcher</a:t>
            </a:r>
            <a:r>
              <a:rPr lang="zh-CN" altLang="en-US" dirty="0"/>
              <a:t>。在</a:t>
            </a:r>
            <a:r>
              <a:rPr lang="en-US" altLang="zh-CN" dirty="0"/>
              <a:t>Face Forensics</a:t>
            </a:r>
            <a:r>
              <a:rPr lang="zh-CN" altLang="en-US" dirty="0"/>
              <a:t>等多个基准数据集及其自建数据集上的评估结果显示，该方法（</a:t>
            </a:r>
            <a:r>
              <a:rPr lang="en-US" altLang="zh-CN" dirty="0"/>
              <a:t>FakeCatcher</a:t>
            </a:r>
            <a:r>
              <a:rPr lang="zh-CN" altLang="en-US" dirty="0"/>
              <a:t>）检测准确率表现优异，分别达到</a:t>
            </a:r>
            <a:r>
              <a:rPr lang="en-US" altLang="zh-CN" dirty="0"/>
              <a:t>96%</a:t>
            </a:r>
            <a:r>
              <a:rPr lang="zh-CN" altLang="en-US" dirty="0"/>
              <a:t>、</a:t>
            </a:r>
            <a:r>
              <a:rPr lang="en-US" altLang="zh-CN" dirty="0"/>
              <a:t>94.65%</a:t>
            </a:r>
            <a:r>
              <a:rPr lang="zh-CN" altLang="en-US" dirty="0"/>
              <a:t>、</a:t>
            </a:r>
            <a:r>
              <a:rPr lang="en-US" altLang="zh-CN" dirty="0"/>
              <a:t>91.50%</a:t>
            </a:r>
            <a:r>
              <a:rPr lang="zh-CN" altLang="en-US" dirty="0"/>
              <a:t>和</a:t>
            </a:r>
            <a:r>
              <a:rPr lang="en-US" altLang="zh-CN" dirty="0"/>
              <a:t>91.07%</a:t>
            </a:r>
            <a:endParaRPr lang="en-US" altLang="zh-CN" dirty="0"/>
          </a:p>
        </p:txBody>
      </p:sp>
      <p:pic>
        <p:nvPicPr>
          <p:cNvPr id="9" name="图片 8"/>
          <p:cNvPicPr/>
          <p:nvPr/>
        </p:nvPicPr>
        <p:blipFill>
          <a:blip r:embed="rId2"/>
          <a:stretch>
            <a:fillRect/>
          </a:stretch>
        </p:blipFill>
        <p:spPr>
          <a:xfrm>
            <a:off x="695960" y="4721225"/>
            <a:ext cx="3539490" cy="1885950"/>
          </a:xfrm>
          <a:prstGeom prst="rect">
            <a:avLst/>
          </a:prstGeom>
        </p:spPr>
      </p:pic>
      <p:pic>
        <p:nvPicPr>
          <p:cNvPr id="10" name="图片 9"/>
          <p:cNvPicPr>
            <a:picLocks noChangeAspect="1"/>
          </p:cNvPicPr>
          <p:nvPr/>
        </p:nvPicPr>
        <p:blipFill>
          <a:blip r:embed="rId3"/>
          <a:stretch>
            <a:fillRect/>
          </a:stretch>
        </p:blipFill>
        <p:spPr>
          <a:xfrm>
            <a:off x="4841240" y="2483485"/>
            <a:ext cx="7101840" cy="4123690"/>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内在特征与一致性线索</a:t>
            </a:r>
            <a:endParaRPr lang="zh-CN" altLang="en-US"/>
          </a:p>
        </p:txBody>
      </p:sp>
      <p:sp>
        <p:nvSpPr>
          <p:cNvPr id="5" name="文本框 4"/>
          <p:cNvSpPr txBox="1"/>
          <p:nvPr/>
        </p:nvSpPr>
        <p:spPr>
          <a:xfrm>
            <a:off x="695960" y="1597660"/>
            <a:ext cx="6096000" cy="368300"/>
          </a:xfrm>
          <a:prstGeom prst="rect">
            <a:avLst/>
          </a:prstGeom>
          <a:noFill/>
        </p:spPr>
        <p:txBody>
          <a:bodyPr wrap="square" rtlCol="0" anchor="t">
            <a:spAutoFit/>
          </a:bodyPr>
          <a:p>
            <a:pPr algn="l"/>
            <a:r>
              <a:rPr lang="zh-CN" altLang="en-US" dirty="0">
                <a:sym typeface="+mn-ea"/>
              </a:rPr>
              <a:t>基于物理光影与图像结构一致性特征</a:t>
            </a:r>
            <a:endParaRPr lang="zh-CN" altLang="en-US" dirty="0">
              <a:sym typeface="+mn-ea"/>
            </a:endParaRPr>
          </a:p>
        </p:txBody>
      </p:sp>
      <p:sp>
        <p:nvSpPr>
          <p:cNvPr id="6" name="文本框 5"/>
          <p:cNvSpPr txBox="1"/>
          <p:nvPr/>
        </p:nvSpPr>
        <p:spPr>
          <a:xfrm>
            <a:off x="577215" y="2242185"/>
            <a:ext cx="3822065" cy="3138170"/>
          </a:xfrm>
          <a:prstGeom prst="rect">
            <a:avLst/>
          </a:prstGeom>
          <a:noFill/>
        </p:spPr>
        <p:txBody>
          <a:bodyPr wrap="square" rtlCol="0">
            <a:spAutoFit/>
          </a:bodyPr>
          <a:p>
            <a:pPr algn="l"/>
            <a:r>
              <a:rPr lang="en-US" altLang="zh-CN" dirty="0"/>
              <a:t>Mohzary</a:t>
            </a:r>
            <a:r>
              <a:rPr lang="zh-CN" altLang="en-US" dirty="0"/>
              <a:t>等人（</a:t>
            </a:r>
            <a:r>
              <a:rPr lang="en-US" altLang="zh-CN" dirty="0"/>
              <a:t>2024</a:t>
            </a:r>
            <a:r>
              <a:rPr lang="zh-CN" altLang="en-US" dirty="0"/>
              <a:t>）提出新颖的反射和环境感知深度伪造（</a:t>
            </a:r>
            <a:r>
              <a:rPr lang="en-US" altLang="zh-CN" dirty="0"/>
              <a:t>READFake</a:t>
            </a:r>
            <a:r>
              <a:rPr lang="zh-CN" altLang="en-US" dirty="0"/>
              <a:t>）检测技术。</a:t>
            </a:r>
            <a:r>
              <a:rPr lang="en-US" altLang="zh-CN" dirty="0"/>
              <a:t>READFake</a:t>
            </a:r>
            <a:r>
              <a:rPr lang="zh-CN" altLang="en-US" dirty="0"/>
              <a:t>为分层结构，组件划分为训练数据标注（</a:t>
            </a:r>
            <a:r>
              <a:rPr lang="en-US" altLang="zh-CN" dirty="0"/>
              <a:t>TDA</a:t>
            </a:r>
            <a:r>
              <a:rPr lang="zh-CN" altLang="en-US" dirty="0"/>
              <a:t>）、反射和环境因素检测（</a:t>
            </a:r>
            <a:r>
              <a:rPr lang="en-US" altLang="zh-CN" dirty="0"/>
              <a:t>REFD</a:t>
            </a:r>
            <a:r>
              <a:rPr lang="zh-CN" altLang="en-US" dirty="0"/>
              <a:t>）以及特征提取、嵌入和分类（</a:t>
            </a:r>
            <a:r>
              <a:rPr lang="en-US" altLang="zh-CN" dirty="0"/>
              <a:t>FEEC</a:t>
            </a:r>
            <a:r>
              <a:rPr lang="zh-CN" altLang="en-US" dirty="0"/>
              <a:t>）三个模块。实证结果表明，</a:t>
            </a:r>
            <a:r>
              <a:rPr lang="en-US" altLang="zh-CN" dirty="0"/>
              <a:t>READFake </a:t>
            </a:r>
            <a:r>
              <a:rPr lang="zh-CN" altLang="en-US" dirty="0"/>
              <a:t>在检测复杂深度伪造图像方面达到</a:t>
            </a:r>
            <a:r>
              <a:rPr lang="en-US" altLang="zh-CN" dirty="0"/>
              <a:t>99.00% </a:t>
            </a:r>
            <a:r>
              <a:rPr lang="zh-CN" altLang="en-US" dirty="0"/>
              <a:t>的高准确率。</a:t>
            </a:r>
            <a:endParaRPr lang="en-US" altLang="zh-CN" dirty="0"/>
          </a:p>
          <a:p>
            <a:pPr algn="l"/>
            <a:endParaRPr lang="zh-CN" altLang="en-US" dirty="0"/>
          </a:p>
        </p:txBody>
      </p:sp>
      <p:pic>
        <p:nvPicPr>
          <p:cNvPr id="11" name="图片 10"/>
          <p:cNvPicPr>
            <a:picLocks noChangeAspect="1"/>
          </p:cNvPicPr>
          <p:nvPr/>
        </p:nvPicPr>
        <p:blipFill>
          <a:blip r:embed="rId1"/>
          <a:stretch>
            <a:fillRect/>
          </a:stretch>
        </p:blipFill>
        <p:spPr>
          <a:xfrm>
            <a:off x="4533265" y="1186815"/>
            <a:ext cx="7478395" cy="5504815"/>
          </a:xfrm>
          <a:prstGeom prst="rect">
            <a:avLst/>
          </a:prstGeom>
        </p:spPr>
      </p:pic>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内在特征与一致性线索</a:t>
            </a:r>
            <a:endParaRPr lang="zh-CN" altLang="en-US"/>
          </a:p>
        </p:txBody>
      </p:sp>
      <p:pic>
        <p:nvPicPr>
          <p:cNvPr id="3" name="图片 2"/>
          <p:cNvPicPr>
            <a:picLocks noChangeAspect="1"/>
          </p:cNvPicPr>
          <p:nvPr/>
        </p:nvPicPr>
        <p:blipFill>
          <a:blip r:embed="rId1"/>
          <a:stretch>
            <a:fillRect/>
          </a:stretch>
        </p:blipFill>
        <p:spPr>
          <a:xfrm>
            <a:off x="387985" y="1873250"/>
            <a:ext cx="11416030" cy="3398520"/>
          </a:xfrm>
          <a:prstGeom prst="rect">
            <a:avLst/>
          </a:prstGeom>
        </p:spPr>
      </p:pic>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nvSpPr>
        <p:spPr>
          <a:xfrm>
            <a:off x="696595" y="532720"/>
            <a:ext cx="10800000" cy="72000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solidFill>
                  <a:schemeClr val="accent1"/>
                </a:solidFill>
                <a:latin typeface="+mj-ea"/>
                <a:ea typeface="+mj-ea"/>
                <a:cs typeface="+mj-ea"/>
                <a:sym typeface="+mj-ea"/>
              </a:defRPr>
            </a:lvl1pPr>
          </a:lstStyle>
          <a:p>
            <a:r>
              <a:rPr lang="zh-CN" altLang="en-US">
                <a:solidFill>
                  <a:schemeClr val="tx1"/>
                </a:solidFill>
              </a:rPr>
              <a:t>基于多模态融合</a:t>
            </a:r>
            <a:endParaRPr lang="zh-CN" altLang="en-US">
              <a:solidFill>
                <a:schemeClr val="tx1"/>
              </a:solidFill>
            </a:endParaRPr>
          </a:p>
        </p:txBody>
      </p:sp>
      <p:sp>
        <p:nvSpPr>
          <p:cNvPr id="6" name="文本框 5"/>
          <p:cNvSpPr txBox="1"/>
          <p:nvPr/>
        </p:nvSpPr>
        <p:spPr>
          <a:xfrm>
            <a:off x="237490" y="1368425"/>
            <a:ext cx="4996180" cy="1670685"/>
          </a:xfrm>
          <a:prstGeom prst="rect">
            <a:avLst/>
          </a:prstGeom>
          <a:noFill/>
        </p:spPr>
        <p:txBody>
          <a:bodyPr wrap="square" rtlCol="0">
            <a:noAutofit/>
          </a:bodyPr>
          <a:p>
            <a:pPr algn="l"/>
            <a:r>
              <a:rPr lang="zh-CN" altLang="en-US" dirty="0"/>
              <a:t>结合视觉、音频甚至文本等不同模态信息，以提高检测的鲁棒性和准确性。目前在伪造人脸检测领域，多模态融合主要集中于视觉和音频模态的协同分析。由于深度伪造技术能操纵视频的视觉与音频信号，常导致两者间不一致，为多模态检测提供契机</a:t>
            </a:r>
            <a:endParaRPr lang="zh-CN" altLang="en-US" dirty="0"/>
          </a:p>
        </p:txBody>
      </p:sp>
      <p:sp>
        <p:nvSpPr>
          <p:cNvPr id="7" name="文本框 6"/>
          <p:cNvSpPr txBox="1"/>
          <p:nvPr/>
        </p:nvSpPr>
        <p:spPr>
          <a:xfrm>
            <a:off x="7611745" y="3259455"/>
            <a:ext cx="4502150" cy="3138170"/>
          </a:xfrm>
          <a:prstGeom prst="rect">
            <a:avLst/>
          </a:prstGeom>
          <a:noFill/>
        </p:spPr>
        <p:txBody>
          <a:bodyPr wrap="square" rtlCol="0">
            <a:spAutoFit/>
          </a:bodyPr>
          <a:p>
            <a:pPr algn="l"/>
            <a:r>
              <a:rPr lang="en-US" altLang="zh-CN" dirty="0"/>
              <a:t>Oorloff </a:t>
            </a:r>
            <a:r>
              <a:rPr lang="zh-CN" altLang="en-US" dirty="0"/>
              <a:t>等人（</a:t>
            </a:r>
            <a:r>
              <a:rPr lang="en-US" altLang="zh-CN" dirty="0"/>
              <a:t>2024</a:t>
            </a:r>
            <a:r>
              <a:rPr lang="zh-CN" altLang="en-US" dirty="0"/>
              <a:t>）提出了一种两阶段的跨模态学习方法</a:t>
            </a:r>
            <a:r>
              <a:rPr lang="en-US" altLang="zh-CN" dirty="0"/>
              <a:t>——</a:t>
            </a:r>
            <a:r>
              <a:rPr lang="zh-CN" altLang="en-US" dirty="0"/>
              <a:t>音视频特征融合（</a:t>
            </a:r>
            <a:r>
              <a:rPr lang="en-US" altLang="zh-CN" dirty="0"/>
              <a:t>AVFF</a:t>
            </a:r>
            <a:r>
              <a:rPr lang="zh-CN" altLang="en-US" dirty="0"/>
              <a:t>）。第一阶段通过在真实视频上进行自监督学习，利用对比学习和自编码目标，并结合音频</a:t>
            </a:r>
            <a:r>
              <a:rPr lang="en-US" altLang="zh-CN" dirty="0"/>
              <a:t>-</a:t>
            </a:r>
            <a:r>
              <a:rPr lang="zh-CN" altLang="en-US" dirty="0"/>
              <a:t>视觉互补掩蔽和特征融合策略，来学习丰富的跨模态表示。第二阶段则通过在真实和虚假视频上进行监督学习，对已学习的表示进行微调以进行深度伪造分类。该方法在</a:t>
            </a:r>
            <a:r>
              <a:rPr lang="en-US" altLang="zh-CN" dirty="0"/>
              <a:t> FakeAVCeleb </a:t>
            </a:r>
            <a:r>
              <a:rPr lang="zh-CN" altLang="en-US" dirty="0"/>
              <a:t>数据集</a:t>
            </a:r>
            <a:r>
              <a:rPr lang="en-US" altLang="zh-CN" dirty="0"/>
              <a:t> </a:t>
            </a:r>
            <a:r>
              <a:rPr lang="zh-CN" altLang="en-US" dirty="0"/>
              <a:t>上取得了</a:t>
            </a:r>
            <a:r>
              <a:rPr lang="en-US" altLang="zh-CN" dirty="0"/>
              <a:t> 98.6% </a:t>
            </a:r>
            <a:r>
              <a:rPr lang="zh-CN" altLang="en-US" dirty="0"/>
              <a:t>的准确率和</a:t>
            </a:r>
            <a:r>
              <a:rPr lang="en-US" altLang="zh-CN" dirty="0"/>
              <a:t> 99.1% </a:t>
            </a:r>
            <a:r>
              <a:rPr lang="zh-CN" altLang="en-US" dirty="0"/>
              <a:t>的</a:t>
            </a:r>
            <a:r>
              <a:rPr lang="en-US" altLang="zh-CN" dirty="0"/>
              <a:t> AUC</a:t>
            </a:r>
            <a:r>
              <a:rPr lang="zh-CN" altLang="en-US" dirty="0"/>
              <a:t>。但不能检测单模态的视频</a:t>
            </a:r>
            <a:r>
              <a:rPr lang="en-US" altLang="zh-CN" dirty="0"/>
              <a:t>.</a:t>
            </a:r>
            <a:endParaRPr lang="en-US" altLang="zh-CN" dirty="0"/>
          </a:p>
        </p:txBody>
      </p:sp>
      <p:sp>
        <p:nvSpPr>
          <p:cNvPr id="20" name="文本框 19"/>
          <p:cNvSpPr txBox="1"/>
          <p:nvPr/>
        </p:nvSpPr>
        <p:spPr>
          <a:xfrm>
            <a:off x="6026785" y="1368425"/>
            <a:ext cx="5723890" cy="3796665"/>
          </a:xfrm>
          <a:prstGeom prst="rect">
            <a:avLst/>
          </a:prstGeom>
          <a:noFill/>
        </p:spPr>
        <p:txBody>
          <a:bodyPr wrap="square" rtlCol="0">
            <a:noAutofit/>
          </a:bodyPr>
          <a:p>
            <a:pPr algn="l"/>
            <a:r>
              <a:rPr lang="zh-CN" altLang="en-US" sz="2000" dirty="0"/>
              <a:t>当前深度伪造技术向视觉</a:t>
            </a:r>
            <a:r>
              <a:rPr lang="en-US" altLang="zh-CN" sz="2000" dirty="0"/>
              <a:t>-</a:t>
            </a:r>
            <a:r>
              <a:rPr lang="zh-CN" altLang="en-US" sz="2000" dirty="0"/>
              <a:t>音频协同伪造发展，模态间不一致性变得更难察觉，给现有方法带来挑战。随着多模态在伪造人脸检测领域研究深入，模态对齐（解决并弥合不同模态间表示差距）成为研究者关注重点。</a:t>
            </a:r>
            <a:endParaRPr lang="zh-CN" altLang="en-US" sz="2000" dirty="0"/>
          </a:p>
        </p:txBody>
      </p:sp>
      <p:pic>
        <p:nvPicPr>
          <p:cNvPr id="21" name="图片 20"/>
          <p:cNvPicPr>
            <a:picLocks noChangeAspect="1"/>
          </p:cNvPicPr>
          <p:nvPr/>
        </p:nvPicPr>
        <p:blipFill>
          <a:blip r:embed="rId1"/>
          <a:stretch>
            <a:fillRect/>
          </a:stretch>
        </p:blipFill>
        <p:spPr>
          <a:xfrm>
            <a:off x="0" y="3154045"/>
            <a:ext cx="7372985" cy="357378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基于多模态融合</a:t>
            </a:r>
            <a:endParaRPr lang="zh-CN" altLang="en-US"/>
          </a:p>
        </p:txBody>
      </p:sp>
      <p:sp>
        <p:nvSpPr>
          <p:cNvPr id="3" name="文本框 2"/>
          <p:cNvSpPr txBox="1"/>
          <p:nvPr/>
        </p:nvSpPr>
        <p:spPr>
          <a:xfrm>
            <a:off x="695960" y="1523365"/>
            <a:ext cx="4064000" cy="3415030"/>
          </a:xfrm>
          <a:prstGeom prst="rect">
            <a:avLst/>
          </a:prstGeom>
          <a:noFill/>
        </p:spPr>
        <p:txBody>
          <a:bodyPr wrap="square" rtlCol="0">
            <a:spAutoFit/>
          </a:bodyPr>
          <a:p>
            <a:pPr algn="l"/>
            <a:r>
              <a:rPr lang="en-US" altLang="zh-CN" dirty="0"/>
              <a:t>Yu</a:t>
            </a:r>
            <a:r>
              <a:rPr lang="zh-CN" altLang="en-US" dirty="0"/>
              <a:t>等人（</a:t>
            </a:r>
            <a:r>
              <a:rPr lang="en-US" altLang="zh-CN" dirty="0"/>
              <a:t>2024</a:t>
            </a:r>
            <a:r>
              <a:rPr lang="zh-CN" altLang="en-US" dirty="0"/>
              <a:t>）提出预测性视觉</a:t>
            </a:r>
            <a:r>
              <a:rPr lang="en-US" altLang="zh-CN" dirty="0"/>
              <a:t>-</a:t>
            </a:r>
            <a:r>
              <a:rPr lang="zh-CN" altLang="en-US" dirty="0"/>
              <a:t>音频对齐自监督（</a:t>
            </a:r>
            <a:r>
              <a:rPr lang="en-US" altLang="zh-CN" dirty="0"/>
              <a:t>PVASS-MDD</a:t>
            </a:r>
            <a:r>
              <a:rPr lang="zh-CN" altLang="en-US" dirty="0"/>
              <a:t>）框架，以更有效提取</a:t>
            </a:r>
            <a:r>
              <a:rPr lang="en-US" altLang="zh-CN" dirty="0"/>
              <a:t>VA</a:t>
            </a:r>
            <a:r>
              <a:rPr lang="zh-CN" altLang="en-US" dirty="0"/>
              <a:t>不一致性。该框架包含两个阶段：首先是</a:t>
            </a:r>
            <a:r>
              <a:rPr lang="en-US" altLang="zh-CN" dirty="0"/>
              <a:t>PVASS</a:t>
            </a:r>
            <a:r>
              <a:rPr lang="zh-CN" altLang="en-US" dirty="0"/>
              <a:t>辅助阶段，通过设计三流网络关联增强视觉视图与音频线索，并通过新颖的跨模态预测对齐模块消除模态差距，从而在真实视频中学习固有的</a:t>
            </a:r>
            <a:r>
              <a:rPr lang="en-US" altLang="zh-CN" dirty="0"/>
              <a:t>VA</a:t>
            </a:r>
            <a:r>
              <a:rPr lang="zh-CN" altLang="en-US" dirty="0"/>
              <a:t>对应关系。其次是</a:t>
            </a:r>
            <a:r>
              <a:rPr lang="en-US" altLang="zh-CN" dirty="0"/>
              <a:t>MDD</a:t>
            </a:r>
            <a:r>
              <a:rPr lang="zh-CN" altLang="en-US" dirty="0"/>
              <a:t>阶段，利用辅助损失并结合冻结的</a:t>
            </a:r>
            <a:r>
              <a:rPr lang="en-US" altLang="zh-CN" dirty="0"/>
              <a:t>PVASS</a:t>
            </a:r>
            <a:r>
              <a:rPr lang="zh-CN" altLang="en-US" dirty="0"/>
              <a:t>网络对齐真实视频</a:t>
            </a:r>
            <a:r>
              <a:rPr lang="en-US" altLang="zh-CN" dirty="0"/>
              <a:t>VA</a:t>
            </a:r>
            <a:r>
              <a:rPr lang="zh-CN" altLang="en-US" dirty="0"/>
              <a:t>特征，以指导多模态检测器捕捉更微妙的</a:t>
            </a:r>
            <a:r>
              <a:rPr lang="en-US" altLang="zh-CN" dirty="0"/>
              <a:t>VA</a:t>
            </a:r>
            <a:r>
              <a:rPr lang="zh-CN" altLang="en-US" dirty="0"/>
              <a:t>不一致。</a:t>
            </a:r>
            <a:endParaRPr lang="zh-CN" altLang="en-US" dirty="0"/>
          </a:p>
        </p:txBody>
      </p:sp>
      <p:pic>
        <p:nvPicPr>
          <p:cNvPr id="4" name="图片 3"/>
          <p:cNvPicPr>
            <a:picLocks noChangeAspect="1"/>
          </p:cNvPicPr>
          <p:nvPr/>
        </p:nvPicPr>
        <p:blipFill>
          <a:blip r:embed="rId1"/>
          <a:stretch>
            <a:fillRect/>
          </a:stretch>
        </p:blipFill>
        <p:spPr>
          <a:xfrm>
            <a:off x="4890770" y="3147060"/>
            <a:ext cx="6384290" cy="2872740"/>
          </a:xfrm>
          <a:prstGeom prst="rect">
            <a:avLst/>
          </a:prstGeom>
        </p:spPr>
      </p:pic>
      <p:pic>
        <p:nvPicPr>
          <p:cNvPr id="5" name="图片 4"/>
          <p:cNvPicPr>
            <a:picLocks noChangeAspect="1"/>
          </p:cNvPicPr>
          <p:nvPr/>
        </p:nvPicPr>
        <p:blipFill>
          <a:blip r:embed="rId2"/>
          <a:stretch>
            <a:fillRect/>
          </a:stretch>
        </p:blipFill>
        <p:spPr>
          <a:xfrm>
            <a:off x="4759960" y="360045"/>
            <a:ext cx="6514465" cy="2579370"/>
          </a:xfrm>
          <a:prstGeom prst="rect">
            <a:avLst/>
          </a:prstGeom>
        </p:spPr>
      </p:pic>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Deepfake检测技术挑战</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FOUR</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custDataLst>
              <p:tags r:id="rId1"/>
            </p:custDataLst>
          </p:nvPr>
        </p:nvSpPr>
        <p:spPr/>
        <p:txBody>
          <a:bodyPr/>
          <a:lstStyle/>
          <a:p>
            <a:r>
              <a:rPr lang="zh-CN" altLang="en-US"/>
              <a:t>技术挑战分析</a:t>
            </a:r>
            <a:endParaRPr lang="zh-CN" altLang="en-US"/>
          </a:p>
        </p:txBody>
      </p:sp>
      <p:pic>
        <p:nvPicPr>
          <p:cNvPr id="8" name="图片 7" descr="/data/temp/d1a20156-41be-11f0-9964-cacd963c4853.jpg@base@tag=imgScale&amp;m=1&amp;w=448&amp;h=405&amp;q=95d1a20156-41be-11f0-9964-cacd963c4853"/>
          <p:cNvPicPr/>
          <p:nvPr>
            <p:custDataLst>
              <p:tags r:id="rId2"/>
            </p:custDataLst>
          </p:nvPr>
        </p:nvPicPr>
        <p:blipFill rotWithShape="1">
          <a:blip r:embed="rId3"/>
          <a:srcRect l="15203" r="15203"/>
          <a:stretch>
            <a:fillRect/>
          </a:stretch>
        </p:blipFill>
        <p:spPr>
          <a:xfrm>
            <a:off x="6022541" y="1486312"/>
            <a:ext cx="1699966" cy="1538556"/>
          </a:xfrm>
          <a:custGeom>
            <a:avLst/>
            <a:gdLst>
              <a:gd name="connsiteX0" fmla="*/ 523564 w 1612801"/>
              <a:gd name="connsiteY0" fmla="*/ 0 h 1459667"/>
              <a:gd name="connsiteX1" fmla="*/ 1089218 w 1612801"/>
              <a:gd name="connsiteY1" fmla="*/ 0 h 1459667"/>
              <a:gd name="connsiteX2" fmla="*/ 1297027 w 1612801"/>
              <a:gd name="connsiteY2" fmla="*/ 119965 h 1459667"/>
              <a:gd name="connsiteX3" fmla="*/ 1579857 w 1612801"/>
              <a:gd name="connsiteY3" fmla="*/ 609835 h 1459667"/>
              <a:gd name="connsiteX4" fmla="*/ 1579877 w 1612801"/>
              <a:gd name="connsiteY4" fmla="*/ 849799 h 1459667"/>
              <a:gd name="connsiteX5" fmla="*/ 1297045 w 1612801"/>
              <a:gd name="connsiteY5" fmla="*/ 1339668 h 1459667"/>
              <a:gd name="connsiteX6" fmla="*/ 1089239 w 1612801"/>
              <a:gd name="connsiteY6" fmla="*/ 1459667 h 1459667"/>
              <a:gd name="connsiteX7" fmla="*/ 523584 w 1612801"/>
              <a:gd name="connsiteY7" fmla="*/ 1459667 h 1459667"/>
              <a:gd name="connsiteX8" fmla="*/ 315776 w 1612801"/>
              <a:gd name="connsiteY8" fmla="*/ 1339702 h 1459667"/>
              <a:gd name="connsiteX9" fmla="*/ 32944 w 1612801"/>
              <a:gd name="connsiteY9" fmla="*/ 849833 h 1459667"/>
              <a:gd name="connsiteX10" fmla="*/ 32925 w 1612801"/>
              <a:gd name="connsiteY10" fmla="*/ 609869 h 1459667"/>
              <a:gd name="connsiteX11" fmla="*/ 315756 w 1612801"/>
              <a:gd name="connsiteY11" fmla="*/ 119999 h 1459667"/>
              <a:gd name="connsiteX12" fmla="*/ 523564 w 1612801"/>
              <a:gd name="connsiteY12" fmla="*/ 0 h 14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2801" h="1459667">
                <a:moveTo>
                  <a:pt x="523564" y="0"/>
                </a:moveTo>
                <a:cubicBezTo>
                  <a:pt x="611386" y="1"/>
                  <a:pt x="1001395" y="1"/>
                  <a:pt x="1089218" y="0"/>
                </a:cubicBezTo>
                <a:cubicBezTo>
                  <a:pt x="1177042" y="1"/>
                  <a:pt x="1253114" y="43909"/>
                  <a:pt x="1297027" y="119965"/>
                </a:cubicBezTo>
                <a:cubicBezTo>
                  <a:pt x="1340938" y="196023"/>
                  <a:pt x="1535945" y="533779"/>
                  <a:pt x="1579857" y="609835"/>
                </a:cubicBezTo>
                <a:cubicBezTo>
                  <a:pt x="1623769" y="685893"/>
                  <a:pt x="1623789" y="773744"/>
                  <a:pt x="1579877" y="849799"/>
                </a:cubicBezTo>
                <a:cubicBezTo>
                  <a:pt x="1535964" y="925857"/>
                  <a:pt x="1340957" y="1263613"/>
                  <a:pt x="1297045" y="1339668"/>
                </a:cubicBezTo>
                <a:cubicBezTo>
                  <a:pt x="1253134" y="1415727"/>
                  <a:pt x="1177061" y="1459668"/>
                  <a:pt x="1089239" y="1459667"/>
                </a:cubicBezTo>
                <a:cubicBezTo>
                  <a:pt x="1001416" y="1459668"/>
                  <a:pt x="611407" y="1459668"/>
                  <a:pt x="523584" y="1459667"/>
                </a:cubicBezTo>
                <a:cubicBezTo>
                  <a:pt x="435760" y="1459668"/>
                  <a:pt x="359687" y="1415759"/>
                  <a:pt x="315776" y="1339702"/>
                </a:cubicBezTo>
                <a:cubicBezTo>
                  <a:pt x="271864" y="1263646"/>
                  <a:pt x="76857" y="925890"/>
                  <a:pt x="32944" y="849833"/>
                </a:cubicBezTo>
                <a:cubicBezTo>
                  <a:pt x="-10968" y="773776"/>
                  <a:pt x="-10987" y="685925"/>
                  <a:pt x="32925" y="609869"/>
                </a:cubicBezTo>
                <a:cubicBezTo>
                  <a:pt x="76837" y="533812"/>
                  <a:pt x="271844" y="196057"/>
                  <a:pt x="315756" y="119999"/>
                </a:cubicBezTo>
                <a:cubicBezTo>
                  <a:pt x="359669" y="43943"/>
                  <a:pt x="435740" y="1"/>
                  <a:pt x="523564" y="0"/>
                </a:cubicBezTo>
                <a:close/>
              </a:path>
            </a:pathLst>
          </a:custGeom>
          <a:solidFill>
            <a:schemeClr val="accent1"/>
          </a:solidFill>
          <a:ln w="76200">
            <a:solidFill>
              <a:schemeClr val="accent1">
                <a:alpha val="65000"/>
              </a:schemeClr>
            </a:solidFill>
          </a:ln>
        </p:spPr>
      </p:pic>
      <p:pic>
        <p:nvPicPr>
          <p:cNvPr id="12" name="图片 11" descr="/data/temp/d1a20106-41be-11f0-9964-cacd963c4853.jpg@base@tag=imgScale&amp;m=1&amp;w=448&amp;h=405&amp;q=95d1a20106-41be-11f0-9964-cacd963c4853"/>
          <p:cNvPicPr/>
          <p:nvPr>
            <p:custDataLst>
              <p:tags r:id="rId4"/>
            </p:custDataLst>
          </p:nvPr>
        </p:nvPicPr>
        <p:blipFill rotWithShape="1">
          <a:blip r:embed="rId5"/>
          <a:srcRect l="10952" r="10952"/>
          <a:stretch>
            <a:fillRect/>
          </a:stretch>
        </p:blipFill>
        <p:spPr>
          <a:xfrm>
            <a:off x="4424877" y="2454148"/>
            <a:ext cx="1699966" cy="1538556"/>
          </a:xfrm>
          <a:custGeom>
            <a:avLst/>
            <a:gdLst>
              <a:gd name="connsiteX0" fmla="*/ 523564 w 1612801"/>
              <a:gd name="connsiteY0" fmla="*/ 0 h 1459667"/>
              <a:gd name="connsiteX1" fmla="*/ 1089218 w 1612801"/>
              <a:gd name="connsiteY1" fmla="*/ 0 h 1459667"/>
              <a:gd name="connsiteX2" fmla="*/ 1297027 w 1612801"/>
              <a:gd name="connsiteY2" fmla="*/ 119965 h 1459667"/>
              <a:gd name="connsiteX3" fmla="*/ 1579857 w 1612801"/>
              <a:gd name="connsiteY3" fmla="*/ 609835 h 1459667"/>
              <a:gd name="connsiteX4" fmla="*/ 1579877 w 1612801"/>
              <a:gd name="connsiteY4" fmla="*/ 849799 h 1459667"/>
              <a:gd name="connsiteX5" fmla="*/ 1297045 w 1612801"/>
              <a:gd name="connsiteY5" fmla="*/ 1339668 h 1459667"/>
              <a:gd name="connsiteX6" fmla="*/ 1089239 w 1612801"/>
              <a:gd name="connsiteY6" fmla="*/ 1459667 h 1459667"/>
              <a:gd name="connsiteX7" fmla="*/ 523584 w 1612801"/>
              <a:gd name="connsiteY7" fmla="*/ 1459667 h 1459667"/>
              <a:gd name="connsiteX8" fmla="*/ 315776 w 1612801"/>
              <a:gd name="connsiteY8" fmla="*/ 1339702 h 1459667"/>
              <a:gd name="connsiteX9" fmla="*/ 32944 w 1612801"/>
              <a:gd name="connsiteY9" fmla="*/ 849833 h 1459667"/>
              <a:gd name="connsiteX10" fmla="*/ 32925 w 1612801"/>
              <a:gd name="connsiteY10" fmla="*/ 609869 h 1459667"/>
              <a:gd name="connsiteX11" fmla="*/ 315756 w 1612801"/>
              <a:gd name="connsiteY11" fmla="*/ 119999 h 1459667"/>
              <a:gd name="connsiteX12" fmla="*/ 523564 w 1612801"/>
              <a:gd name="connsiteY12" fmla="*/ 0 h 14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2801" h="1459667">
                <a:moveTo>
                  <a:pt x="523564" y="0"/>
                </a:moveTo>
                <a:cubicBezTo>
                  <a:pt x="611386" y="1"/>
                  <a:pt x="1001395" y="1"/>
                  <a:pt x="1089218" y="0"/>
                </a:cubicBezTo>
                <a:cubicBezTo>
                  <a:pt x="1177042" y="1"/>
                  <a:pt x="1253114" y="43910"/>
                  <a:pt x="1297027" y="119965"/>
                </a:cubicBezTo>
                <a:cubicBezTo>
                  <a:pt x="1340938" y="196023"/>
                  <a:pt x="1535945" y="533779"/>
                  <a:pt x="1579857" y="609835"/>
                </a:cubicBezTo>
                <a:cubicBezTo>
                  <a:pt x="1623769" y="685893"/>
                  <a:pt x="1623789" y="773744"/>
                  <a:pt x="1579877" y="849799"/>
                </a:cubicBezTo>
                <a:cubicBezTo>
                  <a:pt x="1535964" y="925857"/>
                  <a:pt x="1340957" y="1263613"/>
                  <a:pt x="1297045" y="1339668"/>
                </a:cubicBezTo>
                <a:cubicBezTo>
                  <a:pt x="1253134" y="1415727"/>
                  <a:pt x="1177061" y="1459668"/>
                  <a:pt x="1089239" y="1459667"/>
                </a:cubicBezTo>
                <a:cubicBezTo>
                  <a:pt x="1001416" y="1459668"/>
                  <a:pt x="611407" y="1459668"/>
                  <a:pt x="523584" y="1459667"/>
                </a:cubicBezTo>
                <a:cubicBezTo>
                  <a:pt x="435760" y="1459668"/>
                  <a:pt x="359687" y="1415759"/>
                  <a:pt x="315776" y="1339702"/>
                </a:cubicBezTo>
                <a:cubicBezTo>
                  <a:pt x="271864" y="1263646"/>
                  <a:pt x="76857" y="925890"/>
                  <a:pt x="32944" y="849833"/>
                </a:cubicBezTo>
                <a:cubicBezTo>
                  <a:pt x="-10968" y="773776"/>
                  <a:pt x="-10987" y="685925"/>
                  <a:pt x="32925" y="609869"/>
                </a:cubicBezTo>
                <a:cubicBezTo>
                  <a:pt x="76837" y="533812"/>
                  <a:pt x="271844" y="196057"/>
                  <a:pt x="315756" y="119999"/>
                </a:cubicBezTo>
                <a:cubicBezTo>
                  <a:pt x="359669" y="43943"/>
                  <a:pt x="435740" y="1"/>
                  <a:pt x="523564" y="0"/>
                </a:cubicBezTo>
                <a:close/>
              </a:path>
            </a:pathLst>
          </a:custGeom>
          <a:solidFill>
            <a:schemeClr val="accent1"/>
          </a:solidFill>
          <a:ln w="76200">
            <a:solidFill>
              <a:schemeClr val="accent1">
                <a:alpha val="65000"/>
              </a:schemeClr>
            </a:solidFill>
          </a:ln>
        </p:spPr>
      </p:pic>
      <p:pic>
        <p:nvPicPr>
          <p:cNvPr id="13" name="图片 12" descr="/data/temp/d1a2027c-41be-11f0-9964-cacd963c4853.jpg@base@tag=imgScale&amp;m=1&amp;w=448&amp;h=405&amp;q=95d1a2027c-41be-11f0-9964-cacd963c4853"/>
          <p:cNvPicPr/>
          <p:nvPr>
            <p:custDataLst>
              <p:tags r:id="rId6"/>
            </p:custDataLst>
          </p:nvPr>
        </p:nvPicPr>
        <p:blipFill rotWithShape="1">
          <a:blip r:embed="rId7"/>
          <a:srcRect l="5774" r="8827"/>
          <a:stretch>
            <a:fillRect/>
          </a:stretch>
        </p:blipFill>
        <p:spPr>
          <a:xfrm>
            <a:off x="6058684" y="3352374"/>
            <a:ext cx="1699966" cy="1538556"/>
          </a:xfrm>
          <a:custGeom>
            <a:avLst/>
            <a:gdLst>
              <a:gd name="connsiteX0" fmla="*/ 523564 w 1612801"/>
              <a:gd name="connsiteY0" fmla="*/ 0 h 1459667"/>
              <a:gd name="connsiteX1" fmla="*/ 1089218 w 1612801"/>
              <a:gd name="connsiteY1" fmla="*/ 0 h 1459667"/>
              <a:gd name="connsiteX2" fmla="*/ 1297027 w 1612801"/>
              <a:gd name="connsiteY2" fmla="*/ 119965 h 1459667"/>
              <a:gd name="connsiteX3" fmla="*/ 1579857 w 1612801"/>
              <a:gd name="connsiteY3" fmla="*/ 609835 h 1459667"/>
              <a:gd name="connsiteX4" fmla="*/ 1579877 w 1612801"/>
              <a:gd name="connsiteY4" fmla="*/ 849799 h 1459667"/>
              <a:gd name="connsiteX5" fmla="*/ 1297045 w 1612801"/>
              <a:gd name="connsiteY5" fmla="*/ 1339668 h 1459667"/>
              <a:gd name="connsiteX6" fmla="*/ 1089239 w 1612801"/>
              <a:gd name="connsiteY6" fmla="*/ 1459667 h 1459667"/>
              <a:gd name="connsiteX7" fmla="*/ 523584 w 1612801"/>
              <a:gd name="connsiteY7" fmla="*/ 1459667 h 1459667"/>
              <a:gd name="connsiteX8" fmla="*/ 315776 w 1612801"/>
              <a:gd name="connsiteY8" fmla="*/ 1339702 h 1459667"/>
              <a:gd name="connsiteX9" fmla="*/ 32944 w 1612801"/>
              <a:gd name="connsiteY9" fmla="*/ 849833 h 1459667"/>
              <a:gd name="connsiteX10" fmla="*/ 32925 w 1612801"/>
              <a:gd name="connsiteY10" fmla="*/ 609869 h 1459667"/>
              <a:gd name="connsiteX11" fmla="*/ 315756 w 1612801"/>
              <a:gd name="connsiteY11" fmla="*/ 119999 h 1459667"/>
              <a:gd name="connsiteX12" fmla="*/ 523564 w 1612801"/>
              <a:gd name="connsiteY12" fmla="*/ 0 h 14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2801" h="1459667">
                <a:moveTo>
                  <a:pt x="523564" y="0"/>
                </a:moveTo>
                <a:cubicBezTo>
                  <a:pt x="611386" y="1"/>
                  <a:pt x="1001395" y="1"/>
                  <a:pt x="1089218" y="0"/>
                </a:cubicBezTo>
                <a:cubicBezTo>
                  <a:pt x="1177042" y="1"/>
                  <a:pt x="1253114" y="43910"/>
                  <a:pt x="1297027" y="119965"/>
                </a:cubicBezTo>
                <a:cubicBezTo>
                  <a:pt x="1340938" y="196023"/>
                  <a:pt x="1535945" y="533779"/>
                  <a:pt x="1579857" y="609835"/>
                </a:cubicBezTo>
                <a:cubicBezTo>
                  <a:pt x="1623769" y="685893"/>
                  <a:pt x="1623789" y="773744"/>
                  <a:pt x="1579877" y="849799"/>
                </a:cubicBezTo>
                <a:cubicBezTo>
                  <a:pt x="1535964" y="925857"/>
                  <a:pt x="1340957" y="1263613"/>
                  <a:pt x="1297045" y="1339668"/>
                </a:cubicBezTo>
                <a:cubicBezTo>
                  <a:pt x="1253134" y="1415727"/>
                  <a:pt x="1177061" y="1459668"/>
                  <a:pt x="1089239" y="1459667"/>
                </a:cubicBezTo>
                <a:cubicBezTo>
                  <a:pt x="1001416" y="1459668"/>
                  <a:pt x="611407" y="1459668"/>
                  <a:pt x="523584" y="1459667"/>
                </a:cubicBezTo>
                <a:cubicBezTo>
                  <a:pt x="435760" y="1459668"/>
                  <a:pt x="359687" y="1415759"/>
                  <a:pt x="315776" y="1339702"/>
                </a:cubicBezTo>
                <a:cubicBezTo>
                  <a:pt x="271864" y="1263646"/>
                  <a:pt x="76857" y="925890"/>
                  <a:pt x="32944" y="849833"/>
                </a:cubicBezTo>
                <a:cubicBezTo>
                  <a:pt x="-10968" y="773776"/>
                  <a:pt x="-10987" y="685925"/>
                  <a:pt x="32925" y="609869"/>
                </a:cubicBezTo>
                <a:cubicBezTo>
                  <a:pt x="76837" y="533812"/>
                  <a:pt x="271844" y="196057"/>
                  <a:pt x="315756" y="119999"/>
                </a:cubicBezTo>
                <a:cubicBezTo>
                  <a:pt x="359669" y="43943"/>
                  <a:pt x="435740" y="1"/>
                  <a:pt x="523564" y="0"/>
                </a:cubicBezTo>
                <a:close/>
              </a:path>
            </a:pathLst>
          </a:custGeom>
          <a:solidFill>
            <a:schemeClr val="accent1"/>
          </a:solidFill>
          <a:ln w="76200">
            <a:solidFill>
              <a:schemeClr val="accent1">
                <a:alpha val="65000"/>
              </a:schemeClr>
            </a:solidFill>
          </a:ln>
        </p:spPr>
      </p:pic>
      <p:pic>
        <p:nvPicPr>
          <p:cNvPr id="15" name="图片 14" descr="/data/temp/d1a2033c-41be-11f0-9964-cacd963c4853.jpg@base@tag=imgScale&amp;m=1&amp;w=448&amp;h=405&amp;q=95d1a2033c-41be-11f0-9964-cacd963c4853"/>
          <p:cNvPicPr>
            <a:picLocks noChangeAspect="1"/>
          </p:cNvPicPr>
          <p:nvPr>
            <p:custDataLst>
              <p:tags r:id="rId8"/>
            </p:custDataLst>
          </p:nvPr>
        </p:nvPicPr>
        <p:blipFill rotWithShape="1">
          <a:blip r:embed="rId9"/>
          <a:srcRect t="9897"/>
          <a:stretch>
            <a:fillRect/>
          </a:stretch>
        </p:blipFill>
        <p:spPr>
          <a:xfrm>
            <a:off x="4453658" y="4305484"/>
            <a:ext cx="1699966" cy="1538556"/>
          </a:xfrm>
          <a:custGeom>
            <a:avLst/>
            <a:gdLst>
              <a:gd name="connsiteX0" fmla="*/ 523564 w 1612801"/>
              <a:gd name="connsiteY0" fmla="*/ 0 h 1459667"/>
              <a:gd name="connsiteX1" fmla="*/ 1089218 w 1612801"/>
              <a:gd name="connsiteY1" fmla="*/ 0 h 1459667"/>
              <a:gd name="connsiteX2" fmla="*/ 1297027 w 1612801"/>
              <a:gd name="connsiteY2" fmla="*/ 119965 h 1459667"/>
              <a:gd name="connsiteX3" fmla="*/ 1579857 w 1612801"/>
              <a:gd name="connsiteY3" fmla="*/ 609835 h 1459667"/>
              <a:gd name="connsiteX4" fmla="*/ 1579877 w 1612801"/>
              <a:gd name="connsiteY4" fmla="*/ 849799 h 1459667"/>
              <a:gd name="connsiteX5" fmla="*/ 1297045 w 1612801"/>
              <a:gd name="connsiteY5" fmla="*/ 1339668 h 1459667"/>
              <a:gd name="connsiteX6" fmla="*/ 1089239 w 1612801"/>
              <a:gd name="connsiteY6" fmla="*/ 1459667 h 1459667"/>
              <a:gd name="connsiteX7" fmla="*/ 523584 w 1612801"/>
              <a:gd name="connsiteY7" fmla="*/ 1459667 h 1459667"/>
              <a:gd name="connsiteX8" fmla="*/ 315776 w 1612801"/>
              <a:gd name="connsiteY8" fmla="*/ 1339702 h 1459667"/>
              <a:gd name="connsiteX9" fmla="*/ 32944 w 1612801"/>
              <a:gd name="connsiteY9" fmla="*/ 849833 h 1459667"/>
              <a:gd name="connsiteX10" fmla="*/ 32925 w 1612801"/>
              <a:gd name="connsiteY10" fmla="*/ 609869 h 1459667"/>
              <a:gd name="connsiteX11" fmla="*/ 315756 w 1612801"/>
              <a:gd name="connsiteY11" fmla="*/ 119999 h 1459667"/>
              <a:gd name="connsiteX12" fmla="*/ 523564 w 1612801"/>
              <a:gd name="connsiteY12" fmla="*/ 0 h 1459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12801" h="1459667">
                <a:moveTo>
                  <a:pt x="523564" y="0"/>
                </a:moveTo>
                <a:cubicBezTo>
                  <a:pt x="611386" y="1"/>
                  <a:pt x="1001395" y="1"/>
                  <a:pt x="1089218" y="0"/>
                </a:cubicBezTo>
                <a:cubicBezTo>
                  <a:pt x="1177042" y="1"/>
                  <a:pt x="1253114" y="43910"/>
                  <a:pt x="1297027" y="119965"/>
                </a:cubicBezTo>
                <a:cubicBezTo>
                  <a:pt x="1340938" y="196023"/>
                  <a:pt x="1535945" y="533779"/>
                  <a:pt x="1579857" y="609835"/>
                </a:cubicBezTo>
                <a:cubicBezTo>
                  <a:pt x="1623769" y="685893"/>
                  <a:pt x="1623789" y="773744"/>
                  <a:pt x="1579877" y="849799"/>
                </a:cubicBezTo>
                <a:cubicBezTo>
                  <a:pt x="1535964" y="925857"/>
                  <a:pt x="1340957" y="1263613"/>
                  <a:pt x="1297045" y="1339668"/>
                </a:cubicBezTo>
                <a:cubicBezTo>
                  <a:pt x="1253134" y="1415727"/>
                  <a:pt x="1177061" y="1459668"/>
                  <a:pt x="1089239" y="1459667"/>
                </a:cubicBezTo>
                <a:cubicBezTo>
                  <a:pt x="1001416" y="1459668"/>
                  <a:pt x="611407" y="1459668"/>
                  <a:pt x="523584" y="1459667"/>
                </a:cubicBezTo>
                <a:cubicBezTo>
                  <a:pt x="435760" y="1459668"/>
                  <a:pt x="359687" y="1415759"/>
                  <a:pt x="315776" y="1339702"/>
                </a:cubicBezTo>
                <a:cubicBezTo>
                  <a:pt x="271864" y="1263646"/>
                  <a:pt x="76857" y="925890"/>
                  <a:pt x="32944" y="849833"/>
                </a:cubicBezTo>
                <a:cubicBezTo>
                  <a:pt x="-10968" y="773776"/>
                  <a:pt x="-10987" y="685926"/>
                  <a:pt x="32925" y="609869"/>
                </a:cubicBezTo>
                <a:cubicBezTo>
                  <a:pt x="76837" y="533812"/>
                  <a:pt x="271844" y="196057"/>
                  <a:pt x="315756" y="119999"/>
                </a:cubicBezTo>
                <a:cubicBezTo>
                  <a:pt x="359669" y="43943"/>
                  <a:pt x="435740" y="1"/>
                  <a:pt x="523564" y="0"/>
                </a:cubicBezTo>
                <a:close/>
              </a:path>
            </a:pathLst>
          </a:custGeom>
          <a:solidFill>
            <a:schemeClr val="accent1"/>
          </a:solidFill>
          <a:ln w="76200">
            <a:solidFill>
              <a:schemeClr val="accent1">
                <a:alpha val="65000"/>
              </a:schemeClr>
            </a:solidFill>
          </a:ln>
        </p:spPr>
      </p:pic>
      <p:sp>
        <p:nvSpPr>
          <p:cNvPr id="17" name="矩形 16"/>
          <p:cNvSpPr/>
          <p:nvPr>
            <p:custDataLst>
              <p:tags r:id="rId10"/>
            </p:custDataLst>
          </p:nvPr>
        </p:nvSpPr>
        <p:spPr>
          <a:xfrm>
            <a:off x="1024067" y="2100747"/>
            <a:ext cx="2986322" cy="455137"/>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spcBef>
                <a:spcPct val="0"/>
              </a:spcBef>
              <a:spcAft>
                <a:spcPct val="0"/>
              </a:spcAft>
            </a:pPr>
            <a:r>
              <a:rPr lang="zh-CN" altLang="en-US" sz="1600" b="1" dirty="0">
                <a:solidFill>
                  <a:schemeClr val="accent1"/>
                </a:solidFill>
                <a:latin typeface="+mn-ea"/>
                <a:cs typeface="+mn-ea"/>
                <a:sym typeface="+mn-ea"/>
              </a:rPr>
              <a:t>模型泛化能力与鲁棒性不足</a:t>
            </a:r>
            <a:endParaRPr lang="zh-CN" altLang="en-US" sz="1600" b="1" dirty="0">
              <a:solidFill>
                <a:schemeClr val="accent1"/>
              </a:solidFill>
              <a:latin typeface="+mn-ea"/>
              <a:cs typeface="+mn-ea"/>
              <a:sym typeface="+mn-ea"/>
            </a:endParaRPr>
          </a:p>
        </p:txBody>
      </p:sp>
      <p:sp>
        <p:nvSpPr>
          <p:cNvPr id="18" name="矩形 17"/>
          <p:cNvSpPr/>
          <p:nvPr>
            <p:custDataLst>
              <p:tags r:id="rId11"/>
            </p:custDataLst>
          </p:nvPr>
        </p:nvSpPr>
        <p:spPr>
          <a:xfrm>
            <a:off x="574040" y="2607945"/>
            <a:ext cx="3435350" cy="1301115"/>
          </a:xfrm>
          <a:prstGeom prst="rect">
            <a:avLst/>
          </a:prstGeom>
          <a:ln>
            <a:noFill/>
            <a:prstDash val="sysDash"/>
          </a:ln>
        </p:spPr>
        <p:txBody>
          <a:bodyPr vert="horz" wrap="square" lIns="0" tIns="0" rIns="0" bIns="0" rtlCol="0" anchor="t" anchorCtr="0">
            <a:noAutofit/>
          </a:bodyPr>
          <a:p>
            <a:pPr indent="-228600">
              <a:lnSpc>
                <a:spcPct val="150000"/>
              </a:lnSpc>
              <a:spcBef>
                <a:spcPct val="0"/>
              </a:spcBef>
              <a:spcAft>
                <a:spcPct val="0"/>
              </a:spcAft>
            </a:pPr>
            <a:r>
              <a:rPr lang="en-US" altLang="zh-CN" sz="1300" dirty="0">
                <a:ln>
                  <a:noFill/>
                  <a:prstDash val="sysDot"/>
                </a:ln>
                <a:solidFill>
                  <a:schemeClr val="tx1">
                    <a:lumMod val="85000"/>
                    <a:lumOff val="15000"/>
                  </a:schemeClr>
                </a:solidFill>
                <a:latin typeface="+mn-ea"/>
                <a:cs typeface="+mn-ea"/>
                <a:sym typeface="+mn-ea"/>
              </a:rPr>
              <a:t>Nadimpalli</a:t>
            </a:r>
            <a:r>
              <a:rPr lang="zh-CN" altLang="en-US" sz="1300" dirty="0">
                <a:ln>
                  <a:noFill/>
                  <a:prstDash val="sysDot"/>
                </a:ln>
                <a:solidFill>
                  <a:schemeClr val="tx1">
                    <a:lumMod val="85000"/>
                    <a:lumOff val="15000"/>
                  </a:schemeClr>
                </a:solidFill>
                <a:latin typeface="+mn-ea"/>
                <a:cs typeface="+mn-ea"/>
                <a:sym typeface="+mn-ea"/>
              </a:rPr>
              <a:t>等人（</a:t>
            </a:r>
            <a:r>
              <a:rPr lang="en-US" altLang="zh-CN" sz="1300" dirty="0">
                <a:ln>
                  <a:noFill/>
                  <a:prstDash val="sysDot"/>
                </a:ln>
                <a:solidFill>
                  <a:schemeClr val="tx1">
                    <a:lumMod val="85000"/>
                    <a:lumOff val="15000"/>
                  </a:schemeClr>
                </a:solidFill>
                <a:latin typeface="+mn-ea"/>
                <a:cs typeface="+mn-ea"/>
                <a:sym typeface="+mn-ea"/>
              </a:rPr>
              <a:t>2022</a:t>
            </a:r>
            <a:r>
              <a:rPr lang="zh-CN" altLang="en-US" sz="1300" dirty="0">
                <a:ln>
                  <a:noFill/>
                  <a:prstDash val="sysDot"/>
                </a:ln>
                <a:solidFill>
                  <a:schemeClr val="tx1">
                    <a:lumMod val="85000"/>
                    <a:lumOff val="15000"/>
                  </a:schemeClr>
                </a:solidFill>
                <a:latin typeface="+mn-ea"/>
                <a:cs typeface="+mn-ea"/>
                <a:sym typeface="+mn-ea"/>
              </a:rPr>
              <a:t>）测试了伪造人脸检测领域主流的卷积神经网络模型在跨数据集时的表现，结果显示，</a:t>
            </a:r>
            <a:r>
              <a:rPr lang="en-US" altLang="zh-CN" sz="1300" dirty="0">
                <a:ln>
                  <a:noFill/>
                  <a:prstDash val="sysDot"/>
                </a:ln>
                <a:solidFill>
                  <a:schemeClr val="tx1">
                    <a:lumMod val="85000"/>
                    <a:lumOff val="15000"/>
                  </a:schemeClr>
                </a:solidFill>
                <a:latin typeface="+mn-ea"/>
                <a:cs typeface="+mn-ea"/>
                <a:sym typeface="+mn-ea"/>
              </a:rPr>
              <a:t>ResNet-50</a:t>
            </a:r>
            <a:r>
              <a:rPr lang="zh-CN" altLang="en-US" sz="1300" dirty="0">
                <a:ln>
                  <a:noFill/>
                  <a:prstDash val="sysDot"/>
                </a:ln>
                <a:solidFill>
                  <a:schemeClr val="tx1">
                    <a:lumMod val="85000"/>
                    <a:lumOff val="15000"/>
                  </a:schemeClr>
                </a:solidFill>
                <a:latin typeface="+mn-ea"/>
                <a:cs typeface="+mn-ea"/>
                <a:sym typeface="+mn-ea"/>
              </a:rPr>
              <a:t>、</a:t>
            </a:r>
            <a:r>
              <a:rPr lang="en-US" altLang="zh-CN" sz="1300" dirty="0">
                <a:ln>
                  <a:noFill/>
                  <a:prstDash val="sysDot"/>
                </a:ln>
                <a:solidFill>
                  <a:schemeClr val="tx1">
                    <a:lumMod val="85000"/>
                    <a:lumOff val="15000"/>
                  </a:schemeClr>
                </a:solidFill>
                <a:latin typeface="+mn-ea"/>
                <a:cs typeface="+mn-ea"/>
                <a:sym typeface="+mn-ea"/>
              </a:rPr>
              <a:t>XceptionNet</a:t>
            </a:r>
            <a:r>
              <a:rPr lang="zh-CN" altLang="en-US" sz="1300" dirty="0">
                <a:ln>
                  <a:noFill/>
                  <a:prstDash val="sysDot"/>
                </a:ln>
                <a:solidFill>
                  <a:schemeClr val="tx1">
                    <a:lumMod val="85000"/>
                    <a:lumOff val="15000"/>
                  </a:schemeClr>
                </a:solidFill>
                <a:latin typeface="+mn-ea"/>
                <a:cs typeface="+mn-ea"/>
                <a:sym typeface="+mn-ea"/>
              </a:rPr>
              <a:t>、</a:t>
            </a:r>
            <a:r>
              <a:rPr lang="en-US" altLang="zh-CN" sz="1300" dirty="0">
                <a:ln>
                  <a:noFill/>
                  <a:prstDash val="sysDot"/>
                </a:ln>
                <a:solidFill>
                  <a:schemeClr val="tx1">
                    <a:lumMod val="85000"/>
                    <a:lumOff val="15000"/>
                  </a:schemeClr>
                </a:solidFill>
                <a:latin typeface="+mn-ea"/>
                <a:cs typeface="+mn-ea"/>
                <a:sym typeface="+mn-ea"/>
              </a:rPr>
              <a:t>E</a:t>
            </a:r>
            <a:r>
              <a:rPr lang="en-US" altLang="en-US" sz="1300" dirty="0">
                <a:ln>
                  <a:noFill/>
                  <a:prstDash val="sysDot"/>
                </a:ln>
                <a:solidFill>
                  <a:schemeClr val="tx1">
                    <a:lumMod val="85000"/>
                    <a:lumOff val="15000"/>
                  </a:schemeClr>
                </a:solidFill>
                <a:latin typeface="+mn-ea"/>
                <a:cs typeface="+mn-ea"/>
                <a:sym typeface="+mn-ea"/>
              </a:rPr>
              <a:t>ﬀ</a:t>
            </a:r>
            <a:r>
              <a:rPr lang="en-US" altLang="zh-CN" sz="1300" dirty="0">
                <a:ln>
                  <a:noFill/>
                  <a:prstDash val="sysDot"/>
                </a:ln>
                <a:solidFill>
                  <a:schemeClr val="tx1">
                    <a:lumMod val="85000"/>
                    <a:lumOff val="15000"/>
                  </a:schemeClr>
                </a:solidFill>
                <a:latin typeface="+mn-ea"/>
                <a:cs typeface="+mn-ea"/>
                <a:sym typeface="+mn-ea"/>
              </a:rPr>
              <a:t>icientNet V2-L</a:t>
            </a:r>
            <a:r>
              <a:rPr lang="zh-CN" altLang="en-US" sz="1300" dirty="0">
                <a:ln>
                  <a:noFill/>
                  <a:prstDash val="sysDot"/>
                </a:ln>
                <a:solidFill>
                  <a:schemeClr val="tx1">
                    <a:lumMod val="85000"/>
                    <a:lumOff val="15000"/>
                  </a:schemeClr>
                </a:solidFill>
                <a:latin typeface="+mn-ea"/>
                <a:cs typeface="+mn-ea"/>
                <a:sym typeface="+mn-ea"/>
              </a:rPr>
              <a:t>等模型在跨数据集测试时准确率大幅下降。这表明当前模型在不同数据集间的泛化能力较差，难以适应实际应用中的多样化需求</a:t>
            </a:r>
            <a:endParaRPr lang="zh-CN" altLang="en-US" sz="1300" dirty="0">
              <a:ln>
                <a:noFill/>
                <a:prstDash val="sysDot"/>
              </a:ln>
              <a:solidFill>
                <a:schemeClr val="tx1">
                  <a:lumMod val="85000"/>
                  <a:lumOff val="15000"/>
                </a:schemeClr>
              </a:solidFill>
              <a:latin typeface="+mn-ea"/>
              <a:cs typeface="+mn-ea"/>
              <a:sym typeface="+mn-ea"/>
            </a:endParaRPr>
          </a:p>
        </p:txBody>
      </p:sp>
      <p:sp>
        <p:nvSpPr>
          <p:cNvPr id="19" name="矩形 18"/>
          <p:cNvSpPr/>
          <p:nvPr>
            <p:custDataLst>
              <p:tags r:id="rId12"/>
            </p:custDataLst>
          </p:nvPr>
        </p:nvSpPr>
        <p:spPr>
          <a:xfrm>
            <a:off x="1024067" y="4642152"/>
            <a:ext cx="2986322" cy="455137"/>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spcBef>
                <a:spcPct val="0"/>
              </a:spcBef>
              <a:spcAft>
                <a:spcPct val="0"/>
              </a:spcAft>
            </a:pPr>
            <a:r>
              <a:rPr lang="zh-CN" altLang="en-US" sz="1600" b="1">
                <a:solidFill>
                  <a:schemeClr val="accent1"/>
                </a:solidFill>
                <a:latin typeface="+mn-ea"/>
                <a:cs typeface="+mn-ea"/>
                <a:sym typeface="+mn-ea"/>
              </a:rPr>
              <a:t>特定场景检测的研究</a:t>
            </a:r>
            <a:endParaRPr lang="zh-CN" altLang="en-US" sz="1600" b="1">
              <a:solidFill>
                <a:schemeClr val="accent1"/>
              </a:solidFill>
              <a:latin typeface="+mn-ea"/>
              <a:cs typeface="+mn-ea"/>
              <a:sym typeface="+mn-ea"/>
            </a:endParaRPr>
          </a:p>
        </p:txBody>
      </p:sp>
      <p:sp>
        <p:nvSpPr>
          <p:cNvPr id="25" name="矩形 24"/>
          <p:cNvSpPr/>
          <p:nvPr>
            <p:custDataLst>
              <p:tags r:id="rId13"/>
            </p:custDataLst>
          </p:nvPr>
        </p:nvSpPr>
        <p:spPr>
          <a:xfrm>
            <a:off x="1023398" y="5142133"/>
            <a:ext cx="2986322" cy="1301155"/>
          </a:xfrm>
          <a:prstGeom prst="rect">
            <a:avLst/>
          </a:prstGeom>
          <a:ln>
            <a:noFill/>
            <a:prstDash val="sysDash"/>
          </a:ln>
        </p:spPr>
        <p:txBody>
          <a:bodyPr vert="horz" wrap="square" lIns="0" tIns="0" rIns="0" bIns="0" rtlCol="0" anchor="t" anchorCtr="0">
            <a:noAutofit/>
          </a:bodyPr>
          <a:p>
            <a:pPr indent="-228600" algn="just">
              <a:lnSpc>
                <a:spcPct val="150000"/>
              </a:lnSpc>
              <a:spcBef>
                <a:spcPct val="0"/>
              </a:spcBef>
              <a:spcAft>
                <a:spcPct val="0"/>
              </a:spcAft>
            </a:pPr>
            <a:r>
              <a:rPr lang="zh-CN" altLang="en-US" sz="1300" dirty="0">
                <a:ln>
                  <a:noFill/>
                  <a:prstDash val="sysDot"/>
                </a:ln>
                <a:solidFill>
                  <a:schemeClr val="tx1">
                    <a:lumMod val="85000"/>
                    <a:lumOff val="15000"/>
                  </a:schemeClr>
                </a:solidFill>
                <a:latin typeface="+mn-ea"/>
                <a:cs typeface="+mn-ea"/>
              </a:rPr>
              <a:t>针对特定场景检测的研究不足。现有研究大多聚焦于通用型伪造视频检测，而针对特定应用场景（如口罩遮挡、多人脸检测等）的定制化检测方法仍相对较少，难以满足多样化的实际需求</a:t>
            </a:r>
            <a:endParaRPr lang="zh-CN" altLang="en-US" sz="1300" dirty="0">
              <a:ln>
                <a:noFill/>
                <a:prstDash val="sysDot"/>
              </a:ln>
              <a:solidFill>
                <a:schemeClr val="tx1">
                  <a:lumMod val="85000"/>
                  <a:lumOff val="15000"/>
                </a:schemeClr>
              </a:solidFill>
              <a:latin typeface="+mn-ea"/>
              <a:cs typeface="+mn-ea"/>
            </a:endParaRPr>
          </a:p>
        </p:txBody>
      </p:sp>
      <p:cxnSp>
        <p:nvCxnSpPr>
          <p:cNvPr id="26" name="直接连接符 25"/>
          <p:cNvCxnSpPr/>
          <p:nvPr>
            <p:custDataLst>
              <p:tags r:id="rId14"/>
            </p:custDataLst>
          </p:nvPr>
        </p:nvCxnSpPr>
        <p:spPr>
          <a:xfrm>
            <a:off x="1035446" y="2561239"/>
            <a:ext cx="3642782" cy="0"/>
          </a:xfrm>
          <a:prstGeom prst="line">
            <a:avLst/>
          </a:prstGeom>
          <a:ln w="9525">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cxnSp>
        <p:nvCxnSpPr>
          <p:cNvPr id="27" name="直接连接符 26"/>
          <p:cNvCxnSpPr/>
          <p:nvPr>
            <p:custDataLst>
              <p:tags r:id="rId15"/>
            </p:custDataLst>
          </p:nvPr>
        </p:nvCxnSpPr>
        <p:spPr>
          <a:xfrm>
            <a:off x="1035446" y="5103982"/>
            <a:ext cx="3339217" cy="0"/>
          </a:xfrm>
          <a:prstGeom prst="line">
            <a:avLst/>
          </a:prstGeom>
          <a:ln w="9525">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sp>
        <p:nvSpPr>
          <p:cNvPr id="28" name="矩形 27"/>
          <p:cNvSpPr/>
          <p:nvPr>
            <p:custDataLst>
              <p:tags r:id="rId16"/>
            </p:custDataLst>
          </p:nvPr>
        </p:nvSpPr>
        <p:spPr>
          <a:xfrm>
            <a:off x="8194482" y="1472257"/>
            <a:ext cx="2981302" cy="455137"/>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lgn="r">
              <a:spcBef>
                <a:spcPct val="0"/>
              </a:spcBef>
              <a:spcAft>
                <a:spcPct val="0"/>
              </a:spcAft>
            </a:pPr>
            <a:r>
              <a:rPr lang="zh-CN" altLang="zh-CN" sz="1600" b="1">
                <a:solidFill>
                  <a:schemeClr val="accent1"/>
                </a:solidFill>
                <a:latin typeface="+mn-ea"/>
                <a:cs typeface="+mn-ea"/>
                <a:sym typeface="+mn-ea"/>
              </a:rPr>
              <a:t>训练集纯洁性</a:t>
            </a:r>
            <a:endParaRPr lang="zh-CN" altLang="zh-CN" sz="1600" b="1">
              <a:solidFill>
                <a:schemeClr val="accent1"/>
              </a:solidFill>
              <a:latin typeface="+mn-ea"/>
              <a:cs typeface="+mn-ea"/>
              <a:sym typeface="+mn-ea"/>
            </a:endParaRPr>
          </a:p>
        </p:txBody>
      </p:sp>
      <p:sp>
        <p:nvSpPr>
          <p:cNvPr id="30" name="矩形 29"/>
          <p:cNvSpPr/>
          <p:nvPr>
            <p:custDataLst>
              <p:tags r:id="rId17"/>
            </p:custDataLst>
          </p:nvPr>
        </p:nvSpPr>
        <p:spPr>
          <a:xfrm>
            <a:off x="8194675" y="1972310"/>
            <a:ext cx="3458845" cy="1301115"/>
          </a:xfrm>
          <a:prstGeom prst="rect">
            <a:avLst/>
          </a:prstGeom>
          <a:ln>
            <a:noFill/>
            <a:prstDash val="sysDash"/>
          </a:ln>
        </p:spPr>
        <p:txBody>
          <a:bodyPr vert="horz" wrap="square" lIns="0" tIns="0" rIns="0" bIns="0" rtlCol="0" anchor="t" anchorCtr="0">
            <a:noAutofit/>
          </a:bodyPr>
          <a:p>
            <a:pPr indent="-228600" algn="r">
              <a:lnSpc>
                <a:spcPct val="150000"/>
              </a:lnSpc>
              <a:spcBef>
                <a:spcPct val="0"/>
              </a:spcBef>
              <a:spcAft>
                <a:spcPct val="0"/>
              </a:spcAft>
            </a:pPr>
            <a:r>
              <a:rPr lang="zh-CN" altLang="en-US" sz="1300" dirty="0">
                <a:ln>
                  <a:noFill/>
                  <a:prstDash val="sysDot"/>
                </a:ln>
                <a:solidFill>
                  <a:schemeClr val="tx1">
                    <a:lumMod val="85000"/>
                    <a:lumOff val="15000"/>
                  </a:schemeClr>
                </a:solidFill>
                <a:latin typeface="+mn-ea"/>
                <a:cs typeface="+mn-ea"/>
              </a:rPr>
              <a:t>目前的大部分的模型训练效果依赖于数据集的质量，但在真实的</a:t>
            </a:r>
            <a:r>
              <a:rPr lang="en-US" altLang="zh-CN" sz="1300" dirty="0">
                <a:ln>
                  <a:noFill/>
                  <a:prstDash val="sysDot"/>
                </a:ln>
                <a:solidFill>
                  <a:schemeClr val="tx1">
                    <a:lumMod val="85000"/>
                    <a:lumOff val="15000"/>
                  </a:schemeClr>
                </a:solidFill>
                <a:latin typeface="+mn-ea"/>
                <a:cs typeface="+mn-ea"/>
              </a:rPr>
              <a:t>Deepfake</a:t>
            </a:r>
            <a:r>
              <a:rPr lang="zh-CN" altLang="en-US" sz="1300" dirty="0">
                <a:ln>
                  <a:noFill/>
                  <a:prstDash val="sysDot"/>
                </a:ln>
                <a:solidFill>
                  <a:schemeClr val="tx1">
                    <a:lumMod val="85000"/>
                    <a:lumOff val="15000"/>
                  </a:schemeClr>
                </a:solidFill>
                <a:latin typeface="+mn-ea"/>
                <a:cs typeface="+mn-ea"/>
              </a:rPr>
              <a:t>检测应用场景中，数据标注者可能会误标数据，或者恶意攻击者会故意在训练数据中注入带有错误标签的样本一旦模型在这样的数据集上训练，其泛化能力和鲁棒性将受到严重影响</a:t>
            </a:r>
            <a:endParaRPr lang="zh-CN" altLang="en-US" sz="1300" dirty="0">
              <a:ln>
                <a:noFill/>
                <a:prstDash val="sysDot"/>
              </a:ln>
              <a:solidFill>
                <a:schemeClr val="tx1">
                  <a:lumMod val="85000"/>
                  <a:lumOff val="15000"/>
                </a:schemeClr>
              </a:solidFill>
              <a:latin typeface="+mn-ea"/>
              <a:cs typeface="+mn-ea"/>
            </a:endParaRPr>
          </a:p>
        </p:txBody>
      </p:sp>
      <p:sp>
        <p:nvSpPr>
          <p:cNvPr id="31" name="矩形 30"/>
          <p:cNvSpPr/>
          <p:nvPr>
            <p:custDataLst>
              <p:tags r:id="rId18"/>
            </p:custDataLst>
          </p:nvPr>
        </p:nvSpPr>
        <p:spPr>
          <a:xfrm>
            <a:off x="8189128" y="3728531"/>
            <a:ext cx="2986322" cy="455137"/>
          </a:xfrm>
          <a:prstGeom prst="rect">
            <a:avLst/>
          </a:prstGeom>
          <a:noFill/>
          <a:ln>
            <a:noFill/>
          </a:ln>
          <a:extLst>
            <a:ext uri="{909E8E84-426E-40DD-AFC4-6F175D3DCCD1}">
              <a14:hiddenFill xmlns:a14="http://schemas.microsoft.com/office/drawing/2010/main">
                <a:gradFill>
                  <a:gsLst>
                    <a:gs pos="100000">
                      <a:schemeClr val="accent1"/>
                    </a:gs>
                    <a:gs pos="0">
                      <a:schemeClr val="accent1">
                        <a:lumMod val="60000"/>
                        <a:lumOff val="40000"/>
                      </a:schemeClr>
                    </a:gs>
                  </a:gsLst>
                  <a:lin ang="2700000" scaled="0"/>
                </a:gradFill>
              </a14:hiddenFill>
            </a:ext>
          </a:ex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lIns="0" tIns="0" rIns="0" bIns="71755" numCol="1" spcCol="0" rtlCol="0" fromWordArt="0" anchor="b" anchorCtr="0" forceAA="0" compatLnSpc="1">
            <a:noAutofit/>
          </a:bodyPr>
          <a:p>
            <a:pPr algn="r">
              <a:spcBef>
                <a:spcPct val="0"/>
              </a:spcBef>
              <a:spcAft>
                <a:spcPct val="0"/>
              </a:spcAft>
            </a:pPr>
            <a:r>
              <a:rPr lang="zh-CN" altLang="en-US" sz="1600" b="1" dirty="0">
                <a:solidFill>
                  <a:schemeClr val="accent1"/>
                </a:solidFill>
                <a:latin typeface="+mn-ea"/>
                <a:cs typeface="+mn-ea"/>
                <a:sym typeface="+mn-ea"/>
              </a:rPr>
              <a:t>伪造技术演进与检测方法滞后</a:t>
            </a:r>
            <a:endParaRPr lang="zh-CN" altLang="en-US" sz="1600" b="1" dirty="0">
              <a:solidFill>
                <a:schemeClr val="accent1"/>
              </a:solidFill>
              <a:latin typeface="+mn-ea"/>
              <a:cs typeface="+mn-ea"/>
              <a:sym typeface="+mn-ea"/>
            </a:endParaRPr>
          </a:p>
        </p:txBody>
      </p:sp>
      <p:sp>
        <p:nvSpPr>
          <p:cNvPr id="32" name="矩形 31"/>
          <p:cNvSpPr/>
          <p:nvPr>
            <p:custDataLst>
              <p:tags r:id="rId19"/>
            </p:custDataLst>
          </p:nvPr>
        </p:nvSpPr>
        <p:spPr>
          <a:xfrm>
            <a:off x="8194482" y="4228513"/>
            <a:ext cx="2986322" cy="1301155"/>
          </a:xfrm>
          <a:prstGeom prst="rect">
            <a:avLst/>
          </a:prstGeom>
          <a:ln>
            <a:noFill/>
            <a:prstDash val="sysDash"/>
          </a:ln>
        </p:spPr>
        <p:txBody>
          <a:bodyPr vert="horz" wrap="square" lIns="0" tIns="0" rIns="0" bIns="0" rtlCol="0" anchor="t" anchorCtr="0">
            <a:noAutofit/>
          </a:bodyPr>
          <a:p>
            <a:pPr indent="-228600">
              <a:lnSpc>
                <a:spcPct val="150000"/>
              </a:lnSpc>
              <a:spcBef>
                <a:spcPct val="0"/>
              </a:spcBef>
              <a:spcAft>
                <a:spcPct val="0"/>
              </a:spcAft>
            </a:pPr>
            <a:r>
              <a:rPr lang="zh-CN" altLang="en-US" sz="1300" dirty="0">
                <a:ln>
                  <a:noFill/>
                  <a:prstDash val="sysDot"/>
                </a:ln>
                <a:solidFill>
                  <a:schemeClr val="tx1">
                    <a:lumMod val="85000"/>
                    <a:lumOff val="15000"/>
                  </a:schemeClr>
                </a:solidFill>
                <a:latin typeface="+mn-ea"/>
                <a:cs typeface="+mn-ea"/>
                <a:sym typeface="+mn-ea"/>
              </a:rPr>
              <a:t>最新研究中，</a:t>
            </a:r>
            <a:r>
              <a:rPr lang="en-US" altLang="zh-CN" sz="1300" dirty="0">
                <a:ln>
                  <a:noFill/>
                  <a:prstDash val="sysDot"/>
                </a:ln>
                <a:solidFill>
                  <a:schemeClr val="tx1">
                    <a:lumMod val="85000"/>
                    <a:lumOff val="15000"/>
                  </a:schemeClr>
                </a:solidFill>
                <a:latin typeface="+mn-ea"/>
                <a:cs typeface="+mn-ea"/>
                <a:sym typeface="+mn-ea"/>
              </a:rPr>
              <a:t>Seibold</a:t>
            </a:r>
            <a:r>
              <a:rPr lang="zh-CN" altLang="en-US" sz="1300" dirty="0">
                <a:ln>
                  <a:noFill/>
                  <a:prstDash val="sysDot"/>
                </a:ln>
                <a:solidFill>
                  <a:schemeClr val="tx1">
                    <a:lumMod val="85000"/>
                    <a:lumOff val="15000"/>
                  </a:schemeClr>
                </a:solidFill>
                <a:latin typeface="+mn-ea"/>
                <a:cs typeface="+mn-ea"/>
                <a:sym typeface="+mn-ea"/>
              </a:rPr>
              <a:t>等人（</a:t>
            </a:r>
            <a:r>
              <a:rPr lang="en-US" altLang="zh-CN" sz="1300" dirty="0">
                <a:ln>
                  <a:noFill/>
                  <a:prstDash val="sysDot"/>
                </a:ln>
                <a:solidFill>
                  <a:schemeClr val="tx1">
                    <a:lumMod val="85000"/>
                    <a:lumOff val="15000"/>
                  </a:schemeClr>
                </a:solidFill>
                <a:latin typeface="+mn-ea"/>
                <a:cs typeface="+mn-ea"/>
                <a:sym typeface="+mn-ea"/>
              </a:rPr>
              <a:t>2025</a:t>
            </a:r>
            <a:r>
              <a:rPr lang="zh-CN" altLang="en-US" sz="1300" dirty="0">
                <a:ln>
                  <a:noFill/>
                  <a:prstDash val="sysDot"/>
                </a:ln>
                <a:solidFill>
                  <a:schemeClr val="tx1">
                    <a:lumMod val="85000"/>
                    <a:lumOff val="15000"/>
                  </a:schemeClr>
                </a:solidFill>
                <a:latin typeface="+mn-ea"/>
                <a:cs typeface="+mn-ea"/>
                <a:sym typeface="+mn-ea"/>
              </a:rPr>
              <a:t>）实验证明现代高质量</a:t>
            </a:r>
            <a:r>
              <a:rPr lang="en-US" altLang="zh-CN" sz="1300" dirty="0">
                <a:ln>
                  <a:noFill/>
                  <a:prstDash val="sysDot"/>
                </a:ln>
                <a:solidFill>
                  <a:schemeClr val="tx1">
                    <a:lumMod val="85000"/>
                    <a:lumOff val="15000"/>
                  </a:schemeClr>
                </a:solidFill>
                <a:latin typeface="+mn-ea"/>
                <a:cs typeface="+mn-ea"/>
                <a:sym typeface="+mn-ea"/>
              </a:rPr>
              <a:t>Deepfake</a:t>
            </a:r>
            <a:r>
              <a:rPr lang="zh-CN" altLang="en-US" sz="1300" dirty="0">
                <a:ln>
                  <a:noFill/>
                  <a:prstDash val="sysDot"/>
                </a:ln>
                <a:solidFill>
                  <a:schemeClr val="tx1">
                    <a:lumMod val="85000"/>
                    <a:lumOff val="15000"/>
                  </a:schemeClr>
                </a:solidFill>
                <a:latin typeface="+mn-ea"/>
                <a:cs typeface="+mn-ea"/>
                <a:sym typeface="+mn-ea"/>
              </a:rPr>
              <a:t>视频能从驱动视频中继承并保留真实</a:t>
            </a:r>
            <a:r>
              <a:rPr lang="en-US" altLang="zh-CN" sz="1300" dirty="0">
                <a:ln>
                  <a:noFill/>
                  <a:prstDash val="sysDot"/>
                </a:ln>
                <a:solidFill>
                  <a:schemeClr val="tx1">
                    <a:lumMod val="85000"/>
                    <a:lumOff val="15000"/>
                  </a:schemeClr>
                </a:solidFill>
                <a:latin typeface="+mn-ea"/>
                <a:cs typeface="+mn-ea"/>
                <a:sym typeface="+mn-ea"/>
              </a:rPr>
              <a:t>rPPG</a:t>
            </a:r>
            <a:r>
              <a:rPr lang="zh-CN" altLang="en-US" sz="1300" dirty="0">
                <a:ln>
                  <a:noFill/>
                  <a:prstDash val="sysDot"/>
                </a:ln>
                <a:solidFill>
                  <a:schemeClr val="tx1">
                    <a:lumMod val="85000"/>
                    <a:lumOff val="15000"/>
                  </a:schemeClr>
                </a:solidFill>
                <a:latin typeface="+mn-ea"/>
                <a:cs typeface="+mn-ea"/>
                <a:sym typeface="+mn-ea"/>
              </a:rPr>
              <a:t>信号。这推翻了</a:t>
            </a:r>
            <a:r>
              <a:rPr lang="en-US" altLang="zh-CN" sz="1300" dirty="0">
                <a:ln>
                  <a:noFill/>
                  <a:prstDash val="sysDot"/>
                </a:ln>
                <a:solidFill>
                  <a:schemeClr val="tx1">
                    <a:lumMod val="85000"/>
                    <a:lumOff val="15000"/>
                  </a:schemeClr>
                </a:solidFill>
                <a:latin typeface="+mn-ea"/>
                <a:cs typeface="+mn-ea"/>
                <a:sym typeface="+mn-ea"/>
              </a:rPr>
              <a:t>“</a:t>
            </a:r>
            <a:r>
              <a:rPr lang="zh-CN" altLang="en-US" sz="1300" dirty="0">
                <a:ln>
                  <a:noFill/>
                  <a:prstDash val="sysDot"/>
                </a:ln>
                <a:solidFill>
                  <a:schemeClr val="tx1">
                    <a:lumMod val="85000"/>
                    <a:lumOff val="15000"/>
                  </a:schemeClr>
                </a:solidFill>
                <a:latin typeface="+mn-ea"/>
                <a:cs typeface="+mn-ea"/>
                <a:sym typeface="+mn-ea"/>
              </a:rPr>
              <a:t>深度伪造生成过程中，微妙心跳相关信号会丢失</a:t>
            </a:r>
            <a:r>
              <a:rPr lang="en-US" altLang="zh-CN" sz="1300" dirty="0">
                <a:ln>
                  <a:noFill/>
                  <a:prstDash val="sysDot"/>
                </a:ln>
                <a:solidFill>
                  <a:schemeClr val="tx1">
                    <a:lumMod val="85000"/>
                    <a:lumOff val="15000"/>
                  </a:schemeClr>
                </a:solidFill>
                <a:latin typeface="+mn-ea"/>
                <a:cs typeface="+mn-ea"/>
                <a:sym typeface="+mn-ea"/>
              </a:rPr>
              <a:t>”</a:t>
            </a:r>
            <a:r>
              <a:rPr lang="zh-CN" altLang="en-US" sz="1300" dirty="0">
                <a:ln>
                  <a:noFill/>
                  <a:prstDash val="sysDot"/>
                </a:ln>
                <a:solidFill>
                  <a:schemeClr val="tx1">
                    <a:lumMod val="85000"/>
                    <a:lumOff val="15000"/>
                  </a:schemeClr>
                </a:solidFill>
                <a:latin typeface="+mn-ea"/>
                <a:cs typeface="+mn-ea"/>
                <a:sym typeface="+mn-ea"/>
              </a:rPr>
              <a:t>的假设，表明仅依赖</a:t>
            </a:r>
            <a:r>
              <a:rPr lang="en-US" altLang="zh-CN" sz="1300" dirty="0">
                <a:ln>
                  <a:noFill/>
                  <a:prstDash val="sysDot"/>
                </a:ln>
                <a:solidFill>
                  <a:schemeClr val="tx1">
                    <a:lumMod val="85000"/>
                    <a:lumOff val="15000"/>
                  </a:schemeClr>
                </a:solidFill>
                <a:latin typeface="+mn-ea"/>
                <a:cs typeface="+mn-ea"/>
                <a:sym typeface="+mn-ea"/>
              </a:rPr>
              <a:t>rPPG</a:t>
            </a:r>
            <a:r>
              <a:rPr lang="zh-CN" altLang="en-US" sz="1300" dirty="0">
                <a:ln>
                  <a:noFill/>
                  <a:prstDash val="sysDot"/>
                </a:ln>
                <a:solidFill>
                  <a:schemeClr val="tx1">
                    <a:lumMod val="85000"/>
                    <a:lumOff val="15000"/>
                  </a:schemeClr>
                </a:solidFill>
                <a:latin typeface="+mn-ea"/>
                <a:cs typeface="+mn-ea"/>
                <a:sym typeface="+mn-ea"/>
              </a:rPr>
              <a:t>信号存在性检测伪造的早期方法或不再有效</a:t>
            </a:r>
            <a:endParaRPr lang="en-US" altLang="zh-CN" sz="1300" dirty="0">
              <a:ln>
                <a:noFill/>
                <a:prstDash val="sysDot"/>
              </a:ln>
              <a:solidFill>
                <a:schemeClr val="tx1">
                  <a:lumMod val="85000"/>
                  <a:lumOff val="15000"/>
                </a:schemeClr>
              </a:solidFill>
              <a:latin typeface="+mn-ea"/>
              <a:cs typeface="+mn-ea"/>
              <a:sym typeface="+mn-ea"/>
            </a:endParaRPr>
          </a:p>
        </p:txBody>
      </p:sp>
      <p:cxnSp>
        <p:nvCxnSpPr>
          <p:cNvPr id="33" name="直接连接符 32"/>
          <p:cNvCxnSpPr/>
          <p:nvPr>
            <p:custDataLst>
              <p:tags r:id="rId20"/>
            </p:custDataLst>
          </p:nvPr>
        </p:nvCxnSpPr>
        <p:spPr>
          <a:xfrm>
            <a:off x="7655011" y="1934756"/>
            <a:ext cx="3515157" cy="0"/>
          </a:xfrm>
          <a:prstGeom prst="line">
            <a:avLst/>
          </a:prstGeom>
          <a:ln w="9525">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cxnSp>
        <p:nvCxnSpPr>
          <p:cNvPr id="34" name="直接连接符 33"/>
          <p:cNvCxnSpPr/>
          <p:nvPr>
            <p:custDataLst>
              <p:tags r:id="rId21"/>
            </p:custDataLst>
          </p:nvPr>
        </p:nvCxnSpPr>
        <p:spPr>
          <a:xfrm>
            <a:off x="7815648" y="4187015"/>
            <a:ext cx="3354293" cy="0"/>
          </a:xfrm>
          <a:prstGeom prst="line">
            <a:avLst/>
          </a:prstGeom>
          <a:ln w="9525">
            <a:solidFill>
              <a:schemeClr val="accent1">
                <a:lumMod val="60000"/>
                <a:lumOff val="40000"/>
              </a:schemeClr>
            </a:solidFill>
            <a:prstDash val="dash"/>
          </a:ln>
        </p:spPr>
        <p:style>
          <a:lnRef idx="2">
            <a:schemeClr val="accent1"/>
          </a:lnRef>
          <a:fillRef idx="0">
            <a:srgbClr val="FFFFFF"/>
          </a:fillRef>
          <a:effectRef idx="0">
            <a:srgbClr val="FFFFFF"/>
          </a:effectRef>
          <a:fontRef idx="minor">
            <a:schemeClr val="tx1"/>
          </a:fontRef>
        </p:style>
      </p:cxnSp>
    </p:spTree>
    <p:custDataLst>
      <p:tags r:id="rId22"/>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p:custDataLst>
              <p:tags r:id="rId1"/>
            </p:custDataLst>
          </p:nvPr>
        </p:nvSpPr>
        <p:spPr/>
        <p:txBody>
          <a:bodyPr/>
          <a:lstStyle/>
          <a:p>
            <a:r>
              <a:rPr lang="zh-CN" altLang="en-US"/>
              <a:t>未来发展趋势展望</a:t>
            </a:r>
            <a:endParaRPr lang="zh-CN" altLang="en-US"/>
          </a:p>
        </p:txBody>
      </p:sp>
      <p:sp>
        <p:nvSpPr>
          <p:cNvPr id="6" name="节编号"/>
          <p:cNvSpPr>
            <a:spLocks noGrp="1"/>
          </p:cNvSpPr>
          <p:nvPr>
            <p:ph type="body" sz="quarter" idx="13"/>
            <p:custDataLst>
              <p:tags r:id="rId2"/>
            </p:custDataLst>
          </p:nvPr>
        </p:nvSpPr>
        <p:spPr/>
        <p:txBody>
          <a:bodyPr/>
          <a:lstStyle/>
          <a:p>
            <a:r>
              <a:rPr lang="en-US" altLang="zh-CN"/>
              <a:t>PART FIVE</a:t>
            </a:r>
            <a:endParaRPr lang="en-US" altLang="zh-CN"/>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p:cNvSpPr>
            <a:spLocks noGrp="1"/>
          </p:cNvSpPr>
          <p:nvPr>
            <p:ph type="title"/>
            <p:custDataLst>
              <p:tags r:id="rId1"/>
            </p:custDataLst>
          </p:nvPr>
        </p:nvSpPr>
        <p:spPr/>
        <p:txBody>
          <a:bodyPr/>
          <a:lstStyle/>
          <a:p>
            <a:r>
              <a:rPr lang="zh-CN" altLang="en-US"/>
              <a:t>研究方向指引</a:t>
            </a:r>
            <a:endParaRPr lang="zh-CN" altLang="en-US"/>
          </a:p>
        </p:txBody>
      </p:sp>
      <p:sp>
        <p:nvSpPr>
          <p:cNvPr id="19" name="矩形 18"/>
          <p:cNvSpPr/>
          <p:nvPr>
            <p:custDataLst>
              <p:tags r:id="rId2"/>
            </p:custDataLst>
          </p:nvPr>
        </p:nvSpPr>
        <p:spPr>
          <a:xfrm>
            <a:off x="1008378" y="2097023"/>
            <a:ext cx="2985177" cy="398800"/>
          </a:xfrm>
          <a:prstGeom prst="rect">
            <a:avLst/>
          </a:prstGeom>
          <a:noFill/>
        </p:spPr>
        <p:txBody>
          <a:bodyPr wrap="square" lIns="0" tIns="0" rIns="0" bIns="0" rtlCol="0">
            <a:noAutofit/>
          </a:bodyPr>
          <a:p>
            <a:pPr algn="r">
              <a:spcBef>
                <a:spcPct val="0"/>
              </a:spcBef>
              <a:spcAft>
                <a:spcPct val="0"/>
              </a:spcAft>
            </a:pPr>
            <a:r>
              <a:rPr lang="zh-CN" altLang="en-US" b="1">
                <a:solidFill>
                  <a:schemeClr val="accent1"/>
                </a:solidFill>
                <a:latin typeface="+mn-ea"/>
                <a:cs typeface="+mn-ea"/>
                <a:sym typeface="+mn-ea"/>
              </a:rPr>
              <a:t>数据集</a:t>
            </a:r>
            <a:endParaRPr lang="zh-CN" altLang="en-US" b="1">
              <a:solidFill>
                <a:schemeClr val="accent1"/>
              </a:solidFill>
              <a:latin typeface="+mn-ea"/>
              <a:cs typeface="+mn-ea"/>
              <a:sym typeface="+mn-ea"/>
            </a:endParaRPr>
          </a:p>
        </p:txBody>
      </p:sp>
      <p:sp>
        <p:nvSpPr>
          <p:cNvPr id="20" name="矩形 19"/>
          <p:cNvSpPr/>
          <p:nvPr>
            <p:custDataLst>
              <p:tags r:id="rId3"/>
            </p:custDataLst>
          </p:nvPr>
        </p:nvSpPr>
        <p:spPr>
          <a:xfrm>
            <a:off x="1008378" y="2495192"/>
            <a:ext cx="2985177" cy="865549"/>
          </a:xfrm>
          <a:prstGeom prst="rect">
            <a:avLst/>
          </a:prstGeom>
          <a:noFill/>
        </p:spPr>
        <p:txBody>
          <a:bodyPr wrap="square" lIns="0" tIns="0" rIns="0" bIns="0" rtlCol="0">
            <a:noAutofit/>
          </a:bodyPr>
          <a:p>
            <a:pPr algn="l">
              <a:lnSpc>
                <a:spcPct val="150000"/>
              </a:lnSpc>
              <a:spcBef>
                <a:spcPct val="0"/>
              </a:spcBef>
              <a:spcAft>
                <a:spcPct val="0"/>
              </a:spcAft>
            </a:pPr>
            <a:r>
              <a:rPr lang="zh-CN" altLang="en-US" sz="1400">
                <a:solidFill>
                  <a:schemeClr val="tx1">
                    <a:lumMod val="85000"/>
                    <a:lumOff val="15000"/>
                  </a:schemeClr>
                </a:solidFill>
                <a:latin typeface="+mn-ea"/>
                <a:cs typeface="+mn-ea"/>
                <a:sym typeface="+mn-ea"/>
              </a:rPr>
              <a:t>更丰富，更多样的数据集。如</a:t>
            </a:r>
            <a:r>
              <a:rPr lang="en-US" altLang="zh-CN" sz="1400">
                <a:solidFill>
                  <a:schemeClr val="tx1">
                    <a:lumMod val="85000"/>
                    <a:lumOff val="15000"/>
                  </a:schemeClr>
                </a:solidFill>
                <a:latin typeface="+mn-ea"/>
                <a:cs typeface="+mn-ea"/>
                <a:sym typeface="+mn-ea"/>
              </a:rPr>
              <a:t>DFDC</a:t>
            </a:r>
            <a:r>
              <a:rPr lang="zh-CN" altLang="en-US" sz="1400">
                <a:solidFill>
                  <a:schemeClr val="tx1">
                    <a:lumMod val="85000"/>
                    <a:lumOff val="15000"/>
                  </a:schemeClr>
                </a:solidFill>
                <a:latin typeface="+mn-ea"/>
                <a:cs typeface="+mn-ea"/>
                <a:sym typeface="+mn-ea"/>
              </a:rPr>
              <a:t>、</a:t>
            </a:r>
            <a:r>
              <a:rPr lang="en-US" altLang="zh-CN" sz="1400">
                <a:solidFill>
                  <a:schemeClr val="tx1">
                    <a:lumMod val="85000"/>
                    <a:lumOff val="15000"/>
                  </a:schemeClr>
                </a:solidFill>
                <a:latin typeface="+mn-ea"/>
                <a:cs typeface="+mn-ea"/>
                <a:sym typeface="+mn-ea"/>
              </a:rPr>
              <a:t>Wild Deepfake</a:t>
            </a:r>
            <a:r>
              <a:rPr lang="zh-CN" altLang="en-US" sz="1400">
                <a:solidFill>
                  <a:schemeClr val="tx1">
                    <a:lumMod val="85000"/>
                    <a:lumOff val="15000"/>
                  </a:schemeClr>
                </a:solidFill>
                <a:latin typeface="+mn-ea"/>
                <a:cs typeface="+mn-ea"/>
                <a:sym typeface="+mn-ea"/>
              </a:rPr>
              <a:t>、</a:t>
            </a:r>
            <a:r>
              <a:rPr lang="en-US" altLang="zh-CN" sz="1400">
                <a:solidFill>
                  <a:schemeClr val="tx1">
                    <a:lumMod val="85000"/>
                    <a:lumOff val="15000"/>
                  </a:schemeClr>
                </a:solidFill>
                <a:latin typeface="+mn-ea"/>
                <a:cs typeface="+mn-ea"/>
                <a:sym typeface="+mn-ea"/>
              </a:rPr>
              <a:t>FakeAVCeleb</a:t>
            </a:r>
            <a:r>
              <a:rPr lang="zh-CN" altLang="en-US" sz="1400">
                <a:solidFill>
                  <a:schemeClr val="tx1">
                    <a:lumMod val="85000"/>
                    <a:lumOff val="15000"/>
                  </a:schemeClr>
                </a:solidFill>
                <a:latin typeface="+mn-ea"/>
                <a:cs typeface="+mn-ea"/>
                <a:sym typeface="+mn-ea"/>
              </a:rPr>
              <a:t>（</a:t>
            </a:r>
            <a:r>
              <a:rPr lang="en-US" altLang="zh-CN" sz="1400">
                <a:solidFill>
                  <a:schemeClr val="tx1">
                    <a:lumMod val="85000"/>
                    <a:lumOff val="15000"/>
                  </a:schemeClr>
                </a:solidFill>
                <a:latin typeface="+mn-ea"/>
                <a:cs typeface="+mn-ea"/>
                <a:sym typeface="+mn-ea"/>
              </a:rPr>
              <a:t>VA</a:t>
            </a:r>
            <a:r>
              <a:rPr lang="zh-CN" altLang="en-US" sz="1400">
                <a:solidFill>
                  <a:schemeClr val="tx1">
                    <a:lumMod val="85000"/>
                    <a:lumOff val="15000"/>
                  </a:schemeClr>
                </a:solidFill>
                <a:latin typeface="+mn-ea"/>
                <a:cs typeface="+mn-ea"/>
                <a:sym typeface="+mn-ea"/>
              </a:rPr>
              <a:t>）、</a:t>
            </a:r>
            <a:r>
              <a:rPr lang="en-US" altLang="zh-CN" sz="1400">
                <a:solidFill>
                  <a:schemeClr val="tx1">
                    <a:lumMod val="85000"/>
                    <a:lumOff val="15000"/>
                  </a:schemeClr>
                </a:solidFill>
                <a:latin typeface="+mn-ea"/>
                <a:cs typeface="+mn-ea"/>
                <a:sym typeface="+mn-ea"/>
              </a:rPr>
              <a:t>KoDF</a:t>
            </a:r>
            <a:r>
              <a:rPr lang="zh-CN" altLang="en-US" sz="1400">
                <a:solidFill>
                  <a:schemeClr val="tx1">
                    <a:lumMod val="85000"/>
                    <a:lumOff val="15000"/>
                  </a:schemeClr>
                </a:solidFill>
                <a:latin typeface="+mn-ea"/>
                <a:cs typeface="+mn-ea"/>
                <a:sym typeface="+mn-ea"/>
              </a:rPr>
              <a:t>（韩国）、</a:t>
            </a:r>
            <a:r>
              <a:rPr lang="en-US" altLang="zh-CN" sz="1400">
                <a:solidFill>
                  <a:schemeClr val="tx1">
                    <a:lumMod val="85000"/>
                    <a:lumOff val="15000"/>
                  </a:schemeClr>
                </a:solidFill>
                <a:latin typeface="+mn-ea"/>
                <a:cs typeface="+mn-ea"/>
                <a:sym typeface="+mn-ea"/>
              </a:rPr>
              <a:t>DiffusionForensics</a:t>
            </a:r>
            <a:r>
              <a:rPr lang="zh-CN" altLang="en-US" sz="1400">
                <a:solidFill>
                  <a:schemeClr val="tx1">
                    <a:lumMod val="85000"/>
                    <a:lumOff val="15000"/>
                  </a:schemeClr>
                </a:solidFill>
                <a:latin typeface="+mn-ea"/>
                <a:cs typeface="+mn-ea"/>
                <a:sym typeface="+mn-ea"/>
              </a:rPr>
              <a:t>（扩散模型）</a:t>
            </a:r>
            <a:r>
              <a:rPr lang="en-US" altLang="zh-CN" sz="1400">
                <a:solidFill>
                  <a:schemeClr val="tx1">
                    <a:lumMod val="85000"/>
                    <a:lumOff val="15000"/>
                  </a:schemeClr>
                </a:solidFill>
                <a:latin typeface="+mn-ea"/>
                <a:cs typeface="+mn-ea"/>
                <a:sym typeface="+mn-ea"/>
              </a:rPr>
              <a:t> </a:t>
            </a:r>
            <a:r>
              <a:rPr lang="zh-CN" altLang="en-US" sz="1400">
                <a:solidFill>
                  <a:schemeClr val="tx1">
                    <a:lumMod val="85000"/>
                    <a:lumOff val="15000"/>
                  </a:schemeClr>
                </a:solidFill>
                <a:latin typeface="+mn-ea"/>
                <a:cs typeface="+mn-ea"/>
                <a:sym typeface="+mn-ea"/>
              </a:rPr>
              <a:t>、</a:t>
            </a:r>
            <a:r>
              <a:rPr lang="en-US" altLang="zh-CN" sz="1400">
                <a:solidFill>
                  <a:schemeClr val="tx1">
                    <a:lumMod val="85000"/>
                    <a:lumOff val="15000"/>
                  </a:schemeClr>
                </a:solidFill>
                <a:latin typeface="+mn-ea"/>
                <a:cs typeface="+mn-ea"/>
                <a:sym typeface="+mn-ea"/>
              </a:rPr>
              <a:t>ExDDV</a:t>
            </a:r>
            <a:r>
              <a:rPr lang="zh-CN" altLang="en-US" sz="1400">
                <a:solidFill>
                  <a:schemeClr val="tx1">
                    <a:lumMod val="85000"/>
                    <a:lumOff val="15000"/>
                  </a:schemeClr>
                </a:solidFill>
                <a:latin typeface="+mn-ea"/>
                <a:cs typeface="+mn-ea"/>
                <a:sym typeface="+mn-ea"/>
              </a:rPr>
              <a:t>（可解释深度伪造检测）</a:t>
            </a:r>
            <a:endParaRPr lang="en-US" altLang="zh-CN" sz="1400">
              <a:solidFill>
                <a:schemeClr val="tx1">
                  <a:lumMod val="85000"/>
                  <a:lumOff val="15000"/>
                </a:schemeClr>
              </a:solidFill>
              <a:latin typeface="+mn-ea"/>
              <a:cs typeface="+mn-ea"/>
              <a:sym typeface="+mn-ea"/>
            </a:endParaRPr>
          </a:p>
          <a:p>
            <a:pPr algn="l">
              <a:lnSpc>
                <a:spcPct val="150000"/>
              </a:lnSpc>
              <a:spcBef>
                <a:spcPct val="0"/>
              </a:spcBef>
              <a:spcAft>
                <a:spcPct val="0"/>
              </a:spcAft>
            </a:pPr>
            <a:endParaRPr lang="zh-CN" altLang="en-US" sz="1400">
              <a:solidFill>
                <a:schemeClr val="tx1">
                  <a:lumMod val="85000"/>
                  <a:lumOff val="15000"/>
                </a:schemeClr>
              </a:solidFill>
              <a:latin typeface="+mn-ea"/>
              <a:cs typeface="+mn-ea"/>
              <a:sym typeface="+mn-ea"/>
            </a:endParaRPr>
          </a:p>
          <a:p>
            <a:pPr algn="r">
              <a:lnSpc>
                <a:spcPct val="150000"/>
              </a:lnSpc>
              <a:spcBef>
                <a:spcPct val="0"/>
              </a:spcBef>
              <a:spcAft>
                <a:spcPct val="0"/>
              </a:spcAft>
            </a:pPr>
            <a:endParaRPr lang="zh-CN" altLang="en-US" sz="1400">
              <a:solidFill>
                <a:schemeClr val="tx1">
                  <a:lumMod val="85000"/>
                  <a:lumOff val="15000"/>
                </a:schemeClr>
              </a:solidFill>
              <a:latin typeface="+mn-ea"/>
              <a:cs typeface="+mn-ea"/>
              <a:sym typeface="+mn-ea"/>
            </a:endParaRPr>
          </a:p>
        </p:txBody>
      </p:sp>
      <p:cxnSp>
        <p:nvCxnSpPr>
          <p:cNvPr id="23" name="直接箭头连接符 22"/>
          <p:cNvCxnSpPr/>
          <p:nvPr>
            <p:custDataLst>
              <p:tags r:id="rId4"/>
            </p:custDataLst>
          </p:nvPr>
        </p:nvCxnSpPr>
        <p:spPr>
          <a:xfrm>
            <a:off x="2023160" y="2512969"/>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24" name="泪滴形 23"/>
          <p:cNvSpPr/>
          <p:nvPr>
            <p:custDataLst>
              <p:tags r:id="rId5"/>
            </p:custDataLst>
          </p:nvPr>
        </p:nvSpPr>
        <p:spPr>
          <a:xfrm flipH="1">
            <a:off x="4224183" y="1930644"/>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25" name="泪滴形 24"/>
          <p:cNvSpPr/>
          <p:nvPr>
            <p:custDataLst>
              <p:tags r:id="rId6"/>
            </p:custDataLst>
          </p:nvPr>
        </p:nvSpPr>
        <p:spPr>
          <a:xfrm>
            <a:off x="6300739" y="1930644"/>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sp>
        <p:nvSpPr>
          <p:cNvPr id="26" name="泪滴形 25"/>
          <p:cNvSpPr/>
          <p:nvPr>
            <p:custDataLst>
              <p:tags r:id="rId7"/>
            </p:custDataLst>
          </p:nvPr>
        </p:nvSpPr>
        <p:spPr>
          <a:xfrm rot="16200000" flipH="1">
            <a:off x="4224183" y="3897975"/>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p>
        </p:txBody>
      </p:sp>
      <p:sp>
        <p:nvSpPr>
          <p:cNvPr id="29" name="泪滴形 28"/>
          <p:cNvSpPr/>
          <p:nvPr>
            <p:custDataLst>
              <p:tags r:id="rId8"/>
            </p:custDataLst>
          </p:nvPr>
        </p:nvSpPr>
        <p:spPr>
          <a:xfrm rot="5400000">
            <a:off x="6301374" y="3897975"/>
            <a:ext cx="1682201" cy="1682201"/>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p>
        </p:txBody>
      </p:sp>
      <p:sp>
        <p:nvSpPr>
          <p:cNvPr id="31" name="矩形 30"/>
          <p:cNvSpPr/>
          <p:nvPr>
            <p:custDataLst>
              <p:tags r:id="rId9"/>
            </p:custDataLst>
          </p:nvPr>
        </p:nvSpPr>
        <p:spPr>
          <a:xfrm>
            <a:off x="1008378" y="4064353"/>
            <a:ext cx="2985177" cy="398800"/>
          </a:xfrm>
          <a:prstGeom prst="rect">
            <a:avLst/>
          </a:prstGeom>
          <a:noFill/>
        </p:spPr>
        <p:txBody>
          <a:bodyPr wrap="square" lIns="0" tIns="0" rIns="0" bIns="0" rtlCol="0">
            <a:noAutofit/>
          </a:bodyPr>
          <a:p>
            <a:pPr algn="r">
              <a:spcBef>
                <a:spcPct val="0"/>
              </a:spcBef>
              <a:spcAft>
                <a:spcPct val="0"/>
              </a:spcAft>
            </a:pPr>
            <a:r>
              <a:rPr lang="zh-CN" altLang="en-US" b="1">
                <a:solidFill>
                  <a:schemeClr val="accent1"/>
                </a:solidFill>
                <a:latin typeface="+mn-ea"/>
                <a:cs typeface="+mn-ea"/>
                <a:sym typeface="+mn-ea"/>
              </a:rPr>
              <a:t>先进学习模型和学习方法</a:t>
            </a:r>
            <a:endParaRPr lang="zh-CN" altLang="en-US" b="1">
              <a:solidFill>
                <a:schemeClr val="accent1"/>
              </a:solidFill>
              <a:latin typeface="+mn-ea"/>
              <a:cs typeface="+mn-ea"/>
              <a:sym typeface="+mn-ea"/>
            </a:endParaRPr>
          </a:p>
        </p:txBody>
      </p:sp>
      <p:sp>
        <p:nvSpPr>
          <p:cNvPr id="32" name="矩形 31"/>
          <p:cNvSpPr/>
          <p:nvPr>
            <p:custDataLst>
              <p:tags r:id="rId10"/>
            </p:custDataLst>
          </p:nvPr>
        </p:nvSpPr>
        <p:spPr>
          <a:xfrm>
            <a:off x="395605" y="4549140"/>
            <a:ext cx="3597910" cy="865505"/>
          </a:xfrm>
          <a:prstGeom prst="rect">
            <a:avLst/>
          </a:prstGeom>
          <a:noFill/>
        </p:spPr>
        <p:txBody>
          <a:bodyPr wrap="square" lIns="0" tIns="0" rIns="0" bIns="0" rtlCol="0">
            <a:noAutofit/>
          </a:bodyPr>
          <a:p>
            <a:pPr algn="l">
              <a:lnSpc>
                <a:spcPct val="150000"/>
              </a:lnSpc>
              <a:spcBef>
                <a:spcPct val="0"/>
              </a:spcBef>
              <a:spcAft>
                <a:spcPct val="0"/>
              </a:spcAft>
            </a:pPr>
            <a:r>
              <a:rPr lang="en-US" altLang="zh-CN" sz="1400">
                <a:solidFill>
                  <a:schemeClr val="tx1">
                    <a:lumMod val="85000"/>
                    <a:lumOff val="15000"/>
                  </a:schemeClr>
                </a:solidFill>
                <a:latin typeface="+mn-ea"/>
                <a:cs typeface="+mn-ea"/>
                <a:sym typeface="+mn-ea"/>
              </a:rPr>
              <a:t>VIT</a:t>
            </a:r>
            <a:r>
              <a:rPr lang="zh-CN" altLang="en-US" sz="1400">
                <a:solidFill>
                  <a:schemeClr val="tx1">
                    <a:lumMod val="85000"/>
                    <a:lumOff val="15000"/>
                  </a:schemeClr>
                </a:solidFill>
                <a:latin typeface="+mn-ea"/>
                <a:cs typeface="+mn-ea"/>
                <a:sym typeface="+mn-ea"/>
              </a:rPr>
              <a:t>的应用、</a:t>
            </a:r>
            <a:r>
              <a:rPr lang="en-US" altLang="zh-CN" sz="1400">
                <a:solidFill>
                  <a:schemeClr val="tx1">
                    <a:lumMod val="85000"/>
                    <a:lumOff val="15000"/>
                  </a:schemeClr>
                </a:solidFill>
                <a:latin typeface="+mn-ea"/>
                <a:cs typeface="+mn-ea"/>
                <a:sym typeface="+mn-ea"/>
              </a:rPr>
              <a:t>Khormali</a:t>
            </a:r>
            <a:r>
              <a:rPr lang="zh-CN" altLang="en-US" sz="1400">
                <a:solidFill>
                  <a:schemeClr val="tx1">
                    <a:lumMod val="85000"/>
                    <a:lumOff val="15000"/>
                  </a:schemeClr>
                </a:solidFill>
                <a:latin typeface="+mn-ea"/>
                <a:cs typeface="+mn-ea"/>
                <a:sym typeface="+mn-ea"/>
              </a:rPr>
              <a:t>等人（</a:t>
            </a:r>
            <a:r>
              <a:rPr lang="en-US" altLang="zh-CN" sz="1400">
                <a:solidFill>
                  <a:schemeClr val="tx1">
                    <a:lumMod val="85000"/>
                    <a:lumOff val="15000"/>
                  </a:schemeClr>
                </a:solidFill>
                <a:latin typeface="+mn-ea"/>
                <a:cs typeface="+mn-ea"/>
                <a:sym typeface="+mn-ea"/>
              </a:rPr>
              <a:t>2024</a:t>
            </a:r>
            <a:r>
              <a:rPr lang="zh-CN" altLang="en-US" sz="1400">
                <a:solidFill>
                  <a:schemeClr val="tx1">
                    <a:lumMod val="85000"/>
                    <a:lumOff val="15000"/>
                  </a:schemeClr>
                </a:solidFill>
                <a:latin typeface="+mn-ea"/>
                <a:cs typeface="+mn-ea"/>
                <a:sym typeface="+mn-ea"/>
              </a:rPr>
              <a:t>）使用自监督方法来进行深度伪造检测、</a:t>
            </a:r>
            <a:r>
              <a:rPr lang="en-US" altLang="zh-CN" sz="1400">
                <a:solidFill>
                  <a:schemeClr val="tx1">
                    <a:lumMod val="85000"/>
                    <a:lumOff val="15000"/>
                  </a:schemeClr>
                </a:solidFill>
                <a:latin typeface="+mn-ea"/>
                <a:cs typeface="+mn-ea"/>
                <a:sym typeface="+mn-ea"/>
              </a:rPr>
              <a:t>Calvert</a:t>
            </a:r>
            <a:r>
              <a:rPr lang="zh-CN" altLang="en-US" sz="1400">
                <a:solidFill>
                  <a:schemeClr val="tx1">
                    <a:lumMod val="85000"/>
                    <a:lumOff val="15000"/>
                  </a:schemeClr>
                </a:solidFill>
                <a:latin typeface="+mn-ea"/>
                <a:cs typeface="+mn-ea"/>
                <a:sym typeface="+mn-ea"/>
              </a:rPr>
              <a:t>等人（</a:t>
            </a:r>
            <a:r>
              <a:rPr lang="en-US" altLang="zh-CN" sz="1400">
                <a:solidFill>
                  <a:schemeClr val="tx1">
                    <a:lumMod val="85000"/>
                    <a:lumOff val="15000"/>
                  </a:schemeClr>
                </a:solidFill>
                <a:latin typeface="+mn-ea"/>
                <a:cs typeface="+mn-ea"/>
                <a:sym typeface="+mn-ea"/>
              </a:rPr>
              <a:t>2024</a:t>
            </a:r>
            <a:r>
              <a:rPr lang="zh-CN" altLang="en-US" sz="1400">
                <a:solidFill>
                  <a:schemeClr val="tx1">
                    <a:lumMod val="85000"/>
                    <a:lumOff val="15000"/>
                  </a:schemeClr>
                </a:solidFill>
                <a:latin typeface="+mn-ea"/>
                <a:cs typeface="+mn-ea"/>
                <a:sym typeface="+mn-ea"/>
              </a:rPr>
              <a:t>）利用迁移学习提升</a:t>
            </a:r>
            <a:r>
              <a:rPr lang="en-US" altLang="zh-CN" sz="1400">
                <a:solidFill>
                  <a:schemeClr val="tx1">
                    <a:lumMod val="85000"/>
                    <a:lumOff val="15000"/>
                  </a:schemeClr>
                </a:solidFill>
                <a:latin typeface="+mn-ea"/>
                <a:cs typeface="+mn-ea"/>
                <a:sym typeface="+mn-ea"/>
              </a:rPr>
              <a:t>Deepfake</a:t>
            </a:r>
            <a:r>
              <a:rPr lang="zh-CN" altLang="en-US" sz="1400">
                <a:solidFill>
                  <a:schemeClr val="tx1">
                    <a:lumMod val="85000"/>
                    <a:lumOff val="15000"/>
                  </a:schemeClr>
                </a:solidFill>
                <a:latin typeface="+mn-ea"/>
                <a:cs typeface="+mn-ea"/>
                <a:sym typeface="+mn-ea"/>
              </a:rPr>
              <a:t>检测模型在特定文化区域的性能</a:t>
            </a:r>
            <a:endParaRPr lang="zh-CN" altLang="en-US" sz="1400">
              <a:solidFill>
                <a:schemeClr val="tx1">
                  <a:lumMod val="85000"/>
                  <a:lumOff val="15000"/>
                </a:schemeClr>
              </a:solidFill>
              <a:latin typeface="+mn-ea"/>
              <a:cs typeface="+mn-ea"/>
              <a:sym typeface="+mn-ea"/>
            </a:endParaRPr>
          </a:p>
        </p:txBody>
      </p:sp>
      <p:cxnSp>
        <p:nvCxnSpPr>
          <p:cNvPr id="33" name="直接箭头连接符 32"/>
          <p:cNvCxnSpPr/>
          <p:nvPr>
            <p:custDataLst>
              <p:tags r:id="rId11"/>
            </p:custDataLst>
          </p:nvPr>
        </p:nvCxnSpPr>
        <p:spPr>
          <a:xfrm>
            <a:off x="2023160" y="4480300"/>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4" name="矩形 33"/>
          <p:cNvSpPr/>
          <p:nvPr>
            <p:custDataLst>
              <p:tags r:id="rId12"/>
            </p:custDataLst>
          </p:nvPr>
        </p:nvSpPr>
        <p:spPr>
          <a:xfrm>
            <a:off x="8252829" y="2096387"/>
            <a:ext cx="2965834" cy="398800"/>
          </a:xfrm>
          <a:prstGeom prst="rect">
            <a:avLst/>
          </a:prstGeom>
          <a:noFill/>
        </p:spPr>
        <p:txBody>
          <a:bodyPr wrap="square" lIns="0" tIns="0" rIns="0" bIns="0" rtlCol="0">
            <a:noAutofit/>
          </a:bodyPr>
          <a:p>
            <a:pPr>
              <a:spcBef>
                <a:spcPct val="0"/>
              </a:spcBef>
              <a:spcAft>
                <a:spcPct val="0"/>
              </a:spcAft>
            </a:pPr>
            <a:r>
              <a:rPr lang="zh-CN" altLang="en-US" b="1">
                <a:solidFill>
                  <a:schemeClr val="accent1"/>
                </a:solidFill>
                <a:latin typeface="+mn-ea"/>
                <a:cs typeface="+mn-ea"/>
                <a:sym typeface="+mn-ea"/>
              </a:rPr>
              <a:t>多维度特征与多模态融合</a:t>
            </a:r>
            <a:endParaRPr lang="zh-CN" altLang="en-US" b="1">
              <a:solidFill>
                <a:schemeClr val="accent1"/>
              </a:solidFill>
              <a:latin typeface="+mn-ea"/>
              <a:cs typeface="+mn-ea"/>
              <a:sym typeface="+mn-ea"/>
            </a:endParaRPr>
          </a:p>
        </p:txBody>
      </p:sp>
      <p:cxnSp>
        <p:nvCxnSpPr>
          <p:cNvPr id="35" name="直接箭头连接符 34"/>
          <p:cNvCxnSpPr/>
          <p:nvPr>
            <p:custDataLst>
              <p:tags r:id="rId13"/>
            </p:custDataLst>
          </p:nvPr>
        </p:nvCxnSpPr>
        <p:spPr>
          <a:xfrm flipH="1">
            <a:off x="8252829" y="2512334"/>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sp>
        <p:nvSpPr>
          <p:cNvPr id="36" name="矩形 35"/>
          <p:cNvSpPr/>
          <p:nvPr>
            <p:custDataLst>
              <p:tags r:id="rId14"/>
            </p:custDataLst>
          </p:nvPr>
        </p:nvSpPr>
        <p:spPr>
          <a:xfrm>
            <a:off x="8252829" y="4063718"/>
            <a:ext cx="2965833" cy="398800"/>
          </a:xfrm>
          <a:prstGeom prst="rect">
            <a:avLst/>
          </a:prstGeom>
          <a:noFill/>
        </p:spPr>
        <p:txBody>
          <a:bodyPr wrap="square" lIns="0" tIns="0" rIns="0" bIns="0" rtlCol="0">
            <a:noAutofit/>
          </a:bodyPr>
          <a:p>
            <a:pPr>
              <a:spcBef>
                <a:spcPct val="0"/>
              </a:spcBef>
              <a:spcAft>
                <a:spcPct val="0"/>
              </a:spcAft>
            </a:pPr>
            <a:r>
              <a:rPr lang="zh-CN" altLang="en-US" b="1">
                <a:solidFill>
                  <a:schemeClr val="accent1"/>
                </a:solidFill>
                <a:latin typeface="+mn-ea"/>
                <a:cs typeface="+mn-ea"/>
                <a:sym typeface="+mn-ea"/>
              </a:rPr>
              <a:t>特定场景的定制化检测方法</a:t>
            </a:r>
            <a:endParaRPr lang="zh-CN" altLang="en-US" b="1">
              <a:solidFill>
                <a:schemeClr val="accent1"/>
              </a:solidFill>
              <a:latin typeface="+mn-ea"/>
              <a:cs typeface="+mn-ea"/>
              <a:sym typeface="+mn-ea"/>
            </a:endParaRPr>
          </a:p>
        </p:txBody>
      </p:sp>
      <p:cxnSp>
        <p:nvCxnSpPr>
          <p:cNvPr id="37" name="直接箭头连接符 36"/>
          <p:cNvCxnSpPr/>
          <p:nvPr>
            <p:custDataLst>
              <p:tags r:id="rId15"/>
            </p:custDataLst>
          </p:nvPr>
        </p:nvCxnSpPr>
        <p:spPr>
          <a:xfrm flipH="1">
            <a:off x="8252829" y="4479665"/>
            <a:ext cx="1970506" cy="0"/>
          </a:xfrm>
          <a:prstGeom prst="straightConnector1">
            <a:avLst/>
          </a:prstGeom>
          <a:ln w="1270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pic>
        <p:nvPicPr>
          <p:cNvPr id="38" name="图片 7" descr="343435383038363b343532323338393bbacfd7f7bbfad6c6"/>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4764595" y="2471692"/>
            <a:ext cx="600741" cy="600741"/>
          </a:xfrm>
          <a:prstGeom prst="rect">
            <a:avLst/>
          </a:prstGeom>
          <a:effectLst>
            <a:reflection blurRad="6350" stA="29000" endPos="35000" dist="50800" dir="5400000" sy="-100000" algn="bl" rotWithShape="0"/>
          </a:effectLst>
        </p:spPr>
      </p:pic>
      <p:sp>
        <p:nvSpPr>
          <p:cNvPr id="39" name="菱形 38"/>
          <p:cNvSpPr/>
          <p:nvPr>
            <p:custDataLst>
              <p:tags r:id="rId19"/>
            </p:custDataLst>
          </p:nvPr>
        </p:nvSpPr>
        <p:spPr>
          <a:xfrm>
            <a:off x="5834625" y="3525211"/>
            <a:ext cx="538508" cy="538508"/>
          </a:xfrm>
          <a:prstGeom prst="diamond">
            <a:avLst/>
          </a:prstGeom>
          <a:solidFill>
            <a:schemeClr val="accen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p>
            <a:pPr algn="ctr"/>
            <a:endParaRPr lang="zh-CN" altLang="en-US">
              <a:solidFill>
                <a:schemeClr val="lt1"/>
              </a:solidFill>
            </a:endParaRPr>
          </a:p>
        </p:txBody>
      </p:sp>
      <p:pic>
        <p:nvPicPr>
          <p:cNvPr id="40" name="图片 5" descr="343435383036303b343532343134393bcdb7c4d4b7e7b1a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4784281" y="4458709"/>
            <a:ext cx="561369" cy="561369"/>
          </a:xfrm>
          <a:prstGeom prst="rect">
            <a:avLst/>
          </a:prstGeom>
          <a:effectLst>
            <a:reflection blurRad="6350" stA="29000" endPos="35000" dist="50800" dir="5400000" sy="-100000" algn="bl" rotWithShape="0"/>
          </a:effectLst>
        </p:spPr>
      </p:pic>
      <p:pic>
        <p:nvPicPr>
          <p:cNvPr id="41" name="图片 9" descr="343435383038363b343532323339323bc6b7c5c6b9dcc0ed"/>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6860203" y="2437400"/>
            <a:ext cx="562639" cy="562639"/>
          </a:xfrm>
          <a:prstGeom prst="rect">
            <a:avLst/>
          </a:prstGeom>
          <a:effectLst>
            <a:reflection blurRad="6350" stA="29000" endPos="35000" dist="50800" dir="5400000" sy="-100000" algn="bl" rotWithShape="0"/>
          </a:effectLst>
        </p:spPr>
      </p:pic>
      <p:pic>
        <p:nvPicPr>
          <p:cNvPr id="42" name="图片 18" descr="343435383036303b343532343136323bcfeec4bfc9fac3fcd6dcc6da"/>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6872903" y="4470139"/>
            <a:ext cx="538508" cy="538508"/>
          </a:xfrm>
          <a:prstGeom prst="rect">
            <a:avLst/>
          </a:prstGeom>
          <a:effectLst>
            <a:reflection blurRad="6350" stA="29000" endPos="35000" dist="50800" dir="5400000" sy="-100000" algn="bl" rotWithShape="0"/>
          </a:effectLst>
        </p:spPr>
      </p:pic>
      <p:sp>
        <p:nvSpPr>
          <p:cNvPr id="43" name="矩形 42"/>
          <p:cNvSpPr/>
          <p:nvPr>
            <p:custDataLst>
              <p:tags r:id="rId29"/>
            </p:custDataLst>
          </p:nvPr>
        </p:nvSpPr>
        <p:spPr>
          <a:xfrm>
            <a:off x="8253095" y="2512695"/>
            <a:ext cx="3396615" cy="865505"/>
          </a:xfrm>
          <a:prstGeom prst="rect">
            <a:avLst/>
          </a:prstGeom>
          <a:noFill/>
        </p:spPr>
        <p:txBody>
          <a:bodyPr wrap="square" lIns="0" tIns="0" rIns="0" bIns="0" rtlCol="0">
            <a:noAutofit/>
          </a:bodyPr>
          <a:p>
            <a:pPr algn="l">
              <a:lnSpc>
                <a:spcPct val="150000"/>
              </a:lnSpc>
              <a:spcBef>
                <a:spcPct val="0"/>
              </a:spcBef>
              <a:spcAft>
                <a:spcPct val="0"/>
              </a:spcAft>
            </a:pPr>
            <a:r>
              <a:rPr lang="zh-CN" altLang="en-US" sz="1200">
                <a:solidFill>
                  <a:schemeClr val="tx1">
                    <a:lumMod val="85000"/>
                    <a:lumOff val="15000"/>
                  </a:schemeClr>
                </a:solidFill>
                <a:latin typeface="+mn-ea"/>
                <a:cs typeface="+mn-ea"/>
                <a:sym typeface="+mn-ea"/>
              </a:rPr>
              <a:t>随着技术的发展和研究的深入，越来越多的研究者尝试将不同维度，不同模态结合，期望多特征，多模态互补融合可以提升模型的鲁棒性和泛化能力。目前最常见的融合是时空域和频域的融合、时空域和生理信号的融合、视觉和音频的多模态融合。</a:t>
            </a:r>
            <a:endParaRPr lang="zh-CN" altLang="en-US" sz="1200">
              <a:solidFill>
                <a:schemeClr val="tx1">
                  <a:lumMod val="85000"/>
                  <a:lumOff val="15000"/>
                </a:schemeClr>
              </a:solidFill>
              <a:latin typeface="+mn-ea"/>
              <a:cs typeface="+mn-ea"/>
              <a:sym typeface="+mn-ea"/>
            </a:endParaRPr>
          </a:p>
        </p:txBody>
      </p:sp>
      <p:sp>
        <p:nvSpPr>
          <p:cNvPr id="44" name="矩形 43"/>
          <p:cNvSpPr/>
          <p:nvPr>
            <p:custDataLst>
              <p:tags r:id="rId30"/>
            </p:custDataLst>
          </p:nvPr>
        </p:nvSpPr>
        <p:spPr>
          <a:xfrm>
            <a:off x="8253095" y="4549140"/>
            <a:ext cx="3683635" cy="865505"/>
          </a:xfrm>
          <a:prstGeom prst="rect">
            <a:avLst/>
          </a:prstGeom>
          <a:noFill/>
        </p:spPr>
        <p:txBody>
          <a:bodyPr wrap="square" lIns="0" tIns="0" rIns="0" bIns="0" rtlCol="0">
            <a:noAutofit/>
          </a:bodyPr>
          <a:p>
            <a:pPr algn="l">
              <a:lnSpc>
                <a:spcPct val="150000"/>
              </a:lnSpc>
              <a:spcBef>
                <a:spcPct val="0"/>
              </a:spcBef>
              <a:spcAft>
                <a:spcPct val="0"/>
              </a:spcAft>
            </a:pPr>
            <a:r>
              <a:rPr lang="zh-CN" altLang="en-US" sz="1600">
                <a:solidFill>
                  <a:schemeClr val="tx1">
                    <a:lumMod val="85000"/>
                    <a:lumOff val="15000"/>
                  </a:schemeClr>
                </a:solidFill>
                <a:latin typeface="+mn-ea"/>
                <a:cs typeface="+mn-ea"/>
                <a:sym typeface="+mn-ea"/>
              </a:rPr>
              <a:t>随着伪造技术的不断演进，针对特定伪造类型或应用场景（如口罩遮挡、多人脸识别、基于不同人种的伪造人脸检测）的定制化检测方法将更具实用价值</a:t>
            </a:r>
            <a:endParaRPr lang="zh-CN" altLang="en-US" sz="1600">
              <a:solidFill>
                <a:schemeClr val="tx1">
                  <a:lumMod val="85000"/>
                  <a:lumOff val="15000"/>
                </a:schemeClr>
              </a:solidFill>
              <a:latin typeface="+mn-ea"/>
              <a:cs typeface="+mn-ea"/>
              <a:sym typeface="+mn-ea"/>
            </a:endParaRPr>
          </a:p>
        </p:txBody>
      </p:sp>
    </p:spTree>
    <p:custDataLst>
      <p:tags r:id="rId31"/>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custDataLst>
              <p:tags r:id="rId1"/>
            </p:custDataLst>
          </p:nvPr>
        </p:nvSpPr>
        <p:spPr/>
        <p:txBody>
          <a:bodyPr/>
          <a:lstStyle/>
          <a:p>
            <a:r>
              <a:rPr lang="zh-CN" altLang="en-US"/>
              <a:t>技术创新预测</a:t>
            </a:r>
            <a:endParaRPr lang="zh-CN" altLang="en-US"/>
          </a:p>
        </p:txBody>
      </p:sp>
      <p:pic>
        <p:nvPicPr>
          <p:cNvPr id="10" name="图片 9" descr="/data/temp/d1d4c05b-41be-11f0-aa26-92abd1d26961.jpg@base@tag=imgScale&amp;m=1&amp;w=662&amp;h=706&amp;q=95d1d4c05b-41be-11f0-aa26-92abd1d26961"/>
          <p:cNvPicPr>
            <a:picLocks noChangeAspect="1"/>
          </p:cNvPicPr>
          <p:nvPr>
            <p:custDataLst>
              <p:tags r:id="rId2"/>
            </p:custDataLst>
          </p:nvPr>
        </p:nvPicPr>
        <p:blipFill rotWithShape="1">
          <a:blip r:embed="rId3"/>
          <a:srcRect t="16325" b="16325"/>
          <a:stretch>
            <a:fillRect/>
          </a:stretch>
        </p:blipFill>
        <p:spPr>
          <a:xfrm>
            <a:off x="931235" y="1978821"/>
            <a:ext cx="2385831" cy="2543787"/>
          </a:xfrm>
          <a:custGeom>
            <a:avLst/>
            <a:gdLst>
              <a:gd name="connsiteX0" fmla="*/ 1192796 w 2385858"/>
              <a:gd name="connsiteY0" fmla="*/ 1 h 2543816"/>
              <a:gd name="connsiteX1" fmla="*/ 1272318 w 2385858"/>
              <a:gd name="connsiteY1" fmla="*/ 19128 h 2543816"/>
              <a:gd name="connsiteX2" fmla="*/ 2287571 w 2385858"/>
              <a:gd name="connsiteY2" fmla="*/ 526755 h 2543816"/>
              <a:gd name="connsiteX3" fmla="*/ 2385858 w 2385858"/>
              <a:gd name="connsiteY3" fmla="*/ 685784 h 2543816"/>
              <a:gd name="connsiteX4" fmla="*/ 2385858 w 2385858"/>
              <a:gd name="connsiteY4" fmla="*/ 1858059 h 2543816"/>
              <a:gd name="connsiteX5" fmla="*/ 2287573 w 2385858"/>
              <a:gd name="connsiteY5" fmla="*/ 2017061 h 2543816"/>
              <a:gd name="connsiteX6" fmla="*/ 1272320 w 2385858"/>
              <a:gd name="connsiteY6" fmla="*/ 2524688 h 2543816"/>
              <a:gd name="connsiteX7" fmla="*/ 1113274 w 2385858"/>
              <a:gd name="connsiteY7" fmla="*/ 2524689 h 2543816"/>
              <a:gd name="connsiteX8" fmla="*/ 98021 w 2385858"/>
              <a:gd name="connsiteY8" fmla="*/ 2017062 h 2543816"/>
              <a:gd name="connsiteX9" fmla="*/ 6388 w 2385858"/>
              <a:gd name="connsiteY9" fmla="*/ 1907727 h 2543816"/>
              <a:gd name="connsiteX10" fmla="*/ 0 w 2385858"/>
              <a:gd name="connsiteY10" fmla="*/ 1860013 h 2543816"/>
              <a:gd name="connsiteX11" fmla="*/ 0 w 2385858"/>
              <a:gd name="connsiteY11" fmla="*/ 683779 h 2543816"/>
              <a:gd name="connsiteX12" fmla="*/ 6388 w 2385858"/>
              <a:gd name="connsiteY12" fmla="*/ 636070 h 2543816"/>
              <a:gd name="connsiteX13" fmla="*/ 98020 w 2385858"/>
              <a:gd name="connsiteY13" fmla="*/ 526756 h 2543816"/>
              <a:gd name="connsiteX14" fmla="*/ 1113272 w 2385858"/>
              <a:gd name="connsiteY14" fmla="*/ 19129 h 2543816"/>
              <a:gd name="connsiteX15" fmla="*/ 1192796 w 2385858"/>
              <a:gd name="connsiteY15" fmla="*/ 1 h 2543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85858" h="2543816">
                <a:moveTo>
                  <a:pt x="1192796" y="1"/>
                </a:moveTo>
                <a:cubicBezTo>
                  <a:pt x="1219805" y="0"/>
                  <a:pt x="1246814" y="6376"/>
                  <a:pt x="1272318" y="19128"/>
                </a:cubicBezTo>
                <a:cubicBezTo>
                  <a:pt x="1323325" y="44631"/>
                  <a:pt x="2225671" y="495804"/>
                  <a:pt x="2287571" y="526755"/>
                </a:cubicBezTo>
                <a:cubicBezTo>
                  <a:pt x="2349472" y="557705"/>
                  <a:pt x="2385859" y="616577"/>
                  <a:pt x="2385858" y="685784"/>
                </a:cubicBezTo>
                <a:cubicBezTo>
                  <a:pt x="2385859" y="754990"/>
                  <a:pt x="2385859" y="1788853"/>
                  <a:pt x="2385858" y="1858059"/>
                </a:cubicBezTo>
                <a:cubicBezTo>
                  <a:pt x="2385859" y="1927266"/>
                  <a:pt x="2349475" y="1986111"/>
                  <a:pt x="2287573" y="2017061"/>
                </a:cubicBezTo>
                <a:cubicBezTo>
                  <a:pt x="2225674" y="2048011"/>
                  <a:pt x="1323328" y="2499184"/>
                  <a:pt x="1272320" y="2524688"/>
                </a:cubicBezTo>
                <a:cubicBezTo>
                  <a:pt x="1221314" y="2550192"/>
                  <a:pt x="1164282" y="2550193"/>
                  <a:pt x="1113274" y="2524689"/>
                </a:cubicBezTo>
                <a:cubicBezTo>
                  <a:pt x="1062268" y="2499185"/>
                  <a:pt x="159923" y="2048013"/>
                  <a:pt x="98021" y="2017062"/>
                </a:cubicBezTo>
                <a:cubicBezTo>
                  <a:pt x="51597" y="1993850"/>
                  <a:pt x="19524" y="1954932"/>
                  <a:pt x="6388" y="1907727"/>
                </a:cubicBezTo>
                <a:lnTo>
                  <a:pt x="0" y="1860013"/>
                </a:lnTo>
                <a:lnTo>
                  <a:pt x="0" y="683779"/>
                </a:lnTo>
                <a:lnTo>
                  <a:pt x="6388" y="636070"/>
                </a:lnTo>
                <a:cubicBezTo>
                  <a:pt x="19523" y="588872"/>
                  <a:pt x="51595" y="549969"/>
                  <a:pt x="98020" y="526756"/>
                </a:cubicBezTo>
                <a:cubicBezTo>
                  <a:pt x="159921" y="495805"/>
                  <a:pt x="1062266" y="44632"/>
                  <a:pt x="1113272" y="19129"/>
                </a:cubicBezTo>
                <a:cubicBezTo>
                  <a:pt x="1138777" y="6377"/>
                  <a:pt x="1165786" y="1"/>
                  <a:pt x="1192796" y="1"/>
                </a:cubicBezTo>
                <a:close/>
              </a:path>
            </a:pathLst>
          </a:custGeom>
          <a:ln w="3175" cap="flat" cmpd="sng" algn="ctr">
            <a:solidFill>
              <a:schemeClr val="tx1">
                <a:lumMod val="40000"/>
                <a:lumOff val="60000"/>
                <a:alpha val="20000"/>
              </a:schemeClr>
            </a:solidFill>
            <a:prstDash val="solid"/>
            <a:round/>
            <a:headEnd type="none" w="med" len="med"/>
            <a:tailEnd type="none" w="med" len="med"/>
          </a:ln>
        </p:spPr>
      </p:pic>
      <p:sp>
        <p:nvSpPr>
          <p:cNvPr id="11" name="矩形 10"/>
          <p:cNvSpPr/>
          <p:nvPr>
            <p:custDataLst>
              <p:tags r:id="rId4"/>
            </p:custDataLst>
          </p:nvPr>
        </p:nvSpPr>
        <p:spPr>
          <a:xfrm>
            <a:off x="1049343" y="5169024"/>
            <a:ext cx="2160245" cy="1088378"/>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300" kern="0" dirty="0">
                <a:solidFill>
                  <a:schemeClr val="tx1">
                    <a:lumMod val="85000"/>
                    <a:lumOff val="15000"/>
                  </a:schemeClr>
                </a:solidFill>
                <a:latin typeface="+mn-ea"/>
                <a:cs typeface="+mn-ea"/>
              </a:rPr>
              <a:t>随着深度学习技术的进步，算法将更加精准地识别Deepfake视频中的细微异常。</a:t>
            </a:r>
            <a:endParaRPr lang="zh-CN" altLang="en-US" sz="1300" kern="0" dirty="0">
              <a:solidFill>
                <a:schemeClr val="tx1">
                  <a:lumMod val="85000"/>
                  <a:lumOff val="15000"/>
                </a:schemeClr>
              </a:solidFill>
              <a:latin typeface="+mn-ea"/>
              <a:cs typeface="+mn-ea"/>
            </a:endParaRPr>
          </a:p>
        </p:txBody>
      </p:sp>
      <p:sp>
        <p:nvSpPr>
          <p:cNvPr id="13" name="矩形 12"/>
          <p:cNvSpPr/>
          <p:nvPr>
            <p:custDataLst>
              <p:tags r:id="rId5"/>
            </p:custDataLst>
          </p:nvPr>
        </p:nvSpPr>
        <p:spPr>
          <a:xfrm>
            <a:off x="1049343" y="4712465"/>
            <a:ext cx="2160245" cy="421000"/>
          </a:xfrm>
          <a:prstGeom prst="rect">
            <a:avLst/>
          </a:prstGeom>
          <a:noFill/>
        </p:spPr>
        <p:txBody>
          <a:bodyPr wrap="square" lIns="0" tIns="0" rIns="0" bIns="0" rtlCol="0" anchor="b">
            <a:noAutofit/>
          </a:bodyPr>
          <a:p>
            <a:pPr algn="ctr">
              <a:spcBef>
                <a:spcPct val="0"/>
              </a:spcBef>
              <a:spcAft>
                <a:spcPct val="0"/>
              </a:spcAft>
            </a:pPr>
            <a:r>
              <a:rPr lang="zh-CN" altLang="en-US" sz="2000" b="1" kern="0">
                <a:solidFill>
                  <a:schemeClr val="accent1"/>
                </a:solidFill>
                <a:latin typeface="+mn-ea"/>
                <a:cs typeface="+mn-ea"/>
              </a:rPr>
              <a:t>深度学习算法优化</a:t>
            </a:r>
            <a:endParaRPr lang="zh-CN" altLang="en-US" sz="2000" b="1" kern="0">
              <a:solidFill>
                <a:schemeClr val="accent1"/>
              </a:solidFill>
              <a:latin typeface="+mn-ea"/>
              <a:cs typeface="+mn-ea"/>
            </a:endParaRPr>
          </a:p>
        </p:txBody>
      </p:sp>
      <p:pic>
        <p:nvPicPr>
          <p:cNvPr id="14" name="图片 13" descr="/data/temp/d1d4c063-41be-11f0-aa26-92abd1d26961.jpg@base@tag=imgScale&amp;m=1&amp;w=662&amp;h=706&amp;q=95d1d4c063-41be-11f0-aa26-92abd1d26961"/>
          <p:cNvPicPr>
            <a:picLocks noChangeAspect="1"/>
          </p:cNvPicPr>
          <p:nvPr>
            <p:custDataLst>
              <p:tags r:id="rId6"/>
            </p:custDataLst>
          </p:nvPr>
        </p:nvPicPr>
        <p:blipFill rotWithShape="1">
          <a:blip r:embed="rId7"/>
          <a:srcRect l="4334" r="4334"/>
          <a:stretch>
            <a:fillRect/>
          </a:stretch>
        </p:blipFill>
        <p:spPr>
          <a:xfrm>
            <a:off x="3575345" y="1978821"/>
            <a:ext cx="2385831" cy="2543787"/>
          </a:xfrm>
          <a:custGeom>
            <a:avLst/>
            <a:gdLst>
              <a:gd name="connsiteX0" fmla="*/ 1192796 w 2385858"/>
              <a:gd name="connsiteY0" fmla="*/ 1 h 2543816"/>
              <a:gd name="connsiteX1" fmla="*/ 1272318 w 2385858"/>
              <a:gd name="connsiteY1" fmla="*/ 19128 h 2543816"/>
              <a:gd name="connsiteX2" fmla="*/ 2287571 w 2385858"/>
              <a:gd name="connsiteY2" fmla="*/ 526755 h 2543816"/>
              <a:gd name="connsiteX3" fmla="*/ 2385858 w 2385858"/>
              <a:gd name="connsiteY3" fmla="*/ 685784 h 2543816"/>
              <a:gd name="connsiteX4" fmla="*/ 2385858 w 2385858"/>
              <a:gd name="connsiteY4" fmla="*/ 1858059 h 2543816"/>
              <a:gd name="connsiteX5" fmla="*/ 2287573 w 2385858"/>
              <a:gd name="connsiteY5" fmla="*/ 2017061 h 2543816"/>
              <a:gd name="connsiteX6" fmla="*/ 1272320 w 2385858"/>
              <a:gd name="connsiteY6" fmla="*/ 2524688 h 2543816"/>
              <a:gd name="connsiteX7" fmla="*/ 1113274 w 2385858"/>
              <a:gd name="connsiteY7" fmla="*/ 2524689 h 2543816"/>
              <a:gd name="connsiteX8" fmla="*/ 98021 w 2385858"/>
              <a:gd name="connsiteY8" fmla="*/ 2017062 h 2543816"/>
              <a:gd name="connsiteX9" fmla="*/ 6388 w 2385858"/>
              <a:gd name="connsiteY9" fmla="*/ 1907727 h 2543816"/>
              <a:gd name="connsiteX10" fmla="*/ 0 w 2385858"/>
              <a:gd name="connsiteY10" fmla="*/ 1860013 h 2543816"/>
              <a:gd name="connsiteX11" fmla="*/ 0 w 2385858"/>
              <a:gd name="connsiteY11" fmla="*/ 683779 h 2543816"/>
              <a:gd name="connsiteX12" fmla="*/ 6388 w 2385858"/>
              <a:gd name="connsiteY12" fmla="*/ 636070 h 2543816"/>
              <a:gd name="connsiteX13" fmla="*/ 98020 w 2385858"/>
              <a:gd name="connsiteY13" fmla="*/ 526756 h 2543816"/>
              <a:gd name="connsiteX14" fmla="*/ 1113272 w 2385858"/>
              <a:gd name="connsiteY14" fmla="*/ 19129 h 2543816"/>
              <a:gd name="connsiteX15" fmla="*/ 1192796 w 2385858"/>
              <a:gd name="connsiteY15" fmla="*/ 1 h 2543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85858" h="2543816">
                <a:moveTo>
                  <a:pt x="1192796" y="1"/>
                </a:moveTo>
                <a:cubicBezTo>
                  <a:pt x="1219805" y="0"/>
                  <a:pt x="1246814" y="6376"/>
                  <a:pt x="1272318" y="19128"/>
                </a:cubicBezTo>
                <a:cubicBezTo>
                  <a:pt x="1323325" y="44631"/>
                  <a:pt x="2225671" y="495804"/>
                  <a:pt x="2287571" y="526755"/>
                </a:cubicBezTo>
                <a:cubicBezTo>
                  <a:pt x="2349472" y="557705"/>
                  <a:pt x="2385859" y="616577"/>
                  <a:pt x="2385858" y="685784"/>
                </a:cubicBezTo>
                <a:cubicBezTo>
                  <a:pt x="2385859" y="754990"/>
                  <a:pt x="2385859" y="1788853"/>
                  <a:pt x="2385858" y="1858059"/>
                </a:cubicBezTo>
                <a:cubicBezTo>
                  <a:pt x="2385859" y="1927266"/>
                  <a:pt x="2349475" y="1986111"/>
                  <a:pt x="2287573" y="2017061"/>
                </a:cubicBezTo>
                <a:cubicBezTo>
                  <a:pt x="2225674" y="2048011"/>
                  <a:pt x="1323328" y="2499184"/>
                  <a:pt x="1272320" y="2524688"/>
                </a:cubicBezTo>
                <a:cubicBezTo>
                  <a:pt x="1221314" y="2550192"/>
                  <a:pt x="1164282" y="2550193"/>
                  <a:pt x="1113274" y="2524689"/>
                </a:cubicBezTo>
                <a:cubicBezTo>
                  <a:pt x="1062268" y="2499185"/>
                  <a:pt x="159923" y="2048013"/>
                  <a:pt x="98021" y="2017062"/>
                </a:cubicBezTo>
                <a:cubicBezTo>
                  <a:pt x="51597" y="1993850"/>
                  <a:pt x="19524" y="1954932"/>
                  <a:pt x="6388" y="1907727"/>
                </a:cubicBezTo>
                <a:lnTo>
                  <a:pt x="0" y="1860013"/>
                </a:lnTo>
                <a:lnTo>
                  <a:pt x="0" y="683779"/>
                </a:lnTo>
                <a:lnTo>
                  <a:pt x="6388" y="636070"/>
                </a:lnTo>
                <a:cubicBezTo>
                  <a:pt x="19523" y="588872"/>
                  <a:pt x="51595" y="549969"/>
                  <a:pt x="98020" y="526756"/>
                </a:cubicBezTo>
                <a:cubicBezTo>
                  <a:pt x="159921" y="495805"/>
                  <a:pt x="1062266" y="44632"/>
                  <a:pt x="1113272" y="19129"/>
                </a:cubicBezTo>
                <a:cubicBezTo>
                  <a:pt x="1138777" y="6377"/>
                  <a:pt x="1165786" y="1"/>
                  <a:pt x="1192796" y="1"/>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15" name="矩形 14"/>
          <p:cNvSpPr/>
          <p:nvPr>
            <p:custDataLst>
              <p:tags r:id="rId8"/>
            </p:custDataLst>
          </p:nvPr>
        </p:nvSpPr>
        <p:spPr>
          <a:xfrm>
            <a:off x="3693453" y="5169024"/>
            <a:ext cx="2160245" cy="1088378"/>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300" kern="0" dirty="0">
                <a:solidFill>
                  <a:schemeClr val="tx1">
                    <a:lumMod val="85000"/>
                    <a:lumOff val="15000"/>
                  </a:schemeClr>
                </a:solidFill>
                <a:latin typeface="+mn-ea"/>
                <a:cs typeface="+mn-ea"/>
              </a:rPr>
              <a:t>结合音频、视频和文本数据，多模态分析将提高检测Deepfake的准确性和效率。</a:t>
            </a:r>
            <a:endParaRPr lang="zh-CN" altLang="en-US" sz="1300" kern="0" dirty="0">
              <a:solidFill>
                <a:schemeClr val="tx1">
                  <a:lumMod val="85000"/>
                  <a:lumOff val="15000"/>
                </a:schemeClr>
              </a:solidFill>
              <a:latin typeface="+mn-ea"/>
              <a:cs typeface="+mn-ea"/>
            </a:endParaRPr>
          </a:p>
        </p:txBody>
      </p:sp>
      <p:sp>
        <p:nvSpPr>
          <p:cNvPr id="16" name="矩形 15"/>
          <p:cNvSpPr/>
          <p:nvPr>
            <p:custDataLst>
              <p:tags r:id="rId9"/>
            </p:custDataLst>
          </p:nvPr>
        </p:nvSpPr>
        <p:spPr>
          <a:xfrm>
            <a:off x="3693453" y="4712465"/>
            <a:ext cx="2160245" cy="421000"/>
          </a:xfrm>
          <a:prstGeom prst="rect">
            <a:avLst/>
          </a:prstGeom>
          <a:noFill/>
        </p:spPr>
        <p:txBody>
          <a:bodyPr wrap="square" lIns="0" tIns="0" rIns="0" bIns="0" rtlCol="0" anchor="b">
            <a:noAutofit/>
          </a:bodyPr>
          <a:p>
            <a:pPr algn="ctr">
              <a:spcBef>
                <a:spcPct val="0"/>
              </a:spcBef>
              <a:spcAft>
                <a:spcPct val="0"/>
              </a:spcAft>
            </a:pPr>
            <a:r>
              <a:rPr lang="zh-CN" altLang="en-US" sz="2000" b="1" kern="0" dirty="0">
                <a:solidFill>
                  <a:schemeClr val="accent1"/>
                </a:solidFill>
                <a:latin typeface="+mn-ea"/>
                <a:cs typeface="+mn-ea"/>
              </a:rPr>
              <a:t>多模态数据融合</a:t>
            </a:r>
            <a:endParaRPr lang="zh-CN" altLang="en-US" sz="2000" b="1" kern="0" dirty="0">
              <a:solidFill>
                <a:schemeClr val="accent1"/>
              </a:solidFill>
              <a:latin typeface="+mn-ea"/>
              <a:cs typeface="+mn-ea"/>
            </a:endParaRPr>
          </a:p>
        </p:txBody>
      </p:sp>
      <p:pic>
        <p:nvPicPr>
          <p:cNvPr id="17" name="图片 16" descr="/data/temp/d1d4c174-41be-11f0-aa26-92abd1d26961.jpg@base@tag=imgScale&amp;m=1&amp;w=662&amp;h=706&amp;q=95d1d4c174-41be-11f0-aa26-92abd1d26961"/>
          <p:cNvPicPr>
            <a:picLocks noChangeAspect="1"/>
          </p:cNvPicPr>
          <p:nvPr>
            <p:custDataLst>
              <p:tags r:id="rId10"/>
            </p:custDataLst>
          </p:nvPr>
        </p:nvPicPr>
        <p:blipFill rotWithShape="1">
          <a:blip r:embed="rId11"/>
          <a:srcRect l="17187" r="17187"/>
          <a:stretch>
            <a:fillRect/>
          </a:stretch>
        </p:blipFill>
        <p:spPr>
          <a:xfrm>
            <a:off x="6219455" y="1978821"/>
            <a:ext cx="2385831" cy="2543787"/>
          </a:xfrm>
          <a:custGeom>
            <a:avLst/>
            <a:gdLst>
              <a:gd name="connsiteX0" fmla="*/ 1192796 w 2385858"/>
              <a:gd name="connsiteY0" fmla="*/ 1 h 2543816"/>
              <a:gd name="connsiteX1" fmla="*/ 1272318 w 2385858"/>
              <a:gd name="connsiteY1" fmla="*/ 19128 h 2543816"/>
              <a:gd name="connsiteX2" fmla="*/ 2287571 w 2385858"/>
              <a:gd name="connsiteY2" fmla="*/ 526755 h 2543816"/>
              <a:gd name="connsiteX3" fmla="*/ 2385858 w 2385858"/>
              <a:gd name="connsiteY3" fmla="*/ 685784 h 2543816"/>
              <a:gd name="connsiteX4" fmla="*/ 2385858 w 2385858"/>
              <a:gd name="connsiteY4" fmla="*/ 1858059 h 2543816"/>
              <a:gd name="connsiteX5" fmla="*/ 2287573 w 2385858"/>
              <a:gd name="connsiteY5" fmla="*/ 2017061 h 2543816"/>
              <a:gd name="connsiteX6" fmla="*/ 1272320 w 2385858"/>
              <a:gd name="connsiteY6" fmla="*/ 2524688 h 2543816"/>
              <a:gd name="connsiteX7" fmla="*/ 1113274 w 2385858"/>
              <a:gd name="connsiteY7" fmla="*/ 2524689 h 2543816"/>
              <a:gd name="connsiteX8" fmla="*/ 98021 w 2385858"/>
              <a:gd name="connsiteY8" fmla="*/ 2017062 h 2543816"/>
              <a:gd name="connsiteX9" fmla="*/ 6388 w 2385858"/>
              <a:gd name="connsiteY9" fmla="*/ 1907727 h 2543816"/>
              <a:gd name="connsiteX10" fmla="*/ 0 w 2385858"/>
              <a:gd name="connsiteY10" fmla="*/ 1860013 h 2543816"/>
              <a:gd name="connsiteX11" fmla="*/ 0 w 2385858"/>
              <a:gd name="connsiteY11" fmla="*/ 683779 h 2543816"/>
              <a:gd name="connsiteX12" fmla="*/ 6388 w 2385858"/>
              <a:gd name="connsiteY12" fmla="*/ 636070 h 2543816"/>
              <a:gd name="connsiteX13" fmla="*/ 98020 w 2385858"/>
              <a:gd name="connsiteY13" fmla="*/ 526756 h 2543816"/>
              <a:gd name="connsiteX14" fmla="*/ 1113272 w 2385858"/>
              <a:gd name="connsiteY14" fmla="*/ 19129 h 2543816"/>
              <a:gd name="connsiteX15" fmla="*/ 1192796 w 2385858"/>
              <a:gd name="connsiteY15" fmla="*/ 1 h 2543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85858" h="2543816">
                <a:moveTo>
                  <a:pt x="1192796" y="1"/>
                </a:moveTo>
                <a:cubicBezTo>
                  <a:pt x="1219805" y="0"/>
                  <a:pt x="1246814" y="6376"/>
                  <a:pt x="1272318" y="19128"/>
                </a:cubicBezTo>
                <a:cubicBezTo>
                  <a:pt x="1323325" y="44631"/>
                  <a:pt x="2225671" y="495804"/>
                  <a:pt x="2287571" y="526755"/>
                </a:cubicBezTo>
                <a:cubicBezTo>
                  <a:pt x="2349472" y="557705"/>
                  <a:pt x="2385859" y="616577"/>
                  <a:pt x="2385858" y="685784"/>
                </a:cubicBezTo>
                <a:cubicBezTo>
                  <a:pt x="2385859" y="754990"/>
                  <a:pt x="2385859" y="1788853"/>
                  <a:pt x="2385858" y="1858059"/>
                </a:cubicBezTo>
                <a:cubicBezTo>
                  <a:pt x="2385859" y="1927266"/>
                  <a:pt x="2349475" y="1986111"/>
                  <a:pt x="2287573" y="2017061"/>
                </a:cubicBezTo>
                <a:cubicBezTo>
                  <a:pt x="2225674" y="2048011"/>
                  <a:pt x="1323328" y="2499184"/>
                  <a:pt x="1272320" y="2524688"/>
                </a:cubicBezTo>
                <a:cubicBezTo>
                  <a:pt x="1221314" y="2550192"/>
                  <a:pt x="1164282" y="2550193"/>
                  <a:pt x="1113274" y="2524689"/>
                </a:cubicBezTo>
                <a:cubicBezTo>
                  <a:pt x="1062268" y="2499185"/>
                  <a:pt x="159923" y="2048013"/>
                  <a:pt x="98021" y="2017062"/>
                </a:cubicBezTo>
                <a:cubicBezTo>
                  <a:pt x="51597" y="1993850"/>
                  <a:pt x="19524" y="1954932"/>
                  <a:pt x="6388" y="1907727"/>
                </a:cubicBezTo>
                <a:lnTo>
                  <a:pt x="0" y="1860013"/>
                </a:lnTo>
                <a:lnTo>
                  <a:pt x="0" y="683779"/>
                </a:lnTo>
                <a:lnTo>
                  <a:pt x="6388" y="636070"/>
                </a:lnTo>
                <a:cubicBezTo>
                  <a:pt x="19523" y="588872"/>
                  <a:pt x="51595" y="549969"/>
                  <a:pt x="98020" y="526756"/>
                </a:cubicBezTo>
                <a:cubicBezTo>
                  <a:pt x="159921" y="495805"/>
                  <a:pt x="1062266" y="44632"/>
                  <a:pt x="1113272" y="19129"/>
                </a:cubicBezTo>
                <a:cubicBezTo>
                  <a:pt x="1138777" y="6377"/>
                  <a:pt x="1165786" y="1"/>
                  <a:pt x="1192796" y="1"/>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21" name="矩形 20"/>
          <p:cNvSpPr/>
          <p:nvPr>
            <p:custDataLst>
              <p:tags r:id="rId12"/>
            </p:custDataLst>
          </p:nvPr>
        </p:nvSpPr>
        <p:spPr>
          <a:xfrm>
            <a:off x="6337563" y="5169024"/>
            <a:ext cx="2160245" cy="1088378"/>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300" kern="0">
                <a:solidFill>
                  <a:schemeClr val="tx1">
                    <a:lumMod val="85000"/>
                    <a:lumOff val="15000"/>
                  </a:schemeClr>
                </a:solidFill>
                <a:latin typeface="+mn-ea"/>
                <a:cs typeface="+mn-ea"/>
              </a:rPr>
              <a:t>开发实时检测系统，使用户能够即时识别并应对人脸伪造视频的威胁。</a:t>
            </a:r>
            <a:endParaRPr lang="zh-CN" altLang="en-US" sz="1300" kern="0">
              <a:solidFill>
                <a:schemeClr val="tx1">
                  <a:lumMod val="85000"/>
                  <a:lumOff val="15000"/>
                </a:schemeClr>
              </a:solidFill>
              <a:latin typeface="+mn-ea"/>
              <a:cs typeface="+mn-ea"/>
            </a:endParaRPr>
          </a:p>
        </p:txBody>
      </p:sp>
      <p:sp>
        <p:nvSpPr>
          <p:cNvPr id="22" name="矩形 21"/>
          <p:cNvSpPr/>
          <p:nvPr>
            <p:custDataLst>
              <p:tags r:id="rId13"/>
            </p:custDataLst>
          </p:nvPr>
        </p:nvSpPr>
        <p:spPr>
          <a:xfrm>
            <a:off x="6337563" y="4712465"/>
            <a:ext cx="2160245" cy="421000"/>
          </a:xfrm>
          <a:prstGeom prst="rect">
            <a:avLst/>
          </a:prstGeom>
          <a:noFill/>
        </p:spPr>
        <p:txBody>
          <a:bodyPr wrap="square" lIns="0" tIns="0" rIns="0" bIns="0" rtlCol="0" anchor="b">
            <a:noAutofit/>
          </a:bodyPr>
          <a:p>
            <a:pPr algn="ctr">
              <a:spcBef>
                <a:spcPct val="0"/>
              </a:spcBef>
              <a:spcAft>
                <a:spcPct val="0"/>
              </a:spcAft>
            </a:pPr>
            <a:r>
              <a:rPr lang="zh-CN" altLang="en-US" sz="2000" b="1" kern="0">
                <a:solidFill>
                  <a:schemeClr val="accent1"/>
                </a:solidFill>
                <a:latin typeface="+mn-ea"/>
                <a:cs typeface="+mn-ea"/>
              </a:rPr>
              <a:t>实时检测技术</a:t>
            </a:r>
            <a:endParaRPr lang="zh-CN" altLang="en-US" sz="2000" b="1" kern="0">
              <a:solidFill>
                <a:schemeClr val="accent1"/>
              </a:solidFill>
              <a:latin typeface="+mn-ea"/>
              <a:cs typeface="+mn-ea"/>
            </a:endParaRPr>
          </a:p>
        </p:txBody>
      </p:sp>
      <p:pic>
        <p:nvPicPr>
          <p:cNvPr id="23" name="图片 22" descr="/data/temp/d1d4c0d1-41be-11f0-aa26-92abd1d26961.jpg@base@tag=imgScale&amp;m=1&amp;w=662&amp;h=706&amp;q=95d1d4c0d1-41be-11f0-aa26-92abd1d26961"/>
          <p:cNvPicPr>
            <a:picLocks noChangeAspect="1"/>
          </p:cNvPicPr>
          <p:nvPr>
            <p:custDataLst>
              <p:tags r:id="rId14"/>
            </p:custDataLst>
          </p:nvPr>
        </p:nvPicPr>
        <p:blipFill rotWithShape="1">
          <a:blip r:embed="rId15"/>
          <a:srcRect l="22047" r="859"/>
          <a:stretch>
            <a:fillRect/>
          </a:stretch>
        </p:blipFill>
        <p:spPr>
          <a:xfrm>
            <a:off x="8869279" y="1978821"/>
            <a:ext cx="2386096" cy="2543787"/>
          </a:xfrm>
          <a:custGeom>
            <a:avLst/>
            <a:gdLst>
              <a:gd name="connsiteX0" fmla="*/ 1193060 w 2386123"/>
              <a:gd name="connsiteY0" fmla="*/ 1 h 2543816"/>
              <a:gd name="connsiteX1" fmla="*/ 1272583 w 2386123"/>
              <a:gd name="connsiteY1" fmla="*/ 19128 h 2543816"/>
              <a:gd name="connsiteX2" fmla="*/ 2287836 w 2386123"/>
              <a:gd name="connsiteY2" fmla="*/ 526755 h 2543816"/>
              <a:gd name="connsiteX3" fmla="*/ 2386123 w 2386123"/>
              <a:gd name="connsiteY3" fmla="*/ 685784 h 2543816"/>
              <a:gd name="connsiteX4" fmla="*/ 2386123 w 2386123"/>
              <a:gd name="connsiteY4" fmla="*/ 1858059 h 2543816"/>
              <a:gd name="connsiteX5" fmla="*/ 2287838 w 2386123"/>
              <a:gd name="connsiteY5" fmla="*/ 2017061 h 2543816"/>
              <a:gd name="connsiteX6" fmla="*/ 1272585 w 2386123"/>
              <a:gd name="connsiteY6" fmla="*/ 2524688 h 2543816"/>
              <a:gd name="connsiteX7" fmla="*/ 1113539 w 2386123"/>
              <a:gd name="connsiteY7" fmla="*/ 2524689 h 2543816"/>
              <a:gd name="connsiteX8" fmla="*/ 98286 w 2386123"/>
              <a:gd name="connsiteY8" fmla="*/ 2017062 h 2543816"/>
              <a:gd name="connsiteX9" fmla="*/ 0 w 2386123"/>
              <a:gd name="connsiteY9" fmla="*/ 1858034 h 2543816"/>
              <a:gd name="connsiteX10" fmla="*/ 0 w 2386123"/>
              <a:gd name="connsiteY10" fmla="*/ 685758 h 2543816"/>
              <a:gd name="connsiteX11" fmla="*/ 98285 w 2386123"/>
              <a:gd name="connsiteY11" fmla="*/ 526756 h 2543816"/>
              <a:gd name="connsiteX12" fmla="*/ 1113537 w 2386123"/>
              <a:gd name="connsiteY12" fmla="*/ 19129 h 2543816"/>
              <a:gd name="connsiteX13" fmla="*/ 1193060 w 2386123"/>
              <a:gd name="connsiteY13" fmla="*/ 1 h 2543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86123" h="2543816">
                <a:moveTo>
                  <a:pt x="1193060" y="1"/>
                </a:moveTo>
                <a:cubicBezTo>
                  <a:pt x="1220070" y="0"/>
                  <a:pt x="1247079" y="6376"/>
                  <a:pt x="1272583" y="19128"/>
                </a:cubicBezTo>
                <a:cubicBezTo>
                  <a:pt x="1323590" y="44631"/>
                  <a:pt x="2225936" y="495804"/>
                  <a:pt x="2287836" y="526755"/>
                </a:cubicBezTo>
                <a:cubicBezTo>
                  <a:pt x="2349737" y="557705"/>
                  <a:pt x="2386124" y="616577"/>
                  <a:pt x="2386123" y="685784"/>
                </a:cubicBezTo>
                <a:cubicBezTo>
                  <a:pt x="2386124" y="754990"/>
                  <a:pt x="2386124" y="1788853"/>
                  <a:pt x="2386123" y="1858059"/>
                </a:cubicBezTo>
                <a:cubicBezTo>
                  <a:pt x="2386124" y="1927266"/>
                  <a:pt x="2349740" y="1986111"/>
                  <a:pt x="2287838" y="2017061"/>
                </a:cubicBezTo>
                <a:cubicBezTo>
                  <a:pt x="2225939" y="2048011"/>
                  <a:pt x="1323593" y="2499184"/>
                  <a:pt x="1272585" y="2524688"/>
                </a:cubicBezTo>
                <a:cubicBezTo>
                  <a:pt x="1221579" y="2550192"/>
                  <a:pt x="1164547" y="2550193"/>
                  <a:pt x="1113539" y="2524689"/>
                </a:cubicBezTo>
                <a:cubicBezTo>
                  <a:pt x="1062533" y="2499185"/>
                  <a:pt x="160188" y="2048013"/>
                  <a:pt x="98286" y="2017062"/>
                </a:cubicBezTo>
                <a:cubicBezTo>
                  <a:pt x="36387" y="1986112"/>
                  <a:pt x="1" y="1927241"/>
                  <a:pt x="0" y="1858034"/>
                </a:cubicBezTo>
                <a:cubicBezTo>
                  <a:pt x="1" y="1788827"/>
                  <a:pt x="1" y="754964"/>
                  <a:pt x="0" y="685758"/>
                </a:cubicBezTo>
                <a:cubicBezTo>
                  <a:pt x="1" y="616551"/>
                  <a:pt x="36385" y="557706"/>
                  <a:pt x="98285" y="526756"/>
                </a:cubicBezTo>
                <a:cubicBezTo>
                  <a:pt x="160186" y="495805"/>
                  <a:pt x="1062531" y="44632"/>
                  <a:pt x="1113537" y="19129"/>
                </a:cubicBezTo>
                <a:cubicBezTo>
                  <a:pt x="1139042" y="6377"/>
                  <a:pt x="1166051" y="1"/>
                  <a:pt x="1193060" y="1"/>
                </a:cubicBezTo>
                <a:close/>
              </a:path>
            </a:pathLst>
          </a:custGeom>
          <a:solidFill>
            <a:schemeClr val="accent1">
              <a:alpha val="50000"/>
            </a:schemeClr>
          </a:solidFill>
          <a:ln w="3175" cap="flat" cmpd="sng" algn="ctr">
            <a:solidFill>
              <a:schemeClr val="tx1">
                <a:lumMod val="40000"/>
                <a:lumOff val="60000"/>
                <a:alpha val="20000"/>
              </a:schemeClr>
            </a:solidFill>
            <a:prstDash val="solid"/>
            <a:round/>
            <a:headEnd type="none" w="med" len="med"/>
            <a:tailEnd type="none" w="med" len="med"/>
          </a:ln>
        </p:spPr>
      </p:pic>
      <p:sp>
        <p:nvSpPr>
          <p:cNvPr id="24" name="矩形 23"/>
          <p:cNvSpPr/>
          <p:nvPr>
            <p:custDataLst>
              <p:tags r:id="rId16"/>
            </p:custDataLst>
          </p:nvPr>
        </p:nvSpPr>
        <p:spPr>
          <a:xfrm>
            <a:off x="8981673" y="5169024"/>
            <a:ext cx="2160246" cy="1088378"/>
          </a:xfrm>
          <a:prstGeom prst="rect">
            <a:avLst/>
          </a:prstGeom>
          <a:noFill/>
        </p:spPr>
        <p:txBody>
          <a:bodyPr wrap="square" lIns="0" tIns="0" rIns="0" bIns="0" rtlCol="0" anchor="t" anchorCtr="0">
            <a:noAutofit/>
          </a:bodyPr>
          <a:p>
            <a:pPr algn="ctr">
              <a:lnSpc>
                <a:spcPct val="150000"/>
              </a:lnSpc>
              <a:spcBef>
                <a:spcPct val="0"/>
              </a:spcBef>
              <a:spcAft>
                <a:spcPct val="0"/>
              </a:spcAft>
            </a:pPr>
            <a:r>
              <a:rPr lang="zh-CN" altLang="en-US" sz="1300" kern="0">
                <a:solidFill>
                  <a:schemeClr val="tx1">
                    <a:lumMod val="85000"/>
                    <a:lumOff val="15000"/>
                  </a:schemeClr>
                </a:solidFill>
                <a:latin typeface="+mn-ea"/>
                <a:cs typeface="+mn-ea"/>
              </a:rPr>
              <a:t>技术创新将更加注重隐私保护，确保在检测Deepfake的同时不侵犯个人隐私权益。</a:t>
            </a:r>
            <a:endParaRPr lang="zh-CN" altLang="en-US" sz="1300" kern="0">
              <a:solidFill>
                <a:schemeClr val="tx1">
                  <a:lumMod val="85000"/>
                  <a:lumOff val="15000"/>
                </a:schemeClr>
              </a:solidFill>
              <a:latin typeface="+mn-ea"/>
              <a:cs typeface="+mn-ea"/>
            </a:endParaRPr>
          </a:p>
        </p:txBody>
      </p:sp>
      <p:sp>
        <p:nvSpPr>
          <p:cNvPr id="25" name="矩形 24"/>
          <p:cNvSpPr/>
          <p:nvPr>
            <p:custDataLst>
              <p:tags r:id="rId17"/>
            </p:custDataLst>
          </p:nvPr>
        </p:nvSpPr>
        <p:spPr>
          <a:xfrm>
            <a:off x="8981673" y="4712465"/>
            <a:ext cx="2160246" cy="421000"/>
          </a:xfrm>
          <a:prstGeom prst="rect">
            <a:avLst/>
          </a:prstGeom>
          <a:noFill/>
        </p:spPr>
        <p:txBody>
          <a:bodyPr wrap="square" lIns="0" tIns="0" rIns="0" bIns="0" rtlCol="0" anchor="b">
            <a:noAutofit/>
          </a:bodyPr>
          <a:p>
            <a:pPr algn="ctr">
              <a:spcBef>
                <a:spcPct val="0"/>
              </a:spcBef>
              <a:spcAft>
                <a:spcPct val="0"/>
              </a:spcAft>
            </a:pPr>
            <a:r>
              <a:rPr lang="zh-CN" altLang="en-US" sz="2000" b="1" kern="0">
                <a:solidFill>
                  <a:schemeClr val="accent1"/>
                </a:solidFill>
                <a:latin typeface="+mn-ea"/>
                <a:cs typeface="+mn-ea"/>
              </a:rPr>
              <a:t>隐私保护增强</a:t>
            </a:r>
            <a:endParaRPr lang="zh-CN" altLang="en-US" sz="2000" b="1" kern="0">
              <a:solidFill>
                <a:schemeClr val="accent1"/>
              </a:solidFill>
              <a:latin typeface="+mn-ea"/>
              <a:cs typeface="+mn-ea"/>
            </a:endParaRPr>
          </a:p>
        </p:txBody>
      </p:sp>
    </p:spTree>
    <p:custDataLst>
      <p:tags r:id="rId18"/>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p:txBody>
          <a:bodyPr/>
          <a:lstStyle/>
          <a:p>
            <a:r>
              <a:rPr lang="zh-CN" altLang="en-US"/>
              <a:t>谢谢</a:t>
            </a:r>
            <a:endParaRPr lang="zh-CN" altLang="en-US"/>
          </a:p>
        </p:txBody>
      </p:sp>
      <p:sp>
        <p:nvSpPr>
          <p:cNvPr id="10" name="署名"/>
          <p:cNvSpPr>
            <a:spLocks noGrp="1"/>
          </p:cNvSpPr>
          <p:nvPr>
            <p:ph type="body" sz="quarter" idx="17"/>
            <p:custDataLst>
              <p:tags r:id="rId2"/>
            </p:custDataLst>
          </p:nvPr>
        </p:nvSpPr>
        <p:spPr/>
        <p:txBody>
          <a:bodyPr/>
          <a:lstStyle/>
          <a:p>
            <a:r>
              <a:rPr lang="zh-CN" altLang="en-US"/>
              <a:t>汇报人: 陈安康</a:t>
            </a:r>
            <a:endParaRPr lang="zh-CN" alt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3.0"/>
  <p:tag name="KSO_WM_BEAUTIFY_FLAG" val="#wm#"/>
  <p:tag name="KSO_WM_UNIT_TYPE" val="i"/>
  <p:tag name="KSO_WM_UNIT_INDEX" val="5"/>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UNIT_TEXT_LAYER_COUNT" val="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 name="KSO_WM_UNIT_TEXT_LAYER_COUNT"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8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VALUE" val="160"/>
  <p:tag name="KSO_WM_UNIT_TEXT_LAYER_COUNT"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TEXT_LAYER_COUNT"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 name="KSO_WM_UNIT_TEXT_LAYER_COUNT"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 name="KSO_WM_UNIT_TEXT_LAYER_COUNT"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 name="KSO_WM_UNIT_TEXT_LAYER_COUNT"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 name="KSO_WM_UNIT_TEXT_LAYER_COUNT"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29"/>
  <p:tag name="KSO_WM_TEMPLATE_CATEGORY" val="custom"/>
  <p:tag name="KSO_WM_TEMPLATE_INDEX" val="20233354"/>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TEXT_LAYER_COUNT" val="1"/>
  <p:tag name="KSO_WM_TEMPLATE_CATEGORY" val="custom"/>
  <p:tag name="KSO_WM_TEMPLATE_INDEX" val="20233354"/>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354"/>
  <p:tag name="KSO_WM_TEMPLATE_THUMBS_INDEX" val="1、9"/>
</p:tagLst>
</file>

<file path=ppt/tags/tag13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3354_1*a*1"/>
  <p:tag name="KSO_WM_TEMPLATE_CATEGORY" val="custom"/>
  <p:tag name="KSO_WM_TEMPLATE_INDEX" val="20233354"/>
  <p:tag name="KSO_WM_UNIT_LAYERLEVEL" val="1"/>
  <p:tag name="KSO_WM_TAG_VERSION" val="3.0"/>
  <p:tag name="KSO_WM_BEAUTIFY_FLAG" val="#wm#"/>
  <p:tag name="KSO_WM_UNIT_PRESET_TEXT" val="单击此处添加文档标题"/>
  <p:tag name="KSO_WM_UNIT_TEXT_TYPE" val="1"/>
</p:tagLst>
</file>

<file path=ppt/tags/tag139.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1"/>
  <p:tag name="KSO_WM_UNIT_ID" val="custom20233354_1*f*1"/>
  <p:tag name="KSO_WM_TEMPLATE_CATEGORY" val="custom"/>
  <p:tag name="KSO_WM_TEMPLATE_INDEX" val="20233354"/>
  <p:tag name="KSO_WM_UNIT_LAYERLEVEL" val="1"/>
  <p:tag name="KSO_WM_TAG_VERSION" val="3.0"/>
  <p:tag name="KSO_WM_BEAUTIFY_FLAG" val="#wm#"/>
  <p:tag name="KSO_WM_UNIT_TEXT_LAYER_COUNT" val="1"/>
  <p:tag name="KSO_WM_UNIT_PRESET_TEXT" val="汇报人：WPS"/>
  <p:tag name="KSO_WM_UNIT_TEXT_TYPE" val="1"/>
</p:tagLst>
</file>

<file path=ppt/tags/tag140.xml><?xml version="1.0" encoding="utf-8"?>
<p:tagLst xmlns:p="http://schemas.openxmlformats.org/presentationml/2006/main">
  <p:tag name="KSO_WM_SLIDE_ID" val="custom2023335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3354"/>
  <p:tag name="KSO_WM_SLIDE_LAYOUT" val="a_f"/>
  <p:tag name="KSO_WM_SLIDE_LAYOUT_CNT" val="1_1"/>
  <p:tag name="KSO_WM_SLIDE_TYPE" val="title"/>
  <p:tag name="KSO_WM_SLIDE_SUBTYPE" val="pureTxt"/>
  <p:tag name="KSO_WM_TEMPLATE_THUMBS_INDEX" val="1、9"/>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5*a*1"/>
  <p:tag name="KSO_WM_TEMPLATE_CATEGORY" val="custom"/>
  <p:tag name="KSO_WM_TEMPLATE_INDEX" val="20233354"/>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PRESET_TEXT_INDEX" val="0"/>
  <p:tag name="KSO_WM_UNIT_PRESET_TEXT_LEN" val="0"/>
  <p:tag name="KSO_WM_UNIT_TEXT_FILL_FORE_SCHEMECOLOR_INDEX" val="2"/>
  <p:tag name="KSO_WM_UNIT_TEXT_FILL_TYPE" val="1"/>
  <p:tag name="KSO_WM_UNIT_USESOURCEFORMAT_APPLY" val="0"/>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3354_5*l_h_i*1_1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SHADOW_SCHEMECOLOR_INDEX" val="5"/>
  <p:tag name="KSO_WM_UNIT_TEXT_FILL_FORE_SCHEMECOLOR_INDEX" val="2"/>
  <p:tag name="KSO_WM_UNIT_TEXT_FILL_TYPE" val="1"/>
  <p:tag name="KSO_WM_UNIT_USESOURCEFORMAT_APPLY" val="0"/>
</p:tagLst>
</file>

<file path=ppt/tags/tag14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3354_5*l_h_a*1_1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3354_5*l_h_i*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SHADOW_SCHEMECOLOR_INDEX" val="5"/>
  <p:tag name="KSO_WM_UNIT_TEXT_FILL_FORE_SCHEMECOLOR_INDEX" val="2"/>
  <p:tag name="KSO_WM_UNIT_TEXT_FILL_TYPE" val="1"/>
  <p:tag name="KSO_WM_UNIT_USESOURCEFORMAT_APPLY" val="0"/>
</p:tagLst>
</file>

<file path=ppt/tags/tag14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3354_5*l_h_a*1_3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3354_5*l_h_i*1_2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SHADOW_SCHEMECOLOR_INDEX" val="5"/>
  <p:tag name="KSO_WM_UNIT_TEXT_FILL_FORE_SCHEMECOLOR_INDEX" val="2"/>
  <p:tag name="KSO_WM_UNIT_TEXT_FILL_TYPE" val="1"/>
  <p:tag name="KSO_WM_UNIT_USESOURCEFORMAT_APPLY" val="0"/>
</p:tagLst>
</file>

<file path=ppt/tags/tag14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3354_5*l_h_a*1_2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3354_5*l_h_i*1_4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SHADOW_SCHEMECOLOR_INDEX" val="5"/>
  <p:tag name="KSO_WM_UNIT_TEXT_FILL_FORE_SCHEMECOLOR_INDEX" val="2"/>
  <p:tag name="KSO_WM_UNIT_TEXT_FILL_TYPE" val="1"/>
  <p:tag name="KSO_WM_UNIT_USESOURCEFORMAT_APPLY" val="0"/>
</p:tagLst>
</file>

<file path=ppt/tags/tag14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3354_5*l_h_a*1_4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5_1"/>
  <p:tag name="KSO_WM_UNIT_ID" val="custom20233354_5*l_h_i*1_5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gradient&quot;:[{&quot;brightness&quot;:-0.25,&quot;colorType&quot;:1,&quot;foreColorIndex&quot;:5,&quot;pos&quot;:0,&quot;transparency&quot;:0},{&quot;brightness&quot;:-0.5,&quot;colorType&quot;:1,&quot;foreColorIndex&quot;:5,&quot;pos&quot;:1,&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5"/>
  <p:tag name="KSO_WM_UNIT_SHADOW_SCHEMECOLOR_INDEX" val="5"/>
  <p:tag name="KSO_WM_UNIT_TEXT_FILL_FORE_SCHEMECOLOR_INDEX" val="2"/>
  <p:tag name="KSO_WM_UNIT_TEXT_FILL_TYPE" val="1"/>
  <p:tag name="KSO_WM_UNIT_USESOURCEFORMAT_APPLY" val="0"/>
</p:tagLst>
</file>

<file path=ppt/tags/tag15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5_1"/>
  <p:tag name="KSO_WM_UNIT_ID" val="custom20233354_5*l_h_a*1_5_1"/>
  <p:tag name="KSO_WM_TEMPLATE_CATEGORY" val="custom"/>
  <p:tag name="KSO_WM_TEMPLATE_INDEX" val="20233354"/>
  <p:tag name="KSO_WM_UNIT_LAYERLEVEL" val="1_1_1"/>
  <p:tag name="KSO_WM_TAG_VERSION" val="3.0"/>
  <p:tag name="KSO_WM_BEAUTIFY_FLAG" val="#wm#"/>
  <p:tag name="KSO_WM_DIAGRAM_GROUP_CODE" val="l1-1"/>
  <p:tag name="KSO_WM_DIAGRAM_VERSION" val="3"/>
  <p:tag name="KSO_WM_DIAGRAM_COLOR_TRICK" val="1"/>
  <p:tag name="KSO_WM_DIAGRAM_COLOR_TEXT_CAN_REMOVE" val="n"/>
  <p:tag name="KSO_WM_DIAGRAM_MAX_ITEMCNT" val="6"/>
  <p:tag name="KSO_WM_DIAGRAM_MIN_ITEMCNT" val="2"/>
  <p:tag name="KSO_WM_DIAGRAM_VIRTUALLY_FRAME" val="{&quot;height&quot;:231.08172607421875,&quot;width&quot;:762.996826171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目录项标题"/>
  <p:tag name="KSO_WM_UNIT_TEXT_TYPE" val="1"/>
  <p:tag name="KSO_WM_UNIT_TEXT_FILL_FORE_SCHEMECOLOR_INDEX" val="15"/>
  <p:tag name="KSO_WM_UNIT_TEXT_FILL_TYPE" val="1"/>
  <p:tag name="KSO_WM_UNIT_USESOURCEFORMAT_APPLY" val="0"/>
</p:tagLst>
</file>

<file path=ppt/tags/tag152.xml><?xml version="1.0" encoding="utf-8"?>
<p:tagLst xmlns:p="http://schemas.openxmlformats.org/presentationml/2006/main">
  <p:tag name="KSO_WM_SLIDE_ID" val="custom20233354_5"/>
  <p:tag name="KSO_WM_TEMPLATE_SUBCATEGORY" val="29"/>
  <p:tag name="KSO_WM_TEMPLATE_MASTER_TYPE" val="0"/>
  <p:tag name="KSO_WM_TEMPLATE_COLOR_TYPE" val="0"/>
  <p:tag name="KSO_WM_SLIDE_ITEM_CNT" val="5"/>
  <p:tag name="KSO_WM_SLIDE_INDEX" val="5"/>
  <p:tag name="KSO_WM_TAG_VERSION" val="3.0"/>
  <p:tag name="KSO_WM_BEAUTIFY_FLAG" val="#wm#"/>
  <p:tag name="KSO_WM_TEMPLATE_CATEGORY" val="custom"/>
  <p:tag name="KSO_WM_TEMPLATE_INDEX" val="20233354"/>
  <p:tag name="KSO_WM_SLIDE_LAYOUT" val="a_l"/>
  <p:tag name="KSO_WM_SLIDE_LAYOUT_CNT" val="1_1"/>
  <p:tag name="KSO_WM_SLIDE_TYPE" val="contents"/>
  <p:tag name="KSO_WM_SLIDE_SUBTYPE" val="diag"/>
  <p:tag name="KSO_WM_DIAGRAM_GROUP_CODE" val="l1-1"/>
  <p:tag name="KSO_WM_SLIDE_DIAGTYPE" val="l"/>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7*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此处添加章节标题"/>
  <p:tag name="KSO_WM_UNIT_TEXT_TYPE" val="1"/>
</p:tagLst>
</file>

<file path=ppt/tags/tag15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3354_7*e*1"/>
  <p:tag name="KSO_WM_TEMPLATE_CATEGORY" val="custom"/>
  <p:tag name="KSO_WM_TEMPLATE_INDEX" val="20233354"/>
  <p:tag name="KSO_WM_UNIT_LAYERLEVEL" val="1"/>
  <p:tag name="KSO_WM_TAG_VERSION" val="3.0"/>
  <p:tag name="KSO_WM_BEAUTIFY_FLAG" val="#wm#"/>
  <p:tag name="KSO_WM_UNIT_NOCLEAR" val="0"/>
  <p:tag name="KSO_WM_UNIT_VALUE" val="13"/>
  <p:tag name="KSO_WM_UNIT_TYPE" val="e"/>
  <p:tag name="KSO_WM_UNIT_INDEX" val="1"/>
  <p:tag name="KSO_WM_UNIT_PRESET_TEXT_INDEX" val="-1"/>
  <p:tag name="KSO_WM_UNIT_PRESET_TEXT_LEN" val="0"/>
</p:tagLst>
</file>

<file path=ppt/tags/tag155.xml><?xml version="1.0" encoding="utf-8"?>
<p:tagLst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56.xml><?xml version="1.0" encoding="utf-8"?>
<p:tagLst xmlns:p="http://schemas.openxmlformats.org/presentationml/2006/main">
  <p:tag name="KSO_WM_UNIT_VALUE" val="952*3384"/>
  <p:tag name="KSO_WM_UNIT_HIGHLIGHT" val="0"/>
  <p:tag name="KSO_WM_UNIT_COMPATIBLE" val="0"/>
  <p:tag name="KSO_WM_UNIT_DIAGRAM_ISNUMVISUAL" val="0"/>
  <p:tag name="KSO_WM_UNIT_DIAGRAM_ISREFERUNIT" val="0"/>
  <p:tag name="KSO_WM_UNIT_TYPE" val="d"/>
  <p:tag name="KSO_WM_UNIT_INDEX" val="1"/>
  <p:tag name="KSO_WM_UNIT_ID" val="custom20232484_1*d*1"/>
  <p:tag name="KSO_WM_TEMPLATE_CATEGORY" val="custom"/>
  <p:tag name="KSO_WM_TEMPLATE_INDEX" val="20232484"/>
  <p:tag name="KSO_WM_UNIT_LAYERLEVEL" val="1"/>
  <p:tag name="KSO_WM_TAG_VERSION" val="3.0"/>
  <p:tag name="KSO_WM_BEAUTIFY_FLAG" val="#wm#"/>
  <p:tag name="KSO_WM_DIAGRAM_GROUP_CODE" val="l1-1"/>
  <p:tag name="KSO_WM_UNIT_LINE_FORE_SCHEMECOLOR_INDEX" val="1"/>
  <p:tag name="KSO_WM_UNIT_LINE_FILL_TYPE" val="2"/>
  <p:tag name="KSO_WM_UNIT_USESOURCEFORMAT_APPLY" val="0"/>
  <p:tag name="KSO_WM_UNIT_PICTURE_SUBTYPE" val="a"/>
  <p:tag name="MH_PIC_SOURCE_TYPE" val="generate_slide_ai**auto_ai_ai_v2.1.1_ONLINE*1749094823744_223.1_468dcd5d8d31-slide-0"/>
  <p:tag name="KSO_WM_UNIT_FILL_FORE_SCHEMECOLOR_INDEX" val="5"/>
  <p:tag name="KSO_WM_UNIT_FILL_TYPE" val="1"/>
</p:tagLst>
</file>

<file path=ppt/tags/tag15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2484_1*i*1"/>
  <p:tag name="KSO_WM_TEMPLATE_CATEGORY" val="custom"/>
  <p:tag name="KSO_WM_TEMPLATE_INDEX" val="20232484"/>
  <p:tag name="KSO_WM_UNIT_LAYERLEVEL" val="1"/>
  <p:tag name="KSO_WM_TAG_VERSION" val="3.0"/>
  <p:tag name="KSO_WM_UNIT_FILL_FORE_SCHEMECOLOR_INDEX" val="2"/>
  <p:tag name="KSO_WM_UNIT_FILL_TYPE" val="1"/>
  <p:tag name="KSO_WM_UNIT_LINE_FORE_SCHEMECOLOR_INDEX" val="5"/>
  <p:tag name="KSO_WM_UNIT_LINE_FILL_TYPE" val="2"/>
  <p:tag name="KSO_WM_UNIT_SHADOW_SCHEMECOLOR_INDEX" val="5"/>
  <p:tag name="KSO_WM_UNIT_TEXT_FILL_FORE_SCHEMECOLOR_INDEX" val="13"/>
  <p:tag name="KSO_WM_UNIT_TEXT_FILL_TYPE" val="1"/>
  <p:tag name="KSO_WM_UNIT_USESOURCEFORMAT_APPLY" val="0"/>
</p:tagLst>
</file>

<file path=ppt/tags/tag15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2484_1*a*1"/>
  <p:tag name="KSO_WM_TEMPLATE_CATEGORY" val="custom"/>
  <p:tag name="KSO_WM_TEMPLATE_INDEX" val="20232484"/>
  <p:tag name="KSO_WM_UNIT_LAYERLEVEL" val="1"/>
  <p:tag name="KSO_WM_TAG_VERSION" val="3.0"/>
  <p:tag name="KSO_WM_BEAUTIFY_FLAG" val="#wm#"/>
  <p:tag name="KSO_WM_DIAGRAM_GROUP_CODE" val="l1-1"/>
  <p:tag name="KSO_WM_UNIT_USESOURCEFORMAT_APPLY" val="0"/>
  <p:tag name="KSO_WM_UNIT_PRESET_TEXT" val="单击此处添加标题"/>
  <p:tag name="KSO_WM_UNIT_TEXT_TYPE" val="1"/>
</p:tagLst>
</file>

<file path=ppt/tags/tag159.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3*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00.8,&quot;top&quot;:154.55007874015746,&quot;width&quot;:772.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60.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3*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00.8,&quot;top&quot;:154.55007874015746,&quot;width&quot;:772.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6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6_3*l_h_f*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00.8,&quot;top&quot;:154.55007874015746,&quot;width&quot;:772.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6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6_3*l_h_a*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00.8,&quot;top&quot;:154.55007874015746,&quot;width&quot;:772.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6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3*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00.8,&quot;top&quot;:154.55007874015746,&quot;width&quot;:772.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64.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3*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5,&quot;left&quot;:100.8,&quot;top&quot;:154.55007874015746,&quot;width&quot;:772.3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65.xml><?xml version="1.0" encoding="utf-8"?>
<p:tagLst xmlns:p="http://schemas.openxmlformats.org/presentationml/2006/main">
  <p:tag name="KSO_WM_SLIDE_ID" val="custom20232484_1"/>
  <p:tag name="KSO_WM_TEMPLATE_SUBCATEGORY" val="0"/>
  <p:tag name="KSO_WM_TEMPLATE_MASTER_TYPE" val="0"/>
  <p:tag name="KSO_WM_TEMPLATE_COLOR_TYPE" val="0"/>
  <p:tag name="KSO_WM_SLIDE_ITEM_CNT" val="2"/>
  <p:tag name="KSO_WM_SLIDE_INDEX" val="1"/>
  <p:tag name="KSO_WM_TAG_VERSION" val="3.0"/>
  <p:tag name="KSO_WM_BEAUTIFY_FLAG" val="#wm#"/>
  <p:tag name="KSO_WM_TEMPLATE_CATEGORY" val="custom"/>
  <p:tag name="KSO_WM_TEMPLATE_INDEX" val="20233354"/>
  <p:tag name="KSO_WM_SLIDE_TYPE" val="text"/>
  <p:tag name="KSO_WM_SLIDE_SUBTYPE" val="picTxt"/>
  <p:tag name="KSO_WM_SLIDE_SIZE" val="746*95.95"/>
  <p:tag name="KSO_WM_SLIDE_POSITION" val="120.25*376.775"/>
  <p:tag name="KSO_WM_SLIDE_LAYOUT" val="a_d_l"/>
  <p:tag name="KSO_WM_SLIDE_LAYOUT_CNT" val="1_1_1"/>
  <p:tag name="KSO_WM_SPECIAL_SOURCE" val="bdnull"/>
  <p:tag name="KSO_WM_DIAGRAM_GROUP_CODE" val="l1-1"/>
  <p:tag name="KSO_WM_SLIDE_DIAGTYPE" val="l"/>
</p:tagLst>
</file>

<file path=ppt/tags/tag166.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3315_2*a*1"/>
  <p:tag name="KSO_WM_TEMPLATE_CATEGORY" val="diagram"/>
  <p:tag name="KSO_WM_TEMPLATE_INDEX" val="2023331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6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315_1*l_h_f*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6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315_1*l_h_a*1_1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2"/>
  <p:tag name="KSO_WM_DIAGRAM_VERSION" val="3"/>
  <p:tag name="KSO_WM_DIAGRAM_COLOR_TRICK" val="1"/>
  <p:tag name="KSO_WM_DIAGRAM_COLOR_TEXT_CAN_REMOVE" val="n"/>
  <p:tag name="KSO_WM_UNIT_PRESET_TEXT" val="此处添加项标题"/>
  <p:tag name="KSO_WM_UNIT_TEXT_FILL_FORE_SCHEMECOLOR_INDEX" val="1"/>
  <p:tag name="KSO_WM_UNIT_TEXT_FILL_TYPE" val="1"/>
  <p:tag name="KSO_WM_UNIT_TEXT_TYPE" val="1"/>
  <p:tag name="KSO_WM_UNIT_USESOURCEFORMAT_APPLY" val="0"/>
</p:tagLst>
</file>

<file path=ppt/tags/tag16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315_1*l_h_f*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
  <p:tag name="KSO_WM_UNIT_TEXT_FILL_FORE_SCHEMECOLOR_INDEX" val="1"/>
  <p:tag name="KSO_WM_UNIT_TEXT_FILL_TYPE" val="1"/>
  <p:tag name="KSO_WM_UNIT_TEXT_TYPE" val="1"/>
  <p:tag name="KSO_WM_UNIT_TEXT_LAYER_COUNT" val="1"/>
  <p:tag name="KSO_WM_UNIT_USESOURCEFORMAT_APPLY" val="0"/>
</p:tagLst>
</file>

<file path=ppt/tags/tag17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315_1*l_h_a*1_3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71.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315_1*l_h_f*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2"/>
  <p:tag name="KSO_WM_DIAGRAM_VERSION" val="3"/>
  <p:tag name="KSO_WM_DIAGRAM_COLOR_TRICK" val="1"/>
  <p:tag name="KSO_WM_DIAGRAM_COLOR_TEXT_CAN_REMOVE" val="n"/>
  <p:tag name="KSO_WM_UNIT_PRESET_TEXT" val="单击此处添加内容，简明扼要地阐述观点。根据需要酌情增减文字&#10;"/>
  <p:tag name="KSO_WM_UNIT_TEXT_FILL_FORE_SCHEMECOLOR_INDEX" val="1"/>
  <p:tag name="KSO_WM_UNIT_TEXT_FILL_TYPE" val="1"/>
  <p:tag name="KSO_WM_UNIT_TEXT_TYPE" val="1"/>
  <p:tag name="KSO_WM_UNIT_TEXT_LAYER_COUNT" val="1"/>
  <p:tag name="KSO_WM_UNIT_USESOURCEFORMAT_APPLY" val="0"/>
</p:tagLst>
</file>

<file path=ppt/tags/tag17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315_1*l_h_a*1_2_1"/>
  <p:tag name="KSO_WM_TEMPLATE_CATEGORY" val="diagram"/>
  <p:tag name="KSO_WM_TEMPLATE_INDEX" val="20233315"/>
  <p:tag name="KSO_WM_UNIT_LAYERLEVEL" val="1_1_1"/>
  <p:tag name="KSO_WM_TAG_VERSION" val="3.0"/>
  <p:tag name="KSO_WM_BEAUTIFY_FLAG" val="#wm#"/>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VALUE" val="12"/>
  <p:tag name="KSO_WM_UNIT_PRESET_TEXT" val="此处添加项标题"/>
  <p:tag name="KSO_WM_UNIT_TEXT_FILL_FORE_SCHEMECOLOR_INDEX" val="1"/>
  <p:tag name="KSO_WM_UNIT_TEXT_FILL_TYPE" val="1"/>
  <p:tag name="KSO_WM_UNIT_TEXT_TYPE" val="1"/>
  <p:tag name="KSO_WM_UNIT_USESOURCEFORMAT_APPLY" val="0"/>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1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VCG211328904203*auto_gallery_ai_v2.1.1_ONLINE*1749094823744_223.1_468dcd5d8d31-slide-1"/>
  <p:tag name="KSO_WM_UNIT_LINE_FILL_TYPE" val="2"/>
  <p:tag name="KSO_WM_UNIT_USESOURCEFORMAT_APPLY" val="0"/>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2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VCG41N1395371621*auto_gallery_ai_v2.1.1_ONLINE*1749094823744_223.1_468dcd5d8d31-slide-1"/>
  <p:tag name="KSO_WM_UNIT_LINE_FILL_TYPE" val="2"/>
  <p:tag name="KSO_WM_UNIT_USESOURCEFORMAT_APPLY" val="0"/>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d*1_3_1"/>
  <p:tag name="KSO_WM_TEMPLATE_CATEGORY" val="diagram"/>
  <p:tag name="KSO_WM_TEMPLATE_INDEX" val="20233315"/>
  <p:tag name="KSO_WM_UNIT_LAYERLEVEL" val="1_1_1"/>
  <p:tag name="KSO_WM_TAG_VERSION" val="3.0"/>
  <p:tag name="KSO_WM_BEAUTIFY_FLAG" val="#wm#"/>
  <p:tag name="KSO_WM_UNIT_VALUE" val="450*450"/>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3"/>
  <p:tag name="KSO_WM_UNIT_PICTURE_SUBTYPE" val="b"/>
  <p:tag name="MH_PIC_SOURCE_TYPE" val="generate_slide_ai*VCG41N1604952558*auto_gallery_ai_v2.1.1_ONLINE*1749094823744_223.1_468dcd5d8d31-slide-1"/>
  <p:tag name="KSO_WM_UNIT_LINE_FILL_TYPE" val="2"/>
  <p:tag name="KSO_WM_UNIT_USESOURCEFORMAT_APPLY" val="0"/>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1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2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15_1*l_h_i*1_3_1"/>
  <p:tag name="KSO_WM_TEMPLATE_CATEGORY" val="diagram"/>
  <p:tag name="KSO_WM_TEMPLATE_INDEX" val="20233315"/>
  <p:tag name="KSO_WM_UNIT_LAYERLEVEL" val="1_1_1"/>
  <p:tag name="KSO_WM_TAG_VERSION" val="3.0"/>
  <p:tag name="KSO_WM_BEAUTIFY_FLAG" val="#wm#"/>
  <p:tag name="KSO_WM_UNIT_SUBTYPE" val="d"/>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3"/>
  <p:tag name="KSO_WM_DIAGRAM_VIRTUALLY_FRAME" val="{&quot;height&quot;:305.4681091308594,&quot;width&quot;:850.39379882812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0"/>
</p:tagLst>
</file>

<file path=ppt/tags/tag179.xml><?xml version="1.0" encoding="utf-8"?>
<p:tagLst xmlns:p="http://schemas.openxmlformats.org/presentationml/2006/main">
  <p:tag name="KSO_WM_SLIDE_ID" val="diagram20233315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3354"/>
  <p:tag name="KSO_WM_SLIDE_TYPE" val="text"/>
  <p:tag name="KSO_WM_SLIDE_SUBTYPE" val="diag"/>
  <p:tag name="KSO_WM_SLIDE_SIZE" val="850.394*297.555"/>
  <p:tag name="KSO_WM_SLIDE_POSITION" val="54.8032*139.28"/>
  <p:tag name="KSO_WM_SLIDE_LAYOUT" val="a_l"/>
  <p:tag name="KSO_WM_SLIDE_LAYOUT_CNT" val="1_1"/>
  <p:tag name="KSO_WM_SPECIAL_SOURCE" val="bdnull"/>
  <p:tag name="KSO_WM_DIAGRAM_GROUP_CODE" val="l1-1"/>
  <p:tag name="KSO_WM_SLIDE_DIAGTYPE" val="l"/>
</p:tagLst>
</file>

<file path=ppt/tags/tag180.xml><?xml version="1.0" encoding="utf-8"?>
<p:tagLst xmlns:p="http://schemas.openxmlformats.org/presentationml/2006/main">
  <p:tag name="KSO_WM_UNIT_VALUE" val="831*2998"/>
  <p:tag name="KSO_WM_UNIT_HIGHLIGHT" val="0"/>
  <p:tag name="KSO_WM_UNIT_COMPATIBLE" val="0"/>
  <p:tag name="KSO_WM_UNIT_DIAGRAM_ISNUMVISUAL" val="0"/>
  <p:tag name="KSO_WM_UNIT_DIAGRAM_ISREFERUNIT" val="0"/>
  <p:tag name="KSO_WM_UNIT_TYPE" val="d"/>
  <p:tag name="KSO_WM_UNIT_INDEX" val="1"/>
  <p:tag name="KSO_WM_UNIT_ID" val="custom20231930_1*d*1"/>
  <p:tag name="KSO_WM_TEMPLATE_CATEGORY" val="custom"/>
  <p:tag name="KSO_WM_TEMPLATE_INDEX" val="20231930"/>
  <p:tag name="KSO_WM_UNIT_LAYERLEVEL" val="1"/>
  <p:tag name="KSO_WM_TAG_VERSION" val="3.0"/>
  <p:tag name="KSO_WM_BEAUTIFY_FLAG" val="#wm#"/>
  <p:tag name="KSO_WM_UNIT_PICTURE_SUBTYPE" val="b"/>
  <p:tag name="KSO_WM_DIAGRAM_GROUP_CODE" val="l1-1"/>
  <p:tag name="MH_PIC_SOURCE_TYPE" val="generate_slide_ai**auto_ai_ai_v2.1.1_ONLINE*1749094823744_223.1_468dcd5d8d31-slide-2"/>
  <p:tag name="KSO_WM_UNIT_FILL_FORE_SCHEMECOLOR_INDEX" val="5"/>
  <p:tag name="KSO_WM_UNIT_FILL_TYPE" val="1"/>
  <p:tag name="KSO_WM_UNIT_LINE_FORE_SCHEMECOLOR_INDEX" val="1"/>
  <p:tag name="KSO_WM_UNIT_LINE_FILL_TYPE" val="2"/>
  <p:tag name="KSO_WM_UNIT_USESOURCEFORMAT_APPLY" val="0"/>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1930_1*i*1"/>
  <p:tag name="KSO_WM_TEMPLATE_CATEGORY" val="custom"/>
  <p:tag name="KSO_WM_TEMPLATE_INDEX" val="20231930"/>
  <p:tag name="KSO_WM_UNIT_LAYERLEVEL" val="1"/>
  <p:tag name="KSO_WM_TAG_VERSION" val="3.0"/>
  <p:tag name="KSO_WM_BEAUTIFY_FLAG" val="#wm#"/>
  <p:tag name="KSO_WM_DIAGRAM_GROUP_CODE" val="l1-1"/>
  <p:tag name="KSO_WM_UNIT_FILL_FORE_SCHEMECOLOR_INDEX" val="5"/>
  <p:tag name="KSO_WM_UNIT_FILL_TYPE" val="1"/>
  <p:tag name="KSO_WM_UNIT_TEXT_FILL_FORE_SCHEMECOLOR_INDEX" val="2"/>
  <p:tag name="KSO_WM_UNIT_TEXT_FILL_TYPE" val="1"/>
  <p:tag name="KSO_WM_UNIT_USESOURCEFORMAT_APPLY" val="0"/>
</p:tagLst>
</file>

<file path=ppt/tags/tag1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custom20231930_1*i*2"/>
  <p:tag name="KSO_WM_TEMPLATE_CATEGORY" val="custom"/>
  <p:tag name="KSO_WM_TEMPLATE_INDEX" val="20231930"/>
  <p:tag name="KSO_WM_UNIT_LAYERLEVEL" val="1"/>
  <p:tag name="KSO_WM_TAG_VERSION" val="3.0"/>
  <p:tag name="KSO_WM_DIAGRAM_GROUP_CODE" val="l1-1"/>
  <p:tag name="KSO_WM_UNIT_FILL_FORE_SCHEMECOLOR_INDEX" val="2"/>
  <p:tag name="KSO_WM_UNIT_FILL_TYPE" val="1"/>
  <p:tag name="KSO_WM_UNIT_TEXT_FILL_FORE_SCHEMECOLOR_INDEX" val="14"/>
  <p:tag name="KSO_WM_UNIT_TEXT_FILL_TYPE" val="1"/>
  <p:tag name="KSO_WM_UNIT_USESOURCEFORMAT_APPLY" val="0"/>
</p:tagLst>
</file>

<file path=ppt/tags/tag183.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TEMPLATE_CATEGORY" val="custom"/>
  <p:tag name="KSO_WM_UNIT_LAYERLEVEL" val="1"/>
  <p:tag name="KSO_WM_TAG_VERSION" val="3.0"/>
  <p:tag name="KSO_WM_BEAUTIFY_FLAG" val="#wm#"/>
  <p:tag name="KSO_WM_TEMPLATE_INDEX" val="20231930"/>
  <p:tag name="KSO_WM_UNIT_ID" val="custom20231930_1*a*1"/>
  <p:tag name="KSO_WM_UNIT_TEXT_TYPE" val="1"/>
  <p:tag name="KSO_WM_DIAGRAM_GROUP_CODE" val="l1-1"/>
  <p:tag name="KSO_WM_UNIT_PRESET_TEXT" val="单击此处添加标题"/>
  <p:tag name="KSO_WM_UNIT_TEXT_FILL_FORE_SCHEMECOLOR_INDEX" val="13"/>
  <p:tag name="KSO_WM_UNIT_TEXT_FILL_TYPE" val="1"/>
  <p:tag name="KSO_WM_UNIT_USESOURCEFORMAT_APPLY" val="0"/>
</p:tagLst>
</file>

<file path=ppt/tags/tag184.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2476_3*l_h_f*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85.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2476_3*l_h_a*1_1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86.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2476_3*l_h_f*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87.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2476_3*l_h_a*1_3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88.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VALUE" val="138"/>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2476_3*l_h_f*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000000&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TEXT_TYPE" val="1"/>
  <p:tag name="KSO_WM_UNIT_TEXT_LAYER_COUNT" val="1"/>
  <p:tag name="KSO_WM_UNIT_PRESET_TEXT" val="单击此处输入你的项正文，请尽量言简意赅的阐述观点，单击此处输入你的项正文。"/>
  <p:tag name="KSO_WM_UNIT_USESOURCEFORMAT_APPLY" val="0"/>
</p:tagLst>
</file>

<file path=ppt/tags/tag189.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41"/>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2476_3*l_h_a*1_2_1"/>
  <p:tag name="KSO_WM_TEMPLATE_CATEGORY" val="diagram"/>
  <p:tag name="KSO_WM_TEMPLATE_INDEX" val="20232476"/>
  <p:tag name="KSO_WM_UNIT_LAYERLEVEL" val="1_1_1"/>
  <p:tag name="KSO_WM_TAG_VERSION" val="3.0"/>
  <p:tag name="KSO_WM_BEAUTIFY_FLAG" val="#wm#"/>
  <p:tag name="KSO_WM_DIAGRAM_MAX_ITEMCNT" val="3"/>
  <p:tag name="KSO_WM_DIAGRAM_MIN_ITEMCNT" val="1"/>
  <p:tag name="KSO_WM_DIAGRAM_VIRTUALLY_FRAME" val="{&quot;height&quot;:132.14999389648438,&quot;width&quot;:74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添加项标题"/>
  <p:tag name="KSO_WM_UNIT_TEXT_FILL_FORE_SCHEMECOLOR_INDEX" val="1"/>
  <p:tag name="KSO_WM_UNIT_TEXT_FILL_TYPE" val="1"/>
  <p:tag name="KSO_WM_UNIT_USESOURCEFORMAT_APPLY" val="0"/>
</p:tagLst>
</file>

<file path=ppt/tags/tag190.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746*95.95"/>
  <p:tag name="KSO_WM_SLIDE_POSITION" val="54.8*410.65"/>
  <p:tag name="KSO_WM_SLIDE_LAYOUT" val="a_d_l"/>
  <p:tag name="KSO_WM_SLIDE_LAYOUT_CNT" val="1_1_1"/>
  <p:tag name="KSO_WM_SPECIAL_SOURCE" val="bdnull"/>
  <p:tag name="KSO_WM_TEMPLATE_INDEX" val="20233354"/>
  <p:tag name="KSO_WM_TEMPLATE_SUBCATEGORY" val="0"/>
  <p:tag name="KSO_WM_SLIDE_INDEX" val="1"/>
  <p:tag name="KSO_WM_TAG_VERSION" val="3.0"/>
  <p:tag name="KSO_WM_SLIDE_ID" val="custom20231930_1"/>
  <p:tag name="KSO_WM_SLIDE_ITEM_CNT" val="2"/>
  <p:tag name="KSO_WM_DIAGRAM_GROUP_CODE" val="l1-1"/>
  <p:tag name="KSO_WM_SLIDE_DIAGTYPE" val="l"/>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7*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此处添加章节标题"/>
  <p:tag name="KSO_WM_UNIT_TEXT_TYPE" val="1"/>
</p:tagLst>
</file>

<file path=ppt/tags/tag19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3354_7*e*1"/>
  <p:tag name="KSO_WM_TEMPLATE_CATEGORY" val="custom"/>
  <p:tag name="KSO_WM_TEMPLATE_INDEX" val="20233354"/>
  <p:tag name="KSO_WM_UNIT_LAYERLEVEL" val="1"/>
  <p:tag name="KSO_WM_TAG_VERSION" val="3.0"/>
  <p:tag name="KSO_WM_BEAUTIFY_FLAG" val="#wm#"/>
  <p:tag name="KSO_WM_UNIT_NOCLEAR" val="0"/>
  <p:tag name="KSO_WM_UNIT_VALUE" val="13"/>
  <p:tag name="KSO_WM_UNIT_TYPE" val="e"/>
  <p:tag name="KSO_WM_UNIT_INDEX" val="1"/>
  <p:tag name="KSO_WM_UNIT_PRESET_TEXT_INDEX" val="-1"/>
  <p:tag name="KSO_WM_UNIT_PRESET_TEXT_LEN" val="0"/>
</p:tagLst>
</file>

<file path=ppt/tags/tag193.xml><?xml version="1.0" encoding="utf-8"?>
<p:tagLst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19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33335_3*a*1"/>
  <p:tag name="KSO_WM_TEMPLATE_CATEGORY" val="diagram"/>
  <p:tag name="KSO_WM_TEMPLATE_INDEX" val="20233335"/>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3*l_h_i*1_1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1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5_3*l_h_f*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 name="KSO_WM_UNIT_USESOURCEFORMAT_APPLY" val="0"/>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1_1"/>
  <p:tag name="KSO_WM_UNIT_ID" val="diagram20233335_3*l_h_a*1_1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 name="KSO_WM_UNIT_USESOURCEFORMAT_APPLY" val="0"/>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3*l_h_d*1_1_1"/>
  <p:tag name="KSO_WM_TEMPLATE_CATEGORY" val="diagram"/>
  <p:tag name="KSO_WM_TEMPLATE_INDEX" val="20233335"/>
  <p:tag name="KSO_WM_UNIT_LAYERLEVEL" val="1_1_1"/>
  <p:tag name="KSO_WM_TAG_VERSION" val="3.0"/>
  <p:tag name="KSO_WM_BEAUTIFY_FLAG" val="#wm#"/>
  <p:tag name="KSO_WM_UNIT_VALUE" val="514*514"/>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PICTURE_SUBTYPE" val="b"/>
  <p:tag name="MH_PIC_SOURCE_TYPE" val="generate_slide_ai*VCG41N1039721302*auto_gallery_ai_v2.1.1_ONLINE*1749094823744_223.1_468dcd5d8d31-slide-4"/>
  <p:tag name="KSO_WM_UNIT_LINE_FILL_TYPE" val="2"/>
  <p:tag name="KSO_WM_UNIT_USESOURCEFORMAT_APPLY" val="0"/>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3*l_h_i*1_2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0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5_3*l_h_f*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 name="KSO_WM_UNIT_USESOURCEFORMAT_APPLY" val="0"/>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2_1"/>
  <p:tag name="KSO_WM_UNIT_ID" val="diagram20233335_3*l_h_a*1_2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 name="KSO_WM_UNIT_USESOURCEFORMAT_APPLY" val="0"/>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3*l_h_d*1_2_1"/>
  <p:tag name="KSO_WM_TEMPLATE_CATEGORY" val="diagram"/>
  <p:tag name="KSO_WM_TEMPLATE_INDEX" val="20233335"/>
  <p:tag name="KSO_WM_UNIT_LAYERLEVEL" val="1_1_1"/>
  <p:tag name="KSO_WM_TAG_VERSION" val="3.0"/>
  <p:tag name="KSO_WM_BEAUTIFY_FLAG" val="#wm#"/>
  <p:tag name="KSO_WM_UNIT_VALUE" val="514*514"/>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PICTURE_SUBTYPE" val="b"/>
  <p:tag name="MH_PIC_SOURCE_TYPE" val="generate_slide_ai*VCG211321090960*auto_gallery_ai_v2.1.1_ONLINE*1749094823744_223.1_468dcd5d8d31-slide-4"/>
  <p:tag name="KSO_WM_UNIT_LINE_FILL_TYPE" val="2"/>
  <p:tag name="KSO_WM_UNIT_USESOURCEFORMAT_APPLY" val="0"/>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3*l_h_i*1_3_1"/>
  <p:tag name="KSO_WM_TEMPLATE_CATEGORY" val="diagram"/>
  <p:tag name="KSO_WM_TEMPLATE_INDEX" val="20233335"/>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335_3*l_h_f*1_3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 name="KSO_WM_UNIT_USESOURCEFORMAT_APPLY" val="0"/>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3_1"/>
  <p:tag name="KSO_WM_UNIT_ID" val="diagram20233335_3*l_h_a*1_3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7"/>
  <p:tag name="KSO_WM_UNIT_PRESET_TEXT" val="单击此处添加&#10;智能图形项标题"/>
  <p:tag name="KSO_WM_UNIT_TEXT_TYPE" val="1"/>
  <p:tag name="KSO_WM_UNIT_USESOURCEFORMAT_APPLY" val="0"/>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5_3*l_h_d*1_3_1"/>
  <p:tag name="KSO_WM_TEMPLATE_CATEGORY" val="diagram"/>
  <p:tag name="KSO_WM_TEMPLATE_INDEX" val="20233335"/>
  <p:tag name="KSO_WM_UNIT_LAYERLEVEL" val="1_1_1"/>
  <p:tag name="KSO_WM_TAG_VERSION" val="3.0"/>
  <p:tag name="KSO_WM_BEAUTIFY_FLAG" val="#wm#"/>
  <p:tag name="KSO_WM_UNIT_VALUE" val="514*514"/>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PICTURE_SUBTYPE" val="b"/>
  <p:tag name="MH_PIC_SOURCE_TYPE" val="generate_slide_ai*VCG41N1165706148*auto_gallery_ai_v2.1.1_ONLINE*1749094823744_223.1_468dcd5d8d31-slide-4"/>
  <p:tag name="KSO_WM_UNIT_LINE_FILL_TYPE" val="2"/>
  <p:tag name="KSO_WM_UNIT_USESOURCEFORMAT_APPLY" val="0"/>
</p:tagLst>
</file>

<file path=ppt/tags/tag20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335_3*l_h_i*1_4_1"/>
  <p:tag name="KSO_WM_TEMPLATE_CATEGORY" val="diagram"/>
  <p:tag name="KSO_WM_TEMPLATE_INDEX" val="20233335"/>
  <p:tag name="KSO_WM_UNIT_LAYERLEVEL" val="1_1_1"/>
  <p:tag name="KSO_WM_TAG_VERSION" val="3.0"/>
  <p:tag name="KSO_WM_DIAGRAM_GROUP_CODE" val="l1-1"/>
  <p:tag name="KSO_WM_UNIT_TYPE" val="l_h_i"/>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2"/>
  <p:tag name="KSO_WM_UNIT_TEXT_FILL_TYPE" val="1"/>
  <p:tag name="KSO_WM_UNIT_USESOURCEFORMAT_APPLY" val="0"/>
</p:tagLst>
</file>

<file path=ppt/tags/tag2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335_3*l_h_f*1_4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正文，文字是思想的提炼，请言简意赅的阐述观点，单击此处输入项正文"/>
  <p:tag name="KSO_WM_UNIT_TEXT_FILL_FORE_SCHEMECOLOR_INDEX" val="1"/>
  <p:tag name="KSO_WM_UNIT_TEXT_FILL_TYPE" val="1"/>
  <p:tag name="KSO_WM_UNIT_TEXT_TYPE" val="1"/>
  <p:tag name="KSO_WM_UNIT_TEXT_LAYER_COUNT" val="1"/>
  <p:tag name="KSO_WM_UNIT_USESOURCEFORMAT_APPLY" val="0"/>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a"/>
  <p:tag name="KSO_WM_UNIT_INDEX" val="1_4_1"/>
  <p:tag name="KSO_WM_UNIT_ID" val="diagram20233335_3*l_h_a*1_4_1"/>
  <p:tag name="KSO_WM_TEMPLATE_CATEGORY" val="diagram"/>
  <p:tag name="KSO_WM_TEMPLATE_INDEX" val="20233335"/>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10;智能图形项标题"/>
  <p:tag name="KSO_WM_UNIT_TEXT_TYPE" val="1"/>
  <p:tag name="KSO_WM_UNIT_USESOURCEFORMAT_APPLY" val="0"/>
</p:tagLst>
</file>

<file path=ppt/tags/tag21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335_3*l_h_d*1_4_1"/>
  <p:tag name="KSO_WM_TEMPLATE_CATEGORY" val="diagram"/>
  <p:tag name="KSO_WM_TEMPLATE_INDEX" val="20233335"/>
  <p:tag name="KSO_WM_UNIT_LAYERLEVEL" val="1_1_1"/>
  <p:tag name="KSO_WM_TAG_VERSION" val="3.0"/>
  <p:tag name="KSO_WM_UNIT_VALUE" val="514*514"/>
  <p:tag name="KSO_WM_DIAGRAM_GROUP_CODE" val="l1-1"/>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380.3822937011719,&quot;left&quot;:53.77496062992126,&quot;top&quot;:51.80885314941406,&quot;width&quot;:850.45007874015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PICTURE_SUBTYPE" val="b"/>
  <p:tag name="MH_PIC_SOURCE_TYPE" val="generate_slide_ai*VCG41N1147326308*auto_gallery_ai_v2.1.1_ONLINE*1749094823744_223.1_468dcd5d8d31-slide-4"/>
  <p:tag name="KSO_WM_UNIT_LINE_FILL_TYPE" val="2"/>
  <p:tag name="KSO_WM_UNIT_USESOURCEFORMAT_APPLY" val="0"/>
</p:tagLst>
</file>

<file path=ppt/tags/tag211.xml><?xml version="1.0" encoding="utf-8"?>
<p:tagLst xmlns:p="http://schemas.openxmlformats.org/presentationml/2006/main">
  <p:tag name="KSO_WM_SLIDE_ID" val="diagram20233335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3354"/>
  <p:tag name="KSO_WM_SLIDE_TYPE" val="text"/>
  <p:tag name="KSO_WM_SLIDE_SUBTYPE" val="diag"/>
  <p:tag name="KSO_WM_SLIDE_SIZE" val="849.95*352.7"/>
  <p:tag name="KSO_WM_SLIDE_POSITION" val="54.75*140.35"/>
  <p:tag name="KSO_WM_SLIDE_LAYOUT" val="a_l"/>
  <p:tag name="KSO_WM_SLIDE_LAYOUT_CNT" val="1_1"/>
  <p:tag name="KSO_WM_SPECIAL_SOURCE" val="bdnull"/>
  <p:tag name="KSO_WM_DIAGRAM_GROUP_CODE" val="l1-1"/>
  <p:tag name="KSO_WM_SLIDE_DIAGTYPE" val="l"/>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33256_1*i*1"/>
  <p:tag name="KSO_WM_TEMPLATE_CATEGORY" val="custom"/>
  <p:tag name="KSO_WM_TEMPLATE_INDEX" val="20233256"/>
  <p:tag name="KSO_WM_UNIT_LAYERLEVEL" val="1"/>
  <p:tag name="KSO_WM_TAG_VERSION" val="3.0"/>
  <p:tag name="KSO_WM_BEAUTIFY_FLAG" val="#wm#"/>
  <p:tag name="KSO_WM_UNIT_FILL_FORE_SCHEMECOLOR_INDEX" val="2"/>
  <p:tag name="KSO_WM_UNIT_FILL_TYPE" val="1"/>
  <p:tag name="KSO_WM_UNIT_TEXT_FILL_FORE_SCHEMECOLOR_INDEX" val="2"/>
  <p:tag name="KSO_WM_UNIT_TEXT_FILL_TYPE" val="1"/>
  <p:tag name="KSO_WM_UNIT_USESOURCEFORMAT_APPLY" val="0"/>
</p:tagLst>
</file>

<file path=ppt/tags/tag213.xml><?xml version="1.0" encoding="utf-8"?>
<p:tagLst xmlns:p="http://schemas.openxmlformats.org/presentationml/2006/main">
  <p:tag name="KSO_WM_UNIT_VALUE" val="1226*964"/>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custom20233256_1*d*1"/>
  <p:tag name="KSO_WM_TEMPLATE_CATEGORY" val="custom"/>
  <p:tag name="KSO_WM_TEMPLATE_INDEX" val="20233256"/>
  <p:tag name="KSO_WM_UNIT_LAYERLEVEL" val="1"/>
  <p:tag name="KSO_WM_TAG_VERSION" val="3.0"/>
  <p:tag name="KSO_WM_BEAUTIFY_FLAG" val="#wm#"/>
  <p:tag name="KSO_WM_UNIT_PICTURE_SUBTYPE" val="b"/>
  <p:tag name="MH_PIC_SOURCE_TYPE" val="generate_slide_ai*VCG211399448771*auto_gallery_ai_v2.1.1_ONLINE*1749094823744_223.1_468dcd5d8d31-slide-5"/>
  <p:tag name="KSO_WM_UNIT_LINE_FORE_SCHEMECOLOR_INDEX" val="1"/>
  <p:tag name="KSO_WM_UNIT_LINE_FILL_TYPE" val="2"/>
  <p:tag name="KSO_WM_UNIT_USESOURCEFORMAT_APPLY" val="0"/>
</p:tagLst>
</file>

<file path=ppt/tags/tag214.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3256"/>
  <p:tag name="KSO_WM_UNIT_ID" val="custom20233256_1*a*1"/>
  <p:tag name="KSO_WM_UNIT_PRESET_TEXT" val="单击此处&#10;添加标题内容"/>
  <p:tag name="KSO_WM_UNIT_TEXT_TYPE" val="1"/>
  <p:tag name="KSO_WM_UNIT_TEXT_FILL_FORE_SCHEMECOLOR_INDEX" val="13"/>
  <p:tag name="KSO_WM_UNIT_TEXT_FILL_TYPE" val="1"/>
  <p:tag name="KSO_WM_UNIT_USESOURCEFORMAT_APPLY" val="0"/>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33256_1*i*2"/>
  <p:tag name="KSO_WM_TEMPLATE_CATEGORY" val="custom"/>
  <p:tag name="KSO_WM_TEMPLATE_INDEX" val="20233256"/>
  <p:tag name="KSO_WM_UNIT_LAYERLEVEL" val="1"/>
  <p:tag name="KSO_WM_TAG_VERSION" val="3.0"/>
  <p:tag name="KSO_WM_BEAUTIFY_FLAG" val="#wm#"/>
  <p:tag name="KSO_WM_UNIT_FILL_FORE_SCHEMECOLOR_INDEX" val="2"/>
  <p:tag name="KSO_WM_UNIT_FILL_TYPE" val="1"/>
  <p:tag name="KSO_WM_UNIT_TEXT_FILL_FORE_SCHEMECOLOR_INDEX" val="2"/>
  <p:tag name="KSO_WM_UNIT_TEXT_FILL_TYPE" val="1"/>
  <p:tag name="KSO_WM_UNIT_USESOURCEFORMAT_APPLY" val="0"/>
</p:tagLst>
</file>

<file path=ppt/tags/tag21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255_4*l_h_f*1_1_1"/>
  <p:tag name="KSO_WM_TEMPLATE_CATEGORY" val="diagram"/>
  <p:tag name="KSO_WM_TEMPLATE_INDEX" val="20233255"/>
  <p:tag name="KSO_WM_UNIT_LAYERLEVEL" val="1_1_1"/>
  <p:tag name="KSO_WM_TAG_VERSION" val="3.0"/>
  <p:tag name="KSO_WM_DIAGRAM_MAX_ITEMCNT" val="4"/>
  <p:tag name="KSO_WM_DIAGRAM_MIN_ITEMCNT" val="1"/>
  <p:tag name="KSO_WM_DIAGRAM_VIRTUALLY_FRAME" val="{&quot;height&quot;:331.30000000000007,&quot;left&quot;:87.89968503937008,&quot;top&quot;:127.98267716535433,&quot;width&quot;:522.70000000000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添加文本内容，简明扼要地阐述您内容观点"/>
  <p:tag name="KSO_WM_UNIT_TEXT_FILL_FORE_SCHEMECOLOR_INDEX" val="1"/>
  <p:tag name="KSO_WM_UNIT_TEXT_FILL_TYPE" val="1"/>
  <p:tag name="KSO_WM_UNIT_USESOURCEFORMAT_APPLY" val="0"/>
</p:tagLst>
</file>

<file path=ppt/tags/tag21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255_4*l_h_a*1_1_1"/>
  <p:tag name="KSO_WM_TEMPLATE_CATEGORY" val="diagram"/>
  <p:tag name="KSO_WM_TEMPLATE_INDEX" val="20233255"/>
  <p:tag name="KSO_WM_UNIT_LAYERLEVEL" val="1_1_1"/>
  <p:tag name="KSO_WM_TAG_VERSION" val="3.0"/>
  <p:tag name="KSO_WM_DIAGRAM_MAX_ITEMCNT" val="4"/>
  <p:tag name="KSO_WM_DIAGRAM_MIN_ITEMCNT" val="1"/>
  <p:tag name="KSO_WM_DIAGRAM_VIRTUALLY_FRAME" val="{&quot;height&quot;:331.30000000000007,&quot;left&quot;:87.89968503937008,&quot;top&quot;:127.98267716535433,&quot;width&quot;:522.70000000000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21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255_4*l_h_f*1_2_1"/>
  <p:tag name="KSO_WM_TEMPLATE_CATEGORY" val="diagram"/>
  <p:tag name="KSO_WM_TEMPLATE_INDEX" val="20233255"/>
  <p:tag name="KSO_WM_UNIT_LAYERLEVEL" val="1_1_1"/>
  <p:tag name="KSO_WM_TAG_VERSION" val="3.0"/>
  <p:tag name="KSO_WM_DIAGRAM_MAX_ITEMCNT" val="4"/>
  <p:tag name="KSO_WM_DIAGRAM_MIN_ITEMCNT" val="1"/>
  <p:tag name="KSO_WM_DIAGRAM_VIRTUALLY_FRAME" val="{&quot;height&quot;:331.30000000000007,&quot;left&quot;:87.89968503937008,&quot;top&quot;:127.98267716535433,&quot;width&quot;:522.70000000000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添加文本具体内容，简明扼要地阐述您内容观点"/>
  <p:tag name="KSO_WM_UNIT_TEXT_FILL_FORE_SCHEMECOLOR_INDEX" val="1"/>
  <p:tag name="KSO_WM_UNIT_TEXT_FILL_TYPE" val="1"/>
  <p:tag name="KSO_WM_UNIT_USESOURCEFORMAT_APPLY" val="0"/>
</p:tagLst>
</file>

<file path=ppt/tags/tag219.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255_4*l_h_a*1_2_1"/>
  <p:tag name="KSO_WM_TEMPLATE_CATEGORY" val="diagram"/>
  <p:tag name="KSO_WM_TEMPLATE_INDEX" val="20233255"/>
  <p:tag name="KSO_WM_UNIT_LAYERLEVEL" val="1_1_1"/>
  <p:tag name="KSO_WM_TAG_VERSION" val="3.0"/>
  <p:tag name="KSO_WM_DIAGRAM_MAX_ITEMCNT" val="4"/>
  <p:tag name="KSO_WM_DIAGRAM_MIN_ITEMCNT" val="1"/>
  <p:tag name="KSO_WM_DIAGRAM_VIRTUALLY_FRAME" val="{&quot;height&quot;:331.30000000000007,&quot;left&quot;:87.89968503937008,&quot;top&quot;:127.98267716535433,&quot;width&quot;:522.70000000000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22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255_4*l_h_f*1_4_1"/>
  <p:tag name="KSO_WM_TEMPLATE_CATEGORY" val="diagram"/>
  <p:tag name="KSO_WM_TEMPLATE_INDEX" val="20233255"/>
  <p:tag name="KSO_WM_UNIT_LAYERLEVEL" val="1_1_1"/>
  <p:tag name="KSO_WM_TAG_VERSION" val="3.0"/>
  <p:tag name="KSO_WM_DIAGRAM_MAX_ITEMCNT" val="4"/>
  <p:tag name="KSO_WM_DIAGRAM_MIN_ITEMCNT" val="1"/>
  <p:tag name="KSO_WM_DIAGRAM_VIRTUALLY_FRAME" val="{&quot;height&quot;:331.30000000000007,&quot;left&quot;:87.89968503937008,&quot;top&quot;:127.98267716535433,&quot;width&quot;:522.70000000000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24"/>
  <p:tag name="KSO_WM_DIAGRAM_VERSION" val="3"/>
  <p:tag name="KSO_WM_DIAGRAM_COLOR_TRICK" val="1"/>
  <p:tag name="KSO_WM_DIAGRAM_COLOR_TEXT_CAN_REMOVE" val="n"/>
  <p:tag name="KSO_WM_UNIT_TEXT_TYPE" val="1"/>
  <p:tag name="KSO_WM_UNIT_TEXT_LAYER_COUNT" val="1"/>
  <p:tag name="KSO_WM_BEAUTIFY_FLAG" val="#wm#"/>
  <p:tag name="KSO_WM_UNIT_PRESET_TEXT" val="单击添加文本，简明扼要地阐述您内容观点"/>
  <p:tag name="KSO_WM_UNIT_TEXT_FILL_FORE_SCHEMECOLOR_INDEX" val="1"/>
  <p:tag name="KSO_WM_UNIT_TEXT_FILL_TYPE" val="1"/>
  <p:tag name="KSO_WM_UNIT_USESOURCEFORMAT_APPLY" val="0"/>
</p:tagLst>
</file>

<file path=ppt/tags/tag221.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255_4*l_h_a*1_4_1"/>
  <p:tag name="KSO_WM_TEMPLATE_CATEGORY" val="diagram"/>
  <p:tag name="KSO_WM_TEMPLATE_INDEX" val="20233255"/>
  <p:tag name="KSO_WM_UNIT_LAYERLEVEL" val="1_1_1"/>
  <p:tag name="KSO_WM_TAG_VERSION" val="3.0"/>
  <p:tag name="KSO_WM_DIAGRAM_MAX_ITEMCNT" val="4"/>
  <p:tag name="KSO_WM_DIAGRAM_MIN_ITEMCNT" val="1"/>
  <p:tag name="KSO_WM_DIAGRAM_VIRTUALLY_FRAME" val="{&quot;height&quot;:331.30000000000007,&quot;left&quot;:87.89968503937008,&quot;top&quot;:127.98267716535433,&quot;width&quot;:522.700000000000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9"/>
  <p:tag name="KSO_WM_DIAGRAM_VERSION" val="3"/>
  <p:tag name="KSO_WM_DIAGRAM_COLOR_TRICK" val="1"/>
  <p:tag name="KSO_WM_DIAGRAM_COLOR_TEXT_CAN_REMOVE" val="n"/>
  <p:tag name="KSO_WM_UNIT_TEXT_TYPE" val="1"/>
  <p:tag name="KSO_WM_BEAUTIFY_FLAG" val="#wm#"/>
  <p:tag name="KSO_WM_UNIT_PRESET_TEXT" val="添加项标题"/>
  <p:tag name="KSO_WM_UNIT_TEXT_FILL_FORE_SCHEMECOLOR_INDEX" val="1"/>
  <p:tag name="KSO_WM_UNIT_TEXT_FILL_TYPE" val="1"/>
  <p:tag name="KSO_WM_UNIT_USESOURCEFORMAT_APPLY" val="0"/>
</p:tagLst>
</file>

<file path=ppt/tags/tag222.xml><?xml version="1.0" encoding="utf-8"?>
<p:tagLst xmlns:p="http://schemas.openxmlformats.org/presentationml/2006/main">
  <p:tag name="KSO_WM_BEAUTIFY_FLAG" val="#wm#"/>
  <p:tag name="KSO_WM_TEMPLATE_CATEGORY" val="custom"/>
  <p:tag name="KSO_WM_TEMPLATE_MASTER_TYPE" val="0"/>
  <p:tag name="KSO_WM_TEMPLATE_COLOR_TYPE" val="0"/>
  <p:tag name="KSO_WM_DIAGRAM_GROUP_CODE" val="l1-1"/>
  <p:tag name="KSO_WM_SLIDE_DIAGTYPE" val="l"/>
  <p:tag name="KSO_WM_SLIDE_LAYOUT" val="a_d_l"/>
  <p:tag name="KSO_WM_SLIDE_LAYOUT_CNT" val="1_1_1"/>
  <p:tag name="KSO_WM_SLIDE_TYPE" val="text"/>
  <p:tag name="KSO_WM_SLIDE_SUBTYPE" val="picTxt"/>
  <p:tag name="KSO_WM_SLIDE_SIZE" val="408.05*186.55"/>
  <p:tag name="KSO_WM_SLIDE_POSITION" val="87.8997*272.733"/>
  <p:tag name="KSO_WM_TEMPLATE_INDEX" val="20233354"/>
  <p:tag name="KSO_WM_TEMPLATE_SUBCATEGORY" val="0"/>
  <p:tag name="KSO_WM_SLIDE_INDEX" val="1"/>
  <p:tag name="KSO_WM_TAG_VERSION" val="3.0"/>
  <p:tag name="KSO_WM_SLIDE_ID" val="custom20233256_1"/>
  <p:tag name="KSO_WM_SLIDE_ITEM_CNT" val="4"/>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3337_2*a*1"/>
  <p:tag name="KSO_WM_TEMPLATE_CATEGORY" val="diagram"/>
  <p:tag name="KSO_WM_TEMPLATE_INDEX" val="20233337"/>
  <p:tag name="KSO_WM_UNIT_LAYERLEVEL" val="1"/>
  <p:tag name="KSO_WM_TAG_VERSION" val="3.0"/>
  <p:tag name="KSO_WM_BEAUTIFY_FLAG" val="#wm#"/>
  <p:tag name="KSO_WM_UNIT_ISCONTENTSTITLE" val="0"/>
  <p:tag name="KSO_WM_UNIT_ISNUMDGMTITLE" val="0"/>
  <p:tag name="KSO_WM_UNIT_NOCLEAR" val="0"/>
  <p:tag name="KSO_WM_UNIT_VALUE" val="29"/>
  <p:tag name="KSO_WM_DIAGRAM_GROUP_CODE" val="l1-1"/>
  <p:tag name="KSO_WM_UNIT_TYPE" val="a"/>
  <p:tag name="KSO_WM_UNIT_INDEX" val="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2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337_2*l_h_f*1_1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以便观者理解您传达的思想。"/>
  <p:tag name="KSO_WM_UNIT_TEXT_FILL_FORE_SCHEMECOLOR_INDEX" val="1"/>
  <p:tag name="KSO_WM_UNIT_TEXT_FILL_TYPE" val="1"/>
  <p:tag name="KSO_WM_UNIT_USESOURCEFORMAT_APPLY" val="0"/>
</p:tagLst>
</file>

<file path=ppt/tags/tag2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337_2*l_h_a*1_1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3337_2*l_h_i*1_1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0"/>
</p:tagLst>
</file>

<file path=ppt/tags/tag22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337_2*l_h_f*1_2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 name="KSO_WM_UNIT_USESOURCEFORMAT_APPLY" val="0"/>
</p:tagLst>
</file>

<file path=ppt/tags/tag2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337_2*l_h_a*1_2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3337_2*l_h_i*1_2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0"/>
</p:tagLst>
</file>

<file path=ppt/tags/tag23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337_2*l_h_f*1_3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观点，以便观者理解您传达的思想。"/>
  <p:tag name="KSO_WM_UNIT_TEXT_FILL_FORE_SCHEMECOLOR_INDEX" val="1"/>
  <p:tag name="KSO_WM_UNIT_TEXT_FILL_TYPE" val="1"/>
  <p:tag name="KSO_WM_UNIT_USESOURCEFORMAT_APPLY" val="0"/>
</p:tagLst>
</file>

<file path=ppt/tags/tag23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337_2*l_h_a*1_3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3337_2*l_h_i*1_3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0"/>
</p:tagLst>
</file>

<file path=ppt/tags/tag2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337_2*l_h_f*1_4_1"/>
  <p:tag name="KSO_WM_TEMPLATE_CATEGORY" val="diagram"/>
  <p:tag name="KSO_WM_TEMPLATE_INDEX" val="20233337"/>
  <p:tag name="KSO_WM_UNIT_LAYERLEVEL" val="1_1_1"/>
  <p:tag name="KSO_WM_TAG_VERSION" val="3.0"/>
  <p:tag name="KSO_WM_UNIT_TEXT_FILL_FORE_SCHEMECOLOR_INDEX_BRIGHTNESS" val="0.2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文本具体内容，简明扼要地阐述您的内容观点，以便观者准确地理解您传达的思想。"/>
  <p:tag name="KSO_WM_UNIT_TEXT_FILL_FORE_SCHEMECOLOR_INDEX" val="1"/>
  <p:tag name="KSO_WM_UNIT_TEXT_FILL_TYPE" val="1"/>
  <p:tag name="KSO_WM_UNIT_USESOURCEFORMAT_APPLY" val="0"/>
</p:tagLst>
</file>

<file path=ppt/tags/tag23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337_2*l_h_a*1_4_1"/>
  <p:tag name="KSO_WM_TEMPLATE_CATEGORY" val="diagram"/>
  <p:tag name="KSO_WM_TEMPLATE_INDEX" val="20233337"/>
  <p:tag name="KSO_WM_UNIT_LAYERLEVEL" val="1_1_1"/>
  <p:tag name="KSO_WM_TAG_VERSION" val="3.0"/>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0"/>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diagram20233337_2*l_h_i*1_4_1"/>
  <p:tag name="KSO_WM_TEMPLATE_CATEGORY" val="diagram"/>
  <p:tag name="KSO_WM_TEMPLATE_INDEX" val="20233337"/>
  <p:tag name="KSO_WM_UNIT_LAYERLEVEL" val="1_1_1"/>
  <p:tag name="KSO_WM_TAG_VERSION" val="3.0"/>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TEXT_FILL_FORE_SCHEMECOLOR_INDEX" val="1"/>
  <p:tag name="KSO_WM_UNIT_TEXT_FILL_TYPE" val="1"/>
  <p:tag name="KSO_WM_UNIT_USESOURCEFORMAT_APPLY" val="0"/>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1_2"/>
  <p:tag name="KSO_WM_TEMPLATE_CATEGORY" val="diagram"/>
  <p:tag name="KSO_WM_TEMPLATE_INDEX" val="20233337"/>
  <p:tag name="KSO_WM_UNIT_LAYERLEVEL" val="1_1_1"/>
  <p:tag name="KSO_WM_TAG_VERSION" val="3.0"/>
  <p:tag name="KSO_WM_UNIT_TYPE" val="l_h_i"/>
  <p:tag name="KSO_WM_UNIT_INDEX" val="1_1_2"/>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0"/>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2_2"/>
  <p:tag name="KSO_WM_TEMPLATE_CATEGORY" val="diagram"/>
  <p:tag name="KSO_WM_TEMPLATE_INDEX" val="20233337"/>
  <p:tag name="KSO_WM_UNIT_LAYERLEVEL" val="1_1_1"/>
  <p:tag name="KSO_WM_TAG_VERSION" val="3.0"/>
  <p:tag name="KSO_WM_UNIT_TYPE" val="l_h_i"/>
  <p:tag name="KSO_WM_UNIT_INDEX" val="1_2_2"/>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0"/>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3_2"/>
  <p:tag name="KSO_WM_TEMPLATE_CATEGORY" val="diagram"/>
  <p:tag name="KSO_WM_TEMPLATE_INDEX" val="20233337"/>
  <p:tag name="KSO_WM_UNIT_LAYERLEVEL" val="1_1_1"/>
  <p:tag name="KSO_WM_TAG_VERSION" val="3.0"/>
  <p:tag name="KSO_WM_UNIT_TYPE" val="l_h_i"/>
  <p:tag name="KSO_WM_UNIT_INDEX" val="1_3_2"/>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0"/>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337_2*l_h_i*1_4_2"/>
  <p:tag name="KSO_WM_TEMPLATE_CATEGORY" val="diagram"/>
  <p:tag name="KSO_WM_TEMPLATE_INDEX" val="20233337"/>
  <p:tag name="KSO_WM_UNIT_LAYERLEVEL" val="1_1_1"/>
  <p:tag name="KSO_WM_TAG_VERSION" val="3.0"/>
  <p:tag name="KSO_WM_UNIT_TYPE" val="l_h_i"/>
  <p:tag name="KSO_WM_UNIT_INDEX" val="1_4_2"/>
  <p:tag name="KSO_WM_DIAGRAM_VERSION" val="3"/>
  <p:tag name="KSO_WM_DIAGRAM_COLOR_TRICK" val="1"/>
  <p:tag name="KSO_WM_DIAGRAM_COLOR_TEXT_CAN_REMOVE" val="n"/>
  <p:tag name="KSO_WM_DIAGRAM_MAX_ITEMCNT" val="4"/>
  <p:tag name="KSO_WM_DIAGRAM_MIN_ITEMCNT" val="3"/>
  <p:tag name="KSO_WM_DIAGRAM_VIRTUALLY_FRAME" val="{&quot;height&quot;:414.7937030269592,&quot;left&quot;:54.789375653604836,&quot;top&quot;:141.8723599651667,&quot;width&quot;:850.482666015625}"/>
  <p:tag name="KSO_WM_DIAGRAM_COLOR_MATCH_VALUE" val="{&quot;shape&quot;:{&quot;fill&quot;:{&quot;type&quot;:0},&quot;glow&quot;:{&quot;colorType&quot;:0},&quot;line&quot;:{&quot;solidLine&quot;:{&quot;brightness&quot;:0.6000000238418579,&quot;colorType&quot;:1,&quot;foreColorIndex&quot;:13,&quot;transparency&quot;:0.699999988079071},&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13"/>
  <p:tag name="KSO_WM_UNIT_LINE_FILL_TYPE" val="2"/>
  <p:tag name="KSO_WM_UNIT_USESOURCEFORMAT_APPLY" val="0"/>
</p:tagLst>
</file>

<file path=ppt/tags/tag240.xml><?xml version="1.0" encoding="utf-8"?>
<p:tagLst xmlns:p="http://schemas.openxmlformats.org/presentationml/2006/main">
  <p:tag name="KSO_WM_SLIDE_ID" val="diagram20233337_2"/>
  <p:tag name="KSO_WM_TEMPLATE_SUBCATEGORY" val="0"/>
  <p:tag name="KSO_WM_TEMPLATE_MASTER_TYPE" val="0"/>
  <p:tag name="KSO_WM_TEMPLATE_COLOR_TYPE" val="0"/>
  <p:tag name="KSO_WM_SLIDE_ITEM_CNT" val="4"/>
  <p:tag name="KSO_WM_SLIDE_INDEX" val="2"/>
  <p:tag name="KSO_WM_TAG_VERSION" val="3.0"/>
  <p:tag name="KSO_WM_BEAUTIFY_FLAG" val="#wm#"/>
  <p:tag name="KSO_WM_TEMPLATE_CATEGORY" val="custom"/>
  <p:tag name="KSO_WM_TEMPLATE_INDEX" val="20233354"/>
  <p:tag name="KSO_WM_SLIDE_TYPE" val="text"/>
  <p:tag name="KSO_WM_SLIDE_SUBTYPE" val="diag"/>
  <p:tag name="KSO_WM_SLIDE_SIZE" val="850.483*348.597"/>
  <p:tag name="KSO_WM_SLIDE_POSITION" val="54.8*141.874"/>
  <p:tag name="KSO_WM_SLIDE_LAYOUT" val="a_l"/>
  <p:tag name="KSO_WM_SLIDE_LAYOUT_CNT" val="1_1"/>
  <p:tag name="KSO_WM_SPECIAL_SOURCE" val="bdnull"/>
  <p:tag name="KSO_WM_DIAGRAM_GROUP_CODE" val="l1-1"/>
  <p:tag name="KSO_WM_SLIDE_DIAGTYPE" val="l"/>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7*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此处添加章节标题"/>
  <p:tag name="KSO_WM_UNIT_TEXT_TYPE" val="1"/>
</p:tagLst>
</file>

<file path=ppt/tags/tag24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3354_7*e*1"/>
  <p:tag name="KSO_WM_TEMPLATE_CATEGORY" val="custom"/>
  <p:tag name="KSO_WM_TEMPLATE_INDEX" val="20233354"/>
  <p:tag name="KSO_WM_UNIT_LAYERLEVEL" val="1"/>
  <p:tag name="KSO_WM_TAG_VERSION" val="3.0"/>
  <p:tag name="KSO_WM_BEAUTIFY_FLAG" val="#wm#"/>
  <p:tag name="KSO_WM_UNIT_NOCLEAR" val="0"/>
  <p:tag name="KSO_WM_UNIT_VALUE" val="13"/>
  <p:tag name="KSO_WM_UNIT_TYPE" val="e"/>
  <p:tag name="KSO_WM_UNIT_INDEX" val="1"/>
  <p:tag name="KSO_WM_UNIT_PRESET_TEXT_INDEX" val="-1"/>
  <p:tag name="KSO_WM_UNIT_PRESET_TEXT_LEN" val="0"/>
</p:tagLst>
</file>

<file path=ppt/tags/tag243.xml><?xml version="1.0" encoding="utf-8"?>
<p:tagLst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44.xml><?xml version="1.0" encoding="utf-8"?>
<p:tagLst xmlns:p="http://schemas.openxmlformats.org/presentationml/2006/main">
  <p:tag name="KSO_WM_BEAUTIFY_FLAG" val="#wm#"/>
  <p:tag name="KSO_WM_TEMPLATE_CATEGORY" val="custom"/>
  <p:tag name="KSO_WM_TEMPLATE_INDEX" val="20233354"/>
</p:tagLst>
</file>

<file path=ppt/tags/tag245.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231983_1*a*1"/>
  <p:tag name="KSO_WM_TEMPLATE_CATEGORY" val="diagram"/>
  <p:tag name="KSO_WM_TEMPLATE_INDEX" val="20231983"/>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1*l_h_i*1_1_3"/>
  <p:tag name="KSO_WM_TEMPLATE_CATEGORY" val="diagram"/>
  <p:tag name="KSO_WM_TEMPLATE_INDEX" val="20231983"/>
  <p:tag name="KSO_WM_UNIT_LAYERLEVEL" val="1_1_1"/>
  <p:tag name="KSO_WM_TAG_VERSION" val="3.0"/>
  <p:tag name="KSO_WM_BEAUTIFY_FLAG" val="#wm#"/>
  <p:tag name="KSO_WM_UNIT_TYPE" val="l_h_i"/>
  <p:tag name="KSO_WM_UNIT_INDEX" val="1_1_3"/>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gradient&quot;:[{&quot;brightness&quot;:0,&quot;colorType&quot;:1,&quot;foreColorIndex&quot;:5,&quot;pos&quot;:0,&quot;transparency&quot;:0},{&quot;brightness&quot;:-0.10000000149011612,&quot;colorType&quot;:1,&quot;foreColorIndex&quot;:5,&quot;pos&quot;:1,&quot;transparency&quot;:0}],&quot;type&quot;:3},&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13"/>
  <p:tag name="KSO_WM_UNIT_LINE_FILL_TYPE" val="2"/>
  <p:tag name="KSO_WM_UNIT_SHADOW_SCHEMECOLOR_INDEX" val="13"/>
  <p:tag name="KSO_WM_UNIT_TEXT_FILL_FORE_SCHEMECOLOR_INDEX" val="2"/>
  <p:tag name="KSO_WM_UNIT_TEXT_FILL_TYPE" val="1"/>
  <p:tag name="KSO_WM_UNIT_USESOURCEFORMAT_APPLY" val="0"/>
</p:tagLst>
</file>

<file path=ppt/tags/tag247.xml><?xml version="1.0" encoding="utf-8"?>
<p:tagLst xmlns:p="http://schemas.openxmlformats.org/presentationml/2006/mai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1_1"/>
  <p:tag name="KSO_WM_UNIT_ID" val="diagram20231983_1*l_h_f*1_1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EXT_CAN_REMOVE" val="n"/>
  <p:tag name="KSO_WM_DIAGRAM_COLOR_TRICK" val="1"/>
  <p:tag name="KSO_WM_UNIT_PRESET_TEXT" val="单击此处输入你的项正文，文字是您思想的提炼，请尽量言简意赅。"/>
  <p:tag name="KSO_WM_UNIT_TEXT_FILL_FORE_SCHEMECOLOR_INDEX" val="1"/>
  <p:tag name="KSO_WM_UNIT_TEXT_FILL_TYPE" val="1"/>
  <p:tag name="KSO_WM_UNIT_TEXT_TYPE" val="1"/>
  <p:tag name="KSO_WM_UNIT_USESOURCEFORMAT_APPLY" val="0"/>
</p:tagLst>
</file>

<file path=ppt/tags/tag24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83_1*l_h_a*1_1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EXT_CAN_REMOVE" val="n"/>
  <p:tag name="KSO_WM_DIAGRAM_COLOR_TRICK" val="1"/>
  <p:tag name="KSO_WM_UNIT_PRESET_TEXT" val="此处添加项标题"/>
  <p:tag name="KSO_WM_UNIT_TEXT_FILL_FORE_SCHEMECOLOR_INDEX" val="1"/>
  <p:tag name="KSO_WM_UNIT_TEXT_FILL_TYPE" val="1"/>
  <p:tag name="KSO_WM_UNIT_TEXT_TYPE" val="1"/>
  <p:tag name="KSO_WM_UNIT_USESOURCEFORMAT_APPLY" val="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1*l_h_i*1_1_2"/>
  <p:tag name="KSO_WM_TEMPLATE_CATEGORY" val="diagram"/>
  <p:tag name="KSO_WM_TEMPLATE_INDEX" val="20231983"/>
  <p:tag name="KSO_WM_UNIT_LAYERLEVEL" val="1_1_1"/>
  <p:tag name="KSO_WM_TAG_VERSION" val="3.0"/>
  <p:tag name="KSO_WM_BEAUTIFY_FLAG" val="#wm#"/>
  <p:tag name="KSO_WM_UNIT_TYPE" val="l_h_i"/>
  <p:tag name="KSO_WM_UNIT_INDEX" val="1_1_2"/>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983_1*l_h_i*1_1_1"/>
  <p:tag name="KSO_WM_TEMPLATE_CATEGORY" val="diagram"/>
  <p:tag name="KSO_WM_TEMPLATE_INDEX" val="20231983"/>
  <p:tag name="KSO_WM_UNIT_LAYERLEVEL" val="1_1_1"/>
  <p:tag name="KSO_WM_TAG_VERSION" val="3.0"/>
  <p:tag name="KSO_WM_BEAUTIFY_FLAG" val="#wm#"/>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USESOURCEFORMAT_APPLY" val="0"/>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1*l_h_i*1_2_3"/>
  <p:tag name="KSO_WM_TEMPLATE_CATEGORY" val="diagram"/>
  <p:tag name="KSO_WM_TEMPLATE_INDEX" val="20231983"/>
  <p:tag name="KSO_WM_UNIT_LAYERLEVEL" val="1_1_1"/>
  <p:tag name="KSO_WM_TAG_VERSION" val="3.0"/>
  <p:tag name="KSO_WM_BEAUTIFY_FLAG" val="#wm#"/>
  <p:tag name="KSO_WM_UNIT_TYPE" val="l_h_i"/>
  <p:tag name="KSO_WM_UNIT_INDEX" val="1_2_3"/>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UNIT_LINE_FILL_TYPE" val="2"/>
  <p:tag name="KSO_WM_UNIT_SHADOW_SCHEMECOLOR_INDEX" val="13"/>
  <p:tag name="KSO_WM_UNIT_TEXT_FILL_FORE_SCHEMECOLOR_INDEX" val="2"/>
  <p:tag name="KSO_WM_UNIT_TEXT_FILL_TYPE" val="1"/>
  <p:tag name="KSO_WM_UNIT_USESOURCEFORMAT_APPLY" val="0"/>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diagram20231983_1*l_h_i*1_2_1"/>
  <p:tag name="KSO_WM_TEMPLATE_CATEGORY" val="diagram"/>
  <p:tag name="KSO_WM_TEMPLATE_INDEX" val="20231983"/>
  <p:tag name="KSO_WM_UNIT_LAYERLEVEL" val="1_1_1"/>
  <p:tag name="KSO_WM_TAG_VERSION" val="3.0"/>
  <p:tag name="KSO_WM_BEAUTIFY_FLAG" val="#wm#"/>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bfbfb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1*l_h_i*1_2_2"/>
  <p:tag name="KSO_WM_TEMPLATE_CATEGORY" val="diagram"/>
  <p:tag name="KSO_WM_TEMPLATE_INDEX" val="20231983"/>
  <p:tag name="KSO_WM_UNIT_LAYERLEVEL" val="1_1_1"/>
  <p:tag name="KSO_WM_TAG_VERSION" val="3.0"/>
  <p:tag name="KSO_WM_BEAUTIFY_FLAG" val="#wm#"/>
  <p:tag name="KSO_WM_UNIT_TYPE" val="l_h_i"/>
  <p:tag name="KSO_WM_UNIT_INDEX" val="1_2_2"/>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solidLine&quot;:{&quot;brightness&quot;:0,&quot;colorType&quot;:2,&quot;rgb&quot;:&quot;#bfbfb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254.xml><?xml version="1.0" encoding="utf-8"?>
<p:tagLst xmlns:p="http://schemas.openxmlformats.org/presentationml/2006/mai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2_1"/>
  <p:tag name="KSO_WM_UNIT_ID" val="diagram20231983_1*l_h_f*1_2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EXT_CAN_REMOVE" val="n"/>
  <p:tag name="KSO_WM_DIAGRAM_COLOR_TRICK" val="1"/>
  <p:tag name="KSO_WM_UNIT_PRESET_TEXT" val="单击此处输入你的项正文，文字是您思想的提炼，请尽量言简意赅，单击此处输入你的项正文。"/>
  <p:tag name="KSO_WM_UNIT_TEXT_FILL_FORE_SCHEMECOLOR_INDEX" val="1"/>
  <p:tag name="KSO_WM_UNIT_TEXT_FILL_TYPE" val="1"/>
  <p:tag name="KSO_WM_UNIT_TEXT_TYPE" val="1"/>
  <p:tag name="KSO_WM_UNIT_USESOURCEFORMAT_APPLY" val="0"/>
</p:tagLst>
</file>

<file path=ppt/tags/tag25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83_1*l_h_a*1_2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EXT_CAN_REMOVE" val="n"/>
  <p:tag name="KSO_WM_DIAGRAM_COLOR_TRICK" val="1"/>
  <p:tag name="KSO_WM_UNIT_PRESET_TEXT" val="此处添加项标题"/>
  <p:tag name="KSO_WM_UNIT_TEXT_FILL_FORE_SCHEMECOLOR_INDEX" val="1"/>
  <p:tag name="KSO_WM_UNIT_TEXT_FILL_TYPE" val="1"/>
  <p:tag name="KSO_WM_UNIT_TEXT_TYPE" val="1"/>
  <p:tag name="KSO_WM_UNIT_USESOURCEFORMAT_APPLY" val="0"/>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1*l_h_i*1_3_3"/>
  <p:tag name="KSO_WM_TEMPLATE_CATEGORY" val="diagram"/>
  <p:tag name="KSO_WM_TEMPLATE_INDEX" val="20231983"/>
  <p:tag name="KSO_WM_UNIT_LAYERLEVEL" val="1_1_1"/>
  <p:tag name="KSO_WM_TAG_VERSION" val="3.0"/>
  <p:tag name="KSO_WM_BEAUTIFY_FLAG" val="#wm#"/>
  <p:tag name="KSO_WM_UNIT_TYPE" val="l_h_i"/>
  <p:tag name="KSO_WM_UNIT_INDEX" val="1_3_3"/>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solid&quot;:{&quot;brightness&quot;:0,&quot;colorType&quot;:2,&quot;rgb&quot;:&quot;#ffffff&quot;,&quot;transparency&quot;:0},&quot;type&quot;:1},&quot;glow&quot;:{&quot;colorType&quot;:0},&quot;line&quot;:{&quot;solidLine&quot;:{&quot;brightness&quot;:0,&quot;colorType&quot;:1,&quot;foreColorIndex&quot;:13,&quot;transparency&quot;:0.8500000238418579},&quot;type&quot;:1},&quot;shadow&quot;:{&quot;brightness&quot;:0,&quot;colorType&quot;:1,&quot;foreColorIndex&quot;:13,&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13"/>
  <p:tag name="KSO_WM_UNIT_LINE_FILL_TYPE" val="2"/>
  <p:tag name="KSO_WM_UNIT_SHADOW_SCHEMECOLOR_INDEX" val="13"/>
  <p:tag name="KSO_WM_UNIT_TEXT_FILL_FORE_SCHEMECOLOR_INDEX" val="2"/>
  <p:tag name="KSO_WM_UNIT_TEXT_FILL_TYPE" val="1"/>
  <p:tag name="KSO_WM_UNIT_USESOURCEFORMAT_APPLY" val="0"/>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diagram20231983_1*l_h_i*1_3_1"/>
  <p:tag name="KSO_WM_TEMPLATE_CATEGORY" val="diagram"/>
  <p:tag name="KSO_WM_TEMPLATE_INDEX" val="20231983"/>
  <p:tag name="KSO_WM_UNIT_LAYERLEVEL" val="1_1_1"/>
  <p:tag name="KSO_WM_TAG_VERSION" val="3.0"/>
  <p:tag name="KSO_WM_BEAUTIFY_FLAG" val="#wm#"/>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bfbfbf&quot;,&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83_1*l_h_i*1_3_2"/>
  <p:tag name="KSO_WM_TEMPLATE_CATEGORY" val="diagram"/>
  <p:tag name="KSO_WM_TEMPLATE_INDEX" val="20231983"/>
  <p:tag name="KSO_WM_UNIT_LAYERLEVEL" val="1_1_1"/>
  <p:tag name="KSO_WM_TAG_VERSION" val="3.0"/>
  <p:tag name="KSO_WM_BEAUTIFY_FLAG" val="#wm#"/>
  <p:tag name="KSO_WM_UNIT_TYPE" val="l_h_i"/>
  <p:tag name="KSO_WM_UNIT_INDEX" val="1_3_2"/>
  <p:tag name="KSO_WM_DIAGRAM_GROUP_CODE" val="l1-1"/>
  <p:tag name="KSO_WM_DIAGRAM_VERSION" val="3"/>
  <p:tag name="KSO_WM_DIAGRAM_COLOR_TEXT_CAN_REMOVE" val="n"/>
  <p:tag name="KSO_WM_DIAGRAM_COLOR_TRICK" val="1"/>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solidLine&quot;:{&quot;brightness&quot;:0,&quot;colorType&quot;:2,&quot;rgb&quot;:&quot;#bfbfb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Lst>
</file>

<file path=ppt/tags/tag259.xml><?xml version="1.0" encoding="utf-8"?>
<p:tagLst xmlns:p="http://schemas.openxmlformats.org/presentationml/2006/main">
  <p:tag name="KSO_WM_UNIT_SUBTYPE" val="a"/>
  <p:tag name="KSO_WM_UNIT_NOCLEAR" val="0"/>
  <p:tag name="KSO_WM_UNIT_VALUE" val="41"/>
  <p:tag name="KSO_WM_UNIT_HIGHLIGHT" val="0"/>
  <p:tag name="KSO_WM_UNIT_COMPATIBLE" val="0"/>
  <p:tag name="KSO_WM_UNIT_DIAGRAM_ISNUMVISUAL" val="0"/>
  <p:tag name="KSO_WM_UNIT_DIAGRAM_ISREFERUNIT" val="0"/>
  <p:tag name="KSO_WM_UNIT_TYPE" val="l_h_f"/>
  <p:tag name="KSO_WM_UNIT_INDEX" val="1_3_1"/>
  <p:tag name="KSO_WM_UNIT_ID" val="diagram20231983_1*l_h_f*1_3_1"/>
  <p:tag name="KSO_WM_TEMPLATE_CATEGORY" val="diagram"/>
  <p:tag name="KSO_WM_TEMPLATE_INDEX" val="20231983"/>
  <p:tag name="KSO_WM_UNIT_LAYERLEVEL" val="1_1_1"/>
  <p:tag name="KSO_WM_TAG_VERSION" val="3.0"/>
  <p:tag name="KSO_WM_BEAUTIFY_FLAG" val="#wm#"/>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0000000298023224,&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EXT_CAN_REMOVE" val="n"/>
  <p:tag name="KSO_WM_DIAGRAM_COLOR_TRICK" val="1"/>
  <p:tag name="KSO_WM_UNIT_PRESET_TEXT" val="单击此处输入你的项正文，文字是您思想的提炼，请尽量言简意赅，单击此处输入你的项正文。"/>
  <p:tag name="KSO_WM_UNIT_TEXT_FILL_FORE_SCHEMECOLOR_INDEX" val="1"/>
  <p:tag name="KSO_WM_UNIT_TEXT_FILL_TYPE" val="1"/>
  <p:tag name="KSO_WM_UNIT_TEXT_TYPE" val="1"/>
  <p:tag name="KSO_WM_UNIT_USESOURCEFORMAT_APPLY" val="0"/>
</p:tagLst>
</file>

<file path=ppt/tags/tag26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83_1*l_h_a*1_3_1"/>
  <p:tag name="KSO_WM_TEMPLATE_CATEGORY" val="diagram"/>
  <p:tag name="KSO_WM_TEMPLATE_INDEX" val="20231983"/>
  <p:tag name="KSO_WM_UNIT_LAYERLEVEL" val="1_1_1"/>
  <p:tag name="KSO_WM_TAG_VERSION" val="3.0"/>
  <p:tag name="KSO_WM_BEAUTIFY_FLAG" val="#wm#"/>
  <p:tag name="KSO_WM_UNIT_TEXT_FILL_FORE_SCHEMECOLOR_INDEX_BRIGHTNESS" val="0.15"/>
  <p:tag name="KSO_WM_DIAGRAM_MAX_ITEMCNT" val="4"/>
  <p:tag name="KSO_WM_DIAGRAM_MIN_ITEMCNT" val="3"/>
  <p:tag name="KSO_WM_DIAGRAM_VIRTUALLY_FRAME" val="{&quot;height&quot;:337.2100787401575,&quot;left&quot;:46.2015868179441,&quot;top&quot;:128.5288976377953,&quot;width&quot;:850.39367675781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GROUP_CODE" val="l1-1"/>
  <p:tag name="KSO_WM_DIAGRAM_VERSION" val="3"/>
  <p:tag name="KSO_WM_DIAGRAM_COLOR_TEXT_CAN_REMOVE" val="n"/>
  <p:tag name="KSO_WM_DIAGRAM_COLOR_TRICK" val="1"/>
  <p:tag name="KSO_WM_UNIT_PRESET_TEXT" val="此处添加项标题"/>
  <p:tag name="KSO_WM_UNIT_TEXT_FILL_FORE_SCHEMECOLOR_INDEX" val="1"/>
  <p:tag name="KSO_WM_UNIT_TEXT_FILL_TYPE" val="1"/>
  <p:tag name="KSO_WM_UNIT_TEXT_TYPE" val="1"/>
  <p:tag name="KSO_WM_UNIT_USESOURCEFORMAT_APPLY" val="0"/>
</p:tagLst>
</file>

<file path=ppt/tags/tag261.xml><?xml version="1.0" encoding="utf-8"?>
<p:tagLst xmlns:p="http://schemas.openxmlformats.org/presentationml/2006/main">
  <p:tag name="KSO_WM_SLIDE_ID" val="diagram20231983_1"/>
  <p:tag name="KSO_WM_TEMPLATE_SUBCATEGORY" val="0"/>
  <p:tag name="KSO_WM_TEMPLATE_MASTER_TYPE" val="0"/>
  <p:tag name="KSO_WM_TEMPLATE_COLOR_TYPE" val="0"/>
  <p:tag name="KSO_WM_SLIDE_ITEM_CNT" val="3"/>
  <p:tag name="KSO_WM_SLIDE_INDEX" val="1"/>
  <p:tag name="KSO_WM_TAG_VERSION" val="3.0"/>
  <p:tag name="KSO_WM_BEAUTIFY_FLAG" val="#wm#"/>
  <p:tag name="KSO_WM_TEMPLATE_CATEGORY" val="custom"/>
  <p:tag name="KSO_WM_TEMPLATE_INDEX" val="20233354"/>
  <p:tag name="KSO_WM_SLIDE_TYPE" val="text"/>
  <p:tag name="KSO_WM_SLIDE_SUBTYPE" val="diag"/>
  <p:tag name="KSO_WM_SLIDE_SIZE" val="771.806*337.205"/>
  <p:tag name="KSO_WM_SLIDE_POSITION" val="85.5043*128.529"/>
  <p:tag name="KSO_WM_SLIDE_LAYOUT" val="a_l"/>
  <p:tag name="KSO_WM_SLIDE_LAYOUT_CNT" val="1_1"/>
  <p:tag name="KSO_WM_SPECIAL_SOURCE" val="bdnull"/>
  <p:tag name="KSO_WM_DIAGRAM_GROUP_CODE" val="l1-1"/>
  <p:tag name="KSO_WM_SLIDE_DIAGTYPE" val="l"/>
</p:tagLst>
</file>

<file path=ppt/tags/tag262.xml><?xml version="1.0" encoding="utf-8"?>
<p:tagLst xmlns:p="http://schemas.openxmlformats.org/presentationml/2006/main">
  <p:tag name="KSO_WM_BEAUTIFY_FLAG" val="#wm#"/>
  <p:tag name="KSO_WM_TEMPLATE_CATEGORY" val="custom"/>
  <p:tag name="KSO_WM_TEMPLATE_INDEX" val="20233354"/>
</p:tagLst>
</file>

<file path=ppt/tags/tag263.xml><?xml version="1.0" encoding="utf-8"?>
<p:tagLst xmlns:p="http://schemas.openxmlformats.org/presentationml/2006/main">
  <p:tag name="KSO_WM_BEAUTIFY_FLAG" val="#wm#"/>
  <p:tag name="KSO_WM_TEMPLATE_CATEGORY" val="custom"/>
  <p:tag name="KSO_WM_TEMPLATE_INDEX" val="20233354"/>
</p:tagLst>
</file>

<file path=ppt/tags/tag264.xml><?xml version="1.0" encoding="utf-8"?>
<p:tagLst xmlns:p="http://schemas.openxmlformats.org/presentationml/2006/main">
  <p:tag name="KSO_WM_BEAUTIFY_FLAG" val="#wm#"/>
  <p:tag name="KSO_WM_TEMPLATE_CATEGORY" val="custom"/>
  <p:tag name="KSO_WM_TEMPLATE_INDEX" val="20233354"/>
</p:tagLst>
</file>

<file path=ppt/tags/tag265.xml><?xml version="1.0" encoding="utf-8"?>
<p:tagLst xmlns:p="http://schemas.openxmlformats.org/presentationml/2006/main">
  <p:tag name="KSO_WM_BEAUTIFY_FLAG" val="#wm#"/>
  <p:tag name="KSO_WM_TEMPLATE_CATEGORY" val="custom"/>
  <p:tag name="KSO_WM_TEMPLATE_INDEX" val="20233354"/>
</p:tagLst>
</file>

<file path=ppt/tags/tag266.xml><?xml version="1.0" encoding="utf-8"?>
<p:tagLst xmlns:p="http://schemas.openxmlformats.org/presentationml/2006/main">
  <p:tag name="KSO_WM_BEAUTIFY_FLAG" val="#wm#"/>
  <p:tag name="KSO_WM_TEMPLATE_CATEGORY" val="custom"/>
  <p:tag name="KSO_WM_TEMPLATE_INDEX" val="20233354"/>
</p:tagLst>
</file>

<file path=ppt/tags/tag267.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329_3*a*1"/>
  <p:tag name="KSO_WM_TEMPLATE_CATEGORY" val="diagram"/>
  <p:tag name="KSO_WM_TEMPLATE_INDEX" val="20233329"/>
  <p:tag name="KSO_WM_UNIT_LAYERLEVEL" val="1"/>
  <p:tag name="KSO_WM_TAG_VERSION" val="3.0"/>
  <p:tag name="KSO_WM_BEAUTIFY_FLAG" val="#wm#"/>
  <p:tag name="KSO_WM_UNIT_VALUE" val="29"/>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68.xml><?xml version="1.0" encoding="utf-8"?>
<p:tagLst xmlns:p="http://schemas.openxmlformats.org/presentationml/2006/main">
  <p:tag name="KSO_WM_SLIDE_ID" val="diagram20233329_3"/>
  <p:tag name="KSO_WM_TEMPLATE_SUBCATEGORY" val="0"/>
  <p:tag name="KSO_WM_TEMPLATE_MASTER_TYPE" val="0"/>
  <p:tag name="KSO_WM_TEMPLATE_COLOR_TYPE" val="0"/>
  <p:tag name="KSO_WM_SLIDE_TYPE" val="text"/>
  <p:tag name="KSO_WM_SLIDE_SUBTYPE" val="diag"/>
  <p:tag name="KSO_WM_SLIDE_ITEM_CNT" val="4"/>
  <p:tag name="KSO_WM_SLIDE_INDEX" val="3"/>
  <p:tag name="KSO_WM_SLIDE_SIZE" val="792.289*387.858"/>
  <p:tag name="KSO_WM_SLIDE_POSITION" val="83.1354*130.947"/>
  <p:tag name="KSO_WM_DIAGRAM_GROUP_CODE" val="l1-1"/>
  <p:tag name="KSO_WM_SLIDE_DIAGTYPE" val="l"/>
  <p:tag name="KSO_WM_TAG_VERSION" val="3.0"/>
  <p:tag name="KSO_WM_BEAUTIFY_FLAG" val="#wm#"/>
  <p:tag name="KSO_WM_TEMPLATE_CATEGORY" val="custom"/>
  <p:tag name="KSO_WM_TEMPLATE_INDEX" val="20233354"/>
  <p:tag name="KSO_WM_SLIDE_LAYOUT" val="a_l"/>
  <p:tag name="KSO_WM_SLIDE_LAYOUT_CNT" val="1_1"/>
</p:tagLst>
</file>

<file path=ppt/tags/tag269.xml><?xml version="1.0" encoding="utf-8"?>
<p:tagLst xmlns:p="http://schemas.openxmlformats.org/presentationml/2006/main">
  <p:tag name="KSO_WM_BEAUTIFY_FLAG" val="#wm#"/>
  <p:tag name="KSO_WM_TEMPLATE_CATEGORY" val="custom"/>
  <p:tag name="KSO_WM_TEMPLATE_INDEX" val="20233354"/>
</p:tagLst>
</file>

<file path=ppt/tags/tag270.xml><?xml version="1.0" encoding="utf-8"?>
<p:tagLst xmlns:p="http://schemas.openxmlformats.org/presentationml/2006/main">
  <p:tag name="KSO_WM_BEAUTIFY_FLAG" val="#wm#"/>
  <p:tag name="KSO_WM_TEMPLATE_CATEGORY" val="custom"/>
  <p:tag name="KSO_WM_TEMPLATE_INDEX" val="20233354"/>
</p:tagLst>
</file>

<file path=ppt/tags/tag271.xml><?xml version="1.0" encoding="utf-8"?>
<p:tagLst xmlns:p="http://schemas.openxmlformats.org/presentationml/2006/main">
  <p:tag name="KSO_WM_SLIDE_ID" val="diagram20231973_1"/>
  <p:tag name="KSO_WM_TEMPLATE_SUBCATEGORY" val="0"/>
  <p:tag name="KSO_WM_TEMPLATE_MASTER_TYPE" val="0"/>
  <p:tag name="KSO_WM_TEMPLATE_COLOR_TYPE" val="0"/>
  <p:tag name="KSO_WM_SLIDE_TYPE" val="text"/>
  <p:tag name="KSO_WM_SLIDE_SUBTYPE" val="diag"/>
  <p:tag name="KSO_WM_SLIDE_ITEM_CNT" val="2"/>
  <p:tag name="KSO_WM_SLIDE_INDEX" val="1"/>
  <p:tag name="KSO_WM_SLIDE_SIZE" val="850.35*326.55"/>
  <p:tag name="KSO_WM_SLIDE_POSITION" val="54.85*131.9"/>
  <p:tag name="KSO_WM_DIAGRAM_GROUP_CODE" val="l1-1"/>
  <p:tag name="KSO_WM_SLIDE_DIAGTYPE" val="l"/>
  <p:tag name="KSO_WM_TAG_VERSION" val="3.0"/>
  <p:tag name="KSO_WM_BEAUTIFY_FLAG" val="#wm#"/>
  <p:tag name="KSO_WM_TEMPLATE_CATEGORY" val="custom"/>
  <p:tag name="KSO_WM_TEMPLATE_INDEX" val="20233354"/>
  <p:tag name="KSO_WM_SLIDE_LAYOUT" val="a_l"/>
  <p:tag name="KSO_WM_SLIDE_LAYOUT_CNT" val="1_1"/>
  <p:tag name="KSO_WM_SPECIAL_SOURCE" val="bdnull"/>
</p:tagLst>
</file>

<file path=ppt/tags/tag272.xml><?xml version="1.0" encoding="utf-8"?>
<p:tagLst xmlns:p="http://schemas.openxmlformats.org/presentationml/2006/main">
  <p:tag name="KSO_WM_BEAUTIFY_FLAG" val="#wm#"/>
  <p:tag name="KSO_WM_TEMPLATE_CATEGORY" val="custom"/>
  <p:tag name="KSO_WM_TEMPLATE_INDEX" val="20233354"/>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7*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此处添加章节标题"/>
  <p:tag name="KSO_WM_UNIT_TEXT_TYPE" val="1"/>
</p:tagLst>
</file>

<file path=ppt/tags/tag27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3354_7*e*1"/>
  <p:tag name="KSO_WM_TEMPLATE_CATEGORY" val="custom"/>
  <p:tag name="KSO_WM_TEMPLATE_INDEX" val="20233354"/>
  <p:tag name="KSO_WM_UNIT_LAYERLEVEL" val="1"/>
  <p:tag name="KSO_WM_TAG_VERSION" val="3.0"/>
  <p:tag name="KSO_WM_BEAUTIFY_FLAG" val="#wm#"/>
  <p:tag name="KSO_WM_UNIT_NOCLEAR" val="0"/>
  <p:tag name="KSO_WM_UNIT_VALUE" val="13"/>
  <p:tag name="KSO_WM_UNIT_TYPE" val="e"/>
  <p:tag name="KSO_WM_UNIT_INDEX" val="1"/>
  <p:tag name="KSO_WM_UNIT_PRESET_TEXT_INDEX" val="-1"/>
  <p:tag name="KSO_WM_UNIT_PRESET_TEXT_LEN" val="0"/>
</p:tagLst>
</file>

<file path=ppt/tags/tag275.xml><?xml version="1.0" encoding="utf-8"?>
<p:tagLst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a*1"/>
  <p:tag name="KSO_WM_TEMPLATE_CATEGORY" val="diagram"/>
  <p:tag name="KSO_WM_TEMPLATE_INDEX" val="20233143"/>
  <p:tag name="KSO_WM_UNIT_LAYERLEVEL" val="1"/>
  <p:tag name="KSO_WM_TAG_VERSION" val="3.0"/>
  <p:tag name="KSO_WM_BEAUTIFY_FLAG" val="#wm#"/>
  <p:tag name="KSO_WM_UNIT_ISCONTENTSTITLE" val="0"/>
  <p:tag name="KSO_WM_UNIT_ISNUMDGMTITLE" val="0"/>
  <p:tag name="KSO_WM_UNIT_NOCLEAR" val="0"/>
  <p:tag name="KSO_WM_UNIT_VALUE" val="29"/>
  <p:tag name="KSO_WM_UNIT_TYPE" val="a"/>
  <p:tag name="KSO_WM_UNIT_INDEX" val="1"/>
  <p:tag name="KSO_WM_UNIT_TEXT_TYPE" val="1"/>
  <p:tag name="KSO_WM_UNIT_PRESET_TEXT" val="单击此处添加标题"/>
  <p:tag name="KSO_WM_UNIT_TEXT_FILL_FORE_SCHEMECOLOR_INDEX" val="13"/>
  <p:tag name="KSO_WM_UNIT_TEXT_FILL_TYPE" val="1"/>
  <p:tag name="KSO_WM_UNIT_USESOURCEFORMAT_APPLY" val="0"/>
</p:tagLst>
</file>

<file path=ppt/tags/tag277.xml><?xml version="1.0" encoding="utf-8"?>
<p:tagLst xmlns:p="http://schemas.openxmlformats.org/presentationml/2006/main">
  <p:tag name="KSO_WM_UNIT_VALUE" val="405*448"/>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33143_3*l_h_d*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VCG41N1729364627*auto_gallery_ai_v2.1.1_ONLINE*1749094823744_223.1_468dcd5d8d31-slide-12"/>
  <p:tag name="KSO_WM_UNIT_LINE_FILL_TYPE" val="2"/>
  <p:tag name="KSO_WM_UNIT_USESOURCEFORMAT_APPLY" val="0"/>
</p:tagLst>
</file>

<file path=ppt/tags/tag278.xml><?xml version="1.0" encoding="utf-8"?>
<p:tagLst xmlns:p="http://schemas.openxmlformats.org/presentationml/2006/main">
  <p:tag name="KSO_WM_UNIT_VALUE" val="405*448"/>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33143_3*l_h_d*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VCG211329132369*auto_gallery_ai_v2.1.1_ONLINE*1749094823744_223.1_468dcd5d8d31-slide-12"/>
  <p:tag name="KSO_WM_UNIT_LINE_FILL_TYPE" val="2"/>
  <p:tag name="KSO_WM_UNIT_USESOURCEFORMAT_APPLY" val="0"/>
</p:tagLst>
</file>

<file path=ppt/tags/tag279.xml><?xml version="1.0" encoding="utf-8"?>
<p:tagLst xmlns:p="http://schemas.openxmlformats.org/presentationml/2006/main">
  <p:tag name="KSO_WM_UNIT_VALUE" val="405*448"/>
  <p:tag name="KSO_WM_UNIT_HIGHLIGHT" val="0"/>
  <p:tag name="KSO_WM_UNIT_COMPATIBLE" val="0"/>
  <p:tag name="KSO_WM_UNIT_DIAGRAM_ISNUMVISUAL" val="0"/>
  <p:tag name="KSO_WM_UNIT_DIAGRAM_ISREFERUNIT" val="0"/>
  <p:tag name="KSO_WM_DIAGRAM_GROUP_CODE" val="l1-1"/>
  <p:tag name="KSO_WM_UNIT_TYPE" val="l_h_d"/>
  <p:tag name="KSO_WM_UNIT_INDEX" val="1_3_1"/>
  <p:tag name="KSO_WM_UNIT_ID" val="diagram20233143_3*l_h_d*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VCG41N1257128588*auto_gallery_ai_v2.1.1_ONLINE*1749094823744_223.1_468dcd5d8d31-slide-12"/>
  <p:tag name="KSO_WM_UNIT_LINE_FILL_TYPE" val="2"/>
  <p:tag name="KSO_WM_UNIT_USESOURCEFORMAT_APPLY" val="0"/>
</p:tagLst>
</file>

<file path=ppt/tags/tag280.xml><?xml version="1.0" encoding="utf-8"?>
<p:tagLst xmlns:p="http://schemas.openxmlformats.org/presentationml/2006/main">
  <p:tag name="KSO_WM_UNIT_VALUE" val="405*448"/>
  <p:tag name="KSO_WM_UNIT_HIGHLIGHT" val="0"/>
  <p:tag name="KSO_WM_UNIT_COMPATIBLE" val="0"/>
  <p:tag name="KSO_WM_UNIT_DIAGRAM_ISNUMVISUAL" val="0"/>
  <p:tag name="KSO_WM_UNIT_DIAGRAM_ISREFERUNIT" val="0"/>
  <p:tag name="KSO_WM_DIAGRAM_GROUP_CODE" val="l1-1"/>
  <p:tag name="KSO_WM_UNIT_TYPE" val="l_h_d"/>
  <p:tag name="KSO_WM_UNIT_INDEX" val="1_4_1"/>
  <p:tag name="KSO_WM_UNIT_ID" val="diagram20233143_3*l_h_d*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3499999940395355},&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
  <p:tag name="KSO_WM_UNIT_PICTURE_SUBTYPE" val="b"/>
  <p:tag name="KSO_WM_BEAUTIFY_FLAG" val="#wm#"/>
  <p:tag name="KSO_WM_UNIT_FILL_TYPE" val="1"/>
  <p:tag name="KSO_WM_UNIT_FILL_FORE_SCHEMECOLOR_INDEX" val="5"/>
  <p:tag name="KSO_WM_UNIT_FILL_FORE_SCHEMECOLOR_INDEX_BRIGHTNESS" val="0"/>
  <p:tag name="KSO_WM_UNIT_LINE_FORE_SCHEMECOLOR_INDEX" val="5"/>
  <p:tag name="MH_PIC_SOURCE_TYPE" val="generate_slide_ai*VCG211397444802*auto_gallery_ai_v2.1.1_ONLINE*1749094823744_223.1_468dcd5d8d31-slide-12"/>
  <p:tag name="KSO_WM_UNIT_LINE_FILL_TYPE" val="2"/>
  <p:tag name="KSO_WM_UNIT_USESOURCEFORMAT_APPLY" val="0"/>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3143_3*l_h_a*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0"/>
</p:tagLst>
</file>

<file path=ppt/tags/tag28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3143_3*l_h_f*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具体内容，简明扼要地阐述观点。根据需要可酌情增减文字"/>
  <p:tag name="KSO_WM_UNIT_TEXT_FILL_FORE_SCHEMECOLOR_INDEX" val="1"/>
  <p:tag name="KSO_WM_UNIT_TEXT_FILL_TYPE" val="1"/>
  <p:tag name="KSO_WM_UNIT_USESOURCEFORMAT_APPLY" val="0"/>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3143_3*l_h_a*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0"/>
</p:tagLst>
</file>

<file path=ppt/tags/tag284.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3143_3*l_h_f*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简明扼要地阐述观点。根据需要可酌情增减文字"/>
  <p:tag name="KSO_WM_UNIT_TEXT_FILL_FORE_SCHEMECOLOR_INDEX" val="1"/>
  <p:tag name="KSO_WM_UNIT_TEXT_FILL_TYPE" val="1"/>
  <p:tag name="KSO_WM_UNIT_USESOURCEFORMAT_APPLY" val="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l_h_i*1_2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2_1"/>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l_h_i*1_4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4_1"/>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3143_3*l_h_a*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0"/>
</p:tagLst>
</file>

<file path=ppt/tags/tag288.xml><?xml version="1.0" encoding="utf-8"?>
<p:tagLst xmlns:p="http://schemas.openxmlformats.org/presentationml/2006/main">
  <p:tag name="KSO_WM_UNIT_SUBTYPE" val="a"/>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3143_3*l_h_f*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TEXT_TYPE" val="1"/>
  <p:tag name="KSO_WM_UNIT_TEXT_LAYER_COUNT" val="1"/>
  <p:tag name="KSO_WM_BEAUTIFY_FLAG" val="#wm#"/>
  <p:tag name="KSO_WM_UNIT_PRESET_TEXT" val="单击此处添加文本，简明扼要地阐述观点。根据需要可酌情增减文字"/>
  <p:tag name="KSO_WM_UNIT_TEXT_FILL_FORE_SCHEMECOLOR_INDEX" val="1"/>
  <p:tag name="KSO_WM_UNIT_TEXT_FILL_TYPE" val="1"/>
  <p:tag name="KSO_WM_UNIT_USESOURCEFORMAT_APPLY" val="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3143_3*l_h_a*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26"/>
  <p:tag name="KSO_WM_UNIT_TEXT_TYPE" val="1"/>
  <p:tag name="KSO_WM_BEAUTIFY_FLAG" val="#wm#"/>
  <p:tag name="KSO_WM_UNIT_PRESET_TEXT" val="单击此处添加标题"/>
  <p:tag name="KSO_WM_UNIT_FILL_TYPE" val="3"/>
  <p:tag name="KSO_WM_UNIT_TEXT_FILL_FORE_SCHEMECOLOR_INDEX" val="1"/>
  <p:tag name="KSO_WM_UNIT_TEXT_FILL_TYPE" val="1"/>
  <p:tag name="KSO_WM_UNIT_USESOURCEFORMAT_APPLY" val="0"/>
</p:tagLst>
</file>

<file path=ppt/tags/tag29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3143_3*l_h_f*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
  <p:tag name="KSO_WM_UNIT_VALUE" val="68"/>
  <p:tag name="KSO_WM_UNIT_TEXT_TYPE" val="1"/>
  <p:tag name="KSO_WM_UNIT_TEXT_LAYER_COUNT" val="1"/>
  <p:tag name="KSO_WM_BEAUTIFY_FLAG" val="#wm#"/>
  <p:tag name="KSO_WM_UNIT_PRESET_TEXT" val="单击此处添加文本具体内容，简明扼要地阐述观点。根据需要可酌情增减文字"/>
  <p:tag name="KSO_WM_UNIT_TEXT_FILL_FORE_SCHEMECOLOR_INDEX" val="1"/>
  <p:tag name="KSO_WM_UNIT_TEXT_FILL_TYPE" val="1"/>
  <p:tag name="KSO_WM_UNIT_USESOURCEFORMAT_APPLY" val="0"/>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l_h_i*1_1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1_1"/>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3143_3*l_h_i*1_3_1"/>
  <p:tag name="KSO_WM_TEMPLATE_CATEGORY" val="diagram"/>
  <p:tag name="KSO_WM_TEMPLATE_INDEX" val="20233143"/>
  <p:tag name="KSO_WM_UNIT_LAYERLEVEL" val="1_1_1"/>
  <p:tag name="KSO_WM_TAG_VERSION" val="3.0"/>
  <p:tag name="KSO_WM_DIAGRAM_VERSION" val="3"/>
  <p:tag name="KSO_WM_DIAGRAM_COLOR_TRICK" val="1"/>
  <p:tag name="KSO_WM_DIAGRAM_COLOR_TEXT_CAN_REMOVE" val="n"/>
  <p:tag name="KSO_WM_UNIT_TYPE" val="l_h_i"/>
  <p:tag name="KSO_WM_UNIT_INDEX" val="1_3_1"/>
  <p:tag name="KSO_WM_DIAGRAM_MAX_ITEMCNT" val="5"/>
  <p:tag name="KSO_WM_DIAGRAM_MIN_ITEMCNT" val="2"/>
  <p:tag name="KSO_WM_DIAGRAM_VIRTUALLY_FRAME" val="{&quot;height&quot;:391.5088195800781,&quot;left&quot;:36.2,&quot;top&quot;:115.88122013122074,&quot;width&quot;:881.4}"/>
  <p:tag name="KSO_WM_DIAGRAM_COLOR_MATCH_VALUE" val="{&quot;shape&quot;:{&quot;fill&quot;:{&quot;type&quot;:0},&quot;glow&quot;:{&quot;colorType&quot;:0},&quot;line&quot;:{&quot;solidLine&quot;:{&quot;brightness&quot;:0.4000000059604645,&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UNIT_LINE_FILL_TYPE" val="2"/>
  <p:tag name="KSO_WM_UNIT_USESOURCEFORMAT_APPLY" val="0"/>
</p:tagLst>
</file>

<file path=ppt/tags/tag293.xml><?xml version="1.0" encoding="utf-8"?>
<p:tagLst xmlns:p="http://schemas.openxmlformats.org/presentationml/2006/main">
  <p:tag name="KSO_WM_BEAUTIFY_FLAG" val="#wm#"/>
  <p:tag name="KSO_WM_TEMPLATE_CATEGORY" val="custom"/>
  <p:tag name="KSO_WM_TEMPLATE_INDEX" val="20233354"/>
  <p:tag name="KSO_WM_SLIDE_ID" val="diagram20233143_3"/>
  <p:tag name="KSO_WM_TEMPLATE_SUBCATEGORY" val="0"/>
  <p:tag name="KSO_WM_TEMPLATE_MASTER_TYPE" val="0"/>
  <p:tag name="KSO_WM_TEMPLATE_COLOR_TYPE" val="0"/>
  <p:tag name="KSO_WM_SLIDE_ITEM_CNT" val="4"/>
  <p:tag name="KSO_WM_SLIDE_INDEX" val="3"/>
  <p:tag name="KSO_WM_DIAGRAM_GROUP_CODE" val="l1-1"/>
  <p:tag name="KSO_WM_SLIDE_DIAGTYPE" val="l"/>
  <p:tag name="KSO_WM_TAG_VERSION" val="3.0"/>
  <p:tag name="KSO_WM_SLIDE_LAYOUT" val="a_l"/>
  <p:tag name="KSO_WM_SLIDE_LAYOUT_CNT" val="1_1"/>
  <p:tag name="KSO_WM_SLIDE_TYPE" val="text"/>
  <p:tag name="KSO_WM_SLIDE_SUBTYPE" val="diag"/>
  <p:tag name="KSO_WM_SLIDE_SIZE" val="758.775*370.283"/>
  <p:tag name="KSO_WM_SLIDE_POSITION" val="101.1*127.023"/>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7*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0"/>
  <p:tag name="KSO_WM_UNIT_VALUE" val="14"/>
  <p:tag name="KSO_WM_UNIT_TYPE" val="a"/>
  <p:tag name="KSO_WM_UNIT_INDEX" val="1"/>
  <p:tag name="KSO_WM_UNIT_PRESET_TEXT" val="单击此处添加章节标题"/>
  <p:tag name="KSO_WM_UNIT_TEXT_TYPE" val="1"/>
</p:tagLst>
</file>

<file path=ppt/tags/tag295.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custom20233354_7*e*1"/>
  <p:tag name="KSO_WM_TEMPLATE_CATEGORY" val="custom"/>
  <p:tag name="KSO_WM_TEMPLATE_INDEX" val="20233354"/>
  <p:tag name="KSO_WM_UNIT_LAYERLEVEL" val="1"/>
  <p:tag name="KSO_WM_TAG_VERSION" val="3.0"/>
  <p:tag name="KSO_WM_BEAUTIFY_FLAG" val="#wm#"/>
  <p:tag name="KSO_WM_UNIT_NOCLEAR" val="0"/>
  <p:tag name="KSO_WM_UNIT_VALUE" val="13"/>
  <p:tag name="KSO_WM_UNIT_TYPE" val="e"/>
  <p:tag name="KSO_WM_UNIT_INDEX" val="1"/>
  <p:tag name="KSO_WM_UNIT_PRESET_TEXT_INDEX" val="-1"/>
  <p:tag name="KSO_WM_UNIT_PRESET_TEXT_LEN" val="0"/>
</p:tagLst>
</file>

<file path=ppt/tags/tag296.xml><?xml version="1.0" encoding="utf-8"?>
<p:tagLst xmlns:p="http://schemas.openxmlformats.org/presentationml/2006/main">
  <p:tag name="KSO_WM_SLIDE_ID" val="custom20233354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354"/>
  <p:tag name="KSO_WM_SLIDE_TYPE" val="sectionTitle"/>
  <p:tag name="KSO_WM_SLIDE_SUBTYPE" val="pureTxt"/>
  <p:tag name="KSO_WM_SLIDE_LAYOUT" val="a_e"/>
  <p:tag name="KSO_WM_SLIDE_LAYOUT_CNT" val="1_1"/>
</p:tagLst>
</file>

<file path=ppt/tags/tag297.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1963_1*a*1"/>
  <p:tag name="KSO_WM_TEMPLATE_CATEGORY" val="diagram"/>
  <p:tag name="KSO_WM_TEMPLATE_INDEX" val="20231963"/>
  <p:tag name="KSO_WM_UNIT_LAYERLEVEL" val="1"/>
  <p:tag name="KSO_WM_TAG_VERSION" val="3.0"/>
  <p:tag name="KSO_WM_BEAUTIFY_FLAG" val="#wm#"/>
  <p:tag name="KSO_WM_DIAGRAM_GROUP_CODE" val="l1-1"/>
  <p:tag name="KSO_WM_UNIT_PRESET_TEXT" val="单击此处添加标题"/>
  <p:tag name="KSO_WM_UNIT_TEXT_TYPE" val="1"/>
  <p:tag name="KSO_WM_UNIT_TEXT_FILL_FORE_SCHEMECOLOR_INDEX" val="13"/>
  <p:tag name="KSO_WM_UNIT_TEXT_FILL_TYPE" val="1"/>
  <p:tag name="KSO_WM_UNIT_USESOURCEFORMAT_APPLY" val="0"/>
</p:tagLst>
</file>

<file path=ppt/tags/tag29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3_1*l_h_a*1_1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BEAUTIFY_FLAG" val="#wm#"/>
  <p:tag name="KSO_WM_UNIT_PRESET_TEXT" val="添加标题内容"/>
  <p:tag name="KSO_WM_UNIT_TEXT_FILL_FORE_SCHEMECOLOR_INDEX" val="1"/>
  <p:tag name="KSO_WM_UNIT_TEXT_FILL_TYPE" val="1"/>
</p:tagLst>
</file>

<file path=ppt/tags/tag29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3_1*l_h_f*1_1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UNIT_TEXT_LAYER_COUNT" val="1"/>
  <p:tag name="KSO_WM_BEAUTIFY_FLAG" val="#wm#"/>
  <p:tag name="KSO_WM_UNIT_PRESET_TEXT" val="单击此处输入你的项正文，文字是您思想的提炼，单击此处文本"/>
  <p:tag name="KSO_WM_UNIT_TEXT_FILL_FORE_SCHEMECOLOR_INDEX" val="1"/>
  <p:tag name="KSO_WM_UNIT_TEXT_FILL_TYPE"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1963_1*l_h_i*1_1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BEAUTIFY_FLAG" val="#wm#"/>
  <p:tag name="KSO_WM_UNIT_LINE_FORE_SCHEMECOLOR_INDEX" val="5"/>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963_1*l_h_i*1_1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BEAUTIFY_FLAG" val="#wm#"/>
  <p:tag name="KSO_WM_UNIT_FILL_TYPE" val="1"/>
  <p:tag name="KSO_WM_UNIT_FILL_FORE_SCHEMECOLOR_INDEX" val="5"/>
  <p:tag name="KSO_WM_UNIT_FILL_FORE_SCHEMECOLOR_INDEX_BRIGHTNESS" val="0"/>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963_1*l_h_i*1_2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BEAUTIFY_FLAG" val="#wm#"/>
  <p:tag name="KSO_WM_UNIT_FILL_TYPE" val="1"/>
  <p:tag name="KSO_WM_UNIT_FILL_FORE_SCHEMECOLOR_INDEX" val="5"/>
  <p:tag name="KSO_WM_UNIT_FILL_FORE_SCHEMECOLOR_INDEX_BRIGHTNESS" val="0"/>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1963_1*l_h_i*1_4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BEAUTIFY_FLAG" val="#wm#"/>
  <p:tag name="KSO_WM_UNIT_FILL_TYPE" val="1"/>
  <p:tag name="KSO_WM_UNIT_FILL_FORE_SCHEMECOLOR_INDEX" val="5"/>
  <p:tag name="KSO_WM_UNIT_FILL_FORE_SCHEMECOLOR_INDEX_BRIGHTNESS" val="0"/>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963_1*l_h_i*1_3_2"/>
  <p:tag name="KSO_WM_TEMPLATE_CATEGORY" val="diagram"/>
  <p:tag name="KSO_WM_TEMPLATE_INDEX" val="20231963"/>
  <p:tag name="KSO_WM_UNIT_LAYERLEVEL" val="1_1_1"/>
  <p:tag name="KSO_WM_TAG_VERSION" val="3.0"/>
  <p:tag name="KSO_WM_UNIT_FILL_FORE_SCHEMECOLOR_INDEX_1_BRIGHTNESS" val="0.6"/>
  <p:tag name="KSO_WM_UNIT_FILL_FORE_SCHEMECOLOR_INDEX_1" val="8"/>
  <p:tag name="KSO_WM_UNIT_FILL_FORE_SCHEMECOLOR_INDEX_1_POS" val="0"/>
  <p:tag name="KSO_WM_UNIT_FILL_FORE_SCHEMECOLOR_INDEX_1_TRANS" val="0"/>
  <p:tag name="KSO_WM_UNIT_FILL_FORE_SCHEMECOLOR_INDEX_2_BRIGHTNESS" val="0.4"/>
  <p:tag name="KSO_WM_UNIT_FILL_FORE_SCHEMECOLOR_INDEX_2" val="8"/>
  <p:tag name="KSO_WM_UNIT_FILL_FORE_SCHEMECOLOR_INDEX_2_POS" val="0.51"/>
  <p:tag name="KSO_WM_UNIT_FILL_FORE_SCHEMECOLOR_INDEX_2_TRANS" val="0"/>
  <p:tag name="KSO_WM_UNIT_FILL_FORE_SCHEMECOLOR_INDEX_3_BRIGHTNESS" val="0"/>
  <p:tag name="KSO_WM_UNIT_FILL_FORE_SCHEMECOLOR_INDEX_3" val="8"/>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BEAUTIFY_FLAG" val="#wm#"/>
  <p:tag name="KSO_WM_UNIT_FILL_TYPE" val="1"/>
  <p:tag name="KSO_WM_UNIT_FILL_FORE_SCHEMECOLOR_INDEX" val="5"/>
  <p:tag name="KSO_WM_UNIT_FILL_FORE_SCHEMECOLOR_INDEX_BRIGHTNESS" val="0"/>
</p:tagLst>
</file>

<file path=ppt/tags/tag305.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1963_1*l_h_a*1_4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BEAUTIFY_FLAG" val="#wm#"/>
  <p:tag name="KSO_WM_UNIT_PRESET_TEXT" val="添加标题内容"/>
  <p:tag name="KSO_WM_UNIT_TEXT_FILL_FORE_SCHEMECOLOR_INDEX" val="1"/>
  <p:tag name="KSO_WM_UNIT_TEXT_FILL_TYPE" val="1"/>
</p:tagLst>
</file>

<file path=ppt/tags/tag30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1963_1*l_h_f*1_4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UNIT_TEXT_LAYER_COUNT" val="1"/>
  <p:tag name="KSO_WM_BEAUTIFY_FLAG" val="#wm#"/>
  <p:tag name="KSO_WM_UNIT_PRESET_TEXT" val="单击此处输入你的项正文，文字是您思想的提炼"/>
  <p:tag name="KSO_WM_UNIT_TEXT_FILL_FORE_SCHEMECOLOR_INDEX" val="1"/>
  <p:tag name="KSO_WM_UNIT_TEXT_FILL_TYPE"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1963_1*l_h_i*1_4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BEAUTIFY_FLAG" val="#wm#"/>
  <p:tag name="KSO_WM_UNIT_LINE_FORE_SCHEMECOLOR_INDEX" val="5"/>
</p:tagLst>
</file>

<file path=ppt/tags/tag308.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1963_1*l_h_a*1_2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BEAUTIFY_FLAG" val="#wm#"/>
  <p:tag name="KSO_WM_UNIT_PRESET_TEXT" val="添加标题内容"/>
  <p:tag name="KSO_WM_UNIT_TEXT_FILL_FORE_SCHEMECOLOR_INDEX" val="1"/>
  <p:tag name="KSO_WM_UNIT_TEXT_FILL_TYPE" val="1"/>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1963_1*l_h_i*1_2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BEAUTIFY_FLAG" val="#wm#"/>
  <p:tag name="KSO_WM_UNIT_LINE_FORE_SCHEMECOLOR_INDEX" val="5"/>
</p:tagLst>
</file>

<file path=ppt/tags/tag31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1963_1*l_h_a*1_3_1"/>
  <p:tag name="KSO_WM_TEMPLATE_CATEGORY" val="diagram"/>
  <p:tag name="KSO_WM_TEMPLATE_INDEX" val="20231963"/>
  <p:tag name="KSO_WM_UNIT_LAYERLEVEL" val="1_1_1"/>
  <p:tag name="KSO_WM_TAG_VERSION" val="3.0"/>
  <p:tag name="KSO_WM_UNIT_TEXT_FILL_FORE_SCHEMECOLOR_INDEX_BRIGHTNESS" val="0"/>
  <p:tag name="KSO_WM_UNIT_VALUE" val="13"/>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BEAUTIFY_FLAG" val="#wm#"/>
  <p:tag name="KSO_WM_UNIT_PRESET_TEXT" val="添加标题内容"/>
  <p:tag name="KSO_WM_UNIT_TEXT_FILL_FORE_SCHEMECOLOR_INDEX" val="1"/>
  <p:tag name="KSO_WM_UNIT_TEXT_FILL_TYPE" val="1"/>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1963_1*l_h_i*1_3_1"/>
  <p:tag name="KSO_WM_TEMPLATE_CATEGORY" val="diagram"/>
  <p:tag name="KSO_WM_TEMPLATE_INDEX" val="20231963"/>
  <p:tag name="KSO_WM_UNIT_LAYERLEVEL" val="1_1_1"/>
  <p:tag name="KSO_WM_TAG_VERSION" val="3.0"/>
  <p:tag name="KSO_WM_UNIT_LINE_FORE_SCHEMECOLOR_INDEX_BRIGHTNESS" val="0"/>
  <p:tag name="KSO_WM_UNIT_LINE_FILL_TYPE" val="2"/>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0"/>
  <p:tag name="KSO_WM_BEAUTIFY_FLAG" val="#wm#"/>
  <p:tag name="KSO_WM_UNIT_LINE_FORE_SCHEMECOLOR_INDEX" val="5"/>
</p:tagLst>
</file>

<file path=ppt/tags/tag312.xml><?xml version="1.0" encoding="utf-8"?>
<p:tagLst xmlns:p="http://schemas.openxmlformats.org/presentationml/2006/main">
  <p:tag name="KSO_WM_UNIT_VALUE" val="223*223"/>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31963_1*l_h_x*1_1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UNIT_USESOURCEFORMAT_APPLY" val="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231963_1*l_i*1_1"/>
  <p:tag name="KSO_WM_TEMPLATE_CATEGORY" val="diagram"/>
  <p:tag name="KSO_WM_TEMPLATE_INDEX" val="20231963"/>
  <p:tag name="KSO_WM_UNIT_LAYERLEVEL" val="1_1"/>
  <p:tag name="KSO_WM_TAG_VERSION" val="3.0"/>
  <p:tag name="KSO_WM_UNIT_TEXT_FILL_FORE_SCHEMECOLOR_INDEX_BRIGHTNESS" val="0"/>
  <p:tag name="KSO_WM_UNIT_TEXT_FILL_TYPE" val="1"/>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solid&quot;:{&quot;brightness&quot;:0,&quot;colorType&quot;:1,&quot;foreColorIndex&quot;:5,&quot;transparency&quot;:0.6399999856948853},&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BEAUTIFY_FLAG" val="#wm#"/>
  <p:tag name="KSO_WM_UNIT_FILL_TYPE" val="1"/>
  <p:tag name="KSO_WM_UNIT_FILL_FORE_SCHEMECOLOR_INDEX" val="5"/>
  <p:tag name="KSO_WM_UNIT_FILL_FORE_SCHEMECOLOR_INDEX_BRIGHTNESS" val="0"/>
</p:tagLst>
</file>

<file path=ppt/tags/tag314.xml><?xml version="1.0" encoding="utf-8"?>
<p:tagLst xmlns:p="http://schemas.openxmlformats.org/presentationml/2006/main">
  <p:tag name="KSO_WM_UNIT_VALUE" val="208*208"/>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1963_1*l_h_x*1_4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UNIT_USESOURCEFORMAT_APPLY" val="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15.xml><?xml version="1.0" encoding="utf-8"?>
<p:tagLst xmlns:p="http://schemas.openxmlformats.org/presentationml/2006/main">
  <p:tag name="KSO_WM_UNIT_VALUE" val="209*209"/>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231963_1*l_h_x*1_2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UNIT_USESOURCEFORMAT_APPLY" val="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16.xml><?xml version="1.0" encoding="utf-8"?>
<p:tagLst xmlns:p="http://schemas.openxmlformats.org/presentationml/2006/main">
  <p:tag name="KSO_WM_UNIT_VALUE" val="200*200"/>
  <p:tag name="KSO_WM_UNIT_HIGHLIGHT" val="0"/>
  <p:tag name="KSO_WM_UNIT_COMPATIBLE" val="0"/>
  <p:tag name="KSO_WM_UNIT_DIAGRAM_ISNUMVISUAL" val="0"/>
  <p:tag name="KSO_WM_UNIT_DIAGRAM_ISREFERUNIT" val="0"/>
  <p:tag name="KSO_WM_DIAGRAM_GROUP_CODE" val="l1-1"/>
  <p:tag name="KSO_WM_UNIT_TYPE" val="l_h_x"/>
  <p:tag name="KSO_WM_UNIT_INDEX" val="1_3_1"/>
  <p:tag name="KSO_WM_UNIT_ID" val="diagram20231963_1*l_h_x*1_3_1"/>
  <p:tag name="KSO_WM_TEMPLATE_CATEGORY" val="diagram"/>
  <p:tag name="KSO_WM_TEMPLATE_INDEX" val="20231963"/>
  <p:tag name="KSO_WM_UNIT_LAYERLEVEL" val="1_1_1"/>
  <p:tag name="KSO_WM_TAG_VERSION" val="3.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UNIT_USESOURCEFORMAT_APPLY" val="0"/>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BEAUTIFY_FLAG" val="#wm#"/>
</p:tagLst>
</file>

<file path=ppt/tags/tag31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3_1*l_h_f*1_2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UNIT_TEXT_LAYER_COUNT" val="1"/>
  <p:tag name="KSO_WM_BEAUTIFY_FLAG" val="#wm#"/>
  <p:tag name="KSO_WM_UNIT_PRESET_TEXT" val="单击此处输入你的项正文内容，文字是您思想的提炼"/>
  <p:tag name="KSO_WM_UNIT_TEXT_FILL_FORE_SCHEMECOLOR_INDEX" val="1"/>
  <p:tag name="KSO_WM_UNIT_TEXT_FILL_TYPE" val="1"/>
</p:tagLst>
</file>

<file path=ppt/tags/tag31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963_1*l_h_f*1_3_1"/>
  <p:tag name="KSO_WM_TEMPLATE_CATEGORY" val="diagram"/>
  <p:tag name="KSO_WM_TEMPLATE_INDEX" val="20231963"/>
  <p:tag name="KSO_WM_UNIT_LAYERLEVEL" val="1_1_1"/>
  <p:tag name="KSO_WM_TAG_VERSION" val="3.0"/>
  <p:tag name="KSO_WM_UNIT_TEXT_FILL_FORE_SCHEMECOLOR_INDEX_BRIGHTNESS" val="0.5"/>
  <p:tag name="KSO_WM_UNIT_VALUE" val="60"/>
  <p:tag name="KSO_WM_DIAGRAM_VERSION" val="3"/>
  <p:tag name="KSO_WM_DIAGRAM_COLOR_TRICK" val="1"/>
  <p:tag name="KSO_WM_DIAGRAM_COLOR_TEXT_CAN_REMOVE" val="n"/>
  <p:tag name="KSO_WM_DIAGRAM_MAX_ITEMCNT" val="4"/>
  <p:tag name="KSO_WM_DIAGRAM_MIN_ITEMCNT" val="4"/>
  <p:tag name="KSO_WM_DIAGRAM_VIRTUALLY_FRAME" val="{&quot;height&quot;:287.3647244094488,&quot;left&quot;:31.15,&quot;top&quot;:152.0192125984252,&quot;width&quot;:908.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USESOURCEFORMAT_APPLY" val="0"/>
  <p:tag name="KSO_WM_UNIT_TEXT_TYPE" val="1"/>
  <p:tag name="KSO_WM_UNIT_TEXT_LAYER_COUNT" val="1"/>
  <p:tag name="KSO_WM_BEAUTIFY_FLAG" val="#wm#"/>
  <p:tag name="KSO_WM_UNIT_PRESET_TEXT" val="单击此处输入你的项正文，文字是您思想的提炼，单击此处文本内容"/>
  <p:tag name="KSO_WM_UNIT_TEXT_FILL_FORE_SCHEMECOLOR_INDEX" val="1"/>
  <p:tag name="KSO_WM_UNIT_TEXT_FILL_TYPE" val="1"/>
</p:tagLst>
</file>

<file path=ppt/tags/tag319.xml><?xml version="1.0" encoding="utf-8"?>
<p:tagLst xmlns:p="http://schemas.openxmlformats.org/presentationml/2006/main">
  <p:tag name="KSO_WM_SLIDE_ID" val="diagram20231963_1"/>
  <p:tag name="KSO_WM_TEMPLATE_SUBCATEGORY" val="0"/>
  <p:tag name="KSO_WM_TEMPLATE_MASTER_TYPE" val="0"/>
  <p:tag name="KSO_WM_TEMPLATE_COLOR_TYPE" val="0"/>
  <p:tag name="KSO_WM_SLIDE_ITEM_CNT" val="4"/>
  <p:tag name="KSO_WM_SLIDE_INDEX" val="1"/>
  <p:tag name="KSO_WM_TAG_VERSION" val="3.0"/>
  <p:tag name="KSO_WM_BEAUTIFY_FLAG" val="#wm#"/>
  <p:tag name="KSO_WM_TEMPLATE_CATEGORY" val="custom"/>
  <p:tag name="KSO_WM_TEMPLATE_INDEX" val="20233354"/>
  <p:tag name="KSO_WM_SLIDE_TYPE" val="text"/>
  <p:tag name="KSO_WM_SLIDE_SUBTYPE" val="diag"/>
  <p:tag name="KSO_WM_SLIDE_SIZE" val="805.441*287.35"/>
  <p:tag name="KSO_WM_SLIDE_POSITION" val="79.3998*152.002"/>
  <p:tag name="KSO_WM_SLIDE_LAYOUT" val="a_l"/>
  <p:tag name="KSO_WM_SLIDE_LAYOUT_CNT" val="1_1"/>
  <p:tag name="KSO_WM_SPECIAL_SOURCE" val="bdnull"/>
  <p:tag name="KSO_WM_DIAGRAM_GROUP_CODE" val="l1-1"/>
  <p:tag name="KSO_WM_SLIDE_DIAGTYPE" val="l"/>
</p:tagLst>
</file>

<file path=ppt/tags/tag32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3147_3*a*1"/>
  <p:tag name="KSO_WM_TEMPLATE_CATEGORY" val="diagram"/>
  <p:tag name="KSO_WM_TEMPLATE_INDEX" val="20233147"/>
  <p:tag name="KSO_WM_UNIT_LAYERLEVEL" val="1"/>
  <p:tag name="KSO_WM_TAG_VERSION" val="3.0"/>
  <p:tag name="KSO_WM_BEAUTIFY_FLAG" val="#wm#"/>
  <p:tag name="KSO_WM_UNIT_TEXT_TYPE" val="1"/>
  <p:tag name="KSO_WM_UNIT_PRESET_TEXT" val="单击此处添加标题"/>
  <p:tag name="KSO_WM_UNIT_TEXT_FILL_FORE_SCHEMECOLOR_INDEX" val="13"/>
  <p:tag name="KSO_WM_UNIT_TEXT_FILL_TYPE" val="1"/>
  <p:tag name="KSO_WM_UNIT_USESOURCEFORMAT_APPLY" val="0"/>
</p:tagLst>
</file>

<file path=ppt/tags/tag32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3*l_h_d*1_1_1"/>
  <p:tag name="KSO_WM_TEMPLATE_CATEGORY" val="diagram"/>
  <p:tag name="KSO_WM_TEMPLATE_INDEX" val="20233147"/>
  <p:tag name="KSO_WM_UNIT_LAYERLEVEL" val="1_1_1"/>
  <p:tag name="KSO_WM_TAG_VERSION" val="3.0"/>
  <p:tag name="KSO_WM_UNIT_VALUE" val="706*662"/>
  <p:tag name="KSO_WM_DIAGRAM_GROUP_CODE" val="l1-1"/>
  <p:tag name="KSO_WM_UNIT_TYPE" val="l_h_d"/>
  <p:tag name="KSO_WM_UNIT_INDEX" val="1_1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LINE_FORE_SCHEMECOLOR_INDEX" val="13"/>
  <p:tag name="MH_PIC_SOURCE_TYPE" val="generate_slide_ai*VCG41N1307857948*auto_gallery_ai_v2.1.1_ONLINE*1749094823744_223.1_468dcd5d8d31-slide-17"/>
  <p:tag name="KSO_WM_UNIT_LINE_FILL_TYPE" val="2"/>
  <p:tag name="KSO_WM_UNIT_USESOURCEFORMAT_APPLY" val="0"/>
</p:tagLst>
</file>

<file path=ppt/tags/tag32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3147_3*l_h_f*1_1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3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3147_3*l_h_a*1_1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3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3*l_h_d*1_2_1"/>
  <p:tag name="KSO_WM_TEMPLATE_CATEGORY" val="diagram"/>
  <p:tag name="KSO_WM_TEMPLATE_INDEX" val="20233147"/>
  <p:tag name="KSO_WM_UNIT_LAYERLEVEL" val="1_1_1"/>
  <p:tag name="KSO_WM_TAG_VERSION" val="3.0"/>
  <p:tag name="KSO_WM_UNIT_VALUE" val="706*662"/>
  <p:tag name="KSO_WM_DIAGRAM_GROUP_CODE" val="l1-1"/>
  <p:tag name="KSO_WM_UNIT_TYPE" val="l_h_d"/>
  <p:tag name="KSO_WM_UNIT_INDEX" val="1_2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FILL_TYPE" val="1"/>
  <p:tag name="KSO_WM_UNIT_FILL_FORE_SCHEMECOLOR_INDEX" val="5"/>
  <p:tag name="KSO_WM_UNIT_FILL_FORE_SCHEMECOLOR_INDEX_BRIGHTNESS" val="0"/>
  <p:tag name="KSO_WM_UNIT_LINE_FORE_SCHEMECOLOR_INDEX" val="13"/>
  <p:tag name="MH_PIC_SOURCE_TYPE" val="generate_slide_ai*VCG41N1369015939*auto_gallery_ai_v2.1.1_ONLINE*1749094823744_223.1_468dcd5d8d31-slide-17"/>
  <p:tag name="KSO_WM_UNIT_LINE_FILL_TYPE" val="2"/>
  <p:tag name="KSO_WM_UNIT_USESOURCEFORMAT_APPLY" val="0"/>
</p:tagLst>
</file>

<file path=ppt/tags/tag32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3147_3*l_h_f*1_2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32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3147_3*l_h_a*1_2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32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3*l_h_d*1_3_1"/>
  <p:tag name="KSO_WM_TEMPLATE_CATEGORY" val="diagram"/>
  <p:tag name="KSO_WM_TEMPLATE_INDEX" val="20233147"/>
  <p:tag name="KSO_WM_UNIT_LAYERLEVEL" val="1_1_1"/>
  <p:tag name="KSO_WM_TAG_VERSION" val="3.0"/>
  <p:tag name="KSO_WM_UNIT_VALUE" val="706*662"/>
  <p:tag name="KSO_WM_DIAGRAM_GROUP_CODE" val="l1-1"/>
  <p:tag name="KSO_WM_UNIT_TYPE" val="l_h_d"/>
  <p:tag name="KSO_WM_UNIT_INDEX" val="1_3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FILL_TYPE" val="1"/>
  <p:tag name="KSO_WM_UNIT_FILL_FORE_SCHEMECOLOR_INDEX" val="5"/>
  <p:tag name="KSO_WM_UNIT_FILL_FORE_SCHEMECOLOR_INDEX_BRIGHTNESS" val="0"/>
  <p:tag name="KSO_WM_UNIT_LINE_FORE_SCHEMECOLOR_INDEX" val="13"/>
  <p:tag name="MH_PIC_SOURCE_TYPE" val="generate_slide_ai*VCG41N1127677482*auto_gallery_ai_v2.1.1_ONLINE*1749094823744_223.1_468dcd5d8d31-slide-17"/>
  <p:tag name="KSO_WM_UNIT_LINE_FILL_TYPE" val="2"/>
  <p:tag name="KSO_WM_UNIT_USESOURCEFORMAT_APPLY" val="0"/>
</p:tagLst>
</file>

<file path=ppt/tags/tag32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3147_3*l_h_f*1_3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3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3147_3*l_h_a*1_3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33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3147_3*l_h_d*1_4_1"/>
  <p:tag name="KSO_WM_TEMPLATE_CATEGORY" val="diagram"/>
  <p:tag name="KSO_WM_TEMPLATE_INDEX" val="20233147"/>
  <p:tag name="KSO_WM_UNIT_LAYERLEVEL" val="1_1_1"/>
  <p:tag name="KSO_WM_TAG_VERSION" val="3.0"/>
  <p:tag name="KSO_WM_UNIT_VALUE" val="706*662"/>
  <p:tag name="KSO_WM_DIAGRAM_GROUP_CODE" val="l1-1"/>
  <p:tag name="KSO_WM_UNIT_TYPE" val="l_h_d"/>
  <p:tag name="KSO_WM_UNIT_INDEX" val="1_4_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solid&quot;:{&quot;brightness&quot;:0,&quot;colorType&quot;:1,&quot;foreColorIndex&quot;:5,&quot;transparency&quot;:0.5},&quot;type&quot;:1},&quot;glow&quot;:{&quot;colorType&quot;:0},&quot;line&quot;:{&quot;solidLine&quot;:{&quot;brightness&quot;:0.6000000238418579,&quot;colorType&quot;:1,&quot;foreColorIndex&quot;:13,&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PICTURE_SUBTYPE" val="b"/>
  <p:tag name="KSO_WM_UNIT_FILL_TYPE" val="1"/>
  <p:tag name="KSO_WM_UNIT_FILL_FORE_SCHEMECOLOR_INDEX" val="5"/>
  <p:tag name="KSO_WM_UNIT_FILL_FORE_SCHEMECOLOR_INDEX_BRIGHTNESS" val="0"/>
  <p:tag name="KSO_WM_UNIT_LINE_FORE_SCHEMECOLOR_INDEX" val="13"/>
  <p:tag name="MH_PIC_SOURCE_TYPE" val="generate_slide_ai*VCG41N1036851946*auto_gallery_ai_v2.1.1_ONLINE*1749094823744_223.1_468dcd5d8d31-slide-17"/>
  <p:tag name="KSO_WM_UNIT_LINE_FILL_TYPE" val="2"/>
  <p:tag name="KSO_WM_UNIT_USESOURCEFORMAT_APPLY" val="0"/>
</p:tagLst>
</file>

<file path=ppt/tags/tag33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3147_3*l_h_f*1_4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输入项正文，文字是您思想的提炼"/>
  <p:tag name="KSO_WM_UNIT_TEXT_FILL_FORE_SCHEMECOLOR_INDEX" val="1"/>
  <p:tag name="KSO_WM_UNIT_TEXT_FILL_TYPE" val="1"/>
  <p:tag name="KSO_WM_UNIT_USESOURCEFORMAT_APPLY" val="0"/>
</p:tagLst>
</file>

<file path=ppt/tags/tag33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3147_3*l_h_a*1_4_1"/>
  <p:tag name="KSO_WM_TEMPLATE_CATEGORY" val="diagram"/>
  <p:tag name="KSO_WM_TEMPLATE_INDEX" val="20233147"/>
  <p:tag name="KSO_WM_UNIT_LAYERLEVEL" val="1_1_1"/>
  <p:tag name="KSO_WM_TAG_VERSION" val="3.0"/>
  <p:tag name="KSO_WM_BEAUTIFY_FLAG" val="#wm#"/>
  <p:tag name="KSO_WM_UNIT_TEXT_FILL_FORE_SCHEMECOLOR_INDEX_BRIGHTNESS" val="0.15"/>
  <p:tag name="KSO_WM_DIAGRAM_GROUP_CODE" val="l1-1"/>
  <p:tag name="KSO_WM_DIAGRAM_VERSION" val="3"/>
  <p:tag name="KSO_WM_DIAGRAM_COLOR_TRICK" val="1"/>
  <p:tag name="KSO_WM_DIAGRAM_COLOR_TEXT_CAN_REMOVE" val="n"/>
  <p:tag name="KSO_WM_DIAGRAM_MAX_ITEMCNT" val="4"/>
  <p:tag name="KSO_WM_DIAGRAM_MIN_ITEMCNT" val="2"/>
  <p:tag name="KSO_WM_DIAGRAM_VIRTUALLY_FRAME" val="{&quot;height&quot;:365.1412658691406,&quot;width&quot;:812.94073486328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0"/>
</p:tagLst>
</file>

<file path=ppt/tags/tag333.xml><?xml version="1.0" encoding="utf-8"?>
<p:tagLst xmlns:p="http://schemas.openxmlformats.org/presentationml/2006/main">
  <p:tag name="KSO_WM_SLIDE_ID" val="diagram20233147_3"/>
  <p:tag name="KSO_WM_TEMPLATE_SUBCATEGORY" val="0"/>
  <p:tag name="KSO_WM_TEMPLATE_MASTER_TYPE" val="0"/>
  <p:tag name="KSO_WM_TEMPLATE_COLOR_TYPE" val="0"/>
  <p:tag name="KSO_WM_SLIDE_ITEM_CNT" val="4"/>
  <p:tag name="KSO_WM_SLIDE_INDEX" val="3"/>
  <p:tag name="KSO_WM_TAG_VERSION" val="3.0"/>
  <p:tag name="KSO_WM_BEAUTIFY_FLAG" val="#wm#"/>
  <p:tag name="KSO_WM_TEMPLATE_CATEGORY" val="custom"/>
  <p:tag name="KSO_WM_TEMPLATE_INDEX" val="20233354"/>
  <p:tag name="KSO_WM_SLIDE_TYPE" val="text"/>
  <p:tag name="KSO_WM_SLIDE_SUBTYPE" val="diag"/>
  <p:tag name="KSO_WM_SLIDE_SIZE" val="812.941*336.878"/>
  <p:tag name="KSO_WM_SLIDE_POSITION" val="73.3256*155.822"/>
  <p:tag name="KSO_WM_SLIDE_LAYOUT" val="a_l"/>
  <p:tag name="KSO_WM_SLIDE_LAYOUT_CNT" val="1_1"/>
  <p:tag name="KSO_WM_SPECIAL_SOURCE" val="bdnull"/>
  <p:tag name="KSO_WM_DIAGRAM_GROUP_CODE" val="l1-1"/>
  <p:tag name="KSO_WM_SLIDE_DIAGTYPE" val="l"/>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9*a*1"/>
  <p:tag name="KSO_WM_TEMPLATE_CATEGORY" val="custom"/>
  <p:tag name="KSO_WM_TEMPLATE_INDEX" val="20233354"/>
  <p:tag name="KSO_WM_UNIT_LAYERLEVEL" val="1"/>
  <p:tag name="KSO_WM_TAG_VERSION" val="3.0"/>
  <p:tag name="KSO_WM_BEAUTIFY_FLAG" val="#wm#"/>
  <p:tag name="KSO_WM_UNIT_ISCONTENTSTITLE" val="0"/>
  <p:tag name="KSO_WM_UNIT_ISNUMDGMTITLE" val="0"/>
  <p:tag name="KSO_WM_UNIT_NOCLEAR" val="1"/>
  <p:tag name="KSO_WM_UNIT_TYPE" val="a"/>
  <p:tag name="KSO_WM_UNIT_INDEX" val="1"/>
  <p:tag name="KSO_WM_UNIT_PRESET_TEXT" val="感谢指正"/>
</p:tagLst>
</file>

<file path=ppt/tags/tag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354_9*f*4"/>
  <p:tag name="KSO_WM_TEMPLATE_CATEGORY" val="custom"/>
  <p:tag name="KSO_WM_TEMPLATE_INDEX" val="20233354"/>
  <p:tag name="KSO_WM_UNIT_LAYERLEVEL" val="1"/>
  <p:tag name="KSO_WM_TAG_VERSION" val="3.0"/>
  <p:tag name="KSO_WM_BEAUTIFY_FLAG" val="#wm#"/>
  <p:tag name="KSO_WM_UNIT_SUBTYPE" val="b"/>
  <p:tag name="KSO_WM_UNIT_NOCLEAR" val="0"/>
  <p:tag name="KSO_WM_UNIT_VALUE" val="8"/>
  <p:tag name="KSO_WM_UNIT_TYPE" val="f"/>
  <p:tag name="KSO_WM_UNIT_INDEX" val="4"/>
  <p:tag name="KSO_WM_UNIT_TEXT_LAYER_COUNT" val="1"/>
  <p:tag name="KSO_WM_UNIT_PRESET_TEXT" val="汇报人：WPS"/>
  <p:tag name="KSO_WM_UNIT_TEXT_TYPE" val="1"/>
</p:tagLst>
</file>

<file path=ppt/tags/tag336.xml><?xml version="1.0" encoding="utf-8"?>
<p:tagLst xmlns:p="http://schemas.openxmlformats.org/presentationml/2006/main">
  <p:tag name="KSO_WM_SLIDE_ID" val="custom20233354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3354"/>
  <p:tag name="KSO_WM_SLIDE_TYPE" val="endPage"/>
  <p:tag name="KSO_WM_SLIDE_SUBTYPE" val="pureTxt"/>
  <p:tag name="KSO_WM_SLIDE_LAYOUT" val="a_f"/>
  <p:tag name="KSO_WM_SLIDE_LAYOUT_CNT" val="1_1"/>
</p:tagLst>
</file>

<file path=ppt/tags/tag337.xml><?xml version="1.0" encoding="utf-8"?>
<p:tagLst xmlns:p="http://schemas.openxmlformats.org/presentationml/2006/main">
  <p:tag name="KSO_WM_PRESENTATION_SOURCE" val="WPPAIGeneratePPT"/>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风青色博士帽通用模板">
  <a:themeElements>
    <a:clrScheme name="自定义 126">
      <a:dk1>
        <a:srgbClr val="000000"/>
      </a:dk1>
      <a:lt1>
        <a:srgbClr val="FFFFFF"/>
      </a:lt1>
      <a:dk2>
        <a:srgbClr val="081119"/>
      </a:dk2>
      <a:lt2>
        <a:srgbClr val="FFFFFF"/>
      </a:lt2>
      <a:accent1>
        <a:srgbClr val="4F65D2"/>
      </a:accent1>
      <a:accent2>
        <a:srgbClr val="4F8BD2"/>
      </a:accent2>
      <a:accent3>
        <a:srgbClr val="735EC8"/>
      </a:accent3>
      <a:accent4>
        <a:srgbClr val="62A7BC"/>
      </a:accent4>
      <a:accent5>
        <a:srgbClr val="7C5BB2"/>
      </a:accent5>
      <a:accent6>
        <a:srgbClr val="6A7EC4"/>
      </a:accent6>
      <a:hlink>
        <a:srgbClr val="658BD5"/>
      </a:hlink>
      <a:folHlink>
        <a:srgbClr val="A16AA5"/>
      </a:folHlink>
    </a:clrScheme>
    <a:fontScheme name="自定义 68">
      <a:majorFont>
        <a:latin typeface="MiSans Bold"/>
        <a:ea typeface="微软雅黑"/>
        <a:cs typeface=""/>
      </a:majorFont>
      <a:minorFont>
        <a:latin typeface="MiSans Bold"/>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5410</Words>
  <Application>WPS 演示</Application>
  <PresentationFormat>宽屏</PresentationFormat>
  <Paragraphs>304</Paragraphs>
  <Slides>29</Slides>
  <Notes>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29</vt:i4>
      </vt:variant>
    </vt:vector>
  </HeadingPairs>
  <TitlesOfParts>
    <vt:vector size="40" baseType="lpstr">
      <vt:lpstr>Arial</vt:lpstr>
      <vt:lpstr>宋体</vt:lpstr>
      <vt:lpstr>Wingdings</vt:lpstr>
      <vt:lpstr>Wingdings</vt:lpstr>
      <vt:lpstr>微软雅黑</vt:lpstr>
      <vt:lpstr>MiSans Bold</vt:lpstr>
      <vt:lpstr>MiSans</vt:lpstr>
      <vt:lpstr>Arial Unicode MS</vt:lpstr>
      <vt:lpstr>Calibri</vt:lpstr>
      <vt:lpstr>WPS</vt:lpstr>
      <vt:lpstr>简约风青色博士帽通用模板</vt:lpstr>
      <vt:lpstr>人脸伪造视频Deepfake检测</vt:lpstr>
      <vt:lpstr>目录</vt:lpstr>
      <vt:lpstr>Deepfake技术概述</vt:lpstr>
      <vt:lpstr>人工智能与Deepfake</vt:lpstr>
      <vt:lpstr>社会威胁分析</vt:lpstr>
      <vt:lpstr>检测技术重要性</vt:lpstr>
      <vt:lpstr>Deepfake检测评价指标</vt:lpstr>
      <vt:lpstr>评价指标概述</vt:lpstr>
      <vt:lpstr>指标应用分析</vt:lpstr>
      <vt:lpstr>指标优化方向</vt:lpstr>
      <vt:lpstr>主流Deepfake检测方法</vt:lpstr>
      <vt:lpstr>II. Deepfake检测方法：三大主流方向：A. 基于时空域分析的方法</vt:lpstr>
      <vt:lpstr>时空域分析方法</vt:lpstr>
      <vt:lpstr>II. Deepfake检测方法：三大主流方向：A. 基于时空域分析的方法</vt:lpstr>
      <vt:lpstr>II. Deepfake检测方法：三大主流方向：A. 基于时空域分析的方法</vt:lpstr>
      <vt:lpstr>II. Deepfake检测方法：三大主流方向：A. 基于时空域分析的方法</vt:lpstr>
      <vt:lpstr>II. Deepfake检测方法：三大主流方向：A. 基于时空域分析的方法</vt:lpstr>
      <vt:lpstr>PowerPoint 演示文稿</vt:lpstr>
      <vt:lpstr>内在特征与一致性线索</vt:lpstr>
      <vt:lpstr>内在特征与一致性线索</vt:lpstr>
      <vt:lpstr>内在特征与一致性线索</vt:lpstr>
      <vt:lpstr>PowerPoint 演示文稿</vt:lpstr>
      <vt:lpstr>基于多模态融合</vt:lpstr>
      <vt:lpstr>Deepfake检测技术挑战</vt:lpstr>
      <vt:lpstr>技术挑战分析</vt:lpstr>
      <vt:lpstr>未来发展趋势展望</vt:lpstr>
      <vt:lpstr>研究方向指引</vt:lpstr>
      <vt:lpstr>技术创新预测</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陈安康</cp:lastModifiedBy>
  <cp:revision>252</cp:revision>
  <dcterms:created xsi:type="dcterms:W3CDTF">2019-06-19T02:08:00Z</dcterms:created>
  <dcterms:modified xsi:type="dcterms:W3CDTF">2025-06-10T16:00:22Z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2714BC2042754196817988410A36725A</vt:lpwstr>
  </property>
</Properties>
</file>